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21"/>
  </p:notesMasterIdLst>
  <p:handoutMasterIdLst>
    <p:handoutMasterId r:id="rId22"/>
  </p:handoutMasterIdLst>
  <p:sldIdLst>
    <p:sldId id="330" r:id="rId3"/>
    <p:sldId id="718" r:id="rId4"/>
    <p:sldId id="720" r:id="rId5"/>
    <p:sldId id="745" r:id="rId6"/>
    <p:sldId id="722" r:id="rId7"/>
    <p:sldId id="723" r:id="rId8"/>
    <p:sldId id="724" r:id="rId9"/>
    <p:sldId id="738" r:id="rId10"/>
    <p:sldId id="727" r:id="rId11"/>
    <p:sldId id="728" r:id="rId12"/>
    <p:sldId id="729" r:id="rId13"/>
    <p:sldId id="744" r:id="rId14"/>
    <p:sldId id="739" r:id="rId15"/>
    <p:sldId id="740" r:id="rId16"/>
    <p:sldId id="733" r:id="rId17"/>
    <p:sldId id="746" r:id="rId18"/>
    <p:sldId id="747" r:id="rId19"/>
    <p:sldId id="717" r:id="rId20"/>
  </p:sldIdLst>
  <p:sldSz cx="9144000" cy="6858000" type="screen4x3"/>
  <p:notesSz cx="6858000" cy="9144000"/>
  <p:embeddedFontLst>
    <p:embeddedFont>
      <p:font typeface="Verdana" panose="020B0604030504040204" pitchFamily="3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27" userDrawn="1">
          <p15:clr>
            <a:srgbClr val="A4A3A4"/>
          </p15:clr>
        </p15:guide>
        <p15:guide id="2" pos="264" userDrawn="1">
          <p15:clr>
            <a:srgbClr val="A4A3A4"/>
          </p15:clr>
        </p15:guide>
        <p15:guide id="3" orient="horz" pos="867" userDrawn="1">
          <p15:clr>
            <a:srgbClr val="A4A3A4"/>
          </p15:clr>
        </p15:guide>
        <p15:guide id="4" pos="2880" userDrawn="1">
          <p15:clr>
            <a:srgbClr val="A4A3A4"/>
          </p15:clr>
        </p15:guide>
        <p15:guide id="5" pos="5462" userDrawn="1">
          <p15:clr>
            <a:srgbClr val="A4A3A4"/>
          </p15:clr>
        </p15:guide>
        <p15:guide id="6" orient="horz" pos="4042" userDrawn="1">
          <p15:clr>
            <a:srgbClr val="A4A3A4"/>
          </p15:clr>
        </p15:guide>
        <p15:guide id="7" orient="horz" pos="2160" userDrawn="1">
          <p15:clr>
            <a:srgbClr val="A4A3A4"/>
          </p15:clr>
        </p15:guide>
        <p15:guide id="8" orient="horz" pos="1139"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81" autoAdjust="0"/>
    <p:restoredTop sz="96374" autoAdjust="0"/>
  </p:normalViewPr>
  <p:slideViewPr>
    <p:cSldViewPr snapToGrid="0" snapToObjects="1">
      <p:cViewPr varScale="1">
        <p:scale>
          <a:sx n="109" d="100"/>
          <a:sy n="109" d="100"/>
        </p:scale>
        <p:origin x="1936" y="184"/>
      </p:cViewPr>
      <p:guideLst>
        <p:guide orient="horz" pos="427"/>
        <p:guide pos="264"/>
        <p:guide orient="horz" pos="867"/>
        <p:guide pos="2880"/>
        <p:guide pos="5462"/>
        <p:guide orient="horz" pos="4042"/>
        <p:guide orient="horz" pos="2160"/>
        <p:guide orient="horz" pos="1139"/>
      </p:guideLst>
    </p:cSldViewPr>
  </p:slideViewPr>
  <p:outlineViewPr>
    <p:cViewPr>
      <p:scale>
        <a:sx n="33" d="100"/>
        <a:sy n="33" d="100"/>
      </p:scale>
      <p:origin x="0" y="-11298"/>
    </p:cViewPr>
  </p:outlineViewPr>
  <p:notesTextViewPr>
    <p:cViewPr>
      <p:scale>
        <a:sx n="125" d="100"/>
        <a:sy n="125" d="100"/>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11/1/25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a:t>
            </a:r>
            <a:r>
              <a:rPr lang="en-US"/>
              <a:t>) Math Type </a:t>
            </a:r>
            <a:r>
              <a:rPr lang="en-US" dirty="0"/>
              <a:t>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191806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297368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38626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240403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r>
              <a:rPr lang="en-US" dirty="0"/>
              <a:t>At v subscript o c Base Line: Start Fraction Open Parenthesis 160 </a:t>
            </a:r>
            <a:r>
              <a:rPr lang="en-US" dirty="0" err="1"/>
              <a:t>i</a:t>
            </a:r>
            <a:r>
              <a:rPr lang="en-US" dirty="0"/>
              <a:t> subscript Delta Base Line plus v subscript o c Base Line Close Parenthesis minus v over 20 End Fraction plus Start Fraction v subscript o c Base Line over 80 End Fraction plus Start Fraction v subscript o c Base Line over 40 End Fraction equals 0.</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746677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Long Description:</a:t>
            </a:r>
          </a:p>
          <a:p>
            <a:r>
              <a:rPr lang="en-IN" dirty="0"/>
              <a:t>At v subscript T Base Line: Start Fraction v subscript T Base Line plus 160 </a:t>
            </a:r>
            <a:r>
              <a:rPr lang="en-IN" dirty="0" err="1"/>
              <a:t>i</a:t>
            </a:r>
            <a:r>
              <a:rPr lang="en-IN" dirty="0"/>
              <a:t> subscript Delta Base Line over 280 End Fraction plus Start Fraction v subscript T Base Line over 60 End Fraction plus Start Fraction v subscript T Base Line over 60 End Fraction minus 1 equals 0.</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63558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18154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18</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11/1/25</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43917837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8" name="Picture 7" descr="Pearson Logo">
            <a:extLst>
              <a:ext uri="{FF2B5EF4-FFF2-40B4-BE49-F238E27FC236}">
                <a16:creationId xmlns:a16="http://schemas.microsoft.com/office/drawing/2014/main" id="{1BBD3E2F-EEA0-4D7A-A1F3-5F7935642D56}"/>
              </a:ext>
            </a:extLst>
          </p:cNvPr>
          <p:cNvPicPr>
            <a:picLocks noChangeAspect="1"/>
          </p:cNvPicPr>
          <p:nvPr userDrawn="1"/>
        </p:nvPicPr>
        <p:blipFill>
          <a:blip r:embed="rId14"/>
          <a:stretch>
            <a:fillRect/>
          </a:stretch>
        </p:blipFill>
        <p:spPr>
          <a:xfrm>
            <a:off x="430085" y="6404072"/>
            <a:ext cx="986560" cy="310866"/>
          </a:xfrm>
          <a:prstGeom prst="rect">
            <a:avLst/>
          </a:prstGeom>
        </p:spPr>
      </p:pic>
      <p:sp>
        <p:nvSpPr>
          <p:cNvPr id="9" name="Content Placeholder 7">
            <a:extLst>
              <a:ext uri="{FF2B5EF4-FFF2-40B4-BE49-F238E27FC236}">
                <a16:creationId xmlns:a16="http://schemas.microsoft.com/office/drawing/2014/main" id="{46569225-2CBD-4328-BE4E-A71139E3924F}"/>
              </a:ext>
            </a:extLst>
          </p:cNvPr>
          <p:cNvSpPr txBox="1">
            <a:spLocks/>
          </p:cNvSpPr>
          <p:nvPr userDrawn="1"/>
        </p:nvSpPr>
        <p:spPr>
          <a:xfrm>
            <a:off x="2665563" y="6455210"/>
            <a:ext cx="6004326"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9.wmf"/><Relationship Id="rId3" Type="http://schemas.openxmlformats.org/officeDocument/2006/relationships/oleObject" Target="../embeddings/oleObject1.bin"/><Relationship Id="rId7" Type="http://schemas.openxmlformats.org/officeDocument/2006/relationships/image" Target="../media/image6.wmf"/><Relationship Id="rId12" Type="http://schemas.openxmlformats.org/officeDocument/2006/relationships/oleObject" Target="../embeddings/oleObject5.bin"/><Relationship Id="rId2" Type="http://schemas.openxmlformats.org/officeDocument/2006/relationships/image" Target="../media/image3.png"/><Relationship Id="rId1" Type="http://schemas.openxmlformats.org/officeDocument/2006/relationships/slideLayout" Target="../slideLayouts/slideLayout8.xml"/><Relationship Id="rId6" Type="http://schemas.openxmlformats.org/officeDocument/2006/relationships/oleObject" Target="../embeddings/oleObject2.bin"/><Relationship Id="rId11" Type="http://schemas.openxmlformats.org/officeDocument/2006/relationships/image" Target="../media/image8.wmf"/><Relationship Id="rId5" Type="http://schemas.openxmlformats.org/officeDocument/2006/relationships/image" Target="../media/image5.png"/><Relationship Id="rId10" Type="http://schemas.openxmlformats.org/officeDocument/2006/relationships/oleObject" Target="../embeddings/oleObject4.bin"/><Relationship Id="rId4" Type="http://schemas.openxmlformats.org/officeDocument/2006/relationships/image" Target="../media/image4.wmf"/><Relationship Id="rId9" Type="http://schemas.openxmlformats.org/officeDocument/2006/relationships/image" Target="../media/image7.wmf"/></Relationships>
</file>

<file path=ppt/slides/_rels/slide3.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image" Target="../media/image10.wmf"/><Relationship Id="rId7" Type="http://schemas.openxmlformats.org/officeDocument/2006/relationships/oleObject" Target="../embeddings/oleObject8.bin"/><Relationship Id="rId2" Type="http://schemas.openxmlformats.org/officeDocument/2006/relationships/oleObject" Target="../embeddings/oleObject6.bin"/><Relationship Id="rId1" Type="http://schemas.openxmlformats.org/officeDocument/2006/relationships/slideLayout" Target="../slideLayouts/slideLayout8.xml"/><Relationship Id="rId6" Type="http://schemas.openxmlformats.org/officeDocument/2006/relationships/image" Target="../media/image12.wmf"/><Relationship Id="rId5" Type="http://schemas.openxmlformats.org/officeDocument/2006/relationships/oleObject" Target="../embeddings/oleObject7.bin"/><Relationship Id="rId4" Type="http://schemas.openxmlformats.org/officeDocument/2006/relationships/image" Target="../media/image11.png"/><Relationship Id="rId9" Type="http://schemas.openxmlformats.org/officeDocument/2006/relationships/image" Target="../media/image14.jpg"/></Relationships>
</file>

<file path=ppt/slides/_rels/slide4.xml.rels><?xml version="1.0" encoding="UTF-8" standalone="yes"?>
<Relationships xmlns="http://schemas.openxmlformats.org/package/2006/relationships"><Relationship Id="rId8" Type="http://schemas.openxmlformats.org/officeDocument/2006/relationships/image" Target="../media/image17.wmf"/><Relationship Id="rId13" Type="http://schemas.openxmlformats.org/officeDocument/2006/relationships/oleObject" Target="../embeddings/oleObject14.bin"/><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image" Target="../media/image19.wmf"/><Relationship Id="rId2" Type="http://schemas.openxmlformats.org/officeDocument/2006/relationships/notesSlide" Target="../notesSlides/notesSlide2.xml"/><Relationship Id="rId16" Type="http://schemas.openxmlformats.org/officeDocument/2006/relationships/image" Target="../media/image21.png"/><Relationship Id="rId1" Type="http://schemas.openxmlformats.org/officeDocument/2006/relationships/slideLayout" Target="../slideLayouts/slideLayout8.xml"/><Relationship Id="rId6" Type="http://schemas.openxmlformats.org/officeDocument/2006/relationships/image" Target="../media/image16.wmf"/><Relationship Id="rId11" Type="http://schemas.openxmlformats.org/officeDocument/2006/relationships/oleObject" Target="../embeddings/oleObject13.bin"/><Relationship Id="rId5" Type="http://schemas.openxmlformats.org/officeDocument/2006/relationships/oleObject" Target="../embeddings/oleObject10.bin"/><Relationship Id="rId15" Type="http://schemas.openxmlformats.org/officeDocument/2006/relationships/image" Target="../media/image14.jpg"/><Relationship Id="rId10" Type="http://schemas.openxmlformats.org/officeDocument/2006/relationships/image" Target="../media/image18.wmf"/><Relationship Id="rId4" Type="http://schemas.openxmlformats.org/officeDocument/2006/relationships/image" Target="../media/image15.wmf"/><Relationship Id="rId9" Type="http://schemas.openxmlformats.org/officeDocument/2006/relationships/oleObject" Target="../embeddings/oleObject12.bin"/><Relationship Id="rId14" Type="http://schemas.openxmlformats.org/officeDocument/2006/relationships/image" Target="../media/image20.wmf"/></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4.jp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image" Target="../media/image23.jpg"/><Relationship Id="rId7" Type="http://schemas.openxmlformats.org/officeDocument/2006/relationships/oleObject" Target="../embeddings/oleObject16.bin"/><Relationship Id="rId12" Type="http://schemas.openxmlformats.org/officeDocument/2006/relationships/image" Target="../media/image30.wmf"/><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27.jpg"/><Relationship Id="rId11" Type="http://schemas.openxmlformats.org/officeDocument/2006/relationships/oleObject" Target="../embeddings/oleObject18.bin"/><Relationship Id="rId5" Type="http://schemas.openxmlformats.org/officeDocument/2006/relationships/image" Target="../media/image26.wmf"/><Relationship Id="rId10" Type="http://schemas.openxmlformats.org/officeDocument/2006/relationships/image" Target="../media/image29.wmf"/><Relationship Id="rId4" Type="http://schemas.openxmlformats.org/officeDocument/2006/relationships/oleObject" Target="../embeddings/oleObject15.bin"/><Relationship Id="rId9" Type="http://schemas.openxmlformats.org/officeDocument/2006/relationships/oleObject" Target="../embeddings/oleObject17.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oleObject" Target="../embeddings/oleObject19.bin"/><Relationship Id="rId7" Type="http://schemas.openxmlformats.org/officeDocument/2006/relationships/image" Target="../media/image33.wmf"/><Relationship Id="rId2" Type="http://schemas.openxmlformats.org/officeDocument/2006/relationships/image" Target="../media/image23.jpg"/><Relationship Id="rId1" Type="http://schemas.openxmlformats.org/officeDocument/2006/relationships/slideLayout" Target="../slideLayouts/slideLayout8.xml"/><Relationship Id="rId6" Type="http://schemas.openxmlformats.org/officeDocument/2006/relationships/oleObject" Target="../embeddings/oleObject20.bin"/><Relationship Id="rId5" Type="http://schemas.openxmlformats.org/officeDocument/2006/relationships/image" Target="../media/image32.jpg"/><Relationship Id="rId4" Type="http://schemas.openxmlformats.org/officeDocument/2006/relationships/image" Target="../media/image31.wmf"/><Relationship Id="rId9" Type="http://schemas.openxmlformats.org/officeDocument/2006/relationships/image" Target="../media/image34.wmf"/></Relationships>
</file>

<file path=ppt/slides/_rels/slide10.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image" Target="../media/image35.wmf"/><Relationship Id="rId7" Type="http://schemas.openxmlformats.org/officeDocument/2006/relationships/oleObject" Target="../embeddings/oleObject23.bin"/><Relationship Id="rId2" Type="http://schemas.openxmlformats.org/officeDocument/2006/relationships/oleObject" Target="../embeddings/oleObject22.bin"/><Relationship Id="rId1" Type="http://schemas.openxmlformats.org/officeDocument/2006/relationships/slideLayout" Target="../slideLayouts/slideLayout8.xml"/><Relationship Id="rId6" Type="http://schemas.openxmlformats.org/officeDocument/2006/relationships/image" Target="../media/image37.jpg"/><Relationship Id="rId5" Type="http://schemas.openxmlformats.org/officeDocument/2006/relationships/image" Target="../media/image36.jpg"/><Relationship Id="rId4" Type="http://schemas.openxmlformats.org/officeDocument/2006/relationships/image" Target="../media/image23.jp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4.bin"/><Relationship Id="rId7" Type="http://schemas.openxmlformats.org/officeDocument/2006/relationships/image" Target="../media/image41.png"/><Relationship Id="rId2" Type="http://schemas.openxmlformats.org/officeDocument/2006/relationships/image" Target="../media/image23.jpg"/><Relationship Id="rId1" Type="http://schemas.openxmlformats.org/officeDocument/2006/relationships/slideLayout" Target="../slideLayouts/slideLayout8.xml"/><Relationship Id="rId6" Type="http://schemas.openxmlformats.org/officeDocument/2006/relationships/image" Target="../media/image40.wmf"/><Relationship Id="rId5" Type="http://schemas.openxmlformats.org/officeDocument/2006/relationships/oleObject" Target="../embeddings/oleObject25.bin"/><Relationship Id="rId4" Type="http://schemas.openxmlformats.org/officeDocument/2006/relationships/image" Target="../media/image39.wmf"/></Relationships>
</file>

<file path=ppt/slides/_rels/slide12.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8" Type="http://schemas.openxmlformats.org/officeDocument/2006/relationships/image" Target="../media/image45.wmf"/><Relationship Id="rId13" Type="http://schemas.openxmlformats.org/officeDocument/2006/relationships/oleObject" Target="../embeddings/oleObject30.bin"/><Relationship Id="rId3" Type="http://schemas.openxmlformats.org/officeDocument/2006/relationships/image" Target="../media/image42.jpg"/><Relationship Id="rId7" Type="http://schemas.openxmlformats.org/officeDocument/2006/relationships/oleObject" Target="../embeddings/oleObject27.bin"/><Relationship Id="rId12" Type="http://schemas.openxmlformats.org/officeDocument/2006/relationships/image" Target="../media/image47.wmf"/><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44.jpg"/><Relationship Id="rId11" Type="http://schemas.openxmlformats.org/officeDocument/2006/relationships/oleObject" Target="../embeddings/oleObject29.bin"/><Relationship Id="rId5" Type="http://schemas.openxmlformats.org/officeDocument/2006/relationships/image" Target="../media/image43.wmf"/><Relationship Id="rId10" Type="http://schemas.openxmlformats.org/officeDocument/2006/relationships/image" Target="../media/image46.wmf"/><Relationship Id="rId4" Type="http://schemas.openxmlformats.org/officeDocument/2006/relationships/oleObject" Target="../embeddings/oleObject26.bin"/><Relationship Id="rId9" Type="http://schemas.openxmlformats.org/officeDocument/2006/relationships/oleObject" Target="../embeddings/oleObject28.bin"/><Relationship Id="rId14" Type="http://schemas.openxmlformats.org/officeDocument/2006/relationships/image" Target="../media/image48.wmf"/></Relationships>
</file>

<file path=ppt/slides/_rels/slide14.xml.rels><?xml version="1.0" encoding="UTF-8" standalone="yes"?>
<Relationships xmlns="http://schemas.openxmlformats.org/package/2006/relationships"><Relationship Id="rId8" Type="http://schemas.openxmlformats.org/officeDocument/2006/relationships/image" Target="../media/image51.wmf"/><Relationship Id="rId13" Type="http://schemas.openxmlformats.org/officeDocument/2006/relationships/oleObject" Target="../embeddings/oleObject35.bin"/><Relationship Id="rId3" Type="http://schemas.openxmlformats.org/officeDocument/2006/relationships/oleObject" Target="../embeddings/oleObject31.bin"/><Relationship Id="rId7" Type="http://schemas.openxmlformats.org/officeDocument/2006/relationships/oleObject" Target="../embeddings/oleObject32.bin"/><Relationship Id="rId12" Type="http://schemas.openxmlformats.org/officeDocument/2006/relationships/image" Target="../media/image53.wmf"/><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50.jpg"/><Relationship Id="rId11" Type="http://schemas.openxmlformats.org/officeDocument/2006/relationships/oleObject" Target="../embeddings/oleObject34.bin"/><Relationship Id="rId5" Type="http://schemas.openxmlformats.org/officeDocument/2006/relationships/image" Target="../media/image42.jpg"/><Relationship Id="rId10" Type="http://schemas.openxmlformats.org/officeDocument/2006/relationships/image" Target="../media/image52.wmf"/><Relationship Id="rId4" Type="http://schemas.openxmlformats.org/officeDocument/2006/relationships/image" Target="../media/image49.wmf"/><Relationship Id="rId9" Type="http://schemas.openxmlformats.org/officeDocument/2006/relationships/oleObject" Target="../embeddings/oleObject33.bin"/><Relationship Id="rId14" Type="http://schemas.openxmlformats.org/officeDocument/2006/relationships/image" Target="../media/image54.wmf"/></Relationships>
</file>

<file path=ppt/slides/_rels/slide15.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55.png"/></Relationships>
</file>

<file path=ppt/slides/_rels/slide16.xml.rels><?xml version="1.0" encoding="UTF-8" standalone="yes"?>
<Relationships xmlns="http://schemas.openxmlformats.org/package/2006/relationships"><Relationship Id="rId8" Type="http://schemas.openxmlformats.org/officeDocument/2006/relationships/image" Target="../media/image59.wmf"/><Relationship Id="rId13" Type="http://schemas.openxmlformats.org/officeDocument/2006/relationships/oleObject" Target="../embeddings/oleObject41.bin"/><Relationship Id="rId3" Type="http://schemas.openxmlformats.org/officeDocument/2006/relationships/oleObject" Target="../embeddings/oleObject36.bin"/><Relationship Id="rId7" Type="http://schemas.openxmlformats.org/officeDocument/2006/relationships/oleObject" Target="../embeddings/oleObject38.bin"/><Relationship Id="rId12" Type="http://schemas.openxmlformats.org/officeDocument/2006/relationships/image" Target="../media/image61.wmf"/><Relationship Id="rId2" Type="http://schemas.openxmlformats.org/officeDocument/2006/relationships/image" Target="../media/image56.jpg"/><Relationship Id="rId1" Type="http://schemas.openxmlformats.org/officeDocument/2006/relationships/slideLayout" Target="../slideLayouts/slideLayout8.xml"/><Relationship Id="rId6" Type="http://schemas.openxmlformats.org/officeDocument/2006/relationships/image" Target="../media/image58.wmf"/><Relationship Id="rId11" Type="http://schemas.openxmlformats.org/officeDocument/2006/relationships/oleObject" Target="../embeddings/oleObject40.bin"/><Relationship Id="rId5" Type="http://schemas.openxmlformats.org/officeDocument/2006/relationships/oleObject" Target="../embeddings/oleObject37.bin"/><Relationship Id="rId10" Type="http://schemas.openxmlformats.org/officeDocument/2006/relationships/image" Target="../media/image60.wmf"/><Relationship Id="rId4" Type="http://schemas.openxmlformats.org/officeDocument/2006/relationships/image" Target="../media/image57.wmf"/><Relationship Id="rId9" Type="http://schemas.openxmlformats.org/officeDocument/2006/relationships/oleObject" Target="../embeddings/oleObject39.bin"/><Relationship Id="rId14" Type="http://schemas.openxmlformats.org/officeDocument/2006/relationships/image" Target="../media/image62.wmf"/></Relationships>
</file>

<file path=ppt/slides/_rels/slide17.x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oleObject" Target="../embeddings/oleObject42.bin"/><Relationship Id="rId7" Type="http://schemas.openxmlformats.org/officeDocument/2006/relationships/oleObject" Target="../embeddings/oleObject44.bin"/><Relationship Id="rId2" Type="http://schemas.openxmlformats.org/officeDocument/2006/relationships/image" Target="../media/image63.jpg"/><Relationship Id="rId1" Type="http://schemas.openxmlformats.org/officeDocument/2006/relationships/slideLayout" Target="../slideLayouts/slideLayout8.xml"/><Relationship Id="rId6" Type="http://schemas.openxmlformats.org/officeDocument/2006/relationships/image" Target="../media/image65.wmf"/><Relationship Id="rId5" Type="http://schemas.openxmlformats.org/officeDocument/2006/relationships/oleObject" Target="../embeddings/oleObject43.bin"/><Relationship Id="rId10" Type="http://schemas.openxmlformats.org/officeDocument/2006/relationships/image" Target="../media/image67.wmf"/><Relationship Id="rId4" Type="http://schemas.openxmlformats.org/officeDocument/2006/relationships/image" Target="../media/image64.wmf"/><Relationship Id="rId9" Type="http://schemas.openxmlformats.org/officeDocument/2006/relationships/oleObject" Target="../embeddings/oleObject45.bin"/></Relationships>
</file>

<file path=ppt/slides/_rels/slide1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6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0304" y="215371"/>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106770"/>
            <a:ext cx="8240620" cy="344128"/>
          </a:xfrm>
        </p:spPr>
        <p:txBody>
          <a:bodyPr wrap="square" lIns="0" tIns="18000" rIns="0" bIns="18000" anchor="ctr">
            <a:spAutoFit/>
          </a:bodyPr>
          <a:lstStyle/>
          <a:p>
            <a:r>
              <a:rPr lang="en-US" noProof="0" dirty="0"/>
              <a:t>Twelfth </a:t>
            </a:r>
            <a:r>
              <a:rPr lang="en-US" dirty="0"/>
              <a:t>Edition, Global Edition</a:t>
            </a:r>
            <a:endParaRPr lang="en-US" noProof="0" dirty="0"/>
          </a:p>
        </p:txBody>
      </p:sp>
      <p:pic>
        <p:nvPicPr>
          <p:cNvPr id="9" name="Picture 8">
            <a:extLst>
              <a:ext uri="{FF2B5EF4-FFF2-40B4-BE49-F238E27FC236}">
                <a16:creationId xmlns:a16="http://schemas.microsoft.com/office/drawing/2014/main" id="{1FD2EFB3-B823-4ACB-9377-2DEDA57D8959}"/>
              </a:ext>
            </a:extLst>
          </p:cNvPr>
          <p:cNvPicPr>
            <a:picLocks noChangeAspect="1"/>
          </p:cNvPicPr>
          <p:nvPr/>
        </p:nvPicPr>
        <p:blipFill>
          <a:blip r:embed="rId3"/>
          <a:stretch>
            <a:fillRect/>
          </a:stretch>
        </p:blipFill>
        <p:spPr>
          <a:xfrm>
            <a:off x="492662" y="1771328"/>
            <a:ext cx="3609247" cy="4511158"/>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dirty="0">
                <a:solidFill>
                  <a:schemeClr val="tx1"/>
                </a:solidFill>
              </a:rPr>
              <a:t>Chapter 4 – Part 7</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7" y="3588664"/>
            <a:ext cx="3969979" cy="374906"/>
          </a:xfrm>
        </p:spPr>
        <p:txBody>
          <a:bodyPr wrap="square" lIns="0" tIns="18000" rIns="0" bIns="18000" anchor="ctr">
            <a:spAutoFit/>
          </a:bodyPr>
          <a:lstStyle/>
          <a:p>
            <a:pPr indent="-101600"/>
            <a:r>
              <a:rPr lang="en-US" dirty="0"/>
              <a:t>Techniques of Circuit Analysis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665563" y="6455210"/>
            <a:ext cx="6004326" cy="221018"/>
          </a:xfrm>
        </p:spPr>
        <p:txBody>
          <a:bodyPr wrap="square" lIns="0" tIns="18000" rIns="0" bIns="18000" anchor="ctr">
            <a:spAutoFit/>
          </a:bodyPr>
          <a:lstStyle/>
          <a:p>
            <a:r>
              <a:rPr lang="en-US" dirty="0">
                <a:cs typeface="Verdana" panose="020B0604030504040204" pitchFamily="34" charset="0"/>
              </a:rPr>
              <a:t>© 2024 Pearson Education Ltd.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lstStyle/>
          <a:p>
            <a:r>
              <a:rPr lang="en-US" dirty="0"/>
              <a:t>Chapter 4 – techniques of circuit analysis </a:t>
            </a:r>
            <a:r>
              <a:rPr lang="en-US" sz="2800" dirty="0"/>
              <a:t>(1 of 17)</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38385"/>
            <a:ext cx="8241401" cy="1113570"/>
          </a:xfrm>
        </p:spPr>
        <p:txBody>
          <a:bodyPr wrap="square" lIns="0" tIns="18000" rIns="0" bIns="18000" anchor="ctr">
            <a:spAutoFit/>
          </a:bodyPr>
          <a:lstStyle/>
          <a:p>
            <a:pPr marL="0" indent="0">
              <a:spcBef>
                <a:spcPts val="600"/>
              </a:spcBef>
              <a:buNone/>
            </a:pPr>
            <a:r>
              <a:rPr lang="en-US" sz="2000" dirty="0"/>
              <a:t>Thevenin and Norton equivalents</a:t>
            </a:r>
          </a:p>
          <a:p>
            <a:pPr marL="342900" indent="-342900">
              <a:spcBef>
                <a:spcPts val="600"/>
              </a:spcBef>
            </a:pPr>
            <a:r>
              <a:rPr lang="en-US" sz="2000" dirty="0"/>
              <a:t>A circuit simplification technique</a:t>
            </a:r>
          </a:p>
          <a:p>
            <a:pPr marL="342900" indent="-342900">
              <a:spcBef>
                <a:spcPts val="600"/>
              </a:spcBef>
            </a:pPr>
            <a:r>
              <a:rPr lang="en-US" sz="2000" dirty="0"/>
              <a:t>Can be applied to any circuit consisting of resistors and sources </a:t>
            </a:r>
          </a:p>
        </p:txBody>
      </p:sp>
      <p:pic>
        <p:nvPicPr>
          <p:cNvPr id="25" name="Picture 2" descr="An image shows square block with points a at the top right and b at the bottom right. Wires extend outside the block to the right from points a and b. Text describes the square block as “A resistive network containing independent and dependent sources.”">
            <a:extLst>
              <a:ext uri="{FF2B5EF4-FFF2-40B4-BE49-F238E27FC236}">
                <a16:creationId xmlns:a16="http://schemas.microsoft.com/office/drawing/2014/main" id="{51E964D4-D105-407F-B160-690384135D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1841" y="2836822"/>
            <a:ext cx="1738438" cy="1448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Object 1" descr="Equivalent.">
            <a:extLst>
              <a:ext uri="{FF2B5EF4-FFF2-40B4-BE49-F238E27FC236}">
                <a16:creationId xmlns:a16="http://schemas.microsoft.com/office/drawing/2014/main" id="{63B492C1-CDB2-41A2-B0F7-E019EBFB8BA4}"/>
              </a:ext>
            </a:extLst>
          </p:cNvPr>
          <p:cNvGraphicFramePr>
            <a:graphicFrameLocks noChangeAspect="1"/>
          </p:cNvGraphicFramePr>
          <p:nvPr>
            <p:extLst>
              <p:ext uri="{D42A27DB-BD31-4B8C-83A1-F6EECF244321}">
                <p14:modId xmlns:p14="http://schemas.microsoft.com/office/powerpoint/2010/main" val="474403150"/>
              </p:ext>
            </p:extLst>
          </p:nvPr>
        </p:nvGraphicFramePr>
        <p:xfrm>
          <a:off x="4356511" y="3307922"/>
          <a:ext cx="292956" cy="292956"/>
        </p:xfrm>
        <a:graphic>
          <a:graphicData uri="http://schemas.openxmlformats.org/presentationml/2006/ole">
            <mc:AlternateContent xmlns:mc="http://schemas.openxmlformats.org/markup-compatibility/2006">
              <mc:Choice xmlns:v="urn:schemas-microsoft-com:vml" Requires="v">
                <p:oleObj name="Equation" r:id="rId3" imgW="126720" imgH="126720" progId="Equation.DSMT4">
                  <p:embed/>
                </p:oleObj>
              </mc:Choice>
              <mc:Fallback>
                <p:oleObj name="Equation" r:id="rId3" imgW="126720" imgH="126720" progId="Equation.DSMT4">
                  <p:embed/>
                  <p:pic>
                    <p:nvPicPr>
                      <p:cNvPr id="0" name=""/>
                      <p:cNvPicPr/>
                      <p:nvPr/>
                    </p:nvPicPr>
                    <p:blipFill>
                      <a:blip r:embed="rId4"/>
                      <a:stretch>
                        <a:fillRect/>
                      </a:stretch>
                    </p:blipFill>
                    <p:spPr>
                      <a:xfrm>
                        <a:off x="4356511" y="3307922"/>
                        <a:ext cx="292956" cy="292956"/>
                      </a:xfrm>
                      <a:prstGeom prst="rect">
                        <a:avLst/>
                      </a:prstGeom>
                    </p:spPr>
                  </p:pic>
                </p:oleObj>
              </mc:Fallback>
            </mc:AlternateContent>
          </a:graphicData>
        </a:graphic>
      </p:graphicFrame>
      <p:pic>
        <p:nvPicPr>
          <p:cNvPr id="26" name="Picture 3" descr="A rectangular block shows a circuit diagram with an independent voltage source V subscript Th with positive polarity at the top and negative at the bottom. The top wire of the circuit houses resistor R subscript Th. The top wire extends outside the block and point a is located on it. The bottom wire extends outside the block and point B is located on it. ">
            <a:extLst>
              <a:ext uri="{FF2B5EF4-FFF2-40B4-BE49-F238E27FC236}">
                <a16:creationId xmlns:a16="http://schemas.microsoft.com/office/drawing/2014/main" id="{FE1C5938-4F96-4AD9-9992-9F3AE693FF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83081" y="2870641"/>
            <a:ext cx="1882130" cy="1460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524" y="4532238"/>
            <a:ext cx="6661389" cy="344128"/>
          </a:xfrm>
        </p:spPr>
        <p:txBody>
          <a:bodyPr wrap="square" lIns="0" tIns="18000" rIns="0" bIns="18000" anchor="ctr">
            <a:spAutoFit/>
          </a:bodyPr>
          <a:lstStyle/>
          <a:p>
            <a:pPr marL="342900" indent="-342900">
              <a:spcBef>
                <a:spcPts val="600"/>
              </a:spcBef>
            </a:pPr>
            <a:r>
              <a:rPr lang="en-US" sz="2000" dirty="0"/>
              <a:t>Finding the Thevenin equivalent is a two-step process:</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29525" y="4941636"/>
            <a:ext cx="4090717" cy="344128"/>
          </a:xfrm>
        </p:spPr>
        <p:txBody>
          <a:bodyPr wrap="square" lIns="0" tIns="18000" rIns="0" bIns="18000" anchor="ctr">
            <a:spAutoFit/>
          </a:bodyPr>
          <a:lstStyle/>
          <a:p>
            <a:pPr marL="829818" lvl="1" indent="-342900"/>
            <a:r>
              <a:rPr lang="en-US" sz="2000" dirty="0"/>
              <a:t>Find the open-circuit voltage, </a:t>
            </a:r>
          </a:p>
        </p:txBody>
      </p:sp>
      <p:graphicFrame>
        <p:nvGraphicFramePr>
          <p:cNvPr id="27" name="Object 26" descr="V subscript o c BaseLine.">
            <a:extLst>
              <a:ext uri="{FF2B5EF4-FFF2-40B4-BE49-F238E27FC236}">
                <a16:creationId xmlns:a16="http://schemas.microsoft.com/office/drawing/2014/main" id="{83ACAB76-639F-4FEB-B6F7-3256F4068666}"/>
              </a:ext>
            </a:extLst>
          </p:cNvPr>
          <p:cNvGraphicFramePr>
            <a:graphicFrameLocks noChangeAspect="1"/>
          </p:cNvGraphicFramePr>
          <p:nvPr>
            <p:extLst>
              <p:ext uri="{D42A27DB-BD31-4B8C-83A1-F6EECF244321}">
                <p14:modId xmlns:p14="http://schemas.microsoft.com/office/powerpoint/2010/main" val="1493884524"/>
              </p:ext>
            </p:extLst>
          </p:nvPr>
        </p:nvGraphicFramePr>
        <p:xfrm>
          <a:off x="4618038" y="4978400"/>
          <a:ext cx="366712" cy="366713"/>
        </p:xfrm>
        <a:graphic>
          <a:graphicData uri="http://schemas.openxmlformats.org/presentationml/2006/ole">
            <mc:AlternateContent xmlns:mc="http://schemas.openxmlformats.org/markup-compatibility/2006">
              <mc:Choice xmlns:v="urn:schemas-microsoft-com:vml" Requires="v">
                <p:oleObj name="Equation" r:id="rId6" imgW="228600" imgH="228600" progId="Equation.DSMT4">
                  <p:embed/>
                </p:oleObj>
              </mc:Choice>
              <mc:Fallback>
                <p:oleObj name="Equation" r:id="rId6" imgW="228600" imgH="228600" progId="Equation.DSMT4">
                  <p:embed/>
                  <p:pic>
                    <p:nvPicPr>
                      <p:cNvPr id="2" name="Object 1">
                        <a:extLst>
                          <a:ext uri="{FF2B5EF4-FFF2-40B4-BE49-F238E27FC236}">
                            <a16:creationId xmlns:a16="http://schemas.microsoft.com/office/drawing/2014/main" id="{63B492C1-CDB2-41A2-B0F7-E019EBFB8BA4}"/>
                          </a:ext>
                        </a:extLst>
                      </p:cNvPr>
                      <p:cNvPicPr/>
                      <p:nvPr/>
                    </p:nvPicPr>
                    <p:blipFill>
                      <a:blip r:embed="rId7"/>
                      <a:stretch>
                        <a:fillRect/>
                      </a:stretch>
                    </p:blipFill>
                    <p:spPr>
                      <a:xfrm>
                        <a:off x="4618038" y="4978400"/>
                        <a:ext cx="366712" cy="366713"/>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29524" y="5342401"/>
            <a:ext cx="4073465" cy="344128"/>
          </a:xfrm>
        </p:spPr>
        <p:txBody>
          <a:bodyPr wrap="square" lIns="0" tIns="18000" rIns="0" bIns="18000" anchor="ctr">
            <a:spAutoFit/>
          </a:bodyPr>
          <a:lstStyle/>
          <a:p>
            <a:pPr marL="829818" lvl="1" indent="-342900"/>
            <a:r>
              <a:rPr lang="en-US" sz="2000" dirty="0"/>
              <a:t>Find the short-circuit current,</a:t>
            </a:r>
          </a:p>
        </p:txBody>
      </p:sp>
      <p:graphicFrame>
        <p:nvGraphicFramePr>
          <p:cNvPr id="28" name="Object 27" descr="i subscript s c BaseLine.">
            <a:extLst>
              <a:ext uri="{FF2B5EF4-FFF2-40B4-BE49-F238E27FC236}">
                <a16:creationId xmlns:a16="http://schemas.microsoft.com/office/drawing/2014/main" id="{902318C4-40A3-4991-B62B-73C4FCB42D99}"/>
              </a:ext>
            </a:extLst>
          </p:cNvPr>
          <p:cNvGraphicFramePr>
            <a:graphicFrameLocks noChangeAspect="1"/>
          </p:cNvGraphicFramePr>
          <p:nvPr>
            <p:extLst>
              <p:ext uri="{D42A27DB-BD31-4B8C-83A1-F6EECF244321}">
                <p14:modId xmlns:p14="http://schemas.microsoft.com/office/powerpoint/2010/main" val="1920982789"/>
              </p:ext>
            </p:extLst>
          </p:nvPr>
        </p:nvGraphicFramePr>
        <p:xfrm>
          <a:off x="4600575" y="5400675"/>
          <a:ext cx="269875" cy="346075"/>
        </p:xfrm>
        <a:graphic>
          <a:graphicData uri="http://schemas.openxmlformats.org/presentationml/2006/ole">
            <mc:AlternateContent xmlns:mc="http://schemas.openxmlformats.org/markup-compatibility/2006">
              <mc:Choice xmlns:v="urn:schemas-microsoft-com:vml" Requires="v">
                <p:oleObj name="Equation" r:id="rId8" imgW="177480" imgH="228600" progId="Equation.DSMT4">
                  <p:embed/>
                </p:oleObj>
              </mc:Choice>
              <mc:Fallback>
                <p:oleObj name="Equation" r:id="rId8" imgW="177480" imgH="228600" progId="Equation.DSMT4">
                  <p:embed/>
                  <p:pic>
                    <p:nvPicPr>
                      <p:cNvPr id="27" name="Object 26">
                        <a:extLst>
                          <a:ext uri="{FF2B5EF4-FFF2-40B4-BE49-F238E27FC236}">
                            <a16:creationId xmlns:a16="http://schemas.microsoft.com/office/drawing/2014/main" id="{83ACAB76-639F-4FEB-B6F7-3256F4068666}"/>
                          </a:ext>
                        </a:extLst>
                      </p:cNvPr>
                      <p:cNvPicPr/>
                      <p:nvPr/>
                    </p:nvPicPr>
                    <p:blipFill>
                      <a:blip r:embed="rId9"/>
                      <a:stretch>
                        <a:fillRect/>
                      </a:stretch>
                    </p:blipFill>
                    <p:spPr>
                      <a:xfrm>
                        <a:off x="4600575" y="5400675"/>
                        <a:ext cx="269875" cy="346075"/>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29524" y="5872650"/>
            <a:ext cx="666031" cy="344128"/>
          </a:xfrm>
        </p:spPr>
        <p:txBody>
          <a:bodyPr wrap="square" lIns="0" tIns="18000" rIns="0" bIns="18000" anchor="ctr">
            <a:spAutoFit/>
          </a:bodyPr>
          <a:lstStyle/>
          <a:p>
            <a:pPr marL="0" indent="0">
              <a:spcBef>
                <a:spcPts val="600"/>
              </a:spcBef>
              <a:buNone/>
            </a:pPr>
            <a:r>
              <a:rPr lang="en-US" sz="2000" dirty="0"/>
              <a:t>Then, </a:t>
            </a:r>
          </a:p>
        </p:txBody>
      </p:sp>
      <p:graphicFrame>
        <p:nvGraphicFramePr>
          <p:cNvPr id="29" name="Object 28" descr="V subscript T h BaseLine equals V subscript o c BaseLine.">
            <a:extLst>
              <a:ext uri="{FF2B5EF4-FFF2-40B4-BE49-F238E27FC236}">
                <a16:creationId xmlns:a16="http://schemas.microsoft.com/office/drawing/2014/main" id="{64011359-81B4-4225-9537-BAEB2F1B234F}"/>
              </a:ext>
            </a:extLst>
          </p:cNvPr>
          <p:cNvGraphicFramePr>
            <a:graphicFrameLocks noChangeAspect="1"/>
          </p:cNvGraphicFramePr>
          <p:nvPr>
            <p:extLst>
              <p:ext uri="{D42A27DB-BD31-4B8C-83A1-F6EECF244321}">
                <p14:modId xmlns:p14="http://schemas.microsoft.com/office/powerpoint/2010/main" val="3127908736"/>
              </p:ext>
            </p:extLst>
          </p:nvPr>
        </p:nvGraphicFramePr>
        <p:xfrm>
          <a:off x="1158875" y="5892800"/>
          <a:ext cx="889000" cy="344488"/>
        </p:xfrm>
        <a:graphic>
          <a:graphicData uri="http://schemas.openxmlformats.org/presentationml/2006/ole">
            <mc:AlternateContent xmlns:mc="http://schemas.openxmlformats.org/markup-compatibility/2006">
              <mc:Choice xmlns:v="urn:schemas-microsoft-com:vml" Requires="v">
                <p:oleObj name="Equation" r:id="rId10" imgW="583920" imgH="228600" progId="Equation.DSMT4">
                  <p:embed/>
                </p:oleObj>
              </mc:Choice>
              <mc:Fallback>
                <p:oleObj name="Equation" r:id="rId10" imgW="583920" imgH="228600" progId="Equation.DSMT4">
                  <p:embed/>
                  <p:pic>
                    <p:nvPicPr>
                      <p:cNvPr id="28" name="Object 27">
                        <a:extLst>
                          <a:ext uri="{FF2B5EF4-FFF2-40B4-BE49-F238E27FC236}">
                            <a16:creationId xmlns:a16="http://schemas.microsoft.com/office/drawing/2014/main" id="{902318C4-40A3-4991-B62B-73C4FCB42D99}"/>
                          </a:ext>
                        </a:extLst>
                      </p:cNvPr>
                      <p:cNvPicPr/>
                      <p:nvPr/>
                    </p:nvPicPr>
                    <p:blipFill>
                      <a:blip r:embed="rId11"/>
                      <a:stretch>
                        <a:fillRect/>
                      </a:stretch>
                    </p:blipFill>
                    <p:spPr>
                      <a:xfrm>
                        <a:off x="1158875" y="5892800"/>
                        <a:ext cx="889000" cy="344488"/>
                      </a:xfrm>
                      <a:prstGeom prst="rect">
                        <a:avLst/>
                      </a:prstGeom>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2128927" y="5893727"/>
            <a:ext cx="450372" cy="344128"/>
          </a:xfrm>
        </p:spPr>
        <p:txBody>
          <a:bodyPr wrap="square" lIns="0" tIns="18000" rIns="0" bIns="18000" anchor="ctr">
            <a:spAutoFit/>
          </a:bodyPr>
          <a:lstStyle/>
          <a:p>
            <a:pPr marL="0" indent="0">
              <a:spcBef>
                <a:spcPts val="600"/>
              </a:spcBef>
              <a:buNone/>
            </a:pPr>
            <a:r>
              <a:rPr lang="en-US" sz="2000" dirty="0"/>
              <a:t>and</a:t>
            </a:r>
          </a:p>
        </p:txBody>
      </p:sp>
      <p:graphicFrame>
        <p:nvGraphicFramePr>
          <p:cNvPr id="30" name="Object 29" descr="R subscript T h BaseLine equals V subscript o c BaseLine divided by i subscript s c BaseLine.">
            <a:extLst>
              <a:ext uri="{FF2B5EF4-FFF2-40B4-BE49-F238E27FC236}">
                <a16:creationId xmlns:a16="http://schemas.microsoft.com/office/drawing/2014/main" id="{CC4173BD-07C6-4948-B80B-D5941C034ABC}"/>
              </a:ext>
            </a:extLst>
          </p:cNvPr>
          <p:cNvGraphicFramePr>
            <a:graphicFrameLocks noChangeAspect="1"/>
          </p:cNvGraphicFramePr>
          <p:nvPr>
            <p:extLst>
              <p:ext uri="{D42A27DB-BD31-4B8C-83A1-F6EECF244321}">
                <p14:modId xmlns:p14="http://schemas.microsoft.com/office/powerpoint/2010/main" val="3514839912"/>
              </p:ext>
            </p:extLst>
          </p:nvPr>
        </p:nvGraphicFramePr>
        <p:xfrm>
          <a:off x="2661096" y="5935243"/>
          <a:ext cx="1311275" cy="344487"/>
        </p:xfrm>
        <a:graphic>
          <a:graphicData uri="http://schemas.openxmlformats.org/presentationml/2006/ole">
            <mc:AlternateContent xmlns:mc="http://schemas.openxmlformats.org/markup-compatibility/2006">
              <mc:Choice xmlns:v="urn:schemas-microsoft-com:vml" Requires="v">
                <p:oleObj name="Equation" r:id="rId12" imgW="863280" imgH="228600" progId="Equation.DSMT4">
                  <p:embed/>
                </p:oleObj>
              </mc:Choice>
              <mc:Fallback>
                <p:oleObj name="Equation" r:id="rId12" imgW="863280" imgH="228600" progId="Equation.DSMT4">
                  <p:embed/>
                  <p:pic>
                    <p:nvPicPr>
                      <p:cNvPr id="29" name="Object 28">
                        <a:extLst>
                          <a:ext uri="{FF2B5EF4-FFF2-40B4-BE49-F238E27FC236}">
                            <a16:creationId xmlns:a16="http://schemas.microsoft.com/office/drawing/2014/main" id="{64011359-81B4-4225-9537-BAEB2F1B234F}"/>
                          </a:ext>
                        </a:extLst>
                      </p:cNvPr>
                      <p:cNvPicPr/>
                      <p:nvPr/>
                    </p:nvPicPr>
                    <p:blipFill>
                      <a:blip r:embed="rId13"/>
                      <a:stretch>
                        <a:fillRect/>
                      </a:stretch>
                    </p:blipFill>
                    <p:spPr>
                      <a:xfrm>
                        <a:off x="2661096" y="5935243"/>
                        <a:ext cx="1311275" cy="344487"/>
                      </a:xfrm>
                      <a:prstGeom prst="rect">
                        <a:avLst/>
                      </a:prstGeom>
                    </p:spPr>
                  </p:pic>
                </p:oleObj>
              </mc:Fallback>
            </mc:AlternateContent>
          </a:graphicData>
        </a:graphic>
      </p:graphicFrame>
    </p:spTree>
    <p:extLst>
      <p:ext uri="{BB962C8B-B14F-4D97-AF65-F5344CB8AC3E}">
        <p14:creationId xmlns:p14="http://schemas.microsoft.com/office/powerpoint/2010/main" val="3865518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lstStyle/>
          <a:p>
            <a:r>
              <a:rPr lang="en-US" dirty="0"/>
              <a:t>Chapter 4 – techniques of circuit analysis </a:t>
            </a:r>
            <a:r>
              <a:rPr lang="en-US" sz="2800" dirty="0"/>
              <a:t>(2 of 17)</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40967"/>
            <a:ext cx="8241401" cy="728849"/>
          </a:xfrm>
        </p:spPr>
        <p:txBody>
          <a:bodyPr wrap="square" lIns="0" tIns="18000" rIns="0" bIns="18000" anchor="ctr">
            <a:spAutoFit/>
          </a:bodyPr>
          <a:lstStyle/>
          <a:p>
            <a:pPr marL="0" indent="0">
              <a:spcBef>
                <a:spcPts val="600"/>
              </a:spcBef>
              <a:buNone/>
            </a:pPr>
            <a:r>
              <a:rPr lang="en-US" sz="2000" dirty="0"/>
              <a:t>Thevenin and Norton equivalents</a:t>
            </a:r>
          </a:p>
          <a:p>
            <a:pPr marL="342900" indent="-342900">
              <a:spcBef>
                <a:spcPts val="600"/>
              </a:spcBef>
            </a:pPr>
            <a:r>
              <a:rPr lang="en-US" sz="2000" dirty="0"/>
              <a:t>Find the Norton equivalent of the circuit shown here.</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525" y="3937020"/>
            <a:ext cx="536634" cy="344128"/>
          </a:xfrm>
        </p:spPr>
        <p:txBody>
          <a:bodyPr wrap="square" lIns="0" tIns="18000" rIns="0" bIns="18000" anchor="ctr">
            <a:spAutoFit/>
          </a:bodyPr>
          <a:lstStyle/>
          <a:p>
            <a:pPr marL="0" indent="0">
              <a:spcBef>
                <a:spcPts val="600"/>
              </a:spcBef>
              <a:buNone/>
            </a:pPr>
            <a:r>
              <a:rPr lang="en-US" sz="2000" dirty="0"/>
              <a:t>Find</a:t>
            </a:r>
          </a:p>
        </p:txBody>
      </p:sp>
      <p:graphicFrame>
        <p:nvGraphicFramePr>
          <p:cNvPr id="9" name="Object 6" descr="R subscript T h BaseLine:">
            <a:extLst>
              <a:ext uri="{FF2B5EF4-FFF2-40B4-BE49-F238E27FC236}">
                <a16:creationId xmlns:a16="http://schemas.microsoft.com/office/drawing/2014/main" id="{AA613637-B0E7-4CE7-A9C1-D0A52B5F9032}"/>
              </a:ext>
            </a:extLst>
          </p:cNvPr>
          <p:cNvGraphicFramePr>
            <a:graphicFrameLocks noChangeAspect="1"/>
          </p:cNvGraphicFramePr>
          <p:nvPr>
            <p:extLst>
              <p:ext uri="{D42A27DB-BD31-4B8C-83A1-F6EECF244321}">
                <p14:modId xmlns:p14="http://schemas.microsoft.com/office/powerpoint/2010/main" val="1113184438"/>
              </p:ext>
            </p:extLst>
          </p:nvPr>
        </p:nvGraphicFramePr>
        <p:xfrm>
          <a:off x="986305" y="3945498"/>
          <a:ext cx="525463" cy="361950"/>
        </p:xfrm>
        <a:graphic>
          <a:graphicData uri="http://schemas.openxmlformats.org/presentationml/2006/ole">
            <mc:AlternateContent xmlns:mc="http://schemas.openxmlformats.org/markup-compatibility/2006">
              <mc:Choice xmlns:v="urn:schemas-microsoft-com:vml" Requires="v">
                <p:oleObj name="Equation" r:id="rId2" imgW="330120" imgH="228600" progId="Equation.DSMT4">
                  <p:embed/>
                </p:oleObj>
              </mc:Choice>
              <mc:Fallback>
                <p:oleObj name="Equation" r:id="rId2" imgW="330120" imgH="228600" progId="Equation.DSMT4">
                  <p:embed/>
                  <p:pic>
                    <p:nvPicPr>
                      <p:cNvPr id="32" name="Object 6">
                        <a:extLst>
                          <a:ext uri="{FF2B5EF4-FFF2-40B4-BE49-F238E27FC236}">
                            <a16:creationId xmlns:a16="http://schemas.microsoft.com/office/drawing/2014/main" id="{5C1269DC-B3F3-477D-8919-97C56D24050E}"/>
                          </a:ext>
                        </a:extLst>
                      </p:cNvPr>
                      <p:cNvPicPr>
                        <a:picLocks noChangeAspect="1" noChangeArrowheads="1"/>
                      </p:cNvPicPr>
                      <p:nvPr/>
                    </p:nvPicPr>
                    <p:blipFill>
                      <a:blip r:embed="rId3"/>
                      <a:srcRect/>
                      <a:stretch>
                        <a:fillRect/>
                      </a:stretch>
                    </p:blipFill>
                    <p:spPr bwMode="auto">
                      <a:xfrm>
                        <a:off x="986305" y="3945498"/>
                        <a:ext cx="525463"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1" name="Picture 5" descr="A circuit diagram shows the left most wire in the circuit without any component. The second wire from left has a discontinuity in between. The third wire from left contains a 60 kilo ohms resistor. Four nodes are marked where the second and third wire from left separately connect to the top and bottom wires of the circuit. A 12 kilo ohms resistor is located in the top wire between the leftmost wire and the second wire from left. The top and bottom nodes from the third wire from left are extended rightwards to point A in the top wire and point B in the bottom wire. A 15 kilo ohms resistor is located between the top node of the third wire from left and point A. A symbol of an arrow pointing leftwards is shown between points A and B. ">
            <a:extLst>
              <a:ext uri="{FF2B5EF4-FFF2-40B4-BE49-F238E27FC236}">
                <a16:creationId xmlns:a16="http://schemas.microsoft.com/office/drawing/2014/main" id="{4FA387BF-189F-4DE4-95B0-BB04D769D0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6420" y="4450665"/>
            <a:ext cx="3648997" cy="164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2" name="Object 6" descr="R subscript T h BaseLine equals 15 plus OpenParenthesis 60 parallel to 12 CloseParenthesis.">
            <a:extLst>
              <a:ext uri="{FF2B5EF4-FFF2-40B4-BE49-F238E27FC236}">
                <a16:creationId xmlns:a16="http://schemas.microsoft.com/office/drawing/2014/main" id="{5C1269DC-B3F3-477D-8919-97C56D24050E}"/>
              </a:ext>
            </a:extLst>
          </p:cNvPr>
          <p:cNvGraphicFramePr>
            <a:graphicFrameLocks noChangeAspect="1"/>
          </p:cNvGraphicFramePr>
          <p:nvPr>
            <p:extLst>
              <p:ext uri="{D42A27DB-BD31-4B8C-83A1-F6EECF244321}">
                <p14:modId xmlns:p14="http://schemas.microsoft.com/office/powerpoint/2010/main" val="131841985"/>
              </p:ext>
            </p:extLst>
          </p:nvPr>
        </p:nvGraphicFramePr>
        <p:xfrm>
          <a:off x="5974938" y="5198280"/>
          <a:ext cx="2058224" cy="361686"/>
        </p:xfrm>
        <a:graphic>
          <a:graphicData uri="http://schemas.openxmlformats.org/presentationml/2006/ole">
            <mc:AlternateContent xmlns:mc="http://schemas.openxmlformats.org/markup-compatibility/2006">
              <mc:Choice xmlns:v="urn:schemas-microsoft-com:vml" Requires="v">
                <p:oleObj name="Equation" r:id="rId5" imgW="1295280" imgH="228600" progId="Equation.DSMT4">
                  <p:embed/>
                </p:oleObj>
              </mc:Choice>
              <mc:Fallback>
                <p:oleObj name="Equation" r:id="rId5" imgW="1295280" imgH="228600" progId="Equation.DSMT4">
                  <p:embed/>
                  <p:pic>
                    <p:nvPicPr>
                      <p:cNvPr id="24" name="Object 6"/>
                      <p:cNvPicPr>
                        <a:picLocks noChangeAspect="1" noChangeArrowheads="1"/>
                      </p:cNvPicPr>
                      <p:nvPr/>
                    </p:nvPicPr>
                    <p:blipFill>
                      <a:blip r:embed="rId6"/>
                      <a:srcRect/>
                      <a:stretch>
                        <a:fillRect/>
                      </a:stretch>
                    </p:blipFill>
                    <p:spPr bwMode="auto">
                      <a:xfrm>
                        <a:off x="5974938" y="5198280"/>
                        <a:ext cx="2058224" cy="3616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 name="Object 6" descr="Equals 15 plus 10 equals 25 Ohms.">
            <a:extLst>
              <a:ext uri="{FF2B5EF4-FFF2-40B4-BE49-F238E27FC236}">
                <a16:creationId xmlns:a16="http://schemas.microsoft.com/office/drawing/2014/main" id="{10252020-CF40-4195-ABE5-A848BEDDB087}"/>
              </a:ext>
            </a:extLst>
          </p:cNvPr>
          <p:cNvGraphicFramePr>
            <a:graphicFrameLocks noChangeAspect="1"/>
          </p:cNvGraphicFramePr>
          <p:nvPr>
            <p:extLst>
              <p:ext uri="{D42A27DB-BD31-4B8C-83A1-F6EECF244321}">
                <p14:modId xmlns:p14="http://schemas.microsoft.com/office/powerpoint/2010/main" val="2786024519"/>
              </p:ext>
            </p:extLst>
          </p:nvPr>
        </p:nvGraphicFramePr>
        <p:xfrm>
          <a:off x="6399030" y="5709549"/>
          <a:ext cx="1665287" cy="274638"/>
        </p:xfrm>
        <a:graphic>
          <a:graphicData uri="http://schemas.openxmlformats.org/presentationml/2006/ole">
            <mc:AlternateContent xmlns:mc="http://schemas.openxmlformats.org/markup-compatibility/2006">
              <mc:Choice xmlns:v="urn:schemas-microsoft-com:vml" Requires="v">
                <p:oleObj name="Equation" r:id="rId7" imgW="1079280" imgH="177480" progId="Equation.DSMT4">
                  <p:embed/>
                </p:oleObj>
              </mc:Choice>
              <mc:Fallback>
                <p:oleObj name="Equation" r:id="rId7" imgW="1079280" imgH="177480" progId="Equation.DSMT4">
                  <p:embed/>
                  <p:pic>
                    <p:nvPicPr>
                      <p:cNvPr id="32" name="Object 6">
                        <a:extLst>
                          <a:ext uri="{FF2B5EF4-FFF2-40B4-BE49-F238E27FC236}">
                            <a16:creationId xmlns:a16="http://schemas.microsoft.com/office/drawing/2014/main" id="{5C1269DC-B3F3-477D-8919-97C56D24050E}"/>
                          </a:ext>
                        </a:extLst>
                      </p:cNvPr>
                      <p:cNvPicPr>
                        <a:picLocks noChangeAspect="1" noChangeArrowheads="1"/>
                      </p:cNvPicPr>
                      <p:nvPr/>
                    </p:nvPicPr>
                    <p:blipFill>
                      <a:blip r:embed="rId8"/>
                      <a:srcRect/>
                      <a:stretch>
                        <a:fillRect/>
                      </a:stretch>
                    </p:blipFill>
                    <p:spPr bwMode="auto">
                      <a:xfrm>
                        <a:off x="6399030" y="5709549"/>
                        <a:ext cx="1665287"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 name="Picture 2" descr="A circuit diagram shows a 36 volt independent voltage source with negative polarity at the top end and positive at the bottom as the left most wire in the circuit. Connected in parallel to the 36 volt independent voltage source are the second and third wires from the left. The second wire from left contains an 18 milli ampere independent current source with internal arrow pointing upwards. The third wire from left contains a 60 kilo ohms resistor. Four nodes are marked where the second and third wire from left separately connect to the top and bottom wires of the circuit. A 12 kilo ohms resistor is located in the top wire between the leftmost wire and the second wire from left. The top and bottom nodes from the third wire from left are extended rightwards to point A in the top wire and point B in the bottom wire. A 15 kilo ohms resistor is located between the top node of the third wire from left and point A. Voltage v subscript AB develops between points A and B with positive polarity at point A and negative at point B.">
            <a:extLst>
              <a:ext uri="{FF2B5EF4-FFF2-40B4-BE49-F238E27FC236}">
                <a16:creationId xmlns:a16="http://schemas.microsoft.com/office/drawing/2014/main" id="{8B097734-5487-5B48-C387-3F45C55683AD}"/>
              </a:ext>
            </a:extLst>
          </p:cNvPr>
          <p:cNvPicPr>
            <a:picLocks noChangeAspect="1" noChangeArrowheads="1"/>
          </p:cNvPicPr>
          <p:nvPr/>
        </p:nvPicPr>
        <p:blipFill>
          <a:blip r:embed="rId9"/>
          <a:stretch>
            <a:fillRect/>
          </a:stretch>
        </p:blipFill>
        <p:spPr bwMode="auto">
          <a:xfrm>
            <a:off x="2233344" y="2536531"/>
            <a:ext cx="4165686" cy="1400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28878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185" y="207228"/>
            <a:ext cx="8229600" cy="1144347"/>
          </a:xfrm>
        </p:spPr>
        <p:txBody>
          <a:bodyPr/>
          <a:lstStyle/>
          <a:p>
            <a:r>
              <a:rPr lang="en-US" dirty="0"/>
              <a:t>Chapter 4 – techniques of circuit analysis </a:t>
            </a:r>
            <a:r>
              <a:rPr lang="en-US" sz="2800" dirty="0"/>
              <a:t>(3 of 17)</a:t>
            </a:r>
            <a:endParaRPr lang="en-US"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185" y="1537287"/>
            <a:ext cx="4142815" cy="1036625"/>
          </a:xfrm>
        </p:spPr>
        <p:txBody>
          <a:bodyPr wrap="square" lIns="0" tIns="18000" rIns="0" bIns="18000" anchor="ctr">
            <a:spAutoFit/>
          </a:bodyPr>
          <a:lstStyle/>
          <a:p>
            <a:pPr marL="0" indent="0">
              <a:spcBef>
                <a:spcPts val="600"/>
              </a:spcBef>
              <a:buNone/>
            </a:pPr>
            <a:r>
              <a:rPr lang="en-US" sz="2000" dirty="0"/>
              <a:t>Thevenin and Norton equivalents</a:t>
            </a:r>
          </a:p>
          <a:p>
            <a:pPr marL="342900" indent="-342900">
              <a:spcBef>
                <a:spcPts val="600"/>
              </a:spcBef>
            </a:pPr>
            <a:r>
              <a:rPr lang="en-US" sz="2000" dirty="0"/>
              <a:t>Find the Norton equivalent of the circuit shown here (continued).</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185" y="2859558"/>
            <a:ext cx="556933" cy="344128"/>
          </a:xfrm>
        </p:spPr>
        <p:txBody>
          <a:bodyPr wrap="square" lIns="0" tIns="18000" rIns="0" bIns="18000" anchor="ctr">
            <a:spAutoFit/>
          </a:bodyPr>
          <a:lstStyle/>
          <a:p>
            <a:pPr marL="0" indent="0">
              <a:spcBef>
                <a:spcPts val="600"/>
              </a:spcBef>
              <a:buNone/>
            </a:pPr>
            <a:r>
              <a:rPr lang="en-US" sz="2000" dirty="0"/>
              <a:t>Find</a:t>
            </a:r>
          </a:p>
        </p:txBody>
      </p:sp>
      <p:graphicFrame>
        <p:nvGraphicFramePr>
          <p:cNvPr id="26" name="Object 25" descr="I subscript N.">
            <a:extLst>
              <a:ext uri="{FF2B5EF4-FFF2-40B4-BE49-F238E27FC236}">
                <a16:creationId xmlns:a16="http://schemas.microsoft.com/office/drawing/2014/main" id="{05F25AC0-84A5-46D4-B3ED-93EF2E595894}"/>
              </a:ext>
            </a:extLst>
          </p:cNvPr>
          <p:cNvGraphicFramePr>
            <a:graphicFrameLocks noChangeAspect="1"/>
          </p:cNvGraphicFramePr>
          <p:nvPr/>
        </p:nvGraphicFramePr>
        <p:xfrm>
          <a:off x="1052095" y="2858761"/>
          <a:ext cx="253149" cy="379724"/>
        </p:xfrm>
        <a:graphic>
          <a:graphicData uri="http://schemas.openxmlformats.org/presentationml/2006/ole">
            <mc:AlternateContent xmlns:mc="http://schemas.openxmlformats.org/markup-compatibility/2006">
              <mc:Choice xmlns:v="urn:schemas-microsoft-com:vml" Requires="v">
                <p:oleObj name="Equation" r:id="rId3" imgW="152280" imgH="228600" progId="Equation.DSMT4">
                  <p:embed/>
                </p:oleObj>
              </mc:Choice>
              <mc:Fallback>
                <p:oleObj name="Equation" r:id="rId3" imgW="152280" imgH="228600" progId="Equation.DSMT4">
                  <p:embed/>
                  <p:pic>
                    <p:nvPicPr>
                      <p:cNvPr id="26" name="Object 25" descr="I subscript N.">
                        <a:extLst>
                          <a:ext uri="{FF2B5EF4-FFF2-40B4-BE49-F238E27FC236}">
                            <a16:creationId xmlns:a16="http://schemas.microsoft.com/office/drawing/2014/main" id="{05F25AC0-84A5-46D4-B3ED-93EF2E595894}"/>
                          </a:ext>
                        </a:extLst>
                      </p:cNvPr>
                      <p:cNvPicPr/>
                      <p:nvPr/>
                    </p:nvPicPr>
                    <p:blipFill>
                      <a:blip r:embed="rId4"/>
                      <a:stretch>
                        <a:fillRect/>
                      </a:stretch>
                    </p:blipFill>
                    <p:spPr>
                      <a:xfrm>
                        <a:off x="1052095" y="2858761"/>
                        <a:ext cx="253149" cy="379724"/>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433232" y="2876366"/>
            <a:ext cx="3631827" cy="344128"/>
          </a:xfrm>
        </p:spPr>
        <p:txBody>
          <a:bodyPr wrap="square" lIns="0" tIns="18000" rIns="0" bIns="18000" anchor="ctr">
            <a:spAutoFit/>
          </a:bodyPr>
          <a:lstStyle/>
          <a:p>
            <a:pPr marL="0" indent="0">
              <a:buNone/>
            </a:pPr>
            <a:r>
              <a:rPr lang="en-US" sz="2000" dirty="0"/>
              <a:t>using the mesh current method:</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2317482" y="4754047"/>
            <a:ext cx="1331154" cy="344128"/>
          </a:xfrm>
        </p:spPr>
        <p:txBody>
          <a:bodyPr wrap="square" lIns="0" tIns="18000" rIns="0" bIns="18000" anchor="ctr">
            <a:spAutoFit/>
          </a:bodyPr>
          <a:lstStyle/>
          <a:p>
            <a:pPr marL="0" indent="0">
              <a:spcBef>
                <a:spcPts val="600"/>
              </a:spcBef>
              <a:buNone/>
            </a:pPr>
            <a:r>
              <a:rPr lang="en-US" sz="2000" dirty="0" err="1"/>
              <a:t>supermesh</a:t>
            </a:r>
            <a:r>
              <a:rPr lang="en-US" sz="2000" dirty="0"/>
              <a:t>:</a:t>
            </a:r>
          </a:p>
        </p:txBody>
      </p:sp>
      <p:graphicFrame>
        <p:nvGraphicFramePr>
          <p:cNvPr id="28" name="Object 2" descr="36 plus 12,000 i subscript 1 BaseLine plus 60,000 OpenParenthesis i subscript 2 BaseLine minus I subscript N BaseLine CloseParenthesis equals 0.">
            <a:extLst>
              <a:ext uri="{FF2B5EF4-FFF2-40B4-BE49-F238E27FC236}">
                <a16:creationId xmlns:a16="http://schemas.microsoft.com/office/drawing/2014/main" id="{4983CC4F-9C83-465B-9C70-D9D9D4728B0A}"/>
              </a:ext>
            </a:extLst>
          </p:cNvPr>
          <p:cNvGraphicFramePr>
            <a:graphicFrameLocks noChangeAspect="1"/>
          </p:cNvGraphicFramePr>
          <p:nvPr/>
        </p:nvGraphicFramePr>
        <p:xfrm>
          <a:off x="3732392" y="4789322"/>
          <a:ext cx="3101975" cy="319088"/>
        </p:xfrm>
        <a:graphic>
          <a:graphicData uri="http://schemas.openxmlformats.org/presentationml/2006/ole">
            <mc:AlternateContent xmlns:mc="http://schemas.openxmlformats.org/markup-compatibility/2006">
              <mc:Choice xmlns:v="urn:schemas-microsoft-com:vml" Requires="v">
                <p:oleObj name="Equation" r:id="rId5" imgW="2222280" imgH="228600" progId="Equation.DSMT4">
                  <p:embed/>
                </p:oleObj>
              </mc:Choice>
              <mc:Fallback>
                <p:oleObj name="Equation" r:id="rId5" imgW="2222280" imgH="228600" progId="Equation.DSMT4">
                  <p:embed/>
                  <p:pic>
                    <p:nvPicPr>
                      <p:cNvPr id="28" name="Object 2" descr="36 plus 12,000 i subscript 1 BaseLine plus 60,000 OpenParenthesis i subscript 2 BaseLine minus I subscript N BaseLine CloseParenthesis equals 0.">
                        <a:extLst>
                          <a:ext uri="{FF2B5EF4-FFF2-40B4-BE49-F238E27FC236}">
                            <a16:creationId xmlns:a16="http://schemas.microsoft.com/office/drawing/2014/main" id="{4983CC4F-9C83-465B-9C70-D9D9D4728B0A}"/>
                          </a:ext>
                        </a:extLst>
                      </p:cNvPr>
                      <p:cNvPicPr>
                        <a:picLocks noChangeAspect="1" noChangeArrowheads="1"/>
                      </p:cNvPicPr>
                      <p:nvPr/>
                    </p:nvPicPr>
                    <p:blipFill>
                      <a:blip r:embed="rId6"/>
                      <a:srcRect/>
                      <a:stretch>
                        <a:fillRect/>
                      </a:stretch>
                    </p:blipFill>
                    <p:spPr bwMode="auto">
                      <a:xfrm>
                        <a:off x="3732392" y="4789322"/>
                        <a:ext cx="3101975" cy="31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2" descr="I subscript N.">
            <a:extLst>
              <a:ext uri="{FF2B5EF4-FFF2-40B4-BE49-F238E27FC236}">
                <a16:creationId xmlns:a16="http://schemas.microsoft.com/office/drawing/2014/main" id="{58792F02-75C2-4948-B58E-7CF160EF8B85}"/>
              </a:ext>
            </a:extLst>
          </p:cNvPr>
          <p:cNvGraphicFramePr>
            <a:graphicFrameLocks noChangeAspect="1"/>
          </p:cNvGraphicFramePr>
          <p:nvPr/>
        </p:nvGraphicFramePr>
        <p:xfrm>
          <a:off x="2267230" y="5151867"/>
          <a:ext cx="233362" cy="352425"/>
        </p:xfrm>
        <a:graphic>
          <a:graphicData uri="http://schemas.openxmlformats.org/presentationml/2006/ole">
            <mc:AlternateContent xmlns:mc="http://schemas.openxmlformats.org/markup-compatibility/2006">
              <mc:Choice xmlns:v="urn:schemas-microsoft-com:vml" Requires="v">
                <p:oleObj name="Equation" r:id="rId7" imgW="152280" imgH="228600" progId="Equation.DSMT4">
                  <p:embed/>
                </p:oleObj>
              </mc:Choice>
              <mc:Fallback>
                <p:oleObj name="Equation" r:id="rId7" imgW="152280" imgH="228600" progId="Equation.DSMT4">
                  <p:embed/>
                  <p:pic>
                    <p:nvPicPr>
                      <p:cNvPr id="29" name="Object 2" descr="I subscript N.">
                        <a:extLst>
                          <a:ext uri="{FF2B5EF4-FFF2-40B4-BE49-F238E27FC236}">
                            <a16:creationId xmlns:a16="http://schemas.microsoft.com/office/drawing/2014/main" id="{58792F02-75C2-4948-B58E-7CF160EF8B85}"/>
                          </a:ext>
                        </a:extLst>
                      </p:cNvPr>
                      <p:cNvPicPr>
                        <a:picLocks noChangeAspect="1" noChangeArrowheads="1"/>
                      </p:cNvPicPr>
                      <p:nvPr/>
                    </p:nvPicPr>
                    <p:blipFill>
                      <a:blip r:embed="rId8"/>
                      <a:srcRect/>
                      <a:stretch>
                        <a:fillRect/>
                      </a:stretch>
                    </p:blipFill>
                    <p:spPr bwMode="auto">
                      <a:xfrm>
                        <a:off x="2267230" y="5151867"/>
                        <a:ext cx="233362"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2589679" y="5160543"/>
            <a:ext cx="691404" cy="344128"/>
          </a:xfrm>
        </p:spPr>
        <p:txBody>
          <a:bodyPr wrap="square" lIns="0" tIns="18000" rIns="0" bIns="18000" anchor="ctr">
            <a:spAutoFit/>
          </a:bodyPr>
          <a:lstStyle/>
          <a:p>
            <a:pPr marL="0" indent="0">
              <a:spcBef>
                <a:spcPts val="600"/>
              </a:spcBef>
              <a:buNone/>
            </a:pPr>
            <a:r>
              <a:rPr lang="en-US" sz="2000" dirty="0"/>
              <a:t>mesh:</a:t>
            </a:r>
          </a:p>
        </p:txBody>
      </p:sp>
      <p:graphicFrame>
        <p:nvGraphicFramePr>
          <p:cNvPr id="30" name="Object 2" descr="15,000 I subscript N BaseLine plus 60,000 OpenParenthesis I subscript N BaseLine minus i subscript 2 BaseLine CloseParenthesis equals 0.">
            <a:extLst>
              <a:ext uri="{FF2B5EF4-FFF2-40B4-BE49-F238E27FC236}">
                <a16:creationId xmlns:a16="http://schemas.microsoft.com/office/drawing/2014/main" id="{C8CB4864-7D20-4849-ACBF-F0FC727C75BA}"/>
              </a:ext>
            </a:extLst>
          </p:cNvPr>
          <p:cNvGraphicFramePr>
            <a:graphicFrameLocks noChangeAspect="1"/>
          </p:cNvGraphicFramePr>
          <p:nvPr/>
        </p:nvGraphicFramePr>
        <p:xfrm>
          <a:off x="3370170" y="5182139"/>
          <a:ext cx="3014662" cy="352425"/>
        </p:xfrm>
        <a:graphic>
          <a:graphicData uri="http://schemas.openxmlformats.org/presentationml/2006/ole">
            <mc:AlternateContent xmlns:mc="http://schemas.openxmlformats.org/markup-compatibility/2006">
              <mc:Choice xmlns:v="urn:schemas-microsoft-com:vml" Requires="v">
                <p:oleObj name="Equation" r:id="rId9" imgW="1955520" imgH="228600" progId="Equation.DSMT4">
                  <p:embed/>
                </p:oleObj>
              </mc:Choice>
              <mc:Fallback>
                <p:oleObj name="Equation" r:id="rId9" imgW="1955520" imgH="228600" progId="Equation.DSMT4">
                  <p:embed/>
                  <p:pic>
                    <p:nvPicPr>
                      <p:cNvPr id="30" name="Object 2" descr="15,000 I subscript N BaseLine plus 60,000 OpenParenthesis I subscript N BaseLine minus i subscript 2 BaseLine CloseParenthesis equals 0.">
                        <a:extLst>
                          <a:ext uri="{FF2B5EF4-FFF2-40B4-BE49-F238E27FC236}">
                            <a16:creationId xmlns:a16="http://schemas.microsoft.com/office/drawing/2014/main" id="{C8CB4864-7D20-4849-ACBF-F0FC727C75BA}"/>
                          </a:ext>
                        </a:extLst>
                      </p:cNvPr>
                      <p:cNvPicPr>
                        <a:picLocks noChangeAspect="1" noChangeArrowheads="1"/>
                      </p:cNvPicPr>
                      <p:nvPr/>
                    </p:nvPicPr>
                    <p:blipFill>
                      <a:blip r:embed="rId10"/>
                      <a:srcRect/>
                      <a:stretch>
                        <a:fillRect/>
                      </a:stretch>
                    </p:blipFill>
                    <p:spPr bwMode="auto">
                      <a:xfrm>
                        <a:off x="3370170" y="5182139"/>
                        <a:ext cx="3014662"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2290028" y="5582432"/>
            <a:ext cx="1632698" cy="344128"/>
          </a:xfrm>
        </p:spPr>
        <p:txBody>
          <a:bodyPr wrap="square" lIns="0" tIns="18000" rIns="0" bIns="18000" anchor="ctr">
            <a:spAutoFit/>
          </a:bodyPr>
          <a:lstStyle/>
          <a:p>
            <a:pPr marL="0" indent="0">
              <a:spcBef>
                <a:spcPts val="600"/>
              </a:spcBef>
              <a:buNone/>
            </a:pPr>
            <a:r>
              <a:rPr lang="en-US" sz="2000" dirty="0"/>
              <a:t>S</a:t>
            </a:r>
            <a:r>
              <a:rPr lang="en-US" sz="100" dirty="0"/>
              <a:t> </a:t>
            </a:r>
            <a:r>
              <a:rPr lang="en-US" sz="2000" dirty="0"/>
              <a:t>M constraint:</a:t>
            </a:r>
          </a:p>
        </p:txBody>
      </p:sp>
      <p:graphicFrame>
        <p:nvGraphicFramePr>
          <p:cNvPr id="31" name="Object 2" descr="i subscript 2 BaseLine minus i subscript 1 BaseLine equals 0.018.">
            <a:extLst>
              <a:ext uri="{FF2B5EF4-FFF2-40B4-BE49-F238E27FC236}">
                <a16:creationId xmlns:a16="http://schemas.microsoft.com/office/drawing/2014/main" id="{34A67F24-0DBC-4EEA-A0CA-5CE0E925B5AF}"/>
              </a:ext>
            </a:extLst>
          </p:cNvPr>
          <p:cNvGraphicFramePr>
            <a:graphicFrameLocks noChangeAspect="1"/>
          </p:cNvGraphicFramePr>
          <p:nvPr/>
        </p:nvGraphicFramePr>
        <p:xfrm>
          <a:off x="4105695" y="5580332"/>
          <a:ext cx="1400175" cy="344488"/>
        </p:xfrm>
        <a:graphic>
          <a:graphicData uri="http://schemas.openxmlformats.org/presentationml/2006/ole">
            <mc:AlternateContent xmlns:mc="http://schemas.openxmlformats.org/markup-compatibility/2006">
              <mc:Choice xmlns:v="urn:schemas-microsoft-com:vml" Requires="v">
                <p:oleObj name="Equation" r:id="rId11" imgW="927000" imgH="228600" progId="Equation.DSMT4">
                  <p:embed/>
                </p:oleObj>
              </mc:Choice>
              <mc:Fallback>
                <p:oleObj name="Equation" r:id="rId11" imgW="927000" imgH="228600" progId="Equation.DSMT4">
                  <p:embed/>
                  <p:pic>
                    <p:nvPicPr>
                      <p:cNvPr id="31" name="Object 2" descr="i subscript 2 BaseLine minus i subscript 1 BaseLine equals 0.018.">
                        <a:extLst>
                          <a:ext uri="{FF2B5EF4-FFF2-40B4-BE49-F238E27FC236}">
                            <a16:creationId xmlns:a16="http://schemas.microsoft.com/office/drawing/2014/main" id="{34A67F24-0DBC-4EEA-A0CA-5CE0E925B5AF}"/>
                          </a:ext>
                        </a:extLst>
                      </p:cNvPr>
                      <p:cNvPicPr>
                        <a:picLocks noChangeAspect="1" noChangeArrowheads="1"/>
                      </p:cNvPicPr>
                      <p:nvPr/>
                    </p:nvPicPr>
                    <p:blipFill>
                      <a:blip r:embed="rId12"/>
                      <a:srcRect/>
                      <a:stretch>
                        <a:fillRect/>
                      </a:stretch>
                    </p:blipFill>
                    <p:spPr bwMode="auto">
                      <a:xfrm>
                        <a:off x="4105695" y="5580332"/>
                        <a:ext cx="1400175" cy="344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2330739" y="6003853"/>
            <a:ext cx="953114" cy="344128"/>
          </a:xfrm>
        </p:spPr>
        <p:txBody>
          <a:bodyPr wrap="square" lIns="0" tIns="18000" rIns="0" bIns="18000" anchor="ctr">
            <a:spAutoFit/>
          </a:bodyPr>
          <a:lstStyle/>
          <a:p>
            <a:pPr marL="0" indent="0">
              <a:spcBef>
                <a:spcPts val="600"/>
              </a:spcBef>
              <a:buNone/>
            </a:pPr>
            <a:r>
              <a:rPr lang="en-US" sz="2000" dirty="0"/>
              <a:t>Solving:</a:t>
            </a:r>
          </a:p>
        </p:txBody>
      </p:sp>
      <p:graphicFrame>
        <p:nvGraphicFramePr>
          <p:cNvPr id="32" name="Object 2" descr="I subscript N BaseLine equals 6 milliAmperes.">
            <a:extLst>
              <a:ext uri="{FF2B5EF4-FFF2-40B4-BE49-F238E27FC236}">
                <a16:creationId xmlns:a16="http://schemas.microsoft.com/office/drawing/2014/main" id="{6ED94FEC-E49B-4549-ACD8-7B5AE3C9F8A7}"/>
              </a:ext>
            </a:extLst>
          </p:cNvPr>
          <p:cNvGraphicFramePr>
            <a:graphicFrameLocks noChangeAspect="1"/>
          </p:cNvGraphicFramePr>
          <p:nvPr/>
        </p:nvGraphicFramePr>
        <p:xfrm>
          <a:off x="3453420" y="5993616"/>
          <a:ext cx="1066800" cy="349250"/>
        </p:xfrm>
        <a:graphic>
          <a:graphicData uri="http://schemas.openxmlformats.org/presentationml/2006/ole">
            <mc:AlternateContent xmlns:mc="http://schemas.openxmlformats.org/markup-compatibility/2006">
              <mc:Choice xmlns:v="urn:schemas-microsoft-com:vml" Requires="v">
                <p:oleObj name="Equation" r:id="rId13" imgW="698400" imgH="228600" progId="Equation.DSMT4">
                  <p:embed/>
                </p:oleObj>
              </mc:Choice>
              <mc:Fallback>
                <p:oleObj name="Equation" r:id="rId13" imgW="698400" imgH="228600" progId="Equation.DSMT4">
                  <p:embed/>
                  <p:pic>
                    <p:nvPicPr>
                      <p:cNvPr id="32" name="Object 2" descr="I subscript N BaseLine equals 6 milliAmperes.">
                        <a:extLst>
                          <a:ext uri="{FF2B5EF4-FFF2-40B4-BE49-F238E27FC236}">
                            <a16:creationId xmlns:a16="http://schemas.microsoft.com/office/drawing/2014/main" id="{6ED94FEC-E49B-4549-ACD8-7B5AE3C9F8A7}"/>
                          </a:ext>
                        </a:extLst>
                      </p:cNvPr>
                      <p:cNvPicPr>
                        <a:picLocks noChangeAspect="1" noChangeArrowheads="1"/>
                      </p:cNvPicPr>
                      <p:nvPr/>
                    </p:nvPicPr>
                    <p:blipFill>
                      <a:blip r:embed="rId14"/>
                      <a:srcRect/>
                      <a:stretch>
                        <a:fillRect/>
                      </a:stretch>
                    </p:blipFill>
                    <p:spPr bwMode="auto">
                      <a:xfrm>
                        <a:off x="3453420" y="5993616"/>
                        <a:ext cx="1066800" cy="349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 name="Picture 2" descr="A circuit diagram shows a 36 volt independent voltage source with negative polarity at the top end and positive at the bottom as the left most wire in the circuit. Connected in parallel to the 36 volt independent voltage source are the second and third wires from the left. The second wire from left contains an 18 milli ampere independent current source with internal arrow pointing upwards. The third wire from left contains a 60 kilo ohms resistor. Four nodes are marked where the second and third wire from left separately connect to the top and bottom wires of the circuit. A 12 kilo ohms resistor is located in the top wire between the leftmost wire and the second wire from left. The top and bottom nodes from the third wire from left are extended rightwards to point A in the top wire and point B in the bottom wire. A 15 kilo ohms resistor is located between the top node of the third wire from left and point A. Voltage v subscript AB develops between points A and B with positive polarity at point A and negative at point B.">
            <a:extLst>
              <a:ext uri="{FF2B5EF4-FFF2-40B4-BE49-F238E27FC236}">
                <a16:creationId xmlns:a16="http://schemas.microsoft.com/office/drawing/2014/main" id="{A66C349E-4A01-A7EC-EF11-311ED0C01390}"/>
              </a:ext>
            </a:extLst>
          </p:cNvPr>
          <p:cNvPicPr>
            <a:picLocks noChangeAspect="1" noChangeArrowheads="1"/>
          </p:cNvPicPr>
          <p:nvPr/>
        </p:nvPicPr>
        <p:blipFill>
          <a:blip r:embed="rId15"/>
          <a:stretch>
            <a:fillRect/>
          </a:stretch>
        </p:blipFill>
        <p:spPr bwMode="auto">
          <a:xfrm>
            <a:off x="4572000" y="1224934"/>
            <a:ext cx="4165686" cy="1400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D78377FE-EBAD-76BB-1349-08DEAEB98C3B}"/>
              </a:ext>
            </a:extLst>
          </p:cNvPr>
          <p:cNvPicPr>
            <a:picLocks noChangeAspect="1"/>
          </p:cNvPicPr>
          <p:nvPr/>
        </p:nvPicPr>
        <p:blipFill>
          <a:blip r:embed="rId16"/>
          <a:stretch>
            <a:fillRect/>
          </a:stretch>
        </p:blipFill>
        <p:spPr>
          <a:xfrm>
            <a:off x="2069289" y="3268220"/>
            <a:ext cx="4627014" cy="1513067"/>
          </a:xfrm>
          <a:prstGeom prst="rect">
            <a:avLst/>
          </a:prstGeom>
        </p:spPr>
      </p:pic>
    </p:spTree>
    <p:extLst>
      <p:ext uri="{BB962C8B-B14F-4D97-AF65-F5344CB8AC3E}">
        <p14:creationId xmlns:p14="http://schemas.microsoft.com/office/powerpoint/2010/main" val="1097566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lstStyle/>
          <a:p>
            <a:r>
              <a:rPr lang="en-US" dirty="0"/>
              <a:t>Chapter 4 – techniques of circuit analysis </a:t>
            </a:r>
            <a:r>
              <a:rPr lang="en-US" sz="2800" dirty="0"/>
              <a:t>(4 of 17)</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40967"/>
            <a:ext cx="8241401" cy="728849"/>
          </a:xfrm>
        </p:spPr>
        <p:txBody>
          <a:bodyPr wrap="square" lIns="0" tIns="18000" rIns="0" bIns="18000" anchor="ctr">
            <a:spAutoFit/>
          </a:bodyPr>
          <a:lstStyle/>
          <a:p>
            <a:pPr marL="0" indent="0">
              <a:spcBef>
                <a:spcPts val="600"/>
              </a:spcBef>
              <a:buNone/>
            </a:pPr>
            <a:r>
              <a:rPr lang="en-US" sz="2000" dirty="0"/>
              <a:t>Thevenin and Norton equivalents</a:t>
            </a:r>
          </a:p>
          <a:p>
            <a:pPr marL="342900" indent="-342900">
              <a:spcBef>
                <a:spcPts val="600"/>
              </a:spcBef>
            </a:pPr>
            <a:r>
              <a:rPr lang="en-US" sz="2000" dirty="0"/>
              <a:t>Find the Norton equivalent of the circuit shown here (continued).</a:t>
            </a:r>
          </a:p>
        </p:txBody>
      </p:sp>
      <p:pic>
        <p:nvPicPr>
          <p:cNvPr id="10" name="Picture 2" descr="A circuit diagram shows a 36 volt independent voltage source with negative polarity at the top end and positive at the bottom as the left most wire in the circuit. Connected in parallel to the 36 volt independent voltage source are the second and third wires from the left. The second wire from left contains an 18 milli ampere independent current source with internal arrow pointing upwards. The third wire from left contains a 60 kilo ohms resistor. Four nodes are marked where the second and third wire from left separately connect to the top and bottom wires of the circuit. A 12 kilo ohms resistor is located in the top wire between the leftmost wire and the second wire from left. The top and bottom nodes from the third wire from left are extended rightwards to point A in the top wire and point B in the bottom wire. A 15 kilo ohms resistor is located between the top node of the third wire from left and point A. Voltage v subscript AB develops between points A and B with positive polarity at point A and negative at point B.">
            <a:extLst>
              <a:ext uri="{FF2B5EF4-FFF2-40B4-BE49-F238E27FC236}">
                <a16:creationId xmlns:a16="http://schemas.microsoft.com/office/drawing/2014/main" id="{D5C2C146-48D7-43F7-BA83-D7D8EF857835}"/>
              </a:ext>
            </a:extLst>
          </p:cNvPr>
          <p:cNvPicPr>
            <a:picLocks noChangeAspect="1" noChangeArrowheads="1"/>
          </p:cNvPicPr>
          <p:nvPr/>
        </p:nvPicPr>
        <p:blipFill>
          <a:blip r:embed="rId2"/>
          <a:stretch>
            <a:fillRect/>
          </a:stretch>
        </p:blipFill>
        <p:spPr bwMode="auto">
          <a:xfrm>
            <a:off x="2293178" y="2362200"/>
            <a:ext cx="4533065"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525" y="4006029"/>
            <a:ext cx="3193570" cy="344128"/>
          </a:xfrm>
        </p:spPr>
        <p:txBody>
          <a:bodyPr wrap="square" lIns="0" tIns="18000" rIns="0" bIns="18000" anchor="ctr">
            <a:spAutoFit/>
          </a:bodyPr>
          <a:lstStyle/>
          <a:p>
            <a:pPr marL="0" indent="0">
              <a:spcBef>
                <a:spcPts val="600"/>
              </a:spcBef>
              <a:buNone/>
            </a:pPr>
            <a:r>
              <a:rPr lang="en-US" sz="2000" dirty="0"/>
              <a:t>Draw the Norton equivalent:</a:t>
            </a:r>
          </a:p>
        </p:txBody>
      </p:sp>
      <p:pic>
        <p:nvPicPr>
          <p:cNvPr id="11" name="Picture 3" descr="A circuit diagram shows a 6 milli ampere independent current source with the internal arrow pointing upwards as the leftmost wire in the circuit. Connected in parallel to the 6 milli ampere independent current source is the second wire from left that houses a 25 kilo ohms resistor. Two nodes are marked where the second wire from left separately connects to the top and bottom wires. Both these nodes are extended rightwards till point A and B on the top and bottom wires respectively. ">
            <a:extLst>
              <a:ext uri="{FF2B5EF4-FFF2-40B4-BE49-F238E27FC236}">
                <a16:creationId xmlns:a16="http://schemas.microsoft.com/office/drawing/2014/main" id="{1F1EC4DE-DE44-4CF0-BEDE-288D9AD22F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0387" y="4559795"/>
            <a:ext cx="2943225"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23916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lstStyle/>
          <a:p>
            <a:r>
              <a:rPr lang="en-US" dirty="0"/>
              <a:t>Chapter 4 – techniques of circuit analysis </a:t>
            </a:r>
            <a:r>
              <a:rPr lang="en-US" sz="2800" dirty="0"/>
              <a:t>(5 of 17)</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28622"/>
            <a:ext cx="8241401" cy="374906"/>
          </a:xfrm>
        </p:spPr>
        <p:txBody>
          <a:bodyPr wrap="square" lIns="0" tIns="18000" rIns="0" bIns="18000" anchor="ctr">
            <a:spAutoFit/>
          </a:bodyPr>
          <a:lstStyle/>
          <a:p>
            <a:pPr marL="0" indent="0">
              <a:spcBef>
                <a:spcPts val="600"/>
              </a:spcBef>
              <a:buNone/>
            </a:pPr>
            <a:r>
              <a:rPr lang="en-US" sz="2200" dirty="0"/>
              <a:t>Thevenin and Norton equivalents</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524" y="2104823"/>
            <a:ext cx="8229599" cy="3575782"/>
          </a:xfrm>
        </p:spPr>
        <p:txBody>
          <a:bodyPr wrap="square" lIns="0" tIns="18000" rIns="0" bIns="18000" anchor="ctr">
            <a:spAutoFit/>
          </a:bodyPr>
          <a:lstStyle/>
          <a:p>
            <a:pPr marL="342900" indent="-342900">
              <a:spcBef>
                <a:spcPts val="600"/>
              </a:spcBef>
            </a:pPr>
            <a:r>
              <a:rPr lang="en-US" sz="2200" dirty="0"/>
              <a:t>Special cases:</a:t>
            </a:r>
          </a:p>
          <a:p>
            <a:pPr marL="829818" lvl="1" indent="-342900"/>
            <a:r>
              <a:rPr lang="en-US" sz="2200" dirty="0"/>
              <a:t>Does the circuit have a dependent source? If so, </a:t>
            </a:r>
            <a:r>
              <a:rPr lang="en-US" sz="2200" b="1" dirty="0"/>
              <a:t>you must calculate the open-circuit voltage and the short-circuit current, </a:t>
            </a:r>
            <a:r>
              <a:rPr lang="en-US" sz="2200" dirty="0"/>
              <a:t>because you cannot “kill” the independent source(s) and make series and parallel combinations of resistors to find the Thevenin resistance.</a:t>
            </a:r>
          </a:p>
          <a:p>
            <a:pPr marL="829818" lvl="1" indent="-342900"/>
            <a:r>
              <a:rPr lang="en-US" sz="2200" dirty="0"/>
              <a:t>Does the circuit have dependent sources but no independent sources? If so, the Thevenin voltage and Norton current are both zero! You have to calculate the Thevenin resistance using the test source method.</a:t>
            </a:r>
          </a:p>
        </p:txBody>
      </p:sp>
    </p:spTree>
    <p:extLst>
      <p:ext uri="{BB962C8B-B14F-4D97-AF65-F5344CB8AC3E}">
        <p14:creationId xmlns:p14="http://schemas.microsoft.com/office/powerpoint/2010/main" val="1868417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(6 of 17)</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499025"/>
            <a:ext cx="8229600" cy="775015"/>
          </a:xfrm>
        </p:spPr>
        <p:txBody>
          <a:bodyPr wrap="square" lIns="0" tIns="18000" rIns="0" bIns="18000" anchor="ctr" anchorCtr="0">
            <a:spAutoFit/>
          </a:bodyPr>
          <a:lstStyle/>
          <a:p>
            <a:pPr marL="0" indent="0">
              <a:spcBef>
                <a:spcPts val="600"/>
              </a:spcBef>
              <a:buNone/>
            </a:pPr>
            <a:r>
              <a:rPr lang="en-US" sz="2400" dirty="0"/>
              <a:t>If we use the node voltage method to find the open-circuit voltage, how many </a:t>
            </a:r>
            <a:r>
              <a:rPr lang="en-US" sz="2400" spc="-300" dirty="0"/>
              <a:t>K C </a:t>
            </a:r>
            <a:r>
              <a:rPr lang="en-US" sz="2400" dirty="0"/>
              <a:t>L equations will we write?</a:t>
            </a:r>
          </a:p>
        </p:txBody>
      </p:sp>
      <p:pic>
        <p:nvPicPr>
          <p:cNvPr id="14" name="Picture 2" descr="A circuit diagram shows a two layered circuit. A 24 volt independent voltage source with positive polarity at the top end and negative at the bottom forms the leftmost wire in the lower part of the circuit. Connected in parallel to the 24 volt independent voltage source are the second and third wires from left. The second wire from left houses a 4 ampere independent current source with the internal arrow pointing downwards. The third wire contains an 8 ohms resistor with current i subscript x flowing downwards through it. Three nodes are marked in the second wire from top at locations where the leftmost wire, second wire from left, and third wire from left connect to the second wire from top. Two nodes are marked in the bottom wire at locations where the second wire from left and third wire from left connect to the bottom wire. A 2 ohms resistance is located between the nodes formed in the second wire from top by the lower circuit’s leftmost wire and the second wire from left. The top and bottom nodes of third wire from left are extended rightwards to points a and b respectively. &#10;A current controlled current source 3i subscript x with the internal arrow pointing leftwards forms the upper part of the circuit. The current controlled current source 3i subscript x is connected between the nodes formed where the leftmost wire and second wire from left connect the second wire from top.">
            <a:extLst>
              <a:ext uri="{FF2B5EF4-FFF2-40B4-BE49-F238E27FC236}">
                <a16:creationId xmlns:a16="http://schemas.microsoft.com/office/drawing/2014/main" id="{83AFD243-30A1-47D1-A8EC-C4CC4CD31B37}"/>
              </a:ext>
            </a:extLst>
          </p:cNvPr>
          <p:cNvPicPr>
            <a:picLocks noChangeAspect="1" noChangeArrowheads="1"/>
          </p:cNvPicPr>
          <p:nvPr/>
        </p:nvPicPr>
        <p:blipFill>
          <a:blip r:embed="rId3"/>
          <a:srcRect/>
          <a:stretch/>
        </p:blipFill>
        <p:spPr bwMode="auto">
          <a:xfrm>
            <a:off x="2755935" y="2384275"/>
            <a:ext cx="3648979" cy="1824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 name="Picture 3" descr="Cross mark">
            <a:extLst>
              <a:ext uri="{FF2B5EF4-FFF2-40B4-BE49-F238E27FC236}">
                <a16:creationId xmlns:a16="http://schemas.microsoft.com/office/drawing/2014/main" id="{DA918F86-D045-49BC-92F1-45E7AC6CE0F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42955" y="4626179"/>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5681" y="4554992"/>
            <a:ext cx="57114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noProof="0" dirty="0"/>
              <a:t>0</a:t>
            </a:r>
          </a:p>
        </p:txBody>
      </p:sp>
      <p:pic>
        <p:nvPicPr>
          <p:cNvPr id="76" name="Picture 2" descr="Check mark">
            <a:extLst>
              <a:ext uri="{FF2B5EF4-FFF2-40B4-BE49-F238E27FC236}">
                <a16:creationId xmlns:a16="http://schemas.microsoft.com/office/drawing/2014/main" id="{A1E1C2B3-8651-41F9-8F89-9AE367AC2AF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38699" y="5087759"/>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87054" y="5007699"/>
            <a:ext cx="571142"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noProof="0" dirty="0"/>
              <a:t>1 </a:t>
            </a:r>
          </a:p>
        </p:txBody>
      </p:sp>
      <p:pic>
        <p:nvPicPr>
          <p:cNvPr id="77" name="Picture 4" descr="Cross mark">
            <a:extLst>
              <a:ext uri="{FF2B5EF4-FFF2-40B4-BE49-F238E27FC236}">
                <a16:creationId xmlns:a16="http://schemas.microsoft.com/office/drawing/2014/main" id="{E3B2023B-C439-40A9-B627-831D613F8DE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42955" y="5531719"/>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95681" y="5469996"/>
            <a:ext cx="57114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2 </a:t>
            </a:r>
          </a:p>
        </p:txBody>
      </p:sp>
      <p:pic>
        <p:nvPicPr>
          <p:cNvPr id="78" name="Picture 5" descr="Cross mark">
            <a:extLst>
              <a:ext uri="{FF2B5EF4-FFF2-40B4-BE49-F238E27FC236}">
                <a16:creationId xmlns:a16="http://schemas.microsoft.com/office/drawing/2014/main" id="{4C546176-022E-41C9-81F4-700A94A5EBB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5690" y="6007304"/>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95149" y="5919750"/>
            <a:ext cx="571675"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noProof="0" dirty="0"/>
              <a:t>3 </a:t>
            </a:r>
          </a:p>
        </p:txBody>
      </p:sp>
    </p:spTree>
    <p:extLst>
      <p:ext uri="{BB962C8B-B14F-4D97-AF65-F5344CB8AC3E}">
        <p14:creationId xmlns:p14="http://schemas.microsoft.com/office/powerpoint/2010/main" val="3298398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185" y="207228"/>
            <a:ext cx="8229600" cy="1144347"/>
          </a:xfrm>
        </p:spPr>
        <p:txBody>
          <a:bodyPr/>
          <a:lstStyle/>
          <a:p>
            <a:r>
              <a:rPr lang="en-US" dirty="0"/>
              <a:t>Chapter 4 – techniques of circuit analysis </a:t>
            </a:r>
            <a:r>
              <a:rPr lang="en-US" sz="2800" dirty="0"/>
              <a:t>(8 of 17)</a:t>
            </a:r>
            <a:endParaRPr lang="en-US"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185" y="1508908"/>
            <a:ext cx="4142815" cy="1344402"/>
          </a:xfrm>
        </p:spPr>
        <p:txBody>
          <a:bodyPr wrap="square" lIns="0" tIns="18000" rIns="0" bIns="18000" anchor="ctr">
            <a:spAutoFit/>
          </a:bodyPr>
          <a:lstStyle/>
          <a:p>
            <a:pPr marL="0" indent="0">
              <a:spcBef>
                <a:spcPts val="600"/>
              </a:spcBef>
              <a:buNone/>
            </a:pPr>
            <a:r>
              <a:rPr lang="en-US" sz="2000" dirty="0"/>
              <a:t>Thevenin and Norton equivalents</a:t>
            </a:r>
          </a:p>
          <a:p>
            <a:pPr marL="342900" indent="-342900">
              <a:spcBef>
                <a:spcPts val="600"/>
              </a:spcBef>
            </a:pPr>
            <a:r>
              <a:rPr lang="en-US" sz="2000" dirty="0"/>
              <a:t>Find the Thevenin equivalent to the left of the terminals </a:t>
            </a:r>
            <a:r>
              <a:rPr lang="en-US" sz="2000" dirty="0" err="1"/>
              <a:t>a,b</a:t>
            </a:r>
            <a:r>
              <a:rPr lang="en-US" sz="2000" dirty="0"/>
              <a:t> in the circuit below.</a:t>
            </a:r>
          </a:p>
        </p:txBody>
      </p:sp>
      <p:pic>
        <p:nvPicPr>
          <p:cNvPr id="19" name="Picture 2" descr="A circuit diagram shows a two layered circuit. A 24 volt independent voltage source with positive polarity at the top end and negative at the bottom forms the leftmost wire in the lower part of the circuit. Connected in parallel to the 24 volt independent voltage source are the second and third wires from left. The second wire from left houses a 4 ampere independent current source with the internal arrow pointing downwards. The third wire contains an 8 ohms resistor with current i subscript x flowing downwards through it. Three nodes are marked in the second wire from top at locations where the leftmost wire, second wire from left, and third wire from left connect to the second wire from top. Two nodes are marked in the bottom wire at locations where the second wire from left and third wire from left connect to the bottom wire. A 2 ohms resistance is located between the nodes formed in the second wire from top by the lower circuit’s leftmost wire and the second wire from left. The top and bottom nodes of third wire from left are extended rightwards to points a and b respectively. &#10;A current controlled current source 3i subscript x with the internal arrow pointing leftwards forms the upper part of the circuit. The current controlled current source 3i subscript x is connected between the nodes formed where the leftmost wire and second wire from left connect the second wire from top.">
            <a:extLst>
              <a:ext uri="{FF2B5EF4-FFF2-40B4-BE49-F238E27FC236}">
                <a16:creationId xmlns:a16="http://schemas.microsoft.com/office/drawing/2014/main" id="{9A4CC4BB-9F89-4831-B53A-5419450794B9}"/>
              </a:ext>
            </a:extLst>
          </p:cNvPr>
          <p:cNvPicPr>
            <a:picLocks noChangeAspect="1" noChangeArrowheads="1"/>
          </p:cNvPicPr>
          <p:nvPr/>
        </p:nvPicPr>
        <p:blipFill>
          <a:blip r:embed="rId3"/>
          <a:srcRect/>
          <a:stretch/>
        </p:blipFill>
        <p:spPr bwMode="auto">
          <a:xfrm>
            <a:off x="5205977" y="1549880"/>
            <a:ext cx="3347376" cy="167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185" y="3128504"/>
            <a:ext cx="556933" cy="344128"/>
          </a:xfrm>
        </p:spPr>
        <p:txBody>
          <a:bodyPr wrap="square" lIns="0" tIns="18000" rIns="0" bIns="18000" anchor="ctr">
            <a:spAutoFit/>
          </a:bodyPr>
          <a:lstStyle/>
          <a:p>
            <a:pPr marL="0" indent="0">
              <a:spcBef>
                <a:spcPts val="600"/>
              </a:spcBef>
              <a:buNone/>
            </a:pPr>
            <a:r>
              <a:rPr lang="en-US" sz="2000" dirty="0"/>
              <a:t>Find</a:t>
            </a:r>
          </a:p>
        </p:txBody>
      </p:sp>
      <p:graphicFrame>
        <p:nvGraphicFramePr>
          <p:cNvPr id="18" name="Object 17" descr="V subscript o c BaseLine.">
            <a:extLst>
              <a:ext uri="{FF2B5EF4-FFF2-40B4-BE49-F238E27FC236}">
                <a16:creationId xmlns:a16="http://schemas.microsoft.com/office/drawing/2014/main" id="{37498942-C686-46A7-BA00-0C2191996A00}"/>
              </a:ext>
            </a:extLst>
          </p:cNvPr>
          <p:cNvGraphicFramePr>
            <a:graphicFrameLocks noChangeAspect="1"/>
          </p:cNvGraphicFramePr>
          <p:nvPr>
            <p:extLst>
              <p:ext uri="{D42A27DB-BD31-4B8C-83A1-F6EECF244321}">
                <p14:modId xmlns:p14="http://schemas.microsoft.com/office/powerpoint/2010/main" val="2959811880"/>
              </p:ext>
            </p:extLst>
          </p:nvPr>
        </p:nvGraphicFramePr>
        <p:xfrm>
          <a:off x="1043357" y="3150648"/>
          <a:ext cx="383718" cy="344915"/>
        </p:xfrm>
        <a:graphic>
          <a:graphicData uri="http://schemas.openxmlformats.org/presentationml/2006/ole">
            <mc:AlternateContent xmlns:mc="http://schemas.openxmlformats.org/markup-compatibility/2006">
              <mc:Choice xmlns:v="urn:schemas-microsoft-com:vml" Requires="v">
                <p:oleObj name="Equation" r:id="rId4" imgW="253800" imgH="228600" progId="Equation.DSMT4">
                  <p:embed/>
                </p:oleObj>
              </mc:Choice>
              <mc:Fallback>
                <p:oleObj name="Equation" r:id="rId4" imgW="253800" imgH="228600" progId="Equation.DSMT4">
                  <p:embed/>
                  <p:pic>
                    <p:nvPicPr>
                      <p:cNvPr id="16" name="Object 15">
                        <a:extLst>
                          <a:ext uri="{FF2B5EF4-FFF2-40B4-BE49-F238E27FC236}">
                            <a16:creationId xmlns:a16="http://schemas.microsoft.com/office/drawing/2014/main" id="{F0D49A3F-5D29-4408-BDBF-83B6E566F7F7}"/>
                          </a:ext>
                        </a:extLst>
                      </p:cNvPr>
                      <p:cNvPicPr/>
                      <p:nvPr/>
                    </p:nvPicPr>
                    <p:blipFill>
                      <a:blip r:embed="rId5"/>
                      <a:stretch>
                        <a:fillRect/>
                      </a:stretch>
                    </p:blipFill>
                    <p:spPr>
                      <a:xfrm>
                        <a:off x="1043357" y="3150648"/>
                        <a:ext cx="383718" cy="344915"/>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513917" y="3145312"/>
            <a:ext cx="3560108" cy="344128"/>
          </a:xfrm>
        </p:spPr>
        <p:txBody>
          <a:bodyPr wrap="square" lIns="0" tIns="18000" rIns="0" bIns="18000" anchor="ctr">
            <a:spAutoFit/>
          </a:bodyPr>
          <a:lstStyle/>
          <a:p>
            <a:pPr marL="0" lvl="1" indent="0">
              <a:buNone/>
            </a:pPr>
            <a:r>
              <a:rPr lang="en-US" sz="2000" dirty="0"/>
              <a:t>using the node voltage method:</a:t>
            </a:r>
          </a:p>
        </p:txBody>
      </p:sp>
      <p:pic>
        <p:nvPicPr>
          <p:cNvPr id="20" name="Picture 5" descr="A circuit diagram shows a two layered circuit. A 24 volt independent voltage source with positive polarity at the top end and negative at the bottom forms the leftmost wire in the lower part of the circuit. Connected in parallel to the 24 volt independent voltage source are the second and third wires from left. The second wire from left houses a 4 ampere independent current source with the internal arrow pointing downwards. The third wire contains an 8 ohms resistor with current i subscript x flowing downwards through it. Three nodes are marked in the second wire from top at locations where the leftmost wire, second wire from left, and third wire from left connect to the second wire from top. Two nodes are marked in the bottom wire at locations where the second wire from left and third wire from left connect to the bottom wire. A 2 ohms resistance is located between the nodes formed in the second wire from top by the lower circuit’s leftmost wire and the second wire from left. The top and bottom nodes of third wire from left are extended rightwards to points a and b respectively. &#10;A current controlled current source 3i subscript x with the internal arrow pointing leftwards forms the upper part of the circuit. The current controlled current source 3i subscript x is connected between the nodes formed where the leftmost wire and second wire from left connect the second wire from top. &#10;The nodes formed in the second wire from top by the second and third wire from left are encircled and voltage v subscript oc is marked across them. voltage v subscript oc is also marked as the voltage across points a and b with positive polarity at a and negative polarity at b. The nodes formed in the bottom wire by the second and third wire from left are encircled and a downward pointing arrow is shown between these two nodes. ">
            <a:extLst>
              <a:ext uri="{FF2B5EF4-FFF2-40B4-BE49-F238E27FC236}">
                <a16:creationId xmlns:a16="http://schemas.microsoft.com/office/drawing/2014/main" id="{C165137F-17F9-46A1-A940-B13DC6676F41}"/>
              </a:ext>
            </a:extLst>
          </p:cNvPr>
          <p:cNvPicPr>
            <a:picLocks noChangeAspect="1" noChangeArrowheads="1"/>
          </p:cNvPicPr>
          <p:nvPr/>
        </p:nvPicPr>
        <p:blipFill>
          <a:blip r:embed="rId6"/>
          <a:stretch>
            <a:fillRect/>
          </a:stretch>
        </p:blipFill>
        <p:spPr bwMode="auto">
          <a:xfrm>
            <a:off x="750798" y="4017135"/>
            <a:ext cx="3121857" cy="1742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1" name="Object 6" descr="At v subscript o c BaseLine: StartFraction v subscript o c BaseLine minus 24 over 2 EndFraction plus 4 plus StartFraction v subscript o c BaseLine over 8 EndFraction plus 3 i subscript x BaseLine equals 0.">
            <a:extLst>
              <a:ext uri="{FF2B5EF4-FFF2-40B4-BE49-F238E27FC236}">
                <a16:creationId xmlns:a16="http://schemas.microsoft.com/office/drawing/2014/main" id="{431DEA51-4696-40F6-BFB2-BF95FD104D16}"/>
              </a:ext>
            </a:extLst>
          </p:cNvPr>
          <p:cNvGraphicFramePr>
            <a:graphicFrameLocks noChangeAspect="1"/>
          </p:cNvGraphicFramePr>
          <p:nvPr>
            <p:extLst>
              <p:ext uri="{D42A27DB-BD31-4B8C-83A1-F6EECF244321}">
                <p14:modId xmlns:p14="http://schemas.microsoft.com/office/powerpoint/2010/main" val="1408076511"/>
              </p:ext>
            </p:extLst>
          </p:nvPr>
        </p:nvGraphicFramePr>
        <p:xfrm>
          <a:off x="4781631" y="3754045"/>
          <a:ext cx="3641725" cy="657225"/>
        </p:xfrm>
        <a:graphic>
          <a:graphicData uri="http://schemas.openxmlformats.org/presentationml/2006/ole">
            <mc:AlternateContent xmlns:mc="http://schemas.openxmlformats.org/markup-compatibility/2006">
              <mc:Choice xmlns:v="urn:schemas-microsoft-com:vml" Requires="v">
                <p:oleObj name="Equation" r:id="rId7" imgW="2247840" imgH="406080" progId="Equation.DSMT4">
                  <p:embed/>
                </p:oleObj>
              </mc:Choice>
              <mc:Fallback>
                <p:oleObj name="Equation" r:id="rId7" imgW="2247840" imgH="406080" progId="Equation.DSMT4">
                  <p:embed/>
                  <p:pic>
                    <p:nvPicPr>
                      <p:cNvPr id="15" name="Object 6">
                        <a:extLst>
                          <a:ext uri="{FF2B5EF4-FFF2-40B4-BE49-F238E27FC236}">
                            <a16:creationId xmlns:a16="http://schemas.microsoft.com/office/drawing/2014/main" id="{325D8830-876A-47E3-934B-7BEC1BF16862}"/>
                          </a:ext>
                        </a:extLst>
                      </p:cNvPr>
                      <p:cNvPicPr>
                        <a:picLocks noChangeAspect="1" noChangeArrowheads="1"/>
                      </p:cNvPicPr>
                      <p:nvPr/>
                    </p:nvPicPr>
                    <p:blipFill>
                      <a:blip r:embed="rId8"/>
                      <a:srcRect/>
                      <a:stretch>
                        <a:fillRect/>
                      </a:stretch>
                    </p:blipFill>
                    <p:spPr bwMode="auto">
                      <a:xfrm>
                        <a:off x="4781631" y="3754045"/>
                        <a:ext cx="3641725" cy="657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781631" y="4673755"/>
            <a:ext cx="1663994" cy="344128"/>
          </a:xfrm>
        </p:spPr>
        <p:txBody>
          <a:bodyPr wrap="square" lIns="0" tIns="18000" rIns="0" bIns="18000" anchor="ctr">
            <a:spAutoFit/>
          </a:bodyPr>
          <a:lstStyle/>
          <a:p>
            <a:pPr marL="0" indent="0">
              <a:spcBef>
                <a:spcPts val="600"/>
              </a:spcBef>
              <a:buNone/>
            </a:pPr>
            <a:r>
              <a:rPr lang="en-US" sz="2000" dirty="0" err="1"/>
              <a:t>d.s.</a:t>
            </a:r>
            <a:r>
              <a:rPr lang="en-US" sz="2000" dirty="0"/>
              <a:t> constraint:</a:t>
            </a:r>
          </a:p>
        </p:txBody>
      </p:sp>
      <p:graphicFrame>
        <p:nvGraphicFramePr>
          <p:cNvPr id="22" name="Object 6" descr="i subscript x BaseLine equals StartFraction v subscript o c BaseLine over 8 EndFraction.">
            <a:extLst>
              <a:ext uri="{FF2B5EF4-FFF2-40B4-BE49-F238E27FC236}">
                <a16:creationId xmlns:a16="http://schemas.microsoft.com/office/drawing/2014/main" id="{5AE2573D-3B15-41AE-B3F0-727A7FD0FCE7}"/>
              </a:ext>
            </a:extLst>
          </p:cNvPr>
          <p:cNvGraphicFramePr>
            <a:graphicFrameLocks noChangeAspect="1"/>
          </p:cNvGraphicFramePr>
          <p:nvPr>
            <p:extLst>
              <p:ext uri="{D42A27DB-BD31-4B8C-83A1-F6EECF244321}">
                <p14:modId xmlns:p14="http://schemas.microsoft.com/office/powerpoint/2010/main" val="1636600663"/>
              </p:ext>
            </p:extLst>
          </p:nvPr>
        </p:nvGraphicFramePr>
        <p:xfrm>
          <a:off x="6557668" y="4471297"/>
          <a:ext cx="863600" cy="657225"/>
        </p:xfrm>
        <a:graphic>
          <a:graphicData uri="http://schemas.openxmlformats.org/presentationml/2006/ole">
            <mc:AlternateContent xmlns:mc="http://schemas.openxmlformats.org/markup-compatibility/2006">
              <mc:Choice xmlns:v="urn:schemas-microsoft-com:vml" Requires="v">
                <p:oleObj name="Equation" r:id="rId9" imgW="533160" imgH="406080" progId="Equation.DSMT4">
                  <p:embed/>
                </p:oleObj>
              </mc:Choice>
              <mc:Fallback>
                <p:oleObj name="Equation" r:id="rId9" imgW="533160" imgH="406080" progId="Equation.DSMT4">
                  <p:embed/>
                  <p:pic>
                    <p:nvPicPr>
                      <p:cNvPr id="17" name="Object 6">
                        <a:extLst>
                          <a:ext uri="{FF2B5EF4-FFF2-40B4-BE49-F238E27FC236}">
                            <a16:creationId xmlns:a16="http://schemas.microsoft.com/office/drawing/2014/main" id="{3FCD1859-7CE8-436D-98E2-89604D461C9C}"/>
                          </a:ext>
                        </a:extLst>
                      </p:cNvPr>
                      <p:cNvPicPr>
                        <a:picLocks noChangeAspect="1" noChangeArrowheads="1"/>
                      </p:cNvPicPr>
                      <p:nvPr/>
                    </p:nvPicPr>
                    <p:blipFill>
                      <a:blip r:embed="rId10"/>
                      <a:srcRect/>
                      <a:stretch>
                        <a:fillRect/>
                      </a:stretch>
                    </p:blipFill>
                    <p:spPr bwMode="auto">
                      <a:xfrm>
                        <a:off x="6557668" y="4471297"/>
                        <a:ext cx="863600" cy="657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821889" y="5248083"/>
            <a:ext cx="933450" cy="344128"/>
          </a:xfrm>
        </p:spPr>
        <p:txBody>
          <a:bodyPr wrap="square" lIns="0" tIns="18000" rIns="0" bIns="18000" anchor="ctr">
            <a:spAutoFit/>
          </a:bodyPr>
          <a:lstStyle/>
          <a:p>
            <a:pPr marL="0" indent="0">
              <a:spcBef>
                <a:spcPts val="600"/>
              </a:spcBef>
              <a:buNone/>
            </a:pPr>
            <a:r>
              <a:rPr lang="en-US" sz="2000" dirty="0"/>
              <a:t>Solving:</a:t>
            </a:r>
          </a:p>
        </p:txBody>
      </p:sp>
      <p:graphicFrame>
        <p:nvGraphicFramePr>
          <p:cNvPr id="23" name="Object 6" descr="v subscript o c BaseLine equals 8 Volts.">
            <a:extLst>
              <a:ext uri="{FF2B5EF4-FFF2-40B4-BE49-F238E27FC236}">
                <a16:creationId xmlns:a16="http://schemas.microsoft.com/office/drawing/2014/main" id="{4E1F6D32-CBAA-467C-9339-5EDF4FA124EA}"/>
              </a:ext>
            </a:extLst>
          </p:cNvPr>
          <p:cNvGraphicFramePr>
            <a:graphicFrameLocks noChangeAspect="1"/>
          </p:cNvGraphicFramePr>
          <p:nvPr>
            <p:extLst>
              <p:ext uri="{D42A27DB-BD31-4B8C-83A1-F6EECF244321}">
                <p14:modId xmlns:p14="http://schemas.microsoft.com/office/powerpoint/2010/main" val="3274910280"/>
              </p:ext>
            </p:extLst>
          </p:nvPr>
        </p:nvGraphicFramePr>
        <p:xfrm>
          <a:off x="5850965" y="5293027"/>
          <a:ext cx="1028700" cy="369888"/>
        </p:xfrm>
        <a:graphic>
          <a:graphicData uri="http://schemas.openxmlformats.org/presentationml/2006/ole">
            <mc:AlternateContent xmlns:mc="http://schemas.openxmlformats.org/markup-compatibility/2006">
              <mc:Choice xmlns:v="urn:schemas-microsoft-com:vml" Requires="v">
                <p:oleObj name="Equation" r:id="rId11" imgW="634680" imgH="228600" progId="Equation.DSMT4">
                  <p:embed/>
                </p:oleObj>
              </mc:Choice>
              <mc:Fallback>
                <p:oleObj name="Equation" r:id="rId11" imgW="634680" imgH="228600" progId="Equation.DSMT4">
                  <p:embed/>
                  <p:pic>
                    <p:nvPicPr>
                      <p:cNvPr id="18" name="Object 6">
                        <a:extLst>
                          <a:ext uri="{FF2B5EF4-FFF2-40B4-BE49-F238E27FC236}">
                            <a16:creationId xmlns:a16="http://schemas.microsoft.com/office/drawing/2014/main" id="{9EC47977-027A-4920-9EDE-D84F0224D86D}"/>
                          </a:ext>
                        </a:extLst>
                      </p:cNvPr>
                      <p:cNvPicPr>
                        <a:picLocks noChangeAspect="1" noChangeArrowheads="1"/>
                      </p:cNvPicPr>
                      <p:nvPr/>
                    </p:nvPicPr>
                    <p:blipFill>
                      <a:blip r:embed="rId12"/>
                      <a:srcRect/>
                      <a:stretch>
                        <a:fillRect/>
                      </a:stretch>
                    </p:blipFill>
                    <p:spPr bwMode="auto">
                      <a:xfrm>
                        <a:off x="5850965" y="5293027"/>
                        <a:ext cx="1028700"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08572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625" y="205545"/>
            <a:ext cx="8229600" cy="1144347"/>
          </a:xfrm>
        </p:spPr>
        <p:txBody>
          <a:bodyPr/>
          <a:lstStyle/>
          <a:p>
            <a:r>
              <a:rPr lang="en-US" dirty="0"/>
              <a:t>Chapter 4 – techniques of circuit analysis </a:t>
            </a:r>
            <a:r>
              <a:rPr lang="en-US" sz="2800" dirty="0"/>
              <a:t>(9 of 17)</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625" y="1536914"/>
            <a:ext cx="4143375" cy="1344402"/>
          </a:xfrm>
        </p:spPr>
        <p:txBody>
          <a:bodyPr wrap="square" lIns="0" tIns="18000" rIns="0" bIns="18000" anchor="ctr">
            <a:spAutoFit/>
          </a:bodyPr>
          <a:lstStyle/>
          <a:p>
            <a:pPr marL="0" indent="0">
              <a:spcBef>
                <a:spcPts val="600"/>
              </a:spcBef>
              <a:buNone/>
            </a:pPr>
            <a:r>
              <a:rPr lang="en-US" sz="2000" dirty="0"/>
              <a:t>Thevenin and Norton equivalents</a:t>
            </a:r>
          </a:p>
          <a:p>
            <a:pPr marL="342900" indent="-342900">
              <a:spcBef>
                <a:spcPts val="600"/>
              </a:spcBef>
            </a:pPr>
            <a:r>
              <a:rPr lang="en-US" sz="2000" dirty="0"/>
              <a:t>Find the Thevenin equivalent to the left of the terminals </a:t>
            </a:r>
            <a:r>
              <a:rPr lang="en-US" sz="2000" dirty="0" err="1"/>
              <a:t>a,b</a:t>
            </a:r>
            <a:r>
              <a:rPr lang="en-US" sz="2000" dirty="0"/>
              <a:t> in the circuit below.</a:t>
            </a:r>
          </a:p>
        </p:txBody>
      </p:sp>
      <p:pic>
        <p:nvPicPr>
          <p:cNvPr id="25" name="Picture 2" descr="A circuit diagram shows a two layered circuit. A 24 volt independent voltage source with positive polarity at the top end and negative at the bottom forms the leftmost wire in the lower part of the circuit. Connected in parallel to the 24 volt independent voltage source are the second and third wires from left. The second wire from left houses a 4 ampere independent current source with the internal arrow pointing downwards. The third wire contains an 8 ohms resistor with current i subscript x flowing downwards through it. Three nodes are marked in the second wire from top at locations where the leftmost wire, second wire from left, and third wire from left connect to the second wire from top. Two nodes are marked in the bottom wire at locations where the second wire from left and third wire from left connect to the bottom wire. A 2 ohms resistance is located between the nodes formed in the second wire from top by the lower circuit’s leftmost wire and the second wire from left. The top and bottom nodes of third wire from left are extended rightwards to points a and b respectively. &#10;A current controlled current source 3i subscript x with the internal arrow pointing leftwards forms the upper part of the circuit. The current controlled current source 3i subscript x is connected between the nodes formed where the leftmost wire and second wire from left connect the second wire from top.">
            <a:extLst>
              <a:ext uri="{FF2B5EF4-FFF2-40B4-BE49-F238E27FC236}">
                <a16:creationId xmlns:a16="http://schemas.microsoft.com/office/drawing/2014/main" id="{B460B437-62CA-4C61-B04B-EBD314FBFBC0}"/>
              </a:ext>
            </a:extLst>
          </p:cNvPr>
          <p:cNvPicPr>
            <a:picLocks noChangeAspect="1" noChangeArrowheads="1"/>
          </p:cNvPicPr>
          <p:nvPr/>
        </p:nvPicPr>
        <p:blipFill>
          <a:blip r:embed="rId2"/>
          <a:srcRect/>
          <a:stretch/>
        </p:blipFill>
        <p:spPr bwMode="auto">
          <a:xfrm>
            <a:off x="5295385" y="1554882"/>
            <a:ext cx="3184914" cy="1592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8626" y="3161001"/>
            <a:ext cx="533400" cy="344128"/>
          </a:xfrm>
        </p:spPr>
        <p:txBody>
          <a:bodyPr wrap="square" lIns="0" tIns="18000" rIns="0" bIns="18000" anchor="ctr">
            <a:spAutoFit/>
          </a:bodyPr>
          <a:lstStyle/>
          <a:p>
            <a:pPr marL="0" indent="0">
              <a:spcBef>
                <a:spcPts val="600"/>
              </a:spcBef>
              <a:buNone/>
            </a:pPr>
            <a:r>
              <a:rPr lang="en-US" sz="2000" dirty="0"/>
              <a:t>Find</a:t>
            </a:r>
          </a:p>
        </p:txBody>
      </p:sp>
      <p:graphicFrame>
        <p:nvGraphicFramePr>
          <p:cNvPr id="2" name="Object 1" descr="i subscript s c BaseLine:">
            <a:extLst>
              <a:ext uri="{FF2B5EF4-FFF2-40B4-BE49-F238E27FC236}">
                <a16:creationId xmlns:a16="http://schemas.microsoft.com/office/drawing/2014/main" id="{5CB7F495-1E50-478F-8C21-66DE6B5F3B60}"/>
              </a:ext>
            </a:extLst>
          </p:cNvPr>
          <p:cNvGraphicFramePr>
            <a:graphicFrameLocks noChangeAspect="1"/>
          </p:cNvGraphicFramePr>
          <p:nvPr>
            <p:extLst>
              <p:ext uri="{D42A27DB-BD31-4B8C-83A1-F6EECF244321}">
                <p14:modId xmlns:p14="http://schemas.microsoft.com/office/powerpoint/2010/main" val="64880052"/>
              </p:ext>
            </p:extLst>
          </p:nvPr>
        </p:nvGraphicFramePr>
        <p:xfrm>
          <a:off x="1008495" y="3173029"/>
          <a:ext cx="351560" cy="372242"/>
        </p:xfrm>
        <a:graphic>
          <a:graphicData uri="http://schemas.openxmlformats.org/presentationml/2006/ole">
            <mc:AlternateContent xmlns:mc="http://schemas.openxmlformats.org/markup-compatibility/2006">
              <mc:Choice xmlns:v="urn:schemas-microsoft-com:vml" Requires="v">
                <p:oleObj name="Equation" r:id="rId3" imgW="215640" imgH="228600" progId="Equation.DSMT4">
                  <p:embed/>
                </p:oleObj>
              </mc:Choice>
              <mc:Fallback>
                <p:oleObj name="Equation" r:id="rId3" imgW="215640" imgH="228600" progId="Equation.DSMT4">
                  <p:embed/>
                  <p:pic>
                    <p:nvPicPr>
                      <p:cNvPr id="0" name=""/>
                      <p:cNvPicPr/>
                      <p:nvPr/>
                    </p:nvPicPr>
                    <p:blipFill>
                      <a:blip r:embed="rId4"/>
                      <a:stretch>
                        <a:fillRect/>
                      </a:stretch>
                    </p:blipFill>
                    <p:spPr>
                      <a:xfrm>
                        <a:off x="1008495" y="3173029"/>
                        <a:ext cx="351560" cy="372242"/>
                      </a:xfrm>
                      <a:prstGeom prst="rect">
                        <a:avLst/>
                      </a:prstGeom>
                    </p:spPr>
                  </p:pic>
                </p:oleObj>
              </mc:Fallback>
            </mc:AlternateContent>
          </a:graphicData>
        </a:graphic>
      </p:graphicFrame>
      <p:pic>
        <p:nvPicPr>
          <p:cNvPr id="26" name="Picture 3" descr="A circuit diagram shows a two layered circuit. A 24 volt independent voltage source with positive polarity at the top end and negative at the bottom forms the leftmost wire in the lower part of the circuit. Connected in parallel to the 24 volt independent voltage source are the second and third wires from left. The second wire from left houses a 4 ampere independent current source with the internal arrow pointing downwards. The third wire contains an 8 ohms resistor with current i subscript x flowing downwards through it. Three nodes are marked in the second wire from top at locations where the leftmost wire, second wire from left, and third wire from left connect to the second wire from top. Two nodes are marked in the bottom wire at locations where the second wire from left and third wire from left connect to the bottom wire. A 2 ohms resistance is located between the nodes formed in the second wire from top by the lower circuit’s leftmost wire and the second wire from left. The top and bottom nodes of third wire from left are extended rightwards to points a and b respectively. Voltage V subscript ise develops across points a and b. &#10;A current controlled current source 3i subscript x with the internal arrow pointing leftwards forms the upper part of the circuit. The current controlled current source 3i subscript x is connected between the nodes formed where the leftmost wire and second wire from left connect the second wire from top. ">
            <a:extLst>
              <a:ext uri="{FF2B5EF4-FFF2-40B4-BE49-F238E27FC236}">
                <a16:creationId xmlns:a16="http://schemas.microsoft.com/office/drawing/2014/main" id="{59051F9F-3D11-4233-9358-AC700920E35C}"/>
              </a:ext>
            </a:extLst>
          </p:cNvPr>
          <p:cNvPicPr>
            <a:picLocks noChangeAspect="1" noChangeArrowheads="1"/>
          </p:cNvPicPr>
          <p:nvPr/>
        </p:nvPicPr>
        <p:blipFill>
          <a:blip r:embed="rId5"/>
          <a:stretch>
            <a:fillRect/>
          </a:stretch>
        </p:blipFill>
        <p:spPr bwMode="auto">
          <a:xfrm>
            <a:off x="2866259" y="3486430"/>
            <a:ext cx="3354331" cy="1646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28625" y="5218401"/>
            <a:ext cx="5267325" cy="344128"/>
          </a:xfrm>
        </p:spPr>
        <p:txBody>
          <a:bodyPr wrap="square" lIns="0" tIns="18000" rIns="0" bIns="18000" anchor="ctr">
            <a:spAutoFit/>
          </a:bodyPr>
          <a:lstStyle/>
          <a:p>
            <a:pPr marL="0" indent="0">
              <a:spcBef>
                <a:spcPts val="600"/>
              </a:spcBef>
              <a:buNone/>
            </a:pPr>
            <a:r>
              <a:rPr lang="en-US" sz="2000" dirty="0"/>
              <a:t>The short circuit eliminates the branch with the</a:t>
            </a:r>
          </a:p>
        </p:txBody>
      </p:sp>
      <p:graphicFrame>
        <p:nvGraphicFramePr>
          <p:cNvPr id="3" name="Object 2" descr="8 Ohms.">
            <a:extLst>
              <a:ext uri="{FF2B5EF4-FFF2-40B4-BE49-F238E27FC236}">
                <a16:creationId xmlns:a16="http://schemas.microsoft.com/office/drawing/2014/main" id="{D3AD344F-9EA1-43F0-B21A-B236F708BE24}"/>
              </a:ext>
            </a:extLst>
          </p:cNvPr>
          <p:cNvGraphicFramePr>
            <a:graphicFrameLocks noChangeAspect="1"/>
          </p:cNvGraphicFramePr>
          <p:nvPr>
            <p:extLst>
              <p:ext uri="{D42A27DB-BD31-4B8C-83A1-F6EECF244321}">
                <p14:modId xmlns:p14="http://schemas.microsoft.com/office/powerpoint/2010/main" val="3908033209"/>
              </p:ext>
            </p:extLst>
          </p:nvPr>
        </p:nvGraphicFramePr>
        <p:xfrm>
          <a:off x="5757210" y="5272088"/>
          <a:ext cx="414338" cy="288925"/>
        </p:xfrm>
        <a:graphic>
          <a:graphicData uri="http://schemas.openxmlformats.org/presentationml/2006/ole">
            <mc:AlternateContent xmlns:mc="http://schemas.openxmlformats.org/markup-compatibility/2006">
              <mc:Choice xmlns:v="urn:schemas-microsoft-com:vml" Requires="v">
                <p:oleObj name="Equation" r:id="rId6" imgW="291960" imgH="203040" progId="Equation.DSMT4">
                  <p:embed/>
                </p:oleObj>
              </mc:Choice>
              <mc:Fallback>
                <p:oleObj name="Equation" r:id="rId6" imgW="291960" imgH="203040" progId="Equation.DSMT4">
                  <p:embed/>
                  <p:pic>
                    <p:nvPicPr>
                      <p:cNvPr id="0" name=""/>
                      <p:cNvPicPr/>
                      <p:nvPr/>
                    </p:nvPicPr>
                    <p:blipFill>
                      <a:blip r:embed="rId7"/>
                      <a:stretch>
                        <a:fillRect/>
                      </a:stretch>
                    </p:blipFill>
                    <p:spPr>
                      <a:xfrm>
                        <a:off x="5757210" y="5272088"/>
                        <a:ext cx="414338" cy="288925"/>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6248400" y="5227926"/>
            <a:ext cx="1943100" cy="344128"/>
          </a:xfrm>
        </p:spPr>
        <p:txBody>
          <a:bodyPr wrap="square" lIns="0" tIns="18000" rIns="0" bIns="18000" anchor="ctr">
            <a:spAutoFit/>
          </a:bodyPr>
          <a:lstStyle/>
          <a:p>
            <a:pPr marL="0" indent="0">
              <a:spcBef>
                <a:spcPts val="600"/>
              </a:spcBef>
              <a:buNone/>
            </a:pPr>
            <a:r>
              <a:rPr lang="en-US" sz="2000" dirty="0"/>
              <a:t>resistor from the</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28626" y="5628955"/>
            <a:ext cx="2019299" cy="344128"/>
          </a:xfrm>
        </p:spPr>
        <p:txBody>
          <a:bodyPr wrap="square" lIns="0" tIns="18000" rIns="0" bIns="18000" anchor="ctr">
            <a:spAutoFit/>
          </a:bodyPr>
          <a:lstStyle/>
          <a:p>
            <a:pPr marL="0" indent="0">
              <a:spcBef>
                <a:spcPts val="600"/>
              </a:spcBef>
              <a:buNone/>
            </a:pPr>
            <a:r>
              <a:rPr lang="en-US" sz="2000" dirty="0"/>
              <a:t>circuit, which sets</a:t>
            </a:r>
          </a:p>
        </p:txBody>
      </p:sp>
      <p:graphicFrame>
        <p:nvGraphicFramePr>
          <p:cNvPr id="27" name="Object 26" descr="i subscript x BaseLine equals 0.">
            <a:extLst>
              <a:ext uri="{FF2B5EF4-FFF2-40B4-BE49-F238E27FC236}">
                <a16:creationId xmlns:a16="http://schemas.microsoft.com/office/drawing/2014/main" id="{D7465E33-FE39-459C-8F55-6747281D52C7}"/>
              </a:ext>
            </a:extLst>
          </p:cNvPr>
          <p:cNvGraphicFramePr>
            <a:graphicFrameLocks noChangeAspect="1"/>
          </p:cNvGraphicFramePr>
          <p:nvPr>
            <p:extLst>
              <p:ext uri="{D42A27DB-BD31-4B8C-83A1-F6EECF244321}">
                <p14:modId xmlns:p14="http://schemas.microsoft.com/office/powerpoint/2010/main" val="3453328158"/>
              </p:ext>
            </p:extLst>
          </p:nvPr>
        </p:nvGraphicFramePr>
        <p:xfrm>
          <a:off x="2486826" y="5681037"/>
          <a:ext cx="683449" cy="341726"/>
        </p:xfrm>
        <a:graphic>
          <a:graphicData uri="http://schemas.openxmlformats.org/presentationml/2006/ole">
            <mc:AlternateContent xmlns:mc="http://schemas.openxmlformats.org/markup-compatibility/2006">
              <mc:Choice xmlns:v="urn:schemas-microsoft-com:vml" Requires="v">
                <p:oleObj name="Equation" r:id="rId8" imgW="457200" imgH="228600" progId="Equation.DSMT4">
                  <p:embed/>
                </p:oleObj>
              </mc:Choice>
              <mc:Fallback>
                <p:oleObj name="Equation" r:id="rId8" imgW="457200" imgH="228600" progId="Equation.DSMT4">
                  <p:embed/>
                  <p:pic>
                    <p:nvPicPr>
                      <p:cNvPr id="3" name="Object 2">
                        <a:extLst>
                          <a:ext uri="{FF2B5EF4-FFF2-40B4-BE49-F238E27FC236}">
                            <a16:creationId xmlns:a16="http://schemas.microsoft.com/office/drawing/2014/main" id="{D3AD344F-9EA1-43F0-B21A-B236F708BE24}"/>
                          </a:ext>
                        </a:extLst>
                      </p:cNvPr>
                      <p:cNvPicPr/>
                      <p:nvPr/>
                    </p:nvPicPr>
                    <p:blipFill>
                      <a:blip r:embed="rId9"/>
                      <a:stretch>
                        <a:fillRect/>
                      </a:stretch>
                    </p:blipFill>
                    <p:spPr>
                      <a:xfrm>
                        <a:off x="2486826" y="5681037"/>
                        <a:ext cx="683449" cy="341726"/>
                      </a:xfrm>
                      <a:prstGeom prst="rect">
                        <a:avLst/>
                      </a:prstGeom>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3228975" y="5660096"/>
            <a:ext cx="4838700" cy="344128"/>
          </a:xfrm>
        </p:spPr>
        <p:txBody>
          <a:bodyPr wrap="square" lIns="0" tIns="18000" rIns="0" bIns="18000" anchor="ctr">
            <a:spAutoFit/>
          </a:bodyPr>
          <a:lstStyle/>
          <a:p>
            <a:pPr marL="0" indent="0">
              <a:spcBef>
                <a:spcPts val="600"/>
              </a:spcBef>
              <a:buNone/>
            </a:pPr>
            <a:r>
              <a:rPr lang="en-US" sz="2000" dirty="0"/>
              <a:t>and eliminates the dependent source. The </a:t>
            </a:r>
          </a:p>
        </p:txBody>
      </p:sp>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428624" y="6055384"/>
            <a:ext cx="6791325" cy="344128"/>
          </a:xfrm>
        </p:spPr>
        <p:txBody>
          <a:bodyPr wrap="square" lIns="0" tIns="18000" rIns="0" bIns="18000" anchor="ctr">
            <a:spAutoFit/>
          </a:bodyPr>
          <a:lstStyle/>
          <a:p>
            <a:pPr marL="0" indent="0">
              <a:spcBef>
                <a:spcPts val="600"/>
              </a:spcBef>
              <a:buNone/>
            </a:pPr>
            <a:r>
              <a:rPr lang="en-US" sz="2000" dirty="0"/>
              <a:t>simplified circuit is shown and analyzed on the next slide. </a:t>
            </a:r>
          </a:p>
        </p:txBody>
      </p:sp>
    </p:spTree>
    <p:extLst>
      <p:ext uri="{BB962C8B-B14F-4D97-AF65-F5344CB8AC3E}">
        <p14:creationId xmlns:p14="http://schemas.microsoft.com/office/powerpoint/2010/main" val="3379360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625" y="205545"/>
            <a:ext cx="8229600" cy="1144347"/>
          </a:xfrm>
        </p:spPr>
        <p:txBody>
          <a:bodyPr/>
          <a:lstStyle/>
          <a:p>
            <a:r>
              <a:rPr lang="en-US" dirty="0"/>
              <a:t>Chapter 4 – techniques of circuit analysis </a:t>
            </a:r>
            <a:r>
              <a:rPr lang="en-US" sz="2800" dirty="0"/>
              <a:t>(10 of 17)</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625" y="1538288"/>
            <a:ext cx="4054475" cy="1344402"/>
          </a:xfrm>
        </p:spPr>
        <p:txBody>
          <a:bodyPr lIns="0" tIns="18000" rIns="0" bIns="18000" anchor="ctr">
            <a:spAutoFit/>
          </a:bodyPr>
          <a:lstStyle/>
          <a:p>
            <a:pPr marL="0" indent="0">
              <a:spcBef>
                <a:spcPts val="600"/>
              </a:spcBef>
              <a:buNone/>
            </a:pPr>
            <a:r>
              <a:rPr lang="en-US" sz="2000" dirty="0"/>
              <a:t>Thevenin and Norton equivalents</a:t>
            </a:r>
          </a:p>
          <a:p>
            <a:pPr marL="342900" indent="-342900">
              <a:spcBef>
                <a:spcPts val="600"/>
              </a:spcBef>
            </a:pPr>
            <a:r>
              <a:rPr lang="en-US" sz="2000" dirty="0"/>
              <a:t>Find the Thevenin equivalent to the left of the terminals </a:t>
            </a:r>
            <a:r>
              <a:rPr lang="en-US" sz="2000" dirty="0" err="1"/>
              <a:t>a,b</a:t>
            </a:r>
            <a:r>
              <a:rPr lang="en-US" sz="2000" dirty="0"/>
              <a:t> in the circuit below (continued)</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8625" y="3122901"/>
            <a:ext cx="504825" cy="344128"/>
          </a:xfrm>
        </p:spPr>
        <p:txBody>
          <a:bodyPr wrap="square" lIns="0" tIns="18000" rIns="0" bIns="18000" anchor="ctr">
            <a:spAutoFit/>
          </a:bodyPr>
          <a:lstStyle/>
          <a:p>
            <a:pPr marL="0" indent="0">
              <a:spcBef>
                <a:spcPts val="600"/>
              </a:spcBef>
              <a:buNone/>
            </a:pPr>
            <a:r>
              <a:rPr lang="en-US" sz="2000" dirty="0"/>
              <a:t>Find</a:t>
            </a:r>
          </a:p>
        </p:txBody>
      </p:sp>
      <p:graphicFrame>
        <p:nvGraphicFramePr>
          <p:cNvPr id="25" name="Object 24" descr="i subscript s c BaseLine.">
            <a:extLst>
              <a:ext uri="{FF2B5EF4-FFF2-40B4-BE49-F238E27FC236}">
                <a16:creationId xmlns:a16="http://schemas.microsoft.com/office/drawing/2014/main" id="{8B4ABE42-A5AF-4E71-8849-57A389045FFF}"/>
              </a:ext>
            </a:extLst>
          </p:cNvPr>
          <p:cNvGraphicFramePr>
            <a:graphicFrameLocks noChangeAspect="1"/>
          </p:cNvGraphicFramePr>
          <p:nvPr>
            <p:extLst>
              <p:ext uri="{D42A27DB-BD31-4B8C-83A1-F6EECF244321}">
                <p14:modId xmlns:p14="http://schemas.microsoft.com/office/powerpoint/2010/main" val="140210491"/>
              </p:ext>
            </p:extLst>
          </p:nvPr>
        </p:nvGraphicFramePr>
        <p:xfrm>
          <a:off x="1009650" y="3144838"/>
          <a:ext cx="290513" cy="371475"/>
        </p:xfrm>
        <a:graphic>
          <a:graphicData uri="http://schemas.openxmlformats.org/presentationml/2006/ole">
            <mc:AlternateContent xmlns:mc="http://schemas.openxmlformats.org/markup-compatibility/2006">
              <mc:Choice xmlns:v="urn:schemas-microsoft-com:vml" Requires="v">
                <p:oleObj name="Equation" r:id="rId2" imgW="177480" imgH="228600" progId="Equation.DSMT4">
                  <p:embed/>
                </p:oleObj>
              </mc:Choice>
              <mc:Fallback>
                <p:oleObj name="Equation" r:id="rId2" imgW="177480" imgH="228600" progId="Equation.DSMT4">
                  <p:embed/>
                  <p:pic>
                    <p:nvPicPr>
                      <p:cNvPr id="2" name="Object 1">
                        <a:extLst>
                          <a:ext uri="{FF2B5EF4-FFF2-40B4-BE49-F238E27FC236}">
                            <a16:creationId xmlns:a16="http://schemas.microsoft.com/office/drawing/2014/main" id="{5CB7F495-1E50-478F-8C21-66DE6B5F3B60}"/>
                          </a:ext>
                        </a:extLst>
                      </p:cNvPr>
                      <p:cNvPicPr/>
                      <p:nvPr/>
                    </p:nvPicPr>
                    <p:blipFill>
                      <a:blip r:embed="rId3"/>
                      <a:stretch>
                        <a:fillRect/>
                      </a:stretch>
                    </p:blipFill>
                    <p:spPr>
                      <a:xfrm>
                        <a:off x="1009650" y="3144838"/>
                        <a:ext cx="290513" cy="371475"/>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81126" y="3132426"/>
            <a:ext cx="1352550" cy="344128"/>
          </a:xfrm>
        </p:spPr>
        <p:txBody>
          <a:bodyPr wrap="square" lIns="0" tIns="18000" rIns="0" bIns="18000" anchor="ctr">
            <a:spAutoFit/>
          </a:bodyPr>
          <a:lstStyle/>
          <a:p>
            <a:pPr marL="0" indent="0">
              <a:spcBef>
                <a:spcPts val="600"/>
              </a:spcBef>
              <a:buNone/>
            </a:pPr>
            <a:r>
              <a:rPr lang="en-US" sz="2000" dirty="0"/>
              <a:t>(continued):</a:t>
            </a:r>
          </a:p>
        </p:txBody>
      </p:sp>
      <p:pic>
        <p:nvPicPr>
          <p:cNvPr id="26" name="Picture 2" descr="A circuit diagram shows a two layered circuit. A 24 volt independent voltage source with positive polarity at the top end and negative at the bottom forms the leftmost wire in the lower part of the circuit. Connected in parallel to the 24 volt independent voltage source are the second and third wires from left. The second wire from left houses a 4 ampere independent current source with the internal arrow pointing downwards. The third wire contains an 8 ohms resistor with current i subscript x flowing downwards through it. Three nodes are marked in the second wire from top at locations where the leftmost wire, second wire from left, and third wire from left connect to the second wire from top. Two nodes are marked in the bottom wire at locations where the second wire from left and third wire from left connect to the bottom wire. A 2 ohms resistance is located between the nodes formed in the second wire from top by the lower circuit’s leftmost wire and the second wire from left. The top and bottom nodes of third wire from left are extended rightwards to points a and b respectively. &#10;A current controlled current source 3i subscript x with the internal arrow pointing leftwards forms the upper part of the circuit. The current controlled current source 3i subscript x is connected between the nodes formed where the leftmost wire and second wire from left connect the second wire from top.">
            <a:extLst>
              <a:ext uri="{FF2B5EF4-FFF2-40B4-BE49-F238E27FC236}">
                <a16:creationId xmlns:a16="http://schemas.microsoft.com/office/drawing/2014/main" id="{3A5A22C2-4DF2-41EE-A6F4-03AC55F6CB72}"/>
              </a:ext>
            </a:extLst>
          </p:cNvPr>
          <p:cNvPicPr>
            <a:picLocks noChangeAspect="1" noChangeArrowheads="1"/>
          </p:cNvPicPr>
          <p:nvPr/>
        </p:nvPicPr>
        <p:blipFill>
          <a:blip r:embed="rId4"/>
          <a:srcRect/>
          <a:stretch/>
        </p:blipFill>
        <p:spPr bwMode="auto">
          <a:xfrm>
            <a:off x="5684042" y="1408133"/>
            <a:ext cx="2483496" cy="1241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2" descr="A circuit diagram shows a 24 volt independent voltage source with positive polarity at the top end and negative at the bottom forms the leftmost wire in the circuit. Connected in parallel to the 24 volt independent voltage source is the second wire from left that houses a 4 ampere independent current source with the internal arrow pointing downwards. Two nodes are marked at locations where the second wire from left connects to the top and bottom wires separately. A 2 ohms resistance is located between the nodes formed in the top wire by the circuit’s leftmost wire and the second wire from left. The top and bottom nodes of second wire from left are extended rightwards to points a and b respectively. Voltage V subscript ise develops across points a and b.">
            <a:extLst>
              <a:ext uri="{FF2B5EF4-FFF2-40B4-BE49-F238E27FC236}">
                <a16:creationId xmlns:a16="http://schemas.microsoft.com/office/drawing/2014/main" id="{5153557E-F7DE-4DE4-906F-FC9D7F9769C0}"/>
              </a:ext>
            </a:extLst>
          </p:cNvPr>
          <p:cNvPicPr>
            <a:picLocks noChangeAspect="1" noChangeArrowheads="1"/>
          </p:cNvPicPr>
          <p:nvPr/>
        </p:nvPicPr>
        <p:blipFill>
          <a:blip r:embed="rId5"/>
          <a:stretch>
            <a:fillRect/>
          </a:stretch>
        </p:blipFill>
        <p:spPr bwMode="auto">
          <a:xfrm>
            <a:off x="5688270" y="2822149"/>
            <a:ext cx="2447235" cy="103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3" descr="A circuit diagram shows a 12 ampere independent current source with the internal arrow pointing upwards as the leftmost wire in the circuit, along with the calculation of 24 divided by 2 equaling 12 amperes. Connected in parallel to the 12 ampere independent current source are the second and third wires from left. The second wire from left that houses a 2 ohms resistor. The third wire from left houses a 4 ampere independent current source with the internal arrow pointing downwards. &#10;Four nodes are marked at locations where the second and third wires from left connect to the top and bottom wires separately. The top and bottom nodes of the third wire from left are extended rightwards to points a and b respectively. Voltage V subscript ise develops across points a and b. ">
            <a:extLst>
              <a:ext uri="{FF2B5EF4-FFF2-40B4-BE49-F238E27FC236}">
                <a16:creationId xmlns:a16="http://schemas.microsoft.com/office/drawing/2014/main" id="{A1E3DE01-5871-43C7-8E3C-C986A5EE3ECA}"/>
              </a:ext>
            </a:extLst>
          </p:cNvPr>
          <p:cNvPicPr>
            <a:picLocks noChangeAspect="1" noChangeArrowheads="1"/>
          </p:cNvPicPr>
          <p:nvPr/>
        </p:nvPicPr>
        <p:blipFill>
          <a:blip r:embed="rId6"/>
          <a:stretch>
            <a:fillRect/>
          </a:stretch>
        </p:blipFill>
        <p:spPr bwMode="auto">
          <a:xfrm>
            <a:off x="5657706" y="4078571"/>
            <a:ext cx="2662058" cy="804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28625" y="4841517"/>
            <a:ext cx="4054475" cy="344128"/>
          </a:xfrm>
        </p:spPr>
        <p:txBody>
          <a:bodyPr lIns="0" tIns="18000" rIns="0" bIns="18000" anchor="ctr">
            <a:spAutoFit/>
          </a:bodyPr>
          <a:lstStyle/>
          <a:p>
            <a:pPr marL="0" indent="0">
              <a:spcBef>
                <a:spcPts val="600"/>
              </a:spcBef>
              <a:buNone/>
            </a:pPr>
            <a:r>
              <a:rPr lang="en-US" sz="2000" dirty="0"/>
              <a:t>Source transform this circuit to get:</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31799" y="5422254"/>
            <a:ext cx="8226426" cy="344128"/>
          </a:xfrm>
        </p:spPr>
        <p:txBody>
          <a:bodyPr wrap="square" lIns="0" tIns="18000" rIns="0" bIns="18000" anchor="ctr">
            <a:spAutoFit/>
          </a:bodyPr>
          <a:lstStyle/>
          <a:p>
            <a:pPr marL="0" indent="0">
              <a:spcBef>
                <a:spcPts val="600"/>
              </a:spcBef>
              <a:buNone/>
            </a:pPr>
            <a:r>
              <a:rPr lang="en-US" sz="2000" dirty="0"/>
              <a:t>The sum of the currents flows in the short circuit, which bypasses the </a:t>
            </a:r>
          </a:p>
        </p:txBody>
      </p:sp>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425450" y="5827143"/>
            <a:ext cx="1736726" cy="344128"/>
          </a:xfrm>
        </p:spPr>
        <p:txBody>
          <a:bodyPr wrap="square" lIns="0" tIns="18000" rIns="0" bIns="18000" anchor="ctr">
            <a:spAutoFit/>
          </a:bodyPr>
          <a:lstStyle/>
          <a:p>
            <a:pPr marL="0" indent="0">
              <a:spcBef>
                <a:spcPts val="600"/>
              </a:spcBef>
              <a:buNone/>
            </a:pPr>
            <a:r>
              <a:rPr lang="en-US" sz="2000" dirty="0"/>
              <a:t>branch with the </a:t>
            </a:r>
          </a:p>
        </p:txBody>
      </p:sp>
      <p:graphicFrame>
        <p:nvGraphicFramePr>
          <p:cNvPr id="30" name="Object 29" descr="2 Ohms.">
            <a:extLst>
              <a:ext uri="{FF2B5EF4-FFF2-40B4-BE49-F238E27FC236}">
                <a16:creationId xmlns:a16="http://schemas.microsoft.com/office/drawing/2014/main" id="{4BC28DAF-B820-4AF7-A298-EC770536B2DE}"/>
              </a:ext>
            </a:extLst>
          </p:cNvPr>
          <p:cNvGraphicFramePr>
            <a:graphicFrameLocks noChangeAspect="1"/>
          </p:cNvGraphicFramePr>
          <p:nvPr>
            <p:extLst>
              <p:ext uri="{D42A27DB-BD31-4B8C-83A1-F6EECF244321}">
                <p14:modId xmlns:p14="http://schemas.microsoft.com/office/powerpoint/2010/main" val="1609994262"/>
              </p:ext>
            </p:extLst>
          </p:nvPr>
        </p:nvGraphicFramePr>
        <p:xfrm>
          <a:off x="2226326" y="5902755"/>
          <a:ext cx="380634" cy="265840"/>
        </p:xfrm>
        <a:graphic>
          <a:graphicData uri="http://schemas.openxmlformats.org/presentationml/2006/ole">
            <mc:AlternateContent xmlns:mc="http://schemas.openxmlformats.org/markup-compatibility/2006">
              <mc:Choice xmlns:v="urn:schemas-microsoft-com:vml" Requires="v">
                <p:oleObj name="Equation" r:id="rId7" imgW="291960" imgH="203040" progId="Equation.DSMT4">
                  <p:embed/>
                </p:oleObj>
              </mc:Choice>
              <mc:Fallback>
                <p:oleObj name="Equation" r:id="rId7" imgW="291960" imgH="203040" progId="Equation.DSMT4">
                  <p:embed/>
                  <p:pic>
                    <p:nvPicPr>
                      <p:cNvPr id="3" name="Object 2">
                        <a:extLst>
                          <a:ext uri="{FF2B5EF4-FFF2-40B4-BE49-F238E27FC236}">
                            <a16:creationId xmlns:a16="http://schemas.microsoft.com/office/drawing/2014/main" id="{D3AD344F-9EA1-43F0-B21A-B236F708BE24}"/>
                          </a:ext>
                        </a:extLst>
                      </p:cNvPr>
                      <p:cNvPicPr/>
                      <p:nvPr/>
                    </p:nvPicPr>
                    <p:blipFill>
                      <a:blip r:embed="rId8"/>
                      <a:stretch>
                        <a:fillRect/>
                      </a:stretch>
                    </p:blipFill>
                    <p:spPr>
                      <a:xfrm>
                        <a:off x="2226326" y="5902755"/>
                        <a:ext cx="380634" cy="265840"/>
                      </a:xfrm>
                      <a:prstGeom prst="rect">
                        <a:avLst/>
                      </a:prstGeom>
                    </p:spPr>
                  </p:pic>
                </p:oleObj>
              </mc:Fallback>
            </mc:AlternateContent>
          </a:graphicData>
        </a:graphic>
      </p:graphicFrame>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2647950" y="5836309"/>
            <a:ext cx="6029325" cy="344128"/>
          </a:xfrm>
        </p:spPr>
        <p:txBody>
          <a:bodyPr wrap="square" lIns="0" tIns="18000" rIns="0" bIns="18000" anchor="ctr">
            <a:spAutoFit/>
          </a:bodyPr>
          <a:lstStyle/>
          <a:p>
            <a:pPr marL="0" indent="0">
              <a:spcBef>
                <a:spcPts val="600"/>
              </a:spcBef>
              <a:buNone/>
            </a:pPr>
            <a:r>
              <a:rPr lang="en-US" sz="2000" dirty="0"/>
              <a:t>resistor. Thus, the short circuit current is 12 – 4 = 8 A.</a:t>
            </a:r>
          </a:p>
        </p:txBody>
      </p:sp>
    </p:spTree>
    <p:extLst>
      <p:ext uri="{BB962C8B-B14F-4D97-AF65-F5344CB8AC3E}">
        <p14:creationId xmlns:p14="http://schemas.microsoft.com/office/powerpoint/2010/main" val="2615004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625" y="205545"/>
            <a:ext cx="8229600" cy="1144347"/>
          </a:xfrm>
        </p:spPr>
        <p:txBody>
          <a:bodyPr/>
          <a:lstStyle/>
          <a:p>
            <a:r>
              <a:rPr lang="en-US" dirty="0"/>
              <a:t>Chapter 4 – techniques of circuit analysis </a:t>
            </a:r>
            <a:r>
              <a:rPr lang="en-US" sz="2800" dirty="0"/>
              <a:t>(11 of 17)</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625" y="1538288"/>
            <a:ext cx="4054475" cy="1344402"/>
          </a:xfrm>
        </p:spPr>
        <p:txBody>
          <a:bodyPr lIns="0" tIns="18000" rIns="0" bIns="18000" anchor="ctr">
            <a:spAutoFit/>
          </a:bodyPr>
          <a:lstStyle/>
          <a:p>
            <a:pPr marL="0" indent="0">
              <a:spcBef>
                <a:spcPts val="600"/>
              </a:spcBef>
              <a:buNone/>
            </a:pPr>
            <a:r>
              <a:rPr lang="en-US" sz="2000" dirty="0"/>
              <a:t>Thevenin and Norton equivalents</a:t>
            </a:r>
          </a:p>
          <a:p>
            <a:pPr marL="342900" indent="-342900">
              <a:spcBef>
                <a:spcPts val="600"/>
              </a:spcBef>
            </a:pPr>
            <a:r>
              <a:rPr lang="en-US" sz="2000" dirty="0"/>
              <a:t>Find the Thevenin equivalent to the left of the terminals </a:t>
            </a:r>
            <a:r>
              <a:rPr lang="en-US" sz="2000" dirty="0" err="1"/>
              <a:t>a,b</a:t>
            </a:r>
            <a:r>
              <a:rPr lang="en-US" sz="2000" dirty="0"/>
              <a:t> in the circuit below (continued)</a:t>
            </a:r>
          </a:p>
        </p:txBody>
      </p:sp>
      <p:pic>
        <p:nvPicPr>
          <p:cNvPr id="23" name="Picture 2" descr="A circuit diagram shows a two layered circuit. A 24 volt independent voltage source with positive polarity at the top end and negative at the bottom forms the leftmost wire in the lower part of the circuit. Connected in parallel to the 24 volt independent voltage source are the second and third wires from left. The second wire from left houses a 4 ampere independent current source with the internal arrow pointing downwards. The third wire contains an 8 ohms resistor with current i subscript x flowing downwards through it. Three nodes are marked in the second wire from top at locations where the leftmost wire, second wire from left, and third wire from left connect to the second wire from top. Two nodes are marked in the bottom wire at locations where the second wire from left and third wire from left connect to the bottom wire. A 2 ohms resistance is located between the nodes formed in the second wire from top by the lower circuit’s leftmost wire and the second wire from left. The top and bottom nodes of third wire from left are extended rightwards to points a and b respectively. &#10;A current controlled current source 3i subscript x with the internal arrow pointing leftwards forms the upper part of the circuit. The current controlled current source 3i subscript x is connected between the nodes formed where the leftmost wire and second wire from left connect the second wire from top.">
            <a:extLst>
              <a:ext uri="{FF2B5EF4-FFF2-40B4-BE49-F238E27FC236}">
                <a16:creationId xmlns:a16="http://schemas.microsoft.com/office/drawing/2014/main" id="{B5F24E10-5763-4D07-ABFB-6F504DC5B0D8}"/>
              </a:ext>
            </a:extLst>
          </p:cNvPr>
          <p:cNvPicPr>
            <a:picLocks noChangeAspect="1" noChangeArrowheads="1"/>
          </p:cNvPicPr>
          <p:nvPr/>
        </p:nvPicPr>
        <p:blipFill>
          <a:blip r:embed="rId2"/>
          <a:srcRect/>
          <a:stretch/>
        </p:blipFill>
        <p:spPr bwMode="auto">
          <a:xfrm>
            <a:off x="5154825" y="1536451"/>
            <a:ext cx="3073500" cy="153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8625" y="3239443"/>
            <a:ext cx="504825" cy="344128"/>
          </a:xfrm>
        </p:spPr>
        <p:txBody>
          <a:bodyPr wrap="square" lIns="0" tIns="18000" rIns="0" bIns="18000" anchor="ctr">
            <a:spAutoFit/>
          </a:bodyPr>
          <a:lstStyle/>
          <a:p>
            <a:pPr marL="0" indent="0">
              <a:spcBef>
                <a:spcPts val="600"/>
              </a:spcBef>
              <a:buNone/>
            </a:pPr>
            <a:r>
              <a:rPr lang="en-US" sz="2000" dirty="0"/>
              <a:t>Find</a:t>
            </a:r>
          </a:p>
        </p:txBody>
      </p:sp>
      <p:graphicFrame>
        <p:nvGraphicFramePr>
          <p:cNvPr id="25" name="Object 24" descr="R subscript T h BaseLine.">
            <a:extLst>
              <a:ext uri="{FF2B5EF4-FFF2-40B4-BE49-F238E27FC236}">
                <a16:creationId xmlns:a16="http://schemas.microsoft.com/office/drawing/2014/main" id="{8B4ABE42-A5AF-4E71-8849-57A389045FFF}"/>
              </a:ext>
            </a:extLst>
          </p:cNvPr>
          <p:cNvGraphicFramePr>
            <a:graphicFrameLocks noChangeAspect="1"/>
          </p:cNvGraphicFramePr>
          <p:nvPr>
            <p:extLst>
              <p:ext uri="{D42A27DB-BD31-4B8C-83A1-F6EECF244321}">
                <p14:modId xmlns:p14="http://schemas.microsoft.com/office/powerpoint/2010/main" val="2688393549"/>
              </p:ext>
            </p:extLst>
          </p:nvPr>
        </p:nvGraphicFramePr>
        <p:xfrm>
          <a:off x="1013760" y="3261380"/>
          <a:ext cx="414338" cy="371475"/>
        </p:xfrm>
        <a:graphic>
          <a:graphicData uri="http://schemas.openxmlformats.org/presentationml/2006/ole">
            <mc:AlternateContent xmlns:mc="http://schemas.openxmlformats.org/markup-compatibility/2006">
              <mc:Choice xmlns:v="urn:schemas-microsoft-com:vml" Requires="v">
                <p:oleObj name="Equation" r:id="rId3" imgW="253800" imgH="228600" progId="Equation.DSMT4">
                  <p:embed/>
                </p:oleObj>
              </mc:Choice>
              <mc:Fallback>
                <p:oleObj name="Equation" r:id="rId3" imgW="253800" imgH="228600" progId="Equation.DSMT4">
                  <p:embed/>
                  <p:pic>
                    <p:nvPicPr>
                      <p:cNvPr id="25" name="Object 24">
                        <a:extLst>
                          <a:ext uri="{FF2B5EF4-FFF2-40B4-BE49-F238E27FC236}">
                            <a16:creationId xmlns:a16="http://schemas.microsoft.com/office/drawing/2014/main" id="{8B4ABE42-A5AF-4E71-8849-57A389045FFF}"/>
                          </a:ext>
                        </a:extLst>
                      </p:cNvPr>
                      <p:cNvPicPr/>
                      <p:nvPr/>
                    </p:nvPicPr>
                    <p:blipFill>
                      <a:blip r:embed="rId4"/>
                      <a:stretch>
                        <a:fillRect/>
                      </a:stretch>
                    </p:blipFill>
                    <p:spPr>
                      <a:xfrm>
                        <a:off x="1013760" y="3261380"/>
                        <a:ext cx="414338" cy="371475"/>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485900" y="3248968"/>
            <a:ext cx="5596218" cy="344128"/>
          </a:xfrm>
        </p:spPr>
        <p:txBody>
          <a:bodyPr wrap="square" lIns="0" tIns="18000" rIns="0" bIns="18000" anchor="ctr">
            <a:spAutoFit/>
          </a:bodyPr>
          <a:lstStyle/>
          <a:p>
            <a:pPr marL="0" indent="0">
              <a:spcBef>
                <a:spcPts val="600"/>
              </a:spcBef>
              <a:buNone/>
            </a:pPr>
            <a:r>
              <a:rPr lang="en-US" sz="2000" dirty="0"/>
              <a:t>and draw the Thevenin equivalent circuit:</a:t>
            </a:r>
          </a:p>
        </p:txBody>
      </p:sp>
      <p:graphicFrame>
        <p:nvGraphicFramePr>
          <p:cNvPr id="24" name="Object 23" descr="R subscript T h BaseLine equals StartFraction v subscript o c BaseLine over i subscript s c BaseLine EndFraction equals StartFraction 8 over 8 EndFraction equals 1 Ohm.">
            <a:extLst>
              <a:ext uri="{FF2B5EF4-FFF2-40B4-BE49-F238E27FC236}">
                <a16:creationId xmlns:a16="http://schemas.microsoft.com/office/drawing/2014/main" id="{4BF95A4E-15A7-4D55-B4CB-F549392289BF}"/>
              </a:ext>
            </a:extLst>
          </p:cNvPr>
          <p:cNvGraphicFramePr>
            <a:graphicFrameLocks noChangeAspect="1"/>
          </p:cNvGraphicFramePr>
          <p:nvPr>
            <p:extLst>
              <p:ext uri="{D42A27DB-BD31-4B8C-83A1-F6EECF244321}">
                <p14:modId xmlns:p14="http://schemas.microsoft.com/office/powerpoint/2010/main" val="731936050"/>
              </p:ext>
            </p:extLst>
          </p:nvPr>
        </p:nvGraphicFramePr>
        <p:xfrm>
          <a:off x="3373438" y="3848100"/>
          <a:ext cx="2339975" cy="811213"/>
        </p:xfrm>
        <a:graphic>
          <a:graphicData uri="http://schemas.openxmlformats.org/presentationml/2006/ole">
            <mc:AlternateContent xmlns:mc="http://schemas.openxmlformats.org/markup-compatibility/2006">
              <mc:Choice xmlns:v="urn:schemas-microsoft-com:vml" Requires="v">
                <p:oleObj name="Equation" r:id="rId5" imgW="1282680" imgH="444240" progId="Equation.DSMT4">
                  <p:embed/>
                </p:oleObj>
              </mc:Choice>
              <mc:Fallback>
                <p:oleObj name="Equation" r:id="rId5" imgW="1282680" imgH="444240" progId="Equation.DSMT4">
                  <p:embed/>
                  <p:pic>
                    <p:nvPicPr>
                      <p:cNvPr id="4" name="Object 3"/>
                      <p:cNvPicPr>
                        <a:picLocks noChangeAspect="1" noChangeArrowheads="1"/>
                      </p:cNvPicPr>
                      <p:nvPr/>
                    </p:nvPicPr>
                    <p:blipFill>
                      <a:blip r:embed="rId6"/>
                      <a:srcRect/>
                      <a:stretch>
                        <a:fillRect/>
                      </a:stretch>
                    </p:blipFill>
                    <p:spPr bwMode="auto">
                      <a:xfrm>
                        <a:off x="3373438" y="3848100"/>
                        <a:ext cx="2339975" cy="811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9" name="Picture 3" descr="A circuit diagram shows an 8 volt independent voltage source with positive polarity at its top end and negative at its bottom as the left wire in a circuit. The top wire of the circuit contains a 1 ohms resistor and this wire is extended rightward till point a. The bottom wire of the circuit is extended till point b.">
            <a:extLst>
              <a:ext uri="{FF2B5EF4-FFF2-40B4-BE49-F238E27FC236}">
                <a16:creationId xmlns:a16="http://schemas.microsoft.com/office/drawing/2014/main" id="{30AC11CA-65CB-4D35-85FB-AC87026517B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65745" y="4905700"/>
            <a:ext cx="1996855" cy="1348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02659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(12 of 17)</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490060"/>
            <a:ext cx="8229600" cy="775015"/>
          </a:xfrm>
        </p:spPr>
        <p:txBody>
          <a:bodyPr wrap="square" lIns="0" tIns="18000" rIns="0" bIns="18000" anchor="ctr" anchorCtr="0">
            <a:spAutoFit/>
          </a:bodyPr>
          <a:lstStyle/>
          <a:p>
            <a:pPr marL="0" indent="0">
              <a:spcBef>
                <a:spcPts val="600"/>
              </a:spcBef>
              <a:buNone/>
            </a:pPr>
            <a:r>
              <a:rPr lang="en-US" sz="2400" dirty="0"/>
              <a:t>By using the test source method on this circuit, we will be able to find</a:t>
            </a:r>
          </a:p>
        </p:txBody>
      </p:sp>
      <p:pic>
        <p:nvPicPr>
          <p:cNvPr id="13" name="Picture 2" descr="A circuit diagram shows a 60 ohms resistor as the leftmost wire in the circuit. Connected in parallel to the 60 ohms resistor are the second, third, and fourth wire from left. The second wire from left houses a 4 ampere independent current source with internal arrow pointing upwards. The third wire from left contains an 80 ohms resistor. The fourth wire from left houses a 40 ohms resistor with current i subscript Δ flowing downwards through it. Six nodes are marked at the points where the second, third, and fourth wire from left separately join the top and bottom wires. Located from left to right and between the top nodes of the second and third wire from left are a 20 ohms resistor and a current controlled voltage source 160i subscript Δ. The current controlled voltage source 160i subscript Δ has positive polarity at the left end and negative at the right. The top and bottom nodes of the fourth wire from left are extended rightwards to points a and b respectively.">
            <a:extLst>
              <a:ext uri="{FF2B5EF4-FFF2-40B4-BE49-F238E27FC236}">
                <a16:creationId xmlns:a16="http://schemas.microsoft.com/office/drawing/2014/main" id="{A505AB97-FFE6-4664-B80B-1B3090BBCFC1}"/>
              </a:ext>
            </a:extLst>
          </p:cNvPr>
          <p:cNvPicPr>
            <a:picLocks noChangeAspect="1" noChangeArrowheads="1"/>
          </p:cNvPicPr>
          <p:nvPr/>
        </p:nvPicPr>
        <p:blipFill>
          <a:blip r:embed="rId3"/>
          <a:srcRect/>
          <a:stretch/>
        </p:blipFill>
        <p:spPr bwMode="auto">
          <a:xfrm>
            <a:off x="2104143" y="2411227"/>
            <a:ext cx="5073650" cy="1833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 name="Picture 2" descr="Check mark">
            <a:extLst>
              <a:ext uri="{FF2B5EF4-FFF2-40B4-BE49-F238E27FC236}">
                <a16:creationId xmlns:a16="http://schemas.microsoft.com/office/drawing/2014/main" id="{A1E1C2B3-8651-41F9-8F89-9AE367AC2AF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7661" y="4634712"/>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5681" y="4554992"/>
            <a:ext cx="5444390"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dirty="0"/>
              <a:t>The Thevenin equivalent resistance</a:t>
            </a:r>
          </a:p>
        </p:txBody>
      </p:sp>
      <p:pic>
        <p:nvPicPr>
          <p:cNvPr id="75" name="Picture 3" descr="Cross mark">
            <a:extLst>
              <a:ext uri="{FF2B5EF4-FFF2-40B4-BE49-F238E27FC236}">
                <a16:creationId xmlns:a16="http://schemas.microsoft.com/office/drawing/2014/main" id="{DA918F86-D045-49BC-92F1-45E7AC6CE0F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42955" y="5070347"/>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87053" y="5007699"/>
            <a:ext cx="361525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dirty="0"/>
              <a:t>The open circuit voltage</a:t>
            </a:r>
            <a:r>
              <a:rPr lang="en-US" sz="2400" noProof="0" dirty="0"/>
              <a:t> </a:t>
            </a:r>
          </a:p>
        </p:txBody>
      </p:sp>
      <p:pic>
        <p:nvPicPr>
          <p:cNvPr id="77" name="Picture 4" descr="Cross mark">
            <a:extLst>
              <a:ext uri="{FF2B5EF4-FFF2-40B4-BE49-F238E27FC236}">
                <a16:creationId xmlns:a16="http://schemas.microsoft.com/office/drawing/2014/main" id="{E3B2023B-C439-40A9-B627-831D613F8DE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42955" y="5531719"/>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95681" y="5469996"/>
            <a:ext cx="361525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dirty="0"/>
              <a:t>The short circuit current</a:t>
            </a:r>
            <a:r>
              <a:rPr lang="en-US" sz="2400" noProof="0" dirty="0"/>
              <a:t> </a:t>
            </a:r>
          </a:p>
        </p:txBody>
      </p:sp>
      <p:pic>
        <p:nvPicPr>
          <p:cNvPr id="78" name="Picture 5" descr="Cross mark">
            <a:extLst>
              <a:ext uri="{FF2B5EF4-FFF2-40B4-BE49-F238E27FC236}">
                <a16:creationId xmlns:a16="http://schemas.microsoft.com/office/drawing/2014/main" id="{4C546176-022E-41C9-81F4-700A94A5EBB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65690" y="6007304"/>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95150" y="5919750"/>
            <a:ext cx="2549322"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dirty="0"/>
              <a:t>All of the above</a:t>
            </a:r>
            <a:r>
              <a:rPr lang="en-US" sz="2400" noProof="0" dirty="0"/>
              <a:t> </a:t>
            </a:r>
          </a:p>
        </p:txBody>
      </p:sp>
    </p:spTree>
    <p:extLst>
      <p:ext uri="{BB962C8B-B14F-4D97-AF65-F5344CB8AC3E}">
        <p14:creationId xmlns:p14="http://schemas.microsoft.com/office/powerpoint/2010/main" val="2052043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185" y="207228"/>
            <a:ext cx="8229600" cy="1144347"/>
          </a:xfrm>
        </p:spPr>
        <p:txBody>
          <a:bodyPr/>
          <a:lstStyle/>
          <a:p>
            <a:r>
              <a:rPr lang="en-US" dirty="0"/>
              <a:t>Chapter 4 – techniques of circuit analysis </a:t>
            </a:r>
            <a:r>
              <a:rPr lang="en-US" sz="2800" dirty="0"/>
              <a:t>(13 of 17)</a:t>
            </a:r>
            <a:endParaRPr lang="en-US"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185" y="1534312"/>
            <a:ext cx="4142815" cy="1652179"/>
          </a:xfrm>
        </p:spPr>
        <p:txBody>
          <a:bodyPr wrap="square" lIns="0" tIns="18000" rIns="0" bIns="18000" anchor="ctr">
            <a:spAutoFit/>
          </a:bodyPr>
          <a:lstStyle/>
          <a:p>
            <a:pPr marL="0" indent="0">
              <a:spcBef>
                <a:spcPts val="600"/>
              </a:spcBef>
              <a:buNone/>
            </a:pPr>
            <a:r>
              <a:rPr lang="en-US" sz="2000" dirty="0"/>
              <a:t>Thevenin and Norton equivalents</a:t>
            </a:r>
          </a:p>
          <a:p>
            <a:pPr marL="342900" indent="-342900">
              <a:spcBef>
                <a:spcPts val="600"/>
              </a:spcBef>
            </a:pPr>
            <a:r>
              <a:rPr lang="en-US" sz="2000" dirty="0"/>
              <a:t>Find the Thevenin equivalent to the left of the terminals </a:t>
            </a:r>
            <a:r>
              <a:rPr lang="en-US" sz="2000" dirty="0" err="1"/>
              <a:t>a,b</a:t>
            </a:r>
            <a:r>
              <a:rPr lang="en-US" sz="2000" dirty="0"/>
              <a:t> in the circuit below. Use the test source method.</a:t>
            </a:r>
          </a:p>
        </p:txBody>
      </p:sp>
      <p:pic>
        <p:nvPicPr>
          <p:cNvPr id="14" name="Picture 2" descr="A circuit diagram shows a 60 ohms resistor as the leftmost wire in the circuit. Connected in parallel to the 60 ohms resistor are the second, third, and fourth wire from left. The second wire from left houses a 4 ampere independent current source with internal arrow pointing upwards. The third wire from left contains an 80 ohms resistor. The fourth wire from left houses a 40 ohms resistor with current i subscript Δ flowing downwards through it. Six nodes are marked at the points where the second, third, and fourth wire from left separately join the top and bottom wires. Located from left to right and between the top nodes of the second and third wire from left are a 20 ohms resistor and a current controlled voltage source 160i subscript Δ. The current controlled voltage source 160i subscript Δ has positive polarity at the left end and negative at the right. The top and bottom nodes of the fourth wire from left are extended rightwards to points a and b respectively.">
            <a:extLst>
              <a:ext uri="{FF2B5EF4-FFF2-40B4-BE49-F238E27FC236}">
                <a16:creationId xmlns:a16="http://schemas.microsoft.com/office/drawing/2014/main" id="{204DD857-C375-4EFA-9A9E-4E32EBDC5E6E}"/>
              </a:ext>
            </a:extLst>
          </p:cNvPr>
          <p:cNvPicPr>
            <a:picLocks noChangeAspect="1" noChangeArrowheads="1"/>
          </p:cNvPicPr>
          <p:nvPr/>
        </p:nvPicPr>
        <p:blipFill>
          <a:blip r:embed="rId3"/>
          <a:srcRect/>
          <a:stretch/>
        </p:blipFill>
        <p:spPr bwMode="auto">
          <a:xfrm>
            <a:off x="5430495" y="1559142"/>
            <a:ext cx="3047752" cy="1101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186" y="3274299"/>
            <a:ext cx="521074" cy="344128"/>
          </a:xfrm>
        </p:spPr>
        <p:txBody>
          <a:bodyPr wrap="square" lIns="0" tIns="18000" rIns="0" bIns="18000" anchor="ctr">
            <a:spAutoFit/>
          </a:bodyPr>
          <a:lstStyle/>
          <a:p>
            <a:pPr marL="0" indent="0">
              <a:spcBef>
                <a:spcPts val="600"/>
              </a:spcBef>
              <a:buNone/>
            </a:pPr>
            <a:r>
              <a:rPr lang="en-US" sz="2000" dirty="0"/>
              <a:t>Find</a:t>
            </a:r>
          </a:p>
        </p:txBody>
      </p:sp>
      <p:graphicFrame>
        <p:nvGraphicFramePr>
          <p:cNvPr id="16" name="Object 15" descr="V subscript o c BaseLine.">
            <a:extLst>
              <a:ext uri="{FF2B5EF4-FFF2-40B4-BE49-F238E27FC236}">
                <a16:creationId xmlns:a16="http://schemas.microsoft.com/office/drawing/2014/main" id="{EA883B31-5221-4642-8887-CC8167DE57EE}"/>
              </a:ext>
            </a:extLst>
          </p:cNvPr>
          <p:cNvGraphicFramePr>
            <a:graphicFrameLocks noChangeAspect="1"/>
          </p:cNvGraphicFramePr>
          <p:nvPr>
            <p:extLst>
              <p:ext uri="{D42A27DB-BD31-4B8C-83A1-F6EECF244321}">
                <p14:modId xmlns:p14="http://schemas.microsoft.com/office/powerpoint/2010/main" val="82550164"/>
              </p:ext>
            </p:extLst>
          </p:nvPr>
        </p:nvGraphicFramePr>
        <p:xfrm>
          <a:off x="1028818" y="3302702"/>
          <a:ext cx="402152" cy="360550"/>
        </p:xfrm>
        <a:graphic>
          <a:graphicData uri="http://schemas.openxmlformats.org/presentationml/2006/ole">
            <mc:AlternateContent xmlns:mc="http://schemas.openxmlformats.org/markup-compatibility/2006">
              <mc:Choice xmlns:v="urn:schemas-microsoft-com:vml" Requires="v">
                <p:oleObj name="Equation" r:id="rId4" imgW="253800" imgH="228600" progId="Equation.DSMT4">
                  <p:embed/>
                </p:oleObj>
              </mc:Choice>
              <mc:Fallback>
                <p:oleObj name="Equation" r:id="rId4" imgW="253800" imgH="228600" progId="Equation.DSMT4">
                  <p:embed/>
                  <p:pic>
                    <p:nvPicPr>
                      <p:cNvPr id="25" name="Object 24">
                        <a:extLst>
                          <a:ext uri="{FF2B5EF4-FFF2-40B4-BE49-F238E27FC236}">
                            <a16:creationId xmlns:a16="http://schemas.microsoft.com/office/drawing/2014/main" id="{8B4ABE42-A5AF-4E71-8849-57A389045FFF}"/>
                          </a:ext>
                        </a:extLst>
                      </p:cNvPr>
                      <p:cNvPicPr/>
                      <p:nvPr/>
                    </p:nvPicPr>
                    <p:blipFill>
                      <a:blip r:embed="rId5"/>
                      <a:stretch>
                        <a:fillRect/>
                      </a:stretch>
                    </p:blipFill>
                    <p:spPr>
                      <a:xfrm>
                        <a:off x="1028818" y="3302702"/>
                        <a:ext cx="402152" cy="360550"/>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513917" y="3333570"/>
            <a:ext cx="3560108" cy="344128"/>
          </a:xfrm>
        </p:spPr>
        <p:txBody>
          <a:bodyPr wrap="square" lIns="0" tIns="18000" rIns="0" bIns="18000" anchor="ctr">
            <a:spAutoFit/>
          </a:bodyPr>
          <a:lstStyle/>
          <a:p>
            <a:pPr marL="0" lvl="1" indent="0">
              <a:buNone/>
            </a:pPr>
            <a:r>
              <a:rPr lang="en-US" sz="2000" dirty="0"/>
              <a:t>using the node voltage method:</a:t>
            </a:r>
          </a:p>
        </p:txBody>
      </p:sp>
      <p:pic>
        <p:nvPicPr>
          <p:cNvPr id="15" name="Picture 5" descr="A circuit diagram shows a 60 ohms resistor as the leftmost wire in the circuit. Connected in parallel to the 60 ohms resistor are the second, third, and fourth wire from left. The second wire from left houses a 4 ampere independent current source with internal arrow pointing upwards. The third wire from left contains an 80 ohms resistor. The fourth wire from left houses a 40 ohms resistor with current i subscript Δ flowing downwards through it. Six nodes are marked at the points where the second, third, and fourth wire from left separately join the top and bottom wires. Located from left to right and between the top nodes of the second and third wire from left are a 20 ohms resistor and a current controlled voltage source 160i subscript Δ. The current controlled voltage source 160i subscript Δ has positive polarity at the left end and negative at the right. The top and bottom nodes of the fourth wire from left are extended rightwards to points a and b respectively. &#10;Voltage v is marked at the top node of the second wire from left. The top nodes formed by the third and fourth wires from left are encircled and voltage v subscript oc is marked as the voltage across these two nodes. Voltage v subscript oc is also marked as the voltage across points a and b. The bottom nodes formed by the second, third, and fourth wires from left are encircled and an arrow is shown pointing downwards from this encircled portion.">
            <a:extLst>
              <a:ext uri="{FF2B5EF4-FFF2-40B4-BE49-F238E27FC236}">
                <a16:creationId xmlns:a16="http://schemas.microsoft.com/office/drawing/2014/main" id="{C3CF6F35-9819-4EF8-AEEC-3D80FABAA9AA}"/>
              </a:ext>
            </a:extLst>
          </p:cNvPr>
          <p:cNvPicPr>
            <a:picLocks noChangeAspect="1" noChangeArrowheads="1"/>
          </p:cNvPicPr>
          <p:nvPr/>
        </p:nvPicPr>
        <p:blipFill>
          <a:blip r:embed="rId6"/>
          <a:stretch>
            <a:fillRect/>
          </a:stretch>
        </p:blipFill>
        <p:spPr bwMode="auto">
          <a:xfrm>
            <a:off x="5472811" y="2971800"/>
            <a:ext cx="2832239" cy="123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7" name="Object 16" descr="At v: StartFraction v over 60 EndFraction minus 4 plus StartFraction v minus OpenParenthesis 160 i subscript Delta BaseLine plus v subscript o c BaseLine CloseParenthesis over 20 EndFraction equals 0.">
            <a:extLst>
              <a:ext uri="{FF2B5EF4-FFF2-40B4-BE49-F238E27FC236}">
                <a16:creationId xmlns:a16="http://schemas.microsoft.com/office/drawing/2014/main" id="{AF901A5E-2576-4822-8772-477B7F696E9A}"/>
              </a:ext>
            </a:extLst>
          </p:cNvPr>
          <p:cNvGraphicFramePr>
            <a:graphicFrameLocks noChangeAspect="1"/>
          </p:cNvGraphicFramePr>
          <p:nvPr>
            <p:extLst>
              <p:ext uri="{D42A27DB-BD31-4B8C-83A1-F6EECF244321}">
                <p14:modId xmlns:p14="http://schemas.microsoft.com/office/powerpoint/2010/main" val="518775496"/>
              </p:ext>
            </p:extLst>
          </p:nvPr>
        </p:nvGraphicFramePr>
        <p:xfrm>
          <a:off x="2500592" y="4317020"/>
          <a:ext cx="3290888" cy="574675"/>
        </p:xfrm>
        <a:graphic>
          <a:graphicData uri="http://schemas.openxmlformats.org/presentationml/2006/ole">
            <mc:AlternateContent xmlns:mc="http://schemas.openxmlformats.org/markup-compatibility/2006">
              <mc:Choice xmlns:v="urn:schemas-microsoft-com:vml" Requires="v">
                <p:oleObj name="Equation" r:id="rId7" imgW="2323800" imgH="406080" progId="Equation.DSMT4">
                  <p:embed/>
                </p:oleObj>
              </mc:Choice>
              <mc:Fallback>
                <p:oleObj name="Equation" r:id="rId7" imgW="2323800" imgH="406080" progId="Equation.DSMT4">
                  <p:embed/>
                  <p:pic>
                    <p:nvPicPr>
                      <p:cNvPr id="12" name="Object 11">
                        <a:extLst>
                          <a:ext uri="{FF2B5EF4-FFF2-40B4-BE49-F238E27FC236}">
                            <a16:creationId xmlns:a16="http://schemas.microsoft.com/office/drawing/2014/main" id="{526D1B16-86E0-463C-B688-91E60848E6C8}"/>
                          </a:ext>
                        </a:extLst>
                      </p:cNvPr>
                      <p:cNvPicPr>
                        <a:picLocks noChangeAspect="1" noChangeArrowheads="1"/>
                      </p:cNvPicPr>
                      <p:nvPr/>
                    </p:nvPicPr>
                    <p:blipFill>
                      <a:blip r:embed="rId8"/>
                      <a:srcRect/>
                      <a:stretch>
                        <a:fillRect/>
                      </a:stretch>
                    </p:blipFill>
                    <p:spPr bwMode="auto">
                      <a:xfrm>
                        <a:off x="2500592" y="4317020"/>
                        <a:ext cx="3290888" cy="57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23" descr="The figure illustrates the calculation at v subscript o c BaseLine.&#10;Long description is available in notes, Press F6.">
            <a:extLst>
              <a:ext uri="{FF2B5EF4-FFF2-40B4-BE49-F238E27FC236}">
                <a16:creationId xmlns:a16="http://schemas.microsoft.com/office/drawing/2014/main" id="{06F4BE13-43B7-48B7-85EE-E2BFB7AB7575}"/>
              </a:ext>
            </a:extLst>
          </p:cNvPr>
          <p:cNvGraphicFramePr>
            <a:graphicFrameLocks noChangeAspect="1"/>
          </p:cNvGraphicFramePr>
          <p:nvPr>
            <p:extLst>
              <p:ext uri="{D42A27DB-BD31-4B8C-83A1-F6EECF244321}">
                <p14:modId xmlns:p14="http://schemas.microsoft.com/office/powerpoint/2010/main" val="2210036828"/>
              </p:ext>
            </p:extLst>
          </p:nvPr>
        </p:nvGraphicFramePr>
        <p:xfrm>
          <a:off x="2500592" y="4975202"/>
          <a:ext cx="3613150" cy="574675"/>
        </p:xfrm>
        <a:graphic>
          <a:graphicData uri="http://schemas.openxmlformats.org/presentationml/2006/ole">
            <mc:AlternateContent xmlns:mc="http://schemas.openxmlformats.org/markup-compatibility/2006">
              <mc:Choice xmlns:v="urn:schemas-microsoft-com:vml" Requires="v">
                <p:oleObj name="Equation" r:id="rId9" imgW="2552400" imgH="406080" progId="Equation.DSMT4">
                  <p:embed/>
                </p:oleObj>
              </mc:Choice>
              <mc:Fallback>
                <p:oleObj name="Equation" r:id="rId9" imgW="2552400" imgH="406080" progId="Equation.DSMT4">
                  <p:embed/>
                  <p:pic>
                    <p:nvPicPr>
                      <p:cNvPr id="13" name="Object 12">
                        <a:extLst>
                          <a:ext uri="{FF2B5EF4-FFF2-40B4-BE49-F238E27FC236}">
                            <a16:creationId xmlns:a16="http://schemas.microsoft.com/office/drawing/2014/main" id="{D32DDF70-686B-4968-A8F3-946C29EA7BAF}"/>
                          </a:ext>
                        </a:extLst>
                      </p:cNvPr>
                      <p:cNvPicPr>
                        <a:picLocks noChangeAspect="1" noChangeArrowheads="1"/>
                      </p:cNvPicPr>
                      <p:nvPr/>
                    </p:nvPicPr>
                    <p:blipFill>
                      <a:blip r:embed="rId10"/>
                      <a:srcRect/>
                      <a:stretch>
                        <a:fillRect/>
                      </a:stretch>
                    </p:blipFill>
                    <p:spPr bwMode="auto">
                      <a:xfrm>
                        <a:off x="2500592" y="4975202"/>
                        <a:ext cx="3613150" cy="57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2461974" y="5876731"/>
            <a:ext cx="1663994" cy="344128"/>
          </a:xfrm>
        </p:spPr>
        <p:txBody>
          <a:bodyPr wrap="square" lIns="0" tIns="18000" rIns="0" bIns="18000" anchor="ctr">
            <a:spAutoFit/>
          </a:bodyPr>
          <a:lstStyle/>
          <a:p>
            <a:pPr marL="0" indent="0">
              <a:spcBef>
                <a:spcPts val="600"/>
              </a:spcBef>
              <a:buNone/>
            </a:pPr>
            <a:r>
              <a:rPr lang="en-US" sz="2000" dirty="0" err="1"/>
              <a:t>d.s.</a:t>
            </a:r>
            <a:r>
              <a:rPr lang="en-US" sz="2000" dirty="0"/>
              <a:t> constraint:</a:t>
            </a:r>
          </a:p>
        </p:txBody>
      </p:sp>
      <p:graphicFrame>
        <p:nvGraphicFramePr>
          <p:cNvPr id="25" name="Object 24" descr="i subscript Delta BaseLine equals StartFraction v subscript o c BaseLine over 40 EndFraction.">
            <a:extLst>
              <a:ext uri="{FF2B5EF4-FFF2-40B4-BE49-F238E27FC236}">
                <a16:creationId xmlns:a16="http://schemas.microsoft.com/office/drawing/2014/main" id="{DB94EB69-2CC8-4E59-A3C7-AE7B1C35AE44}"/>
              </a:ext>
            </a:extLst>
          </p:cNvPr>
          <p:cNvGraphicFramePr>
            <a:graphicFrameLocks noChangeAspect="1"/>
          </p:cNvGraphicFramePr>
          <p:nvPr>
            <p:extLst>
              <p:ext uri="{D42A27DB-BD31-4B8C-83A1-F6EECF244321}">
                <p14:modId xmlns:p14="http://schemas.microsoft.com/office/powerpoint/2010/main" val="4289182147"/>
              </p:ext>
            </p:extLst>
          </p:nvPr>
        </p:nvGraphicFramePr>
        <p:xfrm>
          <a:off x="4216868" y="5761042"/>
          <a:ext cx="754062" cy="574675"/>
        </p:xfrm>
        <a:graphic>
          <a:graphicData uri="http://schemas.openxmlformats.org/presentationml/2006/ole">
            <mc:AlternateContent xmlns:mc="http://schemas.openxmlformats.org/markup-compatibility/2006">
              <mc:Choice xmlns:v="urn:schemas-microsoft-com:vml" Requires="v">
                <p:oleObj name="Equation" r:id="rId11" imgW="533160" imgH="406080" progId="Equation.DSMT4">
                  <p:embed/>
                </p:oleObj>
              </mc:Choice>
              <mc:Fallback>
                <p:oleObj name="Equation" r:id="rId11" imgW="533160" imgH="406080" progId="Equation.DSMT4">
                  <p:embed/>
                  <p:pic>
                    <p:nvPicPr>
                      <p:cNvPr id="14" name="Object 13">
                        <a:extLst>
                          <a:ext uri="{FF2B5EF4-FFF2-40B4-BE49-F238E27FC236}">
                            <a16:creationId xmlns:a16="http://schemas.microsoft.com/office/drawing/2014/main" id="{DFC2F92E-E1C3-458D-9ADF-887F7CA07C2A}"/>
                          </a:ext>
                        </a:extLst>
                      </p:cNvPr>
                      <p:cNvPicPr>
                        <a:picLocks noChangeAspect="1" noChangeArrowheads="1"/>
                      </p:cNvPicPr>
                      <p:nvPr/>
                    </p:nvPicPr>
                    <p:blipFill>
                      <a:blip r:embed="rId12"/>
                      <a:srcRect/>
                      <a:stretch>
                        <a:fillRect/>
                      </a:stretch>
                    </p:blipFill>
                    <p:spPr bwMode="auto">
                      <a:xfrm>
                        <a:off x="4216868" y="5761042"/>
                        <a:ext cx="754062" cy="57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5180292" y="5841822"/>
            <a:ext cx="933450" cy="344128"/>
          </a:xfrm>
        </p:spPr>
        <p:txBody>
          <a:bodyPr wrap="square" lIns="0" tIns="18000" rIns="0" bIns="18000" anchor="ctr">
            <a:spAutoFit/>
          </a:bodyPr>
          <a:lstStyle/>
          <a:p>
            <a:pPr marL="0" indent="0">
              <a:spcBef>
                <a:spcPts val="600"/>
              </a:spcBef>
              <a:buNone/>
            </a:pPr>
            <a:r>
              <a:rPr lang="en-US" sz="2000" dirty="0"/>
              <a:t>Solving:</a:t>
            </a:r>
          </a:p>
        </p:txBody>
      </p:sp>
      <p:graphicFrame>
        <p:nvGraphicFramePr>
          <p:cNvPr id="26" name="Object 25" descr="v subscript o c BaseLine equals 30 Volts.">
            <a:extLst>
              <a:ext uri="{FF2B5EF4-FFF2-40B4-BE49-F238E27FC236}">
                <a16:creationId xmlns:a16="http://schemas.microsoft.com/office/drawing/2014/main" id="{B695461A-6933-476D-B551-8CDB2F686CF1}"/>
              </a:ext>
            </a:extLst>
          </p:cNvPr>
          <p:cNvGraphicFramePr>
            <a:graphicFrameLocks noChangeAspect="1"/>
          </p:cNvGraphicFramePr>
          <p:nvPr>
            <p:extLst>
              <p:ext uri="{D42A27DB-BD31-4B8C-83A1-F6EECF244321}">
                <p14:modId xmlns:p14="http://schemas.microsoft.com/office/powerpoint/2010/main" val="628876127"/>
              </p:ext>
            </p:extLst>
          </p:nvPr>
        </p:nvGraphicFramePr>
        <p:xfrm>
          <a:off x="6197694" y="5898596"/>
          <a:ext cx="1023937" cy="322263"/>
        </p:xfrm>
        <a:graphic>
          <a:graphicData uri="http://schemas.openxmlformats.org/presentationml/2006/ole">
            <mc:AlternateContent xmlns:mc="http://schemas.openxmlformats.org/markup-compatibility/2006">
              <mc:Choice xmlns:v="urn:schemas-microsoft-com:vml" Requires="v">
                <p:oleObj name="Equation" r:id="rId13" imgW="723600" imgH="228600" progId="Equation.DSMT4">
                  <p:embed/>
                </p:oleObj>
              </mc:Choice>
              <mc:Fallback>
                <p:oleObj name="Equation" r:id="rId13" imgW="723600" imgH="228600" progId="Equation.DSMT4">
                  <p:embed/>
                  <p:pic>
                    <p:nvPicPr>
                      <p:cNvPr id="15" name="Object 14">
                        <a:extLst>
                          <a:ext uri="{FF2B5EF4-FFF2-40B4-BE49-F238E27FC236}">
                            <a16:creationId xmlns:a16="http://schemas.microsoft.com/office/drawing/2014/main" id="{FE389752-5167-4E11-AEC1-784CB299A45A}"/>
                          </a:ext>
                        </a:extLst>
                      </p:cNvPr>
                      <p:cNvPicPr>
                        <a:picLocks noChangeAspect="1" noChangeArrowheads="1"/>
                      </p:cNvPicPr>
                      <p:nvPr/>
                    </p:nvPicPr>
                    <p:blipFill>
                      <a:blip r:embed="rId14"/>
                      <a:srcRect/>
                      <a:stretch>
                        <a:fillRect/>
                      </a:stretch>
                    </p:blipFill>
                    <p:spPr bwMode="auto">
                      <a:xfrm>
                        <a:off x="6197694" y="5898596"/>
                        <a:ext cx="1023937" cy="322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82249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185" y="207228"/>
            <a:ext cx="8229600" cy="1144347"/>
          </a:xfrm>
        </p:spPr>
        <p:txBody>
          <a:bodyPr/>
          <a:lstStyle/>
          <a:p>
            <a:r>
              <a:rPr lang="en-US" dirty="0"/>
              <a:t>Chapter 4 – techniques of circuit analysis </a:t>
            </a:r>
            <a:r>
              <a:rPr lang="en-US" sz="2800" dirty="0"/>
              <a:t>(14 of 17)</a:t>
            </a:r>
            <a:endParaRPr lang="en-US"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185" y="1534309"/>
            <a:ext cx="4142815" cy="1652179"/>
          </a:xfrm>
        </p:spPr>
        <p:txBody>
          <a:bodyPr wrap="square" lIns="0" tIns="18000" rIns="0" bIns="18000" anchor="ctr">
            <a:spAutoFit/>
          </a:bodyPr>
          <a:lstStyle/>
          <a:p>
            <a:pPr marL="0" indent="0">
              <a:spcBef>
                <a:spcPts val="600"/>
              </a:spcBef>
              <a:buNone/>
            </a:pPr>
            <a:r>
              <a:rPr lang="en-US" sz="2000" dirty="0"/>
              <a:t>Thevenin and Norton equivalents</a:t>
            </a:r>
          </a:p>
          <a:p>
            <a:pPr marL="342900" indent="-342900">
              <a:spcBef>
                <a:spcPts val="600"/>
              </a:spcBef>
            </a:pPr>
            <a:r>
              <a:rPr lang="en-US" sz="2000" dirty="0"/>
              <a:t>Find the Thevenin equivalent to the left of the terminals </a:t>
            </a:r>
            <a:r>
              <a:rPr lang="en-US" sz="2000" dirty="0" err="1"/>
              <a:t>a,b</a:t>
            </a:r>
            <a:r>
              <a:rPr lang="en-US" sz="2000" dirty="0"/>
              <a:t> in the circuit below. Use the test source method(continued)</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185" y="3280903"/>
            <a:ext cx="530039" cy="344128"/>
          </a:xfrm>
        </p:spPr>
        <p:txBody>
          <a:bodyPr wrap="square" lIns="0" tIns="18000" rIns="0" bIns="18000" anchor="ctr">
            <a:spAutoFit/>
          </a:bodyPr>
          <a:lstStyle/>
          <a:p>
            <a:pPr marL="0" indent="0">
              <a:spcBef>
                <a:spcPts val="600"/>
              </a:spcBef>
              <a:buNone/>
            </a:pPr>
            <a:r>
              <a:rPr lang="en-US" sz="2000" dirty="0">
                <a:solidFill>
                  <a:schemeClr val="tx1"/>
                </a:solidFill>
              </a:rPr>
              <a:t>Find</a:t>
            </a:r>
          </a:p>
        </p:txBody>
      </p:sp>
      <p:graphicFrame>
        <p:nvGraphicFramePr>
          <p:cNvPr id="25" name="Object 24" descr="R subscript T h BaseLine.">
            <a:extLst>
              <a:ext uri="{FF2B5EF4-FFF2-40B4-BE49-F238E27FC236}">
                <a16:creationId xmlns:a16="http://schemas.microsoft.com/office/drawing/2014/main" id="{66614EDC-B6CD-4C1E-AC37-1D0A7636FB97}"/>
              </a:ext>
            </a:extLst>
          </p:cNvPr>
          <p:cNvGraphicFramePr>
            <a:graphicFrameLocks noChangeAspect="1"/>
          </p:cNvGraphicFramePr>
          <p:nvPr>
            <p:extLst>
              <p:ext uri="{D42A27DB-BD31-4B8C-83A1-F6EECF244321}">
                <p14:modId xmlns:p14="http://schemas.microsoft.com/office/powerpoint/2010/main" val="872291403"/>
              </p:ext>
            </p:extLst>
          </p:nvPr>
        </p:nvGraphicFramePr>
        <p:xfrm>
          <a:off x="1031690" y="3313683"/>
          <a:ext cx="414338" cy="371475"/>
        </p:xfrm>
        <a:graphic>
          <a:graphicData uri="http://schemas.openxmlformats.org/presentationml/2006/ole">
            <mc:AlternateContent xmlns:mc="http://schemas.openxmlformats.org/markup-compatibility/2006">
              <mc:Choice xmlns:v="urn:schemas-microsoft-com:vml" Requires="v">
                <p:oleObj name="Equation" r:id="rId3" imgW="253800" imgH="228600" progId="Equation.DSMT4">
                  <p:embed/>
                </p:oleObj>
              </mc:Choice>
              <mc:Fallback>
                <p:oleObj name="Equation" r:id="rId3" imgW="253800" imgH="228600" progId="Equation.DSMT4">
                  <p:embed/>
                  <p:pic>
                    <p:nvPicPr>
                      <p:cNvPr id="16" name="Object 15">
                        <a:extLst>
                          <a:ext uri="{FF2B5EF4-FFF2-40B4-BE49-F238E27FC236}">
                            <a16:creationId xmlns:a16="http://schemas.microsoft.com/office/drawing/2014/main" id="{EBEC6428-EC48-4C95-8778-07D7891E8175}"/>
                          </a:ext>
                        </a:extLst>
                      </p:cNvPr>
                      <p:cNvPicPr/>
                      <p:nvPr/>
                    </p:nvPicPr>
                    <p:blipFill>
                      <a:blip r:embed="rId4"/>
                      <a:stretch>
                        <a:fillRect/>
                      </a:stretch>
                    </p:blipFill>
                    <p:spPr>
                      <a:xfrm>
                        <a:off x="1031690" y="3313683"/>
                        <a:ext cx="414338" cy="371475"/>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549775" y="3288748"/>
            <a:ext cx="2851219" cy="344128"/>
          </a:xfrm>
        </p:spPr>
        <p:txBody>
          <a:bodyPr wrap="square" lIns="0" tIns="18000" rIns="0" bIns="18000" anchor="ctr">
            <a:spAutoFit/>
          </a:bodyPr>
          <a:lstStyle/>
          <a:p>
            <a:pPr marL="0" indent="0">
              <a:spcBef>
                <a:spcPts val="600"/>
              </a:spcBef>
              <a:buNone/>
            </a:pPr>
            <a:r>
              <a:rPr lang="en-US" sz="2000" b="1" dirty="0">
                <a:solidFill>
                  <a:schemeClr val="tx1"/>
                </a:solidFill>
              </a:rPr>
              <a:t>using the test source </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29186" y="3752305"/>
            <a:ext cx="3595968" cy="651905"/>
          </a:xfrm>
        </p:spPr>
        <p:txBody>
          <a:bodyPr wrap="square" lIns="0" tIns="18000" rIns="0" bIns="18000" anchor="ctr">
            <a:spAutoFit/>
          </a:bodyPr>
          <a:lstStyle/>
          <a:p>
            <a:pPr marL="0" indent="0">
              <a:spcBef>
                <a:spcPts val="600"/>
              </a:spcBef>
              <a:buNone/>
            </a:pPr>
            <a:r>
              <a:rPr lang="en-US" sz="2000" b="1" u="sng" dirty="0"/>
              <a:t>method</a:t>
            </a:r>
            <a:r>
              <a:rPr lang="en-US" sz="2000" dirty="0"/>
              <a:t> – </a:t>
            </a:r>
            <a:r>
              <a:rPr lang="en-US" sz="2000" b="1" dirty="0"/>
              <a:t>don’t forget to kill the independent sources!</a:t>
            </a:r>
          </a:p>
        </p:txBody>
      </p:sp>
      <p:pic>
        <p:nvPicPr>
          <p:cNvPr id="26" name="Picture 2" descr="A circuit diagram shows a 60 ohms resistor as the leftmost wire in the circuit. Connected in parallel to the 60 ohms resistor are the second, third, and fourth wire from left. The second wire from left houses a 4 ampere independent current source with internal arrow pointing upwards. The third wire from left contains an 80 ohms resistor. The fourth wire from left houses a 40 ohms resistor with current i subscript Δ flowing downwards through it. Six nodes are marked at the points where the second, third, and fourth wire from left separately join the top and bottom wires. Located from left to right and between the top nodes of the second and third wire from left are a 20 ohms resistor and a current controlled voltage source 160i subscript Δ. The current controlled voltage source 160i subscript Δ has positive polarity at the left end and negative at the right. The top and bottom nodes of the fourth wire from left are extended rightwards to points a and b respectively.">
            <a:extLst>
              <a:ext uri="{FF2B5EF4-FFF2-40B4-BE49-F238E27FC236}">
                <a16:creationId xmlns:a16="http://schemas.microsoft.com/office/drawing/2014/main" id="{8F93C384-912C-4B33-83E1-903B5D2FC7BE}"/>
              </a:ext>
            </a:extLst>
          </p:cNvPr>
          <p:cNvPicPr>
            <a:picLocks noChangeAspect="1" noChangeArrowheads="1"/>
          </p:cNvPicPr>
          <p:nvPr/>
        </p:nvPicPr>
        <p:blipFill>
          <a:blip r:embed="rId5"/>
          <a:srcRect/>
          <a:stretch/>
        </p:blipFill>
        <p:spPr bwMode="auto">
          <a:xfrm>
            <a:off x="5101166" y="1609088"/>
            <a:ext cx="3047752" cy="1101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3" descr="A circuit diagram shows a 60 ohms resistor as the leftmost wire in the circuit. Connected in parallel to the 60 ohms resistor are the second, third, and fourth wire from left. The second wire from left houses an 80 ohms resistor. The third wire from left houses a 40 ohms resistor with current i subscript Δ flowing downwards through it. The fourth wire from left houses a 1 ampere independent current source with internal arrow pointing upwards. Voltage v subscript T develops across the 1 ampere independent current source and the text “this is the test source” is written to the right of this current source. Four nodes are marked at the points where the second and third wire from left separately join the top and bottom wires. Located from left to right and between the leftmost wire and second wire from left are a 20 ohms resistor and a current controlled voltage source 160i subscript Δ. The current controlled voltage source 160i subscript Δ has positive polarity at the left end and negative at the right. Points a and b are located respectively in the top and bottom wires between the third and fourth wires from left. &#10;The top nodes of the second and third wires from left are encircled and voltage v subscript T is marked across them. The bottom nodes of the of the second and third wires from left are encircled.">
            <a:extLst>
              <a:ext uri="{FF2B5EF4-FFF2-40B4-BE49-F238E27FC236}">
                <a16:creationId xmlns:a16="http://schemas.microsoft.com/office/drawing/2014/main" id="{C7EA8B7A-4F28-4576-B0A9-F2F632029D7A}"/>
              </a:ext>
            </a:extLst>
          </p:cNvPr>
          <p:cNvPicPr>
            <a:picLocks noChangeAspect="1" noChangeArrowheads="1"/>
          </p:cNvPicPr>
          <p:nvPr/>
        </p:nvPicPr>
        <p:blipFill>
          <a:blip r:embed="rId6"/>
          <a:stretch>
            <a:fillRect/>
          </a:stretch>
        </p:blipFill>
        <p:spPr bwMode="auto">
          <a:xfrm>
            <a:off x="4887799" y="2901114"/>
            <a:ext cx="3466771" cy="1330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 name="Object 27" descr="The figure illustrates the calculation at v subscript T.&#10;Long description is available in notes, Press F6.">
            <a:extLst>
              <a:ext uri="{FF2B5EF4-FFF2-40B4-BE49-F238E27FC236}">
                <a16:creationId xmlns:a16="http://schemas.microsoft.com/office/drawing/2014/main" id="{6CC09ADD-6F19-4C09-8440-B57142B15147}"/>
              </a:ext>
            </a:extLst>
          </p:cNvPr>
          <p:cNvGraphicFramePr>
            <a:graphicFrameLocks noChangeAspect="1"/>
          </p:cNvGraphicFramePr>
          <p:nvPr>
            <p:extLst>
              <p:ext uri="{D42A27DB-BD31-4B8C-83A1-F6EECF244321}">
                <p14:modId xmlns:p14="http://schemas.microsoft.com/office/powerpoint/2010/main" val="3216233069"/>
              </p:ext>
            </p:extLst>
          </p:nvPr>
        </p:nvGraphicFramePr>
        <p:xfrm>
          <a:off x="2751606" y="4446826"/>
          <a:ext cx="3143168" cy="551229"/>
        </p:xfrm>
        <a:graphic>
          <a:graphicData uri="http://schemas.openxmlformats.org/presentationml/2006/ole">
            <mc:AlternateContent xmlns:mc="http://schemas.openxmlformats.org/markup-compatibility/2006">
              <mc:Choice xmlns:v="urn:schemas-microsoft-com:vml" Requires="v">
                <p:oleObj name="Equation" r:id="rId7" imgW="2311200" imgH="406080" progId="Equation.DSMT4">
                  <p:embed/>
                </p:oleObj>
              </mc:Choice>
              <mc:Fallback>
                <p:oleObj name="Equation" r:id="rId7" imgW="2311200" imgH="406080" progId="Equation.DSMT4">
                  <p:embed/>
                  <p:pic>
                    <p:nvPicPr>
                      <p:cNvPr id="18" name="Object 17">
                        <a:extLst>
                          <a:ext uri="{FF2B5EF4-FFF2-40B4-BE49-F238E27FC236}">
                            <a16:creationId xmlns:a16="http://schemas.microsoft.com/office/drawing/2014/main" id="{E3BDAD59-1565-4BD9-89B6-99B3A21B2C3C}"/>
                          </a:ext>
                        </a:extLst>
                      </p:cNvPr>
                      <p:cNvPicPr>
                        <a:picLocks noChangeAspect="1" noChangeArrowheads="1"/>
                      </p:cNvPicPr>
                      <p:nvPr/>
                    </p:nvPicPr>
                    <p:blipFill>
                      <a:blip r:embed="rId8"/>
                      <a:srcRect/>
                      <a:stretch>
                        <a:fillRect/>
                      </a:stretch>
                    </p:blipFill>
                    <p:spPr bwMode="auto">
                      <a:xfrm>
                        <a:off x="2751606" y="4446826"/>
                        <a:ext cx="3143168" cy="5512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2735316" y="5162322"/>
            <a:ext cx="1587874" cy="344128"/>
          </a:xfrm>
        </p:spPr>
        <p:txBody>
          <a:bodyPr wrap="square" lIns="0" tIns="18000" rIns="0" bIns="18000" anchor="ctr">
            <a:spAutoFit/>
          </a:bodyPr>
          <a:lstStyle/>
          <a:p>
            <a:pPr marL="0" indent="0">
              <a:spcBef>
                <a:spcPts val="600"/>
              </a:spcBef>
              <a:buNone/>
            </a:pPr>
            <a:r>
              <a:rPr lang="en-US" sz="2000" dirty="0" err="1"/>
              <a:t>d.s.</a:t>
            </a:r>
            <a:r>
              <a:rPr lang="en-US" sz="2000" dirty="0"/>
              <a:t> </a:t>
            </a:r>
            <a:r>
              <a:rPr lang="en-US" sz="2000" dirty="0" err="1"/>
              <a:t>constaint</a:t>
            </a:r>
            <a:r>
              <a:rPr lang="en-US" sz="2000" dirty="0"/>
              <a:t>:</a:t>
            </a:r>
          </a:p>
        </p:txBody>
      </p:sp>
      <p:graphicFrame>
        <p:nvGraphicFramePr>
          <p:cNvPr id="29" name="Object 28" descr="i subscript Delta BaseLine equals StartFraction v subscript T BaseLine over 40 EndFraction.">
            <a:extLst>
              <a:ext uri="{FF2B5EF4-FFF2-40B4-BE49-F238E27FC236}">
                <a16:creationId xmlns:a16="http://schemas.microsoft.com/office/drawing/2014/main" id="{9DC2C5AC-C9E4-4492-A75D-594F5CF6C450}"/>
              </a:ext>
            </a:extLst>
          </p:cNvPr>
          <p:cNvGraphicFramePr>
            <a:graphicFrameLocks noChangeAspect="1"/>
          </p:cNvGraphicFramePr>
          <p:nvPr>
            <p:extLst>
              <p:ext uri="{D42A27DB-BD31-4B8C-83A1-F6EECF244321}">
                <p14:modId xmlns:p14="http://schemas.microsoft.com/office/powerpoint/2010/main" val="3879566863"/>
              </p:ext>
            </p:extLst>
          </p:nvPr>
        </p:nvGraphicFramePr>
        <p:xfrm>
          <a:off x="4386448" y="5077381"/>
          <a:ext cx="736600" cy="574675"/>
        </p:xfrm>
        <a:graphic>
          <a:graphicData uri="http://schemas.openxmlformats.org/presentationml/2006/ole">
            <mc:AlternateContent xmlns:mc="http://schemas.openxmlformats.org/markup-compatibility/2006">
              <mc:Choice xmlns:v="urn:schemas-microsoft-com:vml" Requires="v">
                <p:oleObj name="Equation" r:id="rId9" imgW="520560" imgH="406080" progId="Equation.DSMT4">
                  <p:embed/>
                </p:oleObj>
              </mc:Choice>
              <mc:Fallback>
                <p:oleObj name="Equation" r:id="rId9" imgW="520560" imgH="406080" progId="Equation.DSMT4">
                  <p:embed/>
                  <p:pic>
                    <p:nvPicPr>
                      <p:cNvPr id="19" name="Object 18">
                        <a:extLst>
                          <a:ext uri="{FF2B5EF4-FFF2-40B4-BE49-F238E27FC236}">
                            <a16:creationId xmlns:a16="http://schemas.microsoft.com/office/drawing/2014/main" id="{9995C73F-6AE1-4DBC-BAF4-0596AA2BAFDD}"/>
                          </a:ext>
                        </a:extLst>
                      </p:cNvPr>
                      <p:cNvPicPr>
                        <a:picLocks noChangeAspect="1" noChangeArrowheads="1"/>
                      </p:cNvPicPr>
                      <p:nvPr/>
                    </p:nvPicPr>
                    <p:blipFill>
                      <a:blip r:embed="rId10"/>
                      <a:srcRect/>
                      <a:stretch>
                        <a:fillRect/>
                      </a:stretch>
                    </p:blipFill>
                    <p:spPr bwMode="auto">
                      <a:xfrm>
                        <a:off x="4386448" y="5077381"/>
                        <a:ext cx="736600" cy="57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5659625" y="5217649"/>
            <a:ext cx="992187" cy="344128"/>
          </a:xfrm>
        </p:spPr>
        <p:txBody>
          <a:bodyPr wrap="square" lIns="0" tIns="18000" rIns="0" bIns="18000" anchor="ctr">
            <a:spAutoFit/>
          </a:bodyPr>
          <a:lstStyle/>
          <a:p>
            <a:pPr marL="0" indent="0">
              <a:spcBef>
                <a:spcPts val="600"/>
              </a:spcBef>
              <a:buNone/>
            </a:pPr>
            <a:r>
              <a:rPr lang="en-US" sz="2000" dirty="0"/>
              <a:t>Solving:</a:t>
            </a:r>
          </a:p>
        </p:txBody>
      </p:sp>
      <p:graphicFrame>
        <p:nvGraphicFramePr>
          <p:cNvPr id="30" name="Object 29" descr="v subscript T BaseLine equals 10 V.">
            <a:extLst>
              <a:ext uri="{FF2B5EF4-FFF2-40B4-BE49-F238E27FC236}">
                <a16:creationId xmlns:a16="http://schemas.microsoft.com/office/drawing/2014/main" id="{C456CC77-46B9-446B-B03C-139DFD6003CD}"/>
              </a:ext>
            </a:extLst>
          </p:cNvPr>
          <p:cNvGraphicFramePr>
            <a:graphicFrameLocks noChangeAspect="1"/>
          </p:cNvGraphicFramePr>
          <p:nvPr>
            <p:extLst>
              <p:ext uri="{D42A27DB-BD31-4B8C-83A1-F6EECF244321}">
                <p14:modId xmlns:p14="http://schemas.microsoft.com/office/powerpoint/2010/main" val="565606633"/>
              </p:ext>
            </p:extLst>
          </p:nvPr>
        </p:nvGraphicFramePr>
        <p:xfrm>
          <a:off x="6753523" y="5225227"/>
          <a:ext cx="992187" cy="336550"/>
        </p:xfrm>
        <a:graphic>
          <a:graphicData uri="http://schemas.openxmlformats.org/presentationml/2006/ole">
            <mc:AlternateContent xmlns:mc="http://schemas.openxmlformats.org/markup-compatibility/2006">
              <mc:Choice xmlns:v="urn:schemas-microsoft-com:vml" Requires="v">
                <p:oleObj name="Equation" r:id="rId11" imgW="672840" imgH="228600" progId="Equation.DSMT4">
                  <p:embed/>
                </p:oleObj>
              </mc:Choice>
              <mc:Fallback>
                <p:oleObj name="Equation" r:id="rId11" imgW="672840" imgH="228600" progId="Equation.DSMT4">
                  <p:embed/>
                  <p:pic>
                    <p:nvPicPr>
                      <p:cNvPr id="21" name="Object 20">
                        <a:extLst>
                          <a:ext uri="{FF2B5EF4-FFF2-40B4-BE49-F238E27FC236}">
                            <a16:creationId xmlns:a16="http://schemas.microsoft.com/office/drawing/2014/main" id="{6341D99F-CCF1-4182-B3C3-A7557EA41688}"/>
                          </a:ext>
                        </a:extLst>
                      </p:cNvPr>
                      <p:cNvPicPr>
                        <a:picLocks noChangeAspect="1" noChangeArrowheads="1"/>
                      </p:cNvPicPr>
                      <p:nvPr/>
                    </p:nvPicPr>
                    <p:blipFill>
                      <a:blip r:embed="rId12"/>
                      <a:srcRect/>
                      <a:stretch>
                        <a:fillRect/>
                      </a:stretch>
                    </p:blipFill>
                    <p:spPr bwMode="auto">
                      <a:xfrm>
                        <a:off x="6753523" y="5225227"/>
                        <a:ext cx="992187"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30" descr="Therefore, R subscript T h BaseLine equals StartFraction v subscript T BaseLine over i subscript T BaseLine EndFraction equals StartFraction 10 over 1 EndFraction equals 10 Ohms.">
            <a:extLst>
              <a:ext uri="{FF2B5EF4-FFF2-40B4-BE49-F238E27FC236}">
                <a16:creationId xmlns:a16="http://schemas.microsoft.com/office/drawing/2014/main" id="{60707654-95FB-40E7-8751-83258293181B}"/>
              </a:ext>
            </a:extLst>
          </p:cNvPr>
          <p:cNvGraphicFramePr>
            <a:graphicFrameLocks noChangeAspect="1"/>
          </p:cNvGraphicFramePr>
          <p:nvPr>
            <p:extLst>
              <p:ext uri="{D42A27DB-BD31-4B8C-83A1-F6EECF244321}">
                <p14:modId xmlns:p14="http://schemas.microsoft.com/office/powerpoint/2010/main" val="646104129"/>
              </p:ext>
            </p:extLst>
          </p:nvPr>
        </p:nvGraphicFramePr>
        <p:xfrm>
          <a:off x="2755669" y="5738374"/>
          <a:ext cx="2655888" cy="654050"/>
        </p:xfrm>
        <a:graphic>
          <a:graphicData uri="http://schemas.openxmlformats.org/presentationml/2006/ole">
            <mc:AlternateContent xmlns:mc="http://schemas.openxmlformats.org/markup-compatibility/2006">
              <mc:Choice xmlns:v="urn:schemas-microsoft-com:vml" Requires="v">
                <p:oleObj name="Equation" r:id="rId13" imgW="1803240" imgH="444240" progId="Equation.DSMT4">
                  <p:embed/>
                </p:oleObj>
              </mc:Choice>
              <mc:Fallback>
                <p:oleObj name="Equation" r:id="rId13" imgW="1803240" imgH="444240" progId="Equation.DSMT4">
                  <p:embed/>
                  <p:pic>
                    <p:nvPicPr>
                      <p:cNvPr id="20" name="Object 19">
                        <a:extLst>
                          <a:ext uri="{FF2B5EF4-FFF2-40B4-BE49-F238E27FC236}">
                            <a16:creationId xmlns:a16="http://schemas.microsoft.com/office/drawing/2014/main" id="{FCD0C2D2-3FAD-4511-B9ED-19EEF6600666}"/>
                          </a:ext>
                        </a:extLst>
                      </p:cNvPr>
                      <p:cNvPicPr>
                        <a:picLocks noChangeAspect="1" noChangeArrowheads="1"/>
                      </p:cNvPicPr>
                      <p:nvPr/>
                    </p:nvPicPr>
                    <p:blipFill>
                      <a:blip r:embed="rId14"/>
                      <a:srcRect/>
                      <a:stretch>
                        <a:fillRect/>
                      </a:stretch>
                    </p:blipFill>
                    <p:spPr bwMode="auto">
                      <a:xfrm>
                        <a:off x="2755669" y="5738374"/>
                        <a:ext cx="2655888" cy="65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36747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(15 of 17)</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38555"/>
            <a:ext cx="8229599" cy="1036625"/>
          </a:xfrm>
        </p:spPr>
        <p:txBody>
          <a:bodyPr wrap="square" lIns="0" tIns="18000" rIns="0" bIns="18000" anchor="ctr" anchorCtr="0">
            <a:spAutoFit/>
          </a:bodyPr>
          <a:lstStyle/>
          <a:p>
            <a:pPr marL="0" indent="0">
              <a:spcBef>
                <a:spcPts val="600"/>
              </a:spcBef>
              <a:buNone/>
            </a:pPr>
            <a:r>
              <a:rPr lang="en-US" sz="2000" dirty="0"/>
              <a:t>Thevenin and Norton equivalents</a:t>
            </a:r>
          </a:p>
          <a:p>
            <a:pPr marL="342900" indent="-342900">
              <a:spcBef>
                <a:spcPts val="600"/>
              </a:spcBef>
            </a:pPr>
            <a:r>
              <a:rPr lang="en-US" sz="2000" dirty="0"/>
              <a:t>Find the Thevenin equivalent to the left of the terminals </a:t>
            </a:r>
            <a:r>
              <a:rPr lang="en-US" sz="2000" dirty="0" err="1"/>
              <a:t>a,b</a:t>
            </a:r>
            <a:r>
              <a:rPr lang="en-US" sz="2000" dirty="0"/>
              <a:t> in the circuit below. Use the test source method (continued)</a:t>
            </a:r>
          </a:p>
        </p:txBody>
      </p:sp>
      <p:pic>
        <p:nvPicPr>
          <p:cNvPr id="17" name="Picture 2" descr="A circuit diagram shows a 60 ohms resistor as the leftmost wire in the circuit. Connected in parallel to the 60 ohms resistor are the second, third, and fourth wire from left. The second wire from left houses a 4 ampere independent current source with internal arrow pointing upwards. The third wire from left contains an 80 ohms resistor. The fourth wire from left houses a 40 ohms resistor with current i subscript Δ flowing downwards through it. Six nodes are marked at the points where the second, third, and fourth wire from left separately join the top and bottom wires. Located from left to right and between the top nodes of the second and third wire from left are a 20 ohms resistor and a current controlled voltage source 160i subscript Δ. The current controlled voltage source 160i subscript Δ has positive polarity at the left end and negative at the right. The top and bottom nodes of the fourth wire from left are extended rightwards to points a and b respectively.">
            <a:extLst>
              <a:ext uri="{FF2B5EF4-FFF2-40B4-BE49-F238E27FC236}">
                <a16:creationId xmlns:a16="http://schemas.microsoft.com/office/drawing/2014/main" id="{6F6567FB-EB79-442C-99BB-0155324805B1}"/>
              </a:ext>
            </a:extLst>
          </p:cNvPr>
          <p:cNvPicPr>
            <a:picLocks noChangeAspect="1" noChangeArrowheads="1"/>
          </p:cNvPicPr>
          <p:nvPr/>
        </p:nvPicPr>
        <p:blipFill>
          <a:blip r:embed="rId3"/>
          <a:srcRect/>
          <a:stretch/>
        </p:blipFill>
        <p:spPr bwMode="auto">
          <a:xfrm>
            <a:off x="2696619" y="2751032"/>
            <a:ext cx="3756025" cy="1357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0306" y="4237996"/>
            <a:ext cx="8229598" cy="344128"/>
          </a:xfrm>
        </p:spPr>
        <p:txBody>
          <a:bodyPr wrap="square" lIns="0" tIns="18000" rIns="0" bIns="18000" anchor="ctr" anchorCtr="0">
            <a:spAutoFit/>
          </a:bodyPr>
          <a:lstStyle/>
          <a:p>
            <a:pPr marL="0" indent="0">
              <a:spcBef>
                <a:spcPts val="600"/>
              </a:spcBef>
              <a:buNone/>
            </a:pPr>
            <a:r>
              <a:rPr lang="en-US" sz="2000" dirty="0">
                <a:solidFill>
                  <a:schemeClr val="tx1"/>
                </a:solidFill>
              </a:rPr>
              <a:t>Draw the resulting Thevenin equivalent circuit:</a:t>
            </a:r>
          </a:p>
        </p:txBody>
      </p:sp>
      <p:pic>
        <p:nvPicPr>
          <p:cNvPr id="22" name="Picture 3" descr="A circuit diagram shows a 30 volt independent voltage source with positive polarity at its top end and negative at its bottom as the left wire in a circuit. The top wire of the circuit contains a 10 ohms resistor and this wire is extended rightward till point a. The bottom wire of the circuit is extended till point b.">
            <a:extLst>
              <a:ext uri="{FF2B5EF4-FFF2-40B4-BE49-F238E27FC236}">
                <a16:creationId xmlns:a16="http://schemas.microsoft.com/office/drawing/2014/main" id="{921C7659-06D8-43ED-9EFD-3F8F0D6D2E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4329" y="4669945"/>
            <a:ext cx="2583151" cy="164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37294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185" y="207228"/>
            <a:ext cx="8229600" cy="1144347"/>
          </a:xfrm>
        </p:spPr>
        <p:txBody>
          <a:bodyPr/>
          <a:lstStyle/>
          <a:p>
            <a:r>
              <a:rPr lang="en-US" dirty="0"/>
              <a:t>Chapter 4 – techniques of circuit analysis </a:t>
            </a:r>
            <a:r>
              <a:rPr lang="en-US" sz="2800" dirty="0"/>
              <a:t>(16 of 17)</a:t>
            </a:r>
            <a:endParaRPr lang="en-US"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184" y="1537285"/>
            <a:ext cx="8229599" cy="1036625"/>
          </a:xfrm>
        </p:spPr>
        <p:txBody>
          <a:bodyPr wrap="square" lIns="0" tIns="18000" rIns="0" bIns="18000" anchor="ctr">
            <a:spAutoFit/>
          </a:bodyPr>
          <a:lstStyle/>
          <a:p>
            <a:pPr marL="0" indent="0">
              <a:spcBef>
                <a:spcPts val="600"/>
              </a:spcBef>
              <a:buNone/>
            </a:pPr>
            <a:r>
              <a:rPr lang="en-US" sz="2000" dirty="0"/>
              <a:t>Thevenin and Norton equivalents</a:t>
            </a:r>
          </a:p>
          <a:p>
            <a:pPr marL="342900" indent="-342900">
              <a:spcBef>
                <a:spcPts val="600"/>
              </a:spcBef>
            </a:pPr>
            <a:r>
              <a:rPr lang="en-US" sz="2000" dirty="0"/>
              <a:t>Find the Thevenin equivalent to the left of the terminals </a:t>
            </a:r>
            <a:r>
              <a:rPr lang="en-US" sz="2000" dirty="0" err="1"/>
              <a:t>a,b</a:t>
            </a:r>
            <a:r>
              <a:rPr lang="en-US" sz="2000" dirty="0"/>
              <a:t> in the circuit below. Use the test source method.</a:t>
            </a:r>
          </a:p>
        </p:txBody>
      </p:sp>
      <p:pic>
        <p:nvPicPr>
          <p:cNvPr id="16" name="Picture 2" descr="A circuit diagram shows a 50 ohms resistor as the leftmost wire in the circuit. Connected in parallel to the 50 ohms resistor are the second, third, and fourth wire from left. The second wire from left houses a 5 ohms resistor. Below the 5 ohms resistor in the second wire from left is a current controlled voltage source 6.5i subscript x with positive polarity at its bottom end and negative polarity at top. The third wire from left houses a 25 ohms resistor with current i subscript x flowing downwards through it. The fourth wire from left houses a 1 ampere independent current source with internal arrow pointing upwards. Voltage v subscript T develops across the 1 ampere independent current source and the text “this is the test source” is written to the right of this current source. Four nodes are marked at the points where the second and third wire from left separately join the top and bottom wires. Points a and b are located respectively in the top and bottom wires between the third and fourth wires from left. &#10;Current i subscript 1 flows clockwise in the leftmost circuit branch formed between the top and bottom wires by the leftmost wire and second wire from left. Current i subscript 2 flows clockwise in the middle circuit branch formed between the top and bottom wires by the second and third wires from left. Current i subscript A flows clockwise in the rightmost circuit branch formed between the top and bottom wires by the third and fourth wires from left.">
            <a:extLst>
              <a:ext uri="{FF2B5EF4-FFF2-40B4-BE49-F238E27FC236}">
                <a16:creationId xmlns:a16="http://schemas.microsoft.com/office/drawing/2014/main" id="{31E8F576-88C0-4EC8-9ADF-D7B8D9F106C4}"/>
              </a:ext>
            </a:extLst>
          </p:cNvPr>
          <p:cNvPicPr>
            <a:picLocks noChangeAspect="1" noChangeArrowheads="1"/>
          </p:cNvPicPr>
          <p:nvPr/>
        </p:nvPicPr>
        <p:blipFill>
          <a:blip r:embed="rId2"/>
          <a:srcRect/>
          <a:stretch/>
        </p:blipFill>
        <p:spPr bwMode="auto">
          <a:xfrm>
            <a:off x="2452759" y="2717483"/>
            <a:ext cx="4239882" cy="1641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7" name="Object 16" descr="i subscript 1">
            <a:extLst>
              <a:ext uri="{FF2B5EF4-FFF2-40B4-BE49-F238E27FC236}">
                <a16:creationId xmlns:a16="http://schemas.microsoft.com/office/drawing/2014/main" id="{1CE26B03-FA58-4D38-93D5-CEA96766EB6B}"/>
              </a:ext>
            </a:extLst>
          </p:cNvPr>
          <p:cNvGraphicFramePr>
            <a:graphicFrameLocks noChangeAspect="1"/>
          </p:cNvGraphicFramePr>
          <p:nvPr/>
        </p:nvGraphicFramePr>
        <p:xfrm>
          <a:off x="2209706" y="4464703"/>
          <a:ext cx="184150" cy="368300"/>
        </p:xfrm>
        <a:graphic>
          <a:graphicData uri="http://schemas.openxmlformats.org/presentationml/2006/ole">
            <mc:AlternateContent xmlns:mc="http://schemas.openxmlformats.org/markup-compatibility/2006">
              <mc:Choice xmlns:v="urn:schemas-microsoft-com:vml" Requires="v">
                <p:oleObj name="Equation" r:id="rId3" imgW="114120" imgH="228600" progId="Equation.DSMT4">
                  <p:embed/>
                </p:oleObj>
              </mc:Choice>
              <mc:Fallback>
                <p:oleObj name="Equation" r:id="rId3" imgW="114120" imgH="228600" progId="Equation.DSMT4">
                  <p:embed/>
                  <p:pic>
                    <p:nvPicPr>
                      <p:cNvPr id="17" name="Object 16" descr="i subscript 1">
                        <a:extLst>
                          <a:ext uri="{FF2B5EF4-FFF2-40B4-BE49-F238E27FC236}">
                            <a16:creationId xmlns:a16="http://schemas.microsoft.com/office/drawing/2014/main" id="{1CE26B03-FA58-4D38-93D5-CEA96766EB6B}"/>
                          </a:ext>
                        </a:extLst>
                      </p:cNvPr>
                      <p:cNvPicPr>
                        <a:picLocks noChangeAspect="1" noChangeArrowheads="1"/>
                      </p:cNvPicPr>
                      <p:nvPr/>
                    </p:nvPicPr>
                    <p:blipFill>
                      <a:blip r:embed="rId4"/>
                      <a:srcRect/>
                      <a:stretch>
                        <a:fillRect/>
                      </a:stretch>
                    </p:blipFill>
                    <p:spPr bwMode="auto">
                      <a:xfrm>
                        <a:off x="2209706" y="4464703"/>
                        <a:ext cx="18415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2515120" y="4502301"/>
            <a:ext cx="703210" cy="344128"/>
          </a:xfrm>
        </p:spPr>
        <p:txBody>
          <a:bodyPr wrap="square" lIns="0" tIns="18000" rIns="0" bIns="18000" anchor="ctr">
            <a:spAutoFit/>
          </a:bodyPr>
          <a:lstStyle/>
          <a:p>
            <a:pPr marL="0" indent="0">
              <a:spcBef>
                <a:spcPts val="600"/>
              </a:spcBef>
              <a:buNone/>
            </a:pPr>
            <a:r>
              <a:rPr lang="en-US" sz="2000" dirty="0">
                <a:solidFill>
                  <a:schemeClr val="tx1"/>
                </a:solidFill>
              </a:rPr>
              <a:t>mesh:</a:t>
            </a:r>
          </a:p>
        </p:txBody>
      </p:sp>
      <p:graphicFrame>
        <p:nvGraphicFramePr>
          <p:cNvPr id="18" name="Object 17" descr="50 i subscript 1 BaseLine plus 5 OpenParenthesis i subscript 1 BaseLine minus i subscript 2 BaseLine CloseParenthesis minus 6.5 i subscript x BaseLine equals 0.">
            <a:extLst>
              <a:ext uri="{FF2B5EF4-FFF2-40B4-BE49-F238E27FC236}">
                <a16:creationId xmlns:a16="http://schemas.microsoft.com/office/drawing/2014/main" id="{9F8C11FE-43E0-4A0E-917E-8A5D53077CDF}"/>
              </a:ext>
            </a:extLst>
          </p:cNvPr>
          <p:cNvGraphicFramePr>
            <a:graphicFrameLocks noChangeAspect="1"/>
          </p:cNvGraphicFramePr>
          <p:nvPr/>
        </p:nvGraphicFramePr>
        <p:xfrm>
          <a:off x="3326054" y="4530960"/>
          <a:ext cx="2698750" cy="368300"/>
        </p:xfrm>
        <a:graphic>
          <a:graphicData uri="http://schemas.openxmlformats.org/presentationml/2006/ole">
            <mc:AlternateContent xmlns:mc="http://schemas.openxmlformats.org/markup-compatibility/2006">
              <mc:Choice xmlns:v="urn:schemas-microsoft-com:vml" Requires="v">
                <p:oleObj name="Equation" r:id="rId5" imgW="1676160" imgH="228600" progId="Equation.DSMT4">
                  <p:embed/>
                </p:oleObj>
              </mc:Choice>
              <mc:Fallback>
                <p:oleObj name="Equation" r:id="rId5" imgW="1676160" imgH="228600" progId="Equation.DSMT4">
                  <p:embed/>
                  <p:pic>
                    <p:nvPicPr>
                      <p:cNvPr id="18" name="Object 17" descr="50 i subscript 1 BaseLine plus 5 OpenParenthesis i subscript 1 BaseLine minus i subscript 2 BaseLine CloseParenthesis minus 6.5 i subscript x BaseLine equals 0.">
                        <a:extLst>
                          <a:ext uri="{FF2B5EF4-FFF2-40B4-BE49-F238E27FC236}">
                            <a16:creationId xmlns:a16="http://schemas.microsoft.com/office/drawing/2014/main" id="{9F8C11FE-43E0-4A0E-917E-8A5D53077CDF}"/>
                          </a:ext>
                        </a:extLst>
                      </p:cNvPr>
                      <p:cNvPicPr>
                        <a:picLocks noChangeAspect="1" noChangeArrowheads="1"/>
                      </p:cNvPicPr>
                      <p:nvPr/>
                    </p:nvPicPr>
                    <p:blipFill>
                      <a:blip r:embed="rId6"/>
                      <a:srcRect/>
                      <a:stretch>
                        <a:fillRect/>
                      </a:stretch>
                    </p:blipFill>
                    <p:spPr bwMode="auto">
                      <a:xfrm>
                        <a:off x="3326054" y="4530960"/>
                        <a:ext cx="269875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18" descr="i subscript 2">
            <a:extLst>
              <a:ext uri="{FF2B5EF4-FFF2-40B4-BE49-F238E27FC236}">
                <a16:creationId xmlns:a16="http://schemas.microsoft.com/office/drawing/2014/main" id="{19BACF83-FB7F-4D97-B281-345380E5E1CC}"/>
              </a:ext>
            </a:extLst>
          </p:cNvPr>
          <p:cNvGraphicFramePr>
            <a:graphicFrameLocks noChangeAspect="1"/>
          </p:cNvGraphicFramePr>
          <p:nvPr/>
        </p:nvGraphicFramePr>
        <p:xfrm>
          <a:off x="2186268" y="4981575"/>
          <a:ext cx="225425" cy="368300"/>
        </p:xfrm>
        <a:graphic>
          <a:graphicData uri="http://schemas.openxmlformats.org/presentationml/2006/ole">
            <mc:AlternateContent xmlns:mc="http://schemas.openxmlformats.org/markup-compatibility/2006">
              <mc:Choice xmlns:v="urn:schemas-microsoft-com:vml" Requires="v">
                <p:oleObj name="Equation" r:id="rId7" imgW="139680" imgH="228600" progId="Equation.DSMT4">
                  <p:embed/>
                </p:oleObj>
              </mc:Choice>
              <mc:Fallback>
                <p:oleObj name="Equation" r:id="rId7" imgW="139680" imgH="228600" progId="Equation.DSMT4">
                  <p:embed/>
                  <p:pic>
                    <p:nvPicPr>
                      <p:cNvPr id="19" name="Object 18" descr="i subscript 2">
                        <a:extLst>
                          <a:ext uri="{FF2B5EF4-FFF2-40B4-BE49-F238E27FC236}">
                            <a16:creationId xmlns:a16="http://schemas.microsoft.com/office/drawing/2014/main" id="{19BACF83-FB7F-4D97-B281-345380E5E1CC}"/>
                          </a:ext>
                        </a:extLst>
                      </p:cNvPr>
                      <p:cNvPicPr>
                        <a:picLocks noChangeAspect="1" noChangeArrowheads="1"/>
                      </p:cNvPicPr>
                      <p:nvPr/>
                    </p:nvPicPr>
                    <p:blipFill>
                      <a:blip r:embed="rId8"/>
                      <a:srcRect/>
                      <a:stretch>
                        <a:fillRect/>
                      </a:stretch>
                    </p:blipFill>
                    <p:spPr bwMode="auto">
                      <a:xfrm>
                        <a:off x="2186268" y="4981575"/>
                        <a:ext cx="225425"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2515121" y="4990119"/>
            <a:ext cx="703210" cy="344128"/>
          </a:xfrm>
        </p:spPr>
        <p:txBody>
          <a:bodyPr wrap="square" lIns="0" tIns="18000" rIns="0" bIns="18000" anchor="ctr">
            <a:spAutoFit/>
          </a:bodyPr>
          <a:lstStyle/>
          <a:p>
            <a:pPr marL="0" indent="0">
              <a:spcBef>
                <a:spcPts val="600"/>
              </a:spcBef>
              <a:buNone/>
            </a:pPr>
            <a:r>
              <a:rPr lang="en-US" sz="2000" dirty="0">
                <a:solidFill>
                  <a:schemeClr val="tx1"/>
                </a:solidFill>
              </a:rPr>
              <a:t>mesh: </a:t>
            </a:r>
          </a:p>
        </p:txBody>
      </p:sp>
      <p:graphicFrame>
        <p:nvGraphicFramePr>
          <p:cNvPr id="20" name="Object 19" descr="10 i subscript 2 BaseLine plus 25 OpenParenthesis i subscript 2 BaseLine plus 1 CloseParenthesis plus 6.5 i subscript x BaseLine plus 5 OpenParenthesis i subscript 2 BaseLine minus i subscript 1 BaseLine CloseParenthesis equals 0.">
            <a:extLst>
              <a:ext uri="{FF2B5EF4-FFF2-40B4-BE49-F238E27FC236}">
                <a16:creationId xmlns:a16="http://schemas.microsoft.com/office/drawing/2014/main" id="{BEB371D4-5A23-431C-BD92-1DB4AD80751E}"/>
              </a:ext>
            </a:extLst>
          </p:cNvPr>
          <p:cNvGraphicFramePr>
            <a:graphicFrameLocks noChangeAspect="1"/>
          </p:cNvGraphicFramePr>
          <p:nvPr/>
        </p:nvGraphicFramePr>
        <p:xfrm>
          <a:off x="3382496" y="5018463"/>
          <a:ext cx="3865563" cy="368300"/>
        </p:xfrm>
        <a:graphic>
          <a:graphicData uri="http://schemas.openxmlformats.org/presentationml/2006/ole">
            <mc:AlternateContent xmlns:mc="http://schemas.openxmlformats.org/markup-compatibility/2006">
              <mc:Choice xmlns:v="urn:schemas-microsoft-com:vml" Requires="v">
                <p:oleObj name="Equation" r:id="rId9" imgW="2400120" imgH="228600" progId="Equation.DSMT4">
                  <p:embed/>
                </p:oleObj>
              </mc:Choice>
              <mc:Fallback>
                <p:oleObj name="Equation" r:id="rId9" imgW="2400120" imgH="228600" progId="Equation.DSMT4">
                  <p:embed/>
                  <p:pic>
                    <p:nvPicPr>
                      <p:cNvPr id="20" name="Object 19" descr="10 i subscript 2 BaseLine plus 25 OpenParenthesis i subscript 2 BaseLine plus 1 CloseParenthesis plus 6.5 i subscript x BaseLine plus 5 OpenParenthesis i subscript 2 BaseLine minus i subscript 1 BaseLine CloseParenthesis equals 0.">
                        <a:extLst>
                          <a:ext uri="{FF2B5EF4-FFF2-40B4-BE49-F238E27FC236}">
                            <a16:creationId xmlns:a16="http://schemas.microsoft.com/office/drawing/2014/main" id="{BEB371D4-5A23-431C-BD92-1DB4AD80751E}"/>
                          </a:ext>
                        </a:extLst>
                      </p:cNvPr>
                      <p:cNvPicPr>
                        <a:picLocks noChangeAspect="1" noChangeArrowheads="1"/>
                      </p:cNvPicPr>
                      <p:nvPr/>
                    </p:nvPicPr>
                    <p:blipFill>
                      <a:blip r:embed="rId10"/>
                      <a:srcRect/>
                      <a:stretch>
                        <a:fillRect/>
                      </a:stretch>
                    </p:blipFill>
                    <p:spPr bwMode="auto">
                      <a:xfrm>
                        <a:off x="3382496" y="5018463"/>
                        <a:ext cx="386556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2209706" y="5499496"/>
            <a:ext cx="1659590" cy="344128"/>
          </a:xfrm>
        </p:spPr>
        <p:txBody>
          <a:bodyPr wrap="square" lIns="0" tIns="18000" rIns="0" bIns="18000" anchor="ctr">
            <a:spAutoFit/>
          </a:bodyPr>
          <a:lstStyle/>
          <a:p>
            <a:pPr marL="0" indent="0">
              <a:spcBef>
                <a:spcPts val="600"/>
              </a:spcBef>
              <a:buNone/>
            </a:pPr>
            <a:r>
              <a:rPr lang="en-US" sz="2000" dirty="0" err="1"/>
              <a:t>d.s.</a:t>
            </a:r>
            <a:r>
              <a:rPr lang="en-US" sz="2000" dirty="0"/>
              <a:t> constraint:</a:t>
            </a:r>
          </a:p>
        </p:txBody>
      </p:sp>
      <p:graphicFrame>
        <p:nvGraphicFramePr>
          <p:cNvPr id="21" name="Object 20" descr="i subscript x BaseLine equals i subscript 2 BaseLine plus 1.">
            <a:extLst>
              <a:ext uri="{FF2B5EF4-FFF2-40B4-BE49-F238E27FC236}">
                <a16:creationId xmlns:a16="http://schemas.microsoft.com/office/drawing/2014/main" id="{E952FCB6-A4FC-4890-A002-CE88154F4878}"/>
              </a:ext>
            </a:extLst>
          </p:cNvPr>
          <p:cNvGraphicFramePr>
            <a:graphicFrameLocks noChangeAspect="1"/>
          </p:cNvGraphicFramePr>
          <p:nvPr/>
        </p:nvGraphicFramePr>
        <p:xfrm>
          <a:off x="4042333" y="5496125"/>
          <a:ext cx="1003300" cy="388938"/>
        </p:xfrm>
        <a:graphic>
          <a:graphicData uri="http://schemas.openxmlformats.org/presentationml/2006/ole">
            <mc:AlternateContent xmlns:mc="http://schemas.openxmlformats.org/markup-compatibility/2006">
              <mc:Choice xmlns:v="urn:schemas-microsoft-com:vml" Requires="v">
                <p:oleObj name="Equation" r:id="rId11" imgW="622080" imgH="241200" progId="Equation.DSMT4">
                  <p:embed/>
                </p:oleObj>
              </mc:Choice>
              <mc:Fallback>
                <p:oleObj name="Equation" r:id="rId11" imgW="622080" imgH="241200" progId="Equation.DSMT4">
                  <p:embed/>
                  <p:pic>
                    <p:nvPicPr>
                      <p:cNvPr id="21" name="Object 20" descr="i subscript x BaseLine equals i subscript 2 BaseLine plus 1.">
                        <a:extLst>
                          <a:ext uri="{FF2B5EF4-FFF2-40B4-BE49-F238E27FC236}">
                            <a16:creationId xmlns:a16="http://schemas.microsoft.com/office/drawing/2014/main" id="{E952FCB6-A4FC-4890-A002-CE88154F4878}"/>
                          </a:ext>
                        </a:extLst>
                      </p:cNvPr>
                      <p:cNvPicPr>
                        <a:picLocks noChangeAspect="1" noChangeArrowheads="1"/>
                      </p:cNvPicPr>
                      <p:nvPr/>
                    </p:nvPicPr>
                    <p:blipFill>
                      <a:blip r:embed="rId12"/>
                      <a:srcRect/>
                      <a:stretch>
                        <a:fillRect/>
                      </a:stretch>
                    </p:blipFill>
                    <p:spPr bwMode="auto">
                      <a:xfrm>
                        <a:off x="4042333" y="5496125"/>
                        <a:ext cx="1003300"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2265209" y="6002942"/>
            <a:ext cx="940213" cy="344128"/>
          </a:xfrm>
        </p:spPr>
        <p:txBody>
          <a:bodyPr wrap="square" lIns="0" tIns="18000" rIns="0" bIns="18000" anchor="ctr">
            <a:spAutoFit/>
          </a:bodyPr>
          <a:lstStyle/>
          <a:p>
            <a:pPr marL="0" indent="0">
              <a:spcBef>
                <a:spcPts val="600"/>
              </a:spcBef>
              <a:buNone/>
            </a:pPr>
            <a:r>
              <a:rPr lang="en-US" sz="2000" dirty="0"/>
              <a:t>Solving:</a:t>
            </a:r>
          </a:p>
        </p:txBody>
      </p:sp>
      <p:graphicFrame>
        <p:nvGraphicFramePr>
          <p:cNvPr id="22" name="Object 21" descr="i subscript 1 BaseLine equals negative 24 milli Amperes, i subscript 2 BaseLine equals negative 680 milli Amperes, i subscript x BaseLine equals 320 milli Amperes.">
            <a:extLst>
              <a:ext uri="{FF2B5EF4-FFF2-40B4-BE49-F238E27FC236}">
                <a16:creationId xmlns:a16="http://schemas.microsoft.com/office/drawing/2014/main" id="{0EAF24C1-1199-4A85-9890-413A0760B6EB}"/>
              </a:ext>
            </a:extLst>
          </p:cNvPr>
          <p:cNvGraphicFramePr>
            <a:graphicFrameLocks noChangeAspect="1"/>
          </p:cNvGraphicFramePr>
          <p:nvPr/>
        </p:nvGraphicFramePr>
        <p:xfrm>
          <a:off x="3268904" y="6034684"/>
          <a:ext cx="4357687" cy="368300"/>
        </p:xfrm>
        <a:graphic>
          <a:graphicData uri="http://schemas.openxmlformats.org/presentationml/2006/ole">
            <mc:AlternateContent xmlns:mc="http://schemas.openxmlformats.org/markup-compatibility/2006">
              <mc:Choice xmlns:v="urn:schemas-microsoft-com:vml" Requires="v">
                <p:oleObj name="Equation" r:id="rId13" imgW="2705040" imgH="228600" progId="Equation.DSMT4">
                  <p:embed/>
                </p:oleObj>
              </mc:Choice>
              <mc:Fallback>
                <p:oleObj name="Equation" r:id="rId13" imgW="2705040" imgH="228600" progId="Equation.DSMT4">
                  <p:embed/>
                  <p:pic>
                    <p:nvPicPr>
                      <p:cNvPr id="22" name="Object 21" descr="i subscript 1 BaseLine equals negative 24 milli Amperes, i subscript 2 BaseLine equals negative 680 milli Amperes, i subscript x BaseLine equals 320 milli Amperes.">
                        <a:extLst>
                          <a:ext uri="{FF2B5EF4-FFF2-40B4-BE49-F238E27FC236}">
                            <a16:creationId xmlns:a16="http://schemas.microsoft.com/office/drawing/2014/main" id="{0EAF24C1-1199-4A85-9890-413A0760B6EB}"/>
                          </a:ext>
                        </a:extLst>
                      </p:cNvPr>
                      <p:cNvPicPr>
                        <a:picLocks noChangeAspect="1" noChangeArrowheads="1"/>
                      </p:cNvPicPr>
                      <p:nvPr/>
                    </p:nvPicPr>
                    <p:blipFill>
                      <a:blip r:embed="rId14"/>
                      <a:srcRect/>
                      <a:stretch>
                        <a:fillRect/>
                      </a:stretch>
                    </p:blipFill>
                    <p:spPr bwMode="auto">
                      <a:xfrm>
                        <a:off x="3268904" y="6034684"/>
                        <a:ext cx="4357687"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019244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185" y="207228"/>
            <a:ext cx="8229600" cy="1144347"/>
          </a:xfrm>
        </p:spPr>
        <p:txBody>
          <a:bodyPr/>
          <a:lstStyle/>
          <a:p>
            <a:r>
              <a:rPr lang="en-US" dirty="0"/>
              <a:t>Chapter 4 – techniques of circuit analysis </a:t>
            </a:r>
            <a:r>
              <a:rPr lang="en-US" sz="2800" dirty="0"/>
              <a:t>(17 of 17)</a:t>
            </a:r>
            <a:endParaRPr lang="en-US"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184" y="1537285"/>
            <a:ext cx="8229599" cy="1036625"/>
          </a:xfrm>
        </p:spPr>
        <p:txBody>
          <a:bodyPr wrap="square" lIns="0" tIns="18000" rIns="0" bIns="18000" anchor="ctr">
            <a:spAutoFit/>
          </a:bodyPr>
          <a:lstStyle/>
          <a:p>
            <a:pPr marL="0" indent="0">
              <a:spcBef>
                <a:spcPts val="600"/>
              </a:spcBef>
              <a:buNone/>
            </a:pPr>
            <a:r>
              <a:rPr lang="en-US" sz="2000" dirty="0"/>
              <a:t>Thevenin and Norton equivalents</a:t>
            </a:r>
          </a:p>
          <a:p>
            <a:pPr marL="342900" indent="-342900">
              <a:spcBef>
                <a:spcPts val="600"/>
              </a:spcBef>
            </a:pPr>
            <a:r>
              <a:rPr lang="en-US" sz="2000" dirty="0"/>
              <a:t>Find the Thevenin equivalent to the left of the terminals </a:t>
            </a:r>
            <a:r>
              <a:rPr lang="en-US" sz="2000" dirty="0" err="1"/>
              <a:t>a,b</a:t>
            </a:r>
            <a:r>
              <a:rPr lang="en-US" sz="2000" dirty="0"/>
              <a:t> in the circuit below. Use the test source method (continued)</a:t>
            </a:r>
          </a:p>
        </p:txBody>
      </p:sp>
      <p:pic>
        <p:nvPicPr>
          <p:cNvPr id="15" name="Picture 2" descr="A circuit diagram shows a 50 ohms resistor as the leftmost wire in the circuit. Connected in parallel to the 50 ohms resistor are the second, third, and fourth wire from left. The second wire from left houses a 5 ohms resistor. Below the 5 ohms resistor in the second wire from left is a current controlled voltage source 6.5i subscript x with positive polarity at its bottom end and negative polarity at top. The third wire from left houses a 25 ohms resistor with current i subscript x flowing downwards through it. The fourth wire from left houses a 1 ampere independent current source with internal arrow pointing upwards. Voltage v subscript T develops across the 1 ampere independent current source and the text “this is the test source” is written to the right of this current source. Four nodes are marked at the points where the second and third wire from left separately join the top and bottom wires. Points a and b are located respectively in the top and bottom wires between the third and fourth wires from left. &#10;Current i subscript 1 flows clockwise in the leftmost circuit branch formed between the top and bottom wires by the leftmost wire and second wire from left. Current i subscript 2 flows clockwise in the middle circuit branch formed between the top and bottom wires by the second and third wires from left. Current i subscript A flows clockwise in the rightmost circuit branch formed between the top and bottom wires by the third and fourth wires from left.">
            <a:extLst>
              <a:ext uri="{FF2B5EF4-FFF2-40B4-BE49-F238E27FC236}">
                <a16:creationId xmlns:a16="http://schemas.microsoft.com/office/drawing/2014/main" id="{6A63138C-155E-40E1-8090-2120EBA8FC10}"/>
              </a:ext>
            </a:extLst>
          </p:cNvPr>
          <p:cNvPicPr>
            <a:picLocks noChangeAspect="1" noChangeArrowheads="1"/>
          </p:cNvPicPr>
          <p:nvPr/>
        </p:nvPicPr>
        <p:blipFill>
          <a:blip r:embed="rId2"/>
          <a:srcRect/>
          <a:stretch/>
        </p:blipFill>
        <p:spPr bwMode="auto">
          <a:xfrm>
            <a:off x="2238448" y="2734789"/>
            <a:ext cx="4683467" cy="181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494827" y="4645991"/>
            <a:ext cx="1667474" cy="344128"/>
          </a:xfrm>
        </p:spPr>
        <p:txBody>
          <a:bodyPr wrap="square" lIns="0" tIns="18000" rIns="0" bIns="18000" anchor="ctr">
            <a:spAutoFit/>
          </a:bodyPr>
          <a:lstStyle/>
          <a:p>
            <a:pPr marL="0" indent="0">
              <a:spcBef>
                <a:spcPts val="600"/>
              </a:spcBef>
              <a:buNone/>
            </a:pPr>
            <a:r>
              <a:rPr lang="en-US" sz="2000" spc="-300" dirty="0">
                <a:solidFill>
                  <a:schemeClr val="tx1"/>
                </a:solidFill>
              </a:rPr>
              <a:t>K V </a:t>
            </a:r>
            <a:r>
              <a:rPr lang="en-US" sz="2000" dirty="0">
                <a:solidFill>
                  <a:schemeClr val="tx1"/>
                </a:solidFill>
              </a:rPr>
              <a:t>L left mesh:</a:t>
            </a:r>
          </a:p>
        </p:txBody>
      </p:sp>
      <p:graphicFrame>
        <p:nvGraphicFramePr>
          <p:cNvPr id="23" name="Object 6" descr="12 OpenParenthesis negative 1 CloseParenthesis plus v plus 25 OpenParenthesis negative 1 plus 0.68 CloseParenthesis equals 0.">
            <a:extLst>
              <a:ext uri="{FF2B5EF4-FFF2-40B4-BE49-F238E27FC236}">
                <a16:creationId xmlns:a16="http://schemas.microsoft.com/office/drawing/2014/main" id="{F5AB4206-804E-47AB-A85E-B0EBB91B5797}"/>
              </a:ext>
            </a:extLst>
          </p:cNvPr>
          <p:cNvGraphicFramePr>
            <a:graphicFrameLocks noChangeAspect="1"/>
          </p:cNvGraphicFramePr>
          <p:nvPr/>
        </p:nvGraphicFramePr>
        <p:xfrm>
          <a:off x="3262025" y="4667267"/>
          <a:ext cx="3268199" cy="343062"/>
        </p:xfrm>
        <a:graphic>
          <a:graphicData uri="http://schemas.openxmlformats.org/presentationml/2006/ole">
            <mc:AlternateContent xmlns:mc="http://schemas.openxmlformats.org/markup-compatibility/2006">
              <mc:Choice xmlns:v="urn:schemas-microsoft-com:vml" Requires="v">
                <p:oleObj name="Equation" r:id="rId3" imgW="1930320" imgH="203040" progId="Equation.DSMT4">
                  <p:embed/>
                </p:oleObj>
              </mc:Choice>
              <mc:Fallback>
                <p:oleObj name="Equation" r:id="rId3" imgW="1930320" imgH="203040" progId="Equation.DSMT4">
                  <p:embed/>
                  <p:pic>
                    <p:nvPicPr>
                      <p:cNvPr id="23" name="Object 6" descr="12 OpenParenthesis negative 1 CloseParenthesis plus v plus 25 OpenParenthesis negative 1 plus 0.68 CloseParenthesis equals 0.">
                        <a:extLst>
                          <a:ext uri="{FF2B5EF4-FFF2-40B4-BE49-F238E27FC236}">
                            <a16:creationId xmlns:a16="http://schemas.microsoft.com/office/drawing/2014/main" id="{F5AB4206-804E-47AB-A85E-B0EBB91B5797}"/>
                          </a:ext>
                        </a:extLst>
                      </p:cNvPr>
                      <p:cNvPicPr>
                        <a:picLocks noChangeAspect="1" noChangeArrowheads="1"/>
                      </p:cNvPicPr>
                      <p:nvPr/>
                    </p:nvPicPr>
                    <p:blipFill>
                      <a:blip r:embed="rId4"/>
                      <a:srcRect/>
                      <a:stretch>
                        <a:fillRect/>
                      </a:stretch>
                    </p:blipFill>
                    <p:spPr bwMode="auto">
                      <a:xfrm>
                        <a:off x="3262025" y="4667267"/>
                        <a:ext cx="3268199" cy="343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6" descr="Therefore, v equals 20 Volts.">
            <a:extLst>
              <a:ext uri="{FF2B5EF4-FFF2-40B4-BE49-F238E27FC236}">
                <a16:creationId xmlns:a16="http://schemas.microsoft.com/office/drawing/2014/main" id="{92C90494-E065-4658-BE55-40C9819C513D}"/>
              </a:ext>
            </a:extLst>
          </p:cNvPr>
          <p:cNvGraphicFramePr>
            <a:graphicFrameLocks noChangeAspect="1"/>
          </p:cNvGraphicFramePr>
          <p:nvPr/>
        </p:nvGraphicFramePr>
        <p:xfrm>
          <a:off x="1051206" y="5222766"/>
          <a:ext cx="1384300" cy="317500"/>
        </p:xfrm>
        <a:graphic>
          <a:graphicData uri="http://schemas.openxmlformats.org/presentationml/2006/ole">
            <mc:AlternateContent xmlns:mc="http://schemas.openxmlformats.org/markup-compatibility/2006">
              <mc:Choice xmlns:v="urn:schemas-microsoft-com:vml" Requires="v">
                <p:oleObj name="Equation" r:id="rId5" imgW="939600" imgH="215640" progId="Equation.DSMT4">
                  <p:embed/>
                </p:oleObj>
              </mc:Choice>
              <mc:Fallback>
                <p:oleObj name="Equation" r:id="rId5" imgW="939600" imgH="215640" progId="Equation.DSMT4">
                  <p:embed/>
                  <p:pic>
                    <p:nvPicPr>
                      <p:cNvPr id="24" name="Object 6" descr="Therefore, v equals 20 Volts.">
                        <a:extLst>
                          <a:ext uri="{FF2B5EF4-FFF2-40B4-BE49-F238E27FC236}">
                            <a16:creationId xmlns:a16="http://schemas.microsoft.com/office/drawing/2014/main" id="{92C90494-E065-4658-BE55-40C9819C513D}"/>
                          </a:ext>
                        </a:extLst>
                      </p:cNvPr>
                      <p:cNvPicPr>
                        <a:picLocks noChangeAspect="1" noChangeArrowheads="1"/>
                      </p:cNvPicPr>
                      <p:nvPr/>
                    </p:nvPicPr>
                    <p:blipFill>
                      <a:blip r:embed="rId6"/>
                      <a:srcRect/>
                      <a:stretch>
                        <a:fillRect/>
                      </a:stretch>
                    </p:blipFill>
                    <p:spPr bwMode="auto">
                      <a:xfrm>
                        <a:off x="1051206" y="5222766"/>
                        <a:ext cx="13843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6" descr="Forward arrow.">
            <a:extLst>
              <a:ext uri="{FF2B5EF4-FFF2-40B4-BE49-F238E27FC236}">
                <a16:creationId xmlns:a16="http://schemas.microsoft.com/office/drawing/2014/main" id="{47E447F4-62A6-437E-BE74-F83B4D394C98}"/>
              </a:ext>
            </a:extLst>
          </p:cNvPr>
          <p:cNvGraphicFramePr>
            <a:graphicFrameLocks noChangeAspect="1"/>
          </p:cNvGraphicFramePr>
          <p:nvPr/>
        </p:nvGraphicFramePr>
        <p:xfrm>
          <a:off x="1051206" y="5836941"/>
          <a:ext cx="280987" cy="223837"/>
        </p:xfrm>
        <a:graphic>
          <a:graphicData uri="http://schemas.openxmlformats.org/presentationml/2006/ole">
            <mc:AlternateContent xmlns:mc="http://schemas.openxmlformats.org/markup-compatibility/2006">
              <mc:Choice xmlns:v="urn:schemas-microsoft-com:vml" Requires="v">
                <p:oleObj name="Equation" r:id="rId7" imgW="190440" imgH="152280" progId="Equation.DSMT4">
                  <p:embed/>
                </p:oleObj>
              </mc:Choice>
              <mc:Fallback>
                <p:oleObj name="Equation" r:id="rId7" imgW="190440" imgH="152280" progId="Equation.DSMT4">
                  <p:embed/>
                  <p:pic>
                    <p:nvPicPr>
                      <p:cNvPr id="25" name="Object 6" descr="Forward arrow.">
                        <a:extLst>
                          <a:ext uri="{FF2B5EF4-FFF2-40B4-BE49-F238E27FC236}">
                            <a16:creationId xmlns:a16="http://schemas.microsoft.com/office/drawing/2014/main" id="{47E447F4-62A6-437E-BE74-F83B4D394C98}"/>
                          </a:ext>
                        </a:extLst>
                      </p:cNvPr>
                      <p:cNvPicPr>
                        <a:picLocks noChangeAspect="1" noChangeArrowheads="1"/>
                      </p:cNvPicPr>
                      <p:nvPr/>
                    </p:nvPicPr>
                    <p:blipFill>
                      <a:blip r:embed="rId8"/>
                      <a:srcRect/>
                      <a:stretch>
                        <a:fillRect/>
                      </a:stretch>
                    </p:blipFill>
                    <p:spPr bwMode="auto">
                      <a:xfrm>
                        <a:off x="1051206" y="5836941"/>
                        <a:ext cx="280987" cy="223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6" descr="R subscript T h BaseLine equals StartFraction 20 Volts over 1 Amperes EndFraction equals 20 Ohms.">
            <a:extLst>
              <a:ext uri="{FF2B5EF4-FFF2-40B4-BE49-F238E27FC236}">
                <a16:creationId xmlns:a16="http://schemas.microsoft.com/office/drawing/2014/main" id="{9BE38926-5890-4AD6-898F-2577CAA17674}"/>
              </a:ext>
            </a:extLst>
          </p:cNvPr>
          <p:cNvGraphicFramePr>
            <a:graphicFrameLocks noChangeAspect="1"/>
          </p:cNvGraphicFramePr>
          <p:nvPr/>
        </p:nvGraphicFramePr>
        <p:xfrm>
          <a:off x="2182673" y="5632884"/>
          <a:ext cx="1814513" cy="579437"/>
        </p:xfrm>
        <a:graphic>
          <a:graphicData uri="http://schemas.openxmlformats.org/presentationml/2006/ole">
            <mc:AlternateContent xmlns:mc="http://schemas.openxmlformats.org/markup-compatibility/2006">
              <mc:Choice xmlns:v="urn:schemas-microsoft-com:vml" Requires="v">
                <p:oleObj name="Equation" r:id="rId9" imgW="1231560" imgH="393480" progId="Equation.DSMT4">
                  <p:embed/>
                </p:oleObj>
              </mc:Choice>
              <mc:Fallback>
                <p:oleObj name="Equation" r:id="rId9" imgW="1231560" imgH="393480" progId="Equation.DSMT4">
                  <p:embed/>
                  <p:pic>
                    <p:nvPicPr>
                      <p:cNvPr id="26" name="Object 6" descr="R subscript T h BaseLine equals StartFraction 20 Volts over 1 Amperes EndFraction equals 20 Ohms.">
                        <a:extLst>
                          <a:ext uri="{FF2B5EF4-FFF2-40B4-BE49-F238E27FC236}">
                            <a16:creationId xmlns:a16="http://schemas.microsoft.com/office/drawing/2014/main" id="{9BE38926-5890-4AD6-898F-2577CAA17674}"/>
                          </a:ext>
                        </a:extLst>
                      </p:cNvPr>
                      <p:cNvPicPr>
                        <a:picLocks noChangeAspect="1" noChangeArrowheads="1"/>
                      </p:cNvPicPr>
                      <p:nvPr/>
                    </p:nvPicPr>
                    <p:blipFill>
                      <a:blip r:embed="rId10"/>
                      <a:srcRect/>
                      <a:stretch>
                        <a:fillRect/>
                      </a:stretch>
                    </p:blipFill>
                    <p:spPr bwMode="auto">
                      <a:xfrm>
                        <a:off x="2182673" y="5632884"/>
                        <a:ext cx="1814513"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8927678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30704" y="209602"/>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3" name="Graphic 2" descr="Warning">
            <a:extLst>
              <a:ext uri="{FF2B5EF4-FFF2-40B4-BE49-F238E27FC236}">
                <a16:creationId xmlns:a16="http://schemas.microsoft.com/office/drawing/2014/main" id="{45663BD5-7D18-BDA4-9C4E-DA879AC10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831" y="2317359"/>
            <a:ext cx="1277815" cy="1434026"/>
          </a:xfrm>
          <a:prstGeom prst="rect">
            <a:avLst/>
          </a:prstGeo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9826"/>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United Kingdom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1046</TotalTime>
  <Words>1184</Words>
  <Application>Microsoft Macintosh PowerPoint</Application>
  <PresentationFormat>On-screen Show (4:3)</PresentationFormat>
  <Paragraphs>127</Paragraphs>
  <Slides>18</Slides>
  <Notes>9</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18</vt:i4>
      </vt:variant>
    </vt:vector>
  </HeadingPairs>
  <TitlesOfParts>
    <vt:vector size="24" baseType="lpstr">
      <vt:lpstr>Verdana</vt:lpstr>
      <vt:lpstr>Arial</vt:lpstr>
      <vt:lpstr>Times New Roman</vt:lpstr>
      <vt:lpstr>USHE</vt:lpstr>
      <vt:lpstr>USHE_slide options</vt:lpstr>
      <vt:lpstr>Equation</vt:lpstr>
      <vt:lpstr>Electric Circuits</vt:lpstr>
      <vt:lpstr>Chapter 4 – techniques of circuit analysis (1 of 17)</vt:lpstr>
      <vt:lpstr>Chapter 4 – techniques of circuit analysis (2 of 17)</vt:lpstr>
      <vt:lpstr>Chapter 4 – techniques of circuit analysis (3 of 17)</vt:lpstr>
      <vt:lpstr>Chapter 4 – techniques of circuit analysis (4 of 17)</vt:lpstr>
      <vt:lpstr>Chapter 4 – techniques of circuit analysis (5 of 17)</vt:lpstr>
      <vt:lpstr>Chapter 4 – techniques of circuit analysis (6 of 17)</vt:lpstr>
      <vt:lpstr>Chapter 4 – techniques of circuit analysis (8 of 17)</vt:lpstr>
      <vt:lpstr>Chapter 4 – techniques of circuit analysis (9 of 17)</vt:lpstr>
      <vt:lpstr>Chapter 4 – techniques of circuit analysis (10 of 17)</vt:lpstr>
      <vt:lpstr>Chapter 4 – techniques of circuit analysis (11 of 17)</vt:lpstr>
      <vt:lpstr>Chapter 4 – techniques of circuit analysis (12 of 17)</vt:lpstr>
      <vt:lpstr>Chapter 4 – techniques of circuit analysis (13 of 17)</vt:lpstr>
      <vt:lpstr>Chapter 4 – techniques of circuit analysis (14 of 17)</vt:lpstr>
      <vt:lpstr>Chapter 4 – techniques of circuit analysis (15 of 17)</vt:lpstr>
      <vt:lpstr>Chapter 4 – techniques of circuit analysis (16 of 17)</vt:lpstr>
      <vt:lpstr>Chapter 4 – techniques of circuit analysis (17 of 17)</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4 – Part 7</dc:title>
  <dc:subject>Engineering</dc:subject>
  <dc:creator>Nilsson and Riedel</dc:creator>
  <cp:keywords/>
  <dc:description/>
  <cp:lastModifiedBy>Kamil Erdayandi</cp:lastModifiedBy>
  <cp:revision>106</cp:revision>
  <dcterms:modified xsi:type="dcterms:W3CDTF">2025-10-31T22:29:14Z</dcterms:modified>
</cp:coreProperties>
</file>