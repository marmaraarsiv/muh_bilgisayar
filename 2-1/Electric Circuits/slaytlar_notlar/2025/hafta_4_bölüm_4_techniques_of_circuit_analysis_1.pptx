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31"/>
  </p:notesMasterIdLst>
  <p:handoutMasterIdLst>
    <p:handoutMasterId r:id="rId32"/>
  </p:handoutMasterIdLst>
  <p:sldIdLst>
    <p:sldId id="330" r:id="rId3"/>
    <p:sldId id="324" r:id="rId4"/>
    <p:sldId id="718" r:id="rId5"/>
    <p:sldId id="719" r:id="rId6"/>
    <p:sldId id="720" r:id="rId7"/>
    <p:sldId id="747" r:id="rId8"/>
    <p:sldId id="748" r:id="rId9"/>
    <p:sldId id="723" r:id="rId10"/>
    <p:sldId id="744" r:id="rId11"/>
    <p:sldId id="745" r:id="rId12"/>
    <p:sldId id="726" r:id="rId13"/>
    <p:sldId id="727" r:id="rId14"/>
    <p:sldId id="728" r:id="rId15"/>
    <p:sldId id="729" r:id="rId16"/>
    <p:sldId id="730" r:id="rId17"/>
    <p:sldId id="731" r:id="rId18"/>
    <p:sldId id="746" r:id="rId19"/>
    <p:sldId id="733" r:id="rId20"/>
    <p:sldId id="734" r:id="rId21"/>
    <p:sldId id="735" r:id="rId22"/>
    <p:sldId id="736" r:id="rId23"/>
    <p:sldId id="737" r:id="rId24"/>
    <p:sldId id="738" r:id="rId25"/>
    <p:sldId id="739" r:id="rId26"/>
    <p:sldId id="743" r:id="rId27"/>
    <p:sldId id="741" r:id="rId28"/>
    <p:sldId id="742" r:id="rId29"/>
    <p:sldId id="717" r:id="rId30"/>
  </p:sldIdLst>
  <p:sldSz cx="9144000" cy="6858000" type="screen4x3"/>
  <p:notesSz cx="6858000" cy="9144000"/>
  <p:embeddedFontLst>
    <p:embeddedFont>
      <p:font typeface="Verdana" panose="020B060403050404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7" userDrawn="1">
          <p15:clr>
            <a:srgbClr val="A4A3A4"/>
          </p15:clr>
        </p15:guide>
        <p15:guide id="3" orient="horz" pos="867"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69825" autoAdjust="0"/>
  </p:normalViewPr>
  <p:slideViewPr>
    <p:cSldViewPr snapToGrid="0" snapToObjects="1">
      <p:cViewPr varScale="1">
        <p:scale>
          <a:sx n="110" d="100"/>
          <a:sy n="110" d="100"/>
        </p:scale>
        <p:origin x="1800" y="96"/>
      </p:cViewPr>
      <p:guideLst>
        <p:guide orient="horz" pos="427"/>
        <p:guide pos="267"/>
        <p:guide orient="horz" pos="867"/>
        <p:guide pos="2880"/>
        <p:guide pos="5462"/>
        <p:guide orient="horz" pos="4042"/>
        <p:guide orient="horz" pos="2160"/>
      </p:guideLst>
    </p:cSldViewPr>
  </p:slideViewPr>
  <p:outlineViewPr>
    <p:cViewPr>
      <p:scale>
        <a:sx n="33" d="100"/>
        <a:sy n="33" d="100"/>
      </p:scale>
      <p:origin x="0" y="-11382"/>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font" Target="fonts/font2.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Forward arrow, Open Parenthesis 40 Close Parenthesis Open Square Bracket v Open Parenthesis StartFraction 1 over 5 End Fraction plus StartFraction 1 over 10 End Fraction plus StartFraction 1 over 40 End Fraction Close Parenthesis Close Square Bracket equals Open Parenthesis 40 Close Parenthesis Open Square Bracket 3 plus StartFraction 50 over 5 End Fraction Close Square Bracket.</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59767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 1:</a:t>
            </a:r>
          </a:p>
          <a:p>
            <a:r>
              <a:rPr lang="en-US" noProof="0" dirty="0"/>
              <a:t>At v subscript 1 BaseLine: negative 15 plus StartFraction v subscript 1 BaseLine over 60 End Fraction plus StartFraction v subscript 1 BaseLine over 15 End Fraction plus StartFraction v subscript 1 BaseLine minus v subscript 2 BaseLine over 5 End Fraction equals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2:</a:t>
            </a:r>
          </a:p>
          <a:p>
            <a:r>
              <a:rPr lang="en-US" sz="1800" b="0" i="0" u="none" strike="noStrike" dirty="0">
                <a:solidFill>
                  <a:srgbClr val="000000"/>
                </a:solidFill>
                <a:effectLst/>
                <a:latin typeface="Calibri" panose="020F0502020204030204" pitchFamily="34" charset="0"/>
              </a:rPr>
              <a:t>v subscript 1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Open Parenthesis 1 divided by 60 plus 1 divided by 15 plus 1 divided by 5 Close Parenthesis plus v subscript 2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Open Parenthesis negative 1 divided by 5 Close Parenthesis equals 15.</a:t>
            </a:r>
            <a:br>
              <a:rPr lang="en-US" sz="1800" b="0" i="0" u="none" strike="noStrike" dirty="0">
                <a:solidFill>
                  <a:srgbClr val="000000"/>
                </a:solidFill>
                <a:effectLst/>
                <a:latin typeface="Calibri" panose="020F0502020204030204" pitchFamily="34" charset="0"/>
              </a:rPr>
            </a:br>
            <a:r>
              <a:rPr lang="en-US" sz="1800" b="0" i="0" u="none" strike="noStrike" dirty="0">
                <a:solidFill>
                  <a:srgbClr val="000000"/>
                </a:solidFill>
                <a:effectLst/>
                <a:latin typeface="Calibri" panose="020F0502020204030204" pitchFamily="34" charset="0"/>
              </a:rPr>
              <a:t>v subscript 1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Open Parenthesis negative 1 divided by 5 Close Parenthesis plus v subscript 2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Open Parenthesis 1 by 5 plus 1 by 2 Close Parenthesis equals negative 5.</a:t>
            </a:r>
            <a:r>
              <a:rPr lang="en-US" dirty="0"/>
              <a:t> </a:t>
            </a:r>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26639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Open Parenthesis 50 Close Parenthesis Open Square Bracket v Open Parenthesis StartFraction 1 over 50 End Fraction plus StartFraction 1 over 5 End Fraction Close Parenthesis equals 2 plus StartFraction 45 over 5 End Fraction Close Square Bracket, forward arrow, v Open Parenthesis 1 plus 10 Close Parenthesis equals 100 plus 450, therefore.</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71625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01297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28</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10/13/2025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F2991D26-EF95-4868-8FCA-061AE7C1CFE4}"/>
              </a:ext>
            </a:extLst>
          </p:cNvPr>
          <p:cNvPicPr>
            <a:picLocks noChangeAspect="1"/>
          </p:cNvPicPr>
          <p:nvPr userDrawn="1"/>
        </p:nvPicPr>
        <p:blipFill>
          <a:blip r:embed="rId14"/>
          <a:stretch>
            <a:fillRect/>
          </a:stretch>
        </p:blipFill>
        <p:spPr>
          <a:xfrm>
            <a:off x="430085" y="6411214"/>
            <a:ext cx="986560" cy="310866"/>
          </a:xfrm>
          <a:prstGeom prst="rect">
            <a:avLst/>
          </a:prstGeom>
        </p:spPr>
      </p:pic>
      <p:sp>
        <p:nvSpPr>
          <p:cNvPr id="9" name="Content Placeholder 7">
            <a:extLst>
              <a:ext uri="{FF2B5EF4-FFF2-40B4-BE49-F238E27FC236}">
                <a16:creationId xmlns:a16="http://schemas.microsoft.com/office/drawing/2014/main" id="{086EDEDB-5258-47C6-A516-1E9C50ECF318}"/>
              </a:ext>
            </a:extLst>
          </p:cNvPr>
          <p:cNvSpPr txBox="1">
            <a:spLocks/>
          </p:cNvSpPr>
          <p:nvPr userDrawn="1"/>
        </p:nvSpPr>
        <p:spPr>
          <a:xfrm>
            <a:off x="2318995" y="6443305"/>
            <a:ext cx="6350894"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8.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2.wmf"/><Relationship Id="rId2" Type="http://schemas.openxmlformats.org/officeDocument/2006/relationships/image" Target="../media/image7.jpg"/><Relationship Id="rId16" Type="http://schemas.openxmlformats.org/officeDocument/2006/relationships/image" Target="../media/image14.wmf"/><Relationship Id="rId1" Type="http://schemas.openxmlformats.org/officeDocument/2006/relationships/slideLayout" Target="../slideLayouts/slideLayout8.xml"/><Relationship Id="rId6" Type="http://schemas.openxmlformats.org/officeDocument/2006/relationships/image" Target="../media/image9.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4.bin"/><Relationship Id="rId14" Type="http://schemas.openxmlformats.org/officeDocument/2006/relationships/image" Target="../media/image13.wmf"/></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5.jpg"/><Relationship Id="rId1" Type="http://schemas.openxmlformats.org/officeDocument/2006/relationships/slideLayout" Target="../slideLayouts/slideLayout8.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19.jpg"/><Relationship Id="rId1" Type="http://schemas.openxmlformats.org/officeDocument/2006/relationships/slideLayout" Target="../slideLayouts/slideLayout8.xml"/><Relationship Id="rId4" Type="http://schemas.openxmlformats.org/officeDocument/2006/relationships/image" Target="../media/image20.wmf"/></Relationships>
</file>

<file path=ppt/slides/_rels/slide13.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6.jpg"/><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5.wmf"/><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22.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image" Target="../media/image27.jpg"/><Relationship Id="rId1" Type="http://schemas.openxmlformats.org/officeDocument/2006/relationships/slideLayout" Target="../slideLayouts/slideLayout8.xml"/><Relationship Id="rId6" Type="http://schemas.openxmlformats.org/officeDocument/2006/relationships/image" Target="../media/image29.wmf"/><Relationship Id="rId5" Type="http://schemas.openxmlformats.org/officeDocument/2006/relationships/oleObject" Target="../embeddings/oleObject15.bin"/><Relationship Id="rId4" Type="http://schemas.openxmlformats.org/officeDocument/2006/relationships/image" Target="../media/image28.wmf"/></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1.jpg"/><Relationship Id="rId1" Type="http://schemas.openxmlformats.org/officeDocument/2006/relationships/slideLayout" Target="../slideLayouts/slideLayout8.xml"/><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oleObject" Target="../embeddings/oleObject19.bin"/><Relationship Id="rId18" Type="http://schemas.openxmlformats.org/officeDocument/2006/relationships/image" Target="../media/image37.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34.wmf"/><Relationship Id="rId17" Type="http://schemas.openxmlformats.org/officeDocument/2006/relationships/oleObject" Target="../embeddings/oleObject21.bin"/><Relationship Id="rId2" Type="http://schemas.openxmlformats.org/officeDocument/2006/relationships/image" Target="../media/image32.jpg"/><Relationship Id="rId16" Type="http://schemas.openxmlformats.org/officeDocument/2006/relationships/image" Target="../media/image36.wmf"/><Relationship Id="rId20" Type="http://schemas.openxmlformats.org/officeDocument/2006/relationships/image" Target="../media/image38.wmf"/><Relationship Id="rId1" Type="http://schemas.openxmlformats.org/officeDocument/2006/relationships/slideLayout" Target="../slideLayouts/slideLayout8.xml"/><Relationship Id="rId6" Type="http://schemas.openxmlformats.org/officeDocument/2006/relationships/image" Target="../media/image29.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33.wmf"/><Relationship Id="rId19" Type="http://schemas.openxmlformats.org/officeDocument/2006/relationships/oleObject" Target="../embeddings/oleObject22.bin"/><Relationship Id="rId4" Type="http://schemas.openxmlformats.org/officeDocument/2006/relationships/image" Target="../media/image28.wmf"/><Relationship Id="rId9" Type="http://schemas.openxmlformats.org/officeDocument/2006/relationships/oleObject" Target="../embeddings/oleObject17.bin"/><Relationship Id="rId14" Type="http://schemas.openxmlformats.org/officeDocument/2006/relationships/image" Target="../media/image35.wmf"/></Relationships>
</file>

<file path=ppt/slides/_rels/slide1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41.jpg"/><Relationship Id="rId7" Type="http://schemas.openxmlformats.org/officeDocument/2006/relationships/image" Target="../media/image43.wmf"/><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oleObject" Target="../embeddings/oleObject24.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44.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image" Target="../media/image46.jpg"/><Relationship Id="rId1" Type="http://schemas.openxmlformats.org/officeDocument/2006/relationships/slideLayout" Target="../slideLayouts/slideLayout8.xml"/><Relationship Id="rId4" Type="http://schemas.openxmlformats.org/officeDocument/2006/relationships/image" Target="../media/image47.wmf"/></Relationships>
</file>

<file path=ppt/slides/_rels/slide20.xml.rels><?xml version="1.0" encoding="UTF-8" standalone="yes"?>
<Relationships xmlns="http://schemas.openxmlformats.org/package/2006/relationships"><Relationship Id="rId8" Type="http://schemas.openxmlformats.org/officeDocument/2006/relationships/image" Target="../media/image51.jpg"/><Relationship Id="rId3" Type="http://schemas.openxmlformats.org/officeDocument/2006/relationships/image" Target="../media/image48.wmf"/><Relationship Id="rId7" Type="http://schemas.openxmlformats.org/officeDocument/2006/relationships/image" Target="../media/image50.wmf"/><Relationship Id="rId2" Type="http://schemas.openxmlformats.org/officeDocument/2006/relationships/oleObject" Target="../embeddings/oleObject28.bin"/><Relationship Id="rId1" Type="http://schemas.openxmlformats.org/officeDocument/2006/relationships/slideLayout" Target="../slideLayouts/slideLayout8.xml"/><Relationship Id="rId6" Type="http://schemas.openxmlformats.org/officeDocument/2006/relationships/oleObject" Target="../embeddings/oleObject30.bin"/><Relationship Id="rId5" Type="http://schemas.openxmlformats.org/officeDocument/2006/relationships/image" Target="../media/image49.wmf"/><Relationship Id="rId10" Type="http://schemas.openxmlformats.org/officeDocument/2006/relationships/image" Target="../media/image5.jpg"/><Relationship Id="rId4" Type="http://schemas.openxmlformats.org/officeDocument/2006/relationships/oleObject" Target="../embeddings/oleObject29.bin"/><Relationship Id="rId9" Type="http://schemas.openxmlformats.org/officeDocument/2006/relationships/image" Target="../media/image6.jpg"/></Relationships>
</file>

<file path=ppt/slides/_rels/slide2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48.wmf"/><Relationship Id="rId7" Type="http://schemas.openxmlformats.org/officeDocument/2006/relationships/image" Target="../media/image5.jpg"/><Relationship Id="rId2" Type="http://schemas.openxmlformats.org/officeDocument/2006/relationships/oleObject" Target="../embeddings/oleObject31.bin"/><Relationship Id="rId1" Type="http://schemas.openxmlformats.org/officeDocument/2006/relationships/slideLayout" Target="../slideLayouts/slideLayout8.xml"/><Relationship Id="rId6" Type="http://schemas.openxmlformats.org/officeDocument/2006/relationships/image" Target="../media/image52.jpg"/><Relationship Id="rId5" Type="http://schemas.openxmlformats.org/officeDocument/2006/relationships/image" Target="../media/image49.wmf"/><Relationship Id="rId4" Type="http://schemas.openxmlformats.org/officeDocument/2006/relationships/oleObject" Target="../embeddings/oleObject32.bin"/></Relationships>
</file>

<file path=ppt/slides/_rels/slide22.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38.bin"/><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58.wmf"/><Relationship Id="rId2" Type="http://schemas.openxmlformats.org/officeDocument/2006/relationships/image" Target="../media/image53.jpg"/><Relationship Id="rId16" Type="http://schemas.openxmlformats.org/officeDocument/2006/relationships/image" Target="../media/image60.wmf"/><Relationship Id="rId1" Type="http://schemas.openxmlformats.org/officeDocument/2006/relationships/slideLayout" Target="../slideLayouts/slideLayout8.xml"/><Relationship Id="rId6" Type="http://schemas.openxmlformats.org/officeDocument/2006/relationships/image" Target="../media/image55.wmf"/><Relationship Id="rId11" Type="http://schemas.openxmlformats.org/officeDocument/2006/relationships/oleObject" Target="../embeddings/oleObject37.bin"/><Relationship Id="rId5" Type="http://schemas.openxmlformats.org/officeDocument/2006/relationships/oleObject" Target="../embeddings/oleObject34.bin"/><Relationship Id="rId15" Type="http://schemas.openxmlformats.org/officeDocument/2006/relationships/oleObject" Target="../embeddings/oleObject39.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36.bin"/><Relationship Id="rId14" Type="http://schemas.openxmlformats.org/officeDocument/2006/relationships/image" Target="../media/image59.wmf"/></Relationships>
</file>

<file path=ppt/slides/_rels/slide23.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jp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image" Target="../media/image63.jpg"/><Relationship Id="rId7" Type="http://schemas.openxmlformats.org/officeDocument/2006/relationships/image" Target="../media/image65.wm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oleObject" Target="../embeddings/oleObject41.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66.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image" Target="../media/image68.jpg"/><Relationship Id="rId1" Type="http://schemas.openxmlformats.org/officeDocument/2006/relationships/slideLayout" Target="../slideLayouts/slideLayout8.xml"/><Relationship Id="rId4" Type="http://schemas.openxmlformats.org/officeDocument/2006/relationships/image" Target="../media/image69.wmf"/></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70.jpg"/><Relationship Id="rId1" Type="http://schemas.openxmlformats.org/officeDocument/2006/relationships/slideLayout" Target="../slideLayouts/slideLayout8.xml"/><Relationship Id="rId4" Type="http://schemas.openxmlformats.org/officeDocument/2006/relationships/image" Target="../media/image6.jpg"/></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76.wmf"/><Relationship Id="rId3" Type="http://schemas.openxmlformats.org/officeDocument/2006/relationships/image" Target="../media/image71.jpg"/><Relationship Id="rId7" Type="http://schemas.openxmlformats.org/officeDocument/2006/relationships/image" Target="../media/image73.wmf"/><Relationship Id="rId12" Type="http://schemas.openxmlformats.org/officeDocument/2006/relationships/oleObject" Target="../embeddings/oleObject49.bin"/><Relationship Id="rId17" Type="http://schemas.openxmlformats.org/officeDocument/2006/relationships/image" Target="../media/image78.wmf"/><Relationship Id="rId2" Type="http://schemas.openxmlformats.org/officeDocument/2006/relationships/notesSlide" Target="../notesSlides/notesSlide5.xml"/><Relationship Id="rId16" Type="http://schemas.openxmlformats.org/officeDocument/2006/relationships/oleObject" Target="../embeddings/oleObject51.bin"/><Relationship Id="rId1" Type="http://schemas.openxmlformats.org/officeDocument/2006/relationships/slideLayout" Target="../slideLayouts/slideLayout8.xml"/><Relationship Id="rId6" Type="http://schemas.openxmlformats.org/officeDocument/2006/relationships/oleObject" Target="../embeddings/oleObject46.bin"/><Relationship Id="rId11" Type="http://schemas.openxmlformats.org/officeDocument/2006/relationships/image" Target="../media/image75.wmf"/><Relationship Id="rId5" Type="http://schemas.openxmlformats.org/officeDocument/2006/relationships/image" Target="../media/image72.wmf"/><Relationship Id="rId15" Type="http://schemas.openxmlformats.org/officeDocument/2006/relationships/image" Target="../media/image77.wmf"/><Relationship Id="rId10" Type="http://schemas.openxmlformats.org/officeDocument/2006/relationships/oleObject" Target="../embeddings/oleObject48.bin"/><Relationship Id="rId4" Type="http://schemas.openxmlformats.org/officeDocument/2006/relationships/oleObject" Target="../embeddings/oleObject45.bin"/><Relationship Id="rId9" Type="http://schemas.openxmlformats.org/officeDocument/2006/relationships/image" Target="../media/image74.wmf"/><Relationship Id="rId14" Type="http://schemas.openxmlformats.org/officeDocument/2006/relationships/oleObject" Target="../embeddings/oleObject50.bin"/></Relationships>
</file>

<file path=ppt/slides/_rels/slide2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8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4CFC83D1-F4B7-4F0A-A884-6CECCC931CDE}"/>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4 – Part 1</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45534"/>
            <a:ext cx="3745070" cy="374906"/>
          </a:xfrm>
        </p:spPr>
        <p:txBody>
          <a:bodyPr wrap="square" lIns="0" tIns="18000" rIns="0" bIns="18000" anchor="ctr">
            <a:spAutoFit/>
          </a:bodyPr>
          <a:lstStyle/>
          <a:p>
            <a:pPr marL="0"/>
            <a:r>
              <a:rPr lang="en-US" noProof="0" dirty="0">
                <a:solidFill>
                  <a:schemeClr val="tx1"/>
                </a:solidFill>
              </a:rPr>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11214"/>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318995" y="6443304"/>
            <a:ext cx="6350894" cy="221018"/>
          </a:xfrm>
        </p:spPr>
        <p:txBody>
          <a:bodyPr wrap="square" lIns="0" tIns="18000" rIns="0" bIns="18000" anchor="ctr">
            <a:spAutoFit/>
          </a:bodyPr>
          <a:lstStyle/>
          <a:p>
            <a:r>
              <a:rPr lang="en-US"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430305" y="211101"/>
            <a:ext cx="8240620" cy="1144347"/>
          </a:xfrm>
        </p:spPr>
        <p:txBody>
          <a:bodyPr wrap="square" lIns="0" tIns="18000" rIns="0" bIns="18000" anchor="ctr" anchorCtr="0">
            <a:spAutoFit/>
          </a:bodyPr>
          <a:lstStyle/>
          <a:p>
            <a:r>
              <a:rPr lang="en-US" sz="3600" noProof="0" dirty="0">
                <a:latin typeface="+mj-lt"/>
              </a:rPr>
              <a:t>Chapter 4 – techniques of circuit analysis </a:t>
            </a:r>
            <a:r>
              <a:rPr lang="en-US" sz="2800" noProof="0" dirty="0">
                <a:latin typeface="+mj-lt"/>
              </a:rPr>
              <a:t>(1 of 26)</a:t>
            </a:r>
            <a:endParaRPr lang="en-US"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430305" y="1479948"/>
            <a:ext cx="8240620" cy="3883559"/>
          </a:xfrm>
        </p:spPr>
        <p:txBody>
          <a:bodyPr wrap="square" lIns="0" tIns="18000" rIns="0" bIns="18000" anchor="ctr" anchorCtr="0">
            <a:spAutoFit/>
          </a:bodyPr>
          <a:lstStyle/>
          <a:p>
            <a:pPr marL="584200" indent="-584200">
              <a:spcBef>
                <a:spcPts val="600"/>
              </a:spcBef>
              <a:buNone/>
            </a:pPr>
            <a:r>
              <a:rPr lang="en-US" altLang="en-US" sz="2200" noProof="0" dirty="0"/>
              <a:t>Objectives:</a:t>
            </a:r>
          </a:p>
          <a:p>
            <a:pPr marL="584200" indent="-584200">
              <a:spcBef>
                <a:spcPts val="600"/>
              </a:spcBef>
              <a:buNone/>
            </a:pPr>
            <a:r>
              <a:rPr lang="en-US" altLang="en-US" sz="2200" b="1" noProof="0" dirty="0">
                <a:solidFill>
                  <a:srgbClr val="007FA3"/>
                </a:solidFill>
              </a:rPr>
              <a:t>4.1	</a:t>
            </a:r>
            <a:r>
              <a:rPr lang="en-US" altLang="en-US" sz="2200" noProof="0" dirty="0"/>
              <a:t>Know how to use the </a:t>
            </a:r>
            <a:r>
              <a:rPr lang="en-US" altLang="en-US" sz="2200" b="1" noProof="0" dirty="0"/>
              <a:t>node voltage </a:t>
            </a:r>
            <a:r>
              <a:rPr lang="en-US" altLang="en-US" sz="2200" noProof="0" dirty="0"/>
              <a:t>method to solve a circuit</a:t>
            </a:r>
          </a:p>
          <a:p>
            <a:pPr marL="584200" indent="-584200">
              <a:spcBef>
                <a:spcPts val="600"/>
              </a:spcBef>
              <a:buNone/>
            </a:pPr>
            <a:r>
              <a:rPr lang="en-US" altLang="en-US" sz="2200" b="1" noProof="0" dirty="0">
                <a:solidFill>
                  <a:srgbClr val="007FA3"/>
                </a:solidFill>
              </a:rPr>
              <a:t>4.2	</a:t>
            </a:r>
            <a:r>
              <a:rPr lang="en-US" altLang="en-US" sz="2200" noProof="0" dirty="0"/>
              <a:t>Know how to use the </a:t>
            </a:r>
            <a:r>
              <a:rPr lang="en-US" altLang="en-US" sz="2200" b="1" noProof="0" dirty="0"/>
              <a:t>mesh current method </a:t>
            </a:r>
            <a:r>
              <a:rPr lang="en-US" altLang="en-US" sz="2200" noProof="0" dirty="0"/>
              <a:t>to solve a circuit</a:t>
            </a:r>
          </a:p>
          <a:p>
            <a:pPr marL="584200" indent="-584200">
              <a:spcBef>
                <a:spcPts val="600"/>
              </a:spcBef>
              <a:buNone/>
            </a:pPr>
            <a:r>
              <a:rPr lang="en-US" altLang="en-US" sz="2200" b="1" noProof="0" dirty="0">
                <a:solidFill>
                  <a:srgbClr val="007FA3"/>
                </a:solidFill>
              </a:rPr>
              <a:t>4.3	</a:t>
            </a:r>
            <a:r>
              <a:rPr lang="en-US" altLang="en-US" sz="2200" noProof="0" dirty="0"/>
              <a:t>Be able to choose the appropriate circuit analysis method to use for a particular circuit</a:t>
            </a:r>
          </a:p>
          <a:p>
            <a:pPr marL="584200" indent="-584200">
              <a:spcBef>
                <a:spcPts val="600"/>
              </a:spcBef>
              <a:buNone/>
            </a:pPr>
            <a:r>
              <a:rPr lang="en-US" altLang="en-US" sz="2200" b="1" noProof="0" dirty="0">
                <a:solidFill>
                  <a:srgbClr val="007FA3"/>
                </a:solidFill>
              </a:rPr>
              <a:t>4.4	</a:t>
            </a:r>
            <a:r>
              <a:rPr lang="en-US" altLang="en-US" sz="2200" noProof="0" dirty="0"/>
              <a:t>Know how to use source transformation to simplify a circuit</a:t>
            </a:r>
          </a:p>
          <a:p>
            <a:pPr marL="584200" indent="-584200">
              <a:spcBef>
                <a:spcPts val="600"/>
              </a:spcBef>
              <a:buNone/>
            </a:pPr>
            <a:r>
              <a:rPr lang="en-US" altLang="en-US" sz="2200" b="1" noProof="0" dirty="0">
                <a:solidFill>
                  <a:srgbClr val="007FA3"/>
                </a:solidFill>
              </a:rPr>
              <a:t>4.5	</a:t>
            </a:r>
            <a:r>
              <a:rPr lang="en-US" altLang="en-US" sz="2200" noProof="0" dirty="0"/>
              <a:t>Be able to calculate the Thevenin and Norton equivalents for a circuit</a:t>
            </a:r>
          </a:p>
          <a:p>
            <a:pPr marL="584200" indent="-584200">
              <a:spcBef>
                <a:spcPts val="600"/>
              </a:spcBef>
              <a:buNone/>
            </a:pPr>
            <a:r>
              <a:rPr lang="en-US" altLang="en-US" sz="2200" b="1" noProof="0" dirty="0">
                <a:solidFill>
                  <a:srgbClr val="007FA3"/>
                </a:solidFill>
              </a:rPr>
              <a:t>4.6	</a:t>
            </a:r>
            <a:r>
              <a:rPr lang="en-US" altLang="en-US" sz="2200" noProof="0" dirty="0"/>
              <a:t>Understand and be able to use the condition for maximum power transfer to a load</a:t>
            </a:r>
            <a:endParaRPr lang="en-US" sz="2200" noProof="0" dirty="0"/>
          </a:p>
        </p:txBody>
      </p:sp>
    </p:spTree>
    <p:extLst>
      <p:ext uri="{BB962C8B-B14F-4D97-AF65-F5344CB8AC3E}">
        <p14:creationId xmlns:p14="http://schemas.microsoft.com/office/powerpoint/2010/main" val="104531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430305" y="211101"/>
            <a:ext cx="8240620" cy="1144347"/>
          </a:xfrm>
        </p:spPr>
        <p:txBody>
          <a:bodyPr wrap="square" lIns="0" tIns="18000" rIns="0" bIns="18000" anchor="ctr" anchorCtr="0">
            <a:spAutoFit/>
          </a:bodyPr>
          <a:lstStyle/>
          <a:p>
            <a:r>
              <a:rPr lang="en-US" sz="3600" noProof="0" dirty="0">
                <a:latin typeface="+mj-lt"/>
              </a:rPr>
              <a:t>Chapter 4 – techniques of circuit analysis </a:t>
            </a:r>
            <a:r>
              <a:rPr lang="en-US" sz="2800" noProof="0" dirty="0">
                <a:latin typeface="+mj-lt"/>
              </a:rPr>
              <a:t>(2 of 26)</a:t>
            </a:r>
            <a:endParaRPr lang="en-US"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430305" y="1483974"/>
            <a:ext cx="8240620" cy="3668115"/>
          </a:xfrm>
        </p:spPr>
        <p:txBody>
          <a:bodyPr wrap="square" lIns="0" tIns="18000" rIns="0" bIns="18000" anchor="ctr" anchorCtr="0">
            <a:spAutoFit/>
          </a:bodyPr>
          <a:lstStyle/>
          <a:p>
            <a:pPr marL="0" indent="0">
              <a:spcBef>
                <a:spcPts val="600"/>
              </a:spcBef>
              <a:buNone/>
            </a:pPr>
            <a:r>
              <a:rPr lang="en-US" altLang="en-US" sz="2400" noProof="0" dirty="0"/>
              <a:t>Terminology:</a:t>
            </a:r>
          </a:p>
          <a:p>
            <a:pPr marL="342900" indent="-342900">
              <a:spcBef>
                <a:spcPts val="600"/>
              </a:spcBef>
            </a:pPr>
            <a:r>
              <a:rPr lang="en-US" altLang="en-US" sz="2400" noProof="0" dirty="0"/>
              <a:t>Node – a point where two or more circuit elements are joined</a:t>
            </a:r>
          </a:p>
          <a:p>
            <a:pPr marL="342900" indent="-342900">
              <a:spcBef>
                <a:spcPts val="600"/>
              </a:spcBef>
            </a:pPr>
            <a:r>
              <a:rPr lang="en-US" altLang="en-US" sz="2400" noProof="0" dirty="0"/>
              <a:t>Essential node – a point where three or more circuit elements are joined</a:t>
            </a:r>
          </a:p>
          <a:p>
            <a:pPr marL="342900" indent="-342900">
              <a:spcBef>
                <a:spcPts val="600"/>
              </a:spcBef>
            </a:pPr>
            <a:r>
              <a:rPr lang="en-US" altLang="en-US" sz="2400" noProof="0" dirty="0"/>
              <a:t>Loop – a path whose ending node is the same as its starting node, and does not contain any intermediate nodes more than once</a:t>
            </a:r>
          </a:p>
          <a:p>
            <a:pPr marL="342900" indent="-342900">
              <a:spcBef>
                <a:spcPts val="600"/>
              </a:spcBef>
            </a:pPr>
            <a:r>
              <a:rPr lang="en-US" altLang="en-US" sz="2400" noProof="0" dirty="0"/>
              <a:t>Mesh – a loop that does not contain any other loops</a:t>
            </a:r>
          </a:p>
        </p:txBody>
      </p:sp>
    </p:spTree>
    <p:extLst>
      <p:ext uri="{BB962C8B-B14F-4D97-AF65-F5344CB8AC3E}">
        <p14:creationId xmlns:p14="http://schemas.microsoft.com/office/powerpoint/2010/main" val="2929934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430305" y="211101"/>
            <a:ext cx="8240620" cy="1144347"/>
          </a:xfrm>
        </p:spPr>
        <p:txBody>
          <a:bodyPr wrap="square" lIns="0" tIns="18000" rIns="0" bIns="18000" anchor="ctr" anchorCtr="0">
            <a:spAutoFit/>
          </a:bodyPr>
          <a:lstStyle/>
          <a:p>
            <a:r>
              <a:rPr lang="en-US" sz="3600" noProof="0" dirty="0">
                <a:latin typeface="+mj-lt"/>
              </a:rPr>
              <a:t>Chapter 4 – techniques of circuit analysis </a:t>
            </a:r>
            <a:r>
              <a:rPr lang="en-US" sz="2800" noProof="0" dirty="0">
                <a:latin typeface="+mj-lt"/>
              </a:rPr>
              <a:t>(3 of 26)</a:t>
            </a:r>
            <a:endParaRPr lang="en-US"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430305" y="1493778"/>
            <a:ext cx="8240620" cy="405683"/>
          </a:xfrm>
        </p:spPr>
        <p:txBody>
          <a:bodyPr wrap="square" lIns="0" tIns="18000" rIns="0" bIns="18000" anchor="ctr" anchorCtr="0">
            <a:spAutoFit/>
          </a:bodyPr>
          <a:lstStyle/>
          <a:p>
            <a:pPr marL="0" indent="0">
              <a:spcBef>
                <a:spcPts val="600"/>
              </a:spcBef>
              <a:buNone/>
            </a:pPr>
            <a:r>
              <a:rPr lang="en-US" altLang="en-US" sz="2400" noProof="0" dirty="0"/>
              <a:t>Identify all of the nodes in this circuit.</a:t>
            </a:r>
          </a:p>
        </p:txBody>
      </p:sp>
      <p:pic>
        <p:nvPicPr>
          <p:cNvPr id="3" name="Picture 2" descr="A rectangular circuit has an 18V independent voltage source on the left wire and a 5 mA independent current source on the right wire. Three nodes are present on the topmost wire and there are 4 nodes present in the wire just below the most wire. Out of 4 nodes, 3 nodes are connected to the nodes that are present on the topmost wire using vertical cross wires. A resistor named R sub 1 is placed across the topmost wire. A resistor named R sub 2 and a voltage-controlled current source labeled 2 v sub delta are placed on the topmost wire. Resistors R sub 3, R sub 4, and R sub 5 is placed on the wire that is right below the topmost wire of the circuit. A Resistor R sub 6, A current controlled voltage source labeled 25 i sub delta, and a resistor R sub 7 are placed between the bottom wire and the second wire of the circuit. Three nodes are present on the bottom wire of the circuit. A current labeled i sub delta is shown above the R sub 2. The voltage across the resistor R sub 6 is labeled v sub delta with the positive terminal at the upper and negative terminal at the lower side.">
            <a:extLst>
              <a:ext uri="{FF2B5EF4-FFF2-40B4-BE49-F238E27FC236}">
                <a16:creationId xmlns:a16="http://schemas.microsoft.com/office/drawing/2014/main" id="{158FC1D4-63E3-D556-42AE-D3E178EF995A}"/>
              </a:ext>
            </a:extLst>
          </p:cNvPr>
          <p:cNvPicPr>
            <a:picLocks noChangeAspect="1"/>
          </p:cNvPicPr>
          <p:nvPr/>
        </p:nvPicPr>
        <p:blipFill>
          <a:blip r:embed="rId2"/>
          <a:stretch>
            <a:fillRect/>
          </a:stretch>
        </p:blipFill>
        <p:spPr>
          <a:xfrm>
            <a:off x="1104812" y="2295180"/>
            <a:ext cx="6953229" cy="3248025"/>
          </a:xfrm>
          <a:prstGeom prst="rect">
            <a:avLst/>
          </a:prstGeom>
        </p:spPr>
      </p:pic>
    </p:spTree>
    <p:extLst>
      <p:ext uri="{BB962C8B-B14F-4D97-AF65-F5344CB8AC3E}">
        <p14:creationId xmlns:p14="http://schemas.microsoft.com/office/powerpoint/2010/main" val="865832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(4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84908"/>
            <a:ext cx="8238243" cy="405683"/>
          </a:xfrm>
        </p:spPr>
        <p:txBody>
          <a:bodyPr wrap="square" lIns="0" tIns="18000" rIns="0" bIns="18000" anchor="ctr" anchorCtr="0">
            <a:spAutoFit/>
          </a:bodyPr>
          <a:lstStyle/>
          <a:p>
            <a:pPr marL="0" indent="0">
              <a:buNone/>
            </a:pPr>
            <a:r>
              <a:rPr lang="en-US" sz="2400" noProof="0" dirty="0"/>
              <a:t>How many essential nodes does this circuit have?</a:t>
            </a:r>
          </a:p>
        </p:txBody>
      </p:sp>
      <p:pic>
        <p:nvPicPr>
          <p:cNvPr id="22" name="Picture 21" descr="A rectangular circuit has an 18V independent voltage source on the left wire and a 5 mA independent current source on the right wire. Three nodes are present on the topmost wire and there are 4 nodes present in the wire just below the most wire. Out of 4 nodes, 3 nodes are connected to the nodes that are present on the topmost wire using vertical cross wires. A resistor named R subscript 1 is placed across the topmost wire. A resistor named R subscript 2 and a voltage-controlled current source labeled 2 v sub delta baseline are placed on the topmost wire. Resistors R subscript 3, R subscript 4, and R subscript 5 are placed on the wire that is right below the topmost wire of the circuit. A Resistor R subscript 6, A current controlled voltage source labeled 25 i sub delta, and a resistor R subscript 7 are placed between the bottom wire and the second wire of the circuit. Three nodes are present on the bottom wire of the circuit. A current labeled i sub delta is shown above the R sub 2. The voltage across the resistor R sub 6 is labeled v sub delta with the positive terminal at the upper and negative terminal at the lower side.">
            <a:extLst>
              <a:ext uri="{FF2B5EF4-FFF2-40B4-BE49-F238E27FC236}">
                <a16:creationId xmlns:a16="http://schemas.microsoft.com/office/drawing/2014/main" id="{FCD580E2-F283-5440-97F6-F1FD1083077B}"/>
              </a:ext>
            </a:extLst>
          </p:cNvPr>
          <p:cNvPicPr>
            <a:picLocks noChangeAspect="1"/>
          </p:cNvPicPr>
          <p:nvPr/>
        </p:nvPicPr>
        <p:blipFill>
          <a:blip r:embed="rId2"/>
          <a:stretch>
            <a:fillRect/>
          </a:stretch>
        </p:blipFill>
        <p:spPr>
          <a:xfrm>
            <a:off x="2315811" y="1997941"/>
            <a:ext cx="4512377" cy="2032562"/>
          </a:xfrm>
          <a:prstGeom prst="rect">
            <a:avLst/>
          </a:prstGeom>
        </p:spPr>
      </p:pic>
      <p:pic>
        <p:nvPicPr>
          <p:cNvPr id="24" name="Picture 23" descr="Cross mark">
            <a:extLst>
              <a:ext uri="{FF2B5EF4-FFF2-40B4-BE49-F238E27FC236}">
                <a16:creationId xmlns:a16="http://schemas.microsoft.com/office/drawing/2014/main" id="{50E0EE58-5F77-C8C2-DF16-25BD202FFCF5}"/>
              </a:ext>
            </a:extLst>
          </p:cNvPr>
          <p:cNvPicPr>
            <a:picLocks noChangeAspect="1"/>
          </p:cNvPicPr>
          <p:nvPr/>
        </p:nvPicPr>
        <p:blipFill>
          <a:blip r:embed="rId3"/>
          <a:stretch>
            <a:fillRect/>
          </a:stretch>
        </p:blipFill>
        <p:spPr>
          <a:xfrm>
            <a:off x="1017308" y="4185526"/>
            <a:ext cx="284384" cy="284384"/>
          </a:xfrm>
          <a:prstGeom prst="rect">
            <a:avLst/>
          </a:prstGeom>
        </p:spPr>
      </p:pic>
      <p:sp>
        <p:nvSpPr>
          <p:cNvPr id="4" name="Content Placeholder 3">
            <a:extLst>
              <a:ext uri="{FF2B5EF4-FFF2-40B4-BE49-F238E27FC236}">
                <a16:creationId xmlns:a16="http://schemas.microsoft.com/office/drawing/2014/main" id="{EC65537D-5621-6F30-D48A-2E9F4E1BC581}"/>
              </a:ext>
            </a:extLst>
          </p:cNvPr>
          <p:cNvSpPr>
            <a:spLocks noGrp="1"/>
          </p:cNvSpPr>
          <p:nvPr>
            <p:ph sz="quarter" idx="13"/>
          </p:nvPr>
        </p:nvSpPr>
        <p:spPr>
          <a:xfrm>
            <a:off x="1487345" y="4115450"/>
            <a:ext cx="542458"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4</a:t>
            </a:r>
          </a:p>
        </p:txBody>
      </p:sp>
      <p:pic>
        <p:nvPicPr>
          <p:cNvPr id="26" name="Picture 25" descr="Check mark">
            <a:extLst>
              <a:ext uri="{FF2B5EF4-FFF2-40B4-BE49-F238E27FC236}">
                <a16:creationId xmlns:a16="http://schemas.microsoft.com/office/drawing/2014/main" id="{C8CFCF7B-A8E5-CE4A-A795-551D0A2C1D8A}"/>
              </a:ext>
            </a:extLst>
          </p:cNvPr>
          <p:cNvPicPr>
            <a:picLocks noChangeAspect="1"/>
          </p:cNvPicPr>
          <p:nvPr/>
        </p:nvPicPr>
        <p:blipFill>
          <a:blip r:embed="rId4"/>
          <a:stretch>
            <a:fillRect/>
          </a:stretch>
        </p:blipFill>
        <p:spPr>
          <a:xfrm>
            <a:off x="998297" y="4675568"/>
            <a:ext cx="312822" cy="312822"/>
          </a:xfrm>
          <a:prstGeom prst="rect">
            <a:avLst/>
          </a:prstGeom>
        </p:spPr>
      </p:pic>
      <p:sp>
        <p:nvSpPr>
          <p:cNvPr id="5" name="Content Placeholder 4">
            <a:extLst>
              <a:ext uri="{FF2B5EF4-FFF2-40B4-BE49-F238E27FC236}">
                <a16:creationId xmlns:a16="http://schemas.microsoft.com/office/drawing/2014/main" id="{47ECDF9E-9E5B-8608-384F-3C1EB6EE5310}"/>
              </a:ext>
            </a:extLst>
          </p:cNvPr>
          <p:cNvSpPr>
            <a:spLocks noGrp="1"/>
          </p:cNvSpPr>
          <p:nvPr>
            <p:ph sz="quarter" idx="14"/>
          </p:nvPr>
        </p:nvSpPr>
        <p:spPr>
          <a:xfrm>
            <a:off x="1487345" y="4629138"/>
            <a:ext cx="542458" cy="405683"/>
          </a:xfrm>
        </p:spPr>
        <p:txBody>
          <a:bodyPr lIns="0" tIns="18000" rIns="0" bIns="18000" anchor="ctr" anchorCtr="0">
            <a:spAutoFit/>
          </a:bodyPr>
          <a:lstStyle/>
          <a:p>
            <a:pPr marL="0" indent="0">
              <a:buNone/>
            </a:pPr>
            <a:r>
              <a:rPr lang="en-US" sz="2400" noProof="0" dirty="0">
                <a:solidFill>
                  <a:schemeClr val="tx2"/>
                </a:solidFill>
              </a:rPr>
              <a:t>B.</a:t>
            </a:r>
            <a:r>
              <a:rPr lang="en-US" sz="2400" noProof="0" dirty="0"/>
              <a:t> 5</a:t>
            </a:r>
          </a:p>
        </p:txBody>
      </p:sp>
      <p:pic>
        <p:nvPicPr>
          <p:cNvPr id="27" name="Picture 26" descr="Cross mark">
            <a:extLst>
              <a:ext uri="{FF2B5EF4-FFF2-40B4-BE49-F238E27FC236}">
                <a16:creationId xmlns:a16="http://schemas.microsoft.com/office/drawing/2014/main" id="{20269D49-DE8F-957C-ADBD-B8CC9B2F8580}"/>
              </a:ext>
            </a:extLst>
          </p:cNvPr>
          <p:cNvPicPr>
            <a:picLocks noChangeAspect="1"/>
          </p:cNvPicPr>
          <p:nvPr/>
        </p:nvPicPr>
        <p:blipFill>
          <a:blip r:embed="rId3"/>
          <a:stretch>
            <a:fillRect/>
          </a:stretch>
        </p:blipFill>
        <p:spPr>
          <a:xfrm>
            <a:off x="1012516" y="5194048"/>
            <a:ext cx="284384" cy="284384"/>
          </a:xfrm>
          <a:prstGeom prst="rect">
            <a:avLst/>
          </a:prstGeom>
        </p:spPr>
      </p:pic>
      <p:sp>
        <p:nvSpPr>
          <p:cNvPr id="6" name="Content Placeholder 5">
            <a:extLst>
              <a:ext uri="{FF2B5EF4-FFF2-40B4-BE49-F238E27FC236}">
                <a16:creationId xmlns:a16="http://schemas.microsoft.com/office/drawing/2014/main" id="{C98518E8-8ABD-30A4-4B21-CD2FF6F6265F}"/>
              </a:ext>
            </a:extLst>
          </p:cNvPr>
          <p:cNvSpPr>
            <a:spLocks noGrp="1"/>
          </p:cNvSpPr>
          <p:nvPr>
            <p:ph sz="quarter" idx="15"/>
          </p:nvPr>
        </p:nvSpPr>
        <p:spPr>
          <a:xfrm>
            <a:off x="1487345" y="5142826"/>
            <a:ext cx="558896" cy="405683"/>
          </a:xfrm>
        </p:spPr>
        <p:txBody>
          <a:bodyPr lIns="0" tIns="18000" rIns="0" bIns="18000" anchor="ctr" anchorCtr="0">
            <a:spAutoFit/>
          </a:bodyPr>
          <a:lstStyle/>
          <a:p>
            <a:pPr marL="0" indent="0">
              <a:buNone/>
            </a:pPr>
            <a:r>
              <a:rPr lang="en-US" sz="2400" noProof="0" dirty="0">
                <a:solidFill>
                  <a:schemeClr val="tx2"/>
                </a:solidFill>
              </a:rPr>
              <a:t>C.</a:t>
            </a:r>
            <a:r>
              <a:rPr lang="en-US" sz="2400" noProof="0" dirty="0"/>
              <a:t> 7</a:t>
            </a:r>
          </a:p>
        </p:txBody>
      </p:sp>
      <p:pic>
        <p:nvPicPr>
          <p:cNvPr id="28" name="Picture 27" descr="Cross mark">
            <a:extLst>
              <a:ext uri="{FF2B5EF4-FFF2-40B4-BE49-F238E27FC236}">
                <a16:creationId xmlns:a16="http://schemas.microsoft.com/office/drawing/2014/main" id="{BC91B156-4E04-2869-F333-FD0400728B9C}"/>
              </a:ext>
            </a:extLst>
          </p:cNvPr>
          <p:cNvPicPr>
            <a:picLocks noChangeAspect="1"/>
          </p:cNvPicPr>
          <p:nvPr/>
        </p:nvPicPr>
        <p:blipFill>
          <a:blip r:embed="rId3"/>
          <a:stretch>
            <a:fillRect/>
          </a:stretch>
        </p:blipFill>
        <p:spPr>
          <a:xfrm>
            <a:off x="1007091" y="5717163"/>
            <a:ext cx="284384" cy="284384"/>
          </a:xfrm>
          <a:prstGeom prst="rect">
            <a:avLst/>
          </a:prstGeom>
        </p:spPr>
      </p:pic>
      <p:sp>
        <p:nvSpPr>
          <p:cNvPr id="7" name="Content Placeholder 6">
            <a:extLst>
              <a:ext uri="{FF2B5EF4-FFF2-40B4-BE49-F238E27FC236}">
                <a16:creationId xmlns:a16="http://schemas.microsoft.com/office/drawing/2014/main" id="{2D52EB4B-AC78-1C50-DAC3-6D5D80C0D687}"/>
              </a:ext>
            </a:extLst>
          </p:cNvPr>
          <p:cNvSpPr>
            <a:spLocks noGrp="1"/>
          </p:cNvSpPr>
          <p:nvPr>
            <p:ph sz="quarter" idx="16"/>
          </p:nvPr>
        </p:nvSpPr>
        <p:spPr>
          <a:xfrm>
            <a:off x="1487345" y="5656514"/>
            <a:ext cx="729232" cy="405683"/>
          </a:xfrm>
        </p:spPr>
        <p:txBody>
          <a:bodyPr lIns="0" tIns="18000" rIns="0" bIns="18000" anchor="ctr" anchorCtr="0">
            <a:spAutoFit/>
          </a:bodyPr>
          <a:lstStyle/>
          <a:p>
            <a:pPr marL="0" indent="0">
              <a:buNone/>
            </a:pPr>
            <a:r>
              <a:rPr lang="en-US" sz="2400" noProof="0" dirty="0">
                <a:solidFill>
                  <a:schemeClr val="tx2"/>
                </a:solidFill>
              </a:rPr>
              <a:t>D.</a:t>
            </a:r>
            <a:r>
              <a:rPr lang="en-US" sz="2400" noProof="0" dirty="0"/>
              <a:t> 10</a:t>
            </a:r>
          </a:p>
        </p:txBody>
      </p:sp>
    </p:spTree>
    <p:extLst>
      <p:ext uri="{BB962C8B-B14F-4D97-AF65-F5344CB8AC3E}">
        <p14:creationId xmlns:p14="http://schemas.microsoft.com/office/powerpoint/2010/main" val="91778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B218-8474-4DC5-66B7-1F8620C76F25}"/>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(5 of 26)</a:t>
            </a:r>
            <a:endParaRPr lang="en-US" noProof="0" dirty="0"/>
          </a:p>
        </p:txBody>
      </p:sp>
      <p:sp>
        <p:nvSpPr>
          <p:cNvPr id="3" name="Content Placeholder 2">
            <a:extLst>
              <a:ext uri="{FF2B5EF4-FFF2-40B4-BE49-F238E27FC236}">
                <a16:creationId xmlns:a16="http://schemas.microsoft.com/office/drawing/2014/main" id="{0C6353ED-1BC5-A856-50D8-B49EEFD785CE}"/>
              </a:ext>
            </a:extLst>
          </p:cNvPr>
          <p:cNvSpPr>
            <a:spLocks noGrp="1"/>
          </p:cNvSpPr>
          <p:nvPr>
            <p:ph sz="quarter" idx="12"/>
          </p:nvPr>
        </p:nvSpPr>
        <p:spPr>
          <a:xfrm>
            <a:off x="432682" y="1500295"/>
            <a:ext cx="8238243" cy="374906"/>
          </a:xfrm>
        </p:spPr>
        <p:txBody>
          <a:bodyPr wrap="square" lIns="0" tIns="18000" rIns="0" bIns="18000" anchor="ctr" anchorCtr="0">
            <a:spAutoFit/>
          </a:bodyPr>
          <a:lstStyle/>
          <a:p>
            <a:pPr marL="0" indent="0">
              <a:buNone/>
            </a:pPr>
            <a:r>
              <a:rPr lang="en-US" altLang="en-US" sz="2200" noProof="0" dirty="0"/>
              <a:t>Identify all of the loops in this circuit.</a:t>
            </a:r>
            <a:endParaRPr lang="en-US" sz="2200" i="1" noProof="0" dirty="0"/>
          </a:p>
        </p:txBody>
      </p:sp>
      <p:pic>
        <p:nvPicPr>
          <p:cNvPr id="8" name="Picture 7" descr="A rectangular circuit has an 18V independent voltage source on the left wire and a 5 mA independent current source on the right wire. Three nodes are present on the topmost wire and there are 4 nodes present in the wire just below the most wire. Out of 4 nodes, 3 nodes are connected to the nodes that are present on the topmost wire using vertical cross wires. A resistor named R subscript 1 is placed across the topmost wire. A resistor named R subscript 2 and a voltage-controlled current source labeled 2 v sub delta baseline are placed on the topmost wire. Resistors R subscript 3, R subscript 4, and R subscript 5 are placed on the wire that is right below the topmost wire of the circuit. A Resistor R subscript 6, A current controlled voltage source labeled 25 i sub delta, and a resistor R subscript 7 are placed between the bottom wire and the second wire of the circuit. Three nodes are present on the bottom wire of the circuit. A current labeled i sub delta is shown above the R sub 2. The voltage across the resistor R sub 6 is labeled v sub delta with the positive terminal at the upper and negative terminal at the lower side.">
            <a:extLst>
              <a:ext uri="{FF2B5EF4-FFF2-40B4-BE49-F238E27FC236}">
                <a16:creationId xmlns:a16="http://schemas.microsoft.com/office/drawing/2014/main" id="{B2EFD337-10EC-1256-CABC-D96B52A039A9}"/>
              </a:ext>
            </a:extLst>
          </p:cNvPr>
          <p:cNvPicPr>
            <a:picLocks noChangeAspect="1"/>
          </p:cNvPicPr>
          <p:nvPr/>
        </p:nvPicPr>
        <p:blipFill>
          <a:blip r:embed="rId2"/>
          <a:srcRect/>
          <a:stretch/>
        </p:blipFill>
        <p:spPr>
          <a:xfrm>
            <a:off x="2315811" y="1997941"/>
            <a:ext cx="4512376" cy="2032562"/>
          </a:xfrm>
          <a:prstGeom prst="rect">
            <a:avLst/>
          </a:prstGeom>
        </p:spPr>
      </p:pic>
      <p:graphicFrame>
        <p:nvGraphicFramePr>
          <p:cNvPr id="21" name="Object 20" descr="R subscript 1,">
            <a:extLst>
              <a:ext uri="{FF2B5EF4-FFF2-40B4-BE49-F238E27FC236}">
                <a16:creationId xmlns:a16="http://schemas.microsoft.com/office/drawing/2014/main" id="{0037909E-B373-38E5-6FE1-147F9D9BDEE8}"/>
              </a:ext>
            </a:extLst>
          </p:cNvPr>
          <p:cNvGraphicFramePr>
            <a:graphicFrameLocks noChangeAspect="1"/>
          </p:cNvGraphicFramePr>
          <p:nvPr/>
        </p:nvGraphicFramePr>
        <p:xfrm>
          <a:off x="423863" y="4159689"/>
          <a:ext cx="423503" cy="418996"/>
        </p:xfrm>
        <a:graphic>
          <a:graphicData uri="http://schemas.openxmlformats.org/presentationml/2006/ole">
            <mc:AlternateContent xmlns:mc="http://schemas.openxmlformats.org/markup-compatibility/2006">
              <mc:Choice xmlns:v="urn:schemas-microsoft-com:vml" Requires="v">
                <p:oleObj name="Equation" r:id="rId3" imgW="228600" imgH="228600" progId="Equation.DSMT4">
                  <p:embed/>
                </p:oleObj>
              </mc:Choice>
              <mc:Fallback>
                <p:oleObj name="Equation" r:id="rId3" imgW="228600" imgH="228600" progId="Equation.DSMT4">
                  <p:embed/>
                  <p:pic>
                    <p:nvPicPr>
                      <p:cNvPr id="21" name="Object 20" descr="R subscript 1,">
                        <a:extLst>
                          <a:ext uri="{FF2B5EF4-FFF2-40B4-BE49-F238E27FC236}">
                            <a16:creationId xmlns:a16="http://schemas.microsoft.com/office/drawing/2014/main" id="{0037909E-B373-38E5-6FE1-147F9D9BDEE8}"/>
                          </a:ext>
                        </a:extLst>
                      </p:cNvPr>
                      <p:cNvPicPr>
                        <a:picLocks noChangeAspect="1" noChangeArrowheads="1"/>
                      </p:cNvPicPr>
                      <p:nvPr/>
                    </p:nvPicPr>
                    <p:blipFill>
                      <a:blip r:embed="rId4"/>
                      <a:srcRect/>
                      <a:stretch>
                        <a:fillRect/>
                      </a:stretch>
                    </p:blipFill>
                    <p:spPr bwMode="auto">
                      <a:xfrm>
                        <a:off x="423863" y="4159689"/>
                        <a:ext cx="423503" cy="41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EFE3C119-BA17-89DB-CCED-1C30E043F1B7}"/>
              </a:ext>
            </a:extLst>
          </p:cNvPr>
          <p:cNvSpPr>
            <a:spLocks noGrp="1"/>
          </p:cNvSpPr>
          <p:nvPr>
            <p:ph sz="quarter" idx="13"/>
          </p:nvPr>
        </p:nvSpPr>
        <p:spPr>
          <a:xfrm>
            <a:off x="880177" y="4151393"/>
            <a:ext cx="1547698" cy="374906"/>
          </a:xfrm>
        </p:spPr>
        <p:txBody>
          <a:bodyPr lIns="0" tIns="18000" rIns="0" bIns="18000" anchor="ctr" anchorCtr="0">
            <a:spAutoFit/>
          </a:bodyPr>
          <a:lstStyle/>
          <a:p>
            <a:pPr marL="0" indent="0">
              <a:buNone/>
            </a:pPr>
            <a:r>
              <a:rPr lang="en-US" sz="2200" noProof="0" dirty="0"/>
              <a:t>dep. source,</a:t>
            </a:r>
          </a:p>
        </p:txBody>
      </p:sp>
      <p:graphicFrame>
        <p:nvGraphicFramePr>
          <p:cNvPr id="22" name="Object 21" descr="R subscript 2.">
            <a:extLst>
              <a:ext uri="{FF2B5EF4-FFF2-40B4-BE49-F238E27FC236}">
                <a16:creationId xmlns:a16="http://schemas.microsoft.com/office/drawing/2014/main" id="{A6DADBA7-AB63-AAD6-9A0A-3300B667EFD2}"/>
              </a:ext>
            </a:extLst>
          </p:cNvPr>
          <p:cNvGraphicFramePr>
            <a:graphicFrameLocks noChangeAspect="1"/>
          </p:cNvGraphicFramePr>
          <p:nvPr/>
        </p:nvGraphicFramePr>
        <p:xfrm>
          <a:off x="2454569" y="4167004"/>
          <a:ext cx="377825" cy="419100"/>
        </p:xfrm>
        <a:graphic>
          <a:graphicData uri="http://schemas.openxmlformats.org/presentationml/2006/ole">
            <mc:AlternateContent xmlns:mc="http://schemas.openxmlformats.org/markup-compatibility/2006">
              <mc:Choice xmlns:v="urn:schemas-microsoft-com:vml" Requires="v">
                <p:oleObj name="Equation" r:id="rId5" imgW="203040" imgH="228600" progId="Equation.DSMT4">
                  <p:embed/>
                </p:oleObj>
              </mc:Choice>
              <mc:Fallback>
                <p:oleObj name="Equation" r:id="rId5" imgW="203040" imgH="228600" progId="Equation.DSMT4">
                  <p:embed/>
                  <p:pic>
                    <p:nvPicPr>
                      <p:cNvPr id="22" name="Object 21" descr="R subscript 2.">
                        <a:extLst>
                          <a:ext uri="{FF2B5EF4-FFF2-40B4-BE49-F238E27FC236}">
                            <a16:creationId xmlns:a16="http://schemas.microsoft.com/office/drawing/2014/main" id="{A6DADBA7-AB63-AAD6-9A0A-3300B667EFD2}"/>
                          </a:ext>
                        </a:extLst>
                      </p:cNvPr>
                      <p:cNvPicPr>
                        <a:picLocks noChangeAspect="1" noChangeArrowheads="1"/>
                      </p:cNvPicPr>
                      <p:nvPr/>
                    </p:nvPicPr>
                    <p:blipFill>
                      <a:blip r:embed="rId6"/>
                      <a:srcRect/>
                      <a:stretch>
                        <a:fillRect/>
                      </a:stretch>
                    </p:blipFill>
                    <p:spPr bwMode="auto">
                      <a:xfrm>
                        <a:off x="2454569" y="4167004"/>
                        <a:ext cx="37782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descr="R subscript 1 BaseLine, R subscript 5 BaseLine, R subscript 4 BaseLine, R subscript 2 BaseLine.">
            <a:extLst>
              <a:ext uri="{FF2B5EF4-FFF2-40B4-BE49-F238E27FC236}">
                <a16:creationId xmlns:a16="http://schemas.microsoft.com/office/drawing/2014/main" id="{D3C7EE86-54F0-B714-A256-00F86B0D827D}"/>
              </a:ext>
            </a:extLst>
          </p:cNvPr>
          <p:cNvGraphicFramePr>
            <a:graphicFrameLocks noChangeAspect="1"/>
          </p:cNvGraphicFramePr>
          <p:nvPr/>
        </p:nvGraphicFramePr>
        <p:xfrm>
          <a:off x="419492" y="4601696"/>
          <a:ext cx="1700213" cy="419100"/>
        </p:xfrm>
        <a:graphic>
          <a:graphicData uri="http://schemas.openxmlformats.org/presentationml/2006/ole">
            <mc:AlternateContent xmlns:mc="http://schemas.openxmlformats.org/markup-compatibility/2006">
              <mc:Choice xmlns:v="urn:schemas-microsoft-com:vml" Requires="v">
                <p:oleObj name="Equation" r:id="rId7" imgW="914400" imgH="228600" progId="Equation.DSMT4">
                  <p:embed/>
                </p:oleObj>
              </mc:Choice>
              <mc:Fallback>
                <p:oleObj name="Equation" r:id="rId7" imgW="914400" imgH="228600" progId="Equation.DSMT4">
                  <p:embed/>
                  <p:pic>
                    <p:nvPicPr>
                      <p:cNvPr id="23" name="Object 22" descr="R subscript 1 BaseLine, R subscript 5 BaseLine, R subscript 4 BaseLine, R subscript 2 BaseLine.">
                        <a:extLst>
                          <a:ext uri="{FF2B5EF4-FFF2-40B4-BE49-F238E27FC236}">
                            <a16:creationId xmlns:a16="http://schemas.microsoft.com/office/drawing/2014/main" id="{D3C7EE86-54F0-B714-A256-00F86B0D827D}"/>
                          </a:ext>
                        </a:extLst>
                      </p:cNvPr>
                      <p:cNvPicPr>
                        <a:picLocks noChangeAspect="1" noChangeArrowheads="1"/>
                      </p:cNvPicPr>
                      <p:nvPr/>
                    </p:nvPicPr>
                    <p:blipFill>
                      <a:blip r:embed="rId8"/>
                      <a:srcRect/>
                      <a:stretch>
                        <a:fillRect/>
                      </a:stretch>
                    </p:blipFill>
                    <p:spPr bwMode="auto">
                      <a:xfrm>
                        <a:off x="419492" y="4601696"/>
                        <a:ext cx="170021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B6E84600-EA02-80EE-2730-E3CA3D3F95F6}"/>
              </a:ext>
            </a:extLst>
          </p:cNvPr>
          <p:cNvSpPr>
            <a:spLocks noGrp="1"/>
          </p:cNvSpPr>
          <p:nvPr>
            <p:ph sz="quarter" idx="14"/>
          </p:nvPr>
        </p:nvSpPr>
        <p:spPr>
          <a:xfrm>
            <a:off x="433290" y="5063285"/>
            <a:ext cx="1636039" cy="374906"/>
          </a:xfrm>
        </p:spPr>
        <p:txBody>
          <a:bodyPr lIns="0" tIns="18000" rIns="0" bIns="18000" anchor="ctr" anchorCtr="0">
            <a:spAutoFit/>
          </a:bodyPr>
          <a:lstStyle/>
          <a:p>
            <a:pPr marL="0" indent="0">
              <a:buNone/>
            </a:pPr>
            <a:r>
              <a:rPr lang="en-US" sz="2200" noProof="0" dirty="0"/>
              <a:t>Dep. Source,</a:t>
            </a:r>
          </a:p>
        </p:txBody>
      </p:sp>
      <p:graphicFrame>
        <p:nvGraphicFramePr>
          <p:cNvPr id="24" name="Object 23" descr="R subscript 4 BaseLine, R subscript 5 BaseLine.">
            <a:extLst>
              <a:ext uri="{FF2B5EF4-FFF2-40B4-BE49-F238E27FC236}">
                <a16:creationId xmlns:a16="http://schemas.microsoft.com/office/drawing/2014/main" id="{81BF2912-0A8C-D546-AF29-98FD89FDA56B}"/>
              </a:ext>
            </a:extLst>
          </p:cNvPr>
          <p:cNvGraphicFramePr>
            <a:graphicFrameLocks noChangeAspect="1"/>
          </p:cNvGraphicFramePr>
          <p:nvPr/>
        </p:nvGraphicFramePr>
        <p:xfrm>
          <a:off x="2110278" y="5081261"/>
          <a:ext cx="827088" cy="419100"/>
        </p:xfrm>
        <a:graphic>
          <a:graphicData uri="http://schemas.openxmlformats.org/presentationml/2006/ole">
            <mc:AlternateContent xmlns:mc="http://schemas.openxmlformats.org/markup-compatibility/2006">
              <mc:Choice xmlns:v="urn:schemas-microsoft-com:vml" Requires="v">
                <p:oleObj name="Equation" r:id="rId9" imgW="444240" imgH="228600" progId="Equation.DSMT4">
                  <p:embed/>
                </p:oleObj>
              </mc:Choice>
              <mc:Fallback>
                <p:oleObj name="Equation" r:id="rId9" imgW="444240" imgH="228600" progId="Equation.DSMT4">
                  <p:embed/>
                  <p:pic>
                    <p:nvPicPr>
                      <p:cNvPr id="24" name="Object 23" descr="R subscript 4 BaseLine, R subscript 5 BaseLine.">
                        <a:extLst>
                          <a:ext uri="{FF2B5EF4-FFF2-40B4-BE49-F238E27FC236}">
                            <a16:creationId xmlns:a16="http://schemas.microsoft.com/office/drawing/2014/main" id="{81BF2912-0A8C-D546-AF29-98FD89FDA56B}"/>
                          </a:ext>
                        </a:extLst>
                      </p:cNvPr>
                      <p:cNvPicPr>
                        <a:picLocks noChangeAspect="1" noChangeArrowheads="1"/>
                      </p:cNvPicPr>
                      <p:nvPr/>
                    </p:nvPicPr>
                    <p:blipFill>
                      <a:blip r:embed="rId10"/>
                      <a:srcRect/>
                      <a:stretch>
                        <a:fillRect/>
                      </a:stretch>
                    </p:blipFill>
                    <p:spPr bwMode="auto">
                      <a:xfrm>
                        <a:off x="2110278" y="5081261"/>
                        <a:ext cx="827088"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4" descr="R subscript 2.">
            <a:extLst>
              <a:ext uri="{FF2B5EF4-FFF2-40B4-BE49-F238E27FC236}">
                <a16:creationId xmlns:a16="http://schemas.microsoft.com/office/drawing/2014/main" id="{A3623174-ADF4-128A-D720-4241D86D807E}"/>
              </a:ext>
            </a:extLst>
          </p:cNvPr>
          <p:cNvGraphicFramePr>
            <a:graphicFrameLocks noChangeAspect="1"/>
          </p:cNvGraphicFramePr>
          <p:nvPr/>
        </p:nvGraphicFramePr>
        <p:xfrm>
          <a:off x="416957" y="5558748"/>
          <a:ext cx="449263" cy="419100"/>
        </p:xfrm>
        <a:graphic>
          <a:graphicData uri="http://schemas.openxmlformats.org/presentationml/2006/ole">
            <mc:AlternateContent xmlns:mc="http://schemas.openxmlformats.org/markup-compatibility/2006">
              <mc:Choice xmlns:v="urn:schemas-microsoft-com:vml" Requires="v">
                <p:oleObj name="Equation" r:id="rId11" imgW="241200" imgH="228600" progId="Equation.DSMT4">
                  <p:embed/>
                </p:oleObj>
              </mc:Choice>
              <mc:Fallback>
                <p:oleObj name="Equation" r:id="rId11" imgW="241200" imgH="228600" progId="Equation.DSMT4">
                  <p:embed/>
                  <p:pic>
                    <p:nvPicPr>
                      <p:cNvPr id="25" name="Object 24" descr="R subscript 2.">
                        <a:extLst>
                          <a:ext uri="{FF2B5EF4-FFF2-40B4-BE49-F238E27FC236}">
                            <a16:creationId xmlns:a16="http://schemas.microsoft.com/office/drawing/2014/main" id="{A3623174-ADF4-128A-D720-4241D86D807E}"/>
                          </a:ext>
                        </a:extLst>
                      </p:cNvPr>
                      <p:cNvPicPr>
                        <a:picLocks noChangeAspect="1" noChangeArrowheads="1"/>
                      </p:cNvPicPr>
                      <p:nvPr/>
                    </p:nvPicPr>
                    <p:blipFill>
                      <a:blip r:embed="rId12"/>
                      <a:srcRect/>
                      <a:stretch>
                        <a:fillRect/>
                      </a:stretch>
                    </p:blipFill>
                    <p:spPr bwMode="auto">
                      <a:xfrm>
                        <a:off x="416957" y="5558748"/>
                        <a:ext cx="44926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E1E20246-03BB-E70D-A61B-AB48A3215BD0}"/>
              </a:ext>
            </a:extLst>
          </p:cNvPr>
          <p:cNvSpPr>
            <a:spLocks noGrp="1"/>
          </p:cNvSpPr>
          <p:nvPr>
            <p:ph sz="quarter" idx="15"/>
          </p:nvPr>
        </p:nvSpPr>
        <p:spPr>
          <a:xfrm>
            <a:off x="899031" y="5542721"/>
            <a:ext cx="1542511" cy="374906"/>
          </a:xfrm>
        </p:spPr>
        <p:txBody>
          <a:bodyPr wrap="square" lIns="0" tIns="18000" rIns="0" bIns="18000" anchor="ctr" anchorCtr="0">
            <a:spAutoFit/>
          </a:bodyPr>
          <a:lstStyle/>
          <a:p>
            <a:pPr marL="0" indent="0">
              <a:buNone/>
            </a:pPr>
            <a:r>
              <a:rPr lang="en-US" sz="2200" noProof="0" dirty="0"/>
              <a:t>dep. source,</a:t>
            </a:r>
          </a:p>
        </p:txBody>
      </p:sp>
      <p:graphicFrame>
        <p:nvGraphicFramePr>
          <p:cNvPr id="26" name="Object 25" descr="R subscript 5 BaseLine, R subscript 4 BaseLine, R subscript 3 BaseLine.">
            <a:extLst>
              <a:ext uri="{FF2B5EF4-FFF2-40B4-BE49-F238E27FC236}">
                <a16:creationId xmlns:a16="http://schemas.microsoft.com/office/drawing/2014/main" id="{7BD9F066-26AA-E07C-A980-60C099891289}"/>
              </a:ext>
            </a:extLst>
          </p:cNvPr>
          <p:cNvGraphicFramePr>
            <a:graphicFrameLocks noChangeAspect="1"/>
          </p:cNvGraphicFramePr>
          <p:nvPr/>
        </p:nvGraphicFramePr>
        <p:xfrm>
          <a:off x="2473704" y="5558748"/>
          <a:ext cx="1298575" cy="419100"/>
        </p:xfrm>
        <a:graphic>
          <a:graphicData uri="http://schemas.openxmlformats.org/presentationml/2006/ole">
            <mc:AlternateContent xmlns:mc="http://schemas.openxmlformats.org/markup-compatibility/2006">
              <mc:Choice xmlns:v="urn:schemas-microsoft-com:vml" Requires="v">
                <p:oleObj name="Equation" r:id="rId13" imgW="698400" imgH="228600" progId="Equation.DSMT4">
                  <p:embed/>
                </p:oleObj>
              </mc:Choice>
              <mc:Fallback>
                <p:oleObj name="Equation" r:id="rId13" imgW="698400" imgH="228600" progId="Equation.DSMT4">
                  <p:embed/>
                  <p:pic>
                    <p:nvPicPr>
                      <p:cNvPr id="26" name="Object 25" descr="R subscript 5 BaseLine, R subscript 4 BaseLine, R subscript 3 BaseLine.">
                        <a:extLst>
                          <a:ext uri="{FF2B5EF4-FFF2-40B4-BE49-F238E27FC236}">
                            <a16:creationId xmlns:a16="http://schemas.microsoft.com/office/drawing/2014/main" id="{7BD9F066-26AA-E07C-A980-60C099891289}"/>
                          </a:ext>
                        </a:extLst>
                      </p:cNvPr>
                      <p:cNvPicPr>
                        <a:picLocks noChangeAspect="1" noChangeArrowheads="1"/>
                      </p:cNvPicPr>
                      <p:nvPr/>
                    </p:nvPicPr>
                    <p:blipFill>
                      <a:blip r:embed="rId14"/>
                      <a:srcRect/>
                      <a:stretch>
                        <a:fillRect/>
                      </a:stretch>
                    </p:blipFill>
                    <p:spPr bwMode="auto">
                      <a:xfrm>
                        <a:off x="2473704" y="5558748"/>
                        <a:ext cx="129857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1ECB292A-FD30-81AB-6924-07D81A390270}"/>
              </a:ext>
            </a:extLst>
          </p:cNvPr>
          <p:cNvSpPr>
            <a:spLocks noGrp="1"/>
          </p:cNvSpPr>
          <p:nvPr>
            <p:ph sz="quarter" idx="16"/>
          </p:nvPr>
        </p:nvSpPr>
        <p:spPr>
          <a:xfrm>
            <a:off x="429243" y="6022117"/>
            <a:ext cx="409744" cy="374906"/>
          </a:xfrm>
        </p:spPr>
        <p:txBody>
          <a:bodyPr wrap="square" lIns="0" tIns="18000" rIns="0" bIns="18000" anchor="ctr" anchorCtr="0">
            <a:spAutoFit/>
          </a:bodyPr>
          <a:lstStyle/>
          <a:p>
            <a:pPr marL="0" indent="0">
              <a:buNone/>
            </a:pPr>
            <a:r>
              <a:rPr lang="en-US" sz="2200" noProof="0" dirty="0" err="1"/>
              <a:t>Etc</a:t>
            </a:r>
            <a:endParaRPr lang="en-US" sz="2200" noProof="0" dirty="0"/>
          </a:p>
        </p:txBody>
      </p:sp>
      <p:graphicFrame>
        <p:nvGraphicFramePr>
          <p:cNvPr id="27" name="Object 26" descr="Horizontal Ellipsis.">
            <a:extLst>
              <a:ext uri="{FF2B5EF4-FFF2-40B4-BE49-F238E27FC236}">
                <a16:creationId xmlns:a16="http://schemas.microsoft.com/office/drawing/2014/main" id="{0A955E9A-AD86-C32C-D18E-86330D3F61F9}"/>
              </a:ext>
            </a:extLst>
          </p:cNvPr>
          <p:cNvGraphicFramePr>
            <a:graphicFrameLocks noChangeAspect="1"/>
          </p:cNvGraphicFramePr>
          <p:nvPr/>
        </p:nvGraphicFramePr>
        <p:xfrm>
          <a:off x="913508" y="6099441"/>
          <a:ext cx="403225" cy="325438"/>
        </p:xfrm>
        <a:graphic>
          <a:graphicData uri="http://schemas.openxmlformats.org/presentationml/2006/ole">
            <mc:AlternateContent xmlns:mc="http://schemas.openxmlformats.org/markup-compatibility/2006">
              <mc:Choice xmlns:v="urn:schemas-microsoft-com:vml" Requires="v">
                <p:oleObj name="Equation" r:id="rId15" imgW="215640" imgH="177480" progId="Equation.DSMT4">
                  <p:embed/>
                </p:oleObj>
              </mc:Choice>
              <mc:Fallback>
                <p:oleObj name="Equation" r:id="rId15" imgW="215640" imgH="177480" progId="Equation.DSMT4">
                  <p:embed/>
                  <p:pic>
                    <p:nvPicPr>
                      <p:cNvPr id="27" name="Object 26" descr="Horizontal Ellipsis.">
                        <a:extLst>
                          <a:ext uri="{FF2B5EF4-FFF2-40B4-BE49-F238E27FC236}">
                            <a16:creationId xmlns:a16="http://schemas.microsoft.com/office/drawing/2014/main" id="{0A955E9A-AD86-C32C-D18E-86330D3F61F9}"/>
                          </a:ext>
                        </a:extLst>
                      </p:cNvPr>
                      <p:cNvPicPr>
                        <a:picLocks noChangeAspect="1" noChangeArrowheads="1"/>
                      </p:cNvPicPr>
                      <p:nvPr/>
                    </p:nvPicPr>
                    <p:blipFill>
                      <a:blip r:embed="rId16"/>
                      <a:srcRect/>
                      <a:stretch>
                        <a:fillRect/>
                      </a:stretch>
                    </p:blipFill>
                    <p:spPr bwMode="auto">
                      <a:xfrm>
                        <a:off x="913508" y="6099441"/>
                        <a:ext cx="403225"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07086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(6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84908"/>
            <a:ext cx="8238243" cy="405683"/>
          </a:xfrm>
        </p:spPr>
        <p:txBody>
          <a:bodyPr wrap="square" lIns="0" tIns="18000" rIns="0" bIns="18000" anchor="ctr" anchorCtr="0">
            <a:spAutoFit/>
          </a:bodyPr>
          <a:lstStyle/>
          <a:p>
            <a:pPr marL="0" indent="0">
              <a:buNone/>
            </a:pPr>
            <a:r>
              <a:rPr lang="en-US" sz="2400" noProof="0" dirty="0"/>
              <a:t>How many meshes does this circuit have?</a:t>
            </a:r>
          </a:p>
        </p:txBody>
      </p:sp>
      <p:pic>
        <p:nvPicPr>
          <p:cNvPr id="8" name="Picture 7" descr="A rectangular circuit has an 18V independent voltage source on the left wire and a 5 mA independent current source on the right wire. Three nodes are present on the topmost wire and there are 4 nodes present in the wire just below the most wire. Out of 4 nodes, 3 nodes are connected to the nodes that are present on the topmost wire using vertical cross wires. A resistor named R subscript 1 is placed across the topmost wire. A resistor named R subscript 2 and a voltage-controlled current source labeled 2 v sub delta baseline are placed on the topmost wire. Resistors R subscript 3, R subscript 4, and R subscript 5 are placed on the wire that is right below the topmost wire of the circuit. A Resistor R subscript 6, A current controlled voltage source labeled 25 i sub delta, and a resistor R subscript 7 are placed between the bottom wire and the second wire of the circuit. Three nodes are present on the bottom wire of the circuit. A current labeled i sub delta is shown above the R sub 2. The voltage across the resistor R sub 6 is labeled v sub delta with the positive terminal at the upper and negative terminal at the lower side.">
            <a:extLst>
              <a:ext uri="{FF2B5EF4-FFF2-40B4-BE49-F238E27FC236}">
                <a16:creationId xmlns:a16="http://schemas.microsoft.com/office/drawing/2014/main" id="{62896723-6FC4-EFA6-F6FA-AEC8F2FF6B03}"/>
              </a:ext>
            </a:extLst>
          </p:cNvPr>
          <p:cNvPicPr>
            <a:picLocks noChangeAspect="1"/>
          </p:cNvPicPr>
          <p:nvPr/>
        </p:nvPicPr>
        <p:blipFill>
          <a:blip r:embed="rId2"/>
          <a:srcRect/>
          <a:stretch/>
        </p:blipFill>
        <p:spPr>
          <a:xfrm>
            <a:off x="2315811" y="1997941"/>
            <a:ext cx="4512376" cy="2032562"/>
          </a:xfrm>
          <a:prstGeom prst="rect">
            <a:avLst/>
          </a:prstGeom>
        </p:spPr>
      </p:pic>
      <p:pic>
        <p:nvPicPr>
          <p:cNvPr id="24" name="Picture 23" descr="Cross mark">
            <a:extLst>
              <a:ext uri="{FF2B5EF4-FFF2-40B4-BE49-F238E27FC236}">
                <a16:creationId xmlns:a16="http://schemas.microsoft.com/office/drawing/2014/main" id="{50E0EE58-5F77-C8C2-DF16-25BD202FFCF5}"/>
              </a:ext>
            </a:extLst>
          </p:cNvPr>
          <p:cNvPicPr>
            <a:picLocks noChangeAspect="1"/>
          </p:cNvPicPr>
          <p:nvPr/>
        </p:nvPicPr>
        <p:blipFill>
          <a:blip r:embed="rId3"/>
          <a:stretch>
            <a:fillRect/>
          </a:stretch>
        </p:blipFill>
        <p:spPr>
          <a:xfrm>
            <a:off x="1017308" y="4185526"/>
            <a:ext cx="284384" cy="284384"/>
          </a:xfrm>
          <a:prstGeom prst="rect">
            <a:avLst/>
          </a:prstGeom>
        </p:spPr>
      </p:pic>
      <p:sp>
        <p:nvSpPr>
          <p:cNvPr id="4" name="Content Placeholder 3">
            <a:extLst>
              <a:ext uri="{FF2B5EF4-FFF2-40B4-BE49-F238E27FC236}">
                <a16:creationId xmlns:a16="http://schemas.microsoft.com/office/drawing/2014/main" id="{EC65537D-5621-6F30-D48A-2E9F4E1BC581}"/>
              </a:ext>
            </a:extLst>
          </p:cNvPr>
          <p:cNvSpPr>
            <a:spLocks noGrp="1"/>
          </p:cNvSpPr>
          <p:nvPr>
            <p:ph sz="quarter" idx="13"/>
          </p:nvPr>
        </p:nvSpPr>
        <p:spPr>
          <a:xfrm>
            <a:off x="1487345" y="4115450"/>
            <a:ext cx="542458"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4</a:t>
            </a:r>
          </a:p>
        </p:txBody>
      </p:sp>
      <p:pic>
        <p:nvPicPr>
          <p:cNvPr id="27" name="Picture 26" descr="Cross mark">
            <a:extLst>
              <a:ext uri="{FF2B5EF4-FFF2-40B4-BE49-F238E27FC236}">
                <a16:creationId xmlns:a16="http://schemas.microsoft.com/office/drawing/2014/main" id="{20269D49-DE8F-957C-ADBD-B8CC9B2F8580}"/>
              </a:ext>
            </a:extLst>
          </p:cNvPr>
          <p:cNvPicPr>
            <a:picLocks noChangeAspect="1"/>
          </p:cNvPicPr>
          <p:nvPr/>
        </p:nvPicPr>
        <p:blipFill>
          <a:blip r:embed="rId3"/>
          <a:stretch>
            <a:fillRect/>
          </a:stretch>
        </p:blipFill>
        <p:spPr>
          <a:xfrm>
            <a:off x="1012516" y="4692604"/>
            <a:ext cx="284384" cy="284384"/>
          </a:xfrm>
          <a:prstGeom prst="rect">
            <a:avLst/>
          </a:prstGeom>
        </p:spPr>
      </p:pic>
      <p:sp>
        <p:nvSpPr>
          <p:cNvPr id="5" name="Content Placeholder 4">
            <a:extLst>
              <a:ext uri="{FF2B5EF4-FFF2-40B4-BE49-F238E27FC236}">
                <a16:creationId xmlns:a16="http://schemas.microsoft.com/office/drawing/2014/main" id="{47ECDF9E-9E5B-8608-384F-3C1EB6EE5310}"/>
              </a:ext>
            </a:extLst>
          </p:cNvPr>
          <p:cNvSpPr>
            <a:spLocks noGrp="1"/>
          </p:cNvSpPr>
          <p:nvPr>
            <p:ph sz="quarter" idx="14"/>
          </p:nvPr>
        </p:nvSpPr>
        <p:spPr>
          <a:xfrm>
            <a:off x="1487345" y="4629138"/>
            <a:ext cx="542458" cy="405683"/>
          </a:xfrm>
        </p:spPr>
        <p:txBody>
          <a:bodyPr lIns="0" tIns="18000" rIns="0" bIns="18000" anchor="ctr" anchorCtr="0">
            <a:spAutoFit/>
          </a:bodyPr>
          <a:lstStyle/>
          <a:p>
            <a:pPr marL="0" indent="0">
              <a:buNone/>
            </a:pPr>
            <a:r>
              <a:rPr lang="en-US" sz="2400" noProof="0" dirty="0">
                <a:solidFill>
                  <a:schemeClr val="tx2"/>
                </a:solidFill>
              </a:rPr>
              <a:t>B.</a:t>
            </a:r>
            <a:r>
              <a:rPr lang="en-US" sz="2400" noProof="0" dirty="0"/>
              <a:t> 5</a:t>
            </a:r>
          </a:p>
        </p:txBody>
      </p:sp>
      <p:pic>
        <p:nvPicPr>
          <p:cNvPr id="26" name="Picture 25" descr="Check mark">
            <a:extLst>
              <a:ext uri="{FF2B5EF4-FFF2-40B4-BE49-F238E27FC236}">
                <a16:creationId xmlns:a16="http://schemas.microsoft.com/office/drawing/2014/main" id="{C8CFCF7B-A8E5-CE4A-A795-551D0A2C1D8A}"/>
              </a:ext>
            </a:extLst>
          </p:cNvPr>
          <p:cNvPicPr>
            <a:picLocks noChangeAspect="1"/>
          </p:cNvPicPr>
          <p:nvPr/>
        </p:nvPicPr>
        <p:blipFill>
          <a:blip r:embed="rId4"/>
          <a:stretch>
            <a:fillRect/>
          </a:stretch>
        </p:blipFill>
        <p:spPr>
          <a:xfrm>
            <a:off x="988870" y="5184516"/>
            <a:ext cx="312822" cy="312822"/>
          </a:xfrm>
          <a:prstGeom prst="rect">
            <a:avLst/>
          </a:prstGeom>
        </p:spPr>
      </p:pic>
      <p:sp>
        <p:nvSpPr>
          <p:cNvPr id="6" name="Content Placeholder 5">
            <a:extLst>
              <a:ext uri="{FF2B5EF4-FFF2-40B4-BE49-F238E27FC236}">
                <a16:creationId xmlns:a16="http://schemas.microsoft.com/office/drawing/2014/main" id="{C98518E8-8ABD-30A4-4B21-CD2FF6F6265F}"/>
              </a:ext>
            </a:extLst>
          </p:cNvPr>
          <p:cNvSpPr>
            <a:spLocks noGrp="1"/>
          </p:cNvSpPr>
          <p:nvPr>
            <p:ph sz="quarter" idx="15"/>
          </p:nvPr>
        </p:nvSpPr>
        <p:spPr>
          <a:xfrm>
            <a:off x="1487345" y="5142826"/>
            <a:ext cx="558896" cy="405683"/>
          </a:xfrm>
        </p:spPr>
        <p:txBody>
          <a:bodyPr lIns="0" tIns="18000" rIns="0" bIns="18000" anchor="ctr" anchorCtr="0">
            <a:spAutoFit/>
          </a:bodyPr>
          <a:lstStyle/>
          <a:p>
            <a:pPr marL="0" indent="0">
              <a:buNone/>
            </a:pPr>
            <a:r>
              <a:rPr lang="en-US" sz="2400" noProof="0" dirty="0">
                <a:solidFill>
                  <a:schemeClr val="tx2"/>
                </a:solidFill>
              </a:rPr>
              <a:t>C.</a:t>
            </a:r>
            <a:r>
              <a:rPr lang="en-US" sz="2400" noProof="0" dirty="0"/>
              <a:t> 7</a:t>
            </a:r>
          </a:p>
        </p:txBody>
      </p:sp>
      <p:pic>
        <p:nvPicPr>
          <p:cNvPr id="28" name="Picture 27" descr="Cross mark">
            <a:extLst>
              <a:ext uri="{FF2B5EF4-FFF2-40B4-BE49-F238E27FC236}">
                <a16:creationId xmlns:a16="http://schemas.microsoft.com/office/drawing/2014/main" id="{BC91B156-4E04-2869-F333-FD0400728B9C}"/>
              </a:ext>
            </a:extLst>
          </p:cNvPr>
          <p:cNvPicPr>
            <a:picLocks noChangeAspect="1"/>
          </p:cNvPicPr>
          <p:nvPr/>
        </p:nvPicPr>
        <p:blipFill>
          <a:blip r:embed="rId3"/>
          <a:stretch>
            <a:fillRect/>
          </a:stretch>
        </p:blipFill>
        <p:spPr>
          <a:xfrm>
            <a:off x="1007091" y="5717163"/>
            <a:ext cx="284384" cy="284384"/>
          </a:xfrm>
          <a:prstGeom prst="rect">
            <a:avLst/>
          </a:prstGeom>
        </p:spPr>
      </p:pic>
      <p:sp>
        <p:nvSpPr>
          <p:cNvPr id="7" name="Content Placeholder 6">
            <a:extLst>
              <a:ext uri="{FF2B5EF4-FFF2-40B4-BE49-F238E27FC236}">
                <a16:creationId xmlns:a16="http://schemas.microsoft.com/office/drawing/2014/main" id="{2D52EB4B-AC78-1C50-DAC3-6D5D80C0D687}"/>
              </a:ext>
            </a:extLst>
          </p:cNvPr>
          <p:cNvSpPr>
            <a:spLocks noGrp="1"/>
          </p:cNvSpPr>
          <p:nvPr>
            <p:ph sz="quarter" idx="16"/>
          </p:nvPr>
        </p:nvSpPr>
        <p:spPr>
          <a:xfrm>
            <a:off x="1487345" y="5656514"/>
            <a:ext cx="729232" cy="405683"/>
          </a:xfrm>
        </p:spPr>
        <p:txBody>
          <a:bodyPr lIns="0" tIns="18000" rIns="0" bIns="18000" anchor="ctr" anchorCtr="0">
            <a:spAutoFit/>
          </a:bodyPr>
          <a:lstStyle/>
          <a:p>
            <a:pPr marL="0" indent="0">
              <a:buNone/>
            </a:pPr>
            <a:r>
              <a:rPr lang="en-US" sz="2400" noProof="0" dirty="0">
                <a:solidFill>
                  <a:schemeClr val="tx2"/>
                </a:solidFill>
              </a:rPr>
              <a:t>D.</a:t>
            </a:r>
            <a:r>
              <a:rPr lang="en-US" sz="2400" noProof="0" dirty="0"/>
              <a:t> 10</a:t>
            </a:r>
          </a:p>
        </p:txBody>
      </p:sp>
    </p:spTree>
    <p:extLst>
      <p:ext uri="{BB962C8B-B14F-4D97-AF65-F5344CB8AC3E}">
        <p14:creationId xmlns:p14="http://schemas.microsoft.com/office/powerpoint/2010/main" val="1222567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(7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539219"/>
            <a:ext cx="8238243" cy="1390568"/>
          </a:xfrm>
        </p:spPr>
        <p:txBody>
          <a:bodyPr wrap="square" lIns="0" tIns="18000" rIns="0" bIns="18000" anchor="ctr" anchorCtr="0">
            <a:spAutoFit/>
          </a:bodyPr>
          <a:lstStyle/>
          <a:p>
            <a:pPr marL="342900" indent="-342900">
              <a:spcBef>
                <a:spcPts val="0"/>
              </a:spcBef>
            </a:pPr>
            <a:r>
              <a:rPr lang="en-US" altLang="en-US" sz="2200" noProof="0" dirty="0"/>
              <a:t>Node voltage method:</a:t>
            </a:r>
          </a:p>
          <a:p>
            <a:pPr marL="829818" lvl="1" indent="-342900">
              <a:spcBef>
                <a:spcPts val="0"/>
              </a:spcBef>
            </a:pPr>
            <a:r>
              <a:rPr lang="en-US" altLang="en-US" sz="2200" noProof="0" dirty="0"/>
              <a:t>Based on writing </a:t>
            </a:r>
            <a:r>
              <a:rPr lang="en-US" altLang="en-US" sz="2200" kern="0" spc="-350" noProof="0" dirty="0"/>
              <a:t>K C </a:t>
            </a:r>
            <a:r>
              <a:rPr lang="en-US" altLang="en-US" sz="2200" noProof="0" dirty="0"/>
              <a:t>L equations at essential nodes</a:t>
            </a:r>
          </a:p>
          <a:p>
            <a:pPr marL="829818" lvl="1" indent="-342900">
              <a:spcBef>
                <a:spcPts val="0"/>
              </a:spcBef>
            </a:pPr>
            <a:r>
              <a:rPr lang="en-US" altLang="en-US" sz="2200" noProof="0" dirty="0"/>
              <a:t>Solves for node voltages</a:t>
            </a:r>
          </a:p>
          <a:p>
            <a:pPr marL="829818" lvl="1" indent="-342900">
              <a:spcBef>
                <a:spcPts val="0"/>
              </a:spcBef>
            </a:pPr>
            <a:r>
              <a:rPr lang="en-US" altLang="en-US" sz="2200" noProof="0" dirty="0"/>
              <a:t>Analysis Method 4.1</a:t>
            </a:r>
            <a:endParaRPr lang="en-US" sz="2200" noProof="0" dirty="0"/>
          </a:p>
        </p:txBody>
      </p:sp>
      <p:sp>
        <p:nvSpPr>
          <p:cNvPr id="4" name="Content Placeholder 3">
            <a:extLst>
              <a:ext uri="{FF2B5EF4-FFF2-40B4-BE49-F238E27FC236}">
                <a16:creationId xmlns:a16="http://schemas.microsoft.com/office/drawing/2014/main" id="{EC65537D-5621-6F30-D48A-2E9F4E1BC581}"/>
              </a:ext>
            </a:extLst>
          </p:cNvPr>
          <p:cNvSpPr>
            <a:spLocks noGrp="1"/>
          </p:cNvSpPr>
          <p:nvPr>
            <p:ph sz="quarter" idx="13"/>
          </p:nvPr>
        </p:nvSpPr>
        <p:spPr>
          <a:xfrm>
            <a:off x="433289" y="3112524"/>
            <a:ext cx="8237635" cy="3052562"/>
          </a:xfrm>
        </p:spPr>
        <p:txBody>
          <a:bodyPr wrap="square" lIns="0" tIns="18000" rIns="0" bIns="18000" anchor="ctr" anchorCtr="0">
            <a:spAutoFit/>
          </a:bodyPr>
          <a:lstStyle/>
          <a:p>
            <a:pPr marL="1344168" lvl="2" indent="-457200">
              <a:buFont typeface="+mj-lt"/>
              <a:buAutoNum type="arabicPeriod"/>
            </a:pPr>
            <a:r>
              <a:rPr lang="en-US" altLang="en-US" sz="2200" noProof="0" dirty="0"/>
              <a:t>Identify each essential node.</a:t>
            </a:r>
          </a:p>
          <a:p>
            <a:pPr marL="1344168" lvl="2" indent="-457200">
              <a:buFont typeface="+mj-lt"/>
              <a:buAutoNum type="arabicPeriod"/>
            </a:pPr>
            <a:r>
              <a:rPr lang="en-US" altLang="en-US" sz="2200" noProof="0" dirty="0"/>
              <a:t>Pick and label a reference node; then label the node voltages at the remaining essential nodes.</a:t>
            </a:r>
          </a:p>
          <a:p>
            <a:pPr marL="1344168" lvl="2" indent="-457200">
              <a:buFont typeface="+mj-lt"/>
              <a:buAutoNum type="arabicPeriod"/>
            </a:pPr>
            <a:r>
              <a:rPr lang="en-US" altLang="en-US" sz="2200" noProof="0" dirty="0"/>
              <a:t>Write a </a:t>
            </a:r>
            <a:r>
              <a:rPr lang="en-US" altLang="en-US" sz="2200" kern="0" spc="-350" noProof="0" dirty="0"/>
              <a:t>K C </a:t>
            </a:r>
            <a:r>
              <a:rPr lang="en-US" altLang="en-US" sz="2200" noProof="0" dirty="0"/>
              <a:t>L equation for every nonreference essential node.</a:t>
            </a:r>
          </a:p>
          <a:p>
            <a:pPr marL="1344168" lvl="2" indent="-457200">
              <a:buFont typeface="+mj-lt"/>
              <a:buAutoNum type="arabicPeriod"/>
            </a:pPr>
            <a:r>
              <a:rPr lang="en-US" altLang="en-US" sz="2200" noProof="0" dirty="0"/>
              <a:t>Solve the equations to find the node-voltage values.</a:t>
            </a:r>
          </a:p>
          <a:p>
            <a:pPr marL="1344168" lvl="2" indent="-457200">
              <a:buFont typeface="+mj-lt"/>
              <a:buAutoNum type="arabicPeriod"/>
            </a:pPr>
            <a:r>
              <a:rPr lang="en-US" altLang="en-US" sz="2200" noProof="0" dirty="0"/>
              <a:t>Solve the circuit using node voltages from Step 4 to find component currents, voltages, and power values.</a:t>
            </a:r>
          </a:p>
        </p:txBody>
      </p:sp>
    </p:spTree>
    <p:extLst>
      <p:ext uri="{BB962C8B-B14F-4D97-AF65-F5344CB8AC3E}">
        <p14:creationId xmlns:p14="http://schemas.microsoft.com/office/powerpoint/2010/main" val="2994550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(8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88775"/>
            <a:ext cx="8238243" cy="775015"/>
          </a:xfrm>
        </p:spPr>
        <p:txBody>
          <a:bodyPr wrap="square" lIns="0" tIns="18000" rIns="0" bIns="18000" anchor="ctr" anchorCtr="0">
            <a:spAutoFit/>
          </a:bodyPr>
          <a:lstStyle/>
          <a:p>
            <a:pPr marL="0" indent="0">
              <a:spcBef>
                <a:spcPts val="0"/>
              </a:spcBef>
              <a:buNone/>
            </a:pPr>
            <a:r>
              <a:rPr lang="en-US" altLang="en-US" sz="2400" noProof="0" dirty="0"/>
              <a:t>Use the node voltage method to find the currents shown in this circuit.</a:t>
            </a:r>
            <a:endParaRPr lang="en-US" sz="2400" noProof="0" dirty="0"/>
          </a:p>
        </p:txBody>
      </p:sp>
      <p:pic>
        <p:nvPicPr>
          <p:cNvPr id="6" name="Picture 5"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a:extLst>
              <a:ext uri="{FF2B5EF4-FFF2-40B4-BE49-F238E27FC236}">
                <a16:creationId xmlns:a16="http://schemas.microsoft.com/office/drawing/2014/main" id="{B9A41D0F-E814-A078-1BC3-449AB4E244DD}"/>
              </a:ext>
            </a:extLst>
          </p:cNvPr>
          <p:cNvPicPr>
            <a:picLocks noChangeAspect="1"/>
          </p:cNvPicPr>
          <p:nvPr/>
        </p:nvPicPr>
        <p:blipFill>
          <a:blip r:embed="rId2"/>
          <a:srcRect/>
          <a:stretch/>
        </p:blipFill>
        <p:spPr>
          <a:xfrm>
            <a:off x="2008123" y="2468475"/>
            <a:ext cx="5146606" cy="1751363"/>
          </a:xfrm>
          <a:prstGeom prst="rect">
            <a:avLst/>
          </a:prstGeom>
        </p:spPr>
      </p:pic>
    </p:spTree>
    <p:extLst>
      <p:ext uri="{BB962C8B-B14F-4D97-AF65-F5344CB8AC3E}">
        <p14:creationId xmlns:p14="http://schemas.microsoft.com/office/powerpoint/2010/main" val="1253808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(9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97437"/>
            <a:ext cx="8238243" cy="851959"/>
          </a:xfrm>
        </p:spPr>
        <p:txBody>
          <a:bodyPr wrap="square" lIns="0" tIns="18000" rIns="0" bIns="18000" anchor="ctr" anchorCtr="0">
            <a:spAutoFit/>
          </a:bodyPr>
          <a:lstStyle/>
          <a:p>
            <a:pPr marL="342900" indent="-342900">
              <a:spcBef>
                <a:spcPts val="600"/>
              </a:spcBef>
            </a:pPr>
            <a:r>
              <a:rPr lang="en-US" altLang="en-US" sz="2400" noProof="0" dirty="0"/>
              <a:t>Node voltage method:</a:t>
            </a:r>
          </a:p>
          <a:p>
            <a:pPr marL="829818" lvl="1" indent="-342900"/>
            <a:r>
              <a:rPr lang="en-US" altLang="en-US" sz="2400" noProof="0" dirty="0"/>
              <a:t>Step 1 – Identify each essential node.</a:t>
            </a:r>
            <a:endParaRPr lang="en-US" sz="2400" noProof="0" dirty="0"/>
          </a:p>
        </p:txBody>
      </p:sp>
      <p:pic>
        <p:nvPicPr>
          <p:cNvPr id="5" name="Picture 4"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extLst>
              <a:ext uri="{FF2B5EF4-FFF2-40B4-BE49-F238E27FC236}">
                <a16:creationId xmlns:a16="http://schemas.microsoft.com/office/drawing/2014/main" id="{46531C2F-393D-B444-B860-7A9492985BEC}"/>
              </a:ext>
            </a:extLst>
          </p:cNvPr>
          <p:cNvPicPr>
            <a:picLocks noChangeAspect="1"/>
          </p:cNvPicPr>
          <p:nvPr/>
        </p:nvPicPr>
        <p:blipFill>
          <a:blip r:embed="rId2"/>
          <a:stretch>
            <a:fillRect/>
          </a:stretch>
        </p:blipFill>
        <p:spPr>
          <a:xfrm>
            <a:off x="2071836" y="2533650"/>
            <a:ext cx="5000328" cy="1790700"/>
          </a:xfrm>
          <a:prstGeom prst="rect">
            <a:avLst/>
          </a:prstGeom>
        </p:spPr>
      </p:pic>
    </p:spTree>
    <p:extLst>
      <p:ext uri="{BB962C8B-B14F-4D97-AF65-F5344CB8AC3E}">
        <p14:creationId xmlns:p14="http://schemas.microsoft.com/office/powerpoint/2010/main" val="1486490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(10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91880"/>
            <a:ext cx="8238243" cy="1221291"/>
          </a:xfrm>
        </p:spPr>
        <p:txBody>
          <a:bodyPr wrap="square" lIns="0" tIns="18000" rIns="0" bIns="18000" anchor="ctr" anchorCtr="0">
            <a:spAutoFit/>
          </a:bodyPr>
          <a:lstStyle/>
          <a:p>
            <a:pPr marL="342900" indent="-342900">
              <a:spcBef>
                <a:spcPts val="600"/>
              </a:spcBef>
            </a:pPr>
            <a:r>
              <a:rPr lang="en-US" altLang="en-US" sz="2400" noProof="0" dirty="0"/>
              <a:t>Node voltage method:</a:t>
            </a:r>
          </a:p>
          <a:p>
            <a:pPr marL="829818" lvl="1" indent="-342900"/>
            <a:r>
              <a:rPr lang="en-US" altLang="en-US" sz="2400" noProof="0" dirty="0"/>
              <a:t>Step 2 – Pick and label a reference node; then label the node voltages at the remaining essential nodes.</a:t>
            </a:r>
            <a:endParaRPr lang="en-US" sz="2400" noProof="0" dirty="0"/>
          </a:p>
        </p:txBody>
      </p:sp>
      <p:pic>
        <p:nvPicPr>
          <p:cNvPr id="6" name="Picture 5"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extLst>
              <a:ext uri="{FF2B5EF4-FFF2-40B4-BE49-F238E27FC236}">
                <a16:creationId xmlns:a16="http://schemas.microsoft.com/office/drawing/2014/main" id="{90C5F433-977C-E888-4C30-6CABBAFE15D0}"/>
              </a:ext>
            </a:extLst>
          </p:cNvPr>
          <p:cNvPicPr>
            <a:picLocks noChangeAspect="1"/>
          </p:cNvPicPr>
          <p:nvPr/>
        </p:nvPicPr>
        <p:blipFill>
          <a:blip r:embed="rId2"/>
          <a:stretch>
            <a:fillRect/>
          </a:stretch>
        </p:blipFill>
        <p:spPr>
          <a:xfrm>
            <a:off x="1971675" y="3066127"/>
            <a:ext cx="5200650" cy="1984882"/>
          </a:xfrm>
          <a:prstGeom prst="rect">
            <a:avLst/>
          </a:prstGeom>
        </p:spPr>
      </p:pic>
    </p:spTree>
    <p:extLst>
      <p:ext uri="{BB962C8B-B14F-4D97-AF65-F5344CB8AC3E}">
        <p14:creationId xmlns:p14="http://schemas.microsoft.com/office/powerpoint/2010/main" val="3006578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(11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91880"/>
            <a:ext cx="8238243" cy="1221291"/>
          </a:xfrm>
        </p:spPr>
        <p:txBody>
          <a:bodyPr wrap="square" lIns="0" tIns="18000" rIns="0" bIns="18000" anchor="ctr" anchorCtr="0">
            <a:spAutoFit/>
          </a:bodyPr>
          <a:lstStyle/>
          <a:p>
            <a:pPr marL="342900" indent="-342900">
              <a:spcBef>
                <a:spcPts val="600"/>
              </a:spcBef>
            </a:pPr>
            <a:r>
              <a:rPr lang="en-US" altLang="en-US" sz="2400" noProof="0" dirty="0"/>
              <a:t>Node voltage method:</a:t>
            </a:r>
          </a:p>
          <a:p>
            <a:pPr marL="829818" lvl="1" indent="-342900"/>
            <a:r>
              <a:rPr lang="en-US" altLang="en-US" sz="2400" noProof="0" dirty="0"/>
              <a:t>Step 3 – Write a </a:t>
            </a:r>
            <a:r>
              <a:rPr lang="en-US" altLang="en-US" sz="2400" kern="0" spc="-350" noProof="0" dirty="0"/>
              <a:t>K C </a:t>
            </a:r>
            <a:r>
              <a:rPr lang="en-US" altLang="en-US" sz="2400" noProof="0" dirty="0"/>
              <a:t>L equation for every nonreference essential node.</a:t>
            </a:r>
            <a:endParaRPr lang="en-US" sz="2400" noProof="0" dirty="0"/>
          </a:p>
        </p:txBody>
      </p:sp>
      <p:pic>
        <p:nvPicPr>
          <p:cNvPr id="6" name="Picture 5"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n arrow mark is point downward from the left node of bottom wire.">
            <a:extLst>
              <a:ext uri="{FF2B5EF4-FFF2-40B4-BE49-F238E27FC236}">
                <a16:creationId xmlns:a16="http://schemas.microsoft.com/office/drawing/2014/main" id="{90C5F433-977C-E888-4C30-6CABBAFE15D0}"/>
              </a:ext>
            </a:extLst>
          </p:cNvPr>
          <p:cNvPicPr>
            <a:picLocks noChangeAspect="1"/>
          </p:cNvPicPr>
          <p:nvPr/>
        </p:nvPicPr>
        <p:blipFill>
          <a:blip r:embed="rId2"/>
          <a:stretch>
            <a:fillRect/>
          </a:stretch>
        </p:blipFill>
        <p:spPr>
          <a:xfrm>
            <a:off x="1971675" y="2917323"/>
            <a:ext cx="5200650" cy="1984882"/>
          </a:xfrm>
          <a:prstGeom prst="rect">
            <a:avLst/>
          </a:prstGeom>
        </p:spPr>
      </p:pic>
      <p:graphicFrame>
        <p:nvGraphicFramePr>
          <p:cNvPr id="4" name="Object 3" descr="At v: StartFraction v minus 50 over 5 EndFraction plus StartFraction v minus 0 over 10 EndFraction plus StartFraction v minus 0 over 40 EndFraction minus 3 equals 0.">
            <a:extLst>
              <a:ext uri="{FF2B5EF4-FFF2-40B4-BE49-F238E27FC236}">
                <a16:creationId xmlns:a16="http://schemas.microsoft.com/office/drawing/2014/main" id="{239256ED-8746-010B-307C-81C7D558F4D0}"/>
              </a:ext>
            </a:extLst>
          </p:cNvPr>
          <p:cNvGraphicFramePr>
            <a:graphicFrameLocks noChangeAspect="1"/>
          </p:cNvGraphicFramePr>
          <p:nvPr>
            <p:extLst>
              <p:ext uri="{D42A27DB-BD31-4B8C-83A1-F6EECF244321}">
                <p14:modId xmlns:p14="http://schemas.microsoft.com/office/powerpoint/2010/main" val="2494291061"/>
              </p:ext>
            </p:extLst>
          </p:nvPr>
        </p:nvGraphicFramePr>
        <p:xfrm>
          <a:off x="2173960" y="5092739"/>
          <a:ext cx="4792663" cy="722312"/>
        </p:xfrm>
        <a:graphic>
          <a:graphicData uri="http://schemas.openxmlformats.org/presentationml/2006/ole">
            <mc:AlternateContent xmlns:mc="http://schemas.openxmlformats.org/markup-compatibility/2006">
              <mc:Choice xmlns:v="urn:schemas-microsoft-com:vml" Requires="v">
                <p:oleObj name="Equation" r:id="rId3" imgW="2577960" imgH="393480" progId="Equation.DSMT4">
                  <p:embed/>
                </p:oleObj>
              </mc:Choice>
              <mc:Fallback>
                <p:oleObj name="Equation" r:id="rId3" imgW="2577960" imgH="393480" progId="Equation.DSMT4">
                  <p:embed/>
                  <p:pic>
                    <p:nvPicPr>
                      <p:cNvPr id="23" name="Object 22">
                        <a:extLst>
                          <a:ext uri="{FF2B5EF4-FFF2-40B4-BE49-F238E27FC236}">
                            <a16:creationId xmlns:a16="http://schemas.microsoft.com/office/drawing/2014/main" id="{D3C7EE86-54F0-B714-A256-00F86B0D827D}"/>
                          </a:ext>
                        </a:extLst>
                      </p:cNvPr>
                      <p:cNvPicPr>
                        <a:picLocks noChangeAspect="1" noChangeArrowheads="1"/>
                      </p:cNvPicPr>
                      <p:nvPr/>
                    </p:nvPicPr>
                    <p:blipFill>
                      <a:blip r:embed="rId4"/>
                      <a:srcRect/>
                      <a:stretch>
                        <a:fillRect/>
                      </a:stretch>
                    </p:blipFill>
                    <p:spPr bwMode="auto">
                      <a:xfrm>
                        <a:off x="2173960" y="5092739"/>
                        <a:ext cx="4792663" cy="722312"/>
                      </a:xfrm>
                      <a:prstGeom prst="rect">
                        <a:avLst/>
                      </a:prstGeom>
                      <a:noFill/>
                      <a:ln w="28575">
                        <a:solidFill>
                          <a:srgbClr val="007FA3"/>
                        </a:solidFill>
                      </a:ln>
                    </p:spPr>
                  </p:pic>
                </p:oleObj>
              </mc:Fallback>
            </mc:AlternateContent>
          </a:graphicData>
        </a:graphic>
      </p:graphicFrame>
    </p:spTree>
    <p:extLst>
      <p:ext uri="{BB962C8B-B14F-4D97-AF65-F5344CB8AC3E}">
        <p14:creationId xmlns:p14="http://schemas.microsoft.com/office/powerpoint/2010/main" val="487388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(12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514137"/>
            <a:ext cx="8238243" cy="728849"/>
          </a:xfrm>
        </p:spPr>
        <p:txBody>
          <a:bodyPr wrap="square" lIns="0" tIns="18000" rIns="0" bIns="18000" anchor="ctr" anchorCtr="0">
            <a:spAutoFit/>
          </a:bodyPr>
          <a:lstStyle/>
          <a:p>
            <a:pPr marL="342900" indent="-342900">
              <a:spcBef>
                <a:spcPts val="600"/>
              </a:spcBef>
            </a:pPr>
            <a:r>
              <a:rPr lang="en-US" altLang="en-US" sz="2000" noProof="0" dirty="0"/>
              <a:t>Node voltage method:</a:t>
            </a:r>
          </a:p>
          <a:p>
            <a:pPr marL="829818" lvl="1" indent="-342900"/>
            <a:r>
              <a:rPr lang="en-US" altLang="en-US" sz="2000" noProof="0" dirty="0"/>
              <a:t>Step 4 – Solve the equations to find the node-voltage values.</a:t>
            </a:r>
            <a:endParaRPr lang="en-US" sz="2000" noProof="0" dirty="0"/>
          </a:p>
        </p:txBody>
      </p:sp>
      <p:graphicFrame>
        <p:nvGraphicFramePr>
          <p:cNvPr id="8" name="Object 7" descr="StartFraction v minus 50 over 5 EndFraction plus StartFraction v minus 0 over 10 EndFraction plus StartFraction v minus 0 over 40 EndFraction minus 3 equals 0.&#10;">
            <a:extLst>
              <a:ext uri="{FF2B5EF4-FFF2-40B4-BE49-F238E27FC236}">
                <a16:creationId xmlns:a16="http://schemas.microsoft.com/office/drawing/2014/main" id="{168F9991-72D6-3E29-30F9-4D2E05691437}"/>
              </a:ext>
            </a:extLst>
          </p:cNvPr>
          <p:cNvGraphicFramePr>
            <a:graphicFrameLocks noChangeAspect="1"/>
          </p:cNvGraphicFramePr>
          <p:nvPr>
            <p:extLst>
              <p:ext uri="{D42A27DB-BD31-4B8C-83A1-F6EECF244321}">
                <p14:modId xmlns:p14="http://schemas.microsoft.com/office/powerpoint/2010/main" val="3561264636"/>
              </p:ext>
            </p:extLst>
          </p:nvPr>
        </p:nvGraphicFramePr>
        <p:xfrm>
          <a:off x="495485" y="3473320"/>
          <a:ext cx="2925262" cy="532823"/>
        </p:xfrm>
        <a:graphic>
          <a:graphicData uri="http://schemas.openxmlformats.org/presentationml/2006/ole">
            <mc:AlternateContent xmlns:mc="http://schemas.openxmlformats.org/markup-compatibility/2006">
              <mc:Choice xmlns:v="urn:schemas-microsoft-com:vml" Requires="v">
                <p:oleObj name="Equation" r:id="rId3" imgW="2133360" imgH="393480" progId="Equation.DSMT4">
                  <p:embed/>
                </p:oleObj>
              </mc:Choice>
              <mc:Fallback>
                <p:oleObj name="Equation" r:id="rId3" imgW="2133360" imgH="393480" progId="Equation.DSMT4">
                  <p:embed/>
                  <p:pic>
                    <p:nvPicPr>
                      <p:cNvPr id="4" name="Object 3">
                        <a:extLst>
                          <a:ext uri="{FF2B5EF4-FFF2-40B4-BE49-F238E27FC236}">
                            <a16:creationId xmlns:a16="http://schemas.microsoft.com/office/drawing/2014/main" id="{239256ED-8746-010B-307C-81C7D558F4D0}"/>
                          </a:ext>
                        </a:extLst>
                      </p:cNvPr>
                      <p:cNvPicPr>
                        <a:picLocks noChangeAspect="1" noChangeArrowheads="1"/>
                      </p:cNvPicPr>
                      <p:nvPr/>
                    </p:nvPicPr>
                    <p:blipFill>
                      <a:blip r:embed="rId4"/>
                      <a:srcRect/>
                      <a:stretch>
                        <a:fillRect/>
                      </a:stretch>
                    </p:blipFill>
                    <p:spPr bwMode="auto">
                      <a:xfrm>
                        <a:off x="495485" y="3473320"/>
                        <a:ext cx="2925262" cy="5328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descr="Forward arrow, v OpenParenthesis StartFraction 1 over 5 EndFraction plus StartFraction 1 over 10 EndFraction plus StartFraction 1 over 40 EndFraction CloseParenthesis equals 3 plus StartFraction 50 over 5 EndFraction.&#10;">
            <a:extLst>
              <a:ext uri="{FF2B5EF4-FFF2-40B4-BE49-F238E27FC236}">
                <a16:creationId xmlns:a16="http://schemas.microsoft.com/office/drawing/2014/main" id="{E588B16B-33C0-8AA8-8C39-4E6BEE4F346F}"/>
              </a:ext>
            </a:extLst>
          </p:cNvPr>
          <p:cNvGraphicFramePr>
            <a:graphicFrameLocks noChangeAspect="1"/>
          </p:cNvGraphicFramePr>
          <p:nvPr>
            <p:extLst>
              <p:ext uri="{D42A27DB-BD31-4B8C-83A1-F6EECF244321}">
                <p14:modId xmlns:p14="http://schemas.microsoft.com/office/powerpoint/2010/main" val="637959040"/>
              </p:ext>
            </p:extLst>
          </p:nvPr>
        </p:nvGraphicFramePr>
        <p:xfrm>
          <a:off x="487864" y="4095633"/>
          <a:ext cx="3116025" cy="583530"/>
        </p:xfrm>
        <a:graphic>
          <a:graphicData uri="http://schemas.openxmlformats.org/presentationml/2006/ole">
            <mc:AlternateContent xmlns:mc="http://schemas.openxmlformats.org/markup-compatibility/2006">
              <mc:Choice xmlns:v="urn:schemas-microsoft-com:vml" Requires="v">
                <p:oleObj name="Equation" r:id="rId5" imgW="2273040" imgH="431640" progId="Equation.DSMT4">
                  <p:embed/>
                </p:oleObj>
              </mc:Choice>
              <mc:Fallback>
                <p:oleObj name="Equation" r:id="rId5" imgW="2273040" imgH="431640" progId="Equation.DSMT4">
                  <p:embed/>
                  <p:pic>
                    <p:nvPicPr>
                      <p:cNvPr id="8" name="Object 7">
                        <a:extLst>
                          <a:ext uri="{FF2B5EF4-FFF2-40B4-BE49-F238E27FC236}">
                            <a16:creationId xmlns:a16="http://schemas.microsoft.com/office/drawing/2014/main" id="{168F9991-72D6-3E29-30F9-4D2E05691437}"/>
                          </a:ext>
                        </a:extLst>
                      </p:cNvPr>
                      <p:cNvPicPr>
                        <a:picLocks noChangeAspect="1" noChangeArrowheads="1"/>
                      </p:cNvPicPr>
                      <p:nvPr/>
                    </p:nvPicPr>
                    <p:blipFill>
                      <a:blip r:embed="rId6"/>
                      <a:srcRect/>
                      <a:stretch>
                        <a:fillRect/>
                      </a:stretch>
                    </p:blipFill>
                    <p:spPr bwMode="auto">
                      <a:xfrm>
                        <a:off x="487864" y="4095633"/>
                        <a:ext cx="3116025" cy="5835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The figure illustrates the process of substituting the value of an expression for solving.&#10;Long description is available in notes, press F6.">
            <a:extLst>
              <a:ext uri="{FF2B5EF4-FFF2-40B4-BE49-F238E27FC236}">
                <a16:creationId xmlns:a16="http://schemas.microsoft.com/office/drawing/2014/main" id="{C8304598-D80D-8D29-FE21-3F14846BD648}"/>
              </a:ext>
            </a:extLst>
          </p:cNvPr>
          <p:cNvGraphicFramePr>
            <a:graphicFrameLocks noChangeAspect="1"/>
          </p:cNvGraphicFramePr>
          <p:nvPr>
            <p:extLst>
              <p:ext uri="{D42A27DB-BD31-4B8C-83A1-F6EECF244321}">
                <p14:modId xmlns:p14="http://schemas.microsoft.com/office/powerpoint/2010/main" val="159066943"/>
              </p:ext>
            </p:extLst>
          </p:nvPr>
        </p:nvGraphicFramePr>
        <p:xfrm>
          <a:off x="487004" y="4785214"/>
          <a:ext cx="4283083" cy="617023"/>
        </p:xfrm>
        <a:graphic>
          <a:graphicData uri="http://schemas.openxmlformats.org/presentationml/2006/ole">
            <mc:AlternateContent xmlns:mc="http://schemas.openxmlformats.org/markup-compatibility/2006">
              <mc:Choice xmlns:v="urn:schemas-microsoft-com:vml" Requires="v">
                <p:oleObj name="Equation" r:id="rId7" imgW="3124080" imgH="457200" progId="Equation.DSMT4">
                  <p:embed/>
                </p:oleObj>
              </mc:Choice>
              <mc:Fallback>
                <p:oleObj name="Equation" r:id="rId7" imgW="3124080" imgH="457200" progId="Equation.DSMT4">
                  <p:embed/>
                  <p:pic>
                    <p:nvPicPr>
                      <p:cNvPr id="9" name="Object 8">
                        <a:extLst>
                          <a:ext uri="{FF2B5EF4-FFF2-40B4-BE49-F238E27FC236}">
                            <a16:creationId xmlns:a16="http://schemas.microsoft.com/office/drawing/2014/main" id="{E588B16B-33C0-8AA8-8C39-4E6BEE4F346F}"/>
                          </a:ext>
                        </a:extLst>
                      </p:cNvPr>
                      <p:cNvPicPr>
                        <a:picLocks noChangeAspect="1" noChangeArrowheads="1"/>
                      </p:cNvPicPr>
                      <p:nvPr/>
                    </p:nvPicPr>
                    <p:blipFill>
                      <a:blip r:embed="rId8"/>
                      <a:srcRect/>
                      <a:stretch>
                        <a:fillRect/>
                      </a:stretch>
                    </p:blipFill>
                    <p:spPr bwMode="auto">
                      <a:xfrm>
                        <a:off x="487004" y="4785214"/>
                        <a:ext cx="4283083" cy="6170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Forward arrow, v OpenParenthesis 8 plus 4 plus 1 CloseParenthesis equals 120 plus 400.">
            <a:extLst>
              <a:ext uri="{FF2B5EF4-FFF2-40B4-BE49-F238E27FC236}">
                <a16:creationId xmlns:a16="http://schemas.microsoft.com/office/drawing/2014/main" id="{397F1227-EECC-78D7-74DA-19EF41D94E2B}"/>
              </a:ext>
            </a:extLst>
          </p:cNvPr>
          <p:cNvGraphicFramePr>
            <a:graphicFrameLocks noChangeAspect="1"/>
          </p:cNvGraphicFramePr>
          <p:nvPr>
            <p:extLst>
              <p:ext uri="{D42A27DB-BD31-4B8C-83A1-F6EECF244321}">
                <p14:modId xmlns:p14="http://schemas.microsoft.com/office/powerpoint/2010/main" val="3815161531"/>
              </p:ext>
            </p:extLst>
          </p:nvPr>
        </p:nvGraphicFramePr>
        <p:xfrm>
          <a:off x="487783" y="5497020"/>
          <a:ext cx="2978189" cy="291123"/>
        </p:xfrm>
        <a:graphic>
          <a:graphicData uri="http://schemas.openxmlformats.org/presentationml/2006/ole">
            <mc:AlternateContent xmlns:mc="http://schemas.openxmlformats.org/markup-compatibility/2006">
              <mc:Choice xmlns:v="urn:schemas-microsoft-com:vml" Requires="v">
                <p:oleObj name="Equation" r:id="rId9" imgW="2171520" imgH="215640" progId="Equation.DSMT4">
                  <p:embed/>
                </p:oleObj>
              </mc:Choice>
              <mc:Fallback>
                <p:oleObj name="Equation" r:id="rId9" imgW="2171520" imgH="215640" progId="Equation.DSMT4">
                  <p:embed/>
                  <p:pic>
                    <p:nvPicPr>
                      <p:cNvPr id="10" name="Object 9">
                        <a:extLst>
                          <a:ext uri="{FF2B5EF4-FFF2-40B4-BE49-F238E27FC236}">
                            <a16:creationId xmlns:a16="http://schemas.microsoft.com/office/drawing/2014/main" id="{C8304598-D80D-8D29-FE21-3F14846BD648}"/>
                          </a:ext>
                        </a:extLst>
                      </p:cNvPr>
                      <p:cNvPicPr>
                        <a:picLocks noChangeAspect="1" noChangeArrowheads="1"/>
                      </p:cNvPicPr>
                      <p:nvPr/>
                    </p:nvPicPr>
                    <p:blipFill>
                      <a:blip r:embed="rId10"/>
                      <a:srcRect/>
                      <a:stretch>
                        <a:fillRect/>
                      </a:stretch>
                    </p:blipFill>
                    <p:spPr bwMode="auto">
                      <a:xfrm>
                        <a:off x="487783" y="5497020"/>
                        <a:ext cx="2978189" cy="291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descr="Forward arrow, v equals 520 divided by 13 equals 40 Volts.">
            <a:extLst>
              <a:ext uri="{FF2B5EF4-FFF2-40B4-BE49-F238E27FC236}">
                <a16:creationId xmlns:a16="http://schemas.microsoft.com/office/drawing/2014/main" id="{1E6C8C1D-DB1D-7555-CE2C-9EF77EB1BE0C}"/>
              </a:ext>
            </a:extLst>
          </p:cNvPr>
          <p:cNvGraphicFramePr>
            <a:graphicFrameLocks noChangeAspect="1"/>
          </p:cNvGraphicFramePr>
          <p:nvPr>
            <p:extLst>
              <p:ext uri="{D42A27DB-BD31-4B8C-83A1-F6EECF244321}">
                <p14:modId xmlns:p14="http://schemas.microsoft.com/office/powerpoint/2010/main" val="1888472607"/>
              </p:ext>
            </p:extLst>
          </p:nvPr>
        </p:nvGraphicFramePr>
        <p:xfrm>
          <a:off x="488811" y="5910962"/>
          <a:ext cx="2437169" cy="291123"/>
        </p:xfrm>
        <a:graphic>
          <a:graphicData uri="http://schemas.openxmlformats.org/presentationml/2006/ole">
            <mc:AlternateContent xmlns:mc="http://schemas.openxmlformats.org/markup-compatibility/2006">
              <mc:Choice xmlns:v="urn:schemas-microsoft-com:vml" Requires="v">
                <p:oleObj name="Equation" r:id="rId11" imgW="1777680" imgH="215640" progId="Equation.DSMT4">
                  <p:embed/>
                </p:oleObj>
              </mc:Choice>
              <mc:Fallback>
                <p:oleObj name="Equation" r:id="rId11" imgW="1777680" imgH="215640" progId="Equation.DSMT4">
                  <p:embed/>
                  <p:pic>
                    <p:nvPicPr>
                      <p:cNvPr id="11" name="Object 10">
                        <a:extLst>
                          <a:ext uri="{FF2B5EF4-FFF2-40B4-BE49-F238E27FC236}">
                            <a16:creationId xmlns:a16="http://schemas.microsoft.com/office/drawing/2014/main" id="{397F1227-EECC-78D7-74DA-19EF41D94E2B}"/>
                          </a:ext>
                        </a:extLst>
                      </p:cNvPr>
                      <p:cNvPicPr>
                        <a:picLocks noChangeAspect="1" noChangeArrowheads="1"/>
                      </p:cNvPicPr>
                      <p:nvPr/>
                    </p:nvPicPr>
                    <p:blipFill>
                      <a:blip r:embed="rId12"/>
                      <a:srcRect/>
                      <a:stretch>
                        <a:fillRect/>
                      </a:stretch>
                    </p:blipFill>
                    <p:spPr bwMode="auto">
                      <a:xfrm>
                        <a:off x="488811" y="5910962"/>
                        <a:ext cx="2437169" cy="291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 name="Picture 6"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n arrow mark is point downward from the left node of bottom wire.">
            <a:extLst>
              <a:ext uri="{FF2B5EF4-FFF2-40B4-BE49-F238E27FC236}">
                <a16:creationId xmlns:a16="http://schemas.microsoft.com/office/drawing/2014/main" id="{1E4D10F7-822E-7DBA-D707-8E68D86F3CDE}"/>
              </a:ext>
            </a:extLst>
          </p:cNvPr>
          <p:cNvPicPr>
            <a:picLocks noChangeAspect="1"/>
          </p:cNvPicPr>
          <p:nvPr/>
        </p:nvPicPr>
        <p:blipFill>
          <a:blip r:embed="rId13"/>
          <a:stretch>
            <a:fillRect/>
          </a:stretch>
        </p:blipFill>
        <p:spPr>
          <a:xfrm>
            <a:off x="5124367" y="2436916"/>
            <a:ext cx="3552114" cy="1355701"/>
          </a:xfrm>
          <a:prstGeom prst="rect">
            <a:avLst/>
          </a:prstGeom>
        </p:spPr>
      </p:pic>
      <p:sp>
        <p:nvSpPr>
          <p:cNvPr id="4" name="Rectangle 3">
            <a:extLst>
              <a:ext uri="{FF2B5EF4-FFF2-40B4-BE49-F238E27FC236}">
                <a16:creationId xmlns:a16="http://schemas.microsoft.com/office/drawing/2014/main" id="{C1D93F0F-190F-1CBC-5A69-4A63421726B5}"/>
              </a:ext>
              <a:ext uri="{C183D7F6-B498-43B3-948B-1728B52AA6E4}">
                <adec:decorative xmlns:adec="http://schemas.microsoft.com/office/drawing/2017/decorative" val="1"/>
              </a:ext>
            </a:extLst>
          </p:cNvPr>
          <p:cNvSpPr/>
          <p:nvPr/>
        </p:nvSpPr>
        <p:spPr>
          <a:xfrm>
            <a:off x="459662" y="3429000"/>
            <a:ext cx="4338135" cy="2773085"/>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4188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(13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528211"/>
            <a:ext cx="8238243" cy="790404"/>
          </a:xfrm>
        </p:spPr>
        <p:txBody>
          <a:bodyPr wrap="square" lIns="0" tIns="18000" rIns="0" bIns="18000" anchor="ctr" anchorCtr="0">
            <a:spAutoFit/>
          </a:bodyPr>
          <a:lstStyle/>
          <a:p>
            <a:pPr marL="342900" indent="-342900">
              <a:spcBef>
                <a:spcPts val="600"/>
              </a:spcBef>
            </a:pPr>
            <a:r>
              <a:rPr lang="en-US" altLang="en-US" sz="2200" noProof="0" dirty="0"/>
              <a:t>Node voltage method:</a:t>
            </a:r>
          </a:p>
          <a:p>
            <a:pPr marL="829818" lvl="1" indent="-342900"/>
            <a:r>
              <a:rPr lang="en-US" altLang="en-US" sz="2200" noProof="0" dirty="0"/>
              <a:t>Step 5 – Solve the circuit using node voltages from Step 4.</a:t>
            </a:r>
            <a:endParaRPr lang="en-US" sz="2200" noProof="0" dirty="0"/>
          </a:p>
        </p:txBody>
      </p:sp>
      <p:pic>
        <p:nvPicPr>
          <p:cNvPr id="5" name="Picture 4"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n arrow mark is point downward from the left node of bottom wire. Node voltage is given as 40 volts.">
            <a:extLst>
              <a:ext uri="{FF2B5EF4-FFF2-40B4-BE49-F238E27FC236}">
                <a16:creationId xmlns:a16="http://schemas.microsoft.com/office/drawing/2014/main" id="{46E8A968-6EA8-127A-417D-A92C8A1EA89C}"/>
              </a:ext>
            </a:extLst>
          </p:cNvPr>
          <p:cNvPicPr>
            <a:picLocks noChangeAspect="1"/>
          </p:cNvPicPr>
          <p:nvPr/>
        </p:nvPicPr>
        <p:blipFill>
          <a:blip r:embed="rId2"/>
          <a:stretch>
            <a:fillRect/>
          </a:stretch>
        </p:blipFill>
        <p:spPr>
          <a:xfrm>
            <a:off x="519598" y="2992693"/>
            <a:ext cx="4654595" cy="1834153"/>
          </a:xfrm>
          <a:prstGeom prst="rect">
            <a:avLst/>
          </a:prstGeom>
        </p:spPr>
      </p:pic>
      <p:graphicFrame>
        <p:nvGraphicFramePr>
          <p:cNvPr id="6" name="Object 5" descr="i subscript a BaseLine equals StartFraction 50 minus 40 over 5 EndFraction equals 2 Amperes.">
            <a:extLst>
              <a:ext uri="{FF2B5EF4-FFF2-40B4-BE49-F238E27FC236}">
                <a16:creationId xmlns:a16="http://schemas.microsoft.com/office/drawing/2014/main" id="{F0748AFF-E441-F060-68C7-8C083DE0F915}"/>
              </a:ext>
            </a:extLst>
          </p:cNvPr>
          <p:cNvGraphicFramePr>
            <a:graphicFrameLocks noChangeAspect="1"/>
          </p:cNvGraphicFramePr>
          <p:nvPr>
            <p:extLst>
              <p:ext uri="{D42A27DB-BD31-4B8C-83A1-F6EECF244321}">
                <p14:modId xmlns:p14="http://schemas.microsoft.com/office/powerpoint/2010/main" val="3214760602"/>
              </p:ext>
            </p:extLst>
          </p:nvPr>
        </p:nvGraphicFramePr>
        <p:xfrm>
          <a:off x="6014710" y="2781202"/>
          <a:ext cx="2168525" cy="657225"/>
        </p:xfrm>
        <a:graphic>
          <a:graphicData uri="http://schemas.openxmlformats.org/presentationml/2006/ole">
            <mc:AlternateContent xmlns:mc="http://schemas.openxmlformats.org/markup-compatibility/2006">
              <mc:Choice xmlns:v="urn:schemas-microsoft-com:vml" Requires="v">
                <p:oleObj name="Equation" r:id="rId3" imgW="1282680" imgH="393480" progId="Equation.DSMT4">
                  <p:embed/>
                </p:oleObj>
              </mc:Choice>
              <mc:Fallback>
                <p:oleObj name="Equation" r:id="rId3" imgW="1282680" imgH="393480" progId="Equation.DSMT4">
                  <p:embed/>
                  <p:pic>
                    <p:nvPicPr>
                      <p:cNvPr id="8" name="Object 7">
                        <a:extLst>
                          <a:ext uri="{FF2B5EF4-FFF2-40B4-BE49-F238E27FC236}">
                            <a16:creationId xmlns:a16="http://schemas.microsoft.com/office/drawing/2014/main" id="{168F9991-72D6-3E29-30F9-4D2E05691437}"/>
                          </a:ext>
                        </a:extLst>
                      </p:cNvPr>
                      <p:cNvPicPr>
                        <a:picLocks noChangeAspect="1" noChangeArrowheads="1"/>
                      </p:cNvPicPr>
                      <p:nvPr/>
                    </p:nvPicPr>
                    <p:blipFill>
                      <a:blip r:embed="rId4"/>
                      <a:srcRect/>
                      <a:stretch>
                        <a:fillRect/>
                      </a:stretch>
                    </p:blipFill>
                    <p:spPr bwMode="auto">
                      <a:xfrm>
                        <a:off x="6014710" y="2781202"/>
                        <a:ext cx="2168525"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descr="i subscript b BaseLine equals StartFraction 40 minus 0 over 10 EndFraction equals 4 Amperes.">
            <a:extLst>
              <a:ext uri="{FF2B5EF4-FFF2-40B4-BE49-F238E27FC236}">
                <a16:creationId xmlns:a16="http://schemas.microsoft.com/office/drawing/2014/main" id="{9C0957D4-7DA7-E855-9612-F017A516688B}"/>
              </a:ext>
            </a:extLst>
          </p:cNvPr>
          <p:cNvGraphicFramePr>
            <a:graphicFrameLocks noChangeAspect="1"/>
          </p:cNvGraphicFramePr>
          <p:nvPr>
            <p:extLst>
              <p:ext uri="{D42A27DB-BD31-4B8C-83A1-F6EECF244321}">
                <p14:modId xmlns:p14="http://schemas.microsoft.com/office/powerpoint/2010/main" val="1181720155"/>
              </p:ext>
            </p:extLst>
          </p:nvPr>
        </p:nvGraphicFramePr>
        <p:xfrm>
          <a:off x="6014710" y="3572071"/>
          <a:ext cx="2039937" cy="657225"/>
        </p:xfrm>
        <a:graphic>
          <a:graphicData uri="http://schemas.openxmlformats.org/presentationml/2006/ole">
            <mc:AlternateContent xmlns:mc="http://schemas.openxmlformats.org/markup-compatibility/2006">
              <mc:Choice xmlns:v="urn:schemas-microsoft-com:vml" Requires="v">
                <p:oleObj name="Equation" r:id="rId5" imgW="1206360" imgH="393480" progId="Equation.DSMT4">
                  <p:embed/>
                </p:oleObj>
              </mc:Choice>
              <mc:Fallback>
                <p:oleObj name="Equation" r:id="rId5" imgW="1206360" imgH="393480" progId="Equation.DSMT4">
                  <p:embed/>
                  <p:pic>
                    <p:nvPicPr>
                      <p:cNvPr id="6" name="Object 5">
                        <a:extLst>
                          <a:ext uri="{FF2B5EF4-FFF2-40B4-BE49-F238E27FC236}">
                            <a16:creationId xmlns:a16="http://schemas.microsoft.com/office/drawing/2014/main" id="{F0748AFF-E441-F060-68C7-8C083DE0F915}"/>
                          </a:ext>
                        </a:extLst>
                      </p:cNvPr>
                      <p:cNvPicPr>
                        <a:picLocks noChangeAspect="1" noChangeArrowheads="1"/>
                      </p:cNvPicPr>
                      <p:nvPr/>
                    </p:nvPicPr>
                    <p:blipFill>
                      <a:blip r:embed="rId6"/>
                      <a:srcRect/>
                      <a:stretch>
                        <a:fillRect/>
                      </a:stretch>
                    </p:blipFill>
                    <p:spPr bwMode="auto">
                      <a:xfrm>
                        <a:off x="6014710" y="3572071"/>
                        <a:ext cx="2039937"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descr="i subscript c BaseLine equals StartFraction 40 minus 0 over 40 EndFraction equals 1 Ampere.">
            <a:extLst>
              <a:ext uri="{FF2B5EF4-FFF2-40B4-BE49-F238E27FC236}">
                <a16:creationId xmlns:a16="http://schemas.microsoft.com/office/drawing/2014/main" id="{D557E6D2-CDD1-E528-8375-ED5B29508472}"/>
              </a:ext>
            </a:extLst>
          </p:cNvPr>
          <p:cNvGraphicFramePr>
            <a:graphicFrameLocks noChangeAspect="1"/>
          </p:cNvGraphicFramePr>
          <p:nvPr>
            <p:extLst>
              <p:ext uri="{D42A27DB-BD31-4B8C-83A1-F6EECF244321}">
                <p14:modId xmlns:p14="http://schemas.microsoft.com/office/powerpoint/2010/main" val="924884035"/>
              </p:ext>
            </p:extLst>
          </p:nvPr>
        </p:nvGraphicFramePr>
        <p:xfrm>
          <a:off x="6014710" y="4362940"/>
          <a:ext cx="1976437" cy="657225"/>
        </p:xfrm>
        <a:graphic>
          <a:graphicData uri="http://schemas.openxmlformats.org/presentationml/2006/ole">
            <mc:AlternateContent xmlns:mc="http://schemas.openxmlformats.org/markup-compatibility/2006">
              <mc:Choice xmlns:v="urn:schemas-microsoft-com:vml" Requires="v">
                <p:oleObj name="Equation" r:id="rId7" imgW="1168200" imgH="393480" progId="Equation.DSMT4">
                  <p:embed/>
                </p:oleObj>
              </mc:Choice>
              <mc:Fallback>
                <p:oleObj name="Equation" r:id="rId7" imgW="1168200" imgH="393480" progId="Equation.DSMT4">
                  <p:embed/>
                  <p:pic>
                    <p:nvPicPr>
                      <p:cNvPr id="13" name="Object 12">
                        <a:extLst>
                          <a:ext uri="{FF2B5EF4-FFF2-40B4-BE49-F238E27FC236}">
                            <a16:creationId xmlns:a16="http://schemas.microsoft.com/office/drawing/2014/main" id="{9C0957D4-7DA7-E855-9612-F017A516688B}"/>
                          </a:ext>
                        </a:extLst>
                      </p:cNvPr>
                      <p:cNvPicPr>
                        <a:picLocks noChangeAspect="1" noChangeArrowheads="1"/>
                      </p:cNvPicPr>
                      <p:nvPr/>
                    </p:nvPicPr>
                    <p:blipFill>
                      <a:blip r:embed="rId8"/>
                      <a:srcRect/>
                      <a:stretch>
                        <a:fillRect/>
                      </a:stretch>
                    </p:blipFill>
                    <p:spPr bwMode="auto">
                      <a:xfrm>
                        <a:off x="6014710" y="4362940"/>
                        <a:ext cx="1976437"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9DEE1017-F09A-0DC3-60F1-1CADBCC71067}"/>
              </a:ext>
              <a:ext uri="{C183D7F6-B498-43B3-948B-1728B52AA6E4}">
                <adec:decorative xmlns:adec="http://schemas.microsoft.com/office/drawing/2017/decorative" val="1"/>
              </a:ext>
            </a:extLst>
          </p:cNvPr>
          <p:cNvSpPr/>
          <p:nvPr/>
        </p:nvSpPr>
        <p:spPr>
          <a:xfrm>
            <a:off x="5959290" y="2781202"/>
            <a:ext cx="2298017" cy="2238963"/>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926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(14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511500"/>
            <a:ext cx="8238243" cy="1144347"/>
          </a:xfrm>
        </p:spPr>
        <p:txBody>
          <a:bodyPr wrap="square" lIns="0" tIns="18000" rIns="0" bIns="18000" anchor="ctr" anchorCtr="0">
            <a:spAutoFit/>
          </a:bodyPr>
          <a:lstStyle/>
          <a:p>
            <a:pPr marL="0" indent="0">
              <a:buNone/>
            </a:pPr>
            <a:r>
              <a:rPr lang="en-US" sz="2400" noProof="0" dirty="0"/>
              <a:t>We just showed that the voltage drop between the top node and the reference node in this circuit is 40 V. Find the power for the current source.</a:t>
            </a:r>
          </a:p>
        </p:txBody>
      </p:sp>
      <p:pic>
        <p:nvPicPr>
          <p:cNvPr id="10" name="Picture 9"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n arrow mark is point downward from the left node of bottom wire. Node voltage is given as 40 volts.">
            <a:extLst>
              <a:ext uri="{FF2B5EF4-FFF2-40B4-BE49-F238E27FC236}">
                <a16:creationId xmlns:a16="http://schemas.microsoft.com/office/drawing/2014/main" id="{D6315E31-DBD3-B4FD-D8F4-7BBE95411695}"/>
              </a:ext>
            </a:extLst>
          </p:cNvPr>
          <p:cNvPicPr>
            <a:picLocks noChangeAspect="1"/>
          </p:cNvPicPr>
          <p:nvPr/>
        </p:nvPicPr>
        <p:blipFill>
          <a:blip r:embed="rId2"/>
          <a:stretch>
            <a:fillRect/>
          </a:stretch>
        </p:blipFill>
        <p:spPr>
          <a:xfrm>
            <a:off x="2468419" y="2732057"/>
            <a:ext cx="4207162" cy="1657841"/>
          </a:xfrm>
          <a:prstGeom prst="rect">
            <a:avLst/>
          </a:prstGeom>
        </p:spPr>
      </p:pic>
      <p:pic>
        <p:nvPicPr>
          <p:cNvPr id="24" name="Picture 23" descr="Cross mark">
            <a:extLst>
              <a:ext uri="{FF2B5EF4-FFF2-40B4-BE49-F238E27FC236}">
                <a16:creationId xmlns:a16="http://schemas.microsoft.com/office/drawing/2014/main" id="{50E0EE58-5F77-C8C2-DF16-25BD202FFCF5}"/>
              </a:ext>
            </a:extLst>
          </p:cNvPr>
          <p:cNvPicPr>
            <a:picLocks noChangeAspect="1"/>
          </p:cNvPicPr>
          <p:nvPr/>
        </p:nvPicPr>
        <p:blipFill>
          <a:blip r:embed="rId3"/>
          <a:stretch>
            <a:fillRect/>
          </a:stretch>
        </p:blipFill>
        <p:spPr>
          <a:xfrm>
            <a:off x="1017308" y="4543746"/>
            <a:ext cx="284384" cy="284384"/>
          </a:xfrm>
          <a:prstGeom prst="rect">
            <a:avLst/>
          </a:prstGeom>
        </p:spPr>
      </p:pic>
      <p:sp>
        <p:nvSpPr>
          <p:cNvPr id="4" name="Content Placeholder 3">
            <a:extLst>
              <a:ext uri="{FF2B5EF4-FFF2-40B4-BE49-F238E27FC236}">
                <a16:creationId xmlns:a16="http://schemas.microsoft.com/office/drawing/2014/main" id="{EC65537D-5621-6F30-D48A-2E9F4E1BC581}"/>
              </a:ext>
            </a:extLst>
          </p:cNvPr>
          <p:cNvSpPr>
            <a:spLocks noGrp="1"/>
          </p:cNvSpPr>
          <p:nvPr>
            <p:ph sz="quarter" idx="13"/>
          </p:nvPr>
        </p:nvSpPr>
        <p:spPr>
          <a:xfrm>
            <a:off x="1487345" y="4473670"/>
            <a:ext cx="1274709"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120 W</a:t>
            </a:r>
          </a:p>
        </p:txBody>
      </p:sp>
      <p:pic>
        <p:nvPicPr>
          <p:cNvPr id="27" name="Picture 26" descr="Cross mark">
            <a:extLst>
              <a:ext uri="{FF2B5EF4-FFF2-40B4-BE49-F238E27FC236}">
                <a16:creationId xmlns:a16="http://schemas.microsoft.com/office/drawing/2014/main" id="{20269D49-DE8F-957C-ADBD-B8CC9B2F8580}"/>
              </a:ext>
            </a:extLst>
          </p:cNvPr>
          <p:cNvPicPr>
            <a:picLocks noChangeAspect="1"/>
          </p:cNvPicPr>
          <p:nvPr/>
        </p:nvPicPr>
        <p:blipFill>
          <a:blip r:embed="rId3"/>
          <a:stretch>
            <a:fillRect/>
          </a:stretch>
        </p:blipFill>
        <p:spPr>
          <a:xfrm>
            <a:off x="1012516" y="5050824"/>
            <a:ext cx="284384" cy="284384"/>
          </a:xfrm>
          <a:prstGeom prst="rect">
            <a:avLst/>
          </a:prstGeom>
        </p:spPr>
      </p:pic>
      <p:sp>
        <p:nvSpPr>
          <p:cNvPr id="5" name="Content Placeholder 4">
            <a:extLst>
              <a:ext uri="{FF2B5EF4-FFF2-40B4-BE49-F238E27FC236}">
                <a16:creationId xmlns:a16="http://schemas.microsoft.com/office/drawing/2014/main" id="{47ECDF9E-9E5B-8608-384F-3C1EB6EE5310}"/>
              </a:ext>
            </a:extLst>
          </p:cNvPr>
          <p:cNvSpPr>
            <a:spLocks noGrp="1"/>
          </p:cNvSpPr>
          <p:nvPr>
            <p:ph sz="quarter" idx="14"/>
          </p:nvPr>
        </p:nvSpPr>
        <p:spPr>
          <a:xfrm>
            <a:off x="1487345" y="4987358"/>
            <a:ext cx="1510380" cy="405683"/>
          </a:xfrm>
        </p:spPr>
        <p:txBody>
          <a:bodyPr wrap="square" lIns="0" tIns="18000" rIns="0" bIns="18000" anchor="ctr" anchorCtr="0">
            <a:spAutoFit/>
          </a:bodyPr>
          <a:lstStyle/>
          <a:p>
            <a:pPr marL="0" indent="0">
              <a:buNone/>
            </a:pPr>
            <a:r>
              <a:rPr lang="en-US" sz="2400" noProof="0" dirty="0">
                <a:solidFill>
                  <a:schemeClr val="tx2"/>
                </a:solidFill>
                <a:latin typeface="Arial" panose="020B0604020202020204" pitchFamily="34" charset="0"/>
                <a:cs typeface="Arial" panose="020B0604020202020204" pitchFamily="34" charset="0"/>
              </a:rPr>
              <a:t>B.</a:t>
            </a:r>
            <a:r>
              <a:rPr lang="en-US" sz="2400" noProof="0" dirty="0">
                <a:latin typeface="Arial" panose="020B0604020202020204" pitchFamily="34" charset="0"/>
                <a:cs typeface="Arial" panose="020B0604020202020204" pitchFamily="34" charset="0"/>
              </a:rPr>
              <a:t> </a:t>
            </a:r>
            <a:r>
              <a:rPr lang="en-US" sz="2400" noProof="0" dirty="0">
                <a:effectLst/>
                <a:latin typeface="Arial" panose="020B0604020202020204" pitchFamily="34" charset="0"/>
                <a:ea typeface="Calibri" panose="020F0502020204030204" pitchFamily="34" charset="0"/>
                <a:cs typeface="Arial" panose="020B0604020202020204" pitchFamily="34" charset="0"/>
              </a:rPr>
              <a:t>−</a:t>
            </a:r>
            <a:r>
              <a:rPr lang="en-US" altLang="en-US" sz="2400" noProof="0" dirty="0">
                <a:latin typeface="Arial" panose="020B0604020202020204" pitchFamily="34" charset="0"/>
                <a:cs typeface="Arial" panose="020B0604020202020204" pitchFamily="34" charset="0"/>
              </a:rPr>
              <a:t>100 W</a:t>
            </a:r>
            <a:endParaRPr lang="en-US" sz="2400" noProof="0" dirty="0">
              <a:latin typeface="Arial" panose="020B0604020202020204" pitchFamily="34" charset="0"/>
              <a:cs typeface="Arial" panose="020B0604020202020204" pitchFamily="34" charset="0"/>
            </a:endParaRPr>
          </a:p>
        </p:txBody>
      </p:sp>
      <p:pic>
        <p:nvPicPr>
          <p:cNvPr id="26" name="Picture 25" descr="Check mark">
            <a:extLst>
              <a:ext uri="{FF2B5EF4-FFF2-40B4-BE49-F238E27FC236}">
                <a16:creationId xmlns:a16="http://schemas.microsoft.com/office/drawing/2014/main" id="{C8CFCF7B-A8E5-CE4A-A795-551D0A2C1D8A}"/>
              </a:ext>
            </a:extLst>
          </p:cNvPr>
          <p:cNvPicPr>
            <a:picLocks noChangeAspect="1"/>
          </p:cNvPicPr>
          <p:nvPr/>
        </p:nvPicPr>
        <p:blipFill>
          <a:blip r:embed="rId4"/>
          <a:stretch>
            <a:fillRect/>
          </a:stretch>
        </p:blipFill>
        <p:spPr>
          <a:xfrm>
            <a:off x="988870" y="5542736"/>
            <a:ext cx="312822" cy="312822"/>
          </a:xfrm>
          <a:prstGeom prst="rect">
            <a:avLst/>
          </a:prstGeom>
        </p:spPr>
      </p:pic>
      <p:sp>
        <p:nvSpPr>
          <p:cNvPr id="6" name="Content Placeholder 5">
            <a:extLst>
              <a:ext uri="{FF2B5EF4-FFF2-40B4-BE49-F238E27FC236}">
                <a16:creationId xmlns:a16="http://schemas.microsoft.com/office/drawing/2014/main" id="{C98518E8-8ABD-30A4-4B21-CD2FF6F6265F}"/>
              </a:ext>
            </a:extLst>
          </p:cNvPr>
          <p:cNvSpPr>
            <a:spLocks noGrp="1"/>
          </p:cNvSpPr>
          <p:nvPr>
            <p:ph sz="quarter" idx="15"/>
          </p:nvPr>
        </p:nvSpPr>
        <p:spPr>
          <a:xfrm>
            <a:off x="1487345" y="5501046"/>
            <a:ext cx="1453818" cy="405683"/>
          </a:xfrm>
        </p:spPr>
        <p:txBody>
          <a:bodyPr wrap="square" lIns="0" tIns="18000" rIns="0" bIns="18000" anchor="ctr" anchorCtr="0">
            <a:spAutoFit/>
          </a:bodyPr>
          <a:lstStyle/>
          <a:p>
            <a:pPr marL="0" indent="0">
              <a:buNone/>
            </a:pPr>
            <a:r>
              <a:rPr lang="en-US" sz="2400" noProof="0" dirty="0">
                <a:solidFill>
                  <a:schemeClr val="tx2"/>
                </a:solidFill>
                <a:latin typeface="Arial" panose="020B0604020202020204" pitchFamily="34" charset="0"/>
                <a:cs typeface="Arial" panose="020B0604020202020204" pitchFamily="34" charset="0"/>
              </a:rPr>
              <a:t>C.</a:t>
            </a:r>
            <a:r>
              <a:rPr lang="en-US" sz="2400" noProof="0" dirty="0">
                <a:latin typeface="Arial" panose="020B0604020202020204" pitchFamily="34" charset="0"/>
                <a:cs typeface="Arial" panose="020B0604020202020204" pitchFamily="34" charset="0"/>
              </a:rPr>
              <a:t> </a:t>
            </a:r>
            <a:r>
              <a:rPr lang="en-US" sz="2400" noProof="0" dirty="0">
                <a:effectLst/>
                <a:latin typeface="Arial" panose="020B0604020202020204" pitchFamily="34" charset="0"/>
                <a:ea typeface="Calibri" panose="020F0502020204030204" pitchFamily="34" charset="0"/>
                <a:cs typeface="Arial" panose="020B0604020202020204" pitchFamily="34" charset="0"/>
              </a:rPr>
              <a:t>−</a:t>
            </a:r>
            <a:r>
              <a:rPr lang="en-US" altLang="en-US" sz="2400" noProof="0" dirty="0">
                <a:latin typeface="Arial" panose="020B0604020202020204" pitchFamily="34" charset="0"/>
                <a:cs typeface="Arial" panose="020B0604020202020204" pitchFamily="34" charset="0"/>
              </a:rPr>
              <a:t>120 W</a:t>
            </a:r>
            <a:endParaRPr lang="en-US" sz="2400" noProof="0" dirty="0">
              <a:latin typeface="Arial" panose="020B0604020202020204" pitchFamily="34" charset="0"/>
              <a:cs typeface="Arial" panose="020B0604020202020204" pitchFamily="34" charset="0"/>
            </a:endParaRPr>
          </a:p>
        </p:txBody>
      </p:sp>
      <p:pic>
        <p:nvPicPr>
          <p:cNvPr id="28" name="Picture 27" descr="Cross mark">
            <a:extLst>
              <a:ext uri="{FF2B5EF4-FFF2-40B4-BE49-F238E27FC236}">
                <a16:creationId xmlns:a16="http://schemas.microsoft.com/office/drawing/2014/main" id="{BC91B156-4E04-2869-F333-FD0400728B9C}"/>
              </a:ext>
            </a:extLst>
          </p:cNvPr>
          <p:cNvPicPr>
            <a:picLocks noChangeAspect="1"/>
          </p:cNvPicPr>
          <p:nvPr/>
        </p:nvPicPr>
        <p:blipFill>
          <a:blip r:embed="rId3"/>
          <a:stretch>
            <a:fillRect/>
          </a:stretch>
        </p:blipFill>
        <p:spPr>
          <a:xfrm>
            <a:off x="1007091" y="6075383"/>
            <a:ext cx="284384" cy="284384"/>
          </a:xfrm>
          <a:prstGeom prst="rect">
            <a:avLst/>
          </a:prstGeom>
        </p:spPr>
      </p:pic>
      <p:sp>
        <p:nvSpPr>
          <p:cNvPr id="7" name="Content Placeholder 6">
            <a:extLst>
              <a:ext uri="{FF2B5EF4-FFF2-40B4-BE49-F238E27FC236}">
                <a16:creationId xmlns:a16="http://schemas.microsoft.com/office/drawing/2014/main" id="{2D52EB4B-AC78-1C50-DAC3-6D5D80C0D687}"/>
              </a:ext>
            </a:extLst>
          </p:cNvPr>
          <p:cNvSpPr>
            <a:spLocks noGrp="1"/>
          </p:cNvSpPr>
          <p:nvPr>
            <p:ph sz="quarter" idx="16"/>
          </p:nvPr>
        </p:nvSpPr>
        <p:spPr>
          <a:xfrm>
            <a:off x="1487344" y="6014734"/>
            <a:ext cx="1105027" cy="405683"/>
          </a:xfrm>
        </p:spPr>
        <p:txBody>
          <a:bodyPr wrap="square" lIns="0" tIns="18000" rIns="0" bIns="18000" anchor="ctr" anchorCtr="0">
            <a:spAutoFit/>
          </a:bodyPr>
          <a:lstStyle/>
          <a:p>
            <a:pPr marL="0" indent="0">
              <a:buNone/>
            </a:pPr>
            <a:r>
              <a:rPr lang="en-US" sz="2400" noProof="0" dirty="0">
                <a:solidFill>
                  <a:schemeClr val="tx2"/>
                </a:solidFill>
              </a:rPr>
              <a:t>D.</a:t>
            </a:r>
            <a:r>
              <a:rPr lang="en-US" sz="2400" noProof="0" dirty="0"/>
              <a:t> </a:t>
            </a:r>
            <a:r>
              <a:rPr lang="en-US" altLang="en-US" sz="2400" noProof="0" dirty="0">
                <a:sym typeface="Symbol" pitchFamily="18" charset="2"/>
              </a:rPr>
              <a:t>40 W</a:t>
            </a:r>
            <a:endParaRPr lang="en-US" sz="2400" noProof="0" dirty="0"/>
          </a:p>
        </p:txBody>
      </p:sp>
    </p:spTree>
    <p:extLst>
      <p:ext uri="{BB962C8B-B14F-4D97-AF65-F5344CB8AC3E}">
        <p14:creationId xmlns:p14="http://schemas.microsoft.com/office/powerpoint/2010/main" val="1242066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(15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52878" y="1528212"/>
            <a:ext cx="8238243" cy="790404"/>
          </a:xfrm>
        </p:spPr>
        <p:txBody>
          <a:bodyPr wrap="square" lIns="0" tIns="18000" rIns="0" bIns="18000" anchor="ctr" anchorCtr="0">
            <a:spAutoFit/>
          </a:bodyPr>
          <a:lstStyle/>
          <a:p>
            <a:pPr marL="0" indent="0">
              <a:spcBef>
                <a:spcPts val="600"/>
              </a:spcBef>
              <a:buNone/>
            </a:pPr>
            <a:r>
              <a:rPr lang="en-US" altLang="en-US" sz="2200" noProof="0" dirty="0"/>
              <a:t>Node voltage method:</a:t>
            </a:r>
          </a:p>
          <a:p>
            <a:pPr marL="342900" indent="-342900">
              <a:spcBef>
                <a:spcPts val="600"/>
              </a:spcBef>
            </a:pPr>
            <a:r>
              <a:rPr lang="en-US" altLang="en-US" sz="2200" noProof="0" dirty="0"/>
              <a:t>Check that the power balances:</a:t>
            </a:r>
            <a:endParaRPr lang="en-US" sz="2200" noProof="0" dirty="0"/>
          </a:p>
        </p:txBody>
      </p:sp>
      <p:pic>
        <p:nvPicPr>
          <p:cNvPr id="18" name="Picture 17" descr="A circuit diagram shows an independent voltage source of 50 volt capacity as the leftmost wire in the circuit. The 50 volt voltage source has positive polarity at the top end and negative polarity at the bottom end. Connected in parallel across the 50 volt voltage source from left to right in that order are a 10-ohm resistor, a 40-ohm resistor, and an independent current source of 3 amperes capacity. A resistor of 5-ohm capacity is located in the top wire of the circuit between the wires where the 50 volt voltage source and the 10-ohm resistor are located. Current i subscript a flows through the 5-ohm resistor from left to right. Current i subscript b flows through the 10-ohm resistor from top to bottom. Current i subscript c flows through the 40-ohm resistor from top to bottom. Four essential nodes are identified in the circuit where the wires housing the 10-ohm and 40-ohm resistors join the top and bottom wire of the circuit. The nodes in the top wire are encircled and 40 volts is marked. The bottom two nodes are also encircled and a downward pointing arrow is shown from the bottom left node. ">
            <a:extLst>
              <a:ext uri="{FF2B5EF4-FFF2-40B4-BE49-F238E27FC236}">
                <a16:creationId xmlns:a16="http://schemas.microsoft.com/office/drawing/2014/main" id="{37962222-B73E-5F91-07B2-64584E220E8A}"/>
              </a:ext>
            </a:extLst>
          </p:cNvPr>
          <p:cNvPicPr>
            <a:picLocks noChangeAspect="1"/>
          </p:cNvPicPr>
          <p:nvPr/>
        </p:nvPicPr>
        <p:blipFill>
          <a:blip r:embed="rId2"/>
          <a:stretch>
            <a:fillRect/>
          </a:stretch>
        </p:blipFill>
        <p:spPr>
          <a:xfrm>
            <a:off x="514356" y="2435036"/>
            <a:ext cx="4231451" cy="1667412"/>
          </a:xfrm>
          <a:prstGeom prst="rect">
            <a:avLst/>
          </a:prstGeom>
        </p:spPr>
      </p:pic>
      <p:graphicFrame>
        <p:nvGraphicFramePr>
          <p:cNvPr id="19" name="Object 18" descr="i subscript a BaseLine equals StartFraction 50 minus 40 over 5 EndFraction equals 2 Amperes.">
            <a:extLst>
              <a:ext uri="{FF2B5EF4-FFF2-40B4-BE49-F238E27FC236}">
                <a16:creationId xmlns:a16="http://schemas.microsoft.com/office/drawing/2014/main" id="{9EF79600-C413-21CB-A8BA-35020D80A648}"/>
              </a:ext>
            </a:extLst>
          </p:cNvPr>
          <p:cNvGraphicFramePr>
            <a:graphicFrameLocks noChangeAspect="1"/>
          </p:cNvGraphicFramePr>
          <p:nvPr>
            <p:extLst>
              <p:ext uri="{D42A27DB-BD31-4B8C-83A1-F6EECF244321}">
                <p14:modId xmlns:p14="http://schemas.microsoft.com/office/powerpoint/2010/main" val="1726873667"/>
              </p:ext>
            </p:extLst>
          </p:nvPr>
        </p:nvGraphicFramePr>
        <p:xfrm>
          <a:off x="6014710" y="2362562"/>
          <a:ext cx="2168525" cy="657225"/>
        </p:xfrm>
        <a:graphic>
          <a:graphicData uri="http://schemas.openxmlformats.org/presentationml/2006/ole">
            <mc:AlternateContent xmlns:mc="http://schemas.openxmlformats.org/markup-compatibility/2006">
              <mc:Choice xmlns:v="urn:schemas-microsoft-com:vml" Requires="v">
                <p:oleObj name="Equation" r:id="rId3" imgW="1282680" imgH="393480" progId="Equation.DSMT4">
                  <p:embed/>
                </p:oleObj>
              </mc:Choice>
              <mc:Fallback>
                <p:oleObj name="Equation" r:id="rId3" imgW="1282680" imgH="393480" progId="Equation.DSMT4">
                  <p:embed/>
                  <p:pic>
                    <p:nvPicPr>
                      <p:cNvPr id="6" name="Object 5">
                        <a:extLst>
                          <a:ext uri="{FF2B5EF4-FFF2-40B4-BE49-F238E27FC236}">
                            <a16:creationId xmlns:a16="http://schemas.microsoft.com/office/drawing/2014/main" id="{F0748AFF-E441-F060-68C7-8C083DE0F915}"/>
                          </a:ext>
                        </a:extLst>
                      </p:cNvPr>
                      <p:cNvPicPr>
                        <a:picLocks noChangeAspect="1" noChangeArrowheads="1"/>
                      </p:cNvPicPr>
                      <p:nvPr/>
                    </p:nvPicPr>
                    <p:blipFill>
                      <a:blip r:embed="rId4"/>
                      <a:srcRect/>
                      <a:stretch>
                        <a:fillRect/>
                      </a:stretch>
                    </p:blipFill>
                    <p:spPr bwMode="auto">
                      <a:xfrm>
                        <a:off x="6014710" y="2362562"/>
                        <a:ext cx="2168525"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descr="i subscript b BaseLine equals StartFraction 40 minus 0 over 10 EndFraction equals 4 Amperes.">
            <a:extLst>
              <a:ext uri="{FF2B5EF4-FFF2-40B4-BE49-F238E27FC236}">
                <a16:creationId xmlns:a16="http://schemas.microsoft.com/office/drawing/2014/main" id="{250E2F72-2FE1-DAAE-A1ED-C5F3A065DAE9}"/>
              </a:ext>
            </a:extLst>
          </p:cNvPr>
          <p:cNvGraphicFramePr>
            <a:graphicFrameLocks noChangeAspect="1"/>
          </p:cNvGraphicFramePr>
          <p:nvPr>
            <p:extLst>
              <p:ext uri="{D42A27DB-BD31-4B8C-83A1-F6EECF244321}">
                <p14:modId xmlns:p14="http://schemas.microsoft.com/office/powerpoint/2010/main" val="1582485541"/>
              </p:ext>
            </p:extLst>
          </p:nvPr>
        </p:nvGraphicFramePr>
        <p:xfrm>
          <a:off x="6014710" y="3059164"/>
          <a:ext cx="2039937" cy="657225"/>
        </p:xfrm>
        <a:graphic>
          <a:graphicData uri="http://schemas.openxmlformats.org/presentationml/2006/ole">
            <mc:AlternateContent xmlns:mc="http://schemas.openxmlformats.org/markup-compatibility/2006">
              <mc:Choice xmlns:v="urn:schemas-microsoft-com:vml" Requires="v">
                <p:oleObj name="Equation" r:id="rId5" imgW="1206360" imgH="393480" progId="Equation.DSMT4">
                  <p:embed/>
                </p:oleObj>
              </mc:Choice>
              <mc:Fallback>
                <p:oleObj name="Equation" r:id="rId5" imgW="1206360" imgH="393480" progId="Equation.DSMT4">
                  <p:embed/>
                  <p:pic>
                    <p:nvPicPr>
                      <p:cNvPr id="13" name="Object 12">
                        <a:extLst>
                          <a:ext uri="{FF2B5EF4-FFF2-40B4-BE49-F238E27FC236}">
                            <a16:creationId xmlns:a16="http://schemas.microsoft.com/office/drawing/2014/main" id="{9C0957D4-7DA7-E855-9612-F017A516688B}"/>
                          </a:ext>
                        </a:extLst>
                      </p:cNvPr>
                      <p:cNvPicPr>
                        <a:picLocks noChangeAspect="1" noChangeArrowheads="1"/>
                      </p:cNvPicPr>
                      <p:nvPr/>
                    </p:nvPicPr>
                    <p:blipFill>
                      <a:blip r:embed="rId6"/>
                      <a:srcRect/>
                      <a:stretch>
                        <a:fillRect/>
                      </a:stretch>
                    </p:blipFill>
                    <p:spPr bwMode="auto">
                      <a:xfrm>
                        <a:off x="6014710" y="3059164"/>
                        <a:ext cx="2039937"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0" descr="i subscript c BaseLine equals StartFraction 40 minus 0 over 40 EndFraction equals 1 Ampere.">
            <a:extLst>
              <a:ext uri="{FF2B5EF4-FFF2-40B4-BE49-F238E27FC236}">
                <a16:creationId xmlns:a16="http://schemas.microsoft.com/office/drawing/2014/main" id="{DF00EF9A-1941-B2E5-0D23-7E0176AF1B31}"/>
              </a:ext>
            </a:extLst>
          </p:cNvPr>
          <p:cNvGraphicFramePr>
            <a:graphicFrameLocks noChangeAspect="1"/>
          </p:cNvGraphicFramePr>
          <p:nvPr>
            <p:extLst>
              <p:ext uri="{D42A27DB-BD31-4B8C-83A1-F6EECF244321}">
                <p14:modId xmlns:p14="http://schemas.microsoft.com/office/powerpoint/2010/main" val="1776598369"/>
              </p:ext>
            </p:extLst>
          </p:nvPr>
        </p:nvGraphicFramePr>
        <p:xfrm>
          <a:off x="6014710" y="3740368"/>
          <a:ext cx="1976437" cy="657225"/>
        </p:xfrm>
        <a:graphic>
          <a:graphicData uri="http://schemas.openxmlformats.org/presentationml/2006/ole">
            <mc:AlternateContent xmlns:mc="http://schemas.openxmlformats.org/markup-compatibility/2006">
              <mc:Choice xmlns:v="urn:schemas-microsoft-com:vml" Requires="v">
                <p:oleObj name="Equation" r:id="rId7" imgW="1168200" imgH="393480" progId="Equation.DSMT4">
                  <p:embed/>
                </p:oleObj>
              </mc:Choice>
              <mc:Fallback>
                <p:oleObj name="Equation" r:id="rId7" imgW="1168200" imgH="393480" progId="Equation.DSMT4">
                  <p:embed/>
                  <p:pic>
                    <p:nvPicPr>
                      <p:cNvPr id="14" name="Object 13">
                        <a:extLst>
                          <a:ext uri="{FF2B5EF4-FFF2-40B4-BE49-F238E27FC236}">
                            <a16:creationId xmlns:a16="http://schemas.microsoft.com/office/drawing/2014/main" id="{D557E6D2-CDD1-E528-8375-ED5B29508472}"/>
                          </a:ext>
                        </a:extLst>
                      </p:cNvPr>
                      <p:cNvPicPr>
                        <a:picLocks noChangeAspect="1" noChangeArrowheads="1"/>
                      </p:cNvPicPr>
                      <p:nvPr/>
                    </p:nvPicPr>
                    <p:blipFill>
                      <a:blip r:embed="rId8"/>
                      <a:srcRect/>
                      <a:stretch>
                        <a:fillRect/>
                      </a:stretch>
                    </p:blipFill>
                    <p:spPr bwMode="auto">
                      <a:xfrm>
                        <a:off x="6014710" y="3740368"/>
                        <a:ext cx="1976437"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descr="p subscript 50 V BaseLine equals negative OpenParenthesis 50 CloseParenthesis multiplied by OpenParenthesis 2 CloseParenthesis equals negative 100 Watts.">
            <a:extLst>
              <a:ext uri="{FF2B5EF4-FFF2-40B4-BE49-F238E27FC236}">
                <a16:creationId xmlns:a16="http://schemas.microsoft.com/office/drawing/2014/main" id="{3E46BDDD-9F3A-3F10-3506-230215EA9688}"/>
              </a:ext>
            </a:extLst>
          </p:cNvPr>
          <p:cNvGraphicFramePr>
            <a:graphicFrameLocks noChangeAspect="1"/>
          </p:cNvGraphicFramePr>
          <p:nvPr>
            <p:extLst>
              <p:ext uri="{D42A27DB-BD31-4B8C-83A1-F6EECF244321}">
                <p14:modId xmlns:p14="http://schemas.microsoft.com/office/powerpoint/2010/main" val="3530661301"/>
              </p:ext>
            </p:extLst>
          </p:nvPr>
        </p:nvGraphicFramePr>
        <p:xfrm>
          <a:off x="433106" y="4531173"/>
          <a:ext cx="3028950" cy="382587"/>
        </p:xfrm>
        <a:graphic>
          <a:graphicData uri="http://schemas.openxmlformats.org/presentationml/2006/ole">
            <mc:AlternateContent xmlns:mc="http://schemas.openxmlformats.org/markup-compatibility/2006">
              <mc:Choice xmlns:v="urn:schemas-microsoft-com:vml" Requires="v">
                <p:oleObj name="Equation" r:id="rId9" imgW="1790640" imgH="228600" progId="Equation.DSMT4">
                  <p:embed/>
                </p:oleObj>
              </mc:Choice>
              <mc:Fallback>
                <p:oleObj name="Equation" r:id="rId9" imgW="1790640" imgH="228600" progId="Equation.DSMT4">
                  <p:embed/>
                  <p:pic>
                    <p:nvPicPr>
                      <p:cNvPr id="21" name="Object 20">
                        <a:extLst>
                          <a:ext uri="{FF2B5EF4-FFF2-40B4-BE49-F238E27FC236}">
                            <a16:creationId xmlns:a16="http://schemas.microsoft.com/office/drawing/2014/main" id="{DF00EF9A-1941-B2E5-0D23-7E0176AF1B31}"/>
                          </a:ext>
                        </a:extLst>
                      </p:cNvPr>
                      <p:cNvPicPr>
                        <a:picLocks noChangeAspect="1" noChangeArrowheads="1"/>
                      </p:cNvPicPr>
                      <p:nvPr/>
                    </p:nvPicPr>
                    <p:blipFill>
                      <a:blip r:embed="rId10"/>
                      <a:srcRect/>
                      <a:stretch>
                        <a:fillRect/>
                      </a:stretch>
                    </p:blipFill>
                    <p:spPr bwMode="auto">
                      <a:xfrm>
                        <a:off x="433106" y="4531173"/>
                        <a:ext cx="3028950" cy="38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descr="p subscript 5 BaseLine equals 5 OpenParenthesis 2 CloseParenthesis squared equals 20 Watts.">
            <a:extLst>
              <a:ext uri="{FF2B5EF4-FFF2-40B4-BE49-F238E27FC236}">
                <a16:creationId xmlns:a16="http://schemas.microsoft.com/office/drawing/2014/main" id="{FA106F29-94EA-A77E-86AF-F012238553A3}"/>
              </a:ext>
            </a:extLst>
          </p:cNvPr>
          <p:cNvGraphicFramePr>
            <a:graphicFrameLocks noChangeAspect="1"/>
          </p:cNvGraphicFramePr>
          <p:nvPr>
            <p:extLst>
              <p:ext uri="{D42A27DB-BD31-4B8C-83A1-F6EECF244321}">
                <p14:modId xmlns:p14="http://schemas.microsoft.com/office/powerpoint/2010/main" val="322662795"/>
              </p:ext>
            </p:extLst>
          </p:nvPr>
        </p:nvGraphicFramePr>
        <p:xfrm>
          <a:off x="452878" y="5038935"/>
          <a:ext cx="2103437" cy="404813"/>
        </p:xfrm>
        <a:graphic>
          <a:graphicData uri="http://schemas.openxmlformats.org/presentationml/2006/ole">
            <mc:AlternateContent xmlns:mc="http://schemas.openxmlformats.org/markup-compatibility/2006">
              <mc:Choice xmlns:v="urn:schemas-microsoft-com:vml" Requires="v">
                <p:oleObj name="Equation" r:id="rId11" imgW="1244520" imgH="241200" progId="Equation.DSMT4">
                  <p:embed/>
                </p:oleObj>
              </mc:Choice>
              <mc:Fallback>
                <p:oleObj name="Equation" r:id="rId11" imgW="1244520" imgH="241200" progId="Equation.DSMT4">
                  <p:embed/>
                  <p:pic>
                    <p:nvPicPr>
                      <p:cNvPr id="22" name="Object 21">
                        <a:extLst>
                          <a:ext uri="{FF2B5EF4-FFF2-40B4-BE49-F238E27FC236}">
                            <a16:creationId xmlns:a16="http://schemas.microsoft.com/office/drawing/2014/main" id="{3E46BDDD-9F3A-3F10-3506-230215EA9688}"/>
                          </a:ext>
                        </a:extLst>
                      </p:cNvPr>
                      <p:cNvPicPr>
                        <a:picLocks noChangeAspect="1" noChangeArrowheads="1"/>
                      </p:cNvPicPr>
                      <p:nvPr/>
                    </p:nvPicPr>
                    <p:blipFill>
                      <a:blip r:embed="rId12"/>
                      <a:srcRect/>
                      <a:stretch>
                        <a:fillRect/>
                      </a:stretch>
                    </p:blipFill>
                    <p:spPr bwMode="auto">
                      <a:xfrm>
                        <a:off x="452878" y="5038935"/>
                        <a:ext cx="2103437"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4" descr="p subscript 10 BaseLine equals OpenParenthesis 40 CloseParenthesis squared divided by 10 equals 160 Watts.">
            <a:extLst>
              <a:ext uri="{FF2B5EF4-FFF2-40B4-BE49-F238E27FC236}">
                <a16:creationId xmlns:a16="http://schemas.microsoft.com/office/drawing/2014/main" id="{AA52E41C-4287-E160-6040-A60C02616987}"/>
              </a:ext>
            </a:extLst>
          </p:cNvPr>
          <p:cNvGraphicFramePr>
            <a:graphicFrameLocks noChangeAspect="1"/>
          </p:cNvGraphicFramePr>
          <p:nvPr>
            <p:extLst>
              <p:ext uri="{D42A27DB-BD31-4B8C-83A1-F6EECF244321}">
                <p14:modId xmlns:p14="http://schemas.microsoft.com/office/powerpoint/2010/main" val="1509477813"/>
              </p:ext>
            </p:extLst>
          </p:nvPr>
        </p:nvGraphicFramePr>
        <p:xfrm>
          <a:off x="2739697" y="5008036"/>
          <a:ext cx="2725738" cy="404812"/>
        </p:xfrm>
        <a:graphic>
          <a:graphicData uri="http://schemas.openxmlformats.org/presentationml/2006/ole">
            <mc:AlternateContent xmlns:mc="http://schemas.openxmlformats.org/markup-compatibility/2006">
              <mc:Choice xmlns:v="urn:schemas-microsoft-com:vml" Requires="v">
                <p:oleObj name="Equation" r:id="rId13" imgW="1612800" imgH="241200" progId="Equation.DSMT4">
                  <p:embed/>
                </p:oleObj>
              </mc:Choice>
              <mc:Fallback>
                <p:oleObj name="Equation" r:id="rId13" imgW="1612800" imgH="241200" progId="Equation.DSMT4">
                  <p:embed/>
                  <p:pic>
                    <p:nvPicPr>
                      <p:cNvPr id="23" name="Object 22">
                        <a:extLst>
                          <a:ext uri="{FF2B5EF4-FFF2-40B4-BE49-F238E27FC236}">
                            <a16:creationId xmlns:a16="http://schemas.microsoft.com/office/drawing/2014/main" id="{FA106F29-94EA-A77E-86AF-F012238553A3}"/>
                          </a:ext>
                        </a:extLst>
                      </p:cNvPr>
                      <p:cNvPicPr>
                        <a:picLocks noChangeAspect="1" noChangeArrowheads="1"/>
                      </p:cNvPicPr>
                      <p:nvPr/>
                    </p:nvPicPr>
                    <p:blipFill>
                      <a:blip r:embed="rId14"/>
                      <a:srcRect/>
                      <a:stretch>
                        <a:fillRect/>
                      </a:stretch>
                    </p:blipFill>
                    <p:spPr bwMode="auto">
                      <a:xfrm>
                        <a:off x="2739697" y="5008036"/>
                        <a:ext cx="2725738"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8" descr="p subscript 40 BaseLine equals OpenParenthesis 40 CloseParenthesis squared divided by 40 equals 40 Watts.">
            <a:extLst>
              <a:ext uri="{FF2B5EF4-FFF2-40B4-BE49-F238E27FC236}">
                <a16:creationId xmlns:a16="http://schemas.microsoft.com/office/drawing/2014/main" id="{92600F87-3A2D-6F37-4C2F-0C06E045A96D}"/>
              </a:ext>
            </a:extLst>
          </p:cNvPr>
          <p:cNvGraphicFramePr>
            <a:graphicFrameLocks noChangeAspect="1"/>
          </p:cNvGraphicFramePr>
          <p:nvPr>
            <p:extLst>
              <p:ext uri="{D42A27DB-BD31-4B8C-83A1-F6EECF244321}">
                <p14:modId xmlns:p14="http://schemas.microsoft.com/office/powerpoint/2010/main" val="3578522252"/>
              </p:ext>
            </p:extLst>
          </p:nvPr>
        </p:nvGraphicFramePr>
        <p:xfrm>
          <a:off x="433290" y="5479328"/>
          <a:ext cx="2640012" cy="404812"/>
        </p:xfrm>
        <a:graphic>
          <a:graphicData uri="http://schemas.openxmlformats.org/presentationml/2006/ole">
            <mc:AlternateContent xmlns:mc="http://schemas.openxmlformats.org/markup-compatibility/2006">
              <mc:Choice xmlns:v="urn:schemas-microsoft-com:vml" Requires="v">
                <p:oleObj name="Equation" r:id="rId15" imgW="1562040" imgH="241200" progId="Equation.DSMT4">
                  <p:embed/>
                </p:oleObj>
              </mc:Choice>
              <mc:Fallback>
                <p:oleObj name="Equation" r:id="rId15" imgW="1562040" imgH="241200" progId="Equation.DSMT4">
                  <p:embed/>
                  <p:pic>
                    <p:nvPicPr>
                      <p:cNvPr id="25" name="Object 24">
                        <a:extLst>
                          <a:ext uri="{FF2B5EF4-FFF2-40B4-BE49-F238E27FC236}">
                            <a16:creationId xmlns:a16="http://schemas.microsoft.com/office/drawing/2014/main" id="{AA52E41C-4287-E160-6040-A60C02616987}"/>
                          </a:ext>
                        </a:extLst>
                      </p:cNvPr>
                      <p:cNvPicPr>
                        <a:picLocks noChangeAspect="1" noChangeArrowheads="1"/>
                      </p:cNvPicPr>
                      <p:nvPr/>
                    </p:nvPicPr>
                    <p:blipFill>
                      <a:blip r:embed="rId16"/>
                      <a:srcRect/>
                      <a:stretch>
                        <a:fillRect/>
                      </a:stretch>
                    </p:blipFill>
                    <p:spPr bwMode="auto">
                      <a:xfrm>
                        <a:off x="433290" y="5479328"/>
                        <a:ext cx="2640012"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29" descr="p subscript 3 A BaseLine equals negative OpenParenthesis 40 CloseParenthesis multiplied by OpenParenthesis 3 CloseParenthesis equals negative 120 Watts.">
            <a:extLst>
              <a:ext uri="{FF2B5EF4-FFF2-40B4-BE49-F238E27FC236}">
                <a16:creationId xmlns:a16="http://schemas.microsoft.com/office/drawing/2014/main" id="{EFAE3E4A-1599-53EE-FF3B-96474F8B1324}"/>
              </a:ext>
            </a:extLst>
          </p:cNvPr>
          <p:cNvGraphicFramePr>
            <a:graphicFrameLocks noChangeAspect="1"/>
          </p:cNvGraphicFramePr>
          <p:nvPr>
            <p:extLst>
              <p:ext uri="{D42A27DB-BD31-4B8C-83A1-F6EECF244321}">
                <p14:modId xmlns:p14="http://schemas.microsoft.com/office/powerpoint/2010/main" val="369804197"/>
              </p:ext>
            </p:extLst>
          </p:nvPr>
        </p:nvGraphicFramePr>
        <p:xfrm>
          <a:off x="3379258" y="5479328"/>
          <a:ext cx="2895600" cy="384175"/>
        </p:xfrm>
        <a:graphic>
          <a:graphicData uri="http://schemas.openxmlformats.org/presentationml/2006/ole">
            <mc:AlternateContent xmlns:mc="http://schemas.openxmlformats.org/markup-compatibility/2006">
              <mc:Choice xmlns:v="urn:schemas-microsoft-com:vml" Requires="v">
                <p:oleObj name="Equation" r:id="rId17" imgW="1714320" imgH="228600" progId="Equation.DSMT4">
                  <p:embed/>
                </p:oleObj>
              </mc:Choice>
              <mc:Fallback>
                <p:oleObj name="Equation" r:id="rId17" imgW="1714320" imgH="228600" progId="Equation.DSMT4">
                  <p:embed/>
                  <p:pic>
                    <p:nvPicPr>
                      <p:cNvPr id="29" name="Object 28">
                        <a:extLst>
                          <a:ext uri="{FF2B5EF4-FFF2-40B4-BE49-F238E27FC236}">
                            <a16:creationId xmlns:a16="http://schemas.microsoft.com/office/drawing/2014/main" id="{92600F87-3A2D-6F37-4C2F-0C06E045A96D}"/>
                          </a:ext>
                        </a:extLst>
                      </p:cNvPr>
                      <p:cNvPicPr>
                        <a:picLocks noChangeAspect="1" noChangeArrowheads="1"/>
                      </p:cNvPicPr>
                      <p:nvPr/>
                    </p:nvPicPr>
                    <p:blipFill>
                      <a:blip r:embed="rId18"/>
                      <a:srcRect/>
                      <a:stretch>
                        <a:fillRect/>
                      </a:stretch>
                    </p:blipFill>
                    <p:spPr bwMode="auto">
                      <a:xfrm>
                        <a:off x="3379258" y="5479328"/>
                        <a:ext cx="2895600"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30" descr="Summation p equals negative 100 plus 20 plus 160 plus 40 minus 120 equals 0.">
            <a:extLst>
              <a:ext uri="{FF2B5EF4-FFF2-40B4-BE49-F238E27FC236}">
                <a16:creationId xmlns:a16="http://schemas.microsoft.com/office/drawing/2014/main" id="{7B1CBBB8-B607-6A12-1F4C-098F4EECC098}"/>
              </a:ext>
            </a:extLst>
          </p:cNvPr>
          <p:cNvGraphicFramePr>
            <a:graphicFrameLocks noChangeAspect="1"/>
          </p:cNvGraphicFramePr>
          <p:nvPr>
            <p:extLst>
              <p:ext uri="{D42A27DB-BD31-4B8C-83A1-F6EECF244321}">
                <p14:modId xmlns:p14="http://schemas.microsoft.com/office/powerpoint/2010/main" val="2434707886"/>
              </p:ext>
            </p:extLst>
          </p:nvPr>
        </p:nvGraphicFramePr>
        <p:xfrm>
          <a:off x="433290" y="5957934"/>
          <a:ext cx="4481513" cy="427037"/>
        </p:xfrm>
        <a:graphic>
          <a:graphicData uri="http://schemas.openxmlformats.org/presentationml/2006/ole">
            <mc:AlternateContent xmlns:mc="http://schemas.openxmlformats.org/markup-compatibility/2006">
              <mc:Choice xmlns:v="urn:schemas-microsoft-com:vml" Requires="v">
                <p:oleObj name="Equation" r:id="rId19" imgW="2654280" imgH="253800" progId="Equation.DSMT4">
                  <p:embed/>
                </p:oleObj>
              </mc:Choice>
              <mc:Fallback>
                <p:oleObj name="Equation" r:id="rId19" imgW="2654280" imgH="253800" progId="Equation.DSMT4">
                  <p:embed/>
                  <p:pic>
                    <p:nvPicPr>
                      <p:cNvPr id="30" name="Object 29">
                        <a:extLst>
                          <a:ext uri="{FF2B5EF4-FFF2-40B4-BE49-F238E27FC236}">
                            <a16:creationId xmlns:a16="http://schemas.microsoft.com/office/drawing/2014/main" id="{EFAE3E4A-1599-53EE-FF3B-96474F8B1324}"/>
                          </a:ext>
                        </a:extLst>
                      </p:cNvPr>
                      <p:cNvPicPr>
                        <a:picLocks noChangeAspect="1" noChangeArrowheads="1"/>
                      </p:cNvPicPr>
                      <p:nvPr/>
                    </p:nvPicPr>
                    <p:blipFill>
                      <a:blip r:embed="rId20"/>
                      <a:srcRect/>
                      <a:stretch>
                        <a:fillRect/>
                      </a:stretch>
                    </p:blipFill>
                    <p:spPr bwMode="auto">
                      <a:xfrm>
                        <a:off x="433290" y="5957934"/>
                        <a:ext cx="4481513" cy="427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FE0193A2-90F6-A5C9-7A74-2D6A86672058}"/>
              </a:ext>
              <a:ext uri="{C183D7F6-B498-43B3-948B-1728B52AA6E4}">
                <adec:decorative xmlns:adec="http://schemas.microsoft.com/office/drawing/2017/decorative" val="1"/>
              </a:ext>
            </a:extLst>
          </p:cNvPr>
          <p:cNvSpPr/>
          <p:nvPr/>
        </p:nvSpPr>
        <p:spPr>
          <a:xfrm>
            <a:off x="5990012" y="2379631"/>
            <a:ext cx="2190210" cy="2009779"/>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7C78E9F-EA14-BF2A-B58A-D4BE08EDC8E0}"/>
              </a:ext>
              <a:ext uri="{C183D7F6-B498-43B3-948B-1728B52AA6E4}">
                <adec:decorative xmlns:adec="http://schemas.microsoft.com/office/drawing/2017/decorative" val="1"/>
              </a:ext>
            </a:extLst>
          </p:cNvPr>
          <p:cNvSpPr/>
          <p:nvPr/>
        </p:nvSpPr>
        <p:spPr>
          <a:xfrm>
            <a:off x="423863" y="4517318"/>
            <a:ext cx="5850995" cy="1853798"/>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8149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(16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40143"/>
            <a:ext cx="8238972" cy="728849"/>
          </a:xfrm>
        </p:spPr>
        <p:txBody>
          <a:bodyPr wrap="square" lIns="0" tIns="18000" rIns="0" bIns="18000" anchor="ctr" anchorCtr="0">
            <a:spAutoFit/>
          </a:bodyPr>
          <a:lstStyle/>
          <a:p>
            <a:pPr marL="342900" indent="-342900">
              <a:spcBef>
                <a:spcPts val="600"/>
              </a:spcBef>
            </a:pPr>
            <a:r>
              <a:rPr lang="en-US" altLang="en-US" sz="2000" noProof="0" dirty="0"/>
              <a:t>Node voltage method:</a:t>
            </a:r>
          </a:p>
          <a:p>
            <a:pPr marL="829818" lvl="1" indent="-342900"/>
            <a:r>
              <a:rPr lang="en-US" altLang="en-US" sz="2000" noProof="0" dirty="0"/>
              <a:t>Find the two voltages and the current indicated.</a:t>
            </a:r>
            <a:endParaRPr lang="en-US" sz="1800" noProof="0" dirty="0"/>
          </a:p>
        </p:txBody>
      </p:sp>
      <p:pic>
        <p:nvPicPr>
          <p:cNvPr id="22" name="Picture 21"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 ">
            <a:extLst>
              <a:ext uri="{FF2B5EF4-FFF2-40B4-BE49-F238E27FC236}">
                <a16:creationId xmlns:a16="http://schemas.microsoft.com/office/drawing/2014/main" id="{F7F65817-9300-2B23-320D-912335A8FB89}"/>
              </a:ext>
            </a:extLst>
          </p:cNvPr>
          <p:cNvPicPr>
            <a:picLocks noChangeAspect="1"/>
          </p:cNvPicPr>
          <p:nvPr/>
        </p:nvPicPr>
        <p:blipFill>
          <a:blip r:embed="rId2"/>
          <a:stretch>
            <a:fillRect/>
          </a:stretch>
        </p:blipFill>
        <p:spPr>
          <a:xfrm>
            <a:off x="2408989" y="2427302"/>
            <a:ext cx="4344874" cy="1305811"/>
          </a:xfrm>
          <a:prstGeom prst="rect">
            <a:avLst/>
          </a:prstGeom>
        </p:spPr>
      </p:pic>
      <p:sp>
        <p:nvSpPr>
          <p:cNvPr id="4" name="Content Placeholder 3">
            <a:extLst>
              <a:ext uri="{FF2B5EF4-FFF2-40B4-BE49-F238E27FC236}">
                <a16:creationId xmlns:a16="http://schemas.microsoft.com/office/drawing/2014/main" id="{F66FA6F7-3DE2-898C-688F-450ABBD6954F}"/>
              </a:ext>
            </a:extLst>
          </p:cNvPr>
          <p:cNvSpPr>
            <a:spLocks noGrp="1"/>
          </p:cNvSpPr>
          <p:nvPr>
            <p:ph sz="quarter" idx="13"/>
          </p:nvPr>
        </p:nvSpPr>
        <p:spPr>
          <a:xfrm>
            <a:off x="430135" y="3871595"/>
            <a:ext cx="8238971" cy="1036625"/>
          </a:xfrm>
        </p:spPr>
        <p:txBody>
          <a:bodyPr wrap="square" lIns="0" tIns="18000" rIns="0" bIns="18000" anchor="ctr" anchorCtr="0">
            <a:spAutoFit/>
          </a:bodyPr>
          <a:lstStyle/>
          <a:p>
            <a:pPr marL="0" indent="0">
              <a:spcBef>
                <a:spcPts val="600"/>
              </a:spcBef>
              <a:buNone/>
            </a:pPr>
            <a:r>
              <a:rPr lang="en-US" sz="2000" noProof="0" dirty="0"/>
              <a:t>Step 1 – Identify each essential node.</a:t>
            </a:r>
          </a:p>
          <a:p>
            <a:pPr marL="0" indent="0">
              <a:spcBef>
                <a:spcPts val="600"/>
              </a:spcBef>
              <a:buNone/>
            </a:pPr>
            <a:r>
              <a:rPr lang="en-US" sz="2000" noProof="0" dirty="0"/>
              <a:t>Step 2 – Pick and label a reference node; then label the node voltages at the remaining essential nodes.</a:t>
            </a:r>
          </a:p>
        </p:txBody>
      </p:sp>
      <p:pic>
        <p:nvPicPr>
          <p:cNvPr id="24" name="Picture 23"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10;Voltage v subscript 1 is shown to be the voltage between the nodes in the top wire where the wires housing the 60-ohm resistor and the 15-ohm resistor join the top wire. Voltage v subscript 2 is marked as the voltage at the node in the top wire where the wire housing the 2-ohm resistor joins the top wire. The nodes in the bottom wire where the wires housing the 60-ohm resistor, the 15-ohm resistor, the 2-ohm resistor join the bottom wire are encircled. A downward pointing arrow is shown from the node where the wire housing the 15-ohm resistor joins the bottom wire. &#10;">
            <a:extLst>
              <a:ext uri="{FF2B5EF4-FFF2-40B4-BE49-F238E27FC236}">
                <a16:creationId xmlns:a16="http://schemas.microsoft.com/office/drawing/2014/main" id="{1F6C20A3-FE64-9920-55AA-F164F2428D15}"/>
              </a:ext>
            </a:extLst>
          </p:cNvPr>
          <p:cNvPicPr>
            <a:picLocks noChangeAspect="1"/>
          </p:cNvPicPr>
          <p:nvPr/>
        </p:nvPicPr>
        <p:blipFill>
          <a:blip r:embed="rId3"/>
          <a:stretch>
            <a:fillRect/>
          </a:stretch>
        </p:blipFill>
        <p:spPr>
          <a:xfrm>
            <a:off x="2600259" y="5034117"/>
            <a:ext cx="3943482" cy="1298864"/>
          </a:xfrm>
          <a:prstGeom prst="rect">
            <a:avLst/>
          </a:prstGeom>
        </p:spPr>
      </p:pic>
    </p:spTree>
    <p:extLst>
      <p:ext uri="{BB962C8B-B14F-4D97-AF65-F5344CB8AC3E}">
        <p14:creationId xmlns:p14="http://schemas.microsoft.com/office/powerpoint/2010/main" val="3984770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(17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07072"/>
            <a:ext cx="8238972" cy="1021237"/>
          </a:xfrm>
        </p:spPr>
        <p:txBody>
          <a:bodyPr wrap="square" lIns="0" tIns="18000" rIns="0" bIns="18000" anchor="ctr" anchorCtr="0">
            <a:spAutoFit/>
          </a:bodyPr>
          <a:lstStyle/>
          <a:p>
            <a:pPr marL="285750" indent="-285750">
              <a:spcBef>
                <a:spcPts val="600"/>
              </a:spcBef>
            </a:pPr>
            <a:r>
              <a:rPr lang="en-US" altLang="en-US" sz="1800" noProof="0" dirty="0"/>
              <a:t>Node voltage method:</a:t>
            </a:r>
          </a:p>
          <a:p>
            <a:pPr marL="772668" lvl="1" indent="-285750"/>
            <a:r>
              <a:rPr lang="en-US" altLang="en-US" sz="1800" noProof="0" dirty="0"/>
              <a:t>Step 3 – Write a </a:t>
            </a:r>
            <a:r>
              <a:rPr lang="en-US" altLang="en-US" sz="1800" kern="0" spc="-250" noProof="0" dirty="0"/>
              <a:t>K C </a:t>
            </a:r>
            <a:r>
              <a:rPr lang="en-US" altLang="en-US" sz="1800" noProof="0" dirty="0"/>
              <a:t>L equation for every nonreference essential node.</a:t>
            </a:r>
          </a:p>
          <a:p>
            <a:pPr marL="772668" lvl="1" indent="-285750"/>
            <a:r>
              <a:rPr lang="en-US" altLang="en-US" sz="1800" noProof="0" dirty="0"/>
              <a:t>Step 4 – Solve the equations to find the node-voltage values.</a:t>
            </a:r>
            <a:endParaRPr lang="en-US" sz="1400" noProof="0" dirty="0"/>
          </a:p>
        </p:txBody>
      </p:sp>
      <p:pic>
        <p:nvPicPr>
          <p:cNvPr id="8" name="Picture 7"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10;Voltage v subscript 1 is shown to be the voltage between the nodes in the top wire where the wires housing the 60-ohm resistor and the 15-ohm resistor join the top wire. Voltage v subscript 2 is marked as the voltage at the node in the top wire where the wire housing the 2-ohm resistor joins the top wire. The nodes in the bottom wire where the wires housing the 60-ohm resistor, the 15-ohm resistor, the 2-ohm resistor join the bottom wire are encircled. A downward pointing arrow is shown from the node where the wire housing the 15-ohm resistor joins the bottom wire. &#10;">
            <a:extLst>
              <a:ext uri="{FF2B5EF4-FFF2-40B4-BE49-F238E27FC236}">
                <a16:creationId xmlns:a16="http://schemas.microsoft.com/office/drawing/2014/main" id="{F22B2E69-A30F-CD4B-057F-2F15CC6CC1BA}"/>
              </a:ext>
            </a:extLst>
          </p:cNvPr>
          <p:cNvPicPr>
            <a:picLocks noChangeAspect="1"/>
          </p:cNvPicPr>
          <p:nvPr/>
        </p:nvPicPr>
        <p:blipFill>
          <a:blip r:embed="rId3"/>
          <a:stretch>
            <a:fillRect/>
          </a:stretch>
        </p:blipFill>
        <p:spPr>
          <a:xfrm>
            <a:off x="565725" y="2780813"/>
            <a:ext cx="2962794" cy="975855"/>
          </a:xfrm>
          <a:prstGeom prst="rect">
            <a:avLst/>
          </a:prstGeom>
        </p:spPr>
      </p:pic>
      <p:graphicFrame>
        <p:nvGraphicFramePr>
          <p:cNvPr id="9" name="Object 8" descr="The figure illustrates a calculation at v subscript 1. &#10;Long description 1 is available in notes, press F6.">
            <a:extLst>
              <a:ext uri="{FF2B5EF4-FFF2-40B4-BE49-F238E27FC236}">
                <a16:creationId xmlns:a16="http://schemas.microsoft.com/office/drawing/2014/main" id="{97C06478-CE74-7EA9-36EC-63FFE8175657}"/>
              </a:ext>
            </a:extLst>
          </p:cNvPr>
          <p:cNvGraphicFramePr>
            <a:graphicFrameLocks noChangeAspect="1"/>
          </p:cNvGraphicFramePr>
          <p:nvPr>
            <p:extLst>
              <p:ext uri="{D42A27DB-BD31-4B8C-83A1-F6EECF244321}">
                <p14:modId xmlns:p14="http://schemas.microsoft.com/office/powerpoint/2010/main" val="4089024343"/>
              </p:ext>
            </p:extLst>
          </p:nvPr>
        </p:nvGraphicFramePr>
        <p:xfrm>
          <a:off x="3789755" y="2914991"/>
          <a:ext cx="3621088" cy="596900"/>
        </p:xfrm>
        <a:graphic>
          <a:graphicData uri="http://schemas.openxmlformats.org/presentationml/2006/ole">
            <mc:AlternateContent xmlns:mc="http://schemas.openxmlformats.org/markup-compatibility/2006">
              <mc:Choice xmlns:v="urn:schemas-microsoft-com:vml" Requires="v">
                <p:oleObj name="Equation" r:id="rId4" imgW="2438280" imgH="406080" progId="Equation.DSMT4">
                  <p:embed/>
                </p:oleObj>
              </mc:Choice>
              <mc:Fallback>
                <p:oleObj name="Equation" r:id="rId4" imgW="2438280" imgH="406080" progId="Equation.DSMT4">
                  <p:embed/>
                  <p:pic>
                    <p:nvPicPr>
                      <p:cNvPr id="21" name="Object 20">
                        <a:extLst>
                          <a:ext uri="{FF2B5EF4-FFF2-40B4-BE49-F238E27FC236}">
                            <a16:creationId xmlns:a16="http://schemas.microsoft.com/office/drawing/2014/main" id="{DF00EF9A-1941-B2E5-0D23-7E0176AF1B31}"/>
                          </a:ext>
                        </a:extLst>
                      </p:cNvPr>
                      <p:cNvPicPr>
                        <a:picLocks noChangeAspect="1" noChangeArrowheads="1"/>
                      </p:cNvPicPr>
                      <p:nvPr/>
                    </p:nvPicPr>
                    <p:blipFill>
                      <a:blip r:embed="rId5"/>
                      <a:srcRect/>
                      <a:stretch>
                        <a:fillRect/>
                      </a:stretch>
                    </p:blipFill>
                    <p:spPr bwMode="auto">
                      <a:xfrm>
                        <a:off x="3789755" y="2914991"/>
                        <a:ext cx="3621088"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At v subscript 2 BaseLine: StartFraction v subscript 2 BaseLine minus v subscript 1 BaseLine over 5 EndFraction plus StartFraction v subscript 2 BaseLine over 2 EndFraction plus 5 equals 0.">
            <a:extLst>
              <a:ext uri="{FF2B5EF4-FFF2-40B4-BE49-F238E27FC236}">
                <a16:creationId xmlns:a16="http://schemas.microsoft.com/office/drawing/2014/main" id="{1E24D80D-070E-C25A-08E2-AAA1A704A29F}"/>
              </a:ext>
            </a:extLst>
          </p:cNvPr>
          <p:cNvGraphicFramePr>
            <a:graphicFrameLocks noChangeAspect="1"/>
          </p:cNvGraphicFramePr>
          <p:nvPr>
            <p:extLst>
              <p:ext uri="{D42A27DB-BD31-4B8C-83A1-F6EECF244321}">
                <p14:modId xmlns:p14="http://schemas.microsoft.com/office/powerpoint/2010/main" val="2894070210"/>
              </p:ext>
            </p:extLst>
          </p:nvPr>
        </p:nvGraphicFramePr>
        <p:xfrm>
          <a:off x="3789755" y="3584953"/>
          <a:ext cx="2771775" cy="596900"/>
        </p:xfrm>
        <a:graphic>
          <a:graphicData uri="http://schemas.openxmlformats.org/presentationml/2006/ole">
            <mc:AlternateContent xmlns:mc="http://schemas.openxmlformats.org/markup-compatibility/2006">
              <mc:Choice xmlns:v="urn:schemas-microsoft-com:vml" Requires="v">
                <p:oleObj name="Equation" r:id="rId6" imgW="1866600" imgH="406080" progId="Equation.DSMT4">
                  <p:embed/>
                </p:oleObj>
              </mc:Choice>
              <mc:Fallback>
                <p:oleObj name="Equation" r:id="rId6" imgW="1866600" imgH="406080" progId="Equation.DSMT4">
                  <p:embed/>
                  <p:pic>
                    <p:nvPicPr>
                      <p:cNvPr id="9" name="Object 8">
                        <a:extLst>
                          <a:ext uri="{FF2B5EF4-FFF2-40B4-BE49-F238E27FC236}">
                            <a16:creationId xmlns:a16="http://schemas.microsoft.com/office/drawing/2014/main" id="{97C06478-CE74-7EA9-36EC-63FFE8175657}"/>
                          </a:ext>
                        </a:extLst>
                      </p:cNvPr>
                      <p:cNvPicPr>
                        <a:picLocks noChangeAspect="1" noChangeArrowheads="1"/>
                      </p:cNvPicPr>
                      <p:nvPr/>
                    </p:nvPicPr>
                    <p:blipFill>
                      <a:blip r:embed="rId7"/>
                      <a:srcRect/>
                      <a:stretch>
                        <a:fillRect/>
                      </a:stretch>
                    </p:blipFill>
                    <p:spPr bwMode="auto">
                      <a:xfrm>
                        <a:off x="3789755" y="3584953"/>
                        <a:ext cx="2771775"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The figure illustrates the Standard form of an expression.&#10;Long description 2 is available in notes, press F6.">
            <a:extLst>
              <a:ext uri="{FF2B5EF4-FFF2-40B4-BE49-F238E27FC236}">
                <a16:creationId xmlns:a16="http://schemas.microsoft.com/office/drawing/2014/main" id="{7C8DEC3B-9B40-12E7-C4E7-A35F0EDEDE1C}"/>
              </a:ext>
            </a:extLst>
          </p:cNvPr>
          <p:cNvGraphicFramePr>
            <a:graphicFrameLocks noChangeAspect="1"/>
          </p:cNvGraphicFramePr>
          <p:nvPr>
            <p:extLst>
              <p:ext uri="{D42A27DB-BD31-4B8C-83A1-F6EECF244321}">
                <p14:modId xmlns:p14="http://schemas.microsoft.com/office/powerpoint/2010/main" val="3919657446"/>
              </p:ext>
            </p:extLst>
          </p:nvPr>
        </p:nvGraphicFramePr>
        <p:xfrm>
          <a:off x="3789755" y="4271976"/>
          <a:ext cx="4883150" cy="1304925"/>
        </p:xfrm>
        <a:graphic>
          <a:graphicData uri="http://schemas.openxmlformats.org/presentationml/2006/ole">
            <mc:AlternateContent xmlns:mc="http://schemas.openxmlformats.org/markup-compatibility/2006">
              <mc:Choice xmlns:v="urn:schemas-microsoft-com:vml" Requires="v">
                <p:oleObj name="Equation" r:id="rId8" imgW="3288960" imgH="888840" progId="Equation.DSMT4">
                  <p:embed/>
                </p:oleObj>
              </mc:Choice>
              <mc:Fallback>
                <p:oleObj name="Equation" r:id="rId8" imgW="3288960" imgH="888840" progId="Equation.DSMT4">
                  <p:embed/>
                  <p:pic>
                    <p:nvPicPr>
                      <p:cNvPr id="10" name="Object 9">
                        <a:extLst>
                          <a:ext uri="{FF2B5EF4-FFF2-40B4-BE49-F238E27FC236}">
                            <a16:creationId xmlns:a16="http://schemas.microsoft.com/office/drawing/2014/main" id="{1E24D80D-070E-C25A-08E2-AAA1A704A29F}"/>
                          </a:ext>
                        </a:extLst>
                      </p:cNvPr>
                      <p:cNvPicPr>
                        <a:picLocks noChangeAspect="1" noChangeArrowheads="1"/>
                      </p:cNvPicPr>
                      <p:nvPr/>
                    </p:nvPicPr>
                    <p:blipFill>
                      <a:blip r:embed="rId9"/>
                      <a:srcRect/>
                      <a:stretch>
                        <a:fillRect/>
                      </a:stretch>
                    </p:blipFill>
                    <p:spPr bwMode="auto">
                      <a:xfrm>
                        <a:off x="3789755" y="4271976"/>
                        <a:ext cx="4883150" cy="1304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descr="Calculator solution: v subscript 1 BaseLine equals 60 Volts; v subscript 2 BaseLine equals 10 Volts.">
            <a:extLst>
              <a:ext uri="{FF2B5EF4-FFF2-40B4-BE49-F238E27FC236}">
                <a16:creationId xmlns:a16="http://schemas.microsoft.com/office/drawing/2014/main" id="{42FE57B6-0AA3-E42C-77E8-4BF3BABF1D3A}"/>
              </a:ext>
            </a:extLst>
          </p:cNvPr>
          <p:cNvGraphicFramePr>
            <a:graphicFrameLocks noChangeAspect="1"/>
          </p:cNvGraphicFramePr>
          <p:nvPr>
            <p:extLst>
              <p:ext uri="{D42A27DB-BD31-4B8C-83A1-F6EECF244321}">
                <p14:modId xmlns:p14="http://schemas.microsoft.com/office/powerpoint/2010/main" val="1622452802"/>
              </p:ext>
            </p:extLst>
          </p:nvPr>
        </p:nvGraphicFramePr>
        <p:xfrm>
          <a:off x="3789755" y="5666341"/>
          <a:ext cx="4318000" cy="334962"/>
        </p:xfrm>
        <a:graphic>
          <a:graphicData uri="http://schemas.openxmlformats.org/presentationml/2006/ole">
            <mc:AlternateContent xmlns:mc="http://schemas.openxmlformats.org/markup-compatibility/2006">
              <mc:Choice xmlns:v="urn:schemas-microsoft-com:vml" Requires="v">
                <p:oleObj name="Equation" r:id="rId10" imgW="2908080" imgH="228600" progId="Equation.DSMT4">
                  <p:embed/>
                </p:oleObj>
              </mc:Choice>
              <mc:Fallback>
                <p:oleObj name="Equation" r:id="rId10" imgW="2908080" imgH="228600" progId="Equation.DSMT4">
                  <p:embed/>
                  <p:pic>
                    <p:nvPicPr>
                      <p:cNvPr id="10" name="Object 9">
                        <a:extLst>
                          <a:ext uri="{FF2B5EF4-FFF2-40B4-BE49-F238E27FC236}">
                            <a16:creationId xmlns:a16="http://schemas.microsoft.com/office/drawing/2014/main" id="{1E24D80D-070E-C25A-08E2-AAA1A704A29F}"/>
                          </a:ext>
                        </a:extLst>
                      </p:cNvPr>
                      <p:cNvPicPr>
                        <a:picLocks noChangeAspect="1" noChangeArrowheads="1"/>
                      </p:cNvPicPr>
                      <p:nvPr/>
                    </p:nvPicPr>
                    <p:blipFill>
                      <a:blip r:embed="rId11"/>
                      <a:srcRect/>
                      <a:stretch>
                        <a:fillRect/>
                      </a:stretch>
                    </p:blipFill>
                    <p:spPr bwMode="auto">
                      <a:xfrm>
                        <a:off x="3789755" y="5666341"/>
                        <a:ext cx="4318000" cy="334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A5733AD1-E249-BA6B-C3AC-E90FA9C5675B}"/>
              </a:ext>
              <a:ext uri="{C183D7F6-B498-43B3-948B-1728B52AA6E4}">
                <adec:decorative xmlns:adec="http://schemas.microsoft.com/office/drawing/2017/decorative" val="1"/>
              </a:ext>
            </a:extLst>
          </p:cNvPr>
          <p:cNvSpPr/>
          <p:nvPr/>
        </p:nvSpPr>
        <p:spPr>
          <a:xfrm>
            <a:off x="3765358" y="2914991"/>
            <a:ext cx="4928147" cy="3086312"/>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4070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(18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28219"/>
            <a:ext cx="8238972" cy="790404"/>
          </a:xfrm>
        </p:spPr>
        <p:txBody>
          <a:bodyPr wrap="square" lIns="0" tIns="18000" rIns="0" bIns="18000" anchor="ctr" anchorCtr="0">
            <a:spAutoFit/>
          </a:bodyPr>
          <a:lstStyle/>
          <a:p>
            <a:pPr marL="342900" indent="-342900">
              <a:spcBef>
                <a:spcPts val="600"/>
              </a:spcBef>
            </a:pPr>
            <a:r>
              <a:rPr lang="en-US" altLang="en-US" sz="2200" noProof="0" dirty="0"/>
              <a:t>Node voltage method (continued):</a:t>
            </a:r>
          </a:p>
          <a:p>
            <a:pPr marL="829818" lvl="1" indent="-342900"/>
            <a:r>
              <a:rPr lang="en-US" altLang="en-US" sz="2200" noProof="0" dirty="0"/>
              <a:t>Step 5 – Solve the circuit using node voltages from Step 4.</a:t>
            </a:r>
            <a:endParaRPr lang="en-US" sz="1400" noProof="0" dirty="0"/>
          </a:p>
        </p:txBody>
      </p:sp>
      <p:pic>
        <p:nvPicPr>
          <p:cNvPr id="5" name="Picture 4"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10;60 volts is the potential difference between the nodes in the top wire where the wires housing the 60-ohm resistor and the 15-ohm resistor join the top wire. 10 volts is marked as the voltage at the node in the top wire where the wire housing the 2-ohm resistor joins the top wire. The nodes in the bottom wire where the wires housing the 60-ohm resistor, the 15-ohm resistor, the 2-ohm resistor join the bottom wire are encircled. A downward pointing arrow is shown from the node where the wire housing the 15-ohm resistor joins the bottom wire. &#10;">
            <a:extLst>
              <a:ext uri="{FF2B5EF4-FFF2-40B4-BE49-F238E27FC236}">
                <a16:creationId xmlns:a16="http://schemas.microsoft.com/office/drawing/2014/main" id="{210FEC75-3D6A-B9CE-32C8-9D96BA7217AD}"/>
              </a:ext>
            </a:extLst>
          </p:cNvPr>
          <p:cNvPicPr>
            <a:picLocks noChangeAspect="1"/>
          </p:cNvPicPr>
          <p:nvPr/>
        </p:nvPicPr>
        <p:blipFill>
          <a:blip r:embed="rId2"/>
          <a:stretch>
            <a:fillRect/>
          </a:stretch>
        </p:blipFill>
        <p:spPr>
          <a:xfrm>
            <a:off x="1971675" y="2528791"/>
            <a:ext cx="5200650" cy="1743856"/>
          </a:xfrm>
          <a:prstGeom prst="rect">
            <a:avLst/>
          </a:prstGeom>
        </p:spPr>
      </p:pic>
      <p:graphicFrame>
        <p:nvGraphicFramePr>
          <p:cNvPr id="6" name="Object 5" descr="Calculate i subscript 1 BaseLine: i subscript 1 BaseLine equals Open Parenthesis 60 minus 10 Close Parenthesis divided by 5 equals 10 Amperes.&#10;">
            <a:extLst>
              <a:ext uri="{FF2B5EF4-FFF2-40B4-BE49-F238E27FC236}">
                <a16:creationId xmlns:a16="http://schemas.microsoft.com/office/drawing/2014/main" id="{CEE2C789-F485-1F5A-5875-33B7E9F155AF}"/>
              </a:ext>
            </a:extLst>
          </p:cNvPr>
          <p:cNvGraphicFramePr>
            <a:graphicFrameLocks noChangeAspect="1"/>
          </p:cNvGraphicFramePr>
          <p:nvPr>
            <p:extLst>
              <p:ext uri="{D42A27DB-BD31-4B8C-83A1-F6EECF244321}">
                <p14:modId xmlns:p14="http://schemas.microsoft.com/office/powerpoint/2010/main" val="3975837551"/>
              </p:ext>
            </p:extLst>
          </p:nvPr>
        </p:nvGraphicFramePr>
        <p:xfrm>
          <a:off x="2301581" y="4741211"/>
          <a:ext cx="4551363" cy="550862"/>
        </p:xfrm>
        <a:graphic>
          <a:graphicData uri="http://schemas.openxmlformats.org/presentationml/2006/ole">
            <mc:AlternateContent xmlns:mc="http://schemas.openxmlformats.org/markup-compatibility/2006">
              <mc:Choice xmlns:v="urn:schemas-microsoft-com:vml" Requires="v">
                <p:oleObj name="Equation" r:id="rId3" imgW="2692080" imgH="330120" progId="Equation.DSMT4">
                  <p:embed/>
                </p:oleObj>
              </mc:Choice>
              <mc:Fallback>
                <p:oleObj name="Equation" r:id="rId3" imgW="2692080" imgH="330120" progId="Equation.DSMT4">
                  <p:embed/>
                  <p:pic>
                    <p:nvPicPr>
                      <p:cNvPr id="20" name="Object 19">
                        <a:extLst>
                          <a:ext uri="{FF2B5EF4-FFF2-40B4-BE49-F238E27FC236}">
                            <a16:creationId xmlns:a16="http://schemas.microsoft.com/office/drawing/2014/main" id="{250E2F72-2FE1-DAAE-A1ED-C5F3A065DAE9}"/>
                          </a:ext>
                        </a:extLst>
                      </p:cNvPr>
                      <p:cNvPicPr>
                        <a:picLocks noChangeAspect="1" noChangeArrowheads="1"/>
                      </p:cNvPicPr>
                      <p:nvPr/>
                    </p:nvPicPr>
                    <p:blipFill>
                      <a:blip r:embed="rId4"/>
                      <a:srcRect/>
                      <a:stretch>
                        <a:fillRect/>
                      </a:stretch>
                    </p:blipFill>
                    <p:spPr bwMode="auto">
                      <a:xfrm>
                        <a:off x="2301581" y="4741211"/>
                        <a:ext cx="4551363" cy="550862"/>
                      </a:xfrm>
                      <a:prstGeom prst="rect">
                        <a:avLst/>
                      </a:prstGeom>
                      <a:noFill/>
                      <a:ln w="28575">
                        <a:solidFill>
                          <a:srgbClr val="007FA3"/>
                        </a:solidFill>
                      </a:ln>
                    </p:spPr>
                  </p:pic>
                </p:oleObj>
              </mc:Fallback>
            </mc:AlternateContent>
          </a:graphicData>
        </a:graphic>
      </p:graphicFrame>
    </p:spTree>
    <p:extLst>
      <p:ext uri="{BB962C8B-B14F-4D97-AF65-F5344CB8AC3E}">
        <p14:creationId xmlns:p14="http://schemas.microsoft.com/office/powerpoint/2010/main" val="1343152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5459-7B69-96EF-DE14-A89EB8093E8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(19 of 26)</a:t>
            </a:r>
            <a:endParaRPr lang="en-US" noProof="0" dirty="0"/>
          </a:p>
        </p:txBody>
      </p:sp>
      <p:sp>
        <p:nvSpPr>
          <p:cNvPr id="3" name="Content Placeholder 2">
            <a:extLst>
              <a:ext uri="{FF2B5EF4-FFF2-40B4-BE49-F238E27FC236}">
                <a16:creationId xmlns:a16="http://schemas.microsoft.com/office/drawing/2014/main" id="{DA1FF4E4-AABD-4A00-6B76-52D61FC227BD}"/>
              </a:ext>
            </a:extLst>
          </p:cNvPr>
          <p:cNvSpPr>
            <a:spLocks noGrp="1"/>
          </p:cNvSpPr>
          <p:nvPr>
            <p:ph sz="quarter" idx="12"/>
          </p:nvPr>
        </p:nvSpPr>
        <p:spPr>
          <a:xfrm>
            <a:off x="432683" y="1522615"/>
            <a:ext cx="170632" cy="405683"/>
          </a:xfrm>
        </p:spPr>
        <p:txBody>
          <a:bodyPr wrap="square" lIns="0" tIns="18000" rIns="0" bIns="18000" anchor="ctr" anchorCtr="0">
            <a:spAutoFit/>
          </a:bodyPr>
          <a:lstStyle/>
          <a:p>
            <a:pPr marL="0" indent="0">
              <a:buNone/>
            </a:pPr>
            <a:r>
              <a:rPr lang="en-US" sz="2400" noProof="0" dirty="0"/>
              <a:t>If</a:t>
            </a:r>
          </a:p>
        </p:txBody>
      </p:sp>
      <p:graphicFrame>
        <p:nvGraphicFramePr>
          <p:cNvPr id="21" name="Object 20" descr="V subscript 1.">
            <a:extLst>
              <a:ext uri="{FF2B5EF4-FFF2-40B4-BE49-F238E27FC236}">
                <a16:creationId xmlns:a16="http://schemas.microsoft.com/office/drawing/2014/main" id="{5EF098F4-CDF8-C8BC-C00A-4BACB21CED3D}"/>
              </a:ext>
            </a:extLst>
          </p:cNvPr>
          <p:cNvGraphicFramePr>
            <a:graphicFrameLocks noChangeAspect="1"/>
          </p:cNvGraphicFramePr>
          <p:nvPr>
            <p:extLst>
              <p:ext uri="{D42A27DB-BD31-4B8C-83A1-F6EECF244321}">
                <p14:modId xmlns:p14="http://schemas.microsoft.com/office/powerpoint/2010/main" val="1607005848"/>
              </p:ext>
            </p:extLst>
          </p:nvPr>
        </p:nvGraphicFramePr>
        <p:xfrm>
          <a:off x="671197" y="1541986"/>
          <a:ext cx="326247" cy="444883"/>
        </p:xfrm>
        <a:graphic>
          <a:graphicData uri="http://schemas.openxmlformats.org/presentationml/2006/ole">
            <mc:AlternateContent xmlns:mc="http://schemas.openxmlformats.org/markup-compatibility/2006">
              <mc:Choice xmlns:v="urn:schemas-microsoft-com:vml" Requires="v">
                <p:oleObj name="Equation" r:id="rId2" imgW="164880" imgH="228600" progId="Equation.DSMT4">
                  <p:embed/>
                </p:oleObj>
              </mc:Choice>
              <mc:Fallback>
                <p:oleObj name="Equation" r:id="rId2" imgW="164880" imgH="228600" progId="Equation.DSMT4">
                  <p:embed/>
                  <p:pic>
                    <p:nvPicPr>
                      <p:cNvPr id="6" name="Object 5">
                        <a:extLst>
                          <a:ext uri="{FF2B5EF4-FFF2-40B4-BE49-F238E27FC236}">
                            <a16:creationId xmlns:a16="http://schemas.microsoft.com/office/drawing/2014/main" id="{CEE2C789-F485-1F5A-5875-33B7E9F155AF}"/>
                          </a:ext>
                        </a:extLst>
                      </p:cNvPr>
                      <p:cNvPicPr>
                        <a:picLocks noChangeAspect="1" noChangeArrowheads="1"/>
                      </p:cNvPicPr>
                      <p:nvPr/>
                    </p:nvPicPr>
                    <p:blipFill>
                      <a:blip r:embed="rId3"/>
                      <a:srcRect/>
                      <a:stretch>
                        <a:fillRect/>
                      </a:stretch>
                    </p:blipFill>
                    <p:spPr bwMode="auto">
                      <a:xfrm>
                        <a:off x="671197" y="1541986"/>
                        <a:ext cx="326247" cy="4448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C705B5C7-D4B4-55E2-36AA-A900992A5EC1}"/>
              </a:ext>
            </a:extLst>
          </p:cNvPr>
          <p:cNvSpPr>
            <a:spLocks noGrp="1"/>
          </p:cNvSpPr>
          <p:nvPr>
            <p:ph sz="quarter" idx="13"/>
          </p:nvPr>
        </p:nvSpPr>
        <p:spPr>
          <a:xfrm>
            <a:off x="1065326" y="1522614"/>
            <a:ext cx="1532374" cy="405683"/>
          </a:xfrm>
        </p:spPr>
        <p:txBody>
          <a:bodyPr lIns="0" tIns="18000" rIns="0" bIns="18000" anchor="ctr" anchorCtr="0">
            <a:spAutoFit/>
          </a:bodyPr>
          <a:lstStyle/>
          <a:p>
            <a:pPr marL="0" indent="0">
              <a:buNone/>
            </a:pPr>
            <a:r>
              <a:rPr lang="en-US" sz="2400" noProof="0" dirty="0"/>
              <a:t>is 60 V and</a:t>
            </a:r>
          </a:p>
        </p:txBody>
      </p:sp>
      <p:graphicFrame>
        <p:nvGraphicFramePr>
          <p:cNvPr id="22" name="Object 21" descr="V subscript 2.">
            <a:extLst>
              <a:ext uri="{FF2B5EF4-FFF2-40B4-BE49-F238E27FC236}">
                <a16:creationId xmlns:a16="http://schemas.microsoft.com/office/drawing/2014/main" id="{89E930B1-031E-CE66-207A-4D083C0EEACB}"/>
              </a:ext>
            </a:extLst>
          </p:cNvPr>
          <p:cNvGraphicFramePr>
            <a:graphicFrameLocks noChangeAspect="1"/>
          </p:cNvGraphicFramePr>
          <p:nvPr>
            <p:extLst>
              <p:ext uri="{D42A27DB-BD31-4B8C-83A1-F6EECF244321}">
                <p14:modId xmlns:p14="http://schemas.microsoft.com/office/powerpoint/2010/main" val="981586616"/>
              </p:ext>
            </p:extLst>
          </p:nvPr>
        </p:nvGraphicFramePr>
        <p:xfrm>
          <a:off x="2656155" y="1542369"/>
          <a:ext cx="349250" cy="444500"/>
        </p:xfrm>
        <a:graphic>
          <a:graphicData uri="http://schemas.openxmlformats.org/presentationml/2006/ole">
            <mc:AlternateContent xmlns:mc="http://schemas.openxmlformats.org/markup-compatibility/2006">
              <mc:Choice xmlns:v="urn:schemas-microsoft-com:vml" Requires="v">
                <p:oleObj name="Equation" r:id="rId4" imgW="177480" imgH="228600" progId="Equation.DSMT4">
                  <p:embed/>
                </p:oleObj>
              </mc:Choice>
              <mc:Fallback>
                <p:oleObj name="Equation" r:id="rId4" imgW="177480" imgH="228600" progId="Equation.DSMT4">
                  <p:embed/>
                  <p:pic>
                    <p:nvPicPr>
                      <p:cNvPr id="21" name="Object 20">
                        <a:extLst>
                          <a:ext uri="{FF2B5EF4-FFF2-40B4-BE49-F238E27FC236}">
                            <a16:creationId xmlns:a16="http://schemas.microsoft.com/office/drawing/2014/main" id="{5EF098F4-CDF8-C8BC-C00A-4BACB21CED3D}"/>
                          </a:ext>
                        </a:extLst>
                      </p:cNvPr>
                      <p:cNvPicPr>
                        <a:picLocks noChangeAspect="1" noChangeArrowheads="1"/>
                      </p:cNvPicPr>
                      <p:nvPr/>
                    </p:nvPicPr>
                    <p:blipFill>
                      <a:blip r:embed="rId5"/>
                      <a:srcRect/>
                      <a:stretch>
                        <a:fillRect/>
                      </a:stretch>
                    </p:blipFill>
                    <p:spPr bwMode="auto">
                      <a:xfrm>
                        <a:off x="2656155" y="1542369"/>
                        <a:ext cx="34925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0D1E3E21-D8F4-4428-D884-DEE9B6D45383}"/>
              </a:ext>
            </a:extLst>
          </p:cNvPr>
          <p:cNvSpPr>
            <a:spLocks noGrp="1"/>
          </p:cNvSpPr>
          <p:nvPr>
            <p:ph sz="quarter" idx="14"/>
          </p:nvPr>
        </p:nvSpPr>
        <p:spPr>
          <a:xfrm>
            <a:off x="3059711" y="1521168"/>
            <a:ext cx="5018963" cy="405683"/>
          </a:xfrm>
        </p:spPr>
        <p:txBody>
          <a:bodyPr wrap="square" lIns="0" tIns="18000" rIns="0" bIns="18000" anchor="ctr" anchorCtr="0">
            <a:spAutoFit/>
          </a:bodyPr>
          <a:lstStyle/>
          <a:p>
            <a:pPr marL="0" indent="0">
              <a:buNone/>
            </a:pPr>
            <a:r>
              <a:rPr lang="en-US" sz="2400" noProof="0" dirty="0"/>
              <a:t>is 10 V, what is the power associated</a:t>
            </a:r>
          </a:p>
        </p:txBody>
      </p:sp>
      <p:sp>
        <p:nvSpPr>
          <p:cNvPr id="6" name="Content Placeholder 5">
            <a:extLst>
              <a:ext uri="{FF2B5EF4-FFF2-40B4-BE49-F238E27FC236}">
                <a16:creationId xmlns:a16="http://schemas.microsoft.com/office/drawing/2014/main" id="{EBB85F4D-329F-0F48-6B3C-6DFD3A7B542C}"/>
              </a:ext>
            </a:extLst>
          </p:cNvPr>
          <p:cNvSpPr>
            <a:spLocks noGrp="1"/>
          </p:cNvSpPr>
          <p:nvPr>
            <p:ph sz="quarter" idx="15"/>
          </p:nvPr>
        </p:nvSpPr>
        <p:spPr>
          <a:xfrm>
            <a:off x="434151" y="2004445"/>
            <a:ext cx="1055283" cy="405683"/>
          </a:xfrm>
        </p:spPr>
        <p:txBody>
          <a:bodyPr wrap="square" lIns="0" tIns="18000" rIns="0" bIns="18000" anchor="ctr" anchorCtr="0">
            <a:spAutoFit/>
          </a:bodyPr>
          <a:lstStyle/>
          <a:p>
            <a:pPr marL="0" indent="0">
              <a:buNone/>
            </a:pPr>
            <a:r>
              <a:rPr lang="en-US" sz="2400" noProof="0" dirty="0"/>
              <a:t>with the</a:t>
            </a:r>
          </a:p>
        </p:txBody>
      </p:sp>
      <p:graphicFrame>
        <p:nvGraphicFramePr>
          <p:cNvPr id="23" name="Object 22" descr="60 Ohms.">
            <a:extLst>
              <a:ext uri="{FF2B5EF4-FFF2-40B4-BE49-F238E27FC236}">
                <a16:creationId xmlns:a16="http://schemas.microsoft.com/office/drawing/2014/main" id="{4F4B3796-9158-90CD-FF7E-C2AC9FF53740}"/>
              </a:ext>
            </a:extLst>
          </p:cNvPr>
          <p:cNvGraphicFramePr>
            <a:graphicFrameLocks noChangeAspect="1"/>
          </p:cNvGraphicFramePr>
          <p:nvPr>
            <p:extLst>
              <p:ext uri="{D42A27DB-BD31-4B8C-83A1-F6EECF244321}">
                <p14:modId xmlns:p14="http://schemas.microsoft.com/office/powerpoint/2010/main" val="109297423"/>
              </p:ext>
            </p:extLst>
          </p:nvPr>
        </p:nvGraphicFramePr>
        <p:xfrm>
          <a:off x="1547976" y="2062175"/>
          <a:ext cx="736091" cy="387498"/>
        </p:xfrm>
        <a:graphic>
          <a:graphicData uri="http://schemas.openxmlformats.org/presentationml/2006/ole">
            <mc:AlternateContent xmlns:mc="http://schemas.openxmlformats.org/markup-compatibility/2006">
              <mc:Choice xmlns:v="urn:schemas-microsoft-com:vml" Requires="v">
                <p:oleObj name="Equation" r:id="rId6" imgW="380880" imgH="203040" progId="Equation.DSMT4">
                  <p:embed/>
                </p:oleObj>
              </mc:Choice>
              <mc:Fallback>
                <p:oleObj name="Equation" r:id="rId6" imgW="380880" imgH="203040" progId="Equation.DSMT4">
                  <p:embed/>
                  <p:pic>
                    <p:nvPicPr>
                      <p:cNvPr id="21" name="Object 20">
                        <a:extLst>
                          <a:ext uri="{FF2B5EF4-FFF2-40B4-BE49-F238E27FC236}">
                            <a16:creationId xmlns:a16="http://schemas.microsoft.com/office/drawing/2014/main" id="{5EF098F4-CDF8-C8BC-C00A-4BACB21CED3D}"/>
                          </a:ext>
                        </a:extLst>
                      </p:cNvPr>
                      <p:cNvPicPr>
                        <a:picLocks noChangeAspect="1" noChangeArrowheads="1"/>
                      </p:cNvPicPr>
                      <p:nvPr/>
                    </p:nvPicPr>
                    <p:blipFill>
                      <a:blip r:embed="rId7"/>
                      <a:srcRect/>
                      <a:stretch>
                        <a:fillRect/>
                      </a:stretch>
                    </p:blipFill>
                    <p:spPr bwMode="auto">
                      <a:xfrm>
                        <a:off x="1547976" y="2062175"/>
                        <a:ext cx="736091" cy="387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D49C401E-0686-4E6D-0819-69C71A0D5DAB}"/>
              </a:ext>
            </a:extLst>
          </p:cNvPr>
          <p:cNvSpPr>
            <a:spLocks noGrp="1"/>
          </p:cNvSpPr>
          <p:nvPr>
            <p:ph sz="quarter" idx="16"/>
          </p:nvPr>
        </p:nvSpPr>
        <p:spPr>
          <a:xfrm>
            <a:off x="2342609" y="2004444"/>
            <a:ext cx="1174436" cy="405683"/>
          </a:xfrm>
        </p:spPr>
        <p:txBody>
          <a:bodyPr lIns="0" tIns="18000" rIns="0" bIns="18000" anchor="ctr" anchorCtr="0">
            <a:spAutoFit/>
          </a:bodyPr>
          <a:lstStyle/>
          <a:p>
            <a:pPr marL="0" indent="0">
              <a:buNone/>
            </a:pPr>
            <a:r>
              <a:rPr lang="en-US" sz="2400" noProof="0" dirty="0">
                <a:sym typeface="Symbol"/>
              </a:rPr>
              <a:t>resistor?</a:t>
            </a:r>
            <a:endParaRPr lang="en-US" sz="2400" noProof="0" dirty="0"/>
          </a:p>
        </p:txBody>
      </p:sp>
      <p:pic>
        <p:nvPicPr>
          <p:cNvPr id="29" name="Picture 28"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
            <a:extLst>
              <a:ext uri="{FF2B5EF4-FFF2-40B4-BE49-F238E27FC236}">
                <a16:creationId xmlns:a16="http://schemas.microsoft.com/office/drawing/2014/main" id="{9DB71078-68BF-581C-889A-DEED4B7A9E63}"/>
              </a:ext>
            </a:extLst>
          </p:cNvPr>
          <p:cNvPicPr>
            <a:picLocks noChangeAspect="1"/>
          </p:cNvPicPr>
          <p:nvPr/>
        </p:nvPicPr>
        <p:blipFill>
          <a:blip r:embed="rId8"/>
          <a:stretch>
            <a:fillRect/>
          </a:stretch>
        </p:blipFill>
        <p:spPr>
          <a:xfrm>
            <a:off x="1994719" y="2597861"/>
            <a:ext cx="5154562" cy="1549155"/>
          </a:xfrm>
          <a:prstGeom prst="rect">
            <a:avLst/>
          </a:prstGeom>
        </p:spPr>
      </p:pic>
      <p:pic>
        <p:nvPicPr>
          <p:cNvPr id="24" name="Picture 23" descr="Check mark">
            <a:extLst>
              <a:ext uri="{FF2B5EF4-FFF2-40B4-BE49-F238E27FC236}">
                <a16:creationId xmlns:a16="http://schemas.microsoft.com/office/drawing/2014/main" id="{25444F57-5560-503E-E4CD-74EA239FE60B}"/>
              </a:ext>
            </a:extLst>
          </p:cNvPr>
          <p:cNvPicPr>
            <a:picLocks noChangeAspect="1"/>
          </p:cNvPicPr>
          <p:nvPr/>
        </p:nvPicPr>
        <p:blipFill>
          <a:blip r:embed="rId9"/>
          <a:stretch>
            <a:fillRect/>
          </a:stretch>
        </p:blipFill>
        <p:spPr>
          <a:xfrm>
            <a:off x="988870" y="4354954"/>
            <a:ext cx="312822" cy="312822"/>
          </a:xfrm>
          <a:prstGeom prst="rect">
            <a:avLst/>
          </a:prstGeom>
        </p:spPr>
      </p:pic>
      <p:sp>
        <p:nvSpPr>
          <p:cNvPr id="8" name="Content Placeholder 7">
            <a:extLst>
              <a:ext uri="{FF2B5EF4-FFF2-40B4-BE49-F238E27FC236}">
                <a16:creationId xmlns:a16="http://schemas.microsoft.com/office/drawing/2014/main" id="{3A8D0CD7-1551-A29C-0DF5-82D369B2DE0F}"/>
              </a:ext>
            </a:extLst>
          </p:cNvPr>
          <p:cNvSpPr>
            <a:spLocks noGrp="1"/>
          </p:cNvSpPr>
          <p:nvPr>
            <p:ph sz="quarter" idx="17"/>
          </p:nvPr>
        </p:nvSpPr>
        <p:spPr>
          <a:xfrm>
            <a:off x="1489434" y="4309181"/>
            <a:ext cx="1084572" cy="405683"/>
          </a:xfrm>
        </p:spPr>
        <p:txBody>
          <a:bodyPr lIns="0" tIns="18000" rIns="0" bIns="18000" anchor="ctr" anchorCtr="0">
            <a:spAutoFit/>
          </a:bodyPr>
          <a:lstStyle/>
          <a:p>
            <a:pPr marL="0" indent="0">
              <a:buNone/>
            </a:pPr>
            <a:r>
              <a:rPr lang="en-US" altLang="en-US" sz="2400" noProof="0" dirty="0">
                <a:solidFill>
                  <a:schemeClr val="tx2"/>
                </a:solidFill>
              </a:rPr>
              <a:t>A.</a:t>
            </a:r>
            <a:r>
              <a:rPr lang="en-US" altLang="en-US" sz="2400" noProof="0" dirty="0"/>
              <a:t> 60 W</a:t>
            </a:r>
            <a:endParaRPr lang="en-US" sz="2400" noProof="0" dirty="0"/>
          </a:p>
        </p:txBody>
      </p:sp>
      <p:pic>
        <p:nvPicPr>
          <p:cNvPr id="25" name="Picture 24" descr="Cross mark">
            <a:extLst>
              <a:ext uri="{FF2B5EF4-FFF2-40B4-BE49-F238E27FC236}">
                <a16:creationId xmlns:a16="http://schemas.microsoft.com/office/drawing/2014/main" id="{C2F997B4-51DE-B398-7649-553685153463}"/>
              </a:ext>
            </a:extLst>
          </p:cNvPr>
          <p:cNvPicPr>
            <a:picLocks noChangeAspect="1"/>
          </p:cNvPicPr>
          <p:nvPr/>
        </p:nvPicPr>
        <p:blipFill>
          <a:blip r:embed="rId10"/>
          <a:stretch>
            <a:fillRect/>
          </a:stretch>
        </p:blipFill>
        <p:spPr>
          <a:xfrm>
            <a:off x="1017308" y="4883829"/>
            <a:ext cx="284384" cy="284384"/>
          </a:xfrm>
          <a:prstGeom prst="rect">
            <a:avLst/>
          </a:prstGeom>
        </p:spPr>
      </p:pic>
      <p:sp>
        <p:nvSpPr>
          <p:cNvPr id="9" name="Content Placeholder 8">
            <a:extLst>
              <a:ext uri="{FF2B5EF4-FFF2-40B4-BE49-F238E27FC236}">
                <a16:creationId xmlns:a16="http://schemas.microsoft.com/office/drawing/2014/main" id="{ACC52495-97FF-ED45-55F7-8DB07F09C4C9}"/>
              </a:ext>
            </a:extLst>
          </p:cNvPr>
          <p:cNvSpPr>
            <a:spLocks noGrp="1"/>
          </p:cNvSpPr>
          <p:nvPr>
            <p:ph sz="quarter" idx="18"/>
          </p:nvPr>
        </p:nvSpPr>
        <p:spPr>
          <a:xfrm>
            <a:off x="1489434" y="4823180"/>
            <a:ext cx="1253886" cy="405683"/>
          </a:xfrm>
        </p:spPr>
        <p:txBody>
          <a:bodyPr lIns="0" tIns="18000" rIns="0" bIns="18000" anchor="ctr" anchorCtr="0">
            <a:spAutoFit/>
          </a:bodyPr>
          <a:lstStyle/>
          <a:p>
            <a:pPr marL="0" indent="0">
              <a:buNone/>
            </a:pPr>
            <a:r>
              <a:rPr lang="en-US" altLang="en-US" sz="2400" noProof="0" dirty="0">
                <a:solidFill>
                  <a:schemeClr val="tx2"/>
                </a:solidFill>
                <a:sym typeface="Symbol" pitchFamily="18" charset="2"/>
              </a:rPr>
              <a:t>B.</a:t>
            </a:r>
            <a:r>
              <a:rPr lang="en-US" altLang="en-US" sz="2400" noProof="0" dirty="0">
                <a:sym typeface="Symbol" pitchFamily="18" charset="2"/>
              </a:rPr>
              <a:t> 240 W</a:t>
            </a:r>
            <a:endParaRPr lang="en-US" sz="2400" noProof="0" dirty="0"/>
          </a:p>
        </p:txBody>
      </p:sp>
      <p:pic>
        <p:nvPicPr>
          <p:cNvPr id="26" name="Picture 25" descr="Cross mark">
            <a:extLst>
              <a:ext uri="{FF2B5EF4-FFF2-40B4-BE49-F238E27FC236}">
                <a16:creationId xmlns:a16="http://schemas.microsoft.com/office/drawing/2014/main" id="{625F5121-DE72-C9D5-35CC-DB2E6B63C4F7}"/>
              </a:ext>
            </a:extLst>
          </p:cNvPr>
          <p:cNvPicPr>
            <a:picLocks noChangeAspect="1"/>
          </p:cNvPicPr>
          <p:nvPr/>
        </p:nvPicPr>
        <p:blipFill>
          <a:blip r:embed="rId10"/>
          <a:stretch>
            <a:fillRect/>
          </a:stretch>
        </p:blipFill>
        <p:spPr>
          <a:xfrm>
            <a:off x="1017308" y="5400441"/>
            <a:ext cx="284384" cy="284384"/>
          </a:xfrm>
          <a:prstGeom prst="rect">
            <a:avLst/>
          </a:prstGeom>
        </p:spPr>
      </p:pic>
      <p:sp>
        <p:nvSpPr>
          <p:cNvPr id="10" name="Content Placeholder 9">
            <a:extLst>
              <a:ext uri="{FF2B5EF4-FFF2-40B4-BE49-F238E27FC236}">
                <a16:creationId xmlns:a16="http://schemas.microsoft.com/office/drawing/2014/main" id="{AECCE894-9710-1642-E065-9C48AD6BD294}"/>
              </a:ext>
            </a:extLst>
          </p:cNvPr>
          <p:cNvSpPr>
            <a:spLocks noGrp="1"/>
          </p:cNvSpPr>
          <p:nvPr>
            <p:ph sz="quarter" idx="19"/>
          </p:nvPr>
        </p:nvSpPr>
        <p:spPr>
          <a:xfrm>
            <a:off x="1476835" y="5330365"/>
            <a:ext cx="1443565" cy="405683"/>
          </a:xfrm>
        </p:spPr>
        <p:txBody>
          <a:bodyPr lIns="0" tIns="18000" rIns="0" bIns="18000" anchor="ctr" anchorCtr="0">
            <a:spAutoFit/>
          </a:bodyPr>
          <a:lstStyle/>
          <a:p>
            <a:pPr marL="0" indent="0">
              <a:buNone/>
            </a:pPr>
            <a:r>
              <a:rPr lang="en-US" altLang="en-US" sz="2400" noProof="0" dirty="0">
                <a:solidFill>
                  <a:schemeClr val="tx2"/>
                </a:solidFill>
                <a:sym typeface="Symbol" pitchFamily="18" charset="2"/>
              </a:rPr>
              <a:t>C.</a:t>
            </a:r>
            <a:r>
              <a:rPr lang="en-US" altLang="en-US" sz="2400" noProof="0" dirty="0">
                <a:sym typeface="Symbol" pitchFamily="18" charset="2"/>
              </a:rPr>
              <a:t> 3600</a:t>
            </a:r>
            <a:r>
              <a:rPr lang="en-US" altLang="en-US" sz="2400" noProof="0" dirty="0"/>
              <a:t> W</a:t>
            </a:r>
            <a:endParaRPr lang="en-US" sz="2400" noProof="0" dirty="0"/>
          </a:p>
        </p:txBody>
      </p:sp>
      <p:pic>
        <p:nvPicPr>
          <p:cNvPr id="27" name="Picture 26" descr="Cross mark">
            <a:extLst>
              <a:ext uri="{FF2B5EF4-FFF2-40B4-BE49-F238E27FC236}">
                <a16:creationId xmlns:a16="http://schemas.microsoft.com/office/drawing/2014/main" id="{71492FA7-8107-98B1-5DDD-7BD573D676B8}"/>
              </a:ext>
            </a:extLst>
          </p:cNvPr>
          <p:cNvPicPr>
            <a:picLocks noChangeAspect="1"/>
          </p:cNvPicPr>
          <p:nvPr/>
        </p:nvPicPr>
        <p:blipFill>
          <a:blip r:embed="rId10"/>
          <a:stretch>
            <a:fillRect/>
          </a:stretch>
        </p:blipFill>
        <p:spPr>
          <a:xfrm>
            <a:off x="1017308" y="5907626"/>
            <a:ext cx="284384" cy="284384"/>
          </a:xfrm>
          <a:prstGeom prst="rect">
            <a:avLst/>
          </a:prstGeom>
        </p:spPr>
      </p:pic>
      <p:sp>
        <p:nvSpPr>
          <p:cNvPr id="11" name="Content Placeholder 10">
            <a:extLst>
              <a:ext uri="{FF2B5EF4-FFF2-40B4-BE49-F238E27FC236}">
                <a16:creationId xmlns:a16="http://schemas.microsoft.com/office/drawing/2014/main" id="{62784DF9-77D1-4B8E-49C8-B92C19A89886}"/>
              </a:ext>
            </a:extLst>
          </p:cNvPr>
          <p:cNvSpPr>
            <a:spLocks noGrp="1"/>
          </p:cNvSpPr>
          <p:nvPr>
            <p:ph sz="quarter" idx="20"/>
          </p:nvPr>
        </p:nvSpPr>
        <p:spPr>
          <a:xfrm>
            <a:off x="1486262" y="5831663"/>
            <a:ext cx="2881704" cy="405683"/>
          </a:xfrm>
        </p:spPr>
        <p:txBody>
          <a:bodyPr lIns="0" tIns="18000" rIns="0" bIns="18000" anchor="ctr" anchorCtr="0">
            <a:spAutoFit/>
          </a:bodyPr>
          <a:lstStyle/>
          <a:p>
            <a:pPr marL="0" indent="0">
              <a:buNone/>
            </a:pPr>
            <a:r>
              <a:rPr lang="en-US" altLang="en-US" sz="2400" noProof="0" dirty="0">
                <a:solidFill>
                  <a:schemeClr val="tx2"/>
                </a:solidFill>
                <a:sym typeface="Symbol" pitchFamily="18" charset="2"/>
              </a:rPr>
              <a:t>D.</a:t>
            </a:r>
            <a:r>
              <a:rPr lang="en-US" altLang="en-US" sz="2400" noProof="0" dirty="0">
                <a:sym typeface="Symbol" pitchFamily="18" charset="2"/>
              </a:rPr>
              <a:t> None of the above</a:t>
            </a:r>
            <a:endParaRPr lang="en-US" sz="2400" noProof="0" dirty="0"/>
          </a:p>
        </p:txBody>
      </p:sp>
    </p:spTree>
    <p:extLst>
      <p:ext uri="{BB962C8B-B14F-4D97-AF65-F5344CB8AC3E}">
        <p14:creationId xmlns:p14="http://schemas.microsoft.com/office/powerpoint/2010/main" val="3511649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5459-7B69-96EF-DE14-A89EB8093E8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(20 of 26)</a:t>
            </a:r>
            <a:endParaRPr lang="en-US" noProof="0" dirty="0"/>
          </a:p>
        </p:txBody>
      </p:sp>
      <p:sp>
        <p:nvSpPr>
          <p:cNvPr id="3" name="Content Placeholder 2">
            <a:extLst>
              <a:ext uri="{FF2B5EF4-FFF2-40B4-BE49-F238E27FC236}">
                <a16:creationId xmlns:a16="http://schemas.microsoft.com/office/drawing/2014/main" id="{DA1FF4E4-AABD-4A00-6B76-52D61FC227BD}"/>
              </a:ext>
            </a:extLst>
          </p:cNvPr>
          <p:cNvSpPr>
            <a:spLocks noGrp="1"/>
          </p:cNvSpPr>
          <p:nvPr>
            <p:ph sz="quarter" idx="12"/>
          </p:nvPr>
        </p:nvSpPr>
        <p:spPr>
          <a:xfrm>
            <a:off x="432683" y="1522615"/>
            <a:ext cx="170632" cy="405683"/>
          </a:xfrm>
        </p:spPr>
        <p:txBody>
          <a:bodyPr wrap="square" lIns="0" tIns="18000" rIns="0" bIns="18000" anchor="ctr" anchorCtr="0">
            <a:spAutoFit/>
          </a:bodyPr>
          <a:lstStyle/>
          <a:p>
            <a:pPr marL="0" indent="0">
              <a:buNone/>
            </a:pPr>
            <a:r>
              <a:rPr lang="en-US" sz="2400" noProof="0" dirty="0"/>
              <a:t>If</a:t>
            </a:r>
          </a:p>
        </p:txBody>
      </p:sp>
      <p:graphicFrame>
        <p:nvGraphicFramePr>
          <p:cNvPr id="21" name="Object 20" descr="V subscript 1.">
            <a:extLst>
              <a:ext uri="{FF2B5EF4-FFF2-40B4-BE49-F238E27FC236}">
                <a16:creationId xmlns:a16="http://schemas.microsoft.com/office/drawing/2014/main" id="{5EF098F4-CDF8-C8BC-C00A-4BACB21CED3D}"/>
              </a:ext>
            </a:extLst>
          </p:cNvPr>
          <p:cNvGraphicFramePr>
            <a:graphicFrameLocks noChangeAspect="1"/>
          </p:cNvGraphicFramePr>
          <p:nvPr>
            <p:extLst>
              <p:ext uri="{D42A27DB-BD31-4B8C-83A1-F6EECF244321}">
                <p14:modId xmlns:p14="http://schemas.microsoft.com/office/powerpoint/2010/main" val="3104046489"/>
              </p:ext>
            </p:extLst>
          </p:nvPr>
        </p:nvGraphicFramePr>
        <p:xfrm>
          <a:off x="671197" y="1541986"/>
          <a:ext cx="326247" cy="444883"/>
        </p:xfrm>
        <a:graphic>
          <a:graphicData uri="http://schemas.openxmlformats.org/presentationml/2006/ole">
            <mc:AlternateContent xmlns:mc="http://schemas.openxmlformats.org/markup-compatibility/2006">
              <mc:Choice xmlns:v="urn:schemas-microsoft-com:vml" Requires="v">
                <p:oleObj name="Equation" r:id="rId2" imgW="164880" imgH="228600" progId="Equation.DSMT4">
                  <p:embed/>
                </p:oleObj>
              </mc:Choice>
              <mc:Fallback>
                <p:oleObj name="Equation" r:id="rId2" imgW="164880" imgH="228600" progId="Equation.DSMT4">
                  <p:embed/>
                  <p:pic>
                    <p:nvPicPr>
                      <p:cNvPr id="21" name="Object 20">
                        <a:extLst>
                          <a:ext uri="{FF2B5EF4-FFF2-40B4-BE49-F238E27FC236}">
                            <a16:creationId xmlns:a16="http://schemas.microsoft.com/office/drawing/2014/main" id="{5EF098F4-CDF8-C8BC-C00A-4BACB21CED3D}"/>
                          </a:ext>
                        </a:extLst>
                      </p:cNvPr>
                      <p:cNvPicPr>
                        <a:picLocks noChangeAspect="1" noChangeArrowheads="1"/>
                      </p:cNvPicPr>
                      <p:nvPr/>
                    </p:nvPicPr>
                    <p:blipFill>
                      <a:blip r:embed="rId3"/>
                      <a:srcRect/>
                      <a:stretch>
                        <a:fillRect/>
                      </a:stretch>
                    </p:blipFill>
                    <p:spPr bwMode="auto">
                      <a:xfrm>
                        <a:off x="671197" y="1541986"/>
                        <a:ext cx="326247" cy="4448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C705B5C7-D4B4-55E2-36AA-A900992A5EC1}"/>
              </a:ext>
            </a:extLst>
          </p:cNvPr>
          <p:cNvSpPr>
            <a:spLocks noGrp="1"/>
          </p:cNvSpPr>
          <p:nvPr>
            <p:ph sz="quarter" idx="13"/>
          </p:nvPr>
        </p:nvSpPr>
        <p:spPr>
          <a:xfrm>
            <a:off x="1065326" y="1522614"/>
            <a:ext cx="1532374" cy="405683"/>
          </a:xfrm>
        </p:spPr>
        <p:txBody>
          <a:bodyPr lIns="0" tIns="18000" rIns="0" bIns="18000" anchor="ctr" anchorCtr="0">
            <a:spAutoFit/>
          </a:bodyPr>
          <a:lstStyle/>
          <a:p>
            <a:pPr marL="0" indent="0">
              <a:buNone/>
            </a:pPr>
            <a:r>
              <a:rPr lang="en-US" sz="2400" noProof="0" dirty="0"/>
              <a:t>is 60 V and</a:t>
            </a:r>
          </a:p>
        </p:txBody>
      </p:sp>
      <p:graphicFrame>
        <p:nvGraphicFramePr>
          <p:cNvPr id="22" name="Object 21" descr="V subscript 2.">
            <a:extLst>
              <a:ext uri="{FF2B5EF4-FFF2-40B4-BE49-F238E27FC236}">
                <a16:creationId xmlns:a16="http://schemas.microsoft.com/office/drawing/2014/main" id="{89E930B1-031E-CE66-207A-4D083C0EEACB}"/>
              </a:ext>
            </a:extLst>
          </p:cNvPr>
          <p:cNvGraphicFramePr>
            <a:graphicFrameLocks noChangeAspect="1"/>
          </p:cNvGraphicFramePr>
          <p:nvPr>
            <p:extLst>
              <p:ext uri="{D42A27DB-BD31-4B8C-83A1-F6EECF244321}">
                <p14:modId xmlns:p14="http://schemas.microsoft.com/office/powerpoint/2010/main" val="2642713467"/>
              </p:ext>
            </p:extLst>
          </p:nvPr>
        </p:nvGraphicFramePr>
        <p:xfrm>
          <a:off x="2656155" y="1542369"/>
          <a:ext cx="349250" cy="444500"/>
        </p:xfrm>
        <a:graphic>
          <a:graphicData uri="http://schemas.openxmlformats.org/presentationml/2006/ole">
            <mc:AlternateContent xmlns:mc="http://schemas.openxmlformats.org/markup-compatibility/2006">
              <mc:Choice xmlns:v="urn:schemas-microsoft-com:vml" Requires="v">
                <p:oleObj name="Equation" r:id="rId4" imgW="177480" imgH="228600" progId="Equation.DSMT4">
                  <p:embed/>
                </p:oleObj>
              </mc:Choice>
              <mc:Fallback>
                <p:oleObj name="Equation" r:id="rId4" imgW="177480" imgH="228600" progId="Equation.DSMT4">
                  <p:embed/>
                  <p:pic>
                    <p:nvPicPr>
                      <p:cNvPr id="22" name="Object 21">
                        <a:extLst>
                          <a:ext uri="{FF2B5EF4-FFF2-40B4-BE49-F238E27FC236}">
                            <a16:creationId xmlns:a16="http://schemas.microsoft.com/office/drawing/2014/main" id="{89E930B1-031E-CE66-207A-4D083C0EEACB}"/>
                          </a:ext>
                        </a:extLst>
                      </p:cNvPr>
                      <p:cNvPicPr>
                        <a:picLocks noChangeAspect="1" noChangeArrowheads="1"/>
                      </p:cNvPicPr>
                      <p:nvPr/>
                    </p:nvPicPr>
                    <p:blipFill>
                      <a:blip r:embed="rId5"/>
                      <a:srcRect/>
                      <a:stretch>
                        <a:fillRect/>
                      </a:stretch>
                    </p:blipFill>
                    <p:spPr bwMode="auto">
                      <a:xfrm>
                        <a:off x="2656155" y="1542369"/>
                        <a:ext cx="34925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0D1E3E21-D8F4-4428-D884-DEE9B6D45383}"/>
              </a:ext>
            </a:extLst>
          </p:cNvPr>
          <p:cNvSpPr>
            <a:spLocks noGrp="1"/>
          </p:cNvSpPr>
          <p:nvPr>
            <p:ph sz="quarter" idx="14"/>
          </p:nvPr>
        </p:nvSpPr>
        <p:spPr>
          <a:xfrm>
            <a:off x="3059711" y="1521168"/>
            <a:ext cx="5018963" cy="405683"/>
          </a:xfrm>
        </p:spPr>
        <p:txBody>
          <a:bodyPr wrap="square" lIns="0" tIns="18000" rIns="0" bIns="18000" anchor="ctr" anchorCtr="0">
            <a:spAutoFit/>
          </a:bodyPr>
          <a:lstStyle/>
          <a:p>
            <a:pPr marL="0" indent="0">
              <a:buNone/>
            </a:pPr>
            <a:r>
              <a:rPr lang="en-US" sz="2400" noProof="0" dirty="0"/>
              <a:t>is 10 V, what is the power associated</a:t>
            </a:r>
          </a:p>
        </p:txBody>
      </p:sp>
      <p:sp>
        <p:nvSpPr>
          <p:cNvPr id="6" name="Content Placeholder 5">
            <a:extLst>
              <a:ext uri="{FF2B5EF4-FFF2-40B4-BE49-F238E27FC236}">
                <a16:creationId xmlns:a16="http://schemas.microsoft.com/office/drawing/2014/main" id="{EBB85F4D-329F-0F48-6B3C-6DFD3A7B542C}"/>
              </a:ext>
            </a:extLst>
          </p:cNvPr>
          <p:cNvSpPr>
            <a:spLocks noGrp="1"/>
          </p:cNvSpPr>
          <p:nvPr>
            <p:ph sz="quarter" idx="15"/>
          </p:nvPr>
        </p:nvSpPr>
        <p:spPr>
          <a:xfrm>
            <a:off x="434151" y="2004445"/>
            <a:ext cx="2780389" cy="405683"/>
          </a:xfrm>
        </p:spPr>
        <p:txBody>
          <a:bodyPr wrap="square" lIns="0" tIns="18000" rIns="0" bIns="18000" anchor="ctr" anchorCtr="0">
            <a:spAutoFit/>
          </a:bodyPr>
          <a:lstStyle/>
          <a:p>
            <a:pPr marL="0" indent="0">
              <a:buNone/>
            </a:pPr>
            <a:r>
              <a:rPr lang="en-US" sz="2400" noProof="0" dirty="0"/>
              <a:t>with the 5 A</a:t>
            </a:r>
            <a:r>
              <a:rPr lang="en-US" sz="2400" noProof="0" dirty="0">
                <a:sym typeface="Symbol"/>
              </a:rPr>
              <a:t> source?</a:t>
            </a:r>
            <a:endParaRPr lang="en-US" sz="2400" noProof="0" dirty="0"/>
          </a:p>
        </p:txBody>
      </p:sp>
      <p:pic>
        <p:nvPicPr>
          <p:cNvPr id="15" name="Picture 14"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
            <a:extLst>
              <a:ext uri="{FF2B5EF4-FFF2-40B4-BE49-F238E27FC236}">
                <a16:creationId xmlns:a16="http://schemas.microsoft.com/office/drawing/2014/main" id="{B35D7B40-BD5E-B568-5114-DDB239D1D4D1}"/>
              </a:ext>
            </a:extLst>
          </p:cNvPr>
          <p:cNvPicPr>
            <a:picLocks noChangeAspect="1"/>
          </p:cNvPicPr>
          <p:nvPr/>
        </p:nvPicPr>
        <p:blipFill>
          <a:blip r:embed="rId6"/>
          <a:stretch>
            <a:fillRect/>
          </a:stretch>
        </p:blipFill>
        <p:spPr>
          <a:xfrm>
            <a:off x="2005501" y="2591675"/>
            <a:ext cx="5132998" cy="1542674"/>
          </a:xfrm>
          <a:prstGeom prst="rect">
            <a:avLst/>
          </a:prstGeom>
        </p:spPr>
      </p:pic>
      <p:pic>
        <p:nvPicPr>
          <p:cNvPr id="25" name="Picture 24" descr="Cross mark">
            <a:extLst>
              <a:ext uri="{FF2B5EF4-FFF2-40B4-BE49-F238E27FC236}">
                <a16:creationId xmlns:a16="http://schemas.microsoft.com/office/drawing/2014/main" id="{C2F997B4-51DE-B398-7649-553685153463}"/>
              </a:ext>
            </a:extLst>
          </p:cNvPr>
          <p:cNvPicPr>
            <a:picLocks noChangeAspect="1"/>
          </p:cNvPicPr>
          <p:nvPr/>
        </p:nvPicPr>
        <p:blipFill>
          <a:blip r:embed="rId7"/>
          <a:stretch>
            <a:fillRect/>
          </a:stretch>
        </p:blipFill>
        <p:spPr>
          <a:xfrm>
            <a:off x="1017308" y="4374781"/>
            <a:ext cx="284384" cy="284384"/>
          </a:xfrm>
          <a:prstGeom prst="rect">
            <a:avLst/>
          </a:prstGeom>
        </p:spPr>
      </p:pic>
      <p:sp>
        <p:nvSpPr>
          <p:cNvPr id="8" name="Content Placeholder 7">
            <a:extLst>
              <a:ext uri="{FF2B5EF4-FFF2-40B4-BE49-F238E27FC236}">
                <a16:creationId xmlns:a16="http://schemas.microsoft.com/office/drawing/2014/main" id="{3A8D0CD7-1551-A29C-0DF5-82D369B2DE0F}"/>
              </a:ext>
            </a:extLst>
          </p:cNvPr>
          <p:cNvSpPr>
            <a:spLocks noGrp="1"/>
          </p:cNvSpPr>
          <p:nvPr>
            <p:ph sz="quarter" idx="17"/>
          </p:nvPr>
        </p:nvSpPr>
        <p:spPr>
          <a:xfrm>
            <a:off x="1489434" y="4309181"/>
            <a:ext cx="1263193"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900 W</a:t>
            </a:r>
            <a:endParaRPr lang="en-US" sz="2400" noProof="0" dirty="0"/>
          </a:p>
        </p:txBody>
      </p:sp>
      <p:pic>
        <p:nvPicPr>
          <p:cNvPr id="26" name="Picture 25" descr="Cross mark">
            <a:extLst>
              <a:ext uri="{FF2B5EF4-FFF2-40B4-BE49-F238E27FC236}">
                <a16:creationId xmlns:a16="http://schemas.microsoft.com/office/drawing/2014/main" id="{625F5121-DE72-C9D5-35CC-DB2E6B63C4F7}"/>
              </a:ext>
            </a:extLst>
          </p:cNvPr>
          <p:cNvPicPr>
            <a:picLocks noChangeAspect="1"/>
          </p:cNvPicPr>
          <p:nvPr/>
        </p:nvPicPr>
        <p:blipFill>
          <a:blip r:embed="rId7"/>
          <a:stretch>
            <a:fillRect/>
          </a:stretch>
        </p:blipFill>
        <p:spPr>
          <a:xfrm>
            <a:off x="1017308" y="4881966"/>
            <a:ext cx="284384" cy="284384"/>
          </a:xfrm>
          <a:prstGeom prst="rect">
            <a:avLst/>
          </a:prstGeom>
        </p:spPr>
      </p:pic>
      <p:sp>
        <p:nvSpPr>
          <p:cNvPr id="9" name="Content Placeholder 8">
            <a:extLst>
              <a:ext uri="{FF2B5EF4-FFF2-40B4-BE49-F238E27FC236}">
                <a16:creationId xmlns:a16="http://schemas.microsoft.com/office/drawing/2014/main" id="{ACC52495-97FF-ED45-55F7-8DB07F09C4C9}"/>
              </a:ext>
            </a:extLst>
          </p:cNvPr>
          <p:cNvSpPr>
            <a:spLocks noGrp="1"/>
          </p:cNvSpPr>
          <p:nvPr>
            <p:ph sz="quarter" idx="18"/>
          </p:nvPr>
        </p:nvSpPr>
        <p:spPr>
          <a:xfrm>
            <a:off x="1489434" y="4823180"/>
            <a:ext cx="1430966" cy="405683"/>
          </a:xfrm>
        </p:spPr>
        <p:txBody>
          <a:bodyPr wrap="square" lIns="0" tIns="18000" rIns="0" bIns="18000" anchor="ctr" anchorCtr="0">
            <a:spAutoFit/>
          </a:bodyPr>
          <a:lstStyle/>
          <a:p>
            <a:pPr marL="0" indent="0">
              <a:buNone/>
            </a:pPr>
            <a:r>
              <a:rPr lang="en-US" altLang="en-US" sz="2400" noProof="0" dirty="0">
                <a:solidFill>
                  <a:schemeClr val="tx2"/>
                </a:solidFill>
                <a:latin typeface="Arial" panose="020B0604020202020204" pitchFamily="34" charset="0"/>
                <a:cs typeface="Arial" panose="020B0604020202020204" pitchFamily="34" charset="0"/>
                <a:sym typeface="Symbol" pitchFamily="18" charset="2"/>
              </a:rPr>
              <a:t>B.</a:t>
            </a:r>
            <a:r>
              <a:rPr lang="en-US" altLang="en-US" sz="2400" noProof="0" dirty="0">
                <a:latin typeface="Arial" panose="020B0604020202020204" pitchFamily="34" charset="0"/>
                <a:cs typeface="Arial" panose="020B0604020202020204" pitchFamily="34" charset="0"/>
                <a:sym typeface="Symbol" pitchFamily="18" charset="2"/>
              </a:rPr>
              <a:t> </a:t>
            </a:r>
            <a:r>
              <a:rPr lang="en-US" sz="2400" noProof="0" dirty="0">
                <a:effectLst/>
                <a:latin typeface="Arial" panose="020B0604020202020204" pitchFamily="34" charset="0"/>
                <a:ea typeface="Calibri" panose="020F0502020204030204" pitchFamily="34" charset="0"/>
                <a:cs typeface="Arial" panose="020B0604020202020204" pitchFamily="34" charset="0"/>
              </a:rPr>
              <a:t>−</a:t>
            </a:r>
            <a:r>
              <a:rPr lang="en-US" altLang="en-US" sz="2400" noProof="0" dirty="0">
                <a:latin typeface="Arial" panose="020B0604020202020204" pitchFamily="34" charset="0"/>
                <a:cs typeface="Arial" panose="020B0604020202020204" pitchFamily="34" charset="0"/>
                <a:sym typeface="Symbol" pitchFamily="18" charset="2"/>
              </a:rPr>
              <a:t>900 W</a:t>
            </a:r>
            <a:endParaRPr lang="en-US" sz="2400" noProof="0" dirty="0">
              <a:latin typeface="Arial" panose="020B0604020202020204" pitchFamily="34" charset="0"/>
              <a:cs typeface="Arial" panose="020B0604020202020204" pitchFamily="34" charset="0"/>
            </a:endParaRPr>
          </a:p>
        </p:txBody>
      </p:sp>
      <p:pic>
        <p:nvPicPr>
          <p:cNvPr id="27" name="Picture 26" descr="Cross mark">
            <a:extLst>
              <a:ext uri="{FF2B5EF4-FFF2-40B4-BE49-F238E27FC236}">
                <a16:creationId xmlns:a16="http://schemas.microsoft.com/office/drawing/2014/main" id="{71492FA7-8107-98B1-5DDD-7BD573D676B8}"/>
              </a:ext>
            </a:extLst>
          </p:cNvPr>
          <p:cNvPicPr>
            <a:picLocks noChangeAspect="1"/>
          </p:cNvPicPr>
          <p:nvPr/>
        </p:nvPicPr>
        <p:blipFill>
          <a:blip r:embed="rId7"/>
          <a:stretch>
            <a:fillRect/>
          </a:stretch>
        </p:blipFill>
        <p:spPr>
          <a:xfrm>
            <a:off x="1017308" y="5398578"/>
            <a:ext cx="284384" cy="284384"/>
          </a:xfrm>
          <a:prstGeom prst="rect">
            <a:avLst/>
          </a:prstGeom>
        </p:spPr>
      </p:pic>
      <p:sp>
        <p:nvSpPr>
          <p:cNvPr id="10" name="Content Placeholder 9">
            <a:extLst>
              <a:ext uri="{FF2B5EF4-FFF2-40B4-BE49-F238E27FC236}">
                <a16:creationId xmlns:a16="http://schemas.microsoft.com/office/drawing/2014/main" id="{AECCE894-9710-1642-E065-9C48AD6BD294}"/>
              </a:ext>
            </a:extLst>
          </p:cNvPr>
          <p:cNvSpPr>
            <a:spLocks noGrp="1"/>
          </p:cNvSpPr>
          <p:nvPr>
            <p:ph sz="quarter" idx="19"/>
          </p:nvPr>
        </p:nvSpPr>
        <p:spPr>
          <a:xfrm>
            <a:off x="1476834" y="5330365"/>
            <a:ext cx="1313499" cy="405683"/>
          </a:xfrm>
        </p:spPr>
        <p:txBody>
          <a:bodyPr wrap="square" lIns="0" tIns="18000" rIns="0" bIns="18000" anchor="ctr" anchorCtr="0">
            <a:spAutoFit/>
          </a:bodyPr>
          <a:lstStyle/>
          <a:p>
            <a:pPr marL="0" indent="0">
              <a:buNone/>
            </a:pPr>
            <a:r>
              <a:rPr lang="en-US" altLang="en-US" sz="2400" noProof="0" dirty="0">
                <a:solidFill>
                  <a:schemeClr val="tx2"/>
                </a:solidFill>
                <a:sym typeface="Symbol" pitchFamily="18" charset="2"/>
              </a:rPr>
              <a:t>C.</a:t>
            </a:r>
            <a:r>
              <a:rPr lang="en-US" altLang="en-US" sz="2400" noProof="0" dirty="0">
                <a:sym typeface="Symbol" pitchFamily="18" charset="2"/>
              </a:rPr>
              <a:t> </a:t>
            </a:r>
            <a:r>
              <a:rPr lang="en-US" sz="2400" noProof="0" dirty="0">
                <a:effectLst/>
                <a:latin typeface="Arial" panose="020B0604020202020204" pitchFamily="34" charset="0"/>
                <a:ea typeface="Calibri" panose="020F0502020204030204" pitchFamily="34" charset="0"/>
                <a:cs typeface="Arial" panose="020B0604020202020204" pitchFamily="34" charset="0"/>
              </a:rPr>
              <a:t>−</a:t>
            </a:r>
            <a:r>
              <a:rPr lang="en-US" altLang="en-US" sz="2400" noProof="0" dirty="0">
                <a:latin typeface="Arial" panose="020B0604020202020204" pitchFamily="34" charset="0"/>
                <a:cs typeface="Arial" panose="020B0604020202020204" pitchFamily="34" charset="0"/>
                <a:sym typeface="Symbol" pitchFamily="18" charset="2"/>
              </a:rPr>
              <a:t>50 W</a:t>
            </a:r>
            <a:endParaRPr lang="en-US" sz="2400" noProof="0" dirty="0">
              <a:latin typeface="Arial" panose="020B0604020202020204" pitchFamily="34" charset="0"/>
              <a:cs typeface="Arial" panose="020B0604020202020204" pitchFamily="34" charset="0"/>
            </a:endParaRPr>
          </a:p>
        </p:txBody>
      </p:sp>
      <p:pic>
        <p:nvPicPr>
          <p:cNvPr id="24" name="Picture 23" descr="Check mark">
            <a:extLst>
              <a:ext uri="{FF2B5EF4-FFF2-40B4-BE49-F238E27FC236}">
                <a16:creationId xmlns:a16="http://schemas.microsoft.com/office/drawing/2014/main" id="{25444F57-5560-503E-E4CD-74EA239FE60B}"/>
              </a:ext>
            </a:extLst>
          </p:cNvPr>
          <p:cNvPicPr>
            <a:picLocks noChangeAspect="1"/>
          </p:cNvPicPr>
          <p:nvPr/>
        </p:nvPicPr>
        <p:blipFill>
          <a:blip r:embed="rId8"/>
          <a:stretch>
            <a:fillRect/>
          </a:stretch>
        </p:blipFill>
        <p:spPr>
          <a:xfrm>
            <a:off x="988870" y="5919803"/>
            <a:ext cx="312822" cy="312822"/>
          </a:xfrm>
          <a:prstGeom prst="rect">
            <a:avLst/>
          </a:prstGeom>
        </p:spPr>
      </p:pic>
      <p:sp>
        <p:nvSpPr>
          <p:cNvPr id="11" name="Content Placeholder 10">
            <a:extLst>
              <a:ext uri="{FF2B5EF4-FFF2-40B4-BE49-F238E27FC236}">
                <a16:creationId xmlns:a16="http://schemas.microsoft.com/office/drawing/2014/main" id="{62784DF9-77D1-4B8E-49C8-B92C19A89886}"/>
              </a:ext>
            </a:extLst>
          </p:cNvPr>
          <p:cNvSpPr>
            <a:spLocks noGrp="1"/>
          </p:cNvSpPr>
          <p:nvPr>
            <p:ph sz="quarter" idx="20"/>
          </p:nvPr>
        </p:nvSpPr>
        <p:spPr>
          <a:xfrm>
            <a:off x="1486262" y="5831663"/>
            <a:ext cx="1134390" cy="405683"/>
          </a:xfrm>
        </p:spPr>
        <p:txBody>
          <a:bodyPr wrap="square" lIns="0" tIns="18000" rIns="0" bIns="18000" anchor="ctr" anchorCtr="0">
            <a:spAutoFit/>
          </a:bodyPr>
          <a:lstStyle/>
          <a:p>
            <a:pPr marL="0" indent="0">
              <a:buNone/>
            </a:pPr>
            <a:r>
              <a:rPr lang="en-US" altLang="en-US" sz="2400" noProof="0" dirty="0">
                <a:solidFill>
                  <a:schemeClr val="tx2"/>
                </a:solidFill>
                <a:sym typeface="Symbol" pitchFamily="18" charset="2"/>
              </a:rPr>
              <a:t>D.</a:t>
            </a:r>
            <a:r>
              <a:rPr lang="en-US" altLang="en-US" sz="2400" noProof="0" dirty="0">
                <a:sym typeface="Symbol" pitchFamily="18" charset="2"/>
              </a:rPr>
              <a:t> </a:t>
            </a:r>
            <a:r>
              <a:rPr lang="en-US" altLang="en-US" sz="2400" noProof="0" dirty="0">
                <a:latin typeface="Arial" panose="020B0604020202020204" pitchFamily="34" charset="0"/>
                <a:cs typeface="Arial" panose="020B0604020202020204" pitchFamily="34" charset="0"/>
                <a:sym typeface="Symbol" pitchFamily="18" charset="2"/>
              </a:rPr>
              <a:t>50 W</a:t>
            </a:r>
            <a:endParaRPr lang="en-US" sz="2400" noProof="0" dirty="0"/>
          </a:p>
        </p:txBody>
      </p:sp>
    </p:spTree>
    <p:extLst>
      <p:ext uri="{BB962C8B-B14F-4D97-AF65-F5344CB8AC3E}">
        <p14:creationId xmlns:p14="http://schemas.microsoft.com/office/powerpoint/2010/main" val="2125575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(21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40143"/>
            <a:ext cx="8238972" cy="728849"/>
          </a:xfrm>
        </p:spPr>
        <p:txBody>
          <a:bodyPr wrap="square" lIns="0" tIns="18000" rIns="0" bIns="18000" anchor="ctr" anchorCtr="0">
            <a:spAutoFit/>
          </a:bodyPr>
          <a:lstStyle/>
          <a:p>
            <a:pPr marL="342900" indent="-342900">
              <a:spcBef>
                <a:spcPts val="600"/>
              </a:spcBef>
            </a:pPr>
            <a:r>
              <a:rPr lang="en-US" altLang="en-US" sz="2000" noProof="0" dirty="0"/>
              <a:t>Node voltage method (continued):</a:t>
            </a:r>
          </a:p>
          <a:p>
            <a:pPr marL="829818" lvl="1" indent="-342900"/>
            <a:r>
              <a:rPr lang="en-US" altLang="en-US" sz="2000" noProof="0" dirty="0"/>
              <a:t>Check that the power balances</a:t>
            </a:r>
            <a:endParaRPr lang="en-US" sz="1200" noProof="0" dirty="0"/>
          </a:p>
        </p:txBody>
      </p:sp>
      <p:pic>
        <p:nvPicPr>
          <p:cNvPr id="7" name="Picture 6"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10;60 volts is the potential difference between the nodes in the top wire where the wires housing the 60-ohm resistor and the 15-ohm resistor join the top wire. 10 volts is marked as the voltage at the node in the top wire where the wire housing the 2-ohm resistor joins the top wire. The nodes in the bottom wire where the wires housing the 60-ohm resistor, the 15-ohm resistor, the 2-ohm resistor join the bottom wire are encircled. A downward pointing arrow is shown from the node where the wire housing the 15-ohm resistor joins the bottom wire. &#10;">
            <a:extLst>
              <a:ext uri="{FF2B5EF4-FFF2-40B4-BE49-F238E27FC236}">
                <a16:creationId xmlns:a16="http://schemas.microsoft.com/office/drawing/2014/main" id="{70D1F58C-15BE-EBE7-1ECB-06248D2DFBF3}"/>
              </a:ext>
            </a:extLst>
          </p:cNvPr>
          <p:cNvPicPr>
            <a:picLocks noChangeAspect="1"/>
          </p:cNvPicPr>
          <p:nvPr/>
        </p:nvPicPr>
        <p:blipFill>
          <a:blip r:embed="rId2"/>
          <a:stretch>
            <a:fillRect/>
          </a:stretch>
        </p:blipFill>
        <p:spPr>
          <a:xfrm>
            <a:off x="2422971" y="2453871"/>
            <a:ext cx="4298058" cy="1441204"/>
          </a:xfrm>
          <a:prstGeom prst="rect">
            <a:avLst/>
          </a:prstGeom>
        </p:spPr>
      </p:pic>
      <p:graphicFrame>
        <p:nvGraphicFramePr>
          <p:cNvPr id="8" name="Object 7" descr="p subscript 15-A BaseLine equals negative Open Parenthesis 15 Close Parenthesis multiplied by Open Parenthesis 60 Close Parenthesis equals negative 900 Watts;">
            <a:extLst>
              <a:ext uri="{FF2B5EF4-FFF2-40B4-BE49-F238E27FC236}">
                <a16:creationId xmlns:a16="http://schemas.microsoft.com/office/drawing/2014/main" id="{BA0F6DE4-EF58-708B-0C89-24E9D369FD19}"/>
              </a:ext>
            </a:extLst>
          </p:cNvPr>
          <p:cNvGraphicFramePr>
            <a:graphicFrameLocks noChangeAspect="1"/>
          </p:cNvGraphicFramePr>
          <p:nvPr>
            <p:extLst>
              <p:ext uri="{D42A27DB-BD31-4B8C-83A1-F6EECF244321}">
                <p14:modId xmlns:p14="http://schemas.microsoft.com/office/powerpoint/2010/main" val="3075654777"/>
              </p:ext>
            </p:extLst>
          </p:nvPr>
        </p:nvGraphicFramePr>
        <p:xfrm>
          <a:off x="459662" y="4100138"/>
          <a:ext cx="3155950" cy="381000"/>
        </p:xfrm>
        <a:graphic>
          <a:graphicData uri="http://schemas.openxmlformats.org/presentationml/2006/ole">
            <mc:AlternateContent xmlns:mc="http://schemas.openxmlformats.org/markup-compatibility/2006">
              <mc:Choice xmlns:v="urn:schemas-microsoft-com:vml" Requires="v">
                <p:oleObj name="Equation" r:id="rId3" imgW="1866600" imgH="228600" progId="Equation.DSMT4">
                  <p:embed/>
                </p:oleObj>
              </mc:Choice>
              <mc:Fallback>
                <p:oleObj name="Equation" r:id="rId3" imgW="1866600" imgH="228600" progId="Equation.DSMT4">
                  <p:embed/>
                  <p:pic>
                    <p:nvPicPr>
                      <p:cNvPr id="6" name="Object 5">
                        <a:extLst>
                          <a:ext uri="{FF2B5EF4-FFF2-40B4-BE49-F238E27FC236}">
                            <a16:creationId xmlns:a16="http://schemas.microsoft.com/office/drawing/2014/main" id="{CEE2C789-F485-1F5A-5875-33B7E9F155AF}"/>
                          </a:ext>
                        </a:extLst>
                      </p:cNvPr>
                      <p:cNvPicPr>
                        <a:picLocks noChangeAspect="1" noChangeArrowheads="1"/>
                      </p:cNvPicPr>
                      <p:nvPr/>
                    </p:nvPicPr>
                    <p:blipFill>
                      <a:blip r:embed="rId4"/>
                      <a:srcRect/>
                      <a:stretch>
                        <a:fillRect/>
                      </a:stretch>
                    </p:blipFill>
                    <p:spPr bwMode="auto">
                      <a:xfrm>
                        <a:off x="459662" y="4100138"/>
                        <a:ext cx="31559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descr="p subscript 60 BaseLine equals 60 squared divided by 60 equals 60 Watts;">
            <a:extLst>
              <a:ext uri="{FF2B5EF4-FFF2-40B4-BE49-F238E27FC236}">
                <a16:creationId xmlns:a16="http://schemas.microsoft.com/office/drawing/2014/main" id="{74CF5384-DBED-1411-80BF-A7026DB4562A}"/>
              </a:ext>
            </a:extLst>
          </p:cNvPr>
          <p:cNvGraphicFramePr>
            <a:graphicFrameLocks noChangeAspect="1"/>
          </p:cNvGraphicFramePr>
          <p:nvPr>
            <p:extLst>
              <p:ext uri="{D42A27DB-BD31-4B8C-83A1-F6EECF244321}">
                <p14:modId xmlns:p14="http://schemas.microsoft.com/office/powerpoint/2010/main" val="1738578848"/>
              </p:ext>
            </p:extLst>
          </p:nvPr>
        </p:nvGraphicFramePr>
        <p:xfrm>
          <a:off x="3872162" y="4018245"/>
          <a:ext cx="2405063" cy="528637"/>
        </p:xfrm>
        <a:graphic>
          <a:graphicData uri="http://schemas.openxmlformats.org/presentationml/2006/ole">
            <mc:AlternateContent xmlns:mc="http://schemas.openxmlformats.org/markup-compatibility/2006">
              <mc:Choice xmlns:v="urn:schemas-microsoft-com:vml" Requires="v">
                <p:oleObj name="Equation" r:id="rId5" imgW="1422360" imgH="317160" progId="Equation.DSMT4">
                  <p:embed/>
                </p:oleObj>
              </mc:Choice>
              <mc:Fallback>
                <p:oleObj name="Equation" r:id="rId5" imgW="1422360" imgH="317160" progId="Equation.DSMT4">
                  <p:embed/>
                  <p:pic>
                    <p:nvPicPr>
                      <p:cNvPr id="8" name="Object 7">
                        <a:extLst>
                          <a:ext uri="{FF2B5EF4-FFF2-40B4-BE49-F238E27FC236}">
                            <a16:creationId xmlns:a16="http://schemas.microsoft.com/office/drawing/2014/main" id="{BA0F6DE4-EF58-708B-0C89-24E9D369FD19}"/>
                          </a:ext>
                        </a:extLst>
                      </p:cNvPr>
                      <p:cNvPicPr>
                        <a:picLocks noChangeAspect="1" noChangeArrowheads="1"/>
                      </p:cNvPicPr>
                      <p:nvPr/>
                    </p:nvPicPr>
                    <p:blipFill>
                      <a:blip r:embed="rId6"/>
                      <a:srcRect/>
                      <a:stretch>
                        <a:fillRect/>
                      </a:stretch>
                    </p:blipFill>
                    <p:spPr bwMode="auto">
                      <a:xfrm>
                        <a:off x="3872162" y="4018245"/>
                        <a:ext cx="2405063"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p subscript 15 BaseLine equals 60 squared divided by 15 equals 240 Watts;">
            <a:extLst>
              <a:ext uri="{FF2B5EF4-FFF2-40B4-BE49-F238E27FC236}">
                <a16:creationId xmlns:a16="http://schemas.microsoft.com/office/drawing/2014/main" id="{71F0E10F-0E69-6336-69D9-2D353AB37797}"/>
              </a:ext>
            </a:extLst>
          </p:cNvPr>
          <p:cNvGraphicFramePr>
            <a:graphicFrameLocks noChangeAspect="1"/>
          </p:cNvGraphicFramePr>
          <p:nvPr>
            <p:extLst>
              <p:ext uri="{D42A27DB-BD31-4B8C-83A1-F6EECF244321}">
                <p14:modId xmlns:p14="http://schemas.microsoft.com/office/powerpoint/2010/main" val="1773738457"/>
              </p:ext>
            </p:extLst>
          </p:nvPr>
        </p:nvGraphicFramePr>
        <p:xfrm>
          <a:off x="459662" y="4657301"/>
          <a:ext cx="2513013" cy="528638"/>
        </p:xfrm>
        <a:graphic>
          <a:graphicData uri="http://schemas.openxmlformats.org/presentationml/2006/ole">
            <mc:AlternateContent xmlns:mc="http://schemas.openxmlformats.org/markup-compatibility/2006">
              <mc:Choice xmlns:v="urn:schemas-microsoft-com:vml" Requires="v">
                <p:oleObj name="Equation" r:id="rId7" imgW="1485720" imgH="317160" progId="Equation.DSMT4">
                  <p:embed/>
                </p:oleObj>
              </mc:Choice>
              <mc:Fallback>
                <p:oleObj name="Equation" r:id="rId7" imgW="1485720" imgH="317160" progId="Equation.DSMT4">
                  <p:embed/>
                  <p:pic>
                    <p:nvPicPr>
                      <p:cNvPr id="9" name="Object 8">
                        <a:extLst>
                          <a:ext uri="{FF2B5EF4-FFF2-40B4-BE49-F238E27FC236}">
                            <a16:creationId xmlns:a16="http://schemas.microsoft.com/office/drawing/2014/main" id="{74CF5384-DBED-1411-80BF-A7026DB4562A}"/>
                          </a:ext>
                        </a:extLst>
                      </p:cNvPr>
                      <p:cNvPicPr>
                        <a:picLocks noChangeAspect="1" noChangeArrowheads="1"/>
                      </p:cNvPicPr>
                      <p:nvPr/>
                    </p:nvPicPr>
                    <p:blipFill>
                      <a:blip r:embed="rId8"/>
                      <a:srcRect/>
                      <a:stretch>
                        <a:fillRect/>
                      </a:stretch>
                    </p:blipFill>
                    <p:spPr bwMode="auto">
                      <a:xfrm>
                        <a:off x="459662" y="4657301"/>
                        <a:ext cx="2513013" cy="52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p subscript 5 BaseLine equals Open Parenthesis 60 minus 10 Close Parenthesis squared divided by 5 equals 500 Watts;">
            <a:extLst>
              <a:ext uri="{FF2B5EF4-FFF2-40B4-BE49-F238E27FC236}">
                <a16:creationId xmlns:a16="http://schemas.microsoft.com/office/drawing/2014/main" id="{F3C3D5AA-5890-9F29-CC10-171F7A0AFE72}"/>
              </a:ext>
            </a:extLst>
          </p:cNvPr>
          <p:cNvGraphicFramePr>
            <a:graphicFrameLocks noChangeAspect="1"/>
          </p:cNvGraphicFramePr>
          <p:nvPr>
            <p:extLst>
              <p:ext uri="{D42A27DB-BD31-4B8C-83A1-F6EECF244321}">
                <p14:modId xmlns:p14="http://schemas.microsoft.com/office/powerpoint/2010/main" val="626765577"/>
              </p:ext>
            </p:extLst>
          </p:nvPr>
        </p:nvGraphicFramePr>
        <p:xfrm>
          <a:off x="3391397" y="4594017"/>
          <a:ext cx="3114675" cy="592138"/>
        </p:xfrm>
        <a:graphic>
          <a:graphicData uri="http://schemas.openxmlformats.org/presentationml/2006/ole">
            <mc:AlternateContent xmlns:mc="http://schemas.openxmlformats.org/markup-compatibility/2006">
              <mc:Choice xmlns:v="urn:schemas-microsoft-com:vml" Requires="v">
                <p:oleObj name="Equation" r:id="rId9" imgW="1841400" imgH="355320" progId="Equation.DSMT4">
                  <p:embed/>
                </p:oleObj>
              </mc:Choice>
              <mc:Fallback>
                <p:oleObj name="Equation" r:id="rId9" imgW="1841400" imgH="355320" progId="Equation.DSMT4">
                  <p:embed/>
                  <p:pic>
                    <p:nvPicPr>
                      <p:cNvPr id="10" name="Object 9">
                        <a:extLst>
                          <a:ext uri="{FF2B5EF4-FFF2-40B4-BE49-F238E27FC236}">
                            <a16:creationId xmlns:a16="http://schemas.microsoft.com/office/drawing/2014/main" id="{71F0E10F-0E69-6336-69D9-2D353AB37797}"/>
                          </a:ext>
                        </a:extLst>
                      </p:cNvPr>
                      <p:cNvPicPr>
                        <a:picLocks noChangeAspect="1" noChangeArrowheads="1"/>
                      </p:cNvPicPr>
                      <p:nvPr/>
                    </p:nvPicPr>
                    <p:blipFill>
                      <a:blip r:embed="rId10"/>
                      <a:srcRect/>
                      <a:stretch>
                        <a:fillRect/>
                      </a:stretch>
                    </p:blipFill>
                    <p:spPr bwMode="auto">
                      <a:xfrm>
                        <a:off x="3391397" y="4594017"/>
                        <a:ext cx="3114675" cy="592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descr="p subscript 2 BaseLine equals 10 squared divided by 2 equals 50 Watts;">
            <a:extLst>
              <a:ext uri="{FF2B5EF4-FFF2-40B4-BE49-F238E27FC236}">
                <a16:creationId xmlns:a16="http://schemas.microsoft.com/office/drawing/2014/main" id="{687D9345-0F77-57A5-27A5-2F81619DC6B0}"/>
              </a:ext>
            </a:extLst>
          </p:cNvPr>
          <p:cNvGraphicFramePr>
            <a:graphicFrameLocks noChangeAspect="1"/>
          </p:cNvGraphicFramePr>
          <p:nvPr>
            <p:extLst>
              <p:ext uri="{D42A27DB-BD31-4B8C-83A1-F6EECF244321}">
                <p14:modId xmlns:p14="http://schemas.microsoft.com/office/powerpoint/2010/main" val="2692714969"/>
              </p:ext>
            </p:extLst>
          </p:nvPr>
        </p:nvGraphicFramePr>
        <p:xfrm>
          <a:off x="461000" y="5317857"/>
          <a:ext cx="2170112" cy="528638"/>
        </p:xfrm>
        <a:graphic>
          <a:graphicData uri="http://schemas.openxmlformats.org/presentationml/2006/ole">
            <mc:AlternateContent xmlns:mc="http://schemas.openxmlformats.org/markup-compatibility/2006">
              <mc:Choice xmlns:v="urn:schemas-microsoft-com:vml" Requires="v">
                <p:oleObj name="Equation" r:id="rId11" imgW="1282680" imgH="317160" progId="Equation.DSMT4">
                  <p:embed/>
                </p:oleObj>
              </mc:Choice>
              <mc:Fallback>
                <p:oleObj name="Equation" r:id="rId11" imgW="1282680" imgH="317160" progId="Equation.DSMT4">
                  <p:embed/>
                  <p:pic>
                    <p:nvPicPr>
                      <p:cNvPr id="11" name="Object 10">
                        <a:extLst>
                          <a:ext uri="{FF2B5EF4-FFF2-40B4-BE49-F238E27FC236}">
                            <a16:creationId xmlns:a16="http://schemas.microsoft.com/office/drawing/2014/main" id="{F3C3D5AA-5890-9F29-CC10-171F7A0AFE72}"/>
                          </a:ext>
                        </a:extLst>
                      </p:cNvPr>
                      <p:cNvPicPr>
                        <a:picLocks noChangeAspect="1" noChangeArrowheads="1"/>
                      </p:cNvPicPr>
                      <p:nvPr/>
                    </p:nvPicPr>
                    <p:blipFill>
                      <a:blip r:embed="rId12"/>
                      <a:srcRect/>
                      <a:stretch>
                        <a:fillRect/>
                      </a:stretch>
                    </p:blipFill>
                    <p:spPr bwMode="auto">
                      <a:xfrm>
                        <a:off x="461000" y="5317857"/>
                        <a:ext cx="2170112" cy="52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descr="p subscript 5-A BaseLine equals Open Parenthesis 5 Close Parenthesis multiplied by Open Parenthesis 10 Close Parenthesis equals 50 Watts.&#10;">
            <a:extLst>
              <a:ext uri="{FF2B5EF4-FFF2-40B4-BE49-F238E27FC236}">
                <a16:creationId xmlns:a16="http://schemas.microsoft.com/office/drawing/2014/main" id="{BA232932-3FA2-6C6A-0189-88E57AA5C90D}"/>
              </a:ext>
            </a:extLst>
          </p:cNvPr>
          <p:cNvGraphicFramePr>
            <a:graphicFrameLocks noChangeAspect="1"/>
          </p:cNvGraphicFramePr>
          <p:nvPr>
            <p:extLst>
              <p:ext uri="{D42A27DB-BD31-4B8C-83A1-F6EECF244321}">
                <p14:modId xmlns:p14="http://schemas.microsoft.com/office/powerpoint/2010/main" val="3233852278"/>
              </p:ext>
            </p:extLst>
          </p:nvPr>
        </p:nvGraphicFramePr>
        <p:xfrm>
          <a:off x="3108594" y="5397746"/>
          <a:ext cx="2427287" cy="381000"/>
        </p:xfrm>
        <a:graphic>
          <a:graphicData uri="http://schemas.openxmlformats.org/presentationml/2006/ole">
            <mc:AlternateContent xmlns:mc="http://schemas.openxmlformats.org/markup-compatibility/2006">
              <mc:Choice xmlns:v="urn:schemas-microsoft-com:vml" Requires="v">
                <p:oleObj name="Equation" r:id="rId13" imgW="1434960" imgH="228600" progId="Equation.DSMT4">
                  <p:embed/>
                </p:oleObj>
              </mc:Choice>
              <mc:Fallback>
                <p:oleObj name="Equation" r:id="rId13" imgW="1434960" imgH="228600" progId="Equation.DSMT4">
                  <p:embed/>
                  <p:pic>
                    <p:nvPicPr>
                      <p:cNvPr id="12" name="Object 11">
                        <a:extLst>
                          <a:ext uri="{FF2B5EF4-FFF2-40B4-BE49-F238E27FC236}">
                            <a16:creationId xmlns:a16="http://schemas.microsoft.com/office/drawing/2014/main" id="{687D9345-0F77-57A5-27A5-2F81619DC6B0}"/>
                          </a:ext>
                        </a:extLst>
                      </p:cNvPr>
                      <p:cNvPicPr>
                        <a:picLocks noChangeAspect="1" noChangeArrowheads="1"/>
                      </p:cNvPicPr>
                      <p:nvPr/>
                    </p:nvPicPr>
                    <p:blipFill>
                      <a:blip r:embed="rId14"/>
                      <a:srcRect/>
                      <a:stretch>
                        <a:fillRect/>
                      </a:stretch>
                    </p:blipFill>
                    <p:spPr bwMode="auto">
                      <a:xfrm>
                        <a:off x="3108594" y="5397746"/>
                        <a:ext cx="2427287"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descr="Summation p equals negative 900 plus 60 plus 240 plus 500 plus 50 plus 50 equals 0.">
            <a:extLst>
              <a:ext uri="{FF2B5EF4-FFF2-40B4-BE49-F238E27FC236}">
                <a16:creationId xmlns:a16="http://schemas.microsoft.com/office/drawing/2014/main" id="{3F089E00-30A1-F502-52AD-9E0E7D92074B}"/>
              </a:ext>
            </a:extLst>
          </p:cNvPr>
          <p:cNvGraphicFramePr>
            <a:graphicFrameLocks noChangeAspect="1"/>
          </p:cNvGraphicFramePr>
          <p:nvPr>
            <p:extLst>
              <p:ext uri="{D42A27DB-BD31-4B8C-83A1-F6EECF244321}">
                <p14:modId xmlns:p14="http://schemas.microsoft.com/office/powerpoint/2010/main" val="3495726225"/>
              </p:ext>
            </p:extLst>
          </p:nvPr>
        </p:nvGraphicFramePr>
        <p:xfrm>
          <a:off x="461000" y="5914202"/>
          <a:ext cx="5133975" cy="422275"/>
        </p:xfrm>
        <a:graphic>
          <a:graphicData uri="http://schemas.openxmlformats.org/presentationml/2006/ole">
            <mc:AlternateContent xmlns:mc="http://schemas.openxmlformats.org/markup-compatibility/2006">
              <mc:Choice xmlns:v="urn:schemas-microsoft-com:vml" Requires="v">
                <p:oleObj name="Equation" r:id="rId15" imgW="3035160" imgH="253800" progId="Equation.DSMT4">
                  <p:embed/>
                </p:oleObj>
              </mc:Choice>
              <mc:Fallback>
                <p:oleObj name="Equation" r:id="rId15" imgW="3035160" imgH="253800" progId="Equation.DSMT4">
                  <p:embed/>
                  <p:pic>
                    <p:nvPicPr>
                      <p:cNvPr id="13" name="Object 12">
                        <a:extLst>
                          <a:ext uri="{FF2B5EF4-FFF2-40B4-BE49-F238E27FC236}">
                            <a16:creationId xmlns:a16="http://schemas.microsoft.com/office/drawing/2014/main" id="{BA232932-3FA2-6C6A-0189-88E57AA5C90D}"/>
                          </a:ext>
                        </a:extLst>
                      </p:cNvPr>
                      <p:cNvPicPr>
                        <a:picLocks noChangeAspect="1" noChangeArrowheads="1"/>
                      </p:cNvPicPr>
                      <p:nvPr/>
                    </p:nvPicPr>
                    <p:blipFill>
                      <a:blip r:embed="rId16"/>
                      <a:srcRect/>
                      <a:stretch>
                        <a:fillRect/>
                      </a:stretch>
                    </p:blipFill>
                    <p:spPr bwMode="auto">
                      <a:xfrm>
                        <a:off x="461000" y="5914202"/>
                        <a:ext cx="51339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C90FE5F8-CFC7-B906-5EEF-0146018B1B81}"/>
              </a:ext>
              <a:ext uri="{C183D7F6-B498-43B3-948B-1728B52AA6E4}">
                <adec:decorative xmlns:adec="http://schemas.microsoft.com/office/drawing/2017/decorative" val="1"/>
              </a:ext>
            </a:extLst>
          </p:cNvPr>
          <p:cNvSpPr/>
          <p:nvPr/>
        </p:nvSpPr>
        <p:spPr>
          <a:xfrm>
            <a:off x="427605" y="4018245"/>
            <a:ext cx="6108708" cy="2318232"/>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4465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(22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40143"/>
            <a:ext cx="8238972" cy="728849"/>
          </a:xfrm>
        </p:spPr>
        <p:txBody>
          <a:bodyPr wrap="square" lIns="0" tIns="18000" rIns="0" bIns="18000" anchor="ctr" anchorCtr="0">
            <a:spAutoFit/>
          </a:bodyPr>
          <a:lstStyle/>
          <a:p>
            <a:pPr marL="342900" indent="-342900">
              <a:spcBef>
                <a:spcPts val="600"/>
              </a:spcBef>
            </a:pPr>
            <a:r>
              <a:rPr lang="en-US" altLang="en-US" sz="2000" noProof="0" dirty="0"/>
              <a:t>Node voltage method:</a:t>
            </a:r>
          </a:p>
          <a:p>
            <a:pPr marL="829818" lvl="1" indent="-342900"/>
            <a:r>
              <a:rPr lang="en-US" altLang="en-US" sz="2000" noProof="0" dirty="0"/>
              <a:t>Find the power associated with the current source.</a:t>
            </a:r>
            <a:endParaRPr lang="en-US" sz="2000" noProof="0" dirty="0"/>
          </a:p>
        </p:txBody>
      </p:sp>
      <p:pic>
        <p:nvPicPr>
          <p:cNvPr id="6" name="Picture 5"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a:extLst>
              <a:ext uri="{FF2B5EF4-FFF2-40B4-BE49-F238E27FC236}">
                <a16:creationId xmlns:a16="http://schemas.microsoft.com/office/drawing/2014/main" id="{17011DC6-8AC9-7F41-B747-2D1E8B83AC40}"/>
              </a:ext>
            </a:extLst>
          </p:cNvPr>
          <p:cNvPicPr>
            <a:picLocks noChangeAspect="1"/>
          </p:cNvPicPr>
          <p:nvPr/>
        </p:nvPicPr>
        <p:blipFill>
          <a:blip r:embed="rId2"/>
          <a:stretch>
            <a:fillRect/>
          </a:stretch>
        </p:blipFill>
        <p:spPr>
          <a:xfrm>
            <a:off x="3089564" y="2478451"/>
            <a:ext cx="2964873" cy="1222359"/>
          </a:xfrm>
          <a:prstGeom prst="rect">
            <a:avLst/>
          </a:prstGeom>
        </p:spPr>
      </p:pic>
      <p:sp>
        <p:nvSpPr>
          <p:cNvPr id="4" name="Content Placeholder 3">
            <a:extLst>
              <a:ext uri="{FF2B5EF4-FFF2-40B4-BE49-F238E27FC236}">
                <a16:creationId xmlns:a16="http://schemas.microsoft.com/office/drawing/2014/main" id="{F66FA6F7-3DE2-898C-688F-450ABBD6954F}"/>
              </a:ext>
            </a:extLst>
          </p:cNvPr>
          <p:cNvSpPr>
            <a:spLocks noGrp="1"/>
          </p:cNvSpPr>
          <p:nvPr>
            <p:ph sz="quarter" idx="13"/>
          </p:nvPr>
        </p:nvSpPr>
        <p:spPr>
          <a:xfrm>
            <a:off x="430135" y="3871595"/>
            <a:ext cx="8238971" cy="1036625"/>
          </a:xfrm>
        </p:spPr>
        <p:txBody>
          <a:bodyPr wrap="square" lIns="0" tIns="18000" rIns="0" bIns="18000" anchor="ctr" anchorCtr="0">
            <a:spAutoFit/>
          </a:bodyPr>
          <a:lstStyle/>
          <a:p>
            <a:pPr marL="0" indent="0">
              <a:spcBef>
                <a:spcPts val="600"/>
              </a:spcBef>
              <a:buNone/>
            </a:pPr>
            <a:r>
              <a:rPr lang="en-US" altLang="en-US" sz="2000" noProof="0" dirty="0"/>
              <a:t>Step 1 – Identify each essential node.</a:t>
            </a:r>
          </a:p>
          <a:p>
            <a:pPr marL="0" indent="0">
              <a:spcBef>
                <a:spcPts val="600"/>
              </a:spcBef>
              <a:buNone/>
            </a:pPr>
            <a:r>
              <a:rPr lang="en-US" altLang="en-US" sz="2000" noProof="0" dirty="0"/>
              <a:t>Step 2 – Pick and label a reference node; then label the node voltages at the remaining essential nodes.</a:t>
            </a:r>
            <a:endParaRPr lang="en-US" sz="2000" noProof="0" dirty="0"/>
          </a:p>
        </p:txBody>
      </p:sp>
      <p:pic>
        <p:nvPicPr>
          <p:cNvPr id="8" name="Picture 7"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v is the voltage marked at the node where the wire housing the 50-ohm resistor connects to the top wire. The node where the wire housing the 50-ohm resistor connects to the bottom wire is encircled and a downward pointing arrow is shown at the same node. ">
            <a:extLst>
              <a:ext uri="{FF2B5EF4-FFF2-40B4-BE49-F238E27FC236}">
                <a16:creationId xmlns:a16="http://schemas.microsoft.com/office/drawing/2014/main" id="{92A14845-E8C1-8FA1-40E9-DE19D69B5EC8}"/>
              </a:ext>
            </a:extLst>
          </p:cNvPr>
          <p:cNvPicPr>
            <a:picLocks noChangeAspect="1"/>
          </p:cNvPicPr>
          <p:nvPr/>
        </p:nvPicPr>
        <p:blipFill>
          <a:blip r:embed="rId3"/>
          <a:stretch>
            <a:fillRect/>
          </a:stretch>
        </p:blipFill>
        <p:spPr>
          <a:xfrm>
            <a:off x="3223831" y="5015955"/>
            <a:ext cx="2715190" cy="1266295"/>
          </a:xfrm>
          <a:prstGeom prst="rect">
            <a:avLst/>
          </a:prstGeom>
        </p:spPr>
      </p:pic>
    </p:spTree>
    <p:extLst>
      <p:ext uri="{BB962C8B-B14F-4D97-AF65-F5344CB8AC3E}">
        <p14:creationId xmlns:p14="http://schemas.microsoft.com/office/powerpoint/2010/main" val="3898448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(23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497646"/>
            <a:ext cx="8238972" cy="1021237"/>
          </a:xfrm>
        </p:spPr>
        <p:txBody>
          <a:bodyPr wrap="square" lIns="0" tIns="18000" rIns="0" bIns="18000" anchor="ctr" anchorCtr="0">
            <a:spAutoFit/>
          </a:bodyPr>
          <a:lstStyle/>
          <a:p>
            <a:pPr marL="285750" indent="-285750">
              <a:spcBef>
                <a:spcPts val="600"/>
              </a:spcBef>
            </a:pPr>
            <a:r>
              <a:rPr lang="en-US" altLang="en-US" sz="1800" noProof="0" dirty="0"/>
              <a:t>Node voltage method:</a:t>
            </a:r>
          </a:p>
          <a:p>
            <a:pPr marL="772668" lvl="1" indent="-285750"/>
            <a:r>
              <a:rPr lang="en-US" altLang="en-US" sz="1800" noProof="0" dirty="0"/>
              <a:t>Step 3 – Write a </a:t>
            </a:r>
            <a:r>
              <a:rPr lang="en-US" altLang="en-US" sz="1800" kern="0" spc="-200" noProof="0" dirty="0"/>
              <a:t>K C </a:t>
            </a:r>
            <a:r>
              <a:rPr lang="en-US" altLang="en-US" sz="1800" noProof="0" dirty="0"/>
              <a:t>L equation for every nonreference essential node.</a:t>
            </a:r>
          </a:p>
          <a:p>
            <a:pPr marL="772668" lvl="1" indent="-285750"/>
            <a:r>
              <a:rPr lang="en-US" altLang="en-US" sz="1800" noProof="0" dirty="0"/>
              <a:t>Step 4 – Solve the equations to find the node-voltage values.</a:t>
            </a:r>
            <a:endParaRPr lang="en-US" sz="2000" noProof="0" dirty="0"/>
          </a:p>
        </p:txBody>
      </p:sp>
      <p:pic>
        <p:nvPicPr>
          <p:cNvPr id="14" name="Picture 13"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v is the voltage marked at the node where the wire housing the 50-ohm resistor connects to the top wire. The node where the wire housing the 50-ohm resistor connects to the bottom wire is encircled and a downward pointing arrow is shown at the same node. ">
            <a:extLst>
              <a:ext uri="{FF2B5EF4-FFF2-40B4-BE49-F238E27FC236}">
                <a16:creationId xmlns:a16="http://schemas.microsoft.com/office/drawing/2014/main" id="{C2B211B9-F80C-6A7D-3CA7-BCE5827956D7}"/>
              </a:ext>
            </a:extLst>
          </p:cNvPr>
          <p:cNvPicPr>
            <a:picLocks noChangeAspect="1"/>
          </p:cNvPicPr>
          <p:nvPr/>
        </p:nvPicPr>
        <p:blipFill>
          <a:blip r:embed="rId3"/>
          <a:stretch>
            <a:fillRect/>
          </a:stretch>
        </p:blipFill>
        <p:spPr>
          <a:xfrm>
            <a:off x="2955001" y="2641550"/>
            <a:ext cx="3252851" cy="1517047"/>
          </a:xfrm>
          <a:prstGeom prst="rect">
            <a:avLst/>
          </a:prstGeom>
        </p:spPr>
      </p:pic>
      <p:graphicFrame>
        <p:nvGraphicFramePr>
          <p:cNvPr id="9" name="Object 8" descr="K C L at v: negative 2 plus v divided by 50 plus StartFraction v minus 45 over 1 plus 4 EndFraction equals 0.">
            <a:extLst>
              <a:ext uri="{FF2B5EF4-FFF2-40B4-BE49-F238E27FC236}">
                <a16:creationId xmlns:a16="http://schemas.microsoft.com/office/drawing/2014/main" id="{04C133A3-0E0D-8F2C-DB21-EAE23FE461DF}"/>
              </a:ext>
            </a:extLst>
          </p:cNvPr>
          <p:cNvGraphicFramePr>
            <a:graphicFrameLocks noChangeAspect="1"/>
          </p:cNvGraphicFramePr>
          <p:nvPr>
            <p:extLst>
              <p:ext uri="{D42A27DB-BD31-4B8C-83A1-F6EECF244321}">
                <p14:modId xmlns:p14="http://schemas.microsoft.com/office/powerpoint/2010/main" val="1921908520"/>
              </p:ext>
            </p:extLst>
          </p:nvPr>
        </p:nvGraphicFramePr>
        <p:xfrm>
          <a:off x="640481" y="4308885"/>
          <a:ext cx="3376612" cy="614363"/>
        </p:xfrm>
        <a:graphic>
          <a:graphicData uri="http://schemas.openxmlformats.org/presentationml/2006/ole">
            <mc:AlternateContent xmlns:mc="http://schemas.openxmlformats.org/markup-compatibility/2006">
              <mc:Choice xmlns:v="urn:schemas-microsoft-com:vml" Requires="v">
                <p:oleObj name="Equation" r:id="rId4" imgW="2273040" imgH="419040" progId="Equation.DSMT4">
                  <p:embed/>
                </p:oleObj>
              </mc:Choice>
              <mc:Fallback>
                <p:oleObj name="Equation" r:id="rId4" imgW="2273040" imgH="419040" progId="Equation.DSMT4">
                  <p:embed/>
                  <p:pic>
                    <p:nvPicPr>
                      <p:cNvPr id="9" name="Object 8">
                        <a:extLst>
                          <a:ext uri="{FF2B5EF4-FFF2-40B4-BE49-F238E27FC236}">
                            <a16:creationId xmlns:a16="http://schemas.microsoft.com/office/drawing/2014/main" id="{97C06478-CE74-7EA9-36EC-63FFE8175657}"/>
                          </a:ext>
                        </a:extLst>
                      </p:cNvPr>
                      <p:cNvPicPr>
                        <a:picLocks noChangeAspect="1" noChangeArrowheads="1"/>
                      </p:cNvPicPr>
                      <p:nvPr/>
                    </p:nvPicPr>
                    <p:blipFill>
                      <a:blip r:embed="rId5"/>
                      <a:srcRect/>
                      <a:stretch>
                        <a:fillRect/>
                      </a:stretch>
                    </p:blipFill>
                    <p:spPr bwMode="auto">
                      <a:xfrm>
                        <a:off x="640481" y="4308885"/>
                        <a:ext cx="3376612" cy="614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Standard form: v Open Parenthesis 1 divided by 50 plus 1 divided by 5 Close Parenthesis equals 2 plus StartFraction 45 over 5 EndFraction.&#10;">
            <a:extLst>
              <a:ext uri="{FF2B5EF4-FFF2-40B4-BE49-F238E27FC236}">
                <a16:creationId xmlns:a16="http://schemas.microsoft.com/office/drawing/2014/main" id="{4B21DFA0-9209-6CCD-72A4-6EE8E99943E4}"/>
              </a:ext>
            </a:extLst>
          </p:cNvPr>
          <p:cNvGraphicFramePr>
            <a:graphicFrameLocks noChangeAspect="1"/>
          </p:cNvGraphicFramePr>
          <p:nvPr>
            <p:extLst>
              <p:ext uri="{D42A27DB-BD31-4B8C-83A1-F6EECF244321}">
                <p14:modId xmlns:p14="http://schemas.microsoft.com/office/powerpoint/2010/main" val="3184712083"/>
              </p:ext>
            </p:extLst>
          </p:nvPr>
        </p:nvGraphicFramePr>
        <p:xfrm>
          <a:off x="640481" y="4989951"/>
          <a:ext cx="3752850" cy="633412"/>
        </p:xfrm>
        <a:graphic>
          <a:graphicData uri="http://schemas.openxmlformats.org/presentationml/2006/ole">
            <mc:AlternateContent xmlns:mc="http://schemas.openxmlformats.org/markup-compatibility/2006">
              <mc:Choice xmlns:v="urn:schemas-microsoft-com:vml" Requires="v">
                <p:oleObj name="Equation" r:id="rId6" imgW="2527200" imgH="431640" progId="Equation.DSMT4">
                  <p:embed/>
                </p:oleObj>
              </mc:Choice>
              <mc:Fallback>
                <p:oleObj name="Equation" r:id="rId6" imgW="2527200" imgH="431640" progId="Equation.DSMT4">
                  <p:embed/>
                  <p:pic>
                    <p:nvPicPr>
                      <p:cNvPr id="9" name="Object 8">
                        <a:extLst>
                          <a:ext uri="{FF2B5EF4-FFF2-40B4-BE49-F238E27FC236}">
                            <a16:creationId xmlns:a16="http://schemas.microsoft.com/office/drawing/2014/main" id="{04C133A3-0E0D-8F2C-DB21-EAE23FE461DF}"/>
                          </a:ext>
                        </a:extLst>
                      </p:cNvPr>
                      <p:cNvPicPr>
                        <a:picLocks noChangeAspect="1" noChangeArrowheads="1"/>
                      </p:cNvPicPr>
                      <p:nvPr/>
                    </p:nvPicPr>
                    <p:blipFill>
                      <a:blip r:embed="rId7"/>
                      <a:srcRect/>
                      <a:stretch>
                        <a:fillRect/>
                      </a:stretch>
                    </p:blipFill>
                    <p:spPr bwMode="auto">
                      <a:xfrm>
                        <a:off x="640481" y="4989951"/>
                        <a:ext cx="3752850" cy="633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The figure illustrates the process of solving an expression.&#10;Long description is available in notes, press F6.">
            <a:extLst>
              <a:ext uri="{FF2B5EF4-FFF2-40B4-BE49-F238E27FC236}">
                <a16:creationId xmlns:a16="http://schemas.microsoft.com/office/drawing/2014/main" id="{3116B924-10AE-1090-AA3E-447A85C33F0A}"/>
              </a:ext>
            </a:extLst>
          </p:cNvPr>
          <p:cNvGraphicFramePr>
            <a:graphicFrameLocks noChangeAspect="1"/>
          </p:cNvGraphicFramePr>
          <p:nvPr>
            <p:extLst>
              <p:ext uri="{D42A27DB-BD31-4B8C-83A1-F6EECF244321}">
                <p14:modId xmlns:p14="http://schemas.microsoft.com/office/powerpoint/2010/main" val="2897861598"/>
              </p:ext>
            </p:extLst>
          </p:nvPr>
        </p:nvGraphicFramePr>
        <p:xfrm>
          <a:off x="640481" y="5685314"/>
          <a:ext cx="6373813" cy="671513"/>
        </p:xfrm>
        <a:graphic>
          <a:graphicData uri="http://schemas.openxmlformats.org/presentationml/2006/ole">
            <mc:AlternateContent xmlns:mc="http://schemas.openxmlformats.org/markup-compatibility/2006">
              <mc:Choice xmlns:v="urn:schemas-microsoft-com:vml" Requires="v">
                <p:oleObj name="Equation" r:id="rId8" imgW="4292280" imgH="457200" progId="Equation.DSMT4">
                  <p:embed/>
                </p:oleObj>
              </mc:Choice>
              <mc:Fallback>
                <p:oleObj name="Equation" r:id="rId8" imgW="4292280" imgH="457200" progId="Equation.DSMT4">
                  <p:embed/>
                  <p:pic>
                    <p:nvPicPr>
                      <p:cNvPr id="10" name="Object 9">
                        <a:extLst>
                          <a:ext uri="{FF2B5EF4-FFF2-40B4-BE49-F238E27FC236}">
                            <a16:creationId xmlns:a16="http://schemas.microsoft.com/office/drawing/2014/main" id="{4B21DFA0-9209-6CCD-72A4-6EE8E99943E4}"/>
                          </a:ext>
                        </a:extLst>
                      </p:cNvPr>
                      <p:cNvPicPr>
                        <a:picLocks noChangeAspect="1" noChangeArrowheads="1"/>
                      </p:cNvPicPr>
                      <p:nvPr/>
                    </p:nvPicPr>
                    <p:blipFill>
                      <a:blip r:embed="rId9"/>
                      <a:srcRect/>
                      <a:stretch>
                        <a:fillRect/>
                      </a:stretch>
                    </p:blipFill>
                    <p:spPr bwMode="auto">
                      <a:xfrm>
                        <a:off x="640481" y="5685314"/>
                        <a:ext cx="6373813" cy="67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descr="v equals StartFraction 550 over 11 EndFraction equals 50 Volts.">
            <a:extLst>
              <a:ext uri="{FF2B5EF4-FFF2-40B4-BE49-F238E27FC236}">
                <a16:creationId xmlns:a16="http://schemas.microsoft.com/office/drawing/2014/main" id="{5819A9C0-2E65-83B4-3D94-63F40768372A}"/>
              </a:ext>
            </a:extLst>
          </p:cNvPr>
          <p:cNvGraphicFramePr>
            <a:graphicFrameLocks noChangeAspect="1"/>
          </p:cNvGraphicFramePr>
          <p:nvPr>
            <p:extLst>
              <p:ext uri="{D42A27DB-BD31-4B8C-83A1-F6EECF244321}">
                <p14:modId xmlns:p14="http://schemas.microsoft.com/office/powerpoint/2010/main" val="1296464007"/>
              </p:ext>
            </p:extLst>
          </p:nvPr>
        </p:nvGraphicFramePr>
        <p:xfrm>
          <a:off x="7052002" y="5732145"/>
          <a:ext cx="1622425" cy="577850"/>
        </p:xfrm>
        <a:graphic>
          <a:graphicData uri="http://schemas.openxmlformats.org/presentationml/2006/ole">
            <mc:AlternateContent xmlns:mc="http://schemas.openxmlformats.org/markup-compatibility/2006">
              <mc:Choice xmlns:v="urn:schemas-microsoft-com:vml" Requires="v">
                <p:oleObj name="Equation" r:id="rId10" imgW="1091880" imgH="393480" progId="Equation.DSMT4">
                  <p:embed/>
                </p:oleObj>
              </mc:Choice>
              <mc:Fallback>
                <p:oleObj name="Equation" r:id="rId10" imgW="1091880" imgH="393480" progId="Equation.DSMT4">
                  <p:embed/>
                  <p:pic>
                    <p:nvPicPr>
                      <p:cNvPr id="10" name="Object 9">
                        <a:extLst>
                          <a:ext uri="{FF2B5EF4-FFF2-40B4-BE49-F238E27FC236}">
                            <a16:creationId xmlns:a16="http://schemas.microsoft.com/office/drawing/2014/main" id="{4B21DFA0-9209-6CCD-72A4-6EE8E99943E4}"/>
                          </a:ext>
                        </a:extLst>
                      </p:cNvPr>
                      <p:cNvPicPr>
                        <a:picLocks noChangeAspect="1" noChangeArrowheads="1"/>
                      </p:cNvPicPr>
                      <p:nvPr/>
                    </p:nvPicPr>
                    <p:blipFill>
                      <a:blip r:embed="rId11"/>
                      <a:srcRect/>
                      <a:stretch>
                        <a:fillRect/>
                      </a:stretch>
                    </p:blipFill>
                    <p:spPr bwMode="auto">
                      <a:xfrm>
                        <a:off x="7052002" y="5732145"/>
                        <a:ext cx="1622425"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A4E92881-1663-7B58-F60D-DB5F9AC142E5}"/>
              </a:ext>
              <a:ext uri="{C183D7F6-B498-43B3-948B-1728B52AA6E4}">
                <adec:decorative xmlns:adec="http://schemas.microsoft.com/office/drawing/2017/decorative" val="1"/>
              </a:ext>
            </a:extLst>
          </p:cNvPr>
          <p:cNvSpPr/>
          <p:nvPr/>
        </p:nvSpPr>
        <p:spPr>
          <a:xfrm>
            <a:off x="572602" y="4308885"/>
            <a:ext cx="8114285" cy="2038515"/>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5026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12533-F180-A70A-6E3F-C7A68F94C055}"/>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(24 of 26)</a:t>
            </a:r>
            <a:endParaRPr lang="en-US" dirty="0"/>
          </a:p>
        </p:txBody>
      </p:sp>
      <p:sp>
        <p:nvSpPr>
          <p:cNvPr id="3" name="Content Placeholder 2">
            <a:extLst>
              <a:ext uri="{FF2B5EF4-FFF2-40B4-BE49-F238E27FC236}">
                <a16:creationId xmlns:a16="http://schemas.microsoft.com/office/drawing/2014/main" id="{2AFE656C-AB9F-E0D7-4BE1-395E53B6741E}"/>
              </a:ext>
            </a:extLst>
          </p:cNvPr>
          <p:cNvSpPr>
            <a:spLocks noGrp="1"/>
          </p:cNvSpPr>
          <p:nvPr>
            <p:ph sz="quarter" idx="12"/>
          </p:nvPr>
        </p:nvSpPr>
        <p:spPr>
          <a:xfrm>
            <a:off x="433586" y="1518792"/>
            <a:ext cx="8237339" cy="790404"/>
          </a:xfrm>
        </p:spPr>
        <p:txBody>
          <a:bodyPr wrap="square" lIns="0" tIns="18000" rIns="0" bIns="18000" anchor="ctr" anchorCtr="0">
            <a:spAutoFit/>
          </a:bodyPr>
          <a:lstStyle/>
          <a:p>
            <a:pPr marL="342900" indent="-342900">
              <a:spcBef>
                <a:spcPts val="600"/>
              </a:spcBef>
            </a:pPr>
            <a:r>
              <a:rPr lang="en-US" altLang="en-US" sz="2200" noProof="0" dirty="0"/>
              <a:t>Node voltage method:</a:t>
            </a:r>
          </a:p>
          <a:p>
            <a:pPr marL="829818" lvl="1" indent="-342900"/>
            <a:r>
              <a:rPr lang="en-US" altLang="en-US" sz="2200" noProof="0" dirty="0"/>
              <a:t>Step 5 – Solve the circuit using node voltages from Step 4.</a:t>
            </a:r>
          </a:p>
        </p:txBody>
      </p:sp>
      <p:pic>
        <p:nvPicPr>
          <p:cNvPr id="21" name="Picture 20"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50 volts is the voltage marked at the node where the wire housing the 50-ohm resistor connects to the top wire. The node where the wire housing the 50-ohm resistor connects to the bottom wire is encircled and a downward pointing arrow is shown at the same node. ">
            <a:extLst>
              <a:ext uri="{FF2B5EF4-FFF2-40B4-BE49-F238E27FC236}">
                <a16:creationId xmlns:a16="http://schemas.microsoft.com/office/drawing/2014/main" id="{1434F06B-869C-987F-3662-D2270D10C022}"/>
              </a:ext>
            </a:extLst>
          </p:cNvPr>
          <p:cNvPicPr>
            <a:picLocks noChangeAspect="1"/>
          </p:cNvPicPr>
          <p:nvPr/>
        </p:nvPicPr>
        <p:blipFill>
          <a:blip r:embed="rId2"/>
          <a:stretch>
            <a:fillRect/>
          </a:stretch>
        </p:blipFill>
        <p:spPr>
          <a:xfrm>
            <a:off x="2501690" y="2513623"/>
            <a:ext cx="4140620" cy="1925025"/>
          </a:xfrm>
          <a:prstGeom prst="rect">
            <a:avLst/>
          </a:prstGeom>
        </p:spPr>
      </p:pic>
      <p:sp>
        <p:nvSpPr>
          <p:cNvPr id="4" name="Content Placeholder 3">
            <a:extLst>
              <a:ext uri="{FF2B5EF4-FFF2-40B4-BE49-F238E27FC236}">
                <a16:creationId xmlns:a16="http://schemas.microsoft.com/office/drawing/2014/main" id="{A989DEA8-1156-3502-C38A-53EF628922B2}"/>
              </a:ext>
            </a:extLst>
          </p:cNvPr>
          <p:cNvSpPr>
            <a:spLocks noGrp="1"/>
          </p:cNvSpPr>
          <p:nvPr>
            <p:ph sz="quarter" idx="13"/>
          </p:nvPr>
        </p:nvSpPr>
        <p:spPr>
          <a:xfrm>
            <a:off x="957033" y="4715134"/>
            <a:ext cx="3613259" cy="374906"/>
          </a:xfrm>
        </p:spPr>
        <p:txBody>
          <a:bodyPr lIns="0" tIns="18000" rIns="0" bIns="18000" anchor="ctr" anchorCtr="0">
            <a:spAutoFit/>
          </a:bodyPr>
          <a:lstStyle/>
          <a:p>
            <a:pPr marL="0" indent="0">
              <a:buNone/>
            </a:pPr>
            <a:r>
              <a:rPr lang="en-US" sz="2200" dirty="0"/>
              <a:t>Power for the current source:</a:t>
            </a:r>
          </a:p>
        </p:txBody>
      </p:sp>
      <p:graphicFrame>
        <p:nvGraphicFramePr>
          <p:cNvPr id="22" name="Object 21" descr="p subscript 2 A BaseLine equals negative Open Parenthesis 50 Close Parenthesis multiplied by Open Parenthesis 2 Close Parenthesis equals negative 100 Watts.">
            <a:extLst>
              <a:ext uri="{FF2B5EF4-FFF2-40B4-BE49-F238E27FC236}">
                <a16:creationId xmlns:a16="http://schemas.microsoft.com/office/drawing/2014/main" id="{90F281CD-2F65-67D6-A812-0E6FCB16ABF5}"/>
              </a:ext>
            </a:extLst>
          </p:cNvPr>
          <p:cNvGraphicFramePr>
            <a:graphicFrameLocks noChangeAspect="1"/>
          </p:cNvGraphicFramePr>
          <p:nvPr>
            <p:extLst>
              <p:ext uri="{D42A27DB-BD31-4B8C-83A1-F6EECF244321}">
                <p14:modId xmlns:p14="http://schemas.microsoft.com/office/powerpoint/2010/main" val="3727055735"/>
              </p:ext>
            </p:extLst>
          </p:nvPr>
        </p:nvGraphicFramePr>
        <p:xfrm>
          <a:off x="4633929" y="4742102"/>
          <a:ext cx="3090777" cy="399696"/>
        </p:xfrm>
        <a:graphic>
          <a:graphicData uri="http://schemas.openxmlformats.org/presentationml/2006/ole">
            <mc:AlternateContent xmlns:mc="http://schemas.openxmlformats.org/markup-compatibility/2006">
              <mc:Choice xmlns:v="urn:schemas-microsoft-com:vml" Requires="v">
                <p:oleObj name="Equation" r:id="rId3" imgW="1739880" imgH="228600" progId="Equation.DSMT4">
                  <p:embed/>
                </p:oleObj>
              </mc:Choice>
              <mc:Fallback>
                <p:oleObj name="Equation" r:id="rId3" imgW="1739880" imgH="228600" progId="Equation.DSMT4">
                  <p:embed/>
                  <p:pic>
                    <p:nvPicPr>
                      <p:cNvPr id="11" name="Object 10">
                        <a:extLst>
                          <a:ext uri="{FF2B5EF4-FFF2-40B4-BE49-F238E27FC236}">
                            <a16:creationId xmlns:a16="http://schemas.microsoft.com/office/drawing/2014/main" id="{0DCE4A67-A5DA-F6A7-DD2B-A5B686C6638C}"/>
                          </a:ext>
                        </a:extLst>
                      </p:cNvPr>
                      <p:cNvPicPr>
                        <a:picLocks noChangeAspect="1" noChangeArrowheads="1"/>
                      </p:cNvPicPr>
                      <p:nvPr/>
                    </p:nvPicPr>
                    <p:blipFill>
                      <a:blip r:embed="rId4"/>
                      <a:srcRect/>
                      <a:stretch>
                        <a:fillRect/>
                      </a:stretch>
                    </p:blipFill>
                    <p:spPr bwMode="auto">
                      <a:xfrm>
                        <a:off x="4633929" y="4742102"/>
                        <a:ext cx="3090777" cy="3996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a:extLst>
              <a:ext uri="{FF2B5EF4-FFF2-40B4-BE49-F238E27FC236}">
                <a16:creationId xmlns:a16="http://schemas.microsoft.com/office/drawing/2014/main" id="{917D9DB4-9623-1D59-8E41-B9FD8EF8531F}"/>
              </a:ext>
              <a:ext uri="{C183D7F6-B498-43B3-948B-1728B52AA6E4}">
                <adec:decorative xmlns:adec="http://schemas.microsoft.com/office/drawing/2017/decorative" val="1"/>
              </a:ext>
            </a:extLst>
          </p:cNvPr>
          <p:cNvSpPr/>
          <p:nvPr/>
        </p:nvSpPr>
        <p:spPr>
          <a:xfrm>
            <a:off x="909339" y="4697146"/>
            <a:ext cx="6835350" cy="441512"/>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5347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5459-7B69-96EF-DE14-A89EB8093E8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(25 of 26)</a:t>
            </a:r>
            <a:endParaRPr lang="en-US" noProof="0" dirty="0"/>
          </a:p>
        </p:txBody>
      </p:sp>
      <p:sp>
        <p:nvSpPr>
          <p:cNvPr id="3" name="Content Placeholder 2">
            <a:extLst>
              <a:ext uri="{FF2B5EF4-FFF2-40B4-BE49-F238E27FC236}">
                <a16:creationId xmlns:a16="http://schemas.microsoft.com/office/drawing/2014/main" id="{DA1FF4E4-AABD-4A00-6B76-52D61FC227BD}"/>
              </a:ext>
            </a:extLst>
          </p:cNvPr>
          <p:cNvSpPr>
            <a:spLocks noGrp="1"/>
          </p:cNvSpPr>
          <p:nvPr>
            <p:ph sz="quarter" idx="12"/>
          </p:nvPr>
        </p:nvSpPr>
        <p:spPr>
          <a:xfrm>
            <a:off x="432683" y="1522615"/>
            <a:ext cx="8238242" cy="405683"/>
          </a:xfrm>
        </p:spPr>
        <p:txBody>
          <a:bodyPr wrap="square" lIns="0" tIns="18000" rIns="0" bIns="18000" anchor="ctr" anchorCtr="0">
            <a:spAutoFit/>
          </a:bodyPr>
          <a:lstStyle/>
          <a:p>
            <a:pPr marL="0" indent="0">
              <a:buNone/>
            </a:pPr>
            <a:r>
              <a:rPr lang="en-US" sz="2400" noProof="0" dirty="0"/>
              <a:t>The current source is absorbing power.</a:t>
            </a:r>
            <a:endParaRPr lang="en-US" altLang="en-US" sz="2400" noProof="0" dirty="0">
              <a:latin typeface="Arial" panose="020B0604020202020204" pitchFamily="34" charset="0"/>
            </a:endParaRPr>
          </a:p>
        </p:txBody>
      </p:sp>
      <p:pic>
        <p:nvPicPr>
          <p:cNvPr id="39" name="Picture 38"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a:extLst>
              <a:ext uri="{FF2B5EF4-FFF2-40B4-BE49-F238E27FC236}">
                <a16:creationId xmlns:a16="http://schemas.microsoft.com/office/drawing/2014/main" id="{049CC2E2-3618-E9DE-39BC-B9619B1D84CB}"/>
              </a:ext>
            </a:extLst>
          </p:cNvPr>
          <p:cNvPicPr>
            <a:picLocks noChangeAspect="1"/>
          </p:cNvPicPr>
          <p:nvPr/>
        </p:nvPicPr>
        <p:blipFill>
          <a:blip r:embed="rId2"/>
          <a:stretch>
            <a:fillRect/>
          </a:stretch>
        </p:blipFill>
        <p:spPr>
          <a:xfrm>
            <a:off x="2257137" y="2177880"/>
            <a:ext cx="4629726" cy="1917777"/>
          </a:xfrm>
          <a:prstGeom prst="rect">
            <a:avLst/>
          </a:prstGeom>
        </p:spPr>
      </p:pic>
      <p:pic>
        <p:nvPicPr>
          <p:cNvPr id="36" name="Picture 35" descr="Cross mark">
            <a:extLst>
              <a:ext uri="{FF2B5EF4-FFF2-40B4-BE49-F238E27FC236}">
                <a16:creationId xmlns:a16="http://schemas.microsoft.com/office/drawing/2014/main" id="{D6F699C0-CDCA-D2D6-018D-504C84E58E32}"/>
              </a:ext>
            </a:extLst>
          </p:cNvPr>
          <p:cNvPicPr>
            <a:picLocks noChangeAspect="1"/>
          </p:cNvPicPr>
          <p:nvPr/>
        </p:nvPicPr>
        <p:blipFill>
          <a:blip r:embed="rId3"/>
          <a:stretch>
            <a:fillRect/>
          </a:stretch>
        </p:blipFill>
        <p:spPr>
          <a:xfrm>
            <a:off x="1017308" y="4374781"/>
            <a:ext cx="284384" cy="284384"/>
          </a:xfrm>
          <a:prstGeom prst="rect">
            <a:avLst/>
          </a:prstGeom>
        </p:spPr>
      </p:pic>
      <p:sp>
        <p:nvSpPr>
          <p:cNvPr id="4" name="Content Placeholder 3">
            <a:extLst>
              <a:ext uri="{FF2B5EF4-FFF2-40B4-BE49-F238E27FC236}">
                <a16:creationId xmlns:a16="http://schemas.microsoft.com/office/drawing/2014/main" id="{C705B5C7-D4B4-55E2-36AA-A900992A5EC1}"/>
              </a:ext>
            </a:extLst>
          </p:cNvPr>
          <p:cNvSpPr>
            <a:spLocks noGrp="1"/>
          </p:cNvSpPr>
          <p:nvPr>
            <p:ph sz="quarter" idx="13"/>
          </p:nvPr>
        </p:nvSpPr>
        <p:spPr>
          <a:xfrm>
            <a:off x="1520039" y="4312950"/>
            <a:ext cx="1000019" cy="405683"/>
          </a:xfrm>
        </p:spPr>
        <p:txBody>
          <a:bodyPr lIns="0" tIns="18000" rIns="0" bIns="18000" anchor="ctr" anchorCtr="0">
            <a:spAutoFit/>
          </a:bodyPr>
          <a:lstStyle/>
          <a:p>
            <a:pPr marL="0" indent="0">
              <a:buNone/>
            </a:pPr>
            <a:r>
              <a:rPr lang="en-US" altLang="en-US" sz="2400" noProof="0" dirty="0">
                <a:solidFill>
                  <a:schemeClr val="tx2"/>
                </a:solidFill>
              </a:rPr>
              <a:t>A.</a:t>
            </a:r>
            <a:r>
              <a:rPr lang="en-US" altLang="en-US" sz="2400" noProof="0" dirty="0"/>
              <a:t> True</a:t>
            </a:r>
            <a:endParaRPr lang="en-US" sz="2400" noProof="0" dirty="0"/>
          </a:p>
        </p:txBody>
      </p:sp>
      <p:pic>
        <p:nvPicPr>
          <p:cNvPr id="37" name="Picture 36" descr="Check mark">
            <a:extLst>
              <a:ext uri="{FF2B5EF4-FFF2-40B4-BE49-F238E27FC236}">
                <a16:creationId xmlns:a16="http://schemas.microsoft.com/office/drawing/2014/main" id="{0A03D6F8-F5A0-113C-B683-5A43A3307A0C}"/>
              </a:ext>
            </a:extLst>
          </p:cNvPr>
          <p:cNvPicPr>
            <a:picLocks noChangeAspect="1"/>
          </p:cNvPicPr>
          <p:nvPr/>
        </p:nvPicPr>
        <p:blipFill>
          <a:blip r:embed="rId4"/>
          <a:stretch>
            <a:fillRect/>
          </a:stretch>
        </p:blipFill>
        <p:spPr>
          <a:xfrm>
            <a:off x="988870" y="4958266"/>
            <a:ext cx="312822" cy="312822"/>
          </a:xfrm>
          <a:prstGeom prst="rect">
            <a:avLst/>
          </a:prstGeom>
        </p:spPr>
      </p:pic>
      <p:sp>
        <p:nvSpPr>
          <p:cNvPr id="5" name="Content Placeholder 4">
            <a:extLst>
              <a:ext uri="{FF2B5EF4-FFF2-40B4-BE49-F238E27FC236}">
                <a16:creationId xmlns:a16="http://schemas.microsoft.com/office/drawing/2014/main" id="{0D1E3E21-D8F4-4428-D884-DEE9B6D45383}"/>
              </a:ext>
            </a:extLst>
          </p:cNvPr>
          <p:cNvSpPr>
            <a:spLocks noGrp="1"/>
          </p:cNvSpPr>
          <p:nvPr>
            <p:ph sz="quarter" idx="14"/>
          </p:nvPr>
        </p:nvSpPr>
        <p:spPr>
          <a:xfrm>
            <a:off x="1520039" y="4886351"/>
            <a:ext cx="1125370" cy="405683"/>
          </a:xfrm>
        </p:spPr>
        <p:txBody>
          <a:bodyPr wrap="square" lIns="0" tIns="18000" rIns="0" bIns="18000" anchor="ctr" anchorCtr="0">
            <a:spAutoFit/>
          </a:bodyPr>
          <a:lstStyle/>
          <a:p>
            <a:pPr marL="0" indent="0">
              <a:buNone/>
            </a:pPr>
            <a:r>
              <a:rPr lang="en-US" altLang="en-US" sz="2400" noProof="0" dirty="0">
                <a:solidFill>
                  <a:schemeClr val="tx2"/>
                </a:solidFill>
                <a:sym typeface="Symbol" pitchFamily="18" charset="2"/>
              </a:rPr>
              <a:t>B.</a:t>
            </a:r>
            <a:r>
              <a:rPr lang="en-US" altLang="en-US" sz="2400" noProof="0" dirty="0">
                <a:sym typeface="Symbol" pitchFamily="18" charset="2"/>
              </a:rPr>
              <a:t> False</a:t>
            </a:r>
            <a:endParaRPr lang="en-US" sz="2400" noProof="0" dirty="0"/>
          </a:p>
        </p:txBody>
      </p:sp>
    </p:spTree>
    <p:extLst>
      <p:ext uri="{BB962C8B-B14F-4D97-AF65-F5344CB8AC3E}">
        <p14:creationId xmlns:p14="http://schemas.microsoft.com/office/powerpoint/2010/main" val="1138348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5459-7B69-96EF-DE14-A89EB8093E8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(26 of 26)</a:t>
            </a:r>
            <a:endParaRPr lang="en-US" noProof="0" dirty="0"/>
          </a:p>
        </p:txBody>
      </p:sp>
      <p:sp>
        <p:nvSpPr>
          <p:cNvPr id="3" name="Content Placeholder 2">
            <a:extLst>
              <a:ext uri="{FF2B5EF4-FFF2-40B4-BE49-F238E27FC236}">
                <a16:creationId xmlns:a16="http://schemas.microsoft.com/office/drawing/2014/main" id="{DA1FF4E4-AABD-4A00-6B76-52D61FC227BD}"/>
              </a:ext>
            </a:extLst>
          </p:cNvPr>
          <p:cNvSpPr>
            <a:spLocks noGrp="1"/>
          </p:cNvSpPr>
          <p:nvPr>
            <p:ph sz="quarter" idx="12"/>
          </p:nvPr>
        </p:nvSpPr>
        <p:spPr>
          <a:xfrm>
            <a:off x="423863" y="1522615"/>
            <a:ext cx="2109122" cy="405683"/>
          </a:xfrm>
        </p:spPr>
        <p:txBody>
          <a:bodyPr wrap="square" lIns="0" tIns="18000" rIns="0" bIns="18000" anchor="ctr" anchorCtr="0">
            <a:spAutoFit/>
          </a:bodyPr>
          <a:lstStyle/>
          <a:p>
            <a:pPr marL="0" indent="0">
              <a:buNone/>
            </a:pPr>
            <a:r>
              <a:rPr lang="en-US" sz="2400" noProof="0" dirty="0"/>
              <a:t>Power balance:</a:t>
            </a:r>
            <a:endParaRPr lang="en-US" altLang="en-US" sz="2400" noProof="0" dirty="0">
              <a:latin typeface="Arial" panose="020B0604020202020204" pitchFamily="34" charset="0"/>
            </a:endParaRPr>
          </a:p>
        </p:txBody>
      </p:sp>
      <p:pic>
        <p:nvPicPr>
          <p:cNvPr id="11" name="Picture 10"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50 volts is the voltage marked at the node where the wire housing the 50-ohm resistor connects to the top wire. The node where the wire housing the 50-ohm resistor connects to the bottom wire is encircled and a downward pointing arrow is shown at the same node. ">
            <a:extLst>
              <a:ext uri="{FF2B5EF4-FFF2-40B4-BE49-F238E27FC236}">
                <a16:creationId xmlns:a16="http://schemas.microsoft.com/office/drawing/2014/main" id="{45CB3112-543A-7816-0CCD-D6B2CEA71757}"/>
              </a:ext>
            </a:extLst>
          </p:cNvPr>
          <p:cNvPicPr>
            <a:picLocks noChangeAspect="1"/>
          </p:cNvPicPr>
          <p:nvPr/>
        </p:nvPicPr>
        <p:blipFill>
          <a:blip r:embed="rId3"/>
          <a:stretch>
            <a:fillRect/>
          </a:stretch>
        </p:blipFill>
        <p:spPr>
          <a:xfrm>
            <a:off x="4905201" y="2040936"/>
            <a:ext cx="3764200" cy="1750022"/>
          </a:xfrm>
          <a:prstGeom prst="rect">
            <a:avLst/>
          </a:prstGeom>
        </p:spPr>
      </p:pic>
      <p:graphicFrame>
        <p:nvGraphicFramePr>
          <p:cNvPr id="12" name="Table 12">
            <a:extLst>
              <a:ext uri="{FF2B5EF4-FFF2-40B4-BE49-F238E27FC236}">
                <a16:creationId xmlns:a16="http://schemas.microsoft.com/office/drawing/2014/main" id="{061B6A50-44F4-2B58-D868-8FCD59D21B46}"/>
              </a:ext>
            </a:extLst>
          </p:cNvPr>
          <p:cNvGraphicFramePr>
            <a:graphicFrameLocks noGrp="1"/>
          </p:cNvGraphicFramePr>
          <p:nvPr>
            <p:extLst>
              <p:ext uri="{D42A27DB-BD31-4B8C-83A1-F6EECF244321}">
                <p14:modId xmlns:p14="http://schemas.microsoft.com/office/powerpoint/2010/main" val="3856323169"/>
              </p:ext>
            </p:extLst>
          </p:nvPr>
        </p:nvGraphicFramePr>
        <p:xfrm>
          <a:off x="1219200" y="3961090"/>
          <a:ext cx="6705600" cy="2225040"/>
        </p:xfrm>
        <a:graphic>
          <a:graphicData uri="http://schemas.openxmlformats.org/drawingml/2006/table">
            <a:tbl>
              <a:tblPr firstRow="1" bandRow="1">
                <a:tableStyleId>{40F9630F-82C1-40B7-BC3A-925EFCFF5E92}</a:tableStyleId>
              </a:tblPr>
              <a:tblGrid>
                <a:gridCol w="2235200">
                  <a:extLst>
                    <a:ext uri="{9D8B030D-6E8A-4147-A177-3AD203B41FA5}">
                      <a16:colId xmlns:a16="http://schemas.microsoft.com/office/drawing/2014/main" val="596139960"/>
                    </a:ext>
                  </a:extLst>
                </a:gridCol>
                <a:gridCol w="2235200">
                  <a:extLst>
                    <a:ext uri="{9D8B030D-6E8A-4147-A177-3AD203B41FA5}">
                      <a16:colId xmlns:a16="http://schemas.microsoft.com/office/drawing/2014/main" val="2126450370"/>
                    </a:ext>
                  </a:extLst>
                </a:gridCol>
                <a:gridCol w="2235200">
                  <a:extLst>
                    <a:ext uri="{9D8B030D-6E8A-4147-A177-3AD203B41FA5}">
                      <a16:colId xmlns:a16="http://schemas.microsoft.com/office/drawing/2014/main" val="3252254885"/>
                    </a:ext>
                  </a:extLst>
                </a:gridCol>
              </a:tblGrid>
              <a:tr h="370840">
                <a:tc>
                  <a:txBody>
                    <a:bodyPr/>
                    <a:lstStyle/>
                    <a:p>
                      <a:pPr algn="ctr"/>
                      <a:r>
                        <a:rPr lang="en-US" sz="1600" noProof="0" dirty="0">
                          <a:solidFill>
                            <a:schemeClr val="bg1"/>
                          </a:solidFill>
                          <a:latin typeface="Arial" panose="020B0604020202020204" pitchFamily="34" charset="0"/>
                          <a:cs typeface="Arial" panose="020B0604020202020204" pitchFamily="34" charset="0"/>
                        </a:rPr>
                        <a:t>Component</a:t>
                      </a:r>
                      <a:endParaRPr lang="en-US" sz="1600" noProof="0" dirty="0">
                        <a:latin typeface="Arial" panose="020B0604020202020204" pitchFamily="34" charset="0"/>
                        <a:cs typeface="Arial" panose="020B0604020202020204" pitchFamily="34" charset="0"/>
                      </a:endParaRP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600" noProof="0" dirty="0">
                          <a:solidFill>
                            <a:schemeClr val="bg1"/>
                          </a:solidFill>
                          <a:latin typeface="Arial" panose="020B0604020202020204" pitchFamily="34" charset="0"/>
                          <a:cs typeface="Arial" panose="020B0604020202020204" pitchFamily="34" charset="0"/>
                        </a:rPr>
                        <a:t>Equation</a:t>
                      </a:r>
                      <a:endParaRPr lang="en-US" sz="1600" noProof="0" dirty="0">
                        <a:latin typeface="Arial" panose="020B0604020202020204" pitchFamily="34" charset="0"/>
                        <a:cs typeface="Arial" panose="020B0604020202020204" pitchFamily="34" charset="0"/>
                      </a:endParaRP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600" noProof="0">
                          <a:solidFill>
                            <a:schemeClr val="bg1"/>
                          </a:solidFill>
                          <a:latin typeface="Arial" panose="020B0604020202020204" pitchFamily="34" charset="0"/>
                          <a:cs typeface="Arial" panose="020B0604020202020204" pitchFamily="34" charset="0"/>
                        </a:rPr>
                        <a:t>p [W]</a:t>
                      </a:r>
                      <a:endParaRPr lang="en-US" sz="1600" noProof="0">
                        <a:latin typeface="Arial" panose="020B0604020202020204" pitchFamily="34" charset="0"/>
                        <a:cs typeface="Arial" panose="020B0604020202020204" pitchFamily="34" charset="0"/>
                      </a:endParaRP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11122220"/>
                  </a:ext>
                </a:extLst>
              </a:tr>
              <a:tr h="370840">
                <a:tc>
                  <a:txBody>
                    <a:bodyPr/>
                    <a:lstStyle/>
                    <a:p>
                      <a:pPr algn="ctr"/>
                      <a:r>
                        <a:rPr lang="en-US" sz="1600" noProof="0">
                          <a:latin typeface="Arial" panose="020B0604020202020204" pitchFamily="34" charset="0"/>
                          <a:cs typeface="Arial" panose="020B0604020202020204" pitchFamily="34" charset="0"/>
                        </a:rPr>
                        <a:t>2</a:t>
                      </a:r>
                      <a:r>
                        <a:rPr lang="en-US" sz="1600" baseline="0" noProof="0">
                          <a:latin typeface="Arial" panose="020B0604020202020204" pitchFamily="34" charset="0"/>
                          <a:cs typeface="Arial" panose="020B0604020202020204" pitchFamily="34" charset="0"/>
                        </a:rPr>
                        <a:t> A</a:t>
                      </a:r>
                      <a:endParaRPr lang="en-US" sz="1600" noProof="0">
                        <a:latin typeface="Arial" panose="020B0604020202020204" pitchFamily="34" charset="0"/>
                        <a:cs typeface="Arial" panose="020B0604020202020204" pitchFamily="34" charset="0"/>
                      </a:endParaRP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600" b="0" i="0" u="none" strike="noStrike" cap="none" noProof="0" dirty="0">
                          <a:solidFill>
                            <a:schemeClr val="dk1"/>
                          </a:solidFill>
                          <a:effectLst/>
                          <a:latin typeface="Arial" panose="020B0604020202020204" pitchFamily="34" charset="0"/>
                          <a:ea typeface="Arial"/>
                          <a:cs typeface="Arial" panose="020B0604020202020204" pitchFamily="34" charset="0"/>
                          <a:sym typeface="Arial"/>
                        </a:rPr>
                        <a:t>−</a:t>
                      </a:r>
                      <a:r>
                        <a:rPr lang="en-US" sz="1600" noProof="0" dirty="0">
                          <a:latin typeface="Arial" panose="020B0604020202020204" pitchFamily="34" charset="0"/>
                          <a:cs typeface="Arial" panose="020B0604020202020204" pitchFamily="34" charset="0"/>
                          <a:sym typeface="Symbol"/>
                        </a:rPr>
                        <a:t>(2)(50)</a:t>
                      </a:r>
                      <a:endParaRPr lang="en-US" sz="1600" noProof="0" dirty="0">
                        <a:latin typeface="Arial" panose="020B0604020202020204" pitchFamily="34" charset="0"/>
                        <a:cs typeface="Arial" panose="020B0604020202020204" pitchFamily="34" charset="0"/>
                      </a:endParaRP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600" b="0" i="0" u="none" strike="noStrike" cap="none" noProof="0" dirty="0">
                          <a:solidFill>
                            <a:schemeClr val="dk1"/>
                          </a:solidFill>
                          <a:effectLst/>
                          <a:latin typeface="Arial" panose="020B0604020202020204" pitchFamily="34" charset="0"/>
                          <a:ea typeface="Arial"/>
                          <a:cs typeface="Arial" panose="020B0604020202020204" pitchFamily="34" charset="0"/>
                          <a:sym typeface="Arial"/>
                        </a:rPr>
                        <a:t>−100</a:t>
                      </a:r>
                      <a:endParaRPr lang="en-US" sz="1600" noProof="0" dirty="0">
                        <a:latin typeface="Arial" panose="020B0604020202020204" pitchFamily="34" charset="0"/>
                        <a:cs typeface="Arial" panose="020B0604020202020204" pitchFamily="34" charset="0"/>
                      </a:endParaRP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extLst>
                  <a:ext uri="{0D108BD9-81ED-4DB2-BD59-A6C34878D82A}">
                    <a16:rowId xmlns:a16="http://schemas.microsoft.com/office/drawing/2014/main" val="2879641691"/>
                  </a:ext>
                </a:extLst>
              </a:tr>
              <a:tr h="370840">
                <a:tc>
                  <a:txBody>
                    <a:bodyPr/>
                    <a:lstStyle/>
                    <a:p>
                      <a:pPr algn="ctr"/>
                      <a:r>
                        <a:rPr lang="en-US" sz="1600" noProof="0" dirty="0">
                          <a:latin typeface="Arial" panose="020B0604020202020204" pitchFamily="34" charset="0"/>
                          <a:cs typeface="Arial" panose="020B0604020202020204" pitchFamily="34" charset="0"/>
                        </a:rPr>
                        <a:t>45 V</a:t>
                      </a: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45 Close Parenthesis Open Square Bracket Open Parenthesis 50 minus 45 Close Parenthesis divided by 5 Close Square Bracket.</a:t>
                      </a:r>
                    </a:p>
                    <a:p>
                      <a:pPr algn="ctr"/>
                      <a:endParaRPr lang="en-US" sz="1600" noProof="0" dirty="0">
                        <a:latin typeface="Arial" panose="020B0604020202020204" pitchFamily="34" charset="0"/>
                        <a:cs typeface="Arial" panose="020B0604020202020204" pitchFamily="34" charset="0"/>
                      </a:endParaRP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600" noProof="0">
                          <a:latin typeface="Arial" panose="020B0604020202020204" pitchFamily="34" charset="0"/>
                          <a:cs typeface="Arial" panose="020B0604020202020204" pitchFamily="34" charset="0"/>
                        </a:rPr>
                        <a:t>45</a:t>
                      </a: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extLst>
                  <a:ext uri="{0D108BD9-81ED-4DB2-BD59-A6C34878D82A}">
                    <a16:rowId xmlns:a16="http://schemas.microsoft.com/office/drawing/2014/main" val="2768260503"/>
                  </a:ext>
                </a:extLst>
              </a:tr>
              <a:tr h="370840">
                <a:tc>
                  <a:txBody>
                    <a:bodyPr/>
                    <a:lstStyle/>
                    <a:p>
                      <a:pPr algn="ctr" fontAlgn="b"/>
                      <a:r>
                        <a:rPr lang="en-US" sz="100" b="0" i="0" u="none" strike="noStrike" noProof="0" dirty="0">
                          <a:solidFill>
                            <a:srgbClr val="000000"/>
                          </a:solidFill>
                          <a:effectLst/>
                          <a:latin typeface="Arial" panose="020B0604020202020204" pitchFamily="34" charset="0"/>
                          <a:cs typeface="Arial" panose="020B0604020202020204" pitchFamily="34" charset="0"/>
                        </a:rPr>
                        <a:t>1 Ohm.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marL="0" indent="803275" algn="l"/>
                      <a:r>
                        <a:rPr lang="en-US" sz="100" noProof="0" dirty="0">
                          <a:latin typeface="Arial" panose="020B0604020202020204" pitchFamily="34" charset="0"/>
                          <a:cs typeface="Arial" panose="020B0604020202020204" pitchFamily="34" charset="0"/>
                        </a:rPr>
                        <a:t>Open Parenthesis 1 Close Parenthesis squared multiplied by Open Parenthesis 1 Close Parenthesis.</a:t>
                      </a: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600" noProof="0" dirty="0">
                          <a:latin typeface="Arial" panose="020B0604020202020204" pitchFamily="34" charset="0"/>
                          <a:cs typeface="Arial" panose="020B0604020202020204" pitchFamily="34" charset="0"/>
                        </a:rPr>
                        <a:t>1</a:t>
                      </a: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extLst>
                  <a:ext uri="{0D108BD9-81ED-4DB2-BD59-A6C34878D82A}">
                    <a16:rowId xmlns:a16="http://schemas.microsoft.com/office/drawing/2014/main" val="2852379274"/>
                  </a:ext>
                </a:extLst>
              </a:tr>
              <a:tr h="370840">
                <a:tc>
                  <a:txBody>
                    <a:bodyPr/>
                    <a:lstStyle/>
                    <a:p>
                      <a:pPr algn="ctr" fontAlgn="b"/>
                      <a:r>
                        <a:rPr lang="en-US" sz="100" b="0" i="0" u="none" strike="noStrike" noProof="0" dirty="0">
                          <a:solidFill>
                            <a:srgbClr val="000000"/>
                          </a:solidFill>
                          <a:effectLst/>
                          <a:latin typeface="Arial" panose="020B0604020202020204" pitchFamily="34" charset="0"/>
                          <a:cs typeface="Arial" panose="020B0604020202020204" pitchFamily="34" charset="0"/>
                        </a:rPr>
                        <a:t>4 Ohms.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1 Close Parenthesis squared multiplied by Open Parenthesis 4 Close Parenthesis.</a:t>
                      </a: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600" noProof="0" dirty="0">
                          <a:latin typeface="Arial" panose="020B0604020202020204" pitchFamily="34" charset="0"/>
                          <a:cs typeface="Arial" panose="020B0604020202020204" pitchFamily="34" charset="0"/>
                        </a:rPr>
                        <a:t>4</a:t>
                      </a: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extLst>
                  <a:ext uri="{0D108BD9-81ED-4DB2-BD59-A6C34878D82A}">
                    <a16:rowId xmlns:a16="http://schemas.microsoft.com/office/drawing/2014/main" val="1862314222"/>
                  </a:ext>
                </a:extLst>
              </a:tr>
              <a:tr h="370840">
                <a:tc>
                  <a:txBody>
                    <a:bodyPr/>
                    <a:lstStyle/>
                    <a:p>
                      <a:pPr algn="ctr" fontAlgn="b"/>
                      <a:r>
                        <a:rPr lang="en-US" sz="100" b="0" i="0" u="none" strike="noStrike" noProof="0" dirty="0">
                          <a:solidFill>
                            <a:srgbClr val="000000"/>
                          </a:solidFill>
                          <a:effectLst/>
                          <a:latin typeface="Arial" panose="020B0604020202020204" pitchFamily="34" charset="0"/>
                          <a:cs typeface="Arial" panose="020B0604020202020204" pitchFamily="34" charset="0"/>
                        </a:rPr>
                        <a:t>50 Ohms.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50 Close Parenthesis squared divided by 50</a:t>
                      </a: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tc>
                  <a:txBody>
                    <a:bodyPr/>
                    <a:lstStyle/>
                    <a:p>
                      <a:pPr algn="ctr"/>
                      <a:r>
                        <a:rPr lang="en-US" sz="1600" noProof="0" dirty="0">
                          <a:latin typeface="Arial" panose="020B0604020202020204" pitchFamily="34" charset="0"/>
                          <a:cs typeface="Arial" panose="020B0604020202020204" pitchFamily="34" charset="0"/>
                        </a:rPr>
                        <a:t>50</a:t>
                      </a:r>
                    </a:p>
                  </a:txBody>
                  <a:tcPr marL="100584" marR="100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EAE4"/>
                    </a:solidFill>
                  </a:tcPr>
                </a:tc>
                <a:extLst>
                  <a:ext uri="{0D108BD9-81ED-4DB2-BD59-A6C34878D82A}">
                    <a16:rowId xmlns:a16="http://schemas.microsoft.com/office/drawing/2014/main" val="3883025840"/>
                  </a:ext>
                </a:extLst>
              </a:tr>
            </a:tbl>
          </a:graphicData>
        </a:graphic>
      </p:graphicFrame>
      <p:graphicFrame>
        <p:nvGraphicFramePr>
          <p:cNvPr id="16" name="Object 15">
            <a:extLst>
              <a:ext uri="{FF2B5EF4-FFF2-40B4-BE49-F238E27FC236}">
                <a16:creationId xmlns:a16="http://schemas.microsoft.com/office/drawing/2014/main" id="{64DC3C92-C981-3092-7699-E4534DCDC59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669612882"/>
              </p:ext>
            </p:extLst>
          </p:nvPr>
        </p:nvGraphicFramePr>
        <p:xfrm>
          <a:off x="3766799" y="4709110"/>
          <a:ext cx="1692953" cy="344915"/>
        </p:xfrm>
        <a:graphic>
          <a:graphicData uri="http://schemas.openxmlformats.org/presentationml/2006/ole">
            <mc:AlternateContent xmlns:mc="http://schemas.openxmlformats.org/markup-compatibility/2006">
              <mc:Choice xmlns:v="urn:schemas-microsoft-com:vml" Requires="v">
                <p:oleObj name="Equation" r:id="rId4" imgW="1218960" imgH="253800" progId="Equation.DSMT4">
                  <p:embed/>
                </p:oleObj>
              </mc:Choice>
              <mc:Fallback>
                <p:oleObj name="Equation" r:id="rId4" imgW="1218960" imgH="253800" progId="Equation.DSMT4">
                  <p:embed/>
                  <p:pic>
                    <p:nvPicPr>
                      <p:cNvPr id="15" name="Object 14">
                        <a:extLst>
                          <a:ext uri="{FF2B5EF4-FFF2-40B4-BE49-F238E27FC236}">
                            <a16:creationId xmlns:a16="http://schemas.microsoft.com/office/drawing/2014/main" id="{B7CF695C-1BC7-7D8D-F2F9-7DC8270C50D6}"/>
                          </a:ext>
                        </a:extLst>
                      </p:cNvPr>
                      <p:cNvPicPr>
                        <a:picLocks noChangeAspect="1" noChangeArrowheads="1"/>
                      </p:cNvPicPr>
                      <p:nvPr/>
                    </p:nvPicPr>
                    <p:blipFill>
                      <a:blip r:embed="rId5"/>
                      <a:srcRect/>
                      <a:stretch>
                        <a:fillRect/>
                      </a:stretch>
                    </p:blipFill>
                    <p:spPr bwMode="auto">
                      <a:xfrm>
                        <a:off x="3766799" y="4709110"/>
                        <a:ext cx="1692953" cy="344915"/>
                      </a:xfrm>
                      <a:prstGeom prst="rect">
                        <a:avLst/>
                      </a:prstGeom>
                      <a:solidFill>
                        <a:srgbClr val="D4EAE4"/>
                      </a:solidFill>
                    </p:spPr>
                  </p:pic>
                </p:oleObj>
              </mc:Fallback>
            </mc:AlternateContent>
          </a:graphicData>
        </a:graphic>
      </p:graphicFrame>
      <p:graphicFrame>
        <p:nvGraphicFramePr>
          <p:cNvPr id="13" name="Object 12">
            <a:extLst>
              <a:ext uri="{FF2B5EF4-FFF2-40B4-BE49-F238E27FC236}">
                <a16:creationId xmlns:a16="http://schemas.microsoft.com/office/drawing/2014/main" id="{B378FE45-B03B-F28E-35A1-E74BF35CB9A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8711728"/>
              </p:ext>
            </p:extLst>
          </p:nvPr>
        </p:nvGraphicFramePr>
        <p:xfrm>
          <a:off x="2142938" y="5118114"/>
          <a:ext cx="408901" cy="305858"/>
        </p:xfrm>
        <a:graphic>
          <a:graphicData uri="http://schemas.openxmlformats.org/presentationml/2006/ole">
            <mc:AlternateContent xmlns:mc="http://schemas.openxmlformats.org/markup-compatibility/2006">
              <mc:Choice xmlns:v="urn:schemas-microsoft-com:vml" Requires="v">
                <p:oleObj name="Equation" r:id="rId6" imgW="266400" imgH="203040" progId="Equation.DSMT4">
                  <p:embed/>
                </p:oleObj>
              </mc:Choice>
              <mc:Fallback>
                <p:oleObj name="Equation" r:id="rId6" imgW="266400" imgH="203040" progId="Equation.DSMT4">
                  <p:embed/>
                  <p:pic>
                    <p:nvPicPr>
                      <p:cNvPr id="12" name="Object 11">
                        <a:extLst>
                          <a:ext uri="{FF2B5EF4-FFF2-40B4-BE49-F238E27FC236}">
                            <a16:creationId xmlns:a16="http://schemas.microsoft.com/office/drawing/2014/main" id="{5819A9C0-2E65-83B4-3D94-63F40768372A}"/>
                          </a:ext>
                        </a:extLst>
                      </p:cNvPr>
                      <p:cNvPicPr>
                        <a:picLocks noChangeAspect="1" noChangeArrowheads="1"/>
                      </p:cNvPicPr>
                      <p:nvPr/>
                    </p:nvPicPr>
                    <p:blipFill>
                      <a:blip r:embed="rId7"/>
                      <a:srcRect/>
                      <a:stretch>
                        <a:fillRect/>
                      </a:stretch>
                    </p:blipFill>
                    <p:spPr bwMode="auto">
                      <a:xfrm>
                        <a:off x="2142938" y="5118114"/>
                        <a:ext cx="408901" cy="305858"/>
                      </a:xfrm>
                      <a:prstGeom prst="rect">
                        <a:avLst/>
                      </a:prstGeom>
                      <a:solidFill>
                        <a:srgbClr val="D4EAE4"/>
                      </a:solidFill>
                    </p:spPr>
                  </p:pic>
                </p:oleObj>
              </mc:Fallback>
            </mc:AlternateContent>
          </a:graphicData>
        </a:graphic>
      </p:graphicFrame>
      <p:graphicFrame>
        <p:nvGraphicFramePr>
          <p:cNvPr id="17" name="Object 16">
            <a:extLst>
              <a:ext uri="{FF2B5EF4-FFF2-40B4-BE49-F238E27FC236}">
                <a16:creationId xmlns:a16="http://schemas.microsoft.com/office/drawing/2014/main" id="{1A5E2333-0E79-A1EE-89FB-E257BCF858E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23949317"/>
              </p:ext>
            </p:extLst>
          </p:nvPr>
        </p:nvGraphicFramePr>
        <p:xfrm>
          <a:off x="4323386" y="5105199"/>
          <a:ext cx="598630" cy="320579"/>
        </p:xfrm>
        <a:graphic>
          <a:graphicData uri="http://schemas.openxmlformats.org/presentationml/2006/ole">
            <mc:AlternateContent xmlns:mc="http://schemas.openxmlformats.org/markup-compatibility/2006">
              <mc:Choice xmlns:v="urn:schemas-microsoft-com:vml" Requires="v">
                <p:oleObj name="Equation" r:id="rId8" imgW="419040" imgH="228600" progId="Equation.DSMT4">
                  <p:embed/>
                </p:oleObj>
              </mc:Choice>
              <mc:Fallback>
                <p:oleObj name="Equation" r:id="rId8" imgW="419040" imgH="228600" progId="Equation.DSMT4">
                  <p:embed/>
                  <p:pic>
                    <p:nvPicPr>
                      <p:cNvPr id="16" name="Object 15">
                        <a:extLst>
                          <a:ext uri="{FF2B5EF4-FFF2-40B4-BE49-F238E27FC236}">
                            <a16:creationId xmlns:a16="http://schemas.microsoft.com/office/drawing/2014/main" id="{64DC3C92-C981-3092-7699-E4534DCDC591}"/>
                          </a:ext>
                        </a:extLst>
                      </p:cNvPr>
                      <p:cNvPicPr>
                        <a:picLocks noChangeAspect="1" noChangeArrowheads="1"/>
                      </p:cNvPicPr>
                      <p:nvPr/>
                    </p:nvPicPr>
                    <p:blipFill>
                      <a:blip r:embed="rId9"/>
                      <a:srcRect/>
                      <a:stretch>
                        <a:fillRect/>
                      </a:stretch>
                    </p:blipFill>
                    <p:spPr bwMode="auto">
                      <a:xfrm>
                        <a:off x="4323386" y="5105199"/>
                        <a:ext cx="598630" cy="320579"/>
                      </a:xfrm>
                      <a:prstGeom prst="rect">
                        <a:avLst/>
                      </a:prstGeom>
                      <a:solidFill>
                        <a:srgbClr val="D4EAE4"/>
                      </a:solidFill>
                    </p:spPr>
                  </p:pic>
                </p:oleObj>
              </mc:Fallback>
            </mc:AlternateContent>
          </a:graphicData>
        </a:graphic>
      </p:graphicFrame>
      <p:graphicFrame>
        <p:nvGraphicFramePr>
          <p:cNvPr id="14" name="Object 13">
            <a:extLst>
              <a:ext uri="{FF2B5EF4-FFF2-40B4-BE49-F238E27FC236}">
                <a16:creationId xmlns:a16="http://schemas.microsoft.com/office/drawing/2014/main" id="{4A13D928-E349-D17E-BAC6-8D65D68CCC0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66623114"/>
              </p:ext>
            </p:extLst>
          </p:nvPr>
        </p:nvGraphicFramePr>
        <p:xfrm>
          <a:off x="2086897" y="5494534"/>
          <a:ext cx="446088" cy="304800"/>
        </p:xfrm>
        <a:graphic>
          <a:graphicData uri="http://schemas.openxmlformats.org/presentationml/2006/ole">
            <mc:AlternateContent xmlns:mc="http://schemas.openxmlformats.org/markup-compatibility/2006">
              <mc:Choice xmlns:v="urn:schemas-microsoft-com:vml" Requires="v">
                <p:oleObj name="Equation" r:id="rId10" imgW="291960" imgH="203040" progId="Equation.DSMT4">
                  <p:embed/>
                </p:oleObj>
              </mc:Choice>
              <mc:Fallback>
                <p:oleObj name="Equation" r:id="rId10" imgW="291960" imgH="203040" progId="Equation.DSMT4">
                  <p:embed/>
                  <p:pic>
                    <p:nvPicPr>
                      <p:cNvPr id="13" name="Object 12">
                        <a:extLst>
                          <a:ext uri="{FF2B5EF4-FFF2-40B4-BE49-F238E27FC236}">
                            <a16:creationId xmlns:a16="http://schemas.microsoft.com/office/drawing/2014/main" id="{B378FE45-B03B-F28E-35A1-E74BF35CB9A0}"/>
                          </a:ext>
                        </a:extLst>
                      </p:cNvPr>
                      <p:cNvPicPr>
                        <a:picLocks noChangeAspect="1" noChangeArrowheads="1"/>
                      </p:cNvPicPr>
                      <p:nvPr/>
                    </p:nvPicPr>
                    <p:blipFill>
                      <a:blip r:embed="rId11"/>
                      <a:srcRect/>
                      <a:stretch>
                        <a:fillRect/>
                      </a:stretch>
                    </p:blipFill>
                    <p:spPr bwMode="auto">
                      <a:xfrm>
                        <a:off x="2086897" y="5494534"/>
                        <a:ext cx="446088" cy="304800"/>
                      </a:xfrm>
                      <a:prstGeom prst="rect">
                        <a:avLst/>
                      </a:prstGeom>
                      <a:solidFill>
                        <a:srgbClr val="D4EAE4"/>
                      </a:solidFill>
                    </p:spPr>
                  </p:pic>
                </p:oleObj>
              </mc:Fallback>
            </mc:AlternateContent>
          </a:graphicData>
        </a:graphic>
      </p:graphicFrame>
      <p:graphicFrame>
        <p:nvGraphicFramePr>
          <p:cNvPr id="18" name="Object 17">
            <a:extLst>
              <a:ext uri="{FF2B5EF4-FFF2-40B4-BE49-F238E27FC236}">
                <a16:creationId xmlns:a16="http://schemas.microsoft.com/office/drawing/2014/main" id="{811146AD-892A-343F-66FC-9B4DB193F16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82860896"/>
              </p:ext>
            </p:extLst>
          </p:nvPr>
        </p:nvGraphicFramePr>
        <p:xfrm>
          <a:off x="4304532" y="5479963"/>
          <a:ext cx="654050" cy="320675"/>
        </p:xfrm>
        <a:graphic>
          <a:graphicData uri="http://schemas.openxmlformats.org/presentationml/2006/ole">
            <mc:AlternateContent xmlns:mc="http://schemas.openxmlformats.org/markup-compatibility/2006">
              <mc:Choice xmlns:v="urn:schemas-microsoft-com:vml" Requires="v">
                <p:oleObj name="Equation" r:id="rId12" imgW="457200" imgH="228600" progId="Equation.DSMT4">
                  <p:embed/>
                </p:oleObj>
              </mc:Choice>
              <mc:Fallback>
                <p:oleObj name="Equation" r:id="rId12" imgW="457200" imgH="228600" progId="Equation.DSMT4">
                  <p:embed/>
                  <p:pic>
                    <p:nvPicPr>
                      <p:cNvPr id="17" name="Object 16">
                        <a:extLst>
                          <a:ext uri="{FF2B5EF4-FFF2-40B4-BE49-F238E27FC236}">
                            <a16:creationId xmlns:a16="http://schemas.microsoft.com/office/drawing/2014/main" id="{1A5E2333-0E79-A1EE-89FB-E257BCF858EB}"/>
                          </a:ext>
                        </a:extLst>
                      </p:cNvPr>
                      <p:cNvPicPr>
                        <a:picLocks noChangeAspect="1" noChangeArrowheads="1"/>
                      </p:cNvPicPr>
                      <p:nvPr/>
                    </p:nvPicPr>
                    <p:blipFill>
                      <a:blip r:embed="rId13"/>
                      <a:srcRect/>
                      <a:stretch>
                        <a:fillRect/>
                      </a:stretch>
                    </p:blipFill>
                    <p:spPr bwMode="auto">
                      <a:xfrm>
                        <a:off x="4304532" y="5479963"/>
                        <a:ext cx="654050" cy="320675"/>
                      </a:xfrm>
                      <a:prstGeom prst="rect">
                        <a:avLst/>
                      </a:prstGeom>
                      <a:solidFill>
                        <a:srgbClr val="D4EAE4"/>
                      </a:solidFill>
                    </p:spPr>
                  </p:pic>
                </p:oleObj>
              </mc:Fallback>
            </mc:AlternateContent>
          </a:graphicData>
        </a:graphic>
      </p:graphicFrame>
      <p:graphicFrame>
        <p:nvGraphicFramePr>
          <p:cNvPr id="15" name="Object 14">
            <a:extLst>
              <a:ext uri="{FF2B5EF4-FFF2-40B4-BE49-F238E27FC236}">
                <a16:creationId xmlns:a16="http://schemas.microsoft.com/office/drawing/2014/main" id="{B7CF695C-1BC7-7D8D-F2F9-7DC8270C50D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39230392"/>
              </p:ext>
            </p:extLst>
          </p:nvPr>
        </p:nvGraphicFramePr>
        <p:xfrm>
          <a:off x="2017841" y="5862476"/>
          <a:ext cx="584200" cy="304800"/>
        </p:xfrm>
        <a:graphic>
          <a:graphicData uri="http://schemas.openxmlformats.org/presentationml/2006/ole">
            <mc:AlternateContent xmlns:mc="http://schemas.openxmlformats.org/markup-compatibility/2006">
              <mc:Choice xmlns:v="urn:schemas-microsoft-com:vml" Requires="v">
                <p:oleObj name="Equation" r:id="rId14" imgW="380880" imgH="203040" progId="Equation.DSMT4">
                  <p:embed/>
                </p:oleObj>
              </mc:Choice>
              <mc:Fallback>
                <p:oleObj name="Equation" r:id="rId14" imgW="380880" imgH="203040" progId="Equation.DSMT4">
                  <p:embed/>
                  <p:pic>
                    <p:nvPicPr>
                      <p:cNvPr id="13" name="Object 12">
                        <a:extLst>
                          <a:ext uri="{FF2B5EF4-FFF2-40B4-BE49-F238E27FC236}">
                            <a16:creationId xmlns:a16="http://schemas.microsoft.com/office/drawing/2014/main" id="{B378FE45-B03B-F28E-35A1-E74BF35CB9A0}"/>
                          </a:ext>
                        </a:extLst>
                      </p:cNvPr>
                      <p:cNvPicPr>
                        <a:picLocks noChangeAspect="1" noChangeArrowheads="1"/>
                      </p:cNvPicPr>
                      <p:nvPr/>
                    </p:nvPicPr>
                    <p:blipFill>
                      <a:blip r:embed="rId15"/>
                      <a:srcRect/>
                      <a:stretch>
                        <a:fillRect/>
                      </a:stretch>
                    </p:blipFill>
                    <p:spPr bwMode="auto">
                      <a:xfrm>
                        <a:off x="2017841" y="5862476"/>
                        <a:ext cx="584200" cy="304800"/>
                      </a:xfrm>
                      <a:prstGeom prst="rect">
                        <a:avLst/>
                      </a:prstGeom>
                      <a:solidFill>
                        <a:srgbClr val="D4EAE4"/>
                      </a:solidFill>
                    </p:spPr>
                  </p:pic>
                </p:oleObj>
              </mc:Fallback>
            </mc:AlternateContent>
          </a:graphicData>
        </a:graphic>
      </p:graphicFrame>
      <p:graphicFrame>
        <p:nvGraphicFramePr>
          <p:cNvPr id="19" name="Object 18">
            <a:extLst>
              <a:ext uri="{FF2B5EF4-FFF2-40B4-BE49-F238E27FC236}">
                <a16:creationId xmlns:a16="http://schemas.microsoft.com/office/drawing/2014/main" id="{03459244-A980-9FE9-19BA-ABF30B28360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018444300"/>
              </p:ext>
            </p:extLst>
          </p:nvPr>
        </p:nvGraphicFramePr>
        <p:xfrm>
          <a:off x="4190099" y="5853211"/>
          <a:ext cx="890587" cy="320675"/>
        </p:xfrm>
        <a:graphic>
          <a:graphicData uri="http://schemas.openxmlformats.org/presentationml/2006/ole">
            <mc:AlternateContent xmlns:mc="http://schemas.openxmlformats.org/markup-compatibility/2006">
              <mc:Choice xmlns:v="urn:schemas-microsoft-com:vml" Requires="v">
                <p:oleObj name="Equation" r:id="rId16" imgW="622080" imgH="228600" progId="Equation.DSMT4">
                  <p:embed/>
                </p:oleObj>
              </mc:Choice>
              <mc:Fallback>
                <p:oleObj name="Equation" r:id="rId16" imgW="622080" imgH="228600" progId="Equation.DSMT4">
                  <p:embed/>
                  <p:pic>
                    <p:nvPicPr>
                      <p:cNvPr id="18" name="Object 17">
                        <a:extLst>
                          <a:ext uri="{FF2B5EF4-FFF2-40B4-BE49-F238E27FC236}">
                            <a16:creationId xmlns:a16="http://schemas.microsoft.com/office/drawing/2014/main" id="{811146AD-892A-343F-66FC-9B4DB193F169}"/>
                          </a:ext>
                        </a:extLst>
                      </p:cNvPr>
                      <p:cNvPicPr>
                        <a:picLocks noChangeAspect="1" noChangeArrowheads="1"/>
                      </p:cNvPicPr>
                      <p:nvPr/>
                    </p:nvPicPr>
                    <p:blipFill>
                      <a:blip r:embed="rId17"/>
                      <a:srcRect/>
                      <a:stretch>
                        <a:fillRect/>
                      </a:stretch>
                    </p:blipFill>
                    <p:spPr bwMode="auto">
                      <a:xfrm>
                        <a:off x="4190099" y="5853211"/>
                        <a:ext cx="890587" cy="320675"/>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2533683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19029"/>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a:t>
            </a:r>
            <a:r>
              <a:rPr lang="en-US" altLang="en-US" b="1" dirty="0">
                <a:latin typeface="Arial" panose="020B0604020202020204" pitchFamily="34" charset="0"/>
                <a:cs typeface="Arial" panose="020B0604020202020204" pitchFamily="34" charset="0"/>
              </a:rPr>
              <a:t>Kingdom</a:t>
            </a:r>
            <a:r>
              <a:rPr lang="en-US" altLang="en-US" b="1" noProof="0" dirty="0">
                <a:latin typeface="Arial" panose="020B0604020202020204" pitchFamily="34" charset="0"/>
                <a:cs typeface="Arial" panose="020B0604020202020204" pitchFamily="34" charset="0"/>
              </a:rPr>
              <a:t>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1006</TotalTime>
  <Words>1600</Words>
  <Application>Microsoft Office PowerPoint</Application>
  <PresentationFormat>On-screen Show (4:3)</PresentationFormat>
  <Paragraphs>166</Paragraphs>
  <Slides>28</Slides>
  <Notes>6</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6" baseType="lpstr">
      <vt:lpstr>Verdana</vt:lpstr>
      <vt:lpstr>Arial</vt:lpstr>
      <vt:lpstr>Times New Roman</vt:lpstr>
      <vt:lpstr>Symbol</vt:lpstr>
      <vt:lpstr>Calibri</vt:lpstr>
      <vt:lpstr>USHE</vt:lpstr>
      <vt:lpstr>USHE_slide options</vt:lpstr>
      <vt:lpstr>Equation</vt:lpstr>
      <vt:lpstr>Electric Circuits</vt:lpstr>
      <vt:lpstr>Chapter 4 – techniques of circuit analysis (1 of 26)</vt:lpstr>
      <vt:lpstr>Chapter 4 – techniques of circuit analysis (2 of 26)</vt:lpstr>
      <vt:lpstr>Chapter 4 – techniques of circuit analysis (3 of 26)</vt:lpstr>
      <vt:lpstr>Chapter 4 – techniques of circuit analysis (4 of 26)</vt:lpstr>
      <vt:lpstr>Chapter 4 – techniques of circuit analysis (5 of 26)</vt:lpstr>
      <vt:lpstr>Chapter 4 – techniques of circuit analysis (6 of 26)</vt:lpstr>
      <vt:lpstr>Chapter 4 – techniques of circuit analysis (7 of 26)</vt:lpstr>
      <vt:lpstr>Chapter 4 – techniques of circuit analysis (8 of 26)</vt:lpstr>
      <vt:lpstr>Chapter 4 – techniques of circuit analysis (9 of 26)</vt:lpstr>
      <vt:lpstr>Chapter 4 – techniques of circuit analysis (10 of 26)</vt:lpstr>
      <vt:lpstr>Chapter 4 – techniques of circuit analysis (11 of 26)</vt:lpstr>
      <vt:lpstr>Chapter 4 – techniques of circuit analysis (12 of 26)</vt:lpstr>
      <vt:lpstr>Chapter 4 – techniques of circuit analysis (13 of 26)</vt:lpstr>
      <vt:lpstr>Chapter 4 – techniques of circuit analysis (14 of 26)</vt:lpstr>
      <vt:lpstr>Chapter 4 – techniques of circuit analysis (15 of 26)</vt:lpstr>
      <vt:lpstr>Chapter 4 – techniques of circuit analysis (16 of 26)</vt:lpstr>
      <vt:lpstr>Chapter 4 – techniques of circuit analysis (17 of 26)</vt:lpstr>
      <vt:lpstr>Chapter 4 – techniques of circuit analysis (18 of 26)</vt:lpstr>
      <vt:lpstr>Chapter 4 – techniques of circuit analysis (19 of 26)</vt:lpstr>
      <vt:lpstr>Chapter 4 – techniques of circuit analysis (20 of 26)</vt:lpstr>
      <vt:lpstr>Chapter 4 – techniques of circuit analysis (21 of 26)</vt:lpstr>
      <vt:lpstr>Chapter 4 – techniques of circuit analysis (22 of 26)</vt:lpstr>
      <vt:lpstr>Chapter 4 – techniques of circuit analysis (23 of 26)</vt:lpstr>
      <vt:lpstr>Chapter 4 – techniques of circuit analysis (24 of 26)</vt:lpstr>
      <vt:lpstr>Chapter 4 – techniques of circuit analysis (25 of 26)</vt:lpstr>
      <vt:lpstr>Chapter 4 – techniques of circuit analysis (26 of 26)</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1</dc:title>
  <dc:subject>Engineering</dc:subject>
  <dc:creator>Nilsson and Riedel</dc:creator>
  <cp:keywords/>
  <dc:description>Alt text for images/ math equations within table cells have been placed behind the object intentionally to provide a better screen reader user experience._x000d_
</dc:description>
  <cp:lastModifiedBy>kml erd</cp:lastModifiedBy>
  <cp:revision>78</cp:revision>
  <dcterms:modified xsi:type="dcterms:W3CDTF">2025-10-13T10:45:10Z</dcterms:modified>
</cp:coreProperties>
</file>