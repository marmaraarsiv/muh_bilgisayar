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CC520-BB23-4135-874B-E86194DD97CD}" type="datetimeFigureOut">
              <a:rPr lang="en-US" smtClean="0"/>
              <a:t>5/21/2015</a:t>
            </a:fld>
            <a:endParaRPr lang="en-US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686A0-BB0D-4C31-90B2-84030ED44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85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FEDFD-28DE-4ECD-988F-EA44EEC716E2}" type="datetime1">
              <a:rPr lang="en-US" smtClean="0"/>
              <a:t>5/21/2015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5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F3741-5CBE-4447-A15F-E554BB7B8604}" type="datetime1">
              <a:rPr lang="en-US" smtClean="0"/>
              <a:t>5/21/2015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2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070D-EA83-4E16-8FF1-8C4FD0524146}" type="datetime1">
              <a:rPr lang="en-US" smtClean="0"/>
              <a:t>5/21/2015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85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4747-C3B4-4217-9F2E-542F5B3020D1}" type="datetime1">
              <a:rPr lang="en-US" smtClean="0"/>
              <a:t>5/21/2015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4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1A4B6-CEF7-46B2-A574-F44D391DA717}" type="datetime1">
              <a:rPr lang="en-US" smtClean="0"/>
              <a:t>5/21/2015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42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14504-84B9-4B7A-989F-03E5116F11B0}" type="datetime1">
              <a:rPr lang="en-US" smtClean="0"/>
              <a:t>5/21/2015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786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3837C-28E9-4861-9D50-2620401A7C48}" type="datetime1">
              <a:rPr lang="en-US" smtClean="0"/>
              <a:t>5/21/2015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7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35BE-53E4-42E4-9AE0-0878E108F967}" type="datetime1">
              <a:rPr lang="en-US" smtClean="0"/>
              <a:t>5/21/2015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E006-ED48-4370-8599-AB4B5E690DBB}" type="datetime1">
              <a:rPr lang="en-US" smtClean="0"/>
              <a:t>5/21/2015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1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892C-4530-40CA-85C9-213F92CE32E1}" type="datetime1">
              <a:rPr lang="en-US" smtClean="0"/>
              <a:t>5/21/2015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7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6BE77-6230-4213-827E-A2D4D3DCCD6C}" type="datetime1">
              <a:rPr lang="en-US" smtClean="0"/>
              <a:t>5/21/2015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270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9B51C-B2B1-4064-8785-662EE7054FBF}" type="datetime1">
              <a:rPr lang="en-US" smtClean="0"/>
              <a:t>5/21/2015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97E0F-9188-4F36-B19C-C9D1C0D9C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2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 smtClean="0"/>
              <a:t>Transportation</a:t>
            </a:r>
            <a:r>
              <a:rPr lang="tr-TR" dirty="0" smtClean="0"/>
              <a:t>, </a:t>
            </a:r>
            <a:r>
              <a:rPr lang="tr-TR" dirty="0" err="1" smtClean="0"/>
              <a:t>Assignment</a:t>
            </a:r>
            <a:r>
              <a:rPr lang="tr-TR" dirty="0" smtClean="0"/>
              <a:t> and </a:t>
            </a:r>
            <a:r>
              <a:rPr lang="tr-TR" dirty="0" err="1" smtClean="0"/>
              <a:t>Transshipment</a:t>
            </a:r>
            <a:r>
              <a:rPr lang="tr-TR" dirty="0" smtClean="0"/>
              <a:t> </a:t>
            </a:r>
            <a:r>
              <a:rPr lang="tr-TR" dirty="0" err="1" smtClean="0"/>
              <a:t>Problems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11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Change</a:t>
            </a:r>
            <a:r>
              <a:rPr lang="tr-TR" dirty="0" smtClean="0"/>
              <a:t> 2: </a:t>
            </a:r>
            <a:r>
              <a:rPr lang="tr-TR" dirty="0" err="1" smtClean="0"/>
              <a:t>Changing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objective</a:t>
            </a:r>
            <a:r>
              <a:rPr lang="tr-TR" dirty="0" smtClean="0"/>
              <a:t> </a:t>
            </a:r>
            <a:r>
              <a:rPr lang="tr-TR" dirty="0" err="1" smtClean="0"/>
              <a:t>function</a:t>
            </a:r>
            <a:r>
              <a:rPr lang="tr-TR" dirty="0" smtClean="0"/>
              <a:t> </a:t>
            </a:r>
            <a:r>
              <a:rPr lang="tr-TR" dirty="0" err="1" smtClean="0"/>
              <a:t>coefficient</a:t>
            </a:r>
            <a:r>
              <a:rPr lang="tr-TR" dirty="0" smtClean="0"/>
              <a:t> of a BV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Because we are changing </a:t>
            </a:r>
            <a:r>
              <a:rPr lang="en-US" b="1" dirty="0" err="1" smtClean="0"/>
              <a:t>c</a:t>
            </a:r>
            <a:r>
              <a:rPr lang="en-US" baseline="-25000" dirty="0" err="1" smtClean="0"/>
              <a:t>BV</a:t>
            </a:r>
            <a:r>
              <a:rPr lang="en-US" i="1" dirty="0" err="1" smtClean="0"/>
              <a:t>B</a:t>
            </a:r>
            <a:r>
              <a:rPr lang="tr-TR" i="1" baseline="30000" dirty="0" smtClean="0"/>
              <a:t>-</a:t>
            </a:r>
            <a:r>
              <a:rPr lang="en-US" baseline="30000" dirty="0" smtClean="0"/>
              <a:t>1</a:t>
            </a:r>
            <a:r>
              <a:rPr lang="en-US" dirty="0"/>
              <a:t>, the coefficient of each </a:t>
            </a:r>
            <a:r>
              <a:rPr lang="en-US" dirty="0" err="1"/>
              <a:t>nonbasic</a:t>
            </a:r>
            <a:r>
              <a:rPr lang="en-US" dirty="0"/>
              <a:t> variable in row 0 </a:t>
            </a:r>
            <a:r>
              <a:rPr lang="en-US" dirty="0" smtClean="0"/>
              <a:t>may</a:t>
            </a:r>
            <a:r>
              <a:rPr lang="tr-TR" dirty="0" smtClean="0"/>
              <a:t> </a:t>
            </a:r>
            <a:r>
              <a:rPr lang="en-US" dirty="0" smtClean="0"/>
              <a:t>change</a:t>
            </a:r>
            <a:r>
              <a:rPr lang="en-US" dirty="0"/>
              <a:t>, and to determine whether the current basis remains optimal, we must find the </a:t>
            </a:r>
            <a:r>
              <a:rPr lang="en-US" dirty="0" smtClean="0"/>
              <a:t>new</a:t>
            </a:r>
            <a:r>
              <a:rPr lang="tr-TR" dirty="0" smtClean="0"/>
              <a:t> </a:t>
            </a:r>
            <a:r>
              <a:rPr lang="en-US" i="1" dirty="0" err="1" smtClean="0"/>
              <a:t>ui</a:t>
            </a:r>
            <a:r>
              <a:rPr lang="en-US" dirty="0" err="1" smtClean="0"/>
              <a:t>’s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i="1" dirty="0" err="1"/>
              <a:t>vj</a:t>
            </a:r>
            <a:r>
              <a:rPr lang="en-US" dirty="0" err="1"/>
              <a:t>’s</a:t>
            </a:r>
            <a:r>
              <a:rPr lang="en-US" dirty="0"/>
              <a:t> and use these values to price out all </a:t>
            </a:r>
            <a:r>
              <a:rPr lang="en-US" dirty="0" err="1"/>
              <a:t>nonbasic</a:t>
            </a:r>
            <a:r>
              <a:rPr lang="en-US" dirty="0"/>
              <a:t> variables.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current basis </a:t>
            </a:r>
            <a:r>
              <a:rPr lang="en-US" dirty="0" smtClean="0"/>
              <a:t>remains</a:t>
            </a:r>
            <a:r>
              <a:rPr lang="tr-TR" dirty="0" smtClean="0"/>
              <a:t> </a:t>
            </a:r>
            <a:r>
              <a:rPr lang="en-US" dirty="0" smtClean="0"/>
              <a:t>optimal </a:t>
            </a:r>
            <a:r>
              <a:rPr lang="en-US" dirty="0"/>
              <a:t>as long as all </a:t>
            </a:r>
            <a:r>
              <a:rPr lang="en-US" dirty="0" err="1"/>
              <a:t>nonbasic</a:t>
            </a:r>
            <a:r>
              <a:rPr lang="en-US" dirty="0"/>
              <a:t> variables price out </a:t>
            </a:r>
            <a:r>
              <a:rPr lang="en-US" dirty="0" err="1"/>
              <a:t>nonpositive</a:t>
            </a:r>
            <a:r>
              <a:rPr lang="en-US" dirty="0"/>
              <a:t>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4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 smtClean="0"/>
              <a:t>Change</a:t>
            </a:r>
            <a:r>
              <a:rPr lang="tr-TR" dirty="0" smtClean="0"/>
              <a:t> 3: </a:t>
            </a:r>
            <a:r>
              <a:rPr lang="tr-TR" dirty="0" err="1" smtClean="0"/>
              <a:t>Increasing</a:t>
            </a:r>
            <a:r>
              <a:rPr lang="tr-TR" dirty="0" smtClean="0"/>
              <a:t> </a:t>
            </a:r>
            <a:r>
              <a:rPr lang="tr-TR" dirty="0" err="1" smtClean="0"/>
              <a:t>both</a:t>
            </a:r>
            <a:r>
              <a:rPr lang="tr-TR" dirty="0" smtClean="0"/>
              <a:t> </a:t>
            </a:r>
            <a:r>
              <a:rPr lang="tr-TR" dirty="0" err="1" smtClean="0"/>
              <a:t>supply</a:t>
            </a:r>
            <a:r>
              <a:rPr lang="tr-TR" dirty="0" smtClean="0"/>
              <a:t> and </a:t>
            </a:r>
            <a:r>
              <a:rPr lang="tr-TR" dirty="0" err="1" smtClean="0"/>
              <a:t>Demand</a:t>
            </a:r>
            <a:r>
              <a:rPr lang="tr-TR" dirty="0" smtClean="0"/>
              <a:t> </a:t>
            </a:r>
            <a:r>
              <a:rPr lang="tr-TR" dirty="0" err="1" smtClean="0"/>
              <a:t>by</a:t>
            </a:r>
            <a:r>
              <a:rPr lang="tr-TR" dirty="0" smtClean="0"/>
              <a:t> ∆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Observe that this change maintains </a:t>
            </a:r>
            <a:r>
              <a:rPr lang="en-US" dirty="0" smtClean="0"/>
              <a:t>a</a:t>
            </a:r>
            <a:r>
              <a:rPr lang="tr-TR" dirty="0" smtClean="0"/>
              <a:t> </a:t>
            </a:r>
            <a:r>
              <a:rPr lang="en-US" dirty="0" smtClean="0"/>
              <a:t>balanced </a:t>
            </a:r>
            <a:r>
              <a:rPr lang="en-US" dirty="0"/>
              <a:t>transportation problem. </a:t>
            </a:r>
            <a:endParaRPr lang="tr-TR" dirty="0" smtClean="0"/>
          </a:p>
          <a:p>
            <a:r>
              <a:rPr lang="en-US" dirty="0" smtClean="0"/>
              <a:t>Because </a:t>
            </a:r>
            <a:r>
              <a:rPr lang="en-US" dirty="0"/>
              <a:t>the </a:t>
            </a:r>
            <a:r>
              <a:rPr lang="en-US" i="1" dirty="0" err="1" smtClean="0"/>
              <a:t>ui</a:t>
            </a:r>
            <a:r>
              <a:rPr lang="en-US" dirty="0" err="1" smtClean="0"/>
              <a:t>’s</a:t>
            </a:r>
            <a:r>
              <a:rPr lang="tr-TR" dirty="0"/>
              <a:t> </a:t>
            </a:r>
            <a:r>
              <a:rPr lang="en-US" dirty="0" smtClean="0"/>
              <a:t>and </a:t>
            </a:r>
            <a:r>
              <a:rPr lang="en-US" i="1" dirty="0" err="1"/>
              <a:t>vj</a:t>
            </a:r>
            <a:r>
              <a:rPr lang="en-US" dirty="0" err="1"/>
              <a:t>’s</a:t>
            </a:r>
            <a:r>
              <a:rPr lang="en-US" dirty="0"/>
              <a:t> may be thought of as the negative of each constraint’s shadow prices, </a:t>
            </a:r>
            <a:endParaRPr lang="tr-TR" dirty="0" smtClean="0"/>
          </a:p>
          <a:p>
            <a:r>
              <a:rPr lang="en-US" dirty="0" smtClean="0"/>
              <a:t>we know</a:t>
            </a:r>
            <a:r>
              <a:rPr lang="tr-TR" dirty="0" smtClean="0"/>
              <a:t> </a:t>
            </a:r>
            <a:r>
              <a:rPr lang="en-US" dirty="0" smtClean="0"/>
              <a:t>that </a:t>
            </a:r>
            <a:r>
              <a:rPr lang="en-US" dirty="0"/>
              <a:t>if the current basis remains optimal,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3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301208"/>
            <a:ext cx="4392488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171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may also find the new values of the decision variables as follows:</a:t>
            </a:r>
          </a:p>
          <a:p>
            <a:pPr marL="0" indent="0">
              <a:buNone/>
            </a:pPr>
            <a:r>
              <a:rPr lang="en-US" b="1" dirty="0" smtClean="0"/>
              <a:t>1</a:t>
            </a:r>
            <a:r>
              <a:rPr lang="tr-TR" b="1" dirty="0" smtClean="0"/>
              <a:t>) </a:t>
            </a:r>
            <a:r>
              <a:rPr lang="en-US" b="1" dirty="0" smtClean="0"/>
              <a:t> </a:t>
            </a:r>
            <a:r>
              <a:rPr lang="en-US" dirty="0"/>
              <a:t>If </a:t>
            </a:r>
            <a:r>
              <a:rPr lang="en-US" i="1" dirty="0"/>
              <a:t>xij </a:t>
            </a:r>
            <a:r>
              <a:rPr lang="en-US" dirty="0"/>
              <a:t>is a basic variable in the optimal solution, then increase </a:t>
            </a:r>
            <a:r>
              <a:rPr lang="en-US" i="1" dirty="0"/>
              <a:t>xij </a:t>
            </a:r>
            <a:r>
              <a:rPr lang="en-US" dirty="0" smtClean="0"/>
              <a:t>by</a:t>
            </a:r>
            <a:r>
              <a:rPr lang="tr-TR" dirty="0" smtClean="0"/>
              <a:t> ∆</a:t>
            </a:r>
            <a:r>
              <a:rPr lang="en-US" dirty="0" smtClean="0"/>
              <a:t> 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smtClean="0"/>
              <a:t>2</a:t>
            </a:r>
            <a:r>
              <a:rPr lang="tr-TR" b="1" dirty="0" smtClean="0"/>
              <a:t>) </a:t>
            </a:r>
            <a:r>
              <a:rPr lang="en-US" dirty="0" smtClean="0"/>
              <a:t>If </a:t>
            </a:r>
            <a:r>
              <a:rPr lang="en-US" i="1" dirty="0"/>
              <a:t>xij </a:t>
            </a:r>
            <a:r>
              <a:rPr lang="en-US" dirty="0"/>
              <a:t>is a </a:t>
            </a:r>
            <a:r>
              <a:rPr lang="en-US" dirty="0" err="1"/>
              <a:t>nonbasic</a:t>
            </a:r>
            <a:r>
              <a:rPr lang="en-US" dirty="0"/>
              <a:t> variable in the optimal solution, then find the loop involving </a:t>
            </a:r>
            <a:r>
              <a:rPr lang="en-US" i="1" dirty="0"/>
              <a:t>xij </a:t>
            </a:r>
            <a:r>
              <a:rPr lang="en-US" dirty="0" smtClean="0"/>
              <a:t>and</a:t>
            </a:r>
            <a:r>
              <a:rPr lang="tr-TR" dirty="0" smtClean="0"/>
              <a:t> </a:t>
            </a:r>
            <a:r>
              <a:rPr lang="en-US" dirty="0" smtClean="0"/>
              <a:t>some </a:t>
            </a:r>
            <a:r>
              <a:rPr lang="en-US" dirty="0"/>
              <a:t>of the basic variables. 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Find </a:t>
            </a:r>
            <a:r>
              <a:rPr lang="en-US" dirty="0"/>
              <a:t>an odd cell in the loop that is in row </a:t>
            </a:r>
            <a:r>
              <a:rPr lang="en-US" i="1" dirty="0"/>
              <a:t>i</a:t>
            </a:r>
            <a:r>
              <a:rPr lang="en-US" dirty="0"/>
              <a:t>. Increase the </a:t>
            </a:r>
            <a:r>
              <a:rPr lang="en-US" dirty="0" smtClean="0"/>
              <a:t>value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this odd cell </a:t>
            </a:r>
            <a:r>
              <a:rPr lang="en-US" dirty="0" smtClean="0"/>
              <a:t>by</a:t>
            </a:r>
            <a:r>
              <a:rPr lang="tr-TR" dirty="0" smtClean="0"/>
              <a:t> ∆</a:t>
            </a:r>
            <a:r>
              <a:rPr lang="en-US" dirty="0" smtClean="0"/>
              <a:t>  </a:t>
            </a:r>
            <a:r>
              <a:rPr lang="en-US" dirty="0"/>
              <a:t>and go around the loop, alternately increasing and then </a:t>
            </a:r>
            <a:r>
              <a:rPr lang="en-US" dirty="0" smtClean="0"/>
              <a:t>decreasing</a:t>
            </a:r>
            <a:r>
              <a:rPr lang="tr-TR" dirty="0" smtClean="0"/>
              <a:t> </a:t>
            </a:r>
            <a:r>
              <a:rPr lang="en-US" dirty="0" smtClean="0"/>
              <a:t>current </a:t>
            </a:r>
            <a:r>
              <a:rPr lang="en-US" dirty="0"/>
              <a:t>basic variables in the loop </a:t>
            </a:r>
            <a:r>
              <a:rPr lang="en-US" dirty="0" smtClean="0"/>
              <a:t>by</a:t>
            </a:r>
            <a:r>
              <a:rPr lang="tr-TR" dirty="0" smtClean="0"/>
              <a:t> ∆</a:t>
            </a:r>
            <a:r>
              <a:rPr lang="en-US" dirty="0" smtClean="0"/>
              <a:t> </a:t>
            </a:r>
            <a:r>
              <a:rPr lang="en-US" dirty="0"/>
              <a:t>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9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tr-TR" dirty="0" err="1"/>
              <a:t>E</a:t>
            </a:r>
            <a:r>
              <a:rPr lang="tr-TR" dirty="0" err="1" smtClean="0"/>
              <a:t>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tr-TR" dirty="0" err="1" smtClean="0"/>
              <a:t>Consider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/>
              <a:t> </a:t>
            </a:r>
            <a:r>
              <a:rPr lang="tr-TR" dirty="0" err="1" smtClean="0"/>
              <a:t>balanced</a:t>
            </a:r>
            <a:r>
              <a:rPr lang="tr-TR" dirty="0" smtClean="0"/>
              <a:t> </a:t>
            </a:r>
            <a:r>
              <a:rPr lang="tr-TR" dirty="0" err="1" smtClean="0"/>
              <a:t>transportaton</a:t>
            </a:r>
            <a:r>
              <a:rPr lang="tr-TR" dirty="0" smtClean="0"/>
              <a:t> problem </a:t>
            </a:r>
            <a:r>
              <a:rPr lang="tr-TR" dirty="0" err="1" smtClean="0"/>
              <a:t>given</a:t>
            </a:r>
            <a:r>
              <a:rPr lang="tr-TR" dirty="0" smtClean="0"/>
              <a:t> in </a:t>
            </a:r>
            <a:r>
              <a:rPr lang="tr-TR" dirty="0" err="1" smtClean="0"/>
              <a:t>table</a:t>
            </a:r>
            <a:r>
              <a:rPr lang="tr-TR" dirty="0" smtClean="0"/>
              <a:t>.</a:t>
            </a:r>
          </a:p>
          <a:p>
            <a:r>
              <a:rPr lang="tr-TR" dirty="0" smtClean="0"/>
              <a:t>a) </a:t>
            </a:r>
            <a:r>
              <a:rPr lang="tr-TR" dirty="0" err="1" smtClean="0"/>
              <a:t>Find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optimal </a:t>
            </a:r>
            <a:r>
              <a:rPr lang="tr-TR" dirty="0" err="1" smtClean="0"/>
              <a:t>solution</a:t>
            </a:r>
            <a:r>
              <a:rPr lang="tr-TR" dirty="0" smtClean="0"/>
              <a:t> (</a:t>
            </a:r>
            <a:r>
              <a:rPr lang="tr-TR" dirty="0" err="1" smtClean="0"/>
              <a:t>Use</a:t>
            </a:r>
            <a:r>
              <a:rPr lang="tr-TR" dirty="0" smtClean="0"/>
              <a:t> </a:t>
            </a:r>
            <a:r>
              <a:rPr lang="tr-TR" dirty="0" err="1" smtClean="0"/>
              <a:t>Northwest</a:t>
            </a:r>
            <a:r>
              <a:rPr lang="tr-TR" dirty="0" smtClean="0"/>
              <a:t> </a:t>
            </a:r>
            <a:r>
              <a:rPr lang="tr-TR" dirty="0" err="1" smtClean="0"/>
              <a:t>Corner</a:t>
            </a:r>
            <a:r>
              <a:rPr lang="tr-TR" dirty="0" smtClean="0"/>
              <a:t> as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initial</a:t>
            </a:r>
            <a:r>
              <a:rPr lang="tr-TR" dirty="0" smtClean="0"/>
              <a:t> </a:t>
            </a:r>
            <a:r>
              <a:rPr lang="tr-TR" dirty="0" err="1" smtClean="0"/>
              <a:t>bfs</a:t>
            </a:r>
            <a:r>
              <a:rPr lang="tr-TR" dirty="0" smtClean="0"/>
              <a:t>)</a:t>
            </a:r>
          </a:p>
          <a:p>
            <a:r>
              <a:rPr lang="tr-TR" dirty="0" smtClean="0"/>
              <a:t>b)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what</a:t>
            </a:r>
            <a:r>
              <a:rPr lang="tr-TR" dirty="0" smtClean="0"/>
              <a:t> </a:t>
            </a:r>
            <a:r>
              <a:rPr lang="tr-TR" dirty="0" err="1" smtClean="0"/>
              <a:t>values</a:t>
            </a:r>
            <a:r>
              <a:rPr lang="tr-TR" dirty="0" smtClean="0"/>
              <a:t> of c12 and c21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current</a:t>
            </a:r>
            <a:r>
              <a:rPr lang="tr-TR" dirty="0" smtClean="0"/>
              <a:t> </a:t>
            </a:r>
            <a:r>
              <a:rPr lang="tr-TR" dirty="0" err="1" smtClean="0"/>
              <a:t>basis</a:t>
            </a:r>
            <a:r>
              <a:rPr lang="tr-TR" dirty="0" smtClean="0"/>
              <a:t> </a:t>
            </a:r>
            <a:r>
              <a:rPr lang="tr-TR" dirty="0" err="1" smtClean="0"/>
              <a:t>remain</a:t>
            </a:r>
            <a:r>
              <a:rPr lang="tr-TR" dirty="0" smtClean="0"/>
              <a:t> optimal?</a:t>
            </a:r>
          </a:p>
          <a:p>
            <a:r>
              <a:rPr lang="tr-TR" dirty="0" smtClean="0"/>
              <a:t>c) </a:t>
            </a:r>
            <a:r>
              <a:rPr lang="tr-TR" dirty="0" err="1" smtClean="0"/>
              <a:t>if</a:t>
            </a:r>
            <a:r>
              <a:rPr lang="tr-TR" dirty="0" smtClean="0"/>
              <a:t> s1 and d1 is </a:t>
            </a:r>
            <a:r>
              <a:rPr lang="tr-TR" dirty="0" err="1" smtClean="0"/>
              <a:t>increased</a:t>
            </a:r>
            <a:r>
              <a:rPr lang="tr-TR" dirty="0" smtClean="0"/>
              <a:t> </a:t>
            </a:r>
            <a:r>
              <a:rPr lang="tr-TR" dirty="0" err="1" smtClean="0"/>
              <a:t>by</a:t>
            </a:r>
            <a:r>
              <a:rPr lang="tr-TR" dirty="0" smtClean="0"/>
              <a:t> 2 </a:t>
            </a:r>
            <a:r>
              <a:rPr lang="tr-TR" dirty="0" err="1" smtClean="0"/>
              <a:t>units</a:t>
            </a:r>
            <a:r>
              <a:rPr lang="tr-TR" dirty="0" smtClean="0"/>
              <a:t> </a:t>
            </a:r>
            <a:r>
              <a:rPr lang="tr-TR" dirty="0" err="1" smtClean="0"/>
              <a:t>what</a:t>
            </a:r>
            <a:r>
              <a:rPr lang="tr-TR" dirty="0" smtClean="0"/>
              <a:t> </a:t>
            </a:r>
            <a:r>
              <a:rPr lang="tr-TR" dirty="0" err="1" smtClean="0"/>
              <a:t>will</a:t>
            </a:r>
            <a:r>
              <a:rPr lang="tr-TR" dirty="0" smtClean="0"/>
              <a:t> be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new</a:t>
            </a:r>
            <a:r>
              <a:rPr lang="tr-TR" dirty="0" smtClean="0"/>
              <a:t> optimal </a:t>
            </a:r>
            <a:r>
              <a:rPr lang="tr-TR" dirty="0" err="1" smtClean="0"/>
              <a:t>solution</a:t>
            </a:r>
            <a:r>
              <a:rPr lang="tr-TR" dirty="0" smtClean="0"/>
              <a:t>?</a:t>
            </a:r>
          </a:p>
          <a:p>
            <a:r>
              <a:rPr lang="tr-TR" dirty="0" smtClean="0"/>
              <a:t>d) </a:t>
            </a:r>
            <a:r>
              <a:rPr lang="tr-TR" dirty="0" err="1" smtClean="0"/>
              <a:t>if</a:t>
            </a:r>
            <a:r>
              <a:rPr lang="tr-TR" dirty="0" smtClean="0"/>
              <a:t> s1 And d3 </a:t>
            </a:r>
            <a:r>
              <a:rPr lang="tr-TR" dirty="0"/>
              <a:t>i</a:t>
            </a:r>
            <a:r>
              <a:rPr lang="tr-TR" dirty="0" smtClean="0"/>
              <a:t>s </a:t>
            </a:r>
            <a:r>
              <a:rPr lang="tr-TR" dirty="0" err="1" smtClean="0"/>
              <a:t>increased</a:t>
            </a:r>
            <a:r>
              <a:rPr lang="tr-TR" dirty="0" smtClean="0"/>
              <a:t> </a:t>
            </a:r>
            <a:r>
              <a:rPr lang="tr-TR" dirty="0" err="1" smtClean="0"/>
              <a:t>by</a:t>
            </a:r>
            <a:r>
              <a:rPr lang="tr-TR" dirty="0" smtClean="0"/>
              <a:t> 1 </a:t>
            </a:r>
            <a:r>
              <a:rPr lang="tr-TR" dirty="0" err="1" smtClean="0"/>
              <a:t>units</a:t>
            </a:r>
            <a:r>
              <a:rPr lang="tr-TR" dirty="0" smtClean="0"/>
              <a:t> </a:t>
            </a:r>
            <a:r>
              <a:rPr lang="tr-TR" dirty="0" err="1" smtClean="0"/>
              <a:t>what</a:t>
            </a:r>
            <a:r>
              <a:rPr lang="tr-TR" dirty="0" smtClean="0"/>
              <a:t> </a:t>
            </a:r>
            <a:r>
              <a:rPr lang="tr-TR" dirty="0" err="1" smtClean="0"/>
              <a:t>will</a:t>
            </a:r>
            <a:r>
              <a:rPr lang="tr-TR" dirty="0" smtClean="0"/>
              <a:t> be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new</a:t>
            </a:r>
            <a:r>
              <a:rPr lang="tr-TR" dirty="0" smtClean="0"/>
              <a:t>  optimal </a:t>
            </a:r>
            <a:r>
              <a:rPr lang="tr-TR" dirty="0" err="1" smtClean="0"/>
              <a:t>solution</a:t>
            </a:r>
            <a:r>
              <a:rPr lang="tr-TR" dirty="0" smtClean="0"/>
              <a:t>)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5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013176"/>
            <a:ext cx="3863142" cy="1700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048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Problems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Machineco</a:t>
            </a:r>
            <a:r>
              <a:rPr lang="en-US" dirty="0"/>
              <a:t> has four machines and four jobs to be completed. </a:t>
            </a:r>
            <a:endParaRPr lang="tr-TR" dirty="0" smtClean="0"/>
          </a:p>
          <a:p>
            <a:r>
              <a:rPr lang="en-US" dirty="0" smtClean="0"/>
              <a:t>Each </a:t>
            </a:r>
            <a:r>
              <a:rPr lang="en-US" dirty="0"/>
              <a:t>machine must be </a:t>
            </a:r>
            <a:r>
              <a:rPr lang="en-US" dirty="0" smtClean="0"/>
              <a:t>assigned</a:t>
            </a:r>
            <a:r>
              <a:rPr lang="tr-TR" dirty="0" smtClean="0"/>
              <a:t> </a:t>
            </a:r>
            <a:r>
              <a:rPr lang="en-US" dirty="0" smtClean="0"/>
              <a:t>to </a:t>
            </a:r>
            <a:r>
              <a:rPr lang="en-US" dirty="0"/>
              <a:t>complete one job. The time required to set up each machine for completing </a:t>
            </a:r>
            <a:r>
              <a:rPr lang="en-US" dirty="0" smtClean="0"/>
              <a:t>each</a:t>
            </a:r>
            <a:r>
              <a:rPr lang="tr-TR" dirty="0" smtClean="0"/>
              <a:t> </a:t>
            </a:r>
            <a:r>
              <a:rPr lang="en-US" dirty="0" smtClean="0"/>
              <a:t>job </a:t>
            </a:r>
            <a:r>
              <a:rPr lang="en-US" dirty="0"/>
              <a:t>is shown in </a:t>
            </a:r>
            <a:r>
              <a:rPr lang="en-US" dirty="0" smtClean="0"/>
              <a:t>Table. </a:t>
            </a:r>
            <a:endParaRPr lang="tr-TR" dirty="0" smtClean="0"/>
          </a:p>
          <a:p>
            <a:r>
              <a:rPr lang="en-US" dirty="0" err="1" smtClean="0"/>
              <a:t>Machineco</a:t>
            </a:r>
            <a:r>
              <a:rPr lang="en-US" dirty="0" smtClean="0"/>
              <a:t> </a:t>
            </a:r>
            <a:r>
              <a:rPr lang="en-US" dirty="0"/>
              <a:t>wants to minimize the total setup time needed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complete </a:t>
            </a:r>
            <a:r>
              <a:rPr lang="en-US" dirty="0"/>
              <a:t>the four jobs. </a:t>
            </a:r>
            <a:endParaRPr lang="tr-TR" dirty="0" smtClean="0"/>
          </a:p>
          <a:p>
            <a:r>
              <a:rPr lang="en-US" dirty="0" smtClean="0"/>
              <a:t>Use </a:t>
            </a:r>
            <a:r>
              <a:rPr lang="en-US" dirty="0"/>
              <a:t>linear programming to solve this problem.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1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7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55348"/>
            <a:ext cx="5695178" cy="291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7062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Ignoring for the moment the </a:t>
            </a:r>
            <a:r>
              <a:rPr lang="en-US" i="1" dirty="0" smtClean="0"/>
              <a:t>xij</a:t>
            </a:r>
            <a:r>
              <a:rPr lang="tr-TR" i="1" dirty="0" smtClean="0"/>
              <a:t>=</a:t>
            </a:r>
            <a:r>
              <a:rPr lang="en-US" i="1" dirty="0" smtClean="0"/>
              <a:t> </a:t>
            </a:r>
            <a:r>
              <a:rPr lang="en-US" dirty="0" smtClean="0"/>
              <a:t>0 </a:t>
            </a:r>
            <a:r>
              <a:rPr lang="en-US" dirty="0"/>
              <a:t>or </a:t>
            </a:r>
            <a:r>
              <a:rPr lang="en-US" i="1" dirty="0"/>
              <a:t>xij </a:t>
            </a:r>
            <a:r>
              <a:rPr lang="tr-TR" i="1" dirty="0" smtClean="0"/>
              <a:t>=</a:t>
            </a:r>
            <a:r>
              <a:rPr lang="en-US" dirty="0" smtClean="0"/>
              <a:t> </a:t>
            </a:r>
            <a:r>
              <a:rPr lang="en-US" dirty="0"/>
              <a:t>1 restrictions, we see that </a:t>
            </a:r>
            <a:r>
              <a:rPr lang="en-US" dirty="0" err="1"/>
              <a:t>Machineco</a:t>
            </a:r>
            <a:r>
              <a:rPr lang="en-US" dirty="0"/>
              <a:t> </a:t>
            </a:r>
            <a:r>
              <a:rPr lang="en-US" dirty="0" smtClean="0"/>
              <a:t>faces</a:t>
            </a:r>
            <a:r>
              <a:rPr lang="tr-TR" dirty="0" smtClean="0"/>
              <a:t> </a:t>
            </a:r>
            <a:r>
              <a:rPr lang="en-US" dirty="0" smtClean="0"/>
              <a:t>a </a:t>
            </a:r>
            <a:r>
              <a:rPr lang="en-US" dirty="0"/>
              <a:t>balanced transportation problem in which each supply point has a supply of 1 and </a:t>
            </a:r>
            <a:r>
              <a:rPr lang="en-US" dirty="0" smtClean="0"/>
              <a:t>each</a:t>
            </a:r>
            <a:r>
              <a:rPr lang="tr-TR" dirty="0" smtClean="0"/>
              <a:t> </a:t>
            </a:r>
            <a:r>
              <a:rPr lang="en-US" dirty="0"/>
              <a:t>demand point has a demand of 1. </a:t>
            </a:r>
            <a:endParaRPr lang="tr-TR" dirty="0" smtClean="0"/>
          </a:p>
          <a:p>
            <a:r>
              <a:rPr lang="en-US" dirty="0" smtClean="0"/>
              <a:t>In </a:t>
            </a:r>
            <a:r>
              <a:rPr lang="en-US" dirty="0"/>
              <a:t>general, an </a:t>
            </a:r>
            <a:r>
              <a:rPr lang="en-US" b="1" dirty="0"/>
              <a:t>assignment problem </a:t>
            </a:r>
            <a:r>
              <a:rPr lang="en-US" dirty="0"/>
              <a:t>is a balanced </a:t>
            </a:r>
            <a:r>
              <a:rPr lang="en-US" dirty="0" smtClean="0"/>
              <a:t>transportation</a:t>
            </a:r>
            <a:r>
              <a:rPr lang="tr-TR" dirty="0" smtClean="0"/>
              <a:t> </a:t>
            </a:r>
            <a:r>
              <a:rPr lang="en-US" dirty="0" smtClean="0"/>
              <a:t>problem </a:t>
            </a:r>
            <a:r>
              <a:rPr lang="en-US" dirty="0"/>
              <a:t>in which all supplies and demands are equal to 1. </a:t>
            </a:r>
            <a:endParaRPr lang="tr-TR" dirty="0" smtClean="0"/>
          </a:p>
          <a:p>
            <a:r>
              <a:rPr lang="en-US" dirty="0" smtClean="0"/>
              <a:t>Thus</a:t>
            </a:r>
            <a:r>
              <a:rPr lang="en-US" dirty="0"/>
              <a:t>, an </a:t>
            </a:r>
            <a:r>
              <a:rPr lang="en-US" dirty="0" smtClean="0"/>
              <a:t>assignment</a:t>
            </a:r>
            <a:r>
              <a:rPr lang="tr-TR" dirty="0" smtClean="0"/>
              <a:t> </a:t>
            </a:r>
            <a:r>
              <a:rPr lang="en-US" dirty="0" smtClean="0"/>
              <a:t>problem </a:t>
            </a:r>
            <a:r>
              <a:rPr lang="en-US" dirty="0"/>
              <a:t>is characterized by knowledge of the cost of assigning each supply point to </a:t>
            </a:r>
            <a:r>
              <a:rPr lang="en-US" dirty="0" smtClean="0"/>
              <a:t>each</a:t>
            </a:r>
            <a:r>
              <a:rPr lang="tr-TR" dirty="0" smtClean="0"/>
              <a:t> </a:t>
            </a:r>
            <a:r>
              <a:rPr lang="en-US" dirty="0" smtClean="0"/>
              <a:t>demand </a:t>
            </a:r>
            <a:r>
              <a:rPr lang="en-US" dirty="0"/>
              <a:t>point.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assignment problem’s matrix of costs is its </a:t>
            </a:r>
            <a:r>
              <a:rPr lang="en-US" b="1" dirty="0"/>
              <a:t>cost matrix</a:t>
            </a:r>
            <a:r>
              <a:rPr lang="en-US" b="1" dirty="0" smtClean="0"/>
              <a:t>.</a:t>
            </a:r>
            <a:endParaRPr lang="tr-TR" b="1" dirty="0" smtClean="0"/>
          </a:p>
          <a:p>
            <a:r>
              <a:rPr lang="en-US" dirty="0"/>
              <a:t>Because the right-hand side of each </a:t>
            </a:r>
            <a:r>
              <a:rPr lang="en-US" dirty="0" smtClean="0"/>
              <a:t>constraint</a:t>
            </a:r>
            <a:r>
              <a:rPr lang="tr-TR" dirty="0" smtClean="0"/>
              <a:t> </a:t>
            </a:r>
            <a:r>
              <a:rPr lang="en-US" dirty="0" smtClean="0"/>
              <a:t>is </a:t>
            </a:r>
            <a:r>
              <a:rPr lang="en-US" dirty="0"/>
              <a:t>equal to 1, each </a:t>
            </a:r>
            <a:r>
              <a:rPr lang="en-US" i="1" dirty="0"/>
              <a:t>xij </a:t>
            </a:r>
            <a:r>
              <a:rPr lang="en-US" dirty="0"/>
              <a:t>must be a nonnegative integer that is no larger than 1, </a:t>
            </a:r>
            <a:r>
              <a:rPr lang="en-US" dirty="0" smtClean="0"/>
              <a:t>so</a:t>
            </a:r>
            <a:r>
              <a:rPr lang="tr-TR" dirty="0" smtClean="0"/>
              <a:t> </a:t>
            </a:r>
            <a:r>
              <a:rPr lang="en-US" dirty="0" smtClean="0"/>
              <a:t>each </a:t>
            </a:r>
            <a:r>
              <a:rPr lang="en-US" i="1" dirty="0"/>
              <a:t>xij </a:t>
            </a:r>
            <a:r>
              <a:rPr lang="en-US" dirty="0"/>
              <a:t>must equal 0 or 1. </a:t>
            </a:r>
            <a:endParaRPr lang="tr-TR" dirty="0" smtClean="0"/>
          </a:p>
          <a:p>
            <a:r>
              <a:rPr lang="en-US" dirty="0" smtClean="0"/>
              <a:t>This </a:t>
            </a:r>
            <a:r>
              <a:rPr lang="en-US" dirty="0"/>
              <a:t>means that we can ignore the restrictions that </a:t>
            </a:r>
            <a:r>
              <a:rPr lang="en-US" i="1" dirty="0"/>
              <a:t>xij </a:t>
            </a:r>
            <a:r>
              <a:rPr lang="en-US" dirty="0"/>
              <a:t> 0 </a:t>
            </a:r>
            <a:r>
              <a:rPr lang="en-US" dirty="0" smtClean="0"/>
              <a:t>or</a:t>
            </a:r>
            <a:r>
              <a:rPr lang="tr-TR" dirty="0" smtClean="0"/>
              <a:t> 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2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9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38" y="1595438"/>
            <a:ext cx="6638925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095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Hungarian</a:t>
            </a:r>
            <a:r>
              <a:rPr lang="tr-TR" dirty="0" smtClean="0"/>
              <a:t> </a:t>
            </a:r>
            <a:r>
              <a:rPr lang="tr-TR" dirty="0" err="1" smtClean="0"/>
              <a:t>Method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Looking back at our initial </a:t>
            </a:r>
            <a:r>
              <a:rPr lang="en-US" dirty="0" err="1"/>
              <a:t>bfs</a:t>
            </a:r>
            <a:r>
              <a:rPr lang="en-US" dirty="0"/>
              <a:t>, we see that it was an optimal solution. </a:t>
            </a:r>
            <a:endParaRPr lang="tr-TR" dirty="0" smtClean="0"/>
          </a:p>
          <a:p>
            <a:r>
              <a:rPr lang="en-US" dirty="0" smtClean="0"/>
              <a:t>We </a:t>
            </a:r>
            <a:r>
              <a:rPr lang="en-US" dirty="0"/>
              <a:t>did not </a:t>
            </a:r>
            <a:r>
              <a:rPr lang="en-US" dirty="0" smtClean="0"/>
              <a:t>know</a:t>
            </a:r>
            <a:r>
              <a:rPr lang="tr-TR" dirty="0" smtClean="0"/>
              <a:t> </a:t>
            </a:r>
            <a:r>
              <a:rPr lang="en-US" dirty="0" smtClean="0"/>
              <a:t>that </a:t>
            </a:r>
            <a:r>
              <a:rPr lang="en-US" dirty="0"/>
              <a:t>it was optimal, however, until performing one iteration of the transportation simplex.</a:t>
            </a:r>
          </a:p>
          <a:p>
            <a:r>
              <a:rPr lang="en-US" dirty="0"/>
              <a:t>This suggests that the high degree of degeneracy in an assignment problem may cause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transportation </a:t>
            </a:r>
            <a:r>
              <a:rPr lang="en-US" dirty="0"/>
              <a:t>simplex to be an inefficient way of solving assignment problems. </a:t>
            </a:r>
            <a:endParaRPr lang="tr-TR" dirty="0" smtClean="0"/>
          </a:p>
          <a:p>
            <a:r>
              <a:rPr lang="en-US" dirty="0" smtClean="0"/>
              <a:t>For this</a:t>
            </a:r>
            <a:r>
              <a:rPr lang="tr-TR" dirty="0" smtClean="0"/>
              <a:t> </a:t>
            </a:r>
            <a:r>
              <a:rPr lang="en-US" dirty="0" smtClean="0"/>
              <a:t>reason </a:t>
            </a:r>
            <a:r>
              <a:rPr lang="en-US" dirty="0"/>
              <a:t>(and the fact that the algorithm is even simpler than the transportation simplex</a:t>
            </a:r>
            <a:r>
              <a:rPr lang="en-US" dirty="0" smtClean="0"/>
              <a:t>),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Hungarian method is usually used to solve assignment (min) problems: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6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1662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Step 1 </a:t>
            </a:r>
            <a:r>
              <a:rPr lang="en-US" dirty="0"/>
              <a:t>Find the minimum element in each row of the </a:t>
            </a:r>
            <a:r>
              <a:rPr lang="en-US" i="1" dirty="0"/>
              <a:t>m </a:t>
            </a:r>
            <a:r>
              <a:rPr lang="tr-TR" i="1" dirty="0" smtClean="0"/>
              <a:t>X</a:t>
            </a:r>
            <a:r>
              <a:rPr lang="en-US" dirty="0" smtClean="0"/>
              <a:t> </a:t>
            </a:r>
            <a:r>
              <a:rPr lang="en-US" i="1" dirty="0"/>
              <a:t>m </a:t>
            </a:r>
            <a:r>
              <a:rPr lang="en-US" dirty="0"/>
              <a:t>cost </a:t>
            </a:r>
            <a:r>
              <a:rPr lang="en-US" dirty="0" smtClean="0"/>
              <a:t>matrix.</a:t>
            </a:r>
            <a:r>
              <a:rPr lang="tr-TR" dirty="0" smtClean="0"/>
              <a:t> </a:t>
            </a:r>
            <a:r>
              <a:rPr lang="en-US" dirty="0" smtClean="0"/>
              <a:t>Construct a</a:t>
            </a:r>
            <a:r>
              <a:rPr lang="tr-TR" dirty="0" smtClean="0"/>
              <a:t> </a:t>
            </a:r>
            <a:r>
              <a:rPr lang="en-US" dirty="0" smtClean="0"/>
              <a:t>new </a:t>
            </a:r>
            <a:r>
              <a:rPr lang="en-US" dirty="0"/>
              <a:t>matrix by subtracting from each cost the minimum cost in its row. For this new </a:t>
            </a:r>
            <a:r>
              <a:rPr lang="en-US" dirty="0" smtClean="0"/>
              <a:t>matrix,</a:t>
            </a:r>
            <a:r>
              <a:rPr lang="tr-TR" dirty="0" smtClean="0"/>
              <a:t> </a:t>
            </a:r>
            <a:r>
              <a:rPr lang="en-US" dirty="0" smtClean="0"/>
              <a:t>find </a:t>
            </a:r>
            <a:r>
              <a:rPr lang="en-US" dirty="0"/>
              <a:t>the minimum cost in each column. Construct a new matrix (called the </a:t>
            </a:r>
            <a:r>
              <a:rPr lang="en-US" dirty="0" smtClean="0"/>
              <a:t>reduced</a:t>
            </a:r>
            <a:r>
              <a:rPr lang="tr-TR" dirty="0" smtClean="0"/>
              <a:t> </a:t>
            </a:r>
            <a:r>
              <a:rPr lang="en-US" dirty="0" smtClean="0"/>
              <a:t>cost </a:t>
            </a:r>
            <a:r>
              <a:rPr lang="en-US" dirty="0"/>
              <a:t>matrix) by subtracting from each cost the minimum cost in its column.</a:t>
            </a:r>
          </a:p>
          <a:p>
            <a:r>
              <a:rPr lang="en-US" b="1" dirty="0"/>
              <a:t>Step 2 </a:t>
            </a:r>
            <a:r>
              <a:rPr lang="en-US" dirty="0"/>
              <a:t>Draw the minimum number of lines (horizontal, vertical, or both) that are </a:t>
            </a:r>
            <a:r>
              <a:rPr lang="en-US" dirty="0" smtClean="0"/>
              <a:t>needed</a:t>
            </a:r>
            <a:r>
              <a:rPr lang="tr-TR" dirty="0" smtClean="0"/>
              <a:t> </a:t>
            </a:r>
            <a:r>
              <a:rPr lang="en-US" dirty="0" smtClean="0"/>
              <a:t>to </a:t>
            </a:r>
            <a:r>
              <a:rPr lang="en-US" dirty="0"/>
              <a:t>cover all the zeros in the reduced cost matrix. If </a:t>
            </a:r>
            <a:r>
              <a:rPr lang="en-US" i="1" dirty="0"/>
              <a:t>m </a:t>
            </a:r>
            <a:r>
              <a:rPr lang="en-US" dirty="0"/>
              <a:t>lines are required, then an </a:t>
            </a:r>
            <a:r>
              <a:rPr lang="en-US" dirty="0" smtClean="0"/>
              <a:t>optimal</a:t>
            </a:r>
            <a:r>
              <a:rPr lang="tr-TR" dirty="0" smtClean="0"/>
              <a:t> </a:t>
            </a:r>
            <a:r>
              <a:rPr lang="en-US" dirty="0" smtClean="0"/>
              <a:t>solution </a:t>
            </a:r>
            <a:r>
              <a:rPr lang="en-US" dirty="0"/>
              <a:t>is available among the covered zeros in the matrix. If fewer than </a:t>
            </a:r>
            <a:r>
              <a:rPr lang="en-US" i="1" dirty="0"/>
              <a:t>m </a:t>
            </a:r>
            <a:r>
              <a:rPr lang="en-US" dirty="0"/>
              <a:t>lines </a:t>
            </a:r>
            <a:r>
              <a:rPr lang="en-US" dirty="0" smtClean="0"/>
              <a:t>are</a:t>
            </a:r>
            <a:r>
              <a:rPr lang="tr-TR" dirty="0" smtClean="0"/>
              <a:t> </a:t>
            </a:r>
            <a:r>
              <a:rPr lang="en-US" dirty="0" smtClean="0"/>
              <a:t>needed</a:t>
            </a:r>
            <a:r>
              <a:rPr lang="en-US" dirty="0"/>
              <a:t>, then proceed to step 3.</a:t>
            </a:r>
          </a:p>
          <a:p>
            <a:r>
              <a:rPr lang="en-US" b="1" dirty="0"/>
              <a:t>Step 3 </a:t>
            </a:r>
            <a:r>
              <a:rPr lang="en-US" dirty="0"/>
              <a:t>Find the smallest nonzero element (call its value </a:t>
            </a:r>
            <a:r>
              <a:rPr lang="en-US" i="1" dirty="0"/>
              <a:t>k</a:t>
            </a:r>
            <a:r>
              <a:rPr lang="en-US" dirty="0"/>
              <a:t>) in the reduced cost </a:t>
            </a:r>
            <a:r>
              <a:rPr lang="en-US" dirty="0" smtClean="0"/>
              <a:t>matrix</a:t>
            </a:r>
            <a:r>
              <a:rPr lang="tr-TR" dirty="0" smtClean="0"/>
              <a:t> </a:t>
            </a:r>
            <a:r>
              <a:rPr lang="en-US" dirty="0" smtClean="0"/>
              <a:t>that </a:t>
            </a:r>
            <a:r>
              <a:rPr lang="en-US" dirty="0"/>
              <a:t>is uncovered by the lines drawn in step 2. Now subtract </a:t>
            </a:r>
            <a:r>
              <a:rPr lang="en-US" i="1" dirty="0"/>
              <a:t>k </a:t>
            </a:r>
            <a:r>
              <a:rPr lang="en-US" dirty="0"/>
              <a:t>from each uncovered </a:t>
            </a:r>
            <a:r>
              <a:rPr lang="en-US" dirty="0" smtClean="0"/>
              <a:t>element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the reduced cost matrix and add </a:t>
            </a:r>
            <a:r>
              <a:rPr lang="en-US" i="1" dirty="0"/>
              <a:t>k </a:t>
            </a:r>
            <a:r>
              <a:rPr lang="en-US" dirty="0"/>
              <a:t>to each element that is covered by two </a:t>
            </a:r>
            <a:r>
              <a:rPr lang="en-US" dirty="0" smtClean="0"/>
              <a:t>lines.</a:t>
            </a:r>
            <a:r>
              <a:rPr lang="tr-TR" dirty="0" smtClean="0"/>
              <a:t> </a:t>
            </a:r>
            <a:r>
              <a:rPr lang="en-US" dirty="0" smtClean="0"/>
              <a:t>Return </a:t>
            </a:r>
            <a:r>
              <a:rPr lang="en-US" dirty="0"/>
              <a:t>to step 2.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94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Tom Cruise, Freddy </a:t>
            </a:r>
            <a:r>
              <a:rPr lang="en-US" dirty="0" err="1"/>
              <a:t>Prinze</a:t>
            </a:r>
            <a:r>
              <a:rPr lang="en-US" dirty="0"/>
              <a:t> Jr., Harrison Ford, and </a:t>
            </a:r>
            <a:r>
              <a:rPr lang="en-US" dirty="0" smtClean="0"/>
              <a:t>Matt</a:t>
            </a:r>
            <a:r>
              <a:rPr lang="tr-TR" dirty="0" smtClean="0"/>
              <a:t> </a:t>
            </a:r>
            <a:r>
              <a:rPr lang="en-US" dirty="0" smtClean="0"/>
              <a:t>LeBlanc </a:t>
            </a:r>
            <a:r>
              <a:rPr lang="en-US" dirty="0"/>
              <a:t>are marooned on a desert island with </a:t>
            </a:r>
            <a:r>
              <a:rPr lang="en-US" dirty="0" smtClean="0"/>
              <a:t>Jennifer</a:t>
            </a:r>
            <a:r>
              <a:rPr lang="tr-TR" dirty="0" smtClean="0"/>
              <a:t> </a:t>
            </a:r>
            <a:r>
              <a:rPr lang="en-US" dirty="0" smtClean="0"/>
              <a:t>Aniston</a:t>
            </a:r>
            <a:r>
              <a:rPr lang="en-US" dirty="0"/>
              <a:t>, </a:t>
            </a:r>
            <a:r>
              <a:rPr lang="en-US" dirty="0" err="1"/>
              <a:t>Courteney</a:t>
            </a:r>
            <a:r>
              <a:rPr lang="en-US" dirty="0"/>
              <a:t> Cox, </a:t>
            </a:r>
            <a:r>
              <a:rPr lang="en-US" dirty="0" err="1" smtClean="0"/>
              <a:t>Gwynet</a:t>
            </a:r>
            <a:r>
              <a:rPr lang="tr-TR" dirty="0" smtClean="0"/>
              <a:t> </a:t>
            </a:r>
            <a:r>
              <a:rPr lang="en-US" dirty="0" err="1" smtClean="0"/>
              <a:t>Paltrow</a:t>
            </a:r>
            <a:r>
              <a:rPr lang="en-US" dirty="0"/>
              <a:t>, and </a:t>
            </a:r>
            <a:r>
              <a:rPr lang="en-US" dirty="0" smtClean="0"/>
              <a:t>Julia</a:t>
            </a:r>
            <a:r>
              <a:rPr lang="tr-TR" dirty="0" smtClean="0"/>
              <a:t> </a:t>
            </a:r>
            <a:r>
              <a:rPr lang="en-US" dirty="0" smtClean="0"/>
              <a:t>Roberts</a:t>
            </a:r>
            <a:r>
              <a:rPr lang="en-US" dirty="0"/>
              <a:t>. The “compatibility measures” in Table </a:t>
            </a:r>
            <a:r>
              <a:rPr lang="en-US" dirty="0" smtClean="0"/>
              <a:t>indicate</a:t>
            </a:r>
            <a:r>
              <a:rPr lang="tr-TR" dirty="0" smtClean="0"/>
              <a:t> </a:t>
            </a:r>
            <a:r>
              <a:rPr lang="en-US" dirty="0" smtClean="0"/>
              <a:t>how </a:t>
            </a:r>
            <a:r>
              <a:rPr lang="en-US" dirty="0"/>
              <a:t>much happiness each couple would experience if </a:t>
            </a:r>
            <a:r>
              <a:rPr lang="en-US" dirty="0" smtClean="0"/>
              <a:t>they</a:t>
            </a:r>
            <a:r>
              <a:rPr lang="tr-TR" dirty="0" smtClean="0"/>
              <a:t> </a:t>
            </a:r>
            <a:r>
              <a:rPr lang="en-US" dirty="0" smtClean="0"/>
              <a:t>spent </a:t>
            </a:r>
            <a:r>
              <a:rPr lang="en-US" dirty="0"/>
              <a:t>all their time together. The happiness earned by </a:t>
            </a:r>
            <a:r>
              <a:rPr lang="en-US" dirty="0" smtClean="0"/>
              <a:t>a</a:t>
            </a:r>
            <a:r>
              <a:rPr lang="tr-TR" dirty="0" smtClean="0"/>
              <a:t> </a:t>
            </a:r>
            <a:r>
              <a:rPr lang="en-US" dirty="0" smtClean="0"/>
              <a:t>couple </a:t>
            </a:r>
            <a:r>
              <a:rPr lang="en-US" dirty="0"/>
              <a:t>is proportional to the fraction of time they </a:t>
            </a:r>
            <a:r>
              <a:rPr lang="en-US" dirty="0" smtClean="0"/>
              <a:t>spend</a:t>
            </a:r>
            <a:r>
              <a:rPr lang="tr-TR" dirty="0" smtClean="0"/>
              <a:t> </a:t>
            </a:r>
            <a:r>
              <a:rPr lang="en-US" dirty="0" smtClean="0"/>
              <a:t>together</a:t>
            </a:r>
            <a:r>
              <a:rPr lang="en-US" dirty="0"/>
              <a:t>. For example, if Freddie and Gwyneth spend </a:t>
            </a:r>
            <a:r>
              <a:rPr lang="en-US" dirty="0" smtClean="0"/>
              <a:t>half</a:t>
            </a:r>
            <a:r>
              <a:rPr lang="tr-TR" dirty="0" smtClean="0"/>
              <a:t> </a:t>
            </a:r>
            <a:r>
              <a:rPr lang="en-US" dirty="0" smtClean="0"/>
              <a:t>their </a:t>
            </a:r>
            <a:r>
              <a:rPr lang="en-US" dirty="0"/>
              <a:t>time together, they earn happiness of </a:t>
            </a:r>
            <a:r>
              <a:rPr lang="tr-TR" dirty="0" smtClean="0"/>
              <a:t> </a:t>
            </a:r>
            <a:r>
              <a:rPr lang="en-US" dirty="0" smtClean="0"/>
              <a:t>½</a:t>
            </a:r>
            <a:r>
              <a:rPr lang="tr-TR" dirty="0" smtClean="0"/>
              <a:t>*(9)=4,5</a:t>
            </a:r>
            <a:endParaRPr lang="en-US" dirty="0"/>
          </a:p>
          <a:p>
            <a:r>
              <a:rPr lang="en-US" b="1" dirty="0"/>
              <a:t>a </a:t>
            </a:r>
            <a:r>
              <a:rPr lang="en-US" dirty="0"/>
              <a:t>Let </a:t>
            </a:r>
            <a:r>
              <a:rPr lang="en-US" i="1" dirty="0"/>
              <a:t>xij </a:t>
            </a:r>
            <a:r>
              <a:rPr lang="en-US" dirty="0"/>
              <a:t>be the fraction of time that the </a:t>
            </a:r>
            <a:r>
              <a:rPr lang="en-US" i="1" dirty="0" err="1"/>
              <a:t>i</a:t>
            </a:r>
            <a:r>
              <a:rPr lang="en-US" dirty="0" err="1"/>
              <a:t>th</a:t>
            </a:r>
            <a:r>
              <a:rPr lang="en-US" dirty="0"/>
              <a:t> man </a:t>
            </a:r>
            <a:r>
              <a:rPr lang="en-US" dirty="0" smtClean="0"/>
              <a:t>spends</a:t>
            </a:r>
            <a:r>
              <a:rPr lang="tr-TR" dirty="0" smtClean="0"/>
              <a:t> </a:t>
            </a:r>
            <a:r>
              <a:rPr lang="en-US" dirty="0" smtClean="0"/>
              <a:t>with </a:t>
            </a:r>
            <a:r>
              <a:rPr lang="en-US" dirty="0"/>
              <a:t>the </a:t>
            </a:r>
            <a:r>
              <a:rPr lang="en-US" i="1" dirty="0" err="1"/>
              <a:t>j</a:t>
            </a:r>
            <a:r>
              <a:rPr lang="en-US" dirty="0" err="1"/>
              <a:t>th</a:t>
            </a:r>
            <a:r>
              <a:rPr lang="en-US" dirty="0"/>
              <a:t> woman. The goal of the eight people is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maximize </a:t>
            </a:r>
            <a:r>
              <a:rPr lang="en-US" dirty="0"/>
              <a:t>the total happiness of the people on the </a:t>
            </a:r>
            <a:r>
              <a:rPr lang="en-US" dirty="0" smtClean="0"/>
              <a:t>island.</a:t>
            </a:r>
            <a:r>
              <a:rPr lang="tr-TR" dirty="0" smtClean="0"/>
              <a:t> </a:t>
            </a:r>
            <a:r>
              <a:rPr lang="en-US" dirty="0" smtClean="0"/>
              <a:t>Formulate </a:t>
            </a:r>
            <a:r>
              <a:rPr lang="en-US" dirty="0"/>
              <a:t>an LP whose optimal solution will </a:t>
            </a:r>
            <a:r>
              <a:rPr lang="en-US" dirty="0" smtClean="0"/>
              <a:t>yield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optimal values of the </a:t>
            </a:r>
            <a:r>
              <a:rPr lang="en-US" i="1" dirty="0" err="1"/>
              <a:t>xij</a:t>
            </a:r>
            <a:r>
              <a:rPr lang="en-US" dirty="0" err="1"/>
              <a:t>’s</a:t>
            </a:r>
            <a:r>
              <a:rPr lang="en-US" dirty="0"/>
              <a:t>.</a:t>
            </a:r>
          </a:p>
          <a:p>
            <a:r>
              <a:rPr lang="en-US" b="1" dirty="0"/>
              <a:t>b </a:t>
            </a:r>
            <a:r>
              <a:rPr lang="en-US" dirty="0"/>
              <a:t>Explain why the optimal solution in part (a) </a:t>
            </a:r>
            <a:r>
              <a:rPr lang="en-US" dirty="0" smtClean="0"/>
              <a:t>will</a:t>
            </a:r>
            <a:r>
              <a:rPr lang="tr-TR" dirty="0" smtClean="0"/>
              <a:t> </a:t>
            </a:r>
            <a:r>
              <a:rPr lang="en-US" dirty="0" smtClean="0"/>
              <a:t>have </a:t>
            </a:r>
            <a:r>
              <a:rPr lang="en-US" dirty="0"/>
              <a:t>four </a:t>
            </a:r>
            <a:r>
              <a:rPr lang="en-US" i="1" dirty="0"/>
              <a:t>xij </a:t>
            </a:r>
            <a:r>
              <a:rPr lang="tr-TR" i="1" dirty="0" smtClean="0"/>
              <a:t>=</a:t>
            </a:r>
            <a:r>
              <a:rPr lang="en-US" dirty="0" smtClean="0"/>
              <a:t> </a:t>
            </a:r>
            <a:r>
              <a:rPr lang="en-US" dirty="0"/>
              <a:t>1 and twelve </a:t>
            </a:r>
            <a:r>
              <a:rPr lang="en-US" i="1" dirty="0"/>
              <a:t>xij </a:t>
            </a:r>
            <a:r>
              <a:rPr lang="tr-TR" i="1" dirty="0" smtClean="0"/>
              <a:t>=</a:t>
            </a:r>
            <a:r>
              <a:rPr lang="en-US" dirty="0" smtClean="0"/>
              <a:t> </a:t>
            </a:r>
            <a:r>
              <a:rPr lang="en-US" dirty="0"/>
              <a:t>0. The optimal </a:t>
            </a:r>
            <a:r>
              <a:rPr lang="en-US" dirty="0" smtClean="0"/>
              <a:t>solution</a:t>
            </a:r>
            <a:r>
              <a:rPr lang="tr-TR" dirty="0" smtClean="0"/>
              <a:t> </a:t>
            </a:r>
            <a:r>
              <a:rPr lang="en-US" dirty="0" smtClean="0"/>
              <a:t>requires </a:t>
            </a:r>
            <a:r>
              <a:rPr lang="en-US" dirty="0"/>
              <a:t>that each person spend all his or her </a:t>
            </a:r>
            <a:r>
              <a:rPr lang="en-US" dirty="0" smtClean="0"/>
              <a:t>time</a:t>
            </a:r>
            <a:r>
              <a:rPr lang="tr-TR" dirty="0" smtClean="0"/>
              <a:t> </a:t>
            </a:r>
            <a:r>
              <a:rPr lang="en-US" dirty="0" smtClean="0"/>
              <a:t>with </a:t>
            </a:r>
            <a:r>
              <a:rPr lang="en-US" dirty="0"/>
              <a:t>one person of the opposite sex, so this result is </a:t>
            </a:r>
            <a:r>
              <a:rPr lang="en-US" dirty="0" smtClean="0"/>
              <a:t>often</a:t>
            </a:r>
            <a:r>
              <a:rPr lang="tr-TR" dirty="0" smtClean="0"/>
              <a:t> </a:t>
            </a:r>
            <a:r>
              <a:rPr lang="en-US" dirty="0" smtClean="0"/>
              <a:t>referred </a:t>
            </a:r>
            <a:r>
              <a:rPr lang="en-US" dirty="0"/>
              <a:t>to as the Marriage Theorem.</a:t>
            </a:r>
          </a:p>
          <a:p>
            <a:r>
              <a:rPr lang="en-US" b="1" dirty="0"/>
              <a:t>c </a:t>
            </a:r>
            <a:r>
              <a:rPr lang="en-US" dirty="0"/>
              <a:t>Determine the marriage partner for each person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5157192"/>
            <a:ext cx="2314575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712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Transshipment</a:t>
            </a:r>
            <a:r>
              <a:rPr lang="tr-TR" dirty="0" smtClean="0"/>
              <a:t> </a:t>
            </a:r>
            <a:r>
              <a:rPr lang="tr-TR" dirty="0" err="1" smtClean="0"/>
              <a:t>Problems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transportation problem allows only shipments that go directly from a supply point to </a:t>
            </a:r>
            <a:r>
              <a:rPr lang="en-US" dirty="0" smtClean="0"/>
              <a:t>a</a:t>
            </a:r>
            <a:r>
              <a:rPr lang="tr-TR" dirty="0" smtClean="0"/>
              <a:t> </a:t>
            </a:r>
            <a:r>
              <a:rPr lang="en-US" dirty="0" smtClean="0"/>
              <a:t>demand </a:t>
            </a:r>
            <a:r>
              <a:rPr lang="en-US" dirty="0"/>
              <a:t>point. </a:t>
            </a:r>
            <a:endParaRPr lang="tr-TR" dirty="0" smtClean="0"/>
          </a:p>
          <a:p>
            <a:r>
              <a:rPr lang="en-US" dirty="0" smtClean="0"/>
              <a:t>In </a:t>
            </a:r>
            <a:r>
              <a:rPr lang="en-US" dirty="0"/>
              <a:t>many situations, shipments are allowed between supply points or </a:t>
            </a:r>
            <a:r>
              <a:rPr lang="en-US" dirty="0" smtClean="0"/>
              <a:t>between</a:t>
            </a:r>
            <a:r>
              <a:rPr lang="tr-TR" dirty="0" smtClean="0"/>
              <a:t> </a:t>
            </a:r>
            <a:r>
              <a:rPr lang="en-US" dirty="0" smtClean="0"/>
              <a:t>demand points</a:t>
            </a:r>
            <a:r>
              <a:rPr lang="tr-TR" dirty="0" smtClean="0"/>
              <a:t>. </a:t>
            </a:r>
          </a:p>
          <a:p>
            <a:r>
              <a:rPr lang="tr-TR" dirty="0" err="1" smtClean="0"/>
              <a:t>These</a:t>
            </a:r>
            <a:r>
              <a:rPr lang="tr-TR" dirty="0" smtClean="0"/>
              <a:t> </a:t>
            </a:r>
            <a:r>
              <a:rPr lang="tr-TR" dirty="0" err="1" smtClean="0"/>
              <a:t>points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en-US" dirty="0" smtClean="0"/>
              <a:t> called </a:t>
            </a:r>
            <a:r>
              <a:rPr lang="en-US" i="1" dirty="0"/>
              <a:t>transshipment </a:t>
            </a:r>
            <a:r>
              <a:rPr lang="en-US" i="1" dirty="0" smtClean="0"/>
              <a:t>points</a:t>
            </a:r>
            <a:endParaRPr lang="en-US" dirty="0"/>
          </a:p>
          <a:p>
            <a:r>
              <a:rPr lang="en-US" dirty="0" smtClean="0"/>
              <a:t>Shipping </a:t>
            </a:r>
            <a:r>
              <a:rPr lang="en-US" dirty="0"/>
              <a:t>problems with any or all of </a:t>
            </a:r>
            <a:r>
              <a:rPr lang="en-US" dirty="0" err="1" smtClean="0"/>
              <a:t>thes</a:t>
            </a:r>
            <a:r>
              <a:rPr lang="tr-TR" smtClean="0"/>
              <a:t>e </a:t>
            </a:r>
            <a:r>
              <a:rPr lang="en-US" dirty="0" smtClean="0"/>
              <a:t>characteristics </a:t>
            </a:r>
            <a:r>
              <a:rPr lang="en-US" dirty="0"/>
              <a:t>are </a:t>
            </a:r>
            <a:r>
              <a:rPr lang="en-US" dirty="0" smtClean="0"/>
              <a:t>transshipment</a:t>
            </a:r>
            <a:r>
              <a:rPr lang="tr-TR" dirty="0" smtClean="0"/>
              <a:t> </a:t>
            </a:r>
            <a:r>
              <a:rPr lang="en-US" dirty="0" smtClean="0"/>
              <a:t>problems.</a:t>
            </a:r>
            <a:endParaRPr lang="tr-TR" dirty="0" smtClean="0"/>
          </a:p>
          <a:p>
            <a:r>
              <a:rPr lang="en-US" dirty="0" smtClean="0"/>
              <a:t>Fortunately</a:t>
            </a:r>
            <a:r>
              <a:rPr lang="en-US" dirty="0"/>
              <a:t>, the optimal solution to a transshipment problem can be found </a:t>
            </a:r>
            <a:r>
              <a:rPr lang="en-US" dirty="0" smtClean="0"/>
              <a:t>by</a:t>
            </a:r>
            <a:r>
              <a:rPr lang="tr-TR" dirty="0" smtClean="0"/>
              <a:t> </a:t>
            </a:r>
            <a:r>
              <a:rPr lang="en-US" dirty="0" smtClean="0"/>
              <a:t>solving </a:t>
            </a:r>
            <a:r>
              <a:rPr lang="en-US" dirty="0"/>
              <a:t>a transportation problem.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41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dirty="0" smtClean="0"/>
              <a:t>W</a:t>
            </a:r>
            <a:r>
              <a:rPr lang="en-US" dirty="0" smtClean="0"/>
              <a:t>e </a:t>
            </a:r>
            <a:r>
              <a:rPr lang="en-US" dirty="0"/>
              <a:t>define a </a:t>
            </a:r>
            <a:r>
              <a:rPr lang="en-US" b="1" dirty="0"/>
              <a:t>supply point </a:t>
            </a:r>
            <a:r>
              <a:rPr lang="en-US" dirty="0"/>
              <a:t>to be a point that can send goods to </a:t>
            </a:r>
            <a:r>
              <a:rPr lang="en-US" dirty="0" smtClean="0"/>
              <a:t>another</a:t>
            </a:r>
            <a:r>
              <a:rPr lang="tr-TR" dirty="0" smtClean="0"/>
              <a:t> </a:t>
            </a:r>
            <a:r>
              <a:rPr lang="en-US" dirty="0" smtClean="0"/>
              <a:t>point </a:t>
            </a:r>
            <a:r>
              <a:rPr lang="en-US" dirty="0"/>
              <a:t>but cannot receive goods from any other point. </a:t>
            </a:r>
            <a:endParaRPr lang="tr-TR" dirty="0" smtClean="0"/>
          </a:p>
          <a:p>
            <a:r>
              <a:rPr lang="en-US" dirty="0" smtClean="0"/>
              <a:t>Similarly</a:t>
            </a:r>
            <a:r>
              <a:rPr lang="en-US" dirty="0"/>
              <a:t>, a </a:t>
            </a:r>
            <a:r>
              <a:rPr lang="en-US" b="1" dirty="0"/>
              <a:t>demand point </a:t>
            </a:r>
            <a:r>
              <a:rPr lang="en-US" dirty="0"/>
              <a:t>is a </a:t>
            </a:r>
            <a:r>
              <a:rPr lang="en-US" dirty="0" smtClean="0"/>
              <a:t>point</a:t>
            </a:r>
            <a:r>
              <a:rPr lang="tr-TR" dirty="0" smtClean="0"/>
              <a:t> </a:t>
            </a:r>
            <a:r>
              <a:rPr lang="en-US" dirty="0" smtClean="0"/>
              <a:t>that </a:t>
            </a:r>
            <a:r>
              <a:rPr lang="en-US" dirty="0"/>
              <a:t>can receive goods from other points but cannot send goods to any other point. </a:t>
            </a:r>
            <a:endParaRPr lang="tr-TR" dirty="0" smtClean="0"/>
          </a:p>
          <a:p>
            <a:r>
              <a:rPr lang="en-US" dirty="0" smtClean="0"/>
              <a:t>A</a:t>
            </a:r>
            <a:r>
              <a:rPr lang="tr-TR" dirty="0"/>
              <a:t> </a:t>
            </a:r>
            <a:r>
              <a:rPr lang="en-US" b="1" dirty="0" smtClean="0"/>
              <a:t>transshipment </a:t>
            </a:r>
            <a:r>
              <a:rPr lang="en-US" b="1" dirty="0"/>
              <a:t>point </a:t>
            </a:r>
            <a:r>
              <a:rPr lang="en-US" dirty="0"/>
              <a:t>is a point that can both receive goods from other points and </a:t>
            </a:r>
            <a:r>
              <a:rPr lang="en-US" dirty="0" smtClean="0"/>
              <a:t>send</a:t>
            </a:r>
            <a:r>
              <a:rPr lang="tr-TR" dirty="0" smtClean="0"/>
              <a:t> </a:t>
            </a:r>
            <a:r>
              <a:rPr lang="en-US" dirty="0" smtClean="0"/>
              <a:t>goods </a:t>
            </a:r>
            <a:r>
              <a:rPr lang="en-US" dirty="0"/>
              <a:t>to other points.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following example illustrates these definitions (“—” </a:t>
            </a:r>
            <a:r>
              <a:rPr lang="en-US" dirty="0" smtClean="0"/>
              <a:t>indicates</a:t>
            </a:r>
            <a:r>
              <a:rPr lang="tr-TR" dirty="0" smtClean="0"/>
              <a:t> </a:t>
            </a:r>
            <a:r>
              <a:rPr lang="en-US" dirty="0" smtClean="0"/>
              <a:t>that </a:t>
            </a:r>
            <a:r>
              <a:rPr lang="en-US" dirty="0"/>
              <a:t>a shipment is impossible).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7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Widgetco</a:t>
            </a:r>
            <a:r>
              <a:rPr lang="en-US" dirty="0"/>
              <a:t> manufactures widgets at two factories, one in Memphis and one in Denver. </a:t>
            </a:r>
            <a:endParaRPr lang="tr-TR" dirty="0" smtClean="0"/>
          </a:p>
          <a:p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Memphis </a:t>
            </a:r>
            <a:r>
              <a:rPr lang="en-US" dirty="0"/>
              <a:t>factory can produce as many as 150 widgets per day, and the Denver </a:t>
            </a:r>
            <a:r>
              <a:rPr lang="en-US" dirty="0" smtClean="0"/>
              <a:t>factory</a:t>
            </a:r>
            <a:r>
              <a:rPr lang="tr-TR" dirty="0" smtClean="0"/>
              <a:t> </a:t>
            </a:r>
            <a:r>
              <a:rPr lang="en-US" dirty="0" smtClean="0"/>
              <a:t>can </a:t>
            </a:r>
            <a:r>
              <a:rPr lang="en-US" dirty="0"/>
              <a:t>produce as many as 200 widgets per day. </a:t>
            </a:r>
            <a:endParaRPr lang="tr-TR" dirty="0" smtClean="0"/>
          </a:p>
          <a:p>
            <a:r>
              <a:rPr lang="en-US" dirty="0" smtClean="0"/>
              <a:t>Widgets </a:t>
            </a:r>
            <a:r>
              <a:rPr lang="en-US" dirty="0"/>
              <a:t>are shipped by air to customers </a:t>
            </a:r>
            <a:r>
              <a:rPr lang="en-US" dirty="0" smtClean="0"/>
              <a:t>in</a:t>
            </a:r>
            <a:r>
              <a:rPr lang="tr-TR" dirty="0" smtClean="0"/>
              <a:t> </a:t>
            </a:r>
            <a:r>
              <a:rPr lang="en-US" dirty="0" smtClean="0"/>
              <a:t>Los </a:t>
            </a:r>
            <a:r>
              <a:rPr lang="en-US" dirty="0"/>
              <a:t>Angeles and Boston. The customers in each city require 130 widgets per day. </a:t>
            </a:r>
            <a:endParaRPr lang="tr-TR" dirty="0" smtClean="0"/>
          </a:p>
          <a:p>
            <a:r>
              <a:rPr lang="en-US" dirty="0" smtClean="0"/>
              <a:t>Because</a:t>
            </a:r>
            <a:r>
              <a:rPr lang="tr-TR" dirty="0"/>
              <a:t> </a:t>
            </a:r>
            <a:r>
              <a:rPr lang="en-US" dirty="0" smtClean="0"/>
              <a:t>of </a:t>
            </a:r>
            <a:r>
              <a:rPr lang="en-US" dirty="0"/>
              <a:t>the deregulation of airfares, </a:t>
            </a:r>
            <a:r>
              <a:rPr lang="en-US" dirty="0" err="1"/>
              <a:t>Widgetco</a:t>
            </a:r>
            <a:r>
              <a:rPr lang="en-US" dirty="0"/>
              <a:t> believes that it may be cheaper to first fly </a:t>
            </a:r>
            <a:r>
              <a:rPr lang="en-US" dirty="0" smtClean="0"/>
              <a:t>some</a:t>
            </a:r>
            <a:r>
              <a:rPr lang="tr-TR" dirty="0" smtClean="0"/>
              <a:t> </a:t>
            </a:r>
            <a:r>
              <a:rPr lang="en-US" dirty="0" smtClean="0"/>
              <a:t>widgets </a:t>
            </a:r>
            <a:r>
              <a:rPr lang="en-US" dirty="0"/>
              <a:t>to New York or Chicago and then fly them to their final destinations. </a:t>
            </a:r>
            <a:endParaRPr lang="tr-TR" dirty="0" smtClean="0"/>
          </a:p>
          <a:p>
            <a:r>
              <a:rPr lang="en-US" dirty="0" smtClean="0"/>
              <a:t>The costs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flying a widget are shown in </a:t>
            </a:r>
            <a:r>
              <a:rPr lang="en-US" dirty="0" smtClean="0"/>
              <a:t>Table. </a:t>
            </a:r>
            <a:endParaRPr lang="tr-TR" dirty="0" smtClean="0"/>
          </a:p>
          <a:p>
            <a:r>
              <a:rPr lang="en-US" dirty="0" err="1" smtClean="0"/>
              <a:t>Widgetco</a:t>
            </a:r>
            <a:r>
              <a:rPr lang="en-US" dirty="0" smtClean="0"/>
              <a:t> </a:t>
            </a:r>
            <a:r>
              <a:rPr lang="en-US" dirty="0"/>
              <a:t>wants to minimize the total cost </a:t>
            </a:r>
            <a:r>
              <a:rPr lang="en-US" dirty="0" smtClean="0"/>
              <a:t>of</a:t>
            </a:r>
            <a:r>
              <a:rPr lang="tr-TR" dirty="0" smtClean="0"/>
              <a:t> </a:t>
            </a:r>
            <a:r>
              <a:rPr lang="en-US" dirty="0" smtClean="0"/>
              <a:t>shipping </a:t>
            </a:r>
            <a:r>
              <a:rPr lang="en-US" dirty="0"/>
              <a:t>the required widgets to its customers.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92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451" y="2053977"/>
            <a:ext cx="5620829" cy="238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2366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r>
              <a:rPr lang="tr-TR" dirty="0" err="1" smtClean="0"/>
              <a:t>Demand</a:t>
            </a:r>
            <a:r>
              <a:rPr lang="tr-TR" dirty="0" smtClean="0"/>
              <a:t> </a:t>
            </a:r>
            <a:r>
              <a:rPr lang="tr-TR" dirty="0" err="1" smtClean="0"/>
              <a:t>points</a:t>
            </a:r>
            <a:r>
              <a:rPr lang="tr-TR" dirty="0" smtClean="0"/>
              <a:t>: </a:t>
            </a:r>
            <a:r>
              <a:rPr lang="tr-TR" dirty="0" err="1" smtClean="0"/>
              <a:t>Memphis</a:t>
            </a:r>
            <a:r>
              <a:rPr lang="tr-TR" dirty="0" smtClean="0"/>
              <a:t>, Denver</a:t>
            </a:r>
          </a:p>
          <a:p>
            <a:r>
              <a:rPr lang="tr-TR" dirty="0" err="1" smtClean="0"/>
              <a:t>Supply</a:t>
            </a:r>
            <a:r>
              <a:rPr lang="tr-TR" dirty="0" smtClean="0"/>
              <a:t> </a:t>
            </a:r>
            <a:r>
              <a:rPr lang="tr-TR" dirty="0" err="1" smtClean="0"/>
              <a:t>Points:Los</a:t>
            </a:r>
            <a:r>
              <a:rPr lang="tr-TR" dirty="0" smtClean="0"/>
              <a:t> </a:t>
            </a:r>
            <a:r>
              <a:rPr lang="tr-TR" dirty="0" err="1" smtClean="0"/>
              <a:t>Angelos</a:t>
            </a:r>
            <a:r>
              <a:rPr lang="tr-TR" dirty="0" smtClean="0"/>
              <a:t>, Boston</a:t>
            </a:r>
          </a:p>
          <a:p>
            <a:r>
              <a:rPr lang="tr-TR" dirty="0" err="1" smtClean="0"/>
              <a:t>Transhipment</a:t>
            </a:r>
            <a:r>
              <a:rPr lang="tr-TR" dirty="0" smtClean="0"/>
              <a:t> </a:t>
            </a:r>
            <a:r>
              <a:rPr lang="tr-TR" dirty="0" err="1" smtClean="0"/>
              <a:t>Points</a:t>
            </a:r>
            <a:r>
              <a:rPr lang="tr-TR" dirty="0" smtClean="0"/>
              <a:t>: New York, Chicago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688" y="1215460"/>
            <a:ext cx="4682480" cy="2633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3966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 now describe how the optimal solution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transshipment </a:t>
            </a:r>
            <a:r>
              <a:rPr lang="en-US" dirty="0"/>
              <a:t>problem can be </a:t>
            </a:r>
            <a:r>
              <a:rPr lang="en-US" dirty="0" smtClean="0"/>
              <a:t>found</a:t>
            </a:r>
            <a:r>
              <a:rPr lang="tr-TR" dirty="0" smtClean="0"/>
              <a:t> </a:t>
            </a:r>
            <a:r>
              <a:rPr lang="en-US" dirty="0" smtClean="0"/>
              <a:t>by </a:t>
            </a:r>
            <a:r>
              <a:rPr lang="en-US" dirty="0"/>
              <a:t>solving a transportation problem. </a:t>
            </a:r>
            <a:endParaRPr lang="tr-TR" dirty="0" smtClean="0"/>
          </a:p>
          <a:p>
            <a:r>
              <a:rPr lang="en-US" dirty="0" smtClean="0"/>
              <a:t>Given </a:t>
            </a:r>
            <a:r>
              <a:rPr lang="en-US" dirty="0"/>
              <a:t>a transshipment problem, </a:t>
            </a:r>
            <a:r>
              <a:rPr lang="en-US" dirty="0" smtClean="0"/>
              <a:t>create </a:t>
            </a:r>
            <a:r>
              <a:rPr lang="en-US" dirty="0"/>
              <a:t>a </a:t>
            </a:r>
            <a:r>
              <a:rPr lang="en-US" dirty="0" smtClean="0"/>
              <a:t>balanced</a:t>
            </a:r>
            <a:r>
              <a:rPr lang="tr-TR" dirty="0" smtClean="0"/>
              <a:t> </a:t>
            </a:r>
            <a:r>
              <a:rPr lang="en-US" dirty="0" smtClean="0"/>
              <a:t>transportation </a:t>
            </a:r>
            <a:r>
              <a:rPr lang="en-US" dirty="0"/>
              <a:t>problem by the following procedure (assume that total supply exceeds </a:t>
            </a:r>
            <a:r>
              <a:rPr lang="en-US" dirty="0" smtClean="0"/>
              <a:t>total</a:t>
            </a:r>
            <a:r>
              <a:rPr lang="tr-TR" dirty="0" smtClean="0"/>
              <a:t> </a:t>
            </a:r>
            <a:r>
              <a:rPr lang="en-US" dirty="0" smtClean="0"/>
              <a:t>demand</a:t>
            </a:r>
            <a:r>
              <a:rPr lang="en-US" dirty="0"/>
              <a:t>):</a:t>
            </a:r>
          </a:p>
          <a:p>
            <a:r>
              <a:rPr lang="en-US" b="1" dirty="0"/>
              <a:t>Step 1 </a:t>
            </a:r>
            <a:r>
              <a:rPr lang="en-US" dirty="0"/>
              <a:t>If necessary, add a dummy demand point (with a supply of 0 and a demand </a:t>
            </a:r>
            <a:r>
              <a:rPr lang="en-US" dirty="0" smtClean="0"/>
              <a:t>equal</a:t>
            </a:r>
            <a:r>
              <a:rPr lang="tr-TR" dirty="0" smtClean="0"/>
              <a:t> </a:t>
            </a:r>
            <a:r>
              <a:rPr lang="en-US" dirty="0" smtClean="0"/>
              <a:t>to </a:t>
            </a:r>
            <a:r>
              <a:rPr lang="en-US" dirty="0"/>
              <a:t>the problem’s excess supply) to balance the problem. Shipments to the dummy and </a:t>
            </a:r>
            <a:r>
              <a:rPr lang="en-US" dirty="0" smtClean="0"/>
              <a:t>from</a:t>
            </a:r>
            <a:r>
              <a:rPr lang="tr-TR" dirty="0" smtClean="0"/>
              <a:t> </a:t>
            </a:r>
            <a:r>
              <a:rPr lang="en-US" dirty="0" smtClean="0"/>
              <a:t>a </a:t>
            </a:r>
            <a:r>
              <a:rPr lang="en-US" dirty="0"/>
              <a:t>point to itself will, of course, have a zero shipping cost. Let </a:t>
            </a:r>
            <a:r>
              <a:rPr lang="en-US" i="1" dirty="0"/>
              <a:t>s </a:t>
            </a:r>
            <a:r>
              <a:rPr lang="tr-TR" i="1" dirty="0" smtClean="0"/>
              <a:t>=</a:t>
            </a:r>
            <a:r>
              <a:rPr lang="en-US" dirty="0" smtClean="0"/>
              <a:t> </a:t>
            </a:r>
            <a:r>
              <a:rPr lang="en-US" dirty="0"/>
              <a:t>total available supply.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88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Step 2 </a:t>
            </a:r>
            <a:r>
              <a:rPr lang="en-US" dirty="0"/>
              <a:t>Construct a transportation tableau as follows: A row in the tableau will be </a:t>
            </a:r>
            <a:r>
              <a:rPr lang="en-US" dirty="0" smtClean="0"/>
              <a:t>needed</a:t>
            </a:r>
            <a:r>
              <a:rPr lang="tr-TR" dirty="0" smtClean="0"/>
              <a:t> </a:t>
            </a:r>
            <a:r>
              <a:rPr lang="en-US" dirty="0" smtClean="0"/>
              <a:t>for </a:t>
            </a:r>
            <a:r>
              <a:rPr lang="en-US" dirty="0"/>
              <a:t>each supply point and transshipment point, and a column will be needed for each </a:t>
            </a:r>
            <a:r>
              <a:rPr lang="en-US" dirty="0" smtClean="0"/>
              <a:t>demand</a:t>
            </a:r>
            <a:r>
              <a:rPr lang="tr-TR" dirty="0" smtClean="0"/>
              <a:t> </a:t>
            </a:r>
            <a:r>
              <a:rPr lang="en-US" dirty="0" smtClean="0"/>
              <a:t>point </a:t>
            </a:r>
            <a:r>
              <a:rPr lang="en-US" dirty="0"/>
              <a:t>and transshipment point. Each supply point will have a supply equal to </a:t>
            </a:r>
            <a:r>
              <a:rPr lang="en-US" dirty="0" smtClean="0"/>
              <a:t>its</a:t>
            </a:r>
            <a:r>
              <a:rPr lang="tr-TR" dirty="0" smtClean="0"/>
              <a:t> </a:t>
            </a:r>
            <a:r>
              <a:rPr lang="en-US" dirty="0" smtClean="0"/>
              <a:t>original </a:t>
            </a:r>
            <a:r>
              <a:rPr lang="en-US" dirty="0"/>
              <a:t>supply, and each demand point will have a demand equal to its original </a:t>
            </a:r>
            <a:r>
              <a:rPr lang="en-US" dirty="0" smtClean="0"/>
              <a:t>demand.</a:t>
            </a:r>
            <a:endParaRPr lang="tr-TR" dirty="0" smtClean="0"/>
          </a:p>
          <a:p>
            <a:r>
              <a:rPr lang="en-US" dirty="0" smtClean="0"/>
              <a:t>Let </a:t>
            </a:r>
            <a:r>
              <a:rPr lang="en-US" i="1" dirty="0"/>
              <a:t>s </a:t>
            </a:r>
            <a:r>
              <a:rPr lang="tr-TR" i="1" dirty="0" smtClean="0"/>
              <a:t>=</a:t>
            </a:r>
            <a:r>
              <a:rPr lang="en-US" dirty="0" smtClean="0"/>
              <a:t> </a:t>
            </a:r>
            <a:r>
              <a:rPr lang="en-US" dirty="0"/>
              <a:t>total available supply. Then each transshipment point will have a supply equal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(point’s </a:t>
            </a:r>
            <a:r>
              <a:rPr lang="en-US" dirty="0"/>
              <a:t>original supply) </a:t>
            </a:r>
            <a:r>
              <a:rPr lang="tr-TR" dirty="0" smtClean="0"/>
              <a:t>+</a:t>
            </a:r>
            <a:r>
              <a:rPr lang="en-US" dirty="0" smtClean="0"/>
              <a:t> </a:t>
            </a:r>
            <a:r>
              <a:rPr lang="en-US" i="1" dirty="0" smtClean="0"/>
              <a:t>s</a:t>
            </a:r>
            <a:r>
              <a:rPr lang="tr-TR" i="1" dirty="0" smtClean="0"/>
              <a:t> </a:t>
            </a:r>
            <a:r>
              <a:rPr lang="en-US" i="1" dirty="0" smtClean="0"/>
              <a:t> </a:t>
            </a:r>
            <a:r>
              <a:rPr lang="en-US" dirty="0"/>
              <a:t>and a demand equal to (point’s original demand) </a:t>
            </a:r>
            <a:r>
              <a:rPr lang="tr-TR" dirty="0" smtClean="0"/>
              <a:t>+</a:t>
            </a:r>
            <a:r>
              <a:rPr lang="en-US" dirty="0" smtClean="0"/>
              <a:t> </a:t>
            </a:r>
            <a:r>
              <a:rPr lang="en-US" i="1" dirty="0"/>
              <a:t>s</a:t>
            </a:r>
            <a:r>
              <a:rPr lang="en-US" dirty="0"/>
              <a:t>. </a:t>
            </a:r>
            <a:r>
              <a:rPr lang="en-US" dirty="0" smtClean="0"/>
              <a:t>This</a:t>
            </a:r>
            <a:r>
              <a:rPr lang="tr-TR" dirty="0" smtClean="0"/>
              <a:t> </a:t>
            </a:r>
            <a:r>
              <a:rPr lang="en-US" dirty="0" smtClean="0"/>
              <a:t>ensures </a:t>
            </a:r>
            <a:r>
              <a:rPr lang="en-US" dirty="0"/>
              <a:t>that any transshipment point that is a net supplier will have a net outflow </a:t>
            </a:r>
            <a:r>
              <a:rPr lang="en-US" dirty="0" smtClean="0"/>
              <a:t>equal</a:t>
            </a:r>
            <a:r>
              <a:rPr lang="tr-TR" dirty="0" smtClean="0"/>
              <a:t> </a:t>
            </a:r>
            <a:r>
              <a:rPr lang="en-US" dirty="0" smtClean="0"/>
              <a:t>to </a:t>
            </a:r>
            <a:r>
              <a:rPr lang="en-US" dirty="0"/>
              <a:t>the point’s original supply, and, similarly, a net demander will have a net inflow </a:t>
            </a:r>
            <a:r>
              <a:rPr lang="en-US" dirty="0" smtClean="0"/>
              <a:t>equal</a:t>
            </a:r>
            <a:r>
              <a:rPr lang="tr-TR" dirty="0" smtClean="0"/>
              <a:t> </a:t>
            </a:r>
            <a:r>
              <a:rPr lang="en-US" dirty="0" smtClean="0"/>
              <a:t>to </a:t>
            </a:r>
            <a:r>
              <a:rPr lang="en-US" dirty="0"/>
              <a:t>the point’s original </a:t>
            </a:r>
            <a:r>
              <a:rPr lang="en-US" dirty="0" smtClean="0"/>
              <a:t>demand.</a:t>
            </a:r>
            <a:r>
              <a:rPr lang="tr-TR" dirty="0" smtClean="0"/>
              <a:t> </a:t>
            </a:r>
            <a:r>
              <a:rPr lang="en-US" dirty="0" smtClean="0"/>
              <a:t>Although </a:t>
            </a:r>
            <a:r>
              <a:rPr lang="en-US" dirty="0"/>
              <a:t>we don’t know how much will be </a:t>
            </a:r>
            <a:r>
              <a:rPr lang="en-US" dirty="0" smtClean="0"/>
              <a:t>shipped</a:t>
            </a:r>
            <a:r>
              <a:rPr lang="tr-TR" dirty="0" smtClean="0"/>
              <a:t> </a:t>
            </a:r>
            <a:r>
              <a:rPr lang="en-US" dirty="0" smtClean="0"/>
              <a:t>through </a:t>
            </a:r>
            <a:r>
              <a:rPr lang="en-US" dirty="0"/>
              <a:t>each transshipment point, we can be sure that the total amount will not exceed </a:t>
            </a:r>
            <a:r>
              <a:rPr lang="en-US" i="1" dirty="0" smtClean="0"/>
              <a:t>s</a:t>
            </a:r>
            <a:r>
              <a:rPr lang="en-US" dirty="0" smtClean="0"/>
              <a:t>.</a:t>
            </a:r>
            <a:endParaRPr lang="tr-TR" dirty="0" smtClean="0"/>
          </a:p>
          <a:p>
            <a:r>
              <a:rPr lang="en-US" dirty="0" smtClean="0"/>
              <a:t>This </a:t>
            </a:r>
            <a:r>
              <a:rPr lang="en-US" dirty="0"/>
              <a:t>explains why we add </a:t>
            </a:r>
            <a:r>
              <a:rPr lang="en-US" i="1" dirty="0"/>
              <a:t>s </a:t>
            </a:r>
            <a:r>
              <a:rPr lang="en-US" dirty="0"/>
              <a:t>to the supply and demand at each transshipment point. </a:t>
            </a:r>
            <a:r>
              <a:rPr lang="en-US" dirty="0" smtClean="0"/>
              <a:t>By</a:t>
            </a:r>
            <a:r>
              <a:rPr lang="tr-TR" dirty="0" smtClean="0"/>
              <a:t> </a:t>
            </a:r>
            <a:r>
              <a:rPr lang="en-US" dirty="0" smtClean="0"/>
              <a:t>adding </a:t>
            </a:r>
            <a:r>
              <a:rPr lang="en-US" dirty="0"/>
              <a:t>the same amounts to the supply and demand, we ensure that the net outflow at </a:t>
            </a:r>
            <a:r>
              <a:rPr lang="en-US" dirty="0" smtClean="0"/>
              <a:t>each</a:t>
            </a:r>
            <a:r>
              <a:rPr lang="tr-TR" dirty="0" smtClean="0"/>
              <a:t> </a:t>
            </a:r>
            <a:r>
              <a:rPr lang="en-US" dirty="0" smtClean="0"/>
              <a:t>transshipment </a:t>
            </a:r>
            <a:r>
              <a:rPr lang="en-US" dirty="0"/>
              <a:t>point will be correct, and we also maintain a balanced </a:t>
            </a:r>
            <a:r>
              <a:rPr lang="en-US" dirty="0" smtClean="0"/>
              <a:t>transportation</a:t>
            </a:r>
            <a:r>
              <a:rPr lang="tr-TR" dirty="0" smtClean="0"/>
              <a:t> </a:t>
            </a:r>
            <a:r>
              <a:rPr lang="en-US" dirty="0" smtClean="0"/>
              <a:t>tableau</a:t>
            </a:r>
            <a:r>
              <a:rPr lang="en-US" dirty="0"/>
              <a:t>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63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00808"/>
            <a:ext cx="5572125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725144"/>
            <a:ext cx="380047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3124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General Ford produces cars at L.A. and Detroit and </a:t>
            </a:r>
            <a:r>
              <a:rPr lang="en-US" dirty="0" smtClean="0"/>
              <a:t>has</a:t>
            </a:r>
            <a:r>
              <a:rPr lang="tr-TR" dirty="0" smtClean="0"/>
              <a:t> </a:t>
            </a:r>
            <a:r>
              <a:rPr lang="en-US" dirty="0" smtClean="0"/>
              <a:t>a </a:t>
            </a:r>
            <a:r>
              <a:rPr lang="en-US" dirty="0"/>
              <a:t>warehouse in Atlanta; the company supplies cars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customers </a:t>
            </a:r>
            <a:r>
              <a:rPr lang="en-US" dirty="0"/>
              <a:t>in Houston and </a:t>
            </a:r>
            <a:r>
              <a:rPr lang="en-US" dirty="0" smtClean="0"/>
              <a:t>Tampa.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cost of shipping a </a:t>
            </a:r>
            <a:r>
              <a:rPr lang="en-US" dirty="0" smtClean="0"/>
              <a:t>car</a:t>
            </a:r>
            <a:r>
              <a:rPr lang="tr-TR" dirty="0" smtClean="0"/>
              <a:t> </a:t>
            </a:r>
            <a:r>
              <a:rPr lang="en-US" dirty="0" smtClean="0"/>
              <a:t>between </a:t>
            </a:r>
            <a:r>
              <a:rPr lang="en-US" dirty="0"/>
              <a:t>points is given in Table </a:t>
            </a:r>
            <a:r>
              <a:rPr lang="en-US" dirty="0" smtClean="0"/>
              <a:t>(“—” </a:t>
            </a:r>
            <a:r>
              <a:rPr lang="en-US" dirty="0"/>
              <a:t>means that </a:t>
            </a:r>
            <a:r>
              <a:rPr lang="en-US" dirty="0" smtClean="0"/>
              <a:t>a</a:t>
            </a:r>
            <a:r>
              <a:rPr lang="tr-TR" dirty="0" smtClean="0"/>
              <a:t> </a:t>
            </a:r>
            <a:r>
              <a:rPr lang="en-US" dirty="0" smtClean="0"/>
              <a:t>shipment </a:t>
            </a:r>
            <a:r>
              <a:rPr lang="en-US" dirty="0"/>
              <a:t>is not allowed</a:t>
            </a:r>
            <a:r>
              <a:rPr lang="en-US" dirty="0" smtClean="0"/>
              <a:t>).</a:t>
            </a:r>
            <a:endParaRPr lang="tr-TR" dirty="0" smtClean="0"/>
          </a:p>
          <a:p>
            <a:r>
              <a:rPr lang="en-US" dirty="0" smtClean="0"/>
              <a:t> </a:t>
            </a:r>
            <a:r>
              <a:rPr lang="en-US" dirty="0"/>
              <a:t>L.A. can produce as many </a:t>
            </a:r>
            <a:r>
              <a:rPr lang="en-US" dirty="0" smtClean="0"/>
              <a:t>as</a:t>
            </a:r>
            <a:r>
              <a:rPr lang="tr-TR" dirty="0" smtClean="0"/>
              <a:t> </a:t>
            </a:r>
            <a:r>
              <a:rPr lang="en-US" dirty="0" smtClean="0"/>
              <a:t>1,100 </a:t>
            </a:r>
            <a:r>
              <a:rPr lang="en-US" dirty="0"/>
              <a:t>cars, and Detroit can produce as many as 2,900 cars.</a:t>
            </a:r>
          </a:p>
          <a:p>
            <a:r>
              <a:rPr lang="en-US" dirty="0"/>
              <a:t>Houston must receive 2,400 cars, and Tampa must </a:t>
            </a:r>
            <a:r>
              <a:rPr lang="en-US" dirty="0" smtClean="0"/>
              <a:t>receive</a:t>
            </a:r>
            <a:r>
              <a:rPr lang="tr-TR" dirty="0" smtClean="0"/>
              <a:t> </a:t>
            </a:r>
            <a:r>
              <a:rPr lang="en-US" dirty="0" smtClean="0"/>
              <a:t>1,500 </a:t>
            </a:r>
            <a:r>
              <a:rPr lang="en-US" dirty="0"/>
              <a:t>cars.</a:t>
            </a:r>
          </a:p>
          <a:p>
            <a:r>
              <a:rPr lang="en-US" b="1" dirty="0"/>
              <a:t>a </a:t>
            </a:r>
            <a:r>
              <a:rPr lang="en-US" dirty="0"/>
              <a:t>Formulate a balanced transportation problem </a:t>
            </a:r>
            <a:r>
              <a:rPr lang="en-US" dirty="0" smtClean="0"/>
              <a:t>that</a:t>
            </a:r>
            <a:r>
              <a:rPr lang="tr-TR" dirty="0" smtClean="0"/>
              <a:t> </a:t>
            </a:r>
            <a:r>
              <a:rPr lang="en-US" dirty="0" smtClean="0"/>
              <a:t>can </a:t>
            </a:r>
            <a:r>
              <a:rPr lang="en-US" dirty="0"/>
              <a:t>be used to minimize the shipping costs incurred </a:t>
            </a:r>
            <a:r>
              <a:rPr lang="en-US" dirty="0" smtClean="0"/>
              <a:t>in</a:t>
            </a:r>
            <a:r>
              <a:rPr lang="tr-TR" dirty="0" smtClean="0"/>
              <a:t> </a:t>
            </a:r>
            <a:r>
              <a:rPr lang="en-US" dirty="0" smtClean="0"/>
              <a:t>meeting </a:t>
            </a:r>
            <a:r>
              <a:rPr lang="en-US" dirty="0"/>
              <a:t>demands at Houston and Tampa.</a:t>
            </a:r>
          </a:p>
          <a:p>
            <a:r>
              <a:rPr lang="en-US" b="1" dirty="0"/>
              <a:t>b </a:t>
            </a:r>
            <a:r>
              <a:rPr lang="en-US" dirty="0"/>
              <a:t>Modify the answer to part (a) if shipments </a:t>
            </a:r>
            <a:r>
              <a:rPr lang="en-US" dirty="0" smtClean="0"/>
              <a:t>between</a:t>
            </a:r>
            <a:r>
              <a:rPr lang="tr-TR" dirty="0" smtClean="0"/>
              <a:t> </a:t>
            </a:r>
            <a:r>
              <a:rPr lang="en-US" dirty="0" smtClean="0"/>
              <a:t>L.A</a:t>
            </a:r>
            <a:r>
              <a:rPr lang="en-US" dirty="0"/>
              <a:t>. and Detroit are not allowed.</a:t>
            </a:r>
          </a:p>
          <a:p>
            <a:r>
              <a:rPr lang="en-US" b="1" dirty="0"/>
              <a:t>c </a:t>
            </a:r>
            <a:r>
              <a:rPr lang="en-US" dirty="0"/>
              <a:t>Modify the answer to part (a) if shipments </a:t>
            </a:r>
            <a:r>
              <a:rPr lang="en-US" dirty="0" smtClean="0"/>
              <a:t>between</a:t>
            </a:r>
            <a:r>
              <a:rPr lang="tr-TR" dirty="0" smtClean="0"/>
              <a:t> </a:t>
            </a:r>
            <a:r>
              <a:rPr lang="en-US" dirty="0" smtClean="0"/>
              <a:t>Houston </a:t>
            </a:r>
            <a:r>
              <a:rPr lang="en-US" dirty="0"/>
              <a:t>and Tampa are allowed at a cost of $5.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21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5157192"/>
            <a:ext cx="341947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9449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Example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Sunco</a:t>
            </a:r>
            <a:r>
              <a:rPr lang="en-US" dirty="0"/>
              <a:t> Oil produces oil at two wells. Well 1 can </a:t>
            </a:r>
            <a:r>
              <a:rPr lang="en-US" dirty="0" smtClean="0"/>
              <a:t>produce</a:t>
            </a:r>
            <a:r>
              <a:rPr lang="tr-TR" dirty="0" smtClean="0"/>
              <a:t> </a:t>
            </a:r>
            <a:r>
              <a:rPr lang="en-US" dirty="0" smtClean="0"/>
              <a:t>as </a:t>
            </a:r>
            <a:r>
              <a:rPr lang="en-US" dirty="0"/>
              <a:t>many as 150,000 barrels per day, and well 2 can </a:t>
            </a:r>
            <a:r>
              <a:rPr lang="en-US" dirty="0" smtClean="0"/>
              <a:t>produce</a:t>
            </a:r>
            <a:r>
              <a:rPr lang="tr-TR" dirty="0" smtClean="0"/>
              <a:t> </a:t>
            </a:r>
            <a:r>
              <a:rPr lang="en-US" dirty="0" smtClean="0"/>
              <a:t>as </a:t>
            </a:r>
            <a:r>
              <a:rPr lang="en-US" dirty="0"/>
              <a:t>many as 200,000 barrels per day. </a:t>
            </a:r>
            <a:endParaRPr lang="tr-TR" dirty="0" smtClean="0"/>
          </a:p>
          <a:p>
            <a:r>
              <a:rPr lang="en-US" dirty="0" smtClean="0"/>
              <a:t>It </a:t>
            </a:r>
            <a:r>
              <a:rPr lang="en-US" dirty="0"/>
              <a:t>is possible to ship </a:t>
            </a:r>
            <a:r>
              <a:rPr lang="en-US" dirty="0" smtClean="0"/>
              <a:t>oil</a:t>
            </a:r>
            <a:r>
              <a:rPr lang="tr-TR" dirty="0" smtClean="0"/>
              <a:t> </a:t>
            </a:r>
            <a:r>
              <a:rPr lang="en-US" dirty="0" smtClean="0"/>
              <a:t>directly </a:t>
            </a:r>
            <a:r>
              <a:rPr lang="en-US" dirty="0"/>
              <a:t>from the wells to </a:t>
            </a:r>
            <a:r>
              <a:rPr lang="en-US" dirty="0" err="1"/>
              <a:t>Sunco’s</a:t>
            </a:r>
            <a:r>
              <a:rPr lang="en-US" dirty="0"/>
              <a:t> customers in Los </a:t>
            </a:r>
            <a:r>
              <a:rPr lang="en-US" dirty="0" smtClean="0"/>
              <a:t>Angeles</a:t>
            </a:r>
            <a:r>
              <a:rPr lang="tr-TR" dirty="0" smtClean="0"/>
              <a:t> </a:t>
            </a:r>
            <a:r>
              <a:rPr lang="en-US" dirty="0" smtClean="0"/>
              <a:t>and </a:t>
            </a:r>
            <a:r>
              <a:rPr lang="en-US" dirty="0"/>
              <a:t>New York. Alternatively, </a:t>
            </a:r>
            <a:r>
              <a:rPr lang="en-US" dirty="0" err="1"/>
              <a:t>Sunco</a:t>
            </a:r>
            <a:r>
              <a:rPr lang="en-US" dirty="0"/>
              <a:t> could transport oil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the </a:t>
            </a:r>
            <a:r>
              <a:rPr lang="en-US" dirty="0"/>
              <a:t>ports of Mobile and Galveston and then ship it by </a:t>
            </a:r>
            <a:r>
              <a:rPr lang="en-US" dirty="0" smtClean="0"/>
              <a:t>tanker</a:t>
            </a:r>
            <a:r>
              <a:rPr lang="tr-TR" dirty="0" smtClean="0"/>
              <a:t> </a:t>
            </a:r>
            <a:r>
              <a:rPr lang="en-US" dirty="0" smtClean="0"/>
              <a:t>to </a:t>
            </a:r>
            <a:r>
              <a:rPr lang="en-US" dirty="0"/>
              <a:t>New York or Los Angeles. </a:t>
            </a:r>
            <a:endParaRPr lang="tr-TR" dirty="0" smtClean="0"/>
          </a:p>
          <a:p>
            <a:r>
              <a:rPr lang="en-US" dirty="0" smtClean="0"/>
              <a:t>Los </a:t>
            </a:r>
            <a:r>
              <a:rPr lang="en-US" dirty="0"/>
              <a:t>Angeles requires </a:t>
            </a:r>
            <a:r>
              <a:rPr lang="en-US" dirty="0" smtClean="0"/>
              <a:t>160,000</a:t>
            </a:r>
            <a:r>
              <a:rPr lang="tr-TR" dirty="0" smtClean="0"/>
              <a:t> </a:t>
            </a:r>
            <a:r>
              <a:rPr lang="en-US" dirty="0" smtClean="0"/>
              <a:t>barrels </a:t>
            </a:r>
            <a:r>
              <a:rPr lang="en-US" dirty="0"/>
              <a:t>per day, and New York requires 140,000 barrels </a:t>
            </a:r>
            <a:r>
              <a:rPr lang="en-US" dirty="0" smtClean="0"/>
              <a:t>per</a:t>
            </a:r>
            <a:r>
              <a:rPr lang="tr-TR" dirty="0" smtClean="0"/>
              <a:t> </a:t>
            </a:r>
            <a:r>
              <a:rPr lang="en-US" dirty="0" smtClean="0"/>
              <a:t>day</a:t>
            </a:r>
            <a:r>
              <a:rPr lang="en-US" dirty="0"/>
              <a:t>. </a:t>
            </a:r>
            <a:endParaRPr lang="tr-TR" dirty="0" smtClean="0"/>
          </a:p>
          <a:p>
            <a:r>
              <a:rPr lang="en-US" dirty="0" smtClean="0"/>
              <a:t>The </a:t>
            </a:r>
            <a:r>
              <a:rPr lang="en-US" dirty="0"/>
              <a:t>costs of shipping 1,000 barrels between two </a:t>
            </a:r>
            <a:r>
              <a:rPr lang="en-US" dirty="0" smtClean="0"/>
              <a:t>points</a:t>
            </a:r>
            <a:r>
              <a:rPr lang="tr-TR" dirty="0" smtClean="0"/>
              <a:t> </a:t>
            </a:r>
            <a:r>
              <a:rPr lang="en-US" dirty="0" smtClean="0"/>
              <a:t>are </a:t>
            </a:r>
            <a:r>
              <a:rPr lang="en-US" dirty="0"/>
              <a:t>shown </a:t>
            </a:r>
            <a:r>
              <a:rPr lang="en-US" dirty="0" smtClean="0"/>
              <a:t>in. </a:t>
            </a:r>
            <a:r>
              <a:rPr lang="en-US" dirty="0"/>
              <a:t>Formulate a transshipment </a:t>
            </a:r>
            <a:r>
              <a:rPr lang="en-US" dirty="0" smtClean="0"/>
              <a:t>model</a:t>
            </a:r>
            <a:r>
              <a:rPr lang="tr-TR" dirty="0" smtClean="0"/>
              <a:t> </a:t>
            </a:r>
            <a:r>
              <a:rPr lang="en-US" dirty="0" smtClean="0"/>
              <a:t>(and </a:t>
            </a:r>
            <a:r>
              <a:rPr lang="en-US" dirty="0"/>
              <a:t>equivalent transportation model) that could be used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minimize </a:t>
            </a:r>
            <a:r>
              <a:rPr lang="en-US" dirty="0"/>
              <a:t>the transport costs in meeting the oil demands </a:t>
            </a:r>
            <a:r>
              <a:rPr lang="en-US" dirty="0" smtClean="0"/>
              <a:t>of</a:t>
            </a:r>
            <a:r>
              <a:rPr lang="tr-TR" dirty="0" smtClean="0"/>
              <a:t> </a:t>
            </a:r>
            <a:r>
              <a:rPr lang="en-US" dirty="0" smtClean="0"/>
              <a:t>Los </a:t>
            </a:r>
            <a:r>
              <a:rPr lang="en-US" dirty="0"/>
              <a:t>Angeles and New York.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97E0F-9188-4F36-B19C-C9D1C0D9CC38}" type="slidenum">
              <a:rPr lang="en-US" smtClean="0"/>
              <a:t>22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789" y="4941168"/>
            <a:ext cx="334327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8140062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1958</Words>
  <Application>Microsoft Office PowerPoint</Application>
  <PresentationFormat>Ekran Gösterisi (4:3)</PresentationFormat>
  <Paragraphs>106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23" baseType="lpstr">
      <vt:lpstr>Ofis Teması</vt:lpstr>
      <vt:lpstr>Transportation, Assignment and Transshipment Problems </vt:lpstr>
      <vt:lpstr>Change 2: Changing the objective function coefficient of a BV</vt:lpstr>
      <vt:lpstr>Change 3: Increasing both supply and Demand by ∆</vt:lpstr>
      <vt:lpstr>PowerPoint Sunusu</vt:lpstr>
      <vt:lpstr>Example</vt:lpstr>
      <vt:lpstr>Assignment Problems</vt:lpstr>
      <vt:lpstr>PowerPoint Sunusu</vt:lpstr>
      <vt:lpstr>PowerPoint Sunusu</vt:lpstr>
      <vt:lpstr>PowerPoint Sunusu</vt:lpstr>
      <vt:lpstr>Hungarian Method</vt:lpstr>
      <vt:lpstr>PowerPoint Sunusu</vt:lpstr>
      <vt:lpstr>Example</vt:lpstr>
      <vt:lpstr>Transshipment Problems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Example</vt:lpstr>
      <vt:lpstr>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Transportation, Assignment and Transshipment Problems</dc:title>
  <dc:creator/>
  <cp:lastModifiedBy/>
  <cp:revision>56</cp:revision>
  <dcterms:created xsi:type="dcterms:W3CDTF">2015-04-29T15:30:12Z</dcterms:created>
  <dcterms:modified xsi:type="dcterms:W3CDTF">2015-05-21T10:11:18Z</dcterms:modified>
  <dc:description/>
</cp:coreProperties>
</file>