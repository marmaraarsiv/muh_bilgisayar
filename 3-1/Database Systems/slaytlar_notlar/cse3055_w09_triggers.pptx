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7" r:id="rId17"/>
    <p:sldId id="288" r:id="rId18"/>
    <p:sldId id="271" r:id="rId19"/>
    <p:sldId id="272" r:id="rId20"/>
    <p:sldId id="273" r:id="rId21"/>
    <p:sldId id="289" r:id="rId22"/>
    <p:sldId id="274" r:id="rId23"/>
    <p:sldId id="275" r:id="rId24"/>
    <p:sldId id="276" r:id="rId25"/>
    <p:sldId id="277" r:id="rId26"/>
    <p:sldId id="278" r:id="rId27"/>
    <p:sldId id="279" r:id="rId28"/>
    <p:sldId id="290" r:id="rId29"/>
    <p:sldId id="280" r:id="rId30"/>
    <p:sldId id="281" r:id="rId31"/>
    <p:sldId id="282" r:id="rId32"/>
    <p:sldId id="284" r:id="rId33"/>
    <p:sldId id="285" r:id="rId34"/>
  </p:sldIdLst>
  <p:sldSz cx="9144000" cy="6858000" type="screen4x3"/>
  <p:notesSz cx="6858000" cy="9144000"/>
  <p:embeddedFontLst>
    <p:embeddedFont>
      <p:font typeface="SimSun" panose="02010600030101010101" pitchFamily="2" charset="-122"/>
      <p:regular r:id="rId36"/>
    </p:embeddedFont>
    <p:embeddedFont>
      <p:font typeface="Segoe" panose="020B0502040504020203" pitchFamily="3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
      <p:font typeface="Segoe UI" panose="020B0502040204020203" pitchFamily="34" charset="0"/>
      <p:regular r:id="rId45"/>
      <p:bold r:id="rId46"/>
      <p:italic r:id="rId47"/>
      <p:boldItalic r:id="rId48"/>
    </p:embeddedFont>
    <p:embeddedFont>
      <p:font typeface="Calibri" panose="020F0502020204030204" pitchFamily="34" charset="0"/>
      <p:regular r:id="rId49"/>
      <p:bold r:id="rId50"/>
      <p:italic r:id="rId51"/>
      <p:boldItalic r:id="rId52"/>
    </p:embeddedFont>
  </p:embeddedFontLst>
  <p:custDataLst>
    <p:tags r:id="rId53"/>
  </p:custData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1162" y="106"/>
      </p:cViewPr>
      <p:guideLst/>
    </p:cSldViewPr>
  </p:slideViewPr>
  <p:notesTextViewPr>
    <p:cViewPr>
      <p:scale>
        <a:sx n="1" d="1"/>
        <a:sy n="1" d="1"/>
      </p:scale>
      <p:origin x="0" y="0"/>
    </p:cViewPr>
  </p:notesTextViewPr>
  <p:notesViewPr>
    <p:cSldViewPr snapToGrid="0">
      <p:cViewPr varScale="1">
        <p:scale>
          <a:sx n="74" d="100"/>
          <a:sy n="74" d="100"/>
        </p:scale>
        <p:origin x="2899" y="67"/>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5.fntdata"/><Relationship Id="rId41" Type="http://schemas.openxmlformats.org/officeDocument/2006/relationships/font" Target="fonts/font6.fntdata"/><Relationship Id="rId42" Type="http://schemas.openxmlformats.org/officeDocument/2006/relationships/font" Target="fonts/font7.fntdata"/><Relationship Id="rId43" Type="http://schemas.openxmlformats.org/officeDocument/2006/relationships/font" Target="fonts/font8.fntdata"/><Relationship Id="rId44" Type="http://schemas.openxmlformats.org/officeDocument/2006/relationships/font" Target="fonts/font9.fntdata"/><Relationship Id="rId45" Type="http://schemas.openxmlformats.org/officeDocument/2006/relationships/font" Target="fonts/font10.fntdata"/><Relationship Id="rId46" Type="http://schemas.openxmlformats.org/officeDocument/2006/relationships/font" Target="fonts/font11.fntdata"/><Relationship Id="rId47" Type="http://schemas.openxmlformats.org/officeDocument/2006/relationships/font" Target="fonts/font12.fntdata"/><Relationship Id="rId48" Type="http://schemas.openxmlformats.org/officeDocument/2006/relationships/font" Target="fonts/font13.fntdata"/><Relationship Id="rId49" Type="http://schemas.openxmlformats.org/officeDocument/2006/relationships/font" Target="fonts/font14.fntdata"/><Relationship Id="rId50" Type="http://schemas.openxmlformats.org/officeDocument/2006/relationships/font" Target="fonts/font15.fntdata"/><Relationship Id="rId51" Type="http://schemas.openxmlformats.org/officeDocument/2006/relationships/font" Target="fonts/font16.fntdata"/><Relationship Id="rId52" Type="http://schemas.openxmlformats.org/officeDocument/2006/relationships/font" Target="fonts/font17.fntdata"/><Relationship Id="rId53" Type="http://schemas.openxmlformats.org/officeDocument/2006/relationships/tags" Target="tags/tag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0D92EB-D32C-4477-901F-382E5578276C}" type="datetimeFigureOut">
              <a:rPr lang="en-GB" smtClean="0"/>
              <a:t>28/11/2017</a:t>
            </a:fld>
            <a:endParaRPr lang="en-GB"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E6803-1B25-4159-AEE7-2054A4A21AE8}" type="slidenum">
              <a:rPr lang="en-GB" smtClean="0"/>
              <a:t>‹#›</a:t>
            </a:fld>
            <a:endParaRPr lang="en-GB" dirty="0"/>
          </a:p>
        </p:txBody>
      </p:sp>
    </p:spTree>
    <p:extLst>
      <p:ext uri="{BB962C8B-B14F-4D97-AF65-F5344CB8AC3E}">
        <p14:creationId xmlns:p14="http://schemas.microsoft.com/office/powerpoint/2010/main" val="4112118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68AE6803-1B25-4159-AEE7-2054A4A21AE8}" type="slidenum">
              <a:rPr lang="en-GB" smtClean="0"/>
              <a:t>1</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930603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may wish to tell the students to start the 20762C-MIA-DC and 20762C-MIA-SQL virtual machines so they are ready for the first demonstration.  </a:t>
            </a:r>
          </a:p>
        </p:txBody>
      </p:sp>
      <p:sp>
        <p:nvSpPr>
          <p:cNvPr id="4" name="Slide Number Placeholder 3"/>
          <p:cNvSpPr>
            <a:spLocks noGrp="1"/>
          </p:cNvSpPr>
          <p:nvPr>
            <p:ph type="sldNum" sz="quarter" idx="10"/>
          </p:nvPr>
        </p:nvSpPr>
        <p:spPr/>
        <p:txBody>
          <a:bodyPr/>
          <a:lstStyle/>
          <a:p>
            <a:fld id="{68AE6803-1B25-4159-AEE7-2054A4A21AE8}" type="slidenum">
              <a:rPr lang="en-GB" smtClean="0"/>
              <a:t>2</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95938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68AE6803-1B25-4159-AEE7-2054A4A21AE8}" type="slidenum">
              <a:rPr lang="en-GB" smtClean="0"/>
              <a:t>3</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611337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Use this slide to discuss what a trigger is and how it executes when data is modified.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Remind the students that cascading referential integrity constraints were discussed earlier.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Don’t discuss each type of trigger, because the triggers are addressed individually in the following topics. Also, note that DDL triggers and LOGON triggers are out of scope for this course, but an example of a DDL trigger is provided in the XML modules.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More detail will be provided in later slides.</a:t>
            </a:r>
          </a:p>
        </p:txBody>
      </p:sp>
      <p:sp>
        <p:nvSpPr>
          <p:cNvPr id="4" name="Slide Number Placeholder 3"/>
          <p:cNvSpPr>
            <a:spLocks noGrp="1"/>
          </p:cNvSpPr>
          <p:nvPr>
            <p:ph type="sldNum" sz="quarter" idx="10"/>
          </p:nvPr>
        </p:nvSpPr>
        <p:spPr/>
        <p:txBody>
          <a:bodyPr/>
          <a:lstStyle/>
          <a:p>
            <a:fld id="{68AE6803-1B25-4159-AEE7-2054A4A21AE8}" type="slidenum">
              <a:rPr lang="en-GB" smtClean="0"/>
              <a:t>4</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984127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Use this slide to discuss what a trigger is and how it executes when data is modified.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Remind the students that cascading referential integrity constraints were discussed earlier.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Don’t discuss each type of trigger, because the triggers are addressed individually in the following topics. Also, note that DDL triggers and LOGON triggers are out of scope for this course but an example of a DDL trigger is included in the XML modules.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More detail will be provided in later slides.</a:t>
            </a:r>
          </a:p>
        </p:txBody>
      </p:sp>
      <p:sp>
        <p:nvSpPr>
          <p:cNvPr id="4" name="Slide Number Placeholder 3"/>
          <p:cNvSpPr>
            <a:spLocks noGrp="1"/>
          </p:cNvSpPr>
          <p:nvPr>
            <p:ph type="sldNum" sz="quarter" idx="10"/>
          </p:nvPr>
        </p:nvSpPr>
        <p:spPr/>
        <p:txBody>
          <a:bodyPr/>
          <a:lstStyle/>
          <a:p>
            <a:fld id="{68AE6803-1B25-4159-AEE7-2054A4A21AE8}" type="slidenum">
              <a:rPr lang="en-GB" smtClean="0"/>
              <a:t>5</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705300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Inserted and deleted virtual tables are used so that, during the execution of a trigger, you can access both the modified and unmodified versions of the data. Having access to both modified and unmodified versions often requires a join between the table data and the virtual table.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These tables only exist for the duration of the triggers and in the same scope as the triggers. For example, if the trigger calls a stored procedure, that procedure cannot see these tables.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These tables are also available in INSTEAD OF triggers.</a:t>
            </a:r>
          </a:p>
        </p:txBody>
      </p:sp>
      <p:sp>
        <p:nvSpPr>
          <p:cNvPr id="4" name="Slide Number Placeholder 3"/>
          <p:cNvSpPr>
            <a:spLocks noGrp="1"/>
          </p:cNvSpPr>
          <p:nvPr>
            <p:ph type="sldNum" sz="quarter" idx="10"/>
          </p:nvPr>
        </p:nvSpPr>
        <p:spPr/>
        <p:txBody>
          <a:bodyPr/>
          <a:lstStyle/>
          <a:p>
            <a:fld id="{68AE6803-1B25-4159-AEE7-2054A4A21AE8}" type="slidenum">
              <a:rPr lang="en-GB" smtClean="0"/>
              <a:t>6</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7692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If a client application updates three rows of a table, it often checks the returned rowcount to make sure that only three rows are affected.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Adding a trigger to the table could cause this count to change (and the application to fail) if the trigger also performed data modification.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To avoid this, most triggers should have SET NOCOUNT ON within the trigger body. SET operations within a trigger remain in effect during the execution of the trigger, but then revert to their previous settings.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Triggers should generally never return rows of data. In future versions, the ability to do so will be removed. To prevent triggers for returning result sets in SQL Server, set the configuration setting “disallow results from triggers” to 1.</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Use the example in the subject matter to describe how SET NOCOUNT ON is used.</a:t>
            </a:r>
          </a:p>
        </p:txBody>
      </p:sp>
      <p:sp>
        <p:nvSpPr>
          <p:cNvPr id="4" name="Slide Number Placeholder 3"/>
          <p:cNvSpPr>
            <a:spLocks noGrp="1"/>
          </p:cNvSpPr>
          <p:nvPr>
            <p:ph type="sldNum" sz="quarter" idx="10"/>
          </p:nvPr>
        </p:nvSpPr>
        <p:spPr/>
        <p:txBody>
          <a:bodyPr/>
          <a:lstStyle/>
          <a:p>
            <a:fld id="{68AE6803-1B25-4159-AEE7-2054A4A21AE8}" type="slidenum">
              <a:rPr lang="en-GB" smtClean="0"/>
              <a:t>7</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614877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Wherever possible, you should use constraints rather than triggers. Constraint violations avoid the statements ever occurring. Trigger rollbacks have to undo the work performed after it has been done.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In earlier versions of SQL Server, the inserted and deleted virtual tables were essentially implemented like a view over the transaction log—the data had to be reconstructed to make it available for them.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From SQL Server 2005 onwards, the inserted and deleted virtual tables have been created using the rowversion store held in </a:t>
            </a:r>
            <a:r>
              <a:rPr lang="en-GB" sz="1000" b="1" dirty="0">
                <a:latin typeface="Arial" panose="020B0604020202020204" pitchFamily="34" charset="0"/>
                <a:ea typeface="Calibri" panose="020F0502020204030204" pitchFamily="34" charset="0"/>
                <a:cs typeface="Times New Roman" panose="02020603050405020304" pitchFamily="18" charset="0"/>
              </a:rPr>
              <a:t>tempdb</a:t>
            </a:r>
            <a:r>
              <a:rPr lang="en-GB" sz="1000" dirty="0">
                <a:latin typeface="Arial" panose="020B0604020202020204" pitchFamily="34" charset="0"/>
                <a:ea typeface="Calibri" panose="020F0502020204030204" pitchFamily="34" charset="0"/>
                <a:cs typeface="Times New Roman" panose="02020603050405020304" pitchFamily="18" charset="0"/>
              </a:rPr>
              <a:t>. This improves trigger performance but excess trigger usage can adversely affect the performance of </a:t>
            </a:r>
            <a:r>
              <a:rPr lang="en-GB" sz="1000" b="1" dirty="0">
                <a:latin typeface="Arial" panose="020B0604020202020204" pitchFamily="34" charset="0"/>
                <a:ea typeface="Calibri" panose="020F0502020204030204" pitchFamily="34" charset="0"/>
                <a:cs typeface="Times New Roman" panose="02020603050405020304" pitchFamily="18" charset="0"/>
              </a:rPr>
              <a:t>tempdb</a:t>
            </a:r>
            <a:r>
              <a:rPr lang="en-GB" sz="1000" dirty="0">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Avoid implementing too much business logic within triggers because they can be quite tricky to debug.</a:t>
            </a: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 </a:t>
            </a:r>
            <a:r>
              <a:rPr lang="en-GB" sz="1000" dirty="0">
                <a:latin typeface="Arial" panose="020B0604020202020204" pitchFamily="34" charset="0"/>
                <a:ea typeface="Calibri" panose="020F0502020204030204" pitchFamily="34" charset="0"/>
                <a:cs typeface="Times New Roman" panose="02020603050405020304" pitchFamily="18" charset="0"/>
              </a:rPr>
              <a:t>Ensure that the students are aware of the security issues of executing DDL and DML triggers.</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Which types of statements fire DML triggers?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1: CREATE, ALTER, DROP</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2: MERGE, ALTER, DELETE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3: MERGE, CREATE, INSERT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4: CREATE, UPDATE, DELETE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5: DELET, INSERT, UPDATE</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Answer</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5: DELET, INSERT, UPDATE</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What reasons can you think of for deploying AFTER triggers</a:t>
            </a:r>
            <a:r>
              <a:rPr lang="en-GB" sz="1000" dirty="0" smtClean="0">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sz="1000" b="1" dirty="0" smtClean="0">
                <a:latin typeface="Arial" panose="020B0604020202020204" pitchFamily="34" charset="0"/>
                <a:ea typeface="Calibri" panose="020F0502020204030204" pitchFamily="34" charset="0"/>
                <a:cs typeface="Times New Roman" panose="02020603050405020304" pitchFamily="18" charset="0"/>
              </a:rPr>
              <a:t>Answer</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Common reasons for implementing AFTER triggers are:</a:t>
            </a:r>
          </a:p>
          <a:p>
            <a:pPr marL="171450" indent="-171450">
              <a:lnSpc>
                <a:spcPct val="107000"/>
              </a:lnSpc>
              <a:spcAft>
                <a:spcPts val="800"/>
              </a:spcAft>
              <a:buFont typeface="Arial" panose="020B0604020202020204" pitchFamily="34" charset="0"/>
              <a:buChar char="•"/>
            </a:pPr>
            <a:r>
              <a:rPr lang="en-GB" sz="1000" dirty="0" smtClean="0">
                <a:latin typeface="Arial" panose="020B0604020202020204" pitchFamily="34" charset="0"/>
                <a:ea typeface="Calibri" panose="020F0502020204030204" pitchFamily="34" charset="0"/>
                <a:cs typeface="Times New Roman" panose="02020603050405020304" pitchFamily="18" charset="0"/>
              </a:rPr>
              <a:t>Providing </a:t>
            </a:r>
            <a:r>
              <a:rPr lang="en-GB" sz="1000" dirty="0">
                <a:latin typeface="Arial" panose="020B0604020202020204" pitchFamily="34" charset="0"/>
                <a:ea typeface="Calibri" panose="020F0502020204030204" pitchFamily="34" charset="0"/>
                <a:cs typeface="Times New Roman" panose="02020603050405020304" pitchFamily="18" charset="0"/>
              </a:rPr>
              <a:t>auditing of the changes that were made.</a:t>
            </a:r>
          </a:p>
          <a:p>
            <a:pPr marL="171450" indent="-171450">
              <a:lnSpc>
                <a:spcPct val="107000"/>
              </a:lnSpc>
              <a:spcAft>
                <a:spcPts val="800"/>
              </a:spcAft>
              <a:buFont typeface="Arial" panose="020B0604020202020204" pitchFamily="34" charset="0"/>
              <a:buChar char="•"/>
            </a:pPr>
            <a:r>
              <a:rPr lang="en-GB" sz="1000" dirty="0" smtClean="0">
                <a:latin typeface="Arial" panose="020B0604020202020204" pitchFamily="34" charset="0"/>
                <a:ea typeface="Calibri" panose="020F0502020204030204" pitchFamily="34" charset="0"/>
                <a:cs typeface="Times New Roman" panose="02020603050405020304" pitchFamily="18" charset="0"/>
              </a:rPr>
              <a:t>Implementing </a:t>
            </a:r>
            <a:r>
              <a:rPr lang="en-GB" sz="1000" dirty="0">
                <a:latin typeface="Arial" panose="020B0604020202020204" pitchFamily="34" charset="0"/>
                <a:ea typeface="Calibri" panose="020F0502020204030204" pitchFamily="34" charset="0"/>
                <a:cs typeface="Times New Roman" panose="02020603050405020304" pitchFamily="18" charset="0"/>
              </a:rPr>
              <a:t>complex rules involving the relationship between tables.</a:t>
            </a:r>
          </a:p>
          <a:p>
            <a:pPr marL="171450" indent="-171450">
              <a:lnSpc>
                <a:spcPct val="107000"/>
              </a:lnSpc>
              <a:spcAft>
                <a:spcPts val="800"/>
              </a:spcAft>
              <a:buFont typeface="Arial" panose="020B0604020202020204" pitchFamily="34" charset="0"/>
              <a:buChar char="•"/>
            </a:pPr>
            <a:r>
              <a:rPr lang="en-GB" sz="1000" dirty="0" smtClean="0">
                <a:latin typeface="Arial" panose="020B0604020202020204" pitchFamily="34" charset="0"/>
                <a:ea typeface="Calibri" panose="020F0502020204030204" pitchFamily="34" charset="0"/>
                <a:cs typeface="Times New Roman" panose="02020603050405020304" pitchFamily="18" charset="0"/>
              </a:rPr>
              <a:t>Implementing </a:t>
            </a:r>
            <a:r>
              <a:rPr lang="en-GB" sz="1000" dirty="0">
                <a:latin typeface="Arial" panose="020B0604020202020204" pitchFamily="34" charset="0"/>
                <a:ea typeface="Calibri" panose="020F0502020204030204" pitchFamily="34" charset="0"/>
                <a:cs typeface="Times New Roman" panose="02020603050405020304" pitchFamily="18" charset="0"/>
              </a:rPr>
              <a:t>default values or calculated values within rows</a:t>
            </a:r>
            <a:r>
              <a:rPr lang="en-GB" sz="1000" dirty="0" smtClean="0">
                <a:latin typeface="Arial" panose="020B0604020202020204" pitchFamily="34" charset="0"/>
                <a:ea typeface="Calibri" panose="020F0502020204030204" pitchFamily="34" charset="0"/>
                <a:cs typeface="Times New Roman" panose="02020603050405020304" pitchFamily="18" charset="0"/>
              </a:rPr>
              <a:t>.</a:t>
            </a:r>
            <a:endParaRPr lang="en-GB" sz="1000" dirty="0">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8</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596961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68AE6803-1B25-4159-AEE7-2054A4A21AE8}" type="slidenum">
              <a:rPr lang="en-GB" smtClean="0"/>
              <a:t>9</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218170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An INSERT trigger executes whenever an INSERT statement inserts data into a table or a view on which the trigger is configured.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Walk the students through the CREATE TRIGGER statement example. Explain the function of every statement within the trigger. In particular, note the use of SET NOCOUNT ON. Also note that the trigger works with multiple rows of data. It is important to avoid writing triggers that only work for a single row.</a:t>
            </a:r>
          </a:p>
        </p:txBody>
      </p:sp>
      <p:sp>
        <p:nvSpPr>
          <p:cNvPr id="4" name="Slide Number Placeholder 3"/>
          <p:cNvSpPr>
            <a:spLocks noGrp="1"/>
          </p:cNvSpPr>
          <p:nvPr>
            <p:ph type="sldNum" sz="quarter" idx="10"/>
          </p:nvPr>
        </p:nvSpPr>
        <p:spPr/>
        <p:txBody>
          <a:bodyPr/>
          <a:lstStyle/>
          <a:p>
            <a:fld id="{68AE6803-1B25-4159-AEE7-2054A4A21AE8}" type="slidenum">
              <a:rPr lang="en-GB" smtClean="0"/>
              <a:t>10</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4087454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Start the </a:t>
            </a: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20762C-MIA-DC</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 and </a:t>
            </a: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20762C-MIA-SQL</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 virtual machines.</a:t>
            </a: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Create an AFTER INSERT Trigger </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Ensure that the </a:t>
            </a:r>
            <a:r>
              <a:rPr lang="en-US" sz="1000" b="1" dirty="0">
                <a:latin typeface="Arial" panose="020B0604020202020204" pitchFamily="34" charset="0"/>
                <a:ea typeface="Times New Roman" panose="02020603050405020304" pitchFamily="18" charset="0"/>
                <a:cs typeface="Times New Roman" panose="02020603050405020304" pitchFamily="18" charset="0"/>
              </a:rPr>
              <a:t>20762C-MIA-DC</a:t>
            </a:r>
            <a:r>
              <a:rPr lang="en-US" sz="1000" dirty="0">
                <a:latin typeface="Arial" panose="020B0604020202020204" pitchFamily="34" charset="0"/>
                <a:ea typeface="Times New Roman" panose="02020603050405020304" pitchFamily="18" charset="0"/>
                <a:cs typeface="Times New Roman" panose="02020603050405020304" pitchFamily="18" charset="0"/>
              </a:rPr>
              <a:t> and </a:t>
            </a:r>
            <a:r>
              <a:rPr lang="en-US" sz="1000" b="1" dirty="0">
                <a:latin typeface="Arial" panose="020B0604020202020204" pitchFamily="34" charset="0"/>
                <a:ea typeface="Times New Roman" panose="02020603050405020304" pitchFamily="18" charset="0"/>
                <a:cs typeface="Times New Roman" panose="02020603050405020304" pitchFamily="18" charset="0"/>
              </a:rPr>
              <a:t>20762C-MIA-SQL</a:t>
            </a:r>
            <a:r>
              <a:rPr lang="en-US" sz="1000" dirty="0">
                <a:latin typeface="Arial" panose="020B0604020202020204" pitchFamily="34" charset="0"/>
                <a:ea typeface="Times New Roman" panose="02020603050405020304" pitchFamily="18" charset="0"/>
                <a:cs typeface="Times New Roman" panose="02020603050405020304" pitchFamily="18" charset="0"/>
              </a:rPr>
              <a:t> virtual machines are running, and then log on to </a:t>
            </a:r>
            <a:r>
              <a:rPr lang="en-US" sz="1000" b="1" dirty="0">
                <a:latin typeface="Arial" panose="020B0604020202020204" pitchFamily="34" charset="0"/>
                <a:ea typeface="Times New Roman" panose="02020603050405020304" pitchFamily="18" charset="0"/>
                <a:cs typeface="Times New Roman" panose="02020603050405020304" pitchFamily="18" charset="0"/>
              </a:rPr>
              <a:t>20762C-MIA-SQL</a:t>
            </a:r>
            <a:r>
              <a:rPr lang="en-US" sz="1000" dirty="0">
                <a:latin typeface="Arial" panose="020B0604020202020204" pitchFamily="34" charset="0"/>
                <a:ea typeface="Times New Roman" panose="02020603050405020304" pitchFamily="18" charset="0"/>
                <a:cs typeface="Times New Roman" panose="02020603050405020304" pitchFamily="18" charset="0"/>
              </a:rPr>
              <a:t> as </a:t>
            </a:r>
            <a:r>
              <a:rPr lang="en-US" sz="1000" b="1" dirty="0">
                <a:latin typeface="Arial" panose="020B0604020202020204" pitchFamily="34" charset="0"/>
                <a:ea typeface="Times New Roman" panose="02020603050405020304" pitchFamily="18" charset="0"/>
                <a:cs typeface="Times New Roman" panose="02020603050405020304" pitchFamily="18" charset="0"/>
              </a:rPr>
              <a:t>ADVENTUREWORKS\Student</a:t>
            </a:r>
            <a:r>
              <a:rPr lang="en-US" sz="1000" dirty="0">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latin typeface="Arial" panose="020B0604020202020204" pitchFamily="34" charset="0"/>
                <a:ea typeface="Times New Roman" panose="02020603050405020304" pitchFamily="18" charset="0"/>
                <a:cs typeface="Times New Roman" panose="02020603050405020304" pitchFamily="18" charset="0"/>
              </a:rPr>
              <a:t>Pa55w.rd</a:t>
            </a:r>
            <a:r>
              <a:rPr lang="en-US" sz="1000" dirty="0">
                <a:latin typeface="Arial" panose="020B0604020202020204" pitchFamily="34" charset="0"/>
                <a:ea typeface="Times New Roman" panose="02020603050405020304" pitchFamily="18" charset="0"/>
                <a:cs typeface="Times New Roman" panose="02020603050405020304" pitchFamily="18" charset="0"/>
              </a:rPr>
              <a:t>. </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Run </a:t>
            </a:r>
            <a:r>
              <a:rPr lang="en-US" sz="1000" b="1" dirty="0">
                <a:latin typeface="Arial" panose="020B0604020202020204" pitchFamily="34" charset="0"/>
                <a:ea typeface="Times New Roman" panose="02020603050405020304" pitchFamily="18" charset="0"/>
                <a:cs typeface="Times New Roman" panose="02020603050405020304" pitchFamily="18" charset="0"/>
              </a:rPr>
              <a:t>D:\Demofiles\Mod11\Setup.cmd</a:t>
            </a:r>
            <a:r>
              <a:rPr lang="en-US" sz="1000" dirty="0">
                <a:latin typeface="Arial" panose="020B0604020202020204" pitchFamily="34" charset="0"/>
                <a:ea typeface="Times New Roman" panose="02020603050405020304" pitchFamily="18" charset="0"/>
                <a:cs typeface="Times New Roman" panose="02020603050405020304" pitchFamily="18" charset="0"/>
              </a:rPr>
              <a:t> as an administrator. </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User Account Control</a:t>
            </a:r>
            <a:r>
              <a:rPr lang="en-US" sz="1000" dirty="0">
                <a:latin typeface="Arial" panose="020B0604020202020204" pitchFamily="34" charset="0"/>
                <a:ea typeface="Times New Roman" panose="02020603050405020304" pitchFamily="18" charset="0"/>
                <a:cs typeface="Times New Roman" panose="02020603050405020304" pitchFamily="18" charset="0"/>
              </a:rPr>
              <a:t> dialog box,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Yes</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On the taskbar,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Microsoft</a:t>
            </a:r>
            <a:r>
              <a:rPr lang="en-US" sz="1000" dirty="0">
                <a:latin typeface="Arial" panose="020B0604020202020204" pitchFamily="34" charset="0"/>
                <a:ea typeface="Times New Roman" panose="02020603050405020304" pitchFamily="18" charset="0"/>
                <a:cs typeface="Times New Roman" panose="02020603050405020304" pitchFamily="18" charset="0"/>
              </a:rPr>
              <a:t> </a:t>
            </a:r>
            <a:r>
              <a:rPr lang="en-US" sz="1000" b="1" dirty="0">
                <a:latin typeface="Arial" panose="020B0604020202020204" pitchFamily="34" charset="0"/>
                <a:ea typeface="Times New Roman" panose="02020603050405020304" pitchFamily="18" charset="0"/>
                <a:cs typeface="Times New Roman" panose="02020603050405020304" pitchFamily="18" charset="0"/>
              </a:rPr>
              <a:t>SQL Server Management Studio</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Connect to Server</a:t>
            </a:r>
            <a:r>
              <a:rPr lang="en-US" sz="1000" dirty="0">
                <a:latin typeface="Arial" panose="020B0604020202020204" pitchFamily="34" charset="0"/>
                <a:ea typeface="Times New Roman" panose="02020603050405020304" pitchFamily="18" charset="0"/>
                <a:cs typeface="Times New Roman" panose="02020603050405020304" pitchFamily="18" charset="0"/>
              </a:rPr>
              <a:t> dialog box,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Server name</a:t>
            </a:r>
            <a:r>
              <a:rPr lang="en-US" sz="1000" dirty="0">
                <a:latin typeface="Arial" panose="020B0604020202020204" pitchFamily="34" charset="0"/>
                <a:ea typeface="Times New Roman" panose="02020603050405020304" pitchFamily="18" charset="0"/>
                <a:cs typeface="Times New Roman" panose="02020603050405020304" pitchFamily="18" charset="0"/>
              </a:rPr>
              <a:t> box, type </a:t>
            </a:r>
            <a:r>
              <a:rPr lang="en-US" sz="1000" b="1" dirty="0">
                <a:latin typeface="Arial" panose="020B0604020202020204" pitchFamily="34" charset="0"/>
                <a:ea typeface="Times New Roman" panose="02020603050405020304" pitchFamily="18" charset="0"/>
                <a:cs typeface="Times New Roman" panose="02020603050405020304" pitchFamily="18" charset="0"/>
              </a:rPr>
              <a:t>MIA-SQL</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Connect</a:t>
            </a:r>
            <a:r>
              <a:rPr lang="en-US" sz="1000" dirty="0">
                <a:latin typeface="Arial" panose="020B0604020202020204" pitchFamily="34" charset="0"/>
                <a:ea typeface="Times New Roman" panose="02020603050405020304" pitchFamily="18" charset="0"/>
                <a:cs typeface="Times New Roman" panose="02020603050405020304" pitchFamily="18" charset="0"/>
              </a:rPr>
              <a:t>. </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File</a:t>
            </a:r>
            <a:r>
              <a:rPr lang="en-US" sz="1000" dirty="0">
                <a:latin typeface="Arial" panose="020B0604020202020204" pitchFamily="34" charset="0"/>
                <a:ea typeface="Times New Roman" panose="02020603050405020304" pitchFamily="18" charset="0"/>
                <a:cs typeface="Times New Roman" panose="02020603050405020304" pitchFamily="18" charset="0"/>
              </a:rPr>
              <a:t> menu, point to </a:t>
            </a:r>
            <a:r>
              <a:rPr lang="en-US" sz="1000" b="1" dirty="0">
                <a:latin typeface="Arial" panose="020B0604020202020204" pitchFamily="34" charset="0"/>
                <a:ea typeface="Times New Roman" panose="02020603050405020304" pitchFamily="18" charset="0"/>
                <a:cs typeface="Times New Roman" panose="02020603050405020304" pitchFamily="18" charset="0"/>
              </a:rPr>
              <a:t>Open</a:t>
            </a:r>
            <a:r>
              <a:rPr lang="en-US" sz="1000" dirty="0">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Project/Solution</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Open Project</a:t>
            </a:r>
            <a:r>
              <a:rPr lang="en-US" sz="1000" dirty="0">
                <a:latin typeface="Arial" panose="020B0604020202020204" pitchFamily="34" charset="0"/>
                <a:ea typeface="Times New Roman" panose="02020603050405020304" pitchFamily="18" charset="0"/>
                <a:cs typeface="Times New Roman" panose="02020603050405020304" pitchFamily="18" charset="0"/>
              </a:rPr>
              <a:t> dialog box, navigate to </a:t>
            </a:r>
            <a:r>
              <a:rPr lang="en-US" sz="1000" b="1" dirty="0">
                <a:latin typeface="Arial" panose="020B0604020202020204" pitchFamily="34" charset="0"/>
                <a:ea typeface="Times New Roman" panose="02020603050405020304" pitchFamily="18" charset="0"/>
                <a:cs typeface="Times New Roman" panose="02020603050405020304" pitchFamily="18" charset="0"/>
              </a:rPr>
              <a:t>D:\Demofiles\Mod11\Demo11</a:t>
            </a:r>
            <a:r>
              <a:rPr lang="en-US" sz="1000" dirty="0">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Demo11.ssmssqlproj</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Open</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expand the </a:t>
            </a:r>
            <a:r>
              <a:rPr lang="en-US" sz="1000" b="1" dirty="0">
                <a:latin typeface="Arial" panose="020B0604020202020204" pitchFamily="34" charset="0"/>
                <a:ea typeface="Times New Roman" panose="02020603050405020304" pitchFamily="18" charset="0"/>
                <a:cs typeface="Times New Roman" panose="02020603050405020304" pitchFamily="18" charset="0"/>
              </a:rPr>
              <a:t>Queries</a:t>
            </a:r>
            <a:r>
              <a:rPr lang="en-US" sz="1000" dirty="0">
                <a:latin typeface="Arial" panose="020B0604020202020204" pitchFamily="34" charset="0"/>
                <a:ea typeface="Times New Roman" panose="02020603050405020304" pitchFamily="18" charset="0"/>
                <a:cs typeface="Times New Roman" panose="02020603050405020304" pitchFamily="18" charset="0"/>
              </a:rPr>
              <a:t> folder, and then double-click the </a:t>
            </a:r>
            <a:r>
              <a:rPr lang="en-US" sz="1000" b="1" dirty="0">
                <a:latin typeface="Arial" panose="020B0604020202020204" pitchFamily="34" charset="0"/>
                <a:ea typeface="Times New Roman" panose="02020603050405020304" pitchFamily="18" charset="0"/>
                <a:cs typeface="Times New Roman" panose="02020603050405020304" pitchFamily="18" charset="0"/>
              </a:rPr>
              <a:t>21 - Demonstration 2A.sql</a:t>
            </a:r>
            <a:r>
              <a:rPr lang="en-US" sz="1000" dirty="0">
                <a:latin typeface="Arial" panose="020B0604020202020204" pitchFamily="34" charset="0"/>
                <a:ea typeface="Times New Roman" panose="02020603050405020304" pitchFamily="18" charset="0"/>
                <a:cs typeface="Times New Roman" panose="02020603050405020304" pitchFamily="18" charset="0"/>
              </a:rPr>
              <a:t> script file to open it.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A</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B</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C</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D</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E</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 Note the error message.</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F</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smtClean="0">
                <a:latin typeface="Arial" panose="020B0604020202020204" pitchFamily="34" charset="0"/>
                <a:ea typeface="Times New Roman" panose="02020603050405020304" pitchFamily="18" charset="0"/>
                <a:cs typeface="Times New Roman" panose="02020603050405020304" pitchFamily="18" charset="0"/>
              </a:rPr>
              <a:t>.</a:t>
            </a:r>
          </a:p>
          <a:p>
            <a:pPr marL="342900" indent="-342900">
              <a:lnSpc>
                <a:spcPct val="115000"/>
              </a:lnSpc>
              <a:spcAft>
                <a:spcPts val="995"/>
              </a:spcAft>
              <a:buFont typeface="+mj-lt"/>
              <a:buAutoNum type="arabicPeriod"/>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Do not close SQL Server Management Studio</a:t>
            </a: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11</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885482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 DELETE trigger is a special kind of stored procedure that executes whenever a DELETE statement deletes data from a table or a view on which the trigger is configured.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may want to use a DELETE trigger when the record being deleted has referring records and you want to update or eliminate the references. For example, if you have an Authors table and a Books table, you may want to delete the books associated when an author is deleted. While this could be done with cascading referential integrity, you might also use the DELETE trigger to move records to an audit or archive table when they are deleted, or to execute more complex logic.</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Point out to students that DELETE triggers are not executed for TRUNCATE TABLE operations.</a:t>
            </a:r>
          </a:p>
        </p:txBody>
      </p:sp>
      <p:sp>
        <p:nvSpPr>
          <p:cNvPr id="4" name="Slide Number Placeholder 3"/>
          <p:cNvSpPr>
            <a:spLocks noGrp="1"/>
          </p:cNvSpPr>
          <p:nvPr>
            <p:ph type="sldNum" sz="quarter" idx="10"/>
          </p:nvPr>
        </p:nvSpPr>
        <p:spPr/>
        <p:txBody>
          <a:bodyPr/>
          <a:lstStyle/>
          <a:p>
            <a:fld id="{68AE6803-1B25-4159-AEE7-2054A4A21AE8}" type="slidenum">
              <a:rPr lang="en-GB" smtClean="0"/>
              <a:t>12</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322245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Complete the previous Demo.</a:t>
            </a: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Create and Test AFTER DELETE Triggers </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Queries</a:t>
            </a:r>
            <a:r>
              <a:rPr lang="en-US" sz="1000" dirty="0">
                <a:latin typeface="Arial" panose="020B0604020202020204" pitchFamily="34" charset="0"/>
                <a:ea typeface="Times New Roman" panose="02020603050405020304" pitchFamily="18" charset="0"/>
                <a:cs typeface="Times New Roman" panose="02020603050405020304" pitchFamily="18" charset="0"/>
              </a:rPr>
              <a:t> folder, double-click the </a:t>
            </a:r>
            <a:r>
              <a:rPr lang="en-US" sz="1000" b="1" dirty="0">
                <a:latin typeface="Arial" panose="020B0604020202020204" pitchFamily="34" charset="0"/>
                <a:ea typeface="Times New Roman" panose="02020603050405020304" pitchFamily="18" charset="0"/>
                <a:cs typeface="Times New Roman" panose="02020603050405020304" pitchFamily="18" charset="0"/>
              </a:rPr>
              <a:t>22 - Demonstration 2B.sql</a:t>
            </a:r>
            <a:r>
              <a:rPr lang="en-US" sz="1000" dirty="0">
                <a:latin typeface="Arial" panose="020B0604020202020204" pitchFamily="34" charset="0"/>
                <a:ea typeface="Times New Roman" panose="02020603050405020304" pitchFamily="18" charset="0"/>
                <a:cs typeface="Times New Roman" panose="02020603050405020304" pitchFamily="18" charset="0"/>
              </a:rPr>
              <a:t> script file to open it.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A</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B</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C</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D</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 Note the error message.</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E</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smtClean="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smtClean="0">
                <a:latin typeface="Arial" panose="020B0604020202020204" pitchFamily="34" charset="0"/>
                <a:ea typeface="Times New Roman" panose="02020603050405020304" pitchFamily="18" charset="0"/>
                <a:cs typeface="Times New Roman" panose="02020603050405020304" pitchFamily="18" charset="0"/>
              </a:rPr>
              <a:t>.</a:t>
            </a:r>
          </a:p>
          <a:p>
            <a:pPr marL="342900" lvl="0" indent="-342900">
              <a:lnSpc>
                <a:spcPct val="115000"/>
              </a:lnSpc>
              <a:spcAft>
                <a:spcPts val="995"/>
              </a:spcAft>
              <a:buFont typeface="+mj-lt"/>
              <a:buAutoNum type="arabicPeriod"/>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Do not close SQL Server Management Studio.</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13</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223886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An UPDATE trigger executes whenever an UPDATE statement changes data in a table or a view on which the trigger is configured.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Walk the students through the CREATE TRIGGER example on the slide.</a:t>
            </a:r>
          </a:p>
        </p:txBody>
      </p:sp>
      <p:sp>
        <p:nvSpPr>
          <p:cNvPr id="4" name="Slide Number Placeholder 3"/>
          <p:cNvSpPr>
            <a:spLocks noGrp="1"/>
          </p:cNvSpPr>
          <p:nvPr>
            <p:ph type="sldNum" sz="quarter" idx="10"/>
          </p:nvPr>
        </p:nvSpPr>
        <p:spPr/>
        <p:txBody>
          <a:bodyPr/>
          <a:lstStyle/>
          <a:p>
            <a:fld id="{68AE6803-1B25-4159-AEE7-2054A4A21AE8}" type="slidenum">
              <a:rPr lang="en-GB" smtClean="0"/>
              <a:t>14</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602969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Complete the previous Demo.</a:t>
            </a: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Create and Test AFTER UPDATE Triggers </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Queries</a:t>
            </a:r>
            <a:r>
              <a:rPr lang="en-US" sz="1000" dirty="0">
                <a:latin typeface="Arial" panose="020B0604020202020204" pitchFamily="34" charset="0"/>
                <a:ea typeface="Times New Roman" panose="02020603050405020304" pitchFamily="18" charset="0"/>
                <a:cs typeface="Times New Roman" panose="02020603050405020304" pitchFamily="18" charset="0"/>
              </a:rPr>
              <a:t> folder, double-click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23 - Demonstration 2C.sql</a:t>
            </a:r>
            <a:r>
              <a:rPr lang="en-US" sz="1000" dirty="0">
                <a:latin typeface="Arial" panose="020B0604020202020204" pitchFamily="34" charset="0"/>
                <a:ea typeface="Times New Roman" panose="02020603050405020304" pitchFamily="18" charset="0"/>
                <a:cs typeface="Times New Roman" panose="02020603050405020304" pitchFamily="18" charset="0"/>
              </a:rPr>
              <a:t> to open it.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A</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B</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C</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D</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E</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F</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G</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H</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I</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J</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K</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 Note that no triggers are </a:t>
            </a:r>
            <a:r>
              <a:rPr lang="en-US" sz="1000" dirty="0" smtClean="0">
                <a:latin typeface="Arial" panose="020B0604020202020204" pitchFamily="34" charset="0"/>
                <a:ea typeface="Times New Roman" panose="02020603050405020304" pitchFamily="18" charset="0"/>
                <a:cs typeface="Times New Roman" panose="02020603050405020304" pitchFamily="18" charset="0"/>
              </a:rPr>
              <a:t>returned.</a:t>
            </a:r>
          </a:p>
          <a:p>
            <a:pPr marL="342900" lvl="0" indent="-342900">
              <a:lnSpc>
                <a:spcPct val="115000"/>
              </a:lnSpc>
              <a:spcAft>
                <a:spcPts val="995"/>
              </a:spcAft>
              <a:buFont typeface="+mj-lt"/>
              <a:buAutoNum type="arabicPeriod"/>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Do not close SQL Server Management Studio.</a:t>
            </a:r>
          </a:p>
        </p:txBody>
      </p:sp>
      <p:sp>
        <p:nvSpPr>
          <p:cNvPr id="4" name="Slide Number Placeholder 3"/>
          <p:cNvSpPr>
            <a:spLocks noGrp="1"/>
          </p:cNvSpPr>
          <p:nvPr>
            <p:ph type="sldNum" sz="quarter" idx="10"/>
          </p:nvPr>
        </p:nvSpPr>
        <p:spPr/>
        <p:txBody>
          <a:bodyPr/>
          <a:lstStyle/>
          <a:p>
            <a:fld id="{68AE6803-1B25-4159-AEE7-2054A4A21AE8}" type="slidenum">
              <a:rPr lang="en-GB" smtClean="0"/>
              <a:t>15</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
        <p:nvSpPr>
          <p:cNvPr id="7" name="TextBox 6"/>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Tree>
    <p:extLst>
      <p:ext uri="{BB962C8B-B14F-4D97-AF65-F5344CB8AC3E}">
        <p14:creationId xmlns:p14="http://schemas.microsoft.com/office/powerpoint/2010/main" val="3882827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Is the following statement true or false?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“When rows are deleted from a table by using a DELETE statement, any AFTER DELETE triggers are fired when the deletion is completed. DELETE ROWS is an administrative option that removes all </a:t>
            </a:r>
            <a:r>
              <a:rPr lang="en-GB" sz="1000" dirty="0" smtClean="0">
                <a:latin typeface="Arial" panose="020B0604020202020204" pitchFamily="34" charset="0"/>
                <a:ea typeface="Calibri" panose="020F0502020204030204" pitchFamily="34" charset="0"/>
                <a:cs typeface="Times New Roman" panose="02020603050405020304" pitchFamily="18" charset="0"/>
              </a:rPr>
              <a:t>rows </a:t>
            </a: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from </a:t>
            </a: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 table.”</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)False</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)True</a:t>
            </a:r>
          </a:p>
          <a:p>
            <a:pPr lvl="0">
              <a:lnSpc>
                <a:spcPct val="107000"/>
              </a:lnSpc>
              <a:spcAft>
                <a:spcPts val="800"/>
              </a:spcAft>
            </a:pPr>
            <a:r>
              <a:rPr lang="en-GB"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(√)False</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True</a:t>
            </a:r>
            <a:endPar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16</a:t>
            </a:fld>
            <a:endParaRPr lang="en-GB" dirty="0"/>
          </a:p>
        </p:txBody>
      </p:sp>
      <p:sp>
        <p:nvSpPr>
          <p:cNvPr id="5" name="TextBox 4"/>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982252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GB"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Question</a:t>
            </a:r>
            <a:endPar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Analyze this create trigger code and indicate the four errors. You can assume the table and columns have been created.</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Outline some code you could use to test the trigger.</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CREATE TRIGGER TR_SellingPrice_InsertUpdate</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dbo.SellingPrice</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AFTER INPUT, UPDATE AS BEGIN</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SET NOCOUNT OPEN;</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INSERT sp</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SET sp.ExtendedAmount = sp.SubTotal </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 sp.TaxAmount </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 sp.FreightAmount</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FROM dbo.SellingPrice AS sp</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INNER JOIN inserted AS i</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ON sp.SellingPriceID = i.SellingPriceId;</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539750" marR="73025" lvl="0">
              <a:lnSpc>
                <a:spcPts val="1000"/>
              </a:lnSpc>
              <a:spcBef>
                <a:spcPts val="600"/>
              </a:spcBef>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END;</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GO</a:t>
            </a:r>
            <a:endParaRPr lang="en-GB" dirty="0"/>
          </a:p>
        </p:txBody>
      </p:sp>
      <p:sp>
        <p:nvSpPr>
          <p:cNvPr id="4" name="Slide Number Placeholder 3"/>
          <p:cNvSpPr>
            <a:spLocks noGrp="1"/>
          </p:cNvSpPr>
          <p:nvPr>
            <p:ph type="sldNum" sz="quarter" idx="10"/>
          </p:nvPr>
        </p:nvSpPr>
        <p:spPr/>
        <p:txBody>
          <a:bodyPr/>
          <a:lstStyle/>
          <a:p>
            <a:fld id="{68AE6803-1B25-4159-AEE7-2054A4A21AE8}" type="slidenum">
              <a:rPr lang="en-GB" smtClean="0"/>
              <a:t>17</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
        <p:nvSpPr>
          <p:cNvPr id="7" name="TextBox 6"/>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Tree>
    <p:extLst>
      <p:ext uri="{BB962C8B-B14F-4D97-AF65-F5344CB8AC3E}">
        <p14:creationId xmlns:p14="http://schemas.microsoft.com/office/powerpoint/2010/main" val="1903311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68AE6803-1B25-4159-AEE7-2054A4A21AE8}" type="slidenum">
              <a:rPr lang="en-GB" smtClean="0"/>
              <a:t>18</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
        <p:nvSpPr>
          <p:cNvPr id="7" name="Notes Placeholder 2"/>
          <p:cNvSpPr txBox="1">
            <a:spLocks/>
          </p:cNvSpPr>
          <p:nvPr/>
        </p:nvSpPr>
        <p:spPr>
          <a:xfrm>
            <a:off x="310896" y="2093976"/>
            <a:ext cx="6153912" cy="6604000"/>
          </a:xfrm>
          <a:prstGeom prst="rect">
            <a:avLst/>
          </a:prstGeom>
        </p:spPr>
        <p:txBody>
          <a:bodyPr vert="horz" lIns="91440" tIns="45720" rIns="91440" bIns="45720" rtlCol="0">
            <a:noAutofit/>
          </a:bodyPr>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fontAlgn="auto">
              <a:lnSpc>
                <a:spcPct val="107000"/>
              </a:lnSpc>
              <a:spcBef>
                <a:spcPts val="0"/>
              </a:spcBef>
              <a:spcAft>
                <a:spcPts val="800"/>
              </a:spcAft>
            </a:pPr>
            <a:r>
              <a:rPr lang="en-GB"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GB" sz="1000" b="0" dirty="0" smtClean="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228600" lvl="0" indent="-228600">
              <a:buFont typeface="+mj-lt"/>
              <a:buAutoNum type="arabicPeriod"/>
            </a:pPr>
            <a:r>
              <a:rPr lang="en-US" sz="1000" b="0" dirty="0">
                <a:latin typeface="Arial" panose="020B0604020202020204" pitchFamily="34" charset="0"/>
                <a:cs typeface="Arial" panose="020B0604020202020204" pitchFamily="34" charset="0"/>
              </a:rPr>
              <a:t>The following code sample indicates the errors in the preceding code:</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CREATE TRIGGER </a:t>
            </a:r>
            <a:r>
              <a:rPr lang="en-US" sz="1000" b="0" dirty="0" err="1">
                <a:latin typeface="Arial" panose="020B0604020202020204" pitchFamily="34" charset="0"/>
                <a:cs typeface="Arial" panose="020B0604020202020204" pitchFamily="34" charset="0"/>
              </a:rPr>
              <a:t>TR_SellingPrice_InsertUpdate</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ON </a:t>
            </a:r>
            <a:r>
              <a:rPr lang="en-US" sz="1000" b="0" dirty="0" err="1">
                <a:latin typeface="Arial" panose="020B0604020202020204" pitchFamily="34" charset="0"/>
                <a:cs typeface="Arial" panose="020B0604020202020204" pitchFamily="34" charset="0"/>
              </a:rPr>
              <a:t>dbo.SellingPrice</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AFTER INSERT, UPDATE AS BEGIN</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SET NOCOUNT ON;</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UPDATE </a:t>
            </a:r>
            <a:r>
              <a:rPr lang="en-US" sz="1000" b="0" dirty="0" err="1">
                <a:latin typeface="Arial" panose="020B0604020202020204" pitchFamily="34" charset="0"/>
                <a:cs typeface="Arial" panose="020B0604020202020204" pitchFamily="34" charset="0"/>
              </a:rPr>
              <a:t>sp</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SET </a:t>
            </a:r>
            <a:r>
              <a:rPr lang="en-US" sz="1000" b="0" dirty="0" err="1">
                <a:latin typeface="Arial" panose="020B0604020202020204" pitchFamily="34" charset="0"/>
                <a:cs typeface="Arial" panose="020B0604020202020204" pitchFamily="34" charset="0"/>
              </a:rPr>
              <a:t>sp.ExtendedAmount</a:t>
            </a:r>
            <a:r>
              <a:rPr lang="en-US" sz="1000" b="0" dirty="0">
                <a:latin typeface="Arial" panose="020B0604020202020204" pitchFamily="34" charset="0"/>
                <a:cs typeface="Arial" panose="020B0604020202020204" pitchFamily="34" charset="0"/>
              </a:rPr>
              <a:t> = </a:t>
            </a:r>
            <a:r>
              <a:rPr lang="en-US" sz="1000" b="0" dirty="0" err="1">
                <a:latin typeface="Arial" panose="020B0604020202020204" pitchFamily="34" charset="0"/>
                <a:cs typeface="Arial" panose="020B0604020202020204" pitchFamily="34" charset="0"/>
              </a:rPr>
              <a:t>sp.SubTotal</a:t>
            </a:r>
            <a:r>
              <a:rPr lang="en-US" sz="1000" b="0" dirty="0">
                <a:latin typeface="Arial" panose="020B0604020202020204" pitchFamily="34" charset="0"/>
                <a:cs typeface="Arial" panose="020B0604020202020204" pitchFamily="34" charset="0"/>
              </a:rPr>
              <a:t> </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 </a:t>
            </a:r>
            <a:r>
              <a:rPr lang="en-US" sz="1000" b="0" dirty="0" err="1">
                <a:latin typeface="Arial" panose="020B0604020202020204" pitchFamily="34" charset="0"/>
                <a:cs typeface="Arial" panose="020B0604020202020204" pitchFamily="34" charset="0"/>
              </a:rPr>
              <a:t>sp.TaxAmount</a:t>
            </a:r>
            <a:r>
              <a:rPr lang="en-US" sz="1000" b="0" dirty="0">
                <a:latin typeface="Arial" panose="020B0604020202020204" pitchFamily="34" charset="0"/>
                <a:cs typeface="Arial" panose="020B0604020202020204" pitchFamily="34" charset="0"/>
              </a:rPr>
              <a:t> </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 </a:t>
            </a:r>
            <a:r>
              <a:rPr lang="en-US" sz="1000" b="0" dirty="0" err="1">
                <a:latin typeface="Arial" panose="020B0604020202020204" pitchFamily="34" charset="0"/>
                <a:cs typeface="Arial" panose="020B0604020202020204" pitchFamily="34" charset="0"/>
              </a:rPr>
              <a:t>sp.FreightAmount</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FROM </a:t>
            </a:r>
            <a:r>
              <a:rPr lang="en-US" sz="1000" b="0" dirty="0" err="1">
                <a:latin typeface="Arial" panose="020B0604020202020204" pitchFamily="34" charset="0"/>
                <a:cs typeface="Arial" panose="020B0604020202020204" pitchFamily="34" charset="0"/>
              </a:rPr>
              <a:t>dbo.SellingPrice</a:t>
            </a:r>
            <a:r>
              <a:rPr lang="en-US" sz="1000" b="0" dirty="0">
                <a:latin typeface="Arial" panose="020B0604020202020204" pitchFamily="34" charset="0"/>
                <a:cs typeface="Arial" panose="020B0604020202020204" pitchFamily="34" charset="0"/>
              </a:rPr>
              <a:t> AS </a:t>
            </a:r>
            <a:r>
              <a:rPr lang="en-US" sz="1000" b="0" dirty="0" err="1">
                <a:latin typeface="Arial" panose="020B0604020202020204" pitchFamily="34" charset="0"/>
                <a:cs typeface="Arial" panose="020B0604020202020204" pitchFamily="34" charset="0"/>
              </a:rPr>
              <a:t>sp</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INNER JOIN inserted AS </a:t>
            </a:r>
            <a:r>
              <a:rPr lang="en-US" sz="1000" b="0" dirty="0" err="1">
                <a:latin typeface="Arial" panose="020B0604020202020204" pitchFamily="34" charset="0"/>
                <a:cs typeface="Arial" panose="020B0604020202020204" pitchFamily="34" charset="0"/>
              </a:rPr>
              <a:t>i</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ON </a:t>
            </a:r>
            <a:r>
              <a:rPr lang="en-US" sz="1000" b="0" dirty="0" err="1">
                <a:latin typeface="Arial" panose="020B0604020202020204" pitchFamily="34" charset="0"/>
                <a:cs typeface="Arial" panose="020B0604020202020204" pitchFamily="34" charset="0"/>
              </a:rPr>
              <a:t>sp.SellingPriceID</a:t>
            </a:r>
            <a:r>
              <a:rPr lang="en-US" sz="1000" b="0" dirty="0">
                <a:latin typeface="Arial" panose="020B0604020202020204" pitchFamily="34" charset="0"/>
                <a:cs typeface="Arial" panose="020B0604020202020204" pitchFamily="34" charset="0"/>
              </a:rPr>
              <a:t> = </a:t>
            </a:r>
            <a:r>
              <a:rPr lang="en-US" sz="1000" b="0" dirty="0" err="1">
                <a:latin typeface="Arial" panose="020B0604020202020204" pitchFamily="34" charset="0"/>
                <a:cs typeface="Arial" panose="020B0604020202020204" pitchFamily="34" charset="0"/>
              </a:rPr>
              <a:t>i.SellingPriceId</a:t>
            </a:r>
            <a:r>
              <a:rPr lang="en-US" sz="1000" b="0" dirty="0">
                <a:latin typeface="Arial" panose="020B0604020202020204" pitchFamily="34" charset="0"/>
                <a:cs typeface="Arial" panose="020B0604020202020204" pitchFamily="34" charset="0"/>
              </a:rPr>
              <a:t>;</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END;</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GO</a:t>
            </a:r>
            <a:endParaRPr lang="en-GB" sz="1000" b="0" dirty="0">
              <a:latin typeface="Arial" panose="020B0604020202020204" pitchFamily="34" charset="0"/>
              <a:cs typeface="Arial" panose="020B0604020202020204" pitchFamily="34" charset="0"/>
            </a:endParaRPr>
          </a:p>
          <a:p>
            <a:pPr marL="228600" lvl="0" indent="-228600">
              <a:buFont typeface="+mj-lt"/>
              <a:buAutoNum type="arabicPeriod" startAt="2"/>
            </a:pPr>
            <a:r>
              <a:rPr lang="en-US" sz="1000" b="0" dirty="0">
                <a:latin typeface="Arial" panose="020B0604020202020204" pitchFamily="34" charset="0"/>
                <a:cs typeface="Arial" panose="020B0604020202020204" pitchFamily="34" charset="0"/>
              </a:rPr>
              <a:t>The following example code will test the INSERT trigger. You should first INSERT some data, and then perform a SELECT to view the results:</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INSERT INTO </a:t>
            </a:r>
            <a:r>
              <a:rPr lang="en-US" sz="1000" b="0" dirty="0" err="1">
                <a:latin typeface="Arial" panose="020B0604020202020204" pitchFamily="34" charset="0"/>
                <a:cs typeface="Arial" panose="020B0604020202020204" pitchFamily="34" charset="0"/>
              </a:rPr>
              <a:t>dbo.SellingPrice</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a:t>
            </a:r>
            <a:r>
              <a:rPr lang="en-US" sz="1000" b="0" dirty="0" err="1">
                <a:latin typeface="Arial" panose="020B0604020202020204" pitchFamily="34" charset="0"/>
                <a:cs typeface="Arial" panose="020B0604020202020204" pitchFamily="34" charset="0"/>
              </a:rPr>
              <a:t>SubTotal</a:t>
            </a:r>
            <a:r>
              <a:rPr lang="en-US" sz="1000" b="0" dirty="0">
                <a:latin typeface="Arial" panose="020B0604020202020204" pitchFamily="34" charset="0"/>
                <a:cs typeface="Arial" panose="020B0604020202020204" pitchFamily="34" charset="0"/>
              </a:rPr>
              <a:t>, </a:t>
            </a:r>
            <a:r>
              <a:rPr lang="en-US" sz="1000" b="0" dirty="0" err="1">
                <a:latin typeface="Arial" panose="020B0604020202020204" pitchFamily="34" charset="0"/>
                <a:cs typeface="Arial" panose="020B0604020202020204" pitchFamily="34" charset="0"/>
              </a:rPr>
              <a:t>TaxAmount</a:t>
            </a:r>
            <a:r>
              <a:rPr lang="en-US" sz="1000" b="0" dirty="0">
                <a:latin typeface="Arial" panose="020B0604020202020204" pitchFamily="34" charset="0"/>
                <a:cs typeface="Arial" panose="020B0604020202020204" pitchFamily="34" charset="0"/>
              </a:rPr>
              <a:t>, </a:t>
            </a:r>
            <a:r>
              <a:rPr lang="en-US" sz="1000" b="0" dirty="0" err="1">
                <a:latin typeface="Arial" panose="020B0604020202020204" pitchFamily="34" charset="0"/>
                <a:cs typeface="Arial" panose="020B0604020202020204" pitchFamily="34" charset="0"/>
              </a:rPr>
              <a:t>FreightAmount</a:t>
            </a:r>
            <a:r>
              <a:rPr lang="en-US" sz="1000" b="0" dirty="0">
                <a:latin typeface="Arial" panose="020B0604020202020204" pitchFamily="34" charset="0"/>
                <a:cs typeface="Arial" panose="020B0604020202020204" pitchFamily="34" charset="0"/>
              </a:rPr>
              <a:t>)</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VALUES (12.3, 1.23, 10), (5, 1, 2);</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GO</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 </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SELECT * FROM </a:t>
            </a:r>
            <a:r>
              <a:rPr lang="en-US" sz="1000" b="0" dirty="0" err="1">
                <a:latin typeface="Arial" panose="020B0604020202020204" pitchFamily="34" charset="0"/>
                <a:cs typeface="Arial" panose="020B0604020202020204" pitchFamily="34" charset="0"/>
              </a:rPr>
              <a:t>dbo.SellingPrice</a:t>
            </a:r>
            <a:r>
              <a:rPr lang="en-US" sz="1000" b="0" dirty="0">
                <a:latin typeface="Arial" panose="020B0604020202020204" pitchFamily="34" charset="0"/>
                <a:cs typeface="Arial" panose="020B0604020202020204" pitchFamily="34" charset="0"/>
              </a:rPr>
              <a:t>;</a:t>
            </a:r>
            <a:endParaRPr lang="en-GB" sz="1000" b="0" dirty="0">
              <a:latin typeface="Arial" panose="020B0604020202020204" pitchFamily="34" charset="0"/>
              <a:cs typeface="Arial" panose="020B0604020202020204" pitchFamily="34" charset="0"/>
            </a:endParaRPr>
          </a:p>
          <a:p>
            <a:pPr lvl="1"/>
            <a:r>
              <a:rPr lang="en-US" sz="1000" b="0" dirty="0">
                <a:latin typeface="Arial" panose="020B0604020202020204" pitchFamily="34" charset="0"/>
                <a:cs typeface="Arial" panose="020B0604020202020204" pitchFamily="34" charset="0"/>
              </a:rPr>
              <a:t>GO</a:t>
            </a:r>
            <a:endParaRPr lang="en-GB" sz="10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8410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An INSTEAD OF trigger is executed in place of the usual triggering action.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Walk the students through the CREATE TRIGGER statement and explain the options used. In the example, we are making sure that products are flagged as discontinued when someone tries to delete them.</a:t>
            </a:r>
          </a:p>
        </p:txBody>
      </p:sp>
      <p:sp>
        <p:nvSpPr>
          <p:cNvPr id="4" name="Slide Number Placeholder 3"/>
          <p:cNvSpPr>
            <a:spLocks noGrp="1"/>
          </p:cNvSpPr>
          <p:nvPr>
            <p:ph type="sldNum" sz="quarter" idx="10"/>
          </p:nvPr>
        </p:nvSpPr>
        <p:spPr/>
        <p:txBody>
          <a:bodyPr/>
          <a:lstStyle/>
          <a:p>
            <a:fld id="{68AE6803-1B25-4159-AEE7-2054A4A21AE8}" type="slidenum">
              <a:rPr lang="en-GB" smtClean="0"/>
              <a:t>19</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992801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Complete the previous Demo.</a:t>
            </a: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Create and Test an INSTEAD OF DELETE Trigger </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Queries</a:t>
            </a:r>
            <a:r>
              <a:rPr lang="en-US" sz="1000" dirty="0">
                <a:latin typeface="Arial" panose="020B0604020202020204" pitchFamily="34" charset="0"/>
                <a:ea typeface="Times New Roman" panose="02020603050405020304" pitchFamily="18" charset="0"/>
                <a:cs typeface="Times New Roman" panose="02020603050405020304" pitchFamily="18" charset="0"/>
              </a:rPr>
              <a:t> folder, double-click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31 - Demonstration 3A.sql</a:t>
            </a:r>
            <a:r>
              <a:rPr lang="en-US" sz="1000" dirty="0">
                <a:latin typeface="Arial" panose="020B0604020202020204" pitchFamily="34" charset="0"/>
                <a:ea typeface="Times New Roman" panose="02020603050405020304" pitchFamily="18" charset="0"/>
                <a:cs typeface="Times New Roman" panose="02020603050405020304" pitchFamily="18" charset="0"/>
              </a:rPr>
              <a:t>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Solution Explorer</a:t>
            </a:r>
            <a:r>
              <a:rPr lang="en-US" sz="1000" dirty="0">
                <a:latin typeface="Arial" panose="020B0604020202020204" pitchFamily="34" charset="0"/>
                <a:ea typeface="Times New Roman" panose="02020603050405020304" pitchFamily="18" charset="0"/>
                <a:cs typeface="Times New Roman" panose="02020603050405020304" pitchFamily="18" charset="0"/>
              </a:rPr>
              <a:t> script file to open it.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A</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B</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C</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D</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E</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F</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G</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H</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I</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J</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K</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L</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 Note the error message.</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M</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 Note the error message.</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N</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O</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20</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
        <p:nvSpPr>
          <p:cNvPr id="7" name="TextBox 6"/>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Tree>
    <p:extLst>
      <p:ext uri="{BB962C8B-B14F-4D97-AF65-F5344CB8AC3E}">
        <p14:creationId xmlns:p14="http://schemas.microsoft.com/office/powerpoint/2010/main" val="3599673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17"/>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Step 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7"/>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Step 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7"/>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Step 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7"/>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Step U</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GB"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7"/>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Step V</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Execute</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p>
          <a:p>
            <a:pPr marL="342900" lvl="0" indent="-342900">
              <a:lnSpc>
                <a:spcPct val="115000"/>
              </a:lnSpc>
              <a:spcAft>
                <a:spcPts val="995"/>
              </a:spcAft>
              <a:buFont typeface="+mj-lt"/>
              <a:buAutoNum type="arabicPeriod" startAt="17"/>
            </a:pP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Do </a:t>
            </a: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not close SQL Server Management Studio.</a:t>
            </a:r>
            <a:endParaRPr lang="en-GB" dirty="0"/>
          </a:p>
        </p:txBody>
      </p:sp>
      <p:sp>
        <p:nvSpPr>
          <p:cNvPr id="4" name="Slide Number Placeholder 3"/>
          <p:cNvSpPr>
            <a:spLocks noGrp="1"/>
          </p:cNvSpPr>
          <p:nvPr>
            <p:ph type="sldNum" sz="quarter" idx="10"/>
          </p:nvPr>
        </p:nvSpPr>
        <p:spPr/>
        <p:txBody>
          <a:bodyPr/>
          <a:lstStyle/>
          <a:p>
            <a:fld id="{68AE6803-1B25-4159-AEE7-2054A4A21AE8}" type="slidenum">
              <a:rPr lang="en-GB" smtClean="0"/>
              <a:t>21</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4103473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Nested triggers are ON by default and set as a server level option. Any trigger can contain an UPDATE, INSERT, or DELETE statement that affects another table. Triggers are nested when a trigger performs an action that initiates another trigger.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Triggers can be nested up to 32 levels.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Stress that nested triggers can be disabled by an administrator at the server level.</a:t>
            </a:r>
          </a:p>
        </p:txBody>
      </p:sp>
      <p:sp>
        <p:nvSpPr>
          <p:cNvPr id="4" name="Slide Number Placeholder 3"/>
          <p:cNvSpPr>
            <a:spLocks noGrp="1"/>
          </p:cNvSpPr>
          <p:nvPr>
            <p:ph type="sldNum" sz="quarter" idx="10"/>
          </p:nvPr>
        </p:nvSpPr>
        <p:spPr/>
        <p:txBody>
          <a:bodyPr/>
          <a:lstStyle/>
          <a:p>
            <a:fld id="{68AE6803-1B25-4159-AEE7-2054A4A21AE8}" type="slidenum">
              <a:rPr lang="en-GB" smtClean="0"/>
              <a:t>22</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487565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Use this slide to explain how recursive triggers happen and the important considerations. Mention that nested triggers are a server option, which is ON by default, and recursive triggers are a database option, which is OFF by default.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 recursive trigger performs an action that causes the same trigger to fire again, either directly or indirectly—just as in the previous slide, except that the trigger points back to the same table (direct) or a trigger fired from another table as a result points back to the table (indirect).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can use the RECURSIVE_TRIGGERS database option to enable or disable direct recursion in triggers.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use the SQL Server nested triggers configuration to enable or disable indirect recursion.</a:t>
            </a:r>
          </a:p>
        </p:txBody>
      </p:sp>
      <p:sp>
        <p:nvSpPr>
          <p:cNvPr id="4" name="Slide Number Placeholder 3"/>
          <p:cNvSpPr>
            <a:spLocks noGrp="1"/>
          </p:cNvSpPr>
          <p:nvPr>
            <p:ph type="sldNum" sz="quarter" idx="10"/>
          </p:nvPr>
        </p:nvSpPr>
        <p:spPr/>
        <p:txBody>
          <a:bodyPr/>
          <a:lstStyle/>
          <a:p>
            <a:fld id="{68AE6803-1B25-4159-AEE7-2054A4A21AE8}" type="slidenum">
              <a:rPr lang="en-GB" smtClean="0"/>
              <a:t>23</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957917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It is important to note that the value is not related to whether the value in a column is being updated, only to whether or not the column is one of the columns that is being updated. Even if a value is being changed to the same value it already has, it will be included by this function.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Mention that the COLUMNS_UPDATED function can be used to retrieve a bitmap indicating which columns are being updated. However, it is much harder to use than the UPDATE function and depends upon the positional information for the column. Hard-coding that positional information in a trigger affects the maintainability of your trigger code. It also makes the code far less readable.</a:t>
            </a:r>
          </a:p>
        </p:txBody>
      </p:sp>
      <p:sp>
        <p:nvSpPr>
          <p:cNvPr id="4" name="Slide Number Placeholder 3"/>
          <p:cNvSpPr>
            <a:spLocks noGrp="1"/>
          </p:cNvSpPr>
          <p:nvPr>
            <p:ph type="sldNum" sz="quarter" idx="10"/>
          </p:nvPr>
        </p:nvSpPr>
        <p:spPr/>
        <p:txBody>
          <a:bodyPr/>
          <a:lstStyle/>
          <a:p>
            <a:fld id="{68AE6803-1B25-4159-AEE7-2054A4A21AE8}" type="slidenum">
              <a:rPr lang="en-GB" smtClean="0"/>
              <a:t>24</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531740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In general, you should not depend on the order that triggers fire in. SQL Server determines the order.</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sp_settriggerorder</a:t>
            </a:r>
            <a:r>
              <a:rPr lang="en-GB" sz="1000" dirty="0">
                <a:latin typeface="Arial" panose="020B0604020202020204" pitchFamily="34" charset="0"/>
                <a:ea typeface="Calibri" panose="020F0502020204030204" pitchFamily="34" charset="0"/>
                <a:cs typeface="Times New Roman" panose="02020603050405020304" pitchFamily="18" charset="0"/>
              </a:rPr>
              <a:t> does provide some control over this by specifying which triggers fire first and last.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If you specify both first and last, the triggers must be different.</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@order</a:t>
            </a:r>
            <a:r>
              <a:rPr lang="en-GB" sz="1000" dirty="0">
                <a:latin typeface="Arial" panose="020B0604020202020204" pitchFamily="34" charset="0"/>
                <a:ea typeface="Calibri" panose="020F0502020204030204" pitchFamily="34" charset="0"/>
                <a:cs typeface="Times New Roman" panose="02020603050405020304" pitchFamily="18" charset="0"/>
              </a:rPr>
              <a:t> can be </a:t>
            </a:r>
            <a:r>
              <a:rPr lang="en-GB" sz="1000" b="1" dirty="0">
                <a:latin typeface="Arial" panose="020B0604020202020204" pitchFamily="34" charset="0"/>
                <a:ea typeface="Calibri" panose="020F0502020204030204" pitchFamily="34" charset="0"/>
                <a:cs typeface="Times New Roman" panose="02020603050405020304" pitchFamily="18" charset="0"/>
              </a:rPr>
              <a:t>First</a:t>
            </a:r>
            <a:r>
              <a:rPr lang="en-GB" sz="1000" dirty="0">
                <a:latin typeface="Arial" panose="020B0604020202020204" pitchFamily="34" charset="0"/>
                <a:ea typeface="Calibri" panose="020F0502020204030204" pitchFamily="34" charset="0"/>
                <a:cs typeface="Times New Roman" panose="02020603050405020304" pitchFamily="18" charset="0"/>
              </a:rPr>
              <a:t>, </a:t>
            </a:r>
            <a:r>
              <a:rPr lang="en-GB" sz="1000" b="1" dirty="0">
                <a:latin typeface="Arial" panose="020B0604020202020204" pitchFamily="34" charset="0"/>
                <a:ea typeface="Calibri" panose="020F0502020204030204" pitchFamily="34" charset="0"/>
                <a:cs typeface="Times New Roman" panose="02020603050405020304" pitchFamily="18" charset="0"/>
              </a:rPr>
              <a:t>Last</a:t>
            </a:r>
            <a:r>
              <a:rPr lang="en-GB" sz="1000" dirty="0">
                <a:latin typeface="Arial" panose="020B0604020202020204" pitchFamily="34" charset="0"/>
                <a:ea typeface="Calibri" panose="020F0502020204030204" pitchFamily="34" charset="0"/>
                <a:cs typeface="Times New Roman" panose="02020603050405020304" pitchFamily="18" charset="0"/>
              </a:rPr>
              <a:t>, or </a:t>
            </a:r>
            <a:r>
              <a:rPr lang="en-GB" sz="1000" b="1" dirty="0">
                <a:latin typeface="Arial" panose="020B0604020202020204" pitchFamily="34" charset="0"/>
                <a:ea typeface="Calibri" panose="020F0502020204030204" pitchFamily="34" charset="0"/>
                <a:cs typeface="Times New Roman" panose="02020603050405020304" pitchFamily="18" charset="0"/>
              </a:rPr>
              <a:t>None</a:t>
            </a:r>
            <a:r>
              <a:rPr lang="en-GB" sz="1000" dirty="0">
                <a:latin typeface="Arial" panose="020B0604020202020204" pitchFamily="34" charset="0"/>
                <a:ea typeface="Calibri" panose="020F0502020204030204" pitchFamily="34" charset="0"/>
                <a:cs typeface="Times New Roman" panose="02020603050405020304" pitchFamily="18" charset="0"/>
              </a:rPr>
              <a:t>. </a:t>
            </a:r>
            <a:r>
              <a:rPr lang="en-GB" sz="1000" b="1" dirty="0">
                <a:latin typeface="Arial" panose="020B0604020202020204" pitchFamily="34" charset="0"/>
                <a:ea typeface="Calibri" panose="020F0502020204030204" pitchFamily="34" charset="0"/>
                <a:cs typeface="Times New Roman" panose="02020603050405020304" pitchFamily="18" charset="0"/>
              </a:rPr>
              <a:t>None</a:t>
            </a:r>
            <a:r>
              <a:rPr lang="en-GB" sz="1000" dirty="0">
                <a:latin typeface="Arial" panose="020B0604020202020204" pitchFamily="34" charset="0"/>
                <a:ea typeface="Calibri" panose="020F0502020204030204" pitchFamily="34" charset="0"/>
                <a:cs typeface="Times New Roman" panose="02020603050405020304" pitchFamily="18" charset="0"/>
              </a:rPr>
              <a:t> is the default and specifies undefined order.</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@stmttype</a:t>
            </a:r>
            <a:r>
              <a:rPr lang="en-GB" sz="1000" dirty="0">
                <a:latin typeface="Arial" panose="020B0604020202020204" pitchFamily="34" charset="0"/>
                <a:ea typeface="Calibri" panose="020F0502020204030204" pitchFamily="34" charset="0"/>
                <a:cs typeface="Times New Roman" panose="02020603050405020304" pitchFamily="18" charset="0"/>
              </a:rPr>
              <a:t> is the statement type and can be INSERT, UPDATE, or DELETE for DML triggers.</a:t>
            </a:r>
          </a:p>
        </p:txBody>
      </p:sp>
      <p:sp>
        <p:nvSpPr>
          <p:cNvPr id="4" name="Slide Number Placeholder 3"/>
          <p:cNvSpPr>
            <a:spLocks noGrp="1"/>
          </p:cNvSpPr>
          <p:nvPr>
            <p:ph type="sldNum" sz="quarter" idx="10"/>
          </p:nvPr>
        </p:nvSpPr>
        <p:spPr/>
        <p:txBody>
          <a:bodyPr/>
          <a:lstStyle/>
          <a:p>
            <a:fld id="{68AE6803-1B25-4159-AEE7-2054A4A21AE8}" type="slidenum">
              <a:rPr lang="en-GB" smtClean="0"/>
              <a:t>25</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917697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Many database developers use triggers to implement most of their integrity checking. In general, this is not a good practice.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Stress that triggers are not the answer to every problem. Instead, you should use the appropriate object that is designed for the task.</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For example, many users create triggers to maintain columns that could be computed columns. Computed columns are a better option for this. In addition, computed columns are less likely to be disabled than triggers.</a:t>
            </a:r>
          </a:p>
        </p:txBody>
      </p:sp>
      <p:sp>
        <p:nvSpPr>
          <p:cNvPr id="4" name="Slide Number Placeholder 3"/>
          <p:cNvSpPr>
            <a:spLocks noGrp="1"/>
          </p:cNvSpPr>
          <p:nvPr>
            <p:ph type="sldNum" sz="quarter" idx="10"/>
          </p:nvPr>
        </p:nvSpPr>
        <p:spPr/>
        <p:txBody>
          <a:bodyPr/>
          <a:lstStyle/>
          <a:p>
            <a:fld id="{68AE6803-1B25-4159-AEE7-2054A4A21AE8}" type="slidenum">
              <a:rPr lang="en-GB" smtClean="0"/>
              <a:t>26</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789938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Complete the previous Demo.</a:t>
            </a: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Replace a Trigger with a Computed Column</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Queries</a:t>
            </a:r>
            <a:r>
              <a:rPr lang="en-US" sz="1000" dirty="0">
                <a:latin typeface="Arial" panose="020B0604020202020204" pitchFamily="34" charset="0"/>
                <a:ea typeface="Times New Roman" panose="02020603050405020304" pitchFamily="18" charset="0"/>
                <a:cs typeface="Times New Roman" panose="02020603050405020304" pitchFamily="18" charset="0"/>
              </a:rPr>
              <a:t> folder, double-click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32 - Demonstration 3B.sql</a:t>
            </a:r>
            <a:r>
              <a:rPr lang="en-US" sz="1000" dirty="0">
                <a:latin typeface="Arial" panose="020B0604020202020204" pitchFamily="34" charset="0"/>
                <a:ea typeface="Times New Roman" panose="02020603050405020304" pitchFamily="18" charset="0"/>
                <a:cs typeface="Times New Roman" panose="02020603050405020304" pitchFamily="18" charset="0"/>
              </a:rPr>
              <a:t>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Solution Explorer</a:t>
            </a:r>
            <a:r>
              <a:rPr lang="en-US" sz="1000" dirty="0">
                <a:latin typeface="Arial" panose="020B0604020202020204" pitchFamily="34" charset="0"/>
                <a:ea typeface="Times New Roman" panose="02020603050405020304" pitchFamily="18" charset="0"/>
                <a:cs typeface="Times New Roman" panose="02020603050405020304" pitchFamily="18" charset="0"/>
              </a:rPr>
              <a:t> script file to open it.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A</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B</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C</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D</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E</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F</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G</a:t>
            </a:r>
            <a:r>
              <a:rPr lang="en-US" sz="1000" dirty="0">
                <a:latin typeface="Arial" panose="020B0604020202020204" pitchFamily="34" charset="0"/>
                <a:ea typeface="Times New Roman" panose="02020603050405020304" pitchFamily="18" charset="0"/>
                <a:cs typeface="Times New Roman" panose="02020603050405020304" pitchFamily="18" charset="0"/>
              </a:rPr>
              <a:t> comment, and then click </a:t>
            </a:r>
            <a:r>
              <a:rPr lang="en-US" sz="1000" b="1" dirty="0" smtClean="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smtClean="0">
                <a:latin typeface="Arial" panose="020B0604020202020204" pitchFamily="34" charset="0"/>
                <a:ea typeface="Times New Roman" panose="02020603050405020304" pitchFamily="18" charset="0"/>
                <a:cs typeface="Times New Roman" panose="02020603050405020304" pitchFamily="18" charset="0"/>
              </a:rPr>
              <a:t>.</a:t>
            </a:r>
          </a:p>
          <a:p>
            <a:pPr marL="342900" lvl="0" indent="-342900">
              <a:lnSpc>
                <a:spcPct val="115000"/>
              </a:lnSpc>
              <a:spcAft>
                <a:spcPts val="995"/>
              </a:spcAft>
              <a:buFont typeface="+mj-lt"/>
              <a:buAutoNum type="arabicPeriod"/>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Close </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SQL Server Management Studio, without saving any changes</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27</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
        <p:nvSpPr>
          <p:cNvPr id="7" name="TextBox 6"/>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Tree>
    <p:extLst>
      <p:ext uri="{BB962C8B-B14F-4D97-AF65-F5344CB8AC3E}">
        <p14:creationId xmlns:p14="http://schemas.microsoft.com/office/powerpoint/2010/main" val="3598525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What are the four missing terms from this statement indicated by &lt;XXX&gt;?</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&lt;XXX&gt;</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These triggers are most commonly used to enable views that are based on multiple base tables to be updatable. You can define &lt;XXX&gt; triggers on views that have one or more base tables, where they can extend the types of updates that a view can support.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This trigger executes instead of the original triggering action. &lt;XXX&gt; triggers increase the variety of types of updates that you can perform against a view. Each table or view is limited to one &lt;xxx&gt; trigger for each triggering action (&lt;XXX&gt;).</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can specify an &lt;XXX&gt; trigger on both tables and views. You cannot create an &lt;XXX&gt; trigger on </a:t>
            </a:r>
            <a:r>
              <a:rPr lang="en-GB" sz="1000" dirty="0" smtClean="0">
                <a:latin typeface="Arial" panose="020B0604020202020204" pitchFamily="34" charset="0"/>
                <a:ea typeface="Calibri" panose="020F0502020204030204" pitchFamily="34" charset="0"/>
                <a:cs typeface="Times New Roman" panose="02020603050405020304" pitchFamily="18" charset="0"/>
              </a:rPr>
              <a:t>views </a:t>
            </a: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that </a:t>
            </a: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have the &lt;XXX&gt; clause defined. You can perform operations on the base tables within the trigger. This avoids the trigger being called again. For example, you could perform a set of checks before inserting data, and then perform the insert on the base table.</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1: How Nested Triggers Work; INSTEAD OF; DELETE; CHECK OPTION</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2: Updatable Views; AFTER INSERT; INSERT, UPDATE, or DELETE; NO ROWCOUNT</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3: Updatable Views; INSTEAD OF; DML or DDL; CHECK OPTION</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4: Updatable Views; RATHER THAN; UPDATE; CHECK OPTION</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5: Updatable Views; INSTEAD OF; INSERT, UPDATE, or DELETE; CHECK OPTION</a:t>
            </a:r>
          </a:p>
          <a:p>
            <a:pPr lvl="0">
              <a:lnSpc>
                <a:spcPct val="107000"/>
              </a:lnSpc>
              <a:spcAft>
                <a:spcPts val="800"/>
              </a:spcAft>
            </a:pPr>
            <a:r>
              <a:rPr lang="en-GB"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5: Updatable Views; INSTEAD OF; INSERT, UPDATE, or DELETE; CHECK OPTION</a:t>
            </a:r>
            <a:endParaRPr lang="en-GB" dirty="0"/>
          </a:p>
        </p:txBody>
      </p:sp>
      <p:sp>
        <p:nvSpPr>
          <p:cNvPr id="4" name="Slide Number Placeholder 3"/>
          <p:cNvSpPr>
            <a:spLocks noGrp="1"/>
          </p:cNvSpPr>
          <p:nvPr>
            <p:ph type="sldNum" sz="quarter" idx="10"/>
          </p:nvPr>
        </p:nvSpPr>
        <p:spPr/>
        <p:txBody>
          <a:bodyPr/>
          <a:lstStyle/>
          <a:p>
            <a:fld id="{68AE6803-1B25-4159-AEE7-2054A4A21AE8}" type="slidenum">
              <a:rPr lang="en-GB" smtClean="0"/>
              <a:t>28</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4027315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Exercise 1: Create and Test the Audit Trigger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 </a:t>
            </a:r>
            <a:r>
              <a:rPr lang="en-GB" sz="1000" b="1" dirty="0">
                <a:latin typeface="Arial" panose="020B0604020202020204" pitchFamily="34" charset="0"/>
                <a:ea typeface="Calibri" panose="020F0502020204030204" pitchFamily="34" charset="0"/>
                <a:cs typeface="Times New Roman" panose="02020603050405020304" pitchFamily="18" charset="0"/>
              </a:rPr>
              <a:t>Production.Product</a:t>
            </a:r>
            <a:r>
              <a:rPr lang="en-GB" sz="1000" dirty="0">
                <a:latin typeface="Arial" panose="020B0604020202020204" pitchFamily="34" charset="0"/>
                <a:ea typeface="Calibri" panose="020F0502020204030204" pitchFamily="34" charset="0"/>
                <a:cs typeface="Times New Roman" panose="02020603050405020304" pitchFamily="18" charset="0"/>
              </a:rPr>
              <a:t> table includes a column called </a:t>
            </a:r>
            <a:r>
              <a:rPr lang="en-GB" sz="1000" b="1" dirty="0">
                <a:latin typeface="Arial" panose="020B0604020202020204" pitchFamily="34" charset="0"/>
                <a:ea typeface="Calibri" panose="020F0502020204030204" pitchFamily="34" charset="0"/>
                <a:cs typeface="Times New Roman" panose="02020603050405020304" pitchFamily="18" charset="0"/>
              </a:rPr>
              <a:t>ListPrice</a:t>
            </a:r>
            <a:r>
              <a:rPr lang="en-GB" sz="1000" dirty="0">
                <a:latin typeface="Arial" panose="020B0604020202020204" pitchFamily="34" charset="0"/>
                <a:ea typeface="Calibri" panose="020F0502020204030204" pitchFamily="34" charset="0"/>
                <a:cs typeface="Times New Roman" panose="02020603050405020304" pitchFamily="18" charset="0"/>
              </a:rPr>
              <a:t>. Whenever an update is made to the table, if either the existing balance or the new balance is greater than </a:t>
            </a:r>
            <a:r>
              <a:rPr lang="en-GB" sz="1000" b="1" dirty="0">
                <a:latin typeface="Arial" panose="020B0604020202020204" pitchFamily="34" charset="0"/>
                <a:ea typeface="Calibri" panose="020F0502020204030204" pitchFamily="34" charset="0"/>
                <a:cs typeface="Times New Roman" panose="02020603050405020304" pitchFamily="18" charset="0"/>
              </a:rPr>
              <a:t>1,000 US dollars</a:t>
            </a:r>
            <a:r>
              <a:rPr lang="en-GB" sz="1000" dirty="0">
                <a:latin typeface="Arial" panose="020B0604020202020204" pitchFamily="34" charset="0"/>
                <a:ea typeface="Calibri" panose="020F0502020204030204" pitchFamily="34" charset="0"/>
                <a:cs typeface="Times New Roman" panose="02020603050405020304" pitchFamily="18" charset="0"/>
              </a:rPr>
              <a:t>, an entry must be written to the </a:t>
            </a:r>
            <a:r>
              <a:rPr lang="en-GB" sz="1000" b="1" dirty="0">
                <a:latin typeface="Arial" panose="020B0604020202020204" pitchFamily="34" charset="0"/>
                <a:ea typeface="Calibri" panose="020F0502020204030204" pitchFamily="34" charset="0"/>
                <a:cs typeface="Times New Roman" panose="02020603050405020304" pitchFamily="18" charset="0"/>
              </a:rPr>
              <a:t>Production.ProductAudit</a:t>
            </a:r>
            <a:r>
              <a:rPr lang="en-GB" sz="1000" dirty="0">
                <a:latin typeface="Arial" panose="020B0604020202020204" pitchFamily="34" charset="0"/>
                <a:ea typeface="Calibri" panose="020F0502020204030204" pitchFamily="34" charset="0"/>
                <a:cs typeface="Times New Roman" panose="02020603050405020304" pitchFamily="18" charset="0"/>
              </a:rPr>
              <a:t> audit table.</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Note: </a:t>
            </a:r>
            <a:r>
              <a:rPr lang="en-GB" sz="1000" dirty="0">
                <a:latin typeface="Arial" panose="020B0604020202020204" pitchFamily="34" charset="0"/>
                <a:ea typeface="Calibri" panose="020F0502020204030204" pitchFamily="34" charset="0"/>
                <a:cs typeface="Times New Roman" panose="02020603050405020304" pitchFamily="18" charset="0"/>
              </a:rPr>
              <a:t>Inserts or deletes on the table do not have to be audited. Details of the current user can be taken from the ORIGINAL_LOGIN() function.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Exercise 2: Improve the Audit Trigger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Now that the trigger created in the first exercise has been deployed to production, the operations team is complaining that too many entries are being audited. Many accounts have more than </a:t>
            </a:r>
            <a:r>
              <a:rPr lang="en-GB" sz="1000" b="1" dirty="0">
                <a:latin typeface="Arial" panose="020B0604020202020204" pitchFamily="34" charset="0"/>
                <a:ea typeface="Calibri" panose="020F0502020204030204" pitchFamily="34" charset="0"/>
                <a:cs typeface="Times New Roman" panose="02020603050405020304" pitchFamily="18" charset="0"/>
              </a:rPr>
              <a:t>10,000 US dollars</a:t>
            </a:r>
            <a:r>
              <a:rPr lang="en-GB" sz="1000" dirty="0">
                <a:latin typeface="Arial" panose="020B0604020202020204" pitchFamily="34" charset="0"/>
                <a:ea typeface="Calibri" panose="020F0502020204030204" pitchFamily="34" charset="0"/>
                <a:cs typeface="Times New Roman" panose="02020603050405020304" pitchFamily="18" charset="0"/>
              </a:rPr>
              <a:t> as a balance and minor movements of money are causing audit entries. You must modify the trigger so that only changes in the balance of more than </a:t>
            </a:r>
            <a:r>
              <a:rPr lang="en-GB" sz="1000" b="1" dirty="0">
                <a:latin typeface="Arial" panose="020B0604020202020204" pitchFamily="34" charset="0"/>
                <a:ea typeface="Calibri" panose="020F0502020204030204" pitchFamily="34" charset="0"/>
                <a:cs typeface="Times New Roman" panose="02020603050405020304" pitchFamily="18" charset="0"/>
              </a:rPr>
              <a:t>10,000 US dollars</a:t>
            </a:r>
            <a:r>
              <a:rPr lang="en-GB" sz="1000" dirty="0">
                <a:latin typeface="Arial" panose="020B0604020202020204" pitchFamily="34" charset="0"/>
                <a:ea typeface="Calibri" panose="020F0502020204030204" pitchFamily="34" charset="0"/>
                <a:cs typeface="Times New Roman" panose="02020603050405020304" pitchFamily="18" charset="0"/>
              </a:rPr>
              <a:t> are audited instead.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 main tasks for this exercise are as follows:</a:t>
            </a:r>
          </a:p>
          <a:p>
            <a:pPr marL="342900" lvl="0" indent="-342900">
              <a:lnSpc>
                <a:spcPct val="115000"/>
              </a:lnSpc>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Modify the trigger based on the updated requirements.</a:t>
            </a:r>
            <a:endParaRPr lang="en-GB"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Delete all rows from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Marketing.CampaignAudit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table.</a:t>
            </a:r>
            <a:endParaRPr lang="en-GB"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Test the modified trigger.</a:t>
            </a:r>
            <a:endParaRPr lang="en-GB"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29</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3635670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GB" dirty="0"/>
          </a:p>
        </p:txBody>
      </p:sp>
      <p:sp>
        <p:nvSpPr>
          <p:cNvPr id="4" name="Slide Number Placeholder 3"/>
          <p:cNvSpPr>
            <a:spLocks noGrp="1"/>
          </p:cNvSpPr>
          <p:nvPr>
            <p:ph type="sldNum" sz="quarter" idx="10"/>
          </p:nvPr>
        </p:nvSpPr>
        <p:spPr/>
        <p:txBody>
          <a:bodyPr/>
          <a:lstStyle/>
          <a:p>
            <a:fld id="{68AE6803-1B25-4159-AEE7-2054A4A21AE8}" type="slidenum">
              <a:rPr lang="en-GB" smtClean="0"/>
              <a:t>30</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4443759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GB" dirty="0"/>
          </a:p>
        </p:txBody>
      </p:sp>
      <p:sp>
        <p:nvSpPr>
          <p:cNvPr id="4" name="Slide Number Placeholder 3"/>
          <p:cNvSpPr>
            <a:spLocks noGrp="1"/>
          </p:cNvSpPr>
          <p:nvPr>
            <p:ph type="sldNum" sz="quarter" idx="10"/>
          </p:nvPr>
        </p:nvSpPr>
        <p:spPr/>
        <p:txBody>
          <a:bodyPr/>
          <a:lstStyle/>
          <a:p>
            <a:fld id="{68AE6803-1B25-4159-AEE7-2054A4A21AE8}" type="slidenum">
              <a:rPr lang="en-GB" smtClean="0"/>
              <a:t>31</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5577791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68AE6803-1B25-4159-AEE7-2054A4A21AE8}" type="slidenum">
              <a:rPr lang="en-GB" smtClean="0"/>
              <a:t>32</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526097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Review Question(s)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How do constraints and triggers differ regarding timing of execution</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sz="1000" b="1" dirty="0" smtClean="0">
                <a:latin typeface="Arial" panose="020B0604020202020204" pitchFamily="34" charset="0"/>
                <a:ea typeface="Calibri" panose="020F0502020204030204" pitchFamily="34" charset="0"/>
                <a:cs typeface="Times New Roman" panose="02020603050405020304" pitchFamily="18" charset="0"/>
              </a:rPr>
              <a:t>Answer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Constraints fire before the data manipulation has occurred. AFTER triggers fire after the data manipulation has occurred. INSTEAD OF triggers fire instead of the data manipulation</a:t>
            </a:r>
            <a:r>
              <a:rPr lang="en-GB" sz="1000" dirty="0" smtClean="0">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n-GB" sz="1000" dirty="0">
              <a:latin typeface="Arial" panose="020B0604020202020204" pitchFamily="34" charset="0"/>
              <a:ea typeface="Calibri" panose="020F0502020204030204" pitchFamily="34" charset="0"/>
              <a:cs typeface="Times New Roman" panose="02020603050405020304" pitchFamily="18" charset="0"/>
            </a:endParaRPr>
          </a:p>
          <a:p>
            <a:pPr lvl="0">
              <a:lnSpc>
                <a:spcPct val="115000"/>
              </a:lnSpc>
              <a:spcAft>
                <a:spcPts val="995"/>
              </a:spcAft>
            </a:pPr>
            <a:r>
              <a:rPr lang="en-US" sz="1000" b="1" dirty="0" smtClean="0">
                <a:latin typeface="Arial" panose="020B0604020202020204" pitchFamily="34" charset="0"/>
                <a:ea typeface="Times New Roman" panose="02020603050405020304" pitchFamily="18" charset="0"/>
                <a:cs typeface="Times New Roman" panose="02020603050405020304" pitchFamily="18" charset="0"/>
              </a:rPr>
              <a:t>Best </a:t>
            </a:r>
            <a:r>
              <a:rPr lang="en-US" sz="1000" b="1" dirty="0">
                <a:latin typeface="Arial" panose="020B0604020202020204" pitchFamily="34" charset="0"/>
                <a:ea typeface="Times New Roman" panose="02020603050405020304" pitchFamily="18" charset="0"/>
                <a:cs typeface="Times New Roman" panose="02020603050405020304" pitchFamily="18" charset="0"/>
              </a:rPr>
              <a:t>Practice: </a:t>
            </a:r>
            <a:r>
              <a:rPr lang="en-US" sz="1000" dirty="0">
                <a:latin typeface="Arial" panose="020B0604020202020204" pitchFamily="34" charset="0"/>
                <a:ea typeface="Times New Roman" panose="02020603050405020304" pitchFamily="18" charset="0"/>
                <a:cs typeface="Times New Roman" panose="02020603050405020304" pitchFamily="18" charset="0"/>
              </a:rPr>
              <a:t>In many business scenarios, it makes sense to mark records as deleted with a status column and use a trigger or stored procedure to update an audit trail table. The changes can then be audited, the data is not lost, and the IT staff can perform purges or archival of the deleted records.</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Avoid using triggers in situations where constraints could be used instead.</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8AE6803-1B25-4159-AEE7-2054A4A21AE8}" type="slidenum">
              <a:rPr lang="en-GB" smtClean="0"/>
              <a:t>33</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20762C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11: Responding to Data Manipulation Via Triggers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838276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087714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5848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Tree>
    <p:extLst>
      <p:ext uri="{BB962C8B-B14F-4D97-AF65-F5344CB8AC3E}">
        <p14:creationId xmlns:p14="http://schemas.microsoft.com/office/powerpoint/2010/main" val="3430665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89216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05630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82266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02173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3710829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3816451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40496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894806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Placeholder 2"/>
          <p:cNvSpPr>
            <a:spLocks noGrp="1"/>
          </p:cNvSpPr>
          <p:nvPr>
            <p:ph type="body"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4781031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809993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1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1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Layout" Target="../slideLayouts/slideLayout1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Layout" Target="../slideLayouts/slideLayout1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Layout" Target="../slideLayouts/slideLayou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Layout" Target="../slideLayouts/slideLayout6.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Layout" Target="../slideLayouts/slideLayout6.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Layout" Target="../slideLayouts/slideLayout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6.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Layout" Target="../slideLayouts/slideLayout1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1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1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1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Layout" Target="../slideLayouts/slideLayout1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Layout" Target="../slideLayouts/slideLayout12.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200400" y="1828800"/>
            <a:ext cx="5732417" cy="1016000"/>
          </a:xfrm>
        </p:spPr>
        <p:txBody>
          <a:bodyPr/>
          <a:lstStyle/>
          <a:p>
            <a:r>
              <a:rPr lang="en-GB" dirty="0" smtClean="0"/>
              <a:t>Module 11</a:t>
            </a:r>
            <a:endParaRPr lang="en-GB" dirty="0"/>
          </a:p>
        </p:txBody>
      </p:sp>
      <p:sp>
        <p:nvSpPr>
          <p:cNvPr id="3" name="Subtitle 2"/>
          <p:cNvSpPr>
            <a:spLocks noGrp="1"/>
          </p:cNvSpPr>
          <p:nvPr>
            <p:ph type="subTitle" sz="quarter" idx="1"/>
          </p:nvPr>
        </p:nvSpPr>
        <p:spPr/>
        <p:txBody>
          <a:bodyPr/>
          <a:lstStyle/>
          <a:p>
            <a:r>
              <a:rPr lang="en-GB" dirty="0" smtClean="0"/>
              <a:t>Responding to Data Manipulation Via Triggers
</a:t>
            </a:r>
            <a:endParaRPr lang="en-GB" dirty="0"/>
          </a:p>
        </p:txBody>
      </p:sp>
    </p:spTree>
    <p:custDataLst>
      <p:tags r:id="rId1"/>
    </p:custDataLst>
    <p:extLst>
      <p:ext uri="{BB962C8B-B14F-4D97-AF65-F5344CB8AC3E}">
        <p14:creationId xmlns:p14="http://schemas.microsoft.com/office/powerpoint/2010/main" val="3885112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Overview</a:t>
            </a:r>
            <a:endParaRPr lang="en-GB" dirty="0"/>
          </a:p>
        </p:txBody>
      </p:sp>
      <p:sp>
        <p:nvSpPr>
          <p:cNvPr id="3" name="Text Placeholder 2"/>
          <p:cNvSpPr>
            <a:spLocks noGrp="1"/>
          </p:cNvSpPr>
          <p:nvPr>
            <p:ph type="body" idx="1"/>
          </p:nvPr>
        </p:nvSpPr>
        <p:spPr/>
        <p:txBody>
          <a:bodyPr/>
          <a:lstStyle/>
          <a:p>
            <a:r>
              <a:rPr lang="en-GB" dirty="0" smtClean="0"/>
              <a:t>Designing DML Triggers
Implementing DML Triggers
Advanced Trigger Concepts</a:t>
            </a:r>
            <a:endParaRPr lang="en-GB" dirty="0"/>
          </a:p>
        </p:txBody>
      </p:sp>
    </p:spTree>
    <p:custDataLst>
      <p:tags r:id="rId1"/>
    </p:custDataLst>
    <p:extLst>
      <p:ext uri="{BB962C8B-B14F-4D97-AF65-F5344CB8AC3E}">
        <p14:creationId xmlns:p14="http://schemas.microsoft.com/office/powerpoint/2010/main" val="864528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Lesson 1: Designing DML Triggers</a:t>
            </a:r>
            <a:endParaRPr lang="en-GB" dirty="0"/>
          </a:p>
        </p:txBody>
      </p:sp>
      <p:sp>
        <p:nvSpPr>
          <p:cNvPr id="3" name="Text Placeholder 2"/>
          <p:cNvSpPr>
            <a:spLocks noGrp="1"/>
          </p:cNvSpPr>
          <p:nvPr>
            <p:ph type="body" idx="1"/>
          </p:nvPr>
        </p:nvSpPr>
        <p:spPr/>
        <p:txBody>
          <a:bodyPr/>
          <a:lstStyle/>
          <a:p>
            <a:r>
              <a:rPr lang="en-GB" dirty="0" smtClean="0"/>
              <a:t>What Are DML Triggers?
AFTER Triggers vs. INSTEAD OF Triggers
Inserted and Deleted Virtual Tables
SET NOCOUNT ON
Considerations for Triggers</a:t>
            </a:r>
            <a:endParaRPr lang="en-GB" dirty="0"/>
          </a:p>
        </p:txBody>
      </p:sp>
    </p:spTree>
    <p:custDataLst>
      <p:tags r:id="rId1"/>
    </p:custDataLst>
    <p:extLst>
      <p:ext uri="{BB962C8B-B14F-4D97-AF65-F5344CB8AC3E}">
        <p14:creationId xmlns:p14="http://schemas.microsoft.com/office/powerpoint/2010/main" val="4281639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6b815f6b-9c51-4f3a-803e-ecd54c9b54a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Are DML Triggers?</a:t>
            </a:r>
            <a:endParaRPr lang="en-GB" dirty="0"/>
          </a:p>
        </p:txBody>
      </p:sp>
      <p:sp>
        <p:nvSpPr>
          <p:cNvPr id="4" name="Content Placeholder 2"/>
          <p:cNvSpPr txBox="1">
            <a:spLocks/>
          </p:cNvSpPr>
          <p:nvPr/>
        </p:nvSpPr>
        <p:spPr>
          <a:xfrm>
            <a:off x="401934" y="1021215"/>
            <a:ext cx="8176010"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b="0" kern="0" dirty="0">
                <a:solidFill>
                  <a:srgbClr val="000000"/>
                </a:solidFill>
              </a:rPr>
              <a:t>Triggers are special stored procedures which:</a:t>
            </a:r>
          </a:p>
          <a:p>
            <a:pPr lvl="1"/>
            <a:r>
              <a:rPr lang="en-US" b="0" kern="0" dirty="0">
                <a:solidFill>
                  <a:srgbClr val="000000"/>
                </a:solidFill>
              </a:rPr>
              <a:t>Fire for INSERT, UPDATE, or DELETE DML operations</a:t>
            </a:r>
          </a:p>
          <a:p>
            <a:pPr lvl="1"/>
            <a:r>
              <a:rPr lang="en-US" b="0" kern="0" dirty="0">
                <a:solidFill>
                  <a:srgbClr val="000000"/>
                </a:solidFill>
              </a:rPr>
              <a:t>Fire on DDL statements such as CREATE, ALTER, or DROP</a:t>
            </a:r>
          </a:p>
          <a:p>
            <a:pPr lvl="1"/>
            <a:r>
              <a:rPr lang="en-US" b="0" kern="0" dirty="0">
                <a:solidFill>
                  <a:srgbClr val="000000"/>
                </a:solidFill>
              </a:rPr>
              <a:t>Provide complex logic and meaningful error messages</a:t>
            </a:r>
          </a:p>
          <a:p>
            <a:pPr lvl="0"/>
            <a:r>
              <a:rPr lang="en-US" b="0" kern="0" dirty="0">
                <a:solidFill>
                  <a:srgbClr val="000000"/>
                </a:solidFill>
              </a:rPr>
              <a:t>Multiple triggers can be fired</a:t>
            </a:r>
          </a:p>
        </p:txBody>
      </p:sp>
    </p:spTree>
    <p:custDataLst>
      <p:tags r:id="rId1"/>
    </p:custDataLst>
    <p:extLst>
      <p:ext uri="{BB962C8B-B14F-4D97-AF65-F5344CB8AC3E}">
        <p14:creationId xmlns:p14="http://schemas.microsoft.com/office/powerpoint/2010/main" val="2671584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4c7c886d-73c1-43ae-971e-b0e8137cf9c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AFTER Triggers vs. INSTEAD OF Triggers</a:t>
            </a:r>
            <a:endParaRPr lang="en-GB" dirty="0"/>
          </a:p>
        </p:txBody>
      </p:sp>
      <p:sp>
        <p:nvSpPr>
          <p:cNvPr id="4" name="Content Placeholder 2"/>
          <p:cNvSpPr txBox="1">
            <a:spLocks/>
          </p:cNvSpPr>
          <p:nvPr/>
        </p:nvSpPr>
        <p:spPr>
          <a:xfrm>
            <a:off x="458788" y="1021214"/>
            <a:ext cx="8342312" cy="560818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GB" b="0" kern="0" dirty="0">
                <a:solidFill>
                  <a:srgbClr val="000000"/>
                </a:solidFill>
              </a:rPr>
              <a:t>Two types of triggers can be implemented in managed code or Transact-SQL:</a:t>
            </a:r>
          </a:p>
          <a:p>
            <a:pPr lvl="0"/>
            <a:r>
              <a:rPr lang="en-GB" b="0" kern="0" dirty="0">
                <a:solidFill>
                  <a:srgbClr val="000000"/>
                </a:solidFill>
              </a:rPr>
              <a:t>AFTER triggers</a:t>
            </a:r>
          </a:p>
          <a:p>
            <a:pPr lvl="1"/>
            <a:r>
              <a:rPr lang="en-GB" b="0" kern="0" dirty="0">
                <a:solidFill>
                  <a:srgbClr val="000000"/>
                </a:solidFill>
              </a:rPr>
              <a:t>Fire after the event to which they relate</a:t>
            </a:r>
          </a:p>
          <a:p>
            <a:pPr lvl="1"/>
            <a:r>
              <a:rPr lang="en-GB" b="0" kern="0" dirty="0">
                <a:solidFill>
                  <a:srgbClr val="000000"/>
                </a:solidFill>
              </a:rPr>
              <a:t>Are treated as part of the same transaction as the statement that triggered them</a:t>
            </a:r>
          </a:p>
          <a:p>
            <a:pPr lvl="1"/>
            <a:r>
              <a:rPr lang="en-GB" b="0" kern="0" dirty="0">
                <a:solidFill>
                  <a:srgbClr val="000000"/>
                </a:solidFill>
              </a:rPr>
              <a:t>Can roll back the statement that triggered them (and any transaction of which that statement was part)</a:t>
            </a:r>
          </a:p>
          <a:p>
            <a:pPr lvl="0"/>
            <a:r>
              <a:rPr lang="en-GB" b="0" kern="0" dirty="0">
                <a:solidFill>
                  <a:srgbClr val="000000"/>
                </a:solidFill>
              </a:rPr>
              <a:t>INSTEAD OF triggers</a:t>
            </a:r>
          </a:p>
          <a:p>
            <a:pPr lvl="1"/>
            <a:r>
              <a:rPr lang="en-GB" b="0" kern="0" dirty="0">
                <a:solidFill>
                  <a:srgbClr val="000000"/>
                </a:solidFill>
              </a:rPr>
              <a:t>Make it possible to execute alternate code, unlike a BEFORE trigger in other database engines</a:t>
            </a:r>
          </a:p>
          <a:p>
            <a:pPr lvl="1"/>
            <a:r>
              <a:rPr lang="en-GB" b="0" kern="0" dirty="0">
                <a:solidFill>
                  <a:srgbClr val="000000"/>
                </a:solidFill>
              </a:rPr>
              <a:t>Are often used to create updatable views with more than one base </a:t>
            </a:r>
            <a:r>
              <a:rPr lang="en-GB" b="0" kern="0" dirty="0" smtClean="0">
                <a:solidFill>
                  <a:srgbClr val="000000"/>
                </a:solidFill>
              </a:rPr>
              <a:t>table</a:t>
            </a:r>
            <a:endParaRPr lang="en-GB" b="0" kern="0" dirty="0">
              <a:solidFill>
                <a:srgbClr val="000000"/>
              </a:solidFill>
            </a:endParaRPr>
          </a:p>
        </p:txBody>
      </p:sp>
    </p:spTree>
    <p:custDataLst>
      <p:tags r:id="rId1"/>
    </p:custDataLst>
    <p:extLst>
      <p:ext uri="{BB962C8B-B14F-4D97-AF65-F5344CB8AC3E}">
        <p14:creationId xmlns:p14="http://schemas.microsoft.com/office/powerpoint/2010/main" val="670221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3c65190f-0c8d-49bf-8479-4ff8dcef44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Inserted and Deleted Virtual Tables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Inserted and deleted virtual tables</a:t>
            </a:r>
          </a:p>
          <a:p>
            <a:pPr lvl="1"/>
            <a:r>
              <a:rPr lang="en-GB" b="0" kern="0" dirty="0">
                <a:solidFill>
                  <a:srgbClr val="000000"/>
                </a:solidFill>
              </a:rPr>
              <a:t>Provide access to state of the data before and after the modification began</a:t>
            </a:r>
          </a:p>
          <a:p>
            <a:pPr lvl="1"/>
            <a:r>
              <a:rPr lang="en-GB" b="0" kern="0" dirty="0">
                <a:solidFill>
                  <a:srgbClr val="000000"/>
                </a:solidFill>
              </a:rPr>
              <a:t>Are often joined to the modified table data</a:t>
            </a:r>
          </a:p>
          <a:p>
            <a:pPr lvl="1"/>
            <a:r>
              <a:rPr lang="en-GB" b="0" kern="0" dirty="0">
                <a:solidFill>
                  <a:srgbClr val="000000"/>
                </a:solidFill>
              </a:rPr>
              <a:t>Are available in both AFTER and INSTEAD OF triggers</a:t>
            </a:r>
          </a:p>
          <a:p>
            <a:pPr lvl="1"/>
            <a:r>
              <a:rPr lang="en-GB" b="0" kern="0" dirty="0">
                <a:solidFill>
                  <a:srgbClr val="000000"/>
                </a:solidFill>
              </a:rPr>
              <a:t>Deleted table</a:t>
            </a:r>
          </a:p>
          <a:p>
            <a:pPr lvl="2"/>
            <a:r>
              <a:rPr lang="en-GB" b="0" kern="0" dirty="0">
                <a:solidFill>
                  <a:srgbClr val="000000"/>
                </a:solidFill>
              </a:rPr>
              <a:t>DELETE statements – rows just deleted</a:t>
            </a:r>
          </a:p>
          <a:p>
            <a:pPr lvl="2"/>
            <a:r>
              <a:rPr lang="en-GB" b="0" kern="0" dirty="0">
                <a:solidFill>
                  <a:srgbClr val="000000"/>
                </a:solidFill>
              </a:rPr>
              <a:t>UPDATE statements – original row contents</a:t>
            </a:r>
          </a:p>
          <a:p>
            <a:pPr lvl="1"/>
            <a:r>
              <a:rPr lang="en-GB" b="0" kern="0" dirty="0">
                <a:solidFill>
                  <a:srgbClr val="000000"/>
                </a:solidFill>
              </a:rPr>
              <a:t>Inserted table</a:t>
            </a:r>
          </a:p>
          <a:p>
            <a:pPr lvl="2"/>
            <a:r>
              <a:rPr lang="en-GB" b="0" kern="0" dirty="0">
                <a:solidFill>
                  <a:srgbClr val="000000"/>
                </a:solidFill>
              </a:rPr>
              <a:t>INSERT statements – rows just inserted</a:t>
            </a:r>
          </a:p>
          <a:p>
            <a:pPr lvl="2"/>
            <a:r>
              <a:rPr lang="en-GB" b="0" kern="0" dirty="0">
                <a:solidFill>
                  <a:srgbClr val="000000"/>
                </a:solidFill>
              </a:rPr>
              <a:t>UPDATE statements – modified row contents</a:t>
            </a:r>
          </a:p>
        </p:txBody>
      </p:sp>
    </p:spTree>
    <p:custDataLst>
      <p:tags r:id="rId1"/>
    </p:custDataLst>
    <p:extLst>
      <p:ext uri="{BB962C8B-B14F-4D97-AF65-F5344CB8AC3E}">
        <p14:creationId xmlns:p14="http://schemas.microsoft.com/office/powerpoint/2010/main" val="2015823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72ae7898-3a13-483e-9c45-bbad8a7b09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SET NOCOUNT ON</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Triggers should not return rows of data</a:t>
            </a:r>
          </a:p>
          <a:p>
            <a:pPr lvl="0"/>
            <a:r>
              <a:rPr lang="en-GB" b="0" kern="0" dirty="0">
                <a:solidFill>
                  <a:srgbClr val="000000"/>
                </a:solidFill>
              </a:rPr>
              <a:t>Client applications often check the number of rows that are affected by data modification statements</a:t>
            </a:r>
          </a:p>
          <a:p>
            <a:pPr lvl="0"/>
            <a:r>
              <a:rPr lang="en-GB" b="0" kern="0" dirty="0">
                <a:solidFill>
                  <a:srgbClr val="000000"/>
                </a:solidFill>
              </a:rPr>
              <a:t>Triggers that are affected by data modification statements</a:t>
            </a:r>
          </a:p>
          <a:p>
            <a:pPr lvl="0"/>
            <a:r>
              <a:rPr lang="en-GB" b="0" kern="0" dirty="0">
                <a:solidFill>
                  <a:srgbClr val="000000"/>
                </a:solidFill>
              </a:rPr>
              <a:t>SET NOCOUNT ON avoids affecting the outer statements</a:t>
            </a:r>
          </a:p>
          <a:p>
            <a:pPr lvl="0"/>
            <a:r>
              <a:rPr lang="en-GB" b="0" kern="0" dirty="0">
                <a:solidFill>
                  <a:srgbClr val="000000"/>
                </a:solidFill>
              </a:rPr>
              <a:t>Returning rowsets has been deprecated</a:t>
            </a:r>
          </a:p>
          <a:p>
            <a:pPr lvl="0"/>
            <a:r>
              <a:rPr lang="en-GB" b="0" kern="0" dirty="0">
                <a:solidFill>
                  <a:srgbClr val="000000"/>
                </a:solidFill>
              </a:rPr>
              <a:t>Use the configuration setting “disallow results from triggers” to prevent triggers from returning resultsets</a:t>
            </a:r>
          </a:p>
        </p:txBody>
      </p:sp>
    </p:spTree>
    <p:custDataLst>
      <p:tags r:id="rId1"/>
    </p:custDataLst>
    <p:extLst>
      <p:ext uri="{BB962C8B-B14F-4D97-AF65-F5344CB8AC3E}">
        <p14:creationId xmlns:p14="http://schemas.microsoft.com/office/powerpoint/2010/main" val="209555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b5322043-464f-4f03-86e2-a8fa4112b86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Considerations for Triggers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Constraints:</a:t>
            </a:r>
          </a:p>
          <a:p>
            <a:pPr lvl="1"/>
            <a:r>
              <a:rPr lang="en-GB" b="0" kern="0" dirty="0">
                <a:solidFill>
                  <a:srgbClr val="000000"/>
                </a:solidFill>
              </a:rPr>
              <a:t>Are preferred to triggers</a:t>
            </a:r>
          </a:p>
          <a:p>
            <a:pPr lvl="1"/>
            <a:r>
              <a:rPr lang="en-GB" b="0" kern="0" dirty="0">
                <a:solidFill>
                  <a:srgbClr val="000000"/>
                </a:solidFill>
              </a:rPr>
              <a:t>Avoid data modification overhead on violation</a:t>
            </a:r>
          </a:p>
          <a:p>
            <a:pPr lvl="0"/>
            <a:r>
              <a:rPr lang="en-GB" b="0" kern="0" dirty="0">
                <a:solidFill>
                  <a:srgbClr val="000000"/>
                </a:solidFill>
              </a:rPr>
              <a:t>Triggers:</a:t>
            </a:r>
          </a:p>
          <a:p>
            <a:pPr lvl="1"/>
            <a:r>
              <a:rPr lang="en-GB" b="0" kern="0" dirty="0">
                <a:solidFill>
                  <a:srgbClr val="000000"/>
                </a:solidFill>
              </a:rPr>
              <a:t>Are complex to debug</a:t>
            </a:r>
          </a:p>
          <a:p>
            <a:pPr lvl="1"/>
            <a:r>
              <a:rPr lang="en-GB" b="0" kern="0" dirty="0">
                <a:solidFill>
                  <a:srgbClr val="000000"/>
                </a:solidFill>
              </a:rPr>
              <a:t>Use a rowversion store in </a:t>
            </a:r>
            <a:r>
              <a:rPr lang="en-GB" kern="0" dirty="0">
                <a:solidFill>
                  <a:srgbClr val="000000"/>
                </a:solidFill>
              </a:rPr>
              <a:t>tempdb</a:t>
            </a:r>
            <a:r>
              <a:rPr lang="en-GB" b="0" kern="0" dirty="0">
                <a:solidFill>
                  <a:srgbClr val="000000"/>
                </a:solidFill>
              </a:rPr>
              <a:t> database</a:t>
            </a:r>
          </a:p>
          <a:p>
            <a:pPr lvl="1"/>
            <a:r>
              <a:rPr lang="en-GB" b="0" kern="0" dirty="0">
                <a:solidFill>
                  <a:srgbClr val="000000"/>
                </a:solidFill>
              </a:rPr>
              <a:t>Excessive usage can impact </a:t>
            </a:r>
            <a:r>
              <a:rPr lang="en-GB" kern="0" dirty="0">
                <a:solidFill>
                  <a:srgbClr val="000000"/>
                </a:solidFill>
              </a:rPr>
              <a:t>tempdb</a:t>
            </a:r>
            <a:r>
              <a:rPr lang="en-GB" b="0" kern="0" dirty="0">
                <a:solidFill>
                  <a:srgbClr val="000000"/>
                </a:solidFill>
              </a:rPr>
              <a:t> performance</a:t>
            </a:r>
          </a:p>
          <a:p>
            <a:pPr lvl="1"/>
            <a:r>
              <a:rPr lang="en-GB" b="0" kern="0" dirty="0">
                <a:solidFill>
                  <a:srgbClr val="000000"/>
                </a:solidFill>
              </a:rPr>
              <a:t>Can increase the duration of transactions</a:t>
            </a:r>
          </a:p>
          <a:p>
            <a:pPr lvl="0"/>
            <a:r>
              <a:rPr lang="en-US" b="0" kern="0" dirty="0">
                <a:solidFill>
                  <a:srgbClr val="000000"/>
                </a:solidFill>
              </a:rPr>
              <a:t>Managing Trigger Security</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2957029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Lesson 2: Implementing DML Triggers</a:t>
            </a:r>
            <a:endParaRPr lang="en-GB" dirty="0"/>
          </a:p>
        </p:txBody>
      </p:sp>
      <p:sp>
        <p:nvSpPr>
          <p:cNvPr id="3" name="Text Placeholder 2"/>
          <p:cNvSpPr>
            <a:spLocks noGrp="1"/>
          </p:cNvSpPr>
          <p:nvPr>
            <p:ph type="body" idx="1"/>
          </p:nvPr>
        </p:nvSpPr>
        <p:spPr/>
        <p:txBody>
          <a:bodyPr/>
          <a:lstStyle/>
          <a:p>
            <a:r>
              <a:rPr lang="en-GB" dirty="0" smtClean="0"/>
              <a:t>AFTER INSERT Triggers
Demonstration: Working with AFTER INSERT Triggers
AFTER DELETE Triggers
Demonstration: Working with AFTER DELETE Triggers
AFTER UPDATE Triggers
Demonstration: Working with AFTER UPDATE Triggers</a:t>
            </a:r>
            <a:endParaRPr lang="en-GB" dirty="0"/>
          </a:p>
        </p:txBody>
      </p:sp>
    </p:spTree>
    <p:custDataLst>
      <p:tags r:id="rId1"/>
    </p:custDataLst>
    <p:extLst>
      <p:ext uri="{BB962C8B-B14F-4D97-AF65-F5344CB8AC3E}">
        <p14:creationId xmlns:p14="http://schemas.microsoft.com/office/powerpoint/2010/main" val="893889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cbaf14bf-b870-475b-b06d-496e8f8413a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AFTER INSERT Triggers</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INSERT statement is executed </a:t>
            </a:r>
          </a:p>
          <a:p>
            <a:pPr lvl="0"/>
            <a:r>
              <a:rPr lang="en-GB" b="0" kern="0" dirty="0">
                <a:solidFill>
                  <a:srgbClr val="000000"/>
                </a:solidFill>
              </a:rPr>
              <a:t>AFTER INSERT trigger then fires </a:t>
            </a:r>
          </a:p>
          <a:p>
            <a:pPr lvl="0"/>
            <a:r>
              <a:rPr lang="en-GB" b="0" kern="0" dirty="0">
                <a:solidFill>
                  <a:srgbClr val="000000"/>
                </a:solidFill>
              </a:rPr>
              <a:t>Ensures that multirow inserts are supported</a:t>
            </a:r>
          </a:p>
        </p:txBody>
      </p:sp>
    </p:spTree>
    <p:custDataLst>
      <p:tags r:id="rId1"/>
    </p:custDataLst>
    <p:extLst>
      <p:ext uri="{BB962C8B-B14F-4D97-AF65-F5344CB8AC3E}">
        <p14:creationId xmlns:p14="http://schemas.microsoft.com/office/powerpoint/2010/main" val="2009223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067d9a34-8cb2-4eb6-b996-de9b9236aab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Working with AFTER INSERT Triggers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 how to:</a:t>
            </a:r>
          </a:p>
          <a:p>
            <a:pPr lvl="0"/>
            <a:r>
              <a:rPr lang="en-US" b="0" kern="0" dirty="0">
                <a:solidFill>
                  <a:srgbClr val="000000"/>
                </a:solidFill>
              </a:rPr>
              <a:t>Create an AFTER INSERT trigger</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2231360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fe04e08-b085-4dc8-9fab-e57b11d28e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AFTER DELETE Triggers</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DELETE statement is executed </a:t>
            </a:r>
          </a:p>
          <a:p>
            <a:pPr lvl="0"/>
            <a:r>
              <a:rPr lang="en-GB" b="0" kern="0" dirty="0">
                <a:solidFill>
                  <a:srgbClr val="000000"/>
                </a:solidFill>
              </a:rPr>
              <a:t>AFTER DELETE trigger then fires </a:t>
            </a:r>
          </a:p>
          <a:p>
            <a:pPr lvl="0"/>
            <a:r>
              <a:rPr lang="en-GB" b="0" kern="0" dirty="0">
                <a:solidFill>
                  <a:srgbClr val="000000"/>
                </a:solidFill>
              </a:rPr>
              <a:t>Multirow deletes </a:t>
            </a:r>
          </a:p>
          <a:p>
            <a:pPr lvl="0"/>
            <a:r>
              <a:rPr lang="en-GB" b="0" kern="0" dirty="0">
                <a:solidFill>
                  <a:srgbClr val="000000"/>
                </a:solidFill>
              </a:rPr>
              <a:t>Truncate table</a:t>
            </a:r>
          </a:p>
        </p:txBody>
      </p:sp>
    </p:spTree>
    <p:custDataLst>
      <p:tags r:id="rId1"/>
    </p:custDataLst>
    <p:extLst>
      <p:ext uri="{BB962C8B-B14F-4D97-AF65-F5344CB8AC3E}">
        <p14:creationId xmlns:p14="http://schemas.microsoft.com/office/powerpoint/2010/main" val="2061920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c178323e-d290-4d07-9d3d-f1cd1801f1a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Working with AFTER DELETE Triggers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 how to:</a:t>
            </a:r>
          </a:p>
          <a:p>
            <a:pPr lvl="0"/>
            <a:r>
              <a:rPr lang="en-US" b="0" kern="0" dirty="0">
                <a:solidFill>
                  <a:srgbClr val="000000"/>
                </a:solidFill>
              </a:rPr>
              <a:t>Create and test AFTER DELETE triggers</a:t>
            </a:r>
          </a:p>
          <a:p>
            <a:pPr lvl="0"/>
            <a:endParaRPr lang="en-US" b="0" kern="0" dirty="0">
              <a:solidFill>
                <a:srgbClr val="000000"/>
              </a:solidFill>
            </a:endParaRP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1413602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52d25c6f-c178-4023-9ed6-50d1b595041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AFTER UPDATE Triggers</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UPDATE statement is executed </a:t>
            </a:r>
          </a:p>
          <a:p>
            <a:pPr lvl="0"/>
            <a:r>
              <a:rPr lang="en-GB" b="0" kern="0" dirty="0">
                <a:solidFill>
                  <a:srgbClr val="000000"/>
                </a:solidFill>
              </a:rPr>
              <a:t>AFTER UPDATE trigger then fires</a:t>
            </a:r>
          </a:p>
          <a:p>
            <a:pPr lvl="0"/>
            <a:r>
              <a:rPr lang="en-GB" b="0" kern="0" dirty="0">
                <a:solidFill>
                  <a:srgbClr val="000000"/>
                </a:solidFill>
              </a:rPr>
              <a:t>Trigger processes updated rows at the same time</a:t>
            </a:r>
          </a:p>
        </p:txBody>
      </p:sp>
    </p:spTree>
    <p:custDataLst>
      <p:tags r:id="rId1"/>
    </p:custDataLst>
    <p:extLst>
      <p:ext uri="{BB962C8B-B14F-4D97-AF65-F5344CB8AC3E}">
        <p14:creationId xmlns:p14="http://schemas.microsoft.com/office/powerpoint/2010/main" val="99287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cc31d47b-7198-4182-80ec-898455b0ff2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Working with AFTER UPDATE Triggers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 how to:</a:t>
            </a:r>
          </a:p>
          <a:p>
            <a:pPr lvl="0"/>
            <a:r>
              <a:rPr lang="en-US" b="0" kern="0" dirty="0">
                <a:solidFill>
                  <a:srgbClr val="000000"/>
                </a:solidFill>
              </a:rPr>
              <a:t>Create and test AFTER UPDATE triggers</a:t>
            </a:r>
          </a:p>
        </p:txBody>
      </p:sp>
    </p:spTree>
    <p:custDataLst>
      <p:tags r:id="rId1"/>
    </p:custDataLst>
    <p:extLst>
      <p:ext uri="{BB962C8B-B14F-4D97-AF65-F5344CB8AC3E}">
        <p14:creationId xmlns:p14="http://schemas.microsoft.com/office/powerpoint/2010/main" val="4141600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Text Placeholder 2"/>
          <p:cNvSpPr>
            <a:spLocks noGrp="1"/>
          </p:cNvSpPr>
          <p:nvPr>
            <p:ph type="body" idx="1"/>
          </p:nvPr>
        </p:nvSpPr>
        <p:spPr/>
        <p:txBody>
          <a:bodyPr/>
          <a:lstStyle/>
          <a:p>
            <a:endParaRPr lang="en-GB" dirty="0"/>
          </a:p>
        </p:txBody>
      </p:sp>
    </p:spTree>
    <p:custDataLst>
      <p:tags r:id="rId1"/>
    </p:custDataLst>
    <p:extLst>
      <p:ext uri="{BB962C8B-B14F-4D97-AF65-F5344CB8AC3E}">
        <p14:creationId xmlns:p14="http://schemas.microsoft.com/office/powerpoint/2010/main" val="2759768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Text Placeholder 2"/>
          <p:cNvSpPr>
            <a:spLocks noGrp="1"/>
          </p:cNvSpPr>
          <p:nvPr>
            <p:ph type="body" idx="1"/>
          </p:nvPr>
        </p:nvSpPr>
        <p:spPr/>
        <p:txBody>
          <a:bodyPr/>
          <a:lstStyle/>
          <a:p>
            <a:endParaRPr lang="en-GB" dirty="0"/>
          </a:p>
        </p:txBody>
      </p:sp>
    </p:spTree>
    <p:custDataLst>
      <p:tags r:id="rId1"/>
    </p:custDataLst>
    <p:extLst>
      <p:ext uri="{BB962C8B-B14F-4D97-AF65-F5344CB8AC3E}">
        <p14:creationId xmlns:p14="http://schemas.microsoft.com/office/powerpoint/2010/main" val="16539327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Lesson 3: Advanced Trigger Concepts</a:t>
            </a:r>
            <a:endParaRPr lang="en-GB" dirty="0"/>
          </a:p>
        </p:txBody>
      </p:sp>
      <p:sp>
        <p:nvSpPr>
          <p:cNvPr id="3" name="Text Placeholder 2"/>
          <p:cNvSpPr>
            <a:spLocks noGrp="1"/>
          </p:cNvSpPr>
          <p:nvPr>
            <p:ph type="body" idx="1"/>
          </p:nvPr>
        </p:nvSpPr>
        <p:spPr/>
        <p:txBody>
          <a:bodyPr/>
          <a:lstStyle/>
          <a:p>
            <a:r>
              <a:rPr lang="en-GB" dirty="0" smtClean="0"/>
              <a:t>INSTEAD OF Triggers
Demonstration: Working with INSTEAD OF Triggers
How Nested Triggers Work
Considerations for Recursive Triggers
UPDATE Function
Firing Order for Triggers
Alternatives to Triggers
Demonstration: Replacing Triggers with Computed Columns</a:t>
            </a:r>
            <a:endParaRPr lang="en-GB" dirty="0"/>
          </a:p>
        </p:txBody>
      </p:sp>
    </p:spTree>
    <p:custDataLst>
      <p:tags r:id="rId1"/>
    </p:custDataLst>
    <p:extLst>
      <p:ext uri="{BB962C8B-B14F-4D97-AF65-F5344CB8AC3E}">
        <p14:creationId xmlns:p14="http://schemas.microsoft.com/office/powerpoint/2010/main" val="180058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684553d2-d301-40a7-80fa-d153bc78760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INSTEAD OF Triggers</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INSERT, UPDATE or DELETE statement requested to be executed </a:t>
            </a:r>
          </a:p>
          <a:p>
            <a:pPr lvl="0"/>
            <a:r>
              <a:rPr lang="en-GB" b="0" kern="0" dirty="0">
                <a:solidFill>
                  <a:srgbClr val="000000"/>
                </a:solidFill>
              </a:rPr>
              <a:t>Statement does not execute </a:t>
            </a:r>
          </a:p>
          <a:p>
            <a:pPr lvl="0"/>
            <a:r>
              <a:rPr lang="en-GB" b="0" kern="0" dirty="0">
                <a:solidFill>
                  <a:srgbClr val="000000"/>
                </a:solidFill>
              </a:rPr>
              <a:t>INSTEAD OF trigger code executes instead</a:t>
            </a:r>
          </a:p>
          <a:p>
            <a:pPr lvl="0"/>
            <a:r>
              <a:rPr lang="en-GB" b="0" kern="0" dirty="0">
                <a:solidFill>
                  <a:srgbClr val="000000"/>
                </a:solidFill>
              </a:rPr>
              <a:t>Updatable views are a common use</a:t>
            </a:r>
          </a:p>
        </p:txBody>
      </p:sp>
    </p:spTree>
    <p:custDataLst>
      <p:tags r:id="rId1"/>
    </p:custDataLst>
    <p:extLst>
      <p:ext uri="{BB962C8B-B14F-4D97-AF65-F5344CB8AC3E}">
        <p14:creationId xmlns:p14="http://schemas.microsoft.com/office/powerpoint/2010/main" val="2545026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80d1892c-c7ad-4927-b94d-0d284b67a32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Working with INSTEAD OF Triggers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 how to:</a:t>
            </a:r>
          </a:p>
          <a:p>
            <a:pPr lvl="0"/>
            <a:r>
              <a:rPr lang="en-US" b="0" kern="0" dirty="0">
                <a:solidFill>
                  <a:srgbClr val="000000"/>
                </a:solidFill>
              </a:rPr>
              <a:t>Create and test an INSTEAD OF DELETE trigger</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220577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Text Placeholder 2"/>
          <p:cNvSpPr>
            <a:spLocks noGrp="1"/>
          </p:cNvSpPr>
          <p:nvPr>
            <p:ph type="body" idx="1"/>
          </p:nvPr>
        </p:nvSpPr>
        <p:spPr/>
        <p:txBody>
          <a:bodyPr/>
          <a:lstStyle/>
          <a:p>
            <a:endParaRPr lang="en-GB" dirty="0"/>
          </a:p>
        </p:txBody>
      </p:sp>
    </p:spTree>
    <p:custDataLst>
      <p:tags r:id="rId1"/>
    </p:custDataLst>
    <p:extLst>
      <p:ext uri="{BB962C8B-B14F-4D97-AF65-F5344CB8AC3E}">
        <p14:creationId xmlns:p14="http://schemas.microsoft.com/office/powerpoint/2010/main" val="3808899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46bc6441-74ea-456f-a24b-e5537bdd022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Nested Triggers Work</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b="0" kern="0" dirty="0">
                <a:solidFill>
                  <a:srgbClr val="000000"/>
                </a:solidFill>
              </a:rPr>
              <a:t>Turned on at the server level</a:t>
            </a:r>
          </a:p>
          <a:p>
            <a:pPr lvl="0"/>
            <a:r>
              <a:rPr lang="en-US" b="0" kern="0" dirty="0">
                <a:solidFill>
                  <a:srgbClr val="000000"/>
                </a:solidFill>
              </a:rPr>
              <a:t>Complex to debug</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1536683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01170552-122c-40f9-b191-6f18768e28c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Considerations for Recursive Triggers</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Recursive triggers are disabled by default</a:t>
            </a:r>
          </a:p>
          <a:p>
            <a:pPr lvl="0"/>
            <a:r>
              <a:rPr lang="en-GB" b="0" kern="0" dirty="0">
                <a:solidFill>
                  <a:srgbClr val="000000"/>
                </a:solidFill>
              </a:rPr>
              <a:t>To turn them on: </a:t>
            </a:r>
          </a:p>
          <a:p>
            <a:pPr lvl="1"/>
            <a:r>
              <a:rPr lang="en-GB" b="0" kern="0" dirty="0">
                <a:solidFill>
                  <a:srgbClr val="000000"/>
                </a:solidFill>
              </a:rPr>
              <a:t>ALTER DATABASE </a:t>
            </a:r>
            <a:r>
              <a:rPr lang="en-GB" b="0" i="1" kern="0" dirty="0">
                <a:solidFill>
                  <a:srgbClr val="000000"/>
                </a:solidFill>
              </a:rPr>
              <a:t>db</a:t>
            </a:r>
            <a:r>
              <a:rPr lang="en-GB" b="0" kern="0" dirty="0">
                <a:solidFill>
                  <a:srgbClr val="000000"/>
                </a:solidFill>
              </a:rPr>
              <a:t> SET RECURSIVE_TRIGGERS ON </a:t>
            </a:r>
          </a:p>
          <a:p>
            <a:pPr lvl="0"/>
            <a:r>
              <a:rPr lang="en-GB" b="0" kern="0" dirty="0">
                <a:solidFill>
                  <a:srgbClr val="000000"/>
                </a:solidFill>
              </a:rPr>
              <a:t>Direct Recursion </a:t>
            </a:r>
          </a:p>
          <a:p>
            <a:pPr lvl="0"/>
            <a:r>
              <a:rPr lang="en-GB" b="0" kern="0" dirty="0">
                <a:solidFill>
                  <a:srgbClr val="000000"/>
                </a:solidFill>
              </a:rPr>
              <a:t>Indirect Recursion </a:t>
            </a:r>
          </a:p>
          <a:p>
            <a:pPr lvl="0"/>
            <a:r>
              <a:rPr lang="en-GB" b="0" kern="0" dirty="0">
                <a:solidFill>
                  <a:srgbClr val="000000"/>
                </a:solidFill>
              </a:rPr>
              <a:t>Considerations: </a:t>
            </a:r>
          </a:p>
          <a:p>
            <a:pPr lvl="1"/>
            <a:r>
              <a:rPr lang="en-GB" b="0" kern="0" dirty="0">
                <a:solidFill>
                  <a:srgbClr val="000000"/>
                </a:solidFill>
              </a:rPr>
              <a:t>Careful design and testing to ensure that the 32-level nesting limit is not exceeded </a:t>
            </a:r>
          </a:p>
          <a:p>
            <a:pPr lvl="1"/>
            <a:r>
              <a:rPr lang="en-GB" b="0" kern="0" dirty="0">
                <a:solidFill>
                  <a:srgbClr val="000000"/>
                </a:solidFill>
              </a:rPr>
              <a:t>Difficult to control the order of table updates </a:t>
            </a:r>
          </a:p>
          <a:p>
            <a:pPr lvl="1"/>
            <a:r>
              <a:rPr lang="en-GB" b="0" kern="0" dirty="0">
                <a:solidFill>
                  <a:srgbClr val="000000"/>
                </a:solidFill>
              </a:rPr>
              <a:t>Can usually be replaced by nonrecursive logic</a:t>
            </a:r>
          </a:p>
          <a:p>
            <a:pPr lvl="1"/>
            <a:r>
              <a:rPr lang="en-GB" b="0" kern="0" dirty="0">
                <a:solidFill>
                  <a:srgbClr val="000000"/>
                </a:solidFill>
              </a:rPr>
              <a:t>The RECURSIVE TRIGGERS option only affects direct recursion </a:t>
            </a:r>
          </a:p>
        </p:txBody>
      </p:sp>
    </p:spTree>
    <p:custDataLst>
      <p:tags r:id="rId1"/>
    </p:custDataLst>
    <p:extLst>
      <p:ext uri="{BB962C8B-B14F-4D97-AF65-F5344CB8AC3E}">
        <p14:creationId xmlns:p14="http://schemas.microsoft.com/office/powerpoint/2010/main" val="3340468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141e96f4-cd9b-4682-b0e4-9bcdc9969da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UPDATE Function</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UPDATE function—is a column being updated?</a:t>
            </a:r>
          </a:p>
          <a:p>
            <a:pPr lvl="0"/>
            <a:r>
              <a:rPr lang="en-GB" b="0" kern="0" dirty="0">
                <a:solidFill>
                  <a:srgbClr val="000000"/>
                </a:solidFill>
              </a:rPr>
              <a:t>Used in AFTER INSERT and AFTER UPDATE</a:t>
            </a:r>
          </a:p>
          <a:p>
            <a:pPr lvl="0"/>
            <a:r>
              <a:rPr lang="en-GB" b="0" kern="0" dirty="0">
                <a:solidFill>
                  <a:srgbClr val="000000"/>
                </a:solidFill>
              </a:rPr>
              <a:t>COLUMNS UPDATED function returns bitmap of columns being updated</a:t>
            </a:r>
          </a:p>
        </p:txBody>
      </p:sp>
    </p:spTree>
    <p:custDataLst>
      <p:tags r:id="rId1"/>
    </p:custDataLst>
    <p:extLst>
      <p:ext uri="{BB962C8B-B14F-4D97-AF65-F5344CB8AC3E}">
        <p14:creationId xmlns:p14="http://schemas.microsoft.com/office/powerpoint/2010/main" val="3880691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481caa26-6bee-44c3-8274-fcb85ff3d0d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Firing Order for Triggers</a:t>
            </a:r>
            <a:endParaRPr lang="en-GB"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GB" b="0" kern="0" dirty="0">
                <a:solidFill>
                  <a:srgbClr val="000000"/>
                </a:solidFill>
              </a:rPr>
              <a:t>Multiple triggers may be created for a single event</a:t>
            </a:r>
          </a:p>
          <a:p>
            <a:pPr lvl="0"/>
            <a:r>
              <a:rPr lang="en-GB" b="0" kern="0" dirty="0">
                <a:solidFill>
                  <a:srgbClr val="000000"/>
                </a:solidFill>
              </a:rPr>
              <a:t>You cannot specify the order in which the triggers will fire </a:t>
            </a:r>
          </a:p>
          <a:p>
            <a:pPr lvl="0"/>
            <a:r>
              <a:rPr lang="en-GB" b="0" kern="0" dirty="0">
                <a:solidFill>
                  <a:srgbClr val="000000"/>
                </a:solidFill>
              </a:rPr>
              <a:t>With sp_settriggerorder, you can specify which triggers will fire first and last</a:t>
            </a:r>
          </a:p>
        </p:txBody>
      </p:sp>
    </p:spTree>
    <p:custDataLst>
      <p:tags r:id="rId1"/>
    </p:custDataLst>
    <p:extLst>
      <p:ext uri="{BB962C8B-B14F-4D97-AF65-F5344CB8AC3E}">
        <p14:creationId xmlns:p14="http://schemas.microsoft.com/office/powerpoint/2010/main" val="3002528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aa3b3421-f017-4c17-8171-144bd53937e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Alternatives to Triggers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GB" b="0" kern="0" dirty="0">
                <a:solidFill>
                  <a:srgbClr val="000000"/>
                </a:solidFill>
              </a:rPr>
              <a:t>Many developers use triggers in situations where alternatives would be preferable:</a:t>
            </a:r>
          </a:p>
          <a:p>
            <a:pPr lvl="0"/>
            <a:r>
              <a:rPr lang="en-GB" b="0" kern="0" dirty="0">
                <a:solidFill>
                  <a:srgbClr val="000000"/>
                </a:solidFill>
              </a:rPr>
              <a:t>Use constraints for checking values</a:t>
            </a:r>
          </a:p>
          <a:p>
            <a:pPr lvl="0"/>
            <a:r>
              <a:rPr lang="en-GB" b="0" kern="0" dirty="0">
                <a:solidFill>
                  <a:srgbClr val="000000"/>
                </a:solidFill>
              </a:rPr>
              <a:t>Use defaults for values not supplied during inserts</a:t>
            </a:r>
          </a:p>
          <a:p>
            <a:pPr lvl="0"/>
            <a:r>
              <a:rPr lang="en-GB" b="0" kern="0" dirty="0">
                <a:solidFill>
                  <a:srgbClr val="000000"/>
                </a:solidFill>
              </a:rPr>
              <a:t>Use foreign key constraints to check for referential integrity</a:t>
            </a:r>
          </a:p>
          <a:p>
            <a:pPr lvl="0"/>
            <a:r>
              <a:rPr lang="en-GB" b="0" kern="0" dirty="0">
                <a:solidFill>
                  <a:srgbClr val="000000"/>
                </a:solidFill>
              </a:rPr>
              <a:t>Use computed and persisted computed columns</a:t>
            </a:r>
          </a:p>
          <a:p>
            <a:pPr lvl="0"/>
            <a:r>
              <a:rPr lang="en-GB" b="0" kern="0" dirty="0">
                <a:solidFill>
                  <a:srgbClr val="000000"/>
                </a:solidFill>
              </a:rPr>
              <a:t>Use indexed views for precalculating aggregates</a:t>
            </a:r>
          </a:p>
          <a:p>
            <a:pPr lvl="0"/>
            <a:endParaRPr lang="en-US" b="0" kern="0" dirty="0">
              <a:solidFill>
                <a:srgbClr val="000000"/>
              </a:solidFill>
            </a:endParaRP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483056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9c9c2d49-e331-48b1-a15f-8c6f4536ce8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Replacing Triggers with Computed Columns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a:t>
            </a:r>
          </a:p>
          <a:p>
            <a:pPr lvl="0"/>
            <a:r>
              <a:rPr lang="en-US" b="0" kern="0" dirty="0">
                <a:solidFill>
                  <a:srgbClr val="000000"/>
                </a:solidFill>
              </a:rPr>
              <a:t>How to replace a trigger with a computed column</a:t>
            </a:r>
          </a:p>
        </p:txBody>
      </p:sp>
    </p:spTree>
    <p:custDataLst>
      <p:tags r:id="rId1"/>
    </p:custDataLst>
    <p:extLst>
      <p:ext uri="{BB962C8B-B14F-4D97-AF65-F5344CB8AC3E}">
        <p14:creationId xmlns:p14="http://schemas.microsoft.com/office/powerpoint/2010/main" val="3123696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Text Placeholder 2"/>
          <p:cNvSpPr>
            <a:spLocks noGrp="1"/>
          </p:cNvSpPr>
          <p:nvPr>
            <p:ph type="body" idx="1"/>
          </p:nvPr>
        </p:nvSpPr>
        <p:spPr/>
        <p:txBody>
          <a:bodyPr/>
          <a:lstStyle/>
          <a:p>
            <a:endParaRPr lang="en-GB" dirty="0"/>
          </a:p>
        </p:txBody>
      </p:sp>
    </p:spTree>
    <p:custDataLst>
      <p:tags r:id="rId1"/>
    </p:custDataLst>
    <p:extLst>
      <p:ext uri="{BB962C8B-B14F-4D97-AF65-F5344CB8AC3E}">
        <p14:creationId xmlns:p14="http://schemas.microsoft.com/office/powerpoint/2010/main" val="14861113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Responding to Data Manipulation by Using Triggers</a:t>
            </a:r>
            <a:endParaRPr lang="en-GB" dirty="0"/>
          </a:p>
        </p:txBody>
      </p:sp>
      <p:sp>
        <p:nvSpPr>
          <p:cNvPr id="3" name="Text Placeholder 2"/>
          <p:cNvSpPr>
            <a:spLocks noGrp="1"/>
          </p:cNvSpPr>
          <p:nvPr>
            <p:ph type="body" idx="1"/>
          </p:nvPr>
        </p:nvSpPr>
        <p:spPr/>
        <p:txBody>
          <a:bodyPr/>
          <a:lstStyle/>
          <a:p>
            <a:r>
              <a:rPr lang="en-GB" dirty="0" smtClean="0"/>
              <a:t>Exercise 1: Create and Test the Audit Trigger
Exercise 2: Improve the Audit Trigger</a:t>
            </a:r>
            <a:endParaRPr lang="en-GB" dirty="0"/>
          </a:p>
        </p:txBody>
      </p:sp>
      <p:sp>
        <p:nvSpPr>
          <p:cNvPr id="4" name="TextBox 3"/>
          <p:cNvSpPr txBox="1"/>
          <p:nvPr/>
        </p:nvSpPr>
        <p:spPr>
          <a:xfrm>
            <a:off x="458788" y="3745141"/>
            <a:ext cx="3383683" cy="523220"/>
          </a:xfrm>
          <a:prstGeom prst="rect">
            <a:avLst/>
          </a:prstGeom>
          <a:noFill/>
        </p:spPr>
        <p:txBody>
          <a:bodyPr vert="horz" wrap="none" rtlCol="0">
            <a:spAutoFit/>
          </a:bodyPr>
          <a:lstStyle/>
          <a:p>
            <a:r>
              <a:rPr lang="en-GB" sz="2800" dirty="0" smtClean="0">
                <a:latin typeface="Segoe UI" panose="020B0502040204020203" pitchFamily="34" charset="0"/>
              </a:rPr>
              <a:t>Logon Information</a:t>
            </a:r>
            <a:endParaRPr lang="en-GB" sz="2800" dirty="0">
              <a:latin typeface="Segoe UI" panose="020B0502040204020203" pitchFamily="34" charset="0"/>
            </a:endParaRPr>
          </a:p>
        </p:txBody>
      </p:sp>
      <p:sp>
        <p:nvSpPr>
          <p:cNvPr id="5" name="TextBox 4"/>
          <p:cNvSpPr txBox="1"/>
          <p:nvPr/>
        </p:nvSpPr>
        <p:spPr>
          <a:xfrm>
            <a:off x="458788" y="4126141"/>
            <a:ext cx="6970050" cy="1384995"/>
          </a:xfrm>
          <a:prstGeom prst="rect">
            <a:avLst/>
          </a:prstGeom>
          <a:noFill/>
        </p:spPr>
        <p:txBody>
          <a:bodyPr vert="horz" wrap="none" rtlCol="0">
            <a:spAutoFit/>
          </a:bodyPr>
          <a:lstStyle/>
          <a:p>
            <a:r>
              <a:rPr lang="en-GB" sz="2800" b="0" dirty="0">
                <a:latin typeface="Segoe UI" panose="020B0502040204020203" pitchFamily="34" charset="0"/>
              </a:rPr>
              <a:t>Virtual Machine: </a:t>
            </a:r>
            <a:r>
              <a:rPr lang="en-GB" sz="2800" dirty="0">
                <a:latin typeface="Segoe UI" panose="020B0502040204020203" pitchFamily="34" charset="0"/>
              </a:rPr>
              <a:t>20762C-MIA-SQL</a:t>
            </a:r>
            <a:r>
              <a:rPr lang="en-GB" sz="2800" b="0" dirty="0">
                <a:latin typeface="Segoe UI" panose="020B0502040204020203" pitchFamily="34" charset="0"/>
              </a:rPr>
              <a:t> </a:t>
            </a:r>
          </a:p>
          <a:p>
            <a:r>
              <a:rPr lang="en-GB" sz="2800" b="0" dirty="0">
                <a:latin typeface="Segoe UI" panose="020B0502040204020203" pitchFamily="34" charset="0"/>
              </a:rPr>
              <a:t>User name: </a:t>
            </a:r>
            <a:r>
              <a:rPr lang="en-GB" sz="2800" dirty="0">
                <a:latin typeface="Segoe UI" panose="020B0502040204020203" pitchFamily="34" charset="0"/>
              </a:rPr>
              <a:t>ADVENTUREWORKS\Student</a:t>
            </a:r>
            <a:endParaRPr lang="en-GB" sz="2800" b="0" dirty="0">
              <a:latin typeface="Segoe UI" panose="020B0502040204020203" pitchFamily="34" charset="0"/>
            </a:endParaRPr>
          </a:p>
          <a:p>
            <a:r>
              <a:rPr lang="en-GB" sz="2800" b="0" dirty="0">
                <a:latin typeface="Segoe UI" panose="020B0502040204020203" pitchFamily="34" charset="0"/>
              </a:rPr>
              <a:t>Password: </a:t>
            </a:r>
            <a:r>
              <a:rPr lang="en-GB" sz="2800" dirty="0">
                <a:latin typeface="Segoe UI" panose="020B0502040204020203" pitchFamily="34" charset="0"/>
              </a:rPr>
              <a:t>Pa55w.rd</a:t>
            </a:r>
            <a:endParaRPr lang="en-GB" sz="2800" b="0" dirty="0">
              <a:solidFill>
                <a:srgbClr val="000000"/>
              </a:solidFill>
              <a:latin typeface="Segoe UI" panose="020B0502040204020203" pitchFamily="34" charset="0"/>
            </a:endParaRPr>
          </a:p>
        </p:txBody>
      </p:sp>
      <p:sp>
        <p:nvSpPr>
          <p:cNvPr id="6" name="TextBox 5"/>
          <p:cNvSpPr txBox="1"/>
          <p:nvPr/>
        </p:nvSpPr>
        <p:spPr>
          <a:xfrm>
            <a:off x="458788" y="6163356"/>
            <a:ext cx="4856201" cy="523220"/>
          </a:xfrm>
          <a:prstGeom prst="rect">
            <a:avLst/>
          </a:prstGeom>
          <a:noFill/>
        </p:spPr>
        <p:txBody>
          <a:bodyPr vert="horz" wrap="none" rtlCol="0">
            <a:spAutoFit/>
          </a:bodyPr>
          <a:lstStyle/>
          <a:p>
            <a:r>
              <a:rPr lang="en-GB" sz="2800" dirty="0" smtClean="0">
                <a:latin typeface="Segoe UI" panose="020B0502040204020203" pitchFamily="34" charset="0"/>
              </a:rPr>
              <a:t>Estimated Time: 30 minutes</a:t>
            </a:r>
            <a:endParaRPr lang="en-GB" sz="2800" dirty="0">
              <a:latin typeface="Segoe UI" panose="020B0502040204020203" pitchFamily="34" charset="0"/>
            </a:endParaRPr>
          </a:p>
        </p:txBody>
      </p:sp>
    </p:spTree>
    <p:custDataLst>
      <p:tags r:id="rId1"/>
    </p:custDataLst>
    <p:extLst>
      <p:ext uri="{BB962C8B-B14F-4D97-AF65-F5344CB8AC3E}">
        <p14:creationId xmlns:p14="http://schemas.microsoft.com/office/powerpoint/2010/main" val="614005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Scenario</a:t>
            </a:r>
            <a:endParaRPr lang="en-GB" dirty="0"/>
          </a:p>
        </p:txBody>
      </p:sp>
      <p:sp>
        <p:nvSpPr>
          <p:cNvPr id="4" name="TextBox 3"/>
          <p:cNvSpPr txBox="1"/>
          <p:nvPr/>
        </p:nvSpPr>
        <p:spPr>
          <a:xfrm>
            <a:off x="458788" y="1021215"/>
            <a:ext cx="8119156" cy="2677656"/>
          </a:xfrm>
          <a:prstGeom prst="rect">
            <a:avLst/>
          </a:prstGeom>
          <a:noFill/>
        </p:spPr>
        <p:txBody>
          <a:bodyPr vert="horz" wrap="square" rtlCol="0">
            <a:spAutoFit/>
          </a:bodyPr>
          <a:lstStyle/>
          <a:p>
            <a:pPr>
              <a:spcBef>
                <a:spcPts val="600"/>
              </a:spcBef>
              <a:spcAft>
                <a:spcPts val="800"/>
              </a:spcAft>
            </a:pPr>
            <a:r>
              <a:rPr lang="en-GB" sz="2800" b="0" dirty="0">
                <a:latin typeface="Segoe UI" panose="020B0502040204020203" pitchFamily="34" charset="0"/>
                <a:ea typeface="Calibri" panose="020F0502020204030204" pitchFamily="34" charset="0"/>
                <a:cs typeface="Times New Roman" panose="02020603050405020304" pitchFamily="18" charset="0"/>
              </a:rPr>
              <a:t>You are required to audit any changes to data in a table that contains sensitive balance data. You have decided to implement this by using DML triggers because the SQL Server Audit mechanism does not provide directly for the requirements in this case</a:t>
            </a:r>
            <a:r>
              <a:rPr lang="en-GB" sz="2800" b="0" dirty="0" smtClean="0">
                <a:latin typeface="Segoe UI" panose="020B0502040204020203" pitchFamily="34" charset="0"/>
                <a:ea typeface="Calibri" panose="020F0502020204030204" pitchFamily="34" charset="0"/>
                <a:cs typeface="Times New Roman" panose="02020603050405020304" pitchFamily="18" charset="0"/>
              </a:rPr>
              <a:t>.</a:t>
            </a:r>
            <a:endParaRPr lang="en-GB" sz="2800" b="0" dirty="0">
              <a:latin typeface="Segoe UI" panose="020B0502040204020203" pitchFamily="34"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861710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Lab Scenario860707277_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Scenario (Continued)</a:t>
            </a:r>
            <a:endParaRPr lang="en-GB" dirty="0"/>
          </a:p>
        </p:txBody>
      </p:sp>
      <p:sp>
        <p:nvSpPr>
          <p:cNvPr id="5" name="TextBox 4"/>
          <p:cNvSpPr txBox="1"/>
          <p:nvPr/>
        </p:nvSpPr>
        <p:spPr>
          <a:xfrm>
            <a:off x="458788" y="1021215"/>
            <a:ext cx="8119156" cy="2362185"/>
          </a:xfrm>
          <a:prstGeom prst="rect">
            <a:avLst/>
          </a:prstGeom>
          <a:noFill/>
        </p:spPr>
        <p:txBody>
          <a:bodyPr vert="horz" wrap="square" rtlCol="0">
            <a:spAutoFit/>
          </a:bodyPr>
          <a:lstStyle/>
          <a:p>
            <a:pPr>
              <a:spcBef>
                <a:spcPts val="600"/>
              </a:spcBef>
              <a:spcAft>
                <a:spcPts val="300"/>
              </a:spcAft>
            </a:pPr>
            <a:r>
              <a:rPr lang="en-US" sz="2800" dirty="0" smtClean="0">
                <a:latin typeface="Segoe UI" panose="020B0502040204020203" pitchFamily="34" charset="0"/>
                <a:ea typeface="Times New Roman" panose="02020603050405020304" pitchFamily="18" charset="0"/>
                <a:cs typeface="Segoe UI" panose="020B0502040204020203" pitchFamily="34" charset="0"/>
              </a:rPr>
              <a:t>Supporting </a:t>
            </a:r>
            <a:r>
              <a:rPr lang="en-US" sz="2800" dirty="0">
                <a:latin typeface="Segoe UI" panose="020B0502040204020203" pitchFamily="34" charset="0"/>
                <a:ea typeface="Times New Roman" panose="02020603050405020304" pitchFamily="18" charset="0"/>
                <a:cs typeface="Segoe UI" panose="020B0502040204020203" pitchFamily="34" charset="0"/>
              </a:rPr>
              <a:t>Documentation</a:t>
            </a:r>
            <a:endParaRPr lang="en-GB" sz="2800" dirty="0">
              <a:latin typeface="Segoe UI" panose="020B0502040204020203" pitchFamily="34" charset="0"/>
              <a:ea typeface="Times New Roman" panose="02020603050405020304" pitchFamily="18" charset="0"/>
              <a:cs typeface="Segoe UI" panose="020B0502040204020203" pitchFamily="34" charset="0"/>
            </a:endParaRPr>
          </a:p>
          <a:p>
            <a:pPr>
              <a:spcBef>
                <a:spcPts val="600"/>
              </a:spcBef>
              <a:spcAft>
                <a:spcPts val="800"/>
              </a:spcAft>
            </a:pPr>
            <a:r>
              <a:rPr lang="en-GB" sz="2800" b="0" dirty="0">
                <a:latin typeface="Segoe UI" panose="020B0502040204020203" pitchFamily="34" charset="0"/>
                <a:ea typeface="Calibri" panose="020F0502020204030204" pitchFamily="34" charset="0"/>
                <a:cs typeface="Times New Roman" panose="02020603050405020304" pitchFamily="18" charset="0"/>
              </a:rPr>
              <a:t>The Production.ProductAudit table is used to hold changes to high value products. The data to be inserted in each column is shown in the following table</a:t>
            </a:r>
            <a:r>
              <a:rPr lang="en-GB" sz="2800" b="0" dirty="0" smtClean="0">
                <a:latin typeface="Segoe UI" panose="020B0502040204020203" pitchFamily="34" charset="0"/>
                <a:ea typeface="Calibri" panose="020F0502020204030204" pitchFamily="34" charset="0"/>
                <a:cs typeface="Times New Roman" panose="02020603050405020304" pitchFamily="18" charset="0"/>
              </a:rPr>
              <a:t>:</a:t>
            </a:r>
            <a:endParaRPr lang="en-GB" sz="2800" b="0" dirty="0">
              <a:latin typeface="Segoe UI" panose="020B0502040204020203" pitchFamily="34" charset="0"/>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766543402"/>
              </p:ext>
            </p:extLst>
          </p:nvPr>
        </p:nvGraphicFramePr>
        <p:xfrm>
          <a:off x="1166359" y="3774020"/>
          <a:ext cx="6704013" cy="1962912"/>
        </p:xfrm>
        <a:graphic>
          <a:graphicData uri="http://schemas.openxmlformats.org/drawingml/2006/table">
            <a:tbl>
              <a:tblPr firstRow="1" firstCol="1" bandRow="1"/>
              <a:tblGrid>
                <a:gridCol w="2234671">
                  <a:extLst>
                    <a:ext uri="{9D8B030D-6E8A-4147-A177-3AD203B41FA5}">
                      <a16:colId xmlns:a16="http://schemas.microsoft.com/office/drawing/2014/main" val="246223630"/>
                    </a:ext>
                  </a:extLst>
                </a:gridCol>
                <a:gridCol w="2234671">
                  <a:extLst>
                    <a:ext uri="{9D8B030D-6E8A-4147-A177-3AD203B41FA5}">
                      <a16:colId xmlns:a16="http://schemas.microsoft.com/office/drawing/2014/main" val="41204668"/>
                    </a:ext>
                  </a:extLst>
                </a:gridCol>
                <a:gridCol w="2234671">
                  <a:extLst>
                    <a:ext uri="{9D8B030D-6E8A-4147-A177-3AD203B41FA5}">
                      <a16:colId xmlns:a16="http://schemas.microsoft.com/office/drawing/2014/main" val="729208594"/>
                    </a:ext>
                  </a:extLst>
                </a:gridCol>
              </a:tblGrid>
              <a:tr h="0">
                <a:tc>
                  <a:txBody>
                    <a:bodyPr/>
                    <a:lstStyle/>
                    <a:p>
                      <a:pPr algn="ctr">
                        <a:lnSpc>
                          <a:spcPct val="115000"/>
                        </a:lnSpc>
                        <a:spcAft>
                          <a:spcPts val="0"/>
                        </a:spcAft>
                      </a:pPr>
                      <a:r>
                        <a:rPr lang="en-US" sz="1600" b="1" dirty="0">
                          <a:effectLst/>
                          <a:latin typeface="Segoe" panose="020B0502040504020203" pitchFamily="34" charset="0"/>
                          <a:ea typeface="SimSun" panose="02010600030101010101" pitchFamily="2" charset="-122"/>
                          <a:cs typeface="Mangal"/>
                        </a:rPr>
                        <a:t>Column</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15000"/>
                        </a:lnSpc>
                        <a:spcAft>
                          <a:spcPts val="0"/>
                        </a:spcAft>
                      </a:pPr>
                      <a:r>
                        <a:rPr lang="en-US" sz="1600" b="1" dirty="0">
                          <a:effectLst/>
                          <a:latin typeface="Segoe" panose="020B0502040504020203" pitchFamily="34" charset="0"/>
                          <a:ea typeface="SimSun" panose="02010600030101010101" pitchFamily="2" charset="-122"/>
                          <a:cs typeface="Mangal"/>
                        </a:rPr>
                        <a:t>Data type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15000"/>
                        </a:lnSpc>
                        <a:spcAft>
                          <a:spcPts val="0"/>
                        </a:spcAft>
                      </a:pPr>
                      <a:r>
                        <a:rPr lang="en-US" sz="1600" b="1" dirty="0">
                          <a:effectLst/>
                          <a:latin typeface="Segoe" panose="020B0502040504020203" pitchFamily="34" charset="0"/>
                          <a:ea typeface="SimSun" panose="02010600030101010101" pitchFamily="2" charset="-122"/>
                          <a:cs typeface="Mangal"/>
                        </a:rPr>
                        <a:t>Value to insert</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86141051"/>
                  </a:ext>
                </a:extLst>
              </a:tr>
              <a:tr h="0">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AuditID</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int</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IDENTITY</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4546292"/>
                  </a:ext>
                </a:extLst>
              </a:tr>
              <a:tr h="0">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ProductID</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int</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ProductID</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31817"/>
                  </a:ext>
                </a:extLst>
              </a:tr>
              <a:tr h="0">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UpdateTime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datetime2</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SYSDATETIME()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9673071"/>
                  </a:ext>
                </a:extLst>
              </a:tr>
              <a:tr h="0">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ModifyingUser</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varchar(30)</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ORIGINAL_LOGIN()</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5041226"/>
                  </a:ext>
                </a:extLst>
              </a:tr>
              <a:tr h="0">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OriginalListPrice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decimal(18,2)</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ListPrice before update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3281702"/>
                  </a:ext>
                </a:extLst>
              </a:tr>
              <a:tr h="0">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NewListPrice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decimal(18,2)</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effectLst/>
                          <a:latin typeface="Segoe" panose="020B0502040504020203" pitchFamily="34" charset="0"/>
                          <a:ea typeface="SimSun" panose="02010600030101010101" pitchFamily="2" charset="-122"/>
                          <a:cs typeface="Mangal"/>
                        </a:rPr>
                        <a:t>ListPrice after update</a:t>
                      </a:r>
                      <a:endParaRPr lang="en-GB" sz="1600" dirty="0">
                        <a:effectLst/>
                        <a:latin typeface="Segoe" panose="020B0502040504020203" pitchFamily="34" charset="0"/>
                        <a:ea typeface="SimSun" panose="02010600030101010101" pitchFamily="2" charset="-122"/>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6628652"/>
                  </a:ext>
                </a:extLst>
              </a:tr>
            </a:tbl>
          </a:graphicData>
        </a:graphic>
      </p:graphicFrame>
    </p:spTree>
    <p:custDataLst>
      <p:tags r:id="rId1"/>
    </p:custDataLst>
    <p:extLst>
      <p:ext uri="{BB962C8B-B14F-4D97-AF65-F5344CB8AC3E}">
        <p14:creationId xmlns:p14="http://schemas.microsoft.com/office/powerpoint/2010/main" val="253329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96ac77a2-ad79-467a-9dbd-e44b8d33d7b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Review</a:t>
            </a:r>
            <a:endParaRPr lang="en-GB" dirty="0"/>
          </a:p>
        </p:txBody>
      </p:sp>
      <p:sp>
        <p:nvSpPr>
          <p:cNvPr id="3" name="Text Placeholder 2"/>
          <p:cNvSpPr>
            <a:spLocks noGrp="1"/>
          </p:cNvSpPr>
          <p:nvPr>
            <p:ph type="body" idx="1"/>
          </p:nvPr>
        </p:nvSpPr>
        <p:spPr/>
        <p:txBody>
          <a:bodyPr/>
          <a:lstStyle/>
          <a:p>
            <a:r>
              <a:rPr lang="en-US" dirty="0"/>
              <a:t>In this lab exercise you learnt how to create and modify triggers. You created and modified a trigger to write an entry into a table, triggered by an update made to a column in another table</a:t>
            </a:r>
            <a:r>
              <a:rPr lang="en-US" dirty="0" smtClean="0"/>
              <a:t>.</a:t>
            </a:r>
            <a:endParaRPr lang="en-GB" dirty="0"/>
          </a:p>
        </p:txBody>
      </p:sp>
    </p:spTree>
    <p:custDataLst>
      <p:tags r:id="rId1"/>
    </p:custDataLst>
    <p:extLst>
      <p:ext uri="{BB962C8B-B14F-4D97-AF65-F5344CB8AC3E}">
        <p14:creationId xmlns:p14="http://schemas.microsoft.com/office/powerpoint/2010/main" val="1132794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Review and Takeaways</a:t>
            </a:r>
            <a:endParaRPr lang="en-GB" dirty="0"/>
          </a:p>
        </p:txBody>
      </p:sp>
      <p:sp>
        <p:nvSpPr>
          <p:cNvPr id="3" name="Text Placeholder 2"/>
          <p:cNvSpPr>
            <a:spLocks noGrp="1"/>
          </p:cNvSpPr>
          <p:nvPr>
            <p:ph type="body" idx="1"/>
          </p:nvPr>
        </p:nvSpPr>
        <p:spPr/>
        <p:txBody>
          <a:bodyPr/>
          <a:lstStyle/>
          <a:p>
            <a:r>
              <a:rPr lang="en-GB" dirty="0" smtClean="0"/>
              <a:t>Review Question(s)
Best Practice</a:t>
            </a:r>
            <a:endParaRPr lang="en-GB" dirty="0"/>
          </a:p>
        </p:txBody>
      </p:sp>
    </p:spTree>
    <p:custDataLst>
      <p:tags r:id="rId1"/>
    </p:custDataLst>
    <p:extLst>
      <p:ext uri="{BB962C8B-B14F-4D97-AF65-F5344CB8AC3E}">
        <p14:creationId xmlns:p14="http://schemas.microsoft.com/office/powerpoint/2010/main" val="20691815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3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77</TotalTime>
  <Words>4770</Words>
  <Application>Microsoft Office PowerPoint</Application>
  <PresentationFormat>On-screen Show (4:3)</PresentationFormat>
  <Paragraphs>488</Paragraphs>
  <Slides>33</Slides>
  <Notes>33</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Wingdings</vt:lpstr>
      <vt:lpstr>SimSun</vt:lpstr>
      <vt:lpstr>Segoe</vt:lpstr>
      <vt:lpstr>Verdana</vt:lpstr>
      <vt:lpstr>Times New Roman</vt:lpstr>
      <vt:lpstr>Mangal</vt:lpstr>
      <vt:lpstr>Segoe UI</vt:lpstr>
      <vt:lpstr>Arial</vt:lpstr>
      <vt:lpstr>Calibri</vt:lpstr>
      <vt:lpstr>NG_MOC_Core_ModuleNew2</vt:lpstr>
      <vt:lpstr>Module 11</vt:lpstr>
      <vt:lpstr>Module Overview</vt:lpstr>
      <vt:lpstr>Lesson 1: Designing DML Triggers</vt:lpstr>
      <vt:lpstr>What Are DML Triggers?</vt:lpstr>
      <vt:lpstr>AFTER Triggers vs. INSTEAD OF Triggers</vt:lpstr>
      <vt:lpstr>Inserted and Deleted Virtual Tables</vt:lpstr>
      <vt:lpstr>SET NOCOUNT ON</vt:lpstr>
      <vt:lpstr>Considerations for Triggers</vt:lpstr>
      <vt:lpstr>Lesson 2: Implementing DML Triggers</vt:lpstr>
      <vt:lpstr>AFTER INSERT Triggers</vt:lpstr>
      <vt:lpstr>Demonstration: Working with AFTER INSERT Triggers</vt:lpstr>
      <vt:lpstr>AFTER DELETE Triggers</vt:lpstr>
      <vt:lpstr>Demonstration: Working with AFTER DELETE Triggers</vt:lpstr>
      <vt:lpstr>AFTER UPDATE Triggers</vt:lpstr>
      <vt:lpstr>Demonstration: Working with AFTER UPDATE Triggers</vt:lpstr>
      <vt:lpstr>PowerPoint Presentation</vt:lpstr>
      <vt:lpstr>PowerPoint Presentation</vt:lpstr>
      <vt:lpstr>Lesson 3: Advanced Trigger Concepts</vt:lpstr>
      <vt:lpstr>INSTEAD OF Triggers</vt:lpstr>
      <vt:lpstr>Demonstration: Working with INSTEAD OF Triggers</vt:lpstr>
      <vt:lpstr>PowerPoint Presentation</vt:lpstr>
      <vt:lpstr>How Nested Triggers Work</vt:lpstr>
      <vt:lpstr>Considerations for Recursive Triggers</vt:lpstr>
      <vt:lpstr>UPDATE Function</vt:lpstr>
      <vt:lpstr>Firing Order for Triggers</vt:lpstr>
      <vt:lpstr>Alternatives to Triggers</vt:lpstr>
      <vt:lpstr>Demonstration: Replacing Triggers with Computed Columns</vt:lpstr>
      <vt:lpstr>PowerPoint Presentation</vt:lpstr>
      <vt:lpstr>Lab: Responding to Data Manipulation by Using Triggers</vt:lpstr>
      <vt:lpstr>Lab Scenario</vt:lpstr>
      <vt:lpstr>Lab Scenario (Continued)</vt:lpstr>
      <vt:lpstr>Lab Review</vt:lpstr>
      <vt:lpstr>Module Review and Takeaways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dc:title>
  <dc:creator/>
  <cp:lastModifiedBy/>
  <cp:revision>5</cp:revision>
  <dcterms:created xsi:type="dcterms:W3CDTF">2017-11-24T12:02:20Z</dcterms:created>
  <dcterms:modified xsi:type="dcterms:W3CDTF">2017-11-28T10:20:19Z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B6B2AFB6-F1ED-4B5A-BB4E-DBB81B0F9157</vt:lpwstr>
  </property>
  <property fmtid="{D5CDD505-2E9C-101B-9397-08002B2CF9AE}" pid="3" name="ArticulatePath">
    <vt:lpwstr>20762C_11</vt:lpwstr>
  </property>
</Properties>
</file>