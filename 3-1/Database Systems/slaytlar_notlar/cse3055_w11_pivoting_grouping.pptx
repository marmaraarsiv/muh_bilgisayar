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60" r:id="rId1"/>
  </p:sldMasterIdLst>
  <p:notesMasterIdLst>
    <p:notesMasterId r:id="rId21"/>
  </p:notesMasterIdLst>
  <p:sldIdLst>
    <p:sldId id="256" r:id="rId2"/>
    <p:sldId id="257" r:id="rId3"/>
    <p:sldId id="258" r:id="rId4"/>
    <p:sldId id="259" r:id="rId5"/>
    <p:sldId id="260" r:id="rId6"/>
    <p:sldId id="261" r:id="rId7"/>
    <p:sldId id="262" r:id="rId8"/>
    <p:sldId id="263" r:id="rId9"/>
    <p:sldId id="273" r:id="rId10"/>
    <p:sldId id="264" r:id="rId11"/>
    <p:sldId id="265" r:id="rId12"/>
    <p:sldId id="266" r:id="rId13"/>
    <p:sldId id="267" r:id="rId14"/>
    <p:sldId id="268" r:id="rId15"/>
    <p:sldId id="269" r:id="rId16"/>
    <p:sldId id="274" r:id="rId17"/>
    <p:sldId id="270" r:id="rId18"/>
    <p:sldId id="271" r:id="rId19"/>
    <p:sldId id="272" r:id="rId20"/>
  </p:sldIdLst>
  <p:sldSz cx="9144000" cy="6858000" type="screen4x3"/>
  <p:notesSz cx="6858000" cy="9144000"/>
  <p:embeddedFontLst>
    <p:embeddedFont>
      <p:font typeface="Segoe UI" panose="020B0502040204020203" pitchFamily="34" charset="0"/>
      <p:regular r:id="rId22"/>
      <p:bold r:id="rId23"/>
      <p:italic r:id="rId24"/>
      <p:boldItalic r:id="rId25"/>
    </p:embeddedFont>
    <p:embeddedFont>
      <p:font typeface="Lucida Sans Typewriter" panose="020B0509030504030204" pitchFamily="49" charset="0"/>
      <p:regular r:id="rId26"/>
      <p:bold r:id="rId27"/>
      <p:italic r:id="rId28"/>
      <p:boldItalic r:id="rId29"/>
    </p:embeddedFont>
    <p:embeddedFont>
      <p:font typeface="Lucida Sans Unicode" panose="020B0602030504020204" pitchFamily="34" charset="0"/>
      <p:regular r:id="rId30"/>
    </p:embeddedFont>
    <p:embeddedFont>
      <p:font typeface="Calibri" panose="020F0502020204030204" pitchFamily="34" charset="0"/>
      <p:regular r:id="rId31"/>
      <p:bold r:id="rId32"/>
      <p:italic r:id="rId33"/>
      <p:boldItalic r:id="rId34"/>
    </p:embeddedFont>
    <p:embeddedFont>
      <p:font typeface="Verdana" panose="020B0604030504040204" pitchFamily="34" charset="0"/>
      <p:regular r:id="rId35"/>
      <p:bold r:id="rId36"/>
      <p:italic r:id="rId37"/>
      <p:boldItalic r:id="rId38"/>
    </p:embeddedFont>
    <p:embeddedFont>
      <p:font typeface="Segoe UI Light" panose="020B0502040204020203" pitchFamily="34" charset="0"/>
      <p:regular r:id="rId39"/>
      <p:italic r:id="rId40"/>
    </p:embeddedFont>
  </p:embeddedFontLst>
  <p:custDataLst>
    <p:tags r:id="rId41"/>
  </p:custDataLst>
  <p:defaultTex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90" d="100"/>
          <a:sy n="90" d="100"/>
        </p:scale>
        <p:origin x="1162" y="106"/>
      </p:cViewPr>
      <p:guideLst/>
    </p:cSldViewPr>
  </p:slideViewPr>
  <p:notesTextViewPr>
    <p:cViewPr>
      <p:scale>
        <a:sx n="1" d="1"/>
        <a:sy n="1" d="1"/>
      </p:scale>
      <p:origin x="0" y="0"/>
    </p:cViewPr>
  </p:notesTextViewPr>
  <p:notesViewPr>
    <p:cSldViewPr snapToGrid="0">
      <p:cViewPr varScale="1">
        <p:scale>
          <a:sx n="74" d="100"/>
          <a:sy n="74" d="100"/>
        </p:scale>
        <p:origin x="2899" y="67"/>
      </p:cViewPr>
      <p:guideLst/>
    </p:cSldViewPr>
  </p:notes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notesMaster" Target="notesMasters/notesMaster1.xml"/><Relationship Id="rId22" Type="http://schemas.openxmlformats.org/officeDocument/2006/relationships/font" Target="fonts/font1.fntdata"/><Relationship Id="rId23" Type="http://schemas.openxmlformats.org/officeDocument/2006/relationships/font" Target="fonts/font2.fntdata"/><Relationship Id="rId24" Type="http://schemas.openxmlformats.org/officeDocument/2006/relationships/font" Target="fonts/font3.fntdata"/><Relationship Id="rId25" Type="http://schemas.openxmlformats.org/officeDocument/2006/relationships/font" Target="fonts/font4.fntdata"/><Relationship Id="rId26" Type="http://schemas.openxmlformats.org/officeDocument/2006/relationships/font" Target="fonts/font5.fntdata"/><Relationship Id="rId27" Type="http://schemas.openxmlformats.org/officeDocument/2006/relationships/font" Target="fonts/font6.fntdata"/><Relationship Id="rId28" Type="http://schemas.openxmlformats.org/officeDocument/2006/relationships/font" Target="fonts/font7.fntdata"/><Relationship Id="rId29" Type="http://schemas.openxmlformats.org/officeDocument/2006/relationships/font" Target="fonts/font8.fntdata"/><Relationship Id="rId30" Type="http://schemas.openxmlformats.org/officeDocument/2006/relationships/font" Target="fonts/font9.fntdata"/><Relationship Id="rId31" Type="http://schemas.openxmlformats.org/officeDocument/2006/relationships/font" Target="fonts/font10.fntdata"/><Relationship Id="rId32" Type="http://schemas.openxmlformats.org/officeDocument/2006/relationships/font" Target="fonts/font11.fntdata"/><Relationship Id="rId33" Type="http://schemas.openxmlformats.org/officeDocument/2006/relationships/font" Target="fonts/font12.fntdata"/><Relationship Id="rId34" Type="http://schemas.openxmlformats.org/officeDocument/2006/relationships/font" Target="fonts/font13.fntdata"/><Relationship Id="rId35" Type="http://schemas.openxmlformats.org/officeDocument/2006/relationships/font" Target="fonts/font14.fntdata"/><Relationship Id="rId36" Type="http://schemas.openxmlformats.org/officeDocument/2006/relationships/font" Target="fonts/font15.fntdata"/><Relationship Id="rId37" Type="http://schemas.openxmlformats.org/officeDocument/2006/relationships/font" Target="fonts/font16.fntdata"/><Relationship Id="rId38" Type="http://schemas.openxmlformats.org/officeDocument/2006/relationships/font" Target="fonts/font17.fntdata"/><Relationship Id="rId39" Type="http://schemas.openxmlformats.org/officeDocument/2006/relationships/font" Target="fonts/font18.fntdata"/><Relationship Id="rId40" Type="http://schemas.openxmlformats.org/officeDocument/2006/relationships/font" Target="fonts/font19.fntdata"/><Relationship Id="rId41" Type="http://schemas.openxmlformats.org/officeDocument/2006/relationships/tags" Target="tags/tag1.xml"/><Relationship Id="rId42" Type="http://schemas.openxmlformats.org/officeDocument/2006/relationships/presProps" Target="presProps.xml"/><Relationship Id="rId43" Type="http://schemas.openxmlformats.org/officeDocument/2006/relationships/viewProps" Target="viewProps.xml"/><Relationship Id="rId44" Type="http://schemas.openxmlformats.org/officeDocument/2006/relationships/theme" Target="theme/theme1.xml"/><Relationship Id="rId45"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637823E-B6A2-482E-9CE0-07F535AAE8BD}" type="datetimeFigureOut">
              <a:rPr lang="en-GB" smtClean="0"/>
              <a:t>17/11/2017</a:t>
            </a:fld>
            <a:endParaRPr lang="en-GB" dirty="0"/>
          </a:p>
        </p:txBody>
      </p:sp>
      <p:sp>
        <p:nvSpPr>
          <p:cNvPr id="4" name="Slide Image Placeholder 3"/>
          <p:cNvSpPr>
            <a:spLocks noGrp="1" noRot="1" noChangeAspect="1"/>
          </p:cNvSpPr>
          <p:nvPr>
            <p:ph type="sldImg" idx="2"/>
          </p:nvPr>
        </p:nvSpPr>
        <p:spPr>
          <a:xfrm>
            <a:off x="4325112" y="73152"/>
            <a:ext cx="2468880" cy="1851660"/>
          </a:xfrm>
          <a:prstGeom prst="rect">
            <a:avLst/>
          </a:prstGeom>
          <a:noFill/>
          <a:ln w="12700">
            <a:solidFill>
              <a:prstClr val="black"/>
            </a:solidFill>
          </a:ln>
        </p:spPr>
        <p:txBody>
          <a:bodyPr vert="horz" lIns="91440" tIns="45720" rIns="91440" bIns="45720" rtlCol="0" anchor="ctr"/>
          <a:lstStyle/>
          <a:p>
            <a:endParaRPr lang="en-GB" dirty="0"/>
          </a:p>
        </p:txBody>
      </p:sp>
      <p:sp>
        <p:nvSpPr>
          <p:cNvPr id="5" name="Notes Placeholder 4"/>
          <p:cNvSpPr>
            <a:spLocks noGrp="1"/>
          </p:cNvSpPr>
          <p:nvPr>
            <p:ph type="body" sz="quarter" idx="3"/>
          </p:nvPr>
        </p:nvSpPr>
        <p:spPr>
          <a:xfrm>
            <a:off x="310896" y="2093976"/>
            <a:ext cx="6153912" cy="6604000"/>
          </a:xfrm>
          <a:prstGeom prst="rect">
            <a:avLst/>
          </a:prstGeom>
        </p:spPr>
        <p:txBody>
          <a:bodyPr vert="horz" lIns="91440" tIns="45720" rIns="91440" bIns="45720" rtlCol="0"/>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3CB4B4F-7043-45FC-8A7C-C1A834BC0C20}" type="slidenum">
              <a:rPr lang="en-GB" smtClean="0"/>
              <a:t>‹#›</a:t>
            </a:fld>
            <a:endParaRPr lang="en-GB" dirty="0"/>
          </a:p>
        </p:txBody>
      </p:sp>
    </p:spTree>
    <p:extLst>
      <p:ext uri="{BB962C8B-B14F-4D97-AF65-F5344CB8AC3E}">
        <p14:creationId xmlns:p14="http://schemas.microsoft.com/office/powerpoint/2010/main" val="68403886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 Id="rId3" Type="http://schemas.openxmlformats.org/officeDocument/2006/relationships/hyperlink" Target="http://go.microsoft.com/fwlink/?LinkID=402786" TargetMode="Externa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938" y="73025"/>
            <a:ext cx="2466975" cy="1851025"/>
          </a:xfrm>
        </p:spPr>
      </p:sp>
      <p:sp>
        <p:nvSpPr>
          <p:cNvPr id="3" name="Notes Placeholder 2"/>
          <p:cNvSpPr>
            <a:spLocks noGrp="1"/>
          </p:cNvSpPr>
          <p:nvPr>
            <p:ph type="body" idx="1"/>
          </p:nvPr>
        </p:nvSpPr>
        <p:spPr>
          <a:xfrm>
            <a:off x="310896" y="2093975"/>
            <a:ext cx="6153912" cy="6604000"/>
          </a:xfrm>
        </p:spPr>
        <p:txBody>
          <a:bodyPr>
            <a:noAutofit/>
          </a:bodyPr>
          <a:lstStyle/>
          <a:p>
            <a:pPr>
              <a:lnSpc>
                <a:spcPct val="107000"/>
              </a:lnSpc>
              <a:spcAft>
                <a:spcPts val="800"/>
              </a:spcAft>
            </a:pPr>
            <a:r>
              <a:rPr lang="en-GB" sz="1000" dirty="0">
                <a:latin typeface="Arial" panose="020B0604020202020204" pitchFamily="34" charset="0"/>
                <a:ea typeface="Calibri" panose="020F0502020204030204" pitchFamily="34" charset="0"/>
                <a:cs typeface="Times New Roman" panose="02020603050405020304" pitchFamily="18" charset="0"/>
              </a:rPr>
              <a:t> </a:t>
            </a:r>
          </a:p>
        </p:txBody>
      </p:sp>
      <p:sp>
        <p:nvSpPr>
          <p:cNvPr id="4" name="Slide Number Placeholder 3"/>
          <p:cNvSpPr>
            <a:spLocks noGrp="1"/>
          </p:cNvSpPr>
          <p:nvPr>
            <p:ph type="sldNum" sz="quarter" idx="10"/>
          </p:nvPr>
        </p:nvSpPr>
        <p:spPr/>
        <p:txBody>
          <a:bodyPr/>
          <a:lstStyle/>
          <a:p>
            <a:fld id="{83CB4B4F-7043-45FC-8A7C-C1A834BC0C20}" type="slidenum">
              <a:rPr lang="en-GB" smtClean="0"/>
              <a:t>1</a:t>
            </a:fld>
            <a:endParaRPr lang="en-GB" dirty="0"/>
          </a:p>
        </p:txBody>
      </p:sp>
      <p:sp>
        <p:nvSpPr>
          <p:cNvPr id="5" name="Rectangle 4"/>
          <p:cNvSpPr/>
          <p:nvPr/>
        </p:nvSpPr>
        <p:spPr>
          <a:xfrm>
            <a:off x="0" y="0"/>
            <a:ext cx="3038475" cy="222250"/>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200" dirty="0" smtClean="0">
                <a:solidFill>
                  <a:srgbClr val="000000"/>
                </a:solidFill>
                <a:latin typeface="Arial" panose="020B0604020202020204" pitchFamily="34" charset="0"/>
              </a:rPr>
              <a:t>20761C</a:t>
            </a:r>
            <a:endParaRPr lang="en-GB" sz="1200" dirty="0">
              <a:solidFill>
                <a:srgbClr val="000000"/>
              </a:solidFill>
              <a:latin typeface="Arial" panose="020B0604020202020204" pitchFamily="34" charset="0"/>
            </a:endParaRPr>
          </a:p>
        </p:txBody>
      </p:sp>
      <p:sp>
        <p:nvSpPr>
          <p:cNvPr id="6" name="Rectangle 5"/>
          <p:cNvSpPr/>
          <p:nvPr/>
        </p:nvSpPr>
        <p:spPr>
          <a:xfrm>
            <a:off x="0" y="238125"/>
            <a:ext cx="3038475" cy="347663"/>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200" dirty="0" smtClean="0">
                <a:solidFill>
                  <a:srgbClr val="336699"/>
                </a:solidFill>
                <a:latin typeface="Arial" panose="020B0604020202020204" pitchFamily="34" charset="0"/>
              </a:rPr>
              <a:t>14: Pivoting and Grouping Sets</a:t>
            </a:r>
            <a:endParaRPr lang="en-GB" sz="1200" dirty="0">
              <a:solidFill>
                <a:srgbClr val="336699"/>
              </a:solidFill>
              <a:latin typeface="Arial" panose="020B0604020202020204" pitchFamily="34" charset="0"/>
            </a:endParaRPr>
          </a:p>
        </p:txBody>
      </p:sp>
    </p:spTree>
    <p:extLst>
      <p:ext uri="{BB962C8B-B14F-4D97-AF65-F5344CB8AC3E}">
        <p14:creationId xmlns:p14="http://schemas.microsoft.com/office/powerpoint/2010/main" val="66227848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938" y="73025"/>
            <a:ext cx="2466975" cy="1851025"/>
          </a:xfrm>
        </p:spPr>
      </p:sp>
      <p:sp>
        <p:nvSpPr>
          <p:cNvPr id="3" name="Notes Placeholder 2"/>
          <p:cNvSpPr>
            <a:spLocks noGrp="1"/>
          </p:cNvSpPr>
          <p:nvPr>
            <p:ph type="body" idx="1"/>
          </p:nvPr>
        </p:nvSpPr>
        <p:spPr>
          <a:xfrm>
            <a:off x="310896" y="2093975"/>
            <a:ext cx="6153912" cy="6604000"/>
          </a:xfrm>
        </p:spPr>
        <p:txBody>
          <a:bodyPr>
            <a:noAutofit/>
          </a:bodyPr>
          <a:lstStyle/>
          <a:p>
            <a:pPr>
              <a:lnSpc>
                <a:spcPct val="107000"/>
              </a:lnSpc>
              <a:spcAft>
                <a:spcPts val="800"/>
              </a:spcAft>
            </a:pPr>
            <a:r>
              <a:rPr lang="en-GB" sz="1000" dirty="0">
                <a:latin typeface="Arial" panose="020B0604020202020204" pitchFamily="34" charset="0"/>
                <a:ea typeface="Calibri" panose="020F0502020204030204" pitchFamily="34" charset="0"/>
                <a:cs typeface="Times New Roman" panose="02020603050405020304" pitchFamily="18" charset="0"/>
              </a:rPr>
              <a:t> </a:t>
            </a:r>
          </a:p>
        </p:txBody>
      </p:sp>
      <p:sp>
        <p:nvSpPr>
          <p:cNvPr id="4" name="Slide Number Placeholder 3"/>
          <p:cNvSpPr>
            <a:spLocks noGrp="1"/>
          </p:cNvSpPr>
          <p:nvPr>
            <p:ph type="sldNum" sz="quarter" idx="10"/>
          </p:nvPr>
        </p:nvSpPr>
        <p:spPr/>
        <p:txBody>
          <a:bodyPr/>
          <a:lstStyle/>
          <a:p>
            <a:fld id="{83CB4B4F-7043-45FC-8A7C-C1A834BC0C20}" type="slidenum">
              <a:rPr lang="en-GB" smtClean="0"/>
              <a:t>2</a:t>
            </a:fld>
            <a:endParaRPr lang="en-GB" dirty="0"/>
          </a:p>
        </p:txBody>
      </p:sp>
      <p:sp>
        <p:nvSpPr>
          <p:cNvPr id="5" name="Rectangle 4"/>
          <p:cNvSpPr/>
          <p:nvPr/>
        </p:nvSpPr>
        <p:spPr>
          <a:xfrm>
            <a:off x="0" y="0"/>
            <a:ext cx="3038475" cy="222250"/>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200" dirty="0" smtClean="0">
                <a:solidFill>
                  <a:srgbClr val="000000"/>
                </a:solidFill>
                <a:latin typeface="Arial" panose="020B0604020202020204" pitchFamily="34" charset="0"/>
              </a:rPr>
              <a:t>20761C</a:t>
            </a:r>
            <a:endParaRPr lang="en-GB" sz="1200" dirty="0">
              <a:solidFill>
                <a:srgbClr val="000000"/>
              </a:solidFill>
              <a:latin typeface="Arial" panose="020B0604020202020204" pitchFamily="34" charset="0"/>
            </a:endParaRPr>
          </a:p>
        </p:txBody>
      </p:sp>
      <p:sp>
        <p:nvSpPr>
          <p:cNvPr id="6" name="Rectangle 5"/>
          <p:cNvSpPr/>
          <p:nvPr/>
        </p:nvSpPr>
        <p:spPr>
          <a:xfrm>
            <a:off x="0" y="238125"/>
            <a:ext cx="3038475" cy="347663"/>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200" dirty="0" smtClean="0">
                <a:solidFill>
                  <a:srgbClr val="336699"/>
                </a:solidFill>
                <a:latin typeface="Arial" panose="020B0604020202020204" pitchFamily="34" charset="0"/>
              </a:rPr>
              <a:t>14: Pivoting and Grouping Sets</a:t>
            </a:r>
            <a:endParaRPr lang="en-GB" sz="1200" dirty="0">
              <a:solidFill>
                <a:srgbClr val="336699"/>
              </a:solidFill>
              <a:latin typeface="Arial" panose="020B0604020202020204" pitchFamily="34" charset="0"/>
            </a:endParaRPr>
          </a:p>
        </p:txBody>
      </p:sp>
    </p:spTree>
    <p:extLst>
      <p:ext uri="{BB962C8B-B14F-4D97-AF65-F5344CB8AC3E}">
        <p14:creationId xmlns:p14="http://schemas.microsoft.com/office/powerpoint/2010/main" val="246722430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938" y="73025"/>
            <a:ext cx="2466975" cy="1851025"/>
          </a:xfrm>
        </p:spPr>
      </p:sp>
      <p:sp>
        <p:nvSpPr>
          <p:cNvPr id="3" name="Notes Placeholder 2"/>
          <p:cNvSpPr>
            <a:spLocks noGrp="1"/>
          </p:cNvSpPr>
          <p:nvPr>
            <p:ph type="body" idx="1"/>
          </p:nvPr>
        </p:nvSpPr>
        <p:spPr>
          <a:xfrm>
            <a:off x="310896" y="2093975"/>
            <a:ext cx="6153912" cy="6604000"/>
          </a:xfrm>
        </p:spPr>
        <p:txBody>
          <a:bodyPr>
            <a:noAutofit/>
          </a:bodyPr>
          <a:lstStyle/>
          <a:p>
            <a:pPr>
              <a:lnSpc>
                <a:spcPct val="107000"/>
              </a:lnSpc>
              <a:spcAft>
                <a:spcPts val="800"/>
              </a:spcAft>
            </a:pPr>
            <a:r>
              <a:rPr lang="en-GB" sz="1000" dirty="0">
                <a:latin typeface="Arial" panose="020B0604020202020204" pitchFamily="34" charset="0"/>
                <a:ea typeface="Calibri" panose="020F0502020204030204" pitchFamily="34" charset="0"/>
                <a:cs typeface="Times New Roman" panose="02020603050405020304" pitchFamily="18" charset="0"/>
              </a:rPr>
              <a:t> </a:t>
            </a:r>
          </a:p>
        </p:txBody>
      </p:sp>
      <p:sp>
        <p:nvSpPr>
          <p:cNvPr id="4" name="Slide Number Placeholder 3"/>
          <p:cNvSpPr>
            <a:spLocks noGrp="1"/>
          </p:cNvSpPr>
          <p:nvPr>
            <p:ph type="sldNum" sz="quarter" idx="10"/>
          </p:nvPr>
        </p:nvSpPr>
        <p:spPr/>
        <p:txBody>
          <a:bodyPr/>
          <a:lstStyle/>
          <a:p>
            <a:fld id="{83CB4B4F-7043-45FC-8A7C-C1A834BC0C20}" type="slidenum">
              <a:rPr lang="en-GB" smtClean="0"/>
              <a:t>3</a:t>
            </a:fld>
            <a:endParaRPr lang="en-GB" dirty="0"/>
          </a:p>
        </p:txBody>
      </p:sp>
      <p:sp>
        <p:nvSpPr>
          <p:cNvPr id="5" name="Rectangle 4"/>
          <p:cNvSpPr/>
          <p:nvPr/>
        </p:nvSpPr>
        <p:spPr>
          <a:xfrm>
            <a:off x="0" y="0"/>
            <a:ext cx="3038475" cy="222250"/>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200" dirty="0" smtClean="0">
                <a:solidFill>
                  <a:srgbClr val="000000"/>
                </a:solidFill>
                <a:latin typeface="Arial" panose="020B0604020202020204" pitchFamily="34" charset="0"/>
              </a:rPr>
              <a:t>20761C</a:t>
            </a:r>
            <a:endParaRPr lang="en-GB" sz="1200" dirty="0">
              <a:solidFill>
                <a:srgbClr val="000000"/>
              </a:solidFill>
              <a:latin typeface="Arial" panose="020B0604020202020204" pitchFamily="34" charset="0"/>
            </a:endParaRPr>
          </a:p>
        </p:txBody>
      </p:sp>
      <p:sp>
        <p:nvSpPr>
          <p:cNvPr id="6" name="Rectangle 5"/>
          <p:cNvSpPr/>
          <p:nvPr/>
        </p:nvSpPr>
        <p:spPr>
          <a:xfrm>
            <a:off x="0" y="238125"/>
            <a:ext cx="3038475" cy="347663"/>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200" dirty="0" smtClean="0">
                <a:solidFill>
                  <a:srgbClr val="336699"/>
                </a:solidFill>
                <a:latin typeface="Arial" panose="020B0604020202020204" pitchFamily="34" charset="0"/>
              </a:rPr>
              <a:t>14: Pivoting and Grouping Sets</a:t>
            </a:r>
            <a:endParaRPr lang="en-GB" sz="1200" dirty="0">
              <a:solidFill>
                <a:srgbClr val="336699"/>
              </a:solidFill>
              <a:latin typeface="Arial" panose="020B0604020202020204" pitchFamily="34" charset="0"/>
            </a:endParaRPr>
          </a:p>
        </p:txBody>
      </p:sp>
    </p:spTree>
    <p:extLst>
      <p:ext uri="{BB962C8B-B14F-4D97-AF65-F5344CB8AC3E}">
        <p14:creationId xmlns:p14="http://schemas.microsoft.com/office/powerpoint/2010/main" val="185335916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938" y="73025"/>
            <a:ext cx="2466975" cy="1851025"/>
          </a:xfrm>
        </p:spPr>
      </p:sp>
      <p:sp>
        <p:nvSpPr>
          <p:cNvPr id="3" name="Notes Placeholder 2"/>
          <p:cNvSpPr>
            <a:spLocks noGrp="1"/>
          </p:cNvSpPr>
          <p:nvPr>
            <p:ph type="body" idx="1"/>
          </p:nvPr>
        </p:nvSpPr>
        <p:spPr>
          <a:xfrm>
            <a:off x="310896" y="2093975"/>
            <a:ext cx="6153912" cy="6604000"/>
          </a:xfrm>
        </p:spPr>
        <p:txBody>
          <a:bodyPr>
            <a:noAutofit/>
          </a:bodyPr>
          <a:lstStyle/>
          <a:p>
            <a:pPr>
              <a:lnSpc>
                <a:spcPct val="107000"/>
              </a:lnSpc>
              <a:spcAft>
                <a:spcPts val="800"/>
              </a:spcAft>
            </a:pPr>
            <a:r>
              <a:rPr lang="en-GB" sz="1000" dirty="0">
                <a:latin typeface="Arial" panose="020B0604020202020204" pitchFamily="34" charset="0"/>
                <a:ea typeface="Calibri" panose="020F0502020204030204" pitchFamily="34" charset="0"/>
                <a:cs typeface="Times New Roman" panose="02020603050405020304" pitchFamily="18" charset="0"/>
              </a:rPr>
              <a:t>Note that the graphic on the left is a partial result set—the sums on the right will not match.</a:t>
            </a:r>
          </a:p>
        </p:txBody>
      </p:sp>
      <p:sp>
        <p:nvSpPr>
          <p:cNvPr id="4" name="Slide Number Placeholder 3"/>
          <p:cNvSpPr>
            <a:spLocks noGrp="1"/>
          </p:cNvSpPr>
          <p:nvPr>
            <p:ph type="sldNum" sz="quarter" idx="10"/>
          </p:nvPr>
        </p:nvSpPr>
        <p:spPr/>
        <p:txBody>
          <a:bodyPr/>
          <a:lstStyle/>
          <a:p>
            <a:fld id="{83CB4B4F-7043-45FC-8A7C-C1A834BC0C20}" type="slidenum">
              <a:rPr lang="en-GB" smtClean="0"/>
              <a:t>4</a:t>
            </a:fld>
            <a:endParaRPr lang="en-GB" dirty="0"/>
          </a:p>
        </p:txBody>
      </p:sp>
      <p:sp>
        <p:nvSpPr>
          <p:cNvPr id="5" name="Rectangle 4"/>
          <p:cNvSpPr/>
          <p:nvPr/>
        </p:nvSpPr>
        <p:spPr>
          <a:xfrm>
            <a:off x="0" y="0"/>
            <a:ext cx="3038475" cy="222250"/>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200" dirty="0" smtClean="0">
                <a:solidFill>
                  <a:srgbClr val="000000"/>
                </a:solidFill>
                <a:latin typeface="Arial" panose="020B0604020202020204" pitchFamily="34" charset="0"/>
              </a:rPr>
              <a:t>20761C</a:t>
            </a:r>
            <a:endParaRPr lang="en-GB" sz="1200" dirty="0">
              <a:solidFill>
                <a:srgbClr val="000000"/>
              </a:solidFill>
              <a:latin typeface="Arial" panose="020B0604020202020204" pitchFamily="34" charset="0"/>
            </a:endParaRPr>
          </a:p>
        </p:txBody>
      </p:sp>
      <p:sp>
        <p:nvSpPr>
          <p:cNvPr id="6" name="Rectangle 5"/>
          <p:cNvSpPr/>
          <p:nvPr/>
        </p:nvSpPr>
        <p:spPr>
          <a:xfrm>
            <a:off x="0" y="238125"/>
            <a:ext cx="3038475" cy="347663"/>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200" dirty="0" smtClean="0">
                <a:solidFill>
                  <a:srgbClr val="336699"/>
                </a:solidFill>
                <a:latin typeface="Arial" panose="020B0604020202020204" pitchFamily="34" charset="0"/>
              </a:rPr>
              <a:t>14: Pivoting and Grouping Sets</a:t>
            </a:r>
            <a:endParaRPr lang="en-GB" sz="1200" dirty="0">
              <a:solidFill>
                <a:srgbClr val="336699"/>
              </a:solidFill>
              <a:latin typeface="Arial" panose="020B0604020202020204" pitchFamily="34" charset="0"/>
            </a:endParaRPr>
          </a:p>
        </p:txBody>
      </p:sp>
    </p:spTree>
    <p:extLst>
      <p:ext uri="{BB962C8B-B14F-4D97-AF65-F5344CB8AC3E}">
        <p14:creationId xmlns:p14="http://schemas.microsoft.com/office/powerpoint/2010/main" val="297712135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938" y="73025"/>
            <a:ext cx="2466975" cy="1851025"/>
          </a:xfrm>
        </p:spPr>
      </p:sp>
      <p:sp>
        <p:nvSpPr>
          <p:cNvPr id="3" name="Notes Placeholder 2"/>
          <p:cNvSpPr>
            <a:spLocks noGrp="1"/>
          </p:cNvSpPr>
          <p:nvPr>
            <p:ph type="body" idx="1"/>
          </p:nvPr>
        </p:nvSpPr>
        <p:spPr>
          <a:xfrm>
            <a:off x="310896" y="2093976"/>
            <a:ext cx="6153912" cy="6604000"/>
          </a:xfrm>
        </p:spPr>
        <p:txBody>
          <a:bodyPr>
            <a:noAutofit/>
          </a:bodyPr>
          <a:lstStyle/>
          <a:p>
            <a:pPr>
              <a:lnSpc>
                <a:spcPct val="107000"/>
              </a:lnSpc>
              <a:spcAft>
                <a:spcPts val="800"/>
              </a:spcAft>
            </a:pPr>
            <a:r>
              <a:rPr lang="en-GB" sz="1000" dirty="0">
                <a:latin typeface="Arial" panose="020B0604020202020204" pitchFamily="34" charset="0"/>
                <a:ea typeface="Calibri" panose="020F0502020204030204" pitchFamily="34" charset="0"/>
                <a:cs typeface="Times New Roman" panose="02020603050405020304" pitchFamily="18" charset="0"/>
              </a:rPr>
              <a:t>Note that no explicit GROUP BY clause is needed. PIVOT determines the grouping based on those columns in the input table (produced by the FROM clause) which are not used for aggregation or as spreading elements.</a:t>
            </a:r>
          </a:p>
          <a:p>
            <a:pPr>
              <a:lnSpc>
                <a:spcPct val="107000"/>
              </a:lnSpc>
              <a:spcAft>
                <a:spcPts val="800"/>
              </a:spcAft>
            </a:pPr>
            <a:r>
              <a:rPr lang="en-GB" sz="1000" dirty="0">
                <a:latin typeface="Arial" panose="020B0604020202020204" pitchFamily="34" charset="0"/>
                <a:ea typeface="Calibri" panose="020F0502020204030204" pitchFamily="34" charset="0"/>
                <a:cs typeface="Times New Roman" panose="02020603050405020304" pitchFamily="18" charset="0"/>
              </a:rPr>
              <a:t>The next slide shows an example of a PIVOT query.</a:t>
            </a:r>
          </a:p>
          <a:p>
            <a:pPr>
              <a:lnSpc>
                <a:spcPct val="107000"/>
              </a:lnSpc>
              <a:spcAft>
                <a:spcPts val="800"/>
              </a:spcAft>
            </a:pPr>
            <a:r>
              <a:rPr lang="en-GB" sz="1000" dirty="0">
                <a:latin typeface="Arial" panose="020B0604020202020204" pitchFamily="34" charset="0"/>
                <a:ea typeface="Calibri" panose="020F0502020204030204" pitchFamily="34" charset="0"/>
                <a:cs typeface="Times New Roman" panose="02020603050405020304" pitchFamily="18" charset="0"/>
              </a:rPr>
              <a:t>This example uses a view as the source of the subquery. Source code for the view definition is included in the demonstration script for this lesson:</a:t>
            </a:r>
          </a:p>
          <a:p>
            <a:pPr>
              <a:lnSpc>
                <a:spcPct val="107000"/>
              </a:lnSpc>
              <a:spcAft>
                <a:spcPts val="800"/>
              </a:spcAft>
            </a:pPr>
            <a:r>
              <a:rPr lang="en-GB" sz="1000" dirty="0">
                <a:latin typeface="Arial" panose="020B0604020202020204" pitchFamily="34" charset="0"/>
                <a:ea typeface="Calibri" panose="020F0502020204030204" pitchFamily="34" charset="0"/>
                <a:cs typeface="Times New Roman" panose="02020603050405020304" pitchFamily="18" charset="0"/>
              </a:rPr>
              <a:t>CREATE VIEW Sales.CategoryQtyYear</a:t>
            </a:r>
          </a:p>
          <a:p>
            <a:pPr>
              <a:lnSpc>
                <a:spcPct val="107000"/>
              </a:lnSpc>
              <a:spcAft>
                <a:spcPts val="800"/>
              </a:spcAft>
            </a:pPr>
            <a:r>
              <a:rPr lang="en-GB" sz="1000" dirty="0">
                <a:latin typeface="Arial" panose="020B0604020202020204" pitchFamily="34" charset="0"/>
                <a:ea typeface="Calibri" panose="020F0502020204030204" pitchFamily="34" charset="0"/>
                <a:cs typeface="Times New Roman" panose="02020603050405020304" pitchFamily="18" charset="0"/>
              </a:rPr>
              <a:t>AS</a:t>
            </a:r>
          </a:p>
          <a:p>
            <a:pPr>
              <a:lnSpc>
                <a:spcPct val="107000"/>
              </a:lnSpc>
              <a:spcAft>
                <a:spcPts val="800"/>
              </a:spcAft>
            </a:pPr>
            <a:r>
              <a:rPr lang="en-GB" sz="1000" dirty="0">
                <a:latin typeface="Arial" panose="020B0604020202020204" pitchFamily="34" charset="0"/>
                <a:ea typeface="Calibri" panose="020F0502020204030204" pitchFamily="34" charset="0"/>
                <a:cs typeface="Times New Roman" panose="02020603050405020304" pitchFamily="18" charset="0"/>
              </a:rPr>
              <a:t>SELECT  c.categoryname AS Category,</a:t>
            </a:r>
          </a:p>
          <a:p>
            <a:pPr>
              <a:lnSpc>
                <a:spcPct val="107000"/>
              </a:lnSpc>
              <a:spcAft>
                <a:spcPts val="800"/>
              </a:spcAft>
            </a:pPr>
            <a:r>
              <a:rPr lang="en-GB" sz="1000" dirty="0">
                <a:latin typeface="Arial" panose="020B0604020202020204" pitchFamily="34" charset="0"/>
                <a:ea typeface="Calibri" panose="020F0502020204030204" pitchFamily="34" charset="0"/>
                <a:cs typeface="Times New Roman" panose="02020603050405020304" pitchFamily="18" charset="0"/>
              </a:rPr>
              <a:t>        od.qty AS Qty,</a:t>
            </a:r>
          </a:p>
          <a:p>
            <a:pPr>
              <a:lnSpc>
                <a:spcPct val="107000"/>
              </a:lnSpc>
              <a:spcAft>
                <a:spcPts val="800"/>
              </a:spcAft>
            </a:pPr>
            <a:r>
              <a:rPr lang="en-GB" sz="1000" dirty="0">
                <a:latin typeface="Arial" panose="020B0604020202020204" pitchFamily="34" charset="0"/>
                <a:ea typeface="Calibri" panose="020F0502020204030204" pitchFamily="34" charset="0"/>
                <a:cs typeface="Times New Roman" panose="02020603050405020304" pitchFamily="18" charset="0"/>
              </a:rPr>
              <a:t>        YEAR(o.orderdate) AS Orderyear</a:t>
            </a:r>
          </a:p>
          <a:p>
            <a:pPr>
              <a:lnSpc>
                <a:spcPct val="107000"/>
              </a:lnSpc>
              <a:spcAft>
                <a:spcPts val="800"/>
              </a:spcAft>
            </a:pPr>
            <a:r>
              <a:rPr lang="en-GB" sz="1000" dirty="0">
                <a:latin typeface="Arial" panose="020B0604020202020204" pitchFamily="34" charset="0"/>
                <a:ea typeface="Calibri" panose="020F0502020204030204" pitchFamily="34" charset="0"/>
                <a:cs typeface="Times New Roman" panose="02020603050405020304" pitchFamily="18" charset="0"/>
              </a:rPr>
              <a:t>FROM    Production.Categories AS c</a:t>
            </a:r>
          </a:p>
          <a:p>
            <a:pPr>
              <a:lnSpc>
                <a:spcPct val="107000"/>
              </a:lnSpc>
              <a:spcAft>
                <a:spcPts val="800"/>
              </a:spcAft>
            </a:pPr>
            <a:r>
              <a:rPr lang="en-GB" sz="1000" dirty="0">
                <a:latin typeface="Arial" panose="020B0604020202020204" pitchFamily="34" charset="0"/>
                <a:ea typeface="Calibri" panose="020F0502020204030204" pitchFamily="34" charset="0"/>
                <a:cs typeface="Times New Roman" panose="02020603050405020304" pitchFamily="18" charset="0"/>
              </a:rPr>
              <a:t>        INNER JOIN Production.Products AS p ON c.categoryid=p.categoryid</a:t>
            </a:r>
          </a:p>
          <a:p>
            <a:pPr>
              <a:lnSpc>
                <a:spcPct val="107000"/>
              </a:lnSpc>
              <a:spcAft>
                <a:spcPts val="800"/>
              </a:spcAft>
            </a:pPr>
            <a:r>
              <a:rPr lang="en-GB" sz="1000" dirty="0">
                <a:latin typeface="Arial" panose="020B0604020202020204" pitchFamily="34" charset="0"/>
                <a:ea typeface="Calibri" panose="020F0502020204030204" pitchFamily="34" charset="0"/>
                <a:cs typeface="Times New Roman" panose="02020603050405020304" pitchFamily="18" charset="0"/>
              </a:rPr>
              <a:t>        INNER JOIN Sales.OrderDetails AS od ON p.productid=od.productid</a:t>
            </a:r>
          </a:p>
          <a:p>
            <a:pPr>
              <a:lnSpc>
                <a:spcPct val="107000"/>
              </a:lnSpc>
              <a:spcAft>
                <a:spcPts val="800"/>
              </a:spcAft>
            </a:pPr>
            <a:r>
              <a:rPr lang="en-GB" sz="1000" dirty="0">
                <a:latin typeface="Arial" panose="020B0604020202020204" pitchFamily="34" charset="0"/>
                <a:ea typeface="Calibri" panose="020F0502020204030204" pitchFamily="34" charset="0"/>
                <a:cs typeface="Times New Roman" panose="02020603050405020304" pitchFamily="18" charset="0"/>
              </a:rPr>
              <a:t>        INNER JOIN Sales.Orders AS o ON od.orderid=o.orderid;</a:t>
            </a:r>
          </a:p>
          <a:p>
            <a:pPr>
              <a:lnSpc>
                <a:spcPct val="107000"/>
              </a:lnSpc>
              <a:spcAft>
                <a:spcPts val="800"/>
              </a:spcAft>
            </a:pPr>
            <a:r>
              <a:rPr lang="en-GB" sz="1000" dirty="0">
                <a:latin typeface="Arial" panose="020B0604020202020204" pitchFamily="34" charset="0"/>
                <a:ea typeface="Calibri" panose="020F0502020204030204" pitchFamily="34" charset="0"/>
                <a:cs typeface="Times New Roman" panose="02020603050405020304" pitchFamily="18" charset="0"/>
              </a:rPr>
              <a:t>GO </a:t>
            </a:r>
          </a:p>
          <a:p>
            <a:pPr>
              <a:lnSpc>
                <a:spcPct val="107000"/>
              </a:lnSpc>
              <a:spcAft>
                <a:spcPts val="800"/>
              </a:spcAft>
            </a:pPr>
            <a:r>
              <a:rPr lang="en-GB" sz="1000" dirty="0">
                <a:latin typeface="Arial" panose="020B0604020202020204" pitchFamily="34" charset="0"/>
                <a:ea typeface="Calibri" panose="020F0502020204030204" pitchFamily="34" charset="0"/>
                <a:cs typeface="Times New Roman" panose="02020603050405020304" pitchFamily="18" charset="0"/>
              </a:rPr>
              <a:t>In the above example, data is returned from the Sales.CategoryQtyYear view (which has been created for this purpose). The source subquery contains only Category, Qty and Orderyear columns. The PIVOT operator will group on Category, sum Qty and use the Orderyear values 2006, 2007 and 2008 as the new column headings. Finally, the results are ordered by Category. </a:t>
            </a:r>
          </a:p>
          <a:p>
            <a:pPr>
              <a:lnSpc>
                <a:spcPct val="107000"/>
              </a:lnSpc>
              <a:spcAft>
                <a:spcPts val="800"/>
              </a:spcAft>
            </a:pPr>
            <a:r>
              <a:rPr lang="en-GB" sz="1000" dirty="0">
                <a:latin typeface="Arial" panose="020B0604020202020204" pitchFamily="34" charset="0"/>
                <a:ea typeface="Calibri" panose="020F0502020204030204" pitchFamily="34" charset="0"/>
                <a:cs typeface="Times New Roman" panose="02020603050405020304" pitchFamily="18" charset="0"/>
              </a:rPr>
              <a:t>This text belongs in the Inotes section of the build slide, which corresponds to the “Pivoting Example” slide.   The topic “Pivoting Example”, therefore, needs to be removed.</a:t>
            </a:r>
          </a:p>
        </p:txBody>
      </p:sp>
      <p:sp>
        <p:nvSpPr>
          <p:cNvPr id="4" name="Slide Number Placeholder 3"/>
          <p:cNvSpPr>
            <a:spLocks noGrp="1"/>
          </p:cNvSpPr>
          <p:nvPr>
            <p:ph type="sldNum" sz="quarter" idx="10"/>
          </p:nvPr>
        </p:nvSpPr>
        <p:spPr/>
        <p:txBody>
          <a:bodyPr/>
          <a:lstStyle/>
          <a:p>
            <a:fld id="{83CB4B4F-7043-45FC-8A7C-C1A834BC0C20}" type="slidenum">
              <a:rPr lang="en-GB" smtClean="0"/>
              <a:t>5</a:t>
            </a:fld>
            <a:endParaRPr lang="en-GB" dirty="0"/>
          </a:p>
        </p:txBody>
      </p:sp>
      <p:sp>
        <p:nvSpPr>
          <p:cNvPr id="5" name="Rectangle 4"/>
          <p:cNvSpPr/>
          <p:nvPr/>
        </p:nvSpPr>
        <p:spPr>
          <a:xfrm>
            <a:off x="0" y="0"/>
            <a:ext cx="3038475" cy="222250"/>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200" dirty="0" smtClean="0">
                <a:solidFill>
                  <a:srgbClr val="000000"/>
                </a:solidFill>
                <a:latin typeface="Arial" panose="020B0604020202020204" pitchFamily="34" charset="0"/>
              </a:rPr>
              <a:t>20761C</a:t>
            </a:r>
            <a:endParaRPr lang="en-GB" sz="1200" dirty="0">
              <a:solidFill>
                <a:srgbClr val="000000"/>
              </a:solidFill>
              <a:latin typeface="Arial" panose="020B0604020202020204" pitchFamily="34" charset="0"/>
            </a:endParaRPr>
          </a:p>
        </p:txBody>
      </p:sp>
      <p:sp>
        <p:nvSpPr>
          <p:cNvPr id="6" name="Rectangle 5"/>
          <p:cNvSpPr/>
          <p:nvPr/>
        </p:nvSpPr>
        <p:spPr>
          <a:xfrm>
            <a:off x="0" y="238125"/>
            <a:ext cx="3038475" cy="347663"/>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200" dirty="0" smtClean="0">
                <a:solidFill>
                  <a:srgbClr val="336699"/>
                </a:solidFill>
                <a:latin typeface="Arial" panose="020B0604020202020204" pitchFamily="34" charset="0"/>
              </a:rPr>
              <a:t>14: Pivoting and Grouping Sets</a:t>
            </a:r>
            <a:endParaRPr lang="en-GB" sz="1200" dirty="0">
              <a:solidFill>
                <a:srgbClr val="336699"/>
              </a:solidFill>
              <a:latin typeface="Arial" panose="020B0604020202020204" pitchFamily="34" charset="0"/>
            </a:endParaRPr>
          </a:p>
        </p:txBody>
      </p:sp>
    </p:spTree>
    <p:extLst>
      <p:ext uri="{BB962C8B-B14F-4D97-AF65-F5344CB8AC3E}">
        <p14:creationId xmlns:p14="http://schemas.microsoft.com/office/powerpoint/2010/main" val="28392211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938" y="73025"/>
            <a:ext cx="2466975" cy="1851025"/>
          </a:xfrm>
        </p:spPr>
      </p:sp>
      <p:sp>
        <p:nvSpPr>
          <p:cNvPr id="3" name="Notes Placeholder 2"/>
          <p:cNvSpPr>
            <a:spLocks noGrp="1"/>
          </p:cNvSpPr>
          <p:nvPr>
            <p:ph type="body" idx="1"/>
          </p:nvPr>
        </p:nvSpPr>
        <p:spPr>
          <a:xfrm>
            <a:off x="310896" y="2093975"/>
            <a:ext cx="6153912" cy="6604000"/>
          </a:xfrm>
        </p:spPr>
        <p:txBody>
          <a:bodyPr>
            <a:noAutofit/>
          </a:bodyPr>
          <a:lstStyle/>
          <a:p>
            <a:pPr>
              <a:lnSpc>
                <a:spcPct val="107000"/>
              </a:lnSpc>
              <a:spcAft>
                <a:spcPts val="800"/>
              </a:spcAft>
            </a:pPr>
            <a:r>
              <a:rPr lang="en-GB" sz="1000" dirty="0">
                <a:latin typeface="Arial" panose="020B0604020202020204" pitchFamily="34" charset="0"/>
                <a:ea typeface="Calibri" panose="020F0502020204030204" pitchFamily="34" charset="0"/>
                <a:cs typeface="Times New Roman" panose="02020603050405020304" pitchFamily="18" charset="0"/>
              </a:rPr>
              <a:t> </a:t>
            </a:r>
          </a:p>
        </p:txBody>
      </p:sp>
      <p:sp>
        <p:nvSpPr>
          <p:cNvPr id="4" name="Slide Number Placeholder 3"/>
          <p:cNvSpPr>
            <a:spLocks noGrp="1"/>
          </p:cNvSpPr>
          <p:nvPr>
            <p:ph type="sldNum" sz="quarter" idx="10"/>
          </p:nvPr>
        </p:nvSpPr>
        <p:spPr/>
        <p:txBody>
          <a:bodyPr/>
          <a:lstStyle/>
          <a:p>
            <a:fld id="{83CB4B4F-7043-45FC-8A7C-C1A834BC0C20}" type="slidenum">
              <a:rPr lang="en-GB" smtClean="0"/>
              <a:t>6</a:t>
            </a:fld>
            <a:endParaRPr lang="en-GB" dirty="0"/>
          </a:p>
        </p:txBody>
      </p:sp>
      <p:sp>
        <p:nvSpPr>
          <p:cNvPr id="5" name="Rectangle 4"/>
          <p:cNvSpPr/>
          <p:nvPr/>
        </p:nvSpPr>
        <p:spPr>
          <a:xfrm>
            <a:off x="0" y="0"/>
            <a:ext cx="3038475" cy="222250"/>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200" dirty="0" smtClean="0">
                <a:solidFill>
                  <a:srgbClr val="000000"/>
                </a:solidFill>
                <a:latin typeface="Arial" panose="020B0604020202020204" pitchFamily="34" charset="0"/>
              </a:rPr>
              <a:t>20761C</a:t>
            </a:r>
            <a:endParaRPr lang="en-GB" sz="1200" dirty="0">
              <a:solidFill>
                <a:srgbClr val="000000"/>
              </a:solidFill>
              <a:latin typeface="Arial" panose="020B0604020202020204" pitchFamily="34" charset="0"/>
            </a:endParaRPr>
          </a:p>
        </p:txBody>
      </p:sp>
      <p:sp>
        <p:nvSpPr>
          <p:cNvPr id="6" name="Rectangle 5"/>
          <p:cNvSpPr/>
          <p:nvPr/>
        </p:nvSpPr>
        <p:spPr>
          <a:xfrm>
            <a:off x="0" y="238125"/>
            <a:ext cx="3038475" cy="347663"/>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200" dirty="0" smtClean="0">
                <a:solidFill>
                  <a:srgbClr val="336699"/>
                </a:solidFill>
                <a:latin typeface="Arial" panose="020B0604020202020204" pitchFamily="34" charset="0"/>
              </a:rPr>
              <a:t>14: Pivoting and Grouping Sets</a:t>
            </a:r>
            <a:endParaRPr lang="en-GB" sz="1200" dirty="0">
              <a:solidFill>
                <a:srgbClr val="336699"/>
              </a:solidFill>
              <a:latin typeface="Arial" panose="020B0604020202020204" pitchFamily="34" charset="0"/>
            </a:endParaRPr>
          </a:p>
        </p:txBody>
      </p:sp>
    </p:spTree>
    <p:extLst>
      <p:ext uri="{BB962C8B-B14F-4D97-AF65-F5344CB8AC3E}">
        <p14:creationId xmlns:p14="http://schemas.microsoft.com/office/powerpoint/2010/main" val="38904360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938" y="73025"/>
            <a:ext cx="2466975" cy="1851025"/>
          </a:xfrm>
        </p:spPr>
      </p:sp>
      <p:sp>
        <p:nvSpPr>
          <p:cNvPr id="3" name="Notes Placeholder 2"/>
          <p:cNvSpPr>
            <a:spLocks noGrp="1"/>
          </p:cNvSpPr>
          <p:nvPr>
            <p:ph type="body" idx="1"/>
          </p:nvPr>
        </p:nvSpPr>
        <p:spPr>
          <a:xfrm>
            <a:off x="310896" y="2093975"/>
            <a:ext cx="6153912" cy="6604000"/>
          </a:xfrm>
        </p:spPr>
        <p:txBody>
          <a:bodyPr>
            <a:noAutofit/>
          </a:bodyPr>
          <a:lstStyle/>
          <a:p>
            <a:pPr>
              <a:lnSpc>
                <a:spcPct val="107000"/>
              </a:lnSpc>
              <a:spcAft>
                <a:spcPts val="800"/>
              </a:spcAft>
            </a:pPr>
            <a:r>
              <a:rPr lang="en-GB" sz="1000" dirty="0">
                <a:latin typeface="Arial" panose="020B0604020202020204" pitchFamily="34" charset="0"/>
                <a:ea typeface="Calibri" panose="020F0502020204030204" pitchFamily="34" charset="0"/>
                <a:cs typeface="Times New Roman" panose="02020603050405020304" pitchFamily="18" charset="0"/>
              </a:rPr>
              <a:t>Note that no explicit GROUP BY clause is needed. PIVOT determines the grouping based on those columns in the input table (produced by the FROM clause) that are not used for aggregation or as spreading elements.</a:t>
            </a:r>
          </a:p>
          <a:p>
            <a:pPr>
              <a:lnSpc>
                <a:spcPct val="107000"/>
              </a:lnSpc>
              <a:spcAft>
                <a:spcPts val="800"/>
              </a:spcAft>
            </a:pPr>
            <a:r>
              <a:rPr lang="en-GB" sz="1000" dirty="0">
                <a:latin typeface="Arial" panose="020B0604020202020204" pitchFamily="34" charset="0"/>
                <a:ea typeface="Calibri" panose="020F0502020204030204" pitchFamily="34" charset="0"/>
                <a:cs typeface="Times New Roman" panose="02020603050405020304" pitchFamily="18" charset="0"/>
              </a:rPr>
              <a:t>This example uses a view as the source of the subquery. Source code for the view definition is included in the demonstration script for this lesson:</a:t>
            </a:r>
          </a:p>
          <a:p>
            <a:pPr>
              <a:lnSpc>
                <a:spcPct val="107000"/>
              </a:lnSpc>
              <a:spcAft>
                <a:spcPts val="800"/>
              </a:spcAft>
            </a:pPr>
            <a:r>
              <a:rPr lang="en-GB" sz="1000" dirty="0">
                <a:latin typeface="Arial" panose="020B0604020202020204" pitchFamily="34" charset="0"/>
                <a:ea typeface="Calibri" panose="020F0502020204030204" pitchFamily="34" charset="0"/>
                <a:cs typeface="Times New Roman" panose="02020603050405020304" pitchFamily="18" charset="0"/>
              </a:rPr>
              <a:t>CREATE VIEW Sales.CategoryQtyYear</a:t>
            </a:r>
          </a:p>
          <a:p>
            <a:pPr>
              <a:lnSpc>
                <a:spcPct val="107000"/>
              </a:lnSpc>
              <a:spcAft>
                <a:spcPts val="800"/>
              </a:spcAft>
            </a:pPr>
            <a:r>
              <a:rPr lang="en-GB" sz="1000" dirty="0">
                <a:latin typeface="Arial" panose="020B0604020202020204" pitchFamily="34" charset="0"/>
                <a:ea typeface="Calibri" panose="020F0502020204030204" pitchFamily="34" charset="0"/>
                <a:cs typeface="Times New Roman" panose="02020603050405020304" pitchFamily="18" charset="0"/>
              </a:rPr>
              <a:t>AS</a:t>
            </a:r>
          </a:p>
          <a:p>
            <a:pPr>
              <a:lnSpc>
                <a:spcPct val="107000"/>
              </a:lnSpc>
              <a:spcAft>
                <a:spcPts val="800"/>
              </a:spcAft>
            </a:pPr>
            <a:r>
              <a:rPr lang="en-GB" sz="1000" dirty="0">
                <a:latin typeface="Arial" panose="020B0604020202020204" pitchFamily="34" charset="0"/>
                <a:ea typeface="Calibri" panose="020F0502020204030204" pitchFamily="34" charset="0"/>
                <a:cs typeface="Times New Roman" panose="02020603050405020304" pitchFamily="18" charset="0"/>
              </a:rPr>
              <a:t>SELECT  c.categoryname AS Category,</a:t>
            </a:r>
          </a:p>
          <a:p>
            <a:pPr>
              <a:lnSpc>
                <a:spcPct val="107000"/>
              </a:lnSpc>
              <a:spcAft>
                <a:spcPts val="800"/>
              </a:spcAft>
            </a:pPr>
            <a:r>
              <a:rPr lang="en-GB" sz="1000" dirty="0">
                <a:latin typeface="Arial" panose="020B0604020202020204" pitchFamily="34" charset="0"/>
                <a:ea typeface="Calibri" panose="020F0502020204030204" pitchFamily="34" charset="0"/>
                <a:cs typeface="Times New Roman" panose="02020603050405020304" pitchFamily="18" charset="0"/>
              </a:rPr>
              <a:t>        od.qty AS Qty,</a:t>
            </a:r>
          </a:p>
          <a:p>
            <a:pPr>
              <a:lnSpc>
                <a:spcPct val="107000"/>
              </a:lnSpc>
              <a:spcAft>
                <a:spcPts val="800"/>
              </a:spcAft>
            </a:pPr>
            <a:r>
              <a:rPr lang="en-GB" sz="1000" dirty="0">
                <a:latin typeface="Arial" panose="020B0604020202020204" pitchFamily="34" charset="0"/>
                <a:ea typeface="Calibri" panose="020F0502020204030204" pitchFamily="34" charset="0"/>
                <a:cs typeface="Times New Roman" panose="02020603050405020304" pitchFamily="18" charset="0"/>
              </a:rPr>
              <a:t>        YEAR(o.orderdate) AS Orderyear</a:t>
            </a:r>
          </a:p>
          <a:p>
            <a:pPr>
              <a:lnSpc>
                <a:spcPct val="107000"/>
              </a:lnSpc>
              <a:spcAft>
                <a:spcPts val="800"/>
              </a:spcAft>
            </a:pPr>
            <a:r>
              <a:rPr lang="en-GB" sz="1000" dirty="0">
                <a:latin typeface="Arial" panose="020B0604020202020204" pitchFamily="34" charset="0"/>
                <a:ea typeface="Calibri" panose="020F0502020204030204" pitchFamily="34" charset="0"/>
                <a:cs typeface="Times New Roman" panose="02020603050405020304" pitchFamily="18" charset="0"/>
              </a:rPr>
              <a:t>FROM    Production.Categories AS c</a:t>
            </a:r>
          </a:p>
          <a:p>
            <a:pPr>
              <a:lnSpc>
                <a:spcPct val="107000"/>
              </a:lnSpc>
              <a:spcAft>
                <a:spcPts val="800"/>
              </a:spcAft>
            </a:pPr>
            <a:r>
              <a:rPr lang="en-GB" sz="1000" dirty="0">
                <a:latin typeface="Arial" panose="020B0604020202020204" pitchFamily="34" charset="0"/>
                <a:ea typeface="Calibri" panose="020F0502020204030204" pitchFamily="34" charset="0"/>
                <a:cs typeface="Times New Roman" panose="02020603050405020304" pitchFamily="18" charset="0"/>
              </a:rPr>
              <a:t>        INNER JOIN Production.Products AS p ON c.categoryid=p.categoryid</a:t>
            </a:r>
          </a:p>
          <a:p>
            <a:pPr>
              <a:lnSpc>
                <a:spcPct val="107000"/>
              </a:lnSpc>
              <a:spcAft>
                <a:spcPts val="800"/>
              </a:spcAft>
            </a:pPr>
            <a:r>
              <a:rPr lang="en-GB" sz="1000" dirty="0">
                <a:latin typeface="Arial" panose="020B0604020202020204" pitchFamily="34" charset="0"/>
                <a:ea typeface="Calibri" panose="020F0502020204030204" pitchFamily="34" charset="0"/>
                <a:cs typeface="Times New Roman" panose="02020603050405020304" pitchFamily="18" charset="0"/>
              </a:rPr>
              <a:t>        INNER JOIN Sales.OrderDetails AS od ON p.productid=od.productid</a:t>
            </a:r>
          </a:p>
          <a:p>
            <a:pPr>
              <a:lnSpc>
                <a:spcPct val="107000"/>
              </a:lnSpc>
              <a:spcAft>
                <a:spcPts val="800"/>
              </a:spcAft>
            </a:pPr>
            <a:r>
              <a:rPr lang="en-GB" sz="1000" dirty="0">
                <a:latin typeface="Arial" panose="020B0604020202020204" pitchFamily="34" charset="0"/>
                <a:ea typeface="Calibri" panose="020F0502020204030204" pitchFamily="34" charset="0"/>
                <a:cs typeface="Times New Roman" panose="02020603050405020304" pitchFamily="18" charset="0"/>
              </a:rPr>
              <a:t>        INNER JOIN Sales.Orders AS o ON od.orderid=o.orderid;</a:t>
            </a:r>
          </a:p>
          <a:p>
            <a:pPr>
              <a:lnSpc>
                <a:spcPct val="107000"/>
              </a:lnSpc>
              <a:spcAft>
                <a:spcPts val="800"/>
              </a:spcAft>
            </a:pPr>
            <a:r>
              <a:rPr lang="en-GB" sz="1000" dirty="0">
                <a:latin typeface="Arial" panose="020B0604020202020204" pitchFamily="34" charset="0"/>
                <a:ea typeface="Calibri" panose="020F0502020204030204" pitchFamily="34" charset="0"/>
                <a:cs typeface="Times New Roman" panose="02020603050405020304" pitchFamily="18" charset="0"/>
              </a:rPr>
              <a:t>GO </a:t>
            </a:r>
          </a:p>
          <a:p>
            <a:pPr>
              <a:lnSpc>
                <a:spcPct val="107000"/>
              </a:lnSpc>
              <a:spcAft>
                <a:spcPts val="800"/>
              </a:spcAft>
            </a:pPr>
            <a:r>
              <a:rPr lang="en-GB" sz="1000" dirty="0">
                <a:latin typeface="Arial" panose="020B0604020202020204" pitchFamily="34" charset="0"/>
                <a:ea typeface="Calibri" panose="020F0502020204030204" pitchFamily="34" charset="0"/>
                <a:cs typeface="Times New Roman" panose="02020603050405020304" pitchFamily="18" charset="0"/>
              </a:rPr>
              <a:t>In the above example, data is returned from the Sales.CategoryQtyYear view (which has been created for this purpose). The source subquery contains only Category, Qty and Orderyear columns. The PIVOT operator will group on Category, and sum Qty, using the Orderyear values 2006, 2007 and 2008 as the new column headings. Finally, the results are ordered by Category. </a:t>
            </a:r>
          </a:p>
          <a:p>
            <a:pPr>
              <a:lnSpc>
                <a:spcPct val="107000"/>
              </a:lnSpc>
              <a:spcAft>
                <a:spcPts val="800"/>
              </a:spcAft>
            </a:pPr>
            <a:r>
              <a:rPr lang="en-GB" sz="1000" dirty="0">
                <a:latin typeface="Arial" panose="020B0604020202020204" pitchFamily="34" charset="0"/>
                <a:ea typeface="Calibri" panose="020F0502020204030204" pitchFamily="34" charset="0"/>
                <a:cs typeface="Times New Roman" panose="02020603050405020304" pitchFamily="18" charset="0"/>
              </a:rPr>
              <a:t>This text belongs in the Inotes section of the build slide corresponding to the “Pivoting Example” slide.   </a:t>
            </a:r>
          </a:p>
          <a:p>
            <a:pPr>
              <a:lnSpc>
                <a:spcPct val="107000"/>
              </a:lnSpc>
              <a:spcAft>
                <a:spcPts val="800"/>
              </a:spcAft>
            </a:pPr>
            <a:r>
              <a:rPr lang="en-GB" sz="1000" dirty="0">
                <a:latin typeface="Arial" panose="020B0604020202020204" pitchFamily="34" charset="0"/>
                <a:ea typeface="Calibri" panose="020F0502020204030204" pitchFamily="34" charset="0"/>
                <a:cs typeface="Times New Roman" panose="02020603050405020304" pitchFamily="18" charset="0"/>
              </a:rPr>
              <a:t>The topic “Pivoting Example”, therefore, needs to be removed.</a:t>
            </a:r>
          </a:p>
        </p:txBody>
      </p:sp>
      <p:sp>
        <p:nvSpPr>
          <p:cNvPr id="4" name="Slide Number Placeholder 3"/>
          <p:cNvSpPr>
            <a:spLocks noGrp="1"/>
          </p:cNvSpPr>
          <p:nvPr>
            <p:ph type="sldNum" sz="quarter" idx="10"/>
          </p:nvPr>
        </p:nvSpPr>
        <p:spPr/>
        <p:txBody>
          <a:bodyPr/>
          <a:lstStyle/>
          <a:p>
            <a:fld id="{83CB4B4F-7043-45FC-8A7C-C1A834BC0C20}" type="slidenum">
              <a:rPr lang="en-GB" smtClean="0"/>
              <a:t>7</a:t>
            </a:fld>
            <a:endParaRPr lang="en-GB" dirty="0"/>
          </a:p>
        </p:txBody>
      </p:sp>
      <p:sp>
        <p:nvSpPr>
          <p:cNvPr id="5" name="Rectangle 4"/>
          <p:cNvSpPr/>
          <p:nvPr/>
        </p:nvSpPr>
        <p:spPr>
          <a:xfrm>
            <a:off x="0" y="0"/>
            <a:ext cx="3038475" cy="222250"/>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200" dirty="0" smtClean="0">
                <a:solidFill>
                  <a:srgbClr val="000000"/>
                </a:solidFill>
                <a:latin typeface="Arial" panose="020B0604020202020204" pitchFamily="34" charset="0"/>
              </a:rPr>
              <a:t>20761C</a:t>
            </a:r>
            <a:endParaRPr lang="en-GB" sz="1200" dirty="0">
              <a:solidFill>
                <a:srgbClr val="000000"/>
              </a:solidFill>
              <a:latin typeface="Arial" panose="020B0604020202020204" pitchFamily="34" charset="0"/>
            </a:endParaRPr>
          </a:p>
        </p:txBody>
      </p:sp>
      <p:sp>
        <p:nvSpPr>
          <p:cNvPr id="6" name="Rectangle 5"/>
          <p:cNvSpPr/>
          <p:nvPr/>
        </p:nvSpPr>
        <p:spPr>
          <a:xfrm>
            <a:off x="0" y="238125"/>
            <a:ext cx="3038475" cy="347663"/>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200" dirty="0" smtClean="0">
                <a:solidFill>
                  <a:srgbClr val="336699"/>
                </a:solidFill>
                <a:latin typeface="Arial" panose="020B0604020202020204" pitchFamily="34" charset="0"/>
              </a:rPr>
              <a:t>14: Pivoting and Grouping Sets</a:t>
            </a:r>
            <a:endParaRPr lang="en-GB" sz="1200" dirty="0">
              <a:solidFill>
                <a:srgbClr val="336699"/>
              </a:solidFill>
              <a:latin typeface="Arial" panose="020B0604020202020204" pitchFamily="34" charset="0"/>
            </a:endParaRPr>
          </a:p>
        </p:txBody>
      </p:sp>
    </p:spTree>
    <p:extLst>
      <p:ext uri="{BB962C8B-B14F-4D97-AF65-F5344CB8AC3E}">
        <p14:creationId xmlns:p14="http://schemas.microsoft.com/office/powerpoint/2010/main" val="305037875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938" y="73025"/>
            <a:ext cx="2466975" cy="1851025"/>
          </a:xfrm>
        </p:spPr>
      </p:sp>
      <p:sp>
        <p:nvSpPr>
          <p:cNvPr id="3" name="Notes Placeholder 2"/>
          <p:cNvSpPr>
            <a:spLocks noGrp="1"/>
          </p:cNvSpPr>
          <p:nvPr>
            <p:ph type="body" idx="1"/>
          </p:nvPr>
        </p:nvSpPr>
        <p:spPr>
          <a:xfrm>
            <a:off x="310896" y="2093976"/>
            <a:ext cx="6153912" cy="6604000"/>
          </a:xfrm>
        </p:spPr>
        <p:txBody>
          <a:bodyPr>
            <a:noAutofit/>
          </a:bodyPr>
          <a:lstStyle/>
          <a:p>
            <a:pPr>
              <a:lnSpc>
                <a:spcPct val="107000"/>
              </a:lnSpc>
              <a:spcAft>
                <a:spcPts val="800"/>
              </a:spcAft>
            </a:pPr>
            <a:r>
              <a:rPr lang="en-GB" sz="1000" b="1" dirty="0" smtClean="0">
                <a:effectLst/>
                <a:latin typeface="Arial" panose="020B0604020202020204" pitchFamily="34" charset="0"/>
                <a:ea typeface="Calibri" panose="020F0502020204030204" pitchFamily="34" charset="0"/>
                <a:cs typeface="Times New Roman" panose="02020603050405020304" pitchFamily="18" charset="0"/>
              </a:rPr>
              <a:t>Preparation Steps</a:t>
            </a:r>
            <a:endParaRPr lang="en-GB" sz="1000" dirty="0" smtClean="0">
              <a:effectLst/>
              <a:latin typeface="Arial" panose="020B060402020202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GB" sz="1000" dirty="0" smtClean="0">
                <a:effectLst/>
                <a:latin typeface="Arial" panose="020B0604020202020204" pitchFamily="34" charset="0"/>
                <a:ea typeface="Calibri" panose="020F0502020204030204" pitchFamily="34" charset="0"/>
                <a:cs typeface="Times New Roman" panose="02020603050405020304" pitchFamily="18" charset="0"/>
              </a:rPr>
              <a:t>Start the </a:t>
            </a:r>
            <a:r>
              <a:rPr lang="en-GB" sz="1000" b="1" dirty="0" smtClean="0">
                <a:effectLst/>
                <a:latin typeface="Arial" panose="020B0604020202020204" pitchFamily="34" charset="0"/>
                <a:ea typeface="Calibri" panose="020F0502020204030204" pitchFamily="34" charset="0"/>
                <a:cs typeface="Times New Roman" panose="02020603050405020304" pitchFamily="18" charset="0"/>
              </a:rPr>
              <a:t>20761C-MIA-DC</a:t>
            </a:r>
            <a:r>
              <a:rPr lang="en-GB" sz="1000" dirty="0" smtClean="0">
                <a:effectLst/>
                <a:latin typeface="Arial" panose="020B0604020202020204" pitchFamily="34" charset="0"/>
                <a:ea typeface="Calibri" panose="020F0502020204030204" pitchFamily="34" charset="0"/>
                <a:cs typeface="Times New Roman" panose="02020603050405020304" pitchFamily="18" charset="0"/>
              </a:rPr>
              <a:t> and </a:t>
            </a:r>
            <a:r>
              <a:rPr lang="en-GB" sz="1000" b="1" dirty="0" smtClean="0">
                <a:effectLst/>
                <a:latin typeface="Arial" panose="020B0604020202020204" pitchFamily="34" charset="0"/>
                <a:ea typeface="Calibri" panose="020F0502020204030204" pitchFamily="34" charset="0"/>
                <a:cs typeface="Times New Roman" panose="02020603050405020304" pitchFamily="18" charset="0"/>
              </a:rPr>
              <a:t>20761C-MIA-SQL</a:t>
            </a:r>
            <a:r>
              <a:rPr lang="en-GB" sz="1000" dirty="0" smtClean="0">
                <a:effectLst/>
                <a:latin typeface="Arial" panose="020B0604020202020204" pitchFamily="34" charset="0"/>
                <a:ea typeface="Calibri" panose="020F0502020204030204" pitchFamily="34" charset="0"/>
                <a:cs typeface="Times New Roman" panose="02020603050405020304" pitchFamily="18" charset="0"/>
              </a:rPr>
              <a:t> virtual machines.</a:t>
            </a:r>
          </a:p>
          <a:p>
            <a:pPr>
              <a:lnSpc>
                <a:spcPct val="107000"/>
              </a:lnSpc>
              <a:spcAft>
                <a:spcPts val="800"/>
              </a:spcAft>
            </a:pPr>
            <a:r>
              <a:rPr lang="en-GB" sz="1000" b="1" dirty="0" smtClean="0">
                <a:effectLst/>
                <a:latin typeface="Arial" panose="020B0604020202020204" pitchFamily="34" charset="0"/>
                <a:ea typeface="Calibri" panose="020F0502020204030204" pitchFamily="34" charset="0"/>
                <a:cs typeface="Times New Roman" panose="02020603050405020304" pitchFamily="18" charset="0"/>
              </a:rPr>
              <a:t>Demonstration Steps</a:t>
            </a:r>
            <a:endParaRPr lang="en-GB" sz="1000" dirty="0" smtClean="0">
              <a:effectLst/>
              <a:latin typeface="Arial" panose="020B060402020202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GB" sz="1000" dirty="0" smtClean="0">
                <a:effectLst/>
                <a:latin typeface="Arial" panose="020B0604020202020204" pitchFamily="34" charset="0"/>
                <a:ea typeface="Calibri" panose="020F0502020204030204" pitchFamily="34" charset="0"/>
                <a:cs typeface="Times New Roman" panose="02020603050405020304" pitchFamily="18" charset="0"/>
              </a:rPr>
              <a:t>Use PIVOT and UNPIVOT</a:t>
            </a:r>
          </a:p>
          <a:p>
            <a:pPr marL="342900" lvl="0" indent="-342900">
              <a:lnSpc>
                <a:spcPct val="115000"/>
              </a:lnSpc>
              <a:spcAft>
                <a:spcPts val="995"/>
              </a:spcAft>
              <a:buFont typeface="+mj-lt"/>
              <a:buAutoNum type="arabicPeriod"/>
            </a:pPr>
            <a:r>
              <a:rPr lang="en-US" sz="1000" dirty="0">
                <a:latin typeface="Arial" panose="020B0604020202020204" pitchFamily="34" charset="0"/>
                <a:ea typeface="Times New Roman" panose="02020603050405020304" pitchFamily="18" charset="0"/>
                <a:cs typeface="Times New Roman" panose="02020603050405020304" pitchFamily="18" charset="0"/>
              </a:rPr>
              <a:t>Ensure that the </a:t>
            </a:r>
            <a:r>
              <a:rPr lang="en-US" sz="1000" b="1" dirty="0">
                <a:latin typeface="Arial" panose="020B0604020202020204" pitchFamily="34" charset="0"/>
                <a:ea typeface="Times New Roman" panose="02020603050405020304" pitchFamily="18" charset="0"/>
                <a:cs typeface="Times New Roman" panose="02020603050405020304" pitchFamily="18" charset="0"/>
              </a:rPr>
              <a:t>20761C-MIA-DC</a:t>
            </a:r>
            <a:r>
              <a:rPr lang="en-US" sz="1000" dirty="0">
                <a:latin typeface="Arial" panose="020B0604020202020204" pitchFamily="34" charset="0"/>
                <a:ea typeface="Times New Roman" panose="02020603050405020304" pitchFamily="18" charset="0"/>
                <a:cs typeface="Times New Roman" panose="02020603050405020304" pitchFamily="18" charset="0"/>
              </a:rPr>
              <a:t> and </a:t>
            </a:r>
            <a:r>
              <a:rPr lang="en-US" sz="1000" b="1" dirty="0">
                <a:latin typeface="Arial" panose="020B0604020202020204" pitchFamily="34" charset="0"/>
                <a:ea typeface="Times New Roman" panose="02020603050405020304" pitchFamily="18" charset="0"/>
                <a:cs typeface="Times New Roman" panose="02020603050405020304" pitchFamily="18" charset="0"/>
              </a:rPr>
              <a:t>20761C-MIA-SQL</a:t>
            </a:r>
            <a:r>
              <a:rPr lang="en-US" sz="1000" dirty="0">
                <a:latin typeface="Arial" panose="020B0604020202020204" pitchFamily="34" charset="0"/>
                <a:ea typeface="Times New Roman" panose="02020603050405020304" pitchFamily="18" charset="0"/>
                <a:cs typeface="Times New Roman" panose="02020603050405020304" pitchFamily="18" charset="0"/>
              </a:rPr>
              <a:t> virtual machines are both running, and then log on to </a:t>
            </a:r>
            <a:r>
              <a:rPr lang="en-US" sz="1000" b="1" dirty="0">
                <a:latin typeface="Arial" panose="020B0604020202020204" pitchFamily="34" charset="0"/>
                <a:ea typeface="Times New Roman" panose="02020603050405020304" pitchFamily="18" charset="0"/>
                <a:cs typeface="Times New Roman" panose="02020603050405020304" pitchFamily="18" charset="0"/>
              </a:rPr>
              <a:t>20761C-MIA-SQL</a:t>
            </a:r>
            <a:r>
              <a:rPr lang="en-US" sz="1000" dirty="0">
                <a:latin typeface="Arial" panose="020B0604020202020204" pitchFamily="34" charset="0"/>
                <a:ea typeface="Times New Roman" panose="02020603050405020304" pitchFamily="18" charset="0"/>
                <a:cs typeface="Times New Roman" panose="02020603050405020304" pitchFamily="18" charset="0"/>
              </a:rPr>
              <a:t> as </a:t>
            </a:r>
            <a:r>
              <a:rPr lang="en-US" sz="1000" b="1" dirty="0">
                <a:latin typeface="Arial" panose="020B0604020202020204" pitchFamily="34" charset="0"/>
                <a:ea typeface="Times New Roman" panose="02020603050405020304" pitchFamily="18" charset="0"/>
                <a:cs typeface="Times New Roman" panose="02020603050405020304" pitchFamily="18" charset="0"/>
              </a:rPr>
              <a:t>ADVENTUREWORKS\Student</a:t>
            </a:r>
            <a:r>
              <a:rPr lang="en-US" sz="1000" dirty="0">
                <a:latin typeface="Arial" panose="020B0604020202020204" pitchFamily="34" charset="0"/>
                <a:ea typeface="Times New Roman" panose="02020603050405020304" pitchFamily="18" charset="0"/>
                <a:cs typeface="Times New Roman" panose="02020603050405020304" pitchFamily="18" charset="0"/>
              </a:rPr>
              <a:t> with the password </a:t>
            </a:r>
            <a:r>
              <a:rPr lang="en-US" sz="1000" b="1" dirty="0">
                <a:latin typeface="Arial" panose="020B0604020202020204" pitchFamily="34" charset="0"/>
                <a:ea typeface="Times New Roman" panose="02020603050405020304" pitchFamily="18" charset="0"/>
                <a:cs typeface="Times New Roman" panose="02020603050405020304" pitchFamily="18" charset="0"/>
              </a:rPr>
              <a:t>Pa55w.rd</a:t>
            </a:r>
            <a:r>
              <a:rPr lang="en-US" sz="1000" dirty="0">
                <a:latin typeface="Arial" panose="020B0604020202020204" pitchFamily="34" charset="0"/>
                <a:ea typeface="Times New Roman" panose="02020603050405020304" pitchFamily="18" charset="0"/>
                <a:cs typeface="Times New Roman" panose="02020603050405020304" pitchFamily="18" charset="0"/>
              </a:rPr>
              <a:t>.</a:t>
            </a:r>
            <a:endParaRPr lang="en-GB" sz="1000" dirty="0">
              <a:latin typeface="Arial" panose="020B0604020202020204" pitchFamily="34" charset="0"/>
              <a:ea typeface="Times New Roman" panose="02020603050405020304" pitchFamily="18" charset="0"/>
              <a:cs typeface="Times New Roman" panose="02020603050405020304" pitchFamily="18" charset="0"/>
            </a:endParaRPr>
          </a:p>
          <a:p>
            <a:pPr marL="342900" lvl="0" indent="-342900">
              <a:lnSpc>
                <a:spcPct val="115000"/>
              </a:lnSpc>
              <a:spcAft>
                <a:spcPts val="995"/>
              </a:spcAft>
              <a:buFont typeface="+mj-lt"/>
              <a:buAutoNum type="arabicPeriod"/>
            </a:pPr>
            <a:r>
              <a:rPr lang="en-US" sz="1000" dirty="0">
                <a:latin typeface="Arial" panose="020B0604020202020204" pitchFamily="34" charset="0"/>
                <a:ea typeface="Times New Roman" panose="02020603050405020304" pitchFamily="18" charset="0"/>
                <a:cs typeface="Times New Roman" panose="02020603050405020304" pitchFamily="18" charset="0"/>
              </a:rPr>
              <a:t>Run </a:t>
            </a:r>
            <a:r>
              <a:rPr lang="en-US" sz="1000" b="1" dirty="0">
                <a:latin typeface="Arial" panose="020B0604020202020204" pitchFamily="34" charset="0"/>
                <a:ea typeface="Times New Roman" panose="02020603050405020304" pitchFamily="18" charset="0"/>
                <a:cs typeface="Times New Roman" panose="02020603050405020304" pitchFamily="18" charset="0"/>
              </a:rPr>
              <a:t>D:\Demofiles\Mod14\Setup.cmd</a:t>
            </a:r>
            <a:r>
              <a:rPr lang="en-US" sz="1000" dirty="0">
                <a:latin typeface="Arial" panose="020B0604020202020204" pitchFamily="34" charset="0"/>
                <a:ea typeface="Times New Roman" panose="02020603050405020304" pitchFamily="18" charset="0"/>
                <a:cs typeface="Times New Roman" panose="02020603050405020304" pitchFamily="18" charset="0"/>
              </a:rPr>
              <a:t> as an administrator.</a:t>
            </a:r>
            <a:endParaRPr lang="en-GB" sz="1000" dirty="0">
              <a:latin typeface="Arial" panose="020B0604020202020204" pitchFamily="34" charset="0"/>
              <a:ea typeface="Times New Roman" panose="02020603050405020304" pitchFamily="18" charset="0"/>
              <a:cs typeface="Times New Roman" panose="02020603050405020304" pitchFamily="18" charset="0"/>
            </a:endParaRPr>
          </a:p>
          <a:p>
            <a:pPr marL="342900" lvl="0" indent="-342900">
              <a:lnSpc>
                <a:spcPct val="115000"/>
              </a:lnSpc>
              <a:spcAft>
                <a:spcPts val="995"/>
              </a:spcAft>
              <a:buFont typeface="+mj-lt"/>
              <a:buAutoNum type="arabicPeriod"/>
            </a:pPr>
            <a:r>
              <a:rPr lang="en-US" sz="1000" dirty="0">
                <a:latin typeface="Arial" panose="020B0604020202020204" pitchFamily="34" charset="0"/>
                <a:ea typeface="Times New Roman" panose="02020603050405020304" pitchFamily="18" charset="0"/>
                <a:cs typeface="Times New Roman" panose="02020603050405020304" pitchFamily="18" charset="0"/>
              </a:rPr>
              <a:t>At the command prompt, type </a:t>
            </a:r>
            <a:r>
              <a:rPr lang="en-US" sz="1000" b="1" dirty="0">
                <a:latin typeface="Arial" panose="020B0604020202020204" pitchFamily="34" charset="0"/>
                <a:ea typeface="Times New Roman" panose="02020603050405020304" pitchFamily="18" charset="0"/>
                <a:cs typeface="Times New Roman" panose="02020603050405020304" pitchFamily="18" charset="0"/>
              </a:rPr>
              <a:t>y</a:t>
            </a:r>
            <a:r>
              <a:rPr lang="en-US" sz="1000" dirty="0">
                <a:latin typeface="Arial" panose="020B0604020202020204" pitchFamily="34" charset="0"/>
                <a:ea typeface="Times New Roman" panose="02020603050405020304" pitchFamily="18" charset="0"/>
                <a:cs typeface="Times New Roman" panose="02020603050405020304" pitchFamily="18" charset="0"/>
              </a:rPr>
              <a:t>, and then press Enter.</a:t>
            </a:r>
            <a:endParaRPr lang="en-GB" sz="1000" dirty="0">
              <a:latin typeface="Arial" panose="020B0604020202020204" pitchFamily="34" charset="0"/>
              <a:ea typeface="Times New Roman" panose="02020603050405020304" pitchFamily="18" charset="0"/>
              <a:cs typeface="Times New Roman" panose="02020603050405020304" pitchFamily="18" charset="0"/>
            </a:endParaRPr>
          </a:p>
          <a:p>
            <a:pPr marL="342900" lvl="0" indent="-342900">
              <a:lnSpc>
                <a:spcPct val="115000"/>
              </a:lnSpc>
              <a:spcAft>
                <a:spcPts val="995"/>
              </a:spcAft>
              <a:buFont typeface="+mj-lt"/>
              <a:buAutoNum type="arabicPeriod"/>
            </a:pPr>
            <a:r>
              <a:rPr lang="en-US" sz="1000" dirty="0">
                <a:latin typeface="Arial" panose="020B0604020202020204" pitchFamily="34" charset="0"/>
                <a:ea typeface="Times New Roman" panose="02020603050405020304" pitchFamily="18" charset="0"/>
                <a:cs typeface="Times New Roman" panose="02020603050405020304" pitchFamily="18" charset="0"/>
              </a:rPr>
              <a:t>When the script completes, close the command prompt window.</a:t>
            </a:r>
            <a:endParaRPr lang="en-GB" sz="1000" dirty="0">
              <a:latin typeface="Arial" panose="020B0604020202020204" pitchFamily="34" charset="0"/>
              <a:ea typeface="Times New Roman" panose="02020603050405020304" pitchFamily="18" charset="0"/>
              <a:cs typeface="Times New Roman" panose="02020603050405020304" pitchFamily="18" charset="0"/>
            </a:endParaRPr>
          </a:p>
          <a:p>
            <a:pPr marL="342900" lvl="0" indent="-342900">
              <a:lnSpc>
                <a:spcPct val="115000"/>
              </a:lnSpc>
              <a:spcAft>
                <a:spcPts val="995"/>
              </a:spcAft>
              <a:buFont typeface="+mj-lt"/>
              <a:buAutoNum type="arabicPeriod"/>
            </a:pPr>
            <a:r>
              <a:rPr lang="en-US" sz="1000" dirty="0">
                <a:latin typeface="Arial" panose="020B0604020202020204" pitchFamily="34" charset="0"/>
                <a:ea typeface="Times New Roman" panose="02020603050405020304" pitchFamily="18" charset="0"/>
                <a:cs typeface="Times New Roman" panose="02020603050405020304" pitchFamily="18" charset="0"/>
              </a:rPr>
              <a:t>Start SQL Server Management Studio and connect to the </a:t>
            </a:r>
            <a:r>
              <a:rPr lang="en-US" sz="1000" b="1" dirty="0">
                <a:latin typeface="Arial" panose="020B0604020202020204" pitchFamily="34" charset="0"/>
                <a:ea typeface="Times New Roman" panose="02020603050405020304" pitchFamily="18" charset="0"/>
                <a:cs typeface="Times New Roman" panose="02020603050405020304" pitchFamily="18" charset="0"/>
              </a:rPr>
              <a:t>MIA-SQL </a:t>
            </a:r>
            <a:r>
              <a:rPr lang="en-US" sz="1000" dirty="0">
                <a:latin typeface="Arial" panose="020B0604020202020204" pitchFamily="34" charset="0"/>
                <a:ea typeface="Times New Roman" panose="02020603050405020304" pitchFamily="18" charset="0"/>
                <a:cs typeface="Times New Roman" panose="02020603050405020304" pitchFamily="18" charset="0"/>
              </a:rPr>
              <a:t>database engine instance using Windows authentication.</a:t>
            </a:r>
            <a:endParaRPr lang="en-GB" sz="1000" dirty="0">
              <a:latin typeface="Arial" panose="020B0604020202020204" pitchFamily="34" charset="0"/>
              <a:ea typeface="Times New Roman" panose="02020603050405020304" pitchFamily="18" charset="0"/>
              <a:cs typeface="Times New Roman" panose="02020603050405020304" pitchFamily="18" charset="0"/>
            </a:endParaRPr>
          </a:p>
          <a:p>
            <a:pPr marL="342900" lvl="0" indent="-342900">
              <a:lnSpc>
                <a:spcPct val="115000"/>
              </a:lnSpc>
              <a:spcAft>
                <a:spcPts val="995"/>
              </a:spcAft>
              <a:buFont typeface="+mj-lt"/>
              <a:buAutoNum type="arabicPeriod"/>
            </a:pPr>
            <a:r>
              <a:rPr lang="en-US" sz="1000" dirty="0">
                <a:latin typeface="Arial" panose="020B0604020202020204" pitchFamily="34" charset="0"/>
                <a:ea typeface="Times New Roman" panose="02020603050405020304" pitchFamily="18" charset="0"/>
                <a:cs typeface="Times New Roman" panose="02020603050405020304" pitchFamily="18" charset="0"/>
              </a:rPr>
              <a:t>Open the </a:t>
            </a:r>
            <a:r>
              <a:rPr lang="en-US" sz="1000" b="1" dirty="0">
                <a:latin typeface="Arial" panose="020B0604020202020204" pitchFamily="34" charset="0"/>
                <a:ea typeface="Times New Roman" panose="02020603050405020304" pitchFamily="18" charset="0"/>
                <a:cs typeface="Times New Roman" panose="02020603050405020304" pitchFamily="18" charset="0"/>
              </a:rPr>
              <a:t>Demo.ssmssln</a:t>
            </a:r>
            <a:r>
              <a:rPr lang="en-US" sz="1000" dirty="0">
                <a:latin typeface="Arial" panose="020B0604020202020204" pitchFamily="34" charset="0"/>
                <a:ea typeface="Times New Roman" panose="02020603050405020304" pitchFamily="18" charset="0"/>
                <a:cs typeface="Times New Roman" panose="02020603050405020304" pitchFamily="18" charset="0"/>
              </a:rPr>
              <a:t> solution in the </a:t>
            </a:r>
            <a:r>
              <a:rPr lang="en-US" sz="1000" b="1" dirty="0">
                <a:latin typeface="Arial" panose="020B0604020202020204" pitchFamily="34" charset="0"/>
                <a:ea typeface="Times New Roman" panose="02020603050405020304" pitchFamily="18" charset="0"/>
                <a:cs typeface="Times New Roman" panose="02020603050405020304" pitchFamily="18" charset="0"/>
              </a:rPr>
              <a:t>D:\Demofiles\Mod14\Demo</a:t>
            </a:r>
            <a:r>
              <a:rPr lang="en-US" sz="1000" dirty="0">
                <a:latin typeface="Arial" panose="020B0604020202020204" pitchFamily="34" charset="0"/>
                <a:ea typeface="Times New Roman" panose="02020603050405020304" pitchFamily="18" charset="0"/>
                <a:cs typeface="Times New Roman" panose="02020603050405020304" pitchFamily="18" charset="0"/>
              </a:rPr>
              <a:t> folder.</a:t>
            </a:r>
            <a:endParaRPr lang="en-GB" sz="1000" dirty="0">
              <a:latin typeface="Arial" panose="020B0604020202020204" pitchFamily="34" charset="0"/>
              <a:ea typeface="Times New Roman" panose="02020603050405020304" pitchFamily="18" charset="0"/>
              <a:cs typeface="Times New Roman" panose="02020603050405020304" pitchFamily="18" charset="0"/>
            </a:endParaRPr>
          </a:p>
          <a:p>
            <a:pPr marL="342900" lvl="0" indent="-342900">
              <a:lnSpc>
                <a:spcPct val="115000"/>
              </a:lnSpc>
              <a:spcAft>
                <a:spcPts val="995"/>
              </a:spcAft>
              <a:buFont typeface="+mj-lt"/>
              <a:buAutoNum type="arabicPeriod"/>
            </a:pPr>
            <a:r>
              <a:rPr lang="en-US" sz="1000" dirty="0">
                <a:latin typeface="Arial" panose="020B0604020202020204" pitchFamily="34" charset="0"/>
                <a:ea typeface="Times New Roman" panose="02020603050405020304" pitchFamily="18" charset="0"/>
                <a:cs typeface="Times New Roman" panose="02020603050405020304" pitchFamily="18" charset="0"/>
              </a:rPr>
              <a:t>In Solution Explorer, open the </a:t>
            </a:r>
            <a:r>
              <a:rPr lang="en-US" sz="1000" b="1" dirty="0">
                <a:latin typeface="Arial" panose="020B0604020202020204" pitchFamily="34" charset="0"/>
                <a:ea typeface="Times New Roman" panose="02020603050405020304" pitchFamily="18" charset="0"/>
                <a:cs typeface="Times New Roman" panose="02020603050405020304" pitchFamily="18" charset="0"/>
              </a:rPr>
              <a:t>11 - Demonstration A.sql </a:t>
            </a:r>
            <a:r>
              <a:rPr lang="en-US" sz="1000" dirty="0">
                <a:latin typeface="Arial" panose="020B0604020202020204" pitchFamily="34" charset="0"/>
                <a:ea typeface="Times New Roman" panose="02020603050405020304" pitchFamily="18" charset="0"/>
                <a:cs typeface="Times New Roman" panose="02020603050405020304" pitchFamily="18" charset="0"/>
              </a:rPr>
              <a:t>script file.</a:t>
            </a:r>
            <a:endParaRPr lang="en-GB" sz="1000" dirty="0">
              <a:latin typeface="Arial" panose="020B0604020202020204" pitchFamily="34" charset="0"/>
              <a:ea typeface="Times New Roman" panose="02020603050405020304" pitchFamily="18" charset="0"/>
              <a:cs typeface="Times New Roman" panose="02020603050405020304" pitchFamily="18" charset="0"/>
            </a:endParaRPr>
          </a:p>
          <a:p>
            <a:pPr marL="342900" lvl="0" indent="-342900">
              <a:lnSpc>
                <a:spcPct val="115000"/>
              </a:lnSpc>
              <a:spcAft>
                <a:spcPts val="995"/>
              </a:spcAft>
              <a:buFont typeface="+mj-lt"/>
              <a:buAutoNum type="arabicPeriod"/>
            </a:pPr>
            <a:r>
              <a:rPr lang="en-US" sz="1000" dirty="0">
                <a:latin typeface="Arial" panose="020B0604020202020204" pitchFamily="34" charset="0"/>
                <a:ea typeface="Times New Roman" panose="02020603050405020304" pitchFamily="18" charset="0"/>
                <a:cs typeface="Times New Roman" panose="02020603050405020304" pitchFamily="18" charset="0"/>
              </a:rPr>
              <a:t>Select the code under the comment </a:t>
            </a:r>
            <a:r>
              <a:rPr lang="en-US" sz="1000" b="1" dirty="0">
                <a:latin typeface="Arial" panose="020B0604020202020204" pitchFamily="34" charset="0"/>
                <a:ea typeface="Times New Roman" panose="02020603050405020304" pitchFamily="18" charset="0"/>
                <a:cs typeface="Times New Roman" panose="02020603050405020304" pitchFamily="18" charset="0"/>
              </a:rPr>
              <a:t>Step 1</a:t>
            </a:r>
            <a:r>
              <a:rPr lang="en-US" sz="1000" dirty="0">
                <a:latin typeface="Arial" panose="020B0604020202020204" pitchFamily="34" charset="0"/>
                <a:ea typeface="Times New Roman" panose="02020603050405020304" pitchFamily="18" charset="0"/>
                <a:cs typeface="Times New Roman" panose="02020603050405020304" pitchFamily="18" charset="0"/>
              </a:rPr>
              <a:t>, and then click </a:t>
            </a:r>
            <a:r>
              <a:rPr lang="en-US" sz="1000" b="1" dirty="0">
                <a:latin typeface="Arial" panose="020B0604020202020204" pitchFamily="34" charset="0"/>
                <a:ea typeface="Times New Roman" panose="02020603050405020304" pitchFamily="18" charset="0"/>
                <a:cs typeface="Times New Roman" panose="02020603050405020304" pitchFamily="18" charset="0"/>
              </a:rPr>
              <a:t>Execute</a:t>
            </a:r>
            <a:r>
              <a:rPr lang="en-US" sz="1000" dirty="0">
                <a:latin typeface="Arial" panose="020B0604020202020204" pitchFamily="34" charset="0"/>
                <a:ea typeface="Times New Roman" panose="02020603050405020304" pitchFamily="18" charset="0"/>
                <a:cs typeface="Times New Roman" panose="02020603050405020304" pitchFamily="18" charset="0"/>
              </a:rPr>
              <a:t>.</a:t>
            </a:r>
            <a:endParaRPr lang="en-GB" sz="1000" dirty="0">
              <a:latin typeface="Arial" panose="020B0604020202020204" pitchFamily="34" charset="0"/>
              <a:ea typeface="Times New Roman" panose="02020603050405020304" pitchFamily="18" charset="0"/>
              <a:cs typeface="Times New Roman" panose="02020603050405020304" pitchFamily="18" charset="0"/>
            </a:endParaRPr>
          </a:p>
          <a:p>
            <a:pPr marL="342900" lvl="0" indent="-342900">
              <a:lnSpc>
                <a:spcPct val="115000"/>
              </a:lnSpc>
              <a:spcAft>
                <a:spcPts val="995"/>
              </a:spcAft>
              <a:buFont typeface="+mj-lt"/>
              <a:buAutoNum type="arabicPeriod"/>
            </a:pPr>
            <a:r>
              <a:rPr lang="en-US" sz="1000" dirty="0">
                <a:latin typeface="Arial" panose="020B0604020202020204" pitchFamily="34" charset="0"/>
                <a:ea typeface="Times New Roman" panose="02020603050405020304" pitchFamily="18" charset="0"/>
                <a:cs typeface="Times New Roman" panose="02020603050405020304" pitchFamily="18" charset="0"/>
              </a:rPr>
              <a:t>Select the code under the comment </a:t>
            </a:r>
            <a:r>
              <a:rPr lang="en-US" sz="1000" b="1" dirty="0">
                <a:latin typeface="Arial" panose="020B0604020202020204" pitchFamily="34" charset="0"/>
                <a:ea typeface="Times New Roman" panose="02020603050405020304" pitchFamily="18" charset="0"/>
                <a:cs typeface="Times New Roman" panose="02020603050405020304" pitchFamily="18" charset="0"/>
              </a:rPr>
              <a:t>Step 2</a:t>
            </a:r>
            <a:r>
              <a:rPr lang="en-US" sz="1000" dirty="0">
                <a:latin typeface="Arial" panose="020B0604020202020204" pitchFamily="34" charset="0"/>
                <a:ea typeface="Times New Roman" panose="02020603050405020304" pitchFamily="18" charset="0"/>
                <a:cs typeface="Times New Roman" panose="02020603050405020304" pitchFamily="18" charset="0"/>
              </a:rPr>
              <a:t>, and then click </a:t>
            </a:r>
            <a:r>
              <a:rPr lang="en-US" sz="1000" b="1" dirty="0">
                <a:latin typeface="Arial" panose="020B0604020202020204" pitchFamily="34" charset="0"/>
                <a:ea typeface="Times New Roman" panose="02020603050405020304" pitchFamily="18" charset="0"/>
                <a:cs typeface="Times New Roman" panose="02020603050405020304" pitchFamily="18" charset="0"/>
              </a:rPr>
              <a:t>Execute</a:t>
            </a:r>
            <a:r>
              <a:rPr lang="en-US" sz="1000" dirty="0">
                <a:latin typeface="Arial" panose="020B0604020202020204" pitchFamily="34" charset="0"/>
                <a:ea typeface="Times New Roman" panose="02020603050405020304" pitchFamily="18" charset="0"/>
                <a:cs typeface="Times New Roman" panose="02020603050405020304" pitchFamily="18" charset="0"/>
              </a:rPr>
              <a:t>.</a:t>
            </a:r>
            <a:endParaRPr lang="en-GB" sz="1000" dirty="0">
              <a:latin typeface="Arial" panose="020B0604020202020204" pitchFamily="34" charset="0"/>
              <a:ea typeface="Times New Roman" panose="02020603050405020304" pitchFamily="18" charset="0"/>
              <a:cs typeface="Times New Roman" panose="02020603050405020304" pitchFamily="18" charset="0"/>
            </a:endParaRPr>
          </a:p>
          <a:p>
            <a:pPr marL="342900" lvl="0" indent="-342900">
              <a:lnSpc>
                <a:spcPct val="115000"/>
              </a:lnSpc>
              <a:spcAft>
                <a:spcPts val="995"/>
              </a:spcAft>
              <a:buFont typeface="+mj-lt"/>
              <a:buAutoNum type="arabicPeriod"/>
            </a:pPr>
            <a:r>
              <a:rPr lang="en-US" sz="1000" dirty="0">
                <a:latin typeface="Arial" panose="020B0604020202020204" pitchFamily="34" charset="0"/>
                <a:ea typeface="Times New Roman" panose="02020603050405020304" pitchFamily="18" charset="0"/>
                <a:cs typeface="Times New Roman" panose="02020603050405020304" pitchFamily="18" charset="0"/>
              </a:rPr>
              <a:t>Select the code under the comment </a:t>
            </a:r>
            <a:r>
              <a:rPr lang="en-US" sz="1000" b="1" dirty="0">
                <a:latin typeface="Arial" panose="020B0604020202020204" pitchFamily="34" charset="0"/>
                <a:ea typeface="Times New Roman" panose="02020603050405020304" pitchFamily="18" charset="0"/>
                <a:cs typeface="Times New Roman" panose="02020603050405020304" pitchFamily="18" charset="0"/>
              </a:rPr>
              <a:t>Step 3</a:t>
            </a:r>
            <a:r>
              <a:rPr lang="en-US" sz="1000" dirty="0">
                <a:latin typeface="Arial" panose="020B0604020202020204" pitchFamily="34" charset="0"/>
                <a:ea typeface="Times New Roman" panose="02020603050405020304" pitchFamily="18" charset="0"/>
                <a:cs typeface="Times New Roman" panose="02020603050405020304" pitchFamily="18" charset="0"/>
              </a:rPr>
              <a:t>, and then click </a:t>
            </a:r>
            <a:r>
              <a:rPr lang="en-US" sz="1000" b="1" dirty="0">
                <a:latin typeface="Arial" panose="020B0604020202020204" pitchFamily="34" charset="0"/>
                <a:ea typeface="Times New Roman" panose="02020603050405020304" pitchFamily="18" charset="0"/>
                <a:cs typeface="Times New Roman" panose="02020603050405020304" pitchFamily="18" charset="0"/>
              </a:rPr>
              <a:t>Execute</a:t>
            </a:r>
            <a:r>
              <a:rPr lang="en-US" sz="1000" dirty="0">
                <a:latin typeface="Arial" panose="020B0604020202020204" pitchFamily="34" charset="0"/>
                <a:ea typeface="Times New Roman" panose="02020603050405020304" pitchFamily="18" charset="0"/>
                <a:cs typeface="Times New Roman" panose="02020603050405020304" pitchFamily="18" charset="0"/>
              </a:rPr>
              <a:t>.</a:t>
            </a:r>
            <a:endParaRPr lang="en-GB" sz="1000" dirty="0">
              <a:latin typeface="Arial" panose="020B0604020202020204" pitchFamily="34" charset="0"/>
              <a:ea typeface="Times New Roman" panose="02020603050405020304" pitchFamily="18" charset="0"/>
              <a:cs typeface="Times New Roman" panose="02020603050405020304" pitchFamily="18" charset="0"/>
            </a:endParaRPr>
          </a:p>
          <a:p>
            <a:pPr marL="342900" lvl="0" indent="-342900">
              <a:lnSpc>
                <a:spcPct val="115000"/>
              </a:lnSpc>
              <a:spcAft>
                <a:spcPts val="995"/>
              </a:spcAft>
              <a:buFont typeface="+mj-lt"/>
              <a:buAutoNum type="arabicPeriod"/>
            </a:pPr>
            <a:r>
              <a:rPr lang="en-US" sz="1000" dirty="0">
                <a:latin typeface="Arial" panose="020B0604020202020204" pitchFamily="34" charset="0"/>
                <a:ea typeface="Times New Roman" panose="02020603050405020304" pitchFamily="18" charset="0"/>
                <a:cs typeface="Times New Roman" panose="02020603050405020304" pitchFamily="18" charset="0"/>
              </a:rPr>
              <a:t>Select the code under the comment </a:t>
            </a:r>
            <a:r>
              <a:rPr lang="en-US" sz="1000" b="1" dirty="0">
                <a:latin typeface="Arial" panose="020B0604020202020204" pitchFamily="34" charset="0"/>
                <a:ea typeface="Times New Roman" panose="02020603050405020304" pitchFamily="18" charset="0"/>
                <a:cs typeface="Times New Roman" panose="02020603050405020304" pitchFamily="18" charset="0"/>
              </a:rPr>
              <a:t>Step 4</a:t>
            </a:r>
            <a:r>
              <a:rPr lang="en-US" sz="1000" dirty="0">
                <a:latin typeface="Arial" panose="020B0604020202020204" pitchFamily="34" charset="0"/>
                <a:ea typeface="Times New Roman" panose="02020603050405020304" pitchFamily="18" charset="0"/>
                <a:cs typeface="Times New Roman" panose="02020603050405020304" pitchFamily="18" charset="0"/>
              </a:rPr>
              <a:t>, and then click </a:t>
            </a:r>
            <a:r>
              <a:rPr lang="en-US" sz="1000" b="1" dirty="0">
                <a:latin typeface="Arial" panose="020B0604020202020204" pitchFamily="34" charset="0"/>
                <a:ea typeface="Times New Roman" panose="02020603050405020304" pitchFamily="18" charset="0"/>
                <a:cs typeface="Times New Roman" panose="02020603050405020304" pitchFamily="18" charset="0"/>
              </a:rPr>
              <a:t>Execute</a:t>
            </a:r>
            <a:r>
              <a:rPr lang="en-US" sz="1000" dirty="0">
                <a:latin typeface="Arial" panose="020B0604020202020204" pitchFamily="34" charset="0"/>
                <a:ea typeface="Times New Roman" panose="02020603050405020304" pitchFamily="18" charset="0"/>
                <a:cs typeface="Times New Roman" panose="02020603050405020304" pitchFamily="18" charset="0"/>
              </a:rPr>
              <a:t>.</a:t>
            </a:r>
            <a:endParaRPr lang="en-GB" sz="1000" dirty="0">
              <a:latin typeface="Arial" panose="020B0604020202020204" pitchFamily="34" charset="0"/>
              <a:ea typeface="Times New Roman" panose="02020603050405020304" pitchFamily="18" charset="0"/>
              <a:cs typeface="Times New Roman" panose="02020603050405020304" pitchFamily="18" charset="0"/>
            </a:endParaRPr>
          </a:p>
          <a:p>
            <a:pPr marL="342900" lvl="0" indent="-342900">
              <a:lnSpc>
                <a:spcPct val="115000"/>
              </a:lnSpc>
              <a:spcAft>
                <a:spcPts val="995"/>
              </a:spcAft>
              <a:buFont typeface="+mj-lt"/>
              <a:buAutoNum type="arabicPeriod"/>
            </a:pPr>
            <a:r>
              <a:rPr lang="en-US" sz="1000" dirty="0">
                <a:latin typeface="Arial" panose="020B0604020202020204" pitchFamily="34" charset="0"/>
                <a:ea typeface="Times New Roman" panose="02020603050405020304" pitchFamily="18" charset="0"/>
                <a:cs typeface="Times New Roman" panose="02020603050405020304" pitchFamily="18" charset="0"/>
              </a:rPr>
              <a:t>Select the code under the comment </a:t>
            </a:r>
            <a:r>
              <a:rPr lang="en-US" sz="1000" b="1" dirty="0">
                <a:latin typeface="Arial" panose="020B0604020202020204" pitchFamily="34" charset="0"/>
                <a:ea typeface="Times New Roman" panose="02020603050405020304" pitchFamily="18" charset="0"/>
                <a:cs typeface="Times New Roman" panose="02020603050405020304" pitchFamily="18" charset="0"/>
              </a:rPr>
              <a:t>Step 5</a:t>
            </a:r>
            <a:r>
              <a:rPr lang="en-US" sz="1000" dirty="0">
                <a:latin typeface="Arial" panose="020B0604020202020204" pitchFamily="34" charset="0"/>
                <a:ea typeface="Times New Roman" panose="02020603050405020304" pitchFamily="18" charset="0"/>
                <a:cs typeface="Times New Roman" panose="02020603050405020304" pitchFamily="18" charset="0"/>
              </a:rPr>
              <a:t>, and then click </a:t>
            </a:r>
            <a:r>
              <a:rPr lang="en-US" sz="1000" b="1" dirty="0">
                <a:latin typeface="Arial" panose="020B0604020202020204" pitchFamily="34" charset="0"/>
                <a:ea typeface="Times New Roman" panose="02020603050405020304" pitchFamily="18" charset="0"/>
                <a:cs typeface="Times New Roman" panose="02020603050405020304" pitchFamily="18" charset="0"/>
              </a:rPr>
              <a:t>Execute</a:t>
            </a:r>
            <a:r>
              <a:rPr lang="en-US" sz="1000" dirty="0">
                <a:latin typeface="Arial" panose="020B0604020202020204" pitchFamily="34" charset="0"/>
                <a:ea typeface="Times New Roman" panose="02020603050405020304" pitchFamily="18" charset="0"/>
                <a:cs typeface="Times New Roman" panose="02020603050405020304" pitchFamily="18" charset="0"/>
              </a:rPr>
              <a:t>.</a:t>
            </a:r>
            <a:endParaRPr lang="en-GB" sz="1000" dirty="0">
              <a:latin typeface="Arial" panose="020B0604020202020204" pitchFamily="34" charset="0"/>
              <a:ea typeface="Times New Roman" panose="02020603050405020304" pitchFamily="18" charset="0"/>
              <a:cs typeface="Times New Roman" panose="02020603050405020304" pitchFamily="18" charset="0"/>
            </a:endParaRPr>
          </a:p>
          <a:p>
            <a:pPr marL="342900" lvl="0" indent="-342900">
              <a:lnSpc>
                <a:spcPct val="115000"/>
              </a:lnSpc>
              <a:spcAft>
                <a:spcPts val="995"/>
              </a:spcAft>
              <a:buFont typeface="+mj-lt"/>
              <a:buAutoNum type="arabicPeriod"/>
            </a:pPr>
            <a:r>
              <a:rPr lang="en-US" sz="1000" dirty="0">
                <a:latin typeface="Arial" panose="020B0604020202020204" pitchFamily="34" charset="0"/>
                <a:ea typeface="Times New Roman" panose="02020603050405020304" pitchFamily="18" charset="0"/>
                <a:cs typeface="Times New Roman" panose="02020603050405020304" pitchFamily="18" charset="0"/>
              </a:rPr>
              <a:t>Select the code under the comment </a:t>
            </a:r>
            <a:r>
              <a:rPr lang="en-US" sz="1000" b="1" dirty="0">
                <a:latin typeface="Arial" panose="020B0604020202020204" pitchFamily="34" charset="0"/>
                <a:ea typeface="Times New Roman" panose="02020603050405020304" pitchFamily="18" charset="0"/>
                <a:cs typeface="Times New Roman" panose="02020603050405020304" pitchFamily="18" charset="0"/>
              </a:rPr>
              <a:t>Step 6</a:t>
            </a:r>
            <a:r>
              <a:rPr lang="en-US" sz="1000" dirty="0">
                <a:latin typeface="Arial" panose="020B0604020202020204" pitchFamily="34" charset="0"/>
                <a:ea typeface="Times New Roman" panose="02020603050405020304" pitchFamily="18" charset="0"/>
                <a:cs typeface="Times New Roman" panose="02020603050405020304" pitchFamily="18" charset="0"/>
              </a:rPr>
              <a:t>, and then click </a:t>
            </a:r>
            <a:r>
              <a:rPr lang="en-US" sz="1000" b="1" dirty="0">
                <a:latin typeface="Arial" panose="020B0604020202020204" pitchFamily="34" charset="0"/>
                <a:ea typeface="Times New Roman" panose="02020603050405020304" pitchFamily="18" charset="0"/>
                <a:cs typeface="Times New Roman" panose="02020603050405020304" pitchFamily="18" charset="0"/>
              </a:rPr>
              <a:t>Execute</a:t>
            </a:r>
            <a:r>
              <a:rPr lang="en-US" sz="1000" dirty="0">
                <a:latin typeface="Arial" panose="020B0604020202020204" pitchFamily="34" charset="0"/>
                <a:ea typeface="Times New Roman" panose="02020603050405020304" pitchFamily="18" charset="0"/>
                <a:cs typeface="Times New Roman" panose="02020603050405020304" pitchFamily="18" charset="0"/>
              </a:rPr>
              <a:t>.</a:t>
            </a:r>
            <a:endParaRPr lang="en-GB" sz="1000" dirty="0">
              <a:latin typeface="Arial" panose="020B0604020202020204" pitchFamily="34" charset="0"/>
              <a:ea typeface="Times New Roman" panose="02020603050405020304" pitchFamily="18" charset="0"/>
              <a:cs typeface="Times New Roman" panose="02020603050405020304" pitchFamily="18" charset="0"/>
            </a:endParaRPr>
          </a:p>
          <a:p>
            <a:pPr marL="342900" lvl="0" indent="-342900">
              <a:lnSpc>
                <a:spcPct val="115000"/>
              </a:lnSpc>
              <a:spcAft>
                <a:spcPts val="995"/>
              </a:spcAft>
              <a:buFont typeface="+mj-lt"/>
              <a:buAutoNum type="arabicPeriod"/>
            </a:pPr>
            <a:r>
              <a:rPr lang="en-US" sz="1000" dirty="0">
                <a:latin typeface="Arial" panose="020B0604020202020204" pitchFamily="34" charset="0"/>
                <a:ea typeface="Times New Roman" panose="02020603050405020304" pitchFamily="18" charset="0"/>
                <a:cs typeface="Times New Roman" panose="02020603050405020304" pitchFamily="18" charset="0"/>
              </a:rPr>
              <a:t>Select the code under the comment </a:t>
            </a:r>
            <a:r>
              <a:rPr lang="en-US" sz="1000" b="1" dirty="0">
                <a:latin typeface="Arial" panose="020B0604020202020204" pitchFamily="34" charset="0"/>
                <a:ea typeface="Times New Roman" panose="02020603050405020304" pitchFamily="18" charset="0"/>
                <a:cs typeface="Times New Roman" panose="02020603050405020304" pitchFamily="18" charset="0"/>
              </a:rPr>
              <a:t>Step 7</a:t>
            </a:r>
            <a:r>
              <a:rPr lang="en-US" sz="1000" dirty="0">
                <a:latin typeface="Arial" panose="020B0604020202020204" pitchFamily="34" charset="0"/>
                <a:ea typeface="Times New Roman" panose="02020603050405020304" pitchFamily="18" charset="0"/>
                <a:cs typeface="Times New Roman" panose="02020603050405020304" pitchFamily="18" charset="0"/>
              </a:rPr>
              <a:t>, and then click </a:t>
            </a:r>
            <a:r>
              <a:rPr lang="en-US" sz="1000" b="1" dirty="0">
                <a:latin typeface="Arial" panose="020B0604020202020204" pitchFamily="34" charset="0"/>
                <a:ea typeface="Times New Roman" panose="02020603050405020304" pitchFamily="18" charset="0"/>
                <a:cs typeface="Times New Roman" panose="02020603050405020304" pitchFamily="18" charset="0"/>
              </a:rPr>
              <a:t>Execute</a:t>
            </a:r>
            <a:r>
              <a:rPr lang="en-US" sz="1000" dirty="0">
                <a:latin typeface="Arial" panose="020B0604020202020204" pitchFamily="34" charset="0"/>
                <a:ea typeface="Times New Roman" panose="02020603050405020304" pitchFamily="18" charset="0"/>
                <a:cs typeface="Times New Roman" panose="02020603050405020304" pitchFamily="18" charset="0"/>
              </a:rPr>
              <a:t>.</a:t>
            </a:r>
            <a:endParaRPr lang="en-GB" sz="1000" dirty="0">
              <a:latin typeface="Arial" panose="020B0604020202020204" pitchFamily="34" charset="0"/>
              <a:ea typeface="Times New Roman" panose="02020603050405020304" pitchFamily="18" charset="0"/>
              <a:cs typeface="Times New Roman" panose="02020603050405020304" pitchFamily="18" charset="0"/>
            </a:endParaRPr>
          </a:p>
          <a:p>
            <a:pPr marL="342900" lvl="0" indent="-342900">
              <a:lnSpc>
                <a:spcPct val="115000"/>
              </a:lnSpc>
              <a:spcAft>
                <a:spcPts val="995"/>
              </a:spcAft>
              <a:buFont typeface="+mj-lt"/>
              <a:buAutoNum type="arabicPeriod"/>
            </a:pPr>
            <a:r>
              <a:rPr lang="en-US" sz="1000" dirty="0">
                <a:latin typeface="Arial" panose="020B0604020202020204" pitchFamily="34" charset="0"/>
                <a:ea typeface="Times New Roman" panose="02020603050405020304" pitchFamily="18" charset="0"/>
                <a:cs typeface="Times New Roman" panose="02020603050405020304" pitchFamily="18" charset="0"/>
              </a:rPr>
              <a:t>Keep SQL Server Management Studio open for the next demonstration.</a:t>
            </a:r>
            <a:endParaRPr lang="en-GB" sz="1000" dirty="0">
              <a:latin typeface="Arial" panose="020B0604020202020204" pitchFamily="34" charset="0"/>
              <a:ea typeface="Times New Roman" panose="02020603050405020304" pitchFamily="18" charset="0"/>
              <a:cs typeface="Times New Roman" panose="02020603050405020304" pitchFamily="18" charset="0"/>
            </a:endParaRPr>
          </a:p>
          <a:p>
            <a:pPr>
              <a:lnSpc>
                <a:spcPct val="107000"/>
              </a:lnSpc>
              <a:spcAft>
                <a:spcPts val="800"/>
              </a:spcAft>
            </a:pPr>
            <a:endParaRPr lang="en-GB" sz="1000" dirty="0">
              <a:effectLst/>
              <a:latin typeface="Arial" panose="020B0604020202020204" pitchFamily="34" charset="0"/>
              <a:ea typeface="Calibri" panose="020F0502020204030204" pitchFamily="34" charset="0"/>
              <a:cs typeface="Times New Roman" panose="02020603050405020304" pitchFamily="18" charset="0"/>
            </a:endParaRPr>
          </a:p>
        </p:txBody>
      </p:sp>
      <p:sp>
        <p:nvSpPr>
          <p:cNvPr id="4" name="Slide Number Placeholder 3"/>
          <p:cNvSpPr>
            <a:spLocks noGrp="1"/>
          </p:cNvSpPr>
          <p:nvPr>
            <p:ph type="sldNum" sz="quarter" idx="10"/>
          </p:nvPr>
        </p:nvSpPr>
        <p:spPr/>
        <p:txBody>
          <a:bodyPr/>
          <a:lstStyle/>
          <a:p>
            <a:fld id="{83CB4B4F-7043-45FC-8A7C-C1A834BC0C20}" type="slidenum">
              <a:rPr lang="en-GB" smtClean="0"/>
              <a:t>8</a:t>
            </a:fld>
            <a:endParaRPr lang="en-GB" dirty="0"/>
          </a:p>
        </p:txBody>
      </p:sp>
      <p:sp>
        <p:nvSpPr>
          <p:cNvPr id="5" name="Rectangle 4"/>
          <p:cNvSpPr/>
          <p:nvPr/>
        </p:nvSpPr>
        <p:spPr>
          <a:xfrm>
            <a:off x="0" y="0"/>
            <a:ext cx="3038475" cy="222250"/>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200" dirty="0" smtClean="0">
                <a:solidFill>
                  <a:srgbClr val="000000"/>
                </a:solidFill>
                <a:latin typeface="Arial" panose="020B0604020202020204" pitchFamily="34" charset="0"/>
              </a:rPr>
              <a:t>20761C</a:t>
            </a:r>
            <a:endParaRPr lang="en-GB" sz="1200" dirty="0">
              <a:solidFill>
                <a:srgbClr val="000000"/>
              </a:solidFill>
              <a:latin typeface="Arial" panose="020B0604020202020204" pitchFamily="34" charset="0"/>
            </a:endParaRPr>
          </a:p>
        </p:txBody>
      </p:sp>
      <p:sp>
        <p:nvSpPr>
          <p:cNvPr id="6" name="Rectangle 5"/>
          <p:cNvSpPr/>
          <p:nvPr/>
        </p:nvSpPr>
        <p:spPr>
          <a:xfrm>
            <a:off x="0" y="238125"/>
            <a:ext cx="3038475" cy="347663"/>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200" dirty="0" smtClean="0">
                <a:solidFill>
                  <a:srgbClr val="336699"/>
                </a:solidFill>
                <a:latin typeface="Arial" panose="020B0604020202020204" pitchFamily="34" charset="0"/>
              </a:rPr>
              <a:t>14: Pivoting and Grouping Sets</a:t>
            </a:r>
            <a:endParaRPr lang="en-GB" sz="1200" dirty="0">
              <a:solidFill>
                <a:srgbClr val="336699"/>
              </a:solidFill>
              <a:latin typeface="Arial" panose="020B0604020202020204" pitchFamily="34" charset="0"/>
            </a:endParaRPr>
          </a:p>
        </p:txBody>
      </p:sp>
      <p:sp>
        <p:nvSpPr>
          <p:cNvPr id="7" name="TextBox 6"/>
          <p:cNvSpPr txBox="1"/>
          <p:nvPr/>
        </p:nvSpPr>
        <p:spPr>
          <a:xfrm>
            <a:off x="20782" y="8869218"/>
            <a:ext cx="1997663" cy="246221"/>
          </a:xfrm>
          <a:prstGeom prst="rect">
            <a:avLst/>
          </a:prstGeom>
          <a:noFill/>
        </p:spPr>
        <p:txBody>
          <a:bodyPr vert="horz" wrap="none" rtlCol="0">
            <a:spAutoFit/>
          </a:bodyPr>
          <a:lstStyle/>
          <a:p>
            <a:r>
              <a:rPr lang="en-GB" sz="1000" dirty="0" smtClean="0">
                <a:latin typeface="Arial" panose="020B0604020202020204" pitchFamily="34" charset="0"/>
              </a:rPr>
              <a:t>(More notes on the next slide)</a:t>
            </a:r>
            <a:endParaRPr lang="en-GB" sz="1000" dirty="0">
              <a:latin typeface="Arial" panose="020B0604020202020204" pitchFamily="34" charset="0"/>
            </a:endParaRPr>
          </a:p>
        </p:txBody>
      </p:sp>
    </p:spTree>
    <p:extLst>
      <p:ext uri="{BB962C8B-B14F-4D97-AF65-F5344CB8AC3E}">
        <p14:creationId xmlns:p14="http://schemas.microsoft.com/office/powerpoint/2010/main" val="312446290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938" y="73025"/>
            <a:ext cx="2466975" cy="1851025"/>
          </a:xfrm>
        </p:spPr>
      </p:sp>
      <p:sp>
        <p:nvSpPr>
          <p:cNvPr id="3" name="Notes Placeholder 2"/>
          <p:cNvSpPr>
            <a:spLocks noGrp="1"/>
          </p:cNvSpPr>
          <p:nvPr>
            <p:ph type="body" idx="1"/>
          </p:nvPr>
        </p:nvSpPr>
        <p:spPr>
          <a:xfrm>
            <a:off x="310896" y="2093976"/>
            <a:ext cx="6153912" cy="6604000"/>
          </a:xfrm>
        </p:spPr>
        <p:txBody>
          <a:bodyPr>
            <a:noAutofit/>
          </a:bodyPr>
          <a:lstStyle/>
          <a:p>
            <a:pPr>
              <a:lnSpc>
                <a:spcPct val="107000"/>
              </a:lnSpc>
              <a:spcAft>
                <a:spcPts val="800"/>
              </a:spcAft>
            </a:pPr>
            <a:r>
              <a:rPr lang="en-GB" sz="1000" b="1" dirty="0">
                <a:latin typeface="Arial" panose="020B0604020202020204" pitchFamily="34" charset="0"/>
                <a:ea typeface="Calibri" panose="020F0502020204030204" pitchFamily="34" charset="0"/>
                <a:cs typeface="Times New Roman" panose="02020603050405020304" pitchFamily="18" charset="0"/>
              </a:rPr>
              <a:t>Question</a:t>
            </a:r>
            <a:endParaRPr lang="en-GB" sz="1000" dirty="0">
              <a:latin typeface="Arial" panose="020B0604020202020204" pitchFamily="34" charset="0"/>
              <a:ea typeface="Calibri" panose="020F0502020204030204" pitchFamily="34" charset="0"/>
              <a:cs typeface="Times New Roman" panose="02020603050405020304" pitchFamily="18" charset="0"/>
            </a:endParaRPr>
          </a:p>
          <a:p>
            <a:pPr lvl="0">
              <a:lnSpc>
                <a:spcPct val="107000"/>
              </a:lnSpc>
              <a:spcAft>
                <a:spcPts val="800"/>
              </a:spcAft>
            </a:pPr>
            <a:r>
              <a:rPr lang="en-GB" sz="1000" dirty="0" smtClean="0">
                <a:solidFill>
                  <a:prstClr val="black"/>
                </a:solidFill>
                <a:latin typeface="Arial" panose="020B0604020202020204" pitchFamily="34" charset="0"/>
                <a:ea typeface="Calibri" panose="020F0502020204030204" pitchFamily="34" charset="0"/>
                <a:cs typeface="Times New Roman" panose="02020603050405020304" pitchFamily="18" charset="0"/>
              </a:rPr>
              <a:t>You </a:t>
            </a:r>
            <a:r>
              <a:rPr lang="en-GB" sz="1000" dirty="0">
                <a:solidFill>
                  <a:prstClr val="black"/>
                </a:solidFill>
                <a:latin typeface="Arial" panose="020B0604020202020204" pitchFamily="34" charset="0"/>
                <a:ea typeface="Calibri" panose="020F0502020204030204" pitchFamily="34" charset="0"/>
                <a:cs typeface="Times New Roman" panose="02020603050405020304" pitchFamily="18" charset="0"/>
              </a:rPr>
              <a:t>have the following query:</a:t>
            </a:r>
          </a:p>
          <a:p>
            <a:pPr lvl="0">
              <a:lnSpc>
                <a:spcPct val="107000"/>
              </a:lnSpc>
              <a:spcAft>
                <a:spcPts val="800"/>
              </a:spcAft>
            </a:pPr>
            <a:r>
              <a:rPr lang="en-GB" sz="1000" dirty="0">
                <a:solidFill>
                  <a:prstClr val="black"/>
                </a:solidFill>
                <a:latin typeface="Arial" panose="020B0604020202020204" pitchFamily="34" charset="0"/>
                <a:ea typeface="Calibri" panose="020F0502020204030204" pitchFamily="34" charset="0"/>
                <a:cs typeface="Times New Roman" panose="02020603050405020304" pitchFamily="18" charset="0"/>
              </a:rPr>
              <a:t>SELECT category, qty, orderyear</a:t>
            </a:r>
          </a:p>
          <a:p>
            <a:pPr lvl="0">
              <a:lnSpc>
                <a:spcPct val="107000"/>
              </a:lnSpc>
              <a:spcAft>
                <a:spcPts val="800"/>
              </a:spcAft>
            </a:pPr>
            <a:r>
              <a:rPr lang="en-GB" sz="1000" dirty="0">
                <a:solidFill>
                  <a:prstClr val="black"/>
                </a:solidFill>
                <a:latin typeface="Arial" panose="020B0604020202020204" pitchFamily="34" charset="0"/>
                <a:ea typeface="Calibri" panose="020F0502020204030204" pitchFamily="34" charset="0"/>
                <a:cs typeface="Times New Roman" panose="02020603050405020304" pitchFamily="18" charset="0"/>
              </a:rPr>
              <a:t>FROM Sales.PivotedCategorySales</a:t>
            </a:r>
          </a:p>
          <a:p>
            <a:pPr lvl="0">
              <a:lnSpc>
                <a:spcPct val="107000"/>
              </a:lnSpc>
              <a:spcAft>
                <a:spcPts val="800"/>
              </a:spcAft>
            </a:pPr>
            <a:r>
              <a:rPr lang="en-GB" sz="1000" dirty="0">
                <a:solidFill>
                  <a:prstClr val="black"/>
                </a:solidFill>
                <a:latin typeface="Arial" panose="020B0604020202020204" pitchFamily="34" charset="0"/>
                <a:ea typeface="Calibri" panose="020F0502020204030204" pitchFamily="34" charset="0"/>
                <a:cs typeface="Times New Roman" panose="02020603050405020304" pitchFamily="18" charset="0"/>
              </a:rPr>
              <a:t>UNPIVOT(qty FOR orderyear) AS unpvt;</a:t>
            </a:r>
          </a:p>
          <a:p>
            <a:pPr lvl="0">
              <a:lnSpc>
                <a:spcPct val="107000"/>
              </a:lnSpc>
              <a:spcAft>
                <a:spcPts val="800"/>
              </a:spcAft>
            </a:pPr>
            <a:r>
              <a:rPr lang="en-GB" sz="1000" dirty="0">
                <a:solidFill>
                  <a:prstClr val="black"/>
                </a:solidFill>
                <a:latin typeface="Arial" panose="020B0604020202020204" pitchFamily="34" charset="0"/>
                <a:ea typeface="Calibri" panose="020F0502020204030204" pitchFamily="34" charset="0"/>
                <a:cs typeface="Times New Roman" panose="02020603050405020304" pitchFamily="18" charset="0"/>
              </a:rPr>
              <a:t>In this query, you have provided a name for the new column that will display the unpivoted values (“qty”). You have also provided a name for the column that will display the names of the unpivoted values (orderyear). What else must you provide for the UNPIVOT query to execute?</a:t>
            </a:r>
          </a:p>
          <a:p>
            <a:pPr lvl="0">
              <a:lnSpc>
                <a:spcPct val="107000"/>
              </a:lnSpc>
              <a:spcAft>
                <a:spcPts val="800"/>
              </a:spcAft>
            </a:pPr>
            <a:r>
              <a:rPr lang="en-GB" sz="1000" b="1" dirty="0">
                <a:solidFill>
                  <a:prstClr val="black"/>
                </a:solidFill>
                <a:latin typeface="Arial" panose="020B0604020202020204" pitchFamily="34" charset="0"/>
                <a:ea typeface="Calibri" panose="020F0502020204030204" pitchFamily="34" charset="0"/>
                <a:cs typeface="Times New Roman" panose="02020603050405020304" pitchFamily="18" charset="0"/>
              </a:rPr>
              <a:t>Answer</a:t>
            </a:r>
            <a:endParaRPr lang="en-GB" sz="1000" dirty="0">
              <a:solidFill>
                <a:prstClr val="black"/>
              </a:solidFill>
              <a:latin typeface="Arial" panose="020B0604020202020204" pitchFamily="34" charset="0"/>
              <a:ea typeface="Calibri" panose="020F0502020204030204" pitchFamily="34" charset="0"/>
              <a:cs typeface="Times New Roman" panose="02020603050405020304" pitchFamily="18" charset="0"/>
            </a:endParaRPr>
          </a:p>
          <a:p>
            <a:pPr lvl="0">
              <a:lnSpc>
                <a:spcPct val="107000"/>
              </a:lnSpc>
              <a:spcAft>
                <a:spcPts val="800"/>
              </a:spcAft>
            </a:pPr>
            <a:r>
              <a:rPr lang="en-GB" sz="1000" dirty="0">
                <a:solidFill>
                  <a:prstClr val="black"/>
                </a:solidFill>
                <a:latin typeface="Arial" panose="020B0604020202020204" pitchFamily="34" charset="0"/>
                <a:ea typeface="Calibri" panose="020F0502020204030204" pitchFamily="34" charset="0"/>
                <a:cs typeface="Times New Roman" panose="02020603050405020304" pitchFamily="18" charset="0"/>
              </a:rPr>
              <a:t>You must supply the names of the pivoted columns that will be unpivoted by the query.</a:t>
            </a:r>
            <a:endParaRPr lang="en-GB" dirty="0"/>
          </a:p>
        </p:txBody>
      </p:sp>
      <p:sp>
        <p:nvSpPr>
          <p:cNvPr id="4" name="Slide Number Placeholder 3"/>
          <p:cNvSpPr>
            <a:spLocks noGrp="1"/>
          </p:cNvSpPr>
          <p:nvPr>
            <p:ph type="sldNum" sz="quarter" idx="10"/>
          </p:nvPr>
        </p:nvSpPr>
        <p:spPr/>
        <p:txBody>
          <a:bodyPr/>
          <a:lstStyle/>
          <a:p>
            <a:fld id="{83CB4B4F-7043-45FC-8A7C-C1A834BC0C20}" type="slidenum">
              <a:rPr lang="en-GB" smtClean="0"/>
              <a:t>9</a:t>
            </a:fld>
            <a:endParaRPr lang="en-GB" dirty="0"/>
          </a:p>
        </p:txBody>
      </p:sp>
      <p:sp>
        <p:nvSpPr>
          <p:cNvPr id="5" name="Rectangle 4"/>
          <p:cNvSpPr/>
          <p:nvPr/>
        </p:nvSpPr>
        <p:spPr>
          <a:xfrm>
            <a:off x="0" y="0"/>
            <a:ext cx="3038475" cy="222250"/>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200" dirty="0" smtClean="0">
                <a:solidFill>
                  <a:srgbClr val="000000"/>
                </a:solidFill>
                <a:latin typeface="Arial" panose="020B0604020202020204" pitchFamily="34" charset="0"/>
              </a:rPr>
              <a:t>20761C</a:t>
            </a:r>
            <a:endParaRPr lang="en-GB" sz="1200" dirty="0">
              <a:solidFill>
                <a:srgbClr val="000000"/>
              </a:solidFill>
              <a:latin typeface="Arial" panose="020B0604020202020204" pitchFamily="34" charset="0"/>
            </a:endParaRPr>
          </a:p>
        </p:txBody>
      </p:sp>
      <p:sp>
        <p:nvSpPr>
          <p:cNvPr id="6" name="Rectangle 5"/>
          <p:cNvSpPr/>
          <p:nvPr/>
        </p:nvSpPr>
        <p:spPr>
          <a:xfrm>
            <a:off x="0" y="238125"/>
            <a:ext cx="3038475" cy="347663"/>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200" dirty="0" smtClean="0">
                <a:solidFill>
                  <a:srgbClr val="336699"/>
                </a:solidFill>
                <a:latin typeface="Arial" panose="020B0604020202020204" pitchFamily="34" charset="0"/>
              </a:rPr>
              <a:t>14: Pivoting and Grouping Sets</a:t>
            </a:r>
            <a:endParaRPr lang="en-GB" sz="1200" dirty="0">
              <a:solidFill>
                <a:srgbClr val="336699"/>
              </a:solidFill>
              <a:latin typeface="Arial" panose="020B0604020202020204" pitchFamily="34" charset="0"/>
            </a:endParaRPr>
          </a:p>
        </p:txBody>
      </p:sp>
    </p:spTree>
    <p:extLst>
      <p:ext uri="{BB962C8B-B14F-4D97-AF65-F5344CB8AC3E}">
        <p14:creationId xmlns:p14="http://schemas.microsoft.com/office/powerpoint/2010/main" val="10385651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938" y="73025"/>
            <a:ext cx="2466975" cy="1851025"/>
          </a:xfrm>
        </p:spPr>
      </p:sp>
      <p:sp>
        <p:nvSpPr>
          <p:cNvPr id="3" name="Notes Placeholder 2"/>
          <p:cNvSpPr>
            <a:spLocks noGrp="1"/>
          </p:cNvSpPr>
          <p:nvPr>
            <p:ph type="body" idx="1"/>
          </p:nvPr>
        </p:nvSpPr>
        <p:spPr>
          <a:xfrm>
            <a:off x="310896" y="2093975"/>
            <a:ext cx="6153912" cy="6604000"/>
          </a:xfrm>
        </p:spPr>
        <p:txBody>
          <a:bodyPr>
            <a:noAutofit/>
          </a:bodyPr>
          <a:lstStyle/>
          <a:p>
            <a:pPr>
              <a:lnSpc>
                <a:spcPct val="107000"/>
              </a:lnSpc>
              <a:spcAft>
                <a:spcPts val="800"/>
              </a:spcAft>
            </a:pPr>
            <a:r>
              <a:rPr lang="en-GB" sz="1000" dirty="0">
                <a:latin typeface="Arial" panose="020B0604020202020204" pitchFamily="34" charset="0"/>
                <a:ea typeface="Calibri" panose="020F0502020204030204" pitchFamily="34" charset="0"/>
                <a:cs typeface="Times New Roman" panose="02020603050405020304" pitchFamily="18" charset="0"/>
              </a:rPr>
              <a:t> </a:t>
            </a:r>
          </a:p>
        </p:txBody>
      </p:sp>
      <p:sp>
        <p:nvSpPr>
          <p:cNvPr id="4" name="Slide Number Placeholder 3"/>
          <p:cNvSpPr>
            <a:spLocks noGrp="1"/>
          </p:cNvSpPr>
          <p:nvPr>
            <p:ph type="sldNum" sz="quarter" idx="10"/>
          </p:nvPr>
        </p:nvSpPr>
        <p:spPr/>
        <p:txBody>
          <a:bodyPr/>
          <a:lstStyle/>
          <a:p>
            <a:fld id="{83CB4B4F-7043-45FC-8A7C-C1A834BC0C20}" type="slidenum">
              <a:rPr lang="en-GB" smtClean="0"/>
              <a:t>10</a:t>
            </a:fld>
            <a:endParaRPr lang="en-GB" dirty="0"/>
          </a:p>
        </p:txBody>
      </p:sp>
      <p:sp>
        <p:nvSpPr>
          <p:cNvPr id="5" name="Rectangle 4"/>
          <p:cNvSpPr/>
          <p:nvPr/>
        </p:nvSpPr>
        <p:spPr>
          <a:xfrm>
            <a:off x="0" y="0"/>
            <a:ext cx="3038475" cy="222250"/>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200" dirty="0" smtClean="0">
                <a:solidFill>
                  <a:srgbClr val="000000"/>
                </a:solidFill>
                <a:latin typeface="Arial" panose="020B0604020202020204" pitchFamily="34" charset="0"/>
              </a:rPr>
              <a:t>20761C</a:t>
            </a:r>
            <a:endParaRPr lang="en-GB" sz="1200" dirty="0">
              <a:solidFill>
                <a:srgbClr val="000000"/>
              </a:solidFill>
              <a:latin typeface="Arial" panose="020B0604020202020204" pitchFamily="34" charset="0"/>
            </a:endParaRPr>
          </a:p>
        </p:txBody>
      </p:sp>
      <p:sp>
        <p:nvSpPr>
          <p:cNvPr id="6" name="Rectangle 5"/>
          <p:cNvSpPr/>
          <p:nvPr/>
        </p:nvSpPr>
        <p:spPr>
          <a:xfrm>
            <a:off x="0" y="238125"/>
            <a:ext cx="3038475" cy="347663"/>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200" dirty="0" smtClean="0">
                <a:solidFill>
                  <a:srgbClr val="336699"/>
                </a:solidFill>
                <a:latin typeface="Arial" panose="020B0604020202020204" pitchFamily="34" charset="0"/>
              </a:rPr>
              <a:t>14: Pivoting and Grouping Sets</a:t>
            </a:r>
            <a:endParaRPr lang="en-GB" sz="1200" dirty="0">
              <a:solidFill>
                <a:srgbClr val="336699"/>
              </a:solidFill>
              <a:latin typeface="Arial" panose="020B0604020202020204" pitchFamily="34" charset="0"/>
            </a:endParaRPr>
          </a:p>
        </p:txBody>
      </p:sp>
    </p:spTree>
    <p:extLst>
      <p:ext uri="{BB962C8B-B14F-4D97-AF65-F5344CB8AC3E}">
        <p14:creationId xmlns:p14="http://schemas.microsoft.com/office/powerpoint/2010/main" val="190275877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938" y="73025"/>
            <a:ext cx="2466975" cy="1851025"/>
          </a:xfrm>
        </p:spPr>
      </p:sp>
      <p:sp>
        <p:nvSpPr>
          <p:cNvPr id="3" name="Notes Placeholder 2"/>
          <p:cNvSpPr>
            <a:spLocks noGrp="1"/>
          </p:cNvSpPr>
          <p:nvPr>
            <p:ph type="body" idx="1"/>
          </p:nvPr>
        </p:nvSpPr>
        <p:spPr>
          <a:xfrm>
            <a:off x="310896" y="2093975"/>
            <a:ext cx="6153912" cy="6604000"/>
          </a:xfrm>
        </p:spPr>
        <p:txBody>
          <a:bodyPr>
            <a:noAutofit/>
          </a:bodyPr>
          <a:lstStyle/>
          <a:p>
            <a:pPr>
              <a:lnSpc>
                <a:spcPct val="107000"/>
              </a:lnSpc>
              <a:spcAft>
                <a:spcPts val="800"/>
              </a:spcAft>
            </a:pPr>
            <a:r>
              <a:rPr lang="en-GB" sz="1000" dirty="0">
                <a:latin typeface="Arial" panose="020B0604020202020204" pitchFamily="34" charset="0"/>
                <a:ea typeface="Calibri" panose="020F0502020204030204" pitchFamily="34" charset="0"/>
                <a:cs typeface="Times New Roman" panose="02020603050405020304" pitchFamily="18" charset="0"/>
              </a:rPr>
              <a:t>The next slide shows a GROUPING SETS example.</a:t>
            </a:r>
          </a:p>
          <a:p>
            <a:pPr>
              <a:lnSpc>
                <a:spcPct val="107000"/>
              </a:lnSpc>
              <a:spcAft>
                <a:spcPts val="800"/>
              </a:spcAft>
            </a:pPr>
            <a:r>
              <a:rPr lang="en-GB" sz="1000" dirty="0">
                <a:latin typeface="Arial" panose="020B0604020202020204" pitchFamily="34" charset="0"/>
                <a:ea typeface="Calibri" panose="020F0502020204030204" pitchFamily="34" charset="0"/>
                <a:cs typeface="Times New Roman" panose="02020603050405020304" pitchFamily="18" charset="0"/>
              </a:rPr>
              <a:t>For more information, see GROUPING SETS Equivalents in the SQL Server Technical Documentation: </a:t>
            </a:r>
          </a:p>
          <a:p>
            <a:pPr>
              <a:lnSpc>
                <a:spcPct val="107000"/>
              </a:lnSpc>
              <a:spcAft>
                <a:spcPts val="800"/>
              </a:spcAft>
            </a:pPr>
            <a:r>
              <a:rPr lang="en-GB" sz="1000" dirty="0">
                <a:latin typeface="Arial" panose="020B0604020202020204" pitchFamily="34" charset="0"/>
                <a:ea typeface="Calibri" panose="020F0502020204030204" pitchFamily="34" charset="0"/>
                <a:cs typeface="Times New Roman" panose="02020603050405020304" pitchFamily="18" charset="0"/>
              </a:rPr>
              <a:t>GROUPING SETS Equivalents</a:t>
            </a:r>
          </a:p>
          <a:p>
            <a:pPr>
              <a:lnSpc>
                <a:spcPct val="107000"/>
              </a:lnSpc>
              <a:spcAft>
                <a:spcPts val="800"/>
              </a:spcAft>
            </a:pPr>
            <a:r>
              <a:rPr lang="en-GB" sz="1000" u="sng" dirty="0">
                <a:latin typeface="Arial" panose="020B0604020202020204" pitchFamily="34" charset="0"/>
                <a:ea typeface="Calibri" panose="020F0502020204030204" pitchFamily="34" charset="0"/>
                <a:cs typeface="Segoe UI" panose="020B0502040204020203" pitchFamily="34" charset="0"/>
                <a:hlinkClick r:id="rId3"/>
              </a:rPr>
              <a:t>http://go.microsoft.com/fwlink/?LinkID=402786</a:t>
            </a:r>
            <a:endParaRPr lang="en-GB" sz="1000" dirty="0">
              <a:latin typeface="Arial" panose="020B0604020202020204" pitchFamily="34" charset="0"/>
              <a:ea typeface="Calibri" panose="020F0502020204030204" pitchFamily="34" charset="0"/>
              <a:cs typeface="Times New Roman" panose="02020603050405020304" pitchFamily="18" charset="0"/>
            </a:endParaRPr>
          </a:p>
        </p:txBody>
      </p:sp>
      <p:sp>
        <p:nvSpPr>
          <p:cNvPr id="4" name="Slide Number Placeholder 3"/>
          <p:cNvSpPr>
            <a:spLocks noGrp="1"/>
          </p:cNvSpPr>
          <p:nvPr>
            <p:ph type="sldNum" sz="quarter" idx="10"/>
          </p:nvPr>
        </p:nvSpPr>
        <p:spPr/>
        <p:txBody>
          <a:bodyPr/>
          <a:lstStyle/>
          <a:p>
            <a:fld id="{83CB4B4F-7043-45FC-8A7C-C1A834BC0C20}" type="slidenum">
              <a:rPr lang="en-GB" smtClean="0"/>
              <a:t>11</a:t>
            </a:fld>
            <a:endParaRPr lang="en-GB" dirty="0"/>
          </a:p>
        </p:txBody>
      </p:sp>
      <p:sp>
        <p:nvSpPr>
          <p:cNvPr id="5" name="Rectangle 4"/>
          <p:cNvSpPr/>
          <p:nvPr/>
        </p:nvSpPr>
        <p:spPr>
          <a:xfrm>
            <a:off x="0" y="0"/>
            <a:ext cx="3038475" cy="222250"/>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200" dirty="0" smtClean="0">
                <a:solidFill>
                  <a:srgbClr val="000000"/>
                </a:solidFill>
                <a:latin typeface="Arial" panose="020B0604020202020204" pitchFamily="34" charset="0"/>
              </a:rPr>
              <a:t>20761C</a:t>
            </a:r>
            <a:endParaRPr lang="en-GB" sz="1200" dirty="0">
              <a:solidFill>
                <a:srgbClr val="000000"/>
              </a:solidFill>
              <a:latin typeface="Arial" panose="020B0604020202020204" pitchFamily="34" charset="0"/>
            </a:endParaRPr>
          </a:p>
        </p:txBody>
      </p:sp>
      <p:sp>
        <p:nvSpPr>
          <p:cNvPr id="6" name="Rectangle 5"/>
          <p:cNvSpPr/>
          <p:nvPr/>
        </p:nvSpPr>
        <p:spPr>
          <a:xfrm>
            <a:off x="0" y="238125"/>
            <a:ext cx="3038475" cy="347663"/>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200" dirty="0" smtClean="0">
                <a:solidFill>
                  <a:srgbClr val="336699"/>
                </a:solidFill>
                <a:latin typeface="Arial" panose="020B0604020202020204" pitchFamily="34" charset="0"/>
              </a:rPr>
              <a:t>14: Pivoting and Grouping Sets</a:t>
            </a:r>
            <a:endParaRPr lang="en-GB" sz="1200" dirty="0">
              <a:solidFill>
                <a:srgbClr val="336699"/>
              </a:solidFill>
              <a:latin typeface="Arial" panose="020B0604020202020204" pitchFamily="34" charset="0"/>
            </a:endParaRPr>
          </a:p>
        </p:txBody>
      </p:sp>
    </p:spTree>
    <p:extLst>
      <p:ext uri="{BB962C8B-B14F-4D97-AF65-F5344CB8AC3E}">
        <p14:creationId xmlns:p14="http://schemas.microsoft.com/office/powerpoint/2010/main" val="388996446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938" y="73025"/>
            <a:ext cx="2466975" cy="1851025"/>
          </a:xfrm>
        </p:spPr>
      </p:sp>
      <p:sp>
        <p:nvSpPr>
          <p:cNvPr id="3" name="Notes Placeholder 2"/>
          <p:cNvSpPr>
            <a:spLocks noGrp="1"/>
          </p:cNvSpPr>
          <p:nvPr>
            <p:ph type="body" idx="1"/>
          </p:nvPr>
        </p:nvSpPr>
        <p:spPr>
          <a:xfrm>
            <a:off x="310896" y="2093975"/>
            <a:ext cx="6153912" cy="6604000"/>
          </a:xfrm>
        </p:spPr>
        <p:txBody>
          <a:bodyPr>
            <a:noAutofit/>
          </a:bodyPr>
          <a:lstStyle/>
          <a:p>
            <a:pPr>
              <a:lnSpc>
                <a:spcPct val="107000"/>
              </a:lnSpc>
              <a:spcAft>
                <a:spcPts val="800"/>
              </a:spcAft>
            </a:pPr>
            <a:r>
              <a:rPr lang="en-GB" sz="1000" dirty="0">
                <a:latin typeface="Arial" panose="020B0604020202020204" pitchFamily="34" charset="0"/>
                <a:ea typeface="Calibri" panose="020F0502020204030204" pitchFamily="34" charset="0"/>
                <a:cs typeface="Times New Roman" panose="02020603050405020304" pitchFamily="18" charset="0"/>
              </a:rPr>
              <a:t> </a:t>
            </a:r>
          </a:p>
        </p:txBody>
      </p:sp>
      <p:sp>
        <p:nvSpPr>
          <p:cNvPr id="4" name="Slide Number Placeholder 3"/>
          <p:cNvSpPr>
            <a:spLocks noGrp="1"/>
          </p:cNvSpPr>
          <p:nvPr>
            <p:ph type="sldNum" sz="quarter" idx="10"/>
          </p:nvPr>
        </p:nvSpPr>
        <p:spPr/>
        <p:txBody>
          <a:bodyPr/>
          <a:lstStyle/>
          <a:p>
            <a:fld id="{83CB4B4F-7043-45FC-8A7C-C1A834BC0C20}" type="slidenum">
              <a:rPr lang="en-GB" smtClean="0"/>
              <a:t>12</a:t>
            </a:fld>
            <a:endParaRPr lang="en-GB" dirty="0"/>
          </a:p>
        </p:txBody>
      </p:sp>
      <p:sp>
        <p:nvSpPr>
          <p:cNvPr id="5" name="Rectangle 4"/>
          <p:cNvSpPr/>
          <p:nvPr/>
        </p:nvSpPr>
        <p:spPr>
          <a:xfrm>
            <a:off x="0" y="0"/>
            <a:ext cx="3038475" cy="222250"/>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200" dirty="0" smtClean="0">
                <a:solidFill>
                  <a:srgbClr val="000000"/>
                </a:solidFill>
                <a:latin typeface="Arial" panose="020B0604020202020204" pitchFamily="34" charset="0"/>
              </a:rPr>
              <a:t>20761C</a:t>
            </a:r>
            <a:endParaRPr lang="en-GB" sz="1200" dirty="0">
              <a:solidFill>
                <a:srgbClr val="000000"/>
              </a:solidFill>
              <a:latin typeface="Arial" panose="020B0604020202020204" pitchFamily="34" charset="0"/>
            </a:endParaRPr>
          </a:p>
        </p:txBody>
      </p:sp>
      <p:sp>
        <p:nvSpPr>
          <p:cNvPr id="6" name="Rectangle 5"/>
          <p:cNvSpPr/>
          <p:nvPr/>
        </p:nvSpPr>
        <p:spPr>
          <a:xfrm>
            <a:off x="0" y="238125"/>
            <a:ext cx="3038475" cy="347663"/>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200" dirty="0" smtClean="0">
                <a:solidFill>
                  <a:srgbClr val="336699"/>
                </a:solidFill>
                <a:latin typeface="Arial" panose="020B0604020202020204" pitchFamily="34" charset="0"/>
              </a:rPr>
              <a:t>14: Pivoting and Grouping Sets</a:t>
            </a:r>
            <a:endParaRPr lang="en-GB" sz="1200" dirty="0">
              <a:solidFill>
                <a:srgbClr val="336699"/>
              </a:solidFill>
              <a:latin typeface="Arial" panose="020B0604020202020204" pitchFamily="34" charset="0"/>
            </a:endParaRPr>
          </a:p>
        </p:txBody>
      </p:sp>
    </p:spTree>
    <p:extLst>
      <p:ext uri="{BB962C8B-B14F-4D97-AF65-F5344CB8AC3E}">
        <p14:creationId xmlns:p14="http://schemas.microsoft.com/office/powerpoint/2010/main" val="123497249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938" y="73025"/>
            <a:ext cx="2466975" cy="1851025"/>
          </a:xfrm>
        </p:spPr>
      </p:sp>
      <p:sp>
        <p:nvSpPr>
          <p:cNvPr id="3" name="Notes Placeholder 2"/>
          <p:cNvSpPr>
            <a:spLocks noGrp="1"/>
          </p:cNvSpPr>
          <p:nvPr>
            <p:ph type="body" idx="1"/>
          </p:nvPr>
        </p:nvSpPr>
        <p:spPr>
          <a:xfrm>
            <a:off x="310896" y="2093976"/>
            <a:ext cx="6153912" cy="6604000"/>
          </a:xfrm>
        </p:spPr>
        <p:txBody>
          <a:bodyPr>
            <a:noAutofit/>
          </a:bodyPr>
          <a:lstStyle/>
          <a:p>
            <a:pPr>
              <a:lnSpc>
                <a:spcPct val="107000"/>
              </a:lnSpc>
              <a:spcAft>
                <a:spcPts val="800"/>
              </a:spcAft>
            </a:pPr>
            <a:r>
              <a:rPr lang="en-GB" sz="1000" dirty="0">
                <a:latin typeface="Arial" panose="020B0604020202020204" pitchFamily="34" charset="0"/>
                <a:ea typeface="Calibri" panose="020F0502020204030204" pitchFamily="34" charset="0"/>
                <a:cs typeface="Times New Roman" panose="02020603050405020304" pitchFamily="18" charset="0"/>
              </a:rPr>
              <a:t>Versions of SQL Server earlier than 2008 used nonstandard CUBE and ROLLUP options that will be deprecated. Use this new version going forward.</a:t>
            </a:r>
          </a:p>
          <a:p>
            <a:pPr>
              <a:lnSpc>
                <a:spcPct val="107000"/>
              </a:lnSpc>
              <a:spcAft>
                <a:spcPts val="800"/>
              </a:spcAft>
            </a:pPr>
            <a:r>
              <a:rPr lang="en-GB" sz="1000" dirty="0">
                <a:latin typeface="Arial" panose="020B0604020202020204" pitchFamily="34" charset="0"/>
                <a:ea typeface="Calibri" panose="020F0502020204030204" pitchFamily="34" charset="0"/>
                <a:cs typeface="Times New Roman" panose="02020603050405020304" pitchFamily="18" charset="0"/>
              </a:rPr>
              <a:t>Note: these examples are provided in the demonstration script for this lesson.</a:t>
            </a:r>
          </a:p>
          <a:p>
            <a:pPr>
              <a:lnSpc>
                <a:spcPct val="107000"/>
              </a:lnSpc>
              <a:spcAft>
                <a:spcPts val="800"/>
              </a:spcAft>
            </a:pPr>
            <a:r>
              <a:rPr lang="en-GB" sz="1000" dirty="0">
                <a:latin typeface="Arial" panose="020B0604020202020204" pitchFamily="34" charset="0"/>
                <a:ea typeface="Calibri" panose="020F0502020204030204" pitchFamily="34" charset="0"/>
                <a:cs typeface="Times New Roman" panose="02020603050405020304" pitchFamily="18" charset="0"/>
              </a:rPr>
              <a:t>This example is shown for illustration purposes to note the difference between the results of CUBE and ROLLUP. A more realistic example for a ROLLUP would be a hierarchy such as ROLLUP (category, subcategory, product).</a:t>
            </a:r>
          </a:p>
        </p:txBody>
      </p:sp>
      <p:sp>
        <p:nvSpPr>
          <p:cNvPr id="4" name="Slide Number Placeholder 3"/>
          <p:cNvSpPr>
            <a:spLocks noGrp="1"/>
          </p:cNvSpPr>
          <p:nvPr>
            <p:ph type="sldNum" sz="quarter" idx="10"/>
          </p:nvPr>
        </p:nvSpPr>
        <p:spPr/>
        <p:txBody>
          <a:bodyPr/>
          <a:lstStyle/>
          <a:p>
            <a:fld id="{83CB4B4F-7043-45FC-8A7C-C1A834BC0C20}" type="slidenum">
              <a:rPr lang="en-GB" smtClean="0"/>
              <a:t>13</a:t>
            </a:fld>
            <a:endParaRPr lang="en-GB" dirty="0"/>
          </a:p>
        </p:txBody>
      </p:sp>
      <p:sp>
        <p:nvSpPr>
          <p:cNvPr id="5" name="Rectangle 4"/>
          <p:cNvSpPr/>
          <p:nvPr/>
        </p:nvSpPr>
        <p:spPr>
          <a:xfrm>
            <a:off x="0" y="0"/>
            <a:ext cx="3038475" cy="222250"/>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200" dirty="0" smtClean="0">
                <a:solidFill>
                  <a:srgbClr val="000000"/>
                </a:solidFill>
                <a:latin typeface="Arial" panose="020B0604020202020204" pitchFamily="34" charset="0"/>
              </a:rPr>
              <a:t>20761C</a:t>
            </a:r>
            <a:endParaRPr lang="en-GB" sz="1200" dirty="0">
              <a:solidFill>
                <a:srgbClr val="000000"/>
              </a:solidFill>
              <a:latin typeface="Arial" panose="020B0604020202020204" pitchFamily="34" charset="0"/>
            </a:endParaRPr>
          </a:p>
        </p:txBody>
      </p:sp>
      <p:sp>
        <p:nvSpPr>
          <p:cNvPr id="6" name="Rectangle 5"/>
          <p:cNvSpPr/>
          <p:nvPr/>
        </p:nvSpPr>
        <p:spPr>
          <a:xfrm>
            <a:off x="0" y="238125"/>
            <a:ext cx="3038475" cy="347663"/>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200" dirty="0" smtClean="0">
                <a:solidFill>
                  <a:srgbClr val="336699"/>
                </a:solidFill>
                <a:latin typeface="Arial" panose="020B0604020202020204" pitchFamily="34" charset="0"/>
              </a:rPr>
              <a:t>14: Pivoting and Grouping Sets</a:t>
            </a:r>
            <a:endParaRPr lang="en-GB" sz="1200" dirty="0">
              <a:solidFill>
                <a:srgbClr val="336699"/>
              </a:solidFill>
              <a:latin typeface="Arial" panose="020B0604020202020204" pitchFamily="34" charset="0"/>
            </a:endParaRPr>
          </a:p>
        </p:txBody>
      </p:sp>
    </p:spTree>
    <p:extLst>
      <p:ext uri="{BB962C8B-B14F-4D97-AF65-F5344CB8AC3E}">
        <p14:creationId xmlns:p14="http://schemas.microsoft.com/office/powerpoint/2010/main" val="76925420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938" y="73025"/>
            <a:ext cx="2466975" cy="1851025"/>
          </a:xfrm>
        </p:spPr>
      </p:sp>
      <p:sp>
        <p:nvSpPr>
          <p:cNvPr id="3" name="Notes Placeholder 2"/>
          <p:cNvSpPr>
            <a:spLocks noGrp="1"/>
          </p:cNvSpPr>
          <p:nvPr>
            <p:ph type="body" idx="1"/>
          </p:nvPr>
        </p:nvSpPr>
        <p:spPr>
          <a:xfrm>
            <a:off x="310896" y="2093975"/>
            <a:ext cx="6153912" cy="6604000"/>
          </a:xfrm>
        </p:spPr>
        <p:txBody>
          <a:bodyPr>
            <a:noAutofit/>
          </a:bodyPr>
          <a:lstStyle/>
          <a:p>
            <a:pPr>
              <a:lnSpc>
                <a:spcPct val="107000"/>
              </a:lnSpc>
              <a:spcAft>
                <a:spcPts val="800"/>
              </a:spcAft>
            </a:pPr>
            <a:r>
              <a:rPr lang="en-GB" sz="1000" dirty="0">
                <a:latin typeface="Arial" panose="020B0604020202020204" pitchFamily="34" charset="0"/>
                <a:ea typeface="Calibri" panose="020F0502020204030204" pitchFamily="34" charset="0"/>
                <a:cs typeface="Times New Roman" panose="02020603050405020304" pitchFamily="18" charset="0"/>
              </a:rPr>
              <a:t>The example query is provided in the demonstration script for this lesson.</a:t>
            </a:r>
          </a:p>
          <a:p>
            <a:pPr>
              <a:lnSpc>
                <a:spcPct val="107000"/>
              </a:lnSpc>
              <a:spcAft>
                <a:spcPts val="800"/>
              </a:spcAft>
            </a:pPr>
            <a:r>
              <a:rPr lang="en-GB" sz="1000" dirty="0">
                <a:latin typeface="Arial" panose="020B0604020202020204" pitchFamily="34" charset="0"/>
                <a:ea typeface="Calibri" panose="020F0502020204030204" pitchFamily="34" charset="0"/>
                <a:cs typeface="Times New Roman" panose="02020603050405020304" pitchFamily="18" charset="0"/>
              </a:rPr>
              <a:t>Note: SQL Server also provides a GROUPING function (not discussed in this lesson), which only accepts one input to return a bit.</a:t>
            </a:r>
          </a:p>
        </p:txBody>
      </p:sp>
      <p:sp>
        <p:nvSpPr>
          <p:cNvPr id="4" name="Slide Number Placeholder 3"/>
          <p:cNvSpPr>
            <a:spLocks noGrp="1"/>
          </p:cNvSpPr>
          <p:nvPr>
            <p:ph type="sldNum" sz="quarter" idx="10"/>
          </p:nvPr>
        </p:nvSpPr>
        <p:spPr/>
        <p:txBody>
          <a:bodyPr/>
          <a:lstStyle/>
          <a:p>
            <a:fld id="{83CB4B4F-7043-45FC-8A7C-C1A834BC0C20}" type="slidenum">
              <a:rPr lang="en-GB" smtClean="0"/>
              <a:t>14</a:t>
            </a:fld>
            <a:endParaRPr lang="en-GB" dirty="0"/>
          </a:p>
        </p:txBody>
      </p:sp>
      <p:sp>
        <p:nvSpPr>
          <p:cNvPr id="5" name="Rectangle 4"/>
          <p:cNvSpPr/>
          <p:nvPr/>
        </p:nvSpPr>
        <p:spPr>
          <a:xfrm>
            <a:off x="0" y="0"/>
            <a:ext cx="3038475" cy="222250"/>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200" dirty="0" smtClean="0">
                <a:solidFill>
                  <a:srgbClr val="000000"/>
                </a:solidFill>
                <a:latin typeface="Arial" panose="020B0604020202020204" pitchFamily="34" charset="0"/>
              </a:rPr>
              <a:t>20761C</a:t>
            </a:r>
            <a:endParaRPr lang="en-GB" sz="1200" dirty="0">
              <a:solidFill>
                <a:srgbClr val="000000"/>
              </a:solidFill>
              <a:latin typeface="Arial" panose="020B0604020202020204" pitchFamily="34" charset="0"/>
            </a:endParaRPr>
          </a:p>
        </p:txBody>
      </p:sp>
      <p:sp>
        <p:nvSpPr>
          <p:cNvPr id="6" name="Rectangle 5"/>
          <p:cNvSpPr/>
          <p:nvPr/>
        </p:nvSpPr>
        <p:spPr>
          <a:xfrm>
            <a:off x="0" y="238125"/>
            <a:ext cx="3038475" cy="347663"/>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200" dirty="0" smtClean="0">
                <a:solidFill>
                  <a:srgbClr val="336699"/>
                </a:solidFill>
                <a:latin typeface="Arial" panose="020B0604020202020204" pitchFamily="34" charset="0"/>
              </a:rPr>
              <a:t>14: Pivoting and Grouping Sets</a:t>
            </a:r>
            <a:endParaRPr lang="en-GB" sz="1200" dirty="0">
              <a:solidFill>
                <a:srgbClr val="336699"/>
              </a:solidFill>
              <a:latin typeface="Arial" panose="020B0604020202020204" pitchFamily="34" charset="0"/>
            </a:endParaRPr>
          </a:p>
        </p:txBody>
      </p:sp>
    </p:spTree>
    <p:extLst>
      <p:ext uri="{BB962C8B-B14F-4D97-AF65-F5344CB8AC3E}">
        <p14:creationId xmlns:p14="http://schemas.microsoft.com/office/powerpoint/2010/main" val="209721007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938" y="73025"/>
            <a:ext cx="2466975" cy="1851025"/>
          </a:xfrm>
        </p:spPr>
      </p:sp>
      <p:sp>
        <p:nvSpPr>
          <p:cNvPr id="3" name="Notes Placeholder 2"/>
          <p:cNvSpPr>
            <a:spLocks noGrp="1"/>
          </p:cNvSpPr>
          <p:nvPr>
            <p:ph type="body" idx="1"/>
          </p:nvPr>
        </p:nvSpPr>
        <p:spPr>
          <a:xfrm>
            <a:off x="310896" y="2093975"/>
            <a:ext cx="6153912" cy="6604000"/>
          </a:xfrm>
        </p:spPr>
        <p:txBody>
          <a:bodyPr>
            <a:noAutofit/>
          </a:bodyPr>
          <a:lstStyle/>
          <a:p>
            <a:pPr>
              <a:lnSpc>
                <a:spcPct val="107000"/>
              </a:lnSpc>
              <a:spcAft>
                <a:spcPts val="800"/>
              </a:spcAft>
            </a:pPr>
            <a:r>
              <a:rPr lang="en-GB" sz="1000" b="1" dirty="0" smtClean="0">
                <a:effectLst/>
                <a:latin typeface="Arial" panose="020B0604020202020204" pitchFamily="34" charset="0"/>
                <a:ea typeface="Calibri" panose="020F0502020204030204" pitchFamily="34" charset="0"/>
                <a:cs typeface="Times New Roman" panose="02020603050405020304" pitchFamily="18" charset="0"/>
              </a:rPr>
              <a:t>Preparation Steps</a:t>
            </a:r>
            <a:endParaRPr lang="en-GB" sz="1000" dirty="0" smtClean="0">
              <a:effectLst/>
              <a:latin typeface="Arial" panose="020B060402020202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GB" sz="1000" dirty="0" smtClean="0">
                <a:effectLst/>
                <a:latin typeface="Arial" panose="020B0604020202020204" pitchFamily="34" charset="0"/>
                <a:ea typeface="Calibri" panose="020F0502020204030204" pitchFamily="34" charset="0"/>
                <a:cs typeface="Times New Roman" panose="02020603050405020304" pitchFamily="18" charset="0"/>
              </a:rPr>
              <a:t>Complete the previous demonstration in this module. Demonstration Steps</a:t>
            </a:r>
          </a:p>
          <a:p>
            <a:pPr>
              <a:lnSpc>
                <a:spcPct val="107000"/>
              </a:lnSpc>
              <a:spcAft>
                <a:spcPts val="800"/>
              </a:spcAft>
            </a:pPr>
            <a:r>
              <a:rPr lang="en-GB" sz="1000" dirty="0" smtClean="0">
                <a:effectLst/>
                <a:latin typeface="Arial" panose="020B0604020202020204" pitchFamily="34" charset="0"/>
                <a:ea typeface="Calibri" panose="020F0502020204030204" pitchFamily="34" charset="0"/>
                <a:cs typeface="Times New Roman" panose="02020603050405020304" pitchFamily="18" charset="0"/>
              </a:rPr>
              <a:t>Use the CUBE and ROLLUP Subclauses</a:t>
            </a:r>
          </a:p>
          <a:p>
            <a:pPr marL="342900" lvl="0" indent="-342900">
              <a:lnSpc>
                <a:spcPct val="115000"/>
              </a:lnSpc>
              <a:spcAft>
                <a:spcPts val="995"/>
              </a:spcAft>
              <a:buFont typeface="+mj-lt"/>
              <a:buAutoNum type="arabicPeriod"/>
            </a:pPr>
            <a:r>
              <a:rPr lang="en-US" sz="1000" dirty="0">
                <a:latin typeface="Arial" panose="020B0604020202020204" pitchFamily="34" charset="0"/>
                <a:ea typeface="Times New Roman" panose="02020603050405020304" pitchFamily="18" charset="0"/>
                <a:cs typeface="Times New Roman" panose="02020603050405020304" pitchFamily="18" charset="0"/>
              </a:rPr>
              <a:t>In Solution Explorer, open the </a:t>
            </a:r>
            <a:r>
              <a:rPr lang="en-US" sz="1000" b="1" dirty="0">
                <a:latin typeface="Arial" panose="020B0604020202020204" pitchFamily="34" charset="0"/>
                <a:ea typeface="Times New Roman" panose="02020603050405020304" pitchFamily="18" charset="0"/>
                <a:cs typeface="Times New Roman" panose="02020603050405020304" pitchFamily="18" charset="0"/>
              </a:rPr>
              <a:t>21 - Demonstration B.sql</a:t>
            </a:r>
            <a:r>
              <a:rPr lang="en-US" sz="1000" dirty="0">
                <a:latin typeface="Arial" panose="020B0604020202020204" pitchFamily="34" charset="0"/>
                <a:ea typeface="Times New Roman" panose="02020603050405020304" pitchFamily="18" charset="0"/>
                <a:cs typeface="Times New Roman" panose="02020603050405020304" pitchFamily="18" charset="0"/>
              </a:rPr>
              <a:t> script file.</a:t>
            </a:r>
            <a:endParaRPr lang="en-GB" sz="1000" dirty="0">
              <a:latin typeface="Arial" panose="020B0604020202020204" pitchFamily="34" charset="0"/>
              <a:ea typeface="Times New Roman" panose="02020603050405020304" pitchFamily="18" charset="0"/>
              <a:cs typeface="Times New Roman" panose="02020603050405020304" pitchFamily="18" charset="0"/>
            </a:endParaRPr>
          </a:p>
          <a:p>
            <a:pPr marL="342900" lvl="0" indent="-342900">
              <a:lnSpc>
                <a:spcPct val="115000"/>
              </a:lnSpc>
              <a:spcAft>
                <a:spcPts val="995"/>
              </a:spcAft>
              <a:buFont typeface="+mj-lt"/>
              <a:buAutoNum type="arabicPeriod"/>
            </a:pPr>
            <a:r>
              <a:rPr lang="en-US" sz="1000" dirty="0">
                <a:latin typeface="Arial" panose="020B0604020202020204" pitchFamily="34" charset="0"/>
                <a:ea typeface="Times New Roman" panose="02020603050405020304" pitchFamily="18" charset="0"/>
                <a:cs typeface="Times New Roman" panose="02020603050405020304" pitchFamily="18" charset="0"/>
              </a:rPr>
              <a:t>Select the code under the comment </a:t>
            </a:r>
            <a:r>
              <a:rPr lang="en-US" sz="1000" b="1" dirty="0">
                <a:latin typeface="Arial" panose="020B0604020202020204" pitchFamily="34" charset="0"/>
                <a:ea typeface="Times New Roman" panose="02020603050405020304" pitchFamily="18" charset="0"/>
                <a:cs typeface="Times New Roman" panose="02020603050405020304" pitchFamily="18" charset="0"/>
              </a:rPr>
              <a:t>Step 1</a:t>
            </a:r>
            <a:r>
              <a:rPr lang="en-US" sz="1000" dirty="0">
                <a:latin typeface="Arial" panose="020B0604020202020204" pitchFamily="34" charset="0"/>
                <a:ea typeface="Times New Roman" panose="02020603050405020304" pitchFamily="18" charset="0"/>
                <a:cs typeface="Times New Roman" panose="02020603050405020304" pitchFamily="18" charset="0"/>
              </a:rPr>
              <a:t>, and then click </a:t>
            </a:r>
            <a:r>
              <a:rPr lang="en-US" sz="1000" b="1" dirty="0">
                <a:latin typeface="Arial" panose="020B0604020202020204" pitchFamily="34" charset="0"/>
                <a:ea typeface="Times New Roman" panose="02020603050405020304" pitchFamily="18" charset="0"/>
                <a:cs typeface="Times New Roman" panose="02020603050405020304" pitchFamily="18" charset="0"/>
              </a:rPr>
              <a:t>Execute</a:t>
            </a:r>
            <a:r>
              <a:rPr lang="en-US" sz="1000" dirty="0">
                <a:latin typeface="Arial" panose="020B0604020202020204" pitchFamily="34" charset="0"/>
                <a:ea typeface="Times New Roman" panose="02020603050405020304" pitchFamily="18" charset="0"/>
                <a:cs typeface="Times New Roman" panose="02020603050405020304" pitchFamily="18" charset="0"/>
              </a:rPr>
              <a:t>.</a:t>
            </a:r>
            <a:endParaRPr lang="en-GB" sz="1000" dirty="0">
              <a:latin typeface="Arial" panose="020B0604020202020204" pitchFamily="34" charset="0"/>
              <a:ea typeface="Times New Roman" panose="02020603050405020304" pitchFamily="18" charset="0"/>
              <a:cs typeface="Times New Roman" panose="02020603050405020304" pitchFamily="18" charset="0"/>
            </a:endParaRPr>
          </a:p>
          <a:p>
            <a:pPr marL="342900" lvl="0" indent="-342900">
              <a:lnSpc>
                <a:spcPct val="115000"/>
              </a:lnSpc>
              <a:spcAft>
                <a:spcPts val="995"/>
              </a:spcAft>
              <a:buFont typeface="+mj-lt"/>
              <a:buAutoNum type="arabicPeriod"/>
            </a:pPr>
            <a:r>
              <a:rPr lang="en-US" sz="1000" dirty="0">
                <a:latin typeface="Arial" panose="020B0604020202020204" pitchFamily="34" charset="0"/>
                <a:ea typeface="Times New Roman" panose="02020603050405020304" pitchFamily="18" charset="0"/>
                <a:cs typeface="Times New Roman" panose="02020603050405020304" pitchFamily="18" charset="0"/>
              </a:rPr>
              <a:t>Select the code under the comment </a:t>
            </a:r>
            <a:r>
              <a:rPr lang="en-US" sz="1000" b="1" dirty="0">
                <a:latin typeface="Arial" panose="020B0604020202020204" pitchFamily="34" charset="0"/>
                <a:ea typeface="Times New Roman" panose="02020603050405020304" pitchFamily="18" charset="0"/>
                <a:cs typeface="Times New Roman" panose="02020603050405020304" pitchFamily="18" charset="0"/>
              </a:rPr>
              <a:t>Step 2</a:t>
            </a:r>
            <a:r>
              <a:rPr lang="en-US" sz="1000" dirty="0">
                <a:latin typeface="Arial" panose="020B0604020202020204" pitchFamily="34" charset="0"/>
                <a:ea typeface="Times New Roman" panose="02020603050405020304" pitchFamily="18" charset="0"/>
                <a:cs typeface="Times New Roman" panose="02020603050405020304" pitchFamily="18" charset="0"/>
              </a:rPr>
              <a:t>, and then click </a:t>
            </a:r>
            <a:r>
              <a:rPr lang="en-US" sz="1000" b="1" dirty="0">
                <a:latin typeface="Arial" panose="020B0604020202020204" pitchFamily="34" charset="0"/>
                <a:ea typeface="Times New Roman" panose="02020603050405020304" pitchFamily="18" charset="0"/>
                <a:cs typeface="Times New Roman" panose="02020603050405020304" pitchFamily="18" charset="0"/>
              </a:rPr>
              <a:t>Execute</a:t>
            </a:r>
            <a:r>
              <a:rPr lang="en-US" sz="1000" dirty="0">
                <a:latin typeface="Arial" panose="020B0604020202020204" pitchFamily="34" charset="0"/>
                <a:ea typeface="Times New Roman" panose="02020603050405020304" pitchFamily="18" charset="0"/>
                <a:cs typeface="Times New Roman" panose="02020603050405020304" pitchFamily="18" charset="0"/>
              </a:rPr>
              <a:t>.</a:t>
            </a:r>
            <a:endParaRPr lang="en-GB" sz="1000" dirty="0">
              <a:latin typeface="Arial" panose="020B0604020202020204" pitchFamily="34" charset="0"/>
              <a:ea typeface="Times New Roman" panose="02020603050405020304" pitchFamily="18" charset="0"/>
              <a:cs typeface="Times New Roman" panose="02020603050405020304" pitchFamily="18" charset="0"/>
            </a:endParaRPr>
          </a:p>
          <a:p>
            <a:pPr marL="342900" lvl="0" indent="-342900">
              <a:lnSpc>
                <a:spcPct val="115000"/>
              </a:lnSpc>
              <a:spcAft>
                <a:spcPts val="995"/>
              </a:spcAft>
              <a:buFont typeface="+mj-lt"/>
              <a:buAutoNum type="arabicPeriod"/>
            </a:pPr>
            <a:r>
              <a:rPr lang="en-US" sz="1000" dirty="0">
                <a:latin typeface="Arial" panose="020B0604020202020204" pitchFamily="34" charset="0"/>
                <a:ea typeface="Times New Roman" panose="02020603050405020304" pitchFamily="18" charset="0"/>
                <a:cs typeface="Times New Roman" panose="02020603050405020304" pitchFamily="18" charset="0"/>
              </a:rPr>
              <a:t>Select the code under the comment </a:t>
            </a:r>
            <a:r>
              <a:rPr lang="en-US" sz="1000" b="1" dirty="0">
                <a:latin typeface="Arial" panose="020B0604020202020204" pitchFamily="34" charset="0"/>
                <a:ea typeface="Times New Roman" panose="02020603050405020304" pitchFamily="18" charset="0"/>
                <a:cs typeface="Times New Roman" panose="02020603050405020304" pitchFamily="18" charset="0"/>
              </a:rPr>
              <a:t>Step 3</a:t>
            </a:r>
            <a:r>
              <a:rPr lang="en-US" sz="1000" dirty="0">
                <a:latin typeface="Arial" panose="020B0604020202020204" pitchFamily="34" charset="0"/>
                <a:ea typeface="Times New Roman" panose="02020603050405020304" pitchFamily="18" charset="0"/>
                <a:cs typeface="Times New Roman" panose="02020603050405020304" pitchFamily="18" charset="0"/>
              </a:rPr>
              <a:t>, and then click </a:t>
            </a:r>
            <a:r>
              <a:rPr lang="en-US" sz="1000" b="1" dirty="0">
                <a:latin typeface="Arial" panose="020B0604020202020204" pitchFamily="34" charset="0"/>
                <a:ea typeface="Times New Roman" panose="02020603050405020304" pitchFamily="18" charset="0"/>
                <a:cs typeface="Times New Roman" panose="02020603050405020304" pitchFamily="18" charset="0"/>
              </a:rPr>
              <a:t>Execute</a:t>
            </a:r>
            <a:r>
              <a:rPr lang="en-US" sz="1000" dirty="0">
                <a:latin typeface="Arial" panose="020B0604020202020204" pitchFamily="34" charset="0"/>
                <a:ea typeface="Times New Roman" panose="02020603050405020304" pitchFamily="18" charset="0"/>
                <a:cs typeface="Times New Roman" panose="02020603050405020304" pitchFamily="18" charset="0"/>
              </a:rPr>
              <a:t>.</a:t>
            </a:r>
            <a:endParaRPr lang="en-GB" sz="1000" dirty="0">
              <a:latin typeface="Arial" panose="020B0604020202020204" pitchFamily="34" charset="0"/>
              <a:ea typeface="Times New Roman" panose="02020603050405020304" pitchFamily="18" charset="0"/>
              <a:cs typeface="Times New Roman" panose="02020603050405020304" pitchFamily="18" charset="0"/>
            </a:endParaRPr>
          </a:p>
          <a:p>
            <a:pPr marL="342900" lvl="0" indent="-342900">
              <a:lnSpc>
                <a:spcPct val="115000"/>
              </a:lnSpc>
              <a:spcAft>
                <a:spcPts val="995"/>
              </a:spcAft>
              <a:buFont typeface="+mj-lt"/>
              <a:buAutoNum type="arabicPeriod"/>
            </a:pPr>
            <a:r>
              <a:rPr lang="en-US" sz="1000" dirty="0">
                <a:latin typeface="Arial" panose="020B0604020202020204" pitchFamily="34" charset="0"/>
                <a:ea typeface="Times New Roman" panose="02020603050405020304" pitchFamily="18" charset="0"/>
                <a:cs typeface="Times New Roman" panose="02020603050405020304" pitchFamily="18" charset="0"/>
              </a:rPr>
              <a:t>Select the code under the comment </a:t>
            </a:r>
            <a:r>
              <a:rPr lang="en-US" sz="1000" b="1" dirty="0">
                <a:latin typeface="Arial" panose="020B0604020202020204" pitchFamily="34" charset="0"/>
                <a:ea typeface="Times New Roman" panose="02020603050405020304" pitchFamily="18" charset="0"/>
                <a:cs typeface="Times New Roman" panose="02020603050405020304" pitchFamily="18" charset="0"/>
              </a:rPr>
              <a:t>Step 4</a:t>
            </a:r>
            <a:r>
              <a:rPr lang="en-US" sz="1000" dirty="0">
                <a:latin typeface="Arial" panose="020B0604020202020204" pitchFamily="34" charset="0"/>
                <a:ea typeface="Times New Roman" panose="02020603050405020304" pitchFamily="18" charset="0"/>
                <a:cs typeface="Times New Roman" panose="02020603050405020304" pitchFamily="18" charset="0"/>
              </a:rPr>
              <a:t>, and then click </a:t>
            </a:r>
            <a:r>
              <a:rPr lang="en-US" sz="1000" b="1" dirty="0">
                <a:latin typeface="Arial" panose="020B0604020202020204" pitchFamily="34" charset="0"/>
                <a:ea typeface="Times New Roman" panose="02020603050405020304" pitchFamily="18" charset="0"/>
                <a:cs typeface="Times New Roman" panose="02020603050405020304" pitchFamily="18" charset="0"/>
              </a:rPr>
              <a:t>Execute</a:t>
            </a:r>
            <a:r>
              <a:rPr lang="en-US" sz="1000" dirty="0">
                <a:latin typeface="Arial" panose="020B0604020202020204" pitchFamily="34" charset="0"/>
                <a:ea typeface="Times New Roman" panose="02020603050405020304" pitchFamily="18" charset="0"/>
                <a:cs typeface="Times New Roman" panose="02020603050405020304" pitchFamily="18" charset="0"/>
              </a:rPr>
              <a:t>.</a:t>
            </a:r>
            <a:endParaRPr lang="en-GB" sz="1000" dirty="0">
              <a:latin typeface="Arial" panose="020B0604020202020204" pitchFamily="34" charset="0"/>
              <a:ea typeface="Times New Roman" panose="02020603050405020304" pitchFamily="18" charset="0"/>
              <a:cs typeface="Times New Roman" panose="02020603050405020304" pitchFamily="18" charset="0"/>
            </a:endParaRPr>
          </a:p>
          <a:p>
            <a:pPr marL="342900" lvl="0" indent="-342900">
              <a:lnSpc>
                <a:spcPct val="115000"/>
              </a:lnSpc>
              <a:spcAft>
                <a:spcPts val="995"/>
              </a:spcAft>
              <a:buFont typeface="+mj-lt"/>
              <a:buAutoNum type="arabicPeriod"/>
            </a:pPr>
            <a:r>
              <a:rPr lang="en-US" sz="1000" dirty="0">
                <a:latin typeface="Arial" panose="020B0604020202020204" pitchFamily="34" charset="0"/>
                <a:ea typeface="Times New Roman" panose="02020603050405020304" pitchFamily="18" charset="0"/>
                <a:cs typeface="Times New Roman" panose="02020603050405020304" pitchFamily="18" charset="0"/>
              </a:rPr>
              <a:t>Select the code under the comment </a:t>
            </a:r>
            <a:r>
              <a:rPr lang="en-US" sz="1000" b="1" dirty="0">
                <a:latin typeface="Arial" panose="020B0604020202020204" pitchFamily="34" charset="0"/>
                <a:ea typeface="Times New Roman" panose="02020603050405020304" pitchFamily="18" charset="0"/>
                <a:cs typeface="Times New Roman" panose="02020603050405020304" pitchFamily="18" charset="0"/>
              </a:rPr>
              <a:t>Step 5</a:t>
            </a:r>
            <a:r>
              <a:rPr lang="en-US" sz="1000" dirty="0">
                <a:latin typeface="Arial" panose="020B0604020202020204" pitchFamily="34" charset="0"/>
                <a:ea typeface="Times New Roman" panose="02020603050405020304" pitchFamily="18" charset="0"/>
                <a:cs typeface="Times New Roman" panose="02020603050405020304" pitchFamily="18" charset="0"/>
              </a:rPr>
              <a:t>, and then click </a:t>
            </a:r>
            <a:r>
              <a:rPr lang="en-US" sz="1000" b="1" dirty="0">
                <a:latin typeface="Arial" panose="020B0604020202020204" pitchFamily="34" charset="0"/>
                <a:ea typeface="Times New Roman" panose="02020603050405020304" pitchFamily="18" charset="0"/>
                <a:cs typeface="Times New Roman" panose="02020603050405020304" pitchFamily="18" charset="0"/>
              </a:rPr>
              <a:t>Execute</a:t>
            </a:r>
            <a:r>
              <a:rPr lang="en-US" sz="1000" dirty="0">
                <a:latin typeface="Arial" panose="020B0604020202020204" pitchFamily="34" charset="0"/>
                <a:ea typeface="Times New Roman" panose="02020603050405020304" pitchFamily="18" charset="0"/>
                <a:cs typeface="Times New Roman" panose="02020603050405020304" pitchFamily="18" charset="0"/>
              </a:rPr>
              <a:t>.</a:t>
            </a:r>
            <a:endParaRPr lang="en-GB" sz="1000" dirty="0">
              <a:latin typeface="Arial" panose="020B0604020202020204" pitchFamily="34" charset="0"/>
              <a:ea typeface="Times New Roman" panose="02020603050405020304" pitchFamily="18" charset="0"/>
              <a:cs typeface="Times New Roman" panose="02020603050405020304" pitchFamily="18" charset="0"/>
            </a:endParaRPr>
          </a:p>
          <a:p>
            <a:pPr marL="342900" lvl="0" indent="-342900">
              <a:lnSpc>
                <a:spcPct val="115000"/>
              </a:lnSpc>
              <a:spcAft>
                <a:spcPts val="995"/>
              </a:spcAft>
              <a:buFont typeface="+mj-lt"/>
              <a:buAutoNum type="arabicPeriod"/>
            </a:pPr>
            <a:r>
              <a:rPr lang="en-US" sz="1000" dirty="0">
                <a:latin typeface="Arial" panose="020B0604020202020204" pitchFamily="34" charset="0"/>
                <a:ea typeface="Times New Roman" panose="02020603050405020304" pitchFamily="18" charset="0"/>
                <a:cs typeface="Times New Roman" panose="02020603050405020304" pitchFamily="18" charset="0"/>
              </a:rPr>
              <a:t>Select the code under the comment </a:t>
            </a:r>
            <a:r>
              <a:rPr lang="en-US" sz="1000" b="1" dirty="0">
                <a:latin typeface="Arial" panose="020B0604020202020204" pitchFamily="34" charset="0"/>
                <a:ea typeface="Times New Roman" panose="02020603050405020304" pitchFamily="18" charset="0"/>
                <a:cs typeface="Times New Roman" panose="02020603050405020304" pitchFamily="18" charset="0"/>
              </a:rPr>
              <a:t>Step 6</a:t>
            </a:r>
            <a:r>
              <a:rPr lang="en-US" sz="1000" dirty="0">
                <a:latin typeface="Arial" panose="020B0604020202020204" pitchFamily="34" charset="0"/>
                <a:ea typeface="Times New Roman" panose="02020603050405020304" pitchFamily="18" charset="0"/>
                <a:cs typeface="Times New Roman" panose="02020603050405020304" pitchFamily="18" charset="0"/>
              </a:rPr>
              <a:t>, and then click </a:t>
            </a:r>
            <a:r>
              <a:rPr lang="en-US" sz="1000" b="1" dirty="0">
                <a:latin typeface="Arial" panose="020B0604020202020204" pitchFamily="34" charset="0"/>
                <a:ea typeface="Times New Roman" panose="02020603050405020304" pitchFamily="18" charset="0"/>
                <a:cs typeface="Times New Roman" panose="02020603050405020304" pitchFamily="18" charset="0"/>
              </a:rPr>
              <a:t>Execute</a:t>
            </a:r>
            <a:r>
              <a:rPr lang="en-US" sz="1000" dirty="0">
                <a:latin typeface="Arial" panose="020B0604020202020204" pitchFamily="34" charset="0"/>
                <a:ea typeface="Times New Roman" panose="02020603050405020304" pitchFamily="18" charset="0"/>
                <a:cs typeface="Times New Roman" panose="02020603050405020304" pitchFamily="18" charset="0"/>
              </a:rPr>
              <a:t>.</a:t>
            </a:r>
            <a:endParaRPr lang="en-GB" sz="1000" dirty="0">
              <a:latin typeface="Arial" panose="020B0604020202020204" pitchFamily="34" charset="0"/>
              <a:ea typeface="Times New Roman" panose="02020603050405020304" pitchFamily="18" charset="0"/>
              <a:cs typeface="Times New Roman" panose="02020603050405020304" pitchFamily="18" charset="0"/>
            </a:endParaRPr>
          </a:p>
          <a:p>
            <a:pPr marL="342900" lvl="0" indent="-342900">
              <a:lnSpc>
                <a:spcPct val="115000"/>
              </a:lnSpc>
              <a:spcAft>
                <a:spcPts val="995"/>
              </a:spcAft>
              <a:buFont typeface="+mj-lt"/>
              <a:buAutoNum type="arabicPeriod"/>
            </a:pPr>
            <a:r>
              <a:rPr lang="en-US" sz="1000" dirty="0">
                <a:latin typeface="Arial" panose="020B0604020202020204" pitchFamily="34" charset="0"/>
                <a:ea typeface="Times New Roman" panose="02020603050405020304" pitchFamily="18" charset="0"/>
                <a:cs typeface="Times New Roman" panose="02020603050405020304" pitchFamily="18" charset="0"/>
              </a:rPr>
              <a:t>Select the code under the comment </a:t>
            </a:r>
            <a:r>
              <a:rPr lang="en-US" sz="1000" b="1" dirty="0">
                <a:latin typeface="Arial" panose="020B0604020202020204" pitchFamily="34" charset="0"/>
                <a:ea typeface="Times New Roman" panose="02020603050405020304" pitchFamily="18" charset="0"/>
                <a:cs typeface="Times New Roman" panose="02020603050405020304" pitchFamily="18" charset="0"/>
              </a:rPr>
              <a:t>Step 7</a:t>
            </a:r>
            <a:r>
              <a:rPr lang="en-US" sz="1000" dirty="0">
                <a:latin typeface="Arial" panose="020B0604020202020204" pitchFamily="34" charset="0"/>
                <a:ea typeface="Times New Roman" panose="02020603050405020304" pitchFamily="18" charset="0"/>
                <a:cs typeface="Times New Roman" panose="02020603050405020304" pitchFamily="18" charset="0"/>
              </a:rPr>
              <a:t>, and then click </a:t>
            </a:r>
            <a:r>
              <a:rPr lang="en-US" sz="1000" b="1" dirty="0">
                <a:latin typeface="Arial" panose="020B0604020202020204" pitchFamily="34" charset="0"/>
                <a:ea typeface="Times New Roman" panose="02020603050405020304" pitchFamily="18" charset="0"/>
                <a:cs typeface="Times New Roman" panose="02020603050405020304" pitchFamily="18" charset="0"/>
              </a:rPr>
              <a:t>Execute</a:t>
            </a:r>
            <a:r>
              <a:rPr lang="en-US" sz="1000" dirty="0">
                <a:latin typeface="Arial" panose="020B0604020202020204" pitchFamily="34" charset="0"/>
                <a:ea typeface="Times New Roman" panose="02020603050405020304" pitchFamily="18" charset="0"/>
                <a:cs typeface="Times New Roman" panose="02020603050405020304" pitchFamily="18" charset="0"/>
              </a:rPr>
              <a:t>.</a:t>
            </a:r>
            <a:endParaRPr lang="en-GB" sz="1000" dirty="0">
              <a:latin typeface="Arial" panose="020B0604020202020204" pitchFamily="34" charset="0"/>
              <a:ea typeface="Times New Roman" panose="02020603050405020304" pitchFamily="18" charset="0"/>
              <a:cs typeface="Times New Roman" panose="02020603050405020304" pitchFamily="18" charset="0"/>
            </a:endParaRPr>
          </a:p>
          <a:p>
            <a:pPr marL="342900" lvl="0" indent="-342900">
              <a:lnSpc>
                <a:spcPct val="115000"/>
              </a:lnSpc>
              <a:spcAft>
                <a:spcPts val="995"/>
              </a:spcAft>
              <a:buFont typeface="+mj-lt"/>
              <a:buAutoNum type="arabicPeriod"/>
            </a:pPr>
            <a:r>
              <a:rPr lang="en-US" sz="1000" dirty="0">
                <a:latin typeface="Arial" panose="020B0604020202020204" pitchFamily="34" charset="0"/>
                <a:ea typeface="Times New Roman" panose="02020603050405020304" pitchFamily="18" charset="0"/>
                <a:cs typeface="Times New Roman" panose="02020603050405020304" pitchFamily="18" charset="0"/>
              </a:rPr>
              <a:t>Select the code under the comment </a:t>
            </a:r>
            <a:r>
              <a:rPr lang="en-US" sz="1000" b="1" dirty="0">
                <a:latin typeface="Arial" panose="020B0604020202020204" pitchFamily="34" charset="0"/>
                <a:ea typeface="Times New Roman" panose="02020603050405020304" pitchFamily="18" charset="0"/>
                <a:cs typeface="Times New Roman" panose="02020603050405020304" pitchFamily="18" charset="0"/>
              </a:rPr>
              <a:t>Step 8</a:t>
            </a:r>
            <a:r>
              <a:rPr lang="en-US" sz="1000" dirty="0">
                <a:latin typeface="Arial" panose="020B0604020202020204" pitchFamily="34" charset="0"/>
                <a:ea typeface="Times New Roman" panose="02020603050405020304" pitchFamily="18" charset="0"/>
                <a:cs typeface="Times New Roman" panose="02020603050405020304" pitchFamily="18" charset="0"/>
              </a:rPr>
              <a:t>, and then click </a:t>
            </a:r>
            <a:r>
              <a:rPr lang="en-US" sz="1000" b="1" dirty="0">
                <a:latin typeface="Arial" panose="020B0604020202020204" pitchFamily="34" charset="0"/>
                <a:ea typeface="Times New Roman" panose="02020603050405020304" pitchFamily="18" charset="0"/>
                <a:cs typeface="Times New Roman" panose="02020603050405020304" pitchFamily="18" charset="0"/>
              </a:rPr>
              <a:t>Execute</a:t>
            </a:r>
            <a:r>
              <a:rPr lang="en-US" sz="1000" dirty="0">
                <a:latin typeface="Arial" panose="020B0604020202020204" pitchFamily="34" charset="0"/>
                <a:ea typeface="Times New Roman" panose="02020603050405020304" pitchFamily="18" charset="0"/>
                <a:cs typeface="Times New Roman" panose="02020603050405020304" pitchFamily="18" charset="0"/>
              </a:rPr>
              <a:t>.</a:t>
            </a:r>
            <a:endParaRPr lang="en-GB" sz="1000" dirty="0">
              <a:latin typeface="Arial" panose="020B0604020202020204" pitchFamily="34" charset="0"/>
              <a:ea typeface="Times New Roman" panose="02020603050405020304" pitchFamily="18" charset="0"/>
              <a:cs typeface="Times New Roman" panose="02020603050405020304" pitchFamily="18" charset="0"/>
            </a:endParaRPr>
          </a:p>
          <a:p>
            <a:pPr marL="342900" lvl="0" indent="-342900">
              <a:lnSpc>
                <a:spcPct val="115000"/>
              </a:lnSpc>
              <a:spcAft>
                <a:spcPts val="995"/>
              </a:spcAft>
              <a:buFont typeface="+mj-lt"/>
              <a:buAutoNum type="arabicPeriod"/>
            </a:pPr>
            <a:r>
              <a:rPr lang="en-US" sz="1000" dirty="0">
                <a:latin typeface="Arial" panose="020B0604020202020204" pitchFamily="34" charset="0"/>
                <a:ea typeface="Times New Roman" panose="02020603050405020304" pitchFamily="18" charset="0"/>
                <a:cs typeface="Times New Roman" panose="02020603050405020304" pitchFamily="18" charset="0"/>
              </a:rPr>
              <a:t>Close SQL Server Management Studio without saving any files.</a:t>
            </a:r>
            <a:endParaRPr lang="en-GB" sz="1000" dirty="0">
              <a:latin typeface="Arial" panose="020B0604020202020204" pitchFamily="34" charset="0"/>
              <a:ea typeface="Times New Roman" panose="02020603050405020304" pitchFamily="18" charset="0"/>
              <a:cs typeface="Times New Roman" panose="02020603050405020304" pitchFamily="18" charset="0"/>
            </a:endParaRPr>
          </a:p>
          <a:p>
            <a:pPr>
              <a:lnSpc>
                <a:spcPct val="107000"/>
              </a:lnSpc>
              <a:spcAft>
                <a:spcPts val="800"/>
              </a:spcAft>
            </a:pPr>
            <a:endParaRPr lang="en-GB" sz="1000" dirty="0">
              <a:effectLst/>
              <a:latin typeface="Arial" panose="020B0604020202020204" pitchFamily="34" charset="0"/>
              <a:ea typeface="Calibri" panose="020F0502020204030204" pitchFamily="34" charset="0"/>
              <a:cs typeface="Times New Roman" panose="02020603050405020304" pitchFamily="18" charset="0"/>
            </a:endParaRPr>
          </a:p>
        </p:txBody>
      </p:sp>
      <p:sp>
        <p:nvSpPr>
          <p:cNvPr id="4" name="Slide Number Placeholder 3"/>
          <p:cNvSpPr>
            <a:spLocks noGrp="1"/>
          </p:cNvSpPr>
          <p:nvPr>
            <p:ph type="sldNum" sz="quarter" idx="10"/>
          </p:nvPr>
        </p:nvSpPr>
        <p:spPr/>
        <p:txBody>
          <a:bodyPr/>
          <a:lstStyle/>
          <a:p>
            <a:fld id="{83CB4B4F-7043-45FC-8A7C-C1A834BC0C20}" type="slidenum">
              <a:rPr lang="en-GB" smtClean="0"/>
              <a:t>15</a:t>
            </a:fld>
            <a:endParaRPr lang="en-GB" dirty="0"/>
          </a:p>
        </p:txBody>
      </p:sp>
      <p:sp>
        <p:nvSpPr>
          <p:cNvPr id="5" name="Rectangle 4"/>
          <p:cNvSpPr/>
          <p:nvPr/>
        </p:nvSpPr>
        <p:spPr>
          <a:xfrm>
            <a:off x="0" y="0"/>
            <a:ext cx="3038475" cy="222250"/>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200" dirty="0" smtClean="0">
                <a:solidFill>
                  <a:srgbClr val="000000"/>
                </a:solidFill>
                <a:latin typeface="Arial" panose="020B0604020202020204" pitchFamily="34" charset="0"/>
              </a:rPr>
              <a:t>20761C</a:t>
            </a:r>
            <a:endParaRPr lang="en-GB" sz="1200" dirty="0">
              <a:solidFill>
                <a:srgbClr val="000000"/>
              </a:solidFill>
              <a:latin typeface="Arial" panose="020B0604020202020204" pitchFamily="34" charset="0"/>
            </a:endParaRPr>
          </a:p>
        </p:txBody>
      </p:sp>
      <p:sp>
        <p:nvSpPr>
          <p:cNvPr id="6" name="Rectangle 5"/>
          <p:cNvSpPr/>
          <p:nvPr/>
        </p:nvSpPr>
        <p:spPr>
          <a:xfrm>
            <a:off x="0" y="238125"/>
            <a:ext cx="3038475" cy="347663"/>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200" dirty="0" smtClean="0">
                <a:solidFill>
                  <a:srgbClr val="336699"/>
                </a:solidFill>
                <a:latin typeface="Arial" panose="020B0604020202020204" pitchFamily="34" charset="0"/>
              </a:rPr>
              <a:t>14: Pivoting and Grouping Sets</a:t>
            </a:r>
            <a:endParaRPr lang="en-GB" sz="1200" dirty="0">
              <a:solidFill>
                <a:srgbClr val="336699"/>
              </a:solidFill>
              <a:latin typeface="Arial" panose="020B0604020202020204" pitchFamily="34" charset="0"/>
            </a:endParaRPr>
          </a:p>
        </p:txBody>
      </p:sp>
      <p:sp>
        <p:nvSpPr>
          <p:cNvPr id="7" name="TextBox 6"/>
          <p:cNvSpPr txBox="1"/>
          <p:nvPr/>
        </p:nvSpPr>
        <p:spPr>
          <a:xfrm>
            <a:off x="20782" y="8869218"/>
            <a:ext cx="1997663" cy="246221"/>
          </a:xfrm>
          <a:prstGeom prst="rect">
            <a:avLst/>
          </a:prstGeom>
          <a:noFill/>
        </p:spPr>
        <p:txBody>
          <a:bodyPr vert="horz" wrap="none" rtlCol="0">
            <a:spAutoFit/>
          </a:bodyPr>
          <a:lstStyle/>
          <a:p>
            <a:r>
              <a:rPr lang="en-GB" sz="1000" dirty="0" smtClean="0">
                <a:latin typeface="Arial" panose="020B0604020202020204" pitchFamily="34" charset="0"/>
              </a:rPr>
              <a:t>(More notes on the next slide)</a:t>
            </a:r>
            <a:endParaRPr lang="en-GB" sz="1000" dirty="0">
              <a:latin typeface="Arial" panose="020B0604020202020204" pitchFamily="34" charset="0"/>
            </a:endParaRPr>
          </a:p>
        </p:txBody>
      </p:sp>
    </p:spTree>
    <p:extLst>
      <p:ext uri="{BB962C8B-B14F-4D97-AF65-F5344CB8AC3E}">
        <p14:creationId xmlns:p14="http://schemas.microsoft.com/office/powerpoint/2010/main" val="54944680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112" y="73152"/>
            <a:ext cx="2468880" cy="1851660"/>
          </a:xfrm>
        </p:spPr>
      </p:sp>
      <p:sp>
        <p:nvSpPr>
          <p:cNvPr id="3" name="Notes Placeholder 2"/>
          <p:cNvSpPr>
            <a:spLocks noGrp="1"/>
          </p:cNvSpPr>
          <p:nvPr>
            <p:ph type="body" idx="1"/>
          </p:nvPr>
        </p:nvSpPr>
        <p:spPr>
          <a:xfrm>
            <a:off x="310896" y="2093976"/>
            <a:ext cx="6153912" cy="6604000"/>
          </a:xfrm>
        </p:spPr>
        <p:txBody>
          <a:bodyPr>
            <a:noAutofit/>
          </a:bodyPr>
          <a:lstStyle/>
          <a:p>
            <a:pPr>
              <a:lnSpc>
                <a:spcPct val="107000"/>
              </a:lnSpc>
              <a:spcAft>
                <a:spcPts val="800"/>
              </a:spcAft>
            </a:pPr>
            <a:r>
              <a:rPr lang="en-GB" sz="1000" b="1" dirty="0">
                <a:latin typeface="Arial" panose="020B0604020202020204" pitchFamily="34" charset="0"/>
                <a:ea typeface="Calibri" panose="020F0502020204030204" pitchFamily="34" charset="0"/>
                <a:cs typeface="Times New Roman" panose="02020603050405020304" pitchFamily="18" charset="0"/>
              </a:rPr>
              <a:t>Question</a:t>
            </a:r>
            <a:endParaRPr lang="en-GB" sz="1000" dirty="0">
              <a:latin typeface="Arial" panose="020B060402020202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GB" sz="1000" dirty="0">
                <a:latin typeface="Arial" panose="020B0604020202020204" pitchFamily="34" charset="0"/>
                <a:ea typeface="Calibri" panose="020F0502020204030204" pitchFamily="34" charset="0"/>
                <a:cs typeface="Times New Roman" panose="02020603050405020304" pitchFamily="18" charset="0"/>
              </a:rPr>
              <a:t>You have the following query:</a:t>
            </a:r>
          </a:p>
          <a:p>
            <a:pPr>
              <a:lnSpc>
                <a:spcPct val="107000"/>
              </a:lnSpc>
              <a:spcAft>
                <a:spcPts val="800"/>
              </a:spcAft>
            </a:pPr>
            <a:r>
              <a:rPr lang="en-GB" sz="1000" dirty="0">
                <a:latin typeface="Arial" panose="020B0604020202020204" pitchFamily="34" charset="0"/>
                <a:ea typeface="Calibri" panose="020F0502020204030204" pitchFamily="34" charset="0"/>
                <a:cs typeface="Times New Roman" panose="02020603050405020304" pitchFamily="18" charset="0"/>
              </a:rPr>
              <a:t>SELECT e.Department, e.Country, COUNT(EmployeeID) AS Staff</a:t>
            </a:r>
          </a:p>
          <a:p>
            <a:pPr>
              <a:lnSpc>
                <a:spcPct val="107000"/>
              </a:lnSpc>
              <a:spcAft>
                <a:spcPts val="800"/>
              </a:spcAft>
            </a:pPr>
            <a:r>
              <a:rPr lang="en-GB" sz="1000" dirty="0">
                <a:latin typeface="Arial" panose="020B0604020202020204" pitchFamily="34" charset="0"/>
                <a:ea typeface="Calibri" panose="020F0502020204030204" pitchFamily="34" charset="0"/>
                <a:cs typeface="Times New Roman" panose="02020603050405020304" pitchFamily="18" charset="0"/>
              </a:rPr>
              <a:t>FROM HumanResources.Employees AS e</a:t>
            </a:r>
          </a:p>
          <a:p>
            <a:pPr>
              <a:lnSpc>
                <a:spcPct val="107000"/>
              </a:lnSpc>
              <a:spcAft>
                <a:spcPts val="800"/>
              </a:spcAft>
            </a:pPr>
            <a:r>
              <a:rPr lang="en-GB" sz="1000" dirty="0">
                <a:latin typeface="Arial" panose="020B0604020202020204" pitchFamily="34" charset="0"/>
                <a:ea typeface="Calibri" panose="020F0502020204030204" pitchFamily="34" charset="0"/>
                <a:cs typeface="Times New Roman" panose="02020603050405020304" pitchFamily="18" charset="0"/>
              </a:rPr>
              <a:t>You want to find out how many staff are in each country and how many staff are in each department. You also want to find out how many staff are in Sales in the US, and so on, with all departments in all countries where the company operates. Choose the most succinct grouping technique for this query:</a:t>
            </a:r>
          </a:p>
          <a:p>
            <a:pPr>
              <a:lnSpc>
                <a:spcPct val="107000"/>
              </a:lnSpc>
              <a:spcAft>
                <a:spcPts val="800"/>
              </a:spcAft>
            </a:pPr>
            <a:r>
              <a:rPr lang="en-GB" sz="1000" dirty="0">
                <a:latin typeface="Arial" panose="020B0604020202020204" pitchFamily="34" charset="0"/>
                <a:ea typeface="Calibri" panose="020F0502020204030204" pitchFamily="34" charset="0"/>
                <a:cs typeface="Times New Roman" panose="02020603050405020304" pitchFamily="18" charset="0"/>
              </a:rPr>
              <a:t>(   )Option 1: GROUPING SETS</a:t>
            </a:r>
          </a:p>
          <a:p>
            <a:pPr>
              <a:lnSpc>
                <a:spcPct val="107000"/>
              </a:lnSpc>
              <a:spcAft>
                <a:spcPts val="800"/>
              </a:spcAft>
            </a:pPr>
            <a:r>
              <a:rPr lang="en-GB" sz="1000" dirty="0">
                <a:latin typeface="Arial" panose="020B0604020202020204" pitchFamily="34" charset="0"/>
                <a:ea typeface="Calibri" panose="020F0502020204030204" pitchFamily="34" charset="0"/>
                <a:cs typeface="Times New Roman" panose="02020603050405020304" pitchFamily="18" charset="0"/>
              </a:rPr>
              <a:t>(   )Option 2: CUBE</a:t>
            </a:r>
          </a:p>
          <a:p>
            <a:pPr>
              <a:lnSpc>
                <a:spcPct val="107000"/>
              </a:lnSpc>
              <a:spcAft>
                <a:spcPts val="800"/>
              </a:spcAft>
            </a:pPr>
            <a:r>
              <a:rPr lang="en-GB" sz="1000" dirty="0">
                <a:latin typeface="Arial" panose="020B0604020202020204" pitchFamily="34" charset="0"/>
                <a:ea typeface="Calibri" panose="020F0502020204030204" pitchFamily="34" charset="0"/>
                <a:cs typeface="Times New Roman" panose="02020603050405020304" pitchFamily="18" charset="0"/>
              </a:rPr>
              <a:t>(   )Option 3: ROLLUP</a:t>
            </a:r>
          </a:p>
          <a:p>
            <a:pPr lvl="0">
              <a:lnSpc>
                <a:spcPct val="107000"/>
              </a:lnSpc>
              <a:spcAft>
                <a:spcPts val="800"/>
              </a:spcAft>
            </a:pPr>
            <a:r>
              <a:rPr lang="en-GB" sz="1000" dirty="0" smtClean="0">
                <a:solidFill>
                  <a:prstClr val="black"/>
                </a:solidFill>
                <a:latin typeface="Arial" panose="020B0604020202020204" pitchFamily="34" charset="0"/>
                <a:ea typeface="Calibri" panose="020F0502020204030204" pitchFamily="34" charset="0"/>
                <a:cs typeface="Times New Roman" panose="02020603050405020304" pitchFamily="18" charset="0"/>
              </a:rPr>
              <a:t>(   </a:t>
            </a:r>
            <a:r>
              <a:rPr lang="en-GB" sz="1000" dirty="0">
                <a:solidFill>
                  <a:prstClr val="black"/>
                </a:solidFill>
                <a:latin typeface="Arial" panose="020B0604020202020204" pitchFamily="34" charset="0"/>
                <a:ea typeface="Calibri" panose="020F0502020204030204" pitchFamily="34" charset="0"/>
                <a:cs typeface="Times New Roman" panose="02020603050405020304" pitchFamily="18" charset="0"/>
              </a:rPr>
              <a:t>)Option 4: You cannot return the required data with GROUPING. Instead, use multiple queries and a UNION element.</a:t>
            </a:r>
          </a:p>
          <a:p>
            <a:pPr lvl="0">
              <a:lnSpc>
                <a:spcPct val="107000"/>
              </a:lnSpc>
              <a:spcAft>
                <a:spcPts val="800"/>
              </a:spcAft>
            </a:pPr>
            <a:r>
              <a:rPr lang="en-GB" sz="1000" b="1" dirty="0">
                <a:solidFill>
                  <a:prstClr val="black"/>
                </a:solidFill>
                <a:latin typeface="Arial" panose="020B0604020202020204" pitchFamily="34" charset="0"/>
                <a:ea typeface="Calibri" panose="020F0502020204030204" pitchFamily="34" charset="0"/>
                <a:cs typeface="Times New Roman" panose="02020603050405020304" pitchFamily="18" charset="0"/>
              </a:rPr>
              <a:t>Answer</a:t>
            </a:r>
            <a:endParaRPr lang="en-GB" sz="1000" dirty="0">
              <a:solidFill>
                <a:prstClr val="black"/>
              </a:solidFill>
              <a:latin typeface="Arial" panose="020B0604020202020204" pitchFamily="34" charset="0"/>
              <a:ea typeface="Calibri" panose="020F0502020204030204" pitchFamily="34" charset="0"/>
              <a:cs typeface="Times New Roman" panose="02020603050405020304" pitchFamily="18" charset="0"/>
            </a:endParaRPr>
          </a:p>
          <a:p>
            <a:pPr lvl="0">
              <a:lnSpc>
                <a:spcPct val="107000"/>
              </a:lnSpc>
              <a:spcAft>
                <a:spcPts val="800"/>
              </a:spcAft>
            </a:pPr>
            <a:r>
              <a:rPr lang="en-GB" sz="1000" dirty="0">
                <a:solidFill>
                  <a:prstClr val="black"/>
                </a:solidFill>
                <a:latin typeface="Arial" panose="020B0604020202020204" pitchFamily="34" charset="0"/>
                <a:ea typeface="Calibri" panose="020F0502020204030204" pitchFamily="34" charset="0"/>
                <a:cs typeface="Times New Roman" panose="02020603050405020304" pitchFamily="18" charset="0"/>
              </a:rPr>
              <a:t>(√) Option 2: CUBE</a:t>
            </a:r>
            <a:endParaRPr lang="en-GB" dirty="0"/>
          </a:p>
        </p:txBody>
      </p:sp>
      <p:sp>
        <p:nvSpPr>
          <p:cNvPr id="4" name="Slide Number Placeholder 3"/>
          <p:cNvSpPr>
            <a:spLocks noGrp="1"/>
          </p:cNvSpPr>
          <p:nvPr>
            <p:ph type="sldNum" sz="quarter" idx="10"/>
          </p:nvPr>
        </p:nvSpPr>
        <p:spPr/>
        <p:txBody>
          <a:bodyPr/>
          <a:lstStyle/>
          <a:p>
            <a:fld id="{83CB4B4F-7043-45FC-8A7C-C1A834BC0C20}" type="slidenum">
              <a:rPr lang="en-GB" smtClean="0"/>
              <a:t>16</a:t>
            </a:fld>
            <a:endParaRPr lang="en-GB" dirty="0"/>
          </a:p>
        </p:txBody>
      </p:sp>
      <p:sp>
        <p:nvSpPr>
          <p:cNvPr id="5" name="Rectangle 4"/>
          <p:cNvSpPr/>
          <p:nvPr/>
        </p:nvSpPr>
        <p:spPr>
          <a:xfrm>
            <a:off x="0" y="0"/>
            <a:ext cx="3038475" cy="222250"/>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200" dirty="0" smtClean="0">
                <a:solidFill>
                  <a:srgbClr val="000000"/>
                </a:solidFill>
                <a:latin typeface="Arial" panose="020B0604020202020204" pitchFamily="34" charset="0"/>
              </a:rPr>
              <a:t>20761C</a:t>
            </a:r>
            <a:endParaRPr lang="en-GB" sz="1200" dirty="0">
              <a:solidFill>
                <a:srgbClr val="000000"/>
              </a:solidFill>
              <a:latin typeface="Arial" panose="020B0604020202020204" pitchFamily="34" charset="0"/>
            </a:endParaRPr>
          </a:p>
        </p:txBody>
      </p:sp>
      <p:sp>
        <p:nvSpPr>
          <p:cNvPr id="6" name="Rectangle 5"/>
          <p:cNvSpPr/>
          <p:nvPr/>
        </p:nvSpPr>
        <p:spPr>
          <a:xfrm>
            <a:off x="0" y="238125"/>
            <a:ext cx="3038475" cy="347663"/>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200" dirty="0" smtClean="0">
                <a:solidFill>
                  <a:srgbClr val="336699"/>
                </a:solidFill>
                <a:latin typeface="Arial" panose="020B0604020202020204" pitchFamily="34" charset="0"/>
              </a:rPr>
              <a:t>14: Pivoting and Grouping Sets</a:t>
            </a:r>
            <a:endParaRPr lang="en-GB" sz="1200" dirty="0">
              <a:solidFill>
                <a:srgbClr val="336699"/>
              </a:solidFill>
              <a:latin typeface="Arial" panose="020B0604020202020204" pitchFamily="34" charset="0"/>
            </a:endParaRPr>
          </a:p>
        </p:txBody>
      </p:sp>
    </p:spTree>
    <p:extLst>
      <p:ext uri="{BB962C8B-B14F-4D97-AF65-F5344CB8AC3E}">
        <p14:creationId xmlns:p14="http://schemas.microsoft.com/office/powerpoint/2010/main" val="424570573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938" y="73025"/>
            <a:ext cx="2466975" cy="1851025"/>
          </a:xfrm>
        </p:spPr>
      </p:sp>
      <p:sp>
        <p:nvSpPr>
          <p:cNvPr id="3" name="Notes Placeholder 2"/>
          <p:cNvSpPr>
            <a:spLocks noGrp="1"/>
          </p:cNvSpPr>
          <p:nvPr>
            <p:ph type="body" idx="1"/>
          </p:nvPr>
        </p:nvSpPr>
        <p:spPr>
          <a:xfrm>
            <a:off x="310896" y="2093975"/>
            <a:ext cx="6153912" cy="6604000"/>
          </a:xfrm>
        </p:spPr>
        <p:txBody>
          <a:bodyPr>
            <a:noAutofit/>
          </a:bodyPr>
          <a:lstStyle/>
          <a:p>
            <a:pPr>
              <a:lnSpc>
                <a:spcPct val="107000"/>
              </a:lnSpc>
              <a:spcAft>
                <a:spcPts val="800"/>
              </a:spcAft>
            </a:pPr>
            <a:r>
              <a:rPr lang="en-GB" sz="1000" dirty="0">
                <a:latin typeface="Arial" panose="020B0604020202020204" pitchFamily="34" charset="0"/>
                <a:ea typeface="Calibri" panose="020F0502020204030204" pitchFamily="34" charset="0"/>
                <a:cs typeface="Times New Roman" panose="02020603050405020304" pitchFamily="18" charset="0"/>
              </a:rPr>
              <a:t>Important: when comparing your results with the provided sample outputs, the column ordering and total number of affected rows should always match. However, remember that the order of the rows in the output of a query without an ORDER BY clause is not guaranteed. Therefore, the order of the rows in the sample outputs may be different to yours. Also, the answer outputs include abbreviated results.</a:t>
            </a:r>
          </a:p>
          <a:p>
            <a:pPr>
              <a:lnSpc>
                <a:spcPct val="107000"/>
              </a:lnSpc>
              <a:spcAft>
                <a:spcPts val="800"/>
              </a:spcAft>
            </a:pPr>
            <a:r>
              <a:rPr lang="en-GB" sz="1000" dirty="0">
                <a:solidFill>
                  <a:srgbClr val="000000"/>
                </a:solidFill>
                <a:latin typeface="Arial" panose="020B0604020202020204" pitchFamily="34" charset="0"/>
                <a:ea typeface="Calibri" panose="020F0502020204030204" pitchFamily="34" charset="0"/>
                <a:cs typeface="Times New Roman" panose="02020603050405020304" pitchFamily="18" charset="0"/>
              </a:rPr>
              <a:t>Exercise 1: Writing Queries That Use the PIVOT </a:t>
            </a:r>
            <a:r>
              <a:rPr lang="en-GB" sz="1000" dirty="0" smtClean="0">
                <a:solidFill>
                  <a:srgbClr val="000000"/>
                </a:solidFill>
                <a:latin typeface="Arial" panose="020B0604020202020204" pitchFamily="34" charset="0"/>
                <a:ea typeface="Calibri" panose="020F0502020204030204" pitchFamily="34" charset="0"/>
                <a:cs typeface="Times New Roman" panose="02020603050405020304" pitchFamily="18" charset="0"/>
              </a:rPr>
              <a:t>Operator</a:t>
            </a:r>
          </a:p>
          <a:p>
            <a:pPr>
              <a:lnSpc>
                <a:spcPct val="107000"/>
              </a:lnSpc>
              <a:spcAft>
                <a:spcPts val="800"/>
              </a:spcAft>
            </a:pPr>
            <a:r>
              <a:rPr lang="en-GB" sz="1000" dirty="0" smtClean="0">
                <a:latin typeface="Arial" panose="020B0604020202020204" pitchFamily="34" charset="0"/>
                <a:ea typeface="Calibri" panose="020F0502020204030204" pitchFamily="34" charset="0"/>
                <a:cs typeface="Times New Roman" panose="02020603050405020304" pitchFamily="18" charset="0"/>
              </a:rPr>
              <a:t>The </a:t>
            </a:r>
            <a:r>
              <a:rPr lang="en-GB" sz="1000" dirty="0">
                <a:latin typeface="Arial" panose="020B0604020202020204" pitchFamily="34" charset="0"/>
                <a:ea typeface="Calibri" panose="020F0502020204030204" pitchFamily="34" charset="0"/>
                <a:cs typeface="Times New Roman" panose="02020603050405020304" pitchFamily="18" charset="0"/>
              </a:rPr>
              <a:t>sales department would like to have a crosstab report, displaying the number of customers for each customer group and country. They would like to display each customer group as a new column. You will write different SELECT statements using the PIVOT operator to achieve the required result.</a:t>
            </a:r>
          </a:p>
          <a:p>
            <a:pPr>
              <a:lnSpc>
                <a:spcPct val="107000"/>
              </a:lnSpc>
              <a:spcAft>
                <a:spcPts val="800"/>
              </a:spcAft>
            </a:pPr>
            <a:r>
              <a:rPr lang="en-GB" sz="1000" dirty="0">
                <a:solidFill>
                  <a:srgbClr val="000000"/>
                </a:solidFill>
                <a:latin typeface="Arial" panose="020B0604020202020204" pitchFamily="34" charset="0"/>
                <a:ea typeface="Calibri" panose="020F0502020204030204" pitchFamily="34" charset="0"/>
                <a:cs typeface="Times New Roman" panose="02020603050405020304" pitchFamily="18" charset="0"/>
              </a:rPr>
              <a:t>Exercise 2: Writing Queries That Use the UNPIVOT </a:t>
            </a:r>
            <a:r>
              <a:rPr lang="en-GB" sz="1000" dirty="0" smtClean="0">
                <a:solidFill>
                  <a:srgbClr val="000000"/>
                </a:solidFill>
                <a:latin typeface="Arial" panose="020B0604020202020204" pitchFamily="34" charset="0"/>
                <a:ea typeface="Calibri" panose="020F0502020204030204" pitchFamily="34" charset="0"/>
                <a:cs typeface="Times New Roman" panose="02020603050405020304" pitchFamily="18" charset="0"/>
              </a:rPr>
              <a:t>Operator</a:t>
            </a:r>
          </a:p>
          <a:p>
            <a:pPr>
              <a:lnSpc>
                <a:spcPct val="107000"/>
              </a:lnSpc>
              <a:spcAft>
                <a:spcPts val="800"/>
              </a:spcAft>
            </a:pPr>
            <a:r>
              <a:rPr lang="en-GB" sz="1000" dirty="0" smtClean="0">
                <a:latin typeface="Arial" panose="020B0604020202020204" pitchFamily="34" charset="0"/>
                <a:ea typeface="Calibri" panose="020F0502020204030204" pitchFamily="34" charset="0"/>
                <a:cs typeface="Times New Roman" panose="02020603050405020304" pitchFamily="18" charset="0"/>
              </a:rPr>
              <a:t>You </a:t>
            </a:r>
            <a:r>
              <a:rPr lang="en-GB" sz="1000" dirty="0">
                <a:latin typeface="Arial" panose="020B0604020202020204" pitchFamily="34" charset="0"/>
                <a:ea typeface="Calibri" panose="020F0502020204030204" pitchFamily="34" charset="0"/>
                <a:cs typeface="Times New Roman" panose="02020603050405020304" pitchFamily="18" charset="0"/>
              </a:rPr>
              <a:t>will now create multiple rows by turning columns into rows.</a:t>
            </a:r>
          </a:p>
          <a:p>
            <a:pPr>
              <a:lnSpc>
                <a:spcPct val="107000"/>
              </a:lnSpc>
              <a:spcAft>
                <a:spcPts val="800"/>
              </a:spcAft>
            </a:pPr>
            <a:r>
              <a:rPr lang="en-GB" sz="1000" dirty="0">
                <a:solidFill>
                  <a:srgbClr val="000000"/>
                </a:solidFill>
                <a:latin typeface="Arial" panose="020B0604020202020204" pitchFamily="34" charset="0"/>
                <a:ea typeface="Calibri" panose="020F0502020204030204" pitchFamily="34" charset="0"/>
                <a:cs typeface="Times New Roman" panose="02020603050405020304" pitchFamily="18" charset="0"/>
              </a:rPr>
              <a:t>Exercise 3: Writing Queries That Use the GROUPING SETS, CUBE, and ROLLUP </a:t>
            </a:r>
            <a:r>
              <a:rPr lang="en-GB" sz="1000" dirty="0" smtClean="0">
                <a:solidFill>
                  <a:srgbClr val="000000"/>
                </a:solidFill>
                <a:latin typeface="Arial" panose="020B0604020202020204" pitchFamily="34" charset="0"/>
                <a:ea typeface="Calibri" panose="020F0502020204030204" pitchFamily="34" charset="0"/>
                <a:cs typeface="Times New Roman" panose="02020603050405020304" pitchFamily="18" charset="0"/>
              </a:rPr>
              <a:t>Subclauses</a:t>
            </a:r>
          </a:p>
          <a:p>
            <a:pPr>
              <a:lnSpc>
                <a:spcPct val="107000"/>
              </a:lnSpc>
              <a:spcAft>
                <a:spcPts val="800"/>
              </a:spcAft>
            </a:pPr>
            <a:r>
              <a:rPr lang="en-GB" sz="1000" dirty="0" smtClean="0">
                <a:latin typeface="Arial" panose="020B0604020202020204" pitchFamily="34" charset="0"/>
                <a:ea typeface="Calibri" panose="020F0502020204030204" pitchFamily="34" charset="0"/>
                <a:cs typeface="Times New Roman" panose="02020603050405020304" pitchFamily="18" charset="0"/>
              </a:rPr>
              <a:t>You </a:t>
            </a:r>
            <a:r>
              <a:rPr lang="en-GB" sz="1000" dirty="0">
                <a:latin typeface="Arial" panose="020B0604020202020204" pitchFamily="34" charset="0"/>
                <a:ea typeface="Calibri" panose="020F0502020204030204" pitchFamily="34" charset="0"/>
                <a:cs typeface="Times New Roman" panose="02020603050405020304" pitchFamily="18" charset="0"/>
              </a:rPr>
              <a:t>have to prepare SELECT statements to retrieve a unified result set with aggregated data for different combinations of columns. First, you have to retrieve the number of customers for all possible combinations of the country and city columns. Instead of using multiple T-SQL statements with a GROUP BY clause and then unifying them with the UNION ALL operator, you will use a more elegant solution using the GROUPING SETS subclause of the GROUP BY clause.</a:t>
            </a:r>
          </a:p>
        </p:txBody>
      </p:sp>
      <p:sp>
        <p:nvSpPr>
          <p:cNvPr id="4" name="Slide Number Placeholder 3"/>
          <p:cNvSpPr>
            <a:spLocks noGrp="1"/>
          </p:cNvSpPr>
          <p:nvPr>
            <p:ph type="sldNum" sz="quarter" idx="10"/>
          </p:nvPr>
        </p:nvSpPr>
        <p:spPr/>
        <p:txBody>
          <a:bodyPr/>
          <a:lstStyle/>
          <a:p>
            <a:fld id="{83CB4B4F-7043-45FC-8A7C-C1A834BC0C20}" type="slidenum">
              <a:rPr lang="en-GB" smtClean="0"/>
              <a:t>17</a:t>
            </a:fld>
            <a:endParaRPr lang="en-GB" dirty="0"/>
          </a:p>
        </p:txBody>
      </p:sp>
      <p:sp>
        <p:nvSpPr>
          <p:cNvPr id="5" name="Rectangle 4"/>
          <p:cNvSpPr/>
          <p:nvPr/>
        </p:nvSpPr>
        <p:spPr>
          <a:xfrm>
            <a:off x="0" y="0"/>
            <a:ext cx="3038475" cy="222250"/>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200" dirty="0" smtClean="0">
                <a:solidFill>
                  <a:srgbClr val="000000"/>
                </a:solidFill>
                <a:latin typeface="Arial" panose="020B0604020202020204" pitchFamily="34" charset="0"/>
              </a:rPr>
              <a:t>20761C</a:t>
            </a:r>
            <a:endParaRPr lang="en-GB" sz="1200" dirty="0">
              <a:solidFill>
                <a:srgbClr val="000000"/>
              </a:solidFill>
              <a:latin typeface="Arial" panose="020B0604020202020204" pitchFamily="34" charset="0"/>
            </a:endParaRPr>
          </a:p>
        </p:txBody>
      </p:sp>
      <p:sp>
        <p:nvSpPr>
          <p:cNvPr id="6" name="Rectangle 5"/>
          <p:cNvSpPr/>
          <p:nvPr/>
        </p:nvSpPr>
        <p:spPr>
          <a:xfrm>
            <a:off x="0" y="238125"/>
            <a:ext cx="3038475" cy="347663"/>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200" dirty="0" smtClean="0">
                <a:solidFill>
                  <a:srgbClr val="336699"/>
                </a:solidFill>
                <a:latin typeface="Arial" panose="020B0604020202020204" pitchFamily="34" charset="0"/>
              </a:rPr>
              <a:t>14: Pivoting and Grouping Sets</a:t>
            </a:r>
            <a:endParaRPr lang="en-GB" sz="1200" dirty="0">
              <a:solidFill>
                <a:srgbClr val="336699"/>
              </a:solidFill>
              <a:latin typeface="Arial" panose="020B0604020202020204" pitchFamily="34" charset="0"/>
            </a:endParaRPr>
          </a:p>
        </p:txBody>
      </p:sp>
    </p:spTree>
    <p:extLst>
      <p:ext uri="{BB962C8B-B14F-4D97-AF65-F5344CB8AC3E}">
        <p14:creationId xmlns:p14="http://schemas.microsoft.com/office/powerpoint/2010/main" val="264616778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938" y="73025"/>
            <a:ext cx="2466975" cy="1851025"/>
          </a:xfrm>
        </p:spPr>
      </p:sp>
      <p:sp>
        <p:nvSpPr>
          <p:cNvPr id="3" name="Notes Placeholder 2"/>
          <p:cNvSpPr>
            <a:spLocks noGrp="1"/>
          </p:cNvSpPr>
          <p:nvPr>
            <p:ph type="body" idx="1"/>
          </p:nvPr>
        </p:nvSpPr>
        <p:spPr>
          <a:xfrm>
            <a:off x="310896" y="2093975"/>
            <a:ext cx="6153912" cy="6604000"/>
          </a:xfrm>
        </p:spPr>
        <p:txBody>
          <a:bodyPr>
            <a:noAutofit/>
          </a:bodyPr>
          <a:lstStyle/>
          <a:p>
            <a:endParaRPr lang="en-GB" dirty="0"/>
          </a:p>
        </p:txBody>
      </p:sp>
      <p:sp>
        <p:nvSpPr>
          <p:cNvPr id="4" name="Slide Number Placeholder 3"/>
          <p:cNvSpPr>
            <a:spLocks noGrp="1"/>
          </p:cNvSpPr>
          <p:nvPr>
            <p:ph type="sldNum" sz="quarter" idx="10"/>
          </p:nvPr>
        </p:nvSpPr>
        <p:spPr/>
        <p:txBody>
          <a:bodyPr/>
          <a:lstStyle/>
          <a:p>
            <a:fld id="{83CB4B4F-7043-45FC-8A7C-C1A834BC0C20}" type="slidenum">
              <a:rPr lang="en-GB" smtClean="0"/>
              <a:t>18</a:t>
            </a:fld>
            <a:endParaRPr lang="en-GB" dirty="0"/>
          </a:p>
        </p:txBody>
      </p:sp>
      <p:sp>
        <p:nvSpPr>
          <p:cNvPr id="5" name="Rectangle 4"/>
          <p:cNvSpPr/>
          <p:nvPr/>
        </p:nvSpPr>
        <p:spPr>
          <a:xfrm>
            <a:off x="0" y="0"/>
            <a:ext cx="3038475" cy="222250"/>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200" dirty="0" smtClean="0">
                <a:solidFill>
                  <a:srgbClr val="000000"/>
                </a:solidFill>
                <a:latin typeface="Arial" panose="020B0604020202020204" pitchFamily="34" charset="0"/>
              </a:rPr>
              <a:t>20761C</a:t>
            </a:r>
            <a:endParaRPr lang="en-GB" sz="1200" dirty="0">
              <a:solidFill>
                <a:srgbClr val="000000"/>
              </a:solidFill>
              <a:latin typeface="Arial" panose="020B0604020202020204" pitchFamily="34" charset="0"/>
            </a:endParaRPr>
          </a:p>
        </p:txBody>
      </p:sp>
      <p:sp>
        <p:nvSpPr>
          <p:cNvPr id="6" name="Rectangle 5"/>
          <p:cNvSpPr/>
          <p:nvPr/>
        </p:nvSpPr>
        <p:spPr>
          <a:xfrm>
            <a:off x="0" y="238125"/>
            <a:ext cx="3038475" cy="347663"/>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200" dirty="0" smtClean="0">
                <a:solidFill>
                  <a:srgbClr val="336699"/>
                </a:solidFill>
                <a:latin typeface="Arial" panose="020B0604020202020204" pitchFamily="34" charset="0"/>
              </a:rPr>
              <a:t>14: Pivoting and Grouping Sets</a:t>
            </a:r>
            <a:endParaRPr lang="en-GB" sz="1200" dirty="0">
              <a:solidFill>
                <a:srgbClr val="336699"/>
              </a:solidFill>
              <a:latin typeface="Arial" panose="020B0604020202020204" pitchFamily="34" charset="0"/>
            </a:endParaRPr>
          </a:p>
        </p:txBody>
      </p:sp>
    </p:spTree>
    <p:extLst>
      <p:ext uri="{BB962C8B-B14F-4D97-AF65-F5344CB8AC3E}">
        <p14:creationId xmlns:p14="http://schemas.microsoft.com/office/powerpoint/2010/main" val="374427668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112" y="73152"/>
            <a:ext cx="2468880" cy="1851660"/>
          </a:xfrm>
        </p:spPr>
      </p:sp>
      <p:sp>
        <p:nvSpPr>
          <p:cNvPr id="3" name="Notes Placeholder 2"/>
          <p:cNvSpPr>
            <a:spLocks noGrp="1"/>
          </p:cNvSpPr>
          <p:nvPr>
            <p:ph type="body" idx="1"/>
          </p:nvPr>
        </p:nvSpPr>
        <p:spPr>
          <a:xfrm>
            <a:off x="310896" y="2093976"/>
            <a:ext cx="6153912" cy="6604000"/>
          </a:xfrm>
        </p:spPr>
        <p:txBody>
          <a:bodyPr>
            <a:noAutofit/>
          </a:bodyPr>
          <a:lstStyle/>
          <a:p>
            <a:pPr>
              <a:lnSpc>
                <a:spcPct val="107000"/>
              </a:lnSpc>
              <a:spcAft>
                <a:spcPts val="800"/>
              </a:spcAft>
            </a:pPr>
            <a:r>
              <a:rPr lang="en-GB" sz="1000" b="1" dirty="0">
                <a:latin typeface="Arial" panose="020B0604020202020204" pitchFamily="34" charset="0"/>
                <a:ea typeface="Calibri" panose="020F0502020204030204" pitchFamily="34" charset="0"/>
                <a:cs typeface="Times New Roman" panose="02020603050405020304" pitchFamily="18" charset="0"/>
              </a:rPr>
              <a:t>Review Question(s)</a:t>
            </a:r>
            <a:endParaRPr lang="en-GB" sz="1000" dirty="0">
              <a:latin typeface="Arial" panose="020B060402020202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GB" sz="1000" b="1" dirty="0">
                <a:latin typeface="Arial" panose="020B0604020202020204" pitchFamily="34" charset="0"/>
                <a:ea typeface="Calibri" panose="020F0502020204030204" pitchFamily="34" charset="0"/>
                <a:cs typeface="Times New Roman" panose="02020603050405020304" pitchFamily="18" charset="0"/>
              </a:rPr>
              <a:t>Question</a:t>
            </a:r>
            <a:endParaRPr lang="en-GB" sz="1000" dirty="0">
              <a:latin typeface="Arial" panose="020B060402020202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GB" sz="1000" dirty="0">
                <a:latin typeface="Arial" panose="020B0604020202020204" pitchFamily="34" charset="0"/>
                <a:ea typeface="Calibri" panose="020F0502020204030204" pitchFamily="34" charset="0"/>
                <a:cs typeface="Times New Roman" panose="02020603050405020304" pitchFamily="18" charset="0"/>
              </a:rPr>
              <a:t>Once a dataset has been pivoted with aggregation, can the original detail rows be restored with an unpivot operation?</a:t>
            </a:r>
          </a:p>
          <a:p>
            <a:pPr>
              <a:lnSpc>
                <a:spcPct val="107000"/>
              </a:lnSpc>
              <a:spcAft>
                <a:spcPts val="800"/>
              </a:spcAft>
            </a:pPr>
            <a:r>
              <a:rPr lang="en-GB" sz="1000" b="1" dirty="0">
                <a:latin typeface="Arial" panose="020B0604020202020204" pitchFamily="34" charset="0"/>
                <a:ea typeface="Calibri" panose="020F0502020204030204" pitchFamily="34" charset="0"/>
                <a:cs typeface="Times New Roman" panose="02020603050405020304" pitchFamily="18" charset="0"/>
              </a:rPr>
              <a:t>Answer</a:t>
            </a:r>
            <a:endParaRPr lang="en-GB" sz="1000" dirty="0">
              <a:latin typeface="Arial" panose="020B060402020202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GB" sz="1000" dirty="0">
                <a:latin typeface="Arial" panose="020B0604020202020204" pitchFamily="34" charset="0"/>
                <a:ea typeface="Calibri" panose="020F0502020204030204" pitchFamily="34" charset="0"/>
                <a:cs typeface="Times New Roman" panose="02020603050405020304" pitchFamily="18" charset="0"/>
              </a:rPr>
              <a:t>No, the original detail is lost during aggregation.</a:t>
            </a:r>
          </a:p>
          <a:p>
            <a:pPr>
              <a:lnSpc>
                <a:spcPct val="107000"/>
              </a:lnSpc>
              <a:spcAft>
                <a:spcPts val="800"/>
              </a:spcAft>
            </a:pPr>
            <a:r>
              <a:rPr lang="en-GB" sz="1000" b="1" dirty="0">
                <a:latin typeface="Arial" panose="020B0604020202020204" pitchFamily="34" charset="0"/>
                <a:ea typeface="Calibri" panose="020F0502020204030204" pitchFamily="34" charset="0"/>
                <a:cs typeface="Times New Roman" panose="02020603050405020304" pitchFamily="18" charset="0"/>
              </a:rPr>
              <a:t>Question</a:t>
            </a:r>
            <a:endParaRPr lang="en-GB" sz="1000" dirty="0">
              <a:latin typeface="Arial" panose="020B060402020202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GB" sz="1000" dirty="0">
                <a:latin typeface="Arial" panose="020B0604020202020204" pitchFamily="34" charset="0"/>
                <a:ea typeface="Calibri" panose="020F0502020204030204" pitchFamily="34" charset="0"/>
                <a:cs typeface="Times New Roman" panose="02020603050405020304" pitchFamily="18" charset="0"/>
              </a:rPr>
              <a:t>What are the possible sources of NULLs returned by a query using grouping sets to create aggregations?  </a:t>
            </a:r>
          </a:p>
          <a:p>
            <a:pPr>
              <a:lnSpc>
                <a:spcPct val="107000"/>
              </a:lnSpc>
              <a:spcAft>
                <a:spcPts val="800"/>
              </a:spcAft>
            </a:pPr>
            <a:r>
              <a:rPr lang="en-GB" sz="1000" b="1" dirty="0">
                <a:latin typeface="Arial" panose="020B0604020202020204" pitchFamily="34" charset="0"/>
                <a:ea typeface="Calibri" panose="020F0502020204030204" pitchFamily="34" charset="0"/>
                <a:cs typeface="Times New Roman" panose="02020603050405020304" pitchFamily="18" charset="0"/>
              </a:rPr>
              <a:t>Answer</a:t>
            </a:r>
            <a:endParaRPr lang="en-GB" sz="1000" dirty="0">
              <a:latin typeface="Arial" panose="020B060402020202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GB" sz="1000" dirty="0">
                <a:latin typeface="Arial" panose="020B0604020202020204" pitchFamily="34" charset="0"/>
                <a:ea typeface="Calibri" panose="020F0502020204030204" pitchFamily="34" charset="0"/>
                <a:cs typeface="Times New Roman" panose="02020603050405020304" pitchFamily="18" charset="0"/>
              </a:rPr>
              <a:t>NULLs might be present in the underlying source data, or may be placeholders for rows that do not participate in the group member.</a:t>
            </a:r>
          </a:p>
          <a:p>
            <a:pPr>
              <a:lnSpc>
                <a:spcPct val="107000"/>
              </a:lnSpc>
              <a:spcAft>
                <a:spcPts val="800"/>
              </a:spcAft>
            </a:pPr>
            <a:r>
              <a:rPr lang="en-GB" sz="1000" b="1" dirty="0">
                <a:latin typeface="Arial" panose="020B0604020202020204" pitchFamily="34" charset="0"/>
                <a:ea typeface="Calibri" panose="020F0502020204030204" pitchFamily="34" charset="0"/>
                <a:cs typeface="Times New Roman" panose="02020603050405020304" pitchFamily="18" charset="0"/>
              </a:rPr>
              <a:t>Question</a:t>
            </a:r>
            <a:endParaRPr lang="en-GB" sz="1000" dirty="0">
              <a:latin typeface="Arial" panose="020B060402020202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GB" sz="1000" dirty="0">
                <a:latin typeface="Arial" panose="020B0604020202020204" pitchFamily="34" charset="0"/>
                <a:ea typeface="Calibri" panose="020F0502020204030204" pitchFamily="34" charset="0"/>
                <a:cs typeface="Times New Roman" panose="02020603050405020304" pitchFamily="18" charset="0"/>
              </a:rPr>
              <a:t>Which subclause infers a hierarchy of columns to create meaningful grouping sets?</a:t>
            </a:r>
          </a:p>
          <a:p>
            <a:pPr>
              <a:lnSpc>
                <a:spcPct val="107000"/>
              </a:lnSpc>
              <a:spcAft>
                <a:spcPts val="800"/>
              </a:spcAft>
            </a:pPr>
            <a:r>
              <a:rPr lang="en-GB" sz="1000" b="1" dirty="0">
                <a:latin typeface="Arial" panose="020B0604020202020204" pitchFamily="34" charset="0"/>
                <a:ea typeface="Calibri" panose="020F0502020204030204" pitchFamily="34" charset="0"/>
                <a:cs typeface="Times New Roman" panose="02020603050405020304" pitchFamily="18" charset="0"/>
              </a:rPr>
              <a:t>Answer</a:t>
            </a:r>
            <a:endParaRPr lang="en-GB" sz="1000" dirty="0">
              <a:latin typeface="Arial" panose="020B060402020202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GB" sz="1000" dirty="0">
                <a:latin typeface="Arial" panose="020B0604020202020204" pitchFamily="34" charset="0"/>
                <a:ea typeface="Calibri" panose="020F0502020204030204" pitchFamily="34" charset="0"/>
                <a:cs typeface="Times New Roman" panose="02020603050405020304" pitchFamily="18" charset="0"/>
              </a:rPr>
              <a:t>ROLLUP.</a:t>
            </a:r>
          </a:p>
        </p:txBody>
      </p:sp>
      <p:sp>
        <p:nvSpPr>
          <p:cNvPr id="4" name="Slide Number Placeholder 3"/>
          <p:cNvSpPr>
            <a:spLocks noGrp="1"/>
          </p:cNvSpPr>
          <p:nvPr>
            <p:ph type="sldNum" sz="quarter" idx="10"/>
          </p:nvPr>
        </p:nvSpPr>
        <p:spPr/>
        <p:txBody>
          <a:bodyPr/>
          <a:lstStyle/>
          <a:p>
            <a:fld id="{83CB4B4F-7043-45FC-8A7C-C1A834BC0C20}" type="slidenum">
              <a:rPr lang="en-GB" smtClean="0"/>
              <a:t>19</a:t>
            </a:fld>
            <a:endParaRPr lang="en-GB" dirty="0"/>
          </a:p>
        </p:txBody>
      </p:sp>
      <p:sp>
        <p:nvSpPr>
          <p:cNvPr id="5" name="Rectangle 4"/>
          <p:cNvSpPr/>
          <p:nvPr/>
        </p:nvSpPr>
        <p:spPr>
          <a:xfrm>
            <a:off x="0" y="0"/>
            <a:ext cx="3038475" cy="222250"/>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200" dirty="0" smtClean="0">
                <a:solidFill>
                  <a:srgbClr val="000000"/>
                </a:solidFill>
                <a:latin typeface="Arial" panose="020B0604020202020204" pitchFamily="34" charset="0"/>
              </a:rPr>
              <a:t>20761C</a:t>
            </a:r>
            <a:endParaRPr lang="en-GB" sz="1200" dirty="0">
              <a:solidFill>
                <a:srgbClr val="000000"/>
              </a:solidFill>
              <a:latin typeface="Arial" panose="020B0604020202020204" pitchFamily="34" charset="0"/>
            </a:endParaRPr>
          </a:p>
        </p:txBody>
      </p:sp>
      <p:sp>
        <p:nvSpPr>
          <p:cNvPr id="6" name="Rectangle 5"/>
          <p:cNvSpPr/>
          <p:nvPr/>
        </p:nvSpPr>
        <p:spPr>
          <a:xfrm>
            <a:off x="0" y="238125"/>
            <a:ext cx="3038475" cy="347663"/>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200" dirty="0" smtClean="0">
                <a:solidFill>
                  <a:srgbClr val="336699"/>
                </a:solidFill>
                <a:latin typeface="Arial" panose="020B0604020202020204" pitchFamily="34" charset="0"/>
              </a:rPr>
              <a:t>14: Pivoting and Grouping Sets</a:t>
            </a:r>
            <a:endParaRPr lang="en-GB" sz="1200" dirty="0">
              <a:solidFill>
                <a:srgbClr val="336699"/>
              </a:solidFill>
              <a:latin typeface="Arial" panose="020B0604020202020204" pitchFamily="34" charset="0"/>
            </a:endParaRPr>
          </a:p>
        </p:txBody>
      </p:sp>
    </p:spTree>
    <p:extLst>
      <p:ext uri="{BB962C8B-B14F-4D97-AF65-F5344CB8AC3E}">
        <p14:creationId xmlns:p14="http://schemas.microsoft.com/office/powerpoint/2010/main" val="125760258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Title Slide">
    <p:spTree>
      <p:nvGrpSpPr>
        <p:cNvPr id="1" name=""/>
        <p:cNvGrpSpPr/>
        <p:nvPr/>
      </p:nvGrpSpPr>
      <p:grpSpPr>
        <a:xfrm>
          <a:off x="0" y="0"/>
          <a:ext cx="0" cy="0"/>
          <a:chOff x="0" y="0"/>
          <a:chExt cx="0" cy="0"/>
        </a:xfrm>
      </p:grpSpPr>
      <p:sp>
        <p:nvSpPr>
          <p:cNvPr id="5" name="Rectangle 4"/>
          <p:cNvSpPr/>
          <p:nvPr/>
        </p:nvSpPr>
        <p:spPr>
          <a:xfrm>
            <a:off x="14177" y="0"/>
            <a:ext cx="9144000" cy="685800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26019" name="Rectangle 3"/>
          <p:cNvSpPr>
            <a:spLocks noGrp="1" noChangeArrowheads="1"/>
          </p:cNvSpPr>
          <p:nvPr>
            <p:ph type="ctrTitle" sz="quarter" hasCustomPrompt="1"/>
          </p:nvPr>
        </p:nvSpPr>
        <p:spPr>
          <a:xfrm>
            <a:off x="3200400" y="1828800"/>
            <a:ext cx="5732417" cy="627864"/>
          </a:xfrm>
          <a:solidFill>
            <a:srgbClr val="3399FF"/>
          </a:solidFill>
          <a:ln algn="ctr"/>
        </p:spPr>
        <p:txBody>
          <a:bodyPr wrap="square" tIns="0" rIns="0" bIns="0">
            <a:spAutoFit/>
          </a:bodyPr>
          <a:lstStyle>
            <a:lvl1pPr algn="l">
              <a:spcBef>
                <a:spcPct val="60000"/>
              </a:spcBef>
              <a:buClr>
                <a:schemeClr val="hlink"/>
              </a:buClr>
              <a:buSzPct val="90000"/>
              <a:buFontTx/>
              <a:buNone/>
              <a:defRPr sz="4800" baseline="0">
                <a:solidFill>
                  <a:schemeClr val="bg1"/>
                </a:solidFill>
                <a:latin typeface="Segoe UI" pitchFamily="34" charset="0"/>
                <a:ea typeface="Segoe UI" pitchFamily="34" charset="0"/>
                <a:cs typeface="Segoe UI" pitchFamily="34" charset="0"/>
              </a:defRPr>
            </a:lvl1pPr>
          </a:lstStyle>
          <a:p>
            <a:r>
              <a:rPr lang="en-US" dirty="0" smtClean="0"/>
              <a:t>Course #</a:t>
            </a:r>
            <a:endParaRPr lang="en-US" dirty="0"/>
          </a:p>
        </p:txBody>
      </p:sp>
      <p:sp>
        <p:nvSpPr>
          <p:cNvPr id="726020" name="Rectangle 4"/>
          <p:cNvSpPr>
            <a:spLocks noGrp="1" noChangeArrowheads="1"/>
          </p:cNvSpPr>
          <p:nvPr>
            <p:ph type="subTitle" sz="quarter" idx="1" hasCustomPrompt="1"/>
          </p:nvPr>
        </p:nvSpPr>
        <p:spPr>
          <a:xfrm>
            <a:off x="3200400" y="2895600"/>
            <a:ext cx="5775960" cy="1103872"/>
          </a:xfrm>
        </p:spPr>
        <p:txBody>
          <a:bodyPr lIns="91440" tIns="45720" rIns="91440" bIns="45720"/>
          <a:lstStyle>
            <a:lvl1pPr marL="0" indent="0" algn="l">
              <a:lnSpc>
                <a:spcPct val="95000"/>
              </a:lnSpc>
              <a:spcBef>
                <a:spcPct val="60000"/>
              </a:spcBef>
              <a:buFontTx/>
              <a:buNone/>
              <a:defRPr sz="2800">
                <a:solidFill>
                  <a:schemeClr val="bg1"/>
                </a:solidFill>
                <a:latin typeface="Segoe UI" pitchFamily="34" charset="0"/>
                <a:ea typeface="Segoe UI" pitchFamily="34" charset="0"/>
                <a:cs typeface="Segoe UI" pitchFamily="34" charset="0"/>
              </a:defRPr>
            </a:lvl1pPr>
          </a:lstStyle>
          <a:p>
            <a:r>
              <a:rPr lang="en-US" dirty="0" smtClean="0"/>
              <a:t>Click to edit Course title</a:t>
            </a:r>
            <a:endParaRPr lang="en-US" dirty="0"/>
          </a:p>
        </p:txBody>
      </p:sp>
    </p:spTree>
    <p:extLst>
      <p:ext uri="{BB962C8B-B14F-4D97-AF65-F5344CB8AC3E}">
        <p14:creationId xmlns:p14="http://schemas.microsoft.com/office/powerpoint/2010/main" val="143683599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326415503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Edit Master text styles</a:t>
            </a:r>
          </a:p>
        </p:txBody>
      </p:sp>
    </p:spTree>
    <p:extLst>
      <p:ext uri="{BB962C8B-B14F-4D97-AF65-F5344CB8AC3E}">
        <p14:creationId xmlns:p14="http://schemas.microsoft.com/office/powerpoint/2010/main" val="349256406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458788" y="992188"/>
            <a:ext cx="3798887"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4410075" y="992188"/>
            <a:ext cx="3800475"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27977430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80772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4645025" y="1535113"/>
            <a:ext cx="4041775"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135970082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Tree>
    <p:extLst>
      <p:ext uri="{BB962C8B-B14F-4D97-AF65-F5344CB8AC3E}">
        <p14:creationId xmlns:p14="http://schemas.microsoft.com/office/powerpoint/2010/main" val="317822757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83645087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t"/>
          <a:lstStyle>
            <a:lvl1pPr algn="l">
              <a:defRPr sz="2000" b="0"/>
            </a:lvl1pPr>
          </a:lstStyle>
          <a:p>
            <a:r>
              <a:rPr lang="en-US" smtClean="0"/>
              <a:t>Click to edit Master title style</a:t>
            </a:r>
            <a:endParaRPr lang="en-US" dirty="0"/>
          </a:p>
        </p:txBody>
      </p:sp>
      <p:sp>
        <p:nvSpPr>
          <p:cNvPr id="3" name="Content Placeholder 2"/>
          <p:cNvSpPr>
            <a:spLocks noGrp="1"/>
          </p:cNvSpPr>
          <p:nvPr>
            <p:ph idx="1"/>
          </p:nvPr>
        </p:nvSpPr>
        <p:spPr>
          <a:xfrm>
            <a:off x="3575050" y="273050"/>
            <a:ext cx="5111750" cy="5853113"/>
          </a:xfrm>
        </p:spPr>
        <p:txBody>
          <a:bodyPr/>
          <a:lstStyle>
            <a:lvl1pPr>
              <a:defRPr sz="3200">
                <a:solidFill>
                  <a:schemeClr val="bg1"/>
                </a:solidFill>
              </a:defRPr>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Tree>
    <p:extLst>
      <p:ext uri="{BB962C8B-B14F-4D97-AF65-F5344CB8AC3E}">
        <p14:creationId xmlns:p14="http://schemas.microsoft.com/office/powerpoint/2010/main" val="296244667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dirty="0" smtClean="0"/>
              <a:t>Click icon to add picture</a:t>
            </a:r>
            <a:endParaRPr lang="en-US" noProof="0"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Tree>
    <p:extLst>
      <p:ext uri="{BB962C8B-B14F-4D97-AF65-F5344CB8AC3E}">
        <p14:creationId xmlns:p14="http://schemas.microsoft.com/office/powerpoint/2010/main" val="112687663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58648932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291263" y="0"/>
            <a:ext cx="1943100" cy="5378450"/>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458788" y="0"/>
            <a:ext cx="5680075" cy="5378450"/>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157636065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 preserve="1">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Text Placeholder 2"/>
          <p:cNvSpPr>
            <a:spLocks noGrp="1"/>
          </p:cNvSpPr>
          <p:nvPr>
            <p:ph type="body"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Tree>
    <p:extLst>
      <p:ext uri="{BB962C8B-B14F-4D97-AF65-F5344CB8AC3E}">
        <p14:creationId xmlns:p14="http://schemas.microsoft.com/office/powerpoint/2010/main" val="2901828997"/>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0" y="0"/>
            <a:ext cx="9144000" cy="70408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25001" name="Rectangle 9"/>
          <p:cNvSpPr>
            <a:spLocks noChangeArrowheads="1"/>
          </p:cNvSpPr>
          <p:nvPr/>
        </p:nvSpPr>
        <p:spPr bwMode="auto">
          <a:xfrm>
            <a:off x="4763" y="731838"/>
            <a:ext cx="9136062" cy="6111875"/>
          </a:xfrm>
          <a:prstGeom prst="rect">
            <a:avLst/>
          </a:prstGeom>
          <a:noFill/>
          <a:ln w="28575" algn="ctr">
            <a:noFill/>
            <a:miter lim="800000"/>
            <a:headEnd/>
            <a:tailEnd/>
          </a:ln>
          <a:effectLst/>
        </p:spPr>
        <p:txBody>
          <a:bodyPr wrap="none" anchor="ctr"/>
          <a:lstStyle/>
          <a:p>
            <a:pPr algn="ctr" eaLnBrk="0" hangingPunct="0">
              <a:defRPr/>
            </a:pPr>
            <a:endParaRPr lang="en-US" dirty="0">
              <a:cs typeface="+mn-cs"/>
            </a:endParaRPr>
          </a:p>
        </p:txBody>
      </p:sp>
      <p:sp>
        <p:nvSpPr>
          <p:cNvPr id="1029" name="Rectangle 4"/>
          <p:cNvSpPr>
            <a:spLocks noGrp="1" noChangeArrowheads="1"/>
          </p:cNvSpPr>
          <p:nvPr>
            <p:ph type="title"/>
          </p:nvPr>
        </p:nvSpPr>
        <p:spPr bwMode="auto">
          <a:xfrm>
            <a:off x="460375" y="-2"/>
            <a:ext cx="7773988" cy="740664"/>
          </a:xfrm>
          <a:prstGeom prst="rect">
            <a:avLst/>
          </a:prstGeom>
          <a:noFill/>
          <a:ln w="9525">
            <a:noFill/>
            <a:miter lim="800000"/>
            <a:headEnd/>
            <a:tailEnd/>
          </a:ln>
        </p:spPr>
        <p:txBody>
          <a:bodyPr vert="horz" wrap="square" lIns="0" tIns="45720" rIns="91440" bIns="45720" numCol="1" anchor="ctr" anchorCtr="0" compatLnSpc="1">
            <a:prstTxWarp prst="textNoShape">
              <a:avLst/>
            </a:prstTxWarp>
          </a:bodyPr>
          <a:lstStyle/>
          <a:p>
            <a:pPr lvl="0"/>
            <a:r>
              <a:rPr lang="en-US" dirty="0" smtClean="0"/>
              <a:t>Slide Title</a:t>
            </a:r>
          </a:p>
        </p:txBody>
      </p:sp>
      <p:sp>
        <p:nvSpPr>
          <p:cNvPr id="1030" name="Rectangle 5"/>
          <p:cNvSpPr>
            <a:spLocks noGrp="1" noChangeArrowheads="1"/>
          </p:cNvSpPr>
          <p:nvPr>
            <p:ph type="body" idx="1"/>
          </p:nvPr>
        </p:nvSpPr>
        <p:spPr bwMode="auto">
          <a:xfrm>
            <a:off x="458788" y="1021215"/>
            <a:ext cx="8119156" cy="5147356"/>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lvl="0"/>
            <a:r>
              <a:rPr lang="en-US" dirty="0" smtClean="0"/>
              <a:t>Body Text</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p>
        </p:txBody>
      </p:sp>
    </p:spTree>
    <p:extLst>
      <p:ext uri="{BB962C8B-B14F-4D97-AF65-F5344CB8AC3E}">
        <p14:creationId xmlns:p14="http://schemas.microsoft.com/office/powerpoint/2010/main" val="2437859094"/>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Lst>
  <p:timing>
    <p:tnLst>
      <p:par>
        <p:cTn id="1" dur="indefinite" restart="never" nodeType="tmRoot"/>
      </p:par>
    </p:tnLst>
  </p:timing>
  <p:txStyles>
    <p:titleStyle>
      <a:lvl1pPr algn="l" rtl="0" eaLnBrk="1" fontAlgn="base" hangingPunct="1">
        <a:lnSpc>
          <a:spcPct val="85000"/>
        </a:lnSpc>
        <a:spcBef>
          <a:spcPct val="0"/>
        </a:spcBef>
        <a:spcAft>
          <a:spcPct val="0"/>
        </a:spcAft>
        <a:buClr>
          <a:srgbClr val="DC0081"/>
        </a:buClr>
        <a:buFont typeface="Wingdings" pitchFamily="2" charset="2"/>
        <a:defRPr sz="2800">
          <a:solidFill>
            <a:schemeClr val="bg1"/>
          </a:solidFill>
          <a:latin typeface="Segoe UI" pitchFamily="34" charset="0"/>
          <a:ea typeface="Segoe UI" pitchFamily="34" charset="0"/>
          <a:cs typeface="Segoe UI" pitchFamily="34" charset="0"/>
        </a:defRPr>
      </a:lvl1pPr>
      <a:lvl2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2pPr>
      <a:lvl3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3pPr>
      <a:lvl4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4pPr>
      <a:lvl5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5pPr>
      <a:lvl6pPr marL="4572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6pPr>
      <a:lvl7pPr marL="9144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7pPr>
      <a:lvl8pPr marL="13716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8pPr>
      <a:lvl9pPr marL="18288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9pPr>
    </p:titleStyle>
    <p:bodyStyle>
      <a:lvl1pPr marL="174625" indent="-174625" algn="l" rtl="0" eaLnBrk="1" fontAlgn="base" hangingPunct="1">
        <a:lnSpc>
          <a:spcPct val="100000"/>
        </a:lnSpc>
        <a:spcBef>
          <a:spcPts val="600"/>
        </a:spcBef>
        <a:spcAft>
          <a:spcPct val="0"/>
        </a:spcAft>
        <a:buClr>
          <a:srgbClr val="0070C0"/>
        </a:buClr>
        <a:buSzPct val="90000"/>
        <a:buFont typeface="Arial" pitchFamily="34" charset="0"/>
        <a:buChar char="•"/>
        <a:defRPr sz="2800">
          <a:solidFill>
            <a:schemeClr val="tx1"/>
          </a:solidFill>
          <a:latin typeface="Segoe UI" pitchFamily="34" charset="0"/>
          <a:ea typeface="Segoe UI" pitchFamily="34" charset="0"/>
          <a:cs typeface="Segoe UI" pitchFamily="34" charset="0"/>
        </a:defRPr>
      </a:lvl1pPr>
      <a:lvl2pPr marL="458788" indent="-169863" algn="l" rtl="0" eaLnBrk="1" fontAlgn="base" hangingPunct="1">
        <a:lnSpc>
          <a:spcPct val="100000"/>
        </a:lnSpc>
        <a:spcBef>
          <a:spcPts val="600"/>
        </a:spcBef>
        <a:spcAft>
          <a:spcPct val="0"/>
        </a:spcAft>
        <a:buClr>
          <a:srgbClr val="0070C0"/>
        </a:buClr>
        <a:buSzPct val="80000"/>
        <a:buFont typeface="Arial" pitchFamily="34" charset="0"/>
        <a:buChar char="•"/>
        <a:defRPr sz="2400">
          <a:solidFill>
            <a:schemeClr val="tx1"/>
          </a:solidFill>
          <a:latin typeface="Segoe UI" pitchFamily="34" charset="0"/>
          <a:ea typeface="Segoe UI" pitchFamily="34" charset="0"/>
          <a:cs typeface="Segoe UI" pitchFamily="34" charset="0"/>
        </a:defRPr>
      </a:lvl2pPr>
      <a:lvl3pPr marL="854075" indent="-173038" algn="l" rtl="0" eaLnBrk="1" fontAlgn="base" hangingPunct="1">
        <a:lnSpc>
          <a:spcPct val="100000"/>
        </a:lnSpc>
        <a:spcBef>
          <a:spcPts val="600"/>
        </a:spcBef>
        <a:spcAft>
          <a:spcPct val="0"/>
        </a:spcAft>
        <a:buClr>
          <a:srgbClr val="0070C0"/>
        </a:buClr>
        <a:buSzPct val="80000"/>
        <a:buFont typeface="Arial" pitchFamily="34" charset="0"/>
        <a:buChar char="•"/>
        <a:defRPr sz="2000">
          <a:solidFill>
            <a:schemeClr val="tx1"/>
          </a:solidFill>
          <a:latin typeface="Segoe UI" pitchFamily="34" charset="0"/>
          <a:ea typeface="Segoe UI" pitchFamily="34" charset="0"/>
          <a:cs typeface="Segoe UI" pitchFamily="34" charset="0"/>
        </a:defRPr>
      </a:lvl3pPr>
      <a:lvl4pPr marL="1254125" indent="-165100"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4pPr>
      <a:lvl5pPr marL="1544638" indent="-168275"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5pPr>
      <a:lvl6pPr marL="20018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6pPr>
      <a:lvl7pPr marL="24590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7pPr>
      <a:lvl8pPr marL="29162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8pPr>
      <a:lvl9pPr marL="33734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tags" Target="../tags/tag2.xml"/><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tags" Target="../tags/tag3.xml"/><Relationship Id="rId2" Type="http://schemas.openxmlformats.org/officeDocument/2006/relationships/slideLayout" Target="../slideLayouts/slideLayout12.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tags" Target="../tags/tag4.xml"/><Relationship Id="rId2" Type="http://schemas.openxmlformats.org/officeDocument/2006/relationships/slideLayout" Target="../slideLayouts/slideLayout12.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tags" Target="../tags/tag5.xml"/><Relationship Id="rId2" Type="http://schemas.openxmlformats.org/officeDocument/2006/relationships/slideLayout" Target="../slideLayouts/slideLayout6.xml"/><Relationship Id="rId3" Type="http://schemas.openxmlformats.org/officeDocument/2006/relationships/notesSlide" Target="../notesSlides/notesSlide4.xml"/><Relationship Id="rId4" Type="http://schemas.openxmlformats.org/officeDocument/2006/relationships/image" Target="../media/image1.png"/><Relationship Id="rId5"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tags" Target="../tags/tag6.xml"/><Relationship Id="rId2" Type="http://schemas.openxmlformats.org/officeDocument/2006/relationships/slideLayout" Target="../slideLayouts/slideLayout6.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tags" Target="../tags/tag7.xml"/><Relationship Id="rId2" Type="http://schemas.openxmlformats.org/officeDocument/2006/relationships/slideLayout" Target="../slideLayouts/slideLayout1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tags" Target="../tags/tag8.xml"/><Relationship Id="rId2" Type="http://schemas.openxmlformats.org/officeDocument/2006/relationships/slideLayout" Target="../slideLayouts/slideLayout1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tags" Target="../tags/tag9.xml"/><Relationship Id="rId2" Type="http://schemas.openxmlformats.org/officeDocument/2006/relationships/slideLayout" Target="../slideLayouts/slideLayout6.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tags" Target="../tags/tag10.xml"/><Relationship Id="rId2" Type="http://schemas.openxmlformats.org/officeDocument/2006/relationships/slideLayout" Target="../slideLayouts/slideLayout1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tags" Target="../tags/tag11.xml"/><Relationship Id="rId2" Type="http://schemas.openxmlformats.org/officeDocument/2006/relationships/slideLayout" Target="../slideLayouts/slideLayout1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tags" Target="../tags/tag12.xml"/><Relationship Id="rId2" Type="http://schemas.openxmlformats.org/officeDocument/2006/relationships/slideLayout" Target="../slideLayouts/slideLayout6.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tags" Target="../tags/tag13.xml"/><Relationship Id="rId2" Type="http://schemas.openxmlformats.org/officeDocument/2006/relationships/slideLayout" Target="../slideLayouts/slideLayout1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tags" Target="../tags/tag14.xml"/><Relationship Id="rId2" Type="http://schemas.openxmlformats.org/officeDocument/2006/relationships/slideLayout" Target="../slideLayouts/slideLayout6.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tags" Target="../tags/tag15.xml"/><Relationship Id="rId2" Type="http://schemas.openxmlformats.org/officeDocument/2006/relationships/slideLayout" Target="../slideLayouts/slideLayout1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tags" Target="../tags/tag16.xml"/><Relationship Id="rId2" Type="http://schemas.openxmlformats.org/officeDocument/2006/relationships/slideLayout" Target="../slideLayouts/slideLayout6.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tags" Target="../tags/tag17.xml"/><Relationship Id="rId2" Type="http://schemas.openxmlformats.org/officeDocument/2006/relationships/slideLayout" Target="../slideLayouts/slideLayout1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tags" Target="../tags/tag18.xml"/><Relationship Id="rId2" Type="http://schemas.openxmlformats.org/officeDocument/2006/relationships/slideLayout" Target="../slideLayouts/slideLayout1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tags" Target="../tags/tag19.xml"/><Relationship Id="rId2" Type="http://schemas.openxmlformats.org/officeDocument/2006/relationships/slideLayout" Target="../slideLayouts/slideLayout1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tags" Target="../tags/tag20.xml"/><Relationship Id="rId2" Type="http://schemas.openxmlformats.org/officeDocument/2006/relationships/slideLayout" Target="../slideLayouts/slideLayout12.xml"/><Relationship Id="rId3"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p="http://schemas.openxmlformats.org/presentationml/2006/main">
  <p:cSld name="bb04763b-6662-436e-bff2-e2dc0c09868d">
    <p:spTree>
      <p:nvGrpSpPr>
        <p:cNvPr id="1" name=""/>
        <p:cNvGrpSpPr/>
        <p:nvPr/>
      </p:nvGrpSpPr>
      <p:grpSpPr>
        <a:xfrm>
          <a:off x="0" y="0"/>
          <a:ext cx="0" cy="0"/>
          <a:chOff x="0" y="0"/>
          <a:chExt cx="0" cy="0"/>
        </a:xfrm>
      </p:grpSpPr>
      <p:sp>
        <p:nvSpPr>
          <p:cNvPr id="2" name="Title 1"/>
          <p:cNvSpPr>
            <a:spLocks noGrp="1"/>
          </p:cNvSpPr>
          <p:nvPr>
            <p:ph type="ctrTitle" sz="quarter"/>
          </p:nvPr>
        </p:nvSpPr>
        <p:spPr>
          <a:xfrm>
            <a:off x="3200400" y="1828800"/>
            <a:ext cx="5732417" cy="1016000"/>
          </a:xfrm>
        </p:spPr>
        <p:txBody>
          <a:bodyPr/>
          <a:lstStyle/>
          <a:p>
            <a:r>
              <a:rPr lang="en-GB" dirty="0" smtClean="0"/>
              <a:t>Module 14</a:t>
            </a:r>
            <a:endParaRPr lang="en-GB" dirty="0"/>
          </a:p>
        </p:txBody>
      </p:sp>
      <p:sp>
        <p:nvSpPr>
          <p:cNvPr id="3" name="Subtitle 2"/>
          <p:cNvSpPr>
            <a:spLocks noGrp="1"/>
          </p:cNvSpPr>
          <p:nvPr>
            <p:ph type="subTitle" sz="quarter" idx="1"/>
          </p:nvPr>
        </p:nvSpPr>
        <p:spPr/>
        <p:txBody>
          <a:bodyPr/>
          <a:lstStyle/>
          <a:p>
            <a:r>
              <a:rPr lang="en-GB" dirty="0" smtClean="0"/>
              <a:t>Pivoting and Grouping Sets
</a:t>
            </a:r>
            <a:endParaRPr lang="en-GB" dirty="0"/>
          </a:p>
        </p:txBody>
      </p:sp>
    </p:spTree>
    <p:custDataLst>
      <p:tags r:id="rId1"/>
    </p:custDataLst>
    <p:extLst>
      <p:ext uri="{BB962C8B-B14F-4D97-AF65-F5344CB8AC3E}">
        <p14:creationId xmlns:p14="http://schemas.microsoft.com/office/powerpoint/2010/main" val="239881557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2de11403-5404-4120-b9dc-cc323a9c3b04">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Module Overview</a:t>
            </a:r>
            <a:endParaRPr lang="en-GB" dirty="0"/>
          </a:p>
        </p:txBody>
      </p:sp>
      <p:sp>
        <p:nvSpPr>
          <p:cNvPr id="3" name="Text Placeholder 2"/>
          <p:cNvSpPr>
            <a:spLocks noGrp="1"/>
          </p:cNvSpPr>
          <p:nvPr>
            <p:ph type="body" idx="1"/>
          </p:nvPr>
        </p:nvSpPr>
        <p:spPr/>
        <p:txBody>
          <a:bodyPr/>
          <a:lstStyle/>
          <a:p>
            <a:r>
              <a:rPr lang="en-GB" dirty="0" smtClean="0"/>
              <a:t>Writing Queries with PIVOT and UNPIVOT
Working with Grouping Sets</a:t>
            </a:r>
            <a:endParaRPr lang="en-GB" dirty="0"/>
          </a:p>
        </p:txBody>
      </p:sp>
    </p:spTree>
    <p:custDataLst>
      <p:tags r:id="rId1"/>
    </p:custDataLst>
    <p:extLst>
      <p:ext uri="{BB962C8B-B14F-4D97-AF65-F5344CB8AC3E}">
        <p14:creationId xmlns:p14="http://schemas.microsoft.com/office/powerpoint/2010/main" val="73142618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928a0490-1281-45c5-84fe-a78eda3c30df">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Lesson 1: Writing Queries with PIVOT and UNPIVOT</a:t>
            </a:r>
            <a:endParaRPr lang="en-GB" dirty="0"/>
          </a:p>
        </p:txBody>
      </p:sp>
      <p:sp>
        <p:nvSpPr>
          <p:cNvPr id="3" name="Text Placeholder 2"/>
          <p:cNvSpPr>
            <a:spLocks noGrp="1"/>
          </p:cNvSpPr>
          <p:nvPr>
            <p:ph type="body" idx="1"/>
          </p:nvPr>
        </p:nvSpPr>
        <p:spPr/>
        <p:txBody>
          <a:bodyPr/>
          <a:lstStyle/>
          <a:p>
            <a:r>
              <a:rPr lang="en-GB" dirty="0" smtClean="0"/>
              <a:t>What Is Pivoting?
Elements of PIVOT
Writing Queries with UNPIVOT
Demonstration: Writing Queries with PIVOT and UNPIVOT</a:t>
            </a:r>
            <a:endParaRPr lang="en-GB" dirty="0"/>
          </a:p>
        </p:txBody>
      </p:sp>
    </p:spTree>
    <p:custDataLst>
      <p:tags r:id="rId1"/>
    </p:custDataLst>
    <p:extLst>
      <p:ext uri="{BB962C8B-B14F-4D97-AF65-F5344CB8AC3E}">
        <p14:creationId xmlns:p14="http://schemas.microsoft.com/office/powerpoint/2010/main" val="388856698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6b815f6b-9c51-4f3a-803e-ecd54c9b54aa">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What Is Pivoting?</a:t>
            </a:r>
            <a:endParaRPr lang="en-GB" dirty="0"/>
          </a:p>
        </p:txBody>
      </p:sp>
      <p:sp>
        <p:nvSpPr>
          <p:cNvPr id="4" name="Content Placeholder 2"/>
          <p:cNvSpPr txBox="1">
            <a:spLocks/>
          </p:cNvSpPr>
          <p:nvPr/>
        </p:nvSpPr>
        <p:spPr>
          <a:xfrm>
            <a:off x="458788" y="1021215"/>
            <a:ext cx="8119156" cy="5147356"/>
          </a:xfrm>
          <a:prstGeom prst="rect">
            <a:avLst/>
          </a:prstGeom>
        </p:spPr>
        <p:txBody>
          <a:bodyPr/>
          <a:lstStyle>
            <a:lvl1pPr marL="174625" indent="-174625" algn="l" rtl="0" eaLnBrk="1" fontAlgn="base" hangingPunct="1">
              <a:lnSpc>
                <a:spcPct val="100000"/>
              </a:lnSpc>
              <a:spcBef>
                <a:spcPts val="600"/>
              </a:spcBef>
              <a:spcAft>
                <a:spcPct val="0"/>
              </a:spcAft>
              <a:buClr>
                <a:srgbClr val="0070C0"/>
              </a:buClr>
              <a:buSzPct val="90000"/>
              <a:buFont typeface="Arial" pitchFamily="34" charset="0"/>
              <a:buChar char="•"/>
              <a:defRPr sz="2800">
                <a:solidFill>
                  <a:schemeClr val="tx1"/>
                </a:solidFill>
                <a:latin typeface="Segoe UI" pitchFamily="34" charset="0"/>
                <a:ea typeface="Segoe UI" pitchFamily="34" charset="0"/>
                <a:cs typeface="Segoe UI" pitchFamily="34" charset="0"/>
              </a:defRPr>
            </a:lvl1pPr>
            <a:lvl2pPr marL="458788" indent="-169863" algn="l" rtl="0" eaLnBrk="1" fontAlgn="base" hangingPunct="1">
              <a:lnSpc>
                <a:spcPct val="100000"/>
              </a:lnSpc>
              <a:spcBef>
                <a:spcPts val="600"/>
              </a:spcBef>
              <a:spcAft>
                <a:spcPct val="0"/>
              </a:spcAft>
              <a:buClr>
                <a:srgbClr val="0070C0"/>
              </a:buClr>
              <a:buSzPct val="80000"/>
              <a:buFont typeface="Arial" pitchFamily="34" charset="0"/>
              <a:buChar char="•"/>
              <a:defRPr sz="2400">
                <a:solidFill>
                  <a:schemeClr val="tx1"/>
                </a:solidFill>
                <a:latin typeface="Segoe UI" pitchFamily="34" charset="0"/>
                <a:ea typeface="Segoe UI" pitchFamily="34" charset="0"/>
                <a:cs typeface="Segoe UI" pitchFamily="34" charset="0"/>
              </a:defRPr>
            </a:lvl2pPr>
            <a:lvl3pPr marL="854075" indent="-173038" algn="l" rtl="0" eaLnBrk="1" fontAlgn="base" hangingPunct="1">
              <a:lnSpc>
                <a:spcPct val="100000"/>
              </a:lnSpc>
              <a:spcBef>
                <a:spcPts val="600"/>
              </a:spcBef>
              <a:spcAft>
                <a:spcPct val="0"/>
              </a:spcAft>
              <a:buClr>
                <a:srgbClr val="0070C0"/>
              </a:buClr>
              <a:buSzPct val="80000"/>
              <a:buFont typeface="Arial" pitchFamily="34" charset="0"/>
              <a:buChar char="•"/>
              <a:defRPr sz="2000">
                <a:solidFill>
                  <a:schemeClr val="tx1"/>
                </a:solidFill>
                <a:latin typeface="Segoe UI" pitchFamily="34" charset="0"/>
                <a:ea typeface="Segoe UI" pitchFamily="34" charset="0"/>
                <a:cs typeface="Segoe UI" pitchFamily="34" charset="0"/>
              </a:defRPr>
            </a:lvl3pPr>
            <a:lvl4pPr marL="1254125" indent="-165100"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4pPr>
            <a:lvl5pPr marL="1544638" indent="-168275"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5pPr>
            <a:lvl6pPr marL="20018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6pPr>
            <a:lvl7pPr marL="24590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7pPr>
            <a:lvl8pPr marL="29162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8pPr>
            <a:lvl9pPr marL="33734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9pPr>
          </a:lstStyle>
          <a:p>
            <a:pPr lvl="0"/>
            <a:r>
              <a:rPr lang="en-US" sz="2400" b="0" kern="0" dirty="0">
                <a:solidFill>
                  <a:srgbClr val="000000"/>
                </a:solidFill>
              </a:rPr>
              <a:t>Pivoting data is rotating data from a rows-based orientation to a columns-based orientation</a:t>
            </a:r>
          </a:p>
          <a:p>
            <a:pPr lvl="0"/>
            <a:r>
              <a:rPr lang="en-US" sz="2400" b="0" kern="0" dirty="0">
                <a:solidFill>
                  <a:srgbClr val="000000"/>
                </a:solidFill>
              </a:rPr>
              <a:t>Distinct values from a single column are projected across as headings for other columns—may include aggregation</a:t>
            </a:r>
          </a:p>
          <a:p>
            <a:pPr lvl="0"/>
            <a:endParaRPr lang="en-US" b="0" kern="0" dirty="0">
              <a:solidFill>
                <a:srgbClr val="000000"/>
              </a:solidFill>
            </a:endParaRPr>
          </a:p>
        </p:txBody>
      </p:sp>
      <p:pic>
        <p:nvPicPr>
          <p:cNvPr id="5" name="Picture 4"/>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438276" y="2931059"/>
            <a:ext cx="2381250" cy="3800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 name="Picture 5"/>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5129213" y="2931059"/>
            <a:ext cx="2714625" cy="2143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 name="Bent-Up Arrow 6"/>
          <p:cNvSpPr/>
          <p:nvPr/>
        </p:nvSpPr>
        <p:spPr bwMode="auto">
          <a:xfrm>
            <a:off x="4186237" y="5545673"/>
            <a:ext cx="2428875" cy="400050"/>
          </a:xfrm>
          <a:prstGeom prst="bentUpArrow">
            <a:avLst/>
          </a:prstGeom>
          <a:solidFill>
            <a:schemeClr val="tx1"/>
          </a:solidFill>
          <a:ln w="9525" cap="flat" cmpd="sng" algn="ctr">
            <a:noFill/>
            <a:prstDash val="solid"/>
            <a:round/>
            <a:headEnd type="none" w="med" len="med"/>
            <a:tailEnd type="none" w="med" len="med"/>
          </a:ln>
          <a:effectLst/>
        </p:spPr>
        <p:txBody>
          <a:bodyPr vert="horz" wrap="square" lIns="182880" tIns="45720" rIns="182880" bIns="45720" numCol="1" rtlCol="0" anchor="ctr" anchorCtr="0" compatLnSpc="1">
            <a:prstTxWarp prst="textNoShape">
              <a:avLst/>
            </a:prstTxWarp>
          </a:bodyPr>
          <a:lstStyle/>
          <a:p>
            <a:pPr lvl="0" algn="ctr" eaLnBrk="0" hangingPunct="0"/>
            <a:endParaRPr lang="en-US" dirty="0">
              <a:solidFill>
                <a:srgbClr val="000000"/>
              </a:solidFill>
            </a:endParaRPr>
          </a:p>
        </p:txBody>
      </p:sp>
      <p:sp>
        <p:nvSpPr>
          <p:cNvPr id="8" name="TextBox 7"/>
          <p:cNvSpPr txBox="1"/>
          <p:nvPr/>
        </p:nvSpPr>
        <p:spPr>
          <a:xfrm>
            <a:off x="4633477" y="6112946"/>
            <a:ext cx="1534394" cy="400110"/>
          </a:xfrm>
          <a:prstGeom prst="rect">
            <a:avLst/>
          </a:prstGeom>
          <a:noFill/>
        </p:spPr>
        <p:txBody>
          <a:bodyPr wrap="none" rtlCol="0">
            <a:spAutoFit/>
          </a:bodyPr>
          <a:lstStyle/>
          <a:p>
            <a:pPr lvl="0"/>
            <a:r>
              <a:rPr lang="en-US" sz="2000" b="0" dirty="0">
                <a:solidFill>
                  <a:srgbClr val="000000"/>
                </a:solidFill>
                <a:latin typeface="Segoe UI Light" panose="020B0502040204020203" pitchFamily="34" charset="0"/>
                <a:cs typeface="Segoe UI Light" panose="020B0502040204020203" pitchFamily="34" charset="0"/>
              </a:rPr>
              <a:t>Pivoted data</a:t>
            </a:r>
          </a:p>
        </p:txBody>
      </p:sp>
    </p:spTree>
    <p:custDataLst>
      <p:tags r:id="rId1"/>
    </p:custDataLst>
    <p:extLst>
      <p:ext uri="{BB962C8B-B14F-4D97-AF65-F5344CB8AC3E}">
        <p14:creationId xmlns:p14="http://schemas.microsoft.com/office/powerpoint/2010/main" val="115664762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4c7c886d-73c1-43ae-971e-b0e8137cf9c8">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Elements of PIVOT</a:t>
            </a:r>
            <a:endParaRPr lang="en-GB" dirty="0"/>
          </a:p>
        </p:txBody>
      </p:sp>
      <p:sp>
        <p:nvSpPr>
          <p:cNvPr id="4" name="Content Placeholder 2"/>
          <p:cNvSpPr txBox="1">
            <a:spLocks/>
          </p:cNvSpPr>
          <p:nvPr/>
        </p:nvSpPr>
        <p:spPr>
          <a:xfrm>
            <a:off x="458788" y="1021215"/>
            <a:ext cx="8119156" cy="5147356"/>
          </a:xfrm>
          <a:prstGeom prst="rect">
            <a:avLst/>
          </a:prstGeom>
        </p:spPr>
        <p:txBody>
          <a:bodyPr/>
          <a:lstStyle>
            <a:lvl1pPr marL="174625" indent="-174625" algn="l" rtl="0" eaLnBrk="1" fontAlgn="base" hangingPunct="1">
              <a:lnSpc>
                <a:spcPct val="100000"/>
              </a:lnSpc>
              <a:spcBef>
                <a:spcPts val="600"/>
              </a:spcBef>
              <a:spcAft>
                <a:spcPct val="0"/>
              </a:spcAft>
              <a:buClr>
                <a:srgbClr val="0070C0"/>
              </a:buClr>
              <a:buSzPct val="90000"/>
              <a:buFont typeface="Arial" pitchFamily="34" charset="0"/>
              <a:buChar char="•"/>
              <a:defRPr sz="2800">
                <a:solidFill>
                  <a:schemeClr val="tx1"/>
                </a:solidFill>
                <a:latin typeface="Segoe UI" pitchFamily="34" charset="0"/>
                <a:ea typeface="Segoe UI" pitchFamily="34" charset="0"/>
                <a:cs typeface="Segoe UI" pitchFamily="34" charset="0"/>
              </a:defRPr>
            </a:lvl1pPr>
            <a:lvl2pPr marL="458788" indent="-169863" algn="l" rtl="0" eaLnBrk="1" fontAlgn="base" hangingPunct="1">
              <a:lnSpc>
                <a:spcPct val="100000"/>
              </a:lnSpc>
              <a:spcBef>
                <a:spcPts val="600"/>
              </a:spcBef>
              <a:spcAft>
                <a:spcPct val="0"/>
              </a:spcAft>
              <a:buClr>
                <a:srgbClr val="0070C0"/>
              </a:buClr>
              <a:buSzPct val="80000"/>
              <a:buFont typeface="Arial" pitchFamily="34" charset="0"/>
              <a:buChar char="•"/>
              <a:defRPr sz="2400">
                <a:solidFill>
                  <a:schemeClr val="tx1"/>
                </a:solidFill>
                <a:latin typeface="Segoe UI" pitchFamily="34" charset="0"/>
                <a:ea typeface="Segoe UI" pitchFamily="34" charset="0"/>
                <a:cs typeface="Segoe UI" pitchFamily="34" charset="0"/>
              </a:defRPr>
            </a:lvl2pPr>
            <a:lvl3pPr marL="854075" indent="-173038" algn="l" rtl="0" eaLnBrk="1" fontAlgn="base" hangingPunct="1">
              <a:lnSpc>
                <a:spcPct val="100000"/>
              </a:lnSpc>
              <a:spcBef>
                <a:spcPts val="600"/>
              </a:spcBef>
              <a:spcAft>
                <a:spcPct val="0"/>
              </a:spcAft>
              <a:buClr>
                <a:srgbClr val="0070C0"/>
              </a:buClr>
              <a:buSzPct val="80000"/>
              <a:buFont typeface="Arial" pitchFamily="34" charset="0"/>
              <a:buChar char="•"/>
              <a:defRPr sz="2000">
                <a:solidFill>
                  <a:schemeClr val="tx1"/>
                </a:solidFill>
                <a:latin typeface="Segoe UI" pitchFamily="34" charset="0"/>
                <a:ea typeface="Segoe UI" pitchFamily="34" charset="0"/>
                <a:cs typeface="Segoe UI" pitchFamily="34" charset="0"/>
              </a:defRPr>
            </a:lvl3pPr>
            <a:lvl4pPr marL="1254125" indent="-165100"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4pPr>
            <a:lvl5pPr marL="1544638" indent="-168275"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5pPr>
            <a:lvl6pPr marL="20018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6pPr>
            <a:lvl7pPr marL="24590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7pPr>
            <a:lvl8pPr marL="29162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8pPr>
            <a:lvl9pPr marL="33734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9pPr>
          </a:lstStyle>
          <a:p>
            <a:pPr marL="0" lvl="0" indent="0">
              <a:buNone/>
            </a:pPr>
            <a:r>
              <a:rPr lang="en-US" b="0" kern="0" dirty="0">
                <a:solidFill>
                  <a:srgbClr val="000000"/>
                </a:solidFill>
              </a:rPr>
              <a:t>Pivoting includes three phases:</a:t>
            </a:r>
          </a:p>
          <a:p>
            <a:pPr marL="457200" lvl="0" indent="-457200">
              <a:buFont typeface="+mj-lt"/>
              <a:buAutoNum type="arabicPeriod"/>
            </a:pPr>
            <a:r>
              <a:rPr lang="en-US" b="0" kern="0" dirty="0">
                <a:solidFill>
                  <a:srgbClr val="000000"/>
                </a:solidFill>
              </a:rPr>
              <a:t>Grouping determines which element gets a row in the result set </a:t>
            </a:r>
          </a:p>
          <a:p>
            <a:pPr marL="457200" lvl="0" indent="-457200">
              <a:buFont typeface="+mj-lt"/>
              <a:buAutoNum type="arabicPeriod"/>
            </a:pPr>
            <a:r>
              <a:rPr lang="en-US" b="0" kern="0" dirty="0">
                <a:solidFill>
                  <a:srgbClr val="000000"/>
                </a:solidFill>
              </a:rPr>
              <a:t>Spreading provides the distinct values to be pivoted across</a:t>
            </a:r>
          </a:p>
          <a:p>
            <a:pPr marL="457200" lvl="0" indent="-457200">
              <a:buFont typeface="+mj-lt"/>
              <a:buAutoNum type="arabicPeriod"/>
            </a:pPr>
            <a:r>
              <a:rPr lang="en-US" b="0" kern="0" dirty="0">
                <a:solidFill>
                  <a:srgbClr val="000000"/>
                </a:solidFill>
              </a:rPr>
              <a:t>Aggregation performs an aggregation function (such as SUM)</a:t>
            </a:r>
          </a:p>
          <a:p>
            <a:pPr lvl="0"/>
            <a:endParaRPr lang="en-US" b="0" kern="0" dirty="0">
              <a:solidFill>
                <a:srgbClr val="000000"/>
              </a:solidFill>
            </a:endParaRPr>
          </a:p>
        </p:txBody>
      </p:sp>
    </p:spTree>
    <p:custDataLst>
      <p:tags r:id="rId1"/>
    </p:custDataLst>
    <p:extLst>
      <p:ext uri="{BB962C8B-B14F-4D97-AF65-F5344CB8AC3E}">
        <p14:creationId xmlns:p14="http://schemas.microsoft.com/office/powerpoint/2010/main" val="82087782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27f97cdb-115a-4970-bee6-d92e92fabbeb">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Elements of PIVOT</a:t>
            </a:r>
            <a:endParaRPr lang="en-GB" dirty="0"/>
          </a:p>
        </p:txBody>
      </p:sp>
      <p:sp>
        <p:nvSpPr>
          <p:cNvPr id="5" name="AutoShape 3"/>
          <p:cNvSpPr>
            <a:spLocks noChangeArrowheads="1"/>
          </p:cNvSpPr>
          <p:nvPr/>
        </p:nvSpPr>
        <p:spPr bwMode="auto">
          <a:xfrm>
            <a:off x="415925" y="998546"/>
            <a:ext cx="6256338" cy="2014002"/>
          </a:xfrm>
          <a:prstGeom prst="roundRect">
            <a:avLst>
              <a:gd name="adj" fmla="val 0"/>
            </a:avLst>
          </a:prstGeom>
          <a:solidFill>
            <a:srgbClr val="D2D2D2"/>
          </a:solidFill>
          <a:ln w="9525" algn="ctr">
            <a:noFill/>
            <a:round/>
            <a:headEnd/>
            <a:tailEnd/>
          </a:ln>
          <a:effectLst/>
        </p:spPr>
        <p:txBody>
          <a:bodyPr anchor="ctr">
            <a:spAutoFit/>
          </a:bodyPr>
          <a:lstStyle/>
          <a:p>
            <a:r>
              <a:rPr lang="en-US" sz="2000" b="0" dirty="0">
                <a:solidFill>
                  <a:srgbClr val="0000FF"/>
                </a:solidFill>
                <a:latin typeface="Lucida Sans Unicode" panose="020B0602030504020204" pitchFamily="34" charset="0"/>
                <a:cs typeface="Lucida Sans Unicode" panose="020B0602030504020204" pitchFamily="34" charset="0"/>
              </a:rPr>
              <a:t>SELECT</a:t>
            </a:r>
            <a:r>
              <a:rPr lang="en-US" sz="2000" b="0" dirty="0">
                <a:solidFill>
                  <a:prstClr val="black"/>
                </a:solidFill>
                <a:latin typeface="Lucida Sans Unicode" panose="020B0602030504020204" pitchFamily="34" charset="0"/>
                <a:cs typeface="Lucida Sans Unicode" panose="020B0602030504020204" pitchFamily="34" charset="0"/>
              </a:rPr>
              <a:t>  Category</a:t>
            </a:r>
            <a:r>
              <a:rPr lang="en-US" sz="2000" b="0" dirty="0">
                <a:solidFill>
                  <a:srgbClr val="808080"/>
                </a:solidFill>
                <a:latin typeface="Lucida Sans Unicode" panose="020B0602030504020204" pitchFamily="34" charset="0"/>
                <a:cs typeface="Lucida Sans Unicode" panose="020B0602030504020204" pitchFamily="34" charset="0"/>
              </a:rPr>
              <a:t>,</a:t>
            </a:r>
            <a:r>
              <a:rPr lang="en-US" sz="2000" b="0" dirty="0">
                <a:solidFill>
                  <a:prstClr val="black"/>
                </a:solidFill>
                <a:latin typeface="Lucida Sans Unicode" panose="020B0602030504020204" pitchFamily="34" charset="0"/>
                <a:cs typeface="Lucida Sans Unicode" panose="020B0602030504020204" pitchFamily="34" charset="0"/>
              </a:rPr>
              <a:t> [2006]</a:t>
            </a:r>
            <a:r>
              <a:rPr lang="en-US" sz="2000" b="0" dirty="0">
                <a:solidFill>
                  <a:srgbClr val="808080"/>
                </a:solidFill>
                <a:latin typeface="Lucida Sans Unicode" panose="020B0602030504020204" pitchFamily="34" charset="0"/>
                <a:cs typeface="Lucida Sans Unicode" panose="020B0602030504020204" pitchFamily="34" charset="0"/>
              </a:rPr>
              <a:t>,</a:t>
            </a:r>
            <a:r>
              <a:rPr lang="en-US" sz="2000" b="0" dirty="0">
                <a:solidFill>
                  <a:prstClr val="black"/>
                </a:solidFill>
                <a:latin typeface="Lucida Sans Unicode" panose="020B0602030504020204" pitchFamily="34" charset="0"/>
                <a:cs typeface="Lucida Sans Unicode" panose="020B0602030504020204" pitchFamily="34" charset="0"/>
              </a:rPr>
              <a:t>[2007]</a:t>
            </a:r>
            <a:r>
              <a:rPr lang="en-US" sz="2000" b="0" dirty="0">
                <a:solidFill>
                  <a:srgbClr val="808080"/>
                </a:solidFill>
                <a:latin typeface="Lucida Sans Unicode" panose="020B0602030504020204" pitchFamily="34" charset="0"/>
                <a:cs typeface="Lucida Sans Unicode" panose="020B0602030504020204" pitchFamily="34" charset="0"/>
              </a:rPr>
              <a:t>,</a:t>
            </a:r>
            <a:r>
              <a:rPr lang="en-US" sz="2000" b="0" dirty="0">
                <a:solidFill>
                  <a:prstClr val="black"/>
                </a:solidFill>
                <a:latin typeface="Lucida Sans Unicode" panose="020B0602030504020204" pitchFamily="34" charset="0"/>
                <a:cs typeface="Lucida Sans Unicode" panose="020B0602030504020204" pitchFamily="34" charset="0"/>
              </a:rPr>
              <a:t>[2008]</a:t>
            </a:r>
          </a:p>
          <a:p>
            <a:r>
              <a:rPr lang="en-US" sz="2000" b="0" dirty="0">
                <a:solidFill>
                  <a:srgbClr val="0000FF"/>
                </a:solidFill>
                <a:latin typeface="Lucida Sans Unicode" panose="020B0602030504020204" pitchFamily="34" charset="0"/>
                <a:cs typeface="Lucida Sans Unicode" panose="020B0602030504020204" pitchFamily="34" charset="0"/>
              </a:rPr>
              <a:t>FROM </a:t>
            </a:r>
            <a:r>
              <a:rPr lang="en-US" sz="2000" b="0" dirty="0">
                <a:solidFill>
                  <a:srgbClr val="808080"/>
                </a:solidFill>
                <a:latin typeface="Lucida Sans Unicode" panose="020B0602030504020204" pitchFamily="34" charset="0"/>
                <a:cs typeface="Lucida Sans Unicode" panose="020B0602030504020204" pitchFamily="34" charset="0"/>
              </a:rPr>
              <a:t>(</a:t>
            </a:r>
            <a:r>
              <a:rPr lang="en-US" sz="2000" b="0" dirty="0">
                <a:solidFill>
                  <a:srgbClr val="0000FF"/>
                </a:solidFill>
                <a:latin typeface="Lucida Sans Unicode" panose="020B0602030504020204" pitchFamily="34" charset="0"/>
                <a:cs typeface="Lucida Sans Unicode" panose="020B0602030504020204" pitchFamily="34" charset="0"/>
              </a:rPr>
              <a:t>SELECT</a:t>
            </a:r>
            <a:r>
              <a:rPr lang="en-US" sz="2000" b="0" dirty="0">
                <a:solidFill>
                  <a:prstClr val="black"/>
                </a:solidFill>
                <a:latin typeface="Lucida Sans Unicode" panose="020B0602030504020204" pitchFamily="34" charset="0"/>
                <a:cs typeface="Lucida Sans Unicode" panose="020B0602030504020204" pitchFamily="34" charset="0"/>
              </a:rPr>
              <a:t>  Category</a:t>
            </a:r>
            <a:r>
              <a:rPr lang="en-US" sz="2000" b="0" dirty="0">
                <a:solidFill>
                  <a:srgbClr val="808080"/>
                </a:solidFill>
                <a:latin typeface="Lucida Sans Unicode" panose="020B0602030504020204" pitchFamily="34" charset="0"/>
                <a:cs typeface="Lucida Sans Unicode" panose="020B0602030504020204" pitchFamily="34" charset="0"/>
              </a:rPr>
              <a:t>,</a:t>
            </a:r>
            <a:r>
              <a:rPr lang="en-US" sz="2000" b="0" dirty="0">
                <a:solidFill>
                  <a:prstClr val="black"/>
                </a:solidFill>
                <a:latin typeface="Lucida Sans Unicode" panose="020B0602030504020204" pitchFamily="34" charset="0"/>
                <a:cs typeface="Lucida Sans Unicode" panose="020B0602030504020204" pitchFamily="34" charset="0"/>
              </a:rPr>
              <a:t> Qty</a:t>
            </a:r>
            <a:r>
              <a:rPr lang="en-US" sz="2000" b="0" dirty="0">
                <a:solidFill>
                  <a:srgbClr val="808080"/>
                </a:solidFill>
                <a:latin typeface="Lucida Sans Unicode" panose="020B0602030504020204" pitchFamily="34" charset="0"/>
                <a:cs typeface="Lucida Sans Unicode" panose="020B0602030504020204" pitchFamily="34" charset="0"/>
              </a:rPr>
              <a:t>,</a:t>
            </a:r>
            <a:r>
              <a:rPr lang="en-US" sz="2000" b="0" dirty="0">
                <a:solidFill>
                  <a:prstClr val="black"/>
                </a:solidFill>
                <a:latin typeface="Lucida Sans Unicode" panose="020B0602030504020204" pitchFamily="34" charset="0"/>
                <a:cs typeface="Lucida Sans Unicode" panose="020B0602030504020204" pitchFamily="34" charset="0"/>
              </a:rPr>
              <a:t> Orderyear 	</a:t>
            </a:r>
            <a:r>
              <a:rPr lang="en-US" sz="2000" b="0" dirty="0">
                <a:solidFill>
                  <a:srgbClr val="0000FF"/>
                </a:solidFill>
                <a:latin typeface="Lucida Sans Unicode" panose="020B0602030504020204" pitchFamily="34" charset="0"/>
                <a:cs typeface="Lucida Sans Unicode" panose="020B0602030504020204" pitchFamily="34" charset="0"/>
              </a:rPr>
              <a:t>FROM</a:t>
            </a:r>
            <a:r>
              <a:rPr lang="en-US" sz="2000" b="0" dirty="0">
                <a:solidFill>
                  <a:prstClr val="black"/>
                </a:solidFill>
                <a:latin typeface="Lucida Sans Unicode" panose="020B0602030504020204" pitchFamily="34" charset="0"/>
                <a:cs typeface="Lucida Sans Unicode" panose="020B0602030504020204" pitchFamily="34" charset="0"/>
              </a:rPr>
              <a:t> Sales</a:t>
            </a:r>
            <a:r>
              <a:rPr lang="en-US" sz="2000" b="0" dirty="0">
                <a:solidFill>
                  <a:srgbClr val="808080"/>
                </a:solidFill>
                <a:latin typeface="Lucida Sans Unicode" panose="020B0602030504020204" pitchFamily="34" charset="0"/>
                <a:cs typeface="Lucida Sans Unicode" panose="020B0602030504020204" pitchFamily="34" charset="0"/>
              </a:rPr>
              <a:t>.</a:t>
            </a:r>
            <a:r>
              <a:rPr lang="en-US" sz="2000" b="0" dirty="0">
                <a:solidFill>
                  <a:prstClr val="black"/>
                </a:solidFill>
                <a:latin typeface="Lucida Sans Unicode" panose="020B0602030504020204" pitchFamily="34" charset="0"/>
                <a:cs typeface="Lucida Sans Unicode" panose="020B0602030504020204" pitchFamily="34" charset="0"/>
              </a:rPr>
              <a:t>CategoryQtyYear</a:t>
            </a:r>
            <a:r>
              <a:rPr lang="en-US" sz="2000" b="0" dirty="0">
                <a:solidFill>
                  <a:srgbClr val="808080"/>
                </a:solidFill>
                <a:latin typeface="Lucida Sans Unicode" panose="020B0602030504020204" pitchFamily="34" charset="0"/>
                <a:cs typeface="Lucida Sans Unicode" panose="020B0602030504020204" pitchFamily="34" charset="0"/>
              </a:rPr>
              <a:t>)</a:t>
            </a:r>
            <a:r>
              <a:rPr lang="en-US" sz="2000" b="0" dirty="0">
                <a:solidFill>
                  <a:prstClr val="black"/>
                </a:solidFill>
                <a:latin typeface="Lucida Sans Unicode" panose="020B0602030504020204" pitchFamily="34" charset="0"/>
                <a:cs typeface="Lucida Sans Unicode" panose="020B0602030504020204" pitchFamily="34" charset="0"/>
              </a:rPr>
              <a:t> </a:t>
            </a:r>
            <a:r>
              <a:rPr lang="en-US" sz="2000" b="0" dirty="0">
                <a:solidFill>
                  <a:srgbClr val="0000FF"/>
                </a:solidFill>
                <a:latin typeface="Lucida Sans Unicode" panose="020B0602030504020204" pitchFamily="34" charset="0"/>
                <a:cs typeface="Lucida Sans Unicode" panose="020B0602030504020204" pitchFamily="34" charset="0"/>
              </a:rPr>
              <a:t>AS</a:t>
            </a:r>
            <a:r>
              <a:rPr lang="en-US" sz="2000" b="0" dirty="0">
                <a:solidFill>
                  <a:prstClr val="black"/>
                </a:solidFill>
                <a:latin typeface="Lucida Sans Unicode" panose="020B0602030504020204" pitchFamily="34" charset="0"/>
                <a:cs typeface="Lucida Sans Unicode" panose="020B0602030504020204" pitchFamily="34" charset="0"/>
              </a:rPr>
              <a:t> D </a:t>
            </a:r>
          </a:p>
          <a:p>
            <a:r>
              <a:rPr lang="en-US" sz="2000" b="0" dirty="0">
                <a:solidFill>
                  <a:srgbClr val="808080"/>
                </a:solidFill>
                <a:latin typeface="Lucida Sans Unicode" panose="020B0602030504020204" pitchFamily="34" charset="0"/>
                <a:cs typeface="Lucida Sans Unicode" panose="020B0602030504020204" pitchFamily="34" charset="0"/>
              </a:rPr>
              <a:t>PIVOT(</a:t>
            </a:r>
            <a:r>
              <a:rPr lang="en-US" sz="2000" b="0" dirty="0">
                <a:solidFill>
                  <a:srgbClr val="FF00FF"/>
                </a:solidFill>
                <a:latin typeface="Lucida Sans Unicode" panose="020B0602030504020204" pitchFamily="34" charset="0"/>
                <a:cs typeface="Lucida Sans Unicode" panose="020B0602030504020204" pitchFamily="34" charset="0"/>
              </a:rPr>
              <a:t>SUM</a:t>
            </a:r>
            <a:r>
              <a:rPr lang="en-US" sz="2000" b="0" dirty="0">
                <a:solidFill>
                  <a:srgbClr val="808080"/>
                </a:solidFill>
                <a:latin typeface="Lucida Sans Unicode" panose="020B0602030504020204" pitchFamily="34" charset="0"/>
                <a:cs typeface="Lucida Sans Unicode" panose="020B0602030504020204" pitchFamily="34" charset="0"/>
              </a:rPr>
              <a:t>(</a:t>
            </a:r>
            <a:r>
              <a:rPr lang="en-US" sz="2000" b="0" dirty="0">
                <a:solidFill>
                  <a:prstClr val="black"/>
                </a:solidFill>
                <a:latin typeface="Lucida Sans Unicode" panose="020B0602030504020204" pitchFamily="34" charset="0"/>
                <a:cs typeface="Lucida Sans Unicode" panose="020B0602030504020204" pitchFamily="34" charset="0"/>
              </a:rPr>
              <a:t>QTY</a:t>
            </a:r>
            <a:r>
              <a:rPr lang="en-US" sz="2000" b="0" dirty="0">
                <a:solidFill>
                  <a:srgbClr val="808080"/>
                </a:solidFill>
                <a:latin typeface="Lucida Sans Unicode" panose="020B0602030504020204" pitchFamily="34" charset="0"/>
                <a:cs typeface="Lucida Sans Unicode" panose="020B0602030504020204" pitchFamily="34" charset="0"/>
              </a:rPr>
              <a:t>)</a:t>
            </a:r>
            <a:r>
              <a:rPr lang="en-US" sz="2000" b="0" dirty="0">
                <a:solidFill>
                  <a:prstClr val="black"/>
                </a:solidFill>
                <a:latin typeface="Lucida Sans Unicode" panose="020B0602030504020204" pitchFamily="34" charset="0"/>
                <a:cs typeface="Lucida Sans Unicode" panose="020B0602030504020204" pitchFamily="34" charset="0"/>
              </a:rPr>
              <a:t> </a:t>
            </a:r>
            <a:r>
              <a:rPr lang="en-US" sz="2000" b="0" dirty="0">
                <a:solidFill>
                  <a:srgbClr val="0000FF"/>
                </a:solidFill>
                <a:latin typeface="Lucida Sans Unicode" panose="020B0602030504020204" pitchFamily="34" charset="0"/>
                <a:cs typeface="Lucida Sans Unicode" panose="020B0602030504020204" pitchFamily="34" charset="0"/>
              </a:rPr>
              <a:t>FOR</a:t>
            </a:r>
            <a:r>
              <a:rPr lang="en-US" sz="2000" b="0" dirty="0">
                <a:solidFill>
                  <a:prstClr val="black"/>
                </a:solidFill>
                <a:latin typeface="Lucida Sans Unicode" panose="020B0602030504020204" pitchFamily="34" charset="0"/>
                <a:cs typeface="Lucida Sans Unicode" panose="020B0602030504020204" pitchFamily="34" charset="0"/>
              </a:rPr>
              <a:t> orderyear </a:t>
            </a:r>
          </a:p>
          <a:p>
            <a:r>
              <a:rPr lang="en-US" sz="2000" b="0" dirty="0">
                <a:solidFill>
                  <a:prstClr val="black"/>
                </a:solidFill>
                <a:latin typeface="Lucida Sans Unicode" panose="020B0602030504020204" pitchFamily="34" charset="0"/>
                <a:cs typeface="Lucida Sans Unicode" panose="020B0602030504020204" pitchFamily="34" charset="0"/>
              </a:rPr>
              <a:t>	</a:t>
            </a:r>
            <a:r>
              <a:rPr lang="en-US" sz="2000" b="0" dirty="0">
                <a:solidFill>
                  <a:srgbClr val="808080"/>
                </a:solidFill>
                <a:latin typeface="Lucida Sans Unicode" panose="020B0602030504020204" pitchFamily="34" charset="0"/>
                <a:cs typeface="Lucida Sans Unicode" panose="020B0602030504020204" pitchFamily="34" charset="0"/>
              </a:rPr>
              <a:t>IN</a:t>
            </a:r>
            <a:r>
              <a:rPr lang="en-US" sz="2000" b="0" dirty="0">
                <a:solidFill>
                  <a:srgbClr val="0000FF"/>
                </a:solidFill>
                <a:latin typeface="Lucida Sans Unicode" panose="020B0602030504020204" pitchFamily="34" charset="0"/>
                <a:cs typeface="Lucida Sans Unicode" panose="020B0602030504020204" pitchFamily="34" charset="0"/>
              </a:rPr>
              <a:t> </a:t>
            </a:r>
            <a:r>
              <a:rPr lang="en-US" sz="2000" b="0" dirty="0">
                <a:solidFill>
                  <a:srgbClr val="808080"/>
                </a:solidFill>
                <a:latin typeface="Lucida Sans Unicode" panose="020B0602030504020204" pitchFamily="34" charset="0"/>
                <a:cs typeface="Lucida Sans Unicode" panose="020B0602030504020204" pitchFamily="34" charset="0"/>
              </a:rPr>
              <a:t>(</a:t>
            </a:r>
            <a:r>
              <a:rPr lang="en-US" sz="2000" b="0" dirty="0">
                <a:solidFill>
                  <a:prstClr val="black"/>
                </a:solidFill>
                <a:latin typeface="Lucida Sans Unicode" panose="020B0602030504020204" pitchFamily="34" charset="0"/>
                <a:cs typeface="Lucida Sans Unicode" panose="020B0602030504020204" pitchFamily="34" charset="0"/>
              </a:rPr>
              <a:t>[2006]</a:t>
            </a:r>
            <a:r>
              <a:rPr lang="en-US" sz="2000" b="0" dirty="0">
                <a:solidFill>
                  <a:srgbClr val="808080"/>
                </a:solidFill>
                <a:latin typeface="Lucida Sans Unicode" panose="020B0602030504020204" pitchFamily="34" charset="0"/>
                <a:cs typeface="Lucida Sans Unicode" panose="020B0602030504020204" pitchFamily="34" charset="0"/>
              </a:rPr>
              <a:t>,</a:t>
            </a:r>
            <a:r>
              <a:rPr lang="en-US" sz="2000" b="0" dirty="0">
                <a:solidFill>
                  <a:prstClr val="black"/>
                </a:solidFill>
                <a:latin typeface="Lucida Sans Unicode" panose="020B0602030504020204" pitchFamily="34" charset="0"/>
                <a:cs typeface="Lucida Sans Unicode" panose="020B0602030504020204" pitchFamily="34" charset="0"/>
              </a:rPr>
              <a:t>[2007]</a:t>
            </a:r>
            <a:r>
              <a:rPr lang="en-US" sz="2000" b="0" dirty="0">
                <a:solidFill>
                  <a:srgbClr val="808080"/>
                </a:solidFill>
                <a:latin typeface="Lucida Sans Unicode" panose="020B0602030504020204" pitchFamily="34" charset="0"/>
                <a:cs typeface="Lucida Sans Unicode" panose="020B0602030504020204" pitchFamily="34" charset="0"/>
              </a:rPr>
              <a:t>,</a:t>
            </a:r>
            <a:r>
              <a:rPr lang="en-US" sz="2000" b="0" dirty="0">
                <a:solidFill>
                  <a:prstClr val="black"/>
                </a:solidFill>
                <a:latin typeface="Lucida Sans Unicode" panose="020B0602030504020204" pitchFamily="34" charset="0"/>
                <a:cs typeface="Lucida Sans Unicode" panose="020B0602030504020204" pitchFamily="34" charset="0"/>
              </a:rPr>
              <a:t>[2008]</a:t>
            </a:r>
            <a:r>
              <a:rPr lang="en-US" sz="2000" b="0" dirty="0">
                <a:solidFill>
                  <a:srgbClr val="808080"/>
                </a:solidFill>
                <a:latin typeface="Lucida Sans Unicode" panose="020B0602030504020204" pitchFamily="34" charset="0"/>
                <a:cs typeface="Lucida Sans Unicode" panose="020B0602030504020204" pitchFamily="34" charset="0"/>
              </a:rPr>
              <a:t>))</a:t>
            </a:r>
            <a:r>
              <a:rPr lang="en-US" sz="2000" b="0" dirty="0">
                <a:solidFill>
                  <a:prstClr val="black"/>
                </a:solidFill>
                <a:latin typeface="Lucida Sans Unicode" panose="020B0602030504020204" pitchFamily="34" charset="0"/>
                <a:cs typeface="Lucida Sans Unicode" panose="020B0602030504020204" pitchFamily="34" charset="0"/>
              </a:rPr>
              <a:t> </a:t>
            </a:r>
            <a:r>
              <a:rPr lang="en-US" sz="2000" b="0" dirty="0">
                <a:solidFill>
                  <a:srgbClr val="0000FF"/>
                </a:solidFill>
                <a:latin typeface="Lucida Sans Unicode" panose="020B0602030504020204" pitchFamily="34" charset="0"/>
                <a:cs typeface="Lucida Sans Unicode" panose="020B0602030504020204" pitchFamily="34" charset="0"/>
              </a:rPr>
              <a:t>AS</a:t>
            </a:r>
            <a:r>
              <a:rPr lang="en-US" sz="2000" b="0" dirty="0">
                <a:solidFill>
                  <a:prstClr val="black"/>
                </a:solidFill>
                <a:latin typeface="Lucida Sans Unicode" panose="020B0602030504020204" pitchFamily="34" charset="0"/>
                <a:cs typeface="Lucida Sans Unicode" panose="020B0602030504020204" pitchFamily="34" charset="0"/>
              </a:rPr>
              <a:t> pvt</a:t>
            </a:r>
          </a:p>
          <a:p>
            <a:r>
              <a:rPr lang="en-US" sz="2000" b="0" dirty="0">
                <a:solidFill>
                  <a:srgbClr val="0000FF"/>
                </a:solidFill>
                <a:latin typeface="Lucida Sans Unicode" panose="020B0602030504020204" pitchFamily="34" charset="0"/>
                <a:cs typeface="Lucida Sans Unicode" panose="020B0602030504020204" pitchFamily="34" charset="0"/>
              </a:rPr>
              <a:t>ORDER</a:t>
            </a:r>
            <a:r>
              <a:rPr lang="en-US" sz="2000" b="0" dirty="0">
                <a:solidFill>
                  <a:prstClr val="black"/>
                </a:solidFill>
                <a:latin typeface="Lucida Sans Unicode" panose="020B0602030504020204" pitchFamily="34" charset="0"/>
                <a:cs typeface="Lucida Sans Unicode" panose="020B0602030504020204" pitchFamily="34" charset="0"/>
              </a:rPr>
              <a:t> </a:t>
            </a:r>
            <a:r>
              <a:rPr lang="en-US" sz="2000" b="0" dirty="0">
                <a:solidFill>
                  <a:srgbClr val="0000FF"/>
                </a:solidFill>
                <a:latin typeface="Lucida Sans Unicode" panose="020B0602030504020204" pitchFamily="34" charset="0"/>
                <a:cs typeface="Lucida Sans Unicode" panose="020B0602030504020204" pitchFamily="34" charset="0"/>
              </a:rPr>
              <a:t>BY</a:t>
            </a:r>
            <a:r>
              <a:rPr lang="en-US" sz="2000" b="0" dirty="0">
                <a:solidFill>
                  <a:prstClr val="black"/>
                </a:solidFill>
                <a:latin typeface="Lucida Sans Unicode" panose="020B0602030504020204" pitchFamily="34" charset="0"/>
                <a:cs typeface="Lucida Sans Unicode" panose="020B0602030504020204" pitchFamily="34" charset="0"/>
              </a:rPr>
              <a:t> Category</a:t>
            </a:r>
            <a:r>
              <a:rPr lang="en-US" sz="2000" b="0" dirty="0">
                <a:solidFill>
                  <a:srgbClr val="808080"/>
                </a:solidFill>
                <a:latin typeface="Lucida Sans Unicode" panose="020B0602030504020204" pitchFamily="34" charset="0"/>
                <a:cs typeface="Lucida Sans Unicode" panose="020B0602030504020204" pitchFamily="34" charset="0"/>
              </a:rPr>
              <a:t>;</a:t>
            </a:r>
            <a:endParaRPr lang="en-US" sz="2000" b="0" dirty="0">
              <a:latin typeface="Lucida Sans Unicode" panose="020B0602030504020204" pitchFamily="34" charset="0"/>
              <a:cs typeface="Lucida Sans Unicode" panose="020B0602030504020204" pitchFamily="34" charset="0"/>
            </a:endParaRPr>
          </a:p>
        </p:txBody>
      </p:sp>
      <p:sp>
        <p:nvSpPr>
          <p:cNvPr id="6" name="AutoShape 3"/>
          <p:cNvSpPr>
            <a:spLocks noChangeArrowheads="1"/>
          </p:cNvSpPr>
          <p:nvPr/>
        </p:nvSpPr>
        <p:spPr bwMode="auto">
          <a:xfrm>
            <a:off x="2187574" y="3333124"/>
            <a:ext cx="6256338" cy="2973050"/>
          </a:xfrm>
          <a:prstGeom prst="roundRect">
            <a:avLst>
              <a:gd name="adj" fmla="val 0"/>
            </a:avLst>
          </a:prstGeom>
          <a:solidFill>
            <a:srgbClr val="D2D2D2"/>
          </a:solidFill>
          <a:ln w="9525" algn="ctr">
            <a:noFill/>
            <a:round/>
            <a:headEnd/>
            <a:tailEnd/>
          </a:ln>
          <a:effectLst/>
        </p:spPr>
        <p:txBody>
          <a:bodyPr anchor="ctr">
            <a:spAutoFit/>
          </a:bodyPr>
          <a:lstStyle/>
          <a:p>
            <a:r>
              <a:rPr lang="en-US" b="0" dirty="0">
                <a:latin typeface="Lucida Sans Typewriter" pitchFamily="49" charset="0"/>
                <a:cs typeface="+mn-cs"/>
              </a:rPr>
              <a:t>Category       2006 2007 2008</a:t>
            </a:r>
          </a:p>
          <a:p>
            <a:r>
              <a:rPr lang="en-US" b="0" dirty="0">
                <a:latin typeface="Lucida Sans Typewriter" pitchFamily="49" charset="0"/>
                <a:cs typeface="+mn-cs"/>
              </a:rPr>
              <a:t>-------------- ---- ---- ----</a:t>
            </a:r>
          </a:p>
          <a:p>
            <a:r>
              <a:rPr lang="en-US" b="0" dirty="0">
                <a:latin typeface="Lucida Sans Typewriter" pitchFamily="49" charset="0"/>
                <a:cs typeface="+mn-cs"/>
              </a:rPr>
              <a:t>Beverages      1842 3996 3694</a:t>
            </a:r>
          </a:p>
          <a:p>
            <a:r>
              <a:rPr lang="en-US" b="0" dirty="0">
                <a:latin typeface="Lucida Sans Typewriter" pitchFamily="49" charset="0"/>
                <a:cs typeface="+mn-cs"/>
              </a:rPr>
              <a:t>Condiments     962  2895 1441</a:t>
            </a:r>
          </a:p>
          <a:p>
            <a:r>
              <a:rPr lang="en-US" b="0" dirty="0">
                <a:latin typeface="Lucida Sans Typewriter" pitchFamily="49" charset="0"/>
                <a:cs typeface="+mn-cs"/>
              </a:rPr>
              <a:t>Confections    1357 4137 2412</a:t>
            </a:r>
          </a:p>
          <a:p>
            <a:r>
              <a:rPr lang="en-US" b="0" dirty="0">
                <a:latin typeface="Lucida Sans Typewriter" pitchFamily="49" charset="0"/>
                <a:cs typeface="+mn-cs"/>
              </a:rPr>
              <a:t>Dairy Products 2086 4374 2689</a:t>
            </a:r>
          </a:p>
          <a:p>
            <a:r>
              <a:rPr lang="en-US" b="0" dirty="0">
                <a:latin typeface="Lucida Sans Typewriter" pitchFamily="49" charset="0"/>
                <a:cs typeface="+mn-cs"/>
              </a:rPr>
              <a:t>Grains/Cereals 549  2636 1377</a:t>
            </a:r>
          </a:p>
          <a:p>
            <a:r>
              <a:rPr lang="en-US" b="0" dirty="0">
                <a:latin typeface="Lucida Sans Typewriter" pitchFamily="49" charset="0"/>
                <a:cs typeface="+mn-cs"/>
              </a:rPr>
              <a:t>Meat/Poultry   950  2189 1060</a:t>
            </a:r>
          </a:p>
          <a:p>
            <a:r>
              <a:rPr lang="en-US" b="0" dirty="0">
                <a:latin typeface="Lucida Sans Typewriter" pitchFamily="49" charset="0"/>
                <a:cs typeface="+mn-cs"/>
              </a:rPr>
              <a:t>Produce        549  1583 858</a:t>
            </a:r>
          </a:p>
          <a:p>
            <a:r>
              <a:rPr lang="en-US" b="0" dirty="0">
                <a:latin typeface="Lucida Sans Typewriter" pitchFamily="49" charset="0"/>
                <a:cs typeface="+mn-cs"/>
              </a:rPr>
              <a:t>Seafood        1286 3679 2716</a:t>
            </a:r>
          </a:p>
        </p:txBody>
      </p:sp>
    </p:spTree>
    <p:custDataLst>
      <p:tags r:id="rId1"/>
    </p:custDataLst>
    <p:extLst>
      <p:ext uri="{BB962C8B-B14F-4D97-AF65-F5344CB8AC3E}">
        <p14:creationId xmlns:p14="http://schemas.microsoft.com/office/powerpoint/2010/main" val="44691226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3c65190f-0c8d-49bf-8479-4ff8dcef448c">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Writing Queries with UNPIVOT</a:t>
            </a:r>
            <a:endParaRPr lang="en-GB" dirty="0"/>
          </a:p>
        </p:txBody>
      </p:sp>
      <p:sp>
        <p:nvSpPr>
          <p:cNvPr id="5" name="Content Placeholder 2"/>
          <p:cNvSpPr txBox="1">
            <a:spLocks/>
          </p:cNvSpPr>
          <p:nvPr/>
        </p:nvSpPr>
        <p:spPr bwMode="auto">
          <a:xfrm>
            <a:off x="458788" y="1021215"/>
            <a:ext cx="8119156" cy="5147356"/>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lvl1pPr marL="174625" indent="-174625" algn="l" rtl="0" eaLnBrk="1" fontAlgn="base" hangingPunct="1">
              <a:lnSpc>
                <a:spcPct val="100000"/>
              </a:lnSpc>
              <a:spcBef>
                <a:spcPts val="600"/>
              </a:spcBef>
              <a:spcAft>
                <a:spcPct val="0"/>
              </a:spcAft>
              <a:buClr>
                <a:srgbClr val="0070C0"/>
              </a:buClr>
              <a:buSzPct val="90000"/>
              <a:buFont typeface="Arial" pitchFamily="34" charset="0"/>
              <a:buChar char="•"/>
              <a:defRPr sz="2800">
                <a:solidFill>
                  <a:schemeClr val="tx1"/>
                </a:solidFill>
                <a:latin typeface="Segoe UI" pitchFamily="34" charset="0"/>
                <a:ea typeface="Segoe UI" pitchFamily="34" charset="0"/>
                <a:cs typeface="Segoe UI" pitchFamily="34" charset="0"/>
              </a:defRPr>
            </a:lvl1pPr>
            <a:lvl2pPr marL="458788" indent="-169863" algn="l" rtl="0" eaLnBrk="1" fontAlgn="base" hangingPunct="1">
              <a:lnSpc>
                <a:spcPct val="100000"/>
              </a:lnSpc>
              <a:spcBef>
                <a:spcPts val="600"/>
              </a:spcBef>
              <a:spcAft>
                <a:spcPct val="0"/>
              </a:spcAft>
              <a:buClr>
                <a:srgbClr val="0070C0"/>
              </a:buClr>
              <a:buSzPct val="80000"/>
              <a:buFont typeface="Arial" pitchFamily="34" charset="0"/>
              <a:buChar char="•"/>
              <a:defRPr sz="2400">
                <a:solidFill>
                  <a:schemeClr val="tx1"/>
                </a:solidFill>
                <a:latin typeface="Segoe UI" pitchFamily="34" charset="0"/>
                <a:ea typeface="Segoe UI" pitchFamily="34" charset="0"/>
                <a:cs typeface="Segoe UI" pitchFamily="34" charset="0"/>
              </a:defRPr>
            </a:lvl2pPr>
            <a:lvl3pPr marL="854075" indent="-173038" algn="l" rtl="0" eaLnBrk="1" fontAlgn="base" hangingPunct="1">
              <a:lnSpc>
                <a:spcPct val="100000"/>
              </a:lnSpc>
              <a:spcBef>
                <a:spcPts val="600"/>
              </a:spcBef>
              <a:spcAft>
                <a:spcPct val="0"/>
              </a:spcAft>
              <a:buClr>
                <a:srgbClr val="0070C0"/>
              </a:buClr>
              <a:buSzPct val="80000"/>
              <a:buFont typeface="Arial" pitchFamily="34" charset="0"/>
              <a:buChar char="•"/>
              <a:defRPr sz="2000">
                <a:solidFill>
                  <a:schemeClr val="tx1"/>
                </a:solidFill>
                <a:latin typeface="Segoe UI" pitchFamily="34" charset="0"/>
                <a:ea typeface="Segoe UI" pitchFamily="34" charset="0"/>
                <a:cs typeface="Segoe UI" pitchFamily="34" charset="0"/>
              </a:defRPr>
            </a:lvl3pPr>
            <a:lvl4pPr marL="1254125" indent="-165100"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4pPr>
            <a:lvl5pPr marL="1544638" indent="-168275"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5pPr>
            <a:lvl6pPr marL="20018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6pPr>
            <a:lvl7pPr marL="24590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7pPr>
            <a:lvl8pPr marL="29162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8pPr>
            <a:lvl9pPr marL="33734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9pPr>
          </a:lstStyle>
          <a:p>
            <a:r>
              <a:rPr lang="en-US" b="0" kern="0" dirty="0" smtClean="0"/>
              <a:t>Unpivoting data is rotating data from a columns-based orientation to a rows-based orientation</a:t>
            </a:r>
          </a:p>
          <a:p>
            <a:r>
              <a:rPr lang="en-US" b="0" kern="0" dirty="0" smtClean="0"/>
              <a:t>Spreads or splits values from one source row into one or more target rows</a:t>
            </a:r>
          </a:p>
          <a:p>
            <a:r>
              <a:rPr lang="en-US" b="0" kern="0" dirty="0" smtClean="0"/>
              <a:t>Each source row becomes one or more rows in result set based on number of columns being pivoted</a:t>
            </a:r>
          </a:p>
          <a:p>
            <a:r>
              <a:rPr lang="en-US" b="0" kern="0" dirty="0" smtClean="0"/>
              <a:t>Unpivoting includes three elements:</a:t>
            </a:r>
          </a:p>
          <a:p>
            <a:pPr lvl="1"/>
            <a:r>
              <a:rPr lang="en-US" b="0" kern="0" dirty="0" smtClean="0"/>
              <a:t>Source columns to be unpivoted</a:t>
            </a:r>
          </a:p>
          <a:p>
            <a:pPr lvl="1"/>
            <a:r>
              <a:rPr lang="en-US" b="0" kern="0" dirty="0" smtClean="0"/>
              <a:t>Name to be assigned to new values column</a:t>
            </a:r>
          </a:p>
          <a:p>
            <a:pPr lvl="1"/>
            <a:r>
              <a:rPr lang="en-US" b="0" kern="0" dirty="0" smtClean="0"/>
              <a:t>Name to be assigned to names columns</a:t>
            </a:r>
          </a:p>
          <a:p>
            <a:endParaRPr lang="en-US" b="0" kern="0" dirty="0"/>
          </a:p>
        </p:txBody>
      </p:sp>
    </p:spTree>
    <p:custDataLst>
      <p:tags r:id="rId1"/>
    </p:custDataLst>
    <p:extLst>
      <p:ext uri="{BB962C8B-B14F-4D97-AF65-F5344CB8AC3E}">
        <p14:creationId xmlns:p14="http://schemas.microsoft.com/office/powerpoint/2010/main" val="125247705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d0f424bd-8feb-43bb-928d-639b5208ae50">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Demonstration: Writing Queries with PIVOT and UNPIVOT</a:t>
            </a:r>
            <a:endParaRPr lang="en-GB" dirty="0"/>
          </a:p>
        </p:txBody>
      </p:sp>
      <p:sp>
        <p:nvSpPr>
          <p:cNvPr id="4" name="Content Placeholder 2"/>
          <p:cNvSpPr txBox="1">
            <a:spLocks/>
          </p:cNvSpPr>
          <p:nvPr/>
        </p:nvSpPr>
        <p:spPr>
          <a:xfrm>
            <a:off x="458788" y="1021215"/>
            <a:ext cx="8119156" cy="5147356"/>
          </a:xfrm>
          <a:prstGeom prst="rect">
            <a:avLst/>
          </a:prstGeom>
        </p:spPr>
        <p:txBody>
          <a:bodyPr/>
          <a:lstStyle>
            <a:lvl1pPr marL="174625" indent="-174625" algn="l" rtl="0" eaLnBrk="1" fontAlgn="base" hangingPunct="1">
              <a:lnSpc>
                <a:spcPct val="100000"/>
              </a:lnSpc>
              <a:spcBef>
                <a:spcPts val="600"/>
              </a:spcBef>
              <a:spcAft>
                <a:spcPct val="0"/>
              </a:spcAft>
              <a:buClr>
                <a:srgbClr val="0070C0"/>
              </a:buClr>
              <a:buSzPct val="90000"/>
              <a:buFont typeface="Arial" pitchFamily="34" charset="0"/>
              <a:buChar char="•"/>
              <a:defRPr sz="2800">
                <a:solidFill>
                  <a:schemeClr val="tx1"/>
                </a:solidFill>
                <a:latin typeface="Segoe UI" pitchFamily="34" charset="0"/>
                <a:ea typeface="Segoe UI" pitchFamily="34" charset="0"/>
                <a:cs typeface="Segoe UI" pitchFamily="34" charset="0"/>
              </a:defRPr>
            </a:lvl1pPr>
            <a:lvl2pPr marL="458788" indent="-169863" algn="l" rtl="0" eaLnBrk="1" fontAlgn="base" hangingPunct="1">
              <a:lnSpc>
                <a:spcPct val="100000"/>
              </a:lnSpc>
              <a:spcBef>
                <a:spcPts val="600"/>
              </a:spcBef>
              <a:spcAft>
                <a:spcPct val="0"/>
              </a:spcAft>
              <a:buClr>
                <a:srgbClr val="0070C0"/>
              </a:buClr>
              <a:buSzPct val="80000"/>
              <a:buFont typeface="Arial" pitchFamily="34" charset="0"/>
              <a:buChar char="•"/>
              <a:defRPr sz="2400">
                <a:solidFill>
                  <a:schemeClr val="tx1"/>
                </a:solidFill>
                <a:latin typeface="Segoe UI" pitchFamily="34" charset="0"/>
                <a:ea typeface="Segoe UI" pitchFamily="34" charset="0"/>
                <a:cs typeface="Segoe UI" pitchFamily="34" charset="0"/>
              </a:defRPr>
            </a:lvl2pPr>
            <a:lvl3pPr marL="854075" indent="-173038" algn="l" rtl="0" eaLnBrk="1" fontAlgn="base" hangingPunct="1">
              <a:lnSpc>
                <a:spcPct val="100000"/>
              </a:lnSpc>
              <a:spcBef>
                <a:spcPts val="600"/>
              </a:spcBef>
              <a:spcAft>
                <a:spcPct val="0"/>
              </a:spcAft>
              <a:buClr>
                <a:srgbClr val="0070C0"/>
              </a:buClr>
              <a:buSzPct val="80000"/>
              <a:buFont typeface="Arial" pitchFamily="34" charset="0"/>
              <a:buChar char="•"/>
              <a:defRPr sz="2000">
                <a:solidFill>
                  <a:schemeClr val="tx1"/>
                </a:solidFill>
                <a:latin typeface="Segoe UI" pitchFamily="34" charset="0"/>
                <a:ea typeface="Segoe UI" pitchFamily="34" charset="0"/>
                <a:cs typeface="Segoe UI" pitchFamily="34" charset="0"/>
              </a:defRPr>
            </a:lvl3pPr>
            <a:lvl4pPr marL="1254125" indent="-165100"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4pPr>
            <a:lvl5pPr marL="1544638" indent="-168275"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5pPr>
            <a:lvl6pPr marL="20018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6pPr>
            <a:lvl7pPr marL="24590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7pPr>
            <a:lvl8pPr marL="29162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8pPr>
            <a:lvl9pPr marL="33734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9pPr>
          </a:lstStyle>
          <a:p>
            <a:pPr marL="0" lvl="0" indent="0">
              <a:buNone/>
            </a:pPr>
            <a:r>
              <a:rPr lang="en-US" b="0" kern="0" dirty="0">
                <a:solidFill>
                  <a:srgbClr val="000000"/>
                </a:solidFill>
              </a:rPr>
              <a:t>In this demonstration, you will see how to:</a:t>
            </a:r>
          </a:p>
          <a:p>
            <a:pPr lvl="0"/>
            <a:r>
              <a:rPr lang="en-US" b="0" kern="0" dirty="0">
                <a:solidFill>
                  <a:srgbClr val="000000"/>
                </a:solidFill>
              </a:rPr>
              <a:t>Use PIVOT and UNPIVOT</a:t>
            </a:r>
          </a:p>
          <a:p>
            <a:pPr lvl="0"/>
            <a:endParaRPr lang="en-US" b="0" kern="0" dirty="0">
              <a:solidFill>
                <a:srgbClr val="000000"/>
              </a:solidFill>
            </a:endParaRPr>
          </a:p>
        </p:txBody>
      </p:sp>
    </p:spTree>
    <p:custDataLst>
      <p:tags r:id="rId1"/>
    </p:custDataLst>
    <p:extLst>
      <p:ext uri="{BB962C8B-B14F-4D97-AF65-F5344CB8AC3E}">
        <p14:creationId xmlns:p14="http://schemas.microsoft.com/office/powerpoint/2010/main" val="277789897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GB" dirty="0"/>
          </a:p>
        </p:txBody>
      </p:sp>
      <p:sp>
        <p:nvSpPr>
          <p:cNvPr id="3" name="Text Placeholder 2"/>
          <p:cNvSpPr>
            <a:spLocks noGrp="1"/>
          </p:cNvSpPr>
          <p:nvPr>
            <p:ph type="body" idx="1"/>
          </p:nvPr>
        </p:nvSpPr>
        <p:spPr/>
        <p:txBody>
          <a:bodyPr/>
          <a:lstStyle/>
          <a:p>
            <a:endParaRPr lang="en-GB" dirty="0"/>
          </a:p>
        </p:txBody>
      </p:sp>
    </p:spTree>
    <p:custDataLst>
      <p:tags r:id="rId1"/>
    </p:custDataLst>
    <p:extLst>
      <p:ext uri="{BB962C8B-B14F-4D97-AF65-F5344CB8AC3E}">
        <p14:creationId xmlns:p14="http://schemas.microsoft.com/office/powerpoint/2010/main" val="2130705992"/>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name="5519e9d4-6aca-488a-83ff-34891af5888c">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Lesson 2: Working with Grouping Sets</a:t>
            </a:r>
            <a:endParaRPr lang="en-GB" dirty="0"/>
          </a:p>
        </p:txBody>
      </p:sp>
      <p:sp>
        <p:nvSpPr>
          <p:cNvPr id="3" name="Text Placeholder 2"/>
          <p:cNvSpPr>
            <a:spLocks noGrp="1"/>
          </p:cNvSpPr>
          <p:nvPr>
            <p:ph type="body" idx="1"/>
          </p:nvPr>
        </p:nvSpPr>
        <p:spPr/>
        <p:txBody>
          <a:bodyPr/>
          <a:lstStyle/>
          <a:p>
            <a:r>
              <a:rPr lang="en-GB" dirty="0" smtClean="0"/>
              <a:t>Writing Queries with Grouping Sets
CUBE and ROLLUP
GROUPING_ID
Demonstration: Using Grouping Sets</a:t>
            </a:r>
            <a:endParaRPr lang="en-GB" dirty="0"/>
          </a:p>
        </p:txBody>
      </p:sp>
    </p:spTree>
    <p:custDataLst>
      <p:tags r:id="rId1"/>
    </p:custDataLst>
    <p:extLst>
      <p:ext uri="{BB962C8B-B14F-4D97-AF65-F5344CB8AC3E}">
        <p14:creationId xmlns:p14="http://schemas.microsoft.com/office/powerpoint/2010/main" val="16364751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cbaf14bf-b870-475b-b06d-496e8f8413a9">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Writing Queries with Grouping Sets</a:t>
            </a:r>
            <a:endParaRPr lang="en-GB" dirty="0"/>
          </a:p>
        </p:txBody>
      </p:sp>
      <p:sp>
        <p:nvSpPr>
          <p:cNvPr id="4" name="Content Placeholder 2"/>
          <p:cNvSpPr txBox="1">
            <a:spLocks/>
          </p:cNvSpPr>
          <p:nvPr/>
        </p:nvSpPr>
        <p:spPr>
          <a:xfrm>
            <a:off x="458788" y="1021215"/>
            <a:ext cx="8119156" cy="5147356"/>
          </a:xfrm>
          <a:prstGeom prst="rect">
            <a:avLst/>
          </a:prstGeom>
        </p:spPr>
        <p:txBody>
          <a:bodyPr/>
          <a:lstStyle>
            <a:lvl1pPr marL="174625" indent="-174625" algn="l" rtl="0" eaLnBrk="1" fontAlgn="base" hangingPunct="1">
              <a:lnSpc>
                <a:spcPct val="100000"/>
              </a:lnSpc>
              <a:spcBef>
                <a:spcPts val="600"/>
              </a:spcBef>
              <a:spcAft>
                <a:spcPct val="0"/>
              </a:spcAft>
              <a:buClr>
                <a:srgbClr val="0070C0"/>
              </a:buClr>
              <a:buSzPct val="90000"/>
              <a:buFont typeface="Arial" pitchFamily="34" charset="0"/>
              <a:buChar char="•"/>
              <a:defRPr sz="2800">
                <a:solidFill>
                  <a:schemeClr val="tx1"/>
                </a:solidFill>
                <a:latin typeface="Segoe UI" pitchFamily="34" charset="0"/>
                <a:ea typeface="Segoe UI" pitchFamily="34" charset="0"/>
                <a:cs typeface="Segoe UI" pitchFamily="34" charset="0"/>
              </a:defRPr>
            </a:lvl1pPr>
            <a:lvl2pPr marL="458788" indent="-169863" algn="l" rtl="0" eaLnBrk="1" fontAlgn="base" hangingPunct="1">
              <a:lnSpc>
                <a:spcPct val="100000"/>
              </a:lnSpc>
              <a:spcBef>
                <a:spcPts val="600"/>
              </a:spcBef>
              <a:spcAft>
                <a:spcPct val="0"/>
              </a:spcAft>
              <a:buClr>
                <a:srgbClr val="0070C0"/>
              </a:buClr>
              <a:buSzPct val="80000"/>
              <a:buFont typeface="Arial" pitchFamily="34" charset="0"/>
              <a:buChar char="•"/>
              <a:defRPr sz="2400">
                <a:solidFill>
                  <a:schemeClr val="tx1"/>
                </a:solidFill>
                <a:latin typeface="Segoe UI" pitchFamily="34" charset="0"/>
                <a:ea typeface="Segoe UI" pitchFamily="34" charset="0"/>
                <a:cs typeface="Segoe UI" pitchFamily="34" charset="0"/>
              </a:defRPr>
            </a:lvl2pPr>
            <a:lvl3pPr marL="854075" indent="-173038" algn="l" rtl="0" eaLnBrk="1" fontAlgn="base" hangingPunct="1">
              <a:lnSpc>
                <a:spcPct val="100000"/>
              </a:lnSpc>
              <a:spcBef>
                <a:spcPts val="600"/>
              </a:spcBef>
              <a:spcAft>
                <a:spcPct val="0"/>
              </a:spcAft>
              <a:buClr>
                <a:srgbClr val="0070C0"/>
              </a:buClr>
              <a:buSzPct val="80000"/>
              <a:buFont typeface="Arial" pitchFamily="34" charset="0"/>
              <a:buChar char="•"/>
              <a:defRPr sz="2000">
                <a:solidFill>
                  <a:schemeClr val="tx1"/>
                </a:solidFill>
                <a:latin typeface="Segoe UI" pitchFamily="34" charset="0"/>
                <a:ea typeface="Segoe UI" pitchFamily="34" charset="0"/>
                <a:cs typeface="Segoe UI" pitchFamily="34" charset="0"/>
              </a:defRPr>
            </a:lvl3pPr>
            <a:lvl4pPr marL="1254125" indent="-165100"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4pPr>
            <a:lvl5pPr marL="1544638" indent="-168275"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5pPr>
            <a:lvl6pPr marL="20018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6pPr>
            <a:lvl7pPr marL="24590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7pPr>
            <a:lvl8pPr marL="29162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8pPr>
            <a:lvl9pPr marL="33734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9pPr>
          </a:lstStyle>
          <a:p>
            <a:pPr lvl="0"/>
            <a:r>
              <a:rPr lang="en-US" sz="2400" b="0" kern="0" dirty="0">
                <a:solidFill>
                  <a:srgbClr val="000000"/>
                </a:solidFill>
              </a:rPr>
              <a:t>GROUPING SETS subclause builds on T-SQL GROUP BY clause</a:t>
            </a:r>
          </a:p>
          <a:p>
            <a:pPr lvl="0"/>
            <a:r>
              <a:rPr lang="en-US" sz="2400" b="0" kern="0" dirty="0">
                <a:solidFill>
                  <a:srgbClr val="000000"/>
                </a:solidFill>
              </a:rPr>
              <a:t>Allows multiple groupings to be defined in same query</a:t>
            </a:r>
          </a:p>
          <a:p>
            <a:pPr lvl="0"/>
            <a:r>
              <a:rPr lang="en-US" sz="2400" b="0" kern="0" dirty="0">
                <a:solidFill>
                  <a:srgbClr val="000000"/>
                </a:solidFill>
              </a:rPr>
              <a:t>Alternative to use of UNION ALL to combine multiple outputs (each with different GROUP BY) into one result set</a:t>
            </a:r>
          </a:p>
          <a:p>
            <a:pPr lvl="0"/>
            <a:endParaRPr lang="en-US" b="0" kern="0" dirty="0">
              <a:solidFill>
                <a:srgbClr val="000000"/>
              </a:solidFill>
            </a:endParaRPr>
          </a:p>
        </p:txBody>
      </p:sp>
      <p:sp>
        <p:nvSpPr>
          <p:cNvPr id="5" name="AutoShape 3"/>
          <p:cNvSpPr>
            <a:spLocks noChangeArrowheads="1"/>
          </p:cNvSpPr>
          <p:nvPr/>
        </p:nvSpPr>
        <p:spPr bwMode="auto">
          <a:xfrm>
            <a:off x="266069" y="3594893"/>
            <a:ext cx="8504594" cy="2653367"/>
          </a:xfrm>
          <a:prstGeom prst="roundRect">
            <a:avLst>
              <a:gd name="adj" fmla="val 0"/>
            </a:avLst>
          </a:prstGeom>
          <a:solidFill>
            <a:srgbClr val="D2D2D2"/>
          </a:solidFill>
          <a:ln w="9525" algn="ctr">
            <a:noFill/>
            <a:round/>
            <a:headEnd/>
            <a:tailEnd/>
          </a:ln>
          <a:effectLst/>
        </p:spPr>
        <p:txBody>
          <a:bodyPr wrap="square" anchor="ctr">
            <a:spAutoFit/>
          </a:bodyPr>
          <a:lstStyle/>
          <a:p>
            <a:pPr lvl="0"/>
            <a:r>
              <a:rPr lang="en-US" sz="2000" b="0" dirty="0">
                <a:solidFill>
                  <a:srgbClr val="0000FF"/>
                </a:solidFill>
                <a:latin typeface="Lucida Sans Unicode" panose="020B0602030504020204" pitchFamily="34" charset="0"/>
                <a:cs typeface="Lucida Sans Unicode" panose="020B0602030504020204" pitchFamily="34" charset="0"/>
              </a:rPr>
              <a:t>SELECT</a:t>
            </a:r>
            <a:r>
              <a:rPr lang="en-US" sz="2000" b="0" dirty="0">
                <a:solidFill>
                  <a:prstClr val="black"/>
                </a:solidFill>
                <a:latin typeface="Lucida Sans Unicode" panose="020B0602030504020204" pitchFamily="34" charset="0"/>
                <a:cs typeface="Lucida Sans Unicode" panose="020B0602030504020204" pitchFamily="34" charset="0"/>
              </a:rPr>
              <a:t> </a:t>
            </a:r>
            <a:r>
              <a:rPr lang="en-US" sz="2000" b="0" dirty="0">
                <a:solidFill>
                  <a:srgbClr val="808080"/>
                </a:solidFill>
                <a:latin typeface="Lucida Sans Unicode" panose="020B0602030504020204" pitchFamily="34" charset="0"/>
                <a:cs typeface="Lucida Sans Unicode" panose="020B0602030504020204" pitchFamily="34" charset="0"/>
              </a:rPr>
              <a:t>&lt;</a:t>
            </a:r>
            <a:r>
              <a:rPr lang="en-US" sz="2000" b="0" dirty="0">
                <a:solidFill>
                  <a:srgbClr val="0000FF"/>
                </a:solidFill>
                <a:latin typeface="Lucida Sans Unicode" panose="020B0602030504020204" pitchFamily="34" charset="0"/>
                <a:cs typeface="Lucida Sans Unicode" panose="020B0602030504020204" pitchFamily="34" charset="0"/>
              </a:rPr>
              <a:t>column</a:t>
            </a:r>
            <a:r>
              <a:rPr lang="en-US" sz="2000" b="0" dirty="0">
                <a:solidFill>
                  <a:prstClr val="black"/>
                </a:solidFill>
                <a:latin typeface="Lucida Sans Unicode" panose="020B0602030504020204" pitchFamily="34" charset="0"/>
                <a:cs typeface="Lucida Sans Unicode" panose="020B0602030504020204" pitchFamily="34" charset="0"/>
              </a:rPr>
              <a:t> list </a:t>
            </a:r>
            <a:r>
              <a:rPr lang="en-US" sz="2000" b="0" dirty="0">
                <a:solidFill>
                  <a:srgbClr val="0000FF"/>
                </a:solidFill>
                <a:latin typeface="Lucida Sans Unicode" panose="020B0602030504020204" pitchFamily="34" charset="0"/>
                <a:cs typeface="Lucida Sans Unicode" panose="020B0602030504020204" pitchFamily="34" charset="0"/>
              </a:rPr>
              <a:t>with</a:t>
            </a:r>
            <a:r>
              <a:rPr lang="en-US" sz="2000" b="0" dirty="0">
                <a:solidFill>
                  <a:prstClr val="black"/>
                </a:solidFill>
                <a:latin typeface="Lucida Sans Unicode" panose="020B0602030504020204" pitchFamily="34" charset="0"/>
                <a:cs typeface="Lucida Sans Unicode" panose="020B0602030504020204" pitchFamily="34" charset="0"/>
              </a:rPr>
              <a:t> </a:t>
            </a:r>
            <a:r>
              <a:rPr lang="en-US" sz="2000" b="0" dirty="0">
                <a:solidFill>
                  <a:srgbClr val="0000FF"/>
                </a:solidFill>
                <a:latin typeface="Lucida Sans Unicode" panose="020B0602030504020204" pitchFamily="34" charset="0"/>
                <a:cs typeface="Lucida Sans Unicode" panose="020B0602030504020204" pitchFamily="34" charset="0"/>
              </a:rPr>
              <a:t>aggregate</a:t>
            </a:r>
            <a:r>
              <a:rPr lang="en-US" sz="2000" b="0" dirty="0">
                <a:solidFill>
                  <a:srgbClr val="808080"/>
                </a:solidFill>
                <a:latin typeface="Lucida Sans Unicode" panose="020B0602030504020204" pitchFamily="34" charset="0"/>
                <a:cs typeface="Lucida Sans Unicode" panose="020B0602030504020204" pitchFamily="34" charset="0"/>
              </a:rPr>
              <a:t>(</a:t>
            </a:r>
            <a:r>
              <a:rPr lang="en-US" sz="2000" b="0" dirty="0">
                <a:solidFill>
                  <a:prstClr val="black"/>
                </a:solidFill>
                <a:latin typeface="Lucida Sans Unicode" panose="020B0602030504020204" pitchFamily="34" charset="0"/>
                <a:cs typeface="Lucida Sans Unicode" panose="020B0602030504020204" pitchFamily="34" charset="0"/>
              </a:rPr>
              <a:t>s</a:t>
            </a:r>
            <a:r>
              <a:rPr lang="en-US" sz="2000" b="0" dirty="0">
                <a:solidFill>
                  <a:srgbClr val="808080"/>
                </a:solidFill>
                <a:latin typeface="Lucida Sans Unicode" panose="020B0602030504020204" pitchFamily="34" charset="0"/>
                <a:cs typeface="Lucida Sans Unicode" panose="020B0602030504020204" pitchFamily="34" charset="0"/>
              </a:rPr>
              <a:t>)&gt;</a:t>
            </a:r>
          </a:p>
          <a:p>
            <a:pPr lvl="0"/>
            <a:r>
              <a:rPr lang="en-US" sz="2000" b="0" dirty="0">
                <a:solidFill>
                  <a:srgbClr val="0000FF"/>
                </a:solidFill>
                <a:latin typeface="Lucida Sans Unicode" panose="020B0602030504020204" pitchFamily="34" charset="0"/>
                <a:cs typeface="Lucida Sans Unicode" panose="020B0602030504020204" pitchFamily="34" charset="0"/>
              </a:rPr>
              <a:t>FROM</a:t>
            </a:r>
            <a:r>
              <a:rPr lang="en-US" sz="2000" b="0" dirty="0">
                <a:solidFill>
                  <a:prstClr val="black"/>
                </a:solidFill>
                <a:latin typeface="Lucida Sans Unicode" panose="020B0602030504020204" pitchFamily="34" charset="0"/>
                <a:cs typeface="Lucida Sans Unicode" panose="020B0602030504020204" pitchFamily="34" charset="0"/>
              </a:rPr>
              <a:t> </a:t>
            </a:r>
            <a:r>
              <a:rPr lang="en-US" sz="2000" b="0" dirty="0">
                <a:solidFill>
                  <a:srgbClr val="808080"/>
                </a:solidFill>
                <a:latin typeface="Lucida Sans Unicode" panose="020B0602030504020204" pitchFamily="34" charset="0"/>
                <a:cs typeface="Lucida Sans Unicode" panose="020B0602030504020204" pitchFamily="34" charset="0"/>
              </a:rPr>
              <a:t>&lt;source&gt;</a:t>
            </a:r>
          </a:p>
          <a:p>
            <a:pPr lvl="0"/>
            <a:r>
              <a:rPr lang="en-US" sz="2000" b="0" dirty="0">
                <a:solidFill>
                  <a:srgbClr val="0000FF"/>
                </a:solidFill>
                <a:latin typeface="Lucida Sans Unicode" panose="020B0602030504020204" pitchFamily="34" charset="0"/>
                <a:cs typeface="Lucida Sans Unicode" panose="020B0602030504020204" pitchFamily="34" charset="0"/>
              </a:rPr>
              <a:t>GROUP</a:t>
            </a:r>
            <a:r>
              <a:rPr lang="en-US" sz="2000" b="0" dirty="0">
                <a:solidFill>
                  <a:prstClr val="black"/>
                </a:solidFill>
                <a:latin typeface="Lucida Sans Unicode" panose="020B0602030504020204" pitchFamily="34" charset="0"/>
                <a:cs typeface="Lucida Sans Unicode" panose="020B0602030504020204" pitchFamily="34" charset="0"/>
              </a:rPr>
              <a:t> </a:t>
            </a:r>
            <a:r>
              <a:rPr lang="en-US" sz="2000" b="0" dirty="0">
                <a:solidFill>
                  <a:srgbClr val="0000FF"/>
                </a:solidFill>
                <a:latin typeface="Lucida Sans Unicode" panose="020B0602030504020204" pitchFamily="34" charset="0"/>
                <a:cs typeface="Lucida Sans Unicode" panose="020B0602030504020204" pitchFamily="34" charset="0"/>
              </a:rPr>
              <a:t>BY</a:t>
            </a:r>
            <a:r>
              <a:rPr lang="en-US" sz="2000" b="0" dirty="0">
                <a:solidFill>
                  <a:prstClr val="black"/>
                </a:solidFill>
                <a:latin typeface="Lucida Sans Unicode" panose="020B0602030504020204" pitchFamily="34" charset="0"/>
                <a:cs typeface="Lucida Sans Unicode" panose="020B0602030504020204" pitchFamily="34" charset="0"/>
              </a:rPr>
              <a:t> </a:t>
            </a:r>
          </a:p>
          <a:p>
            <a:pPr lvl="0"/>
            <a:r>
              <a:rPr lang="en-US" sz="2000" b="0" dirty="0">
                <a:solidFill>
                  <a:srgbClr val="FF00FF"/>
                </a:solidFill>
                <a:latin typeface="Lucida Sans Unicode" panose="020B0602030504020204" pitchFamily="34" charset="0"/>
                <a:cs typeface="Lucida Sans Unicode" panose="020B0602030504020204" pitchFamily="34" charset="0"/>
              </a:rPr>
              <a:t>GROUPING</a:t>
            </a:r>
            <a:r>
              <a:rPr lang="en-US" sz="2000" b="0" dirty="0">
                <a:solidFill>
                  <a:prstClr val="black"/>
                </a:solidFill>
                <a:latin typeface="Lucida Sans Unicode" panose="020B0602030504020204" pitchFamily="34" charset="0"/>
                <a:cs typeface="Lucida Sans Unicode" panose="020B0602030504020204" pitchFamily="34" charset="0"/>
              </a:rPr>
              <a:t> </a:t>
            </a:r>
            <a:r>
              <a:rPr lang="en-US" sz="2000" b="0" dirty="0">
                <a:solidFill>
                  <a:srgbClr val="0000FF"/>
                </a:solidFill>
                <a:latin typeface="Lucida Sans Unicode" panose="020B0602030504020204" pitchFamily="34" charset="0"/>
                <a:cs typeface="Lucida Sans Unicode" panose="020B0602030504020204" pitchFamily="34" charset="0"/>
              </a:rPr>
              <a:t>SETS</a:t>
            </a:r>
            <a:r>
              <a:rPr lang="en-US" sz="2000" b="0" dirty="0">
                <a:solidFill>
                  <a:srgbClr val="808080"/>
                </a:solidFill>
                <a:latin typeface="Lucida Sans Unicode" panose="020B0602030504020204" pitchFamily="34" charset="0"/>
                <a:cs typeface="Lucida Sans Unicode" panose="020B0602030504020204" pitchFamily="34" charset="0"/>
              </a:rPr>
              <a:t>(</a:t>
            </a:r>
            <a:endParaRPr lang="en-US" sz="2000" b="0" dirty="0">
              <a:solidFill>
                <a:srgbClr val="0000FF"/>
              </a:solidFill>
              <a:latin typeface="Lucida Sans Unicode" panose="020B0602030504020204" pitchFamily="34" charset="0"/>
              <a:cs typeface="Lucida Sans Unicode" panose="020B0602030504020204" pitchFamily="34" charset="0"/>
            </a:endParaRPr>
          </a:p>
          <a:p>
            <a:pPr lvl="0"/>
            <a:r>
              <a:rPr lang="en-US" sz="2000" b="0" dirty="0">
                <a:solidFill>
                  <a:srgbClr val="0000FF"/>
                </a:solidFill>
                <a:latin typeface="Lucida Sans Unicode" panose="020B0602030504020204" pitchFamily="34" charset="0"/>
                <a:cs typeface="Lucida Sans Unicode" panose="020B0602030504020204" pitchFamily="34" charset="0"/>
              </a:rPr>
              <a:t>	</a:t>
            </a:r>
            <a:r>
              <a:rPr lang="en-US" sz="2000" b="0" dirty="0">
                <a:solidFill>
                  <a:srgbClr val="808080"/>
                </a:solidFill>
                <a:latin typeface="Lucida Sans Unicode" panose="020B0602030504020204" pitchFamily="34" charset="0"/>
                <a:cs typeface="Lucida Sans Unicode" panose="020B0602030504020204" pitchFamily="34" charset="0"/>
              </a:rPr>
              <a:t>(&lt;</a:t>
            </a:r>
            <a:r>
              <a:rPr lang="en-US" sz="2000" b="0" dirty="0">
                <a:solidFill>
                  <a:prstClr val="black"/>
                </a:solidFill>
                <a:latin typeface="Lucida Sans Unicode" panose="020B0602030504020204" pitchFamily="34" charset="0"/>
                <a:cs typeface="Lucida Sans Unicode" panose="020B0602030504020204" pitchFamily="34" charset="0"/>
              </a:rPr>
              <a:t>column_name</a:t>
            </a:r>
            <a:r>
              <a:rPr lang="en-US" sz="2000" b="0" dirty="0">
                <a:solidFill>
                  <a:srgbClr val="808080"/>
                </a:solidFill>
                <a:latin typeface="Lucida Sans Unicode" panose="020B0602030504020204" pitchFamily="34" charset="0"/>
                <a:cs typeface="Lucida Sans Unicode" panose="020B0602030504020204" pitchFamily="34" charset="0"/>
              </a:rPr>
              <a:t>&gt;),</a:t>
            </a:r>
            <a:r>
              <a:rPr lang="en-US" sz="2000" b="0" dirty="0">
                <a:solidFill>
                  <a:srgbClr val="008000"/>
                </a:solidFill>
                <a:latin typeface="Lucida Sans Unicode" panose="020B0602030504020204" pitchFamily="34" charset="0"/>
                <a:cs typeface="Lucida Sans Unicode" panose="020B0602030504020204" pitchFamily="34" charset="0"/>
              </a:rPr>
              <a:t>--one or more columns</a:t>
            </a:r>
          </a:p>
          <a:p>
            <a:pPr lvl="0"/>
            <a:r>
              <a:rPr lang="en-US" sz="2000" b="0" dirty="0">
                <a:solidFill>
                  <a:srgbClr val="0000FF"/>
                </a:solidFill>
                <a:latin typeface="Lucida Sans Unicode" panose="020B0602030504020204" pitchFamily="34" charset="0"/>
                <a:cs typeface="Lucida Sans Unicode" panose="020B0602030504020204" pitchFamily="34" charset="0"/>
              </a:rPr>
              <a:t>	</a:t>
            </a:r>
            <a:r>
              <a:rPr lang="en-US" sz="2000" b="0" dirty="0">
                <a:solidFill>
                  <a:srgbClr val="808080"/>
                </a:solidFill>
                <a:latin typeface="Lucida Sans Unicode" panose="020B0602030504020204" pitchFamily="34" charset="0"/>
                <a:cs typeface="Lucida Sans Unicode" panose="020B0602030504020204" pitchFamily="34" charset="0"/>
              </a:rPr>
              <a:t>(&lt;</a:t>
            </a:r>
            <a:r>
              <a:rPr lang="en-US" sz="2000" b="0" dirty="0">
                <a:solidFill>
                  <a:prstClr val="black"/>
                </a:solidFill>
                <a:latin typeface="Lucida Sans Unicode" panose="020B0602030504020204" pitchFamily="34" charset="0"/>
                <a:cs typeface="Lucida Sans Unicode" panose="020B0602030504020204" pitchFamily="34" charset="0"/>
              </a:rPr>
              <a:t>column_name</a:t>
            </a:r>
            <a:r>
              <a:rPr lang="en-US" sz="2000" b="0" dirty="0">
                <a:solidFill>
                  <a:srgbClr val="808080"/>
                </a:solidFill>
                <a:latin typeface="Lucida Sans Unicode" panose="020B0602030504020204" pitchFamily="34" charset="0"/>
                <a:cs typeface="Lucida Sans Unicode" panose="020B0602030504020204" pitchFamily="34" charset="0"/>
              </a:rPr>
              <a:t>&gt;),</a:t>
            </a:r>
            <a:r>
              <a:rPr lang="en-US" sz="2000" b="0" dirty="0">
                <a:solidFill>
                  <a:srgbClr val="008000"/>
                </a:solidFill>
                <a:latin typeface="Lucida Sans Unicode" panose="020B0602030504020204" pitchFamily="34" charset="0"/>
                <a:cs typeface="Lucida Sans Unicode" panose="020B0602030504020204" pitchFamily="34" charset="0"/>
              </a:rPr>
              <a:t>--one or more columns</a:t>
            </a:r>
          </a:p>
          <a:p>
            <a:pPr lvl="0"/>
            <a:r>
              <a:rPr lang="en-US" sz="2000" b="0" dirty="0">
                <a:solidFill>
                  <a:srgbClr val="0000FF"/>
                </a:solidFill>
                <a:latin typeface="Lucida Sans Unicode" panose="020B0602030504020204" pitchFamily="34" charset="0"/>
                <a:cs typeface="Lucida Sans Unicode" panose="020B0602030504020204" pitchFamily="34" charset="0"/>
              </a:rPr>
              <a:t>	</a:t>
            </a:r>
            <a:r>
              <a:rPr lang="en-US" sz="2000" b="0" dirty="0">
                <a:solidFill>
                  <a:srgbClr val="808080"/>
                </a:solidFill>
                <a:latin typeface="Lucida Sans Unicode" panose="020B0602030504020204" pitchFamily="34" charset="0"/>
                <a:cs typeface="Lucida Sans Unicode" panose="020B0602030504020204" pitchFamily="34" charset="0"/>
              </a:rPr>
              <a:t>()</a:t>
            </a:r>
            <a:r>
              <a:rPr lang="en-US" sz="2000" b="0" dirty="0">
                <a:solidFill>
                  <a:prstClr val="black"/>
                </a:solidFill>
                <a:latin typeface="Lucida Sans Unicode" panose="020B0602030504020204" pitchFamily="34" charset="0"/>
                <a:cs typeface="Lucida Sans Unicode" panose="020B0602030504020204" pitchFamily="34" charset="0"/>
              </a:rPr>
              <a:t> </a:t>
            </a:r>
            <a:r>
              <a:rPr lang="en-US" sz="2000" b="0" dirty="0">
                <a:solidFill>
                  <a:srgbClr val="008000"/>
                </a:solidFill>
                <a:latin typeface="Lucida Sans Unicode" panose="020B0602030504020204" pitchFamily="34" charset="0"/>
                <a:cs typeface="Lucida Sans Unicode" panose="020B0602030504020204" pitchFamily="34" charset="0"/>
              </a:rPr>
              <a:t>-- empty parentheses if aggregating all rows</a:t>
            </a:r>
          </a:p>
          <a:p>
            <a:pPr lvl="0"/>
            <a:r>
              <a:rPr lang="en-US" sz="2000" b="0" dirty="0">
                <a:solidFill>
                  <a:prstClr val="black"/>
                </a:solidFill>
                <a:latin typeface="Lucida Sans Unicode" panose="020B0602030504020204" pitchFamily="34" charset="0"/>
                <a:cs typeface="Lucida Sans Unicode" panose="020B0602030504020204" pitchFamily="34" charset="0"/>
              </a:rPr>
              <a:t>		</a:t>
            </a:r>
            <a:r>
              <a:rPr lang="en-US" sz="2000" b="0" dirty="0">
                <a:solidFill>
                  <a:srgbClr val="808080"/>
                </a:solidFill>
                <a:latin typeface="Lucida Sans Unicode" panose="020B0602030504020204" pitchFamily="34" charset="0"/>
                <a:cs typeface="Lucida Sans Unicode" panose="020B0602030504020204" pitchFamily="34" charset="0"/>
              </a:rPr>
              <a:t>);</a:t>
            </a:r>
          </a:p>
        </p:txBody>
      </p:sp>
    </p:spTree>
    <p:custDataLst>
      <p:tags r:id="rId1"/>
    </p:custDataLst>
    <p:extLst>
      <p:ext uri="{BB962C8B-B14F-4D97-AF65-F5344CB8AC3E}">
        <p14:creationId xmlns:p14="http://schemas.microsoft.com/office/powerpoint/2010/main" val="364259075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f1400061-21ea-4ff2-abf0-8bf9686e51df">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Writing Queries with Grouping Sets</a:t>
            </a:r>
            <a:endParaRPr lang="en-GB" dirty="0"/>
          </a:p>
        </p:txBody>
      </p:sp>
      <p:sp>
        <p:nvSpPr>
          <p:cNvPr id="5" name="AutoShape 3"/>
          <p:cNvSpPr>
            <a:spLocks noChangeArrowheads="1"/>
          </p:cNvSpPr>
          <p:nvPr/>
        </p:nvSpPr>
        <p:spPr bwMode="auto">
          <a:xfrm>
            <a:off x="298212" y="1029672"/>
            <a:ext cx="8504594" cy="1374636"/>
          </a:xfrm>
          <a:prstGeom prst="roundRect">
            <a:avLst>
              <a:gd name="adj" fmla="val 0"/>
            </a:avLst>
          </a:prstGeom>
          <a:solidFill>
            <a:srgbClr val="D2D2D2"/>
          </a:solidFill>
          <a:ln w="9525" algn="ctr">
            <a:noFill/>
            <a:round/>
            <a:headEnd/>
            <a:tailEnd/>
          </a:ln>
          <a:effectLst/>
        </p:spPr>
        <p:txBody>
          <a:bodyPr wrap="square" anchor="ctr">
            <a:spAutoFit/>
          </a:bodyPr>
          <a:lstStyle/>
          <a:p>
            <a:r>
              <a:rPr lang="en-US" sz="2000" b="0" dirty="0">
                <a:solidFill>
                  <a:srgbClr val="0000FF"/>
                </a:solidFill>
                <a:latin typeface="Lucida Sans Unicode" panose="020B0602030504020204" pitchFamily="34" charset="0"/>
                <a:cs typeface="Lucida Sans Unicode" panose="020B0602030504020204" pitchFamily="34" charset="0"/>
              </a:rPr>
              <a:t>SELECT</a:t>
            </a:r>
            <a:r>
              <a:rPr lang="en-US" sz="2000" b="0" dirty="0">
                <a:solidFill>
                  <a:prstClr val="black"/>
                </a:solidFill>
                <a:latin typeface="Lucida Sans Unicode" panose="020B0602030504020204" pitchFamily="34" charset="0"/>
                <a:cs typeface="Lucida Sans Unicode" panose="020B0602030504020204" pitchFamily="34" charset="0"/>
              </a:rPr>
              <a:t> Category</a:t>
            </a:r>
            <a:r>
              <a:rPr lang="en-US" sz="2000" b="0" dirty="0">
                <a:solidFill>
                  <a:srgbClr val="808080"/>
                </a:solidFill>
                <a:latin typeface="Lucida Sans Unicode" panose="020B0602030504020204" pitchFamily="34" charset="0"/>
                <a:cs typeface="Lucida Sans Unicode" panose="020B0602030504020204" pitchFamily="34" charset="0"/>
              </a:rPr>
              <a:t>,</a:t>
            </a:r>
            <a:r>
              <a:rPr lang="en-US" sz="2000" b="0" dirty="0">
                <a:solidFill>
                  <a:prstClr val="black"/>
                </a:solidFill>
                <a:latin typeface="Lucida Sans Unicode" panose="020B0602030504020204" pitchFamily="34" charset="0"/>
                <a:cs typeface="Lucida Sans Unicode" panose="020B0602030504020204" pitchFamily="34" charset="0"/>
              </a:rPr>
              <a:t> Cust</a:t>
            </a:r>
            <a:r>
              <a:rPr lang="en-US" sz="2000" b="0" dirty="0">
                <a:solidFill>
                  <a:srgbClr val="808080"/>
                </a:solidFill>
                <a:latin typeface="Lucida Sans Unicode" panose="020B0602030504020204" pitchFamily="34" charset="0"/>
                <a:cs typeface="Lucida Sans Unicode" panose="020B0602030504020204" pitchFamily="34" charset="0"/>
              </a:rPr>
              <a:t>,</a:t>
            </a:r>
            <a:r>
              <a:rPr lang="en-US" sz="2000" b="0" dirty="0">
                <a:solidFill>
                  <a:prstClr val="black"/>
                </a:solidFill>
                <a:latin typeface="Lucida Sans Unicode" panose="020B0602030504020204" pitchFamily="34" charset="0"/>
                <a:cs typeface="Lucida Sans Unicode" panose="020B0602030504020204" pitchFamily="34" charset="0"/>
              </a:rPr>
              <a:t> </a:t>
            </a:r>
            <a:r>
              <a:rPr lang="en-US" sz="2000" b="0" dirty="0">
                <a:solidFill>
                  <a:srgbClr val="FF00FF"/>
                </a:solidFill>
                <a:latin typeface="Lucida Sans Unicode" panose="020B0602030504020204" pitchFamily="34" charset="0"/>
                <a:cs typeface="Lucida Sans Unicode" panose="020B0602030504020204" pitchFamily="34" charset="0"/>
              </a:rPr>
              <a:t>SUM</a:t>
            </a:r>
            <a:r>
              <a:rPr lang="en-US" sz="2000" b="0" dirty="0">
                <a:solidFill>
                  <a:srgbClr val="808080"/>
                </a:solidFill>
                <a:latin typeface="Lucida Sans Unicode" panose="020B0602030504020204" pitchFamily="34" charset="0"/>
                <a:cs typeface="Lucida Sans Unicode" panose="020B0602030504020204" pitchFamily="34" charset="0"/>
              </a:rPr>
              <a:t>(</a:t>
            </a:r>
            <a:r>
              <a:rPr lang="en-US" sz="2000" b="0" dirty="0">
                <a:solidFill>
                  <a:prstClr val="black"/>
                </a:solidFill>
                <a:latin typeface="Lucida Sans Unicode" panose="020B0602030504020204" pitchFamily="34" charset="0"/>
                <a:cs typeface="Lucida Sans Unicode" panose="020B0602030504020204" pitchFamily="34" charset="0"/>
              </a:rPr>
              <a:t>Qty</a:t>
            </a:r>
            <a:r>
              <a:rPr lang="en-US" sz="2000" b="0" dirty="0">
                <a:solidFill>
                  <a:srgbClr val="808080"/>
                </a:solidFill>
                <a:latin typeface="Lucida Sans Unicode" panose="020B0602030504020204" pitchFamily="34" charset="0"/>
                <a:cs typeface="Lucida Sans Unicode" panose="020B0602030504020204" pitchFamily="34" charset="0"/>
              </a:rPr>
              <a:t>)</a:t>
            </a:r>
            <a:r>
              <a:rPr lang="en-US" sz="2000" b="0" dirty="0">
                <a:solidFill>
                  <a:prstClr val="black"/>
                </a:solidFill>
                <a:latin typeface="Lucida Sans Unicode" panose="020B0602030504020204" pitchFamily="34" charset="0"/>
                <a:cs typeface="Lucida Sans Unicode" panose="020B0602030504020204" pitchFamily="34" charset="0"/>
              </a:rPr>
              <a:t> </a:t>
            </a:r>
            <a:r>
              <a:rPr lang="en-US" sz="2000" b="0" dirty="0">
                <a:solidFill>
                  <a:srgbClr val="0000FF"/>
                </a:solidFill>
                <a:latin typeface="Lucida Sans Unicode" panose="020B0602030504020204" pitchFamily="34" charset="0"/>
                <a:cs typeface="Lucida Sans Unicode" panose="020B0602030504020204" pitchFamily="34" charset="0"/>
              </a:rPr>
              <a:t>AS</a:t>
            </a:r>
            <a:r>
              <a:rPr lang="en-US" sz="2000" b="0" dirty="0">
                <a:solidFill>
                  <a:prstClr val="black"/>
                </a:solidFill>
                <a:latin typeface="Lucida Sans Unicode" panose="020B0602030504020204" pitchFamily="34" charset="0"/>
                <a:cs typeface="Lucida Sans Unicode" panose="020B0602030504020204" pitchFamily="34" charset="0"/>
              </a:rPr>
              <a:t> TotalQty</a:t>
            </a:r>
          </a:p>
          <a:p>
            <a:r>
              <a:rPr lang="en-US" sz="2000" b="0" dirty="0">
                <a:solidFill>
                  <a:srgbClr val="0000FF"/>
                </a:solidFill>
                <a:latin typeface="Lucida Sans Unicode" panose="020B0602030504020204" pitchFamily="34" charset="0"/>
                <a:cs typeface="Lucida Sans Unicode" panose="020B0602030504020204" pitchFamily="34" charset="0"/>
              </a:rPr>
              <a:t>FROM</a:t>
            </a:r>
            <a:r>
              <a:rPr lang="en-US" sz="2000" b="0" dirty="0">
                <a:solidFill>
                  <a:prstClr val="black"/>
                </a:solidFill>
                <a:latin typeface="Lucida Sans Unicode" panose="020B0602030504020204" pitchFamily="34" charset="0"/>
                <a:cs typeface="Lucida Sans Unicode" panose="020B0602030504020204" pitchFamily="34" charset="0"/>
              </a:rPr>
              <a:t> Sales</a:t>
            </a:r>
            <a:r>
              <a:rPr lang="en-US" sz="2000" b="0" dirty="0">
                <a:solidFill>
                  <a:srgbClr val="808080"/>
                </a:solidFill>
                <a:latin typeface="Lucida Sans Unicode" panose="020B0602030504020204" pitchFamily="34" charset="0"/>
                <a:cs typeface="Lucida Sans Unicode" panose="020B0602030504020204" pitchFamily="34" charset="0"/>
              </a:rPr>
              <a:t>.</a:t>
            </a:r>
            <a:r>
              <a:rPr lang="en-US" sz="2000" b="0" dirty="0">
                <a:solidFill>
                  <a:prstClr val="black"/>
                </a:solidFill>
                <a:latin typeface="Lucida Sans Unicode" panose="020B0602030504020204" pitchFamily="34" charset="0"/>
                <a:cs typeface="Lucida Sans Unicode" panose="020B0602030504020204" pitchFamily="34" charset="0"/>
              </a:rPr>
              <a:t>CategorySales</a:t>
            </a:r>
          </a:p>
          <a:p>
            <a:r>
              <a:rPr lang="en-US" sz="2000" b="0" dirty="0">
                <a:solidFill>
                  <a:srgbClr val="0000FF"/>
                </a:solidFill>
                <a:latin typeface="Lucida Sans Unicode" panose="020B0602030504020204" pitchFamily="34" charset="0"/>
                <a:cs typeface="Lucida Sans Unicode" panose="020B0602030504020204" pitchFamily="34" charset="0"/>
              </a:rPr>
              <a:t>GROUP</a:t>
            </a:r>
            <a:r>
              <a:rPr lang="en-US" sz="2000" b="0" dirty="0">
                <a:solidFill>
                  <a:prstClr val="black"/>
                </a:solidFill>
                <a:latin typeface="Lucida Sans Unicode" panose="020B0602030504020204" pitchFamily="34" charset="0"/>
                <a:cs typeface="Lucida Sans Unicode" panose="020B0602030504020204" pitchFamily="34" charset="0"/>
              </a:rPr>
              <a:t> </a:t>
            </a:r>
            <a:r>
              <a:rPr lang="en-US" sz="2000" b="0" dirty="0">
                <a:solidFill>
                  <a:srgbClr val="0000FF"/>
                </a:solidFill>
                <a:latin typeface="Lucida Sans Unicode" panose="020B0602030504020204" pitchFamily="34" charset="0"/>
                <a:cs typeface="Lucida Sans Unicode" panose="020B0602030504020204" pitchFamily="34" charset="0"/>
              </a:rPr>
              <a:t>BY</a:t>
            </a:r>
            <a:r>
              <a:rPr lang="en-US" sz="2000" b="0" dirty="0">
                <a:solidFill>
                  <a:prstClr val="black"/>
                </a:solidFill>
                <a:latin typeface="Lucida Sans Unicode" panose="020B0602030504020204" pitchFamily="34" charset="0"/>
                <a:cs typeface="Lucida Sans Unicode" panose="020B0602030504020204" pitchFamily="34" charset="0"/>
              </a:rPr>
              <a:t> </a:t>
            </a:r>
          </a:p>
          <a:p>
            <a:r>
              <a:rPr lang="en-US" sz="2000" b="0" dirty="0">
                <a:solidFill>
                  <a:srgbClr val="FF00FF"/>
                </a:solidFill>
                <a:latin typeface="Lucida Sans Unicode" panose="020B0602030504020204" pitchFamily="34" charset="0"/>
                <a:cs typeface="Lucida Sans Unicode" panose="020B0602030504020204" pitchFamily="34" charset="0"/>
              </a:rPr>
              <a:t>GROUPING</a:t>
            </a:r>
            <a:r>
              <a:rPr lang="en-US" sz="2000" b="0" dirty="0">
                <a:solidFill>
                  <a:prstClr val="black"/>
                </a:solidFill>
                <a:latin typeface="Lucida Sans Unicode" panose="020B0602030504020204" pitchFamily="34" charset="0"/>
                <a:cs typeface="Lucida Sans Unicode" panose="020B0602030504020204" pitchFamily="34" charset="0"/>
              </a:rPr>
              <a:t> </a:t>
            </a:r>
            <a:r>
              <a:rPr lang="en-US" sz="2000" b="0" dirty="0">
                <a:solidFill>
                  <a:srgbClr val="0000FF"/>
                </a:solidFill>
                <a:latin typeface="Lucida Sans Unicode" panose="020B0602030504020204" pitchFamily="34" charset="0"/>
                <a:cs typeface="Lucida Sans Unicode" panose="020B0602030504020204" pitchFamily="34" charset="0"/>
              </a:rPr>
              <a:t>SETS</a:t>
            </a:r>
            <a:r>
              <a:rPr lang="en-US" sz="2000" b="0" dirty="0">
                <a:solidFill>
                  <a:srgbClr val="808080"/>
                </a:solidFill>
                <a:latin typeface="Lucida Sans Unicode" panose="020B0602030504020204" pitchFamily="34" charset="0"/>
                <a:cs typeface="Lucida Sans Unicode" panose="020B0602030504020204" pitchFamily="34" charset="0"/>
              </a:rPr>
              <a:t>((</a:t>
            </a:r>
            <a:r>
              <a:rPr lang="en-US" sz="2000" b="0" dirty="0">
                <a:solidFill>
                  <a:prstClr val="black"/>
                </a:solidFill>
                <a:latin typeface="Lucida Sans Unicode" panose="020B0602030504020204" pitchFamily="34" charset="0"/>
                <a:cs typeface="Lucida Sans Unicode" panose="020B0602030504020204" pitchFamily="34" charset="0"/>
              </a:rPr>
              <a:t>Category</a:t>
            </a:r>
            <a:r>
              <a:rPr lang="en-US" sz="2000" b="0" dirty="0">
                <a:solidFill>
                  <a:srgbClr val="808080"/>
                </a:solidFill>
                <a:latin typeface="Lucida Sans Unicode" panose="020B0602030504020204" pitchFamily="34" charset="0"/>
                <a:cs typeface="Lucida Sans Unicode" panose="020B0602030504020204" pitchFamily="34" charset="0"/>
              </a:rPr>
              <a:t>),(</a:t>
            </a:r>
            <a:r>
              <a:rPr lang="en-US" sz="2000" b="0" dirty="0">
                <a:solidFill>
                  <a:prstClr val="black"/>
                </a:solidFill>
                <a:latin typeface="Lucida Sans Unicode" panose="020B0602030504020204" pitchFamily="34" charset="0"/>
                <a:cs typeface="Lucida Sans Unicode" panose="020B0602030504020204" pitchFamily="34" charset="0"/>
              </a:rPr>
              <a:t>Cust</a:t>
            </a:r>
            <a:r>
              <a:rPr lang="en-US" sz="2000" b="0" dirty="0">
                <a:solidFill>
                  <a:srgbClr val="808080"/>
                </a:solidFill>
                <a:latin typeface="Lucida Sans Unicode" panose="020B0602030504020204" pitchFamily="34" charset="0"/>
                <a:cs typeface="Lucida Sans Unicode" panose="020B0602030504020204" pitchFamily="34" charset="0"/>
              </a:rPr>
              <a:t>),());</a:t>
            </a:r>
            <a:endParaRPr lang="en-US" sz="2000" b="0" dirty="0">
              <a:latin typeface="Lucida Sans Unicode" panose="020B0602030504020204" pitchFamily="34" charset="0"/>
              <a:cs typeface="Lucida Sans Unicode" panose="020B0602030504020204" pitchFamily="34" charset="0"/>
            </a:endParaRPr>
          </a:p>
        </p:txBody>
      </p:sp>
      <p:sp>
        <p:nvSpPr>
          <p:cNvPr id="6" name="AutoShape 3"/>
          <p:cNvSpPr>
            <a:spLocks noChangeArrowheads="1"/>
          </p:cNvSpPr>
          <p:nvPr/>
        </p:nvSpPr>
        <p:spPr bwMode="auto">
          <a:xfrm>
            <a:off x="298212" y="2679765"/>
            <a:ext cx="8504594" cy="3612416"/>
          </a:xfrm>
          <a:prstGeom prst="roundRect">
            <a:avLst>
              <a:gd name="adj" fmla="val 0"/>
            </a:avLst>
          </a:prstGeom>
          <a:solidFill>
            <a:srgbClr val="D2D2D2"/>
          </a:solidFill>
          <a:ln w="9525" algn="ctr">
            <a:noFill/>
            <a:round/>
            <a:headEnd/>
            <a:tailEnd/>
          </a:ln>
          <a:effectLst/>
        </p:spPr>
        <p:txBody>
          <a:bodyPr wrap="square" anchor="ctr">
            <a:spAutoFit/>
          </a:bodyPr>
          <a:lstStyle/>
          <a:p>
            <a:r>
              <a:rPr lang="en-US" sz="2000" b="0" dirty="0">
                <a:latin typeface="Lucida Sans Typewriter" pitchFamily="49" charset="0"/>
              </a:rPr>
              <a:t>Category        Cust        TotalQty</a:t>
            </a:r>
          </a:p>
          <a:p>
            <a:r>
              <a:rPr lang="en-US" sz="2000" b="0" dirty="0">
                <a:latin typeface="Lucida Sans Typewriter" pitchFamily="49" charset="0"/>
              </a:rPr>
              <a:t>--------------- ----------- -----------</a:t>
            </a:r>
          </a:p>
          <a:p>
            <a:r>
              <a:rPr lang="en-US" sz="2000" b="0" dirty="0">
                <a:latin typeface="Lucida Sans Typewriter" pitchFamily="49" charset="0"/>
              </a:rPr>
              <a:t>NULL            NULL        999</a:t>
            </a:r>
          </a:p>
          <a:p>
            <a:r>
              <a:rPr lang="en-US" sz="2000" b="0" dirty="0">
                <a:latin typeface="Lucida Sans Typewriter" pitchFamily="49" charset="0"/>
              </a:rPr>
              <a:t>NULL            1           80</a:t>
            </a:r>
          </a:p>
          <a:p>
            <a:r>
              <a:rPr lang="en-US" sz="2000" b="0" dirty="0">
                <a:latin typeface="Lucida Sans Typewriter" pitchFamily="49" charset="0"/>
              </a:rPr>
              <a:t>NULL            2           12</a:t>
            </a:r>
          </a:p>
          <a:p>
            <a:r>
              <a:rPr lang="en-US" sz="2000" b="0" dirty="0">
                <a:latin typeface="Lucida Sans Typewriter" pitchFamily="49" charset="0"/>
              </a:rPr>
              <a:t>NULL            3           154</a:t>
            </a:r>
          </a:p>
          <a:p>
            <a:r>
              <a:rPr lang="en-US" sz="2000" b="0" dirty="0">
                <a:latin typeface="Lucida Sans Typewriter" pitchFamily="49" charset="0"/>
              </a:rPr>
              <a:t>NULL            4           241</a:t>
            </a:r>
          </a:p>
          <a:p>
            <a:r>
              <a:rPr lang="en-US" sz="2000" b="0" dirty="0">
                <a:latin typeface="Lucida Sans Typewriter" pitchFamily="49" charset="0"/>
              </a:rPr>
              <a:t>NULL            5           512</a:t>
            </a:r>
          </a:p>
          <a:p>
            <a:r>
              <a:rPr lang="en-US" sz="2000" b="0" dirty="0">
                <a:latin typeface="Lucida Sans Typewriter" pitchFamily="49" charset="0"/>
              </a:rPr>
              <a:t>Beverages       NULL        513</a:t>
            </a:r>
          </a:p>
          <a:p>
            <a:r>
              <a:rPr lang="en-US" sz="2000" b="0" dirty="0">
                <a:latin typeface="Lucida Sans Typewriter" pitchFamily="49" charset="0"/>
              </a:rPr>
              <a:t>Condiments      NULL        114</a:t>
            </a:r>
          </a:p>
          <a:p>
            <a:r>
              <a:rPr lang="en-US" sz="2000" b="0" dirty="0">
                <a:latin typeface="Lucida Sans Typewriter" pitchFamily="49" charset="0"/>
              </a:rPr>
              <a:t>Confections     NULL        372</a:t>
            </a:r>
          </a:p>
        </p:txBody>
      </p:sp>
    </p:spTree>
    <p:custDataLst>
      <p:tags r:id="rId1"/>
    </p:custDataLst>
    <p:extLst>
      <p:ext uri="{BB962C8B-B14F-4D97-AF65-F5344CB8AC3E}">
        <p14:creationId xmlns:p14="http://schemas.microsoft.com/office/powerpoint/2010/main" val="269568415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afe04e08-b085-4dc8-9fab-e57b11d28ed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CUBE and ROLLUP</a:t>
            </a:r>
            <a:endParaRPr lang="en-GB" dirty="0"/>
          </a:p>
        </p:txBody>
      </p:sp>
      <p:sp>
        <p:nvSpPr>
          <p:cNvPr id="4" name="Content Placeholder 2"/>
          <p:cNvSpPr txBox="1">
            <a:spLocks/>
          </p:cNvSpPr>
          <p:nvPr/>
        </p:nvSpPr>
        <p:spPr>
          <a:xfrm>
            <a:off x="458788" y="1021215"/>
            <a:ext cx="8119156" cy="5147356"/>
          </a:xfrm>
          <a:prstGeom prst="rect">
            <a:avLst/>
          </a:prstGeom>
        </p:spPr>
        <p:txBody>
          <a:bodyPr/>
          <a:lstStyle>
            <a:lvl1pPr marL="174625" indent="-174625" algn="l" rtl="0" eaLnBrk="1" fontAlgn="base" hangingPunct="1">
              <a:lnSpc>
                <a:spcPct val="100000"/>
              </a:lnSpc>
              <a:spcBef>
                <a:spcPts val="600"/>
              </a:spcBef>
              <a:spcAft>
                <a:spcPct val="0"/>
              </a:spcAft>
              <a:buClr>
                <a:srgbClr val="0070C0"/>
              </a:buClr>
              <a:buSzPct val="90000"/>
              <a:buFont typeface="Arial" pitchFamily="34" charset="0"/>
              <a:buChar char="•"/>
              <a:defRPr sz="2800">
                <a:solidFill>
                  <a:schemeClr val="tx1"/>
                </a:solidFill>
                <a:latin typeface="Segoe UI" pitchFamily="34" charset="0"/>
                <a:ea typeface="Segoe UI" pitchFamily="34" charset="0"/>
                <a:cs typeface="Segoe UI" pitchFamily="34" charset="0"/>
              </a:defRPr>
            </a:lvl1pPr>
            <a:lvl2pPr marL="458788" indent="-169863" algn="l" rtl="0" eaLnBrk="1" fontAlgn="base" hangingPunct="1">
              <a:lnSpc>
                <a:spcPct val="100000"/>
              </a:lnSpc>
              <a:spcBef>
                <a:spcPts val="600"/>
              </a:spcBef>
              <a:spcAft>
                <a:spcPct val="0"/>
              </a:spcAft>
              <a:buClr>
                <a:srgbClr val="0070C0"/>
              </a:buClr>
              <a:buSzPct val="80000"/>
              <a:buFont typeface="Arial" pitchFamily="34" charset="0"/>
              <a:buChar char="•"/>
              <a:defRPr sz="2400">
                <a:solidFill>
                  <a:schemeClr val="tx1"/>
                </a:solidFill>
                <a:latin typeface="Segoe UI" pitchFamily="34" charset="0"/>
                <a:ea typeface="Segoe UI" pitchFamily="34" charset="0"/>
                <a:cs typeface="Segoe UI" pitchFamily="34" charset="0"/>
              </a:defRPr>
            </a:lvl2pPr>
            <a:lvl3pPr marL="854075" indent="-173038" algn="l" rtl="0" eaLnBrk="1" fontAlgn="base" hangingPunct="1">
              <a:lnSpc>
                <a:spcPct val="100000"/>
              </a:lnSpc>
              <a:spcBef>
                <a:spcPts val="600"/>
              </a:spcBef>
              <a:spcAft>
                <a:spcPct val="0"/>
              </a:spcAft>
              <a:buClr>
                <a:srgbClr val="0070C0"/>
              </a:buClr>
              <a:buSzPct val="80000"/>
              <a:buFont typeface="Arial" pitchFamily="34" charset="0"/>
              <a:buChar char="•"/>
              <a:defRPr sz="2000">
                <a:solidFill>
                  <a:schemeClr val="tx1"/>
                </a:solidFill>
                <a:latin typeface="Segoe UI" pitchFamily="34" charset="0"/>
                <a:ea typeface="Segoe UI" pitchFamily="34" charset="0"/>
                <a:cs typeface="Segoe UI" pitchFamily="34" charset="0"/>
              </a:defRPr>
            </a:lvl3pPr>
            <a:lvl4pPr marL="1254125" indent="-165100"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4pPr>
            <a:lvl5pPr marL="1544638" indent="-168275"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5pPr>
            <a:lvl6pPr marL="20018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6pPr>
            <a:lvl7pPr marL="24590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7pPr>
            <a:lvl8pPr marL="29162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8pPr>
            <a:lvl9pPr marL="33734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9pPr>
          </a:lstStyle>
          <a:p>
            <a:pPr lvl="0"/>
            <a:r>
              <a:rPr lang="en-US" sz="2400" b="0" kern="0" dirty="0">
                <a:solidFill>
                  <a:srgbClr val="000000"/>
                </a:solidFill>
              </a:rPr>
              <a:t>CUBE provides shortcut for defining grouping sets given a list of columns</a:t>
            </a:r>
          </a:p>
          <a:p>
            <a:pPr lvl="0"/>
            <a:r>
              <a:rPr lang="en-US" sz="2400" b="0" kern="0" dirty="0">
                <a:solidFill>
                  <a:srgbClr val="000000"/>
                </a:solidFill>
              </a:rPr>
              <a:t>All possible combinations of grouping sets created</a:t>
            </a:r>
          </a:p>
          <a:p>
            <a:pPr lvl="0"/>
            <a:endParaRPr lang="en-US" sz="2400" b="0" kern="0" dirty="0">
              <a:solidFill>
                <a:srgbClr val="000000"/>
              </a:solidFill>
            </a:endParaRPr>
          </a:p>
          <a:p>
            <a:pPr lvl="0"/>
            <a:endParaRPr lang="en-US" sz="2400" b="0" kern="0" dirty="0">
              <a:solidFill>
                <a:srgbClr val="000000"/>
              </a:solidFill>
            </a:endParaRPr>
          </a:p>
          <a:p>
            <a:pPr lvl="0"/>
            <a:endParaRPr lang="en-US" sz="2400" b="0" kern="0" dirty="0">
              <a:solidFill>
                <a:srgbClr val="000000"/>
              </a:solidFill>
            </a:endParaRPr>
          </a:p>
          <a:p>
            <a:pPr lvl="0"/>
            <a:endParaRPr lang="en-US" sz="2400" b="0" kern="0" dirty="0">
              <a:solidFill>
                <a:srgbClr val="000000"/>
              </a:solidFill>
            </a:endParaRPr>
          </a:p>
          <a:p>
            <a:pPr lvl="0"/>
            <a:r>
              <a:rPr lang="en-US" sz="2400" b="0" kern="0" dirty="0">
                <a:solidFill>
                  <a:srgbClr val="000000"/>
                </a:solidFill>
              </a:rPr>
              <a:t>ROLLUP provides shortcut for defining grouping sets, creates combinations assuming input columns form a hierarchy</a:t>
            </a:r>
          </a:p>
          <a:p>
            <a:pPr lvl="0"/>
            <a:endParaRPr lang="en-US" b="0" kern="0" dirty="0">
              <a:solidFill>
                <a:srgbClr val="000000"/>
              </a:solidFill>
            </a:endParaRPr>
          </a:p>
        </p:txBody>
      </p:sp>
      <p:sp>
        <p:nvSpPr>
          <p:cNvPr id="5" name="AutoShape 3"/>
          <p:cNvSpPr>
            <a:spLocks noChangeArrowheads="1"/>
          </p:cNvSpPr>
          <p:nvPr/>
        </p:nvSpPr>
        <p:spPr bwMode="auto">
          <a:xfrm>
            <a:off x="431326" y="2320756"/>
            <a:ext cx="7779224" cy="1374636"/>
          </a:xfrm>
          <a:prstGeom prst="roundRect">
            <a:avLst>
              <a:gd name="adj" fmla="val 0"/>
            </a:avLst>
          </a:prstGeom>
          <a:solidFill>
            <a:srgbClr val="D2D2D2"/>
          </a:solidFill>
          <a:ln w="9525" algn="ctr">
            <a:noFill/>
            <a:round/>
            <a:headEnd/>
            <a:tailEnd/>
          </a:ln>
          <a:effectLst/>
        </p:spPr>
        <p:txBody>
          <a:bodyPr wrap="square" anchor="ctr">
            <a:spAutoFit/>
          </a:bodyPr>
          <a:lstStyle/>
          <a:p>
            <a:pPr lvl="0"/>
            <a:r>
              <a:rPr lang="en-US" sz="2000" b="0" dirty="0">
                <a:solidFill>
                  <a:srgbClr val="0000FF"/>
                </a:solidFill>
                <a:latin typeface="Lucida Sans Unicode" panose="020B0602030504020204" pitchFamily="34" charset="0"/>
                <a:cs typeface="Lucida Sans Unicode" panose="020B0602030504020204" pitchFamily="34" charset="0"/>
              </a:rPr>
              <a:t>SELECT</a:t>
            </a:r>
            <a:r>
              <a:rPr lang="en-US" sz="2000" b="0" dirty="0">
                <a:solidFill>
                  <a:prstClr val="black"/>
                </a:solidFill>
                <a:latin typeface="Lucida Sans Unicode" panose="020B0602030504020204" pitchFamily="34" charset="0"/>
                <a:cs typeface="Lucida Sans Unicode" panose="020B0602030504020204" pitchFamily="34" charset="0"/>
              </a:rPr>
              <a:t> Category</a:t>
            </a:r>
            <a:r>
              <a:rPr lang="en-US" sz="2000" b="0" dirty="0">
                <a:solidFill>
                  <a:srgbClr val="808080"/>
                </a:solidFill>
                <a:latin typeface="Lucida Sans Unicode" panose="020B0602030504020204" pitchFamily="34" charset="0"/>
                <a:cs typeface="Lucida Sans Unicode" panose="020B0602030504020204" pitchFamily="34" charset="0"/>
              </a:rPr>
              <a:t>,</a:t>
            </a:r>
            <a:r>
              <a:rPr lang="en-US" sz="2000" b="0" dirty="0">
                <a:solidFill>
                  <a:prstClr val="black"/>
                </a:solidFill>
                <a:latin typeface="Lucida Sans Unicode" panose="020B0602030504020204" pitchFamily="34" charset="0"/>
                <a:cs typeface="Lucida Sans Unicode" panose="020B0602030504020204" pitchFamily="34" charset="0"/>
              </a:rPr>
              <a:t> Cust</a:t>
            </a:r>
            <a:r>
              <a:rPr lang="en-US" sz="2000" b="0" dirty="0">
                <a:solidFill>
                  <a:srgbClr val="808080"/>
                </a:solidFill>
                <a:latin typeface="Lucida Sans Unicode" panose="020B0602030504020204" pitchFamily="34" charset="0"/>
                <a:cs typeface="Lucida Sans Unicode" panose="020B0602030504020204" pitchFamily="34" charset="0"/>
              </a:rPr>
              <a:t>,</a:t>
            </a:r>
            <a:r>
              <a:rPr lang="en-US" sz="2000" b="0" dirty="0">
                <a:solidFill>
                  <a:prstClr val="black"/>
                </a:solidFill>
                <a:latin typeface="Lucida Sans Unicode" panose="020B0602030504020204" pitchFamily="34" charset="0"/>
                <a:cs typeface="Lucida Sans Unicode" panose="020B0602030504020204" pitchFamily="34" charset="0"/>
              </a:rPr>
              <a:t> </a:t>
            </a:r>
            <a:r>
              <a:rPr lang="en-US" sz="2000" b="0" dirty="0">
                <a:solidFill>
                  <a:srgbClr val="FF00FF"/>
                </a:solidFill>
                <a:latin typeface="Lucida Sans Unicode" panose="020B0602030504020204" pitchFamily="34" charset="0"/>
                <a:cs typeface="Lucida Sans Unicode" panose="020B0602030504020204" pitchFamily="34" charset="0"/>
              </a:rPr>
              <a:t>SUM</a:t>
            </a:r>
            <a:r>
              <a:rPr lang="en-US" sz="2000" b="0" dirty="0">
                <a:solidFill>
                  <a:srgbClr val="808080"/>
                </a:solidFill>
                <a:latin typeface="Lucida Sans Unicode" panose="020B0602030504020204" pitchFamily="34" charset="0"/>
                <a:cs typeface="Lucida Sans Unicode" panose="020B0602030504020204" pitchFamily="34" charset="0"/>
              </a:rPr>
              <a:t>(</a:t>
            </a:r>
            <a:r>
              <a:rPr lang="en-US" sz="2000" b="0" dirty="0">
                <a:solidFill>
                  <a:prstClr val="black"/>
                </a:solidFill>
                <a:latin typeface="Lucida Sans Unicode" panose="020B0602030504020204" pitchFamily="34" charset="0"/>
                <a:cs typeface="Lucida Sans Unicode" panose="020B0602030504020204" pitchFamily="34" charset="0"/>
              </a:rPr>
              <a:t>Qty</a:t>
            </a:r>
            <a:r>
              <a:rPr lang="en-US" sz="2000" b="0" dirty="0">
                <a:solidFill>
                  <a:srgbClr val="808080"/>
                </a:solidFill>
                <a:latin typeface="Lucida Sans Unicode" panose="020B0602030504020204" pitchFamily="34" charset="0"/>
                <a:cs typeface="Lucida Sans Unicode" panose="020B0602030504020204" pitchFamily="34" charset="0"/>
              </a:rPr>
              <a:t>)</a:t>
            </a:r>
            <a:r>
              <a:rPr lang="en-US" sz="2000" b="0" dirty="0">
                <a:solidFill>
                  <a:prstClr val="black"/>
                </a:solidFill>
                <a:latin typeface="Lucida Sans Unicode" panose="020B0602030504020204" pitchFamily="34" charset="0"/>
                <a:cs typeface="Lucida Sans Unicode" panose="020B0602030504020204" pitchFamily="34" charset="0"/>
              </a:rPr>
              <a:t> </a:t>
            </a:r>
            <a:r>
              <a:rPr lang="en-US" sz="2000" b="0" dirty="0">
                <a:solidFill>
                  <a:srgbClr val="0000FF"/>
                </a:solidFill>
                <a:latin typeface="Lucida Sans Unicode" panose="020B0602030504020204" pitchFamily="34" charset="0"/>
                <a:cs typeface="Lucida Sans Unicode" panose="020B0602030504020204" pitchFamily="34" charset="0"/>
              </a:rPr>
              <a:t>AS</a:t>
            </a:r>
            <a:r>
              <a:rPr lang="en-US" sz="2000" b="0" dirty="0">
                <a:solidFill>
                  <a:prstClr val="black"/>
                </a:solidFill>
                <a:latin typeface="Lucida Sans Unicode" panose="020B0602030504020204" pitchFamily="34" charset="0"/>
                <a:cs typeface="Lucida Sans Unicode" panose="020B0602030504020204" pitchFamily="34" charset="0"/>
              </a:rPr>
              <a:t> TotalQty</a:t>
            </a:r>
          </a:p>
          <a:p>
            <a:pPr lvl="0"/>
            <a:r>
              <a:rPr lang="en-US" sz="2000" b="0" dirty="0">
                <a:solidFill>
                  <a:srgbClr val="0000FF"/>
                </a:solidFill>
                <a:latin typeface="Lucida Sans Unicode" panose="020B0602030504020204" pitchFamily="34" charset="0"/>
                <a:cs typeface="Lucida Sans Unicode" panose="020B0602030504020204" pitchFamily="34" charset="0"/>
              </a:rPr>
              <a:t>FROM</a:t>
            </a:r>
            <a:r>
              <a:rPr lang="en-US" sz="2000" b="0" dirty="0">
                <a:solidFill>
                  <a:prstClr val="black"/>
                </a:solidFill>
                <a:latin typeface="Lucida Sans Unicode" panose="020B0602030504020204" pitchFamily="34" charset="0"/>
                <a:cs typeface="Lucida Sans Unicode" panose="020B0602030504020204" pitchFamily="34" charset="0"/>
              </a:rPr>
              <a:t> Sales</a:t>
            </a:r>
            <a:r>
              <a:rPr lang="en-US" sz="2000" b="0" dirty="0">
                <a:solidFill>
                  <a:srgbClr val="808080"/>
                </a:solidFill>
                <a:latin typeface="Lucida Sans Unicode" panose="020B0602030504020204" pitchFamily="34" charset="0"/>
                <a:cs typeface="Lucida Sans Unicode" panose="020B0602030504020204" pitchFamily="34" charset="0"/>
              </a:rPr>
              <a:t>.</a:t>
            </a:r>
            <a:r>
              <a:rPr lang="en-US" sz="2000" b="0" dirty="0">
                <a:solidFill>
                  <a:prstClr val="black"/>
                </a:solidFill>
                <a:latin typeface="Lucida Sans Unicode" panose="020B0602030504020204" pitchFamily="34" charset="0"/>
                <a:cs typeface="Lucida Sans Unicode" panose="020B0602030504020204" pitchFamily="34" charset="0"/>
              </a:rPr>
              <a:t>CategorySales</a:t>
            </a:r>
          </a:p>
          <a:p>
            <a:pPr lvl="0"/>
            <a:r>
              <a:rPr lang="en-US" sz="2000" b="0" dirty="0">
                <a:solidFill>
                  <a:srgbClr val="0000FF"/>
                </a:solidFill>
                <a:latin typeface="Lucida Sans Unicode" panose="020B0602030504020204" pitchFamily="34" charset="0"/>
                <a:cs typeface="Lucida Sans Unicode" panose="020B0602030504020204" pitchFamily="34" charset="0"/>
              </a:rPr>
              <a:t>GROUP</a:t>
            </a:r>
            <a:r>
              <a:rPr lang="en-US" sz="2000" b="0" dirty="0">
                <a:solidFill>
                  <a:prstClr val="black"/>
                </a:solidFill>
                <a:latin typeface="Lucida Sans Unicode" panose="020B0602030504020204" pitchFamily="34" charset="0"/>
                <a:cs typeface="Lucida Sans Unicode" panose="020B0602030504020204" pitchFamily="34" charset="0"/>
              </a:rPr>
              <a:t> </a:t>
            </a:r>
            <a:r>
              <a:rPr lang="en-US" sz="2000" b="0" dirty="0">
                <a:solidFill>
                  <a:srgbClr val="0000FF"/>
                </a:solidFill>
                <a:latin typeface="Lucida Sans Unicode" panose="020B0602030504020204" pitchFamily="34" charset="0"/>
                <a:cs typeface="Lucida Sans Unicode" panose="020B0602030504020204" pitchFamily="34" charset="0"/>
              </a:rPr>
              <a:t>BY</a:t>
            </a:r>
            <a:r>
              <a:rPr lang="en-US" sz="2000" b="0" dirty="0">
                <a:solidFill>
                  <a:prstClr val="black"/>
                </a:solidFill>
                <a:latin typeface="Lucida Sans Unicode" panose="020B0602030504020204" pitchFamily="34" charset="0"/>
                <a:cs typeface="Lucida Sans Unicode" panose="020B0602030504020204" pitchFamily="34" charset="0"/>
              </a:rPr>
              <a:t> </a:t>
            </a:r>
            <a:r>
              <a:rPr lang="en-US" sz="2000" b="0" dirty="0">
                <a:solidFill>
                  <a:srgbClr val="0000FF"/>
                </a:solidFill>
                <a:latin typeface="Lucida Sans Unicode" panose="020B0602030504020204" pitchFamily="34" charset="0"/>
                <a:cs typeface="Lucida Sans Unicode" panose="020B0602030504020204" pitchFamily="34" charset="0"/>
              </a:rPr>
              <a:t>CUBE</a:t>
            </a:r>
            <a:r>
              <a:rPr lang="en-US" sz="2000" b="0" dirty="0">
                <a:solidFill>
                  <a:srgbClr val="808080"/>
                </a:solidFill>
                <a:latin typeface="Lucida Sans Unicode" panose="020B0602030504020204" pitchFamily="34" charset="0"/>
                <a:cs typeface="Lucida Sans Unicode" panose="020B0602030504020204" pitchFamily="34" charset="0"/>
              </a:rPr>
              <a:t>(</a:t>
            </a:r>
            <a:r>
              <a:rPr lang="en-US" sz="2000" b="0" dirty="0">
                <a:solidFill>
                  <a:prstClr val="black"/>
                </a:solidFill>
                <a:latin typeface="Lucida Sans Unicode" panose="020B0602030504020204" pitchFamily="34" charset="0"/>
                <a:cs typeface="Lucida Sans Unicode" panose="020B0602030504020204" pitchFamily="34" charset="0"/>
              </a:rPr>
              <a:t>Category</a:t>
            </a:r>
            <a:r>
              <a:rPr lang="en-US" sz="2000" b="0" dirty="0">
                <a:solidFill>
                  <a:srgbClr val="808080"/>
                </a:solidFill>
                <a:latin typeface="Lucida Sans Unicode" panose="020B0602030504020204" pitchFamily="34" charset="0"/>
                <a:cs typeface="Lucida Sans Unicode" panose="020B0602030504020204" pitchFamily="34" charset="0"/>
              </a:rPr>
              <a:t>,</a:t>
            </a:r>
            <a:r>
              <a:rPr lang="en-US" sz="2000" b="0" dirty="0">
                <a:solidFill>
                  <a:prstClr val="black"/>
                </a:solidFill>
                <a:latin typeface="Lucida Sans Unicode" panose="020B0602030504020204" pitchFamily="34" charset="0"/>
                <a:cs typeface="Lucida Sans Unicode" panose="020B0602030504020204" pitchFamily="34" charset="0"/>
              </a:rPr>
              <a:t>Cust</a:t>
            </a:r>
            <a:r>
              <a:rPr lang="en-US" sz="2000" b="0" dirty="0">
                <a:solidFill>
                  <a:srgbClr val="808080"/>
                </a:solidFill>
                <a:latin typeface="Lucida Sans Unicode" panose="020B0602030504020204" pitchFamily="34" charset="0"/>
                <a:cs typeface="Lucida Sans Unicode" panose="020B0602030504020204" pitchFamily="34" charset="0"/>
              </a:rPr>
              <a:t>)</a:t>
            </a:r>
          </a:p>
          <a:p>
            <a:pPr lvl="0"/>
            <a:r>
              <a:rPr lang="en-US" sz="2000" b="0" dirty="0">
                <a:solidFill>
                  <a:srgbClr val="0000FF"/>
                </a:solidFill>
                <a:latin typeface="Lucida Sans Unicode" panose="020B0602030504020204" pitchFamily="34" charset="0"/>
                <a:cs typeface="Lucida Sans Unicode" panose="020B0602030504020204" pitchFamily="34" charset="0"/>
              </a:rPr>
              <a:t>ORDER</a:t>
            </a:r>
            <a:r>
              <a:rPr lang="en-US" sz="2000" b="0" dirty="0">
                <a:solidFill>
                  <a:prstClr val="black"/>
                </a:solidFill>
                <a:latin typeface="Lucida Sans Unicode" panose="020B0602030504020204" pitchFamily="34" charset="0"/>
                <a:cs typeface="Lucida Sans Unicode" panose="020B0602030504020204" pitchFamily="34" charset="0"/>
              </a:rPr>
              <a:t> </a:t>
            </a:r>
            <a:r>
              <a:rPr lang="en-US" sz="2000" b="0" dirty="0">
                <a:solidFill>
                  <a:srgbClr val="0000FF"/>
                </a:solidFill>
                <a:latin typeface="Lucida Sans Unicode" panose="020B0602030504020204" pitchFamily="34" charset="0"/>
                <a:cs typeface="Lucida Sans Unicode" panose="020B0602030504020204" pitchFamily="34" charset="0"/>
              </a:rPr>
              <a:t>BY</a:t>
            </a:r>
            <a:r>
              <a:rPr lang="en-US" sz="2000" b="0" dirty="0">
                <a:solidFill>
                  <a:prstClr val="black"/>
                </a:solidFill>
                <a:latin typeface="Lucida Sans Unicode" panose="020B0602030504020204" pitchFamily="34" charset="0"/>
                <a:cs typeface="Lucida Sans Unicode" panose="020B0602030504020204" pitchFamily="34" charset="0"/>
              </a:rPr>
              <a:t> Category</a:t>
            </a:r>
            <a:r>
              <a:rPr lang="en-US" sz="2000" b="0" dirty="0">
                <a:solidFill>
                  <a:srgbClr val="808080"/>
                </a:solidFill>
                <a:latin typeface="Lucida Sans Unicode" panose="020B0602030504020204" pitchFamily="34" charset="0"/>
                <a:cs typeface="Lucida Sans Unicode" panose="020B0602030504020204" pitchFamily="34" charset="0"/>
              </a:rPr>
              <a:t>,</a:t>
            </a:r>
            <a:r>
              <a:rPr lang="en-US" sz="2000" b="0" dirty="0">
                <a:solidFill>
                  <a:prstClr val="black"/>
                </a:solidFill>
                <a:latin typeface="Lucida Sans Unicode" panose="020B0602030504020204" pitchFamily="34" charset="0"/>
                <a:cs typeface="Lucida Sans Unicode" panose="020B0602030504020204" pitchFamily="34" charset="0"/>
              </a:rPr>
              <a:t> Cust</a:t>
            </a:r>
            <a:r>
              <a:rPr lang="en-US" sz="2000" b="0" dirty="0">
                <a:solidFill>
                  <a:srgbClr val="808080"/>
                </a:solidFill>
                <a:latin typeface="Lucida Sans Unicode" panose="020B0602030504020204" pitchFamily="34" charset="0"/>
                <a:cs typeface="Lucida Sans Unicode" panose="020B0602030504020204" pitchFamily="34" charset="0"/>
              </a:rPr>
              <a:t>;</a:t>
            </a:r>
          </a:p>
        </p:txBody>
      </p:sp>
      <p:sp>
        <p:nvSpPr>
          <p:cNvPr id="6" name="AutoShape 3"/>
          <p:cNvSpPr>
            <a:spLocks noChangeArrowheads="1"/>
          </p:cNvSpPr>
          <p:nvPr/>
        </p:nvSpPr>
        <p:spPr bwMode="auto">
          <a:xfrm>
            <a:off x="450376" y="5190310"/>
            <a:ext cx="7779224" cy="1374636"/>
          </a:xfrm>
          <a:prstGeom prst="roundRect">
            <a:avLst>
              <a:gd name="adj" fmla="val 0"/>
            </a:avLst>
          </a:prstGeom>
          <a:solidFill>
            <a:srgbClr val="D2D2D2"/>
          </a:solidFill>
          <a:ln w="9525" algn="ctr">
            <a:noFill/>
            <a:round/>
            <a:headEnd/>
            <a:tailEnd/>
          </a:ln>
          <a:effectLst/>
        </p:spPr>
        <p:txBody>
          <a:bodyPr wrap="square" anchor="ctr">
            <a:spAutoFit/>
          </a:bodyPr>
          <a:lstStyle/>
          <a:p>
            <a:pPr lvl="0"/>
            <a:r>
              <a:rPr lang="en-US" sz="2000" b="0" dirty="0">
                <a:solidFill>
                  <a:srgbClr val="0000FF"/>
                </a:solidFill>
                <a:latin typeface="Lucida Sans Unicode" panose="020B0602030504020204" pitchFamily="34" charset="0"/>
                <a:cs typeface="Lucida Sans Unicode" panose="020B0602030504020204" pitchFamily="34" charset="0"/>
              </a:rPr>
              <a:t>SELECT</a:t>
            </a:r>
            <a:r>
              <a:rPr lang="en-US" sz="2000" b="0" dirty="0">
                <a:solidFill>
                  <a:prstClr val="black"/>
                </a:solidFill>
                <a:latin typeface="Lucida Sans Unicode" panose="020B0602030504020204" pitchFamily="34" charset="0"/>
                <a:cs typeface="Lucida Sans Unicode" panose="020B0602030504020204" pitchFamily="34" charset="0"/>
              </a:rPr>
              <a:t> Category</a:t>
            </a:r>
            <a:r>
              <a:rPr lang="en-US" sz="2000" b="0" dirty="0">
                <a:solidFill>
                  <a:srgbClr val="808080"/>
                </a:solidFill>
                <a:latin typeface="Lucida Sans Unicode" panose="020B0602030504020204" pitchFamily="34" charset="0"/>
                <a:cs typeface="Lucida Sans Unicode" panose="020B0602030504020204" pitchFamily="34" charset="0"/>
              </a:rPr>
              <a:t>,</a:t>
            </a:r>
            <a:r>
              <a:rPr lang="en-US" sz="2000" b="0" dirty="0">
                <a:solidFill>
                  <a:prstClr val="black"/>
                </a:solidFill>
                <a:latin typeface="Lucida Sans Unicode" panose="020B0602030504020204" pitchFamily="34" charset="0"/>
                <a:cs typeface="Lucida Sans Unicode" panose="020B0602030504020204" pitchFamily="34" charset="0"/>
              </a:rPr>
              <a:t> Cust</a:t>
            </a:r>
            <a:r>
              <a:rPr lang="en-US" sz="2000" b="0" dirty="0">
                <a:solidFill>
                  <a:srgbClr val="808080"/>
                </a:solidFill>
                <a:latin typeface="Lucida Sans Unicode" panose="020B0602030504020204" pitchFamily="34" charset="0"/>
                <a:cs typeface="Lucida Sans Unicode" panose="020B0602030504020204" pitchFamily="34" charset="0"/>
              </a:rPr>
              <a:t>,</a:t>
            </a:r>
            <a:r>
              <a:rPr lang="en-US" sz="2000" b="0" dirty="0">
                <a:solidFill>
                  <a:prstClr val="black"/>
                </a:solidFill>
                <a:latin typeface="Lucida Sans Unicode" panose="020B0602030504020204" pitchFamily="34" charset="0"/>
                <a:cs typeface="Lucida Sans Unicode" panose="020B0602030504020204" pitchFamily="34" charset="0"/>
              </a:rPr>
              <a:t> </a:t>
            </a:r>
            <a:r>
              <a:rPr lang="en-US" sz="2000" b="0" dirty="0">
                <a:solidFill>
                  <a:srgbClr val="FF00FF"/>
                </a:solidFill>
                <a:latin typeface="Lucida Sans Unicode" panose="020B0602030504020204" pitchFamily="34" charset="0"/>
                <a:cs typeface="Lucida Sans Unicode" panose="020B0602030504020204" pitchFamily="34" charset="0"/>
              </a:rPr>
              <a:t>SUM</a:t>
            </a:r>
            <a:r>
              <a:rPr lang="en-US" sz="2000" b="0" dirty="0">
                <a:solidFill>
                  <a:srgbClr val="808080"/>
                </a:solidFill>
                <a:latin typeface="Lucida Sans Unicode" panose="020B0602030504020204" pitchFamily="34" charset="0"/>
                <a:cs typeface="Lucida Sans Unicode" panose="020B0602030504020204" pitchFamily="34" charset="0"/>
              </a:rPr>
              <a:t>(</a:t>
            </a:r>
            <a:r>
              <a:rPr lang="en-US" sz="2000" b="0" dirty="0">
                <a:solidFill>
                  <a:prstClr val="black"/>
                </a:solidFill>
                <a:latin typeface="Lucida Sans Unicode" panose="020B0602030504020204" pitchFamily="34" charset="0"/>
                <a:cs typeface="Lucida Sans Unicode" panose="020B0602030504020204" pitchFamily="34" charset="0"/>
              </a:rPr>
              <a:t>Qty</a:t>
            </a:r>
            <a:r>
              <a:rPr lang="en-US" sz="2000" b="0" dirty="0">
                <a:solidFill>
                  <a:srgbClr val="808080"/>
                </a:solidFill>
                <a:latin typeface="Lucida Sans Unicode" panose="020B0602030504020204" pitchFamily="34" charset="0"/>
                <a:cs typeface="Lucida Sans Unicode" panose="020B0602030504020204" pitchFamily="34" charset="0"/>
              </a:rPr>
              <a:t>)</a:t>
            </a:r>
            <a:r>
              <a:rPr lang="en-US" sz="2000" b="0" dirty="0">
                <a:solidFill>
                  <a:prstClr val="black"/>
                </a:solidFill>
                <a:latin typeface="Lucida Sans Unicode" panose="020B0602030504020204" pitchFamily="34" charset="0"/>
                <a:cs typeface="Lucida Sans Unicode" panose="020B0602030504020204" pitchFamily="34" charset="0"/>
              </a:rPr>
              <a:t> </a:t>
            </a:r>
            <a:r>
              <a:rPr lang="en-US" sz="2000" b="0" dirty="0">
                <a:solidFill>
                  <a:srgbClr val="0000FF"/>
                </a:solidFill>
                <a:latin typeface="Lucida Sans Unicode" panose="020B0602030504020204" pitchFamily="34" charset="0"/>
                <a:cs typeface="Lucida Sans Unicode" panose="020B0602030504020204" pitchFamily="34" charset="0"/>
              </a:rPr>
              <a:t>AS</a:t>
            </a:r>
            <a:r>
              <a:rPr lang="en-US" sz="2000" b="0" dirty="0">
                <a:solidFill>
                  <a:prstClr val="black"/>
                </a:solidFill>
                <a:latin typeface="Lucida Sans Unicode" panose="020B0602030504020204" pitchFamily="34" charset="0"/>
                <a:cs typeface="Lucida Sans Unicode" panose="020B0602030504020204" pitchFamily="34" charset="0"/>
              </a:rPr>
              <a:t> TotalQty</a:t>
            </a:r>
          </a:p>
          <a:p>
            <a:pPr lvl="0"/>
            <a:r>
              <a:rPr lang="en-US" sz="2000" b="0" dirty="0">
                <a:solidFill>
                  <a:srgbClr val="0000FF"/>
                </a:solidFill>
                <a:latin typeface="Lucida Sans Unicode" panose="020B0602030504020204" pitchFamily="34" charset="0"/>
                <a:cs typeface="Lucida Sans Unicode" panose="020B0602030504020204" pitchFamily="34" charset="0"/>
              </a:rPr>
              <a:t>FROM</a:t>
            </a:r>
            <a:r>
              <a:rPr lang="en-US" sz="2000" b="0" dirty="0">
                <a:solidFill>
                  <a:prstClr val="black"/>
                </a:solidFill>
                <a:latin typeface="Lucida Sans Unicode" panose="020B0602030504020204" pitchFamily="34" charset="0"/>
                <a:cs typeface="Lucida Sans Unicode" panose="020B0602030504020204" pitchFamily="34" charset="0"/>
              </a:rPr>
              <a:t> Sales</a:t>
            </a:r>
            <a:r>
              <a:rPr lang="en-US" sz="2000" b="0" dirty="0">
                <a:solidFill>
                  <a:srgbClr val="808080"/>
                </a:solidFill>
                <a:latin typeface="Lucida Sans Unicode" panose="020B0602030504020204" pitchFamily="34" charset="0"/>
                <a:cs typeface="Lucida Sans Unicode" panose="020B0602030504020204" pitchFamily="34" charset="0"/>
              </a:rPr>
              <a:t>.</a:t>
            </a:r>
            <a:r>
              <a:rPr lang="en-US" sz="2000" b="0" dirty="0">
                <a:solidFill>
                  <a:prstClr val="black"/>
                </a:solidFill>
                <a:latin typeface="Lucida Sans Unicode" panose="020B0602030504020204" pitchFamily="34" charset="0"/>
                <a:cs typeface="Lucida Sans Unicode" panose="020B0602030504020204" pitchFamily="34" charset="0"/>
              </a:rPr>
              <a:t>CategorySales</a:t>
            </a:r>
          </a:p>
          <a:p>
            <a:pPr lvl="0"/>
            <a:r>
              <a:rPr lang="en-US" sz="2000" b="0" dirty="0">
                <a:solidFill>
                  <a:srgbClr val="0000FF"/>
                </a:solidFill>
                <a:latin typeface="Lucida Sans Unicode" panose="020B0602030504020204" pitchFamily="34" charset="0"/>
                <a:cs typeface="Lucida Sans Unicode" panose="020B0602030504020204" pitchFamily="34" charset="0"/>
              </a:rPr>
              <a:t>GROUP</a:t>
            </a:r>
            <a:r>
              <a:rPr lang="en-US" sz="2000" b="0" dirty="0">
                <a:solidFill>
                  <a:prstClr val="black"/>
                </a:solidFill>
                <a:latin typeface="Lucida Sans Unicode" panose="020B0602030504020204" pitchFamily="34" charset="0"/>
                <a:cs typeface="Lucida Sans Unicode" panose="020B0602030504020204" pitchFamily="34" charset="0"/>
              </a:rPr>
              <a:t> </a:t>
            </a:r>
            <a:r>
              <a:rPr lang="en-US" sz="2000" b="0" dirty="0">
                <a:solidFill>
                  <a:srgbClr val="0000FF"/>
                </a:solidFill>
                <a:latin typeface="Lucida Sans Unicode" panose="020B0602030504020204" pitchFamily="34" charset="0"/>
                <a:cs typeface="Lucida Sans Unicode" panose="020B0602030504020204" pitchFamily="34" charset="0"/>
              </a:rPr>
              <a:t>BY</a:t>
            </a:r>
            <a:r>
              <a:rPr lang="en-US" sz="2000" b="0" dirty="0">
                <a:solidFill>
                  <a:prstClr val="black"/>
                </a:solidFill>
                <a:latin typeface="Lucida Sans Unicode" panose="020B0602030504020204" pitchFamily="34" charset="0"/>
                <a:cs typeface="Lucida Sans Unicode" panose="020B0602030504020204" pitchFamily="34" charset="0"/>
              </a:rPr>
              <a:t> </a:t>
            </a:r>
            <a:r>
              <a:rPr lang="en-US" sz="2000" b="0" dirty="0">
                <a:solidFill>
                  <a:srgbClr val="0000FF"/>
                </a:solidFill>
                <a:latin typeface="Lucida Sans Unicode" panose="020B0602030504020204" pitchFamily="34" charset="0"/>
                <a:cs typeface="Lucida Sans Unicode" panose="020B0602030504020204" pitchFamily="34" charset="0"/>
              </a:rPr>
              <a:t>ROLLUP</a:t>
            </a:r>
            <a:r>
              <a:rPr lang="en-US" sz="2000" b="0" dirty="0">
                <a:solidFill>
                  <a:srgbClr val="808080"/>
                </a:solidFill>
                <a:latin typeface="Lucida Sans Unicode" panose="020B0602030504020204" pitchFamily="34" charset="0"/>
                <a:cs typeface="Lucida Sans Unicode" panose="020B0602030504020204" pitchFamily="34" charset="0"/>
              </a:rPr>
              <a:t>(</a:t>
            </a:r>
            <a:r>
              <a:rPr lang="en-US" sz="2000" b="0" dirty="0">
                <a:solidFill>
                  <a:prstClr val="black"/>
                </a:solidFill>
                <a:latin typeface="Lucida Sans Unicode" panose="020B0602030504020204" pitchFamily="34" charset="0"/>
                <a:cs typeface="Lucida Sans Unicode" panose="020B0602030504020204" pitchFamily="34" charset="0"/>
              </a:rPr>
              <a:t>Category</a:t>
            </a:r>
            <a:r>
              <a:rPr lang="en-US" sz="2000" b="0" dirty="0">
                <a:solidFill>
                  <a:srgbClr val="808080"/>
                </a:solidFill>
                <a:latin typeface="Lucida Sans Unicode" panose="020B0602030504020204" pitchFamily="34" charset="0"/>
                <a:cs typeface="Lucida Sans Unicode" panose="020B0602030504020204" pitchFamily="34" charset="0"/>
              </a:rPr>
              <a:t>,</a:t>
            </a:r>
            <a:r>
              <a:rPr lang="en-US" sz="2000" b="0" dirty="0">
                <a:solidFill>
                  <a:prstClr val="black"/>
                </a:solidFill>
                <a:latin typeface="Lucida Sans Unicode" panose="020B0602030504020204" pitchFamily="34" charset="0"/>
                <a:cs typeface="Lucida Sans Unicode" panose="020B0602030504020204" pitchFamily="34" charset="0"/>
              </a:rPr>
              <a:t>Cust</a:t>
            </a:r>
            <a:r>
              <a:rPr lang="en-US" sz="2000" b="0" dirty="0">
                <a:solidFill>
                  <a:srgbClr val="808080"/>
                </a:solidFill>
                <a:latin typeface="Lucida Sans Unicode" panose="020B0602030504020204" pitchFamily="34" charset="0"/>
                <a:cs typeface="Lucida Sans Unicode" panose="020B0602030504020204" pitchFamily="34" charset="0"/>
              </a:rPr>
              <a:t>)</a:t>
            </a:r>
          </a:p>
          <a:p>
            <a:pPr lvl="0"/>
            <a:r>
              <a:rPr lang="en-US" sz="2000" b="0" dirty="0">
                <a:solidFill>
                  <a:srgbClr val="0000FF"/>
                </a:solidFill>
                <a:latin typeface="Lucida Sans Unicode" panose="020B0602030504020204" pitchFamily="34" charset="0"/>
                <a:cs typeface="Lucida Sans Unicode" panose="020B0602030504020204" pitchFamily="34" charset="0"/>
              </a:rPr>
              <a:t>ORDER</a:t>
            </a:r>
            <a:r>
              <a:rPr lang="en-US" sz="2000" b="0" dirty="0">
                <a:solidFill>
                  <a:prstClr val="black"/>
                </a:solidFill>
                <a:latin typeface="Lucida Sans Unicode" panose="020B0602030504020204" pitchFamily="34" charset="0"/>
                <a:cs typeface="Lucida Sans Unicode" panose="020B0602030504020204" pitchFamily="34" charset="0"/>
              </a:rPr>
              <a:t> </a:t>
            </a:r>
            <a:r>
              <a:rPr lang="en-US" sz="2000" b="0" dirty="0">
                <a:solidFill>
                  <a:srgbClr val="0000FF"/>
                </a:solidFill>
                <a:latin typeface="Lucida Sans Unicode" panose="020B0602030504020204" pitchFamily="34" charset="0"/>
                <a:cs typeface="Lucida Sans Unicode" panose="020B0602030504020204" pitchFamily="34" charset="0"/>
              </a:rPr>
              <a:t>BY</a:t>
            </a:r>
            <a:r>
              <a:rPr lang="en-US" sz="2000" b="0" dirty="0">
                <a:solidFill>
                  <a:prstClr val="black"/>
                </a:solidFill>
                <a:latin typeface="Lucida Sans Unicode" panose="020B0602030504020204" pitchFamily="34" charset="0"/>
                <a:cs typeface="Lucida Sans Unicode" panose="020B0602030504020204" pitchFamily="34" charset="0"/>
              </a:rPr>
              <a:t> Category</a:t>
            </a:r>
            <a:r>
              <a:rPr lang="en-US" sz="2000" b="0" dirty="0">
                <a:solidFill>
                  <a:srgbClr val="808080"/>
                </a:solidFill>
                <a:latin typeface="Lucida Sans Unicode" panose="020B0602030504020204" pitchFamily="34" charset="0"/>
                <a:cs typeface="Lucida Sans Unicode" panose="020B0602030504020204" pitchFamily="34" charset="0"/>
              </a:rPr>
              <a:t>,</a:t>
            </a:r>
            <a:r>
              <a:rPr lang="en-US" sz="2000" b="0" dirty="0">
                <a:solidFill>
                  <a:prstClr val="black"/>
                </a:solidFill>
                <a:latin typeface="Lucida Sans Unicode" panose="020B0602030504020204" pitchFamily="34" charset="0"/>
                <a:cs typeface="Lucida Sans Unicode" panose="020B0602030504020204" pitchFamily="34" charset="0"/>
              </a:rPr>
              <a:t> Cust</a:t>
            </a:r>
            <a:r>
              <a:rPr lang="en-US" sz="2000" b="0" dirty="0">
                <a:solidFill>
                  <a:srgbClr val="808080"/>
                </a:solidFill>
                <a:latin typeface="Lucida Sans Unicode" panose="020B0602030504020204" pitchFamily="34" charset="0"/>
                <a:cs typeface="Lucida Sans Unicode" panose="020B0602030504020204" pitchFamily="34" charset="0"/>
              </a:rPr>
              <a:t>;</a:t>
            </a:r>
          </a:p>
        </p:txBody>
      </p:sp>
    </p:spTree>
    <p:custDataLst>
      <p:tags r:id="rId1"/>
    </p:custDataLst>
    <p:extLst>
      <p:ext uri="{BB962C8B-B14F-4D97-AF65-F5344CB8AC3E}">
        <p14:creationId xmlns:p14="http://schemas.microsoft.com/office/powerpoint/2010/main" val="241760726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52d25c6f-c178-4023-9ed6-50d1b595041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GROUPING_ID</a:t>
            </a:r>
            <a:endParaRPr lang="en-GB" dirty="0"/>
          </a:p>
        </p:txBody>
      </p:sp>
      <p:sp>
        <p:nvSpPr>
          <p:cNvPr id="5" name="Content Placeholder 2"/>
          <p:cNvSpPr txBox="1">
            <a:spLocks/>
          </p:cNvSpPr>
          <p:nvPr/>
        </p:nvSpPr>
        <p:spPr bwMode="auto">
          <a:xfrm>
            <a:off x="458788" y="1021215"/>
            <a:ext cx="8119156" cy="5147356"/>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lvl1pPr marL="174625" indent="-174625" algn="l" rtl="0" eaLnBrk="1" fontAlgn="base" hangingPunct="1">
              <a:lnSpc>
                <a:spcPct val="100000"/>
              </a:lnSpc>
              <a:spcBef>
                <a:spcPts val="600"/>
              </a:spcBef>
              <a:spcAft>
                <a:spcPct val="0"/>
              </a:spcAft>
              <a:buClr>
                <a:srgbClr val="0070C0"/>
              </a:buClr>
              <a:buSzPct val="90000"/>
              <a:buFont typeface="Arial" pitchFamily="34" charset="0"/>
              <a:buChar char="•"/>
              <a:defRPr sz="2800">
                <a:solidFill>
                  <a:schemeClr val="tx1"/>
                </a:solidFill>
                <a:latin typeface="Segoe UI" pitchFamily="34" charset="0"/>
                <a:ea typeface="Segoe UI" pitchFamily="34" charset="0"/>
                <a:cs typeface="Segoe UI" pitchFamily="34" charset="0"/>
              </a:defRPr>
            </a:lvl1pPr>
            <a:lvl2pPr marL="458788" indent="-169863" algn="l" rtl="0" eaLnBrk="1" fontAlgn="base" hangingPunct="1">
              <a:lnSpc>
                <a:spcPct val="100000"/>
              </a:lnSpc>
              <a:spcBef>
                <a:spcPts val="600"/>
              </a:spcBef>
              <a:spcAft>
                <a:spcPct val="0"/>
              </a:spcAft>
              <a:buClr>
                <a:srgbClr val="0070C0"/>
              </a:buClr>
              <a:buSzPct val="80000"/>
              <a:buFont typeface="Arial" pitchFamily="34" charset="0"/>
              <a:buChar char="•"/>
              <a:defRPr sz="2400">
                <a:solidFill>
                  <a:schemeClr val="tx1"/>
                </a:solidFill>
                <a:latin typeface="Segoe UI" pitchFamily="34" charset="0"/>
                <a:ea typeface="Segoe UI" pitchFamily="34" charset="0"/>
                <a:cs typeface="Segoe UI" pitchFamily="34" charset="0"/>
              </a:defRPr>
            </a:lvl2pPr>
            <a:lvl3pPr marL="854075" indent="-173038" algn="l" rtl="0" eaLnBrk="1" fontAlgn="base" hangingPunct="1">
              <a:lnSpc>
                <a:spcPct val="100000"/>
              </a:lnSpc>
              <a:spcBef>
                <a:spcPts val="600"/>
              </a:spcBef>
              <a:spcAft>
                <a:spcPct val="0"/>
              </a:spcAft>
              <a:buClr>
                <a:srgbClr val="0070C0"/>
              </a:buClr>
              <a:buSzPct val="80000"/>
              <a:buFont typeface="Arial" pitchFamily="34" charset="0"/>
              <a:buChar char="•"/>
              <a:defRPr sz="2000">
                <a:solidFill>
                  <a:schemeClr val="tx1"/>
                </a:solidFill>
                <a:latin typeface="Segoe UI" pitchFamily="34" charset="0"/>
                <a:ea typeface="Segoe UI" pitchFamily="34" charset="0"/>
                <a:cs typeface="Segoe UI" pitchFamily="34" charset="0"/>
              </a:defRPr>
            </a:lvl3pPr>
            <a:lvl4pPr marL="1254125" indent="-165100"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4pPr>
            <a:lvl5pPr marL="1544638" indent="-168275"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5pPr>
            <a:lvl6pPr marL="20018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6pPr>
            <a:lvl7pPr marL="24590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7pPr>
            <a:lvl8pPr marL="29162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8pPr>
            <a:lvl9pPr marL="33734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9pPr>
          </a:lstStyle>
          <a:p>
            <a:r>
              <a:rPr lang="en-US" b="0" kern="0" dirty="0" smtClean="0"/>
              <a:t>Multiple grouping sets present a problem in identifying the source of each row in the result set</a:t>
            </a:r>
          </a:p>
          <a:p>
            <a:r>
              <a:rPr lang="en-US" b="0" kern="0" dirty="0" smtClean="0"/>
              <a:t>NULLs could come from the source data or could be a placeholder in the grouping set</a:t>
            </a:r>
          </a:p>
          <a:p>
            <a:r>
              <a:rPr lang="en-US" b="0" kern="0" dirty="0" smtClean="0"/>
              <a:t>The GROUPING_ID function provides a method to mark a row with a 1 or 0 to identify which grouping set the row is a member of</a:t>
            </a:r>
          </a:p>
          <a:p>
            <a:endParaRPr lang="en-US" b="0" kern="0" dirty="0"/>
          </a:p>
        </p:txBody>
      </p:sp>
      <p:sp>
        <p:nvSpPr>
          <p:cNvPr id="6" name="AutoShape 3"/>
          <p:cNvSpPr>
            <a:spLocks noChangeArrowheads="1"/>
          </p:cNvSpPr>
          <p:nvPr/>
        </p:nvSpPr>
        <p:spPr bwMode="auto">
          <a:xfrm>
            <a:off x="637366" y="4552870"/>
            <a:ext cx="7728711" cy="1938992"/>
          </a:xfrm>
          <a:prstGeom prst="roundRect">
            <a:avLst>
              <a:gd name="adj" fmla="val 0"/>
            </a:avLst>
          </a:prstGeom>
          <a:solidFill>
            <a:srgbClr val="D2D2D2"/>
          </a:solidFill>
          <a:ln w="9525" algn="ctr">
            <a:noFill/>
            <a:round/>
            <a:headEnd/>
            <a:tailEnd/>
          </a:ln>
          <a:effectLst/>
        </p:spPr>
        <p:txBody>
          <a:bodyPr wrap="square" anchor="ctr">
            <a:spAutoFit/>
          </a:bodyPr>
          <a:lstStyle/>
          <a:p>
            <a:r>
              <a:rPr lang="en-US" sz="2000" b="0" dirty="0">
                <a:solidFill>
                  <a:srgbClr val="0000FF"/>
                </a:solidFill>
                <a:latin typeface="Lucida Sans Unicode" panose="020B0602030504020204" pitchFamily="34" charset="0"/>
                <a:cs typeface="Lucida Sans Unicode" panose="020B0602030504020204" pitchFamily="34" charset="0"/>
              </a:rPr>
              <a:t>SELECT</a:t>
            </a:r>
            <a:r>
              <a:rPr lang="en-US" sz="2000" b="0" dirty="0">
                <a:solidFill>
                  <a:prstClr val="black"/>
                </a:solidFill>
                <a:latin typeface="Lucida Sans Unicode" panose="020B0602030504020204" pitchFamily="34" charset="0"/>
                <a:cs typeface="Lucida Sans Unicode" panose="020B0602030504020204" pitchFamily="34" charset="0"/>
              </a:rPr>
              <a:t> </a:t>
            </a:r>
            <a:r>
              <a:rPr lang="en-US" sz="2000" b="0" dirty="0">
                <a:solidFill>
                  <a:srgbClr val="FF00FF"/>
                </a:solidFill>
                <a:latin typeface="Lucida Sans Unicode" panose="020B0602030504020204" pitchFamily="34" charset="0"/>
                <a:cs typeface="Lucida Sans Unicode" panose="020B0602030504020204" pitchFamily="34" charset="0"/>
              </a:rPr>
              <a:t>GROUPING_ID</a:t>
            </a:r>
            <a:r>
              <a:rPr lang="en-US" sz="2000" b="0" dirty="0">
                <a:solidFill>
                  <a:srgbClr val="808080"/>
                </a:solidFill>
                <a:latin typeface="Lucida Sans Unicode" panose="020B0602030504020204" pitchFamily="34" charset="0"/>
                <a:cs typeface="Lucida Sans Unicode" panose="020B0602030504020204" pitchFamily="34" charset="0"/>
              </a:rPr>
              <a:t>(</a:t>
            </a:r>
            <a:r>
              <a:rPr lang="en-US" sz="2000" b="0" dirty="0">
                <a:solidFill>
                  <a:prstClr val="black"/>
                </a:solidFill>
                <a:latin typeface="Lucida Sans Unicode" panose="020B0602030504020204" pitchFamily="34" charset="0"/>
                <a:cs typeface="Lucida Sans Unicode" panose="020B0602030504020204" pitchFamily="34" charset="0"/>
              </a:rPr>
              <a:t>Category</a:t>
            </a:r>
            <a:r>
              <a:rPr lang="en-US" sz="2000" b="0" dirty="0">
                <a:solidFill>
                  <a:srgbClr val="808080"/>
                </a:solidFill>
                <a:latin typeface="Lucida Sans Unicode" panose="020B0602030504020204" pitchFamily="34" charset="0"/>
                <a:cs typeface="Lucida Sans Unicode" panose="020B0602030504020204" pitchFamily="34" charset="0"/>
              </a:rPr>
              <a:t>)</a:t>
            </a:r>
            <a:r>
              <a:rPr lang="en-US" sz="2000" b="0" dirty="0">
                <a:solidFill>
                  <a:srgbClr val="0000FF"/>
                </a:solidFill>
                <a:latin typeface="Lucida Sans Unicode" panose="020B0602030504020204" pitchFamily="34" charset="0"/>
                <a:cs typeface="Lucida Sans Unicode" panose="020B0602030504020204" pitchFamily="34" charset="0"/>
              </a:rPr>
              <a:t>AS</a:t>
            </a:r>
            <a:r>
              <a:rPr lang="en-US" sz="2000" b="0" dirty="0">
                <a:solidFill>
                  <a:prstClr val="black"/>
                </a:solidFill>
                <a:latin typeface="Lucida Sans Unicode" panose="020B0602030504020204" pitchFamily="34" charset="0"/>
                <a:cs typeface="Lucida Sans Unicode" panose="020B0602030504020204" pitchFamily="34" charset="0"/>
              </a:rPr>
              <a:t> grpCat</a:t>
            </a:r>
            <a:r>
              <a:rPr lang="en-US" sz="2000" b="0" dirty="0">
                <a:solidFill>
                  <a:srgbClr val="808080"/>
                </a:solidFill>
                <a:latin typeface="Lucida Sans Unicode" panose="020B0602030504020204" pitchFamily="34" charset="0"/>
                <a:cs typeface="Lucida Sans Unicode" panose="020B0602030504020204" pitchFamily="34" charset="0"/>
              </a:rPr>
              <a:t>,</a:t>
            </a:r>
            <a:r>
              <a:rPr lang="en-US" sz="2000" b="0" dirty="0">
                <a:solidFill>
                  <a:prstClr val="black"/>
                </a:solidFill>
                <a:latin typeface="Lucida Sans Unicode" panose="020B0602030504020204" pitchFamily="34" charset="0"/>
                <a:cs typeface="Lucida Sans Unicode" panose="020B0602030504020204" pitchFamily="34" charset="0"/>
              </a:rPr>
              <a:t> 	 		</a:t>
            </a:r>
            <a:r>
              <a:rPr lang="en-US" sz="2000" b="0" dirty="0">
                <a:solidFill>
                  <a:srgbClr val="FF00FF"/>
                </a:solidFill>
                <a:latin typeface="Lucida Sans Unicode" panose="020B0602030504020204" pitchFamily="34" charset="0"/>
                <a:cs typeface="Lucida Sans Unicode" panose="020B0602030504020204" pitchFamily="34" charset="0"/>
              </a:rPr>
              <a:t>GROUPING_ID</a:t>
            </a:r>
            <a:r>
              <a:rPr lang="en-US" sz="2000" b="0" dirty="0">
                <a:solidFill>
                  <a:srgbClr val="808080"/>
                </a:solidFill>
                <a:latin typeface="Lucida Sans Unicode" panose="020B0602030504020204" pitchFamily="34" charset="0"/>
                <a:cs typeface="Lucida Sans Unicode" panose="020B0602030504020204" pitchFamily="34" charset="0"/>
              </a:rPr>
              <a:t>(</a:t>
            </a:r>
            <a:r>
              <a:rPr lang="en-US" sz="2000" b="0" dirty="0">
                <a:solidFill>
                  <a:prstClr val="black"/>
                </a:solidFill>
                <a:latin typeface="Lucida Sans Unicode" panose="020B0602030504020204" pitchFamily="34" charset="0"/>
                <a:cs typeface="Lucida Sans Unicode" panose="020B0602030504020204" pitchFamily="34" charset="0"/>
              </a:rPr>
              <a:t>Cust</a:t>
            </a:r>
            <a:r>
              <a:rPr lang="en-US" sz="2000" b="0" dirty="0">
                <a:solidFill>
                  <a:srgbClr val="808080"/>
                </a:solidFill>
                <a:latin typeface="Lucida Sans Unicode" panose="020B0602030504020204" pitchFamily="34" charset="0"/>
                <a:cs typeface="Lucida Sans Unicode" panose="020B0602030504020204" pitchFamily="34" charset="0"/>
              </a:rPr>
              <a:t>)</a:t>
            </a:r>
            <a:r>
              <a:rPr lang="en-US" sz="2000" b="0" dirty="0">
                <a:solidFill>
                  <a:prstClr val="black"/>
                </a:solidFill>
                <a:latin typeface="Lucida Sans Unicode" panose="020B0602030504020204" pitchFamily="34" charset="0"/>
                <a:cs typeface="Lucida Sans Unicode" panose="020B0602030504020204" pitchFamily="34" charset="0"/>
              </a:rPr>
              <a:t> </a:t>
            </a:r>
            <a:r>
              <a:rPr lang="en-US" sz="2000" b="0" dirty="0">
                <a:solidFill>
                  <a:srgbClr val="0000FF"/>
                </a:solidFill>
                <a:latin typeface="Lucida Sans Unicode" panose="020B0602030504020204" pitchFamily="34" charset="0"/>
                <a:cs typeface="Lucida Sans Unicode" panose="020B0602030504020204" pitchFamily="34" charset="0"/>
              </a:rPr>
              <a:t>AS</a:t>
            </a:r>
            <a:r>
              <a:rPr lang="en-US" sz="2000" b="0" dirty="0">
                <a:solidFill>
                  <a:prstClr val="black"/>
                </a:solidFill>
                <a:latin typeface="Lucida Sans Unicode" panose="020B0602030504020204" pitchFamily="34" charset="0"/>
                <a:cs typeface="Lucida Sans Unicode" panose="020B0602030504020204" pitchFamily="34" charset="0"/>
              </a:rPr>
              <a:t> grpCust</a:t>
            </a:r>
            <a:r>
              <a:rPr lang="en-US" sz="2000" b="0" dirty="0">
                <a:solidFill>
                  <a:srgbClr val="808080"/>
                </a:solidFill>
                <a:latin typeface="Lucida Sans Unicode" panose="020B0602030504020204" pitchFamily="34" charset="0"/>
                <a:cs typeface="Lucida Sans Unicode" panose="020B0602030504020204" pitchFamily="34" charset="0"/>
              </a:rPr>
              <a:t>,</a:t>
            </a:r>
            <a:r>
              <a:rPr lang="en-US" sz="2000" b="0" dirty="0">
                <a:solidFill>
                  <a:prstClr val="black"/>
                </a:solidFill>
                <a:latin typeface="Lucida Sans Unicode" panose="020B0602030504020204" pitchFamily="34" charset="0"/>
                <a:cs typeface="Lucida Sans Unicode" panose="020B0602030504020204" pitchFamily="34" charset="0"/>
              </a:rPr>
              <a:t> </a:t>
            </a:r>
          </a:p>
          <a:p>
            <a:r>
              <a:rPr lang="en-US" sz="2000" b="0" dirty="0">
                <a:solidFill>
                  <a:prstClr val="black"/>
                </a:solidFill>
                <a:latin typeface="Lucida Sans Unicode" panose="020B0602030504020204" pitchFamily="34" charset="0"/>
                <a:cs typeface="Lucida Sans Unicode" panose="020B0602030504020204" pitchFamily="34" charset="0"/>
              </a:rPr>
              <a:t>	Category</a:t>
            </a:r>
            <a:r>
              <a:rPr lang="en-US" sz="2000" b="0" dirty="0">
                <a:solidFill>
                  <a:srgbClr val="808080"/>
                </a:solidFill>
                <a:latin typeface="Lucida Sans Unicode" panose="020B0602030504020204" pitchFamily="34" charset="0"/>
                <a:cs typeface="Lucida Sans Unicode" panose="020B0602030504020204" pitchFamily="34" charset="0"/>
              </a:rPr>
              <a:t>,</a:t>
            </a:r>
            <a:r>
              <a:rPr lang="en-US" sz="2000" b="0" dirty="0">
                <a:solidFill>
                  <a:prstClr val="black"/>
                </a:solidFill>
                <a:latin typeface="Lucida Sans Unicode" panose="020B0602030504020204" pitchFamily="34" charset="0"/>
                <a:cs typeface="Lucida Sans Unicode" panose="020B0602030504020204" pitchFamily="34" charset="0"/>
              </a:rPr>
              <a:t> Cust</a:t>
            </a:r>
            <a:r>
              <a:rPr lang="en-US" sz="2000" b="0" dirty="0">
                <a:solidFill>
                  <a:srgbClr val="808080"/>
                </a:solidFill>
                <a:latin typeface="Lucida Sans Unicode" panose="020B0602030504020204" pitchFamily="34" charset="0"/>
                <a:cs typeface="Lucida Sans Unicode" panose="020B0602030504020204" pitchFamily="34" charset="0"/>
              </a:rPr>
              <a:t>,</a:t>
            </a:r>
            <a:r>
              <a:rPr lang="en-US" sz="2000" b="0" dirty="0">
                <a:solidFill>
                  <a:prstClr val="black"/>
                </a:solidFill>
                <a:latin typeface="Lucida Sans Unicode" panose="020B0602030504020204" pitchFamily="34" charset="0"/>
                <a:cs typeface="Lucida Sans Unicode" panose="020B0602030504020204" pitchFamily="34" charset="0"/>
              </a:rPr>
              <a:t> </a:t>
            </a:r>
            <a:r>
              <a:rPr lang="en-US" sz="2000" b="0" dirty="0">
                <a:solidFill>
                  <a:srgbClr val="FF00FF"/>
                </a:solidFill>
                <a:latin typeface="Lucida Sans Unicode" panose="020B0602030504020204" pitchFamily="34" charset="0"/>
                <a:cs typeface="Lucida Sans Unicode" panose="020B0602030504020204" pitchFamily="34" charset="0"/>
              </a:rPr>
              <a:t>SUM</a:t>
            </a:r>
            <a:r>
              <a:rPr lang="en-US" sz="2000" b="0" dirty="0">
                <a:solidFill>
                  <a:srgbClr val="808080"/>
                </a:solidFill>
                <a:latin typeface="Lucida Sans Unicode" panose="020B0602030504020204" pitchFamily="34" charset="0"/>
                <a:cs typeface="Lucida Sans Unicode" panose="020B0602030504020204" pitchFamily="34" charset="0"/>
              </a:rPr>
              <a:t>(</a:t>
            </a:r>
            <a:r>
              <a:rPr lang="en-US" sz="2000" b="0" dirty="0">
                <a:solidFill>
                  <a:prstClr val="black"/>
                </a:solidFill>
                <a:latin typeface="Lucida Sans Unicode" panose="020B0602030504020204" pitchFamily="34" charset="0"/>
                <a:cs typeface="Lucida Sans Unicode" panose="020B0602030504020204" pitchFamily="34" charset="0"/>
              </a:rPr>
              <a:t>Qty</a:t>
            </a:r>
            <a:r>
              <a:rPr lang="en-US" sz="2000" b="0" dirty="0">
                <a:solidFill>
                  <a:srgbClr val="808080"/>
                </a:solidFill>
                <a:latin typeface="Lucida Sans Unicode" panose="020B0602030504020204" pitchFamily="34" charset="0"/>
                <a:cs typeface="Lucida Sans Unicode" panose="020B0602030504020204" pitchFamily="34" charset="0"/>
              </a:rPr>
              <a:t>)</a:t>
            </a:r>
            <a:r>
              <a:rPr lang="en-US" sz="2000" b="0" dirty="0">
                <a:solidFill>
                  <a:prstClr val="black"/>
                </a:solidFill>
                <a:latin typeface="Lucida Sans Unicode" panose="020B0602030504020204" pitchFamily="34" charset="0"/>
                <a:cs typeface="Lucida Sans Unicode" panose="020B0602030504020204" pitchFamily="34" charset="0"/>
              </a:rPr>
              <a:t> </a:t>
            </a:r>
            <a:r>
              <a:rPr lang="en-US" sz="2000" b="0" dirty="0">
                <a:solidFill>
                  <a:srgbClr val="0000FF"/>
                </a:solidFill>
                <a:latin typeface="Lucida Sans Unicode" panose="020B0602030504020204" pitchFamily="34" charset="0"/>
                <a:cs typeface="Lucida Sans Unicode" panose="020B0602030504020204" pitchFamily="34" charset="0"/>
              </a:rPr>
              <a:t>AS</a:t>
            </a:r>
            <a:r>
              <a:rPr lang="en-US" sz="2000" b="0" dirty="0">
                <a:solidFill>
                  <a:prstClr val="black"/>
                </a:solidFill>
                <a:latin typeface="Lucida Sans Unicode" panose="020B0602030504020204" pitchFamily="34" charset="0"/>
                <a:cs typeface="Lucida Sans Unicode" panose="020B0602030504020204" pitchFamily="34" charset="0"/>
              </a:rPr>
              <a:t> TotalQty</a:t>
            </a:r>
          </a:p>
          <a:p>
            <a:r>
              <a:rPr lang="en-US" sz="2000" b="0" dirty="0">
                <a:solidFill>
                  <a:srgbClr val="0000FF"/>
                </a:solidFill>
                <a:latin typeface="Lucida Sans Unicode" panose="020B0602030504020204" pitchFamily="34" charset="0"/>
                <a:cs typeface="Lucida Sans Unicode" panose="020B0602030504020204" pitchFamily="34" charset="0"/>
              </a:rPr>
              <a:t>FROM</a:t>
            </a:r>
            <a:r>
              <a:rPr lang="en-US" sz="2000" b="0" dirty="0">
                <a:solidFill>
                  <a:prstClr val="black"/>
                </a:solidFill>
                <a:latin typeface="Lucida Sans Unicode" panose="020B0602030504020204" pitchFamily="34" charset="0"/>
                <a:cs typeface="Lucida Sans Unicode" panose="020B0602030504020204" pitchFamily="34" charset="0"/>
              </a:rPr>
              <a:t> Sales</a:t>
            </a:r>
            <a:r>
              <a:rPr lang="en-US" sz="2000" b="0" dirty="0">
                <a:solidFill>
                  <a:srgbClr val="808080"/>
                </a:solidFill>
                <a:latin typeface="Lucida Sans Unicode" panose="020B0602030504020204" pitchFamily="34" charset="0"/>
                <a:cs typeface="Lucida Sans Unicode" panose="020B0602030504020204" pitchFamily="34" charset="0"/>
              </a:rPr>
              <a:t>.</a:t>
            </a:r>
            <a:r>
              <a:rPr lang="en-US" sz="2000" b="0" dirty="0">
                <a:solidFill>
                  <a:prstClr val="black"/>
                </a:solidFill>
                <a:latin typeface="Lucida Sans Unicode" panose="020B0602030504020204" pitchFamily="34" charset="0"/>
                <a:cs typeface="Lucida Sans Unicode" panose="020B0602030504020204" pitchFamily="34" charset="0"/>
              </a:rPr>
              <a:t>CategorySales</a:t>
            </a:r>
          </a:p>
          <a:p>
            <a:r>
              <a:rPr lang="en-US" sz="2000" b="0" dirty="0">
                <a:solidFill>
                  <a:srgbClr val="0000FF"/>
                </a:solidFill>
                <a:latin typeface="Lucida Sans Unicode" panose="020B0602030504020204" pitchFamily="34" charset="0"/>
                <a:cs typeface="Lucida Sans Unicode" panose="020B0602030504020204" pitchFamily="34" charset="0"/>
              </a:rPr>
              <a:t>GROUP</a:t>
            </a:r>
            <a:r>
              <a:rPr lang="en-US" sz="2000" b="0" dirty="0">
                <a:solidFill>
                  <a:prstClr val="black"/>
                </a:solidFill>
                <a:latin typeface="Lucida Sans Unicode" panose="020B0602030504020204" pitchFamily="34" charset="0"/>
                <a:cs typeface="Lucida Sans Unicode" panose="020B0602030504020204" pitchFamily="34" charset="0"/>
              </a:rPr>
              <a:t> </a:t>
            </a:r>
            <a:r>
              <a:rPr lang="en-US" sz="2000" b="0" dirty="0">
                <a:solidFill>
                  <a:srgbClr val="0000FF"/>
                </a:solidFill>
                <a:latin typeface="Lucida Sans Unicode" panose="020B0602030504020204" pitchFamily="34" charset="0"/>
                <a:cs typeface="Lucida Sans Unicode" panose="020B0602030504020204" pitchFamily="34" charset="0"/>
              </a:rPr>
              <a:t>BY</a:t>
            </a:r>
            <a:r>
              <a:rPr lang="en-US" sz="2000" b="0" dirty="0">
                <a:solidFill>
                  <a:prstClr val="black"/>
                </a:solidFill>
                <a:latin typeface="Lucida Sans Unicode" panose="020B0602030504020204" pitchFamily="34" charset="0"/>
                <a:cs typeface="Lucida Sans Unicode" panose="020B0602030504020204" pitchFamily="34" charset="0"/>
              </a:rPr>
              <a:t> </a:t>
            </a:r>
            <a:r>
              <a:rPr lang="en-US" sz="2000" b="0" dirty="0">
                <a:solidFill>
                  <a:srgbClr val="0000FF"/>
                </a:solidFill>
                <a:latin typeface="Lucida Sans Unicode" panose="020B0602030504020204" pitchFamily="34" charset="0"/>
                <a:cs typeface="Lucida Sans Unicode" panose="020B0602030504020204" pitchFamily="34" charset="0"/>
              </a:rPr>
              <a:t>CUBE</a:t>
            </a:r>
            <a:r>
              <a:rPr lang="en-US" sz="2000" b="0" dirty="0">
                <a:solidFill>
                  <a:srgbClr val="808080"/>
                </a:solidFill>
                <a:latin typeface="Lucida Sans Unicode" panose="020B0602030504020204" pitchFamily="34" charset="0"/>
                <a:cs typeface="Lucida Sans Unicode" panose="020B0602030504020204" pitchFamily="34" charset="0"/>
              </a:rPr>
              <a:t>(</a:t>
            </a:r>
            <a:r>
              <a:rPr lang="en-US" sz="2000" b="0" dirty="0">
                <a:solidFill>
                  <a:prstClr val="black"/>
                </a:solidFill>
                <a:latin typeface="Lucida Sans Unicode" panose="020B0602030504020204" pitchFamily="34" charset="0"/>
                <a:cs typeface="Lucida Sans Unicode" panose="020B0602030504020204" pitchFamily="34" charset="0"/>
              </a:rPr>
              <a:t>Category</a:t>
            </a:r>
            <a:r>
              <a:rPr lang="en-US" sz="2000" b="0" dirty="0">
                <a:solidFill>
                  <a:srgbClr val="808080"/>
                </a:solidFill>
                <a:latin typeface="Lucida Sans Unicode" panose="020B0602030504020204" pitchFamily="34" charset="0"/>
                <a:cs typeface="Lucida Sans Unicode" panose="020B0602030504020204" pitchFamily="34" charset="0"/>
              </a:rPr>
              <a:t>,</a:t>
            </a:r>
            <a:r>
              <a:rPr lang="en-US" sz="2000" b="0" dirty="0">
                <a:solidFill>
                  <a:prstClr val="black"/>
                </a:solidFill>
                <a:latin typeface="Lucida Sans Unicode" panose="020B0602030504020204" pitchFamily="34" charset="0"/>
                <a:cs typeface="Lucida Sans Unicode" panose="020B0602030504020204" pitchFamily="34" charset="0"/>
              </a:rPr>
              <a:t>Cust</a:t>
            </a:r>
            <a:r>
              <a:rPr lang="en-US" sz="2000" b="0" dirty="0">
                <a:solidFill>
                  <a:srgbClr val="808080"/>
                </a:solidFill>
                <a:latin typeface="Lucida Sans Unicode" panose="020B0602030504020204" pitchFamily="34" charset="0"/>
                <a:cs typeface="Lucida Sans Unicode" panose="020B0602030504020204" pitchFamily="34" charset="0"/>
              </a:rPr>
              <a:t>)</a:t>
            </a:r>
          </a:p>
          <a:p>
            <a:r>
              <a:rPr lang="en-US" sz="2000" b="0" dirty="0">
                <a:solidFill>
                  <a:srgbClr val="0000FF"/>
                </a:solidFill>
                <a:latin typeface="Lucida Sans Unicode" panose="020B0602030504020204" pitchFamily="34" charset="0"/>
                <a:cs typeface="Lucida Sans Unicode" panose="020B0602030504020204" pitchFamily="34" charset="0"/>
              </a:rPr>
              <a:t>ORDER</a:t>
            </a:r>
            <a:r>
              <a:rPr lang="en-US" sz="2000" b="0" dirty="0">
                <a:solidFill>
                  <a:prstClr val="black"/>
                </a:solidFill>
                <a:latin typeface="Lucida Sans Unicode" panose="020B0602030504020204" pitchFamily="34" charset="0"/>
                <a:cs typeface="Lucida Sans Unicode" panose="020B0602030504020204" pitchFamily="34" charset="0"/>
              </a:rPr>
              <a:t> </a:t>
            </a:r>
            <a:r>
              <a:rPr lang="en-US" sz="2000" b="0" dirty="0">
                <a:solidFill>
                  <a:srgbClr val="0000FF"/>
                </a:solidFill>
                <a:latin typeface="Lucida Sans Unicode" panose="020B0602030504020204" pitchFamily="34" charset="0"/>
                <a:cs typeface="Lucida Sans Unicode" panose="020B0602030504020204" pitchFamily="34" charset="0"/>
              </a:rPr>
              <a:t>BY</a:t>
            </a:r>
            <a:r>
              <a:rPr lang="en-US" sz="2000" b="0" dirty="0">
                <a:solidFill>
                  <a:prstClr val="black"/>
                </a:solidFill>
                <a:latin typeface="Lucida Sans Unicode" panose="020B0602030504020204" pitchFamily="34" charset="0"/>
                <a:cs typeface="Lucida Sans Unicode" panose="020B0602030504020204" pitchFamily="34" charset="0"/>
              </a:rPr>
              <a:t> Category</a:t>
            </a:r>
            <a:r>
              <a:rPr lang="en-US" sz="2000" b="0" dirty="0">
                <a:solidFill>
                  <a:srgbClr val="808080"/>
                </a:solidFill>
                <a:latin typeface="Lucida Sans Unicode" panose="020B0602030504020204" pitchFamily="34" charset="0"/>
                <a:cs typeface="Lucida Sans Unicode" panose="020B0602030504020204" pitchFamily="34" charset="0"/>
              </a:rPr>
              <a:t>,</a:t>
            </a:r>
            <a:r>
              <a:rPr lang="en-US" sz="2000" b="0" dirty="0">
                <a:solidFill>
                  <a:prstClr val="black"/>
                </a:solidFill>
                <a:latin typeface="Lucida Sans Unicode" panose="020B0602030504020204" pitchFamily="34" charset="0"/>
                <a:cs typeface="Lucida Sans Unicode" panose="020B0602030504020204" pitchFamily="34" charset="0"/>
              </a:rPr>
              <a:t> Cust</a:t>
            </a:r>
            <a:r>
              <a:rPr lang="en-US" sz="2000" b="0" dirty="0">
                <a:solidFill>
                  <a:srgbClr val="808080"/>
                </a:solidFill>
                <a:latin typeface="Lucida Sans Unicode" panose="020B0602030504020204" pitchFamily="34" charset="0"/>
                <a:cs typeface="Lucida Sans Unicode" panose="020B0602030504020204" pitchFamily="34" charset="0"/>
              </a:rPr>
              <a:t>;</a:t>
            </a:r>
          </a:p>
        </p:txBody>
      </p:sp>
    </p:spTree>
    <p:custDataLst>
      <p:tags r:id="rId1"/>
    </p:custDataLst>
    <p:extLst>
      <p:ext uri="{BB962C8B-B14F-4D97-AF65-F5344CB8AC3E}">
        <p14:creationId xmlns:p14="http://schemas.microsoft.com/office/powerpoint/2010/main" val="150369368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a6a8e17e-32e4-4e42-b57b-33a263e802fc">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Demonstration: Using Grouping Sets</a:t>
            </a:r>
            <a:endParaRPr lang="en-GB" dirty="0"/>
          </a:p>
        </p:txBody>
      </p:sp>
      <p:sp>
        <p:nvSpPr>
          <p:cNvPr id="4" name="Content Placeholder 2"/>
          <p:cNvSpPr txBox="1">
            <a:spLocks/>
          </p:cNvSpPr>
          <p:nvPr/>
        </p:nvSpPr>
        <p:spPr>
          <a:xfrm>
            <a:off x="458788" y="1021215"/>
            <a:ext cx="8119156" cy="5147356"/>
          </a:xfrm>
          <a:prstGeom prst="rect">
            <a:avLst/>
          </a:prstGeom>
        </p:spPr>
        <p:txBody>
          <a:bodyPr/>
          <a:lstStyle>
            <a:lvl1pPr marL="174625" indent="-174625" algn="l" rtl="0" eaLnBrk="1" fontAlgn="base" hangingPunct="1">
              <a:lnSpc>
                <a:spcPct val="100000"/>
              </a:lnSpc>
              <a:spcBef>
                <a:spcPts val="600"/>
              </a:spcBef>
              <a:spcAft>
                <a:spcPct val="0"/>
              </a:spcAft>
              <a:buClr>
                <a:srgbClr val="0070C0"/>
              </a:buClr>
              <a:buSzPct val="90000"/>
              <a:buFont typeface="Arial" pitchFamily="34" charset="0"/>
              <a:buChar char="•"/>
              <a:defRPr sz="2800">
                <a:solidFill>
                  <a:schemeClr val="tx1"/>
                </a:solidFill>
                <a:latin typeface="Segoe UI" pitchFamily="34" charset="0"/>
                <a:ea typeface="Segoe UI" pitchFamily="34" charset="0"/>
                <a:cs typeface="Segoe UI" pitchFamily="34" charset="0"/>
              </a:defRPr>
            </a:lvl1pPr>
            <a:lvl2pPr marL="458788" indent="-169863" algn="l" rtl="0" eaLnBrk="1" fontAlgn="base" hangingPunct="1">
              <a:lnSpc>
                <a:spcPct val="100000"/>
              </a:lnSpc>
              <a:spcBef>
                <a:spcPts val="600"/>
              </a:spcBef>
              <a:spcAft>
                <a:spcPct val="0"/>
              </a:spcAft>
              <a:buClr>
                <a:srgbClr val="0070C0"/>
              </a:buClr>
              <a:buSzPct val="80000"/>
              <a:buFont typeface="Arial" pitchFamily="34" charset="0"/>
              <a:buChar char="•"/>
              <a:defRPr sz="2400">
                <a:solidFill>
                  <a:schemeClr val="tx1"/>
                </a:solidFill>
                <a:latin typeface="Segoe UI" pitchFamily="34" charset="0"/>
                <a:ea typeface="Segoe UI" pitchFamily="34" charset="0"/>
                <a:cs typeface="Segoe UI" pitchFamily="34" charset="0"/>
              </a:defRPr>
            </a:lvl2pPr>
            <a:lvl3pPr marL="854075" indent="-173038" algn="l" rtl="0" eaLnBrk="1" fontAlgn="base" hangingPunct="1">
              <a:lnSpc>
                <a:spcPct val="100000"/>
              </a:lnSpc>
              <a:spcBef>
                <a:spcPts val="600"/>
              </a:spcBef>
              <a:spcAft>
                <a:spcPct val="0"/>
              </a:spcAft>
              <a:buClr>
                <a:srgbClr val="0070C0"/>
              </a:buClr>
              <a:buSzPct val="80000"/>
              <a:buFont typeface="Arial" pitchFamily="34" charset="0"/>
              <a:buChar char="•"/>
              <a:defRPr sz="2000">
                <a:solidFill>
                  <a:schemeClr val="tx1"/>
                </a:solidFill>
                <a:latin typeface="Segoe UI" pitchFamily="34" charset="0"/>
                <a:ea typeface="Segoe UI" pitchFamily="34" charset="0"/>
                <a:cs typeface="Segoe UI" pitchFamily="34" charset="0"/>
              </a:defRPr>
            </a:lvl3pPr>
            <a:lvl4pPr marL="1254125" indent="-165100"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4pPr>
            <a:lvl5pPr marL="1544638" indent="-168275"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5pPr>
            <a:lvl6pPr marL="20018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6pPr>
            <a:lvl7pPr marL="24590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7pPr>
            <a:lvl8pPr marL="29162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8pPr>
            <a:lvl9pPr marL="33734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9pPr>
          </a:lstStyle>
          <a:p>
            <a:pPr marL="0" lvl="0" indent="0">
              <a:buNone/>
            </a:pPr>
            <a:r>
              <a:rPr lang="en-US" b="0" kern="0" dirty="0">
                <a:solidFill>
                  <a:srgbClr val="000000"/>
                </a:solidFill>
              </a:rPr>
              <a:t>In this demonstration, you will see how to:</a:t>
            </a:r>
          </a:p>
          <a:p>
            <a:pPr lvl="0"/>
            <a:r>
              <a:rPr lang="en-US" b="0" kern="0" dirty="0">
                <a:solidFill>
                  <a:srgbClr val="000000"/>
                </a:solidFill>
              </a:rPr>
              <a:t>Use the CUBE and ROLLUP subclauses</a:t>
            </a:r>
          </a:p>
          <a:p>
            <a:pPr lvl="0"/>
            <a:endParaRPr lang="en-US" b="0" kern="0" dirty="0">
              <a:solidFill>
                <a:srgbClr val="000000"/>
              </a:solidFill>
            </a:endParaRPr>
          </a:p>
        </p:txBody>
      </p:sp>
    </p:spTree>
    <p:custDataLst>
      <p:tags r:id="rId1"/>
    </p:custDataLst>
    <p:extLst>
      <p:ext uri="{BB962C8B-B14F-4D97-AF65-F5344CB8AC3E}">
        <p14:creationId xmlns:p14="http://schemas.microsoft.com/office/powerpoint/2010/main" val="251726910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GB" dirty="0"/>
          </a:p>
        </p:txBody>
      </p:sp>
      <p:sp>
        <p:nvSpPr>
          <p:cNvPr id="3" name="Text Placeholder 2"/>
          <p:cNvSpPr>
            <a:spLocks noGrp="1"/>
          </p:cNvSpPr>
          <p:nvPr>
            <p:ph type="body" idx="1"/>
          </p:nvPr>
        </p:nvSpPr>
        <p:spPr/>
        <p:txBody>
          <a:bodyPr/>
          <a:lstStyle/>
          <a:p>
            <a:endParaRPr lang="en-GB" dirty="0"/>
          </a:p>
        </p:txBody>
      </p:sp>
    </p:spTree>
    <p:custDataLst>
      <p:tags r:id="rId1"/>
    </p:custDataLst>
    <p:extLst>
      <p:ext uri="{BB962C8B-B14F-4D97-AF65-F5344CB8AC3E}">
        <p14:creationId xmlns:p14="http://schemas.microsoft.com/office/powerpoint/2010/main" val="1497199531"/>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name="a78524f4-f525-4971-9089-e4c6054d3a97">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Lab: Pivoting and Grouping Sets</a:t>
            </a:r>
            <a:endParaRPr lang="en-GB" dirty="0"/>
          </a:p>
        </p:txBody>
      </p:sp>
      <p:sp>
        <p:nvSpPr>
          <p:cNvPr id="3" name="Text Placeholder 2"/>
          <p:cNvSpPr>
            <a:spLocks noGrp="1"/>
          </p:cNvSpPr>
          <p:nvPr>
            <p:ph type="body" idx="1"/>
          </p:nvPr>
        </p:nvSpPr>
        <p:spPr/>
        <p:txBody>
          <a:bodyPr/>
          <a:lstStyle/>
          <a:p>
            <a:r>
              <a:rPr lang="en-GB" dirty="0" smtClean="0"/>
              <a:t>Exercise 1: Writing Queries That Use the PIVOT Operator
Exercise 2: Writing Queries That Use the UNPIVOT Operator
Exercise 3: Writing Queries That Use the GROUPING SETS, CUBE, and ROLLUP Subclauses</a:t>
            </a:r>
            <a:endParaRPr lang="en-GB" dirty="0"/>
          </a:p>
        </p:txBody>
      </p:sp>
      <p:sp>
        <p:nvSpPr>
          <p:cNvPr id="4" name="TextBox 3"/>
          <p:cNvSpPr txBox="1"/>
          <p:nvPr/>
        </p:nvSpPr>
        <p:spPr>
          <a:xfrm>
            <a:off x="458788" y="3795943"/>
            <a:ext cx="3383683" cy="523220"/>
          </a:xfrm>
          <a:prstGeom prst="rect">
            <a:avLst/>
          </a:prstGeom>
          <a:noFill/>
        </p:spPr>
        <p:txBody>
          <a:bodyPr vert="horz" wrap="none" rtlCol="0">
            <a:spAutoFit/>
          </a:bodyPr>
          <a:lstStyle/>
          <a:p>
            <a:r>
              <a:rPr lang="en-GB" sz="2800" dirty="0" smtClean="0">
                <a:latin typeface="Segoe UI" panose="020B0502040204020203" pitchFamily="34" charset="0"/>
              </a:rPr>
              <a:t>Logon Information</a:t>
            </a:r>
            <a:endParaRPr lang="en-GB" sz="2800" dirty="0">
              <a:latin typeface="Segoe UI" panose="020B0502040204020203" pitchFamily="34" charset="0"/>
            </a:endParaRPr>
          </a:p>
        </p:txBody>
      </p:sp>
      <p:sp>
        <p:nvSpPr>
          <p:cNvPr id="5" name="TextBox 4"/>
          <p:cNvSpPr txBox="1"/>
          <p:nvPr/>
        </p:nvSpPr>
        <p:spPr>
          <a:xfrm>
            <a:off x="458788" y="4176943"/>
            <a:ext cx="6970050" cy="1384995"/>
          </a:xfrm>
          <a:prstGeom prst="rect">
            <a:avLst/>
          </a:prstGeom>
          <a:noFill/>
        </p:spPr>
        <p:txBody>
          <a:bodyPr vert="horz" wrap="none" rtlCol="0">
            <a:spAutoFit/>
          </a:bodyPr>
          <a:lstStyle/>
          <a:p>
            <a:r>
              <a:rPr lang="en-GB" sz="2800" b="0" dirty="0">
                <a:latin typeface="Segoe UI" panose="020B0502040204020203" pitchFamily="34" charset="0"/>
              </a:rPr>
              <a:t>Virtual machine: </a:t>
            </a:r>
            <a:r>
              <a:rPr lang="en-GB" sz="2800" dirty="0">
                <a:latin typeface="Segoe UI" panose="020B0502040204020203" pitchFamily="34" charset="0"/>
              </a:rPr>
              <a:t>20761C-MIA-SQL</a:t>
            </a:r>
            <a:endParaRPr lang="en-GB" sz="2800" b="0" dirty="0">
              <a:latin typeface="Segoe UI" panose="020B0502040204020203" pitchFamily="34" charset="0"/>
            </a:endParaRPr>
          </a:p>
          <a:p>
            <a:r>
              <a:rPr lang="en-GB" sz="2800" b="0" dirty="0">
                <a:latin typeface="Segoe UI" panose="020B0502040204020203" pitchFamily="34" charset="0"/>
              </a:rPr>
              <a:t>User name: </a:t>
            </a:r>
            <a:r>
              <a:rPr lang="en-GB" sz="2800" dirty="0">
                <a:latin typeface="Segoe UI" panose="020B0502040204020203" pitchFamily="34" charset="0"/>
              </a:rPr>
              <a:t>ADVENTUREWORKS\Student</a:t>
            </a:r>
          </a:p>
          <a:p>
            <a:r>
              <a:rPr lang="en-GB" sz="2800" b="0" dirty="0">
                <a:latin typeface="Segoe UI" panose="020B0502040204020203" pitchFamily="34" charset="0"/>
              </a:rPr>
              <a:t>Password: </a:t>
            </a:r>
            <a:r>
              <a:rPr lang="en-GB" sz="2800" dirty="0">
                <a:latin typeface="Segoe UI" panose="020B0502040204020203" pitchFamily="34" charset="0"/>
              </a:rPr>
              <a:t>Pa55w.rd</a:t>
            </a:r>
          </a:p>
        </p:txBody>
      </p:sp>
      <p:sp>
        <p:nvSpPr>
          <p:cNvPr id="6" name="TextBox 5"/>
          <p:cNvSpPr txBox="1"/>
          <p:nvPr/>
        </p:nvSpPr>
        <p:spPr>
          <a:xfrm>
            <a:off x="458788" y="6163356"/>
            <a:ext cx="4856201" cy="523220"/>
          </a:xfrm>
          <a:prstGeom prst="rect">
            <a:avLst/>
          </a:prstGeom>
          <a:noFill/>
        </p:spPr>
        <p:txBody>
          <a:bodyPr vert="horz" wrap="none" rtlCol="0">
            <a:spAutoFit/>
          </a:bodyPr>
          <a:lstStyle/>
          <a:p>
            <a:r>
              <a:rPr lang="en-GB" sz="2800" dirty="0" smtClean="0">
                <a:latin typeface="Segoe UI" panose="020B0502040204020203" pitchFamily="34" charset="0"/>
              </a:rPr>
              <a:t>Estimated Time: 60 minutes</a:t>
            </a:r>
            <a:endParaRPr lang="en-GB" sz="2800" dirty="0">
              <a:latin typeface="Segoe UI" panose="020B0502040204020203" pitchFamily="34" charset="0"/>
            </a:endParaRPr>
          </a:p>
        </p:txBody>
      </p:sp>
    </p:spTree>
    <p:custDataLst>
      <p:tags r:id="rId1"/>
    </p:custDataLst>
    <p:extLst>
      <p:ext uri="{BB962C8B-B14F-4D97-AF65-F5344CB8AC3E}">
        <p14:creationId xmlns:p14="http://schemas.microsoft.com/office/powerpoint/2010/main" val="401711169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Lab Scenario860707277">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Lab Scenario</a:t>
            </a:r>
            <a:endParaRPr lang="en-GB" dirty="0"/>
          </a:p>
        </p:txBody>
      </p:sp>
      <p:sp>
        <p:nvSpPr>
          <p:cNvPr id="4" name="TextBox 3"/>
          <p:cNvSpPr txBox="1"/>
          <p:nvPr/>
        </p:nvSpPr>
        <p:spPr>
          <a:xfrm>
            <a:off x="458788" y="1021214"/>
            <a:ext cx="8119156" cy="4832092"/>
          </a:xfrm>
          <a:prstGeom prst="rect">
            <a:avLst/>
          </a:prstGeom>
          <a:noFill/>
        </p:spPr>
        <p:txBody>
          <a:bodyPr vert="horz" wrap="square" rtlCol="0">
            <a:spAutoFit/>
          </a:bodyPr>
          <a:lstStyle/>
          <a:p>
            <a:pPr>
              <a:spcBef>
                <a:spcPts val="600"/>
              </a:spcBef>
              <a:spcAft>
                <a:spcPts val="800"/>
              </a:spcAft>
            </a:pPr>
            <a:r>
              <a:rPr lang="en-GB" sz="2800" b="0" dirty="0">
                <a:latin typeface="Segoe UI" panose="020B0502040204020203" pitchFamily="34" charset="0"/>
                <a:ea typeface="Calibri" panose="020F0502020204030204" pitchFamily="34" charset="0"/>
                <a:cs typeface="Times New Roman" panose="02020603050405020304" pitchFamily="18" charset="0"/>
              </a:rPr>
              <a:t>As a business analyst for Adventure Works, you will be writing reports using corporate databases stored in SQL Server. You have been given a set of business requirements for data and you will write T-SQL queries to retrieve the specified data from the databases. The business requests are analytical in nature. To fulfill those requests, you will need to provide crosstab reports and multiple aggregates based on different granularities. Therefore, you will need to use pivoting techniques and grouping sets in your T-SQL code.</a:t>
            </a:r>
            <a:endParaRPr lang="en-GB" sz="2800" b="0" dirty="0">
              <a:effectLst/>
              <a:latin typeface="Segoe UI" panose="020B0502040204020203" pitchFamily="34" charset="0"/>
              <a:ea typeface="Calibri" panose="020F0502020204030204" pitchFamily="34" charset="0"/>
              <a:cs typeface="Times New Roman" panose="02020603050405020304" pitchFamily="18" charset="0"/>
            </a:endParaRPr>
          </a:p>
        </p:txBody>
      </p:sp>
    </p:spTree>
    <p:custDataLst>
      <p:tags r:id="rId1"/>
    </p:custDataLst>
    <p:extLst>
      <p:ext uri="{BB962C8B-B14F-4D97-AF65-F5344CB8AC3E}">
        <p14:creationId xmlns:p14="http://schemas.microsoft.com/office/powerpoint/2010/main" val="28124221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Module_Review">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Module Review and Takeaways</a:t>
            </a:r>
            <a:endParaRPr lang="en-GB" dirty="0"/>
          </a:p>
        </p:txBody>
      </p:sp>
      <p:sp>
        <p:nvSpPr>
          <p:cNvPr id="3" name="Text Placeholder 2"/>
          <p:cNvSpPr>
            <a:spLocks noGrp="1"/>
          </p:cNvSpPr>
          <p:nvPr>
            <p:ph type="body" idx="1"/>
          </p:nvPr>
        </p:nvSpPr>
        <p:spPr/>
        <p:txBody>
          <a:bodyPr/>
          <a:lstStyle/>
          <a:p>
            <a:r>
              <a:rPr lang="en-GB" dirty="0" smtClean="0"/>
              <a:t>Review Question(s)</a:t>
            </a:r>
            <a:endParaRPr lang="en-GB" dirty="0"/>
          </a:p>
        </p:txBody>
      </p:sp>
    </p:spTree>
    <p:custDataLst>
      <p:tags r:id="rId1"/>
    </p:custDataLst>
    <p:extLst>
      <p:ext uri="{BB962C8B-B14F-4D97-AF65-F5344CB8AC3E}">
        <p14:creationId xmlns:p14="http://schemas.microsoft.com/office/powerpoint/2010/main" val="494167892"/>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PROJECT_OPEN" val="0"/>
  <p:tag name="ARTICULATE_SLIDE_COUNT" val="19"/>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NG_MOC_Core_ModuleNew2">
  <a:themeElements>
    <a:clrScheme name="">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000066"/>
      </a:folHlink>
    </a:clrScheme>
    <a:fontScheme name="2_Master_Template">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spDef>
    <a:ln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lnDef>
  </a:objectDefaults>
  <a:extraClrSchemeLst>
    <a:extraClrScheme>
      <a:clrScheme name="2_Master_Templat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2_Master_Templat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2_Master_Templat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2_Master_Templat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2_Master_Templat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2_Master_Templat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2_Master_Templat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
      <a:clrScheme name="2_Master_Template 8">
        <a:dk1>
          <a:srgbClr val="000000"/>
        </a:dk1>
        <a:lt1>
          <a:srgbClr val="FFFFFF"/>
        </a:lt1>
        <a:dk2>
          <a:srgbClr val="000000"/>
        </a:dk2>
        <a:lt2>
          <a:srgbClr val="C0C0C0"/>
        </a:lt2>
        <a:accent1>
          <a:srgbClr val="C1FEF9"/>
        </a:accent1>
        <a:accent2>
          <a:srgbClr val="DC0081"/>
        </a:accent2>
        <a:accent3>
          <a:srgbClr val="FFFFFF"/>
        </a:accent3>
        <a:accent4>
          <a:srgbClr val="000000"/>
        </a:accent4>
        <a:accent5>
          <a:srgbClr val="DDFEFB"/>
        </a:accent5>
        <a:accent6>
          <a:srgbClr val="C70074"/>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9">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10">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3333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1">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00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2">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99CC"/>
        </a:hlink>
        <a:folHlink>
          <a:srgbClr val="CECECE"/>
        </a:folHlink>
      </a:clrScheme>
      <a:clrMap bg1="lt1" tx1="dk1" bg2="lt2" tx2="dk2" accent1="accent1" accent2="accent2" accent3="accent3" accent4="accent4" accent5="accent5" accent6="accent6" hlink="hlink" folHlink="folHlink"/>
    </a:extraClrScheme>
    <a:extraClrScheme>
      <a:clrScheme name="2_Master_Template 13">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4">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436F9F"/>
        </a:hlink>
        <a:folHlink>
          <a:srgbClr val="CECECE"/>
        </a:folHlink>
      </a:clrScheme>
      <a:clrMap bg1="lt1" tx1="dk1" bg2="lt2" tx2="dk2" accent1="accent1" accent2="accent2" accent3="accent3" accent4="accent4" accent5="accent5" accent6="accent6" hlink="hlink" folHlink="folHlink"/>
    </a:extraClrScheme>
    <a:extraClrScheme>
      <a:clrScheme name="2_Master_Template 15">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E4BB0E"/>
        </a:hlink>
        <a:folHlink>
          <a:srgbClr val="CECECE"/>
        </a:folHlink>
      </a:clrScheme>
      <a:clrMap bg1="lt1" tx1="dk1" bg2="lt2" tx2="dk2" accent1="accent1" accent2="accent2" accent3="accent3" accent4="accent4" accent5="accent5" accent6="accent6" hlink="hlink" folHlink="folHlink"/>
    </a:extraClrScheme>
    <a:extraClrScheme>
      <a:clrScheme name="2_Master_Template 16">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FFFFFF"/>
        </a:hlink>
        <a:folHlink>
          <a:srgbClr val="CECECE"/>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NG_MOC_Core_ModuleNew</Template>
  <TotalTime>10</TotalTime>
  <Words>2434</Words>
  <Application>Microsoft Office PowerPoint</Application>
  <PresentationFormat>On-screen Show (4:3)</PresentationFormat>
  <Paragraphs>287</Paragraphs>
  <Slides>19</Slides>
  <Notes>19</Notes>
  <HiddenSlides>2</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19</vt:i4>
      </vt:variant>
    </vt:vector>
  </HeadingPairs>
  <TitlesOfParts>
    <vt:vector size="29" baseType="lpstr">
      <vt:lpstr>Segoe UI</vt:lpstr>
      <vt:lpstr>Arial</vt:lpstr>
      <vt:lpstr>Lucida Sans Typewriter</vt:lpstr>
      <vt:lpstr>Lucida Sans Unicode</vt:lpstr>
      <vt:lpstr>Calibri</vt:lpstr>
      <vt:lpstr>Wingdings</vt:lpstr>
      <vt:lpstr>Verdana</vt:lpstr>
      <vt:lpstr>Segoe UI Light</vt:lpstr>
      <vt:lpstr>Times New Roman</vt:lpstr>
      <vt:lpstr>NG_MOC_Core_ModuleNew2</vt:lpstr>
      <vt:lpstr>Module 14</vt:lpstr>
      <vt:lpstr>Module Overview</vt:lpstr>
      <vt:lpstr>Lesson 1: Writing Queries with PIVOT and UNPIVOT</vt:lpstr>
      <vt:lpstr>What Is Pivoting?</vt:lpstr>
      <vt:lpstr>Elements of PIVOT</vt:lpstr>
      <vt:lpstr>Elements of PIVOT</vt:lpstr>
      <vt:lpstr>Writing Queries with UNPIVOT</vt:lpstr>
      <vt:lpstr>Demonstration: Writing Queries with PIVOT and UNPIVOT</vt:lpstr>
      <vt:lpstr>PowerPoint Presentation</vt:lpstr>
      <vt:lpstr>Lesson 2: Working with Grouping Sets</vt:lpstr>
      <vt:lpstr>Writing Queries with Grouping Sets</vt:lpstr>
      <vt:lpstr>Writing Queries with Grouping Sets</vt:lpstr>
      <vt:lpstr>CUBE and ROLLUP</vt:lpstr>
      <vt:lpstr>GROUPING_ID</vt:lpstr>
      <vt:lpstr>Demonstration: Using Grouping Sets</vt:lpstr>
      <vt:lpstr>PowerPoint Presentation</vt:lpstr>
      <vt:lpstr>Lab: Pivoting and Grouping Sets</vt:lpstr>
      <vt:lpstr>Lab Scenario</vt:lpstr>
      <vt:lpstr>Module Review and Takeaways</vt:lpstr>
    </vt:vector>
  </TitlesOfParts>
  <Company>Microsoft Corporation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Module 14</dc:title>
  <dc:creator/>
  <cp:lastModifiedBy/>
  <cp:revision>3</cp:revision>
  <dcterms:created xsi:type="dcterms:W3CDTF">2017-11-17T11:21:16Z</dcterms:created>
  <dcterms:modified xsi:type="dcterms:W3CDTF">2017-11-17T14:40:37Z</dcterms:modified>
  <dc:description/>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rticulateGUID">
    <vt:lpwstr>B28A9521-A029-41A5-9708-585F061DF5AB</vt:lpwstr>
  </property>
  <property fmtid="{D5CDD505-2E9C-101B-9397-08002B2CF9AE}" pid="3" name="ArticulatePath">
    <vt:lpwstr>20761C_14</vt:lpwstr>
  </property>
</Properties>
</file>