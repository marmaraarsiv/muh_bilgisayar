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89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90" r:id="rId32"/>
    <p:sldId id="285" r:id="rId33"/>
    <p:sldId id="291" r:id="rId34"/>
    <p:sldId id="286" r:id="rId35"/>
    <p:sldId id="287" r:id="rId36"/>
    <p:sldId id="288" r:id="rId37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39"/>
      <p:bold r:id="rId40"/>
      <p:italic r:id="rId41"/>
      <p:boldItalic r:id="rId42"/>
    </p:embeddedFont>
    <p:embeddedFont>
      <p:font typeface="SimSun" panose="02010600030101010101" pitchFamily="2" charset="-122"/>
      <p:regular r:id="rId43"/>
    </p:embeddedFont>
    <p:embeddedFont>
      <p:font typeface="Verdana" panose="020B0604030504040204" pitchFamily="34" charset="0"/>
      <p:regular r:id="rId44"/>
      <p:bold r:id="rId45"/>
      <p:italic r:id="rId46"/>
      <p:boldItalic r:id="rId47"/>
    </p:embeddedFont>
    <p:embeddedFont>
      <p:font typeface="Segoe" panose="020B0502040504020203" pitchFamily="34" charset="0"/>
      <p:regular r:id="rId48"/>
      <p:bold r:id="rId49"/>
      <p:italic r:id="rId50"/>
      <p:boldItalic r:id="rId51"/>
    </p:embeddedFont>
    <p:embeddedFont>
      <p:font typeface="Segoe UI" panose="020B0502040204020203" pitchFamily="34" charset="0"/>
      <p:regular r:id="rId52"/>
      <p:bold r:id="rId53"/>
      <p:italic r:id="rId54"/>
      <p:boldItalic r:id="rId55"/>
    </p:embeddedFont>
  </p:embeddedFontLst>
  <p:custDataLst>
    <p:tags r:id="rId56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Verdana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Verdana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Verdana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Verdana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Verdana" pitchFamily="34" charset="0"/>
        <a:ea typeface="+mn-ea"/>
        <a:cs typeface="Arial" charset="0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Verdana" pitchFamily="34" charset="0"/>
        <a:ea typeface="+mn-ea"/>
        <a:cs typeface="Arial" charset="0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Verdana" pitchFamily="34" charset="0"/>
        <a:ea typeface="+mn-ea"/>
        <a:cs typeface="Arial" charset="0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Verdana" pitchFamily="34" charset="0"/>
        <a:ea typeface="+mn-ea"/>
        <a:cs typeface="Arial" charset="0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Verdana" pitchFamily="34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90" d="100"/>
          <a:sy n="90" d="100"/>
        </p:scale>
        <p:origin x="1162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4" d="100"/>
          <a:sy n="74" d="100"/>
        </p:scale>
        <p:origin x="2899" y="67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font" Target="fonts/font1.fntdata"/><Relationship Id="rId40" Type="http://schemas.openxmlformats.org/officeDocument/2006/relationships/font" Target="fonts/font2.fntdata"/><Relationship Id="rId41" Type="http://schemas.openxmlformats.org/officeDocument/2006/relationships/font" Target="fonts/font3.fntdata"/><Relationship Id="rId42" Type="http://schemas.openxmlformats.org/officeDocument/2006/relationships/font" Target="fonts/font4.fntdata"/><Relationship Id="rId43" Type="http://schemas.openxmlformats.org/officeDocument/2006/relationships/font" Target="fonts/font5.fntdata"/><Relationship Id="rId44" Type="http://schemas.openxmlformats.org/officeDocument/2006/relationships/font" Target="fonts/font6.fntdata"/><Relationship Id="rId45" Type="http://schemas.openxmlformats.org/officeDocument/2006/relationships/font" Target="fonts/font7.fntdata"/><Relationship Id="rId46" Type="http://schemas.openxmlformats.org/officeDocument/2006/relationships/font" Target="fonts/font8.fntdata"/><Relationship Id="rId47" Type="http://schemas.openxmlformats.org/officeDocument/2006/relationships/font" Target="fonts/font9.fntdata"/><Relationship Id="rId48" Type="http://schemas.openxmlformats.org/officeDocument/2006/relationships/font" Target="fonts/font10.fntdata"/><Relationship Id="rId49" Type="http://schemas.openxmlformats.org/officeDocument/2006/relationships/font" Target="fonts/font11.fntdata"/><Relationship Id="rId50" Type="http://schemas.openxmlformats.org/officeDocument/2006/relationships/font" Target="fonts/font12.fntdata"/><Relationship Id="rId51" Type="http://schemas.openxmlformats.org/officeDocument/2006/relationships/font" Target="fonts/font13.fntdata"/><Relationship Id="rId52" Type="http://schemas.openxmlformats.org/officeDocument/2006/relationships/font" Target="fonts/font14.fntdata"/><Relationship Id="rId53" Type="http://schemas.openxmlformats.org/officeDocument/2006/relationships/font" Target="fonts/font15.fntdata"/><Relationship Id="rId54" Type="http://schemas.openxmlformats.org/officeDocument/2006/relationships/font" Target="fonts/font16.fntdata"/><Relationship Id="rId55" Type="http://schemas.openxmlformats.org/officeDocument/2006/relationships/font" Target="fonts/font17.fntdata"/><Relationship Id="rId56" Type="http://schemas.openxmlformats.org/officeDocument/2006/relationships/tags" Target="tags/tag1.xml"/><Relationship Id="rId57" Type="http://schemas.openxmlformats.org/officeDocument/2006/relationships/presProps" Target="presProps.xml"/><Relationship Id="rId58" Type="http://schemas.openxmlformats.org/officeDocument/2006/relationships/viewProps" Target="viewProps.xml"/><Relationship Id="rId59" Type="http://schemas.openxmlformats.org/officeDocument/2006/relationships/theme" Target="theme/theme1.xml"/><Relationship Id="rId6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8C3F4E-44E8-49AD-A29F-34D4E01912C2}" type="datetimeFigureOut">
              <a:rPr lang="en-GB" smtClean="0"/>
              <a:t>24/11/2017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25112" y="73152"/>
            <a:ext cx="2468880" cy="185166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10896" y="2093976"/>
            <a:ext cx="6153912" cy="66040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6010C7-9B49-4EA1-AF90-559D5AEC0C9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63976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25938" y="73025"/>
            <a:ext cx="2466975" cy="18510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310896" y="2093975"/>
            <a:ext cx="6153912" cy="6604000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0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6010C7-9B49-4EA1-AF90-559D5AEC0C96}" type="slidenum">
              <a:rPr lang="en-GB" smtClean="0"/>
              <a:t>1</a:t>
            </a:fld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038475" cy="22225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rgbClr val="000000"/>
                </a:solidFill>
                <a:latin typeface="Arial" panose="020B0604020202020204" pitchFamily="34" charset="0"/>
              </a:rPr>
              <a:t>20762C</a:t>
            </a:r>
            <a:endParaRPr lang="en-GB" sz="12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38125"/>
            <a:ext cx="3038475" cy="3476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rgbClr val="336699"/>
                </a:solidFill>
                <a:latin typeface="Arial" panose="020B0604020202020204" pitchFamily="34" charset="0"/>
              </a:rPr>
              <a:t>9: Designing and Implementing Stored Procedures</a:t>
            </a:r>
            <a:endParaRPr lang="en-GB" sz="1200" dirty="0">
              <a:solidFill>
                <a:srgbClr val="336699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15862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25938" y="73025"/>
            <a:ext cx="2466975" cy="18510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310896" y="2093975"/>
            <a:ext cx="6153912" cy="6604000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0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6010C7-9B49-4EA1-AF90-559D5AEC0C96}" type="slidenum">
              <a:rPr lang="en-GB" smtClean="0"/>
              <a:t>2</a:t>
            </a:fld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038475" cy="22225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rgbClr val="000000"/>
                </a:solidFill>
                <a:latin typeface="Arial" panose="020B0604020202020204" pitchFamily="34" charset="0"/>
              </a:rPr>
              <a:t>20762C</a:t>
            </a:r>
            <a:endParaRPr lang="en-GB" sz="12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38125"/>
            <a:ext cx="3038475" cy="3476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rgbClr val="336699"/>
                </a:solidFill>
                <a:latin typeface="Arial" panose="020B0604020202020204" pitchFamily="34" charset="0"/>
              </a:rPr>
              <a:t>9: Designing and Implementing Stored Procedures</a:t>
            </a:r>
            <a:endParaRPr lang="en-GB" sz="1200" dirty="0">
              <a:solidFill>
                <a:srgbClr val="336699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13124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25938" y="73025"/>
            <a:ext cx="2466975" cy="18510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310896" y="2093975"/>
            <a:ext cx="6153912" cy="6604000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0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6010C7-9B49-4EA1-AF90-559D5AEC0C96}" type="slidenum">
              <a:rPr lang="en-GB" smtClean="0"/>
              <a:t>3</a:t>
            </a:fld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038475" cy="22225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rgbClr val="000000"/>
                </a:solidFill>
                <a:latin typeface="Arial" panose="020B0604020202020204" pitchFamily="34" charset="0"/>
              </a:rPr>
              <a:t>20762C</a:t>
            </a:r>
            <a:endParaRPr lang="en-GB" sz="12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38125"/>
            <a:ext cx="3038475" cy="3476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rgbClr val="336699"/>
                </a:solidFill>
                <a:latin typeface="Arial" panose="020B0604020202020204" pitchFamily="34" charset="0"/>
              </a:rPr>
              <a:t>9: Designing and Implementing Stored Procedures</a:t>
            </a:r>
            <a:endParaRPr lang="en-GB" sz="1200" dirty="0">
              <a:solidFill>
                <a:srgbClr val="336699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63016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25938" y="73025"/>
            <a:ext cx="2466975" cy="18510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310896" y="2093975"/>
            <a:ext cx="6153912" cy="6604000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0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6010C7-9B49-4EA1-AF90-559D5AEC0C96}" type="slidenum">
              <a:rPr lang="en-GB" smtClean="0"/>
              <a:t>4</a:t>
            </a:fld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038475" cy="22225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rgbClr val="000000"/>
                </a:solidFill>
                <a:latin typeface="Arial" panose="020B0604020202020204" pitchFamily="34" charset="0"/>
              </a:rPr>
              <a:t>20762C</a:t>
            </a:r>
            <a:endParaRPr lang="en-GB" sz="12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38125"/>
            <a:ext cx="3038475" cy="3476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rgbClr val="336699"/>
                </a:solidFill>
                <a:latin typeface="Arial" panose="020B0604020202020204" pitchFamily="34" charset="0"/>
              </a:rPr>
              <a:t>9: Designing and Implementing Stored Procedures</a:t>
            </a:r>
            <a:endParaRPr lang="en-GB" sz="1200" dirty="0">
              <a:solidFill>
                <a:srgbClr val="336699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59865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25938" y="73025"/>
            <a:ext cx="2466975" cy="18510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310896" y="2093975"/>
            <a:ext cx="6153912" cy="6604000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0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6010C7-9B49-4EA1-AF90-559D5AEC0C96}" type="slidenum">
              <a:rPr lang="en-GB" smtClean="0"/>
              <a:t>5</a:t>
            </a:fld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038475" cy="22225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rgbClr val="000000"/>
                </a:solidFill>
                <a:latin typeface="Arial" panose="020B0604020202020204" pitchFamily="34" charset="0"/>
              </a:rPr>
              <a:t>20762C</a:t>
            </a:r>
            <a:endParaRPr lang="en-GB" sz="12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38125"/>
            <a:ext cx="3038475" cy="3476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rgbClr val="336699"/>
                </a:solidFill>
                <a:latin typeface="Arial" panose="020B0604020202020204" pitchFamily="34" charset="0"/>
              </a:rPr>
              <a:t>9: Designing and Implementing Stored Procedures</a:t>
            </a:r>
            <a:endParaRPr lang="en-GB" sz="1200" dirty="0">
              <a:solidFill>
                <a:srgbClr val="336699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14422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25938" y="73025"/>
            <a:ext cx="2466975" cy="18510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310896" y="2093976"/>
            <a:ext cx="6153912" cy="6604000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0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Stress that user extended stored procedures are now deprecated. Replacements written in managed code via SQL Server CLR Integration should be used instead.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0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Emphasize that whilst system stored procedures originally had the prefix sp_ and system extended stored procedures had the prefix xp_, the naming has become muddled over the years. This is a good argument against prefixes in general as an incorrect prefix can be much worse than no prefix at all.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0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 not, in any circumstances, use sp_ and xp_ for user stored procedures.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6010C7-9B49-4EA1-AF90-559D5AEC0C96}" type="slidenum">
              <a:rPr lang="en-GB" smtClean="0"/>
              <a:t>6</a:t>
            </a:fld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038475" cy="22225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rgbClr val="000000"/>
                </a:solidFill>
                <a:latin typeface="Arial" panose="020B0604020202020204" pitchFamily="34" charset="0"/>
              </a:rPr>
              <a:t>20762C</a:t>
            </a:r>
            <a:endParaRPr lang="en-GB" sz="12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38125"/>
            <a:ext cx="3038475" cy="3476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rgbClr val="336699"/>
                </a:solidFill>
                <a:latin typeface="Arial" panose="020B0604020202020204" pitchFamily="34" charset="0"/>
              </a:rPr>
              <a:t>9: Designing and Implementing Stored Procedures</a:t>
            </a:r>
            <a:endParaRPr lang="en-GB" sz="1200" dirty="0">
              <a:solidFill>
                <a:srgbClr val="336699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19748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25938" y="73025"/>
            <a:ext cx="2466975" cy="18510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310896" y="2093975"/>
            <a:ext cx="6153912" cy="6604000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0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Stress that most Transact-SQL statements can be used within the bodies of stored procedures. Those that cannot be used normally relate to one of the following actions:</a:t>
            </a:r>
          </a:p>
          <a:p>
            <a:pPr marL="342900" lvl="0" indent="-342900">
              <a:lnSpc>
                <a:spcPct val="115000"/>
              </a:lnSpc>
              <a:spcAft>
                <a:spcPts val="995"/>
              </a:spcAft>
              <a:buFont typeface="Symbol" panose="05050102010706020507" pitchFamily="18" charset="2"/>
              <a:buChar char=""/>
            </a:pPr>
            <a:r>
              <a:rPr lang="en-US" sz="1000" dirty="0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Creation of other objects.</a:t>
            </a:r>
            <a:endParaRPr lang="en-GB" sz="1000" dirty="0" smtClean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995"/>
              </a:spcAft>
              <a:buFont typeface="Symbol" panose="05050102010706020507" pitchFamily="18" charset="2"/>
              <a:buChar char=""/>
            </a:pPr>
            <a:r>
              <a:rPr lang="en-US" sz="1000" dirty="0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Changing SET options that relate to query plans.</a:t>
            </a:r>
            <a:endParaRPr lang="en-GB" sz="1000" dirty="0" smtClean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995"/>
              </a:spcAft>
              <a:buFont typeface="Symbol" panose="05050102010706020507" pitchFamily="18" charset="2"/>
              <a:buChar char=""/>
            </a:pPr>
            <a:r>
              <a:rPr lang="en-US" sz="1000" dirty="0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Changing database context via the USE statement.</a:t>
            </a:r>
            <a:endParaRPr lang="en-GB" sz="10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6010C7-9B49-4EA1-AF90-559D5AEC0C96}" type="slidenum">
              <a:rPr lang="en-GB" smtClean="0"/>
              <a:t>7</a:t>
            </a:fld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038475" cy="22225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rgbClr val="000000"/>
                </a:solidFill>
                <a:latin typeface="Arial" panose="020B0604020202020204" pitchFamily="34" charset="0"/>
              </a:rPr>
              <a:t>20762C</a:t>
            </a:r>
            <a:endParaRPr lang="en-GB" sz="12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38125"/>
            <a:ext cx="3038475" cy="3476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rgbClr val="336699"/>
                </a:solidFill>
                <a:latin typeface="Arial" panose="020B0604020202020204" pitchFamily="34" charset="0"/>
              </a:rPr>
              <a:t>9: Designing and Implementing Stored Procedures</a:t>
            </a:r>
            <a:endParaRPr lang="en-GB" sz="1200" dirty="0">
              <a:solidFill>
                <a:srgbClr val="336699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58400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25938" y="73025"/>
            <a:ext cx="2466975" cy="18510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310896" y="2093975"/>
            <a:ext cx="6153912" cy="6604000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000" b="1" dirty="0" smtClean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Preparation Steps</a:t>
            </a:r>
            <a:endParaRPr lang="en-GB" sz="1000" dirty="0" smtClean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000" dirty="0" smtClean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Start the </a:t>
            </a:r>
            <a:r>
              <a:rPr lang="en-GB" sz="1000" b="1" dirty="0" smtClean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20762C-MIA-DC</a:t>
            </a:r>
            <a:r>
              <a:rPr lang="en-GB" sz="1000" dirty="0" smtClean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GB" sz="1000" b="1" dirty="0" smtClean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20762C-MIA-SQL</a:t>
            </a:r>
            <a:r>
              <a:rPr lang="en-GB" sz="1000" dirty="0" smtClean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virtual machines.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000" b="1" dirty="0" smtClean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Demonstration Steps</a:t>
            </a:r>
            <a:endParaRPr lang="en-GB" sz="1000" dirty="0" smtClean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995"/>
              </a:spcAft>
              <a:buFont typeface="+mj-lt"/>
              <a:buAutoNum type="arabicPeriod"/>
            </a:pPr>
            <a:r>
              <a:rPr lang="en-US" sz="10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Ensure that the </a:t>
            </a:r>
            <a:r>
              <a:rPr lang="en-US" sz="1000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20762C-MIA-DC</a:t>
            </a:r>
            <a:r>
              <a:rPr lang="en-US" sz="10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000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20762C-MIA-SQL</a:t>
            </a:r>
            <a:r>
              <a:rPr lang="en-US" sz="10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virtual machines are running, and then log on to </a:t>
            </a:r>
            <a:r>
              <a:rPr lang="en-US" sz="1000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20762C-MIA-SQL</a:t>
            </a:r>
            <a:r>
              <a:rPr lang="en-US" sz="10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US" sz="1000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ADVENTUREWORKS\Student</a:t>
            </a:r>
            <a:r>
              <a:rPr lang="en-US" sz="10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with the password </a:t>
            </a:r>
            <a:r>
              <a:rPr lang="en-US" sz="1000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Pa55w.rd</a:t>
            </a:r>
            <a:r>
              <a:rPr lang="en-US" sz="10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GB" sz="1000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995"/>
              </a:spcAft>
              <a:buFont typeface="+mj-lt"/>
              <a:buAutoNum type="arabicPeriod"/>
            </a:pPr>
            <a:r>
              <a:rPr lang="en-US" sz="10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Navigate to the folder </a:t>
            </a:r>
            <a:r>
              <a:rPr lang="en-US" sz="1000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D:\Demofiles\Mod09</a:t>
            </a:r>
            <a:r>
              <a:rPr lang="en-US" sz="10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 execute </a:t>
            </a:r>
            <a:r>
              <a:rPr lang="en-US" sz="1000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Setup.cmd</a:t>
            </a:r>
            <a:r>
              <a:rPr lang="en-US" sz="10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as an administrator.</a:t>
            </a:r>
            <a:endParaRPr lang="en-GB" sz="1000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995"/>
              </a:spcAft>
              <a:buFont typeface="+mj-lt"/>
              <a:buAutoNum type="arabicPeriod"/>
            </a:pPr>
            <a:r>
              <a:rPr lang="en-US" sz="10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the </a:t>
            </a:r>
            <a:r>
              <a:rPr lang="en-US" sz="1000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User Account Control</a:t>
            </a:r>
            <a:r>
              <a:rPr lang="en-US" sz="10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dialog box, click </a:t>
            </a:r>
            <a:r>
              <a:rPr lang="en-US" sz="1000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  <a:r>
              <a:rPr lang="en-US" sz="10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sz="1000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995"/>
              </a:spcAft>
              <a:buFont typeface="+mj-lt"/>
              <a:buAutoNum type="arabicPeriod"/>
            </a:pPr>
            <a:r>
              <a:rPr lang="en-US" sz="10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Start SQL Server Management Studio and connect to the </a:t>
            </a:r>
            <a:r>
              <a:rPr lang="en-US" sz="1000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MIA-SQL</a:t>
            </a:r>
            <a:r>
              <a:rPr lang="en-US" sz="10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instance using Windows authentication. </a:t>
            </a:r>
            <a:endParaRPr lang="en-GB" sz="1000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995"/>
              </a:spcAft>
              <a:buFont typeface="+mj-lt"/>
              <a:buAutoNum type="arabicPeriod"/>
            </a:pPr>
            <a:r>
              <a:rPr lang="en-US" sz="10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SQL Server Management Studio, open the file </a:t>
            </a:r>
            <a:r>
              <a:rPr lang="en-US" sz="1000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D:\Demofiles\Mod09\Module09.ssmssln</a:t>
            </a:r>
            <a:r>
              <a:rPr lang="en-US" sz="10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sz="1000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995"/>
              </a:spcAft>
              <a:buFont typeface="+mj-lt"/>
              <a:buAutoNum type="arabicPeriod"/>
            </a:pPr>
            <a:r>
              <a:rPr lang="en-US" sz="10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Solution Explorer, in the </a:t>
            </a:r>
            <a:r>
              <a:rPr lang="en-US" sz="1000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Queries</a:t>
            </a:r>
            <a:r>
              <a:rPr lang="en-US" sz="10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folder, double-click the </a:t>
            </a:r>
            <a:r>
              <a:rPr lang="en-US" sz="1000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11 - Demonstration1A.sql</a:t>
            </a:r>
            <a:r>
              <a:rPr lang="en-US" sz="10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script file.</a:t>
            </a:r>
            <a:endParaRPr lang="en-GB" sz="1000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995"/>
              </a:spcAft>
              <a:buFont typeface="+mj-lt"/>
              <a:buAutoNum type="arabicPeriod"/>
            </a:pPr>
            <a:r>
              <a:rPr lang="en-US" sz="10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Highlight the text under the comment </a:t>
            </a:r>
            <a:r>
              <a:rPr lang="en-US" sz="1000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 1 - Switch to the AdventureWorks database</a:t>
            </a:r>
            <a:r>
              <a:rPr lang="en-US" sz="10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and click </a:t>
            </a:r>
            <a:r>
              <a:rPr lang="en-US" sz="1000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Execute</a:t>
            </a:r>
            <a:r>
              <a:rPr lang="en-US" sz="10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sz="1000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995"/>
              </a:spcAft>
              <a:buFont typeface="+mj-lt"/>
              <a:buAutoNum type="arabicPeriod"/>
            </a:pPr>
            <a:r>
              <a:rPr lang="en-US" sz="10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Highlight the text under the comment </a:t>
            </a:r>
            <a:r>
              <a:rPr lang="en-US" sz="1000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 2 - Execute the sp_configure system stored procedure</a:t>
            </a:r>
            <a:r>
              <a:rPr lang="en-US" sz="10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and click </a:t>
            </a:r>
            <a:r>
              <a:rPr lang="en-US" sz="1000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Execute</a:t>
            </a:r>
            <a:r>
              <a:rPr lang="en-US" sz="10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sz="1000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995"/>
              </a:spcAft>
              <a:buFont typeface="+mj-lt"/>
              <a:buAutoNum type="arabicPeriod"/>
            </a:pPr>
            <a:r>
              <a:rPr lang="en-US" sz="10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Highlight the text under the comment </a:t>
            </a:r>
            <a:r>
              <a:rPr lang="en-US" sz="1000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 3 - Execute the xp_dirtree extended system stored procedure</a:t>
            </a:r>
            <a:r>
              <a:rPr lang="en-US" sz="10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and click </a:t>
            </a:r>
            <a:r>
              <a:rPr lang="en-US" sz="1000" b="1" dirty="0" smtClean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Execute</a:t>
            </a:r>
            <a:r>
              <a:rPr lang="en-US" sz="1000" dirty="0" smtClean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lnSpc>
                <a:spcPct val="115000"/>
              </a:lnSpc>
              <a:spcAft>
                <a:spcPts val="995"/>
              </a:spcAft>
              <a:buFont typeface="+mj-lt"/>
              <a:buAutoNum type="arabicPeriod"/>
            </a:pPr>
            <a:r>
              <a:rPr lang="en-GB" sz="10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Keep </a:t>
            </a:r>
            <a:r>
              <a:rPr lang="en-GB" sz="10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SQL Server Management Studio open for the next demo</a:t>
            </a:r>
            <a:r>
              <a:rPr lang="en-GB" sz="1000" dirty="0" smtClean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000" b="1" dirty="0" smtClean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Question</a:t>
            </a:r>
            <a:endParaRPr lang="en-GB" sz="1000" dirty="0" smtClean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000" dirty="0" smtClean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system stored procedure prefix (sp_) and the extended stored procedure prefix (xp_) have become a little muddled over time. What does this say about the use of prefixes when naming objects like stored procedures</a:t>
            </a:r>
            <a:r>
              <a:rPr lang="en-GB" sz="1000" dirty="0" smtClean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000" b="1" dirty="0" smtClean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Answer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0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Prefixes that attempt to indicate the function of an object are not recommended. A well thought out and implemented naming convention is a much better way of naming stored procedures</a:t>
            </a:r>
            <a:r>
              <a:rPr lang="en-GB" sz="1000" dirty="0" smtClean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GB" sz="10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6010C7-9B49-4EA1-AF90-559D5AEC0C96}" type="slidenum">
              <a:rPr lang="en-GB" smtClean="0"/>
              <a:t>8</a:t>
            </a:fld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038475" cy="22225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rgbClr val="000000"/>
                </a:solidFill>
                <a:latin typeface="Arial" panose="020B0604020202020204" pitchFamily="34" charset="0"/>
              </a:rPr>
              <a:t>20762C</a:t>
            </a:r>
            <a:endParaRPr lang="en-GB" sz="12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38125"/>
            <a:ext cx="3038475" cy="3476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rgbClr val="336699"/>
                </a:solidFill>
                <a:latin typeface="Arial" panose="020B0604020202020204" pitchFamily="34" charset="0"/>
              </a:rPr>
              <a:t>9: Designing and Implementing Stored Procedures</a:t>
            </a:r>
            <a:endParaRPr lang="en-GB" sz="1200" dirty="0">
              <a:solidFill>
                <a:srgbClr val="336699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69244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25938" y="73025"/>
            <a:ext cx="2466975" cy="18510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310896" y="2093975"/>
            <a:ext cx="6153912" cy="6604000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0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6010C7-9B49-4EA1-AF90-559D5AEC0C96}" type="slidenum">
              <a:rPr lang="en-GB" smtClean="0"/>
              <a:t>9</a:t>
            </a:fld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038475" cy="22225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rgbClr val="000000"/>
                </a:solidFill>
                <a:latin typeface="Arial" panose="020B0604020202020204" pitchFamily="34" charset="0"/>
              </a:rPr>
              <a:t>20762C</a:t>
            </a:r>
            <a:endParaRPr lang="en-GB" sz="12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38125"/>
            <a:ext cx="3038475" cy="3476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rgbClr val="336699"/>
                </a:solidFill>
                <a:latin typeface="Arial" panose="020B0604020202020204" pitchFamily="34" charset="0"/>
              </a:rPr>
              <a:t>9: Designing and Implementing Stored Procedures</a:t>
            </a:r>
            <a:endParaRPr lang="en-GB" sz="1200" dirty="0">
              <a:solidFill>
                <a:srgbClr val="336699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61440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25938" y="73025"/>
            <a:ext cx="2466975" cy="18510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310896" y="2093976"/>
            <a:ext cx="6153912" cy="6604000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0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Emphasise that CREATE OR ALTER appears in SQL Server 2016 SP1 and later. As well as stored procedures, CREATE OR ALTER works with functions, triggers, and views.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6010C7-9B49-4EA1-AF90-559D5AEC0C96}" type="slidenum">
              <a:rPr lang="en-GB" smtClean="0"/>
              <a:t>10</a:t>
            </a:fld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038475" cy="22225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rgbClr val="000000"/>
                </a:solidFill>
                <a:latin typeface="Arial" panose="020B0604020202020204" pitchFamily="34" charset="0"/>
              </a:rPr>
              <a:t>20762C</a:t>
            </a:r>
            <a:endParaRPr lang="en-GB" sz="12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38125"/>
            <a:ext cx="3038475" cy="3476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rgbClr val="336699"/>
                </a:solidFill>
                <a:latin typeface="Arial" panose="020B0604020202020204" pitchFamily="34" charset="0"/>
              </a:rPr>
              <a:t>9: Designing and Implementing Stored Procedures</a:t>
            </a:r>
            <a:endParaRPr lang="en-GB" sz="1200" dirty="0">
              <a:solidFill>
                <a:srgbClr val="336699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82065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25938" y="73025"/>
            <a:ext cx="2466975" cy="18510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310896" y="2093976"/>
            <a:ext cx="6153912" cy="6604000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0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Walk the students through the concept of where SQL Server goes to locate stored procedures. Stress the importance of using two- and three-part naming conventions.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6010C7-9B49-4EA1-AF90-559D5AEC0C96}" type="slidenum">
              <a:rPr lang="en-GB" smtClean="0"/>
              <a:t>11</a:t>
            </a:fld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038475" cy="22225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rgbClr val="000000"/>
                </a:solidFill>
                <a:latin typeface="Arial" panose="020B0604020202020204" pitchFamily="34" charset="0"/>
              </a:rPr>
              <a:t>20762C</a:t>
            </a:r>
            <a:endParaRPr lang="en-GB" sz="12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38125"/>
            <a:ext cx="3038475" cy="3476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rgbClr val="336699"/>
                </a:solidFill>
                <a:latin typeface="Arial" panose="020B0604020202020204" pitchFamily="34" charset="0"/>
              </a:rPr>
              <a:t>9: Designing and Implementing Stored Procedures</a:t>
            </a:r>
            <a:endParaRPr lang="en-GB" sz="1200" dirty="0">
              <a:solidFill>
                <a:srgbClr val="336699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57403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25938" y="73025"/>
            <a:ext cx="2466975" cy="18510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310896" y="2093975"/>
            <a:ext cx="6153912" cy="6604000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0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6010C7-9B49-4EA1-AF90-559D5AEC0C96}" type="slidenum">
              <a:rPr lang="en-GB" smtClean="0"/>
              <a:t>12</a:t>
            </a:fld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038475" cy="22225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rgbClr val="000000"/>
                </a:solidFill>
                <a:latin typeface="Arial" panose="020B0604020202020204" pitchFamily="34" charset="0"/>
              </a:rPr>
              <a:t>20762C</a:t>
            </a:r>
            <a:endParaRPr lang="en-GB" sz="12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38125"/>
            <a:ext cx="3038475" cy="3476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rgbClr val="336699"/>
                </a:solidFill>
                <a:latin typeface="Arial" panose="020B0604020202020204" pitchFamily="34" charset="0"/>
              </a:rPr>
              <a:t>9: Designing and Implementing Stored Procedures</a:t>
            </a:r>
            <a:endParaRPr lang="en-GB" sz="1200" dirty="0">
              <a:solidFill>
                <a:srgbClr val="336699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69246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25938" y="73025"/>
            <a:ext cx="2466975" cy="18510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310896" y="2093975"/>
            <a:ext cx="6153912" cy="6604000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0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6010C7-9B49-4EA1-AF90-559D5AEC0C96}" type="slidenum">
              <a:rPr lang="en-GB" smtClean="0"/>
              <a:t>13</a:t>
            </a:fld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038475" cy="22225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rgbClr val="000000"/>
                </a:solidFill>
                <a:latin typeface="Arial" panose="020B0604020202020204" pitchFamily="34" charset="0"/>
              </a:rPr>
              <a:t>20762C</a:t>
            </a:r>
            <a:endParaRPr lang="en-GB" sz="12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38125"/>
            <a:ext cx="3038475" cy="3476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rgbClr val="336699"/>
                </a:solidFill>
                <a:latin typeface="Arial" panose="020B0604020202020204" pitchFamily="34" charset="0"/>
              </a:rPr>
              <a:t>9: Designing and Implementing Stored Procedures</a:t>
            </a:r>
            <a:endParaRPr lang="en-GB" sz="1200" dirty="0">
              <a:solidFill>
                <a:srgbClr val="336699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07903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25938" y="73025"/>
            <a:ext cx="2466975" cy="18510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310896" y="2093975"/>
            <a:ext cx="6153912" cy="6604000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0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6010C7-9B49-4EA1-AF90-559D5AEC0C96}" type="slidenum">
              <a:rPr lang="en-GB" smtClean="0"/>
              <a:t>14</a:t>
            </a:fld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038475" cy="22225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rgbClr val="000000"/>
                </a:solidFill>
                <a:latin typeface="Arial" panose="020B0604020202020204" pitchFamily="34" charset="0"/>
              </a:rPr>
              <a:t>20762C</a:t>
            </a:r>
            <a:endParaRPr lang="en-GB" sz="12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38125"/>
            <a:ext cx="3038475" cy="3476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rgbClr val="336699"/>
                </a:solidFill>
                <a:latin typeface="Arial" panose="020B0604020202020204" pitchFamily="34" charset="0"/>
              </a:rPr>
              <a:t>9: Designing and Implementing Stored Procedures</a:t>
            </a:r>
            <a:endParaRPr lang="en-GB" sz="1200" dirty="0">
              <a:solidFill>
                <a:srgbClr val="336699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76320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25938" y="73025"/>
            <a:ext cx="2466975" cy="18510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310896" y="2093975"/>
            <a:ext cx="6153912" cy="6604000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0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6010C7-9B49-4EA1-AF90-559D5AEC0C96}" type="slidenum">
              <a:rPr lang="en-GB" smtClean="0"/>
              <a:t>15</a:t>
            </a:fld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038475" cy="22225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rgbClr val="000000"/>
                </a:solidFill>
                <a:latin typeface="Arial" panose="020B0604020202020204" pitchFamily="34" charset="0"/>
              </a:rPr>
              <a:t>20762C</a:t>
            </a:r>
            <a:endParaRPr lang="en-GB" sz="12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38125"/>
            <a:ext cx="3038475" cy="3476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rgbClr val="336699"/>
                </a:solidFill>
                <a:latin typeface="Arial" panose="020B0604020202020204" pitchFamily="34" charset="0"/>
              </a:rPr>
              <a:t>9: Designing and Implementing Stored Procedures</a:t>
            </a:r>
            <a:endParaRPr lang="en-GB" sz="1200" dirty="0">
              <a:solidFill>
                <a:srgbClr val="336699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17862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25938" y="73025"/>
            <a:ext cx="2466975" cy="18510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310896" y="2093976"/>
            <a:ext cx="6153912" cy="6604000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0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Reiterate to students that the </a:t>
            </a:r>
            <a:r>
              <a:rPr lang="en-GB" sz="1000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sys.sql_expression_dependencies </a:t>
            </a:r>
            <a:r>
              <a:rPr lang="en-GB" sz="10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view replaces the </a:t>
            </a:r>
            <a:r>
              <a:rPr lang="en-GB" sz="1000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sp_depends </a:t>
            </a:r>
            <a:r>
              <a:rPr lang="en-GB" sz="10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 stored procedure that was known to be unreliable, as it had no understanding of partial dependencies.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6010C7-9B49-4EA1-AF90-559D5AEC0C96}" type="slidenum">
              <a:rPr lang="en-GB" smtClean="0"/>
              <a:t>16</a:t>
            </a:fld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038475" cy="22225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rgbClr val="000000"/>
                </a:solidFill>
                <a:latin typeface="Arial" panose="020B0604020202020204" pitchFamily="34" charset="0"/>
              </a:rPr>
              <a:t>20762C</a:t>
            </a:r>
            <a:endParaRPr lang="en-GB" sz="12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38125"/>
            <a:ext cx="3038475" cy="3476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rgbClr val="336699"/>
                </a:solidFill>
                <a:latin typeface="Arial" panose="020B0604020202020204" pitchFamily="34" charset="0"/>
              </a:rPr>
              <a:t>9: Designing and Implementing Stored Procedures</a:t>
            </a:r>
            <a:endParaRPr lang="en-GB" sz="1200" dirty="0">
              <a:solidFill>
                <a:srgbClr val="336699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33237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25938" y="73025"/>
            <a:ext cx="2466975" cy="18510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310896" y="2093975"/>
            <a:ext cx="6153912" cy="6604000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0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6010C7-9B49-4EA1-AF90-559D5AEC0C96}" type="slidenum">
              <a:rPr lang="en-GB" smtClean="0"/>
              <a:t>17</a:t>
            </a:fld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038475" cy="22225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rgbClr val="000000"/>
                </a:solidFill>
                <a:latin typeface="Arial" panose="020B0604020202020204" pitchFamily="34" charset="0"/>
              </a:rPr>
              <a:t>20762C</a:t>
            </a:r>
            <a:endParaRPr lang="en-GB" sz="12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38125"/>
            <a:ext cx="3038475" cy="3476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rgbClr val="336699"/>
                </a:solidFill>
                <a:latin typeface="Arial" panose="020B0604020202020204" pitchFamily="34" charset="0"/>
              </a:rPr>
              <a:t>9: Designing and Implementing Stored Procedures</a:t>
            </a:r>
            <a:endParaRPr lang="en-GB" sz="1200" dirty="0">
              <a:solidFill>
                <a:srgbClr val="336699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26869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25938" y="73025"/>
            <a:ext cx="2466975" cy="18510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310896" y="2093975"/>
            <a:ext cx="6153912" cy="6604000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0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6010C7-9B49-4EA1-AF90-559D5AEC0C96}" type="slidenum">
              <a:rPr lang="en-GB" smtClean="0"/>
              <a:t>18</a:t>
            </a:fld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038475" cy="22225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rgbClr val="000000"/>
                </a:solidFill>
                <a:latin typeface="Arial" panose="020B0604020202020204" pitchFamily="34" charset="0"/>
              </a:rPr>
              <a:t>20762C</a:t>
            </a:r>
            <a:endParaRPr lang="en-GB" sz="12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38125"/>
            <a:ext cx="3038475" cy="3476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rgbClr val="336699"/>
                </a:solidFill>
                <a:latin typeface="Arial" panose="020B0604020202020204" pitchFamily="34" charset="0"/>
              </a:rPr>
              <a:t>9: Designing and Implementing Stored Procedures</a:t>
            </a:r>
            <a:endParaRPr lang="en-GB" sz="1200" dirty="0">
              <a:solidFill>
                <a:srgbClr val="336699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550621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25938" y="73025"/>
            <a:ext cx="2466975" cy="18510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310896" y="2093976"/>
            <a:ext cx="6153912" cy="6604000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000" b="1" dirty="0" smtClean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Preparation Steps</a:t>
            </a:r>
            <a:endParaRPr lang="en-GB" sz="1000" dirty="0" smtClean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000" dirty="0" smtClean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Ensure that the </a:t>
            </a:r>
            <a:r>
              <a:rPr lang="en-GB" sz="1000" b="1" dirty="0" smtClean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20762C-MIA-DC </a:t>
            </a:r>
            <a:r>
              <a:rPr lang="en-GB" sz="1000" dirty="0" smtClean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 </a:t>
            </a:r>
            <a:r>
              <a:rPr lang="en-GB" sz="1000" b="1" dirty="0" smtClean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20762C-MIA-SQL</a:t>
            </a:r>
            <a:r>
              <a:rPr lang="en-GB" sz="1000" dirty="0" smtClean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virtual machines are running and that you have completed the previous demo in this module.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000" b="1" dirty="0" smtClean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Demonstration Steps</a:t>
            </a:r>
            <a:endParaRPr lang="en-GB" sz="1000" dirty="0" smtClean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995"/>
              </a:spcAft>
              <a:buFont typeface="+mj-lt"/>
              <a:buAutoNum type="arabicPeriod"/>
            </a:pPr>
            <a:r>
              <a:rPr lang="en-US" sz="10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Solution Explorer, in the </a:t>
            </a:r>
            <a:r>
              <a:rPr lang="en-US" sz="1000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Queries</a:t>
            </a:r>
            <a:r>
              <a:rPr lang="en-US" sz="10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folder, double-click the </a:t>
            </a:r>
            <a:r>
              <a:rPr lang="en-US" sz="1000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21 - Demonstration2A.sql</a:t>
            </a:r>
            <a:r>
              <a:rPr lang="en-US" sz="10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script file.</a:t>
            </a:r>
            <a:endParaRPr lang="en-GB" sz="1000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995"/>
              </a:spcAft>
              <a:buFont typeface="+mj-lt"/>
              <a:buAutoNum type="arabicPeriod"/>
            </a:pPr>
            <a:r>
              <a:rPr lang="en-US" sz="10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Highlight the code under the comment </a:t>
            </a:r>
            <a:r>
              <a:rPr lang="en-US" sz="1000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 1 - Switch to the AdventureWorks database</a:t>
            </a:r>
            <a:r>
              <a:rPr lang="en-US" sz="10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000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click </a:t>
            </a:r>
            <a:r>
              <a:rPr lang="en-US" sz="1000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Execute</a:t>
            </a:r>
            <a:r>
              <a:rPr lang="en-US" sz="10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GB" sz="1000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995"/>
              </a:spcAft>
              <a:buFont typeface="+mj-lt"/>
              <a:buAutoNum type="arabicPeriod"/>
            </a:pP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Highlight the code under the comment </a:t>
            </a:r>
            <a:r>
              <a:rPr lang="en-US" sz="1000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 2 - Create the GetBlueProducts stored procedure</a:t>
            </a: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and click </a:t>
            </a:r>
            <a:r>
              <a:rPr lang="en-US" sz="1000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Execute</a:t>
            </a: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sz="1000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995"/>
              </a:spcAft>
              <a:buFont typeface="+mj-lt"/>
              <a:buAutoNum type="arabicPeriod"/>
            </a:pP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Highlight the code under the comment </a:t>
            </a:r>
            <a:r>
              <a:rPr lang="en-US" sz="1000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 3 - Execute the GetBlueProducts stored procedure</a:t>
            </a: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and click </a:t>
            </a:r>
            <a:r>
              <a:rPr lang="en-US" sz="1000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Execute</a:t>
            </a: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sz="1000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995"/>
              </a:spcAft>
              <a:buFont typeface="+mj-lt"/>
              <a:buAutoNum type="arabicPeriod"/>
            </a:pP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Highlight the code under the comment </a:t>
            </a:r>
            <a:r>
              <a:rPr lang="en-US" sz="1000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 4 - Create the GetBlueProductsAndModels stored procedure</a:t>
            </a: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and click </a:t>
            </a:r>
            <a:r>
              <a:rPr lang="en-US" sz="1000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Execute</a:t>
            </a: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sz="1000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995"/>
              </a:spcAft>
              <a:buFont typeface="+mj-lt"/>
              <a:buAutoNum type="arabicPeriod"/>
            </a:pP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Highlight the code under the comment </a:t>
            </a:r>
            <a:r>
              <a:rPr lang="en-US" sz="1000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 5 - Execute the GetBlueProductsAndModels stored procedure which returns multiple rowsets</a:t>
            </a: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and click </a:t>
            </a:r>
            <a:r>
              <a:rPr lang="en-US" sz="1000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Execute</a:t>
            </a: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sz="1000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995"/>
              </a:spcAft>
              <a:buFont typeface="+mj-lt"/>
              <a:buAutoNum type="arabicPeriod"/>
            </a:pP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Highlight the code under the comment </a:t>
            </a:r>
            <a:r>
              <a:rPr lang="en-US" sz="1000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 6 - Alter the procedure because the 2nd query does not show only blue products</a:t>
            </a: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and click </a:t>
            </a:r>
            <a:r>
              <a:rPr lang="en-US" sz="1000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Execute</a:t>
            </a: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sz="1000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995"/>
              </a:spcAft>
              <a:buFont typeface="+mj-lt"/>
              <a:buAutoNum type="arabicPeriod"/>
            </a:pP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Highlight the code under the comment </a:t>
            </a:r>
            <a:r>
              <a:rPr lang="en-US" sz="1000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 7 - And re-execute the GetBlueProductsAndModels stored procedure</a:t>
            </a: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and click </a:t>
            </a:r>
            <a:r>
              <a:rPr lang="en-US" sz="1000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Execute</a:t>
            </a: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sz="1000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995"/>
              </a:spcAft>
              <a:buFont typeface="+mj-lt"/>
              <a:buAutoNum type="arabicPeriod"/>
            </a:pP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Highlight the code under the comment </a:t>
            </a:r>
            <a:r>
              <a:rPr lang="en-US" sz="1000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 8 - Query sys.procedures to see the list of procedures</a:t>
            </a: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and click </a:t>
            </a:r>
            <a:r>
              <a:rPr lang="en-US" sz="1000" b="1" dirty="0" smtClean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Execute</a:t>
            </a:r>
            <a:r>
              <a:rPr lang="en-US" sz="1000" dirty="0" smtClean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lnSpc>
                <a:spcPct val="115000"/>
              </a:lnSpc>
              <a:spcAft>
                <a:spcPts val="995"/>
              </a:spcAft>
              <a:buFont typeface="+mj-lt"/>
              <a:buAutoNum type="arabicPeriod"/>
            </a:pPr>
            <a:r>
              <a:rPr lang="en-GB" sz="10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Keep </a:t>
            </a:r>
            <a:r>
              <a:rPr lang="en-GB" sz="10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SQL Server Management Studio open for the next demo.</a:t>
            </a:r>
            <a:endParaRPr lang="en-GB" sz="1000" dirty="0" smtClean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sz="10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6010C7-9B49-4EA1-AF90-559D5AEC0C96}" type="slidenum">
              <a:rPr lang="en-GB" smtClean="0"/>
              <a:t>19</a:t>
            </a:fld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038475" cy="22225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rgbClr val="000000"/>
                </a:solidFill>
                <a:latin typeface="Arial" panose="020B0604020202020204" pitchFamily="34" charset="0"/>
              </a:rPr>
              <a:t>20762C</a:t>
            </a:r>
            <a:endParaRPr lang="en-GB" sz="12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38125"/>
            <a:ext cx="3038475" cy="3476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rgbClr val="336699"/>
                </a:solidFill>
                <a:latin typeface="Arial" panose="020B0604020202020204" pitchFamily="34" charset="0"/>
              </a:rPr>
              <a:t>9: Designing and Implementing Stored Procedures</a:t>
            </a:r>
            <a:endParaRPr lang="en-GB" sz="1200" dirty="0">
              <a:solidFill>
                <a:srgbClr val="336699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18235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25938" y="73025"/>
            <a:ext cx="2466975" cy="18510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310896" y="2093976"/>
            <a:ext cx="6153912" cy="6604000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000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Question</a:t>
            </a:r>
            <a:endParaRPr lang="en-GB" sz="10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0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Obfuscating the body of a stored procedure is best avoided, but when might you want to use this functionality?</a:t>
            </a:r>
          </a:p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en-GB" sz="1000" dirty="0" smtClean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   </a:t>
            </a:r>
            <a:r>
              <a:rPr lang="en-GB" sz="1000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)Option 1: When transferring the stored procedure between servers.</a:t>
            </a:r>
          </a:p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en-GB" sz="1000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   )Option 2: When emailing the stored procedure code to a colleague.</a:t>
            </a:r>
          </a:p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en-GB" sz="1000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   )Option 3: When the stored procedure takes input parameters that should not be disclosed.</a:t>
            </a:r>
          </a:p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en-GB" sz="1000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   )Option 4: When the stored procedure contains intellectual property that needs protecting.</a:t>
            </a:r>
          </a:p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en-GB" sz="1000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Answer</a:t>
            </a:r>
            <a:endParaRPr lang="en-GB" sz="1000" dirty="0">
              <a:solidFill>
                <a:prstClr val="black"/>
              </a:solidFill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en-GB" sz="1000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(√) Option 4: When the stored procedure contains intellectual property that needs protecting.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6010C7-9B49-4EA1-AF90-559D5AEC0C96}" type="slidenum">
              <a:rPr lang="en-GB" smtClean="0"/>
              <a:t>20</a:t>
            </a:fld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038475" cy="22225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rgbClr val="000000"/>
                </a:solidFill>
                <a:latin typeface="Arial" panose="020B0604020202020204" pitchFamily="34" charset="0"/>
              </a:rPr>
              <a:t>20762C</a:t>
            </a:r>
            <a:endParaRPr lang="en-GB" sz="12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38125"/>
            <a:ext cx="3038475" cy="3476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rgbClr val="336699"/>
                </a:solidFill>
                <a:latin typeface="Arial" panose="020B0604020202020204" pitchFamily="34" charset="0"/>
              </a:rPr>
              <a:t>9: Designing and Implementing Stored Procedures</a:t>
            </a:r>
            <a:endParaRPr lang="en-GB" sz="1200" dirty="0">
              <a:solidFill>
                <a:srgbClr val="336699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172073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25938" y="73025"/>
            <a:ext cx="2466975" cy="18510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310896" y="2093975"/>
            <a:ext cx="6153912" cy="6604000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0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6010C7-9B49-4EA1-AF90-559D5AEC0C96}" type="slidenum">
              <a:rPr lang="en-GB" smtClean="0"/>
              <a:t>21</a:t>
            </a:fld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038475" cy="22225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rgbClr val="000000"/>
                </a:solidFill>
                <a:latin typeface="Arial" panose="020B0604020202020204" pitchFamily="34" charset="0"/>
              </a:rPr>
              <a:t>20762C</a:t>
            </a:r>
            <a:endParaRPr lang="en-GB" sz="12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38125"/>
            <a:ext cx="3038475" cy="3476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rgbClr val="336699"/>
                </a:solidFill>
                <a:latin typeface="Arial" panose="020B0604020202020204" pitchFamily="34" charset="0"/>
              </a:rPr>
              <a:t>9: Designing and Implementing Stored Procedures</a:t>
            </a:r>
            <a:endParaRPr lang="en-GB" sz="1200" dirty="0">
              <a:solidFill>
                <a:srgbClr val="336699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938761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25938" y="73025"/>
            <a:ext cx="2466975" cy="18510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310896" y="2093975"/>
            <a:ext cx="6153912" cy="6604000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0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6010C7-9B49-4EA1-AF90-559D5AEC0C96}" type="slidenum">
              <a:rPr lang="en-GB" smtClean="0"/>
              <a:t>22</a:t>
            </a:fld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038475" cy="22225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rgbClr val="000000"/>
                </a:solidFill>
                <a:latin typeface="Arial" panose="020B0604020202020204" pitchFamily="34" charset="0"/>
              </a:rPr>
              <a:t>20762C</a:t>
            </a:r>
            <a:endParaRPr lang="en-GB" sz="12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38125"/>
            <a:ext cx="3038475" cy="3476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rgbClr val="336699"/>
                </a:solidFill>
                <a:latin typeface="Arial" panose="020B0604020202020204" pitchFamily="34" charset="0"/>
              </a:rPr>
              <a:t>9: Designing and Implementing Stored Procedures</a:t>
            </a:r>
            <a:endParaRPr lang="en-GB" sz="1200" dirty="0">
              <a:solidFill>
                <a:srgbClr val="336699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722368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25938" y="73025"/>
            <a:ext cx="2466975" cy="18510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310896" y="2093975"/>
            <a:ext cx="6153912" cy="6604000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0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6010C7-9B49-4EA1-AF90-559D5AEC0C96}" type="slidenum">
              <a:rPr lang="en-GB" smtClean="0"/>
              <a:t>23</a:t>
            </a:fld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038475" cy="22225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rgbClr val="000000"/>
                </a:solidFill>
                <a:latin typeface="Arial" panose="020B0604020202020204" pitchFamily="34" charset="0"/>
              </a:rPr>
              <a:t>20762C</a:t>
            </a:r>
            <a:endParaRPr lang="en-GB" sz="12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38125"/>
            <a:ext cx="3038475" cy="3476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rgbClr val="336699"/>
                </a:solidFill>
                <a:latin typeface="Arial" panose="020B0604020202020204" pitchFamily="34" charset="0"/>
              </a:rPr>
              <a:t>9: Designing and Implementing Stored Procedures</a:t>
            </a:r>
            <a:endParaRPr lang="en-GB" sz="1200" dirty="0">
              <a:solidFill>
                <a:srgbClr val="336699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451077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25938" y="73025"/>
            <a:ext cx="2466975" cy="18510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310896" y="2093975"/>
            <a:ext cx="6153912" cy="6604000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0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6010C7-9B49-4EA1-AF90-559D5AEC0C96}" type="slidenum">
              <a:rPr lang="en-GB" smtClean="0"/>
              <a:t>24</a:t>
            </a:fld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038475" cy="22225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rgbClr val="000000"/>
                </a:solidFill>
                <a:latin typeface="Arial" panose="020B0604020202020204" pitchFamily="34" charset="0"/>
              </a:rPr>
              <a:t>20762C</a:t>
            </a:r>
            <a:endParaRPr lang="en-GB" sz="12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38125"/>
            <a:ext cx="3038475" cy="3476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rgbClr val="336699"/>
                </a:solidFill>
                <a:latin typeface="Arial" panose="020B0604020202020204" pitchFamily="34" charset="0"/>
              </a:rPr>
              <a:t>9: Designing and Implementing Stored Procedures</a:t>
            </a:r>
            <a:endParaRPr lang="en-GB" sz="1200" dirty="0">
              <a:solidFill>
                <a:srgbClr val="336699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703999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25938" y="73025"/>
            <a:ext cx="2466975" cy="18510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310896" y="2093975"/>
            <a:ext cx="6153912" cy="6604000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000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Question</a:t>
            </a:r>
            <a:endParaRPr lang="en-GB" sz="10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0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is the main advantage of creating parameterized stored procedures over nonparameterized stored procedures</a:t>
            </a:r>
            <a:r>
              <a:rPr lang="en-GB" sz="1000" dirty="0" smtClean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000" b="1" dirty="0" smtClean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Answer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0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Parameterized stored procedures enable code reuse. One parameterized stored procedure can potentially replace many nonparameterized stored procedures</a:t>
            </a:r>
            <a:r>
              <a:rPr lang="en-GB" sz="1000" dirty="0" smtClean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GB" sz="10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6010C7-9B49-4EA1-AF90-559D5AEC0C96}" type="slidenum">
              <a:rPr lang="en-GB" smtClean="0"/>
              <a:t>25</a:t>
            </a:fld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038475" cy="22225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rgbClr val="000000"/>
                </a:solidFill>
                <a:latin typeface="Arial" panose="020B0604020202020204" pitchFamily="34" charset="0"/>
              </a:rPr>
              <a:t>20762C</a:t>
            </a:r>
            <a:endParaRPr lang="en-GB" sz="12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38125"/>
            <a:ext cx="3038475" cy="3476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rgbClr val="336699"/>
                </a:solidFill>
                <a:latin typeface="Arial" panose="020B0604020202020204" pitchFamily="34" charset="0"/>
              </a:rPr>
              <a:t>9: Designing and Implementing Stored Procedures</a:t>
            </a:r>
            <a:endParaRPr lang="en-GB" sz="1200" dirty="0">
              <a:solidFill>
                <a:srgbClr val="336699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488083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25938" y="73025"/>
            <a:ext cx="2466975" cy="18510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310896" y="2093975"/>
            <a:ext cx="6153912" cy="6604000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0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6010C7-9B49-4EA1-AF90-559D5AEC0C96}" type="slidenum">
              <a:rPr lang="en-GB" smtClean="0"/>
              <a:t>26</a:t>
            </a:fld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038475" cy="22225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rgbClr val="000000"/>
                </a:solidFill>
                <a:latin typeface="Arial" panose="020B0604020202020204" pitchFamily="34" charset="0"/>
              </a:rPr>
              <a:t>20762C</a:t>
            </a:r>
            <a:endParaRPr lang="en-GB" sz="12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38125"/>
            <a:ext cx="3038475" cy="3476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rgbClr val="336699"/>
                </a:solidFill>
                <a:latin typeface="Arial" panose="020B0604020202020204" pitchFamily="34" charset="0"/>
              </a:rPr>
              <a:t>9: Designing and Implementing Stored Procedures</a:t>
            </a:r>
            <a:endParaRPr lang="en-GB" sz="1200" dirty="0">
              <a:solidFill>
                <a:srgbClr val="336699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885989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25938" y="73025"/>
            <a:ext cx="2466975" cy="18510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310896" y="2093975"/>
            <a:ext cx="6153912" cy="6604000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0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6010C7-9B49-4EA1-AF90-559D5AEC0C96}" type="slidenum">
              <a:rPr lang="en-GB" smtClean="0"/>
              <a:t>27</a:t>
            </a:fld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038475" cy="22225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rgbClr val="000000"/>
                </a:solidFill>
                <a:latin typeface="Arial" panose="020B0604020202020204" pitchFamily="34" charset="0"/>
              </a:rPr>
              <a:t>20762C</a:t>
            </a:r>
            <a:endParaRPr lang="en-GB" sz="12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38125"/>
            <a:ext cx="3038475" cy="3476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rgbClr val="336699"/>
                </a:solidFill>
                <a:latin typeface="Arial" panose="020B0604020202020204" pitchFamily="34" charset="0"/>
              </a:rPr>
              <a:t>9: Designing and Implementing Stored Procedures</a:t>
            </a:r>
            <a:endParaRPr lang="en-GB" sz="1200" dirty="0">
              <a:solidFill>
                <a:srgbClr val="336699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313583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25938" y="73025"/>
            <a:ext cx="2466975" cy="18510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310896" y="2093975"/>
            <a:ext cx="6153912" cy="6604000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0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6010C7-9B49-4EA1-AF90-559D5AEC0C96}" type="slidenum">
              <a:rPr lang="en-GB" smtClean="0"/>
              <a:t>28</a:t>
            </a:fld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038475" cy="22225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rgbClr val="000000"/>
                </a:solidFill>
                <a:latin typeface="Arial" panose="020B0604020202020204" pitchFamily="34" charset="0"/>
              </a:rPr>
              <a:t>20762C</a:t>
            </a:r>
            <a:endParaRPr lang="en-GB" sz="12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38125"/>
            <a:ext cx="3038475" cy="3476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rgbClr val="336699"/>
                </a:solidFill>
                <a:latin typeface="Arial" panose="020B0604020202020204" pitchFamily="34" charset="0"/>
              </a:rPr>
              <a:t>9: Designing and Implementing Stored Procedures</a:t>
            </a:r>
            <a:endParaRPr lang="en-GB" sz="1200" dirty="0">
              <a:solidFill>
                <a:srgbClr val="336699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576546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25938" y="73025"/>
            <a:ext cx="2466975" cy="18510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310896" y="2093975"/>
            <a:ext cx="6153912" cy="6604000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0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6010C7-9B49-4EA1-AF90-559D5AEC0C96}" type="slidenum">
              <a:rPr lang="en-GB" smtClean="0"/>
              <a:t>29</a:t>
            </a:fld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038475" cy="22225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rgbClr val="000000"/>
                </a:solidFill>
                <a:latin typeface="Arial" panose="020B0604020202020204" pitchFamily="34" charset="0"/>
              </a:rPr>
              <a:t>20762C</a:t>
            </a:r>
            <a:endParaRPr lang="en-GB" sz="12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38125"/>
            <a:ext cx="3038475" cy="3476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rgbClr val="336699"/>
                </a:solidFill>
                <a:latin typeface="Arial" panose="020B0604020202020204" pitchFamily="34" charset="0"/>
              </a:rPr>
              <a:t>9: Designing and Implementing Stored Procedures</a:t>
            </a:r>
            <a:endParaRPr lang="en-GB" sz="1200" dirty="0">
              <a:solidFill>
                <a:srgbClr val="336699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142245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25938" y="73025"/>
            <a:ext cx="2466975" cy="18510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310896" y="2093976"/>
            <a:ext cx="6153912" cy="6604000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000" b="1" dirty="0" smtClean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Preparation Steps</a:t>
            </a:r>
            <a:endParaRPr lang="en-GB" sz="1000" dirty="0" smtClean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000" dirty="0" smtClean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Ensure that the </a:t>
            </a:r>
            <a:r>
              <a:rPr lang="en-GB" sz="1000" b="1" dirty="0" smtClean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20762C-MIA-DC</a:t>
            </a:r>
            <a:r>
              <a:rPr lang="en-GB" sz="1000" dirty="0" smtClean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GB" sz="1000" b="1" dirty="0" smtClean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20762C-MIA-SQL</a:t>
            </a:r>
            <a:r>
              <a:rPr lang="en-GB" sz="1000" dirty="0" smtClean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virtual machines are running and that you have completed the previous demonstrations in this module.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000" b="1" dirty="0" smtClean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Demonstration Steps</a:t>
            </a:r>
            <a:endParaRPr lang="en-GB" sz="1000" dirty="0" smtClean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995"/>
              </a:spcAft>
              <a:buFont typeface="+mj-lt"/>
              <a:buAutoNum type="arabicPeriod"/>
            </a:pPr>
            <a:r>
              <a:rPr lang="en-US" sz="10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Solution Explorer, expand the </a:t>
            </a:r>
            <a:r>
              <a:rPr lang="en-US" sz="1000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Queries</a:t>
            </a:r>
            <a:r>
              <a:rPr lang="en-US" sz="10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folder, and then double-click the </a:t>
            </a:r>
            <a:r>
              <a:rPr lang="en-US" sz="1000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31 - Demonstration 3A.sql</a:t>
            </a:r>
            <a:r>
              <a:rPr lang="en-US" sz="10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script file.</a:t>
            </a:r>
            <a:endParaRPr lang="en-GB" sz="1000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995"/>
              </a:spcAft>
              <a:buFont typeface="+mj-lt"/>
              <a:buAutoNum type="arabicPeriod"/>
            </a:pPr>
            <a:r>
              <a:rPr lang="en-US" sz="10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Highlight the code under the comment </a:t>
            </a:r>
            <a:r>
              <a:rPr lang="en-US" sz="1000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 1 - Open a new query window to the tempdb database</a:t>
            </a:r>
            <a:r>
              <a:rPr lang="en-US" sz="10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000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click </a:t>
            </a:r>
            <a:r>
              <a:rPr lang="en-US" sz="1000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Execute</a:t>
            </a:r>
            <a:r>
              <a:rPr lang="en-US" sz="10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GB" sz="1000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995"/>
              </a:spcAft>
              <a:buFont typeface="+mj-lt"/>
              <a:buAutoNum type="arabicPeriod"/>
            </a:pPr>
            <a:r>
              <a:rPr lang="en-US" sz="10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Highlight the code under the comment </a:t>
            </a:r>
            <a:r>
              <a:rPr lang="en-US" sz="1000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 2 - Create a stored procedure that queries sys.login_token and sys.user_token</a:t>
            </a:r>
            <a:r>
              <a:rPr lang="en-US" sz="10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and click </a:t>
            </a:r>
            <a:r>
              <a:rPr lang="en-US" sz="1000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Execute</a:t>
            </a:r>
            <a:r>
              <a:rPr lang="en-US" sz="10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GB" sz="1000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995"/>
              </a:spcAft>
              <a:buFont typeface="+mj-lt"/>
              <a:buAutoNum type="arabicPeriod"/>
            </a:pPr>
            <a:r>
              <a:rPr lang="en-US" sz="10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Highlight the code under the comment </a:t>
            </a:r>
            <a:r>
              <a:rPr lang="en-US" sz="1000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 3 - Execute the stored procedure and review the rowsets returned</a:t>
            </a:r>
            <a:r>
              <a:rPr lang="en-US" sz="10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and click </a:t>
            </a:r>
            <a:r>
              <a:rPr lang="en-US" sz="1000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Execute</a:t>
            </a:r>
            <a:r>
              <a:rPr lang="en-US" sz="10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GB" sz="1000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995"/>
              </a:spcAft>
              <a:buFont typeface="+mj-lt"/>
              <a:buAutoNum type="arabicPeriod"/>
            </a:pPr>
            <a:r>
              <a:rPr lang="en-US" sz="10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Highlight the code under the comment </a:t>
            </a:r>
            <a:r>
              <a:rPr lang="en-US" sz="1000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 4 - Use the EXECUTE AS statement to change context</a:t>
            </a:r>
            <a:r>
              <a:rPr lang="en-US" sz="10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and click </a:t>
            </a:r>
            <a:r>
              <a:rPr lang="en-US" sz="1000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Execute</a:t>
            </a:r>
            <a:r>
              <a:rPr lang="en-US" sz="10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GB" sz="1000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995"/>
              </a:spcAft>
              <a:buFont typeface="+mj-lt"/>
              <a:buAutoNum type="arabicPeriod"/>
            </a:pPr>
            <a:r>
              <a:rPr lang="en-US" sz="10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Highlight the code under the comment </a:t>
            </a:r>
            <a:r>
              <a:rPr lang="en-US" sz="1000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 5 - Try to execute the procedure. Why does it not it work?</a:t>
            </a:r>
            <a:r>
              <a:rPr lang="en-US" sz="10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Click </a:t>
            </a:r>
            <a:r>
              <a:rPr lang="en-US" sz="1000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Execute</a:t>
            </a:r>
            <a:r>
              <a:rPr lang="en-US" sz="10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 note the error message.</a:t>
            </a:r>
            <a:endParaRPr lang="en-GB" sz="1000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995"/>
              </a:spcAft>
              <a:buFont typeface="+mj-lt"/>
              <a:buAutoNum type="arabicPeriod"/>
            </a:pPr>
            <a:r>
              <a:rPr lang="en-US" sz="10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Highlight the code under the comment </a:t>
            </a:r>
            <a:r>
              <a:rPr lang="en-US" sz="1000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 6 - Revert to the previous security context</a:t>
            </a:r>
            <a:r>
              <a:rPr lang="en-US" sz="10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and click </a:t>
            </a:r>
            <a:r>
              <a:rPr lang="en-US" sz="1000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Execute</a:t>
            </a:r>
            <a:r>
              <a:rPr lang="en-US" sz="10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GB" sz="1000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995"/>
              </a:spcAft>
              <a:buFont typeface="+mj-lt"/>
              <a:buAutoNum type="arabicPeriod"/>
            </a:pPr>
            <a:r>
              <a:rPr lang="en-US" sz="10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Highlight the code under the comment </a:t>
            </a:r>
            <a:r>
              <a:rPr lang="en-US" sz="1000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 7 - Grant permission to SecureUser to execute the procedure</a:t>
            </a:r>
            <a:r>
              <a:rPr lang="en-US" sz="10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and click </a:t>
            </a:r>
            <a:r>
              <a:rPr lang="en-US" sz="1000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Execute</a:t>
            </a:r>
            <a:r>
              <a:rPr lang="en-US" sz="10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GB" sz="1000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995"/>
              </a:spcAft>
              <a:buFont typeface="+mj-lt"/>
              <a:buAutoNum type="arabicPeriod"/>
            </a:pPr>
            <a:r>
              <a:rPr lang="en-US" sz="10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Highlight the code under the comment </a:t>
            </a:r>
            <a:r>
              <a:rPr lang="en-US" sz="1000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 8 - Now try again and note the output</a:t>
            </a:r>
            <a:r>
              <a:rPr lang="en-US" sz="10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and click </a:t>
            </a:r>
            <a:r>
              <a:rPr lang="en-US" sz="1000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Execute</a:t>
            </a:r>
            <a:r>
              <a:rPr lang="en-US" sz="10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GB" sz="1000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995"/>
              </a:spcAft>
              <a:buFont typeface="+mj-lt"/>
              <a:buAutoNum type="arabicPeriod"/>
            </a:pPr>
            <a:r>
              <a:rPr lang="en-US" sz="10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Highlight the code under the comment </a:t>
            </a:r>
            <a:r>
              <a:rPr lang="en-US" sz="1000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 9 - Alter the procedure to execute as owner</a:t>
            </a:r>
            <a:r>
              <a:rPr lang="en-US" sz="10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and click </a:t>
            </a:r>
            <a:r>
              <a:rPr lang="en-US" sz="1000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Execute</a:t>
            </a:r>
            <a:r>
              <a:rPr lang="en-US" sz="10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GB" sz="1000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995"/>
              </a:spcAft>
              <a:buFont typeface="+mj-lt"/>
              <a:buAutoNum type="arabicPeriod"/>
            </a:pPr>
            <a:r>
              <a:rPr lang="en-US" sz="1000" dirty="0" smtClean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Highlight </a:t>
            </a:r>
            <a:r>
              <a:rPr lang="en-US" sz="10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code under the comment </a:t>
            </a:r>
            <a:r>
              <a:rPr lang="en-US" sz="1000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 10 - Execute as SecureUser again and note </a:t>
            </a:r>
            <a:r>
              <a:rPr lang="en-US" sz="1000" b="1" dirty="0" smtClean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difference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and click </a:t>
            </a: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Execute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GB" sz="1000" dirty="0">
              <a:solidFill>
                <a:prstClr val="black"/>
              </a:solidFill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995"/>
              </a:spcAft>
              <a:buFont typeface="+mj-lt"/>
              <a:buAutoNum type="arabicPeriod" startAt="12"/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Highlight the code under the comment </a:t>
            </a: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 11 - Drop the procedure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and click </a:t>
            </a:r>
            <a:r>
              <a:rPr lang="en-US" sz="1000" b="1" dirty="0">
                <a:solidFill>
                  <a:prstClr val="black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Execute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1000" dirty="0" smtClean="0">
              <a:solidFill>
                <a:prstClr val="black"/>
              </a:solidFill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995"/>
              </a:spcAft>
              <a:buFont typeface="+mj-lt"/>
              <a:buAutoNum type="arabicPeriod" startAt="12"/>
            </a:pPr>
            <a:r>
              <a:rPr lang="en-GB" sz="1000" dirty="0" smtClean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Close </a:t>
            </a:r>
            <a:r>
              <a:rPr lang="en-GB" sz="1000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SQL Server Management Studio without saving any changes</a:t>
            </a:r>
            <a:r>
              <a:rPr lang="en-GB" sz="1000" dirty="0" smtClean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GB" sz="1000" dirty="0">
              <a:solidFill>
                <a:prstClr val="black"/>
              </a:solidFill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6010C7-9B49-4EA1-AF90-559D5AEC0C96}" type="slidenum">
              <a:rPr lang="en-GB" smtClean="0"/>
              <a:t>30</a:t>
            </a:fld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038475" cy="22225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rgbClr val="000000"/>
                </a:solidFill>
                <a:latin typeface="Arial" panose="020B0604020202020204" pitchFamily="34" charset="0"/>
              </a:rPr>
              <a:t>20762C</a:t>
            </a:r>
            <a:endParaRPr lang="en-GB" sz="12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38125"/>
            <a:ext cx="3038475" cy="3476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rgbClr val="336699"/>
                </a:solidFill>
                <a:latin typeface="Arial" panose="020B0604020202020204" pitchFamily="34" charset="0"/>
              </a:rPr>
              <a:t>9: Designing and Implementing Stored Procedures</a:t>
            </a:r>
            <a:endParaRPr lang="en-GB" sz="1200" dirty="0">
              <a:solidFill>
                <a:srgbClr val="336699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221104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25938" y="73025"/>
            <a:ext cx="2466975" cy="18510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310896" y="2093976"/>
            <a:ext cx="6153912" cy="6604000"/>
          </a:xfrm>
        </p:spPr>
        <p:txBody>
          <a:bodyPr>
            <a:no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en-GB" sz="1000" b="1" dirty="0" smtClean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Question</a:t>
            </a:r>
            <a:endParaRPr lang="en-GB" sz="1000" dirty="0">
              <a:solidFill>
                <a:prstClr val="black"/>
              </a:solidFill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en-GB" sz="1000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permission is needed to EXECUTE AS another login or user?</a:t>
            </a:r>
          </a:p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en-GB" sz="1000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   )Option 1: sysadmin</a:t>
            </a:r>
          </a:p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en-GB" sz="1000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   )Option 2: IMPERSONATE</a:t>
            </a:r>
          </a:p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en-GB" sz="1000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   )Option 3: TAKE OWNERSHIP</a:t>
            </a:r>
          </a:p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en-GB" sz="1000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Answer</a:t>
            </a:r>
            <a:endParaRPr lang="en-GB" sz="1000" dirty="0">
              <a:solidFill>
                <a:prstClr val="black"/>
              </a:solidFill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en-GB" sz="1000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(√) Option 2: IMPERSONATE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6010C7-9B49-4EA1-AF90-559D5AEC0C96}" type="slidenum">
              <a:rPr lang="en-GB" smtClean="0"/>
              <a:t>31</a:t>
            </a:fld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038475" cy="22225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rgbClr val="000000"/>
                </a:solidFill>
                <a:latin typeface="Arial" panose="020B0604020202020204" pitchFamily="34" charset="0"/>
              </a:rPr>
              <a:t>20762C</a:t>
            </a:r>
            <a:endParaRPr lang="en-GB" sz="12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38125"/>
            <a:ext cx="3038475" cy="3476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rgbClr val="336699"/>
                </a:solidFill>
                <a:latin typeface="Arial" panose="020B0604020202020204" pitchFamily="34" charset="0"/>
              </a:rPr>
              <a:t>9: Designing and Implementing Stored Procedures</a:t>
            </a:r>
            <a:endParaRPr lang="en-GB" sz="1200" dirty="0">
              <a:solidFill>
                <a:srgbClr val="336699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11280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25938" y="73025"/>
            <a:ext cx="2466975" cy="18510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310896" y="2093976"/>
            <a:ext cx="6153912" cy="6604000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0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Exercise 1: Create Stored Procedures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0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this exercise, you will create two stored procedures to support one of the new reports.</a:t>
            </a:r>
          </a:p>
          <a:p>
            <a:pPr>
              <a:lnSpc>
                <a:spcPts val="1300"/>
              </a:lnSpc>
              <a:spcBef>
                <a:spcPts val="900"/>
              </a:spcBef>
              <a:spcAft>
                <a:spcPts val="300"/>
              </a:spcAft>
            </a:pPr>
            <a:r>
              <a:rPr lang="en-US" sz="1000" b="1" dirty="0">
                <a:latin typeface="Arial" panose="020B0604020202020204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Supporting </a:t>
            </a:r>
            <a:r>
              <a:rPr lang="en-US" sz="1000" b="1" dirty="0" smtClean="0">
                <a:latin typeface="Arial" panose="020B0604020202020204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Documentation</a:t>
            </a:r>
          </a:p>
          <a:p>
            <a:pPr>
              <a:lnSpc>
                <a:spcPts val="1300"/>
              </a:lnSpc>
              <a:spcBef>
                <a:spcPts val="900"/>
              </a:spcBef>
              <a:spcAft>
                <a:spcPts val="300"/>
              </a:spcAft>
            </a:pPr>
            <a:endParaRPr lang="en-US" sz="1000" b="1" dirty="0">
              <a:latin typeface="Arial" panose="020B0604020202020204" pitchFamily="34" charset="0"/>
              <a:ea typeface="Times New Roman" panose="02020603050405020304" pitchFamily="18" charset="0"/>
              <a:cs typeface="Segoe UI" panose="020B0502040204020203" pitchFamily="34" charset="0"/>
            </a:endParaRPr>
          </a:p>
          <a:p>
            <a:pPr>
              <a:lnSpc>
                <a:spcPts val="1300"/>
              </a:lnSpc>
              <a:spcBef>
                <a:spcPts val="900"/>
              </a:spcBef>
              <a:spcAft>
                <a:spcPts val="300"/>
              </a:spcAft>
            </a:pPr>
            <a:endParaRPr lang="en-US" sz="1000" b="1" dirty="0" smtClean="0">
              <a:latin typeface="Arial" panose="020B0604020202020204" pitchFamily="34" charset="0"/>
              <a:ea typeface="Times New Roman" panose="02020603050405020304" pitchFamily="18" charset="0"/>
              <a:cs typeface="Segoe UI" panose="020B0502040204020203" pitchFamily="34" charset="0"/>
            </a:endParaRPr>
          </a:p>
          <a:p>
            <a:pPr>
              <a:lnSpc>
                <a:spcPts val="1300"/>
              </a:lnSpc>
              <a:spcBef>
                <a:spcPts val="900"/>
              </a:spcBef>
              <a:spcAft>
                <a:spcPts val="300"/>
              </a:spcAft>
            </a:pPr>
            <a:endParaRPr lang="en-US" sz="1000" b="1" dirty="0">
              <a:latin typeface="Arial" panose="020B0604020202020204" pitchFamily="34" charset="0"/>
              <a:ea typeface="Times New Roman" panose="02020603050405020304" pitchFamily="18" charset="0"/>
              <a:cs typeface="Segoe UI" panose="020B0502040204020203" pitchFamily="34" charset="0"/>
            </a:endParaRPr>
          </a:p>
          <a:p>
            <a:pPr>
              <a:lnSpc>
                <a:spcPts val="1300"/>
              </a:lnSpc>
              <a:spcBef>
                <a:spcPts val="900"/>
              </a:spcBef>
              <a:spcAft>
                <a:spcPts val="300"/>
              </a:spcAft>
            </a:pPr>
            <a:endParaRPr lang="en-US" sz="1000" b="1" dirty="0" smtClean="0">
              <a:latin typeface="Arial" panose="020B0604020202020204" pitchFamily="34" charset="0"/>
              <a:ea typeface="Times New Roman" panose="02020603050405020304" pitchFamily="18" charset="0"/>
              <a:cs typeface="Segoe UI" panose="020B0502040204020203" pitchFamily="34" charset="0"/>
            </a:endParaRPr>
          </a:p>
          <a:p>
            <a:pPr>
              <a:lnSpc>
                <a:spcPts val="1300"/>
              </a:lnSpc>
              <a:spcBef>
                <a:spcPts val="900"/>
              </a:spcBef>
              <a:spcAft>
                <a:spcPts val="300"/>
              </a:spcAft>
            </a:pPr>
            <a:endParaRPr lang="en-US" sz="1000" b="1" dirty="0">
              <a:latin typeface="Arial" panose="020B0604020202020204" pitchFamily="34" charset="0"/>
              <a:ea typeface="Times New Roman" panose="02020603050405020304" pitchFamily="18" charset="0"/>
              <a:cs typeface="Segoe UI" panose="020B0502040204020203" pitchFamily="34" charset="0"/>
            </a:endParaRPr>
          </a:p>
          <a:p>
            <a:pPr>
              <a:lnSpc>
                <a:spcPts val="1300"/>
              </a:lnSpc>
              <a:spcBef>
                <a:spcPts val="900"/>
              </a:spcBef>
              <a:spcAft>
                <a:spcPts val="300"/>
              </a:spcAft>
            </a:pPr>
            <a:endParaRPr lang="en-US" sz="1000" b="1" dirty="0" smtClean="0">
              <a:latin typeface="Arial" panose="020B0604020202020204" pitchFamily="34" charset="0"/>
              <a:ea typeface="Times New Roman" panose="02020603050405020304" pitchFamily="18" charset="0"/>
              <a:cs typeface="Segoe UI" panose="020B0502040204020203" pitchFamily="34" charset="0"/>
            </a:endParaRPr>
          </a:p>
          <a:p>
            <a:pPr>
              <a:lnSpc>
                <a:spcPts val="1300"/>
              </a:lnSpc>
              <a:spcBef>
                <a:spcPts val="900"/>
              </a:spcBef>
              <a:spcAft>
                <a:spcPts val="300"/>
              </a:spcAft>
            </a:pPr>
            <a:endParaRPr lang="en-US" sz="1000" b="1" dirty="0">
              <a:latin typeface="Arial" panose="020B0604020202020204" pitchFamily="34" charset="0"/>
              <a:ea typeface="Times New Roman" panose="02020603050405020304" pitchFamily="18" charset="0"/>
              <a:cs typeface="Segoe UI" panose="020B0502040204020203" pitchFamily="34" charset="0"/>
            </a:endParaRPr>
          </a:p>
          <a:p>
            <a:pPr>
              <a:lnSpc>
                <a:spcPts val="1300"/>
              </a:lnSpc>
              <a:spcBef>
                <a:spcPts val="900"/>
              </a:spcBef>
              <a:spcAft>
                <a:spcPts val="300"/>
              </a:spcAft>
            </a:pPr>
            <a:endParaRPr lang="en-US" sz="1000" b="1" dirty="0" smtClean="0">
              <a:latin typeface="Arial" panose="020B0604020202020204" pitchFamily="34" charset="0"/>
              <a:ea typeface="Times New Roman" panose="02020603050405020304" pitchFamily="18" charset="0"/>
              <a:cs typeface="Segoe UI" panose="020B0502040204020203" pitchFamily="34" charset="0"/>
            </a:endParaRPr>
          </a:p>
          <a:p>
            <a:pPr>
              <a:lnSpc>
                <a:spcPts val="1300"/>
              </a:lnSpc>
              <a:spcBef>
                <a:spcPts val="900"/>
              </a:spcBef>
              <a:spcAft>
                <a:spcPts val="300"/>
              </a:spcAft>
            </a:pPr>
            <a:endParaRPr lang="en-US" sz="1000" b="1" dirty="0">
              <a:latin typeface="Arial" panose="020B0604020202020204" pitchFamily="34" charset="0"/>
              <a:ea typeface="Times New Roman" panose="02020603050405020304" pitchFamily="18" charset="0"/>
              <a:cs typeface="Segoe UI" panose="020B0502040204020203" pitchFamily="34" charset="0"/>
            </a:endParaRPr>
          </a:p>
          <a:p>
            <a:pPr>
              <a:lnSpc>
                <a:spcPts val="1300"/>
              </a:lnSpc>
              <a:spcBef>
                <a:spcPts val="900"/>
              </a:spcBef>
              <a:spcAft>
                <a:spcPts val="300"/>
              </a:spcAft>
            </a:pPr>
            <a:endParaRPr lang="en-US" sz="1000" b="1" dirty="0" smtClean="0">
              <a:latin typeface="Arial" panose="020B0604020202020204" pitchFamily="34" charset="0"/>
              <a:ea typeface="Times New Roman" panose="02020603050405020304" pitchFamily="18" charset="0"/>
              <a:cs typeface="Segoe UI" panose="020B0502040204020203" pitchFamily="34" charset="0"/>
            </a:endParaRPr>
          </a:p>
          <a:p>
            <a:pPr>
              <a:lnSpc>
                <a:spcPts val="1300"/>
              </a:lnSpc>
              <a:spcBef>
                <a:spcPts val="900"/>
              </a:spcBef>
              <a:spcAft>
                <a:spcPts val="300"/>
              </a:spcAft>
            </a:pPr>
            <a:endParaRPr lang="en-US" sz="1000" b="1" dirty="0">
              <a:latin typeface="Arial" panose="020B0604020202020204" pitchFamily="34" charset="0"/>
              <a:ea typeface="Times New Roman" panose="02020603050405020304" pitchFamily="18" charset="0"/>
              <a:cs typeface="Segoe UI" panose="020B0502040204020203" pitchFamily="34" charset="0"/>
            </a:endParaRPr>
          </a:p>
          <a:p>
            <a:pPr>
              <a:lnSpc>
                <a:spcPts val="1300"/>
              </a:lnSpc>
              <a:spcBef>
                <a:spcPts val="900"/>
              </a:spcBef>
              <a:spcAft>
                <a:spcPts val="300"/>
              </a:spcAft>
            </a:pPr>
            <a:endParaRPr lang="en-US" sz="1000" b="1" dirty="0" smtClean="0">
              <a:latin typeface="Arial" panose="020B0604020202020204" pitchFamily="34" charset="0"/>
              <a:ea typeface="Times New Roman" panose="02020603050405020304" pitchFamily="18" charset="0"/>
              <a:cs typeface="Segoe UI" panose="020B0502040204020203" pitchFamily="34" charset="0"/>
            </a:endParaRPr>
          </a:p>
          <a:p>
            <a:pPr>
              <a:lnSpc>
                <a:spcPts val="1300"/>
              </a:lnSpc>
              <a:spcBef>
                <a:spcPts val="900"/>
              </a:spcBef>
              <a:spcAft>
                <a:spcPts val="300"/>
              </a:spcAft>
            </a:pPr>
            <a:endParaRPr lang="en-GB" sz="1000" b="1" dirty="0">
              <a:latin typeface="Arial" panose="020B0604020202020204" pitchFamily="34" charset="0"/>
              <a:ea typeface="Times New Roman" panose="02020603050405020304" pitchFamily="18" charset="0"/>
              <a:cs typeface="Segoe UI" panose="020B0502040204020203" pitchFamily="34" charset="0"/>
            </a:endParaRPr>
          </a:p>
          <a:p>
            <a:pPr>
              <a:lnSpc>
                <a:spcPts val="1300"/>
              </a:lnSpc>
              <a:spcBef>
                <a:spcPts val="900"/>
              </a:spcBef>
              <a:spcAft>
                <a:spcPts val="300"/>
              </a:spcAft>
            </a:pPr>
            <a:endParaRPr lang="en-GB" sz="10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6010C7-9B49-4EA1-AF90-559D5AEC0C96}" type="slidenum">
              <a:rPr lang="en-GB" smtClean="0"/>
              <a:t>32</a:t>
            </a:fld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038475" cy="22225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rgbClr val="000000"/>
                </a:solidFill>
                <a:latin typeface="Arial" panose="020B0604020202020204" pitchFamily="34" charset="0"/>
              </a:rPr>
              <a:t>20762C</a:t>
            </a:r>
            <a:endParaRPr lang="en-GB" sz="12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38125"/>
            <a:ext cx="3038475" cy="3476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rgbClr val="336699"/>
                </a:solidFill>
                <a:latin typeface="Arial" panose="020B0604020202020204" pitchFamily="34" charset="0"/>
              </a:rPr>
              <a:t>9: Designing and Implementing Stored Procedures</a:t>
            </a:r>
            <a:endParaRPr lang="en-GB" sz="1200" dirty="0">
              <a:solidFill>
                <a:srgbClr val="336699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0782" y="8869218"/>
            <a:ext cx="1997663" cy="246221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GB" sz="1000" dirty="0" smtClean="0">
                <a:latin typeface="Arial" panose="020B0604020202020204" pitchFamily="34" charset="0"/>
              </a:rPr>
              <a:t>(More notes on the next slide)</a:t>
            </a:r>
            <a:endParaRPr lang="en-GB" sz="1000" dirty="0">
              <a:latin typeface="Arial" panose="020B0604020202020204" pitchFamily="34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4868795"/>
              </p:ext>
            </p:extLst>
          </p:nvPr>
        </p:nvGraphicFramePr>
        <p:xfrm>
          <a:off x="501777" y="3009730"/>
          <a:ext cx="5772150" cy="405136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86075">
                  <a:extLst>
                    <a:ext uri="{9D8B030D-6E8A-4147-A177-3AD203B41FA5}">
                      <a16:colId xmlns:a16="http://schemas.microsoft.com/office/drawing/2014/main" val="3351388953"/>
                    </a:ext>
                  </a:extLst>
                </a:gridCol>
                <a:gridCol w="2886075">
                  <a:extLst>
                    <a:ext uri="{9D8B030D-6E8A-4147-A177-3AD203B41FA5}">
                      <a16:colId xmlns:a16="http://schemas.microsoft.com/office/drawing/2014/main" val="11298361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50">
                          <a:effectLst/>
                        </a:rPr>
                        <a:t>Stored Procedure:</a:t>
                      </a:r>
                      <a:endParaRPr lang="en-GB" sz="950">
                        <a:effectLst/>
                        <a:latin typeface="Segoe" panose="020B0502040504020203" pitchFamily="34" charset="0"/>
                        <a:ea typeface="SimSun" panose="02010600030101010101" pitchFamily="2" charset="-122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50">
                          <a:effectLst/>
                        </a:rPr>
                        <a:t>Reports.GetProductColors</a:t>
                      </a:r>
                      <a:endParaRPr lang="en-GB" sz="950">
                        <a:effectLst/>
                        <a:latin typeface="Segoe" panose="020B0502040504020203" pitchFamily="34" charset="0"/>
                        <a:ea typeface="SimSun" panose="02010600030101010101" pitchFamily="2" charset="-122"/>
                        <a:cs typeface="Manga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046004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50">
                          <a:effectLst/>
                        </a:rPr>
                        <a:t>Input Parameters:</a:t>
                      </a:r>
                      <a:endParaRPr lang="en-GB" sz="950">
                        <a:effectLst/>
                        <a:latin typeface="Segoe" panose="020B0502040504020203" pitchFamily="34" charset="0"/>
                        <a:ea typeface="SimSun" panose="02010600030101010101" pitchFamily="2" charset="-122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50">
                          <a:effectLst/>
                        </a:rPr>
                        <a:t>None</a:t>
                      </a:r>
                      <a:endParaRPr lang="en-GB" sz="950">
                        <a:effectLst/>
                        <a:latin typeface="Segoe" panose="020B0502040504020203" pitchFamily="34" charset="0"/>
                        <a:ea typeface="SimSun" panose="02010600030101010101" pitchFamily="2" charset="-122"/>
                        <a:cs typeface="Manga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961029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50">
                          <a:effectLst/>
                        </a:rPr>
                        <a:t>Output Parameters:</a:t>
                      </a:r>
                      <a:endParaRPr lang="en-GB" sz="950">
                        <a:effectLst/>
                        <a:latin typeface="Segoe" panose="020B0502040504020203" pitchFamily="34" charset="0"/>
                        <a:ea typeface="SimSun" panose="02010600030101010101" pitchFamily="2" charset="-122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50">
                          <a:effectLst/>
                        </a:rPr>
                        <a:t>None</a:t>
                      </a:r>
                      <a:endParaRPr lang="en-GB" sz="950">
                        <a:effectLst/>
                        <a:latin typeface="Segoe" panose="020B0502040504020203" pitchFamily="34" charset="0"/>
                        <a:ea typeface="SimSun" panose="02010600030101010101" pitchFamily="2" charset="-122"/>
                        <a:cs typeface="Manga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035010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50">
                          <a:effectLst/>
                        </a:rPr>
                        <a:t>Output Columns:</a:t>
                      </a:r>
                      <a:endParaRPr lang="en-GB" sz="950">
                        <a:effectLst/>
                        <a:latin typeface="Segoe" panose="020B0502040504020203" pitchFamily="34" charset="0"/>
                        <a:ea typeface="SimSun" panose="02010600030101010101" pitchFamily="2" charset="-122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50">
                          <a:effectLst/>
                        </a:rPr>
                        <a:t>Color (from Marketing.Product)</a:t>
                      </a:r>
                      <a:endParaRPr lang="en-GB" sz="950">
                        <a:effectLst/>
                        <a:latin typeface="Segoe" panose="020B0502040504020203" pitchFamily="34" charset="0"/>
                        <a:ea typeface="SimSun" panose="02010600030101010101" pitchFamily="2" charset="-122"/>
                        <a:cs typeface="Manga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411738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50">
                          <a:effectLst/>
                        </a:rPr>
                        <a:t>Notes:</a:t>
                      </a:r>
                      <a:endParaRPr lang="en-GB" sz="950">
                        <a:effectLst/>
                        <a:latin typeface="Segoe" panose="020B0502040504020203" pitchFamily="34" charset="0"/>
                        <a:ea typeface="SimSun" panose="02010600030101010101" pitchFamily="2" charset="-122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50">
                          <a:effectLst/>
                        </a:rPr>
                        <a:t>Colors should not be returned more than once in the output. NULL values should not be returned.</a:t>
                      </a:r>
                      <a:endParaRPr lang="en-GB" sz="950">
                        <a:effectLst/>
                        <a:latin typeface="Segoe" panose="020B0502040504020203" pitchFamily="34" charset="0"/>
                        <a:ea typeface="SimSun" panose="02010600030101010101" pitchFamily="2" charset="-122"/>
                        <a:cs typeface="Manga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705309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50">
                          <a:effectLst/>
                        </a:rPr>
                        <a:t>Stored Procedure:</a:t>
                      </a:r>
                      <a:endParaRPr lang="en-GB" sz="950">
                        <a:effectLst/>
                        <a:latin typeface="Segoe" panose="020B0502040504020203" pitchFamily="34" charset="0"/>
                        <a:ea typeface="SimSun" panose="02010600030101010101" pitchFamily="2" charset="-122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50">
                          <a:effectLst/>
                        </a:rPr>
                        <a:t>Reports.GetProductsAndModels</a:t>
                      </a:r>
                      <a:endParaRPr lang="en-GB" sz="950">
                        <a:effectLst/>
                        <a:latin typeface="Segoe" panose="020B0502040504020203" pitchFamily="34" charset="0"/>
                        <a:ea typeface="SimSun" panose="02010600030101010101" pitchFamily="2" charset="-122"/>
                        <a:cs typeface="Manga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548261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50">
                          <a:effectLst/>
                        </a:rPr>
                        <a:t>Input Parameters:</a:t>
                      </a:r>
                      <a:endParaRPr lang="en-GB" sz="950">
                        <a:effectLst/>
                        <a:latin typeface="Segoe" panose="020B0502040504020203" pitchFamily="34" charset="0"/>
                        <a:ea typeface="SimSun" panose="02010600030101010101" pitchFamily="2" charset="-122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50">
                          <a:effectLst/>
                        </a:rPr>
                        <a:t>None</a:t>
                      </a:r>
                      <a:endParaRPr lang="en-GB" sz="950">
                        <a:effectLst/>
                        <a:latin typeface="Segoe" panose="020B0502040504020203" pitchFamily="34" charset="0"/>
                        <a:ea typeface="SimSun" panose="02010600030101010101" pitchFamily="2" charset="-122"/>
                        <a:cs typeface="Manga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96089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50">
                          <a:effectLst/>
                        </a:rPr>
                        <a:t>Output Parameters:</a:t>
                      </a:r>
                      <a:endParaRPr lang="en-GB" sz="950">
                        <a:effectLst/>
                        <a:latin typeface="Segoe" panose="020B0502040504020203" pitchFamily="34" charset="0"/>
                        <a:ea typeface="SimSun" panose="02010600030101010101" pitchFamily="2" charset="-122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50">
                          <a:effectLst/>
                        </a:rPr>
                        <a:t>None</a:t>
                      </a:r>
                      <a:endParaRPr lang="en-GB" sz="950">
                        <a:effectLst/>
                        <a:latin typeface="Segoe" panose="020B0502040504020203" pitchFamily="34" charset="0"/>
                        <a:ea typeface="SimSun" panose="02010600030101010101" pitchFamily="2" charset="-122"/>
                        <a:cs typeface="Manga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901931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50">
                          <a:effectLst/>
                        </a:rPr>
                        <a:t>Output Columns:</a:t>
                      </a:r>
                      <a:endParaRPr lang="en-GB" sz="950">
                        <a:effectLst/>
                        <a:latin typeface="Segoe" panose="020B0502040504020203" pitchFamily="34" charset="0"/>
                        <a:ea typeface="SimSun" panose="02010600030101010101" pitchFamily="2" charset="-122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50">
                          <a:effectLst/>
                        </a:rPr>
                        <a:t>ProductID, ProductName, ProductNumber, SellStartDate, SellEndDate and Color (from Marketing.Product), ProductModelID (from Marketing.ProductModel), EnglishDescription, FrenchDescription, ChineseDescription.</a:t>
                      </a:r>
                      <a:endParaRPr lang="en-GB" sz="950">
                        <a:effectLst/>
                        <a:latin typeface="Segoe" panose="020B0502040504020203" pitchFamily="34" charset="0"/>
                        <a:ea typeface="SimSun" panose="02010600030101010101" pitchFamily="2" charset="-122"/>
                        <a:cs typeface="Manga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847160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50">
                          <a:effectLst/>
                        </a:rPr>
                        <a:t>Output Order:</a:t>
                      </a:r>
                      <a:endParaRPr lang="en-GB" sz="950">
                        <a:effectLst/>
                        <a:latin typeface="Segoe" panose="020B0502040504020203" pitchFamily="34" charset="0"/>
                        <a:ea typeface="SimSun" panose="02010600030101010101" pitchFamily="2" charset="-122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50">
                          <a:effectLst/>
                        </a:rPr>
                        <a:t>ProductID, ProductModelID.</a:t>
                      </a:r>
                      <a:endParaRPr lang="en-GB" sz="950">
                        <a:effectLst/>
                        <a:latin typeface="Segoe" panose="020B0502040504020203" pitchFamily="34" charset="0"/>
                        <a:ea typeface="SimSun" panose="02010600030101010101" pitchFamily="2" charset="-122"/>
                        <a:cs typeface="Manga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28677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50">
                          <a:effectLst/>
                        </a:rPr>
                        <a:t>Notes:</a:t>
                      </a:r>
                      <a:endParaRPr lang="en-GB" sz="950">
                        <a:effectLst/>
                        <a:latin typeface="Segoe" panose="020B0502040504020203" pitchFamily="34" charset="0"/>
                        <a:ea typeface="SimSun" panose="02010600030101010101" pitchFamily="2" charset="-122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50" dirty="0">
                          <a:effectLst/>
                        </a:rPr>
                        <a:t>For descriptions, return the Description column from the Marketing.ProductDescription table for the appropriate language. The LanguageID for English is “en”, for French is “fr” and for Chinese is “zh-cht”. If no specific language description is available, return the invariant language description if it is present. The LanguageID for the invariant language is a blank string ''. Where neither the specific language nor invariant language descriptions exist, return the ProductName instead.</a:t>
                      </a:r>
                      <a:endParaRPr lang="en-GB" sz="950" dirty="0">
                        <a:effectLst/>
                        <a:latin typeface="Segoe" panose="020B0502040504020203" pitchFamily="34" charset="0"/>
                        <a:ea typeface="SimSun" panose="02010600030101010101" pitchFamily="2" charset="-122"/>
                        <a:cs typeface="Manga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981965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652628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25112" y="73152"/>
            <a:ext cx="2468880" cy="185166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310896" y="2093976"/>
            <a:ext cx="6153912" cy="6604000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0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Exercise 2: Create Parameterized Stored Procedures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0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this exercise, you will create a stored procedure to support one of the new reports</a:t>
            </a:r>
            <a:r>
              <a:rPr lang="en-GB" sz="1000" dirty="0" smtClean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1000" b="1" i="1" dirty="0" smtClean="0">
              <a:solidFill>
                <a:prstClr val="black"/>
              </a:solidFill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ts val="1300"/>
              </a:lnSpc>
              <a:spcBef>
                <a:spcPts val="900"/>
              </a:spcBef>
              <a:spcAft>
                <a:spcPts val="300"/>
              </a:spcAft>
            </a:pPr>
            <a:r>
              <a:rPr lang="en-US" sz="1000" b="1" i="1" dirty="0" smtClean="0">
                <a:solidFill>
                  <a:prstClr val="black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Supporting Documentation</a:t>
            </a:r>
          </a:p>
          <a:p>
            <a:pPr lvl="0">
              <a:lnSpc>
                <a:spcPts val="1300"/>
              </a:lnSpc>
              <a:spcBef>
                <a:spcPts val="900"/>
              </a:spcBef>
              <a:spcAft>
                <a:spcPts val="300"/>
              </a:spcAft>
            </a:pPr>
            <a:endParaRPr lang="en-US" sz="1000" b="1" i="1" dirty="0">
              <a:solidFill>
                <a:prstClr val="black"/>
              </a:solidFill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ts val="1300"/>
              </a:lnSpc>
              <a:spcBef>
                <a:spcPts val="900"/>
              </a:spcBef>
              <a:spcAft>
                <a:spcPts val="300"/>
              </a:spcAft>
            </a:pPr>
            <a:endParaRPr lang="en-US" sz="1000" b="1" i="1" dirty="0" smtClean="0">
              <a:solidFill>
                <a:prstClr val="black"/>
              </a:solidFill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ts val="1300"/>
              </a:lnSpc>
              <a:spcBef>
                <a:spcPts val="900"/>
              </a:spcBef>
              <a:spcAft>
                <a:spcPts val="300"/>
              </a:spcAft>
            </a:pPr>
            <a:endParaRPr lang="en-US" sz="1000" b="1" i="1" dirty="0">
              <a:solidFill>
                <a:prstClr val="black"/>
              </a:solidFill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ts val="1300"/>
              </a:lnSpc>
              <a:spcBef>
                <a:spcPts val="900"/>
              </a:spcBef>
              <a:spcAft>
                <a:spcPts val="300"/>
              </a:spcAft>
            </a:pPr>
            <a:endParaRPr lang="en-US" sz="1000" b="1" i="1" dirty="0" smtClean="0">
              <a:solidFill>
                <a:prstClr val="black"/>
              </a:solidFill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ts val="1300"/>
              </a:lnSpc>
              <a:spcBef>
                <a:spcPts val="900"/>
              </a:spcBef>
              <a:spcAft>
                <a:spcPts val="300"/>
              </a:spcAft>
            </a:pPr>
            <a:endParaRPr lang="en-US" sz="1000" b="1" i="1" dirty="0">
              <a:solidFill>
                <a:prstClr val="black"/>
              </a:solidFill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ts val="1300"/>
              </a:lnSpc>
              <a:spcBef>
                <a:spcPts val="900"/>
              </a:spcBef>
              <a:spcAft>
                <a:spcPts val="300"/>
              </a:spcAft>
            </a:pPr>
            <a:endParaRPr lang="en-US" sz="1000" b="1" i="1" dirty="0" smtClean="0">
              <a:solidFill>
                <a:prstClr val="black"/>
              </a:solidFill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</a:pPr>
            <a:endParaRPr lang="en-GB" sz="1000" dirty="0" smtClean="0">
              <a:solidFill>
                <a:prstClr val="black"/>
              </a:solidFill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en-GB" sz="1000" dirty="0" smtClean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Exercise </a:t>
            </a:r>
            <a:r>
              <a:rPr lang="en-GB" sz="1000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3: Change Stored Procedure Execution Context</a:t>
            </a:r>
          </a:p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en-GB" sz="1000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this exercise, you will alter the stored procedures to use a different execution context. 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6010C7-9B49-4EA1-AF90-559D5AEC0C96}" type="slidenum">
              <a:rPr lang="en-GB" smtClean="0"/>
              <a:t>33</a:t>
            </a:fld>
            <a:endParaRPr lang="en-GB" dirty="0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3038475" cy="22225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rgbClr val="000000"/>
                </a:solidFill>
                <a:latin typeface="Arial" panose="020B0604020202020204" pitchFamily="34" charset="0"/>
              </a:rPr>
              <a:t>20762C</a:t>
            </a:r>
            <a:endParaRPr lang="en-GB" sz="12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238125"/>
            <a:ext cx="3038475" cy="3476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rgbClr val="336699"/>
                </a:solidFill>
                <a:latin typeface="Arial" panose="020B0604020202020204" pitchFamily="34" charset="0"/>
              </a:rPr>
              <a:t>9: Designing and Implementing Stored Procedures</a:t>
            </a:r>
            <a:endParaRPr lang="en-GB" sz="1200" dirty="0">
              <a:solidFill>
                <a:srgbClr val="336699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0290376"/>
              </p:ext>
            </p:extLst>
          </p:nvPr>
        </p:nvGraphicFramePr>
        <p:xfrm>
          <a:off x="501777" y="3063503"/>
          <a:ext cx="5772150" cy="177089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86075">
                  <a:extLst>
                    <a:ext uri="{9D8B030D-6E8A-4147-A177-3AD203B41FA5}">
                      <a16:colId xmlns:a16="http://schemas.microsoft.com/office/drawing/2014/main" val="584451938"/>
                    </a:ext>
                  </a:extLst>
                </a:gridCol>
                <a:gridCol w="2886075">
                  <a:extLst>
                    <a:ext uri="{9D8B030D-6E8A-4147-A177-3AD203B41FA5}">
                      <a16:colId xmlns:a16="http://schemas.microsoft.com/office/drawing/2014/main" val="9498676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50">
                          <a:effectLst/>
                        </a:rPr>
                        <a:t>Stored Procedure</a:t>
                      </a:r>
                      <a:endParaRPr lang="en-GB" sz="950">
                        <a:effectLst/>
                        <a:latin typeface="Segoe" panose="020B0502040504020203" pitchFamily="34" charset="0"/>
                        <a:ea typeface="SimSun" panose="02010600030101010101" pitchFamily="2" charset="-122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50">
                          <a:effectLst/>
                        </a:rPr>
                        <a:t>Marketing.GetProductsByColor</a:t>
                      </a:r>
                      <a:endParaRPr lang="en-GB" sz="950">
                        <a:effectLst/>
                        <a:latin typeface="Segoe" panose="020B0502040504020203" pitchFamily="34" charset="0"/>
                        <a:ea typeface="SimSun" panose="02010600030101010101" pitchFamily="2" charset="-122"/>
                        <a:cs typeface="Manga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603897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50">
                          <a:effectLst/>
                        </a:rPr>
                        <a:t>Input parameters</a:t>
                      </a:r>
                      <a:endParaRPr lang="en-GB" sz="950">
                        <a:effectLst/>
                        <a:latin typeface="Segoe" panose="020B0502040504020203" pitchFamily="34" charset="0"/>
                        <a:ea typeface="SimSun" panose="02010600030101010101" pitchFamily="2" charset="-122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50">
                          <a:effectLst/>
                        </a:rPr>
                        <a:t>@Color (same data type as the Color column in the Production.Product table).</a:t>
                      </a:r>
                      <a:endParaRPr lang="en-GB" sz="950">
                        <a:effectLst/>
                        <a:latin typeface="Segoe" panose="020B0502040504020203" pitchFamily="34" charset="0"/>
                        <a:ea typeface="SimSun" panose="02010600030101010101" pitchFamily="2" charset="-122"/>
                        <a:cs typeface="Manga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129373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50">
                          <a:effectLst/>
                        </a:rPr>
                        <a:t>Output parameters</a:t>
                      </a:r>
                      <a:endParaRPr lang="en-GB" sz="950">
                        <a:effectLst/>
                        <a:latin typeface="Segoe" panose="020B0502040504020203" pitchFamily="34" charset="0"/>
                        <a:ea typeface="SimSun" panose="02010600030101010101" pitchFamily="2" charset="-122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50">
                          <a:effectLst/>
                        </a:rPr>
                        <a:t>None</a:t>
                      </a:r>
                      <a:endParaRPr lang="en-GB" sz="950">
                        <a:effectLst/>
                        <a:latin typeface="Segoe" panose="020B0502040504020203" pitchFamily="34" charset="0"/>
                        <a:ea typeface="SimSun" panose="02010600030101010101" pitchFamily="2" charset="-122"/>
                        <a:cs typeface="Manga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62327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50">
                          <a:effectLst/>
                        </a:rPr>
                        <a:t>Output columns</a:t>
                      </a:r>
                      <a:endParaRPr lang="en-GB" sz="950">
                        <a:effectLst/>
                        <a:latin typeface="Segoe" panose="020B0502040504020203" pitchFamily="34" charset="0"/>
                        <a:ea typeface="SimSun" panose="02010600030101010101" pitchFamily="2" charset="-122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50">
                          <a:effectLst/>
                        </a:rPr>
                        <a:t>ProductID, ProductName, ListPrice (returned as a column named Price), Color, Size and SizeUnitMeasureCode (returned as a column named UnitOfMeasure)  (from Production.Product).</a:t>
                      </a:r>
                      <a:endParaRPr lang="en-GB" sz="950">
                        <a:effectLst/>
                        <a:latin typeface="Segoe" panose="020B0502040504020203" pitchFamily="34" charset="0"/>
                        <a:ea typeface="SimSun" panose="02010600030101010101" pitchFamily="2" charset="-122"/>
                        <a:cs typeface="Manga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386880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50">
                          <a:effectLst/>
                        </a:rPr>
                        <a:t>Output order</a:t>
                      </a:r>
                      <a:endParaRPr lang="en-GB" sz="950">
                        <a:effectLst/>
                        <a:latin typeface="Segoe" panose="020B0502040504020203" pitchFamily="34" charset="0"/>
                        <a:ea typeface="SimSun" panose="02010600030101010101" pitchFamily="2" charset="-122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50">
                          <a:effectLst/>
                        </a:rPr>
                        <a:t>ProductName</a:t>
                      </a:r>
                      <a:endParaRPr lang="en-GB" sz="950">
                        <a:effectLst/>
                        <a:latin typeface="Segoe" panose="020B0502040504020203" pitchFamily="34" charset="0"/>
                        <a:ea typeface="SimSun" panose="02010600030101010101" pitchFamily="2" charset="-122"/>
                        <a:cs typeface="Manga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873665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50">
                          <a:effectLst/>
                        </a:rPr>
                        <a:t>Notes</a:t>
                      </a:r>
                      <a:endParaRPr lang="en-GB" sz="950">
                        <a:effectLst/>
                        <a:latin typeface="Segoe" panose="020B0502040504020203" pitchFamily="34" charset="0"/>
                        <a:ea typeface="SimSun" panose="02010600030101010101" pitchFamily="2" charset="-122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50" dirty="0">
                          <a:effectLst/>
                        </a:rPr>
                        <a:t>The procedure should return products that have no Color if the parameter is NULL.</a:t>
                      </a:r>
                      <a:endParaRPr lang="en-GB" sz="950" dirty="0">
                        <a:effectLst/>
                        <a:latin typeface="Segoe" panose="020B0502040504020203" pitchFamily="34" charset="0"/>
                        <a:ea typeface="SimSun" panose="02010600030101010101" pitchFamily="2" charset="-122"/>
                        <a:cs typeface="Manga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061336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541017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25938" y="73025"/>
            <a:ext cx="2466975" cy="18510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310896" y="2093975"/>
            <a:ext cx="6153912" cy="6604000"/>
          </a:xfrm>
        </p:spPr>
        <p:txBody>
          <a:bodyPr>
            <a:no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6010C7-9B49-4EA1-AF90-559D5AEC0C96}" type="slidenum">
              <a:rPr lang="en-GB" smtClean="0"/>
              <a:t>34</a:t>
            </a:fld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038475" cy="22225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rgbClr val="000000"/>
                </a:solidFill>
                <a:latin typeface="Arial" panose="020B0604020202020204" pitchFamily="34" charset="0"/>
              </a:rPr>
              <a:t>20762C</a:t>
            </a:r>
            <a:endParaRPr lang="en-GB" sz="12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38125"/>
            <a:ext cx="3038475" cy="3476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rgbClr val="336699"/>
                </a:solidFill>
                <a:latin typeface="Arial" panose="020B0604020202020204" pitchFamily="34" charset="0"/>
              </a:rPr>
              <a:t>9: Designing and Implementing Stored Procedures</a:t>
            </a:r>
            <a:endParaRPr lang="en-GB" sz="1200" dirty="0">
              <a:solidFill>
                <a:srgbClr val="336699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815892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25938" y="73025"/>
            <a:ext cx="2466975" cy="18510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310896" y="2093975"/>
            <a:ext cx="6153912" cy="6604000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0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6010C7-9B49-4EA1-AF90-559D5AEC0C96}" type="slidenum">
              <a:rPr lang="en-GB" smtClean="0"/>
              <a:t>35</a:t>
            </a:fld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038475" cy="22225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rgbClr val="000000"/>
                </a:solidFill>
                <a:latin typeface="Arial" panose="020B0604020202020204" pitchFamily="34" charset="0"/>
              </a:rPr>
              <a:t>20762C</a:t>
            </a:r>
            <a:endParaRPr lang="en-GB" sz="12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38125"/>
            <a:ext cx="3038475" cy="3476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rgbClr val="336699"/>
                </a:solidFill>
                <a:latin typeface="Arial" panose="020B0604020202020204" pitchFamily="34" charset="0"/>
              </a:rPr>
              <a:t>9: Designing and Implementing Stored Procedures</a:t>
            </a:r>
            <a:endParaRPr lang="en-GB" sz="1200" dirty="0">
              <a:solidFill>
                <a:srgbClr val="336699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825917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25112" y="73152"/>
            <a:ext cx="2468880" cy="185166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310896" y="2093976"/>
            <a:ext cx="6153912" cy="6604000"/>
          </a:xfrm>
        </p:spPr>
        <p:txBody>
          <a:bodyPr>
            <a:noAutofit/>
          </a:bodyPr>
          <a:lstStyle/>
          <a:p>
            <a:pPr marL="342900" lvl="0" indent="-342900">
              <a:lnSpc>
                <a:spcPct val="115000"/>
              </a:lnSpc>
              <a:spcAft>
                <a:spcPts val="995"/>
              </a:spcAft>
              <a:buFont typeface="Symbol" panose="05050102010706020507" pitchFamily="18" charset="2"/>
              <a:buChar char=""/>
            </a:pPr>
            <a:r>
              <a:rPr lang="en-US" sz="1000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Best Practice: </a:t>
            </a:r>
            <a:r>
              <a:rPr lang="en-US" sz="10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Include the SET NOCOUNT ON statement in your stored procedures immediately after the AS keyword. This improves performance.</a:t>
            </a:r>
            <a:endParaRPr lang="en-GB" sz="1000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995"/>
              </a:spcAft>
              <a:buFont typeface="Symbol" panose="05050102010706020507" pitchFamily="18" charset="2"/>
              <a:buChar char=""/>
            </a:pPr>
            <a:r>
              <a:rPr lang="en-US" sz="10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While it is not mandatory to enclose Transact-SQL statements within a BEGIN END block in a stored procedure, it is good practice and can help make stored procedures more readable.</a:t>
            </a:r>
            <a:endParaRPr lang="en-GB" sz="1000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995"/>
              </a:spcAft>
              <a:buFont typeface="Symbol" panose="05050102010706020507" pitchFamily="18" charset="2"/>
              <a:buChar char=""/>
            </a:pPr>
            <a:r>
              <a:rPr lang="en-US" sz="10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Reference objects in stored procedures using a two- or three-part naming convention. This reduces the processing that the database engine needs to perform.</a:t>
            </a:r>
            <a:endParaRPr lang="en-GB" sz="1000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000" dirty="0" smtClean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Avoid using SELECT * within a stored procedure even if you need all columns from a table. Specifying the column names explicitly reduces the chance of issues, should columns be added to a source table.</a:t>
            </a:r>
            <a:endParaRPr lang="en-GB" sz="10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6010C7-9B49-4EA1-AF90-559D5AEC0C96}" type="slidenum">
              <a:rPr lang="en-GB" smtClean="0"/>
              <a:t>36</a:t>
            </a:fld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038475" cy="22225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rgbClr val="000000"/>
                </a:solidFill>
                <a:latin typeface="Arial" panose="020B0604020202020204" pitchFamily="34" charset="0"/>
              </a:rPr>
              <a:t>20762C</a:t>
            </a:r>
            <a:endParaRPr lang="en-GB" sz="12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38125"/>
            <a:ext cx="3038475" cy="3476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rgbClr val="336699"/>
                </a:solidFill>
                <a:latin typeface="Arial" panose="020B0604020202020204" pitchFamily="34" charset="0"/>
              </a:rPr>
              <a:t>9: Designing and Implementing Stored Procedures</a:t>
            </a:r>
            <a:endParaRPr lang="en-GB" sz="1200" dirty="0">
              <a:solidFill>
                <a:srgbClr val="336699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49477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4177" y="0"/>
            <a:ext cx="9144000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26019" name="Rectangle 3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3200400" y="1828800"/>
            <a:ext cx="5732417" cy="627864"/>
          </a:xfrm>
          <a:solidFill>
            <a:srgbClr val="3399FF"/>
          </a:solidFill>
          <a:ln algn="ctr"/>
        </p:spPr>
        <p:txBody>
          <a:bodyPr wrap="square" tIns="0" rIns="0" bIns="0">
            <a:spAutoFit/>
          </a:bodyPr>
          <a:lstStyle>
            <a:lvl1pPr algn="l">
              <a:spcBef>
                <a:spcPct val="60000"/>
              </a:spcBef>
              <a:buClr>
                <a:schemeClr val="hlink"/>
              </a:buClr>
              <a:buSzPct val="90000"/>
              <a:buFontTx/>
              <a:buNone/>
              <a:defRPr sz="4800" baseline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Course #</a:t>
            </a:r>
            <a:endParaRPr lang="en-US" dirty="0"/>
          </a:p>
        </p:txBody>
      </p:sp>
      <p:sp>
        <p:nvSpPr>
          <p:cNvPr id="726020" name="Rectangle 4"/>
          <p:cNvSpPr>
            <a:spLocks noGrp="1" noChangeArrowheads="1"/>
          </p:cNvSpPr>
          <p:nvPr>
            <p:ph type="subTitle" sz="quarter" idx="1" hasCustomPrompt="1"/>
          </p:nvPr>
        </p:nvSpPr>
        <p:spPr>
          <a:xfrm>
            <a:off x="3200400" y="2895600"/>
            <a:ext cx="5775960" cy="1103872"/>
          </a:xfrm>
        </p:spPr>
        <p:txBody>
          <a:bodyPr lIns="91440" tIns="45720" rIns="91440" bIns="45720"/>
          <a:lstStyle>
            <a:lvl1pPr marL="0" indent="0" algn="l">
              <a:lnSpc>
                <a:spcPct val="95000"/>
              </a:lnSpc>
              <a:spcBef>
                <a:spcPct val="60000"/>
              </a:spcBef>
              <a:buFontTx/>
              <a:buNone/>
              <a:defRPr sz="280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Course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024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9399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53167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8788" y="992188"/>
            <a:ext cx="3798887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0075" y="992188"/>
            <a:ext cx="3800475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1352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0772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7919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429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2998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t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24945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89705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348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91263" y="0"/>
            <a:ext cx="1943100" cy="53784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8788" y="0"/>
            <a:ext cx="5680075" cy="5378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90643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564733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7040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25001" name="Rectangle 9"/>
          <p:cNvSpPr>
            <a:spLocks noChangeArrowheads="1"/>
          </p:cNvSpPr>
          <p:nvPr/>
        </p:nvSpPr>
        <p:spPr bwMode="auto">
          <a:xfrm>
            <a:off x="4763" y="731838"/>
            <a:ext cx="9136062" cy="6111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 dirty="0">
              <a:cs typeface="+mn-cs"/>
            </a:endParaRP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460375" y="-2"/>
            <a:ext cx="7773988" cy="740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Slide Title</a:t>
            </a:r>
          </a:p>
        </p:txBody>
      </p:sp>
      <p:sp>
        <p:nvSpPr>
          <p:cNvPr id="1030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8788" y="1021215"/>
            <a:ext cx="8119156" cy="5147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Body Text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24306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800">
          <a:solidFill>
            <a:schemeClr val="bg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9pPr>
    </p:titleStyle>
    <p:bodyStyle>
      <a:lvl1pPr marL="174625" indent="-17462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2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marL="458788" indent="-169863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4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2pPr>
      <a:lvl3pPr marL="854075" indent="-173038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0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3pPr>
      <a:lvl4pPr marL="1254125" indent="-165100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4pPr>
      <a:lvl5pPr marL="1544638" indent="-16827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5pPr>
      <a:lvl6pPr marL="20018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6pPr>
      <a:lvl7pPr marL="24590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7pPr>
      <a:lvl8pPr marL="29162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8pPr>
      <a:lvl9pPr marL="33734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tags" Target="../tags/tag17.xml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tags" Target="../tags/tag19.xml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tags" Target="../tags/tag21.xml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tags" Target="../tags/tag23.xml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tags" Target="../tags/tag25.xml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tags" Target="../tags/tag27.xml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tags" Target="../tags/tag29.xml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tags" Target="../tags/tag31.xml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tags" Target="../tags/tag32.xml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tags" Target="../tags/tag33.xml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tags" Target="../tags/tag34.xml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tags" Target="../tags/tag35.xml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tags" Target="../tags/tag36.xml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tags" Target="../tags/tag37.xml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bb04763b-6662-436e-bff2-e2dc0c09868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sz="quarter"/>
          </p:nvPr>
        </p:nvSpPr>
        <p:spPr>
          <a:xfrm>
            <a:off x="3200400" y="1828800"/>
            <a:ext cx="5732417" cy="1016000"/>
          </a:xfrm>
        </p:spPr>
        <p:txBody>
          <a:bodyPr/>
          <a:lstStyle/>
          <a:p>
            <a:r>
              <a:rPr lang="en-GB" dirty="0" smtClean="0"/>
              <a:t>Module 9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r>
              <a:rPr lang="en-GB" dirty="0" smtClean="0"/>
              <a:t>Designing and Implementing Stored Procedures
</a:t>
            </a:r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427624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2de11403-5404-4120-b9dc-cc323a9c3b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Module Overview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Introduction to Stored Procedures
Working with Stored Procedures
Implementing Parameterized Stored Procedures
Controlling Execution Context</a:t>
            </a:r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43049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928a0490-1281-45c5-84fe-a78eda3c30d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Lesson 1: Introduction to Stored Procedures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What Is a Stored Procedure?
Benefits of Stored Procedures
Working with System Stored Procedures
Statements Not Permitted in Stored Procedures
Demonstration: Working with System Stored Procedures and Extended Stored Procedures</a:t>
            </a:r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40215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6b815f6b-9c51-4f3a-803e-ecd54c9b54a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What Is a Stored Procedure?</a:t>
            </a:r>
            <a:endParaRPr lang="en-GB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83840" y="895955"/>
            <a:ext cx="8119156" cy="5742840"/>
          </a:xfrm>
          <a:prstGeom prst="rect">
            <a:avLst/>
          </a:prstGeom>
        </p:spPr>
        <p:txBody>
          <a:bodyPr/>
          <a:lstStyle>
            <a:lvl1pPr marL="174625" indent="-174625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90000"/>
              <a:buFont typeface="Arial" pitchFamily="34" charset="0"/>
              <a:buChar char="•"/>
              <a:defRPr sz="28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8788" indent="-169863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80000"/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54075" indent="-173038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80000"/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254125" indent="-16510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90000"/>
              <a:buFont typeface="Arial" pitchFamily="34" charset="0"/>
              <a:buChar char="•"/>
              <a:defRPr sz="18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544638" indent="-168275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90000"/>
              <a:buFont typeface="Arial" pitchFamily="34" charset="0"/>
              <a:buChar char="•"/>
              <a:defRPr sz="18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  <a:lvl6pPr marL="20018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6pPr>
            <a:lvl7pPr marL="24590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7pPr>
            <a:lvl8pPr marL="29162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8pPr>
            <a:lvl9pPr marL="33734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 sz="2400" b="0" kern="0" dirty="0">
                <a:solidFill>
                  <a:srgbClr val="000000"/>
                </a:solidFill>
              </a:rPr>
              <a:t>When applications interact with SQL Server, there are two basic ways to execute Transact-SQL code</a:t>
            </a:r>
          </a:p>
          <a:p>
            <a:pPr lvl="1"/>
            <a:r>
              <a:rPr lang="en-GB" sz="2000" b="0" kern="0" dirty="0">
                <a:solidFill>
                  <a:srgbClr val="000000"/>
                </a:solidFill>
              </a:rPr>
              <a:t>Every statement can be issued directly by the application</a:t>
            </a:r>
          </a:p>
          <a:p>
            <a:pPr lvl="1"/>
            <a:r>
              <a:rPr lang="en-GB" sz="2000" b="0" kern="0" dirty="0">
                <a:solidFill>
                  <a:srgbClr val="000000"/>
                </a:solidFill>
              </a:rPr>
              <a:t>Groups of statements can be stored on the server as stored procedures and given a name—the application then calls the procedures by name</a:t>
            </a:r>
          </a:p>
          <a:p>
            <a:pPr lvl="0"/>
            <a:r>
              <a:rPr lang="en-GB" sz="2400" b="0" kern="0" dirty="0">
                <a:solidFill>
                  <a:srgbClr val="000000"/>
                </a:solidFill>
              </a:rPr>
              <a:t>Stored procedures</a:t>
            </a:r>
          </a:p>
          <a:p>
            <a:pPr lvl="1"/>
            <a:r>
              <a:rPr lang="en-GB" sz="2000" b="0" kern="0" dirty="0">
                <a:solidFill>
                  <a:srgbClr val="000000"/>
                </a:solidFill>
              </a:rPr>
              <a:t>Are similar to procedures or methods in other languages</a:t>
            </a:r>
          </a:p>
          <a:p>
            <a:pPr lvl="1"/>
            <a:r>
              <a:rPr lang="en-GB" sz="2000" b="0" kern="0" dirty="0">
                <a:solidFill>
                  <a:srgbClr val="000000"/>
                </a:solidFill>
              </a:rPr>
              <a:t>Can have input parameters</a:t>
            </a:r>
          </a:p>
          <a:p>
            <a:pPr lvl="1"/>
            <a:r>
              <a:rPr lang="en-GB" sz="2000" b="0" kern="0" dirty="0">
                <a:solidFill>
                  <a:srgbClr val="000000"/>
                </a:solidFill>
              </a:rPr>
              <a:t>Can have output parameters</a:t>
            </a:r>
          </a:p>
          <a:p>
            <a:pPr lvl="1"/>
            <a:r>
              <a:rPr lang="en-GB" sz="2000" b="0" kern="0" dirty="0">
                <a:solidFill>
                  <a:srgbClr val="000000"/>
                </a:solidFill>
              </a:rPr>
              <a:t>Can return sets of rows</a:t>
            </a:r>
          </a:p>
          <a:p>
            <a:pPr lvl="1"/>
            <a:r>
              <a:rPr lang="en-GB" sz="2000" b="0" kern="0" dirty="0">
                <a:solidFill>
                  <a:srgbClr val="000000"/>
                </a:solidFill>
              </a:rPr>
              <a:t>Are executed by the EXECUTE Transact-SQL statement</a:t>
            </a:r>
          </a:p>
          <a:p>
            <a:pPr lvl="1"/>
            <a:r>
              <a:rPr lang="en-GB" sz="2000" b="0" kern="0" dirty="0">
                <a:solidFill>
                  <a:srgbClr val="000000"/>
                </a:solidFill>
              </a:rPr>
              <a:t>Can be created in managed code or </a:t>
            </a:r>
            <a:r>
              <a:rPr lang="en-GB" sz="2000" b="0" kern="0" dirty="0" smtClean="0">
                <a:solidFill>
                  <a:srgbClr val="000000"/>
                </a:solidFill>
              </a:rPr>
              <a:t>Transact-SQL</a:t>
            </a:r>
            <a:endParaRPr lang="en-GB" sz="2000" b="0" kern="0" dirty="0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05872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4c7c886d-73c1-43ae-971e-b0e8137cf9c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Benefits of Stored Procedures</a:t>
            </a:r>
            <a:endParaRPr lang="en-GB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8788" y="1021214"/>
            <a:ext cx="8119156" cy="5676147"/>
          </a:xfrm>
          <a:prstGeom prst="rect">
            <a:avLst/>
          </a:prstGeom>
        </p:spPr>
        <p:txBody>
          <a:bodyPr/>
          <a:lstStyle>
            <a:lvl1pPr marL="174625" indent="-174625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90000"/>
              <a:buFont typeface="Arial" pitchFamily="34" charset="0"/>
              <a:buChar char="•"/>
              <a:defRPr sz="28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8788" indent="-169863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80000"/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54075" indent="-173038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80000"/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254125" indent="-16510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90000"/>
              <a:buFont typeface="Arial" pitchFamily="34" charset="0"/>
              <a:buChar char="•"/>
              <a:defRPr sz="18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544638" indent="-168275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90000"/>
              <a:buFont typeface="Arial" pitchFamily="34" charset="0"/>
              <a:buChar char="•"/>
              <a:defRPr sz="18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  <a:lvl6pPr marL="20018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6pPr>
            <a:lvl7pPr marL="24590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7pPr>
            <a:lvl8pPr marL="29162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8pPr>
            <a:lvl9pPr marL="33734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 sz="2400" b="0" kern="0" dirty="0">
                <a:solidFill>
                  <a:srgbClr val="000000"/>
                </a:solidFill>
              </a:rPr>
              <a:t>Can enhance the security of an application</a:t>
            </a:r>
          </a:p>
          <a:p>
            <a:pPr lvl="1"/>
            <a:r>
              <a:rPr lang="en-GB" sz="2000" b="0" kern="0" dirty="0">
                <a:solidFill>
                  <a:srgbClr val="000000"/>
                </a:solidFill>
              </a:rPr>
              <a:t>Users can be given permission to execute a stored procedure without permission to the objects that it accesses</a:t>
            </a:r>
          </a:p>
          <a:p>
            <a:pPr lvl="0"/>
            <a:r>
              <a:rPr lang="en-GB" sz="2400" b="0" kern="0" dirty="0">
                <a:solidFill>
                  <a:srgbClr val="000000"/>
                </a:solidFill>
              </a:rPr>
              <a:t>Enables modular programming</a:t>
            </a:r>
          </a:p>
          <a:p>
            <a:pPr lvl="1"/>
            <a:r>
              <a:rPr lang="en-GB" sz="2000" b="0" kern="0" dirty="0">
                <a:solidFill>
                  <a:srgbClr val="000000"/>
                </a:solidFill>
              </a:rPr>
              <a:t>Create once, but call many times and from many applications</a:t>
            </a:r>
          </a:p>
          <a:p>
            <a:pPr lvl="0"/>
            <a:r>
              <a:rPr lang="en-GB" sz="2400" b="0" kern="0" dirty="0">
                <a:solidFill>
                  <a:srgbClr val="000000"/>
                </a:solidFill>
              </a:rPr>
              <a:t>Enables the delayed binding of objects</a:t>
            </a:r>
          </a:p>
          <a:p>
            <a:pPr lvl="1"/>
            <a:r>
              <a:rPr lang="en-GB" sz="2000" b="0" kern="0" dirty="0">
                <a:solidFill>
                  <a:srgbClr val="000000"/>
                </a:solidFill>
              </a:rPr>
              <a:t>Can create a stored procedure that references a database object that does not exist yet</a:t>
            </a:r>
          </a:p>
          <a:p>
            <a:pPr lvl="1"/>
            <a:r>
              <a:rPr lang="en-GB" sz="2000" b="0" kern="0" dirty="0">
                <a:solidFill>
                  <a:srgbClr val="000000"/>
                </a:solidFill>
              </a:rPr>
              <a:t>Can avoid the need for ordering in object creation</a:t>
            </a:r>
          </a:p>
          <a:p>
            <a:pPr lvl="0"/>
            <a:r>
              <a:rPr lang="en-GB" sz="2400" b="0" kern="0" dirty="0">
                <a:solidFill>
                  <a:srgbClr val="000000"/>
                </a:solidFill>
              </a:rPr>
              <a:t>Can improve performance</a:t>
            </a:r>
          </a:p>
          <a:p>
            <a:pPr lvl="1"/>
            <a:r>
              <a:rPr lang="en-GB" sz="2000" b="0" kern="0" dirty="0">
                <a:solidFill>
                  <a:srgbClr val="000000"/>
                </a:solidFill>
              </a:rPr>
              <a:t>A single statement requested across the network can execute 100s of lines of Transact-SQL code</a:t>
            </a:r>
          </a:p>
          <a:p>
            <a:pPr lvl="1"/>
            <a:r>
              <a:rPr lang="en-GB" sz="2000" b="0" kern="0" dirty="0">
                <a:solidFill>
                  <a:srgbClr val="000000"/>
                </a:solidFill>
              </a:rPr>
              <a:t>Better opportunities for execution plan </a:t>
            </a:r>
            <a:r>
              <a:rPr lang="en-GB" sz="2000" b="0" kern="0" dirty="0" smtClean="0">
                <a:solidFill>
                  <a:srgbClr val="000000"/>
                </a:solidFill>
              </a:rPr>
              <a:t>reuse</a:t>
            </a:r>
            <a:endParaRPr lang="en-GB" sz="2000" b="0" kern="0" dirty="0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538059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3c65190f-0c8d-49bf-8479-4ff8dcef448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Working with System Stored Procedures</a:t>
            </a:r>
            <a:endParaRPr lang="en-GB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8788" y="868808"/>
            <a:ext cx="8119156" cy="5676147"/>
          </a:xfrm>
          <a:prstGeom prst="rect">
            <a:avLst/>
          </a:prstGeom>
        </p:spPr>
        <p:txBody>
          <a:bodyPr/>
          <a:lstStyle>
            <a:lvl1pPr marL="174625" indent="-174625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90000"/>
              <a:buFont typeface="Arial" pitchFamily="34" charset="0"/>
              <a:buChar char="•"/>
              <a:defRPr sz="28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8788" indent="-169863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80000"/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54075" indent="-173038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80000"/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254125" indent="-16510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90000"/>
              <a:buFont typeface="Arial" pitchFamily="34" charset="0"/>
              <a:buChar char="•"/>
              <a:defRPr sz="18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544638" indent="-168275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90000"/>
              <a:buFont typeface="Arial" pitchFamily="34" charset="0"/>
              <a:buChar char="•"/>
              <a:defRPr sz="18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  <a:lvl6pPr marL="20018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6pPr>
            <a:lvl7pPr marL="24590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7pPr>
            <a:lvl8pPr marL="29162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8pPr>
            <a:lvl9pPr marL="33734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 b="0" kern="0" dirty="0">
                <a:solidFill>
                  <a:srgbClr val="000000"/>
                </a:solidFill>
              </a:rPr>
              <a:t>A large number of system stored procedures are supplied with SQL Server</a:t>
            </a:r>
          </a:p>
          <a:p>
            <a:pPr lvl="0"/>
            <a:r>
              <a:rPr lang="en-GB" b="0" kern="0" dirty="0">
                <a:solidFill>
                  <a:srgbClr val="000000"/>
                </a:solidFill>
              </a:rPr>
              <a:t>Two basic types of system stored procedure</a:t>
            </a:r>
          </a:p>
          <a:p>
            <a:pPr lvl="1"/>
            <a:r>
              <a:rPr lang="en-GB" kern="0" dirty="0">
                <a:solidFill>
                  <a:srgbClr val="000000"/>
                </a:solidFill>
              </a:rPr>
              <a:t>System stored procedures</a:t>
            </a:r>
            <a:r>
              <a:rPr lang="en-GB" b="0" kern="0" dirty="0">
                <a:solidFill>
                  <a:srgbClr val="000000"/>
                </a:solidFill>
              </a:rPr>
              <a:t>: typically used for administrative purposes either to configure servers, databases, or objects, or to view information about them</a:t>
            </a:r>
          </a:p>
          <a:p>
            <a:pPr lvl="1"/>
            <a:r>
              <a:rPr lang="en-GB" kern="0" dirty="0">
                <a:solidFill>
                  <a:srgbClr val="000000"/>
                </a:solidFill>
              </a:rPr>
              <a:t>System extended stored procedures</a:t>
            </a:r>
            <a:r>
              <a:rPr lang="en-GB" b="0" kern="0" dirty="0">
                <a:solidFill>
                  <a:srgbClr val="000000"/>
                </a:solidFill>
              </a:rPr>
              <a:t>: extend the functionality of SQL Server</a:t>
            </a:r>
          </a:p>
          <a:p>
            <a:pPr lvl="0"/>
            <a:r>
              <a:rPr lang="en-GB" b="0" kern="0" dirty="0">
                <a:solidFill>
                  <a:srgbClr val="000000"/>
                </a:solidFill>
              </a:rPr>
              <a:t>Key difference is how they are coded</a:t>
            </a:r>
          </a:p>
          <a:p>
            <a:pPr lvl="1"/>
            <a:r>
              <a:rPr lang="en-GB" b="0" kern="0" dirty="0">
                <a:solidFill>
                  <a:srgbClr val="000000"/>
                </a:solidFill>
              </a:rPr>
              <a:t>System stored procedures are Transact-SQL code in the master database</a:t>
            </a:r>
          </a:p>
          <a:p>
            <a:pPr lvl="1"/>
            <a:r>
              <a:rPr lang="en-GB" b="0" kern="0" dirty="0">
                <a:solidFill>
                  <a:srgbClr val="000000"/>
                </a:solidFill>
              </a:rPr>
              <a:t>System extended stored procedures are references to </a:t>
            </a:r>
            <a:r>
              <a:rPr lang="en-GB" b="0" kern="0" dirty="0" smtClean="0">
                <a:solidFill>
                  <a:srgbClr val="000000"/>
                </a:solidFill>
              </a:rPr>
              <a:t>DLLs</a:t>
            </a:r>
            <a:endParaRPr lang="en-GB" b="0" kern="0" dirty="0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356904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92b24d49-be88-4f50-b635-7a06cfff82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Statements Not Permitted in Stored Procedures</a:t>
            </a:r>
            <a:endParaRPr lang="en-GB" dirty="0"/>
          </a:p>
        </p:txBody>
      </p:sp>
      <p:sp>
        <p:nvSpPr>
          <p:cNvPr id="4" name="Content Placeholder 1"/>
          <p:cNvSpPr txBox="1">
            <a:spLocks/>
          </p:cNvSpPr>
          <p:nvPr/>
        </p:nvSpPr>
        <p:spPr>
          <a:xfrm>
            <a:off x="458788" y="1021215"/>
            <a:ext cx="8119156" cy="5147356"/>
          </a:xfrm>
          <a:prstGeom prst="rect">
            <a:avLst/>
          </a:prstGeom>
        </p:spPr>
        <p:txBody>
          <a:bodyPr/>
          <a:lstStyle>
            <a:lvl1pPr marL="174625" indent="-174625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90000"/>
              <a:buFont typeface="Arial" pitchFamily="34" charset="0"/>
              <a:buChar char="•"/>
              <a:defRPr sz="28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8788" indent="-169863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80000"/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54075" indent="-173038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80000"/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254125" indent="-16510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90000"/>
              <a:buFont typeface="Arial" pitchFamily="34" charset="0"/>
              <a:buChar char="•"/>
              <a:defRPr sz="18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544638" indent="-168275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90000"/>
              <a:buFont typeface="Arial" pitchFamily="34" charset="0"/>
              <a:buChar char="•"/>
              <a:defRPr sz="18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  <a:lvl6pPr marL="20018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6pPr>
            <a:lvl7pPr marL="24590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7pPr>
            <a:lvl8pPr marL="29162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8pPr>
            <a:lvl9pPr marL="33734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 b="0" kern="0" dirty="0">
                <a:solidFill>
                  <a:srgbClr val="000000"/>
                </a:solidFill>
              </a:rPr>
              <a:t>Some Transact-SQL statements are not allowed:</a:t>
            </a:r>
          </a:p>
          <a:p>
            <a:pPr lvl="2"/>
            <a:r>
              <a:rPr lang="en-GB" b="0" kern="0" dirty="0">
                <a:solidFill>
                  <a:srgbClr val="000000"/>
                </a:solidFill>
              </a:rPr>
              <a:t>CREATE AGGREGATE </a:t>
            </a:r>
          </a:p>
          <a:p>
            <a:pPr lvl="2"/>
            <a:r>
              <a:rPr lang="en-GB" b="0" kern="0" dirty="0">
                <a:solidFill>
                  <a:srgbClr val="000000"/>
                </a:solidFill>
              </a:rPr>
              <a:t>CREATE DEFAULT </a:t>
            </a:r>
          </a:p>
          <a:p>
            <a:pPr lvl="2"/>
            <a:r>
              <a:rPr lang="en-GB" b="0" kern="0" dirty="0">
                <a:solidFill>
                  <a:srgbClr val="000000"/>
                </a:solidFill>
              </a:rPr>
              <a:t>CREATE or ALTER FUNCTION </a:t>
            </a:r>
          </a:p>
          <a:p>
            <a:pPr lvl="2"/>
            <a:r>
              <a:rPr lang="en-GB" b="0" kern="0" dirty="0">
                <a:solidFill>
                  <a:srgbClr val="000000"/>
                </a:solidFill>
              </a:rPr>
              <a:t>CREATE or ALTER PROCEDURE </a:t>
            </a:r>
          </a:p>
          <a:p>
            <a:pPr lvl="2"/>
            <a:r>
              <a:rPr lang="en-GB" b="0" kern="0" dirty="0">
                <a:solidFill>
                  <a:srgbClr val="000000"/>
                </a:solidFill>
              </a:rPr>
              <a:t>SET PARSEONLY </a:t>
            </a:r>
          </a:p>
          <a:p>
            <a:pPr lvl="2"/>
            <a:r>
              <a:rPr lang="en-GB" b="0" kern="0" dirty="0">
                <a:solidFill>
                  <a:srgbClr val="000000"/>
                </a:solidFill>
              </a:rPr>
              <a:t>SET SHOWPLAN TEXT </a:t>
            </a:r>
          </a:p>
          <a:p>
            <a:pPr lvl="2"/>
            <a:r>
              <a:rPr lang="en-GB" b="0" kern="0" dirty="0">
                <a:solidFill>
                  <a:srgbClr val="000000"/>
                </a:solidFill>
              </a:rPr>
              <a:t>USE databasename </a:t>
            </a:r>
          </a:p>
          <a:p>
            <a:pPr lvl="2"/>
            <a:r>
              <a:rPr lang="en-GB" b="0" kern="0" dirty="0">
                <a:solidFill>
                  <a:srgbClr val="000000"/>
                </a:solidFill>
              </a:rPr>
              <a:t>CREATE RULE </a:t>
            </a:r>
          </a:p>
          <a:p>
            <a:pPr lvl="2"/>
            <a:r>
              <a:rPr lang="en-GB" b="0" kern="0" dirty="0">
                <a:solidFill>
                  <a:srgbClr val="000000"/>
                </a:solidFill>
              </a:rPr>
              <a:t>CREATE SCHEMA </a:t>
            </a:r>
          </a:p>
          <a:p>
            <a:pPr lvl="2"/>
            <a:r>
              <a:rPr lang="en-GB" b="0" kern="0" dirty="0">
                <a:solidFill>
                  <a:srgbClr val="000000"/>
                </a:solidFill>
              </a:rPr>
              <a:t>CREATE or ALTER TRIGGER </a:t>
            </a:r>
          </a:p>
          <a:p>
            <a:pPr lvl="2"/>
            <a:r>
              <a:rPr lang="en-GB" b="0" kern="0" dirty="0">
                <a:solidFill>
                  <a:srgbClr val="000000"/>
                </a:solidFill>
              </a:rPr>
              <a:t>CREATE or ALTER VIEW </a:t>
            </a:r>
          </a:p>
          <a:p>
            <a:pPr lvl="2"/>
            <a:r>
              <a:rPr lang="en-GB" b="0" kern="0" dirty="0">
                <a:solidFill>
                  <a:srgbClr val="000000"/>
                </a:solidFill>
              </a:rPr>
              <a:t>SET SHOWPLAN ALL or SET SHOWPLAN XML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662152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41b8e45c-5fba-47f5-a67f-a3f1ee3674c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Demonstration: Working with System Stored Procedures and Extended Stored Procedures</a:t>
            </a:r>
            <a:endParaRPr lang="en-GB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8788" y="1021215"/>
            <a:ext cx="8119156" cy="5147356"/>
          </a:xfrm>
          <a:prstGeom prst="rect">
            <a:avLst/>
          </a:prstGeom>
        </p:spPr>
        <p:txBody>
          <a:bodyPr/>
          <a:lstStyle>
            <a:lvl1pPr marL="174625" indent="-174625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90000"/>
              <a:buFont typeface="Arial" pitchFamily="34" charset="0"/>
              <a:buChar char="•"/>
              <a:defRPr sz="28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8788" indent="-169863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80000"/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54075" indent="-173038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80000"/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254125" indent="-16510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90000"/>
              <a:buFont typeface="Arial" pitchFamily="34" charset="0"/>
              <a:buChar char="•"/>
              <a:defRPr sz="18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544638" indent="-168275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90000"/>
              <a:buFont typeface="Arial" pitchFamily="34" charset="0"/>
              <a:buChar char="•"/>
              <a:defRPr sz="18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  <a:lvl6pPr marL="20018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6pPr>
            <a:lvl7pPr marL="24590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7pPr>
            <a:lvl8pPr marL="29162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8pPr>
            <a:lvl9pPr marL="33734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lvl="0" indent="0">
              <a:buNone/>
            </a:pPr>
            <a:r>
              <a:rPr lang="en-US" b="0" kern="0" dirty="0">
                <a:solidFill>
                  <a:srgbClr val="000000"/>
                </a:solidFill>
              </a:rPr>
              <a:t>In this demonstration, you will see how to:</a:t>
            </a:r>
          </a:p>
          <a:p>
            <a:pPr lvl="0"/>
            <a:r>
              <a:rPr lang="en-US" b="0" kern="0" dirty="0">
                <a:solidFill>
                  <a:srgbClr val="000000"/>
                </a:solidFill>
              </a:rPr>
              <a:t>Execute system stored procedures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080562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5519e9d4-6aca-488a-83ff-34891af5888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Lesson 2: Working with Stored Procedures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Creating a Stored Procedure
Executing a Stored Procedure
Altering a Stored Procedure
Dropping a Stored Procedure
Stored Procedures Error Handling
Transaction Handling
Stored Procedure Dependencies
Guidelines for Creating Stored Procedures
Obfuscating Stored Procedures
Demonstration: Stored Procedures</a:t>
            </a:r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515211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baf14bf-b870-475b-b06d-496e8f8413a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Creating a Stored Procedure</a:t>
            </a:r>
            <a:endParaRPr lang="en-GB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8788" y="1021215"/>
            <a:ext cx="8119156" cy="5147356"/>
          </a:xfrm>
          <a:prstGeom prst="rect">
            <a:avLst/>
          </a:prstGeom>
        </p:spPr>
        <p:txBody>
          <a:bodyPr/>
          <a:lstStyle>
            <a:lvl1pPr marL="174625" indent="-174625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90000"/>
              <a:buFont typeface="Arial" pitchFamily="34" charset="0"/>
              <a:buChar char="•"/>
              <a:defRPr sz="28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8788" indent="-169863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80000"/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54075" indent="-173038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80000"/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254125" indent="-16510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90000"/>
              <a:buFont typeface="Arial" pitchFamily="34" charset="0"/>
              <a:buChar char="•"/>
              <a:defRPr sz="18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544638" indent="-168275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90000"/>
              <a:buFont typeface="Arial" pitchFamily="34" charset="0"/>
              <a:buChar char="•"/>
              <a:defRPr sz="18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  <a:lvl6pPr marL="20018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6pPr>
            <a:lvl7pPr marL="24590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7pPr>
            <a:lvl8pPr marL="29162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8pPr>
            <a:lvl9pPr marL="33734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 sz="2400" kern="0" dirty="0">
                <a:solidFill>
                  <a:srgbClr val="000000"/>
                </a:solidFill>
              </a:rPr>
              <a:t>CREATE PROCEDURE</a:t>
            </a:r>
            <a:r>
              <a:rPr lang="en-GB" sz="2400" b="0" kern="0" dirty="0">
                <a:solidFill>
                  <a:srgbClr val="000000"/>
                </a:solidFill>
              </a:rPr>
              <a:t> is used to create new stored procedures</a:t>
            </a:r>
          </a:p>
          <a:p>
            <a:pPr lvl="0"/>
            <a:r>
              <a:rPr lang="en-GB" sz="2400" b="0" kern="0" dirty="0">
                <a:solidFill>
                  <a:srgbClr val="000000"/>
                </a:solidFill>
              </a:rPr>
              <a:t>Before SQL Server 2016 SP1, a procedure must not already exist, otherwise </a:t>
            </a:r>
            <a:r>
              <a:rPr lang="en-GB" sz="2400" kern="0" dirty="0">
                <a:solidFill>
                  <a:srgbClr val="000000"/>
                </a:solidFill>
              </a:rPr>
              <a:t>ALTER</a:t>
            </a:r>
            <a:r>
              <a:rPr lang="en-GB" sz="2400" b="0" kern="0" dirty="0">
                <a:solidFill>
                  <a:srgbClr val="000000"/>
                </a:solidFill>
              </a:rPr>
              <a:t> must be used or the procedure dropped first</a:t>
            </a:r>
          </a:p>
          <a:p>
            <a:pPr lvl="0"/>
            <a:r>
              <a:rPr lang="en-GB" sz="2400" b="0" kern="0" dirty="0">
                <a:solidFill>
                  <a:srgbClr val="000000"/>
                </a:solidFill>
              </a:rPr>
              <a:t>In SQL Server 2016 SP1 and later, the </a:t>
            </a:r>
            <a:r>
              <a:rPr lang="en-GB" sz="2400" kern="0" dirty="0">
                <a:solidFill>
                  <a:srgbClr val="000000"/>
                </a:solidFill>
              </a:rPr>
              <a:t>CREATE OR ALTER</a:t>
            </a:r>
            <a:r>
              <a:rPr lang="en-GB" sz="2400" b="0" kern="0" dirty="0">
                <a:solidFill>
                  <a:srgbClr val="000000"/>
                </a:solidFill>
              </a:rPr>
              <a:t> statement is supported</a:t>
            </a:r>
          </a:p>
          <a:p>
            <a:pPr lvl="0"/>
            <a:r>
              <a:rPr lang="en-GB" sz="2400" kern="0" dirty="0">
                <a:solidFill>
                  <a:srgbClr val="000000"/>
                </a:solidFill>
              </a:rPr>
              <a:t>CREATE PROCEDURE </a:t>
            </a:r>
            <a:r>
              <a:rPr lang="en-GB" sz="2400" b="0" kern="0" dirty="0">
                <a:solidFill>
                  <a:srgbClr val="000000"/>
                </a:solidFill>
              </a:rPr>
              <a:t>must be the only statement in a batch</a:t>
            </a:r>
          </a:p>
          <a:p>
            <a:pPr lvl="0"/>
            <a:endParaRPr lang="en-US" sz="2400" b="0" kern="0" dirty="0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386772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fe04e08-b085-4dc8-9fab-e57b11d28e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Executing a Stored Procedure</a:t>
            </a:r>
            <a:endParaRPr lang="en-GB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8788" y="1021215"/>
            <a:ext cx="8119156" cy="5147356"/>
          </a:xfrm>
          <a:prstGeom prst="rect">
            <a:avLst/>
          </a:prstGeom>
        </p:spPr>
        <p:txBody>
          <a:bodyPr/>
          <a:lstStyle>
            <a:lvl1pPr marL="174625" indent="-174625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90000"/>
              <a:buFont typeface="Arial" pitchFamily="34" charset="0"/>
              <a:buChar char="•"/>
              <a:defRPr sz="28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8788" indent="-169863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80000"/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54075" indent="-173038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80000"/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254125" indent="-16510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90000"/>
              <a:buFont typeface="Arial" pitchFamily="34" charset="0"/>
              <a:buChar char="•"/>
              <a:defRPr sz="18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544638" indent="-168275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90000"/>
              <a:buFont typeface="Arial" pitchFamily="34" charset="0"/>
              <a:buChar char="•"/>
              <a:defRPr sz="18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  <a:lvl6pPr marL="20018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6pPr>
            <a:lvl7pPr marL="24590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7pPr>
            <a:lvl8pPr marL="29162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8pPr>
            <a:lvl9pPr marL="33734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 kern="0" dirty="0">
                <a:solidFill>
                  <a:srgbClr val="000000"/>
                </a:solidFill>
              </a:rPr>
              <a:t>EXECUTE</a:t>
            </a:r>
            <a:r>
              <a:rPr lang="en-GB" b="0" kern="0" dirty="0">
                <a:solidFill>
                  <a:srgbClr val="000000"/>
                </a:solidFill>
              </a:rPr>
              <a:t> statement</a:t>
            </a:r>
          </a:p>
          <a:p>
            <a:pPr lvl="1"/>
            <a:r>
              <a:rPr lang="en-GB" b="0" kern="0" dirty="0">
                <a:solidFill>
                  <a:srgbClr val="000000"/>
                </a:solidFill>
              </a:rPr>
              <a:t>Used to execute stored procedures and other objects such as dynamic SQL statements stored in a string</a:t>
            </a:r>
          </a:p>
          <a:p>
            <a:pPr lvl="0"/>
            <a:r>
              <a:rPr lang="en-GB" b="0" kern="0" dirty="0">
                <a:solidFill>
                  <a:srgbClr val="000000"/>
                </a:solidFill>
              </a:rPr>
              <a:t>Use two- or three-part naming when executing stored procedures to avoid SQL Server having to carry out unnecessary searches</a:t>
            </a:r>
          </a:p>
          <a:p>
            <a:pPr marL="0" lvl="0" indent="0">
              <a:buNone/>
            </a:pPr>
            <a:endParaRPr lang="en-US" b="0" kern="0" dirty="0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526651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55d7df89-e616-4ae4-8e4c-b6788d4384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Altering a Stored Procedure</a:t>
            </a:r>
            <a:endParaRPr lang="en-GB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8788" y="1021215"/>
            <a:ext cx="8119156" cy="5147356"/>
          </a:xfrm>
          <a:prstGeom prst="rect">
            <a:avLst/>
          </a:prstGeom>
        </p:spPr>
        <p:txBody>
          <a:bodyPr/>
          <a:lstStyle>
            <a:lvl1pPr marL="174625" indent="-174625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90000"/>
              <a:buFont typeface="Arial" pitchFamily="34" charset="0"/>
              <a:buChar char="•"/>
              <a:defRPr sz="28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8788" indent="-169863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80000"/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54075" indent="-173038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80000"/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254125" indent="-16510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90000"/>
              <a:buFont typeface="Arial" pitchFamily="34" charset="0"/>
              <a:buChar char="•"/>
              <a:defRPr sz="18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544638" indent="-168275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90000"/>
              <a:buFont typeface="Arial" pitchFamily="34" charset="0"/>
              <a:buChar char="•"/>
              <a:defRPr sz="18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  <a:lvl6pPr marL="20018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6pPr>
            <a:lvl7pPr marL="24590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7pPr>
            <a:lvl8pPr marL="29162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8pPr>
            <a:lvl9pPr marL="33734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 kern="0" dirty="0">
                <a:solidFill>
                  <a:srgbClr val="000000"/>
                </a:solidFill>
              </a:rPr>
              <a:t>ALTER PROCEDURE</a:t>
            </a:r>
            <a:r>
              <a:rPr lang="en-GB" b="0" kern="0" dirty="0">
                <a:solidFill>
                  <a:srgbClr val="000000"/>
                </a:solidFill>
              </a:rPr>
              <a:t> statement</a:t>
            </a:r>
          </a:p>
          <a:p>
            <a:pPr lvl="1"/>
            <a:r>
              <a:rPr lang="en-GB" b="0" kern="0" dirty="0">
                <a:solidFill>
                  <a:srgbClr val="000000"/>
                </a:solidFill>
              </a:rPr>
              <a:t>Used to replace a stored procedure</a:t>
            </a:r>
          </a:p>
          <a:p>
            <a:pPr lvl="1"/>
            <a:r>
              <a:rPr lang="en-GB" b="0" kern="0" dirty="0">
                <a:solidFill>
                  <a:srgbClr val="000000"/>
                </a:solidFill>
              </a:rPr>
              <a:t>Retains the existing permissions on the procedure</a:t>
            </a:r>
          </a:p>
          <a:p>
            <a:pPr lvl="0"/>
            <a:endParaRPr lang="en-US" b="0" kern="0" dirty="0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07174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4b98b73-0d23-45dc-9edc-962377f134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Dropping a Stored Procedure</a:t>
            </a:r>
            <a:endParaRPr lang="en-GB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8788" y="1021215"/>
            <a:ext cx="8119156" cy="5147356"/>
          </a:xfrm>
          <a:prstGeom prst="rect">
            <a:avLst/>
          </a:prstGeom>
        </p:spPr>
        <p:txBody>
          <a:bodyPr/>
          <a:lstStyle>
            <a:lvl1pPr marL="174625" indent="-174625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90000"/>
              <a:buFont typeface="Arial" pitchFamily="34" charset="0"/>
              <a:buChar char="•"/>
              <a:defRPr sz="28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8788" indent="-169863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80000"/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54075" indent="-173038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80000"/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254125" indent="-16510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90000"/>
              <a:buFont typeface="Arial" pitchFamily="34" charset="0"/>
              <a:buChar char="•"/>
              <a:defRPr sz="18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544638" indent="-168275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90000"/>
              <a:buFont typeface="Arial" pitchFamily="34" charset="0"/>
              <a:buChar char="•"/>
              <a:defRPr sz="18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  <a:lvl6pPr marL="20018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6pPr>
            <a:lvl7pPr marL="24590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7pPr>
            <a:lvl8pPr marL="29162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8pPr>
            <a:lvl9pPr marL="33734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 kern="0" dirty="0">
                <a:solidFill>
                  <a:srgbClr val="000000"/>
                </a:solidFill>
              </a:rPr>
              <a:t>DROP PROCEDURE </a:t>
            </a:r>
            <a:r>
              <a:rPr lang="en-GB" b="0" kern="0" dirty="0">
                <a:solidFill>
                  <a:srgbClr val="000000"/>
                </a:solidFill>
              </a:rPr>
              <a:t>removes one or more stored procedures from the current database</a:t>
            </a:r>
          </a:p>
          <a:p>
            <a:pPr lvl="0"/>
            <a:r>
              <a:rPr lang="en-GB" b="0" kern="0" dirty="0">
                <a:solidFill>
                  <a:srgbClr val="000000"/>
                </a:solidFill>
              </a:rPr>
              <a:t>sys.procedures system view gives details on stored procedures in the current database</a:t>
            </a:r>
          </a:p>
          <a:p>
            <a:pPr lvl="0"/>
            <a:r>
              <a:rPr lang="en-GB" b="0" kern="0" dirty="0">
                <a:solidFill>
                  <a:srgbClr val="000000"/>
                </a:solidFill>
              </a:rPr>
              <a:t>sp_dropextendedproc to drop system extended stored procedures</a:t>
            </a:r>
          </a:p>
          <a:p>
            <a:pPr lvl="0"/>
            <a:endParaRPr lang="en-US" b="0" kern="0" dirty="0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851987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6663a06-c40f-4cb6-9e04-092ed86b51f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Stored Procedures Error Handling</a:t>
            </a:r>
            <a:endParaRPr lang="en-GB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8788" y="1021215"/>
            <a:ext cx="8119156" cy="5147356"/>
          </a:xfrm>
          <a:prstGeom prst="rect">
            <a:avLst/>
          </a:prstGeom>
        </p:spPr>
        <p:txBody>
          <a:bodyPr/>
          <a:lstStyle>
            <a:lvl1pPr marL="174625" indent="-174625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90000"/>
              <a:buFont typeface="Arial" pitchFamily="34" charset="0"/>
              <a:buChar char="•"/>
              <a:defRPr sz="28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8788" indent="-169863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80000"/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54075" indent="-173038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80000"/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254125" indent="-16510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90000"/>
              <a:buFont typeface="Arial" pitchFamily="34" charset="0"/>
              <a:buChar char="•"/>
              <a:defRPr sz="18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544638" indent="-168275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90000"/>
              <a:buFont typeface="Arial" pitchFamily="34" charset="0"/>
              <a:buChar char="•"/>
              <a:defRPr sz="18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  <a:lvl6pPr marL="20018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6pPr>
            <a:lvl7pPr marL="24590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7pPr>
            <a:lvl8pPr marL="29162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8pPr>
            <a:lvl9pPr marL="33734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b="0" kern="0" dirty="0">
                <a:solidFill>
                  <a:srgbClr val="000000"/>
                </a:solidFill>
              </a:rPr>
              <a:t>Include error handling in your stored procedures</a:t>
            </a:r>
          </a:p>
          <a:p>
            <a:pPr lvl="0"/>
            <a:r>
              <a:rPr lang="en-US" b="0" kern="0" dirty="0">
                <a:solidFill>
                  <a:srgbClr val="000000"/>
                </a:solidFill>
              </a:rPr>
              <a:t>Use the TRY … CATCH construct to handle errors</a:t>
            </a:r>
          </a:p>
          <a:p>
            <a:pPr lvl="0"/>
            <a:r>
              <a:rPr lang="en-US" b="0" kern="0" dirty="0">
                <a:solidFill>
                  <a:srgbClr val="000000"/>
                </a:solidFill>
              </a:rPr>
              <a:t>BEGIN TRY &lt;code&gt; END TRY</a:t>
            </a:r>
          </a:p>
          <a:p>
            <a:pPr lvl="0"/>
            <a:r>
              <a:rPr lang="en-US" b="0" kern="0" dirty="0">
                <a:solidFill>
                  <a:srgbClr val="000000"/>
                </a:solidFill>
              </a:rPr>
              <a:t>BEGIN CATCH &lt;error handling code&gt; END CATCH</a:t>
            </a:r>
          </a:p>
          <a:p>
            <a:pPr lvl="0"/>
            <a:r>
              <a:rPr lang="en-US" b="0" kern="0" dirty="0">
                <a:solidFill>
                  <a:srgbClr val="000000"/>
                </a:solidFill>
              </a:rPr>
              <a:t>Error functions used within a CATCH block</a:t>
            </a:r>
          </a:p>
          <a:p>
            <a:pPr lvl="1"/>
            <a:r>
              <a:rPr lang="en-US" b="0" kern="0" dirty="0">
                <a:solidFill>
                  <a:srgbClr val="000000"/>
                </a:solidFill>
              </a:rPr>
              <a:t>ERROR_NUMBER()</a:t>
            </a:r>
          </a:p>
          <a:p>
            <a:pPr lvl="1"/>
            <a:r>
              <a:rPr lang="en-US" b="0" kern="0" dirty="0">
                <a:solidFill>
                  <a:srgbClr val="000000"/>
                </a:solidFill>
              </a:rPr>
              <a:t>ERROR_SEVERITY()</a:t>
            </a:r>
          </a:p>
          <a:p>
            <a:pPr lvl="1"/>
            <a:r>
              <a:rPr lang="en-US" b="0" kern="0" dirty="0">
                <a:solidFill>
                  <a:srgbClr val="000000"/>
                </a:solidFill>
              </a:rPr>
              <a:t>ERROR_STATE()</a:t>
            </a:r>
          </a:p>
          <a:p>
            <a:pPr lvl="1"/>
            <a:r>
              <a:rPr lang="en-US" b="0" kern="0" dirty="0">
                <a:solidFill>
                  <a:srgbClr val="000000"/>
                </a:solidFill>
              </a:rPr>
              <a:t>ERROR_PROCEDURE()</a:t>
            </a:r>
          </a:p>
          <a:p>
            <a:pPr lvl="1"/>
            <a:r>
              <a:rPr lang="en-US" b="0" kern="0" dirty="0">
                <a:solidFill>
                  <a:srgbClr val="000000"/>
                </a:solidFill>
              </a:rPr>
              <a:t>ERROR_LINE()</a:t>
            </a:r>
          </a:p>
          <a:p>
            <a:pPr lvl="1"/>
            <a:r>
              <a:rPr lang="en-US" b="0" kern="0" dirty="0">
                <a:solidFill>
                  <a:srgbClr val="000000"/>
                </a:solidFill>
              </a:rPr>
              <a:t>ERROR_MESSAGE</a:t>
            </a:r>
            <a:r>
              <a:rPr lang="en-US" b="0" kern="0" dirty="0" smtClean="0">
                <a:solidFill>
                  <a:srgbClr val="000000"/>
                </a:solidFill>
              </a:rPr>
              <a:t>()</a:t>
            </a:r>
            <a:endParaRPr lang="en-US" b="0" kern="0" dirty="0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59186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3e51d55e-fa50-4bf3-a47b-bdea2dc6da7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Transaction Handling</a:t>
            </a:r>
            <a:endParaRPr lang="en-GB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8788" y="1021215"/>
            <a:ext cx="8119156" cy="5147356"/>
          </a:xfrm>
          <a:prstGeom prst="rect">
            <a:avLst/>
          </a:prstGeom>
        </p:spPr>
        <p:txBody>
          <a:bodyPr/>
          <a:lstStyle>
            <a:lvl1pPr marL="174625" indent="-174625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90000"/>
              <a:buFont typeface="Arial" pitchFamily="34" charset="0"/>
              <a:buChar char="•"/>
              <a:defRPr sz="28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8788" indent="-169863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80000"/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54075" indent="-173038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80000"/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254125" indent="-16510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90000"/>
              <a:buFont typeface="Arial" pitchFamily="34" charset="0"/>
              <a:buChar char="•"/>
              <a:defRPr sz="18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544638" indent="-168275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90000"/>
              <a:buFont typeface="Arial" pitchFamily="34" charset="0"/>
              <a:buChar char="•"/>
              <a:defRPr sz="18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  <a:lvl6pPr marL="20018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6pPr>
            <a:lvl7pPr marL="24590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7pPr>
            <a:lvl8pPr marL="29162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8pPr>
            <a:lvl9pPr marL="33734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 b="0" kern="0" dirty="0">
                <a:solidFill>
                  <a:srgbClr val="000000"/>
                </a:solidFill>
              </a:rPr>
              <a:t>Explicit transactions are managed with </a:t>
            </a:r>
          </a:p>
          <a:p>
            <a:pPr lvl="1"/>
            <a:r>
              <a:rPr lang="en-GB" b="0" kern="0" dirty="0">
                <a:solidFill>
                  <a:srgbClr val="000000"/>
                </a:solidFill>
              </a:rPr>
              <a:t>BEGIN TRANSACTION or BEGIN TRAN</a:t>
            </a:r>
          </a:p>
          <a:p>
            <a:pPr lvl="1"/>
            <a:r>
              <a:rPr lang="en-GB" b="0" kern="0" dirty="0">
                <a:solidFill>
                  <a:srgbClr val="000000"/>
                </a:solidFill>
              </a:rPr>
              <a:t>COMMIT TRANSACTION </a:t>
            </a:r>
          </a:p>
          <a:p>
            <a:pPr lvl="0"/>
            <a:r>
              <a:rPr lang="en-GB" b="0" kern="0" dirty="0">
                <a:solidFill>
                  <a:srgbClr val="000000"/>
                </a:solidFill>
              </a:rPr>
              <a:t>Use a TRY … CATCH block to ROLLBACK transactions</a:t>
            </a:r>
          </a:p>
          <a:p>
            <a:pPr lvl="0"/>
            <a:r>
              <a:rPr lang="en-GB" b="0" kern="0" dirty="0">
                <a:solidFill>
                  <a:srgbClr val="000000"/>
                </a:solidFill>
              </a:rPr>
              <a:t>Use to ensure the complete transaction—or nothing—is committed</a:t>
            </a:r>
          </a:p>
          <a:p>
            <a:pPr lvl="0"/>
            <a:r>
              <a:rPr lang="en-GB" b="0" kern="0" dirty="0">
                <a:solidFill>
                  <a:srgbClr val="000000"/>
                </a:solidFill>
              </a:rPr>
              <a:t>@@TRANCOUNT keeps count of the number of BEGIN TRANSACTIONS</a:t>
            </a:r>
          </a:p>
          <a:p>
            <a:pPr lvl="0"/>
            <a:r>
              <a:rPr lang="en-GB" b="0" kern="0" dirty="0">
                <a:solidFill>
                  <a:srgbClr val="000000"/>
                </a:solidFill>
              </a:rPr>
              <a:t>Use SET XACT_ABORT ON or OFF to determine how SQL Server should handle statements within a transaction</a:t>
            </a:r>
            <a:endParaRPr lang="en-US" b="0" kern="0" dirty="0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129679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87b652b9-bdc1-4bc7-87c8-904883025f5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Stored Procedure Dependencies</a:t>
            </a:r>
            <a:endParaRPr lang="en-GB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8788" y="1021215"/>
            <a:ext cx="8119156" cy="5147356"/>
          </a:xfrm>
          <a:prstGeom prst="rect">
            <a:avLst/>
          </a:prstGeom>
        </p:spPr>
        <p:txBody>
          <a:bodyPr/>
          <a:lstStyle>
            <a:lvl1pPr marL="174625" indent="-174625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90000"/>
              <a:buFont typeface="Arial" pitchFamily="34" charset="0"/>
              <a:buChar char="•"/>
              <a:defRPr sz="28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8788" indent="-169863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80000"/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54075" indent="-173038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80000"/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254125" indent="-16510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90000"/>
              <a:buFont typeface="Arial" pitchFamily="34" charset="0"/>
              <a:buChar char="•"/>
              <a:defRPr sz="18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544638" indent="-168275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90000"/>
              <a:buFont typeface="Arial" pitchFamily="34" charset="0"/>
              <a:buChar char="•"/>
              <a:defRPr sz="18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  <a:lvl6pPr marL="20018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6pPr>
            <a:lvl7pPr marL="24590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7pPr>
            <a:lvl8pPr marL="29162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8pPr>
            <a:lvl9pPr marL="33734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lvl="0" indent="0">
              <a:buNone/>
            </a:pPr>
            <a:r>
              <a:rPr lang="en-GB" b="0" kern="0" dirty="0">
                <a:solidFill>
                  <a:srgbClr val="000000"/>
                </a:solidFill>
              </a:rPr>
              <a:t>New system views replace the use of sp_depends</a:t>
            </a:r>
          </a:p>
          <a:p>
            <a:pPr lvl="0"/>
            <a:r>
              <a:rPr lang="en-GB" b="0" kern="0" dirty="0">
                <a:solidFill>
                  <a:srgbClr val="000000"/>
                </a:solidFill>
              </a:rPr>
              <a:t>sys.sql_expression_dependencies</a:t>
            </a:r>
          </a:p>
          <a:p>
            <a:pPr lvl="1"/>
            <a:r>
              <a:rPr lang="en-GB" b="0" kern="0" dirty="0">
                <a:solidFill>
                  <a:srgbClr val="000000"/>
                </a:solidFill>
              </a:rPr>
              <a:t>Contains one row per dependency by name on user-defined entities in the current database</a:t>
            </a:r>
          </a:p>
          <a:p>
            <a:pPr lvl="0"/>
            <a:r>
              <a:rPr lang="en-GB" b="0" kern="0" dirty="0">
                <a:solidFill>
                  <a:srgbClr val="000000"/>
                </a:solidFill>
              </a:rPr>
              <a:t>sys.dm_sql_referenced_entities</a:t>
            </a:r>
          </a:p>
          <a:p>
            <a:pPr lvl="1"/>
            <a:r>
              <a:rPr lang="en-GB" b="0" kern="0" dirty="0">
                <a:solidFill>
                  <a:srgbClr val="000000"/>
                </a:solidFill>
              </a:rPr>
              <a:t>Contains one row for each entity referenced by another entity</a:t>
            </a:r>
          </a:p>
          <a:p>
            <a:pPr lvl="0"/>
            <a:r>
              <a:rPr lang="en-GB" b="0" kern="0" dirty="0">
                <a:solidFill>
                  <a:srgbClr val="000000"/>
                </a:solidFill>
              </a:rPr>
              <a:t>sys. dm_sql_referencing_entities</a:t>
            </a:r>
          </a:p>
          <a:p>
            <a:pPr lvl="1"/>
            <a:r>
              <a:rPr lang="en-GB" b="0" kern="0" dirty="0">
                <a:solidFill>
                  <a:srgbClr val="000000"/>
                </a:solidFill>
              </a:rPr>
              <a:t>Contains one row for each entity referencing another entity </a:t>
            </a:r>
          </a:p>
          <a:p>
            <a:pPr lvl="0"/>
            <a:endParaRPr lang="en-US" b="0" kern="0" dirty="0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013934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a06f84d-8da1-47dc-84f4-77cde8ad2b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Guidelines for Creating Stored Procedures</a:t>
            </a:r>
            <a:endParaRPr lang="en-GB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8788" y="1021215"/>
            <a:ext cx="8119156" cy="5147356"/>
          </a:xfrm>
          <a:prstGeom prst="rect">
            <a:avLst/>
          </a:prstGeom>
        </p:spPr>
        <p:txBody>
          <a:bodyPr/>
          <a:lstStyle>
            <a:lvl1pPr marL="174625" indent="-174625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90000"/>
              <a:buFont typeface="Arial" pitchFamily="34" charset="0"/>
              <a:buChar char="•"/>
              <a:defRPr sz="28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8788" indent="-169863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80000"/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54075" indent="-173038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80000"/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254125" indent="-16510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90000"/>
              <a:buFont typeface="Arial" pitchFamily="34" charset="0"/>
              <a:buChar char="•"/>
              <a:defRPr sz="18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544638" indent="-168275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90000"/>
              <a:buFont typeface="Arial" pitchFamily="34" charset="0"/>
              <a:buChar char="•"/>
              <a:defRPr sz="18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  <a:lvl6pPr marL="20018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6pPr>
            <a:lvl7pPr marL="24590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7pPr>
            <a:lvl8pPr marL="29162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8pPr>
            <a:lvl9pPr marL="33734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 b="0" kern="0" dirty="0">
                <a:solidFill>
                  <a:srgbClr val="000000"/>
                </a:solidFill>
              </a:rPr>
              <a:t>Qualify names inside stored procedures</a:t>
            </a:r>
          </a:p>
          <a:p>
            <a:pPr lvl="0"/>
            <a:r>
              <a:rPr lang="en-GB" b="0" kern="0" dirty="0">
                <a:solidFill>
                  <a:srgbClr val="000000"/>
                </a:solidFill>
              </a:rPr>
              <a:t>Keep consistent </a:t>
            </a:r>
            <a:r>
              <a:rPr lang="en-GB" kern="0" dirty="0">
                <a:solidFill>
                  <a:srgbClr val="000000"/>
                </a:solidFill>
              </a:rPr>
              <a:t>SET</a:t>
            </a:r>
            <a:r>
              <a:rPr lang="en-GB" b="0" kern="0" dirty="0">
                <a:solidFill>
                  <a:srgbClr val="000000"/>
                </a:solidFill>
              </a:rPr>
              <a:t> options</a:t>
            </a:r>
          </a:p>
          <a:p>
            <a:pPr lvl="0"/>
            <a:r>
              <a:rPr lang="en-GB" b="0" kern="0" dirty="0">
                <a:solidFill>
                  <a:srgbClr val="000000"/>
                </a:solidFill>
              </a:rPr>
              <a:t>SET NOCOUNT ON</a:t>
            </a:r>
          </a:p>
          <a:p>
            <a:pPr lvl="0"/>
            <a:r>
              <a:rPr lang="en-GB" b="0" kern="0" dirty="0">
                <a:solidFill>
                  <a:srgbClr val="000000"/>
                </a:solidFill>
              </a:rPr>
              <a:t>Apply consistent naming conventions (and no sp_ prefix)</a:t>
            </a:r>
          </a:p>
          <a:p>
            <a:pPr lvl="0"/>
            <a:r>
              <a:rPr lang="en-GB" b="0" kern="0" dirty="0">
                <a:solidFill>
                  <a:srgbClr val="000000"/>
                </a:solidFill>
              </a:rPr>
              <a:t>Use @@nestlevel to see current nesting level (32 is the maximum number of levels)</a:t>
            </a:r>
          </a:p>
          <a:p>
            <a:pPr lvl="0"/>
            <a:r>
              <a:rPr lang="en-GB" b="0" kern="0" dirty="0">
                <a:solidFill>
                  <a:srgbClr val="000000"/>
                </a:solidFill>
              </a:rPr>
              <a:t>Use return codes to identify reasons various execution outcomes</a:t>
            </a:r>
          </a:p>
          <a:p>
            <a:pPr lvl="0"/>
            <a:r>
              <a:rPr lang="en-GB" b="0" kern="0" dirty="0">
                <a:solidFill>
                  <a:srgbClr val="000000"/>
                </a:solidFill>
              </a:rPr>
              <a:t>Keep to one procedure for each task</a:t>
            </a:r>
          </a:p>
          <a:p>
            <a:pPr marL="0" lvl="0" indent="0">
              <a:buNone/>
            </a:pPr>
            <a:endParaRPr lang="en-US" b="0" kern="0" dirty="0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894720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787d5b73-ce6d-4c1c-93c2-95285b2640a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Obfuscating Stored Procedures</a:t>
            </a:r>
            <a:endParaRPr lang="en-GB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8788" y="1021215"/>
            <a:ext cx="8119156" cy="5147356"/>
          </a:xfrm>
          <a:prstGeom prst="rect">
            <a:avLst/>
          </a:prstGeom>
        </p:spPr>
        <p:txBody>
          <a:bodyPr/>
          <a:lstStyle>
            <a:lvl1pPr marL="174625" indent="-174625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90000"/>
              <a:buFont typeface="Arial" pitchFamily="34" charset="0"/>
              <a:buChar char="•"/>
              <a:defRPr sz="28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8788" indent="-169863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80000"/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54075" indent="-173038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80000"/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254125" indent="-16510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90000"/>
              <a:buFont typeface="Arial" pitchFamily="34" charset="0"/>
              <a:buChar char="•"/>
              <a:defRPr sz="18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544638" indent="-168275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90000"/>
              <a:buFont typeface="Arial" pitchFamily="34" charset="0"/>
              <a:buChar char="•"/>
              <a:defRPr sz="18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  <a:lvl6pPr marL="20018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6pPr>
            <a:lvl7pPr marL="24590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7pPr>
            <a:lvl8pPr marL="29162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8pPr>
            <a:lvl9pPr marL="33734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 b="0" kern="0" dirty="0">
                <a:solidFill>
                  <a:srgbClr val="000000"/>
                </a:solidFill>
              </a:rPr>
              <a:t>WITH ENCRYPTION clause</a:t>
            </a:r>
          </a:p>
          <a:p>
            <a:pPr lvl="1"/>
            <a:r>
              <a:rPr lang="en-GB" b="0" kern="0" dirty="0">
                <a:solidFill>
                  <a:srgbClr val="000000"/>
                </a:solidFill>
              </a:rPr>
              <a:t>Encrypts stored procedure definition stored in SQL Server</a:t>
            </a:r>
          </a:p>
          <a:p>
            <a:pPr lvl="1"/>
            <a:r>
              <a:rPr lang="en-GB" b="0" kern="0" dirty="0">
                <a:solidFill>
                  <a:srgbClr val="000000"/>
                </a:solidFill>
              </a:rPr>
              <a:t>Protects stored procedure creation logic to a limited extent</a:t>
            </a:r>
          </a:p>
          <a:p>
            <a:pPr lvl="1"/>
            <a:r>
              <a:rPr lang="en-GB" b="0" kern="0" dirty="0">
                <a:solidFill>
                  <a:srgbClr val="000000"/>
                </a:solidFill>
              </a:rPr>
              <a:t>Is generally not recommended</a:t>
            </a:r>
          </a:p>
          <a:p>
            <a:pPr marL="0" lvl="0" indent="0">
              <a:buNone/>
            </a:pPr>
            <a:endParaRPr lang="en-US" b="0" kern="0" dirty="0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002083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5d3a7cd2-7ff8-4750-8277-6cc47e503ef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Demonstration: Stored Procedures</a:t>
            </a:r>
            <a:endParaRPr lang="en-GB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8788" y="1021215"/>
            <a:ext cx="8119156" cy="5147356"/>
          </a:xfrm>
          <a:prstGeom prst="rect">
            <a:avLst/>
          </a:prstGeom>
        </p:spPr>
        <p:txBody>
          <a:bodyPr/>
          <a:lstStyle>
            <a:lvl1pPr marL="174625" indent="-174625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90000"/>
              <a:buFont typeface="Arial" pitchFamily="34" charset="0"/>
              <a:buChar char="•"/>
              <a:defRPr sz="28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8788" indent="-169863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80000"/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54075" indent="-173038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80000"/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254125" indent="-16510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90000"/>
              <a:buFont typeface="Arial" pitchFamily="34" charset="0"/>
              <a:buChar char="•"/>
              <a:defRPr sz="18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544638" indent="-168275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90000"/>
              <a:buFont typeface="Arial" pitchFamily="34" charset="0"/>
              <a:buChar char="•"/>
              <a:defRPr sz="18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  <a:lvl6pPr marL="20018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6pPr>
            <a:lvl7pPr marL="24590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7pPr>
            <a:lvl8pPr marL="29162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8pPr>
            <a:lvl9pPr marL="33734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lvl="0" indent="0">
              <a:buNone/>
            </a:pPr>
            <a:r>
              <a:rPr lang="en-GB" b="0" kern="0" dirty="0">
                <a:solidFill>
                  <a:srgbClr val="000000"/>
                </a:solidFill>
              </a:rPr>
              <a:t>In this demonstration, you will see how to:</a:t>
            </a:r>
          </a:p>
          <a:p>
            <a:pPr lvl="0"/>
            <a:r>
              <a:rPr lang="en-GB" b="0" kern="0" dirty="0">
                <a:solidFill>
                  <a:srgbClr val="000000"/>
                </a:solidFill>
              </a:rPr>
              <a:t>Create, execute, and alter a stored procedure</a:t>
            </a:r>
          </a:p>
          <a:p>
            <a:pPr marL="0" lvl="0" indent="0">
              <a:buNone/>
            </a:pPr>
            <a:endParaRPr lang="en-US" b="0" kern="0" dirty="0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651654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16836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59803ad3-332e-4364-9307-825bc724ef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Lesson 3: Implementing Parameterized Stored Procedures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Working with Parameterized Stored Procedures
Using Input Parameters
Using Output Parameters
Parameter Sniffing and Performance</a:t>
            </a:r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993535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684553d2-d301-40a7-80fa-d153bc78760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Working with Parameterized Stored Procedures</a:t>
            </a:r>
            <a:endParaRPr lang="en-GB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8788" y="1021215"/>
            <a:ext cx="8119156" cy="5147356"/>
          </a:xfrm>
          <a:prstGeom prst="rect">
            <a:avLst/>
          </a:prstGeom>
        </p:spPr>
        <p:txBody>
          <a:bodyPr/>
          <a:lstStyle>
            <a:lvl1pPr marL="174625" indent="-174625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90000"/>
              <a:buFont typeface="Arial" pitchFamily="34" charset="0"/>
              <a:buChar char="•"/>
              <a:defRPr sz="28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8788" indent="-169863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80000"/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54075" indent="-173038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80000"/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254125" indent="-16510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90000"/>
              <a:buFont typeface="Arial" pitchFamily="34" charset="0"/>
              <a:buChar char="•"/>
              <a:defRPr sz="18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544638" indent="-168275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90000"/>
              <a:buFont typeface="Arial" pitchFamily="34" charset="0"/>
              <a:buChar char="•"/>
              <a:defRPr sz="18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  <a:lvl6pPr marL="20018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6pPr>
            <a:lvl7pPr marL="24590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7pPr>
            <a:lvl8pPr marL="29162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8pPr>
            <a:lvl9pPr marL="33734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b="0" kern="0" dirty="0">
                <a:solidFill>
                  <a:srgbClr val="000000"/>
                </a:solidFill>
              </a:rPr>
              <a:t>Parameterized stored procedures contain three major components</a:t>
            </a:r>
          </a:p>
          <a:p>
            <a:pPr lvl="1"/>
            <a:r>
              <a:rPr lang="en-US" b="0" kern="0" dirty="0">
                <a:solidFill>
                  <a:srgbClr val="000000"/>
                </a:solidFill>
              </a:rPr>
              <a:t>Input parameters</a:t>
            </a:r>
          </a:p>
          <a:p>
            <a:pPr lvl="1"/>
            <a:r>
              <a:rPr lang="en-US" b="0" kern="0" dirty="0">
                <a:solidFill>
                  <a:srgbClr val="000000"/>
                </a:solidFill>
              </a:rPr>
              <a:t>Output parameters</a:t>
            </a:r>
          </a:p>
          <a:p>
            <a:pPr lvl="1"/>
            <a:r>
              <a:rPr lang="en-US" b="0" kern="0" dirty="0">
                <a:solidFill>
                  <a:srgbClr val="000000"/>
                </a:solidFill>
              </a:rPr>
              <a:t>Return values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248429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46bc6441-74ea-456f-a24b-e5537bdd02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Using Input Parameters</a:t>
            </a:r>
            <a:endParaRPr lang="en-GB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8788" y="1021215"/>
            <a:ext cx="8119156" cy="5147356"/>
          </a:xfrm>
          <a:prstGeom prst="rect">
            <a:avLst/>
          </a:prstGeom>
        </p:spPr>
        <p:txBody>
          <a:bodyPr/>
          <a:lstStyle>
            <a:lvl1pPr marL="174625" indent="-174625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90000"/>
              <a:buFont typeface="Arial" pitchFamily="34" charset="0"/>
              <a:buChar char="•"/>
              <a:defRPr sz="28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8788" indent="-169863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80000"/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54075" indent="-173038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80000"/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254125" indent="-16510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90000"/>
              <a:buFont typeface="Arial" pitchFamily="34" charset="0"/>
              <a:buChar char="•"/>
              <a:defRPr sz="18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544638" indent="-168275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90000"/>
              <a:buFont typeface="Arial" pitchFamily="34" charset="0"/>
              <a:buChar char="•"/>
              <a:defRPr sz="18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  <a:lvl6pPr marL="20018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6pPr>
            <a:lvl7pPr marL="24590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7pPr>
            <a:lvl8pPr marL="29162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8pPr>
            <a:lvl9pPr marL="33734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b="0" kern="0" dirty="0">
                <a:solidFill>
                  <a:srgbClr val="000000"/>
                </a:solidFill>
              </a:rPr>
              <a:t>Parameters have the @ prefix, a data type, and optionally a default value</a:t>
            </a:r>
          </a:p>
          <a:p>
            <a:pPr lvl="0"/>
            <a:r>
              <a:rPr lang="en-US" b="0" kern="0" dirty="0">
                <a:solidFill>
                  <a:srgbClr val="000000"/>
                </a:solidFill>
              </a:rPr>
              <a:t>Parameters can be passed in order, or by name</a:t>
            </a:r>
          </a:p>
          <a:p>
            <a:pPr lvl="0"/>
            <a:r>
              <a:rPr lang="en-US" b="0" kern="0" dirty="0">
                <a:solidFill>
                  <a:srgbClr val="000000"/>
                </a:solidFill>
              </a:rPr>
              <a:t>Parameters should be validated early in procedure code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225672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01170552-122c-40f9-b191-6f18768e28c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Using Output Parameters</a:t>
            </a:r>
            <a:endParaRPr lang="en-GB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8788" y="1021215"/>
            <a:ext cx="8119156" cy="5147356"/>
          </a:xfrm>
          <a:prstGeom prst="rect">
            <a:avLst/>
          </a:prstGeom>
        </p:spPr>
        <p:txBody>
          <a:bodyPr/>
          <a:lstStyle>
            <a:lvl1pPr marL="174625" indent="-174625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90000"/>
              <a:buFont typeface="Arial" pitchFamily="34" charset="0"/>
              <a:buChar char="•"/>
              <a:defRPr sz="28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8788" indent="-169863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80000"/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54075" indent="-173038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80000"/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254125" indent="-16510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90000"/>
              <a:buFont typeface="Arial" pitchFamily="34" charset="0"/>
              <a:buChar char="•"/>
              <a:defRPr sz="18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544638" indent="-168275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90000"/>
              <a:buFont typeface="Arial" pitchFamily="34" charset="0"/>
              <a:buChar char="•"/>
              <a:defRPr sz="18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  <a:lvl6pPr marL="20018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6pPr>
            <a:lvl7pPr marL="24590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7pPr>
            <a:lvl8pPr marL="29162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8pPr>
            <a:lvl9pPr marL="33734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 b="0" kern="0" dirty="0">
                <a:solidFill>
                  <a:srgbClr val="000000"/>
                </a:solidFill>
              </a:rPr>
              <a:t>OUTPUT must be specified</a:t>
            </a:r>
          </a:p>
          <a:p>
            <a:pPr lvl="1"/>
            <a:r>
              <a:rPr lang="en-GB" b="0" kern="0" dirty="0">
                <a:solidFill>
                  <a:srgbClr val="000000"/>
                </a:solidFill>
              </a:rPr>
              <a:t>When declaring the parameter</a:t>
            </a:r>
          </a:p>
          <a:p>
            <a:pPr lvl="1"/>
            <a:r>
              <a:rPr lang="en-GB" b="0" kern="0" dirty="0">
                <a:solidFill>
                  <a:srgbClr val="000000"/>
                </a:solidFill>
              </a:rPr>
              <a:t>When executing the stored procedure</a:t>
            </a:r>
          </a:p>
          <a:p>
            <a:pPr lvl="0"/>
            <a:endParaRPr lang="en-US" b="0" kern="0" dirty="0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245577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4fea255e-b316-4ab2-8414-4e4b09879e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Parameter Sniffing and Performance</a:t>
            </a:r>
            <a:endParaRPr lang="en-GB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8788" y="1021215"/>
            <a:ext cx="8119156" cy="5147356"/>
          </a:xfrm>
          <a:prstGeom prst="rect">
            <a:avLst/>
          </a:prstGeom>
        </p:spPr>
        <p:txBody>
          <a:bodyPr/>
          <a:lstStyle>
            <a:lvl1pPr marL="174625" indent="-174625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90000"/>
              <a:buFont typeface="Arial" pitchFamily="34" charset="0"/>
              <a:buChar char="•"/>
              <a:defRPr sz="28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8788" indent="-169863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80000"/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54075" indent="-173038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80000"/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254125" indent="-16510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90000"/>
              <a:buFont typeface="Arial" pitchFamily="34" charset="0"/>
              <a:buChar char="•"/>
              <a:defRPr sz="18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544638" indent="-168275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90000"/>
              <a:buFont typeface="Arial" pitchFamily="34" charset="0"/>
              <a:buChar char="•"/>
              <a:defRPr sz="18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  <a:lvl6pPr marL="20018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6pPr>
            <a:lvl7pPr marL="24590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7pPr>
            <a:lvl8pPr marL="29162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8pPr>
            <a:lvl9pPr marL="33734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 sz="2400" b="0" kern="0" dirty="0">
                <a:solidFill>
                  <a:srgbClr val="000000"/>
                </a:solidFill>
              </a:rPr>
              <a:t>Query plans generated for a stored procedure are generally reused the next time the stored procedure is executed</a:t>
            </a:r>
          </a:p>
          <a:p>
            <a:pPr lvl="1"/>
            <a:r>
              <a:rPr lang="en-GB" sz="2000" b="0" kern="0" dirty="0">
                <a:solidFill>
                  <a:srgbClr val="000000"/>
                </a:solidFill>
              </a:rPr>
              <a:t>In most cases this is desirable behavior</a:t>
            </a:r>
          </a:p>
          <a:p>
            <a:pPr lvl="0"/>
            <a:r>
              <a:rPr lang="en-GB" sz="2400" b="0" kern="0" dirty="0">
                <a:solidFill>
                  <a:srgbClr val="000000"/>
                </a:solidFill>
              </a:rPr>
              <a:t>Some stored procedures can benefit from different query plans for different sets of parameters</a:t>
            </a:r>
          </a:p>
          <a:p>
            <a:pPr lvl="1"/>
            <a:r>
              <a:rPr lang="en-GB" sz="2000" b="0" kern="0" dirty="0">
                <a:solidFill>
                  <a:srgbClr val="000000"/>
                </a:solidFill>
              </a:rPr>
              <a:t>Commonly called a “parameter sniffing” problem</a:t>
            </a:r>
          </a:p>
          <a:p>
            <a:pPr lvl="0"/>
            <a:r>
              <a:rPr lang="en-GB" sz="2400" b="0" kern="0" dirty="0">
                <a:solidFill>
                  <a:srgbClr val="000000"/>
                </a:solidFill>
              </a:rPr>
              <a:t>Options for resolving:</a:t>
            </a:r>
          </a:p>
          <a:p>
            <a:pPr lvl="1"/>
            <a:r>
              <a:rPr lang="en-GB" sz="2000" kern="0" dirty="0">
                <a:solidFill>
                  <a:srgbClr val="000000"/>
                </a:solidFill>
              </a:rPr>
              <a:t>WITH RECOMPILE </a:t>
            </a:r>
            <a:r>
              <a:rPr lang="en-GB" sz="2000" b="0" kern="0" dirty="0">
                <a:solidFill>
                  <a:srgbClr val="000000"/>
                </a:solidFill>
              </a:rPr>
              <a:t>in stored procedure code</a:t>
            </a:r>
            <a:endParaRPr lang="en-GB" sz="2000" kern="0" dirty="0">
              <a:solidFill>
                <a:srgbClr val="000000"/>
              </a:solidFill>
            </a:endParaRPr>
          </a:p>
          <a:p>
            <a:pPr lvl="1"/>
            <a:r>
              <a:rPr lang="en-GB" sz="2000" b="0" kern="0" dirty="0">
                <a:solidFill>
                  <a:srgbClr val="000000"/>
                </a:solidFill>
              </a:rPr>
              <a:t>sp_recompile </a:t>
            </a:r>
          </a:p>
          <a:p>
            <a:pPr lvl="1"/>
            <a:r>
              <a:rPr lang="en-GB" sz="2000" kern="0" dirty="0">
                <a:solidFill>
                  <a:srgbClr val="000000"/>
                </a:solidFill>
              </a:rPr>
              <a:t>EXEC WITH RECOMPILE</a:t>
            </a:r>
          </a:p>
          <a:p>
            <a:pPr lvl="1"/>
            <a:r>
              <a:rPr lang="en-GB" sz="2000" kern="0" dirty="0">
                <a:solidFill>
                  <a:srgbClr val="000000"/>
                </a:solidFill>
              </a:rPr>
              <a:t>OPTION (OPTIMIZE FOR</a:t>
            </a:r>
            <a:r>
              <a:rPr lang="en-GB" sz="2000" kern="0" dirty="0" smtClean="0">
                <a:solidFill>
                  <a:srgbClr val="000000"/>
                </a:solidFill>
              </a:rPr>
              <a:t>)</a:t>
            </a:r>
            <a:endParaRPr lang="en-GB" sz="2000" kern="0" dirty="0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917829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91a594a9-72af-41ba-a346-2c5f8d90d1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Lesson 4: Controlling Execution Context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Controlling Executing Context
The EXECUTE AS Clause
Viewing Execution Context
Demonstration: Viewing Execution Context</a:t>
            </a:r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853983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23b3384-1ee2-424e-973a-841872b9c9f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Controlling Executing Context</a:t>
            </a:r>
            <a:endParaRPr lang="en-GB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8788" y="1021215"/>
            <a:ext cx="8119156" cy="5147356"/>
          </a:xfrm>
          <a:prstGeom prst="rect">
            <a:avLst/>
          </a:prstGeom>
        </p:spPr>
        <p:txBody>
          <a:bodyPr/>
          <a:lstStyle>
            <a:lvl1pPr marL="174625" indent="-174625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90000"/>
              <a:buFont typeface="Arial" pitchFamily="34" charset="0"/>
              <a:buChar char="•"/>
              <a:defRPr sz="28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8788" indent="-169863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80000"/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54075" indent="-173038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80000"/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254125" indent="-16510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90000"/>
              <a:buFont typeface="Arial" pitchFamily="34" charset="0"/>
              <a:buChar char="•"/>
              <a:defRPr sz="18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544638" indent="-168275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90000"/>
              <a:buFont typeface="Arial" pitchFamily="34" charset="0"/>
              <a:buChar char="•"/>
              <a:defRPr sz="18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  <a:lvl6pPr marL="20018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6pPr>
            <a:lvl7pPr marL="24590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7pPr>
            <a:lvl8pPr marL="29162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8pPr>
            <a:lvl9pPr marL="33734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b="0" kern="0" dirty="0">
                <a:solidFill>
                  <a:srgbClr val="000000"/>
                </a:solidFill>
              </a:rPr>
              <a:t>Security tokens</a:t>
            </a:r>
          </a:p>
          <a:p>
            <a:pPr lvl="1"/>
            <a:r>
              <a:rPr lang="en-US" b="0" kern="0" dirty="0">
                <a:solidFill>
                  <a:srgbClr val="000000"/>
                </a:solidFill>
              </a:rPr>
              <a:t>Login token</a:t>
            </a:r>
          </a:p>
          <a:p>
            <a:pPr lvl="1"/>
            <a:r>
              <a:rPr lang="en-US" b="0" kern="0" dirty="0">
                <a:solidFill>
                  <a:srgbClr val="000000"/>
                </a:solidFill>
              </a:rPr>
              <a:t>User token</a:t>
            </a:r>
          </a:p>
          <a:p>
            <a:pPr lvl="0"/>
            <a:r>
              <a:rPr lang="en-US" b="0" kern="0" dirty="0">
                <a:solidFill>
                  <a:srgbClr val="000000"/>
                </a:solidFill>
              </a:rPr>
              <a:t>Control security context using</a:t>
            </a:r>
          </a:p>
          <a:p>
            <a:pPr lvl="1"/>
            <a:r>
              <a:rPr lang="en-GB" b="0" kern="0" dirty="0">
                <a:solidFill>
                  <a:srgbClr val="000000"/>
                </a:solidFill>
              </a:rPr>
              <a:t>EXECUTE AS</a:t>
            </a:r>
            <a:endParaRPr lang="en-US" b="0" kern="0" dirty="0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284336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9d3a5bfd-8baf-4489-872d-ca1baddee88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The EXECUTE AS Clause</a:t>
            </a:r>
            <a:endParaRPr lang="en-GB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8788" y="1021215"/>
            <a:ext cx="8119156" cy="5147356"/>
          </a:xfrm>
          <a:prstGeom prst="rect">
            <a:avLst/>
          </a:prstGeom>
        </p:spPr>
        <p:txBody>
          <a:bodyPr/>
          <a:lstStyle>
            <a:lvl1pPr marL="174625" indent="-174625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90000"/>
              <a:buFont typeface="Arial" pitchFamily="34" charset="0"/>
              <a:buChar char="•"/>
              <a:defRPr sz="28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8788" indent="-169863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80000"/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54075" indent="-173038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80000"/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254125" indent="-16510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90000"/>
              <a:buFont typeface="Arial" pitchFamily="34" charset="0"/>
              <a:buChar char="•"/>
              <a:defRPr sz="18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544638" indent="-168275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90000"/>
              <a:buFont typeface="Arial" pitchFamily="34" charset="0"/>
              <a:buChar char="•"/>
              <a:defRPr sz="18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  <a:lvl6pPr marL="20018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6pPr>
            <a:lvl7pPr marL="24590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7pPr>
            <a:lvl8pPr marL="29162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8pPr>
            <a:lvl9pPr marL="33734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 b="0" kern="0" dirty="0">
                <a:solidFill>
                  <a:srgbClr val="000000"/>
                </a:solidFill>
              </a:rPr>
              <a:t>Enables impersonation</a:t>
            </a:r>
          </a:p>
          <a:p>
            <a:pPr lvl="0"/>
            <a:r>
              <a:rPr lang="en-GB" b="0" kern="0" dirty="0">
                <a:solidFill>
                  <a:srgbClr val="000000"/>
                </a:solidFill>
              </a:rPr>
              <a:t>Provides access to modules through impersonation</a:t>
            </a:r>
          </a:p>
          <a:p>
            <a:pPr lvl="0"/>
            <a:r>
              <a:rPr lang="en-GB" b="0" kern="0" dirty="0">
                <a:solidFill>
                  <a:srgbClr val="000000"/>
                </a:solidFill>
              </a:rPr>
              <a:t>Impersonate server-level principals or logins by using </a:t>
            </a:r>
            <a:r>
              <a:rPr lang="en-GB" kern="0" dirty="0">
                <a:solidFill>
                  <a:srgbClr val="000000"/>
                </a:solidFill>
              </a:rPr>
              <a:t>EXECUTE AS LOGIN</a:t>
            </a:r>
            <a:endParaRPr lang="en-GB" b="0" kern="0" dirty="0">
              <a:solidFill>
                <a:srgbClr val="000000"/>
              </a:solidFill>
            </a:endParaRPr>
          </a:p>
          <a:p>
            <a:pPr lvl="0"/>
            <a:r>
              <a:rPr lang="en-GB" b="0" kern="0" dirty="0">
                <a:solidFill>
                  <a:srgbClr val="000000"/>
                </a:solidFill>
              </a:rPr>
              <a:t>Impersonate database-level principals or users by using </a:t>
            </a:r>
            <a:r>
              <a:rPr lang="en-GB" kern="0" dirty="0">
                <a:solidFill>
                  <a:srgbClr val="000000"/>
                </a:solidFill>
              </a:rPr>
              <a:t>EXECUTE AS USER</a:t>
            </a:r>
            <a:endParaRPr lang="en-US" b="0" kern="0" dirty="0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259422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7737b134-23fc-4e34-b935-0b343440de0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Viewing Execution Context</a:t>
            </a:r>
            <a:endParaRPr lang="en-GB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8788" y="1021215"/>
            <a:ext cx="8119156" cy="5147356"/>
          </a:xfrm>
          <a:prstGeom prst="rect">
            <a:avLst/>
          </a:prstGeom>
        </p:spPr>
        <p:txBody>
          <a:bodyPr/>
          <a:lstStyle>
            <a:lvl1pPr marL="174625" indent="-174625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90000"/>
              <a:buFont typeface="Arial" pitchFamily="34" charset="0"/>
              <a:buChar char="•"/>
              <a:defRPr sz="28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8788" indent="-169863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80000"/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54075" indent="-173038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80000"/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254125" indent="-16510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90000"/>
              <a:buFont typeface="Arial" pitchFamily="34" charset="0"/>
              <a:buChar char="•"/>
              <a:defRPr sz="18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544638" indent="-168275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90000"/>
              <a:buFont typeface="Arial" pitchFamily="34" charset="0"/>
              <a:buChar char="•"/>
              <a:defRPr sz="18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  <a:lvl6pPr marL="20018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6pPr>
            <a:lvl7pPr marL="24590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7pPr>
            <a:lvl8pPr marL="29162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8pPr>
            <a:lvl9pPr marL="33734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b="0" kern="0" dirty="0">
                <a:solidFill>
                  <a:srgbClr val="000000"/>
                </a:solidFill>
              </a:rPr>
              <a:t>Details of the current security context can be viewed programmatically</a:t>
            </a:r>
          </a:p>
          <a:p>
            <a:pPr lvl="0"/>
            <a:r>
              <a:rPr lang="en-US" b="0" kern="0" dirty="0">
                <a:solidFill>
                  <a:srgbClr val="000000"/>
                </a:solidFill>
              </a:rPr>
              <a:t>sys.login_token shows the login-related details</a:t>
            </a:r>
          </a:p>
          <a:p>
            <a:pPr lvl="0"/>
            <a:r>
              <a:rPr lang="en-US" b="0" kern="0" dirty="0">
                <a:solidFill>
                  <a:srgbClr val="000000"/>
                </a:solidFill>
              </a:rPr>
              <a:t>sys.user_token shows all tokens that are associated with a user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433013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956116e1-f576-4c2b-bfc9-c882d198d0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Demonstration: Viewing Execution Context</a:t>
            </a:r>
            <a:endParaRPr lang="en-GB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8788" y="1021215"/>
            <a:ext cx="8119156" cy="5147356"/>
          </a:xfrm>
          <a:prstGeom prst="rect">
            <a:avLst/>
          </a:prstGeom>
        </p:spPr>
        <p:txBody>
          <a:bodyPr/>
          <a:lstStyle>
            <a:lvl1pPr marL="174625" indent="-174625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90000"/>
              <a:buFont typeface="Arial" pitchFamily="34" charset="0"/>
              <a:buChar char="•"/>
              <a:defRPr sz="28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8788" indent="-169863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80000"/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54075" indent="-173038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80000"/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254125" indent="-16510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90000"/>
              <a:buFont typeface="Arial" pitchFamily="34" charset="0"/>
              <a:buChar char="•"/>
              <a:defRPr sz="18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544638" indent="-168275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90000"/>
              <a:buFont typeface="Arial" pitchFamily="34" charset="0"/>
              <a:buChar char="•"/>
              <a:defRPr sz="18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  <a:lvl6pPr marL="20018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6pPr>
            <a:lvl7pPr marL="24590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7pPr>
            <a:lvl8pPr marL="29162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8pPr>
            <a:lvl9pPr marL="33734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lvl="0" indent="0">
              <a:buNone/>
            </a:pPr>
            <a:r>
              <a:rPr lang="en-GB" b="0" kern="0" dirty="0">
                <a:solidFill>
                  <a:srgbClr val="000000"/>
                </a:solidFill>
              </a:rPr>
              <a:t>In this demonstration, you will see how to:</a:t>
            </a:r>
          </a:p>
          <a:p>
            <a:pPr lvl="0"/>
            <a:r>
              <a:rPr lang="en-GB" b="0" kern="0" dirty="0">
                <a:solidFill>
                  <a:srgbClr val="000000"/>
                </a:solidFill>
              </a:rPr>
              <a:t>View and change the execution context</a:t>
            </a:r>
          </a:p>
          <a:p>
            <a:pPr lvl="0"/>
            <a:endParaRPr lang="en-US" b="0" kern="0" dirty="0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431283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934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78524f4-f525-4971-9089-e4c6054d3a9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Lab: Designing and Implementing Stored Procedures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Exercise 1: Create Stored Procedures
Exercise 2: Create Parameterized Stored Procedures
Exercise 3: Change Stored Procedure Execution Context</a:t>
            </a:r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458788" y="3745141"/>
            <a:ext cx="3383683" cy="523220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GB" sz="2800" dirty="0" smtClean="0">
                <a:latin typeface="Segoe UI" panose="020B0502040204020203" pitchFamily="34" charset="0"/>
              </a:rPr>
              <a:t>Logon Information</a:t>
            </a:r>
            <a:endParaRPr lang="en-GB" sz="2800" dirty="0">
              <a:latin typeface="Segoe UI" panose="020B0502040204020203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8788" y="4126141"/>
            <a:ext cx="6970050" cy="1384995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GB" sz="2800" b="0" dirty="0">
                <a:latin typeface="Segoe UI" panose="020B0502040204020203" pitchFamily="34" charset="0"/>
              </a:rPr>
              <a:t>Virtual machine: </a:t>
            </a:r>
            <a:r>
              <a:rPr lang="en-GB" sz="2800" dirty="0">
                <a:latin typeface="Segoe UI" panose="020B0502040204020203" pitchFamily="34" charset="0"/>
              </a:rPr>
              <a:t>20762C-MIA-SQL</a:t>
            </a:r>
            <a:r>
              <a:rPr lang="en-GB" sz="2800" b="0" dirty="0">
                <a:latin typeface="Segoe UI" panose="020B0502040204020203" pitchFamily="34" charset="0"/>
              </a:rPr>
              <a:t> </a:t>
            </a:r>
          </a:p>
          <a:p>
            <a:r>
              <a:rPr lang="en-GB" sz="2800" b="0" dirty="0">
                <a:latin typeface="Segoe UI" panose="020B0502040204020203" pitchFamily="34" charset="0"/>
              </a:rPr>
              <a:t>User name: </a:t>
            </a:r>
            <a:r>
              <a:rPr lang="en-GB" sz="2800" dirty="0">
                <a:latin typeface="Segoe UI" panose="020B0502040204020203" pitchFamily="34" charset="0"/>
              </a:rPr>
              <a:t>ADVENTUREWORKS\Student</a:t>
            </a:r>
            <a:endParaRPr lang="en-GB" sz="2800" b="0" dirty="0">
              <a:latin typeface="Segoe UI" panose="020B0502040204020203" pitchFamily="34" charset="0"/>
            </a:endParaRPr>
          </a:p>
          <a:p>
            <a:r>
              <a:rPr lang="en-GB" sz="2800" b="0" dirty="0">
                <a:latin typeface="Segoe UI" panose="020B0502040204020203" pitchFamily="34" charset="0"/>
              </a:rPr>
              <a:t>Password:</a:t>
            </a:r>
            <a:r>
              <a:rPr lang="en-GB" sz="2800" dirty="0">
                <a:latin typeface="Segoe UI" panose="020B0502040204020203" pitchFamily="34" charset="0"/>
              </a:rPr>
              <a:t> Pa55w.rd</a:t>
            </a:r>
            <a:endParaRPr lang="en-GB" sz="2800" b="0" dirty="0">
              <a:latin typeface="Segoe UI" panose="020B0502040204020203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8788" y="6163356"/>
            <a:ext cx="4856201" cy="523220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GB" sz="2800" dirty="0" smtClean="0">
                <a:latin typeface="Segoe UI" panose="020B0502040204020203" pitchFamily="34" charset="0"/>
              </a:rPr>
              <a:t>Estimated Time: 45 minutes</a:t>
            </a:r>
            <a:endParaRPr lang="en-GB" sz="2800" dirty="0">
              <a:latin typeface="Segoe UI" panose="020B0502040204020203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001399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13215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ab Scenario8607072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Lab Scenario</a:t>
            </a:r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458788" y="1021215"/>
            <a:ext cx="8119156" cy="18158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800"/>
              </a:spcAft>
            </a:pPr>
            <a:r>
              <a:rPr lang="en-GB" sz="2800" b="0" dirty="0"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You need to create a set of stored procedures to support a new reporting application. The procedures will be created within a new Reports schema.</a:t>
            </a:r>
            <a:endParaRPr lang="en-GB" sz="2800" b="0" dirty="0">
              <a:effectLst/>
              <a:latin typeface="Segoe UI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677959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b8c125e-fda8-4f71-8c46-4c5b0f0f35c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Lab Review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this lab, you learned how to create a stored procedure. You also learned how to change the execution context of a stored procedure and create a parameterized stored procedure.</a:t>
            </a: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919763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odule_Re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Module Review and Takeaways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Best Practice</a:t>
            </a:r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4343981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3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NG_MOC_Core_ModuleNew2">
  <a:themeElements>
    <a:clrScheme name="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FFFFFF"/>
      </a:accent1>
      <a:accent2>
        <a:srgbClr val="8DACD0"/>
      </a:accent2>
      <a:accent3>
        <a:srgbClr val="FFFFFF"/>
      </a:accent3>
      <a:accent4>
        <a:srgbClr val="000000"/>
      </a:accent4>
      <a:accent5>
        <a:srgbClr val="FFFFFF"/>
      </a:accent5>
      <a:accent6>
        <a:srgbClr val="7F9BBC"/>
      </a:accent6>
      <a:hlink>
        <a:srgbClr val="006699"/>
      </a:hlink>
      <a:folHlink>
        <a:srgbClr val="000066"/>
      </a:folHlink>
    </a:clrScheme>
    <a:fontScheme name="2_Master_Templat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2_Master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8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1FEF9"/>
        </a:accent1>
        <a:accent2>
          <a:srgbClr val="DC0081"/>
        </a:accent2>
        <a:accent3>
          <a:srgbClr val="FFFFFF"/>
        </a:accent3>
        <a:accent4>
          <a:srgbClr val="000000"/>
        </a:accent4>
        <a:accent5>
          <a:srgbClr val="DDFEFB"/>
        </a:accent5>
        <a:accent6>
          <a:srgbClr val="C70074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9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0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3333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00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2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99CC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66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436F9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5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E4BB0E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6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FFFFF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NG_MOC_Core_ModuleNew</Template>
  <TotalTime>17</TotalTime>
  <Words>3140</Words>
  <Application>Microsoft Office PowerPoint</Application>
  <PresentationFormat>On-screen Show (4:3)</PresentationFormat>
  <Paragraphs>444</Paragraphs>
  <Slides>36</Slides>
  <Notes>36</Notes>
  <HiddenSlides>3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7" baseType="lpstr">
      <vt:lpstr>Calibri</vt:lpstr>
      <vt:lpstr>Wingdings</vt:lpstr>
      <vt:lpstr>SimSun</vt:lpstr>
      <vt:lpstr>Verdana</vt:lpstr>
      <vt:lpstr>Times New Roman</vt:lpstr>
      <vt:lpstr>Mangal</vt:lpstr>
      <vt:lpstr>Segoe</vt:lpstr>
      <vt:lpstr>Segoe UI</vt:lpstr>
      <vt:lpstr>Symbol</vt:lpstr>
      <vt:lpstr>Arial</vt:lpstr>
      <vt:lpstr>NG_MOC_Core_ModuleNew2</vt:lpstr>
      <vt:lpstr>Module 9</vt:lpstr>
      <vt:lpstr>Module Overview</vt:lpstr>
      <vt:lpstr>Lesson 1: Introduction to Stored Procedures</vt:lpstr>
      <vt:lpstr>What Is a Stored Procedure?</vt:lpstr>
      <vt:lpstr>Benefits of Stored Procedures</vt:lpstr>
      <vt:lpstr>Working with System Stored Procedures</vt:lpstr>
      <vt:lpstr>Statements Not Permitted in Stored Procedures</vt:lpstr>
      <vt:lpstr>Demonstration: Working with System Stored Procedures and Extended Stored Procedures</vt:lpstr>
      <vt:lpstr>Lesson 2: Working with Stored Procedures</vt:lpstr>
      <vt:lpstr>Creating a Stored Procedure</vt:lpstr>
      <vt:lpstr>Executing a Stored Procedure</vt:lpstr>
      <vt:lpstr>Altering a Stored Procedure</vt:lpstr>
      <vt:lpstr>Dropping a Stored Procedure</vt:lpstr>
      <vt:lpstr>Stored Procedures Error Handling</vt:lpstr>
      <vt:lpstr>Transaction Handling</vt:lpstr>
      <vt:lpstr>Stored Procedure Dependencies</vt:lpstr>
      <vt:lpstr>Guidelines for Creating Stored Procedures</vt:lpstr>
      <vt:lpstr>Obfuscating Stored Procedures</vt:lpstr>
      <vt:lpstr>Demonstration: Stored Procedures</vt:lpstr>
      <vt:lpstr>PowerPoint Presentation</vt:lpstr>
      <vt:lpstr>Lesson 3: Implementing Parameterized Stored Procedures</vt:lpstr>
      <vt:lpstr>Working with Parameterized Stored Procedures</vt:lpstr>
      <vt:lpstr>Using Input Parameters</vt:lpstr>
      <vt:lpstr>Using Output Parameters</vt:lpstr>
      <vt:lpstr>Parameter Sniffing and Performance</vt:lpstr>
      <vt:lpstr>Lesson 4: Controlling Execution Context</vt:lpstr>
      <vt:lpstr>Controlling Executing Context</vt:lpstr>
      <vt:lpstr>The EXECUTE AS Clause</vt:lpstr>
      <vt:lpstr>Viewing Execution Context</vt:lpstr>
      <vt:lpstr>Demonstration: Viewing Execution Context</vt:lpstr>
      <vt:lpstr>PowerPoint Presentation</vt:lpstr>
      <vt:lpstr>Lab: Designing and Implementing Stored Procedures</vt:lpstr>
      <vt:lpstr>PowerPoint Presentation</vt:lpstr>
      <vt:lpstr>Lab Scenario</vt:lpstr>
      <vt:lpstr>Lab Review</vt:lpstr>
      <vt:lpstr>Module Review and Takeaways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9</dc:title>
  <dc:creator/>
  <cp:lastModifiedBy/>
  <cp:revision>4</cp:revision>
  <dcterms:created xsi:type="dcterms:W3CDTF">2017-11-24T11:50:20Z</dcterms:created>
  <dcterms:modified xsi:type="dcterms:W3CDTF">2017-11-24T16:25:21Z</dcterms:modified>
  <dc:descript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CD63ED9A-7C04-454D-B88D-3851D3601379</vt:lpwstr>
  </property>
  <property fmtid="{D5CDD505-2E9C-101B-9397-08002B2CF9AE}" pid="3" name="ArticulatePath">
    <vt:lpwstr>20762C_09</vt:lpwstr>
  </property>
</Properties>
</file>