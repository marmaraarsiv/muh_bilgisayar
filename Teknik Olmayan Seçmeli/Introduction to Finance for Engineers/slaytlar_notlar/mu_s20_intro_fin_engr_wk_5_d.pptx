
<file path=[Content_Types].xml><?xml version="1.0" encoding="utf-8"?>
<Types xmlns="http://schemas.openxmlformats.org/package/2006/content-types">
  <Default Extension="emf" ContentType="image/x-emf"/>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494" r:id="rId2"/>
    <p:sldId id="569" r:id="rId3"/>
    <p:sldId id="570" r:id="rId4"/>
    <p:sldId id="552" r:id="rId5"/>
    <p:sldId id="551" r:id="rId6"/>
    <p:sldId id="554" r:id="rId7"/>
    <p:sldId id="518" r:id="rId8"/>
    <p:sldId id="543" r:id="rId9"/>
    <p:sldId id="544" r:id="rId10"/>
    <p:sldId id="545" r:id="rId11"/>
    <p:sldId id="546" r:id="rId12"/>
    <p:sldId id="519" r:id="rId13"/>
    <p:sldId id="539" r:id="rId14"/>
    <p:sldId id="540" r:id="rId15"/>
    <p:sldId id="541" r:id="rId16"/>
    <p:sldId id="533" r:id="rId17"/>
    <p:sldId id="575" r:id="rId18"/>
    <p:sldId id="576" r:id="rId19"/>
    <p:sldId id="534" r:id="rId20"/>
    <p:sldId id="535" r:id="rId21"/>
    <p:sldId id="536" r:id="rId22"/>
    <p:sldId id="537" r:id="rId23"/>
    <p:sldId id="538" r:id="rId24"/>
    <p:sldId id="522" r:id="rId25"/>
    <p:sldId id="572" r:id="rId26"/>
    <p:sldId id="571" r:id="rId27"/>
    <p:sldId id="557" r:id="rId28"/>
    <p:sldId id="574" r:id="rId29"/>
    <p:sldId id="558" r:id="rId30"/>
    <p:sldId id="559" r:id="rId31"/>
    <p:sldId id="573" r:id="rId32"/>
    <p:sldId id="564" r:id="rId33"/>
  </p:sldIdLst>
  <p:sldSz cx="9144000" cy="6858000" type="screen4x3"/>
  <p:notesSz cx="6858000" cy="9945688"/>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000066"/>
    <a:srgbClr val="0000CC"/>
    <a:srgbClr val="FF6600"/>
    <a:srgbClr val="FFFFFF"/>
    <a:srgbClr val="3333CC"/>
    <a:srgbClr val="FF9900"/>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2" autoAdjust="0"/>
  </p:normalViewPr>
  <p:slideViewPr>
    <p:cSldViewPr>
      <p:cViewPr varScale="1">
        <p:scale>
          <a:sx n="67" d="100"/>
          <a:sy n="67" d="100"/>
        </p:scale>
        <p:origin x="814"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handoutMaster" Target="handoutMasters/handout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983" cy="497285"/>
          </a:xfrm>
          <a:prstGeom prst="rect">
            <a:avLst/>
          </a:prstGeom>
        </p:spPr>
        <p:txBody>
          <a:bodyPr vert="horz" lIns="91111" tIns="45555" rIns="91111" bIns="45555" rtlCol="0"/>
          <a:lstStyle>
            <a:lvl1pPr algn="l">
              <a:defRPr sz="1200"/>
            </a:lvl1pPr>
          </a:lstStyle>
          <a:p>
            <a:endParaRPr lang="tr-TR"/>
          </a:p>
        </p:txBody>
      </p:sp>
      <p:sp>
        <p:nvSpPr>
          <p:cNvPr id="3" name="Date Placeholder 2"/>
          <p:cNvSpPr>
            <a:spLocks noGrp="1"/>
          </p:cNvSpPr>
          <p:nvPr>
            <p:ph type="dt" sz="quarter" idx="1"/>
          </p:nvPr>
        </p:nvSpPr>
        <p:spPr>
          <a:xfrm>
            <a:off x="3884924" y="1"/>
            <a:ext cx="2971982" cy="497285"/>
          </a:xfrm>
          <a:prstGeom prst="rect">
            <a:avLst/>
          </a:prstGeom>
        </p:spPr>
        <p:txBody>
          <a:bodyPr vert="horz" lIns="91111" tIns="45555" rIns="91111" bIns="45555" rtlCol="0"/>
          <a:lstStyle>
            <a:lvl1pPr algn="r">
              <a:defRPr sz="1200"/>
            </a:lvl1pPr>
          </a:lstStyle>
          <a:p>
            <a:fld id="{41DD2113-24C6-4329-AB40-201D9F0A72C4}" type="datetimeFigureOut">
              <a:rPr lang="tr-TR" smtClean="0"/>
              <a:t>20.03.2020</a:t>
            </a:fld>
            <a:endParaRPr lang="tr-TR"/>
          </a:p>
        </p:txBody>
      </p:sp>
      <p:sp>
        <p:nvSpPr>
          <p:cNvPr id="4" name="Footer Placeholder 3"/>
          <p:cNvSpPr>
            <a:spLocks noGrp="1"/>
          </p:cNvSpPr>
          <p:nvPr>
            <p:ph type="ftr" sz="quarter" idx="2"/>
          </p:nvPr>
        </p:nvSpPr>
        <p:spPr>
          <a:xfrm>
            <a:off x="0" y="9446102"/>
            <a:ext cx="2971983" cy="497285"/>
          </a:xfrm>
          <a:prstGeom prst="rect">
            <a:avLst/>
          </a:prstGeom>
        </p:spPr>
        <p:txBody>
          <a:bodyPr vert="horz" lIns="91111" tIns="45555" rIns="91111" bIns="45555" rtlCol="0" anchor="b"/>
          <a:lstStyle>
            <a:lvl1pPr algn="l">
              <a:defRPr sz="1200"/>
            </a:lvl1pPr>
          </a:lstStyle>
          <a:p>
            <a:endParaRPr lang="tr-TR"/>
          </a:p>
        </p:txBody>
      </p:sp>
      <p:sp>
        <p:nvSpPr>
          <p:cNvPr id="5" name="Slide Number Placeholder 4"/>
          <p:cNvSpPr>
            <a:spLocks noGrp="1"/>
          </p:cNvSpPr>
          <p:nvPr>
            <p:ph type="sldNum" sz="quarter" idx="3"/>
          </p:nvPr>
        </p:nvSpPr>
        <p:spPr>
          <a:xfrm>
            <a:off x="3884924" y="9446102"/>
            <a:ext cx="2971982" cy="497285"/>
          </a:xfrm>
          <a:prstGeom prst="rect">
            <a:avLst/>
          </a:prstGeom>
        </p:spPr>
        <p:txBody>
          <a:bodyPr vert="horz" lIns="91111" tIns="45555" rIns="91111" bIns="45555" rtlCol="0" anchor="b"/>
          <a:lstStyle>
            <a:lvl1pPr algn="r">
              <a:defRPr sz="1200"/>
            </a:lvl1pPr>
          </a:lstStyle>
          <a:p>
            <a:fld id="{7F4D469E-94F5-4441-A8A1-33E94B5433C8}" type="slidenum">
              <a:rPr lang="tr-TR" smtClean="0"/>
              <a:t>‹#›</a:t>
            </a:fld>
            <a:endParaRPr lang="tr-TR"/>
          </a:p>
        </p:txBody>
      </p:sp>
    </p:spTree>
    <p:extLst>
      <p:ext uri="{BB962C8B-B14F-4D97-AF65-F5344CB8AC3E}">
        <p14:creationId xmlns:p14="http://schemas.microsoft.com/office/powerpoint/2010/main" val="28919393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71801" cy="497285"/>
          </a:xfrm>
          <a:prstGeom prst="rect">
            <a:avLst/>
          </a:prstGeom>
        </p:spPr>
        <p:txBody>
          <a:bodyPr vert="horz" lIns="91111" tIns="45555" rIns="91111" bIns="45555" rtlCol="0"/>
          <a:lstStyle>
            <a:lvl1pPr algn="l">
              <a:defRPr sz="1200"/>
            </a:lvl1pPr>
          </a:lstStyle>
          <a:p>
            <a:endParaRPr lang="tr-TR"/>
          </a:p>
        </p:txBody>
      </p:sp>
      <p:sp>
        <p:nvSpPr>
          <p:cNvPr id="3" name="Date Placeholder 2"/>
          <p:cNvSpPr>
            <a:spLocks noGrp="1"/>
          </p:cNvSpPr>
          <p:nvPr>
            <p:ph type="dt" idx="1"/>
          </p:nvPr>
        </p:nvSpPr>
        <p:spPr>
          <a:xfrm>
            <a:off x="3884613" y="1"/>
            <a:ext cx="2971801" cy="497285"/>
          </a:xfrm>
          <a:prstGeom prst="rect">
            <a:avLst/>
          </a:prstGeom>
        </p:spPr>
        <p:txBody>
          <a:bodyPr vert="horz" lIns="91111" tIns="45555" rIns="91111" bIns="45555" rtlCol="0"/>
          <a:lstStyle>
            <a:lvl1pPr algn="r">
              <a:defRPr sz="1200"/>
            </a:lvl1pPr>
          </a:lstStyle>
          <a:p>
            <a:fld id="{D48C765E-539C-483F-BCDF-F0F0AD79452C}" type="datetimeFigureOut">
              <a:rPr lang="tr-TR" smtClean="0"/>
              <a:pPr/>
              <a:t>20.03.2020</a:t>
            </a:fld>
            <a:endParaRPr lang="tr-TR"/>
          </a:p>
        </p:txBody>
      </p:sp>
      <p:sp>
        <p:nvSpPr>
          <p:cNvPr id="4" name="Slide Image Placeholder 3"/>
          <p:cNvSpPr>
            <a:spLocks noGrp="1" noRot="1" noChangeAspect="1"/>
          </p:cNvSpPr>
          <p:nvPr>
            <p:ph type="sldImg" idx="2"/>
          </p:nvPr>
        </p:nvSpPr>
        <p:spPr>
          <a:xfrm>
            <a:off x="942975" y="746125"/>
            <a:ext cx="4972050" cy="3729038"/>
          </a:xfrm>
          <a:prstGeom prst="rect">
            <a:avLst/>
          </a:prstGeom>
          <a:noFill/>
          <a:ln w="12700">
            <a:solidFill>
              <a:prstClr val="black"/>
            </a:solidFill>
          </a:ln>
        </p:spPr>
        <p:txBody>
          <a:bodyPr vert="horz" lIns="91111" tIns="45555" rIns="91111" bIns="45555" rtlCol="0" anchor="ctr"/>
          <a:lstStyle/>
          <a:p>
            <a:endParaRPr lang="tr-TR"/>
          </a:p>
        </p:txBody>
      </p:sp>
      <p:sp>
        <p:nvSpPr>
          <p:cNvPr id="5" name="Notes Placeholder 4"/>
          <p:cNvSpPr>
            <a:spLocks noGrp="1"/>
          </p:cNvSpPr>
          <p:nvPr>
            <p:ph type="body" sz="quarter" idx="3"/>
          </p:nvPr>
        </p:nvSpPr>
        <p:spPr>
          <a:xfrm>
            <a:off x="685800" y="4724203"/>
            <a:ext cx="5486400" cy="4475561"/>
          </a:xfrm>
          <a:prstGeom prst="rect">
            <a:avLst/>
          </a:prstGeom>
        </p:spPr>
        <p:txBody>
          <a:bodyPr vert="horz" lIns="91111" tIns="45555" rIns="91111" bIns="45555"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6" name="Footer Placeholder 5"/>
          <p:cNvSpPr>
            <a:spLocks noGrp="1"/>
          </p:cNvSpPr>
          <p:nvPr>
            <p:ph type="ftr" sz="quarter" idx="4"/>
          </p:nvPr>
        </p:nvSpPr>
        <p:spPr>
          <a:xfrm>
            <a:off x="1" y="9446678"/>
            <a:ext cx="2971801" cy="497285"/>
          </a:xfrm>
          <a:prstGeom prst="rect">
            <a:avLst/>
          </a:prstGeom>
        </p:spPr>
        <p:txBody>
          <a:bodyPr vert="horz" lIns="91111" tIns="45555" rIns="91111" bIns="45555"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9446678"/>
            <a:ext cx="2971801" cy="497285"/>
          </a:xfrm>
          <a:prstGeom prst="rect">
            <a:avLst/>
          </a:prstGeom>
        </p:spPr>
        <p:txBody>
          <a:bodyPr vert="horz" lIns="91111" tIns="45555" rIns="91111" bIns="45555" rtlCol="0" anchor="b"/>
          <a:lstStyle>
            <a:lvl1pPr algn="r">
              <a:defRPr sz="1200"/>
            </a:lvl1pPr>
          </a:lstStyle>
          <a:p>
            <a:fld id="{AE8B6D33-EF40-4511-BB6D-F4559DCC6EDC}" type="slidenum">
              <a:rPr lang="tr-TR" smtClean="0"/>
              <a:pPr/>
              <a:t>‹#›</a:t>
            </a:fld>
            <a:endParaRPr lang="tr-TR"/>
          </a:p>
        </p:txBody>
      </p:sp>
    </p:spTree>
    <p:extLst>
      <p:ext uri="{BB962C8B-B14F-4D97-AF65-F5344CB8AC3E}">
        <p14:creationId xmlns:p14="http://schemas.microsoft.com/office/powerpoint/2010/main" val="385840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a:p>
        </p:txBody>
      </p:sp>
      <p:sp>
        <p:nvSpPr>
          <p:cNvPr id="4" name="Slayt Numarası Yer Tutucusu 3"/>
          <p:cNvSpPr>
            <a:spLocks noGrp="1"/>
          </p:cNvSpPr>
          <p:nvPr>
            <p:ph type="sldNum" sz="quarter" idx="10"/>
          </p:nvPr>
        </p:nvSpPr>
        <p:spPr/>
        <p:txBody>
          <a:bodyPr/>
          <a:lstStyle/>
          <a:p>
            <a:fld id="{AE8B6D33-EF40-4511-BB6D-F4559DCC6EDC}" type="slidenum">
              <a:rPr lang="tr-TR" smtClean="0"/>
              <a:pPr/>
              <a:t>1</a:t>
            </a:fld>
            <a:endParaRPr lang="tr-TR"/>
          </a:p>
        </p:txBody>
      </p:sp>
    </p:spTree>
    <p:extLst>
      <p:ext uri="{BB962C8B-B14F-4D97-AF65-F5344CB8AC3E}">
        <p14:creationId xmlns:p14="http://schemas.microsoft.com/office/powerpoint/2010/main" val="3184704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259827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805663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658002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656185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6620058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4131184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6862408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269489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9227065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1206022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5403492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41113651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9220128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7942167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40889447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6280206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3683785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8179828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2048386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40645961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8111944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7691325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5870542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5982590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402087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3626169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a:p>
        </p:txBody>
      </p:sp>
      <p:sp>
        <p:nvSpPr>
          <p:cNvPr id="4" name="Slayt Numarası Yer Tutucusu 3"/>
          <p:cNvSpPr>
            <a:spLocks noGrp="1"/>
          </p:cNvSpPr>
          <p:nvPr>
            <p:ph type="sldNum" sz="quarter" idx="10"/>
          </p:nvPr>
        </p:nvSpPr>
        <p:spPr/>
        <p:txBody>
          <a:bodyPr/>
          <a:lstStyle/>
          <a:p>
            <a:fld id="{AE8B6D33-EF40-4511-BB6D-F4559DCC6EDC}" type="slidenum">
              <a:rPr lang="tr-TR" smtClean="0"/>
              <a:pPr/>
              <a:t>28</a:t>
            </a:fld>
            <a:endParaRPr lang="tr-TR"/>
          </a:p>
        </p:txBody>
      </p:sp>
    </p:spTree>
    <p:extLst>
      <p:ext uri="{BB962C8B-B14F-4D97-AF65-F5344CB8AC3E}">
        <p14:creationId xmlns:p14="http://schemas.microsoft.com/office/powerpoint/2010/main" val="27429808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42625474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42917660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8521777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412354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tr-TR"/>
          </a:p>
        </p:txBody>
      </p:sp>
      <p:sp>
        <p:nvSpPr>
          <p:cNvPr id="4" name="Date Placeholder 3"/>
          <p:cNvSpPr>
            <a:spLocks noGrp="1"/>
          </p:cNvSpPr>
          <p:nvPr>
            <p:ph type="dt" sz="half" idx="10"/>
          </p:nvPr>
        </p:nvSpPr>
        <p:spPr/>
        <p:txBody>
          <a:bodyPr/>
          <a:lstStyle/>
          <a:p>
            <a:fld id="{FDDAEEC2-418A-4AE9-8D76-1350AC2C960C}" type="datetime1">
              <a:rPr lang="tr-TR" smtClean="0"/>
              <a:pPr/>
              <a:t>20.03.2020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p:cNvSpPr>
          <p:nvPr>
            <p:ph type="dt" sz="half" idx="10"/>
          </p:nvPr>
        </p:nvSpPr>
        <p:spPr/>
        <p:txBody>
          <a:bodyPr/>
          <a:lstStyle/>
          <a:p>
            <a:fld id="{2D8B617E-CC2C-45DD-8B2D-8AE4EA5FC5F8}" type="datetime1">
              <a:rPr lang="tr-TR" smtClean="0"/>
              <a:pPr/>
              <a:t>20.03.2020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09D0F5-A4BC-46CD-8841-C457452FFEDC}" type="datetime1">
              <a:rPr lang="tr-TR" smtClean="0"/>
              <a:pPr/>
              <a:t>20.03.2020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Date Placeholder 4"/>
          <p:cNvSpPr>
            <a:spLocks noGrp="1"/>
          </p:cNvSpPr>
          <p:nvPr>
            <p:ph type="dt" sz="half" idx="10"/>
          </p:nvPr>
        </p:nvSpPr>
        <p:spPr/>
        <p:txBody>
          <a:bodyPr/>
          <a:lstStyle/>
          <a:p>
            <a:fld id="{4FA334DA-5AD4-4FA3-AFE8-2A8C67D70199}" type="datetime1">
              <a:rPr lang="tr-TR" smtClean="0"/>
              <a:pPr/>
              <a:t>20.03.2020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7" name="Date Placeholder 6"/>
          <p:cNvSpPr>
            <a:spLocks noGrp="1"/>
          </p:cNvSpPr>
          <p:nvPr>
            <p:ph type="dt" sz="half" idx="10"/>
          </p:nvPr>
        </p:nvSpPr>
        <p:spPr/>
        <p:txBody>
          <a:bodyPr/>
          <a:lstStyle/>
          <a:p>
            <a:fld id="{3C28F8EC-0934-411F-B635-3062B68C4A87}" type="datetime1">
              <a:rPr lang="tr-TR" smtClean="0"/>
              <a:pPr/>
              <a:t>20.03.2020</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Date Placeholder 2"/>
          <p:cNvSpPr>
            <a:spLocks noGrp="1"/>
          </p:cNvSpPr>
          <p:nvPr>
            <p:ph type="dt" sz="half" idx="10"/>
          </p:nvPr>
        </p:nvSpPr>
        <p:spPr/>
        <p:txBody>
          <a:bodyPr/>
          <a:lstStyle/>
          <a:p>
            <a:fld id="{865BC700-BE93-49BC-965A-FE7AF14E8E5E}" type="datetime1">
              <a:rPr lang="tr-TR" smtClean="0"/>
              <a:pPr/>
              <a:t>20.03.2020</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9B533D-1371-4A64-9DA7-B94E9E82C698}" type="datetime1">
              <a:rPr lang="tr-TR" smtClean="0"/>
              <a:pPr/>
              <a:t>20.03.2020</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3524A5A-A249-4E71-9C80-CB1606C64E4A}" type="datetime1">
              <a:rPr lang="tr-TR" smtClean="0"/>
              <a:pPr/>
              <a:t>20.03.2020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BAA4DE-DE11-46F8-8818-543B671E4FAF}" type="datetime1">
              <a:rPr lang="tr-TR" smtClean="0"/>
              <a:pPr/>
              <a:t>20.03.2020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p:cNvSpPr>
          <p:nvPr>
            <p:ph type="dt" sz="half" idx="10"/>
          </p:nvPr>
        </p:nvSpPr>
        <p:spPr/>
        <p:txBody>
          <a:bodyPr/>
          <a:lstStyle/>
          <a:p>
            <a:fld id="{9D0022AE-E832-4A8B-9536-4372F3E1F6C7}" type="datetime1">
              <a:rPr lang="tr-TR" smtClean="0"/>
              <a:pPr/>
              <a:t>20.03.2020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p:cNvSpPr>
          <p:nvPr>
            <p:ph type="dt" sz="half" idx="10"/>
          </p:nvPr>
        </p:nvSpPr>
        <p:spPr/>
        <p:txBody>
          <a:bodyPr/>
          <a:lstStyle/>
          <a:p>
            <a:fld id="{532FB04C-27DE-4D51-8F84-8865E814DCCD}" type="datetime1">
              <a:rPr lang="tr-TR" smtClean="0"/>
              <a:pPr/>
              <a:t>20.03.2020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B7707C-6B9A-4E38-AEE2-597F60E606B3}" type="datetime1">
              <a:rPr lang="tr-TR" smtClean="0"/>
              <a:pPr/>
              <a:t>20.03.2020</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C0ACAC-419D-446D-993D-E467CC79BCB5}"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3568" y="1268760"/>
            <a:ext cx="7772400" cy="1470025"/>
          </a:xfrm>
        </p:spPr>
        <p:txBody>
          <a:bodyPr>
            <a:normAutofit/>
          </a:bodyPr>
          <a:lstStyle/>
          <a:p>
            <a:pPr>
              <a:spcBef>
                <a:spcPts val="600"/>
              </a:spcBef>
              <a:spcAft>
                <a:spcPts val="600"/>
              </a:spcAft>
            </a:pPr>
            <a:r>
              <a:rPr lang="tr-TR" sz="1200" smtClean="0"/>
              <a:t> </a:t>
            </a:r>
            <a:endParaRPr lang="tr-TR" sz="1200"/>
          </a:p>
        </p:txBody>
      </p:sp>
      <p:sp>
        <p:nvSpPr>
          <p:cNvPr id="6" name="Subtitle 5"/>
          <p:cNvSpPr>
            <a:spLocks noGrp="1"/>
          </p:cNvSpPr>
          <p:nvPr>
            <p:ph type="subTitle" idx="1"/>
          </p:nvPr>
        </p:nvSpPr>
        <p:spPr>
          <a:xfrm>
            <a:off x="717340" y="1484784"/>
            <a:ext cx="7704856" cy="4464496"/>
          </a:xfrm>
          <a:ln w="25400">
            <a:noFill/>
          </a:ln>
        </p:spPr>
        <p:txBody>
          <a:bodyPr>
            <a:noAutofit/>
          </a:bodyPr>
          <a:lstStyle/>
          <a:p>
            <a:pPr>
              <a:spcBef>
                <a:spcPts val="0"/>
              </a:spcBef>
            </a:pPr>
            <a:r>
              <a:rPr lang="tr-TR" sz="2000" dirty="0" smtClean="0">
                <a:solidFill>
                  <a:schemeClr val="tx1"/>
                </a:solidFill>
                <a:latin typeface="Arial Narrow" pitchFamily="34" charset="0"/>
              </a:rPr>
              <a:t>NTE 1010</a:t>
            </a:r>
          </a:p>
          <a:p>
            <a:pPr>
              <a:spcBef>
                <a:spcPts val="0"/>
              </a:spcBef>
            </a:pPr>
            <a:r>
              <a:rPr lang="tr-TR" sz="2000" dirty="0" err="1" smtClean="0">
                <a:solidFill>
                  <a:schemeClr val="tx1"/>
                </a:solidFill>
                <a:latin typeface="Arial Narrow" pitchFamily="34" charset="0"/>
              </a:rPr>
              <a:t>Introduction</a:t>
            </a:r>
            <a:r>
              <a:rPr lang="tr-TR" sz="2000" dirty="0" smtClean="0">
                <a:solidFill>
                  <a:schemeClr val="tx1"/>
                </a:solidFill>
                <a:latin typeface="Arial Narrow" pitchFamily="34" charset="0"/>
              </a:rPr>
              <a:t> </a:t>
            </a:r>
            <a:r>
              <a:rPr lang="tr-TR" sz="2000" dirty="0" err="1">
                <a:solidFill>
                  <a:schemeClr val="tx1"/>
                </a:solidFill>
                <a:latin typeface="Arial Narrow" pitchFamily="34" charset="0"/>
              </a:rPr>
              <a:t>to</a:t>
            </a:r>
            <a:r>
              <a:rPr lang="tr-TR" sz="2000" dirty="0">
                <a:solidFill>
                  <a:schemeClr val="tx1"/>
                </a:solidFill>
                <a:latin typeface="Arial Narrow" pitchFamily="34" charset="0"/>
              </a:rPr>
              <a:t> Finance </a:t>
            </a:r>
            <a:r>
              <a:rPr lang="tr-TR" sz="2000" dirty="0" err="1">
                <a:solidFill>
                  <a:schemeClr val="tx1"/>
                </a:solidFill>
                <a:latin typeface="Arial Narrow" pitchFamily="34" charset="0"/>
              </a:rPr>
              <a:t>for</a:t>
            </a:r>
            <a:r>
              <a:rPr lang="tr-TR" sz="2000" dirty="0">
                <a:solidFill>
                  <a:schemeClr val="tx1"/>
                </a:solidFill>
                <a:latin typeface="Arial Narrow" pitchFamily="34" charset="0"/>
              </a:rPr>
              <a:t> </a:t>
            </a:r>
            <a:r>
              <a:rPr lang="tr-TR" sz="2000" dirty="0" err="1" smtClean="0">
                <a:solidFill>
                  <a:schemeClr val="tx1"/>
                </a:solidFill>
                <a:latin typeface="Arial Narrow" pitchFamily="34" charset="0"/>
              </a:rPr>
              <a:t>Engineers</a:t>
            </a:r>
            <a:endParaRPr lang="tr-TR" sz="2000" dirty="0" smtClean="0">
              <a:solidFill>
                <a:schemeClr val="tx1"/>
              </a:solidFill>
              <a:latin typeface="Arial Narrow" pitchFamily="34" charset="0"/>
            </a:endParaRPr>
          </a:p>
          <a:p>
            <a:pPr>
              <a:spcBef>
                <a:spcPts val="0"/>
              </a:spcBef>
            </a:pPr>
            <a:endParaRPr lang="tr-TR" sz="1600" dirty="0" smtClean="0">
              <a:solidFill>
                <a:srgbClr val="800000"/>
              </a:solidFill>
              <a:latin typeface="Arial Narrow" pitchFamily="34" charset="0"/>
            </a:endParaRPr>
          </a:p>
          <a:p>
            <a:pPr>
              <a:spcBef>
                <a:spcPts val="0"/>
              </a:spcBef>
            </a:pPr>
            <a:r>
              <a:rPr lang="tr-TR" sz="1600" dirty="0">
                <a:solidFill>
                  <a:srgbClr val="800000"/>
                </a:solidFill>
                <a:latin typeface="Arial Narrow" pitchFamily="34" charset="0"/>
              </a:rPr>
              <a:t>Spring 2020</a:t>
            </a:r>
          </a:p>
          <a:p>
            <a:pPr>
              <a:spcBef>
                <a:spcPts val="0"/>
              </a:spcBef>
            </a:pPr>
            <a:endParaRPr lang="tr-TR" sz="1600" dirty="0">
              <a:solidFill>
                <a:srgbClr val="800000"/>
              </a:solidFill>
              <a:latin typeface="Arial Narrow" pitchFamily="34" charset="0"/>
            </a:endParaRPr>
          </a:p>
          <a:p>
            <a:pPr>
              <a:spcBef>
                <a:spcPts val="0"/>
              </a:spcBef>
            </a:pPr>
            <a:r>
              <a:rPr lang="tr-TR" sz="2600" dirty="0" err="1" smtClean="0">
                <a:solidFill>
                  <a:srgbClr val="800000"/>
                </a:solidFill>
                <a:latin typeface="Arial Narrow" pitchFamily="34" charset="0"/>
              </a:rPr>
              <a:t>week</a:t>
            </a:r>
            <a:r>
              <a:rPr lang="tr-TR" sz="2600" dirty="0" smtClean="0">
                <a:solidFill>
                  <a:srgbClr val="800000"/>
                </a:solidFill>
                <a:latin typeface="Arial Narrow" pitchFamily="34" charset="0"/>
              </a:rPr>
              <a:t> </a:t>
            </a:r>
            <a:r>
              <a:rPr lang="tr-TR" sz="2600" dirty="0" smtClean="0">
                <a:solidFill>
                  <a:srgbClr val="800000"/>
                </a:solidFill>
                <a:latin typeface="Arial Narrow" pitchFamily="34" charset="0"/>
              </a:rPr>
              <a:t>5</a:t>
            </a:r>
          </a:p>
          <a:p>
            <a:pPr>
              <a:spcBef>
                <a:spcPts val="0"/>
              </a:spcBef>
            </a:pPr>
            <a:r>
              <a:rPr lang="tr-TR" sz="2200" dirty="0" err="1" smtClean="0">
                <a:solidFill>
                  <a:srgbClr val="800000"/>
                </a:solidFill>
                <a:latin typeface="Arial Narrow" pitchFamily="34" charset="0"/>
              </a:rPr>
              <a:t>Wednesday</a:t>
            </a:r>
            <a:r>
              <a:rPr lang="tr-TR" sz="2200" dirty="0" smtClean="0">
                <a:solidFill>
                  <a:srgbClr val="800000"/>
                </a:solidFill>
                <a:latin typeface="Arial Narrow" pitchFamily="34" charset="0"/>
              </a:rPr>
              <a:t>, </a:t>
            </a:r>
            <a:r>
              <a:rPr lang="tr-TR" sz="2200" dirty="0" err="1" smtClean="0">
                <a:solidFill>
                  <a:srgbClr val="800000"/>
                </a:solidFill>
                <a:latin typeface="Arial Narrow" pitchFamily="34" charset="0"/>
              </a:rPr>
              <a:t>March</a:t>
            </a:r>
            <a:r>
              <a:rPr lang="tr-TR" sz="2200" dirty="0" smtClean="0">
                <a:solidFill>
                  <a:srgbClr val="800000"/>
                </a:solidFill>
                <a:latin typeface="Arial Narrow" pitchFamily="34" charset="0"/>
              </a:rPr>
              <a:t> 18, 2020</a:t>
            </a:r>
            <a:endParaRPr lang="tr-TR" sz="2200" dirty="0" smtClean="0">
              <a:solidFill>
                <a:srgbClr val="800000"/>
              </a:solidFill>
              <a:latin typeface="Arial Narrow" pitchFamily="34" charset="0"/>
            </a:endParaRPr>
          </a:p>
          <a:p>
            <a:pPr>
              <a:spcBef>
                <a:spcPts val="0"/>
              </a:spcBef>
            </a:pPr>
            <a:endParaRPr lang="tr-TR" sz="2400" dirty="0" smtClean="0">
              <a:solidFill>
                <a:srgbClr val="800000"/>
              </a:solidFill>
              <a:latin typeface="Arial Narrow" pitchFamily="34" charset="0"/>
            </a:endParaRPr>
          </a:p>
          <a:p>
            <a:pPr>
              <a:spcBef>
                <a:spcPts val="0"/>
              </a:spcBef>
            </a:pPr>
            <a:endParaRPr lang="tr-TR" sz="2400" dirty="0" smtClean="0">
              <a:solidFill>
                <a:schemeClr val="tx1"/>
              </a:solidFill>
              <a:latin typeface="Arial Narrow" pitchFamily="34" charset="0"/>
            </a:endParaRPr>
          </a:p>
          <a:p>
            <a:pPr>
              <a:spcBef>
                <a:spcPts val="0"/>
              </a:spcBef>
            </a:pPr>
            <a:r>
              <a:rPr lang="tr-TR" sz="2400" dirty="0" smtClean="0">
                <a:solidFill>
                  <a:schemeClr val="tx1"/>
                </a:solidFill>
                <a:latin typeface="Arial Narrow" pitchFamily="34" charset="0"/>
              </a:rPr>
              <a:t>Financial </a:t>
            </a:r>
            <a:r>
              <a:rPr lang="tr-TR" sz="2400" dirty="0" err="1" smtClean="0">
                <a:solidFill>
                  <a:schemeClr val="tx1"/>
                </a:solidFill>
                <a:latin typeface="Arial Narrow" pitchFamily="34" charset="0"/>
              </a:rPr>
              <a:t>System</a:t>
            </a:r>
            <a:r>
              <a:rPr lang="tr-TR" sz="2400" dirty="0" smtClean="0">
                <a:solidFill>
                  <a:schemeClr val="tx1"/>
                </a:solidFill>
                <a:latin typeface="Arial Narrow" pitchFamily="34" charset="0"/>
              </a:rPr>
              <a:t> &amp; Money</a:t>
            </a:r>
          </a:p>
          <a:p>
            <a:pPr>
              <a:spcBef>
                <a:spcPts val="0"/>
              </a:spcBef>
            </a:pPr>
            <a:endParaRPr lang="tr-TR" sz="1200" dirty="0" smtClean="0">
              <a:solidFill>
                <a:schemeClr val="tx1"/>
              </a:solidFill>
              <a:latin typeface="Arial Narrow" pitchFamily="34" charset="0"/>
            </a:endParaRPr>
          </a:p>
          <a:p>
            <a:pPr>
              <a:spcBef>
                <a:spcPts val="0"/>
              </a:spcBef>
            </a:pPr>
            <a:r>
              <a:rPr lang="tr-TR" dirty="0" smtClean="0">
                <a:solidFill>
                  <a:schemeClr val="tx1"/>
                </a:solidFill>
                <a:latin typeface="Arial Narrow" pitchFamily="34" charset="0"/>
              </a:rPr>
              <a:t>Financial </a:t>
            </a:r>
            <a:r>
              <a:rPr lang="tr-TR" dirty="0" err="1" smtClean="0">
                <a:solidFill>
                  <a:schemeClr val="tx1"/>
                </a:solidFill>
                <a:latin typeface="Arial Narrow" pitchFamily="34" charset="0"/>
              </a:rPr>
              <a:t>System</a:t>
            </a:r>
            <a:endParaRPr lang="tr-TR" dirty="0" smtClean="0">
              <a:solidFill>
                <a:schemeClr val="tx1"/>
              </a:solidFill>
              <a:latin typeface="Arial Narrow" pitchFamily="34" charset="0"/>
            </a:endParaRPr>
          </a:p>
        </p:txBody>
      </p:sp>
      <p:pic>
        <p:nvPicPr>
          <p:cNvPr id="4" name="Resim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83968" y="764704"/>
            <a:ext cx="648072" cy="648072"/>
          </a:xfrm>
          <a:prstGeom prst="rect">
            <a:avLst/>
          </a:prstGeom>
        </p:spPr>
      </p:pic>
    </p:spTree>
    <p:extLst>
      <p:ext uri="{BB962C8B-B14F-4D97-AF65-F5344CB8AC3E}">
        <p14:creationId xmlns:p14="http://schemas.microsoft.com/office/powerpoint/2010/main" val="37848584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123728" y="188640"/>
            <a:ext cx="5184576" cy="720080"/>
          </a:xfrm>
          <a:ln w="25400">
            <a:noFill/>
          </a:ln>
        </p:spPr>
        <p:txBody>
          <a:bodyPr>
            <a:noAutofit/>
          </a:bodyPr>
          <a:lstStyle/>
          <a:p>
            <a:r>
              <a:rPr lang="tr-TR" sz="1400" dirty="0" err="1">
                <a:latin typeface="Arial Narrow" pitchFamily="34" charset="0"/>
              </a:rPr>
              <a:t>NTE</a:t>
            </a:r>
            <a:r>
              <a:rPr lang="tr-TR" sz="1400" dirty="0">
                <a:latin typeface="Arial Narrow" pitchFamily="34" charset="0"/>
              </a:rPr>
              <a:t>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a:latin typeface="Arial Narrow" pitchFamily="34" charset="0"/>
              </a:rPr>
              <a:t/>
            </a:r>
            <a:br>
              <a:rPr lang="tr-TR" sz="1400" dirty="0">
                <a:latin typeface="Arial Narrow" pitchFamily="34" charset="0"/>
              </a:rPr>
            </a:br>
            <a:r>
              <a:rPr lang="tr-TR" sz="2400" dirty="0" err="1">
                <a:solidFill>
                  <a:srgbClr val="800000"/>
                </a:solidFill>
                <a:latin typeface="Arial Narrow" pitchFamily="34" charset="0"/>
              </a:rPr>
              <a:t>Flow</a:t>
            </a:r>
            <a:r>
              <a:rPr lang="tr-TR" sz="2400" dirty="0">
                <a:solidFill>
                  <a:srgbClr val="800000"/>
                </a:solidFill>
                <a:latin typeface="Arial Narrow" pitchFamily="34" charset="0"/>
              </a:rPr>
              <a:t> of </a:t>
            </a:r>
            <a:r>
              <a:rPr lang="tr-TR" sz="2400" dirty="0" err="1">
                <a:solidFill>
                  <a:srgbClr val="800000"/>
                </a:solidFill>
                <a:latin typeface="Arial Narrow" pitchFamily="34" charset="0"/>
              </a:rPr>
              <a:t>Funds</a:t>
            </a:r>
            <a:r>
              <a:rPr lang="tr-TR" sz="2400" dirty="0">
                <a:solidFill>
                  <a:srgbClr val="800000"/>
                </a:solidFill>
                <a:latin typeface="Arial Narrow" pitchFamily="34" charset="0"/>
              </a:rPr>
              <a:t> </a:t>
            </a:r>
            <a:r>
              <a:rPr lang="tr-TR" sz="2400" dirty="0" err="1">
                <a:solidFill>
                  <a:srgbClr val="800000"/>
                </a:solidFill>
                <a:latin typeface="Arial Narrow" pitchFamily="34" charset="0"/>
              </a:rPr>
              <a:t>through</a:t>
            </a:r>
            <a:r>
              <a:rPr lang="tr-TR" sz="2400" dirty="0">
                <a:solidFill>
                  <a:srgbClr val="800000"/>
                </a:solidFill>
                <a:latin typeface="Arial Narrow" pitchFamily="34" charset="0"/>
              </a:rPr>
              <a:t> </a:t>
            </a:r>
            <a:r>
              <a:rPr lang="tr-TR" sz="2400" dirty="0" err="1">
                <a:solidFill>
                  <a:srgbClr val="800000"/>
                </a:solidFill>
                <a:latin typeface="Arial Narrow" pitchFamily="34" charset="0"/>
              </a:rPr>
              <a:t>the</a:t>
            </a:r>
            <a:r>
              <a:rPr lang="tr-TR" sz="2400" dirty="0">
                <a:solidFill>
                  <a:srgbClr val="800000"/>
                </a:solidFill>
                <a:latin typeface="Arial Narrow" pitchFamily="34" charset="0"/>
              </a:rPr>
              <a:t> Financial </a:t>
            </a:r>
            <a:r>
              <a:rPr lang="tr-TR" sz="2400" dirty="0" err="1">
                <a:solidFill>
                  <a:srgbClr val="800000"/>
                </a:solidFill>
                <a:latin typeface="Arial Narrow" pitchFamily="34" charset="0"/>
              </a:rPr>
              <a:t>System</a:t>
            </a:r>
            <a:endParaRPr lang="tr-TR" sz="2400" dirty="0">
              <a:solidFill>
                <a:srgbClr val="800000"/>
              </a:solidFill>
              <a:latin typeface="Arial Narrow" pitchFamily="34" charset="0"/>
            </a:endParaRPr>
          </a:p>
        </p:txBody>
      </p:sp>
      <p:sp>
        <p:nvSpPr>
          <p:cNvPr id="5" name="Content Placeholder 4"/>
          <p:cNvSpPr>
            <a:spLocks noGrp="1"/>
          </p:cNvSpPr>
          <p:nvPr>
            <p:ph idx="1"/>
          </p:nvPr>
        </p:nvSpPr>
        <p:spPr>
          <a:xfrm>
            <a:off x="683568" y="980728"/>
            <a:ext cx="7848872" cy="5616624"/>
          </a:xfrm>
          <a:ln w="25400">
            <a:noFill/>
          </a:ln>
        </p:spPr>
        <p:txBody>
          <a:bodyPr>
            <a:noAutofit/>
          </a:bodyPr>
          <a:lstStyle/>
          <a:p>
            <a:pPr marL="0" lvl="0" indent="0" algn="ctr">
              <a:spcBef>
                <a:spcPts val="0"/>
              </a:spcBef>
              <a:buNone/>
            </a:pPr>
            <a:r>
              <a:rPr lang="tr-TR" sz="1800" dirty="0" err="1">
                <a:latin typeface="Arial Narrow" panose="020B0606020202030204" pitchFamily="34" charset="0"/>
              </a:rPr>
              <a:t>In</a:t>
            </a:r>
            <a:r>
              <a:rPr lang="tr-TR" sz="1800" dirty="0">
                <a:latin typeface="Arial Narrow" panose="020B0606020202030204" pitchFamily="34" charset="0"/>
              </a:rPr>
              <a:t> </a:t>
            </a:r>
            <a:r>
              <a:rPr lang="tr-TR" sz="1800" dirty="0" err="1">
                <a:latin typeface="Arial Narrow" panose="020B0606020202030204" pitchFamily="34" charset="0"/>
              </a:rPr>
              <a:t>Indirect</a:t>
            </a:r>
            <a:r>
              <a:rPr lang="tr-TR" sz="1800" dirty="0">
                <a:latin typeface="Arial Narrow" panose="020B0606020202030204" pitchFamily="34" charset="0"/>
              </a:rPr>
              <a:t> Finance, </a:t>
            </a:r>
            <a:r>
              <a:rPr lang="tr-TR" sz="1800" dirty="0" err="1">
                <a:latin typeface="Arial Narrow" panose="020B0606020202030204" pitchFamily="34" charset="0"/>
              </a:rPr>
              <a:t>borrowers</a:t>
            </a:r>
            <a:r>
              <a:rPr lang="tr-TR" sz="1800" dirty="0">
                <a:latin typeface="Arial Narrow" panose="020B0606020202030204" pitchFamily="34" charset="0"/>
              </a:rPr>
              <a:t> </a:t>
            </a:r>
            <a:r>
              <a:rPr lang="tr-TR" sz="1800" dirty="0" err="1">
                <a:latin typeface="Arial Narrow" panose="020B0606020202030204" pitchFamily="34" charset="0"/>
              </a:rPr>
              <a:t>borrow</a:t>
            </a:r>
            <a:r>
              <a:rPr lang="tr-TR" sz="1800" dirty="0">
                <a:latin typeface="Arial Narrow" panose="020B0606020202030204" pitchFamily="34" charset="0"/>
              </a:rPr>
              <a:t> </a:t>
            </a:r>
            <a:r>
              <a:rPr lang="tr-TR" sz="1800" dirty="0" err="1">
                <a:latin typeface="Arial Narrow" panose="020B0606020202030204" pitchFamily="34" charset="0"/>
              </a:rPr>
              <a:t>funds</a:t>
            </a:r>
            <a:r>
              <a:rPr lang="tr-TR" sz="1800" dirty="0">
                <a:latin typeface="Arial Narrow" panose="020B0606020202030204" pitchFamily="34" charset="0"/>
              </a:rPr>
              <a:t> </a:t>
            </a:r>
            <a:r>
              <a:rPr lang="tr-TR" sz="1800" dirty="0" err="1">
                <a:latin typeface="Arial Narrow" panose="020B0606020202030204" pitchFamily="34" charset="0"/>
              </a:rPr>
              <a:t>directly</a:t>
            </a:r>
            <a:r>
              <a:rPr lang="tr-TR" sz="1800" dirty="0">
                <a:latin typeface="Arial Narrow" panose="020B0606020202030204" pitchFamily="34" charset="0"/>
              </a:rPr>
              <a:t> </a:t>
            </a:r>
            <a:r>
              <a:rPr lang="tr-TR" sz="1800" dirty="0" err="1">
                <a:latin typeface="Arial Narrow" panose="020B0606020202030204" pitchFamily="34" charset="0"/>
              </a:rPr>
              <a:t>from</a:t>
            </a:r>
            <a:r>
              <a:rPr lang="tr-TR" sz="1800" dirty="0">
                <a:latin typeface="Arial Narrow" panose="020B0606020202030204" pitchFamily="34" charset="0"/>
              </a:rPr>
              <a:t> Lenders in Financial </a:t>
            </a:r>
            <a:r>
              <a:rPr lang="tr-TR" sz="1800" dirty="0" err="1">
                <a:latin typeface="Arial Narrow" panose="020B0606020202030204" pitchFamily="34" charset="0"/>
              </a:rPr>
              <a:t>Markets</a:t>
            </a:r>
            <a:r>
              <a:rPr lang="tr-TR" sz="1800" dirty="0">
                <a:latin typeface="Arial Narrow" panose="020B0606020202030204" pitchFamily="34" charset="0"/>
              </a:rPr>
              <a:t> </a:t>
            </a:r>
          </a:p>
          <a:p>
            <a:pPr marL="0" lvl="0" indent="0" algn="ctr">
              <a:spcBef>
                <a:spcPts val="0"/>
              </a:spcBef>
              <a:buNone/>
            </a:pPr>
            <a:r>
              <a:rPr lang="tr-TR" sz="1800" dirty="0" err="1">
                <a:latin typeface="Arial Narrow" panose="020B0606020202030204" pitchFamily="34" charset="0"/>
              </a:rPr>
              <a:t>by</a:t>
            </a:r>
            <a:r>
              <a:rPr lang="tr-TR" sz="1800" dirty="0">
                <a:latin typeface="Arial Narrow" panose="020B0606020202030204" pitchFamily="34" charset="0"/>
              </a:rPr>
              <a:t> </a:t>
            </a:r>
            <a:r>
              <a:rPr lang="tr-TR" sz="1800" dirty="0" err="1">
                <a:latin typeface="Arial Narrow" panose="020B0606020202030204" pitchFamily="34" charset="0"/>
              </a:rPr>
              <a:t>selling</a:t>
            </a:r>
            <a:r>
              <a:rPr lang="tr-TR" sz="1800" dirty="0">
                <a:latin typeface="Arial Narrow" panose="020B0606020202030204" pitchFamily="34" charset="0"/>
              </a:rPr>
              <a:t> </a:t>
            </a:r>
            <a:r>
              <a:rPr lang="tr-TR" sz="1800" dirty="0" err="1">
                <a:latin typeface="Arial Narrow" panose="020B0606020202030204" pitchFamily="34" charset="0"/>
              </a:rPr>
              <a:t>them</a:t>
            </a:r>
            <a:r>
              <a:rPr lang="tr-TR" sz="1800" dirty="0">
                <a:latin typeface="Arial Narrow" panose="020B0606020202030204" pitchFamily="34" charset="0"/>
              </a:rPr>
              <a:t> </a:t>
            </a:r>
            <a:r>
              <a:rPr lang="tr-TR" sz="1800" dirty="0" err="1">
                <a:latin typeface="Arial Narrow" panose="020B0606020202030204" pitchFamily="34" charset="0"/>
              </a:rPr>
              <a:t>securities</a:t>
            </a:r>
            <a:r>
              <a:rPr lang="tr-TR" sz="1800" dirty="0">
                <a:latin typeface="Arial Narrow" panose="020B0606020202030204" pitchFamily="34" charset="0"/>
              </a:rPr>
              <a:t> (</a:t>
            </a:r>
            <a:r>
              <a:rPr lang="tr-TR" sz="1800" dirty="0" err="1">
                <a:latin typeface="Arial Narrow" panose="020B0606020202030204" pitchFamily="34" charset="0"/>
              </a:rPr>
              <a:t>financial</a:t>
            </a:r>
            <a:r>
              <a:rPr lang="tr-TR" sz="1800" dirty="0">
                <a:latin typeface="Arial Narrow" panose="020B0606020202030204" pitchFamily="34" charset="0"/>
              </a:rPr>
              <a:t> </a:t>
            </a:r>
            <a:r>
              <a:rPr lang="tr-TR" sz="1800" dirty="0" err="1" smtClean="0">
                <a:latin typeface="Arial Narrow" panose="020B0606020202030204" pitchFamily="34" charset="0"/>
              </a:rPr>
              <a:t>instruments</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which</a:t>
            </a:r>
            <a:r>
              <a:rPr lang="tr-TR" sz="1800" dirty="0" smtClean="0">
                <a:latin typeface="Arial Narrow" panose="020B0606020202030204" pitchFamily="34" charset="0"/>
              </a:rPr>
              <a:t> </a:t>
            </a:r>
            <a:r>
              <a:rPr lang="tr-TR" sz="1800" dirty="0" err="1">
                <a:latin typeface="Arial Narrow" panose="020B0606020202030204" pitchFamily="34" charset="0"/>
              </a:rPr>
              <a:t>are</a:t>
            </a:r>
            <a:r>
              <a:rPr lang="tr-TR" sz="1800" dirty="0">
                <a:latin typeface="Arial Narrow" panose="020B0606020202030204" pitchFamily="34" charset="0"/>
              </a:rPr>
              <a:t> </a:t>
            </a:r>
            <a:r>
              <a:rPr lang="tr-TR" sz="1800" dirty="0" err="1">
                <a:latin typeface="Arial Narrow" panose="020B0606020202030204" pitchFamily="34" charset="0"/>
              </a:rPr>
              <a:t>claims</a:t>
            </a:r>
            <a:r>
              <a:rPr lang="tr-TR" sz="1800" dirty="0">
                <a:latin typeface="Arial Narrow" panose="020B0606020202030204" pitchFamily="34" charset="0"/>
              </a:rPr>
              <a:t> on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borrower’s</a:t>
            </a:r>
            <a:r>
              <a:rPr lang="tr-TR" sz="1800" dirty="0">
                <a:latin typeface="Arial Narrow" panose="020B0606020202030204" pitchFamily="34" charset="0"/>
              </a:rPr>
              <a:t> </a:t>
            </a:r>
            <a:r>
              <a:rPr lang="tr-TR" sz="1800" dirty="0" err="1">
                <a:latin typeface="Arial Narrow" panose="020B0606020202030204" pitchFamily="34" charset="0"/>
              </a:rPr>
              <a:t>future</a:t>
            </a:r>
            <a:r>
              <a:rPr lang="tr-TR" sz="1800" dirty="0">
                <a:latin typeface="Arial Narrow" panose="020B0606020202030204" pitchFamily="34" charset="0"/>
              </a:rPr>
              <a:t> </a:t>
            </a:r>
            <a:r>
              <a:rPr lang="tr-TR" sz="1800" dirty="0" err="1">
                <a:latin typeface="Arial Narrow" panose="020B0606020202030204" pitchFamily="34" charset="0"/>
              </a:rPr>
              <a:t>income</a:t>
            </a:r>
            <a:r>
              <a:rPr lang="tr-TR" sz="1800" dirty="0">
                <a:latin typeface="Arial Narrow" panose="020B0606020202030204" pitchFamily="34" charset="0"/>
              </a:rPr>
              <a:t> </a:t>
            </a:r>
            <a:r>
              <a:rPr lang="tr-TR" sz="1800" dirty="0" err="1">
                <a:latin typeface="Arial Narrow" panose="020B0606020202030204" pitchFamily="34" charset="0"/>
              </a:rPr>
              <a:t>or</a:t>
            </a:r>
            <a:r>
              <a:rPr lang="tr-TR" sz="1800" dirty="0">
                <a:latin typeface="Arial Narrow" panose="020B0606020202030204" pitchFamily="34" charset="0"/>
              </a:rPr>
              <a:t> </a:t>
            </a:r>
            <a:r>
              <a:rPr lang="tr-TR" sz="1800" dirty="0" err="1">
                <a:latin typeface="Arial Narrow" panose="020B0606020202030204" pitchFamily="34" charset="0"/>
              </a:rPr>
              <a:t>assets</a:t>
            </a:r>
            <a:r>
              <a:rPr lang="tr-TR" sz="1800" dirty="0" smtClean="0">
                <a:latin typeface="Arial Narrow" panose="020B0606020202030204" pitchFamily="34" charset="0"/>
              </a:rPr>
              <a:t>.</a:t>
            </a:r>
            <a:endParaRPr lang="tr-TR" sz="1800" dirty="0">
              <a:latin typeface="Arial Narrow" panose="020B0606020202030204" pitchFamily="34" charset="0"/>
            </a:endParaRP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endParaRPr lang="tr-TR" sz="1800" dirty="0">
              <a:latin typeface="Arial Narrow" panose="020B0606020202030204" pitchFamily="34" charset="0"/>
            </a:endParaRPr>
          </a:p>
          <a:p>
            <a:pPr marL="0" indent="0" algn="ctr">
              <a:spcBef>
                <a:spcPts val="0"/>
              </a:spcBef>
              <a:buNone/>
            </a:pPr>
            <a:r>
              <a:rPr lang="tr-TR" sz="1800" dirty="0">
                <a:latin typeface="Arial Narrow" panose="020B0606020202030204" pitchFamily="34" charset="0"/>
              </a:rPr>
              <a:t>Financial </a:t>
            </a:r>
            <a:r>
              <a:rPr lang="tr-TR" sz="1800" dirty="0" err="1">
                <a:latin typeface="Arial Narrow" panose="020B0606020202030204" pitchFamily="34" charset="0"/>
              </a:rPr>
              <a:t>markets</a:t>
            </a:r>
            <a:r>
              <a:rPr lang="tr-TR" sz="1800" dirty="0">
                <a:latin typeface="Arial Narrow" panose="020B0606020202030204" pitchFamily="34" charset="0"/>
              </a:rPr>
              <a:t> </a:t>
            </a:r>
            <a:r>
              <a:rPr lang="tr-TR" sz="1800" dirty="0" err="1">
                <a:latin typeface="Arial Narrow" panose="020B0606020202030204" pitchFamily="34" charset="0"/>
              </a:rPr>
              <a:t>perform</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essential</a:t>
            </a:r>
            <a:r>
              <a:rPr lang="tr-TR" sz="1800" dirty="0">
                <a:latin typeface="Arial Narrow" panose="020B0606020202030204" pitchFamily="34" charset="0"/>
              </a:rPr>
              <a:t> </a:t>
            </a:r>
            <a:r>
              <a:rPr lang="tr-TR" sz="1800" dirty="0" err="1">
                <a:latin typeface="Arial Narrow" panose="020B0606020202030204" pitchFamily="34" charset="0"/>
              </a:rPr>
              <a:t>economic</a:t>
            </a:r>
            <a:r>
              <a:rPr lang="tr-TR" sz="1800" dirty="0">
                <a:latin typeface="Arial Narrow" panose="020B0606020202030204" pitchFamily="34" charset="0"/>
              </a:rPr>
              <a:t> </a:t>
            </a:r>
            <a:r>
              <a:rPr lang="tr-TR" sz="1800" dirty="0" err="1">
                <a:latin typeface="Arial Narrow" panose="020B0606020202030204" pitchFamily="34" charset="0"/>
              </a:rPr>
              <a:t>function</a:t>
            </a:r>
            <a:r>
              <a:rPr lang="tr-TR" sz="1800" dirty="0">
                <a:latin typeface="Arial Narrow" panose="020B0606020202030204" pitchFamily="34" charset="0"/>
              </a:rPr>
              <a:t> of </a:t>
            </a:r>
            <a:r>
              <a:rPr lang="tr-TR" sz="1800" dirty="0" err="1">
                <a:latin typeface="Arial Narrow" panose="020B0606020202030204" pitchFamily="34" charset="0"/>
              </a:rPr>
              <a:t>channeling</a:t>
            </a:r>
            <a:r>
              <a:rPr lang="tr-TR" sz="1800" dirty="0">
                <a:latin typeface="Arial Narrow" panose="020B0606020202030204" pitchFamily="34" charset="0"/>
              </a:rPr>
              <a:t> </a:t>
            </a:r>
            <a:r>
              <a:rPr lang="tr-TR" sz="1800" dirty="0" err="1" smtClean="0">
                <a:latin typeface="Arial Narrow" panose="020B0606020202030204" pitchFamily="34" charset="0"/>
              </a:rPr>
              <a:t>funds</a:t>
            </a:r>
            <a:endParaRPr lang="tr-TR" sz="1800" dirty="0">
              <a:latin typeface="Arial Narrow" panose="020B0606020202030204" pitchFamily="34" charset="0"/>
            </a:endParaRPr>
          </a:p>
          <a:p>
            <a:pPr marL="0" indent="0" algn="ctr">
              <a:spcBef>
                <a:spcPts val="0"/>
              </a:spcBef>
              <a:buNone/>
            </a:pPr>
            <a:r>
              <a:rPr lang="tr-TR" sz="1800" dirty="0" err="1">
                <a:latin typeface="Arial Narrow" panose="020B0606020202030204" pitchFamily="34" charset="0"/>
              </a:rPr>
              <a:t>f</a:t>
            </a:r>
            <a:r>
              <a:rPr lang="tr-TR" sz="1800" dirty="0" err="1" smtClean="0">
                <a:latin typeface="Arial Narrow" panose="020B0606020202030204" pitchFamily="34" charset="0"/>
              </a:rPr>
              <a:t>rom</a:t>
            </a:r>
            <a:r>
              <a:rPr lang="tr-TR" sz="1800" dirty="0" smtClean="0">
                <a:latin typeface="Arial Narrow" panose="020B0606020202030204" pitchFamily="34" charset="0"/>
              </a:rPr>
              <a:t> </a:t>
            </a:r>
            <a:r>
              <a:rPr lang="tr-TR" sz="1800" dirty="0" err="1" smtClean="0">
                <a:latin typeface="Arial Narrow" panose="020B0606020202030204" pitchFamily="34" charset="0"/>
              </a:rPr>
              <a:t>households</a:t>
            </a:r>
            <a:r>
              <a:rPr lang="tr-TR" sz="1800" dirty="0">
                <a:latin typeface="Arial Narrow" panose="020B0606020202030204" pitchFamily="34" charset="0"/>
              </a:rPr>
              <a:t>, </a:t>
            </a:r>
            <a:r>
              <a:rPr lang="tr-TR" sz="1800" dirty="0" err="1">
                <a:latin typeface="Arial Narrow" panose="020B0606020202030204" pitchFamily="34" charset="0"/>
              </a:rPr>
              <a:t>firms</a:t>
            </a:r>
            <a:r>
              <a:rPr lang="tr-TR" sz="1800" dirty="0">
                <a:latin typeface="Arial Narrow" panose="020B0606020202030204" pitchFamily="34" charset="0"/>
              </a:rPr>
              <a:t>, </a:t>
            </a:r>
            <a:r>
              <a:rPr lang="tr-TR" sz="1800" dirty="0" err="1">
                <a:latin typeface="Arial Narrow" panose="020B0606020202030204" pitchFamily="34" charset="0"/>
              </a:rPr>
              <a:t>and</a:t>
            </a:r>
            <a:r>
              <a:rPr lang="tr-TR" sz="1800" dirty="0">
                <a:latin typeface="Arial Narrow" panose="020B0606020202030204" pitchFamily="34" charset="0"/>
              </a:rPr>
              <a:t> </a:t>
            </a:r>
            <a:r>
              <a:rPr lang="tr-TR" sz="1800" dirty="0" err="1" smtClean="0">
                <a:latin typeface="Arial Narrow" panose="020B0606020202030204" pitchFamily="34" charset="0"/>
              </a:rPr>
              <a:t>governments</a:t>
            </a:r>
            <a:endParaRPr lang="tr-TR" sz="1800" dirty="0">
              <a:latin typeface="Arial Narrow" panose="020B0606020202030204" pitchFamily="34" charset="0"/>
            </a:endParaRPr>
          </a:p>
          <a:p>
            <a:pPr marL="0" indent="0" algn="ctr">
              <a:spcBef>
                <a:spcPts val="0"/>
              </a:spcBef>
              <a:buNone/>
            </a:pPr>
            <a:r>
              <a:rPr lang="tr-TR" sz="1800" dirty="0" err="1" smtClean="0">
                <a:latin typeface="Arial Narrow" panose="020B0606020202030204" pitchFamily="34" charset="0"/>
              </a:rPr>
              <a:t>that</a:t>
            </a:r>
            <a:r>
              <a:rPr lang="tr-TR" sz="1800" dirty="0" smtClean="0">
                <a:latin typeface="Arial Narrow" panose="020B0606020202030204" pitchFamily="34" charset="0"/>
              </a:rPr>
              <a:t> </a:t>
            </a:r>
            <a:r>
              <a:rPr lang="tr-TR" sz="1800" dirty="0" err="1">
                <a:latin typeface="Arial Narrow" panose="020B0606020202030204" pitchFamily="34" charset="0"/>
              </a:rPr>
              <a:t>have</a:t>
            </a:r>
            <a:r>
              <a:rPr lang="tr-TR" sz="1800" dirty="0">
                <a:latin typeface="Arial Narrow" panose="020B0606020202030204" pitchFamily="34" charset="0"/>
              </a:rPr>
              <a:t> </a:t>
            </a:r>
            <a:r>
              <a:rPr lang="tr-TR" sz="1800" dirty="0" err="1">
                <a:latin typeface="Arial Narrow" panose="020B0606020202030204" pitchFamily="34" charset="0"/>
              </a:rPr>
              <a:t>saved</a:t>
            </a:r>
            <a:r>
              <a:rPr lang="tr-TR" sz="1800" dirty="0">
                <a:latin typeface="Arial Narrow" panose="020B0606020202030204" pitchFamily="34" charset="0"/>
              </a:rPr>
              <a:t> </a:t>
            </a:r>
            <a:r>
              <a:rPr lang="tr-TR" sz="1800" dirty="0" err="1">
                <a:latin typeface="Arial Narrow" panose="020B0606020202030204" pitchFamily="34" charset="0"/>
              </a:rPr>
              <a:t>surplus</a:t>
            </a:r>
            <a:r>
              <a:rPr lang="tr-TR" sz="1800" dirty="0">
                <a:latin typeface="Arial Narrow" panose="020B0606020202030204" pitchFamily="34" charset="0"/>
              </a:rPr>
              <a:t> </a:t>
            </a:r>
            <a:r>
              <a:rPr lang="tr-TR" sz="1800" dirty="0" err="1">
                <a:latin typeface="Arial Narrow" panose="020B0606020202030204" pitchFamily="34" charset="0"/>
              </a:rPr>
              <a:t>funds</a:t>
            </a:r>
            <a:r>
              <a:rPr lang="tr-TR" sz="1800" dirty="0">
                <a:latin typeface="Arial Narrow" panose="020B0606020202030204" pitchFamily="34" charset="0"/>
              </a:rPr>
              <a:t> </a:t>
            </a:r>
            <a:r>
              <a:rPr lang="tr-TR" sz="1800" dirty="0" err="1">
                <a:latin typeface="Arial Narrow" panose="020B0606020202030204" pitchFamily="34" charset="0"/>
              </a:rPr>
              <a:t>by</a:t>
            </a:r>
            <a:r>
              <a:rPr lang="tr-TR" sz="1800" dirty="0">
                <a:latin typeface="Arial Narrow" panose="020B0606020202030204" pitchFamily="34" charset="0"/>
              </a:rPr>
              <a:t> </a:t>
            </a:r>
            <a:r>
              <a:rPr lang="tr-TR" sz="1800" dirty="0" err="1">
                <a:latin typeface="Arial Narrow" panose="020B0606020202030204" pitchFamily="34" charset="0"/>
              </a:rPr>
              <a:t>spending</a:t>
            </a:r>
            <a:r>
              <a:rPr lang="tr-TR" sz="1800" dirty="0">
                <a:latin typeface="Arial Narrow" panose="020B0606020202030204" pitchFamily="34" charset="0"/>
              </a:rPr>
              <a:t> </a:t>
            </a:r>
            <a:r>
              <a:rPr lang="tr-TR" sz="1800" dirty="0" err="1">
                <a:latin typeface="Arial Narrow" panose="020B0606020202030204" pitchFamily="34" charset="0"/>
              </a:rPr>
              <a:t>less</a:t>
            </a:r>
            <a:r>
              <a:rPr lang="tr-TR" sz="1800" dirty="0">
                <a:latin typeface="Arial Narrow" panose="020B0606020202030204" pitchFamily="34" charset="0"/>
              </a:rPr>
              <a:t> </a:t>
            </a:r>
            <a:r>
              <a:rPr lang="tr-TR" sz="1800" dirty="0" err="1">
                <a:latin typeface="Arial Narrow" panose="020B0606020202030204" pitchFamily="34" charset="0"/>
              </a:rPr>
              <a:t>than</a:t>
            </a:r>
            <a:r>
              <a:rPr lang="tr-TR" sz="1800" dirty="0">
                <a:latin typeface="Arial Narrow" panose="020B0606020202030204" pitchFamily="34" charset="0"/>
              </a:rPr>
              <a:t> </a:t>
            </a:r>
            <a:r>
              <a:rPr lang="tr-TR" sz="1800" dirty="0" err="1">
                <a:latin typeface="Arial Narrow" panose="020B0606020202030204" pitchFamily="34" charset="0"/>
              </a:rPr>
              <a:t>their</a:t>
            </a:r>
            <a:r>
              <a:rPr lang="tr-TR" sz="1800" dirty="0">
                <a:latin typeface="Arial Narrow" panose="020B0606020202030204" pitchFamily="34" charset="0"/>
              </a:rPr>
              <a:t> </a:t>
            </a:r>
            <a:r>
              <a:rPr lang="tr-TR" sz="1800" dirty="0" err="1">
                <a:latin typeface="Arial Narrow" panose="020B0606020202030204" pitchFamily="34" charset="0"/>
              </a:rPr>
              <a:t>income</a:t>
            </a:r>
            <a:endParaRPr lang="tr-TR" sz="1800" dirty="0">
              <a:latin typeface="Arial Narrow" panose="020B0606020202030204" pitchFamily="34" charset="0"/>
            </a:endParaRPr>
          </a:p>
          <a:p>
            <a:pPr marL="0" indent="0" algn="ctr">
              <a:spcBef>
                <a:spcPts val="0"/>
              </a:spcBef>
              <a:buNone/>
            </a:pP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those</a:t>
            </a:r>
            <a:r>
              <a:rPr lang="tr-TR" sz="1800" dirty="0">
                <a:latin typeface="Arial Narrow" panose="020B0606020202030204" pitchFamily="34" charset="0"/>
              </a:rPr>
              <a:t> </a:t>
            </a:r>
            <a:r>
              <a:rPr lang="tr-TR" sz="1800" dirty="0" err="1">
                <a:latin typeface="Arial Narrow" panose="020B0606020202030204" pitchFamily="34" charset="0"/>
              </a:rPr>
              <a:t>that</a:t>
            </a:r>
            <a:r>
              <a:rPr lang="tr-TR" sz="1800" dirty="0">
                <a:latin typeface="Arial Narrow" panose="020B0606020202030204" pitchFamily="34" charset="0"/>
              </a:rPr>
              <a:t> </a:t>
            </a:r>
            <a:r>
              <a:rPr lang="tr-TR" sz="1800" dirty="0" err="1">
                <a:latin typeface="Arial Narrow" panose="020B0606020202030204" pitchFamily="34" charset="0"/>
              </a:rPr>
              <a:t>have</a:t>
            </a:r>
            <a:r>
              <a:rPr lang="tr-TR" sz="1800" dirty="0">
                <a:latin typeface="Arial Narrow" panose="020B0606020202030204" pitchFamily="34" charset="0"/>
              </a:rPr>
              <a:t> a </a:t>
            </a:r>
            <a:r>
              <a:rPr lang="tr-TR" sz="1800" dirty="0" err="1">
                <a:latin typeface="Arial Narrow" panose="020B0606020202030204" pitchFamily="34" charset="0"/>
              </a:rPr>
              <a:t>shortage</a:t>
            </a:r>
            <a:r>
              <a:rPr lang="tr-TR" sz="1800" dirty="0">
                <a:latin typeface="Arial Narrow" panose="020B0606020202030204" pitchFamily="34" charset="0"/>
              </a:rPr>
              <a:t> of </a:t>
            </a:r>
            <a:r>
              <a:rPr lang="tr-TR" sz="1800" dirty="0" err="1">
                <a:latin typeface="Arial Narrow" panose="020B0606020202030204" pitchFamily="34" charset="0"/>
              </a:rPr>
              <a:t>funds</a:t>
            </a:r>
            <a:r>
              <a:rPr lang="tr-TR" sz="1800" dirty="0">
                <a:latin typeface="Arial Narrow" panose="020B0606020202030204" pitchFamily="34" charset="0"/>
              </a:rPr>
              <a:t> </a:t>
            </a:r>
            <a:r>
              <a:rPr lang="tr-TR" sz="1800" dirty="0" err="1">
                <a:latin typeface="Arial Narrow" panose="020B0606020202030204" pitchFamily="34" charset="0"/>
              </a:rPr>
              <a:t>because</a:t>
            </a:r>
            <a:r>
              <a:rPr lang="tr-TR" sz="1800" dirty="0">
                <a:latin typeface="Arial Narrow" panose="020B0606020202030204" pitchFamily="34" charset="0"/>
              </a:rPr>
              <a:t> </a:t>
            </a:r>
            <a:r>
              <a:rPr lang="tr-TR" sz="1800" dirty="0" err="1">
                <a:latin typeface="Arial Narrow" panose="020B0606020202030204" pitchFamily="34" charset="0"/>
              </a:rPr>
              <a:t>they</a:t>
            </a:r>
            <a:r>
              <a:rPr lang="tr-TR" sz="1800" dirty="0">
                <a:latin typeface="Arial Narrow" panose="020B0606020202030204" pitchFamily="34" charset="0"/>
              </a:rPr>
              <a:t> </a:t>
            </a:r>
            <a:r>
              <a:rPr lang="tr-TR" sz="1800" dirty="0" err="1">
                <a:latin typeface="Arial Narrow" panose="020B0606020202030204" pitchFamily="34" charset="0"/>
              </a:rPr>
              <a:t>wish</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spend</a:t>
            </a:r>
            <a:r>
              <a:rPr lang="tr-TR" sz="1800" dirty="0">
                <a:latin typeface="Arial Narrow" panose="020B0606020202030204" pitchFamily="34" charset="0"/>
              </a:rPr>
              <a:t> </a:t>
            </a:r>
            <a:r>
              <a:rPr lang="tr-TR" sz="1800" dirty="0" err="1">
                <a:latin typeface="Arial Narrow" panose="020B0606020202030204" pitchFamily="34" charset="0"/>
              </a:rPr>
              <a:t>more</a:t>
            </a:r>
            <a:r>
              <a:rPr lang="tr-TR" sz="1800" dirty="0">
                <a:latin typeface="Arial Narrow" panose="020B0606020202030204" pitchFamily="34" charset="0"/>
              </a:rPr>
              <a:t> </a:t>
            </a:r>
            <a:r>
              <a:rPr lang="tr-TR" sz="1800" dirty="0" err="1">
                <a:latin typeface="Arial Narrow" panose="020B0606020202030204" pitchFamily="34" charset="0"/>
              </a:rPr>
              <a:t>than</a:t>
            </a:r>
            <a:r>
              <a:rPr lang="tr-TR" sz="1800" dirty="0">
                <a:latin typeface="Arial Narrow" panose="020B0606020202030204" pitchFamily="34" charset="0"/>
              </a:rPr>
              <a:t> </a:t>
            </a:r>
            <a:r>
              <a:rPr lang="tr-TR" sz="1800" dirty="0" err="1">
                <a:latin typeface="Arial Narrow" panose="020B0606020202030204" pitchFamily="34" charset="0"/>
              </a:rPr>
              <a:t>their</a:t>
            </a:r>
            <a:r>
              <a:rPr lang="tr-TR" sz="1800" dirty="0">
                <a:latin typeface="Arial Narrow" panose="020B0606020202030204" pitchFamily="34" charset="0"/>
              </a:rPr>
              <a:t> </a:t>
            </a:r>
            <a:r>
              <a:rPr lang="tr-TR" sz="1800" dirty="0" err="1">
                <a:latin typeface="Arial Narrow" panose="020B0606020202030204" pitchFamily="34" charset="0"/>
              </a:rPr>
              <a:t>income</a:t>
            </a:r>
            <a:r>
              <a:rPr lang="tr-TR" sz="1800" dirty="0">
                <a:latin typeface="Arial Narrow" panose="020B0606020202030204" pitchFamily="34" charset="0"/>
              </a:rPr>
              <a:t>.</a:t>
            </a:r>
            <a:endParaRPr lang="tr-TR" sz="1800" noProof="1">
              <a:latin typeface="Arial Narrow" panose="020B0606020202030204" pitchFamily="34" charset="0"/>
            </a:endParaRPr>
          </a:p>
          <a:p>
            <a:pPr marL="0" lvl="0" indent="0" algn="ctr">
              <a:spcBef>
                <a:spcPts val="0"/>
              </a:spcBef>
              <a:buNone/>
            </a:pPr>
            <a:endParaRPr lang="tr-TR" sz="1600" dirty="0">
              <a:latin typeface="Arial Narrow" panose="020B0606020202030204" pitchFamily="34" charset="0"/>
            </a:endParaRPr>
          </a:p>
        </p:txBody>
      </p:sp>
      <p:pic>
        <p:nvPicPr>
          <p:cNvPr id="6" name="Resim 5"/>
          <p:cNvPicPr>
            <a:picLocks noChangeAspect="1"/>
          </p:cNvPicPr>
          <p:nvPr/>
        </p:nvPicPr>
        <p:blipFill>
          <a:blip r:embed="rId3"/>
          <a:stretch>
            <a:fillRect/>
          </a:stretch>
        </p:blipFill>
        <p:spPr>
          <a:xfrm>
            <a:off x="1907704" y="2004460"/>
            <a:ext cx="5688632" cy="3296748"/>
          </a:xfrm>
          <a:prstGeom prst="rect">
            <a:avLst/>
          </a:prstGeom>
        </p:spPr>
      </p:pic>
    </p:spTree>
    <p:extLst>
      <p:ext uri="{BB962C8B-B14F-4D97-AF65-F5344CB8AC3E}">
        <p14:creationId xmlns:p14="http://schemas.microsoft.com/office/powerpoint/2010/main" val="4197707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71800" y="269776"/>
            <a:ext cx="3888432"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smtClean="0">
                <a:latin typeface="Arial Narrow" pitchFamily="34" charset="0"/>
              </a:rPr>
              <a:t>Financial </a:t>
            </a:r>
            <a:r>
              <a:rPr lang="tr-TR" sz="2000" dirty="0" err="1" smtClean="0">
                <a:latin typeface="Arial Narrow" pitchFamily="34" charset="0"/>
              </a:rPr>
              <a:t>Markets</a:t>
            </a:r>
            <a:r>
              <a:rPr lang="tr-TR" sz="2000" dirty="0" smtClean="0">
                <a:latin typeface="Arial Narrow" pitchFamily="34" charset="0"/>
              </a:rPr>
              <a:t> (Direct Finance)</a:t>
            </a:r>
            <a:br>
              <a:rPr lang="tr-TR" sz="2000" dirty="0" smtClean="0">
                <a:latin typeface="Arial Narrow" pitchFamily="34" charset="0"/>
              </a:rPr>
            </a:br>
            <a:r>
              <a:rPr lang="tr-TR" sz="2400" dirty="0" err="1" smtClean="0">
                <a:solidFill>
                  <a:srgbClr val="800000"/>
                </a:solidFill>
                <a:latin typeface="Arial Narrow" pitchFamily="34" charset="0"/>
              </a:rPr>
              <a:t>Primary</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and</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Secondary</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Markets</a:t>
            </a:r>
            <a:endParaRPr lang="tr-TR" sz="2400" dirty="0">
              <a:solidFill>
                <a:srgbClr val="800000"/>
              </a:solidFill>
              <a:latin typeface="Arial Narrow" pitchFamily="34" charset="0"/>
            </a:endParaRPr>
          </a:p>
        </p:txBody>
      </p:sp>
      <p:sp>
        <p:nvSpPr>
          <p:cNvPr id="5" name="Content Placeholder 4"/>
          <p:cNvSpPr>
            <a:spLocks noGrp="1"/>
          </p:cNvSpPr>
          <p:nvPr>
            <p:ph idx="1"/>
          </p:nvPr>
        </p:nvSpPr>
        <p:spPr>
          <a:xfrm>
            <a:off x="457200" y="1340768"/>
            <a:ext cx="8229600" cy="5112568"/>
          </a:xfrm>
          <a:ln w="25400">
            <a:noFill/>
          </a:ln>
        </p:spPr>
        <p:txBody>
          <a:bodyPr>
            <a:noAutofit/>
          </a:bodyPr>
          <a:lstStyle/>
          <a:p>
            <a:pPr marL="0" indent="0" algn="ctr">
              <a:spcBef>
                <a:spcPts val="0"/>
              </a:spcBef>
              <a:buNone/>
            </a:pPr>
            <a:r>
              <a:rPr lang="tr-TR" sz="1800" dirty="0" err="1" smtClean="0">
                <a:solidFill>
                  <a:srgbClr val="800000"/>
                </a:solidFill>
                <a:latin typeface="Arial Narrow" panose="020B0606020202030204" pitchFamily="34" charset="0"/>
              </a:rPr>
              <a:t>Primary</a:t>
            </a:r>
            <a:r>
              <a:rPr lang="tr-TR" sz="1800" dirty="0" smtClean="0">
                <a:solidFill>
                  <a:srgbClr val="800000"/>
                </a:solidFill>
                <a:latin typeface="Arial Narrow" panose="020B0606020202030204" pitchFamily="34" charset="0"/>
              </a:rPr>
              <a:t> Market</a:t>
            </a:r>
          </a:p>
          <a:p>
            <a:pPr marL="0" indent="0" algn="ctr">
              <a:spcBef>
                <a:spcPts val="0"/>
              </a:spcBef>
              <a:buNone/>
            </a:pPr>
            <a:r>
              <a:rPr lang="tr-TR" sz="1800" dirty="0" smtClean="0">
                <a:latin typeface="Arial Narrow" panose="020B0606020202030204" pitchFamily="34" charset="0"/>
              </a:rPr>
              <a:t>is a </a:t>
            </a:r>
            <a:r>
              <a:rPr lang="tr-TR" sz="1800" dirty="0" err="1" smtClean="0">
                <a:latin typeface="Arial Narrow" panose="020B0606020202030204" pitchFamily="34" charset="0"/>
              </a:rPr>
              <a:t>financial</a:t>
            </a:r>
            <a:r>
              <a:rPr lang="tr-TR" sz="1800" dirty="0" smtClean="0">
                <a:latin typeface="Arial Narrow" panose="020B0606020202030204" pitchFamily="34" charset="0"/>
              </a:rPr>
              <a:t> market in </a:t>
            </a:r>
            <a:r>
              <a:rPr lang="tr-TR" sz="1800" dirty="0" err="1" smtClean="0">
                <a:latin typeface="Arial Narrow" panose="020B0606020202030204" pitchFamily="34" charset="0"/>
              </a:rPr>
              <a:t>which</a:t>
            </a:r>
            <a:r>
              <a:rPr lang="tr-TR" sz="1800" dirty="0" smtClean="0">
                <a:latin typeface="Arial Narrow" panose="020B0606020202030204" pitchFamily="34" charset="0"/>
              </a:rPr>
              <a:t> </a:t>
            </a:r>
            <a:r>
              <a:rPr lang="tr-TR" sz="1800" dirty="0" err="1" smtClean="0">
                <a:latin typeface="Arial Narrow" panose="020B0606020202030204" pitchFamily="34" charset="0"/>
              </a:rPr>
              <a:t>new</a:t>
            </a:r>
            <a:r>
              <a:rPr lang="tr-TR" sz="1800" dirty="0" smtClean="0">
                <a:latin typeface="Arial Narrow" panose="020B0606020202030204" pitchFamily="34" charset="0"/>
              </a:rPr>
              <a:t> </a:t>
            </a:r>
            <a:r>
              <a:rPr lang="tr-TR" sz="1800" dirty="0" err="1" smtClean="0">
                <a:latin typeface="Arial Narrow" panose="020B0606020202030204" pitchFamily="34" charset="0"/>
              </a:rPr>
              <a:t>issues</a:t>
            </a:r>
            <a:r>
              <a:rPr lang="tr-TR" sz="1800" dirty="0" smtClean="0">
                <a:latin typeface="Arial Narrow" panose="020B0606020202030204" pitchFamily="34" charset="0"/>
              </a:rPr>
              <a:t> of a </a:t>
            </a:r>
            <a:r>
              <a:rPr lang="tr-TR" sz="1800" dirty="0" smtClean="0">
                <a:solidFill>
                  <a:srgbClr val="800000"/>
                </a:solidFill>
                <a:latin typeface="Arial Narrow" panose="020B0606020202030204" pitchFamily="34" charset="0"/>
              </a:rPr>
              <a:t>Financial </a:t>
            </a:r>
            <a:r>
              <a:rPr lang="tr-TR" sz="1800" dirty="0">
                <a:solidFill>
                  <a:srgbClr val="800000"/>
                </a:solidFill>
                <a:latin typeface="Arial Narrow" panose="020B0606020202030204" pitchFamily="34" charset="0"/>
              </a:rPr>
              <a:t>S</a:t>
            </a:r>
            <a:r>
              <a:rPr lang="tr-TR" sz="1800" dirty="0" smtClean="0">
                <a:solidFill>
                  <a:srgbClr val="800000"/>
                </a:solidFill>
                <a:latin typeface="Arial Narrow" panose="020B0606020202030204" pitchFamily="34" charset="0"/>
              </a:rPr>
              <a:t>ecurity</a:t>
            </a:r>
            <a:r>
              <a:rPr lang="tr-TR" sz="1800" dirty="0" smtClean="0">
                <a:latin typeface="Arial Narrow" panose="020B0606020202030204" pitchFamily="34" charset="0"/>
              </a:rPr>
              <a:t>, </a:t>
            </a:r>
            <a:r>
              <a:rPr lang="tr-TR" sz="1800" dirty="0" err="1" smtClean="0">
                <a:latin typeface="Arial Narrow" panose="020B0606020202030204" pitchFamily="34" charset="0"/>
              </a:rPr>
              <a:t>such</a:t>
            </a:r>
            <a:r>
              <a:rPr lang="tr-TR" sz="1800" dirty="0" smtClean="0">
                <a:latin typeface="Arial Narrow" panose="020B0606020202030204" pitchFamily="34" charset="0"/>
              </a:rPr>
              <a:t> as a </a:t>
            </a:r>
            <a:r>
              <a:rPr lang="tr-TR" sz="1800" dirty="0" err="1" smtClean="0">
                <a:latin typeface="Arial Narrow" panose="020B0606020202030204" pitchFamily="34" charset="0"/>
              </a:rPr>
              <a:t>bond</a:t>
            </a:r>
            <a:r>
              <a:rPr lang="tr-TR" sz="1800" dirty="0" smtClean="0">
                <a:latin typeface="Arial Narrow" panose="020B0606020202030204" pitchFamily="34" charset="0"/>
              </a:rPr>
              <a:t> </a:t>
            </a:r>
            <a:r>
              <a:rPr lang="tr-TR" sz="1800" dirty="0" err="1" smtClean="0">
                <a:latin typeface="Arial Narrow" panose="020B0606020202030204" pitchFamily="34" charset="0"/>
              </a:rPr>
              <a:t>or</a:t>
            </a:r>
            <a:r>
              <a:rPr lang="tr-TR" sz="1800" dirty="0" smtClean="0">
                <a:latin typeface="Arial Narrow" panose="020B0606020202030204" pitchFamily="34" charset="0"/>
              </a:rPr>
              <a:t> </a:t>
            </a:r>
            <a:r>
              <a:rPr lang="tr-TR" sz="1800" dirty="0" err="1" smtClean="0">
                <a:latin typeface="Arial Narrow" panose="020B0606020202030204" pitchFamily="34" charset="0"/>
              </a:rPr>
              <a:t>stock</a:t>
            </a:r>
            <a:r>
              <a:rPr lang="tr-TR" sz="1800" dirty="0" smtClean="0">
                <a:latin typeface="Arial Narrow" panose="020B0606020202030204" pitchFamily="34" charset="0"/>
              </a:rPr>
              <a:t>,</a:t>
            </a:r>
          </a:p>
          <a:p>
            <a:pPr marL="0" indent="0" algn="ctr">
              <a:spcBef>
                <a:spcPts val="0"/>
              </a:spcBef>
              <a:buNone/>
            </a:pPr>
            <a:r>
              <a:rPr lang="tr-TR" sz="1800" dirty="0" err="1" smtClean="0">
                <a:latin typeface="Arial Narrow" panose="020B0606020202030204" pitchFamily="34" charset="0"/>
              </a:rPr>
              <a:t>are</a:t>
            </a:r>
            <a:r>
              <a:rPr lang="tr-TR" sz="1800" dirty="0" smtClean="0">
                <a:latin typeface="Arial Narrow" panose="020B0606020202030204" pitchFamily="34" charset="0"/>
              </a:rPr>
              <a:t> </a:t>
            </a:r>
            <a:r>
              <a:rPr lang="tr-TR" sz="1800" dirty="0" err="1" smtClean="0">
                <a:latin typeface="Arial Narrow" panose="020B0606020202030204" pitchFamily="34" charset="0"/>
              </a:rPr>
              <a:t>sold</a:t>
            </a:r>
            <a:r>
              <a:rPr lang="tr-TR" sz="1800" dirty="0" smtClean="0">
                <a:latin typeface="Arial Narrow" panose="020B0606020202030204" pitchFamily="34" charset="0"/>
              </a:rPr>
              <a:t> </a:t>
            </a: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initial</a:t>
            </a:r>
            <a:r>
              <a:rPr lang="tr-TR" sz="1800" dirty="0" smtClean="0">
                <a:latin typeface="Arial Narrow" panose="020B0606020202030204" pitchFamily="34" charset="0"/>
              </a:rPr>
              <a:t> </a:t>
            </a:r>
            <a:r>
              <a:rPr lang="tr-TR" sz="1800" dirty="0" err="1" smtClean="0">
                <a:latin typeface="Arial Narrow" panose="020B0606020202030204" pitchFamily="34" charset="0"/>
              </a:rPr>
              <a:t>buyers</a:t>
            </a:r>
            <a:r>
              <a:rPr lang="tr-TR" sz="1800" dirty="0" smtClean="0">
                <a:latin typeface="Arial Narrow" panose="020B0606020202030204" pitchFamily="34" charset="0"/>
              </a:rPr>
              <a:t> </a:t>
            </a:r>
            <a:r>
              <a:rPr lang="tr-TR" sz="1800" dirty="0" err="1" smtClean="0">
                <a:latin typeface="Arial Narrow" panose="020B0606020202030204" pitchFamily="34" charset="0"/>
              </a:rPr>
              <a:t>by</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corporation</a:t>
            </a:r>
            <a:r>
              <a:rPr lang="tr-TR" sz="1800" dirty="0" smtClean="0">
                <a:latin typeface="Arial Narrow" panose="020B0606020202030204" pitchFamily="34" charset="0"/>
              </a:rPr>
              <a:t> </a:t>
            </a:r>
            <a:r>
              <a:rPr lang="tr-TR" sz="1800" dirty="0" err="1" smtClean="0">
                <a:latin typeface="Arial Narrow" panose="020B0606020202030204" pitchFamily="34" charset="0"/>
              </a:rPr>
              <a:t>or</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government</a:t>
            </a:r>
            <a:r>
              <a:rPr lang="tr-TR" sz="1800" dirty="0" smtClean="0">
                <a:latin typeface="Arial Narrow" panose="020B0606020202030204" pitchFamily="34" charset="0"/>
              </a:rPr>
              <a:t> </a:t>
            </a:r>
            <a:r>
              <a:rPr lang="tr-TR" sz="1800" dirty="0" err="1" smtClean="0">
                <a:latin typeface="Arial Narrow" panose="020B0606020202030204" pitchFamily="34" charset="0"/>
              </a:rPr>
              <a:t>agency</a:t>
            </a:r>
            <a:r>
              <a:rPr lang="tr-TR" sz="1800" dirty="0" smtClean="0">
                <a:latin typeface="Arial Narrow" panose="020B0606020202030204" pitchFamily="34" charset="0"/>
              </a:rPr>
              <a:t> </a:t>
            </a:r>
            <a:r>
              <a:rPr lang="tr-TR" sz="1800" dirty="0" err="1" smtClean="0">
                <a:latin typeface="Arial Narrow" panose="020B0606020202030204" pitchFamily="34" charset="0"/>
              </a:rPr>
              <a:t>borrowing</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funds</a:t>
            </a:r>
            <a:r>
              <a:rPr lang="tr-TR" sz="1800" dirty="0" smtClean="0">
                <a:latin typeface="Arial Narrow" panose="020B0606020202030204" pitchFamily="34" charset="0"/>
              </a:rPr>
              <a:t>.</a:t>
            </a:r>
          </a:p>
          <a:p>
            <a:pPr marL="0" indent="0" algn="ctr">
              <a:spcBef>
                <a:spcPts val="0"/>
              </a:spcBef>
              <a:buNone/>
            </a:pPr>
            <a:endParaRPr lang="tr-TR" sz="900" noProof="1" smtClean="0">
              <a:latin typeface="Arial Narrow" panose="020B0606020202030204" pitchFamily="34" charset="0"/>
            </a:endParaRPr>
          </a:p>
          <a:p>
            <a:pPr marL="0" indent="0" algn="ctr">
              <a:spcBef>
                <a:spcPts val="0"/>
              </a:spcBef>
              <a:buNone/>
            </a:pPr>
            <a:endParaRPr lang="tr-TR" sz="900" noProof="1">
              <a:latin typeface="Arial Narrow" panose="020B0606020202030204" pitchFamily="34" charset="0"/>
            </a:endParaRPr>
          </a:p>
          <a:p>
            <a:pPr marL="0" indent="0" algn="ctr">
              <a:spcBef>
                <a:spcPts val="0"/>
              </a:spcBef>
              <a:buNone/>
            </a:pPr>
            <a:r>
              <a:rPr lang="tr-TR" sz="1800" noProof="1" smtClean="0">
                <a:solidFill>
                  <a:srgbClr val="800000"/>
                </a:solidFill>
                <a:latin typeface="Arial Narrow" panose="020B0606020202030204" pitchFamily="34" charset="0"/>
              </a:rPr>
              <a:t>Secondary Market</a:t>
            </a:r>
          </a:p>
          <a:p>
            <a:pPr marL="0" indent="0" algn="ctr">
              <a:spcBef>
                <a:spcPts val="0"/>
              </a:spcBef>
              <a:buNone/>
            </a:pPr>
            <a:r>
              <a:rPr lang="tr-TR" sz="1800" noProof="1" smtClean="0">
                <a:latin typeface="Arial Narrow" panose="020B0606020202030204" pitchFamily="34" charset="0"/>
              </a:rPr>
              <a:t>is a financial market in which securities that have been previously issued can be resold.</a:t>
            </a:r>
          </a:p>
          <a:p>
            <a:pPr marL="0" indent="0" algn="ctr">
              <a:spcBef>
                <a:spcPts val="0"/>
              </a:spcBef>
              <a:buNone/>
            </a:pPr>
            <a:endParaRPr lang="tr-TR" sz="1600" noProof="1">
              <a:latin typeface="Arial Narrow" panose="020B0606020202030204" pitchFamily="34" charset="0"/>
            </a:endParaRPr>
          </a:p>
          <a:p>
            <a:pPr marL="0" indent="0" algn="ctr">
              <a:spcBef>
                <a:spcPts val="0"/>
              </a:spcBef>
              <a:buNone/>
            </a:pPr>
            <a:r>
              <a:rPr lang="tr-TR" sz="1600" noProof="1" smtClean="0">
                <a:latin typeface="Arial Narrow" panose="020B0606020202030204" pitchFamily="34" charset="0"/>
              </a:rPr>
              <a:t>An important financial institution that assists in the initial sale of securities in the primary market</a:t>
            </a:r>
          </a:p>
          <a:p>
            <a:pPr marL="0" indent="0" algn="ctr">
              <a:spcBef>
                <a:spcPts val="0"/>
              </a:spcBef>
              <a:buNone/>
            </a:pPr>
            <a:r>
              <a:rPr lang="tr-TR" sz="1600" noProof="1" smtClean="0">
                <a:latin typeface="Arial Narrow" panose="020B0606020202030204" pitchFamily="34" charset="0"/>
              </a:rPr>
              <a:t>is the investment bank.</a:t>
            </a:r>
          </a:p>
          <a:p>
            <a:pPr marL="0" indent="0" algn="ctr">
              <a:spcBef>
                <a:spcPts val="0"/>
              </a:spcBef>
              <a:buNone/>
            </a:pPr>
            <a:r>
              <a:rPr lang="tr-TR" sz="1600" noProof="1" smtClean="0">
                <a:latin typeface="Arial Narrow" panose="020B0606020202030204" pitchFamily="34" charset="0"/>
              </a:rPr>
              <a:t>It does this by underwriting securities:</a:t>
            </a:r>
          </a:p>
          <a:p>
            <a:pPr marL="0" indent="0" algn="ctr">
              <a:spcBef>
                <a:spcPts val="0"/>
              </a:spcBef>
              <a:buNone/>
            </a:pPr>
            <a:r>
              <a:rPr lang="tr-TR" sz="1600" noProof="1" smtClean="0">
                <a:latin typeface="Arial Narrow" panose="020B0606020202030204" pitchFamily="34" charset="0"/>
              </a:rPr>
              <a:t>It guarantees a price for a corporation’s securities and then sells them to the public.</a:t>
            </a:r>
          </a:p>
          <a:p>
            <a:pPr marL="0" indent="0" algn="ctr">
              <a:spcBef>
                <a:spcPts val="0"/>
              </a:spcBef>
              <a:buNone/>
            </a:pPr>
            <a:endParaRPr lang="tr-TR" sz="800" noProof="1">
              <a:latin typeface="Arial Narrow" panose="020B0606020202030204" pitchFamily="34" charset="0"/>
            </a:endParaRPr>
          </a:p>
          <a:p>
            <a:pPr marL="0" indent="0" algn="ctr">
              <a:spcBef>
                <a:spcPts val="0"/>
              </a:spcBef>
              <a:buNone/>
            </a:pPr>
            <a:r>
              <a:rPr lang="tr-TR" sz="1600" noProof="1" smtClean="0">
                <a:latin typeface="Arial Narrow" panose="020B0606020202030204" pitchFamily="34" charset="0"/>
              </a:rPr>
              <a:t>Securities brokers and dealers are crucial to a well-functioning secondary market.</a:t>
            </a:r>
          </a:p>
          <a:p>
            <a:pPr marL="0" indent="0" algn="ctr">
              <a:spcBef>
                <a:spcPts val="0"/>
              </a:spcBef>
              <a:buNone/>
            </a:pPr>
            <a:r>
              <a:rPr lang="tr-TR" sz="1600" noProof="1" smtClean="0">
                <a:latin typeface="Arial Narrow" panose="020B0606020202030204" pitchFamily="34" charset="0"/>
              </a:rPr>
              <a:t>Brokers are agents of investors who match buyers with sellers of securities;</a:t>
            </a:r>
          </a:p>
          <a:p>
            <a:pPr marL="0" indent="0" algn="ctr">
              <a:spcBef>
                <a:spcPts val="0"/>
              </a:spcBef>
              <a:buNone/>
            </a:pPr>
            <a:r>
              <a:rPr lang="tr-TR" sz="1600" noProof="1" smtClean="0">
                <a:latin typeface="Arial Narrow" panose="020B0606020202030204" pitchFamily="34" charset="0"/>
              </a:rPr>
              <a:t>dealers link buyers and sellers by buying and selling securities at stated prices.</a:t>
            </a:r>
          </a:p>
          <a:p>
            <a:pPr marL="0" indent="0" algn="ctr">
              <a:spcBef>
                <a:spcPts val="0"/>
              </a:spcBef>
              <a:buNone/>
            </a:pPr>
            <a:endParaRPr lang="tr-TR" sz="800" noProof="1">
              <a:latin typeface="Arial Narrow" panose="020B0606020202030204" pitchFamily="34" charset="0"/>
            </a:endParaRPr>
          </a:p>
          <a:p>
            <a:pPr marL="0" indent="0" algn="ctr">
              <a:spcBef>
                <a:spcPts val="0"/>
              </a:spcBef>
              <a:buNone/>
            </a:pPr>
            <a:r>
              <a:rPr lang="tr-TR" sz="1600" noProof="1" smtClean="0">
                <a:latin typeface="Arial Narrow" panose="020B0606020202030204" pitchFamily="34" charset="0"/>
              </a:rPr>
              <a:t>Secondary markets serve two important functions:</a:t>
            </a:r>
          </a:p>
          <a:p>
            <a:pPr marL="0" indent="0" algn="ctr">
              <a:spcBef>
                <a:spcPts val="0"/>
              </a:spcBef>
              <a:buNone/>
            </a:pPr>
            <a:r>
              <a:rPr lang="tr-TR" sz="1600" noProof="1" smtClean="0">
                <a:latin typeface="Arial Narrow" panose="020B0606020202030204" pitchFamily="34" charset="0"/>
              </a:rPr>
              <a:t>First, they make it easier and quicker to sell financial instruments;</a:t>
            </a:r>
          </a:p>
          <a:p>
            <a:pPr marL="0" indent="0" algn="ctr">
              <a:spcBef>
                <a:spcPts val="0"/>
              </a:spcBef>
              <a:buNone/>
            </a:pPr>
            <a:r>
              <a:rPr lang="tr-TR" sz="1600" noProof="1" smtClean="0">
                <a:latin typeface="Arial Narrow" panose="020B0606020202030204" pitchFamily="34" charset="0"/>
              </a:rPr>
              <a:t>that is, they make the financial instruments more liquid.</a:t>
            </a:r>
          </a:p>
          <a:p>
            <a:pPr marL="0" indent="0" algn="ctr">
              <a:spcBef>
                <a:spcPts val="0"/>
              </a:spcBef>
              <a:buNone/>
            </a:pPr>
            <a:r>
              <a:rPr lang="tr-TR" sz="1600" noProof="1" smtClean="0">
                <a:latin typeface="Arial Narrow" panose="020B0606020202030204" pitchFamily="34" charset="0"/>
              </a:rPr>
              <a:t>Second, they determine the price of the security that the issuing firm sells in the primary market.</a:t>
            </a:r>
          </a:p>
        </p:txBody>
      </p:sp>
    </p:spTree>
    <p:extLst>
      <p:ext uri="{BB962C8B-B14F-4D97-AF65-F5344CB8AC3E}">
        <p14:creationId xmlns:p14="http://schemas.microsoft.com/office/powerpoint/2010/main" val="31482936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843808" y="274638"/>
            <a:ext cx="3672408" cy="1143000"/>
          </a:xfrm>
          <a:ln w="25400">
            <a:noFill/>
          </a:ln>
        </p:spPr>
        <p:txBody>
          <a:bodyPr>
            <a:noAutofit/>
          </a:bodyPr>
          <a:lstStyle/>
          <a:p>
            <a:pPr algn="l"/>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a:latin typeface="Arial Narrow" pitchFamily="34" charset="0"/>
              </a:rPr>
              <a:t>Financial </a:t>
            </a:r>
            <a:r>
              <a:rPr lang="tr-TR" sz="2000" dirty="0" err="1">
                <a:latin typeface="Arial Narrow" pitchFamily="34" charset="0"/>
              </a:rPr>
              <a:t>Markets</a:t>
            </a:r>
            <a:r>
              <a:rPr lang="tr-TR" sz="2000" dirty="0">
                <a:latin typeface="Arial Narrow" pitchFamily="34" charset="0"/>
              </a:rPr>
              <a:t> (Direct Finance)</a:t>
            </a:r>
            <a:r>
              <a:rPr lang="tr-TR" sz="2000" dirty="0" smtClean="0">
                <a:latin typeface="Arial Narrow" pitchFamily="34" charset="0"/>
              </a:rPr>
              <a:t/>
            </a:r>
            <a:br>
              <a:rPr lang="tr-TR" sz="2000" dirty="0" smtClean="0">
                <a:latin typeface="Arial Narrow" pitchFamily="34" charset="0"/>
              </a:rPr>
            </a:br>
            <a:r>
              <a:rPr lang="tr-TR" sz="2400" dirty="0" err="1" smtClean="0">
                <a:solidFill>
                  <a:srgbClr val="800000"/>
                </a:solidFill>
                <a:latin typeface="Arial Narrow" pitchFamily="34" charset="0"/>
              </a:rPr>
              <a:t>Types</a:t>
            </a:r>
            <a:r>
              <a:rPr lang="tr-TR" sz="2400" dirty="0" smtClean="0">
                <a:solidFill>
                  <a:srgbClr val="800000"/>
                </a:solidFill>
                <a:latin typeface="Arial Narrow" pitchFamily="34" charset="0"/>
              </a:rPr>
              <a:t> of </a:t>
            </a:r>
            <a:r>
              <a:rPr lang="tr-TR" sz="2400" dirty="0" err="1" smtClean="0">
                <a:solidFill>
                  <a:srgbClr val="800000"/>
                </a:solidFill>
                <a:latin typeface="Arial Narrow" pitchFamily="34" charset="0"/>
              </a:rPr>
              <a:t>Secondary</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Markets</a:t>
            </a:r>
            <a:endParaRPr lang="tr-TR" sz="2400" dirty="0">
              <a:solidFill>
                <a:srgbClr val="800000"/>
              </a:solidFill>
              <a:latin typeface="Arial Narrow" pitchFamily="34" charset="0"/>
            </a:endParaRPr>
          </a:p>
        </p:txBody>
      </p:sp>
      <p:sp>
        <p:nvSpPr>
          <p:cNvPr id="5" name="Content Placeholder 4"/>
          <p:cNvSpPr>
            <a:spLocks noGrp="1"/>
          </p:cNvSpPr>
          <p:nvPr>
            <p:ph idx="1"/>
          </p:nvPr>
        </p:nvSpPr>
        <p:spPr>
          <a:xfrm>
            <a:off x="457200" y="1417638"/>
            <a:ext cx="8229600" cy="4708525"/>
          </a:xfrm>
          <a:ln w="25400">
            <a:noFill/>
          </a:ln>
        </p:spPr>
        <p:txBody>
          <a:bodyPr>
            <a:noAutofit/>
          </a:bodyPr>
          <a:lstStyle/>
          <a:p>
            <a:pPr marL="0" lvl="1" indent="0" algn="ctr">
              <a:spcBef>
                <a:spcPts val="0"/>
              </a:spcBef>
              <a:buNone/>
            </a:pPr>
            <a:r>
              <a:rPr lang="tr-TR" sz="1800" noProof="1" smtClean="0">
                <a:latin typeface="Arial Narrow" panose="020B0606020202030204" pitchFamily="34" charset="0"/>
              </a:rPr>
              <a:t>Secondary markets can be organized in two ways:</a:t>
            </a:r>
          </a:p>
          <a:p>
            <a:pPr marL="0" lvl="1" indent="0" algn="ctr">
              <a:spcBef>
                <a:spcPts val="0"/>
              </a:spcBef>
              <a:buNone/>
            </a:pPr>
            <a:endParaRPr lang="tr-TR" sz="1800" noProof="1" smtClean="0">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One method is to organize </a:t>
            </a:r>
            <a:r>
              <a:rPr lang="tr-TR" sz="1800" noProof="1">
                <a:solidFill>
                  <a:srgbClr val="C00000"/>
                </a:solidFill>
                <a:latin typeface="Arial Narrow" panose="020B0606020202030204" pitchFamily="34" charset="0"/>
              </a:rPr>
              <a:t>E</a:t>
            </a:r>
            <a:r>
              <a:rPr lang="tr-TR" sz="1800" noProof="1" smtClean="0">
                <a:solidFill>
                  <a:srgbClr val="C00000"/>
                </a:solidFill>
                <a:latin typeface="Arial Narrow" panose="020B0606020202030204" pitchFamily="34" charset="0"/>
              </a:rPr>
              <a:t>xchanges</a:t>
            </a:r>
            <a:r>
              <a:rPr lang="tr-TR" sz="1800" noProof="1" smtClean="0">
                <a:latin typeface="Arial Narrow" panose="020B0606020202030204" pitchFamily="34" charset="0"/>
              </a:rPr>
              <a:t>, where buyers and sellers of securities</a:t>
            </a:r>
          </a:p>
          <a:p>
            <a:pPr marL="0" lvl="1" indent="0" algn="ctr">
              <a:spcBef>
                <a:spcPts val="0"/>
              </a:spcBef>
              <a:buNone/>
            </a:pPr>
            <a:r>
              <a:rPr lang="tr-TR" sz="1800" noProof="1" smtClean="0">
                <a:latin typeface="Arial Narrow" panose="020B0606020202030204" pitchFamily="34" charset="0"/>
              </a:rPr>
              <a:t>(or their agents or brokers) meet in one central location to conduct trades.</a:t>
            </a:r>
          </a:p>
          <a:p>
            <a:pPr marL="0" lvl="1" indent="0" algn="ctr">
              <a:spcBef>
                <a:spcPts val="0"/>
              </a:spcBef>
              <a:buNone/>
            </a:pPr>
            <a:endParaRPr lang="tr-TR" sz="1600" noProof="1" smtClean="0">
              <a:latin typeface="Arial Narrow" panose="020B0606020202030204" pitchFamily="34" charset="0"/>
            </a:endParaRPr>
          </a:p>
          <a:p>
            <a:pPr marL="0" lvl="1" indent="0" algn="ctr">
              <a:spcBef>
                <a:spcPts val="0"/>
              </a:spcBef>
              <a:buNone/>
            </a:pPr>
            <a:r>
              <a:rPr lang="tr-TR" sz="1600" noProof="1" smtClean="0">
                <a:latin typeface="Arial Narrow" panose="020B0606020202030204" pitchFamily="34" charset="0"/>
              </a:rPr>
              <a:t>The New York Stock Exchange for stocks</a:t>
            </a:r>
          </a:p>
          <a:p>
            <a:pPr marL="0" lvl="1" indent="0" algn="ctr">
              <a:spcBef>
                <a:spcPts val="0"/>
              </a:spcBef>
              <a:buNone/>
            </a:pPr>
            <a:r>
              <a:rPr lang="tr-TR" sz="1600" noProof="1" smtClean="0">
                <a:latin typeface="Arial Narrow" panose="020B0606020202030204" pitchFamily="34" charset="0"/>
              </a:rPr>
              <a:t>and the Chicago Board of Trade for commodities (wheat, corn, silver, and other raw materials)</a:t>
            </a:r>
          </a:p>
          <a:p>
            <a:pPr marL="0" lvl="1" indent="0" algn="ctr">
              <a:spcBef>
                <a:spcPts val="0"/>
              </a:spcBef>
              <a:buNone/>
            </a:pPr>
            <a:r>
              <a:rPr lang="tr-TR" sz="1600" noProof="1" smtClean="0">
                <a:latin typeface="Arial Narrow" panose="020B0606020202030204" pitchFamily="34" charset="0"/>
              </a:rPr>
              <a:t>are examples of organized exchanges.</a:t>
            </a:r>
          </a:p>
          <a:p>
            <a:pPr marL="0" lvl="1" indent="0" algn="ctr">
              <a:spcBef>
                <a:spcPts val="0"/>
              </a:spcBef>
              <a:buNone/>
            </a:pPr>
            <a:endParaRPr lang="tr-TR" sz="1600" noProof="1" smtClean="0">
              <a:latin typeface="Arial Narrow" panose="020B0606020202030204" pitchFamily="34" charset="0"/>
            </a:endParaRPr>
          </a:p>
          <a:p>
            <a:pPr marL="0" lvl="1" indent="0" algn="ctr">
              <a:spcBef>
                <a:spcPts val="0"/>
              </a:spcBef>
              <a:buNone/>
            </a:pPr>
            <a:r>
              <a:rPr lang="tr-TR" sz="1600" noProof="1" smtClean="0">
                <a:latin typeface="Arial Narrow" panose="020B0606020202030204" pitchFamily="34" charset="0"/>
              </a:rPr>
              <a:t>As well as Borsa Istanbul and</a:t>
            </a:r>
          </a:p>
          <a:p>
            <a:pPr marL="0" lvl="1" indent="0" algn="ctr">
              <a:spcBef>
                <a:spcPts val="0"/>
              </a:spcBef>
              <a:buNone/>
            </a:pPr>
            <a:r>
              <a:rPr lang="tr-TR" sz="1600" noProof="1" smtClean="0">
                <a:latin typeface="Arial Narrow" panose="020B0606020202030204" pitchFamily="34" charset="0"/>
              </a:rPr>
              <a:t>Izmir Ticaret Borsası (commodity trade).</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The other is to have an </a:t>
            </a:r>
            <a:r>
              <a:rPr lang="tr-TR" sz="1800" noProof="1" smtClean="0">
                <a:solidFill>
                  <a:srgbClr val="C00000"/>
                </a:solidFill>
                <a:latin typeface="Arial Narrow" panose="020B0606020202030204" pitchFamily="34" charset="0"/>
              </a:rPr>
              <a:t>Over-the-Counter (OTC) </a:t>
            </a:r>
            <a:r>
              <a:rPr lang="tr-TR" sz="1800" noProof="1" smtClean="0">
                <a:latin typeface="Arial Narrow" panose="020B0606020202030204" pitchFamily="34" charset="0"/>
              </a:rPr>
              <a:t>market,</a:t>
            </a:r>
          </a:p>
          <a:p>
            <a:pPr marL="0" lvl="1" indent="0" algn="ctr">
              <a:spcBef>
                <a:spcPts val="0"/>
              </a:spcBef>
              <a:buNone/>
            </a:pPr>
            <a:r>
              <a:rPr lang="tr-TR" sz="1800" noProof="1" smtClean="0">
                <a:latin typeface="Arial Narrow" panose="020B0606020202030204" pitchFamily="34" charset="0"/>
              </a:rPr>
              <a:t>in which dealers at different locations who have an inventory of securities stand ready</a:t>
            </a:r>
          </a:p>
          <a:p>
            <a:pPr marL="0" lvl="1" indent="0" algn="ctr">
              <a:spcBef>
                <a:spcPts val="0"/>
              </a:spcBef>
              <a:buNone/>
            </a:pPr>
            <a:r>
              <a:rPr lang="tr-TR" sz="1800" noProof="1" smtClean="0">
                <a:latin typeface="Arial Narrow" panose="020B0606020202030204" pitchFamily="34" charset="0"/>
              </a:rPr>
              <a:t>to buy and sell securities ″over the counter″</a:t>
            </a:r>
          </a:p>
          <a:p>
            <a:pPr marL="0" lvl="1" indent="0" algn="ctr">
              <a:spcBef>
                <a:spcPts val="0"/>
              </a:spcBef>
              <a:buNone/>
            </a:pPr>
            <a:r>
              <a:rPr lang="tr-TR" sz="1800" noProof="1" smtClean="0">
                <a:latin typeface="Arial Narrow" panose="020B0606020202030204" pitchFamily="34" charset="0"/>
              </a:rPr>
              <a:t>to anyone who comes to them and is willing to accept their prices.</a:t>
            </a:r>
          </a:p>
        </p:txBody>
      </p:sp>
    </p:spTree>
    <p:extLst>
      <p:ext uri="{BB962C8B-B14F-4D97-AF65-F5344CB8AC3E}">
        <p14:creationId xmlns:p14="http://schemas.microsoft.com/office/powerpoint/2010/main" val="40701619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a:solidFill>
                  <a:srgbClr val="800000"/>
                </a:solidFill>
                <a:latin typeface="Arial Narrow" pitchFamily="34" charset="0"/>
              </a:rPr>
              <a:t>Financial </a:t>
            </a:r>
            <a:r>
              <a:rPr lang="tr-TR" sz="2000" dirty="0" err="1">
                <a:solidFill>
                  <a:srgbClr val="800000"/>
                </a:solidFill>
                <a:latin typeface="Arial Narrow" pitchFamily="34" charset="0"/>
              </a:rPr>
              <a:t>Markets</a:t>
            </a:r>
            <a:r>
              <a:rPr lang="tr-TR" sz="2000" dirty="0">
                <a:solidFill>
                  <a:srgbClr val="800000"/>
                </a:solidFill>
                <a:latin typeface="Arial Narrow" pitchFamily="34" charset="0"/>
              </a:rPr>
              <a:t> (Direct Finance)</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smtClean="0">
                <a:latin typeface="Arial Narrow" pitchFamily="34" charset="0"/>
              </a:rPr>
              <a:t>Money </a:t>
            </a:r>
            <a:r>
              <a:rPr lang="tr-TR" sz="2400" dirty="0" err="1" smtClean="0">
                <a:latin typeface="Arial Narrow" pitchFamily="34" charset="0"/>
              </a:rPr>
              <a:t>Markets</a:t>
            </a:r>
            <a:r>
              <a:rPr lang="tr-TR" sz="2400" dirty="0" smtClean="0">
                <a:latin typeface="Arial Narrow" pitchFamily="34" charset="0"/>
              </a:rPr>
              <a:t> </a:t>
            </a:r>
            <a:r>
              <a:rPr lang="tr-TR" sz="2400" dirty="0" err="1" smtClean="0">
                <a:latin typeface="Arial Narrow" pitchFamily="34" charset="0"/>
              </a:rPr>
              <a:t>and</a:t>
            </a:r>
            <a:r>
              <a:rPr lang="tr-TR" sz="2400" dirty="0" smtClean="0">
                <a:latin typeface="Arial Narrow" pitchFamily="34" charset="0"/>
              </a:rPr>
              <a:t> </a:t>
            </a:r>
            <a:r>
              <a:rPr lang="tr-TR" sz="2400" dirty="0" err="1" smtClean="0">
                <a:latin typeface="Arial Narrow" pitchFamily="34" charset="0"/>
              </a:rPr>
              <a:t>Capital</a:t>
            </a:r>
            <a:r>
              <a:rPr lang="tr-TR" sz="2400" dirty="0" smtClean="0">
                <a:latin typeface="Arial Narrow" pitchFamily="34" charset="0"/>
              </a:rPr>
              <a:t> </a:t>
            </a:r>
            <a:r>
              <a:rPr lang="tr-TR" sz="2400" dirty="0" err="1" smtClean="0">
                <a:latin typeface="Arial Narrow" pitchFamily="34" charset="0"/>
              </a:rPr>
              <a:t>Markets</a:t>
            </a:r>
            <a:endParaRPr lang="tr-TR" sz="24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Another</a:t>
            </a:r>
            <a:r>
              <a:rPr lang="tr-TR" sz="1800" dirty="0" smtClean="0">
                <a:latin typeface="Arial Narrow" panose="020B0606020202030204" pitchFamily="34" charset="0"/>
              </a:rPr>
              <a:t> </a:t>
            </a:r>
            <a:r>
              <a:rPr lang="tr-TR" sz="1800" dirty="0" err="1" smtClean="0">
                <a:latin typeface="Arial Narrow" panose="020B0606020202030204" pitchFamily="34" charset="0"/>
              </a:rPr>
              <a:t>way</a:t>
            </a:r>
            <a:r>
              <a:rPr lang="tr-TR" sz="1800" dirty="0" smtClean="0">
                <a:latin typeface="Arial Narrow" panose="020B0606020202030204" pitchFamily="34" charset="0"/>
              </a:rPr>
              <a:t> of </a:t>
            </a:r>
            <a:r>
              <a:rPr lang="tr-TR" sz="1800" dirty="0" err="1" smtClean="0">
                <a:latin typeface="Arial Narrow" panose="020B0606020202030204" pitchFamily="34" charset="0"/>
              </a:rPr>
              <a:t>distinguishing</a:t>
            </a:r>
            <a:r>
              <a:rPr lang="tr-TR" sz="1800" dirty="0" smtClean="0">
                <a:latin typeface="Arial Narrow" panose="020B0606020202030204" pitchFamily="34" charset="0"/>
              </a:rPr>
              <a:t> </a:t>
            </a:r>
            <a:r>
              <a:rPr lang="tr-TR" sz="1800" dirty="0" err="1" smtClean="0">
                <a:latin typeface="Arial Narrow" panose="020B0606020202030204" pitchFamily="34" charset="0"/>
              </a:rPr>
              <a:t>between</a:t>
            </a:r>
            <a:r>
              <a:rPr lang="tr-TR" sz="1800" dirty="0" smtClean="0">
                <a:latin typeface="Arial Narrow" panose="020B0606020202030204" pitchFamily="34" charset="0"/>
              </a:rPr>
              <a:t> </a:t>
            </a:r>
            <a:r>
              <a:rPr lang="tr-TR" sz="1800" dirty="0" err="1" smtClean="0">
                <a:latin typeface="Arial Narrow" panose="020B0606020202030204" pitchFamily="34" charset="0"/>
              </a:rPr>
              <a:t>markets</a:t>
            </a:r>
            <a:r>
              <a:rPr lang="tr-TR" sz="1800" dirty="0" smtClean="0">
                <a:latin typeface="Arial Narrow" panose="020B0606020202030204" pitchFamily="34" charset="0"/>
              </a:rPr>
              <a:t> is</a:t>
            </a:r>
          </a:p>
          <a:p>
            <a:pPr marL="0" lvl="0" indent="0" algn="ctr">
              <a:spcBef>
                <a:spcPts val="0"/>
              </a:spcBef>
              <a:buNone/>
            </a:pPr>
            <a:r>
              <a:rPr lang="tr-TR" sz="1800" dirty="0" smtClean="0">
                <a:latin typeface="Arial Narrow" panose="020B0606020202030204" pitchFamily="34" charset="0"/>
              </a:rPr>
              <a:t>on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basis</a:t>
            </a:r>
            <a:r>
              <a:rPr lang="tr-TR" sz="1800" dirty="0" smtClean="0">
                <a:latin typeface="Arial Narrow" panose="020B0606020202030204" pitchFamily="34" charset="0"/>
              </a:rPr>
              <a:t> of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maturity</a:t>
            </a:r>
            <a:r>
              <a:rPr lang="tr-TR" sz="1800" dirty="0" smtClean="0">
                <a:latin typeface="Arial Narrow" panose="020B0606020202030204" pitchFamily="34" charset="0"/>
              </a:rPr>
              <a:t> of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securities</a:t>
            </a:r>
            <a:r>
              <a:rPr lang="tr-TR" sz="1800" dirty="0" smtClean="0">
                <a:latin typeface="Arial Narrow" panose="020B0606020202030204" pitchFamily="34" charset="0"/>
              </a:rPr>
              <a:t> </a:t>
            </a:r>
            <a:r>
              <a:rPr lang="tr-TR" sz="1800" dirty="0" err="1" smtClean="0">
                <a:latin typeface="Arial Narrow" panose="020B0606020202030204" pitchFamily="34" charset="0"/>
              </a:rPr>
              <a:t>traded</a:t>
            </a:r>
            <a:r>
              <a:rPr lang="tr-TR" sz="1800" dirty="0" smtClean="0">
                <a:latin typeface="Arial Narrow" panose="020B0606020202030204" pitchFamily="34" charset="0"/>
              </a:rPr>
              <a:t> in </a:t>
            </a:r>
            <a:r>
              <a:rPr lang="tr-TR" sz="1800" dirty="0" err="1" smtClean="0">
                <a:latin typeface="Arial Narrow" panose="020B0606020202030204" pitchFamily="34" charset="0"/>
              </a:rPr>
              <a:t>each</a:t>
            </a:r>
            <a:r>
              <a:rPr lang="tr-TR" sz="1800" dirty="0" smtClean="0">
                <a:latin typeface="Arial Narrow" panose="020B0606020202030204" pitchFamily="34" charset="0"/>
              </a:rPr>
              <a:t> market.</a:t>
            </a:r>
          </a:p>
          <a:p>
            <a:pPr marL="0" lvl="0" indent="0" algn="ctr">
              <a:spcBef>
                <a:spcPts val="0"/>
              </a:spcBef>
              <a:buNone/>
            </a:pPr>
            <a:endParaRPr lang="tr-TR" sz="900" dirty="0">
              <a:latin typeface="Arial Narrow" panose="020B0606020202030204" pitchFamily="34" charset="0"/>
            </a:endParaRPr>
          </a:p>
          <a:p>
            <a:pPr marL="0" lvl="0" indent="0" algn="ctr">
              <a:spcBef>
                <a:spcPts val="0"/>
              </a:spcBef>
              <a:buNone/>
            </a:pPr>
            <a:r>
              <a:rPr lang="tr-TR" sz="1800" dirty="0" smtClean="0">
                <a:solidFill>
                  <a:srgbClr val="C00000"/>
                </a:solidFill>
                <a:latin typeface="Arial Narrow" panose="020B0606020202030204" pitchFamily="34" charset="0"/>
              </a:rPr>
              <a:t>A. Money Market</a:t>
            </a:r>
          </a:p>
          <a:p>
            <a:pPr marL="0" lvl="0" indent="0" algn="ctr">
              <a:spcBef>
                <a:spcPts val="0"/>
              </a:spcBef>
              <a:buNone/>
            </a:pPr>
            <a:r>
              <a:rPr lang="tr-TR" sz="1800" dirty="0" smtClean="0">
                <a:latin typeface="Arial Narrow" panose="020B0606020202030204" pitchFamily="34" charset="0"/>
              </a:rPr>
              <a:t>is a </a:t>
            </a:r>
            <a:r>
              <a:rPr lang="tr-TR" sz="1800" dirty="0" err="1" smtClean="0">
                <a:latin typeface="Arial Narrow" panose="020B0606020202030204" pitchFamily="34" charset="0"/>
              </a:rPr>
              <a:t>financial</a:t>
            </a:r>
            <a:r>
              <a:rPr lang="tr-TR" sz="1800" dirty="0" smtClean="0">
                <a:latin typeface="Arial Narrow" panose="020B0606020202030204" pitchFamily="34" charset="0"/>
              </a:rPr>
              <a:t> market in </a:t>
            </a:r>
            <a:r>
              <a:rPr lang="tr-TR" sz="1800" dirty="0" err="1" smtClean="0">
                <a:latin typeface="Arial Narrow" panose="020B0606020202030204" pitchFamily="34" charset="0"/>
              </a:rPr>
              <a:t>which</a:t>
            </a:r>
            <a:r>
              <a:rPr lang="tr-TR" sz="1800" dirty="0" smtClean="0">
                <a:latin typeface="Arial Narrow" panose="020B0606020202030204" pitchFamily="34" charset="0"/>
              </a:rPr>
              <a:t> </a:t>
            </a:r>
            <a:r>
              <a:rPr lang="tr-TR" sz="1800" dirty="0" err="1" smtClean="0">
                <a:latin typeface="Arial Narrow" panose="020B0606020202030204" pitchFamily="34" charset="0"/>
              </a:rPr>
              <a:t>only</a:t>
            </a:r>
            <a:r>
              <a:rPr lang="tr-TR" sz="1800" dirty="0" smtClean="0">
                <a:latin typeface="Arial Narrow" panose="020B0606020202030204" pitchFamily="34" charset="0"/>
              </a:rPr>
              <a:t> </a:t>
            </a:r>
            <a:r>
              <a:rPr lang="tr-TR" sz="1800" dirty="0" err="1" smtClean="0">
                <a:latin typeface="Arial Narrow" panose="020B0606020202030204" pitchFamily="34" charset="0"/>
              </a:rPr>
              <a:t>short-term</a:t>
            </a:r>
            <a:r>
              <a:rPr lang="tr-TR" sz="1800" dirty="0" smtClean="0">
                <a:latin typeface="Arial Narrow" panose="020B0606020202030204" pitchFamily="34" charset="0"/>
              </a:rPr>
              <a:t> </a:t>
            </a:r>
            <a:r>
              <a:rPr lang="tr-TR" sz="1800" dirty="0" err="1" smtClean="0">
                <a:latin typeface="Arial Narrow" panose="020B0606020202030204" pitchFamily="34" charset="0"/>
              </a:rPr>
              <a:t>debt</a:t>
            </a:r>
            <a:r>
              <a:rPr lang="tr-TR" sz="1800" dirty="0" smtClean="0">
                <a:latin typeface="Arial Narrow" panose="020B0606020202030204" pitchFamily="34" charset="0"/>
              </a:rPr>
              <a:t> </a:t>
            </a:r>
            <a:r>
              <a:rPr lang="tr-TR" sz="1800" dirty="0" err="1" smtClean="0">
                <a:latin typeface="Arial Narrow" panose="020B0606020202030204" pitchFamily="34" charset="0"/>
              </a:rPr>
              <a:t>instruments</a:t>
            </a:r>
            <a:endParaRPr lang="tr-TR" sz="1800" dirty="0">
              <a:latin typeface="Arial Narrow" panose="020B0606020202030204" pitchFamily="34" charset="0"/>
            </a:endParaRPr>
          </a:p>
          <a:p>
            <a:pPr marL="0" lvl="0" indent="0" algn="ctr">
              <a:spcBef>
                <a:spcPts val="0"/>
              </a:spcBef>
              <a:buNone/>
            </a:pPr>
            <a:r>
              <a:rPr lang="tr-TR" sz="1800" dirty="0" smtClean="0">
                <a:latin typeface="Arial Narrow" panose="020B0606020202030204" pitchFamily="34" charset="0"/>
              </a:rPr>
              <a:t>(</a:t>
            </a:r>
            <a:r>
              <a:rPr lang="tr-TR" sz="1800" dirty="0" err="1" smtClean="0">
                <a:latin typeface="Arial Narrow" panose="020B0606020202030204" pitchFamily="34" charset="0"/>
              </a:rPr>
              <a:t>generally</a:t>
            </a:r>
            <a:r>
              <a:rPr lang="tr-TR" sz="1800" dirty="0" smtClean="0">
                <a:latin typeface="Arial Narrow" panose="020B0606020202030204" pitchFamily="34" charset="0"/>
              </a:rPr>
              <a:t> </a:t>
            </a:r>
            <a:r>
              <a:rPr lang="tr-TR" sz="1800" dirty="0" err="1" smtClean="0">
                <a:latin typeface="Arial Narrow" panose="020B0606020202030204" pitchFamily="34" charset="0"/>
              </a:rPr>
              <a:t>those</a:t>
            </a:r>
            <a:r>
              <a:rPr lang="tr-TR" sz="1800" dirty="0" smtClean="0">
                <a:latin typeface="Arial Narrow" panose="020B0606020202030204" pitchFamily="34" charset="0"/>
              </a:rPr>
              <a:t> </a:t>
            </a:r>
            <a:r>
              <a:rPr lang="tr-TR" sz="1800" dirty="0" err="1" smtClean="0">
                <a:latin typeface="Arial Narrow" panose="020B0606020202030204" pitchFamily="34" charset="0"/>
              </a:rPr>
              <a:t>with</a:t>
            </a:r>
            <a:r>
              <a:rPr lang="tr-TR" sz="1800" dirty="0" smtClean="0">
                <a:latin typeface="Arial Narrow" panose="020B0606020202030204" pitchFamily="34" charset="0"/>
              </a:rPr>
              <a:t> </a:t>
            </a:r>
            <a:r>
              <a:rPr lang="tr-TR" sz="1800" dirty="0" err="1" smtClean="0">
                <a:latin typeface="Arial Narrow" panose="020B0606020202030204" pitchFamily="34" charset="0"/>
              </a:rPr>
              <a:t>original</a:t>
            </a:r>
            <a:r>
              <a:rPr lang="tr-TR" sz="1800" dirty="0" smtClean="0">
                <a:latin typeface="Arial Narrow" panose="020B0606020202030204" pitchFamily="34" charset="0"/>
              </a:rPr>
              <a:t> </a:t>
            </a:r>
            <a:r>
              <a:rPr lang="tr-TR" sz="1800" dirty="0" err="1" smtClean="0">
                <a:latin typeface="Arial Narrow" panose="020B0606020202030204" pitchFamily="34" charset="0"/>
              </a:rPr>
              <a:t>maturity</a:t>
            </a:r>
            <a:r>
              <a:rPr lang="tr-TR" sz="1800" dirty="0" smtClean="0">
                <a:latin typeface="Arial Narrow" panose="020B0606020202030204" pitchFamily="34" charset="0"/>
              </a:rPr>
              <a:t> of </a:t>
            </a:r>
            <a:r>
              <a:rPr lang="tr-TR" sz="1800" dirty="0" err="1" smtClean="0">
                <a:latin typeface="Arial Narrow" panose="020B0606020202030204" pitchFamily="34" charset="0"/>
              </a:rPr>
              <a:t>less</a:t>
            </a:r>
            <a:r>
              <a:rPr lang="tr-TR" sz="1800" dirty="0" smtClean="0">
                <a:latin typeface="Arial Narrow" panose="020B0606020202030204" pitchFamily="34" charset="0"/>
              </a:rPr>
              <a:t> </a:t>
            </a:r>
            <a:r>
              <a:rPr lang="tr-TR" sz="1800" dirty="0" err="1" smtClean="0">
                <a:latin typeface="Arial Narrow" panose="020B0606020202030204" pitchFamily="34" charset="0"/>
              </a:rPr>
              <a:t>than</a:t>
            </a:r>
            <a:r>
              <a:rPr lang="tr-TR" sz="1800" dirty="0" smtClean="0">
                <a:latin typeface="Arial Narrow" panose="020B0606020202030204" pitchFamily="34" charset="0"/>
              </a:rPr>
              <a:t> </a:t>
            </a:r>
            <a:r>
              <a:rPr lang="tr-TR" sz="1800" dirty="0" err="1" smtClean="0">
                <a:latin typeface="Arial Narrow" panose="020B0606020202030204" pitchFamily="34" charset="0"/>
              </a:rPr>
              <a:t>one</a:t>
            </a:r>
            <a:r>
              <a:rPr lang="tr-TR" sz="1800" dirty="0" smtClean="0">
                <a:latin typeface="Arial Narrow" panose="020B0606020202030204" pitchFamily="34" charset="0"/>
              </a:rPr>
              <a:t> </a:t>
            </a:r>
            <a:r>
              <a:rPr lang="tr-TR" sz="1800" dirty="0" err="1" smtClean="0">
                <a:latin typeface="Arial Narrow" panose="020B0606020202030204" pitchFamily="34" charset="0"/>
              </a:rPr>
              <a:t>year</a:t>
            </a:r>
            <a:r>
              <a:rPr lang="tr-TR" sz="1800" dirty="0" smtClean="0">
                <a:latin typeface="Arial Narrow" panose="020B0606020202030204" pitchFamily="34" charset="0"/>
              </a:rPr>
              <a:t>) </a:t>
            </a:r>
            <a:r>
              <a:rPr lang="tr-TR" sz="1800" dirty="0" err="1" smtClean="0">
                <a:latin typeface="Arial Narrow" panose="020B0606020202030204" pitchFamily="34" charset="0"/>
              </a:rPr>
              <a:t>are</a:t>
            </a:r>
            <a:r>
              <a:rPr lang="tr-TR" sz="1800" dirty="0" smtClean="0">
                <a:latin typeface="Arial Narrow" panose="020B0606020202030204" pitchFamily="34" charset="0"/>
              </a:rPr>
              <a:t> </a:t>
            </a:r>
            <a:r>
              <a:rPr lang="tr-TR" sz="1800" dirty="0" err="1" smtClean="0">
                <a:latin typeface="Arial Narrow" panose="020B0606020202030204" pitchFamily="34" charset="0"/>
              </a:rPr>
              <a:t>traded</a:t>
            </a:r>
            <a:r>
              <a:rPr lang="tr-TR" sz="1800" dirty="0" smtClean="0">
                <a:latin typeface="Arial Narrow" panose="020B0606020202030204" pitchFamily="34" charset="0"/>
              </a:rPr>
              <a:t>;</a:t>
            </a:r>
          </a:p>
          <a:p>
            <a:pPr marL="0" lvl="0" indent="0" algn="ctr">
              <a:spcBef>
                <a:spcPts val="0"/>
              </a:spcBef>
              <a:buNone/>
            </a:pPr>
            <a:endParaRPr lang="tr-TR" sz="1800" dirty="0" smtClean="0">
              <a:latin typeface="Arial Narrow" panose="020B0606020202030204" pitchFamily="34" charset="0"/>
            </a:endParaRPr>
          </a:p>
          <a:p>
            <a:pPr marL="0" lvl="0" indent="0" algn="ctr">
              <a:spcBef>
                <a:spcPts val="0"/>
              </a:spcBef>
              <a:buNone/>
            </a:pPr>
            <a:r>
              <a:rPr lang="tr-TR" sz="1800" dirty="0" smtClean="0">
                <a:solidFill>
                  <a:srgbClr val="C00000"/>
                </a:solidFill>
                <a:latin typeface="Arial Narrow" panose="020B0606020202030204" pitchFamily="34" charset="0"/>
              </a:rPr>
              <a:t>B. </a:t>
            </a:r>
            <a:r>
              <a:rPr lang="tr-TR" sz="1800" dirty="0" err="1" smtClean="0">
                <a:solidFill>
                  <a:srgbClr val="C00000"/>
                </a:solidFill>
                <a:latin typeface="Arial Narrow" panose="020B0606020202030204" pitchFamily="34" charset="0"/>
              </a:rPr>
              <a:t>Capital</a:t>
            </a:r>
            <a:r>
              <a:rPr lang="tr-TR" sz="1800" dirty="0" smtClean="0">
                <a:solidFill>
                  <a:srgbClr val="C00000"/>
                </a:solidFill>
                <a:latin typeface="Arial Narrow" panose="020B0606020202030204" pitchFamily="34" charset="0"/>
              </a:rPr>
              <a:t> Market</a:t>
            </a:r>
          </a:p>
          <a:p>
            <a:pPr marL="0" lvl="0" indent="0" algn="ctr">
              <a:spcBef>
                <a:spcPts val="0"/>
              </a:spcBef>
              <a:buNone/>
            </a:pPr>
            <a:r>
              <a:rPr lang="tr-TR" sz="1800" dirty="0" smtClean="0">
                <a:latin typeface="Arial Narrow" panose="020B0606020202030204" pitchFamily="34" charset="0"/>
              </a:rPr>
              <a:t>is </a:t>
            </a:r>
            <a:r>
              <a:rPr lang="tr-TR" sz="1800" dirty="0" err="1" smtClean="0">
                <a:latin typeface="Arial Narrow" panose="020B0606020202030204" pitchFamily="34" charset="0"/>
              </a:rPr>
              <a:t>the</a:t>
            </a:r>
            <a:r>
              <a:rPr lang="tr-TR" sz="1800" dirty="0" smtClean="0">
                <a:latin typeface="Arial Narrow" panose="020B0606020202030204" pitchFamily="34" charset="0"/>
              </a:rPr>
              <a:t> market in </a:t>
            </a:r>
            <a:r>
              <a:rPr lang="tr-TR" sz="1800" dirty="0" err="1" smtClean="0">
                <a:latin typeface="Arial Narrow" panose="020B0606020202030204" pitchFamily="34" charset="0"/>
              </a:rPr>
              <a:t>which</a:t>
            </a:r>
            <a:r>
              <a:rPr lang="tr-TR" sz="1800" dirty="0" smtClean="0">
                <a:latin typeface="Arial Narrow" panose="020B0606020202030204" pitchFamily="34" charset="0"/>
              </a:rPr>
              <a:t> </a:t>
            </a:r>
            <a:r>
              <a:rPr lang="tr-TR" sz="1800" dirty="0" err="1" smtClean="0">
                <a:latin typeface="Arial Narrow" panose="020B0606020202030204" pitchFamily="34" charset="0"/>
              </a:rPr>
              <a:t>longer-term</a:t>
            </a:r>
            <a:r>
              <a:rPr lang="tr-TR" sz="1800" dirty="0" smtClean="0">
                <a:latin typeface="Arial Narrow" panose="020B0606020202030204" pitchFamily="34" charset="0"/>
              </a:rPr>
              <a:t> </a:t>
            </a:r>
            <a:r>
              <a:rPr lang="tr-TR" sz="1800" dirty="0" err="1" smtClean="0">
                <a:latin typeface="Arial Narrow" panose="020B0606020202030204" pitchFamily="34" charset="0"/>
              </a:rPr>
              <a:t>debt</a:t>
            </a:r>
            <a:endParaRPr lang="tr-TR" sz="1800" dirty="0">
              <a:latin typeface="Arial Narrow" panose="020B0606020202030204" pitchFamily="34" charset="0"/>
            </a:endParaRPr>
          </a:p>
          <a:p>
            <a:pPr marL="0" lvl="0" indent="0" algn="ctr">
              <a:spcBef>
                <a:spcPts val="0"/>
              </a:spcBef>
              <a:buNone/>
            </a:pPr>
            <a:r>
              <a:rPr lang="tr-TR" sz="1800" dirty="0" smtClean="0">
                <a:latin typeface="Arial Narrow" panose="020B0606020202030204" pitchFamily="34" charset="0"/>
              </a:rPr>
              <a:t>(</a:t>
            </a:r>
            <a:r>
              <a:rPr lang="tr-TR" sz="1800" dirty="0" err="1" smtClean="0">
                <a:latin typeface="Arial Narrow" panose="020B0606020202030204" pitchFamily="34" charset="0"/>
              </a:rPr>
              <a:t>generally</a:t>
            </a:r>
            <a:r>
              <a:rPr lang="tr-TR" sz="1800" dirty="0" smtClean="0">
                <a:latin typeface="Arial Narrow" panose="020B0606020202030204" pitchFamily="34" charset="0"/>
              </a:rPr>
              <a:t> </a:t>
            </a:r>
            <a:r>
              <a:rPr lang="tr-TR" sz="1800" dirty="0" err="1" smtClean="0">
                <a:latin typeface="Arial Narrow" panose="020B0606020202030204" pitchFamily="34" charset="0"/>
              </a:rPr>
              <a:t>those</a:t>
            </a:r>
            <a:r>
              <a:rPr lang="tr-TR" sz="1800" dirty="0" smtClean="0">
                <a:latin typeface="Arial Narrow" panose="020B0606020202030204" pitchFamily="34" charset="0"/>
              </a:rPr>
              <a:t> </a:t>
            </a:r>
            <a:r>
              <a:rPr lang="tr-TR" sz="1800" dirty="0" err="1" smtClean="0">
                <a:latin typeface="Arial Narrow" panose="020B0606020202030204" pitchFamily="34" charset="0"/>
              </a:rPr>
              <a:t>with</a:t>
            </a:r>
            <a:r>
              <a:rPr lang="tr-TR" sz="1800" dirty="0" smtClean="0">
                <a:latin typeface="Arial Narrow" panose="020B0606020202030204" pitchFamily="34" charset="0"/>
              </a:rPr>
              <a:t> </a:t>
            </a:r>
            <a:r>
              <a:rPr lang="tr-TR" sz="1800" dirty="0" err="1" smtClean="0">
                <a:latin typeface="Arial Narrow" panose="020B0606020202030204" pitchFamily="34" charset="0"/>
              </a:rPr>
              <a:t>original</a:t>
            </a:r>
            <a:r>
              <a:rPr lang="tr-TR" sz="1800" dirty="0" smtClean="0">
                <a:latin typeface="Arial Narrow" panose="020B0606020202030204" pitchFamily="34" charset="0"/>
              </a:rPr>
              <a:t> </a:t>
            </a:r>
            <a:r>
              <a:rPr lang="tr-TR" sz="1800" dirty="0" err="1" smtClean="0">
                <a:latin typeface="Arial Narrow" panose="020B0606020202030204" pitchFamily="34" charset="0"/>
              </a:rPr>
              <a:t>maturity</a:t>
            </a:r>
            <a:r>
              <a:rPr lang="tr-TR" sz="1800" dirty="0" smtClean="0">
                <a:latin typeface="Arial Narrow" panose="020B0606020202030204" pitchFamily="34" charset="0"/>
              </a:rPr>
              <a:t> of </a:t>
            </a:r>
            <a:r>
              <a:rPr lang="tr-TR" sz="1800" dirty="0" err="1" smtClean="0">
                <a:latin typeface="Arial Narrow" panose="020B0606020202030204" pitchFamily="34" charset="0"/>
              </a:rPr>
              <a:t>one</a:t>
            </a:r>
            <a:r>
              <a:rPr lang="tr-TR" sz="1800" dirty="0" smtClean="0">
                <a:latin typeface="Arial Narrow" panose="020B0606020202030204" pitchFamily="34" charset="0"/>
              </a:rPr>
              <a:t> </a:t>
            </a:r>
            <a:r>
              <a:rPr lang="tr-TR" sz="1800" dirty="0" err="1" smtClean="0">
                <a:latin typeface="Arial Narrow" panose="020B0606020202030204" pitchFamily="34" charset="0"/>
              </a:rPr>
              <a:t>year</a:t>
            </a:r>
            <a:r>
              <a:rPr lang="tr-TR" sz="1800" dirty="0" smtClean="0">
                <a:latin typeface="Arial Narrow" panose="020B0606020202030204" pitchFamily="34" charset="0"/>
              </a:rPr>
              <a:t> </a:t>
            </a:r>
            <a:r>
              <a:rPr lang="tr-TR" sz="1800" dirty="0" err="1" smtClean="0">
                <a:latin typeface="Arial Narrow" panose="020B0606020202030204" pitchFamily="34" charset="0"/>
              </a:rPr>
              <a:t>or</a:t>
            </a:r>
            <a:r>
              <a:rPr lang="tr-TR" sz="1800" dirty="0" smtClean="0">
                <a:latin typeface="Arial Narrow" panose="020B0606020202030204" pitchFamily="34" charset="0"/>
              </a:rPr>
              <a:t> </a:t>
            </a:r>
            <a:r>
              <a:rPr lang="tr-TR" sz="1800" dirty="0" err="1" smtClean="0">
                <a:latin typeface="Arial Narrow" panose="020B0606020202030204" pitchFamily="34" charset="0"/>
              </a:rPr>
              <a:t>greater</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equity</a:t>
            </a:r>
            <a:r>
              <a:rPr lang="tr-TR" sz="1800" dirty="0" smtClean="0">
                <a:latin typeface="Arial Narrow" panose="020B0606020202030204" pitchFamily="34" charset="0"/>
              </a:rPr>
              <a:t> </a:t>
            </a:r>
            <a:r>
              <a:rPr lang="tr-TR" sz="1800" dirty="0" err="1" smtClean="0">
                <a:latin typeface="Arial Narrow" panose="020B0606020202030204" pitchFamily="34" charset="0"/>
              </a:rPr>
              <a:t>instruments</a:t>
            </a:r>
            <a:r>
              <a:rPr lang="tr-TR" sz="1800" dirty="0" smtClean="0">
                <a:latin typeface="Arial Narrow" panose="020B0606020202030204" pitchFamily="34" charset="0"/>
              </a:rPr>
              <a:t> </a:t>
            </a:r>
            <a:r>
              <a:rPr lang="tr-TR" sz="1800" dirty="0" err="1" smtClean="0">
                <a:latin typeface="Arial Narrow" panose="020B0606020202030204" pitchFamily="34" charset="0"/>
              </a:rPr>
              <a:t>are</a:t>
            </a:r>
            <a:r>
              <a:rPr lang="tr-TR" sz="1800" dirty="0" smtClean="0">
                <a:latin typeface="Arial Narrow" panose="020B0606020202030204" pitchFamily="34" charset="0"/>
              </a:rPr>
              <a:t> </a:t>
            </a:r>
            <a:r>
              <a:rPr lang="tr-TR" sz="1800" dirty="0" err="1" smtClean="0">
                <a:latin typeface="Arial Narrow" panose="020B0606020202030204" pitchFamily="34" charset="0"/>
              </a:rPr>
              <a:t>traded</a:t>
            </a:r>
            <a:r>
              <a:rPr lang="tr-TR" sz="1800" dirty="0" smtClean="0">
                <a:latin typeface="Arial Narrow" panose="020B0606020202030204" pitchFamily="34" charset="0"/>
              </a:rPr>
              <a:t>.</a:t>
            </a:r>
            <a:endParaRPr lang="tr-TR" sz="1800" dirty="0">
              <a:latin typeface="Arial Narrow" panose="020B0606020202030204" pitchFamily="34" charset="0"/>
            </a:endParaRPr>
          </a:p>
          <a:p>
            <a:pPr marL="0" indent="0">
              <a:spcBef>
                <a:spcPts val="0"/>
              </a:spcBef>
              <a:buNone/>
            </a:pPr>
            <a:endParaRPr lang="tr-TR" sz="1600" noProof="1" smtClean="0">
              <a:latin typeface="Arial Narrow" panose="020B0606020202030204" pitchFamily="34" charset="0"/>
            </a:endParaRPr>
          </a:p>
          <a:p>
            <a:pPr marL="0" lvl="1" indent="0" algn="ctr">
              <a:spcBef>
                <a:spcPts val="0"/>
              </a:spcBef>
              <a:buNone/>
            </a:pPr>
            <a:endParaRPr lang="tr-TR" sz="2000" noProof="1">
              <a:latin typeface="Arial Narrow" panose="020B0606020202030204" pitchFamily="34" charset="0"/>
            </a:endParaRPr>
          </a:p>
          <a:p>
            <a:pPr marL="0" lvl="1" indent="0" algn="ctr">
              <a:spcBef>
                <a:spcPts val="0"/>
              </a:spcBef>
              <a:buNone/>
            </a:pPr>
            <a:endParaRPr lang="tr-TR" sz="2000" noProof="1">
              <a:latin typeface="Arial Narrow" panose="020B0606020202030204" pitchFamily="34" charset="0"/>
            </a:endParaRPr>
          </a:p>
          <a:p>
            <a:pPr marL="0" lvl="1" indent="0" algn="ctr">
              <a:spcBef>
                <a:spcPts val="0"/>
              </a:spcBef>
              <a:buNone/>
            </a:pPr>
            <a:endParaRPr lang="tr-TR" sz="2000" noProof="1" smtClean="0">
              <a:latin typeface="Arial Narrow" panose="020B0606020202030204" pitchFamily="34" charset="0"/>
            </a:endParaRPr>
          </a:p>
        </p:txBody>
      </p:sp>
    </p:spTree>
    <p:extLst>
      <p:ext uri="{BB962C8B-B14F-4D97-AF65-F5344CB8AC3E}">
        <p14:creationId xmlns:p14="http://schemas.microsoft.com/office/powerpoint/2010/main" val="9942049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91264" cy="1143000"/>
          </a:xfrm>
          <a:ln w="25400">
            <a:noFill/>
          </a:ln>
        </p:spPr>
        <p:txBody>
          <a:bodyPr>
            <a:noAutofit/>
          </a:bodyPr>
          <a:lstStyle/>
          <a:p>
            <a:r>
              <a:rPr lang="tr-TR" sz="1400" dirty="0">
                <a:latin typeface="Arial Narrow" pitchFamily="34" charset="0"/>
              </a:rPr>
              <a:t>NTE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a:solidFill>
                  <a:srgbClr val="800000"/>
                </a:solidFill>
                <a:latin typeface="Arial Narrow" pitchFamily="34" charset="0"/>
              </a:rPr>
              <a:t>Financial </a:t>
            </a:r>
            <a:r>
              <a:rPr lang="tr-TR" sz="2000" dirty="0" err="1">
                <a:solidFill>
                  <a:srgbClr val="800000"/>
                </a:solidFill>
                <a:latin typeface="Arial Narrow" pitchFamily="34" charset="0"/>
              </a:rPr>
              <a:t>Markets</a:t>
            </a:r>
            <a:r>
              <a:rPr lang="tr-TR" sz="2000" dirty="0">
                <a:solidFill>
                  <a:srgbClr val="800000"/>
                </a:solidFill>
                <a:latin typeface="Arial Narrow" pitchFamily="34" charset="0"/>
              </a:rPr>
              <a:t> (Direct Finance)</a:t>
            </a:r>
            <a:r>
              <a:rPr lang="tr-TR" sz="2000" dirty="0" smtClean="0">
                <a:solidFill>
                  <a:srgbClr val="C00000"/>
                </a:solidFill>
                <a:latin typeface="Arial Narrow" pitchFamily="34" charset="0"/>
              </a:rPr>
              <a:t/>
            </a:r>
            <a:br>
              <a:rPr lang="tr-TR" sz="2000" dirty="0" smtClean="0">
                <a:solidFill>
                  <a:srgbClr val="C00000"/>
                </a:solidFill>
                <a:latin typeface="Arial Narrow" pitchFamily="34" charset="0"/>
              </a:rPr>
            </a:br>
            <a:r>
              <a:rPr lang="tr-TR" sz="2400" dirty="0" err="1" smtClean="0">
                <a:latin typeface="Arial Narrow" pitchFamily="34" charset="0"/>
              </a:rPr>
              <a:t>Further</a:t>
            </a:r>
            <a:r>
              <a:rPr lang="tr-TR" sz="2400" dirty="0" smtClean="0">
                <a:latin typeface="Arial Narrow" pitchFamily="34" charset="0"/>
              </a:rPr>
              <a:t> </a:t>
            </a:r>
            <a:r>
              <a:rPr lang="tr-TR" sz="2400" dirty="0" err="1" smtClean="0">
                <a:latin typeface="Arial Narrow" pitchFamily="34" charset="0"/>
              </a:rPr>
              <a:t>Categories</a:t>
            </a:r>
            <a:endParaRPr lang="tr-TR" sz="2400" dirty="0">
              <a:latin typeface="Arial Narrow" pitchFamily="34" charset="0"/>
            </a:endParaRPr>
          </a:p>
        </p:txBody>
      </p:sp>
      <p:sp>
        <p:nvSpPr>
          <p:cNvPr id="5" name="Content Placeholder 4"/>
          <p:cNvSpPr>
            <a:spLocks noGrp="1"/>
          </p:cNvSpPr>
          <p:nvPr>
            <p:ph idx="1"/>
          </p:nvPr>
        </p:nvSpPr>
        <p:spPr>
          <a:xfrm>
            <a:off x="457200" y="1124744"/>
            <a:ext cx="8291264" cy="5472608"/>
          </a:xfrm>
          <a:ln w="25400">
            <a:noFill/>
          </a:ln>
        </p:spPr>
        <p:txBody>
          <a:bodyPr>
            <a:noAutofit/>
          </a:bodyPr>
          <a:lstStyle/>
          <a:p>
            <a:pPr marL="857250" lvl="2" indent="-457200" algn="ctr">
              <a:spcBef>
                <a:spcPts val="0"/>
              </a:spcBef>
              <a:buFont typeface="+mj-lt"/>
              <a:buAutoNum type="alphaUcPeriod"/>
            </a:pPr>
            <a:r>
              <a:rPr lang="tr-TR" sz="1800" noProof="1" smtClean="0">
                <a:solidFill>
                  <a:srgbClr val="800000"/>
                </a:solidFill>
                <a:latin typeface="Arial Narrow" panose="020B0606020202030204" pitchFamily="34" charset="0"/>
              </a:rPr>
              <a:t>Money Markets</a:t>
            </a:r>
          </a:p>
          <a:p>
            <a:pPr marL="857250" lvl="2" indent="-457200" algn="ctr">
              <a:spcBef>
                <a:spcPts val="0"/>
              </a:spcBef>
              <a:buFont typeface="+mj-lt"/>
              <a:buAutoNum type="alphaUcPeriod"/>
            </a:pPr>
            <a:r>
              <a:rPr lang="tr-TR" sz="1800" noProof="1" smtClean="0">
                <a:solidFill>
                  <a:srgbClr val="800000"/>
                </a:solidFill>
                <a:latin typeface="Arial Narrow" panose="020B0606020202030204" pitchFamily="34" charset="0"/>
              </a:rPr>
              <a:t>Capital Markets</a:t>
            </a:r>
          </a:p>
          <a:p>
            <a:pPr marL="857250" lvl="2" indent="-457200">
              <a:spcBef>
                <a:spcPts val="0"/>
              </a:spcBef>
              <a:buFont typeface="+mj-lt"/>
              <a:buAutoNum type="alphaUcPeriod"/>
            </a:pPr>
            <a:endParaRPr lang="tr-TR" sz="1800" noProof="1" smtClean="0">
              <a:solidFill>
                <a:srgbClr val="C00000"/>
              </a:solidFill>
              <a:latin typeface="Arial Narrow" panose="020B0606020202030204" pitchFamily="34" charset="0"/>
            </a:endParaRPr>
          </a:p>
          <a:p>
            <a:pPr marL="857250" lvl="2" indent="-457200" algn="ctr">
              <a:spcBef>
                <a:spcPts val="0"/>
              </a:spcBef>
              <a:buFont typeface="+mj-lt"/>
              <a:buAutoNum type="alphaUcPeriod"/>
            </a:pPr>
            <a:r>
              <a:rPr lang="tr-TR" sz="1800" noProof="1" smtClean="0">
                <a:solidFill>
                  <a:srgbClr val="C00000"/>
                </a:solidFill>
                <a:latin typeface="Arial Narrow" panose="020B0606020202030204" pitchFamily="34" charset="0"/>
              </a:rPr>
              <a:t>Futures and Derivatives Markets</a:t>
            </a:r>
          </a:p>
          <a:p>
            <a:pPr marL="857250" lvl="3" indent="0">
              <a:spcBef>
                <a:spcPts val="0"/>
              </a:spcBef>
              <a:buNone/>
            </a:pPr>
            <a:r>
              <a:rPr lang="tr-TR" sz="1600" noProof="1" smtClean="0">
                <a:solidFill>
                  <a:srgbClr val="C00000"/>
                </a:solidFill>
                <a:latin typeface="Arial Narrow" panose="020B0606020202030204" pitchFamily="34" charset="0"/>
              </a:rPr>
              <a:t> </a:t>
            </a:r>
            <a:r>
              <a:rPr lang="tr-TR" sz="1600" noProof="1">
                <a:latin typeface="Arial Narrow" panose="020B0606020202030204" pitchFamily="34" charset="0"/>
              </a:rPr>
              <a:t>Futures are agreements to purchase an asset at a date in the future at a price that is agreed now.</a:t>
            </a:r>
          </a:p>
          <a:p>
            <a:pPr marL="857250" lvl="3" indent="0">
              <a:spcBef>
                <a:spcPts val="0"/>
              </a:spcBef>
              <a:buNone/>
            </a:pPr>
            <a:r>
              <a:rPr lang="tr-TR" sz="1600" noProof="1" smtClean="0">
                <a:latin typeface="Arial Narrow" panose="020B0606020202030204" pitchFamily="34" charset="0"/>
              </a:rPr>
              <a:t>A swap is an agreement to exchange the rights to one asset for the rights to another.</a:t>
            </a:r>
          </a:p>
          <a:p>
            <a:pPr marL="1314450" lvl="4" indent="0">
              <a:spcBef>
                <a:spcPts val="0"/>
              </a:spcBef>
              <a:buNone/>
            </a:pPr>
            <a:r>
              <a:rPr lang="tr-TR" sz="1600" noProof="1" smtClean="0">
                <a:latin typeface="Arial Narrow" panose="020B0606020202030204" pitchFamily="34" charset="0"/>
              </a:rPr>
              <a:t>For example, a fixed interest rate loan may be swaped with a variable rate loan.</a:t>
            </a:r>
          </a:p>
          <a:p>
            <a:pPr marL="857250" lvl="3" indent="0">
              <a:spcBef>
                <a:spcPts val="0"/>
              </a:spcBef>
              <a:buNone/>
            </a:pPr>
            <a:r>
              <a:rPr lang="tr-TR" sz="1600" noProof="1" smtClean="0">
                <a:latin typeface="Arial Narrow" panose="020B0606020202030204" pitchFamily="34" charset="0"/>
              </a:rPr>
              <a:t>An options contract provides the owner of the contract</a:t>
            </a:r>
          </a:p>
          <a:p>
            <a:pPr marL="857250" lvl="3" indent="0">
              <a:spcBef>
                <a:spcPts val="0"/>
              </a:spcBef>
              <a:buNone/>
            </a:pPr>
            <a:r>
              <a:rPr lang="tr-TR" sz="1600" noProof="1" smtClean="0">
                <a:latin typeface="Arial Narrow" panose="020B0606020202030204" pitchFamily="34" charset="0"/>
              </a:rPr>
              <a:t>with the right to buy or sell within a period at a known price.</a:t>
            </a:r>
          </a:p>
          <a:p>
            <a:pPr marL="857250" lvl="3" indent="0">
              <a:spcBef>
                <a:spcPts val="0"/>
              </a:spcBef>
              <a:buNone/>
            </a:pPr>
            <a:endParaRPr lang="tr-TR" sz="800" noProof="1" smtClean="0">
              <a:latin typeface="Arial Narrow" panose="020B0606020202030204" pitchFamily="34" charset="0"/>
            </a:endParaRPr>
          </a:p>
          <a:p>
            <a:pPr marL="1314450" lvl="4" indent="0">
              <a:spcBef>
                <a:spcPts val="0"/>
              </a:spcBef>
              <a:buNone/>
            </a:pPr>
            <a:r>
              <a:rPr lang="tr-TR" sz="1600" noProof="1" smtClean="0">
                <a:latin typeface="Arial Narrow" panose="020B0606020202030204" pitchFamily="34" charset="0"/>
              </a:rPr>
              <a:t>(</a:t>
            </a:r>
            <a:r>
              <a:rPr lang="tr-TR" sz="1600" noProof="1" smtClean="0">
                <a:solidFill>
                  <a:srgbClr val="C00000"/>
                </a:solidFill>
                <a:latin typeface="Arial Narrow" panose="020B0606020202030204" pitchFamily="34" charset="0"/>
              </a:rPr>
              <a:t>Spot </a:t>
            </a:r>
            <a:r>
              <a:rPr lang="tr-TR" sz="1600" noProof="1">
                <a:solidFill>
                  <a:srgbClr val="C00000"/>
                </a:solidFill>
                <a:latin typeface="Arial Narrow" panose="020B0606020202030204" pitchFamily="34" charset="0"/>
              </a:rPr>
              <a:t>markets </a:t>
            </a:r>
            <a:r>
              <a:rPr lang="tr-TR" sz="1600" noProof="1">
                <a:latin typeface="Arial Narrow" panose="020B0606020202030204" pitchFamily="34" charset="0"/>
              </a:rPr>
              <a:t>are those in which payment and delivery occur within a few days</a:t>
            </a:r>
            <a:r>
              <a:rPr lang="tr-TR" sz="1600" noProof="1" smtClean="0">
                <a:latin typeface="Arial Narrow" panose="020B0606020202030204" pitchFamily="34" charset="0"/>
              </a:rPr>
              <a:t>.</a:t>
            </a:r>
          </a:p>
          <a:p>
            <a:pPr marL="1314450" lvl="4" indent="0">
              <a:spcBef>
                <a:spcPts val="0"/>
              </a:spcBef>
              <a:buNone/>
            </a:pPr>
            <a:r>
              <a:rPr lang="tr-TR" sz="1600" noProof="1" smtClean="0">
                <a:latin typeface="Arial Narrow" panose="020B0606020202030204" pitchFamily="34" charset="0"/>
              </a:rPr>
              <a:t>Unless otherwise indicated, financial markets are spot markets.)</a:t>
            </a:r>
          </a:p>
          <a:p>
            <a:pPr marL="1314450" lvl="4" indent="0">
              <a:spcBef>
                <a:spcPts val="0"/>
              </a:spcBef>
              <a:buNone/>
            </a:pPr>
            <a:endParaRPr lang="tr-TR" sz="1600" noProof="1" smtClean="0">
              <a:latin typeface="Arial Narrow" panose="020B0606020202030204" pitchFamily="34" charset="0"/>
            </a:endParaRPr>
          </a:p>
          <a:p>
            <a:pPr marL="857250" lvl="2" indent="-457200" algn="ctr">
              <a:spcBef>
                <a:spcPts val="0"/>
              </a:spcBef>
              <a:buFont typeface="+mj-lt"/>
              <a:buAutoNum type="alphaUcPeriod" startAt="4"/>
            </a:pPr>
            <a:r>
              <a:rPr lang="tr-TR" sz="1800" noProof="1" smtClean="0">
                <a:solidFill>
                  <a:srgbClr val="C00000"/>
                </a:solidFill>
                <a:latin typeface="Arial Narrow" panose="020B0606020202030204" pitchFamily="34" charset="0"/>
              </a:rPr>
              <a:t>Foreign Exchange (FX) Markets</a:t>
            </a:r>
          </a:p>
          <a:p>
            <a:pPr marL="857250" lvl="2" indent="-457200">
              <a:spcBef>
                <a:spcPts val="0"/>
              </a:spcBef>
              <a:buFont typeface="+mj-lt"/>
              <a:buAutoNum type="alphaUcPeriod" startAt="4"/>
            </a:pPr>
            <a:endParaRPr lang="tr-TR" sz="1800" noProof="1" smtClean="0">
              <a:solidFill>
                <a:srgbClr val="C00000"/>
              </a:solidFill>
              <a:latin typeface="Arial Narrow" panose="020B0606020202030204" pitchFamily="34" charset="0"/>
            </a:endParaRPr>
          </a:p>
          <a:p>
            <a:pPr marL="857250" lvl="2" indent="-457200" algn="ctr">
              <a:spcBef>
                <a:spcPts val="0"/>
              </a:spcBef>
              <a:buFont typeface="+mj-lt"/>
              <a:buAutoNum type="alphaUcPeriod" startAt="4"/>
            </a:pPr>
            <a:r>
              <a:rPr lang="tr-TR" sz="1800" noProof="1" smtClean="0">
                <a:solidFill>
                  <a:srgbClr val="C00000"/>
                </a:solidFill>
                <a:latin typeface="Arial Narrow" panose="020B0606020202030204" pitchFamily="34" charset="0"/>
              </a:rPr>
              <a:t>Commodities Markets</a:t>
            </a:r>
          </a:p>
          <a:p>
            <a:pPr marL="857250" lvl="3" indent="0">
              <a:spcBef>
                <a:spcPts val="0"/>
              </a:spcBef>
              <a:buNone/>
            </a:pPr>
            <a:r>
              <a:rPr lang="tr-TR" sz="1600" noProof="1" smtClean="0">
                <a:latin typeface="Arial Narrow" panose="020B0606020202030204" pitchFamily="34" charset="0"/>
              </a:rPr>
              <a:t>(for petroleum, for valuable metals such as gold and silver, for industrial metals such as copper and aluminum, for basic food such as wheat and corn)</a:t>
            </a:r>
          </a:p>
          <a:p>
            <a:pPr marL="857250" lvl="3" indent="0">
              <a:spcBef>
                <a:spcPts val="0"/>
              </a:spcBef>
              <a:buNone/>
            </a:pPr>
            <a:r>
              <a:rPr lang="tr-TR" sz="1600" noProof="1" smtClean="0">
                <a:latin typeface="Arial Narrow" panose="020B0606020202030204" pitchFamily="34" charset="0"/>
              </a:rPr>
              <a:t>Most of the time physical settlements do not take place.</a:t>
            </a:r>
          </a:p>
          <a:p>
            <a:pPr marL="857250" lvl="3" indent="0">
              <a:spcBef>
                <a:spcPts val="0"/>
              </a:spcBef>
              <a:buNone/>
            </a:pPr>
            <a:r>
              <a:rPr lang="tr-TR" sz="1600" noProof="1" smtClean="0">
                <a:latin typeface="Arial Narrow" panose="020B0606020202030204" pitchFamily="34" charset="0"/>
              </a:rPr>
              <a:t>Investors hedge (reduce risk exposure) or speculate (willingly take risk).</a:t>
            </a:r>
          </a:p>
        </p:txBody>
      </p:sp>
    </p:spTree>
    <p:extLst>
      <p:ext uri="{BB962C8B-B14F-4D97-AF65-F5344CB8AC3E}">
        <p14:creationId xmlns:p14="http://schemas.microsoft.com/office/powerpoint/2010/main" val="35726347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a:solidFill>
                  <a:srgbClr val="800000"/>
                </a:solidFill>
                <a:latin typeface="Arial Narrow" pitchFamily="34" charset="0"/>
              </a:rPr>
              <a:t>Financial </a:t>
            </a:r>
            <a:r>
              <a:rPr lang="tr-TR" sz="2000" dirty="0" err="1">
                <a:solidFill>
                  <a:srgbClr val="800000"/>
                </a:solidFill>
                <a:latin typeface="Arial Narrow" pitchFamily="34" charset="0"/>
              </a:rPr>
              <a:t>Markets</a:t>
            </a:r>
            <a:r>
              <a:rPr lang="tr-TR" sz="2000" dirty="0">
                <a:solidFill>
                  <a:srgbClr val="800000"/>
                </a:solidFill>
                <a:latin typeface="Arial Narrow" pitchFamily="34" charset="0"/>
              </a:rPr>
              <a:t> (Direct Finance)</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smtClean="0">
                <a:latin typeface="Arial Narrow" pitchFamily="34" charset="0"/>
              </a:rPr>
              <a:t>Equity</a:t>
            </a:r>
            <a:r>
              <a:rPr lang="tr-TR" sz="2400" dirty="0" smtClean="0">
                <a:latin typeface="Arial Narrow" pitchFamily="34" charset="0"/>
              </a:rPr>
              <a:t> - </a:t>
            </a:r>
            <a:r>
              <a:rPr lang="tr-TR" sz="2400" dirty="0" err="1" smtClean="0">
                <a:latin typeface="Arial Narrow" pitchFamily="34" charset="0"/>
              </a:rPr>
              <a:t>Debt</a:t>
            </a:r>
            <a:endParaRPr lang="tr-TR" sz="2400" dirty="0">
              <a:latin typeface="Arial Narrow" pitchFamily="34" charset="0"/>
            </a:endParaRPr>
          </a:p>
        </p:txBody>
      </p:sp>
      <p:sp>
        <p:nvSpPr>
          <p:cNvPr id="5" name="Content Placeholder 4"/>
          <p:cNvSpPr>
            <a:spLocks noGrp="1"/>
          </p:cNvSpPr>
          <p:nvPr>
            <p:ph idx="1"/>
          </p:nvPr>
        </p:nvSpPr>
        <p:spPr>
          <a:xfrm>
            <a:off x="457200" y="1600200"/>
            <a:ext cx="8229600" cy="4637112"/>
          </a:xfrm>
          <a:ln w="25400">
            <a:noFill/>
          </a:ln>
        </p:spPr>
        <p:txBody>
          <a:bodyPr>
            <a:noAutofit/>
          </a:bodyPr>
          <a:lstStyle/>
          <a:p>
            <a:pPr algn="ctr">
              <a:spcBef>
                <a:spcPts val="0"/>
              </a:spcBef>
            </a:pPr>
            <a:r>
              <a:rPr lang="tr-TR" sz="1600" dirty="0" err="1" smtClean="0">
                <a:latin typeface="Arial Narrow" panose="020B0606020202030204" pitchFamily="34" charset="0"/>
              </a:rPr>
              <a:t>Equity</a:t>
            </a:r>
            <a:r>
              <a:rPr lang="tr-TR" sz="1600" dirty="0" smtClean="0">
                <a:latin typeface="Arial Narrow" panose="020B0606020202030204" pitchFamily="34" charset="0"/>
              </a:rPr>
              <a:t> </a:t>
            </a:r>
            <a:r>
              <a:rPr lang="tr-TR" sz="1600" dirty="0" err="1" smtClean="0">
                <a:latin typeface="Arial Narrow" panose="020B0606020202030204" pitchFamily="34" charset="0"/>
              </a:rPr>
              <a:t>Markets</a:t>
            </a:r>
            <a:endParaRPr lang="tr-TR" sz="1600" dirty="0" smtClean="0">
              <a:latin typeface="Arial Narrow" panose="020B0606020202030204" pitchFamily="34" charset="0"/>
            </a:endParaRPr>
          </a:p>
          <a:p>
            <a:pPr algn="ctr">
              <a:spcBef>
                <a:spcPts val="0"/>
              </a:spcBef>
            </a:pPr>
            <a:endParaRPr lang="tr-TR" sz="900" dirty="0" smtClean="0">
              <a:latin typeface="Arial Narrow" panose="020B0606020202030204" pitchFamily="34" charset="0"/>
            </a:endParaRPr>
          </a:p>
          <a:p>
            <a:pPr algn="ctr">
              <a:spcBef>
                <a:spcPts val="0"/>
              </a:spcBef>
            </a:pPr>
            <a:r>
              <a:rPr lang="tr-TR" sz="2400" dirty="0" err="1" smtClean="0">
                <a:latin typeface="Arial Narrow" panose="020B0606020202030204" pitchFamily="34" charset="0"/>
              </a:rPr>
              <a:t>Debt</a:t>
            </a:r>
            <a:r>
              <a:rPr lang="tr-TR" sz="2400" dirty="0" smtClean="0">
                <a:latin typeface="Arial Narrow" panose="020B0606020202030204" pitchFamily="34" charset="0"/>
              </a:rPr>
              <a:t> </a:t>
            </a:r>
            <a:r>
              <a:rPr lang="tr-TR" sz="2400" dirty="0" err="1" smtClean="0">
                <a:latin typeface="Arial Narrow" panose="020B0606020202030204" pitchFamily="34" charset="0"/>
              </a:rPr>
              <a:t>Markets</a:t>
            </a:r>
            <a:endParaRPr lang="tr-TR" sz="2400" dirty="0" smtClean="0">
              <a:latin typeface="Arial Narrow" panose="020B0606020202030204" pitchFamily="34" charset="0"/>
            </a:endParaRPr>
          </a:p>
          <a:p>
            <a:pPr algn="ctr">
              <a:spcBef>
                <a:spcPts val="0"/>
              </a:spcBef>
            </a:pPr>
            <a:endParaRPr lang="tr-TR" sz="900" dirty="0" smtClean="0">
              <a:latin typeface="Arial Narrow" panose="020B0606020202030204" pitchFamily="34" charset="0"/>
            </a:endParaRPr>
          </a:p>
          <a:p>
            <a:pPr marL="0" indent="0" algn="ctr">
              <a:spcBef>
                <a:spcPts val="0"/>
              </a:spcBef>
              <a:buNone/>
            </a:pPr>
            <a:r>
              <a:rPr lang="tr-TR" sz="1800" dirty="0" smtClean="0">
                <a:latin typeface="Arial Narrow" panose="020B0606020202030204" pitchFamily="34" charset="0"/>
              </a:rPr>
              <a:t>A </a:t>
            </a:r>
            <a:r>
              <a:rPr lang="tr-TR" sz="1800" dirty="0" err="1" smtClean="0">
                <a:latin typeface="Arial Narrow" panose="020B0606020202030204" pitchFamily="34" charset="0"/>
              </a:rPr>
              <a:t>firm</a:t>
            </a:r>
            <a:r>
              <a:rPr lang="tr-TR" sz="1800" dirty="0" smtClean="0">
                <a:latin typeface="Arial Narrow" panose="020B0606020202030204" pitchFamily="34" charset="0"/>
              </a:rPr>
              <a:t> </a:t>
            </a:r>
            <a:r>
              <a:rPr lang="tr-TR" sz="1800" dirty="0" err="1" smtClean="0">
                <a:latin typeface="Arial Narrow" panose="020B0606020202030204" pitchFamily="34" charset="0"/>
              </a:rPr>
              <a:t>or</a:t>
            </a:r>
            <a:r>
              <a:rPr lang="tr-TR" sz="1800" dirty="0" smtClean="0">
                <a:latin typeface="Arial Narrow" panose="020B0606020202030204" pitchFamily="34" charset="0"/>
              </a:rPr>
              <a:t> an </a:t>
            </a:r>
            <a:r>
              <a:rPr lang="tr-TR" sz="1800" dirty="0" err="1" smtClean="0">
                <a:latin typeface="Arial Narrow" panose="020B0606020202030204" pitchFamily="34" charset="0"/>
              </a:rPr>
              <a:t>individual</a:t>
            </a:r>
            <a:r>
              <a:rPr lang="tr-TR" sz="1800" dirty="0" smtClean="0">
                <a:latin typeface="Arial Narrow" panose="020B0606020202030204" pitchFamily="34" charset="0"/>
              </a:rPr>
              <a:t> can </a:t>
            </a:r>
            <a:r>
              <a:rPr lang="tr-TR" sz="1800" dirty="0" err="1" smtClean="0">
                <a:latin typeface="Arial Narrow" panose="020B0606020202030204" pitchFamily="34" charset="0"/>
              </a:rPr>
              <a:t>obtain</a:t>
            </a:r>
            <a:r>
              <a:rPr lang="tr-TR" sz="1800" dirty="0" smtClean="0">
                <a:latin typeface="Arial Narrow" panose="020B0606020202030204" pitchFamily="34" charset="0"/>
              </a:rPr>
              <a:t> </a:t>
            </a:r>
            <a:r>
              <a:rPr lang="tr-TR" sz="1800" dirty="0" err="1" smtClean="0">
                <a:latin typeface="Arial Narrow" panose="020B0606020202030204" pitchFamily="34" charset="0"/>
              </a:rPr>
              <a:t>funds</a:t>
            </a:r>
            <a:r>
              <a:rPr lang="tr-TR" sz="1800" dirty="0" smtClean="0">
                <a:latin typeface="Arial Narrow" panose="020B0606020202030204" pitchFamily="34" charset="0"/>
              </a:rPr>
              <a:t> in a </a:t>
            </a:r>
            <a:r>
              <a:rPr lang="tr-TR" sz="1800" dirty="0" err="1" smtClean="0">
                <a:latin typeface="Arial Narrow" panose="020B0606020202030204" pitchFamily="34" charset="0"/>
              </a:rPr>
              <a:t>financial</a:t>
            </a:r>
            <a:r>
              <a:rPr lang="tr-TR" sz="1800" dirty="0">
                <a:latin typeface="Arial Narrow" panose="020B0606020202030204" pitchFamily="34" charset="0"/>
              </a:rPr>
              <a:t> </a:t>
            </a:r>
            <a:r>
              <a:rPr lang="tr-TR" sz="1800" dirty="0" smtClean="0">
                <a:latin typeface="Arial Narrow" panose="020B0606020202030204" pitchFamily="34" charset="0"/>
              </a:rPr>
              <a:t>market</a:t>
            </a:r>
          </a:p>
          <a:p>
            <a:pPr marL="0" indent="0" algn="ctr">
              <a:spcBef>
                <a:spcPts val="0"/>
              </a:spcBef>
              <a:buNone/>
            </a:pPr>
            <a:r>
              <a:rPr lang="tr-TR" sz="1800" dirty="0" err="1" smtClean="0">
                <a:latin typeface="Arial Narrow" panose="020B0606020202030204" pitchFamily="34" charset="0"/>
              </a:rPr>
              <a:t>by</a:t>
            </a:r>
            <a:r>
              <a:rPr lang="tr-TR" sz="1800" dirty="0" smtClean="0">
                <a:latin typeface="Arial Narrow" panose="020B0606020202030204" pitchFamily="34" charset="0"/>
              </a:rPr>
              <a:t> </a:t>
            </a:r>
            <a:r>
              <a:rPr lang="tr-TR" sz="1800" dirty="0" err="1" smtClean="0">
                <a:latin typeface="Arial Narrow" panose="020B0606020202030204" pitchFamily="34" charset="0"/>
              </a:rPr>
              <a:t>issuing</a:t>
            </a:r>
            <a:r>
              <a:rPr lang="tr-TR" sz="1800" dirty="0" smtClean="0">
                <a:latin typeface="Arial Narrow" panose="020B0606020202030204" pitchFamily="34" charset="0"/>
              </a:rPr>
              <a:t> a </a:t>
            </a:r>
            <a:r>
              <a:rPr lang="tr-TR" sz="1800" dirty="0" err="1" smtClean="0">
                <a:latin typeface="Arial Narrow" panose="020B0606020202030204" pitchFamily="34" charset="0"/>
              </a:rPr>
              <a:t>debt</a:t>
            </a:r>
            <a:r>
              <a:rPr lang="tr-TR" sz="1800" dirty="0" smtClean="0">
                <a:latin typeface="Arial Narrow" panose="020B0606020202030204" pitchFamily="34" charset="0"/>
              </a:rPr>
              <a:t> </a:t>
            </a:r>
            <a:r>
              <a:rPr lang="tr-TR" sz="1800" dirty="0" err="1" smtClean="0">
                <a:latin typeface="Arial Narrow" panose="020B0606020202030204" pitchFamily="34" charset="0"/>
              </a:rPr>
              <a:t>instrument</a:t>
            </a:r>
            <a:r>
              <a:rPr lang="tr-TR" sz="1800" dirty="0" smtClean="0">
                <a:latin typeface="Arial Narrow" panose="020B0606020202030204" pitchFamily="34" charset="0"/>
              </a:rPr>
              <a:t>, </a:t>
            </a:r>
            <a:r>
              <a:rPr lang="tr-TR" sz="1800" dirty="0" err="1" smtClean="0">
                <a:latin typeface="Arial Narrow" panose="020B0606020202030204" pitchFamily="34" charset="0"/>
              </a:rPr>
              <a:t>such</a:t>
            </a:r>
            <a:r>
              <a:rPr lang="tr-TR" sz="1800" dirty="0" smtClean="0">
                <a:latin typeface="Arial Narrow" panose="020B0606020202030204" pitchFamily="34" charset="0"/>
              </a:rPr>
              <a:t> as a </a:t>
            </a:r>
            <a:r>
              <a:rPr lang="tr-TR" sz="1800" dirty="0" err="1" smtClean="0">
                <a:latin typeface="Arial Narrow" panose="020B0606020202030204" pitchFamily="34" charset="0"/>
              </a:rPr>
              <a:t>bond</a:t>
            </a:r>
            <a:r>
              <a:rPr lang="tr-TR" sz="1800" dirty="0" smtClean="0">
                <a:latin typeface="Arial Narrow" panose="020B0606020202030204" pitchFamily="34" charset="0"/>
              </a:rPr>
              <a:t> </a:t>
            </a:r>
            <a:r>
              <a:rPr lang="tr-TR" sz="1800" dirty="0" err="1" smtClean="0">
                <a:latin typeface="Arial Narrow" panose="020B0606020202030204" pitchFamily="34" charset="0"/>
              </a:rPr>
              <a:t>or</a:t>
            </a:r>
            <a:r>
              <a:rPr lang="tr-TR" sz="1800" dirty="0" smtClean="0">
                <a:latin typeface="Arial Narrow" panose="020B0606020202030204" pitchFamily="34" charset="0"/>
              </a:rPr>
              <a:t> a </a:t>
            </a:r>
            <a:r>
              <a:rPr lang="tr-TR" sz="1800" dirty="0" err="1" smtClean="0">
                <a:latin typeface="Arial Narrow" panose="020B0606020202030204" pitchFamily="34" charset="0"/>
              </a:rPr>
              <a:t>mortgage</a:t>
            </a:r>
            <a:r>
              <a:rPr lang="tr-TR" sz="1800" dirty="0" smtClean="0">
                <a:latin typeface="Arial Narrow" panose="020B0606020202030204" pitchFamily="34" charset="0"/>
              </a:rPr>
              <a:t>,</a:t>
            </a:r>
          </a:p>
          <a:p>
            <a:pPr marL="0" indent="0" algn="ctr">
              <a:spcBef>
                <a:spcPts val="0"/>
              </a:spcBef>
              <a:buNone/>
            </a:pPr>
            <a:r>
              <a:rPr lang="tr-TR" sz="1800" dirty="0" err="1" smtClean="0">
                <a:latin typeface="Arial Narrow" panose="020B0606020202030204" pitchFamily="34" charset="0"/>
              </a:rPr>
              <a:t>which</a:t>
            </a:r>
            <a:r>
              <a:rPr lang="tr-TR" sz="1800" dirty="0" smtClean="0">
                <a:latin typeface="Arial Narrow" panose="020B0606020202030204" pitchFamily="34" charset="0"/>
              </a:rPr>
              <a:t> is a </a:t>
            </a:r>
            <a:r>
              <a:rPr lang="tr-TR" sz="1800" dirty="0" err="1" smtClean="0">
                <a:latin typeface="Arial Narrow" panose="020B0606020202030204" pitchFamily="34" charset="0"/>
              </a:rPr>
              <a:t>contractual</a:t>
            </a:r>
            <a:r>
              <a:rPr lang="tr-TR" sz="1800" dirty="0" smtClean="0">
                <a:latin typeface="Arial Narrow" panose="020B0606020202030204" pitchFamily="34" charset="0"/>
              </a:rPr>
              <a:t> </a:t>
            </a:r>
            <a:r>
              <a:rPr lang="tr-TR" sz="1800" dirty="0" err="1" smtClean="0">
                <a:latin typeface="Arial Narrow" panose="020B0606020202030204" pitchFamily="34" charset="0"/>
              </a:rPr>
              <a:t>agreement</a:t>
            </a:r>
            <a:r>
              <a:rPr lang="tr-TR" sz="1800" dirty="0" smtClean="0">
                <a:latin typeface="Arial Narrow" panose="020B0606020202030204" pitchFamily="34" charset="0"/>
              </a:rPr>
              <a:t> </a:t>
            </a:r>
            <a:r>
              <a:rPr lang="tr-TR" sz="1800" dirty="0" err="1" smtClean="0">
                <a:latin typeface="Arial Narrow" panose="020B0606020202030204" pitchFamily="34" charset="0"/>
              </a:rPr>
              <a:t>by</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borrower</a:t>
            </a:r>
            <a:r>
              <a:rPr lang="tr-TR" sz="1800" dirty="0" smtClean="0">
                <a:latin typeface="Arial Narrow" panose="020B0606020202030204" pitchFamily="34" charset="0"/>
              </a:rPr>
              <a:t> </a:t>
            </a:r>
            <a:r>
              <a:rPr lang="tr-TR" sz="1800" dirty="0" err="1" smtClean="0">
                <a:latin typeface="Arial Narrow" panose="020B0606020202030204" pitchFamily="34" charset="0"/>
              </a:rPr>
              <a:t>to</a:t>
            </a:r>
            <a:r>
              <a:rPr lang="tr-TR" sz="1800" dirty="0" smtClean="0">
                <a:latin typeface="Arial Narrow" panose="020B0606020202030204" pitchFamily="34" charset="0"/>
              </a:rPr>
              <a:t> pay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holder</a:t>
            </a:r>
            <a:r>
              <a:rPr lang="tr-TR" sz="1800" dirty="0" smtClean="0">
                <a:latin typeface="Arial Narrow" panose="020B0606020202030204" pitchFamily="34" charset="0"/>
              </a:rPr>
              <a:t> of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instrument</a:t>
            </a:r>
            <a:endParaRPr lang="tr-TR" sz="1800" dirty="0" smtClean="0">
              <a:latin typeface="Arial Narrow" panose="020B0606020202030204" pitchFamily="34" charset="0"/>
            </a:endParaRPr>
          </a:p>
          <a:p>
            <a:pPr marL="0" indent="0" algn="ctr">
              <a:spcBef>
                <a:spcPts val="0"/>
              </a:spcBef>
              <a:buNone/>
            </a:pPr>
            <a:r>
              <a:rPr lang="tr-TR" sz="1800" dirty="0" err="1" smtClean="0">
                <a:latin typeface="Arial Narrow" panose="020B0606020202030204" pitchFamily="34" charset="0"/>
              </a:rPr>
              <a:t>fixed</a:t>
            </a:r>
            <a:r>
              <a:rPr lang="tr-TR" sz="1800" dirty="0" smtClean="0">
                <a:latin typeface="Arial Narrow" panose="020B0606020202030204" pitchFamily="34" charset="0"/>
              </a:rPr>
              <a:t> </a:t>
            </a:r>
            <a:r>
              <a:rPr lang="tr-TR" sz="1800" dirty="0" err="1" smtClean="0">
                <a:latin typeface="Arial Narrow" panose="020B0606020202030204" pitchFamily="34" charset="0"/>
              </a:rPr>
              <a:t>dollar</a:t>
            </a:r>
            <a:r>
              <a:rPr lang="tr-TR" sz="1800" dirty="0" smtClean="0">
                <a:latin typeface="Arial Narrow" panose="020B0606020202030204" pitchFamily="34" charset="0"/>
              </a:rPr>
              <a:t> </a:t>
            </a:r>
            <a:r>
              <a:rPr lang="tr-TR" sz="1800" dirty="0" err="1" smtClean="0">
                <a:latin typeface="Arial Narrow" panose="020B0606020202030204" pitchFamily="34" charset="0"/>
              </a:rPr>
              <a:t>amounts</a:t>
            </a:r>
            <a:r>
              <a:rPr lang="tr-TR" sz="1800" dirty="0" smtClean="0">
                <a:latin typeface="Arial Narrow" panose="020B0606020202030204" pitchFamily="34" charset="0"/>
              </a:rPr>
              <a:t> at </a:t>
            </a:r>
            <a:r>
              <a:rPr lang="tr-TR" sz="1800" dirty="0" err="1" smtClean="0">
                <a:latin typeface="Arial Narrow" panose="020B0606020202030204" pitchFamily="34" charset="0"/>
              </a:rPr>
              <a:t>regular</a:t>
            </a:r>
            <a:r>
              <a:rPr lang="tr-TR" sz="1800" dirty="0" smtClean="0">
                <a:latin typeface="Arial Narrow" panose="020B0606020202030204" pitchFamily="34" charset="0"/>
              </a:rPr>
              <a:t> </a:t>
            </a:r>
            <a:r>
              <a:rPr lang="tr-TR" sz="1800" dirty="0" err="1" smtClean="0">
                <a:latin typeface="Arial Narrow" panose="020B0606020202030204" pitchFamily="34" charset="0"/>
              </a:rPr>
              <a:t>intervals</a:t>
            </a:r>
            <a:r>
              <a:rPr lang="tr-TR" sz="1800" dirty="0" smtClean="0">
                <a:latin typeface="Arial Narrow" panose="020B0606020202030204" pitchFamily="34" charset="0"/>
              </a:rPr>
              <a:t> (</a:t>
            </a:r>
            <a:r>
              <a:rPr lang="tr-TR" sz="1800" dirty="0" err="1" smtClean="0">
                <a:latin typeface="Arial Narrow" panose="020B0606020202030204" pitchFamily="34" charset="0"/>
              </a:rPr>
              <a:t>interest</a:t>
            </a:r>
            <a:r>
              <a:rPr lang="tr-TR" sz="1800" dirty="0" smtClean="0">
                <a:latin typeface="Arial Narrow" panose="020B0606020202030204" pitchFamily="34" charset="0"/>
              </a:rPr>
              <a:t> </a:t>
            </a: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principal</a:t>
            </a:r>
            <a:r>
              <a:rPr lang="tr-TR" sz="1800" dirty="0" smtClean="0">
                <a:latin typeface="Arial Narrow" panose="020B0606020202030204" pitchFamily="34" charset="0"/>
              </a:rPr>
              <a:t> </a:t>
            </a:r>
            <a:r>
              <a:rPr lang="tr-TR" sz="1800" dirty="0" err="1" smtClean="0">
                <a:latin typeface="Arial Narrow" panose="020B0606020202030204" pitchFamily="34" charset="0"/>
              </a:rPr>
              <a:t>payments</a:t>
            </a:r>
            <a:r>
              <a:rPr lang="tr-TR" sz="1800" dirty="0" smtClean="0">
                <a:latin typeface="Arial Narrow" panose="020B0606020202030204" pitchFamily="34" charset="0"/>
              </a:rPr>
              <a:t>)</a:t>
            </a:r>
          </a:p>
          <a:p>
            <a:pPr marL="0" indent="0" algn="ctr">
              <a:spcBef>
                <a:spcPts val="0"/>
              </a:spcBef>
              <a:buNone/>
            </a:pPr>
            <a:r>
              <a:rPr lang="tr-TR" sz="1800" dirty="0" err="1">
                <a:latin typeface="Arial Narrow" panose="020B0606020202030204" pitchFamily="34" charset="0"/>
              </a:rPr>
              <a:t>u</a:t>
            </a:r>
            <a:r>
              <a:rPr lang="tr-TR" sz="1800" dirty="0" err="1" smtClean="0">
                <a:latin typeface="Arial Narrow" panose="020B0606020202030204" pitchFamily="34" charset="0"/>
              </a:rPr>
              <a:t>ntil</a:t>
            </a:r>
            <a:r>
              <a:rPr lang="tr-TR" sz="1800" dirty="0" smtClean="0">
                <a:latin typeface="Arial Narrow" panose="020B0606020202030204" pitchFamily="34" charset="0"/>
              </a:rPr>
              <a:t> a </a:t>
            </a:r>
            <a:r>
              <a:rPr lang="tr-TR" sz="1800" dirty="0" err="1" smtClean="0">
                <a:latin typeface="Arial Narrow" panose="020B0606020202030204" pitchFamily="34" charset="0"/>
              </a:rPr>
              <a:t>specified</a:t>
            </a:r>
            <a:r>
              <a:rPr lang="tr-TR" sz="1800" dirty="0" smtClean="0">
                <a:latin typeface="Arial Narrow" panose="020B0606020202030204" pitchFamily="34" charset="0"/>
              </a:rPr>
              <a:t> </a:t>
            </a:r>
            <a:r>
              <a:rPr lang="tr-TR" sz="1800" dirty="0" err="1" smtClean="0">
                <a:latin typeface="Arial Narrow" panose="020B0606020202030204" pitchFamily="34" charset="0"/>
              </a:rPr>
              <a:t>date</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maturity</a:t>
            </a:r>
            <a:r>
              <a:rPr lang="tr-TR" sz="1800" dirty="0" smtClean="0">
                <a:latin typeface="Arial Narrow" panose="020B0606020202030204" pitchFamily="34" charset="0"/>
              </a:rPr>
              <a:t> </a:t>
            </a:r>
            <a:r>
              <a:rPr lang="tr-TR" sz="1800" dirty="0" err="1" smtClean="0">
                <a:latin typeface="Arial Narrow" panose="020B0606020202030204" pitchFamily="34" charset="0"/>
              </a:rPr>
              <a:t>date</a:t>
            </a:r>
            <a:r>
              <a:rPr lang="tr-TR" sz="1800" dirty="0" smtClean="0">
                <a:latin typeface="Arial Narrow" panose="020B0606020202030204" pitchFamily="34" charset="0"/>
              </a:rPr>
              <a:t>),</a:t>
            </a:r>
          </a:p>
          <a:p>
            <a:pPr marL="0" indent="0" algn="ctr">
              <a:spcBef>
                <a:spcPts val="0"/>
              </a:spcBef>
              <a:buNone/>
            </a:pPr>
            <a:r>
              <a:rPr lang="tr-TR" sz="1800" dirty="0" err="1" smtClean="0">
                <a:latin typeface="Arial Narrow" panose="020B0606020202030204" pitchFamily="34" charset="0"/>
              </a:rPr>
              <a:t>when</a:t>
            </a:r>
            <a:r>
              <a:rPr lang="tr-TR" sz="1800" dirty="0" smtClean="0">
                <a:latin typeface="Arial Narrow" panose="020B0606020202030204" pitchFamily="34" charset="0"/>
              </a:rPr>
              <a:t> a final </a:t>
            </a:r>
            <a:r>
              <a:rPr lang="tr-TR" sz="1800" dirty="0" err="1" smtClean="0">
                <a:latin typeface="Arial Narrow" panose="020B0606020202030204" pitchFamily="34" charset="0"/>
              </a:rPr>
              <a:t>payment</a:t>
            </a:r>
            <a:r>
              <a:rPr lang="tr-TR" sz="1800" dirty="0" smtClean="0">
                <a:latin typeface="Arial Narrow" panose="020B0606020202030204" pitchFamily="34" charset="0"/>
              </a:rPr>
              <a:t> is </a:t>
            </a:r>
            <a:r>
              <a:rPr lang="tr-TR" sz="1800" dirty="0" err="1" smtClean="0">
                <a:latin typeface="Arial Narrow" panose="020B0606020202030204" pitchFamily="34" charset="0"/>
              </a:rPr>
              <a:t>made</a:t>
            </a:r>
            <a:r>
              <a:rPr lang="tr-TR" sz="1800" dirty="0" smtClean="0">
                <a:latin typeface="Arial Narrow" panose="020B0606020202030204" pitchFamily="34" charset="0"/>
              </a:rPr>
              <a:t>.</a:t>
            </a:r>
          </a:p>
          <a:p>
            <a:pPr marL="0" indent="0" algn="ctr">
              <a:spcBef>
                <a:spcPts val="0"/>
              </a:spcBef>
              <a:buNone/>
            </a:pPr>
            <a:endParaRPr lang="tr-TR" sz="1600" dirty="0" smtClean="0">
              <a:latin typeface="Arial Narrow" panose="020B0606020202030204" pitchFamily="34" charset="0"/>
            </a:endParaRPr>
          </a:p>
          <a:p>
            <a:pPr marL="0" indent="0" algn="ctr">
              <a:spcBef>
                <a:spcPts val="0"/>
              </a:spcBef>
              <a:buNone/>
            </a:pP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maturity</a:t>
            </a:r>
            <a:r>
              <a:rPr lang="tr-TR" sz="1600" dirty="0" smtClean="0">
                <a:latin typeface="Arial Narrow" panose="020B0606020202030204" pitchFamily="34" charset="0"/>
              </a:rPr>
              <a:t> of a </a:t>
            </a:r>
            <a:r>
              <a:rPr lang="tr-TR" sz="1600" dirty="0" err="1" smtClean="0">
                <a:latin typeface="Arial Narrow" panose="020B0606020202030204" pitchFamily="34" charset="0"/>
              </a:rPr>
              <a:t>debt</a:t>
            </a:r>
            <a:r>
              <a:rPr lang="tr-TR" sz="1600" dirty="0" smtClean="0">
                <a:latin typeface="Arial Narrow" panose="020B0606020202030204" pitchFamily="34" charset="0"/>
              </a:rPr>
              <a:t> </a:t>
            </a:r>
            <a:r>
              <a:rPr lang="tr-TR" sz="1600" dirty="0" err="1" smtClean="0">
                <a:latin typeface="Arial Narrow" panose="020B0606020202030204" pitchFamily="34" charset="0"/>
              </a:rPr>
              <a:t>instrument</a:t>
            </a:r>
            <a:r>
              <a:rPr lang="tr-TR" sz="1600" dirty="0" smtClean="0">
                <a:latin typeface="Arial Narrow" panose="020B0606020202030204" pitchFamily="34" charset="0"/>
              </a:rPr>
              <a:t> is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number</a:t>
            </a:r>
            <a:r>
              <a:rPr lang="tr-TR" sz="1600" dirty="0" smtClean="0">
                <a:latin typeface="Arial Narrow" panose="020B0606020202030204" pitchFamily="34" charset="0"/>
              </a:rPr>
              <a:t> of </a:t>
            </a:r>
            <a:r>
              <a:rPr lang="tr-TR" sz="1600" dirty="0" err="1" smtClean="0">
                <a:latin typeface="Arial Narrow" panose="020B0606020202030204" pitchFamily="34" charset="0"/>
              </a:rPr>
              <a:t>years</a:t>
            </a:r>
            <a:r>
              <a:rPr lang="tr-TR" sz="1600" dirty="0" smtClean="0">
                <a:latin typeface="Arial Narrow" panose="020B0606020202030204" pitchFamily="34" charset="0"/>
              </a:rPr>
              <a:t> (</a:t>
            </a:r>
            <a:r>
              <a:rPr lang="tr-TR" sz="1600" dirty="0" err="1" smtClean="0">
                <a:latin typeface="Arial Narrow" panose="020B0606020202030204" pitchFamily="34" charset="0"/>
              </a:rPr>
              <a:t>term</a:t>
            </a:r>
            <a:r>
              <a:rPr lang="tr-TR" sz="1600" dirty="0" smtClean="0">
                <a:latin typeface="Arial Narrow" panose="020B0606020202030204" pitchFamily="34" charset="0"/>
              </a:rPr>
              <a:t>)</a:t>
            </a:r>
          </a:p>
          <a:p>
            <a:pPr marL="0" indent="0" algn="ctr">
              <a:spcBef>
                <a:spcPts val="0"/>
              </a:spcBef>
              <a:buNone/>
            </a:pPr>
            <a:r>
              <a:rPr lang="tr-TR" sz="1600" dirty="0" err="1" smtClean="0">
                <a:latin typeface="Arial Narrow" panose="020B0606020202030204" pitchFamily="34" charset="0"/>
              </a:rPr>
              <a:t>until</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instrument’s</a:t>
            </a:r>
            <a:r>
              <a:rPr lang="tr-TR" sz="1600" dirty="0" smtClean="0">
                <a:latin typeface="Arial Narrow" panose="020B0606020202030204" pitchFamily="34" charset="0"/>
              </a:rPr>
              <a:t> </a:t>
            </a:r>
            <a:r>
              <a:rPr lang="tr-TR" sz="1600" dirty="0" err="1" smtClean="0">
                <a:latin typeface="Arial Narrow" panose="020B0606020202030204" pitchFamily="34" charset="0"/>
              </a:rPr>
              <a:t>expiration</a:t>
            </a:r>
            <a:r>
              <a:rPr lang="tr-TR" sz="1600" dirty="0" smtClean="0">
                <a:latin typeface="Arial Narrow" panose="020B0606020202030204" pitchFamily="34" charset="0"/>
              </a:rPr>
              <a:t> </a:t>
            </a:r>
            <a:r>
              <a:rPr lang="tr-TR" sz="1600" dirty="0" err="1" smtClean="0">
                <a:latin typeface="Arial Narrow" panose="020B0606020202030204" pitchFamily="34" charset="0"/>
              </a:rPr>
              <a:t>date</a:t>
            </a:r>
            <a:r>
              <a:rPr lang="tr-TR" sz="1600" dirty="0" smtClean="0">
                <a:latin typeface="Arial Narrow" panose="020B0606020202030204" pitchFamily="34" charset="0"/>
              </a:rPr>
              <a:t>.</a:t>
            </a:r>
          </a:p>
          <a:p>
            <a:pPr marL="0" indent="0" algn="ctr">
              <a:spcBef>
                <a:spcPts val="0"/>
              </a:spcBef>
              <a:buNone/>
            </a:pPr>
            <a:endParaRPr lang="tr-TR" sz="800" dirty="0" smtClean="0">
              <a:latin typeface="Arial Narrow" panose="020B0606020202030204" pitchFamily="34" charset="0"/>
            </a:endParaRPr>
          </a:p>
          <a:p>
            <a:pPr marL="0" indent="0" algn="ctr">
              <a:spcBef>
                <a:spcPts val="0"/>
              </a:spcBef>
              <a:buNone/>
            </a:pPr>
            <a:r>
              <a:rPr lang="tr-TR" sz="1600" dirty="0" smtClean="0">
                <a:latin typeface="Arial Narrow" panose="020B0606020202030204" pitchFamily="34" charset="0"/>
              </a:rPr>
              <a:t>A </a:t>
            </a:r>
            <a:r>
              <a:rPr lang="tr-TR" sz="1600" dirty="0" err="1" smtClean="0">
                <a:latin typeface="Arial Narrow" panose="020B0606020202030204" pitchFamily="34" charset="0"/>
              </a:rPr>
              <a:t>debt</a:t>
            </a:r>
            <a:r>
              <a:rPr lang="tr-TR" sz="1600" dirty="0" smtClean="0">
                <a:latin typeface="Arial Narrow" panose="020B0606020202030204" pitchFamily="34" charset="0"/>
              </a:rPr>
              <a:t> </a:t>
            </a:r>
            <a:r>
              <a:rPr lang="tr-TR" sz="1600" dirty="0" err="1" smtClean="0">
                <a:latin typeface="Arial Narrow" panose="020B0606020202030204" pitchFamily="34" charset="0"/>
              </a:rPr>
              <a:t>instrument</a:t>
            </a:r>
            <a:r>
              <a:rPr lang="tr-TR" sz="1600" dirty="0" smtClean="0">
                <a:latin typeface="Arial Narrow" panose="020B0606020202030204" pitchFamily="34" charset="0"/>
              </a:rPr>
              <a:t> is </a:t>
            </a:r>
            <a:r>
              <a:rPr lang="tr-TR" sz="1600" dirty="0" err="1" smtClean="0">
                <a:latin typeface="Arial Narrow" panose="020B0606020202030204" pitchFamily="34" charset="0"/>
              </a:rPr>
              <a:t>short-term</a:t>
            </a:r>
            <a:r>
              <a:rPr lang="tr-TR" sz="1600" dirty="0" smtClean="0">
                <a:latin typeface="Arial Narrow" panose="020B0606020202030204" pitchFamily="34" charset="0"/>
              </a:rPr>
              <a:t> </a:t>
            </a:r>
            <a:r>
              <a:rPr lang="tr-TR" sz="1600" dirty="0" err="1" smtClean="0">
                <a:latin typeface="Arial Narrow" panose="020B0606020202030204" pitchFamily="34" charset="0"/>
              </a:rPr>
              <a:t>if</a:t>
            </a:r>
            <a:r>
              <a:rPr lang="tr-TR" sz="1600" dirty="0" smtClean="0">
                <a:latin typeface="Arial Narrow" panose="020B0606020202030204" pitchFamily="34" charset="0"/>
              </a:rPr>
              <a:t> </a:t>
            </a:r>
            <a:r>
              <a:rPr lang="tr-TR" sz="1600" dirty="0" err="1" smtClean="0">
                <a:latin typeface="Arial Narrow" panose="020B0606020202030204" pitchFamily="34" charset="0"/>
              </a:rPr>
              <a:t>its</a:t>
            </a:r>
            <a:r>
              <a:rPr lang="tr-TR" sz="1600" dirty="0" smtClean="0">
                <a:latin typeface="Arial Narrow" panose="020B0606020202030204" pitchFamily="34" charset="0"/>
              </a:rPr>
              <a:t> </a:t>
            </a:r>
            <a:r>
              <a:rPr lang="tr-TR" sz="1600" dirty="0" err="1" smtClean="0">
                <a:latin typeface="Arial Narrow" panose="020B0606020202030204" pitchFamily="34" charset="0"/>
              </a:rPr>
              <a:t>maturity</a:t>
            </a:r>
            <a:r>
              <a:rPr lang="tr-TR" sz="1600" dirty="0" smtClean="0">
                <a:latin typeface="Arial Narrow" panose="020B0606020202030204" pitchFamily="34" charset="0"/>
              </a:rPr>
              <a:t> is </a:t>
            </a:r>
            <a:r>
              <a:rPr lang="tr-TR" sz="1600" dirty="0" err="1" smtClean="0">
                <a:latin typeface="Arial Narrow" panose="020B0606020202030204" pitchFamily="34" charset="0"/>
              </a:rPr>
              <a:t>less</a:t>
            </a:r>
            <a:r>
              <a:rPr lang="tr-TR" sz="1600" dirty="0" smtClean="0">
                <a:latin typeface="Arial Narrow" panose="020B0606020202030204" pitchFamily="34" charset="0"/>
              </a:rPr>
              <a:t> </a:t>
            </a:r>
            <a:r>
              <a:rPr lang="tr-TR" sz="1600" dirty="0" err="1" smtClean="0">
                <a:latin typeface="Arial Narrow" panose="020B0606020202030204" pitchFamily="34" charset="0"/>
              </a:rPr>
              <a:t>than</a:t>
            </a:r>
            <a:r>
              <a:rPr lang="tr-TR" sz="1600" dirty="0" smtClean="0">
                <a:latin typeface="Arial Narrow" panose="020B0606020202030204" pitchFamily="34" charset="0"/>
              </a:rPr>
              <a:t> a </a:t>
            </a:r>
            <a:r>
              <a:rPr lang="tr-TR" sz="1600" dirty="0" err="1" smtClean="0">
                <a:latin typeface="Arial Narrow" panose="020B0606020202030204" pitchFamily="34" charset="0"/>
              </a:rPr>
              <a:t>year</a:t>
            </a:r>
            <a:endParaRPr lang="tr-TR" sz="1600" dirty="0" smtClean="0">
              <a:latin typeface="Arial Narrow" panose="020B0606020202030204" pitchFamily="34" charset="0"/>
            </a:endParaRPr>
          </a:p>
          <a:p>
            <a:pPr marL="0" indent="0" algn="ctr">
              <a:spcBef>
                <a:spcPts val="0"/>
              </a:spcBef>
              <a:buNone/>
            </a:pPr>
            <a:r>
              <a:rPr lang="tr-TR" sz="1600" dirty="0" err="1" smtClean="0">
                <a:latin typeface="Arial Narrow" panose="020B0606020202030204" pitchFamily="34" charset="0"/>
              </a:rPr>
              <a:t>and</a:t>
            </a:r>
            <a:r>
              <a:rPr lang="tr-TR" sz="1600" dirty="0" smtClean="0">
                <a:latin typeface="Arial Narrow" panose="020B0606020202030204" pitchFamily="34" charset="0"/>
              </a:rPr>
              <a:t> </a:t>
            </a:r>
            <a:r>
              <a:rPr lang="tr-TR" sz="1600" dirty="0" err="1" smtClean="0">
                <a:latin typeface="Arial Narrow" panose="020B0606020202030204" pitchFamily="34" charset="0"/>
              </a:rPr>
              <a:t>long-term</a:t>
            </a:r>
            <a:r>
              <a:rPr lang="tr-TR" sz="1600" dirty="0" smtClean="0">
                <a:latin typeface="Arial Narrow" panose="020B0606020202030204" pitchFamily="34" charset="0"/>
              </a:rPr>
              <a:t> </a:t>
            </a:r>
            <a:r>
              <a:rPr lang="tr-TR" sz="1600" dirty="0" err="1" smtClean="0">
                <a:latin typeface="Arial Narrow" panose="020B0606020202030204" pitchFamily="34" charset="0"/>
              </a:rPr>
              <a:t>if</a:t>
            </a:r>
            <a:r>
              <a:rPr lang="tr-TR" sz="1600" dirty="0" smtClean="0">
                <a:latin typeface="Arial Narrow" panose="020B0606020202030204" pitchFamily="34" charset="0"/>
              </a:rPr>
              <a:t> </a:t>
            </a:r>
            <a:r>
              <a:rPr lang="tr-TR" sz="1600" dirty="0" err="1" smtClean="0">
                <a:latin typeface="Arial Narrow" panose="020B0606020202030204" pitchFamily="34" charset="0"/>
              </a:rPr>
              <a:t>its</a:t>
            </a:r>
            <a:r>
              <a:rPr lang="tr-TR" sz="1600" dirty="0" smtClean="0">
                <a:latin typeface="Arial Narrow" panose="020B0606020202030204" pitchFamily="34" charset="0"/>
              </a:rPr>
              <a:t> </a:t>
            </a:r>
            <a:r>
              <a:rPr lang="tr-TR" sz="1600" dirty="0" err="1" smtClean="0">
                <a:latin typeface="Arial Narrow" panose="020B0606020202030204" pitchFamily="34" charset="0"/>
              </a:rPr>
              <a:t>maturity</a:t>
            </a:r>
            <a:r>
              <a:rPr lang="tr-TR" sz="1600" dirty="0" smtClean="0">
                <a:latin typeface="Arial Narrow" panose="020B0606020202030204" pitchFamily="34" charset="0"/>
              </a:rPr>
              <a:t> is ten </a:t>
            </a:r>
            <a:r>
              <a:rPr lang="tr-TR" sz="1600" dirty="0" err="1" smtClean="0">
                <a:latin typeface="Arial Narrow" panose="020B0606020202030204" pitchFamily="34" charset="0"/>
              </a:rPr>
              <a:t>years</a:t>
            </a:r>
            <a:r>
              <a:rPr lang="tr-TR" sz="1600" dirty="0" smtClean="0">
                <a:latin typeface="Arial Narrow" panose="020B0606020202030204" pitchFamily="34" charset="0"/>
              </a:rPr>
              <a:t> </a:t>
            </a:r>
            <a:r>
              <a:rPr lang="tr-TR" sz="1600" dirty="0" err="1" smtClean="0">
                <a:latin typeface="Arial Narrow" panose="020B0606020202030204" pitchFamily="34" charset="0"/>
              </a:rPr>
              <a:t>or</a:t>
            </a:r>
            <a:r>
              <a:rPr lang="tr-TR" sz="1600" dirty="0" smtClean="0">
                <a:latin typeface="Arial Narrow" panose="020B0606020202030204" pitchFamily="34" charset="0"/>
              </a:rPr>
              <a:t> </a:t>
            </a:r>
            <a:r>
              <a:rPr lang="tr-TR" sz="1600" dirty="0" err="1" smtClean="0">
                <a:latin typeface="Arial Narrow" panose="020B0606020202030204" pitchFamily="34" charset="0"/>
              </a:rPr>
              <a:t>longer</a:t>
            </a:r>
            <a:r>
              <a:rPr lang="tr-TR" sz="1600" dirty="0" smtClean="0">
                <a:latin typeface="Arial Narrow" panose="020B0606020202030204" pitchFamily="34" charset="0"/>
              </a:rPr>
              <a:t>.</a:t>
            </a:r>
          </a:p>
          <a:p>
            <a:pPr marL="0" indent="0" algn="ctr">
              <a:spcBef>
                <a:spcPts val="0"/>
              </a:spcBef>
              <a:buNone/>
            </a:pPr>
            <a:r>
              <a:rPr lang="tr-TR" sz="1600" dirty="0" err="1" smtClean="0">
                <a:latin typeface="Arial Narrow" panose="020B0606020202030204" pitchFamily="34" charset="0"/>
              </a:rPr>
              <a:t>Debt</a:t>
            </a:r>
            <a:r>
              <a:rPr lang="tr-TR" sz="1600" dirty="0" smtClean="0">
                <a:latin typeface="Arial Narrow" panose="020B0606020202030204" pitchFamily="34" charset="0"/>
              </a:rPr>
              <a:t> </a:t>
            </a:r>
            <a:r>
              <a:rPr lang="tr-TR" sz="1600" dirty="0" err="1" smtClean="0">
                <a:latin typeface="Arial Narrow" panose="020B0606020202030204" pitchFamily="34" charset="0"/>
              </a:rPr>
              <a:t>instruments</a:t>
            </a:r>
            <a:r>
              <a:rPr lang="tr-TR" sz="1600" dirty="0" smtClean="0">
                <a:latin typeface="Arial Narrow" panose="020B0606020202030204" pitchFamily="34" charset="0"/>
              </a:rPr>
              <a:t> </a:t>
            </a:r>
            <a:r>
              <a:rPr lang="tr-TR" sz="1600" dirty="0" err="1" smtClean="0">
                <a:latin typeface="Arial Narrow" panose="020B0606020202030204" pitchFamily="34" charset="0"/>
              </a:rPr>
              <a:t>with</a:t>
            </a:r>
            <a:r>
              <a:rPr lang="tr-TR" sz="1600" dirty="0" smtClean="0">
                <a:latin typeface="Arial Narrow" panose="020B0606020202030204" pitchFamily="34" charset="0"/>
              </a:rPr>
              <a:t> a </a:t>
            </a:r>
            <a:r>
              <a:rPr lang="tr-TR" sz="1600" dirty="0" err="1" smtClean="0">
                <a:latin typeface="Arial Narrow" panose="020B0606020202030204" pitchFamily="34" charset="0"/>
              </a:rPr>
              <a:t>maturity</a:t>
            </a:r>
            <a:r>
              <a:rPr lang="tr-TR" sz="1600" dirty="0" smtClean="0">
                <a:latin typeface="Arial Narrow" panose="020B0606020202030204" pitchFamily="34" charset="0"/>
              </a:rPr>
              <a:t> </a:t>
            </a:r>
            <a:r>
              <a:rPr lang="tr-TR" sz="1600" dirty="0" err="1" smtClean="0">
                <a:latin typeface="Arial Narrow" panose="020B0606020202030204" pitchFamily="34" charset="0"/>
              </a:rPr>
              <a:t>between</a:t>
            </a:r>
            <a:r>
              <a:rPr lang="tr-TR" sz="1600" dirty="0" smtClean="0">
                <a:latin typeface="Arial Narrow" panose="020B0606020202030204" pitchFamily="34" charset="0"/>
              </a:rPr>
              <a:t> </a:t>
            </a:r>
            <a:r>
              <a:rPr lang="tr-TR" sz="1600" dirty="0" err="1" smtClean="0">
                <a:latin typeface="Arial Narrow" panose="020B0606020202030204" pitchFamily="34" charset="0"/>
              </a:rPr>
              <a:t>one</a:t>
            </a:r>
            <a:r>
              <a:rPr lang="tr-TR" sz="1600" dirty="0" smtClean="0">
                <a:latin typeface="Arial Narrow" panose="020B0606020202030204" pitchFamily="34" charset="0"/>
              </a:rPr>
              <a:t> </a:t>
            </a:r>
            <a:r>
              <a:rPr lang="tr-TR" sz="1600" dirty="0" err="1" smtClean="0">
                <a:latin typeface="Arial Narrow" panose="020B0606020202030204" pitchFamily="34" charset="0"/>
              </a:rPr>
              <a:t>and</a:t>
            </a:r>
            <a:r>
              <a:rPr lang="tr-TR" sz="1600" dirty="0" smtClean="0">
                <a:latin typeface="Arial Narrow" panose="020B0606020202030204" pitchFamily="34" charset="0"/>
              </a:rPr>
              <a:t> ten </a:t>
            </a:r>
            <a:r>
              <a:rPr lang="tr-TR" sz="1600" dirty="0" err="1" smtClean="0">
                <a:latin typeface="Arial Narrow" panose="020B0606020202030204" pitchFamily="34" charset="0"/>
              </a:rPr>
              <a:t>years</a:t>
            </a:r>
            <a:r>
              <a:rPr lang="tr-TR" sz="1600" dirty="0" smtClean="0">
                <a:latin typeface="Arial Narrow" panose="020B0606020202030204" pitchFamily="34" charset="0"/>
              </a:rPr>
              <a:t> </a:t>
            </a:r>
            <a:r>
              <a:rPr lang="tr-TR" sz="1600" dirty="0" err="1" smtClean="0">
                <a:latin typeface="Arial Narrow" panose="020B0606020202030204" pitchFamily="34" charset="0"/>
              </a:rPr>
              <a:t>are</a:t>
            </a:r>
            <a:r>
              <a:rPr lang="tr-TR" sz="1600" dirty="0" smtClean="0">
                <a:latin typeface="Arial Narrow" panose="020B0606020202030204" pitchFamily="34" charset="0"/>
              </a:rPr>
              <a:t> </a:t>
            </a:r>
            <a:r>
              <a:rPr lang="tr-TR" sz="1600" dirty="0" err="1" smtClean="0">
                <a:latin typeface="Arial Narrow" panose="020B0606020202030204" pitchFamily="34" charset="0"/>
              </a:rPr>
              <a:t>said</a:t>
            </a:r>
            <a:r>
              <a:rPr lang="tr-TR" sz="1600" dirty="0" smtClean="0">
                <a:latin typeface="Arial Narrow" panose="020B0606020202030204" pitchFamily="34" charset="0"/>
              </a:rPr>
              <a:t> </a:t>
            </a:r>
            <a:r>
              <a:rPr lang="tr-TR" sz="1600" dirty="0" err="1" smtClean="0">
                <a:latin typeface="Arial Narrow" panose="020B0606020202030204" pitchFamily="34" charset="0"/>
              </a:rPr>
              <a:t>to</a:t>
            </a:r>
            <a:r>
              <a:rPr lang="tr-TR" sz="1600" dirty="0" smtClean="0">
                <a:latin typeface="Arial Narrow" panose="020B0606020202030204" pitchFamily="34" charset="0"/>
              </a:rPr>
              <a:t> be </a:t>
            </a:r>
            <a:r>
              <a:rPr lang="tr-TR" sz="1600" dirty="0" err="1" smtClean="0">
                <a:latin typeface="Arial Narrow" panose="020B0606020202030204" pitchFamily="34" charset="0"/>
              </a:rPr>
              <a:t>intermediate-term</a:t>
            </a:r>
            <a:r>
              <a:rPr lang="tr-TR" sz="1600" dirty="0" smtClean="0">
                <a:latin typeface="Arial Narrow" panose="020B0606020202030204" pitchFamily="34" charset="0"/>
              </a:rPr>
              <a:t>.</a:t>
            </a:r>
            <a:endParaRPr lang="tr-TR" sz="1600" noProof="1" smtClean="0">
              <a:latin typeface="Arial Narrow" panose="020B0606020202030204" pitchFamily="34" charset="0"/>
            </a:endParaRPr>
          </a:p>
        </p:txBody>
      </p:sp>
    </p:spTree>
    <p:extLst>
      <p:ext uri="{BB962C8B-B14F-4D97-AF65-F5344CB8AC3E}">
        <p14:creationId xmlns:p14="http://schemas.microsoft.com/office/powerpoint/2010/main" val="27620261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91264" cy="1143000"/>
          </a:xfrm>
          <a:ln w="25400">
            <a:noFill/>
          </a:ln>
        </p:spPr>
        <p:txBody>
          <a:bodyPr>
            <a:noAutofit/>
          </a:bodyPr>
          <a:lstStyle/>
          <a:p>
            <a:r>
              <a:rPr lang="tr-TR" sz="1400" dirty="0">
                <a:latin typeface="Arial Narrow" pitchFamily="34" charset="0"/>
              </a:rPr>
              <a:t>NTE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smtClean="0">
                <a:solidFill>
                  <a:srgbClr val="800000"/>
                </a:solidFill>
                <a:latin typeface="Arial Narrow" pitchFamily="34" charset="0"/>
              </a:rPr>
              <a:t>Financial </a:t>
            </a:r>
            <a:r>
              <a:rPr lang="tr-TR" sz="2000" dirty="0" err="1" smtClean="0">
                <a:solidFill>
                  <a:srgbClr val="800000"/>
                </a:solidFill>
                <a:latin typeface="Arial Narrow" pitchFamily="34" charset="0"/>
              </a:rPr>
              <a:t>Securities</a:t>
            </a:r>
            <a:r>
              <a:rPr lang="tr-TR" sz="2800" dirty="0">
                <a:solidFill>
                  <a:srgbClr val="C00000"/>
                </a:solidFill>
                <a:latin typeface="Arial Narrow" pitchFamily="34" charset="0"/>
              </a:rPr>
              <a:t/>
            </a:r>
            <a:br>
              <a:rPr lang="tr-TR" sz="2800" dirty="0">
                <a:solidFill>
                  <a:srgbClr val="C00000"/>
                </a:solidFill>
                <a:latin typeface="Arial Narrow" pitchFamily="34" charset="0"/>
              </a:rPr>
            </a:br>
            <a:r>
              <a:rPr lang="tr-TR" sz="2400" dirty="0" err="1" smtClean="0">
                <a:latin typeface="Arial Narrow" pitchFamily="34" charset="0"/>
              </a:rPr>
              <a:t>Debt</a:t>
            </a:r>
            <a:r>
              <a:rPr lang="tr-TR" sz="2400" dirty="0" smtClean="0">
                <a:latin typeface="Arial Narrow" pitchFamily="34" charset="0"/>
              </a:rPr>
              <a:t> Instruments</a:t>
            </a:r>
            <a:endParaRPr lang="tr-TR" sz="2400" dirty="0">
              <a:latin typeface="Arial Narrow" pitchFamily="34" charset="0"/>
            </a:endParaRPr>
          </a:p>
        </p:txBody>
      </p:sp>
      <p:sp>
        <p:nvSpPr>
          <p:cNvPr id="5" name="Content Placeholder 4"/>
          <p:cNvSpPr>
            <a:spLocks noGrp="1"/>
          </p:cNvSpPr>
          <p:nvPr>
            <p:ph idx="1"/>
          </p:nvPr>
        </p:nvSpPr>
        <p:spPr>
          <a:xfrm>
            <a:off x="457200" y="1600200"/>
            <a:ext cx="8291264" cy="4525963"/>
          </a:xfrm>
          <a:ln w="25400">
            <a:noFill/>
          </a:ln>
        </p:spPr>
        <p:txBody>
          <a:bodyPr>
            <a:noAutofit/>
          </a:bodyPr>
          <a:lstStyle/>
          <a:p>
            <a:pPr marL="0" lvl="1" indent="0" algn="ctr">
              <a:spcBef>
                <a:spcPts val="0"/>
              </a:spcBef>
              <a:buNone/>
            </a:pPr>
            <a:r>
              <a:rPr lang="tr-TR" sz="1800" noProof="1" smtClean="0">
                <a:solidFill>
                  <a:srgbClr val="C00000"/>
                </a:solidFill>
                <a:latin typeface="Arial Narrow" panose="020B0606020202030204" pitchFamily="34" charset="0"/>
              </a:rPr>
              <a:t>Secured debt </a:t>
            </a:r>
            <a:r>
              <a:rPr lang="tr-TR" sz="1800" noProof="1" smtClean="0">
                <a:latin typeface="Arial Narrow" panose="020B0606020202030204" pitchFamily="34" charset="0"/>
              </a:rPr>
              <a:t>is secured over one or more of the assets of the company,</a:t>
            </a:r>
          </a:p>
          <a:p>
            <a:pPr marL="0" lvl="1" indent="0" algn="ctr">
              <a:spcBef>
                <a:spcPts val="0"/>
              </a:spcBef>
              <a:buNone/>
            </a:pPr>
            <a:r>
              <a:rPr lang="tr-TR" sz="1800" noProof="1">
                <a:latin typeface="Arial Narrow" panose="020B0606020202030204" pitchFamily="34" charset="0"/>
              </a:rPr>
              <a:t>w</a:t>
            </a:r>
            <a:r>
              <a:rPr lang="tr-TR" sz="1800" noProof="1" smtClean="0">
                <a:latin typeface="Arial Narrow" panose="020B0606020202030204" pitchFamily="34" charset="0"/>
              </a:rPr>
              <a:t>hich means that in the case of liquidation,</a:t>
            </a:r>
          </a:p>
          <a:p>
            <a:pPr marL="0" lvl="1" indent="0" algn="ctr">
              <a:spcBef>
                <a:spcPts val="0"/>
              </a:spcBef>
              <a:buNone/>
            </a:pPr>
            <a:r>
              <a:rPr lang="tr-TR" sz="1800" noProof="1" smtClean="0">
                <a:latin typeface="Arial Narrow" panose="020B0606020202030204" pitchFamily="34" charset="0"/>
              </a:rPr>
              <a:t>the proceeds from the sale of secured assets</a:t>
            </a:r>
          </a:p>
          <a:p>
            <a:pPr marL="0" lvl="1" indent="0" algn="ctr">
              <a:spcBef>
                <a:spcPts val="0"/>
              </a:spcBef>
              <a:buNone/>
            </a:pPr>
            <a:r>
              <a:rPr lang="tr-TR" sz="1800" noProof="1" smtClean="0">
                <a:latin typeface="Arial Narrow" panose="020B0606020202030204" pitchFamily="34" charset="0"/>
              </a:rPr>
              <a:t>would be used to first meet the claims of the debt-holders.</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The secured assets are called collateral.</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In case of liquidation,</a:t>
            </a:r>
          </a:p>
          <a:p>
            <a:pPr marL="0" lvl="1" indent="0" algn="ctr">
              <a:spcBef>
                <a:spcPts val="0"/>
              </a:spcBef>
              <a:buNone/>
            </a:pPr>
            <a:r>
              <a:rPr lang="tr-TR" sz="1800" noProof="1" smtClean="0">
                <a:latin typeface="Arial Narrow" panose="020B0606020202030204" pitchFamily="34" charset="0"/>
              </a:rPr>
              <a:t>there is a ranking of the claims on the assets of the company;</a:t>
            </a:r>
          </a:p>
          <a:p>
            <a:pPr marL="0" lvl="1" indent="0" algn="ctr">
              <a:spcBef>
                <a:spcPts val="0"/>
              </a:spcBef>
              <a:buNone/>
            </a:pPr>
            <a:r>
              <a:rPr lang="tr-TR" sz="1800" noProof="1" smtClean="0">
                <a:solidFill>
                  <a:srgbClr val="C00000"/>
                </a:solidFill>
                <a:latin typeface="Arial Narrow" panose="020B0606020202030204" pitchFamily="34" charset="0"/>
              </a:rPr>
              <a:t>senior debt </a:t>
            </a:r>
            <a:r>
              <a:rPr lang="tr-TR" sz="1800" noProof="1" smtClean="0">
                <a:latin typeface="Arial Narrow" panose="020B0606020202030204" pitchFamily="34" charset="0"/>
              </a:rPr>
              <a:t>has first claim</a:t>
            </a:r>
          </a:p>
          <a:p>
            <a:pPr marL="0" lvl="1" indent="0" algn="ctr">
              <a:spcBef>
                <a:spcPts val="0"/>
              </a:spcBef>
              <a:buNone/>
            </a:pPr>
            <a:r>
              <a:rPr lang="tr-TR" sz="1800" noProof="1">
                <a:latin typeface="Arial Narrow" panose="020B0606020202030204" pitchFamily="34" charset="0"/>
              </a:rPr>
              <a:t>a</a:t>
            </a:r>
            <a:r>
              <a:rPr lang="tr-TR" sz="1800" noProof="1" smtClean="0">
                <a:latin typeface="Arial Narrow" panose="020B0606020202030204" pitchFamily="34" charset="0"/>
              </a:rPr>
              <a:t>nd </a:t>
            </a:r>
            <a:r>
              <a:rPr lang="tr-TR" sz="1800" noProof="1" smtClean="0">
                <a:solidFill>
                  <a:srgbClr val="C00000"/>
                </a:solidFill>
                <a:latin typeface="Arial Narrow" panose="020B0606020202030204" pitchFamily="34" charset="0"/>
              </a:rPr>
              <a:t>subordinated debt </a:t>
            </a:r>
            <a:r>
              <a:rPr lang="tr-TR" sz="1800" noProof="1" smtClean="0">
                <a:latin typeface="Arial Narrow" panose="020B0606020202030204" pitchFamily="34" charset="0"/>
              </a:rPr>
              <a:t>has a subsequent claim.</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solidFill>
                  <a:srgbClr val="C00000"/>
                </a:solidFill>
                <a:latin typeface="Arial Narrow" panose="020B0606020202030204" pitchFamily="34" charset="0"/>
              </a:rPr>
              <a:t>Unsecured debt </a:t>
            </a:r>
            <a:r>
              <a:rPr lang="tr-TR" sz="1800" noProof="1" smtClean="0">
                <a:latin typeface="Arial Narrow" panose="020B0606020202030204" pitchFamily="34" charset="0"/>
              </a:rPr>
              <a:t>does not lay claim to any of the assets.</a:t>
            </a:r>
          </a:p>
        </p:txBody>
      </p:sp>
    </p:spTree>
    <p:extLst>
      <p:ext uri="{BB962C8B-B14F-4D97-AF65-F5344CB8AC3E}">
        <p14:creationId xmlns:p14="http://schemas.microsoft.com/office/powerpoint/2010/main" val="5379643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91264" cy="1143000"/>
          </a:xfrm>
          <a:ln w="25400">
            <a:noFill/>
          </a:ln>
        </p:spPr>
        <p:txBody>
          <a:bodyPr>
            <a:noAutofit/>
          </a:bodyPr>
          <a:lstStyle/>
          <a:p>
            <a:r>
              <a:rPr lang="tr-TR" sz="1400" dirty="0">
                <a:latin typeface="Arial Narrow" pitchFamily="34" charset="0"/>
              </a:rPr>
              <a:t>NTE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smtClean="0">
                <a:solidFill>
                  <a:srgbClr val="800000"/>
                </a:solidFill>
                <a:latin typeface="Arial Narrow" pitchFamily="34" charset="0"/>
              </a:rPr>
              <a:t>Financial </a:t>
            </a:r>
            <a:r>
              <a:rPr lang="tr-TR" sz="2000" dirty="0" err="1" smtClean="0">
                <a:solidFill>
                  <a:srgbClr val="800000"/>
                </a:solidFill>
                <a:latin typeface="Arial Narrow" pitchFamily="34" charset="0"/>
              </a:rPr>
              <a:t>Securities</a:t>
            </a:r>
            <a:r>
              <a:rPr lang="tr-TR" sz="2800" dirty="0">
                <a:solidFill>
                  <a:srgbClr val="C00000"/>
                </a:solidFill>
                <a:latin typeface="Arial Narrow" pitchFamily="34" charset="0"/>
              </a:rPr>
              <a:t/>
            </a:r>
            <a:br>
              <a:rPr lang="tr-TR" sz="2800" dirty="0">
                <a:solidFill>
                  <a:srgbClr val="C00000"/>
                </a:solidFill>
                <a:latin typeface="Arial Narrow" pitchFamily="34" charset="0"/>
              </a:rPr>
            </a:br>
            <a:r>
              <a:rPr lang="tr-TR" sz="2400" dirty="0" err="1" smtClean="0">
                <a:latin typeface="Arial Narrow" pitchFamily="34" charset="0"/>
              </a:rPr>
              <a:t>Debt</a:t>
            </a:r>
            <a:r>
              <a:rPr lang="tr-TR" sz="2400" dirty="0" smtClean="0">
                <a:latin typeface="Arial Narrow" pitchFamily="34" charset="0"/>
              </a:rPr>
              <a:t> Instruments</a:t>
            </a:r>
            <a:endParaRPr lang="tr-TR" sz="2400" dirty="0">
              <a:latin typeface="Arial Narrow" pitchFamily="34" charset="0"/>
            </a:endParaRPr>
          </a:p>
        </p:txBody>
      </p:sp>
      <p:sp>
        <p:nvSpPr>
          <p:cNvPr id="5" name="Content Placeholder 4"/>
          <p:cNvSpPr>
            <a:spLocks noGrp="1"/>
          </p:cNvSpPr>
          <p:nvPr>
            <p:ph idx="1"/>
          </p:nvPr>
        </p:nvSpPr>
        <p:spPr>
          <a:xfrm>
            <a:off x="457200" y="1600200"/>
            <a:ext cx="8291264" cy="4525963"/>
          </a:xfrm>
          <a:ln w="25400">
            <a:noFill/>
          </a:ln>
        </p:spPr>
        <p:txBody>
          <a:bodyPr>
            <a:noAutofit/>
          </a:bodyPr>
          <a:lstStyle/>
          <a:p>
            <a:pPr marL="0" lvl="1" indent="0" algn="ctr">
              <a:spcBef>
                <a:spcPts val="0"/>
              </a:spcBef>
              <a:buNone/>
            </a:pPr>
            <a:endParaRPr lang="tr-TR" sz="1800" noProof="1" smtClean="0">
              <a:latin typeface="Arial Narrow" panose="020B0606020202030204" pitchFamily="34" charset="0"/>
            </a:endParaRPr>
          </a:p>
          <a:p>
            <a:pPr marL="0" lvl="1" indent="0" algn="ctr">
              <a:spcBef>
                <a:spcPts val="0"/>
              </a:spcBef>
              <a:buNone/>
            </a:pPr>
            <a:r>
              <a:rPr lang="tr-TR" sz="1800" noProof="1" smtClean="0">
                <a:solidFill>
                  <a:srgbClr val="C00000"/>
                </a:solidFill>
                <a:latin typeface="Arial Narrow" panose="020B0606020202030204" pitchFamily="34" charset="0"/>
              </a:rPr>
              <a:t>Fixed interest debt </a:t>
            </a:r>
            <a:r>
              <a:rPr lang="tr-TR" sz="1800" noProof="1" smtClean="0">
                <a:latin typeface="Arial Narrow" panose="020B0606020202030204" pitchFamily="34" charset="0"/>
              </a:rPr>
              <a:t>is that in which the interest rate is fixed for the period of the loan.</a:t>
            </a:r>
          </a:p>
          <a:p>
            <a:pPr marL="0" lvl="1" indent="0" algn="ctr">
              <a:spcBef>
                <a:spcPts val="0"/>
              </a:spcBef>
              <a:buNone/>
            </a:pPr>
            <a:r>
              <a:rPr lang="tr-TR" sz="1800" noProof="1" smtClean="0">
                <a:latin typeface="Arial Narrow" panose="020B0606020202030204" pitchFamily="34" charset="0"/>
              </a:rPr>
              <a:t>Bonds are often fixed interest instruments.</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solidFill>
                  <a:srgbClr val="C00000"/>
                </a:solidFill>
                <a:latin typeface="Arial Narrow" panose="020B0606020202030204" pitchFamily="34" charset="0"/>
              </a:rPr>
              <a:t>Variable interest or floating interest debt </a:t>
            </a:r>
            <a:r>
              <a:rPr lang="tr-TR" sz="1800" noProof="1" smtClean="0">
                <a:latin typeface="Arial Narrow" panose="020B0606020202030204" pitchFamily="34" charset="0"/>
              </a:rPr>
              <a:t>is that in which</a:t>
            </a:r>
          </a:p>
          <a:p>
            <a:pPr marL="0" lvl="1" indent="0" algn="ctr">
              <a:spcBef>
                <a:spcPts val="0"/>
              </a:spcBef>
              <a:buNone/>
            </a:pPr>
            <a:r>
              <a:rPr lang="tr-TR" sz="1800" noProof="1" smtClean="0">
                <a:latin typeface="Arial Narrow" panose="020B0606020202030204" pitchFamily="34" charset="0"/>
              </a:rPr>
              <a:t>the interest rate is not fixed but varies according to the market rate.</a:t>
            </a:r>
          </a:p>
          <a:p>
            <a:pPr marL="0" lvl="1" indent="0" algn="ctr">
              <a:spcBef>
                <a:spcPts val="0"/>
              </a:spcBef>
              <a:buNone/>
            </a:pPr>
            <a:r>
              <a:rPr lang="tr-TR" sz="1800" noProof="1" smtClean="0">
                <a:latin typeface="Arial Narrow" panose="020B0606020202030204" pitchFamily="34" charset="0"/>
              </a:rPr>
              <a:t>Mortgages are a common form of floating interest debt.</a:t>
            </a:r>
          </a:p>
        </p:txBody>
      </p:sp>
    </p:spTree>
    <p:extLst>
      <p:ext uri="{BB962C8B-B14F-4D97-AF65-F5344CB8AC3E}">
        <p14:creationId xmlns:p14="http://schemas.microsoft.com/office/powerpoint/2010/main" val="23483939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91264" cy="1143000"/>
          </a:xfrm>
          <a:ln w="25400">
            <a:noFill/>
          </a:ln>
        </p:spPr>
        <p:txBody>
          <a:bodyPr>
            <a:noAutofit/>
          </a:bodyPr>
          <a:lstStyle/>
          <a:p>
            <a:r>
              <a:rPr lang="tr-TR" sz="1400" dirty="0">
                <a:latin typeface="Arial Narrow" pitchFamily="34" charset="0"/>
              </a:rPr>
              <a:t>NTE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smtClean="0">
                <a:solidFill>
                  <a:srgbClr val="800000"/>
                </a:solidFill>
                <a:latin typeface="Arial Narrow" pitchFamily="34" charset="0"/>
              </a:rPr>
              <a:t>Financial </a:t>
            </a:r>
            <a:r>
              <a:rPr lang="tr-TR" sz="2000" dirty="0" err="1" smtClean="0">
                <a:solidFill>
                  <a:srgbClr val="800000"/>
                </a:solidFill>
                <a:latin typeface="Arial Narrow" pitchFamily="34" charset="0"/>
              </a:rPr>
              <a:t>Securities</a:t>
            </a:r>
            <a:r>
              <a:rPr lang="tr-TR" sz="2800" dirty="0">
                <a:solidFill>
                  <a:srgbClr val="C00000"/>
                </a:solidFill>
                <a:latin typeface="Arial Narrow" pitchFamily="34" charset="0"/>
              </a:rPr>
              <a:t/>
            </a:r>
            <a:br>
              <a:rPr lang="tr-TR" sz="2800" dirty="0">
                <a:solidFill>
                  <a:srgbClr val="C00000"/>
                </a:solidFill>
                <a:latin typeface="Arial Narrow" pitchFamily="34" charset="0"/>
              </a:rPr>
            </a:br>
            <a:r>
              <a:rPr lang="tr-TR" sz="2400" dirty="0" err="1" smtClean="0">
                <a:latin typeface="Arial Narrow" pitchFamily="34" charset="0"/>
              </a:rPr>
              <a:t>Types</a:t>
            </a:r>
            <a:r>
              <a:rPr lang="tr-TR" sz="2400" dirty="0" smtClean="0">
                <a:latin typeface="Arial Narrow" pitchFamily="34" charset="0"/>
              </a:rPr>
              <a:t> of </a:t>
            </a:r>
            <a:r>
              <a:rPr lang="tr-TR" sz="2400" dirty="0" err="1" smtClean="0">
                <a:latin typeface="Arial Narrow" pitchFamily="34" charset="0"/>
              </a:rPr>
              <a:t>Loans</a:t>
            </a:r>
            <a:endParaRPr lang="tr-TR" sz="2400" dirty="0">
              <a:latin typeface="Arial Narrow" pitchFamily="34" charset="0"/>
            </a:endParaRPr>
          </a:p>
        </p:txBody>
      </p:sp>
      <p:sp>
        <p:nvSpPr>
          <p:cNvPr id="5" name="Content Placeholder 4"/>
          <p:cNvSpPr>
            <a:spLocks noGrp="1"/>
          </p:cNvSpPr>
          <p:nvPr>
            <p:ph idx="1"/>
          </p:nvPr>
        </p:nvSpPr>
        <p:spPr>
          <a:xfrm>
            <a:off x="457200" y="1600200"/>
            <a:ext cx="8291264" cy="4525963"/>
          </a:xfrm>
          <a:ln w="25400">
            <a:noFill/>
          </a:ln>
        </p:spPr>
        <p:txBody>
          <a:bodyPr>
            <a:noAutofit/>
          </a:bodyPr>
          <a:lstStyle/>
          <a:p>
            <a:pPr marL="0" lvl="1" indent="-342900">
              <a:spcBef>
                <a:spcPts val="0"/>
              </a:spcBef>
              <a:buFont typeface="Arial" panose="020B0604020202020204" pitchFamily="34" charset="0"/>
              <a:buChar char="•"/>
            </a:pPr>
            <a:r>
              <a:rPr lang="tr-TR" sz="1800" noProof="1" smtClean="0">
                <a:solidFill>
                  <a:srgbClr val="C00000"/>
                </a:solidFill>
                <a:latin typeface="Arial Narrow" panose="020B0606020202030204" pitchFamily="34" charset="0"/>
              </a:rPr>
              <a:t>Regular loan </a:t>
            </a:r>
            <a:r>
              <a:rPr lang="tr-TR" sz="1800" noProof="1" smtClean="0">
                <a:latin typeface="Arial Narrow" panose="020B0606020202030204" pitchFamily="34" charset="0"/>
              </a:rPr>
              <a:t>is one in which the interest is paid at regular periods during the term of the loan 	and the principal is paid at the end.</a:t>
            </a:r>
          </a:p>
          <a:p>
            <a:pPr marL="0" lvl="1" indent="-342900">
              <a:spcBef>
                <a:spcPts val="0"/>
              </a:spcBef>
              <a:buFont typeface="Arial" panose="020B0604020202020204" pitchFamily="34" charset="0"/>
              <a:buChar char="•"/>
            </a:pPr>
            <a:endParaRPr lang="tr-TR" sz="1800" noProof="1" smtClean="0">
              <a:latin typeface="Arial Narrow" panose="020B0606020202030204" pitchFamily="34" charset="0"/>
            </a:endParaRPr>
          </a:p>
          <a:p>
            <a:pPr marL="0" lvl="1" indent="-342900">
              <a:spcBef>
                <a:spcPts val="0"/>
              </a:spcBef>
              <a:buFont typeface="Arial" panose="020B0604020202020204" pitchFamily="34" charset="0"/>
              <a:buChar char="•"/>
            </a:pPr>
            <a:r>
              <a:rPr lang="tr-TR" sz="1800" noProof="1" smtClean="0">
                <a:solidFill>
                  <a:srgbClr val="C00000"/>
                </a:solidFill>
                <a:latin typeface="Arial Narrow" panose="020B0606020202030204" pitchFamily="34" charset="0"/>
              </a:rPr>
              <a:t>Discount loan </a:t>
            </a:r>
            <a:r>
              <a:rPr lang="tr-TR" sz="1800" noProof="1" smtClean="0">
                <a:latin typeface="Arial Narrow" panose="020B0606020202030204" pitchFamily="34" charset="0"/>
              </a:rPr>
              <a:t>is structured so that the entire interest amount is paid in advance.</a:t>
            </a:r>
          </a:p>
          <a:p>
            <a:pPr marL="914400" lvl="4" indent="0">
              <a:spcBef>
                <a:spcPts val="0"/>
              </a:spcBef>
              <a:buNone/>
            </a:pPr>
            <a:r>
              <a:rPr lang="tr-TR" sz="1800" noProof="1" smtClean="0">
                <a:latin typeface="Arial Narrow" panose="020B0606020202030204" pitchFamily="34" charset="0"/>
              </a:rPr>
              <a:t>The borrower receives the loan amount less the interest payment.</a:t>
            </a:r>
          </a:p>
          <a:p>
            <a:pPr marL="914400" lvl="4" indent="0">
              <a:spcBef>
                <a:spcPts val="0"/>
              </a:spcBef>
              <a:buNone/>
            </a:pPr>
            <a:r>
              <a:rPr lang="tr-TR" sz="1800" noProof="1" smtClean="0">
                <a:latin typeface="Arial Narrow" panose="020B0606020202030204" pitchFamily="34" charset="0"/>
              </a:rPr>
              <a:t>At the end of the loan period, the borrower repays the principal amount.</a:t>
            </a:r>
          </a:p>
          <a:p>
            <a:pPr marL="0" lvl="2" indent="0">
              <a:spcBef>
                <a:spcPts val="0"/>
              </a:spcBef>
              <a:buNone/>
            </a:pPr>
            <a:endParaRPr lang="tr-TR" sz="1800" noProof="1" smtClean="0">
              <a:latin typeface="Arial Narrow" panose="020B0606020202030204" pitchFamily="34" charset="0"/>
            </a:endParaRPr>
          </a:p>
          <a:p>
            <a:pPr marL="0" lvl="1" indent="-342900">
              <a:spcBef>
                <a:spcPts val="0"/>
              </a:spcBef>
              <a:buFont typeface="Arial" panose="020B0604020202020204" pitchFamily="34" charset="0"/>
              <a:buChar char="•"/>
            </a:pPr>
            <a:r>
              <a:rPr lang="tr-TR" sz="1800" noProof="1" smtClean="0">
                <a:solidFill>
                  <a:srgbClr val="C00000"/>
                </a:solidFill>
                <a:latin typeface="Arial Narrow" panose="020B0606020202030204" pitchFamily="34" charset="0"/>
              </a:rPr>
              <a:t>Instalment loan </a:t>
            </a:r>
            <a:r>
              <a:rPr lang="tr-TR" sz="1800" noProof="1" smtClean="0">
                <a:latin typeface="Arial Narrow" panose="020B0606020202030204" pitchFamily="34" charset="0"/>
              </a:rPr>
              <a:t>is one which is paid back in equal instalments.</a:t>
            </a:r>
          </a:p>
          <a:p>
            <a:pPr marL="0" lvl="2" indent="0" algn="ctr">
              <a:spcBef>
                <a:spcPts val="0"/>
              </a:spcBef>
              <a:buNone/>
            </a:pPr>
            <a:r>
              <a:rPr lang="tr-TR" sz="1800" noProof="1" smtClean="0">
                <a:latin typeface="Arial Narrow" panose="020B0606020202030204" pitchFamily="34" charset="0"/>
              </a:rPr>
              <a:t>An instalment is composed of interest for the current period and partial principal repayment.</a:t>
            </a:r>
          </a:p>
          <a:p>
            <a:pPr marL="0" lvl="2" indent="0">
              <a:spcBef>
                <a:spcPts val="0"/>
              </a:spcBef>
              <a:buNone/>
            </a:pPr>
            <a:endParaRPr lang="tr-TR" sz="1800" noProof="1" smtClean="0">
              <a:latin typeface="Arial Narrow" panose="020B0606020202030204" pitchFamily="34" charset="0"/>
            </a:endParaRPr>
          </a:p>
          <a:p>
            <a:pPr marL="0" lvl="1" indent="-342900">
              <a:spcBef>
                <a:spcPts val="0"/>
              </a:spcBef>
              <a:buFont typeface="Arial" panose="020B0604020202020204" pitchFamily="34" charset="0"/>
              <a:buChar char="•"/>
            </a:pPr>
            <a:r>
              <a:rPr lang="tr-TR" sz="1800" noProof="1" smtClean="0">
                <a:latin typeface="Arial Narrow" panose="020B0606020202030204" pitchFamily="34" charset="0"/>
              </a:rPr>
              <a:t>A </a:t>
            </a:r>
            <a:r>
              <a:rPr lang="tr-TR" sz="1800" noProof="1" smtClean="0">
                <a:solidFill>
                  <a:srgbClr val="C00000"/>
                </a:solidFill>
                <a:latin typeface="Arial Narrow" panose="020B0606020202030204" pitchFamily="34" charset="0"/>
              </a:rPr>
              <a:t>line of credit </a:t>
            </a:r>
            <a:r>
              <a:rPr lang="tr-TR" sz="1800" noProof="1" smtClean="0">
                <a:latin typeface="Arial Narrow" panose="020B0606020202030204" pitchFamily="34" charset="0"/>
              </a:rPr>
              <a:t>or</a:t>
            </a:r>
            <a:r>
              <a:rPr lang="tr-TR" sz="1800" noProof="1" smtClean="0">
                <a:solidFill>
                  <a:srgbClr val="C00000"/>
                </a:solidFill>
                <a:latin typeface="Arial Narrow" panose="020B0606020202030204" pitchFamily="34" charset="0"/>
              </a:rPr>
              <a:t> revolving credit </a:t>
            </a:r>
            <a:r>
              <a:rPr lang="tr-TR" sz="1800" noProof="1" smtClean="0">
                <a:latin typeface="Arial Narrow" panose="020B0606020202030204" pitchFamily="34" charset="0"/>
              </a:rPr>
              <a:t>is a flexible form of short-term financing</a:t>
            </a:r>
          </a:p>
          <a:p>
            <a:pPr marL="0" lvl="1" indent="0">
              <a:spcBef>
                <a:spcPts val="0"/>
              </a:spcBef>
              <a:buNone/>
            </a:pPr>
            <a:r>
              <a:rPr lang="tr-TR" sz="1800" noProof="1">
                <a:latin typeface="Arial Narrow" panose="020B0606020202030204" pitchFamily="34" charset="0"/>
              </a:rPr>
              <a:t>	</a:t>
            </a:r>
            <a:r>
              <a:rPr lang="tr-TR" sz="1800" noProof="1" smtClean="0">
                <a:latin typeface="Arial Narrow" panose="020B0606020202030204" pitchFamily="34" charset="0"/>
              </a:rPr>
              <a:t>that allows the borrower to access funds up to a specified limit as needed.</a:t>
            </a:r>
          </a:p>
          <a:p>
            <a:pPr marL="0" lvl="2" indent="0">
              <a:spcBef>
                <a:spcPts val="0"/>
              </a:spcBef>
              <a:buNone/>
            </a:pPr>
            <a:r>
              <a:rPr lang="tr-TR" sz="1800" noProof="1" smtClean="0">
                <a:latin typeface="Arial Narrow" panose="020B0606020202030204" pitchFamily="34" charset="0"/>
              </a:rPr>
              <a:t>	The company pays interest on the amount borrowed;</a:t>
            </a:r>
          </a:p>
          <a:p>
            <a:pPr marL="0" lvl="2" indent="0">
              <a:spcBef>
                <a:spcPts val="0"/>
              </a:spcBef>
              <a:buNone/>
            </a:pPr>
            <a:r>
              <a:rPr lang="tr-TR" sz="1800" noProof="1" smtClean="0">
                <a:latin typeface="Arial Narrow" panose="020B0606020202030204" pitchFamily="34" charset="0"/>
              </a:rPr>
              <a:t>	however, it may be required to pay a (small) charge on the unused balance as well.</a:t>
            </a:r>
          </a:p>
        </p:txBody>
      </p:sp>
    </p:spTree>
    <p:extLst>
      <p:ext uri="{BB962C8B-B14F-4D97-AF65-F5344CB8AC3E}">
        <p14:creationId xmlns:p14="http://schemas.microsoft.com/office/powerpoint/2010/main" val="10756818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91264" cy="1143000"/>
          </a:xfrm>
          <a:ln w="25400">
            <a:noFill/>
          </a:ln>
        </p:spPr>
        <p:txBody>
          <a:bodyPr>
            <a:noAutofit/>
          </a:bodyPr>
          <a:lstStyle/>
          <a:p>
            <a:r>
              <a:rPr lang="tr-TR" sz="1400" dirty="0">
                <a:latin typeface="Arial Narrow" pitchFamily="34" charset="0"/>
              </a:rPr>
              <a:t>NTE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smtClean="0">
                <a:solidFill>
                  <a:srgbClr val="800000"/>
                </a:solidFill>
                <a:latin typeface="Arial Narrow" pitchFamily="34" charset="0"/>
              </a:rPr>
              <a:t>Financial </a:t>
            </a:r>
            <a:r>
              <a:rPr lang="tr-TR" sz="2000" dirty="0" err="1" smtClean="0">
                <a:solidFill>
                  <a:srgbClr val="800000"/>
                </a:solidFill>
                <a:latin typeface="Arial Narrow" pitchFamily="34" charset="0"/>
              </a:rPr>
              <a:t>Securities</a:t>
            </a:r>
            <a:r>
              <a:rPr lang="tr-TR" sz="2800" dirty="0">
                <a:solidFill>
                  <a:srgbClr val="C00000"/>
                </a:solidFill>
                <a:latin typeface="Arial Narrow" pitchFamily="34" charset="0"/>
              </a:rPr>
              <a:t/>
            </a:r>
            <a:br>
              <a:rPr lang="tr-TR" sz="2800" dirty="0">
                <a:solidFill>
                  <a:srgbClr val="C00000"/>
                </a:solidFill>
                <a:latin typeface="Arial Narrow" pitchFamily="34" charset="0"/>
              </a:rPr>
            </a:br>
            <a:r>
              <a:rPr lang="tr-TR" sz="2400" dirty="0" err="1" smtClean="0">
                <a:latin typeface="Arial Narrow" pitchFamily="34" charset="0"/>
              </a:rPr>
              <a:t>Additional</a:t>
            </a:r>
            <a:r>
              <a:rPr lang="tr-TR" sz="2400" dirty="0" smtClean="0">
                <a:latin typeface="Arial Narrow" pitchFamily="34" charset="0"/>
              </a:rPr>
              <a:t> </a:t>
            </a:r>
            <a:r>
              <a:rPr lang="tr-TR" sz="2400" dirty="0" err="1" smtClean="0">
                <a:latin typeface="Arial Narrow" pitchFamily="34" charset="0"/>
              </a:rPr>
              <a:t>Debt</a:t>
            </a:r>
            <a:r>
              <a:rPr lang="tr-TR" sz="2400" dirty="0" smtClean="0">
                <a:latin typeface="Arial Narrow" pitchFamily="34" charset="0"/>
              </a:rPr>
              <a:t> Instruments</a:t>
            </a:r>
            <a:endParaRPr lang="tr-TR" sz="2400" dirty="0">
              <a:latin typeface="Arial Narrow" pitchFamily="34" charset="0"/>
            </a:endParaRPr>
          </a:p>
        </p:txBody>
      </p:sp>
      <p:sp>
        <p:nvSpPr>
          <p:cNvPr id="5" name="Content Placeholder 4"/>
          <p:cNvSpPr>
            <a:spLocks noGrp="1"/>
          </p:cNvSpPr>
          <p:nvPr>
            <p:ph idx="1"/>
          </p:nvPr>
        </p:nvSpPr>
        <p:spPr>
          <a:xfrm>
            <a:off x="457200" y="1600200"/>
            <a:ext cx="8291264" cy="4525963"/>
          </a:xfrm>
          <a:ln w="25400">
            <a:noFill/>
          </a:ln>
        </p:spPr>
        <p:txBody>
          <a:bodyPr>
            <a:noAutofit/>
          </a:bodyPr>
          <a:lstStyle/>
          <a:p>
            <a:pPr marL="342900" lvl="1" indent="-342900">
              <a:spcBef>
                <a:spcPts val="0"/>
              </a:spcBef>
              <a:buFont typeface="Arial" panose="020B0604020202020204" pitchFamily="34" charset="0"/>
              <a:buChar char="•"/>
            </a:pPr>
            <a:r>
              <a:rPr lang="tr-TR" sz="1800" noProof="1" smtClean="0">
                <a:latin typeface="Arial Narrow" panose="020B0606020202030204" pitchFamily="34" charset="0"/>
              </a:rPr>
              <a:t>A </a:t>
            </a:r>
            <a:r>
              <a:rPr lang="tr-TR" sz="1800" noProof="1" smtClean="0">
                <a:solidFill>
                  <a:srgbClr val="C00000"/>
                </a:solidFill>
                <a:latin typeface="Arial Narrow" panose="020B0606020202030204" pitchFamily="34" charset="0"/>
              </a:rPr>
              <a:t>bond </a:t>
            </a:r>
            <a:r>
              <a:rPr lang="tr-TR" sz="1800" noProof="1" smtClean="0">
                <a:latin typeface="Arial Narrow" panose="020B0606020202030204" pitchFamily="34" charset="0"/>
              </a:rPr>
              <a:t>is a long-term loan agreement which sets terms for the principal, the coupon rate, the coupon frequency and the maturity.</a:t>
            </a:r>
          </a:p>
          <a:p>
            <a:pPr marL="400050" lvl="2" indent="0">
              <a:spcBef>
                <a:spcPts val="0"/>
              </a:spcBef>
              <a:buNone/>
            </a:pPr>
            <a:r>
              <a:rPr lang="tr-TR" sz="1600" noProof="1" smtClean="0">
                <a:latin typeface="Arial Narrow" panose="020B0606020202030204" pitchFamily="34" charset="0"/>
              </a:rPr>
              <a:t>In case the coupon rate is variable, it is indexed to a specific rate such as prime rate, LIBOR, or inflation. The coupon payments are usually made semi-annually or annually.</a:t>
            </a:r>
          </a:p>
          <a:p>
            <a:pPr marL="400050" lvl="2" indent="0">
              <a:spcBef>
                <a:spcPts val="0"/>
              </a:spcBef>
              <a:buNone/>
            </a:pPr>
            <a:endParaRPr lang="tr-TR" sz="1800" noProof="1">
              <a:latin typeface="Arial Narrow" panose="020B0606020202030204" pitchFamily="34" charset="0"/>
            </a:endParaRPr>
          </a:p>
          <a:p>
            <a:pPr marL="342900" lvl="1" indent="-342900">
              <a:spcBef>
                <a:spcPts val="0"/>
              </a:spcBef>
              <a:buFont typeface="Arial" panose="020B0604020202020204" pitchFamily="34" charset="0"/>
              <a:buChar char="•"/>
            </a:pPr>
            <a:r>
              <a:rPr lang="tr-TR" sz="1800" noProof="1" smtClean="0">
                <a:solidFill>
                  <a:srgbClr val="C00000"/>
                </a:solidFill>
                <a:latin typeface="Arial Narrow" panose="020B0606020202030204" pitchFamily="34" charset="0"/>
              </a:rPr>
              <a:t>Leasing</a:t>
            </a:r>
            <a:r>
              <a:rPr lang="tr-TR" sz="1800" noProof="1" smtClean="0">
                <a:latin typeface="Arial Narrow" panose="020B0606020202030204" pitchFamily="34" charset="0"/>
              </a:rPr>
              <a:t> provides funding by allowing the company to use the leased assets without incurring the initial cost of purchase.</a:t>
            </a:r>
          </a:p>
          <a:p>
            <a:pPr marL="742950" lvl="2" indent="-342900">
              <a:spcBef>
                <a:spcPts val="0"/>
              </a:spcBef>
              <a:buFont typeface="Arial Narrow" panose="020B0606020202030204" pitchFamily="34" charset="0"/>
              <a:buChar char="─"/>
            </a:pPr>
            <a:r>
              <a:rPr lang="tr-TR" sz="1600" noProof="1" smtClean="0">
                <a:solidFill>
                  <a:srgbClr val="C00000"/>
                </a:solidFill>
                <a:latin typeface="Arial Narrow" panose="020B0606020202030204" pitchFamily="34" charset="0"/>
              </a:rPr>
              <a:t>Operational lease</a:t>
            </a:r>
            <a:r>
              <a:rPr lang="tr-TR" sz="1600" noProof="1" smtClean="0">
                <a:latin typeface="Arial Narrow" panose="020B0606020202030204" pitchFamily="34" charset="0"/>
              </a:rPr>
              <a:t>: e.g. cars where leasing company covers the operational expenses except for gasoline, highway tolls, etc. Asset is returned to the leasing company once the leasing period is over.</a:t>
            </a:r>
          </a:p>
          <a:p>
            <a:pPr marL="742950" lvl="2" indent="-342900">
              <a:spcBef>
                <a:spcPts val="0"/>
              </a:spcBef>
              <a:buFont typeface="Arial Narrow" panose="020B0606020202030204" pitchFamily="34" charset="0"/>
              <a:buChar char="─"/>
            </a:pPr>
            <a:r>
              <a:rPr lang="tr-TR" sz="1600" noProof="1">
                <a:solidFill>
                  <a:srgbClr val="C00000"/>
                </a:solidFill>
                <a:latin typeface="Arial Narrow" panose="020B0606020202030204" pitchFamily="34" charset="0"/>
              </a:rPr>
              <a:t>Capital lease </a:t>
            </a:r>
            <a:r>
              <a:rPr lang="tr-TR" sz="1600" noProof="1">
                <a:latin typeface="Arial Narrow" panose="020B0606020202030204" pitchFamily="34" charset="0"/>
              </a:rPr>
              <a:t>is used for investment equipment. The operating company covers the costs and generally buys the asset for a predetermined price once the leasing period is over.</a:t>
            </a:r>
          </a:p>
          <a:p>
            <a:pPr marL="0" lvl="1" indent="0">
              <a:spcBef>
                <a:spcPts val="0"/>
              </a:spcBef>
              <a:buNone/>
            </a:pPr>
            <a:endParaRPr lang="tr-TR" sz="1800" noProof="1">
              <a:latin typeface="Arial Narrow" panose="020B0606020202030204" pitchFamily="34" charset="0"/>
            </a:endParaRPr>
          </a:p>
          <a:p>
            <a:pPr marL="342900" lvl="1" indent="-342900">
              <a:spcBef>
                <a:spcPts val="0"/>
              </a:spcBef>
              <a:buFont typeface="Arial" panose="020B0604020202020204" pitchFamily="34" charset="0"/>
              <a:buChar char="•"/>
            </a:pPr>
            <a:r>
              <a:rPr lang="tr-TR" sz="1800" noProof="1" smtClean="0">
                <a:solidFill>
                  <a:srgbClr val="C00000"/>
                </a:solidFill>
                <a:latin typeface="Arial Narrow" panose="020B0606020202030204" pitchFamily="34" charset="0"/>
              </a:rPr>
              <a:t>Factoring</a:t>
            </a:r>
            <a:r>
              <a:rPr lang="tr-TR" sz="1800" noProof="1" smtClean="0">
                <a:latin typeface="Arial Narrow" panose="020B0606020202030204" pitchFamily="34" charset="0"/>
              </a:rPr>
              <a:t>: Discounting of business’ receivables by a factoring company.</a:t>
            </a:r>
          </a:p>
          <a:p>
            <a:pPr marL="400050" lvl="2" indent="0">
              <a:spcBef>
                <a:spcPts val="0"/>
              </a:spcBef>
              <a:buNone/>
            </a:pPr>
            <a:r>
              <a:rPr lang="tr-TR" sz="1600" noProof="1" smtClean="0">
                <a:latin typeface="Arial Narrow" panose="020B0606020202030204" pitchFamily="34" charset="0"/>
              </a:rPr>
              <a:t>Discount rate is higher if the factoring company accepts the non-payment risk.</a:t>
            </a:r>
          </a:p>
        </p:txBody>
      </p:sp>
    </p:spTree>
    <p:extLst>
      <p:ext uri="{BB962C8B-B14F-4D97-AF65-F5344CB8AC3E}">
        <p14:creationId xmlns:p14="http://schemas.microsoft.com/office/powerpoint/2010/main" val="2200334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29600"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a:solidFill>
                  <a:srgbClr val="800000"/>
                </a:solidFill>
                <a:latin typeface="Arial Narrow" pitchFamily="34" charset="0"/>
              </a:rPr>
              <a:t>Financial </a:t>
            </a:r>
            <a:r>
              <a:rPr lang="tr-TR" sz="2000" dirty="0" err="1">
                <a:solidFill>
                  <a:srgbClr val="800000"/>
                </a:solidFill>
                <a:latin typeface="Arial Narrow" pitchFamily="34" charset="0"/>
              </a:rPr>
              <a:t>Markets</a:t>
            </a:r>
            <a:r>
              <a:rPr lang="tr-TR" sz="2000" dirty="0">
                <a:solidFill>
                  <a:srgbClr val="800000"/>
                </a:solidFill>
                <a:latin typeface="Arial Narrow" pitchFamily="34" charset="0"/>
              </a:rPr>
              <a:t> (Direct Finance)</a:t>
            </a:r>
            <a:br>
              <a:rPr lang="tr-TR" sz="2000" dirty="0">
                <a:solidFill>
                  <a:srgbClr val="800000"/>
                </a:solidFill>
                <a:latin typeface="Arial Narrow" pitchFamily="34" charset="0"/>
              </a:rPr>
            </a:br>
            <a:r>
              <a:rPr lang="tr-TR" sz="2400" dirty="0" err="1">
                <a:latin typeface="Arial Narrow" pitchFamily="34" charset="0"/>
              </a:rPr>
              <a:t>Equity</a:t>
            </a:r>
            <a:r>
              <a:rPr lang="tr-TR" sz="2400" dirty="0">
                <a:latin typeface="Arial Narrow" pitchFamily="34" charset="0"/>
              </a:rPr>
              <a:t> - </a:t>
            </a:r>
            <a:r>
              <a:rPr lang="tr-TR" sz="2400" dirty="0" err="1">
                <a:latin typeface="Arial Narrow" pitchFamily="34" charset="0"/>
              </a:rPr>
              <a:t>Debt</a:t>
            </a:r>
            <a:endParaRPr lang="tr-TR" sz="2400" dirty="0">
              <a:latin typeface="Arial Narrow" pitchFamily="34" charset="0"/>
            </a:endParaRPr>
          </a:p>
        </p:txBody>
      </p:sp>
      <p:sp>
        <p:nvSpPr>
          <p:cNvPr id="5" name="Content Placeholder 4"/>
          <p:cNvSpPr>
            <a:spLocks noGrp="1"/>
          </p:cNvSpPr>
          <p:nvPr>
            <p:ph idx="1"/>
          </p:nvPr>
        </p:nvSpPr>
        <p:spPr>
          <a:xfrm>
            <a:off x="457200" y="1340768"/>
            <a:ext cx="8229600" cy="5400600"/>
          </a:xfrm>
          <a:ln w="25400">
            <a:noFill/>
          </a:ln>
        </p:spPr>
        <p:txBody>
          <a:bodyPr>
            <a:noAutofit/>
          </a:bodyPr>
          <a:lstStyle/>
          <a:p>
            <a:pPr algn="ctr">
              <a:spcBef>
                <a:spcPts val="0"/>
              </a:spcBef>
            </a:pPr>
            <a:r>
              <a:rPr lang="tr-TR" sz="1800" dirty="0" err="1" smtClean="0">
                <a:latin typeface="Arial Narrow" panose="020B0606020202030204" pitchFamily="34" charset="0"/>
              </a:rPr>
              <a:t>Debt</a:t>
            </a:r>
            <a:r>
              <a:rPr lang="tr-TR" sz="1800" dirty="0" smtClean="0">
                <a:latin typeface="Arial Narrow" panose="020B0606020202030204" pitchFamily="34" charset="0"/>
              </a:rPr>
              <a:t> </a:t>
            </a:r>
            <a:r>
              <a:rPr lang="tr-TR" sz="1800" dirty="0" err="1">
                <a:latin typeface="Arial Narrow" panose="020B0606020202030204" pitchFamily="34" charset="0"/>
              </a:rPr>
              <a:t>Markets</a:t>
            </a:r>
            <a:endParaRPr lang="tr-TR" sz="1800" dirty="0">
              <a:latin typeface="Arial Narrow" panose="020B0606020202030204" pitchFamily="34" charset="0"/>
            </a:endParaRPr>
          </a:p>
          <a:p>
            <a:pPr algn="ctr">
              <a:spcBef>
                <a:spcPts val="0"/>
              </a:spcBef>
            </a:pPr>
            <a:endParaRPr lang="tr-TR" sz="1000" dirty="0">
              <a:latin typeface="Arial Narrow" panose="020B0606020202030204" pitchFamily="34" charset="0"/>
            </a:endParaRPr>
          </a:p>
          <a:p>
            <a:pPr algn="ctr">
              <a:spcBef>
                <a:spcPts val="0"/>
              </a:spcBef>
            </a:pPr>
            <a:r>
              <a:rPr lang="tr-TR" sz="2800" dirty="0" err="1" smtClean="0">
                <a:latin typeface="Arial Narrow" panose="020B0606020202030204" pitchFamily="34" charset="0"/>
              </a:rPr>
              <a:t>Equity</a:t>
            </a:r>
            <a:r>
              <a:rPr lang="tr-TR" sz="2800" dirty="0" smtClean="0">
                <a:latin typeface="Arial Narrow" panose="020B0606020202030204" pitchFamily="34" charset="0"/>
              </a:rPr>
              <a:t> </a:t>
            </a:r>
            <a:r>
              <a:rPr lang="tr-TR" sz="2800" dirty="0" err="1">
                <a:latin typeface="Arial Narrow" panose="020B0606020202030204" pitchFamily="34" charset="0"/>
              </a:rPr>
              <a:t>Markets</a:t>
            </a:r>
            <a:endParaRPr lang="tr-TR" sz="2800" dirty="0">
              <a:latin typeface="Arial Narrow" panose="020B0606020202030204" pitchFamily="34" charset="0"/>
            </a:endParaRPr>
          </a:p>
          <a:p>
            <a:pPr marL="0" indent="0" algn="ctr">
              <a:spcBef>
                <a:spcPts val="0"/>
              </a:spcBef>
              <a:buNone/>
            </a:pPr>
            <a:endParaRPr lang="tr-TR" sz="900" dirty="0" smtClean="0">
              <a:latin typeface="Arial Narrow" panose="020B0606020202030204" pitchFamily="34" charset="0"/>
            </a:endParaRPr>
          </a:p>
          <a:p>
            <a:pPr marL="0" indent="0" algn="ctr">
              <a:spcBef>
                <a:spcPts val="0"/>
              </a:spcBef>
              <a:buNone/>
            </a:pPr>
            <a:r>
              <a:rPr lang="tr-TR" sz="1800" dirty="0" smtClean="0">
                <a:latin typeface="Arial Narrow" panose="020B0606020202030204" pitchFamily="34" charset="0"/>
              </a:rPr>
              <a:t>A </a:t>
            </a:r>
            <a:r>
              <a:rPr lang="tr-TR" sz="1800" dirty="0" err="1">
                <a:latin typeface="Arial Narrow" panose="020B0606020202030204" pitchFamily="34" charset="0"/>
              </a:rPr>
              <a:t>firm</a:t>
            </a:r>
            <a:r>
              <a:rPr lang="tr-TR" sz="1800" dirty="0">
                <a:latin typeface="Arial Narrow" panose="020B0606020202030204" pitchFamily="34" charset="0"/>
              </a:rPr>
              <a:t> </a:t>
            </a:r>
            <a:r>
              <a:rPr lang="tr-TR" sz="1800" dirty="0" err="1">
                <a:latin typeface="Arial Narrow" panose="020B0606020202030204" pitchFamily="34" charset="0"/>
              </a:rPr>
              <a:t>or</a:t>
            </a:r>
            <a:r>
              <a:rPr lang="tr-TR" sz="1800" dirty="0">
                <a:latin typeface="Arial Narrow" panose="020B0606020202030204" pitchFamily="34" charset="0"/>
              </a:rPr>
              <a:t> an </a:t>
            </a:r>
            <a:r>
              <a:rPr lang="tr-TR" sz="1800" dirty="0" err="1">
                <a:latin typeface="Arial Narrow" panose="020B0606020202030204" pitchFamily="34" charset="0"/>
              </a:rPr>
              <a:t>individual</a:t>
            </a:r>
            <a:r>
              <a:rPr lang="tr-TR" sz="1800" dirty="0">
                <a:latin typeface="Arial Narrow" panose="020B0606020202030204" pitchFamily="34" charset="0"/>
              </a:rPr>
              <a:t> can </a:t>
            </a:r>
            <a:r>
              <a:rPr lang="tr-TR" sz="1800" dirty="0" err="1">
                <a:latin typeface="Arial Narrow" panose="020B0606020202030204" pitchFamily="34" charset="0"/>
              </a:rPr>
              <a:t>obtain</a:t>
            </a:r>
            <a:r>
              <a:rPr lang="tr-TR" sz="1800" dirty="0">
                <a:latin typeface="Arial Narrow" panose="020B0606020202030204" pitchFamily="34" charset="0"/>
              </a:rPr>
              <a:t> </a:t>
            </a:r>
            <a:r>
              <a:rPr lang="tr-TR" sz="1800" dirty="0" err="1">
                <a:latin typeface="Arial Narrow" panose="020B0606020202030204" pitchFamily="34" charset="0"/>
              </a:rPr>
              <a:t>funds</a:t>
            </a:r>
            <a:r>
              <a:rPr lang="tr-TR" sz="1800" dirty="0">
                <a:latin typeface="Arial Narrow" panose="020B0606020202030204" pitchFamily="34" charset="0"/>
              </a:rPr>
              <a:t> in a </a:t>
            </a:r>
            <a:r>
              <a:rPr lang="tr-TR" sz="1800" dirty="0" err="1">
                <a:latin typeface="Arial Narrow" panose="020B0606020202030204" pitchFamily="34" charset="0"/>
              </a:rPr>
              <a:t>financial</a:t>
            </a:r>
            <a:r>
              <a:rPr lang="tr-TR" sz="1800" dirty="0">
                <a:latin typeface="Arial Narrow" panose="020B0606020202030204" pitchFamily="34" charset="0"/>
              </a:rPr>
              <a:t> market</a:t>
            </a:r>
          </a:p>
          <a:p>
            <a:pPr marL="0" indent="0" algn="ctr">
              <a:spcBef>
                <a:spcPts val="0"/>
              </a:spcBef>
              <a:buNone/>
            </a:pPr>
            <a:r>
              <a:rPr lang="tr-TR" sz="1800" dirty="0" err="1">
                <a:latin typeface="Arial Narrow" panose="020B0606020202030204" pitchFamily="34" charset="0"/>
              </a:rPr>
              <a:t>by</a:t>
            </a:r>
            <a:r>
              <a:rPr lang="tr-TR" sz="1800" dirty="0">
                <a:latin typeface="Arial Narrow" panose="020B0606020202030204" pitchFamily="34" charset="0"/>
              </a:rPr>
              <a:t> </a:t>
            </a:r>
            <a:r>
              <a:rPr lang="tr-TR" sz="1800" dirty="0" err="1" smtClean="0">
                <a:latin typeface="Arial Narrow" panose="020B0606020202030204" pitchFamily="34" charset="0"/>
              </a:rPr>
              <a:t>issuing</a:t>
            </a:r>
            <a:r>
              <a:rPr lang="tr-TR" sz="1800" dirty="0" smtClean="0">
                <a:latin typeface="Arial Narrow" panose="020B0606020202030204" pitchFamily="34" charset="0"/>
              </a:rPr>
              <a:t> </a:t>
            </a:r>
            <a:r>
              <a:rPr lang="tr-TR" sz="1800" dirty="0" err="1" smtClean="0">
                <a:latin typeface="Arial Narrow" panose="020B0606020202030204" pitchFamily="34" charset="0"/>
              </a:rPr>
              <a:t>equities</a:t>
            </a:r>
            <a:r>
              <a:rPr lang="tr-TR" sz="1800" dirty="0" smtClean="0">
                <a:latin typeface="Arial Narrow" panose="020B0606020202030204" pitchFamily="34" charset="0"/>
              </a:rPr>
              <a:t>, </a:t>
            </a:r>
            <a:r>
              <a:rPr lang="tr-TR" sz="1800" dirty="0" err="1" smtClean="0">
                <a:latin typeface="Arial Narrow" panose="020B0606020202030204" pitchFamily="34" charset="0"/>
              </a:rPr>
              <a:t>such</a:t>
            </a:r>
            <a:r>
              <a:rPr lang="tr-TR" sz="1800" dirty="0" smtClean="0">
                <a:latin typeface="Arial Narrow" panose="020B0606020202030204" pitchFamily="34" charset="0"/>
              </a:rPr>
              <a:t> as </a:t>
            </a:r>
            <a:r>
              <a:rPr lang="tr-TR" sz="1800" dirty="0" err="1" smtClean="0">
                <a:latin typeface="Arial Narrow" panose="020B0606020202030204" pitchFamily="34" charset="0"/>
              </a:rPr>
              <a:t>common</a:t>
            </a:r>
            <a:r>
              <a:rPr lang="tr-TR" sz="1800" dirty="0" smtClean="0">
                <a:latin typeface="Arial Narrow" panose="020B0606020202030204" pitchFamily="34" charset="0"/>
              </a:rPr>
              <a:t> </a:t>
            </a:r>
            <a:r>
              <a:rPr lang="tr-TR" sz="1800" dirty="0" err="1" smtClean="0">
                <a:latin typeface="Arial Narrow" panose="020B0606020202030204" pitchFamily="34" charset="0"/>
              </a:rPr>
              <a:t>stock</a:t>
            </a:r>
            <a:r>
              <a:rPr lang="tr-TR" sz="1800" dirty="0" smtClean="0">
                <a:latin typeface="Arial Narrow" panose="020B0606020202030204" pitchFamily="34" charset="0"/>
              </a:rPr>
              <a:t>,</a:t>
            </a:r>
          </a:p>
          <a:p>
            <a:pPr marL="0" indent="0" algn="ctr">
              <a:spcBef>
                <a:spcPts val="0"/>
              </a:spcBef>
              <a:buNone/>
            </a:pPr>
            <a:r>
              <a:rPr lang="tr-TR" sz="1800" dirty="0" err="1" smtClean="0">
                <a:latin typeface="Arial Narrow" panose="020B0606020202030204" pitchFamily="34" charset="0"/>
              </a:rPr>
              <a:t>which</a:t>
            </a:r>
            <a:r>
              <a:rPr lang="tr-TR" sz="1800" dirty="0" smtClean="0">
                <a:latin typeface="Arial Narrow" panose="020B0606020202030204" pitchFamily="34" charset="0"/>
              </a:rPr>
              <a:t> </a:t>
            </a:r>
            <a:r>
              <a:rPr lang="tr-TR" sz="1800" dirty="0" err="1" smtClean="0">
                <a:latin typeface="Arial Narrow" panose="020B0606020202030204" pitchFamily="34" charset="0"/>
              </a:rPr>
              <a:t>are</a:t>
            </a:r>
            <a:r>
              <a:rPr lang="tr-TR" sz="1800" dirty="0" smtClean="0">
                <a:latin typeface="Arial Narrow" panose="020B0606020202030204" pitchFamily="34" charset="0"/>
              </a:rPr>
              <a:t> </a:t>
            </a:r>
            <a:r>
              <a:rPr lang="tr-TR" sz="1800" dirty="0" err="1" smtClean="0">
                <a:latin typeface="Arial Narrow" panose="020B0606020202030204" pitchFamily="34" charset="0"/>
              </a:rPr>
              <a:t>claims</a:t>
            </a:r>
            <a:r>
              <a:rPr lang="tr-TR" sz="1800" dirty="0" smtClean="0">
                <a:latin typeface="Arial Narrow" panose="020B0606020202030204" pitchFamily="34" charset="0"/>
              </a:rPr>
              <a:t> </a:t>
            </a: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share</a:t>
            </a:r>
            <a:r>
              <a:rPr lang="tr-TR" sz="1800" dirty="0" smtClean="0">
                <a:latin typeface="Arial Narrow" panose="020B0606020202030204" pitchFamily="34" charset="0"/>
              </a:rPr>
              <a:t> in </a:t>
            </a:r>
            <a:r>
              <a:rPr lang="tr-TR" sz="1800" dirty="0" err="1" smtClean="0">
                <a:latin typeface="Arial Narrow" panose="020B0606020202030204" pitchFamily="34" charset="0"/>
              </a:rPr>
              <a:t>the</a:t>
            </a:r>
            <a:r>
              <a:rPr lang="tr-TR" sz="1800" dirty="0" smtClean="0">
                <a:latin typeface="Arial Narrow" panose="020B0606020202030204" pitchFamily="34" charset="0"/>
              </a:rPr>
              <a:t> net </a:t>
            </a:r>
            <a:r>
              <a:rPr lang="tr-TR" sz="1800" dirty="0" err="1" smtClean="0">
                <a:latin typeface="Arial Narrow" panose="020B0606020202030204" pitchFamily="34" charset="0"/>
              </a:rPr>
              <a:t>income</a:t>
            </a:r>
            <a:r>
              <a:rPr lang="tr-TR" sz="1800" dirty="0" smtClean="0">
                <a:latin typeface="Arial Narrow" panose="020B0606020202030204" pitchFamily="34" charset="0"/>
              </a:rPr>
              <a:t> (</a:t>
            </a:r>
            <a:r>
              <a:rPr lang="tr-TR" sz="1800" dirty="0" err="1" smtClean="0">
                <a:latin typeface="Arial Narrow" panose="020B0606020202030204" pitchFamily="34" charset="0"/>
              </a:rPr>
              <a:t>income</a:t>
            </a:r>
            <a:r>
              <a:rPr lang="tr-TR" sz="1800" dirty="0" smtClean="0">
                <a:latin typeface="Arial Narrow" panose="020B0606020202030204" pitchFamily="34" charset="0"/>
              </a:rPr>
              <a:t> </a:t>
            </a:r>
            <a:r>
              <a:rPr lang="tr-TR" sz="1800" dirty="0" err="1" smtClean="0">
                <a:latin typeface="Arial Narrow" panose="020B0606020202030204" pitchFamily="34" charset="0"/>
              </a:rPr>
              <a:t>after</a:t>
            </a:r>
            <a:r>
              <a:rPr lang="tr-TR" sz="1800" dirty="0" smtClean="0">
                <a:latin typeface="Arial Narrow" panose="020B0606020202030204" pitchFamily="34" charset="0"/>
              </a:rPr>
              <a:t> </a:t>
            </a:r>
            <a:r>
              <a:rPr lang="tr-TR" sz="1800" dirty="0" err="1" smtClean="0">
                <a:latin typeface="Arial Narrow" panose="020B0606020202030204" pitchFamily="34" charset="0"/>
              </a:rPr>
              <a:t>expenses</a:t>
            </a:r>
            <a:r>
              <a:rPr lang="tr-TR" sz="1800" dirty="0" smtClean="0">
                <a:latin typeface="Arial Narrow" panose="020B0606020202030204" pitchFamily="34" charset="0"/>
              </a:rPr>
              <a:t> </a:t>
            </a: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taxes</a:t>
            </a:r>
            <a:r>
              <a:rPr lang="tr-TR" sz="1800" dirty="0" smtClean="0">
                <a:latin typeface="Arial Narrow" panose="020B0606020202030204" pitchFamily="34" charset="0"/>
              </a:rPr>
              <a:t>)</a:t>
            </a:r>
          </a:p>
          <a:p>
            <a:pPr marL="0" indent="0" algn="ctr">
              <a:spcBef>
                <a:spcPts val="0"/>
              </a:spcBef>
              <a:buNone/>
            </a:pP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assets</a:t>
            </a:r>
            <a:r>
              <a:rPr lang="tr-TR" sz="1800" dirty="0" smtClean="0">
                <a:latin typeface="Arial Narrow" panose="020B0606020202030204" pitchFamily="34" charset="0"/>
              </a:rPr>
              <a:t> of a </a:t>
            </a:r>
            <a:r>
              <a:rPr lang="tr-TR" sz="1800" dirty="0" err="1" smtClean="0">
                <a:latin typeface="Arial Narrow" panose="020B0606020202030204" pitchFamily="34" charset="0"/>
              </a:rPr>
              <a:t>business</a:t>
            </a:r>
            <a:r>
              <a:rPr lang="tr-TR" sz="1800" dirty="0" smtClean="0">
                <a:latin typeface="Arial Narrow" panose="020B0606020202030204" pitchFamily="34" charset="0"/>
              </a:rPr>
              <a:t>.</a:t>
            </a:r>
          </a:p>
          <a:p>
            <a:pPr marL="0" indent="0" algn="ctr">
              <a:spcBef>
                <a:spcPts val="0"/>
              </a:spcBef>
              <a:buNone/>
            </a:pPr>
            <a:endParaRPr lang="tr-TR" sz="1600" dirty="0">
              <a:latin typeface="Arial Narrow" panose="020B0606020202030204" pitchFamily="34" charset="0"/>
            </a:endParaRPr>
          </a:p>
          <a:p>
            <a:pPr marL="0" indent="0" algn="ctr">
              <a:spcBef>
                <a:spcPts val="0"/>
              </a:spcBef>
              <a:buNone/>
            </a:pPr>
            <a:r>
              <a:rPr lang="tr-TR" sz="1800" dirty="0" err="1" smtClean="0">
                <a:latin typeface="Arial Narrow" panose="020B0606020202030204" pitchFamily="34" charset="0"/>
              </a:rPr>
              <a:t>Equities</a:t>
            </a:r>
            <a:r>
              <a:rPr lang="tr-TR" sz="1800" dirty="0" smtClean="0">
                <a:latin typeface="Arial Narrow" panose="020B0606020202030204" pitchFamily="34" charset="0"/>
              </a:rPr>
              <a:t> </a:t>
            </a:r>
            <a:r>
              <a:rPr lang="tr-TR" sz="1800" dirty="0" err="1" smtClean="0">
                <a:latin typeface="Arial Narrow" panose="020B0606020202030204" pitchFamily="34" charset="0"/>
              </a:rPr>
              <a:t>often</a:t>
            </a:r>
            <a:r>
              <a:rPr lang="tr-TR" sz="1800" dirty="0" smtClean="0">
                <a:latin typeface="Arial Narrow" panose="020B0606020202030204" pitchFamily="34" charset="0"/>
              </a:rPr>
              <a:t> </a:t>
            </a:r>
            <a:r>
              <a:rPr lang="tr-TR" sz="1800" dirty="0" err="1" smtClean="0">
                <a:latin typeface="Arial Narrow" panose="020B0606020202030204" pitchFamily="34" charset="0"/>
              </a:rPr>
              <a:t>make</a:t>
            </a:r>
            <a:r>
              <a:rPr lang="tr-TR" sz="1800" dirty="0" smtClean="0">
                <a:latin typeface="Arial Narrow" panose="020B0606020202030204" pitchFamily="34" charset="0"/>
              </a:rPr>
              <a:t> </a:t>
            </a:r>
            <a:r>
              <a:rPr lang="tr-TR" sz="1800" dirty="0" err="1" smtClean="0">
                <a:latin typeface="Arial Narrow" panose="020B0606020202030204" pitchFamily="34" charset="0"/>
              </a:rPr>
              <a:t>periodic</a:t>
            </a:r>
            <a:r>
              <a:rPr lang="tr-TR" sz="1800" dirty="0" smtClean="0">
                <a:latin typeface="Arial Narrow" panose="020B0606020202030204" pitchFamily="34" charset="0"/>
              </a:rPr>
              <a:t> </a:t>
            </a:r>
            <a:r>
              <a:rPr lang="tr-TR" sz="1800" dirty="0" err="1" smtClean="0">
                <a:latin typeface="Arial Narrow" panose="020B0606020202030204" pitchFamily="34" charset="0"/>
              </a:rPr>
              <a:t>payments</a:t>
            </a:r>
            <a:r>
              <a:rPr lang="tr-TR" sz="1800" dirty="0" smtClean="0">
                <a:latin typeface="Arial Narrow" panose="020B0606020202030204" pitchFamily="34" charset="0"/>
              </a:rPr>
              <a:t> (</a:t>
            </a:r>
            <a:r>
              <a:rPr lang="tr-TR" sz="1800" dirty="0" err="1" smtClean="0">
                <a:latin typeface="Arial Narrow" panose="020B0606020202030204" pitchFamily="34" charset="0"/>
              </a:rPr>
              <a:t>dividends</a:t>
            </a:r>
            <a:r>
              <a:rPr lang="tr-TR" sz="1800" dirty="0" smtClean="0">
                <a:latin typeface="Arial Narrow" panose="020B0606020202030204" pitchFamily="34" charset="0"/>
              </a:rPr>
              <a:t>) </a:t>
            </a: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their</a:t>
            </a:r>
            <a:r>
              <a:rPr lang="tr-TR" sz="1800" dirty="0" smtClean="0">
                <a:latin typeface="Arial Narrow" panose="020B0606020202030204" pitchFamily="34" charset="0"/>
              </a:rPr>
              <a:t> </a:t>
            </a:r>
            <a:r>
              <a:rPr lang="tr-TR" sz="1800" dirty="0" err="1" smtClean="0">
                <a:latin typeface="Arial Narrow" panose="020B0606020202030204" pitchFamily="34" charset="0"/>
              </a:rPr>
              <a:t>holders</a:t>
            </a:r>
            <a:endParaRPr lang="tr-TR" sz="1800" dirty="0" smtClean="0">
              <a:latin typeface="Arial Narrow" panose="020B0606020202030204" pitchFamily="34" charset="0"/>
            </a:endParaRPr>
          </a:p>
          <a:p>
            <a:pPr marL="0" indent="0" algn="ctr">
              <a:spcBef>
                <a:spcPts val="0"/>
              </a:spcBef>
              <a:buNone/>
            </a:pP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considered</a:t>
            </a:r>
            <a:r>
              <a:rPr lang="tr-TR" sz="1800" dirty="0" smtClean="0">
                <a:latin typeface="Arial Narrow" panose="020B0606020202030204" pitchFamily="34" charset="0"/>
              </a:rPr>
              <a:t> </a:t>
            </a:r>
            <a:r>
              <a:rPr lang="tr-TR" sz="1800" dirty="0" err="1" smtClean="0">
                <a:latin typeface="Arial Narrow" panose="020B0606020202030204" pitchFamily="34" charset="0"/>
              </a:rPr>
              <a:t>long-term</a:t>
            </a:r>
            <a:r>
              <a:rPr lang="tr-TR" sz="1800" dirty="0" smtClean="0">
                <a:latin typeface="Arial Narrow" panose="020B0606020202030204" pitchFamily="34" charset="0"/>
              </a:rPr>
              <a:t> </a:t>
            </a:r>
            <a:r>
              <a:rPr lang="tr-TR" sz="1800" dirty="0" err="1" smtClean="0">
                <a:latin typeface="Arial Narrow" panose="020B0606020202030204" pitchFamily="34" charset="0"/>
              </a:rPr>
              <a:t>because</a:t>
            </a:r>
            <a:r>
              <a:rPr lang="tr-TR" sz="1800" dirty="0" smtClean="0">
                <a:latin typeface="Arial Narrow" panose="020B0606020202030204" pitchFamily="34" charset="0"/>
              </a:rPr>
              <a:t> </a:t>
            </a:r>
            <a:r>
              <a:rPr lang="tr-TR" sz="1800" dirty="0" err="1" smtClean="0">
                <a:latin typeface="Arial Narrow" panose="020B0606020202030204" pitchFamily="34" charset="0"/>
              </a:rPr>
              <a:t>they</a:t>
            </a:r>
            <a:r>
              <a:rPr lang="tr-TR" sz="1800" dirty="0" smtClean="0">
                <a:latin typeface="Arial Narrow" panose="020B0606020202030204" pitchFamily="34" charset="0"/>
              </a:rPr>
              <a:t> </a:t>
            </a:r>
            <a:r>
              <a:rPr lang="tr-TR" sz="1800" dirty="0" err="1" smtClean="0">
                <a:latin typeface="Arial Narrow" panose="020B0606020202030204" pitchFamily="34" charset="0"/>
              </a:rPr>
              <a:t>have</a:t>
            </a:r>
            <a:r>
              <a:rPr lang="tr-TR" sz="1800" dirty="0" smtClean="0">
                <a:latin typeface="Arial Narrow" panose="020B0606020202030204" pitchFamily="34" charset="0"/>
              </a:rPr>
              <a:t> </a:t>
            </a:r>
            <a:r>
              <a:rPr lang="tr-TR" sz="1800" dirty="0" err="1" smtClean="0">
                <a:latin typeface="Arial Narrow" panose="020B0606020202030204" pitchFamily="34" charset="0"/>
              </a:rPr>
              <a:t>no</a:t>
            </a:r>
            <a:r>
              <a:rPr lang="tr-TR" sz="1800" dirty="0" smtClean="0">
                <a:latin typeface="Arial Narrow" panose="020B0606020202030204" pitchFamily="34" charset="0"/>
              </a:rPr>
              <a:t> </a:t>
            </a:r>
            <a:r>
              <a:rPr lang="tr-TR" sz="1800" dirty="0" err="1" smtClean="0">
                <a:latin typeface="Arial Narrow" panose="020B0606020202030204" pitchFamily="34" charset="0"/>
              </a:rPr>
              <a:t>maturity</a:t>
            </a:r>
            <a:r>
              <a:rPr lang="tr-TR" sz="1800" dirty="0" smtClean="0">
                <a:latin typeface="Arial Narrow" panose="020B0606020202030204" pitchFamily="34" charset="0"/>
              </a:rPr>
              <a:t> </a:t>
            </a:r>
            <a:r>
              <a:rPr lang="tr-TR" sz="1800" dirty="0" err="1" smtClean="0">
                <a:latin typeface="Arial Narrow" panose="020B0606020202030204" pitchFamily="34" charset="0"/>
              </a:rPr>
              <a:t>date</a:t>
            </a:r>
            <a:r>
              <a:rPr lang="tr-TR" sz="1800" dirty="0" smtClean="0">
                <a:latin typeface="Arial Narrow" panose="020B0606020202030204" pitchFamily="34" charset="0"/>
              </a:rPr>
              <a:t>.</a:t>
            </a:r>
          </a:p>
          <a:p>
            <a:pPr marL="0" indent="0" algn="ctr">
              <a:spcBef>
                <a:spcPts val="0"/>
              </a:spcBef>
              <a:buNone/>
            </a:pPr>
            <a:endParaRPr lang="tr-TR" sz="1600" dirty="0">
              <a:latin typeface="Arial Narrow" panose="020B0606020202030204" pitchFamily="34" charset="0"/>
            </a:endParaRPr>
          </a:p>
          <a:p>
            <a:pPr marL="0" indent="0" algn="ctr">
              <a:spcBef>
                <a:spcPts val="0"/>
              </a:spcBef>
              <a:buNone/>
            </a:pPr>
            <a:r>
              <a:rPr lang="tr-TR" sz="1600" dirty="0" err="1" smtClean="0">
                <a:latin typeface="Arial Narrow" panose="020B0606020202030204" pitchFamily="34" charset="0"/>
              </a:rPr>
              <a:t>In</a:t>
            </a:r>
            <a:r>
              <a:rPr lang="tr-TR" sz="1600" dirty="0" smtClean="0">
                <a:latin typeface="Arial Narrow" panose="020B0606020202030204" pitchFamily="34" charset="0"/>
              </a:rPr>
              <a:t> </a:t>
            </a:r>
            <a:r>
              <a:rPr lang="tr-TR" sz="1600" dirty="0" err="1" smtClean="0">
                <a:latin typeface="Arial Narrow" panose="020B0606020202030204" pitchFamily="34" charset="0"/>
              </a:rPr>
              <a:t>addition</a:t>
            </a:r>
            <a:r>
              <a:rPr lang="tr-TR" sz="1600" dirty="0" smtClean="0">
                <a:latin typeface="Arial Narrow" panose="020B0606020202030204" pitchFamily="34" charset="0"/>
              </a:rPr>
              <a:t>, </a:t>
            </a:r>
            <a:r>
              <a:rPr lang="tr-TR" sz="1600" dirty="0" err="1" smtClean="0">
                <a:latin typeface="Arial Narrow" panose="020B0606020202030204" pitchFamily="34" charset="0"/>
              </a:rPr>
              <a:t>owning</a:t>
            </a:r>
            <a:r>
              <a:rPr lang="tr-TR" sz="1600" dirty="0" smtClean="0">
                <a:latin typeface="Arial Narrow" panose="020B0606020202030204" pitchFamily="34" charset="0"/>
              </a:rPr>
              <a:t> </a:t>
            </a:r>
            <a:r>
              <a:rPr lang="tr-TR" sz="1600" dirty="0" err="1" smtClean="0">
                <a:latin typeface="Arial Narrow" panose="020B0606020202030204" pitchFamily="34" charset="0"/>
              </a:rPr>
              <a:t>stock</a:t>
            </a:r>
            <a:r>
              <a:rPr lang="tr-TR" sz="1600" dirty="0" smtClean="0">
                <a:latin typeface="Arial Narrow" panose="020B0606020202030204" pitchFamily="34" charset="0"/>
              </a:rPr>
              <a:t> </a:t>
            </a:r>
            <a:r>
              <a:rPr lang="tr-TR" sz="1600" dirty="0" err="1" smtClean="0">
                <a:latin typeface="Arial Narrow" panose="020B0606020202030204" pitchFamily="34" charset="0"/>
              </a:rPr>
              <a:t>means</a:t>
            </a:r>
            <a:r>
              <a:rPr lang="tr-TR" sz="1600" dirty="0" smtClean="0">
                <a:latin typeface="Arial Narrow" panose="020B0606020202030204" pitchFamily="34" charset="0"/>
              </a:rPr>
              <a:t> </a:t>
            </a:r>
            <a:r>
              <a:rPr lang="tr-TR" sz="1600" dirty="0" err="1" smtClean="0">
                <a:latin typeface="Arial Narrow" panose="020B0606020202030204" pitchFamily="34" charset="0"/>
              </a:rPr>
              <a:t>that</a:t>
            </a:r>
            <a:r>
              <a:rPr lang="tr-TR" sz="1600" dirty="0" smtClean="0">
                <a:latin typeface="Arial Narrow" panose="020B0606020202030204" pitchFamily="34" charset="0"/>
              </a:rPr>
              <a:t> </a:t>
            </a:r>
            <a:r>
              <a:rPr lang="tr-TR" sz="1600" dirty="0" err="1" smtClean="0">
                <a:latin typeface="Arial Narrow" panose="020B0606020202030204" pitchFamily="34" charset="0"/>
              </a:rPr>
              <a:t>you</a:t>
            </a:r>
            <a:r>
              <a:rPr lang="tr-TR" sz="1600" dirty="0" smtClean="0">
                <a:latin typeface="Arial Narrow" panose="020B0606020202030204" pitchFamily="34" charset="0"/>
              </a:rPr>
              <a:t> </a:t>
            </a:r>
            <a:r>
              <a:rPr lang="tr-TR" sz="1600" dirty="0" err="1" smtClean="0">
                <a:latin typeface="Arial Narrow" panose="020B0606020202030204" pitchFamily="34" charset="0"/>
              </a:rPr>
              <a:t>own</a:t>
            </a:r>
            <a:r>
              <a:rPr lang="tr-TR" sz="1600" dirty="0" smtClean="0">
                <a:latin typeface="Arial Narrow" panose="020B0606020202030204" pitchFamily="34" charset="0"/>
              </a:rPr>
              <a:t> a </a:t>
            </a:r>
            <a:r>
              <a:rPr lang="tr-TR" sz="1600" dirty="0" err="1" smtClean="0">
                <a:latin typeface="Arial Narrow" panose="020B0606020202030204" pitchFamily="34" charset="0"/>
              </a:rPr>
              <a:t>portion</a:t>
            </a:r>
            <a:r>
              <a:rPr lang="tr-TR" sz="1600" dirty="0" smtClean="0">
                <a:latin typeface="Arial Narrow" panose="020B0606020202030204" pitchFamily="34" charset="0"/>
              </a:rPr>
              <a:t> of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firm</a:t>
            </a:r>
            <a:endParaRPr lang="tr-TR" sz="1600" dirty="0">
              <a:latin typeface="Arial Narrow" panose="020B0606020202030204" pitchFamily="34" charset="0"/>
            </a:endParaRPr>
          </a:p>
          <a:p>
            <a:pPr marL="0" indent="0" algn="ctr">
              <a:spcBef>
                <a:spcPts val="0"/>
              </a:spcBef>
              <a:buNone/>
            </a:pPr>
            <a:r>
              <a:rPr lang="tr-TR" sz="1600" dirty="0" err="1" smtClean="0">
                <a:latin typeface="Arial Narrow" panose="020B0606020202030204" pitchFamily="34" charset="0"/>
              </a:rPr>
              <a:t>and</a:t>
            </a:r>
            <a:r>
              <a:rPr lang="tr-TR" sz="1600" dirty="0" smtClean="0">
                <a:latin typeface="Arial Narrow" panose="020B0606020202030204" pitchFamily="34" charset="0"/>
              </a:rPr>
              <a:t> </a:t>
            </a:r>
            <a:r>
              <a:rPr lang="tr-TR" sz="1600" dirty="0" err="1" smtClean="0">
                <a:latin typeface="Arial Narrow" panose="020B0606020202030204" pitchFamily="34" charset="0"/>
              </a:rPr>
              <a:t>thus</a:t>
            </a:r>
            <a:r>
              <a:rPr lang="tr-TR" sz="1600" dirty="0" smtClean="0">
                <a:latin typeface="Arial Narrow" panose="020B0606020202030204" pitchFamily="34" charset="0"/>
              </a:rPr>
              <a:t> </a:t>
            </a:r>
            <a:r>
              <a:rPr lang="tr-TR" sz="1600" dirty="0" err="1" smtClean="0">
                <a:latin typeface="Arial Narrow" panose="020B0606020202030204" pitchFamily="34" charset="0"/>
              </a:rPr>
              <a:t>have</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right</a:t>
            </a:r>
            <a:r>
              <a:rPr lang="tr-TR" sz="1600" dirty="0" smtClean="0">
                <a:latin typeface="Arial Narrow" panose="020B0606020202030204" pitchFamily="34" charset="0"/>
              </a:rPr>
              <a:t> </a:t>
            </a:r>
            <a:r>
              <a:rPr lang="tr-TR" sz="1600" dirty="0" err="1" smtClean="0">
                <a:latin typeface="Arial Narrow" panose="020B0606020202030204" pitchFamily="34" charset="0"/>
              </a:rPr>
              <a:t>to</a:t>
            </a:r>
            <a:r>
              <a:rPr lang="tr-TR" sz="1600" dirty="0" smtClean="0">
                <a:latin typeface="Arial Narrow" panose="020B0606020202030204" pitchFamily="34" charset="0"/>
              </a:rPr>
              <a:t> </a:t>
            </a:r>
            <a:r>
              <a:rPr lang="tr-TR" sz="1600" dirty="0" err="1" smtClean="0">
                <a:latin typeface="Arial Narrow" panose="020B0606020202030204" pitchFamily="34" charset="0"/>
              </a:rPr>
              <a:t>vote</a:t>
            </a:r>
            <a:r>
              <a:rPr lang="tr-TR" sz="1600" dirty="0" smtClean="0">
                <a:latin typeface="Arial Narrow" panose="020B0606020202030204" pitchFamily="34" charset="0"/>
              </a:rPr>
              <a:t> on </a:t>
            </a:r>
            <a:r>
              <a:rPr lang="tr-TR" sz="1600" dirty="0" err="1" smtClean="0">
                <a:latin typeface="Arial Narrow" panose="020B0606020202030204" pitchFamily="34" charset="0"/>
              </a:rPr>
              <a:t>issues</a:t>
            </a:r>
            <a:r>
              <a:rPr lang="tr-TR" sz="1600" dirty="0" smtClean="0">
                <a:latin typeface="Arial Narrow" panose="020B0606020202030204" pitchFamily="34" charset="0"/>
              </a:rPr>
              <a:t> </a:t>
            </a:r>
            <a:r>
              <a:rPr lang="tr-TR" sz="1600" dirty="0" err="1" smtClean="0">
                <a:latin typeface="Arial Narrow" panose="020B0606020202030204" pitchFamily="34" charset="0"/>
              </a:rPr>
              <a:t>important</a:t>
            </a:r>
            <a:r>
              <a:rPr lang="tr-TR" sz="1600" dirty="0" smtClean="0">
                <a:latin typeface="Arial Narrow" panose="020B0606020202030204" pitchFamily="34" charset="0"/>
              </a:rPr>
              <a:t> </a:t>
            </a:r>
            <a:r>
              <a:rPr lang="tr-TR" sz="1600" dirty="0" err="1" smtClean="0">
                <a:latin typeface="Arial Narrow" panose="020B0606020202030204" pitchFamily="34" charset="0"/>
              </a:rPr>
              <a:t>to</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firm</a:t>
            </a:r>
            <a:r>
              <a:rPr lang="tr-TR" sz="1600" dirty="0">
                <a:latin typeface="Arial Narrow" panose="020B0606020202030204" pitchFamily="34" charset="0"/>
              </a:rPr>
              <a:t> </a:t>
            </a:r>
            <a:r>
              <a:rPr lang="tr-TR" sz="1600" dirty="0" err="1" smtClean="0">
                <a:latin typeface="Arial Narrow" panose="020B0606020202030204" pitchFamily="34" charset="0"/>
              </a:rPr>
              <a:t>and</a:t>
            </a:r>
            <a:r>
              <a:rPr lang="tr-TR" sz="1600" dirty="0" smtClean="0">
                <a:latin typeface="Arial Narrow" panose="020B0606020202030204" pitchFamily="34" charset="0"/>
              </a:rPr>
              <a:t> </a:t>
            </a:r>
            <a:r>
              <a:rPr lang="tr-TR" sz="1600" dirty="0" err="1" smtClean="0">
                <a:latin typeface="Arial Narrow" panose="020B0606020202030204" pitchFamily="34" charset="0"/>
              </a:rPr>
              <a:t>to</a:t>
            </a:r>
            <a:r>
              <a:rPr lang="tr-TR" sz="1600" dirty="0" smtClean="0">
                <a:latin typeface="Arial Narrow" panose="020B0606020202030204" pitchFamily="34" charset="0"/>
              </a:rPr>
              <a:t> </a:t>
            </a:r>
            <a:r>
              <a:rPr lang="tr-TR" sz="1600" dirty="0" err="1" smtClean="0">
                <a:latin typeface="Arial Narrow" panose="020B0606020202030204" pitchFamily="34" charset="0"/>
              </a:rPr>
              <a:t>elect</a:t>
            </a:r>
            <a:r>
              <a:rPr lang="tr-TR" sz="1600" dirty="0" smtClean="0">
                <a:latin typeface="Arial Narrow" panose="020B0606020202030204" pitchFamily="34" charset="0"/>
              </a:rPr>
              <a:t> </a:t>
            </a:r>
            <a:r>
              <a:rPr lang="tr-TR" sz="1600" dirty="0" err="1" smtClean="0">
                <a:latin typeface="Arial Narrow" panose="020B0606020202030204" pitchFamily="34" charset="0"/>
              </a:rPr>
              <a:t>its</a:t>
            </a:r>
            <a:r>
              <a:rPr lang="tr-TR" sz="1600" dirty="0" smtClean="0">
                <a:latin typeface="Arial Narrow" panose="020B0606020202030204" pitchFamily="34" charset="0"/>
              </a:rPr>
              <a:t> </a:t>
            </a:r>
            <a:r>
              <a:rPr lang="tr-TR" sz="1600" dirty="0" err="1" smtClean="0">
                <a:latin typeface="Arial Narrow" panose="020B0606020202030204" pitchFamily="34" charset="0"/>
              </a:rPr>
              <a:t>directors</a:t>
            </a:r>
            <a:r>
              <a:rPr lang="tr-TR" sz="1600" dirty="0" smtClean="0">
                <a:latin typeface="Arial Narrow" panose="020B0606020202030204" pitchFamily="34" charset="0"/>
              </a:rPr>
              <a:t>.</a:t>
            </a:r>
          </a:p>
          <a:p>
            <a:pPr marL="0" indent="0" algn="ctr">
              <a:spcBef>
                <a:spcPts val="0"/>
              </a:spcBef>
              <a:buNone/>
            </a:pPr>
            <a:endParaRPr lang="tr-TR" sz="800" dirty="0">
              <a:latin typeface="Arial Narrow" panose="020B0606020202030204" pitchFamily="34" charset="0"/>
            </a:endParaRPr>
          </a:p>
          <a:p>
            <a:pPr marL="0" indent="0" algn="ctr">
              <a:spcBef>
                <a:spcPts val="0"/>
              </a:spcBef>
              <a:buNone/>
            </a:pPr>
            <a:r>
              <a:rPr lang="tr-TR" sz="1600" dirty="0" err="1" smtClean="0">
                <a:latin typeface="Arial Narrow" panose="020B0606020202030204" pitchFamily="34" charset="0"/>
              </a:rPr>
              <a:t>The</a:t>
            </a:r>
            <a:r>
              <a:rPr lang="tr-TR" sz="1600" dirty="0" smtClean="0">
                <a:latin typeface="Arial Narrow" panose="020B0606020202030204" pitchFamily="34" charset="0"/>
              </a:rPr>
              <a:t> main </a:t>
            </a:r>
            <a:r>
              <a:rPr lang="tr-TR" sz="1600" dirty="0" err="1" smtClean="0">
                <a:latin typeface="Arial Narrow" panose="020B0606020202030204" pitchFamily="34" charset="0"/>
              </a:rPr>
              <a:t>disadvantage</a:t>
            </a:r>
            <a:r>
              <a:rPr lang="tr-TR" sz="1600" dirty="0" smtClean="0">
                <a:latin typeface="Arial Narrow" panose="020B0606020202030204" pitchFamily="34" charset="0"/>
              </a:rPr>
              <a:t> of </a:t>
            </a:r>
            <a:r>
              <a:rPr lang="tr-TR" sz="1600" dirty="0" err="1" smtClean="0">
                <a:latin typeface="Arial Narrow" panose="020B0606020202030204" pitchFamily="34" charset="0"/>
              </a:rPr>
              <a:t>owning</a:t>
            </a:r>
            <a:r>
              <a:rPr lang="tr-TR" sz="1600" dirty="0" smtClean="0">
                <a:latin typeface="Arial Narrow" panose="020B0606020202030204" pitchFamily="34" charset="0"/>
              </a:rPr>
              <a:t> </a:t>
            </a:r>
            <a:r>
              <a:rPr lang="tr-TR" sz="1600" dirty="0" err="1" smtClean="0">
                <a:latin typeface="Arial Narrow" panose="020B0606020202030204" pitchFamily="34" charset="0"/>
              </a:rPr>
              <a:t>equity</a:t>
            </a:r>
            <a:r>
              <a:rPr lang="tr-TR" sz="1600" dirty="0" smtClean="0">
                <a:latin typeface="Arial Narrow" panose="020B0606020202030204" pitchFamily="34" charset="0"/>
              </a:rPr>
              <a:t> is </a:t>
            </a:r>
            <a:r>
              <a:rPr lang="tr-TR" sz="1600" dirty="0" err="1" smtClean="0">
                <a:latin typeface="Arial Narrow" panose="020B0606020202030204" pitchFamily="34" charset="0"/>
              </a:rPr>
              <a:t>that</a:t>
            </a:r>
            <a:r>
              <a:rPr lang="tr-TR" sz="1600" dirty="0" smtClean="0">
                <a:latin typeface="Arial Narrow" panose="020B0606020202030204" pitchFamily="34" charset="0"/>
              </a:rPr>
              <a:t> an </a:t>
            </a:r>
            <a:r>
              <a:rPr lang="tr-TR" sz="1600" dirty="0" err="1" smtClean="0">
                <a:latin typeface="Arial Narrow" panose="020B0606020202030204" pitchFamily="34" charset="0"/>
              </a:rPr>
              <a:t>equity</a:t>
            </a:r>
            <a:r>
              <a:rPr lang="tr-TR" sz="1600" dirty="0" smtClean="0">
                <a:latin typeface="Arial Narrow" panose="020B0606020202030204" pitchFamily="34" charset="0"/>
              </a:rPr>
              <a:t> </a:t>
            </a:r>
            <a:r>
              <a:rPr lang="tr-TR" sz="1600" dirty="0" err="1" smtClean="0">
                <a:latin typeface="Arial Narrow" panose="020B0606020202030204" pitchFamily="34" charset="0"/>
              </a:rPr>
              <a:t>holder</a:t>
            </a:r>
            <a:r>
              <a:rPr lang="tr-TR" sz="1600" dirty="0" smtClean="0">
                <a:latin typeface="Arial Narrow" panose="020B0606020202030204" pitchFamily="34" charset="0"/>
              </a:rPr>
              <a:t> is a </a:t>
            </a:r>
            <a:r>
              <a:rPr lang="tr-TR" sz="1600" dirty="0" err="1" smtClean="0">
                <a:latin typeface="Arial Narrow" panose="020B0606020202030204" pitchFamily="34" charset="0"/>
              </a:rPr>
              <a:t>residual</a:t>
            </a:r>
            <a:r>
              <a:rPr lang="tr-TR" sz="1600" dirty="0" smtClean="0">
                <a:latin typeface="Arial Narrow" panose="020B0606020202030204" pitchFamily="34" charset="0"/>
              </a:rPr>
              <a:t> </a:t>
            </a:r>
            <a:r>
              <a:rPr lang="tr-TR" sz="1600" dirty="0" err="1" smtClean="0">
                <a:latin typeface="Arial Narrow" panose="020B0606020202030204" pitchFamily="34" charset="0"/>
              </a:rPr>
              <a:t>claimant</a:t>
            </a:r>
            <a:r>
              <a:rPr lang="tr-TR" sz="1600" dirty="0" smtClean="0">
                <a:latin typeface="Arial Narrow" panose="020B0606020202030204" pitchFamily="34" charset="0"/>
              </a:rPr>
              <a:t>; </a:t>
            </a:r>
            <a:r>
              <a:rPr lang="tr-TR" sz="1600" dirty="0" err="1" smtClean="0">
                <a:latin typeface="Arial Narrow" panose="020B0606020202030204" pitchFamily="34" charset="0"/>
              </a:rPr>
              <a:t>that</a:t>
            </a:r>
            <a:r>
              <a:rPr lang="tr-TR" sz="1600" dirty="0" smtClean="0">
                <a:latin typeface="Arial Narrow" panose="020B0606020202030204" pitchFamily="34" charset="0"/>
              </a:rPr>
              <a:t> is,</a:t>
            </a:r>
          </a:p>
          <a:p>
            <a:pPr marL="0" indent="0" algn="ctr">
              <a:spcBef>
                <a:spcPts val="0"/>
              </a:spcBef>
              <a:buNone/>
            </a:pP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corporation</a:t>
            </a:r>
            <a:r>
              <a:rPr lang="tr-TR" sz="1600" dirty="0" smtClean="0">
                <a:latin typeface="Arial Narrow" panose="020B0606020202030204" pitchFamily="34" charset="0"/>
              </a:rPr>
              <a:t> </a:t>
            </a:r>
            <a:r>
              <a:rPr lang="tr-TR" sz="1600" dirty="0" err="1" smtClean="0">
                <a:latin typeface="Arial Narrow" panose="020B0606020202030204" pitchFamily="34" charset="0"/>
              </a:rPr>
              <a:t>must</a:t>
            </a:r>
            <a:r>
              <a:rPr lang="tr-TR" sz="1600" dirty="0" smtClean="0">
                <a:latin typeface="Arial Narrow" panose="020B0606020202030204" pitchFamily="34" charset="0"/>
              </a:rPr>
              <a:t> pay </a:t>
            </a:r>
            <a:r>
              <a:rPr lang="tr-TR" sz="1600" dirty="0" err="1" smtClean="0">
                <a:latin typeface="Arial Narrow" panose="020B0606020202030204" pitchFamily="34" charset="0"/>
              </a:rPr>
              <a:t>all</a:t>
            </a:r>
            <a:r>
              <a:rPr lang="tr-TR" sz="1600" dirty="0" smtClean="0">
                <a:latin typeface="Arial Narrow" panose="020B0606020202030204" pitchFamily="34" charset="0"/>
              </a:rPr>
              <a:t> </a:t>
            </a:r>
            <a:r>
              <a:rPr lang="tr-TR" sz="1600" dirty="0" err="1" smtClean="0">
                <a:latin typeface="Arial Narrow" panose="020B0606020202030204" pitchFamily="34" charset="0"/>
              </a:rPr>
              <a:t>its</a:t>
            </a:r>
            <a:r>
              <a:rPr lang="tr-TR" sz="1600" dirty="0" smtClean="0">
                <a:latin typeface="Arial Narrow" panose="020B0606020202030204" pitchFamily="34" charset="0"/>
              </a:rPr>
              <a:t> </a:t>
            </a:r>
            <a:r>
              <a:rPr lang="tr-TR" sz="1600" dirty="0" err="1" smtClean="0">
                <a:latin typeface="Arial Narrow" panose="020B0606020202030204" pitchFamily="34" charset="0"/>
              </a:rPr>
              <a:t>debt</a:t>
            </a:r>
            <a:r>
              <a:rPr lang="tr-TR" sz="1600" dirty="0" smtClean="0">
                <a:latin typeface="Arial Narrow" panose="020B0606020202030204" pitchFamily="34" charset="0"/>
              </a:rPr>
              <a:t> </a:t>
            </a:r>
            <a:r>
              <a:rPr lang="tr-TR" sz="1600" dirty="0" err="1" smtClean="0">
                <a:latin typeface="Arial Narrow" panose="020B0606020202030204" pitchFamily="34" charset="0"/>
              </a:rPr>
              <a:t>holders</a:t>
            </a:r>
            <a:r>
              <a:rPr lang="tr-TR" sz="1600" dirty="0" smtClean="0">
                <a:latin typeface="Arial Narrow" panose="020B0606020202030204" pitchFamily="34" charset="0"/>
              </a:rPr>
              <a:t> </a:t>
            </a:r>
            <a:r>
              <a:rPr lang="tr-TR" sz="1600" dirty="0" err="1" smtClean="0">
                <a:latin typeface="Arial Narrow" panose="020B0606020202030204" pitchFamily="34" charset="0"/>
              </a:rPr>
              <a:t>before</a:t>
            </a:r>
            <a:r>
              <a:rPr lang="tr-TR" sz="1600" dirty="0" smtClean="0">
                <a:latin typeface="Arial Narrow" panose="020B0606020202030204" pitchFamily="34" charset="0"/>
              </a:rPr>
              <a:t> it </a:t>
            </a:r>
            <a:r>
              <a:rPr lang="tr-TR" sz="1600" dirty="0" err="1" smtClean="0">
                <a:latin typeface="Arial Narrow" panose="020B0606020202030204" pitchFamily="34" charset="0"/>
              </a:rPr>
              <a:t>pays</a:t>
            </a:r>
            <a:r>
              <a:rPr lang="tr-TR" sz="1600" dirty="0" smtClean="0">
                <a:latin typeface="Arial Narrow" panose="020B0606020202030204" pitchFamily="34" charset="0"/>
              </a:rPr>
              <a:t> </a:t>
            </a:r>
            <a:r>
              <a:rPr lang="tr-TR" sz="1600" dirty="0" err="1" smtClean="0">
                <a:latin typeface="Arial Narrow" panose="020B0606020202030204" pitchFamily="34" charset="0"/>
              </a:rPr>
              <a:t>its</a:t>
            </a:r>
            <a:r>
              <a:rPr lang="tr-TR" sz="1600" dirty="0" smtClean="0">
                <a:latin typeface="Arial Narrow" panose="020B0606020202030204" pitchFamily="34" charset="0"/>
              </a:rPr>
              <a:t> </a:t>
            </a:r>
            <a:r>
              <a:rPr lang="tr-TR" sz="1600" dirty="0" err="1" smtClean="0">
                <a:latin typeface="Arial Narrow" panose="020B0606020202030204" pitchFamily="34" charset="0"/>
              </a:rPr>
              <a:t>euity</a:t>
            </a:r>
            <a:r>
              <a:rPr lang="tr-TR" sz="1600" dirty="0" smtClean="0">
                <a:latin typeface="Arial Narrow" panose="020B0606020202030204" pitchFamily="34" charset="0"/>
              </a:rPr>
              <a:t> </a:t>
            </a:r>
            <a:r>
              <a:rPr lang="tr-TR" sz="1600" dirty="0" err="1" smtClean="0">
                <a:latin typeface="Arial Narrow" panose="020B0606020202030204" pitchFamily="34" charset="0"/>
              </a:rPr>
              <a:t>holders</a:t>
            </a:r>
            <a:r>
              <a:rPr lang="tr-TR" sz="1600" dirty="0" smtClean="0">
                <a:latin typeface="Arial Narrow" panose="020B0606020202030204" pitchFamily="34" charset="0"/>
              </a:rPr>
              <a:t> in </a:t>
            </a:r>
            <a:r>
              <a:rPr lang="tr-TR" sz="1600" dirty="0" err="1" smtClean="0">
                <a:latin typeface="Arial Narrow" panose="020B0606020202030204" pitchFamily="34" charset="0"/>
              </a:rPr>
              <a:t>case</a:t>
            </a:r>
            <a:r>
              <a:rPr lang="tr-TR" sz="1600" dirty="0" smtClean="0">
                <a:latin typeface="Arial Narrow" panose="020B0606020202030204" pitchFamily="34" charset="0"/>
              </a:rPr>
              <a:t> of </a:t>
            </a:r>
            <a:r>
              <a:rPr lang="tr-TR" sz="1600" dirty="0" err="1" smtClean="0">
                <a:latin typeface="Arial Narrow" panose="020B0606020202030204" pitchFamily="34" charset="0"/>
              </a:rPr>
              <a:t>liquidation</a:t>
            </a:r>
            <a:r>
              <a:rPr lang="tr-TR" sz="1600" dirty="0" smtClean="0">
                <a:latin typeface="Arial Narrow" panose="020B0606020202030204" pitchFamily="34" charset="0"/>
              </a:rPr>
              <a:t>.</a:t>
            </a:r>
          </a:p>
          <a:p>
            <a:pPr marL="0" indent="0" algn="ctr">
              <a:spcBef>
                <a:spcPts val="0"/>
              </a:spcBef>
              <a:buNone/>
            </a:pPr>
            <a:endParaRPr lang="tr-TR" sz="800" dirty="0" smtClean="0">
              <a:latin typeface="Arial Narrow" panose="020B0606020202030204" pitchFamily="34" charset="0"/>
            </a:endParaRPr>
          </a:p>
          <a:p>
            <a:pPr marL="0" indent="0" algn="ctr">
              <a:spcBef>
                <a:spcPts val="0"/>
              </a:spcBef>
              <a:buNone/>
            </a:pPr>
            <a:r>
              <a:rPr lang="tr-TR" sz="1600" dirty="0" err="1" smtClean="0">
                <a:latin typeface="Arial Narrow" panose="020B0606020202030204" pitchFamily="34" charset="0"/>
              </a:rPr>
              <a:t>Its</a:t>
            </a:r>
            <a:r>
              <a:rPr lang="tr-TR" sz="1600" dirty="0" smtClean="0">
                <a:latin typeface="Arial Narrow" panose="020B0606020202030204" pitchFamily="34" charset="0"/>
              </a:rPr>
              <a:t> </a:t>
            </a:r>
            <a:r>
              <a:rPr lang="tr-TR" sz="1600" dirty="0" err="1" smtClean="0">
                <a:latin typeface="Arial Narrow" panose="020B0606020202030204" pitchFamily="34" charset="0"/>
              </a:rPr>
              <a:t>advantage</a:t>
            </a:r>
            <a:r>
              <a:rPr lang="tr-TR" sz="1600" dirty="0" smtClean="0">
                <a:latin typeface="Arial Narrow" panose="020B0606020202030204" pitchFamily="34" charset="0"/>
              </a:rPr>
              <a:t> is </a:t>
            </a:r>
            <a:r>
              <a:rPr lang="tr-TR" sz="1600" dirty="0" err="1" smtClean="0">
                <a:latin typeface="Arial Narrow" panose="020B0606020202030204" pitchFamily="34" charset="0"/>
              </a:rPr>
              <a:t>that</a:t>
            </a:r>
            <a:r>
              <a:rPr lang="tr-TR" sz="1600" dirty="0" smtClean="0">
                <a:latin typeface="Arial Narrow" panose="020B0606020202030204" pitchFamily="34" charset="0"/>
              </a:rPr>
              <a:t> </a:t>
            </a:r>
            <a:r>
              <a:rPr lang="tr-TR" sz="1600" dirty="0" err="1" smtClean="0">
                <a:latin typeface="Arial Narrow" panose="020B0606020202030204" pitchFamily="34" charset="0"/>
              </a:rPr>
              <a:t>equity</a:t>
            </a:r>
            <a:r>
              <a:rPr lang="tr-TR" sz="1600" dirty="0" smtClean="0">
                <a:latin typeface="Arial Narrow" panose="020B0606020202030204" pitchFamily="34" charset="0"/>
              </a:rPr>
              <a:t> </a:t>
            </a:r>
            <a:r>
              <a:rPr lang="tr-TR" sz="1600" dirty="0" err="1" smtClean="0">
                <a:latin typeface="Arial Narrow" panose="020B0606020202030204" pitchFamily="34" charset="0"/>
              </a:rPr>
              <a:t>holders</a:t>
            </a:r>
            <a:r>
              <a:rPr lang="tr-TR" sz="1600" dirty="0" smtClean="0">
                <a:latin typeface="Arial Narrow" panose="020B0606020202030204" pitchFamily="34" charset="0"/>
              </a:rPr>
              <a:t> </a:t>
            </a:r>
            <a:r>
              <a:rPr lang="tr-TR" sz="1600" dirty="0" err="1" smtClean="0">
                <a:latin typeface="Arial Narrow" panose="020B0606020202030204" pitchFamily="34" charset="0"/>
              </a:rPr>
              <a:t>benefit</a:t>
            </a:r>
            <a:r>
              <a:rPr lang="tr-TR" sz="1600" dirty="0" smtClean="0">
                <a:latin typeface="Arial Narrow" panose="020B0606020202030204" pitchFamily="34" charset="0"/>
              </a:rPr>
              <a:t> </a:t>
            </a:r>
            <a:r>
              <a:rPr lang="tr-TR" sz="1600" dirty="0" err="1" smtClean="0">
                <a:latin typeface="Arial Narrow" panose="020B0606020202030204" pitchFamily="34" charset="0"/>
              </a:rPr>
              <a:t>directly</a:t>
            </a:r>
            <a:r>
              <a:rPr lang="tr-TR" sz="1600" dirty="0" smtClean="0">
                <a:latin typeface="Arial Narrow" panose="020B0606020202030204" pitchFamily="34" charset="0"/>
              </a:rPr>
              <a:t> </a:t>
            </a:r>
            <a:r>
              <a:rPr lang="tr-TR" sz="1600" dirty="0" err="1" smtClean="0">
                <a:latin typeface="Arial Narrow" panose="020B0606020202030204" pitchFamily="34" charset="0"/>
              </a:rPr>
              <a:t>from</a:t>
            </a:r>
            <a:endParaRPr lang="tr-TR" sz="1600" dirty="0">
              <a:latin typeface="Arial Narrow" panose="020B0606020202030204" pitchFamily="34" charset="0"/>
            </a:endParaRPr>
          </a:p>
          <a:p>
            <a:pPr marL="0" indent="0" algn="ctr">
              <a:spcBef>
                <a:spcPts val="0"/>
              </a:spcBef>
              <a:buNone/>
            </a:pPr>
            <a:r>
              <a:rPr lang="tr-TR" sz="1600" dirty="0" err="1" smtClean="0">
                <a:latin typeface="Arial Narrow" panose="020B0606020202030204" pitchFamily="34" charset="0"/>
              </a:rPr>
              <a:t>any</a:t>
            </a:r>
            <a:r>
              <a:rPr lang="tr-TR" sz="1600" dirty="0" smtClean="0">
                <a:latin typeface="Arial Narrow" panose="020B0606020202030204" pitchFamily="34" charset="0"/>
              </a:rPr>
              <a:t> </a:t>
            </a:r>
            <a:r>
              <a:rPr lang="tr-TR" sz="1600" dirty="0" err="1" smtClean="0">
                <a:latin typeface="Arial Narrow" panose="020B0606020202030204" pitchFamily="34" charset="0"/>
              </a:rPr>
              <a:t>increases</a:t>
            </a:r>
            <a:r>
              <a:rPr lang="tr-TR" sz="1600" dirty="0" smtClean="0">
                <a:latin typeface="Arial Narrow" panose="020B0606020202030204" pitchFamily="34" charset="0"/>
              </a:rPr>
              <a:t> in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corporation’s</a:t>
            </a:r>
            <a:r>
              <a:rPr lang="tr-TR" sz="1600" dirty="0" smtClean="0">
                <a:latin typeface="Arial Narrow" panose="020B0606020202030204" pitchFamily="34" charset="0"/>
              </a:rPr>
              <a:t> </a:t>
            </a:r>
            <a:r>
              <a:rPr lang="tr-TR" sz="1600" dirty="0" err="1" smtClean="0">
                <a:latin typeface="Arial Narrow" panose="020B0606020202030204" pitchFamily="34" charset="0"/>
              </a:rPr>
              <a:t>profitability</a:t>
            </a:r>
            <a:r>
              <a:rPr lang="tr-TR" sz="1600" dirty="0" smtClean="0">
                <a:latin typeface="Arial Narrow" panose="020B0606020202030204" pitchFamily="34" charset="0"/>
              </a:rPr>
              <a:t> </a:t>
            </a:r>
            <a:r>
              <a:rPr lang="tr-TR" sz="1600" dirty="0" err="1" smtClean="0">
                <a:latin typeface="Arial Narrow" panose="020B0606020202030204" pitchFamily="34" charset="0"/>
              </a:rPr>
              <a:t>or</a:t>
            </a:r>
            <a:r>
              <a:rPr lang="tr-TR" sz="1600" dirty="0" smtClean="0">
                <a:latin typeface="Arial Narrow" panose="020B0606020202030204" pitchFamily="34" charset="0"/>
              </a:rPr>
              <a:t> </a:t>
            </a:r>
            <a:r>
              <a:rPr lang="tr-TR" sz="1600" dirty="0" err="1" smtClean="0">
                <a:latin typeface="Arial Narrow" panose="020B0606020202030204" pitchFamily="34" charset="0"/>
              </a:rPr>
              <a:t>asset</a:t>
            </a:r>
            <a:r>
              <a:rPr lang="tr-TR" sz="1600" dirty="0" smtClean="0">
                <a:latin typeface="Arial Narrow" panose="020B0606020202030204" pitchFamily="34" charset="0"/>
              </a:rPr>
              <a:t> </a:t>
            </a:r>
            <a:r>
              <a:rPr lang="tr-TR" sz="1600" dirty="0" err="1" smtClean="0">
                <a:latin typeface="Arial Narrow" panose="020B0606020202030204" pitchFamily="34" charset="0"/>
              </a:rPr>
              <a:t>value</a:t>
            </a:r>
            <a:endParaRPr lang="tr-TR" sz="1600" dirty="0">
              <a:latin typeface="Arial Narrow" panose="020B0606020202030204" pitchFamily="34" charset="0"/>
            </a:endParaRPr>
          </a:p>
          <a:p>
            <a:pPr marL="0" indent="0" algn="ctr">
              <a:spcBef>
                <a:spcPts val="0"/>
              </a:spcBef>
              <a:buNone/>
            </a:pPr>
            <a:r>
              <a:rPr lang="tr-TR" sz="1600" dirty="0" err="1" smtClean="0">
                <a:latin typeface="Arial Narrow" panose="020B0606020202030204" pitchFamily="34" charset="0"/>
              </a:rPr>
              <a:t>because</a:t>
            </a:r>
            <a:r>
              <a:rPr lang="tr-TR" sz="1600" dirty="0" smtClean="0">
                <a:latin typeface="Arial Narrow" panose="020B0606020202030204" pitchFamily="34" charset="0"/>
              </a:rPr>
              <a:t> </a:t>
            </a:r>
            <a:r>
              <a:rPr lang="tr-TR" sz="1600" dirty="0" err="1" smtClean="0">
                <a:latin typeface="Arial Narrow" panose="020B0606020202030204" pitchFamily="34" charset="0"/>
              </a:rPr>
              <a:t>equities</a:t>
            </a:r>
            <a:r>
              <a:rPr lang="tr-TR" sz="1600" dirty="0" smtClean="0">
                <a:latin typeface="Arial Narrow" panose="020B0606020202030204" pitchFamily="34" charset="0"/>
              </a:rPr>
              <a:t> </a:t>
            </a:r>
            <a:r>
              <a:rPr lang="tr-TR" sz="1600" dirty="0" err="1" smtClean="0">
                <a:latin typeface="Arial Narrow" panose="020B0606020202030204" pitchFamily="34" charset="0"/>
              </a:rPr>
              <a:t>confer</a:t>
            </a:r>
            <a:r>
              <a:rPr lang="tr-TR" sz="1600" dirty="0" smtClean="0">
                <a:latin typeface="Arial Narrow" panose="020B0606020202030204" pitchFamily="34" charset="0"/>
              </a:rPr>
              <a:t> </a:t>
            </a:r>
            <a:r>
              <a:rPr lang="tr-TR" sz="1600" dirty="0" err="1" smtClean="0">
                <a:latin typeface="Arial Narrow" panose="020B0606020202030204" pitchFamily="34" charset="0"/>
              </a:rPr>
              <a:t>ownership</a:t>
            </a:r>
            <a:r>
              <a:rPr lang="tr-TR" sz="1600" dirty="0" smtClean="0">
                <a:latin typeface="Arial Narrow" panose="020B0606020202030204" pitchFamily="34" charset="0"/>
              </a:rPr>
              <a:t> </a:t>
            </a:r>
            <a:r>
              <a:rPr lang="tr-TR" sz="1600" dirty="0" err="1" smtClean="0">
                <a:latin typeface="Arial Narrow" panose="020B0606020202030204" pitchFamily="34" charset="0"/>
              </a:rPr>
              <a:t>rights</a:t>
            </a:r>
            <a:r>
              <a:rPr lang="tr-TR" sz="1600" dirty="0" smtClean="0">
                <a:latin typeface="Arial Narrow" panose="020B0606020202030204" pitchFamily="34" charset="0"/>
              </a:rPr>
              <a:t> on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equity</a:t>
            </a:r>
            <a:r>
              <a:rPr lang="tr-TR" sz="1600" dirty="0" smtClean="0">
                <a:latin typeface="Arial Narrow" panose="020B0606020202030204" pitchFamily="34" charset="0"/>
              </a:rPr>
              <a:t> </a:t>
            </a:r>
            <a:r>
              <a:rPr lang="tr-TR" sz="1600" dirty="0" err="1" smtClean="0">
                <a:latin typeface="Arial Narrow" panose="020B0606020202030204" pitchFamily="34" charset="0"/>
              </a:rPr>
              <a:t>holders</a:t>
            </a:r>
            <a:r>
              <a:rPr lang="tr-TR" sz="1600" dirty="0" smtClean="0">
                <a:latin typeface="Arial Narrow" panose="020B0606020202030204" pitchFamily="34" charset="0"/>
              </a:rPr>
              <a:t>.</a:t>
            </a:r>
          </a:p>
        </p:txBody>
      </p:sp>
    </p:spTree>
    <p:extLst>
      <p:ext uri="{BB962C8B-B14F-4D97-AF65-F5344CB8AC3E}">
        <p14:creationId xmlns:p14="http://schemas.microsoft.com/office/powerpoint/2010/main" val="1079217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91264" cy="1143000"/>
          </a:xfrm>
          <a:ln w="25400">
            <a:noFill/>
          </a:ln>
        </p:spPr>
        <p:txBody>
          <a:bodyPr>
            <a:noAutofit/>
          </a:bodyPr>
          <a:lstStyle/>
          <a:p>
            <a:r>
              <a:rPr lang="tr-TR" sz="1400" dirty="0">
                <a:latin typeface="Arial Narrow" pitchFamily="34" charset="0"/>
              </a:rPr>
              <a:t>NTE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smtClean="0">
                <a:solidFill>
                  <a:srgbClr val="800000"/>
                </a:solidFill>
                <a:latin typeface="Arial Narrow" pitchFamily="34" charset="0"/>
              </a:rPr>
              <a:t>Financial </a:t>
            </a:r>
            <a:r>
              <a:rPr lang="tr-TR" sz="2000" dirty="0" err="1" smtClean="0">
                <a:solidFill>
                  <a:srgbClr val="800000"/>
                </a:solidFill>
                <a:latin typeface="Arial Narrow" pitchFamily="34" charset="0"/>
              </a:rPr>
              <a:t>Securities</a:t>
            </a:r>
            <a:r>
              <a:rPr lang="tr-TR" sz="2800" dirty="0">
                <a:solidFill>
                  <a:srgbClr val="C00000"/>
                </a:solidFill>
                <a:latin typeface="Arial Narrow" pitchFamily="34" charset="0"/>
              </a:rPr>
              <a:t/>
            </a:r>
            <a:br>
              <a:rPr lang="tr-TR" sz="2800" dirty="0">
                <a:solidFill>
                  <a:srgbClr val="C00000"/>
                </a:solidFill>
                <a:latin typeface="Arial Narrow" pitchFamily="34" charset="0"/>
              </a:rPr>
            </a:br>
            <a:r>
              <a:rPr lang="tr-TR" sz="2400" dirty="0" err="1" smtClean="0">
                <a:latin typeface="Arial Narrow" pitchFamily="34" charset="0"/>
              </a:rPr>
              <a:t>Equity</a:t>
            </a:r>
            <a:r>
              <a:rPr lang="tr-TR" sz="2400" dirty="0" smtClean="0">
                <a:latin typeface="Arial Narrow" pitchFamily="34" charset="0"/>
              </a:rPr>
              <a:t> </a:t>
            </a:r>
            <a:r>
              <a:rPr lang="tr-TR" sz="2400" dirty="0" err="1" smtClean="0">
                <a:latin typeface="Arial Narrow" pitchFamily="34" charset="0"/>
              </a:rPr>
              <a:t>Types</a:t>
            </a:r>
            <a:r>
              <a:rPr lang="tr-TR" sz="2400" dirty="0" smtClean="0">
                <a:latin typeface="Arial Narrow" pitchFamily="34" charset="0"/>
              </a:rPr>
              <a:t> – </a:t>
            </a:r>
            <a:r>
              <a:rPr lang="tr-TR" sz="2400" dirty="0" err="1" smtClean="0">
                <a:latin typeface="Arial Narrow" pitchFamily="34" charset="0"/>
              </a:rPr>
              <a:t>Ordinary</a:t>
            </a:r>
            <a:r>
              <a:rPr lang="tr-TR" sz="2400" dirty="0" smtClean="0">
                <a:latin typeface="Arial Narrow" pitchFamily="34" charset="0"/>
              </a:rPr>
              <a:t> </a:t>
            </a:r>
            <a:r>
              <a:rPr lang="tr-TR" sz="2400" dirty="0" err="1" smtClean="0">
                <a:latin typeface="Arial Narrow" pitchFamily="34" charset="0"/>
              </a:rPr>
              <a:t>Shares</a:t>
            </a:r>
            <a:endParaRPr lang="tr-TR" sz="2400" dirty="0">
              <a:latin typeface="Arial Narrow" pitchFamily="34" charset="0"/>
            </a:endParaRPr>
          </a:p>
        </p:txBody>
      </p:sp>
      <p:sp>
        <p:nvSpPr>
          <p:cNvPr id="5" name="Content Placeholder 4"/>
          <p:cNvSpPr>
            <a:spLocks noGrp="1"/>
          </p:cNvSpPr>
          <p:nvPr>
            <p:ph idx="1"/>
          </p:nvPr>
        </p:nvSpPr>
        <p:spPr>
          <a:xfrm>
            <a:off x="457200" y="1600200"/>
            <a:ext cx="8291264" cy="4525963"/>
          </a:xfrm>
          <a:ln w="25400">
            <a:noFill/>
          </a:ln>
        </p:spPr>
        <p:txBody>
          <a:bodyPr>
            <a:noAutofit/>
          </a:bodyPr>
          <a:lstStyle/>
          <a:p>
            <a:pPr marL="0" lvl="1" indent="0" algn="ctr">
              <a:spcBef>
                <a:spcPts val="0"/>
              </a:spcBef>
              <a:buNone/>
            </a:pPr>
            <a:endParaRPr lang="tr-TR" sz="400" noProof="1">
              <a:latin typeface="Arial Narrow" panose="020B0606020202030204" pitchFamily="34" charset="0"/>
            </a:endParaRPr>
          </a:p>
          <a:p>
            <a:pPr marL="0" lvl="1" indent="0" algn="ctr">
              <a:spcBef>
                <a:spcPts val="0"/>
              </a:spcBef>
              <a:buNone/>
            </a:pPr>
            <a:r>
              <a:rPr lang="tr-TR" sz="1600" noProof="1" smtClean="0">
                <a:latin typeface="Arial Narrow" panose="020B0606020202030204" pitchFamily="34" charset="0"/>
              </a:rPr>
              <a:t>There are two forms of equity in a business;</a:t>
            </a:r>
          </a:p>
          <a:p>
            <a:pPr marL="2686050" lvl="6" indent="-457200">
              <a:spcBef>
                <a:spcPts val="0"/>
              </a:spcBef>
              <a:buFont typeface="+mj-lt"/>
              <a:buAutoNum type="arabicPeriod"/>
            </a:pPr>
            <a:r>
              <a:rPr lang="tr-TR" sz="1600" noProof="1" smtClean="0">
                <a:latin typeface="Arial Narrow" panose="020B0606020202030204" pitchFamily="34" charset="0"/>
              </a:rPr>
              <a:t>Ordinary shares (common stock),</a:t>
            </a:r>
          </a:p>
          <a:p>
            <a:pPr marL="2686050" lvl="6" indent="-457200">
              <a:spcBef>
                <a:spcPts val="0"/>
              </a:spcBef>
              <a:buFont typeface="+mj-lt"/>
              <a:buAutoNum type="arabicPeriod"/>
            </a:pPr>
            <a:r>
              <a:rPr lang="tr-TR" sz="1600" noProof="1" smtClean="0">
                <a:latin typeface="Arial Narrow" panose="020B0606020202030204" pitchFamily="34" charset="0"/>
              </a:rPr>
              <a:t>Preferred stock.</a:t>
            </a:r>
          </a:p>
          <a:p>
            <a:pPr marL="0" lvl="1" indent="0" algn="ctr">
              <a:spcBef>
                <a:spcPts val="0"/>
              </a:spcBef>
              <a:buNone/>
            </a:pPr>
            <a:endParaRPr lang="tr-TR" sz="1800" noProof="1" smtClean="0">
              <a:latin typeface="Arial Narrow" panose="020B0606020202030204" pitchFamily="34" charset="0"/>
            </a:endParaRPr>
          </a:p>
          <a:p>
            <a:pPr marL="0" lvl="1" indent="0" algn="ctr">
              <a:spcBef>
                <a:spcPts val="0"/>
              </a:spcBef>
              <a:buNone/>
            </a:pPr>
            <a:r>
              <a:rPr lang="tr-TR" sz="2000" noProof="1" smtClean="0">
                <a:solidFill>
                  <a:srgbClr val="C00000"/>
                </a:solidFill>
                <a:latin typeface="Arial Narrow" panose="020B0606020202030204" pitchFamily="34" charset="0"/>
              </a:rPr>
              <a:t>1. Ordinary Shares:</a:t>
            </a:r>
          </a:p>
          <a:p>
            <a:pPr marL="0" lvl="1" indent="0" algn="ctr">
              <a:spcBef>
                <a:spcPts val="0"/>
              </a:spcBef>
              <a:buNone/>
            </a:pPr>
            <a:r>
              <a:rPr lang="tr-TR" sz="1800" noProof="1" smtClean="0">
                <a:latin typeface="Arial Narrow" panose="020B0606020202030204" pitchFamily="34" charset="0"/>
              </a:rPr>
              <a:t>The investors provide the share capital for partial ownership of the business.</a:t>
            </a:r>
          </a:p>
          <a:p>
            <a:pPr marL="0" lvl="1" indent="0" algn="ctr">
              <a:spcBef>
                <a:spcPts val="0"/>
              </a:spcBef>
              <a:buNone/>
            </a:pPr>
            <a:endParaRPr lang="tr-TR" sz="1800" noProof="1" smtClean="0">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The return to the holders of ordinary shares</a:t>
            </a:r>
          </a:p>
          <a:p>
            <a:pPr marL="0" lvl="1" indent="0" algn="ctr">
              <a:spcBef>
                <a:spcPts val="0"/>
              </a:spcBef>
              <a:buNone/>
            </a:pPr>
            <a:r>
              <a:rPr lang="tr-TR" sz="1800" noProof="1" smtClean="0">
                <a:latin typeface="Arial Narrow" panose="020B0606020202030204" pitchFamily="34" charset="0"/>
              </a:rPr>
              <a:t>is directly related to the performance of the business in two forms;</a:t>
            </a:r>
          </a:p>
          <a:p>
            <a:pPr marL="2571750" lvl="6" indent="-342900">
              <a:spcBef>
                <a:spcPts val="0"/>
              </a:spcBef>
            </a:pPr>
            <a:r>
              <a:rPr lang="tr-TR" sz="1800" noProof="1" smtClean="0">
                <a:latin typeface="Arial Narrow" panose="020B0606020202030204" pitchFamily="34" charset="0"/>
              </a:rPr>
              <a:t>The growth in the value of the company,</a:t>
            </a:r>
          </a:p>
          <a:p>
            <a:pPr marL="2571750" lvl="6" indent="-342900">
              <a:spcBef>
                <a:spcPts val="0"/>
              </a:spcBef>
            </a:pPr>
            <a:r>
              <a:rPr lang="tr-TR" sz="1800" noProof="1" smtClean="0">
                <a:latin typeface="Arial Narrow" panose="020B0606020202030204" pitchFamily="34" charset="0"/>
              </a:rPr>
              <a:t>The dividends paid by the company.</a:t>
            </a:r>
          </a:p>
          <a:p>
            <a:pPr marL="2571750" lvl="6" indent="-342900">
              <a:spcBef>
                <a:spcPts val="0"/>
              </a:spcBef>
            </a:pPr>
            <a:endParaRPr lang="tr-TR" sz="1800" noProof="1" smtClean="0">
              <a:latin typeface="Arial Narrow" panose="020B0606020202030204" pitchFamily="34" charset="0"/>
            </a:endParaRPr>
          </a:p>
          <a:p>
            <a:pPr marL="0" indent="-400050" algn="ctr">
              <a:spcBef>
                <a:spcPts val="0"/>
              </a:spcBef>
              <a:buNone/>
            </a:pPr>
            <a:r>
              <a:rPr lang="tr-TR" sz="1800" noProof="1" smtClean="0">
                <a:latin typeface="Arial Narrow" panose="020B0606020202030204" pitchFamily="34" charset="0"/>
              </a:rPr>
              <a:t>The holders of ordinary shares are exposed to the entire risk of the business.</a:t>
            </a:r>
          </a:p>
        </p:txBody>
      </p:sp>
    </p:spTree>
    <p:extLst>
      <p:ext uri="{BB962C8B-B14F-4D97-AF65-F5344CB8AC3E}">
        <p14:creationId xmlns:p14="http://schemas.microsoft.com/office/powerpoint/2010/main" val="7852849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91264" cy="1143000"/>
          </a:xfrm>
          <a:ln w="25400">
            <a:noFill/>
          </a:ln>
        </p:spPr>
        <p:txBody>
          <a:bodyPr>
            <a:noAutofit/>
          </a:bodyPr>
          <a:lstStyle/>
          <a:p>
            <a:r>
              <a:rPr lang="tr-TR" sz="1400" dirty="0">
                <a:latin typeface="Arial Narrow" pitchFamily="34" charset="0"/>
              </a:rPr>
              <a:t>NTE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smtClean="0">
                <a:solidFill>
                  <a:srgbClr val="800000"/>
                </a:solidFill>
                <a:latin typeface="Arial Narrow" pitchFamily="34" charset="0"/>
              </a:rPr>
              <a:t>Financial </a:t>
            </a:r>
            <a:r>
              <a:rPr lang="tr-TR" sz="2000" dirty="0" err="1">
                <a:solidFill>
                  <a:srgbClr val="800000"/>
                </a:solidFill>
                <a:latin typeface="Arial Narrow" pitchFamily="34" charset="0"/>
              </a:rPr>
              <a:t>Securities</a:t>
            </a:r>
            <a:r>
              <a:rPr lang="tr-TR" sz="2800" dirty="0">
                <a:solidFill>
                  <a:srgbClr val="C00000"/>
                </a:solidFill>
                <a:latin typeface="Arial Narrow" pitchFamily="34" charset="0"/>
              </a:rPr>
              <a:t/>
            </a:r>
            <a:br>
              <a:rPr lang="tr-TR" sz="2800" dirty="0">
                <a:solidFill>
                  <a:srgbClr val="C00000"/>
                </a:solidFill>
                <a:latin typeface="Arial Narrow" pitchFamily="34" charset="0"/>
              </a:rPr>
            </a:br>
            <a:r>
              <a:rPr lang="tr-TR" sz="2400" dirty="0" err="1" smtClean="0">
                <a:latin typeface="Arial Narrow" pitchFamily="34" charset="0"/>
              </a:rPr>
              <a:t>Equity</a:t>
            </a:r>
            <a:r>
              <a:rPr lang="tr-TR" sz="2400" dirty="0" smtClean="0">
                <a:latin typeface="Arial Narrow" pitchFamily="34" charset="0"/>
              </a:rPr>
              <a:t> </a:t>
            </a:r>
            <a:r>
              <a:rPr lang="tr-TR" sz="2400" dirty="0" err="1" smtClean="0">
                <a:latin typeface="Arial Narrow" pitchFamily="34" charset="0"/>
              </a:rPr>
              <a:t>Types</a:t>
            </a:r>
            <a:r>
              <a:rPr lang="tr-TR" sz="2400" dirty="0" smtClean="0">
                <a:latin typeface="Arial Narrow" pitchFamily="34" charset="0"/>
              </a:rPr>
              <a:t> – </a:t>
            </a:r>
            <a:r>
              <a:rPr lang="tr-TR" sz="2400" dirty="0" err="1" smtClean="0">
                <a:latin typeface="Arial Narrow" pitchFamily="34" charset="0"/>
              </a:rPr>
              <a:t>Ordinary</a:t>
            </a:r>
            <a:r>
              <a:rPr lang="tr-TR" sz="2400" dirty="0" smtClean="0">
                <a:latin typeface="Arial Narrow" pitchFamily="34" charset="0"/>
              </a:rPr>
              <a:t> </a:t>
            </a:r>
            <a:r>
              <a:rPr lang="tr-TR" sz="2400" dirty="0" err="1" smtClean="0">
                <a:latin typeface="Arial Narrow" pitchFamily="34" charset="0"/>
              </a:rPr>
              <a:t>Shares</a:t>
            </a:r>
            <a:endParaRPr lang="tr-TR" sz="2400" dirty="0">
              <a:latin typeface="Arial Narrow" pitchFamily="34" charset="0"/>
            </a:endParaRPr>
          </a:p>
        </p:txBody>
      </p:sp>
      <p:sp>
        <p:nvSpPr>
          <p:cNvPr id="5" name="Content Placeholder 4"/>
          <p:cNvSpPr>
            <a:spLocks noGrp="1"/>
          </p:cNvSpPr>
          <p:nvPr>
            <p:ph idx="1"/>
          </p:nvPr>
        </p:nvSpPr>
        <p:spPr>
          <a:xfrm>
            <a:off x="457200" y="1417638"/>
            <a:ext cx="8291264" cy="4708525"/>
          </a:xfrm>
          <a:ln w="25400">
            <a:noFill/>
          </a:ln>
        </p:spPr>
        <p:txBody>
          <a:bodyPr>
            <a:noAutofit/>
          </a:bodyPr>
          <a:lstStyle/>
          <a:p>
            <a:pPr marL="0" indent="-400050" algn="ctr">
              <a:spcBef>
                <a:spcPts val="0"/>
              </a:spcBef>
              <a:buNone/>
            </a:pPr>
            <a:r>
              <a:rPr lang="tr-TR" sz="1800" noProof="1" smtClean="0">
                <a:latin typeface="Arial Narrow" panose="020B0606020202030204" pitchFamily="34" charset="0"/>
              </a:rPr>
              <a:t>The sale of new shares in an existing company can be in the form of</a:t>
            </a:r>
          </a:p>
          <a:p>
            <a:pPr marL="0" indent="-400050" algn="ctr">
              <a:spcBef>
                <a:spcPts val="0"/>
              </a:spcBef>
              <a:buNone/>
            </a:pPr>
            <a:r>
              <a:rPr lang="tr-TR" sz="1800" noProof="1" smtClean="0">
                <a:latin typeface="Arial Narrow" panose="020B0606020202030204" pitchFamily="34" charset="0"/>
              </a:rPr>
              <a:t>a rights offer or a follow-on offer.</a:t>
            </a:r>
          </a:p>
          <a:p>
            <a:pPr marL="0" indent="-400050" algn="ctr">
              <a:spcBef>
                <a:spcPts val="0"/>
              </a:spcBef>
              <a:buNone/>
            </a:pPr>
            <a:endParaRPr lang="tr-TR" sz="1800" noProof="1">
              <a:latin typeface="Arial Narrow" panose="020B0606020202030204" pitchFamily="34" charset="0"/>
            </a:endParaRPr>
          </a:p>
          <a:p>
            <a:pPr marL="0" indent="-400050" algn="ctr">
              <a:spcBef>
                <a:spcPts val="0"/>
              </a:spcBef>
              <a:buNone/>
            </a:pPr>
            <a:r>
              <a:rPr lang="tr-TR" sz="1800" noProof="1" smtClean="0">
                <a:latin typeface="Arial Narrow" panose="020B0606020202030204" pitchFamily="34" charset="0"/>
              </a:rPr>
              <a:t>If the company sells new shares to existing shareholders</a:t>
            </a:r>
          </a:p>
          <a:p>
            <a:pPr marL="0" indent="-400050" algn="ctr">
              <a:spcBef>
                <a:spcPts val="0"/>
              </a:spcBef>
              <a:buNone/>
            </a:pPr>
            <a:r>
              <a:rPr lang="tr-TR" sz="1800" noProof="1" smtClean="0">
                <a:latin typeface="Arial Narrow" panose="020B0606020202030204" pitchFamily="34" charset="0"/>
              </a:rPr>
              <a:t>who have pre-emptive right to subscribe to new shares,</a:t>
            </a:r>
          </a:p>
          <a:p>
            <a:pPr marL="0" indent="-400050" algn="ctr">
              <a:spcBef>
                <a:spcPts val="0"/>
              </a:spcBef>
              <a:buNone/>
            </a:pPr>
            <a:r>
              <a:rPr lang="tr-TR" sz="1800" noProof="1" smtClean="0">
                <a:latin typeface="Arial Narrow" panose="020B0606020202030204" pitchFamily="34" charset="0"/>
              </a:rPr>
              <a:t>it is called a </a:t>
            </a:r>
            <a:r>
              <a:rPr lang="tr-TR" sz="1800" noProof="1" smtClean="0">
                <a:solidFill>
                  <a:srgbClr val="C00000"/>
                </a:solidFill>
                <a:latin typeface="Arial Narrow" panose="020B0606020202030204" pitchFamily="34" charset="0"/>
              </a:rPr>
              <a:t>rights offer</a:t>
            </a:r>
            <a:r>
              <a:rPr lang="tr-TR" sz="1800" noProof="1" smtClean="0">
                <a:latin typeface="Arial Narrow" panose="020B0606020202030204" pitchFamily="34" charset="0"/>
              </a:rPr>
              <a:t>.</a:t>
            </a:r>
          </a:p>
          <a:p>
            <a:pPr marL="0" indent="-400050" algn="ctr">
              <a:spcBef>
                <a:spcPts val="0"/>
              </a:spcBef>
              <a:buNone/>
            </a:pPr>
            <a:r>
              <a:rPr lang="tr-TR" sz="1600" noProof="1" smtClean="0">
                <a:latin typeface="Arial Narrow" panose="020B0606020202030204" pitchFamily="34" charset="0"/>
              </a:rPr>
              <a:t>This allows the shareholders to maintain their proportional share of the ownership of the company.</a:t>
            </a:r>
          </a:p>
          <a:p>
            <a:pPr marL="0" lvl="1" indent="0" algn="ctr">
              <a:spcBef>
                <a:spcPts val="0"/>
              </a:spcBef>
              <a:buNone/>
            </a:pPr>
            <a:endParaRPr lang="tr-TR" sz="1800" noProof="1">
              <a:latin typeface="Arial Narrow" panose="020B0606020202030204" pitchFamily="34" charset="0"/>
            </a:endParaRPr>
          </a:p>
          <a:p>
            <a:pPr marL="0" indent="-400050" algn="ctr">
              <a:spcBef>
                <a:spcPts val="0"/>
              </a:spcBef>
              <a:buNone/>
            </a:pPr>
            <a:r>
              <a:rPr lang="tr-TR" sz="1800" noProof="1" smtClean="0">
                <a:latin typeface="Arial Narrow" panose="020B0606020202030204" pitchFamily="34" charset="0"/>
              </a:rPr>
              <a:t>Current shareholders may also waive their right to subscribe to new shares.</a:t>
            </a:r>
          </a:p>
          <a:p>
            <a:pPr marL="0" indent="-400050" algn="ctr">
              <a:spcBef>
                <a:spcPts val="0"/>
              </a:spcBef>
              <a:buNone/>
            </a:pPr>
            <a:r>
              <a:rPr lang="tr-TR" sz="1800" noProof="1" smtClean="0">
                <a:latin typeface="Arial Narrow" panose="020B0606020202030204" pitchFamily="34" charset="0"/>
              </a:rPr>
              <a:t>In such a case, the company can raise equity capital</a:t>
            </a:r>
          </a:p>
          <a:p>
            <a:pPr marL="0" indent="-400050" algn="ctr">
              <a:spcBef>
                <a:spcPts val="0"/>
              </a:spcBef>
              <a:buNone/>
            </a:pPr>
            <a:r>
              <a:rPr lang="tr-TR" sz="1800" noProof="1" smtClean="0">
                <a:latin typeface="Arial Narrow" panose="020B0606020202030204" pitchFamily="34" charset="0"/>
              </a:rPr>
              <a:t>by selling new shares to new shareholders for cash; this called </a:t>
            </a:r>
            <a:r>
              <a:rPr lang="tr-TR" sz="1800" noProof="1" smtClean="0">
                <a:solidFill>
                  <a:srgbClr val="C00000"/>
                </a:solidFill>
                <a:latin typeface="Arial Narrow" panose="020B0606020202030204" pitchFamily="34" charset="0"/>
              </a:rPr>
              <a:t>follow-on offer</a:t>
            </a:r>
            <a:r>
              <a:rPr lang="tr-TR" sz="1800" noProof="1" smtClean="0">
                <a:latin typeface="Arial Narrow" panose="020B0606020202030204" pitchFamily="34" charset="0"/>
              </a:rPr>
              <a:t>.</a:t>
            </a:r>
          </a:p>
          <a:p>
            <a:pPr marL="0" indent="-400050" algn="ctr">
              <a:spcBef>
                <a:spcPts val="0"/>
              </a:spcBef>
              <a:buNone/>
            </a:pPr>
            <a:endParaRPr lang="tr-TR" sz="1800" noProof="1">
              <a:latin typeface="Arial Narrow" panose="020B0606020202030204" pitchFamily="34" charset="0"/>
            </a:endParaRPr>
          </a:p>
          <a:p>
            <a:pPr marL="0" indent="-400050" algn="ctr">
              <a:spcBef>
                <a:spcPts val="0"/>
              </a:spcBef>
              <a:buNone/>
            </a:pPr>
            <a:r>
              <a:rPr lang="tr-TR" sz="1600" noProof="1" smtClean="0">
                <a:latin typeface="Arial Narrow" panose="020B0606020202030204" pitchFamily="34" charset="0"/>
              </a:rPr>
              <a:t>Companies can retain more of the profits by paying a smaller dividend;</a:t>
            </a:r>
          </a:p>
          <a:p>
            <a:pPr marL="0" indent="-400050" algn="ctr">
              <a:spcBef>
                <a:spcPts val="0"/>
              </a:spcBef>
              <a:buNone/>
            </a:pPr>
            <a:r>
              <a:rPr lang="tr-TR" sz="1600" noProof="1" smtClean="0">
                <a:latin typeface="Arial Narrow" panose="020B0606020202030204" pitchFamily="34" charset="0"/>
              </a:rPr>
              <a:t>this increases the equity capital of the company without selling additional shares.</a:t>
            </a:r>
          </a:p>
          <a:p>
            <a:pPr marL="0" indent="-400050" algn="ctr">
              <a:spcBef>
                <a:spcPts val="0"/>
              </a:spcBef>
              <a:buNone/>
            </a:pPr>
            <a:r>
              <a:rPr lang="tr-TR" sz="1800" noProof="1" smtClean="0">
                <a:latin typeface="Arial Narrow" panose="020B0606020202030204" pitchFamily="34" charset="0"/>
              </a:rPr>
              <a:t>The company may offer additional shares instead of a cash dividend;</a:t>
            </a:r>
          </a:p>
          <a:p>
            <a:pPr marL="0" indent="-400050" algn="ctr">
              <a:spcBef>
                <a:spcPts val="0"/>
              </a:spcBef>
              <a:buNone/>
            </a:pPr>
            <a:r>
              <a:rPr lang="tr-TR" sz="1800" noProof="1">
                <a:latin typeface="Arial Narrow" panose="020B0606020202030204" pitchFamily="34" charset="0"/>
              </a:rPr>
              <a:t>t</a:t>
            </a:r>
            <a:r>
              <a:rPr lang="tr-TR" sz="1800" noProof="1" smtClean="0">
                <a:latin typeface="Arial Narrow" panose="020B0606020202030204" pitchFamily="34" charset="0"/>
              </a:rPr>
              <a:t>his is known as </a:t>
            </a:r>
            <a:r>
              <a:rPr lang="tr-TR" sz="1800" noProof="1" smtClean="0">
                <a:solidFill>
                  <a:srgbClr val="C00000"/>
                </a:solidFill>
                <a:latin typeface="Arial Narrow" panose="020B0606020202030204" pitchFamily="34" charset="0"/>
              </a:rPr>
              <a:t>stock dividend</a:t>
            </a:r>
            <a:r>
              <a:rPr lang="tr-TR" sz="1800" noProof="1" smtClean="0">
                <a:latin typeface="Arial Narrow" panose="020B0606020202030204" pitchFamily="34" charset="0"/>
              </a:rPr>
              <a:t>.</a:t>
            </a:r>
          </a:p>
        </p:txBody>
      </p:sp>
    </p:spTree>
    <p:extLst>
      <p:ext uri="{BB962C8B-B14F-4D97-AF65-F5344CB8AC3E}">
        <p14:creationId xmlns:p14="http://schemas.microsoft.com/office/powerpoint/2010/main" val="391244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91264" cy="1143000"/>
          </a:xfrm>
          <a:ln w="25400">
            <a:noFill/>
          </a:ln>
        </p:spPr>
        <p:txBody>
          <a:bodyPr>
            <a:noAutofit/>
          </a:bodyPr>
          <a:lstStyle/>
          <a:p>
            <a:r>
              <a:rPr lang="tr-TR" sz="1400" dirty="0">
                <a:latin typeface="Arial Narrow" pitchFamily="34" charset="0"/>
              </a:rPr>
              <a:t>NTE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smtClean="0">
                <a:solidFill>
                  <a:srgbClr val="800000"/>
                </a:solidFill>
                <a:latin typeface="Arial Narrow" pitchFamily="34" charset="0"/>
              </a:rPr>
              <a:t>Financial </a:t>
            </a:r>
            <a:r>
              <a:rPr lang="tr-TR" sz="2000" dirty="0" err="1">
                <a:solidFill>
                  <a:srgbClr val="800000"/>
                </a:solidFill>
                <a:latin typeface="Arial Narrow" pitchFamily="34" charset="0"/>
              </a:rPr>
              <a:t>Securities</a:t>
            </a:r>
            <a:r>
              <a:rPr lang="tr-TR" sz="2800" dirty="0">
                <a:solidFill>
                  <a:srgbClr val="C00000"/>
                </a:solidFill>
                <a:latin typeface="Arial Narrow" pitchFamily="34" charset="0"/>
              </a:rPr>
              <a:t/>
            </a:r>
            <a:br>
              <a:rPr lang="tr-TR" sz="2800" dirty="0">
                <a:solidFill>
                  <a:srgbClr val="C00000"/>
                </a:solidFill>
                <a:latin typeface="Arial Narrow" pitchFamily="34" charset="0"/>
              </a:rPr>
            </a:br>
            <a:r>
              <a:rPr lang="tr-TR" sz="2400" dirty="0" err="1" smtClean="0">
                <a:latin typeface="Arial Narrow" pitchFamily="34" charset="0"/>
              </a:rPr>
              <a:t>Equity</a:t>
            </a:r>
            <a:r>
              <a:rPr lang="tr-TR" sz="2400" dirty="0" smtClean="0">
                <a:latin typeface="Arial Narrow" pitchFamily="34" charset="0"/>
              </a:rPr>
              <a:t> </a:t>
            </a:r>
            <a:r>
              <a:rPr lang="tr-TR" sz="2400" dirty="0" err="1" smtClean="0">
                <a:latin typeface="Arial Narrow" pitchFamily="34" charset="0"/>
              </a:rPr>
              <a:t>Types</a:t>
            </a:r>
            <a:r>
              <a:rPr lang="tr-TR" sz="2400" dirty="0" smtClean="0">
                <a:latin typeface="Arial Narrow" pitchFamily="34" charset="0"/>
              </a:rPr>
              <a:t> </a:t>
            </a:r>
            <a:r>
              <a:rPr lang="tr-TR" sz="2400" dirty="0">
                <a:latin typeface="Arial Narrow" pitchFamily="34" charset="0"/>
              </a:rPr>
              <a:t>– </a:t>
            </a:r>
            <a:r>
              <a:rPr lang="tr-TR" sz="2400" dirty="0" err="1" smtClean="0">
                <a:latin typeface="Arial Narrow" pitchFamily="34" charset="0"/>
              </a:rPr>
              <a:t>Preferred</a:t>
            </a:r>
            <a:r>
              <a:rPr lang="tr-TR" sz="2400" dirty="0" smtClean="0">
                <a:latin typeface="Arial Narrow" pitchFamily="34" charset="0"/>
              </a:rPr>
              <a:t> </a:t>
            </a:r>
            <a:r>
              <a:rPr lang="tr-TR" sz="2400" dirty="0" err="1" smtClean="0">
                <a:latin typeface="Arial Narrow" pitchFamily="34" charset="0"/>
              </a:rPr>
              <a:t>Stock</a:t>
            </a:r>
            <a:endParaRPr lang="tr-TR" sz="2400" dirty="0">
              <a:latin typeface="Arial Narrow" pitchFamily="34" charset="0"/>
            </a:endParaRPr>
          </a:p>
        </p:txBody>
      </p:sp>
      <p:sp>
        <p:nvSpPr>
          <p:cNvPr id="5" name="Content Placeholder 4"/>
          <p:cNvSpPr>
            <a:spLocks noGrp="1"/>
          </p:cNvSpPr>
          <p:nvPr>
            <p:ph idx="1"/>
          </p:nvPr>
        </p:nvSpPr>
        <p:spPr>
          <a:xfrm>
            <a:off x="457200" y="1340768"/>
            <a:ext cx="8291264" cy="5328592"/>
          </a:xfrm>
          <a:ln w="25400">
            <a:noFill/>
          </a:ln>
        </p:spPr>
        <p:txBody>
          <a:bodyPr>
            <a:noAutofit/>
          </a:bodyPr>
          <a:lstStyle/>
          <a:p>
            <a:pPr marL="3143250" lvl="7" indent="-457200">
              <a:spcBef>
                <a:spcPts val="0"/>
              </a:spcBef>
              <a:buFont typeface="+mj-lt"/>
              <a:buAutoNum type="arabicPeriod"/>
            </a:pPr>
            <a:r>
              <a:rPr lang="tr-TR" sz="1600" noProof="1" smtClean="0">
                <a:latin typeface="Arial Narrow" panose="020B0606020202030204" pitchFamily="34" charset="0"/>
              </a:rPr>
              <a:t>Ordinary </a:t>
            </a:r>
            <a:r>
              <a:rPr lang="tr-TR" sz="1600" noProof="1">
                <a:latin typeface="Arial Narrow" panose="020B0606020202030204" pitchFamily="34" charset="0"/>
              </a:rPr>
              <a:t>shares (common stock</a:t>
            </a:r>
            <a:r>
              <a:rPr lang="tr-TR" sz="1600" noProof="1" smtClean="0">
                <a:latin typeface="Arial Narrow" panose="020B0606020202030204" pitchFamily="34" charset="0"/>
              </a:rPr>
              <a:t>)</a:t>
            </a:r>
          </a:p>
          <a:p>
            <a:pPr marL="3143250" lvl="7" indent="-457200">
              <a:spcBef>
                <a:spcPts val="0"/>
              </a:spcBef>
              <a:buFont typeface="+mj-lt"/>
              <a:buAutoNum type="arabicPeriod"/>
            </a:pPr>
            <a:endParaRPr lang="tr-TR" sz="1600" noProof="1">
              <a:latin typeface="Arial Narrow" panose="020B0606020202030204" pitchFamily="34" charset="0"/>
            </a:endParaRPr>
          </a:p>
          <a:p>
            <a:pPr marL="3143250" lvl="7" indent="-457200">
              <a:spcBef>
                <a:spcPts val="0"/>
              </a:spcBef>
              <a:buFont typeface="+mj-lt"/>
              <a:buAutoNum type="arabicPeriod"/>
            </a:pPr>
            <a:r>
              <a:rPr lang="tr-TR" noProof="1">
                <a:latin typeface="Arial Narrow" panose="020B0606020202030204" pitchFamily="34" charset="0"/>
              </a:rPr>
              <a:t>Preferred </a:t>
            </a:r>
            <a:r>
              <a:rPr lang="tr-TR" noProof="1" smtClean="0">
                <a:latin typeface="Arial Narrow" panose="020B0606020202030204" pitchFamily="34" charset="0"/>
              </a:rPr>
              <a:t>stock</a:t>
            </a:r>
            <a:endParaRPr lang="tr-TR" noProof="1">
              <a:latin typeface="Arial Narrow" panose="020B0606020202030204" pitchFamily="34" charset="0"/>
            </a:endParaRPr>
          </a:p>
          <a:p>
            <a:pPr marL="0" indent="-400050" algn="ctr">
              <a:spcBef>
                <a:spcPts val="0"/>
              </a:spcBef>
              <a:buNone/>
            </a:pPr>
            <a:endParaRPr lang="tr-TR" sz="900" noProof="1" smtClean="0">
              <a:latin typeface="Arial Narrow" panose="020B0606020202030204" pitchFamily="34" charset="0"/>
            </a:endParaRPr>
          </a:p>
          <a:p>
            <a:pPr marL="0" indent="-400050" algn="ctr">
              <a:spcBef>
                <a:spcPts val="0"/>
              </a:spcBef>
              <a:buNone/>
            </a:pPr>
            <a:r>
              <a:rPr lang="tr-TR" sz="1800" noProof="1" smtClean="0">
                <a:latin typeface="Arial Narrow" panose="020B0606020202030204" pitchFamily="34" charset="0"/>
              </a:rPr>
              <a:t>Preferred Stock has the characteristics of both equity and debt.</a:t>
            </a:r>
          </a:p>
          <a:p>
            <a:pPr marL="0" indent="-400050" algn="ctr">
              <a:spcBef>
                <a:spcPts val="0"/>
              </a:spcBef>
              <a:buNone/>
            </a:pPr>
            <a:endParaRPr lang="tr-TR" sz="1800" noProof="1" smtClean="0">
              <a:latin typeface="Arial Narrow" panose="020B0606020202030204" pitchFamily="34" charset="0"/>
            </a:endParaRPr>
          </a:p>
          <a:p>
            <a:pPr marL="0" indent="-400050" algn="ctr">
              <a:spcBef>
                <a:spcPts val="0"/>
              </a:spcBef>
              <a:buNone/>
            </a:pPr>
            <a:r>
              <a:rPr lang="tr-TR" sz="1800" noProof="1">
                <a:latin typeface="Arial Narrow" panose="020B0606020202030204" pitchFamily="34" charset="0"/>
              </a:rPr>
              <a:t>D</a:t>
            </a:r>
            <a:r>
              <a:rPr lang="tr-TR" sz="1800" noProof="1" smtClean="0">
                <a:latin typeface="Arial Narrow" panose="020B0606020202030204" pitchFamily="34" charset="0"/>
              </a:rPr>
              <a:t>ividend offered by Preferred Stock is fixed, a percent of the face value of the shares.</a:t>
            </a:r>
          </a:p>
          <a:p>
            <a:pPr marL="0" indent="-400050" algn="ctr">
              <a:spcBef>
                <a:spcPts val="0"/>
              </a:spcBef>
              <a:buNone/>
            </a:pPr>
            <a:r>
              <a:rPr lang="tr-TR" sz="1800" noProof="1" smtClean="0">
                <a:latin typeface="Arial Narrow" panose="020B0606020202030204" pitchFamily="34" charset="0"/>
              </a:rPr>
              <a:t>These payments are similar to the interest payments on debt.</a:t>
            </a:r>
          </a:p>
          <a:p>
            <a:pPr marL="0" indent="-400050" algn="ctr">
              <a:spcBef>
                <a:spcPts val="0"/>
              </a:spcBef>
              <a:buNone/>
            </a:pPr>
            <a:endParaRPr lang="tr-TR" sz="900" noProof="1" smtClean="0">
              <a:latin typeface="Arial Narrow" panose="020B0606020202030204" pitchFamily="34" charset="0"/>
            </a:endParaRPr>
          </a:p>
          <a:p>
            <a:pPr marL="0" indent="-400050" algn="ctr">
              <a:spcBef>
                <a:spcPts val="0"/>
              </a:spcBef>
              <a:buNone/>
            </a:pPr>
            <a:r>
              <a:rPr lang="tr-TR" sz="1800" noProof="1" smtClean="0">
                <a:latin typeface="Arial Narrow" panose="020B0606020202030204" pitchFamily="34" charset="0"/>
              </a:rPr>
              <a:t>However, if there are insufficient funds, no payments are made</a:t>
            </a:r>
          </a:p>
          <a:p>
            <a:pPr marL="0" indent="-400050" algn="ctr">
              <a:spcBef>
                <a:spcPts val="0"/>
              </a:spcBef>
              <a:buNone/>
            </a:pPr>
            <a:r>
              <a:rPr lang="tr-TR" sz="1800" noProof="1" smtClean="0">
                <a:latin typeface="Arial Narrow" panose="020B0606020202030204" pitchFamily="34" charset="0"/>
              </a:rPr>
              <a:t>and this does not throw the company into bancruptcy.</a:t>
            </a:r>
          </a:p>
          <a:p>
            <a:pPr marL="0" indent="-400050" algn="ctr">
              <a:spcBef>
                <a:spcPts val="0"/>
              </a:spcBef>
              <a:buNone/>
            </a:pPr>
            <a:r>
              <a:rPr lang="tr-TR" sz="1800" noProof="1" smtClean="0">
                <a:latin typeface="Arial Narrow" panose="020B0606020202030204" pitchFamily="34" charset="0"/>
              </a:rPr>
              <a:t>Usually, these unpaid dividends accumulate and holders of Preferred Stock are paid in arrears.</a:t>
            </a:r>
          </a:p>
          <a:p>
            <a:pPr marL="0" indent="-400050" algn="ctr">
              <a:spcBef>
                <a:spcPts val="0"/>
              </a:spcBef>
              <a:buNone/>
            </a:pPr>
            <a:endParaRPr lang="tr-TR" sz="1800" noProof="1" smtClean="0">
              <a:latin typeface="Arial Narrow" panose="020B0606020202030204" pitchFamily="34" charset="0"/>
            </a:endParaRPr>
          </a:p>
          <a:p>
            <a:pPr marL="0" indent="-400050" algn="ctr">
              <a:spcBef>
                <a:spcPts val="0"/>
              </a:spcBef>
              <a:buNone/>
            </a:pPr>
            <a:r>
              <a:rPr lang="tr-TR" sz="1800" noProof="1" smtClean="0">
                <a:latin typeface="Arial Narrow" panose="020B0606020202030204" pitchFamily="34" charset="0"/>
              </a:rPr>
              <a:t>Preference shares usually have </a:t>
            </a:r>
            <a:r>
              <a:rPr lang="tr-TR" sz="1800" noProof="1" smtClean="0">
                <a:solidFill>
                  <a:srgbClr val="C00000"/>
                </a:solidFill>
                <a:latin typeface="Arial Narrow" panose="020B0606020202030204" pitchFamily="34" charset="0"/>
              </a:rPr>
              <a:t>no maturity date</a:t>
            </a:r>
            <a:r>
              <a:rPr lang="tr-TR" sz="1800" noProof="1" smtClean="0">
                <a:latin typeface="Arial Narrow" panose="020B0606020202030204" pitchFamily="34" charset="0"/>
              </a:rPr>
              <a:t>.</a:t>
            </a:r>
          </a:p>
          <a:p>
            <a:pPr marL="0" indent="-400050" algn="ctr">
              <a:spcBef>
                <a:spcPts val="0"/>
              </a:spcBef>
              <a:buNone/>
            </a:pPr>
            <a:endParaRPr lang="tr-TR" sz="1800" noProof="1" smtClean="0">
              <a:latin typeface="Arial Narrow" panose="020B0606020202030204" pitchFamily="34" charset="0"/>
            </a:endParaRPr>
          </a:p>
          <a:p>
            <a:pPr marL="0" indent="-400050" algn="ctr">
              <a:spcBef>
                <a:spcPts val="0"/>
              </a:spcBef>
              <a:buNone/>
            </a:pPr>
            <a:r>
              <a:rPr lang="tr-TR" sz="1800" noProof="1" smtClean="0">
                <a:latin typeface="Arial Narrow" panose="020B0606020202030204" pitchFamily="34" charset="0"/>
              </a:rPr>
              <a:t>Unlike debt, the dividend payment to Preferred Stock is </a:t>
            </a:r>
            <a:r>
              <a:rPr lang="tr-TR" sz="1800" noProof="1" smtClean="0">
                <a:solidFill>
                  <a:srgbClr val="C00000"/>
                </a:solidFill>
                <a:latin typeface="Arial Narrow" panose="020B0606020202030204" pitchFamily="34" charset="0"/>
              </a:rPr>
              <a:t>not tax-deductible</a:t>
            </a:r>
            <a:r>
              <a:rPr lang="tr-TR" sz="1800" noProof="1" smtClean="0">
                <a:latin typeface="Arial Narrow" panose="020B0606020202030204" pitchFamily="34" charset="0"/>
              </a:rPr>
              <a:t>.</a:t>
            </a:r>
          </a:p>
          <a:p>
            <a:pPr marL="0" indent="-400050" algn="ctr">
              <a:spcBef>
                <a:spcPts val="0"/>
              </a:spcBef>
              <a:buNone/>
            </a:pPr>
            <a:endParaRPr lang="tr-TR" sz="1800" noProof="1" smtClean="0">
              <a:latin typeface="Arial Narrow" panose="020B0606020202030204" pitchFamily="34" charset="0"/>
            </a:endParaRPr>
          </a:p>
          <a:p>
            <a:pPr marL="0" indent="-400050" algn="ctr">
              <a:spcBef>
                <a:spcPts val="0"/>
              </a:spcBef>
              <a:buNone/>
            </a:pPr>
            <a:r>
              <a:rPr lang="tr-TR" sz="1800" noProof="1" smtClean="0">
                <a:latin typeface="Arial Narrow" panose="020B0606020202030204" pitchFamily="34" charset="0"/>
              </a:rPr>
              <a:t>In case of liquidation of the company,</a:t>
            </a:r>
          </a:p>
          <a:p>
            <a:pPr marL="0" indent="-400050" algn="ctr">
              <a:spcBef>
                <a:spcPts val="0"/>
              </a:spcBef>
              <a:buNone/>
            </a:pPr>
            <a:r>
              <a:rPr lang="tr-TR" sz="1800" noProof="1" smtClean="0">
                <a:latin typeface="Arial Narrow" panose="020B0606020202030204" pitchFamily="34" charset="0"/>
              </a:rPr>
              <a:t>the holders of Preferred Stock have a claim to to the assets</a:t>
            </a:r>
          </a:p>
          <a:p>
            <a:pPr marL="0" indent="-400050" algn="ctr">
              <a:spcBef>
                <a:spcPts val="0"/>
              </a:spcBef>
              <a:buNone/>
            </a:pPr>
            <a:r>
              <a:rPr lang="tr-TR" sz="1800" noProof="1" smtClean="0">
                <a:latin typeface="Arial Narrow" panose="020B0606020202030204" pitchFamily="34" charset="0"/>
              </a:rPr>
              <a:t>prior to that of the ordinary shareholders.</a:t>
            </a:r>
          </a:p>
        </p:txBody>
      </p:sp>
    </p:spTree>
    <p:extLst>
      <p:ext uri="{BB962C8B-B14F-4D97-AF65-F5344CB8AC3E}">
        <p14:creationId xmlns:p14="http://schemas.microsoft.com/office/powerpoint/2010/main" val="29699038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91264" cy="1143000"/>
          </a:xfrm>
          <a:ln w="25400">
            <a:noFill/>
          </a:ln>
        </p:spPr>
        <p:txBody>
          <a:bodyPr>
            <a:noAutofit/>
          </a:bodyPr>
          <a:lstStyle/>
          <a:p>
            <a:r>
              <a:rPr lang="tr-TR" sz="1400" dirty="0">
                <a:latin typeface="Arial Narrow" pitchFamily="34" charset="0"/>
              </a:rPr>
              <a:t>NTE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a:solidFill>
                  <a:srgbClr val="800000"/>
                </a:solidFill>
                <a:latin typeface="Arial Narrow" pitchFamily="34" charset="0"/>
              </a:rPr>
              <a:t>Financial </a:t>
            </a:r>
            <a:r>
              <a:rPr lang="tr-TR" sz="2000" dirty="0" err="1">
                <a:solidFill>
                  <a:srgbClr val="800000"/>
                </a:solidFill>
                <a:latin typeface="Arial Narrow" pitchFamily="34" charset="0"/>
              </a:rPr>
              <a:t>Markets</a:t>
            </a:r>
            <a:r>
              <a:rPr lang="tr-TR" sz="2000" dirty="0">
                <a:solidFill>
                  <a:srgbClr val="800000"/>
                </a:solidFill>
                <a:latin typeface="Arial Narrow" pitchFamily="34" charset="0"/>
              </a:rPr>
              <a:t> (Direct Finance)</a:t>
            </a:r>
            <a:r>
              <a:rPr lang="tr-TR" sz="2000" dirty="0" smtClean="0">
                <a:solidFill>
                  <a:srgbClr val="C00000"/>
                </a:solidFill>
                <a:latin typeface="Arial Narrow" pitchFamily="34" charset="0"/>
              </a:rPr>
              <a:t/>
            </a:r>
            <a:br>
              <a:rPr lang="tr-TR" sz="2000" dirty="0" smtClean="0">
                <a:solidFill>
                  <a:srgbClr val="C00000"/>
                </a:solidFill>
                <a:latin typeface="Arial Narrow" pitchFamily="34" charset="0"/>
              </a:rPr>
            </a:br>
            <a:r>
              <a:rPr lang="tr-TR" sz="2400" dirty="0" smtClean="0">
                <a:latin typeface="Arial Narrow" pitchFamily="34" charset="0"/>
              </a:rPr>
              <a:t>Borsa İstanbul</a:t>
            </a:r>
            <a:endParaRPr lang="tr-TR" sz="2400" dirty="0">
              <a:latin typeface="Arial Narrow" pitchFamily="34" charset="0"/>
            </a:endParaRPr>
          </a:p>
        </p:txBody>
      </p:sp>
      <p:sp>
        <p:nvSpPr>
          <p:cNvPr id="5" name="Content Placeholder 4"/>
          <p:cNvSpPr>
            <a:spLocks noGrp="1"/>
          </p:cNvSpPr>
          <p:nvPr>
            <p:ph idx="1"/>
          </p:nvPr>
        </p:nvSpPr>
        <p:spPr>
          <a:xfrm>
            <a:off x="457200" y="1600200"/>
            <a:ext cx="8291264" cy="4525963"/>
          </a:xfrm>
          <a:ln w="25400">
            <a:noFill/>
          </a:ln>
        </p:spPr>
        <p:txBody>
          <a:bodyPr>
            <a:noAutofit/>
          </a:bodyPr>
          <a:lstStyle/>
          <a:p>
            <a:pPr marL="400050" lvl="2" indent="0" algn="ctr">
              <a:spcBef>
                <a:spcPts val="0"/>
              </a:spcBef>
              <a:buNone/>
            </a:pPr>
            <a:endParaRPr lang="tr-TR" sz="2000" noProof="1" smtClean="0">
              <a:latin typeface="Arial Narrow" panose="020B0606020202030204" pitchFamily="34" charset="0"/>
            </a:endParaRPr>
          </a:p>
          <a:p>
            <a:pPr marL="400050" lvl="2" indent="0" algn="ctr">
              <a:spcBef>
                <a:spcPts val="0"/>
              </a:spcBef>
              <a:buNone/>
            </a:pPr>
            <a:r>
              <a:rPr lang="tr-TR" sz="2000" noProof="1" smtClean="0">
                <a:latin typeface="Arial Narrow" panose="020B0606020202030204" pitchFamily="34" charset="0"/>
              </a:rPr>
              <a:t>Established as İstanbul Menkul Kıymetler Borsası (İMKB)</a:t>
            </a:r>
          </a:p>
          <a:p>
            <a:pPr marL="400050" lvl="2" indent="0" algn="ctr">
              <a:spcBef>
                <a:spcPts val="0"/>
              </a:spcBef>
              <a:buNone/>
            </a:pPr>
            <a:r>
              <a:rPr lang="tr-TR" sz="2000" noProof="1" smtClean="0">
                <a:latin typeface="Arial Narrow" panose="020B0606020202030204" pitchFamily="34" charset="0"/>
              </a:rPr>
              <a:t>at the end of 1985.</a:t>
            </a:r>
          </a:p>
          <a:p>
            <a:pPr marL="400050" lvl="2" indent="0" algn="ctr">
              <a:spcBef>
                <a:spcPts val="0"/>
              </a:spcBef>
              <a:buNone/>
            </a:pPr>
            <a:endParaRPr lang="tr-TR" sz="2000" noProof="1">
              <a:latin typeface="Arial Narrow" panose="020B0606020202030204" pitchFamily="34" charset="0"/>
            </a:endParaRPr>
          </a:p>
          <a:p>
            <a:pPr marL="400050" lvl="2" indent="0" algn="ctr">
              <a:spcBef>
                <a:spcPts val="0"/>
              </a:spcBef>
              <a:buNone/>
            </a:pPr>
            <a:r>
              <a:rPr lang="tr-TR" sz="2000" noProof="1" smtClean="0">
                <a:latin typeface="Arial Narrow" panose="020B0606020202030204" pitchFamily="34" charset="0"/>
              </a:rPr>
              <a:t>Converted to Borsa İstanbul A.Ş. at the end of 2012.</a:t>
            </a:r>
          </a:p>
          <a:p>
            <a:pPr marL="400050" lvl="2" indent="0" algn="ctr">
              <a:spcBef>
                <a:spcPts val="0"/>
              </a:spcBef>
              <a:buNone/>
            </a:pPr>
            <a:endParaRPr lang="tr-TR" sz="1600" noProof="1" smtClean="0">
              <a:latin typeface="Arial Narrow" panose="020B0606020202030204" pitchFamily="34" charset="0"/>
            </a:endParaRPr>
          </a:p>
        </p:txBody>
      </p:sp>
    </p:spTree>
    <p:extLst>
      <p:ext uri="{BB962C8B-B14F-4D97-AF65-F5344CB8AC3E}">
        <p14:creationId xmlns:p14="http://schemas.microsoft.com/office/powerpoint/2010/main" val="4917695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3752"/>
            <a:ext cx="8229600" cy="782960"/>
          </a:xfrm>
          <a:ln w="25400">
            <a:noFill/>
          </a:ln>
        </p:spPr>
        <p:txBody>
          <a:bodyPr>
            <a:noAutofit/>
          </a:bodyPr>
          <a:lstStyle/>
          <a:p>
            <a:pPr algn="l"/>
            <a:r>
              <a:rPr lang="tr-TR" sz="1400" dirty="0">
                <a:latin typeface="Arial Narrow" pitchFamily="34" charset="0"/>
              </a:rPr>
              <a:t>NTE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err="1" smtClean="0">
                <a:solidFill>
                  <a:srgbClr val="800000"/>
                </a:solidFill>
                <a:latin typeface="Arial Narrow" pitchFamily="34" charset="0"/>
              </a:rPr>
              <a:t>Stock</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in </a:t>
            </a:r>
            <a:r>
              <a:rPr lang="tr-TR" sz="2400" dirty="0" err="1" smtClean="0">
                <a:solidFill>
                  <a:srgbClr val="800000"/>
                </a:solidFill>
                <a:latin typeface="Arial Narrow" pitchFamily="34" charset="0"/>
              </a:rPr>
              <a:t>the</a:t>
            </a:r>
            <a:r>
              <a:rPr lang="tr-TR" sz="2400" dirty="0" smtClean="0">
                <a:solidFill>
                  <a:srgbClr val="800000"/>
                </a:solidFill>
                <a:latin typeface="Arial Narrow" pitchFamily="34" charset="0"/>
              </a:rPr>
              <a:t> World</a:t>
            </a:r>
            <a:endParaRPr lang="tr-TR" sz="2800" dirty="0">
              <a:latin typeface="Arial Narrow" pitchFamily="34" charset="0"/>
            </a:endParaRPr>
          </a:p>
        </p:txBody>
      </p:sp>
      <p:sp>
        <p:nvSpPr>
          <p:cNvPr id="5" name="Content Placeholder 4"/>
          <p:cNvSpPr>
            <a:spLocks noGrp="1"/>
          </p:cNvSpPr>
          <p:nvPr>
            <p:ph idx="1"/>
          </p:nvPr>
        </p:nvSpPr>
        <p:spPr>
          <a:xfrm>
            <a:off x="457200" y="836712"/>
            <a:ext cx="8229600" cy="5760640"/>
          </a:xfrm>
          <a:ln w="25400">
            <a:noFill/>
          </a:ln>
        </p:spPr>
        <p:txBody>
          <a:bodyPr>
            <a:noAutofit/>
          </a:bodyPr>
          <a:lstStyle/>
          <a:p>
            <a:pPr marL="0" indent="0" fontAlgn="base">
              <a:spcBef>
                <a:spcPts val="0"/>
              </a:spcBef>
              <a:buNone/>
            </a:pPr>
            <a:r>
              <a:rPr lang="en-US" sz="1500" dirty="0">
                <a:solidFill>
                  <a:srgbClr val="800000"/>
                </a:solidFill>
                <a:latin typeface="Arial Narrow" panose="020B0606020202030204" pitchFamily="34" charset="0"/>
              </a:rPr>
              <a:t>1- New York Stock Exchange, United States: </a:t>
            </a:r>
            <a:r>
              <a:rPr lang="en-US" sz="1500" dirty="0">
                <a:latin typeface="Arial Narrow" panose="020B0606020202030204" pitchFamily="34" charset="0"/>
              </a:rPr>
              <a:t>Founded in 1792, the New York Stock Exchange has been the world’s largest stock exchange since the end of World War I, when it overtook the London Stock Exchange. It has a market capitalization of $22.9 trillion and about 2,400 listed companies. </a:t>
            </a:r>
          </a:p>
          <a:p>
            <a:pPr marL="0" indent="0" fontAlgn="base">
              <a:spcBef>
                <a:spcPts val="0"/>
              </a:spcBef>
              <a:buNone/>
            </a:pPr>
            <a:r>
              <a:rPr lang="en-US" sz="1500" dirty="0">
                <a:solidFill>
                  <a:srgbClr val="800000"/>
                </a:solidFill>
                <a:latin typeface="Arial Narrow" panose="020B0606020202030204" pitchFamily="34" charset="0"/>
              </a:rPr>
              <a:t>2- NASDAQ, United States: </a:t>
            </a:r>
            <a:r>
              <a:rPr lang="en-US" sz="1500" dirty="0">
                <a:latin typeface="Arial Narrow" panose="020B0606020202030204" pitchFamily="34" charset="0"/>
              </a:rPr>
              <a:t>The NASDAQ Stock Market was founded in 1971 in New York City. NASDAQ had a market capitalization of $10.8 trillion with an average monthly trading volume of $1.26 trillion.</a:t>
            </a:r>
          </a:p>
          <a:p>
            <a:pPr marL="0" indent="0" fontAlgn="base">
              <a:spcBef>
                <a:spcPts val="0"/>
              </a:spcBef>
              <a:buNone/>
            </a:pPr>
            <a:r>
              <a:rPr lang="en-US" sz="1500" dirty="0">
                <a:solidFill>
                  <a:srgbClr val="800000"/>
                </a:solidFill>
                <a:latin typeface="Arial Narrow" panose="020B0606020202030204" pitchFamily="34" charset="0"/>
              </a:rPr>
              <a:t>3- Tokyo Stock Exchange, Japan: </a:t>
            </a:r>
            <a:r>
              <a:rPr lang="en-US" sz="1500" dirty="0">
                <a:latin typeface="Arial Narrow" panose="020B0606020202030204" pitchFamily="34" charset="0"/>
              </a:rPr>
              <a:t>Founded in 1878, the Tokyo Stock Exchange has close to 2,300 listed companies with a combined market capitalization of $5.67 trillion. </a:t>
            </a:r>
          </a:p>
          <a:p>
            <a:pPr marL="0" indent="0" fontAlgn="base">
              <a:spcBef>
                <a:spcPts val="0"/>
              </a:spcBef>
              <a:buNone/>
            </a:pPr>
            <a:r>
              <a:rPr lang="en-US" sz="1500" dirty="0">
                <a:solidFill>
                  <a:srgbClr val="800000"/>
                </a:solidFill>
                <a:latin typeface="Arial Narrow" panose="020B0606020202030204" pitchFamily="34" charset="0"/>
              </a:rPr>
              <a:t>4- Shanghai Stock Exchange, China: </a:t>
            </a:r>
            <a:r>
              <a:rPr lang="en-US" sz="1500" dirty="0">
                <a:latin typeface="Arial Narrow" panose="020B0606020202030204" pitchFamily="34" charset="0"/>
              </a:rPr>
              <a:t>It has a market capitalization of $4.02 trillion. It has more than 1,000 listed companies. Though its origins date back to 1866, it was suspended following the Chinese Revolution in 1949. The Shanghai Exchange in its modern avatar was founded in 1990. </a:t>
            </a:r>
          </a:p>
          <a:p>
            <a:pPr marL="0" indent="0" fontAlgn="base">
              <a:spcBef>
                <a:spcPts val="0"/>
              </a:spcBef>
              <a:buNone/>
            </a:pPr>
            <a:r>
              <a:rPr lang="en-US" sz="1500" dirty="0">
                <a:solidFill>
                  <a:srgbClr val="800000"/>
                </a:solidFill>
                <a:latin typeface="Arial Narrow" panose="020B0606020202030204" pitchFamily="34" charset="0"/>
              </a:rPr>
              <a:t>5- Hong Kong Stock Exchange, Hong Kong: </a:t>
            </a:r>
            <a:r>
              <a:rPr lang="en-US" sz="1500" dirty="0">
                <a:latin typeface="Arial Narrow" panose="020B0606020202030204" pitchFamily="34" charset="0"/>
              </a:rPr>
              <a:t>The Hong Kong Stock Exchange was founded in 1891. It has close to 2,000 listed companies, about half of which are from mainland China. It has a market capitalization of $3.93 trillion. </a:t>
            </a:r>
          </a:p>
          <a:p>
            <a:pPr marL="0" indent="0" fontAlgn="base">
              <a:spcBef>
                <a:spcPts val="0"/>
              </a:spcBef>
              <a:buNone/>
            </a:pPr>
            <a:r>
              <a:rPr lang="en-US" sz="1500" dirty="0">
                <a:solidFill>
                  <a:srgbClr val="800000"/>
                </a:solidFill>
                <a:latin typeface="Arial Narrow" panose="020B0606020202030204" pitchFamily="34" charset="0"/>
              </a:rPr>
              <a:t>6- Euronext, Eurozone: </a:t>
            </a:r>
            <a:r>
              <a:rPr lang="en-US" sz="1500" dirty="0">
                <a:latin typeface="Arial Narrow" panose="020B0606020202030204" pitchFamily="34" charset="0"/>
              </a:rPr>
              <a:t>Headquartered in Amsterdam, the Netherlands, Euronext is a pan-European stock exchange with a presence in France, Belgium, Ireland, and Portugal. It has approximately 1,300 listed companies with a combined market capitalization of $3.92 trillion. </a:t>
            </a:r>
          </a:p>
          <a:p>
            <a:pPr marL="0" indent="0" fontAlgn="base">
              <a:spcBef>
                <a:spcPts val="0"/>
              </a:spcBef>
              <a:buNone/>
            </a:pPr>
            <a:r>
              <a:rPr lang="en-US" sz="1500" dirty="0">
                <a:solidFill>
                  <a:srgbClr val="800000"/>
                </a:solidFill>
                <a:latin typeface="Arial Narrow" panose="020B0606020202030204" pitchFamily="34" charset="0"/>
              </a:rPr>
              <a:t>7- London Stock Exchange, United Kingdom: </a:t>
            </a:r>
            <a:r>
              <a:rPr lang="en-US" sz="1500" dirty="0">
                <a:latin typeface="Arial Narrow" panose="020B0606020202030204" pitchFamily="34" charset="0"/>
              </a:rPr>
              <a:t>The London Stock Exchange was founded in 1698. It has more than 3,000 listed companies with a combined market capitalization of $3.76 trillion. </a:t>
            </a:r>
          </a:p>
          <a:p>
            <a:pPr marL="0" indent="0" fontAlgn="base">
              <a:spcBef>
                <a:spcPts val="0"/>
              </a:spcBef>
              <a:buNone/>
            </a:pPr>
            <a:r>
              <a:rPr lang="en-US" sz="1500" dirty="0">
                <a:solidFill>
                  <a:srgbClr val="800000"/>
                </a:solidFill>
                <a:latin typeface="Arial Narrow" panose="020B0606020202030204" pitchFamily="34" charset="0"/>
              </a:rPr>
              <a:t>8- Shenzhen Stock Exchange, China: </a:t>
            </a:r>
            <a:r>
              <a:rPr lang="en-US" sz="1500" dirty="0">
                <a:latin typeface="Arial Narrow" panose="020B0606020202030204" pitchFamily="34" charset="0"/>
              </a:rPr>
              <a:t>Formally established in 1990, the Shenzhen Stock Exchange has a market capitalization of $2.5 trillion as of November 2018. </a:t>
            </a:r>
          </a:p>
          <a:p>
            <a:pPr marL="0" indent="0" fontAlgn="base">
              <a:spcBef>
                <a:spcPts val="0"/>
              </a:spcBef>
              <a:buNone/>
            </a:pPr>
            <a:r>
              <a:rPr lang="en-US" sz="1500" dirty="0">
                <a:solidFill>
                  <a:srgbClr val="800000"/>
                </a:solidFill>
                <a:latin typeface="Arial Narrow" panose="020B0606020202030204" pitchFamily="34" charset="0"/>
              </a:rPr>
              <a:t>9- Toronto Stock Exchange, Canada: </a:t>
            </a:r>
            <a:r>
              <a:rPr lang="en-US" sz="1500" dirty="0">
                <a:latin typeface="Arial Narrow" panose="020B0606020202030204" pitchFamily="34" charset="0"/>
              </a:rPr>
              <a:t>Toronto Stock Exchange (TSX) has 2,207 listed companies with a combined market capitalization of $2.1 trillion.</a:t>
            </a:r>
          </a:p>
          <a:p>
            <a:pPr marL="0" indent="0" fontAlgn="base">
              <a:spcBef>
                <a:spcPts val="0"/>
              </a:spcBef>
              <a:buNone/>
            </a:pPr>
            <a:r>
              <a:rPr lang="en-US" sz="1500" dirty="0">
                <a:solidFill>
                  <a:srgbClr val="800000"/>
                </a:solidFill>
                <a:latin typeface="Arial Narrow" panose="020B0606020202030204" pitchFamily="34" charset="0"/>
              </a:rPr>
              <a:t>10- Bombay Stock Exchange, India: </a:t>
            </a:r>
            <a:r>
              <a:rPr lang="en-US" sz="1500" dirty="0">
                <a:latin typeface="Arial Narrow" panose="020B0606020202030204" pitchFamily="34" charset="0"/>
              </a:rPr>
              <a:t>Founded in 1875, the Bombay Stock Exchange was the first stock exchange in Asia. As of November 2018, it had a market capitalization of $2.05 trillion. BSE has 5,749 listed companies</a:t>
            </a:r>
            <a:r>
              <a:rPr lang="en-US" sz="1500" dirty="0" smtClean="0">
                <a:latin typeface="Arial Narrow" panose="020B0606020202030204" pitchFamily="34" charset="0"/>
              </a:rPr>
              <a:t>.</a:t>
            </a:r>
            <a:endParaRPr lang="en-US" sz="1500" dirty="0">
              <a:latin typeface="Arial Narrow" panose="020B0606020202030204" pitchFamily="34" charset="0"/>
            </a:endParaRPr>
          </a:p>
          <a:p>
            <a:pPr marL="0" indent="0" fontAlgn="base">
              <a:spcBef>
                <a:spcPts val="0"/>
              </a:spcBef>
              <a:buNone/>
            </a:pPr>
            <a:endParaRPr lang="tr-TR" sz="800" dirty="0" smtClean="0">
              <a:solidFill>
                <a:srgbClr val="800000"/>
              </a:solidFill>
              <a:latin typeface="Arial Narrow" panose="020B0606020202030204" pitchFamily="34" charset="0"/>
            </a:endParaRPr>
          </a:p>
          <a:p>
            <a:pPr marL="0" indent="0" fontAlgn="base">
              <a:spcBef>
                <a:spcPts val="0"/>
              </a:spcBef>
              <a:buNone/>
            </a:pPr>
            <a:r>
              <a:rPr lang="en-US" sz="1500" dirty="0" smtClean="0">
                <a:solidFill>
                  <a:srgbClr val="800000"/>
                </a:solidFill>
                <a:latin typeface="Arial Narrow" panose="020B0606020202030204" pitchFamily="34" charset="0"/>
              </a:rPr>
              <a:t>Istanbul</a:t>
            </a:r>
            <a:r>
              <a:rPr lang="en-US" sz="1500" dirty="0">
                <a:solidFill>
                  <a:srgbClr val="800000"/>
                </a:solidFill>
                <a:latin typeface="Arial Narrow" panose="020B0606020202030204" pitchFamily="34" charset="0"/>
              </a:rPr>
              <a:t> Stock Exchange </a:t>
            </a:r>
            <a:r>
              <a:rPr lang="en-US" sz="1500" dirty="0">
                <a:latin typeface="Arial Narrow" panose="020B0606020202030204" pitchFamily="34" charset="0"/>
              </a:rPr>
              <a:t>as a Market Capitalization of $163.58 Billion.</a:t>
            </a:r>
          </a:p>
        </p:txBody>
      </p:sp>
    </p:spTree>
    <p:extLst>
      <p:ext uri="{BB962C8B-B14F-4D97-AF65-F5344CB8AC3E}">
        <p14:creationId xmlns:p14="http://schemas.microsoft.com/office/powerpoint/2010/main" val="33434836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3752"/>
            <a:ext cx="1162472" cy="3303240"/>
          </a:xfrm>
          <a:ln w="25400">
            <a:noFill/>
          </a:ln>
        </p:spPr>
        <p:txBody>
          <a:bodyPr>
            <a:noAutofit/>
          </a:bodyPr>
          <a:lstStyle/>
          <a:p>
            <a:pPr algn="l"/>
            <a:r>
              <a:rPr lang="tr-TR" sz="1400" dirty="0">
                <a:latin typeface="Arial Narrow" pitchFamily="34" charset="0"/>
              </a:rPr>
              <a:t>NTE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err="1" smtClean="0">
                <a:solidFill>
                  <a:srgbClr val="800000"/>
                </a:solidFill>
                <a:latin typeface="Arial Narrow" pitchFamily="34" charset="0"/>
              </a:rPr>
              <a:t>Stock</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in </a:t>
            </a:r>
            <a:r>
              <a:rPr lang="tr-TR" sz="2400" dirty="0" err="1" smtClean="0">
                <a:solidFill>
                  <a:srgbClr val="800000"/>
                </a:solidFill>
                <a:latin typeface="Arial Narrow" pitchFamily="34" charset="0"/>
              </a:rPr>
              <a:t>the</a:t>
            </a:r>
            <a:r>
              <a:rPr lang="tr-TR" sz="2400" dirty="0" smtClean="0">
                <a:solidFill>
                  <a:srgbClr val="800000"/>
                </a:solidFill>
                <a:latin typeface="Arial Narrow" pitchFamily="34" charset="0"/>
              </a:rPr>
              <a:t> World</a:t>
            </a:r>
            <a:endParaRPr lang="tr-TR" sz="2800" dirty="0">
              <a:latin typeface="Arial Narrow" pitchFamily="34" charset="0"/>
            </a:endParaRPr>
          </a:p>
        </p:txBody>
      </p:sp>
      <p:sp>
        <p:nvSpPr>
          <p:cNvPr id="5" name="Content Placeholder 4"/>
          <p:cNvSpPr>
            <a:spLocks noGrp="1"/>
          </p:cNvSpPr>
          <p:nvPr>
            <p:ph idx="1"/>
          </p:nvPr>
        </p:nvSpPr>
        <p:spPr>
          <a:xfrm>
            <a:off x="457200" y="836712"/>
            <a:ext cx="8229600" cy="5760640"/>
          </a:xfrm>
          <a:ln w="25400">
            <a:noFill/>
          </a:ln>
        </p:spPr>
        <p:txBody>
          <a:bodyPr>
            <a:noAutofit/>
          </a:bodyPr>
          <a:lstStyle/>
          <a:p>
            <a:pPr marL="0" indent="0" fontAlgn="base">
              <a:spcBef>
                <a:spcPts val="0"/>
              </a:spcBef>
              <a:buNone/>
            </a:pPr>
            <a:r>
              <a:rPr lang="tr-TR" sz="1500" dirty="0" smtClean="0">
                <a:solidFill>
                  <a:srgbClr val="800000"/>
                </a:solidFill>
                <a:latin typeface="Arial Narrow" panose="020B0606020202030204" pitchFamily="34" charset="0"/>
              </a:rPr>
              <a:t> </a:t>
            </a:r>
            <a:endParaRPr lang="en-US" sz="1500" dirty="0">
              <a:latin typeface="Arial Narrow" panose="020B0606020202030204" pitchFamily="34" charset="0"/>
            </a:endParaRPr>
          </a:p>
        </p:txBody>
      </p:sp>
      <p:pic>
        <p:nvPicPr>
          <p:cNvPr id="3" name="Resim 2"/>
          <p:cNvPicPr>
            <a:picLocks noChangeAspect="1"/>
          </p:cNvPicPr>
          <p:nvPr/>
        </p:nvPicPr>
        <p:blipFill>
          <a:blip r:embed="rId3"/>
          <a:stretch>
            <a:fillRect/>
          </a:stretch>
        </p:blipFill>
        <p:spPr>
          <a:xfrm>
            <a:off x="1758321" y="188640"/>
            <a:ext cx="7206167" cy="6408712"/>
          </a:xfrm>
          <a:prstGeom prst="rect">
            <a:avLst/>
          </a:prstGeom>
        </p:spPr>
      </p:pic>
    </p:spTree>
    <p:extLst>
      <p:ext uri="{BB962C8B-B14F-4D97-AF65-F5344CB8AC3E}">
        <p14:creationId xmlns:p14="http://schemas.microsoft.com/office/powerpoint/2010/main" val="144571935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91264" cy="1143000"/>
          </a:xfrm>
          <a:ln w="25400">
            <a:noFill/>
          </a:ln>
        </p:spPr>
        <p:txBody>
          <a:bodyPr>
            <a:noAutofit/>
          </a:bodyPr>
          <a:lstStyle/>
          <a:p>
            <a:r>
              <a:rPr lang="tr-TR" sz="1400" dirty="0">
                <a:latin typeface="Arial Narrow" pitchFamily="34" charset="0"/>
              </a:rPr>
              <a:t>NTE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a:solidFill>
                  <a:srgbClr val="800000"/>
                </a:solidFill>
                <a:latin typeface="Arial Narrow" pitchFamily="34" charset="0"/>
              </a:rPr>
              <a:t>Borsa İstanbul</a:t>
            </a:r>
            <a:r>
              <a:rPr lang="tr-TR" sz="2800" dirty="0" smtClean="0">
                <a:solidFill>
                  <a:srgbClr val="C00000"/>
                </a:solidFill>
                <a:latin typeface="Arial Narrow" pitchFamily="34" charset="0"/>
              </a:rPr>
              <a:t/>
            </a:r>
            <a:br>
              <a:rPr lang="tr-TR" sz="2800" dirty="0" smtClean="0">
                <a:solidFill>
                  <a:srgbClr val="C00000"/>
                </a:solidFill>
                <a:latin typeface="Arial Narrow" pitchFamily="34" charset="0"/>
              </a:rPr>
            </a:br>
            <a:r>
              <a:rPr lang="tr-TR" sz="2400" dirty="0" err="1">
                <a:latin typeface="Arial Narrow" pitchFamily="34" charset="0"/>
              </a:rPr>
              <a:t>Debt</a:t>
            </a:r>
            <a:r>
              <a:rPr lang="tr-TR" sz="2400" dirty="0">
                <a:latin typeface="Arial Narrow" pitchFamily="34" charset="0"/>
              </a:rPr>
              <a:t> </a:t>
            </a:r>
            <a:r>
              <a:rPr lang="tr-TR" sz="2400" dirty="0" err="1" smtClean="0">
                <a:latin typeface="Arial Narrow" pitchFamily="34" charset="0"/>
              </a:rPr>
              <a:t>Securities</a:t>
            </a:r>
            <a:r>
              <a:rPr lang="tr-TR" sz="2400" dirty="0" smtClean="0">
                <a:latin typeface="Arial Narrow" pitchFamily="34" charset="0"/>
              </a:rPr>
              <a:t> Market</a:t>
            </a:r>
            <a:endParaRPr lang="tr-TR" sz="2400" dirty="0">
              <a:latin typeface="Arial Narrow" pitchFamily="34" charset="0"/>
            </a:endParaRPr>
          </a:p>
        </p:txBody>
      </p:sp>
      <p:sp>
        <p:nvSpPr>
          <p:cNvPr id="5" name="Content Placeholder 4"/>
          <p:cNvSpPr>
            <a:spLocks noGrp="1"/>
          </p:cNvSpPr>
          <p:nvPr>
            <p:ph idx="1"/>
          </p:nvPr>
        </p:nvSpPr>
        <p:spPr>
          <a:xfrm>
            <a:off x="457200" y="1600200"/>
            <a:ext cx="8291264" cy="4525963"/>
          </a:xfrm>
          <a:ln w="25400">
            <a:noFill/>
          </a:ln>
        </p:spPr>
        <p:txBody>
          <a:bodyPr>
            <a:noAutofit/>
          </a:bodyPr>
          <a:lstStyle/>
          <a:p>
            <a:pPr marL="0" lvl="1" indent="0" algn="ctr">
              <a:spcBef>
                <a:spcPts val="0"/>
              </a:spcBef>
              <a:buNone/>
            </a:pPr>
            <a:r>
              <a:rPr lang="tr-TR" sz="1800" noProof="1" smtClean="0">
                <a:latin typeface="Arial Narrow" panose="020B0606020202030204" pitchFamily="34" charset="0"/>
              </a:rPr>
              <a:t>Debt securities, securitized asset and income backed debt securities, lease certificates,</a:t>
            </a:r>
          </a:p>
          <a:p>
            <a:pPr marL="0" lvl="1" indent="0" algn="ctr">
              <a:spcBef>
                <a:spcPts val="0"/>
              </a:spcBef>
              <a:buNone/>
            </a:pPr>
            <a:r>
              <a:rPr lang="tr-TR" sz="1800" noProof="1" smtClean="0">
                <a:latin typeface="Arial Narrow" panose="020B0606020202030204" pitchFamily="34" charset="0"/>
              </a:rPr>
              <a:t>liquidity bills issued by the Central Bank of Turkey are traded.</a:t>
            </a:r>
          </a:p>
          <a:p>
            <a:pPr marL="0" lvl="1" indent="0" algn="ctr">
              <a:spcBef>
                <a:spcPts val="0"/>
              </a:spcBef>
              <a:buNone/>
            </a:pPr>
            <a:endParaRPr lang="tr-TR" sz="9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Trading is conducted electronically via the automated multiple price-continous auction system.</a:t>
            </a:r>
          </a:p>
          <a:p>
            <a:pPr marL="0" lvl="1" indent="0" algn="ctr">
              <a:spcBef>
                <a:spcPts val="0"/>
              </a:spcBef>
              <a:buNone/>
            </a:pPr>
            <a:endParaRPr lang="tr-TR" sz="9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Settlement operations are realized by İstanbul Settlement and Custody Bank Inc. (Takasbank).</a:t>
            </a:r>
            <a:endParaRPr lang="tr-TR" sz="1800" noProof="1">
              <a:latin typeface="Arial Narrow" panose="020B0606020202030204" pitchFamily="34" charset="0"/>
            </a:endParaRPr>
          </a:p>
          <a:p>
            <a:pPr marL="0" lvl="1" indent="0">
              <a:spcBef>
                <a:spcPts val="0"/>
              </a:spcBef>
              <a:buNone/>
            </a:pPr>
            <a:endParaRPr lang="tr-TR" sz="900" noProof="1" smtClean="0">
              <a:latin typeface="Arial Narrow" panose="020B0606020202030204" pitchFamily="34" charset="0"/>
            </a:endParaRPr>
          </a:p>
          <a:p>
            <a:pPr marL="0" lvl="1" indent="0">
              <a:spcBef>
                <a:spcPts val="0"/>
              </a:spcBef>
              <a:buNone/>
            </a:pPr>
            <a:r>
              <a:rPr lang="tr-TR" sz="1800" noProof="1" smtClean="0">
                <a:latin typeface="Arial Narrow" panose="020B0606020202030204" pitchFamily="34" charset="0"/>
              </a:rPr>
              <a:t>Sub-markets are:</a:t>
            </a:r>
          </a:p>
          <a:p>
            <a:pPr marL="400050" lvl="2" indent="0">
              <a:spcBef>
                <a:spcPts val="0"/>
              </a:spcBef>
              <a:buNone/>
            </a:pPr>
            <a:endParaRPr lang="tr-TR" sz="900" noProof="1" smtClean="0">
              <a:latin typeface="Arial Narrow" panose="020B0606020202030204" pitchFamily="34" charset="0"/>
            </a:endParaRPr>
          </a:p>
          <a:p>
            <a:pPr marL="742950" lvl="2" indent="-342900">
              <a:spcBef>
                <a:spcPts val="0"/>
              </a:spcBef>
            </a:pPr>
            <a:r>
              <a:rPr lang="tr-TR" sz="1800" noProof="1" smtClean="0">
                <a:solidFill>
                  <a:srgbClr val="000066"/>
                </a:solidFill>
                <a:latin typeface="Arial Narrow" panose="020B0606020202030204" pitchFamily="34" charset="0"/>
              </a:rPr>
              <a:t>Outright Purchases and Sales Market </a:t>
            </a:r>
            <a:r>
              <a:rPr lang="tr-TR" sz="1800" noProof="1" smtClean="0">
                <a:latin typeface="Arial Narrow" panose="020B0606020202030204" pitchFamily="34" charset="0"/>
              </a:rPr>
              <a:t>of fixed income securities</a:t>
            </a:r>
          </a:p>
          <a:p>
            <a:pPr marL="742950" lvl="2" indent="-342900">
              <a:spcBef>
                <a:spcPts val="0"/>
              </a:spcBef>
            </a:pPr>
            <a:r>
              <a:rPr lang="tr-TR" sz="1800" noProof="1" smtClean="0">
                <a:solidFill>
                  <a:srgbClr val="000066"/>
                </a:solidFill>
                <a:latin typeface="Arial Narrow" panose="020B0606020202030204" pitchFamily="34" charset="0"/>
              </a:rPr>
              <a:t>Repo – Reverse Repo Market </a:t>
            </a:r>
            <a:r>
              <a:rPr lang="tr-TR" sz="1800" noProof="1" smtClean="0">
                <a:latin typeface="Arial Narrow" panose="020B0606020202030204" pitchFamily="34" charset="0"/>
              </a:rPr>
              <a:t>of fixed income securities</a:t>
            </a:r>
          </a:p>
          <a:p>
            <a:pPr marL="742950" lvl="2" indent="-342900">
              <a:spcBef>
                <a:spcPts val="0"/>
              </a:spcBef>
            </a:pPr>
            <a:r>
              <a:rPr lang="tr-TR" sz="1800" noProof="1" smtClean="0">
                <a:solidFill>
                  <a:srgbClr val="000066"/>
                </a:solidFill>
                <a:latin typeface="Arial Narrow" panose="020B0606020202030204" pitchFamily="34" charset="0"/>
              </a:rPr>
              <a:t>Interbank </a:t>
            </a:r>
            <a:r>
              <a:rPr lang="tr-TR" sz="1800" noProof="1">
                <a:solidFill>
                  <a:srgbClr val="000066"/>
                </a:solidFill>
                <a:latin typeface="Arial Narrow" panose="020B0606020202030204" pitchFamily="34" charset="0"/>
              </a:rPr>
              <a:t>Repo – Reverse Repo Market </a:t>
            </a:r>
            <a:r>
              <a:rPr lang="tr-TR" sz="1800" noProof="1">
                <a:latin typeface="Arial Narrow" panose="020B0606020202030204" pitchFamily="34" charset="0"/>
              </a:rPr>
              <a:t>of fixed income </a:t>
            </a:r>
            <a:r>
              <a:rPr lang="tr-TR" sz="1800" noProof="1" smtClean="0">
                <a:latin typeface="Arial Narrow" panose="020B0606020202030204" pitchFamily="34" charset="0"/>
              </a:rPr>
              <a:t>securities</a:t>
            </a:r>
          </a:p>
          <a:p>
            <a:pPr marL="742950" lvl="2" indent="-342900">
              <a:spcBef>
                <a:spcPts val="0"/>
              </a:spcBef>
            </a:pPr>
            <a:r>
              <a:rPr lang="tr-TR" sz="1800" noProof="1" smtClean="0">
                <a:solidFill>
                  <a:srgbClr val="000066"/>
                </a:solidFill>
                <a:latin typeface="Arial Narrow" panose="020B0606020202030204" pitchFamily="34" charset="0"/>
              </a:rPr>
              <a:t>Repo Market for Specified Securities</a:t>
            </a:r>
          </a:p>
          <a:p>
            <a:pPr marL="742950" lvl="2" indent="-342900">
              <a:spcBef>
                <a:spcPts val="0"/>
              </a:spcBef>
            </a:pPr>
            <a:r>
              <a:rPr lang="tr-TR" sz="1800" noProof="1" smtClean="0">
                <a:solidFill>
                  <a:srgbClr val="000066"/>
                </a:solidFill>
                <a:latin typeface="Arial Narrow" panose="020B0606020202030204" pitchFamily="34" charset="0"/>
              </a:rPr>
              <a:t>Equity Repo Market</a:t>
            </a:r>
          </a:p>
          <a:p>
            <a:pPr marL="742950" lvl="2" indent="-342900">
              <a:spcBef>
                <a:spcPts val="0"/>
              </a:spcBef>
            </a:pPr>
            <a:r>
              <a:rPr lang="tr-TR" sz="1800" noProof="1" smtClean="0">
                <a:solidFill>
                  <a:srgbClr val="000066"/>
                </a:solidFill>
                <a:latin typeface="Arial Narrow" panose="020B0606020202030204" pitchFamily="34" charset="0"/>
              </a:rPr>
              <a:t>Negotiated Repo Deals Market</a:t>
            </a:r>
          </a:p>
          <a:p>
            <a:pPr marL="742950" lvl="2" indent="-342900">
              <a:spcBef>
                <a:spcPts val="0"/>
              </a:spcBef>
            </a:pPr>
            <a:r>
              <a:rPr lang="tr-TR" sz="1800" noProof="1" smtClean="0">
                <a:solidFill>
                  <a:srgbClr val="000066"/>
                </a:solidFill>
                <a:latin typeface="Arial Narrow" panose="020B0606020202030204" pitchFamily="34" charset="0"/>
              </a:rPr>
              <a:t>Offering Market for Qualified Investors</a:t>
            </a:r>
          </a:p>
          <a:p>
            <a:pPr marL="742950" lvl="2" indent="-342900">
              <a:spcBef>
                <a:spcPts val="0"/>
              </a:spcBef>
            </a:pPr>
            <a:r>
              <a:rPr lang="tr-TR" sz="1800" noProof="1" smtClean="0">
                <a:solidFill>
                  <a:srgbClr val="000066"/>
                </a:solidFill>
                <a:latin typeface="Arial Narrow" panose="020B0606020202030204" pitchFamily="34" charset="0"/>
              </a:rPr>
              <a:t>International Bonds Market </a:t>
            </a:r>
            <a:r>
              <a:rPr lang="tr-TR" sz="1800" noProof="1" smtClean="0">
                <a:latin typeface="Arial Narrow" panose="020B0606020202030204" pitchFamily="34" charset="0"/>
              </a:rPr>
              <a:t>of ″Eurobonds″ issued by the Turkish government</a:t>
            </a:r>
          </a:p>
        </p:txBody>
      </p:sp>
    </p:spTree>
    <p:extLst>
      <p:ext uri="{BB962C8B-B14F-4D97-AF65-F5344CB8AC3E}">
        <p14:creationId xmlns:p14="http://schemas.microsoft.com/office/powerpoint/2010/main" val="40959155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91264" cy="1143000"/>
          </a:xfrm>
          <a:ln w="25400">
            <a:noFill/>
          </a:ln>
        </p:spPr>
        <p:txBody>
          <a:bodyPr>
            <a:noAutofit/>
          </a:bodyPr>
          <a:lstStyle/>
          <a:p>
            <a:r>
              <a:rPr lang="tr-TR" sz="1400" dirty="0">
                <a:latin typeface="Arial Narrow" pitchFamily="34" charset="0"/>
              </a:rPr>
              <a:t>NTE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a:solidFill>
                  <a:srgbClr val="800000"/>
                </a:solidFill>
                <a:latin typeface="Arial Narrow" pitchFamily="34" charset="0"/>
              </a:rPr>
              <a:t>Borsa İstanbul</a:t>
            </a:r>
            <a:r>
              <a:rPr lang="tr-TR" sz="2800" dirty="0" smtClean="0">
                <a:solidFill>
                  <a:srgbClr val="C00000"/>
                </a:solidFill>
                <a:latin typeface="Arial Narrow" pitchFamily="34" charset="0"/>
              </a:rPr>
              <a:t/>
            </a:r>
            <a:br>
              <a:rPr lang="tr-TR" sz="2800" dirty="0" smtClean="0">
                <a:solidFill>
                  <a:srgbClr val="C00000"/>
                </a:solidFill>
                <a:latin typeface="Arial Narrow" pitchFamily="34" charset="0"/>
              </a:rPr>
            </a:br>
            <a:r>
              <a:rPr lang="tr-TR" sz="2400" dirty="0" err="1" smtClean="0">
                <a:latin typeface="Arial Narrow" pitchFamily="34" charset="0"/>
              </a:rPr>
              <a:t>Equity</a:t>
            </a:r>
            <a:r>
              <a:rPr lang="tr-TR" sz="2400" dirty="0" smtClean="0">
                <a:latin typeface="Arial Narrow" pitchFamily="34" charset="0"/>
              </a:rPr>
              <a:t> Market</a:t>
            </a:r>
            <a:endParaRPr lang="tr-TR" sz="2400" dirty="0">
              <a:latin typeface="Arial Narrow" pitchFamily="34" charset="0"/>
            </a:endParaRPr>
          </a:p>
        </p:txBody>
      </p:sp>
      <p:sp>
        <p:nvSpPr>
          <p:cNvPr id="5" name="Content Placeholder 4"/>
          <p:cNvSpPr>
            <a:spLocks noGrp="1"/>
          </p:cNvSpPr>
          <p:nvPr>
            <p:ph idx="1"/>
          </p:nvPr>
        </p:nvSpPr>
        <p:spPr>
          <a:xfrm>
            <a:off x="457200" y="1600200"/>
            <a:ext cx="8291264" cy="4525963"/>
          </a:xfrm>
          <a:ln w="25400">
            <a:noFill/>
          </a:ln>
        </p:spPr>
        <p:txBody>
          <a:bodyPr>
            <a:noAutofit/>
          </a:bodyPr>
          <a:lstStyle/>
          <a:p>
            <a:pPr marL="0" lvl="1" indent="0" algn="ctr">
              <a:spcBef>
                <a:spcPts val="0"/>
              </a:spcBef>
              <a:buNone/>
            </a:pPr>
            <a:r>
              <a:rPr lang="tr-TR" sz="1800" noProof="1" smtClean="0">
                <a:latin typeface="Arial Narrow" panose="020B0606020202030204" pitchFamily="34" charset="0"/>
              </a:rPr>
              <a:t>Equities, preemptive rights, exchange traded funds, warrants and certificates are traded.</a:t>
            </a:r>
          </a:p>
          <a:p>
            <a:pPr marL="0" lvl="1" indent="0" algn="ctr">
              <a:spcBef>
                <a:spcPts val="0"/>
              </a:spcBef>
              <a:buNone/>
            </a:pPr>
            <a:endParaRPr lang="tr-TR" sz="900" noProof="1">
              <a:latin typeface="Arial Narrow" panose="020B0606020202030204" pitchFamily="34" charset="0"/>
            </a:endParaRPr>
          </a:p>
          <a:p>
            <a:pPr marL="0" lvl="1" indent="0" algn="ctr">
              <a:spcBef>
                <a:spcPts val="0"/>
              </a:spcBef>
              <a:buNone/>
            </a:pPr>
            <a:r>
              <a:rPr lang="tr-TR" sz="1800" noProof="1">
                <a:latin typeface="Arial Narrow" panose="020B0606020202030204" pitchFamily="34" charset="0"/>
              </a:rPr>
              <a:t>Trading is carried out based on price and </a:t>
            </a:r>
            <a:r>
              <a:rPr lang="tr-TR" sz="1800" noProof="1" smtClean="0">
                <a:latin typeface="Arial Narrow" panose="020B0606020202030204" pitchFamily="34" charset="0"/>
              </a:rPr>
              <a:t>priority, with</a:t>
            </a:r>
          </a:p>
          <a:p>
            <a:pPr marL="0" lvl="1" indent="0" algn="ctr">
              <a:spcBef>
                <a:spcPts val="0"/>
              </a:spcBef>
              <a:buNone/>
            </a:pPr>
            <a:r>
              <a:rPr lang="tr-TR" sz="1800" noProof="1" smtClean="0">
                <a:latin typeface="Arial Narrow" panose="020B0606020202030204" pitchFamily="34" charset="0"/>
              </a:rPr>
              <a:t>″continous </a:t>
            </a:r>
            <a:r>
              <a:rPr lang="tr-TR" sz="1800" noProof="1">
                <a:latin typeface="Arial Narrow" panose="020B0606020202030204" pitchFamily="34" charset="0"/>
              </a:rPr>
              <a:t>auction″, ″continous </a:t>
            </a:r>
            <a:r>
              <a:rPr lang="tr-TR" sz="1800" noProof="1" smtClean="0">
                <a:latin typeface="Arial Narrow" panose="020B0606020202030204" pitchFamily="34" charset="0"/>
              </a:rPr>
              <a:t>auction and market maker″ and ″single price″ trading methods</a:t>
            </a:r>
          </a:p>
          <a:p>
            <a:pPr marL="0" lvl="1" indent="0" algn="ctr">
              <a:spcBef>
                <a:spcPts val="0"/>
              </a:spcBef>
              <a:buNone/>
            </a:pPr>
            <a:r>
              <a:rPr lang="tr-TR" sz="1800" noProof="1" smtClean="0">
                <a:latin typeface="Arial Narrow" panose="020B0606020202030204" pitchFamily="34" charset="0"/>
              </a:rPr>
              <a:t>with a fully automated electronic trading system.</a:t>
            </a:r>
            <a:endParaRPr lang="tr-TR" sz="1800" noProof="1">
              <a:latin typeface="Arial Narrow" panose="020B0606020202030204" pitchFamily="34" charset="0"/>
            </a:endParaRPr>
          </a:p>
          <a:p>
            <a:pPr marL="0" lvl="1" indent="0">
              <a:spcBef>
                <a:spcPts val="0"/>
              </a:spcBef>
              <a:buNone/>
            </a:pPr>
            <a:endParaRPr lang="tr-TR" sz="900" noProof="1" smtClean="0">
              <a:latin typeface="Arial Narrow" panose="020B0606020202030204" pitchFamily="34" charset="0"/>
            </a:endParaRPr>
          </a:p>
          <a:p>
            <a:pPr marL="0" lvl="1" indent="0">
              <a:spcBef>
                <a:spcPts val="0"/>
              </a:spcBef>
              <a:buNone/>
            </a:pPr>
            <a:r>
              <a:rPr lang="tr-TR" sz="1800" noProof="1" smtClean="0">
                <a:latin typeface="Arial Narrow" panose="020B0606020202030204" pitchFamily="34" charset="0"/>
              </a:rPr>
              <a:t>Sub-markets are:</a:t>
            </a:r>
          </a:p>
          <a:p>
            <a:pPr marL="400050" lvl="2" indent="0">
              <a:spcBef>
                <a:spcPts val="0"/>
              </a:spcBef>
              <a:buNone/>
            </a:pPr>
            <a:endParaRPr lang="tr-TR" sz="900" noProof="1" smtClean="0">
              <a:latin typeface="Arial Narrow" panose="020B0606020202030204" pitchFamily="34" charset="0"/>
            </a:endParaRPr>
          </a:p>
          <a:p>
            <a:pPr marL="342900" lvl="1"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BIST STARS: </a:t>
            </a:r>
            <a:r>
              <a:rPr lang="tr-TR" sz="1800" noProof="1" smtClean="0">
                <a:latin typeface="Arial Narrow" panose="020B0606020202030204" pitchFamily="34" charset="0"/>
              </a:rPr>
              <a:t>market value of free float &gt; 100 million TL or included in BIST 100 index</a:t>
            </a:r>
          </a:p>
          <a:p>
            <a:pPr marL="342900" lvl="1"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BIST MAIN: </a:t>
            </a:r>
            <a:r>
              <a:rPr lang="tr-TR" sz="1800" noProof="1">
                <a:latin typeface="Arial Narrow" panose="020B0606020202030204" pitchFamily="34" charset="0"/>
              </a:rPr>
              <a:t>100 million TL </a:t>
            </a:r>
            <a:r>
              <a:rPr lang="tr-TR" sz="1800" noProof="1" smtClean="0">
                <a:latin typeface="Arial Narrow" panose="020B0606020202030204" pitchFamily="34" charset="0"/>
              </a:rPr>
              <a:t>&gt; market </a:t>
            </a:r>
            <a:r>
              <a:rPr lang="tr-TR" sz="1800" noProof="1">
                <a:latin typeface="Arial Narrow" panose="020B0606020202030204" pitchFamily="34" charset="0"/>
              </a:rPr>
              <a:t>value of free float &gt; </a:t>
            </a:r>
            <a:r>
              <a:rPr lang="tr-TR" sz="1800" noProof="1" smtClean="0">
                <a:latin typeface="Arial Narrow" panose="020B0606020202030204" pitchFamily="34" charset="0"/>
              </a:rPr>
              <a:t>25 </a:t>
            </a:r>
            <a:r>
              <a:rPr lang="tr-TR" sz="1800" noProof="1">
                <a:latin typeface="Arial Narrow" panose="020B0606020202030204" pitchFamily="34" charset="0"/>
              </a:rPr>
              <a:t>million </a:t>
            </a:r>
            <a:r>
              <a:rPr lang="tr-TR" sz="1800" noProof="1" smtClean="0">
                <a:latin typeface="Arial Narrow" panose="020B0606020202030204" pitchFamily="34" charset="0"/>
              </a:rPr>
              <a:t>TL</a:t>
            </a:r>
          </a:p>
          <a:p>
            <a:pPr marL="342900" lvl="1" indent="-342900">
              <a:spcBef>
                <a:spcPts val="0"/>
              </a:spcBef>
              <a:buFont typeface="Arial" panose="020B0604020202020204" pitchFamily="34" charset="0"/>
              <a:buChar char="•"/>
            </a:pPr>
            <a:r>
              <a:rPr lang="tr-TR" sz="1800" noProof="1">
                <a:solidFill>
                  <a:srgbClr val="000066"/>
                </a:solidFill>
                <a:latin typeface="Arial Narrow" panose="020B0606020202030204" pitchFamily="34" charset="0"/>
              </a:rPr>
              <a:t>BIST </a:t>
            </a:r>
            <a:r>
              <a:rPr lang="tr-TR" sz="1800" noProof="1" smtClean="0">
                <a:solidFill>
                  <a:srgbClr val="000066"/>
                </a:solidFill>
                <a:latin typeface="Arial Narrow" panose="020B0606020202030204" pitchFamily="34" charset="0"/>
              </a:rPr>
              <a:t>EMERGING CO’s: 25</a:t>
            </a:r>
            <a:r>
              <a:rPr lang="tr-TR" sz="1800" noProof="1" smtClean="0">
                <a:latin typeface="Arial Narrow" panose="020B0606020202030204" pitchFamily="34" charset="0"/>
              </a:rPr>
              <a:t> </a:t>
            </a:r>
            <a:r>
              <a:rPr lang="tr-TR" sz="1800" noProof="1">
                <a:latin typeface="Arial Narrow" panose="020B0606020202030204" pitchFamily="34" charset="0"/>
              </a:rPr>
              <a:t>million TL &gt; market value of free </a:t>
            </a:r>
            <a:r>
              <a:rPr lang="tr-TR" sz="1800" noProof="1" smtClean="0">
                <a:latin typeface="Arial Narrow" panose="020B0606020202030204" pitchFamily="34" charset="0"/>
              </a:rPr>
              <a:t>float</a:t>
            </a:r>
          </a:p>
          <a:p>
            <a:pPr marL="342900" lvl="1"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WATCHLIST: </a:t>
            </a:r>
            <a:r>
              <a:rPr lang="tr-TR" sz="1800" noProof="1" smtClean="0">
                <a:latin typeface="Arial Narrow" panose="020B0606020202030204" pitchFamily="34" charset="0"/>
              </a:rPr>
              <a:t>Co’s subject to monitoring due to financial problems</a:t>
            </a:r>
          </a:p>
          <a:p>
            <a:pPr marL="342900" lvl="1"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COLLECTIVE &amp; STRUCTURED PRODUCTS: </a:t>
            </a:r>
            <a:r>
              <a:rPr lang="tr-TR" sz="1800" noProof="1" smtClean="0">
                <a:latin typeface="Arial Narrow" panose="020B0606020202030204" pitchFamily="34" charset="0"/>
              </a:rPr>
              <a:t>Exchange traded funds, warrants, certificates.</a:t>
            </a:r>
          </a:p>
          <a:p>
            <a:pPr marL="342900" lvl="1"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QUALIFIED INVESTORS: </a:t>
            </a:r>
            <a:r>
              <a:rPr lang="tr-TR" sz="1800" noProof="1" smtClean="0">
                <a:latin typeface="Arial Narrow" panose="020B0606020202030204" pitchFamily="34" charset="0"/>
              </a:rPr>
              <a:t>Shares sold directly to qualified investors; no public offering.</a:t>
            </a:r>
          </a:p>
          <a:p>
            <a:pPr marL="342900" lvl="1"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PRE-MARKET TRADING: </a:t>
            </a:r>
            <a:r>
              <a:rPr lang="tr-TR" sz="1800" noProof="1" smtClean="0">
                <a:latin typeface="Arial Narrow" panose="020B0606020202030204" pitchFamily="34" charset="0"/>
              </a:rPr>
              <a:t>Publicly held co’s (100+ shareholders) not listed in Borsa İstanbul.</a:t>
            </a:r>
            <a:endParaRPr lang="tr-TR" sz="1800" noProof="1">
              <a:solidFill>
                <a:srgbClr val="000066"/>
              </a:solidFill>
              <a:latin typeface="Arial Narrow" panose="020B0606020202030204" pitchFamily="34" charset="0"/>
            </a:endParaRPr>
          </a:p>
          <a:p>
            <a:pPr marL="742950" lvl="2" indent="-342900">
              <a:spcBef>
                <a:spcPts val="0"/>
              </a:spcBef>
            </a:pPr>
            <a:endParaRPr lang="tr-TR" sz="1800" noProof="1" smtClean="0">
              <a:latin typeface="Arial Narrow" panose="020B0606020202030204" pitchFamily="34" charset="0"/>
            </a:endParaRPr>
          </a:p>
        </p:txBody>
      </p:sp>
    </p:spTree>
    <p:extLst>
      <p:ext uri="{BB962C8B-B14F-4D97-AF65-F5344CB8AC3E}">
        <p14:creationId xmlns:p14="http://schemas.microsoft.com/office/powerpoint/2010/main" val="39548147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91264" cy="1143000"/>
          </a:xfrm>
          <a:ln w="25400">
            <a:noFill/>
          </a:ln>
        </p:spPr>
        <p:txBody>
          <a:bodyPr>
            <a:noAutofit/>
          </a:bodyPr>
          <a:lstStyle/>
          <a:p>
            <a:r>
              <a:rPr lang="tr-TR" sz="1400" dirty="0">
                <a:latin typeface="Arial Narrow" pitchFamily="34" charset="0"/>
              </a:rPr>
              <a:t>NTE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a:solidFill>
                  <a:srgbClr val="800000"/>
                </a:solidFill>
                <a:latin typeface="Arial Narrow" pitchFamily="34" charset="0"/>
              </a:rPr>
              <a:t>Borsa İstanbul</a:t>
            </a:r>
            <a:r>
              <a:rPr lang="tr-TR" sz="2800" dirty="0" smtClean="0">
                <a:solidFill>
                  <a:srgbClr val="C00000"/>
                </a:solidFill>
                <a:latin typeface="Arial Narrow" pitchFamily="34" charset="0"/>
              </a:rPr>
              <a:t/>
            </a:r>
            <a:br>
              <a:rPr lang="tr-TR" sz="2800" dirty="0" smtClean="0">
                <a:solidFill>
                  <a:srgbClr val="C00000"/>
                </a:solidFill>
                <a:latin typeface="Arial Narrow" pitchFamily="34" charset="0"/>
              </a:rPr>
            </a:br>
            <a:r>
              <a:rPr lang="tr-TR" sz="2400" dirty="0" err="1">
                <a:latin typeface="Arial Narrow" pitchFamily="34" charset="0"/>
              </a:rPr>
              <a:t>Derivatives</a:t>
            </a:r>
            <a:r>
              <a:rPr lang="tr-TR" sz="2400" dirty="0">
                <a:latin typeface="Arial Narrow" pitchFamily="34" charset="0"/>
              </a:rPr>
              <a:t> </a:t>
            </a:r>
            <a:r>
              <a:rPr lang="tr-TR" sz="2400" dirty="0" smtClean="0">
                <a:latin typeface="Arial Narrow" pitchFamily="34" charset="0"/>
              </a:rPr>
              <a:t>Market</a:t>
            </a:r>
            <a:endParaRPr lang="tr-TR" sz="2400" dirty="0">
              <a:latin typeface="Arial Narrow" pitchFamily="34" charset="0"/>
            </a:endParaRPr>
          </a:p>
        </p:txBody>
      </p:sp>
      <p:sp>
        <p:nvSpPr>
          <p:cNvPr id="5" name="Content Placeholder 4"/>
          <p:cNvSpPr>
            <a:spLocks noGrp="1"/>
          </p:cNvSpPr>
          <p:nvPr>
            <p:ph idx="1"/>
          </p:nvPr>
        </p:nvSpPr>
        <p:spPr>
          <a:xfrm>
            <a:off x="2843808" y="1600200"/>
            <a:ext cx="5904656" cy="4525963"/>
          </a:xfrm>
          <a:ln w="25400">
            <a:noFill/>
          </a:ln>
        </p:spPr>
        <p:txBody>
          <a:bodyPr>
            <a:noAutofit/>
          </a:bodyPr>
          <a:lstStyle/>
          <a:p>
            <a:pPr marL="857250" lvl="3" indent="0">
              <a:spcBef>
                <a:spcPts val="0"/>
              </a:spcBef>
              <a:buNone/>
            </a:pPr>
            <a:r>
              <a:rPr lang="tr-TR" sz="1800" noProof="1" smtClean="0">
                <a:latin typeface="Arial Narrow" panose="020B0606020202030204" pitchFamily="34" charset="0"/>
              </a:rPr>
              <a:t>Trading </a:t>
            </a:r>
            <a:r>
              <a:rPr lang="tr-TR" sz="1800" noProof="1">
                <a:latin typeface="Arial Narrow" panose="020B0606020202030204" pitchFamily="34" charset="0"/>
              </a:rPr>
              <a:t>volume in 2017 was 868 billion </a:t>
            </a:r>
            <a:r>
              <a:rPr lang="tr-TR" sz="1800" noProof="1" smtClean="0">
                <a:latin typeface="Arial Narrow" panose="020B0606020202030204" pitchFamily="34" charset="0"/>
              </a:rPr>
              <a:t>TL,</a:t>
            </a:r>
          </a:p>
          <a:p>
            <a:pPr marL="857250" lvl="3" indent="0">
              <a:spcBef>
                <a:spcPts val="0"/>
              </a:spcBef>
              <a:buNone/>
            </a:pPr>
            <a:r>
              <a:rPr lang="tr-TR" sz="1800" noProof="1" smtClean="0">
                <a:latin typeface="Arial Narrow" panose="020B0606020202030204" pitchFamily="34" charset="0"/>
              </a:rPr>
              <a:t>12</a:t>
            </a:r>
            <a:r>
              <a:rPr lang="tr-TR" sz="1800" noProof="1">
                <a:latin typeface="Arial Narrow" panose="020B0606020202030204" pitchFamily="34" charset="0"/>
              </a:rPr>
              <a:t>% of total BIST volume.</a:t>
            </a:r>
          </a:p>
          <a:p>
            <a:pPr marL="857250" lvl="3" indent="0">
              <a:spcBef>
                <a:spcPts val="0"/>
              </a:spcBef>
              <a:buNone/>
            </a:pPr>
            <a:endParaRPr lang="tr-TR" sz="1800" noProof="1" smtClean="0">
              <a:latin typeface="Arial Narrow" panose="020B0606020202030204" pitchFamily="34" charset="0"/>
            </a:endParaRPr>
          </a:p>
          <a:p>
            <a:pPr marL="857250" lvl="3" indent="0">
              <a:spcBef>
                <a:spcPts val="0"/>
              </a:spcBef>
              <a:buNone/>
            </a:pPr>
            <a:r>
              <a:rPr lang="tr-TR" sz="1800" noProof="1" smtClean="0">
                <a:latin typeface="Arial Narrow" panose="020B0606020202030204" pitchFamily="34" charset="0"/>
              </a:rPr>
              <a:t>Sub-markets:</a:t>
            </a:r>
          </a:p>
          <a:p>
            <a:pPr marL="1314450" lvl="4" indent="0">
              <a:spcBef>
                <a:spcPts val="0"/>
              </a:spcBef>
              <a:buNone/>
            </a:pPr>
            <a:endParaRPr lang="tr-TR" sz="1800" noProof="1" smtClean="0">
              <a:latin typeface="Arial Narrow" panose="020B0606020202030204" pitchFamily="34" charset="0"/>
            </a:endParaRPr>
          </a:p>
          <a:p>
            <a:pPr marL="1200150" lvl="3"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FX</a:t>
            </a:r>
          </a:p>
          <a:p>
            <a:pPr marL="1200150" lvl="3"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Electric</a:t>
            </a:r>
          </a:p>
          <a:p>
            <a:pPr marL="1200150" lvl="3"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Commodity</a:t>
            </a:r>
          </a:p>
          <a:p>
            <a:pPr marL="1200150" lvl="3"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Index</a:t>
            </a:r>
          </a:p>
          <a:p>
            <a:pPr marL="1200150" lvl="3"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Percious Metals</a:t>
            </a:r>
          </a:p>
          <a:p>
            <a:pPr marL="1200150" lvl="3"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Equity</a:t>
            </a:r>
          </a:p>
          <a:p>
            <a:pPr marL="1200150" lvl="3"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Foreign Indices</a:t>
            </a:r>
          </a:p>
          <a:p>
            <a:pPr marL="1200150" lvl="3"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Metal</a:t>
            </a:r>
          </a:p>
          <a:p>
            <a:pPr marL="1200150" lvl="3"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ETF</a:t>
            </a:r>
          </a:p>
          <a:p>
            <a:pPr marL="1200150" lvl="3"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Interest Rates</a:t>
            </a:r>
            <a:endParaRPr lang="tr-TR" sz="1800" noProof="1" smtClean="0">
              <a:latin typeface="Arial Narrow" panose="020B0606020202030204" pitchFamily="34" charset="0"/>
            </a:endParaRPr>
          </a:p>
        </p:txBody>
      </p:sp>
    </p:spTree>
    <p:extLst>
      <p:ext uri="{BB962C8B-B14F-4D97-AF65-F5344CB8AC3E}">
        <p14:creationId xmlns:p14="http://schemas.microsoft.com/office/powerpoint/2010/main" val="19797029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91264" cy="1143000"/>
          </a:xfrm>
          <a:ln w="25400">
            <a:noFill/>
          </a:ln>
        </p:spPr>
        <p:txBody>
          <a:bodyPr>
            <a:noAutofit/>
          </a:bodyPr>
          <a:lstStyle/>
          <a:p>
            <a:r>
              <a:rPr lang="tr-TR" sz="1400" dirty="0">
                <a:latin typeface="Arial Narrow" pitchFamily="34" charset="0"/>
              </a:rPr>
              <a:t>NTE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a:solidFill>
                  <a:srgbClr val="800000"/>
                </a:solidFill>
                <a:latin typeface="Arial Narrow" pitchFamily="34" charset="0"/>
              </a:rPr>
              <a:t>Borsa İstanbul</a:t>
            </a:r>
            <a:r>
              <a:rPr lang="tr-TR" sz="2800" dirty="0" smtClean="0">
                <a:solidFill>
                  <a:srgbClr val="C00000"/>
                </a:solidFill>
                <a:latin typeface="Arial Narrow" pitchFamily="34" charset="0"/>
              </a:rPr>
              <a:t/>
            </a:r>
            <a:br>
              <a:rPr lang="tr-TR" sz="2800" dirty="0" smtClean="0">
                <a:solidFill>
                  <a:srgbClr val="C00000"/>
                </a:solidFill>
                <a:latin typeface="Arial Narrow" pitchFamily="34" charset="0"/>
              </a:rPr>
            </a:br>
            <a:r>
              <a:rPr lang="tr-TR" sz="2400" dirty="0" err="1">
                <a:latin typeface="Arial Narrow" pitchFamily="34" charset="0"/>
              </a:rPr>
              <a:t>Precious</a:t>
            </a:r>
            <a:r>
              <a:rPr lang="tr-TR" sz="2400" dirty="0">
                <a:latin typeface="Arial Narrow" pitchFamily="34" charset="0"/>
              </a:rPr>
              <a:t> </a:t>
            </a:r>
            <a:r>
              <a:rPr lang="tr-TR" sz="2400" dirty="0" err="1">
                <a:latin typeface="Arial Narrow" pitchFamily="34" charset="0"/>
              </a:rPr>
              <a:t>Metals</a:t>
            </a:r>
            <a:r>
              <a:rPr lang="tr-TR" sz="2400" dirty="0">
                <a:latin typeface="Arial Narrow" pitchFamily="34" charset="0"/>
              </a:rPr>
              <a:t> &amp; </a:t>
            </a:r>
            <a:r>
              <a:rPr lang="tr-TR" sz="2400" dirty="0" err="1">
                <a:latin typeface="Arial Narrow" pitchFamily="34" charset="0"/>
              </a:rPr>
              <a:t>Diamond</a:t>
            </a:r>
            <a:r>
              <a:rPr lang="tr-TR" sz="2400" dirty="0">
                <a:latin typeface="Arial Narrow" pitchFamily="34" charset="0"/>
              </a:rPr>
              <a:t> </a:t>
            </a:r>
            <a:r>
              <a:rPr lang="tr-TR" sz="2400" dirty="0" smtClean="0">
                <a:latin typeface="Arial Narrow" pitchFamily="34" charset="0"/>
              </a:rPr>
              <a:t>Market</a:t>
            </a:r>
            <a:endParaRPr lang="tr-TR" sz="2400" dirty="0">
              <a:latin typeface="Arial Narrow" pitchFamily="34" charset="0"/>
            </a:endParaRPr>
          </a:p>
        </p:txBody>
      </p:sp>
      <p:sp>
        <p:nvSpPr>
          <p:cNvPr id="5" name="Content Placeholder 4"/>
          <p:cNvSpPr>
            <a:spLocks noGrp="1"/>
          </p:cNvSpPr>
          <p:nvPr>
            <p:ph idx="1"/>
          </p:nvPr>
        </p:nvSpPr>
        <p:spPr>
          <a:xfrm>
            <a:off x="457200" y="1600200"/>
            <a:ext cx="8291264" cy="4525963"/>
          </a:xfrm>
          <a:ln w="25400">
            <a:noFill/>
          </a:ln>
        </p:spPr>
        <p:txBody>
          <a:bodyPr>
            <a:noAutofit/>
          </a:bodyPr>
          <a:lstStyle/>
          <a:p>
            <a:pPr marL="400050" lvl="2" indent="0" algn="ctr">
              <a:spcBef>
                <a:spcPts val="0"/>
              </a:spcBef>
              <a:buNone/>
            </a:pPr>
            <a:endParaRPr lang="tr-TR" sz="900" noProof="1" smtClean="0">
              <a:latin typeface="Arial Narrow" panose="020B0606020202030204" pitchFamily="34" charset="0"/>
            </a:endParaRPr>
          </a:p>
          <a:p>
            <a:pPr marL="857250" lvl="3" indent="0">
              <a:spcBef>
                <a:spcPts val="0"/>
              </a:spcBef>
              <a:buNone/>
            </a:pPr>
            <a:r>
              <a:rPr lang="tr-TR" sz="1800" noProof="1">
                <a:latin typeface="Arial Narrow" panose="020B0606020202030204" pitchFamily="34" charset="0"/>
              </a:rPr>
              <a:t>Trading volume in 2017 was 68 billion TL, 1% of total BIST volume.</a:t>
            </a:r>
          </a:p>
          <a:p>
            <a:pPr marL="857250" lvl="3" indent="0">
              <a:spcBef>
                <a:spcPts val="0"/>
              </a:spcBef>
              <a:buNone/>
            </a:pPr>
            <a:endParaRPr lang="tr-TR" sz="1800" noProof="1" smtClean="0">
              <a:latin typeface="Arial Narrow" panose="020B0606020202030204" pitchFamily="34" charset="0"/>
            </a:endParaRPr>
          </a:p>
          <a:p>
            <a:pPr marL="857250" lvl="3" indent="0">
              <a:spcBef>
                <a:spcPts val="0"/>
              </a:spcBef>
              <a:buNone/>
            </a:pPr>
            <a:r>
              <a:rPr lang="tr-TR" sz="1800" noProof="1" smtClean="0">
                <a:latin typeface="Arial Narrow" panose="020B0606020202030204" pitchFamily="34" charset="0"/>
              </a:rPr>
              <a:t>Sub-markets:</a:t>
            </a:r>
          </a:p>
          <a:p>
            <a:pPr marL="1314450" lvl="4" indent="0">
              <a:spcBef>
                <a:spcPts val="0"/>
              </a:spcBef>
              <a:buNone/>
            </a:pPr>
            <a:endParaRPr lang="tr-TR" sz="1800" noProof="1" smtClean="0">
              <a:latin typeface="Arial Narrow" panose="020B0606020202030204" pitchFamily="34" charset="0"/>
            </a:endParaRPr>
          </a:p>
          <a:p>
            <a:pPr marL="1200150" lvl="3"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Precious Metals – </a:t>
            </a:r>
            <a:r>
              <a:rPr lang="tr-TR" sz="1800" noProof="1" smtClean="0">
                <a:latin typeface="Arial Narrow" panose="020B0606020202030204" pitchFamily="34" charset="0"/>
              </a:rPr>
              <a:t>includes the spot trade of standard and non-standard gold, silver, platinum, and palldium.</a:t>
            </a:r>
          </a:p>
          <a:p>
            <a:pPr marL="1200150" lvl="3" indent="-342900">
              <a:spcBef>
                <a:spcPts val="0"/>
              </a:spcBef>
              <a:buFont typeface="Arial" panose="020B0604020202020204" pitchFamily="34" charset="0"/>
              <a:buChar char="•"/>
            </a:pPr>
            <a:endParaRPr lang="tr-TR" sz="1800" noProof="1" smtClean="0">
              <a:latin typeface="Arial Narrow" panose="020B0606020202030204" pitchFamily="34" charset="0"/>
            </a:endParaRPr>
          </a:p>
          <a:p>
            <a:pPr marL="1200150" lvl="3"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Precious Metal Lending </a:t>
            </a:r>
            <a:r>
              <a:rPr lang="tr-TR" sz="1800" noProof="1" smtClean="0">
                <a:latin typeface="Arial Narrow" panose="020B0606020202030204" pitchFamily="34" charset="0"/>
              </a:rPr>
              <a:t>– provides lending and certificate transactions.</a:t>
            </a:r>
          </a:p>
          <a:p>
            <a:pPr marL="1200150" lvl="3" indent="-342900">
              <a:spcBef>
                <a:spcPts val="0"/>
              </a:spcBef>
              <a:buFont typeface="Arial" panose="020B0604020202020204" pitchFamily="34" charset="0"/>
              <a:buChar char="•"/>
            </a:pPr>
            <a:endParaRPr lang="tr-TR" sz="1800" noProof="1">
              <a:latin typeface="Arial Narrow" panose="020B0606020202030204" pitchFamily="34" charset="0"/>
            </a:endParaRPr>
          </a:p>
          <a:p>
            <a:pPr marL="1200150" lvl="3" indent="-34290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Diamond and Precious Stone</a:t>
            </a:r>
            <a:endParaRPr lang="tr-TR" sz="1800" noProof="1" smtClean="0">
              <a:latin typeface="Arial Narrow" panose="020B0606020202030204" pitchFamily="34" charset="0"/>
            </a:endParaRPr>
          </a:p>
        </p:txBody>
      </p:sp>
    </p:spTree>
    <p:extLst>
      <p:ext uri="{BB962C8B-B14F-4D97-AF65-F5344CB8AC3E}">
        <p14:creationId xmlns:p14="http://schemas.microsoft.com/office/powerpoint/2010/main" val="109153582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91264" cy="1143000"/>
          </a:xfrm>
          <a:ln w="25400">
            <a:noFill/>
          </a:ln>
        </p:spPr>
        <p:txBody>
          <a:bodyPr>
            <a:noAutofit/>
          </a:bodyPr>
          <a:lstStyle/>
          <a:p>
            <a:r>
              <a:rPr lang="tr-TR" sz="1400" dirty="0">
                <a:latin typeface="Arial Narrow" pitchFamily="34" charset="0"/>
              </a:rPr>
              <a:t>NTE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a:solidFill>
                  <a:srgbClr val="800000"/>
                </a:solidFill>
                <a:latin typeface="Arial Narrow" pitchFamily="34" charset="0"/>
              </a:rPr>
              <a:t>Borsa İstanbul</a:t>
            </a:r>
            <a:r>
              <a:rPr lang="tr-TR" sz="2800" dirty="0" smtClean="0">
                <a:solidFill>
                  <a:srgbClr val="C00000"/>
                </a:solidFill>
                <a:latin typeface="Arial Narrow" pitchFamily="34" charset="0"/>
              </a:rPr>
              <a:t/>
            </a:r>
            <a:br>
              <a:rPr lang="tr-TR" sz="2800" dirty="0" smtClean="0">
                <a:solidFill>
                  <a:srgbClr val="C00000"/>
                </a:solidFill>
                <a:latin typeface="Arial Narrow" pitchFamily="34" charset="0"/>
              </a:rPr>
            </a:br>
            <a:r>
              <a:rPr lang="tr-TR" sz="2400" dirty="0" err="1" smtClean="0">
                <a:latin typeface="Arial Narrow" pitchFamily="34" charset="0"/>
              </a:rPr>
              <a:t>Other</a:t>
            </a:r>
            <a:r>
              <a:rPr lang="tr-TR" sz="2400" dirty="0" smtClean="0">
                <a:latin typeface="Arial Narrow" pitchFamily="34" charset="0"/>
              </a:rPr>
              <a:t> Services</a:t>
            </a:r>
            <a:endParaRPr lang="tr-TR" sz="2400" dirty="0">
              <a:latin typeface="Arial Narrow" pitchFamily="34" charset="0"/>
            </a:endParaRPr>
          </a:p>
        </p:txBody>
      </p:sp>
      <p:sp>
        <p:nvSpPr>
          <p:cNvPr id="5" name="Content Placeholder 4"/>
          <p:cNvSpPr>
            <a:spLocks noGrp="1"/>
          </p:cNvSpPr>
          <p:nvPr>
            <p:ph idx="1"/>
          </p:nvPr>
        </p:nvSpPr>
        <p:spPr>
          <a:xfrm>
            <a:off x="2195736" y="1600200"/>
            <a:ext cx="6552728" cy="4525963"/>
          </a:xfrm>
          <a:ln w="25400">
            <a:noFill/>
          </a:ln>
        </p:spPr>
        <p:txBody>
          <a:bodyPr>
            <a:noAutofit/>
          </a:bodyPr>
          <a:lstStyle/>
          <a:p>
            <a:pPr marL="400050" lvl="2" indent="0" algn="ctr">
              <a:spcBef>
                <a:spcPts val="0"/>
              </a:spcBef>
              <a:buNone/>
            </a:pPr>
            <a:endParaRPr lang="tr-TR" sz="1800" noProof="1" smtClean="0">
              <a:latin typeface="Arial Narrow" panose="020B0606020202030204" pitchFamily="34" charset="0"/>
            </a:endParaRPr>
          </a:p>
          <a:p>
            <a:pPr marL="857250" lvl="3" indent="0">
              <a:spcBef>
                <a:spcPts val="0"/>
              </a:spcBef>
              <a:buNone/>
            </a:pPr>
            <a:r>
              <a:rPr lang="tr-TR" sz="1800" noProof="1" smtClean="0">
                <a:latin typeface="Arial Narrow" panose="020B0606020202030204" pitchFamily="34" charset="0"/>
              </a:rPr>
              <a:t>In addition to Trading:</a:t>
            </a:r>
          </a:p>
          <a:p>
            <a:pPr marL="1143000" lvl="3" indent="-285750">
              <a:spcBef>
                <a:spcPts val="0"/>
              </a:spcBef>
              <a:buFont typeface="Arial" panose="020B0604020202020204" pitchFamily="34" charset="0"/>
              <a:buChar char="•"/>
            </a:pPr>
            <a:endParaRPr lang="tr-TR" sz="1800" noProof="1">
              <a:solidFill>
                <a:srgbClr val="000066"/>
              </a:solidFill>
              <a:latin typeface="Arial Narrow" panose="020B0606020202030204" pitchFamily="34" charset="0"/>
            </a:endParaRPr>
          </a:p>
          <a:p>
            <a:pPr marL="1143000" lvl="3" indent="-28575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Listing</a:t>
            </a:r>
          </a:p>
          <a:p>
            <a:pPr marL="1143000" lvl="3" indent="-285750">
              <a:spcBef>
                <a:spcPts val="0"/>
              </a:spcBef>
              <a:buFont typeface="Arial" panose="020B0604020202020204" pitchFamily="34" charset="0"/>
              <a:buChar char="•"/>
            </a:pPr>
            <a:endParaRPr lang="tr-TR" sz="1800" noProof="1">
              <a:solidFill>
                <a:srgbClr val="000066"/>
              </a:solidFill>
              <a:latin typeface="Arial Narrow" panose="020B0606020202030204" pitchFamily="34" charset="0"/>
            </a:endParaRPr>
          </a:p>
          <a:p>
            <a:pPr marL="1143000" lvl="3" indent="-28575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Settlement</a:t>
            </a:r>
            <a:r>
              <a:rPr lang="tr-TR" sz="1800" noProof="1" smtClean="0">
                <a:latin typeface="Arial Narrow" panose="020B0606020202030204" pitchFamily="34" charset="0"/>
              </a:rPr>
              <a:t> – Takasbank</a:t>
            </a:r>
          </a:p>
          <a:p>
            <a:pPr marL="1143000" lvl="3" indent="-285750">
              <a:spcBef>
                <a:spcPts val="0"/>
              </a:spcBef>
              <a:buFont typeface="Arial" panose="020B0604020202020204" pitchFamily="34" charset="0"/>
              <a:buChar char="•"/>
            </a:pPr>
            <a:endParaRPr lang="tr-TR" sz="1800" noProof="1">
              <a:latin typeface="Arial Narrow" panose="020B0606020202030204" pitchFamily="34" charset="0"/>
            </a:endParaRPr>
          </a:p>
          <a:p>
            <a:pPr marL="1143000" lvl="3" indent="-285750">
              <a:spcBef>
                <a:spcPts val="0"/>
              </a:spcBef>
              <a:buFont typeface="Arial" panose="020B0604020202020204" pitchFamily="34" charset="0"/>
              <a:buChar char="•"/>
            </a:pPr>
            <a:r>
              <a:rPr lang="tr-TR" sz="1800" noProof="1">
                <a:solidFill>
                  <a:srgbClr val="000066"/>
                </a:solidFill>
                <a:latin typeface="Arial Narrow" panose="020B0606020202030204" pitchFamily="34" charset="0"/>
              </a:rPr>
              <a:t>Custody</a:t>
            </a:r>
            <a:r>
              <a:rPr lang="tr-TR" sz="1800" noProof="1">
                <a:latin typeface="Arial Narrow" panose="020B0606020202030204" pitchFamily="34" charset="0"/>
              </a:rPr>
              <a:t> – </a:t>
            </a:r>
            <a:r>
              <a:rPr lang="tr-TR" sz="1800" noProof="1" smtClean="0">
                <a:latin typeface="Arial Narrow" panose="020B0606020202030204" pitchFamily="34" charset="0"/>
              </a:rPr>
              <a:t>Central Registry Agency: securities depository</a:t>
            </a:r>
          </a:p>
          <a:p>
            <a:pPr marL="1143000" lvl="3" indent="-285750">
              <a:spcBef>
                <a:spcPts val="0"/>
              </a:spcBef>
              <a:buFont typeface="Arial" panose="020B0604020202020204" pitchFamily="34" charset="0"/>
              <a:buChar char="•"/>
            </a:pPr>
            <a:endParaRPr lang="tr-TR" sz="1800" noProof="1">
              <a:latin typeface="Arial Narrow" panose="020B0606020202030204" pitchFamily="34" charset="0"/>
            </a:endParaRPr>
          </a:p>
          <a:p>
            <a:pPr marL="1143000" lvl="3" indent="-285750">
              <a:spcBef>
                <a:spcPts val="0"/>
              </a:spcBef>
              <a:buFont typeface="Arial" panose="020B0604020202020204" pitchFamily="34" charset="0"/>
              <a:buChar char="•"/>
            </a:pPr>
            <a:r>
              <a:rPr lang="tr-TR" sz="1800" noProof="1" smtClean="0">
                <a:solidFill>
                  <a:srgbClr val="000066"/>
                </a:solidFill>
                <a:latin typeface="Arial Narrow" panose="020B0606020202030204" pitchFamily="34" charset="0"/>
              </a:rPr>
              <a:t>Index and Data</a:t>
            </a:r>
          </a:p>
        </p:txBody>
      </p:sp>
    </p:spTree>
    <p:extLst>
      <p:ext uri="{BB962C8B-B14F-4D97-AF65-F5344CB8AC3E}">
        <p14:creationId xmlns:p14="http://schemas.microsoft.com/office/powerpoint/2010/main" val="12464817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smtClean="0">
                <a:solidFill>
                  <a:srgbClr val="800000"/>
                </a:solidFill>
                <a:latin typeface="Arial Narrow" pitchFamily="34" charset="0"/>
              </a:rPr>
              <a:t>Financial </a:t>
            </a:r>
            <a:r>
              <a:rPr lang="tr-TR" sz="2000" dirty="0" err="1" smtClean="0">
                <a:solidFill>
                  <a:srgbClr val="800000"/>
                </a:solidFill>
                <a:latin typeface="Arial Narrow" pitchFamily="34" charset="0"/>
              </a:rPr>
              <a:t>System</a:t>
            </a:r>
            <a:r>
              <a:rPr lang="tr-TR" sz="2400" dirty="0">
                <a:solidFill>
                  <a:srgbClr val="800000"/>
                </a:solidFill>
                <a:latin typeface="Arial Narrow" pitchFamily="34" charset="0"/>
              </a:rPr>
              <a:t/>
            </a:r>
            <a:br>
              <a:rPr lang="tr-TR" sz="2400" dirty="0">
                <a:solidFill>
                  <a:srgbClr val="800000"/>
                </a:solidFill>
                <a:latin typeface="Arial Narrow" pitchFamily="34" charset="0"/>
              </a:rPr>
            </a:br>
            <a:r>
              <a:rPr lang="tr-TR" sz="2400" dirty="0" err="1" smtClean="0">
                <a:latin typeface="Arial Narrow" pitchFamily="34" charset="0"/>
              </a:rPr>
              <a:t>Indirect</a:t>
            </a:r>
            <a:r>
              <a:rPr lang="tr-TR" sz="2400" dirty="0" smtClean="0">
                <a:latin typeface="Arial Narrow" pitchFamily="34" charset="0"/>
              </a:rPr>
              <a:t> Finance / Financial </a:t>
            </a:r>
            <a:r>
              <a:rPr lang="tr-TR" sz="2400" dirty="0" err="1" smtClean="0">
                <a:latin typeface="Arial Narrow" pitchFamily="34" charset="0"/>
              </a:rPr>
              <a:t>Intermediaries</a:t>
            </a:r>
            <a:endParaRPr lang="tr-TR" sz="2400" dirty="0">
              <a:latin typeface="Arial Narrow" pitchFamily="34" charset="0"/>
            </a:endParaRPr>
          </a:p>
        </p:txBody>
      </p:sp>
      <p:sp>
        <p:nvSpPr>
          <p:cNvPr id="5" name="Content Placeholder 4"/>
          <p:cNvSpPr>
            <a:spLocks noGrp="1"/>
          </p:cNvSpPr>
          <p:nvPr>
            <p:ph idx="1"/>
          </p:nvPr>
        </p:nvSpPr>
        <p:spPr>
          <a:xfrm>
            <a:off x="457200" y="1484784"/>
            <a:ext cx="8229600" cy="5184576"/>
          </a:xfrm>
          <a:ln w="25400">
            <a:noFill/>
          </a:ln>
        </p:spPr>
        <p:txBody>
          <a:bodyPr>
            <a:noAutofit/>
          </a:bodyPr>
          <a:lstStyle/>
          <a:p>
            <a:pPr marL="0" lvl="0" indent="0" algn="ctr">
              <a:spcBef>
                <a:spcPts val="0"/>
              </a:spcBef>
              <a:buNone/>
            </a:pPr>
            <a:r>
              <a:rPr lang="tr-TR" sz="1800" dirty="0" err="1" smtClean="0">
                <a:latin typeface="Arial Narrow" panose="020B0606020202030204" pitchFamily="34" charset="0"/>
              </a:rPr>
              <a:t>Indirect</a:t>
            </a:r>
            <a:r>
              <a:rPr lang="tr-TR" sz="1800" dirty="0" smtClean="0">
                <a:latin typeface="Arial Narrow" panose="020B0606020202030204" pitchFamily="34" charset="0"/>
              </a:rPr>
              <a:t> Finance </a:t>
            </a:r>
            <a:r>
              <a:rPr lang="tr-TR" sz="1800" dirty="0" err="1" smtClean="0">
                <a:latin typeface="Arial Narrow" panose="020B0606020202030204" pitchFamily="34" charset="0"/>
              </a:rPr>
              <a:t>involves</a:t>
            </a:r>
            <a:endParaRPr lang="tr-TR" sz="1800" dirty="0" smtClean="0">
              <a:latin typeface="Arial Narrow" panose="020B0606020202030204" pitchFamily="34" charset="0"/>
            </a:endParaRPr>
          </a:p>
          <a:p>
            <a:pPr marL="0" lvl="0" indent="0" algn="ctr">
              <a:spcBef>
                <a:spcPts val="0"/>
              </a:spcBef>
              <a:buNone/>
            </a:pPr>
            <a:r>
              <a:rPr lang="tr-TR" sz="1800" dirty="0" smtClean="0">
                <a:latin typeface="Arial Narrow" panose="020B0606020202030204" pitchFamily="34" charset="0"/>
              </a:rPr>
              <a:t>Financial </a:t>
            </a:r>
            <a:r>
              <a:rPr lang="tr-TR" sz="1800" dirty="0" err="1" smtClean="0">
                <a:latin typeface="Arial Narrow" panose="020B0606020202030204" pitchFamily="34" charset="0"/>
              </a:rPr>
              <a:t>Intermediaries</a:t>
            </a:r>
            <a:r>
              <a:rPr lang="tr-TR" sz="1800" dirty="0" smtClean="0">
                <a:latin typeface="Arial Narrow" panose="020B0606020202030204" pitchFamily="34" charset="0"/>
              </a:rPr>
              <a:t> </a:t>
            </a:r>
            <a:r>
              <a:rPr lang="tr-TR" sz="1800" dirty="0" err="1" smtClean="0">
                <a:latin typeface="Arial Narrow" panose="020B0606020202030204" pitchFamily="34" charset="0"/>
              </a:rPr>
              <a:t>that</a:t>
            </a:r>
            <a:r>
              <a:rPr lang="tr-TR" sz="1800" dirty="0" smtClean="0">
                <a:latin typeface="Arial Narrow" panose="020B0606020202030204" pitchFamily="34" charset="0"/>
              </a:rPr>
              <a:t> </a:t>
            </a:r>
            <a:r>
              <a:rPr lang="tr-TR" sz="1800" dirty="0" err="1" smtClean="0">
                <a:latin typeface="Arial Narrow" panose="020B0606020202030204" pitchFamily="34" charset="0"/>
              </a:rPr>
              <a:t>stand</a:t>
            </a:r>
            <a:r>
              <a:rPr lang="tr-TR" sz="1800" dirty="0" smtClean="0">
                <a:latin typeface="Arial Narrow" panose="020B0606020202030204" pitchFamily="34" charset="0"/>
              </a:rPr>
              <a:t> </a:t>
            </a:r>
            <a:r>
              <a:rPr lang="tr-TR" sz="1800" dirty="0" err="1" smtClean="0">
                <a:latin typeface="Arial Narrow" panose="020B0606020202030204" pitchFamily="34" charset="0"/>
              </a:rPr>
              <a:t>between</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lender-savers</a:t>
            </a:r>
            <a:r>
              <a:rPr lang="tr-TR" sz="1800" dirty="0" smtClean="0">
                <a:latin typeface="Arial Narrow" panose="020B0606020202030204" pitchFamily="34" charset="0"/>
              </a:rPr>
              <a:t> </a:t>
            </a: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borrower-spenders</a:t>
            </a:r>
            <a:endParaRPr lang="tr-TR" sz="1800" dirty="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helps</a:t>
            </a:r>
            <a:r>
              <a:rPr lang="tr-TR" sz="1800" dirty="0" smtClean="0">
                <a:latin typeface="Arial Narrow" panose="020B0606020202030204" pitchFamily="34" charset="0"/>
              </a:rPr>
              <a:t> transfer </a:t>
            </a:r>
            <a:r>
              <a:rPr lang="tr-TR" sz="1800" dirty="0" err="1" smtClean="0">
                <a:latin typeface="Arial Narrow" panose="020B0606020202030204" pitchFamily="34" charset="0"/>
              </a:rPr>
              <a:t>funds</a:t>
            </a:r>
            <a:r>
              <a:rPr lang="tr-TR" sz="1800" dirty="0" smtClean="0">
                <a:latin typeface="Arial Narrow" panose="020B0606020202030204" pitchFamily="34" charset="0"/>
              </a:rPr>
              <a:t> </a:t>
            </a:r>
            <a:r>
              <a:rPr lang="tr-TR" sz="1800" dirty="0" err="1" smtClean="0">
                <a:latin typeface="Arial Narrow" panose="020B0606020202030204" pitchFamily="34" charset="0"/>
              </a:rPr>
              <a:t>from</a:t>
            </a:r>
            <a:r>
              <a:rPr lang="tr-TR" sz="1800" dirty="0" smtClean="0">
                <a:latin typeface="Arial Narrow" panose="020B0606020202030204" pitchFamily="34" charset="0"/>
              </a:rPr>
              <a:t> </a:t>
            </a:r>
            <a:r>
              <a:rPr lang="tr-TR" sz="1800" dirty="0" err="1" smtClean="0">
                <a:latin typeface="Arial Narrow" panose="020B0606020202030204" pitchFamily="34" charset="0"/>
              </a:rPr>
              <a:t>one</a:t>
            </a:r>
            <a:r>
              <a:rPr lang="tr-TR" sz="1800" dirty="0" smtClean="0">
                <a:latin typeface="Arial Narrow" panose="020B0606020202030204" pitchFamily="34" charset="0"/>
              </a:rPr>
              <a:t> </a:t>
            </a: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other</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This</a:t>
            </a:r>
            <a:r>
              <a:rPr lang="tr-TR" sz="1800" dirty="0" smtClean="0">
                <a:latin typeface="Arial Narrow" panose="020B0606020202030204" pitchFamily="34" charset="0"/>
              </a:rPr>
              <a:t> is </a:t>
            </a:r>
            <a:r>
              <a:rPr lang="tr-TR" sz="1800" dirty="0" err="1" smtClean="0">
                <a:latin typeface="Arial Narrow" panose="020B0606020202030204" pitchFamily="34" charset="0"/>
              </a:rPr>
              <a:t>called</a:t>
            </a:r>
            <a:r>
              <a:rPr lang="tr-TR" sz="1800" dirty="0" smtClean="0">
                <a:latin typeface="Arial Narrow" panose="020B0606020202030204" pitchFamily="34" charset="0"/>
              </a:rPr>
              <a:t> </a:t>
            </a:r>
            <a:r>
              <a:rPr lang="tr-TR" sz="1800" dirty="0" err="1" smtClean="0">
                <a:latin typeface="Arial Narrow" panose="020B0606020202030204" pitchFamily="34" charset="0"/>
              </a:rPr>
              <a:t>financial</a:t>
            </a:r>
            <a:r>
              <a:rPr lang="tr-TR" sz="1800" dirty="0" smtClean="0">
                <a:latin typeface="Arial Narrow" panose="020B0606020202030204" pitchFamily="34" charset="0"/>
              </a:rPr>
              <a:t> </a:t>
            </a:r>
            <a:r>
              <a:rPr lang="tr-TR" sz="1800" dirty="0" err="1" smtClean="0">
                <a:latin typeface="Arial Narrow" panose="020B0606020202030204" pitchFamily="34" charset="0"/>
              </a:rPr>
              <a:t>intermediation</a:t>
            </a:r>
            <a:r>
              <a:rPr lang="tr-TR" sz="1800" dirty="0" smtClean="0">
                <a:latin typeface="Arial Narrow" panose="020B0606020202030204" pitchFamily="34" charset="0"/>
              </a:rPr>
              <a:t>.</a:t>
            </a: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r>
              <a:rPr lang="tr-TR" sz="1800" dirty="0" smtClean="0">
                <a:latin typeface="Arial Narrow" panose="020B0606020202030204" pitchFamily="34" charset="0"/>
              </a:rPr>
              <a:t>Financial </a:t>
            </a:r>
            <a:r>
              <a:rPr lang="tr-TR" sz="1800" dirty="0" err="1" smtClean="0">
                <a:latin typeface="Arial Narrow" panose="020B0606020202030204" pitchFamily="34" charset="0"/>
              </a:rPr>
              <a:t>Intermediaries</a:t>
            </a:r>
            <a:r>
              <a:rPr lang="tr-TR" sz="1800" dirty="0" smtClean="0">
                <a:latin typeface="Arial Narrow" panose="020B0606020202030204" pitchFamily="34" charset="0"/>
              </a:rPr>
              <a:t> can </a:t>
            </a:r>
            <a:r>
              <a:rPr lang="tr-TR" sz="1800" dirty="0" err="1" smtClean="0">
                <a:latin typeface="Arial Narrow" panose="020B0606020202030204" pitchFamily="34" charset="0"/>
              </a:rPr>
              <a:t>substantially</a:t>
            </a:r>
            <a:r>
              <a:rPr lang="tr-TR" sz="1800" dirty="0" smtClean="0">
                <a:latin typeface="Arial Narrow" panose="020B0606020202030204" pitchFamily="34" charset="0"/>
              </a:rPr>
              <a:t> </a:t>
            </a:r>
            <a:r>
              <a:rPr lang="tr-TR" sz="1800" dirty="0" err="1" smtClean="0">
                <a:latin typeface="Arial Narrow" panose="020B0606020202030204" pitchFamily="34" charset="0"/>
              </a:rPr>
              <a:t>reduce</a:t>
            </a:r>
            <a:r>
              <a:rPr lang="tr-TR" sz="1800" dirty="0" smtClean="0">
                <a:latin typeface="Arial Narrow" panose="020B0606020202030204" pitchFamily="34" charset="0"/>
              </a:rPr>
              <a:t> </a:t>
            </a:r>
            <a:r>
              <a:rPr lang="tr-TR" sz="1800" dirty="0" err="1" smtClean="0">
                <a:latin typeface="Arial Narrow" panose="020B0606020202030204" pitchFamily="34" charset="0"/>
              </a:rPr>
              <a:t>transaction</a:t>
            </a:r>
            <a:r>
              <a:rPr lang="tr-TR" sz="1800" dirty="0" smtClean="0">
                <a:latin typeface="Arial Narrow" panose="020B0606020202030204" pitchFamily="34" charset="0"/>
              </a:rPr>
              <a:t> </a:t>
            </a:r>
            <a:r>
              <a:rPr lang="tr-TR" sz="1800" dirty="0" err="1" smtClean="0">
                <a:latin typeface="Arial Narrow" panose="020B0606020202030204" pitchFamily="34" charset="0"/>
              </a:rPr>
              <a:t>costs</a:t>
            </a:r>
            <a:endParaRPr lang="tr-TR" sz="18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because</a:t>
            </a:r>
            <a:r>
              <a:rPr lang="tr-TR" sz="1800" dirty="0" smtClean="0">
                <a:latin typeface="Arial Narrow" panose="020B0606020202030204" pitchFamily="34" charset="0"/>
              </a:rPr>
              <a:t> </a:t>
            </a:r>
            <a:r>
              <a:rPr lang="tr-TR" sz="1800" dirty="0" err="1" smtClean="0">
                <a:latin typeface="Arial Narrow" panose="020B0606020202030204" pitchFamily="34" charset="0"/>
              </a:rPr>
              <a:t>they</a:t>
            </a:r>
            <a:r>
              <a:rPr lang="tr-TR" sz="1800" dirty="0" smtClean="0">
                <a:latin typeface="Arial Narrow" panose="020B0606020202030204" pitchFamily="34" charset="0"/>
              </a:rPr>
              <a:t> </a:t>
            </a:r>
            <a:r>
              <a:rPr lang="tr-TR" sz="1800" dirty="0" err="1" smtClean="0">
                <a:latin typeface="Arial Narrow" panose="020B0606020202030204" pitchFamily="34" charset="0"/>
              </a:rPr>
              <a:t>have</a:t>
            </a:r>
            <a:r>
              <a:rPr lang="tr-TR" sz="1800" dirty="0" smtClean="0">
                <a:latin typeface="Arial Narrow" panose="020B0606020202030204" pitchFamily="34" charset="0"/>
              </a:rPr>
              <a:t> </a:t>
            </a:r>
            <a:r>
              <a:rPr lang="tr-TR" sz="1800" dirty="0" err="1" smtClean="0">
                <a:latin typeface="Arial Narrow" panose="020B0606020202030204" pitchFamily="34" charset="0"/>
              </a:rPr>
              <a:t>developed</a:t>
            </a:r>
            <a:r>
              <a:rPr lang="tr-TR" sz="1800" dirty="0" smtClean="0">
                <a:latin typeface="Arial Narrow" panose="020B0606020202030204" pitchFamily="34" charset="0"/>
              </a:rPr>
              <a:t> </a:t>
            </a:r>
            <a:r>
              <a:rPr lang="tr-TR" sz="1800" dirty="0" err="1" smtClean="0">
                <a:latin typeface="Arial Narrow" panose="020B0606020202030204" pitchFamily="34" charset="0"/>
              </a:rPr>
              <a:t>expertise</a:t>
            </a:r>
            <a:r>
              <a:rPr lang="tr-TR" sz="1800" dirty="0" smtClean="0">
                <a:latin typeface="Arial Narrow" panose="020B0606020202030204" pitchFamily="34" charset="0"/>
              </a:rPr>
              <a:t> in </a:t>
            </a:r>
            <a:r>
              <a:rPr lang="tr-TR" sz="1800" dirty="0" err="1" smtClean="0">
                <a:latin typeface="Arial Narrow" panose="020B0606020202030204" pitchFamily="34" charset="0"/>
              </a:rPr>
              <a:t>lowering</a:t>
            </a:r>
            <a:r>
              <a:rPr lang="tr-TR" sz="1800" dirty="0" smtClean="0">
                <a:latin typeface="Arial Narrow" panose="020B0606020202030204" pitchFamily="34" charset="0"/>
              </a:rPr>
              <a:t> </a:t>
            </a:r>
            <a:r>
              <a:rPr lang="tr-TR" sz="1800" dirty="0" err="1" smtClean="0">
                <a:latin typeface="Arial Narrow" panose="020B0606020202030204" pitchFamily="34" charset="0"/>
              </a:rPr>
              <a:t>them</a:t>
            </a:r>
            <a:endParaRPr lang="tr-TR" sz="1800" dirty="0" smtClean="0">
              <a:latin typeface="Arial Narrow" panose="020B0606020202030204" pitchFamily="34" charset="0"/>
            </a:endParaRPr>
          </a:p>
          <a:p>
            <a:pPr marL="0" lvl="0" indent="0" algn="ctr">
              <a:spcBef>
                <a:spcPts val="0"/>
              </a:spcBef>
              <a:buNone/>
            </a:pPr>
            <a:r>
              <a:rPr lang="tr-TR" sz="1800" dirty="0" err="1">
                <a:latin typeface="Arial Narrow" panose="020B0606020202030204" pitchFamily="34" charset="0"/>
              </a:rPr>
              <a:t>a</a:t>
            </a:r>
            <a:r>
              <a:rPr lang="tr-TR" sz="1800" dirty="0" err="1" smtClean="0">
                <a:latin typeface="Arial Narrow" panose="020B0606020202030204" pitchFamily="34" charset="0"/>
              </a:rPr>
              <a:t>nd</a:t>
            </a:r>
            <a:r>
              <a:rPr lang="tr-TR" sz="1800" dirty="0" smtClean="0">
                <a:latin typeface="Arial Narrow" panose="020B0606020202030204" pitchFamily="34" charset="0"/>
              </a:rPr>
              <a:t> </a:t>
            </a:r>
            <a:r>
              <a:rPr lang="tr-TR" sz="1800" dirty="0" err="1" smtClean="0">
                <a:latin typeface="Arial Narrow" panose="020B0606020202030204" pitchFamily="34" charset="0"/>
              </a:rPr>
              <a:t>because</a:t>
            </a:r>
            <a:r>
              <a:rPr lang="tr-TR" sz="1800" dirty="0" smtClean="0">
                <a:latin typeface="Arial Narrow" panose="020B0606020202030204" pitchFamily="34" charset="0"/>
              </a:rPr>
              <a:t> </a:t>
            </a:r>
            <a:r>
              <a:rPr lang="tr-TR" sz="1800" dirty="0" err="1" smtClean="0">
                <a:latin typeface="Arial Narrow" panose="020B0606020202030204" pitchFamily="34" charset="0"/>
              </a:rPr>
              <a:t>their</a:t>
            </a:r>
            <a:r>
              <a:rPr lang="tr-TR" sz="1800" dirty="0" smtClean="0">
                <a:latin typeface="Arial Narrow" panose="020B0606020202030204" pitchFamily="34" charset="0"/>
              </a:rPr>
              <a:t> </a:t>
            </a:r>
            <a:r>
              <a:rPr lang="tr-TR" sz="1800" dirty="0" err="1" smtClean="0">
                <a:latin typeface="Arial Narrow" panose="020B0606020202030204" pitchFamily="34" charset="0"/>
              </a:rPr>
              <a:t>large</a:t>
            </a:r>
            <a:r>
              <a:rPr lang="tr-TR" sz="1800" dirty="0" smtClean="0">
                <a:latin typeface="Arial Narrow" panose="020B0606020202030204" pitchFamily="34" charset="0"/>
              </a:rPr>
              <a:t> size </a:t>
            </a:r>
            <a:r>
              <a:rPr lang="tr-TR" sz="1800" dirty="0" err="1" smtClean="0">
                <a:latin typeface="Arial Narrow" panose="020B0606020202030204" pitchFamily="34" charset="0"/>
              </a:rPr>
              <a:t>allows</a:t>
            </a:r>
            <a:r>
              <a:rPr lang="tr-TR" sz="1800" dirty="0" smtClean="0">
                <a:latin typeface="Arial Narrow" panose="020B0606020202030204" pitchFamily="34" charset="0"/>
              </a:rPr>
              <a:t> </a:t>
            </a:r>
            <a:r>
              <a:rPr lang="tr-TR" sz="1800" dirty="0" err="1" smtClean="0">
                <a:latin typeface="Arial Narrow" panose="020B0606020202030204" pitchFamily="34" charset="0"/>
              </a:rPr>
              <a:t>them</a:t>
            </a:r>
            <a:r>
              <a:rPr lang="tr-TR" sz="1800" dirty="0" smtClean="0">
                <a:latin typeface="Arial Narrow" panose="020B0606020202030204" pitchFamily="34" charset="0"/>
              </a:rPr>
              <a:t> </a:t>
            </a: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take</a:t>
            </a:r>
            <a:r>
              <a:rPr lang="tr-TR" sz="1800" dirty="0" smtClean="0">
                <a:latin typeface="Arial Narrow" panose="020B0606020202030204" pitchFamily="34" charset="0"/>
              </a:rPr>
              <a:t> </a:t>
            </a:r>
            <a:r>
              <a:rPr lang="tr-TR" sz="1800" dirty="0" err="1" smtClean="0">
                <a:latin typeface="Arial Narrow" panose="020B0606020202030204" pitchFamily="34" charset="0"/>
              </a:rPr>
              <a:t>advantage</a:t>
            </a:r>
            <a:r>
              <a:rPr lang="tr-TR" sz="1800" dirty="0" smtClean="0">
                <a:latin typeface="Arial Narrow" panose="020B0606020202030204" pitchFamily="34" charset="0"/>
              </a:rPr>
              <a:t> of </a:t>
            </a:r>
            <a:r>
              <a:rPr lang="tr-TR" sz="1800" dirty="0" err="1" smtClean="0">
                <a:latin typeface="Arial Narrow" panose="020B0606020202030204" pitchFamily="34" charset="0"/>
              </a:rPr>
              <a:t>Economies</a:t>
            </a:r>
            <a:r>
              <a:rPr lang="tr-TR" sz="1800" dirty="0" smtClean="0">
                <a:latin typeface="Arial Narrow" panose="020B0606020202030204" pitchFamily="34" charset="0"/>
              </a:rPr>
              <a:t> of </a:t>
            </a:r>
            <a:r>
              <a:rPr lang="tr-TR" sz="1800" dirty="0" err="1" smtClean="0">
                <a:latin typeface="Arial Narrow" panose="020B0606020202030204" pitchFamily="34" charset="0"/>
              </a:rPr>
              <a:t>Scale</a:t>
            </a:r>
            <a:r>
              <a:rPr lang="tr-TR" sz="1800" dirty="0" smtClean="0">
                <a:latin typeface="Arial Narrow" panose="020B0606020202030204" pitchFamily="34" charset="0"/>
              </a:rPr>
              <a:t>,</a:t>
            </a:r>
          </a:p>
          <a:p>
            <a:pPr marL="0" lvl="0" indent="0" algn="ctr">
              <a:spcBef>
                <a:spcPts val="0"/>
              </a:spcBef>
              <a:buNone/>
            </a:pPr>
            <a:r>
              <a:rPr lang="tr-TR" sz="1600" dirty="0" err="1" smtClean="0">
                <a:latin typeface="Arial Narrow" panose="020B0606020202030204" pitchFamily="34" charset="0"/>
              </a:rPr>
              <a:t>i.e</a:t>
            </a:r>
            <a:r>
              <a:rPr lang="tr-TR" sz="1600" dirty="0" smtClean="0">
                <a:latin typeface="Arial Narrow" panose="020B0606020202030204" pitchFamily="34" charset="0"/>
              </a:rPr>
              <a:t>. </a:t>
            </a:r>
            <a:r>
              <a:rPr lang="tr-TR" sz="1600" dirty="0" err="1">
                <a:latin typeface="Arial Narrow" panose="020B0606020202030204" pitchFamily="34" charset="0"/>
              </a:rPr>
              <a:t>t</a:t>
            </a:r>
            <a:r>
              <a:rPr lang="tr-TR" sz="1600" dirty="0" err="1" smtClean="0">
                <a:latin typeface="Arial Narrow" panose="020B0606020202030204" pitchFamily="34" charset="0"/>
              </a:rPr>
              <a:t>he</a:t>
            </a:r>
            <a:r>
              <a:rPr lang="tr-TR" sz="1600" dirty="0" smtClean="0">
                <a:latin typeface="Arial Narrow" panose="020B0606020202030204" pitchFamily="34" charset="0"/>
              </a:rPr>
              <a:t> </a:t>
            </a:r>
            <a:r>
              <a:rPr lang="tr-TR" sz="1600" dirty="0" err="1" smtClean="0">
                <a:latin typeface="Arial Narrow" panose="020B0606020202030204" pitchFamily="34" charset="0"/>
              </a:rPr>
              <a:t>reduction</a:t>
            </a:r>
            <a:r>
              <a:rPr lang="tr-TR" sz="1600" dirty="0" smtClean="0">
                <a:latin typeface="Arial Narrow" panose="020B0606020202030204" pitchFamily="34" charset="0"/>
              </a:rPr>
              <a:t> in </a:t>
            </a:r>
            <a:r>
              <a:rPr lang="tr-TR" sz="1600" dirty="0" err="1" smtClean="0">
                <a:latin typeface="Arial Narrow" panose="020B0606020202030204" pitchFamily="34" charset="0"/>
              </a:rPr>
              <a:t>transaction</a:t>
            </a:r>
            <a:r>
              <a:rPr lang="tr-TR" sz="1600" dirty="0" smtClean="0">
                <a:latin typeface="Arial Narrow" panose="020B0606020202030204" pitchFamily="34" charset="0"/>
              </a:rPr>
              <a:t> </a:t>
            </a:r>
            <a:r>
              <a:rPr lang="tr-TR" sz="1600" dirty="0" err="1" smtClean="0">
                <a:latin typeface="Arial Narrow" panose="020B0606020202030204" pitchFamily="34" charset="0"/>
              </a:rPr>
              <a:t>costs</a:t>
            </a:r>
            <a:r>
              <a:rPr lang="tr-TR" sz="1600" dirty="0" smtClean="0">
                <a:latin typeface="Arial Narrow" panose="020B0606020202030204" pitchFamily="34" charset="0"/>
              </a:rPr>
              <a:t> </a:t>
            </a:r>
            <a:r>
              <a:rPr lang="tr-TR" sz="1600" dirty="0" err="1" smtClean="0">
                <a:latin typeface="Arial Narrow" panose="020B0606020202030204" pitchFamily="34" charset="0"/>
              </a:rPr>
              <a:t>per</a:t>
            </a:r>
            <a:r>
              <a:rPr lang="tr-TR" sz="1600" dirty="0" smtClean="0">
                <a:latin typeface="Arial Narrow" panose="020B0606020202030204" pitchFamily="34" charset="0"/>
              </a:rPr>
              <a:t> </a:t>
            </a:r>
            <a:r>
              <a:rPr lang="tr-TR" sz="1600" dirty="0" err="1" smtClean="0">
                <a:latin typeface="Arial Narrow" panose="020B0606020202030204" pitchFamily="34" charset="0"/>
              </a:rPr>
              <a:t>dollar</a:t>
            </a:r>
            <a:r>
              <a:rPr lang="tr-TR" sz="1600" dirty="0" smtClean="0">
                <a:latin typeface="Arial Narrow" panose="020B0606020202030204" pitchFamily="34" charset="0"/>
              </a:rPr>
              <a:t> of </a:t>
            </a:r>
            <a:r>
              <a:rPr lang="tr-TR" sz="1600" dirty="0" err="1" smtClean="0">
                <a:latin typeface="Arial Narrow" panose="020B0606020202030204" pitchFamily="34" charset="0"/>
              </a:rPr>
              <a:t>transactions</a:t>
            </a:r>
            <a:endParaRPr lang="tr-TR" sz="1600" dirty="0" smtClean="0">
              <a:latin typeface="Arial Narrow" panose="020B0606020202030204" pitchFamily="34" charset="0"/>
            </a:endParaRPr>
          </a:p>
          <a:p>
            <a:pPr marL="0" lvl="0" indent="0" algn="ctr">
              <a:spcBef>
                <a:spcPts val="0"/>
              </a:spcBef>
              <a:buNone/>
            </a:pPr>
            <a:r>
              <a:rPr lang="tr-TR" sz="1600" dirty="0" smtClean="0">
                <a:latin typeface="Arial Narrow" panose="020B0606020202030204" pitchFamily="34" charset="0"/>
              </a:rPr>
              <a:t>as </a:t>
            </a:r>
            <a:r>
              <a:rPr lang="tr-TR" sz="1600" dirty="0" err="1" smtClean="0">
                <a:latin typeface="Arial Narrow" panose="020B0606020202030204" pitchFamily="34" charset="0"/>
              </a:rPr>
              <a:t>the</a:t>
            </a:r>
            <a:r>
              <a:rPr lang="tr-TR" sz="1600" dirty="0" smtClean="0">
                <a:latin typeface="Arial Narrow" panose="020B0606020202030204" pitchFamily="34" charset="0"/>
              </a:rPr>
              <a:t> size (</a:t>
            </a:r>
            <a:r>
              <a:rPr lang="tr-TR" sz="1600" dirty="0" err="1" smtClean="0">
                <a:latin typeface="Arial Narrow" panose="020B0606020202030204" pitchFamily="34" charset="0"/>
              </a:rPr>
              <a:t>scale</a:t>
            </a:r>
            <a:r>
              <a:rPr lang="tr-TR" sz="1600" dirty="0" smtClean="0">
                <a:latin typeface="Arial Narrow" panose="020B0606020202030204" pitchFamily="34" charset="0"/>
              </a:rPr>
              <a:t>) of </a:t>
            </a:r>
            <a:r>
              <a:rPr lang="tr-TR" sz="1600" dirty="0" err="1" smtClean="0">
                <a:latin typeface="Arial Narrow" panose="020B0606020202030204" pitchFamily="34" charset="0"/>
              </a:rPr>
              <a:t>transactions</a:t>
            </a:r>
            <a:r>
              <a:rPr lang="tr-TR" sz="1600" dirty="0" smtClean="0">
                <a:latin typeface="Arial Narrow" panose="020B0606020202030204" pitchFamily="34" charset="0"/>
              </a:rPr>
              <a:t> </a:t>
            </a:r>
            <a:r>
              <a:rPr lang="tr-TR" sz="1600" dirty="0" err="1" smtClean="0">
                <a:latin typeface="Arial Narrow" panose="020B0606020202030204" pitchFamily="34" charset="0"/>
              </a:rPr>
              <a:t>increase</a:t>
            </a:r>
            <a:r>
              <a:rPr lang="tr-TR" sz="1600" dirty="0" smtClean="0">
                <a:latin typeface="Arial Narrow" panose="020B0606020202030204" pitchFamily="34" charset="0"/>
              </a:rPr>
              <a:t>.</a:t>
            </a:r>
          </a:p>
          <a:p>
            <a:pPr marL="0" lvl="0" indent="0" algn="ctr">
              <a:spcBef>
                <a:spcPts val="0"/>
              </a:spcBef>
              <a:buNone/>
            </a:pPr>
            <a:endParaRPr lang="tr-TR" sz="1600" dirty="0">
              <a:latin typeface="Arial Narrow" panose="020B0606020202030204" pitchFamily="34" charset="0"/>
            </a:endParaRPr>
          </a:p>
          <a:p>
            <a:pPr marL="0" lvl="0" indent="0" algn="ctr">
              <a:spcBef>
                <a:spcPts val="0"/>
              </a:spcBef>
              <a:buNone/>
            </a:pPr>
            <a:r>
              <a:rPr lang="tr-TR" sz="1600" dirty="0" smtClean="0">
                <a:latin typeface="Arial Narrow" panose="020B0606020202030204" pitchFamily="34" charset="0"/>
              </a:rPr>
              <a:t>Financial </a:t>
            </a:r>
            <a:r>
              <a:rPr lang="tr-TR" sz="1600" dirty="0" err="1" smtClean="0">
                <a:latin typeface="Arial Narrow" panose="020B0606020202030204" pitchFamily="34" charset="0"/>
              </a:rPr>
              <a:t>Intermediaries</a:t>
            </a:r>
            <a:r>
              <a:rPr lang="tr-TR" sz="1600" dirty="0" smtClean="0">
                <a:latin typeface="Arial Narrow" panose="020B0606020202030204" pitchFamily="34" charset="0"/>
              </a:rPr>
              <a:t> </a:t>
            </a:r>
            <a:r>
              <a:rPr lang="tr-TR" sz="1600" dirty="0" err="1" smtClean="0">
                <a:latin typeface="Arial Narrow" panose="020B0606020202030204" pitchFamily="34" charset="0"/>
              </a:rPr>
              <a:t>may</a:t>
            </a:r>
            <a:r>
              <a:rPr lang="tr-TR" sz="1600" dirty="0" smtClean="0">
                <a:latin typeface="Arial Narrow" panose="020B0606020202030204" pitchFamily="34" charset="0"/>
              </a:rPr>
              <a:t> </a:t>
            </a:r>
            <a:r>
              <a:rPr lang="tr-TR" sz="1600" dirty="0" err="1" smtClean="0">
                <a:latin typeface="Arial Narrow" panose="020B0606020202030204" pitchFamily="34" charset="0"/>
              </a:rPr>
              <a:t>also</a:t>
            </a:r>
            <a:r>
              <a:rPr lang="tr-TR" sz="1600" dirty="0" smtClean="0">
                <a:latin typeface="Arial Narrow" panose="020B0606020202030204" pitchFamily="34" charset="0"/>
              </a:rPr>
              <a:t> </a:t>
            </a:r>
            <a:r>
              <a:rPr lang="tr-TR" sz="1600" dirty="0" err="1" smtClean="0">
                <a:latin typeface="Arial Narrow" panose="020B0606020202030204" pitchFamily="34" charset="0"/>
              </a:rPr>
              <a:t>provide</a:t>
            </a:r>
            <a:r>
              <a:rPr lang="tr-TR" sz="1600" dirty="0" smtClean="0">
                <a:latin typeface="Arial Narrow" panose="020B0606020202030204" pitchFamily="34" charset="0"/>
              </a:rPr>
              <a:t> </a:t>
            </a:r>
            <a:r>
              <a:rPr lang="tr-TR" sz="1600" dirty="0" err="1" smtClean="0">
                <a:latin typeface="Arial Narrow" panose="020B0606020202030204" pitchFamily="34" charset="0"/>
              </a:rPr>
              <a:t>liquidity</a:t>
            </a:r>
            <a:r>
              <a:rPr lang="tr-TR" sz="1600" dirty="0" smtClean="0">
                <a:latin typeface="Arial Narrow" panose="020B0606020202030204" pitchFamily="34" charset="0"/>
              </a:rPr>
              <a:t> </a:t>
            </a:r>
            <a:r>
              <a:rPr lang="tr-TR" sz="1600" dirty="0" err="1" smtClean="0">
                <a:latin typeface="Arial Narrow" panose="020B0606020202030204" pitchFamily="34" charset="0"/>
              </a:rPr>
              <a:t>services</a:t>
            </a:r>
            <a:endParaRPr lang="tr-TR" sz="1600" dirty="0" smtClean="0">
              <a:latin typeface="Arial Narrow" panose="020B0606020202030204" pitchFamily="34" charset="0"/>
            </a:endParaRPr>
          </a:p>
          <a:p>
            <a:pPr marL="0" lvl="0" indent="0" algn="ctr">
              <a:spcBef>
                <a:spcPts val="0"/>
              </a:spcBef>
              <a:buNone/>
            </a:pPr>
            <a:r>
              <a:rPr lang="tr-TR" sz="1600" dirty="0" err="1">
                <a:latin typeface="Arial Narrow" panose="020B0606020202030204" pitchFamily="34" charset="0"/>
              </a:rPr>
              <a:t>s</a:t>
            </a:r>
            <a:r>
              <a:rPr lang="tr-TR" sz="1600" dirty="0" err="1" smtClean="0">
                <a:latin typeface="Arial Narrow" panose="020B0606020202030204" pitchFamily="34" charset="0"/>
              </a:rPr>
              <a:t>uch</a:t>
            </a:r>
            <a:r>
              <a:rPr lang="tr-TR" sz="1600" dirty="0" smtClean="0">
                <a:latin typeface="Arial Narrow" panose="020B0606020202030204" pitchFamily="34" charset="0"/>
              </a:rPr>
              <a:t> as </a:t>
            </a:r>
            <a:r>
              <a:rPr lang="tr-TR" sz="1600" dirty="0" err="1" smtClean="0">
                <a:latin typeface="Arial Narrow" panose="020B0606020202030204" pitchFamily="34" charset="0"/>
              </a:rPr>
              <a:t>banks</a:t>
            </a:r>
            <a:r>
              <a:rPr lang="tr-TR" sz="1600" dirty="0" smtClean="0">
                <a:latin typeface="Arial Narrow" panose="020B0606020202030204" pitchFamily="34" charset="0"/>
              </a:rPr>
              <a:t> </a:t>
            </a:r>
            <a:r>
              <a:rPr lang="tr-TR" sz="1600" dirty="0" err="1" smtClean="0">
                <a:latin typeface="Arial Narrow" panose="020B0606020202030204" pitchFamily="34" charset="0"/>
              </a:rPr>
              <a:t>providing</a:t>
            </a:r>
            <a:r>
              <a:rPr lang="tr-TR" sz="1600" dirty="0" smtClean="0">
                <a:latin typeface="Arial Narrow" panose="020B0606020202030204" pitchFamily="34" charset="0"/>
              </a:rPr>
              <a:t> </a:t>
            </a:r>
            <a:r>
              <a:rPr lang="tr-TR" sz="1600" dirty="0" err="1" smtClean="0">
                <a:latin typeface="Arial Narrow" panose="020B0606020202030204" pitchFamily="34" charset="0"/>
              </a:rPr>
              <a:t>depositors</a:t>
            </a:r>
            <a:r>
              <a:rPr lang="tr-TR" sz="1600" dirty="0" smtClean="0">
                <a:latin typeface="Arial Narrow" panose="020B0606020202030204" pitchFamily="34" charset="0"/>
              </a:rPr>
              <a:t> </a:t>
            </a:r>
            <a:r>
              <a:rPr lang="tr-TR" sz="1600" dirty="0" err="1" smtClean="0">
                <a:latin typeface="Arial Narrow" panose="020B0606020202030204" pitchFamily="34" charset="0"/>
              </a:rPr>
              <a:t>with</a:t>
            </a:r>
            <a:r>
              <a:rPr lang="tr-TR" sz="1600" dirty="0" smtClean="0">
                <a:latin typeface="Arial Narrow" panose="020B0606020202030204" pitchFamily="34" charset="0"/>
              </a:rPr>
              <a:t> </a:t>
            </a:r>
            <a:r>
              <a:rPr lang="tr-TR" sz="1600" dirty="0" err="1" smtClean="0">
                <a:latin typeface="Arial Narrow" panose="020B0606020202030204" pitchFamily="34" charset="0"/>
              </a:rPr>
              <a:t>checking</a:t>
            </a:r>
            <a:r>
              <a:rPr lang="tr-TR" sz="1600" dirty="0" smtClean="0">
                <a:latin typeface="Arial Narrow" panose="020B0606020202030204" pitchFamily="34" charset="0"/>
              </a:rPr>
              <a:t> </a:t>
            </a:r>
            <a:r>
              <a:rPr lang="tr-TR" sz="1600" dirty="0" err="1" smtClean="0">
                <a:latin typeface="Arial Narrow" panose="020B0606020202030204" pitchFamily="34" charset="0"/>
              </a:rPr>
              <a:t>accounts</a:t>
            </a:r>
            <a:r>
              <a:rPr lang="tr-TR" sz="1600" dirty="0" smtClean="0">
                <a:latin typeface="Arial Narrow" panose="020B0606020202030204" pitchFamily="34" charset="0"/>
              </a:rPr>
              <a:t> </a:t>
            </a:r>
            <a:r>
              <a:rPr lang="tr-TR" sz="1600" dirty="0" err="1" smtClean="0">
                <a:latin typeface="Arial Narrow" panose="020B0606020202030204" pitchFamily="34" charset="0"/>
              </a:rPr>
              <a:t>that</a:t>
            </a:r>
            <a:r>
              <a:rPr lang="tr-TR" sz="1600" dirty="0" smtClean="0">
                <a:latin typeface="Arial Narrow" panose="020B0606020202030204" pitchFamily="34" charset="0"/>
              </a:rPr>
              <a:t> </a:t>
            </a:r>
            <a:r>
              <a:rPr lang="tr-TR" sz="1600" dirty="0" err="1" smtClean="0">
                <a:latin typeface="Arial Narrow" panose="020B0606020202030204" pitchFamily="34" charset="0"/>
              </a:rPr>
              <a:t>enable</a:t>
            </a:r>
            <a:r>
              <a:rPr lang="tr-TR" sz="1600" dirty="0" smtClean="0">
                <a:latin typeface="Arial Narrow" panose="020B0606020202030204" pitchFamily="34" charset="0"/>
              </a:rPr>
              <a:t> </a:t>
            </a:r>
            <a:r>
              <a:rPr lang="tr-TR" sz="1600" dirty="0" err="1" smtClean="0">
                <a:latin typeface="Arial Narrow" panose="020B0606020202030204" pitchFamily="34" charset="0"/>
              </a:rPr>
              <a:t>them</a:t>
            </a:r>
            <a:r>
              <a:rPr lang="tr-TR" sz="1600" dirty="0" smtClean="0">
                <a:latin typeface="Arial Narrow" panose="020B0606020202030204" pitchFamily="34" charset="0"/>
              </a:rPr>
              <a:t> </a:t>
            </a:r>
            <a:r>
              <a:rPr lang="tr-TR" sz="1600" dirty="0" err="1" smtClean="0">
                <a:latin typeface="Arial Narrow" panose="020B0606020202030204" pitchFamily="34" charset="0"/>
              </a:rPr>
              <a:t>to</a:t>
            </a:r>
            <a:r>
              <a:rPr lang="tr-TR" sz="1600" dirty="0" smtClean="0">
                <a:latin typeface="Arial Narrow" panose="020B0606020202030204" pitchFamily="34" charset="0"/>
              </a:rPr>
              <a:t> pay </a:t>
            </a:r>
            <a:r>
              <a:rPr lang="tr-TR" sz="1600" dirty="0" err="1" smtClean="0">
                <a:latin typeface="Arial Narrow" panose="020B0606020202030204" pitchFamily="34" charset="0"/>
              </a:rPr>
              <a:t>their</a:t>
            </a:r>
            <a:r>
              <a:rPr lang="tr-TR" sz="1600" dirty="0" smtClean="0">
                <a:latin typeface="Arial Narrow" panose="020B0606020202030204" pitchFamily="34" charset="0"/>
              </a:rPr>
              <a:t> </a:t>
            </a:r>
            <a:r>
              <a:rPr lang="tr-TR" sz="1600" dirty="0" err="1" smtClean="0">
                <a:latin typeface="Arial Narrow" panose="020B0606020202030204" pitchFamily="34" charset="0"/>
              </a:rPr>
              <a:t>bills</a:t>
            </a:r>
            <a:r>
              <a:rPr lang="tr-TR" sz="1600" dirty="0" smtClean="0">
                <a:latin typeface="Arial Narrow" panose="020B0606020202030204" pitchFamily="34" charset="0"/>
              </a:rPr>
              <a:t> </a:t>
            </a:r>
            <a:r>
              <a:rPr lang="tr-TR" sz="1600" dirty="0" err="1" smtClean="0">
                <a:latin typeface="Arial Narrow" panose="020B0606020202030204" pitchFamily="34" charset="0"/>
              </a:rPr>
              <a:t>easily</a:t>
            </a:r>
            <a:r>
              <a:rPr lang="tr-TR" sz="1600" dirty="0" smtClean="0">
                <a:latin typeface="Arial Narrow" panose="020B0606020202030204" pitchFamily="34" charset="0"/>
              </a:rPr>
              <a:t>.</a:t>
            </a:r>
          </a:p>
          <a:p>
            <a:pPr marL="0" lvl="0" indent="0" algn="ctr">
              <a:spcBef>
                <a:spcPts val="0"/>
              </a:spcBef>
              <a:buNone/>
            </a:pPr>
            <a:endParaRPr lang="tr-TR" sz="1600" dirty="0">
              <a:latin typeface="Arial Narrow" panose="020B0606020202030204" pitchFamily="34" charset="0"/>
            </a:endParaRPr>
          </a:p>
          <a:p>
            <a:pPr marL="0" lvl="0" indent="0" algn="ctr">
              <a:spcBef>
                <a:spcPts val="0"/>
              </a:spcBef>
              <a:buNone/>
            </a:pPr>
            <a:r>
              <a:rPr lang="tr-TR" sz="1800" dirty="0" smtClean="0">
                <a:latin typeface="Arial Narrow" panose="020B0606020202030204" pitchFamily="34" charset="0"/>
              </a:rPr>
              <a:t>Financial </a:t>
            </a:r>
            <a:r>
              <a:rPr lang="tr-TR" sz="1800" dirty="0" err="1" smtClean="0">
                <a:latin typeface="Arial Narrow" panose="020B0606020202030204" pitchFamily="34" charset="0"/>
              </a:rPr>
              <a:t>Intermediaries</a:t>
            </a:r>
            <a:r>
              <a:rPr lang="tr-TR" sz="1800" dirty="0" smtClean="0">
                <a:latin typeface="Arial Narrow" panose="020B0606020202030204" pitchFamily="34" charset="0"/>
              </a:rPr>
              <a:t> </a:t>
            </a:r>
            <a:r>
              <a:rPr lang="tr-TR" sz="1800" dirty="0" err="1" smtClean="0">
                <a:latin typeface="Arial Narrow" panose="020B0606020202030204" pitchFamily="34" charset="0"/>
              </a:rPr>
              <a:t>help</a:t>
            </a:r>
            <a:r>
              <a:rPr lang="tr-TR" sz="1800" dirty="0" smtClean="0">
                <a:latin typeface="Arial Narrow" panose="020B0606020202030204" pitchFamily="34" charset="0"/>
              </a:rPr>
              <a:t> </a:t>
            </a:r>
            <a:r>
              <a:rPr lang="tr-TR" sz="1800" dirty="0" err="1" smtClean="0">
                <a:latin typeface="Arial Narrow" panose="020B0606020202030204" pitchFamily="34" charset="0"/>
              </a:rPr>
              <a:t>reduce</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exposure</a:t>
            </a:r>
            <a:r>
              <a:rPr lang="tr-TR" sz="1800" dirty="0" smtClean="0">
                <a:latin typeface="Arial Narrow" panose="020B0606020202030204" pitchFamily="34" charset="0"/>
              </a:rPr>
              <a:t> of </a:t>
            </a:r>
            <a:r>
              <a:rPr lang="tr-TR" sz="1800" dirty="0" err="1" smtClean="0">
                <a:latin typeface="Arial Narrow" panose="020B0606020202030204" pitchFamily="34" charset="0"/>
              </a:rPr>
              <a:t>investors</a:t>
            </a:r>
            <a:r>
              <a:rPr lang="tr-TR" sz="1800" dirty="0" smtClean="0">
                <a:latin typeface="Arial Narrow" panose="020B0606020202030204" pitchFamily="34" charset="0"/>
              </a:rPr>
              <a:t> </a:t>
            </a:r>
            <a:r>
              <a:rPr lang="tr-TR" sz="1800" dirty="0" err="1" smtClean="0">
                <a:latin typeface="Arial Narrow" panose="020B0606020202030204" pitchFamily="34" charset="0"/>
              </a:rPr>
              <a:t>to</a:t>
            </a:r>
            <a:r>
              <a:rPr lang="tr-TR" sz="1800" dirty="0" smtClean="0">
                <a:latin typeface="Arial Narrow" panose="020B0606020202030204" pitchFamily="34" charset="0"/>
              </a:rPr>
              <a:t> risk.</a:t>
            </a:r>
          </a:p>
          <a:p>
            <a:pPr marL="0" lvl="0" indent="0" algn="ctr">
              <a:spcBef>
                <a:spcPts val="0"/>
              </a:spcBef>
              <a:buNone/>
            </a:pPr>
            <a:r>
              <a:rPr lang="tr-TR" sz="1800" dirty="0" err="1" smtClean="0">
                <a:latin typeface="Arial Narrow" panose="020B0606020202030204" pitchFamily="34" charset="0"/>
              </a:rPr>
              <a:t>They</a:t>
            </a:r>
            <a:r>
              <a:rPr lang="tr-TR" sz="1800" dirty="0" smtClean="0">
                <a:latin typeface="Arial Narrow" panose="020B0606020202030204" pitchFamily="34" charset="0"/>
              </a:rPr>
              <a:t> </a:t>
            </a:r>
            <a:r>
              <a:rPr lang="tr-TR" sz="1800" dirty="0" err="1" smtClean="0">
                <a:latin typeface="Arial Narrow" panose="020B0606020202030204" pitchFamily="34" charset="0"/>
              </a:rPr>
              <a:t>create</a:t>
            </a:r>
            <a:r>
              <a:rPr lang="tr-TR" sz="1800" dirty="0" smtClean="0">
                <a:latin typeface="Arial Narrow" panose="020B0606020202030204" pitchFamily="34" charset="0"/>
              </a:rPr>
              <a:t> </a:t>
            </a: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sell</a:t>
            </a:r>
            <a:r>
              <a:rPr lang="tr-TR" sz="1800" dirty="0" smtClean="0">
                <a:latin typeface="Arial Narrow" panose="020B0606020202030204" pitchFamily="34" charset="0"/>
              </a:rPr>
              <a:t> </a:t>
            </a:r>
            <a:r>
              <a:rPr lang="tr-TR" sz="1800" dirty="0" err="1" smtClean="0">
                <a:latin typeface="Arial Narrow" panose="020B0606020202030204" pitchFamily="34" charset="0"/>
              </a:rPr>
              <a:t>assets</a:t>
            </a:r>
            <a:r>
              <a:rPr lang="tr-TR" sz="1800" dirty="0" smtClean="0">
                <a:latin typeface="Arial Narrow" panose="020B0606020202030204" pitchFamily="34" charset="0"/>
              </a:rPr>
              <a:t> </a:t>
            </a:r>
            <a:r>
              <a:rPr lang="tr-TR" sz="1800" dirty="0" err="1" smtClean="0">
                <a:latin typeface="Arial Narrow" panose="020B0606020202030204" pitchFamily="34" charset="0"/>
              </a:rPr>
              <a:t>with</a:t>
            </a:r>
            <a:r>
              <a:rPr lang="tr-TR" sz="1800" dirty="0" smtClean="0">
                <a:latin typeface="Arial Narrow" panose="020B0606020202030204" pitchFamily="34" charset="0"/>
              </a:rPr>
              <a:t> risk </a:t>
            </a:r>
            <a:r>
              <a:rPr lang="tr-TR" sz="1800" dirty="0" err="1" smtClean="0">
                <a:latin typeface="Arial Narrow" panose="020B0606020202030204" pitchFamily="34" charset="0"/>
              </a:rPr>
              <a:t>characteristics</a:t>
            </a:r>
            <a:r>
              <a:rPr lang="tr-TR" sz="1800" dirty="0" smtClean="0">
                <a:latin typeface="Arial Narrow" panose="020B0606020202030204" pitchFamily="34" charset="0"/>
              </a:rPr>
              <a:t> </a:t>
            </a:r>
            <a:r>
              <a:rPr lang="tr-TR" sz="1800" dirty="0" err="1" smtClean="0">
                <a:latin typeface="Arial Narrow" panose="020B0606020202030204" pitchFamily="34" charset="0"/>
              </a:rPr>
              <a:t>that</a:t>
            </a:r>
            <a:r>
              <a:rPr lang="tr-TR" sz="1800" dirty="0" smtClean="0">
                <a:latin typeface="Arial Narrow" panose="020B0606020202030204" pitchFamily="34" charset="0"/>
              </a:rPr>
              <a:t> </a:t>
            </a:r>
            <a:r>
              <a:rPr lang="tr-TR" sz="1800" dirty="0" err="1" smtClean="0">
                <a:latin typeface="Arial Narrow" panose="020B0606020202030204" pitchFamily="34" charset="0"/>
              </a:rPr>
              <a:t>people</a:t>
            </a:r>
            <a:r>
              <a:rPr lang="tr-TR" sz="1800" dirty="0" smtClean="0">
                <a:latin typeface="Arial Narrow" panose="020B0606020202030204" pitchFamily="34" charset="0"/>
              </a:rPr>
              <a:t> </a:t>
            </a:r>
            <a:r>
              <a:rPr lang="tr-TR" sz="1800" dirty="0" err="1" smtClean="0">
                <a:latin typeface="Arial Narrow" panose="020B0606020202030204" pitchFamily="34" charset="0"/>
              </a:rPr>
              <a:t>are</a:t>
            </a:r>
            <a:r>
              <a:rPr lang="tr-TR" sz="1800" dirty="0" smtClean="0">
                <a:latin typeface="Arial Narrow" panose="020B0606020202030204" pitchFamily="34" charset="0"/>
              </a:rPr>
              <a:t> </a:t>
            </a:r>
            <a:r>
              <a:rPr lang="tr-TR" sz="1800" dirty="0" err="1" smtClean="0">
                <a:latin typeface="Arial Narrow" panose="020B0606020202030204" pitchFamily="34" charset="0"/>
              </a:rPr>
              <a:t>comfortable</a:t>
            </a:r>
            <a:r>
              <a:rPr lang="tr-TR" sz="1800" dirty="0" smtClean="0">
                <a:latin typeface="Arial Narrow" panose="020B0606020202030204" pitchFamily="34" charset="0"/>
              </a:rPr>
              <a:t> </a:t>
            </a:r>
            <a:r>
              <a:rPr lang="tr-TR" sz="1800" dirty="0" err="1" smtClean="0">
                <a:latin typeface="Arial Narrow" panose="020B0606020202030204" pitchFamily="34" charset="0"/>
              </a:rPr>
              <a:t>with</a:t>
            </a:r>
            <a:r>
              <a:rPr lang="tr-TR" sz="1800" dirty="0" smtClean="0">
                <a:latin typeface="Arial Narrow" panose="020B0606020202030204" pitchFamily="34" charset="0"/>
              </a:rPr>
              <a:t>,</a:t>
            </a:r>
          </a:p>
          <a:p>
            <a:pPr marL="0" lvl="0" indent="0" algn="ctr">
              <a:spcBef>
                <a:spcPts val="0"/>
              </a:spcBef>
              <a:buNone/>
            </a:pPr>
            <a:r>
              <a:rPr lang="tr-TR" sz="1800" dirty="0" err="1">
                <a:latin typeface="Arial Narrow" panose="020B0606020202030204" pitchFamily="34" charset="0"/>
              </a:rPr>
              <a:t>a</a:t>
            </a:r>
            <a:r>
              <a:rPr lang="tr-TR" sz="1800" dirty="0" err="1" smtClean="0">
                <a:latin typeface="Arial Narrow" panose="020B0606020202030204" pitchFamily="34" charset="0"/>
              </a:rPr>
              <a:t>nd</a:t>
            </a:r>
            <a:r>
              <a:rPr lang="tr-TR" sz="1800" dirty="0" smtClean="0">
                <a:latin typeface="Arial Narrow" panose="020B0606020202030204" pitchFamily="34" charset="0"/>
              </a:rPr>
              <a:t> </a:t>
            </a:r>
            <a:r>
              <a:rPr lang="tr-TR" sz="1800" dirty="0" err="1" smtClean="0">
                <a:latin typeface="Arial Narrow" panose="020B0606020202030204" pitchFamily="34" charset="0"/>
              </a:rPr>
              <a:t>then</a:t>
            </a:r>
            <a:r>
              <a:rPr lang="tr-TR" sz="1800" dirty="0" smtClean="0">
                <a:latin typeface="Arial Narrow" panose="020B0606020202030204" pitchFamily="34" charset="0"/>
              </a:rPr>
              <a:t> </a:t>
            </a:r>
            <a:r>
              <a:rPr lang="tr-TR" sz="1800" dirty="0" err="1" smtClean="0">
                <a:latin typeface="Arial Narrow" panose="020B0606020202030204" pitchFamily="34" charset="0"/>
              </a:rPr>
              <a:t>use</a:t>
            </a:r>
            <a:r>
              <a:rPr lang="tr-TR" sz="1800" dirty="0" smtClean="0">
                <a:latin typeface="Arial Narrow" panose="020B0606020202030204" pitchFamily="34" charset="0"/>
              </a:rPr>
              <a:t> </a:t>
            </a:r>
            <a:r>
              <a:rPr lang="tr-TR" sz="1800" dirty="0" err="1" smtClean="0">
                <a:latin typeface="Arial Narrow" panose="020B0606020202030204" pitchFamily="34" charset="0"/>
              </a:rPr>
              <a:t>these</a:t>
            </a:r>
            <a:r>
              <a:rPr lang="tr-TR" sz="1800" dirty="0" smtClean="0">
                <a:latin typeface="Arial Narrow" panose="020B0606020202030204" pitchFamily="34" charset="0"/>
              </a:rPr>
              <a:t> </a:t>
            </a:r>
            <a:r>
              <a:rPr lang="tr-TR" sz="1800" dirty="0" err="1" smtClean="0">
                <a:latin typeface="Arial Narrow" panose="020B0606020202030204" pitchFamily="34" charset="0"/>
              </a:rPr>
              <a:t>funds</a:t>
            </a:r>
            <a:r>
              <a:rPr lang="tr-TR" sz="1800" dirty="0" smtClean="0">
                <a:latin typeface="Arial Narrow" panose="020B0606020202030204" pitchFamily="34" charset="0"/>
              </a:rPr>
              <a:t> </a:t>
            </a: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purchase</a:t>
            </a:r>
            <a:r>
              <a:rPr lang="tr-TR" sz="1800" dirty="0" smtClean="0">
                <a:latin typeface="Arial Narrow" panose="020B0606020202030204" pitchFamily="34" charset="0"/>
              </a:rPr>
              <a:t> </a:t>
            </a:r>
            <a:r>
              <a:rPr lang="tr-TR" sz="1800" dirty="0" err="1" smtClean="0">
                <a:latin typeface="Arial Narrow" panose="020B0606020202030204" pitchFamily="34" charset="0"/>
              </a:rPr>
              <a:t>other</a:t>
            </a:r>
            <a:r>
              <a:rPr lang="tr-TR" sz="1800" dirty="0" smtClean="0">
                <a:latin typeface="Arial Narrow" panose="020B0606020202030204" pitchFamily="34" charset="0"/>
              </a:rPr>
              <a:t> </a:t>
            </a:r>
            <a:r>
              <a:rPr lang="tr-TR" sz="1800" dirty="0" err="1" smtClean="0">
                <a:latin typeface="Arial Narrow" panose="020B0606020202030204" pitchFamily="34" charset="0"/>
              </a:rPr>
              <a:t>assets</a:t>
            </a:r>
            <a:r>
              <a:rPr lang="tr-TR" sz="1800" dirty="0" smtClean="0">
                <a:latin typeface="Arial Narrow" panose="020B0606020202030204" pitchFamily="34" charset="0"/>
              </a:rPr>
              <a:t> </a:t>
            </a:r>
            <a:r>
              <a:rPr lang="tr-TR" sz="1800" dirty="0" err="1" smtClean="0">
                <a:latin typeface="Arial Narrow" panose="020B0606020202030204" pitchFamily="34" charset="0"/>
              </a:rPr>
              <a:t>that</a:t>
            </a:r>
            <a:r>
              <a:rPr lang="tr-TR" sz="1800" dirty="0" smtClean="0">
                <a:latin typeface="Arial Narrow" panose="020B0606020202030204" pitchFamily="34" charset="0"/>
              </a:rPr>
              <a:t> </a:t>
            </a:r>
            <a:r>
              <a:rPr lang="tr-TR" sz="1800" dirty="0" err="1" smtClean="0">
                <a:latin typeface="Arial Narrow" panose="020B0606020202030204" pitchFamily="34" charset="0"/>
              </a:rPr>
              <a:t>may</a:t>
            </a:r>
            <a:r>
              <a:rPr lang="tr-TR" sz="1800" dirty="0" smtClean="0">
                <a:latin typeface="Arial Narrow" panose="020B0606020202030204" pitchFamily="34" charset="0"/>
              </a:rPr>
              <a:t> </a:t>
            </a:r>
            <a:r>
              <a:rPr lang="tr-TR" sz="1800" dirty="0" err="1" smtClean="0">
                <a:latin typeface="Arial Narrow" panose="020B0606020202030204" pitchFamily="34" charset="0"/>
              </a:rPr>
              <a:t>have</a:t>
            </a:r>
            <a:r>
              <a:rPr lang="tr-TR" sz="1800" dirty="0" smtClean="0">
                <a:latin typeface="Arial Narrow" panose="020B0606020202030204" pitchFamily="34" charset="0"/>
              </a:rPr>
              <a:t> far </a:t>
            </a:r>
            <a:r>
              <a:rPr lang="tr-TR" sz="1800" dirty="0" err="1" smtClean="0">
                <a:latin typeface="Arial Narrow" panose="020B0606020202030204" pitchFamily="34" charset="0"/>
              </a:rPr>
              <a:t>more</a:t>
            </a:r>
            <a:r>
              <a:rPr lang="tr-TR" sz="1800" dirty="0" smtClean="0">
                <a:latin typeface="Arial Narrow" panose="020B0606020202030204" pitchFamily="34" charset="0"/>
              </a:rPr>
              <a:t> risk.</a:t>
            </a:r>
          </a:p>
          <a:p>
            <a:pPr marL="0" lvl="0" indent="0" algn="ctr">
              <a:spcBef>
                <a:spcPts val="0"/>
              </a:spcBef>
              <a:buNone/>
            </a:pPr>
            <a:r>
              <a:rPr lang="tr-TR" sz="1800" dirty="0" err="1" smtClean="0">
                <a:latin typeface="Arial Narrow" panose="020B0606020202030204" pitchFamily="34" charset="0"/>
              </a:rPr>
              <a:t>This</a:t>
            </a:r>
            <a:r>
              <a:rPr lang="tr-TR" sz="1800" dirty="0" smtClean="0">
                <a:latin typeface="Arial Narrow" panose="020B0606020202030204" pitchFamily="34" charset="0"/>
              </a:rPr>
              <a:t> </a:t>
            </a:r>
            <a:r>
              <a:rPr lang="tr-TR" sz="1800" dirty="0" err="1" smtClean="0">
                <a:latin typeface="Arial Narrow" panose="020B0606020202030204" pitchFamily="34" charset="0"/>
              </a:rPr>
              <a:t>process</a:t>
            </a:r>
            <a:r>
              <a:rPr lang="tr-TR" sz="1800" dirty="0" smtClean="0">
                <a:latin typeface="Arial Narrow" panose="020B0606020202030204" pitchFamily="34" charset="0"/>
              </a:rPr>
              <a:t> is </a:t>
            </a:r>
            <a:r>
              <a:rPr lang="tr-TR" sz="1800" dirty="0" err="1" smtClean="0">
                <a:latin typeface="Arial Narrow" panose="020B0606020202030204" pitchFamily="34" charset="0"/>
              </a:rPr>
              <a:t>called</a:t>
            </a:r>
            <a:r>
              <a:rPr lang="tr-TR" sz="1800" dirty="0" smtClean="0">
                <a:latin typeface="Arial Narrow" panose="020B0606020202030204" pitchFamily="34" charset="0"/>
              </a:rPr>
              <a:t> risk </a:t>
            </a:r>
            <a:r>
              <a:rPr lang="tr-TR" sz="1800" dirty="0" err="1" smtClean="0">
                <a:latin typeface="Arial Narrow" panose="020B0606020202030204" pitchFamily="34" charset="0"/>
              </a:rPr>
              <a:t>sharing</a:t>
            </a:r>
            <a:r>
              <a:rPr lang="tr-TR" sz="1800" dirty="0" smtClean="0">
                <a:latin typeface="Arial Narrow" panose="020B0606020202030204" pitchFamily="34" charset="0"/>
              </a:rPr>
              <a:t> </a:t>
            </a:r>
            <a:r>
              <a:rPr lang="tr-TR" sz="1800" dirty="0" err="1" smtClean="0">
                <a:latin typeface="Arial Narrow" panose="020B0606020202030204" pitchFamily="34" charset="0"/>
              </a:rPr>
              <a:t>or</a:t>
            </a:r>
            <a:r>
              <a:rPr lang="tr-TR" sz="1800" dirty="0" smtClean="0">
                <a:latin typeface="Arial Narrow" panose="020B0606020202030204" pitchFamily="34" charset="0"/>
              </a:rPr>
              <a:t> </a:t>
            </a:r>
            <a:r>
              <a:rPr lang="tr-TR" sz="1800" dirty="0" err="1" smtClean="0">
                <a:latin typeface="Arial Narrow" panose="020B0606020202030204" pitchFamily="34" charset="0"/>
              </a:rPr>
              <a:t>asset</a:t>
            </a:r>
            <a:r>
              <a:rPr lang="tr-TR" sz="1800" dirty="0" smtClean="0">
                <a:latin typeface="Arial Narrow" panose="020B0606020202030204" pitchFamily="34" charset="0"/>
              </a:rPr>
              <a:t> </a:t>
            </a:r>
            <a:r>
              <a:rPr lang="tr-TR" sz="1800" dirty="0" err="1" smtClean="0">
                <a:latin typeface="Arial Narrow" panose="020B0606020202030204" pitchFamily="34" charset="0"/>
              </a:rPr>
              <a:t>transformation</a:t>
            </a:r>
            <a:r>
              <a:rPr lang="tr-TR" sz="1800" dirty="0" smtClean="0">
                <a:latin typeface="Arial Narrow" panose="020B0606020202030204" pitchFamily="34" charset="0"/>
              </a:rPr>
              <a:t>.</a:t>
            </a:r>
          </a:p>
        </p:txBody>
      </p:sp>
    </p:spTree>
    <p:extLst>
      <p:ext uri="{BB962C8B-B14F-4D97-AF65-F5344CB8AC3E}">
        <p14:creationId xmlns:p14="http://schemas.microsoft.com/office/powerpoint/2010/main" val="31221901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483768" y="451400"/>
            <a:ext cx="3960440"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a:latin typeface="Arial Narrow" pitchFamily="34" charset="0"/>
              </a:rPr>
              <a:t/>
            </a:r>
            <a:br>
              <a:rPr lang="tr-TR" sz="1400" dirty="0">
                <a:latin typeface="Arial Narrow" pitchFamily="34" charset="0"/>
              </a:rPr>
            </a:br>
            <a:r>
              <a:rPr lang="tr-TR" sz="2000" dirty="0">
                <a:latin typeface="Arial Narrow" pitchFamily="34" charset="0"/>
              </a:rPr>
              <a:t>Financial </a:t>
            </a:r>
            <a:r>
              <a:rPr lang="tr-TR" sz="2000" dirty="0" err="1">
                <a:latin typeface="Arial Narrow" pitchFamily="34" charset="0"/>
              </a:rPr>
              <a:t>System</a:t>
            </a:r>
            <a:r>
              <a:rPr lang="tr-TR" sz="2400" dirty="0">
                <a:solidFill>
                  <a:srgbClr val="800000"/>
                </a:solidFill>
                <a:latin typeface="Arial Narrow" pitchFamily="34" charset="0"/>
              </a:rPr>
              <a:t/>
            </a:r>
            <a:br>
              <a:rPr lang="tr-TR" sz="2400" dirty="0">
                <a:solidFill>
                  <a:srgbClr val="800000"/>
                </a:solidFill>
                <a:latin typeface="Arial Narrow" pitchFamily="34" charset="0"/>
              </a:rPr>
            </a:br>
            <a:r>
              <a:rPr lang="tr-TR" sz="2400" dirty="0" err="1">
                <a:solidFill>
                  <a:srgbClr val="800000"/>
                </a:solidFill>
                <a:latin typeface="Arial Narrow" pitchFamily="34" charset="0"/>
              </a:rPr>
              <a:t>Types</a:t>
            </a:r>
            <a:r>
              <a:rPr lang="tr-TR" sz="2400" dirty="0">
                <a:solidFill>
                  <a:srgbClr val="800000"/>
                </a:solidFill>
                <a:latin typeface="Arial Narrow" pitchFamily="34" charset="0"/>
              </a:rPr>
              <a:t> of Financial </a:t>
            </a:r>
            <a:r>
              <a:rPr lang="tr-TR" sz="2400" dirty="0" err="1">
                <a:solidFill>
                  <a:srgbClr val="800000"/>
                </a:solidFill>
                <a:latin typeface="Arial Narrow" pitchFamily="34" charset="0"/>
              </a:rPr>
              <a:t>Intermediaries</a:t>
            </a:r>
            <a:endParaRPr lang="tr-TR" sz="2400" dirty="0">
              <a:solidFill>
                <a:srgbClr val="800000"/>
              </a:solidFill>
              <a:latin typeface="Arial Narrow" pitchFamily="34" charset="0"/>
            </a:endParaRPr>
          </a:p>
        </p:txBody>
      </p:sp>
      <p:sp>
        <p:nvSpPr>
          <p:cNvPr id="5" name="Content Placeholder 4"/>
          <p:cNvSpPr>
            <a:spLocks noGrp="1"/>
          </p:cNvSpPr>
          <p:nvPr>
            <p:ph idx="1"/>
          </p:nvPr>
        </p:nvSpPr>
        <p:spPr>
          <a:xfrm>
            <a:off x="457200" y="1600200"/>
            <a:ext cx="8229600" cy="5069160"/>
          </a:xfrm>
          <a:ln w="25400">
            <a:noFill/>
          </a:ln>
        </p:spPr>
        <p:txBody>
          <a:bodyPr>
            <a:noAutofit/>
          </a:bodyPr>
          <a:lstStyle/>
          <a:p>
            <a:pPr algn="ctr">
              <a:spcBef>
                <a:spcPts val="0"/>
              </a:spcBef>
            </a:pPr>
            <a:endParaRPr lang="tr-TR" sz="1800" dirty="0">
              <a:latin typeface="Arial Narrow" panose="020B0606020202030204" pitchFamily="34" charset="0"/>
            </a:endParaRPr>
          </a:p>
          <a:p>
            <a:pPr algn="ctr">
              <a:spcBef>
                <a:spcPts val="0"/>
              </a:spcBef>
            </a:pPr>
            <a:r>
              <a:rPr lang="tr-TR" sz="1800" dirty="0" err="1">
                <a:solidFill>
                  <a:srgbClr val="800000"/>
                </a:solidFill>
                <a:latin typeface="Arial Narrow" panose="020B0606020202030204" pitchFamily="34" charset="0"/>
              </a:rPr>
              <a:t>Banks</a:t>
            </a:r>
            <a:r>
              <a:rPr lang="tr-TR" sz="1800" dirty="0">
                <a:solidFill>
                  <a:srgbClr val="800000"/>
                </a:solidFill>
                <a:latin typeface="Arial Narrow" panose="020B0606020202030204" pitchFamily="34" charset="0"/>
              </a:rPr>
              <a:t> </a:t>
            </a:r>
            <a:r>
              <a:rPr lang="tr-TR" sz="1800" dirty="0" err="1">
                <a:latin typeface="Arial Narrow" panose="020B0606020202030204" pitchFamily="34" charset="0"/>
              </a:rPr>
              <a:t>accept</a:t>
            </a:r>
            <a:r>
              <a:rPr lang="tr-TR" sz="1800" dirty="0">
                <a:latin typeface="Arial Narrow" panose="020B0606020202030204" pitchFamily="34" charset="0"/>
              </a:rPr>
              <a:t> </a:t>
            </a:r>
            <a:r>
              <a:rPr lang="tr-TR" sz="1800" dirty="0" err="1">
                <a:latin typeface="Arial Narrow" panose="020B0606020202030204" pitchFamily="34" charset="0"/>
              </a:rPr>
              <a:t>deposits</a:t>
            </a:r>
            <a:r>
              <a:rPr lang="tr-TR" sz="1800" dirty="0">
                <a:latin typeface="Arial Narrow" panose="020B0606020202030204" pitchFamily="34" charset="0"/>
              </a:rPr>
              <a:t> </a:t>
            </a:r>
            <a:r>
              <a:rPr lang="tr-TR" sz="1800" dirty="0" err="1">
                <a:latin typeface="Arial Narrow" panose="020B0606020202030204" pitchFamily="34" charset="0"/>
              </a:rPr>
              <a:t>from</a:t>
            </a:r>
            <a:r>
              <a:rPr lang="tr-TR" sz="1800" dirty="0">
                <a:latin typeface="Arial Narrow" panose="020B0606020202030204" pitchFamily="34" charset="0"/>
              </a:rPr>
              <a:t> </a:t>
            </a:r>
            <a:r>
              <a:rPr lang="tr-TR" sz="1800" dirty="0" err="1">
                <a:latin typeface="Arial Narrow" panose="020B0606020202030204" pitchFamily="34" charset="0"/>
              </a:rPr>
              <a:t>individuals</a:t>
            </a:r>
            <a:r>
              <a:rPr lang="tr-TR" sz="1800" dirty="0">
                <a:latin typeface="Arial Narrow" panose="020B0606020202030204" pitchFamily="34" charset="0"/>
              </a:rPr>
              <a:t> </a:t>
            </a:r>
            <a:r>
              <a:rPr lang="tr-TR" sz="1800" dirty="0" err="1">
                <a:latin typeface="Arial Narrow" panose="020B0606020202030204" pitchFamily="34" charset="0"/>
              </a:rPr>
              <a:t>and</a:t>
            </a:r>
            <a:r>
              <a:rPr lang="tr-TR" sz="1800" dirty="0">
                <a:latin typeface="Arial Narrow" panose="020B0606020202030204" pitchFamily="34" charset="0"/>
              </a:rPr>
              <a:t> </a:t>
            </a:r>
            <a:r>
              <a:rPr lang="tr-TR" sz="1800" dirty="0" err="1">
                <a:latin typeface="Arial Narrow" panose="020B0606020202030204" pitchFamily="34" charset="0"/>
              </a:rPr>
              <a:t>institutions</a:t>
            </a:r>
            <a:r>
              <a:rPr lang="tr-TR" sz="1800" dirty="0">
                <a:latin typeface="Arial Narrow" panose="020B0606020202030204" pitchFamily="34" charset="0"/>
              </a:rPr>
              <a:t> </a:t>
            </a:r>
            <a:r>
              <a:rPr lang="tr-TR" sz="1800" dirty="0" err="1">
                <a:latin typeface="Arial Narrow" panose="020B0606020202030204" pitchFamily="34" charset="0"/>
              </a:rPr>
              <a:t>and</a:t>
            </a:r>
            <a:r>
              <a:rPr lang="tr-TR" sz="1800" dirty="0">
                <a:latin typeface="Arial Narrow" panose="020B0606020202030204" pitchFamily="34" charset="0"/>
              </a:rPr>
              <a:t> </a:t>
            </a:r>
            <a:r>
              <a:rPr lang="tr-TR" sz="1800" dirty="0" err="1">
                <a:latin typeface="Arial Narrow" panose="020B0606020202030204" pitchFamily="34" charset="0"/>
              </a:rPr>
              <a:t>make</a:t>
            </a:r>
            <a:r>
              <a:rPr lang="tr-TR" sz="1800" dirty="0">
                <a:latin typeface="Arial Narrow" panose="020B0606020202030204" pitchFamily="34" charset="0"/>
              </a:rPr>
              <a:t> </a:t>
            </a:r>
            <a:r>
              <a:rPr lang="tr-TR" sz="1800" dirty="0" err="1">
                <a:latin typeface="Arial Narrow" panose="020B0606020202030204" pitchFamily="34" charset="0"/>
              </a:rPr>
              <a:t>loans</a:t>
            </a:r>
            <a:r>
              <a:rPr lang="tr-TR" sz="1800" dirty="0">
                <a:latin typeface="Arial Narrow" panose="020B0606020202030204" pitchFamily="34" charset="0"/>
              </a:rPr>
              <a:t>.</a:t>
            </a:r>
          </a:p>
          <a:p>
            <a:pPr algn="ctr">
              <a:spcBef>
                <a:spcPts val="0"/>
              </a:spcBef>
            </a:pPr>
            <a:endParaRPr lang="tr-TR" sz="1800" dirty="0">
              <a:latin typeface="Arial Narrow" panose="020B0606020202030204" pitchFamily="34" charset="0"/>
            </a:endParaRPr>
          </a:p>
          <a:p>
            <a:pPr algn="ctr">
              <a:spcBef>
                <a:spcPts val="0"/>
              </a:spcBef>
            </a:pPr>
            <a:r>
              <a:rPr lang="tr-TR" sz="1800" dirty="0">
                <a:solidFill>
                  <a:srgbClr val="800000"/>
                </a:solidFill>
                <a:latin typeface="Arial Narrow" panose="020B0606020202030204" pitchFamily="34" charset="0"/>
              </a:rPr>
              <a:t>Life </a:t>
            </a:r>
            <a:r>
              <a:rPr lang="tr-TR" sz="1800" dirty="0" err="1">
                <a:solidFill>
                  <a:srgbClr val="800000"/>
                </a:solidFill>
                <a:latin typeface="Arial Narrow" panose="020B0606020202030204" pitchFamily="34" charset="0"/>
              </a:rPr>
              <a:t>Insurance</a:t>
            </a:r>
            <a:r>
              <a:rPr lang="tr-TR" sz="1800" dirty="0">
                <a:solidFill>
                  <a:srgbClr val="800000"/>
                </a:solidFill>
                <a:latin typeface="Arial Narrow" panose="020B0606020202030204" pitchFamily="34" charset="0"/>
              </a:rPr>
              <a:t> / </a:t>
            </a:r>
            <a:r>
              <a:rPr lang="tr-TR" sz="1800" dirty="0" err="1">
                <a:solidFill>
                  <a:srgbClr val="800000"/>
                </a:solidFill>
                <a:latin typeface="Arial Narrow" panose="020B0606020202030204" pitchFamily="34" charset="0"/>
              </a:rPr>
              <a:t>Pension</a:t>
            </a:r>
            <a:r>
              <a:rPr lang="tr-TR" sz="1800" dirty="0">
                <a:solidFill>
                  <a:srgbClr val="800000"/>
                </a:solidFill>
                <a:latin typeface="Arial Narrow" panose="020B0606020202030204" pitchFamily="34" charset="0"/>
              </a:rPr>
              <a:t> </a:t>
            </a:r>
            <a:r>
              <a:rPr lang="tr-TR" sz="1800" dirty="0" err="1">
                <a:solidFill>
                  <a:srgbClr val="800000"/>
                </a:solidFill>
                <a:latin typeface="Arial Narrow" panose="020B0606020202030204" pitchFamily="34" charset="0"/>
              </a:rPr>
              <a:t>Companies</a:t>
            </a:r>
            <a:r>
              <a:rPr lang="tr-TR" sz="1800" dirty="0">
                <a:solidFill>
                  <a:srgbClr val="800000"/>
                </a:solidFill>
                <a:latin typeface="Arial Narrow" panose="020B0606020202030204" pitchFamily="34" charset="0"/>
              </a:rPr>
              <a:t> </a:t>
            </a:r>
            <a:r>
              <a:rPr lang="tr-TR" sz="1800" dirty="0" err="1">
                <a:latin typeface="Arial Narrow" panose="020B0606020202030204" pitchFamily="34" charset="0"/>
              </a:rPr>
              <a:t>insure</a:t>
            </a:r>
            <a:r>
              <a:rPr lang="tr-TR" sz="1800" dirty="0">
                <a:latin typeface="Arial Narrow" panose="020B0606020202030204" pitchFamily="34" charset="0"/>
              </a:rPr>
              <a:t> </a:t>
            </a:r>
            <a:r>
              <a:rPr lang="tr-TR" sz="1800" dirty="0" err="1">
                <a:latin typeface="Arial Narrow" panose="020B0606020202030204" pitchFamily="34" charset="0"/>
              </a:rPr>
              <a:t>people</a:t>
            </a:r>
            <a:endParaRPr lang="tr-TR" sz="1800" dirty="0">
              <a:latin typeface="Arial Narrow" panose="020B0606020202030204" pitchFamily="34" charset="0"/>
            </a:endParaRPr>
          </a:p>
          <a:p>
            <a:pPr marL="0" indent="0" algn="ctr">
              <a:spcBef>
                <a:spcPts val="0"/>
              </a:spcBef>
              <a:buNone/>
            </a:pPr>
            <a:r>
              <a:rPr lang="tr-TR" sz="1800" dirty="0" err="1">
                <a:latin typeface="Arial Narrow" panose="020B0606020202030204" pitchFamily="34" charset="0"/>
              </a:rPr>
              <a:t>against</a:t>
            </a:r>
            <a:r>
              <a:rPr lang="tr-TR" sz="1800" dirty="0">
                <a:latin typeface="Arial Narrow" panose="020B0606020202030204" pitchFamily="34" charset="0"/>
              </a:rPr>
              <a:t> </a:t>
            </a:r>
            <a:r>
              <a:rPr lang="tr-TR" sz="1800" dirty="0" err="1">
                <a:latin typeface="Arial Narrow" panose="020B0606020202030204" pitchFamily="34" charset="0"/>
              </a:rPr>
              <a:t>financial</a:t>
            </a:r>
            <a:r>
              <a:rPr lang="tr-TR" sz="1800" dirty="0">
                <a:latin typeface="Arial Narrow" panose="020B0606020202030204" pitchFamily="34" charset="0"/>
              </a:rPr>
              <a:t> </a:t>
            </a:r>
            <a:r>
              <a:rPr lang="tr-TR" sz="1800" dirty="0" err="1">
                <a:latin typeface="Arial Narrow" panose="020B0606020202030204" pitchFamily="34" charset="0"/>
              </a:rPr>
              <a:t>hazards</a:t>
            </a:r>
            <a:r>
              <a:rPr lang="tr-TR" sz="1800" dirty="0">
                <a:latin typeface="Arial Narrow" panose="020B0606020202030204" pitchFamily="34" charset="0"/>
              </a:rPr>
              <a:t> </a:t>
            </a:r>
            <a:r>
              <a:rPr lang="tr-TR" sz="1800" dirty="0" err="1">
                <a:latin typeface="Arial Narrow" panose="020B0606020202030204" pitchFamily="34" charset="0"/>
              </a:rPr>
              <a:t>following</a:t>
            </a:r>
            <a:r>
              <a:rPr lang="tr-TR" sz="1800" dirty="0">
                <a:latin typeface="Arial Narrow" panose="020B0606020202030204" pitchFamily="34" charset="0"/>
              </a:rPr>
              <a:t> a </a:t>
            </a:r>
            <a:r>
              <a:rPr lang="tr-TR" sz="1800" dirty="0" err="1">
                <a:latin typeface="Arial Narrow" panose="020B0606020202030204" pitchFamily="34" charset="0"/>
              </a:rPr>
              <a:t>death</a:t>
            </a:r>
            <a:endParaRPr lang="tr-TR" sz="1800" dirty="0">
              <a:latin typeface="Arial Narrow" panose="020B0606020202030204" pitchFamily="34" charset="0"/>
            </a:endParaRPr>
          </a:p>
          <a:p>
            <a:pPr marL="0" indent="0" algn="ctr">
              <a:spcBef>
                <a:spcPts val="0"/>
              </a:spcBef>
              <a:buNone/>
            </a:pPr>
            <a:r>
              <a:rPr lang="tr-TR" sz="1800" dirty="0" err="1">
                <a:latin typeface="Arial Narrow" panose="020B0606020202030204" pitchFamily="34" charset="0"/>
              </a:rPr>
              <a:t>and</a:t>
            </a:r>
            <a:r>
              <a:rPr lang="tr-TR" sz="1800" dirty="0">
                <a:latin typeface="Arial Narrow" panose="020B0606020202030204" pitchFamily="34" charset="0"/>
              </a:rPr>
              <a:t> </a:t>
            </a:r>
            <a:r>
              <a:rPr lang="tr-TR" sz="1800" dirty="0" err="1">
                <a:latin typeface="Arial Narrow" panose="020B0606020202030204" pitchFamily="34" charset="0"/>
              </a:rPr>
              <a:t>sell</a:t>
            </a:r>
            <a:r>
              <a:rPr lang="tr-TR" sz="1800" dirty="0">
                <a:latin typeface="Arial Narrow" panose="020B0606020202030204" pitchFamily="34" charset="0"/>
              </a:rPr>
              <a:t> </a:t>
            </a:r>
            <a:r>
              <a:rPr lang="tr-TR" sz="1800" dirty="0" err="1">
                <a:latin typeface="Arial Narrow" panose="020B0606020202030204" pitchFamily="34" charset="0"/>
              </a:rPr>
              <a:t>annuities</a:t>
            </a:r>
            <a:r>
              <a:rPr lang="tr-TR" sz="1800" dirty="0">
                <a:latin typeface="Arial Narrow" panose="020B0606020202030204" pitchFamily="34" charset="0"/>
              </a:rPr>
              <a:t> (</a:t>
            </a:r>
            <a:r>
              <a:rPr lang="tr-TR" sz="1800" dirty="0" err="1">
                <a:latin typeface="Arial Narrow" panose="020B0606020202030204" pitchFamily="34" charset="0"/>
              </a:rPr>
              <a:t>annual</a:t>
            </a:r>
            <a:r>
              <a:rPr lang="tr-TR" sz="1800" dirty="0">
                <a:latin typeface="Arial Narrow" panose="020B0606020202030204" pitchFamily="34" charset="0"/>
              </a:rPr>
              <a:t> </a:t>
            </a:r>
            <a:r>
              <a:rPr lang="tr-TR" sz="1800" dirty="0" err="1">
                <a:latin typeface="Arial Narrow" panose="020B0606020202030204" pitchFamily="34" charset="0"/>
              </a:rPr>
              <a:t>income</a:t>
            </a:r>
            <a:r>
              <a:rPr lang="tr-TR" sz="1800" dirty="0">
                <a:latin typeface="Arial Narrow" panose="020B0606020202030204" pitchFamily="34" charset="0"/>
              </a:rPr>
              <a:t> </a:t>
            </a:r>
            <a:r>
              <a:rPr lang="tr-TR" sz="1800" dirty="0" err="1">
                <a:latin typeface="Arial Narrow" panose="020B0606020202030204" pitchFamily="34" charset="0"/>
              </a:rPr>
              <a:t>payments</a:t>
            </a:r>
            <a:r>
              <a:rPr lang="tr-TR" sz="1800" dirty="0">
                <a:latin typeface="Arial Narrow" panose="020B0606020202030204" pitchFamily="34" charset="0"/>
              </a:rPr>
              <a:t> </a:t>
            </a:r>
            <a:r>
              <a:rPr lang="tr-TR" sz="1800" dirty="0" err="1">
                <a:latin typeface="Arial Narrow" panose="020B0606020202030204" pitchFamily="34" charset="0"/>
              </a:rPr>
              <a:t>upon</a:t>
            </a:r>
            <a:r>
              <a:rPr lang="tr-TR" sz="1800" dirty="0">
                <a:latin typeface="Arial Narrow" panose="020B0606020202030204" pitchFamily="34" charset="0"/>
              </a:rPr>
              <a:t> </a:t>
            </a:r>
            <a:r>
              <a:rPr lang="tr-TR" sz="1800" dirty="0" err="1">
                <a:latin typeface="Arial Narrow" panose="020B0606020202030204" pitchFamily="34" charset="0"/>
              </a:rPr>
              <a:t>retirement</a:t>
            </a:r>
            <a:r>
              <a:rPr lang="tr-TR" sz="1800" dirty="0">
                <a:latin typeface="Arial Narrow" panose="020B0606020202030204" pitchFamily="34" charset="0"/>
              </a:rPr>
              <a:t>).</a:t>
            </a:r>
          </a:p>
          <a:p>
            <a:pPr marL="0" indent="0" algn="ctr">
              <a:spcBef>
                <a:spcPts val="0"/>
              </a:spcBef>
              <a:buNone/>
            </a:pPr>
            <a:r>
              <a:rPr lang="tr-TR" sz="1800" dirty="0" err="1">
                <a:latin typeface="Arial Narrow" panose="020B0606020202030204" pitchFamily="34" charset="0"/>
              </a:rPr>
              <a:t>They</a:t>
            </a:r>
            <a:r>
              <a:rPr lang="tr-TR" sz="1800" dirty="0">
                <a:latin typeface="Arial Narrow" panose="020B0606020202030204" pitchFamily="34" charset="0"/>
              </a:rPr>
              <a:t> </a:t>
            </a:r>
            <a:r>
              <a:rPr lang="tr-TR" sz="1800" dirty="0" err="1">
                <a:latin typeface="Arial Narrow" panose="020B0606020202030204" pitchFamily="34" charset="0"/>
              </a:rPr>
              <a:t>acquire</a:t>
            </a:r>
            <a:r>
              <a:rPr lang="tr-TR" sz="1800" dirty="0">
                <a:latin typeface="Arial Narrow" panose="020B0606020202030204" pitchFamily="34" charset="0"/>
              </a:rPr>
              <a:t> </a:t>
            </a:r>
            <a:r>
              <a:rPr lang="tr-TR" sz="1800" dirty="0" err="1">
                <a:latin typeface="Arial Narrow" panose="020B0606020202030204" pitchFamily="34" charset="0"/>
              </a:rPr>
              <a:t>funds</a:t>
            </a:r>
            <a:r>
              <a:rPr lang="tr-TR" sz="1800" dirty="0">
                <a:latin typeface="Arial Narrow" panose="020B0606020202030204" pitchFamily="34" charset="0"/>
              </a:rPr>
              <a:t> </a:t>
            </a:r>
            <a:r>
              <a:rPr lang="tr-TR" sz="1800" dirty="0" err="1">
                <a:latin typeface="Arial Narrow" panose="020B0606020202030204" pitchFamily="34" charset="0"/>
              </a:rPr>
              <a:t>from</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premiums</a:t>
            </a:r>
            <a:r>
              <a:rPr lang="tr-TR" sz="1800" dirty="0">
                <a:latin typeface="Arial Narrow" panose="020B0606020202030204" pitchFamily="34" charset="0"/>
              </a:rPr>
              <a:t> </a:t>
            </a:r>
            <a:r>
              <a:rPr lang="tr-TR" sz="1800" dirty="0" err="1">
                <a:latin typeface="Arial Narrow" panose="020B0606020202030204" pitchFamily="34" charset="0"/>
              </a:rPr>
              <a:t>that</a:t>
            </a:r>
            <a:r>
              <a:rPr lang="tr-TR" sz="1800" dirty="0">
                <a:latin typeface="Arial Narrow" panose="020B0606020202030204" pitchFamily="34" charset="0"/>
              </a:rPr>
              <a:t> </a:t>
            </a:r>
            <a:r>
              <a:rPr lang="tr-TR" sz="1800" dirty="0" err="1">
                <a:latin typeface="Arial Narrow" panose="020B0606020202030204" pitchFamily="34" charset="0"/>
              </a:rPr>
              <a:t>people</a:t>
            </a:r>
            <a:r>
              <a:rPr lang="tr-TR" sz="1800" dirty="0">
                <a:latin typeface="Arial Narrow" panose="020B0606020202030204" pitchFamily="34" charset="0"/>
              </a:rPr>
              <a:t> pay </a:t>
            </a: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keep</a:t>
            </a:r>
            <a:r>
              <a:rPr lang="tr-TR" sz="1800" dirty="0">
                <a:latin typeface="Arial Narrow" panose="020B0606020202030204" pitchFamily="34" charset="0"/>
              </a:rPr>
              <a:t> </a:t>
            </a:r>
            <a:r>
              <a:rPr lang="tr-TR" sz="1800" dirty="0" err="1">
                <a:latin typeface="Arial Narrow" panose="020B0606020202030204" pitchFamily="34" charset="0"/>
              </a:rPr>
              <a:t>their</a:t>
            </a:r>
            <a:r>
              <a:rPr lang="tr-TR" sz="1800" dirty="0">
                <a:latin typeface="Arial Narrow" panose="020B0606020202030204" pitchFamily="34" charset="0"/>
              </a:rPr>
              <a:t> </a:t>
            </a:r>
            <a:r>
              <a:rPr lang="tr-TR" sz="1800" dirty="0" err="1">
                <a:latin typeface="Arial Narrow" panose="020B0606020202030204" pitchFamily="34" charset="0"/>
              </a:rPr>
              <a:t>policies</a:t>
            </a:r>
            <a:r>
              <a:rPr lang="tr-TR" sz="1800" dirty="0">
                <a:latin typeface="Arial Narrow" panose="020B0606020202030204" pitchFamily="34" charset="0"/>
              </a:rPr>
              <a:t> in </a:t>
            </a:r>
            <a:r>
              <a:rPr lang="tr-TR" sz="1800" dirty="0" err="1">
                <a:latin typeface="Arial Narrow" panose="020B0606020202030204" pitchFamily="34" charset="0"/>
              </a:rPr>
              <a:t>force</a:t>
            </a:r>
            <a:endParaRPr lang="tr-TR" sz="1800" dirty="0">
              <a:latin typeface="Arial Narrow" panose="020B0606020202030204" pitchFamily="34" charset="0"/>
            </a:endParaRPr>
          </a:p>
          <a:p>
            <a:pPr marL="0" indent="0" algn="ctr">
              <a:spcBef>
                <a:spcPts val="0"/>
              </a:spcBef>
              <a:buNone/>
            </a:pPr>
            <a:r>
              <a:rPr lang="tr-TR" sz="1800" dirty="0" err="1">
                <a:latin typeface="Arial Narrow" panose="020B0606020202030204" pitchFamily="34" charset="0"/>
              </a:rPr>
              <a:t>and</a:t>
            </a:r>
            <a:r>
              <a:rPr lang="tr-TR" sz="1800" dirty="0">
                <a:latin typeface="Arial Narrow" panose="020B0606020202030204" pitchFamily="34" charset="0"/>
              </a:rPr>
              <a:t> </a:t>
            </a:r>
            <a:r>
              <a:rPr lang="tr-TR" sz="1800" dirty="0" err="1">
                <a:latin typeface="Arial Narrow" panose="020B0606020202030204" pitchFamily="34" charset="0"/>
              </a:rPr>
              <a:t>use</a:t>
            </a:r>
            <a:r>
              <a:rPr lang="tr-TR" sz="1800" dirty="0">
                <a:latin typeface="Arial Narrow" panose="020B0606020202030204" pitchFamily="34" charset="0"/>
              </a:rPr>
              <a:t> </a:t>
            </a:r>
            <a:r>
              <a:rPr lang="tr-TR" sz="1800" dirty="0" err="1">
                <a:latin typeface="Arial Narrow" panose="020B0606020202030204" pitchFamily="34" charset="0"/>
              </a:rPr>
              <a:t>them</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invest</a:t>
            </a:r>
            <a:r>
              <a:rPr lang="tr-TR" sz="1800" dirty="0">
                <a:latin typeface="Arial Narrow" panose="020B0606020202030204" pitchFamily="34" charset="0"/>
              </a:rPr>
              <a:t> in </a:t>
            </a:r>
            <a:r>
              <a:rPr lang="tr-TR" sz="1800" dirty="0" err="1">
                <a:latin typeface="Arial Narrow" panose="020B0606020202030204" pitchFamily="34" charset="0"/>
              </a:rPr>
              <a:t>financial</a:t>
            </a:r>
            <a:r>
              <a:rPr lang="tr-TR" sz="1800" dirty="0">
                <a:latin typeface="Arial Narrow" panose="020B0606020202030204" pitchFamily="34" charset="0"/>
              </a:rPr>
              <a:t> </a:t>
            </a:r>
            <a:r>
              <a:rPr lang="tr-TR" sz="1800" dirty="0" err="1">
                <a:latin typeface="Arial Narrow" panose="020B0606020202030204" pitchFamily="34" charset="0"/>
              </a:rPr>
              <a:t>markets</a:t>
            </a:r>
            <a:r>
              <a:rPr lang="tr-TR" sz="1800" dirty="0">
                <a:latin typeface="Arial Narrow" panose="020B0606020202030204" pitchFamily="34" charset="0"/>
              </a:rPr>
              <a:t>.</a:t>
            </a:r>
          </a:p>
          <a:p>
            <a:pPr algn="ctr">
              <a:spcBef>
                <a:spcPts val="0"/>
              </a:spcBef>
            </a:pPr>
            <a:endParaRPr lang="tr-TR" sz="1800" dirty="0">
              <a:latin typeface="Arial Narrow" panose="020B0606020202030204" pitchFamily="34" charset="0"/>
            </a:endParaRPr>
          </a:p>
          <a:p>
            <a:pPr algn="ctr">
              <a:spcBef>
                <a:spcPts val="0"/>
              </a:spcBef>
            </a:pPr>
            <a:r>
              <a:rPr lang="tr-TR" sz="1800" dirty="0" err="1">
                <a:solidFill>
                  <a:srgbClr val="800000"/>
                </a:solidFill>
                <a:latin typeface="Arial Narrow" panose="020B0606020202030204" pitchFamily="34" charset="0"/>
              </a:rPr>
              <a:t>Mutual</a:t>
            </a:r>
            <a:r>
              <a:rPr lang="tr-TR" sz="1800" dirty="0">
                <a:solidFill>
                  <a:srgbClr val="800000"/>
                </a:solidFill>
                <a:latin typeface="Arial Narrow" panose="020B0606020202030204" pitchFamily="34" charset="0"/>
              </a:rPr>
              <a:t> </a:t>
            </a:r>
            <a:r>
              <a:rPr lang="tr-TR" sz="1800" dirty="0" err="1">
                <a:solidFill>
                  <a:srgbClr val="800000"/>
                </a:solidFill>
                <a:latin typeface="Arial Narrow" panose="020B0606020202030204" pitchFamily="34" charset="0"/>
              </a:rPr>
              <a:t>Funds</a:t>
            </a:r>
            <a:r>
              <a:rPr lang="tr-TR" sz="1800" dirty="0">
                <a:solidFill>
                  <a:srgbClr val="800000"/>
                </a:solidFill>
                <a:latin typeface="Arial Narrow" panose="020B0606020202030204" pitchFamily="34" charset="0"/>
              </a:rPr>
              <a:t> </a:t>
            </a:r>
            <a:r>
              <a:rPr lang="tr-TR" sz="1800" dirty="0" err="1">
                <a:latin typeface="Arial Narrow" panose="020B0606020202030204" pitchFamily="34" charset="0"/>
              </a:rPr>
              <a:t>acquire</a:t>
            </a:r>
            <a:r>
              <a:rPr lang="tr-TR" sz="1800" dirty="0">
                <a:latin typeface="Arial Narrow" panose="020B0606020202030204" pitchFamily="34" charset="0"/>
              </a:rPr>
              <a:t> </a:t>
            </a:r>
            <a:r>
              <a:rPr lang="tr-TR" sz="1800" dirty="0" err="1">
                <a:latin typeface="Arial Narrow" panose="020B0606020202030204" pitchFamily="34" charset="0"/>
              </a:rPr>
              <a:t>funds</a:t>
            </a:r>
            <a:r>
              <a:rPr lang="tr-TR" sz="1800" dirty="0">
                <a:latin typeface="Arial Narrow" panose="020B0606020202030204" pitchFamily="34" charset="0"/>
              </a:rPr>
              <a:t> </a:t>
            </a:r>
            <a:r>
              <a:rPr lang="tr-TR" sz="1800" dirty="0" err="1">
                <a:latin typeface="Arial Narrow" panose="020B0606020202030204" pitchFamily="34" charset="0"/>
              </a:rPr>
              <a:t>by</a:t>
            </a:r>
            <a:r>
              <a:rPr lang="tr-TR" sz="1800" dirty="0">
                <a:latin typeface="Arial Narrow" panose="020B0606020202030204" pitchFamily="34" charset="0"/>
              </a:rPr>
              <a:t> </a:t>
            </a:r>
            <a:r>
              <a:rPr lang="tr-TR" sz="1800" dirty="0" err="1">
                <a:latin typeface="Arial Narrow" panose="020B0606020202030204" pitchFamily="34" charset="0"/>
              </a:rPr>
              <a:t>selling</a:t>
            </a:r>
            <a:r>
              <a:rPr lang="tr-TR" sz="1800" dirty="0">
                <a:latin typeface="Arial Narrow" panose="020B0606020202030204" pitchFamily="34" charset="0"/>
              </a:rPr>
              <a:t> </a:t>
            </a:r>
            <a:r>
              <a:rPr lang="tr-TR" sz="1800" dirty="0" err="1">
                <a:latin typeface="Arial Narrow" panose="020B0606020202030204" pitchFamily="34" charset="0"/>
              </a:rPr>
              <a:t>their</a:t>
            </a:r>
            <a:r>
              <a:rPr lang="tr-TR" sz="1800" dirty="0">
                <a:latin typeface="Arial Narrow" panose="020B0606020202030204" pitchFamily="34" charset="0"/>
              </a:rPr>
              <a:t> </a:t>
            </a:r>
            <a:r>
              <a:rPr lang="tr-TR" sz="1800" dirty="0" err="1">
                <a:latin typeface="Arial Narrow" panose="020B0606020202030204" pitchFamily="34" charset="0"/>
              </a:rPr>
              <a:t>own</a:t>
            </a:r>
            <a:r>
              <a:rPr lang="tr-TR" sz="1800" dirty="0">
                <a:latin typeface="Arial Narrow" panose="020B0606020202030204" pitchFamily="34" charset="0"/>
              </a:rPr>
              <a:t> </a:t>
            </a:r>
            <a:r>
              <a:rPr lang="tr-TR" sz="1800" dirty="0" err="1">
                <a:latin typeface="Arial Narrow" panose="020B0606020202030204" pitchFamily="34" charset="0"/>
              </a:rPr>
              <a:t>shares</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many</a:t>
            </a:r>
            <a:r>
              <a:rPr lang="tr-TR" sz="1800" dirty="0">
                <a:latin typeface="Arial Narrow" panose="020B0606020202030204" pitchFamily="34" charset="0"/>
              </a:rPr>
              <a:t> </a:t>
            </a:r>
            <a:r>
              <a:rPr lang="tr-TR" sz="1800" dirty="0" err="1">
                <a:latin typeface="Arial Narrow" panose="020B0606020202030204" pitchFamily="34" charset="0"/>
              </a:rPr>
              <a:t>individuals</a:t>
            </a:r>
            <a:endParaRPr lang="tr-TR" sz="1800" dirty="0">
              <a:latin typeface="Arial Narrow" panose="020B0606020202030204" pitchFamily="34" charset="0"/>
            </a:endParaRPr>
          </a:p>
          <a:p>
            <a:pPr marL="0" indent="0" algn="ctr">
              <a:spcBef>
                <a:spcPts val="0"/>
              </a:spcBef>
              <a:buNone/>
            </a:pPr>
            <a:r>
              <a:rPr lang="tr-TR" sz="1800" dirty="0" err="1">
                <a:latin typeface="Arial Narrow" panose="020B0606020202030204" pitchFamily="34" charset="0"/>
              </a:rPr>
              <a:t>and</a:t>
            </a:r>
            <a:r>
              <a:rPr lang="tr-TR" sz="1800" dirty="0">
                <a:latin typeface="Arial Narrow" panose="020B0606020202030204" pitchFamily="34" charset="0"/>
              </a:rPr>
              <a:t> </a:t>
            </a:r>
            <a:r>
              <a:rPr lang="tr-TR" sz="1800" dirty="0" err="1">
                <a:latin typeface="Arial Narrow" panose="020B0606020202030204" pitchFamily="34" charset="0"/>
              </a:rPr>
              <a:t>use</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proceeds</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purchase</a:t>
            </a:r>
            <a:r>
              <a:rPr lang="tr-TR" sz="1800" dirty="0">
                <a:latin typeface="Arial Narrow" panose="020B0606020202030204" pitchFamily="34" charset="0"/>
              </a:rPr>
              <a:t> </a:t>
            </a:r>
            <a:r>
              <a:rPr lang="tr-TR" sz="1800" dirty="0" err="1">
                <a:latin typeface="Arial Narrow" panose="020B0606020202030204" pitchFamily="34" charset="0"/>
              </a:rPr>
              <a:t>diversified</a:t>
            </a:r>
            <a:r>
              <a:rPr lang="tr-TR" sz="1800" dirty="0">
                <a:latin typeface="Arial Narrow" panose="020B0606020202030204" pitchFamily="34" charset="0"/>
              </a:rPr>
              <a:t> </a:t>
            </a:r>
            <a:r>
              <a:rPr lang="tr-TR" sz="1800" dirty="0" err="1">
                <a:latin typeface="Arial Narrow" panose="020B0606020202030204" pitchFamily="34" charset="0"/>
              </a:rPr>
              <a:t>portfolios</a:t>
            </a:r>
            <a:r>
              <a:rPr lang="tr-TR" sz="1800" dirty="0">
                <a:latin typeface="Arial Narrow" panose="020B0606020202030204" pitchFamily="34" charset="0"/>
              </a:rPr>
              <a:t> of </a:t>
            </a:r>
            <a:r>
              <a:rPr lang="tr-TR" sz="1800" dirty="0" err="1">
                <a:latin typeface="Arial Narrow" panose="020B0606020202030204" pitchFamily="34" charset="0"/>
              </a:rPr>
              <a:t>stocks</a:t>
            </a:r>
            <a:r>
              <a:rPr lang="tr-TR" sz="1800" dirty="0">
                <a:latin typeface="Arial Narrow" panose="020B0606020202030204" pitchFamily="34" charset="0"/>
              </a:rPr>
              <a:t> </a:t>
            </a:r>
            <a:r>
              <a:rPr lang="tr-TR" sz="1800" dirty="0" err="1">
                <a:latin typeface="Arial Narrow" panose="020B0606020202030204" pitchFamily="34" charset="0"/>
              </a:rPr>
              <a:t>and</a:t>
            </a:r>
            <a:r>
              <a:rPr lang="tr-TR" sz="1800" dirty="0">
                <a:latin typeface="Arial Narrow" panose="020B0606020202030204" pitchFamily="34" charset="0"/>
              </a:rPr>
              <a:t> </a:t>
            </a:r>
            <a:r>
              <a:rPr lang="tr-TR" sz="1800" dirty="0" err="1">
                <a:latin typeface="Arial Narrow" panose="020B0606020202030204" pitchFamily="34" charset="0"/>
              </a:rPr>
              <a:t>bonds</a:t>
            </a:r>
            <a:r>
              <a:rPr lang="tr-TR" sz="1800" dirty="0">
                <a:latin typeface="Arial Narrow" panose="020B0606020202030204" pitchFamily="34" charset="0"/>
              </a:rPr>
              <a:t>.</a:t>
            </a:r>
          </a:p>
        </p:txBody>
      </p:sp>
    </p:spTree>
    <p:extLst>
      <p:ext uri="{BB962C8B-B14F-4D97-AF65-F5344CB8AC3E}">
        <p14:creationId xmlns:p14="http://schemas.microsoft.com/office/powerpoint/2010/main" val="7753685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15816" y="332656"/>
            <a:ext cx="3456384"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a:latin typeface="Arial Narrow" pitchFamily="34" charset="0"/>
              </a:rPr>
              <a:t/>
            </a:r>
            <a:br>
              <a:rPr lang="tr-TR" sz="1400" dirty="0">
                <a:latin typeface="Arial Narrow" pitchFamily="34" charset="0"/>
              </a:rPr>
            </a:br>
            <a:r>
              <a:rPr lang="tr-TR" sz="2000" dirty="0">
                <a:latin typeface="Arial Narrow" pitchFamily="34" charset="0"/>
              </a:rPr>
              <a:t>Financial </a:t>
            </a:r>
            <a:r>
              <a:rPr lang="tr-TR" sz="2000" dirty="0" err="1">
                <a:latin typeface="Arial Narrow" pitchFamily="34" charset="0"/>
              </a:rPr>
              <a:t>System</a:t>
            </a:r>
            <a:r>
              <a:rPr lang="tr-TR" sz="2400" dirty="0">
                <a:solidFill>
                  <a:srgbClr val="800000"/>
                </a:solidFill>
                <a:latin typeface="Arial Narrow" pitchFamily="34" charset="0"/>
              </a:rPr>
              <a:t/>
            </a:r>
            <a:br>
              <a:rPr lang="tr-TR" sz="2400" dirty="0">
                <a:solidFill>
                  <a:srgbClr val="800000"/>
                </a:solidFill>
                <a:latin typeface="Arial Narrow" pitchFamily="34" charset="0"/>
              </a:rPr>
            </a:br>
            <a:r>
              <a:rPr lang="tr-TR" sz="2400" dirty="0" err="1">
                <a:solidFill>
                  <a:srgbClr val="800000"/>
                </a:solidFill>
                <a:latin typeface="Arial Narrow" pitchFamily="34" charset="0"/>
              </a:rPr>
              <a:t>Regulation</a:t>
            </a:r>
            <a:r>
              <a:rPr lang="tr-TR" sz="2400" dirty="0">
                <a:solidFill>
                  <a:srgbClr val="800000"/>
                </a:solidFill>
                <a:latin typeface="Arial Narrow" pitchFamily="34" charset="0"/>
              </a:rPr>
              <a:t> of </a:t>
            </a:r>
            <a:r>
              <a:rPr lang="tr-TR" sz="2400" dirty="0" err="1">
                <a:solidFill>
                  <a:srgbClr val="800000"/>
                </a:solidFill>
                <a:latin typeface="Arial Narrow" pitchFamily="34" charset="0"/>
              </a:rPr>
              <a:t>the</a:t>
            </a:r>
            <a:r>
              <a:rPr lang="tr-TR" sz="2400" dirty="0">
                <a:solidFill>
                  <a:srgbClr val="800000"/>
                </a:solidFill>
                <a:latin typeface="Arial Narrow" pitchFamily="34" charset="0"/>
              </a:rPr>
              <a:t> </a:t>
            </a:r>
            <a:r>
              <a:rPr lang="tr-TR" sz="2400" dirty="0" err="1">
                <a:solidFill>
                  <a:srgbClr val="800000"/>
                </a:solidFill>
                <a:latin typeface="Arial Narrow" pitchFamily="34" charset="0"/>
              </a:rPr>
              <a:t>System</a:t>
            </a:r>
            <a:endParaRPr lang="tr-TR" sz="2400" dirty="0">
              <a:solidFill>
                <a:srgbClr val="800000"/>
              </a:solidFill>
              <a:latin typeface="Arial Narrow" pitchFamily="34" charset="0"/>
            </a:endParaRPr>
          </a:p>
        </p:txBody>
      </p:sp>
      <p:sp>
        <p:nvSpPr>
          <p:cNvPr id="5" name="Content Placeholder 4"/>
          <p:cNvSpPr>
            <a:spLocks noGrp="1"/>
          </p:cNvSpPr>
          <p:nvPr>
            <p:ph idx="1"/>
          </p:nvPr>
        </p:nvSpPr>
        <p:spPr>
          <a:xfrm>
            <a:off x="323528" y="1600200"/>
            <a:ext cx="8568952" cy="5069160"/>
          </a:xfrm>
          <a:ln w="25400">
            <a:noFill/>
          </a:ln>
        </p:spPr>
        <p:txBody>
          <a:bodyPr>
            <a:noAutofit/>
          </a:bodyPr>
          <a:lstStyle/>
          <a:p>
            <a:pPr marL="0" indent="0" algn="ctr">
              <a:spcBef>
                <a:spcPts val="0"/>
              </a:spcBef>
              <a:buNone/>
            </a:pPr>
            <a:endParaRPr lang="tr-TR" sz="900" dirty="0">
              <a:latin typeface="Arial Narrow" panose="020B0606020202030204" pitchFamily="34" charset="0"/>
            </a:endParaRPr>
          </a:p>
          <a:p>
            <a:pPr marL="0" indent="0" algn="ctr">
              <a:spcBef>
                <a:spcPts val="0"/>
              </a:spcBef>
              <a:buNone/>
            </a:pPr>
            <a:r>
              <a:rPr lang="tr-TR" sz="1800" dirty="0">
                <a:latin typeface="Arial Narrow" panose="020B0606020202030204" pitchFamily="34" charset="0"/>
              </a:rPr>
              <a:t>Financial </a:t>
            </a:r>
            <a:r>
              <a:rPr lang="tr-TR" sz="1800" dirty="0" err="1">
                <a:latin typeface="Arial Narrow" panose="020B0606020202030204" pitchFamily="34" charset="0"/>
              </a:rPr>
              <a:t>systems</a:t>
            </a:r>
            <a:r>
              <a:rPr lang="tr-TR" sz="1800" dirty="0">
                <a:latin typeface="Arial Narrow" panose="020B0606020202030204" pitchFamily="34" charset="0"/>
              </a:rPr>
              <a:t> </a:t>
            </a:r>
            <a:r>
              <a:rPr lang="tr-TR" sz="1800" dirty="0" err="1">
                <a:latin typeface="Arial Narrow" panose="020B0606020202030204" pitchFamily="34" charset="0"/>
              </a:rPr>
              <a:t>are</a:t>
            </a:r>
            <a:r>
              <a:rPr lang="tr-TR" sz="1800" dirty="0">
                <a:latin typeface="Arial Narrow" panose="020B0606020202030204" pitchFamily="34" charset="0"/>
              </a:rPr>
              <a:t> </a:t>
            </a:r>
            <a:r>
              <a:rPr lang="tr-TR" sz="1800" dirty="0" err="1">
                <a:latin typeface="Arial Narrow" panose="020B0606020202030204" pitchFamily="34" charset="0"/>
              </a:rPr>
              <a:t>among</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most</a:t>
            </a:r>
            <a:r>
              <a:rPr lang="tr-TR" sz="1800" dirty="0">
                <a:latin typeface="Arial Narrow" panose="020B0606020202030204" pitchFamily="34" charset="0"/>
              </a:rPr>
              <a:t> </a:t>
            </a:r>
            <a:r>
              <a:rPr lang="tr-TR" sz="1800" dirty="0" err="1">
                <a:latin typeface="Arial Narrow" panose="020B0606020202030204" pitchFamily="34" charset="0"/>
              </a:rPr>
              <a:t>heavily</a:t>
            </a:r>
            <a:r>
              <a:rPr lang="tr-TR" sz="1800" dirty="0">
                <a:latin typeface="Arial Narrow" panose="020B0606020202030204" pitchFamily="34" charset="0"/>
              </a:rPr>
              <a:t> </a:t>
            </a:r>
            <a:r>
              <a:rPr lang="tr-TR" sz="1800" dirty="0" err="1">
                <a:latin typeface="Arial Narrow" panose="020B0606020202030204" pitchFamily="34" charset="0"/>
              </a:rPr>
              <a:t>regulated</a:t>
            </a:r>
            <a:r>
              <a:rPr lang="tr-TR" sz="1800" dirty="0">
                <a:latin typeface="Arial Narrow" panose="020B0606020202030204" pitchFamily="34" charset="0"/>
              </a:rPr>
              <a:t> </a:t>
            </a:r>
            <a:r>
              <a:rPr lang="tr-TR" sz="1800" dirty="0" err="1">
                <a:latin typeface="Arial Narrow" panose="020B0606020202030204" pitchFamily="34" charset="0"/>
              </a:rPr>
              <a:t>sectors</a:t>
            </a:r>
            <a:r>
              <a:rPr lang="tr-TR" sz="1800" dirty="0">
                <a:latin typeface="Arial Narrow" panose="020B0606020202030204" pitchFamily="34" charset="0"/>
              </a:rPr>
              <a:t> in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world</a:t>
            </a:r>
            <a:r>
              <a:rPr lang="tr-TR" sz="1800" dirty="0">
                <a:latin typeface="Arial Narrow" panose="020B0606020202030204" pitchFamily="34" charset="0"/>
              </a:rPr>
              <a:t>.</a:t>
            </a:r>
          </a:p>
          <a:p>
            <a:pPr marL="0" indent="0" algn="ctr">
              <a:spcBef>
                <a:spcPts val="0"/>
              </a:spcBef>
              <a:buNone/>
            </a:pPr>
            <a:endParaRPr lang="tr-TR" sz="900" dirty="0">
              <a:latin typeface="Arial Narrow" panose="020B0606020202030204" pitchFamily="34" charset="0"/>
            </a:endParaRPr>
          </a:p>
          <a:p>
            <a:pPr marL="0" indent="0" algn="ctr">
              <a:spcBef>
                <a:spcPts val="0"/>
              </a:spcBef>
              <a:buNone/>
            </a:pPr>
            <a:r>
              <a:rPr lang="tr-TR" sz="1800" dirty="0" err="1">
                <a:latin typeface="Arial Narrow" panose="020B0606020202030204" pitchFamily="34" charset="0"/>
              </a:rPr>
              <a:t>Governments</a:t>
            </a:r>
            <a:r>
              <a:rPr lang="tr-TR" sz="1800" dirty="0">
                <a:latin typeface="Arial Narrow" panose="020B0606020202030204" pitchFamily="34" charset="0"/>
              </a:rPr>
              <a:t> </a:t>
            </a:r>
            <a:r>
              <a:rPr lang="tr-TR" sz="1800" dirty="0" err="1">
                <a:latin typeface="Arial Narrow" panose="020B0606020202030204" pitchFamily="34" charset="0"/>
              </a:rPr>
              <a:t>regulate</a:t>
            </a:r>
            <a:r>
              <a:rPr lang="tr-TR" sz="1800" dirty="0">
                <a:latin typeface="Arial Narrow" panose="020B0606020202030204" pitchFamily="34" charset="0"/>
              </a:rPr>
              <a:t> </a:t>
            </a:r>
            <a:r>
              <a:rPr lang="tr-TR" sz="1800" dirty="0" err="1">
                <a:latin typeface="Arial Narrow" panose="020B0606020202030204" pitchFamily="34" charset="0"/>
              </a:rPr>
              <a:t>financial</a:t>
            </a:r>
            <a:r>
              <a:rPr lang="tr-TR" sz="1800" dirty="0">
                <a:latin typeface="Arial Narrow" panose="020B0606020202030204" pitchFamily="34" charset="0"/>
              </a:rPr>
              <a:t> </a:t>
            </a:r>
            <a:r>
              <a:rPr lang="tr-TR" sz="1800" dirty="0" err="1">
                <a:latin typeface="Arial Narrow" panose="020B0606020202030204" pitchFamily="34" charset="0"/>
              </a:rPr>
              <a:t>systems</a:t>
            </a:r>
            <a:r>
              <a:rPr lang="tr-TR" sz="1800" dirty="0">
                <a:latin typeface="Arial Narrow" panose="020B0606020202030204" pitchFamily="34" charset="0"/>
              </a:rPr>
              <a:t>,</a:t>
            </a:r>
          </a:p>
          <a:p>
            <a:pPr algn="ctr">
              <a:spcBef>
                <a:spcPts val="0"/>
              </a:spcBef>
            </a:pP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increase</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information</a:t>
            </a:r>
            <a:r>
              <a:rPr lang="tr-TR" sz="1800" dirty="0">
                <a:latin typeface="Arial Narrow" panose="020B0606020202030204" pitchFamily="34" charset="0"/>
              </a:rPr>
              <a:t> </a:t>
            </a:r>
            <a:r>
              <a:rPr lang="tr-TR" sz="1800" dirty="0" err="1">
                <a:latin typeface="Arial Narrow" panose="020B0606020202030204" pitchFamily="34" charset="0"/>
              </a:rPr>
              <a:t>available</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investors</a:t>
            </a:r>
            <a:r>
              <a:rPr lang="tr-TR" sz="1800" dirty="0">
                <a:latin typeface="Arial Narrow" panose="020B0606020202030204" pitchFamily="34" charset="0"/>
              </a:rPr>
              <a:t>, </a:t>
            </a:r>
            <a:r>
              <a:rPr lang="tr-TR" sz="1800" dirty="0" err="1">
                <a:latin typeface="Arial Narrow" panose="020B0606020202030204" pitchFamily="34" charset="0"/>
              </a:rPr>
              <a:t>and</a:t>
            </a:r>
            <a:endParaRPr lang="tr-TR" sz="1800" dirty="0">
              <a:latin typeface="Arial Narrow" panose="020B0606020202030204" pitchFamily="34" charset="0"/>
            </a:endParaRPr>
          </a:p>
          <a:p>
            <a:pPr algn="ctr">
              <a:spcBef>
                <a:spcPts val="0"/>
              </a:spcBef>
            </a:pP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ensure</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soundness</a:t>
            </a:r>
            <a:r>
              <a:rPr lang="tr-TR" sz="1800" dirty="0">
                <a:latin typeface="Arial Narrow" panose="020B0606020202030204" pitchFamily="34" charset="0"/>
              </a:rPr>
              <a:t> of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system</a:t>
            </a:r>
            <a:r>
              <a:rPr lang="tr-TR" sz="1800" dirty="0">
                <a:latin typeface="Arial Narrow" panose="020B0606020202030204" pitchFamily="34" charset="0"/>
              </a:rPr>
              <a:t>.</a:t>
            </a:r>
          </a:p>
          <a:p>
            <a:pPr marL="0" indent="0" algn="ctr">
              <a:spcBef>
                <a:spcPts val="0"/>
              </a:spcBef>
              <a:buNone/>
            </a:pPr>
            <a:endParaRPr lang="tr-TR" sz="1800" dirty="0">
              <a:latin typeface="Arial Narrow" panose="020B0606020202030204" pitchFamily="34" charset="0"/>
            </a:endParaRPr>
          </a:p>
          <a:p>
            <a:pPr marL="0" indent="0" algn="ctr">
              <a:spcBef>
                <a:spcPts val="0"/>
              </a:spcBef>
              <a:buNone/>
            </a:pPr>
            <a:r>
              <a:rPr lang="tr-TR" sz="1800" dirty="0">
                <a:latin typeface="Arial Narrow" panose="020B0606020202030204" pitchFamily="34" charset="0"/>
              </a:rPr>
              <a:t>Bankacılık Düzenleme ve Denetleme Kurulu (BDDK)</a:t>
            </a:r>
          </a:p>
          <a:p>
            <a:pPr marL="0" indent="0" algn="ctr">
              <a:spcBef>
                <a:spcPts val="0"/>
              </a:spcBef>
              <a:buNone/>
            </a:pPr>
            <a:r>
              <a:rPr lang="tr-TR" sz="1600" dirty="0" err="1">
                <a:latin typeface="Arial Narrow" panose="020B0606020202030204" pitchFamily="34" charset="0"/>
              </a:rPr>
              <a:t>regulates</a:t>
            </a:r>
            <a:r>
              <a:rPr lang="tr-TR" sz="1600" dirty="0">
                <a:latin typeface="Arial Narrow" panose="020B0606020202030204" pitchFamily="34" charset="0"/>
              </a:rPr>
              <a:t> </a:t>
            </a:r>
            <a:r>
              <a:rPr lang="tr-TR" sz="1600" dirty="0" err="1">
                <a:latin typeface="Arial Narrow" panose="020B0606020202030204" pitchFamily="34" charset="0"/>
              </a:rPr>
              <a:t>and</a:t>
            </a:r>
            <a:r>
              <a:rPr lang="tr-TR" sz="1600" dirty="0">
                <a:latin typeface="Arial Narrow" panose="020B0606020202030204" pitchFamily="34" charset="0"/>
              </a:rPr>
              <a:t> </a:t>
            </a:r>
            <a:r>
              <a:rPr lang="tr-TR" sz="1600" dirty="0" err="1">
                <a:latin typeface="Arial Narrow" panose="020B0606020202030204" pitchFamily="34" charset="0"/>
              </a:rPr>
              <a:t>supervises</a:t>
            </a:r>
            <a:endParaRPr lang="tr-TR" sz="1600" dirty="0">
              <a:latin typeface="Arial Narrow" panose="020B0606020202030204" pitchFamily="34" charset="0"/>
            </a:endParaRPr>
          </a:p>
          <a:p>
            <a:pPr marL="0" indent="0" algn="ctr">
              <a:spcBef>
                <a:spcPts val="0"/>
              </a:spcBef>
              <a:buNone/>
            </a:pPr>
            <a:r>
              <a:rPr lang="tr-TR" sz="1800" dirty="0" err="1">
                <a:solidFill>
                  <a:srgbClr val="800000"/>
                </a:solidFill>
                <a:latin typeface="Arial Narrow" panose="020B0606020202030204" pitchFamily="34" charset="0"/>
              </a:rPr>
              <a:t>banks</a:t>
            </a:r>
            <a:r>
              <a:rPr lang="tr-TR" sz="1800" dirty="0">
                <a:solidFill>
                  <a:srgbClr val="800000"/>
                </a:solidFill>
                <a:latin typeface="Arial Narrow" panose="020B0606020202030204" pitchFamily="34" charset="0"/>
              </a:rPr>
              <a:t>.</a:t>
            </a:r>
          </a:p>
          <a:p>
            <a:pPr marL="0" indent="0" algn="ctr">
              <a:spcBef>
                <a:spcPts val="0"/>
              </a:spcBef>
              <a:buNone/>
            </a:pPr>
            <a:endParaRPr lang="tr-TR" sz="900" dirty="0">
              <a:latin typeface="Arial Narrow" panose="020B0606020202030204" pitchFamily="34" charset="0"/>
            </a:endParaRPr>
          </a:p>
          <a:p>
            <a:pPr marL="0" indent="0" algn="ctr">
              <a:spcBef>
                <a:spcPts val="0"/>
              </a:spcBef>
              <a:buNone/>
            </a:pPr>
            <a:r>
              <a:rPr lang="tr-TR" sz="1800" dirty="0" err="1" smtClean="0">
                <a:latin typeface="Arial Narrow" panose="020B0606020202030204" pitchFamily="34" charset="0"/>
              </a:rPr>
              <a:t>Before</a:t>
            </a:r>
            <a:r>
              <a:rPr lang="tr-TR" sz="1800" dirty="0" smtClean="0">
                <a:latin typeface="Arial Narrow" panose="020B0606020202030204" pitchFamily="34" charset="0"/>
              </a:rPr>
              <a:t> Hazine </a:t>
            </a:r>
            <a:r>
              <a:rPr lang="tr-TR" sz="1800" dirty="0">
                <a:latin typeface="Arial Narrow" panose="020B0606020202030204" pitchFamily="34" charset="0"/>
              </a:rPr>
              <a:t>Müsteşarlığı (</a:t>
            </a:r>
            <a:r>
              <a:rPr lang="tr-TR" sz="1800" dirty="0" err="1">
                <a:latin typeface="Arial Narrow" panose="020B0606020202030204" pitchFamily="34" charset="0"/>
              </a:rPr>
              <a:t>Undersecretariat</a:t>
            </a:r>
            <a:r>
              <a:rPr lang="tr-TR" sz="1800" dirty="0">
                <a:latin typeface="Arial Narrow" panose="020B0606020202030204" pitchFamily="34" charset="0"/>
              </a:rPr>
              <a:t> of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Treasury</a:t>
            </a:r>
            <a:r>
              <a:rPr lang="tr-TR" sz="1800" dirty="0">
                <a:latin typeface="Arial Narrow" panose="020B0606020202030204" pitchFamily="34" charset="0"/>
              </a:rPr>
              <a:t>)</a:t>
            </a:r>
          </a:p>
          <a:p>
            <a:pPr marL="0" indent="0" algn="ctr">
              <a:spcBef>
                <a:spcPts val="0"/>
              </a:spcBef>
              <a:buNone/>
            </a:pPr>
            <a:r>
              <a:rPr lang="tr-TR" sz="1600" dirty="0" err="1">
                <a:latin typeface="Arial Narrow" panose="020B0606020202030204" pitchFamily="34" charset="0"/>
              </a:rPr>
              <a:t>u</a:t>
            </a:r>
            <a:r>
              <a:rPr lang="tr-TR" sz="1600" dirty="0" err="1" smtClean="0">
                <a:latin typeface="Arial Narrow" panose="020B0606020202030204" pitchFamily="34" charset="0"/>
              </a:rPr>
              <a:t>sed</a:t>
            </a:r>
            <a:r>
              <a:rPr lang="tr-TR" sz="1600" dirty="0" smtClean="0">
                <a:latin typeface="Arial Narrow" panose="020B0606020202030204" pitchFamily="34" charset="0"/>
              </a:rPr>
              <a:t> </a:t>
            </a:r>
            <a:r>
              <a:rPr lang="tr-TR" sz="1600" dirty="0" err="1" smtClean="0">
                <a:latin typeface="Arial Narrow" panose="020B0606020202030204" pitchFamily="34" charset="0"/>
              </a:rPr>
              <a:t>to</a:t>
            </a:r>
            <a:r>
              <a:rPr lang="tr-TR" sz="1600" dirty="0" smtClean="0">
                <a:latin typeface="Arial Narrow" panose="020B0606020202030204" pitchFamily="34" charset="0"/>
              </a:rPr>
              <a:t> </a:t>
            </a:r>
            <a:r>
              <a:rPr lang="tr-TR" sz="1600" dirty="0" err="1" smtClean="0">
                <a:latin typeface="Arial Narrow" panose="020B0606020202030204" pitchFamily="34" charset="0"/>
              </a:rPr>
              <a:t>regulate</a:t>
            </a:r>
            <a:r>
              <a:rPr lang="tr-TR" sz="1600" dirty="0" smtClean="0">
                <a:latin typeface="Arial Narrow" panose="020B0606020202030204" pitchFamily="34" charset="0"/>
              </a:rPr>
              <a:t> </a:t>
            </a:r>
            <a:r>
              <a:rPr lang="tr-TR" sz="1600" dirty="0" err="1">
                <a:latin typeface="Arial Narrow" panose="020B0606020202030204" pitchFamily="34" charset="0"/>
              </a:rPr>
              <a:t>and</a:t>
            </a:r>
            <a:r>
              <a:rPr lang="tr-TR" sz="1600" dirty="0">
                <a:latin typeface="Arial Narrow" panose="020B0606020202030204" pitchFamily="34" charset="0"/>
              </a:rPr>
              <a:t> </a:t>
            </a:r>
            <a:r>
              <a:rPr lang="tr-TR" sz="1600" dirty="0" err="1" smtClean="0">
                <a:latin typeface="Arial Narrow" panose="020B0606020202030204" pitchFamily="34" charset="0"/>
              </a:rPr>
              <a:t>supervise</a:t>
            </a:r>
            <a:endParaRPr lang="tr-TR" sz="1600" dirty="0">
              <a:latin typeface="Arial Narrow" panose="020B0606020202030204" pitchFamily="34" charset="0"/>
            </a:endParaRPr>
          </a:p>
          <a:p>
            <a:pPr marL="0" indent="0" algn="ctr">
              <a:spcBef>
                <a:spcPts val="0"/>
              </a:spcBef>
              <a:buNone/>
            </a:pPr>
            <a:r>
              <a:rPr lang="tr-TR" sz="1800" dirty="0" err="1">
                <a:solidFill>
                  <a:srgbClr val="800000"/>
                </a:solidFill>
                <a:latin typeface="Arial Narrow" panose="020B0606020202030204" pitchFamily="34" charset="0"/>
              </a:rPr>
              <a:t>insurance</a:t>
            </a:r>
            <a:r>
              <a:rPr lang="tr-TR" sz="1800" dirty="0">
                <a:solidFill>
                  <a:srgbClr val="800000"/>
                </a:solidFill>
                <a:latin typeface="Arial Narrow" panose="020B0606020202030204" pitchFamily="34" charset="0"/>
              </a:rPr>
              <a:t> </a:t>
            </a:r>
            <a:r>
              <a:rPr lang="tr-TR" sz="1800" dirty="0" err="1" smtClean="0">
                <a:solidFill>
                  <a:srgbClr val="800000"/>
                </a:solidFill>
                <a:latin typeface="Arial Narrow" panose="020B0606020202030204" pitchFamily="34" charset="0"/>
              </a:rPr>
              <a:t>companies</a:t>
            </a:r>
            <a:r>
              <a:rPr lang="tr-TR" sz="1800" dirty="0" smtClean="0">
                <a:solidFill>
                  <a:srgbClr val="800000"/>
                </a:solidFill>
                <a:latin typeface="Arial Narrow" panose="020B0606020202030204" pitchFamily="34" charset="0"/>
              </a:rPr>
              <a:t>;</a:t>
            </a:r>
          </a:p>
          <a:p>
            <a:pPr marL="0" indent="0" algn="ctr">
              <a:spcBef>
                <a:spcPts val="0"/>
              </a:spcBef>
              <a:buNone/>
            </a:pPr>
            <a:r>
              <a:rPr lang="tr-TR" sz="1800" dirty="0" err="1" smtClean="0">
                <a:latin typeface="Arial Narrow" panose="020B0606020202030204" pitchFamily="34" charset="0"/>
              </a:rPr>
              <a:t>now</a:t>
            </a:r>
            <a:r>
              <a:rPr lang="tr-TR" sz="1800" dirty="0" smtClean="0">
                <a:latin typeface="Arial Narrow" panose="020B0606020202030204" pitchFamily="34" charset="0"/>
              </a:rPr>
              <a:t>, a </a:t>
            </a:r>
            <a:r>
              <a:rPr lang="tr-TR" sz="1800" dirty="0" err="1" smtClean="0">
                <a:latin typeface="Arial Narrow" panose="020B0606020202030204" pitchFamily="34" charset="0"/>
              </a:rPr>
              <a:t>separate</a:t>
            </a:r>
            <a:r>
              <a:rPr lang="tr-TR" sz="1800" dirty="0" smtClean="0">
                <a:latin typeface="Arial Narrow" panose="020B0606020202030204" pitchFamily="34" charset="0"/>
              </a:rPr>
              <a:t> </a:t>
            </a:r>
            <a:r>
              <a:rPr lang="tr-TR" sz="1800" dirty="0" err="1" smtClean="0">
                <a:latin typeface="Arial Narrow" panose="020B0606020202030204" pitchFamily="34" charset="0"/>
              </a:rPr>
              <a:t>supervisory</a:t>
            </a:r>
            <a:r>
              <a:rPr lang="tr-TR" sz="1800" dirty="0" smtClean="0">
                <a:latin typeface="Arial Narrow" panose="020B0606020202030204" pitchFamily="34" charset="0"/>
              </a:rPr>
              <a:t> board </a:t>
            </a:r>
            <a:r>
              <a:rPr lang="tr-TR" sz="1800" dirty="0" err="1" smtClean="0">
                <a:latin typeface="Arial Narrow" panose="020B0606020202030204" pitchFamily="34" charset="0"/>
              </a:rPr>
              <a:t>similar</a:t>
            </a:r>
            <a:r>
              <a:rPr lang="tr-TR" sz="1800" dirty="0" smtClean="0">
                <a:latin typeface="Arial Narrow" panose="020B0606020202030204" pitchFamily="34" charset="0"/>
              </a:rPr>
              <a:t> </a:t>
            </a:r>
            <a:r>
              <a:rPr lang="tr-TR" sz="1800" dirty="0" err="1" smtClean="0">
                <a:latin typeface="Arial Narrow" panose="020B0606020202030204" pitchFamily="34" charset="0"/>
              </a:rPr>
              <a:t>to</a:t>
            </a:r>
            <a:r>
              <a:rPr lang="tr-TR" sz="1800" dirty="0" smtClean="0">
                <a:latin typeface="Arial Narrow" panose="020B0606020202030204" pitchFamily="34" charset="0"/>
              </a:rPr>
              <a:t> BDDK has </a:t>
            </a:r>
            <a:r>
              <a:rPr lang="tr-TR" sz="1800" dirty="0" err="1" smtClean="0">
                <a:latin typeface="Arial Narrow" panose="020B0606020202030204" pitchFamily="34" charset="0"/>
              </a:rPr>
              <a:t>been</a:t>
            </a:r>
            <a:r>
              <a:rPr lang="tr-TR" sz="1800" dirty="0" smtClean="0">
                <a:latin typeface="Arial Narrow" panose="020B0606020202030204" pitchFamily="34" charset="0"/>
              </a:rPr>
              <a:t> </a:t>
            </a:r>
            <a:r>
              <a:rPr lang="tr-TR" sz="1800" dirty="0" err="1" smtClean="0">
                <a:latin typeface="Arial Narrow" panose="020B0606020202030204" pitchFamily="34" charset="0"/>
              </a:rPr>
              <a:t>established</a:t>
            </a:r>
            <a:r>
              <a:rPr lang="tr-TR" sz="1800" dirty="0" smtClean="0">
                <a:latin typeface="Arial Narrow" panose="020B0606020202030204" pitchFamily="34" charset="0"/>
              </a:rPr>
              <a:t>.</a:t>
            </a:r>
            <a:endParaRPr lang="tr-TR" sz="1800" dirty="0">
              <a:latin typeface="Arial Narrow" panose="020B0606020202030204" pitchFamily="34" charset="0"/>
            </a:endParaRPr>
          </a:p>
          <a:p>
            <a:pPr marL="0" indent="0" algn="ctr">
              <a:spcBef>
                <a:spcPts val="0"/>
              </a:spcBef>
              <a:buNone/>
            </a:pPr>
            <a:endParaRPr lang="tr-TR" sz="1800" dirty="0">
              <a:latin typeface="Arial Narrow" panose="020B0606020202030204" pitchFamily="34" charset="0"/>
            </a:endParaRPr>
          </a:p>
          <a:p>
            <a:pPr marL="0" indent="0" algn="ctr">
              <a:spcBef>
                <a:spcPts val="0"/>
              </a:spcBef>
              <a:buNone/>
            </a:pPr>
            <a:r>
              <a:rPr lang="tr-TR" sz="1800" dirty="0">
                <a:latin typeface="Arial Narrow" panose="020B0606020202030204" pitchFamily="34" charset="0"/>
              </a:rPr>
              <a:t>Sermaye Piyasası Kurulu (SPK)</a:t>
            </a:r>
          </a:p>
          <a:p>
            <a:pPr marL="0" indent="0" algn="ctr">
              <a:spcBef>
                <a:spcPts val="0"/>
              </a:spcBef>
              <a:buNone/>
            </a:pPr>
            <a:r>
              <a:rPr lang="tr-TR" sz="1600" dirty="0" err="1">
                <a:latin typeface="Arial Narrow" panose="020B0606020202030204" pitchFamily="34" charset="0"/>
              </a:rPr>
              <a:t>regulates</a:t>
            </a:r>
            <a:r>
              <a:rPr lang="tr-TR" sz="1600" dirty="0">
                <a:latin typeface="Arial Narrow" panose="020B0606020202030204" pitchFamily="34" charset="0"/>
              </a:rPr>
              <a:t> </a:t>
            </a:r>
            <a:r>
              <a:rPr lang="tr-TR" sz="1600" dirty="0" err="1">
                <a:latin typeface="Arial Narrow" panose="020B0606020202030204" pitchFamily="34" charset="0"/>
              </a:rPr>
              <a:t>and</a:t>
            </a:r>
            <a:r>
              <a:rPr lang="tr-TR" sz="1600" dirty="0">
                <a:latin typeface="Arial Narrow" panose="020B0606020202030204" pitchFamily="34" charset="0"/>
              </a:rPr>
              <a:t> </a:t>
            </a:r>
            <a:r>
              <a:rPr lang="tr-TR" sz="1600" dirty="0" err="1">
                <a:latin typeface="Arial Narrow" panose="020B0606020202030204" pitchFamily="34" charset="0"/>
              </a:rPr>
              <a:t>supervises</a:t>
            </a:r>
            <a:endParaRPr lang="tr-TR" sz="1600" dirty="0">
              <a:latin typeface="Arial Narrow" panose="020B0606020202030204" pitchFamily="34" charset="0"/>
            </a:endParaRPr>
          </a:p>
          <a:p>
            <a:pPr marL="0" indent="0" algn="ctr">
              <a:spcBef>
                <a:spcPts val="0"/>
              </a:spcBef>
              <a:buNone/>
            </a:pPr>
            <a:r>
              <a:rPr lang="tr-TR" sz="1800" dirty="0" err="1">
                <a:solidFill>
                  <a:srgbClr val="800000"/>
                </a:solidFill>
                <a:latin typeface="Arial Narrow" panose="020B0606020202030204" pitchFamily="34" charset="0"/>
              </a:rPr>
              <a:t>capital</a:t>
            </a:r>
            <a:r>
              <a:rPr lang="tr-TR" sz="1800" dirty="0">
                <a:solidFill>
                  <a:srgbClr val="800000"/>
                </a:solidFill>
                <a:latin typeface="Arial Narrow" panose="020B0606020202030204" pitchFamily="34" charset="0"/>
              </a:rPr>
              <a:t> </a:t>
            </a:r>
            <a:r>
              <a:rPr lang="tr-TR" sz="1800" dirty="0" err="1">
                <a:solidFill>
                  <a:srgbClr val="800000"/>
                </a:solidFill>
                <a:latin typeface="Arial Narrow" panose="020B0606020202030204" pitchFamily="34" charset="0"/>
              </a:rPr>
              <a:t>markets</a:t>
            </a:r>
            <a:r>
              <a:rPr lang="tr-TR" sz="1800" dirty="0">
                <a:solidFill>
                  <a:srgbClr val="800000"/>
                </a:solidFill>
                <a:latin typeface="Arial Narrow" panose="020B0606020202030204" pitchFamily="34" charset="0"/>
              </a:rPr>
              <a:t>.</a:t>
            </a:r>
            <a:endParaRPr lang="tr-TR" sz="1600" dirty="0">
              <a:solidFill>
                <a:srgbClr val="800000"/>
              </a:solidFill>
              <a:latin typeface="Arial Narrow" panose="020B0606020202030204" pitchFamily="34" charset="0"/>
            </a:endParaRPr>
          </a:p>
        </p:txBody>
      </p:sp>
    </p:spTree>
    <p:extLst>
      <p:ext uri="{BB962C8B-B14F-4D97-AF65-F5344CB8AC3E}">
        <p14:creationId xmlns:p14="http://schemas.microsoft.com/office/powerpoint/2010/main" val="739150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807804" y="241176"/>
            <a:ext cx="3600400" cy="1143000"/>
          </a:xfrm>
          <a:noFill/>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smtClean="0">
                <a:solidFill>
                  <a:srgbClr val="800000"/>
                </a:solidFill>
                <a:latin typeface="Arial Narrow" pitchFamily="34" charset="0"/>
              </a:rPr>
              <a:t>Financial </a:t>
            </a:r>
            <a:r>
              <a:rPr lang="tr-TR" sz="2000" dirty="0" err="1" smtClean="0">
                <a:solidFill>
                  <a:srgbClr val="800000"/>
                </a:solidFill>
                <a:latin typeface="Arial Narrow" pitchFamily="34" charset="0"/>
              </a:rPr>
              <a:t>System</a:t>
            </a:r>
            <a:r>
              <a:rPr lang="tr-TR" sz="2000" dirty="0">
                <a:solidFill>
                  <a:srgbClr val="800000"/>
                </a:solidFill>
                <a:latin typeface="Arial Narrow" pitchFamily="34" charset="0"/>
              </a:rPr>
              <a:t/>
            </a:r>
            <a:br>
              <a:rPr lang="tr-TR" sz="2000" dirty="0">
                <a:solidFill>
                  <a:srgbClr val="800000"/>
                </a:solidFill>
                <a:latin typeface="Arial Narrow" pitchFamily="34" charset="0"/>
              </a:rPr>
            </a:br>
            <a:r>
              <a:rPr lang="tr-TR" sz="2400" dirty="0" err="1" smtClean="0">
                <a:latin typeface="Arial Narrow" pitchFamily="34" charset="0"/>
              </a:rPr>
              <a:t>Regulation</a:t>
            </a:r>
            <a:r>
              <a:rPr lang="tr-TR" sz="2400" dirty="0" smtClean="0">
                <a:latin typeface="Arial Narrow" pitchFamily="34" charset="0"/>
              </a:rPr>
              <a:t> of </a:t>
            </a:r>
            <a:r>
              <a:rPr lang="tr-TR" sz="2400" dirty="0" err="1" smtClean="0">
                <a:latin typeface="Arial Narrow" pitchFamily="34" charset="0"/>
              </a:rPr>
              <a:t>the</a:t>
            </a:r>
            <a:r>
              <a:rPr lang="tr-TR" sz="2400" dirty="0" smtClean="0">
                <a:latin typeface="Arial Narrow" pitchFamily="34" charset="0"/>
              </a:rPr>
              <a:t> </a:t>
            </a:r>
            <a:r>
              <a:rPr lang="tr-TR" sz="2400" dirty="0" err="1" smtClean="0">
                <a:latin typeface="Arial Narrow" pitchFamily="34" charset="0"/>
              </a:rPr>
              <a:t>System</a:t>
            </a:r>
            <a:endParaRPr lang="tr-TR" sz="2400" dirty="0">
              <a:latin typeface="Arial Narrow" pitchFamily="34" charset="0"/>
            </a:endParaRPr>
          </a:p>
        </p:txBody>
      </p:sp>
      <p:sp>
        <p:nvSpPr>
          <p:cNvPr id="5" name="Content Placeholder 4"/>
          <p:cNvSpPr>
            <a:spLocks noGrp="1"/>
          </p:cNvSpPr>
          <p:nvPr>
            <p:ph idx="1"/>
          </p:nvPr>
        </p:nvSpPr>
        <p:spPr>
          <a:xfrm>
            <a:off x="323528" y="1384176"/>
            <a:ext cx="8568952" cy="5069160"/>
          </a:xfrm>
          <a:ln w="25400">
            <a:noFill/>
          </a:ln>
        </p:spPr>
        <p:txBody>
          <a:bodyPr>
            <a:noAutofit/>
          </a:bodyPr>
          <a:lstStyle/>
          <a:p>
            <a:pPr marL="0" indent="0">
              <a:spcBef>
                <a:spcPts val="0"/>
              </a:spcBef>
              <a:buNone/>
            </a:pPr>
            <a:r>
              <a:rPr lang="tr-TR" sz="800" dirty="0" smtClean="0">
                <a:latin typeface="Arial Narrow" panose="020B0606020202030204" pitchFamily="34" charset="0"/>
              </a:rPr>
              <a:t>	</a:t>
            </a:r>
          </a:p>
          <a:p>
            <a:pPr marL="0" indent="0">
              <a:spcBef>
                <a:spcPts val="0"/>
              </a:spcBef>
              <a:buNone/>
            </a:pPr>
            <a:r>
              <a:rPr lang="tr-TR" sz="800" dirty="0">
                <a:latin typeface="Arial Narrow" panose="020B0606020202030204" pitchFamily="34" charset="0"/>
              </a:rPr>
              <a:t>	</a:t>
            </a:r>
            <a:r>
              <a:rPr lang="tr-TR" sz="1600" dirty="0" err="1" smtClean="0">
                <a:latin typeface="Arial Narrow" panose="020B0606020202030204" pitchFamily="34" charset="0"/>
              </a:rPr>
              <a:t>Governments</a:t>
            </a:r>
            <a:r>
              <a:rPr lang="tr-TR" sz="1600" dirty="0" smtClean="0">
                <a:latin typeface="Arial Narrow" panose="020B0606020202030204" pitchFamily="34" charset="0"/>
              </a:rPr>
              <a:t> </a:t>
            </a:r>
            <a:r>
              <a:rPr lang="tr-TR" sz="1600" dirty="0" err="1" smtClean="0">
                <a:latin typeface="Arial Narrow" panose="020B0606020202030204" pitchFamily="34" charset="0"/>
              </a:rPr>
              <a:t>regulate</a:t>
            </a:r>
            <a:r>
              <a:rPr lang="tr-TR" sz="1600" dirty="0" smtClean="0">
                <a:latin typeface="Arial Narrow" panose="020B0606020202030204" pitchFamily="34" charset="0"/>
              </a:rPr>
              <a:t> </a:t>
            </a:r>
            <a:r>
              <a:rPr lang="tr-TR" sz="1600" dirty="0" err="1" smtClean="0">
                <a:latin typeface="Arial Narrow" panose="020B0606020202030204" pitchFamily="34" charset="0"/>
              </a:rPr>
              <a:t>financial</a:t>
            </a:r>
            <a:r>
              <a:rPr lang="tr-TR" sz="1600" dirty="0" smtClean="0">
                <a:latin typeface="Arial Narrow" panose="020B0606020202030204" pitchFamily="34" charset="0"/>
              </a:rPr>
              <a:t> </a:t>
            </a:r>
            <a:r>
              <a:rPr lang="tr-TR" sz="1600" dirty="0" err="1" smtClean="0">
                <a:latin typeface="Arial Narrow" panose="020B0606020202030204" pitchFamily="34" charset="0"/>
              </a:rPr>
              <a:t>systems</a:t>
            </a:r>
            <a:r>
              <a:rPr lang="tr-TR" sz="1600" dirty="0" smtClean="0">
                <a:latin typeface="Arial Narrow" panose="020B0606020202030204" pitchFamily="34" charset="0"/>
              </a:rPr>
              <a:t> </a:t>
            </a:r>
            <a:r>
              <a:rPr lang="tr-TR" sz="1600" dirty="0" err="1" smtClean="0">
                <a:latin typeface="Arial Narrow" panose="020B0606020202030204" pitchFamily="34" charset="0"/>
              </a:rPr>
              <a:t>via</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following</a:t>
            </a:r>
            <a:r>
              <a:rPr lang="tr-TR" sz="1600" dirty="0" smtClean="0">
                <a:latin typeface="Arial Narrow" panose="020B0606020202030204" pitchFamily="34" charset="0"/>
              </a:rPr>
              <a:t>:</a:t>
            </a:r>
          </a:p>
          <a:p>
            <a:pPr marL="0" indent="0">
              <a:spcBef>
                <a:spcPts val="0"/>
              </a:spcBef>
              <a:buNone/>
            </a:pPr>
            <a:endParaRPr lang="tr-TR" sz="1600" dirty="0" smtClean="0">
              <a:latin typeface="Arial Narrow" panose="020B0606020202030204" pitchFamily="34" charset="0"/>
            </a:endParaRPr>
          </a:p>
          <a:p>
            <a:pPr>
              <a:spcBef>
                <a:spcPts val="0"/>
              </a:spcBef>
            </a:pPr>
            <a:r>
              <a:rPr lang="tr-TR" sz="1600" dirty="0" err="1" smtClean="0">
                <a:solidFill>
                  <a:srgbClr val="C00000"/>
                </a:solidFill>
                <a:latin typeface="Arial Narrow" panose="020B0606020202030204" pitchFamily="34" charset="0"/>
              </a:rPr>
              <a:t>Restrictions</a:t>
            </a:r>
            <a:r>
              <a:rPr lang="tr-TR" sz="1600" dirty="0" smtClean="0">
                <a:solidFill>
                  <a:srgbClr val="C00000"/>
                </a:solidFill>
                <a:latin typeface="Arial Narrow" panose="020B0606020202030204" pitchFamily="34" charset="0"/>
              </a:rPr>
              <a:t> on </a:t>
            </a:r>
            <a:r>
              <a:rPr lang="tr-TR" sz="1600" dirty="0" err="1" smtClean="0">
                <a:solidFill>
                  <a:srgbClr val="C00000"/>
                </a:solidFill>
                <a:latin typeface="Arial Narrow" panose="020B0606020202030204" pitchFamily="34" charset="0"/>
              </a:rPr>
              <a:t>Entry</a:t>
            </a:r>
            <a:r>
              <a:rPr lang="tr-TR" sz="1600" dirty="0" smtClean="0">
                <a:solidFill>
                  <a:srgbClr val="C00000"/>
                </a:solidFill>
                <a:latin typeface="Arial Narrow" panose="020B0606020202030204" pitchFamily="34" charset="0"/>
              </a:rPr>
              <a:t> </a:t>
            </a:r>
            <a:r>
              <a:rPr lang="tr-TR" sz="1600" dirty="0" smtClean="0">
                <a:latin typeface="Arial Narrow" panose="020B0606020202030204" pitchFamily="34" charset="0"/>
              </a:rPr>
              <a:t>– </a:t>
            </a:r>
            <a:r>
              <a:rPr lang="tr-TR" sz="1600" dirty="0" err="1" smtClean="0">
                <a:latin typeface="Arial Narrow" panose="020B0606020202030204" pitchFamily="34" charset="0"/>
              </a:rPr>
              <a:t>Those</a:t>
            </a:r>
            <a:r>
              <a:rPr lang="tr-TR" sz="1600" dirty="0" smtClean="0">
                <a:latin typeface="Arial Narrow" panose="020B0606020202030204" pitchFamily="34" charset="0"/>
              </a:rPr>
              <a:t> </a:t>
            </a:r>
            <a:r>
              <a:rPr lang="tr-TR" sz="1600" dirty="0" err="1" smtClean="0">
                <a:latin typeface="Arial Narrow" panose="020B0606020202030204" pitchFamily="34" charset="0"/>
              </a:rPr>
              <a:t>who</a:t>
            </a:r>
            <a:r>
              <a:rPr lang="tr-TR" sz="1600" dirty="0" smtClean="0">
                <a:latin typeface="Arial Narrow" panose="020B0606020202030204" pitchFamily="34" charset="0"/>
              </a:rPr>
              <a:t> </a:t>
            </a:r>
            <a:r>
              <a:rPr lang="tr-TR" sz="1600" dirty="0" err="1" smtClean="0">
                <a:latin typeface="Arial Narrow" panose="020B0606020202030204" pitchFamily="34" charset="0"/>
              </a:rPr>
              <a:t>want</a:t>
            </a:r>
            <a:r>
              <a:rPr lang="tr-TR" sz="1600" dirty="0" smtClean="0">
                <a:latin typeface="Arial Narrow" panose="020B0606020202030204" pitchFamily="34" charset="0"/>
              </a:rPr>
              <a:t> </a:t>
            </a:r>
            <a:r>
              <a:rPr lang="tr-TR" sz="1600" dirty="0" err="1" smtClean="0">
                <a:latin typeface="Arial Narrow" panose="020B0606020202030204" pitchFamily="34" charset="0"/>
              </a:rPr>
              <a:t>to</a:t>
            </a:r>
            <a:r>
              <a:rPr lang="tr-TR" sz="1600" dirty="0" smtClean="0">
                <a:latin typeface="Arial Narrow" panose="020B0606020202030204" pitchFamily="34" charset="0"/>
              </a:rPr>
              <a:t> </a:t>
            </a:r>
            <a:r>
              <a:rPr lang="tr-TR" sz="1600" dirty="0" err="1" smtClean="0">
                <a:latin typeface="Arial Narrow" panose="020B0606020202030204" pitchFamily="34" charset="0"/>
              </a:rPr>
              <a:t>establish</a:t>
            </a:r>
            <a:r>
              <a:rPr lang="tr-TR" sz="1600" dirty="0" smtClean="0">
                <a:latin typeface="Arial Narrow" panose="020B0606020202030204" pitchFamily="34" charset="0"/>
              </a:rPr>
              <a:t> a </a:t>
            </a:r>
            <a:r>
              <a:rPr lang="tr-TR" sz="1600" dirty="0" err="1" smtClean="0">
                <a:latin typeface="Arial Narrow" panose="020B0606020202030204" pitchFamily="34" charset="0"/>
              </a:rPr>
              <a:t>financial</a:t>
            </a:r>
            <a:r>
              <a:rPr lang="tr-TR" sz="1600" dirty="0" smtClean="0">
                <a:latin typeface="Arial Narrow" panose="020B0606020202030204" pitchFamily="34" charset="0"/>
              </a:rPr>
              <a:t> </a:t>
            </a:r>
            <a:r>
              <a:rPr lang="tr-TR" sz="1600" dirty="0" err="1" smtClean="0">
                <a:latin typeface="Arial Narrow" panose="020B0606020202030204" pitchFamily="34" charset="0"/>
              </a:rPr>
              <a:t>intermediary</a:t>
            </a:r>
            <a:r>
              <a:rPr lang="tr-TR" sz="1600" dirty="0" smtClean="0">
                <a:latin typeface="Arial Narrow" panose="020B0606020202030204" pitchFamily="34" charset="0"/>
              </a:rPr>
              <a:t> </a:t>
            </a:r>
            <a:r>
              <a:rPr lang="tr-TR" sz="1600" dirty="0" err="1" smtClean="0">
                <a:latin typeface="Arial Narrow" panose="020B0606020202030204" pitchFamily="34" charset="0"/>
              </a:rPr>
              <a:t>must</a:t>
            </a:r>
            <a:r>
              <a:rPr lang="tr-TR" sz="1600" dirty="0" smtClean="0">
                <a:latin typeface="Arial Narrow" panose="020B0606020202030204" pitchFamily="34" charset="0"/>
              </a:rPr>
              <a:t> </a:t>
            </a:r>
            <a:r>
              <a:rPr lang="tr-TR" sz="1600" dirty="0" err="1" smtClean="0">
                <a:latin typeface="Arial Narrow" panose="020B0606020202030204" pitchFamily="34" charset="0"/>
              </a:rPr>
              <a:t>obtain</a:t>
            </a:r>
            <a:r>
              <a:rPr lang="tr-TR" sz="1600" dirty="0" smtClean="0">
                <a:latin typeface="Arial Narrow" panose="020B0606020202030204" pitchFamily="34" charset="0"/>
              </a:rPr>
              <a:t> a charter </a:t>
            </a:r>
            <a:r>
              <a:rPr lang="tr-TR" sz="1600" dirty="0" err="1" smtClean="0">
                <a:latin typeface="Arial Narrow" panose="020B0606020202030204" pitchFamily="34" charset="0"/>
              </a:rPr>
              <a:t>from</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government.Only</a:t>
            </a:r>
            <a:r>
              <a:rPr lang="tr-TR" sz="1600" dirty="0" smtClean="0">
                <a:latin typeface="Arial Narrow" panose="020B0606020202030204" pitchFamily="34" charset="0"/>
              </a:rPr>
              <a:t> </a:t>
            </a:r>
            <a:r>
              <a:rPr lang="tr-TR" sz="1600" dirty="0" err="1" smtClean="0">
                <a:latin typeface="Arial Narrow" panose="020B0606020202030204" pitchFamily="34" charset="0"/>
              </a:rPr>
              <a:t>those</a:t>
            </a:r>
            <a:r>
              <a:rPr lang="tr-TR" sz="1600" dirty="0" smtClean="0">
                <a:latin typeface="Arial Narrow" panose="020B0606020202030204" pitchFamily="34" charset="0"/>
              </a:rPr>
              <a:t> </a:t>
            </a:r>
            <a:r>
              <a:rPr lang="tr-TR" sz="1600" dirty="0" err="1" smtClean="0">
                <a:latin typeface="Arial Narrow" panose="020B0606020202030204" pitchFamily="34" charset="0"/>
              </a:rPr>
              <a:t>with</a:t>
            </a:r>
            <a:r>
              <a:rPr lang="tr-TR" sz="1600" dirty="0" smtClean="0">
                <a:latin typeface="Arial Narrow" panose="020B0606020202030204" pitchFamily="34" charset="0"/>
              </a:rPr>
              <a:t> </a:t>
            </a:r>
            <a:r>
              <a:rPr lang="tr-TR" sz="1600" dirty="0" err="1" smtClean="0">
                <a:latin typeface="Arial Narrow" panose="020B0606020202030204" pitchFamily="34" charset="0"/>
              </a:rPr>
              <a:t>impeccable</a:t>
            </a:r>
            <a:r>
              <a:rPr lang="tr-TR" sz="1600" dirty="0" smtClean="0">
                <a:latin typeface="Arial Narrow" panose="020B0606020202030204" pitchFamily="34" charset="0"/>
              </a:rPr>
              <a:t> </a:t>
            </a:r>
            <a:r>
              <a:rPr lang="tr-TR" sz="1600" dirty="0" err="1" smtClean="0">
                <a:latin typeface="Arial Narrow" panose="020B0606020202030204" pitchFamily="34" charset="0"/>
              </a:rPr>
              <a:t>credentials</a:t>
            </a:r>
            <a:r>
              <a:rPr lang="tr-TR" sz="1600" dirty="0" smtClean="0">
                <a:latin typeface="Arial Narrow" panose="020B0606020202030204" pitchFamily="34" charset="0"/>
              </a:rPr>
              <a:t> </a:t>
            </a:r>
            <a:r>
              <a:rPr lang="tr-TR" sz="1600" dirty="0" err="1" smtClean="0">
                <a:latin typeface="Arial Narrow" panose="020B0606020202030204" pitchFamily="34" charset="0"/>
              </a:rPr>
              <a:t>and</a:t>
            </a:r>
            <a:r>
              <a:rPr lang="tr-TR" sz="1600" dirty="0" smtClean="0">
                <a:latin typeface="Arial Narrow" panose="020B0606020202030204" pitchFamily="34" charset="0"/>
              </a:rPr>
              <a:t> a </a:t>
            </a:r>
            <a:r>
              <a:rPr lang="tr-TR" sz="1600" dirty="0" err="1" smtClean="0">
                <a:latin typeface="Arial Narrow" panose="020B0606020202030204" pitchFamily="34" charset="0"/>
              </a:rPr>
              <a:t>large</a:t>
            </a:r>
            <a:r>
              <a:rPr lang="tr-TR" sz="1600" dirty="0" smtClean="0">
                <a:latin typeface="Arial Narrow" panose="020B0606020202030204" pitchFamily="34" charset="0"/>
              </a:rPr>
              <a:t> </a:t>
            </a:r>
            <a:r>
              <a:rPr lang="tr-TR" sz="1600" dirty="0" err="1" smtClean="0">
                <a:latin typeface="Arial Narrow" panose="020B0606020202030204" pitchFamily="34" charset="0"/>
              </a:rPr>
              <a:t>amount</a:t>
            </a:r>
            <a:r>
              <a:rPr lang="tr-TR" sz="1600" dirty="0" smtClean="0">
                <a:latin typeface="Arial Narrow" panose="020B0606020202030204" pitchFamily="34" charset="0"/>
              </a:rPr>
              <a:t> of </a:t>
            </a:r>
            <a:r>
              <a:rPr lang="tr-TR" sz="1600" dirty="0" err="1" smtClean="0">
                <a:latin typeface="Arial Narrow" panose="020B0606020202030204" pitchFamily="34" charset="0"/>
              </a:rPr>
              <a:t>initial</a:t>
            </a:r>
            <a:r>
              <a:rPr lang="tr-TR" sz="1600" dirty="0" smtClean="0">
                <a:latin typeface="Arial Narrow" panose="020B0606020202030204" pitchFamily="34" charset="0"/>
              </a:rPr>
              <a:t> </a:t>
            </a:r>
            <a:r>
              <a:rPr lang="tr-TR" sz="1600" dirty="0" err="1" smtClean="0">
                <a:latin typeface="Arial Narrow" panose="020B0606020202030204" pitchFamily="34" charset="0"/>
              </a:rPr>
              <a:t>funds</a:t>
            </a:r>
            <a:r>
              <a:rPr lang="tr-TR" sz="1600" dirty="0" smtClean="0">
                <a:latin typeface="Arial Narrow" panose="020B0606020202030204" pitchFamily="34" charset="0"/>
              </a:rPr>
              <a:t> </a:t>
            </a:r>
            <a:r>
              <a:rPr lang="tr-TR" sz="1600" dirty="0" err="1" smtClean="0">
                <a:latin typeface="Arial Narrow" panose="020B0606020202030204" pitchFamily="34" charset="0"/>
              </a:rPr>
              <a:t>will</a:t>
            </a:r>
            <a:r>
              <a:rPr lang="tr-TR" sz="1600" dirty="0" smtClean="0">
                <a:latin typeface="Arial Narrow" panose="020B0606020202030204" pitchFamily="34" charset="0"/>
              </a:rPr>
              <a:t> be </a:t>
            </a:r>
            <a:r>
              <a:rPr lang="tr-TR" sz="1600" dirty="0" err="1" smtClean="0">
                <a:latin typeface="Arial Narrow" panose="020B0606020202030204" pitchFamily="34" charset="0"/>
              </a:rPr>
              <a:t>given</a:t>
            </a:r>
            <a:r>
              <a:rPr lang="tr-TR" sz="1600" dirty="0" smtClean="0">
                <a:latin typeface="Arial Narrow" panose="020B0606020202030204" pitchFamily="34" charset="0"/>
              </a:rPr>
              <a:t> a charter.</a:t>
            </a:r>
          </a:p>
          <a:p>
            <a:pPr>
              <a:spcBef>
                <a:spcPts val="0"/>
              </a:spcBef>
            </a:pPr>
            <a:endParaRPr lang="tr-TR" sz="800" dirty="0" smtClean="0">
              <a:latin typeface="Arial Narrow" panose="020B0606020202030204" pitchFamily="34" charset="0"/>
            </a:endParaRPr>
          </a:p>
          <a:p>
            <a:pPr>
              <a:spcBef>
                <a:spcPts val="0"/>
              </a:spcBef>
            </a:pPr>
            <a:r>
              <a:rPr lang="tr-TR" sz="1600" dirty="0" err="1" smtClean="0">
                <a:solidFill>
                  <a:srgbClr val="C00000"/>
                </a:solidFill>
                <a:latin typeface="Arial Narrow" panose="020B0606020202030204" pitchFamily="34" charset="0"/>
              </a:rPr>
              <a:t>Disclosure</a:t>
            </a:r>
            <a:r>
              <a:rPr lang="tr-TR" sz="1600" dirty="0">
                <a:solidFill>
                  <a:srgbClr val="C00000"/>
                </a:solidFill>
                <a:latin typeface="Arial Narrow" panose="020B0606020202030204" pitchFamily="34" charset="0"/>
              </a:rPr>
              <a:t> </a:t>
            </a:r>
            <a:r>
              <a:rPr lang="tr-TR" sz="1600" dirty="0" smtClean="0">
                <a:latin typeface="Arial Narrow" panose="020B0606020202030204" pitchFamily="34" charset="0"/>
              </a:rPr>
              <a:t>-</a:t>
            </a:r>
            <a:r>
              <a:rPr lang="tr-TR" sz="1600" dirty="0" smtClean="0">
                <a:solidFill>
                  <a:srgbClr val="C00000"/>
                </a:solidFill>
                <a:latin typeface="Arial Narrow" panose="020B0606020202030204" pitchFamily="34" charset="0"/>
              </a:rPr>
              <a:t> </a:t>
            </a:r>
            <a:r>
              <a:rPr lang="tr-TR" sz="1600" dirty="0" err="1" smtClean="0">
                <a:latin typeface="Arial Narrow" panose="020B0606020202030204" pitchFamily="34" charset="0"/>
              </a:rPr>
              <a:t>Bookkeeping</a:t>
            </a:r>
            <a:r>
              <a:rPr lang="tr-TR" sz="1600" dirty="0" smtClean="0">
                <a:latin typeface="Arial Narrow" panose="020B0606020202030204" pitchFamily="34" charset="0"/>
              </a:rPr>
              <a:t> of </a:t>
            </a:r>
            <a:r>
              <a:rPr lang="tr-TR" sz="1600" dirty="0" err="1" smtClean="0">
                <a:latin typeface="Arial Narrow" panose="020B0606020202030204" pitchFamily="34" charset="0"/>
              </a:rPr>
              <a:t>financial</a:t>
            </a:r>
            <a:r>
              <a:rPr lang="tr-TR" sz="1600" dirty="0" smtClean="0">
                <a:latin typeface="Arial Narrow" panose="020B0606020202030204" pitchFamily="34" charset="0"/>
              </a:rPr>
              <a:t> </a:t>
            </a:r>
            <a:r>
              <a:rPr lang="tr-TR" sz="1600" dirty="0" err="1" smtClean="0">
                <a:latin typeface="Arial Narrow" panose="020B0606020202030204" pitchFamily="34" charset="0"/>
              </a:rPr>
              <a:t>intermediaries</a:t>
            </a:r>
            <a:r>
              <a:rPr lang="tr-TR" sz="1600" dirty="0" smtClean="0">
                <a:latin typeface="Arial Narrow" panose="020B0606020202030204" pitchFamily="34" charset="0"/>
              </a:rPr>
              <a:t> </a:t>
            </a:r>
            <a:r>
              <a:rPr lang="tr-TR" sz="1600" dirty="0" err="1" smtClean="0">
                <a:latin typeface="Arial Narrow" panose="020B0606020202030204" pitchFamily="34" charset="0"/>
              </a:rPr>
              <a:t>must</a:t>
            </a:r>
            <a:r>
              <a:rPr lang="tr-TR" sz="1600" dirty="0" smtClean="0">
                <a:latin typeface="Arial Narrow" panose="020B0606020202030204" pitchFamily="34" charset="0"/>
              </a:rPr>
              <a:t> </a:t>
            </a:r>
            <a:r>
              <a:rPr lang="tr-TR" sz="1600" dirty="0" err="1" smtClean="0">
                <a:latin typeface="Arial Narrow" panose="020B0606020202030204" pitchFamily="34" charset="0"/>
              </a:rPr>
              <a:t>follow</a:t>
            </a:r>
            <a:r>
              <a:rPr lang="tr-TR" sz="1600" dirty="0" smtClean="0">
                <a:latin typeface="Arial Narrow" panose="020B0606020202030204" pitchFamily="34" charset="0"/>
              </a:rPr>
              <a:t> </a:t>
            </a:r>
            <a:r>
              <a:rPr lang="tr-TR" sz="1600" dirty="0" err="1" smtClean="0">
                <a:latin typeface="Arial Narrow" panose="020B0606020202030204" pitchFamily="34" charset="0"/>
              </a:rPr>
              <a:t>certain</a:t>
            </a:r>
            <a:r>
              <a:rPr lang="tr-TR" sz="1600" dirty="0" smtClean="0">
                <a:latin typeface="Arial Narrow" panose="020B0606020202030204" pitchFamily="34" charset="0"/>
              </a:rPr>
              <a:t> </a:t>
            </a:r>
            <a:r>
              <a:rPr lang="tr-TR" sz="1600" dirty="0" err="1" smtClean="0">
                <a:latin typeface="Arial Narrow" panose="020B0606020202030204" pitchFamily="34" charset="0"/>
              </a:rPr>
              <a:t>strict</a:t>
            </a:r>
            <a:r>
              <a:rPr lang="tr-TR" sz="1600" dirty="0" smtClean="0">
                <a:latin typeface="Arial Narrow" panose="020B0606020202030204" pitchFamily="34" charset="0"/>
              </a:rPr>
              <a:t> </a:t>
            </a:r>
            <a:r>
              <a:rPr lang="tr-TR" sz="1600" dirty="0" err="1" smtClean="0">
                <a:latin typeface="Arial Narrow" panose="020B0606020202030204" pitchFamily="34" charset="0"/>
              </a:rPr>
              <a:t>principles</a:t>
            </a:r>
            <a:r>
              <a:rPr lang="tr-TR" sz="1600" dirty="0" smtClean="0">
                <a:latin typeface="Arial Narrow" panose="020B0606020202030204" pitchFamily="34" charset="0"/>
              </a:rPr>
              <a:t>, </a:t>
            </a:r>
            <a:r>
              <a:rPr lang="tr-TR" sz="1600" dirty="0" err="1" smtClean="0">
                <a:latin typeface="Arial Narrow" panose="020B0606020202030204" pitchFamily="34" charset="0"/>
              </a:rPr>
              <a:t>their</a:t>
            </a:r>
            <a:r>
              <a:rPr lang="tr-TR" sz="1600" dirty="0" smtClean="0">
                <a:latin typeface="Arial Narrow" panose="020B0606020202030204" pitchFamily="34" charset="0"/>
              </a:rPr>
              <a:t> </a:t>
            </a:r>
            <a:r>
              <a:rPr lang="tr-TR" sz="1600" dirty="0" err="1" smtClean="0">
                <a:latin typeface="Arial Narrow" panose="020B0606020202030204" pitchFamily="34" charset="0"/>
              </a:rPr>
              <a:t>books</a:t>
            </a:r>
            <a:r>
              <a:rPr lang="tr-TR" sz="1600" dirty="0" smtClean="0">
                <a:latin typeface="Arial Narrow" panose="020B0606020202030204" pitchFamily="34" charset="0"/>
              </a:rPr>
              <a:t> </a:t>
            </a:r>
            <a:r>
              <a:rPr lang="tr-TR" sz="1600" dirty="0" err="1" smtClean="0">
                <a:latin typeface="Arial Narrow" panose="020B0606020202030204" pitchFamily="34" charset="0"/>
              </a:rPr>
              <a:t>are</a:t>
            </a:r>
            <a:r>
              <a:rPr lang="tr-TR" sz="1600" dirty="0" smtClean="0">
                <a:latin typeface="Arial Narrow" panose="020B0606020202030204" pitchFamily="34" charset="0"/>
              </a:rPr>
              <a:t> </a:t>
            </a:r>
            <a:r>
              <a:rPr lang="tr-TR" sz="1600" dirty="0" err="1" smtClean="0">
                <a:latin typeface="Arial Narrow" panose="020B0606020202030204" pitchFamily="34" charset="0"/>
              </a:rPr>
              <a:t>subject</a:t>
            </a:r>
            <a:r>
              <a:rPr lang="tr-TR" sz="1600" dirty="0" smtClean="0">
                <a:latin typeface="Arial Narrow" panose="020B0606020202030204" pitchFamily="34" charset="0"/>
              </a:rPr>
              <a:t> </a:t>
            </a:r>
            <a:r>
              <a:rPr lang="tr-TR" sz="1600" dirty="0" err="1" smtClean="0">
                <a:latin typeface="Arial Narrow" panose="020B0606020202030204" pitchFamily="34" charset="0"/>
              </a:rPr>
              <a:t>to</a:t>
            </a:r>
            <a:r>
              <a:rPr lang="tr-TR" sz="1600" dirty="0" smtClean="0">
                <a:latin typeface="Arial Narrow" panose="020B0606020202030204" pitchFamily="34" charset="0"/>
              </a:rPr>
              <a:t> </a:t>
            </a:r>
            <a:r>
              <a:rPr lang="tr-TR" sz="1600" dirty="0" err="1" smtClean="0">
                <a:latin typeface="Arial Narrow" panose="020B0606020202030204" pitchFamily="34" charset="0"/>
              </a:rPr>
              <a:t>periodic</a:t>
            </a:r>
            <a:r>
              <a:rPr lang="tr-TR" sz="1600" dirty="0" smtClean="0">
                <a:latin typeface="Arial Narrow" panose="020B0606020202030204" pitchFamily="34" charset="0"/>
              </a:rPr>
              <a:t> </a:t>
            </a:r>
            <a:r>
              <a:rPr lang="tr-TR" sz="1600" dirty="0" err="1" smtClean="0">
                <a:latin typeface="Arial Narrow" panose="020B0606020202030204" pitchFamily="34" charset="0"/>
              </a:rPr>
              <a:t>inspection</a:t>
            </a:r>
            <a:r>
              <a:rPr lang="tr-TR" sz="1600" dirty="0" smtClean="0">
                <a:latin typeface="Arial Narrow" panose="020B0606020202030204" pitchFamily="34" charset="0"/>
              </a:rPr>
              <a:t>, </a:t>
            </a:r>
            <a:r>
              <a:rPr lang="tr-TR" sz="1600" dirty="0" err="1" smtClean="0">
                <a:latin typeface="Arial Narrow" panose="020B0606020202030204" pitchFamily="34" charset="0"/>
              </a:rPr>
              <a:t>and</a:t>
            </a:r>
            <a:r>
              <a:rPr lang="tr-TR" sz="1600" dirty="0" smtClean="0">
                <a:latin typeface="Arial Narrow" panose="020B0606020202030204" pitchFamily="34" charset="0"/>
              </a:rPr>
              <a:t> </a:t>
            </a:r>
            <a:r>
              <a:rPr lang="tr-TR" sz="1600" dirty="0" err="1" smtClean="0">
                <a:latin typeface="Arial Narrow" panose="020B0606020202030204" pitchFamily="34" charset="0"/>
              </a:rPr>
              <a:t>they</a:t>
            </a:r>
            <a:r>
              <a:rPr lang="tr-TR" sz="1600" dirty="0" smtClean="0">
                <a:latin typeface="Arial Narrow" panose="020B0606020202030204" pitchFamily="34" charset="0"/>
              </a:rPr>
              <a:t> </a:t>
            </a:r>
            <a:r>
              <a:rPr lang="tr-TR" sz="1600" dirty="0" err="1" smtClean="0">
                <a:latin typeface="Arial Narrow" panose="020B0606020202030204" pitchFamily="34" charset="0"/>
              </a:rPr>
              <a:t>must</a:t>
            </a:r>
            <a:r>
              <a:rPr lang="tr-TR" sz="1600" dirty="0" smtClean="0">
                <a:latin typeface="Arial Narrow" panose="020B0606020202030204" pitchFamily="34" charset="0"/>
              </a:rPr>
              <a:t> </a:t>
            </a:r>
            <a:r>
              <a:rPr lang="tr-TR" sz="1600" dirty="0" err="1" smtClean="0">
                <a:latin typeface="Arial Narrow" panose="020B0606020202030204" pitchFamily="34" charset="0"/>
              </a:rPr>
              <a:t>make</a:t>
            </a:r>
            <a:r>
              <a:rPr lang="tr-TR" sz="1600" dirty="0" smtClean="0">
                <a:latin typeface="Arial Narrow" panose="020B0606020202030204" pitchFamily="34" charset="0"/>
              </a:rPr>
              <a:t> </a:t>
            </a:r>
            <a:r>
              <a:rPr lang="tr-TR" sz="1600" dirty="0" err="1" smtClean="0">
                <a:latin typeface="Arial Narrow" panose="020B0606020202030204" pitchFamily="34" charset="0"/>
              </a:rPr>
              <a:t>certain</a:t>
            </a:r>
            <a:r>
              <a:rPr lang="tr-TR" sz="1600" dirty="0" smtClean="0">
                <a:latin typeface="Arial Narrow" panose="020B0606020202030204" pitchFamily="34" charset="0"/>
              </a:rPr>
              <a:t> </a:t>
            </a:r>
            <a:r>
              <a:rPr lang="tr-TR" sz="1600" dirty="0" err="1" smtClean="0">
                <a:latin typeface="Arial Narrow" panose="020B0606020202030204" pitchFamily="34" charset="0"/>
              </a:rPr>
              <a:t>information</a:t>
            </a:r>
            <a:r>
              <a:rPr lang="tr-TR" sz="1600" dirty="0" smtClean="0">
                <a:latin typeface="Arial Narrow" panose="020B0606020202030204" pitchFamily="34" charset="0"/>
              </a:rPr>
              <a:t> </a:t>
            </a:r>
            <a:r>
              <a:rPr lang="tr-TR" sz="1600" dirty="0" err="1" smtClean="0">
                <a:latin typeface="Arial Narrow" panose="020B0606020202030204" pitchFamily="34" charset="0"/>
              </a:rPr>
              <a:t>available</a:t>
            </a:r>
            <a:r>
              <a:rPr lang="tr-TR" sz="1600" dirty="0" smtClean="0">
                <a:latin typeface="Arial Narrow" panose="020B0606020202030204" pitchFamily="34" charset="0"/>
              </a:rPr>
              <a:t> </a:t>
            </a:r>
            <a:r>
              <a:rPr lang="tr-TR" sz="1600" dirty="0" err="1" smtClean="0">
                <a:latin typeface="Arial Narrow" panose="020B0606020202030204" pitchFamily="34" charset="0"/>
              </a:rPr>
              <a:t>to</a:t>
            </a:r>
            <a:r>
              <a:rPr lang="tr-TR" sz="1600" dirty="0" smtClean="0">
                <a:latin typeface="Arial Narrow" panose="020B0606020202030204" pitchFamily="34" charset="0"/>
              </a:rPr>
              <a:t> </a:t>
            </a:r>
            <a:r>
              <a:rPr lang="tr-TR" sz="1600" dirty="0" err="1" smtClean="0">
                <a:latin typeface="Arial Narrow" panose="020B0606020202030204" pitchFamily="34" charset="0"/>
              </a:rPr>
              <a:t>public</a:t>
            </a:r>
            <a:r>
              <a:rPr lang="tr-TR" sz="1600" dirty="0" smtClean="0">
                <a:latin typeface="Arial Narrow" panose="020B0606020202030204" pitchFamily="34" charset="0"/>
              </a:rPr>
              <a:t>.</a:t>
            </a:r>
          </a:p>
          <a:p>
            <a:pPr>
              <a:spcBef>
                <a:spcPts val="0"/>
              </a:spcBef>
            </a:pPr>
            <a:endParaRPr lang="tr-TR" sz="800" dirty="0" smtClean="0">
              <a:latin typeface="Arial Narrow" panose="020B0606020202030204" pitchFamily="34" charset="0"/>
            </a:endParaRPr>
          </a:p>
          <a:p>
            <a:pPr>
              <a:spcBef>
                <a:spcPts val="0"/>
              </a:spcBef>
            </a:pPr>
            <a:r>
              <a:rPr lang="tr-TR" sz="1600" dirty="0" err="1" smtClean="0">
                <a:solidFill>
                  <a:srgbClr val="C00000"/>
                </a:solidFill>
                <a:latin typeface="Arial Narrow" panose="020B0606020202030204" pitchFamily="34" charset="0"/>
              </a:rPr>
              <a:t>Restrictions</a:t>
            </a:r>
            <a:r>
              <a:rPr lang="tr-TR" sz="1600" dirty="0" smtClean="0">
                <a:solidFill>
                  <a:srgbClr val="C00000"/>
                </a:solidFill>
                <a:latin typeface="Arial Narrow" panose="020B0606020202030204" pitchFamily="34" charset="0"/>
              </a:rPr>
              <a:t> on </a:t>
            </a:r>
            <a:r>
              <a:rPr lang="tr-TR" sz="1600" dirty="0" err="1" smtClean="0">
                <a:solidFill>
                  <a:srgbClr val="C00000"/>
                </a:solidFill>
                <a:latin typeface="Arial Narrow" panose="020B0606020202030204" pitchFamily="34" charset="0"/>
              </a:rPr>
              <a:t>Assets</a:t>
            </a:r>
            <a:r>
              <a:rPr lang="tr-TR" sz="1600" dirty="0" smtClean="0">
                <a:solidFill>
                  <a:srgbClr val="C00000"/>
                </a:solidFill>
                <a:latin typeface="Arial Narrow" panose="020B0606020202030204" pitchFamily="34" charset="0"/>
              </a:rPr>
              <a:t> </a:t>
            </a:r>
            <a:r>
              <a:rPr lang="tr-TR" sz="1600" dirty="0" err="1" smtClean="0">
                <a:solidFill>
                  <a:srgbClr val="C00000"/>
                </a:solidFill>
                <a:latin typeface="Arial Narrow" panose="020B0606020202030204" pitchFamily="34" charset="0"/>
              </a:rPr>
              <a:t>and</a:t>
            </a:r>
            <a:r>
              <a:rPr lang="tr-TR" sz="1600" dirty="0" smtClean="0">
                <a:solidFill>
                  <a:srgbClr val="C00000"/>
                </a:solidFill>
                <a:latin typeface="Arial Narrow" panose="020B0606020202030204" pitchFamily="34" charset="0"/>
              </a:rPr>
              <a:t> </a:t>
            </a:r>
            <a:r>
              <a:rPr lang="tr-TR" sz="1600" dirty="0" err="1" smtClean="0">
                <a:solidFill>
                  <a:srgbClr val="C00000"/>
                </a:solidFill>
                <a:latin typeface="Arial Narrow" panose="020B0606020202030204" pitchFamily="34" charset="0"/>
              </a:rPr>
              <a:t>Activities</a:t>
            </a:r>
            <a:r>
              <a:rPr lang="tr-TR" sz="1600" dirty="0" smtClean="0">
                <a:solidFill>
                  <a:srgbClr val="C00000"/>
                </a:solidFill>
                <a:latin typeface="Arial Narrow" panose="020B0606020202030204" pitchFamily="34" charset="0"/>
              </a:rPr>
              <a:t> </a:t>
            </a:r>
            <a:r>
              <a:rPr lang="tr-TR" sz="1600" dirty="0" smtClean="0">
                <a:latin typeface="Arial Narrow" panose="020B0606020202030204" pitchFamily="34" charset="0"/>
              </a:rPr>
              <a:t>– Financial </a:t>
            </a:r>
            <a:r>
              <a:rPr lang="tr-TR" sz="1600" dirty="0" err="1" smtClean="0">
                <a:latin typeface="Arial Narrow" panose="020B0606020202030204" pitchFamily="34" charset="0"/>
              </a:rPr>
              <a:t>Intermediaries</a:t>
            </a:r>
            <a:r>
              <a:rPr lang="tr-TR" sz="1600" dirty="0" smtClean="0">
                <a:latin typeface="Arial Narrow" panose="020B0606020202030204" pitchFamily="34" charset="0"/>
              </a:rPr>
              <a:t> </a:t>
            </a:r>
            <a:r>
              <a:rPr lang="tr-TR" sz="1600" dirty="0" err="1" smtClean="0">
                <a:latin typeface="Arial Narrow" panose="020B0606020202030204" pitchFamily="34" charset="0"/>
              </a:rPr>
              <a:t>are</a:t>
            </a:r>
            <a:r>
              <a:rPr lang="tr-TR" sz="1600" dirty="0" smtClean="0">
                <a:latin typeface="Arial Narrow" panose="020B0606020202030204" pitchFamily="34" charset="0"/>
              </a:rPr>
              <a:t> </a:t>
            </a:r>
            <a:r>
              <a:rPr lang="tr-TR" sz="1600" dirty="0" err="1" smtClean="0">
                <a:latin typeface="Arial Narrow" panose="020B0606020202030204" pitchFamily="34" charset="0"/>
              </a:rPr>
              <a:t>restricted</a:t>
            </a:r>
            <a:r>
              <a:rPr lang="tr-TR" sz="1600" dirty="0" smtClean="0">
                <a:latin typeface="Arial Narrow" panose="020B0606020202030204" pitchFamily="34" charset="0"/>
              </a:rPr>
              <a:t> </a:t>
            </a:r>
            <a:r>
              <a:rPr lang="tr-TR" sz="1600" dirty="0" err="1" smtClean="0">
                <a:latin typeface="Arial Narrow" panose="020B0606020202030204" pitchFamily="34" charset="0"/>
              </a:rPr>
              <a:t>from</a:t>
            </a:r>
            <a:r>
              <a:rPr lang="tr-TR" sz="1600" dirty="0" smtClean="0">
                <a:latin typeface="Arial Narrow" panose="020B0606020202030204" pitchFamily="34" charset="0"/>
              </a:rPr>
              <a:t> holding </a:t>
            </a:r>
            <a:r>
              <a:rPr lang="tr-TR" sz="1600" dirty="0" err="1" smtClean="0">
                <a:latin typeface="Arial Narrow" panose="020B0606020202030204" pitchFamily="34" charset="0"/>
              </a:rPr>
              <a:t>certain</a:t>
            </a:r>
            <a:r>
              <a:rPr lang="tr-TR" sz="1600" dirty="0" smtClean="0">
                <a:latin typeface="Arial Narrow" panose="020B0606020202030204" pitchFamily="34" charset="0"/>
              </a:rPr>
              <a:t> </a:t>
            </a:r>
            <a:r>
              <a:rPr lang="tr-TR" sz="1600" dirty="0" err="1" smtClean="0">
                <a:latin typeface="Arial Narrow" panose="020B0606020202030204" pitchFamily="34" charset="0"/>
              </a:rPr>
              <a:t>risky</a:t>
            </a:r>
            <a:r>
              <a:rPr lang="tr-TR" sz="1600" dirty="0" smtClean="0">
                <a:latin typeface="Arial Narrow" panose="020B0606020202030204" pitchFamily="34" charset="0"/>
              </a:rPr>
              <a:t> </a:t>
            </a:r>
            <a:r>
              <a:rPr lang="tr-TR" sz="1600" dirty="0" err="1" smtClean="0">
                <a:latin typeface="Arial Narrow" panose="020B0606020202030204" pitchFamily="34" charset="0"/>
              </a:rPr>
              <a:t>assets</a:t>
            </a:r>
            <a:r>
              <a:rPr lang="tr-TR" sz="1600" dirty="0" smtClean="0">
                <a:latin typeface="Arial Narrow" panose="020B0606020202030204" pitchFamily="34" charset="0"/>
              </a:rPr>
              <a:t> </a:t>
            </a:r>
            <a:r>
              <a:rPr lang="tr-TR" sz="1600" dirty="0" err="1" smtClean="0">
                <a:latin typeface="Arial Narrow" panose="020B0606020202030204" pitchFamily="34" charset="0"/>
              </a:rPr>
              <a:t>and</a:t>
            </a:r>
            <a:r>
              <a:rPr lang="tr-TR" sz="1600" dirty="0" smtClean="0">
                <a:latin typeface="Arial Narrow" panose="020B0606020202030204" pitchFamily="34" charset="0"/>
              </a:rPr>
              <a:t>/</a:t>
            </a:r>
            <a:r>
              <a:rPr lang="tr-TR" sz="1600" dirty="0" err="1" smtClean="0">
                <a:latin typeface="Arial Narrow" panose="020B0606020202030204" pitchFamily="34" charset="0"/>
              </a:rPr>
              <a:t>or</a:t>
            </a:r>
            <a:r>
              <a:rPr lang="tr-TR" sz="1600" dirty="0" smtClean="0">
                <a:latin typeface="Arial Narrow" panose="020B0606020202030204" pitchFamily="34" charset="0"/>
              </a:rPr>
              <a:t> holding </a:t>
            </a:r>
            <a:r>
              <a:rPr lang="tr-TR" sz="1600" dirty="0" err="1" smtClean="0">
                <a:latin typeface="Arial Narrow" panose="020B0606020202030204" pitchFamily="34" charset="0"/>
              </a:rPr>
              <a:t>them</a:t>
            </a:r>
            <a:r>
              <a:rPr lang="tr-TR" sz="1600" dirty="0" smtClean="0">
                <a:latin typeface="Arial Narrow" panose="020B0606020202030204" pitchFamily="34" charset="0"/>
              </a:rPr>
              <a:t> in </a:t>
            </a:r>
            <a:r>
              <a:rPr lang="tr-TR" sz="1600" dirty="0" err="1" smtClean="0">
                <a:latin typeface="Arial Narrow" panose="020B0606020202030204" pitchFamily="34" charset="0"/>
              </a:rPr>
              <a:t>unreasonably</a:t>
            </a:r>
            <a:r>
              <a:rPr lang="tr-TR" sz="1600" dirty="0" smtClean="0">
                <a:latin typeface="Arial Narrow" panose="020B0606020202030204" pitchFamily="34" charset="0"/>
              </a:rPr>
              <a:t> </a:t>
            </a:r>
            <a:r>
              <a:rPr lang="tr-TR" sz="1600" dirty="0" err="1" smtClean="0">
                <a:latin typeface="Arial Narrow" panose="020B0606020202030204" pitchFamily="34" charset="0"/>
              </a:rPr>
              <a:t>high</a:t>
            </a:r>
            <a:r>
              <a:rPr lang="tr-TR" sz="1600" dirty="0" smtClean="0">
                <a:latin typeface="Arial Narrow" panose="020B0606020202030204" pitchFamily="34" charset="0"/>
              </a:rPr>
              <a:t> </a:t>
            </a:r>
            <a:r>
              <a:rPr lang="tr-TR" sz="1600" dirty="0" err="1" smtClean="0">
                <a:latin typeface="Arial Narrow" panose="020B0606020202030204" pitchFamily="34" charset="0"/>
              </a:rPr>
              <a:t>quantities</a:t>
            </a:r>
            <a:r>
              <a:rPr lang="tr-TR" sz="1600" dirty="0" smtClean="0">
                <a:latin typeface="Arial Narrow" panose="020B0606020202030204" pitchFamily="34" charset="0"/>
              </a:rPr>
              <a:t>.</a:t>
            </a:r>
          </a:p>
          <a:p>
            <a:pPr>
              <a:spcBef>
                <a:spcPts val="0"/>
              </a:spcBef>
            </a:pPr>
            <a:endParaRPr lang="tr-TR" sz="800" dirty="0" smtClean="0">
              <a:latin typeface="Arial Narrow" panose="020B0606020202030204" pitchFamily="34" charset="0"/>
            </a:endParaRPr>
          </a:p>
          <a:p>
            <a:pPr>
              <a:spcBef>
                <a:spcPts val="0"/>
              </a:spcBef>
            </a:pPr>
            <a:r>
              <a:rPr lang="tr-TR" sz="1600" dirty="0" err="1" smtClean="0">
                <a:solidFill>
                  <a:srgbClr val="C00000"/>
                </a:solidFill>
                <a:latin typeface="Arial Narrow" panose="020B0606020202030204" pitchFamily="34" charset="0"/>
              </a:rPr>
              <a:t>Deposit</a:t>
            </a:r>
            <a:r>
              <a:rPr lang="tr-TR" sz="1600" dirty="0" smtClean="0">
                <a:solidFill>
                  <a:srgbClr val="C00000"/>
                </a:solidFill>
                <a:latin typeface="Arial Narrow" panose="020B0606020202030204" pitchFamily="34" charset="0"/>
              </a:rPr>
              <a:t> </a:t>
            </a:r>
            <a:r>
              <a:rPr lang="tr-TR" sz="1600" dirty="0" err="1" smtClean="0">
                <a:solidFill>
                  <a:srgbClr val="C00000"/>
                </a:solidFill>
                <a:latin typeface="Arial Narrow" panose="020B0606020202030204" pitchFamily="34" charset="0"/>
              </a:rPr>
              <a:t>Insurance</a:t>
            </a:r>
            <a:r>
              <a:rPr lang="tr-TR" sz="1600" dirty="0" smtClean="0">
                <a:solidFill>
                  <a:srgbClr val="C00000"/>
                </a:solidFill>
                <a:latin typeface="Arial Narrow" panose="020B0606020202030204" pitchFamily="34" charset="0"/>
              </a:rPr>
              <a:t> </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government</a:t>
            </a:r>
            <a:r>
              <a:rPr lang="tr-TR" sz="1600" dirty="0" smtClean="0">
                <a:latin typeface="Arial Narrow" panose="020B0606020202030204" pitchFamily="34" charset="0"/>
              </a:rPr>
              <a:t> </a:t>
            </a:r>
            <a:r>
              <a:rPr lang="tr-TR" sz="1600" dirty="0" err="1" smtClean="0">
                <a:latin typeface="Arial Narrow" panose="020B0606020202030204" pitchFamily="34" charset="0"/>
              </a:rPr>
              <a:t>insures</a:t>
            </a:r>
            <a:r>
              <a:rPr lang="tr-TR" sz="1600" dirty="0" smtClean="0">
                <a:latin typeface="Arial Narrow" panose="020B0606020202030204" pitchFamily="34" charset="0"/>
              </a:rPr>
              <a:t> </a:t>
            </a:r>
            <a:r>
              <a:rPr lang="tr-TR" sz="1600" dirty="0" err="1" smtClean="0">
                <a:latin typeface="Arial Narrow" panose="020B0606020202030204" pitchFamily="34" charset="0"/>
              </a:rPr>
              <a:t>people’s</a:t>
            </a:r>
            <a:r>
              <a:rPr lang="tr-TR" sz="1600" dirty="0" smtClean="0">
                <a:latin typeface="Arial Narrow" panose="020B0606020202030204" pitchFamily="34" charset="0"/>
              </a:rPr>
              <a:t> </a:t>
            </a:r>
            <a:r>
              <a:rPr lang="tr-TR" sz="1600" dirty="0" err="1" smtClean="0">
                <a:latin typeface="Arial Narrow" panose="020B0606020202030204" pitchFamily="34" charset="0"/>
              </a:rPr>
              <a:t>deposits</a:t>
            </a:r>
            <a:r>
              <a:rPr lang="tr-TR" sz="1600" dirty="0" smtClean="0">
                <a:latin typeface="Arial Narrow" panose="020B0606020202030204" pitchFamily="34" charset="0"/>
              </a:rPr>
              <a:t> </a:t>
            </a:r>
            <a:r>
              <a:rPr lang="tr-TR" sz="1600" dirty="0" err="1" smtClean="0">
                <a:latin typeface="Arial Narrow" panose="020B0606020202030204" pitchFamily="34" charset="0"/>
              </a:rPr>
              <a:t>so</a:t>
            </a:r>
            <a:r>
              <a:rPr lang="tr-TR" sz="1600" dirty="0" smtClean="0">
                <a:latin typeface="Arial Narrow" panose="020B0606020202030204" pitchFamily="34" charset="0"/>
              </a:rPr>
              <a:t> </a:t>
            </a:r>
            <a:r>
              <a:rPr lang="tr-TR" sz="1600" dirty="0" err="1" smtClean="0">
                <a:latin typeface="Arial Narrow" panose="020B0606020202030204" pitchFamily="34" charset="0"/>
              </a:rPr>
              <a:t>that</a:t>
            </a:r>
            <a:r>
              <a:rPr lang="tr-TR" sz="1600" dirty="0" smtClean="0">
                <a:latin typeface="Arial Narrow" panose="020B0606020202030204" pitchFamily="34" charset="0"/>
              </a:rPr>
              <a:t> </a:t>
            </a:r>
            <a:r>
              <a:rPr lang="tr-TR" sz="1600" dirty="0" err="1" smtClean="0">
                <a:latin typeface="Arial Narrow" panose="020B0606020202030204" pitchFamily="34" charset="0"/>
              </a:rPr>
              <a:t>they</a:t>
            </a:r>
            <a:r>
              <a:rPr lang="tr-TR" sz="1600" dirty="0" smtClean="0">
                <a:latin typeface="Arial Narrow" panose="020B0606020202030204" pitchFamily="34" charset="0"/>
              </a:rPr>
              <a:t> do not </a:t>
            </a:r>
            <a:r>
              <a:rPr lang="tr-TR" sz="1600" dirty="0" err="1" smtClean="0">
                <a:latin typeface="Arial Narrow" panose="020B0606020202030204" pitchFamily="34" charset="0"/>
              </a:rPr>
              <a:t>suffer</a:t>
            </a:r>
            <a:r>
              <a:rPr lang="tr-TR" sz="1600" dirty="0" smtClean="0">
                <a:latin typeface="Arial Narrow" panose="020B0606020202030204" pitchFamily="34" charset="0"/>
              </a:rPr>
              <a:t> </a:t>
            </a:r>
            <a:r>
              <a:rPr lang="tr-TR" sz="1600" dirty="0" err="1" smtClean="0">
                <a:latin typeface="Arial Narrow" panose="020B0606020202030204" pitchFamily="34" charset="0"/>
              </a:rPr>
              <a:t>great</a:t>
            </a:r>
            <a:r>
              <a:rPr lang="tr-TR" sz="1600" dirty="0" smtClean="0">
                <a:latin typeface="Arial Narrow" panose="020B0606020202030204" pitchFamily="34" charset="0"/>
              </a:rPr>
              <a:t> </a:t>
            </a:r>
            <a:r>
              <a:rPr lang="tr-TR" sz="1600" dirty="0" err="1" smtClean="0">
                <a:latin typeface="Arial Narrow" panose="020B0606020202030204" pitchFamily="34" charset="0"/>
              </a:rPr>
              <a:t>financial</a:t>
            </a:r>
            <a:r>
              <a:rPr lang="tr-TR" sz="1600" dirty="0" smtClean="0">
                <a:latin typeface="Arial Narrow" panose="020B0606020202030204" pitchFamily="34" charset="0"/>
              </a:rPr>
              <a:t> </a:t>
            </a:r>
            <a:r>
              <a:rPr lang="tr-TR" sz="1600" dirty="0" err="1" smtClean="0">
                <a:latin typeface="Arial Narrow" panose="020B0606020202030204" pitchFamily="34" charset="0"/>
              </a:rPr>
              <a:t>loss</a:t>
            </a:r>
            <a:r>
              <a:rPr lang="tr-TR" sz="1600" dirty="0" smtClean="0">
                <a:latin typeface="Arial Narrow" panose="020B0606020202030204" pitchFamily="34" charset="0"/>
              </a:rPr>
              <a:t> </a:t>
            </a:r>
            <a:r>
              <a:rPr lang="tr-TR" sz="1600" dirty="0" err="1" smtClean="0">
                <a:latin typeface="Arial Narrow" panose="020B0606020202030204" pitchFamily="34" charset="0"/>
              </a:rPr>
              <a:t>if</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financial</a:t>
            </a:r>
            <a:r>
              <a:rPr lang="tr-TR" sz="1600" dirty="0" smtClean="0">
                <a:latin typeface="Arial Narrow" panose="020B0606020202030204" pitchFamily="34" charset="0"/>
              </a:rPr>
              <a:t> </a:t>
            </a:r>
            <a:r>
              <a:rPr lang="tr-TR" sz="1600" dirty="0" err="1" smtClean="0">
                <a:latin typeface="Arial Narrow" panose="020B0606020202030204" pitchFamily="34" charset="0"/>
              </a:rPr>
              <a:t>intermediary</a:t>
            </a:r>
            <a:r>
              <a:rPr lang="tr-TR" sz="1600" dirty="0" smtClean="0">
                <a:latin typeface="Arial Narrow" panose="020B0606020202030204" pitchFamily="34" charset="0"/>
              </a:rPr>
              <a:t> </a:t>
            </a:r>
            <a:r>
              <a:rPr lang="tr-TR" sz="1600" dirty="0" err="1" smtClean="0">
                <a:latin typeface="Arial Narrow" panose="020B0606020202030204" pitchFamily="34" charset="0"/>
              </a:rPr>
              <a:t>that</a:t>
            </a:r>
            <a:r>
              <a:rPr lang="tr-TR" sz="1600" dirty="0" smtClean="0">
                <a:latin typeface="Arial Narrow" panose="020B0606020202030204" pitchFamily="34" charset="0"/>
              </a:rPr>
              <a:t> </a:t>
            </a:r>
            <a:r>
              <a:rPr lang="tr-TR" sz="1600" dirty="0" err="1" smtClean="0">
                <a:latin typeface="Arial Narrow" panose="020B0606020202030204" pitchFamily="34" charset="0"/>
              </a:rPr>
              <a:t>holds</a:t>
            </a:r>
            <a:r>
              <a:rPr lang="tr-TR" sz="1600" dirty="0" smtClean="0">
                <a:latin typeface="Arial Narrow" panose="020B0606020202030204" pitchFamily="34" charset="0"/>
              </a:rPr>
              <a:t> </a:t>
            </a:r>
            <a:r>
              <a:rPr lang="tr-TR" sz="1600" dirty="0" err="1" smtClean="0">
                <a:latin typeface="Arial Narrow" panose="020B0606020202030204" pitchFamily="34" charset="0"/>
              </a:rPr>
              <a:t>these</a:t>
            </a:r>
            <a:r>
              <a:rPr lang="tr-TR" sz="1600" dirty="0" smtClean="0">
                <a:latin typeface="Arial Narrow" panose="020B0606020202030204" pitchFamily="34" charset="0"/>
              </a:rPr>
              <a:t> </a:t>
            </a:r>
            <a:r>
              <a:rPr lang="tr-TR" sz="1600" dirty="0" err="1" smtClean="0">
                <a:latin typeface="Arial Narrow" panose="020B0606020202030204" pitchFamily="34" charset="0"/>
              </a:rPr>
              <a:t>deposits</a:t>
            </a:r>
            <a:r>
              <a:rPr lang="tr-TR" sz="1600" dirty="0" smtClean="0">
                <a:latin typeface="Arial Narrow" panose="020B0606020202030204" pitchFamily="34" charset="0"/>
              </a:rPr>
              <a:t> </a:t>
            </a:r>
            <a:r>
              <a:rPr lang="tr-TR" sz="1600" dirty="0" err="1" smtClean="0">
                <a:latin typeface="Arial Narrow" panose="020B0606020202030204" pitchFamily="34" charset="0"/>
              </a:rPr>
              <a:t>should</a:t>
            </a:r>
            <a:r>
              <a:rPr lang="tr-TR" sz="1600" dirty="0" smtClean="0">
                <a:latin typeface="Arial Narrow" panose="020B0606020202030204" pitchFamily="34" charset="0"/>
              </a:rPr>
              <a:t> fail.</a:t>
            </a:r>
          </a:p>
          <a:p>
            <a:pPr marL="0" indent="0">
              <a:spcBef>
                <a:spcPts val="0"/>
              </a:spcBef>
              <a:buNone/>
            </a:pPr>
            <a:r>
              <a:rPr lang="tr-TR" sz="1600" dirty="0" smtClean="0">
                <a:latin typeface="Arial Narrow" panose="020B0606020202030204" pitchFamily="34" charset="0"/>
              </a:rPr>
              <a:t>	</a:t>
            </a:r>
            <a:r>
              <a:rPr lang="tr-TR" sz="1600" dirty="0" err="1" smtClean="0">
                <a:latin typeface="Arial Narrow" panose="020B0606020202030204" pitchFamily="34" charset="0"/>
              </a:rPr>
              <a:t>In</a:t>
            </a:r>
            <a:r>
              <a:rPr lang="tr-TR" sz="1600" dirty="0" smtClean="0">
                <a:latin typeface="Arial Narrow" panose="020B0606020202030204" pitchFamily="34" charset="0"/>
              </a:rPr>
              <a:t> </a:t>
            </a:r>
            <a:r>
              <a:rPr lang="tr-TR" sz="1600" dirty="0" err="1" smtClean="0">
                <a:latin typeface="Arial Narrow" panose="020B0606020202030204" pitchFamily="34" charset="0"/>
              </a:rPr>
              <a:t>Turkey</a:t>
            </a:r>
            <a:r>
              <a:rPr lang="tr-TR" sz="1600" dirty="0" smtClean="0">
                <a:latin typeface="Arial Narrow" panose="020B0606020202030204" pitchFamily="34" charset="0"/>
              </a:rPr>
              <a:t>, </a:t>
            </a:r>
            <a:r>
              <a:rPr lang="tr-TR" sz="1600" dirty="0" err="1" smtClean="0">
                <a:latin typeface="Arial Narrow" panose="020B0606020202030204" pitchFamily="34" charset="0"/>
              </a:rPr>
              <a:t>deposits</a:t>
            </a:r>
            <a:r>
              <a:rPr lang="tr-TR" sz="1600" dirty="0" smtClean="0">
                <a:latin typeface="Arial Narrow" panose="020B0606020202030204" pitchFamily="34" charset="0"/>
              </a:rPr>
              <a:t> of </a:t>
            </a:r>
            <a:r>
              <a:rPr lang="tr-TR" sz="1600" dirty="0" err="1" smtClean="0">
                <a:latin typeface="Arial Narrow" panose="020B0606020202030204" pitchFamily="34" charset="0"/>
              </a:rPr>
              <a:t>individuals</a:t>
            </a:r>
            <a:r>
              <a:rPr lang="tr-TR" sz="1600" dirty="0" smtClean="0">
                <a:latin typeface="Arial Narrow" panose="020B0606020202030204" pitchFamily="34" charset="0"/>
              </a:rPr>
              <a:t> </a:t>
            </a:r>
            <a:r>
              <a:rPr lang="tr-TR" sz="1600" dirty="0" err="1" smtClean="0">
                <a:latin typeface="Arial Narrow" panose="020B0606020202030204" pitchFamily="34" charset="0"/>
              </a:rPr>
              <a:t>are</a:t>
            </a:r>
            <a:r>
              <a:rPr lang="tr-TR" sz="1600" dirty="0" smtClean="0">
                <a:latin typeface="Arial Narrow" panose="020B0606020202030204" pitchFamily="34" charset="0"/>
              </a:rPr>
              <a:t> </a:t>
            </a:r>
            <a:r>
              <a:rPr lang="tr-TR" sz="1600" dirty="0" err="1" smtClean="0">
                <a:latin typeface="Arial Narrow" panose="020B0606020202030204" pitchFamily="34" charset="0"/>
              </a:rPr>
              <a:t>insured</a:t>
            </a:r>
            <a:r>
              <a:rPr lang="tr-TR" sz="1600" dirty="0" smtClean="0">
                <a:latin typeface="Arial Narrow" panose="020B0606020202030204" pitchFamily="34" charset="0"/>
              </a:rPr>
              <a:t> </a:t>
            </a:r>
            <a:r>
              <a:rPr lang="tr-TR" sz="1600" dirty="0" err="1" smtClean="0">
                <a:latin typeface="Arial Narrow" panose="020B0606020202030204" pitchFamily="34" charset="0"/>
              </a:rPr>
              <a:t>up</a:t>
            </a:r>
            <a:r>
              <a:rPr lang="tr-TR" sz="1600" dirty="0" smtClean="0">
                <a:latin typeface="Arial Narrow" panose="020B0606020202030204" pitchFamily="34" charset="0"/>
              </a:rPr>
              <a:t> </a:t>
            </a:r>
            <a:r>
              <a:rPr lang="tr-TR" sz="1600" dirty="0" err="1" smtClean="0">
                <a:latin typeface="Arial Narrow" panose="020B0606020202030204" pitchFamily="34" charset="0"/>
              </a:rPr>
              <a:t>to</a:t>
            </a:r>
            <a:r>
              <a:rPr lang="tr-TR" sz="1600" dirty="0" smtClean="0">
                <a:latin typeface="Arial Narrow" panose="020B0606020202030204" pitchFamily="34" charset="0"/>
              </a:rPr>
              <a:t> TL 100,000 </a:t>
            </a:r>
            <a:r>
              <a:rPr lang="tr-TR" sz="1600" dirty="0" err="1" smtClean="0">
                <a:latin typeface="Arial Narrow" panose="020B0606020202030204" pitchFamily="34" charset="0"/>
              </a:rPr>
              <a:t>separately</a:t>
            </a:r>
            <a:r>
              <a:rPr lang="tr-TR" sz="1600" dirty="0" smtClean="0">
                <a:latin typeface="Arial Narrow" panose="020B0606020202030204" pitchFamily="34" charset="0"/>
              </a:rPr>
              <a:t> </a:t>
            </a:r>
            <a:r>
              <a:rPr lang="tr-TR" sz="1600" dirty="0" err="1" smtClean="0">
                <a:latin typeface="Arial Narrow" panose="020B0606020202030204" pitchFamily="34" charset="0"/>
              </a:rPr>
              <a:t>for</a:t>
            </a:r>
            <a:r>
              <a:rPr lang="tr-TR" sz="1600" dirty="0" smtClean="0">
                <a:latin typeface="Arial Narrow" panose="020B0606020202030204" pitchFamily="34" charset="0"/>
              </a:rPr>
              <a:t> </a:t>
            </a:r>
            <a:r>
              <a:rPr lang="tr-TR" sz="1600" dirty="0" err="1" smtClean="0">
                <a:latin typeface="Arial Narrow" panose="020B0606020202030204" pitchFamily="34" charset="0"/>
              </a:rPr>
              <a:t>each</a:t>
            </a:r>
            <a:r>
              <a:rPr lang="tr-TR" sz="1600" dirty="0" smtClean="0">
                <a:latin typeface="Arial Narrow" panose="020B0606020202030204" pitchFamily="34" charset="0"/>
              </a:rPr>
              <a:t> bank.</a:t>
            </a:r>
          </a:p>
          <a:p>
            <a:pPr marL="0" indent="0">
              <a:spcBef>
                <a:spcPts val="0"/>
              </a:spcBef>
              <a:buNone/>
            </a:pPr>
            <a:endParaRPr lang="tr-TR" sz="800" dirty="0" smtClean="0">
              <a:latin typeface="Arial Narrow" panose="020B0606020202030204" pitchFamily="34" charset="0"/>
            </a:endParaRPr>
          </a:p>
          <a:p>
            <a:pPr>
              <a:spcBef>
                <a:spcPts val="0"/>
              </a:spcBef>
            </a:pPr>
            <a:r>
              <a:rPr lang="tr-TR" sz="1600" dirty="0" err="1" smtClean="0">
                <a:solidFill>
                  <a:srgbClr val="C00000"/>
                </a:solidFill>
                <a:latin typeface="Arial Narrow" panose="020B0606020202030204" pitchFamily="34" charset="0"/>
              </a:rPr>
              <a:t>Limits</a:t>
            </a:r>
            <a:r>
              <a:rPr lang="tr-TR" sz="1600" dirty="0" smtClean="0">
                <a:solidFill>
                  <a:srgbClr val="C00000"/>
                </a:solidFill>
                <a:latin typeface="Arial Narrow" panose="020B0606020202030204" pitchFamily="34" charset="0"/>
              </a:rPr>
              <a:t> on </a:t>
            </a:r>
            <a:r>
              <a:rPr lang="tr-TR" sz="1600" dirty="0" err="1" smtClean="0">
                <a:solidFill>
                  <a:srgbClr val="C00000"/>
                </a:solidFill>
                <a:latin typeface="Arial Narrow" panose="020B0606020202030204" pitchFamily="34" charset="0"/>
              </a:rPr>
              <a:t>Competition</a:t>
            </a:r>
            <a:r>
              <a:rPr lang="tr-TR" sz="1600" dirty="0" smtClean="0">
                <a:solidFill>
                  <a:srgbClr val="C00000"/>
                </a:solidFill>
                <a:latin typeface="Arial Narrow" panose="020B0606020202030204" pitchFamily="34" charset="0"/>
              </a:rPr>
              <a:t> </a:t>
            </a:r>
            <a:r>
              <a:rPr lang="tr-TR" sz="1600" dirty="0" smtClean="0">
                <a:latin typeface="Arial Narrow" panose="020B0606020202030204" pitchFamily="34" charset="0"/>
              </a:rPr>
              <a:t>– </a:t>
            </a:r>
            <a:r>
              <a:rPr lang="tr-TR" sz="1600" dirty="0" err="1" smtClean="0">
                <a:latin typeface="Arial Narrow" panose="020B0606020202030204" pitchFamily="34" charset="0"/>
              </a:rPr>
              <a:t>Opening</a:t>
            </a:r>
            <a:r>
              <a:rPr lang="tr-TR" sz="1600" dirty="0" smtClean="0">
                <a:latin typeface="Arial Narrow" panose="020B0606020202030204" pitchFamily="34" charset="0"/>
              </a:rPr>
              <a:t> a bank </a:t>
            </a:r>
            <a:r>
              <a:rPr lang="tr-TR" sz="1600" dirty="0" err="1" smtClean="0">
                <a:latin typeface="Arial Narrow" panose="020B0606020202030204" pitchFamily="34" charset="0"/>
              </a:rPr>
              <a:t>branch</a:t>
            </a:r>
            <a:r>
              <a:rPr lang="tr-TR" sz="1600" dirty="0" smtClean="0">
                <a:latin typeface="Arial Narrow" panose="020B0606020202030204" pitchFamily="34" charset="0"/>
              </a:rPr>
              <a:t> is </a:t>
            </a:r>
            <a:r>
              <a:rPr lang="tr-TR" sz="1600" dirty="0" err="1" smtClean="0">
                <a:latin typeface="Arial Narrow" panose="020B0606020202030204" pitchFamily="34" charset="0"/>
              </a:rPr>
              <a:t>subject</a:t>
            </a:r>
            <a:r>
              <a:rPr lang="tr-TR" sz="1600" dirty="0" smtClean="0">
                <a:latin typeface="Arial Narrow" panose="020B0606020202030204" pitchFamily="34" charset="0"/>
              </a:rPr>
              <a:t> </a:t>
            </a:r>
            <a:r>
              <a:rPr lang="tr-TR" sz="1600" dirty="0" err="1" smtClean="0">
                <a:latin typeface="Arial Narrow" panose="020B0606020202030204" pitchFamily="34" charset="0"/>
              </a:rPr>
              <a:t>to</a:t>
            </a:r>
            <a:r>
              <a:rPr lang="tr-TR" sz="1600" dirty="0" smtClean="0">
                <a:latin typeface="Arial Narrow" panose="020B0606020202030204" pitchFamily="34" charset="0"/>
              </a:rPr>
              <a:t> </a:t>
            </a:r>
            <a:r>
              <a:rPr lang="tr-TR" sz="1600" dirty="0" err="1" smtClean="0">
                <a:latin typeface="Arial Narrow" panose="020B0606020202030204" pitchFamily="34" charset="0"/>
              </a:rPr>
              <a:t>regulatory</a:t>
            </a:r>
            <a:r>
              <a:rPr lang="tr-TR" sz="1600" dirty="0" smtClean="0">
                <a:latin typeface="Arial Narrow" panose="020B0606020202030204" pitchFamily="34" charset="0"/>
              </a:rPr>
              <a:t> </a:t>
            </a:r>
            <a:r>
              <a:rPr lang="tr-TR" sz="1600" dirty="0" err="1" smtClean="0">
                <a:latin typeface="Arial Narrow" panose="020B0606020202030204" pitchFamily="34" charset="0"/>
              </a:rPr>
              <a:t>approval</a:t>
            </a:r>
            <a:r>
              <a:rPr lang="tr-TR" sz="1600" dirty="0" smtClean="0">
                <a:latin typeface="Arial Narrow" panose="020B0606020202030204" pitchFamily="34" charset="0"/>
              </a:rPr>
              <a:t>.</a:t>
            </a:r>
          </a:p>
          <a:p>
            <a:pPr>
              <a:spcBef>
                <a:spcPts val="0"/>
              </a:spcBef>
            </a:pPr>
            <a:endParaRPr lang="tr-TR" sz="800" dirty="0" smtClean="0">
              <a:latin typeface="Arial Narrow" panose="020B0606020202030204" pitchFamily="34" charset="0"/>
            </a:endParaRPr>
          </a:p>
          <a:p>
            <a:pPr>
              <a:spcBef>
                <a:spcPts val="0"/>
              </a:spcBef>
            </a:pPr>
            <a:r>
              <a:rPr lang="tr-TR" sz="1600" dirty="0" err="1" smtClean="0">
                <a:solidFill>
                  <a:srgbClr val="C00000"/>
                </a:solidFill>
                <a:latin typeface="Arial Narrow" panose="020B0606020202030204" pitchFamily="34" charset="0"/>
              </a:rPr>
              <a:t>Restrictions</a:t>
            </a:r>
            <a:r>
              <a:rPr lang="tr-TR" sz="1600" dirty="0" smtClean="0">
                <a:solidFill>
                  <a:srgbClr val="C00000"/>
                </a:solidFill>
                <a:latin typeface="Arial Narrow" panose="020B0606020202030204" pitchFamily="34" charset="0"/>
              </a:rPr>
              <a:t> on </a:t>
            </a:r>
            <a:r>
              <a:rPr lang="tr-TR" sz="1600" dirty="0" err="1" smtClean="0">
                <a:solidFill>
                  <a:srgbClr val="C00000"/>
                </a:solidFill>
                <a:latin typeface="Arial Narrow" panose="020B0606020202030204" pitchFamily="34" charset="0"/>
              </a:rPr>
              <a:t>Interest</a:t>
            </a:r>
            <a:r>
              <a:rPr lang="tr-TR" sz="1600" dirty="0" smtClean="0">
                <a:solidFill>
                  <a:srgbClr val="C00000"/>
                </a:solidFill>
                <a:latin typeface="Arial Narrow" panose="020B0606020202030204" pitchFamily="34" charset="0"/>
              </a:rPr>
              <a:t> </a:t>
            </a:r>
            <a:r>
              <a:rPr lang="tr-TR" sz="1600" dirty="0" err="1" smtClean="0">
                <a:solidFill>
                  <a:srgbClr val="C00000"/>
                </a:solidFill>
                <a:latin typeface="Arial Narrow" panose="020B0606020202030204" pitchFamily="34" charset="0"/>
              </a:rPr>
              <a:t>Rates</a:t>
            </a:r>
            <a:r>
              <a:rPr lang="tr-TR" sz="1600" dirty="0" smtClean="0">
                <a:solidFill>
                  <a:srgbClr val="C00000"/>
                </a:solidFill>
                <a:latin typeface="Arial Narrow" panose="020B0606020202030204" pitchFamily="34" charset="0"/>
              </a:rPr>
              <a:t> </a:t>
            </a:r>
            <a:r>
              <a:rPr lang="tr-TR" sz="1600" dirty="0" smtClean="0">
                <a:latin typeface="Arial Narrow" panose="020B0606020202030204" pitchFamily="34" charset="0"/>
              </a:rPr>
              <a:t>– </a:t>
            </a:r>
            <a:r>
              <a:rPr lang="tr-TR" sz="1600" dirty="0" err="1" smtClean="0">
                <a:latin typeface="Arial Narrow" panose="020B0606020202030204" pitchFamily="34" charset="0"/>
              </a:rPr>
              <a:t>Regulator</a:t>
            </a:r>
            <a:r>
              <a:rPr lang="tr-TR" sz="1600" dirty="0" smtClean="0">
                <a:latin typeface="Arial Narrow" panose="020B0606020202030204" pitchFamily="34" charset="0"/>
              </a:rPr>
              <a:t> </a:t>
            </a:r>
            <a:r>
              <a:rPr lang="tr-TR" sz="1600" dirty="0" err="1" smtClean="0">
                <a:latin typeface="Arial Narrow" panose="020B0606020202030204" pitchFamily="34" charset="0"/>
              </a:rPr>
              <a:t>may</a:t>
            </a:r>
            <a:r>
              <a:rPr lang="tr-TR" sz="1600" dirty="0" smtClean="0">
                <a:latin typeface="Arial Narrow" panose="020B0606020202030204" pitchFamily="34" charset="0"/>
              </a:rPr>
              <a:t> </a:t>
            </a:r>
            <a:r>
              <a:rPr lang="tr-TR" sz="1600" dirty="0" err="1" smtClean="0">
                <a:latin typeface="Arial Narrow" panose="020B0606020202030204" pitchFamily="34" charset="0"/>
              </a:rPr>
              <a:t>restrict</a:t>
            </a:r>
            <a:r>
              <a:rPr lang="tr-TR" sz="1600" dirty="0" smtClean="0">
                <a:latin typeface="Arial Narrow" panose="020B0606020202030204" pitchFamily="34" charset="0"/>
              </a:rPr>
              <a:t> </a:t>
            </a:r>
            <a:r>
              <a:rPr lang="tr-TR" sz="1600" dirty="0" err="1" smtClean="0">
                <a:latin typeface="Arial Narrow" panose="020B0606020202030204" pitchFamily="34" charset="0"/>
              </a:rPr>
              <a:t>interest</a:t>
            </a:r>
            <a:r>
              <a:rPr lang="tr-TR" sz="1600" dirty="0" smtClean="0">
                <a:latin typeface="Arial Narrow" panose="020B0606020202030204" pitchFamily="34" charset="0"/>
              </a:rPr>
              <a:t> </a:t>
            </a:r>
            <a:r>
              <a:rPr lang="tr-TR" sz="1600" dirty="0" err="1" smtClean="0">
                <a:latin typeface="Arial Narrow" panose="020B0606020202030204" pitchFamily="34" charset="0"/>
              </a:rPr>
              <a:t>paid</a:t>
            </a:r>
            <a:r>
              <a:rPr lang="tr-TR" sz="1600" dirty="0" smtClean="0">
                <a:latin typeface="Arial Narrow" panose="020B0606020202030204" pitchFamily="34" charset="0"/>
              </a:rPr>
              <a:t> on </a:t>
            </a:r>
            <a:r>
              <a:rPr lang="tr-TR" sz="1600" dirty="0" err="1" smtClean="0">
                <a:latin typeface="Arial Narrow" panose="020B0606020202030204" pitchFamily="34" charset="0"/>
              </a:rPr>
              <a:t>deposits</a:t>
            </a:r>
            <a:r>
              <a:rPr lang="tr-TR" sz="1600" dirty="0" smtClean="0">
                <a:latin typeface="Arial Narrow" panose="020B0606020202030204" pitchFamily="34" charset="0"/>
              </a:rPr>
              <a:t> </a:t>
            </a:r>
            <a:r>
              <a:rPr lang="tr-TR" sz="1600" dirty="0" err="1" smtClean="0">
                <a:latin typeface="Arial Narrow" panose="020B0606020202030204" pitchFamily="34" charset="0"/>
              </a:rPr>
              <a:t>and</a:t>
            </a:r>
            <a:r>
              <a:rPr lang="tr-TR" sz="1600" dirty="0" smtClean="0">
                <a:latin typeface="Arial Narrow" panose="020B0606020202030204" pitchFamily="34" charset="0"/>
              </a:rPr>
              <a:t> </a:t>
            </a:r>
            <a:r>
              <a:rPr lang="tr-TR" sz="1600" dirty="0" err="1" smtClean="0">
                <a:latin typeface="Arial Narrow" panose="020B0606020202030204" pitchFamily="34" charset="0"/>
              </a:rPr>
              <a:t>other</a:t>
            </a:r>
            <a:r>
              <a:rPr lang="tr-TR" sz="1600" dirty="0" smtClean="0">
                <a:latin typeface="Arial Narrow" panose="020B0606020202030204" pitchFamily="34" charset="0"/>
              </a:rPr>
              <a:t> </a:t>
            </a:r>
            <a:r>
              <a:rPr lang="tr-TR" sz="1600" dirty="0" err="1" smtClean="0">
                <a:latin typeface="Arial Narrow" panose="020B0606020202030204" pitchFamily="34" charset="0"/>
              </a:rPr>
              <a:t>financial</a:t>
            </a:r>
            <a:r>
              <a:rPr lang="tr-TR" sz="1600" dirty="0" smtClean="0">
                <a:latin typeface="Arial Narrow" panose="020B0606020202030204" pitchFamily="34" charset="0"/>
              </a:rPr>
              <a:t> </a:t>
            </a:r>
            <a:r>
              <a:rPr lang="tr-TR" sz="1600" dirty="0" err="1" smtClean="0">
                <a:latin typeface="Arial Narrow" panose="020B0606020202030204" pitchFamily="34" charset="0"/>
              </a:rPr>
              <a:t>instruments</a:t>
            </a:r>
            <a:r>
              <a:rPr lang="tr-TR" sz="1600" dirty="0" smtClean="0">
                <a:latin typeface="Arial Narrow" panose="020B0606020202030204" pitchFamily="34" charset="0"/>
              </a:rPr>
              <a:t> </a:t>
            </a:r>
            <a:r>
              <a:rPr lang="tr-TR" sz="1600" dirty="0" err="1" smtClean="0">
                <a:latin typeface="Arial Narrow" panose="020B0606020202030204" pitchFamily="34" charset="0"/>
              </a:rPr>
              <a:t>which</a:t>
            </a:r>
            <a:r>
              <a:rPr lang="tr-TR" sz="1600" dirty="0" smtClean="0">
                <a:latin typeface="Arial Narrow" panose="020B0606020202030204" pitchFamily="34" charset="0"/>
              </a:rPr>
              <a:t> </a:t>
            </a:r>
            <a:r>
              <a:rPr lang="tr-TR" sz="1600" dirty="0" err="1" smtClean="0">
                <a:latin typeface="Arial Narrow" panose="020B0606020202030204" pitchFamily="34" charset="0"/>
              </a:rPr>
              <a:t>may</a:t>
            </a:r>
            <a:r>
              <a:rPr lang="tr-TR" sz="1600" dirty="0" smtClean="0">
                <a:latin typeface="Arial Narrow" panose="020B0606020202030204" pitchFamily="34" charset="0"/>
              </a:rPr>
              <a:t> be </a:t>
            </a:r>
            <a:r>
              <a:rPr lang="tr-TR" sz="1600" dirty="0" err="1" smtClean="0">
                <a:latin typeface="Arial Narrow" panose="020B0606020202030204" pitchFamily="34" charset="0"/>
              </a:rPr>
              <a:t>unrealistic</a:t>
            </a:r>
            <a:r>
              <a:rPr lang="tr-TR" sz="1600" dirty="0" smtClean="0">
                <a:latin typeface="Arial Narrow" panose="020B0606020202030204" pitchFamily="34" charset="0"/>
              </a:rPr>
              <a:t> in </a:t>
            </a:r>
            <a:r>
              <a:rPr lang="tr-TR" sz="1600" dirty="0" err="1" smtClean="0">
                <a:latin typeface="Arial Narrow" panose="020B0606020202030204" pitchFamily="34" charset="0"/>
              </a:rPr>
              <a:t>economic</a:t>
            </a:r>
            <a:r>
              <a:rPr lang="tr-TR" sz="1600" dirty="0" smtClean="0">
                <a:latin typeface="Arial Narrow" panose="020B0606020202030204" pitchFamily="34" charset="0"/>
              </a:rPr>
              <a:t> </a:t>
            </a:r>
            <a:r>
              <a:rPr lang="tr-TR" sz="1600" dirty="0" err="1" smtClean="0">
                <a:latin typeface="Arial Narrow" panose="020B0606020202030204" pitchFamily="34" charset="0"/>
              </a:rPr>
              <a:t>terms</a:t>
            </a:r>
            <a:r>
              <a:rPr lang="tr-TR" sz="1600" dirty="0" smtClean="0">
                <a:latin typeface="Arial Narrow" panose="020B0606020202030204" pitchFamily="34" charset="0"/>
              </a:rPr>
              <a:t> </a:t>
            </a:r>
            <a:r>
              <a:rPr lang="tr-TR" sz="1600" dirty="0" err="1" smtClean="0">
                <a:latin typeface="Arial Narrow" panose="020B0606020202030204" pitchFamily="34" charset="0"/>
              </a:rPr>
              <a:t>for</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sake</a:t>
            </a:r>
            <a:r>
              <a:rPr lang="tr-TR" sz="1600" dirty="0" smtClean="0">
                <a:latin typeface="Arial Narrow" panose="020B0606020202030204" pitchFamily="34" charset="0"/>
              </a:rPr>
              <a:t> of </a:t>
            </a:r>
            <a:r>
              <a:rPr lang="tr-TR" sz="1600" dirty="0" err="1" smtClean="0">
                <a:latin typeface="Arial Narrow" panose="020B0606020202030204" pitchFamily="34" charset="0"/>
              </a:rPr>
              <a:t>overall</a:t>
            </a:r>
            <a:r>
              <a:rPr lang="tr-TR" sz="1600" dirty="0" smtClean="0">
                <a:latin typeface="Arial Narrow" panose="020B0606020202030204" pitchFamily="34" charset="0"/>
              </a:rPr>
              <a:t> </a:t>
            </a:r>
            <a:r>
              <a:rPr lang="tr-TR" sz="1600" dirty="0" err="1" smtClean="0">
                <a:latin typeface="Arial Narrow" panose="020B0606020202030204" pitchFamily="34" charset="0"/>
              </a:rPr>
              <a:t>good</a:t>
            </a:r>
            <a:r>
              <a:rPr lang="tr-TR" sz="1600" dirty="0" smtClean="0">
                <a:latin typeface="Arial Narrow" panose="020B0606020202030204" pitchFamily="34" charset="0"/>
              </a:rPr>
              <a:t>.</a:t>
            </a:r>
          </a:p>
          <a:p>
            <a:pPr marL="800100" lvl="2" indent="0">
              <a:spcBef>
                <a:spcPts val="0"/>
              </a:spcBef>
              <a:buNone/>
            </a:pPr>
            <a:r>
              <a:rPr lang="tr-TR" sz="1600" dirty="0" err="1" smtClean="0">
                <a:latin typeface="Arial Narrow" panose="020B0606020202030204" pitchFamily="34" charset="0"/>
              </a:rPr>
              <a:t>Also</a:t>
            </a:r>
            <a:r>
              <a:rPr lang="tr-TR" sz="1600" dirty="0" smtClean="0">
                <a:latin typeface="Arial Narrow" panose="020B0606020202030204" pitchFamily="34" charset="0"/>
              </a:rPr>
              <a:t>, Central Bank </a:t>
            </a:r>
            <a:r>
              <a:rPr lang="tr-TR" sz="1600" dirty="0" err="1" smtClean="0">
                <a:latin typeface="Arial Narrow" panose="020B0606020202030204" pitchFamily="34" charset="0"/>
              </a:rPr>
              <a:t>may</a:t>
            </a:r>
            <a:r>
              <a:rPr lang="tr-TR" sz="1600" dirty="0" smtClean="0">
                <a:latin typeface="Arial Narrow" panose="020B0606020202030204" pitchFamily="34" charset="0"/>
              </a:rPr>
              <a:t> </a:t>
            </a:r>
            <a:r>
              <a:rPr lang="tr-TR" sz="1600" dirty="0" err="1" smtClean="0">
                <a:latin typeface="Arial Narrow" panose="020B0606020202030204" pitchFamily="34" charset="0"/>
              </a:rPr>
              <a:t>guide</a:t>
            </a:r>
            <a:r>
              <a:rPr lang="tr-TR" sz="1600" dirty="0" smtClean="0">
                <a:latin typeface="Arial Narrow" panose="020B0606020202030204" pitchFamily="34" charset="0"/>
              </a:rPr>
              <a:t> </a:t>
            </a:r>
            <a:r>
              <a:rPr lang="tr-TR" sz="1600" dirty="0" err="1" smtClean="0">
                <a:latin typeface="Arial Narrow" panose="020B0606020202030204" pitchFamily="34" charset="0"/>
              </a:rPr>
              <a:t>banks</a:t>
            </a:r>
            <a:r>
              <a:rPr lang="tr-TR" sz="1600" dirty="0" smtClean="0">
                <a:latin typeface="Arial Narrow" panose="020B0606020202030204" pitchFamily="34" charset="0"/>
              </a:rPr>
              <a:t> </a:t>
            </a:r>
            <a:r>
              <a:rPr lang="tr-TR" sz="1600" dirty="0" err="1" smtClean="0">
                <a:latin typeface="Arial Narrow" panose="020B0606020202030204" pitchFamily="34" charset="0"/>
              </a:rPr>
              <a:t>by</a:t>
            </a:r>
            <a:r>
              <a:rPr lang="tr-TR" sz="1600" dirty="0" smtClean="0">
                <a:latin typeface="Arial Narrow" panose="020B0606020202030204" pitchFamily="34" charset="0"/>
              </a:rPr>
              <a:t> </a:t>
            </a:r>
            <a:r>
              <a:rPr lang="tr-TR" sz="1600" dirty="0" err="1" smtClean="0">
                <a:latin typeface="Arial Narrow" panose="020B0606020202030204" pitchFamily="34" charset="0"/>
              </a:rPr>
              <a:t>determining</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interest</a:t>
            </a:r>
            <a:r>
              <a:rPr lang="tr-TR" sz="1600" dirty="0" smtClean="0">
                <a:latin typeface="Arial Narrow" panose="020B0606020202030204" pitchFamily="34" charset="0"/>
              </a:rPr>
              <a:t> of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funds</a:t>
            </a:r>
            <a:r>
              <a:rPr lang="tr-TR" sz="1600" dirty="0" smtClean="0">
                <a:latin typeface="Arial Narrow" panose="020B0606020202030204" pitchFamily="34" charset="0"/>
              </a:rPr>
              <a:t> </a:t>
            </a:r>
            <a:r>
              <a:rPr lang="tr-TR" sz="1600" dirty="0" err="1" smtClean="0">
                <a:latin typeface="Arial Narrow" panose="020B0606020202030204" pitchFamily="34" charset="0"/>
              </a:rPr>
              <a:t>that</a:t>
            </a:r>
            <a:r>
              <a:rPr lang="tr-TR" sz="1600" dirty="0" smtClean="0">
                <a:latin typeface="Arial Narrow" panose="020B0606020202030204" pitchFamily="34" charset="0"/>
              </a:rPr>
              <a:t> it </a:t>
            </a:r>
            <a:r>
              <a:rPr lang="tr-TR" sz="1600" dirty="0" err="1" smtClean="0">
                <a:latin typeface="Arial Narrow" panose="020B0606020202030204" pitchFamily="34" charset="0"/>
              </a:rPr>
              <a:t>provides</a:t>
            </a:r>
            <a:r>
              <a:rPr lang="tr-TR" sz="1600" dirty="0" smtClean="0">
                <a:latin typeface="Arial Narrow" panose="020B0606020202030204" pitchFamily="34" charset="0"/>
              </a:rPr>
              <a:t> </a:t>
            </a:r>
            <a:r>
              <a:rPr lang="tr-TR" sz="1600" dirty="0" err="1" smtClean="0">
                <a:latin typeface="Arial Narrow" panose="020B0606020202030204" pitchFamily="34" charset="0"/>
              </a:rPr>
              <a:t>to</a:t>
            </a:r>
            <a:r>
              <a:rPr lang="tr-TR" sz="1600" dirty="0" smtClean="0">
                <a:latin typeface="Arial Narrow" panose="020B0606020202030204" pitchFamily="34" charset="0"/>
              </a:rPr>
              <a:t> </a:t>
            </a:r>
            <a:r>
              <a:rPr lang="tr-TR" sz="1600" dirty="0" err="1" smtClean="0">
                <a:latin typeface="Arial Narrow" panose="020B0606020202030204" pitchFamily="34" charset="0"/>
              </a:rPr>
              <a:t>banks</a:t>
            </a:r>
            <a:r>
              <a:rPr lang="tr-TR" sz="1600" dirty="0" smtClean="0">
                <a:latin typeface="Arial Narrow" panose="020B0606020202030204" pitchFamily="34" charset="0"/>
              </a:rPr>
              <a:t>.</a:t>
            </a:r>
          </a:p>
          <a:p>
            <a:pPr>
              <a:spcBef>
                <a:spcPts val="0"/>
              </a:spcBef>
            </a:pPr>
            <a:endParaRPr lang="tr-TR" sz="1800" dirty="0" smtClean="0">
              <a:latin typeface="Arial Narrow" panose="020B0606020202030204" pitchFamily="34" charset="0"/>
            </a:endParaRPr>
          </a:p>
        </p:txBody>
      </p:sp>
    </p:spTree>
    <p:extLst>
      <p:ext uri="{BB962C8B-B14F-4D97-AF65-F5344CB8AC3E}">
        <p14:creationId xmlns:p14="http://schemas.microsoft.com/office/powerpoint/2010/main" val="19223679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3568" y="1268760"/>
            <a:ext cx="7772400" cy="1470025"/>
          </a:xfrm>
        </p:spPr>
        <p:txBody>
          <a:bodyPr>
            <a:normAutofit/>
          </a:bodyPr>
          <a:lstStyle/>
          <a:p>
            <a:pPr>
              <a:spcBef>
                <a:spcPts val="600"/>
              </a:spcBef>
              <a:spcAft>
                <a:spcPts val="600"/>
              </a:spcAft>
            </a:pPr>
            <a:r>
              <a:rPr lang="tr-TR" sz="1200" smtClean="0"/>
              <a:t> </a:t>
            </a:r>
            <a:endParaRPr lang="tr-TR" sz="1200"/>
          </a:p>
        </p:txBody>
      </p:sp>
      <p:sp>
        <p:nvSpPr>
          <p:cNvPr id="6" name="Subtitle 5"/>
          <p:cNvSpPr>
            <a:spLocks noGrp="1"/>
          </p:cNvSpPr>
          <p:nvPr>
            <p:ph type="subTitle" idx="1"/>
          </p:nvPr>
        </p:nvSpPr>
        <p:spPr>
          <a:xfrm>
            <a:off x="717340" y="1556792"/>
            <a:ext cx="7704856" cy="2592288"/>
          </a:xfrm>
          <a:ln w="25400">
            <a:noFill/>
          </a:ln>
        </p:spPr>
        <p:txBody>
          <a:bodyPr>
            <a:noAutofit/>
          </a:bodyPr>
          <a:lstStyle/>
          <a:p>
            <a:pPr>
              <a:spcBef>
                <a:spcPts val="0"/>
              </a:spcBef>
            </a:pPr>
            <a:r>
              <a:rPr lang="tr-TR" sz="2400" dirty="0" smtClean="0">
                <a:solidFill>
                  <a:srgbClr val="800000"/>
                </a:solidFill>
                <a:latin typeface="Arial Narrow" pitchFamily="34" charset="0"/>
              </a:rPr>
              <a:t>NTE 1010</a:t>
            </a:r>
          </a:p>
          <a:p>
            <a:pPr>
              <a:spcBef>
                <a:spcPts val="0"/>
              </a:spcBef>
            </a:pPr>
            <a:r>
              <a:rPr lang="tr-TR" sz="2400" dirty="0" err="1" smtClean="0">
                <a:solidFill>
                  <a:srgbClr val="800000"/>
                </a:solidFill>
                <a:latin typeface="Arial Narrow" pitchFamily="34" charset="0"/>
              </a:rPr>
              <a:t>Introduction</a:t>
            </a:r>
            <a:r>
              <a:rPr lang="tr-TR" sz="2400" dirty="0" smtClean="0">
                <a:solidFill>
                  <a:srgbClr val="800000"/>
                </a:solidFill>
                <a:latin typeface="Arial Narrow" pitchFamily="34" charset="0"/>
              </a:rPr>
              <a:t> </a:t>
            </a:r>
            <a:r>
              <a:rPr lang="tr-TR" sz="2400" dirty="0" err="1">
                <a:solidFill>
                  <a:srgbClr val="800000"/>
                </a:solidFill>
                <a:latin typeface="Arial Narrow" pitchFamily="34" charset="0"/>
              </a:rPr>
              <a:t>to</a:t>
            </a:r>
            <a:r>
              <a:rPr lang="tr-TR" sz="2400" dirty="0">
                <a:solidFill>
                  <a:srgbClr val="800000"/>
                </a:solidFill>
                <a:latin typeface="Arial Narrow" pitchFamily="34" charset="0"/>
              </a:rPr>
              <a:t> Finance </a:t>
            </a:r>
            <a:r>
              <a:rPr lang="tr-TR" sz="2400" dirty="0" err="1">
                <a:solidFill>
                  <a:srgbClr val="800000"/>
                </a:solidFill>
                <a:latin typeface="Arial Narrow" pitchFamily="34" charset="0"/>
              </a:rPr>
              <a:t>for</a:t>
            </a:r>
            <a:r>
              <a:rPr lang="tr-TR" sz="2400" dirty="0">
                <a:solidFill>
                  <a:srgbClr val="800000"/>
                </a:solidFill>
                <a:latin typeface="Arial Narrow" pitchFamily="34" charset="0"/>
              </a:rPr>
              <a:t> </a:t>
            </a:r>
            <a:r>
              <a:rPr lang="tr-TR" sz="2400" dirty="0" err="1" smtClean="0">
                <a:solidFill>
                  <a:srgbClr val="800000"/>
                </a:solidFill>
                <a:latin typeface="Arial Narrow" pitchFamily="34" charset="0"/>
              </a:rPr>
              <a:t>Engineers</a:t>
            </a:r>
            <a:endParaRPr lang="tr-TR" sz="1200" dirty="0" smtClean="0">
              <a:solidFill>
                <a:srgbClr val="800000"/>
              </a:solidFill>
              <a:latin typeface="Arial Narrow" pitchFamily="34" charset="0"/>
            </a:endParaRPr>
          </a:p>
          <a:p>
            <a:pPr>
              <a:spcBef>
                <a:spcPts val="0"/>
              </a:spcBef>
            </a:pPr>
            <a:endParaRPr lang="tr-TR" sz="1600" dirty="0">
              <a:solidFill>
                <a:srgbClr val="800000"/>
              </a:solidFill>
              <a:latin typeface="Arial Narrow" pitchFamily="34" charset="0"/>
            </a:endParaRPr>
          </a:p>
          <a:p>
            <a:pPr>
              <a:spcBef>
                <a:spcPts val="0"/>
              </a:spcBef>
            </a:pPr>
            <a:r>
              <a:rPr lang="tr-TR" sz="2400" dirty="0" err="1" smtClean="0">
                <a:solidFill>
                  <a:schemeClr val="tx1"/>
                </a:solidFill>
                <a:latin typeface="Arial Narrow" pitchFamily="34" charset="0"/>
              </a:rPr>
              <a:t>week</a:t>
            </a:r>
            <a:r>
              <a:rPr lang="tr-TR" sz="2400" dirty="0" smtClean="0">
                <a:solidFill>
                  <a:schemeClr val="tx1"/>
                </a:solidFill>
                <a:latin typeface="Arial Narrow" pitchFamily="34" charset="0"/>
              </a:rPr>
              <a:t> 5</a:t>
            </a:r>
          </a:p>
          <a:p>
            <a:pPr>
              <a:spcBef>
                <a:spcPts val="0"/>
              </a:spcBef>
            </a:pPr>
            <a:r>
              <a:rPr lang="tr-TR" sz="2400" dirty="0" smtClean="0">
                <a:solidFill>
                  <a:schemeClr val="tx1"/>
                </a:solidFill>
                <a:latin typeface="Arial Narrow" pitchFamily="34" charset="0"/>
              </a:rPr>
              <a:t>Financial </a:t>
            </a:r>
            <a:r>
              <a:rPr lang="tr-TR" sz="2400" dirty="0" err="1" smtClean="0">
                <a:solidFill>
                  <a:schemeClr val="tx1"/>
                </a:solidFill>
                <a:latin typeface="Arial Narrow" pitchFamily="34" charset="0"/>
              </a:rPr>
              <a:t>System</a:t>
            </a:r>
            <a:r>
              <a:rPr lang="tr-TR" sz="2400" dirty="0" smtClean="0">
                <a:solidFill>
                  <a:schemeClr val="tx1"/>
                </a:solidFill>
                <a:latin typeface="Arial Narrow" pitchFamily="34" charset="0"/>
              </a:rPr>
              <a:t> &amp; Money</a:t>
            </a:r>
          </a:p>
          <a:p>
            <a:pPr>
              <a:spcBef>
                <a:spcPts val="0"/>
              </a:spcBef>
            </a:pPr>
            <a:endParaRPr lang="tr-TR" sz="1200" dirty="0" smtClean="0">
              <a:solidFill>
                <a:schemeClr val="tx1"/>
              </a:solidFill>
              <a:latin typeface="Arial Narrow" pitchFamily="34" charset="0"/>
            </a:endParaRPr>
          </a:p>
          <a:p>
            <a:pPr>
              <a:spcBef>
                <a:spcPts val="0"/>
              </a:spcBef>
            </a:pPr>
            <a:r>
              <a:rPr lang="tr-TR" dirty="0" smtClean="0">
                <a:solidFill>
                  <a:schemeClr val="tx1"/>
                </a:solidFill>
                <a:latin typeface="Arial Narrow" pitchFamily="34" charset="0"/>
              </a:rPr>
              <a:t>Money</a:t>
            </a:r>
          </a:p>
        </p:txBody>
      </p:sp>
    </p:spTree>
    <p:extLst>
      <p:ext uri="{BB962C8B-B14F-4D97-AF65-F5344CB8AC3E}">
        <p14:creationId xmlns:p14="http://schemas.microsoft.com/office/powerpoint/2010/main" val="4907316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rmAutofit/>
          </a:bodyPr>
          <a:lstStyle/>
          <a:p>
            <a:r>
              <a:rPr lang="tr-TR" sz="1400" dirty="0">
                <a:latin typeface="Arial Narrow" pitchFamily="34" charset="0"/>
              </a:rPr>
              <a:t>NTE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smtClean="0">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err="1" smtClean="0">
                <a:solidFill>
                  <a:srgbClr val="800000"/>
                </a:solidFill>
                <a:latin typeface="Arial Narrow" pitchFamily="34" charset="0"/>
              </a:rPr>
              <a:t>Economy</a:t>
            </a:r>
            <a:endParaRPr lang="tr-TR" sz="2400" dirty="0">
              <a:solidFill>
                <a:srgbClr val="800000"/>
              </a:solidFill>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1" indent="0">
              <a:spcBef>
                <a:spcPts val="0"/>
              </a:spcBef>
              <a:buNone/>
            </a:pPr>
            <a:endParaRPr lang="tr-TR" sz="1800" dirty="0" smtClean="0">
              <a:latin typeface="Arial Narrow" pitchFamily="34" charset="0"/>
            </a:endParaRPr>
          </a:p>
          <a:p>
            <a:pPr marL="0" lvl="1" indent="0" algn="ctr">
              <a:spcBef>
                <a:spcPts val="0"/>
              </a:spcBef>
              <a:buNone/>
            </a:pP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term</a:t>
            </a:r>
            <a:r>
              <a:rPr lang="tr-TR" sz="1800" dirty="0">
                <a:latin typeface="Arial Narrow" panose="020B0606020202030204" pitchFamily="34" charset="0"/>
              </a:rPr>
              <a:t> </a:t>
            </a:r>
            <a:r>
              <a:rPr lang="tr-TR" sz="1800" dirty="0" smtClean="0">
                <a:latin typeface="Arial Narrow" panose="020B0606020202030204" pitchFamily="34" charset="0"/>
              </a:rPr>
              <a:t>″</a:t>
            </a:r>
            <a:r>
              <a:rPr lang="tr-TR" sz="1800" dirty="0" err="1" smtClean="0">
                <a:latin typeface="Arial Narrow" panose="020B0606020202030204" pitchFamily="34" charset="0"/>
              </a:rPr>
              <a:t>economy</a:t>
            </a:r>
            <a:r>
              <a:rPr lang="tr-TR" sz="1800" dirty="0" smtClean="0">
                <a:latin typeface="Arial Narrow" panose="020B0606020202030204" pitchFamily="34" charset="0"/>
              </a:rPr>
              <a:t>″ </a:t>
            </a:r>
            <a:r>
              <a:rPr lang="tr-TR" sz="1800" dirty="0" err="1" smtClean="0">
                <a:latin typeface="Arial Narrow" panose="020B0606020202030204" pitchFamily="34" charset="0"/>
              </a:rPr>
              <a:t>originates</a:t>
            </a:r>
            <a:r>
              <a:rPr lang="tr-TR" sz="1800" dirty="0" smtClean="0">
                <a:latin typeface="Arial Narrow" panose="020B0606020202030204" pitchFamily="34" charset="0"/>
              </a:rPr>
              <a:t> </a:t>
            </a:r>
            <a:r>
              <a:rPr lang="tr-TR" sz="1800" dirty="0" err="1" smtClean="0">
                <a:latin typeface="Arial Narrow" panose="020B0606020202030204" pitchFamily="34" charset="0"/>
              </a:rPr>
              <a:t>from</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Greek</a:t>
            </a:r>
            <a:r>
              <a:rPr lang="tr-TR" sz="1800" dirty="0" smtClean="0">
                <a:latin typeface="Arial Narrow" panose="020B0606020202030204" pitchFamily="34" charset="0"/>
              </a:rPr>
              <a:t> Word </a:t>
            </a:r>
            <a:r>
              <a:rPr lang="tr-TR" sz="1800" dirty="0">
                <a:latin typeface="Arial Narrow" panose="020B0606020202030204" pitchFamily="34" charset="0"/>
              </a:rPr>
              <a:t>of </a:t>
            </a:r>
            <a:r>
              <a:rPr lang="tr-TR" sz="1800" dirty="0" smtClean="0">
                <a:latin typeface="Arial Narrow" panose="020B0606020202030204" pitchFamily="34" charset="0"/>
              </a:rPr>
              <a:t>″</a:t>
            </a:r>
            <a:r>
              <a:rPr lang="tr-TR" sz="1800" dirty="0" err="1" smtClean="0">
                <a:latin typeface="Arial Narrow" panose="020B0606020202030204" pitchFamily="34" charset="0"/>
              </a:rPr>
              <a:t>oikonomia</a:t>
            </a:r>
            <a:r>
              <a:rPr lang="tr-TR" sz="1800" dirty="0" smtClean="0">
                <a:latin typeface="Arial Narrow" panose="020B0606020202030204" pitchFamily="34" charset="0"/>
              </a:rPr>
              <a:t>″</a:t>
            </a:r>
          </a:p>
          <a:p>
            <a:pPr marL="0" lvl="1" indent="0" algn="ctr">
              <a:spcBef>
                <a:spcPts val="0"/>
              </a:spcBef>
              <a:buNone/>
            </a:pPr>
            <a:r>
              <a:rPr lang="tr-TR" sz="1800" dirty="0" err="1" smtClean="0">
                <a:latin typeface="Arial Narrow" panose="020B0606020202030204" pitchFamily="34" charset="0"/>
              </a:rPr>
              <a:t>which</a:t>
            </a:r>
            <a:r>
              <a:rPr lang="tr-TR" sz="1800" dirty="0" smtClean="0">
                <a:latin typeface="Arial Narrow" panose="020B0606020202030204" pitchFamily="34" charset="0"/>
              </a:rPr>
              <a:t> </a:t>
            </a:r>
            <a:r>
              <a:rPr lang="tr-TR" sz="1800" dirty="0" err="1" smtClean="0">
                <a:latin typeface="Arial Narrow" panose="020B0606020202030204" pitchFamily="34" charset="0"/>
              </a:rPr>
              <a:t>means</a:t>
            </a:r>
            <a:r>
              <a:rPr lang="tr-TR" sz="1800" dirty="0" smtClean="0">
                <a:latin typeface="Arial Narrow" panose="020B0606020202030204" pitchFamily="34" charset="0"/>
              </a:rPr>
              <a:t> ″</a:t>
            </a:r>
            <a:r>
              <a:rPr lang="tr-TR" sz="1800" dirty="0" err="1" smtClean="0">
                <a:latin typeface="Arial Narrow" panose="020B0606020202030204" pitchFamily="34" charset="0"/>
              </a:rPr>
              <a:t>household</a:t>
            </a:r>
            <a:r>
              <a:rPr lang="tr-TR" sz="1800" dirty="0" smtClean="0">
                <a:latin typeface="Arial Narrow" panose="020B0606020202030204" pitchFamily="34" charset="0"/>
              </a:rPr>
              <a:t> </a:t>
            </a:r>
            <a:r>
              <a:rPr lang="tr-TR" sz="1800" dirty="0" err="1" smtClean="0">
                <a:latin typeface="Arial Narrow" panose="020B0606020202030204" pitchFamily="34" charset="0"/>
              </a:rPr>
              <a:t>management</a:t>
            </a:r>
            <a:r>
              <a:rPr lang="tr-TR" sz="1800" dirty="0" smtClean="0">
                <a:latin typeface="Arial Narrow" panose="020B0606020202030204" pitchFamily="34" charset="0"/>
              </a:rPr>
              <a:t>″.</a:t>
            </a:r>
          </a:p>
          <a:p>
            <a:pPr marL="0" lvl="1" indent="0" algn="ctr">
              <a:spcBef>
                <a:spcPts val="0"/>
              </a:spcBef>
              <a:buNone/>
            </a:pPr>
            <a:r>
              <a:rPr lang="tr-TR" sz="1800" dirty="0" err="1" smtClean="0">
                <a:latin typeface="Arial Narrow" panose="020B0606020202030204" pitchFamily="34" charset="0"/>
              </a:rPr>
              <a:t>Nowadays</a:t>
            </a:r>
            <a:r>
              <a:rPr lang="tr-TR" sz="1800" dirty="0" smtClean="0">
                <a:latin typeface="Arial Narrow" panose="020B0606020202030204" pitchFamily="34" charset="0"/>
              </a:rPr>
              <a:t>, ″</a:t>
            </a:r>
            <a:r>
              <a:rPr lang="tr-TR" sz="1800" dirty="0" err="1" smtClean="0">
                <a:latin typeface="Arial Narrow" panose="020B0606020202030204" pitchFamily="34" charset="0"/>
              </a:rPr>
              <a:t>economy</a:t>
            </a:r>
            <a:r>
              <a:rPr lang="tr-TR" sz="1800" dirty="0" smtClean="0">
                <a:latin typeface="Arial Narrow" panose="020B0606020202030204" pitchFamily="34" charset="0"/>
              </a:rPr>
              <a:t>″ </a:t>
            </a:r>
            <a:r>
              <a:rPr lang="tr-TR" sz="1800" dirty="0" err="1" smtClean="0">
                <a:latin typeface="Arial Narrow" panose="020B0606020202030204" pitchFamily="34" charset="0"/>
              </a:rPr>
              <a:t>very</a:t>
            </a:r>
            <a:r>
              <a:rPr lang="tr-TR" sz="1800" dirty="0" smtClean="0">
                <a:latin typeface="Arial Narrow" panose="020B0606020202030204" pitchFamily="34" charset="0"/>
              </a:rPr>
              <a:t> </a:t>
            </a:r>
            <a:r>
              <a:rPr lang="tr-TR" sz="1800" dirty="0" err="1" smtClean="0">
                <a:latin typeface="Arial Narrow" panose="020B0606020202030204" pitchFamily="34" charset="0"/>
              </a:rPr>
              <a:t>simply</a:t>
            </a:r>
            <a:r>
              <a:rPr lang="tr-TR" sz="1800" dirty="0" smtClean="0">
                <a:latin typeface="Arial Narrow" panose="020B0606020202030204" pitchFamily="34" charset="0"/>
              </a:rPr>
              <a:t> </a:t>
            </a:r>
            <a:r>
              <a:rPr lang="tr-TR" sz="1800" dirty="0" err="1" smtClean="0">
                <a:latin typeface="Arial Narrow" panose="020B0606020202030204" pitchFamily="34" charset="0"/>
              </a:rPr>
              <a:t>covers</a:t>
            </a:r>
            <a:r>
              <a:rPr lang="tr-TR" sz="1800" dirty="0" smtClean="0">
                <a:latin typeface="Arial Narrow" panose="020B0606020202030204" pitchFamily="34" charset="0"/>
              </a:rPr>
              <a:t> </a:t>
            </a:r>
            <a:r>
              <a:rPr lang="tr-TR" sz="1800" dirty="0" err="1" smtClean="0">
                <a:latin typeface="Arial Narrow" panose="020B0606020202030204" pitchFamily="34" charset="0"/>
              </a:rPr>
              <a:t>topics</a:t>
            </a:r>
            <a:r>
              <a:rPr lang="tr-TR" sz="1800" dirty="0" smtClean="0">
                <a:latin typeface="Arial Narrow" panose="020B0606020202030204" pitchFamily="34" charset="0"/>
              </a:rPr>
              <a:t> of</a:t>
            </a:r>
          </a:p>
          <a:p>
            <a:pPr marL="0" lvl="1" indent="0" algn="ctr">
              <a:spcBef>
                <a:spcPts val="0"/>
              </a:spcBef>
              <a:buNone/>
            </a:pPr>
            <a:r>
              <a:rPr lang="tr-TR" sz="1800" dirty="0" smtClean="0">
                <a:latin typeface="Arial Narrow" panose="020B0606020202030204" pitchFamily="34" charset="0"/>
              </a:rPr>
              <a:t>″</a:t>
            </a:r>
            <a:r>
              <a:rPr lang="tr-TR" sz="1800" dirty="0" err="1" smtClean="0">
                <a:latin typeface="Arial Narrow" panose="020B0606020202030204" pitchFamily="34" charset="0"/>
              </a:rPr>
              <a:t>producing</a:t>
            </a:r>
            <a:r>
              <a:rPr lang="tr-TR" sz="1800" dirty="0" smtClean="0">
                <a:latin typeface="Arial Narrow" panose="020B0606020202030204" pitchFamily="34" charset="0"/>
              </a:rPr>
              <a:t>″ </a:t>
            </a: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sharing</a:t>
            </a:r>
            <a:r>
              <a:rPr lang="tr-TR" sz="1800" dirty="0" smtClean="0">
                <a:latin typeface="Arial Narrow" panose="020B0606020202030204" pitchFamily="34" charset="0"/>
              </a:rPr>
              <a:t>″.</a:t>
            </a:r>
          </a:p>
          <a:p>
            <a:pPr marL="0" lvl="1" indent="0" algn="ctr">
              <a:spcBef>
                <a:spcPts val="0"/>
              </a:spcBef>
              <a:buNone/>
            </a:pPr>
            <a:endParaRPr lang="tr-TR" sz="1800" dirty="0">
              <a:latin typeface="Arial Narrow" panose="020B0606020202030204" pitchFamily="34" charset="0"/>
            </a:endParaRPr>
          </a:p>
          <a:p>
            <a:pPr marL="0" lvl="1" indent="0" algn="ctr">
              <a:spcBef>
                <a:spcPts val="0"/>
              </a:spcBef>
              <a:buNone/>
            </a:pPr>
            <a:r>
              <a:rPr lang="tr-TR" sz="1800" dirty="0" smtClean="0">
                <a:latin typeface="Arial Narrow" panose="020B0606020202030204" pitchFamily="34" charset="0"/>
              </a:rPr>
              <a:t>″First </a:t>
            </a:r>
            <a:r>
              <a:rPr lang="tr-TR" sz="1800" dirty="0" err="1" smtClean="0">
                <a:latin typeface="Arial Narrow" panose="020B0606020202030204" pitchFamily="34" charset="0"/>
              </a:rPr>
              <a:t>human</a:t>
            </a:r>
            <a:r>
              <a:rPr lang="tr-TR" sz="1800" dirty="0" smtClean="0">
                <a:latin typeface="Arial Narrow" panose="020B0606020202030204" pitchFamily="34" charset="0"/>
              </a:rPr>
              <a:t>″ is </a:t>
            </a:r>
            <a:r>
              <a:rPr lang="tr-TR" sz="1800" dirty="0" err="1" smtClean="0">
                <a:latin typeface="Arial Narrow" panose="020B0606020202030204" pitchFamily="34" charset="0"/>
              </a:rPr>
              <a:t>estimated</a:t>
            </a:r>
            <a:r>
              <a:rPr lang="tr-TR" sz="1800" dirty="0" smtClean="0">
                <a:latin typeface="Arial Narrow" panose="020B0606020202030204" pitchFamily="34" charset="0"/>
              </a:rPr>
              <a:t> </a:t>
            </a: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have</a:t>
            </a:r>
            <a:r>
              <a:rPr lang="tr-TR" sz="1800" dirty="0" smtClean="0">
                <a:latin typeface="Arial Narrow" panose="020B0606020202030204" pitchFamily="34" charset="0"/>
              </a:rPr>
              <a:t> </a:t>
            </a:r>
            <a:r>
              <a:rPr lang="tr-TR" sz="1800" dirty="0" err="1" smtClean="0">
                <a:latin typeface="Arial Narrow" panose="020B0606020202030204" pitchFamily="34" charset="0"/>
              </a:rPr>
              <a:t>appeared</a:t>
            </a:r>
            <a:r>
              <a:rPr lang="tr-TR" sz="1800" dirty="0" smtClean="0">
                <a:latin typeface="Arial Narrow" panose="020B0606020202030204" pitchFamily="34" charset="0"/>
              </a:rPr>
              <a:t> on </a:t>
            </a:r>
            <a:r>
              <a:rPr lang="tr-TR" sz="1800" dirty="0" err="1" smtClean="0">
                <a:latin typeface="Arial Narrow" panose="020B0606020202030204" pitchFamily="34" charset="0"/>
              </a:rPr>
              <a:t>earth</a:t>
            </a:r>
            <a:r>
              <a:rPr lang="tr-TR" sz="1800" dirty="0" smtClean="0">
                <a:latin typeface="Arial Narrow" panose="020B0606020202030204" pitchFamily="34" charset="0"/>
              </a:rPr>
              <a:t> 200,000 </a:t>
            </a:r>
            <a:r>
              <a:rPr lang="tr-TR" sz="1800" dirty="0" err="1" smtClean="0">
                <a:latin typeface="Arial Narrow" panose="020B0606020202030204" pitchFamily="34" charset="0"/>
              </a:rPr>
              <a:t>years</a:t>
            </a:r>
            <a:r>
              <a:rPr lang="tr-TR" sz="1800" dirty="0">
                <a:latin typeface="Arial Narrow" panose="020B0606020202030204" pitchFamily="34" charset="0"/>
              </a:rPr>
              <a:t> </a:t>
            </a:r>
            <a:r>
              <a:rPr lang="tr-TR" sz="1800" dirty="0" err="1" smtClean="0">
                <a:latin typeface="Arial Narrow" panose="020B0606020202030204" pitchFamily="34" charset="0"/>
              </a:rPr>
              <a:t>ago</a:t>
            </a:r>
            <a:r>
              <a:rPr lang="tr-TR" sz="1800" dirty="0" smtClean="0">
                <a:latin typeface="Arial Narrow" panose="020B0606020202030204" pitchFamily="34" charset="0"/>
              </a:rPr>
              <a:t>.</a:t>
            </a:r>
          </a:p>
          <a:p>
            <a:pPr marL="0" lvl="1" indent="0" algn="ctr">
              <a:spcBef>
                <a:spcPts val="0"/>
              </a:spcBef>
              <a:buNone/>
            </a:pPr>
            <a:r>
              <a:rPr lang="tr-TR" sz="1800" dirty="0" err="1" smtClean="0">
                <a:latin typeface="Arial Narrow" panose="020B0606020202030204" pitchFamily="34" charset="0"/>
              </a:rPr>
              <a:t>Agriculture</a:t>
            </a:r>
            <a:r>
              <a:rPr lang="tr-TR" sz="1800" dirty="0" smtClean="0">
                <a:latin typeface="Arial Narrow" panose="020B0606020202030204" pitchFamily="34" charset="0"/>
              </a:rPr>
              <a:t> </a:t>
            </a: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trading</a:t>
            </a:r>
            <a:r>
              <a:rPr lang="tr-TR" sz="1800" dirty="0" smtClean="0">
                <a:latin typeface="Arial Narrow" panose="020B0606020202030204" pitchFamily="34" charset="0"/>
              </a:rPr>
              <a:t> </a:t>
            </a:r>
            <a:r>
              <a:rPr lang="tr-TR" sz="1800" dirty="0" err="1" smtClean="0">
                <a:latin typeface="Arial Narrow" panose="020B0606020202030204" pitchFamily="34" charset="0"/>
              </a:rPr>
              <a:t>started</a:t>
            </a:r>
            <a:r>
              <a:rPr lang="tr-TR" sz="1800" dirty="0" smtClean="0">
                <a:latin typeface="Arial Narrow" panose="020B0606020202030204" pitchFamily="34" charset="0"/>
              </a:rPr>
              <a:t> 10,000 </a:t>
            </a:r>
            <a:r>
              <a:rPr lang="tr-TR" sz="1800" dirty="0" err="1" smtClean="0">
                <a:latin typeface="Arial Narrow" panose="020B0606020202030204" pitchFamily="34" charset="0"/>
              </a:rPr>
              <a:t>years</a:t>
            </a:r>
            <a:r>
              <a:rPr lang="tr-TR" sz="1800" dirty="0" smtClean="0">
                <a:latin typeface="Arial Narrow" panose="020B0606020202030204" pitchFamily="34" charset="0"/>
              </a:rPr>
              <a:t> </a:t>
            </a:r>
            <a:r>
              <a:rPr lang="tr-TR" sz="1800" dirty="0" err="1" smtClean="0">
                <a:latin typeface="Arial Narrow" panose="020B0606020202030204" pitchFamily="34" charset="0"/>
              </a:rPr>
              <a:t>ago</a:t>
            </a:r>
            <a:r>
              <a:rPr lang="tr-TR" sz="1800" dirty="0" smtClean="0">
                <a:latin typeface="Arial Narrow" panose="020B0606020202030204" pitchFamily="34" charset="0"/>
              </a:rPr>
              <a:t> in </a:t>
            </a:r>
            <a:r>
              <a:rPr lang="tr-TR" sz="1800" dirty="0" err="1" smtClean="0">
                <a:latin typeface="Arial Narrow" panose="020B0606020202030204" pitchFamily="34" charset="0"/>
              </a:rPr>
              <a:t>Mesopothamia</a:t>
            </a:r>
            <a:r>
              <a:rPr lang="tr-TR" sz="1800" dirty="0" smtClean="0">
                <a:latin typeface="Arial Narrow" panose="020B0606020202030204" pitchFamily="34" charset="0"/>
              </a:rPr>
              <a:t>;</a:t>
            </a:r>
          </a:p>
          <a:p>
            <a:pPr marL="0" lvl="1" indent="0" algn="ctr">
              <a:spcBef>
                <a:spcPts val="0"/>
              </a:spcBef>
              <a:buNone/>
            </a:pPr>
            <a:r>
              <a:rPr lang="tr-TR" sz="1800" dirty="0" err="1" smtClean="0">
                <a:latin typeface="Arial Narrow" panose="020B0606020202030204" pitchFamily="34" charset="0"/>
              </a:rPr>
              <a:t>until</a:t>
            </a:r>
            <a:r>
              <a:rPr lang="tr-TR" sz="1800" dirty="0" smtClean="0">
                <a:latin typeface="Arial Narrow" panose="020B0606020202030204" pitchFamily="34" charset="0"/>
              </a:rPr>
              <a:t> </a:t>
            </a:r>
            <a:r>
              <a:rPr lang="tr-TR" sz="1800" dirty="0" err="1" smtClean="0">
                <a:latin typeface="Arial Narrow" panose="020B0606020202030204" pitchFamily="34" charset="0"/>
              </a:rPr>
              <a:t>then</a:t>
            </a:r>
            <a:r>
              <a:rPr lang="tr-TR" sz="1800" dirty="0" smtClean="0">
                <a:latin typeface="Arial Narrow" panose="020B0606020202030204" pitchFamily="34" charset="0"/>
              </a:rPr>
              <a:t> </a:t>
            </a:r>
            <a:r>
              <a:rPr lang="tr-TR" sz="1800" dirty="0" err="1" smtClean="0">
                <a:latin typeface="Arial Narrow" panose="020B0606020202030204" pitchFamily="34" charset="0"/>
              </a:rPr>
              <a:t>humans</a:t>
            </a:r>
            <a:r>
              <a:rPr lang="tr-TR" sz="1800" dirty="0" smtClean="0">
                <a:latin typeface="Arial Narrow" panose="020B0606020202030204" pitchFamily="34" charset="0"/>
              </a:rPr>
              <a:t> </a:t>
            </a:r>
            <a:r>
              <a:rPr lang="tr-TR" sz="1800" dirty="0" err="1" smtClean="0">
                <a:latin typeface="Arial Narrow" panose="020B0606020202030204" pitchFamily="34" charset="0"/>
              </a:rPr>
              <a:t>were</a:t>
            </a:r>
            <a:r>
              <a:rPr lang="tr-TR" sz="1800" dirty="0" smtClean="0">
                <a:latin typeface="Arial Narrow" panose="020B0606020202030204" pitchFamily="34" charset="0"/>
              </a:rPr>
              <a:t> ″</a:t>
            </a:r>
            <a:r>
              <a:rPr lang="tr-TR" sz="1800" dirty="0" err="1" smtClean="0">
                <a:latin typeface="Arial Narrow" panose="020B0606020202030204" pitchFamily="34" charset="0"/>
              </a:rPr>
              <a:t>gatherers</a:t>
            </a:r>
            <a:r>
              <a:rPr lang="tr-TR" sz="1800" dirty="0" smtClean="0">
                <a:latin typeface="Arial Narrow" panose="020B0606020202030204" pitchFamily="34" charset="0"/>
              </a:rPr>
              <a:t>″ </a:t>
            </a: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hunters</a:t>
            </a:r>
            <a:r>
              <a:rPr lang="tr-TR" sz="1800" dirty="0">
                <a:latin typeface="Arial Narrow" panose="020B0606020202030204" pitchFamily="34" charset="0"/>
              </a:rPr>
              <a:t>″.</a:t>
            </a:r>
            <a:endParaRPr lang="tr-TR" sz="1800" dirty="0" smtClean="0">
              <a:latin typeface="Arial Narrow" panose="020B0606020202030204" pitchFamily="34" charset="0"/>
            </a:endParaRPr>
          </a:p>
          <a:p>
            <a:pPr marL="0" lvl="1" indent="0" algn="ctr">
              <a:spcBef>
                <a:spcPts val="0"/>
              </a:spcBef>
              <a:buNone/>
            </a:pPr>
            <a:r>
              <a:rPr lang="tr-TR" sz="1800" dirty="0" err="1" smtClean="0">
                <a:latin typeface="Arial Narrow" panose="020B0606020202030204" pitchFamily="34" charset="0"/>
              </a:rPr>
              <a:t>With</a:t>
            </a:r>
            <a:r>
              <a:rPr lang="tr-TR" sz="1800" dirty="0" smtClean="0">
                <a:latin typeface="Arial Narrow" panose="020B0606020202030204" pitchFamily="34" charset="0"/>
              </a:rPr>
              <a:t> </a:t>
            </a:r>
            <a:r>
              <a:rPr lang="tr-TR" sz="1800" dirty="0" err="1" smtClean="0">
                <a:latin typeface="Arial Narrow" panose="020B0606020202030204" pitchFamily="34" charset="0"/>
              </a:rPr>
              <a:t>agriculture</a:t>
            </a:r>
            <a:r>
              <a:rPr lang="tr-TR" sz="1800" dirty="0" smtClean="0">
                <a:latin typeface="Arial Narrow" panose="020B0606020202030204" pitchFamily="34" charset="0"/>
              </a:rPr>
              <a:t>, </a:t>
            </a:r>
            <a:r>
              <a:rPr lang="tr-TR" sz="1800" dirty="0" err="1" smtClean="0">
                <a:latin typeface="Arial Narrow" panose="020B0606020202030204" pitchFamily="34" charset="0"/>
              </a:rPr>
              <a:t>they</a:t>
            </a:r>
            <a:r>
              <a:rPr lang="tr-TR" sz="1800" dirty="0" smtClean="0">
                <a:latin typeface="Arial Narrow" panose="020B0606020202030204" pitchFamily="34" charset="0"/>
              </a:rPr>
              <a:t> </a:t>
            </a:r>
            <a:r>
              <a:rPr lang="tr-TR" sz="1800" dirty="0" err="1" smtClean="0">
                <a:latin typeface="Arial Narrow" panose="020B0606020202030204" pitchFamily="34" charset="0"/>
              </a:rPr>
              <a:t>became</a:t>
            </a:r>
            <a:r>
              <a:rPr lang="tr-TR" sz="1800" dirty="0" smtClean="0">
                <a:latin typeface="Arial Narrow" panose="020B0606020202030204" pitchFamily="34" charset="0"/>
              </a:rPr>
              <a:t> ″</a:t>
            </a:r>
            <a:r>
              <a:rPr lang="tr-TR" sz="1800" dirty="0" err="1" smtClean="0">
                <a:latin typeface="Arial Narrow" panose="020B0606020202030204" pitchFamily="34" charset="0"/>
              </a:rPr>
              <a:t>producers</a:t>
            </a:r>
            <a:r>
              <a:rPr lang="tr-TR" sz="1800" dirty="0" smtClean="0">
                <a:latin typeface="Arial Narrow" panose="020B0606020202030204" pitchFamily="34" charset="0"/>
              </a:rPr>
              <a:t>″;</a:t>
            </a:r>
          </a:p>
          <a:p>
            <a:pPr marL="0" lvl="1" indent="0" algn="ctr">
              <a:spcBef>
                <a:spcPts val="0"/>
              </a:spcBef>
              <a:buNone/>
            </a:pPr>
            <a:r>
              <a:rPr lang="tr-TR" sz="1800" dirty="0" err="1" smtClean="0">
                <a:latin typeface="Arial Narrow" panose="020B0606020202030204" pitchFamily="34" charset="0"/>
              </a:rPr>
              <a:t>surplus</a:t>
            </a:r>
            <a:r>
              <a:rPr lang="tr-TR" sz="1800" dirty="0" smtClean="0">
                <a:latin typeface="Arial Narrow" panose="020B0606020202030204" pitchFamily="34" charset="0"/>
              </a:rPr>
              <a:t> </a:t>
            </a:r>
            <a:r>
              <a:rPr lang="tr-TR" sz="1800" dirty="0" err="1" smtClean="0">
                <a:latin typeface="Arial Narrow" panose="020B0606020202030204" pitchFamily="34" charset="0"/>
              </a:rPr>
              <a:t>production</a:t>
            </a:r>
            <a:r>
              <a:rPr lang="tr-TR" sz="1800" dirty="0" smtClean="0">
                <a:latin typeface="Arial Narrow" panose="020B0606020202030204" pitchFamily="34" charset="0"/>
              </a:rPr>
              <a:t> </a:t>
            </a:r>
            <a:r>
              <a:rPr lang="tr-TR" sz="1800" dirty="0" err="1" smtClean="0">
                <a:latin typeface="Arial Narrow" panose="020B0606020202030204" pitchFamily="34" charset="0"/>
              </a:rPr>
              <a:t>made</a:t>
            </a:r>
            <a:r>
              <a:rPr lang="tr-TR" sz="1800" dirty="0" smtClean="0">
                <a:latin typeface="Arial Narrow" panose="020B0606020202030204" pitchFamily="34" charset="0"/>
              </a:rPr>
              <a:t> </a:t>
            </a:r>
            <a:r>
              <a:rPr lang="tr-TR" sz="1800" dirty="0" err="1" smtClean="0">
                <a:latin typeface="Arial Narrow" panose="020B0606020202030204" pitchFamily="34" charset="0"/>
              </a:rPr>
              <a:t>them</a:t>
            </a:r>
            <a:r>
              <a:rPr lang="tr-TR" sz="1800" dirty="0" smtClean="0">
                <a:latin typeface="Arial Narrow" panose="020B0606020202030204" pitchFamily="34" charset="0"/>
              </a:rPr>
              <a:t> ″</a:t>
            </a:r>
            <a:r>
              <a:rPr lang="tr-TR" sz="1800" dirty="0" err="1" smtClean="0">
                <a:latin typeface="Arial Narrow" panose="020B0606020202030204" pitchFamily="34" charset="0"/>
              </a:rPr>
              <a:t>traders</a:t>
            </a:r>
            <a:r>
              <a:rPr lang="tr-TR" sz="1800" dirty="0" smtClean="0">
                <a:latin typeface="Arial Narrow" panose="020B0606020202030204" pitchFamily="34" charset="0"/>
              </a:rPr>
              <a:t>″.</a:t>
            </a:r>
          </a:p>
          <a:p>
            <a:pPr marL="0" lvl="1" indent="0" algn="ctr">
              <a:spcBef>
                <a:spcPts val="0"/>
              </a:spcBef>
              <a:buNone/>
            </a:pPr>
            <a:r>
              <a:rPr lang="tr-TR" sz="1800" dirty="0" smtClean="0">
                <a:latin typeface="Arial Narrow" panose="020B0606020202030204" pitchFamily="34" charset="0"/>
              </a:rPr>
              <a:t>″</a:t>
            </a:r>
            <a:r>
              <a:rPr lang="tr-TR" sz="1800" dirty="0" err="1">
                <a:latin typeface="Arial Narrow" panose="020B0606020202030204" pitchFamily="34" charset="0"/>
              </a:rPr>
              <a:t>T</a:t>
            </a:r>
            <a:r>
              <a:rPr lang="tr-TR" sz="1800" dirty="0" err="1" smtClean="0">
                <a:latin typeface="Arial Narrow" panose="020B0606020202030204" pitchFamily="34" charset="0"/>
              </a:rPr>
              <a:t>rading</a:t>
            </a:r>
            <a:r>
              <a:rPr lang="tr-TR" sz="1800" dirty="0" smtClean="0">
                <a:latin typeface="Arial Narrow" panose="020B0606020202030204" pitchFamily="34" charset="0"/>
              </a:rPr>
              <a:t>″ </a:t>
            </a:r>
            <a:r>
              <a:rPr lang="tr-TR" sz="1800" dirty="0" err="1" smtClean="0">
                <a:latin typeface="Arial Narrow" panose="020B0606020202030204" pitchFamily="34" charset="0"/>
              </a:rPr>
              <a:t>introduced</a:t>
            </a:r>
            <a:r>
              <a:rPr lang="tr-TR" sz="1800" dirty="0" smtClean="0">
                <a:latin typeface="Arial Narrow" panose="020B0606020202030204" pitchFamily="34" charset="0"/>
              </a:rPr>
              <a:t> </a:t>
            </a:r>
            <a:r>
              <a:rPr lang="tr-TR" sz="1800" dirty="0">
                <a:latin typeface="Arial Narrow" panose="020B0606020202030204" pitchFamily="34" charset="0"/>
              </a:rPr>
              <a:t>″</a:t>
            </a:r>
            <a:r>
              <a:rPr lang="tr-TR" sz="1800" dirty="0" err="1" smtClean="0">
                <a:latin typeface="Arial Narrow" panose="020B0606020202030204" pitchFamily="34" charset="0"/>
              </a:rPr>
              <a:t>sharing</a:t>
            </a:r>
            <a:r>
              <a:rPr lang="tr-TR" sz="1800" dirty="0" smtClean="0">
                <a:latin typeface="Arial Narrow" panose="020B0606020202030204" pitchFamily="34" charset="0"/>
              </a:rPr>
              <a:t>″.</a:t>
            </a:r>
            <a:endParaRPr lang="tr-TR" sz="1800" dirty="0">
              <a:latin typeface="Arial Narrow" panose="020B0606020202030204" pitchFamily="34" charset="0"/>
            </a:endParaRPr>
          </a:p>
          <a:p>
            <a:pPr marL="0" lvl="1" indent="0" algn="ctr">
              <a:spcBef>
                <a:spcPts val="0"/>
              </a:spcBef>
              <a:buNone/>
            </a:pPr>
            <a:endParaRPr lang="tr-TR" sz="1800" dirty="0">
              <a:latin typeface="Arial Narrow" panose="020B0606020202030204" pitchFamily="34" charset="0"/>
            </a:endParaRPr>
          </a:p>
          <a:p>
            <a:pPr marL="0" lvl="1" indent="0" algn="ctr">
              <a:spcBef>
                <a:spcPts val="0"/>
              </a:spcBef>
              <a:buNone/>
            </a:pPr>
            <a:r>
              <a:rPr lang="tr-TR" sz="1800" dirty="0" err="1" smtClean="0">
                <a:solidFill>
                  <a:srgbClr val="C00000"/>
                </a:solidFill>
                <a:latin typeface="Arial Narrow" panose="020B0606020202030204" pitchFamily="34" charset="0"/>
              </a:rPr>
              <a:t>So</a:t>
            </a:r>
            <a:r>
              <a:rPr lang="tr-TR" sz="1800" dirty="0" smtClean="0">
                <a:solidFill>
                  <a:srgbClr val="C00000"/>
                </a:solidFill>
                <a:latin typeface="Arial Narrow" panose="020B0606020202030204" pitchFamily="34" charset="0"/>
              </a:rPr>
              <a:t> </a:t>
            </a:r>
            <a:r>
              <a:rPr lang="tr-TR" sz="1800" dirty="0" err="1" smtClean="0">
                <a:solidFill>
                  <a:srgbClr val="C00000"/>
                </a:solidFill>
                <a:latin typeface="Arial Narrow" panose="020B0606020202030204" pitchFamily="34" charset="0"/>
              </a:rPr>
              <a:t>appeared</a:t>
            </a:r>
            <a:r>
              <a:rPr lang="tr-TR" sz="1800" dirty="0" smtClean="0">
                <a:solidFill>
                  <a:srgbClr val="C00000"/>
                </a:solidFill>
                <a:latin typeface="Arial Narrow" panose="020B0606020202030204" pitchFamily="34" charset="0"/>
              </a:rPr>
              <a:t> </a:t>
            </a:r>
            <a:r>
              <a:rPr lang="tr-TR" sz="1800" dirty="0" err="1" smtClean="0">
                <a:solidFill>
                  <a:srgbClr val="C00000"/>
                </a:solidFill>
                <a:latin typeface="Arial Narrow" panose="020B0606020202030204" pitchFamily="34" charset="0"/>
              </a:rPr>
              <a:t>the</a:t>
            </a:r>
            <a:r>
              <a:rPr lang="tr-TR" sz="1800" dirty="0" smtClean="0">
                <a:solidFill>
                  <a:srgbClr val="C00000"/>
                </a:solidFill>
                <a:latin typeface="Arial Narrow" panose="020B0606020202030204" pitchFamily="34" charset="0"/>
              </a:rPr>
              <a:t> ″</a:t>
            </a:r>
            <a:r>
              <a:rPr lang="tr-TR" sz="1800" dirty="0" err="1" smtClean="0">
                <a:solidFill>
                  <a:srgbClr val="C00000"/>
                </a:solidFill>
                <a:latin typeface="Arial Narrow" panose="020B0606020202030204" pitchFamily="34" charset="0"/>
              </a:rPr>
              <a:t>economy</a:t>
            </a:r>
            <a:r>
              <a:rPr lang="tr-TR" sz="1800" dirty="0" smtClean="0">
                <a:solidFill>
                  <a:srgbClr val="C00000"/>
                </a:solidFill>
                <a:latin typeface="Arial Narrow" panose="020B0606020202030204" pitchFamily="34" charset="0"/>
              </a:rPr>
              <a:t>″.</a:t>
            </a:r>
          </a:p>
          <a:p>
            <a:pPr marL="0" lvl="1" indent="0" algn="ctr">
              <a:spcBef>
                <a:spcPts val="0"/>
              </a:spcBef>
              <a:buNone/>
            </a:pPr>
            <a:endParaRPr lang="tr-TR" sz="2000" dirty="0" smtClean="0">
              <a:latin typeface="Arial Narrow" panose="020B0606020202030204" pitchFamily="34" charset="0"/>
            </a:endParaRPr>
          </a:p>
          <a:p>
            <a:pPr marL="0" lvl="1" indent="0" algn="ctr">
              <a:spcBef>
                <a:spcPts val="0"/>
              </a:spcBef>
              <a:buNone/>
            </a:pPr>
            <a:endParaRPr lang="tr-TR" sz="2000" dirty="0" smtClean="0">
              <a:latin typeface="Arial Narrow" panose="020B0606020202030204" pitchFamily="34" charset="0"/>
            </a:endParaRPr>
          </a:p>
        </p:txBody>
      </p:sp>
    </p:spTree>
    <p:extLst>
      <p:ext uri="{BB962C8B-B14F-4D97-AF65-F5344CB8AC3E}">
        <p14:creationId xmlns:p14="http://schemas.microsoft.com/office/powerpoint/2010/main" val="33425706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rmAutofit/>
          </a:bodyPr>
          <a:lstStyle/>
          <a:p>
            <a:r>
              <a:rPr lang="tr-TR" sz="1400" dirty="0">
                <a:latin typeface="Arial Narrow" pitchFamily="34" charset="0"/>
              </a:rPr>
              <a:t>NTE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a:latin typeface="Arial Narrow" pitchFamily="34" charset="0"/>
              </a:rPr>
              <a:t/>
            </a:r>
            <a:br>
              <a:rPr lang="tr-TR" sz="1400" dirty="0">
                <a:latin typeface="Arial Narrow" pitchFamily="34" charset="0"/>
              </a:rPr>
            </a:br>
            <a:r>
              <a:rPr lang="tr-TR" sz="2400" dirty="0" smtClean="0">
                <a:solidFill>
                  <a:srgbClr val="800000"/>
                </a:solidFill>
                <a:latin typeface="Arial Narrow" pitchFamily="34" charset="0"/>
              </a:rPr>
              <a:t>Money</a:t>
            </a:r>
            <a:endParaRPr lang="tr-TR" sz="2400" dirty="0">
              <a:solidFill>
                <a:srgbClr val="800000"/>
              </a:solidFill>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1" indent="0" algn="ctr">
              <a:spcBef>
                <a:spcPts val="0"/>
              </a:spcBef>
              <a:buNone/>
            </a:pPr>
            <a:endParaRPr lang="tr-TR" sz="800" dirty="0" smtClean="0">
              <a:latin typeface="Arial Narrow" panose="020B0606020202030204" pitchFamily="34" charset="0"/>
            </a:endParaRPr>
          </a:p>
          <a:p>
            <a:pPr marL="0" lvl="1" indent="0" algn="ctr">
              <a:spcBef>
                <a:spcPts val="0"/>
              </a:spcBef>
              <a:buNone/>
            </a:pPr>
            <a:r>
              <a:rPr lang="tr-TR" sz="1800" dirty="0" err="1" smtClean="0">
                <a:latin typeface="Arial Narrow" panose="020B0606020202030204" pitchFamily="34" charset="0"/>
              </a:rPr>
              <a:t>Trading</a:t>
            </a:r>
            <a:r>
              <a:rPr lang="tr-TR" sz="1800" dirty="0" smtClean="0">
                <a:latin typeface="Arial Narrow" panose="020B0606020202030204" pitchFamily="34" charset="0"/>
              </a:rPr>
              <a:t> of </a:t>
            </a:r>
            <a:r>
              <a:rPr lang="tr-TR" sz="1800" dirty="0" err="1" smtClean="0">
                <a:latin typeface="Arial Narrow" panose="020B0606020202030204" pitchFamily="34" charset="0"/>
              </a:rPr>
              <a:t>goods</a:t>
            </a:r>
            <a:r>
              <a:rPr lang="tr-TR" sz="1800" dirty="0" smtClean="0">
                <a:latin typeface="Arial Narrow" panose="020B0606020202030204" pitchFamily="34" charset="0"/>
              </a:rPr>
              <a:t> </a:t>
            </a:r>
            <a:r>
              <a:rPr lang="tr-TR" sz="1800" dirty="0" err="1" smtClean="0">
                <a:latin typeface="Arial Narrow" panose="020B0606020202030204" pitchFamily="34" charset="0"/>
              </a:rPr>
              <a:t>was</a:t>
            </a:r>
            <a:r>
              <a:rPr lang="tr-TR" sz="1800" dirty="0" smtClean="0">
                <a:latin typeface="Arial Narrow" panose="020B0606020202030204" pitchFamily="34" charset="0"/>
              </a:rPr>
              <a:t> </a:t>
            </a:r>
            <a:r>
              <a:rPr lang="tr-TR" sz="1800" dirty="0" err="1" smtClean="0">
                <a:latin typeface="Arial Narrow" panose="020B0606020202030204" pitchFamily="34" charset="0"/>
              </a:rPr>
              <a:t>cumbersome</a:t>
            </a:r>
            <a:r>
              <a:rPr lang="tr-TR" sz="1800" dirty="0" smtClean="0">
                <a:latin typeface="Arial Narrow" panose="020B0606020202030204" pitchFamily="34" charset="0"/>
              </a:rPr>
              <a:t>;</a:t>
            </a:r>
          </a:p>
          <a:p>
            <a:pPr marL="0" lvl="1" indent="0" algn="ctr">
              <a:spcBef>
                <a:spcPts val="0"/>
              </a:spcBef>
              <a:buNone/>
            </a:pPr>
            <a:r>
              <a:rPr lang="tr-TR" sz="1800" dirty="0" smtClean="0">
                <a:latin typeface="Arial Narrow" panose="020B0606020202030204" pitchFamily="34" charset="0"/>
              </a:rPr>
              <a:t>it </a:t>
            </a:r>
            <a:r>
              <a:rPr lang="tr-TR" sz="1800" dirty="0" err="1" smtClean="0">
                <a:latin typeface="Arial Narrow" panose="020B0606020202030204" pitchFamily="34" charset="0"/>
              </a:rPr>
              <a:t>was</a:t>
            </a:r>
            <a:r>
              <a:rPr lang="tr-TR" sz="1800" dirty="0" smtClean="0">
                <a:latin typeface="Arial Narrow" panose="020B0606020202030204" pitchFamily="34" charset="0"/>
              </a:rPr>
              <a:t> not </a:t>
            </a:r>
            <a:r>
              <a:rPr lang="tr-TR" sz="1800" dirty="0" err="1" smtClean="0">
                <a:latin typeface="Arial Narrow" panose="020B0606020202030204" pitchFamily="34" charset="0"/>
              </a:rPr>
              <a:t>easy</a:t>
            </a:r>
            <a:r>
              <a:rPr lang="tr-TR" sz="1800" dirty="0" smtClean="0">
                <a:latin typeface="Arial Narrow" panose="020B0606020202030204" pitchFamily="34" charset="0"/>
              </a:rPr>
              <a:t> </a:t>
            </a: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find</a:t>
            </a:r>
            <a:r>
              <a:rPr lang="tr-TR" sz="1800" dirty="0" smtClean="0">
                <a:latin typeface="Arial Narrow" panose="020B0606020202030204" pitchFamily="34" charset="0"/>
              </a:rPr>
              <a:t> </a:t>
            </a:r>
            <a:r>
              <a:rPr lang="tr-TR" sz="1800" dirty="0" err="1" smtClean="0">
                <a:latin typeface="Arial Narrow" panose="020B0606020202030204" pitchFamily="34" charset="0"/>
              </a:rPr>
              <a:t>some</a:t>
            </a:r>
            <a:r>
              <a:rPr lang="tr-TR" sz="1800" dirty="0" smtClean="0">
                <a:latin typeface="Arial Narrow" panose="020B0606020202030204" pitchFamily="34" charset="0"/>
              </a:rPr>
              <a:t> </a:t>
            </a:r>
            <a:r>
              <a:rPr lang="tr-TR" sz="1800" dirty="0" err="1" smtClean="0">
                <a:latin typeface="Arial Narrow" panose="020B0606020202030204" pitchFamily="34" charset="0"/>
              </a:rPr>
              <a:t>who</a:t>
            </a:r>
            <a:r>
              <a:rPr lang="tr-TR" sz="1800" dirty="0" smtClean="0">
                <a:latin typeface="Arial Narrow" panose="020B0606020202030204" pitchFamily="34" charset="0"/>
              </a:rPr>
              <a:t> had </a:t>
            </a:r>
            <a:r>
              <a:rPr lang="tr-TR" sz="1800" dirty="0" err="1" smtClean="0">
                <a:latin typeface="Arial Narrow" panose="020B0606020202030204" pitchFamily="34" charset="0"/>
              </a:rPr>
              <a:t>what</a:t>
            </a:r>
            <a:r>
              <a:rPr lang="tr-TR" sz="1800" dirty="0" smtClean="0">
                <a:latin typeface="Arial Narrow" panose="020B0606020202030204" pitchFamily="34" charset="0"/>
              </a:rPr>
              <a:t> </a:t>
            </a:r>
            <a:r>
              <a:rPr lang="tr-TR" sz="1800" dirty="0" err="1" smtClean="0">
                <a:latin typeface="Arial Narrow" panose="020B0606020202030204" pitchFamily="34" charset="0"/>
              </a:rPr>
              <a:t>you</a:t>
            </a:r>
            <a:r>
              <a:rPr lang="tr-TR" sz="1800" dirty="0" smtClean="0">
                <a:latin typeface="Arial Narrow" panose="020B0606020202030204" pitchFamily="34" charset="0"/>
              </a:rPr>
              <a:t> </a:t>
            </a:r>
            <a:r>
              <a:rPr lang="tr-TR" sz="1800" dirty="0" err="1" smtClean="0">
                <a:latin typeface="Arial Narrow" panose="020B0606020202030204" pitchFamily="34" charset="0"/>
              </a:rPr>
              <a:t>needed</a:t>
            </a:r>
            <a:endParaRPr lang="tr-TR" sz="1800" dirty="0">
              <a:latin typeface="Arial Narrow" panose="020B0606020202030204" pitchFamily="34" charset="0"/>
            </a:endParaRPr>
          </a:p>
          <a:p>
            <a:pPr marL="0" lvl="1" indent="0" algn="ctr">
              <a:spcBef>
                <a:spcPts val="0"/>
              </a:spcBef>
              <a:buNone/>
            </a:pPr>
            <a:r>
              <a:rPr lang="tr-TR" sz="1800" dirty="0" err="1" smtClean="0">
                <a:latin typeface="Arial Narrow" panose="020B0606020202030204" pitchFamily="34" charset="0"/>
              </a:rPr>
              <a:t>and</a:t>
            </a:r>
            <a:r>
              <a:rPr lang="tr-TR" sz="1800" dirty="0" smtClean="0">
                <a:latin typeface="Arial Narrow" panose="020B0606020202030204" pitchFamily="34" charset="0"/>
              </a:rPr>
              <a:t>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same</a:t>
            </a:r>
            <a:r>
              <a:rPr lang="tr-TR" sz="1800" dirty="0" smtClean="0">
                <a:latin typeface="Arial Narrow" panose="020B0606020202030204" pitchFamily="34" charset="0"/>
              </a:rPr>
              <a:t> time </a:t>
            </a:r>
            <a:r>
              <a:rPr lang="tr-TR" sz="1800" dirty="0" err="1" smtClean="0">
                <a:latin typeface="Arial Narrow" panose="020B0606020202030204" pitchFamily="34" charset="0"/>
              </a:rPr>
              <a:t>who</a:t>
            </a:r>
            <a:r>
              <a:rPr lang="tr-TR" sz="1800" dirty="0" smtClean="0">
                <a:latin typeface="Arial Narrow" panose="020B0606020202030204" pitchFamily="34" charset="0"/>
              </a:rPr>
              <a:t> </a:t>
            </a:r>
            <a:r>
              <a:rPr lang="tr-TR" sz="1800" dirty="0" err="1" smtClean="0">
                <a:latin typeface="Arial Narrow" panose="020B0606020202030204" pitchFamily="34" charset="0"/>
              </a:rPr>
              <a:t>needed</a:t>
            </a:r>
            <a:r>
              <a:rPr lang="tr-TR" sz="1800" dirty="0" smtClean="0">
                <a:latin typeface="Arial Narrow" panose="020B0606020202030204" pitchFamily="34" charset="0"/>
              </a:rPr>
              <a:t> </a:t>
            </a:r>
            <a:r>
              <a:rPr lang="tr-TR" sz="1800" dirty="0" err="1" smtClean="0">
                <a:latin typeface="Arial Narrow" panose="020B0606020202030204" pitchFamily="34" charset="0"/>
              </a:rPr>
              <a:t>what</a:t>
            </a:r>
            <a:r>
              <a:rPr lang="tr-TR" sz="1800" dirty="0" smtClean="0">
                <a:latin typeface="Arial Narrow" panose="020B0606020202030204" pitchFamily="34" charset="0"/>
              </a:rPr>
              <a:t> </a:t>
            </a:r>
            <a:r>
              <a:rPr lang="tr-TR" sz="1800" dirty="0" err="1" smtClean="0">
                <a:latin typeface="Arial Narrow" panose="020B0606020202030204" pitchFamily="34" charset="0"/>
              </a:rPr>
              <a:t>you</a:t>
            </a:r>
            <a:r>
              <a:rPr lang="tr-TR" sz="1800" dirty="0" smtClean="0">
                <a:latin typeface="Arial Narrow" panose="020B0606020202030204" pitchFamily="34" charset="0"/>
              </a:rPr>
              <a:t> had.</a:t>
            </a:r>
          </a:p>
          <a:p>
            <a:pPr marL="0" lvl="1" indent="0" algn="ctr">
              <a:spcBef>
                <a:spcPts val="0"/>
              </a:spcBef>
              <a:buNone/>
            </a:pPr>
            <a:endParaRPr lang="tr-TR" sz="1800" dirty="0">
              <a:latin typeface="Arial Narrow" panose="020B0606020202030204" pitchFamily="34" charset="0"/>
            </a:endParaRPr>
          </a:p>
          <a:p>
            <a:pPr marL="0" lvl="1" indent="0" algn="ctr">
              <a:spcBef>
                <a:spcPts val="0"/>
              </a:spcBef>
              <a:buNone/>
            </a:pPr>
            <a:r>
              <a:rPr lang="tr-TR" sz="1800" dirty="0" smtClean="0">
                <a:solidFill>
                  <a:srgbClr val="800000"/>
                </a:solidFill>
                <a:latin typeface="Arial Narrow" panose="020B0606020202030204" pitchFamily="34" charset="0"/>
              </a:rPr>
              <a:t>″Money″ as </a:t>
            </a:r>
            <a:r>
              <a:rPr lang="tr-TR" sz="1800" dirty="0" err="1" smtClean="0">
                <a:solidFill>
                  <a:srgbClr val="800000"/>
                </a:solidFill>
                <a:latin typeface="Arial Narrow" panose="020B0606020202030204" pitchFamily="34" charset="0"/>
              </a:rPr>
              <a:t>the</a:t>
            </a:r>
            <a:r>
              <a:rPr lang="tr-TR" sz="1800" dirty="0" smtClean="0">
                <a:solidFill>
                  <a:srgbClr val="800000"/>
                </a:solidFill>
                <a:latin typeface="Arial Narrow" panose="020B0606020202030204" pitchFamily="34" charset="0"/>
              </a:rPr>
              <a:t> </a:t>
            </a:r>
            <a:r>
              <a:rPr lang="tr-TR" sz="1800" dirty="0" err="1" smtClean="0">
                <a:solidFill>
                  <a:srgbClr val="800000"/>
                </a:solidFill>
                <a:latin typeface="Arial Narrow" panose="020B0606020202030204" pitchFamily="34" charset="0"/>
              </a:rPr>
              <a:t>common</a:t>
            </a:r>
            <a:r>
              <a:rPr lang="tr-TR" sz="1800" dirty="0" smtClean="0">
                <a:solidFill>
                  <a:srgbClr val="800000"/>
                </a:solidFill>
                <a:latin typeface="Arial Narrow" panose="020B0606020202030204" pitchFamily="34" charset="0"/>
              </a:rPr>
              <a:t> </a:t>
            </a:r>
            <a:r>
              <a:rPr lang="tr-TR" sz="1800" dirty="0" err="1" smtClean="0">
                <a:solidFill>
                  <a:srgbClr val="800000"/>
                </a:solidFill>
                <a:latin typeface="Arial Narrow" panose="020B0606020202030204" pitchFamily="34" charset="0"/>
              </a:rPr>
              <a:t>denominator</a:t>
            </a:r>
            <a:r>
              <a:rPr lang="tr-TR" sz="1800" dirty="0" smtClean="0">
                <a:solidFill>
                  <a:srgbClr val="800000"/>
                </a:solidFill>
                <a:latin typeface="Arial Narrow" panose="020B0606020202030204" pitchFamily="34" charset="0"/>
              </a:rPr>
              <a:t> of </a:t>
            </a:r>
            <a:r>
              <a:rPr lang="tr-TR" sz="1800" dirty="0" err="1" smtClean="0">
                <a:solidFill>
                  <a:srgbClr val="800000"/>
                </a:solidFill>
                <a:latin typeface="Arial Narrow" panose="020B0606020202030204" pitchFamily="34" charset="0"/>
              </a:rPr>
              <a:t>trade</a:t>
            </a:r>
            <a:r>
              <a:rPr lang="tr-TR" sz="1800" dirty="0" smtClean="0">
                <a:solidFill>
                  <a:srgbClr val="800000"/>
                </a:solidFill>
                <a:latin typeface="Arial Narrow" panose="020B0606020202030204" pitchFamily="34" charset="0"/>
              </a:rPr>
              <a:t> </a:t>
            </a:r>
            <a:r>
              <a:rPr lang="tr-TR" sz="1800" dirty="0" err="1" smtClean="0">
                <a:solidFill>
                  <a:srgbClr val="800000"/>
                </a:solidFill>
                <a:latin typeface="Arial Narrow" panose="020B0606020202030204" pitchFamily="34" charset="0"/>
              </a:rPr>
              <a:t>made</a:t>
            </a:r>
            <a:r>
              <a:rPr lang="tr-TR" sz="1800" dirty="0" smtClean="0">
                <a:solidFill>
                  <a:srgbClr val="800000"/>
                </a:solidFill>
                <a:latin typeface="Arial Narrow" panose="020B0606020202030204" pitchFamily="34" charset="0"/>
              </a:rPr>
              <a:t> </a:t>
            </a:r>
            <a:r>
              <a:rPr lang="tr-TR" sz="1800" dirty="0" err="1" smtClean="0">
                <a:solidFill>
                  <a:srgbClr val="800000"/>
                </a:solidFill>
                <a:latin typeface="Arial Narrow" panose="020B0606020202030204" pitchFamily="34" charset="0"/>
              </a:rPr>
              <a:t>things</a:t>
            </a:r>
            <a:r>
              <a:rPr lang="tr-TR" sz="1800" dirty="0" smtClean="0">
                <a:solidFill>
                  <a:srgbClr val="800000"/>
                </a:solidFill>
                <a:latin typeface="Arial Narrow" panose="020B0606020202030204" pitchFamily="34" charset="0"/>
              </a:rPr>
              <a:t> </a:t>
            </a:r>
            <a:r>
              <a:rPr lang="tr-TR" sz="1800" dirty="0" err="1" smtClean="0">
                <a:solidFill>
                  <a:srgbClr val="800000"/>
                </a:solidFill>
                <a:latin typeface="Arial Narrow" panose="020B0606020202030204" pitchFamily="34" charset="0"/>
              </a:rPr>
              <a:t>easier</a:t>
            </a:r>
            <a:r>
              <a:rPr lang="tr-TR" sz="1800" dirty="0" smtClean="0">
                <a:solidFill>
                  <a:srgbClr val="800000"/>
                </a:solidFill>
                <a:latin typeface="Arial Narrow" panose="020B0606020202030204" pitchFamily="34" charset="0"/>
              </a:rPr>
              <a:t>.</a:t>
            </a:r>
          </a:p>
          <a:p>
            <a:pPr marL="0" lvl="1" indent="0" algn="ctr">
              <a:spcBef>
                <a:spcPts val="0"/>
              </a:spcBef>
              <a:buNone/>
            </a:pPr>
            <a:r>
              <a:rPr lang="tr-TR" sz="1800" dirty="0" smtClean="0">
                <a:solidFill>
                  <a:srgbClr val="800000"/>
                </a:solidFill>
                <a:latin typeface="Arial Narrow" panose="020B0606020202030204" pitchFamily="34" charset="0"/>
              </a:rPr>
              <a:t>First Money, in metal form, </a:t>
            </a:r>
            <a:r>
              <a:rPr lang="tr-TR" sz="1800" dirty="0" err="1" smtClean="0">
                <a:solidFill>
                  <a:srgbClr val="800000"/>
                </a:solidFill>
                <a:latin typeface="Arial Narrow" panose="020B0606020202030204" pitchFamily="34" charset="0"/>
              </a:rPr>
              <a:t>was</a:t>
            </a:r>
            <a:r>
              <a:rPr lang="tr-TR" sz="1800" dirty="0" smtClean="0">
                <a:solidFill>
                  <a:srgbClr val="800000"/>
                </a:solidFill>
                <a:latin typeface="Arial Narrow" panose="020B0606020202030204" pitchFamily="34" charset="0"/>
              </a:rPr>
              <a:t> </a:t>
            </a:r>
            <a:r>
              <a:rPr lang="tr-TR" sz="1800" dirty="0" err="1" smtClean="0">
                <a:solidFill>
                  <a:srgbClr val="800000"/>
                </a:solidFill>
                <a:latin typeface="Arial Narrow" panose="020B0606020202030204" pitchFamily="34" charset="0"/>
              </a:rPr>
              <a:t>used</a:t>
            </a:r>
            <a:r>
              <a:rPr lang="tr-TR" sz="1800" dirty="0" smtClean="0">
                <a:solidFill>
                  <a:srgbClr val="800000"/>
                </a:solidFill>
                <a:latin typeface="Arial Narrow" panose="020B0606020202030204" pitchFamily="34" charset="0"/>
              </a:rPr>
              <a:t> </a:t>
            </a:r>
            <a:r>
              <a:rPr lang="tr-TR" sz="1800" dirty="0" err="1" smtClean="0">
                <a:solidFill>
                  <a:srgbClr val="800000"/>
                </a:solidFill>
                <a:latin typeface="Arial Narrow" panose="020B0606020202030204" pitchFamily="34" charset="0"/>
              </a:rPr>
              <a:t>by</a:t>
            </a:r>
            <a:r>
              <a:rPr lang="tr-TR" sz="1800" dirty="0" smtClean="0">
                <a:solidFill>
                  <a:srgbClr val="800000"/>
                </a:solidFill>
                <a:latin typeface="Arial Narrow" panose="020B0606020202030204" pitchFamily="34" charset="0"/>
              </a:rPr>
              <a:t> </a:t>
            </a:r>
            <a:r>
              <a:rPr lang="tr-TR" sz="1800" dirty="0" err="1" smtClean="0">
                <a:solidFill>
                  <a:srgbClr val="800000"/>
                </a:solidFill>
                <a:latin typeface="Arial Narrow" panose="020B0606020202030204" pitchFamily="34" charset="0"/>
              </a:rPr>
              <a:t>the</a:t>
            </a:r>
            <a:r>
              <a:rPr lang="tr-TR" sz="1800" dirty="0" smtClean="0">
                <a:solidFill>
                  <a:srgbClr val="800000"/>
                </a:solidFill>
                <a:latin typeface="Arial Narrow" panose="020B0606020202030204" pitchFamily="34" charset="0"/>
              </a:rPr>
              <a:t> </a:t>
            </a:r>
            <a:r>
              <a:rPr lang="tr-TR" sz="1800" dirty="0" err="1" smtClean="0">
                <a:solidFill>
                  <a:srgbClr val="800000"/>
                </a:solidFill>
                <a:latin typeface="Arial Narrow" panose="020B0606020202030204" pitchFamily="34" charset="0"/>
              </a:rPr>
              <a:t>Lydians</a:t>
            </a:r>
            <a:r>
              <a:rPr lang="tr-TR" sz="1800" dirty="0" smtClean="0">
                <a:solidFill>
                  <a:srgbClr val="800000"/>
                </a:solidFill>
                <a:latin typeface="Arial Narrow" panose="020B0606020202030204" pitchFamily="34" charset="0"/>
              </a:rPr>
              <a:t> 2,700 </a:t>
            </a:r>
            <a:r>
              <a:rPr lang="tr-TR" sz="1800" dirty="0" err="1" smtClean="0">
                <a:solidFill>
                  <a:srgbClr val="800000"/>
                </a:solidFill>
                <a:latin typeface="Arial Narrow" panose="020B0606020202030204" pitchFamily="34" charset="0"/>
              </a:rPr>
              <a:t>years</a:t>
            </a:r>
            <a:r>
              <a:rPr lang="tr-TR" sz="1800" dirty="0" smtClean="0">
                <a:solidFill>
                  <a:srgbClr val="800000"/>
                </a:solidFill>
                <a:latin typeface="Arial Narrow" panose="020B0606020202030204" pitchFamily="34" charset="0"/>
              </a:rPr>
              <a:t> </a:t>
            </a:r>
            <a:r>
              <a:rPr lang="tr-TR" sz="1800" dirty="0" err="1" smtClean="0">
                <a:solidFill>
                  <a:srgbClr val="800000"/>
                </a:solidFill>
                <a:latin typeface="Arial Narrow" panose="020B0606020202030204" pitchFamily="34" charset="0"/>
              </a:rPr>
              <a:t>ago</a:t>
            </a:r>
            <a:endParaRPr lang="tr-TR" sz="1800" dirty="0" smtClean="0">
              <a:solidFill>
                <a:srgbClr val="800000"/>
              </a:solidFill>
              <a:latin typeface="Arial Narrow" panose="020B0606020202030204" pitchFamily="34" charset="0"/>
            </a:endParaRPr>
          </a:p>
          <a:p>
            <a:pPr marL="0" lvl="1" indent="0" algn="ctr">
              <a:spcBef>
                <a:spcPts val="0"/>
              </a:spcBef>
              <a:buNone/>
            </a:pPr>
            <a:r>
              <a:rPr lang="tr-TR" sz="1800" dirty="0" err="1" smtClean="0">
                <a:latin typeface="Arial Narrow" panose="020B0606020202030204" pitchFamily="34" charset="0"/>
              </a:rPr>
              <a:t>who</a:t>
            </a:r>
            <a:r>
              <a:rPr lang="tr-TR" sz="1800" dirty="0" smtClean="0">
                <a:latin typeface="Arial Narrow" panose="020B0606020202030204" pitchFamily="34" charset="0"/>
              </a:rPr>
              <a:t> had </a:t>
            </a:r>
            <a:r>
              <a:rPr lang="tr-TR" sz="1800" dirty="0" err="1" smtClean="0">
                <a:latin typeface="Arial Narrow" panose="020B0606020202030204" pitchFamily="34" charset="0"/>
              </a:rPr>
              <a:t>lived</a:t>
            </a:r>
            <a:r>
              <a:rPr lang="tr-TR" sz="1800" dirty="0" smtClean="0">
                <a:latin typeface="Arial Narrow" panose="020B0606020202030204" pitchFamily="34" charset="0"/>
              </a:rPr>
              <a:t> in </a:t>
            </a: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around</a:t>
            </a:r>
            <a:r>
              <a:rPr lang="tr-TR" sz="1800" dirty="0" smtClean="0">
                <a:latin typeface="Arial Narrow" panose="020B0606020202030204" pitchFamily="34" charset="0"/>
              </a:rPr>
              <a:t> Teke Yarımadası of </a:t>
            </a:r>
            <a:r>
              <a:rPr lang="tr-TR" sz="1800" dirty="0" err="1" smtClean="0">
                <a:latin typeface="Arial Narrow" panose="020B0606020202030204" pitchFamily="34" charset="0"/>
              </a:rPr>
              <a:t>today</a:t>
            </a:r>
            <a:r>
              <a:rPr lang="tr-TR" sz="1800" dirty="0" smtClean="0">
                <a:latin typeface="Arial Narrow" panose="020B0606020202030204" pitchFamily="34" charset="0"/>
              </a:rPr>
              <a:t>.</a:t>
            </a:r>
          </a:p>
          <a:p>
            <a:pPr marL="0" lvl="1" indent="0" algn="ctr">
              <a:spcBef>
                <a:spcPts val="0"/>
              </a:spcBef>
              <a:buNone/>
            </a:pPr>
            <a:r>
              <a:rPr lang="tr-TR" sz="1800" dirty="0" err="1" smtClean="0">
                <a:latin typeface="Arial Narrow" panose="020B0606020202030204" pitchFamily="34" charset="0"/>
              </a:rPr>
              <a:t>Most</a:t>
            </a:r>
            <a:r>
              <a:rPr lang="tr-TR" sz="1800" dirty="0" smtClean="0">
                <a:latin typeface="Arial Narrow" panose="020B0606020202030204" pitchFamily="34" charset="0"/>
              </a:rPr>
              <a:t> </a:t>
            </a:r>
            <a:r>
              <a:rPr lang="tr-TR" sz="1800" dirty="0" err="1" smtClean="0">
                <a:latin typeface="Arial Narrow" panose="020B0606020202030204" pitchFamily="34" charset="0"/>
              </a:rPr>
              <a:t>precious</a:t>
            </a:r>
            <a:r>
              <a:rPr lang="tr-TR" sz="1800" dirty="0" smtClean="0">
                <a:latin typeface="Arial Narrow" panose="020B0606020202030204" pitchFamily="34" charset="0"/>
              </a:rPr>
              <a:t> metal </a:t>
            </a:r>
            <a:r>
              <a:rPr lang="tr-TR" sz="1800" dirty="0" err="1" smtClean="0">
                <a:latin typeface="Arial Narrow" panose="020B0606020202030204" pitchFamily="34" charset="0"/>
              </a:rPr>
              <a:t>money</a:t>
            </a:r>
            <a:r>
              <a:rPr lang="tr-TR" sz="1800" dirty="0" smtClean="0">
                <a:latin typeface="Arial Narrow" panose="020B0606020202030204" pitchFamily="34" charset="0"/>
              </a:rPr>
              <a:t> </a:t>
            </a:r>
            <a:r>
              <a:rPr lang="tr-TR" sz="1800" dirty="0" err="1" smtClean="0">
                <a:latin typeface="Arial Narrow" panose="020B0606020202030204" pitchFamily="34" charset="0"/>
              </a:rPr>
              <a:t>was</a:t>
            </a:r>
            <a:r>
              <a:rPr lang="tr-TR" sz="1800" dirty="0" smtClean="0">
                <a:latin typeface="Arial Narrow" panose="020B0606020202030204" pitchFamily="34" charset="0"/>
              </a:rPr>
              <a:t> in </a:t>
            </a:r>
            <a:r>
              <a:rPr lang="tr-TR" sz="1800" dirty="0" err="1" smtClean="0">
                <a:latin typeface="Arial Narrow" panose="020B0606020202030204" pitchFamily="34" charset="0"/>
              </a:rPr>
              <a:t>gold</a:t>
            </a:r>
            <a:r>
              <a:rPr lang="tr-TR" sz="1800" dirty="0" smtClean="0">
                <a:latin typeface="Arial Narrow" panose="020B0606020202030204" pitchFamily="34" charset="0"/>
              </a:rPr>
              <a:t>,</a:t>
            </a:r>
          </a:p>
          <a:p>
            <a:pPr marL="0" lvl="1" indent="0" algn="ctr">
              <a:spcBef>
                <a:spcPts val="0"/>
              </a:spcBef>
              <a:buNone/>
            </a:pPr>
            <a:r>
              <a:rPr lang="tr-TR" sz="1800" dirty="0" err="1">
                <a:latin typeface="Arial Narrow" panose="020B0606020202030204" pitchFamily="34" charset="0"/>
              </a:rPr>
              <a:t>s</a:t>
            </a:r>
            <a:r>
              <a:rPr lang="tr-TR" sz="1800" dirty="0" err="1" smtClean="0">
                <a:latin typeface="Arial Narrow" panose="020B0606020202030204" pitchFamily="34" charset="0"/>
              </a:rPr>
              <a:t>econdarily</a:t>
            </a:r>
            <a:r>
              <a:rPr lang="tr-TR" sz="1800" dirty="0" smtClean="0">
                <a:latin typeface="Arial Narrow" panose="020B0606020202030204" pitchFamily="34" charset="0"/>
              </a:rPr>
              <a:t> in </a:t>
            </a:r>
            <a:r>
              <a:rPr lang="tr-TR" sz="1800" dirty="0" err="1" smtClean="0">
                <a:latin typeface="Arial Narrow" panose="020B0606020202030204" pitchFamily="34" charset="0"/>
              </a:rPr>
              <a:t>silver</a:t>
            </a:r>
            <a:r>
              <a:rPr lang="tr-TR" sz="1800" dirty="0" smtClean="0">
                <a:latin typeface="Arial Narrow" panose="020B0606020202030204" pitchFamily="34" charset="0"/>
              </a:rPr>
              <a:t>.</a:t>
            </a:r>
          </a:p>
          <a:p>
            <a:pPr marL="0" lvl="1" indent="0" algn="ctr">
              <a:spcBef>
                <a:spcPts val="0"/>
              </a:spcBef>
              <a:buNone/>
            </a:pPr>
            <a:endParaRPr lang="tr-TR" sz="1800" dirty="0">
              <a:latin typeface="Arial Narrow" panose="020B0606020202030204" pitchFamily="34" charset="0"/>
            </a:endParaRPr>
          </a:p>
          <a:p>
            <a:pPr marL="0" lvl="1" indent="0" algn="ctr">
              <a:spcBef>
                <a:spcPts val="0"/>
              </a:spcBef>
              <a:buNone/>
            </a:pPr>
            <a:r>
              <a:rPr lang="tr-TR" sz="1800" dirty="0" smtClean="0">
                <a:latin typeface="Arial Narrow" panose="020B0606020202030204" pitchFamily="34" charset="0"/>
              </a:rPr>
              <a:t>As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production</a:t>
            </a:r>
            <a:r>
              <a:rPr lang="tr-TR" sz="1800" dirty="0" smtClean="0">
                <a:latin typeface="Arial Narrow" panose="020B0606020202030204" pitchFamily="34" charset="0"/>
              </a:rPr>
              <a:t> </a:t>
            </a: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trade</a:t>
            </a:r>
            <a:r>
              <a:rPr lang="tr-TR" sz="1800" dirty="0" smtClean="0">
                <a:latin typeface="Arial Narrow" panose="020B0606020202030204" pitchFamily="34" charset="0"/>
              </a:rPr>
              <a:t> </a:t>
            </a:r>
            <a:r>
              <a:rPr lang="tr-TR" sz="1800" dirty="0" err="1" smtClean="0">
                <a:latin typeface="Arial Narrow" panose="020B0606020202030204" pitchFamily="34" charset="0"/>
              </a:rPr>
              <a:t>increased</a:t>
            </a:r>
            <a:r>
              <a:rPr lang="tr-TR" sz="1800" dirty="0" smtClean="0">
                <a:latin typeface="Arial Narrow" panose="020B0606020202030204" pitchFamily="34" charset="0"/>
              </a:rPr>
              <a:t> in </a:t>
            </a:r>
            <a:r>
              <a:rPr lang="tr-TR" sz="1800" dirty="0" err="1" smtClean="0">
                <a:latin typeface="Arial Narrow" panose="020B0606020202030204" pitchFamily="34" charset="0"/>
              </a:rPr>
              <a:t>history</a:t>
            </a:r>
            <a:r>
              <a:rPr lang="tr-TR" sz="1800" dirty="0" smtClean="0">
                <a:latin typeface="Arial Narrow" panose="020B0606020202030204" pitchFamily="34" charset="0"/>
              </a:rPr>
              <a:t>,</a:t>
            </a:r>
          </a:p>
          <a:p>
            <a:pPr marL="0" lvl="1" indent="0" algn="ctr">
              <a:spcBef>
                <a:spcPts val="0"/>
              </a:spcBef>
              <a:buNone/>
            </a:pPr>
            <a:r>
              <a:rPr lang="tr-TR" sz="1800" dirty="0" err="1" smtClean="0">
                <a:latin typeface="Arial Narrow" panose="020B0606020202030204" pitchFamily="34" charset="0"/>
              </a:rPr>
              <a:t>supply</a:t>
            </a:r>
            <a:r>
              <a:rPr lang="tr-TR" sz="1800" dirty="0" smtClean="0">
                <a:latin typeface="Arial Narrow" panose="020B0606020202030204" pitchFamily="34" charset="0"/>
              </a:rPr>
              <a:t> of </a:t>
            </a:r>
            <a:r>
              <a:rPr lang="tr-TR" sz="1800" dirty="0" err="1" smtClean="0">
                <a:latin typeface="Arial Narrow" panose="020B0606020202030204" pitchFamily="34" charset="0"/>
              </a:rPr>
              <a:t>precious</a:t>
            </a:r>
            <a:r>
              <a:rPr lang="tr-TR" sz="1800" dirty="0" smtClean="0">
                <a:latin typeface="Arial Narrow" panose="020B0606020202030204" pitchFamily="34" charset="0"/>
              </a:rPr>
              <a:t> </a:t>
            </a:r>
            <a:r>
              <a:rPr lang="tr-TR" sz="1800" dirty="0" err="1" smtClean="0">
                <a:latin typeface="Arial Narrow" panose="020B0606020202030204" pitchFamily="34" charset="0"/>
              </a:rPr>
              <a:t>metals</a:t>
            </a:r>
            <a:r>
              <a:rPr lang="tr-TR" sz="1800" dirty="0" smtClean="0">
                <a:latin typeface="Arial Narrow" panose="020B0606020202030204" pitchFamily="34" charset="0"/>
              </a:rPr>
              <a:t> </a:t>
            </a:r>
            <a:r>
              <a:rPr lang="tr-TR" sz="1800" dirty="0" err="1" smtClean="0">
                <a:latin typeface="Arial Narrow" panose="020B0606020202030204" pitchFamily="34" charset="0"/>
              </a:rPr>
              <a:t>became</a:t>
            </a:r>
            <a:r>
              <a:rPr lang="tr-TR" sz="1800" dirty="0" smtClean="0">
                <a:latin typeface="Arial Narrow" panose="020B0606020202030204" pitchFamily="34" charset="0"/>
              </a:rPr>
              <a:t> </a:t>
            </a:r>
            <a:r>
              <a:rPr lang="tr-TR" sz="1800" dirty="0" err="1" smtClean="0">
                <a:latin typeface="Arial Narrow" panose="020B0606020202030204" pitchFamily="34" charset="0"/>
              </a:rPr>
              <a:t>insufficient</a:t>
            </a:r>
            <a:r>
              <a:rPr lang="tr-TR" sz="1800" dirty="0" smtClean="0">
                <a:latin typeface="Arial Narrow" panose="020B0606020202030204" pitchFamily="34" charset="0"/>
              </a:rPr>
              <a:t> in </a:t>
            </a:r>
            <a:r>
              <a:rPr lang="tr-TR" sz="1800" dirty="0" err="1" smtClean="0">
                <a:latin typeface="Arial Narrow" panose="020B0606020202030204" pitchFamily="34" charset="0"/>
              </a:rPr>
              <a:t>supporting</a:t>
            </a:r>
            <a:r>
              <a:rPr lang="tr-TR" sz="1800" dirty="0" smtClean="0">
                <a:latin typeface="Arial Narrow" panose="020B0606020202030204" pitchFamily="34" charset="0"/>
              </a:rPr>
              <a:t> </a:t>
            </a:r>
            <a:r>
              <a:rPr lang="tr-TR" sz="1800" dirty="0" err="1" smtClean="0">
                <a:latin typeface="Arial Narrow" panose="020B0606020202030204" pitchFamily="34" charset="0"/>
              </a:rPr>
              <a:t>world</a:t>
            </a:r>
            <a:r>
              <a:rPr lang="tr-TR" sz="1800" dirty="0" smtClean="0">
                <a:latin typeface="Arial Narrow" panose="020B0606020202030204" pitchFamily="34" charset="0"/>
              </a:rPr>
              <a:t> </a:t>
            </a:r>
            <a:r>
              <a:rPr lang="tr-TR" sz="1800" dirty="0" err="1" smtClean="0">
                <a:latin typeface="Arial Narrow" panose="020B0606020202030204" pitchFamily="34" charset="0"/>
              </a:rPr>
              <a:t>trade</a:t>
            </a:r>
            <a:r>
              <a:rPr lang="tr-TR" sz="1800" dirty="0" smtClean="0">
                <a:latin typeface="Arial Narrow" panose="020B0606020202030204" pitchFamily="34" charset="0"/>
              </a:rPr>
              <a:t>.</a:t>
            </a:r>
          </a:p>
          <a:p>
            <a:pPr marL="0" lvl="1" indent="0" algn="ctr">
              <a:spcBef>
                <a:spcPts val="0"/>
              </a:spcBef>
              <a:buNone/>
            </a:pPr>
            <a:r>
              <a:rPr lang="tr-TR" sz="1800" dirty="0" err="1" smtClean="0">
                <a:latin typeface="Arial Narrow" panose="020B0606020202030204" pitchFamily="34" charset="0"/>
              </a:rPr>
              <a:t>So</a:t>
            </a:r>
            <a:r>
              <a:rPr lang="tr-TR" sz="1800" dirty="0" smtClean="0">
                <a:latin typeface="Arial Narrow" panose="020B0606020202030204" pitchFamily="34" charset="0"/>
              </a:rPr>
              <a:t>, ″</a:t>
            </a:r>
            <a:r>
              <a:rPr lang="tr-TR" sz="1800" dirty="0" err="1" smtClean="0">
                <a:latin typeface="Arial Narrow" panose="020B0606020202030204" pitchFamily="34" charset="0"/>
              </a:rPr>
              <a:t>paper</a:t>
            </a:r>
            <a:r>
              <a:rPr lang="tr-TR" sz="1800" dirty="0" smtClean="0">
                <a:latin typeface="Arial Narrow" panose="020B0606020202030204" pitchFamily="34" charset="0"/>
              </a:rPr>
              <a:t> </a:t>
            </a:r>
            <a:r>
              <a:rPr lang="tr-TR" sz="1800" dirty="0" err="1" smtClean="0">
                <a:latin typeface="Arial Narrow" panose="020B0606020202030204" pitchFamily="34" charset="0"/>
              </a:rPr>
              <a:t>money</a:t>
            </a:r>
            <a:r>
              <a:rPr lang="tr-TR" sz="1800" dirty="0" smtClean="0">
                <a:latin typeface="Arial Narrow" panose="020B0606020202030204" pitchFamily="34" charset="0"/>
              </a:rPr>
              <a:t>″ </a:t>
            </a:r>
            <a:r>
              <a:rPr lang="tr-TR" sz="1800" dirty="0" err="1" smtClean="0">
                <a:latin typeface="Arial Narrow" panose="020B0606020202030204" pitchFamily="34" charset="0"/>
              </a:rPr>
              <a:t>appeared</a:t>
            </a:r>
            <a:r>
              <a:rPr lang="tr-TR" sz="1800" dirty="0" smtClean="0">
                <a:latin typeface="Arial Narrow" panose="020B0606020202030204" pitchFamily="34" charset="0"/>
              </a:rPr>
              <a:t> as a </a:t>
            </a:r>
            <a:r>
              <a:rPr lang="tr-TR" sz="1800" dirty="0" err="1" smtClean="0">
                <a:latin typeface="Arial Narrow" panose="020B0606020202030204" pitchFamily="34" charset="0"/>
              </a:rPr>
              <a:t>promise</a:t>
            </a:r>
            <a:r>
              <a:rPr lang="tr-TR" sz="1800" dirty="0" smtClean="0">
                <a:latin typeface="Arial Narrow" panose="020B0606020202030204" pitchFamily="34" charset="0"/>
              </a:rPr>
              <a:t> </a:t>
            </a: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give</a:t>
            </a:r>
            <a:r>
              <a:rPr lang="tr-TR" sz="1800" dirty="0" smtClean="0">
                <a:latin typeface="Arial Narrow" panose="020B0606020202030204" pitchFamily="34" charset="0"/>
              </a:rPr>
              <a:t> </a:t>
            </a:r>
            <a:r>
              <a:rPr lang="tr-TR" sz="1800" dirty="0" err="1" smtClean="0">
                <a:latin typeface="Arial Narrow" panose="020B0606020202030204" pitchFamily="34" charset="0"/>
              </a:rPr>
              <a:t>gold</a:t>
            </a:r>
            <a:r>
              <a:rPr lang="tr-TR" sz="1800" dirty="0" smtClean="0">
                <a:latin typeface="Arial Narrow" panose="020B0606020202030204" pitchFamily="34" charset="0"/>
              </a:rPr>
              <a:t> on </a:t>
            </a:r>
            <a:r>
              <a:rPr lang="tr-TR" sz="1800" dirty="0" err="1" smtClean="0">
                <a:latin typeface="Arial Narrow" panose="020B0606020202030204" pitchFamily="34" charset="0"/>
              </a:rPr>
              <a:t>demand</a:t>
            </a:r>
            <a:r>
              <a:rPr lang="tr-TR" sz="1800" dirty="0" smtClean="0">
                <a:latin typeface="Arial Narrow" panose="020B0606020202030204" pitchFamily="34" charset="0"/>
              </a:rPr>
              <a:t>.</a:t>
            </a:r>
          </a:p>
          <a:p>
            <a:pPr marL="0" lvl="1" indent="0" algn="ctr">
              <a:spcBef>
                <a:spcPts val="0"/>
              </a:spcBef>
              <a:buNone/>
            </a:pPr>
            <a:endParaRPr lang="tr-TR" sz="1800" dirty="0" smtClean="0">
              <a:latin typeface="Arial Narrow" panose="020B0606020202030204" pitchFamily="34" charset="0"/>
            </a:endParaRPr>
          </a:p>
          <a:p>
            <a:pPr marL="0" lvl="1" indent="0" algn="ctr">
              <a:spcBef>
                <a:spcPts val="0"/>
              </a:spcBef>
              <a:buNone/>
            </a:pPr>
            <a:r>
              <a:rPr lang="tr-TR" sz="1800" dirty="0" err="1" smtClean="0">
                <a:solidFill>
                  <a:srgbClr val="000066"/>
                </a:solidFill>
                <a:latin typeface="Arial Narrow" panose="020B0606020202030204" pitchFamily="34" charset="0"/>
              </a:rPr>
              <a:t>About</a:t>
            </a:r>
            <a:r>
              <a:rPr lang="tr-TR" sz="1800" dirty="0" smtClean="0">
                <a:solidFill>
                  <a:srgbClr val="000066"/>
                </a:solidFill>
                <a:latin typeface="Arial Narrow" panose="020B0606020202030204" pitchFamily="34" charset="0"/>
              </a:rPr>
              <a:t> 45 </a:t>
            </a:r>
            <a:r>
              <a:rPr lang="tr-TR" sz="1800" dirty="0" err="1" smtClean="0">
                <a:solidFill>
                  <a:srgbClr val="000066"/>
                </a:solidFill>
                <a:latin typeface="Arial Narrow" panose="020B0606020202030204" pitchFamily="34" charset="0"/>
              </a:rPr>
              <a:t>years</a:t>
            </a:r>
            <a:r>
              <a:rPr lang="tr-TR" sz="1800" dirty="0" smtClean="0">
                <a:solidFill>
                  <a:srgbClr val="000066"/>
                </a:solidFill>
                <a:latin typeface="Arial Narrow" panose="020B0606020202030204" pitchFamily="34" charset="0"/>
              </a:rPr>
              <a:t> </a:t>
            </a:r>
            <a:r>
              <a:rPr lang="tr-TR" sz="1800" dirty="0" err="1" smtClean="0">
                <a:solidFill>
                  <a:srgbClr val="000066"/>
                </a:solidFill>
                <a:latin typeface="Arial Narrow" panose="020B0606020202030204" pitchFamily="34" charset="0"/>
              </a:rPr>
              <a:t>ago</a:t>
            </a:r>
            <a:r>
              <a:rPr lang="tr-TR" sz="1800" dirty="0" smtClean="0">
                <a:solidFill>
                  <a:srgbClr val="000066"/>
                </a:solidFill>
                <a:latin typeface="Arial Narrow" panose="020B0606020202030204" pitchFamily="34" charset="0"/>
              </a:rPr>
              <a:t>, ″</a:t>
            </a:r>
            <a:r>
              <a:rPr lang="tr-TR" sz="1800" dirty="0" err="1" smtClean="0">
                <a:solidFill>
                  <a:srgbClr val="000066"/>
                </a:solidFill>
                <a:latin typeface="Arial Narrow" panose="020B0606020202030204" pitchFamily="34" charset="0"/>
              </a:rPr>
              <a:t>gold</a:t>
            </a:r>
            <a:r>
              <a:rPr lang="tr-TR" sz="1800" dirty="0" smtClean="0">
                <a:solidFill>
                  <a:srgbClr val="000066"/>
                </a:solidFill>
                <a:latin typeface="Arial Narrow" panose="020B0606020202030204" pitchFamily="34" charset="0"/>
              </a:rPr>
              <a:t> </a:t>
            </a:r>
            <a:r>
              <a:rPr lang="tr-TR" sz="1800" dirty="0" err="1" smtClean="0">
                <a:solidFill>
                  <a:srgbClr val="000066"/>
                </a:solidFill>
                <a:latin typeface="Arial Narrow" panose="020B0606020202030204" pitchFamily="34" charset="0"/>
              </a:rPr>
              <a:t>standard</a:t>
            </a:r>
            <a:r>
              <a:rPr lang="tr-TR" sz="1800" dirty="0" smtClean="0">
                <a:solidFill>
                  <a:srgbClr val="000066"/>
                </a:solidFill>
                <a:latin typeface="Arial Narrow" panose="020B0606020202030204" pitchFamily="34" charset="0"/>
              </a:rPr>
              <a:t>″ in </a:t>
            </a:r>
            <a:r>
              <a:rPr lang="tr-TR" sz="1800" dirty="0" err="1" smtClean="0">
                <a:solidFill>
                  <a:srgbClr val="000066"/>
                </a:solidFill>
                <a:latin typeface="Arial Narrow" panose="020B0606020202030204" pitchFamily="34" charset="0"/>
              </a:rPr>
              <a:t>paper</a:t>
            </a:r>
            <a:r>
              <a:rPr lang="tr-TR" sz="1800" dirty="0" smtClean="0">
                <a:solidFill>
                  <a:srgbClr val="000066"/>
                </a:solidFill>
                <a:latin typeface="Arial Narrow" panose="020B0606020202030204" pitchFamily="34" charset="0"/>
              </a:rPr>
              <a:t> </a:t>
            </a:r>
            <a:r>
              <a:rPr lang="tr-TR" sz="1800" dirty="0" err="1" smtClean="0">
                <a:solidFill>
                  <a:srgbClr val="000066"/>
                </a:solidFill>
                <a:latin typeface="Arial Narrow" panose="020B0606020202030204" pitchFamily="34" charset="0"/>
              </a:rPr>
              <a:t>money</a:t>
            </a:r>
            <a:r>
              <a:rPr lang="tr-TR" sz="1800" dirty="0" smtClean="0">
                <a:solidFill>
                  <a:srgbClr val="000066"/>
                </a:solidFill>
                <a:latin typeface="Arial Narrow" panose="020B0606020202030204" pitchFamily="34" charset="0"/>
              </a:rPr>
              <a:t> </a:t>
            </a:r>
            <a:r>
              <a:rPr lang="tr-TR" sz="1800" dirty="0" err="1" smtClean="0">
                <a:solidFill>
                  <a:srgbClr val="000066"/>
                </a:solidFill>
                <a:latin typeface="Arial Narrow" panose="020B0606020202030204" pitchFamily="34" charset="0"/>
              </a:rPr>
              <a:t>was</a:t>
            </a:r>
            <a:r>
              <a:rPr lang="tr-TR" sz="1800" dirty="0" smtClean="0">
                <a:solidFill>
                  <a:srgbClr val="000066"/>
                </a:solidFill>
                <a:latin typeface="Arial Narrow" panose="020B0606020202030204" pitchFamily="34" charset="0"/>
              </a:rPr>
              <a:t> </a:t>
            </a:r>
            <a:r>
              <a:rPr lang="tr-TR" sz="1800" dirty="0" err="1" smtClean="0">
                <a:solidFill>
                  <a:srgbClr val="000066"/>
                </a:solidFill>
                <a:latin typeface="Arial Narrow" panose="020B0606020202030204" pitchFamily="34" charset="0"/>
              </a:rPr>
              <a:t>abandoned</a:t>
            </a:r>
            <a:r>
              <a:rPr lang="tr-TR" sz="1800" dirty="0" smtClean="0">
                <a:solidFill>
                  <a:srgbClr val="000066"/>
                </a:solidFill>
                <a:latin typeface="Arial Narrow" panose="020B0606020202030204" pitchFamily="34" charset="0"/>
              </a:rPr>
              <a:t>.</a:t>
            </a:r>
          </a:p>
          <a:p>
            <a:pPr marL="0" lvl="1" indent="0" algn="ctr">
              <a:spcBef>
                <a:spcPts val="0"/>
              </a:spcBef>
              <a:buNone/>
            </a:pPr>
            <a:endParaRPr lang="tr-TR" sz="800" dirty="0" smtClean="0">
              <a:solidFill>
                <a:srgbClr val="0000CC"/>
              </a:solidFill>
              <a:latin typeface="Arial Narrow" panose="020B0606020202030204" pitchFamily="34" charset="0"/>
            </a:endParaRPr>
          </a:p>
          <a:p>
            <a:pPr marL="0" lvl="1" indent="0" algn="ctr">
              <a:spcBef>
                <a:spcPts val="0"/>
              </a:spcBef>
              <a:buNone/>
            </a:pPr>
            <a:endParaRPr lang="tr-TR" sz="2000" dirty="0" smtClean="0">
              <a:latin typeface="Arial Narrow" panose="020B0606020202030204" pitchFamily="34" charset="0"/>
            </a:endParaRPr>
          </a:p>
        </p:txBody>
      </p:sp>
    </p:spTree>
    <p:extLst>
      <p:ext uri="{BB962C8B-B14F-4D97-AF65-F5344CB8AC3E}">
        <p14:creationId xmlns:p14="http://schemas.microsoft.com/office/powerpoint/2010/main" val="35518710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807804" y="260648"/>
            <a:ext cx="3528392" cy="1143000"/>
          </a:xfrm>
          <a:ln w="25400">
            <a:noFill/>
          </a:ln>
        </p:spPr>
        <p:txBody>
          <a:bodyPr>
            <a:noAutofit/>
          </a:bodyPr>
          <a:lstStyle/>
          <a:p>
            <a:r>
              <a:rPr lang="tr-TR" sz="1400" dirty="0">
                <a:latin typeface="Arial Narrow" pitchFamily="34" charset="0"/>
              </a:rPr>
              <a:t>NTE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smtClean="0">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smtClean="0">
                <a:latin typeface="Arial Narrow" pitchFamily="34" charset="0"/>
              </a:rPr>
              <a:t>Money</a:t>
            </a:r>
            <a:r>
              <a:rPr lang="tr-TR" sz="2400" dirty="0">
                <a:solidFill>
                  <a:srgbClr val="800000"/>
                </a:solidFill>
                <a:latin typeface="Arial Narrow" pitchFamily="34" charset="0"/>
              </a:rPr>
              <a:t/>
            </a:r>
            <a:br>
              <a:rPr lang="tr-TR" sz="2400" dirty="0">
                <a:solidFill>
                  <a:srgbClr val="800000"/>
                </a:solidFill>
                <a:latin typeface="Arial Narrow" pitchFamily="34" charset="0"/>
              </a:rPr>
            </a:br>
            <a:r>
              <a:rPr lang="tr-TR" sz="2400" dirty="0" err="1">
                <a:solidFill>
                  <a:srgbClr val="800000"/>
                </a:solidFill>
                <a:latin typeface="Arial Narrow" pitchFamily="34" charset="0"/>
              </a:rPr>
              <a:t>Primary</a:t>
            </a:r>
            <a:r>
              <a:rPr lang="tr-TR" sz="2400" dirty="0">
                <a:solidFill>
                  <a:srgbClr val="800000"/>
                </a:solidFill>
                <a:latin typeface="Arial Narrow" pitchFamily="34" charset="0"/>
              </a:rPr>
              <a:t> </a:t>
            </a:r>
            <a:r>
              <a:rPr lang="tr-TR" sz="2400" dirty="0" err="1">
                <a:solidFill>
                  <a:srgbClr val="800000"/>
                </a:solidFill>
                <a:latin typeface="Arial Narrow" pitchFamily="34" charset="0"/>
              </a:rPr>
              <a:t>Functions</a:t>
            </a:r>
            <a:endParaRPr lang="tr-TR" sz="2400" dirty="0">
              <a:solidFill>
                <a:srgbClr val="800000"/>
              </a:solidFill>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1" indent="0" algn="ctr">
              <a:spcBef>
                <a:spcPts val="0"/>
              </a:spcBef>
              <a:buNone/>
            </a:pPr>
            <a:endParaRPr lang="tr-TR" sz="900" dirty="0">
              <a:latin typeface="Arial Narrow" panose="020B0606020202030204" pitchFamily="34" charset="0"/>
            </a:endParaRPr>
          </a:p>
          <a:p>
            <a:pPr marL="285750" lvl="1" algn="ctr">
              <a:spcBef>
                <a:spcPts val="0"/>
              </a:spcBef>
              <a:buFont typeface="Arial" panose="020B0604020202020204" pitchFamily="34" charset="0"/>
              <a:buChar char="•"/>
            </a:pPr>
            <a:r>
              <a:rPr lang="tr-TR" sz="1800" dirty="0">
                <a:latin typeface="Arial Narrow" panose="020B0606020202030204" pitchFamily="34" charset="0"/>
              </a:rPr>
              <a:t>Money in </a:t>
            </a:r>
            <a:r>
              <a:rPr lang="tr-TR" sz="1800" dirty="0" err="1">
                <a:latin typeface="Arial Narrow" panose="020B0606020202030204" pitchFamily="34" charset="0"/>
              </a:rPr>
              <a:t>the</a:t>
            </a:r>
            <a:r>
              <a:rPr lang="tr-TR" sz="1800" dirty="0">
                <a:latin typeface="Arial Narrow" panose="020B0606020202030204" pitchFamily="34" charset="0"/>
              </a:rPr>
              <a:t> form of </a:t>
            </a:r>
            <a:r>
              <a:rPr lang="tr-TR" sz="1800" dirty="0" err="1">
                <a:latin typeface="Arial Narrow" panose="020B0606020202030204" pitchFamily="34" charset="0"/>
              </a:rPr>
              <a:t>currency</a:t>
            </a:r>
            <a:r>
              <a:rPr lang="tr-TR" sz="1800" dirty="0">
                <a:latin typeface="Arial Narrow" panose="020B0606020202030204" pitchFamily="34" charset="0"/>
              </a:rPr>
              <a:t>, </a:t>
            </a:r>
            <a:r>
              <a:rPr lang="tr-TR" sz="1800" dirty="0" err="1">
                <a:latin typeface="Arial Narrow" panose="020B0606020202030204" pitchFamily="34" charset="0"/>
              </a:rPr>
              <a:t>checks</a:t>
            </a:r>
            <a:r>
              <a:rPr lang="tr-TR" sz="1800" dirty="0">
                <a:latin typeface="Arial Narrow" panose="020B0606020202030204" pitchFamily="34" charset="0"/>
              </a:rPr>
              <a:t> </a:t>
            </a:r>
            <a:r>
              <a:rPr lang="tr-TR" sz="1800" dirty="0" err="1">
                <a:latin typeface="Arial Narrow" panose="020B0606020202030204" pitchFamily="34" charset="0"/>
              </a:rPr>
              <a:t>or</a:t>
            </a:r>
            <a:r>
              <a:rPr lang="tr-TR" sz="1800" dirty="0">
                <a:latin typeface="Arial Narrow" panose="020B0606020202030204" pitchFamily="34" charset="0"/>
              </a:rPr>
              <a:t> </a:t>
            </a:r>
            <a:r>
              <a:rPr lang="tr-TR" sz="1800" dirty="0" err="1">
                <a:latin typeface="Arial Narrow" panose="020B0606020202030204" pitchFamily="34" charset="0"/>
              </a:rPr>
              <a:t>electronic</a:t>
            </a:r>
            <a:r>
              <a:rPr lang="tr-TR" sz="1800" dirty="0">
                <a:latin typeface="Arial Narrow" panose="020B0606020202030204" pitchFamily="34" charset="0"/>
              </a:rPr>
              <a:t> </a:t>
            </a:r>
            <a:r>
              <a:rPr lang="tr-TR" sz="1800" dirty="0" err="1">
                <a:latin typeface="Arial Narrow" panose="020B0606020202030204" pitchFamily="34" charset="0"/>
              </a:rPr>
              <a:t>cards</a:t>
            </a:r>
            <a:r>
              <a:rPr lang="tr-TR" sz="1800" dirty="0">
                <a:latin typeface="Arial Narrow" panose="020B0606020202030204" pitchFamily="34" charset="0"/>
              </a:rPr>
              <a:t> is</a:t>
            </a:r>
          </a:p>
          <a:p>
            <a:pPr marL="0" lvl="1" indent="0" algn="ctr">
              <a:spcBef>
                <a:spcPts val="0"/>
              </a:spcBef>
              <a:buNone/>
            </a:pPr>
            <a:r>
              <a:rPr lang="tr-TR" sz="1800" dirty="0">
                <a:latin typeface="Arial Narrow" panose="020B0606020202030204" pitchFamily="34" charset="0"/>
              </a:rPr>
              <a:t>a </a:t>
            </a:r>
            <a:r>
              <a:rPr lang="tr-TR" sz="1800" dirty="0" err="1">
                <a:solidFill>
                  <a:srgbClr val="800000"/>
                </a:solidFill>
                <a:latin typeface="Arial Narrow" panose="020B0606020202030204" pitchFamily="34" charset="0"/>
              </a:rPr>
              <a:t>Medium</a:t>
            </a:r>
            <a:r>
              <a:rPr lang="tr-TR" sz="1800" dirty="0">
                <a:solidFill>
                  <a:srgbClr val="800000"/>
                </a:solidFill>
                <a:latin typeface="Arial Narrow" panose="020B0606020202030204" pitchFamily="34" charset="0"/>
              </a:rPr>
              <a:t> of Exchange</a:t>
            </a:r>
            <a:r>
              <a:rPr lang="tr-TR" sz="1800" dirty="0">
                <a:latin typeface="Arial Narrow" panose="020B0606020202030204" pitchFamily="34" charset="0"/>
              </a:rPr>
              <a:t>;</a:t>
            </a:r>
          </a:p>
          <a:p>
            <a:pPr marL="0" lvl="1" indent="0" algn="ctr">
              <a:spcBef>
                <a:spcPts val="0"/>
              </a:spcBef>
              <a:buNone/>
            </a:pPr>
            <a:r>
              <a:rPr lang="tr-TR" sz="1800" dirty="0">
                <a:latin typeface="Arial Narrow" panose="020B0606020202030204" pitchFamily="34" charset="0"/>
              </a:rPr>
              <a:t>it is </a:t>
            </a:r>
            <a:r>
              <a:rPr lang="tr-TR" sz="1800" dirty="0" err="1">
                <a:latin typeface="Arial Narrow" panose="020B0606020202030204" pitchFamily="34" charset="0"/>
              </a:rPr>
              <a:t>used</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 pay </a:t>
            </a:r>
            <a:r>
              <a:rPr lang="tr-TR" sz="1800" dirty="0" err="1">
                <a:latin typeface="Arial Narrow" panose="020B0606020202030204" pitchFamily="34" charset="0"/>
              </a:rPr>
              <a:t>for</a:t>
            </a:r>
            <a:r>
              <a:rPr lang="tr-TR" sz="1800" dirty="0">
                <a:latin typeface="Arial Narrow" panose="020B0606020202030204" pitchFamily="34" charset="0"/>
              </a:rPr>
              <a:t> </a:t>
            </a:r>
            <a:r>
              <a:rPr lang="tr-TR" sz="1800" dirty="0" err="1">
                <a:latin typeface="Arial Narrow" panose="020B0606020202030204" pitchFamily="34" charset="0"/>
              </a:rPr>
              <a:t>goods</a:t>
            </a:r>
            <a:r>
              <a:rPr lang="tr-TR" sz="1800" dirty="0">
                <a:latin typeface="Arial Narrow" panose="020B0606020202030204" pitchFamily="34" charset="0"/>
              </a:rPr>
              <a:t> </a:t>
            </a:r>
            <a:r>
              <a:rPr lang="tr-TR" sz="1800" dirty="0" err="1">
                <a:latin typeface="Arial Narrow" panose="020B0606020202030204" pitchFamily="34" charset="0"/>
              </a:rPr>
              <a:t>and</a:t>
            </a:r>
            <a:r>
              <a:rPr lang="tr-TR" sz="1800" dirty="0">
                <a:latin typeface="Arial Narrow" panose="020B0606020202030204" pitchFamily="34" charset="0"/>
              </a:rPr>
              <a:t> </a:t>
            </a:r>
            <a:r>
              <a:rPr lang="tr-TR" sz="1800" dirty="0" err="1">
                <a:latin typeface="Arial Narrow" panose="020B0606020202030204" pitchFamily="34" charset="0"/>
              </a:rPr>
              <a:t>services</a:t>
            </a:r>
            <a:r>
              <a:rPr lang="tr-TR" sz="1800" dirty="0">
                <a:latin typeface="Arial Narrow" panose="020B0606020202030204" pitchFamily="34" charset="0"/>
              </a:rPr>
              <a:t>.</a:t>
            </a:r>
          </a:p>
          <a:p>
            <a:pPr marL="0" lvl="1" indent="0" algn="ctr">
              <a:spcBef>
                <a:spcPts val="0"/>
              </a:spcBef>
              <a:buNone/>
            </a:pPr>
            <a:endParaRPr lang="tr-TR" sz="400" dirty="0">
              <a:latin typeface="Arial Narrow" panose="020B0606020202030204" pitchFamily="34" charset="0"/>
            </a:endParaRPr>
          </a:p>
          <a:p>
            <a:pPr marL="0" lvl="1" indent="0" algn="ctr">
              <a:spcBef>
                <a:spcPts val="0"/>
              </a:spcBef>
              <a:buNone/>
            </a:pPr>
            <a:r>
              <a:rPr lang="tr-TR" sz="1600" dirty="0" err="1">
                <a:latin typeface="Arial Narrow" panose="020B0606020202030204" pitchFamily="34" charset="0"/>
              </a:rPr>
              <a:t>This</a:t>
            </a:r>
            <a:r>
              <a:rPr lang="tr-TR" sz="1600" dirty="0">
                <a:latin typeface="Arial Narrow" panose="020B0606020202030204" pitchFamily="34" charset="0"/>
              </a:rPr>
              <a:t> </a:t>
            </a:r>
            <a:r>
              <a:rPr lang="tr-TR" sz="1600" dirty="0" err="1">
                <a:latin typeface="Arial Narrow" panose="020B0606020202030204" pitchFamily="34" charset="0"/>
              </a:rPr>
              <a:t>promotes</a:t>
            </a:r>
            <a:r>
              <a:rPr lang="tr-TR" sz="1600" dirty="0">
                <a:latin typeface="Arial Narrow" panose="020B0606020202030204" pitchFamily="34" charset="0"/>
              </a:rPr>
              <a:t> </a:t>
            </a:r>
            <a:r>
              <a:rPr lang="tr-TR" sz="1600" dirty="0" err="1">
                <a:latin typeface="Arial Narrow" panose="020B0606020202030204" pitchFamily="34" charset="0"/>
              </a:rPr>
              <a:t>economic</a:t>
            </a:r>
            <a:r>
              <a:rPr lang="tr-TR" sz="1600" dirty="0">
                <a:latin typeface="Arial Narrow" panose="020B0606020202030204" pitchFamily="34" charset="0"/>
              </a:rPr>
              <a:t> </a:t>
            </a:r>
            <a:r>
              <a:rPr lang="tr-TR" sz="1600" dirty="0" err="1">
                <a:latin typeface="Arial Narrow" panose="020B0606020202030204" pitchFamily="34" charset="0"/>
              </a:rPr>
              <a:t>efficiency</a:t>
            </a:r>
            <a:r>
              <a:rPr lang="tr-TR" sz="1600" dirty="0">
                <a:latin typeface="Arial Narrow" panose="020B0606020202030204" pitchFamily="34" charset="0"/>
              </a:rPr>
              <a:t> </a:t>
            </a:r>
            <a:r>
              <a:rPr lang="tr-TR" sz="1600" dirty="0" err="1">
                <a:latin typeface="Arial Narrow" panose="020B0606020202030204" pitchFamily="34" charset="0"/>
              </a:rPr>
              <a:t>by</a:t>
            </a:r>
            <a:r>
              <a:rPr lang="tr-TR" sz="1600" dirty="0">
                <a:latin typeface="Arial Narrow" panose="020B0606020202030204" pitchFamily="34" charset="0"/>
              </a:rPr>
              <a:t> </a:t>
            </a:r>
            <a:r>
              <a:rPr lang="tr-TR" sz="1600" dirty="0" err="1">
                <a:latin typeface="Arial Narrow" panose="020B0606020202030204" pitchFamily="34" charset="0"/>
              </a:rPr>
              <a:t>minimizing</a:t>
            </a:r>
            <a:r>
              <a:rPr lang="tr-TR" sz="1600" dirty="0">
                <a:latin typeface="Arial Narrow" panose="020B0606020202030204" pitchFamily="34" charset="0"/>
              </a:rPr>
              <a:t> </a:t>
            </a:r>
            <a:r>
              <a:rPr lang="tr-TR" sz="1600" dirty="0" err="1">
                <a:latin typeface="Arial Narrow" panose="020B0606020202030204" pitchFamily="34" charset="0"/>
              </a:rPr>
              <a:t>the</a:t>
            </a:r>
            <a:r>
              <a:rPr lang="tr-TR" sz="1600" dirty="0">
                <a:latin typeface="Arial Narrow" panose="020B0606020202030204" pitchFamily="34" charset="0"/>
              </a:rPr>
              <a:t> time </a:t>
            </a:r>
            <a:r>
              <a:rPr lang="tr-TR" sz="1600" dirty="0" err="1">
                <a:latin typeface="Arial Narrow" panose="020B0606020202030204" pitchFamily="34" charset="0"/>
              </a:rPr>
              <a:t>spent</a:t>
            </a:r>
            <a:r>
              <a:rPr lang="tr-TR" sz="1600" dirty="0">
                <a:latin typeface="Arial Narrow" panose="020B0606020202030204" pitchFamily="34" charset="0"/>
              </a:rPr>
              <a:t> in </a:t>
            </a:r>
            <a:r>
              <a:rPr lang="tr-TR" sz="1600" dirty="0" err="1">
                <a:latin typeface="Arial Narrow" panose="020B0606020202030204" pitchFamily="34" charset="0"/>
              </a:rPr>
              <a:t>exchanging</a:t>
            </a:r>
            <a:r>
              <a:rPr lang="tr-TR" sz="1600" dirty="0">
                <a:latin typeface="Arial Narrow" panose="020B0606020202030204" pitchFamily="34" charset="0"/>
              </a:rPr>
              <a:t> </a:t>
            </a:r>
            <a:r>
              <a:rPr lang="tr-TR" sz="1600" dirty="0" err="1">
                <a:latin typeface="Arial Narrow" panose="020B0606020202030204" pitchFamily="34" charset="0"/>
              </a:rPr>
              <a:t>goods</a:t>
            </a:r>
            <a:r>
              <a:rPr lang="tr-TR" sz="1600" dirty="0">
                <a:latin typeface="Arial Narrow" panose="020B0606020202030204" pitchFamily="34" charset="0"/>
              </a:rPr>
              <a:t> </a:t>
            </a:r>
            <a:r>
              <a:rPr lang="tr-TR" sz="1600" dirty="0" err="1">
                <a:latin typeface="Arial Narrow" panose="020B0606020202030204" pitchFamily="34" charset="0"/>
              </a:rPr>
              <a:t>and</a:t>
            </a:r>
            <a:r>
              <a:rPr lang="tr-TR" sz="1600" dirty="0">
                <a:latin typeface="Arial Narrow" panose="020B0606020202030204" pitchFamily="34" charset="0"/>
              </a:rPr>
              <a:t> </a:t>
            </a:r>
            <a:r>
              <a:rPr lang="tr-TR" sz="1600" dirty="0" err="1">
                <a:latin typeface="Arial Narrow" panose="020B0606020202030204" pitchFamily="34" charset="0"/>
              </a:rPr>
              <a:t>services</a:t>
            </a:r>
            <a:r>
              <a:rPr lang="tr-TR" sz="1600" dirty="0">
                <a:latin typeface="Arial Narrow" panose="020B0606020202030204" pitchFamily="34" charset="0"/>
              </a:rPr>
              <a:t>.</a:t>
            </a:r>
          </a:p>
          <a:p>
            <a:pPr marL="0" lvl="1" indent="0" algn="ctr">
              <a:spcBef>
                <a:spcPts val="0"/>
              </a:spcBef>
              <a:buNone/>
            </a:pPr>
            <a:endParaRPr lang="tr-TR" sz="1800" dirty="0">
              <a:latin typeface="Arial Narrow" panose="020B0606020202030204" pitchFamily="34" charset="0"/>
            </a:endParaRPr>
          </a:p>
          <a:p>
            <a:pPr marL="285750" lvl="1" algn="ctr">
              <a:spcBef>
                <a:spcPts val="0"/>
              </a:spcBef>
              <a:buFont typeface="Arial" panose="020B0604020202020204" pitchFamily="34" charset="0"/>
              <a:buChar char="•"/>
            </a:pPr>
            <a:r>
              <a:rPr lang="tr-TR" sz="1800" dirty="0">
                <a:latin typeface="Arial Narrow" panose="020B0606020202030204" pitchFamily="34" charset="0"/>
              </a:rPr>
              <a:t>Money </a:t>
            </a:r>
            <a:r>
              <a:rPr lang="tr-TR" sz="1800" dirty="0" err="1">
                <a:latin typeface="Arial Narrow" panose="020B0606020202030204" pitchFamily="34" charset="0"/>
              </a:rPr>
              <a:t>provides</a:t>
            </a:r>
            <a:r>
              <a:rPr lang="tr-TR" sz="1800" dirty="0">
                <a:latin typeface="Arial Narrow" panose="020B0606020202030204" pitchFamily="34" charset="0"/>
              </a:rPr>
              <a:t> a </a:t>
            </a:r>
            <a:r>
              <a:rPr lang="tr-TR" sz="1800" dirty="0" err="1">
                <a:solidFill>
                  <a:srgbClr val="800000"/>
                </a:solidFill>
                <a:latin typeface="Arial Narrow" panose="020B0606020202030204" pitchFamily="34" charset="0"/>
              </a:rPr>
              <a:t>Unit</a:t>
            </a:r>
            <a:r>
              <a:rPr lang="tr-TR" sz="1800" dirty="0">
                <a:solidFill>
                  <a:srgbClr val="800000"/>
                </a:solidFill>
                <a:latin typeface="Arial Narrow" panose="020B0606020202030204" pitchFamily="34" charset="0"/>
              </a:rPr>
              <a:t> of </a:t>
            </a:r>
            <a:r>
              <a:rPr lang="tr-TR" sz="1800" dirty="0" err="1">
                <a:solidFill>
                  <a:srgbClr val="800000"/>
                </a:solidFill>
                <a:latin typeface="Arial Narrow" panose="020B0606020202030204" pitchFamily="34" charset="0"/>
              </a:rPr>
              <a:t>Account</a:t>
            </a:r>
            <a:r>
              <a:rPr lang="tr-TR" sz="1800" dirty="0">
                <a:latin typeface="Arial Narrow" panose="020B0606020202030204" pitchFamily="34" charset="0"/>
              </a:rPr>
              <a:t>;</a:t>
            </a:r>
          </a:p>
          <a:p>
            <a:pPr marL="0" lvl="1" indent="0" algn="ctr">
              <a:spcBef>
                <a:spcPts val="0"/>
              </a:spcBef>
              <a:buNone/>
            </a:pPr>
            <a:r>
              <a:rPr lang="tr-TR" sz="1800" dirty="0">
                <a:latin typeface="Arial Narrow" panose="020B0606020202030204" pitchFamily="34" charset="0"/>
              </a:rPr>
              <a:t>it is </a:t>
            </a:r>
            <a:r>
              <a:rPr lang="tr-TR" sz="1800" dirty="0" err="1">
                <a:latin typeface="Arial Narrow" panose="020B0606020202030204" pitchFamily="34" charset="0"/>
              </a:rPr>
              <a:t>used</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measure</a:t>
            </a:r>
            <a:r>
              <a:rPr lang="tr-TR" sz="1800" dirty="0">
                <a:latin typeface="Arial Narrow" panose="020B0606020202030204" pitchFamily="34" charset="0"/>
              </a:rPr>
              <a:t> </a:t>
            </a:r>
            <a:r>
              <a:rPr lang="tr-TR" sz="1800" dirty="0" err="1">
                <a:latin typeface="Arial Narrow" panose="020B0606020202030204" pitchFamily="34" charset="0"/>
              </a:rPr>
              <a:t>value</a:t>
            </a:r>
            <a:r>
              <a:rPr lang="tr-TR" sz="1800" dirty="0">
                <a:latin typeface="Arial Narrow" panose="020B0606020202030204" pitchFamily="34" charset="0"/>
              </a:rPr>
              <a:t> in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economy</a:t>
            </a:r>
            <a:r>
              <a:rPr lang="tr-TR" sz="1800" dirty="0">
                <a:latin typeface="Arial Narrow" panose="020B0606020202030204" pitchFamily="34" charset="0"/>
              </a:rPr>
              <a:t>.</a:t>
            </a:r>
          </a:p>
          <a:p>
            <a:pPr marL="0" lvl="1" indent="0" algn="ctr">
              <a:spcBef>
                <a:spcPts val="0"/>
              </a:spcBef>
              <a:buNone/>
            </a:pPr>
            <a:endParaRPr lang="tr-TR" sz="400" dirty="0">
              <a:latin typeface="Arial Narrow" panose="020B0606020202030204" pitchFamily="34" charset="0"/>
            </a:endParaRPr>
          </a:p>
          <a:p>
            <a:pPr marL="0" lvl="1" indent="0" algn="ctr">
              <a:spcBef>
                <a:spcPts val="0"/>
              </a:spcBef>
              <a:buNone/>
            </a:pPr>
            <a:r>
              <a:rPr lang="tr-TR" sz="1600" dirty="0" err="1">
                <a:latin typeface="Arial Narrow" panose="020B0606020202030204" pitchFamily="34" charset="0"/>
              </a:rPr>
              <a:t>We</a:t>
            </a:r>
            <a:r>
              <a:rPr lang="tr-TR" sz="1600" dirty="0">
                <a:latin typeface="Arial Narrow" panose="020B0606020202030204" pitchFamily="34" charset="0"/>
              </a:rPr>
              <a:t> </a:t>
            </a:r>
            <a:r>
              <a:rPr lang="tr-TR" sz="1600" dirty="0" err="1">
                <a:latin typeface="Arial Narrow" panose="020B0606020202030204" pitchFamily="34" charset="0"/>
              </a:rPr>
              <a:t>measure</a:t>
            </a:r>
            <a:r>
              <a:rPr lang="tr-TR" sz="1600" dirty="0">
                <a:latin typeface="Arial Narrow" panose="020B0606020202030204" pitchFamily="34" charset="0"/>
              </a:rPr>
              <a:t> </a:t>
            </a:r>
            <a:r>
              <a:rPr lang="tr-TR" sz="1600" dirty="0" err="1">
                <a:latin typeface="Arial Narrow" panose="020B0606020202030204" pitchFamily="34" charset="0"/>
              </a:rPr>
              <a:t>the</a:t>
            </a:r>
            <a:r>
              <a:rPr lang="tr-TR" sz="1600" dirty="0">
                <a:latin typeface="Arial Narrow" panose="020B0606020202030204" pitchFamily="34" charset="0"/>
              </a:rPr>
              <a:t> </a:t>
            </a:r>
            <a:r>
              <a:rPr lang="tr-TR" sz="1600" dirty="0" err="1">
                <a:latin typeface="Arial Narrow" panose="020B0606020202030204" pitchFamily="34" charset="0"/>
              </a:rPr>
              <a:t>value</a:t>
            </a:r>
            <a:r>
              <a:rPr lang="tr-TR" sz="1600" dirty="0">
                <a:latin typeface="Arial Narrow" panose="020B0606020202030204" pitchFamily="34" charset="0"/>
              </a:rPr>
              <a:t> of </a:t>
            </a:r>
            <a:r>
              <a:rPr lang="tr-TR" sz="1600" dirty="0" err="1">
                <a:latin typeface="Arial Narrow" panose="020B0606020202030204" pitchFamily="34" charset="0"/>
              </a:rPr>
              <a:t>goods</a:t>
            </a:r>
            <a:r>
              <a:rPr lang="tr-TR" sz="1600" dirty="0">
                <a:latin typeface="Arial Narrow" panose="020B0606020202030204" pitchFamily="34" charset="0"/>
              </a:rPr>
              <a:t> </a:t>
            </a:r>
            <a:r>
              <a:rPr lang="tr-TR" sz="1600" dirty="0" err="1">
                <a:latin typeface="Arial Narrow" panose="020B0606020202030204" pitchFamily="34" charset="0"/>
              </a:rPr>
              <a:t>and</a:t>
            </a:r>
            <a:r>
              <a:rPr lang="tr-TR" sz="1600" dirty="0">
                <a:latin typeface="Arial Narrow" panose="020B0606020202030204" pitchFamily="34" charset="0"/>
              </a:rPr>
              <a:t> </a:t>
            </a:r>
            <a:r>
              <a:rPr lang="tr-TR" sz="1600" dirty="0" err="1">
                <a:latin typeface="Arial Narrow" panose="020B0606020202030204" pitchFamily="34" charset="0"/>
              </a:rPr>
              <a:t>services</a:t>
            </a:r>
            <a:r>
              <a:rPr lang="tr-TR" sz="1600" dirty="0">
                <a:latin typeface="Arial Narrow" panose="020B0606020202030204" pitchFamily="34" charset="0"/>
              </a:rPr>
              <a:t> in </a:t>
            </a:r>
            <a:r>
              <a:rPr lang="tr-TR" sz="1600" dirty="0" err="1">
                <a:latin typeface="Arial Narrow" panose="020B0606020202030204" pitchFamily="34" charset="0"/>
              </a:rPr>
              <a:t>terms</a:t>
            </a:r>
            <a:r>
              <a:rPr lang="tr-TR" sz="1600" dirty="0">
                <a:latin typeface="Arial Narrow" panose="020B0606020202030204" pitchFamily="34" charset="0"/>
              </a:rPr>
              <a:t> of </a:t>
            </a:r>
            <a:r>
              <a:rPr lang="tr-TR" sz="1600" dirty="0" err="1">
                <a:latin typeface="Arial Narrow" panose="020B0606020202030204" pitchFamily="34" charset="0"/>
              </a:rPr>
              <a:t>money</a:t>
            </a:r>
            <a:r>
              <a:rPr lang="tr-TR" sz="1600" dirty="0">
                <a:latin typeface="Arial Narrow" panose="020B0606020202030204" pitchFamily="34" charset="0"/>
              </a:rPr>
              <a:t>,</a:t>
            </a:r>
          </a:p>
          <a:p>
            <a:pPr marL="0" lvl="1" indent="0" algn="ctr">
              <a:spcBef>
                <a:spcPts val="0"/>
              </a:spcBef>
              <a:buNone/>
            </a:pPr>
            <a:r>
              <a:rPr lang="tr-TR" sz="1600" dirty="0" err="1">
                <a:latin typeface="Arial Narrow" panose="020B0606020202030204" pitchFamily="34" charset="0"/>
              </a:rPr>
              <a:t>just</a:t>
            </a:r>
            <a:r>
              <a:rPr lang="tr-TR" sz="1600" dirty="0">
                <a:latin typeface="Arial Narrow" panose="020B0606020202030204" pitchFamily="34" charset="0"/>
              </a:rPr>
              <a:t> as </a:t>
            </a:r>
            <a:r>
              <a:rPr lang="tr-TR" sz="1600" dirty="0" err="1">
                <a:latin typeface="Arial Narrow" panose="020B0606020202030204" pitchFamily="34" charset="0"/>
              </a:rPr>
              <a:t>we</a:t>
            </a:r>
            <a:r>
              <a:rPr lang="tr-TR" sz="1600" dirty="0">
                <a:latin typeface="Arial Narrow" panose="020B0606020202030204" pitchFamily="34" charset="0"/>
              </a:rPr>
              <a:t> </a:t>
            </a:r>
            <a:r>
              <a:rPr lang="tr-TR" sz="1600" dirty="0" err="1">
                <a:latin typeface="Arial Narrow" panose="020B0606020202030204" pitchFamily="34" charset="0"/>
              </a:rPr>
              <a:t>measure</a:t>
            </a:r>
            <a:r>
              <a:rPr lang="tr-TR" sz="1600" dirty="0">
                <a:latin typeface="Arial Narrow" panose="020B0606020202030204" pitchFamily="34" charset="0"/>
              </a:rPr>
              <a:t> </a:t>
            </a:r>
            <a:r>
              <a:rPr lang="tr-TR" sz="1600" dirty="0" err="1">
                <a:latin typeface="Arial Narrow" panose="020B0606020202030204" pitchFamily="34" charset="0"/>
              </a:rPr>
              <a:t>weight</a:t>
            </a:r>
            <a:r>
              <a:rPr lang="tr-TR" sz="1600" dirty="0">
                <a:latin typeface="Arial Narrow" panose="020B0606020202030204" pitchFamily="34" charset="0"/>
              </a:rPr>
              <a:t> in </a:t>
            </a:r>
            <a:r>
              <a:rPr lang="tr-TR" sz="1600" dirty="0" err="1">
                <a:latin typeface="Arial Narrow" panose="020B0606020202030204" pitchFamily="34" charset="0"/>
              </a:rPr>
              <a:t>terms</a:t>
            </a:r>
            <a:r>
              <a:rPr lang="tr-TR" sz="1600" dirty="0">
                <a:latin typeface="Arial Narrow" panose="020B0606020202030204" pitchFamily="34" charset="0"/>
              </a:rPr>
              <a:t> of </a:t>
            </a:r>
            <a:r>
              <a:rPr lang="tr-TR" sz="1600" dirty="0" err="1">
                <a:latin typeface="Arial Narrow" panose="020B0606020202030204" pitchFamily="34" charset="0"/>
              </a:rPr>
              <a:t>grams</a:t>
            </a:r>
            <a:r>
              <a:rPr lang="tr-TR" sz="1600" dirty="0">
                <a:latin typeface="Arial Narrow" panose="020B0606020202030204" pitchFamily="34" charset="0"/>
              </a:rPr>
              <a:t> </a:t>
            </a:r>
            <a:r>
              <a:rPr lang="tr-TR" sz="1600" dirty="0" err="1">
                <a:latin typeface="Arial Narrow" panose="020B0606020202030204" pitchFamily="34" charset="0"/>
              </a:rPr>
              <a:t>or</a:t>
            </a:r>
            <a:r>
              <a:rPr lang="tr-TR" sz="1600" dirty="0">
                <a:latin typeface="Arial Narrow" panose="020B0606020202030204" pitchFamily="34" charset="0"/>
              </a:rPr>
              <a:t> </a:t>
            </a:r>
            <a:r>
              <a:rPr lang="tr-TR" sz="1600" dirty="0" err="1">
                <a:latin typeface="Arial Narrow" panose="020B0606020202030204" pitchFamily="34" charset="0"/>
              </a:rPr>
              <a:t>distance</a:t>
            </a:r>
            <a:r>
              <a:rPr lang="tr-TR" sz="1600" dirty="0">
                <a:latin typeface="Arial Narrow" panose="020B0606020202030204" pitchFamily="34" charset="0"/>
              </a:rPr>
              <a:t> in </a:t>
            </a:r>
            <a:r>
              <a:rPr lang="tr-TR" sz="1600" dirty="0" err="1">
                <a:latin typeface="Arial Narrow" panose="020B0606020202030204" pitchFamily="34" charset="0"/>
              </a:rPr>
              <a:t>meters</a:t>
            </a:r>
            <a:r>
              <a:rPr lang="tr-TR" sz="1600" dirty="0">
                <a:latin typeface="Arial Narrow" panose="020B0606020202030204" pitchFamily="34" charset="0"/>
              </a:rPr>
              <a:t>.</a:t>
            </a:r>
          </a:p>
          <a:p>
            <a:pPr marL="0" lvl="1" indent="0" algn="ctr">
              <a:spcBef>
                <a:spcPts val="0"/>
              </a:spcBef>
              <a:buNone/>
            </a:pPr>
            <a:endParaRPr lang="tr-TR" sz="1800" dirty="0">
              <a:latin typeface="Arial Narrow" panose="020B0606020202030204" pitchFamily="34" charset="0"/>
            </a:endParaRPr>
          </a:p>
          <a:p>
            <a:pPr marL="285750" lvl="1" algn="ctr">
              <a:spcBef>
                <a:spcPts val="0"/>
              </a:spcBef>
              <a:buFont typeface="Arial" panose="020B0604020202020204" pitchFamily="34" charset="0"/>
              <a:buChar char="•"/>
            </a:pPr>
            <a:r>
              <a:rPr lang="tr-TR" sz="1800" dirty="0">
                <a:latin typeface="Arial Narrow" panose="020B0606020202030204" pitchFamily="34" charset="0"/>
              </a:rPr>
              <a:t>Money </a:t>
            </a:r>
            <a:r>
              <a:rPr lang="tr-TR" sz="1800" dirty="0" err="1">
                <a:latin typeface="Arial Narrow" panose="020B0606020202030204" pitchFamily="34" charset="0"/>
              </a:rPr>
              <a:t>also</a:t>
            </a:r>
            <a:r>
              <a:rPr lang="tr-TR" sz="1800" dirty="0">
                <a:latin typeface="Arial Narrow" panose="020B0606020202030204" pitchFamily="34" charset="0"/>
              </a:rPr>
              <a:t> </a:t>
            </a:r>
            <a:r>
              <a:rPr lang="tr-TR" sz="1800" dirty="0" err="1">
                <a:latin typeface="Arial Narrow" panose="020B0606020202030204" pitchFamily="34" charset="0"/>
              </a:rPr>
              <a:t>functions</a:t>
            </a:r>
            <a:r>
              <a:rPr lang="tr-TR" sz="1800" dirty="0">
                <a:latin typeface="Arial Narrow" panose="020B0606020202030204" pitchFamily="34" charset="0"/>
              </a:rPr>
              <a:t> as a </a:t>
            </a:r>
            <a:r>
              <a:rPr lang="tr-TR" sz="1800" dirty="0" err="1">
                <a:solidFill>
                  <a:srgbClr val="800000"/>
                </a:solidFill>
                <a:latin typeface="Arial Narrow" panose="020B0606020202030204" pitchFamily="34" charset="0"/>
              </a:rPr>
              <a:t>Store</a:t>
            </a:r>
            <a:r>
              <a:rPr lang="tr-TR" sz="1800" dirty="0">
                <a:solidFill>
                  <a:srgbClr val="800000"/>
                </a:solidFill>
                <a:latin typeface="Arial Narrow" panose="020B0606020202030204" pitchFamily="34" charset="0"/>
              </a:rPr>
              <a:t> of Value</a:t>
            </a:r>
            <a:r>
              <a:rPr lang="tr-TR" sz="1800" dirty="0">
                <a:latin typeface="Arial Narrow" panose="020B0606020202030204" pitchFamily="34" charset="0"/>
              </a:rPr>
              <a:t>;</a:t>
            </a:r>
          </a:p>
          <a:p>
            <a:pPr marL="0" lvl="1" indent="0" algn="ctr">
              <a:spcBef>
                <a:spcPts val="0"/>
              </a:spcBef>
              <a:buNone/>
            </a:pPr>
            <a:r>
              <a:rPr lang="tr-TR" sz="1800" dirty="0">
                <a:latin typeface="Arial Narrow" panose="020B0606020202030204" pitchFamily="34" charset="0"/>
              </a:rPr>
              <a:t>it is a </a:t>
            </a:r>
            <a:r>
              <a:rPr lang="tr-TR" sz="1800" dirty="0" err="1">
                <a:latin typeface="Arial Narrow" panose="020B0606020202030204" pitchFamily="34" charset="0"/>
              </a:rPr>
              <a:t>repository</a:t>
            </a:r>
            <a:r>
              <a:rPr lang="tr-TR" sz="1800" dirty="0">
                <a:latin typeface="Arial Narrow" panose="020B0606020202030204" pitchFamily="34" charset="0"/>
              </a:rPr>
              <a:t> of </a:t>
            </a:r>
            <a:r>
              <a:rPr lang="tr-TR" sz="1800" dirty="0" err="1">
                <a:latin typeface="Arial Narrow" panose="020B0606020202030204" pitchFamily="34" charset="0"/>
              </a:rPr>
              <a:t>purchasing</a:t>
            </a:r>
            <a:r>
              <a:rPr lang="tr-TR" sz="1800" dirty="0">
                <a:latin typeface="Arial Narrow" panose="020B0606020202030204" pitchFamily="34" charset="0"/>
              </a:rPr>
              <a:t> </a:t>
            </a:r>
            <a:r>
              <a:rPr lang="tr-TR" sz="1800" dirty="0" err="1">
                <a:latin typeface="Arial Narrow" panose="020B0606020202030204" pitchFamily="34" charset="0"/>
              </a:rPr>
              <a:t>power</a:t>
            </a:r>
            <a:r>
              <a:rPr lang="tr-TR" sz="1800" dirty="0">
                <a:latin typeface="Arial Narrow" panose="020B0606020202030204" pitchFamily="34" charset="0"/>
              </a:rPr>
              <a:t> </a:t>
            </a:r>
            <a:r>
              <a:rPr lang="tr-TR" sz="1800" dirty="0" err="1">
                <a:latin typeface="Arial Narrow" panose="020B0606020202030204" pitchFamily="34" charset="0"/>
              </a:rPr>
              <a:t>over</a:t>
            </a:r>
            <a:r>
              <a:rPr lang="tr-TR" sz="1800" dirty="0">
                <a:latin typeface="Arial Narrow" panose="020B0606020202030204" pitchFamily="34" charset="0"/>
              </a:rPr>
              <a:t> time.</a:t>
            </a:r>
          </a:p>
          <a:p>
            <a:pPr marL="0" lvl="1" indent="0" algn="ctr">
              <a:spcBef>
                <a:spcPts val="0"/>
              </a:spcBef>
              <a:buNone/>
            </a:pPr>
            <a:endParaRPr lang="tr-TR" sz="400" dirty="0">
              <a:latin typeface="Arial Narrow" panose="020B0606020202030204" pitchFamily="34" charset="0"/>
            </a:endParaRPr>
          </a:p>
          <a:p>
            <a:pPr marL="0" lvl="1" indent="0" algn="ctr">
              <a:spcBef>
                <a:spcPts val="0"/>
              </a:spcBef>
              <a:buNone/>
            </a:pPr>
            <a:r>
              <a:rPr lang="tr-TR" sz="1600" dirty="0">
                <a:latin typeface="Arial Narrow" panose="020B0606020202030204" pitchFamily="34" charset="0"/>
              </a:rPr>
              <a:t>A </a:t>
            </a:r>
            <a:r>
              <a:rPr lang="tr-TR" sz="1600" dirty="0" err="1">
                <a:latin typeface="Arial Narrow" panose="020B0606020202030204" pitchFamily="34" charset="0"/>
              </a:rPr>
              <a:t>store</a:t>
            </a:r>
            <a:r>
              <a:rPr lang="tr-TR" sz="1600" dirty="0">
                <a:latin typeface="Arial Narrow" panose="020B0606020202030204" pitchFamily="34" charset="0"/>
              </a:rPr>
              <a:t> of </a:t>
            </a:r>
            <a:r>
              <a:rPr lang="tr-TR" sz="1600" dirty="0" err="1">
                <a:latin typeface="Arial Narrow" panose="020B0606020202030204" pitchFamily="34" charset="0"/>
              </a:rPr>
              <a:t>value</a:t>
            </a:r>
            <a:r>
              <a:rPr lang="tr-TR" sz="1600" dirty="0">
                <a:latin typeface="Arial Narrow" panose="020B0606020202030204" pitchFamily="34" charset="0"/>
              </a:rPr>
              <a:t> is </a:t>
            </a:r>
            <a:r>
              <a:rPr lang="tr-TR" sz="1600" dirty="0" err="1">
                <a:latin typeface="Arial Narrow" panose="020B0606020202030204" pitchFamily="34" charset="0"/>
              </a:rPr>
              <a:t>used</a:t>
            </a:r>
            <a:r>
              <a:rPr lang="tr-TR" sz="1600" dirty="0">
                <a:latin typeface="Arial Narrow" panose="020B0606020202030204" pitchFamily="34" charset="0"/>
              </a:rPr>
              <a:t> </a:t>
            </a:r>
            <a:r>
              <a:rPr lang="tr-TR" sz="1600" dirty="0" err="1">
                <a:latin typeface="Arial Narrow" panose="020B0606020202030204" pitchFamily="34" charset="0"/>
              </a:rPr>
              <a:t>to</a:t>
            </a:r>
            <a:r>
              <a:rPr lang="tr-TR" sz="1600" dirty="0">
                <a:latin typeface="Arial Narrow" panose="020B0606020202030204" pitchFamily="34" charset="0"/>
              </a:rPr>
              <a:t> </a:t>
            </a:r>
            <a:r>
              <a:rPr lang="tr-TR" sz="1600" dirty="0" err="1">
                <a:latin typeface="Arial Narrow" panose="020B0606020202030204" pitchFamily="34" charset="0"/>
              </a:rPr>
              <a:t>save</a:t>
            </a:r>
            <a:r>
              <a:rPr lang="tr-TR" sz="1600" dirty="0">
                <a:latin typeface="Arial Narrow" panose="020B0606020202030204" pitchFamily="34" charset="0"/>
              </a:rPr>
              <a:t> </a:t>
            </a:r>
            <a:r>
              <a:rPr lang="tr-TR" sz="1600" dirty="0" err="1">
                <a:latin typeface="Arial Narrow" panose="020B0606020202030204" pitchFamily="34" charset="0"/>
              </a:rPr>
              <a:t>purchasing</a:t>
            </a:r>
            <a:r>
              <a:rPr lang="tr-TR" sz="1600" dirty="0">
                <a:latin typeface="Arial Narrow" panose="020B0606020202030204" pitchFamily="34" charset="0"/>
              </a:rPr>
              <a:t> </a:t>
            </a:r>
            <a:r>
              <a:rPr lang="tr-TR" sz="1600" dirty="0" err="1">
                <a:latin typeface="Arial Narrow" panose="020B0606020202030204" pitchFamily="34" charset="0"/>
              </a:rPr>
              <a:t>power</a:t>
            </a:r>
            <a:r>
              <a:rPr lang="tr-TR" sz="1600" dirty="0">
                <a:latin typeface="Arial Narrow" panose="020B0606020202030204" pitchFamily="34" charset="0"/>
              </a:rPr>
              <a:t> </a:t>
            </a:r>
            <a:r>
              <a:rPr lang="tr-TR" sz="1600" dirty="0" err="1">
                <a:latin typeface="Arial Narrow" panose="020B0606020202030204" pitchFamily="34" charset="0"/>
              </a:rPr>
              <a:t>from</a:t>
            </a:r>
            <a:r>
              <a:rPr lang="tr-TR" sz="1600" dirty="0">
                <a:latin typeface="Arial Narrow" panose="020B0606020202030204" pitchFamily="34" charset="0"/>
              </a:rPr>
              <a:t> </a:t>
            </a:r>
            <a:r>
              <a:rPr lang="tr-TR" sz="1600" dirty="0" err="1">
                <a:latin typeface="Arial Narrow" panose="020B0606020202030204" pitchFamily="34" charset="0"/>
              </a:rPr>
              <a:t>the</a:t>
            </a:r>
            <a:r>
              <a:rPr lang="tr-TR" sz="1600" dirty="0">
                <a:latin typeface="Arial Narrow" panose="020B0606020202030204" pitchFamily="34" charset="0"/>
              </a:rPr>
              <a:t> time </a:t>
            </a:r>
            <a:r>
              <a:rPr lang="tr-TR" sz="1600" dirty="0" err="1">
                <a:latin typeface="Arial Narrow" panose="020B0606020202030204" pitchFamily="34" charset="0"/>
              </a:rPr>
              <a:t>income</a:t>
            </a:r>
            <a:r>
              <a:rPr lang="tr-TR" sz="1600" dirty="0">
                <a:latin typeface="Arial Narrow" panose="020B0606020202030204" pitchFamily="34" charset="0"/>
              </a:rPr>
              <a:t> is </a:t>
            </a:r>
            <a:r>
              <a:rPr lang="tr-TR" sz="1600" dirty="0" err="1">
                <a:latin typeface="Arial Narrow" panose="020B0606020202030204" pitchFamily="34" charset="0"/>
              </a:rPr>
              <a:t>received</a:t>
            </a:r>
            <a:r>
              <a:rPr lang="tr-TR" sz="1600" dirty="0">
                <a:latin typeface="Arial Narrow" panose="020B0606020202030204" pitchFamily="34" charset="0"/>
              </a:rPr>
              <a:t> </a:t>
            </a:r>
            <a:r>
              <a:rPr lang="tr-TR" sz="1600" dirty="0" err="1">
                <a:latin typeface="Arial Narrow" panose="020B0606020202030204" pitchFamily="34" charset="0"/>
              </a:rPr>
              <a:t>until</a:t>
            </a:r>
            <a:r>
              <a:rPr lang="tr-TR" sz="1600" dirty="0">
                <a:latin typeface="Arial Narrow" panose="020B0606020202030204" pitchFamily="34" charset="0"/>
              </a:rPr>
              <a:t> </a:t>
            </a:r>
            <a:r>
              <a:rPr lang="tr-TR" sz="1600" dirty="0" err="1">
                <a:latin typeface="Arial Narrow" panose="020B0606020202030204" pitchFamily="34" charset="0"/>
              </a:rPr>
              <a:t>the</a:t>
            </a:r>
            <a:r>
              <a:rPr lang="tr-TR" sz="1600" dirty="0">
                <a:latin typeface="Arial Narrow" panose="020B0606020202030204" pitchFamily="34" charset="0"/>
              </a:rPr>
              <a:t> time it is </a:t>
            </a:r>
            <a:r>
              <a:rPr lang="tr-TR" sz="1600" dirty="0" err="1">
                <a:latin typeface="Arial Narrow" panose="020B0606020202030204" pitchFamily="34" charset="0"/>
              </a:rPr>
              <a:t>spent</a:t>
            </a:r>
            <a:r>
              <a:rPr lang="tr-TR" sz="1600" dirty="0">
                <a:latin typeface="Arial Narrow" panose="020B0606020202030204" pitchFamily="34" charset="0"/>
              </a:rPr>
              <a:t>.</a:t>
            </a:r>
          </a:p>
        </p:txBody>
      </p:sp>
    </p:spTree>
    <p:extLst>
      <p:ext uri="{BB962C8B-B14F-4D97-AF65-F5344CB8AC3E}">
        <p14:creationId xmlns:p14="http://schemas.microsoft.com/office/powerpoint/2010/main" val="2255709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483768" y="274638"/>
            <a:ext cx="3456384" cy="1143000"/>
          </a:xfrm>
          <a:ln w="25400">
            <a:noFill/>
          </a:ln>
        </p:spPr>
        <p:txBody>
          <a:bodyPr>
            <a:noAutofit/>
          </a:bodyPr>
          <a:lstStyle/>
          <a:p>
            <a:pPr algn="l"/>
            <a:r>
              <a:rPr lang="tr-TR" sz="1400" dirty="0">
                <a:latin typeface="Arial Narrow" pitchFamily="34" charset="0"/>
              </a:rPr>
              <a:t>NTE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smtClean="0">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smtClean="0">
                <a:latin typeface="Arial Narrow" pitchFamily="34" charset="0"/>
              </a:rPr>
              <a:t>Money</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smtClean="0">
                <a:solidFill>
                  <a:srgbClr val="800000"/>
                </a:solidFill>
                <a:latin typeface="Arial Narrow" pitchFamily="34" charset="0"/>
              </a:rPr>
              <a:t>Measurement</a:t>
            </a:r>
            <a:endParaRPr lang="tr-TR" sz="2400" dirty="0">
              <a:solidFill>
                <a:srgbClr val="800000"/>
              </a:solidFill>
              <a:latin typeface="Arial Narrow" pitchFamily="34" charset="0"/>
            </a:endParaRPr>
          </a:p>
        </p:txBody>
      </p:sp>
      <p:sp>
        <p:nvSpPr>
          <p:cNvPr id="5" name="Content Placeholder 4"/>
          <p:cNvSpPr>
            <a:spLocks noGrp="1"/>
          </p:cNvSpPr>
          <p:nvPr>
            <p:ph idx="1"/>
          </p:nvPr>
        </p:nvSpPr>
        <p:spPr>
          <a:xfrm>
            <a:off x="2195736" y="1600200"/>
            <a:ext cx="4968552" cy="4525963"/>
          </a:xfrm>
          <a:ln w="25400">
            <a:noFill/>
          </a:ln>
        </p:spPr>
        <p:txBody>
          <a:bodyPr>
            <a:noAutofit/>
          </a:bodyPr>
          <a:lstStyle/>
          <a:p>
            <a:pPr marL="0" lvl="1" indent="0" algn="ctr">
              <a:spcBef>
                <a:spcPts val="0"/>
              </a:spcBef>
              <a:buNone/>
            </a:pPr>
            <a:endParaRPr lang="tr-TR" sz="900" dirty="0" smtClean="0">
              <a:latin typeface="Arial Narrow" panose="020B0606020202030204" pitchFamily="34" charset="0"/>
            </a:endParaRPr>
          </a:p>
          <a:p>
            <a:pPr marL="0" lvl="1" indent="0">
              <a:spcBef>
                <a:spcPts val="0"/>
              </a:spcBef>
              <a:buNone/>
            </a:pPr>
            <a:r>
              <a:rPr lang="tr-TR" sz="1800" dirty="0" err="1" smtClean="0">
                <a:latin typeface="Arial Narrow" panose="020B0606020202030204" pitchFamily="34" charset="0"/>
              </a:rPr>
              <a:t>There</a:t>
            </a:r>
            <a:r>
              <a:rPr lang="tr-TR" sz="1800" dirty="0" smtClean="0">
                <a:latin typeface="Arial Narrow" panose="020B0606020202030204" pitchFamily="34" charset="0"/>
              </a:rPr>
              <a:t> </a:t>
            </a:r>
            <a:r>
              <a:rPr lang="tr-TR" sz="1800" dirty="0" err="1" smtClean="0">
                <a:latin typeface="Arial Narrow" panose="020B0606020202030204" pitchFamily="34" charset="0"/>
              </a:rPr>
              <a:t>are</a:t>
            </a:r>
            <a:r>
              <a:rPr lang="tr-TR" sz="1800" dirty="0" smtClean="0">
                <a:latin typeface="Arial Narrow" panose="020B0606020202030204" pitchFamily="34" charset="0"/>
              </a:rPr>
              <a:t> </a:t>
            </a:r>
            <a:r>
              <a:rPr lang="tr-TR" sz="1800" dirty="0" err="1" smtClean="0">
                <a:latin typeface="Arial Narrow" panose="020B0606020202030204" pitchFamily="34" charset="0"/>
              </a:rPr>
              <a:t>expanding</a:t>
            </a:r>
            <a:r>
              <a:rPr lang="tr-TR" sz="1800" dirty="0" smtClean="0">
                <a:latin typeface="Arial Narrow" panose="020B0606020202030204" pitchFamily="34" charset="0"/>
              </a:rPr>
              <a:t> </a:t>
            </a:r>
            <a:r>
              <a:rPr lang="tr-TR" sz="1800" dirty="0" err="1" smtClean="0">
                <a:latin typeface="Arial Narrow" panose="020B0606020202030204" pitchFamily="34" charset="0"/>
              </a:rPr>
              <a:t>levels</a:t>
            </a:r>
            <a:r>
              <a:rPr lang="tr-TR" sz="1800" dirty="0" smtClean="0">
                <a:latin typeface="Arial Narrow" panose="020B0606020202030204" pitchFamily="34" charset="0"/>
              </a:rPr>
              <a:t> of </a:t>
            </a:r>
            <a:r>
              <a:rPr lang="tr-TR" sz="1800" dirty="0" err="1" smtClean="0">
                <a:latin typeface="Arial Narrow" panose="020B0606020202030204" pitchFamily="34" charset="0"/>
              </a:rPr>
              <a:t>money</a:t>
            </a:r>
            <a:r>
              <a:rPr lang="tr-TR" sz="1800" dirty="0" smtClean="0">
                <a:latin typeface="Arial Narrow" panose="020B0606020202030204" pitchFamily="34" charset="0"/>
              </a:rPr>
              <a:t> </a:t>
            </a:r>
            <a:r>
              <a:rPr lang="tr-TR" sz="1800" dirty="0" err="1" smtClean="0">
                <a:latin typeface="Arial Narrow" panose="020B0606020202030204" pitchFamily="34" charset="0"/>
              </a:rPr>
              <a:t>measurement</a:t>
            </a:r>
            <a:r>
              <a:rPr lang="tr-TR" sz="1800" dirty="0" smtClean="0">
                <a:latin typeface="Arial Narrow" panose="020B0606020202030204" pitchFamily="34" charset="0"/>
              </a:rPr>
              <a:t>:</a:t>
            </a:r>
          </a:p>
          <a:p>
            <a:pPr marL="0" lvl="1" indent="0">
              <a:spcBef>
                <a:spcPts val="0"/>
              </a:spcBef>
              <a:buNone/>
            </a:pPr>
            <a:endParaRPr lang="tr-TR" sz="1800" dirty="0" smtClean="0">
              <a:latin typeface="Arial Narrow" panose="020B0606020202030204" pitchFamily="34" charset="0"/>
            </a:endParaRPr>
          </a:p>
          <a:p>
            <a:pPr marL="0" lvl="1" indent="0">
              <a:spcBef>
                <a:spcPts val="0"/>
              </a:spcBef>
              <a:buNone/>
            </a:pPr>
            <a:r>
              <a:rPr lang="tr-TR" sz="1800" dirty="0" err="1" smtClean="0">
                <a:latin typeface="Arial Narrow" panose="020B0606020202030204" pitchFamily="34" charset="0"/>
              </a:rPr>
              <a:t>M0</a:t>
            </a:r>
            <a:r>
              <a:rPr lang="tr-TR" sz="1800" dirty="0" smtClean="0">
                <a:latin typeface="Arial Narrow" panose="020B0606020202030204" pitchFamily="34" charset="0"/>
              </a:rPr>
              <a:t> = </a:t>
            </a:r>
            <a:r>
              <a:rPr lang="tr-TR" sz="1800" dirty="0" err="1" smtClean="0">
                <a:latin typeface="Arial Narrow" panose="020B0606020202030204" pitchFamily="34" charset="0"/>
              </a:rPr>
              <a:t>physical</a:t>
            </a:r>
            <a:r>
              <a:rPr lang="tr-TR" sz="1800" dirty="0" smtClean="0">
                <a:latin typeface="Arial Narrow" panose="020B0606020202030204" pitchFamily="34" charset="0"/>
              </a:rPr>
              <a:t> </a:t>
            </a:r>
            <a:r>
              <a:rPr lang="tr-TR" sz="1800" dirty="0" err="1" smtClean="0">
                <a:latin typeface="Arial Narrow" panose="020B0606020202030204" pitchFamily="34" charset="0"/>
              </a:rPr>
              <a:t>money</a:t>
            </a:r>
            <a:endParaRPr lang="tr-TR" sz="1800" dirty="0">
              <a:latin typeface="Arial Narrow" panose="020B0606020202030204" pitchFamily="34" charset="0"/>
            </a:endParaRPr>
          </a:p>
          <a:p>
            <a:pPr marL="0" lvl="1" indent="0">
              <a:spcBef>
                <a:spcPts val="0"/>
              </a:spcBef>
              <a:buNone/>
            </a:pPr>
            <a:r>
              <a:rPr lang="tr-TR" sz="1600" dirty="0" smtClean="0">
                <a:latin typeface="Arial Narrow" panose="020B0606020202030204" pitchFamily="34" charset="0"/>
              </a:rPr>
              <a:t>(</a:t>
            </a:r>
            <a:r>
              <a:rPr lang="tr-TR" sz="1600" dirty="0" err="1" smtClean="0">
                <a:latin typeface="Arial Narrow" panose="020B0606020202030204" pitchFamily="34" charset="0"/>
              </a:rPr>
              <a:t>paper</a:t>
            </a:r>
            <a:r>
              <a:rPr lang="tr-TR" sz="1600" dirty="0" smtClean="0">
                <a:latin typeface="Arial Narrow" panose="020B0606020202030204" pitchFamily="34" charset="0"/>
              </a:rPr>
              <a:t>, </a:t>
            </a:r>
            <a:r>
              <a:rPr lang="tr-TR" sz="1600" dirty="0" err="1" smtClean="0">
                <a:latin typeface="Arial Narrow" panose="020B0606020202030204" pitchFamily="34" charset="0"/>
              </a:rPr>
              <a:t>coin</a:t>
            </a:r>
            <a:r>
              <a:rPr lang="tr-TR" sz="1600" dirty="0" smtClean="0">
                <a:latin typeface="Arial Narrow" panose="020B0606020202030204" pitchFamily="34" charset="0"/>
              </a:rPr>
              <a:t>, </a:t>
            </a:r>
            <a:r>
              <a:rPr lang="tr-TR" sz="1600" dirty="0" err="1" smtClean="0">
                <a:latin typeface="Arial Narrow" panose="020B0606020202030204" pitchFamily="34" charset="0"/>
              </a:rPr>
              <a:t>deposits</a:t>
            </a:r>
            <a:r>
              <a:rPr lang="tr-TR" sz="1600" dirty="0" smtClean="0">
                <a:latin typeface="Arial Narrow" panose="020B0606020202030204" pitchFamily="34" charset="0"/>
              </a:rPr>
              <a:t> of </a:t>
            </a:r>
            <a:r>
              <a:rPr lang="tr-TR" sz="1600" dirty="0" err="1" smtClean="0">
                <a:latin typeface="Arial Narrow" panose="020B0606020202030204" pitchFamily="34" charset="0"/>
              </a:rPr>
              <a:t>banks</a:t>
            </a:r>
            <a:r>
              <a:rPr lang="tr-TR" sz="1600" dirty="0" smtClean="0">
                <a:latin typeface="Arial Narrow" panose="020B0606020202030204" pitchFamily="34" charset="0"/>
              </a:rPr>
              <a:t> at Central Bank </a:t>
            </a:r>
            <a:r>
              <a:rPr lang="tr-TR" sz="1600" dirty="0" err="1" smtClean="0">
                <a:latin typeface="Arial Narrow" panose="020B0606020202030204" pitchFamily="34" charset="0"/>
              </a:rPr>
              <a:t>which</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Central Bank has </a:t>
            </a:r>
            <a:r>
              <a:rPr lang="tr-TR" sz="1600" dirty="0" err="1" smtClean="0">
                <a:latin typeface="Arial Narrow" panose="020B0606020202030204" pitchFamily="34" charset="0"/>
              </a:rPr>
              <a:t>to</a:t>
            </a:r>
            <a:r>
              <a:rPr lang="tr-TR" sz="1600" dirty="0" smtClean="0">
                <a:latin typeface="Arial Narrow" panose="020B0606020202030204" pitchFamily="34" charset="0"/>
              </a:rPr>
              <a:t> </a:t>
            </a:r>
            <a:r>
              <a:rPr lang="tr-TR" sz="1600" dirty="0" err="1" smtClean="0">
                <a:latin typeface="Arial Narrow" panose="020B0606020202030204" pitchFamily="34" charset="0"/>
              </a:rPr>
              <a:t>provide</a:t>
            </a:r>
            <a:r>
              <a:rPr lang="tr-TR" sz="1600" dirty="0" smtClean="0">
                <a:latin typeface="Arial Narrow" panose="020B0606020202030204" pitchFamily="34" charset="0"/>
              </a:rPr>
              <a:t> </a:t>
            </a:r>
            <a:r>
              <a:rPr lang="tr-TR" sz="1600" dirty="0" err="1" smtClean="0">
                <a:latin typeface="Arial Narrow" panose="020B0606020202030204" pitchFamily="34" charset="0"/>
              </a:rPr>
              <a:t>cash</a:t>
            </a:r>
            <a:r>
              <a:rPr lang="tr-TR" sz="1600" dirty="0" smtClean="0">
                <a:latin typeface="Arial Narrow" panose="020B0606020202030204" pitchFamily="34" charset="0"/>
              </a:rPr>
              <a:t> on </a:t>
            </a:r>
            <a:r>
              <a:rPr lang="tr-TR" sz="1600" dirty="0" err="1" smtClean="0">
                <a:latin typeface="Arial Narrow" panose="020B0606020202030204" pitchFamily="34" charset="0"/>
              </a:rPr>
              <a:t>demand</a:t>
            </a:r>
            <a:r>
              <a:rPr lang="tr-TR" sz="1600" dirty="0" smtClean="0">
                <a:latin typeface="Arial Narrow" panose="020B0606020202030204" pitchFamily="34" charset="0"/>
              </a:rPr>
              <a:t>)</a:t>
            </a:r>
          </a:p>
          <a:p>
            <a:pPr marL="0" lvl="1" indent="0">
              <a:spcBef>
                <a:spcPts val="0"/>
              </a:spcBef>
              <a:buNone/>
            </a:pPr>
            <a:endParaRPr lang="tr-TR" sz="1800" dirty="0">
              <a:latin typeface="Arial Narrow" panose="020B0606020202030204" pitchFamily="34" charset="0"/>
            </a:endParaRPr>
          </a:p>
          <a:p>
            <a:pPr marL="0" lvl="1" indent="0">
              <a:spcBef>
                <a:spcPts val="0"/>
              </a:spcBef>
              <a:buNone/>
            </a:pPr>
            <a:r>
              <a:rPr lang="tr-TR" sz="1800" dirty="0" err="1" smtClean="0">
                <a:latin typeface="Arial Narrow" panose="020B0606020202030204" pitchFamily="34" charset="0"/>
              </a:rPr>
              <a:t>M1</a:t>
            </a:r>
            <a:r>
              <a:rPr lang="tr-TR" sz="1800" dirty="0" smtClean="0">
                <a:latin typeface="Arial Narrow" panose="020B0606020202030204" pitchFamily="34" charset="0"/>
              </a:rPr>
              <a:t> = </a:t>
            </a:r>
            <a:r>
              <a:rPr lang="tr-TR" sz="1800" dirty="0" err="1" smtClean="0">
                <a:latin typeface="Arial Narrow" panose="020B0606020202030204" pitchFamily="34" charset="0"/>
              </a:rPr>
              <a:t>M0</a:t>
            </a:r>
            <a:r>
              <a:rPr lang="tr-TR" sz="1800" dirty="0" smtClean="0">
                <a:latin typeface="Arial Narrow" panose="020B0606020202030204" pitchFamily="34" charset="0"/>
              </a:rPr>
              <a:t> +</a:t>
            </a:r>
            <a:r>
              <a:rPr lang="tr-TR" sz="1800" dirty="0" err="1" smtClean="0">
                <a:latin typeface="Arial Narrow" panose="020B0606020202030204" pitchFamily="34" charset="0"/>
              </a:rPr>
              <a:t>current</a:t>
            </a:r>
            <a:r>
              <a:rPr lang="tr-TR" sz="1800" dirty="0" smtClean="0">
                <a:latin typeface="Arial Narrow" panose="020B0606020202030204" pitchFamily="34" charset="0"/>
              </a:rPr>
              <a:t> </a:t>
            </a:r>
            <a:r>
              <a:rPr lang="tr-TR" sz="1800" dirty="0" err="1" smtClean="0">
                <a:latin typeface="Arial Narrow" panose="020B0606020202030204" pitchFamily="34" charset="0"/>
              </a:rPr>
              <a:t>deposits</a:t>
            </a:r>
            <a:endParaRPr lang="tr-TR" sz="1800" dirty="0" smtClean="0">
              <a:latin typeface="Arial Narrow" panose="020B0606020202030204" pitchFamily="34" charset="0"/>
            </a:endParaRPr>
          </a:p>
          <a:p>
            <a:pPr marL="0" lvl="1" indent="0">
              <a:spcBef>
                <a:spcPts val="0"/>
              </a:spcBef>
              <a:buNone/>
            </a:pPr>
            <a:endParaRPr lang="tr-TR" sz="1800" dirty="0">
              <a:latin typeface="Arial Narrow" panose="020B0606020202030204" pitchFamily="34" charset="0"/>
            </a:endParaRPr>
          </a:p>
          <a:p>
            <a:pPr marL="0" lvl="1" indent="0">
              <a:spcBef>
                <a:spcPts val="0"/>
              </a:spcBef>
              <a:buNone/>
            </a:pPr>
            <a:r>
              <a:rPr lang="tr-TR" sz="1800" dirty="0" err="1" smtClean="0">
                <a:latin typeface="Arial Narrow" panose="020B0606020202030204" pitchFamily="34" charset="0"/>
              </a:rPr>
              <a:t>M2</a:t>
            </a:r>
            <a:r>
              <a:rPr lang="tr-TR" sz="1800" dirty="0" smtClean="0">
                <a:latin typeface="Arial Narrow" panose="020B0606020202030204" pitchFamily="34" charset="0"/>
              </a:rPr>
              <a:t> = </a:t>
            </a:r>
            <a:r>
              <a:rPr lang="tr-TR" sz="1800" dirty="0" err="1" smtClean="0">
                <a:latin typeface="Arial Narrow" panose="020B0606020202030204" pitchFamily="34" charset="0"/>
              </a:rPr>
              <a:t>M1</a:t>
            </a:r>
            <a:r>
              <a:rPr lang="tr-TR" sz="1800" dirty="0" smtClean="0">
                <a:latin typeface="Arial Narrow" panose="020B0606020202030204" pitchFamily="34" charset="0"/>
              </a:rPr>
              <a:t> +</a:t>
            </a:r>
            <a:r>
              <a:rPr lang="tr-TR" sz="1800" dirty="0" err="1" smtClean="0">
                <a:latin typeface="Arial Narrow" panose="020B0606020202030204" pitchFamily="34" charset="0"/>
              </a:rPr>
              <a:t>deposits</a:t>
            </a:r>
            <a:r>
              <a:rPr lang="tr-TR" sz="1800" dirty="0" smtClean="0">
                <a:latin typeface="Arial Narrow" panose="020B0606020202030204" pitchFamily="34" charset="0"/>
              </a:rPr>
              <a:t> </a:t>
            </a:r>
            <a:r>
              <a:rPr lang="tr-TR" sz="1800" dirty="0" err="1" smtClean="0">
                <a:latin typeface="Arial Narrow" panose="020B0606020202030204" pitchFamily="34" charset="0"/>
              </a:rPr>
              <a:t>with</a:t>
            </a:r>
            <a:r>
              <a:rPr lang="tr-TR" sz="1800" dirty="0" smtClean="0">
                <a:latin typeface="Arial Narrow" panose="020B0606020202030204" pitchFamily="34" charset="0"/>
              </a:rPr>
              <a:t> </a:t>
            </a:r>
            <a:r>
              <a:rPr lang="tr-TR" sz="1800" dirty="0" err="1" smtClean="0">
                <a:latin typeface="Arial Narrow" panose="020B0606020202030204" pitchFamily="34" charset="0"/>
              </a:rPr>
              <a:t>maturity</a:t>
            </a:r>
            <a:r>
              <a:rPr lang="tr-TR" sz="1800" dirty="0" smtClean="0">
                <a:latin typeface="Arial Narrow" panose="020B0606020202030204" pitchFamily="34" charset="0"/>
              </a:rPr>
              <a:t> of </a:t>
            </a:r>
            <a:r>
              <a:rPr lang="tr-TR" sz="1800" dirty="0" err="1" smtClean="0">
                <a:latin typeface="Arial Narrow" panose="020B0606020202030204" pitchFamily="34" charset="0"/>
              </a:rPr>
              <a:t>less</a:t>
            </a:r>
            <a:r>
              <a:rPr lang="tr-TR" sz="1800" dirty="0" smtClean="0">
                <a:latin typeface="Arial Narrow" panose="020B0606020202030204" pitchFamily="34" charset="0"/>
              </a:rPr>
              <a:t> </a:t>
            </a:r>
            <a:r>
              <a:rPr lang="tr-TR" sz="1800" dirty="0" err="1" smtClean="0">
                <a:latin typeface="Arial Narrow" panose="020B0606020202030204" pitchFamily="34" charset="0"/>
              </a:rPr>
              <a:t>than</a:t>
            </a:r>
            <a:r>
              <a:rPr lang="tr-TR" sz="1800" dirty="0" smtClean="0">
                <a:latin typeface="Arial Narrow" panose="020B0606020202030204" pitchFamily="34" charset="0"/>
              </a:rPr>
              <a:t> 30 </a:t>
            </a:r>
            <a:r>
              <a:rPr lang="tr-TR" sz="1800" dirty="0" err="1" smtClean="0">
                <a:latin typeface="Arial Narrow" panose="020B0606020202030204" pitchFamily="34" charset="0"/>
              </a:rPr>
              <a:t>days</a:t>
            </a:r>
            <a:endParaRPr lang="tr-TR" sz="1800" dirty="0" smtClean="0">
              <a:latin typeface="Arial Narrow" panose="020B0606020202030204" pitchFamily="34" charset="0"/>
            </a:endParaRPr>
          </a:p>
          <a:p>
            <a:pPr marL="0" lvl="1" indent="0">
              <a:spcBef>
                <a:spcPts val="0"/>
              </a:spcBef>
              <a:buNone/>
            </a:pPr>
            <a:endParaRPr lang="tr-TR" sz="1800" dirty="0">
              <a:latin typeface="Arial Narrow" panose="020B0606020202030204" pitchFamily="34" charset="0"/>
            </a:endParaRPr>
          </a:p>
          <a:p>
            <a:pPr marL="0" lvl="1" indent="0">
              <a:spcBef>
                <a:spcPts val="0"/>
              </a:spcBef>
              <a:buNone/>
            </a:pPr>
            <a:r>
              <a:rPr lang="tr-TR" sz="1800" dirty="0" err="1" smtClean="0">
                <a:latin typeface="Arial Narrow" panose="020B0606020202030204" pitchFamily="34" charset="0"/>
              </a:rPr>
              <a:t>M3</a:t>
            </a:r>
            <a:r>
              <a:rPr lang="tr-TR" sz="1800" dirty="0" smtClean="0">
                <a:latin typeface="Arial Narrow" panose="020B0606020202030204" pitchFamily="34" charset="0"/>
              </a:rPr>
              <a:t> = </a:t>
            </a:r>
            <a:r>
              <a:rPr lang="tr-TR" sz="1800" dirty="0" err="1" smtClean="0">
                <a:latin typeface="Arial Narrow" panose="020B0606020202030204" pitchFamily="34" charset="0"/>
              </a:rPr>
              <a:t>M2</a:t>
            </a:r>
            <a:r>
              <a:rPr lang="tr-TR" sz="1800" dirty="0" smtClean="0">
                <a:latin typeface="Arial Narrow" panose="020B0606020202030204" pitchFamily="34" charset="0"/>
              </a:rPr>
              <a:t> +time </a:t>
            </a:r>
            <a:r>
              <a:rPr lang="tr-TR" sz="1800" dirty="0" err="1" smtClean="0">
                <a:latin typeface="Arial Narrow" panose="020B0606020202030204" pitchFamily="34" charset="0"/>
              </a:rPr>
              <a:t>deposits</a:t>
            </a:r>
            <a:endParaRPr lang="tr-TR" sz="1800" dirty="0" smtClean="0">
              <a:latin typeface="Arial Narrow" panose="020B0606020202030204" pitchFamily="34" charset="0"/>
            </a:endParaRPr>
          </a:p>
        </p:txBody>
      </p:sp>
    </p:spTree>
    <p:extLst>
      <p:ext uri="{BB962C8B-B14F-4D97-AF65-F5344CB8AC3E}">
        <p14:creationId xmlns:p14="http://schemas.microsoft.com/office/powerpoint/2010/main" val="208400703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7868</TotalTime>
  <Words>3514</Words>
  <Application>Microsoft Office PowerPoint</Application>
  <PresentationFormat>Ekran Gösterisi (4:3)</PresentationFormat>
  <Paragraphs>480</Paragraphs>
  <Slides>32</Slides>
  <Notes>32</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32</vt:i4>
      </vt:variant>
    </vt:vector>
  </HeadingPairs>
  <TitlesOfParts>
    <vt:vector size="36" baseType="lpstr">
      <vt:lpstr>Arial</vt:lpstr>
      <vt:lpstr>Arial Narrow</vt:lpstr>
      <vt:lpstr>Calibri</vt:lpstr>
      <vt:lpstr>Office Theme</vt:lpstr>
      <vt:lpstr> </vt:lpstr>
      <vt:lpstr>NTE 1010 – Introduction to Finance for Engineers Flow of Funds through the Financial System</vt:lpstr>
      <vt:lpstr>NTE 1010 – Introduction to Finance for Engineers Financial Markets (Direct Finance) Primary and Secondary Markets</vt:lpstr>
      <vt:lpstr>NTE 1010 – Introduction to Finance for Engineers Financial Markets (Direct Finance) Types of Secondary Markets</vt:lpstr>
      <vt:lpstr>NTE 1010 – Introduction to Finance for Engineers Financial Markets (Direct Finance) Money Markets and Capital Markets</vt:lpstr>
      <vt:lpstr>NTE 1010.1 – Introduction to Finance for Engineers Financial Markets (Direct Finance) Further Categories</vt:lpstr>
      <vt:lpstr>NTE 1010 – Introduction to Finance for Engineers Financial Markets (Direct Finance) Equity - Debt</vt:lpstr>
      <vt:lpstr>NTE 1010.1 – Introduction to Finance for Engineers Financial Securities Debt Instruments</vt:lpstr>
      <vt:lpstr>NTE 1010.1 – Introduction to Finance for Engineers Financial Securities Debt Instruments</vt:lpstr>
      <vt:lpstr>NTE 1010.1 – Introduction to Finance for Engineers Financial Securities Types of Loans</vt:lpstr>
      <vt:lpstr>NTE 1010.1 – Introduction to Finance for Engineers Financial Securities Additional Debt Instruments</vt:lpstr>
      <vt:lpstr>NTE 1010 – Introduction to Finance for Engineers Financial Markets (Direct Finance) Equity - Debt</vt:lpstr>
      <vt:lpstr>NTE 1010.1 – Introduction to Finance for Engineers Financial Securities Equity Types – Ordinary Shares</vt:lpstr>
      <vt:lpstr>NTE 1010.1 – Introduction to Finance for Engineers Financial Securities Equity Types – Ordinary Shares</vt:lpstr>
      <vt:lpstr>NTE 1010.1 – Introduction to Finance for Engineers Financial Securities Equity Types – Preferred Stock</vt:lpstr>
      <vt:lpstr>NTE 1010.1 – Introduction to Finance for Engineers Financial Markets (Direct Finance) Borsa İstanbul</vt:lpstr>
      <vt:lpstr>NTE 1010 – Introduction to Finance for Engineers Stock Markets in the World</vt:lpstr>
      <vt:lpstr>NTE 1010 – Introduction to Finance for Engineers Stock Markets in the World</vt:lpstr>
      <vt:lpstr>NTE 1010.1 – Introduction to Finance for Engineers Borsa İstanbul Debt Securities Market</vt:lpstr>
      <vt:lpstr>NTE 1010.1 – Introduction to Finance for Engineers Borsa İstanbul Equity Market</vt:lpstr>
      <vt:lpstr>NTE 1010.1 – Introduction to Finance for Engineers Borsa İstanbul Derivatives Market</vt:lpstr>
      <vt:lpstr>NTE 1010.1 – Introduction to Finance for Engineers Borsa İstanbul Precious Metals &amp; Diamond Market</vt:lpstr>
      <vt:lpstr>NTE 1010.1 – Introduction to Finance for Engineers Borsa İstanbul Other Services</vt:lpstr>
      <vt:lpstr>NTE 1010 – Introduction to Finance for Engineers Financial System Indirect Finance / Financial Intermediaries</vt:lpstr>
      <vt:lpstr>NTE 1010 – Introduction to Finance for Engineers Financial System Types of Financial Intermediaries</vt:lpstr>
      <vt:lpstr>NTE 1010 – Introduction to Finance for Engineers Financial System Regulation of the System</vt:lpstr>
      <vt:lpstr>NTE 1010 – Introduction to Finance for Engineers Financial System Regulation of the System</vt:lpstr>
      <vt:lpstr> </vt:lpstr>
      <vt:lpstr>NTE 1010 – Introduction to Finance for Engineers Economy</vt:lpstr>
      <vt:lpstr>NTE 1010 – Introduction to Finance for Engineers Money</vt:lpstr>
      <vt:lpstr>NTE 1010 – Introduction to Finance for Engineers Money Primary Functions</vt:lpstr>
      <vt:lpstr>NTE 1010 – Introduction to Finance for Engineers Money Measurement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
  <cp:revision>528</cp:revision>
  <cp:lastPrinted>2018-12-13T08:03:39Z</cp:lastPrinted>
  <dcterms:created xsi:type="dcterms:W3CDTF">2015-11-30T12:51:35Z</dcterms:created>
  <dcterms:modified xsi:type="dcterms:W3CDTF">2020-03-20T08:36:31Z</dcterms:modified>
  <dc:description/>
</cp:coreProperties>
</file>