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565" r:id="rId2"/>
    <p:sldId id="625" r:id="rId3"/>
    <p:sldId id="632" r:id="rId4"/>
    <p:sldId id="627" r:id="rId5"/>
    <p:sldId id="628" r:id="rId6"/>
    <p:sldId id="629" r:id="rId7"/>
    <p:sldId id="631" r:id="rId8"/>
    <p:sldId id="514" r:id="rId9"/>
    <p:sldId id="605" r:id="rId10"/>
    <p:sldId id="606" r:id="rId11"/>
    <p:sldId id="609" r:id="rId12"/>
    <p:sldId id="607" r:id="rId13"/>
    <p:sldId id="610" r:id="rId14"/>
    <p:sldId id="633" r:id="rId15"/>
    <p:sldId id="613" r:id="rId16"/>
    <p:sldId id="617" r:id="rId17"/>
    <p:sldId id="618" r:id="rId18"/>
  </p:sldIdLst>
  <p:sldSz cx="9144000" cy="6858000" type="screen4x3"/>
  <p:notesSz cx="6858000" cy="9945688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000066"/>
    <a:srgbClr val="0000FF"/>
    <a:srgbClr val="FF00FF"/>
    <a:srgbClr val="FF6600"/>
    <a:srgbClr val="0000CC"/>
    <a:srgbClr val="FFFFFF"/>
    <a:srgbClr val="3333CC"/>
    <a:srgbClr val="FF9900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2" autoAdjust="0"/>
  </p:normalViewPr>
  <p:slideViewPr>
    <p:cSldViewPr>
      <p:cViewPr varScale="1">
        <p:scale>
          <a:sx n="74" d="100"/>
          <a:sy n="74" d="100"/>
        </p:scale>
        <p:origin x="108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983" cy="497285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924" y="1"/>
            <a:ext cx="2971982" cy="497285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41DD2113-24C6-4329-AB40-201D9F0A72C4}" type="datetimeFigureOut">
              <a:rPr lang="tr-TR" smtClean="0"/>
              <a:t>8.04.2020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6102"/>
            <a:ext cx="2971983" cy="497285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924" y="9446102"/>
            <a:ext cx="2971982" cy="497285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7F4D469E-94F5-4441-A8A1-33E94B5433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1939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801" cy="497285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1" cy="497285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D48C765E-539C-483F-BCDF-F0F0AD79452C}" type="datetimeFigureOut">
              <a:rPr lang="tr-TR" smtClean="0"/>
              <a:pPr/>
              <a:t>8.04.2020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11" tIns="45555" rIns="91111" bIns="45555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203"/>
            <a:ext cx="5486400" cy="4475561"/>
          </a:xfrm>
          <a:prstGeom prst="rect">
            <a:avLst/>
          </a:prstGeom>
        </p:spPr>
        <p:txBody>
          <a:bodyPr vert="horz" lIns="91111" tIns="45555" rIns="91111" bIns="45555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6678"/>
            <a:ext cx="2971801" cy="497285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1" cy="497285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AE8B6D33-EF40-4511-BB6D-F4559DCC6ED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84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4918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13332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53585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03426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42194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81115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22659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01088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46775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2737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52101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86198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249299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828795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45606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84876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146964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EEC2-418A-4AE9-8D76-1350AC2C960C}" type="datetime1">
              <a:rPr lang="tr-TR" smtClean="0"/>
              <a:pPr/>
              <a:t>8.04.2020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B617E-CC2C-45DD-8B2D-8AE4EA5FC5F8}" type="datetime1">
              <a:rPr lang="tr-TR" smtClean="0"/>
              <a:pPr/>
              <a:t>8.04.2020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D0F5-A4BC-46CD-8841-C457452FFEDC}" type="datetime1">
              <a:rPr lang="tr-TR" smtClean="0"/>
              <a:pPr/>
              <a:t>8.04.2020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334DA-5AD4-4FA3-AFE8-2A8C67D70199}" type="datetime1">
              <a:rPr lang="tr-TR" smtClean="0"/>
              <a:pPr/>
              <a:t>8.04.2020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F8EC-0934-411F-B635-3062B68C4A87}" type="datetime1">
              <a:rPr lang="tr-TR" smtClean="0"/>
              <a:pPr/>
              <a:t>8.04.2020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C700-BE93-49BC-965A-FE7AF14E8E5E}" type="datetime1">
              <a:rPr lang="tr-TR" smtClean="0"/>
              <a:pPr/>
              <a:t>8.04.2020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533D-1371-4A64-9DA7-B94E9E82C698}" type="datetime1">
              <a:rPr lang="tr-TR" smtClean="0"/>
              <a:pPr/>
              <a:t>8.04.2020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4A5A-A249-4E71-9C80-CB1606C64E4A}" type="datetime1">
              <a:rPr lang="tr-TR" smtClean="0"/>
              <a:pPr/>
              <a:t>8.04.2020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A4DE-DE11-46F8-8818-543B671E4FAF}" type="datetime1">
              <a:rPr lang="tr-TR" smtClean="0"/>
              <a:pPr/>
              <a:t>8.04.2020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022AE-E832-4A8B-9536-4372F3E1F6C7}" type="datetime1">
              <a:rPr lang="tr-TR" smtClean="0"/>
              <a:pPr/>
              <a:t>8.04.2020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B04C-27DE-4D51-8F84-8865E814DCCD}" type="datetime1">
              <a:rPr lang="tr-TR" smtClean="0"/>
              <a:pPr/>
              <a:t>8.04.2020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7707C-6B9A-4E38-AEE2-597F60E606B3}" type="datetime1">
              <a:rPr lang="tr-TR" smtClean="0"/>
              <a:pPr/>
              <a:t>8.04.2020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7340" y="1484784"/>
            <a:ext cx="7704856" cy="3888432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NTE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1010</a:t>
            </a:r>
          </a:p>
          <a:p>
            <a:pPr>
              <a:spcBef>
                <a:spcPts val="0"/>
              </a:spcBef>
            </a:pP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Introduction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1800" dirty="0" err="1">
                <a:solidFill>
                  <a:srgbClr val="800000"/>
                </a:solidFill>
                <a:latin typeface="Arial Narrow" pitchFamily="34" charset="0"/>
              </a:rPr>
              <a:t>to</a:t>
            </a:r>
            <a:r>
              <a:rPr lang="tr-TR" sz="1800" dirty="0">
                <a:solidFill>
                  <a:srgbClr val="800000"/>
                </a:solidFill>
                <a:latin typeface="Arial Narrow" pitchFamily="34" charset="0"/>
              </a:rPr>
              <a:t> Finance </a:t>
            </a:r>
            <a:r>
              <a:rPr lang="tr-TR" sz="1800" dirty="0" err="1">
                <a:solidFill>
                  <a:srgbClr val="800000"/>
                </a:solidFill>
                <a:latin typeface="Arial Narrow" pitchFamily="34" charset="0"/>
              </a:rPr>
              <a:t>for</a:t>
            </a:r>
            <a:r>
              <a:rPr lang="tr-TR" sz="18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Engineers</a:t>
            </a:r>
            <a:endParaRPr lang="tr-TR" sz="18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18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000" dirty="0" smtClean="0">
                <a:solidFill>
                  <a:schemeClr val="tx1"/>
                </a:solidFill>
                <a:latin typeface="Arial Narrow" pitchFamily="34" charset="0"/>
              </a:rPr>
              <a:t>Spring 2020</a:t>
            </a: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chemeClr val="tx1"/>
                </a:solidFill>
                <a:latin typeface="Arial Narrow" pitchFamily="34" charset="0"/>
              </a:rPr>
              <a:t>week</a:t>
            </a:r>
            <a:endParaRPr lang="tr-TR" sz="24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3600" dirty="0" smtClean="0">
                <a:solidFill>
                  <a:schemeClr val="tx1"/>
                </a:solidFill>
                <a:latin typeface="Arial Narrow" pitchFamily="34" charset="0"/>
              </a:rPr>
              <a:t>8</a:t>
            </a:r>
          </a:p>
          <a:p>
            <a:pPr>
              <a:spcBef>
                <a:spcPts val="0"/>
              </a:spcBef>
            </a:pPr>
            <a:endParaRPr lang="tr-TR" sz="1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1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800" dirty="0" smtClean="0">
                <a:solidFill>
                  <a:schemeClr val="tx1"/>
                </a:solidFill>
                <a:latin typeface="Arial Narrow" pitchFamily="34" charset="0"/>
              </a:rPr>
              <a:t>Financial </a:t>
            </a:r>
            <a:r>
              <a:rPr lang="tr-TR" sz="2800" dirty="0" err="1" smtClean="0">
                <a:solidFill>
                  <a:schemeClr val="tx1"/>
                </a:solidFill>
                <a:latin typeface="Arial Narrow" pitchFamily="34" charset="0"/>
              </a:rPr>
              <a:t>Crises</a:t>
            </a:r>
            <a:endParaRPr lang="tr-TR" sz="2800" dirty="0" smtClean="0">
              <a:solidFill>
                <a:schemeClr val="tx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7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Stock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Huge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Swings</a:t>
            </a:r>
            <a:r>
              <a:rPr lang="tr-TR" sz="2800" dirty="0" smtClean="0">
                <a:latin typeface="Arial Narrow" pitchFamily="34" charset="0"/>
              </a:rPr>
              <a:t> in </a:t>
            </a:r>
            <a:r>
              <a:rPr lang="tr-TR" sz="2800" dirty="0" err="1" smtClean="0">
                <a:latin typeface="Arial Narrow" pitchFamily="34" charset="0"/>
              </a:rPr>
              <a:t>the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Stock</a:t>
            </a:r>
            <a:r>
              <a:rPr lang="tr-TR" sz="2800" dirty="0" smtClean="0">
                <a:latin typeface="Arial Narrow" pitchFamily="34" charset="0"/>
              </a:rPr>
              <a:t> Market in </a:t>
            </a:r>
            <a:r>
              <a:rPr lang="tr-TR" sz="2800" dirty="0" err="1" smtClean="0">
                <a:latin typeface="Arial Narrow" pitchFamily="34" charset="0"/>
              </a:rPr>
              <a:t>Recent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Years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1990s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were</a:t>
            </a:r>
            <a:r>
              <a:rPr lang="tr-TR" sz="1800" dirty="0" smtClean="0">
                <a:latin typeface="Arial Narrow" panose="020B0606020202030204" pitchFamily="34" charset="0"/>
              </a:rPr>
              <a:t> an </a:t>
            </a:r>
            <a:r>
              <a:rPr lang="tr-TR" sz="1800" dirty="0" err="1" smtClean="0">
                <a:latin typeface="Arial Narrow" panose="020B0606020202030204" pitchFamily="34" charset="0"/>
              </a:rPr>
              <a:t>extraordinary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decade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stocks</a:t>
            </a:r>
            <a:r>
              <a:rPr lang="tr-TR" sz="1800" dirty="0" smtClean="0">
                <a:latin typeface="Arial Narrow" panose="020B0606020202030204" pitchFamily="34" charset="0"/>
              </a:rPr>
              <a:t>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Dow Jones and S&amp;P500 indexes increased more than 400%,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while the tech-laden NASDAQ index rose more than 1,000%.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By early 2000, </a:t>
            </a:r>
            <a:r>
              <a:rPr lang="tr-TR" sz="1800" noProof="1" smtClean="0">
                <a:latin typeface="Arial Narrow" panose="020B0606020202030204" pitchFamily="34" charset="0"/>
              </a:rPr>
              <a:t>all </a:t>
            </a:r>
            <a:r>
              <a:rPr lang="tr-TR" sz="1800" noProof="1" smtClean="0">
                <a:latin typeface="Arial Narrow" panose="020B0606020202030204" pitchFamily="34" charset="0"/>
              </a:rPr>
              <a:t>indexes had reached record highs.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Unfortunately, the good times did not last.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Starting in early 2000, the stock market began to decline and many investors lost their shirts.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NASDAQ crashed, falling by more than 50%,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while the Dow Jones and S&amp;P500 indexes fell by 30% through January 2003.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After subseuently rising over 30%,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stock market crashed again during the global financial crisis,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falling over 50% from its peak in the fall of 2007.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Starting in 2009, the stock market recovered quickly, rising by more than 50% by 2011.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77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7726" y="44624"/>
            <a:ext cx="7749074" cy="1008112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Stock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Dow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Jones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Industrial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Average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Stock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Market Index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 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1290830"/>
            <a:ext cx="8592147" cy="5306521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1998218" y="1075386"/>
            <a:ext cx="4708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tr-TR" sz="2000" dirty="0" err="1">
                <a:latin typeface="Arial Narrow" panose="020B0606020202030204" pitchFamily="34" charset="0"/>
              </a:rPr>
              <a:t>Inflation-adjusted</a:t>
            </a:r>
            <a:r>
              <a:rPr lang="tr-TR" sz="2000" dirty="0">
                <a:latin typeface="Arial Narrow" panose="020B0606020202030204" pitchFamily="34" charset="0"/>
              </a:rPr>
              <a:t>, </a:t>
            </a:r>
            <a:r>
              <a:rPr lang="tr-TR" sz="2000" dirty="0" err="1">
                <a:latin typeface="Arial Narrow" panose="020B0606020202030204" pitchFamily="34" charset="0"/>
              </a:rPr>
              <a:t>gray</a:t>
            </a:r>
            <a:r>
              <a:rPr lang="tr-TR" sz="2000" dirty="0"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latin typeface="Arial Narrow" panose="020B0606020202030204" pitchFamily="34" charset="0"/>
              </a:rPr>
              <a:t>bands</a:t>
            </a:r>
            <a:r>
              <a:rPr lang="tr-TR" sz="2000" dirty="0">
                <a:latin typeface="Arial Narrow" panose="020B0606020202030204" pitchFamily="34" charset="0"/>
              </a:rPr>
              <a:t>: </a:t>
            </a:r>
            <a:r>
              <a:rPr lang="tr-TR" sz="2000" dirty="0" err="1">
                <a:latin typeface="Arial Narrow" panose="020B0606020202030204" pitchFamily="34" charset="0"/>
              </a:rPr>
              <a:t>recession</a:t>
            </a:r>
            <a:r>
              <a:rPr lang="tr-TR" sz="2000" dirty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periods</a:t>
            </a:r>
            <a:endParaRPr lang="tr-TR" sz="20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Stock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Recession</a:t>
            </a:r>
            <a:r>
              <a:rPr lang="tr-TR" sz="2800" dirty="0" smtClean="0">
                <a:latin typeface="Arial Narrow" pitchFamily="34" charset="0"/>
              </a:rPr>
              <a:t> of 1990-1991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84576"/>
          </a:xfrm>
          <a:ln w="25400"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 </a:t>
            </a:r>
            <a:r>
              <a:rPr lang="en-US" sz="1600" dirty="0">
                <a:latin typeface="Arial Narrow" panose="020B0606020202030204" pitchFamily="34" charset="0"/>
              </a:rPr>
              <a:t>recession </a:t>
            </a:r>
            <a:r>
              <a:rPr lang="en-US" sz="1600" dirty="0" smtClean="0">
                <a:latin typeface="Arial Narrow" panose="020B0606020202030204" pitchFamily="34" charset="0"/>
              </a:rPr>
              <a:t>lasted </a:t>
            </a:r>
            <a:r>
              <a:rPr lang="en-US" sz="1600" dirty="0">
                <a:latin typeface="Arial Narrow" panose="020B0606020202030204" pitchFamily="34" charset="0"/>
              </a:rPr>
              <a:t>from July 1990 to March </a:t>
            </a:r>
            <a:r>
              <a:rPr lang="en-US" sz="1600" dirty="0" smtClean="0">
                <a:latin typeface="Arial Narrow" panose="020B0606020202030204" pitchFamily="34" charset="0"/>
              </a:rPr>
              <a:t>1991.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From </a:t>
            </a:r>
            <a:r>
              <a:rPr lang="en-US" sz="1600" dirty="0">
                <a:latin typeface="Arial Narrow" panose="020B0606020202030204" pitchFamily="34" charset="0"/>
              </a:rPr>
              <a:t>November 1982 to July 1990 the U.S. economy </a:t>
            </a:r>
            <a:r>
              <a:rPr lang="en-US" sz="1600" dirty="0" smtClean="0">
                <a:latin typeface="Arial Narrow" panose="020B0606020202030204" pitchFamily="34" charset="0"/>
              </a:rPr>
              <a:t>experienced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robust </a:t>
            </a:r>
            <a:r>
              <a:rPr lang="en-US" sz="1600" dirty="0">
                <a:latin typeface="Arial Narrow" panose="020B0606020202030204" pitchFamily="34" charset="0"/>
              </a:rPr>
              <a:t>growth, modest unemployment, and low </a:t>
            </a:r>
            <a:r>
              <a:rPr lang="en-US" sz="1600" dirty="0" smtClean="0">
                <a:latin typeface="Arial Narrow" panose="020B0606020202030204" pitchFamily="34" charset="0"/>
              </a:rPr>
              <a:t>inflation.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 </a:t>
            </a:r>
            <a:r>
              <a:rPr lang="en-US" sz="1600" dirty="0">
                <a:latin typeface="Arial Narrow" panose="020B0606020202030204" pitchFamily="34" charset="0"/>
              </a:rPr>
              <a:t>"Reagan boom" rested on shaky foundations, </a:t>
            </a:r>
            <a:r>
              <a:rPr lang="en-US" sz="1600" dirty="0" smtClean="0">
                <a:latin typeface="Arial Narrow" panose="020B0606020202030204" pitchFamily="34" charset="0"/>
              </a:rPr>
              <a:t>however,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and </a:t>
            </a:r>
            <a:r>
              <a:rPr lang="en-US" sz="1600" dirty="0">
                <a:latin typeface="Arial Narrow" panose="020B0606020202030204" pitchFamily="34" charset="0"/>
              </a:rPr>
              <a:t>as the </a:t>
            </a:r>
            <a:r>
              <a:rPr lang="en-US" sz="1600" dirty="0" err="1">
                <a:latin typeface="Arial Narrow" panose="020B0606020202030204" pitchFamily="34" charset="0"/>
              </a:rPr>
              <a:t>1980s</a:t>
            </a:r>
            <a:r>
              <a:rPr lang="en-US" sz="1600" dirty="0">
                <a:latin typeface="Arial Narrow" panose="020B0606020202030204" pitchFamily="34" charset="0"/>
              </a:rPr>
              <a:t> progressed signs of trouble began to </a:t>
            </a:r>
            <a:r>
              <a:rPr lang="en-US" sz="1600" dirty="0" smtClean="0">
                <a:latin typeface="Arial Narrow" panose="020B0606020202030204" pitchFamily="34" charset="0"/>
              </a:rPr>
              <a:t>mount.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On </a:t>
            </a:r>
            <a:r>
              <a:rPr lang="en-US" sz="1600" dirty="0">
                <a:latin typeface="Arial Narrow" panose="020B0606020202030204" pitchFamily="34" charset="0"/>
              </a:rPr>
              <a:t>October 19, 1987 </a:t>
            </a:r>
            <a:r>
              <a:rPr lang="en-US" sz="1600" dirty="0" smtClean="0">
                <a:latin typeface="Arial Narrow" panose="020B0606020202030204" pitchFamily="34" charset="0"/>
              </a:rPr>
              <a:t>stock </a:t>
            </a:r>
            <a:r>
              <a:rPr lang="en-US" sz="1600" dirty="0">
                <a:latin typeface="Arial Narrow" panose="020B0606020202030204" pitchFamily="34" charset="0"/>
              </a:rPr>
              <a:t>markets around the world </a:t>
            </a:r>
            <a:r>
              <a:rPr lang="en-US" sz="1600" dirty="0" smtClean="0">
                <a:latin typeface="Arial Narrow" panose="020B0606020202030204" pitchFamily="34" charset="0"/>
              </a:rPr>
              <a:t>crashed</a:t>
            </a:r>
            <a:r>
              <a:rPr lang="tr-TR" sz="1600" dirty="0" smtClean="0">
                <a:latin typeface="Arial Narrow" panose="020B0606020202030204" pitchFamily="34" charset="0"/>
              </a:rPr>
              <a:t> (</a:t>
            </a:r>
            <a:r>
              <a:rPr lang="tr-TR" sz="1600" dirty="0" err="1" smtClean="0">
                <a:latin typeface="Arial Narrow" panose="020B0606020202030204" pitchFamily="34" charset="0"/>
              </a:rPr>
              <a:t>started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Far East)</a:t>
            </a:r>
            <a:r>
              <a:rPr lang="en-US" sz="1600" dirty="0" smtClean="0">
                <a:latin typeface="Arial Narrow" panose="020B0606020202030204" pitchFamily="34" charset="0"/>
              </a:rPr>
              <a:t>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In </a:t>
            </a:r>
            <a:r>
              <a:rPr lang="en-US" sz="1600" dirty="0">
                <a:latin typeface="Arial Narrow" panose="020B0606020202030204" pitchFamily="34" charset="0"/>
              </a:rPr>
              <a:t>the U.S. the Dow Jones Industrial Average lost over 22% of its </a:t>
            </a:r>
            <a:r>
              <a:rPr lang="en-US" sz="1600" dirty="0" smtClean="0">
                <a:latin typeface="Arial Narrow" panose="020B0606020202030204" pitchFamily="34" charset="0"/>
              </a:rPr>
              <a:t>value.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Although </a:t>
            </a:r>
            <a:r>
              <a:rPr lang="en-US" sz="1600" dirty="0">
                <a:latin typeface="Arial Narrow" panose="020B0606020202030204" pitchFamily="34" charset="0"/>
              </a:rPr>
              <a:t>the causes of "Black Monday" were complex, many saw the crash as a sign </a:t>
            </a:r>
            <a:r>
              <a:rPr lang="en-US" sz="1600" dirty="0" smtClean="0">
                <a:latin typeface="Arial Narrow" panose="020B0606020202030204" pitchFamily="34" charset="0"/>
              </a:rPr>
              <a:t>that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investors </a:t>
            </a:r>
            <a:r>
              <a:rPr lang="en-US" sz="1600" dirty="0">
                <a:latin typeface="Arial Narrow" panose="020B0606020202030204" pitchFamily="34" charset="0"/>
              </a:rPr>
              <a:t>were worried about the inflation that might result from large U.S. budget </a:t>
            </a:r>
            <a:r>
              <a:rPr lang="en-US" sz="1600" dirty="0" smtClean="0">
                <a:latin typeface="Arial Narrow" panose="020B0606020202030204" pitchFamily="34" charset="0"/>
              </a:rPr>
              <a:t>deficits.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 </a:t>
            </a:r>
            <a:r>
              <a:rPr lang="en-US" sz="1600" dirty="0">
                <a:latin typeface="Arial Narrow" panose="020B0606020202030204" pitchFamily="34" charset="0"/>
              </a:rPr>
              <a:t>American housing market presented another sign of </a:t>
            </a:r>
            <a:r>
              <a:rPr lang="en-US" sz="1600" dirty="0" smtClean="0">
                <a:latin typeface="Arial Narrow" panose="020B0606020202030204" pitchFamily="34" charset="0"/>
              </a:rPr>
              <a:t>weakness,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as </a:t>
            </a:r>
            <a:r>
              <a:rPr lang="en-US" sz="1600" dirty="0">
                <a:latin typeface="Arial Narrow" panose="020B0606020202030204" pitchFamily="34" charset="0"/>
              </a:rPr>
              <a:t>in the second half of the </a:t>
            </a:r>
            <a:r>
              <a:rPr lang="en-US" sz="1600" dirty="0" err="1">
                <a:latin typeface="Arial Narrow" panose="020B0606020202030204" pitchFamily="34" charset="0"/>
              </a:rPr>
              <a:t>1980s</a:t>
            </a:r>
            <a:r>
              <a:rPr lang="en-US" sz="1600" dirty="0">
                <a:latin typeface="Arial Narrow" panose="020B0606020202030204" pitchFamily="34" charset="0"/>
              </a:rPr>
              <a:t> a large number of savings and loan associations (private banks that specialized in home mortgages) went </a:t>
            </a:r>
            <a:r>
              <a:rPr lang="en-US" sz="1600" dirty="0" smtClean="0">
                <a:latin typeface="Arial Narrow" panose="020B0606020202030204" pitchFamily="34" charset="0"/>
              </a:rPr>
              <a:t>bankrupt.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 </a:t>
            </a:r>
            <a:r>
              <a:rPr lang="en-US" sz="1600" dirty="0">
                <a:latin typeface="Arial Narrow" panose="020B0606020202030204" pitchFamily="34" charset="0"/>
              </a:rPr>
              <a:t>collapse of the </a:t>
            </a:r>
            <a:r>
              <a:rPr lang="en-US" sz="1600" dirty="0" err="1">
                <a:latin typeface="Arial Narrow" panose="020B0606020202030204" pitchFamily="34" charset="0"/>
              </a:rPr>
              <a:t>S&amp;L</a:t>
            </a:r>
            <a:r>
              <a:rPr lang="en-US" sz="1600" dirty="0">
                <a:latin typeface="Arial Narrow" panose="020B0606020202030204" pitchFamily="34" charset="0"/>
              </a:rPr>
              <a:t> industry negatively impacted the welfare of many American households and precipitated a large government bailout that placed further strain on the budget</a:t>
            </a:r>
            <a:r>
              <a:rPr lang="en-US" sz="1600" dirty="0" smtClean="0">
                <a:latin typeface="Arial Narrow" panose="020B0606020202030204" pitchFamily="34" charset="0"/>
              </a:rPr>
              <a:t>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en-US" sz="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Other </a:t>
            </a:r>
            <a:r>
              <a:rPr lang="en-US" sz="1600" dirty="0">
                <a:latin typeface="Arial Narrow" panose="020B0606020202030204" pitchFamily="34" charset="0"/>
              </a:rPr>
              <a:t>causes of the early </a:t>
            </a:r>
            <a:r>
              <a:rPr lang="en-US" sz="1600" dirty="0" err="1">
                <a:latin typeface="Arial Narrow" panose="020B0606020202030204" pitchFamily="34" charset="0"/>
              </a:rPr>
              <a:t>1990s</a:t>
            </a:r>
            <a:r>
              <a:rPr lang="en-US" sz="1600" dirty="0">
                <a:latin typeface="Arial Narrow" panose="020B0606020202030204" pitchFamily="34" charset="0"/>
              </a:rPr>
              <a:t> recession </a:t>
            </a:r>
            <a:r>
              <a:rPr lang="en-US" sz="1600" dirty="0" smtClean="0">
                <a:latin typeface="Arial Narrow" panose="020B0606020202030204" pitchFamily="34" charset="0"/>
              </a:rPr>
              <a:t>included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moves </a:t>
            </a:r>
            <a:r>
              <a:rPr lang="en-US" sz="1600" dirty="0">
                <a:latin typeface="Arial Narrow" panose="020B0606020202030204" pitchFamily="34" charset="0"/>
              </a:rPr>
              <a:t>by the U.S. Federal Reserve to raise interest rates in the late </a:t>
            </a:r>
            <a:r>
              <a:rPr lang="en-US" sz="1600" dirty="0" err="1" smtClean="0">
                <a:latin typeface="Arial Narrow" panose="020B0606020202030204" pitchFamily="34" charset="0"/>
              </a:rPr>
              <a:t>1980s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and </a:t>
            </a:r>
            <a:r>
              <a:rPr lang="en-US" sz="1600" dirty="0">
                <a:latin typeface="Arial Narrow" panose="020B0606020202030204" pitchFamily="34" charset="0"/>
              </a:rPr>
              <a:t>Iraq's invasion of Kuwait in the summer of </a:t>
            </a:r>
            <a:r>
              <a:rPr lang="en-US" sz="1600" dirty="0" smtClean="0">
                <a:latin typeface="Arial Narrow" panose="020B0606020202030204" pitchFamily="34" charset="0"/>
              </a:rPr>
              <a:t>1990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which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en-US" sz="1600" dirty="0" smtClean="0">
                <a:latin typeface="Arial Narrow" panose="020B0606020202030204" pitchFamily="34" charset="0"/>
              </a:rPr>
              <a:t>drove </a:t>
            </a:r>
            <a:r>
              <a:rPr lang="en-US" sz="1600" dirty="0">
                <a:latin typeface="Arial Narrow" panose="020B0606020202030204" pitchFamily="34" charset="0"/>
              </a:rPr>
              <a:t>up the world price of </a:t>
            </a:r>
            <a:r>
              <a:rPr lang="en-US" sz="1600" dirty="0" smtClean="0">
                <a:latin typeface="Arial Narrow" panose="020B0606020202030204" pitchFamily="34" charset="0"/>
              </a:rPr>
              <a:t>oil,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decreased </a:t>
            </a:r>
            <a:r>
              <a:rPr lang="en-US" sz="1600" dirty="0">
                <a:latin typeface="Arial Narrow" panose="020B0606020202030204" pitchFamily="34" charset="0"/>
              </a:rPr>
              <a:t>consumer confidence, and exacerbated the downturn that was already underway</a:t>
            </a:r>
            <a:r>
              <a:rPr lang="en-US" sz="1600" dirty="0" smtClean="0">
                <a:latin typeface="Arial Narrow" panose="020B0606020202030204" pitchFamily="34" charset="0"/>
              </a:rPr>
              <a:t>.</a:t>
            </a:r>
            <a:endParaRPr lang="en-US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81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Stock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Recession</a:t>
            </a:r>
            <a:r>
              <a:rPr lang="tr-TR" sz="2800" dirty="0" smtClean="0">
                <a:latin typeface="Arial Narrow" pitchFamily="34" charset="0"/>
              </a:rPr>
              <a:t> of 2001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84576"/>
          </a:xfrm>
          <a:ln w="25400"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2001 </a:t>
            </a:r>
            <a:r>
              <a:rPr lang="tr-TR" sz="1600" dirty="0" err="1">
                <a:latin typeface="Arial Narrow" panose="020B0606020202030204" pitchFamily="34" charset="0"/>
              </a:rPr>
              <a:t>recession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resulted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from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 Y2K </a:t>
            </a:r>
            <a:r>
              <a:rPr lang="tr-TR" sz="1600" dirty="0" err="1">
                <a:latin typeface="Arial Narrow" panose="020B0606020202030204" pitchFamily="34" charset="0"/>
              </a:rPr>
              <a:t>scare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smtClean="0">
                <a:latin typeface="Arial Narrow" panose="020B0606020202030204" pitchFamily="34" charset="0"/>
              </a:rPr>
              <a:t>(</a:t>
            </a:r>
            <a:r>
              <a:rPr lang="tr-TR" sz="1600" dirty="0" err="1" smtClean="0">
                <a:latin typeface="Arial Narrow" panose="020B0606020202030204" pitchFamily="34" charset="0"/>
              </a:rPr>
              <a:t>i.e</a:t>
            </a:r>
            <a:r>
              <a:rPr lang="tr-TR" sz="1600" dirty="0" smtClean="0">
                <a:latin typeface="Arial Narrow" panose="020B0606020202030204" pitchFamily="34" charset="0"/>
              </a:rPr>
              <a:t>. </a:t>
            </a:r>
            <a:r>
              <a:rPr lang="tr-TR" sz="1600" dirty="0" err="1" smtClean="0">
                <a:latin typeface="Arial Narrow" panose="020B0606020202030204" pitchFamily="34" charset="0"/>
              </a:rPr>
              <a:t>Year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2000</a:t>
            </a:r>
            <a:r>
              <a:rPr lang="tr-TR" sz="1600" dirty="0" smtClean="0">
                <a:latin typeface="Arial Narrow" panose="020B0606020202030204" pitchFamily="34" charset="0"/>
              </a:rPr>
              <a:t>).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In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>
                <a:latin typeface="Arial Narrow" panose="020B0606020202030204" pitchFamily="34" charset="0"/>
              </a:rPr>
              <a:t>1999, </a:t>
            </a:r>
            <a:r>
              <a:rPr lang="tr-TR" sz="1600" dirty="0" err="1">
                <a:latin typeface="Arial Narrow" panose="020B0606020202030204" pitchFamily="34" charset="0"/>
              </a:rPr>
              <a:t>there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was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smtClean="0">
                <a:latin typeface="Arial Narrow" panose="020B0606020202030204" pitchFamily="34" charset="0"/>
              </a:rPr>
              <a:t>an </a:t>
            </a:r>
            <a:r>
              <a:rPr lang="tr-TR" sz="1600" dirty="0" err="1" smtClean="0">
                <a:latin typeface="Arial Narrow" panose="020B0606020202030204" pitchFamily="34" charset="0"/>
              </a:rPr>
              <a:t>economic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boom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computer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software </a:t>
            </a:r>
            <a:r>
              <a:rPr lang="tr-TR" sz="1600" dirty="0" err="1" smtClean="0">
                <a:latin typeface="Arial Narrow" panose="020B0606020202030204" pitchFamily="34" charset="0"/>
              </a:rPr>
              <a:t>sales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as </a:t>
            </a:r>
            <a:r>
              <a:rPr lang="tr-TR" sz="1600" dirty="0" err="1">
                <a:latin typeface="Arial Narrow" panose="020B0606020202030204" pitchFamily="34" charset="0"/>
              </a:rPr>
              <a:t>many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companies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individuals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bought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new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computer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systems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make</a:t>
            </a:r>
            <a:r>
              <a:rPr lang="tr-TR" sz="1600" dirty="0">
                <a:latin typeface="Arial Narrow" panose="020B0606020202030204" pitchFamily="34" charset="0"/>
              </a:rPr>
              <a:t> sure </a:t>
            </a:r>
            <a:r>
              <a:rPr lang="tr-TR" sz="1600" dirty="0" err="1">
                <a:latin typeface="Arial Narrow" panose="020B0606020202030204" pitchFamily="34" charset="0"/>
              </a:rPr>
              <a:t>their</a:t>
            </a:r>
            <a:r>
              <a:rPr lang="tr-TR" sz="1600" dirty="0">
                <a:latin typeface="Arial Narrow" panose="020B0606020202030204" pitchFamily="34" charset="0"/>
              </a:rPr>
              <a:t> software </a:t>
            </a:r>
            <a:r>
              <a:rPr lang="tr-TR" sz="1600" dirty="0" err="1">
                <a:latin typeface="Arial Narrow" panose="020B0606020202030204" pitchFamily="34" charset="0"/>
              </a:rPr>
              <a:t>was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Y2K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compliant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As </a:t>
            </a:r>
            <a:r>
              <a:rPr lang="tr-TR" sz="1600" dirty="0">
                <a:latin typeface="Arial Narrow" panose="020B0606020202030204" pitchFamily="34" charset="0"/>
              </a:rPr>
              <a:t>a </a:t>
            </a:r>
            <a:r>
              <a:rPr lang="tr-TR" sz="1600" dirty="0" err="1">
                <a:latin typeface="Arial Narrow" panose="020B0606020202030204" pitchFamily="34" charset="0"/>
              </a:rPr>
              <a:t>result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stock</a:t>
            </a:r>
            <a:r>
              <a:rPr lang="tr-TR" sz="1600" dirty="0">
                <a:latin typeface="Arial Narrow" panose="020B0606020202030204" pitchFamily="34" charset="0"/>
              </a:rPr>
              <a:t> </a:t>
            </a:r>
            <a:r>
              <a:rPr lang="tr-TR" sz="1600" dirty="0" err="1">
                <a:latin typeface="Arial Narrow" panose="020B0606020202030204" pitchFamily="34" charset="0"/>
              </a:rPr>
              <a:t>price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many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high-tech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companies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started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increase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Investors</a:t>
            </a:r>
            <a:r>
              <a:rPr lang="tr-TR" sz="1600" dirty="0">
                <a:latin typeface="Arial Narrow" panose="020B0606020202030204" pitchFamily="34" charset="0"/>
              </a:rPr>
              <a:t>' </a:t>
            </a:r>
            <a:r>
              <a:rPr lang="tr-TR" sz="1600" dirty="0" err="1">
                <a:latin typeface="Arial Narrow" panose="020B0606020202030204" pitchFamily="34" charset="0"/>
              </a:rPr>
              <a:t>began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buying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stock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any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high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tech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company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whether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were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showing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profits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smtClean="0">
                <a:latin typeface="Arial Narrow" panose="020B0606020202030204" pitchFamily="34" charset="0"/>
              </a:rPr>
              <a:t>not.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exuberance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dot.com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companies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became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irrational</a:t>
            </a:r>
            <a:r>
              <a:rPr lang="tr-TR" sz="1600" dirty="0">
                <a:latin typeface="Arial Narrow" panose="020B0606020202030204" pitchFamily="34" charset="0"/>
              </a:rPr>
              <a:t>.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boom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bust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dot</a:t>
            </a:r>
            <a:r>
              <a:rPr lang="tr-TR" sz="1600" dirty="0">
                <a:latin typeface="Arial Narrow" panose="020B0606020202030204" pitchFamily="34" charset="0"/>
              </a:rPr>
              <a:t>-com </a:t>
            </a:r>
            <a:r>
              <a:rPr lang="tr-TR" sz="1600" dirty="0" err="1" smtClean="0">
                <a:latin typeface="Arial Narrow" panose="020B0606020202030204" pitchFamily="34" charset="0"/>
              </a:rPr>
              <a:t>businesses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As </a:t>
            </a:r>
            <a:r>
              <a:rPr lang="tr-TR" sz="1600" dirty="0">
                <a:latin typeface="Arial Narrow" panose="020B0606020202030204" pitchFamily="34" charset="0"/>
              </a:rPr>
              <a:t>a </a:t>
            </a:r>
            <a:r>
              <a:rPr lang="tr-TR" sz="1600" dirty="0" err="1">
                <a:latin typeface="Arial Narrow" panose="020B0606020202030204" pitchFamily="34" charset="0"/>
              </a:rPr>
              <a:t>result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stock</a:t>
            </a:r>
            <a:r>
              <a:rPr lang="tr-TR" sz="1600" dirty="0">
                <a:latin typeface="Arial Narrow" panose="020B0606020202030204" pitchFamily="34" charset="0"/>
              </a:rPr>
              <a:t> market </a:t>
            </a:r>
            <a:r>
              <a:rPr lang="tr-TR" sz="1600" dirty="0" err="1">
                <a:latin typeface="Arial Narrow" panose="020B0606020202030204" pitchFamily="34" charset="0"/>
              </a:rPr>
              <a:t>dropped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March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smtClean="0">
                <a:latin typeface="Arial Narrow" panose="020B0606020202030204" pitchFamily="34" charset="0"/>
              </a:rPr>
              <a:t>2000.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As </a:t>
            </a:r>
            <a:r>
              <a:rPr lang="tr-TR" sz="1600" dirty="0" err="1">
                <a:latin typeface="Arial Narrow" panose="020B0606020202030204" pitchFamily="34" charset="0"/>
              </a:rPr>
              <a:t>stock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prices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declined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so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did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value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dot.com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companies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many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bankrupt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Federal </a:t>
            </a:r>
            <a:r>
              <a:rPr lang="tr-TR" sz="1600" dirty="0" err="1" smtClean="0">
                <a:latin typeface="Arial Narrow" panose="020B0606020202030204" pitchFamily="34" charset="0"/>
              </a:rPr>
              <a:t>Reserve</a:t>
            </a:r>
            <a:r>
              <a:rPr lang="tr-TR" sz="1600" dirty="0">
                <a:latin typeface="Arial Narrow" panose="020B0606020202030204" pitchFamily="34" charset="0"/>
              </a:rPr>
              <a:t> </a:t>
            </a:r>
            <a:r>
              <a:rPr lang="tr-TR" sz="1600" dirty="0" err="1">
                <a:latin typeface="Arial Narrow" panose="020B0606020202030204" pitchFamily="34" charset="0"/>
              </a:rPr>
              <a:t>ignored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markets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continued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raising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interest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rates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rates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remained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high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when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economy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needed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low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rates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cheap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credit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In</a:t>
            </a:r>
            <a:r>
              <a:rPr lang="tr-TR" sz="1600" dirty="0">
                <a:latin typeface="Arial Narrow" panose="020B0606020202030204" pitchFamily="34" charset="0"/>
              </a:rPr>
              <a:t> 2001,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9/11 </a:t>
            </a:r>
            <a:r>
              <a:rPr lang="tr-TR" sz="1600" dirty="0" err="1" smtClean="0">
                <a:latin typeface="Arial Narrow" panose="020B0606020202030204" pitchFamily="34" charset="0"/>
              </a:rPr>
              <a:t>attack</a:t>
            </a:r>
            <a:r>
              <a:rPr lang="tr-TR" sz="1600" dirty="0">
                <a:latin typeface="Arial Narrow" panose="020B0606020202030204" pitchFamily="34" charset="0"/>
              </a:rPr>
              <a:t> </a:t>
            </a:r>
            <a:r>
              <a:rPr lang="tr-TR" sz="1600" dirty="0" err="1">
                <a:latin typeface="Arial Narrow" panose="020B0606020202030204" pitchFamily="34" charset="0"/>
              </a:rPr>
              <a:t>worsened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downturn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New York </a:t>
            </a:r>
            <a:r>
              <a:rPr lang="tr-TR" sz="1600" dirty="0" err="1" smtClean="0">
                <a:latin typeface="Arial Narrow" panose="020B0606020202030204" pitchFamily="34" charset="0"/>
              </a:rPr>
              <a:t>Stock</a:t>
            </a:r>
            <a:r>
              <a:rPr lang="tr-TR" sz="1600" dirty="0" smtClean="0">
                <a:latin typeface="Arial Narrow" panose="020B0606020202030204" pitchFamily="34" charset="0"/>
              </a:rPr>
              <a:t> Exchange </a:t>
            </a:r>
            <a:r>
              <a:rPr lang="tr-TR" sz="1600" dirty="0" err="1" smtClean="0">
                <a:latin typeface="Arial Narrow" panose="020B0606020202030204" pitchFamily="34" charset="0"/>
              </a:rPr>
              <a:t>closed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four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trading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days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after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attacks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When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stock</a:t>
            </a:r>
            <a:r>
              <a:rPr lang="tr-TR" sz="1600" dirty="0">
                <a:latin typeface="Arial Narrow" panose="020B0606020202030204" pitchFamily="34" charset="0"/>
              </a:rPr>
              <a:t> market </a:t>
            </a:r>
            <a:r>
              <a:rPr lang="tr-TR" sz="1600" dirty="0" err="1">
                <a:latin typeface="Arial Narrow" panose="020B0606020202030204" pitchFamily="34" charset="0"/>
              </a:rPr>
              <a:t>reopened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Dow </a:t>
            </a:r>
            <a:r>
              <a:rPr lang="tr-TR" sz="1600" dirty="0" err="1" smtClean="0">
                <a:latin typeface="Arial Narrow" panose="020B0606020202030204" pitchFamily="34" charset="0"/>
              </a:rPr>
              <a:t>Jones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Industrial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Average</a:t>
            </a:r>
            <a:r>
              <a:rPr lang="tr-TR" sz="1600" dirty="0">
                <a:latin typeface="Arial Narrow" panose="020B0606020202030204" pitchFamily="34" charset="0"/>
              </a:rPr>
              <a:t> </a:t>
            </a:r>
            <a:r>
              <a:rPr lang="tr-TR" sz="1600" dirty="0" err="1">
                <a:latin typeface="Arial Narrow" panose="020B0606020202030204" pitchFamily="34" charset="0"/>
              </a:rPr>
              <a:t>fell</a:t>
            </a:r>
            <a:r>
              <a:rPr lang="tr-TR" sz="1600" dirty="0">
                <a:latin typeface="Arial Narrow" panose="020B0606020202030204" pitchFamily="34" charset="0"/>
              </a:rPr>
              <a:t> 7 </a:t>
            </a:r>
            <a:r>
              <a:rPr lang="tr-TR" sz="1600" dirty="0" err="1">
                <a:latin typeface="Arial Narrow" panose="020B0606020202030204" pitchFamily="34" charset="0"/>
              </a:rPr>
              <a:t>percent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one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day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Bush </a:t>
            </a:r>
            <a:r>
              <a:rPr lang="tr-TR" sz="1600" dirty="0" err="1">
                <a:latin typeface="Arial Narrow" panose="020B0606020202030204" pitchFamily="34" charset="0"/>
              </a:rPr>
              <a:t>administartion</a:t>
            </a:r>
            <a:r>
              <a:rPr lang="tr-TR" sz="1600" dirty="0">
                <a:latin typeface="Arial Narrow" panose="020B0606020202030204" pitchFamily="34" charset="0"/>
              </a:rPr>
              <a:t> </a:t>
            </a:r>
            <a:r>
              <a:rPr lang="tr-TR" sz="1600" dirty="0" err="1">
                <a:latin typeface="Arial Narrow" panose="020B0606020202030204" pitchFamily="34" charset="0"/>
              </a:rPr>
              <a:t>helped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recession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with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expansionary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fiscal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policy</a:t>
            </a:r>
            <a:r>
              <a:rPr lang="tr-TR" sz="1600" dirty="0">
                <a:latin typeface="Arial Narrow" panose="020B0606020202030204" pitchFamily="34" charset="0"/>
              </a:rPr>
              <a:t> (</a:t>
            </a:r>
            <a:r>
              <a:rPr lang="tr-TR" sz="1600" dirty="0" err="1">
                <a:latin typeface="Arial Narrow" panose="020B0606020202030204" pitchFamily="34" charset="0"/>
              </a:rPr>
              <a:t>e.g</a:t>
            </a:r>
            <a:r>
              <a:rPr lang="tr-TR" sz="1600" dirty="0">
                <a:latin typeface="Arial Narrow" panose="020B0606020202030204" pitchFamily="34" charset="0"/>
              </a:rPr>
              <a:t>. </a:t>
            </a:r>
            <a:r>
              <a:rPr lang="tr-TR" sz="1600" dirty="0" err="1">
                <a:latin typeface="Arial Narrow" panose="020B0606020202030204" pitchFamily="34" charset="0"/>
              </a:rPr>
              <a:t>tax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cuts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more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government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spending</a:t>
            </a:r>
            <a:r>
              <a:rPr lang="tr-TR" sz="1600" dirty="0">
                <a:latin typeface="Arial Narrow" panose="020B0606020202030204" pitchFamily="34" charset="0"/>
              </a:rPr>
              <a:t>). </a:t>
            </a:r>
            <a:endParaRPr lang="en-US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68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Stock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Financial </a:t>
            </a:r>
            <a:r>
              <a:rPr lang="tr-TR" sz="2800" dirty="0" err="1" smtClean="0">
                <a:latin typeface="Arial Narrow" pitchFamily="34" charset="0"/>
              </a:rPr>
              <a:t>Crisis</a:t>
            </a:r>
            <a:r>
              <a:rPr lang="tr-TR" sz="2800" dirty="0" smtClean="0">
                <a:latin typeface="Arial Narrow" pitchFamily="34" charset="0"/>
              </a:rPr>
              <a:t> of 2007-2008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84576"/>
          </a:xfrm>
          <a:ln w="25400"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>
                <a:latin typeface="Arial Narrow" panose="020B0606020202030204" pitchFamily="34" charset="0"/>
              </a:rPr>
              <a:t>It began in 2007 with a crisis in </a:t>
            </a:r>
            <a:r>
              <a:rPr lang="en-US" sz="1600" dirty="0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subprime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mortgage</a:t>
            </a:r>
            <a:r>
              <a:rPr lang="en-US" sz="1600" dirty="0">
                <a:latin typeface="Arial Narrow" panose="020B0606020202030204" pitchFamily="34" charset="0"/>
              </a:rPr>
              <a:t> market in </a:t>
            </a:r>
            <a:r>
              <a:rPr lang="en-US" sz="1600" dirty="0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United </a:t>
            </a:r>
            <a:r>
              <a:rPr lang="tr-TR" sz="1600" dirty="0" err="1" smtClean="0">
                <a:latin typeface="Arial Narrow" panose="020B0606020202030204" pitchFamily="34" charset="0"/>
              </a:rPr>
              <a:t>States</a:t>
            </a:r>
            <a:r>
              <a:rPr lang="en-US" sz="1600" dirty="0" smtClean="0">
                <a:latin typeface="Arial Narrow" panose="020B0606020202030204" pitchFamily="34" charset="0"/>
              </a:rPr>
              <a:t>,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and </a:t>
            </a:r>
            <a:r>
              <a:rPr lang="en-US" sz="1600" dirty="0">
                <a:latin typeface="Arial Narrow" panose="020B0606020202030204" pitchFamily="34" charset="0"/>
              </a:rPr>
              <a:t>developed into a full-blown </a:t>
            </a:r>
            <a:r>
              <a:rPr lang="en-US" sz="1600" dirty="0" smtClean="0">
                <a:latin typeface="Arial Narrow" panose="020B0606020202030204" pitchFamily="34" charset="0"/>
              </a:rPr>
              <a:t>international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banking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crisis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with </a:t>
            </a:r>
            <a:r>
              <a:rPr lang="en-US" sz="1600" dirty="0">
                <a:latin typeface="Arial Narrow" panose="020B0606020202030204" pitchFamily="34" charset="0"/>
              </a:rPr>
              <a:t>the collapse of the investment </a:t>
            </a:r>
            <a:r>
              <a:rPr lang="en-US" sz="1600" dirty="0" smtClean="0">
                <a:latin typeface="Arial Narrow" panose="020B0606020202030204" pitchFamily="34" charset="0"/>
              </a:rPr>
              <a:t>bank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Lehman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Brothers</a:t>
            </a:r>
            <a:r>
              <a:rPr lang="en-US" sz="1600" dirty="0">
                <a:latin typeface="Arial Narrow" panose="020B0606020202030204" pitchFamily="34" charset="0"/>
              </a:rPr>
              <a:t> on September 15, </a:t>
            </a:r>
            <a:r>
              <a:rPr lang="en-US" sz="1600" dirty="0" smtClean="0">
                <a:latin typeface="Arial Narrow" panose="020B0606020202030204" pitchFamily="34" charset="0"/>
              </a:rPr>
              <a:t>2008.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Excessive </a:t>
            </a:r>
            <a:r>
              <a:rPr lang="en-US" sz="1600" dirty="0">
                <a:latin typeface="Arial Narrow" panose="020B0606020202030204" pitchFamily="34" charset="0"/>
              </a:rPr>
              <a:t>risk-taking by banks such as Lehman </a:t>
            </a:r>
            <a:r>
              <a:rPr lang="en-US" sz="1600" dirty="0" smtClean="0">
                <a:latin typeface="Arial Narrow" panose="020B0606020202030204" pitchFamily="34" charset="0"/>
              </a:rPr>
              <a:t>Brothers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helped </a:t>
            </a:r>
            <a:r>
              <a:rPr lang="en-US" sz="1600" dirty="0">
                <a:latin typeface="Arial Narrow" panose="020B0606020202030204" pitchFamily="34" charset="0"/>
              </a:rPr>
              <a:t>to magnify the financial impact </a:t>
            </a:r>
            <a:r>
              <a:rPr lang="en-US" sz="1600" dirty="0" smtClean="0">
                <a:latin typeface="Arial Narrow" panose="020B0606020202030204" pitchFamily="34" charset="0"/>
              </a:rPr>
              <a:t>globally.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Massive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bail-outs</a:t>
            </a:r>
            <a:r>
              <a:rPr lang="en-US" sz="1600" dirty="0">
                <a:latin typeface="Arial Narrow" panose="020B0606020202030204" pitchFamily="34" charset="0"/>
              </a:rPr>
              <a:t> of financial </a:t>
            </a:r>
            <a:r>
              <a:rPr lang="en-US" sz="1600" dirty="0" smtClean="0">
                <a:latin typeface="Arial Narrow" panose="020B0606020202030204" pitchFamily="34" charset="0"/>
              </a:rPr>
              <a:t>institutions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and </a:t>
            </a:r>
            <a:r>
              <a:rPr lang="en-US" sz="1600" dirty="0">
                <a:latin typeface="Arial Narrow" panose="020B0606020202030204" pitchFamily="34" charset="0"/>
              </a:rPr>
              <a:t>other palliative </a:t>
            </a:r>
            <a:r>
              <a:rPr lang="en-US" sz="1600" dirty="0" smtClean="0">
                <a:latin typeface="Arial Narrow" panose="020B0606020202030204" pitchFamily="34" charset="0"/>
              </a:rPr>
              <a:t>monetary</a:t>
            </a:r>
            <a:r>
              <a:rPr lang="tr-TR" sz="1600" dirty="0" smtClean="0">
                <a:latin typeface="Arial Narrow" panose="020B0606020202030204" pitchFamily="34" charset="0"/>
              </a:rPr>
              <a:t> (″</a:t>
            </a:r>
            <a:r>
              <a:rPr lang="tr-TR" sz="1600" dirty="0" err="1" smtClean="0">
                <a:latin typeface="Arial Narrow" panose="020B0606020202030204" pitchFamily="34" charset="0"/>
              </a:rPr>
              <a:t>quantitative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easing</a:t>
            </a:r>
            <a:r>
              <a:rPr lang="tr-TR" sz="1600" dirty="0" smtClean="0">
                <a:latin typeface="Arial Narrow" panose="020B0606020202030204" pitchFamily="34" charset="0"/>
              </a:rPr>
              <a:t>″)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and </a:t>
            </a:r>
            <a:r>
              <a:rPr lang="en-US" sz="1600" dirty="0">
                <a:latin typeface="Arial Narrow" panose="020B0606020202030204" pitchFamily="34" charset="0"/>
              </a:rPr>
              <a:t>fiscal </a:t>
            </a:r>
            <a:r>
              <a:rPr lang="en-US" sz="1600" dirty="0" smtClean="0">
                <a:latin typeface="Arial Narrow" panose="020B0606020202030204" pitchFamily="34" charset="0"/>
              </a:rPr>
              <a:t>policies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were </a:t>
            </a:r>
            <a:r>
              <a:rPr lang="en-US" sz="1600" dirty="0">
                <a:latin typeface="Arial Narrow" panose="020B0606020202030204" pitchFamily="34" charset="0"/>
              </a:rPr>
              <a:t>employed to prevent a possible collapse of </a:t>
            </a:r>
            <a:r>
              <a:rPr lang="en-US" sz="1600" dirty="0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world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financial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system</a:t>
            </a:r>
            <a:r>
              <a:rPr lang="en-US" sz="1600" dirty="0" smtClean="0">
                <a:latin typeface="Arial Narrow" panose="020B0606020202030204" pitchFamily="34" charset="0"/>
              </a:rPr>
              <a:t>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 </a:t>
            </a:r>
            <a:r>
              <a:rPr lang="en-US" sz="1600" dirty="0">
                <a:latin typeface="Arial Narrow" panose="020B0606020202030204" pitchFamily="34" charset="0"/>
              </a:rPr>
              <a:t>crisis was nonetheless followed by a </a:t>
            </a:r>
            <a:r>
              <a:rPr lang="en-US" sz="1600" dirty="0" smtClean="0">
                <a:latin typeface="Arial Narrow" panose="020B0606020202030204" pitchFamily="34" charset="0"/>
              </a:rPr>
              <a:t>global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economic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downturn</a:t>
            </a:r>
            <a:r>
              <a:rPr lang="en-US" sz="1600" dirty="0" smtClean="0">
                <a:latin typeface="Arial Narrow" panose="020B0606020202030204" pitchFamily="34" charset="0"/>
              </a:rPr>
              <a:t>, the</a:t>
            </a:r>
            <a:r>
              <a:rPr lang="tr-TR" sz="1600" dirty="0" smtClean="0">
                <a:latin typeface="Arial Narrow" panose="020B0606020202030204" pitchFamily="34" charset="0"/>
              </a:rPr>
              <a:t> Great </a:t>
            </a:r>
            <a:r>
              <a:rPr lang="tr-TR" sz="1600" dirty="0" err="1" smtClean="0">
                <a:latin typeface="Arial Narrow" panose="020B0606020202030204" pitchFamily="34" charset="0"/>
              </a:rPr>
              <a:t>Recession</a:t>
            </a:r>
            <a:r>
              <a:rPr lang="en-US" sz="1600" dirty="0" smtClean="0">
                <a:latin typeface="Arial Narrow" panose="020B0606020202030204" pitchFamily="34" charset="0"/>
              </a:rPr>
              <a:t>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Europen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debt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crisis</a:t>
            </a:r>
            <a:r>
              <a:rPr lang="en-US" sz="1600" dirty="0" smtClean="0">
                <a:latin typeface="Arial Narrow" panose="020B0606020202030204" pitchFamily="34" charset="0"/>
              </a:rPr>
              <a:t>,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a </a:t>
            </a:r>
            <a:r>
              <a:rPr lang="en-US" sz="1600" dirty="0">
                <a:latin typeface="Arial Narrow" panose="020B0606020202030204" pitchFamily="34" charset="0"/>
              </a:rPr>
              <a:t>crisis in the banking system of the European countries using </a:t>
            </a:r>
            <a:r>
              <a:rPr lang="en-US" sz="1600" dirty="0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euro</a:t>
            </a:r>
            <a:r>
              <a:rPr lang="en-US" sz="1600" dirty="0" smtClean="0">
                <a:latin typeface="Arial Narrow" panose="020B0606020202030204" pitchFamily="34" charset="0"/>
              </a:rPr>
              <a:t>, </a:t>
            </a:r>
            <a:r>
              <a:rPr lang="en-US" sz="1600" dirty="0">
                <a:latin typeface="Arial Narrow" panose="020B0606020202030204" pitchFamily="34" charset="0"/>
              </a:rPr>
              <a:t>followed later.</a:t>
            </a:r>
          </a:p>
        </p:txBody>
      </p:sp>
    </p:spTree>
    <p:extLst>
      <p:ext uri="{BB962C8B-B14F-4D97-AF65-F5344CB8AC3E}">
        <p14:creationId xmlns:p14="http://schemas.microsoft.com/office/powerpoint/2010/main" val="333085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954560" cy="1642194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200" dirty="0" err="1" smtClean="0">
                <a:solidFill>
                  <a:srgbClr val="800000"/>
                </a:solidFill>
                <a:latin typeface="Arial Narrow" pitchFamily="34" charset="0"/>
              </a:rPr>
              <a:t>Stock</a:t>
            </a:r>
            <a:r>
              <a:rPr lang="tr-TR" sz="22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2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600" dirty="0" err="1" smtClean="0">
                <a:latin typeface="Arial Narrow" panose="020B0606020202030204" pitchFamily="34" charset="0"/>
              </a:rPr>
              <a:t>Quantitative</a:t>
            </a:r>
            <a:r>
              <a:rPr lang="tr-TR" sz="2600" dirty="0" smtClean="0">
                <a:latin typeface="Arial Narrow" panose="020B0606020202030204" pitchFamily="34" charset="0"/>
              </a:rPr>
              <a:t> </a:t>
            </a:r>
            <a:r>
              <a:rPr lang="tr-TR" sz="2600" dirty="0" err="1" smtClean="0">
                <a:latin typeface="Arial Narrow" panose="020B0606020202030204" pitchFamily="34" charset="0"/>
              </a:rPr>
              <a:t>Easing</a:t>
            </a:r>
            <a:endParaRPr lang="tr-TR" sz="26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483768" y="274638"/>
            <a:ext cx="6203032" cy="1930226"/>
          </a:xfrm>
          <a:ln w="25400"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Quantitative </a:t>
            </a:r>
            <a:r>
              <a:rPr lang="en-US" sz="1600" dirty="0">
                <a:latin typeface="Arial Narrow" panose="020B0606020202030204" pitchFamily="34" charset="0"/>
              </a:rPr>
              <a:t>easing (QE) is a monetary policy, implemented by </a:t>
            </a:r>
            <a:r>
              <a:rPr lang="en-US" sz="1600" dirty="0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Central Bank</a:t>
            </a:r>
            <a:r>
              <a:rPr lang="en-US" sz="1600" dirty="0" smtClean="0">
                <a:latin typeface="Arial Narrow" panose="020B0606020202030204" pitchFamily="34" charset="0"/>
              </a:rPr>
              <a:t>,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primarily </a:t>
            </a:r>
            <a:r>
              <a:rPr lang="en-US" sz="1600" dirty="0">
                <a:latin typeface="Arial Narrow" panose="020B0606020202030204" pitchFamily="34" charset="0"/>
              </a:rPr>
              <a:t>to energize the </a:t>
            </a:r>
            <a:r>
              <a:rPr lang="en-US" sz="1600" dirty="0" smtClean="0">
                <a:latin typeface="Arial Narrow" panose="020B0606020202030204" pitchFamily="34" charset="0"/>
              </a:rPr>
              <a:t>economy.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 </a:t>
            </a:r>
            <a:r>
              <a:rPr lang="en-US" sz="1600" dirty="0">
                <a:latin typeface="Arial Narrow" panose="020B0606020202030204" pitchFamily="34" charset="0"/>
              </a:rPr>
              <a:t>Central Bank will create money to buy government securities from the </a:t>
            </a:r>
            <a:r>
              <a:rPr lang="en-US" sz="1600" dirty="0" smtClean="0">
                <a:latin typeface="Arial Narrow" panose="020B0606020202030204" pitchFamily="34" charset="0"/>
              </a:rPr>
              <a:t>market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in </a:t>
            </a:r>
            <a:r>
              <a:rPr lang="en-US" sz="1600" dirty="0">
                <a:latin typeface="Arial Narrow" panose="020B0606020202030204" pitchFamily="34" charset="0"/>
              </a:rPr>
              <a:t>order to </a:t>
            </a:r>
            <a:r>
              <a:rPr lang="en-US" sz="1600" dirty="0" smtClean="0">
                <a:latin typeface="Arial Narrow" panose="020B0606020202030204" pitchFamily="34" charset="0"/>
              </a:rPr>
              <a:t>lower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rates</a:t>
            </a:r>
            <a:r>
              <a:rPr lang="en-US" sz="1600" dirty="0">
                <a:latin typeface="Arial Narrow" panose="020B0606020202030204" pitchFamily="34" charset="0"/>
              </a:rPr>
              <a:t> and increase the money </a:t>
            </a:r>
            <a:r>
              <a:rPr lang="en-US" sz="1600" dirty="0" smtClean="0">
                <a:latin typeface="Arial Narrow" panose="020B0606020202030204" pitchFamily="34" charset="0"/>
              </a:rPr>
              <a:t>supply.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These </a:t>
            </a:r>
            <a:r>
              <a:rPr lang="en-US" sz="1600" dirty="0">
                <a:latin typeface="Arial Narrow" panose="020B0606020202030204" pitchFamily="34" charset="0"/>
              </a:rPr>
              <a:t>economic conditions will then trigger financial </a:t>
            </a:r>
            <a:r>
              <a:rPr lang="en-US" sz="1600" dirty="0" smtClean="0">
                <a:latin typeface="Arial Narrow" panose="020B0606020202030204" pitchFamily="34" charset="0"/>
              </a:rPr>
              <a:t>institutions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to </a:t>
            </a:r>
            <a:r>
              <a:rPr lang="en-US" sz="1600" dirty="0">
                <a:latin typeface="Arial Narrow" panose="020B0606020202030204" pitchFamily="34" charset="0"/>
              </a:rPr>
              <a:t>promote increased </a:t>
            </a:r>
            <a:r>
              <a:rPr lang="en-US" sz="1600" dirty="0" smtClean="0">
                <a:latin typeface="Arial Narrow" panose="020B0606020202030204" pitchFamily="34" charset="0"/>
              </a:rPr>
              <a:t>lending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en-US" sz="1600" dirty="0" smtClean="0">
                <a:latin typeface="Arial Narrow" panose="020B0606020202030204" pitchFamily="34" charset="0"/>
              </a:rPr>
              <a:t>and </a:t>
            </a:r>
            <a:r>
              <a:rPr lang="en-US" sz="1600" dirty="0">
                <a:latin typeface="Arial Narrow" panose="020B0606020202030204" pitchFamily="34" charset="0"/>
              </a:rPr>
              <a:t>to make money supply more liquid</a:t>
            </a:r>
            <a:r>
              <a:rPr lang="en-US" sz="1600" dirty="0" smtClean="0">
                <a:latin typeface="Arial Narrow" panose="020B0606020202030204" pitchFamily="34" charset="0"/>
              </a:rPr>
              <a:t>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FED’s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Balance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Sheet</a:t>
            </a:r>
            <a:r>
              <a:rPr lang="tr-TR" sz="1600" dirty="0" smtClean="0">
                <a:latin typeface="Arial Narrow" panose="020B0606020202030204" pitchFamily="34" charset="0"/>
              </a:rPr>
              <a:t> size</a:t>
            </a:r>
            <a:endParaRPr lang="en-US" sz="1600" dirty="0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91" y="2204864"/>
            <a:ext cx="8458217" cy="4184913"/>
          </a:xfrm>
          <a:prstGeom prst="rect">
            <a:avLst/>
          </a:prstGeom>
        </p:spPr>
      </p:pic>
      <p:cxnSp>
        <p:nvCxnSpPr>
          <p:cNvPr id="10" name="Düz Ok Bağlayıcısı 9"/>
          <p:cNvCxnSpPr/>
          <p:nvPr/>
        </p:nvCxnSpPr>
        <p:spPr>
          <a:xfrm>
            <a:off x="4644008" y="2996952"/>
            <a:ext cx="0" cy="1152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Düz Ok Bağlayıcısı 10"/>
          <p:cNvCxnSpPr>
            <a:stCxn id="16" idx="2"/>
          </p:cNvCxnSpPr>
          <p:nvPr/>
        </p:nvCxnSpPr>
        <p:spPr>
          <a:xfrm>
            <a:off x="5364088" y="2862518"/>
            <a:ext cx="0" cy="121455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Düz Ok Bağlayıcısı 11"/>
          <p:cNvCxnSpPr>
            <a:stCxn id="17" idx="2"/>
          </p:cNvCxnSpPr>
          <p:nvPr/>
        </p:nvCxnSpPr>
        <p:spPr>
          <a:xfrm>
            <a:off x="6156176" y="2754506"/>
            <a:ext cx="0" cy="101835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4256722" y="2492896"/>
            <a:ext cx="774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QE1</a:t>
            </a:r>
            <a:endParaRPr lang="en-US" sz="28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Metin kutusu 15"/>
          <p:cNvSpPr txBox="1"/>
          <p:nvPr/>
        </p:nvSpPr>
        <p:spPr>
          <a:xfrm>
            <a:off x="4976802" y="2339298"/>
            <a:ext cx="774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QE2</a:t>
            </a:r>
            <a:endParaRPr lang="en-US" sz="28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5768890" y="2231286"/>
            <a:ext cx="774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QE3</a:t>
            </a:r>
            <a:endParaRPr lang="en-US" sz="28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88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Crises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Basics of </a:t>
            </a:r>
            <a:r>
              <a:rPr lang="tr-TR" sz="2800" dirty="0" err="1" smtClean="0">
                <a:latin typeface="Arial Narrow" pitchFamily="34" charset="0"/>
              </a:rPr>
              <a:t>the</a:t>
            </a:r>
            <a:r>
              <a:rPr lang="tr-TR" sz="2800" dirty="0" smtClean="0">
                <a:latin typeface="Arial Narrow" pitchFamily="34" charset="0"/>
              </a:rPr>
              <a:t> World Financial </a:t>
            </a:r>
            <a:r>
              <a:rPr lang="tr-TR" sz="2800" dirty="0" err="1" smtClean="0">
                <a:latin typeface="Arial Narrow" pitchFamily="34" charset="0"/>
              </a:rPr>
              <a:t>Structure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84576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Stocks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u="sng" dirty="0" smtClean="0">
                <a:latin typeface="Arial Narrow" panose="020B0606020202030204" pitchFamily="34" charset="0"/>
              </a:rPr>
              <a:t>not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important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source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external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financing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for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businesses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Issuing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marketable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debt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equity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securities</a:t>
            </a:r>
            <a:r>
              <a:rPr lang="tr-TR" sz="1600" dirty="0" smtClean="0">
                <a:latin typeface="Arial Narrow" panose="020B0606020202030204" pitchFamily="34" charset="0"/>
              </a:rPr>
              <a:t> is </a:t>
            </a:r>
            <a:r>
              <a:rPr lang="tr-TR" sz="1600" u="sng" dirty="0" smtClean="0">
                <a:latin typeface="Arial Narrow" panose="020B0606020202030204" pitchFamily="34" charset="0"/>
              </a:rPr>
              <a:t>not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primary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way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in </a:t>
            </a:r>
            <a:r>
              <a:rPr lang="tr-TR" sz="1600" dirty="0" err="1" smtClean="0">
                <a:latin typeface="Arial Narrow" panose="020B0606020202030204" pitchFamily="34" charset="0"/>
              </a:rPr>
              <a:t>which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businesses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finance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their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operations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either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(Bank </a:t>
            </a:r>
            <a:r>
              <a:rPr lang="tr-TR" sz="1600" dirty="0" err="1">
                <a:latin typeface="Arial Narrow" panose="020B0606020202030204" pitchFamily="34" charset="0"/>
              </a:rPr>
              <a:t>Loans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Non</a:t>
            </a:r>
            <a:r>
              <a:rPr lang="tr-TR" sz="1600" dirty="0">
                <a:latin typeface="Arial Narrow" panose="020B0606020202030204" pitchFamily="34" charset="0"/>
              </a:rPr>
              <a:t>-Bank </a:t>
            </a:r>
            <a:r>
              <a:rPr lang="tr-TR" sz="1600" dirty="0" err="1">
                <a:latin typeface="Arial Narrow" panose="020B0606020202030204" pitchFamily="34" charset="0"/>
              </a:rPr>
              <a:t>Loans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Bonds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Stocks</a:t>
            </a:r>
            <a:r>
              <a:rPr lang="tr-TR" sz="1600" dirty="0" smtClean="0">
                <a:latin typeface="Arial Narrow" panose="020B0606020202030204" pitchFamily="34" charset="0"/>
              </a:rPr>
              <a:t>)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Indirect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finance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which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involves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activities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financial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intermediaries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is </a:t>
            </a:r>
            <a:r>
              <a:rPr lang="tr-TR" sz="1600" dirty="0" err="1" smtClean="0">
                <a:latin typeface="Arial Narrow" panose="020B0606020202030204" pitchFamily="34" charset="0"/>
              </a:rPr>
              <a:t>many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times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important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than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direct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finance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in </a:t>
            </a:r>
            <a:r>
              <a:rPr lang="tr-TR" sz="1600" dirty="0" err="1" smtClean="0">
                <a:latin typeface="Arial Narrow" panose="020B0606020202030204" pitchFamily="34" charset="0"/>
              </a:rPr>
              <a:t>which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businesses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raise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funds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directly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from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lenders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financial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markets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Financial </a:t>
            </a:r>
            <a:r>
              <a:rPr lang="tr-TR" sz="1600" dirty="0" err="1" smtClean="0">
                <a:latin typeface="Arial Narrow" panose="020B0606020202030204" pitchFamily="34" charset="0"/>
              </a:rPr>
              <a:t>intermediaries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particularly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banks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are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important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source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external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funds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used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finance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businesses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financial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system</a:t>
            </a:r>
            <a:r>
              <a:rPr lang="tr-TR" sz="1600" dirty="0" smtClean="0">
                <a:latin typeface="Arial Narrow" panose="020B0606020202030204" pitchFamily="34" charset="0"/>
              </a:rPr>
              <a:t> is </a:t>
            </a:r>
            <a:r>
              <a:rPr lang="tr-TR" sz="1600" dirty="0" err="1" smtClean="0">
                <a:latin typeface="Arial Narrow" panose="020B0606020202030204" pitchFamily="34" charset="0"/>
              </a:rPr>
              <a:t>among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heavily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regulated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sectors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economy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Only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large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well-established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corporations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have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easy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access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securities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markets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finance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their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activities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Collateral is a prevalent feature of debt contracts for both households and businesses.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Collateral is a property that is pledged to a lender to guarantee payment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 the event that the borrower is unable to make deby payments.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Debt instruments typically are extremely complicated legal documents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that place substantial restrictions on the behavior of the borrower.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dirty="0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3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Crises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Dynamics in Advanced </a:t>
            </a:r>
            <a:r>
              <a:rPr lang="tr-TR" sz="2800" dirty="0" err="1" smtClean="0">
                <a:latin typeface="Arial Narrow" pitchFamily="34" charset="0"/>
              </a:rPr>
              <a:t>Economies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040560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Stage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One</a:t>
            </a:r>
            <a:r>
              <a:rPr lang="tr-TR" sz="1800" dirty="0" smtClean="0">
                <a:latin typeface="Arial Narrow" panose="020B0606020202030204" pitchFamily="34" charset="0"/>
              </a:rPr>
              <a:t>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Initiation</a:t>
            </a:r>
            <a:r>
              <a:rPr lang="tr-TR" sz="1800" dirty="0" smtClean="0">
                <a:latin typeface="Arial Narrow" panose="020B0606020202030204" pitchFamily="34" charset="0"/>
              </a:rPr>
              <a:t> of Financial </a:t>
            </a:r>
            <a:r>
              <a:rPr lang="tr-TR" sz="1800" dirty="0" err="1" smtClean="0">
                <a:latin typeface="Arial Narrow" panose="020B0606020202030204" pitchFamily="34" charset="0"/>
              </a:rPr>
              <a:t>Crisis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a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 - Mismanagement of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 smtClean="0">
              <a:solidFill>
                <a:srgbClr val="800000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Financial Innovation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introduction of new types of loans or other financial products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a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nd/or Liberalization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elimination of restrictions on financial markets and institutions: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w</a:t>
            </a:r>
            <a:r>
              <a:rPr lang="tr-TR" sz="1600" noProof="1" smtClean="0">
                <a:latin typeface="Arial Narrow" panose="020B0606020202030204" pitchFamily="34" charset="0"/>
              </a:rPr>
              <a:t>hich can promt financial institutions to go on a lending spree, called a credit boom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even with proper management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credit booms eventually outstrip the ability of institutions – and government regulators –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</a:t>
            </a:r>
            <a:r>
              <a:rPr lang="tr-TR" sz="1600" noProof="1" smtClean="0">
                <a:latin typeface="Arial Narrow" panose="020B0606020202030204" pitchFamily="34" charset="0"/>
              </a:rPr>
              <a:t>o screen and monitor credit risks,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leading to overly risky lending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eventually, losses on loans begin to mount,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and the value of the loans (on the asset side of the balance sheet) falls relative to liabilities,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thereby driving down the net worth (capital) of banks and other financial institutions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with less capital, these financial institutions cut back on their lending to borrower-spenders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Crises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>
                <a:latin typeface="Arial Narrow" pitchFamily="34" charset="0"/>
              </a:rPr>
              <a:t>Dynamics in Advanced </a:t>
            </a:r>
            <a:r>
              <a:rPr lang="tr-TR" sz="2800" dirty="0" err="1">
                <a:latin typeface="Arial Narrow" pitchFamily="34" charset="0"/>
              </a:rPr>
              <a:t>Economies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Stage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One</a:t>
            </a:r>
            <a:r>
              <a:rPr lang="tr-TR" sz="1800" dirty="0">
                <a:latin typeface="Arial Narrow" panose="020B0606020202030204" pitchFamily="34" charset="0"/>
              </a:rPr>
              <a:t>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Initiation</a:t>
            </a:r>
            <a:r>
              <a:rPr lang="tr-TR" sz="1800" dirty="0">
                <a:latin typeface="Arial Narrow" panose="020B0606020202030204" pitchFamily="34" charset="0"/>
              </a:rPr>
              <a:t> of Financial </a:t>
            </a:r>
            <a:r>
              <a:rPr lang="tr-TR" sz="1800" dirty="0" err="1">
                <a:latin typeface="Arial Narrow" panose="020B0606020202030204" pitchFamily="34" charset="0"/>
              </a:rPr>
              <a:t>Crisis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b – Asset-Price Boom and Bust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Prices of assets such as equity shares and real estate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can be driven by investor psychology well above thier fundemental economic values,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that is, their values based on realistic expectations of the assets’ future income streams.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rise of asset prices above their fundemental economic values is an asset-price bubble.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Asset-price bubbles are often also driven by credit booms,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 which the large increase in credit is used to fund purchases of assets,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thereby driving up their price.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c </a:t>
            </a: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– 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Increase in Uncertainty</a:t>
            </a:r>
            <a:endParaRPr lang="tr-TR" sz="1800" noProof="1">
              <a:solidFill>
                <a:srgbClr val="800000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With information hard to come by in a period of high uncertainty,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financial frictions increase, reducing lending and economic activity.</a:t>
            </a: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47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Crises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>
                <a:latin typeface="Arial Narrow" pitchFamily="34" charset="0"/>
              </a:rPr>
              <a:t>Dynamics in Advanced </a:t>
            </a:r>
            <a:r>
              <a:rPr lang="tr-TR" sz="2800" dirty="0" err="1">
                <a:latin typeface="Arial Narrow" pitchFamily="34" charset="0"/>
              </a:rPr>
              <a:t>Economies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Stage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One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Initiation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of Financial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Crisis</a:t>
            </a:r>
            <a:endParaRPr lang="tr-TR" sz="1800" dirty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Stage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Two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:</a:t>
            </a:r>
            <a:endParaRPr lang="tr-TR" sz="1800" dirty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Banking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Crisis</a:t>
            </a:r>
            <a:endParaRPr lang="tr-TR" sz="1800" dirty="0" smtClean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Deteriorating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balance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sheets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tougher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business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conditions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lead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some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financial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institutions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insolvency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when</a:t>
            </a:r>
            <a:r>
              <a:rPr lang="tr-TR" sz="1600" dirty="0" smtClean="0">
                <a:latin typeface="Arial Narrow" panose="020B0606020202030204" pitchFamily="34" charset="0"/>
              </a:rPr>
              <a:t> net </a:t>
            </a:r>
            <a:r>
              <a:rPr lang="tr-TR" sz="1600" dirty="0" err="1" smtClean="0">
                <a:latin typeface="Arial Narrow" panose="020B0606020202030204" pitchFamily="34" charset="0"/>
              </a:rPr>
              <a:t>worth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becomes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negative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Unable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pay </a:t>
            </a:r>
            <a:r>
              <a:rPr lang="tr-TR" sz="1600" dirty="0" err="1" smtClean="0">
                <a:latin typeface="Arial Narrow" panose="020B0606020202030204" pitchFamily="34" charset="0"/>
              </a:rPr>
              <a:t>depositors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other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creditors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some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banks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go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out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business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If</a:t>
            </a:r>
            <a:r>
              <a:rPr lang="tr-TR" sz="1600" dirty="0" smtClean="0">
                <a:latin typeface="Arial Narrow" panose="020B0606020202030204" pitchFamily="34" charset="0"/>
              </a:rPr>
              <a:t> severe </a:t>
            </a:r>
            <a:r>
              <a:rPr lang="tr-TR" sz="1600" dirty="0" err="1" smtClean="0">
                <a:latin typeface="Arial Narrow" panose="020B0606020202030204" pitchFamily="34" charset="0"/>
              </a:rPr>
              <a:t>enough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these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factors</a:t>
            </a:r>
            <a:r>
              <a:rPr lang="tr-TR" sz="1600" dirty="0" smtClean="0">
                <a:latin typeface="Arial Narrow" panose="020B0606020202030204" pitchFamily="34" charset="0"/>
              </a:rPr>
              <a:t> can </a:t>
            </a:r>
            <a:r>
              <a:rPr lang="tr-TR" sz="1600" dirty="0" err="1" smtClean="0">
                <a:latin typeface="Arial Narrow" panose="020B0606020202030204" pitchFamily="34" charset="0"/>
              </a:rPr>
              <a:t>lead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a bank </a:t>
            </a:r>
            <a:r>
              <a:rPr lang="tr-TR" sz="1600" dirty="0" err="1" smtClean="0">
                <a:latin typeface="Arial Narrow" panose="020B0606020202030204" pitchFamily="34" charset="0"/>
              </a:rPr>
              <a:t>panic</a:t>
            </a:r>
            <a:r>
              <a:rPr lang="tr-TR" sz="1600" dirty="0" smtClean="0">
                <a:latin typeface="Arial Narrow" panose="020B0606020202030204" pitchFamily="34" charset="0"/>
              </a:rPr>
              <a:t>, in </a:t>
            </a:r>
            <a:r>
              <a:rPr lang="tr-TR" sz="1600" dirty="0" err="1" smtClean="0">
                <a:latin typeface="Arial Narrow" panose="020B0606020202030204" pitchFamily="34" charset="0"/>
              </a:rPr>
              <a:t>which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multiple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banks</a:t>
            </a:r>
            <a:r>
              <a:rPr lang="tr-TR" sz="1600" dirty="0" smtClean="0">
                <a:latin typeface="Arial Narrow" panose="020B0606020202030204" pitchFamily="34" charset="0"/>
              </a:rPr>
              <a:t> fail </a:t>
            </a:r>
            <a:r>
              <a:rPr lang="tr-TR" sz="1600" dirty="0" err="1" smtClean="0">
                <a:latin typeface="Arial Narrow" panose="020B0606020202030204" pitchFamily="34" charset="0"/>
              </a:rPr>
              <a:t>simultaneously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Eventually</a:t>
            </a:r>
            <a:r>
              <a:rPr lang="tr-TR" sz="1600" noProof="1">
                <a:latin typeface="Arial Narrow" panose="020B0606020202030204" pitchFamily="34" charset="0"/>
              </a:rPr>
              <a:t>, public and private authorities shut down insolvent firms and sell them off or liquidate them.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Uncertainty in financial markets declines, the stock market recovers, and balance sheets improve.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Financial frictions diminish and the financial crisis subsides</a:t>
            </a:r>
            <a:r>
              <a:rPr lang="tr-TR" sz="1600" noProof="1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With the financial markets able to operate well again,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stage is set for an economic recovery.</a:t>
            </a: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67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Crises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>
                <a:latin typeface="Arial Narrow" pitchFamily="34" charset="0"/>
              </a:rPr>
              <a:t>Dynamics in Advanced </a:t>
            </a:r>
            <a:r>
              <a:rPr lang="tr-TR" sz="2800" dirty="0" err="1">
                <a:latin typeface="Arial Narrow" pitchFamily="34" charset="0"/>
              </a:rPr>
              <a:t>Economies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Stage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One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: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Initiation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of Financial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Crisis</a:t>
            </a:r>
            <a:endParaRPr lang="tr-TR" sz="1800" dirty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Stage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Two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: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Banking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Crisis</a:t>
            </a:r>
            <a:endParaRPr lang="tr-TR" sz="1800" dirty="0" smtClean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Stage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Three:</a:t>
            </a:r>
            <a:endParaRPr lang="tr-TR" sz="1800" dirty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Debt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Deflation</a:t>
            </a:r>
            <a:endParaRPr lang="tr-TR" sz="1800" dirty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If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however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economic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downturn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leads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a </a:t>
            </a:r>
            <a:r>
              <a:rPr lang="tr-TR" sz="1600" dirty="0" err="1" smtClean="0">
                <a:latin typeface="Arial Narrow" panose="020B0606020202030204" pitchFamily="34" charset="0"/>
              </a:rPr>
              <a:t>sharp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decline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price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level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recovery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process</a:t>
            </a:r>
            <a:r>
              <a:rPr lang="tr-TR" sz="1600" dirty="0" smtClean="0">
                <a:latin typeface="Arial Narrow" panose="020B0606020202030204" pitchFamily="34" charset="0"/>
              </a:rPr>
              <a:t> can be </a:t>
            </a:r>
            <a:r>
              <a:rPr lang="tr-TR" sz="1600" dirty="0" err="1" smtClean="0">
                <a:latin typeface="Arial Narrow" panose="020B0606020202030204" pitchFamily="34" charset="0"/>
              </a:rPr>
              <a:t>short-circuited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In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economies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with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moderate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inflation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which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characterizes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advanced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economies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many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debt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contracts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with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fixed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rates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typically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fairly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long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maturity</a:t>
            </a:r>
            <a:r>
              <a:rPr lang="tr-TR" sz="1600" dirty="0" smtClean="0">
                <a:latin typeface="Arial Narrow" panose="020B0606020202030204" pitchFamily="34" charset="0"/>
              </a:rPr>
              <a:t>, ten </a:t>
            </a:r>
            <a:r>
              <a:rPr lang="tr-TR" sz="1600" dirty="0" err="1" smtClean="0">
                <a:latin typeface="Arial Narrow" panose="020B0606020202030204" pitchFamily="34" charset="0"/>
              </a:rPr>
              <a:t>years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more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Because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debt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payments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contractually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fixed</a:t>
            </a:r>
            <a:r>
              <a:rPr lang="tr-TR" sz="1600" dirty="0" smtClean="0">
                <a:latin typeface="Arial Narrow" panose="020B0606020202030204" pitchFamily="34" charset="0"/>
              </a:rPr>
              <a:t> in nominal </a:t>
            </a:r>
            <a:r>
              <a:rPr lang="tr-TR" sz="1600" dirty="0" err="1" smtClean="0">
                <a:latin typeface="Arial Narrow" panose="020B0606020202030204" pitchFamily="34" charset="0"/>
              </a:rPr>
              <a:t>terms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an </a:t>
            </a:r>
            <a:r>
              <a:rPr lang="tr-TR" sz="1600" dirty="0" err="1" smtClean="0">
                <a:latin typeface="Arial Narrow" panose="020B0606020202030204" pitchFamily="34" charset="0"/>
              </a:rPr>
              <a:t>unanticipated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decline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price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level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raises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value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borrowing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firms</a:t>
            </a:r>
            <a:r>
              <a:rPr lang="tr-TR" sz="1600" dirty="0" smtClean="0">
                <a:latin typeface="Arial Narrow" panose="020B0606020202030204" pitchFamily="34" charset="0"/>
              </a:rPr>
              <a:t>’ </a:t>
            </a:r>
            <a:r>
              <a:rPr lang="tr-TR" sz="1600" dirty="0" err="1" smtClean="0">
                <a:latin typeface="Arial Narrow" panose="020B0606020202030204" pitchFamily="34" charset="0"/>
              </a:rPr>
              <a:t>liabilities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real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terms</a:t>
            </a:r>
            <a:r>
              <a:rPr lang="tr-TR" sz="1600" dirty="0" smtClean="0">
                <a:latin typeface="Arial Narrow" panose="020B0606020202030204" pitchFamily="34" charset="0"/>
              </a:rPr>
              <a:t> (</a:t>
            </a:r>
            <a:r>
              <a:rPr lang="tr-TR" sz="1600" dirty="0" err="1" smtClean="0">
                <a:latin typeface="Arial Narrow" panose="020B0606020202030204" pitchFamily="34" charset="0"/>
              </a:rPr>
              <a:t>increases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burden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debt</a:t>
            </a:r>
            <a:r>
              <a:rPr lang="tr-TR" sz="1600" dirty="0" smtClean="0">
                <a:latin typeface="Arial Narrow" panose="020B0606020202030204" pitchFamily="34" charset="0"/>
              </a:rPr>
              <a:t>) but </a:t>
            </a:r>
            <a:r>
              <a:rPr lang="tr-TR" sz="1600" dirty="0" err="1" smtClean="0">
                <a:latin typeface="Arial Narrow" panose="020B0606020202030204" pitchFamily="34" charset="0"/>
              </a:rPr>
              <a:t>does</a:t>
            </a:r>
            <a:r>
              <a:rPr lang="tr-TR" sz="1600" dirty="0" smtClean="0">
                <a:latin typeface="Arial Narrow" panose="020B0606020202030204" pitchFamily="34" charset="0"/>
              </a:rPr>
              <a:t> not </a:t>
            </a:r>
            <a:r>
              <a:rPr lang="tr-TR" sz="1600" dirty="0" err="1" smtClean="0">
                <a:latin typeface="Arial Narrow" panose="020B0606020202030204" pitchFamily="34" charset="0"/>
              </a:rPr>
              <a:t>raise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value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borrowing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firms</a:t>
            </a:r>
            <a:r>
              <a:rPr lang="tr-TR" sz="1600" dirty="0" smtClean="0">
                <a:latin typeface="Arial Narrow" panose="020B0606020202030204" pitchFamily="34" charset="0"/>
              </a:rPr>
              <a:t>’ </a:t>
            </a:r>
            <a:r>
              <a:rPr lang="tr-TR" sz="1600" dirty="0" err="1" smtClean="0">
                <a:latin typeface="Arial Narrow" panose="020B0606020202030204" pitchFamily="34" charset="0"/>
              </a:rPr>
              <a:t>assets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borrowing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firms</a:t>
            </a:r>
            <a:r>
              <a:rPr lang="tr-TR" sz="1600" dirty="0" smtClean="0">
                <a:latin typeface="Arial Narrow" panose="020B0606020202030204" pitchFamily="34" charset="0"/>
              </a:rPr>
              <a:t>’ net </a:t>
            </a:r>
            <a:r>
              <a:rPr lang="tr-TR" sz="1600" dirty="0" err="1" smtClean="0">
                <a:latin typeface="Arial Narrow" panose="020B0606020202030204" pitchFamily="34" charset="0"/>
              </a:rPr>
              <a:t>worth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real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terms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(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difference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between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asets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liabilities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real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terms</a:t>
            </a:r>
            <a:r>
              <a:rPr lang="tr-TR" sz="1600" dirty="0" smtClean="0">
                <a:latin typeface="Arial Narrow" panose="020B0606020202030204" pitchFamily="34" charset="0"/>
              </a:rPr>
              <a:t>) </a:t>
            </a:r>
            <a:r>
              <a:rPr lang="tr-TR" sz="1600" dirty="0" err="1" smtClean="0">
                <a:latin typeface="Arial Narrow" panose="020B0606020202030204" pitchFamily="34" charset="0"/>
              </a:rPr>
              <a:t>thus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declines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this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causes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borrowing</a:t>
            </a:r>
            <a:r>
              <a:rPr lang="tr-TR" sz="1600" dirty="0" smtClean="0">
                <a:latin typeface="Arial Narrow" panose="020B0606020202030204" pitchFamily="34" charset="0"/>
              </a:rPr>
              <a:t> / </a:t>
            </a:r>
            <a:r>
              <a:rPr lang="tr-TR" sz="1600" dirty="0" err="1" smtClean="0">
                <a:latin typeface="Arial Narrow" panose="020B0606020202030204" pitchFamily="34" charset="0"/>
              </a:rPr>
              <a:t>lending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apetite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decline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</a:t>
            </a:r>
            <a:r>
              <a:rPr lang="tr-TR" sz="1600" dirty="0" err="1" smtClean="0">
                <a:latin typeface="Arial Narrow" panose="020B0606020202030204" pitchFamily="34" charset="0"/>
              </a:rPr>
              <a:t>hus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economy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cools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down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66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Crises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Causes</a:t>
            </a:r>
            <a:r>
              <a:rPr lang="tr-TR" sz="2800" dirty="0" smtClean="0">
                <a:latin typeface="Arial Narrow" pitchFamily="34" charset="0"/>
              </a:rPr>
              <a:t> of 2007-2009 Financial </a:t>
            </a:r>
            <a:r>
              <a:rPr lang="tr-TR" sz="2800" dirty="0" err="1" smtClean="0">
                <a:latin typeface="Arial Narrow" pitchFamily="34" charset="0"/>
              </a:rPr>
              <a:t>Crisis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400600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a – 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innovations</a:t>
            </a:r>
            <a:r>
              <a:rPr lang="tr-TR" sz="18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 in </a:t>
            </a:r>
            <a:r>
              <a:rPr lang="tr-TR" sz="18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mortgage</a:t>
            </a:r>
            <a:r>
              <a:rPr lang="tr-TR" sz="18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markets</a:t>
            </a:r>
            <a:endParaRPr lang="tr-TR" sz="1800" dirty="0">
              <a:solidFill>
                <a:srgbClr val="800000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Advances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computer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technology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new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statistical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techniques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known</a:t>
            </a:r>
            <a:r>
              <a:rPr lang="tr-TR" sz="1600" dirty="0" smtClean="0">
                <a:latin typeface="Arial Narrow" panose="020B0606020202030204" pitchFamily="34" charset="0"/>
              </a:rPr>
              <a:t> as data </a:t>
            </a:r>
            <a:r>
              <a:rPr lang="tr-TR" sz="1600" dirty="0" err="1" smtClean="0">
                <a:latin typeface="Arial Narrow" panose="020B0606020202030204" pitchFamily="34" charset="0"/>
              </a:rPr>
              <a:t>mining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led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enhanced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quantitative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evaluation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credit</a:t>
            </a:r>
            <a:r>
              <a:rPr lang="tr-TR" sz="1600" dirty="0" smtClean="0">
                <a:latin typeface="Arial Narrow" panose="020B0606020202030204" pitchFamily="34" charset="0"/>
              </a:rPr>
              <a:t> risk </a:t>
            </a:r>
            <a:r>
              <a:rPr lang="tr-TR" sz="1600" dirty="0" err="1" smtClean="0">
                <a:latin typeface="Arial Narrow" panose="020B0606020202030204" pitchFamily="34" charset="0"/>
              </a:rPr>
              <a:t>for</a:t>
            </a:r>
            <a:r>
              <a:rPr lang="tr-TR" sz="1600" dirty="0" smtClean="0">
                <a:latin typeface="Arial Narrow" panose="020B0606020202030204" pitchFamily="34" charset="0"/>
              </a:rPr>
              <a:t> a </a:t>
            </a:r>
            <a:r>
              <a:rPr lang="tr-TR" sz="1600" dirty="0" err="1" smtClean="0">
                <a:latin typeface="Arial Narrow" panose="020B0606020202030204" pitchFamily="34" charset="0"/>
              </a:rPr>
              <a:t>new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class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risky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residential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mortgages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By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lowering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transaction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costs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computer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technology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enabled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bundling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together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smaller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loans</a:t>
            </a:r>
            <a:r>
              <a:rPr lang="tr-TR" sz="1600" dirty="0" smtClean="0">
                <a:latin typeface="Arial Narrow" panose="020B0606020202030204" pitchFamily="34" charset="0"/>
              </a:rPr>
              <a:t> (</a:t>
            </a:r>
            <a:r>
              <a:rPr lang="tr-TR" sz="1600" dirty="0" err="1" smtClean="0">
                <a:latin typeface="Arial Narrow" panose="020B0606020202030204" pitchFamily="34" charset="0"/>
              </a:rPr>
              <a:t>like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mortgages</a:t>
            </a:r>
            <a:r>
              <a:rPr lang="tr-TR" sz="1600" dirty="0" smtClean="0">
                <a:latin typeface="Arial Narrow" panose="020B0606020202030204" pitchFamily="34" charset="0"/>
              </a:rPr>
              <a:t>) </a:t>
            </a:r>
            <a:r>
              <a:rPr lang="tr-TR" sz="1600" dirty="0" err="1" smtClean="0">
                <a:latin typeface="Arial Narrow" panose="020B0606020202030204" pitchFamily="34" charset="0"/>
              </a:rPr>
              <a:t>into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standard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debt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securities</a:t>
            </a:r>
            <a:r>
              <a:rPr lang="tr-TR" sz="1600" dirty="0" smtClean="0">
                <a:latin typeface="Arial Narrow" panose="020B0606020202030204" pitchFamily="34" charset="0"/>
              </a:rPr>
              <a:t>, a </a:t>
            </a:r>
            <a:r>
              <a:rPr lang="tr-TR" sz="1600" dirty="0" err="1" smtClean="0">
                <a:latin typeface="Arial Narrow" panose="020B0606020202030204" pitchFamily="34" charset="0"/>
              </a:rPr>
              <a:t>process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known</a:t>
            </a:r>
            <a:r>
              <a:rPr lang="tr-TR" sz="1600" dirty="0" smtClean="0">
                <a:latin typeface="Arial Narrow" panose="020B0606020202030204" pitchFamily="34" charset="0"/>
              </a:rPr>
              <a:t> as </a:t>
            </a:r>
            <a:r>
              <a:rPr lang="tr-TR" sz="1600" dirty="0" err="1" smtClean="0">
                <a:latin typeface="Arial Narrow" panose="020B0606020202030204" pitchFamily="34" charset="0"/>
              </a:rPr>
              <a:t>securitization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These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factors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made</a:t>
            </a:r>
            <a:r>
              <a:rPr lang="tr-TR" sz="1600" dirty="0" smtClean="0">
                <a:latin typeface="Arial Narrow" panose="020B0606020202030204" pitchFamily="34" charset="0"/>
              </a:rPr>
              <a:t> it </a:t>
            </a:r>
            <a:r>
              <a:rPr lang="tr-TR" sz="1600" dirty="0" err="1" smtClean="0">
                <a:latin typeface="Arial Narrow" panose="020B0606020202030204" pitchFamily="34" charset="0"/>
              </a:rPr>
              <a:t>possible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for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banks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offer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subprime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mortgages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borrowers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with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less-than-stellar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credit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records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b – Agency problems in the mortagage markets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mortgage brokers that originated the loans often did not make a strong effort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to evaluate whether the borrower could pay off the loan,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since they would quickly sell (distribute) the loans to investors in the form of mortgage-backed securities.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Once the mortgage broker earns his fee, why should he care if the borrower makes good on his payment?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Risk-loving investors lined up to obtain loans to acquire houses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that would be very profitable if housing prices went up,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knowing they could ″walk away″ if housing prices went down.</a:t>
            </a: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c – Asymmetric information and Credit-Rating Agencies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rating agencies advised clients on how to structure complex financial instruments,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at the same time they were rating these identical products.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They were thus subject to conflicts of interest because the large fees they earned from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advising clients on how to structure products they were rating meant that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they did not have sufficient incentives to make sure that their rating were accurate.</a:t>
            </a:r>
          </a:p>
        </p:txBody>
      </p:sp>
    </p:spTree>
    <p:extLst>
      <p:ext uri="{BB962C8B-B14F-4D97-AF65-F5344CB8AC3E}">
        <p14:creationId xmlns:p14="http://schemas.microsoft.com/office/powerpoint/2010/main" val="254463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Crises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Effects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>
                <a:latin typeface="Arial Narrow" pitchFamily="34" charset="0"/>
              </a:rPr>
              <a:t>of 2007-2009 Financial </a:t>
            </a:r>
            <a:r>
              <a:rPr lang="tr-TR" sz="2800" dirty="0" err="1">
                <a:latin typeface="Arial Narrow" pitchFamily="34" charset="0"/>
              </a:rPr>
              <a:t>Crisis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Aided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liquidity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from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huge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cash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inflows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United </a:t>
            </a:r>
            <a:r>
              <a:rPr lang="tr-TR" sz="1600" dirty="0" err="1" smtClean="0">
                <a:latin typeface="Arial Narrow" panose="020B0606020202030204" pitchFamily="34" charset="0"/>
              </a:rPr>
              <a:t>States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from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countries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like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China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India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low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interest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rates</a:t>
            </a:r>
            <a:r>
              <a:rPr lang="tr-TR" sz="1600" dirty="0" smtClean="0">
                <a:latin typeface="Arial Narrow" panose="020B0606020202030204" pitchFamily="34" charset="0"/>
              </a:rPr>
              <a:t> on </a:t>
            </a:r>
            <a:r>
              <a:rPr lang="tr-TR" sz="1600" dirty="0" err="1" smtClean="0">
                <a:latin typeface="Arial Narrow" panose="020B0606020202030204" pitchFamily="34" charset="0"/>
              </a:rPr>
              <a:t>residential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mortgages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subprime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mortgage</a:t>
            </a:r>
            <a:r>
              <a:rPr lang="tr-TR" sz="1600" dirty="0" smtClean="0">
                <a:latin typeface="Arial Narrow" panose="020B0606020202030204" pitchFamily="34" charset="0"/>
              </a:rPr>
              <a:t> market </a:t>
            </a:r>
            <a:r>
              <a:rPr lang="tr-TR" sz="1600" dirty="0" err="1" smtClean="0">
                <a:latin typeface="Arial Narrow" panose="020B0606020202030204" pitchFamily="34" charset="0"/>
              </a:rPr>
              <a:t>took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off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after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recession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ended</a:t>
            </a:r>
            <a:r>
              <a:rPr lang="tr-TR" sz="1600" dirty="0" smtClean="0">
                <a:latin typeface="Arial Narrow" panose="020B0606020202030204" pitchFamily="34" charset="0"/>
              </a:rPr>
              <a:t> in 2001.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It was lauded by economists and politians alike because it led to a ″democratization of credit″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and helped raise US homeownership rates to the highest levels in history.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629" y="2492896"/>
            <a:ext cx="6634851" cy="4176464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395536" y="2708920"/>
            <a:ext cx="1800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 err="1" smtClean="0">
                <a:latin typeface="Arial Narrow" panose="020B0606020202030204" pitchFamily="34" charset="0"/>
              </a:rPr>
              <a:t>Housing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priced</a:t>
            </a:r>
            <a:endParaRPr lang="tr-TR" sz="1600" dirty="0">
              <a:latin typeface="Arial Narrow" panose="020B0606020202030204" pitchFamily="34" charset="0"/>
            </a:endParaRPr>
          </a:p>
          <a:p>
            <a:r>
              <a:rPr lang="tr-TR" sz="1600" dirty="0" err="1" smtClean="0">
                <a:latin typeface="Arial Narrow" panose="020B0606020202030204" pitchFamily="34" charset="0"/>
              </a:rPr>
              <a:t>boomed</a:t>
            </a:r>
            <a:endParaRPr lang="tr-TR" sz="1600" dirty="0">
              <a:latin typeface="Arial Narrow" panose="020B0606020202030204" pitchFamily="34" charset="0"/>
            </a:endParaRPr>
          </a:p>
          <a:p>
            <a:r>
              <a:rPr lang="tr-TR" sz="1600" dirty="0" err="1" smtClean="0">
                <a:latin typeface="Arial Narrow" panose="020B0606020202030204" pitchFamily="34" charset="0"/>
              </a:rPr>
              <a:t>from</a:t>
            </a:r>
            <a:r>
              <a:rPr lang="tr-TR" sz="1600" dirty="0" smtClean="0">
                <a:latin typeface="Arial Narrow" panose="020B0606020202030204" pitchFamily="34" charset="0"/>
              </a:rPr>
              <a:t> 2002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2006,</a:t>
            </a:r>
          </a:p>
          <a:p>
            <a:r>
              <a:rPr lang="tr-TR" sz="1600" dirty="0" err="1" smtClean="0">
                <a:latin typeface="Arial Narrow" panose="020B0606020202030204" pitchFamily="34" charset="0"/>
              </a:rPr>
              <a:t>fueling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market </a:t>
            </a:r>
            <a:r>
              <a:rPr lang="tr-TR" sz="1600" dirty="0" err="1" smtClean="0">
                <a:latin typeface="Arial Narrow" panose="020B0606020202030204" pitchFamily="34" charset="0"/>
              </a:rPr>
              <a:t>for</a:t>
            </a:r>
            <a:endParaRPr lang="tr-TR" sz="1600" dirty="0">
              <a:latin typeface="Arial Narrow" panose="020B0606020202030204" pitchFamily="34" charset="0"/>
            </a:endParaRPr>
          </a:p>
          <a:p>
            <a:r>
              <a:rPr lang="tr-TR" sz="1600" dirty="0" err="1" smtClean="0">
                <a:latin typeface="Arial Narrow" panose="020B0606020202030204" pitchFamily="34" charset="0"/>
              </a:rPr>
              <a:t>subprime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mortgages</a:t>
            </a:r>
            <a:endParaRPr lang="tr-TR" sz="1600" dirty="0">
              <a:latin typeface="Arial Narrow" panose="020B0606020202030204" pitchFamily="34" charset="0"/>
            </a:endParaRPr>
          </a:p>
          <a:p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forming</a:t>
            </a:r>
            <a:endParaRPr lang="tr-TR" sz="1600" dirty="0">
              <a:latin typeface="Arial Narrow" panose="020B0606020202030204" pitchFamily="34" charset="0"/>
            </a:endParaRPr>
          </a:p>
          <a:p>
            <a:r>
              <a:rPr lang="tr-TR" sz="1600" dirty="0" smtClean="0">
                <a:latin typeface="Arial Narrow" panose="020B0606020202030204" pitchFamily="34" charset="0"/>
              </a:rPr>
              <a:t>an </a:t>
            </a:r>
            <a:r>
              <a:rPr lang="tr-TR" sz="1600" dirty="0" err="1" smtClean="0">
                <a:latin typeface="Arial Narrow" panose="020B0606020202030204" pitchFamily="34" charset="0"/>
              </a:rPr>
              <a:t>asset-price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buble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r>
              <a:rPr lang="tr-TR" sz="1600" dirty="0" err="1" smtClean="0">
                <a:latin typeface="Arial Narrow" panose="020B0606020202030204" pitchFamily="34" charset="0"/>
              </a:rPr>
              <a:t>Housing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prices</a:t>
            </a:r>
            <a:endParaRPr lang="tr-TR" sz="1600" dirty="0">
              <a:latin typeface="Arial Narrow" panose="020B0606020202030204" pitchFamily="34" charset="0"/>
            </a:endParaRPr>
          </a:p>
          <a:p>
            <a:r>
              <a:rPr lang="tr-TR" sz="1600" dirty="0" err="1" smtClean="0">
                <a:latin typeface="Arial Narrow" panose="020B0606020202030204" pitchFamily="34" charset="0"/>
              </a:rPr>
              <a:t>began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declining</a:t>
            </a:r>
            <a:endParaRPr lang="tr-TR" sz="1600" dirty="0">
              <a:latin typeface="Arial Narrow" panose="020B0606020202030204" pitchFamily="34" charset="0"/>
            </a:endParaRPr>
          </a:p>
          <a:p>
            <a:r>
              <a:rPr lang="tr-TR" sz="1600" dirty="0" smtClean="0">
                <a:latin typeface="Arial Narrow" panose="020B0606020202030204" pitchFamily="34" charset="0"/>
              </a:rPr>
              <a:t>in 2006,</a:t>
            </a:r>
          </a:p>
          <a:p>
            <a:r>
              <a:rPr lang="tr-TR" sz="1600" dirty="0" err="1" smtClean="0">
                <a:latin typeface="Arial Narrow" panose="020B0606020202030204" pitchFamily="34" charset="0"/>
              </a:rPr>
              <a:t>falling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than</a:t>
            </a:r>
            <a:endParaRPr lang="tr-TR" sz="1600" dirty="0">
              <a:latin typeface="Arial Narrow" panose="020B0606020202030204" pitchFamily="34" charset="0"/>
            </a:endParaRPr>
          </a:p>
          <a:p>
            <a:r>
              <a:rPr lang="tr-TR" sz="1600" dirty="0" smtClean="0">
                <a:latin typeface="Arial Narrow" panose="020B0606020202030204" pitchFamily="34" charset="0"/>
              </a:rPr>
              <a:t>30% </a:t>
            </a:r>
            <a:r>
              <a:rPr lang="tr-TR" sz="1600" dirty="0" err="1" smtClean="0">
                <a:latin typeface="Arial Narrow" panose="020B0606020202030204" pitchFamily="34" charset="0"/>
              </a:rPr>
              <a:t>subsequently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r>
              <a:rPr lang="tr-TR" sz="1600" dirty="0" err="1" smtClean="0">
                <a:latin typeface="Arial Narrow" panose="020B0606020202030204" pitchFamily="34" charset="0"/>
              </a:rPr>
              <a:t>which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defaults</a:t>
            </a:r>
            <a:endParaRPr lang="tr-TR" sz="1600" dirty="0">
              <a:latin typeface="Arial Narrow" panose="020B0606020202030204" pitchFamily="34" charset="0"/>
            </a:endParaRPr>
          </a:p>
          <a:p>
            <a:r>
              <a:rPr lang="tr-TR" sz="1600" dirty="0" err="1" smtClean="0">
                <a:latin typeface="Arial Narrow" panose="020B0606020202030204" pitchFamily="34" charset="0"/>
              </a:rPr>
              <a:t>by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subprime</a:t>
            </a:r>
            <a:endParaRPr lang="tr-TR" sz="1600" dirty="0">
              <a:latin typeface="Arial Narrow" panose="020B0606020202030204" pitchFamily="34" charset="0"/>
            </a:endParaRPr>
          </a:p>
          <a:p>
            <a:r>
              <a:rPr lang="tr-TR" sz="1600" dirty="0" err="1" smtClean="0">
                <a:latin typeface="Arial Narrow" panose="020B0606020202030204" pitchFamily="34" charset="0"/>
              </a:rPr>
              <a:t>mortgage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holders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  <a:endParaRPr lang="en-US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7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Crises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Effects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>
                <a:latin typeface="Arial Narrow" pitchFamily="34" charset="0"/>
              </a:rPr>
              <a:t>of 2007-2009 Financial </a:t>
            </a:r>
            <a:r>
              <a:rPr lang="tr-TR" sz="2800" dirty="0" err="1">
                <a:latin typeface="Arial Narrow" pitchFamily="34" charset="0"/>
              </a:rPr>
              <a:t>Crisis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669979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sharp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decline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value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mortgages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other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financial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assets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triggered</a:t>
            </a:r>
            <a:r>
              <a:rPr lang="tr-TR" sz="1600" dirty="0" smtClean="0">
                <a:latin typeface="Arial Narrow" panose="020B0606020202030204" pitchFamily="34" charset="0"/>
              </a:rPr>
              <a:t> a </a:t>
            </a:r>
            <a:r>
              <a:rPr lang="tr-TR" sz="1600" dirty="0" err="1" smtClean="0">
                <a:latin typeface="Arial Narrow" panose="020B0606020202030204" pitchFamily="34" charset="0"/>
              </a:rPr>
              <a:t>run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on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shadow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banking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system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composed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hedge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funds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investment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banks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other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nondepository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financial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firms</a:t>
            </a:r>
            <a:r>
              <a:rPr lang="tr-TR" sz="1600" dirty="0" smtClean="0">
                <a:latin typeface="Arial Narrow" panose="020B0606020202030204" pitchFamily="34" charset="0"/>
              </a:rPr>
              <a:t>, </a:t>
            </a:r>
            <a:r>
              <a:rPr lang="tr-TR" sz="1600" dirty="0" err="1" smtClean="0">
                <a:latin typeface="Arial Narrow" panose="020B0606020202030204" pitchFamily="34" charset="0"/>
              </a:rPr>
              <a:t>which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are</a:t>
            </a:r>
            <a:r>
              <a:rPr lang="tr-TR" sz="1600" dirty="0" smtClean="0">
                <a:latin typeface="Arial Narrow" panose="020B0606020202030204" pitchFamily="34" charset="0"/>
              </a:rPr>
              <a:t> not as </a:t>
            </a:r>
            <a:r>
              <a:rPr lang="tr-TR" sz="1600" dirty="0" err="1" smtClean="0">
                <a:latin typeface="Arial Narrow" panose="020B0606020202030204" pitchFamily="34" charset="0"/>
              </a:rPr>
              <a:t>tightly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regulated</a:t>
            </a:r>
            <a:r>
              <a:rPr lang="tr-TR" sz="1600" dirty="0" smtClean="0">
                <a:latin typeface="Arial Narrow" panose="020B0606020202030204" pitchFamily="34" charset="0"/>
              </a:rPr>
              <a:t> as </a:t>
            </a:r>
            <a:r>
              <a:rPr lang="tr-TR" sz="1600" dirty="0" err="1" smtClean="0">
                <a:latin typeface="Arial Narrow" panose="020B0606020202030204" pitchFamily="34" charset="0"/>
              </a:rPr>
              <a:t>banks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To raise funds, financial institutions had to engage in fire sales and sell off their assets very rapidly.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Because selling assets quickly requires lowering their price,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fire sales led to a further decline in financial institutions’ asset values.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895" y="2852936"/>
            <a:ext cx="5858210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25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Crises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Dynamics in </a:t>
            </a:r>
            <a:r>
              <a:rPr lang="tr-TR" sz="2800" dirty="0" err="1" smtClean="0">
                <a:latin typeface="Arial Narrow" pitchFamily="34" charset="0"/>
              </a:rPr>
              <a:t>Emerging</a:t>
            </a:r>
            <a:r>
              <a:rPr lang="tr-TR" sz="2800" dirty="0" smtClean="0">
                <a:latin typeface="Arial Narrow" pitchFamily="34" charset="0"/>
              </a:rPr>
              <a:t> Market </a:t>
            </a:r>
            <a:r>
              <a:rPr lang="tr-TR" sz="2800" dirty="0" err="1" smtClean="0">
                <a:latin typeface="Arial Narrow" pitchFamily="34" charset="0"/>
              </a:rPr>
              <a:t>Economies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040560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Stage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One</a:t>
            </a:r>
            <a:r>
              <a:rPr lang="tr-TR" sz="1800" dirty="0" smtClean="0">
                <a:latin typeface="Arial Narrow" panose="020B0606020202030204" pitchFamily="34" charset="0"/>
              </a:rPr>
              <a:t>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Initiation</a:t>
            </a:r>
            <a:r>
              <a:rPr lang="tr-TR" sz="1800" dirty="0" smtClean="0">
                <a:latin typeface="Arial Narrow" panose="020B0606020202030204" pitchFamily="34" charset="0"/>
              </a:rPr>
              <a:t> of Financial </a:t>
            </a:r>
            <a:r>
              <a:rPr lang="tr-TR" sz="1800" dirty="0" err="1" smtClean="0">
                <a:latin typeface="Arial Narrow" panose="020B0606020202030204" pitchFamily="34" charset="0"/>
              </a:rPr>
              <a:t>Crisis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a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 - Mismanagement of</a:t>
            </a:r>
            <a:r>
              <a:rPr lang="tr-TR" sz="800" noProof="1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Financial Liberalization</a:t>
            </a:r>
            <a:endParaRPr lang="tr-TR" sz="800" noProof="1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noProof="1">
                <a:solidFill>
                  <a:srgbClr val="000066"/>
                </a:solidFill>
                <a:latin typeface="Arial Narrow" panose="020B0606020202030204" pitchFamily="34" charset="0"/>
              </a:rPr>
              <a:t>and/or Globalization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o</a:t>
            </a:r>
            <a:r>
              <a:rPr lang="tr-TR" sz="1600" noProof="1" smtClean="0">
                <a:latin typeface="Arial Narrow" panose="020B0606020202030204" pitchFamily="34" charset="0"/>
              </a:rPr>
              <a:t>pening up economies to flows of capital and financial firms from other countries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b – Asset-Price Boom and 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Bust</a:t>
            </a: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c – Increase in 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Uncertainty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solidFill>
                <a:srgbClr val="800000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d – Severe fiscal imbalances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When governments in emerging market countries face large fiscal imbalances and cannot finance their debt, they often cajole or force banks to purchase government debt.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If investors lose confidence in the ability of the government to repay its debt,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</a:t>
            </a:r>
            <a:r>
              <a:rPr lang="tr-TR" sz="1600" noProof="1" smtClean="0">
                <a:latin typeface="Arial Narrow" panose="020B0606020202030204" pitchFamily="34" charset="0"/>
              </a:rPr>
              <a:t>he banking system weakens.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Also, with </a:t>
            </a:r>
            <a:r>
              <a:rPr lang="tr-TR" sz="1600" noProof="1">
                <a:latin typeface="Arial Narrow" panose="020B0606020202030204" pitchFamily="34" charset="0"/>
              </a:rPr>
              <a:t>less free resources, banks will lend less.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e – Increase in interest rates</a:t>
            </a:r>
            <a:endParaRPr lang="tr-TR" sz="1800" noProof="1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When interest rate rise, high-risk firms are most willing to pay the high interest rates,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s</a:t>
            </a:r>
            <a:r>
              <a:rPr lang="tr-TR" sz="1600" noProof="1" smtClean="0">
                <a:latin typeface="Arial Narrow" panose="020B0606020202030204" pitchFamily="34" charset="0"/>
              </a:rPr>
              <a:t>o the asset quality of banks deteriorates.</a:t>
            </a:r>
          </a:p>
        </p:txBody>
      </p:sp>
    </p:spTree>
    <p:extLst>
      <p:ext uri="{BB962C8B-B14F-4D97-AF65-F5344CB8AC3E}">
        <p14:creationId xmlns:p14="http://schemas.microsoft.com/office/powerpoint/2010/main" val="252476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Crises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>
                <a:latin typeface="Arial Narrow" pitchFamily="34" charset="0"/>
              </a:rPr>
              <a:t>Dynamics in </a:t>
            </a:r>
            <a:r>
              <a:rPr lang="tr-TR" sz="2800" dirty="0" err="1">
                <a:latin typeface="Arial Narrow" pitchFamily="34" charset="0"/>
              </a:rPr>
              <a:t>Emerging</a:t>
            </a:r>
            <a:r>
              <a:rPr lang="tr-TR" sz="2800" dirty="0">
                <a:latin typeface="Arial Narrow" pitchFamily="34" charset="0"/>
              </a:rPr>
              <a:t> Market </a:t>
            </a:r>
            <a:r>
              <a:rPr lang="tr-TR" sz="2800" dirty="0" err="1">
                <a:latin typeface="Arial Narrow" pitchFamily="34" charset="0"/>
              </a:rPr>
              <a:t>Economies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Stage</a:t>
            </a:r>
            <a:r>
              <a:rPr lang="tr-TR" sz="18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One</a:t>
            </a:r>
            <a:r>
              <a:rPr lang="tr-TR" sz="18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: </a:t>
            </a:r>
            <a:r>
              <a:rPr lang="tr-TR" sz="18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Initiation</a:t>
            </a:r>
            <a:r>
              <a:rPr lang="tr-TR" sz="18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>
                <a:solidFill>
                  <a:srgbClr val="800000"/>
                </a:solidFill>
                <a:latin typeface="Arial Narrow" panose="020B0606020202030204" pitchFamily="34" charset="0"/>
              </a:rPr>
              <a:t>of Financial </a:t>
            </a:r>
            <a:r>
              <a:rPr lang="tr-TR" sz="18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Crisis</a:t>
            </a:r>
            <a:endParaRPr lang="tr-TR" sz="1800" dirty="0">
              <a:solidFill>
                <a:srgbClr val="800000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Stage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Two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: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Currency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Crisis</a:t>
            </a:r>
            <a:endParaRPr lang="tr-TR" sz="1800" dirty="0" smtClean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As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effects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any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all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factors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mentioned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previously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build</a:t>
            </a:r>
            <a:r>
              <a:rPr lang="tr-TR" sz="1600" dirty="0" smtClean="0">
                <a:latin typeface="Arial Narrow" panose="020B0606020202030204" pitchFamily="34" charset="0"/>
              </a:rPr>
              <a:t> on </a:t>
            </a:r>
            <a:r>
              <a:rPr lang="tr-TR" sz="1600" dirty="0" err="1" smtClean="0">
                <a:latin typeface="Arial Narrow" panose="020B0606020202030204" pitchFamily="34" charset="0"/>
              </a:rPr>
              <a:t>each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other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participants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foreign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exchange</a:t>
            </a:r>
            <a:r>
              <a:rPr lang="tr-TR" sz="1600" dirty="0" smtClean="0">
                <a:latin typeface="Arial Narrow" panose="020B0606020202030204" pitchFamily="34" charset="0"/>
              </a:rPr>
              <a:t> market sense an </a:t>
            </a:r>
            <a:r>
              <a:rPr lang="tr-TR" sz="1600" dirty="0" err="1" smtClean="0">
                <a:latin typeface="Arial Narrow" panose="020B0606020202030204" pitchFamily="34" charset="0"/>
              </a:rPr>
              <a:t>opportunity</a:t>
            </a:r>
            <a:r>
              <a:rPr lang="tr-TR" sz="1600" dirty="0" smtClean="0">
                <a:latin typeface="Arial Narrow" panose="020B0606020202030204" pitchFamily="34" charset="0"/>
              </a:rPr>
              <a:t>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they</a:t>
            </a:r>
            <a:r>
              <a:rPr lang="tr-TR" sz="1600" dirty="0" smtClean="0">
                <a:latin typeface="Arial Narrow" panose="020B0606020202030204" pitchFamily="34" charset="0"/>
              </a:rPr>
              <a:t> can </a:t>
            </a:r>
            <a:r>
              <a:rPr lang="tr-TR" sz="1600" dirty="0" err="1" smtClean="0">
                <a:latin typeface="Arial Narrow" panose="020B0606020202030204" pitchFamily="34" charset="0"/>
              </a:rPr>
              <a:t>make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huge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profits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if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they</a:t>
            </a:r>
            <a:r>
              <a:rPr lang="tr-TR" sz="1600" dirty="0" smtClean="0">
                <a:latin typeface="Arial Narrow" panose="020B0606020202030204" pitchFamily="34" charset="0"/>
              </a:rPr>
              <a:t> bet on a </a:t>
            </a:r>
            <a:r>
              <a:rPr lang="tr-TR" sz="1600" dirty="0" err="1" smtClean="0">
                <a:latin typeface="Arial Narrow" panose="020B0606020202030204" pitchFamily="34" charset="0"/>
              </a:rPr>
              <a:t>depreciation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currency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Speculators engage in massive sales of the currency.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As the currency sales flood the market, supply far outstrips demand,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value of the currency collapses, and a currency crisis ensues.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High interest rates abroad, increases in uncertainty, and falling asset prices all play a role.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Stage</a:t>
            </a:r>
            <a:r>
              <a:rPr lang="tr-TR" sz="18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Three: Full-</a:t>
            </a:r>
            <a:r>
              <a:rPr lang="tr-TR" sz="18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Fledged</a:t>
            </a:r>
            <a:r>
              <a:rPr lang="tr-TR" sz="18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Financial </a:t>
            </a:r>
            <a:r>
              <a:rPr lang="tr-TR" sz="1800" dirty="0" err="1">
                <a:solidFill>
                  <a:srgbClr val="000066"/>
                </a:solidFill>
                <a:latin typeface="Arial Narrow" panose="020B0606020202030204" pitchFamily="34" charset="0"/>
              </a:rPr>
              <a:t>Crisis</a:t>
            </a:r>
            <a:endParaRPr lang="tr-TR" sz="1800" dirty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In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contrats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most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advanced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economies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that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typically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denominate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debt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domestic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currency</a:t>
            </a:r>
            <a:r>
              <a:rPr lang="tr-TR" sz="16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emerging</a:t>
            </a:r>
            <a:r>
              <a:rPr lang="tr-TR" sz="1600" dirty="0" smtClean="0">
                <a:latin typeface="Arial Narrow" panose="020B0606020202030204" pitchFamily="34" charset="0"/>
              </a:rPr>
              <a:t> market </a:t>
            </a:r>
            <a:r>
              <a:rPr lang="tr-TR" sz="1600" dirty="0" err="1" smtClean="0">
                <a:latin typeface="Arial Narrow" panose="020B0606020202030204" pitchFamily="34" charset="0"/>
              </a:rPr>
              <a:t>economies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denominate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many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debt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contracts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foreign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currency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leading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what</a:t>
            </a:r>
            <a:r>
              <a:rPr lang="tr-TR" sz="1600" dirty="0" smtClean="0">
                <a:latin typeface="Arial Narrow" panose="020B0606020202030204" pitchFamily="34" charset="0"/>
              </a:rPr>
              <a:t> is </a:t>
            </a:r>
            <a:r>
              <a:rPr lang="tr-TR" sz="1600" dirty="0" err="1" smtClean="0">
                <a:latin typeface="Arial Narrow" panose="020B0606020202030204" pitchFamily="34" charset="0"/>
              </a:rPr>
              <a:t>referred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as </a:t>
            </a:r>
            <a:r>
              <a:rPr lang="tr-TR" sz="1600" dirty="0" err="1" smtClean="0">
                <a:latin typeface="Arial Narrow" panose="020B0606020202030204" pitchFamily="34" charset="0"/>
              </a:rPr>
              <a:t>currency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mismatch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An </a:t>
            </a:r>
            <a:r>
              <a:rPr lang="tr-TR" sz="1600" dirty="0" err="1" smtClean="0">
                <a:latin typeface="Arial Narrow" panose="020B0606020202030204" pitchFamily="34" charset="0"/>
              </a:rPr>
              <a:t>unanticipated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depreciation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or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devaluation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domestic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currency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emerging</a:t>
            </a:r>
            <a:r>
              <a:rPr lang="tr-TR" sz="1600" dirty="0" smtClean="0">
                <a:latin typeface="Arial Narrow" panose="020B0606020202030204" pitchFamily="34" charset="0"/>
              </a:rPr>
              <a:t> market </a:t>
            </a:r>
            <a:r>
              <a:rPr lang="tr-TR" sz="1600" dirty="0" err="1" smtClean="0">
                <a:latin typeface="Arial Narrow" panose="020B0606020202030204" pitchFamily="34" charset="0"/>
              </a:rPr>
              <a:t>countries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increases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debt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burden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domestic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firms</a:t>
            </a:r>
            <a:r>
              <a:rPr lang="tr-TR" sz="1600" dirty="0" smtClean="0">
                <a:latin typeface="Arial Narrow" panose="020B0606020202030204" pitchFamily="34" charset="0"/>
              </a:rPr>
              <a:t> in </a:t>
            </a:r>
            <a:r>
              <a:rPr lang="tr-TR" sz="1600" dirty="0" err="1" smtClean="0">
                <a:latin typeface="Arial Narrow" panose="020B0606020202030204" pitchFamily="34" charset="0"/>
              </a:rPr>
              <a:t>terms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domestic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currency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collapse</a:t>
            </a:r>
            <a:r>
              <a:rPr lang="tr-TR" sz="1600" dirty="0" smtClean="0">
                <a:latin typeface="Arial Narrow" panose="020B0606020202030204" pitchFamily="34" charset="0"/>
              </a:rPr>
              <a:t> of a </a:t>
            </a:r>
            <a:r>
              <a:rPr lang="tr-TR" sz="1600" dirty="0" err="1" smtClean="0">
                <a:latin typeface="Arial Narrow" panose="020B0606020202030204" pitchFamily="34" charset="0"/>
              </a:rPr>
              <a:t>currency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also</a:t>
            </a:r>
            <a:r>
              <a:rPr lang="tr-TR" sz="1600" dirty="0" smtClean="0">
                <a:latin typeface="Arial Narrow" panose="020B0606020202030204" pitchFamily="34" charset="0"/>
              </a:rPr>
              <a:t> can </a:t>
            </a:r>
            <a:r>
              <a:rPr lang="tr-TR" sz="1600" dirty="0" err="1" smtClean="0">
                <a:latin typeface="Arial Narrow" panose="020B0606020202030204" pitchFamily="34" charset="0"/>
              </a:rPr>
              <a:t>lead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higher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inflation</a:t>
            </a:r>
            <a:r>
              <a:rPr lang="tr-TR" sz="1600" dirty="0" smtClean="0">
                <a:latin typeface="Arial Narrow" panose="020B0606020202030204" pitchFamily="34" charset="0"/>
              </a:rPr>
              <a:t> as </a:t>
            </a:r>
            <a:r>
              <a:rPr lang="tr-TR" sz="1600" dirty="0" err="1" smtClean="0">
                <a:latin typeface="Arial Narrow" panose="020B0606020202030204" pitchFamily="34" charset="0"/>
              </a:rPr>
              <a:t>prices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imported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goods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go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up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  <a:endParaRPr lang="tr-TR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50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9968</TotalTime>
  <Words>2133</Words>
  <Application>Microsoft Office PowerPoint</Application>
  <PresentationFormat>Ekran Gösterisi (4:3)</PresentationFormat>
  <Paragraphs>277</Paragraphs>
  <Slides>17</Slides>
  <Notes>17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1" baseType="lpstr">
      <vt:lpstr>Arial</vt:lpstr>
      <vt:lpstr>Arial Narrow</vt:lpstr>
      <vt:lpstr>Calibri</vt:lpstr>
      <vt:lpstr>Office Theme</vt:lpstr>
      <vt:lpstr> </vt:lpstr>
      <vt:lpstr>NTE 1010 – Introduction to Finance for Engineers Stock Markets Huge Swings in the Stock Market in Recent Years</vt:lpstr>
      <vt:lpstr>NTE 1010 – Introduction to Finance for Engineers Stock Markets Dow Jones Industrial Average Stock Market Index</vt:lpstr>
      <vt:lpstr>NTE 1010 – Introduction to Finance for Engineers Stock Markets Recession of 1990-1991</vt:lpstr>
      <vt:lpstr>NTE 1010 – Introduction to Finance for Engineers Stock Markets Recession of 2001</vt:lpstr>
      <vt:lpstr>NTE 1010 – Introduction to Finance for Engineers Stock Markets Financial Crisis of 2007-2008</vt:lpstr>
      <vt:lpstr>NTE 1010 – Introduction to Finance for Engineers Stock Markets Quantitative Easing</vt:lpstr>
      <vt:lpstr>NTE 1010 – Introduction to Finance for Engineers Financial Crises Basics of the World Financial Structure</vt:lpstr>
      <vt:lpstr>NTE 1010 – Introduction to Finance for Engineers Financial Crises Dynamics in Advanced Economies</vt:lpstr>
      <vt:lpstr>NTE 1010 – Introduction to Finance for Engineers Financial Crises Dynamics in Advanced Economies</vt:lpstr>
      <vt:lpstr>NTE 1010 – Introduction to Finance for Engineers Financial Crises Dynamics in Advanced Economies</vt:lpstr>
      <vt:lpstr>NTE 1010 – Introduction to Finance for Engineers Financial Crises Dynamics in Advanced Economies</vt:lpstr>
      <vt:lpstr>NTE 1010 – Introduction to Finance for Engineers Financial Crises Causes of 2007-2009 Financial Crisis</vt:lpstr>
      <vt:lpstr>NTE 1010 – Introduction to Finance for Engineers Financial Crises Effects of 2007-2009 Financial Crisis</vt:lpstr>
      <vt:lpstr>NTE 1010 – Introduction to Finance for Engineers Financial Crises Effects of 2007-2009 Financial Crisis</vt:lpstr>
      <vt:lpstr>NTE 1010 – Introduction to Finance for Engineers Financial Crises Dynamics in Emerging Market Economies</vt:lpstr>
      <vt:lpstr>NTE 1010 – Introduction to Finance for Engineers Financial Crises Dynamics in Emerging Market Economies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598</cp:revision>
  <cp:lastPrinted>2018-12-13T08:03:39Z</cp:lastPrinted>
  <dcterms:created xsi:type="dcterms:W3CDTF">2015-11-30T12:51:35Z</dcterms:created>
  <dcterms:modified xsi:type="dcterms:W3CDTF">2020-04-08T08:49:17Z</dcterms:modified>
  <dc:description/>
</cp:coreProperties>
</file>