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451" r:id="rId2"/>
    <p:sldId id="509" r:id="rId3"/>
    <p:sldId id="511" r:id="rId4"/>
    <p:sldId id="512" r:id="rId5"/>
    <p:sldId id="513" r:id="rId6"/>
    <p:sldId id="515" r:id="rId7"/>
    <p:sldId id="517" r:id="rId8"/>
    <p:sldId id="505" r:id="rId9"/>
    <p:sldId id="504" r:id="rId10"/>
    <p:sldId id="507" r:id="rId11"/>
    <p:sldId id="508" r:id="rId12"/>
    <p:sldId id="501" r:id="rId13"/>
    <p:sldId id="502" r:id="rId14"/>
    <p:sldId id="503" r:id="rId15"/>
    <p:sldId id="492" r:id="rId16"/>
    <p:sldId id="493" r:id="rId17"/>
    <p:sldId id="494" r:id="rId18"/>
    <p:sldId id="495" r:id="rId19"/>
    <p:sldId id="499" r:id="rId20"/>
    <p:sldId id="500" r:id="rId21"/>
    <p:sldId id="496" r:id="rId22"/>
    <p:sldId id="490" r:id="rId23"/>
    <p:sldId id="491" r:id="rId24"/>
    <p:sldId id="489" r:id="rId25"/>
    <p:sldId id="488" r:id="rId26"/>
    <p:sldId id="487" r:id="rId27"/>
    <p:sldId id="476" r:id="rId28"/>
    <p:sldId id="477" r:id="rId29"/>
    <p:sldId id="479" r:id="rId30"/>
    <p:sldId id="480" r:id="rId31"/>
    <p:sldId id="486" r:id="rId32"/>
    <p:sldId id="484" r:id="rId33"/>
    <p:sldId id="485" r:id="rId34"/>
    <p:sldId id="471" r:id="rId35"/>
    <p:sldId id="472" r:id="rId36"/>
    <p:sldId id="473" r:id="rId37"/>
    <p:sldId id="474" r:id="rId38"/>
    <p:sldId id="475" r:id="rId39"/>
    <p:sldId id="468" r:id="rId40"/>
    <p:sldId id="469" r:id="rId41"/>
    <p:sldId id="463" r:id="rId42"/>
    <p:sldId id="464" r:id="rId43"/>
    <p:sldId id="465" r:id="rId44"/>
    <p:sldId id="466" r:id="rId45"/>
    <p:sldId id="467" r:id="rId46"/>
    <p:sldId id="460" r:id="rId47"/>
    <p:sldId id="461" r:id="rId48"/>
    <p:sldId id="462" r:id="rId49"/>
    <p:sldId id="459" r:id="rId50"/>
    <p:sldId id="455" r:id="rId51"/>
    <p:sldId id="456" r:id="rId52"/>
    <p:sldId id="458" r:id="rId53"/>
    <p:sldId id="454" r:id="rId54"/>
    <p:sldId id="453" r:id="rId55"/>
    <p:sldId id="448" r:id="rId56"/>
    <p:sldId id="437" r:id="rId57"/>
    <p:sldId id="449" r:id="rId58"/>
  </p:sldIdLst>
  <p:sldSz cx="9144000" cy="6858000" type="screen4x3"/>
  <p:notesSz cx="6858000" cy="9313863"/>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800000"/>
    <a:srgbClr val="0000FF"/>
    <a:srgbClr val="FF9900"/>
    <a:srgbClr val="FF6600"/>
    <a:srgbClr val="0000CC"/>
    <a:srgbClr val="003399"/>
    <a:srgbClr val="FFFFFF"/>
    <a:srgbClr val="3333CC"/>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9" autoAdjust="0"/>
    <p:restoredTop sz="94662" autoAdjust="0"/>
  </p:normalViewPr>
  <p:slideViewPr>
    <p:cSldViewPr>
      <p:cViewPr varScale="1">
        <p:scale>
          <a:sx n="70" d="100"/>
          <a:sy n="70" d="100"/>
        </p:scale>
        <p:origin x="116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handoutMaster" Target="handoutMasters/handout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2971983" cy="465693"/>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sz="quarter" idx="1"/>
          </p:nvPr>
        </p:nvSpPr>
        <p:spPr>
          <a:xfrm>
            <a:off x="3884924" y="3"/>
            <a:ext cx="2971982" cy="465693"/>
          </a:xfrm>
          <a:prstGeom prst="rect">
            <a:avLst/>
          </a:prstGeom>
        </p:spPr>
        <p:txBody>
          <a:bodyPr vert="horz" lIns="91111" tIns="45555" rIns="91111" bIns="45555" rtlCol="0"/>
          <a:lstStyle>
            <a:lvl1pPr algn="r">
              <a:defRPr sz="1200"/>
            </a:lvl1pPr>
          </a:lstStyle>
          <a:p>
            <a:fld id="{41DD2113-24C6-4329-AB40-201D9F0A72C4}" type="datetimeFigureOut">
              <a:rPr lang="tr-TR" smtClean="0"/>
              <a:t>20.05.2020</a:t>
            </a:fld>
            <a:endParaRPr lang="tr-TR"/>
          </a:p>
        </p:txBody>
      </p:sp>
      <p:sp>
        <p:nvSpPr>
          <p:cNvPr id="4" name="Footer Placeholder 3"/>
          <p:cNvSpPr>
            <a:spLocks noGrp="1"/>
          </p:cNvSpPr>
          <p:nvPr>
            <p:ph type="ftr" sz="quarter" idx="2"/>
          </p:nvPr>
        </p:nvSpPr>
        <p:spPr>
          <a:xfrm>
            <a:off x="2" y="8846016"/>
            <a:ext cx="2971983" cy="465693"/>
          </a:xfrm>
          <a:prstGeom prst="rect">
            <a:avLst/>
          </a:prstGeom>
        </p:spPr>
        <p:txBody>
          <a:bodyPr vert="horz" lIns="91111" tIns="45555" rIns="91111" bIns="45555" rtlCol="0" anchor="b"/>
          <a:lstStyle>
            <a:lvl1pPr algn="l">
              <a:defRPr sz="1200"/>
            </a:lvl1pPr>
          </a:lstStyle>
          <a:p>
            <a:endParaRPr lang="tr-TR"/>
          </a:p>
        </p:txBody>
      </p:sp>
      <p:sp>
        <p:nvSpPr>
          <p:cNvPr id="5" name="Slide Number Placeholder 4"/>
          <p:cNvSpPr>
            <a:spLocks noGrp="1"/>
          </p:cNvSpPr>
          <p:nvPr>
            <p:ph type="sldNum" sz="quarter" idx="3"/>
          </p:nvPr>
        </p:nvSpPr>
        <p:spPr>
          <a:xfrm>
            <a:off x="3884924" y="8846016"/>
            <a:ext cx="2971982" cy="465693"/>
          </a:xfrm>
          <a:prstGeom prst="rect">
            <a:avLst/>
          </a:prstGeom>
        </p:spPr>
        <p:txBody>
          <a:bodyPr vert="horz" lIns="91111" tIns="45555" rIns="91111" bIns="45555" rtlCol="0" anchor="b"/>
          <a:lstStyle>
            <a:lvl1pPr algn="r">
              <a:defRPr sz="1200"/>
            </a:lvl1pPr>
          </a:lstStyle>
          <a:p>
            <a:fld id="{7F4D469E-94F5-4441-A8A1-33E94B5433C8}" type="slidenum">
              <a:rPr lang="tr-TR" smtClean="0"/>
              <a:t>‹#›</a:t>
            </a:fld>
            <a:endParaRPr lang="tr-TR"/>
          </a:p>
        </p:txBody>
      </p:sp>
    </p:spTree>
    <p:extLst>
      <p:ext uri="{BB962C8B-B14F-4D97-AF65-F5344CB8AC3E}">
        <p14:creationId xmlns:p14="http://schemas.microsoft.com/office/powerpoint/2010/main" val="289193931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2971801" cy="465693"/>
          </a:xfrm>
          <a:prstGeom prst="rect">
            <a:avLst/>
          </a:prstGeom>
        </p:spPr>
        <p:txBody>
          <a:bodyPr vert="horz" lIns="91111" tIns="45555" rIns="91111" bIns="45555" rtlCol="0"/>
          <a:lstStyle>
            <a:lvl1pPr algn="l">
              <a:defRPr sz="1200"/>
            </a:lvl1pPr>
          </a:lstStyle>
          <a:p>
            <a:endParaRPr lang="tr-TR"/>
          </a:p>
        </p:txBody>
      </p:sp>
      <p:sp>
        <p:nvSpPr>
          <p:cNvPr id="3" name="Date Placeholder 2"/>
          <p:cNvSpPr>
            <a:spLocks noGrp="1"/>
          </p:cNvSpPr>
          <p:nvPr>
            <p:ph type="dt" idx="1"/>
          </p:nvPr>
        </p:nvSpPr>
        <p:spPr>
          <a:xfrm>
            <a:off x="3884615" y="3"/>
            <a:ext cx="2971801" cy="465693"/>
          </a:xfrm>
          <a:prstGeom prst="rect">
            <a:avLst/>
          </a:prstGeom>
        </p:spPr>
        <p:txBody>
          <a:bodyPr vert="horz" lIns="91111" tIns="45555" rIns="91111" bIns="45555" rtlCol="0"/>
          <a:lstStyle>
            <a:lvl1pPr algn="r">
              <a:defRPr sz="1200"/>
            </a:lvl1pPr>
          </a:lstStyle>
          <a:p>
            <a:fld id="{D48C765E-539C-483F-BCDF-F0F0AD79452C}" type="datetimeFigureOut">
              <a:rPr lang="tr-TR" smtClean="0"/>
              <a:pPr/>
              <a:t>20.05.2020</a:t>
            </a:fld>
            <a:endParaRPr lang="tr-TR"/>
          </a:p>
        </p:txBody>
      </p:sp>
      <p:sp>
        <p:nvSpPr>
          <p:cNvPr id="4" name="Slide Image Placeholder 3"/>
          <p:cNvSpPr>
            <a:spLocks noGrp="1" noRot="1" noChangeAspect="1"/>
          </p:cNvSpPr>
          <p:nvPr>
            <p:ph type="sldImg" idx="2"/>
          </p:nvPr>
        </p:nvSpPr>
        <p:spPr>
          <a:xfrm>
            <a:off x="1100138" y="698500"/>
            <a:ext cx="4657725" cy="3492500"/>
          </a:xfrm>
          <a:prstGeom prst="rect">
            <a:avLst/>
          </a:prstGeom>
          <a:noFill/>
          <a:ln w="12700">
            <a:solidFill>
              <a:prstClr val="black"/>
            </a:solidFill>
          </a:ln>
        </p:spPr>
        <p:txBody>
          <a:bodyPr vert="horz" lIns="91111" tIns="45555" rIns="91111" bIns="45555" rtlCol="0" anchor="ctr"/>
          <a:lstStyle/>
          <a:p>
            <a:endParaRPr lang="tr-TR"/>
          </a:p>
        </p:txBody>
      </p:sp>
      <p:sp>
        <p:nvSpPr>
          <p:cNvPr id="5" name="Notes Placeholder 4"/>
          <p:cNvSpPr>
            <a:spLocks noGrp="1"/>
          </p:cNvSpPr>
          <p:nvPr>
            <p:ph type="body" sz="quarter" idx="3"/>
          </p:nvPr>
        </p:nvSpPr>
        <p:spPr>
          <a:xfrm>
            <a:off x="685802" y="4424087"/>
            <a:ext cx="5486399" cy="4191240"/>
          </a:xfrm>
          <a:prstGeom prst="rect">
            <a:avLst/>
          </a:prstGeom>
        </p:spPr>
        <p:txBody>
          <a:bodyPr vert="horz" lIns="91111" tIns="45555" rIns="91111" bIns="4555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2" y="8846555"/>
            <a:ext cx="2971801" cy="465693"/>
          </a:xfrm>
          <a:prstGeom prst="rect">
            <a:avLst/>
          </a:prstGeom>
        </p:spPr>
        <p:txBody>
          <a:bodyPr vert="horz" lIns="91111" tIns="45555" rIns="91111" bIns="45555" rtlCol="0" anchor="b"/>
          <a:lstStyle>
            <a:lvl1pPr algn="l">
              <a:defRPr sz="1200"/>
            </a:lvl1pPr>
          </a:lstStyle>
          <a:p>
            <a:endParaRPr lang="tr-TR"/>
          </a:p>
        </p:txBody>
      </p:sp>
      <p:sp>
        <p:nvSpPr>
          <p:cNvPr id="7" name="Slide Number Placeholder 6"/>
          <p:cNvSpPr>
            <a:spLocks noGrp="1"/>
          </p:cNvSpPr>
          <p:nvPr>
            <p:ph type="sldNum" sz="quarter" idx="5"/>
          </p:nvPr>
        </p:nvSpPr>
        <p:spPr>
          <a:xfrm>
            <a:off x="3884615" y="8846555"/>
            <a:ext cx="2971801" cy="465693"/>
          </a:xfrm>
          <a:prstGeom prst="rect">
            <a:avLst/>
          </a:prstGeom>
        </p:spPr>
        <p:txBody>
          <a:bodyPr vert="horz" lIns="91111" tIns="45555" rIns="91111" bIns="45555" rtlCol="0" anchor="b"/>
          <a:lstStyle>
            <a:lvl1pPr algn="r">
              <a:defRPr sz="1200"/>
            </a:lvl1pPr>
          </a:lstStyle>
          <a:p>
            <a:fld id="{AE8B6D33-EF40-4511-BB6D-F4559DCC6EDC}" type="slidenum">
              <a:rPr lang="tr-TR" smtClean="0"/>
              <a:pPr/>
              <a:t>‹#›</a:t>
            </a:fld>
            <a:endParaRPr lang="tr-TR"/>
          </a:p>
        </p:txBody>
      </p:sp>
    </p:spTree>
    <p:extLst>
      <p:ext uri="{BB962C8B-B14F-4D97-AF65-F5344CB8AC3E}">
        <p14:creationId xmlns:p14="http://schemas.microsoft.com/office/powerpoint/2010/main" val="3858401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1</a:t>
            </a:fld>
            <a:endParaRPr lang="tr-TR"/>
          </a:p>
        </p:txBody>
      </p:sp>
    </p:spTree>
    <p:extLst>
      <p:ext uri="{BB962C8B-B14F-4D97-AF65-F5344CB8AC3E}">
        <p14:creationId xmlns:p14="http://schemas.microsoft.com/office/powerpoint/2010/main" val="3892911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833062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130446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46392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677517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3047582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985106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162725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3960725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415793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002943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986538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494014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848900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143511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933022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401055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743022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4351716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53338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765606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736815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82717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296933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744065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731690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1485784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926655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7723978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586387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2678488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852937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93067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670823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286823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4026846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0621469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736547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1385389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2693942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3385354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4244942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1793709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873870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7392402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5108132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42253129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255980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5273758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7761794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445840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7245327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1425334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0089575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1104648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20094811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509533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tr-TR"/>
          </a:p>
        </p:txBody>
      </p:sp>
      <p:sp>
        <p:nvSpPr>
          <p:cNvPr id="4" name="Date Placeholder 3"/>
          <p:cNvSpPr>
            <a:spLocks noGrp="1"/>
          </p:cNvSpPr>
          <p:nvPr>
            <p:ph type="dt" sz="half" idx="10"/>
          </p:nvPr>
        </p:nvSpPr>
        <p:spPr/>
        <p:txBody>
          <a:bodyPr/>
          <a:lstStyle/>
          <a:p>
            <a:fld id="{30C0D18E-B1E7-4049-87E4-A8906EFB46C3}" type="datetime1">
              <a:rPr lang="tr-TR" smtClean="0"/>
              <a:t>20.05.2020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694B87CF-CB43-4C8C-B3B6-41202D4F45E5}" type="datetime1">
              <a:rPr lang="tr-TR" smtClean="0"/>
              <a:t>20.05.2020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C1C1D0-F011-4A14-86B2-A8F95BA6C350}" type="datetime1">
              <a:rPr lang="tr-TR" smtClean="0"/>
              <a:t>20.05.2020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p>
            <a:fld id="{A72583A6-2894-4876-BC8B-DC11089A2624}" type="datetime1">
              <a:rPr lang="tr-TR" smtClean="0"/>
              <a:t>20.05.2020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p>
            <a:fld id="{73DE5382-8F9D-4D38-A924-C899BE15E625}" type="datetime1">
              <a:rPr lang="tr-TR" smtClean="0"/>
              <a:t>20.05.2020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p>
            <a:fld id="{0403C340-7178-444C-B548-F7807D6201AE}" type="datetime1">
              <a:rPr lang="tr-TR" smtClean="0"/>
              <a:t>20.05.2020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450F4-FDB5-4303-95B0-06B0520B6BF8}" type="datetime1">
              <a:rPr lang="tr-TR" smtClean="0"/>
              <a:t>20.05.2020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87D8E3-49D3-4D77-ADB8-2334BDFEA4FE}" type="datetime1">
              <a:rPr lang="tr-TR" smtClean="0"/>
              <a:t>20.05.2020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15837F-221E-4BBF-83C9-0C35DB9066CA}" type="datetime1">
              <a:rPr lang="tr-TR" smtClean="0"/>
              <a:t>20.05.2020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90FF4846-4225-4CA3-ADDB-18F0586D3149}" type="datetime1">
              <a:rPr lang="tr-TR" smtClean="0"/>
              <a:t>20.05.2020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p>
            <a:fld id="{1E582D77-CCE3-4DF3-BBA8-BC33AD980484}" type="datetime1">
              <a:rPr lang="tr-TR" smtClean="0"/>
              <a:t>20.05.2020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FAEC21-FEB9-4842-A2B2-B654C9B9AF65}" type="datetime1">
              <a:rPr lang="tr-TR" smtClean="0"/>
              <a:t>20.05.2020</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0ACAC-419D-446D-993D-E467CC79BCB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emf"/><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2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3.emf"/><Relationship Id="rId4" Type="http://schemas.openxmlformats.org/officeDocument/2006/relationships/image" Target="../media/image2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5.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emf"/><Relationship Id="rId4" Type="http://schemas.openxmlformats.org/officeDocument/2006/relationships/image" Target="../media/image27.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28.emf"/><Relationship Id="rId5" Type="http://schemas.openxmlformats.org/officeDocument/2006/relationships/image" Target="../media/image29.emf"/><Relationship Id="rId6" Type="http://schemas.openxmlformats.org/officeDocument/2006/relationships/image" Target="../media/image30.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31.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emf"/><Relationship Id="rId4" Type="http://schemas.openxmlformats.org/officeDocument/2006/relationships/image" Target="../media/image33.emf"/><Relationship Id="rId5"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1.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2.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3.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4.emf"/><Relationship Id="rId4" Type="http://schemas.openxmlformats.org/officeDocument/2006/relationships/image" Target="../media/image45.emf"/><Relationship Id="rId5" Type="http://schemas.openxmlformats.org/officeDocument/2006/relationships/image" Target="../media/image46.emf"/><Relationship Id="rId6" Type="http://schemas.openxmlformats.org/officeDocument/2006/relationships/image" Target="../media/image47.emf"/><Relationship Id="rId7" Type="http://schemas.openxmlformats.org/officeDocument/2006/relationships/image" Target="../media/image48.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9.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0.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1.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2.emf"/><Relationship Id="rId4" Type="http://schemas.openxmlformats.org/officeDocument/2006/relationships/image" Target="../media/image53.png"/><Relationship Id="rId5"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717340" y="620688"/>
            <a:ext cx="7704856" cy="5616624"/>
          </a:xfrm>
          <a:ln w="25400">
            <a:noFill/>
          </a:ln>
        </p:spPr>
        <p:txBody>
          <a:bodyPr>
            <a:noAutofit/>
          </a:bodyPr>
          <a:lstStyle/>
          <a:p>
            <a:pPr>
              <a:spcBef>
                <a:spcPts val="0"/>
              </a:spcBef>
            </a:pPr>
            <a:endParaRPr lang="tr-TR" sz="800" dirty="0" smtClean="0">
              <a:solidFill>
                <a:srgbClr val="800000"/>
              </a:solidFill>
              <a:latin typeface="Arial Narrow" pitchFamily="34" charset="0"/>
            </a:endParaRPr>
          </a:p>
          <a:p>
            <a:pPr>
              <a:spcBef>
                <a:spcPts val="0"/>
              </a:spcBef>
            </a:pPr>
            <a:r>
              <a:rPr lang="tr-TR" sz="1800" dirty="0">
                <a:solidFill>
                  <a:schemeClr val="tx1"/>
                </a:solidFill>
                <a:latin typeface="Arial Narrow" pitchFamily="34" charset="0"/>
              </a:rPr>
              <a:t>NTE 1010</a:t>
            </a:r>
          </a:p>
          <a:p>
            <a:pPr>
              <a:spcBef>
                <a:spcPts val="0"/>
              </a:spcBef>
            </a:pPr>
            <a:r>
              <a:rPr lang="tr-TR" sz="1800" err="1">
                <a:solidFill>
                  <a:schemeClr val="tx1"/>
                </a:solidFill>
                <a:latin typeface="Arial Narrow" pitchFamily="34" charset="0"/>
              </a:rPr>
              <a:t>Introduction</a:t>
            </a:r>
            <a:r>
              <a:rPr lang="tr-TR" sz="1800">
                <a:solidFill>
                  <a:schemeClr val="tx1"/>
                </a:solidFill>
                <a:latin typeface="Arial Narrow" pitchFamily="34" charset="0"/>
              </a:rPr>
              <a:t> </a:t>
            </a:r>
            <a:r>
              <a:rPr lang="tr-TR" sz="1800" smtClean="0">
                <a:solidFill>
                  <a:schemeClr val="tx1"/>
                </a:solidFill>
                <a:latin typeface="Arial Narrow" pitchFamily="34" charset="0"/>
              </a:rPr>
              <a:t>to</a:t>
            </a:r>
            <a:endParaRPr lang="tr-TR" sz="1800" dirty="0">
              <a:solidFill>
                <a:schemeClr val="tx1"/>
              </a:solidFill>
              <a:latin typeface="Arial Narrow" pitchFamily="34" charset="0"/>
            </a:endParaRPr>
          </a:p>
          <a:p>
            <a:pPr>
              <a:spcBef>
                <a:spcPts val="0"/>
              </a:spcBef>
            </a:pPr>
            <a:r>
              <a:rPr lang="tr-TR" sz="2400" smtClean="0">
                <a:solidFill>
                  <a:schemeClr val="tx1"/>
                </a:solidFill>
                <a:latin typeface="Arial Narrow" pitchFamily="34" charset="0"/>
              </a:rPr>
              <a:t>Finance</a:t>
            </a:r>
          </a:p>
          <a:p>
            <a:pPr>
              <a:spcBef>
                <a:spcPts val="0"/>
              </a:spcBef>
            </a:pPr>
            <a:r>
              <a:rPr lang="tr-TR" sz="1800" smtClean="0">
                <a:solidFill>
                  <a:schemeClr val="tx1"/>
                </a:solidFill>
                <a:latin typeface="Arial Narrow" pitchFamily="34" charset="0"/>
              </a:rPr>
              <a:t>for </a:t>
            </a:r>
            <a:r>
              <a:rPr lang="tr-TR" sz="1800" dirty="0" err="1" smtClean="0">
                <a:solidFill>
                  <a:schemeClr val="tx1"/>
                </a:solidFill>
                <a:latin typeface="Arial Narrow" pitchFamily="34" charset="0"/>
              </a:rPr>
              <a:t>Engineers</a:t>
            </a:r>
            <a:endParaRPr lang="tr-TR" sz="1800" dirty="0" smtClean="0">
              <a:solidFill>
                <a:schemeClr val="tx1"/>
              </a:solidFill>
              <a:latin typeface="Arial Narrow" pitchFamily="34" charset="0"/>
            </a:endParaRPr>
          </a:p>
          <a:p>
            <a:pPr>
              <a:spcBef>
                <a:spcPts val="0"/>
              </a:spcBef>
            </a:pPr>
            <a:endParaRPr lang="tr-TR" sz="2400" dirty="0">
              <a:solidFill>
                <a:srgbClr val="800000"/>
              </a:solidFill>
              <a:latin typeface="Arial Narrow" pitchFamily="34" charset="0"/>
            </a:endParaRPr>
          </a:p>
          <a:p>
            <a:pPr>
              <a:spcBef>
                <a:spcPts val="0"/>
              </a:spcBef>
            </a:pPr>
            <a:r>
              <a:rPr lang="tr-TR" sz="2400" smtClean="0">
                <a:solidFill>
                  <a:srgbClr val="000066"/>
                </a:solidFill>
                <a:latin typeface="Arial Narrow" pitchFamily="34" charset="0"/>
              </a:rPr>
              <a:t>Spring</a:t>
            </a:r>
          </a:p>
          <a:p>
            <a:pPr>
              <a:spcBef>
                <a:spcPts val="0"/>
              </a:spcBef>
            </a:pPr>
            <a:r>
              <a:rPr lang="tr-TR" sz="2400" smtClean="0">
                <a:solidFill>
                  <a:srgbClr val="000066"/>
                </a:solidFill>
                <a:latin typeface="Arial Narrow" pitchFamily="34" charset="0"/>
              </a:rPr>
              <a:t>2020</a:t>
            </a:r>
            <a:endParaRPr lang="tr-TR" sz="2400" dirty="0" smtClean="0">
              <a:solidFill>
                <a:srgbClr val="000066"/>
              </a:solidFill>
              <a:latin typeface="Arial Narrow" pitchFamily="34" charset="0"/>
            </a:endParaRPr>
          </a:p>
          <a:p>
            <a:pPr>
              <a:spcBef>
                <a:spcPts val="0"/>
              </a:spcBef>
            </a:pPr>
            <a:endParaRPr lang="tr-TR" sz="2200" smtClean="0">
              <a:solidFill>
                <a:srgbClr val="000066"/>
              </a:solidFill>
              <a:latin typeface="Arial Narrow" pitchFamily="34" charset="0"/>
            </a:endParaRPr>
          </a:p>
          <a:p>
            <a:pPr>
              <a:spcBef>
                <a:spcPts val="0"/>
              </a:spcBef>
            </a:pPr>
            <a:endParaRPr lang="tr-TR" sz="2200" dirty="0">
              <a:solidFill>
                <a:srgbClr val="000066"/>
              </a:solidFill>
              <a:latin typeface="Arial Narrow" pitchFamily="34" charset="0"/>
            </a:endParaRPr>
          </a:p>
          <a:p>
            <a:pPr>
              <a:spcBef>
                <a:spcPts val="0"/>
              </a:spcBef>
            </a:pPr>
            <a:r>
              <a:rPr lang="tr-TR" sz="3600" smtClean="0">
                <a:solidFill>
                  <a:srgbClr val="800000"/>
                </a:solidFill>
                <a:latin typeface="Arial Narrow" pitchFamily="34" charset="0"/>
              </a:rPr>
              <a:t>Review</a:t>
            </a:r>
            <a:endParaRPr lang="tr-TR" sz="3600" dirty="0">
              <a:solidFill>
                <a:srgbClr val="800000"/>
              </a:solidFill>
            </a:endParaRPr>
          </a:p>
        </p:txBody>
      </p:sp>
    </p:spTree>
    <p:extLst>
      <p:ext uri="{BB962C8B-B14F-4D97-AF65-F5344CB8AC3E}">
        <p14:creationId xmlns:p14="http://schemas.microsoft.com/office/powerpoint/2010/main" val="1140079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44624"/>
            <a:ext cx="8496944" cy="108012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 Financial Accounting</a:t>
            </a:r>
            <a:r>
              <a:rPr lang="tr-TR" sz="2400" smtClean="0">
                <a:latin typeface="Arial Narrow" pitchFamily="34" charset="0"/>
              </a:rPr>
              <a:t/>
            </a:r>
            <a:br>
              <a:rPr lang="tr-TR" sz="2400" smtClean="0">
                <a:latin typeface="Arial Narrow" pitchFamily="34" charset="0"/>
              </a:rPr>
            </a:br>
            <a:r>
              <a:rPr lang="tr-TR" sz="2400" smtClean="0">
                <a:latin typeface="Arial Narrow" pitchFamily="34" charset="0"/>
              </a:rPr>
              <a:t>Accounting vs Finance</a:t>
            </a:r>
            <a:endParaRPr lang="tr-TR" sz="2400" dirty="0">
              <a:latin typeface="Arial Narrow" pitchFamily="34" charset="0"/>
            </a:endParaRPr>
          </a:p>
        </p:txBody>
      </p:sp>
      <p:sp>
        <p:nvSpPr>
          <p:cNvPr id="5" name="Content Placeholder 4"/>
          <p:cNvSpPr>
            <a:spLocks noGrp="1"/>
          </p:cNvSpPr>
          <p:nvPr>
            <p:ph idx="1"/>
          </p:nvPr>
        </p:nvSpPr>
        <p:spPr>
          <a:xfrm>
            <a:off x="323528" y="1124744"/>
            <a:ext cx="8496944" cy="5001419"/>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Accounting is concerned with</a:t>
            </a:r>
          </a:p>
          <a:p>
            <a:pPr marL="0" lvl="1" indent="0" algn="ctr">
              <a:spcBef>
                <a:spcPts val="0"/>
              </a:spcBef>
              <a:buNone/>
            </a:pPr>
            <a:r>
              <a:rPr lang="tr-TR" sz="1800" noProof="1">
                <a:latin typeface="Arial Narrow" panose="020B0606020202030204" pitchFamily="34" charset="0"/>
              </a:rPr>
              <a:t>c</a:t>
            </a:r>
            <a:r>
              <a:rPr lang="tr-TR" sz="1800" noProof="1" smtClean="0">
                <a:latin typeface="Arial Narrow" panose="020B0606020202030204" pitchFamily="34" charset="0"/>
              </a:rPr>
              <a:t>ollecting, analysing and communicating financial information.</a:t>
            </a: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Finance</a:t>
            </a:r>
            <a:r>
              <a:rPr lang="tr-TR" sz="1800" noProof="1">
                <a:latin typeface="Arial Narrow" panose="020B0606020202030204" pitchFamily="34" charset="0"/>
              </a:rPr>
              <a:t> </a:t>
            </a:r>
            <a:r>
              <a:rPr lang="tr-TR" sz="1800" noProof="1" smtClean="0">
                <a:latin typeface="Arial Narrow" panose="020B0606020202030204" pitchFamily="34" charset="0"/>
              </a:rPr>
              <a:t>is concerned with</a:t>
            </a:r>
          </a:p>
          <a:p>
            <a:pPr marL="0" lvl="1" indent="0" algn="ctr">
              <a:spcBef>
                <a:spcPts val="0"/>
              </a:spcBef>
              <a:buNone/>
            </a:pPr>
            <a:r>
              <a:rPr lang="tr-TR" sz="1800" noProof="1" smtClean="0">
                <a:latin typeface="Arial Narrow" panose="020B0606020202030204" pitchFamily="34" charset="0"/>
              </a:rPr>
              <a:t>the ways in which funds for a business are raised and invested.</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2000">
                <a:latin typeface="Arial Narrow" pitchFamily="34" charset="0"/>
              </a:rPr>
              <a:t>Financial Accounting versus Management Accounting</a:t>
            </a:r>
            <a:endParaRPr lang="tr-TR" sz="2000" noProof="1" smtClean="0">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100014" y="2780928"/>
            <a:ext cx="6943972" cy="3960440"/>
          </a:xfrm>
          <a:prstGeom prst="rect">
            <a:avLst/>
          </a:prstGeom>
        </p:spPr>
      </p:pic>
    </p:spTree>
    <p:extLst>
      <p:ext uri="{BB962C8B-B14F-4D97-AF65-F5344CB8AC3E}">
        <p14:creationId xmlns:p14="http://schemas.microsoft.com/office/powerpoint/2010/main" val="22272002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[1] </a:t>
            </a:r>
            <a:r>
              <a:rPr lang="tr-TR" sz="2400">
                <a:solidFill>
                  <a:srgbClr val="800000"/>
                </a:solidFill>
                <a:latin typeface="Arial Narrow" pitchFamily="34" charset="0"/>
              </a:rPr>
              <a:t>Financial Accounting</a:t>
            </a:r>
            <a:r>
              <a:rPr lang="tr-TR" sz="2400">
                <a:latin typeface="Arial Narrow" pitchFamily="34" charset="0"/>
              </a:rPr>
              <a:t/>
            </a:r>
            <a:br>
              <a:rPr lang="tr-TR" sz="2400">
                <a:latin typeface="Arial Narrow" pitchFamily="34" charset="0"/>
              </a:rPr>
            </a:br>
            <a:r>
              <a:rPr lang="tr-TR" sz="2400" smtClean="0">
                <a:latin typeface="Arial Narrow" pitchFamily="34" charset="0"/>
              </a:rPr>
              <a:t>Accounting </a:t>
            </a:r>
            <a:r>
              <a:rPr lang="tr-TR" sz="2400" dirty="0" err="1" smtClean="0">
                <a:latin typeface="Arial Narrow" pitchFamily="34" charset="0"/>
              </a:rPr>
              <a:t>Principles</a:t>
            </a:r>
            <a:r>
              <a:rPr lang="tr-TR" sz="2400" dirty="0" smtClean="0">
                <a:latin typeface="Arial Narrow" pitchFamily="34" charset="0"/>
              </a:rPr>
              <a:t> </a:t>
            </a:r>
            <a:r>
              <a:rPr lang="tr-TR" sz="2400" dirty="0" err="1" smtClean="0">
                <a:latin typeface="Arial Narrow" pitchFamily="34" charset="0"/>
              </a:rPr>
              <a:t>and</a:t>
            </a:r>
            <a:r>
              <a:rPr lang="tr-TR" sz="2400" dirty="0" smtClean="0">
                <a:latin typeface="Arial Narrow" pitchFamily="34" charset="0"/>
              </a:rPr>
              <a:t> </a:t>
            </a:r>
            <a:r>
              <a:rPr lang="tr-TR" sz="2400" dirty="0" err="1" smtClean="0">
                <a:latin typeface="Arial Narrow" pitchFamily="34" charset="0"/>
              </a:rPr>
              <a:t>Conventions</a:t>
            </a:r>
            <a:endParaRPr lang="tr-TR" sz="2400" dirty="0">
              <a:latin typeface="Arial Narrow" pitchFamily="34" charset="0"/>
            </a:endParaRPr>
          </a:p>
        </p:txBody>
      </p:sp>
      <p:sp>
        <p:nvSpPr>
          <p:cNvPr id="5" name="Content Placeholder 4"/>
          <p:cNvSpPr>
            <a:spLocks noGrp="1"/>
          </p:cNvSpPr>
          <p:nvPr>
            <p:ph idx="1"/>
          </p:nvPr>
        </p:nvSpPr>
        <p:spPr>
          <a:xfrm>
            <a:off x="457200" y="1412776"/>
            <a:ext cx="8229600" cy="5040560"/>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Each country has a different variation of ″Generally Accepted Accounting Principles″.</a:t>
            </a:r>
          </a:p>
          <a:p>
            <a:pPr marL="0" lvl="1" indent="0" algn="ctr">
              <a:spcBef>
                <a:spcPts val="0"/>
              </a:spcBef>
              <a:buNone/>
            </a:pPr>
            <a:r>
              <a:rPr lang="tr-TR" sz="1800" noProof="1" smtClean="0">
                <a:latin typeface="Arial Narrow" panose="020B0606020202030204" pitchFamily="34" charset="0"/>
              </a:rPr>
              <a:t>For example, GAAP accepted in Turkey are called TR GAAP, in USA as US GAAP.</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A version that is harmonized internationaly is called IFRS,</a:t>
            </a:r>
          </a:p>
          <a:p>
            <a:pPr marL="0" lvl="1" indent="0" algn="ctr">
              <a:spcBef>
                <a:spcPts val="0"/>
              </a:spcBef>
              <a:buNone/>
            </a:pPr>
            <a:r>
              <a:rPr lang="tr-TR" sz="1800" noProof="1" smtClean="0">
                <a:latin typeface="Arial Narrow" panose="020B0606020202030204" pitchFamily="34" charset="0"/>
              </a:rPr>
              <a:t>″International Financial Reporting Standards″.</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Although it is not necessary to have a detailed understanding of GAAP or IFRS</a:t>
            </a:r>
          </a:p>
          <a:p>
            <a:pPr marL="0" lvl="1" indent="0" algn="ctr">
              <a:spcBef>
                <a:spcPts val="0"/>
              </a:spcBef>
              <a:buNone/>
            </a:pPr>
            <a:r>
              <a:rPr lang="tr-TR" sz="1800" noProof="1">
                <a:latin typeface="Arial Narrow" panose="020B0606020202030204" pitchFamily="34" charset="0"/>
              </a:rPr>
              <a:t>i</a:t>
            </a:r>
            <a:r>
              <a:rPr lang="tr-TR" sz="1800" noProof="1" smtClean="0">
                <a:latin typeface="Arial Narrow" panose="020B0606020202030204" pitchFamily="34" charset="0"/>
              </a:rPr>
              <a:t>n order to understand the financial statements,</a:t>
            </a:r>
          </a:p>
          <a:p>
            <a:pPr marL="0" lvl="1" indent="0" algn="ctr">
              <a:spcBef>
                <a:spcPts val="0"/>
              </a:spcBef>
              <a:buNone/>
            </a:pPr>
            <a:r>
              <a:rPr lang="tr-TR" sz="1800" noProof="1" smtClean="0">
                <a:latin typeface="Arial Narrow" panose="020B0606020202030204" pitchFamily="34" charset="0"/>
              </a:rPr>
              <a:t>it is necessary to understand</a:t>
            </a:r>
          </a:p>
          <a:p>
            <a:pPr marL="0" lvl="1" indent="0" algn="ctr">
              <a:spcBef>
                <a:spcPts val="0"/>
              </a:spcBef>
              <a:buNone/>
            </a:pPr>
            <a:r>
              <a:rPr lang="tr-TR" sz="1800" noProof="1">
                <a:latin typeface="Arial Narrow" panose="020B0606020202030204" pitchFamily="34" charset="0"/>
              </a:rPr>
              <a:t>s</a:t>
            </a:r>
            <a:r>
              <a:rPr lang="tr-TR" sz="1800" noProof="1" smtClean="0">
                <a:latin typeface="Arial Narrow" panose="020B0606020202030204" pitchFamily="34" charset="0"/>
              </a:rPr>
              <a:t>ome of the basic accounting principles and conventions:</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Business Entity</a:t>
            </a:r>
          </a:p>
          <a:p>
            <a:pPr marL="0" lvl="1" indent="0" algn="ctr">
              <a:spcBef>
                <a:spcPts val="0"/>
              </a:spcBef>
              <a:buNone/>
            </a:pPr>
            <a:r>
              <a:rPr lang="tr-TR" sz="1800" noProof="1">
                <a:latin typeface="Arial Narrow" panose="020B0606020202030204" pitchFamily="34" charset="0"/>
              </a:rPr>
              <a:t>The business and its owners are treated separately for the purposes of accounting;</a:t>
            </a:r>
          </a:p>
          <a:p>
            <a:pPr marL="0" lvl="1" indent="0" algn="ctr">
              <a:spcBef>
                <a:spcPts val="0"/>
              </a:spcBef>
              <a:buNone/>
            </a:pPr>
            <a:r>
              <a:rPr lang="tr-TR" sz="1800" noProof="1">
                <a:latin typeface="Arial Narrow" panose="020B0606020202030204" pitchFamily="34" charset="0"/>
              </a:rPr>
              <a:t>this differs from the legal treatment</a:t>
            </a:r>
            <a:r>
              <a:rPr lang="tr-TR" sz="1800" noProof="1" smtClean="0">
                <a:latin typeface="Arial Narrow" panose="020B0606020202030204" pitchFamily="34" charset="0"/>
              </a:rPr>
              <a:t>.</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Accrual Accounting</a:t>
            </a:r>
          </a:p>
          <a:p>
            <a:pPr marL="342900" lvl="1" indent="-342900" algn="ctr">
              <a:spcBef>
                <a:spcPts val="0"/>
              </a:spcBef>
              <a:buFont typeface="Arial" panose="020B0604020202020204" pitchFamily="34" charset="0"/>
              <a:buChar char="•"/>
            </a:pPr>
            <a:endParaRPr lang="tr-TR" sz="9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Historical Cost</a:t>
            </a:r>
          </a:p>
        </p:txBody>
      </p:sp>
    </p:spTree>
    <p:extLst>
      <p:ext uri="{BB962C8B-B14F-4D97-AF65-F5344CB8AC3E}">
        <p14:creationId xmlns:p14="http://schemas.microsoft.com/office/powerpoint/2010/main" val="7440251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[1] Financial Accounting</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latin typeface="Arial Narrow" pitchFamily="34" charset="0"/>
              </a:rPr>
              <a:t>Business </a:t>
            </a:r>
            <a:r>
              <a:rPr lang="tr-TR" sz="2400" dirty="0" err="1" smtClean="0">
                <a:latin typeface="Arial Narrow" pitchFamily="34" charset="0"/>
              </a:rPr>
              <a:t>Entity</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900" noProof="1" smtClean="0">
              <a:solidFill>
                <a:srgbClr val="C00000"/>
              </a:solidFill>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business and its owners are treated separately for the purposes of accounting;</a:t>
            </a:r>
          </a:p>
          <a:p>
            <a:pPr marL="0" lvl="1" indent="0" algn="ctr">
              <a:spcBef>
                <a:spcPts val="0"/>
              </a:spcBef>
              <a:buNone/>
            </a:pPr>
            <a:r>
              <a:rPr lang="tr-TR" sz="1800" noProof="1">
                <a:latin typeface="Arial Narrow" panose="020B0606020202030204" pitchFamily="34" charset="0"/>
              </a:rPr>
              <a:t>t</a:t>
            </a:r>
            <a:r>
              <a:rPr lang="tr-TR" sz="1800" noProof="1" smtClean="0">
                <a:latin typeface="Arial Narrow" panose="020B0606020202030204" pitchFamily="34" charset="0"/>
              </a:rPr>
              <a:t>his differs from the legal treatment.</a:t>
            </a:r>
          </a:p>
          <a:p>
            <a:pPr marL="0" lvl="1" indent="0" algn="ctr">
              <a:spcBef>
                <a:spcPts val="0"/>
              </a:spcBef>
              <a:buNone/>
            </a:pPr>
            <a:endParaRPr lang="tr-TR" sz="9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three main forms of legal structures of a business are</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Sole propriertorship (şahıs şirketi)</a:t>
            </a:r>
          </a:p>
          <a:p>
            <a:pPr marL="0" lvl="1" indent="0" algn="ctr">
              <a:spcBef>
                <a:spcPts val="0"/>
              </a:spcBef>
              <a:buNone/>
            </a:pPr>
            <a:r>
              <a:rPr lang="tr-TR" sz="1800" noProof="1">
                <a:latin typeface="Arial Narrow" panose="020B0606020202030204" pitchFamily="34" charset="0"/>
              </a:rPr>
              <a:t>w</a:t>
            </a:r>
            <a:r>
              <a:rPr lang="tr-TR" sz="1800" noProof="1" smtClean="0">
                <a:latin typeface="Arial Narrow" panose="020B0606020202030204" pitchFamily="34" charset="0"/>
              </a:rPr>
              <a:t>here owner is personally responsible for the debts of the business,</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Partnership (adi ortaklık)</a:t>
            </a:r>
          </a:p>
          <a:p>
            <a:pPr marL="0" lvl="1" indent="0" algn="ctr">
              <a:spcBef>
                <a:spcPts val="0"/>
              </a:spcBef>
              <a:buNone/>
            </a:pPr>
            <a:r>
              <a:rPr lang="tr-TR" sz="1800" noProof="1" smtClean="0">
                <a:latin typeface="Arial Narrow" panose="020B0606020202030204" pitchFamily="34" charset="0"/>
              </a:rPr>
              <a:t>where partners are ″jointly and severally responsible″</a:t>
            </a:r>
          </a:p>
          <a:p>
            <a:pPr marL="0" lvl="1" indent="0" algn="ctr">
              <a:spcBef>
                <a:spcPts val="0"/>
              </a:spcBef>
              <a:buNone/>
            </a:pPr>
            <a:r>
              <a:rPr lang="tr-TR" sz="1800" noProof="1">
                <a:latin typeface="Arial Narrow" panose="020B0606020202030204" pitchFamily="34" charset="0"/>
              </a:rPr>
              <a:t>meaning that creditors can attempt to recover bad </a:t>
            </a:r>
            <a:r>
              <a:rPr lang="tr-TR" sz="1800" noProof="1" smtClean="0">
                <a:latin typeface="Arial Narrow" panose="020B0606020202030204" pitchFamily="34" charset="0"/>
              </a:rPr>
              <a:t>debts</a:t>
            </a:r>
          </a:p>
          <a:p>
            <a:pPr marL="0" lvl="1" indent="0" algn="ctr">
              <a:spcBef>
                <a:spcPts val="0"/>
              </a:spcBef>
              <a:buNone/>
            </a:pPr>
            <a:r>
              <a:rPr lang="tr-TR" sz="1800" noProof="1" smtClean="0">
                <a:latin typeface="Arial Narrow" panose="020B0606020202030204" pitchFamily="34" charset="0"/>
              </a:rPr>
              <a:t>from </a:t>
            </a:r>
            <a:r>
              <a:rPr lang="tr-TR" sz="1800" noProof="1">
                <a:latin typeface="Arial Narrow" panose="020B0606020202030204" pitchFamily="34" charset="0"/>
              </a:rPr>
              <a:t>all the owners, or each one separately, in their personal capacities</a:t>
            </a:r>
            <a:r>
              <a:rPr lang="tr-TR" sz="1800" noProof="1" smtClean="0">
                <a:latin typeface="Arial Narrow" panose="020B0606020202030204" pitchFamily="34" charset="0"/>
              </a:rPr>
              <a:t>,</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Corporation (şirket)</a:t>
            </a:r>
          </a:p>
          <a:p>
            <a:pPr marL="0" lvl="1" indent="0" algn="ctr">
              <a:spcBef>
                <a:spcPts val="0"/>
              </a:spcBef>
              <a:buNone/>
            </a:pPr>
            <a:r>
              <a:rPr lang="tr-TR" sz="1800" noProof="1" smtClean="0">
                <a:latin typeface="Arial Narrow" panose="020B0606020202030204" pitchFamily="34" charset="0"/>
              </a:rPr>
              <a:t>where the most that the owners can lose is their equity investment in the company.</a:t>
            </a:r>
          </a:p>
        </p:txBody>
      </p:sp>
    </p:spTree>
    <p:extLst>
      <p:ext uri="{BB962C8B-B14F-4D97-AF65-F5344CB8AC3E}">
        <p14:creationId xmlns:p14="http://schemas.microsoft.com/office/powerpoint/2010/main" val="16911329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[1] Financial Accounting</a:t>
            </a:r>
            <a:r>
              <a:rPr lang="tr-TR" sz="2400" dirty="0" smtClean="0">
                <a:latin typeface="Arial Narrow" pitchFamily="34" charset="0"/>
              </a:rPr>
              <a:t/>
            </a:r>
            <a:br>
              <a:rPr lang="tr-TR" sz="2400" dirty="0" smtClean="0">
                <a:latin typeface="Arial Narrow" pitchFamily="34" charset="0"/>
              </a:rPr>
            </a:br>
            <a:r>
              <a:rPr lang="tr-TR" sz="2400" dirty="0" err="1" smtClean="0">
                <a:latin typeface="Arial Narrow" pitchFamily="34" charset="0"/>
              </a:rPr>
              <a:t>Accrual</a:t>
            </a:r>
            <a:r>
              <a:rPr lang="tr-TR" sz="2400" dirty="0" smtClean="0">
                <a:latin typeface="Arial Narrow" pitchFamily="34" charset="0"/>
              </a:rPr>
              <a:t> Accounting</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900" noProof="1" smtClean="0">
              <a:solidFill>
                <a:srgbClr val="C00000"/>
              </a:solidFill>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Accrual accounting recognises a sale when it occurs, that is, when the sale documents are signed, not when the customer finally pays the cash in settlement.</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If the transaction occurs before the cash transfer, the </a:t>
            </a:r>
            <a:r>
              <a:rPr lang="tr-TR" sz="1800" noProof="1" smtClean="0">
                <a:latin typeface="Arial Narrow" panose="020B0606020202030204" pitchFamily="34" charset="0"/>
              </a:rPr>
              <a:t>transaction </a:t>
            </a:r>
            <a:r>
              <a:rPr lang="tr-TR" sz="1800" noProof="1" smtClean="0">
                <a:latin typeface="Arial Narrow" panose="020B0606020202030204" pitchFamily="34" charset="0"/>
              </a:rPr>
              <a:t>is accrued,</a:t>
            </a:r>
          </a:p>
          <a:p>
            <a:pPr marL="0" lvl="1" indent="0" algn="ctr">
              <a:spcBef>
                <a:spcPts val="0"/>
              </a:spcBef>
              <a:buNone/>
            </a:pPr>
            <a:r>
              <a:rPr lang="tr-TR" sz="1800" noProof="1" smtClean="0">
                <a:latin typeface="Arial Narrow" panose="020B0606020202030204" pitchFamily="34" charset="0"/>
              </a:rPr>
              <a:t>and if the transaction is recognised after the cash transfer, it is deferred.</a:t>
            </a:r>
          </a:p>
          <a:p>
            <a:pPr marL="0" lvl="1" indent="0" algn="ctr">
              <a:spcBef>
                <a:spcPts val="0"/>
              </a:spcBef>
              <a:buNone/>
            </a:pPr>
            <a:r>
              <a:rPr lang="tr-TR" sz="1800" noProof="1" smtClean="0">
                <a:latin typeface="Arial Narrow" panose="020B0606020202030204" pitchFamily="34" charset="0"/>
              </a:rPr>
              <a:t>For example, deferred taxation is the recognition of taxes owed but not paid yet.</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Because of the difference in timing between the recognition of a transaction and cash receipt or payment, there is the need to match the expenses to the correct period in which the revenue is recognised. Matching expenses and revenues allows for</a:t>
            </a:r>
          </a:p>
          <a:p>
            <a:pPr marL="0" lvl="1" indent="0" algn="ctr">
              <a:spcBef>
                <a:spcPts val="0"/>
              </a:spcBef>
              <a:buNone/>
            </a:pPr>
            <a:r>
              <a:rPr lang="tr-TR" sz="1800" noProof="1" smtClean="0">
                <a:latin typeface="Arial Narrow" panose="020B0606020202030204" pitchFamily="34" charset="0"/>
              </a:rPr>
              <a:t>the correct calculation of the profit that a company has made in a particular period.</a:t>
            </a:r>
            <a:endParaRPr lang="tr-TR" sz="1800" noProof="1">
              <a:latin typeface="Arial Narrow" panose="020B0606020202030204" pitchFamily="34" charset="0"/>
            </a:endParaRP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On the other hand, the cost of an asset with a useful life of longer than a year</a:t>
            </a:r>
          </a:p>
          <a:p>
            <a:pPr marL="0" lvl="1" indent="0" algn="ctr">
              <a:spcBef>
                <a:spcPts val="0"/>
              </a:spcBef>
              <a:buNone/>
            </a:pPr>
            <a:r>
              <a:rPr lang="tr-TR" sz="1800" noProof="1" smtClean="0">
                <a:latin typeface="Arial Narrow" panose="020B0606020202030204" pitchFamily="34" charset="0"/>
              </a:rPr>
              <a:t>is spread out over its expected useful life.</a:t>
            </a:r>
          </a:p>
          <a:p>
            <a:pPr marL="0" lvl="1" indent="0" algn="ctr">
              <a:spcBef>
                <a:spcPts val="0"/>
              </a:spcBef>
              <a:buNone/>
            </a:pPr>
            <a:r>
              <a:rPr lang="tr-TR" sz="1800" noProof="1" smtClean="0">
                <a:latin typeface="Arial Narrow" panose="020B0606020202030204" pitchFamily="34" charset="0"/>
              </a:rPr>
              <a:t>This procedure is called depreciation.</a:t>
            </a:r>
          </a:p>
        </p:txBody>
      </p:sp>
    </p:spTree>
    <p:extLst>
      <p:ext uri="{BB962C8B-B14F-4D97-AF65-F5344CB8AC3E}">
        <p14:creationId xmlns:p14="http://schemas.microsoft.com/office/powerpoint/2010/main" val="18766959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[1] Financial </a:t>
            </a:r>
            <a:r>
              <a:rPr lang="tr-TR" sz="2400" smtClean="0">
                <a:solidFill>
                  <a:srgbClr val="800000"/>
                </a:solidFill>
                <a:latin typeface="Arial Narrow" pitchFamily="34" charset="0"/>
              </a:rPr>
              <a:t>Accounting</a:t>
            </a:r>
            <a:br>
              <a:rPr lang="tr-TR" sz="2400" smtClean="0">
                <a:solidFill>
                  <a:srgbClr val="800000"/>
                </a:solidFill>
                <a:latin typeface="Arial Narrow" pitchFamily="34" charset="0"/>
              </a:rPr>
            </a:br>
            <a:r>
              <a:rPr lang="tr-TR" sz="2400" smtClean="0">
                <a:latin typeface="Arial Narrow" pitchFamily="34" charset="0"/>
              </a:rPr>
              <a:t>Historical </a:t>
            </a:r>
            <a:r>
              <a:rPr lang="tr-TR" sz="2400" dirty="0" err="1" smtClean="0">
                <a:latin typeface="Arial Narrow" pitchFamily="34" charset="0"/>
              </a:rPr>
              <a:t>Cost</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The figures in the accounts represent historical values,</a:t>
            </a:r>
          </a:p>
          <a:p>
            <a:pPr marL="0" lvl="1" indent="0" algn="ctr">
              <a:spcBef>
                <a:spcPts val="0"/>
              </a:spcBef>
              <a:buNone/>
            </a:pPr>
            <a:r>
              <a:rPr lang="tr-TR" sz="1800" noProof="1" smtClean="0">
                <a:latin typeface="Arial Narrow" panose="020B0606020202030204" pitchFamily="34" charset="0"/>
              </a:rPr>
              <a:t>i.e. the cost of acquiring the assets or goods at the date of acquisition.</a:t>
            </a:r>
          </a:p>
          <a:p>
            <a:pPr marL="0" lvl="1" indent="0" algn="ctr">
              <a:spcBef>
                <a:spcPts val="0"/>
              </a:spcBef>
              <a:buNone/>
            </a:pPr>
            <a:r>
              <a:rPr lang="tr-TR" sz="1800" noProof="1" smtClean="0">
                <a:latin typeface="Arial Narrow" panose="020B0606020202030204" pitchFamily="34" charset="0"/>
              </a:rPr>
              <a:t>The value of an asset in the accounts, that is, its ″book value″ is unrelated to its value</a:t>
            </a:r>
          </a:p>
          <a:p>
            <a:pPr marL="0" lvl="1" indent="0" algn="ctr">
              <a:spcBef>
                <a:spcPts val="0"/>
              </a:spcBef>
              <a:buNone/>
            </a:pPr>
            <a:r>
              <a:rPr lang="tr-TR" sz="1800" noProof="1" smtClean="0">
                <a:latin typeface="Arial Narrow" panose="020B0606020202030204" pitchFamily="34" charset="0"/>
              </a:rPr>
              <a:t>either within the business (replacement value) or to its value to others (market value).</a:t>
            </a:r>
          </a:p>
          <a:p>
            <a:pPr marL="0" lvl="1" indent="0" algn="ctr">
              <a:spcBef>
                <a:spcPts val="0"/>
              </a:spcBef>
              <a:buNone/>
            </a:pPr>
            <a:r>
              <a:rPr lang="tr-TR" sz="1800" noProof="1" smtClean="0">
                <a:latin typeface="Arial Narrow" panose="020B0606020202030204" pitchFamily="34" charset="0"/>
              </a:rPr>
              <a:t>Although this seems unrealistic, historical cost reporting removes the requirement</a:t>
            </a:r>
          </a:p>
          <a:p>
            <a:pPr marL="0" lvl="1" indent="0" algn="ctr">
              <a:spcBef>
                <a:spcPts val="0"/>
              </a:spcBef>
              <a:buNone/>
            </a:pPr>
            <a:r>
              <a:rPr lang="tr-TR" sz="1800" noProof="1" smtClean="0">
                <a:latin typeface="Arial Narrow" panose="020B0606020202030204" pitchFamily="34" charset="0"/>
              </a:rPr>
              <a:t>for valuation based on subjective opinion,</a:t>
            </a:r>
          </a:p>
          <a:p>
            <a:pPr marL="0" lvl="1" indent="0" algn="ctr">
              <a:spcBef>
                <a:spcPts val="0"/>
              </a:spcBef>
              <a:buNone/>
            </a:pPr>
            <a:r>
              <a:rPr lang="tr-TR" sz="1800" noProof="1" smtClean="0">
                <a:latin typeface="Arial Narrow" panose="020B0606020202030204" pitchFamily="34" charset="0"/>
              </a:rPr>
              <a:t>which could result in manipulation of the financial position.</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This convention also removes the need to adjust the figures for inflation.</a:t>
            </a:r>
          </a:p>
          <a:p>
            <a:pPr marL="0" lvl="1" indent="0" algn="ctr">
              <a:spcBef>
                <a:spcPts val="0"/>
              </a:spcBef>
              <a:buNone/>
            </a:pPr>
            <a:r>
              <a:rPr lang="tr-TR" sz="1800" noProof="1" smtClean="0">
                <a:latin typeface="Arial Narrow" panose="020B0606020202030204" pitchFamily="34" charset="0"/>
              </a:rPr>
              <a:t>Nevertheless, in high inflation environments (where </a:t>
            </a:r>
            <a:r>
              <a:rPr lang="en-US" sz="1800" dirty="0" smtClean="0">
                <a:latin typeface="Arial Narrow" panose="020B0606020202030204" pitchFamily="34" charset="0"/>
              </a:rPr>
              <a:t>cumulative </a:t>
            </a:r>
            <a:r>
              <a:rPr lang="en-US" sz="1800" dirty="0">
                <a:latin typeface="Arial Narrow" panose="020B0606020202030204" pitchFamily="34" charset="0"/>
              </a:rPr>
              <a:t>inflation rate over three years exceeds 100</a:t>
            </a:r>
            <a:r>
              <a:rPr lang="en-US" sz="1800" dirty="0" smtClean="0">
                <a:latin typeface="Arial Narrow" panose="020B0606020202030204" pitchFamily="34" charset="0"/>
              </a:rPr>
              <a:t>%</a:t>
            </a:r>
            <a:r>
              <a:rPr lang="tr-TR" sz="1800" dirty="0" smtClean="0">
                <a:latin typeface="Arial Narrow" panose="020B0606020202030204" pitchFamily="34" charset="0"/>
              </a:rPr>
              <a:t>), </a:t>
            </a:r>
            <a:r>
              <a:rPr lang="tr-TR" sz="1800" noProof="1" smtClean="0">
                <a:latin typeface="Arial Narrow" panose="020B0606020202030204" pitchFamily="34" charset="0"/>
              </a:rPr>
              <a:t>″</a:t>
            </a:r>
            <a:r>
              <a:rPr lang="tr-TR" sz="1800" noProof="1">
                <a:latin typeface="Arial Narrow" panose="020B0606020202030204" pitchFamily="34" charset="0"/>
              </a:rPr>
              <a:t>inflationary accounting″ is allowed.</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This is also in accord with the conservative position adopted by accounting. For example, if losses are probable, and can be reasonably estimated, they are recorded. However, if gains ocur, these are only recorded when they occur.</a:t>
            </a:r>
          </a:p>
          <a:p>
            <a:pPr marL="0" lvl="1" indent="0" algn="ctr">
              <a:spcBef>
                <a:spcPts val="0"/>
              </a:spcBef>
              <a:buNone/>
            </a:pPr>
            <a:endParaRPr lang="tr-TR" sz="2000" noProof="1" smtClean="0">
              <a:latin typeface="Arial Narrow" panose="020B0606020202030204" pitchFamily="34" charset="0"/>
            </a:endParaRPr>
          </a:p>
        </p:txBody>
      </p:sp>
    </p:spTree>
    <p:extLst>
      <p:ext uri="{BB962C8B-B14F-4D97-AF65-F5344CB8AC3E}">
        <p14:creationId xmlns:p14="http://schemas.microsoft.com/office/powerpoint/2010/main" val="16410837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116633"/>
            <a:ext cx="8496944" cy="108012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[1] Financial Accounting</a:t>
            </a:r>
            <a:r>
              <a:rPr lang="tr-TR" sz="2400" smtClean="0">
                <a:solidFill>
                  <a:srgbClr val="800000"/>
                </a:solidFill>
                <a:latin typeface="Arial Narrow" pitchFamily="34" charset="0"/>
              </a:rPr>
              <a:t/>
            </a:r>
            <a:br>
              <a:rPr lang="tr-TR" sz="2400" smtClean="0">
                <a:solidFill>
                  <a:srgbClr val="800000"/>
                </a:solidFill>
                <a:latin typeface="Arial Narrow" pitchFamily="34" charset="0"/>
              </a:rPr>
            </a:br>
            <a:r>
              <a:rPr lang="tr-TR" sz="2400" smtClean="0">
                <a:latin typeface="Arial Narrow" pitchFamily="34" charset="0"/>
              </a:rPr>
              <a:t>Accounting </a:t>
            </a:r>
            <a:r>
              <a:rPr lang="tr-TR" sz="2400" dirty="0" err="1" smtClean="0">
                <a:latin typeface="Arial Narrow" pitchFamily="34" charset="0"/>
              </a:rPr>
              <a:t>Conventions</a:t>
            </a:r>
            <a:endParaRPr lang="tr-TR" sz="2400" dirty="0">
              <a:latin typeface="Arial Narrow" pitchFamily="34" charset="0"/>
            </a:endParaRPr>
          </a:p>
        </p:txBody>
      </p:sp>
      <p:sp>
        <p:nvSpPr>
          <p:cNvPr id="5" name="Content Placeholder 4"/>
          <p:cNvSpPr>
            <a:spLocks noGrp="1"/>
          </p:cNvSpPr>
          <p:nvPr>
            <p:ph idx="1"/>
          </p:nvPr>
        </p:nvSpPr>
        <p:spPr>
          <a:xfrm>
            <a:off x="251520" y="1196753"/>
            <a:ext cx="8568952" cy="5184575"/>
          </a:xfrm>
          <a:ln w="25400">
            <a:noFill/>
          </a:ln>
        </p:spPr>
        <p:txBody>
          <a:bodyPr>
            <a:noAutofit/>
          </a:bodyPr>
          <a:lstStyle/>
          <a:p>
            <a:pPr marL="285750" lvl="1" algn="ctr">
              <a:spcBef>
                <a:spcPts val="0"/>
              </a:spcBef>
              <a:buFont typeface="Arial" panose="020B0604020202020204" pitchFamily="34" charset="0"/>
              <a:buChar char="•"/>
            </a:pPr>
            <a:r>
              <a:rPr lang="tr-TR" sz="1800" noProof="1" smtClean="0">
                <a:latin typeface="Arial Narrow" panose="020B0606020202030204" pitchFamily="34" charset="0"/>
              </a:rPr>
              <a:t>Money Measurement</a:t>
            </a:r>
          </a:p>
          <a:p>
            <a:pPr marL="0" lvl="1" indent="0" algn="ctr">
              <a:spcBef>
                <a:spcPts val="0"/>
              </a:spcBef>
              <a:buNone/>
            </a:pPr>
            <a:r>
              <a:rPr lang="tr-TR" sz="1600" noProof="1" smtClean="0">
                <a:latin typeface="Arial Narrow" panose="020B0606020202030204" pitchFamily="34" charset="0"/>
              </a:rPr>
              <a:t>Resources not capable of being measured in monetary terms will be excluded. Accounting normally deals with only those items that are capable of being expressed in monetary terms. Money has the advantage that it is a useful common denominator with which to express the wide variety of resources held by a business.</a:t>
            </a:r>
          </a:p>
          <a:p>
            <a:pPr marL="285750" lvl="1" algn="ctr">
              <a:spcBef>
                <a:spcPts val="0"/>
              </a:spcBef>
              <a:buFont typeface="Arial" panose="020B0604020202020204" pitchFamily="34" charset="0"/>
              <a:buChar char="•"/>
            </a:pPr>
            <a:r>
              <a:rPr lang="tr-TR" sz="1800" noProof="1" smtClean="0">
                <a:latin typeface="Arial Narrow" panose="020B0606020202030204" pitchFamily="34" charset="0"/>
              </a:rPr>
              <a:t>Going Concern</a:t>
            </a:r>
          </a:p>
          <a:p>
            <a:pPr marL="0" lvl="1" indent="0" algn="ctr">
              <a:spcBef>
                <a:spcPts val="0"/>
              </a:spcBef>
              <a:buNone/>
            </a:pPr>
            <a:r>
              <a:rPr lang="tr-TR" sz="1600" noProof="1" smtClean="0">
                <a:latin typeface="Arial Narrow" panose="020B0606020202030204" pitchFamily="34" charset="0"/>
              </a:rPr>
              <a:t>Financial statements are to be prepared on the assumption that the business will continue operations for the foreseeable future, unless this is known not to be true. In other words, it is assumed that there is no intention, or need, to sell off the non-current assets of the business. Based on this assumption, it is prudent to continue to show the value of non-current assets at their recorded values (that is, based on historic cost).</a:t>
            </a:r>
          </a:p>
          <a:p>
            <a:pPr marL="285750" lvl="1" algn="ctr">
              <a:spcBef>
                <a:spcPts val="0"/>
              </a:spcBef>
              <a:buFont typeface="Arial" panose="020B0604020202020204" pitchFamily="34" charset="0"/>
              <a:buChar char="•"/>
            </a:pPr>
            <a:r>
              <a:rPr lang="tr-TR" sz="1800" noProof="1">
                <a:latin typeface="Arial Narrow" panose="020B0606020202030204" pitchFamily="34" charset="0"/>
              </a:rPr>
              <a:t>Dual Aspect</a:t>
            </a:r>
          </a:p>
          <a:p>
            <a:pPr marL="0" lvl="1" indent="0" algn="ctr">
              <a:spcBef>
                <a:spcPts val="0"/>
              </a:spcBef>
              <a:buNone/>
            </a:pPr>
            <a:r>
              <a:rPr lang="tr-TR" sz="1600" noProof="1">
                <a:latin typeface="Arial Narrow" panose="020B0606020202030204" pitchFamily="34" charset="0"/>
              </a:rPr>
              <a:t>Each transaction has two aspects, both of which will affect the balance </a:t>
            </a:r>
            <a:r>
              <a:rPr lang="tr-TR" sz="1600" noProof="1" smtClean="0">
                <a:latin typeface="Arial Narrow" panose="020B0606020202030204" pitchFamily="34" charset="0"/>
              </a:rPr>
              <a:t>sheet. The purchase of a car for cash results in an increase in one asset (vehicles) and a decrease in another (cash). The repayment of a bank loan results in the decrease in a liability (loans) and the decrease in an asset (cash / bank).</a:t>
            </a:r>
          </a:p>
          <a:p>
            <a:pPr marL="285750" lvl="1" algn="ctr">
              <a:spcBef>
                <a:spcPts val="0"/>
              </a:spcBef>
              <a:buFont typeface="Arial" panose="020B0604020202020204" pitchFamily="34" charset="0"/>
              <a:buChar char="•"/>
            </a:pPr>
            <a:r>
              <a:rPr lang="tr-TR" sz="1800" noProof="1" smtClean="0">
                <a:latin typeface="Arial Narrow" panose="020B0606020202030204" pitchFamily="34" charset="0"/>
              </a:rPr>
              <a:t>Prudence</a:t>
            </a:r>
            <a:endParaRPr lang="tr-TR" sz="1800" noProof="1">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Financial statements should err on the side of </a:t>
            </a:r>
            <a:r>
              <a:rPr lang="tr-TR" sz="1600" noProof="1" smtClean="0">
                <a:latin typeface="Arial Narrow" panose="020B0606020202030204" pitchFamily="34" charset="0"/>
              </a:rPr>
              <a:t>caution. The </a:t>
            </a:r>
            <a:r>
              <a:rPr lang="tr-TR" sz="1600" noProof="1">
                <a:latin typeface="Arial Narrow" panose="020B0606020202030204" pitchFamily="34" charset="0"/>
              </a:rPr>
              <a:t>convention represents an attempt to deal with the uncertainty surrounding many events reported in the financial statements, and evolved to counteract the excessive optimism of some managers and owners, which resulted in an overstatement of financial position</a:t>
            </a:r>
            <a:r>
              <a:rPr lang="tr-TR" sz="1600" noProof="1" smtClean="0">
                <a:latin typeface="Arial Narrow" panose="020B0606020202030204" pitchFamily="34" charset="0"/>
              </a:rPr>
              <a:t>.</a:t>
            </a:r>
            <a:endParaRPr lang="tr-TR" sz="1600" noProof="1">
              <a:latin typeface="Arial Narrow" panose="020B0606020202030204" pitchFamily="34" charset="0"/>
            </a:endParaRPr>
          </a:p>
          <a:p>
            <a:pPr marL="285750" lvl="1" algn="ctr">
              <a:spcBef>
                <a:spcPts val="0"/>
              </a:spcBef>
              <a:buFont typeface="Arial" panose="020B0604020202020204" pitchFamily="34" charset="0"/>
              <a:buChar char="•"/>
            </a:pPr>
            <a:r>
              <a:rPr lang="tr-TR" sz="1800" noProof="1" smtClean="0">
                <a:latin typeface="Arial Narrow" panose="020B0606020202030204" pitchFamily="34" charset="0"/>
              </a:rPr>
              <a:t>Objectivity</a:t>
            </a:r>
            <a:endParaRPr lang="tr-TR" sz="1600" noProof="1" smtClean="0">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Objectivity convention </a:t>
            </a:r>
            <a:r>
              <a:rPr lang="tr-TR" sz="1600" noProof="1">
                <a:latin typeface="Arial Narrow" panose="020B0606020202030204" pitchFamily="34" charset="0"/>
              </a:rPr>
              <a:t>seeks to reduce personal bias in financial </a:t>
            </a:r>
            <a:r>
              <a:rPr lang="tr-TR" sz="1600" noProof="1" smtClean="0">
                <a:latin typeface="Arial Narrow" panose="020B0606020202030204" pitchFamily="34" charset="0"/>
              </a:rPr>
              <a:t>statements. Financial </a:t>
            </a:r>
            <a:r>
              <a:rPr lang="tr-TR" sz="1600" noProof="1">
                <a:latin typeface="Arial Narrow" panose="020B0606020202030204" pitchFamily="34" charset="0"/>
              </a:rPr>
              <a:t>statements should be based on objective verifiable </a:t>
            </a:r>
            <a:r>
              <a:rPr lang="tr-TR" sz="1600" noProof="1" smtClean="0">
                <a:latin typeface="Arial Narrow" panose="020B0606020202030204" pitchFamily="34" charset="0"/>
              </a:rPr>
              <a:t>evidence rather </a:t>
            </a:r>
            <a:r>
              <a:rPr lang="tr-TR" sz="1600" noProof="1">
                <a:latin typeface="Arial Narrow" panose="020B0606020202030204" pitchFamily="34" charset="0"/>
              </a:rPr>
              <a:t>than on matters of opinion.</a:t>
            </a:r>
          </a:p>
          <a:p>
            <a:pPr marL="400050" lvl="2" indent="0">
              <a:spcBef>
                <a:spcPts val="0"/>
              </a:spcBef>
              <a:buNone/>
            </a:pPr>
            <a:endParaRPr lang="tr-TR" sz="900" noProof="1" smtClean="0">
              <a:latin typeface="Arial Narrow" panose="020B0606020202030204" pitchFamily="34" charset="0"/>
            </a:endParaRPr>
          </a:p>
        </p:txBody>
      </p:sp>
    </p:spTree>
    <p:extLst>
      <p:ext uri="{BB962C8B-B14F-4D97-AF65-F5344CB8AC3E}">
        <p14:creationId xmlns:p14="http://schemas.microsoft.com/office/powerpoint/2010/main" val="32550402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71600" y="44624"/>
            <a:ext cx="7715200" cy="1152128"/>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2400">
                <a:solidFill>
                  <a:srgbClr val="C00000"/>
                </a:solidFill>
                <a:latin typeface="Arial Narrow" pitchFamily="34" charset="0"/>
              </a:rPr>
              <a:t/>
            </a:r>
            <a:br>
              <a:rPr lang="tr-TR" sz="2400">
                <a:solidFill>
                  <a:srgbClr val="C00000"/>
                </a:solidFill>
                <a:latin typeface="Arial Narrow" pitchFamily="34" charset="0"/>
              </a:rPr>
            </a:br>
            <a:r>
              <a:rPr lang="tr-TR" sz="2400">
                <a:solidFill>
                  <a:srgbClr val="800000"/>
                </a:solidFill>
                <a:latin typeface="Arial Narrow" pitchFamily="34" charset="0"/>
              </a:rPr>
              <a:t>[2] </a:t>
            </a:r>
            <a:r>
              <a:rPr lang="tr-TR" sz="2400" smtClean="0">
                <a:solidFill>
                  <a:srgbClr val="800000"/>
                </a:solidFill>
                <a:latin typeface="Arial Narrow" pitchFamily="34" charset="0"/>
              </a:rPr>
              <a:t>Financial </a:t>
            </a:r>
            <a:r>
              <a:rPr lang="tr-TR" sz="2400">
                <a:solidFill>
                  <a:srgbClr val="800000"/>
                </a:solidFill>
                <a:latin typeface="Arial Narrow" pitchFamily="34" charset="0"/>
              </a:rPr>
              <a:t>Statements</a:t>
            </a:r>
            <a:br>
              <a:rPr lang="tr-TR" sz="2400">
                <a:solidFill>
                  <a:srgbClr val="800000"/>
                </a:solidFill>
                <a:latin typeface="Arial Narrow" pitchFamily="34" charset="0"/>
              </a:rPr>
            </a:br>
            <a:r>
              <a:rPr lang="tr-TR" sz="2400" smtClean="0">
                <a:latin typeface="Arial Narrow" pitchFamily="34" charset="0"/>
              </a:rPr>
              <a:t>Major Financial Statements</a:t>
            </a:r>
            <a:endParaRPr lang="tr-TR" sz="2400" dirty="0">
              <a:latin typeface="Arial Narrow" pitchFamily="34" charset="0"/>
            </a:endParaRPr>
          </a:p>
        </p:txBody>
      </p:sp>
      <p:sp>
        <p:nvSpPr>
          <p:cNvPr id="5" name="Content Placeholder 4"/>
          <p:cNvSpPr>
            <a:spLocks noGrp="1"/>
          </p:cNvSpPr>
          <p:nvPr>
            <p:ph idx="1"/>
          </p:nvPr>
        </p:nvSpPr>
        <p:spPr>
          <a:xfrm>
            <a:off x="457200" y="1340768"/>
            <a:ext cx="8229600" cy="4381947"/>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Three major financial statements that form the core of financial accounting:</a:t>
            </a:r>
          </a:p>
          <a:p>
            <a:pPr marL="0" lvl="1" indent="0" algn="ctr">
              <a:spcBef>
                <a:spcPts val="0"/>
              </a:spcBef>
              <a:buNone/>
            </a:pPr>
            <a:endParaRPr lang="tr-TR" sz="9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Balance Sheet</a:t>
            </a:r>
          </a:p>
          <a:p>
            <a:pPr marL="400050" lvl="2" indent="0" algn="ctr">
              <a:spcBef>
                <a:spcPts val="0"/>
              </a:spcBef>
              <a:buNone/>
            </a:pPr>
            <a:r>
              <a:rPr lang="tr-TR" sz="1800" noProof="1" smtClean="0">
                <a:latin typeface="Arial Narrow" panose="020B0606020202030204" pitchFamily="34" charset="0"/>
              </a:rPr>
              <a:t>shows the accumulated wealth of the business at the </a:t>
            </a:r>
            <a:r>
              <a:rPr lang="tr-TR" sz="1800" u="sng" noProof="1" smtClean="0">
                <a:latin typeface="Arial Narrow" panose="020B0606020202030204" pitchFamily="34" charset="0"/>
              </a:rPr>
              <a:t>end</a:t>
            </a:r>
            <a:r>
              <a:rPr lang="tr-TR" sz="1800" noProof="1" smtClean="0">
                <a:latin typeface="Arial Narrow" panose="020B0606020202030204" pitchFamily="34" charset="0"/>
              </a:rPr>
              <a:t> of the period,</a:t>
            </a:r>
          </a:p>
          <a:p>
            <a:pPr marL="400050" lvl="2" indent="0" algn="ctr">
              <a:spcBef>
                <a:spcPts val="0"/>
              </a:spcBef>
              <a:buNone/>
            </a:pPr>
            <a:endParaRPr lang="tr-TR" sz="9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Income Statement (also known as Profit and Loss Account)</a:t>
            </a:r>
          </a:p>
          <a:p>
            <a:pPr marL="400050" lvl="2" indent="0" algn="ctr">
              <a:spcBef>
                <a:spcPts val="0"/>
              </a:spcBef>
              <a:buNone/>
            </a:pPr>
            <a:r>
              <a:rPr lang="tr-TR" sz="1800" noProof="1">
                <a:latin typeface="Arial Narrow" panose="020B0606020202030204" pitchFamily="34" charset="0"/>
              </a:rPr>
              <a:t>s</a:t>
            </a:r>
            <a:r>
              <a:rPr lang="tr-TR" sz="1800" noProof="1" smtClean="0">
                <a:latin typeface="Arial Narrow" panose="020B0606020202030204" pitchFamily="34" charset="0"/>
              </a:rPr>
              <a:t>hows the wealth (profit) generated or lost by the business </a:t>
            </a:r>
            <a:r>
              <a:rPr lang="tr-TR" sz="1800" u="sng" noProof="1" smtClean="0">
                <a:latin typeface="Arial Narrow" panose="020B0606020202030204" pitchFamily="34" charset="0"/>
              </a:rPr>
              <a:t>during</a:t>
            </a:r>
            <a:r>
              <a:rPr lang="tr-TR" sz="1800" noProof="1" smtClean="0">
                <a:latin typeface="Arial Narrow" panose="020B0606020202030204" pitchFamily="34" charset="0"/>
              </a:rPr>
              <a:t> the period,</a:t>
            </a:r>
          </a:p>
          <a:p>
            <a:pPr marL="400050" lvl="2" indent="0" algn="ctr">
              <a:spcBef>
                <a:spcPts val="0"/>
              </a:spcBef>
              <a:buNone/>
            </a:pPr>
            <a:endParaRPr lang="tr-TR" sz="9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latin typeface="Arial Narrow" panose="020B0606020202030204" pitchFamily="34" charset="0"/>
              </a:rPr>
              <a:t>Cash Flow Statement</a:t>
            </a:r>
          </a:p>
          <a:p>
            <a:pPr marL="400050" lvl="2" indent="0" algn="ctr">
              <a:spcBef>
                <a:spcPts val="0"/>
              </a:spcBef>
              <a:buNone/>
            </a:pPr>
            <a:r>
              <a:rPr lang="tr-TR" sz="1800" noProof="1">
                <a:latin typeface="Arial Narrow" panose="020B0606020202030204" pitchFamily="34" charset="0"/>
              </a:rPr>
              <a:t>s</a:t>
            </a:r>
            <a:r>
              <a:rPr lang="tr-TR" sz="1800" noProof="1" smtClean="0">
                <a:latin typeface="Arial Narrow" panose="020B0606020202030204" pitchFamily="34" charset="0"/>
              </a:rPr>
              <a:t>hows the cash in and cash out </a:t>
            </a:r>
            <a:r>
              <a:rPr lang="tr-TR" sz="1800" u="sng" noProof="1" smtClean="0">
                <a:latin typeface="Arial Narrow" panose="020B0606020202030204" pitchFamily="34" charset="0"/>
              </a:rPr>
              <a:t>during</a:t>
            </a:r>
            <a:r>
              <a:rPr lang="tr-TR" sz="1800" noProof="1" smtClean="0">
                <a:latin typeface="Arial Narrow" panose="020B0606020202030204" pitchFamily="34" charset="0"/>
              </a:rPr>
              <a:t> the period.</a:t>
            </a:r>
          </a:p>
          <a:p>
            <a:pPr marL="400050" lvl="2"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Taken together, they provide an overall picture of the financial health of the business.</a:t>
            </a:r>
          </a:p>
        </p:txBody>
      </p:sp>
      <p:pic>
        <p:nvPicPr>
          <p:cNvPr id="6" name="Resim 5"/>
          <p:cNvPicPr>
            <a:picLocks noChangeAspect="1"/>
          </p:cNvPicPr>
          <p:nvPr/>
        </p:nvPicPr>
        <p:blipFill>
          <a:blip r:embed="rId3"/>
          <a:stretch>
            <a:fillRect/>
          </a:stretch>
        </p:blipFill>
        <p:spPr>
          <a:xfrm>
            <a:off x="2839045" y="4437112"/>
            <a:ext cx="3980310" cy="2169218"/>
          </a:xfrm>
          <a:prstGeom prst="rect">
            <a:avLst/>
          </a:prstGeom>
        </p:spPr>
      </p:pic>
    </p:spTree>
    <p:extLst>
      <p:ext uri="{BB962C8B-B14F-4D97-AF65-F5344CB8AC3E}">
        <p14:creationId xmlns:p14="http://schemas.microsoft.com/office/powerpoint/2010/main" val="16697823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7584" y="44624"/>
            <a:ext cx="7848872" cy="1261385"/>
          </a:xfrm>
          <a:ln w="25400">
            <a:noFill/>
          </a:ln>
        </p:spPr>
        <p:txBody>
          <a:bodyPr>
            <a:noAutofit/>
          </a:bodyPr>
          <a:lstStyle/>
          <a:p>
            <a:r>
              <a:rPr lang="tr-TR" sz="1400" dirty="0" smtClean="0">
                <a:latin typeface="Arial Narrow" pitchFamily="34" charset="0"/>
              </a:rPr>
              <a:t>NTE 1010 – </a:t>
            </a:r>
            <a:r>
              <a:rPr lang="tr-TR" sz="1400" dirty="0" err="1" smtClean="0">
                <a:latin typeface="Arial Narrow" pitchFamily="34" charset="0"/>
              </a:rPr>
              <a:t>Introduction</a:t>
            </a:r>
            <a:r>
              <a:rPr lang="tr-TR" sz="1400" dirty="0" smtClean="0">
                <a:latin typeface="Arial Narrow" pitchFamily="34" charset="0"/>
              </a:rPr>
              <a:t> </a:t>
            </a:r>
            <a:r>
              <a:rPr lang="tr-TR" sz="1400" dirty="0" err="1" smtClean="0">
                <a:latin typeface="Arial Narrow" pitchFamily="34" charset="0"/>
              </a:rPr>
              <a:t>to</a:t>
            </a:r>
            <a:r>
              <a:rPr lang="tr-TR" sz="1400" dirty="0" smtClean="0">
                <a:latin typeface="Arial Narrow" pitchFamily="34" charset="0"/>
              </a:rPr>
              <a:t> Finance </a:t>
            </a:r>
            <a:r>
              <a:rPr lang="tr-TR" sz="1400" dirty="0" err="1" smtClean="0">
                <a:latin typeface="Arial Narrow" pitchFamily="34" charset="0"/>
              </a:rPr>
              <a:t>for</a:t>
            </a:r>
            <a:r>
              <a:rPr lang="tr-TR" sz="1400" dirty="0" smtClean="0">
                <a:latin typeface="Arial Narrow" pitchFamily="34" charset="0"/>
              </a:rPr>
              <a:t> </a:t>
            </a:r>
            <a:r>
              <a:rPr lang="tr-TR" sz="1400" dirty="0" err="1" smtClean="0">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[2] Financial </a:t>
            </a:r>
            <a:r>
              <a:rPr lang="tr-TR" sz="2400" dirty="0" err="1" smtClean="0">
                <a:solidFill>
                  <a:srgbClr val="800000"/>
                </a:solidFill>
                <a:latin typeface="Arial Narrow" pitchFamily="34" charset="0"/>
              </a:rPr>
              <a:t>Statements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Balance</a:t>
            </a:r>
            <a:r>
              <a:rPr lang="tr-TR" sz="2400" dirty="0" smtClean="0">
                <a:latin typeface="Arial Narrow" pitchFamily="34" charset="0"/>
              </a:rPr>
              <a:t> </a:t>
            </a:r>
            <a:r>
              <a:rPr lang="tr-TR" sz="2400" dirty="0" err="1" smtClean="0">
                <a:latin typeface="Arial Narrow" pitchFamily="34" charset="0"/>
              </a:rPr>
              <a:t>Sheet</a:t>
            </a:r>
            <a:endParaRPr lang="tr-TR" sz="2400" dirty="0">
              <a:latin typeface="Arial Narrow" pitchFamily="34" charset="0"/>
            </a:endParaRPr>
          </a:p>
        </p:txBody>
      </p:sp>
      <p:sp>
        <p:nvSpPr>
          <p:cNvPr id="5" name="Content Placeholder 4"/>
          <p:cNvSpPr>
            <a:spLocks noGrp="1"/>
          </p:cNvSpPr>
          <p:nvPr>
            <p:ph idx="1"/>
          </p:nvPr>
        </p:nvSpPr>
        <p:spPr>
          <a:xfrm>
            <a:off x="827584" y="1340768"/>
            <a:ext cx="7848872" cy="5328592"/>
          </a:xfrm>
          <a:ln w="25400">
            <a:noFill/>
          </a:ln>
        </p:spPr>
        <p:txBody>
          <a:bodyPr>
            <a:noAutofit/>
          </a:bodyPr>
          <a:lstStyle/>
          <a:p>
            <a:pPr marL="0" lvl="1" indent="0" algn="ctr">
              <a:spcBef>
                <a:spcPts val="0"/>
              </a:spcBef>
              <a:buNone/>
            </a:pPr>
            <a:r>
              <a:rPr lang="tr-TR" sz="1600" noProof="1" smtClean="0">
                <a:latin typeface="Arial Narrow" panose="020B0606020202030204" pitchFamily="34" charset="0"/>
              </a:rPr>
              <a:t> </a:t>
            </a:r>
            <a:r>
              <a:rPr lang="tr-TR" sz="1800" dirty="0" smtClean="0">
                <a:latin typeface="Arial Narrow" pitchFamily="34" charset="0"/>
              </a:rPr>
              <a:t>Basic </a:t>
            </a:r>
            <a:r>
              <a:rPr lang="tr-TR" sz="1800" dirty="0" err="1">
                <a:latin typeface="Arial Narrow" pitchFamily="34" charset="0"/>
              </a:rPr>
              <a:t>Structure</a:t>
            </a:r>
            <a:r>
              <a:rPr lang="tr-TR" sz="1800" dirty="0">
                <a:latin typeface="Arial Narrow" pitchFamily="34" charset="0"/>
              </a:rPr>
              <a:t> of a </a:t>
            </a:r>
            <a:r>
              <a:rPr lang="tr-TR" sz="1800" dirty="0" err="1">
                <a:latin typeface="Arial Narrow" pitchFamily="34" charset="0"/>
              </a:rPr>
              <a:t>Balance</a:t>
            </a:r>
            <a:r>
              <a:rPr lang="tr-TR" sz="1800" dirty="0">
                <a:latin typeface="Arial Narrow" pitchFamily="34" charset="0"/>
              </a:rPr>
              <a:t> </a:t>
            </a:r>
            <a:r>
              <a:rPr lang="tr-TR" sz="1800" dirty="0" err="1" smtClean="0">
                <a:latin typeface="Arial Narrow" pitchFamily="34" charset="0"/>
              </a:rPr>
              <a:t>Sheet</a:t>
            </a:r>
            <a:r>
              <a:rPr lang="tr-TR" sz="1800" dirty="0" smtClean="0">
                <a:latin typeface="Arial Narrow" pitchFamily="34" charset="0"/>
              </a:rPr>
              <a:t>:</a:t>
            </a:r>
            <a:endParaRPr lang="tr-TR" sz="18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 Assets (resources held by the business)</a:t>
            </a:r>
          </a:p>
          <a:p>
            <a:pPr marL="0" lvl="1" indent="0" algn="ctr">
              <a:spcBef>
                <a:spcPts val="0"/>
              </a:spcBef>
              <a:buNone/>
            </a:pPr>
            <a:r>
              <a:rPr lang="tr-TR" sz="1800" noProof="1" smtClean="0">
                <a:latin typeface="Arial Narrow" panose="020B0606020202030204" pitchFamily="34" charset="0"/>
              </a:rPr>
              <a:t>- Liabilities </a:t>
            </a:r>
            <a:r>
              <a:rPr lang="tr-TR" sz="1800" noProof="1">
                <a:latin typeface="Arial Narrow" panose="020B0606020202030204" pitchFamily="34" charset="0"/>
              </a:rPr>
              <a:t>(obligation of the business to provide cash, or some other form of benefit </a:t>
            </a:r>
            <a:r>
              <a:rPr lang="tr-TR" sz="1800" noProof="1" smtClean="0">
                <a:latin typeface="Arial Narrow" panose="020B0606020202030204" pitchFamily="34" charset="0"/>
              </a:rPr>
              <a:t>to other </a:t>
            </a:r>
            <a:r>
              <a:rPr lang="tr-TR" sz="1800" noProof="1">
                <a:latin typeface="Arial Narrow" panose="020B0606020202030204" pitchFamily="34" charset="0"/>
              </a:rPr>
              <a:t>individuals and organizations apart from the owners)</a:t>
            </a:r>
          </a:p>
          <a:p>
            <a:pPr marL="0" lvl="1" indent="0" algn="ctr">
              <a:spcBef>
                <a:spcPts val="0"/>
              </a:spcBef>
              <a:buNone/>
            </a:pPr>
            <a:r>
              <a:rPr lang="tr-TR" sz="1800" noProof="1">
                <a:latin typeface="Arial Narrow" panose="020B0606020202030204" pitchFamily="34" charset="0"/>
              </a:rPr>
              <a:t>= Owner’s </a:t>
            </a:r>
            <a:r>
              <a:rPr lang="tr-TR" sz="1800" noProof="1" smtClean="0">
                <a:latin typeface="Arial Narrow" panose="020B0606020202030204" pitchFamily="34" charset="0"/>
              </a:rPr>
              <a:t>Equity (accumulated wealth of the business)</a:t>
            </a:r>
            <a:endParaRPr lang="tr-TR" sz="1800" noProof="1">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205160" y="2996952"/>
            <a:ext cx="8733684" cy="3744416"/>
          </a:xfrm>
          <a:prstGeom prst="rect">
            <a:avLst/>
          </a:prstGeom>
        </p:spPr>
      </p:pic>
    </p:spTree>
    <p:extLst>
      <p:ext uri="{BB962C8B-B14F-4D97-AF65-F5344CB8AC3E}">
        <p14:creationId xmlns:p14="http://schemas.microsoft.com/office/powerpoint/2010/main" val="3483485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43608" y="332656"/>
            <a:ext cx="3538736" cy="1512168"/>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[2] Financial Statements</a:t>
            </a:r>
            <a:br>
              <a:rPr lang="tr-TR" sz="2400">
                <a:solidFill>
                  <a:srgbClr val="800000"/>
                </a:solidFill>
                <a:latin typeface="Arial Narrow" pitchFamily="34" charset="0"/>
              </a:rPr>
            </a:br>
            <a:r>
              <a:rPr lang="tr-TR" sz="2400" smtClean="0">
                <a:latin typeface="Arial Narrow" pitchFamily="34" charset="0"/>
              </a:rPr>
              <a:t>Income Statement</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683568" y="2276872"/>
            <a:ext cx="4392488" cy="3849291"/>
          </a:xfrm>
          <a:ln w="25400">
            <a:noFill/>
          </a:ln>
        </p:spPr>
        <p:txBody>
          <a:bodyPr>
            <a:noAutofit/>
          </a:bodyPr>
          <a:lstStyle/>
          <a:p>
            <a:pPr marL="0" lvl="1" indent="0" algn="ctr">
              <a:spcBef>
                <a:spcPts val="0"/>
              </a:spcBef>
              <a:buNone/>
            </a:pPr>
            <a:r>
              <a:rPr lang="tr-TR" sz="1800" noProof="1">
                <a:latin typeface="Arial Narrow" panose="020B0606020202030204" pitchFamily="34" charset="0"/>
              </a:rPr>
              <a:t>The purpose of the Income Statement,</a:t>
            </a:r>
          </a:p>
          <a:p>
            <a:pPr marL="0" lvl="1" indent="0" algn="ctr">
              <a:spcBef>
                <a:spcPts val="0"/>
              </a:spcBef>
              <a:buNone/>
            </a:pPr>
            <a:r>
              <a:rPr lang="tr-TR" sz="1800" noProof="1">
                <a:latin typeface="Arial Narrow" panose="020B0606020202030204" pitchFamily="34" charset="0"/>
              </a:rPr>
              <a:t>also called Profit and Loss Account,</a:t>
            </a:r>
          </a:p>
          <a:p>
            <a:pPr marL="0" lvl="1" indent="0" algn="ctr">
              <a:spcBef>
                <a:spcPts val="0"/>
              </a:spcBef>
              <a:buNone/>
            </a:pPr>
            <a:r>
              <a:rPr lang="tr-TR" sz="1800" noProof="1">
                <a:latin typeface="Arial Narrow" panose="020B0606020202030204" pitchFamily="34" charset="0"/>
              </a:rPr>
              <a:t>is to measure and report how much profit (wealth)</a:t>
            </a:r>
          </a:p>
          <a:p>
            <a:pPr marL="0" lvl="1" indent="0" algn="ctr">
              <a:spcBef>
                <a:spcPts val="0"/>
              </a:spcBef>
              <a:buNone/>
            </a:pPr>
            <a:r>
              <a:rPr lang="tr-TR" sz="1800" noProof="1">
                <a:latin typeface="Arial Narrow" panose="020B0606020202030204" pitchFamily="34" charset="0"/>
              </a:rPr>
              <a:t>the business has generated</a:t>
            </a:r>
          </a:p>
          <a:p>
            <a:pPr marL="0" lvl="1" indent="0" algn="ctr">
              <a:spcBef>
                <a:spcPts val="0"/>
              </a:spcBef>
              <a:buNone/>
            </a:pPr>
            <a:r>
              <a:rPr lang="tr-TR" sz="1800" noProof="1">
                <a:latin typeface="Arial Narrow" panose="020B0606020202030204" pitchFamily="34" charset="0"/>
              </a:rPr>
              <a:t>over a period</a:t>
            </a:r>
          </a:p>
          <a:p>
            <a:pPr marL="0" lvl="1" indent="0" algn="ctr">
              <a:spcBef>
                <a:spcPts val="0"/>
              </a:spcBef>
              <a:buNone/>
            </a:pPr>
            <a:r>
              <a:rPr lang="tr-TR" sz="1800" noProof="1">
                <a:latin typeface="Arial Narrow" panose="020B0606020202030204" pitchFamily="34" charset="0"/>
              </a:rPr>
              <a:t>(most commonly a year, a quarter, a month</a:t>
            </a:r>
            <a:r>
              <a:rPr lang="tr-TR" sz="1800" noProof="1" smtClean="0">
                <a:latin typeface="Arial Narrow" panose="020B0606020202030204" pitchFamily="34" charset="0"/>
              </a:rPr>
              <a:t>).</a:t>
            </a: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5148064" y="620688"/>
            <a:ext cx="3123152" cy="5589845"/>
          </a:xfrm>
          <a:prstGeom prst="rect">
            <a:avLst/>
          </a:prstGeom>
        </p:spPr>
      </p:pic>
    </p:spTree>
    <p:extLst>
      <p:ext uri="{BB962C8B-B14F-4D97-AF65-F5344CB8AC3E}">
        <p14:creationId xmlns:p14="http://schemas.microsoft.com/office/powerpoint/2010/main" val="2846194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55576" y="116632"/>
            <a:ext cx="7776864" cy="1224136"/>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 </a:t>
            </a:r>
            <a:r>
              <a:rPr lang="tr-TR" sz="1400" dirty="0" err="1" smtClean="0">
                <a:latin typeface="Arial Narrow" pitchFamily="34" charset="0"/>
              </a:rPr>
              <a:t>Introduction</a:t>
            </a:r>
            <a:r>
              <a:rPr lang="tr-TR" sz="1400" dirty="0" smtClean="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[2] Financial Statements</a:t>
            </a:r>
            <a:br>
              <a:rPr lang="tr-TR" sz="2400">
                <a:solidFill>
                  <a:srgbClr val="800000"/>
                </a:solidFill>
                <a:latin typeface="Arial Narrow" pitchFamily="34" charset="0"/>
              </a:rPr>
            </a:br>
            <a:r>
              <a:rPr lang="tr-TR" sz="2400" smtClean="0">
                <a:latin typeface="Arial Narrow" pitchFamily="34" charset="0"/>
              </a:rPr>
              <a:t>Cash Flow </a:t>
            </a:r>
            <a:r>
              <a:rPr lang="tr-TR" sz="2400">
                <a:latin typeface="Arial Narrow" pitchFamily="34" charset="0"/>
              </a:rPr>
              <a:t>Statement</a:t>
            </a:r>
            <a:endParaRPr lang="tr-TR" sz="20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r>
              <a:rPr lang="tr-TR" sz="2000" noProof="1" smtClean="0">
                <a:latin typeface="Arial Narrow" panose="020B0606020202030204" pitchFamily="34" charset="0"/>
              </a:rPr>
              <a:t> </a:t>
            </a:r>
            <a:endParaRPr lang="tr-TR" sz="2000" noProof="1">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endParaRPr lang="tr-TR" sz="2000" noProof="1" smtClean="0">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3181495" y="1600200"/>
            <a:ext cx="2781010" cy="4176464"/>
          </a:xfrm>
          <a:prstGeom prst="rect">
            <a:avLst/>
          </a:prstGeom>
        </p:spPr>
      </p:pic>
      <p:sp>
        <p:nvSpPr>
          <p:cNvPr id="3" name="Metin kutusu 2"/>
          <p:cNvSpPr txBox="1"/>
          <p:nvPr/>
        </p:nvSpPr>
        <p:spPr>
          <a:xfrm>
            <a:off x="6084168" y="1691516"/>
            <a:ext cx="1428596" cy="369332"/>
          </a:xfrm>
          <a:prstGeom prst="rect">
            <a:avLst/>
          </a:prstGeom>
          <a:noFill/>
        </p:spPr>
        <p:txBody>
          <a:bodyPr wrap="none" rtlCol="0">
            <a:spAutoFit/>
          </a:bodyPr>
          <a:lstStyle/>
          <a:p>
            <a:r>
              <a:rPr lang="tr-TR" smtClean="0">
                <a:latin typeface="Arial Narrow" panose="020B0606020202030204" pitchFamily="34" charset="0"/>
              </a:rPr>
              <a:t>including </a:t>
            </a:r>
            <a:r>
              <a:rPr lang="tr-TR" dirty="0" smtClean="0">
                <a:latin typeface="Arial Narrow" panose="020B0606020202030204" pitchFamily="34" charset="0"/>
              </a:rPr>
              <a:t>Profit</a:t>
            </a:r>
            <a:endParaRPr lang="en-US" dirty="0">
              <a:latin typeface="Arial Narrow" panose="020B0606020202030204" pitchFamily="34" charset="0"/>
            </a:endParaRPr>
          </a:p>
        </p:txBody>
      </p:sp>
    </p:spTree>
    <p:extLst>
      <p:ext uri="{BB962C8B-B14F-4D97-AF65-F5344CB8AC3E}">
        <p14:creationId xmlns:p14="http://schemas.microsoft.com/office/powerpoint/2010/main" val="31260495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9512" y="188640"/>
            <a:ext cx="8773160" cy="1080120"/>
          </a:xfrm>
          <a:ln w="25400">
            <a:noFill/>
          </a:ln>
        </p:spPr>
        <p:txBody>
          <a:bodyPr>
            <a:noAutofit/>
          </a:bodyPr>
          <a:lstStyle/>
          <a:p>
            <a:pPr>
              <a:spcBef>
                <a:spcPts val="0"/>
              </a:spcBef>
            </a:pPr>
            <a:r>
              <a:rPr lang="tr-TR" sz="1400" dirty="0" err="1" smtClean="0">
                <a:latin typeface="Arial Narrow" pitchFamily="34" charset="0"/>
              </a:rPr>
              <a:t>NTE</a:t>
            </a:r>
            <a:r>
              <a:rPr lang="tr-TR" sz="1400" dirty="0" smtClean="0">
                <a:latin typeface="Arial Narrow" pitchFamily="34" charset="0"/>
              </a:rPr>
              <a:t> 1010 – </a:t>
            </a:r>
            <a:r>
              <a:rPr lang="tr-TR" sz="1400" dirty="0" err="1" smtClean="0">
                <a:latin typeface="Arial Narrow" pitchFamily="34" charset="0"/>
              </a:rPr>
              <a:t>Introduction</a:t>
            </a:r>
            <a:r>
              <a:rPr lang="tr-TR" sz="1400" dirty="0" smtClean="0">
                <a:latin typeface="Arial Narrow" pitchFamily="34" charset="0"/>
              </a:rPr>
              <a:t> </a:t>
            </a:r>
            <a:r>
              <a:rPr lang="tr-TR" sz="1400" dirty="0" err="1" smtClean="0">
                <a:latin typeface="Arial Narrow" pitchFamily="34" charset="0"/>
              </a:rPr>
              <a:t>to</a:t>
            </a:r>
            <a:r>
              <a:rPr lang="tr-TR" sz="1400" dirty="0" smtClean="0">
                <a:latin typeface="Arial Narrow" pitchFamily="34" charset="0"/>
              </a:rPr>
              <a:t> Finance </a:t>
            </a:r>
            <a:r>
              <a:rPr lang="tr-TR" sz="1400" dirty="0" err="1" smtClean="0">
                <a:latin typeface="Arial Narrow" pitchFamily="34" charset="0"/>
              </a:rPr>
              <a:t>for</a:t>
            </a:r>
            <a:r>
              <a:rPr lang="tr-TR" sz="1400" dirty="0" smtClean="0">
                <a:latin typeface="Arial Narrow" pitchFamily="34" charset="0"/>
              </a:rPr>
              <a:t> </a:t>
            </a:r>
            <a:r>
              <a:rPr lang="tr-TR" sz="1400" dirty="0" err="1" smtClean="0">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[3] Analysing </a:t>
            </a:r>
            <a:r>
              <a:rPr lang="tr-TR" sz="2400">
                <a:solidFill>
                  <a:srgbClr val="800000"/>
                </a:solidFill>
                <a:latin typeface="Arial Narrow" pitchFamily="34" charset="0"/>
              </a:rPr>
              <a:t>&amp; </a:t>
            </a:r>
            <a:r>
              <a:rPr lang="tr-TR" sz="2400" smtClean="0">
                <a:solidFill>
                  <a:srgbClr val="800000"/>
                </a:solidFill>
                <a:latin typeface="Arial Narrow" pitchFamily="34" charset="0"/>
              </a:rPr>
              <a:t>Interpreting Financial </a:t>
            </a:r>
            <a:r>
              <a:rPr lang="tr-TR" sz="2400">
                <a:solidFill>
                  <a:srgbClr val="800000"/>
                </a:solidFill>
                <a:latin typeface="Arial Narrow" pitchFamily="34" charset="0"/>
              </a:rPr>
              <a:t>Statements</a:t>
            </a:r>
            <a:r>
              <a:rPr lang="tr-TR" sz="2400">
                <a:latin typeface="Arial Narrow" pitchFamily="34" charset="0"/>
              </a:rPr>
              <a:t/>
            </a:r>
            <a:br>
              <a:rPr lang="tr-TR" sz="2400">
                <a:latin typeface="Arial Narrow" pitchFamily="34" charset="0"/>
              </a:rPr>
            </a:br>
            <a:r>
              <a:rPr lang="tr-TR" sz="2400" smtClean="0">
                <a:latin typeface="Arial Narrow" pitchFamily="34" charset="0"/>
              </a:rPr>
              <a:t>Ratio </a:t>
            </a:r>
            <a:r>
              <a:rPr lang="tr-TR" sz="2400">
                <a:latin typeface="Arial Narrow" pitchFamily="34" charset="0"/>
              </a:rPr>
              <a:t>Analysis</a:t>
            </a:r>
            <a:endParaRPr lang="tr-TR" sz="2400" dirty="0">
              <a:latin typeface="Arial Narrow" pitchFamily="34" charset="0"/>
            </a:endParaRPr>
          </a:p>
        </p:txBody>
      </p:sp>
      <p:sp>
        <p:nvSpPr>
          <p:cNvPr id="5" name="Content Placeholder 4"/>
          <p:cNvSpPr>
            <a:spLocks noGrp="1"/>
          </p:cNvSpPr>
          <p:nvPr>
            <p:ph idx="1"/>
          </p:nvPr>
        </p:nvSpPr>
        <p:spPr>
          <a:xfrm>
            <a:off x="179512" y="1196752"/>
            <a:ext cx="3528392" cy="5544616"/>
          </a:xfrm>
          <a:ln w="25400">
            <a:noFill/>
          </a:ln>
        </p:spPr>
        <p:txBody>
          <a:bodyPr>
            <a:noAutofit/>
          </a:bodyPr>
          <a:lstStyle/>
          <a:p>
            <a:pPr marL="0" lvl="1" indent="0" algn="ctr">
              <a:spcBef>
                <a:spcPts val="0"/>
              </a:spcBef>
              <a:buNone/>
            </a:pPr>
            <a:endParaRPr lang="tr-TR" sz="1600" noProof="1" smtClean="0">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 </a:t>
            </a:r>
          </a:p>
        </p:txBody>
      </p:sp>
      <p:pic>
        <p:nvPicPr>
          <p:cNvPr id="2" name="Resim 1"/>
          <p:cNvPicPr>
            <a:picLocks noChangeAspect="1"/>
          </p:cNvPicPr>
          <p:nvPr/>
        </p:nvPicPr>
        <p:blipFill>
          <a:blip r:embed="rId3"/>
          <a:stretch>
            <a:fillRect/>
          </a:stretch>
        </p:blipFill>
        <p:spPr>
          <a:xfrm>
            <a:off x="179512" y="1412776"/>
            <a:ext cx="8810694" cy="4608512"/>
          </a:xfrm>
          <a:prstGeom prst="rect">
            <a:avLst/>
          </a:prstGeom>
        </p:spPr>
      </p:pic>
    </p:spTree>
    <p:extLst>
      <p:ext uri="{BB962C8B-B14F-4D97-AF65-F5344CB8AC3E}">
        <p14:creationId xmlns:p14="http://schemas.microsoft.com/office/powerpoint/2010/main" val="26804046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2170584" cy="4896544"/>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err="1">
                <a:latin typeface="Arial Narrow" pitchFamily="34" charset="0"/>
              </a:rPr>
              <a:t>for</a:t>
            </a:r>
            <a:r>
              <a:rPr lang="tr-TR" sz="1400">
                <a:latin typeface="Arial Narrow" pitchFamily="34" charset="0"/>
              </a:rPr>
              <a:t> </a:t>
            </a:r>
            <a:r>
              <a:rPr lang="tr-TR" sz="1400" smtClean="0">
                <a:latin typeface="Arial Narrow" pitchFamily="34" charset="0"/>
              </a:rPr>
              <a:t>Engineers</a:t>
            </a:r>
            <a:br>
              <a:rPr lang="tr-TR" sz="1400" smtClean="0">
                <a:latin typeface="Arial Narrow" pitchFamily="34" charset="0"/>
              </a:rPr>
            </a:b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[3] </a:t>
            </a:r>
            <a:r>
              <a:rPr lang="tr-TR" sz="2400">
                <a:solidFill>
                  <a:srgbClr val="800000"/>
                </a:solidFill>
                <a:latin typeface="Arial Narrow" pitchFamily="34" charset="0"/>
              </a:rPr>
              <a:t>Analysing &amp; Interpreting Financial </a:t>
            </a:r>
            <a:r>
              <a:rPr lang="tr-TR" sz="2400" smtClean="0">
                <a:solidFill>
                  <a:srgbClr val="800000"/>
                </a:solidFill>
                <a:latin typeface="Arial Narrow" pitchFamily="34" charset="0"/>
              </a:rPr>
              <a:t>Statements</a:t>
            </a:r>
            <a:br>
              <a:rPr lang="tr-TR" sz="2400" smtClean="0">
                <a:solidFill>
                  <a:srgbClr val="800000"/>
                </a:solidFill>
                <a:latin typeface="Arial Narrow" pitchFamily="34" charset="0"/>
              </a:rPr>
            </a:b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Horizontal</a:t>
            </a:r>
            <a:r>
              <a:rPr lang="tr-TR" sz="2400" dirty="0" smtClean="0">
                <a:latin typeface="Arial Narrow" pitchFamily="34" charset="0"/>
              </a:rPr>
              <a:t> Analysis</a:t>
            </a:r>
            <a:endParaRPr lang="tr-TR" sz="2400" dirty="0">
              <a:latin typeface="Arial Narrow" pitchFamily="34" charset="0"/>
            </a:endParaRPr>
          </a:p>
        </p:txBody>
      </p:sp>
      <p:sp>
        <p:nvSpPr>
          <p:cNvPr id="5" name="Content Placeholder 4"/>
          <p:cNvSpPr>
            <a:spLocks noGrp="1"/>
          </p:cNvSpPr>
          <p:nvPr>
            <p:ph idx="1"/>
          </p:nvPr>
        </p:nvSpPr>
        <p:spPr>
          <a:xfrm>
            <a:off x="457200" y="4293096"/>
            <a:ext cx="8229600" cy="1833067"/>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 </a:t>
            </a:r>
          </a:p>
        </p:txBody>
      </p:sp>
      <p:pic>
        <p:nvPicPr>
          <p:cNvPr id="2" name="Resim 1"/>
          <p:cNvPicPr>
            <a:picLocks noChangeAspect="1"/>
          </p:cNvPicPr>
          <p:nvPr/>
        </p:nvPicPr>
        <p:blipFill>
          <a:blip r:embed="rId3"/>
          <a:stretch>
            <a:fillRect/>
          </a:stretch>
        </p:blipFill>
        <p:spPr>
          <a:xfrm>
            <a:off x="3707904" y="188639"/>
            <a:ext cx="3960440" cy="6549521"/>
          </a:xfrm>
          <a:prstGeom prst="rect">
            <a:avLst/>
          </a:prstGeom>
        </p:spPr>
      </p:pic>
    </p:spTree>
    <p:extLst>
      <p:ext uri="{BB962C8B-B14F-4D97-AF65-F5344CB8AC3E}">
        <p14:creationId xmlns:p14="http://schemas.microsoft.com/office/powerpoint/2010/main" val="8964364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6738" y="116631"/>
            <a:ext cx="3551205" cy="2160241"/>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err="1">
                <a:latin typeface="Arial Narrow" pitchFamily="34" charset="0"/>
              </a:rPr>
              <a:t>for</a:t>
            </a:r>
            <a:r>
              <a:rPr lang="tr-TR" sz="1400">
                <a:latin typeface="Arial Narrow" pitchFamily="34" charset="0"/>
              </a:rPr>
              <a:t> </a:t>
            </a:r>
            <a:r>
              <a:rPr lang="tr-TR" sz="1400" smtClean="0">
                <a:latin typeface="Arial Narrow" pitchFamily="34" charset="0"/>
              </a:rPr>
              <a:t>Engineers</a:t>
            </a:r>
            <a:br>
              <a:rPr lang="tr-TR" sz="1400" smtClean="0">
                <a:latin typeface="Arial Narrow" pitchFamily="34" charset="0"/>
              </a:rPr>
            </a:b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[3] Analysing &amp; Interpreting Financial </a:t>
            </a:r>
            <a:r>
              <a:rPr lang="tr-TR" sz="2400" smtClean="0">
                <a:solidFill>
                  <a:srgbClr val="800000"/>
                </a:solidFill>
                <a:latin typeface="Arial Narrow" pitchFamily="34" charset="0"/>
              </a:rPr>
              <a:t>Statements</a:t>
            </a:r>
            <a:br>
              <a:rPr lang="tr-TR" sz="2400" smtClean="0">
                <a:solidFill>
                  <a:srgbClr val="800000"/>
                </a:solidFill>
                <a:latin typeface="Arial Narrow" pitchFamily="34" charset="0"/>
              </a:rPr>
            </a:br>
            <a:r>
              <a:rPr lang="tr-TR" sz="2400">
                <a:solidFill>
                  <a:srgbClr val="800000"/>
                </a:solidFill>
                <a:latin typeface="Arial Narrow" pitchFamily="34" charset="0"/>
              </a:rPr>
              <a:t/>
            </a:r>
            <a:br>
              <a:rPr lang="tr-TR" sz="2400">
                <a:solidFill>
                  <a:srgbClr val="800000"/>
                </a:solidFill>
                <a:latin typeface="Arial Narrow" pitchFamily="34" charset="0"/>
              </a:rPr>
            </a:br>
            <a:r>
              <a:rPr lang="tr-TR" sz="2400" smtClean="0">
                <a:latin typeface="Arial Narrow" pitchFamily="34" charset="0"/>
              </a:rPr>
              <a:t>Vertical </a:t>
            </a:r>
            <a:r>
              <a:rPr lang="tr-TR" sz="2400" dirty="0" smtClean="0">
                <a:latin typeface="Arial Narrow" pitchFamily="34" charset="0"/>
              </a:rPr>
              <a:t>Analysis</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 </a:t>
            </a:r>
          </a:p>
        </p:txBody>
      </p:sp>
      <p:pic>
        <p:nvPicPr>
          <p:cNvPr id="2" name="Resim 1"/>
          <p:cNvPicPr>
            <a:picLocks noChangeAspect="1"/>
          </p:cNvPicPr>
          <p:nvPr/>
        </p:nvPicPr>
        <p:blipFill>
          <a:blip r:embed="rId3"/>
          <a:stretch>
            <a:fillRect/>
          </a:stretch>
        </p:blipFill>
        <p:spPr>
          <a:xfrm>
            <a:off x="4922776" y="116631"/>
            <a:ext cx="3609664" cy="6693871"/>
          </a:xfrm>
          <a:prstGeom prst="rect">
            <a:avLst/>
          </a:prstGeom>
        </p:spPr>
      </p:pic>
      <p:pic>
        <p:nvPicPr>
          <p:cNvPr id="7" name="Resim 6"/>
          <p:cNvPicPr>
            <a:picLocks noChangeAspect="1"/>
          </p:cNvPicPr>
          <p:nvPr/>
        </p:nvPicPr>
        <p:blipFill>
          <a:blip r:embed="rId4"/>
          <a:stretch>
            <a:fillRect/>
          </a:stretch>
        </p:blipFill>
        <p:spPr>
          <a:xfrm>
            <a:off x="515848" y="2420888"/>
            <a:ext cx="3120048" cy="3264907"/>
          </a:xfrm>
          <a:prstGeom prst="rect">
            <a:avLst/>
          </a:prstGeom>
        </p:spPr>
      </p:pic>
    </p:spTree>
    <p:extLst>
      <p:ext uri="{BB962C8B-B14F-4D97-AF65-F5344CB8AC3E}">
        <p14:creationId xmlns:p14="http://schemas.microsoft.com/office/powerpoint/2010/main" val="9668611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39752" y="116632"/>
            <a:ext cx="4752528" cy="1137429"/>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[4] Management Accounting</a:t>
            </a:r>
            <a:r>
              <a:rPr lang="tr-TR" sz="2400" smtClean="0">
                <a:latin typeface="Arial Narrow" pitchFamily="34" charset="0"/>
              </a:rPr>
              <a:t/>
            </a:r>
            <a:br>
              <a:rPr lang="tr-TR" sz="2400" smtClean="0">
                <a:latin typeface="Arial Narrow" pitchFamily="34" charset="0"/>
              </a:rPr>
            </a:br>
            <a:r>
              <a:rPr lang="tr-TR" sz="2400" smtClean="0">
                <a:latin typeface="Arial Narrow" pitchFamily="34" charset="0"/>
              </a:rPr>
              <a:t>Break-Even </a:t>
            </a:r>
            <a:r>
              <a:rPr lang="tr-TR" sz="2400" dirty="0">
                <a:latin typeface="Arial Narrow" pitchFamily="34" charset="0"/>
              </a:rPr>
              <a:t>Analysis</a:t>
            </a:r>
          </a:p>
        </p:txBody>
      </p:sp>
      <p:sp>
        <p:nvSpPr>
          <p:cNvPr id="5" name="Content Placeholder 4"/>
          <p:cNvSpPr>
            <a:spLocks noGrp="1"/>
          </p:cNvSpPr>
          <p:nvPr>
            <p:ph idx="1"/>
          </p:nvPr>
        </p:nvSpPr>
        <p:spPr>
          <a:xfrm>
            <a:off x="457200" y="1340768"/>
            <a:ext cx="8229600" cy="4348485"/>
          </a:xfrm>
          <a:ln w="25400">
            <a:noFill/>
          </a:ln>
        </p:spPr>
        <p:txBody>
          <a:bodyPr>
            <a:noAutofit/>
          </a:bodyPr>
          <a:lstStyle/>
          <a:p>
            <a:pPr marL="0" lvl="0" indent="0" algn="ctr">
              <a:spcBef>
                <a:spcPts val="0"/>
              </a:spcBef>
              <a:buNone/>
            </a:pPr>
            <a:r>
              <a:rPr lang="tr-TR" sz="1600" smtClean="0">
                <a:latin typeface="Arial Narrow" panose="020B0606020202030204" pitchFamily="34" charset="0"/>
              </a:rPr>
              <a:t>The </a:t>
            </a:r>
            <a:r>
              <a:rPr lang="tr-TR" sz="1600" dirty="0" smtClean="0">
                <a:solidFill>
                  <a:srgbClr val="C00000"/>
                </a:solidFill>
                <a:latin typeface="Arial Narrow" panose="020B0606020202030204" pitchFamily="34" charset="0"/>
              </a:rPr>
              <a:t>Break-</a:t>
            </a:r>
            <a:r>
              <a:rPr lang="tr-TR" sz="1600" dirty="0" err="1">
                <a:solidFill>
                  <a:srgbClr val="C00000"/>
                </a:solidFill>
                <a:latin typeface="Arial Narrow" panose="020B0606020202030204" pitchFamily="34" charset="0"/>
              </a:rPr>
              <a:t>E</a:t>
            </a:r>
            <a:r>
              <a:rPr lang="tr-TR" sz="1600" dirty="0" err="1" smtClean="0">
                <a:solidFill>
                  <a:srgbClr val="C00000"/>
                </a:solidFill>
                <a:latin typeface="Arial Narrow" panose="020B0606020202030204" pitchFamily="34" charset="0"/>
              </a:rPr>
              <a:t>ven</a:t>
            </a:r>
            <a:r>
              <a:rPr lang="tr-TR" sz="1600" dirty="0" smtClean="0">
                <a:solidFill>
                  <a:srgbClr val="C00000"/>
                </a:solidFill>
                <a:latin typeface="Arial Narrow" panose="020B0606020202030204" pitchFamily="34" charset="0"/>
              </a:rPr>
              <a:t> </a:t>
            </a:r>
            <a:r>
              <a:rPr lang="tr-TR" sz="1600" dirty="0">
                <a:solidFill>
                  <a:srgbClr val="C00000"/>
                </a:solidFill>
                <a:latin typeface="Arial Narrow" panose="020B0606020202030204" pitchFamily="34" charset="0"/>
              </a:rPr>
              <a:t>P</a:t>
            </a:r>
            <a:r>
              <a:rPr lang="tr-TR" sz="1600" dirty="0" smtClean="0">
                <a:solidFill>
                  <a:srgbClr val="C00000"/>
                </a:solidFill>
                <a:latin typeface="Arial Narrow" panose="020B0606020202030204" pitchFamily="34" charset="0"/>
              </a:rPr>
              <a:t>oint </a:t>
            </a:r>
            <a:r>
              <a:rPr lang="tr-TR" sz="1600" dirty="0">
                <a:latin typeface="Arial Narrow" panose="020B0606020202030204" pitchFamily="34" charset="0"/>
              </a:rPr>
              <a:t>(BEP) </a:t>
            </a:r>
            <a:r>
              <a:rPr lang="tr-TR" sz="1600" dirty="0" smtClean="0">
                <a:latin typeface="Arial Narrow" panose="020B0606020202030204" pitchFamily="34" charset="0"/>
              </a:rPr>
              <a:t>is</a:t>
            </a:r>
          </a:p>
          <a:p>
            <a:pPr marL="0" lv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a:latin typeface="Arial Narrow" panose="020B0606020202030204" pitchFamily="34" charset="0"/>
              </a:rPr>
              <a:t>level</a:t>
            </a:r>
            <a:r>
              <a:rPr lang="tr-TR" sz="1600" dirty="0">
                <a:latin typeface="Arial Narrow" panose="020B0606020202030204" pitchFamily="34" charset="0"/>
              </a:rPr>
              <a:t> of </a:t>
            </a:r>
            <a:r>
              <a:rPr lang="tr-TR" sz="1600" dirty="0" err="1">
                <a:latin typeface="Arial Narrow" panose="020B0606020202030204" pitchFamily="34" charset="0"/>
              </a:rPr>
              <a:t>activity</a:t>
            </a:r>
            <a:r>
              <a:rPr lang="tr-TR" sz="1600" dirty="0">
                <a:latin typeface="Arial Narrow" panose="020B0606020202030204" pitchFamily="34" charset="0"/>
              </a:rPr>
              <a:t> (in </a:t>
            </a:r>
            <a:r>
              <a:rPr lang="tr-TR" sz="1600" dirty="0" err="1">
                <a:latin typeface="Arial Narrow" panose="020B0606020202030204" pitchFamily="34" charset="0"/>
              </a:rPr>
              <a:t>units</a:t>
            </a:r>
            <a:r>
              <a:rPr lang="tr-TR" sz="1600" dirty="0">
                <a:latin typeface="Arial Narrow" panose="020B0606020202030204" pitchFamily="34" charset="0"/>
              </a:rPr>
              <a:t> of </a:t>
            </a:r>
            <a:r>
              <a:rPr lang="tr-TR" sz="1600" dirty="0" err="1">
                <a:latin typeface="Arial Narrow" panose="020B0606020202030204" pitchFamily="34" charset="0"/>
              </a:rPr>
              <a:t>output</a:t>
            </a:r>
            <a:r>
              <a:rPr lang="tr-TR" sz="1600" dirty="0">
                <a:latin typeface="Arial Narrow" panose="020B0606020202030204" pitchFamily="34" charset="0"/>
              </a:rPr>
              <a:t> </a:t>
            </a:r>
            <a:r>
              <a:rPr lang="tr-TR" sz="1600" dirty="0" err="1">
                <a:latin typeface="Arial Narrow" panose="020B0606020202030204" pitchFamily="34" charset="0"/>
              </a:rPr>
              <a:t>or</a:t>
            </a:r>
            <a:r>
              <a:rPr lang="tr-TR" sz="1600" dirty="0">
                <a:latin typeface="Arial Narrow" panose="020B0606020202030204" pitchFamily="34" charset="0"/>
              </a:rPr>
              <a:t> </a:t>
            </a:r>
            <a:r>
              <a:rPr lang="tr-TR" sz="1600" dirty="0" err="1">
                <a:latin typeface="Arial Narrow" panose="020B0606020202030204" pitchFamily="34" charset="0"/>
              </a:rPr>
              <a:t>sales</a:t>
            </a:r>
            <a:r>
              <a:rPr lang="tr-TR" sz="1600" dirty="0">
                <a:latin typeface="Arial Narrow" panose="020B0606020202030204" pitchFamily="34" charset="0"/>
              </a:rPr>
              <a:t> </a:t>
            </a:r>
            <a:r>
              <a:rPr lang="tr-TR" sz="1600" dirty="0" err="1" smtClean="0">
                <a:latin typeface="Arial Narrow" panose="020B0606020202030204" pitchFamily="34" charset="0"/>
              </a:rPr>
              <a:t>revenue</a:t>
            </a:r>
            <a:r>
              <a:rPr lang="tr-TR" sz="1600" dirty="0" smtClean="0">
                <a:latin typeface="Arial Narrow" panose="020B0606020202030204" pitchFamily="34" charset="0"/>
              </a:rPr>
              <a:t>) at </a:t>
            </a:r>
            <a:r>
              <a:rPr lang="tr-TR" sz="1600" dirty="0" err="1" smtClean="0">
                <a:latin typeface="Arial Narrow" panose="020B0606020202030204" pitchFamily="34" charset="0"/>
              </a:rPr>
              <a:t>which</a:t>
            </a:r>
            <a:endParaRPr lang="tr-TR" sz="1600" dirty="0">
              <a:latin typeface="Arial Narrow" panose="020B0606020202030204" pitchFamily="34" charset="0"/>
            </a:endParaRPr>
          </a:p>
          <a:p>
            <a:pPr marL="0" lvl="0" indent="0" algn="ctr">
              <a:spcBef>
                <a:spcPts val="0"/>
              </a:spcBef>
              <a:buNone/>
            </a:pPr>
            <a:r>
              <a:rPr lang="tr-TR" sz="1600" dirty="0" smtClean="0">
                <a:solidFill>
                  <a:srgbClr val="FF0000"/>
                </a:solidFill>
                <a:latin typeface="Arial Narrow" panose="020B0606020202030204" pitchFamily="34" charset="0"/>
              </a:rPr>
              <a:t>Total </a:t>
            </a:r>
            <a:r>
              <a:rPr lang="tr-TR" sz="1600" dirty="0" err="1">
                <a:solidFill>
                  <a:srgbClr val="FF0000"/>
                </a:solidFill>
                <a:latin typeface="Arial Narrow" panose="020B0606020202030204" pitchFamily="34" charset="0"/>
              </a:rPr>
              <a:t>C</a:t>
            </a:r>
            <a:r>
              <a:rPr lang="tr-TR" sz="1600" dirty="0" err="1" smtClean="0">
                <a:solidFill>
                  <a:srgbClr val="FF0000"/>
                </a:solidFill>
                <a:latin typeface="Arial Narrow" panose="020B0606020202030204" pitchFamily="34" charset="0"/>
              </a:rPr>
              <a:t>osts</a:t>
            </a:r>
            <a:r>
              <a:rPr lang="tr-TR" sz="1600" dirty="0" smtClean="0">
                <a:solidFill>
                  <a:srgbClr val="FF0000"/>
                </a:solidFill>
                <a:latin typeface="Arial Narrow" panose="020B0606020202030204" pitchFamily="34" charset="0"/>
              </a:rPr>
              <a:t> </a:t>
            </a:r>
            <a:r>
              <a:rPr lang="tr-TR" sz="1600" dirty="0">
                <a:solidFill>
                  <a:srgbClr val="FF0000"/>
                </a:solidFill>
                <a:latin typeface="Arial Narrow" panose="020B0606020202030204" pitchFamily="34" charset="0"/>
              </a:rPr>
              <a:t>(</a:t>
            </a:r>
            <a:r>
              <a:rPr lang="tr-TR" sz="1600" dirty="0" err="1">
                <a:solidFill>
                  <a:srgbClr val="FF0000"/>
                </a:solidFill>
                <a:latin typeface="Arial Narrow" panose="020B0606020202030204" pitchFamily="34" charset="0"/>
              </a:rPr>
              <a:t>fixed</a:t>
            </a:r>
            <a:r>
              <a:rPr lang="tr-TR" sz="1600" dirty="0">
                <a:solidFill>
                  <a:srgbClr val="FF0000"/>
                </a:solidFill>
                <a:latin typeface="Arial Narrow" panose="020B0606020202030204" pitchFamily="34" charset="0"/>
              </a:rPr>
              <a:t> &amp;</a:t>
            </a:r>
            <a:r>
              <a:rPr lang="tr-TR" sz="1600" dirty="0" smtClean="0">
                <a:solidFill>
                  <a:srgbClr val="FF0000"/>
                </a:solidFill>
                <a:latin typeface="Arial Narrow" panose="020B0606020202030204" pitchFamily="34" charset="0"/>
              </a:rPr>
              <a:t> </a:t>
            </a:r>
            <a:r>
              <a:rPr lang="tr-TR" sz="1600" dirty="0" err="1" smtClean="0">
                <a:solidFill>
                  <a:srgbClr val="FF0000"/>
                </a:solidFill>
                <a:latin typeface="Arial Narrow" panose="020B0606020202030204" pitchFamily="34" charset="0"/>
              </a:rPr>
              <a:t>variable</a:t>
            </a:r>
            <a:r>
              <a:rPr lang="tr-TR" sz="1600" dirty="0">
                <a:solidFill>
                  <a:srgbClr val="FF0000"/>
                </a:solidFill>
                <a:latin typeface="Arial Narrow" panose="020B0606020202030204" pitchFamily="34" charset="0"/>
              </a:rPr>
              <a:t>) = </a:t>
            </a:r>
            <a:r>
              <a:rPr lang="tr-TR" sz="1600" dirty="0" smtClean="0">
                <a:solidFill>
                  <a:srgbClr val="FF0000"/>
                </a:solidFill>
                <a:latin typeface="Arial Narrow" panose="020B0606020202030204" pitchFamily="34" charset="0"/>
              </a:rPr>
              <a:t>Total </a:t>
            </a:r>
            <a:r>
              <a:rPr lang="tr-TR" sz="1600" dirty="0" err="1">
                <a:solidFill>
                  <a:srgbClr val="FF0000"/>
                </a:solidFill>
                <a:latin typeface="Arial Narrow" panose="020B0606020202030204" pitchFamily="34" charset="0"/>
              </a:rPr>
              <a:t>S</a:t>
            </a:r>
            <a:r>
              <a:rPr lang="tr-TR" sz="1600" dirty="0" err="1" smtClean="0">
                <a:solidFill>
                  <a:srgbClr val="FF0000"/>
                </a:solidFill>
                <a:latin typeface="Arial Narrow" panose="020B0606020202030204" pitchFamily="34" charset="0"/>
              </a:rPr>
              <a:t>ales</a:t>
            </a:r>
            <a:r>
              <a:rPr lang="tr-TR" sz="1600" dirty="0" smtClean="0">
                <a:solidFill>
                  <a:srgbClr val="FF0000"/>
                </a:solidFill>
                <a:latin typeface="Arial Narrow" panose="020B0606020202030204" pitchFamily="34" charset="0"/>
              </a:rPr>
              <a:t> </a:t>
            </a:r>
            <a:r>
              <a:rPr lang="tr-TR" sz="1600" err="1">
                <a:solidFill>
                  <a:srgbClr val="FF0000"/>
                </a:solidFill>
                <a:latin typeface="Arial Narrow" panose="020B0606020202030204" pitchFamily="34" charset="0"/>
              </a:rPr>
              <a:t>R</a:t>
            </a:r>
            <a:r>
              <a:rPr lang="tr-TR" sz="1600" err="1" smtClean="0">
                <a:solidFill>
                  <a:srgbClr val="FF0000"/>
                </a:solidFill>
                <a:latin typeface="Arial Narrow" panose="020B0606020202030204" pitchFamily="34" charset="0"/>
              </a:rPr>
              <a:t>evenue</a:t>
            </a:r>
            <a:r>
              <a:rPr lang="tr-TR" sz="1600" smtClean="0">
                <a:solidFill>
                  <a:srgbClr val="FF0000"/>
                </a:solidFill>
                <a:latin typeface="Arial Narrow" panose="020B0606020202030204" pitchFamily="34" charset="0"/>
              </a:rPr>
              <a:t>.</a:t>
            </a:r>
            <a:endParaRPr lang="tr-TR" sz="800" dirty="0">
              <a:latin typeface="Arial Narrow" panose="020B0606020202030204" pitchFamily="34" charset="0"/>
            </a:endParaRPr>
          </a:p>
          <a:p>
            <a:pPr marL="0" lvl="0" indent="0" algn="ctr">
              <a:spcBef>
                <a:spcPts val="0"/>
              </a:spcBef>
              <a:buNone/>
            </a:pPr>
            <a:r>
              <a:rPr lang="tr-TR" sz="1600" dirty="0" smtClean="0">
                <a:solidFill>
                  <a:srgbClr val="000066"/>
                </a:solidFill>
                <a:latin typeface="Arial Narrow" panose="020B0606020202030204" pitchFamily="34" charset="0"/>
              </a:rPr>
              <a:t>BEP = </a:t>
            </a:r>
            <a:r>
              <a:rPr lang="tr-TR" sz="1600" dirty="0" err="1" smtClean="0">
                <a:solidFill>
                  <a:srgbClr val="000066"/>
                </a:solidFill>
                <a:latin typeface="Arial Narrow" panose="020B0606020202030204" pitchFamily="34" charset="0"/>
              </a:rPr>
              <a:t>Fixed</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Costs</a:t>
            </a:r>
            <a:r>
              <a:rPr lang="tr-TR" sz="1600" dirty="0" smtClean="0">
                <a:solidFill>
                  <a:srgbClr val="000066"/>
                </a:solidFill>
                <a:latin typeface="Arial Narrow" panose="020B0606020202030204" pitchFamily="34" charset="0"/>
              </a:rPr>
              <a:t> / (</a:t>
            </a:r>
            <a:r>
              <a:rPr lang="tr-TR" sz="1600" dirty="0" err="1" smtClean="0">
                <a:solidFill>
                  <a:srgbClr val="000066"/>
                </a:solidFill>
                <a:latin typeface="Arial Narrow" panose="020B0606020202030204" pitchFamily="34" charset="0"/>
              </a:rPr>
              <a:t>Price</a:t>
            </a:r>
            <a:r>
              <a:rPr lang="tr-TR" sz="1600" dirty="0">
                <a:solidFill>
                  <a:srgbClr val="000066"/>
                </a:solidFill>
                <a:latin typeface="Arial Narrow" panose="020B0606020202030204" pitchFamily="34" charset="0"/>
              </a:rPr>
              <a:t> </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Unit</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Variable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Costs</a:t>
            </a:r>
            <a:r>
              <a:rPr lang="tr-TR" sz="1600" dirty="0" smtClean="0">
                <a:solidFill>
                  <a:srgbClr val="000066"/>
                </a:solidFill>
                <a:latin typeface="Arial Narrow" panose="020B0606020202030204" pitchFamily="34" charset="0"/>
              </a:rPr>
              <a:t>)</a:t>
            </a:r>
            <a:endParaRPr lang="tr-TR" sz="1600" dirty="0">
              <a:solidFill>
                <a:srgbClr val="000066"/>
              </a:solidFill>
              <a:latin typeface="Arial Narrow" panose="020B0606020202030204" pitchFamily="34" charset="0"/>
            </a:endParaRPr>
          </a:p>
          <a:p>
            <a:pPr marL="0" indent="0" algn="ctr">
              <a:spcBef>
                <a:spcPts val="0"/>
              </a:spcBef>
              <a:buNone/>
            </a:pPr>
            <a:endParaRPr lang="tr-TR" sz="1800" dirty="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739685" y="2420888"/>
            <a:ext cx="5424603" cy="4068453"/>
          </a:xfrm>
          <a:prstGeom prst="rect">
            <a:avLst/>
          </a:prstGeom>
        </p:spPr>
      </p:pic>
      <p:pic>
        <p:nvPicPr>
          <p:cNvPr id="8" name="Resim 7"/>
          <p:cNvPicPr>
            <a:picLocks noChangeAspect="1"/>
          </p:cNvPicPr>
          <p:nvPr/>
        </p:nvPicPr>
        <p:blipFill>
          <a:blip r:embed="rId4"/>
          <a:stretch>
            <a:fillRect/>
          </a:stretch>
        </p:blipFill>
        <p:spPr>
          <a:xfrm>
            <a:off x="5419993" y="2688820"/>
            <a:ext cx="1280271" cy="1036410"/>
          </a:xfrm>
          <a:prstGeom prst="rect">
            <a:avLst/>
          </a:prstGeom>
        </p:spPr>
      </p:pic>
      <p:pic>
        <p:nvPicPr>
          <p:cNvPr id="9" name="Resim 8"/>
          <p:cNvPicPr>
            <a:picLocks noChangeAspect="1"/>
          </p:cNvPicPr>
          <p:nvPr/>
        </p:nvPicPr>
        <p:blipFill>
          <a:blip r:embed="rId5"/>
          <a:stretch>
            <a:fillRect/>
          </a:stretch>
        </p:blipFill>
        <p:spPr>
          <a:xfrm>
            <a:off x="5938231" y="3284984"/>
            <a:ext cx="664522" cy="560881"/>
          </a:xfrm>
          <a:prstGeom prst="rect">
            <a:avLst/>
          </a:prstGeom>
        </p:spPr>
      </p:pic>
      <p:pic>
        <p:nvPicPr>
          <p:cNvPr id="10" name="Resim 9"/>
          <p:cNvPicPr>
            <a:picLocks noChangeAspect="1"/>
          </p:cNvPicPr>
          <p:nvPr/>
        </p:nvPicPr>
        <p:blipFill>
          <a:blip r:embed="rId6"/>
          <a:stretch>
            <a:fillRect/>
          </a:stretch>
        </p:blipFill>
        <p:spPr>
          <a:xfrm>
            <a:off x="5780521" y="3734987"/>
            <a:ext cx="1012024" cy="640135"/>
          </a:xfrm>
          <a:prstGeom prst="rect">
            <a:avLst/>
          </a:prstGeom>
        </p:spPr>
      </p:pic>
      <p:pic>
        <p:nvPicPr>
          <p:cNvPr id="12" name="Resim 11"/>
          <p:cNvPicPr>
            <a:picLocks noChangeAspect="1"/>
          </p:cNvPicPr>
          <p:nvPr/>
        </p:nvPicPr>
        <p:blipFill>
          <a:blip r:embed="rId7"/>
          <a:stretch>
            <a:fillRect/>
          </a:stretch>
        </p:blipFill>
        <p:spPr>
          <a:xfrm>
            <a:off x="3923928" y="3866479"/>
            <a:ext cx="1121761" cy="627942"/>
          </a:xfrm>
          <a:prstGeom prst="rect">
            <a:avLst/>
          </a:prstGeom>
        </p:spPr>
      </p:pic>
      <p:pic>
        <p:nvPicPr>
          <p:cNvPr id="13" name="Resim 12"/>
          <p:cNvPicPr>
            <a:picLocks noChangeAspect="1"/>
          </p:cNvPicPr>
          <p:nvPr/>
        </p:nvPicPr>
        <p:blipFill>
          <a:blip r:embed="rId8"/>
          <a:stretch>
            <a:fillRect/>
          </a:stretch>
        </p:blipFill>
        <p:spPr>
          <a:xfrm>
            <a:off x="4671062" y="4424311"/>
            <a:ext cx="134124" cy="140220"/>
          </a:xfrm>
          <a:prstGeom prst="rect">
            <a:avLst/>
          </a:prstGeom>
        </p:spPr>
      </p:pic>
      <p:pic>
        <p:nvPicPr>
          <p:cNvPr id="14" name="Resim 13"/>
          <p:cNvPicPr>
            <a:picLocks noChangeAspect="1"/>
          </p:cNvPicPr>
          <p:nvPr/>
        </p:nvPicPr>
        <p:blipFill>
          <a:blip r:embed="rId9"/>
          <a:stretch>
            <a:fillRect/>
          </a:stretch>
        </p:blipFill>
        <p:spPr>
          <a:xfrm>
            <a:off x="4656335" y="4581128"/>
            <a:ext cx="163577" cy="1370930"/>
          </a:xfrm>
          <a:prstGeom prst="rect">
            <a:avLst/>
          </a:prstGeom>
        </p:spPr>
      </p:pic>
      <p:pic>
        <p:nvPicPr>
          <p:cNvPr id="15" name="Resim 14"/>
          <p:cNvPicPr>
            <a:picLocks noChangeAspect="1"/>
          </p:cNvPicPr>
          <p:nvPr/>
        </p:nvPicPr>
        <p:blipFill>
          <a:blip r:embed="rId10"/>
          <a:stretch>
            <a:fillRect/>
          </a:stretch>
        </p:blipFill>
        <p:spPr>
          <a:xfrm>
            <a:off x="3203848" y="4683444"/>
            <a:ext cx="640135" cy="548688"/>
          </a:xfrm>
          <a:prstGeom prst="rect">
            <a:avLst/>
          </a:prstGeom>
        </p:spPr>
      </p:pic>
    </p:spTree>
    <p:extLst>
      <p:ext uri="{BB962C8B-B14F-4D97-AF65-F5344CB8AC3E}">
        <p14:creationId xmlns:p14="http://schemas.microsoft.com/office/powerpoint/2010/main" val="2447629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39752" y="116632"/>
            <a:ext cx="4752528" cy="1137429"/>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[4] Management Accounting</a:t>
            </a:r>
            <a:r>
              <a:rPr lang="tr-TR" sz="2400" smtClean="0">
                <a:latin typeface="Arial Narrow" pitchFamily="34" charset="0"/>
              </a:rPr>
              <a:t/>
            </a:r>
            <a:br>
              <a:rPr lang="tr-TR" sz="2400" smtClean="0">
                <a:latin typeface="Arial Narrow" pitchFamily="34" charset="0"/>
              </a:rPr>
            </a:br>
            <a:r>
              <a:rPr lang="tr-TR" sz="2400" smtClean="0">
                <a:latin typeface="Arial Narrow" pitchFamily="34" charset="0"/>
              </a:rPr>
              <a:t>Break-Even </a:t>
            </a:r>
            <a:r>
              <a:rPr lang="tr-TR" sz="2400" dirty="0">
                <a:latin typeface="Arial Narrow" pitchFamily="34" charset="0"/>
              </a:rPr>
              <a:t>Analysis</a:t>
            </a:r>
          </a:p>
        </p:txBody>
      </p:sp>
      <p:sp>
        <p:nvSpPr>
          <p:cNvPr id="5" name="Content Placeholder 4"/>
          <p:cNvSpPr>
            <a:spLocks noGrp="1"/>
          </p:cNvSpPr>
          <p:nvPr>
            <p:ph idx="1"/>
          </p:nvPr>
        </p:nvSpPr>
        <p:spPr>
          <a:xfrm>
            <a:off x="457200" y="1340768"/>
            <a:ext cx="8229600" cy="4348485"/>
          </a:xfrm>
          <a:ln w="25400">
            <a:noFill/>
          </a:ln>
        </p:spPr>
        <p:txBody>
          <a:bodyPr>
            <a:noAutofit/>
          </a:bodyPr>
          <a:lstStyle/>
          <a:p>
            <a:pPr marL="0" indent="0" algn="ctr">
              <a:spcBef>
                <a:spcPts val="0"/>
              </a:spcBef>
              <a:buNone/>
            </a:pPr>
            <a:r>
              <a:rPr lang="tr-TR" sz="1800">
                <a:latin typeface="Arial Narrow" panose="020B0606020202030204" pitchFamily="34" charset="0"/>
              </a:rPr>
              <a:t>Cottage Industries Ltd makes baskets.</a:t>
            </a:r>
          </a:p>
          <a:p>
            <a:pPr marL="0" indent="0" algn="ctr">
              <a:spcBef>
                <a:spcPts val="0"/>
              </a:spcBef>
              <a:buNone/>
            </a:pPr>
            <a:r>
              <a:rPr lang="tr-TR" sz="1800">
                <a:latin typeface="Arial Narrow" panose="020B0606020202030204" pitchFamily="34" charset="0"/>
              </a:rPr>
              <a:t>The fixed costs of operating the workshop for a month total $500.</a:t>
            </a:r>
          </a:p>
          <a:p>
            <a:pPr marL="0" indent="0" algn="ctr">
              <a:spcBef>
                <a:spcPts val="0"/>
              </a:spcBef>
              <a:buNone/>
            </a:pPr>
            <a:r>
              <a:rPr lang="tr-TR" sz="1800">
                <a:latin typeface="Arial Narrow" panose="020B0606020202030204" pitchFamily="34" charset="0"/>
              </a:rPr>
              <a:t>Each basket requires materials that cost $2.</a:t>
            </a:r>
          </a:p>
          <a:p>
            <a:pPr marL="0" indent="0" algn="ctr">
              <a:spcBef>
                <a:spcPts val="0"/>
              </a:spcBef>
              <a:buNone/>
            </a:pPr>
            <a:r>
              <a:rPr lang="tr-TR" sz="1800">
                <a:latin typeface="Arial Narrow" panose="020B0606020202030204" pitchFamily="34" charset="0"/>
              </a:rPr>
              <a:t>Each basket takes one hour to make, and the business pays the basket makers $10 an hour.</a:t>
            </a:r>
          </a:p>
          <a:p>
            <a:pPr marL="0" indent="0" algn="ctr">
              <a:spcBef>
                <a:spcPts val="0"/>
              </a:spcBef>
              <a:buNone/>
            </a:pPr>
            <a:r>
              <a:rPr lang="tr-TR" sz="1800">
                <a:latin typeface="Arial Narrow" panose="020B0606020202030204" pitchFamily="34" charset="0"/>
              </a:rPr>
              <a:t>The basket makers are all on contracts such that</a:t>
            </a:r>
          </a:p>
          <a:p>
            <a:pPr marL="0" indent="0" algn="ctr">
              <a:spcBef>
                <a:spcPts val="0"/>
              </a:spcBef>
              <a:buNone/>
            </a:pPr>
            <a:r>
              <a:rPr lang="tr-TR" sz="1800">
                <a:latin typeface="Arial Narrow" panose="020B0606020202030204" pitchFamily="34" charset="0"/>
              </a:rPr>
              <a:t>if they do not work for any reason, they are not paid.</a:t>
            </a:r>
          </a:p>
          <a:p>
            <a:pPr marL="0" indent="0" algn="ctr">
              <a:spcBef>
                <a:spcPts val="0"/>
              </a:spcBef>
              <a:buNone/>
            </a:pPr>
            <a:r>
              <a:rPr lang="tr-TR" sz="1800">
                <a:latin typeface="Arial Narrow" panose="020B0606020202030204" pitchFamily="34" charset="0"/>
              </a:rPr>
              <a:t>The baskets are sold to a wholesaler for $14 each.</a:t>
            </a:r>
          </a:p>
          <a:p>
            <a:pPr marL="0" indent="0" algn="ctr">
              <a:spcBef>
                <a:spcPts val="0"/>
              </a:spcBef>
              <a:buNone/>
            </a:pPr>
            <a:endParaRPr lang="tr-TR" sz="1800">
              <a:latin typeface="Arial Narrow" panose="020B0606020202030204" pitchFamily="34" charset="0"/>
            </a:endParaRPr>
          </a:p>
          <a:p>
            <a:pPr marL="0" indent="0" algn="ctr">
              <a:spcBef>
                <a:spcPts val="0"/>
              </a:spcBef>
              <a:buNone/>
            </a:pPr>
            <a:r>
              <a:rPr lang="tr-TR" sz="1800">
                <a:latin typeface="Arial Narrow" panose="020B0606020202030204" pitchFamily="34" charset="0"/>
              </a:rPr>
              <a:t>What is the Break-Even Point (BEP) for basket making for the business?</a:t>
            </a:r>
          </a:p>
          <a:p>
            <a:pPr marL="0" indent="0" algn="ctr">
              <a:spcBef>
                <a:spcPts val="0"/>
              </a:spcBef>
              <a:buNone/>
            </a:pPr>
            <a:endParaRPr lang="tr-TR" sz="1800" dirty="0">
              <a:latin typeface="Arial Narrow" panose="020B0606020202030204" pitchFamily="34" charset="0"/>
            </a:endParaRPr>
          </a:p>
        </p:txBody>
      </p:sp>
      <p:pic>
        <p:nvPicPr>
          <p:cNvPr id="16" name="Resim 15"/>
          <p:cNvPicPr>
            <a:picLocks noChangeAspect="1"/>
          </p:cNvPicPr>
          <p:nvPr/>
        </p:nvPicPr>
        <p:blipFill>
          <a:blip r:embed="rId3"/>
          <a:stretch>
            <a:fillRect/>
          </a:stretch>
        </p:blipFill>
        <p:spPr>
          <a:xfrm>
            <a:off x="1115616" y="4725144"/>
            <a:ext cx="7142948" cy="916856"/>
          </a:xfrm>
          <a:prstGeom prst="rect">
            <a:avLst/>
          </a:prstGeom>
        </p:spPr>
      </p:pic>
    </p:spTree>
    <p:extLst>
      <p:ext uri="{BB962C8B-B14F-4D97-AF65-F5344CB8AC3E}">
        <p14:creationId xmlns:p14="http://schemas.microsoft.com/office/powerpoint/2010/main" val="3814198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39752" y="16620"/>
            <a:ext cx="4752528" cy="1125678"/>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[4] Management Accounting</a:t>
            </a:r>
            <a:br>
              <a:rPr lang="tr-TR" sz="2400">
                <a:solidFill>
                  <a:srgbClr val="800000"/>
                </a:solidFill>
                <a:latin typeface="Arial Narrow" pitchFamily="34" charset="0"/>
              </a:rPr>
            </a:br>
            <a:r>
              <a:rPr lang="tr-TR" sz="2400" smtClean="0">
                <a:latin typeface="Arial Narrow" pitchFamily="34" charset="0"/>
              </a:rPr>
              <a:t>Margin </a:t>
            </a:r>
            <a:r>
              <a:rPr lang="tr-TR" sz="2400" dirty="0" smtClean="0">
                <a:latin typeface="Arial Narrow" pitchFamily="34" charset="0"/>
              </a:rPr>
              <a:t>of </a:t>
            </a:r>
            <a:r>
              <a:rPr lang="tr-TR" sz="2400" dirty="0" err="1" smtClean="0">
                <a:latin typeface="Arial Narrow" pitchFamily="34" charset="0"/>
              </a:rPr>
              <a:t>Safety</a:t>
            </a:r>
            <a:endParaRPr lang="tr-TR" sz="2400" dirty="0">
              <a:latin typeface="Arial Narrow" pitchFamily="34" charset="0"/>
            </a:endParaRPr>
          </a:p>
        </p:txBody>
      </p:sp>
      <p:sp>
        <p:nvSpPr>
          <p:cNvPr id="5" name="Content Placeholder 4"/>
          <p:cNvSpPr>
            <a:spLocks noGrp="1"/>
          </p:cNvSpPr>
          <p:nvPr>
            <p:ph idx="1"/>
          </p:nvPr>
        </p:nvSpPr>
        <p:spPr>
          <a:xfrm>
            <a:off x="457200" y="1196752"/>
            <a:ext cx="8229600" cy="4708525"/>
          </a:xfrm>
          <a:ln w="25400">
            <a:noFill/>
          </a:ln>
        </p:spPr>
        <p:txBody>
          <a:bodyPr>
            <a:noAutofit/>
          </a:bodyPr>
          <a:lstStyle/>
          <a:p>
            <a:pPr marL="0" lvl="0" indent="0" algn="ctr">
              <a:spcBef>
                <a:spcPts val="0"/>
              </a:spcBef>
              <a:buNone/>
            </a:pPr>
            <a:r>
              <a:rPr lang="tr-TR" sz="1800" dirty="0" err="1">
                <a:solidFill>
                  <a:srgbClr val="C00000"/>
                </a:solidFill>
                <a:latin typeface="Arial Narrow" panose="020B0606020202030204" pitchFamily="34" charset="0"/>
              </a:rPr>
              <a:t>Margin</a:t>
            </a:r>
            <a:r>
              <a:rPr lang="tr-TR" sz="1800" dirty="0">
                <a:solidFill>
                  <a:srgbClr val="C00000"/>
                </a:solidFill>
                <a:latin typeface="Arial Narrow" panose="020B0606020202030204" pitchFamily="34" charset="0"/>
              </a:rPr>
              <a:t> of </a:t>
            </a:r>
            <a:r>
              <a:rPr lang="tr-TR" sz="1800" dirty="0" err="1" smtClean="0">
                <a:solidFill>
                  <a:srgbClr val="C00000"/>
                </a:solidFill>
                <a:latin typeface="Arial Narrow" panose="020B0606020202030204" pitchFamily="34" charset="0"/>
              </a:rPr>
              <a:t>Safety</a:t>
            </a:r>
            <a:r>
              <a:rPr lang="tr-TR" sz="1800" dirty="0" smtClean="0">
                <a:solidFill>
                  <a:srgbClr val="C00000"/>
                </a:solidFill>
                <a:latin typeface="Arial Narrow" panose="020B0606020202030204" pitchFamily="34" charset="0"/>
              </a:rPr>
              <a:t> </a:t>
            </a:r>
            <a:r>
              <a:rPr lang="tr-TR" sz="1800" dirty="0">
                <a:latin typeface="Arial Narrow" panose="020B0606020202030204" pitchFamily="34" charset="0"/>
              </a:rPr>
              <a:t>= </a:t>
            </a:r>
            <a:r>
              <a:rPr lang="tr-TR" sz="1800" dirty="0" err="1">
                <a:latin typeface="Arial Narrow" panose="020B0606020202030204" pitchFamily="34" charset="0"/>
              </a:rPr>
              <a:t>excess</a:t>
            </a:r>
            <a:r>
              <a:rPr lang="tr-TR" sz="1800" dirty="0">
                <a:latin typeface="Arial Narrow" panose="020B0606020202030204" pitchFamily="34" charset="0"/>
              </a:rPr>
              <a:t> of </a:t>
            </a:r>
            <a:r>
              <a:rPr lang="tr-TR" sz="1800" dirty="0" err="1">
                <a:latin typeface="Arial Narrow" panose="020B0606020202030204" pitchFamily="34" charset="0"/>
              </a:rPr>
              <a:t>planned</a:t>
            </a:r>
            <a:r>
              <a:rPr lang="tr-TR" sz="1800" dirty="0">
                <a:latin typeface="Arial Narrow" panose="020B0606020202030204" pitchFamily="34" charset="0"/>
              </a:rPr>
              <a:t> </a:t>
            </a:r>
            <a:r>
              <a:rPr lang="tr-TR" sz="1800" dirty="0" err="1">
                <a:latin typeface="Arial Narrow" panose="020B0606020202030204" pitchFamily="34" charset="0"/>
              </a:rPr>
              <a:t>volume</a:t>
            </a:r>
            <a:r>
              <a:rPr lang="tr-TR" sz="1800" dirty="0">
                <a:latin typeface="Arial Narrow" panose="020B0606020202030204" pitchFamily="34" charset="0"/>
              </a:rPr>
              <a:t> of </a:t>
            </a:r>
            <a:r>
              <a:rPr lang="tr-TR" sz="1800" dirty="0" err="1">
                <a:latin typeface="Arial Narrow" panose="020B0606020202030204" pitchFamily="34" charset="0"/>
              </a:rPr>
              <a:t>activity</a:t>
            </a:r>
            <a:r>
              <a:rPr lang="tr-TR" sz="1800" dirty="0">
                <a:latin typeface="Arial Narrow" panose="020B0606020202030204" pitchFamily="34" charset="0"/>
              </a:rPr>
              <a:t> </a:t>
            </a:r>
            <a:r>
              <a:rPr lang="tr-TR" sz="1800" dirty="0" err="1">
                <a:latin typeface="Arial Narrow" panose="020B0606020202030204" pitchFamily="34" charset="0"/>
              </a:rPr>
              <a:t>over</a:t>
            </a:r>
            <a:r>
              <a:rPr lang="tr-TR" sz="1800" dirty="0">
                <a:latin typeface="Arial Narrow" panose="020B0606020202030204" pitchFamily="34" charset="0"/>
              </a:rPr>
              <a:t> BEP / </a:t>
            </a:r>
            <a:r>
              <a:rPr lang="tr-TR" sz="1800" dirty="0" err="1">
                <a:latin typeface="Arial Narrow" panose="020B0606020202030204" pitchFamily="34" charset="0"/>
              </a:rPr>
              <a:t>planned</a:t>
            </a:r>
            <a:r>
              <a:rPr lang="tr-TR" sz="1800" dirty="0">
                <a:latin typeface="Arial Narrow" panose="020B0606020202030204" pitchFamily="34" charset="0"/>
              </a:rPr>
              <a:t> </a:t>
            </a:r>
            <a:r>
              <a:rPr lang="tr-TR" sz="1800" dirty="0" err="1">
                <a:latin typeface="Arial Narrow" panose="020B0606020202030204" pitchFamily="34" charset="0"/>
              </a:rPr>
              <a:t>volume</a:t>
            </a:r>
            <a:r>
              <a:rPr lang="tr-TR" sz="1800" dirty="0">
                <a:latin typeface="Arial Narrow" panose="020B0606020202030204" pitchFamily="34" charset="0"/>
              </a:rPr>
              <a:t> of </a:t>
            </a:r>
            <a:r>
              <a:rPr lang="tr-TR" sz="1800" dirty="0" err="1">
                <a:latin typeface="Arial Narrow" panose="020B0606020202030204" pitchFamily="34" charset="0"/>
              </a:rPr>
              <a:t>activity</a:t>
            </a:r>
            <a:endParaRPr lang="tr-TR" sz="1800" dirty="0">
              <a:latin typeface="Arial Narrow" panose="020B0606020202030204" pitchFamily="34" charset="0"/>
            </a:endParaRPr>
          </a:p>
          <a:p>
            <a:pPr marL="0" lvl="0" indent="0" algn="ctr">
              <a:spcBef>
                <a:spcPts val="0"/>
              </a:spcBef>
              <a:buNone/>
            </a:pPr>
            <a:r>
              <a:rPr lang="tr-TR" sz="1800" dirty="0" err="1" smtClean="0">
                <a:solidFill>
                  <a:srgbClr val="C00000"/>
                </a:solidFill>
                <a:latin typeface="Arial Narrow" panose="020B0606020202030204" pitchFamily="34" charset="0"/>
              </a:rPr>
              <a:t>Margin</a:t>
            </a:r>
            <a:r>
              <a:rPr lang="tr-TR" sz="1800" dirty="0" smtClean="0">
                <a:solidFill>
                  <a:srgbClr val="C00000"/>
                </a:solidFill>
                <a:latin typeface="Arial Narrow" panose="020B0606020202030204" pitchFamily="34" charset="0"/>
              </a:rPr>
              <a:t> </a:t>
            </a:r>
            <a:r>
              <a:rPr lang="tr-TR" sz="1800" dirty="0">
                <a:solidFill>
                  <a:srgbClr val="C00000"/>
                </a:solidFill>
                <a:latin typeface="Arial Narrow" panose="020B0606020202030204" pitchFamily="34" charset="0"/>
              </a:rPr>
              <a:t>of </a:t>
            </a:r>
            <a:r>
              <a:rPr lang="tr-TR" sz="1800" dirty="0" err="1" smtClean="0">
                <a:solidFill>
                  <a:srgbClr val="C00000"/>
                </a:solidFill>
                <a:latin typeface="Arial Narrow" panose="020B0606020202030204" pitchFamily="34" charset="0"/>
              </a:rPr>
              <a:t>Safety</a:t>
            </a:r>
            <a:r>
              <a:rPr lang="tr-TR" sz="1800" dirty="0" smtClean="0">
                <a:solidFill>
                  <a:srgbClr val="C00000"/>
                </a:solidFill>
                <a:latin typeface="Arial Narrow" panose="020B0606020202030204" pitchFamily="34" charset="0"/>
              </a:rPr>
              <a:t> </a:t>
            </a:r>
            <a:r>
              <a:rPr lang="tr-TR" sz="1800" dirty="0">
                <a:latin typeface="Arial Narrow" panose="020B0606020202030204" pitchFamily="34" charset="0"/>
              </a:rPr>
              <a:t>=</a:t>
            </a:r>
            <a:r>
              <a:rPr lang="tr-TR" sz="1800" dirty="0">
                <a:solidFill>
                  <a:srgbClr val="C00000"/>
                </a:solidFill>
                <a:latin typeface="Arial Narrow" panose="020B0606020202030204" pitchFamily="34" charset="0"/>
              </a:rPr>
              <a:t> </a:t>
            </a:r>
            <a:r>
              <a:rPr lang="tr-TR" sz="1800" dirty="0">
                <a:latin typeface="Arial Narrow" panose="020B0606020202030204" pitchFamily="34" charset="0"/>
              </a:rPr>
              <a:t>(</a:t>
            </a:r>
            <a:r>
              <a:rPr lang="tr-TR" sz="1800" dirty="0">
                <a:solidFill>
                  <a:srgbClr val="0070C0"/>
                </a:solidFill>
                <a:latin typeface="Arial Narrow" panose="020B0606020202030204" pitchFamily="34" charset="0"/>
              </a:rPr>
              <a:t>600</a:t>
            </a:r>
            <a:r>
              <a:rPr lang="tr-TR" sz="1800" dirty="0">
                <a:latin typeface="Arial Narrow" panose="020B0606020202030204" pitchFamily="34" charset="0"/>
              </a:rPr>
              <a:t>-420) / </a:t>
            </a:r>
            <a:r>
              <a:rPr lang="tr-TR" sz="1800" dirty="0">
                <a:solidFill>
                  <a:srgbClr val="0070C0"/>
                </a:solidFill>
                <a:latin typeface="Arial Narrow" panose="020B0606020202030204" pitchFamily="34" charset="0"/>
              </a:rPr>
              <a:t>600</a:t>
            </a:r>
            <a:r>
              <a:rPr lang="tr-TR" sz="1800" dirty="0">
                <a:latin typeface="Arial Narrow" panose="020B0606020202030204" pitchFamily="34" charset="0"/>
              </a:rPr>
              <a:t> = </a:t>
            </a:r>
            <a:r>
              <a:rPr lang="tr-TR" sz="1800" dirty="0">
                <a:solidFill>
                  <a:srgbClr val="C00000"/>
                </a:solidFill>
                <a:latin typeface="Arial Narrow" panose="020B0606020202030204" pitchFamily="34" charset="0"/>
              </a:rPr>
              <a:t>30%</a:t>
            </a:r>
          </a:p>
          <a:p>
            <a:pPr marL="0" indent="0" algn="ctr">
              <a:spcBef>
                <a:spcPts val="0"/>
              </a:spcBef>
              <a:buNone/>
            </a:pPr>
            <a:endParaRPr lang="tr-TR" sz="1800" dirty="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739685" y="1916832"/>
            <a:ext cx="5424603" cy="4068453"/>
          </a:xfrm>
          <a:prstGeom prst="rect">
            <a:avLst/>
          </a:prstGeom>
        </p:spPr>
      </p:pic>
      <p:pic>
        <p:nvPicPr>
          <p:cNvPr id="8" name="Resim 7"/>
          <p:cNvPicPr>
            <a:picLocks noChangeAspect="1"/>
          </p:cNvPicPr>
          <p:nvPr/>
        </p:nvPicPr>
        <p:blipFill>
          <a:blip r:embed="rId4"/>
          <a:stretch>
            <a:fillRect/>
          </a:stretch>
        </p:blipFill>
        <p:spPr>
          <a:xfrm>
            <a:off x="5419993" y="2204864"/>
            <a:ext cx="1280271" cy="1036410"/>
          </a:xfrm>
          <a:prstGeom prst="rect">
            <a:avLst/>
          </a:prstGeom>
        </p:spPr>
      </p:pic>
      <p:pic>
        <p:nvPicPr>
          <p:cNvPr id="9" name="Resim 8"/>
          <p:cNvPicPr>
            <a:picLocks noChangeAspect="1"/>
          </p:cNvPicPr>
          <p:nvPr/>
        </p:nvPicPr>
        <p:blipFill>
          <a:blip r:embed="rId5"/>
          <a:stretch>
            <a:fillRect/>
          </a:stretch>
        </p:blipFill>
        <p:spPr>
          <a:xfrm>
            <a:off x="5938231" y="2780928"/>
            <a:ext cx="664522" cy="560881"/>
          </a:xfrm>
          <a:prstGeom prst="rect">
            <a:avLst/>
          </a:prstGeom>
        </p:spPr>
      </p:pic>
      <p:pic>
        <p:nvPicPr>
          <p:cNvPr id="10" name="Resim 9"/>
          <p:cNvPicPr>
            <a:picLocks noChangeAspect="1"/>
          </p:cNvPicPr>
          <p:nvPr/>
        </p:nvPicPr>
        <p:blipFill>
          <a:blip r:embed="rId6"/>
          <a:stretch>
            <a:fillRect/>
          </a:stretch>
        </p:blipFill>
        <p:spPr>
          <a:xfrm>
            <a:off x="5780521" y="3212976"/>
            <a:ext cx="1012024" cy="640135"/>
          </a:xfrm>
          <a:prstGeom prst="rect">
            <a:avLst/>
          </a:prstGeom>
        </p:spPr>
      </p:pic>
      <p:pic>
        <p:nvPicPr>
          <p:cNvPr id="12" name="Resim 11"/>
          <p:cNvPicPr>
            <a:picLocks noChangeAspect="1"/>
          </p:cNvPicPr>
          <p:nvPr/>
        </p:nvPicPr>
        <p:blipFill>
          <a:blip r:embed="rId7"/>
          <a:stretch>
            <a:fillRect/>
          </a:stretch>
        </p:blipFill>
        <p:spPr>
          <a:xfrm>
            <a:off x="3923928" y="3284984"/>
            <a:ext cx="1121761" cy="627942"/>
          </a:xfrm>
          <a:prstGeom prst="rect">
            <a:avLst/>
          </a:prstGeom>
        </p:spPr>
      </p:pic>
      <p:pic>
        <p:nvPicPr>
          <p:cNvPr id="13" name="Resim 12"/>
          <p:cNvPicPr>
            <a:picLocks noChangeAspect="1"/>
          </p:cNvPicPr>
          <p:nvPr/>
        </p:nvPicPr>
        <p:blipFill>
          <a:blip r:embed="rId8"/>
          <a:stretch>
            <a:fillRect/>
          </a:stretch>
        </p:blipFill>
        <p:spPr>
          <a:xfrm flipH="1" flipV="1">
            <a:off x="4426547" y="3789040"/>
            <a:ext cx="299433" cy="313043"/>
          </a:xfrm>
          <a:prstGeom prst="rect">
            <a:avLst/>
          </a:prstGeom>
        </p:spPr>
      </p:pic>
      <p:pic>
        <p:nvPicPr>
          <p:cNvPr id="14" name="Resim 13"/>
          <p:cNvPicPr>
            <a:picLocks noChangeAspect="1"/>
          </p:cNvPicPr>
          <p:nvPr/>
        </p:nvPicPr>
        <p:blipFill>
          <a:blip r:embed="rId9"/>
          <a:stretch>
            <a:fillRect/>
          </a:stretch>
        </p:blipFill>
        <p:spPr>
          <a:xfrm>
            <a:off x="4515349" y="4102083"/>
            <a:ext cx="144016" cy="1610627"/>
          </a:xfrm>
          <a:prstGeom prst="rect">
            <a:avLst/>
          </a:prstGeom>
        </p:spPr>
      </p:pic>
      <p:pic>
        <p:nvPicPr>
          <p:cNvPr id="15" name="Resim 14"/>
          <p:cNvPicPr>
            <a:picLocks noChangeAspect="1"/>
          </p:cNvPicPr>
          <p:nvPr/>
        </p:nvPicPr>
        <p:blipFill>
          <a:blip r:embed="rId10"/>
          <a:stretch>
            <a:fillRect/>
          </a:stretch>
        </p:blipFill>
        <p:spPr>
          <a:xfrm>
            <a:off x="3203848" y="4176456"/>
            <a:ext cx="640135" cy="548688"/>
          </a:xfrm>
          <a:prstGeom prst="rect">
            <a:avLst/>
          </a:prstGeom>
        </p:spPr>
      </p:pic>
      <p:sp>
        <p:nvSpPr>
          <p:cNvPr id="16" name="Yukarı Ok 15"/>
          <p:cNvSpPr/>
          <p:nvPr/>
        </p:nvSpPr>
        <p:spPr>
          <a:xfrm>
            <a:off x="5288231" y="3427713"/>
            <a:ext cx="124874" cy="1858923"/>
          </a:xfrm>
          <a:prstGeom prst="upArrow">
            <a:avLst/>
          </a:prstGeom>
          <a:solidFill>
            <a:srgbClr val="00B0F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 name="Metin kutusu 1"/>
          <p:cNvSpPr txBox="1"/>
          <p:nvPr/>
        </p:nvSpPr>
        <p:spPr>
          <a:xfrm>
            <a:off x="4324308" y="5621178"/>
            <a:ext cx="463588" cy="338554"/>
          </a:xfrm>
          <a:prstGeom prst="rect">
            <a:avLst/>
          </a:prstGeom>
          <a:noFill/>
        </p:spPr>
        <p:txBody>
          <a:bodyPr wrap="none" rtlCol="0">
            <a:spAutoFit/>
          </a:bodyPr>
          <a:lstStyle/>
          <a:p>
            <a:r>
              <a:rPr lang="tr-TR" sz="1600" dirty="0" smtClean="0">
                <a:latin typeface="Arial Narrow" panose="020B0606020202030204" pitchFamily="34" charset="0"/>
              </a:rPr>
              <a:t>420</a:t>
            </a:r>
            <a:endParaRPr lang="en-US" sz="1600" dirty="0">
              <a:latin typeface="Arial Narrow" panose="020B0606020202030204" pitchFamily="34" charset="0"/>
            </a:endParaRPr>
          </a:p>
        </p:txBody>
      </p:sp>
      <p:sp>
        <p:nvSpPr>
          <p:cNvPr id="6" name="Yuvarlatılmış Dikdörtgen 5"/>
          <p:cNvSpPr/>
          <p:nvPr/>
        </p:nvSpPr>
        <p:spPr>
          <a:xfrm>
            <a:off x="5148064" y="5323926"/>
            <a:ext cx="432048" cy="337322"/>
          </a:xfrm>
          <a:prstGeom prst="round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328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624"/>
            <a:ext cx="8229600" cy="1215008"/>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[4] Management Accounting</a:t>
            </a:r>
            <a:br>
              <a:rPr lang="tr-TR" sz="2400">
                <a:solidFill>
                  <a:srgbClr val="800000"/>
                </a:solidFill>
                <a:latin typeface="Arial Narrow" pitchFamily="34" charset="0"/>
              </a:rPr>
            </a:br>
            <a:r>
              <a:rPr lang="tr-TR" sz="2400" smtClean="0">
                <a:latin typeface="Arial Narrow" pitchFamily="34" charset="0"/>
              </a:rPr>
              <a:t>Operating Gearing</a:t>
            </a:r>
            <a:endParaRPr lang="tr-TR" sz="2400" dirty="0">
              <a:latin typeface="Arial Narrow" pitchFamily="34" charset="0"/>
            </a:endParaRPr>
          </a:p>
        </p:txBody>
      </p:sp>
      <p:sp>
        <p:nvSpPr>
          <p:cNvPr id="5" name="Content Placeholder 4"/>
          <p:cNvSpPr>
            <a:spLocks noGrp="1"/>
          </p:cNvSpPr>
          <p:nvPr>
            <p:ph idx="1"/>
          </p:nvPr>
        </p:nvSpPr>
        <p:spPr>
          <a:xfrm>
            <a:off x="179512" y="1340768"/>
            <a:ext cx="8712968" cy="4525963"/>
          </a:xfrm>
          <a:ln w="25400">
            <a:noFill/>
          </a:ln>
        </p:spPr>
        <p:txBody>
          <a:bodyPr>
            <a:noAutofit/>
          </a:bodyPr>
          <a:lstStyle/>
          <a:p>
            <a:pPr marL="0" lvl="0" indent="0" algn="ctr">
              <a:spcBef>
                <a:spcPts val="0"/>
              </a:spcBef>
              <a:buNone/>
            </a:pPr>
            <a:r>
              <a:rPr lang="tr-TR" sz="1800" dirty="0" smtClean="0">
                <a:solidFill>
                  <a:srgbClr val="C00000"/>
                </a:solidFill>
                <a:latin typeface="Arial Narrow" panose="020B0606020202030204" pitchFamily="34" charset="0"/>
              </a:rPr>
              <a:t>Operating </a:t>
            </a:r>
            <a:r>
              <a:rPr lang="tr-TR" sz="1800" dirty="0" err="1">
                <a:solidFill>
                  <a:srgbClr val="C00000"/>
                </a:solidFill>
                <a:latin typeface="Arial Narrow" panose="020B0606020202030204" pitchFamily="34" charset="0"/>
              </a:rPr>
              <a:t>G</a:t>
            </a:r>
            <a:r>
              <a:rPr lang="tr-TR" sz="1800" dirty="0" err="1" smtClean="0">
                <a:solidFill>
                  <a:srgbClr val="C00000"/>
                </a:solidFill>
                <a:latin typeface="Arial Narrow" panose="020B0606020202030204" pitchFamily="34" charset="0"/>
              </a:rPr>
              <a:t>earing</a:t>
            </a:r>
            <a:r>
              <a:rPr lang="tr-TR" sz="1800" dirty="0" smtClean="0">
                <a:solidFill>
                  <a:srgbClr val="C00000"/>
                </a:solidFill>
                <a:latin typeface="Arial Narrow" panose="020B0606020202030204" pitchFamily="34" charset="0"/>
              </a:rPr>
              <a:t> </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extent</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which</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total </a:t>
            </a:r>
            <a:r>
              <a:rPr lang="tr-TR" sz="1800" dirty="0" err="1">
                <a:latin typeface="Arial Narrow" panose="020B0606020202030204" pitchFamily="34" charset="0"/>
              </a:rPr>
              <a:t>costs</a:t>
            </a:r>
            <a:r>
              <a:rPr lang="tr-TR" sz="1800" dirty="0">
                <a:latin typeface="Arial Narrow" panose="020B0606020202030204" pitchFamily="34" charset="0"/>
              </a:rPr>
              <a:t> of </a:t>
            </a:r>
            <a:r>
              <a:rPr lang="tr-TR" sz="1800" dirty="0" err="1">
                <a:latin typeface="Arial Narrow" panose="020B0606020202030204" pitchFamily="34" charset="0"/>
              </a:rPr>
              <a:t>some</a:t>
            </a:r>
            <a:r>
              <a:rPr lang="tr-TR" sz="1800" dirty="0">
                <a:latin typeface="Arial Narrow" panose="020B0606020202030204" pitchFamily="34" charset="0"/>
              </a:rPr>
              <a:t> </a:t>
            </a:r>
            <a:r>
              <a:rPr lang="tr-TR" sz="1800" dirty="0" err="1">
                <a:latin typeface="Arial Narrow" panose="020B0606020202030204" pitchFamily="34" charset="0"/>
              </a:rPr>
              <a:t>activity</a:t>
            </a:r>
            <a:r>
              <a:rPr lang="tr-TR" sz="1800" dirty="0">
                <a:latin typeface="Arial Narrow" panose="020B0606020202030204" pitchFamily="34" charset="0"/>
              </a:rPr>
              <a:t> </a:t>
            </a:r>
            <a:r>
              <a:rPr lang="tr-TR" sz="1800" dirty="0" err="1">
                <a:latin typeface="Arial Narrow" panose="020B0606020202030204" pitchFamily="34" charset="0"/>
              </a:rPr>
              <a:t>are</a:t>
            </a:r>
            <a:r>
              <a:rPr lang="tr-TR" sz="1800" dirty="0">
                <a:latin typeface="Arial Narrow" panose="020B0606020202030204" pitchFamily="34" charset="0"/>
              </a:rPr>
              <a:t> </a:t>
            </a:r>
            <a:r>
              <a:rPr lang="tr-TR" sz="1800" dirty="0" err="1">
                <a:latin typeface="Arial Narrow" panose="020B0606020202030204" pitchFamily="34" charset="0"/>
              </a:rPr>
              <a:t>fixed</a:t>
            </a:r>
            <a:r>
              <a:rPr lang="tr-TR" sz="1800" dirty="0">
                <a:latin typeface="Arial Narrow" panose="020B0606020202030204" pitchFamily="34" charset="0"/>
              </a:rPr>
              <a:t> </a:t>
            </a:r>
            <a:r>
              <a:rPr lang="tr-TR" sz="1800" dirty="0" err="1">
                <a:latin typeface="Arial Narrow" panose="020B0606020202030204" pitchFamily="34" charset="0"/>
              </a:rPr>
              <a:t>rather</a:t>
            </a:r>
            <a:r>
              <a:rPr lang="tr-TR" sz="1800" dirty="0">
                <a:latin typeface="Arial Narrow" panose="020B0606020202030204" pitchFamily="34" charset="0"/>
              </a:rPr>
              <a:t> </a:t>
            </a:r>
            <a:r>
              <a:rPr lang="tr-TR" sz="1800" dirty="0" err="1">
                <a:latin typeface="Arial Narrow" panose="020B0606020202030204" pitchFamily="34" charset="0"/>
              </a:rPr>
              <a:t>than</a:t>
            </a:r>
            <a:r>
              <a:rPr lang="tr-TR" sz="1800" dirty="0">
                <a:latin typeface="Arial Narrow" panose="020B0606020202030204" pitchFamily="34" charset="0"/>
              </a:rPr>
              <a:t> </a:t>
            </a:r>
            <a:r>
              <a:rPr lang="tr-TR" sz="1800" dirty="0" err="1">
                <a:latin typeface="Arial Narrow" panose="020B0606020202030204" pitchFamily="34" charset="0"/>
              </a:rPr>
              <a:t>variable</a:t>
            </a:r>
            <a:r>
              <a:rPr lang="tr-TR" sz="1800" dirty="0">
                <a:latin typeface="Arial Narrow" panose="020B0606020202030204" pitchFamily="34" charset="0"/>
              </a:rPr>
              <a:t>.</a:t>
            </a:r>
          </a:p>
          <a:p>
            <a:pPr marL="0" indent="0" algn="ctr">
              <a:spcBef>
                <a:spcPts val="0"/>
              </a:spcBef>
              <a:buNone/>
            </a:pPr>
            <a:r>
              <a:rPr lang="tr-TR" sz="1800" dirty="0" smtClean="0">
                <a:latin typeface="Arial Narrow" panose="020B0606020202030204" pitchFamily="34" charset="0"/>
              </a:rPr>
              <a:t>An </a:t>
            </a:r>
            <a:r>
              <a:rPr lang="tr-TR" sz="1800" dirty="0" err="1">
                <a:latin typeface="Arial Narrow" panose="020B0606020202030204" pitchFamily="34" charset="0"/>
              </a:rPr>
              <a:t>activity</a:t>
            </a:r>
            <a:r>
              <a:rPr lang="tr-TR" sz="1800" dirty="0">
                <a:latin typeface="Arial Narrow" panose="020B0606020202030204" pitchFamily="34" charset="0"/>
              </a:rPr>
              <a:t> </a:t>
            </a:r>
            <a:r>
              <a:rPr lang="tr-TR" sz="1800" dirty="0" err="1">
                <a:latin typeface="Arial Narrow" panose="020B0606020202030204" pitchFamily="34" charset="0"/>
              </a:rPr>
              <a:t>with</a:t>
            </a:r>
            <a:r>
              <a:rPr lang="tr-TR" sz="1800" dirty="0">
                <a:latin typeface="Arial Narrow" panose="020B0606020202030204" pitchFamily="34" charset="0"/>
              </a:rPr>
              <a:t> </a:t>
            </a:r>
            <a:r>
              <a:rPr lang="tr-TR" sz="1800" dirty="0" err="1">
                <a:latin typeface="Arial Narrow" panose="020B0606020202030204" pitchFamily="34" charset="0"/>
              </a:rPr>
              <a:t>relatively</a:t>
            </a:r>
            <a:r>
              <a:rPr lang="tr-TR" sz="1800" dirty="0">
                <a:latin typeface="Arial Narrow" panose="020B0606020202030204" pitchFamily="34" charset="0"/>
              </a:rPr>
              <a:t> </a:t>
            </a:r>
            <a:r>
              <a:rPr lang="tr-TR" sz="1800" dirty="0" err="1">
                <a:latin typeface="Arial Narrow" panose="020B0606020202030204" pitchFamily="34" charset="0"/>
              </a:rPr>
              <a:t>high</a:t>
            </a:r>
            <a:r>
              <a:rPr lang="tr-TR" sz="1800" dirty="0">
                <a:latin typeface="Arial Narrow" panose="020B0606020202030204" pitchFamily="34" charset="0"/>
              </a:rPr>
              <a:t> </a:t>
            </a:r>
            <a:r>
              <a:rPr lang="tr-TR" sz="1800" dirty="0" err="1">
                <a:latin typeface="Arial Narrow" panose="020B0606020202030204" pitchFamily="34" charset="0"/>
              </a:rPr>
              <a:t>fixed</a:t>
            </a:r>
            <a:r>
              <a:rPr lang="tr-TR" sz="1800" dirty="0">
                <a:latin typeface="Arial Narrow" panose="020B0606020202030204" pitchFamily="34" charset="0"/>
              </a:rPr>
              <a:t> </a:t>
            </a:r>
            <a:r>
              <a:rPr lang="tr-TR" sz="1800" dirty="0" err="1">
                <a:latin typeface="Arial Narrow" panose="020B0606020202030204" pitchFamily="34" charset="0"/>
              </a:rPr>
              <a:t>costs</a:t>
            </a:r>
            <a:r>
              <a:rPr lang="tr-TR" sz="1800" dirty="0">
                <a:latin typeface="Arial Narrow" panose="020B0606020202030204" pitchFamily="34" charset="0"/>
              </a:rPr>
              <a:t> </a:t>
            </a:r>
            <a:r>
              <a:rPr lang="tr-TR" sz="1800" dirty="0" err="1">
                <a:latin typeface="Arial Narrow" panose="020B0606020202030204" pitchFamily="34" charset="0"/>
              </a:rPr>
              <a:t>compared</a:t>
            </a:r>
            <a:r>
              <a:rPr lang="tr-TR" sz="1800" dirty="0">
                <a:latin typeface="Arial Narrow" panose="020B0606020202030204" pitchFamily="34" charset="0"/>
              </a:rPr>
              <a:t> </a:t>
            </a:r>
            <a:r>
              <a:rPr lang="tr-TR" sz="1800" dirty="0" err="1">
                <a:latin typeface="Arial Narrow" panose="020B0606020202030204" pitchFamily="34" charset="0"/>
              </a:rPr>
              <a:t>with</a:t>
            </a:r>
            <a:r>
              <a:rPr lang="tr-TR" sz="1800" dirty="0">
                <a:latin typeface="Arial Narrow" panose="020B0606020202030204" pitchFamily="34" charset="0"/>
              </a:rPr>
              <a:t> </a:t>
            </a:r>
            <a:r>
              <a:rPr lang="tr-TR" sz="1800" dirty="0" err="1">
                <a:latin typeface="Arial Narrow" panose="020B0606020202030204" pitchFamily="34" charset="0"/>
              </a:rPr>
              <a:t>its</a:t>
            </a:r>
            <a:r>
              <a:rPr lang="tr-TR" sz="1800" dirty="0">
                <a:latin typeface="Arial Narrow" panose="020B0606020202030204" pitchFamily="34" charset="0"/>
              </a:rPr>
              <a:t> </a:t>
            </a:r>
            <a:r>
              <a:rPr lang="tr-TR" sz="1800" dirty="0" err="1">
                <a:latin typeface="Arial Narrow" panose="020B0606020202030204" pitchFamily="34" charset="0"/>
              </a:rPr>
              <a:t>variable</a:t>
            </a:r>
            <a:r>
              <a:rPr lang="tr-TR" sz="1800" dirty="0">
                <a:latin typeface="Arial Narrow" panose="020B0606020202030204" pitchFamily="34" charset="0"/>
              </a:rPr>
              <a:t> </a:t>
            </a:r>
            <a:r>
              <a:rPr lang="tr-TR" sz="1800" dirty="0" err="1" smtClean="0">
                <a:latin typeface="Arial Narrow" panose="020B0606020202030204" pitchFamily="34" charset="0"/>
              </a:rPr>
              <a:t>costs</a:t>
            </a:r>
            <a:endParaRPr lang="tr-TR" sz="1800" dirty="0">
              <a:latin typeface="Arial Narrow" panose="020B0606020202030204" pitchFamily="34" charset="0"/>
            </a:endParaRPr>
          </a:p>
          <a:p>
            <a:pPr marL="0" indent="0" algn="ctr">
              <a:spcBef>
                <a:spcPts val="0"/>
              </a:spcBef>
              <a:buNone/>
            </a:pPr>
            <a:r>
              <a:rPr lang="tr-TR" sz="1800" dirty="0" smtClean="0">
                <a:latin typeface="Arial Narrow" panose="020B0606020202030204" pitchFamily="34" charset="0"/>
              </a:rPr>
              <a:t>is </a:t>
            </a:r>
            <a:r>
              <a:rPr lang="tr-TR" sz="1800" dirty="0" err="1">
                <a:latin typeface="Arial Narrow" panose="020B0606020202030204" pitchFamily="34" charset="0"/>
              </a:rPr>
              <a:t>said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have</a:t>
            </a:r>
            <a:r>
              <a:rPr lang="tr-TR" sz="1800" dirty="0">
                <a:latin typeface="Arial Narrow" panose="020B0606020202030204" pitchFamily="34" charset="0"/>
              </a:rPr>
              <a:t> </a:t>
            </a:r>
            <a:r>
              <a:rPr lang="tr-TR" sz="1800" dirty="0" err="1" smtClean="0">
                <a:solidFill>
                  <a:srgbClr val="0000CC"/>
                </a:solidFill>
                <a:latin typeface="Arial Narrow" panose="020B0606020202030204" pitchFamily="34" charset="0"/>
              </a:rPr>
              <a:t>higher</a:t>
            </a:r>
            <a:r>
              <a:rPr lang="tr-TR" sz="1800" dirty="0" smtClean="0">
                <a:solidFill>
                  <a:srgbClr val="0000CC"/>
                </a:solidFill>
                <a:latin typeface="Arial Narrow" panose="020B0606020202030204" pitchFamily="34" charset="0"/>
              </a:rPr>
              <a:t> </a:t>
            </a:r>
            <a:r>
              <a:rPr lang="tr-TR" sz="1800" dirty="0" err="1">
                <a:solidFill>
                  <a:srgbClr val="0000CC"/>
                </a:solidFill>
                <a:latin typeface="Arial Narrow" panose="020B0606020202030204" pitchFamily="34" charset="0"/>
              </a:rPr>
              <a:t>operating</a:t>
            </a:r>
            <a:r>
              <a:rPr lang="tr-TR" sz="1800" dirty="0">
                <a:solidFill>
                  <a:srgbClr val="0000CC"/>
                </a:solidFill>
                <a:latin typeface="Arial Narrow" panose="020B0606020202030204" pitchFamily="34" charset="0"/>
              </a:rPr>
              <a:t> </a:t>
            </a:r>
            <a:r>
              <a:rPr lang="tr-TR" sz="1800" dirty="0" err="1" smtClean="0">
                <a:solidFill>
                  <a:srgbClr val="0000CC"/>
                </a:solidFill>
                <a:latin typeface="Arial Narrow" panose="020B0606020202030204" pitchFamily="34" charset="0"/>
              </a:rPr>
              <a:t>gearing</a:t>
            </a:r>
            <a:r>
              <a:rPr lang="tr-TR" sz="1800" dirty="0" smtClean="0">
                <a:latin typeface="Arial Narrow" panose="020B0606020202030204" pitchFamily="34" charset="0"/>
              </a:rPr>
              <a:t>.</a:t>
            </a:r>
          </a:p>
        </p:txBody>
      </p:sp>
      <p:pic>
        <p:nvPicPr>
          <p:cNvPr id="6" name="Resim 5"/>
          <p:cNvPicPr>
            <a:picLocks noChangeAspect="1"/>
          </p:cNvPicPr>
          <p:nvPr/>
        </p:nvPicPr>
        <p:blipFill>
          <a:blip r:embed="rId3"/>
          <a:stretch>
            <a:fillRect/>
          </a:stretch>
        </p:blipFill>
        <p:spPr>
          <a:xfrm>
            <a:off x="160405" y="2564904"/>
            <a:ext cx="4339587" cy="3254690"/>
          </a:xfrm>
          <a:prstGeom prst="rect">
            <a:avLst/>
          </a:prstGeom>
        </p:spPr>
      </p:pic>
      <p:pic>
        <p:nvPicPr>
          <p:cNvPr id="2" name="Resim 1"/>
          <p:cNvPicPr>
            <a:picLocks noChangeAspect="1"/>
          </p:cNvPicPr>
          <p:nvPr/>
        </p:nvPicPr>
        <p:blipFill>
          <a:blip r:embed="rId4"/>
          <a:stretch>
            <a:fillRect/>
          </a:stretch>
        </p:blipFill>
        <p:spPr>
          <a:xfrm>
            <a:off x="4644008" y="2564904"/>
            <a:ext cx="4339587" cy="3254690"/>
          </a:xfrm>
          <a:prstGeom prst="rect">
            <a:avLst/>
          </a:prstGeom>
        </p:spPr>
      </p:pic>
      <p:pic>
        <p:nvPicPr>
          <p:cNvPr id="3" name="Resim 2"/>
          <p:cNvPicPr>
            <a:picLocks noChangeAspect="1"/>
          </p:cNvPicPr>
          <p:nvPr/>
        </p:nvPicPr>
        <p:blipFill>
          <a:blip r:embed="rId5"/>
          <a:stretch>
            <a:fillRect/>
          </a:stretch>
        </p:blipFill>
        <p:spPr>
          <a:xfrm>
            <a:off x="1619672" y="3645024"/>
            <a:ext cx="1121761" cy="627942"/>
          </a:xfrm>
          <a:prstGeom prst="rect">
            <a:avLst/>
          </a:prstGeom>
        </p:spPr>
      </p:pic>
      <p:pic>
        <p:nvPicPr>
          <p:cNvPr id="7" name="Resim 6"/>
          <p:cNvPicPr>
            <a:picLocks noChangeAspect="1"/>
          </p:cNvPicPr>
          <p:nvPr/>
        </p:nvPicPr>
        <p:blipFill>
          <a:blip r:embed="rId6"/>
          <a:stretch>
            <a:fillRect/>
          </a:stretch>
        </p:blipFill>
        <p:spPr>
          <a:xfrm>
            <a:off x="2411760" y="4077072"/>
            <a:ext cx="134124" cy="140220"/>
          </a:xfrm>
          <a:prstGeom prst="rect">
            <a:avLst/>
          </a:prstGeom>
        </p:spPr>
      </p:pic>
      <p:pic>
        <p:nvPicPr>
          <p:cNvPr id="8" name="Resim 7"/>
          <p:cNvPicPr>
            <a:picLocks noChangeAspect="1"/>
          </p:cNvPicPr>
          <p:nvPr/>
        </p:nvPicPr>
        <p:blipFill>
          <a:blip r:embed="rId7"/>
          <a:stretch>
            <a:fillRect/>
          </a:stretch>
        </p:blipFill>
        <p:spPr>
          <a:xfrm>
            <a:off x="6948264" y="4077072"/>
            <a:ext cx="134124" cy="140220"/>
          </a:xfrm>
          <a:prstGeom prst="rect">
            <a:avLst/>
          </a:prstGeom>
        </p:spPr>
      </p:pic>
      <p:pic>
        <p:nvPicPr>
          <p:cNvPr id="9" name="Resim 8"/>
          <p:cNvPicPr>
            <a:picLocks noChangeAspect="1"/>
          </p:cNvPicPr>
          <p:nvPr/>
        </p:nvPicPr>
        <p:blipFill>
          <a:blip r:embed="rId5"/>
          <a:stretch>
            <a:fillRect/>
          </a:stretch>
        </p:blipFill>
        <p:spPr>
          <a:xfrm>
            <a:off x="6252920" y="3573016"/>
            <a:ext cx="1121761" cy="627942"/>
          </a:xfrm>
          <a:prstGeom prst="rect">
            <a:avLst/>
          </a:prstGeom>
        </p:spPr>
      </p:pic>
      <p:pic>
        <p:nvPicPr>
          <p:cNvPr id="10" name="Resim 9"/>
          <p:cNvPicPr>
            <a:picLocks noChangeAspect="1"/>
          </p:cNvPicPr>
          <p:nvPr/>
        </p:nvPicPr>
        <p:blipFill>
          <a:blip r:embed="rId8"/>
          <a:stretch>
            <a:fillRect/>
          </a:stretch>
        </p:blipFill>
        <p:spPr>
          <a:xfrm>
            <a:off x="2980577" y="2636912"/>
            <a:ext cx="1280271" cy="1036410"/>
          </a:xfrm>
          <a:prstGeom prst="rect">
            <a:avLst/>
          </a:prstGeom>
        </p:spPr>
      </p:pic>
      <p:pic>
        <p:nvPicPr>
          <p:cNvPr id="11" name="Resim 10"/>
          <p:cNvPicPr>
            <a:picLocks noChangeAspect="1"/>
          </p:cNvPicPr>
          <p:nvPr/>
        </p:nvPicPr>
        <p:blipFill>
          <a:blip r:embed="rId8"/>
          <a:stretch>
            <a:fillRect/>
          </a:stretch>
        </p:blipFill>
        <p:spPr>
          <a:xfrm>
            <a:off x="7430791" y="2636912"/>
            <a:ext cx="1280271" cy="1036410"/>
          </a:xfrm>
          <a:prstGeom prst="rect">
            <a:avLst/>
          </a:prstGeom>
        </p:spPr>
      </p:pic>
      <p:pic>
        <p:nvPicPr>
          <p:cNvPr id="12" name="Resim 11"/>
          <p:cNvPicPr>
            <a:picLocks noChangeAspect="1"/>
          </p:cNvPicPr>
          <p:nvPr/>
        </p:nvPicPr>
        <p:blipFill>
          <a:blip r:embed="rId9"/>
          <a:stretch>
            <a:fillRect/>
          </a:stretch>
        </p:blipFill>
        <p:spPr>
          <a:xfrm>
            <a:off x="3601719" y="3140968"/>
            <a:ext cx="664522" cy="560881"/>
          </a:xfrm>
          <a:prstGeom prst="rect">
            <a:avLst/>
          </a:prstGeom>
        </p:spPr>
      </p:pic>
      <p:pic>
        <p:nvPicPr>
          <p:cNvPr id="14" name="Resim 13"/>
          <p:cNvPicPr>
            <a:picLocks noChangeAspect="1"/>
          </p:cNvPicPr>
          <p:nvPr/>
        </p:nvPicPr>
        <p:blipFill>
          <a:blip r:embed="rId10"/>
          <a:stretch>
            <a:fillRect/>
          </a:stretch>
        </p:blipFill>
        <p:spPr>
          <a:xfrm>
            <a:off x="3241228" y="3573016"/>
            <a:ext cx="1012024" cy="640135"/>
          </a:xfrm>
          <a:prstGeom prst="rect">
            <a:avLst/>
          </a:prstGeom>
        </p:spPr>
      </p:pic>
      <p:pic>
        <p:nvPicPr>
          <p:cNvPr id="16" name="Resim 15"/>
          <p:cNvPicPr>
            <a:picLocks noChangeAspect="1"/>
          </p:cNvPicPr>
          <p:nvPr/>
        </p:nvPicPr>
        <p:blipFill>
          <a:blip r:embed="rId11"/>
          <a:stretch>
            <a:fillRect/>
          </a:stretch>
        </p:blipFill>
        <p:spPr>
          <a:xfrm>
            <a:off x="7828924" y="3933056"/>
            <a:ext cx="993734" cy="457240"/>
          </a:xfrm>
          <a:prstGeom prst="rect">
            <a:avLst/>
          </a:prstGeom>
        </p:spPr>
      </p:pic>
      <p:pic>
        <p:nvPicPr>
          <p:cNvPr id="17" name="Resim 16"/>
          <p:cNvPicPr>
            <a:picLocks noChangeAspect="1"/>
          </p:cNvPicPr>
          <p:nvPr/>
        </p:nvPicPr>
        <p:blipFill>
          <a:blip r:embed="rId12"/>
          <a:stretch>
            <a:fillRect/>
          </a:stretch>
        </p:blipFill>
        <p:spPr>
          <a:xfrm>
            <a:off x="7990482" y="3356992"/>
            <a:ext cx="670618" cy="542591"/>
          </a:xfrm>
          <a:prstGeom prst="rect">
            <a:avLst/>
          </a:prstGeom>
        </p:spPr>
      </p:pic>
      <p:pic>
        <p:nvPicPr>
          <p:cNvPr id="18" name="Resim 17"/>
          <p:cNvPicPr>
            <a:picLocks noChangeAspect="1"/>
          </p:cNvPicPr>
          <p:nvPr/>
        </p:nvPicPr>
        <p:blipFill>
          <a:blip r:embed="rId13"/>
          <a:stretch>
            <a:fillRect/>
          </a:stretch>
        </p:blipFill>
        <p:spPr>
          <a:xfrm>
            <a:off x="683568" y="4653136"/>
            <a:ext cx="640135" cy="548688"/>
          </a:xfrm>
          <a:prstGeom prst="rect">
            <a:avLst/>
          </a:prstGeom>
        </p:spPr>
      </p:pic>
      <p:sp>
        <p:nvSpPr>
          <p:cNvPr id="19" name="Metin kutusu 8"/>
          <p:cNvSpPr txBox="1"/>
          <p:nvPr/>
        </p:nvSpPr>
        <p:spPr>
          <a:xfrm rot="20174335">
            <a:off x="5335209" y="4532042"/>
            <a:ext cx="540148" cy="327718"/>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tr-TR" sz="1600" dirty="0" err="1">
                <a:solidFill>
                  <a:srgbClr val="FF00FF"/>
                </a:solidFill>
                <a:latin typeface="Arial Narrow" panose="020B0606020202030204" pitchFamily="34" charset="0"/>
              </a:rPr>
              <a:t>Loss</a:t>
            </a:r>
            <a:endParaRPr lang="tr-TR" sz="1600" dirty="0">
              <a:solidFill>
                <a:srgbClr val="FF00FF"/>
              </a:solidFill>
              <a:latin typeface="Arial Narrow" panose="020B0606020202030204" pitchFamily="34" charset="0"/>
            </a:endParaRPr>
          </a:p>
        </p:txBody>
      </p:sp>
      <p:sp>
        <p:nvSpPr>
          <p:cNvPr id="21" name="Aşağı Ok 20"/>
          <p:cNvSpPr/>
          <p:nvPr/>
        </p:nvSpPr>
        <p:spPr>
          <a:xfrm>
            <a:off x="2411760" y="4221088"/>
            <a:ext cx="134124" cy="100957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Aşağı Ok 21"/>
          <p:cNvSpPr/>
          <p:nvPr/>
        </p:nvSpPr>
        <p:spPr>
          <a:xfrm>
            <a:off x="6948264" y="4221088"/>
            <a:ext cx="134124" cy="1009575"/>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3" name="Metin kutusu 22"/>
          <p:cNvSpPr txBox="1"/>
          <p:nvPr/>
        </p:nvSpPr>
        <p:spPr>
          <a:xfrm>
            <a:off x="5292079" y="2564904"/>
            <a:ext cx="1997663" cy="338554"/>
          </a:xfrm>
          <a:prstGeom prst="rect">
            <a:avLst/>
          </a:prstGeom>
          <a:noFill/>
        </p:spPr>
        <p:txBody>
          <a:bodyPr wrap="none" rtlCol="0">
            <a:spAutoFit/>
          </a:bodyPr>
          <a:lstStyle/>
          <a:p>
            <a:r>
              <a:rPr lang="tr-TR" sz="1600" dirty="0" err="1">
                <a:solidFill>
                  <a:srgbClr val="0000CC"/>
                </a:solidFill>
                <a:latin typeface="Arial Narrow" panose="020B0606020202030204" pitchFamily="34" charset="0"/>
              </a:rPr>
              <a:t>h</a:t>
            </a:r>
            <a:r>
              <a:rPr lang="tr-TR" sz="1600" dirty="0" err="1" smtClean="0">
                <a:solidFill>
                  <a:srgbClr val="0000CC"/>
                </a:solidFill>
                <a:latin typeface="Arial Narrow" panose="020B0606020202030204" pitchFamily="34" charset="0"/>
              </a:rPr>
              <a:t>igher</a:t>
            </a:r>
            <a:r>
              <a:rPr lang="tr-TR" sz="1600" dirty="0" smtClean="0">
                <a:solidFill>
                  <a:srgbClr val="0000CC"/>
                </a:solidFill>
                <a:latin typeface="Arial Narrow" panose="020B0606020202030204" pitchFamily="34" charset="0"/>
              </a:rPr>
              <a:t> </a:t>
            </a:r>
            <a:r>
              <a:rPr lang="tr-TR" sz="1600" dirty="0" err="1" smtClean="0">
                <a:solidFill>
                  <a:srgbClr val="0000CC"/>
                </a:solidFill>
                <a:latin typeface="Arial Narrow" panose="020B0606020202030204" pitchFamily="34" charset="0"/>
              </a:rPr>
              <a:t>operating</a:t>
            </a:r>
            <a:r>
              <a:rPr lang="tr-TR" sz="1600" dirty="0" smtClean="0">
                <a:solidFill>
                  <a:srgbClr val="0000CC"/>
                </a:solidFill>
                <a:latin typeface="Arial Narrow" panose="020B0606020202030204" pitchFamily="34" charset="0"/>
              </a:rPr>
              <a:t> </a:t>
            </a:r>
            <a:r>
              <a:rPr lang="tr-TR" sz="1600" dirty="0" err="1" smtClean="0">
                <a:solidFill>
                  <a:srgbClr val="0000CC"/>
                </a:solidFill>
                <a:latin typeface="Arial Narrow" panose="020B0606020202030204" pitchFamily="34" charset="0"/>
              </a:rPr>
              <a:t>gearing</a:t>
            </a:r>
            <a:endParaRPr lang="tr-TR" sz="1600" dirty="0">
              <a:solidFill>
                <a:srgbClr val="0000CC"/>
              </a:solidFill>
              <a:latin typeface="Arial Narrow" panose="020B0606020202030204" pitchFamily="34" charset="0"/>
            </a:endParaRPr>
          </a:p>
        </p:txBody>
      </p:sp>
    </p:spTree>
    <p:extLst>
      <p:ext uri="{BB962C8B-B14F-4D97-AF65-F5344CB8AC3E}">
        <p14:creationId xmlns:p14="http://schemas.microsoft.com/office/powerpoint/2010/main" val="16816872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[4] Management Accounting</a:t>
            </a:r>
            <a:br>
              <a:rPr lang="tr-TR" sz="2400">
                <a:solidFill>
                  <a:srgbClr val="800000"/>
                </a:solidFill>
                <a:latin typeface="Arial Narrow" pitchFamily="34" charset="0"/>
              </a:rPr>
            </a:br>
            <a:r>
              <a:rPr lang="tr-TR" sz="2400" smtClean="0">
                <a:latin typeface="Arial Narrow" panose="020B0606020202030204" pitchFamily="34" charset="0"/>
              </a:rPr>
              <a:t>Activity-Based </a:t>
            </a:r>
            <a:r>
              <a:rPr lang="tr-TR" sz="2400">
                <a:latin typeface="Arial Narrow" panose="020B0606020202030204" pitchFamily="34" charset="0"/>
              </a:rPr>
              <a:t>Costing</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251520" y="1600200"/>
            <a:ext cx="8640960" cy="4925144"/>
          </a:xfrm>
          <a:ln w="25400">
            <a:noFill/>
          </a:ln>
        </p:spPr>
        <p:txBody>
          <a:bodyPr>
            <a:noAutofit/>
          </a:bodyPr>
          <a:lstStyle/>
          <a:p>
            <a:pPr marL="0" indent="0" algn="ctr">
              <a:spcBef>
                <a:spcPts val="0"/>
              </a:spcBef>
              <a:buNone/>
            </a:pPr>
            <a:r>
              <a:rPr lang="tr-TR" sz="1600" dirty="0" smtClean="0">
                <a:latin typeface="Arial Narrow" panose="020B0606020202030204" pitchFamily="34" charset="0"/>
              </a:rPr>
              <a:t>Modern </a:t>
            </a:r>
            <a:r>
              <a:rPr lang="tr-TR" sz="1600" dirty="0" err="1">
                <a:latin typeface="Arial Narrow" panose="020B0606020202030204" pitchFamily="34" charset="0"/>
              </a:rPr>
              <a:t>Producers</a:t>
            </a:r>
            <a:r>
              <a:rPr lang="tr-TR" sz="1600" dirty="0">
                <a:latin typeface="Arial Narrow" panose="020B0606020202030204" pitchFamily="34" charset="0"/>
              </a:rPr>
              <a:t> </a:t>
            </a:r>
            <a:r>
              <a:rPr lang="tr-TR" sz="1600" dirty="0" err="1">
                <a:latin typeface="Arial Narrow" panose="020B0606020202030204" pitchFamily="34" charset="0"/>
              </a:rPr>
              <a:t>Ltd</a:t>
            </a:r>
            <a:r>
              <a:rPr lang="tr-TR" sz="1600" dirty="0">
                <a:latin typeface="Arial Narrow" panose="020B0606020202030204" pitchFamily="34" charset="0"/>
              </a:rPr>
              <a:t> </a:t>
            </a:r>
            <a:r>
              <a:rPr lang="tr-TR" sz="1600" dirty="0" err="1">
                <a:latin typeface="Arial Narrow" panose="020B0606020202030204" pitchFamily="34" charset="0"/>
              </a:rPr>
              <a:t>runs</a:t>
            </a:r>
            <a:r>
              <a:rPr lang="tr-TR" sz="1600" dirty="0">
                <a:latin typeface="Arial Narrow" panose="020B0606020202030204" pitchFamily="34" charset="0"/>
              </a:rPr>
              <a:t>, </a:t>
            </a:r>
            <a:r>
              <a:rPr lang="tr-TR" sz="1600" dirty="0" err="1">
                <a:latin typeface="Arial Narrow" panose="020B0606020202030204" pitchFamily="34" charset="0"/>
              </a:rPr>
              <a:t>like</a:t>
            </a:r>
            <a:r>
              <a:rPr lang="tr-TR" sz="1600" dirty="0">
                <a:latin typeface="Arial Narrow" panose="020B0606020202030204" pitchFamily="34" charset="0"/>
              </a:rPr>
              <a:t> </a:t>
            </a:r>
            <a:r>
              <a:rPr lang="tr-TR" sz="1600" dirty="0" err="1">
                <a:latin typeface="Arial Narrow" panose="020B0606020202030204" pitchFamily="34" charset="0"/>
              </a:rPr>
              <a:t>virtually</a:t>
            </a:r>
            <a:r>
              <a:rPr lang="tr-TR" sz="1600" dirty="0">
                <a:latin typeface="Arial Narrow" panose="020B0606020202030204" pitchFamily="34" charset="0"/>
              </a:rPr>
              <a:t> </a:t>
            </a:r>
            <a:r>
              <a:rPr lang="tr-TR" sz="1600" dirty="0" err="1">
                <a:latin typeface="Arial Narrow" panose="020B0606020202030204" pitchFamily="34" charset="0"/>
              </a:rPr>
              <a:t>all</a:t>
            </a:r>
            <a:r>
              <a:rPr lang="tr-TR" sz="1600" dirty="0">
                <a:latin typeface="Arial Narrow" panose="020B0606020202030204" pitchFamily="34" charset="0"/>
              </a:rPr>
              <a:t> </a:t>
            </a:r>
            <a:r>
              <a:rPr lang="tr-TR" sz="1600" dirty="0" err="1">
                <a:latin typeface="Arial Narrow" panose="020B0606020202030204" pitchFamily="34" charset="0"/>
              </a:rPr>
              <a:t>manufacturers</a:t>
            </a:r>
            <a:r>
              <a:rPr lang="tr-TR" sz="1600" dirty="0">
                <a:latin typeface="Arial Narrow" panose="020B0606020202030204" pitchFamily="34" charset="0"/>
              </a:rPr>
              <a:t>, </a:t>
            </a:r>
            <a:r>
              <a:rPr lang="tr-TR" sz="1600" dirty="0" err="1">
                <a:latin typeface="Arial Narrow" panose="020B0606020202030204" pitchFamily="34" charset="0"/>
              </a:rPr>
              <a:t>finished</a:t>
            </a:r>
            <a:r>
              <a:rPr lang="tr-TR" sz="1600" dirty="0">
                <a:latin typeface="Arial Narrow" panose="020B0606020202030204" pitchFamily="34" charset="0"/>
              </a:rPr>
              <a:t> </a:t>
            </a:r>
            <a:r>
              <a:rPr lang="tr-TR" sz="1600" dirty="0" err="1">
                <a:latin typeface="Arial Narrow" panose="020B0606020202030204" pitchFamily="34" charset="0"/>
              </a:rPr>
              <a:t>goods</a:t>
            </a:r>
            <a:r>
              <a:rPr lang="tr-TR" sz="1600" dirty="0">
                <a:latin typeface="Arial Narrow" panose="020B0606020202030204" pitchFamily="34" charset="0"/>
              </a:rPr>
              <a:t> </a:t>
            </a:r>
            <a:r>
              <a:rPr lang="tr-TR" sz="1600" dirty="0" err="1" smtClean="0">
                <a:latin typeface="Arial Narrow" panose="020B0606020202030204" pitchFamily="34" charset="0"/>
              </a:rPr>
              <a:t>stores</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a:latin typeface="Arial Narrow" panose="020B0606020202030204" pitchFamily="34" charset="0"/>
              </a:rPr>
              <a:t>business</a:t>
            </a:r>
            <a:r>
              <a:rPr lang="tr-TR" sz="1600" dirty="0">
                <a:latin typeface="Arial Narrow" panose="020B0606020202030204" pitchFamily="34" charset="0"/>
              </a:rPr>
              <a:t> has </a:t>
            </a:r>
            <a:r>
              <a:rPr lang="tr-TR" sz="1600" dirty="0" err="1">
                <a:latin typeface="Arial Narrow" panose="020B0606020202030204" pitchFamily="34" charset="0"/>
              </a:rPr>
              <a:t>two</a:t>
            </a:r>
            <a:r>
              <a:rPr lang="tr-TR" sz="1600" dirty="0">
                <a:latin typeface="Arial Narrow" panose="020B0606020202030204" pitchFamily="34" charset="0"/>
              </a:rPr>
              <a:t> </a:t>
            </a:r>
            <a:r>
              <a:rPr lang="tr-TR" sz="1600" dirty="0" err="1">
                <a:latin typeface="Arial Narrow" panose="020B0606020202030204" pitchFamily="34" charset="0"/>
              </a:rPr>
              <a:t>product</a:t>
            </a:r>
            <a:r>
              <a:rPr lang="tr-TR" sz="1600" dirty="0">
                <a:latin typeface="Arial Narrow" panose="020B0606020202030204" pitchFamily="34" charset="0"/>
              </a:rPr>
              <a:t> </a:t>
            </a:r>
            <a:r>
              <a:rPr lang="tr-TR" sz="1600" dirty="0" err="1">
                <a:latin typeface="Arial Narrow" panose="020B0606020202030204" pitchFamily="34" charset="0"/>
              </a:rPr>
              <a:t>lines</a:t>
            </a:r>
            <a:r>
              <a:rPr lang="tr-TR" sz="1600" dirty="0">
                <a:latin typeface="Arial Narrow" panose="020B0606020202030204" pitchFamily="34" charset="0"/>
              </a:rPr>
              <a:t>, A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smtClean="0">
                <a:latin typeface="Arial Narrow" panose="020B0606020202030204" pitchFamily="34" charset="0"/>
              </a:rPr>
              <a:t>B.</a:t>
            </a:r>
          </a:p>
          <a:p>
            <a:pPr marL="0" indent="0" algn="ctr">
              <a:spcBef>
                <a:spcPts val="0"/>
              </a:spcBef>
              <a:buNone/>
            </a:pPr>
            <a:r>
              <a:rPr lang="tr-TR" sz="1600" dirty="0" smtClean="0">
                <a:latin typeface="Arial Narrow" panose="020B0606020202030204" pitchFamily="34" charset="0"/>
              </a:rPr>
              <a:t>Product </a:t>
            </a:r>
            <a:r>
              <a:rPr lang="tr-TR" sz="1600" dirty="0">
                <a:latin typeface="Arial Narrow" panose="020B0606020202030204" pitchFamily="34" charset="0"/>
              </a:rPr>
              <a:t>A </a:t>
            </a:r>
            <a:r>
              <a:rPr lang="tr-TR" sz="1600" dirty="0" err="1">
                <a:latin typeface="Arial Narrow" panose="020B0606020202030204" pitchFamily="34" charset="0"/>
              </a:rPr>
              <a:t>tends</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be </a:t>
            </a:r>
            <a:r>
              <a:rPr lang="tr-TR" sz="1600" dirty="0" err="1">
                <a:latin typeface="Arial Narrow" panose="020B0606020202030204" pitchFamily="34" charset="0"/>
              </a:rPr>
              <a:t>made</a:t>
            </a:r>
            <a:r>
              <a:rPr lang="tr-TR" sz="1600" dirty="0">
                <a:latin typeface="Arial Narrow" panose="020B0606020202030204" pitchFamily="34" charset="0"/>
              </a:rPr>
              <a:t> in </a:t>
            </a:r>
            <a:r>
              <a:rPr lang="tr-TR" sz="1600" dirty="0" err="1">
                <a:latin typeface="Arial Narrow" panose="020B0606020202030204" pitchFamily="34" charset="0"/>
              </a:rPr>
              <a:t>small</a:t>
            </a:r>
            <a:r>
              <a:rPr lang="tr-TR" sz="1600" dirty="0">
                <a:latin typeface="Arial Narrow" panose="020B0606020202030204" pitchFamily="34" charset="0"/>
              </a:rPr>
              <a:t> </a:t>
            </a:r>
            <a:r>
              <a:rPr lang="tr-TR" sz="1600" dirty="0" err="1">
                <a:latin typeface="Arial Narrow" panose="020B0606020202030204" pitchFamily="34" charset="0"/>
              </a:rPr>
              <a:t>batches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so</a:t>
            </a:r>
            <a:r>
              <a:rPr lang="tr-TR" sz="1600" dirty="0">
                <a:latin typeface="Arial Narrow" panose="020B0606020202030204" pitchFamily="34" charset="0"/>
              </a:rPr>
              <a:t> </a:t>
            </a:r>
            <a:r>
              <a:rPr lang="tr-TR" sz="1600" dirty="0" err="1">
                <a:latin typeface="Arial Narrow" panose="020B0606020202030204" pitchFamily="34" charset="0"/>
              </a:rPr>
              <a:t>low</a:t>
            </a:r>
            <a:r>
              <a:rPr lang="tr-TR" sz="1600" dirty="0">
                <a:latin typeface="Arial Narrow" panose="020B0606020202030204" pitchFamily="34" charset="0"/>
              </a:rPr>
              <a:t> </a:t>
            </a:r>
            <a:r>
              <a:rPr lang="tr-TR" sz="1600" dirty="0" err="1">
                <a:latin typeface="Arial Narrow" panose="020B0606020202030204" pitchFamily="34" charset="0"/>
              </a:rPr>
              <a:t>levels</a:t>
            </a:r>
            <a:r>
              <a:rPr lang="tr-TR" sz="1600" dirty="0">
                <a:latin typeface="Arial Narrow" panose="020B0606020202030204" pitchFamily="34" charset="0"/>
              </a:rPr>
              <a:t> of </a:t>
            </a:r>
            <a:r>
              <a:rPr lang="tr-TR" sz="1600" dirty="0" err="1">
                <a:latin typeface="Arial Narrow" panose="020B0606020202030204" pitchFamily="34" charset="0"/>
              </a:rPr>
              <a:t>finished</a:t>
            </a:r>
            <a:r>
              <a:rPr lang="tr-TR" sz="1600" dirty="0">
                <a:latin typeface="Arial Narrow" panose="020B0606020202030204" pitchFamily="34" charset="0"/>
              </a:rPr>
              <a:t> </a:t>
            </a:r>
            <a:r>
              <a:rPr lang="tr-TR" sz="1600" dirty="0" err="1">
                <a:latin typeface="Arial Narrow" panose="020B0606020202030204" pitchFamily="34" charset="0"/>
              </a:rPr>
              <a:t>goods</a:t>
            </a:r>
            <a:r>
              <a:rPr lang="tr-TR" sz="1600" dirty="0">
                <a:latin typeface="Arial Narrow" panose="020B0606020202030204" pitchFamily="34" charset="0"/>
              </a:rPr>
              <a:t> </a:t>
            </a:r>
            <a:r>
              <a:rPr lang="tr-TR" sz="1600" dirty="0" err="1">
                <a:latin typeface="Arial Narrow" panose="020B0606020202030204" pitchFamily="34" charset="0"/>
              </a:rPr>
              <a:t>inventories</a:t>
            </a:r>
            <a:r>
              <a:rPr lang="tr-TR" sz="1600" dirty="0">
                <a:latin typeface="Arial Narrow" panose="020B0606020202030204" pitchFamily="34" charset="0"/>
              </a:rPr>
              <a:t> </a:t>
            </a:r>
            <a:r>
              <a:rPr lang="tr-TR" sz="1600" dirty="0" err="1">
                <a:latin typeface="Arial Narrow" panose="020B0606020202030204" pitchFamily="34" charset="0"/>
              </a:rPr>
              <a:t>are</a:t>
            </a:r>
            <a:r>
              <a:rPr lang="tr-TR" sz="1600" dirty="0">
                <a:latin typeface="Arial Narrow" panose="020B0606020202030204" pitchFamily="34" charset="0"/>
              </a:rPr>
              <a:t> </a:t>
            </a:r>
            <a:r>
              <a:rPr lang="tr-TR" sz="1600" dirty="0" err="1" smtClean="0">
                <a:latin typeface="Arial Narrow" panose="020B0606020202030204" pitchFamily="34" charset="0"/>
              </a:rPr>
              <a:t>held</a:t>
            </a:r>
            <a:r>
              <a:rPr lang="tr-TR" sz="1600" dirty="0" smtClean="0">
                <a:latin typeface="Arial Narrow" panose="020B0606020202030204" pitchFamily="34" charset="0"/>
              </a:rPr>
              <a:t>.</a:t>
            </a:r>
          </a:p>
          <a:p>
            <a:pPr marL="0" indent="0" algn="ctr">
              <a:spcBef>
                <a:spcPts val="0"/>
              </a:spcBef>
              <a:buNone/>
            </a:pPr>
            <a:r>
              <a:rPr lang="tr-TR" sz="1600" dirty="0" smtClean="0">
                <a:latin typeface="Arial Narrow" panose="020B0606020202030204" pitchFamily="34" charset="0"/>
              </a:rPr>
              <a:t>Product </a:t>
            </a:r>
            <a:r>
              <a:rPr lang="tr-TR" sz="1600" dirty="0">
                <a:latin typeface="Arial Narrow" panose="020B0606020202030204" pitchFamily="34" charset="0"/>
              </a:rPr>
              <a:t>B is </a:t>
            </a:r>
            <a:r>
              <a:rPr lang="tr-TR" sz="1600" dirty="0" err="1">
                <a:latin typeface="Arial Narrow" panose="020B0606020202030204" pitchFamily="34" charset="0"/>
              </a:rPr>
              <a:t>supllied</a:t>
            </a:r>
            <a:r>
              <a:rPr lang="tr-TR" sz="1600" dirty="0">
                <a:latin typeface="Arial Narrow" panose="020B0606020202030204" pitchFamily="34" charset="0"/>
              </a:rPr>
              <a:t> in </a:t>
            </a:r>
            <a:r>
              <a:rPr lang="tr-TR" sz="1600" dirty="0" err="1">
                <a:latin typeface="Arial Narrow" panose="020B0606020202030204" pitchFamily="34" charset="0"/>
              </a:rPr>
              <a:t>relatively</a:t>
            </a:r>
            <a:r>
              <a:rPr lang="tr-TR" sz="1600" dirty="0">
                <a:latin typeface="Arial Narrow" panose="020B0606020202030204" pitchFamily="34" charset="0"/>
              </a:rPr>
              <a:t> </a:t>
            </a:r>
            <a:r>
              <a:rPr lang="tr-TR" sz="1600" dirty="0" err="1">
                <a:latin typeface="Arial Narrow" panose="020B0606020202030204" pitchFamily="34" charset="0"/>
              </a:rPr>
              <a:t>large</a:t>
            </a:r>
            <a:r>
              <a:rPr lang="tr-TR" sz="1600" dirty="0">
                <a:latin typeface="Arial Narrow" panose="020B0606020202030204" pitchFamily="34" charset="0"/>
              </a:rPr>
              <a:t> </a:t>
            </a:r>
            <a:r>
              <a:rPr lang="tr-TR" sz="1600" dirty="0" err="1">
                <a:latin typeface="Arial Narrow" panose="020B0606020202030204" pitchFamily="34" charset="0"/>
              </a:rPr>
              <a:t>quantities</a:t>
            </a:r>
            <a:r>
              <a:rPr lang="tr-TR" sz="1600" dirty="0">
                <a:latin typeface="Arial Narrow" panose="020B0606020202030204" pitchFamily="34" charset="0"/>
              </a:rPr>
              <a:t> </a:t>
            </a:r>
            <a:r>
              <a:rPr lang="tr-TR" sz="1600" dirty="0" err="1" smtClean="0">
                <a:latin typeface="Arial Narrow" panose="020B0606020202030204" pitchFamily="34" charset="0"/>
              </a:rPr>
              <a:t>instantly</a:t>
            </a:r>
            <a:r>
              <a:rPr lang="tr-TR" sz="1600" dirty="0" smtClean="0">
                <a:latin typeface="Arial Narrow" panose="020B0606020202030204" pitchFamily="34" charset="0"/>
              </a:rPr>
              <a:t>. As </a:t>
            </a:r>
            <a:r>
              <a:rPr lang="tr-TR" sz="1600" dirty="0">
                <a:latin typeface="Arial Narrow" panose="020B0606020202030204" pitchFamily="34" charset="0"/>
              </a:rPr>
              <a:t>a </a:t>
            </a:r>
            <a:r>
              <a:rPr lang="tr-TR" sz="1600" dirty="0" err="1" smtClean="0">
                <a:latin typeface="Arial Narrow" panose="020B0606020202030204" pitchFamily="34" charset="0"/>
              </a:rPr>
              <a:t>consequence</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much</a:t>
            </a:r>
            <a:r>
              <a:rPr lang="tr-TR" sz="1600" dirty="0" smtClean="0">
                <a:latin typeface="Arial Narrow" panose="020B0606020202030204" pitchFamily="34" charset="0"/>
              </a:rPr>
              <a:t> </a:t>
            </a:r>
            <a:r>
              <a:rPr lang="tr-TR" sz="1600" dirty="0">
                <a:latin typeface="Arial Narrow" panose="020B0606020202030204" pitchFamily="34" charset="0"/>
              </a:rPr>
              <a:t>of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finished</a:t>
            </a:r>
            <a:r>
              <a:rPr lang="tr-TR" sz="1600" dirty="0">
                <a:latin typeface="Arial Narrow" panose="020B0606020202030204" pitchFamily="34" charset="0"/>
              </a:rPr>
              <a:t> </a:t>
            </a:r>
            <a:r>
              <a:rPr lang="tr-TR" sz="1600" dirty="0" err="1">
                <a:latin typeface="Arial Narrow" panose="020B0606020202030204" pitchFamily="34" charset="0"/>
              </a:rPr>
              <a:t>goods</a:t>
            </a:r>
            <a:r>
              <a:rPr lang="tr-TR" sz="1600" dirty="0">
                <a:latin typeface="Arial Narrow" panose="020B0606020202030204" pitchFamily="34" charset="0"/>
              </a:rPr>
              <a:t> </a:t>
            </a:r>
            <a:r>
              <a:rPr lang="tr-TR" sz="1600" dirty="0" err="1">
                <a:latin typeface="Arial Narrow" panose="020B0606020202030204" pitchFamily="34" charset="0"/>
              </a:rPr>
              <a:t>stores</a:t>
            </a:r>
            <a:r>
              <a:rPr lang="tr-TR" sz="1600" dirty="0">
                <a:latin typeface="Arial Narrow" panose="020B0606020202030204" pitchFamily="34" charset="0"/>
              </a:rPr>
              <a:t> is </a:t>
            </a:r>
            <a:r>
              <a:rPr lang="tr-TR" sz="1600" dirty="0" err="1">
                <a:latin typeface="Arial Narrow" panose="020B0606020202030204" pitchFamily="34" charset="0"/>
              </a:rPr>
              <a:t>filled</a:t>
            </a:r>
            <a:r>
              <a:rPr lang="tr-TR" sz="1600" dirty="0">
                <a:latin typeface="Arial Narrow" panose="020B0606020202030204" pitchFamily="34" charset="0"/>
              </a:rPr>
              <a:t> </a:t>
            </a:r>
            <a:r>
              <a:rPr lang="tr-TR" sz="1600" dirty="0" err="1">
                <a:latin typeface="Arial Narrow" panose="020B0606020202030204" pitchFamily="34" charset="0"/>
              </a:rPr>
              <a:t>with</a:t>
            </a:r>
            <a:r>
              <a:rPr lang="tr-TR" sz="1600" dirty="0">
                <a:latin typeface="Arial Narrow" panose="020B0606020202030204" pitchFamily="34" charset="0"/>
              </a:rPr>
              <a:t> Product B </a:t>
            </a:r>
            <a:r>
              <a:rPr lang="tr-TR" sz="1600" dirty="0" err="1">
                <a:latin typeface="Arial Narrow" panose="020B0606020202030204" pitchFamily="34" charset="0"/>
              </a:rPr>
              <a:t>ready</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be </a:t>
            </a:r>
            <a:r>
              <a:rPr lang="tr-TR" sz="1600" dirty="0" err="1">
                <a:latin typeface="Arial Narrow" panose="020B0606020202030204" pitchFamily="34" charset="0"/>
              </a:rPr>
              <a:t>dispatched</a:t>
            </a:r>
            <a:r>
              <a:rPr lang="tr-TR" sz="1600" dirty="0">
                <a:latin typeface="Arial Narrow" panose="020B0606020202030204" pitchFamily="34" charset="0"/>
              </a:rPr>
              <a:t> as an </a:t>
            </a:r>
            <a:r>
              <a:rPr lang="tr-TR" sz="1600" dirty="0" err="1">
                <a:latin typeface="Arial Narrow" panose="020B0606020202030204" pitchFamily="34" charset="0"/>
              </a:rPr>
              <a:t>order</a:t>
            </a:r>
            <a:r>
              <a:rPr lang="tr-TR" sz="1600" dirty="0">
                <a:latin typeface="Arial Narrow" panose="020B0606020202030204" pitchFamily="34" charset="0"/>
              </a:rPr>
              <a:t> is </a:t>
            </a:r>
            <a:r>
              <a:rPr lang="tr-TR" sz="1600" dirty="0" err="1" smtClean="0">
                <a:latin typeface="Arial Narrow" panose="020B0606020202030204" pitchFamily="34" charset="0"/>
              </a:rPr>
              <a:t>received</a:t>
            </a:r>
            <a:r>
              <a:rPr lang="tr-TR" sz="1600" dirty="0" smtClean="0">
                <a:latin typeface="Arial Narrow" panose="020B0606020202030204" pitchFamily="34" charset="0"/>
              </a:rPr>
              <a:t>.</a:t>
            </a:r>
          </a:p>
          <a:p>
            <a:pPr marL="0" indent="0" algn="ctr">
              <a:spcBef>
                <a:spcPts val="0"/>
              </a:spcBef>
              <a:buNone/>
            </a:pPr>
            <a:endParaRPr lang="tr-TR" sz="8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Traditionally</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cost</a:t>
            </a:r>
            <a:r>
              <a:rPr lang="tr-TR" sz="1600" dirty="0">
                <a:latin typeface="Arial Narrow" panose="020B0606020202030204" pitchFamily="34" charset="0"/>
              </a:rPr>
              <a:t> of of </a:t>
            </a:r>
            <a:r>
              <a:rPr lang="tr-TR" sz="1600" dirty="0" err="1">
                <a:latin typeface="Arial Narrow" panose="020B0606020202030204" pitchFamily="34" charset="0"/>
              </a:rPr>
              <a:t>operationg</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stores</a:t>
            </a:r>
            <a:r>
              <a:rPr lang="tr-TR" sz="1600" dirty="0">
                <a:latin typeface="Arial Narrow" panose="020B0606020202030204" pitchFamily="34" charset="0"/>
              </a:rPr>
              <a:t> (an </a:t>
            </a:r>
            <a:r>
              <a:rPr lang="tr-TR" sz="1600" dirty="0" err="1">
                <a:latin typeface="Arial Narrow" panose="020B0606020202030204" pitchFamily="34" charset="0"/>
              </a:rPr>
              <a:t>overhead</a:t>
            </a:r>
            <a:r>
              <a:rPr lang="tr-TR" sz="1600" dirty="0">
                <a:latin typeface="Arial Narrow" panose="020B0606020202030204" pitchFamily="34" charset="0"/>
              </a:rPr>
              <a:t> </a:t>
            </a:r>
            <a:r>
              <a:rPr lang="tr-TR" sz="1600" dirty="0" err="1">
                <a:latin typeface="Arial Narrow" panose="020B0606020202030204" pitchFamily="34" charset="0"/>
              </a:rPr>
              <a:t>cost</a:t>
            </a:r>
            <a:r>
              <a:rPr lang="tr-TR" sz="1600" dirty="0">
                <a:latin typeface="Arial Narrow" panose="020B0606020202030204" pitchFamily="34" charset="0"/>
              </a:rPr>
              <a:t>) </a:t>
            </a:r>
            <a:r>
              <a:rPr lang="tr-TR" sz="1600" dirty="0" err="1">
                <a:latin typeface="Arial Narrow" panose="020B0606020202030204" pitchFamily="34" charset="0"/>
              </a:rPr>
              <a:t>are</a:t>
            </a:r>
            <a:r>
              <a:rPr lang="tr-TR" sz="1600" dirty="0">
                <a:latin typeface="Arial Narrow" panose="020B0606020202030204" pitchFamily="34" charset="0"/>
              </a:rPr>
              <a:t> </a:t>
            </a:r>
            <a:r>
              <a:rPr lang="tr-TR" sz="1600" dirty="0" err="1">
                <a:latin typeface="Arial Narrow" panose="020B0606020202030204" pitchFamily="34" charset="0"/>
              </a:rPr>
              <a:t>allocated</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products</a:t>
            </a:r>
            <a:r>
              <a:rPr lang="tr-TR" sz="1600" dirty="0">
                <a:latin typeface="Arial Narrow" panose="020B0606020202030204" pitchFamily="34" charset="0"/>
              </a:rPr>
              <a:t> A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smtClean="0">
                <a:latin typeface="Arial Narrow" panose="020B0606020202030204" pitchFamily="34" charset="0"/>
              </a:rPr>
              <a:t>B</a:t>
            </a:r>
          </a:p>
          <a:p>
            <a:pPr marL="0" indent="0" algn="ctr">
              <a:spcBef>
                <a:spcPts val="0"/>
              </a:spcBef>
              <a:buNone/>
            </a:pPr>
            <a:r>
              <a:rPr lang="tr-TR" sz="1600" dirty="0" err="1" smtClean="0">
                <a:latin typeface="Arial Narrow" panose="020B0606020202030204" pitchFamily="34" charset="0"/>
              </a:rPr>
              <a:t>according</a:t>
            </a:r>
            <a:r>
              <a:rPr lang="tr-TR" sz="1600" dirty="0" smtClean="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number</a:t>
            </a:r>
            <a:r>
              <a:rPr lang="tr-TR" sz="1600" dirty="0">
                <a:latin typeface="Arial Narrow" panose="020B0606020202030204" pitchFamily="34" charset="0"/>
              </a:rPr>
              <a:t> of </a:t>
            </a:r>
            <a:r>
              <a:rPr lang="tr-TR" sz="1600" dirty="0" err="1">
                <a:latin typeface="Arial Narrow" panose="020B0606020202030204" pitchFamily="34" charset="0"/>
              </a:rPr>
              <a:t>direct</a:t>
            </a:r>
            <a:r>
              <a:rPr lang="tr-TR" sz="1600" dirty="0">
                <a:latin typeface="Arial Narrow" panose="020B0606020202030204" pitchFamily="34" charset="0"/>
              </a:rPr>
              <a:t> </a:t>
            </a:r>
            <a:r>
              <a:rPr lang="tr-TR" sz="1600" dirty="0" err="1">
                <a:latin typeface="Arial Narrow" panose="020B0606020202030204" pitchFamily="34" charset="0"/>
              </a:rPr>
              <a:t>labour</a:t>
            </a:r>
            <a:r>
              <a:rPr lang="tr-TR" sz="1600" dirty="0">
                <a:latin typeface="Arial Narrow" panose="020B0606020202030204" pitchFamily="34" charset="0"/>
              </a:rPr>
              <a:t> </a:t>
            </a:r>
            <a:r>
              <a:rPr lang="tr-TR" sz="1600" dirty="0" err="1">
                <a:latin typeface="Arial Narrow" panose="020B0606020202030204" pitchFamily="34" charset="0"/>
              </a:rPr>
              <a:t>hours</a:t>
            </a:r>
            <a:r>
              <a:rPr lang="tr-TR" sz="1600" dirty="0">
                <a:latin typeface="Arial Narrow" panose="020B0606020202030204" pitchFamily="34" charset="0"/>
              </a:rPr>
              <a:t> </a:t>
            </a:r>
            <a:r>
              <a:rPr lang="tr-TR" sz="1600" dirty="0" err="1">
                <a:latin typeface="Arial Narrow" panose="020B0606020202030204" pitchFamily="34" charset="0"/>
              </a:rPr>
              <a:t>worked</a:t>
            </a:r>
            <a:r>
              <a:rPr lang="tr-TR" sz="1600" dirty="0">
                <a:latin typeface="Arial Narrow" panose="020B0606020202030204" pitchFamily="34" charset="0"/>
              </a:rPr>
              <a:t> on </a:t>
            </a:r>
            <a:r>
              <a:rPr lang="tr-TR" sz="1600" dirty="0" err="1">
                <a:latin typeface="Arial Narrow" panose="020B0606020202030204" pitchFamily="34" charset="0"/>
              </a:rPr>
              <a:t>each</a:t>
            </a:r>
            <a:r>
              <a:rPr lang="tr-TR" sz="1600" dirty="0">
                <a:latin typeface="Arial Narrow" panose="020B0606020202030204" pitchFamily="34" charset="0"/>
              </a:rPr>
              <a:t> </a:t>
            </a:r>
            <a:r>
              <a:rPr lang="tr-TR" sz="1600" dirty="0" err="1" smtClean="0">
                <a:latin typeface="Arial Narrow" panose="020B0606020202030204" pitchFamily="34" charset="0"/>
              </a:rPr>
              <a:t>one</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And</a:t>
            </a:r>
            <a:r>
              <a:rPr lang="tr-TR" sz="1600" dirty="0">
                <a:latin typeface="Arial Narrow" panose="020B0606020202030204" pitchFamily="34" charset="0"/>
              </a:rPr>
              <a:t>, </a:t>
            </a:r>
            <a:r>
              <a:rPr lang="tr-TR" sz="1600" dirty="0" err="1">
                <a:latin typeface="Arial Narrow" panose="020B0606020202030204" pitchFamily="34" charset="0"/>
              </a:rPr>
              <a:t>that</a:t>
            </a:r>
            <a:r>
              <a:rPr lang="tr-TR" sz="1600" dirty="0">
                <a:latin typeface="Arial Narrow" panose="020B0606020202030204" pitchFamily="34" charset="0"/>
              </a:rPr>
              <a:t> </a:t>
            </a:r>
            <a:r>
              <a:rPr lang="tr-TR" sz="1600" dirty="0" err="1">
                <a:latin typeface="Arial Narrow" panose="020B0606020202030204" pitchFamily="34" charset="0"/>
              </a:rPr>
              <a:t>did</a:t>
            </a:r>
            <a:r>
              <a:rPr lang="tr-TR" sz="1600" dirty="0">
                <a:latin typeface="Arial Narrow" panose="020B0606020202030204" pitchFamily="34" charset="0"/>
              </a:rPr>
              <a:t> not </a:t>
            </a:r>
            <a:r>
              <a:rPr lang="tr-TR" sz="1600" dirty="0" err="1">
                <a:latin typeface="Arial Narrow" panose="020B0606020202030204" pitchFamily="34" charset="0"/>
              </a:rPr>
              <a:t>seem</a:t>
            </a:r>
            <a:r>
              <a:rPr lang="tr-TR" sz="1600" dirty="0">
                <a:latin typeface="Arial Narrow" panose="020B0606020202030204" pitchFamily="34" charset="0"/>
              </a:rPr>
              <a:t> </a:t>
            </a:r>
            <a:r>
              <a:rPr lang="tr-TR" sz="1600" dirty="0" err="1">
                <a:latin typeface="Arial Narrow" panose="020B0606020202030204" pitchFamily="34" charset="0"/>
              </a:rPr>
              <a:t>fair</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new</a:t>
            </a:r>
            <a:r>
              <a:rPr lang="tr-TR" sz="1600" dirty="0">
                <a:latin typeface="Arial Narrow" panose="020B0606020202030204" pitchFamily="34" charset="0"/>
              </a:rPr>
              <a:t> </a:t>
            </a:r>
            <a:r>
              <a:rPr lang="tr-TR" sz="1600" dirty="0" err="1">
                <a:latin typeface="Arial Narrow" panose="020B0606020202030204" pitchFamily="34" charset="0"/>
              </a:rPr>
              <a:t>accountant</a:t>
            </a:r>
            <a:r>
              <a:rPr lang="tr-TR" sz="1600" dirty="0">
                <a:latin typeface="Arial Narrow" panose="020B0606020202030204" pitchFamily="34" charset="0"/>
              </a:rPr>
              <a:t> Modern </a:t>
            </a:r>
            <a:r>
              <a:rPr lang="tr-TR" sz="1600" dirty="0" err="1">
                <a:latin typeface="Arial Narrow" panose="020B0606020202030204" pitchFamily="34" charset="0"/>
              </a:rPr>
              <a:t>Producers</a:t>
            </a:r>
            <a:r>
              <a:rPr lang="tr-TR" sz="1600" dirty="0">
                <a:latin typeface="Arial Narrow" panose="020B0606020202030204" pitchFamily="34" charset="0"/>
              </a:rPr>
              <a:t> Ltd.</a:t>
            </a:r>
          </a:p>
          <a:p>
            <a:pPr marL="0" indent="0" algn="ctr">
              <a:spcBef>
                <a:spcPts val="0"/>
              </a:spcBef>
              <a:buNone/>
            </a:pPr>
            <a:r>
              <a:rPr lang="tr-TR" sz="1600" dirty="0">
                <a:solidFill>
                  <a:srgbClr val="000066"/>
                </a:solidFill>
                <a:latin typeface="Arial Narrow" panose="020B0606020202030204" pitchFamily="34" charset="0"/>
              </a:rPr>
              <a:t> </a:t>
            </a:r>
          </a:p>
          <a:p>
            <a:pPr marL="0" indent="0" algn="ctr">
              <a:spcBef>
                <a:spcPts val="0"/>
              </a:spcBef>
              <a:buNone/>
            </a:pPr>
            <a:r>
              <a:rPr lang="tr-TR" sz="1600" dirty="0">
                <a:solidFill>
                  <a:srgbClr val="000066"/>
                </a:solidFill>
                <a:latin typeface="Arial Narrow" panose="020B0606020202030204" pitchFamily="34" charset="0"/>
              </a:rPr>
              <a:t>He </a:t>
            </a:r>
            <a:r>
              <a:rPr lang="tr-TR" sz="1600" dirty="0" err="1">
                <a:solidFill>
                  <a:srgbClr val="000066"/>
                </a:solidFill>
                <a:latin typeface="Arial Narrow" panose="020B0606020202030204" pitchFamily="34" charset="0"/>
              </a:rPr>
              <a:t>estimated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that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costs</a:t>
            </a:r>
            <a:r>
              <a:rPr lang="tr-TR" sz="1600" dirty="0">
                <a:solidFill>
                  <a:srgbClr val="000066"/>
                </a:solidFill>
                <a:latin typeface="Arial Narrow" panose="020B0606020202030204" pitchFamily="34" charset="0"/>
              </a:rPr>
              <a:t> of </a:t>
            </a:r>
            <a:r>
              <a:rPr lang="tr-TR" sz="1600" dirty="0" err="1">
                <a:solidFill>
                  <a:srgbClr val="000066"/>
                </a:solidFill>
                <a:latin typeface="Arial Narrow" panose="020B0606020202030204" pitchFamily="34" charset="0"/>
              </a:rPr>
              <a:t>running</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finished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goods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stores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for</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next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year</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will</a:t>
            </a:r>
            <a:r>
              <a:rPr lang="tr-TR" sz="1600" dirty="0">
                <a:solidFill>
                  <a:srgbClr val="000066"/>
                </a:solidFill>
                <a:latin typeface="Arial Narrow" panose="020B0606020202030204" pitchFamily="34" charset="0"/>
              </a:rPr>
              <a:t> be 90,000</a:t>
            </a:r>
            <a:r>
              <a:rPr lang="tr-TR" sz="1600" dirty="0" smtClean="0">
                <a:solidFill>
                  <a:srgbClr val="000066"/>
                </a:solidFill>
                <a:latin typeface="Arial Narrow" panose="020B0606020202030204" pitchFamily="34" charset="0"/>
              </a:rPr>
              <a:t>$.</a:t>
            </a:r>
          </a:p>
          <a:p>
            <a:pPr marL="0" indent="0" algn="ctr">
              <a:spcBef>
                <a:spcPts val="0"/>
              </a:spcBef>
              <a:buNone/>
            </a:pPr>
            <a:endParaRPr lang="tr-TR" sz="800" dirty="0" smtClean="0">
              <a:solidFill>
                <a:srgbClr val="000066"/>
              </a:solidFill>
              <a:latin typeface="Arial Narrow" panose="020B0606020202030204" pitchFamily="34" charset="0"/>
            </a:endParaRPr>
          </a:p>
          <a:p>
            <a:pPr marL="0" indent="0" algn="ctr">
              <a:spcBef>
                <a:spcPts val="0"/>
              </a:spcBef>
              <a:buNone/>
            </a:pPr>
            <a:r>
              <a:rPr lang="tr-TR" sz="1600" dirty="0" err="1" smtClean="0">
                <a:solidFill>
                  <a:srgbClr val="000066"/>
                </a:solidFill>
                <a:latin typeface="Arial Narrow" panose="020B0606020202030204" pitchFamily="34" charset="0"/>
              </a:rPr>
              <a:t>It</a:t>
            </a:r>
            <a:r>
              <a:rPr lang="tr-TR" sz="1600" dirty="0" smtClean="0">
                <a:solidFill>
                  <a:srgbClr val="000066"/>
                </a:solidFill>
                <a:latin typeface="Arial Narrow" panose="020B0606020202030204" pitchFamily="34" charset="0"/>
              </a:rPr>
              <a:t> </a:t>
            </a:r>
            <a:r>
              <a:rPr lang="tr-TR" sz="1600" dirty="0">
                <a:solidFill>
                  <a:srgbClr val="000066"/>
                </a:solidFill>
                <a:latin typeface="Arial Narrow" panose="020B0606020202030204" pitchFamily="34" charset="0"/>
              </a:rPr>
              <a:t>is </a:t>
            </a:r>
            <a:r>
              <a:rPr lang="tr-TR" sz="1600" dirty="0" err="1">
                <a:solidFill>
                  <a:srgbClr val="000066"/>
                </a:solidFill>
                <a:latin typeface="Arial Narrow" panose="020B0606020202030204" pitchFamily="34" charset="0"/>
              </a:rPr>
              <a:t>also</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estimated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that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each</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unit</a:t>
            </a:r>
            <a:r>
              <a:rPr lang="tr-TR" sz="1600" dirty="0">
                <a:solidFill>
                  <a:srgbClr val="000066"/>
                </a:solidFill>
                <a:latin typeface="Arial Narrow" panose="020B0606020202030204" pitchFamily="34" charset="0"/>
              </a:rPr>
              <a:t> of Product A </a:t>
            </a:r>
            <a:r>
              <a:rPr lang="tr-TR" sz="1600" dirty="0" err="1">
                <a:solidFill>
                  <a:srgbClr val="000066"/>
                </a:solidFill>
                <a:latin typeface="Arial Narrow" panose="020B0606020202030204" pitchFamily="34" charset="0"/>
              </a:rPr>
              <a:t>will</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spend</a:t>
            </a:r>
            <a:r>
              <a:rPr lang="tr-TR" sz="1600" dirty="0">
                <a:solidFill>
                  <a:srgbClr val="000066"/>
                </a:solidFill>
                <a:latin typeface="Arial Narrow" panose="020B0606020202030204" pitchFamily="34" charset="0"/>
              </a:rPr>
              <a:t> an </a:t>
            </a:r>
            <a:r>
              <a:rPr lang="tr-TR" sz="1600" dirty="0" err="1">
                <a:solidFill>
                  <a:srgbClr val="000066"/>
                </a:solidFill>
                <a:latin typeface="Arial Narrow" panose="020B0606020202030204" pitchFamily="34" charset="0"/>
              </a:rPr>
              <a:t>average</a:t>
            </a:r>
            <a:r>
              <a:rPr lang="tr-TR" sz="1600" dirty="0">
                <a:solidFill>
                  <a:srgbClr val="000066"/>
                </a:solidFill>
                <a:latin typeface="Arial Narrow" panose="020B0606020202030204" pitchFamily="34" charset="0"/>
              </a:rPr>
              <a:t> of </a:t>
            </a:r>
            <a:r>
              <a:rPr lang="tr-TR" sz="1600" dirty="0" smtClean="0">
                <a:solidFill>
                  <a:srgbClr val="000066"/>
                </a:solidFill>
                <a:latin typeface="Arial Narrow" panose="020B0606020202030204" pitchFamily="34" charset="0"/>
              </a:rPr>
              <a:t>1 </a:t>
            </a:r>
            <a:r>
              <a:rPr lang="tr-TR" sz="1600" dirty="0" err="1">
                <a:solidFill>
                  <a:srgbClr val="000066"/>
                </a:solidFill>
                <a:latin typeface="Arial Narrow" panose="020B0606020202030204" pitchFamily="34" charset="0"/>
              </a:rPr>
              <a:t>week</a:t>
            </a:r>
            <a:r>
              <a:rPr lang="tr-TR" sz="1600" dirty="0">
                <a:solidFill>
                  <a:srgbClr val="000066"/>
                </a:solidFill>
                <a:latin typeface="Arial Narrow" panose="020B0606020202030204" pitchFamily="34" charset="0"/>
              </a:rPr>
              <a:t> in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stores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before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being</a:t>
            </a:r>
            <a:r>
              <a:rPr lang="tr-TR" sz="1600" dirty="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sold</a:t>
            </a:r>
            <a:r>
              <a:rPr lang="tr-TR" sz="1600" dirty="0" smtClean="0">
                <a:solidFill>
                  <a:srgbClr val="000066"/>
                </a:solidFill>
                <a:latin typeface="Arial Narrow" panose="020B0606020202030204" pitchFamily="34" charset="0"/>
              </a:rPr>
              <a:t>.</a:t>
            </a:r>
          </a:p>
          <a:p>
            <a:pPr marL="0" indent="0" algn="ctr">
              <a:spcBef>
                <a:spcPts val="0"/>
              </a:spcBef>
              <a:buNone/>
            </a:pPr>
            <a:r>
              <a:rPr lang="tr-TR" sz="1600" dirty="0" err="1" smtClean="0">
                <a:solidFill>
                  <a:srgbClr val="000066"/>
                </a:solidFill>
                <a:latin typeface="Arial Narrow" panose="020B0606020202030204" pitchFamily="34" charset="0"/>
              </a:rPr>
              <a:t>With</a:t>
            </a:r>
            <a:r>
              <a:rPr lang="tr-TR" sz="1600" dirty="0" smtClean="0">
                <a:solidFill>
                  <a:srgbClr val="000066"/>
                </a:solidFill>
                <a:latin typeface="Arial Narrow" panose="020B0606020202030204" pitchFamily="34" charset="0"/>
              </a:rPr>
              <a:t> </a:t>
            </a:r>
            <a:r>
              <a:rPr lang="tr-TR" sz="1600" dirty="0">
                <a:solidFill>
                  <a:srgbClr val="000066"/>
                </a:solidFill>
                <a:latin typeface="Arial Narrow" panose="020B0606020202030204" pitchFamily="34" charset="0"/>
              </a:rPr>
              <a:t>Product B,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equivalent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period</a:t>
            </a:r>
            <a:r>
              <a:rPr lang="tr-TR" sz="1600" dirty="0">
                <a:solidFill>
                  <a:srgbClr val="000066"/>
                </a:solidFill>
                <a:latin typeface="Arial Narrow" panose="020B0606020202030204" pitchFamily="34" charset="0"/>
              </a:rPr>
              <a:t> is </a:t>
            </a:r>
            <a:r>
              <a:rPr lang="tr-TR" sz="1600" dirty="0" smtClean="0">
                <a:solidFill>
                  <a:srgbClr val="000066"/>
                </a:solidFill>
                <a:latin typeface="Arial Narrow" panose="020B0606020202030204" pitchFamily="34" charset="0"/>
              </a:rPr>
              <a:t>4 </a:t>
            </a:r>
            <a:r>
              <a:rPr lang="tr-TR" sz="1600" dirty="0" err="1" smtClean="0">
                <a:solidFill>
                  <a:srgbClr val="000066"/>
                </a:solidFill>
                <a:latin typeface="Arial Narrow" panose="020B0606020202030204" pitchFamily="34" charset="0"/>
              </a:rPr>
              <a:t>weeks</a:t>
            </a:r>
            <a:r>
              <a:rPr lang="tr-TR" sz="1600" dirty="0" smtClean="0">
                <a:solidFill>
                  <a:srgbClr val="000066"/>
                </a:solidFill>
                <a:latin typeface="Arial Narrow" panose="020B0606020202030204" pitchFamily="34" charset="0"/>
              </a:rPr>
              <a:t>.</a:t>
            </a:r>
          </a:p>
          <a:p>
            <a:pPr marL="0" indent="0" algn="ctr">
              <a:spcBef>
                <a:spcPts val="0"/>
              </a:spcBef>
              <a:buNone/>
            </a:pPr>
            <a:r>
              <a:rPr lang="tr-TR" sz="1600" dirty="0" err="1" smtClean="0">
                <a:solidFill>
                  <a:srgbClr val="000066"/>
                </a:solidFill>
                <a:latin typeface="Arial Narrow" panose="020B0606020202030204" pitchFamily="34" charset="0"/>
              </a:rPr>
              <a:t>Both</a:t>
            </a:r>
            <a:r>
              <a:rPr lang="tr-TR" sz="1600" dirty="0" smtClean="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products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are</a:t>
            </a:r>
            <a:r>
              <a:rPr lang="tr-TR" sz="1600" dirty="0">
                <a:solidFill>
                  <a:srgbClr val="000066"/>
                </a:solidFill>
                <a:latin typeface="Arial Narrow" panose="020B0606020202030204" pitchFamily="34" charset="0"/>
              </a:rPr>
              <a:t> of </a:t>
            </a:r>
            <a:r>
              <a:rPr lang="tr-TR" sz="1600" dirty="0" err="1">
                <a:solidFill>
                  <a:srgbClr val="000066"/>
                </a:solidFill>
                <a:latin typeface="Arial Narrow" panose="020B0606020202030204" pitchFamily="34" charset="0"/>
              </a:rPr>
              <a:t>roughly</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similar</a:t>
            </a:r>
            <a:r>
              <a:rPr lang="tr-TR" sz="1600" dirty="0">
                <a:solidFill>
                  <a:srgbClr val="000066"/>
                </a:solidFill>
                <a:latin typeface="Arial Narrow" panose="020B0606020202030204" pitchFamily="34" charset="0"/>
              </a:rPr>
              <a:t> size </a:t>
            </a:r>
            <a:r>
              <a:rPr lang="tr-TR" sz="1600" dirty="0" err="1">
                <a:solidFill>
                  <a:srgbClr val="000066"/>
                </a:solidFill>
                <a:latin typeface="Arial Narrow" panose="020B0606020202030204" pitchFamily="34" charset="0"/>
              </a:rPr>
              <a:t>and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have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very</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similar</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storage</a:t>
            </a:r>
            <a:r>
              <a:rPr lang="tr-TR" sz="1600" dirty="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needs</a:t>
            </a:r>
            <a:r>
              <a:rPr lang="tr-TR" sz="1600" dirty="0" smtClean="0">
                <a:solidFill>
                  <a:srgbClr val="000066"/>
                </a:solidFill>
                <a:latin typeface="Arial Narrow" panose="020B0606020202030204" pitchFamily="34" charset="0"/>
              </a:rPr>
              <a:t>.</a:t>
            </a:r>
          </a:p>
          <a:p>
            <a:pPr marL="0" indent="0" algn="ctr">
              <a:spcBef>
                <a:spcPts val="0"/>
              </a:spcBef>
              <a:buNone/>
            </a:pPr>
            <a:endParaRPr lang="tr-TR" sz="800" dirty="0" smtClean="0">
              <a:solidFill>
                <a:srgbClr val="000066"/>
              </a:solidFill>
              <a:latin typeface="Arial Narrow" panose="020B0606020202030204" pitchFamily="34" charset="0"/>
            </a:endParaRPr>
          </a:p>
          <a:p>
            <a:pPr marL="0" indent="0" algn="ctr">
              <a:spcBef>
                <a:spcPts val="0"/>
              </a:spcBef>
              <a:buNone/>
            </a:pPr>
            <a:r>
              <a:rPr lang="tr-TR" sz="1600" dirty="0" err="1" smtClean="0">
                <a:solidFill>
                  <a:srgbClr val="000066"/>
                </a:solidFill>
                <a:latin typeface="Arial Narrow" panose="020B0606020202030204" pitchFamily="34" charset="0"/>
              </a:rPr>
              <a:t>It</a:t>
            </a:r>
            <a:r>
              <a:rPr lang="tr-TR" sz="1600" dirty="0" smtClean="0">
                <a:solidFill>
                  <a:srgbClr val="000066"/>
                </a:solidFill>
                <a:latin typeface="Arial Narrow" panose="020B0606020202030204" pitchFamily="34" charset="0"/>
              </a:rPr>
              <a:t> </a:t>
            </a:r>
            <a:r>
              <a:rPr lang="tr-TR" sz="1600" dirty="0">
                <a:solidFill>
                  <a:srgbClr val="000066"/>
                </a:solidFill>
                <a:latin typeface="Arial Narrow" panose="020B0606020202030204" pitchFamily="34" charset="0"/>
              </a:rPr>
              <a:t>is </a:t>
            </a:r>
            <a:r>
              <a:rPr lang="tr-TR" sz="1600" dirty="0" err="1">
                <a:solidFill>
                  <a:srgbClr val="000066"/>
                </a:solidFill>
                <a:latin typeface="Arial Narrow" panose="020B0606020202030204" pitchFamily="34" charset="0"/>
              </a:rPr>
              <a:t>estimated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that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next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year</a:t>
            </a:r>
            <a:r>
              <a:rPr lang="tr-TR" sz="1600" dirty="0">
                <a:solidFill>
                  <a:srgbClr val="000066"/>
                </a:solidFill>
                <a:latin typeface="Arial Narrow" panose="020B0606020202030204" pitchFamily="34" charset="0"/>
              </a:rPr>
              <a:t> 50,000 </a:t>
            </a:r>
            <a:r>
              <a:rPr lang="tr-TR" sz="1600" dirty="0" err="1">
                <a:solidFill>
                  <a:srgbClr val="000066"/>
                </a:solidFill>
                <a:latin typeface="Arial Narrow" panose="020B0606020202030204" pitchFamily="34" charset="0"/>
              </a:rPr>
              <a:t>units</a:t>
            </a:r>
            <a:r>
              <a:rPr lang="tr-TR" sz="1600" dirty="0">
                <a:solidFill>
                  <a:srgbClr val="000066"/>
                </a:solidFill>
                <a:latin typeface="Arial Narrow" panose="020B0606020202030204" pitchFamily="34" charset="0"/>
              </a:rPr>
              <a:t> of Product A </a:t>
            </a:r>
            <a:r>
              <a:rPr lang="tr-TR" sz="1600" dirty="0" err="1">
                <a:solidFill>
                  <a:srgbClr val="000066"/>
                </a:solidFill>
                <a:latin typeface="Arial Narrow" panose="020B0606020202030204" pitchFamily="34" charset="0"/>
              </a:rPr>
              <a:t>and</a:t>
            </a:r>
            <a:r>
              <a:rPr lang="tr-TR" sz="1600" dirty="0">
                <a:solidFill>
                  <a:srgbClr val="000066"/>
                </a:solidFill>
                <a:latin typeface="Arial Narrow" panose="020B0606020202030204" pitchFamily="34" charset="0"/>
              </a:rPr>
              <a:t> 25,000 </a:t>
            </a:r>
            <a:r>
              <a:rPr lang="tr-TR" sz="1600" dirty="0" err="1">
                <a:solidFill>
                  <a:srgbClr val="000066"/>
                </a:solidFill>
                <a:latin typeface="Arial Narrow" panose="020B0606020202030204" pitchFamily="34" charset="0"/>
              </a:rPr>
              <a:t>units</a:t>
            </a:r>
            <a:r>
              <a:rPr lang="tr-TR" sz="1600" dirty="0">
                <a:solidFill>
                  <a:srgbClr val="000066"/>
                </a:solidFill>
                <a:latin typeface="Arial Narrow" panose="020B0606020202030204" pitchFamily="34" charset="0"/>
              </a:rPr>
              <a:t> of Product B </a:t>
            </a:r>
            <a:r>
              <a:rPr lang="tr-TR" sz="1600" dirty="0" err="1">
                <a:solidFill>
                  <a:srgbClr val="000066"/>
                </a:solidFill>
                <a:latin typeface="Arial Narrow" panose="020B0606020202030204" pitchFamily="34" charset="0"/>
              </a:rPr>
              <a:t>will</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pass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through</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stores</a:t>
            </a:r>
            <a:r>
              <a:rPr lang="tr-TR" sz="1600" dirty="0" smtClean="0">
                <a:solidFill>
                  <a:srgbClr val="000066"/>
                </a:solidFill>
                <a:latin typeface="Arial Narrow" panose="020B0606020202030204" pitchFamily="34" charset="0"/>
              </a:rPr>
              <a:t>.</a:t>
            </a:r>
          </a:p>
          <a:p>
            <a:pPr marL="0" indent="0" algn="ctr">
              <a:spcBef>
                <a:spcPts val="0"/>
              </a:spcBef>
              <a:buNone/>
            </a:pPr>
            <a:endParaRPr lang="tr-TR" sz="1600" dirty="0" smtClean="0">
              <a:solidFill>
                <a:srgbClr val="000066"/>
              </a:solidFill>
              <a:latin typeface="Arial Narrow" panose="020B0606020202030204" pitchFamily="34" charset="0"/>
            </a:endParaRPr>
          </a:p>
          <a:p>
            <a:pPr marL="0" indent="0" algn="ctr">
              <a:spcBef>
                <a:spcPts val="0"/>
              </a:spcBef>
              <a:buNone/>
            </a:pPr>
            <a:r>
              <a:rPr lang="tr-TR" sz="1600" dirty="0" err="1" smtClean="0">
                <a:solidFill>
                  <a:srgbClr val="000066"/>
                </a:solidFill>
                <a:latin typeface="Arial Narrow" panose="020B0606020202030204" pitchFamily="34" charset="0"/>
              </a:rPr>
              <a:t>The</a:t>
            </a:r>
            <a:r>
              <a:rPr lang="tr-TR" sz="1600" dirty="0" smtClean="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new</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accountant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wants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to</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allocate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overhead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cost</a:t>
            </a:r>
            <a:r>
              <a:rPr lang="tr-TR" sz="1600" dirty="0">
                <a:solidFill>
                  <a:srgbClr val="000066"/>
                </a:solidFill>
                <a:latin typeface="Arial Narrow" panose="020B0606020202030204" pitchFamily="34" charset="0"/>
              </a:rPr>
              <a:t> of </a:t>
            </a:r>
            <a:r>
              <a:rPr lang="tr-TR" sz="1600" dirty="0" err="1">
                <a:solidFill>
                  <a:srgbClr val="000066"/>
                </a:solidFill>
                <a:latin typeface="Arial Narrow" panose="020B0606020202030204" pitchFamily="34" charset="0"/>
              </a:rPr>
              <a:t>running</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finished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goods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stores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to</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products</a:t>
            </a:r>
            <a:r>
              <a:rPr lang="tr-TR" sz="1600" dirty="0">
                <a:solidFill>
                  <a:srgbClr val="000066"/>
                </a:solidFill>
                <a:latin typeface="Arial Narrow" panose="020B0606020202030204" pitchFamily="34" charset="0"/>
              </a:rPr>
              <a:t> A </a:t>
            </a:r>
            <a:r>
              <a:rPr lang="tr-TR" sz="1600" dirty="0" err="1">
                <a:solidFill>
                  <a:srgbClr val="000066"/>
                </a:solidFill>
                <a:latin typeface="Arial Narrow" panose="020B0606020202030204" pitchFamily="34" charset="0"/>
              </a:rPr>
              <a:t>and</a:t>
            </a:r>
            <a:r>
              <a:rPr lang="tr-TR" sz="1600" dirty="0">
                <a:solidFill>
                  <a:srgbClr val="000066"/>
                </a:solidFill>
                <a:latin typeface="Arial Narrow" panose="020B0606020202030204" pitchFamily="34" charset="0"/>
              </a:rPr>
              <a:t> </a:t>
            </a:r>
            <a:r>
              <a:rPr lang="tr-TR" sz="1600" dirty="0" smtClean="0">
                <a:solidFill>
                  <a:srgbClr val="000066"/>
                </a:solidFill>
                <a:latin typeface="Arial Narrow" panose="020B0606020202030204" pitchFamily="34" charset="0"/>
              </a:rPr>
              <a:t>B</a:t>
            </a:r>
          </a:p>
          <a:p>
            <a:pPr marL="0" indent="0" algn="ctr">
              <a:spcBef>
                <a:spcPts val="0"/>
              </a:spcBef>
              <a:buNone/>
            </a:pPr>
            <a:r>
              <a:rPr lang="tr-TR" sz="1600" dirty="0" err="1" smtClean="0">
                <a:solidFill>
                  <a:srgbClr val="000066"/>
                </a:solidFill>
                <a:latin typeface="Arial Narrow" panose="020B0606020202030204" pitchFamily="34" charset="0"/>
              </a:rPr>
              <a:t>according</a:t>
            </a:r>
            <a:r>
              <a:rPr lang="tr-TR" sz="1600" dirty="0" smtClean="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to</a:t>
            </a:r>
            <a:r>
              <a:rPr lang="tr-TR" sz="1600" dirty="0">
                <a:solidFill>
                  <a:srgbClr val="000066"/>
                </a:solidFill>
                <a:latin typeface="Arial Narrow" panose="020B0606020202030204" pitchFamily="34" charset="0"/>
              </a:rPr>
              <a:t> Activity-</a:t>
            </a:r>
            <a:r>
              <a:rPr lang="tr-TR" sz="1600" dirty="0" err="1">
                <a:solidFill>
                  <a:srgbClr val="000066"/>
                </a:solidFill>
                <a:latin typeface="Arial Narrow" panose="020B0606020202030204" pitchFamily="34" charset="0"/>
              </a:rPr>
              <a:t>Based</a:t>
            </a:r>
            <a:r>
              <a:rPr lang="tr-TR" sz="1600" dirty="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Costing</a:t>
            </a:r>
            <a:endParaRPr lang="tr-TR" sz="1600" dirty="0">
              <a:solidFill>
                <a:srgbClr val="000066"/>
              </a:solidFill>
              <a:latin typeface="Arial Narrow" panose="020B0606020202030204" pitchFamily="34" charset="0"/>
            </a:endParaRPr>
          </a:p>
          <a:p>
            <a:pPr marL="0" indent="0" algn="ctr">
              <a:spcBef>
                <a:spcPts val="0"/>
              </a:spcBef>
              <a:buNone/>
            </a:pPr>
            <a:r>
              <a:rPr lang="tr-TR" sz="1600" dirty="0" err="1" smtClean="0">
                <a:solidFill>
                  <a:srgbClr val="000066"/>
                </a:solidFill>
                <a:latin typeface="Arial Narrow" panose="020B0606020202030204" pitchFamily="34" charset="0"/>
              </a:rPr>
              <a:t>with</a:t>
            </a:r>
            <a:r>
              <a:rPr lang="tr-TR" sz="1600" dirty="0" smtClean="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quantity</a:t>
            </a:r>
            <a:r>
              <a:rPr lang="tr-TR" sz="1600" dirty="0">
                <a:solidFill>
                  <a:srgbClr val="000066"/>
                </a:solidFill>
                <a:latin typeface="Arial Narrow" panose="020B0606020202030204" pitchFamily="34" charset="0"/>
              </a:rPr>
              <a:t> of </a:t>
            </a:r>
            <a:r>
              <a:rPr lang="tr-TR" sz="1600" dirty="0" err="1">
                <a:solidFill>
                  <a:srgbClr val="000066"/>
                </a:solidFill>
                <a:latin typeface="Arial Narrow" panose="020B0606020202030204" pitchFamily="34" charset="0"/>
              </a:rPr>
              <a:t>products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and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time </a:t>
            </a:r>
            <a:r>
              <a:rPr lang="tr-TR" sz="1600" dirty="0" err="1">
                <a:solidFill>
                  <a:srgbClr val="000066"/>
                </a:solidFill>
                <a:latin typeface="Arial Narrow" panose="020B0606020202030204" pitchFamily="34" charset="0"/>
              </a:rPr>
              <a:t>spent</a:t>
            </a:r>
            <a:r>
              <a:rPr lang="tr-TR" sz="1600" dirty="0">
                <a:solidFill>
                  <a:srgbClr val="000066"/>
                </a:solidFill>
                <a:latin typeface="Arial Narrow" panose="020B0606020202030204" pitchFamily="34" charset="0"/>
              </a:rPr>
              <a:t> in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stores</a:t>
            </a:r>
            <a:r>
              <a:rPr lang="tr-TR" sz="1600" dirty="0">
                <a:solidFill>
                  <a:srgbClr val="000066"/>
                </a:solidFill>
                <a:latin typeface="Arial Narrow" panose="020B0606020202030204" pitchFamily="34" charset="0"/>
              </a:rPr>
              <a:t> as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cost</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drivers</a:t>
            </a:r>
            <a:r>
              <a:rPr lang="tr-TR" sz="1600" dirty="0">
                <a:solidFill>
                  <a:srgbClr val="000066"/>
                </a:solidFill>
                <a:latin typeface="Arial Narrow" panose="020B0606020202030204" pitchFamily="34" charset="0"/>
              </a:rPr>
              <a:t>.</a:t>
            </a:r>
            <a:endParaRPr lang="tr-TR" sz="1600" noProof="1" smtClean="0">
              <a:solidFill>
                <a:srgbClr val="000066"/>
              </a:solidFill>
              <a:latin typeface="Arial Narrow" panose="020B0606020202030204" pitchFamily="34" charset="0"/>
            </a:endParaRPr>
          </a:p>
        </p:txBody>
      </p:sp>
    </p:spTree>
    <p:extLst>
      <p:ext uri="{BB962C8B-B14F-4D97-AF65-F5344CB8AC3E}">
        <p14:creationId xmlns:p14="http://schemas.microsoft.com/office/powerpoint/2010/main" val="28422226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[4] Management Accounting</a:t>
            </a:r>
            <a:br>
              <a:rPr lang="tr-TR" sz="2400">
                <a:solidFill>
                  <a:srgbClr val="800000"/>
                </a:solidFill>
                <a:latin typeface="Arial Narrow" pitchFamily="34" charset="0"/>
              </a:rPr>
            </a:br>
            <a:r>
              <a:rPr lang="tr-TR" sz="2400" smtClean="0">
                <a:latin typeface="Arial Narrow" panose="020B0606020202030204" pitchFamily="34" charset="0"/>
              </a:rPr>
              <a:t>Activity-Based </a:t>
            </a:r>
            <a:r>
              <a:rPr lang="tr-TR" sz="2400">
                <a:latin typeface="Arial Narrow" panose="020B0606020202030204" pitchFamily="34" charset="0"/>
              </a:rPr>
              <a:t>Costing</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251520" y="1600200"/>
            <a:ext cx="8640960" cy="4925144"/>
          </a:xfrm>
          <a:ln w="25400">
            <a:noFill/>
          </a:ln>
        </p:spPr>
        <p:txBody>
          <a:bodyPr>
            <a:noAutofit/>
          </a:bodyPr>
          <a:lstStyle/>
          <a:p>
            <a:pPr marL="0" indent="0" algn="ctr">
              <a:spcBef>
                <a:spcPts val="0"/>
              </a:spcBef>
              <a:buNone/>
            </a:pPr>
            <a:r>
              <a:rPr lang="tr-TR" sz="1600">
                <a:latin typeface="Arial Narrow" panose="020B0606020202030204" pitchFamily="34" charset="0"/>
              </a:rPr>
              <a:t>The total number of "product weeks" in the stores will be:</a:t>
            </a: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1600">
              <a:latin typeface="Arial Narrow" panose="020B0606020202030204" pitchFamily="34" charset="0"/>
            </a:endParaRPr>
          </a:p>
          <a:p>
            <a:pPr marL="0" indent="0" algn="ctr">
              <a:spcBef>
                <a:spcPts val="0"/>
              </a:spcBef>
              <a:buNone/>
            </a:pPr>
            <a:endParaRPr lang="tr-TR" sz="2000" noProof="1">
              <a:latin typeface="Arial Narrow" panose="020B0606020202030204" pitchFamily="34" charset="0"/>
            </a:endParaRPr>
          </a:p>
          <a:p>
            <a:pPr marL="0" indent="0" algn="ctr">
              <a:spcBef>
                <a:spcPts val="0"/>
              </a:spcBef>
              <a:buNone/>
            </a:pPr>
            <a:endParaRPr lang="tr-TR" sz="1600" smtClean="0">
              <a:latin typeface="Arial Narrow" panose="020B0606020202030204" pitchFamily="34" charset="0"/>
            </a:endParaRPr>
          </a:p>
          <a:p>
            <a:pPr marL="0" indent="0" algn="ctr">
              <a:spcBef>
                <a:spcPts val="0"/>
              </a:spcBef>
              <a:buNone/>
            </a:pPr>
            <a:r>
              <a:rPr lang="tr-TR" sz="1600" smtClean="0">
                <a:latin typeface="Arial Narrow" panose="020B0606020202030204" pitchFamily="34" charset="0"/>
              </a:rPr>
              <a:t>The </a:t>
            </a:r>
            <a:r>
              <a:rPr lang="tr-TR" sz="1600">
                <a:latin typeface="Arial Narrow" panose="020B0606020202030204" pitchFamily="34" charset="0"/>
              </a:rPr>
              <a:t>finished goods store cost per "product week" is given by 90,000$ / 150,000 product weeks = 0.60$</a:t>
            </a:r>
          </a:p>
          <a:p>
            <a:pPr marL="0" indent="0" algn="ctr">
              <a:spcBef>
                <a:spcPts val="0"/>
              </a:spcBef>
              <a:buNone/>
            </a:pPr>
            <a:r>
              <a:rPr lang="tr-TR" sz="1600">
                <a:latin typeface="Arial Narrow" panose="020B0606020202030204" pitchFamily="34" charset="0"/>
              </a:rPr>
              <a:t>Therefore each unit of product A and product B will be charged as follows:</a:t>
            </a:r>
            <a:endParaRPr lang="tr-TR" sz="1600" noProof="1">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2302053" y="1988840"/>
            <a:ext cx="4539893" cy="1656184"/>
          </a:xfrm>
          <a:prstGeom prst="rect">
            <a:avLst/>
          </a:prstGeom>
        </p:spPr>
      </p:pic>
      <p:pic>
        <p:nvPicPr>
          <p:cNvPr id="7" name="Resim 6"/>
          <p:cNvPicPr>
            <a:picLocks noChangeAspect="1"/>
          </p:cNvPicPr>
          <p:nvPr/>
        </p:nvPicPr>
        <p:blipFill>
          <a:blip r:embed="rId4"/>
          <a:stretch>
            <a:fillRect/>
          </a:stretch>
        </p:blipFill>
        <p:spPr>
          <a:xfrm>
            <a:off x="2130319" y="4509120"/>
            <a:ext cx="4883360" cy="1296144"/>
          </a:xfrm>
          <a:prstGeom prst="rect">
            <a:avLst/>
          </a:prstGeom>
        </p:spPr>
      </p:pic>
    </p:spTree>
    <p:extLst>
      <p:ext uri="{BB962C8B-B14F-4D97-AF65-F5344CB8AC3E}">
        <p14:creationId xmlns:p14="http://schemas.microsoft.com/office/powerpoint/2010/main" val="19426070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[4] Management Accounting</a:t>
            </a:r>
            <a:br>
              <a:rPr lang="tr-TR" sz="2400">
                <a:solidFill>
                  <a:srgbClr val="800000"/>
                </a:solidFill>
                <a:latin typeface="Arial Narrow" pitchFamily="34" charset="0"/>
              </a:rPr>
            </a:br>
            <a:r>
              <a:rPr lang="tr-TR" sz="2400" smtClean="0">
                <a:latin typeface="Arial Narrow" pitchFamily="34" charset="0"/>
              </a:rPr>
              <a:t>Budgeting</a:t>
            </a:r>
            <a:endParaRPr lang="tr-TR" sz="28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400050" lvl="1" indent="0">
              <a:spcBef>
                <a:spcPts val="0"/>
              </a:spcBef>
              <a:buNone/>
            </a:pPr>
            <a:endParaRPr lang="tr-TR" sz="900" dirty="0" smtClean="0">
              <a:latin typeface="Arial Narrow" panose="020B0606020202030204" pitchFamily="34" charset="0"/>
            </a:endParaRPr>
          </a:p>
          <a:p>
            <a:pPr marL="400050" lvl="1" indent="0" algn="ctr">
              <a:lnSpc>
                <a:spcPct val="150000"/>
              </a:lnSpc>
              <a:spcBef>
                <a:spcPts val="0"/>
              </a:spcBef>
              <a:buNone/>
            </a:pPr>
            <a:r>
              <a:rPr lang="tr-TR" sz="1800" dirty="0" smtClean="0">
                <a:solidFill>
                  <a:srgbClr val="800000"/>
                </a:solidFill>
                <a:latin typeface="Arial Narrow" panose="020B0606020202030204" pitchFamily="34" charset="0"/>
              </a:rPr>
              <a:t>Budget</a:t>
            </a:r>
            <a:r>
              <a:rPr lang="tr-TR" sz="1800" dirty="0" smtClean="0">
                <a:latin typeface="Arial Narrow" panose="020B0606020202030204" pitchFamily="34" charset="0"/>
              </a:rPr>
              <a:t> </a:t>
            </a:r>
            <a:r>
              <a:rPr lang="tr-TR" sz="1800" dirty="0">
                <a:latin typeface="Arial Narrow" panose="020B0606020202030204" pitchFamily="34" charset="0"/>
              </a:rPr>
              <a:t>= a </a:t>
            </a:r>
            <a:r>
              <a:rPr lang="tr-TR" sz="1800" dirty="0" err="1">
                <a:latin typeface="Arial Narrow" panose="020B0606020202030204" pitchFamily="34" charset="0"/>
              </a:rPr>
              <a:t>short-term</a:t>
            </a:r>
            <a:r>
              <a:rPr lang="tr-TR" sz="1800" dirty="0">
                <a:latin typeface="Arial Narrow" panose="020B0606020202030204" pitchFamily="34" charset="0"/>
              </a:rPr>
              <a:t> </a:t>
            </a:r>
            <a:r>
              <a:rPr lang="tr-TR" sz="1800" dirty="0" err="1">
                <a:latin typeface="Arial Narrow" panose="020B0606020202030204" pitchFamily="34" charset="0"/>
              </a:rPr>
              <a:t>business</a:t>
            </a:r>
            <a:r>
              <a:rPr lang="tr-TR" sz="1800" dirty="0">
                <a:latin typeface="Arial Narrow" panose="020B0606020202030204" pitchFamily="34" charset="0"/>
              </a:rPr>
              <a:t> plan, </a:t>
            </a:r>
            <a:r>
              <a:rPr lang="tr-TR" sz="1800" dirty="0" err="1">
                <a:latin typeface="Arial Narrow" panose="020B0606020202030204" pitchFamily="34" charset="0"/>
              </a:rPr>
              <a:t>mainly</a:t>
            </a:r>
            <a:r>
              <a:rPr lang="tr-TR" sz="1800" dirty="0">
                <a:latin typeface="Arial Narrow" panose="020B0606020202030204" pitchFamily="34" charset="0"/>
              </a:rPr>
              <a:t> </a:t>
            </a:r>
            <a:r>
              <a:rPr lang="tr-TR" sz="1800" dirty="0" err="1">
                <a:latin typeface="Arial Narrow" panose="020B0606020202030204" pitchFamily="34" charset="0"/>
              </a:rPr>
              <a:t>expressed</a:t>
            </a:r>
            <a:r>
              <a:rPr lang="tr-TR" sz="1800" dirty="0">
                <a:latin typeface="Arial Narrow" panose="020B0606020202030204" pitchFamily="34" charset="0"/>
              </a:rPr>
              <a:t> in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terms</a:t>
            </a:r>
            <a:r>
              <a:rPr lang="tr-TR" sz="1800" dirty="0">
                <a:latin typeface="Arial Narrow" panose="020B0606020202030204" pitchFamily="34" charset="0"/>
              </a:rPr>
              <a:t>.</a:t>
            </a:r>
          </a:p>
          <a:p>
            <a:pPr marL="400050" lvl="1" indent="0" algn="ctr">
              <a:lnSpc>
                <a:spcPct val="150000"/>
              </a:lnSpc>
              <a:spcBef>
                <a:spcPts val="0"/>
              </a:spcBef>
              <a:buNone/>
            </a:pPr>
            <a:r>
              <a:rPr lang="tr-TR" sz="1800" dirty="0" err="1">
                <a:latin typeface="Arial Narrow" panose="020B0606020202030204" pitchFamily="34" charset="0"/>
              </a:rPr>
              <a:t>Budgets</a:t>
            </a:r>
            <a:r>
              <a:rPr lang="tr-TR" sz="1800" dirty="0">
                <a:latin typeface="Arial Narrow" panose="020B0606020202030204" pitchFamily="34" charset="0"/>
              </a:rPr>
              <a:t> </a:t>
            </a:r>
            <a:r>
              <a:rPr lang="tr-TR" sz="1800" dirty="0" err="1">
                <a:latin typeface="Arial Narrow" panose="020B0606020202030204" pitchFamily="34" charset="0"/>
              </a:rPr>
              <a:t>are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short-term</a:t>
            </a:r>
            <a:r>
              <a:rPr lang="tr-TR" sz="1800" dirty="0">
                <a:latin typeface="Arial Narrow" panose="020B0606020202030204" pitchFamily="34" charset="0"/>
              </a:rPr>
              <a:t> </a:t>
            </a:r>
            <a:r>
              <a:rPr lang="tr-TR" sz="1800" dirty="0" err="1">
                <a:latin typeface="Arial Narrow" panose="020B0606020202030204" pitchFamily="34" charset="0"/>
              </a:rPr>
              <a:t>means</a:t>
            </a:r>
            <a:r>
              <a:rPr lang="tr-TR" sz="1800" dirty="0">
                <a:latin typeface="Arial Narrow" panose="020B0606020202030204" pitchFamily="34" charset="0"/>
              </a:rPr>
              <a:t> of </a:t>
            </a:r>
            <a:r>
              <a:rPr lang="tr-TR" sz="1800" dirty="0" err="1">
                <a:latin typeface="Arial Narrow" panose="020B0606020202030204" pitchFamily="34" charset="0"/>
              </a:rPr>
              <a:t>working</a:t>
            </a:r>
            <a:r>
              <a:rPr lang="tr-TR" sz="1800" dirty="0">
                <a:latin typeface="Arial Narrow" panose="020B0606020202030204" pitchFamily="34" charset="0"/>
              </a:rPr>
              <a:t> </a:t>
            </a:r>
            <a:r>
              <a:rPr lang="tr-TR" sz="1800" dirty="0" err="1">
                <a:latin typeface="Arial Narrow" panose="020B0606020202030204" pitchFamily="34" charset="0"/>
              </a:rPr>
              <a:t>towards</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business's</a:t>
            </a:r>
            <a:r>
              <a:rPr lang="tr-TR" sz="1800" dirty="0">
                <a:latin typeface="Arial Narrow" panose="020B0606020202030204" pitchFamily="34" charset="0"/>
              </a:rPr>
              <a:t> </a:t>
            </a:r>
            <a:r>
              <a:rPr lang="tr-TR" sz="1800" dirty="0" err="1">
                <a:latin typeface="Arial Narrow" panose="020B0606020202030204" pitchFamily="34" charset="0"/>
              </a:rPr>
              <a:t>objectives</a:t>
            </a:r>
            <a:r>
              <a:rPr lang="tr-TR" sz="1800" dirty="0">
                <a:latin typeface="Arial Narrow" panose="020B0606020202030204" pitchFamily="34" charset="0"/>
              </a:rPr>
              <a:t>.</a:t>
            </a:r>
          </a:p>
          <a:p>
            <a:pPr marL="400050" lvl="1" indent="0" algn="ctr">
              <a:lnSpc>
                <a:spcPct val="150000"/>
              </a:lnSpc>
              <a:spcBef>
                <a:spcPts val="0"/>
              </a:spcBef>
              <a:buNone/>
            </a:pPr>
            <a:r>
              <a:rPr lang="tr-TR" sz="1800" dirty="0" err="1" smtClean="0">
                <a:latin typeface="Arial Narrow" panose="020B0606020202030204" pitchFamily="34" charset="0"/>
              </a:rPr>
              <a:t>They</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usually</a:t>
            </a:r>
            <a:r>
              <a:rPr lang="tr-TR" sz="1800" dirty="0" smtClean="0">
                <a:latin typeface="Arial Narrow" panose="020B0606020202030204" pitchFamily="34" charset="0"/>
              </a:rPr>
              <a:t> </a:t>
            </a:r>
            <a:r>
              <a:rPr lang="tr-TR" sz="1800" dirty="0" err="1" smtClean="0">
                <a:latin typeface="Arial Narrow" panose="020B0606020202030204" pitchFamily="34" charset="0"/>
              </a:rPr>
              <a:t>prepared</a:t>
            </a:r>
            <a:r>
              <a:rPr lang="tr-TR" sz="1800" dirty="0" smtClean="0">
                <a:latin typeface="Arial Narrow" panose="020B0606020202030204" pitchFamily="34" charset="0"/>
              </a:rPr>
              <a:t> </a:t>
            </a:r>
            <a:r>
              <a:rPr lang="tr-TR" sz="1800" dirty="0" err="1" smtClean="0">
                <a:latin typeface="Arial Narrow" panose="020B0606020202030204" pitchFamily="34" charset="0"/>
              </a:rPr>
              <a:t>for</a:t>
            </a:r>
            <a:r>
              <a:rPr lang="tr-TR" sz="1800" dirty="0" smtClean="0">
                <a:latin typeface="Arial Narrow" panose="020B0606020202030204" pitchFamily="34" charset="0"/>
              </a:rPr>
              <a:t> </a:t>
            </a:r>
            <a:r>
              <a:rPr lang="tr-TR" sz="1800" dirty="0">
                <a:latin typeface="Arial Narrow" panose="020B0606020202030204" pitchFamily="34" charset="0"/>
              </a:rPr>
              <a:t>12 </a:t>
            </a:r>
            <a:r>
              <a:rPr lang="tr-TR" sz="1800" dirty="0" err="1">
                <a:latin typeface="Arial Narrow" panose="020B0606020202030204" pitchFamily="34" charset="0"/>
              </a:rPr>
              <a:t>months</a:t>
            </a:r>
            <a:r>
              <a:rPr lang="tr-TR" sz="1800" dirty="0">
                <a:latin typeface="Arial Narrow" panose="020B0606020202030204" pitchFamily="34" charset="0"/>
              </a:rPr>
              <a:t> </a:t>
            </a:r>
            <a:r>
              <a:rPr lang="tr-TR" sz="1800" dirty="0" err="1">
                <a:latin typeface="Arial Narrow" panose="020B0606020202030204" pitchFamily="34" charset="0"/>
              </a:rPr>
              <a:t>with</a:t>
            </a:r>
            <a:r>
              <a:rPr lang="tr-TR" sz="1800" dirty="0">
                <a:latin typeface="Arial Narrow" panose="020B0606020202030204" pitchFamily="34" charset="0"/>
              </a:rPr>
              <a:t> </a:t>
            </a:r>
            <a:r>
              <a:rPr lang="tr-TR" sz="1800" dirty="0" err="1">
                <a:latin typeface="Arial Narrow" panose="020B0606020202030204" pitchFamily="34" charset="0"/>
              </a:rPr>
              <a:t>subperiods</a:t>
            </a:r>
            <a:r>
              <a:rPr lang="tr-TR" sz="1800" dirty="0">
                <a:latin typeface="Arial Narrow" panose="020B0606020202030204" pitchFamily="34" charset="0"/>
              </a:rPr>
              <a:t> of a </a:t>
            </a:r>
            <a:r>
              <a:rPr lang="tr-TR" sz="1800" dirty="0" err="1">
                <a:latin typeface="Arial Narrow" panose="020B0606020202030204" pitchFamily="34" charset="0"/>
              </a:rPr>
              <a:t>month</a:t>
            </a:r>
            <a:r>
              <a:rPr lang="tr-TR" sz="1800" dirty="0">
                <a:latin typeface="Arial Narrow" panose="020B0606020202030204" pitchFamily="34" charset="0"/>
              </a:rPr>
              <a:t>.</a:t>
            </a:r>
          </a:p>
          <a:p>
            <a:pPr marL="400050" lvl="1" indent="0" algn="ctr">
              <a:lnSpc>
                <a:spcPct val="150000"/>
              </a:lnSpc>
              <a:spcBef>
                <a:spcPts val="0"/>
              </a:spcBef>
              <a:buNone/>
            </a:pPr>
            <a:r>
              <a:rPr lang="tr-TR" sz="1800" dirty="0" err="1">
                <a:latin typeface="Arial Narrow" panose="020B0606020202030204" pitchFamily="34" charset="0"/>
              </a:rPr>
              <a:t>Uses</a:t>
            </a:r>
            <a:r>
              <a:rPr lang="tr-TR" sz="1800" dirty="0">
                <a:latin typeface="Arial Narrow" panose="020B0606020202030204" pitchFamily="34" charset="0"/>
              </a:rPr>
              <a:t> </a:t>
            </a:r>
            <a:r>
              <a:rPr lang="tr-TR" sz="1800" dirty="0" err="1">
                <a:latin typeface="Arial Narrow" panose="020B0606020202030204" pitchFamily="34" charset="0"/>
              </a:rPr>
              <a:t>are</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a:t>
            </a:r>
          </a:p>
          <a:p>
            <a:pPr lvl="2" algn="ctr">
              <a:spcBef>
                <a:spcPts val="0"/>
              </a:spcBef>
            </a:pPr>
            <a:r>
              <a:rPr lang="tr-TR" sz="1800" dirty="0" err="1">
                <a:latin typeface="Arial Narrow" panose="020B0606020202030204" pitchFamily="34" charset="0"/>
              </a:rPr>
              <a:t>promote</a:t>
            </a:r>
            <a:r>
              <a:rPr lang="tr-TR" sz="1800" dirty="0">
                <a:latin typeface="Arial Narrow" panose="020B0606020202030204" pitchFamily="34" charset="0"/>
              </a:rPr>
              <a:t> </a:t>
            </a:r>
            <a:r>
              <a:rPr lang="tr-TR" sz="1800" dirty="0" err="1">
                <a:latin typeface="Arial Narrow" panose="020B0606020202030204" pitchFamily="34" charset="0"/>
              </a:rPr>
              <a:t>forward</a:t>
            </a:r>
            <a:r>
              <a:rPr lang="tr-TR" sz="1800" dirty="0">
                <a:latin typeface="Arial Narrow" panose="020B0606020202030204" pitchFamily="34" charset="0"/>
              </a:rPr>
              <a:t> </a:t>
            </a:r>
            <a:r>
              <a:rPr lang="tr-TR" sz="1800" dirty="0" err="1">
                <a:latin typeface="Arial Narrow" panose="020B0606020202030204" pitchFamily="34" charset="0"/>
              </a:rPr>
              <a:t>thinking</a:t>
            </a:r>
            <a:endParaRPr lang="tr-TR" sz="1800" dirty="0">
              <a:latin typeface="Arial Narrow" panose="020B0606020202030204" pitchFamily="34" charset="0"/>
            </a:endParaRPr>
          </a:p>
          <a:p>
            <a:pPr lvl="2" algn="ctr">
              <a:spcBef>
                <a:spcPts val="0"/>
              </a:spcBef>
            </a:pPr>
            <a:r>
              <a:rPr lang="tr-TR" sz="1800" dirty="0" err="1">
                <a:latin typeface="Arial Narrow" panose="020B0606020202030204" pitchFamily="34" charset="0"/>
              </a:rPr>
              <a:t>help</a:t>
            </a:r>
            <a:r>
              <a:rPr lang="tr-TR" sz="1800" dirty="0">
                <a:latin typeface="Arial Narrow" panose="020B0606020202030204" pitchFamily="34" charset="0"/>
              </a:rPr>
              <a:t> </a:t>
            </a:r>
            <a:r>
              <a:rPr lang="tr-TR" sz="1800" dirty="0" err="1">
                <a:latin typeface="Arial Narrow" panose="020B0606020202030204" pitchFamily="34" charset="0"/>
              </a:rPr>
              <a:t>coordinate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various</a:t>
            </a:r>
            <a:r>
              <a:rPr lang="tr-TR" sz="1800" dirty="0">
                <a:latin typeface="Arial Narrow" panose="020B0606020202030204" pitchFamily="34" charset="0"/>
              </a:rPr>
              <a:t> </a:t>
            </a:r>
            <a:r>
              <a:rPr lang="tr-TR" sz="1800" dirty="0" err="1">
                <a:latin typeface="Arial Narrow" panose="020B0606020202030204" pitchFamily="34" charset="0"/>
              </a:rPr>
              <a:t>aspects</a:t>
            </a:r>
            <a:endParaRPr lang="tr-TR" sz="1800" dirty="0">
              <a:latin typeface="Arial Narrow" panose="020B0606020202030204" pitchFamily="34" charset="0"/>
            </a:endParaRPr>
          </a:p>
          <a:p>
            <a:pPr lvl="2" algn="ctr">
              <a:spcBef>
                <a:spcPts val="0"/>
              </a:spcBef>
            </a:pPr>
            <a:r>
              <a:rPr lang="tr-TR" sz="1800" dirty="0" err="1">
                <a:latin typeface="Arial Narrow" panose="020B0606020202030204" pitchFamily="34" charset="0"/>
              </a:rPr>
              <a:t>motivate</a:t>
            </a:r>
            <a:r>
              <a:rPr lang="tr-TR" sz="1800" dirty="0">
                <a:latin typeface="Arial Narrow" panose="020B0606020202030204" pitchFamily="34" charset="0"/>
              </a:rPr>
              <a:t> </a:t>
            </a:r>
            <a:r>
              <a:rPr lang="tr-TR" sz="1800" dirty="0" err="1">
                <a:latin typeface="Arial Narrow" panose="020B0606020202030204" pitchFamily="34" charset="0"/>
              </a:rPr>
              <a:t>performance</a:t>
            </a:r>
            <a:endParaRPr lang="tr-TR" sz="1800" dirty="0">
              <a:latin typeface="Arial Narrow" panose="020B0606020202030204" pitchFamily="34" charset="0"/>
            </a:endParaRPr>
          </a:p>
          <a:p>
            <a:pPr lvl="2" algn="ctr">
              <a:spcBef>
                <a:spcPts val="0"/>
              </a:spcBef>
            </a:pPr>
            <a:r>
              <a:rPr lang="tr-TR" sz="1800" dirty="0" err="1">
                <a:latin typeface="Arial Narrow" panose="020B0606020202030204" pitchFamily="34" charset="0"/>
              </a:rPr>
              <a:t>provide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basis</a:t>
            </a:r>
            <a:r>
              <a:rPr lang="tr-TR" sz="1800" dirty="0">
                <a:latin typeface="Arial Narrow" panose="020B0606020202030204" pitchFamily="34" charset="0"/>
              </a:rPr>
              <a:t> of a </a:t>
            </a:r>
            <a:r>
              <a:rPr lang="tr-TR" sz="1800" dirty="0" err="1">
                <a:latin typeface="Arial Narrow" panose="020B0606020202030204" pitchFamily="34" charset="0"/>
              </a:rPr>
              <a:t>system</a:t>
            </a:r>
            <a:r>
              <a:rPr lang="tr-TR" sz="1800" dirty="0">
                <a:latin typeface="Arial Narrow" panose="020B0606020202030204" pitchFamily="34" charset="0"/>
              </a:rPr>
              <a:t> of </a:t>
            </a:r>
            <a:r>
              <a:rPr lang="tr-TR" sz="1800" dirty="0" err="1">
                <a:latin typeface="Arial Narrow" panose="020B0606020202030204" pitchFamily="34" charset="0"/>
              </a:rPr>
              <a:t>control</a:t>
            </a:r>
            <a:endParaRPr lang="tr-TR" sz="1800" dirty="0">
              <a:latin typeface="Arial Narrow" panose="020B0606020202030204" pitchFamily="34" charset="0"/>
            </a:endParaRPr>
          </a:p>
          <a:p>
            <a:pPr lvl="2" algn="ctr">
              <a:spcBef>
                <a:spcPts val="0"/>
              </a:spcBef>
            </a:pPr>
            <a:r>
              <a:rPr lang="tr-TR" sz="1800" dirty="0" err="1">
                <a:latin typeface="Arial Narrow" panose="020B0606020202030204" pitchFamily="34" charset="0"/>
              </a:rPr>
              <a:t>provide</a:t>
            </a:r>
            <a:r>
              <a:rPr lang="tr-TR" sz="1800" dirty="0">
                <a:latin typeface="Arial Narrow" panose="020B0606020202030204" pitchFamily="34" charset="0"/>
              </a:rPr>
              <a:t> a </a:t>
            </a:r>
            <a:r>
              <a:rPr lang="tr-TR" sz="1800" dirty="0" err="1">
                <a:latin typeface="Arial Narrow" panose="020B0606020202030204" pitchFamily="34" charset="0"/>
              </a:rPr>
              <a:t>system</a:t>
            </a:r>
            <a:r>
              <a:rPr lang="tr-TR" sz="1800" dirty="0">
                <a:latin typeface="Arial Narrow" panose="020B0606020202030204" pitchFamily="34" charset="0"/>
              </a:rPr>
              <a:t> </a:t>
            </a:r>
            <a:r>
              <a:rPr lang="tr-TR" sz="1800" dirty="0" err="1">
                <a:latin typeface="Arial Narrow" panose="020B0606020202030204" pitchFamily="34" charset="0"/>
              </a:rPr>
              <a:t>for</a:t>
            </a:r>
            <a:r>
              <a:rPr lang="tr-TR" sz="1800" dirty="0">
                <a:latin typeface="Arial Narrow" panose="020B0606020202030204" pitchFamily="34" charset="0"/>
              </a:rPr>
              <a:t> </a:t>
            </a:r>
            <a:r>
              <a:rPr lang="tr-TR" sz="1800" dirty="0" err="1">
                <a:latin typeface="Arial Narrow" panose="020B0606020202030204" pitchFamily="34" charset="0"/>
              </a:rPr>
              <a:t>authorisation</a:t>
            </a:r>
            <a:endParaRPr lang="tr-TR" sz="1800" dirty="0">
              <a:latin typeface="Arial Narrow" panose="020B0606020202030204" pitchFamily="34" charset="0"/>
            </a:endParaRPr>
          </a:p>
          <a:p>
            <a:pPr marL="400050" lvl="1" indent="0">
              <a:spcBef>
                <a:spcPts val="0"/>
              </a:spcBef>
              <a:buNone/>
            </a:pPr>
            <a:r>
              <a:rPr lang="tr-TR" sz="1800" dirty="0">
                <a:latin typeface="Arial Narrow" panose="020B0606020202030204" pitchFamily="34" charset="0"/>
              </a:rPr>
              <a:t> </a:t>
            </a:r>
          </a:p>
        </p:txBody>
      </p:sp>
    </p:spTree>
    <p:extLst>
      <p:ext uri="{BB962C8B-B14F-4D97-AF65-F5344CB8AC3E}">
        <p14:creationId xmlns:p14="http://schemas.microsoft.com/office/powerpoint/2010/main" val="8980462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83568" y="116632"/>
            <a:ext cx="7848872" cy="108012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err="1">
                <a:latin typeface="Arial Narrow" pitchFamily="34" charset="0"/>
              </a:rPr>
              <a:t>for</a:t>
            </a:r>
            <a:r>
              <a:rPr lang="tr-TR" sz="1400">
                <a:latin typeface="Arial Narrow" pitchFamily="34" charset="0"/>
              </a:rPr>
              <a:t> </a:t>
            </a:r>
            <a:r>
              <a:rPr lang="tr-TR" sz="1400" smtClean="0">
                <a:latin typeface="Arial Narrow" pitchFamily="34" charset="0"/>
              </a:rPr>
              <a:t>Engineers</a:t>
            </a:r>
            <a:br>
              <a:rPr lang="tr-TR" sz="1400" smtClean="0">
                <a:latin typeface="Arial Narrow" pitchFamily="34" charset="0"/>
              </a:rPr>
            </a:br>
            <a:r>
              <a:rPr lang="tr-TR" sz="2400">
                <a:solidFill>
                  <a:srgbClr val="800000"/>
                </a:solidFill>
                <a:latin typeface="Arial Narrow" pitchFamily="34" charset="0"/>
              </a:rPr>
              <a:t>[5] Financial System</a:t>
            </a:r>
            <a:br>
              <a:rPr lang="tr-TR" sz="2400">
                <a:solidFill>
                  <a:srgbClr val="800000"/>
                </a:solidFill>
                <a:latin typeface="Arial Narrow" pitchFamily="34" charset="0"/>
              </a:rPr>
            </a:br>
            <a:r>
              <a:rPr lang="tr-TR" sz="2400" smtClean="0">
                <a:latin typeface="Arial Narrow" pitchFamily="34" charset="0"/>
              </a:rPr>
              <a:t>Flow </a:t>
            </a:r>
            <a:r>
              <a:rPr lang="tr-TR" sz="2400" dirty="0">
                <a:latin typeface="Arial Narrow" pitchFamily="34" charset="0"/>
              </a:rPr>
              <a:t>of </a:t>
            </a:r>
            <a:r>
              <a:rPr lang="tr-TR" sz="2400" dirty="0" err="1">
                <a:latin typeface="Arial Narrow" pitchFamily="34" charset="0"/>
              </a:rPr>
              <a:t>Funds</a:t>
            </a:r>
            <a:r>
              <a:rPr lang="tr-TR" sz="2400" dirty="0">
                <a:latin typeface="Arial Narrow" pitchFamily="34" charset="0"/>
              </a:rPr>
              <a:t> </a:t>
            </a:r>
            <a:r>
              <a:rPr lang="tr-TR" sz="2400" dirty="0" err="1">
                <a:latin typeface="Arial Narrow" pitchFamily="34" charset="0"/>
              </a:rPr>
              <a:t>through</a:t>
            </a:r>
            <a:r>
              <a:rPr lang="tr-TR" sz="2400" dirty="0">
                <a:latin typeface="Arial Narrow" pitchFamily="34" charset="0"/>
              </a:rPr>
              <a:t> </a:t>
            </a:r>
            <a:r>
              <a:rPr lang="tr-TR" sz="2400" dirty="0" err="1">
                <a:latin typeface="Arial Narrow" pitchFamily="34" charset="0"/>
              </a:rPr>
              <a:t>the</a:t>
            </a:r>
            <a:r>
              <a:rPr lang="tr-TR" sz="2400" dirty="0">
                <a:latin typeface="Arial Narrow" pitchFamily="34" charset="0"/>
              </a:rPr>
              <a:t> Financial </a:t>
            </a:r>
            <a:r>
              <a:rPr lang="tr-TR" sz="2400" dirty="0" err="1">
                <a:latin typeface="Arial Narrow" pitchFamily="34" charset="0"/>
              </a:rPr>
              <a:t>System</a:t>
            </a:r>
            <a:endParaRPr lang="tr-TR" sz="2400" dirty="0">
              <a:latin typeface="Arial Narrow" pitchFamily="34" charset="0"/>
            </a:endParaRPr>
          </a:p>
        </p:txBody>
      </p:sp>
      <p:sp>
        <p:nvSpPr>
          <p:cNvPr id="5" name="Content Placeholder 4"/>
          <p:cNvSpPr>
            <a:spLocks noGrp="1"/>
          </p:cNvSpPr>
          <p:nvPr>
            <p:ph idx="1"/>
          </p:nvPr>
        </p:nvSpPr>
        <p:spPr>
          <a:xfrm>
            <a:off x="683568" y="1196752"/>
            <a:ext cx="7848872" cy="5400600"/>
          </a:xfrm>
          <a:ln w="25400">
            <a:noFill/>
          </a:ln>
        </p:spPr>
        <p:txBody>
          <a:bodyPr>
            <a:noAutofit/>
          </a:bodyPr>
          <a:lstStyle/>
          <a:p>
            <a:pPr marL="0" lvl="0" indent="0" algn="ctr">
              <a:spcBef>
                <a:spcPts val="0"/>
              </a:spcBef>
              <a:buNone/>
            </a:pPr>
            <a:r>
              <a:rPr lang="tr-TR" sz="1600" dirty="0" err="1">
                <a:latin typeface="Arial Narrow" panose="020B0606020202030204" pitchFamily="34" charset="0"/>
              </a:rPr>
              <a:t>In</a:t>
            </a:r>
            <a:r>
              <a:rPr lang="tr-TR" sz="1600" dirty="0">
                <a:latin typeface="Arial Narrow" panose="020B0606020202030204" pitchFamily="34" charset="0"/>
              </a:rPr>
              <a:t> </a:t>
            </a:r>
            <a:r>
              <a:rPr lang="tr-TR" sz="1600" dirty="0" err="1">
                <a:latin typeface="Arial Narrow" panose="020B0606020202030204" pitchFamily="34" charset="0"/>
              </a:rPr>
              <a:t>Indirect</a:t>
            </a:r>
            <a:r>
              <a:rPr lang="tr-TR" sz="1600" dirty="0">
                <a:latin typeface="Arial Narrow" panose="020B0606020202030204" pitchFamily="34" charset="0"/>
              </a:rPr>
              <a:t> Finance, </a:t>
            </a:r>
            <a:r>
              <a:rPr lang="tr-TR" sz="1600" dirty="0" err="1">
                <a:latin typeface="Arial Narrow" panose="020B0606020202030204" pitchFamily="34" charset="0"/>
              </a:rPr>
              <a:t>borrowers</a:t>
            </a:r>
            <a:r>
              <a:rPr lang="tr-TR" sz="1600" dirty="0">
                <a:latin typeface="Arial Narrow" panose="020B0606020202030204" pitchFamily="34" charset="0"/>
              </a:rPr>
              <a:t> </a:t>
            </a:r>
            <a:r>
              <a:rPr lang="tr-TR" sz="1600" dirty="0" err="1">
                <a:latin typeface="Arial Narrow" panose="020B0606020202030204" pitchFamily="34" charset="0"/>
              </a:rPr>
              <a:t>borrow</a:t>
            </a:r>
            <a:r>
              <a:rPr lang="tr-TR" sz="1600" dirty="0">
                <a:latin typeface="Arial Narrow" panose="020B0606020202030204" pitchFamily="34" charset="0"/>
              </a:rPr>
              <a:t> </a:t>
            </a:r>
            <a:r>
              <a:rPr lang="tr-TR" sz="1600" dirty="0" err="1">
                <a:latin typeface="Arial Narrow" panose="020B0606020202030204" pitchFamily="34" charset="0"/>
              </a:rPr>
              <a:t>funds</a:t>
            </a:r>
            <a:r>
              <a:rPr lang="tr-TR" sz="1600" dirty="0">
                <a:latin typeface="Arial Narrow" panose="020B0606020202030204" pitchFamily="34" charset="0"/>
              </a:rPr>
              <a:t> </a:t>
            </a:r>
            <a:r>
              <a:rPr lang="tr-TR" sz="1600" dirty="0" err="1">
                <a:latin typeface="Arial Narrow" panose="020B0606020202030204" pitchFamily="34" charset="0"/>
              </a:rPr>
              <a:t>directly</a:t>
            </a:r>
            <a:r>
              <a:rPr lang="tr-TR" sz="1600" dirty="0">
                <a:latin typeface="Arial Narrow" panose="020B0606020202030204" pitchFamily="34" charset="0"/>
              </a:rPr>
              <a:t> </a:t>
            </a:r>
            <a:r>
              <a:rPr lang="tr-TR" sz="1600" dirty="0" err="1">
                <a:latin typeface="Arial Narrow" panose="020B0606020202030204" pitchFamily="34" charset="0"/>
              </a:rPr>
              <a:t>from</a:t>
            </a:r>
            <a:r>
              <a:rPr lang="tr-TR" sz="1600" dirty="0">
                <a:latin typeface="Arial Narrow" panose="020B0606020202030204" pitchFamily="34" charset="0"/>
              </a:rPr>
              <a:t> Lenders in Financial </a:t>
            </a:r>
            <a:r>
              <a:rPr lang="tr-TR" sz="1600" dirty="0" err="1">
                <a:latin typeface="Arial Narrow" panose="020B0606020202030204" pitchFamily="34" charset="0"/>
              </a:rPr>
              <a:t>Markets</a:t>
            </a:r>
            <a:r>
              <a:rPr lang="tr-TR" sz="1600" dirty="0">
                <a:latin typeface="Arial Narrow" panose="020B0606020202030204" pitchFamily="34" charset="0"/>
              </a:rPr>
              <a:t> </a:t>
            </a:r>
          </a:p>
          <a:p>
            <a:pPr marL="0" lvl="0" indent="0" algn="ctr">
              <a:spcBef>
                <a:spcPts val="0"/>
              </a:spcBef>
              <a:buNone/>
            </a:pPr>
            <a:r>
              <a:rPr lang="tr-TR" sz="1600" dirty="0" err="1">
                <a:latin typeface="Arial Narrow" panose="020B0606020202030204" pitchFamily="34" charset="0"/>
              </a:rPr>
              <a:t>by</a:t>
            </a:r>
            <a:r>
              <a:rPr lang="tr-TR" sz="1600" dirty="0">
                <a:latin typeface="Arial Narrow" panose="020B0606020202030204" pitchFamily="34" charset="0"/>
              </a:rPr>
              <a:t> </a:t>
            </a:r>
            <a:r>
              <a:rPr lang="tr-TR" sz="1600" dirty="0" err="1">
                <a:latin typeface="Arial Narrow" panose="020B0606020202030204" pitchFamily="34" charset="0"/>
              </a:rPr>
              <a:t>selling</a:t>
            </a:r>
            <a:r>
              <a:rPr lang="tr-TR" sz="1600" dirty="0">
                <a:latin typeface="Arial Narrow" panose="020B0606020202030204" pitchFamily="34" charset="0"/>
              </a:rPr>
              <a:t> </a:t>
            </a:r>
            <a:r>
              <a:rPr lang="tr-TR" sz="1600" dirty="0" err="1">
                <a:latin typeface="Arial Narrow" panose="020B0606020202030204" pitchFamily="34" charset="0"/>
              </a:rPr>
              <a:t>them</a:t>
            </a:r>
            <a:r>
              <a:rPr lang="tr-TR" sz="1600" dirty="0">
                <a:latin typeface="Arial Narrow" panose="020B0606020202030204" pitchFamily="34" charset="0"/>
              </a:rPr>
              <a:t> </a:t>
            </a:r>
            <a:r>
              <a:rPr lang="tr-TR" sz="1600" dirty="0" err="1">
                <a:latin typeface="Arial Narrow" panose="020B0606020202030204" pitchFamily="34" charset="0"/>
              </a:rPr>
              <a:t>securities</a:t>
            </a:r>
            <a:r>
              <a:rPr lang="tr-TR" sz="1600" dirty="0">
                <a:latin typeface="Arial Narrow" panose="020B0606020202030204" pitchFamily="34" charset="0"/>
              </a:rPr>
              <a:t> (</a:t>
            </a:r>
            <a:r>
              <a:rPr lang="tr-TR" sz="1600" dirty="0" err="1">
                <a:latin typeface="Arial Narrow" panose="020B0606020202030204" pitchFamily="34" charset="0"/>
              </a:rPr>
              <a:t>financial</a:t>
            </a:r>
            <a:r>
              <a:rPr lang="tr-TR" sz="1600" dirty="0">
                <a:latin typeface="Arial Narrow" panose="020B0606020202030204" pitchFamily="34" charset="0"/>
              </a:rPr>
              <a:t> </a:t>
            </a:r>
            <a:r>
              <a:rPr lang="tr-TR" sz="1600" dirty="0" err="1" smtClean="0">
                <a:latin typeface="Arial Narrow" panose="020B0606020202030204" pitchFamily="34" charset="0"/>
              </a:rPr>
              <a:t>instruments</a:t>
            </a:r>
            <a:r>
              <a:rPr lang="tr-TR" sz="1600" dirty="0" smtClean="0">
                <a:latin typeface="Arial Narrow" panose="020B0606020202030204" pitchFamily="34" charset="0"/>
              </a:rPr>
              <a:t>)</a:t>
            </a:r>
          </a:p>
          <a:p>
            <a:pPr marL="0" lvl="0" indent="0" algn="ctr">
              <a:spcBef>
                <a:spcPts val="0"/>
              </a:spcBef>
              <a:buNone/>
            </a:pP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a:latin typeface="Arial Narrow" panose="020B0606020202030204" pitchFamily="34" charset="0"/>
              </a:rPr>
              <a:t>are</a:t>
            </a:r>
            <a:r>
              <a:rPr lang="tr-TR" sz="1600" dirty="0">
                <a:latin typeface="Arial Narrow" panose="020B0606020202030204" pitchFamily="34" charset="0"/>
              </a:rPr>
              <a:t> </a:t>
            </a:r>
            <a:r>
              <a:rPr lang="tr-TR" sz="1600" dirty="0" err="1">
                <a:latin typeface="Arial Narrow" panose="020B0606020202030204" pitchFamily="34" charset="0"/>
              </a:rPr>
              <a:t>claims</a:t>
            </a:r>
            <a:r>
              <a:rPr lang="tr-TR" sz="1600" dirty="0">
                <a:latin typeface="Arial Narrow" panose="020B0606020202030204" pitchFamily="34" charset="0"/>
              </a:rPr>
              <a:t> on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borrower’s</a:t>
            </a:r>
            <a:r>
              <a:rPr lang="tr-TR" sz="1600" dirty="0">
                <a:latin typeface="Arial Narrow" panose="020B0606020202030204" pitchFamily="34" charset="0"/>
              </a:rPr>
              <a:t> </a:t>
            </a:r>
            <a:r>
              <a:rPr lang="tr-TR" sz="1600" dirty="0" err="1">
                <a:latin typeface="Arial Narrow" panose="020B0606020202030204" pitchFamily="34" charset="0"/>
              </a:rPr>
              <a:t>future</a:t>
            </a:r>
            <a:r>
              <a:rPr lang="tr-TR" sz="1600" dirty="0">
                <a:latin typeface="Arial Narrow" panose="020B0606020202030204" pitchFamily="34" charset="0"/>
              </a:rPr>
              <a:t> </a:t>
            </a:r>
            <a:r>
              <a:rPr lang="tr-TR" sz="1600" dirty="0" err="1">
                <a:latin typeface="Arial Narrow" panose="020B0606020202030204" pitchFamily="34" charset="0"/>
              </a:rPr>
              <a:t>income</a:t>
            </a:r>
            <a:r>
              <a:rPr lang="tr-TR" sz="1600" dirty="0">
                <a:latin typeface="Arial Narrow" panose="020B0606020202030204" pitchFamily="34" charset="0"/>
              </a:rPr>
              <a:t> </a:t>
            </a:r>
            <a:r>
              <a:rPr lang="tr-TR" sz="1600" dirty="0" err="1">
                <a:latin typeface="Arial Narrow" panose="020B0606020202030204" pitchFamily="34" charset="0"/>
              </a:rPr>
              <a:t>or</a:t>
            </a:r>
            <a:r>
              <a:rPr lang="tr-TR" sz="1600" dirty="0">
                <a:latin typeface="Arial Narrow" panose="020B0606020202030204" pitchFamily="34" charset="0"/>
              </a:rPr>
              <a:t> </a:t>
            </a:r>
            <a:r>
              <a:rPr lang="tr-TR" sz="1600" dirty="0" err="1">
                <a:latin typeface="Arial Narrow" panose="020B0606020202030204" pitchFamily="34" charset="0"/>
              </a:rPr>
              <a:t>assets</a:t>
            </a:r>
            <a:r>
              <a:rPr lang="tr-TR" sz="1600" dirty="0" smtClean="0">
                <a:latin typeface="Arial Narrow" panose="020B0606020202030204" pitchFamily="34" charset="0"/>
              </a:rPr>
              <a:t>.</a:t>
            </a: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a:p>
            <a:pPr marL="0" indent="0" algn="ctr">
              <a:spcBef>
                <a:spcPts val="0"/>
              </a:spcBef>
              <a:buNone/>
            </a:pPr>
            <a:endParaRPr lang="tr-TR" sz="1600" smtClean="0">
              <a:latin typeface="Arial Narrow" panose="020B0606020202030204" pitchFamily="34" charset="0"/>
            </a:endParaRPr>
          </a:p>
          <a:p>
            <a:pPr marL="0" indent="0" algn="ctr">
              <a:spcBef>
                <a:spcPts val="0"/>
              </a:spcBef>
              <a:buNone/>
            </a:pPr>
            <a:r>
              <a:rPr lang="tr-TR" sz="1600" smtClean="0">
                <a:latin typeface="Arial Narrow" panose="020B0606020202030204" pitchFamily="34" charset="0"/>
              </a:rPr>
              <a:t>Financial </a:t>
            </a:r>
            <a:r>
              <a:rPr lang="tr-TR" sz="1600" dirty="0" err="1">
                <a:latin typeface="Arial Narrow" panose="020B0606020202030204" pitchFamily="34" charset="0"/>
              </a:rPr>
              <a:t>markets</a:t>
            </a:r>
            <a:r>
              <a:rPr lang="tr-TR" sz="1600" dirty="0">
                <a:latin typeface="Arial Narrow" panose="020B0606020202030204" pitchFamily="34" charset="0"/>
              </a:rPr>
              <a:t> </a:t>
            </a:r>
            <a:r>
              <a:rPr lang="tr-TR" sz="1600" dirty="0" err="1">
                <a:latin typeface="Arial Narrow" panose="020B0606020202030204" pitchFamily="34" charset="0"/>
              </a:rPr>
              <a:t>perform</a:t>
            </a:r>
            <a:r>
              <a:rPr lang="tr-TR" sz="1600" dirty="0">
                <a:latin typeface="Arial Narrow" panose="020B0606020202030204" pitchFamily="34" charset="0"/>
              </a:rPr>
              <a:t> </a:t>
            </a:r>
            <a:r>
              <a:rPr lang="tr-TR" sz="1600" dirty="0" err="1">
                <a:latin typeface="Arial Narrow" panose="020B0606020202030204" pitchFamily="34" charset="0"/>
              </a:rPr>
              <a:t>the</a:t>
            </a:r>
            <a:r>
              <a:rPr lang="tr-TR" sz="1600" dirty="0">
                <a:latin typeface="Arial Narrow" panose="020B0606020202030204" pitchFamily="34" charset="0"/>
              </a:rPr>
              <a:t> </a:t>
            </a:r>
            <a:r>
              <a:rPr lang="tr-TR" sz="1600" dirty="0" err="1">
                <a:latin typeface="Arial Narrow" panose="020B0606020202030204" pitchFamily="34" charset="0"/>
              </a:rPr>
              <a:t>essential</a:t>
            </a:r>
            <a:r>
              <a:rPr lang="tr-TR" sz="1600" dirty="0">
                <a:latin typeface="Arial Narrow" panose="020B0606020202030204" pitchFamily="34" charset="0"/>
              </a:rPr>
              <a:t> </a:t>
            </a:r>
            <a:r>
              <a:rPr lang="tr-TR" sz="1600" dirty="0" err="1">
                <a:latin typeface="Arial Narrow" panose="020B0606020202030204" pitchFamily="34" charset="0"/>
              </a:rPr>
              <a:t>economic</a:t>
            </a:r>
            <a:r>
              <a:rPr lang="tr-TR" sz="1600" dirty="0">
                <a:latin typeface="Arial Narrow" panose="020B0606020202030204" pitchFamily="34" charset="0"/>
              </a:rPr>
              <a:t> </a:t>
            </a:r>
            <a:r>
              <a:rPr lang="tr-TR" sz="1600" dirty="0" err="1">
                <a:latin typeface="Arial Narrow" panose="020B0606020202030204" pitchFamily="34" charset="0"/>
              </a:rPr>
              <a:t>function</a:t>
            </a:r>
            <a:r>
              <a:rPr lang="tr-TR" sz="1600" dirty="0">
                <a:latin typeface="Arial Narrow" panose="020B0606020202030204" pitchFamily="34" charset="0"/>
              </a:rPr>
              <a:t> of </a:t>
            </a:r>
            <a:r>
              <a:rPr lang="tr-TR" sz="1600" dirty="0" err="1">
                <a:latin typeface="Arial Narrow" panose="020B0606020202030204" pitchFamily="34" charset="0"/>
              </a:rPr>
              <a:t>channeling</a:t>
            </a:r>
            <a:r>
              <a:rPr lang="tr-TR" sz="1600" dirty="0">
                <a:latin typeface="Arial Narrow" panose="020B0606020202030204" pitchFamily="34" charset="0"/>
              </a:rPr>
              <a:t> </a:t>
            </a:r>
            <a:r>
              <a:rPr lang="tr-TR" sz="1600" dirty="0" err="1" smtClean="0">
                <a:latin typeface="Arial Narrow" panose="020B0606020202030204" pitchFamily="34" charset="0"/>
              </a:rPr>
              <a:t>funds</a:t>
            </a:r>
            <a:endParaRPr lang="tr-TR" sz="1600" dirty="0">
              <a:latin typeface="Arial Narrow" panose="020B0606020202030204" pitchFamily="34" charset="0"/>
            </a:endParaRPr>
          </a:p>
          <a:p>
            <a:pPr marL="0" indent="0" algn="ctr">
              <a:spcBef>
                <a:spcPts val="0"/>
              </a:spcBef>
              <a:buNone/>
            </a:pPr>
            <a:r>
              <a:rPr lang="tr-TR" sz="1600" dirty="0" err="1">
                <a:latin typeface="Arial Narrow" panose="020B0606020202030204" pitchFamily="34" charset="0"/>
              </a:rPr>
              <a:t>f</a:t>
            </a:r>
            <a:r>
              <a:rPr lang="tr-TR" sz="1600" dirty="0" err="1" smtClean="0">
                <a:latin typeface="Arial Narrow" panose="020B0606020202030204" pitchFamily="34" charset="0"/>
              </a:rPr>
              <a:t>rom</a:t>
            </a:r>
            <a:r>
              <a:rPr lang="tr-TR" sz="1600" dirty="0" smtClean="0">
                <a:latin typeface="Arial Narrow" panose="020B0606020202030204" pitchFamily="34" charset="0"/>
              </a:rPr>
              <a:t> </a:t>
            </a:r>
            <a:r>
              <a:rPr lang="tr-TR" sz="1600" dirty="0" err="1" smtClean="0">
                <a:latin typeface="Arial Narrow" panose="020B0606020202030204" pitchFamily="34" charset="0"/>
              </a:rPr>
              <a:t>households</a:t>
            </a:r>
            <a:r>
              <a:rPr lang="tr-TR" sz="1600" dirty="0">
                <a:latin typeface="Arial Narrow" panose="020B0606020202030204" pitchFamily="34" charset="0"/>
              </a:rPr>
              <a:t>, </a:t>
            </a:r>
            <a:r>
              <a:rPr lang="tr-TR" sz="1600" dirty="0" err="1">
                <a:latin typeface="Arial Narrow" panose="020B0606020202030204" pitchFamily="34" charset="0"/>
              </a:rPr>
              <a:t>firms</a:t>
            </a:r>
            <a:r>
              <a:rPr lang="tr-TR" sz="1600" dirty="0">
                <a:latin typeface="Arial Narrow" panose="020B0606020202030204" pitchFamily="34" charset="0"/>
              </a:rPr>
              <a:t>, </a:t>
            </a:r>
            <a:r>
              <a:rPr lang="tr-TR" sz="1600" dirty="0" err="1">
                <a:latin typeface="Arial Narrow" panose="020B0606020202030204" pitchFamily="34" charset="0"/>
              </a:rPr>
              <a:t>and</a:t>
            </a:r>
            <a:r>
              <a:rPr lang="tr-TR" sz="1600" dirty="0">
                <a:latin typeface="Arial Narrow" panose="020B0606020202030204" pitchFamily="34" charset="0"/>
              </a:rPr>
              <a:t> </a:t>
            </a:r>
            <a:r>
              <a:rPr lang="tr-TR" sz="1600" dirty="0" err="1" smtClean="0">
                <a:latin typeface="Arial Narrow" panose="020B0606020202030204" pitchFamily="34" charset="0"/>
              </a:rPr>
              <a:t>governments</a:t>
            </a:r>
            <a:endParaRPr lang="tr-TR" sz="16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a:latin typeface="Arial Narrow" panose="020B0606020202030204" pitchFamily="34" charset="0"/>
              </a:rPr>
              <a:t>have</a:t>
            </a:r>
            <a:r>
              <a:rPr lang="tr-TR" sz="1600" dirty="0">
                <a:latin typeface="Arial Narrow" panose="020B0606020202030204" pitchFamily="34" charset="0"/>
              </a:rPr>
              <a:t> </a:t>
            </a:r>
            <a:r>
              <a:rPr lang="tr-TR" sz="1600" dirty="0" err="1">
                <a:latin typeface="Arial Narrow" panose="020B0606020202030204" pitchFamily="34" charset="0"/>
              </a:rPr>
              <a:t>saved</a:t>
            </a:r>
            <a:r>
              <a:rPr lang="tr-TR" sz="1600" dirty="0">
                <a:latin typeface="Arial Narrow" panose="020B0606020202030204" pitchFamily="34" charset="0"/>
              </a:rPr>
              <a:t> </a:t>
            </a:r>
            <a:r>
              <a:rPr lang="tr-TR" sz="1600" dirty="0" err="1">
                <a:latin typeface="Arial Narrow" panose="020B0606020202030204" pitchFamily="34" charset="0"/>
              </a:rPr>
              <a:t>surplus</a:t>
            </a:r>
            <a:r>
              <a:rPr lang="tr-TR" sz="1600" dirty="0">
                <a:latin typeface="Arial Narrow" panose="020B0606020202030204" pitchFamily="34" charset="0"/>
              </a:rPr>
              <a:t> </a:t>
            </a:r>
            <a:r>
              <a:rPr lang="tr-TR" sz="1600" dirty="0" err="1">
                <a:latin typeface="Arial Narrow" panose="020B0606020202030204" pitchFamily="34" charset="0"/>
              </a:rPr>
              <a:t>funds</a:t>
            </a:r>
            <a:r>
              <a:rPr lang="tr-TR" sz="1600" dirty="0">
                <a:latin typeface="Arial Narrow" panose="020B0606020202030204" pitchFamily="34" charset="0"/>
              </a:rPr>
              <a:t> </a:t>
            </a:r>
            <a:r>
              <a:rPr lang="tr-TR" sz="1600" dirty="0" err="1">
                <a:latin typeface="Arial Narrow" panose="020B0606020202030204" pitchFamily="34" charset="0"/>
              </a:rPr>
              <a:t>by</a:t>
            </a:r>
            <a:r>
              <a:rPr lang="tr-TR" sz="1600" dirty="0">
                <a:latin typeface="Arial Narrow" panose="020B0606020202030204" pitchFamily="34" charset="0"/>
              </a:rPr>
              <a:t> </a:t>
            </a:r>
            <a:r>
              <a:rPr lang="tr-TR" sz="1600" dirty="0" err="1">
                <a:latin typeface="Arial Narrow" panose="020B0606020202030204" pitchFamily="34" charset="0"/>
              </a:rPr>
              <a:t>spending</a:t>
            </a:r>
            <a:r>
              <a:rPr lang="tr-TR" sz="1600" dirty="0">
                <a:latin typeface="Arial Narrow" panose="020B0606020202030204" pitchFamily="34" charset="0"/>
              </a:rPr>
              <a:t> </a:t>
            </a:r>
            <a:r>
              <a:rPr lang="tr-TR" sz="1600" dirty="0" err="1">
                <a:latin typeface="Arial Narrow" panose="020B0606020202030204" pitchFamily="34" charset="0"/>
              </a:rPr>
              <a:t>less</a:t>
            </a:r>
            <a:r>
              <a:rPr lang="tr-TR" sz="1600" dirty="0">
                <a:latin typeface="Arial Narrow" panose="020B0606020202030204" pitchFamily="34" charset="0"/>
              </a:rPr>
              <a:t> </a:t>
            </a:r>
            <a:r>
              <a:rPr lang="tr-TR" sz="1600" dirty="0" err="1">
                <a:latin typeface="Arial Narrow" panose="020B0606020202030204" pitchFamily="34" charset="0"/>
              </a:rPr>
              <a:t>than</a:t>
            </a:r>
            <a:r>
              <a:rPr lang="tr-TR" sz="1600" dirty="0">
                <a:latin typeface="Arial Narrow" panose="020B0606020202030204" pitchFamily="34" charset="0"/>
              </a:rPr>
              <a:t> </a:t>
            </a:r>
            <a:r>
              <a:rPr lang="tr-TR" sz="1600" dirty="0" err="1">
                <a:latin typeface="Arial Narrow" panose="020B0606020202030204" pitchFamily="34" charset="0"/>
              </a:rPr>
              <a:t>their</a:t>
            </a:r>
            <a:r>
              <a:rPr lang="tr-TR" sz="1600" dirty="0">
                <a:latin typeface="Arial Narrow" panose="020B0606020202030204" pitchFamily="34" charset="0"/>
              </a:rPr>
              <a:t> </a:t>
            </a:r>
            <a:r>
              <a:rPr lang="tr-TR" sz="1600" dirty="0" err="1">
                <a:latin typeface="Arial Narrow" panose="020B0606020202030204" pitchFamily="34" charset="0"/>
              </a:rPr>
              <a:t>income</a:t>
            </a:r>
            <a:endParaRPr lang="tr-TR" sz="1600" dirty="0">
              <a:latin typeface="Arial Narrow" panose="020B0606020202030204" pitchFamily="34" charset="0"/>
            </a:endParaRPr>
          </a:p>
          <a:p>
            <a:pPr marL="0" indent="0" algn="ctr">
              <a:spcBef>
                <a:spcPts val="0"/>
              </a:spcBef>
              <a:buNone/>
            </a:pP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those</a:t>
            </a:r>
            <a:r>
              <a:rPr lang="tr-TR" sz="1600" dirty="0">
                <a:latin typeface="Arial Narrow" panose="020B0606020202030204" pitchFamily="34" charset="0"/>
              </a:rPr>
              <a:t> </a:t>
            </a:r>
            <a:r>
              <a:rPr lang="tr-TR" sz="1600" dirty="0" err="1">
                <a:latin typeface="Arial Narrow" panose="020B0606020202030204" pitchFamily="34" charset="0"/>
              </a:rPr>
              <a:t>that</a:t>
            </a:r>
            <a:r>
              <a:rPr lang="tr-TR" sz="1600" dirty="0">
                <a:latin typeface="Arial Narrow" panose="020B0606020202030204" pitchFamily="34" charset="0"/>
              </a:rPr>
              <a:t> </a:t>
            </a:r>
            <a:r>
              <a:rPr lang="tr-TR" sz="1600" dirty="0" err="1">
                <a:latin typeface="Arial Narrow" panose="020B0606020202030204" pitchFamily="34" charset="0"/>
              </a:rPr>
              <a:t>have</a:t>
            </a:r>
            <a:r>
              <a:rPr lang="tr-TR" sz="1600" dirty="0">
                <a:latin typeface="Arial Narrow" panose="020B0606020202030204" pitchFamily="34" charset="0"/>
              </a:rPr>
              <a:t> a </a:t>
            </a:r>
            <a:r>
              <a:rPr lang="tr-TR" sz="1600" dirty="0" err="1">
                <a:latin typeface="Arial Narrow" panose="020B0606020202030204" pitchFamily="34" charset="0"/>
              </a:rPr>
              <a:t>shortage</a:t>
            </a:r>
            <a:r>
              <a:rPr lang="tr-TR" sz="1600" dirty="0">
                <a:latin typeface="Arial Narrow" panose="020B0606020202030204" pitchFamily="34" charset="0"/>
              </a:rPr>
              <a:t> of </a:t>
            </a:r>
            <a:r>
              <a:rPr lang="tr-TR" sz="1600" dirty="0" err="1">
                <a:latin typeface="Arial Narrow" panose="020B0606020202030204" pitchFamily="34" charset="0"/>
              </a:rPr>
              <a:t>funds</a:t>
            </a:r>
            <a:r>
              <a:rPr lang="tr-TR" sz="1600" dirty="0">
                <a:latin typeface="Arial Narrow" panose="020B0606020202030204" pitchFamily="34" charset="0"/>
              </a:rPr>
              <a:t> </a:t>
            </a:r>
            <a:r>
              <a:rPr lang="tr-TR" sz="1600" dirty="0" err="1">
                <a:latin typeface="Arial Narrow" panose="020B0606020202030204" pitchFamily="34" charset="0"/>
              </a:rPr>
              <a:t>because</a:t>
            </a:r>
            <a:r>
              <a:rPr lang="tr-TR" sz="1600" dirty="0">
                <a:latin typeface="Arial Narrow" panose="020B0606020202030204" pitchFamily="34" charset="0"/>
              </a:rPr>
              <a:t> </a:t>
            </a:r>
            <a:r>
              <a:rPr lang="tr-TR" sz="1600" dirty="0" err="1">
                <a:latin typeface="Arial Narrow" panose="020B0606020202030204" pitchFamily="34" charset="0"/>
              </a:rPr>
              <a:t>they</a:t>
            </a:r>
            <a:r>
              <a:rPr lang="tr-TR" sz="1600" dirty="0">
                <a:latin typeface="Arial Narrow" panose="020B0606020202030204" pitchFamily="34" charset="0"/>
              </a:rPr>
              <a:t> </a:t>
            </a:r>
            <a:r>
              <a:rPr lang="tr-TR" sz="1600" dirty="0" err="1">
                <a:latin typeface="Arial Narrow" panose="020B0606020202030204" pitchFamily="34" charset="0"/>
              </a:rPr>
              <a:t>wish</a:t>
            </a:r>
            <a:r>
              <a:rPr lang="tr-TR" sz="1600" dirty="0">
                <a:latin typeface="Arial Narrow" panose="020B0606020202030204" pitchFamily="34" charset="0"/>
              </a:rPr>
              <a:t> </a:t>
            </a:r>
            <a:r>
              <a:rPr lang="tr-TR" sz="1600" dirty="0" err="1">
                <a:latin typeface="Arial Narrow" panose="020B0606020202030204" pitchFamily="34" charset="0"/>
              </a:rPr>
              <a:t>to</a:t>
            </a:r>
            <a:r>
              <a:rPr lang="tr-TR" sz="1600" dirty="0">
                <a:latin typeface="Arial Narrow" panose="020B0606020202030204" pitchFamily="34" charset="0"/>
              </a:rPr>
              <a:t> </a:t>
            </a:r>
            <a:r>
              <a:rPr lang="tr-TR" sz="1600" dirty="0" err="1">
                <a:latin typeface="Arial Narrow" panose="020B0606020202030204" pitchFamily="34" charset="0"/>
              </a:rPr>
              <a:t>spend</a:t>
            </a:r>
            <a:r>
              <a:rPr lang="tr-TR" sz="1600" dirty="0">
                <a:latin typeface="Arial Narrow" panose="020B0606020202030204" pitchFamily="34" charset="0"/>
              </a:rPr>
              <a:t> </a:t>
            </a:r>
            <a:r>
              <a:rPr lang="tr-TR" sz="1600" dirty="0" err="1">
                <a:latin typeface="Arial Narrow" panose="020B0606020202030204" pitchFamily="34" charset="0"/>
              </a:rPr>
              <a:t>more</a:t>
            </a:r>
            <a:r>
              <a:rPr lang="tr-TR" sz="1600" dirty="0">
                <a:latin typeface="Arial Narrow" panose="020B0606020202030204" pitchFamily="34" charset="0"/>
              </a:rPr>
              <a:t> </a:t>
            </a:r>
            <a:r>
              <a:rPr lang="tr-TR" sz="1600" dirty="0" err="1">
                <a:latin typeface="Arial Narrow" panose="020B0606020202030204" pitchFamily="34" charset="0"/>
              </a:rPr>
              <a:t>than</a:t>
            </a:r>
            <a:r>
              <a:rPr lang="tr-TR" sz="1600" dirty="0">
                <a:latin typeface="Arial Narrow" panose="020B0606020202030204" pitchFamily="34" charset="0"/>
              </a:rPr>
              <a:t> </a:t>
            </a:r>
            <a:r>
              <a:rPr lang="tr-TR" sz="1600" dirty="0" err="1">
                <a:latin typeface="Arial Narrow" panose="020B0606020202030204" pitchFamily="34" charset="0"/>
              </a:rPr>
              <a:t>their</a:t>
            </a:r>
            <a:r>
              <a:rPr lang="tr-TR" sz="1600" dirty="0">
                <a:latin typeface="Arial Narrow" panose="020B0606020202030204" pitchFamily="34" charset="0"/>
              </a:rPr>
              <a:t> </a:t>
            </a:r>
            <a:r>
              <a:rPr lang="tr-TR" sz="1600" dirty="0" err="1">
                <a:latin typeface="Arial Narrow" panose="020B0606020202030204" pitchFamily="34" charset="0"/>
              </a:rPr>
              <a:t>income</a:t>
            </a:r>
            <a:r>
              <a:rPr lang="tr-TR" sz="1600" dirty="0">
                <a:latin typeface="Arial Narrow" panose="020B0606020202030204" pitchFamily="34" charset="0"/>
              </a:rPr>
              <a:t>.</a:t>
            </a:r>
            <a:endParaRPr lang="tr-TR" sz="1600" noProof="1">
              <a:latin typeface="Arial Narrow" panose="020B0606020202030204" pitchFamily="34" charset="0"/>
            </a:endParaRPr>
          </a:p>
          <a:p>
            <a:pPr marL="0" lvl="0" indent="0" algn="ctr">
              <a:spcBef>
                <a:spcPts val="0"/>
              </a:spcBef>
              <a:buNone/>
            </a:pPr>
            <a:endParaRPr lang="tr-TR" sz="1600" dirty="0">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907704" y="2004460"/>
            <a:ext cx="5688632" cy="3296748"/>
          </a:xfrm>
          <a:prstGeom prst="rect">
            <a:avLst/>
          </a:prstGeom>
        </p:spPr>
      </p:pic>
    </p:spTree>
    <p:extLst>
      <p:ext uri="{BB962C8B-B14F-4D97-AF65-F5344CB8AC3E}">
        <p14:creationId xmlns:p14="http://schemas.microsoft.com/office/powerpoint/2010/main" val="3400096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624"/>
            <a:ext cx="8229600" cy="1008112"/>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[5] Financial System</a:t>
            </a:r>
            <a:br>
              <a:rPr lang="tr-TR" sz="2400">
                <a:solidFill>
                  <a:srgbClr val="800000"/>
                </a:solidFill>
                <a:latin typeface="Arial Narrow" pitchFamily="34" charset="0"/>
              </a:rPr>
            </a:br>
            <a:r>
              <a:rPr lang="tr-TR" sz="2400" smtClean="0">
                <a:latin typeface="Arial Narrow" pitchFamily="34" charset="0"/>
              </a:rPr>
              <a:t>Primary </a:t>
            </a:r>
            <a:r>
              <a:rPr lang="tr-TR" sz="2400" dirty="0" err="1" smtClean="0">
                <a:latin typeface="Arial Narrow" pitchFamily="34" charset="0"/>
              </a:rPr>
              <a:t>and</a:t>
            </a:r>
            <a:r>
              <a:rPr lang="tr-TR" sz="2400" dirty="0" smtClean="0">
                <a:latin typeface="Arial Narrow" pitchFamily="34" charset="0"/>
              </a:rPr>
              <a:t> </a:t>
            </a:r>
            <a:r>
              <a:rPr lang="tr-TR" sz="2400" dirty="0" err="1" smtClean="0">
                <a:latin typeface="Arial Narrow" pitchFamily="34" charset="0"/>
              </a:rPr>
              <a:t>Secondary</a:t>
            </a:r>
            <a:r>
              <a:rPr lang="tr-TR" sz="2400" dirty="0" smtClean="0">
                <a:latin typeface="Arial Narrow" pitchFamily="34" charset="0"/>
              </a:rPr>
              <a:t> </a:t>
            </a:r>
            <a:r>
              <a:rPr lang="tr-TR" sz="2400" dirty="0" err="1" smtClean="0">
                <a:latin typeface="Arial Narrow" pitchFamily="34" charset="0"/>
              </a:rPr>
              <a:t>Markets</a:t>
            </a:r>
            <a:endParaRPr lang="tr-TR" sz="2400" dirty="0">
              <a:latin typeface="Arial Narrow" pitchFamily="34" charset="0"/>
            </a:endParaRPr>
          </a:p>
        </p:txBody>
      </p:sp>
      <p:sp>
        <p:nvSpPr>
          <p:cNvPr id="5" name="Content Placeholder 4"/>
          <p:cNvSpPr>
            <a:spLocks noGrp="1"/>
          </p:cNvSpPr>
          <p:nvPr>
            <p:ph idx="1"/>
          </p:nvPr>
        </p:nvSpPr>
        <p:spPr>
          <a:xfrm>
            <a:off x="179512" y="1052736"/>
            <a:ext cx="8784976" cy="5544616"/>
          </a:xfrm>
          <a:ln w="25400">
            <a:noFill/>
          </a:ln>
        </p:spPr>
        <p:txBody>
          <a:bodyPr>
            <a:noAutofit/>
          </a:bodyPr>
          <a:lstStyle/>
          <a:p>
            <a:pPr marL="0" indent="0" algn="ctr">
              <a:spcBef>
                <a:spcPts val="0"/>
              </a:spcBef>
              <a:buNone/>
            </a:pPr>
            <a:r>
              <a:rPr lang="tr-TR" sz="1600" dirty="0" err="1" smtClean="0">
                <a:solidFill>
                  <a:srgbClr val="800000"/>
                </a:solidFill>
                <a:latin typeface="Arial Narrow" panose="020B0606020202030204" pitchFamily="34" charset="0"/>
              </a:rPr>
              <a:t>Primary</a:t>
            </a:r>
            <a:r>
              <a:rPr lang="tr-TR" sz="1600" dirty="0" smtClean="0">
                <a:solidFill>
                  <a:srgbClr val="800000"/>
                </a:solidFill>
                <a:latin typeface="Arial Narrow" panose="020B0606020202030204" pitchFamily="34" charset="0"/>
              </a:rPr>
              <a:t> Market</a:t>
            </a:r>
          </a:p>
          <a:p>
            <a:pPr marL="0" indent="0" algn="ctr">
              <a:spcBef>
                <a:spcPts val="0"/>
              </a:spcBef>
              <a:buNone/>
            </a:pPr>
            <a:r>
              <a:rPr lang="tr-TR" sz="1600" dirty="0" smtClean="0">
                <a:latin typeface="Arial Narrow" panose="020B0606020202030204" pitchFamily="34" charset="0"/>
              </a:rPr>
              <a:t>is a </a:t>
            </a:r>
            <a:r>
              <a:rPr lang="tr-TR" sz="1600" dirty="0" err="1" smtClean="0">
                <a:latin typeface="Arial Narrow" panose="020B0606020202030204" pitchFamily="34" charset="0"/>
              </a:rPr>
              <a:t>financial</a:t>
            </a:r>
            <a:r>
              <a:rPr lang="tr-TR" sz="1600" dirty="0" smtClean="0">
                <a:latin typeface="Arial Narrow" panose="020B0606020202030204" pitchFamily="34" charset="0"/>
              </a:rPr>
              <a:t> market in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new</a:t>
            </a:r>
            <a:r>
              <a:rPr lang="tr-TR" sz="1600" dirty="0" smtClean="0">
                <a:latin typeface="Arial Narrow" panose="020B0606020202030204" pitchFamily="34" charset="0"/>
              </a:rPr>
              <a:t> </a:t>
            </a:r>
            <a:r>
              <a:rPr lang="tr-TR" sz="1600" dirty="0" err="1" smtClean="0">
                <a:latin typeface="Arial Narrow" panose="020B0606020202030204" pitchFamily="34" charset="0"/>
              </a:rPr>
              <a:t>issues</a:t>
            </a:r>
            <a:r>
              <a:rPr lang="tr-TR" sz="1600" dirty="0" smtClean="0">
                <a:latin typeface="Arial Narrow" panose="020B0606020202030204" pitchFamily="34" charset="0"/>
              </a:rPr>
              <a:t> of a Financial </a:t>
            </a:r>
            <a:r>
              <a:rPr lang="tr-TR" sz="1600" dirty="0">
                <a:latin typeface="Arial Narrow" panose="020B0606020202030204" pitchFamily="34" charset="0"/>
              </a:rPr>
              <a:t>S</a:t>
            </a:r>
            <a:r>
              <a:rPr lang="tr-TR" sz="1600" dirty="0" smtClean="0">
                <a:latin typeface="Arial Narrow" panose="020B0606020202030204" pitchFamily="34" charset="0"/>
              </a:rPr>
              <a:t>ecurity, </a:t>
            </a:r>
            <a:r>
              <a:rPr lang="tr-TR" sz="1600" dirty="0" err="1" smtClean="0">
                <a:latin typeface="Arial Narrow" panose="020B0606020202030204" pitchFamily="34" charset="0"/>
              </a:rPr>
              <a:t>such</a:t>
            </a:r>
            <a:r>
              <a:rPr lang="tr-TR" sz="1600" dirty="0" smtClean="0">
                <a:latin typeface="Arial Narrow" panose="020B0606020202030204" pitchFamily="34" charset="0"/>
              </a:rPr>
              <a:t> as a </a:t>
            </a:r>
            <a:r>
              <a:rPr lang="tr-TR" sz="1600" dirty="0" err="1" smtClean="0">
                <a:latin typeface="Arial Narrow" panose="020B0606020202030204" pitchFamily="34" charset="0"/>
              </a:rPr>
              <a:t>bond</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stock</a:t>
            </a:r>
            <a:r>
              <a:rPr lang="tr-TR" sz="1600" dirty="0" smtClean="0">
                <a:latin typeface="Arial Narrow" panose="020B0606020202030204" pitchFamily="34" charset="0"/>
              </a:rPr>
              <a:t>,</a:t>
            </a:r>
          </a:p>
          <a:p>
            <a:pPr marL="0" indent="0" algn="ctr">
              <a:spcBef>
                <a:spcPts val="0"/>
              </a:spcBef>
              <a:buNone/>
            </a:pP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sold</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initial</a:t>
            </a:r>
            <a:r>
              <a:rPr lang="tr-TR" sz="1600" dirty="0" smtClean="0">
                <a:latin typeface="Arial Narrow" panose="020B0606020202030204" pitchFamily="34" charset="0"/>
              </a:rPr>
              <a:t> </a:t>
            </a:r>
            <a:r>
              <a:rPr lang="tr-TR" sz="1600" dirty="0" err="1" smtClean="0">
                <a:latin typeface="Arial Narrow" panose="020B0606020202030204" pitchFamily="34" charset="0"/>
              </a:rPr>
              <a:t>buyers</a:t>
            </a:r>
            <a:r>
              <a:rPr lang="tr-TR" sz="1600" dirty="0" smtClean="0">
                <a:latin typeface="Arial Narrow" panose="020B0606020202030204" pitchFamily="34" charset="0"/>
              </a:rPr>
              <a:t> </a:t>
            </a:r>
            <a:r>
              <a:rPr lang="tr-TR" sz="1600" dirty="0" err="1" smtClean="0">
                <a:latin typeface="Arial Narrow" panose="020B0606020202030204" pitchFamily="34" charset="0"/>
              </a:rPr>
              <a:t>by</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corporation</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a:t>
            </a:r>
            <a:r>
              <a:rPr lang="tr-TR" sz="1600" dirty="0" smtClean="0">
                <a:latin typeface="Arial Narrow" panose="020B0606020202030204" pitchFamily="34" charset="0"/>
              </a:rPr>
              <a:t> </a:t>
            </a:r>
            <a:r>
              <a:rPr lang="tr-TR" sz="1600" dirty="0" err="1" smtClean="0">
                <a:latin typeface="Arial Narrow" panose="020B0606020202030204" pitchFamily="34" charset="0"/>
              </a:rPr>
              <a:t>agency</a:t>
            </a:r>
            <a:r>
              <a:rPr lang="tr-TR" sz="1600" dirty="0" smtClean="0">
                <a:latin typeface="Arial Narrow" panose="020B0606020202030204" pitchFamily="34" charset="0"/>
              </a:rPr>
              <a:t> </a:t>
            </a:r>
            <a:r>
              <a:rPr lang="tr-TR" sz="1600" dirty="0" err="1" smtClean="0">
                <a:latin typeface="Arial Narrow" panose="020B0606020202030204" pitchFamily="34" charset="0"/>
              </a:rPr>
              <a:t>borrowing</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err="1" smtClean="0">
                <a:latin typeface="Arial Narrow" panose="020B0606020202030204" pitchFamily="34" charset="0"/>
              </a:rPr>
              <a:t>funds</a:t>
            </a:r>
            <a:r>
              <a:rPr lang="tr-TR" sz="1600" smtClean="0">
                <a:latin typeface="Arial Narrow" panose="020B0606020202030204" pitchFamily="34" charset="0"/>
              </a:rPr>
              <a:t>.</a:t>
            </a:r>
          </a:p>
          <a:p>
            <a:pPr marL="0" indent="0" algn="ctr">
              <a:spcBef>
                <a:spcPts val="0"/>
              </a:spcBef>
              <a:buNone/>
            </a:pPr>
            <a:endParaRPr lang="tr-TR" sz="1600" noProof="1">
              <a:latin typeface="Arial Narrow" panose="020B0606020202030204" pitchFamily="34" charset="0"/>
            </a:endParaRPr>
          </a:p>
          <a:p>
            <a:pPr marL="0" indent="0" algn="ctr">
              <a:spcBef>
                <a:spcPts val="0"/>
              </a:spcBef>
              <a:buNone/>
            </a:pPr>
            <a:r>
              <a:rPr lang="tr-TR" sz="1600" noProof="1" smtClean="0">
                <a:solidFill>
                  <a:srgbClr val="800000"/>
                </a:solidFill>
                <a:latin typeface="Arial Narrow" panose="020B0606020202030204" pitchFamily="34" charset="0"/>
              </a:rPr>
              <a:t>Secondary Market</a:t>
            </a:r>
          </a:p>
          <a:p>
            <a:pPr marL="0" indent="0" algn="ctr">
              <a:spcBef>
                <a:spcPts val="0"/>
              </a:spcBef>
              <a:buNone/>
            </a:pPr>
            <a:r>
              <a:rPr lang="tr-TR" sz="1600" noProof="1" smtClean="0">
                <a:latin typeface="Arial Narrow" panose="020B0606020202030204" pitchFamily="34" charset="0"/>
              </a:rPr>
              <a:t>is a financial market in which securities that have been previously issued can be resold.</a:t>
            </a:r>
          </a:p>
          <a:p>
            <a:pPr marL="0" indent="0" algn="ctr">
              <a:spcBef>
                <a:spcPts val="0"/>
              </a:spcBef>
              <a:buNone/>
            </a:pPr>
            <a:r>
              <a:rPr lang="tr-TR" sz="1600" noProof="1" smtClean="0">
                <a:latin typeface="Arial Narrow" panose="020B0606020202030204" pitchFamily="34" charset="0"/>
              </a:rPr>
              <a:t>An important financial institution that assists in the initial sale of securities in the primary market</a:t>
            </a:r>
          </a:p>
          <a:p>
            <a:pPr marL="0" indent="0" algn="ctr">
              <a:spcBef>
                <a:spcPts val="0"/>
              </a:spcBef>
              <a:buNone/>
            </a:pPr>
            <a:r>
              <a:rPr lang="tr-TR" sz="1600" noProof="1" smtClean="0">
                <a:latin typeface="Arial Narrow" panose="020B0606020202030204" pitchFamily="34" charset="0"/>
              </a:rPr>
              <a:t>is the investment bank. It does this by underwriting securities:</a:t>
            </a:r>
          </a:p>
          <a:p>
            <a:pPr marL="0" indent="0" algn="ctr">
              <a:spcBef>
                <a:spcPts val="0"/>
              </a:spcBef>
              <a:buNone/>
            </a:pPr>
            <a:r>
              <a:rPr lang="tr-TR" sz="1600" noProof="1" smtClean="0">
                <a:latin typeface="Arial Narrow" panose="020B0606020202030204" pitchFamily="34" charset="0"/>
              </a:rPr>
              <a:t>It guarantees a price for a corporation’s securities and then sells them to the public.</a:t>
            </a:r>
            <a:endParaRPr lang="tr-TR" sz="1600" noProof="1">
              <a:latin typeface="Arial Narrow" panose="020B0606020202030204" pitchFamily="34" charset="0"/>
            </a:endParaRPr>
          </a:p>
          <a:p>
            <a:pPr marL="0" indent="0" algn="ctr">
              <a:spcBef>
                <a:spcPts val="0"/>
              </a:spcBef>
              <a:buNone/>
            </a:pPr>
            <a:r>
              <a:rPr lang="tr-TR" sz="1600" noProof="1" smtClean="0">
                <a:latin typeface="Arial Narrow" panose="020B0606020202030204" pitchFamily="34" charset="0"/>
              </a:rPr>
              <a:t>Securities brokers and dealers are crucial to a well-functioning secondary market.</a:t>
            </a:r>
          </a:p>
          <a:p>
            <a:pPr marL="0" indent="0" algn="ctr">
              <a:spcBef>
                <a:spcPts val="0"/>
              </a:spcBef>
              <a:buNone/>
            </a:pPr>
            <a:r>
              <a:rPr lang="tr-TR" sz="1600" noProof="1" smtClean="0">
                <a:latin typeface="Arial Narrow" panose="020B0606020202030204" pitchFamily="34" charset="0"/>
              </a:rPr>
              <a:t>Brokers are agents of investors who match buyers with sellers of securities;</a:t>
            </a:r>
          </a:p>
          <a:p>
            <a:pPr marL="0" indent="0" algn="ctr">
              <a:spcBef>
                <a:spcPts val="0"/>
              </a:spcBef>
              <a:buNone/>
            </a:pPr>
            <a:r>
              <a:rPr lang="tr-TR" sz="1600" noProof="1" smtClean="0">
                <a:latin typeface="Arial Narrow" panose="020B0606020202030204" pitchFamily="34" charset="0"/>
              </a:rPr>
              <a:t>dealers link buyers and sellers by buying and selling securities at stated prices.</a:t>
            </a:r>
            <a:endParaRPr lang="tr-TR" sz="1600" noProof="1">
              <a:latin typeface="Arial Narrow" panose="020B0606020202030204" pitchFamily="34" charset="0"/>
            </a:endParaRPr>
          </a:p>
          <a:p>
            <a:pPr marL="0" indent="0" algn="ctr">
              <a:spcBef>
                <a:spcPts val="0"/>
              </a:spcBef>
              <a:buNone/>
            </a:pPr>
            <a:r>
              <a:rPr lang="tr-TR" sz="1600" noProof="1" smtClean="0">
                <a:latin typeface="Arial Narrow" panose="020B0606020202030204" pitchFamily="34" charset="0"/>
              </a:rPr>
              <a:t>Secondary markets serve two important functions:</a:t>
            </a:r>
          </a:p>
          <a:p>
            <a:pPr marL="0" indent="0" algn="ctr">
              <a:spcBef>
                <a:spcPts val="0"/>
              </a:spcBef>
              <a:buNone/>
            </a:pPr>
            <a:r>
              <a:rPr lang="tr-TR" sz="1600" noProof="1" smtClean="0">
                <a:latin typeface="Arial Narrow" panose="020B0606020202030204" pitchFamily="34" charset="0"/>
              </a:rPr>
              <a:t>First, they make it easier and quicker to sell financial instruments;</a:t>
            </a:r>
          </a:p>
          <a:p>
            <a:pPr marL="0" indent="0" algn="ctr">
              <a:spcBef>
                <a:spcPts val="0"/>
              </a:spcBef>
              <a:buNone/>
            </a:pPr>
            <a:r>
              <a:rPr lang="tr-TR" sz="1600" noProof="1" smtClean="0">
                <a:latin typeface="Arial Narrow" panose="020B0606020202030204" pitchFamily="34" charset="0"/>
              </a:rPr>
              <a:t>that is, they make the financial instruments more liquid.</a:t>
            </a:r>
          </a:p>
          <a:p>
            <a:pPr marL="0" indent="0" algn="ctr">
              <a:spcBef>
                <a:spcPts val="0"/>
              </a:spcBef>
              <a:buNone/>
            </a:pPr>
            <a:r>
              <a:rPr lang="tr-TR" sz="1600" noProof="1" smtClean="0">
                <a:latin typeface="Arial Narrow" panose="020B0606020202030204" pitchFamily="34" charset="0"/>
              </a:rPr>
              <a:t>Second, they determine the price of the security that the issuing firm sells in the primary market.</a:t>
            </a:r>
          </a:p>
          <a:p>
            <a:pPr marL="0" lvl="1" indent="0" algn="ctr">
              <a:spcBef>
                <a:spcPts val="0"/>
              </a:spcBef>
              <a:buNone/>
            </a:pPr>
            <a:r>
              <a:rPr lang="tr-TR" sz="1600" noProof="1">
                <a:latin typeface="Arial Narrow" panose="020B0606020202030204" pitchFamily="34" charset="0"/>
              </a:rPr>
              <a:t>Secondary markets can be organized in two ways</a:t>
            </a:r>
            <a:r>
              <a:rPr lang="tr-TR" sz="1600" noProof="1" smtClean="0">
                <a:latin typeface="Arial Narrow" panose="020B0606020202030204" pitchFamily="34" charset="0"/>
              </a:rPr>
              <a:t>:</a:t>
            </a:r>
            <a:endParaRPr lang="tr-TR" sz="1600" noProof="1">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One method is to organize Exchanges, where buyers and sellers of securities</a:t>
            </a:r>
          </a:p>
          <a:p>
            <a:pPr marL="0" lvl="1" indent="0" algn="ctr">
              <a:spcBef>
                <a:spcPts val="0"/>
              </a:spcBef>
              <a:buNone/>
            </a:pPr>
            <a:r>
              <a:rPr lang="tr-TR" sz="1600" noProof="1">
                <a:latin typeface="Arial Narrow" panose="020B0606020202030204" pitchFamily="34" charset="0"/>
              </a:rPr>
              <a:t>(or their agents or brokers) meet in one central location to conduct trades</a:t>
            </a:r>
            <a:r>
              <a:rPr lang="tr-TR" sz="1600" noProof="1" smtClean="0">
                <a:latin typeface="Arial Narrow" panose="020B0606020202030204" pitchFamily="34" charset="0"/>
              </a:rPr>
              <a:t>.</a:t>
            </a:r>
          </a:p>
          <a:p>
            <a:pPr marL="0" lvl="1" indent="0" algn="ctr">
              <a:spcBef>
                <a:spcPts val="0"/>
              </a:spcBef>
              <a:buNone/>
            </a:pPr>
            <a:r>
              <a:rPr lang="tr-TR" sz="1600" noProof="1">
                <a:latin typeface="Arial Narrow" panose="020B0606020202030204" pitchFamily="34" charset="0"/>
              </a:rPr>
              <a:t>The other is to have an Over-the-Counter (OTC) market,</a:t>
            </a:r>
          </a:p>
          <a:p>
            <a:pPr marL="0" lvl="1" indent="0" algn="ctr">
              <a:spcBef>
                <a:spcPts val="0"/>
              </a:spcBef>
              <a:buNone/>
            </a:pPr>
            <a:r>
              <a:rPr lang="tr-TR" sz="1600" noProof="1">
                <a:latin typeface="Arial Narrow" panose="020B0606020202030204" pitchFamily="34" charset="0"/>
              </a:rPr>
              <a:t>in which dealers at different locations who have an inventory of securities stand ready</a:t>
            </a:r>
          </a:p>
          <a:p>
            <a:pPr marL="0" lvl="1" indent="0" algn="ctr">
              <a:spcBef>
                <a:spcPts val="0"/>
              </a:spcBef>
              <a:buNone/>
            </a:pPr>
            <a:r>
              <a:rPr lang="tr-TR" sz="1600" noProof="1">
                <a:latin typeface="Arial Narrow" panose="020B0606020202030204" pitchFamily="34" charset="0"/>
              </a:rPr>
              <a:t>to buy and sell securities ″over the </a:t>
            </a:r>
            <a:r>
              <a:rPr lang="tr-TR" sz="1600" noProof="1" smtClean="0">
                <a:latin typeface="Arial Narrow" panose="020B0606020202030204" pitchFamily="34" charset="0"/>
              </a:rPr>
              <a:t>counter″ to </a:t>
            </a:r>
            <a:r>
              <a:rPr lang="tr-TR" sz="1600" noProof="1">
                <a:latin typeface="Arial Narrow" panose="020B0606020202030204" pitchFamily="34" charset="0"/>
              </a:rPr>
              <a:t>anyone who comes to them and is willing to accept their prices.</a:t>
            </a:r>
          </a:p>
          <a:p>
            <a:pPr marL="0" lvl="1" indent="0" algn="ctr">
              <a:spcBef>
                <a:spcPts val="0"/>
              </a:spcBef>
              <a:buNone/>
            </a:pPr>
            <a:endParaRPr lang="tr-TR" sz="1600" noProof="1">
              <a:latin typeface="Arial Narrow" panose="020B0606020202030204" pitchFamily="34" charset="0"/>
            </a:endParaRPr>
          </a:p>
          <a:p>
            <a:pPr marL="0" indent="0" algn="ctr">
              <a:spcBef>
                <a:spcPts val="0"/>
              </a:spcBef>
              <a:buNone/>
            </a:pPr>
            <a:endParaRPr lang="tr-TR" sz="1600" noProof="1" smtClean="0">
              <a:latin typeface="Arial Narrow" panose="020B0606020202030204" pitchFamily="34" charset="0"/>
            </a:endParaRPr>
          </a:p>
        </p:txBody>
      </p:sp>
    </p:spTree>
    <p:extLst>
      <p:ext uri="{BB962C8B-B14F-4D97-AF65-F5344CB8AC3E}">
        <p14:creationId xmlns:p14="http://schemas.microsoft.com/office/powerpoint/2010/main" val="37968900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624"/>
            <a:ext cx="8291264" cy="1080120"/>
          </a:xfrm>
          <a:ln w="25400">
            <a:noFill/>
          </a:ln>
        </p:spPr>
        <p:txBody>
          <a:bodyPr>
            <a:noAutofit/>
          </a:bodyPr>
          <a:lstStyle/>
          <a:p>
            <a:r>
              <a:rPr lang="tr-TR" sz="1400" dirty="0">
                <a:latin typeface="Arial Narrow" pitchFamily="34" charset="0"/>
              </a:rPr>
              <a:t>NTE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[5] Financial System</a:t>
            </a:r>
            <a:br>
              <a:rPr lang="tr-TR" sz="2400">
                <a:solidFill>
                  <a:srgbClr val="800000"/>
                </a:solidFill>
                <a:latin typeface="Arial Narrow" pitchFamily="34" charset="0"/>
              </a:rPr>
            </a:br>
            <a:r>
              <a:rPr lang="tr-TR" sz="2400" smtClean="0">
                <a:latin typeface="Arial Narrow" pitchFamily="34" charset="0"/>
              </a:rPr>
              <a:t>Equity</a:t>
            </a:r>
            <a:endParaRPr lang="tr-TR" sz="2400" dirty="0">
              <a:latin typeface="Arial Narrow" pitchFamily="34" charset="0"/>
            </a:endParaRPr>
          </a:p>
        </p:txBody>
      </p:sp>
      <p:sp>
        <p:nvSpPr>
          <p:cNvPr id="5" name="Content Placeholder 4"/>
          <p:cNvSpPr>
            <a:spLocks noGrp="1"/>
          </p:cNvSpPr>
          <p:nvPr>
            <p:ph idx="1"/>
          </p:nvPr>
        </p:nvSpPr>
        <p:spPr>
          <a:xfrm>
            <a:off x="179512" y="1124744"/>
            <a:ext cx="8784976" cy="5400600"/>
          </a:xfrm>
          <a:ln w="25400">
            <a:noFill/>
          </a:ln>
        </p:spPr>
        <p:txBody>
          <a:bodyPr>
            <a:noAutofit/>
          </a:bodyPr>
          <a:lstStyle/>
          <a:p>
            <a:pPr marL="0" lvl="1" indent="0" algn="ctr">
              <a:spcBef>
                <a:spcPts val="0"/>
              </a:spcBef>
              <a:buNone/>
            </a:pPr>
            <a:r>
              <a:rPr lang="tr-TR" sz="1600" noProof="1" smtClean="0">
                <a:solidFill>
                  <a:srgbClr val="800000"/>
                </a:solidFill>
                <a:latin typeface="Arial Narrow" panose="020B0606020202030204" pitchFamily="34" charset="0"/>
              </a:rPr>
              <a:t>1. Ordinary Shares:</a:t>
            </a:r>
          </a:p>
          <a:p>
            <a:pPr marL="0" lvl="1" indent="0" algn="ctr">
              <a:spcBef>
                <a:spcPts val="0"/>
              </a:spcBef>
              <a:buNone/>
            </a:pPr>
            <a:r>
              <a:rPr lang="tr-TR" sz="1600" noProof="1" smtClean="0">
                <a:latin typeface="Arial Narrow" panose="020B0606020202030204" pitchFamily="34" charset="0"/>
              </a:rPr>
              <a:t>The investors provide the share capital for partial ownership of the business.</a:t>
            </a:r>
          </a:p>
          <a:p>
            <a:pPr marL="0" lvl="1" indent="0" algn="ctr">
              <a:spcBef>
                <a:spcPts val="0"/>
              </a:spcBef>
              <a:buNone/>
            </a:pPr>
            <a:r>
              <a:rPr lang="tr-TR" sz="1600" noProof="1" smtClean="0">
                <a:latin typeface="Arial Narrow" panose="020B0606020202030204" pitchFamily="34" charset="0"/>
              </a:rPr>
              <a:t>The return to the holders of ordinary shares is directly related to the performance of the business in two forms;</a:t>
            </a:r>
          </a:p>
          <a:p>
            <a:pPr marL="2571750" lvl="6" indent="-342900">
              <a:spcBef>
                <a:spcPts val="0"/>
              </a:spcBef>
            </a:pPr>
            <a:r>
              <a:rPr lang="tr-TR" sz="1600" noProof="1" smtClean="0">
                <a:latin typeface="Arial Narrow" panose="020B0606020202030204" pitchFamily="34" charset="0"/>
              </a:rPr>
              <a:t>The growth in the value of the company,</a:t>
            </a:r>
          </a:p>
          <a:p>
            <a:pPr marL="2571750" lvl="6" indent="-342900">
              <a:spcBef>
                <a:spcPts val="0"/>
              </a:spcBef>
            </a:pPr>
            <a:r>
              <a:rPr lang="tr-TR" sz="1600" noProof="1" smtClean="0">
                <a:latin typeface="Arial Narrow" panose="020B0606020202030204" pitchFamily="34" charset="0"/>
              </a:rPr>
              <a:t>The dividends paid by the company.</a:t>
            </a:r>
          </a:p>
          <a:p>
            <a:pPr marL="0" indent="-400050" algn="ctr">
              <a:spcBef>
                <a:spcPts val="0"/>
              </a:spcBef>
              <a:buNone/>
            </a:pPr>
            <a:r>
              <a:rPr lang="tr-TR" sz="1600" noProof="1" smtClean="0">
                <a:latin typeface="Arial Narrow" panose="020B0606020202030204" pitchFamily="34" charset="0"/>
              </a:rPr>
              <a:t>The holders of ordinary shares are exposed to the entire risk of the business.</a:t>
            </a:r>
          </a:p>
          <a:p>
            <a:pPr marL="0" indent="-400050" algn="ctr">
              <a:spcBef>
                <a:spcPts val="0"/>
              </a:spcBef>
              <a:buNone/>
            </a:pPr>
            <a:r>
              <a:rPr lang="tr-TR" sz="1600" noProof="1">
                <a:latin typeface="Arial Narrow" panose="020B0606020202030204" pitchFamily="34" charset="0"/>
              </a:rPr>
              <a:t>If the company sells new shares to existing shareholders</a:t>
            </a:r>
          </a:p>
          <a:p>
            <a:pPr marL="0" indent="-400050" algn="ctr">
              <a:spcBef>
                <a:spcPts val="0"/>
              </a:spcBef>
              <a:buNone/>
            </a:pPr>
            <a:r>
              <a:rPr lang="tr-TR" sz="1600" noProof="1">
                <a:latin typeface="Arial Narrow" panose="020B0606020202030204" pitchFamily="34" charset="0"/>
              </a:rPr>
              <a:t>who have pre-emptive right to subscribe to new </a:t>
            </a:r>
            <a:r>
              <a:rPr lang="tr-TR" sz="1600" noProof="1" smtClean="0">
                <a:latin typeface="Arial Narrow" panose="020B0606020202030204" pitchFamily="34" charset="0"/>
              </a:rPr>
              <a:t>shares, it </a:t>
            </a:r>
            <a:r>
              <a:rPr lang="tr-TR" sz="1600" noProof="1">
                <a:latin typeface="Arial Narrow" panose="020B0606020202030204" pitchFamily="34" charset="0"/>
              </a:rPr>
              <a:t>is called a rights offer</a:t>
            </a:r>
            <a:r>
              <a:rPr lang="tr-TR" sz="1600" noProof="1" smtClean="0">
                <a:latin typeface="Arial Narrow" panose="020B0606020202030204" pitchFamily="34" charset="0"/>
              </a:rPr>
              <a:t>.</a:t>
            </a:r>
          </a:p>
          <a:p>
            <a:pPr marL="0" indent="-400050" algn="ctr">
              <a:spcBef>
                <a:spcPts val="0"/>
              </a:spcBef>
              <a:buNone/>
            </a:pPr>
            <a:r>
              <a:rPr lang="tr-TR" sz="1600" noProof="1">
                <a:latin typeface="Arial Narrow" panose="020B0606020202030204" pitchFamily="34" charset="0"/>
              </a:rPr>
              <a:t>Current shareholders may also waive their right to subscribe to new shares.</a:t>
            </a:r>
          </a:p>
          <a:p>
            <a:pPr marL="0" indent="-400050" algn="ctr">
              <a:spcBef>
                <a:spcPts val="0"/>
              </a:spcBef>
              <a:buNone/>
            </a:pPr>
            <a:r>
              <a:rPr lang="tr-TR" sz="1600" noProof="1">
                <a:latin typeface="Arial Narrow" panose="020B0606020202030204" pitchFamily="34" charset="0"/>
              </a:rPr>
              <a:t>In such a case, the company can raise equity </a:t>
            </a:r>
            <a:r>
              <a:rPr lang="tr-TR" sz="1600" noProof="1" smtClean="0">
                <a:latin typeface="Arial Narrow" panose="020B0606020202030204" pitchFamily="34" charset="0"/>
              </a:rPr>
              <a:t>capital</a:t>
            </a:r>
          </a:p>
          <a:p>
            <a:pPr marL="0" indent="-400050" algn="ctr">
              <a:spcBef>
                <a:spcPts val="0"/>
              </a:spcBef>
              <a:buNone/>
            </a:pPr>
            <a:r>
              <a:rPr lang="tr-TR" sz="1600" noProof="1" smtClean="0">
                <a:latin typeface="Arial Narrow" panose="020B0606020202030204" pitchFamily="34" charset="0"/>
              </a:rPr>
              <a:t>by selling new shares to new shareholders for cash; this called follow-on offer.</a:t>
            </a:r>
          </a:p>
          <a:p>
            <a:pPr marL="0" indent="-400050" algn="ctr">
              <a:spcBef>
                <a:spcPts val="0"/>
              </a:spcBef>
              <a:buNone/>
            </a:pPr>
            <a:r>
              <a:rPr lang="tr-TR" sz="1600" noProof="1" smtClean="0">
                <a:solidFill>
                  <a:srgbClr val="800000"/>
                </a:solidFill>
                <a:latin typeface="Arial Narrow" panose="020B0606020202030204" pitchFamily="34" charset="0"/>
              </a:rPr>
              <a:t>2. Preferred </a:t>
            </a:r>
            <a:r>
              <a:rPr lang="tr-TR" sz="1600" noProof="1">
                <a:solidFill>
                  <a:srgbClr val="800000"/>
                </a:solidFill>
                <a:latin typeface="Arial Narrow" panose="020B0606020202030204" pitchFamily="34" charset="0"/>
              </a:rPr>
              <a:t>stock</a:t>
            </a:r>
          </a:p>
          <a:p>
            <a:pPr marL="0" indent="-400050" algn="ctr">
              <a:spcBef>
                <a:spcPts val="0"/>
              </a:spcBef>
              <a:buNone/>
            </a:pPr>
            <a:r>
              <a:rPr lang="tr-TR" sz="1600" noProof="1" smtClean="0">
                <a:latin typeface="Arial Narrow" panose="020B0606020202030204" pitchFamily="34" charset="0"/>
              </a:rPr>
              <a:t>Preferred </a:t>
            </a:r>
            <a:r>
              <a:rPr lang="tr-TR" sz="1600" noProof="1">
                <a:latin typeface="Arial Narrow" panose="020B0606020202030204" pitchFamily="34" charset="0"/>
              </a:rPr>
              <a:t>Stock has the characteristics of both equity and debt.</a:t>
            </a:r>
          </a:p>
          <a:p>
            <a:pPr marL="0" indent="-400050" algn="ctr">
              <a:spcBef>
                <a:spcPts val="0"/>
              </a:spcBef>
              <a:buNone/>
            </a:pPr>
            <a:r>
              <a:rPr lang="tr-TR" sz="1600" noProof="1" smtClean="0">
                <a:latin typeface="Arial Narrow" panose="020B0606020202030204" pitchFamily="34" charset="0"/>
              </a:rPr>
              <a:t>Dividend </a:t>
            </a:r>
            <a:r>
              <a:rPr lang="tr-TR" sz="1600" noProof="1">
                <a:latin typeface="Arial Narrow" panose="020B0606020202030204" pitchFamily="34" charset="0"/>
              </a:rPr>
              <a:t>offered by Preferred Stock is fixed, a percent of the face value of the shares.</a:t>
            </a:r>
          </a:p>
          <a:p>
            <a:pPr marL="0" indent="-400050" algn="ctr">
              <a:spcBef>
                <a:spcPts val="0"/>
              </a:spcBef>
              <a:buNone/>
            </a:pPr>
            <a:r>
              <a:rPr lang="tr-TR" sz="1600" noProof="1">
                <a:latin typeface="Arial Narrow" panose="020B0606020202030204" pitchFamily="34" charset="0"/>
              </a:rPr>
              <a:t>These payments are similar to the interest payments on debt.</a:t>
            </a:r>
          </a:p>
          <a:p>
            <a:pPr marL="0" indent="-400050" algn="ctr">
              <a:spcBef>
                <a:spcPts val="0"/>
              </a:spcBef>
              <a:buNone/>
            </a:pPr>
            <a:r>
              <a:rPr lang="tr-TR" sz="1600" noProof="1" smtClean="0">
                <a:latin typeface="Arial Narrow" panose="020B0606020202030204" pitchFamily="34" charset="0"/>
              </a:rPr>
              <a:t>However</a:t>
            </a:r>
            <a:r>
              <a:rPr lang="tr-TR" sz="1600" noProof="1">
                <a:latin typeface="Arial Narrow" panose="020B0606020202030204" pitchFamily="34" charset="0"/>
              </a:rPr>
              <a:t>, if there are insufficient funds, no payments are made</a:t>
            </a:r>
          </a:p>
          <a:p>
            <a:pPr marL="0" indent="-400050" algn="ctr">
              <a:spcBef>
                <a:spcPts val="0"/>
              </a:spcBef>
              <a:buNone/>
            </a:pPr>
            <a:r>
              <a:rPr lang="tr-TR" sz="1600" noProof="1">
                <a:latin typeface="Arial Narrow" panose="020B0606020202030204" pitchFamily="34" charset="0"/>
              </a:rPr>
              <a:t>and this does not throw the company into bancruptcy.</a:t>
            </a:r>
          </a:p>
          <a:p>
            <a:pPr marL="0" indent="-400050" algn="ctr">
              <a:spcBef>
                <a:spcPts val="0"/>
              </a:spcBef>
              <a:buNone/>
            </a:pPr>
            <a:r>
              <a:rPr lang="tr-TR" sz="1600" noProof="1">
                <a:latin typeface="Arial Narrow" panose="020B0606020202030204" pitchFamily="34" charset="0"/>
              </a:rPr>
              <a:t>Usually, these unpaid dividends accumulate and holders of Preferred Stock are paid in arrears.</a:t>
            </a:r>
          </a:p>
          <a:p>
            <a:pPr marL="0" indent="-400050" algn="ctr">
              <a:spcBef>
                <a:spcPts val="0"/>
              </a:spcBef>
              <a:buNone/>
            </a:pPr>
            <a:r>
              <a:rPr lang="tr-TR" sz="1600" noProof="1" smtClean="0">
                <a:latin typeface="Arial Narrow" panose="020B0606020202030204" pitchFamily="34" charset="0"/>
              </a:rPr>
              <a:t>Preference </a:t>
            </a:r>
            <a:r>
              <a:rPr lang="tr-TR" sz="1600" noProof="1">
                <a:latin typeface="Arial Narrow" panose="020B0606020202030204" pitchFamily="34" charset="0"/>
              </a:rPr>
              <a:t>shares usually have no maturity date.</a:t>
            </a:r>
          </a:p>
          <a:p>
            <a:pPr marL="0" indent="-400050" algn="ctr">
              <a:spcBef>
                <a:spcPts val="0"/>
              </a:spcBef>
              <a:buNone/>
            </a:pPr>
            <a:r>
              <a:rPr lang="tr-TR" sz="1600" noProof="1" smtClean="0">
                <a:latin typeface="Arial Narrow" panose="020B0606020202030204" pitchFamily="34" charset="0"/>
              </a:rPr>
              <a:t>Unlike </a:t>
            </a:r>
            <a:r>
              <a:rPr lang="tr-TR" sz="1600" noProof="1">
                <a:latin typeface="Arial Narrow" panose="020B0606020202030204" pitchFamily="34" charset="0"/>
              </a:rPr>
              <a:t>debt, the dividend payment to Preferred Stock is not tax-deductible.</a:t>
            </a:r>
          </a:p>
          <a:p>
            <a:pPr marL="0" indent="-400050" algn="ctr">
              <a:spcBef>
                <a:spcPts val="0"/>
              </a:spcBef>
              <a:buNone/>
            </a:pPr>
            <a:r>
              <a:rPr lang="tr-TR" sz="1600" noProof="1" smtClean="0">
                <a:latin typeface="Arial Narrow" panose="020B0606020202030204" pitchFamily="34" charset="0"/>
              </a:rPr>
              <a:t>In </a:t>
            </a:r>
            <a:r>
              <a:rPr lang="tr-TR" sz="1600" noProof="1">
                <a:latin typeface="Arial Narrow" panose="020B0606020202030204" pitchFamily="34" charset="0"/>
              </a:rPr>
              <a:t>case of liquidation of the company,</a:t>
            </a:r>
          </a:p>
          <a:p>
            <a:pPr marL="0" indent="-400050" algn="ctr">
              <a:spcBef>
                <a:spcPts val="0"/>
              </a:spcBef>
              <a:buNone/>
            </a:pPr>
            <a:r>
              <a:rPr lang="tr-TR" sz="1600" noProof="1">
                <a:latin typeface="Arial Narrow" panose="020B0606020202030204" pitchFamily="34" charset="0"/>
              </a:rPr>
              <a:t>the holders of Preferred Stock have a claim to to the </a:t>
            </a:r>
            <a:r>
              <a:rPr lang="tr-TR" sz="1600" noProof="1" smtClean="0">
                <a:latin typeface="Arial Narrow" panose="020B0606020202030204" pitchFamily="34" charset="0"/>
              </a:rPr>
              <a:t>assets prior </a:t>
            </a:r>
            <a:r>
              <a:rPr lang="tr-TR" sz="1600" noProof="1">
                <a:latin typeface="Arial Narrow" panose="020B0606020202030204" pitchFamily="34" charset="0"/>
              </a:rPr>
              <a:t>to that of the ordinary shareholders</a:t>
            </a:r>
            <a:r>
              <a:rPr lang="tr-TR" sz="1600" noProof="1" smtClean="0">
                <a:latin typeface="Arial Narrow" panose="020B0606020202030204" pitchFamily="34" charset="0"/>
              </a:rPr>
              <a:t>.</a:t>
            </a:r>
            <a:endParaRPr lang="tr-TR" sz="1600" noProof="1">
              <a:latin typeface="Arial Narrow" panose="020B0606020202030204" pitchFamily="34" charset="0"/>
            </a:endParaRPr>
          </a:p>
        </p:txBody>
      </p:sp>
    </p:spTree>
    <p:extLst>
      <p:ext uri="{BB962C8B-B14F-4D97-AF65-F5344CB8AC3E}">
        <p14:creationId xmlns:p14="http://schemas.microsoft.com/office/powerpoint/2010/main" val="20998198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483768" y="451400"/>
            <a:ext cx="396044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a:solidFill>
                  <a:srgbClr val="800000"/>
                </a:solidFill>
                <a:latin typeface="Arial Narrow" pitchFamily="34" charset="0"/>
              </a:rPr>
              <a:t>[5] Financial System</a:t>
            </a:r>
            <a:br>
              <a:rPr lang="tr-TR" sz="2400">
                <a:solidFill>
                  <a:srgbClr val="800000"/>
                </a:solidFill>
                <a:latin typeface="Arial Narrow" pitchFamily="34" charset="0"/>
              </a:rPr>
            </a:br>
            <a:r>
              <a:rPr lang="tr-TR" sz="2400" smtClean="0">
                <a:latin typeface="Arial Narrow" pitchFamily="34" charset="0"/>
              </a:rPr>
              <a:t>Types </a:t>
            </a:r>
            <a:r>
              <a:rPr lang="tr-TR" sz="2400" dirty="0">
                <a:latin typeface="Arial Narrow" pitchFamily="34" charset="0"/>
              </a:rPr>
              <a:t>of Financial </a:t>
            </a:r>
            <a:r>
              <a:rPr lang="tr-TR" sz="2400" dirty="0" err="1">
                <a:latin typeface="Arial Narrow" pitchFamily="34" charset="0"/>
              </a:rPr>
              <a:t>Intermediaries</a:t>
            </a:r>
            <a:endParaRPr lang="tr-TR" sz="2400" dirty="0">
              <a:latin typeface="Arial Narrow" pitchFamily="34" charset="0"/>
            </a:endParaRPr>
          </a:p>
        </p:txBody>
      </p:sp>
      <p:sp>
        <p:nvSpPr>
          <p:cNvPr id="5" name="Content Placeholder 4"/>
          <p:cNvSpPr>
            <a:spLocks noGrp="1"/>
          </p:cNvSpPr>
          <p:nvPr>
            <p:ph idx="1"/>
          </p:nvPr>
        </p:nvSpPr>
        <p:spPr>
          <a:xfrm>
            <a:off x="457200" y="1600200"/>
            <a:ext cx="8229600" cy="5069160"/>
          </a:xfrm>
          <a:ln w="25400">
            <a:noFill/>
          </a:ln>
        </p:spPr>
        <p:txBody>
          <a:bodyPr>
            <a:noAutofit/>
          </a:bodyPr>
          <a:lstStyle/>
          <a:p>
            <a:pPr algn="ctr">
              <a:spcBef>
                <a:spcPts val="0"/>
              </a:spcBef>
            </a:pPr>
            <a:endParaRPr lang="tr-TR" sz="1800" dirty="0">
              <a:latin typeface="Arial Narrow" panose="020B0606020202030204" pitchFamily="34" charset="0"/>
            </a:endParaRPr>
          </a:p>
          <a:p>
            <a:pPr algn="ctr">
              <a:spcBef>
                <a:spcPts val="0"/>
              </a:spcBef>
            </a:pPr>
            <a:r>
              <a:rPr lang="tr-TR" sz="1800" dirty="0" err="1">
                <a:latin typeface="Arial Narrow" panose="020B0606020202030204" pitchFamily="34" charset="0"/>
              </a:rPr>
              <a:t>Banks</a:t>
            </a:r>
            <a:r>
              <a:rPr lang="tr-TR" sz="1800" dirty="0">
                <a:latin typeface="Arial Narrow" panose="020B0606020202030204" pitchFamily="34" charset="0"/>
              </a:rPr>
              <a:t> </a:t>
            </a:r>
            <a:r>
              <a:rPr lang="tr-TR" sz="1800" dirty="0" err="1">
                <a:latin typeface="Arial Narrow" panose="020B0606020202030204" pitchFamily="34" charset="0"/>
              </a:rPr>
              <a:t>accept</a:t>
            </a:r>
            <a:r>
              <a:rPr lang="tr-TR" sz="1800" dirty="0">
                <a:latin typeface="Arial Narrow" panose="020B0606020202030204" pitchFamily="34" charset="0"/>
              </a:rPr>
              <a:t> </a:t>
            </a:r>
            <a:r>
              <a:rPr lang="tr-TR" sz="1800" dirty="0" err="1">
                <a:latin typeface="Arial Narrow" panose="020B0606020202030204" pitchFamily="34" charset="0"/>
              </a:rPr>
              <a:t>deposits</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a:t>
            </a:r>
            <a:r>
              <a:rPr lang="tr-TR" sz="1800" dirty="0" err="1">
                <a:latin typeface="Arial Narrow" panose="020B0606020202030204" pitchFamily="34" charset="0"/>
              </a:rPr>
              <a:t>individuals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institutions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make</a:t>
            </a:r>
            <a:r>
              <a:rPr lang="tr-TR" sz="1800" dirty="0">
                <a:latin typeface="Arial Narrow" panose="020B0606020202030204" pitchFamily="34" charset="0"/>
              </a:rPr>
              <a:t> </a:t>
            </a:r>
            <a:r>
              <a:rPr lang="tr-TR" sz="1800" dirty="0" err="1">
                <a:latin typeface="Arial Narrow" panose="020B0606020202030204" pitchFamily="34" charset="0"/>
              </a:rPr>
              <a:t>loans</a:t>
            </a:r>
            <a:r>
              <a:rPr lang="tr-TR" sz="1800" dirty="0">
                <a:latin typeface="Arial Narrow" panose="020B0606020202030204" pitchFamily="34" charset="0"/>
              </a:rPr>
              <a:t>.</a:t>
            </a:r>
          </a:p>
          <a:p>
            <a:pPr algn="ctr">
              <a:spcBef>
                <a:spcPts val="0"/>
              </a:spcBef>
            </a:pPr>
            <a:endParaRPr lang="tr-TR" sz="1800" dirty="0">
              <a:latin typeface="Arial Narrow" panose="020B0606020202030204" pitchFamily="34" charset="0"/>
            </a:endParaRPr>
          </a:p>
          <a:p>
            <a:pPr algn="ctr">
              <a:spcBef>
                <a:spcPts val="0"/>
              </a:spcBef>
            </a:pPr>
            <a:r>
              <a:rPr lang="tr-TR" sz="1800" dirty="0">
                <a:latin typeface="Arial Narrow" panose="020B0606020202030204" pitchFamily="34" charset="0"/>
              </a:rPr>
              <a:t>Life </a:t>
            </a:r>
            <a:r>
              <a:rPr lang="tr-TR" sz="1800" dirty="0" err="1">
                <a:latin typeface="Arial Narrow" panose="020B0606020202030204" pitchFamily="34" charset="0"/>
              </a:rPr>
              <a:t>Insurance</a:t>
            </a:r>
            <a:r>
              <a:rPr lang="tr-TR" sz="1800" dirty="0">
                <a:latin typeface="Arial Narrow" panose="020B0606020202030204" pitchFamily="34" charset="0"/>
              </a:rPr>
              <a:t> / </a:t>
            </a:r>
            <a:r>
              <a:rPr lang="tr-TR" sz="1800" dirty="0" err="1">
                <a:latin typeface="Arial Narrow" panose="020B0606020202030204" pitchFamily="34" charset="0"/>
              </a:rPr>
              <a:t>Pension</a:t>
            </a:r>
            <a:r>
              <a:rPr lang="tr-TR" sz="1800" dirty="0">
                <a:latin typeface="Arial Narrow" panose="020B0606020202030204" pitchFamily="34" charset="0"/>
              </a:rPr>
              <a:t> </a:t>
            </a:r>
            <a:r>
              <a:rPr lang="tr-TR" sz="1800" dirty="0" err="1">
                <a:latin typeface="Arial Narrow" panose="020B0606020202030204" pitchFamily="34" charset="0"/>
              </a:rPr>
              <a:t>Companies</a:t>
            </a:r>
            <a:r>
              <a:rPr lang="tr-TR" sz="1800" dirty="0">
                <a:latin typeface="Arial Narrow" panose="020B0606020202030204" pitchFamily="34" charset="0"/>
              </a:rPr>
              <a:t> </a:t>
            </a:r>
            <a:r>
              <a:rPr lang="tr-TR" sz="1800" dirty="0" err="1">
                <a:latin typeface="Arial Narrow" panose="020B0606020202030204" pitchFamily="34" charset="0"/>
              </a:rPr>
              <a:t>insure</a:t>
            </a:r>
            <a:r>
              <a:rPr lang="tr-TR" sz="1800" dirty="0">
                <a:latin typeface="Arial Narrow" panose="020B0606020202030204" pitchFamily="34" charset="0"/>
              </a:rPr>
              <a:t> </a:t>
            </a:r>
            <a:r>
              <a:rPr lang="tr-TR" sz="1800" dirty="0" err="1">
                <a:latin typeface="Arial Narrow" panose="020B0606020202030204" pitchFamily="34" charset="0"/>
              </a:rPr>
              <a:t>people</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against</a:t>
            </a:r>
            <a:r>
              <a:rPr lang="tr-TR" sz="1800" dirty="0">
                <a:latin typeface="Arial Narrow" panose="020B0606020202030204" pitchFamily="34" charset="0"/>
              </a:rPr>
              <a:t>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hazards</a:t>
            </a:r>
            <a:r>
              <a:rPr lang="tr-TR" sz="1800" dirty="0">
                <a:latin typeface="Arial Narrow" panose="020B0606020202030204" pitchFamily="34" charset="0"/>
              </a:rPr>
              <a:t> </a:t>
            </a:r>
            <a:r>
              <a:rPr lang="tr-TR" sz="1800" dirty="0" err="1">
                <a:latin typeface="Arial Narrow" panose="020B0606020202030204" pitchFamily="34" charset="0"/>
              </a:rPr>
              <a:t>following</a:t>
            </a:r>
            <a:r>
              <a:rPr lang="tr-TR" sz="1800" dirty="0">
                <a:latin typeface="Arial Narrow" panose="020B0606020202030204" pitchFamily="34" charset="0"/>
              </a:rPr>
              <a:t> a </a:t>
            </a:r>
            <a:r>
              <a:rPr lang="tr-TR" sz="1800" dirty="0" err="1">
                <a:latin typeface="Arial Narrow" panose="020B0606020202030204" pitchFamily="34" charset="0"/>
              </a:rPr>
              <a:t>death</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sell</a:t>
            </a:r>
            <a:r>
              <a:rPr lang="tr-TR" sz="1800" dirty="0">
                <a:latin typeface="Arial Narrow" panose="020B0606020202030204" pitchFamily="34" charset="0"/>
              </a:rPr>
              <a:t> </a:t>
            </a:r>
            <a:r>
              <a:rPr lang="tr-TR" sz="1800" dirty="0" err="1">
                <a:latin typeface="Arial Narrow" panose="020B0606020202030204" pitchFamily="34" charset="0"/>
              </a:rPr>
              <a:t>annuities</a:t>
            </a:r>
            <a:r>
              <a:rPr lang="tr-TR" sz="1800" dirty="0">
                <a:latin typeface="Arial Narrow" panose="020B0606020202030204" pitchFamily="34" charset="0"/>
              </a:rPr>
              <a:t> (</a:t>
            </a:r>
            <a:r>
              <a:rPr lang="tr-TR" sz="1800" dirty="0" err="1">
                <a:latin typeface="Arial Narrow" panose="020B0606020202030204" pitchFamily="34" charset="0"/>
              </a:rPr>
              <a:t>annual</a:t>
            </a:r>
            <a:r>
              <a:rPr lang="tr-TR" sz="1800" dirty="0">
                <a:latin typeface="Arial Narrow" panose="020B0606020202030204" pitchFamily="34" charset="0"/>
              </a:rPr>
              <a:t> </a:t>
            </a:r>
            <a:r>
              <a:rPr lang="tr-TR" sz="1800" dirty="0" err="1">
                <a:latin typeface="Arial Narrow" panose="020B0606020202030204" pitchFamily="34" charset="0"/>
              </a:rPr>
              <a:t>income</a:t>
            </a:r>
            <a:r>
              <a:rPr lang="tr-TR" sz="1800" dirty="0">
                <a:latin typeface="Arial Narrow" panose="020B0606020202030204" pitchFamily="34" charset="0"/>
              </a:rPr>
              <a:t> </a:t>
            </a:r>
            <a:r>
              <a:rPr lang="tr-TR" sz="1800" dirty="0" err="1">
                <a:latin typeface="Arial Narrow" panose="020B0606020202030204" pitchFamily="34" charset="0"/>
              </a:rPr>
              <a:t>payments</a:t>
            </a:r>
            <a:r>
              <a:rPr lang="tr-TR" sz="1800" dirty="0">
                <a:latin typeface="Arial Narrow" panose="020B0606020202030204" pitchFamily="34" charset="0"/>
              </a:rPr>
              <a:t> </a:t>
            </a:r>
            <a:r>
              <a:rPr lang="tr-TR" sz="1800" dirty="0" err="1">
                <a:latin typeface="Arial Narrow" panose="020B0606020202030204" pitchFamily="34" charset="0"/>
              </a:rPr>
              <a:t>upon</a:t>
            </a:r>
            <a:r>
              <a:rPr lang="tr-TR" sz="1800" dirty="0">
                <a:latin typeface="Arial Narrow" panose="020B0606020202030204" pitchFamily="34" charset="0"/>
              </a:rPr>
              <a:t> </a:t>
            </a:r>
            <a:r>
              <a:rPr lang="tr-TR" sz="1800" dirty="0" err="1">
                <a:latin typeface="Arial Narrow" panose="020B0606020202030204" pitchFamily="34" charset="0"/>
              </a:rPr>
              <a:t>retirement</a:t>
            </a:r>
            <a:r>
              <a:rPr lang="tr-TR" sz="1800" dirty="0">
                <a:latin typeface="Arial Narrow" panose="020B0606020202030204" pitchFamily="34" charset="0"/>
              </a:rPr>
              <a:t>).</a:t>
            </a:r>
          </a:p>
          <a:p>
            <a:pPr marL="0" indent="0" algn="ctr">
              <a:spcBef>
                <a:spcPts val="0"/>
              </a:spcBef>
              <a:buNone/>
            </a:pPr>
            <a:r>
              <a:rPr lang="tr-TR" sz="1800" dirty="0" err="1">
                <a:latin typeface="Arial Narrow" panose="020B0606020202030204" pitchFamily="34" charset="0"/>
              </a:rPr>
              <a:t>They</a:t>
            </a:r>
            <a:r>
              <a:rPr lang="tr-TR" sz="1800" dirty="0">
                <a:latin typeface="Arial Narrow" panose="020B0606020202030204" pitchFamily="34" charset="0"/>
              </a:rPr>
              <a:t> </a:t>
            </a:r>
            <a:r>
              <a:rPr lang="tr-TR" sz="1800" dirty="0" err="1">
                <a:latin typeface="Arial Narrow" panose="020B0606020202030204" pitchFamily="34" charset="0"/>
              </a:rPr>
              <a:t>acquire</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premiums</a:t>
            </a:r>
            <a:r>
              <a:rPr lang="tr-TR" sz="1800" dirty="0">
                <a:latin typeface="Arial Narrow" panose="020B0606020202030204" pitchFamily="34" charset="0"/>
              </a:rPr>
              <a:t> </a:t>
            </a:r>
            <a:r>
              <a:rPr lang="tr-TR" sz="1800" dirty="0" err="1">
                <a:latin typeface="Arial Narrow" panose="020B0606020202030204" pitchFamily="34" charset="0"/>
              </a:rPr>
              <a:t>that</a:t>
            </a:r>
            <a:r>
              <a:rPr lang="tr-TR" sz="1800" dirty="0">
                <a:latin typeface="Arial Narrow" panose="020B0606020202030204" pitchFamily="34" charset="0"/>
              </a:rPr>
              <a:t> </a:t>
            </a:r>
            <a:r>
              <a:rPr lang="tr-TR" sz="1800" dirty="0" err="1">
                <a:latin typeface="Arial Narrow" panose="020B0606020202030204" pitchFamily="34" charset="0"/>
              </a:rPr>
              <a:t>people</a:t>
            </a:r>
            <a:r>
              <a:rPr lang="tr-TR" sz="1800" dirty="0">
                <a:latin typeface="Arial Narrow" panose="020B0606020202030204" pitchFamily="34" charset="0"/>
              </a:rPr>
              <a:t> pay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keep</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policies</a:t>
            </a:r>
            <a:r>
              <a:rPr lang="tr-TR" sz="1800" dirty="0">
                <a:latin typeface="Arial Narrow" panose="020B0606020202030204" pitchFamily="34" charset="0"/>
              </a:rPr>
              <a:t> in </a:t>
            </a:r>
            <a:r>
              <a:rPr lang="tr-TR" sz="1800" dirty="0" err="1">
                <a:latin typeface="Arial Narrow" panose="020B0606020202030204" pitchFamily="34" charset="0"/>
              </a:rPr>
              <a:t>force</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use</a:t>
            </a:r>
            <a:r>
              <a:rPr lang="tr-TR" sz="1800" dirty="0">
                <a:latin typeface="Arial Narrow" panose="020B0606020202030204" pitchFamily="34" charset="0"/>
              </a:rPr>
              <a:t> </a:t>
            </a:r>
            <a:r>
              <a:rPr lang="tr-TR" sz="1800" dirty="0" err="1">
                <a:latin typeface="Arial Narrow" panose="020B0606020202030204" pitchFamily="34" charset="0"/>
              </a:rPr>
              <a:t>them</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invest</a:t>
            </a:r>
            <a:r>
              <a:rPr lang="tr-TR" sz="1800" dirty="0">
                <a:latin typeface="Arial Narrow" panose="020B0606020202030204" pitchFamily="34" charset="0"/>
              </a:rPr>
              <a:t> in </a:t>
            </a:r>
            <a:r>
              <a:rPr lang="tr-TR" sz="1800" dirty="0" err="1">
                <a:latin typeface="Arial Narrow" panose="020B0606020202030204" pitchFamily="34" charset="0"/>
              </a:rPr>
              <a:t>financial</a:t>
            </a:r>
            <a:r>
              <a:rPr lang="tr-TR" sz="1800" dirty="0">
                <a:latin typeface="Arial Narrow" panose="020B0606020202030204" pitchFamily="34" charset="0"/>
              </a:rPr>
              <a:t> </a:t>
            </a:r>
            <a:r>
              <a:rPr lang="tr-TR" sz="1800" dirty="0" err="1">
                <a:latin typeface="Arial Narrow" panose="020B0606020202030204" pitchFamily="34" charset="0"/>
              </a:rPr>
              <a:t>markets</a:t>
            </a:r>
            <a:r>
              <a:rPr lang="tr-TR" sz="1800" dirty="0">
                <a:latin typeface="Arial Narrow" panose="020B0606020202030204" pitchFamily="34" charset="0"/>
              </a:rPr>
              <a:t>.</a:t>
            </a:r>
          </a:p>
          <a:p>
            <a:pPr algn="ctr">
              <a:spcBef>
                <a:spcPts val="0"/>
              </a:spcBef>
            </a:pPr>
            <a:endParaRPr lang="tr-TR" sz="1800" dirty="0">
              <a:latin typeface="Arial Narrow" panose="020B0606020202030204" pitchFamily="34" charset="0"/>
            </a:endParaRPr>
          </a:p>
          <a:p>
            <a:pPr algn="ctr">
              <a:spcBef>
                <a:spcPts val="0"/>
              </a:spcBef>
            </a:pPr>
            <a:r>
              <a:rPr lang="tr-TR" sz="1800" dirty="0" err="1">
                <a:latin typeface="Arial Narrow" panose="020B0606020202030204" pitchFamily="34" charset="0"/>
              </a:rPr>
              <a:t>Mutual</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acquire</a:t>
            </a:r>
            <a:r>
              <a:rPr lang="tr-TR" sz="1800" dirty="0">
                <a:latin typeface="Arial Narrow" panose="020B0606020202030204" pitchFamily="34" charset="0"/>
              </a:rPr>
              <a:t> </a:t>
            </a:r>
            <a:r>
              <a:rPr lang="tr-TR" sz="1800" dirty="0" err="1">
                <a:latin typeface="Arial Narrow" panose="020B0606020202030204" pitchFamily="34" charset="0"/>
              </a:rPr>
              <a:t>funds</a:t>
            </a:r>
            <a:r>
              <a:rPr lang="tr-TR" sz="1800" dirty="0">
                <a:latin typeface="Arial Narrow" panose="020B0606020202030204" pitchFamily="34" charset="0"/>
              </a:rPr>
              <a:t> </a:t>
            </a:r>
            <a:r>
              <a:rPr lang="tr-TR" sz="1800" dirty="0" err="1">
                <a:latin typeface="Arial Narrow" panose="020B0606020202030204" pitchFamily="34" charset="0"/>
              </a:rPr>
              <a:t>by</a:t>
            </a:r>
            <a:r>
              <a:rPr lang="tr-TR" sz="1800" dirty="0">
                <a:latin typeface="Arial Narrow" panose="020B0606020202030204" pitchFamily="34" charset="0"/>
              </a:rPr>
              <a:t> </a:t>
            </a:r>
            <a:r>
              <a:rPr lang="tr-TR" sz="1800" dirty="0" err="1">
                <a:latin typeface="Arial Narrow" panose="020B0606020202030204" pitchFamily="34" charset="0"/>
              </a:rPr>
              <a:t>selling</a:t>
            </a:r>
            <a:r>
              <a:rPr lang="tr-TR" sz="1800" dirty="0">
                <a:latin typeface="Arial Narrow" panose="020B0606020202030204" pitchFamily="34" charset="0"/>
              </a:rPr>
              <a:t> </a:t>
            </a:r>
            <a:r>
              <a:rPr lang="tr-TR" sz="1800" dirty="0" err="1">
                <a:latin typeface="Arial Narrow" panose="020B0606020202030204" pitchFamily="34" charset="0"/>
              </a:rPr>
              <a:t>their</a:t>
            </a:r>
            <a:r>
              <a:rPr lang="tr-TR" sz="1800" dirty="0">
                <a:latin typeface="Arial Narrow" panose="020B0606020202030204" pitchFamily="34" charset="0"/>
              </a:rPr>
              <a:t> </a:t>
            </a:r>
            <a:r>
              <a:rPr lang="tr-TR" sz="1800" dirty="0" err="1">
                <a:latin typeface="Arial Narrow" panose="020B0606020202030204" pitchFamily="34" charset="0"/>
              </a:rPr>
              <a:t>own</a:t>
            </a:r>
            <a:r>
              <a:rPr lang="tr-TR" sz="1800" dirty="0">
                <a:latin typeface="Arial Narrow" panose="020B0606020202030204" pitchFamily="34" charset="0"/>
              </a:rPr>
              <a:t> </a:t>
            </a:r>
            <a:r>
              <a:rPr lang="tr-TR" sz="1800" dirty="0" err="1">
                <a:latin typeface="Arial Narrow" panose="020B0606020202030204" pitchFamily="34" charset="0"/>
              </a:rPr>
              <a:t>shares</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many</a:t>
            </a:r>
            <a:r>
              <a:rPr lang="tr-TR" sz="1800" dirty="0">
                <a:latin typeface="Arial Narrow" panose="020B0606020202030204" pitchFamily="34" charset="0"/>
              </a:rPr>
              <a:t> </a:t>
            </a:r>
            <a:r>
              <a:rPr lang="tr-TR" sz="1800" dirty="0" err="1">
                <a:latin typeface="Arial Narrow" panose="020B0606020202030204" pitchFamily="34" charset="0"/>
              </a:rPr>
              <a:t>individuals</a:t>
            </a:r>
            <a:endParaRPr lang="tr-TR" sz="1800" dirty="0">
              <a:latin typeface="Arial Narrow" panose="020B0606020202030204" pitchFamily="34" charset="0"/>
            </a:endParaRPr>
          </a:p>
          <a:p>
            <a:pPr mar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use</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proceeds</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purchase</a:t>
            </a:r>
            <a:r>
              <a:rPr lang="tr-TR" sz="1800" dirty="0">
                <a:latin typeface="Arial Narrow" panose="020B0606020202030204" pitchFamily="34" charset="0"/>
              </a:rPr>
              <a:t> </a:t>
            </a:r>
            <a:r>
              <a:rPr lang="tr-TR" sz="1800" dirty="0" err="1">
                <a:latin typeface="Arial Narrow" panose="020B0606020202030204" pitchFamily="34" charset="0"/>
              </a:rPr>
              <a:t>diversified</a:t>
            </a:r>
            <a:r>
              <a:rPr lang="tr-TR" sz="1800" dirty="0">
                <a:latin typeface="Arial Narrow" panose="020B0606020202030204" pitchFamily="34" charset="0"/>
              </a:rPr>
              <a:t> </a:t>
            </a:r>
            <a:r>
              <a:rPr lang="tr-TR" sz="1800" dirty="0" err="1">
                <a:latin typeface="Arial Narrow" panose="020B0606020202030204" pitchFamily="34" charset="0"/>
              </a:rPr>
              <a:t>portfolios</a:t>
            </a:r>
            <a:r>
              <a:rPr lang="tr-TR" sz="1800" dirty="0">
                <a:latin typeface="Arial Narrow" panose="020B0606020202030204" pitchFamily="34" charset="0"/>
              </a:rPr>
              <a:t> of </a:t>
            </a:r>
            <a:r>
              <a:rPr lang="tr-TR" sz="1800" dirty="0" err="1">
                <a:latin typeface="Arial Narrow" panose="020B0606020202030204" pitchFamily="34" charset="0"/>
              </a:rPr>
              <a:t>stocks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bonds</a:t>
            </a:r>
            <a:r>
              <a:rPr lang="tr-TR" sz="1800" dirty="0">
                <a:latin typeface="Arial Narrow" panose="020B0606020202030204" pitchFamily="34" charset="0"/>
              </a:rPr>
              <a:t>.</a:t>
            </a:r>
          </a:p>
        </p:txBody>
      </p:sp>
    </p:spTree>
    <p:extLst>
      <p:ext uri="{BB962C8B-B14F-4D97-AF65-F5344CB8AC3E}">
        <p14:creationId xmlns:p14="http://schemas.microsoft.com/office/powerpoint/2010/main" val="159889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07804" y="116632"/>
            <a:ext cx="3528392" cy="1080120"/>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[5] Financial System</a:t>
            </a:r>
            <a:r>
              <a:rPr lang="tr-TR" sz="2400">
                <a:solidFill>
                  <a:srgbClr val="800000"/>
                </a:solidFill>
                <a:latin typeface="Arial Narrow" pitchFamily="34" charset="0"/>
              </a:rPr>
              <a:t/>
            </a:r>
            <a:br>
              <a:rPr lang="tr-TR" sz="2400">
                <a:solidFill>
                  <a:srgbClr val="800000"/>
                </a:solidFill>
                <a:latin typeface="Arial Narrow" pitchFamily="34" charset="0"/>
              </a:rPr>
            </a:br>
            <a:r>
              <a:rPr lang="tr-TR" sz="2400" smtClean="0">
                <a:latin typeface="Arial Narrow" pitchFamily="34" charset="0"/>
              </a:rPr>
              <a:t>Money</a:t>
            </a:r>
            <a:endParaRPr lang="tr-TR" sz="2400" dirty="0">
              <a:latin typeface="Arial Narrow" pitchFamily="34" charset="0"/>
            </a:endParaRPr>
          </a:p>
        </p:txBody>
      </p:sp>
      <p:sp>
        <p:nvSpPr>
          <p:cNvPr id="5" name="Content Placeholder 4"/>
          <p:cNvSpPr>
            <a:spLocks noGrp="1"/>
          </p:cNvSpPr>
          <p:nvPr>
            <p:ph idx="1"/>
          </p:nvPr>
        </p:nvSpPr>
        <p:spPr>
          <a:xfrm>
            <a:off x="457200" y="1196752"/>
            <a:ext cx="8229600" cy="5328592"/>
          </a:xfrm>
          <a:ln w="25400">
            <a:noFill/>
          </a:ln>
        </p:spPr>
        <p:txBody>
          <a:bodyPr>
            <a:noAutofit/>
          </a:bodyPr>
          <a:lstStyle/>
          <a:p>
            <a:pPr marL="0" lvl="1" indent="0" algn="ctr">
              <a:spcBef>
                <a:spcPts val="0"/>
              </a:spcBef>
              <a:buNone/>
            </a:pPr>
            <a:r>
              <a:rPr lang="tr-TR" sz="1800" smtClean="0">
                <a:latin typeface="Arial Narrow" panose="020B0606020202030204" pitchFamily="34" charset="0"/>
              </a:rPr>
              <a:t>Primary Functions of Money:</a:t>
            </a:r>
          </a:p>
          <a:p>
            <a:pPr marL="285750" lvl="1" algn="ctr">
              <a:spcBef>
                <a:spcPts val="0"/>
              </a:spcBef>
              <a:buFont typeface="Arial" panose="020B0604020202020204" pitchFamily="34" charset="0"/>
              <a:buChar char="•"/>
            </a:pPr>
            <a:r>
              <a:rPr lang="tr-TR" sz="1800" smtClean="0">
                <a:latin typeface="Arial Narrow" panose="020B0606020202030204" pitchFamily="34" charset="0"/>
              </a:rPr>
              <a:t>Money </a:t>
            </a:r>
            <a:r>
              <a:rPr lang="tr-TR" sz="1800" dirty="0">
                <a:latin typeface="Arial Narrow" panose="020B0606020202030204" pitchFamily="34" charset="0"/>
              </a:rPr>
              <a:t>in </a:t>
            </a:r>
            <a:r>
              <a:rPr lang="tr-TR" sz="1800" dirty="0" err="1">
                <a:latin typeface="Arial Narrow" panose="020B0606020202030204" pitchFamily="34" charset="0"/>
              </a:rPr>
              <a:t>the</a:t>
            </a:r>
            <a:r>
              <a:rPr lang="tr-TR" sz="1800" dirty="0">
                <a:latin typeface="Arial Narrow" panose="020B0606020202030204" pitchFamily="34" charset="0"/>
              </a:rPr>
              <a:t> form of </a:t>
            </a:r>
            <a:r>
              <a:rPr lang="tr-TR" sz="1800" dirty="0" err="1">
                <a:latin typeface="Arial Narrow" panose="020B0606020202030204" pitchFamily="34" charset="0"/>
              </a:rPr>
              <a:t>currency</a:t>
            </a:r>
            <a:r>
              <a:rPr lang="tr-TR" sz="1800" dirty="0">
                <a:latin typeface="Arial Narrow" panose="020B0606020202030204" pitchFamily="34" charset="0"/>
              </a:rPr>
              <a:t>, </a:t>
            </a:r>
            <a:r>
              <a:rPr lang="tr-TR" sz="1800" dirty="0" err="1">
                <a:latin typeface="Arial Narrow" panose="020B0606020202030204" pitchFamily="34" charset="0"/>
              </a:rPr>
              <a:t>checks</a:t>
            </a:r>
            <a:r>
              <a:rPr lang="tr-TR" sz="1800" dirty="0">
                <a:latin typeface="Arial Narrow" panose="020B0606020202030204" pitchFamily="34" charset="0"/>
              </a:rPr>
              <a:t> </a:t>
            </a:r>
            <a:r>
              <a:rPr lang="tr-TR" sz="1800" dirty="0" err="1">
                <a:latin typeface="Arial Narrow" panose="020B0606020202030204" pitchFamily="34" charset="0"/>
              </a:rPr>
              <a:t>or</a:t>
            </a:r>
            <a:r>
              <a:rPr lang="tr-TR" sz="1800" dirty="0">
                <a:latin typeface="Arial Narrow" panose="020B0606020202030204" pitchFamily="34" charset="0"/>
              </a:rPr>
              <a:t> </a:t>
            </a:r>
            <a:r>
              <a:rPr lang="tr-TR" sz="1800" dirty="0" err="1">
                <a:latin typeface="Arial Narrow" panose="020B0606020202030204" pitchFamily="34" charset="0"/>
              </a:rPr>
              <a:t>electronic</a:t>
            </a:r>
            <a:r>
              <a:rPr lang="tr-TR" sz="1800" dirty="0">
                <a:latin typeface="Arial Narrow" panose="020B0606020202030204" pitchFamily="34" charset="0"/>
              </a:rPr>
              <a:t> </a:t>
            </a:r>
            <a:r>
              <a:rPr lang="tr-TR" sz="1800" err="1">
                <a:latin typeface="Arial Narrow" panose="020B0606020202030204" pitchFamily="34" charset="0"/>
              </a:rPr>
              <a:t>cards</a:t>
            </a:r>
            <a:r>
              <a:rPr lang="tr-TR" sz="1800">
                <a:latin typeface="Arial Narrow" panose="020B0606020202030204" pitchFamily="34" charset="0"/>
              </a:rPr>
              <a:t> </a:t>
            </a:r>
            <a:r>
              <a:rPr lang="tr-TR" sz="1800" smtClean="0">
                <a:latin typeface="Arial Narrow" panose="020B0606020202030204" pitchFamily="34" charset="0"/>
              </a:rPr>
              <a:t>is a </a:t>
            </a:r>
            <a:r>
              <a:rPr lang="tr-TR" sz="1800" dirty="0" err="1">
                <a:latin typeface="Arial Narrow" panose="020B0606020202030204" pitchFamily="34" charset="0"/>
              </a:rPr>
              <a:t>Medium</a:t>
            </a:r>
            <a:r>
              <a:rPr lang="tr-TR" sz="1800" dirty="0">
                <a:latin typeface="Arial Narrow" panose="020B0606020202030204" pitchFamily="34" charset="0"/>
              </a:rPr>
              <a:t> of Exchange;</a:t>
            </a:r>
          </a:p>
          <a:p>
            <a:pPr marL="0" lvl="1" indent="0" algn="ctr">
              <a:spcBef>
                <a:spcPts val="0"/>
              </a:spcBef>
              <a:buNone/>
            </a:pPr>
            <a:r>
              <a:rPr lang="tr-TR" sz="1800" dirty="0">
                <a:latin typeface="Arial Narrow" panose="020B0606020202030204" pitchFamily="34" charset="0"/>
              </a:rPr>
              <a:t>it is </a:t>
            </a:r>
            <a:r>
              <a:rPr lang="tr-TR" sz="1800" dirty="0" err="1">
                <a:latin typeface="Arial Narrow" panose="020B0606020202030204" pitchFamily="34" charset="0"/>
              </a:rPr>
              <a:t>used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pay </a:t>
            </a:r>
            <a:r>
              <a:rPr lang="tr-TR" sz="1800" dirty="0" err="1">
                <a:latin typeface="Arial Narrow" panose="020B0606020202030204" pitchFamily="34" charset="0"/>
              </a:rPr>
              <a:t>for</a:t>
            </a:r>
            <a:r>
              <a:rPr lang="tr-TR" sz="1800" dirty="0">
                <a:latin typeface="Arial Narrow" panose="020B0606020202030204" pitchFamily="34" charset="0"/>
              </a:rPr>
              <a:t> </a:t>
            </a:r>
            <a:r>
              <a:rPr lang="tr-TR" sz="1800" dirty="0" err="1">
                <a:latin typeface="Arial Narrow" panose="020B0606020202030204" pitchFamily="34" charset="0"/>
              </a:rPr>
              <a:t>goods</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err="1">
                <a:latin typeface="Arial Narrow" panose="020B0606020202030204" pitchFamily="34" charset="0"/>
              </a:rPr>
              <a:t>services</a:t>
            </a:r>
            <a:r>
              <a:rPr lang="tr-TR" sz="1800" smtClean="0">
                <a:latin typeface="Arial Narrow" panose="020B0606020202030204" pitchFamily="34" charset="0"/>
              </a:rPr>
              <a:t>.</a:t>
            </a:r>
            <a:endParaRPr lang="tr-TR" sz="1800" dirty="0">
              <a:latin typeface="Arial Narrow" panose="020B0606020202030204" pitchFamily="34" charset="0"/>
            </a:endParaRPr>
          </a:p>
          <a:p>
            <a:pPr marL="285750" lvl="1" algn="ctr">
              <a:spcBef>
                <a:spcPts val="0"/>
              </a:spcBef>
              <a:buFont typeface="Arial" panose="020B0604020202020204" pitchFamily="34" charset="0"/>
              <a:buChar char="•"/>
            </a:pPr>
            <a:r>
              <a:rPr lang="tr-TR" sz="1800" smtClean="0">
                <a:latin typeface="Arial Narrow" panose="020B0606020202030204" pitchFamily="34" charset="0"/>
              </a:rPr>
              <a:t>Money </a:t>
            </a:r>
            <a:r>
              <a:rPr lang="tr-TR" sz="1800" dirty="0" err="1">
                <a:latin typeface="Arial Narrow" panose="020B0606020202030204" pitchFamily="34" charset="0"/>
              </a:rPr>
              <a:t>provides</a:t>
            </a:r>
            <a:r>
              <a:rPr lang="tr-TR" sz="1800" dirty="0">
                <a:latin typeface="Arial Narrow" panose="020B0606020202030204" pitchFamily="34" charset="0"/>
              </a:rPr>
              <a:t> a </a:t>
            </a:r>
            <a:r>
              <a:rPr lang="tr-TR" sz="1800" dirty="0" err="1">
                <a:latin typeface="Arial Narrow" panose="020B0606020202030204" pitchFamily="34" charset="0"/>
              </a:rPr>
              <a:t>Unit</a:t>
            </a:r>
            <a:r>
              <a:rPr lang="tr-TR" sz="1800" dirty="0">
                <a:latin typeface="Arial Narrow" panose="020B0606020202030204" pitchFamily="34" charset="0"/>
              </a:rPr>
              <a:t> of </a:t>
            </a:r>
            <a:r>
              <a:rPr lang="tr-TR" sz="1800" dirty="0" err="1">
                <a:latin typeface="Arial Narrow" panose="020B0606020202030204" pitchFamily="34" charset="0"/>
              </a:rPr>
              <a:t>Account</a:t>
            </a:r>
            <a:r>
              <a:rPr lang="tr-TR" sz="1800" dirty="0">
                <a:latin typeface="Arial Narrow" panose="020B0606020202030204" pitchFamily="34" charset="0"/>
              </a:rPr>
              <a:t>;</a:t>
            </a:r>
          </a:p>
          <a:p>
            <a:pPr marL="0" lvl="1" indent="0" algn="ctr">
              <a:spcBef>
                <a:spcPts val="0"/>
              </a:spcBef>
              <a:buNone/>
            </a:pPr>
            <a:r>
              <a:rPr lang="tr-TR" sz="1800" dirty="0">
                <a:latin typeface="Arial Narrow" panose="020B0606020202030204" pitchFamily="34" charset="0"/>
              </a:rPr>
              <a:t>it is </a:t>
            </a:r>
            <a:r>
              <a:rPr lang="tr-TR" sz="1800" dirty="0" err="1">
                <a:latin typeface="Arial Narrow" panose="020B0606020202030204" pitchFamily="34" charset="0"/>
              </a:rPr>
              <a:t>used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measure</a:t>
            </a:r>
            <a:r>
              <a:rPr lang="tr-TR" sz="1800" dirty="0">
                <a:latin typeface="Arial Narrow" panose="020B0606020202030204" pitchFamily="34" charset="0"/>
              </a:rPr>
              <a:t> </a:t>
            </a:r>
            <a:r>
              <a:rPr lang="tr-TR" sz="1800" dirty="0" err="1">
                <a:latin typeface="Arial Narrow" panose="020B0606020202030204" pitchFamily="34" charset="0"/>
              </a:rPr>
              <a:t>value</a:t>
            </a:r>
            <a:r>
              <a:rPr lang="tr-TR" sz="1800" dirty="0">
                <a:latin typeface="Arial Narrow" panose="020B0606020202030204" pitchFamily="34" charset="0"/>
              </a:rPr>
              <a:t> in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err="1">
                <a:latin typeface="Arial Narrow" panose="020B0606020202030204" pitchFamily="34" charset="0"/>
              </a:rPr>
              <a:t>economy</a:t>
            </a:r>
            <a:r>
              <a:rPr lang="tr-TR" sz="1800" smtClean="0">
                <a:latin typeface="Arial Narrow" panose="020B0606020202030204" pitchFamily="34" charset="0"/>
              </a:rPr>
              <a:t>.</a:t>
            </a:r>
            <a:endParaRPr lang="tr-TR" sz="1800" dirty="0">
              <a:latin typeface="Arial Narrow" panose="020B0606020202030204" pitchFamily="34" charset="0"/>
            </a:endParaRPr>
          </a:p>
          <a:p>
            <a:pPr marL="285750" lvl="1" algn="ctr">
              <a:spcBef>
                <a:spcPts val="0"/>
              </a:spcBef>
              <a:buFont typeface="Arial" panose="020B0604020202020204" pitchFamily="34" charset="0"/>
              <a:buChar char="•"/>
            </a:pPr>
            <a:r>
              <a:rPr lang="tr-TR" sz="1800" smtClean="0">
                <a:latin typeface="Arial Narrow" panose="020B0606020202030204" pitchFamily="34" charset="0"/>
              </a:rPr>
              <a:t>Money </a:t>
            </a:r>
            <a:r>
              <a:rPr lang="tr-TR" sz="1800" dirty="0" err="1">
                <a:latin typeface="Arial Narrow" panose="020B0606020202030204" pitchFamily="34" charset="0"/>
              </a:rPr>
              <a:t>also</a:t>
            </a:r>
            <a:r>
              <a:rPr lang="tr-TR" sz="1800" dirty="0">
                <a:latin typeface="Arial Narrow" panose="020B0606020202030204" pitchFamily="34" charset="0"/>
              </a:rPr>
              <a:t> </a:t>
            </a:r>
            <a:r>
              <a:rPr lang="tr-TR" sz="1800" dirty="0" err="1">
                <a:latin typeface="Arial Narrow" panose="020B0606020202030204" pitchFamily="34" charset="0"/>
              </a:rPr>
              <a:t>functions</a:t>
            </a:r>
            <a:r>
              <a:rPr lang="tr-TR" sz="1800" dirty="0">
                <a:latin typeface="Arial Narrow" panose="020B0606020202030204" pitchFamily="34" charset="0"/>
              </a:rPr>
              <a:t> as a </a:t>
            </a:r>
            <a:r>
              <a:rPr lang="tr-TR" sz="1800" dirty="0" err="1">
                <a:latin typeface="Arial Narrow" panose="020B0606020202030204" pitchFamily="34" charset="0"/>
              </a:rPr>
              <a:t>Store</a:t>
            </a:r>
            <a:r>
              <a:rPr lang="tr-TR" sz="1800" dirty="0">
                <a:latin typeface="Arial Narrow" panose="020B0606020202030204" pitchFamily="34" charset="0"/>
              </a:rPr>
              <a:t> of Value;</a:t>
            </a:r>
          </a:p>
          <a:p>
            <a:pPr marL="0" lvl="1" indent="0" algn="ctr">
              <a:spcBef>
                <a:spcPts val="0"/>
              </a:spcBef>
              <a:buNone/>
            </a:pPr>
            <a:r>
              <a:rPr lang="tr-TR" sz="1800" dirty="0">
                <a:latin typeface="Arial Narrow" panose="020B0606020202030204" pitchFamily="34" charset="0"/>
              </a:rPr>
              <a:t>it is a </a:t>
            </a:r>
            <a:r>
              <a:rPr lang="tr-TR" sz="1800" dirty="0" err="1">
                <a:latin typeface="Arial Narrow" panose="020B0606020202030204" pitchFamily="34" charset="0"/>
              </a:rPr>
              <a:t>repository</a:t>
            </a:r>
            <a:r>
              <a:rPr lang="tr-TR" sz="1800" dirty="0">
                <a:latin typeface="Arial Narrow" panose="020B0606020202030204" pitchFamily="34" charset="0"/>
              </a:rPr>
              <a:t> of </a:t>
            </a:r>
            <a:r>
              <a:rPr lang="tr-TR" sz="1800" dirty="0" err="1">
                <a:latin typeface="Arial Narrow" panose="020B0606020202030204" pitchFamily="34" charset="0"/>
              </a:rPr>
              <a:t>purchasing</a:t>
            </a:r>
            <a:r>
              <a:rPr lang="tr-TR" sz="1800" dirty="0">
                <a:latin typeface="Arial Narrow" panose="020B0606020202030204" pitchFamily="34" charset="0"/>
              </a:rPr>
              <a:t> </a:t>
            </a:r>
            <a:r>
              <a:rPr lang="tr-TR" sz="1800" dirty="0" err="1">
                <a:latin typeface="Arial Narrow" panose="020B0606020202030204" pitchFamily="34" charset="0"/>
              </a:rPr>
              <a:t>power</a:t>
            </a:r>
            <a:r>
              <a:rPr lang="tr-TR" sz="1800" dirty="0">
                <a:latin typeface="Arial Narrow" panose="020B0606020202030204" pitchFamily="34" charset="0"/>
              </a:rPr>
              <a:t> </a:t>
            </a:r>
            <a:r>
              <a:rPr lang="tr-TR" sz="1800" dirty="0" err="1">
                <a:latin typeface="Arial Narrow" panose="020B0606020202030204" pitchFamily="34" charset="0"/>
              </a:rPr>
              <a:t>over</a:t>
            </a:r>
            <a:r>
              <a:rPr lang="tr-TR" sz="1800" dirty="0">
                <a:latin typeface="Arial Narrow" panose="020B0606020202030204" pitchFamily="34" charset="0"/>
              </a:rPr>
              <a:t> time.</a:t>
            </a:r>
          </a:p>
          <a:p>
            <a:pPr marL="0" lvl="1" indent="0" algn="ctr">
              <a:spcBef>
                <a:spcPts val="0"/>
              </a:spcBef>
              <a:buNone/>
            </a:pPr>
            <a:endParaRPr lang="tr-TR" sz="1600" smtClean="0">
              <a:latin typeface="Arial Narrow" panose="020B0606020202030204" pitchFamily="34" charset="0"/>
            </a:endParaRPr>
          </a:p>
          <a:p>
            <a:pPr marL="0" lvl="1" indent="0" algn="ctr">
              <a:spcBef>
                <a:spcPts val="0"/>
              </a:spcBef>
              <a:buNone/>
            </a:pPr>
            <a:r>
              <a:rPr lang="tr-TR" sz="1600">
                <a:solidFill>
                  <a:srgbClr val="000066"/>
                </a:solidFill>
                <a:latin typeface="Arial Narrow" panose="020B0606020202030204" pitchFamily="34" charset="0"/>
              </a:rPr>
              <a:t>There are expanding levels </a:t>
            </a:r>
            <a:r>
              <a:rPr lang="tr-TR" sz="1600" smtClean="0">
                <a:solidFill>
                  <a:srgbClr val="000066"/>
                </a:solidFill>
                <a:latin typeface="Arial Narrow" panose="020B0606020202030204" pitchFamily="34" charset="0"/>
              </a:rPr>
              <a:t>of</a:t>
            </a:r>
          </a:p>
          <a:p>
            <a:pPr marL="0" lvl="1" indent="0" algn="ctr">
              <a:spcBef>
                <a:spcPts val="0"/>
              </a:spcBef>
              <a:buNone/>
            </a:pPr>
            <a:r>
              <a:rPr lang="tr-TR" sz="2000" smtClean="0">
                <a:solidFill>
                  <a:srgbClr val="000066"/>
                </a:solidFill>
                <a:latin typeface="Arial Narrow" panose="020B0606020202030204" pitchFamily="34" charset="0"/>
              </a:rPr>
              <a:t>money supply measurement:</a:t>
            </a:r>
            <a:endParaRPr lang="tr-TR" sz="2000">
              <a:solidFill>
                <a:srgbClr val="000066"/>
              </a:solidFill>
              <a:latin typeface="Arial Narrow" panose="020B0606020202030204" pitchFamily="34" charset="0"/>
            </a:endParaRPr>
          </a:p>
          <a:p>
            <a:pPr marL="0" lvl="1" indent="0" algn="ctr">
              <a:spcBef>
                <a:spcPts val="0"/>
              </a:spcBef>
              <a:buNone/>
            </a:pPr>
            <a:r>
              <a:rPr lang="tr-TR" sz="1600">
                <a:solidFill>
                  <a:srgbClr val="000066"/>
                </a:solidFill>
                <a:latin typeface="Arial Narrow" panose="020B0606020202030204" pitchFamily="34" charset="0"/>
              </a:rPr>
              <a:t>M0 = physical money</a:t>
            </a:r>
          </a:p>
          <a:p>
            <a:pPr marL="0" lvl="1" indent="0" algn="ctr">
              <a:spcBef>
                <a:spcPts val="0"/>
              </a:spcBef>
              <a:buNone/>
            </a:pPr>
            <a:r>
              <a:rPr lang="tr-TR" sz="1600">
                <a:solidFill>
                  <a:srgbClr val="000066"/>
                </a:solidFill>
                <a:latin typeface="Arial Narrow" panose="020B0606020202030204" pitchFamily="34" charset="0"/>
              </a:rPr>
              <a:t>(paper, coin, deposits of banks at Central Bank which the Central Bank has to provide cash on demand</a:t>
            </a:r>
            <a:r>
              <a:rPr lang="tr-TR" sz="1600" smtClean="0">
                <a:solidFill>
                  <a:srgbClr val="000066"/>
                </a:solidFill>
                <a:latin typeface="Arial Narrow" panose="020B0606020202030204" pitchFamily="34" charset="0"/>
              </a:rPr>
              <a:t>)</a:t>
            </a:r>
            <a:endParaRPr lang="tr-TR" sz="1600">
              <a:solidFill>
                <a:srgbClr val="000066"/>
              </a:solidFill>
              <a:latin typeface="Arial Narrow" panose="020B0606020202030204" pitchFamily="34" charset="0"/>
            </a:endParaRPr>
          </a:p>
          <a:p>
            <a:pPr marL="0" lvl="1" indent="0" algn="ctr">
              <a:spcBef>
                <a:spcPts val="0"/>
              </a:spcBef>
              <a:buNone/>
            </a:pPr>
            <a:r>
              <a:rPr lang="tr-TR" sz="1600">
                <a:solidFill>
                  <a:srgbClr val="000066"/>
                </a:solidFill>
                <a:latin typeface="Arial Narrow" panose="020B0606020202030204" pitchFamily="34" charset="0"/>
              </a:rPr>
              <a:t>M1 = M0 +current </a:t>
            </a:r>
            <a:r>
              <a:rPr lang="tr-TR" sz="1600" smtClean="0">
                <a:solidFill>
                  <a:srgbClr val="000066"/>
                </a:solidFill>
                <a:latin typeface="Arial Narrow" panose="020B0606020202030204" pitchFamily="34" charset="0"/>
              </a:rPr>
              <a:t>deposits</a:t>
            </a:r>
            <a:endParaRPr lang="tr-TR" sz="1600">
              <a:solidFill>
                <a:srgbClr val="000066"/>
              </a:solidFill>
              <a:latin typeface="Arial Narrow" panose="020B0606020202030204" pitchFamily="34" charset="0"/>
            </a:endParaRPr>
          </a:p>
          <a:p>
            <a:pPr marL="0" lvl="1" indent="0" algn="ctr">
              <a:spcBef>
                <a:spcPts val="0"/>
              </a:spcBef>
              <a:buNone/>
            </a:pPr>
            <a:r>
              <a:rPr lang="tr-TR" sz="1600">
                <a:solidFill>
                  <a:srgbClr val="000066"/>
                </a:solidFill>
                <a:latin typeface="Arial Narrow" panose="020B0606020202030204" pitchFamily="34" charset="0"/>
              </a:rPr>
              <a:t>M2 = M1 +deposits with maturity of less than 30 </a:t>
            </a:r>
            <a:r>
              <a:rPr lang="tr-TR" sz="1600" smtClean="0">
                <a:solidFill>
                  <a:srgbClr val="000066"/>
                </a:solidFill>
                <a:latin typeface="Arial Narrow" panose="020B0606020202030204" pitchFamily="34" charset="0"/>
              </a:rPr>
              <a:t>days</a:t>
            </a:r>
            <a:endParaRPr lang="tr-TR" sz="1600">
              <a:solidFill>
                <a:srgbClr val="000066"/>
              </a:solidFill>
              <a:latin typeface="Arial Narrow" panose="020B0606020202030204" pitchFamily="34" charset="0"/>
            </a:endParaRPr>
          </a:p>
          <a:p>
            <a:pPr marL="0" lvl="1" indent="0" algn="ctr">
              <a:spcBef>
                <a:spcPts val="0"/>
              </a:spcBef>
              <a:buNone/>
            </a:pPr>
            <a:r>
              <a:rPr lang="tr-TR" sz="1600">
                <a:solidFill>
                  <a:srgbClr val="000066"/>
                </a:solidFill>
                <a:latin typeface="Arial Narrow" panose="020B0606020202030204" pitchFamily="34" charset="0"/>
              </a:rPr>
              <a:t>M3 = M2 +time deposits</a:t>
            </a:r>
          </a:p>
          <a:p>
            <a:pPr marL="0" lvl="1" indent="0" algn="ctr">
              <a:spcBef>
                <a:spcPts val="0"/>
              </a:spcBef>
              <a:buNone/>
            </a:pPr>
            <a:endParaRPr lang="tr-TR" sz="1600" dirty="0">
              <a:latin typeface="Arial Narrow" panose="020B0606020202030204" pitchFamily="34" charset="0"/>
            </a:endParaRPr>
          </a:p>
        </p:txBody>
      </p:sp>
    </p:spTree>
    <p:extLst>
      <p:ext uri="{BB962C8B-B14F-4D97-AF65-F5344CB8AC3E}">
        <p14:creationId xmlns:p14="http://schemas.microsoft.com/office/powerpoint/2010/main" val="1665788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08012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[6] Interest </a:t>
            </a:r>
            <a:r>
              <a:rPr lang="tr-TR" sz="2400" dirty="0" err="1" smtClean="0">
                <a:solidFill>
                  <a:srgbClr val="800000"/>
                </a:solidFill>
                <a:latin typeface="Arial Narrow" pitchFamily="34" charset="0"/>
              </a:rPr>
              <a:t>Rates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Yield</a:t>
            </a:r>
            <a:r>
              <a:rPr lang="tr-TR" sz="2400" dirty="0" smtClean="0">
                <a:latin typeface="Arial Narrow" pitchFamily="34" charset="0"/>
              </a:rPr>
              <a:t> </a:t>
            </a:r>
            <a:r>
              <a:rPr lang="tr-TR" sz="2400" dirty="0" err="1" smtClean="0">
                <a:latin typeface="Arial Narrow" pitchFamily="34" charset="0"/>
              </a:rPr>
              <a:t>to</a:t>
            </a:r>
            <a:r>
              <a:rPr lang="tr-TR" sz="2400" dirty="0" smtClean="0">
                <a:latin typeface="Arial Narrow" pitchFamily="34" charset="0"/>
              </a:rPr>
              <a:t> </a:t>
            </a:r>
            <a:r>
              <a:rPr lang="tr-TR" sz="2400" dirty="0" err="1" smtClean="0">
                <a:latin typeface="Arial Narrow" pitchFamily="34" charset="0"/>
              </a:rPr>
              <a:t>Maturity</a:t>
            </a:r>
            <a:endParaRPr lang="tr-TR" sz="2400" dirty="0">
              <a:latin typeface="Arial Narrow" pitchFamily="34" charset="0"/>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196752"/>
                <a:ext cx="8229600" cy="4896544"/>
              </a:xfrm>
              <a:ln w="25400">
                <a:noFill/>
              </a:ln>
            </p:spPr>
            <p:txBody>
              <a:bodyPr>
                <a:noAutofit/>
              </a:bodyPr>
              <a:lstStyle/>
              <a:p>
                <a:pPr marL="0" lvl="0" indent="0" algn="ctr">
                  <a:spcBef>
                    <a:spcPts val="0"/>
                  </a:spcBef>
                  <a:buNone/>
                </a:pPr>
                <a:r>
                  <a:rPr lang="tr-TR" sz="1800" noProof="1" smtClean="0">
                    <a:latin typeface="Arial Narrow" panose="020B0606020202030204" pitchFamily="34" charset="0"/>
                  </a:rPr>
                  <a:t>Present Value (PV) of the Debt Instrument may be formulated as follows:</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2000" noProof="1" smtClean="0">
                    <a:latin typeface="Arial Narrow" panose="020B0606020202030204" pitchFamily="34" charset="0"/>
                  </a:rPr>
                  <a:t>PV =</a:t>
                </a:r>
                <a14:m>
                  <m:oMath xmlns:m="http://schemas.openxmlformats.org/officeDocument/2006/math">
                    <m:nary>
                      <m:naryPr>
                        <m:chr m:val="∑"/>
                        <m:ctrlPr>
                          <a:rPr lang="tr-TR" i="1" noProof="1" smtClean="0">
                            <a:latin typeface="Cambria Math" panose="02040503050406030204" pitchFamily="18" charset="0"/>
                          </a:rPr>
                        </m:ctrlPr>
                      </m:naryPr>
                      <m:sub>
                        <m:r>
                          <m:rPr>
                            <m:brk m:alnAt="23"/>
                          </m:rPr>
                          <a:rPr lang="tr-TR" b="0" i="1" noProof="1" smtClean="0">
                            <a:latin typeface="Cambria Math" panose="02040503050406030204" pitchFamily="18" charset="0"/>
                          </a:rPr>
                          <m:t>𝑡</m:t>
                        </m:r>
                        <m:r>
                          <a:rPr lang="tr-TR" b="0" i="1" noProof="1" smtClean="0">
                            <a:latin typeface="Cambria Math" panose="02040503050406030204" pitchFamily="18" charset="0"/>
                          </a:rPr>
                          <m:t>=1</m:t>
                        </m:r>
                      </m:sub>
                      <m:sup>
                        <m:r>
                          <a:rPr lang="tr-TR" b="0" i="1" noProof="1" smtClean="0">
                            <a:latin typeface="Cambria Math" panose="02040503050406030204" pitchFamily="18" charset="0"/>
                          </a:rPr>
                          <m:t>𝑛</m:t>
                        </m:r>
                      </m:sup>
                      <m:e>
                        <m:f>
                          <m:fPr>
                            <m:ctrlPr>
                              <a:rPr lang="tr-TR" i="1" noProof="1">
                                <a:latin typeface="Cambria Math" panose="02040503050406030204" pitchFamily="18" charset="0"/>
                              </a:rPr>
                            </m:ctrlPr>
                          </m:fPr>
                          <m:num>
                            <m:r>
                              <a:rPr lang="tr-TR" i="1" noProof="1">
                                <a:latin typeface="Cambria Math" panose="02040503050406030204" pitchFamily="18" charset="0"/>
                              </a:rPr>
                              <m:t>𝐶𝐹</m:t>
                            </m:r>
                            <m:r>
                              <a:rPr lang="tr-TR" b="0" i="1" baseline="-25000" noProof="1" smtClean="0">
                                <a:latin typeface="Cambria Math" panose="02040503050406030204" pitchFamily="18" charset="0"/>
                              </a:rPr>
                              <m:t>𝑡</m:t>
                            </m:r>
                          </m:num>
                          <m:den>
                            <m:sSup>
                              <m:sSupPr>
                                <m:ctrlPr>
                                  <a:rPr lang="tr-TR" i="1" noProof="1">
                                    <a:latin typeface="Cambria Math" panose="02040503050406030204" pitchFamily="18" charset="0"/>
                                  </a:rPr>
                                </m:ctrlPr>
                              </m:sSupPr>
                              <m:e>
                                <m:r>
                                  <a:rPr lang="tr-TR" i="1" noProof="1">
                                    <a:latin typeface="Cambria Math" panose="02040503050406030204" pitchFamily="18" charset="0"/>
                                  </a:rPr>
                                  <m:t>(1+</m:t>
                                </m:r>
                                <m:r>
                                  <a:rPr lang="tr-TR" i="1" noProof="1" smtClean="0">
                                    <a:latin typeface="Cambria Math" panose="02040503050406030204" pitchFamily="18" charset="0"/>
                                  </a:rPr>
                                  <m:t>𝑖</m:t>
                                </m:r>
                                <m:r>
                                  <a:rPr lang="tr-TR" i="1" noProof="1">
                                    <a:latin typeface="Cambria Math" panose="02040503050406030204" pitchFamily="18" charset="0"/>
                                  </a:rPr>
                                  <m:t>)</m:t>
                                </m:r>
                              </m:e>
                              <m:sup>
                                <m:r>
                                  <a:rPr lang="tr-TR" b="0" i="1" noProof="1" smtClean="0">
                                    <a:latin typeface="Cambria Math" panose="02040503050406030204" pitchFamily="18" charset="0"/>
                                  </a:rPr>
                                  <m:t>𝑡</m:t>
                                </m:r>
                              </m:sup>
                            </m:sSup>
                          </m:den>
                        </m:f>
                      </m:e>
                    </m:nary>
                  </m:oMath>
                </a14:m>
                <a:endParaRPr lang="tr-TR" noProof="1" smtClean="0">
                  <a:latin typeface="Arial Narrow" panose="020B0606020202030204" pitchFamily="34" charset="0"/>
                </a:endParaRP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dirty="0" err="1">
                    <a:latin typeface="Arial Narrow" panose="020B0606020202030204" pitchFamily="34" charset="0"/>
                  </a:rPr>
                  <a:t>Yield</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Maturity</a:t>
                </a:r>
                <a:r>
                  <a:rPr lang="tr-TR" sz="1800" dirty="0">
                    <a:latin typeface="Arial Narrow" panose="020B0606020202030204" pitchFamily="34" charset="0"/>
                  </a:rPr>
                  <a:t> is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interest</a:t>
                </a:r>
                <a:r>
                  <a:rPr lang="tr-TR" sz="1800" dirty="0">
                    <a:latin typeface="Arial Narrow" panose="020B0606020202030204" pitchFamily="34" charset="0"/>
                  </a:rPr>
                  <a:t> rate (</a:t>
                </a:r>
                <a:r>
                  <a:rPr lang="tr-TR" sz="1800" i="1" dirty="0">
                    <a:latin typeface="Bookman Old Style" panose="02050604050505020204" pitchFamily="18" charset="0"/>
                  </a:rPr>
                  <a:t>i</a:t>
                </a:r>
                <a:r>
                  <a:rPr lang="tr-TR" sz="1800" dirty="0">
                    <a:latin typeface="Arial Narrow" panose="020B0606020202030204" pitchFamily="34" charset="0"/>
                  </a:rPr>
                  <a:t> ) </a:t>
                </a:r>
                <a:r>
                  <a:rPr lang="tr-TR" sz="1800" dirty="0" err="1">
                    <a:latin typeface="Arial Narrow" panose="020B0606020202030204" pitchFamily="34" charset="0"/>
                  </a:rPr>
                  <a:t>that</a:t>
                </a:r>
                <a:r>
                  <a:rPr lang="tr-TR" sz="1800" dirty="0">
                    <a:latin typeface="Arial Narrow" panose="020B0606020202030204" pitchFamily="34" charset="0"/>
                  </a:rPr>
                  <a:t> </a:t>
                </a:r>
                <a:r>
                  <a:rPr lang="tr-TR" sz="1800" dirty="0" err="1">
                    <a:latin typeface="Arial Narrow" panose="020B0606020202030204" pitchFamily="34" charset="0"/>
                  </a:rPr>
                  <a:t>equates</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present</a:t>
                </a:r>
                <a:r>
                  <a:rPr lang="tr-TR" sz="1800" dirty="0">
                    <a:latin typeface="Arial Narrow" panose="020B0606020202030204" pitchFamily="34" charset="0"/>
                  </a:rPr>
                  <a:t> </a:t>
                </a:r>
                <a:r>
                  <a:rPr lang="tr-TR" sz="1800" dirty="0" err="1">
                    <a:latin typeface="Arial Narrow" panose="020B0606020202030204" pitchFamily="34" charset="0"/>
                  </a:rPr>
                  <a:t>value</a:t>
                </a:r>
                <a:r>
                  <a:rPr lang="tr-TR" sz="1800" dirty="0">
                    <a:latin typeface="Arial Narrow" panose="020B0606020202030204" pitchFamily="34" charset="0"/>
                  </a:rPr>
                  <a:t> of </a:t>
                </a:r>
                <a:r>
                  <a:rPr lang="tr-TR" sz="1800" dirty="0" err="1">
                    <a:latin typeface="Arial Narrow" panose="020B0606020202030204" pitchFamily="34" charset="0"/>
                  </a:rPr>
                  <a:t>cash</a:t>
                </a:r>
                <a:r>
                  <a:rPr lang="tr-TR" sz="1800" dirty="0">
                    <a:latin typeface="Arial Narrow" panose="020B0606020202030204" pitchFamily="34" charset="0"/>
                  </a:rPr>
                  <a:t> </a:t>
                </a:r>
                <a:r>
                  <a:rPr lang="tr-TR" sz="1800" dirty="0" err="1">
                    <a:latin typeface="Arial Narrow" panose="020B0606020202030204" pitchFamily="34" charset="0"/>
                  </a:rPr>
                  <a:t>flow</a:t>
                </a:r>
                <a:r>
                  <a:rPr lang="tr-TR" sz="1800" dirty="0">
                    <a:latin typeface="Arial Narrow" panose="020B0606020202030204" pitchFamily="34" charset="0"/>
                  </a:rPr>
                  <a:t> </a:t>
                </a:r>
                <a:r>
                  <a:rPr lang="tr-TR" sz="1800" dirty="0" err="1">
                    <a:latin typeface="Arial Narrow" panose="020B0606020202030204" pitchFamily="34" charset="0"/>
                  </a:rPr>
                  <a:t>payments</a:t>
                </a:r>
                <a:r>
                  <a:rPr lang="tr-TR" sz="1800" dirty="0">
                    <a:latin typeface="Arial Narrow" panose="020B0606020202030204" pitchFamily="34" charset="0"/>
                  </a:rPr>
                  <a:t> </a:t>
                </a:r>
                <a:r>
                  <a:rPr lang="tr-TR" sz="1800" dirty="0" err="1">
                    <a:latin typeface="Arial Narrow" panose="020B0606020202030204" pitchFamily="34" charset="0"/>
                  </a:rPr>
                  <a:t>received</a:t>
                </a:r>
                <a:r>
                  <a:rPr lang="tr-TR" sz="1800" dirty="0">
                    <a:latin typeface="Arial Narrow" panose="020B0606020202030204" pitchFamily="34" charset="0"/>
                  </a:rPr>
                  <a:t> </a:t>
                </a:r>
                <a:r>
                  <a:rPr lang="tr-TR" sz="1800" dirty="0" err="1">
                    <a:latin typeface="Arial Narrow" panose="020B0606020202030204" pitchFamily="34" charset="0"/>
                  </a:rPr>
                  <a:t>from</a:t>
                </a:r>
                <a:r>
                  <a:rPr lang="tr-TR" sz="1800" dirty="0">
                    <a:latin typeface="Arial Narrow" panose="020B0606020202030204" pitchFamily="34" charset="0"/>
                  </a:rPr>
                  <a:t> a </a:t>
                </a:r>
                <a:r>
                  <a:rPr lang="tr-TR" sz="1800" dirty="0" err="1">
                    <a:latin typeface="Arial Narrow" panose="020B0606020202030204" pitchFamily="34" charset="0"/>
                  </a:rPr>
                  <a:t>debt</a:t>
                </a:r>
                <a:r>
                  <a:rPr lang="tr-TR" sz="1800" dirty="0">
                    <a:latin typeface="Arial Narrow" panose="020B0606020202030204" pitchFamily="34" charset="0"/>
                  </a:rPr>
                  <a:t> </a:t>
                </a:r>
                <a:r>
                  <a:rPr lang="tr-TR" sz="1800" dirty="0" err="1">
                    <a:latin typeface="Arial Narrow" panose="020B0606020202030204" pitchFamily="34" charset="0"/>
                  </a:rPr>
                  <a:t>instrument</a:t>
                </a:r>
                <a:r>
                  <a:rPr lang="tr-TR" sz="1800" dirty="0">
                    <a:latin typeface="Arial Narrow" panose="020B0606020202030204" pitchFamily="34" charset="0"/>
                  </a:rPr>
                  <a:t> </a:t>
                </a:r>
                <a:r>
                  <a:rPr lang="tr-TR" sz="1800" dirty="0" err="1">
                    <a:latin typeface="Arial Narrow" panose="020B0606020202030204" pitchFamily="34" charset="0"/>
                  </a:rPr>
                  <a:t>with</a:t>
                </a:r>
                <a:r>
                  <a:rPr lang="tr-TR" sz="1800" dirty="0">
                    <a:latin typeface="Arial Narrow" panose="020B0606020202030204" pitchFamily="34" charset="0"/>
                  </a:rPr>
                  <a:t> </a:t>
                </a:r>
                <a:r>
                  <a:rPr lang="tr-TR" sz="1800" dirty="0" err="1">
                    <a:latin typeface="Arial Narrow" panose="020B0606020202030204" pitchFamily="34" charset="0"/>
                  </a:rPr>
                  <a:t>its</a:t>
                </a:r>
                <a:r>
                  <a:rPr lang="tr-TR" sz="1800" dirty="0">
                    <a:latin typeface="Arial Narrow" panose="020B0606020202030204" pitchFamily="34" charset="0"/>
                  </a:rPr>
                  <a:t> </a:t>
                </a:r>
                <a:r>
                  <a:rPr lang="tr-TR" sz="1800" dirty="0" err="1">
                    <a:latin typeface="Arial Narrow" panose="020B0606020202030204" pitchFamily="34" charset="0"/>
                  </a:rPr>
                  <a:t>value</a:t>
                </a:r>
                <a:r>
                  <a:rPr lang="tr-TR" sz="1800" dirty="0">
                    <a:latin typeface="Arial Narrow" panose="020B0606020202030204" pitchFamily="34" charset="0"/>
                  </a:rPr>
                  <a:t> </a:t>
                </a:r>
                <a:r>
                  <a:rPr lang="tr-TR" sz="1800" dirty="0" err="1">
                    <a:latin typeface="Arial Narrow" panose="020B0606020202030204" pitchFamily="34" charset="0"/>
                  </a:rPr>
                  <a:t>today</a:t>
                </a:r>
                <a:r>
                  <a:rPr lang="tr-TR" sz="1800" dirty="0">
                    <a:latin typeface="Arial Narrow" panose="020B0606020202030204" pitchFamily="34" charset="0"/>
                  </a:rPr>
                  <a:t>.</a:t>
                </a:r>
              </a:p>
              <a:p>
                <a:pPr marL="0" lvl="0" indent="0" algn="ctr">
                  <a:spcBef>
                    <a:spcPts val="0"/>
                  </a:spcBef>
                  <a:buNone/>
                </a:pPr>
                <a:r>
                  <a:rPr lang="tr-TR" sz="1800" noProof="1">
                    <a:latin typeface="Arial Narrow" panose="020B0606020202030204" pitchFamily="34" charset="0"/>
                  </a:rPr>
                  <a:t>Yield to Maturity is also known as Internal Rate of Return (IRR).</a:t>
                </a: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If we know </a:t>
                </a:r>
                <a:r>
                  <a:rPr lang="tr-TR" sz="1800" i="1" noProof="1" smtClean="0">
                    <a:latin typeface="Arial Narrow" panose="020B0606020202030204" pitchFamily="34" charset="0"/>
                  </a:rPr>
                  <a:t>CF</a:t>
                </a:r>
                <a:r>
                  <a:rPr lang="tr-TR" sz="1800" i="1" baseline="-25000" noProof="1" smtClean="0">
                    <a:latin typeface="Arial Narrow" panose="020B0606020202030204" pitchFamily="34" charset="0"/>
                  </a:rPr>
                  <a:t>t</a:t>
                </a:r>
                <a:r>
                  <a:rPr lang="tr-TR" sz="1800" noProof="1" smtClean="0">
                    <a:latin typeface="Arial Narrow" panose="020B0606020202030204" pitchFamily="34" charset="0"/>
                  </a:rPr>
                  <a:t> and the PV of the debt instrument,</a:t>
                </a:r>
              </a:p>
              <a:p>
                <a:pPr marL="0" lvl="0" indent="0" algn="ctr">
                  <a:spcBef>
                    <a:spcPts val="0"/>
                  </a:spcBef>
                  <a:buNone/>
                </a:pPr>
                <a:r>
                  <a:rPr lang="tr-TR" sz="1800" noProof="1" smtClean="0">
                    <a:latin typeface="Arial Narrow" panose="020B0606020202030204" pitchFamily="34" charset="0"/>
                  </a:rPr>
                  <a:t>then we can calculate </a:t>
                </a:r>
                <a:r>
                  <a:rPr lang="tr-TR" sz="1800" i="1" noProof="1" smtClean="0">
                    <a:latin typeface="Bookman Old Style" panose="02050604050505020204" pitchFamily="18" charset="0"/>
                  </a:rPr>
                  <a:t>i</a:t>
                </a:r>
                <a:r>
                  <a:rPr lang="tr-TR" sz="1800" noProof="1" smtClean="0">
                    <a:latin typeface="Arial Narrow" panose="020B0606020202030204" pitchFamily="34" charset="0"/>
                  </a:rPr>
                  <a:t> , that is, its yield to maturity.</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If we know </a:t>
                </a:r>
                <a:r>
                  <a:rPr lang="tr-TR" sz="1800" i="1" noProof="1">
                    <a:latin typeface="Arial Narrow" panose="020B0606020202030204" pitchFamily="34" charset="0"/>
                  </a:rPr>
                  <a:t>CF</a:t>
                </a:r>
                <a:r>
                  <a:rPr lang="tr-TR" sz="1800" i="1" baseline="-25000" noProof="1">
                    <a:latin typeface="Arial Narrow" panose="020B0606020202030204" pitchFamily="34" charset="0"/>
                  </a:rPr>
                  <a:t>t</a:t>
                </a:r>
                <a:r>
                  <a:rPr lang="tr-TR" sz="1800" noProof="1">
                    <a:latin typeface="Arial Narrow" panose="020B0606020202030204" pitchFamily="34" charset="0"/>
                  </a:rPr>
                  <a:t> and the </a:t>
                </a:r>
                <a:r>
                  <a:rPr lang="tr-TR" sz="1800" noProof="1" smtClean="0">
                    <a:latin typeface="Arial Narrow" panose="020B0606020202030204" pitchFamily="34" charset="0"/>
                  </a:rPr>
                  <a:t>market interest rate relevant for </a:t>
                </a:r>
                <a:r>
                  <a:rPr lang="tr-TR" sz="1800" noProof="1">
                    <a:latin typeface="Arial Narrow" panose="020B0606020202030204" pitchFamily="34" charset="0"/>
                  </a:rPr>
                  <a:t>the debt instrument,</a:t>
                </a:r>
              </a:p>
              <a:p>
                <a:pPr marL="0" lvl="0" indent="0" algn="ctr">
                  <a:spcBef>
                    <a:spcPts val="0"/>
                  </a:spcBef>
                  <a:buNone/>
                </a:pPr>
                <a:r>
                  <a:rPr lang="tr-TR" sz="1800" noProof="1">
                    <a:latin typeface="Arial Narrow" panose="020B0606020202030204" pitchFamily="34" charset="0"/>
                  </a:rPr>
                  <a:t>then we can calculate </a:t>
                </a:r>
                <a:r>
                  <a:rPr lang="tr-TR" sz="1800" noProof="1" smtClean="0">
                    <a:latin typeface="Arial Narrow" panose="020B0606020202030204" pitchFamily="34" charset="0"/>
                  </a:rPr>
                  <a:t>its PV.</a:t>
                </a:r>
              </a:p>
              <a:p>
                <a:pPr marL="0" lvl="0"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The effective cost of a corporate bond is determined by calculating</a:t>
                </a:r>
              </a:p>
              <a:p>
                <a:pPr marL="0" lvl="1" indent="0" algn="ctr">
                  <a:spcBef>
                    <a:spcPts val="0"/>
                  </a:spcBef>
                  <a:buNone/>
                </a:pPr>
                <a:r>
                  <a:rPr lang="tr-TR" sz="1800" noProof="1">
                    <a:latin typeface="Arial Narrow" panose="020B0606020202030204" pitchFamily="34" charset="0"/>
                  </a:rPr>
                  <a:t>the Yield to Maturity (also known as Internal Rate of Return (IRR))</a:t>
                </a:r>
              </a:p>
              <a:p>
                <a:pPr marL="0" lvl="1" indent="0" algn="ctr">
                  <a:spcBef>
                    <a:spcPts val="0"/>
                  </a:spcBef>
                  <a:buNone/>
                </a:pPr>
                <a:r>
                  <a:rPr lang="tr-TR" sz="1800" noProof="1">
                    <a:latin typeface="Arial Narrow" panose="020B0606020202030204" pitchFamily="34" charset="0"/>
                  </a:rPr>
                  <a:t>of the cash flows arising from the issuance of bond.</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196752"/>
                <a:ext cx="8229600" cy="4896544"/>
              </a:xfrm>
              <a:blipFill>
                <a:blip r:embed="rId3"/>
                <a:stretch>
                  <a:fillRect t="-498" b="-622"/>
                </a:stretch>
              </a:blipFill>
              <a:ln w="25400">
                <a:noFill/>
              </a:ln>
            </p:spPr>
            <p:txBody>
              <a:bodyPr/>
              <a:lstStyle/>
              <a:p>
                <a:r>
                  <a:rPr lang="en-US">
                    <a:noFill/>
                  </a:rPr>
                  <a:t> </a:t>
                </a:r>
              </a:p>
            </p:txBody>
          </p:sp>
        </mc:Fallback>
      </mc:AlternateContent>
    </p:spTree>
    <p:extLst>
      <p:ext uri="{BB962C8B-B14F-4D97-AF65-F5344CB8AC3E}">
        <p14:creationId xmlns:p14="http://schemas.microsoft.com/office/powerpoint/2010/main" val="17028961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8825" y="74645"/>
            <a:ext cx="1366831" cy="3714395"/>
          </a:xfrm>
          <a:ln w="25400">
            <a:noFill/>
          </a:ln>
        </p:spPr>
        <p:txBody>
          <a:bodyPr>
            <a:noAutofit/>
          </a:bodyPr>
          <a:lstStyle/>
          <a:p>
            <a:r>
              <a:rPr lang="tr-TR" sz="1400">
                <a:latin typeface="Arial Narrow" pitchFamily="34" charset="0"/>
              </a:rPr>
              <a:t>NTE 1010 – Introduction to Finance for Engineers</a:t>
            </a:r>
            <a:br>
              <a:rPr lang="tr-TR" sz="1400">
                <a:latin typeface="Arial Narrow" pitchFamily="34" charset="0"/>
              </a:rPr>
            </a:br>
            <a:r>
              <a:rPr lang="tr-TR" sz="2400">
                <a:solidFill>
                  <a:srgbClr val="800000"/>
                </a:solidFill>
                <a:latin typeface="Arial Narrow" pitchFamily="34" charset="0"/>
              </a:rPr>
              <a:t>[6] Interest Rates</a:t>
            </a:r>
            <a:br>
              <a:rPr lang="tr-TR" sz="2400">
                <a:solidFill>
                  <a:srgbClr val="800000"/>
                </a:solidFill>
                <a:latin typeface="Arial Narrow" pitchFamily="34" charset="0"/>
              </a:rPr>
            </a:br>
            <a:r>
              <a:rPr lang="tr-TR" sz="2400">
                <a:latin typeface="Arial Narrow" pitchFamily="34" charset="0"/>
              </a:rPr>
              <a:t>Effective Cost of a Corporate Bond</a:t>
            </a:r>
            <a:endParaRPr lang="tr-TR" sz="2400" dirty="0">
              <a:latin typeface="Arial Narrow" pitchFamily="34" charset="0"/>
            </a:endParaRPr>
          </a:p>
        </p:txBody>
      </p:sp>
      <p:sp>
        <p:nvSpPr>
          <p:cNvPr id="5" name="Content Placeholder 4"/>
          <p:cNvSpPr>
            <a:spLocks noGrp="1"/>
          </p:cNvSpPr>
          <p:nvPr>
            <p:ph idx="1"/>
          </p:nvPr>
        </p:nvSpPr>
        <p:spPr>
          <a:xfrm>
            <a:off x="457200" y="1556792"/>
            <a:ext cx="8229600" cy="4896544"/>
          </a:xfrm>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 </a:t>
            </a:r>
            <a:endParaRPr lang="tr-TR" sz="1800" noProof="1">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1691681" y="44625"/>
            <a:ext cx="7385890" cy="3044386"/>
          </a:xfrm>
          <a:prstGeom prst="rect">
            <a:avLst/>
          </a:prstGeom>
        </p:spPr>
      </p:pic>
      <p:pic>
        <p:nvPicPr>
          <p:cNvPr id="6" name="Resim 5"/>
          <p:cNvPicPr>
            <a:picLocks noChangeAspect="1"/>
          </p:cNvPicPr>
          <p:nvPr/>
        </p:nvPicPr>
        <p:blipFill>
          <a:blip r:embed="rId4"/>
          <a:stretch>
            <a:fillRect/>
          </a:stretch>
        </p:blipFill>
        <p:spPr>
          <a:xfrm>
            <a:off x="1691681" y="3089011"/>
            <a:ext cx="7028255" cy="3724365"/>
          </a:xfrm>
          <a:prstGeom prst="rect">
            <a:avLst/>
          </a:prstGeom>
        </p:spPr>
      </p:pic>
    </p:spTree>
    <p:extLst>
      <p:ext uri="{BB962C8B-B14F-4D97-AF65-F5344CB8AC3E}">
        <p14:creationId xmlns:p14="http://schemas.microsoft.com/office/powerpoint/2010/main" val="6910060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81094"/>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[6] Interest </a:t>
            </a:r>
            <a:r>
              <a:rPr lang="tr-TR" sz="2400" dirty="0" err="1" smtClean="0">
                <a:solidFill>
                  <a:srgbClr val="800000"/>
                </a:solidFill>
                <a:latin typeface="Arial Narrow" pitchFamily="34" charset="0"/>
              </a:rPr>
              <a:t>Rates</a:t>
            </a:r>
            <a:r>
              <a:rPr lang="tr-TR" sz="2400" dirty="0" smtClean="0">
                <a:latin typeface="Arial Narrow" pitchFamily="34" charset="0"/>
              </a:rPr>
              <a:t/>
            </a:r>
            <a:br>
              <a:rPr lang="tr-TR" sz="2400" dirty="0" smtClean="0">
                <a:latin typeface="Arial Narrow" pitchFamily="34" charset="0"/>
              </a:rPr>
            </a:br>
            <a:r>
              <a:rPr lang="tr-TR" sz="2400" dirty="0" smtClean="0">
                <a:latin typeface="Arial Narrow" pitchFamily="34" charset="0"/>
              </a:rPr>
              <a:t>Real </a:t>
            </a:r>
            <a:r>
              <a:rPr lang="tr-TR" sz="2400" dirty="0" err="1" smtClean="0">
                <a:latin typeface="Arial Narrow" pitchFamily="34" charset="0"/>
              </a:rPr>
              <a:t>versus</a:t>
            </a:r>
            <a:r>
              <a:rPr lang="tr-TR" sz="2400" dirty="0" smtClean="0">
                <a:latin typeface="Arial Narrow" pitchFamily="34" charset="0"/>
              </a:rPr>
              <a:t> Nominal </a:t>
            </a:r>
            <a:r>
              <a:rPr lang="tr-TR" sz="2400" dirty="0" err="1" smtClean="0">
                <a:latin typeface="Arial Narrow" pitchFamily="34" charset="0"/>
              </a:rPr>
              <a:t>Interest</a:t>
            </a:r>
            <a:r>
              <a:rPr lang="tr-TR" sz="2400" dirty="0" smtClean="0">
                <a:latin typeface="Arial Narrow" pitchFamily="34" charset="0"/>
              </a:rPr>
              <a:t> Rate</a:t>
            </a:r>
            <a:endParaRPr lang="tr-TR" sz="2400" dirty="0">
              <a:latin typeface="Arial Narrow" pitchFamily="34" charset="0"/>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57200" y="1297726"/>
                <a:ext cx="8229600" cy="5083602"/>
              </a:xfrm>
              <a:ln w="25400">
                <a:noFill/>
              </a:ln>
            </p:spPr>
            <p:txBody>
              <a:bodyPr>
                <a:noAutofit/>
              </a:bodyPr>
              <a:lstStyle/>
              <a:p>
                <a:pPr marL="0" lvl="0" indent="0" algn="ctr">
                  <a:spcBef>
                    <a:spcPts val="0"/>
                  </a:spcBef>
                  <a:buNone/>
                </a:pPr>
                <a:r>
                  <a:rPr lang="tr-TR" sz="1600" noProof="1" smtClean="0">
                    <a:latin typeface="Arial Narrow" panose="020B0606020202030204" pitchFamily="34" charset="0"/>
                  </a:rPr>
                  <a:t>When the effect of inflation is deducted from nominal interest rate, real interest rate is obtained.</a:t>
                </a: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The above relationship may be formulated as follows:</a:t>
                </a:r>
              </a:p>
              <a:p>
                <a:pPr marL="0" lvl="0" indent="0" algn="ctr">
                  <a:spcBef>
                    <a:spcPts val="0"/>
                  </a:spcBef>
                  <a:buNone/>
                </a:pPr>
                <a:endParaRPr lang="tr-TR" sz="800" noProof="1" smtClean="0">
                  <a:latin typeface="Arial Narrow" panose="020B0606020202030204" pitchFamily="34" charset="0"/>
                </a:endParaRPr>
              </a:p>
              <a:p>
                <a:pPr marL="3543300" lvl="8" indent="0" algn="ctr">
                  <a:spcBef>
                    <a:spcPts val="0"/>
                  </a:spcBef>
                  <a:buNone/>
                </a:pPr>
                <a:r>
                  <a:rPr lang="tr-TR" sz="1600" noProof="1" smtClean="0">
                    <a:latin typeface="Bookman Old Style" panose="02050604050505020204" pitchFamily="18" charset="0"/>
                  </a:rPr>
                  <a:t>1+5% </a:t>
                </a:r>
                <a:r>
                  <a:rPr lang="tr-TR" sz="1600" noProof="1" smtClean="0">
                    <a:latin typeface="Arial Narrow" panose="020B0606020202030204" pitchFamily="34" charset="0"/>
                  </a:rPr>
                  <a:t>= </a:t>
                </a:r>
                <a14:m>
                  <m:oMath xmlns:m="http://schemas.openxmlformats.org/officeDocument/2006/math">
                    <m:f>
                      <m:fPr>
                        <m:ctrlPr>
                          <a:rPr lang="tr-TR" i="1" noProof="1">
                            <a:latin typeface="Cambria Math" panose="02040503050406030204" pitchFamily="18" charset="0"/>
                          </a:rPr>
                        </m:ctrlPr>
                      </m:fPr>
                      <m:num>
                        <m:r>
                          <a:rPr lang="tr-TR" i="1" noProof="1">
                            <a:latin typeface="Cambria Math" panose="02040503050406030204" pitchFamily="18" charset="0"/>
                          </a:rPr>
                          <m:t>1+</m:t>
                        </m:r>
                        <m:r>
                          <a:rPr lang="tr-TR" b="0" i="1" noProof="1" smtClean="0">
                            <a:latin typeface="Cambria Math" panose="02040503050406030204" pitchFamily="18" charset="0"/>
                          </a:rPr>
                          <m:t>25%</m:t>
                        </m:r>
                      </m:num>
                      <m:den>
                        <m:r>
                          <a:rPr lang="tr-TR" i="1" noProof="1">
                            <a:latin typeface="Cambria Math" panose="02040503050406030204" pitchFamily="18" charset="0"/>
                          </a:rPr>
                          <m:t>1+</m:t>
                        </m:r>
                        <m:r>
                          <a:rPr lang="tr-TR" b="0" i="1" noProof="1" smtClean="0">
                            <a:latin typeface="Cambria Math" panose="02040503050406030204" pitchFamily="18" charset="0"/>
                          </a:rPr>
                          <m:t>19%</m:t>
                        </m:r>
                      </m:den>
                    </m:f>
                  </m:oMath>
                </a14:m>
                <a:endParaRPr lang="tr-TR" noProof="1" smtClean="0">
                  <a:latin typeface="Arial Narrow" panose="020B0606020202030204" pitchFamily="34" charset="0"/>
                </a:endParaRPr>
              </a:p>
              <a:p>
                <a:pPr marL="0" lvl="0" indent="0" algn="ctr">
                  <a:spcBef>
                    <a:spcPts val="0"/>
                  </a:spcBef>
                  <a:buNone/>
                </a:pPr>
                <a:endParaRPr lang="tr-TR" sz="800" noProof="1" smtClean="0">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Note that the expected inflation is used.</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57200" y="1297726"/>
                <a:ext cx="8229600" cy="5083602"/>
              </a:xfrm>
              <a:blipFill>
                <a:blip r:embed="rId3"/>
                <a:stretch>
                  <a:fillRect t="-240"/>
                </a:stretch>
              </a:blipFill>
              <a:ln w="25400">
                <a:noFill/>
              </a:ln>
            </p:spPr>
            <p:txBody>
              <a:bodyPr/>
              <a:lstStyle/>
              <a:p>
                <a:r>
                  <a:rPr lang="en-US">
                    <a:noFill/>
                  </a:rPr>
                  <a:t> </a:t>
                </a:r>
              </a:p>
            </p:txBody>
          </p:sp>
        </mc:Fallback>
      </mc:AlternateContent>
      <p:pic>
        <p:nvPicPr>
          <p:cNvPr id="6" name="Resim 5"/>
          <p:cNvPicPr>
            <a:picLocks noChangeAspect="1"/>
          </p:cNvPicPr>
          <p:nvPr/>
        </p:nvPicPr>
        <p:blipFill>
          <a:blip r:embed="rId4"/>
          <a:stretch>
            <a:fillRect/>
          </a:stretch>
        </p:blipFill>
        <p:spPr>
          <a:xfrm>
            <a:off x="1806307" y="4010425"/>
            <a:ext cx="2952328" cy="624426"/>
          </a:xfrm>
          <a:prstGeom prst="rect">
            <a:avLst/>
          </a:prstGeom>
        </p:spPr>
      </p:pic>
      <p:pic>
        <p:nvPicPr>
          <p:cNvPr id="8" name="Resim 7"/>
          <p:cNvPicPr>
            <a:picLocks noChangeAspect="1"/>
          </p:cNvPicPr>
          <p:nvPr/>
        </p:nvPicPr>
        <p:blipFill>
          <a:blip r:embed="rId5"/>
          <a:stretch>
            <a:fillRect/>
          </a:stretch>
        </p:blipFill>
        <p:spPr>
          <a:xfrm>
            <a:off x="1475656" y="5200234"/>
            <a:ext cx="6565958" cy="1181094"/>
          </a:xfrm>
          <a:prstGeom prst="rect">
            <a:avLst/>
          </a:prstGeom>
        </p:spPr>
      </p:pic>
      <p:pic>
        <p:nvPicPr>
          <p:cNvPr id="9" name="Resim 8"/>
          <p:cNvPicPr>
            <a:picLocks noChangeAspect="1"/>
          </p:cNvPicPr>
          <p:nvPr/>
        </p:nvPicPr>
        <p:blipFill>
          <a:blip r:embed="rId6"/>
          <a:stretch>
            <a:fillRect/>
          </a:stretch>
        </p:blipFill>
        <p:spPr>
          <a:xfrm>
            <a:off x="2987824" y="1785795"/>
            <a:ext cx="3367065" cy="1682837"/>
          </a:xfrm>
          <a:prstGeom prst="rect">
            <a:avLst/>
          </a:prstGeom>
        </p:spPr>
      </p:pic>
    </p:spTree>
    <p:extLst>
      <p:ext uri="{BB962C8B-B14F-4D97-AF65-F5344CB8AC3E}">
        <p14:creationId xmlns:p14="http://schemas.microsoft.com/office/powerpoint/2010/main" val="32673118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16632"/>
            <a:ext cx="1872208" cy="216024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latin typeface="Arial Narrow" pitchFamily="34" charset="0"/>
              </a:rPr>
              <a:t>[6] Interest </a:t>
            </a:r>
            <a:r>
              <a:rPr lang="tr-TR" sz="2400" dirty="0" err="1" smtClean="0">
                <a:latin typeface="Arial Narrow" pitchFamily="34" charset="0"/>
              </a:rPr>
              <a:t>Rates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Interest</a:t>
            </a:r>
            <a:r>
              <a:rPr lang="tr-TR" sz="2400" dirty="0" smtClean="0">
                <a:solidFill>
                  <a:srgbClr val="800000"/>
                </a:solidFill>
                <a:latin typeface="Arial Narrow" pitchFamily="34" charset="0"/>
              </a:rPr>
              <a:t>-Rate Risk</a:t>
            </a:r>
            <a:endParaRPr lang="tr-TR" sz="2400" dirty="0">
              <a:solidFill>
                <a:srgbClr val="800000"/>
              </a:solidFill>
              <a:latin typeface="Arial Narrow" pitchFamily="34" charset="0"/>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979712" y="116632"/>
                <a:ext cx="7077472" cy="4785395"/>
              </a:xfrm>
              <a:ln w="25400">
                <a:noFill/>
              </a:ln>
            </p:spPr>
            <p:txBody>
              <a:bodyPr>
                <a:noAutofit/>
              </a:bodyPr>
              <a:lstStyle/>
              <a:p>
                <a:pPr marL="0" lvl="0" indent="0" algn="ctr">
                  <a:spcBef>
                    <a:spcPts val="0"/>
                  </a:spcBef>
                  <a:buNone/>
                </a:pPr>
                <a:r>
                  <a:rPr lang="tr-TR" sz="1800" noProof="1" smtClean="0">
                    <a:latin typeface="Arial Narrow" panose="020B0606020202030204" pitchFamily="34" charset="0"/>
                  </a:rPr>
                  <a:t>Present </a:t>
                </a:r>
                <a:r>
                  <a:rPr lang="tr-TR" sz="1800" noProof="1">
                    <a:latin typeface="Arial Narrow" panose="020B0606020202030204" pitchFamily="34" charset="0"/>
                  </a:rPr>
                  <a:t>Value (PV) of the Debt Instrument </a:t>
                </a:r>
                <a:r>
                  <a:rPr lang="tr-TR" sz="2400" noProof="1">
                    <a:latin typeface="Arial Narrow" panose="020B0606020202030204" pitchFamily="34" charset="0"/>
                  </a:rPr>
                  <a:t>=</a:t>
                </a:r>
                <a14:m>
                  <m:oMath xmlns:m="http://schemas.openxmlformats.org/officeDocument/2006/math">
                    <m:nary>
                      <m:naryPr>
                        <m:chr m:val="∑"/>
                        <m:ctrlPr>
                          <a:rPr lang="tr-TR" sz="2400" i="1" noProof="1">
                            <a:latin typeface="Cambria Math" panose="02040503050406030204" pitchFamily="18" charset="0"/>
                          </a:rPr>
                        </m:ctrlPr>
                      </m:naryPr>
                      <m:sub>
                        <m:r>
                          <m:rPr>
                            <m:brk m:alnAt="23"/>
                          </m:rPr>
                          <a:rPr lang="tr-TR" sz="2400" i="1" noProof="1">
                            <a:latin typeface="Cambria Math" panose="02040503050406030204" pitchFamily="18" charset="0"/>
                          </a:rPr>
                          <m:t>𝑡</m:t>
                        </m:r>
                        <m:r>
                          <a:rPr lang="tr-TR" sz="2400" i="1" noProof="1">
                            <a:latin typeface="Cambria Math" panose="02040503050406030204" pitchFamily="18" charset="0"/>
                          </a:rPr>
                          <m:t>=1</m:t>
                        </m:r>
                      </m:sub>
                      <m:sup>
                        <m:r>
                          <a:rPr lang="tr-TR" sz="2400" i="1" noProof="1">
                            <a:latin typeface="Cambria Math" panose="02040503050406030204" pitchFamily="18" charset="0"/>
                          </a:rPr>
                          <m:t>𝑛</m:t>
                        </m:r>
                      </m:sup>
                      <m:e>
                        <m:f>
                          <m:fPr>
                            <m:ctrlPr>
                              <a:rPr lang="tr-TR" sz="2400" i="1" noProof="1">
                                <a:latin typeface="Cambria Math" panose="02040503050406030204" pitchFamily="18" charset="0"/>
                              </a:rPr>
                            </m:ctrlPr>
                          </m:fPr>
                          <m:num>
                            <m:r>
                              <a:rPr lang="tr-TR" sz="2400" i="1" noProof="1">
                                <a:latin typeface="Cambria Math" panose="02040503050406030204" pitchFamily="18" charset="0"/>
                              </a:rPr>
                              <m:t>𝐶𝐹</m:t>
                            </m:r>
                            <m:r>
                              <a:rPr lang="tr-TR" sz="2400" i="1" baseline="-25000" noProof="1">
                                <a:latin typeface="Cambria Math" panose="02040503050406030204" pitchFamily="18" charset="0"/>
                              </a:rPr>
                              <m:t>𝑡</m:t>
                            </m:r>
                          </m:num>
                          <m:den>
                            <m:sSup>
                              <m:sSupPr>
                                <m:ctrlPr>
                                  <a:rPr lang="tr-TR" sz="2400" i="1" noProof="1">
                                    <a:latin typeface="Cambria Math" panose="02040503050406030204" pitchFamily="18" charset="0"/>
                                  </a:rPr>
                                </m:ctrlPr>
                              </m:sSupPr>
                              <m:e>
                                <m:r>
                                  <a:rPr lang="tr-TR" sz="2400" i="1" noProof="1">
                                    <a:latin typeface="Cambria Math" panose="02040503050406030204" pitchFamily="18" charset="0"/>
                                  </a:rPr>
                                  <m:t>(1+</m:t>
                                </m:r>
                                <m:r>
                                  <a:rPr lang="tr-TR" sz="2400" i="1" noProof="1">
                                    <a:latin typeface="Cambria Math" panose="02040503050406030204" pitchFamily="18" charset="0"/>
                                  </a:rPr>
                                  <m:t>𝑖</m:t>
                                </m:r>
                                <m:r>
                                  <a:rPr lang="tr-TR" sz="2400" i="1" noProof="1">
                                    <a:latin typeface="Cambria Math" panose="02040503050406030204" pitchFamily="18" charset="0"/>
                                  </a:rPr>
                                  <m:t>)</m:t>
                                </m:r>
                              </m:e>
                              <m:sup>
                                <m:r>
                                  <a:rPr lang="tr-TR" sz="2400" i="1" noProof="1">
                                    <a:latin typeface="Cambria Math" panose="02040503050406030204" pitchFamily="18" charset="0"/>
                                  </a:rPr>
                                  <m:t>𝑡</m:t>
                                </m:r>
                              </m:sup>
                            </m:sSup>
                          </m:den>
                        </m:f>
                      </m:e>
                    </m:nary>
                  </m:oMath>
                </a14:m>
                <a:endParaRPr lang="tr-TR" sz="2400" noProof="1" smtClean="0">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For a given set of </a:t>
                </a:r>
                <a:r>
                  <a:rPr lang="tr-TR" sz="1600" i="1" noProof="1">
                    <a:latin typeface="Arial Narrow" panose="020B0606020202030204" pitchFamily="34" charset="0"/>
                  </a:rPr>
                  <a:t>CF</a:t>
                </a:r>
                <a:r>
                  <a:rPr lang="tr-TR" sz="1600" i="1" baseline="-25000" noProof="1">
                    <a:latin typeface="Arial Narrow" panose="020B0606020202030204" pitchFamily="34" charset="0"/>
                  </a:rPr>
                  <a:t>t</a:t>
                </a:r>
                <a:r>
                  <a:rPr lang="tr-TR" sz="1600" noProof="1">
                    <a:latin typeface="Arial Narrow" panose="020B0606020202030204" pitchFamily="34" charset="0"/>
                  </a:rPr>
                  <a:t> </a:t>
                </a:r>
                <a:r>
                  <a:rPr lang="tr-TR" sz="1600" noProof="1" smtClean="0">
                    <a:latin typeface="Arial Narrow" panose="020B0606020202030204" pitchFamily="34" charset="0"/>
                  </a:rPr>
                  <a:t>, when </a:t>
                </a:r>
                <a:r>
                  <a:rPr lang="tr-TR" sz="1600" noProof="1">
                    <a:latin typeface="Arial Narrow" panose="020B0606020202030204" pitchFamily="34" charset="0"/>
                  </a:rPr>
                  <a:t>market interest rates </a:t>
                </a:r>
                <a:r>
                  <a:rPr lang="tr-TR" sz="1600" dirty="0">
                    <a:latin typeface="Arial Narrow" panose="020B0606020202030204" pitchFamily="34" charset="0"/>
                  </a:rPr>
                  <a:t>(</a:t>
                </a:r>
                <a:r>
                  <a:rPr lang="tr-TR" sz="1600" i="1" dirty="0">
                    <a:latin typeface="Bookman Old Style" panose="02050604050505020204" pitchFamily="18" charset="0"/>
                  </a:rPr>
                  <a:t>i</a:t>
                </a:r>
                <a:r>
                  <a:rPr lang="tr-TR" sz="1600" dirty="0">
                    <a:latin typeface="Arial Narrow" panose="020B0606020202030204" pitchFamily="34" charset="0"/>
                  </a:rPr>
                  <a:t> ) </a:t>
                </a:r>
                <a:r>
                  <a:rPr lang="tr-TR" sz="1600" noProof="1">
                    <a:latin typeface="Arial Narrow" panose="020B0606020202030204" pitchFamily="34" charset="0"/>
                  </a:rPr>
                  <a:t>go up,</a:t>
                </a:r>
              </a:p>
              <a:p>
                <a:pPr marL="0" lvl="0" indent="0" algn="ctr">
                  <a:spcBef>
                    <a:spcPts val="0"/>
                  </a:spcBef>
                  <a:buNone/>
                </a:pPr>
                <a:r>
                  <a:rPr lang="tr-TR" sz="1600" noProof="1">
                    <a:latin typeface="Arial Narrow" panose="020B0606020202030204" pitchFamily="34" charset="0"/>
                  </a:rPr>
                  <a:t>the value (PV), that is, the price of the debt instrument </a:t>
                </a:r>
                <a:r>
                  <a:rPr lang="tr-TR" sz="1600" noProof="1" smtClean="0">
                    <a:latin typeface="Arial Narrow" panose="020B0606020202030204" pitchFamily="34" charset="0"/>
                  </a:rPr>
                  <a:t>drops. And</a:t>
                </a:r>
                <a:r>
                  <a:rPr lang="tr-TR" sz="1600" noProof="1">
                    <a:latin typeface="Arial Narrow" panose="020B0606020202030204" pitchFamily="34" charset="0"/>
                  </a:rPr>
                  <a:t>, vice versa.</a:t>
                </a:r>
              </a:p>
              <a:p>
                <a:pPr marL="0" lvl="0" indent="0" algn="ctr">
                  <a:spcBef>
                    <a:spcPts val="0"/>
                  </a:spcBef>
                  <a:buNone/>
                </a:pPr>
                <a:r>
                  <a:rPr lang="tr-TR" sz="1600" noProof="1" smtClean="0">
                    <a:latin typeface="Arial Narrow" panose="020B0606020202030204" pitchFamily="34" charset="0"/>
                  </a:rPr>
                  <a:t>Such </a:t>
                </a:r>
                <a:r>
                  <a:rPr lang="tr-TR" sz="1600" noProof="1">
                    <a:latin typeface="Arial Narrow" panose="020B0606020202030204" pitchFamily="34" charset="0"/>
                  </a:rPr>
                  <a:t>volatility of prices of debt instruments is called Interest-Rate Risk.</a:t>
                </a:r>
              </a:p>
              <a:p>
                <a:pPr marL="0" lvl="0" indent="0" algn="ctr">
                  <a:spcBef>
                    <a:spcPts val="0"/>
                  </a:spcBef>
                  <a:buNone/>
                </a:pPr>
                <a:r>
                  <a:rPr lang="tr-TR" sz="1600" noProof="1" smtClean="0">
                    <a:latin typeface="Arial Narrow" panose="020B0606020202030204" pitchFamily="34" charset="0"/>
                  </a:rPr>
                  <a:t>Prices </a:t>
                </a:r>
                <a:r>
                  <a:rPr lang="tr-TR" sz="1600" noProof="1">
                    <a:latin typeface="Arial Narrow" panose="020B0606020202030204" pitchFamily="34" charset="0"/>
                  </a:rPr>
                  <a:t>of longer-maturity bonds respond more </a:t>
                </a:r>
                <a:r>
                  <a:rPr lang="tr-TR" sz="1600" noProof="1" smtClean="0">
                    <a:latin typeface="Arial Narrow" panose="020B0606020202030204" pitchFamily="34" charset="0"/>
                  </a:rPr>
                  <a:t>drastically</a:t>
                </a:r>
              </a:p>
              <a:p>
                <a:pPr marL="0" lvl="0" indent="0" algn="ctr">
                  <a:spcBef>
                    <a:spcPts val="0"/>
                  </a:spcBef>
                  <a:buNone/>
                </a:pPr>
                <a:r>
                  <a:rPr lang="tr-TR" sz="1600" noProof="1" smtClean="0">
                    <a:latin typeface="Arial Narrow" panose="020B0606020202030204" pitchFamily="34" charset="0"/>
                  </a:rPr>
                  <a:t>to </a:t>
                </a:r>
                <a:r>
                  <a:rPr lang="tr-TR" sz="1600" noProof="1">
                    <a:latin typeface="Arial Narrow" panose="020B0606020202030204" pitchFamily="34" charset="0"/>
                  </a:rPr>
                  <a:t>changes in interest rates.</a:t>
                </a:r>
              </a:p>
              <a:p>
                <a:pPr marL="0" lvl="0" indent="0" algn="ctr">
                  <a:spcBef>
                    <a:spcPts val="0"/>
                  </a:spcBef>
                  <a:buNone/>
                </a:pPr>
                <a:r>
                  <a:rPr lang="tr-TR" sz="1600" noProof="1" smtClean="0">
                    <a:latin typeface="Arial Narrow" panose="020B0606020202030204" pitchFamily="34" charset="0"/>
                  </a:rPr>
                  <a:t>Dealing withinterest-rate risk is a major concern of</a:t>
                </a:r>
              </a:p>
              <a:p>
                <a:pPr marL="0" lvl="0" indent="0" algn="ctr">
                  <a:spcBef>
                    <a:spcPts val="0"/>
                  </a:spcBef>
                  <a:buNone/>
                </a:pPr>
                <a:r>
                  <a:rPr lang="tr-TR" sz="1600" noProof="1" smtClean="0">
                    <a:latin typeface="Arial Narrow" panose="020B0606020202030204" pitchFamily="34" charset="0"/>
                  </a:rPr>
                  <a:t>managers of financial institutions and investors.</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979712" y="116632"/>
                <a:ext cx="7077472" cy="4785395"/>
              </a:xfrm>
              <a:blipFill>
                <a:blip r:embed="rId3"/>
                <a:stretch>
                  <a:fillRect/>
                </a:stretch>
              </a:blipFill>
              <a:ln w="25400">
                <a:noFill/>
              </a:ln>
            </p:spPr>
            <p:txBody>
              <a:bodyPr/>
              <a:lstStyle/>
              <a:p>
                <a:r>
                  <a:rPr lang="en-US">
                    <a:noFill/>
                  </a:rPr>
                  <a:t> </a:t>
                </a:r>
              </a:p>
            </p:txBody>
          </p:sp>
        </mc:Fallback>
      </mc:AlternateContent>
      <p:pic>
        <p:nvPicPr>
          <p:cNvPr id="6" name="Resim 5"/>
          <p:cNvPicPr>
            <a:picLocks noChangeAspect="1"/>
          </p:cNvPicPr>
          <p:nvPr/>
        </p:nvPicPr>
        <p:blipFill>
          <a:blip r:embed="rId4"/>
          <a:stretch>
            <a:fillRect/>
          </a:stretch>
        </p:blipFill>
        <p:spPr>
          <a:xfrm>
            <a:off x="827584" y="2420888"/>
            <a:ext cx="8132192" cy="4320479"/>
          </a:xfrm>
          <a:prstGeom prst="rect">
            <a:avLst/>
          </a:prstGeom>
        </p:spPr>
      </p:pic>
    </p:spTree>
    <p:extLst>
      <p:ext uri="{BB962C8B-B14F-4D97-AF65-F5344CB8AC3E}">
        <p14:creationId xmlns:p14="http://schemas.microsoft.com/office/powerpoint/2010/main" val="3408418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624"/>
            <a:ext cx="8229600" cy="108012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[6] Interest Rates</a:t>
            </a:r>
            <a:r>
              <a:rPr lang="tr-TR" sz="2400">
                <a:latin typeface="Arial Narrow" pitchFamily="34" charset="0"/>
              </a:rPr>
              <a:t/>
            </a:r>
            <a:br>
              <a:rPr lang="tr-TR" sz="2400">
                <a:latin typeface="Arial Narrow" pitchFamily="34" charset="0"/>
              </a:rPr>
            </a:br>
            <a:r>
              <a:rPr lang="tr-TR" sz="2400" smtClean="0">
                <a:latin typeface="Arial Narrow" pitchFamily="34" charset="0"/>
              </a:rPr>
              <a:t>Yield Curve</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lvl="0" indent="0" algn="ctr">
              <a:spcBef>
                <a:spcPts val="0"/>
              </a:spcBef>
              <a:buNone/>
            </a:pPr>
            <a:r>
              <a:rPr lang="tr-TR" sz="1800" dirty="0" smtClean="0">
                <a:latin typeface="Arial Narrow" panose="020B0606020202030204" pitchFamily="34" charset="0"/>
              </a:rPr>
              <a:t>A </a:t>
            </a:r>
            <a:r>
              <a:rPr lang="tr-TR" sz="1800" dirty="0" err="1">
                <a:latin typeface="Arial Narrow" panose="020B0606020202030204" pitchFamily="34" charset="0"/>
              </a:rPr>
              <a:t>plot</a:t>
            </a:r>
            <a:r>
              <a:rPr lang="tr-TR" sz="1800" dirty="0">
                <a:latin typeface="Arial Narrow" panose="020B0606020202030204" pitchFamily="34" charset="0"/>
              </a:rPr>
              <a:t> of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yields</a:t>
            </a:r>
            <a:r>
              <a:rPr lang="tr-TR" sz="1800" dirty="0">
                <a:latin typeface="Arial Narrow" panose="020B0606020202030204" pitchFamily="34" charset="0"/>
              </a:rPr>
              <a:t> on </a:t>
            </a:r>
            <a:r>
              <a:rPr lang="tr-TR" sz="1800" dirty="0" err="1">
                <a:latin typeface="Arial Narrow" panose="020B0606020202030204" pitchFamily="34" charset="0"/>
              </a:rPr>
              <a:t>bonds</a:t>
            </a:r>
            <a:r>
              <a:rPr lang="tr-TR" sz="1800" dirty="0">
                <a:latin typeface="Arial Narrow" panose="020B0606020202030204" pitchFamily="34" charset="0"/>
              </a:rPr>
              <a:t> </a:t>
            </a:r>
            <a:r>
              <a:rPr lang="tr-TR" sz="1800" dirty="0" err="1">
                <a:latin typeface="Arial Narrow" panose="020B0606020202030204" pitchFamily="34" charset="0"/>
              </a:rPr>
              <a:t>with</a:t>
            </a:r>
            <a:r>
              <a:rPr lang="tr-TR" sz="1800" dirty="0">
                <a:latin typeface="Arial Narrow" panose="020B0606020202030204" pitchFamily="34" charset="0"/>
              </a:rPr>
              <a:t> </a:t>
            </a:r>
            <a:r>
              <a:rPr lang="tr-TR" sz="1800" dirty="0" err="1">
                <a:latin typeface="Arial Narrow" panose="020B0606020202030204" pitchFamily="34" charset="0"/>
              </a:rPr>
              <a:t>differing</a:t>
            </a:r>
            <a:r>
              <a:rPr lang="tr-TR" sz="1800" dirty="0">
                <a:latin typeface="Arial Narrow" panose="020B0606020202030204" pitchFamily="34" charset="0"/>
              </a:rPr>
              <a:t> </a:t>
            </a:r>
            <a:r>
              <a:rPr lang="tr-TR" sz="1800" dirty="0" err="1">
                <a:latin typeface="Arial Narrow" panose="020B0606020202030204" pitchFamily="34" charset="0"/>
              </a:rPr>
              <a:t>terms</a:t>
            </a:r>
            <a:r>
              <a:rPr lang="tr-TR" sz="1800" dirty="0">
                <a:latin typeface="Arial Narrow" panose="020B0606020202030204" pitchFamily="34" charset="0"/>
              </a:rPr>
              <a:t> </a:t>
            </a:r>
            <a:r>
              <a:rPr lang="tr-TR" sz="1800" dirty="0" err="1">
                <a:latin typeface="Arial Narrow" panose="020B0606020202030204" pitchFamily="34" charset="0"/>
              </a:rPr>
              <a:t>to</a:t>
            </a:r>
            <a:r>
              <a:rPr lang="tr-TR" sz="1800" dirty="0">
                <a:latin typeface="Arial Narrow" panose="020B0606020202030204" pitchFamily="34" charset="0"/>
              </a:rPr>
              <a:t> </a:t>
            </a:r>
            <a:r>
              <a:rPr lang="tr-TR" sz="1800" dirty="0" err="1">
                <a:latin typeface="Arial Narrow" panose="020B0606020202030204" pitchFamily="34" charset="0"/>
              </a:rPr>
              <a:t>maturity</a:t>
            </a:r>
            <a:endParaRPr lang="tr-TR" sz="1800" dirty="0">
              <a:latin typeface="Arial Narrow" panose="020B0606020202030204" pitchFamily="34" charset="0"/>
            </a:endParaRPr>
          </a:p>
          <a:p>
            <a:pPr marL="0" lvl="0" indent="0" algn="ctr">
              <a:spcBef>
                <a:spcPts val="0"/>
              </a:spcBef>
              <a:buNone/>
            </a:pPr>
            <a:r>
              <a:rPr lang="tr-TR" sz="1800" dirty="0">
                <a:latin typeface="Arial Narrow" panose="020B0606020202030204" pitchFamily="34" charset="0"/>
              </a:rPr>
              <a:t>but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same</a:t>
            </a:r>
            <a:r>
              <a:rPr lang="tr-TR" sz="1800" dirty="0">
                <a:latin typeface="Arial Narrow" panose="020B0606020202030204" pitchFamily="34" charset="0"/>
              </a:rPr>
              <a:t> risk, </a:t>
            </a:r>
            <a:r>
              <a:rPr lang="tr-TR" sz="1800" dirty="0" err="1">
                <a:latin typeface="Arial Narrow" panose="020B0606020202030204" pitchFamily="34" charset="0"/>
              </a:rPr>
              <a:t>liquidity</a:t>
            </a:r>
            <a:r>
              <a:rPr lang="tr-TR" sz="1800" dirty="0">
                <a:latin typeface="Arial Narrow" panose="020B0606020202030204" pitchFamily="34" charset="0"/>
              </a:rPr>
              <a:t>, </a:t>
            </a: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tax</a:t>
            </a:r>
            <a:r>
              <a:rPr lang="tr-TR" sz="1800" dirty="0">
                <a:latin typeface="Arial Narrow" panose="020B0606020202030204" pitchFamily="34" charset="0"/>
              </a:rPr>
              <a:t> </a:t>
            </a:r>
            <a:r>
              <a:rPr lang="tr-TR" sz="1800" dirty="0" err="1">
                <a:latin typeface="Arial Narrow" panose="020B0606020202030204" pitchFamily="34" charset="0"/>
              </a:rPr>
              <a:t>considerations</a:t>
            </a:r>
            <a:r>
              <a:rPr lang="tr-TR" sz="1800" dirty="0">
                <a:latin typeface="Arial Narrow" panose="020B0606020202030204" pitchFamily="34" charset="0"/>
              </a:rPr>
              <a:t> is </a:t>
            </a:r>
            <a:r>
              <a:rPr lang="tr-TR" sz="1800" dirty="0" err="1">
                <a:latin typeface="Arial Narrow" panose="020B0606020202030204" pitchFamily="34" charset="0"/>
              </a:rPr>
              <a:t>called</a:t>
            </a:r>
            <a:r>
              <a:rPr lang="tr-TR" sz="1800" dirty="0">
                <a:latin typeface="Arial Narrow" panose="020B0606020202030204" pitchFamily="34" charset="0"/>
              </a:rPr>
              <a:t> a </a:t>
            </a:r>
            <a:r>
              <a:rPr lang="tr-TR" sz="1800" dirty="0" err="1">
                <a:latin typeface="Arial Narrow" panose="020B0606020202030204" pitchFamily="34" charset="0"/>
              </a:rPr>
              <a:t>yield</a:t>
            </a:r>
            <a:r>
              <a:rPr lang="tr-TR" sz="1800" dirty="0">
                <a:latin typeface="Arial Narrow" panose="020B0606020202030204" pitchFamily="34" charset="0"/>
              </a:rPr>
              <a:t> </a:t>
            </a:r>
            <a:r>
              <a:rPr lang="tr-TR" sz="1800" dirty="0" err="1">
                <a:latin typeface="Arial Narrow" panose="020B0606020202030204" pitchFamily="34" charset="0"/>
              </a:rPr>
              <a:t>curve</a:t>
            </a:r>
            <a:r>
              <a:rPr lang="tr-TR" sz="1800" dirty="0">
                <a:latin typeface="Arial Narrow" panose="020B0606020202030204" pitchFamily="34" charset="0"/>
              </a:rPr>
              <a:t>,</a:t>
            </a:r>
          </a:p>
          <a:p>
            <a:pPr marL="0" lv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it </a:t>
            </a:r>
            <a:r>
              <a:rPr lang="tr-TR" sz="1800" dirty="0" err="1">
                <a:latin typeface="Arial Narrow" panose="020B0606020202030204" pitchFamily="34" charset="0"/>
              </a:rPr>
              <a:t>describes</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term</a:t>
            </a:r>
            <a:r>
              <a:rPr lang="tr-TR" sz="1800" dirty="0">
                <a:latin typeface="Arial Narrow" panose="020B0606020202030204" pitchFamily="34" charset="0"/>
              </a:rPr>
              <a:t> </a:t>
            </a:r>
            <a:r>
              <a:rPr lang="tr-TR" sz="1800" dirty="0" err="1">
                <a:latin typeface="Arial Narrow" panose="020B0606020202030204" pitchFamily="34" charset="0"/>
              </a:rPr>
              <a:t>structure</a:t>
            </a:r>
            <a:r>
              <a:rPr lang="tr-TR" sz="1800" dirty="0">
                <a:latin typeface="Arial Narrow" panose="020B0606020202030204" pitchFamily="34" charset="0"/>
              </a:rPr>
              <a:t> of </a:t>
            </a:r>
            <a:r>
              <a:rPr lang="tr-TR" sz="1800" dirty="0" err="1">
                <a:latin typeface="Arial Narrow" panose="020B0606020202030204" pitchFamily="34" charset="0"/>
              </a:rPr>
              <a:t>interest</a:t>
            </a:r>
            <a:r>
              <a:rPr lang="tr-TR" sz="1800" dirty="0">
                <a:latin typeface="Arial Narrow" panose="020B0606020202030204" pitchFamily="34" charset="0"/>
              </a:rPr>
              <a:t> </a:t>
            </a:r>
            <a:r>
              <a:rPr lang="tr-TR" sz="1800" dirty="0" err="1">
                <a:latin typeface="Arial Narrow" panose="020B0606020202030204" pitchFamily="34" charset="0"/>
              </a:rPr>
              <a:t>rates</a:t>
            </a:r>
            <a:r>
              <a:rPr lang="tr-TR" sz="1800" dirty="0">
                <a:latin typeface="Arial Narrow" panose="020B0606020202030204" pitchFamily="34" charset="0"/>
              </a:rPr>
              <a:t> </a:t>
            </a:r>
            <a:r>
              <a:rPr lang="tr-TR" sz="1800" dirty="0" err="1">
                <a:latin typeface="Arial Narrow" panose="020B0606020202030204" pitchFamily="34" charset="0"/>
              </a:rPr>
              <a:t>for</a:t>
            </a:r>
            <a:r>
              <a:rPr lang="tr-TR" sz="1800" dirty="0">
                <a:latin typeface="Arial Narrow" panose="020B0606020202030204" pitchFamily="34" charset="0"/>
              </a:rPr>
              <a:t> </a:t>
            </a:r>
            <a:r>
              <a:rPr lang="tr-TR" sz="1800" dirty="0" err="1">
                <a:latin typeface="Arial Narrow" panose="020B0606020202030204" pitchFamily="34" charset="0"/>
              </a:rPr>
              <a:t>particular</a:t>
            </a:r>
            <a:r>
              <a:rPr lang="tr-TR" sz="1800" dirty="0">
                <a:latin typeface="Arial Narrow" panose="020B0606020202030204" pitchFamily="34" charset="0"/>
              </a:rPr>
              <a:t> </a:t>
            </a:r>
            <a:r>
              <a:rPr lang="tr-TR" sz="1800" dirty="0" err="1">
                <a:latin typeface="Arial Narrow" panose="020B0606020202030204" pitchFamily="34" charset="0"/>
              </a:rPr>
              <a:t>types</a:t>
            </a:r>
            <a:r>
              <a:rPr lang="tr-TR" sz="1800" dirty="0">
                <a:latin typeface="Arial Narrow" panose="020B0606020202030204" pitchFamily="34" charset="0"/>
              </a:rPr>
              <a:t> of </a:t>
            </a:r>
            <a:r>
              <a:rPr lang="tr-TR" sz="1800" dirty="0" err="1">
                <a:latin typeface="Arial Narrow" panose="020B0606020202030204" pitchFamily="34" charset="0"/>
              </a:rPr>
              <a:t>bonds</a:t>
            </a:r>
            <a:r>
              <a:rPr lang="tr-TR" sz="1800" dirty="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Three </a:t>
            </a:r>
            <a:r>
              <a:rPr lang="tr-TR" sz="1800" dirty="0" err="1" smtClean="0">
                <a:latin typeface="Arial Narrow" panose="020B0606020202030204" pitchFamily="34" charset="0"/>
              </a:rPr>
              <a:t>empirical</a:t>
            </a:r>
            <a:r>
              <a:rPr lang="tr-TR" sz="1800" dirty="0" smtClean="0">
                <a:latin typeface="Arial Narrow" panose="020B0606020202030204" pitchFamily="34" charset="0"/>
              </a:rPr>
              <a:t> </a:t>
            </a:r>
            <a:r>
              <a:rPr lang="tr-TR" sz="1800" dirty="0" err="1" smtClean="0">
                <a:latin typeface="Arial Narrow" panose="020B0606020202030204" pitchFamily="34" charset="0"/>
              </a:rPr>
              <a:t>facts</a:t>
            </a:r>
            <a:r>
              <a:rPr lang="tr-TR" sz="1800" dirty="0" smtClean="0">
                <a:latin typeface="Arial Narrow" panose="020B0606020202030204" pitchFamily="34" charset="0"/>
              </a:rPr>
              <a:t> </a:t>
            </a:r>
            <a:r>
              <a:rPr lang="tr-TR" sz="1800" dirty="0" err="1" smtClean="0">
                <a:latin typeface="Arial Narrow" panose="020B0606020202030204" pitchFamily="34" charset="0"/>
              </a:rPr>
              <a:t>about</a:t>
            </a:r>
            <a:r>
              <a:rPr lang="tr-TR" sz="1800" dirty="0" smtClean="0">
                <a:latin typeface="Arial Narrow" panose="020B0606020202030204" pitchFamily="34" charset="0"/>
              </a:rPr>
              <a:t> </a:t>
            </a:r>
            <a:r>
              <a:rPr lang="tr-TR" sz="1800" dirty="0" err="1" smtClean="0">
                <a:latin typeface="Arial Narrow" panose="020B0606020202030204" pitchFamily="34" charset="0"/>
              </a:rPr>
              <a:t>term</a:t>
            </a:r>
            <a:r>
              <a:rPr lang="tr-TR" sz="1800" dirty="0" smtClean="0">
                <a:latin typeface="Arial Narrow" panose="020B0606020202030204" pitchFamily="34" charset="0"/>
              </a:rPr>
              <a:t> </a:t>
            </a:r>
            <a:r>
              <a:rPr lang="tr-TR" sz="1800" dirty="0" err="1" smtClean="0">
                <a:latin typeface="Arial Narrow" panose="020B0606020202030204" pitchFamily="34" charset="0"/>
              </a:rPr>
              <a:t>structure</a:t>
            </a:r>
            <a:r>
              <a:rPr lang="tr-TR" sz="1800" dirty="0" smtClean="0">
                <a:latin typeface="Arial Narrow" panose="020B0606020202030204" pitchFamily="34" charset="0"/>
              </a:rPr>
              <a:t> of </a:t>
            </a: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rates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lvl="1">
              <a:spcBef>
                <a:spcPts val="0"/>
              </a:spcBef>
              <a:buFont typeface="Arial" panose="020B0604020202020204" pitchFamily="34" charset="0"/>
              <a:buChar char="•"/>
            </a:pP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rates</a:t>
            </a:r>
            <a:r>
              <a:rPr lang="tr-TR" sz="1800" dirty="0" smtClean="0">
                <a:latin typeface="Arial Narrow" panose="020B0606020202030204" pitchFamily="34" charset="0"/>
              </a:rPr>
              <a:t> on </a:t>
            </a:r>
            <a:r>
              <a:rPr lang="tr-TR" sz="1800" dirty="0" err="1" smtClean="0">
                <a:latin typeface="Arial Narrow" panose="020B0606020202030204" pitchFamily="34" charset="0"/>
              </a:rPr>
              <a:t>bonds</a:t>
            </a:r>
            <a:r>
              <a:rPr lang="tr-TR" sz="1800" dirty="0" smtClean="0">
                <a:latin typeface="Arial Narrow" panose="020B0606020202030204" pitchFamily="34" charset="0"/>
              </a:rPr>
              <a:t> of </a:t>
            </a:r>
            <a:r>
              <a:rPr lang="tr-TR" sz="1800" dirty="0" err="1" smtClean="0">
                <a:latin typeface="Arial Narrow" panose="020B0606020202030204" pitchFamily="34" charset="0"/>
              </a:rPr>
              <a:t>different</a:t>
            </a:r>
            <a:r>
              <a:rPr lang="tr-TR" sz="1800" dirty="0" smtClean="0">
                <a:latin typeface="Arial Narrow" panose="020B0606020202030204" pitchFamily="34" charset="0"/>
              </a:rPr>
              <a:t> </a:t>
            </a:r>
            <a:r>
              <a:rPr lang="tr-TR" sz="1800" dirty="0" err="1" smtClean="0">
                <a:latin typeface="Arial Narrow" panose="020B0606020202030204" pitchFamily="34" charset="0"/>
              </a:rPr>
              <a:t>maturities</a:t>
            </a:r>
            <a:r>
              <a:rPr lang="tr-TR" sz="1800" dirty="0" smtClean="0">
                <a:latin typeface="Arial Narrow" panose="020B0606020202030204" pitchFamily="34" charset="0"/>
              </a:rPr>
              <a:t> </a:t>
            </a:r>
            <a:r>
              <a:rPr lang="tr-TR" sz="1800" dirty="0" err="1" smtClean="0">
                <a:latin typeface="Arial Narrow" panose="020B0606020202030204" pitchFamily="34" charset="0"/>
              </a:rPr>
              <a:t>move</a:t>
            </a:r>
            <a:r>
              <a:rPr lang="tr-TR" sz="1800" dirty="0" smtClean="0">
                <a:latin typeface="Arial Narrow" panose="020B0606020202030204" pitchFamily="34" charset="0"/>
              </a:rPr>
              <a:t> </a:t>
            </a:r>
            <a:r>
              <a:rPr lang="tr-TR" sz="1800" dirty="0" err="1" smtClean="0">
                <a:latin typeface="Arial Narrow" panose="020B0606020202030204" pitchFamily="34" charset="0"/>
              </a:rPr>
              <a:t>together</a:t>
            </a:r>
            <a:r>
              <a:rPr lang="tr-TR" sz="1800" dirty="0" smtClean="0">
                <a:latin typeface="Arial Narrow" panose="020B0606020202030204" pitchFamily="34" charset="0"/>
              </a:rPr>
              <a:t> </a:t>
            </a:r>
            <a:r>
              <a:rPr lang="tr-TR" sz="1800" dirty="0" err="1" smtClean="0">
                <a:latin typeface="Arial Narrow" panose="020B0606020202030204" pitchFamily="34" charset="0"/>
              </a:rPr>
              <a:t>over</a:t>
            </a:r>
            <a:r>
              <a:rPr lang="tr-TR" sz="1800" dirty="0" smtClean="0">
                <a:latin typeface="Arial Narrow" panose="020B0606020202030204" pitchFamily="34" charset="0"/>
              </a:rPr>
              <a:t> time.</a:t>
            </a:r>
          </a:p>
          <a:p>
            <a:pPr lvl="1">
              <a:spcBef>
                <a:spcPts val="0"/>
              </a:spcBef>
              <a:buFont typeface="Arial" panose="020B0604020202020204" pitchFamily="34" charset="0"/>
              <a:buChar char="•"/>
            </a:pPr>
            <a:r>
              <a:rPr lang="tr-TR" sz="1800" dirty="0" err="1" smtClean="0">
                <a:latin typeface="Arial Narrow" panose="020B0606020202030204" pitchFamily="34" charset="0"/>
              </a:rPr>
              <a:t>When</a:t>
            </a:r>
            <a:r>
              <a:rPr lang="tr-TR" sz="1800" dirty="0" smtClean="0">
                <a:latin typeface="Arial Narrow" panose="020B0606020202030204" pitchFamily="34" charset="0"/>
              </a:rPr>
              <a:t> </a:t>
            </a:r>
            <a:r>
              <a:rPr lang="tr-TR" sz="1800" dirty="0" err="1" smtClean="0">
                <a:latin typeface="Arial Narrow" panose="020B0606020202030204" pitchFamily="34" charset="0"/>
              </a:rPr>
              <a:t>short-term</a:t>
            </a:r>
            <a:r>
              <a:rPr lang="tr-TR" sz="1800" dirty="0" smtClean="0">
                <a:latin typeface="Arial Narrow" panose="020B0606020202030204" pitchFamily="34" charset="0"/>
              </a:rPr>
              <a:t> </a:t>
            </a: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rates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low</a:t>
            </a:r>
            <a:r>
              <a:rPr lang="tr-TR" sz="1800" dirty="0" smtClean="0">
                <a:latin typeface="Arial Narrow" panose="020B0606020202030204" pitchFamily="34" charset="0"/>
              </a:rPr>
              <a:t>, </a:t>
            </a:r>
            <a:r>
              <a:rPr lang="tr-TR" sz="1800" dirty="0" err="1" smtClean="0">
                <a:latin typeface="Arial Narrow" panose="020B0606020202030204" pitchFamily="34" charset="0"/>
              </a:rPr>
              <a:t>yield</a:t>
            </a:r>
            <a:r>
              <a:rPr lang="tr-TR" sz="1800" dirty="0" smtClean="0">
                <a:latin typeface="Arial Narrow" panose="020B0606020202030204" pitchFamily="34" charset="0"/>
              </a:rPr>
              <a:t> </a:t>
            </a:r>
            <a:r>
              <a:rPr lang="tr-TR" sz="1800" dirty="0" err="1" smtClean="0">
                <a:latin typeface="Arial Narrow" panose="020B0606020202030204" pitchFamily="34" charset="0"/>
              </a:rPr>
              <a:t>curves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err="1" smtClean="0">
                <a:latin typeface="Arial Narrow" panose="020B0606020202030204" pitchFamily="34" charset="0"/>
              </a:rPr>
              <a:t>more</a:t>
            </a:r>
            <a:r>
              <a:rPr lang="tr-TR" sz="1800" smtClean="0">
                <a:latin typeface="Arial Narrow" panose="020B0606020202030204" pitchFamily="34" charset="0"/>
              </a:rPr>
              <a:t> likely</a:t>
            </a:r>
            <a:endParaRPr lang="tr-TR" sz="1800" dirty="0">
              <a:latin typeface="Arial Narrow" panose="020B0606020202030204" pitchFamily="34" charset="0"/>
            </a:endParaRPr>
          </a:p>
          <a:p>
            <a:pPr marL="1771650" lvl="4" indent="0">
              <a:spcBef>
                <a:spcPts val="0"/>
              </a:spcBef>
              <a:buNone/>
            </a:pPr>
            <a:r>
              <a:rPr lang="tr-TR" sz="1800" smtClean="0">
                <a:latin typeface="Arial Narrow" panose="020B0606020202030204" pitchFamily="34" charset="0"/>
              </a:rPr>
              <a:t>to </a:t>
            </a:r>
            <a:r>
              <a:rPr lang="tr-TR" sz="1800" dirty="0" err="1" smtClean="0">
                <a:latin typeface="Arial Narrow" panose="020B0606020202030204" pitchFamily="34" charset="0"/>
              </a:rPr>
              <a:t>have</a:t>
            </a:r>
            <a:r>
              <a:rPr lang="tr-TR" sz="1800" dirty="0" smtClean="0">
                <a:latin typeface="Arial Narrow" panose="020B0606020202030204" pitchFamily="34" charset="0"/>
              </a:rPr>
              <a:t> an </a:t>
            </a:r>
            <a:r>
              <a:rPr lang="tr-TR" sz="1800" dirty="0" err="1" smtClean="0">
                <a:latin typeface="Arial Narrow" panose="020B0606020202030204" pitchFamily="34" charset="0"/>
              </a:rPr>
              <a:t>upward</a:t>
            </a:r>
            <a:r>
              <a:rPr lang="tr-TR" sz="1800" dirty="0" smtClean="0">
                <a:latin typeface="Arial Narrow" panose="020B0606020202030204" pitchFamily="34" charset="0"/>
              </a:rPr>
              <a:t> </a:t>
            </a:r>
            <a:r>
              <a:rPr lang="tr-TR" sz="1800" dirty="0" err="1" smtClean="0">
                <a:latin typeface="Arial Narrow" panose="020B0606020202030204" pitchFamily="34" charset="0"/>
              </a:rPr>
              <a:t>slope</a:t>
            </a:r>
            <a:r>
              <a:rPr lang="tr-TR" sz="1800" dirty="0" smtClean="0">
                <a:latin typeface="Arial Narrow" panose="020B0606020202030204" pitchFamily="34" charset="0"/>
              </a:rPr>
              <a:t>;</a:t>
            </a:r>
          </a:p>
          <a:p>
            <a:pPr marL="1257300" lvl="3" indent="0">
              <a:spcBef>
                <a:spcPts val="0"/>
              </a:spcBef>
              <a:buNone/>
            </a:pPr>
            <a:r>
              <a:rPr lang="tr-TR" sz="1800" dirty="0" err="1" smtClean="0">
                <a:latin typeface="Arial Narrow" panose="020B0606020202030204" pitchFamily="34" charset="0"/>
              </a:rPr>
              <a:t>when</a:t>
            </a:r>
            <a:r>
              <a:rPr lang="tr-TR" sz="1800" dirty="0" smtClean="0">
                <a:latin typeface="Arial Narrow" panose="020B0606020202030204" pitchFamily="34" charset="0"/>
              </a:rPr>
              <a:t> </a:t>
            </a:r>
            <a:r>
              <a:rPr lang="tr-TR" sz="1800" dirty="0" err="1" smtClean="0">
                <a:latin typeface="Arial Narrow" panose="020B0606020202030204" pitchFamily="34" charset="0"/>
              </a:rPr>
              <a:t>short-term</a:t>
            </a:r>
            <a:r>
              <a:rPr lang="tr-TR" sz="1800" dirty="0" smtClean="0">
                <a:latin typeface="Arial Narrow" panose="020B0606020202030204" pitchFamily="34" charset="0"/>
              </a:rPr>
              <a:t> </a:t>
            </a: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rates</a:t>
            </a:r>
            <a:r>
              <a:rPr lang="tr-TR" sz="1800" dirty="0" smtClean="0">
                <a:latin typeface="Arial Narrow" panose="020B0606020202030204" pitchFamily="34" charset="0"/>
              </a:rPr>
              <a:t> </a:t>
            </a:r>
            <a:r>
              <a:rPr lang="tr-TR" sz="1800" err="1" smtClean="0">
                <a:latin typeface="Arial Narrow" panose="020B0606020202030204" pitchFamily="34" charset="0"/>
              </a:rPr>
              <a:t>are</a:t>
            </a:r>
            <a:r>
              <a:rPr lang="tr-TR" sz="1800" smtClean="0">
                <a:latin typeface="Arial Narrow" panose="020B0606020202030204" pitchFamily="34" charset="0"/>
              </a:rPr>
              <a:t> high,</a:t>
            </a:r>
          </a:p>
          <a:p>
            <a:pPr marL="2171700" lvl="5" indent="0">
              <a:spcBef>
                <a:spcPts val="0"/>
              </a:spcBef>
              <a:buNone/>
            </a:pPr>
            <a:r>
              <a:rPr lang="tr-TR" sz="1800" smtClean="0">
                <a:latin typeface="Arial Narrow" panose="020B0606020202030204" pitchFamily="34" charset="0"/>
              </a:rPr>
              <a:t>yield </a:t>
            </a:r>
            <a:r>
              <a:rPr lang="tr-TR" sz="1800" dirty="0" err="1" smtClean="0">
                <a:latin typeface="Arial Narrow" panose="020B0606020202030204" pitchFamily="34" charset="0"/>
              </a:rPr>
              <a:t>curves</a:t>
            </a:r>
            <a:r>
              <a:rPr lang="tr-TR" sz="1800" dirty="0" smtClean="0">
                <a:latin typeface="Arial Narrow" panose="020B0606020202030204" pitchFamily="34" charset="0"/>
              </a:rPr>
              <a:t> </a:t>
            </a:r>
            <a:r>
              <a:rPr lang="tr-TR" sz="1800" dirty="0" err="1" smtClean="0">
                <a:latin typeface="Arial Narrow" panose="020B0606020202030204" pitchFamily="34" charset="0"/>
              </a:rPr>
              <a:t>are</a:t>
            </a:r>
            <a:r>
              <a:rPr lang="tr-TR" sz="1800" dirty="0" smtClean="0">
                <a:latin typeface="Arial Narrow" panose="020B0606020202030204" pitchFamily="34" charset="0"/>
              </a:rPr>
              <a:t> </a:t>
            </a:r>
            <a:r>
              <a:rPr lang="tr-TR" sz="1800" dirty="0" err="1" smtClean="0">
                <a:latin typeface="Arial Narrow" panose="020B0606020202030204" pitchFamily="34" charset="0"/>
              </a:rPr>
              <a:t>more</a:t>
            </a:r>
            <a:r>
              <a:rPr lang="tr-TR" sz="1800" dirty="0" smtClean="0">
                <a:latin typeface="Arial Narrow" panose="020B0606020202030204" pitchFamily="34" charset="0"/>
              </a:rPr>
              <a:t> </a:t>
            </a:r>
            <a:r>
              <a:rPr lang="tr-TR" sz="1800" dirty="0" err="1" smtClean="0">
                <a:latin typeface="Arial Narrow" panose="020B0606020202030204" pitchFamily="34" charset="0"/>
              </a:rPr>
              <a:t>likely</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slope</a:t>
            </a:r>
            <a:r>
              <a:rPr lang="tr-TR" sz="1800" dirty="0" smtClean="0">
                <a:latin typeface="Arial Narrow" panose="020B0606020202030204" pitchFamily="34" charset="0"/>
              </a:rPr>
              <a:t> </a:t>
            </a:r>
            <a:r>
              <a:rPr lang="tr-TR" sz="1800" dirty="0" err="1" smtClean="0">
                <a:latin typeface="Arial Narrow" panose="020B0606020202030204" pitchFamily="34" charset="0"/>
              </a:rPr>
              <a:t>downward</a:t>
            </a:r>
            <a:r>
              <a:rPr lang="tr-TR" sz="1800" dirty="0" smtClean="0">
                <a:latin typeface="Arial Narrow" panose="020B0606020202030204" pitchFamily="34" charset="0"/>
              </a:rPr>
              <a:t> (</a:t>
            </a:r>
            <a:r>
              <a:rPr lang="tr-TR" sz="1800" dirty="0" err="1" smtClean="0">
                <a:latin typeface="Arial Narrow" panose="020B0606020202030204" pitchFamily="34" charset="0"/>
              </a:rPr>
              <a:t>i.e</a:t>
            </a:r>
            <a:r>
              <a:rPr lang="tr-TR" sz="1800" dirty="0" smtClean="0">
                <a:latin typeface="Arial Narrow" panose="020B0606020202030204" pitchFamily="34" charset="0"/>
              </a:rPr>
              <a:t>. </a:t>
            </a:r>
            <a:r>
              <a:rPr lang="tr-TR" sz="1800" dirty="0" err="1">
                <a:latin typeface="Arial Narrow" panose="020B0606020202030204" pitchFamily="34" charset="0"/>
              </a:rPr>
              <a:t>i</a:t>
            </a:r>
            <a:r>
              <a:rPr lang="tr-TR" sz="1800" dirty="0" err="1" smtClean="0">
                <a:latin typeface="Arial Narrow" panose="020B0606020202030204" pitchFamily="34" charset="0"/>
              </a:rPr>
              <a:t>nverted</a:t>
            </a:r>
            <a:r>
              <a:rPr lang="tr-TR" sz="1800" dirty="0" smtClean="0">
                <a:latin typeface="Arial Narrow" panose="020B0606020202030204" pitchFamily="34" charset="0"/>
              </a:rPr>
              <a:t>).</a:t>
            </a:r>
          </a:p>
          <a:p>
            <a:pPr lvl="1">
              <a:spcBef>
                <a:spcPts val="0"/>
              </a:spcBef>
              <a:buFont typeface="Arial" panose="020B0604020202020204" pitchFamily="34" charset="0"/>
              <a:buChar char="•"/>
            </a:pPr>
            <a:r>
              <a:rPr lang="tr-TR" sz="1800" dirty="0" err="1" smtClean="0">
                <a:latin typeface="Arial Narrow" panose="020B0606020202030204" pitchFamily="34" charset="0"/>
              </a:rPr>
              <a:t>Yield</a:t>
            </a:r>
            <a:r>
              <a:rPr lang="tr-TR" sz="1800" dirty="0" smtClean="0">
                <a:latin typeface="Arial Narrow" panose="020B0606020202030204" pitchFamily="34" charset="0"/>
              </a:rPr>
              <a:t> </a:t>
            </a:r>
            <a:r>
              <a:rPr lang="tr-TR" sz="1800" dirty="0" err="1" smtClean="0">
                <a:latin typeface="Arial Narrow" panose="020B0606020202030204" pitchFamily="34" charset="0"/>
              </a:rPr>
              <a:t>curves</a:t>
            </a:r>
            <a:r>
              <a:rPr lang="tr-TR" sz="1800" dirty="0" smtClean="0">
                <a:latin typeface="Arial Narrow" panose="020B0606020202030204" pitchFamily="34" charset="0"/>
              </a:rPr>
              <a:t> </a:t>
            </a:r>
            <a:r>
              <a:rPr lang="tr-TR" sz="1800" dirty="0" err="1" smtClean="0">
                <a:latin typeface="Arial Narrow" panose="020B0606020202030204" pitchFamily="34" charset="0"/>
              </a:rPr>
              <a:t>almost</a:t>
            </a:r>
            <a:r>
              <a:rPr lang="tr-TR" sz="1800" dirty="0" smtClean="0">
                <a:latin typeface="Arial Narrow" panose="020B0606020202030204" pitchFamily="34" charset="0"/>
              </a:rPr>
              <a:t> </a:t>
            </a:r>
            <a:r>
              <a:rPr lang="tr-TR" sz="1800" dirty="0" err="1" smtClean="0">
                <a:latin typeface="Arial Narrow" panose="020B0606020202030204" pitchFamily="34" charset="0"/>
              </a:rPr>
              <a:t>always</a:t>
            </a:r>
            <a:r>
              <a:rPr lang="tr-TR" sz="1800" dirty="0" smtClean="0">
                <a:latin typeface="Arial Narrow" panose="020B0606020202030204" pitchFamily="34" charset="0"/>
              </a:rPr>
              <a:t> </a:t>
            </a:r>
            <a:r>
              <a:rPr lang="tr-TR" sz="1800" dirty="0" err="1" smtClean="0">
                <a:latin typeface="Arial Narrow" panose="020B0606020202030204" pitchFamily="34" charset="0"/>
              </a:rPr>
              <a:t>slope</a:t>
            </a:r>
            <a:r>
              <a:rPr lang="tr-TR" sz="1800" dirty="0" smtClean="0">
                <a:latin typeface="Arial Narrow" panose="020B0606020202030204" pitchFamily="34" charset="0"/>
              </a:rPr>
              <a:t> </a:t>
            </a:r>
            <a:r>
              <a:rPr lang="tr-TR" sz="1800" dirty="0" err="1" smtClean="0">
                <a:latin typeface="Arial Narrow" panose="020B0606020202030204" pitchFamily="34" charset="0"/>
              </a:rPr>
              <a:t>upward</a:t>
            </a:r>
            <a:r>
              <a:rPr lang="tr-TR" sz="1800" dirty="0" smtClean="0">
                <a:latin typeface="Arial Narrow" panose="020B0606020202030204" pitchFamily="34" charset="0"/>
              </a:rPr>
              <a:t>.</a:t>
            </a: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Three </a:t>
            </a:r>
            <a:r>
              <a:rPr lang="tr-TR" sz="1800" dirty="0" err="1" smtClean="0">
                <a:latin typeface="Arial Narrow" panose="020B0606020202030204" pitchFamily="34" charset="0"/>
              </a:rPr>
              <a:t>theories</a:t>
            </a:r>
            <a:r>
              <a:rPr lang="tr-TR" sz="1800" dirty="0" smtClean="0">
                <a:latin typeface="Arial Narrow" panose="020B0606020202030204" pitchFamily="34" charset="0"/>
              </a:rPr>
              <a:t> </a:t>
            </a:r>
            <a:r>
              <a:rPr lang="tr-TR" sz="1800" dirty="0" err="1" smtClean="0">
                <a:latin typeface="Arial Narrow" panose="020B0606020202030204" pitchFamily="34" charset="0"/>
              </a:rPr>
              <a:t>have</a:t>
            </a:r>
            <a:r>
              <a:rPr lang="tr-TR" sz="1800" dirty="0" smtClean="0">
                <a:latin typeface="Arial Narrow" panose="020B0606020202030204" pitchFamily="34" charset="0"/>
              </a:rPr>
              <a:t> </a:t>
            </a:r>
            <a:r>
              <a:rPr lang="tr-TR" sz="1800" dirty="0" err="1" smtClean="0">
                <a:latin typeface="Arial Narrow" panose="020B0606020202030204" pitchFamily="34" charset="0"/>
              </a:rPr>
              <a:t>been</a:t>
            </a:r>
            <a:r>
              <a:rPr lang="tr-TR" sz="1800" dirty="0" smtClean="0">
                <a:latin typeface="Arial Narrow" panose="020B0606020202030204" pitchFamily="34" charset="0"/>
              </a:rPr>
              <a:t> put </a:t>
            </a:r>
            <a:r>
              <a:rPr lang="tr-TR" sz="1800" dirty="0" err="1" smtClean="0">
                <a:latin typeface="Arial Narrow" panose="020B0606020202030204" pitchFamily="34" charset="0"/>
              </a:rPr>
              <a:t>forward</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explain</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term</a:t>
            </a:r>
            <a:r>
              <a:rPr lang="tr-TR" sz="1800" dirty="0" smtClean="0">
                <a:latin typeface="Arial Narrow" panose="020B0606020202030204" pitchFamily="34" charset="0"/>
              </a:rPr>
              <a:t> </a:t>
            </a:r>
            <a:r>
              <a:rPr lang="tr-TR" sz="1800" dirty="0" err="1" smtClean="0">
                <a:latin typeface="Arial Narrow" panose="020B0606020202030204" pitchFamily="34" charset="0"/>
              </a:rPr>
              <a:t>structure</a:t>
            </a:r>
            <a:r>
              <a:rPr lang="tr-TR" sz="1800" dirty="0" smtClean="0">
                <a:latin typeface="Arial Narrow" panose="020B0606020202030204" pitchFamily="34" charset="0"/>
              </a:rPr>
              <a:t> of </a:t>
            </a:r>
            <a:r>
              <a:rPr lang="tr-TR" sz="1800" dirty="0" err="1" smtClean="0">
                <a:latin typeface="Arial Narrow" panose="020B0606020202030204" pitchFamily="34" charset="0"/>
              </a:rPr>
              <a:t>interest</a:t>
            </a:r>
            <a:r>
              <a:rPr lang="tr-TR" sz="1800" dirty="0" smtClean="0">
                <a:latin typeface="Arial Narrow" panose="020B0606020202030204" pitchFamily="34" charset="0"/>
              </a:rPr>
              <a:t> </a:t>
            </a:r>
            <a:r>
              <a:rPr lang="tr-TR" sz="1800" dirty="0" err="1" smtClean="0">
                <a:latin typeface="Arial Narrow" panose="020B0606020202030204" pitchFamily="34" charset="0"/>
              </a:rPr>
              <a:t>rates</a:t>
            </a:r>
            <a:r>
              <a:rPr lang="tr-TR" sz="1800" dirty="0" smtClean="0">
                <a:latin typeface="Arial Narrow" panose="020B0606020202030204" pitchFamily="34" charset="0"/>
              </a:rPr>
              <a:t>,</a:t>
            </a:r>
          </a:p>
          <a:p>
            <a:pPr marL="0" lvl="0" indent="0" algn="ctr">
              <a:spcBef>
                <a:spcPts val="0"/>
              </a:spcBef>
              <a:buNone/>
            </a:pPr>
            <a:r>
              <a:rPr lang="tr-TR" sz="1800" noProof="1" smtClean="0">
                <a:latin typeface="Arial Narrow" panose="020B0606020202030204" pitchFamily="34" charset="0"/>
              </a:rPr>
              <a:t>i.e. shapes of yield curves:</a:t>
            </a:r>
          </a:p>
          <a:p>
            <a:pPr lvl="6">
              <a:spcBef>
                <a:spcPts val="0"/>
              </a:spcBef>
            </a:pPr>
            <a:r>
              <a:rPr lang="tr-TR" sz="1800" noProof="1" smtClean="0">
                <a:latin typeface="Arial Narrow" panose="020B0606020202030204" pitchFamily="34" charset="0"/>
              </a:rPr>
              <a:t>The Expectations theory</a:t>
            </a:r>
          </a:p>
          <a:p>
            <a:pPr lvl="6">
              <a:spcBef>
                <a:spcPts val="0"/>
              </a:spcBef>
            </a:pPr>
            <a:r>
              <a:rPr lang="tr-TR" sz="1800" noProof="1" smtClean="0">
                <a:latin typeface="Arial Narrow" panose="020B0606020202030204" pitchFamily="34" charset="0"/>
              </a:rPr>
              <a:t>The Segmented </a:t>
            </a:r>
            <a:r>
              <a:rPr lang="tr-TR" sz="1800" noProof="1">
                <a:latin typeface="Arial Narrow" panose="020B0606020202030204" pitchFamily="34" charset="0"/>
              </a:rPr>
              <a:t>M</a:t>
            </a:r>
            <a:r>
              <a:rPr lang="tr-TR" sz="1800" noProof="1" smtClean="0">
                <a:latin typeface="Arial Narrow" panose="020B0606020202030204" pitchFamily="34" charset="0"/>
              </a:rPr>
              <a:t>arkets theory</a:t>
            </a:r>
          </a:p>
          <a:p>
            <a:pPr lvl="6">
              <a:spcBef>
                <a:spcPts val="0"/>
              </a:spcBef>
            </a:pPr>
            <a:r>
              <a:rPr lang="tr-TR" sz="1800" noProof="1" smtClean="0">
                <a:latin typeface="Arial Narrow" panose="020B0606020202030204" pitchFamily="34" charset="0"/>
              </a:rPr>
              <a:t>The Liquidity Premium theory</a:t>
            </a:r>
          </a:p>
        </p:txBody>
      </p:sp>
    </p:spTree>
    <p:extLst>
      <p:ext uri="{BB962C8B-B14F-4D97-AF65-F5344CB8AC3E}">
        <p14:creationId xmlns:p14="http://schemas.microsoft.com/office/powerpoint/2010/main" val="40401622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50497" y="116632"/>
            <a:ext cx="4385999" cy="1152128"/>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[6] Interest Rates</a:t>
            </a:r>
            <a:r>
              <a:rPr lang="tr-TR" sz="2400">
                <a:latin typeface="Arial Narrow" pitchFamily="34" charset="0"/>
              </a:rPr>
              <a:t/>
            </a:r>
            <a:br>
              <a:rPr lang="tr-TR" sz="2400">
                <a:latin typeface="Arial Narrow" pitchFamily="34" charset="0"/>
              </a:rPr>
            </a:br>
            <a:r>
              <a:rPr lang="tr-TR" sz="2400" smtClean="0">
                <a:latin typeface="Arial Narrow" pitchFamily="34" charset="0"/>
              </a:rPr>
              <a:t>Expectations </a:t>
            </a:r>
            <a:r>
              <a:rPr lang="tr-TR" sz="2400" dirty="0" err="1" smtClean="0">
                <a:latin typeface="Arial Narrow" pitchFamily="34" charset="0"/>
              </a:rPr>
              <a:t>Theory</a:t>
            </a:r>
            <a:endParaRPr lang="tr-TR" sz="2400" dirty="0">
              <a:latin typeface="Arial Narrow" pitchFamily="34" charset="0"/>
            </a:endParaRPr>
          </a:p>
        </p:txBody>
      </p:sp>
      <p:sp>
        <p:nvSpPr>
          <p:cNvPr id="5" name="Content Placeholder 4"/>
          <p:cNvSpPr>
            <a:spLocks noGrp="1"/>
          </p:cNvSpPr>
          <p:nvPr>
            <p:ph idx="1"/>
          </p:nvPr>
        </p:nvSpPr>
        <p:spPr>
          <a:xfrm>
            <a:off x="107503" y="116632"/>
            <a:ext cx="4392489" cy="6624736"/>
          </a:xfrm>
          <a:ln w="25400">
            <a:noFill/>
          </a:ln>
        </p:spPr>
        <p:txBody>
          <a:bodyPr>
            <a:noAutofit/>
          </a:bodyPr>
          <a:lstStyle/>
          <a:p>
            <a:pPr marL="0" lvl="0" indent="0" algn="ctr">
              <a:spcBef>
                <a:spcPts val="0"/>
              </a:spcBef>
              <a:buNone/>
            </a:pPr>
            <a:r>
              <a:rPr lang="tr-TR" sz="1600" noProof="1">
                <a:latin typeface="Arial Narrow" panose="020B0606020202030204" pitchFamily="34" charset="0"/>
              </a:rPr>
              <a:t>″The interest rate on a long-term bond will equal</a:t>
            </a:r>
          </a:p>
          <a:p>
            <a:pPr marL="0" lvl="0" indent="0" algn="ctr">
              <a:spcBef>
                <a:spcPts val="0"/>
              </a:spcBef>
              <a:buNone/>
            </a:pPr>
            <a:r>
              <a:rPr lang="tr-TR" sz="1600" noProof="1">
                <a:latin typeface="Arial Narrow" panose="020B0606020202030204" pitchFamily="34" charset="0"/>
              </a:rPr>
              <a:t>an average of the short-term interest rates</a:t>
            </a:r>
          </a:p>
          <a:p>
            <a:pPr marL="0" lvl="0" indent="0" algn="ctr">
              <a:spcBef>
                <a:spcPts val="0"/>
              </a:spcBef>
              <a:buNone/>
            </a:pPr>
            <a:r>
              <a:rPr lang="tr-TR" sz="1600" noProof="1">
                <a:latin typeface="Arial Narrow" panose="020B0606020202030204" pitchFamily="34" charset="0"/>
              </a:rPr>
              <a:t>that people expect to </a:t>
            </a:r>
            <a:r>
              <a:rPr lang="tr-TR" sz="1600" noProof="1" smtClean="0">
                <a:latin typeface="Arial Narrow" panose="020B0606020202030204" pitchFamily="34" charset="0"/>
              </a:rPr>
              <a:t>ocur</a:t>
            </a:r>
          </a:p>
          <a:p>
            <a:pPr marL="0" lvl="0" indent="0" algn="ctr">
              <a:spcBef>
                <a:spcPts val="0"/>
              </a:spcBef>
              <a:buNone/>
            </a:pPr>
            <a:r>
              <a:rPr lang="tr-TR" sz="1600" noProof="1" smtClean="0">
                <a:latin typeface="Arial Narrow" panose="020B0606020202030204" pitchFamily="34" charset="0"/>
              </a:rPr>
              <a:t>over </a:t>
            </a:r>
            <a:r>
              <a:rPr lang="tr-TR" sz="1600" noProof="1">
                <a:latin typeface="Arial Narrow" panose="020B0606020202030204" pitchFamily="34" charset="0"/>
              </a:rPr>
              <a:t>the life of the long-term bond</a:t>
            </a:r>
            <a:r>
              <a:rPr lang="tr-TR" sz="1600" noProof="1" smtClean="0">
                <a:latin typeface="Arial Narrow" panose="020B0606020202030204" pitchFamily="34" charset="0"/>
              </a:rPr>
              <a:t>.″</a:t>
            </a:r>
            <a:endParaRPr lang="tr-TR" sz="1600" noProof="1">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For a 5-year </a:t>
            </a:r>
            <a:r>
              <a:rPr lang="tr-TR" sz="1600" noProof="1" smtClean="0">
                <a:latin typeface="Arial Narrow" panose="020B0606020202030204" pitchFamily="34" charset="0"/>
              </a:rPr>
              <a:t>bond,</a:t>
            </a:r>
          </a:p>
          <a:p>
            <a:pPr marL="0" lvl="0" indent="0" algn="ctr">
              <a:spcBef>
                <a:spcPts val="0"/>
              </a:spcBef>
              <a:buNone/>
            </a:pPr>
            <a:r>
              <a:rPr lang="tr-TR" sz="1600" noProof="1" smtClean="0">
                <a:latin typeface="Arial Narrow" panose="020B0606020202030204" pitchFamily="34" charset="0"/>
              </a:rPr>
              <a:t>the </a:t>
            </a:r>
            <a:r>
              <a:rPr lang="tr-TR" sz="1600" noProof="1">
                <a:latin typeface="Arial Narrow" panose="020B0606020202030204" pitchFamily="34" charset="0"/>
              </a:rPr>
              <a:t>yield formulation would be as follows:</a:t>
            </a: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When the yield curve is upward-sloping,</a:t>
            </a:r>
          </a:p>
          <a:p>
            <a:pPr marL="0" lvl="0" indent="0" algn="ctr">
              <a:spcBef>
                <a:spcPts val="0"/>
              </a:spcBef>
              <a:buNone/>
            </a:pPr>
            <a:r>
              <a:rPr lang="tr-TR" sz="1600" noProof="1">
                <a:latin typeface="Arial Narrow" panose="020B0606020202030204" pitchFamily="34" charset="0"/>
              </a:rPr>
              <a:t>the expectations theory suggests that</a:t>
            </a:r>
          </a:p>
          <a:p>
            <a:pPr marL="0" lvl="0" indent="0" algn="ctr">
              <a:spcBef>
                <a:spcPts val="0"/>
              </a:spcBef>
              <a:buNone/>
            </a:pPr>
            <a:r>
              <a:rPr lang="tr-TR" sz="1600" noProof="1">
                <a:latin typeface="Arial Narrow" panose="020B0606020202030204" pitchFamily="34" charset="0"/>
              </a:rPr>
              <a:t>short-term interest rates are </a:t>
            </a:r>
            <a:r>
              <a:rPr lang="tr-TR" sz="1600" noProof="1" smtClean="0">
                <a:latin typeface="Arial Narrow" panose="020B0606020202030204" pitchFamily="34" charset="0"/>
              </a:rPr>
              <a:t>expected</a:t>
            </a:r>
          </a:p>
          <a:p>
            <a:pPr marL="0" lvl="0" indent="0" algn="ctr">
              <a:spcBef>
                <a:spcPts val="0"/>
              </a:spcBef>
              <a:buNone/>
            </a:pPr>
            <a:r>
              <a:rPr lang="tr-TR" sz="1600" noProof="1" smtClean="0">
                <a:latin typeface="Arial Narrow" panose="020B0606020202030204" pitchFamily="34" charset="0"/>
              </a:rPr>
              <a:t>to </a:t>
            </a:r>
            <a:r>
              <a:rPr lang="tr-TR" sz="1600" noProof="1">
                <a:latin typeface="Arial Narrow" panose="020B0606020202030204" pitchFamily="34" charset="0"/>
              </a:rPr>
              <a:t>rise in the future.</a:t>
            </a: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endParaRPr lang="tr-TR" sz="1600" noProof="1" smtClean="0">
              <a:latin typeface="Arial Narrow" panose="020B0606020202030204" pitchFamily="34" charset="0"/>
            </a:endParaRPr>
          </a:p>
          <a:p>
            <a:pPr marL="0" lvl="0" indent="0" algn="ctr">
              <a:spcBef>
                <a:spcPts val="0"/>
              </a:spcBef>
              <a:buNone/>
            </a:pPr>
            <a:r>
              <a:rPr lang="tr-TR" sz="1600" noProof="1" smtClean="0">
                <a:solidFill>
                  <a:srgbClr val="000066"/>
                </a:solidFill>
                <a:latin typeface="Arial Narrow" panose="020B0606020202030204" pitchFamily="34" charset="0"/>
              </a:rPr>
              <a:t>If expectation of annual interest rates</a:t>
            </a:r>
          </a:p>
          <a:p>
            <a:pPr marL="0" lvl="0" indent="0" algn="ctr">
              <a:spcBef>
                <a:spcPts val="0"/>
              </a:spcBef>
              <a:buNone/>
            </a:pPr>
            <a:r>
              <a:rPr lang="tr-TR" sz="1600" noProof="1" smtClean="0">
                <a:solidFill>
                  <a:srgbClr val="000066"/>
                </a:solidFill>
                <a:latin typeface="Arial Narrow" panose="020B0606020202030204" pitchFamily="34" charset="0"/>
              </a:rPr>
              <a:t>for the next 5 years is as follows,</a:t>
            </a:r>
          </a:p>
          <a:p>
            <a:pPr marL="0" lvl="0" indent="0" algn="ctr">
              <a:spcBef>
                <a:spcPts val="0"/>
              </a:spcBef>
              <a:buNone/>
            </a:pPr>
            <a:r>
              <a:rPr lang="tr-TR" sz="1600" noProof="1" smtClean="0">
                <a:solidFill>
                  <a:srgbClr val="000066"/>
                </a:solidFill>
                <a:latin typeface="Arial Narrow" panose="020B0606020202030204" pitchFamily="34" charset="0"/>
              </a:rPr>
              <a:t>what would be the yield curve</a:t>
            </a:r>
          </a:p>
          <a:p>
            <a:pPr marL="0" lvl="0" indent="0" algn="ctr">
              <a:spcBef>
                <a:spcPts val="0"/>
              </a:spcBef>
              <a:buNone/>
            </a:pPr>
            <a:r>
              <a:rPr lang="tr-TR" sz="1600" noProof="1" smtClean="0">
                <a:solidFill>
                  <a:srgbClr val="000066"/>
                </a:solidFill>
                <a:latin typeface="Arial Narrow" panose="020B0606020202030204" pitchFamily="34" charset="0"/>
              </a:rPr>
              <a:t>according to the expectations theory?</a:t>
            </a:r>
          </a:p>
        </p:txBody>
      </p:sp>
      <p:pic>
        <p:nvPicPr>
          <p:cNvPr id="3" name="Resim 2"/>
          <p:cNvPicPr>
            <a:picLocks noChangeAspect="1"/>
          </p:cNvPicPr>
          <p:nvPr/>
        </p:nvPicPr>
        <p:blipFill>
          <a:blip r:embed="rId3"/>
          <a:stretch>
            <a:fillRect/>
          </a:stretch>
        </p:blipFill>
        <p:spPr>
          <a:xfrm>
            <a:off x="467544" y="4995729"/>
            <a:ext cx="3672408" cy="1601623"/>
          </a:xfrm>
          <a:prstGeom prst="rect">
            <a:avLst/>
          </a:prstGeom>
        </p:spPr>
      </p:pic>
      <p:pic>
        <p:nvPicPr>
          <p:cNvPr id="6" name="Resim 5"/>
          <p:cNvPicPr>
            <a:picLocks noChangeAspect="1"/>
          </p:cNvPicPr>
          <p:nvPr/>
        </p:nvPicPr>
        <p:blipFill>
          <a:blip r:embed="rId4"/>
          <a:stretch>
            <a:fillRect/>
          </a:stretch>
        </p:blipFill>
        <p:spPr>
          <a:xfrm>
            <a:off x="4650497" y="1412274"/>
            <a:ext cx="4385999" cy="5257086"/>
          </a:xfrm>
          <a:prstGeom prst="rect">
            <a:avLst/>
          </a:prstGeom>
        </p:spPr>
      </p:pic>
      <p:pic>
        <p:nvPicPr>
          <p:cNvPr id="7" name="Resim 6"/>
          <p:cNvPicPr>
            <a:picLocks noChangeAspect="1"/>
          </p:cNvPicPr>
          <p:nvPr/>
        </p:nvPicPr>
        <p:blipFill>
          <a:blip r:embed="rId5"/>
          <a:stretch>
            <a:fillRect/>
          </a:stretch>
        </p:blipFill>
        <p:spPr>
          <a:xfrm>
            <a:off x="395536" y="1628800"/>
            <a:ext cx="3181696" cy="642177"/>
          </a:xfrm>
          <a:prstGeom prst="rect">
            <a:avLst/>
          </a:prstGeom>
        </p:spPr>
      </p:pic>
      <p:sp>
        <p:nvSpPr>
          <p:cNvPr id="2" name="Dikdörtgen 1"/>
          <p:cNvSpPr/>
          <p:nvPr/>
        </p:nvSpPr>
        <p:spPr>
          <a:xfrm>
            <a:off x="467544" y="1772816"/>
            <a:ext cx="432048"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30689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5" y="116632"/>
            <a:ext cx="2088232" cy="2448272"/>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[6] Interest </a:t>
            </a:r>
            <a:r>
              <a:rPr lang="tr-TR" sz="2400" smtClean="0">
                <a:solidFill>
                  <a:srgbClr val="800000"/>
                </a:solidFill>
                <a:latin typeface="Arial Narrow" pitchFamily="34" charset="0"/>
              </a:rPr>
              <a:t>Rates</a:t>
            </a:r>
            <a:r>
              <a:rPr lang="tr-TR" sz="1200" smtClean="0">
                <a:solidFill>
                  <a:srgbClr val="800000"/>
                </a:solidFill>
                <a:latin typeface="Arial Narrow" pitchFamily="34" charset="0"/>
              </a:rPr>
              <a:t/>
            </a:r>
            <a:br>
              <a:rPr lang="tr-TR" sz="1200" smtClean="0">
                <a:solidFill>
                  <a:srgbClr val="800000"/>
                </a:solidFill>
                <a:latin typeface="Arial Narrow" pitchFamily="34" charset="0"/>
              </a:rPr>
            </a:br>
            <a:r>
              <a:rPr lang="tr-TR" sz="1200">
                <a:solidFill>
                  <a:srgbClr val="800000"/>
                </a:solidFill>
                <a:latin typeface="Arial Narrow" pitchFamily="34" charset="0"/>
              </a:rPr>
              <a:t/>
            </a:r>
            <a:br>
              <a:rPr lang="tr-TR" sz="1200">
                <a:solidFill>
                  <a:srgbClr val="800000"/>
                </a:solidFill>
                <a:latin typeface="Arial Narrow" pitchFamily="34" charset="0"/>
              </a:rPr>
            </a:br>
            <a:r>
              <a:rPr lang="tr-TR" sz="2400" smtClean="0">
                <a:latin typeface="Arial Narrow" pitchFamily="34" charset="0"/>
              </a:rPr>
              <a:t>Liquidity </a:t>
            </a:r>
            <a:r>
              <a:rPr lang="tr-TR" sz="2400" dirty="0" smtClean="0">
                <a:latin typeface="Arial Narrow" pitchFamily="34" charset="0"/>
              </a:rPr>
              <a:t>Premium </a:t>
            </a:r>
            <a:r>
              <a:rPr lang="tr-TR" sz="2400" dirty="0" err="1" smtClean="0">
                <a:latin typeface="Arial Narrow" pitchFamily="34" charset="0"/>
              </a:rPr>
              <a:t>Theory</a:t>
            </a:r>
            <a:endParaRPr lang="tr-TR" sz="2400" dirty="0">
              <a:latin typeface="Arial Narrow" pitchFamily="34" charset="0"/>
            </a:endParaRPr>
          </a:p>
        </p:txBody>
      </p:sp>
      <p:sp>
        <p:nvSpPr>
          <p:cNvPr id="5" name="Content Placeholder 4"/>
          <p:cNvSpPr>
            <a:spLocks noGrp="1"/>
          </p:cNvSpPr>
          <p:nvPr>
            <p:ph idx="1"/>
          </p:nvPr>
        </p:nvSpPr>
        <p:spPr>
          <a:xfrm>
            <a:off x="323527" y="2708920"/>
            <a:ext cx="1872209" cy="3888432"/>
          </a:xfrm>
          <a:ln w="25400">
            <a:noFill/>
          </a:ln>
        </p:spPr>
        <p:txBody>
          <a:bodyPr>
            <a:noAutofit/>
          </a:bodyPr>
          <a:lstStyle/>
          <a:p>
            <a:pPr marL="0" lvl="0" indent="0" algn="ctr">
              <a:spcBef>
                <a:spcPts val="0"/>
              </a:spcBef>
              <a:buNone/>
            </a:pPr>
            <a:r>
              <a:rPr lang="tr-TR" sz="1600" noProof="1" smtClean="0">
                <a:latin typeface="Arial Narrow" panose="020B0606020202030204" pitchFamily="34" charset="0"/>
              </a:rPr>
              <a:t>Because</a:t>
            </a:r>
          </a:p>
          <a:p>
            <a:pPr marL="0" lvl="0" indent="0" algn="ctr">
              <a:spcBef>
                <a:spcPts val="0"/>
              </a:spcBef>
              <a:buNone/>
            </a:pPr>
            <a:r>
              <a:rPr lang="tr-TR" sz="1600" noProof="1" smtClean="0">
                <a:latin typeface="Arial Narrow" panose="020B0606020202030204" pitchFamily="34" charset="0"/>
              </a:rPr>
              <a:t>the liquidity premium</a:t>
            </a:r>
          </a:p>
          <a:p>
            <a:pPr marL="0" lvl="0" indent="0" algn="ctr">
              <a:spcBef>
                <a:spcPts val="0"/>
              </a:spcBef>
              <a:buNone/>
            </a:pPr>
            <a:r>
              <a:rPr lang="tr-TR" sz="1600" noProof="1" smtClean="0">
                <a:latin typeface="Arial Narrow" panose="020B0606020202030204" pitchFamily="34" charset="0"/>
              </a:rPr>
              <a:t>is always positive</a:t>
            </a:r>
          </a:p>
          <a:p>
            <a:pPr marL="0" lvl="0" indent="0" algn="ctr">
              <a:spcBef>
                <a:spcPts val="0"/>
              </a:spcBef>
              <a:buNone/>
            </a:pPr>
            <a:r>
              <a:rPr lang="tr-TR" sz="1600" noProof="1" smtClean="0">
                <a:latin typeface="Arial Narrow" panose="020B0606020202030204" pitchFamily="34" charset="0"/>
              </a:rPr>
              <a:t>and grows</a:t>
            </a:r>
          </a:p>
          <a:p>
            <a:pPr marL="0" lvl="0" indent="0" algn="ctr">
              <a:spcBef>
                <a:spcPts val="0"/>
              </a:spcBef>
              <a:buNone/>
            </a:pPr>
            <a:r>
              <a:rPr lang="tr-TR" sz="1600" noProof="1" smtClean="0">
                <a:latin typeface="Arial Narrow" panose="020B0606020202030204" pitchFamily="34" charset="0"/>
              </a:rPr>
              <a:t>as the term to maturity</a:t>
            </a:r>
          </a:p>
          <a:p>
            <a:pPr marL="0" lvl="0" indent="0" algn="ctr">
              <a:spcBef>
                <a:spcPts val="0"/>
              </a:spcBef>
              <a:buNone/>
            </a:pPr>
            <a:r>
              <a:rPr lang="tr-TR" sz="1600" noProof="1" smtClean="0">
                <a:latin typeface="Arial Narrow" panose="020B0606020202030204" pitchFamily="34" charset="0"/>
              </a:rPr>
              <a:t>increases,</a:t>
            </a:r>
          </a:p>
          <a:p>
            <a:pPr marL="0" lvl="0" indent="0" algn="ctr">
              <a:spcBef>
                <a:spcPts val="0"/>
              </a:spcBef>
              <a:buNone/>
            </a:pPr>
            <a:r>
              <a:rPr lang="tr-TR" sz="1600" noProof="1" smtClean="0">
                <a:latin typeface="Arial Narrow" panose="020B0606020202030204" pitchFamily="34" charset="0"/>
              </a:rPr>
              <a:t>the yield curve implied by the liquidity premium theory</a:t>
            </a:r>
          </a:p>
          <a:p>
            <a:pPr marL="0" lvl="0" indent="0" algn="ctr">
              <a:spcBef>
                <a:spcPts val="0"/>
              </a:spcBef>
              <a:buNone/>
            </a:pPr>
            <a:r>
              <a:rPr lang="tr-TR" sz="1600" noProof="1" smtClean="0">
                <a:latin typeface="Arial Narrow" panose="020B0606020202030204" pitchFamily="34" charset="0"/>
              </a:rPr>
              <a:t>is always above</a:t>
            </a:r>
          </a:p>
          <a:p>
            <a:pPr marL="0" lvl="0" indent="0" algn="ctr">
              <a:spcBef>
                <a:spcPts val="0"/>
              </a:spcBef>
              <a:buNone/>
            </a:pPr>
            <a:r>
              <a:rPr lang="tr-TR" sz="1600" noProof="1" smtClean="0">
                <a:latin typeface="Arial Narrow" panose="020B0606020202030204" pitchFamily="34" charset="0"/>
              </a:rPr>
              <a:t>the yield curve implied by the expectations theory and</a:t>
            </a:r>
          </a:p>
          <a:p>
            <a:pPr marL="0" lvl="0" indent="0" algn="ctr">
              <a:spcBef>
                <a:spcPts val="0"/>
              </a:spcBef>
              <a:buNone/>
            </a:pPr>
            <a:r>
              <a:rPr lang="tr-TR" sz="1600" noProof="1" smtClean="0">
                <a:latin typeface="Arial Narrow" panose="020B0606020202030204" pitchFamily="34" charset="0"/>
              </a:rPr>
              <a:t>has a steeper slope.</a:t>
            </a:r>
          </a:p>
        </p:txBody>
      </p:sp>
      <p:pic>
        <p:nvPicPr>
          <p:cNvPr id="7" name="Resim 6"/>
          <p:cNvPicPr>
            <a:picLocks noChangeAspect="1"/>
          </p:cNvPicPr>
          <p:nvPr/>
        </p:nvPicPr>
        <p:blipFill>
          <a:blip r:embed="rId3"/>
          <a:stretch>
            <a:fillRect/>
          </a:stretch>
        </p:blipFill>
        <p:spPr>
          <a:xfrm>
            <a:off x="2279482" y="389817"/>
            <a:ext cx="6468981" cy="6135528"/>
          </a:xfrm>
          <a:prstGeom prst="rect">
            <a:avLst/>
          </a:prstGeom>
        </p:spPr>
      </p:pic>
    </p:spTree>
    <p:extLst>
      <p:ext uri="{BB962C8B-B14F-4D97-AF65-F5344CB8AC3E}">
        <p14:creationId xmlns:p14="http://schemas.microsoft.com/office/powerpoint/2010/main" val="35309115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[7] Stock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latin typeface="Arial Narrow" pitchFamily="34" charset="0"/>
              </a:rPr>
              <a:t>Computing </a:t>
            </a: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Price</a:t>
            </a:r>
            <a:r>
              <a:rPr lang="tr-TR" sz="2400" dirty="0" smtClean="0">
                <a:latin typeface="Arial Narrow" pitchFamily="34" charset="0"/>
              </a:rPr>
              <a:t> of </a:t>
            </a:r>
            <a:r>
              <a:rPr lang="tr-TR" sz="2400" dirty="0" err="1" smtClean="0">
                <a:latin typeface="Arial Narrow" pitchFamily="34" charset="0"/>
              </a:rPr>
              <a:t>Common</a:t>
            </a:r>
            <a:r>
              <a:rPr lang="tr-TR" sz="2400" dirty="0" smtClean="0">
                <a:latin typeface="Arial Narrow" pitchFamily="34" charset="0"/>
              </a:rPr>
              <a:t> </a:t>
            </a:r>
            <a:r>
              <a:rPr lang="tr-TR" sz="2400" dirty="0" err="1" smtClean="0">
                <a:latin typeface="Arial Narrow" pitchFamily="34" charset="0"/>
              </a:rPr>
              <a:t>Stock</a:t>
            </a:r>
            <a:endParaRPr lang="tr-TR" sz="2400" dirty="0">
              <a:latin typeface="Arial Narrow" pitchFamily="34" charset="0"/>
            </a:endParaRPr>
          </a:p>
        </p:txBody>
      </p:sp>
      <p:sp>
        <p:nvSpPr>
          <p:cNvPr id="5" name="Content Placeholder 4"/>
          <p:cNvSpPr>
            <a:spLocks noGrp="1"/>
          </p:cNvSpPr>
          <p:nvPr>
            <p:ph idx="1"/>
          </p:nvPr>
        </p:nvSpPr>
        <p:spPr>
          <a:xfrm>
            <a:off x="457200" y="1600200"/>
            <a:ext cx="8229600" cy="4637112"/>
          </a:xfrm>
          <a:ln w="25400">
            <a:noFill/>
          </a:ln>
        </p:spPr>
        <p:txBody>
          <a:bodyPr>
            <a:noAutofit/>
          </a:bodyPr>
          <a:lstStyle/>
          <a:p>
            <a:pPr marL="0" lvl="0" indent="0" algn="ctr">
              <a:spcBef>
                <a:spcPts val="0"/>
              </a:spcBef>
              <a:buNone/>
            </a:pPr>
            <a:r>
              <a:rPr lang="tr-TR" sz="1800" dirty="0" err="1" smtClean="0">
                <a:latin typeface="Arial Narrow" panose="020B0606020202030204" pitchFamily="34" charset="0"/>
              </a:rPr>
              <a:t>Common</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 is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principal</a:t>
            </a:r>
            <a:r>
              <a:rPr lang="tr-TR" sz="1800" dirty="0" smtClean="0">
                <a:latin typeface="Arial Narrow" panose="020B0606020202030204" pitchFamily="34" charset="0"/>
              </a:rPr>
              <a:t> </a:t>
            </a:r>
            <a:r>
              <a:rPr lang="tr-TR" sz="1800" dirty="0" err="1" smtClean="0">
                <a:latin typeface="Arial Narrow" panose="020B0606020202030204" pitchFamily="34" charset="0"/>
              </a:rPr>
              <a:t>way</a:t>
            </a:r>
            <a:r>
              <a:rPr lang="tr-TR" sz="1800" dirty="0" smtClean="0">
                <a:latin typeface="Arial Narrow" panose="020B0606020202030204" pitchFamily="34" charset="0"/>
              </a:rPr>
              <a:t> </a:t>
            </a:r>
            <a:r>
              <a:rPr lang="tr-TR" sz="1800" dirty="0" err="1" smtClean="0">
                <a:latin typeface="Arial Narrow" panose="020B0606020202030204" pitchFamily="34" charset="0"/>
              </a:rPr>
              <a:t>that</a:t>
            </a:r>
            <a:r>
              <a:rPr lang="tr-TR" sz="1800" dirty="0" smtClean="0">
                <a:latin typeface="Arial Narrow" panose="020B0606020202030204" pitchFamily="34" charset="0"/>
              </a:rPr>
              <a:t> </a:t>
            </a:r>
            <a:r>
              <a:rPr lang="tr-TR" sz="1800" dirty="0" err="1" smtClean="0">
                <a:latin typeface="Arial Narrow" panose="020B0606020202030204" pitchFamily="34" charset="0"/>
              </a:rPr>
              <a:t>corporations</a:t>
            </a:r>
            <a:r>
              <a:rPr lang="tr-TR" sz="1800" dirty="0" smtClean="0">
                <a:latin typeface="Arial Narrow" panose="020B0606020202030204" pitchFamily="34" charset="0"/>
              </a:rPr>
              <a:t> </a:t>
            </a:r>
            <a:r>
              <a:rPr lang="tr-TR" sz="1800" dirty="0" err="1" smtClean="0">
                <a:latin typeface="Arial Narrow" panose="020B0606020202030204" pitchFamily="34" charset="0"/>
              </a:rPr>
              <a:t>raise</a:t>
            </a:r>
            <a:r>
              <a:rPr lang="tr-TR" sz="1800" dirty="0" smtClean="0">
                <a:latin typeface="Arial Narrow" panose="020B0606020202030204" pitchFamily="34" charset="0"/>
              </a:rPr>
              <a:t> </a:t>
            </a:r>
            <a:r>
              <a:rPr lang="tr-TR" sz="1800" dirty="0" err="1" smtClean="0">
                <a:latin typeface="Arial Narrow" panose="020B0606020202030204" pitchFamily="34" charset="0"/>
              </a:rPr>
              <a:t>equity</a:t>
            </a:r>
            <a:r>
              <a:rPr lang="tr-TR" sz="1800" dirty="0" smtClean="0">
                <a:latin typeface="Arial Narrow" panose="020B0606020202030204" pitchFamily="34" charset="0"/>
              </a:rPr>
              <a:t> </a:t>
            </a:r>
            <a:r>
              <a:rPr lang="tr-TR" sz="1800" dirty="0" err="1" smtClean="0">
                <a:latin typeface="Arial Narrow" panose="020B0606020202030204" pitchFamily="34" charset="0"/>
              </a:rPr>
              <a:t>capital</a:t>
            </a:r>
            <a:r>
              <a:rPr lang="tr-TR" sz="1800" dirty="0" smtClean="0">
                <a:latin typeface="Arial Narrow" panose="020B0606020202030204" pitchFamily="34" charset="0"/>
              </a:rPr>
              <a:t>.</a:t>
            </a:r>
          </a:p>
          <a:p>
            <a:pPr marL="0" lvl="0" indent="0" algn="ctr">
              <a:spcBef>
                <a:spcPts val="0"/>
              </a:spcBef>
              <a:buNone/>
            </a:pPr>
            <a:r>
              <a:rPr lang="tr-TR" sz="1800" noProof="1" smtClean="0">
                <a:latin typeface="Arial Narrow" panose="020B0606020202030204" pitchFamily="34" charset="0"/>
              </a:rPr>
              <a:t>Stockholders – those who hold stock in a Corporation –</a:t>
            </a:r>
          </a:p>
          <a:p>
            <a:pPr marL="0" lvl="0" indent="0" algn="ctr">
              <a:spcBef>
                <a:spcPts val="0"/>
              </a:spcBef>
              <a:buNone/>
            </a:pPr>
            <a:r>
              <a:rPr lang="tr-TR" sz="1800" noProof="1" smtClean="0">
                <a:latin typeface="Arial Narrow" panose="020B0606020202030204" pitchFamily="34" charset="0"/>
              </a:rPr>
              <a:t>own an interest in the Corporation proportional to the percentage outstanding shares they own.</a:t>
            </a:r>
          </a:p>
          <a:p>
            <a:pPr marL="0" lvl="0" indent="0" algn="ctr">
              <a:spcBef>
                <a:spcPts val="0"/>
              </a:spcBef>
              <a:buNone/>
            </a:pPr>
            <a:r>
              <a:rPr lang="tr-TR" sz="1800" noProof="1" smtClean="0">
                <a:latin typeface="Arial Narrow" panose="020B0606020202030204" pitchFamily="34" charset="0"/>
              </a:rPr>
              <a:t>This ownership interest gives them the right to vote</a:t>
            </a:r>
          </a:p>
          <a:p>
            <a:pPr marL="0" lvl="0" indent="0" algn="ctr">
              <a:spcBef>
                <a:spcPts val="0"/>
              </a:spcBef>
              <a:buNone/>
            </a:pPr>
            <a:r>
              <a:rPr lang="tr-TR" sz="1800" noProof="1" smtClean="0">
                <a:latin typeface="Arial Narrow" panose="020B0606020202030204" pitchFamily="34" charset="0"/>
              </a:rPr>
              <a:t>and to be the residual claimant of all funds flowing into the firm (known as cash flows),</a:t>
            </a:r>
          </a:p>
          <a:p>
            <a:pPr marL="0" lvl="0" indent="0" algn="ctr">
              <a:spcBef>
                <a:spcPts val="0"/>
              </a:spcBef>
              <a:buNone/>
            </a:pPr>
            <a:r>
              <a:rPr lang="tr-TR" sz="1800" noProof="1" smtClean="0">
                <a:latin typeface="Arial Narrow" panose="020B0606020202030204" pitchFamily="34" charset="0"/>
              </a:rPr>
              <a:t>meaning that the stockholder receives whatever remains</a:t>
            </a:r>
          </a:p>
          <a:p>
            <a:pPr marL="0" lvl="0" indent="0" algn="ctr">
              <a:spcBef>
                <a:spcPts val="0"/>
              </a:spcBef>
              <a:buNone/>
            </a:pPr>
            <a:r>
              <a:rPr lang="tr-TR" sz="1800" noProof="1" smtClean="0">
                <a:latin typeface="Arial Narrow" panose="020B0606020202030204" pitchFamily="34" charset="0"/>
              </a:rPr>
              <a:t>after all other claims against the firm’s assets have been satisfied.</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Stockholders may receive dividends from the net earnings of the Corporation.</a:t>
            </a:r>
          </a:p>
          <a:p>
            <a:pPr marL="0" lvl="0" indent="0" algn="ctr">
              <a:spcBef>
                <a:spcPts val="0"/>
              </a:spcBef>
              <a:buNone/>
            </a:pPr>
            <a:r>
              <a:rPr lang="tr-TR" sz="1800" noProof="1" smtClean="0">
                <a:latin typeface="Arial Narrow" panose="020B0606020202030204" pitchFamily="34" charset="0"/>
              </a:rPr>
              <a:t>Dividends are payments made periodically,</a:t>
            </a:r>
          </a:p>
          <a:p>
            <a:pPr marL="0" lvl="0" indent="0" algn="ctr">
              <a:spcBef>
                <a:spcPts val="0"/>
              </a:spcBef>
              <a:buNone/>
            </a:pPr>
            <a:r>
              <a:rPr lang="tr-TR" sz="1800" noProof="1" smtClean="0">
                <a:latin typeface="Arial Narrow" panose="020B0606020202030204" pitchFamily="34" charset="0"/>
              </a:rPr>
              <a:t>usually every quarter in the U.S. and annually in Turkey, to stockholders.</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In addition, the stocholder has the right to sell the stock.</a:t>
            </a:r>
          </a:p>
          <a:p>
            <a:pPr marL="0" lvl="0" indent="0" algn="ctr">
              <a:spcBef>
                <a:spcPts val="0"/>
              </a:spcBef>
              <a:buNone/>
            </a:pPr>
            <a:r>
              <a:rPr lang="tr-TR" sz="1800" noProof="1" smtClean="0">
                <a:latin typeface="Arial Narrow" panose="020B0606020202030204" pitchFamily="34" charset="0"/>
              </a:rPr>
              <a:t>One basic principle of finance is that the value of any investment is found by computing</a:t>
            </a:r>
          </a:p>
          <a:p>
            <a:pPr marL="0" lvl="0" indent="0" algn="ctr">
              <a:spcBef>
                <a:spcPts val="0"/>
              </a:spcBef>
              <a:buNone/>
            </a:pPr>
            <a:r>
              <a:rPr lang="tr-TR" sz="1800" noProof="1" smtClean="0">
                <a:latin typeface="Arial Narrow" panose="020B0606020202030204" pitchFamily="34" charset="0"/>
              </a:rPr>
              <a:t>the present value of all cash flows the investment will generate over its life.</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cash flows a stockholder might earn from stock are dividends, the sales price, or both.</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12012321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[7] Stock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One-Period</a:t>
            </a:r>
            <a:r>
              <a:rPr lang="tr-TR" sz="2400" dirty="0" smtClean="0">
                <a:latin typeface="Arial Narrow" pitchFamily="34" charset="0"/>
              </a:rPr>
              <a:t> </a:t>
            </a:r>
            <a:r>
              <a:rPr lang="tr-TR" sz="2400" dirty="0" err="1" smtClean="0">
                <a:latin typeface="Arial Narrow" pitchFamily="34" charset="0"/>
              </a:rPr>
              <a:t>Valuation</a:t>
            </a:r>
            <a:r>
              <a:rPr lang="tr-TR" sz="2400" dirty="0" smtClean="0">
                <a:latin typeface="Arial Narrow" pitchFamily="34" charset="0"/>
              </a:rPr>
              <a:t> Model</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r>
              <a:rPr lang="tr-TR" sz="1800" dirty="0" smtClean="0">
                <a:latin typeface="Arial Narrow" panose="020B0606020202030204" pitchFamily="34" charset="0"/>
              </a:rPr>
              <a:t> </a:t>
            </a:r>
            <a:r>
              <a:rPr lang="tr-TR" sz="1800" dirty="0" err="1" smtClean="0">
                <a:latin typeface="Arial Narrow" panose="020B0606020202030204" pitchFamily="34" charset="0"/>
              </a:rPr>
              <a:t>today</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you</a:t>
            </a:r>
            <a:r>
              <a:rPr lang="tr-TR" sz="1800" dirty="0" smtClean="0">
                <a:latin typeface="Arial Narrow" panose="020B0606020202030204" pitchFamily="34" charset="0"/>
              </a:rPr>
              <a:t> </a:t>
            </a:r>
            <a:r>
              <a:rPr lang="tr-TR" sz="1800" dirty="0" err="1" smtClean="0">
                <a:latin typeface="Arial Narrow" panose="020B0606020202030204" pitchFamily="34" charset="0"/>
              </a:rPr>
              <a:t>need</a:t>
            </a:r>
            <a:r>
              <a:rPr lang="tr-TR" sz="1800" dirty="0" smtClean="0">
                <a:latin typeface="Arial Narrow" panose="020B0606020202030204" pitchFamily="34" charset="0"/>
              </a:rPr>
              <a:t>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find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discounted</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expected</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 (</a:t>
            </a:r>
            <a:r>
              <a:rPr lang="tr-TR" sz="1800" dirty="0" err="1" smtClean="0">
                <a:latin typeface="Arial Narrow" panose="020B0606020202030204" pitchFamily="34" charset="0"/>
              </a:rPr>
              <a:t>future</a:t>
            </a:r>
            <a:r>
              <a:rPr lang="tr-TR" sz="1800" dirty="0" smtClean="0">
                <a:latin typeface="Arial Narrow" panose="020B0606020202030204" pitchFamily="34" charset="0"/>
              </a:rPr>
              <a:t> </a:t>
            </a:r>
            <a:r>
              <a:rPr lang="tr-TR" sz="1800" dirty="0" err="1" smtClean="0">
                <a:latin typeface="Arial Narrow" panose="020B0606020202030204" pitchFamily="34" charset="0"/>
              </a:rPr>
              <a:t>payments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 </a:t>
            </a:r>
            <a:r>
              <a:rPr lang="tr-TR" sz="1800" dirty="0" err="1" smtClean="0">
                <a:latin typeface="Arial Narrow" panose="020B0606020202030204" pitchFamily="34" charset="0"/>
              </a:rPr>
              <a:t>consist</a:t>
            </a:r>
            <a:r>
              <a:rPr lang="tr-TR" sz="1800" dirty="0" smtClean="0">
                <a:latin typeface="Arial Narrow" panose="020B0606020202030204" pitchFamily="34" charset="0"/>
              </a:rPr>
              <a:t> of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a:t>
            </a:r>
            <a:r>
              <a:rPr lang="tr-TR" sz="1800" dirty="0" err="1" smtClean="0">
                <a:latin typeface="Arial Narrow" panose="020B0606020202030204" pitchFamily="34" charset="0"/>
              </a:rPr>
              <a:t>payment</a:t>
            </a:r>
            <a:r>
              <a:rPr lang="tr-TR" sz="1800" dirty="0" smtClean="0">
                <a:latin typeface="Arial Narrow" panose="020B0606020202030204" pitchFamily="34" charset="0"/>
              </a:rPr>
              <a:t> </a:t>
            </a:r>
            <a:r>
              <a:rPr lang="tr-TR" sz="1800" dirty="0" err="1" smtClean="0">
                <a:latin typeface="Arial Narrow" panose="020B0606020202030204" pitchFamily="34" charset="0"/>
              </a:rPr>
              <a:t>plus</a:t>
            </a:r>
            <a:r>
              <a:rPr lang="tr-TR" sz="1800" dirty="0" smtClean="0">
                <a:latin typeface="Arial Narrow" panose="020B0606020202030204" pitchFamily="34" charset="0"/>
              </a:rPr>
              <a:t> a final </a:t>
            </a:r>
            <a:r>
              <a:rPr lang="tr-TR" sz="1800" dirty="0" err="1" smtClean="0">
                <a:latin typeface="Arial Narrow" panose="020B0606020202030204" pitchFamily="34" charset="0"/>
              </a:rPr>
              <a:t>sales</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a:t>
            </a: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1800" dirty="0">
              <a:latin typeface="Arial Narrow" panose="020B0606020202030204" pitchFamily="34" charset="0"/>
            </a:endParaRPr>
          </a:p>
          <a:p>
            <a:pPr marL="0" lvl="0" indent="0" algn="ctr">
              <a:spcBef>
                <a:spcPts val="0"/>
              </a:spcBef>
              <a:buNone/>
            </a:pPr>
            <a:r>
              <a:rPr lang="tr-TR" sz="1600" dirty="0" smtClean="0">
                <a:latin typeface="Arial Narrow" panose="020B0606020202030204" pitchFamily="34" charset="0"/>
              </a:rPr>
              <a:t>(</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zero</a:t>
            </a:r>
            <a:r>
              <a:rPr lang="tr-TR" sz="1600" dirty="0" smtClean="0">
                <a:latin typeface="Arial Narrow" panose="020B0606020202030204" pitchFamily="34" charset="0"/>
              </a:rPr>
              <a:t> </a:t>
            </a:r>
            <a:r>
              <a:rPr lang="tr-TR" sz="1600" dirty="0" err="1" smtClean="0">
                <a:latin typeface="Arial Narrow" panose="020B0606020202030204" pitchFamily="34" charset="0"/>
              </a:rPr>
              <a:t>subscript</a:t>
            </a:r>
            <a:r>
              <a:rPr lang="tr-TR" sz="1600" dirty="0" smtClean="0">
                <a:latin typeface="Arial Narrow" panose="020B0606020202030204" pitchFamily="34" charset="0"/>
              </a:rPr>
              <a:t> </a:t>
            </a:r>
            <a:r>
              <a:rPr lang="tr-TR" sz="1600" dirty="0" err="1" smtClean="0">
                <a:latin typeface="Arial Narrow" panose="020B0606020202030204" pitchFamily="34" charset="0"/>
              </a:rPr>
              <a:t>refers</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time </a:t>
            </a:r>
            <a:r>
              <a:rPr lang="tr-TR" sz="1600" dirty="0" err="1" smtClean="0">
                <a:latin typeface="Arial Narrow" panose="020B0606020202030204" pitchFamily="34" charset="0"/>
              </a:rPr>
              <a:t>period</a:t>
            </a:r>
            <a:r>
              <a:rPr lang="tr-TR" sz="1600" dirty="0" smtClean="0">
                <a:latin typeface="Arial Narrow" panose="020B0606020202030204" pitchFamily="34" charset="0"/>
              </a:rPr>
              <a:t> </a:t>
            </a:r>
            <a:r>
              <a:rPr lang="tr-TR" sz="1600" dirty="0" err="1" smtClean="0">
                <a:latin typeface="Arial Narrow" panose="020B0606020202030204" pitchFamily="34" charset="0"/>
              </a:rPr>
              <a:t>zero</a:t>
            </a:r>
            <a:r>
              <a:rPr lang="tr-TR" sz="1600" dirty="0" smtClean="0">
                <a:latin typeface="Arial Narrow" panose="020B0606020202030204" pitchFamily="34" charset="0"/>
              </a:rPr>
              <a:t>, </a:t>
            </a:r>
            <a:r>
              <a:rPr lang="tr-TR" sz="1600" dirty="0" err="1" smtClean="0">
                <a:latin typeface="Arial Narrow" panose="020B0606020202030204" pitchFamily="34" charset="0"/>
              </a:rPr>
              <a:t>or</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present</a:t>
            </a:r>
            <a:r>
              <a:rPr lang="tr-TR" sz="16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Div</a:t>
            </a:r>
            <a:r>
              <a:rPr lang="tr-TR" sz="1800" baseline="-25000" noProof="1" smtClean="0">
                <a:latin typeface="Arial Narrow" panose="020B0606020202030204" pitchFamily="34" charset="0"/>
              </a:rPr>
              <a:t>1</a:t>
            </a:r>
            <a:r>
              <a:rPr lang="tr-TR" sz="1800" noProof="1" smtClean="0">
                <a:latin typeface="Arial Narrow" panose="020B0606020202030204" pitchFamily="34" charset="0"/>
              </a:rPr>
              <a:t> = the dividend paid at the end of year 1</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P</a:t>
            </a:r>
            <a:r>
              <a:rPr lang="tr-TR" sz="1800" baseline="-25000" noProof="1" smtClean="0">
                <a:latin typeface="Arial Narrow" panose="020B0606020202030204" pitchFamily="34" charset="0"/>
              </a:rPr>
              <a:t>1</a:t>
            </a:r>
            <a:r>
              <a:rPr lang="tr-TR" sz="1800" noProof="1" smtClean="0">
                <a:latin typeface="Arial Narrow" panose="020B0606020202030204" pitchFamily="34" charset="0"/>
              </a:rPr>
              <a:t> = the price at the end of the first year; predicted sales price of the stock</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3405991" y="4869160"/>
            <a:ext cx="2332018" cy="864096"/>
          </a:xfrm>
          <a:prstGeom prst="rect">
            <a:avLst/>
          </a:prstGeom>
        </p:spPr>
      </p:pic>
    </p:spTree>
    <p:extLst>
      <p:ext uri="{BB962C8B-B14F-4D97-AF65-F5344CB8AC3E}">
        <p14:creationId xmlns:p14="http://schemas.microsoft.com/office/powerpoint/2010/main" val="1243883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[7] Stock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Generalized</a:t>
            </a:r>
            <a:r>
              <a:rPr lang="tr-TR" sz="2400" dirty="0" smtClean="0">
                <a:latin typeface="Arial Narrow" pitchFamily="34" charset="0"/>
              </a:rPr>
              <a:t> </a:t>
            </a:r>
            <a:r>
              <a:rPr lang="tr-TR" sz="2400" dirty="0" err="1" smtClean="0">
                <a:latin typeface="Arial Narrow" pitchFamily="34" charset="0"/>
              </a:rPr>
              <a:t>Dividend</a:t>
            </a:r>
            <a:r>
              <a:rPr lang="tr-TR" sz="2400" dirty="0" smtClean="0">
                <a:latin typeface="Arial Narrow" pitchFamily="34" charset="0"/>
              </a:rPr>
              <a:t> </a:t>
            </a:r>
            <a:r>
              <a:rPr lang="tr-TR" sz="2400" dirty="0" err="1" smtClean="0">
                <a:latin typeface="Arial Narrow" pitchFamily="34" charset="0"/>
              </a:rPr>
              <a:t>Valuation</a:t>
            </a:r>
            <a:r>
              <a:rPr lang="tr-TR" sz="2400" dirty="0" smtClean="0">
                <a:latin typeface="Arial Narrow" pitchFamily="34" charset="0"/>
              </a:rPr>
              <a:t> Model</a:t>
            </a:r>
            <a:endParaRPr lang="tr-TR" sz="2400" dirty="0">
              <a:latin typeface="Arial Narrow" pitchFamily="34" charset="0"/>
            </a:endParaRPr>
          </a:p>
        </p:txBody>
      </p:sp>
      <p:sp>
        <p:nvSpPr>
          <p:cNvPr id="5" name="Content Placeholder 4"/>
          <p:cNvSpPr>
            <a:spLocks noGrp="1"/>
          </p:cNvSpPr>
          <p:nvPr>
            <p:ph idx="1"/>
          </p:nvPr>
        </p:nvSpPr>
        <p:spPr>
          <a:xfrm>
            <a:off x="457200" y="1600200"/>
            <a:ext cx="8229600" cy="4709120"/>
          </a:xfrm>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smtClean="0">
                <a:latin typeface="Arial Narrow" panose="020B0606020202030204" pitchFamily="34" charset="0"/>
              </a:rPr>
              <a:t>Using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a:t>
            </a:r>
            <a:r>
              <a:rPr lang="tr-TR" sz="1800" dirty="0" err="1" smtClean="0">
                <a:latin typeface="Arial Narrow" panose="020B0606020202030204" pitchFamily="34" charset="0"/>
              </a:rPr>
              <a:t>concept</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we</a:t>
            </a:r>
            <a:r>
              <a:rPr lang="tr-TR" sz="1800" dirty="0" smtClean="0">
                <a:latin typeface="Arial Narrow" panose="020B0606020202030204" pitchFamily="34" charset="0"/>
              </a:rPr>
              <a:t> can </a:t>
            </a:r>
            <a:r>
              <a:rPr lang="tr-TR" sz="1800" dirty="0" err="1" smtClean="0">
                <a:latin typeface="Arial Narrow" panose="020B0606020202030204" pitchFamily="34" charset="0"/>
              </a:rPr>
              <a:t>extend</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one-period</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a:t>
            </a:r>
            <a:r>
              <a:rPr lang="tr-TR" sz="1800" dirty="0" err="1" smtClean="0">
                <a:latin typeface="Arial Narrow" panose="020B0606020202030204" pitchFamily="34" charset="0"/>
              </a:rPr>
              <a:t>valuation</a:t>
            </a:r>
            <a:r>
              <a:rPr lang="tr-TR" sz="1800" dirty="0" smtClean="0">
                <a:latin typeface="Arial Narrow" panose="020B0606020202030204" pitchFamily="34" charset="0"/>
              </a:rPr>
              <a:t> model </a:t>
            </a:r>
            <a:r>
              <a:rPr lang="tr-TR" sz="1800" dirty="0" err="1" smtClean="0">
                <a:latin typeface="Arial Narrow" panose="020B0606020202030204" pitchFamily="34" charset="0"/>
              </a:rPr>
              <a:t>to</a:t>
            </a:r>
            <a:r>
              <a:rPr lang="tr-TR" sz="1800" dirty="0" smtClean="0">
                <a:latin typeface="Arial Narrow" panose="020B0606020202030204" pitchFamily="34" charset="0"/>
              </a:rPr>
              <a:t> </a:t>
            </a:r>
            <a:r>
              <a:rPr lang="tr-TR" sz="1800" dirty="0" err="1" smtClean="0">
                <a:latin typeface="Arial Narrow" panose="020B0606020202030204" pitchFamily="34" charset="0"/>
              </a:rPr>
              <a:t>any</a:t>
            </a:r>
            <a:r>
              <a:rPr lang="tr-TR" sz="1800" dirty="0" smtClean="0">
                <a:latin typeface="Arial Narrow" panose="020B0606020202030204" pitchFamily="34" charset="0"/>
              </a:rPr>
              <a:t> </a:t>
            </a:r>
            <a:r>
              <a:rPr lang="tr-TR" sz="1800" dirty="0" err="1" smtClean="0">
                <a:latin typeface="Arial Narrow" panose="020B0606020202030204" pitchFamily="34" charset="0"/>
              </a:rPr>
              <a:t>number</a:t>
            </a:r>
            <a:r>
              <a:rPr lang="tr-TR" sz="1800" dirty="0" smtClean="0">
                <a:latin typeface="Arial Narrow" panose="020B0606020202030204" pitchFamily="34" charset="0"/>
              </a:rPr>
              <a:t> of </a:t>
            </a:r>
            <a:r>
              <a:rPr lang="tr-TR" sz="1800" dirty="0" err="1" smtClean="0">
                <a:latin typeface="Arial Narrow" panose="020B0606020202030204" pitchFamily="34" charset="0"/>
              </a:rPr>
              <a:t>periods</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 </a:t>
            </a:r>
            <a:r>
              <a:rPr lang="tr-TR" sz="1800" dirty="0" err="1" smtClean="0">
                <a:latin typeface="Arial Narrow" panose="020B0606020202030204" pitchFamily="34" charset="0"/>
              </a:rPr>
              <a:t>stock</a:t>
            </a:r>
            <a:r>
              <a:rPr lang="tr-TR" sz="1800" dirty="0" smtClean="0">
                <a:latin typeface="Arial Narrow" panose="020B0606020202030204" pitchFamily="34" charset="0"/>
              </a:rPr>
              <a:t> </a:t>
            </a:r>
            <a:r>
              <a:rPr lang="tr-TR" sz="1800" dirty="0" err="1" smtClean="0">
                <a:latin typeface="Arial Narrow" panose="020B0606020202030204" pitchFamily="34" charset="0"/>
              </a:rPr>
              <a:t>today</a:t>
            </a:r>
            <a:r>
              <a:rPr lang="tr-TR" sz="1800" dirty="0" smtClean="0">
                <a:latin typeface="Arial Narrow" panose="020B0606020202030204" pitchFamily="34" charset="0"/>
              </a:rPr>
              <a:t> is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present</a:t>
            </a:r>
            <a:r>
              <a:rPr lang="tr-TR" sz="1800" dirty="0" smtClean="0">
                <a:latin typeface="Arial Narrow" panose="020B0606020202030204" pitchFamily="34" charset="0"/>
              </a:rPr>
              <a:t> </a:t>
            </a:r>
            <a:r>
              <a:rPr lang="tr-TR" sz="1800" dirty="0" err="1" smtClean="0">
                <a:latin typeface="Arial Narrow" panose="020B0606020202030204" pitchFamily="34" charset="0"/>
              </a:rPr>
              <a:t>value</a:t>
            </a:r>
            <a:r>
              <a:rPr lang="tr-TR" sz="1800" dirty="0" smtClean="0">
                <a:latin typeface="Arial Narrow" panose="020B0606020202030204" pitchFamily="34" charset="0"/>
              </a:rPr>
              <a:t> of </a:t>
            </a:r>
            <a:r>
              <a:rPr lang="tr-TR" sz="1800" dirty="0" err="1" smtClean="0">
                <a:latin typeface="Arial Narrow" panose="020B0606020202030204" pitchFamily="34" charset="0"/>
              </a:rPr>
              <a:t>all</a:t>
            </a:r>
            <a:r>
              <a:rPr lang="tr-TR" sz="1800" dirty="0" smtClean="0">
                <a:latin typeface="Arial Narrow" panose="020B0606020202030204" pitchFamily="34" charset="0"/>
              </a:rPr>
              <a:t> </a:t>
            </a:r>
            <a:r>
              <a:rPr lang="tr-TR" sz="1800" dirty="0" err="1" smtClean="0">
                <a:latin typeface="Arial Narrow" panose="020B0606020202030204" pitchFamily="34" charset="0"/>
              </a:rPr>
              <a:t>future</a:t>
            </a:r>
            <a:r>
              <a:rPr lang="tr-TR" sz="1800" dirty="0" smtClean="0">
                <a:latin typeface="Arial Narrow" panose="020B0606020202030204" pitchFamily="34" charset="0"/>
              </a:rPr>
              <a:t> </a:t>
            </a:r>
            <a:r>
              <a:rPr lang="tr-TR" sz="1800" dirty="0" err="1" smtClean="0">
                <a:latin typeface="Arial Narrow" panose="020B0606020202030204" pitchFamily="34" charset="0"/>
              </a:rPr>
              <a:t>cash</a:t>
            </a:r>
            <a:r>
              <a:rPr lang="tr-TR" sz="1800" dirty="0" smtClean="0">
                <a:latin typeface="Arial Narrow" panose="020B0606020202030204" pitchFamily="34" charset="0"/>
              </a:rPr>
              <a:t> </a:t>
            </a:r>
            <a:r>
              <a:rPr lang="tr-TR" sz="1800" dirty="0" err="1" smtClean="0">
                <a:latin typeface="Arial Narrow" panose="020B0606020202030204" pitchFamily="34" charset="0"/>
              </a:rPr>
              <a:t>flows</a:t>
            </a:r>
            <a:r>
              <a:rPr lang="tr-TR" sz="1800" dirty="0" smtClean="0">
                <a:latin typeface="Arial Narrow" panose="020B0606020202030204" pitchFamily="34" charset="0"/>
              </a:rPr>
              <a:t>.</a:t>
            </a:r>
          </a:p>
          <a:p>
            <a:pPr marL="0" lvl="0" indent="0" algn="ctr">
              <a:spcBef>
                <a:spcPts val="0"/>
              </a:spcBef>
              <a:buNone/>
            </a:pPr>
            <a:endParaRPr lang="tr-TR" sz="18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1800" dirty="0" smtClean="0">
              <a:latin typeface="Arial Narrow" panose="020B0606020202030204" pitchFamily="34" charset="0"/>
            </a:endParaRP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a:t>
            </a:r>
            <a:r>
              <a:rPr lang="tr-TR" sz="1800" baseline="-25000" noProof="1">
                <a:latin typeface="Arial Narrow" panose="020B0606020202030204" pitchFamily="34" charset="0"/>
              </a:rPr>
              <a:t>t</a:t>
            </a:r>
            <a:r>
              <a:rPr lang="tr-TR" sz="1800" noProof="1" smtClean="0">
                <a:latin typeface="Arial Narrow" panose="020B0606020202030204" pitchFamily="34" charset="0"/>
              </a:rPr>
              <a:t> = the dividend paid at the end of year t</a:t>
            </a:r>
          </a:p>
          <a:p>
            <a:pPr marL="0" lvl="0" indent="0" algn="ctr">
              <a:spcBef>
                <a:spcPts val="0"/>
              </a:spcBef>
              <a:buNone/>
            </a:pP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P</a:t>
            </a:r>
            <a:r>
              <a:rPr lang="tr-TR" sz="1800" baseline="-25000" noProof="1" smtClean="0">
                <a:latin typeface="Arial Narrow" panose="020B0606020202030204" pitchFamily="34" charset="0"/>
              </a:rPr>
              <a:t>N</a:t>
            </a:r>
            <a:r>
              <a:rPr lang="tr-TR" sz="1800" noProof="1" smtClean="0">
                <a:latin typeface="Arial Narrow" panose="020B0606020202030204" pitchFamily="34" charset="0"/>
              </a:rPr>
              <a:t> = the price at the end of year N; predicted sales price of the stock</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462154" y="5013176"/>
            <a:ext cx="6219692" cy="792088"/>
          </a:xfrm>
          <a:prstGeom prst="rect">
            <a:avLst/>
          </a:prstGeom>
        </p:spPr>
      </p:pic>
    </p:spTree>
    <p:extLst>
      <p:ext uri="{BB962C8B-B14F-4D97-AF65-F5344CB8AC3E}">
        <p14:creationId xmlns:p14="http://schemas.microsoft.com/office/powerpoint/2010/main" val="25219100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74638"/>
            <a:ext cx="849694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[7] Stock Markets</a:t>
            </a:r>
            <a:br>
              <a:rPr lang="tr-TR" sz="2400">
                <a:solidFill>
                  <a:srgbClr val="800000"/>
                </a:solidFill>
                <a:latin typeface="Arial Narrow" pitchFamily="34" charset="0"/>
              </a:rPr>
            </a:br>
            <a:r>
              <a:rPr lang="tr-TR" sz="2400">
                <a:latin typeface="Arial Narrow" pitchFamily="34" charset="0"/>
              </a:rPr>
              <a:t>The Generalized Dividend Valuation Model</a:t>
            </a:r>
            <a:endParaRPr lang="tr-TR" sz="2800" dirty="0">
              <a:latin typeface="Arial Narrow" pitchFamily="34" charset="0"/>
            </a:endParaRPr>
          </a:p>
        </p:txBody>
      </p:sp>
      <p:sp>
        <p:nvSpPr>
          <p:cNvPr id="5" name="Content Placeholder 4"/>
          <p:cNvSpPr>
            <a:spLocks noGrp="1"/>
          </p:cNvSpPr>
          <p:nvPr>
            <p:ph idx="1"/>
          </p:nvPr>
        </p:nvSpPr>
        <p:spPr>
          <a:xfrm>
            <a:off x="323528" y="1600200"/>
            <a:ext cx="8496944" cy="4997152"/>
          </a:xfrm>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generalized</a:t>
            </a:r>
            <a:r>
              <a:rPr lang="tr-TR" sz="1800" dirty="0" smtClean="0">
                <a:latin typeface="Arial Narrow" panose="020B0606020202030204" pitchFamily="34" charset="0"/>
              </a:rPr>
              <a:t> </a:t>
            </a:r>
            <a:r>
              <a:rPr lang="tr-TR" sz="1800" dirty="0" err="1" smtClean="0">
                <a:latin typeface="Arial Narrow" panose="020B0606020202030204" pitchFamily="34" charset="0"/>
              </a:rPr>
              <a:t>dividend</a:t>
            </a:r>
            <a:r>
              <a:rPr lang="tr-TR" sz="1800" dirty="0" smtClean="0">
                <a:latin typeface="Arial Narrow" panose="020B0606020202030204" pitchFamily="34" charset="0"/>
              </a:rPr>
              <a:t> model </a:t>
            </a:r>
            <a:r>
              <a:rPr lang="tr-TR" sz="1800" dirty="0" err="1" smtClean="0">
                <a:latin typeface="Arial Narrow" panose="020B0606020202030204" pitchFamily="34" charset="0"/>
              </a:rPr>
              <a:t>may</a:t>
            </a:r>
            <a:r>
              <a:rPr lang="tr-TR" sz="1800" dirty="0" smtClean="0">
                <a:latin typeface="Arial Narrow" panose="020B0606020202030204" pitchFamily="34" charset="0"/>
              </a:rPr>
              <a:t> be </a:t>
            </a:r>
            <a:r>
              <a:rPr lang="tr-TR" sz="1800" dirty="0" err="1" smtClean="0">
                <a:latin typeface="Arial Narrow" panose="020B0606020202030204" pitchFamily="34" charset="0"/>
              </a:rPr>
              <a:t>rewritten</a:t>
            </a:r>
            <a:r>
              <a:rPr lang="tr-TR" sz="1800" dirty="0" smtClean="0">
                <a:latin typeface="Arial Narrow" panose="020B0606020202030204" pitchFamily="34" charset="0"/>
              </a:rPr>
              <a:t> </a:t>
            </a:r>
            <a:r>
              <a:rPr lang="tr-TR" sz="1800" dirty="0" err="1" smtClean="0">
                <a:latin typeface="Arial Narrow" panose="020B0606020202030204" pitchFamily="34" charset="0"/>
              </a:rPr>
              <a:t>without</a:t>
            </a:r>
            <a:r>
              <a:rPr lang="tr-TR" sz="1800" dirty="0" smtClean="0">
                <a:latin typeface="Arial Narrow" panose="020B0606020202030204" pitchFamily="34" charset="0"/>
              </a:rPr>
              <a:t> </a:t>
            </a:r>
            <a:r>
              <a:rPr lang="tr-TR" sz="1800" dirty="0" err="1" smtClean="0">
                <a:latin typeface="Arial Narrow" panose="020B0606020202030204" pitchFamily="34" charset="0"/>
              </a:rPr>
              <a:t>the</a:t>
            </a:r>
            <a:r>
              <a:rPr lang="tr-TR" sz="1800" dirty="0" smtClean="0">
                <a:latin typeface="Arial Narrow" panose="020B0606020202030204" pitchFamily="34" charset="0"/>
              </a:rPr>
              <a:t> final </a:t>
            </a:r>
            <a:r>
              <a:rPr lang="tr-TR" sz="1800" dirty="0" err="1" smtClean="0">
                <a:latin typeface="Arial Narrow" panose="020B0606020202030204" pitchFamily="34" charset="0"/>
              </a:rPr>
              <a:t>sales</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a:t>
            </a:r>
          </a:p>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dirty="0" err="1" smtClean="0">
                <a:latin typeface="Arial Narrow" panose="020B0606020202030204" pitchFamily="34" charset="0"/>
              </a:rPr>
              <a:t>P</a:t>
            </a:r>
            <a:r>
              <a:rPr lang="tr-TR" sz="1800" baseline="-25000" dirty="0" err="1" smtClean="0">
                <a:latin typeface="Arial Narrow" panose="020B0606020202030204" pitchFamily="34" charset="0"/>
              </a:rPr>
              <a:t>0</a:t>
            </a:r>
            <a:r>
              <a:rPr lang="tr-TR" sz="1800" dirty="0" smtClean="0">
                <a:latin typeface="Arial Narrow" panose="020B0606020202030204" pitchFamily="34" charset="0"/>
              </a:rPr>
              <a:t> =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curent</a:t>
            </a:r>
            <a:r>
              <a:rPr lang="tr-TR" sz="1800" dirty="0" smtClean="0">
                <a:latin typeface="Arial Narrow" panose="020B0606020202030204" pitchFamily="34" charset="0"/>
              </a:rPr>
              <a:t> </a:t>
            </a:r>
            <a:r>
              <a:rPr lang="tr-TR" sz="1800" dirty="0" err="1" smtClean="0">
                <a:latin typeface="Arial Narrow" panose="020B0606020202030204" pitchFamily="34" charset="0"/>
              </a:rPr>
              <a:t>price</a:t>
            </a:r>
            <a:r>
              <a:rPr lang="tr-TR" sz="1800" dirty="0" smtClean="0">
                <a:latin typeface="Arial Narrow" panose="020B0606020202030204" pitchFamily="34" charset="0"/>
              </a:rPr>
              <a:t> of </a:t>
            </a:r>
            <a:r>
              <a:rPr lang="tr-TR" sz="1800" dirty="0" err="1"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stock</a:t>
            </a: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D</a:t>
            </a:r>
            <a:r>
              <a:rPr lang="tr-TR" sz="1800" baseline="-25000" noProof="1">
                <a:latin typeface="Arial Narrow" panose="020B0606020202030204" pitchFamily="34" charset="0"/>
              </a:rPr>
              <a:t>t</a:t>
            </a:r>
            <a:r>
              <a:rPr lang="tr-TR" sz="1800" noProof="1" smtClean="0">
                <a:latin typeface="Arial Narrow" panose="020B0606020202030204" pitchFamily="34" charset="0"/>
              </a:rPr>
              <a:t> = the dividend paid at the end of year t</a:t>
            </a:r>
            <a:endParaRPr lang="tr-TR" sz="900" noProof="1"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k</a:t>
            </a:r>
            <a:r>
              <a:rPr lang="tr-TR" sz="1800" baseline="-25000" noProof="1" smtClean="0">
                <a:latin typeface="Arial Narrow" panose="020B0606020202030204" pitchFamily="34" charset="0"/>
              </a:rPr>
              <a:t>e</a:t>
            </a:r>
            <a:r>
              <a:rPr lang="tr-TR" sz="1800" noProof="1" smtClean="0">
                <a:latin typeface="Arial Narrow" panose="020B0606020202030204" pitchFamily="34" charset="0"/>
              </a:rPr>
              <a:t> = the required return on investments in equity</a:t>
            </a:r>
            <a:endParaRPr lang="tr-TR" sz="9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This tells us that the price of stock is determined only by the present value of the dividends</a:t>
            </a:r>
          </a:p>
          <a:p>
            <a:pPr marL="0" lvl="0" indent="0" algn="ctr">
              <a:spcBef>
                <a:spcPts val="0"/>
              </a:spcBef>
              <a:buNone/>
            </a:pPr>
            <a:r>
              <a:rPr lang="tr-TR" sz="1800" noProof="1" smtClean="0">
                <a:latin typeface="Arial Narrow" panose="020B0606020202030204" pitchFamily="34" charset="0"/>
              </a:rPr>
              <a:t>and nothing else matters.</a:t>
            </a:r>
          </a:p>
          <a:p>
            <a:pPr marL="0" lvl="0" indent="0" algn="ctr">
              <a:spcBef>
                <a:spcPts val="0"/>
              </a:spcBef>
              <a:buNone/>
            </a:pPr>
            <a:r>
              <a:rPr lang="tr-TR" sz="1800" noProof="1" smtClean="0">
                <a:latin typeface="Arial Narrow" panose="020B0606020202030204" pitchFamily="34" charset="0"/>
              </a:rPr>
              <a:t>In other words, buyers of the stock expect that the firm will pay dividends someday.</a:t>
            </a:r>
          </a:p>
          <a:p>
            <a:pPr marL="0" lvl="0" indent="0" algn="ctr">
              <a:spcBef>
                <a:spcPts val="0"/>
              </a:spcBef>
              <a:buNone/>
            </a:pPr>
            <a:r>
              <a:rPr lang="tr-TR" sz="1800" noProof="1" smtClean="0">
                <a:latin typeface="Arial Narrow" panose="020B0606020202030204" pitchFamily="34" charset="0"/>
              </a:rPr>
              <a:t>Most of the time a firm institutes dividends</a:t>
            </a:r>
          </a:p>
          <a:p>
            <a:pPr marL="0" lvl="0" indent="0" algn="ctr">
              <a:spcBef>
                <a:spcPts val="0"/>
              </a:spcBef>
              <a:buNone/>
            </a:pPr>
            <a:r>
              <a:rPr lang="tr-TR" sz="1800" noProof="1" smtClean="0">
                <a:latin typeface="Arial Narrow" panose="020B0606020202030204" pitchFamily="34" charset="0"/>
              </a:rPr>
              <a:t>as soon as it has completed the rapid growth phase of its life cycle.</a:t>
            </a:r>
          </a:p>
          <a:p>
            <a:pPr marL="0" lvl="0" indent="0" algn="ctr">
              <a:spcBef>
                <a:spcPts val="0"/>
              </a:spcBef>
              <a:buNone/>
            </a:pPr>
            <a:r>
              <a:rPr lang="tr-TR" sz="1800" noProof="1" smtClean="0">
                <a:latin typeface="Arial Narrow" panose="020B0606020202030204" pitchFamily="34" charset="0"/>
              </a:rPr>
              <a:t>However, this model requires that we compute the present value of an infinite stream of dividends,</a:t>
            </a:r>
          </a:p>
          <a:p>
            <a:pPr marL="0" lvl="0" indent="0" algn="ctr">
              <a:spcBef>
                <a:spcPts val="0"/>
              </a:spcBef>
              <a:buNone/>
            </a:pPr>
            <a:r>
              <a:rPr lang="tr-TR" sz="1800" noProof="1" smtClean="0">
                <a:latin typeface="Arial Narrow" panose="020B0606020202030204" pitchFamily="34" charset="0"/>
              </a:rPr>
              <a:t>a process that could be difficult, to say the least.</a:t>
            </a:r>
          </a:p>
        </p:txBody>
      </p:sp>
      <p:pic>
        <p:nvPicPr>
          <p:cNvPr id="7" name="Resim 6"/>
          <p:cNvPicPr>
            <a:picLocks noChangeAspect="1"/>
          </p:cNvPicPr>
          <p:nvPr/>
        </p:nvPicPr>
        <p:blipFill>
          <a:blip r:embed="rId3"/>
          <a:stretch>
            <a:fillRect/>
          </a:stretch>
        </p:blipFill>
        <p:spPr>
          <a:xfrm>
            <a:off x="3707240" y="3068960"/>
            <a:ext cx="1729520" cy="1473622"/>
          </a:xfrm>
          <a:prstGeom prst="rect">
            <a:avLst/>
          </a:prstGeom>
        </p:spPr>
      </p:pic>
    </p:spTree>
    <p:extLst>
      <p:ext uri="{BB962C8B-B14F-4D97-AF65-F5344CB8AC3E}">
        <p14:creationId xmlns:p14="http://schemas.microsoft.com/office/powerpoint/2010/main" val="10427036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[7] Stock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a:latin typeface="Arial Narrow" pitchFamily="34" charset="0"/>
              </a:rPr>
              <a:t>Valuation</a:t>
            </a:r>
            <a:r>
              <a:rPr lang="tr-TR" sz="2400" dirty="0">
                <a:latin typeface="Arial Narrow" pitchFamily="34" charset="0"/>
              </a:rPr>
              <a:t> - Gordon </a:t>
            </a:r>
            <a:r>
              <a:rPr lang="tr-TR" sz="2400" dirty="0" err="1">
                <a:latin typeface="Arial Narrow" pitchFamily="34" charset="0"/>
              </a:rPr>
              <a:t>Growth</a:t>
            </a:r>
            <a:r>
              <a:rPr lang="tr-TR" sz="2400" dirty="0">
                <a:latin typeface="Arial Narrow" pitchFamily="34" charset="0"/>
              </a:rPr>
              <a:t> Model</a:t>
            </a:r>
          </a:p>
        </p:txBody>
      </p:sp>
      <p:sp>
        <p:nvSpPr>
          <p:cNvPr id="5" name="Content Placeholder 4"/>
          <p:cNvSpPr>
            <a:spLocks noGrp="1"/>
          </p:cNvSpPr>
          <p:nvPr>
            <p:ph idx="1"/>
          </p:nvPr>
        </p:nvSpPr>
        <p:spPr>
          <a:xfrm>
            <a:off x="457200" y="1259632"/>
            <a:ext cx="8229600" cy="5481736"/>
          </a:xfrm>
          <a:ln w="25400">
            <a:noFill/>
          </a:ln>
        </p:spPr>
        <p:txBody>
          <a:bodyPr>
            <a:noAutofit/>
          </a:bodyPr>
          <a:lstStyle/>
          <a:p>
            <a:pPr marL="0" lvl="0" indent="0" algn="ctr">
              <a:spcBef>
                <a:spcPts val="0"/>
              </a:spcBef>
              <a:buNone/>
            </a:pPr>
            <a:r>
              <a:rPr lang="tr-TR" sz="1600" smtClean="0">
                <a:solidFill>
                  <a:srgbClr val="000066"/>
                </a:solidFill>
                <a:latin typeface="Arial Narrow" panose="020B0606020202030204" pitchFamily="34" charset="0"/>
              </a:rPr>
              <a:t>The </a:t>
            </a:r>
            <a:r>
              <a:rPr lang="tr-TR" sz="1600" dirty="0" smtClean="0">
                <a:solidFill>
                  <a:srgbClr val="000066"/>
                </a:solidFill>
                <a:latin typeface="Arial Narrow" panose="020B0606020202030204" pitchFamily="34" charset="0"/>
              </a:rPr>
              <a:t>Gordon </a:t>
            </a:r>
            <a:r>
              <a:rPr lang="tr-TR" sz="1600" dirty="0" err="1" smtClean="0">
                <a:solidFill>
                  <a:srgbClr val="000066"/>
                </a:solidFill>
                <a:latin typeface="Arial Narrow" panose="020B0606020202030204" pitchFamily="34" charset="0"/>
              </a:rPr>
              <a:t>growth</a:t>
            </a:r>
            <a:r>
              <a:rPr lang="tr-TR" sz="1600" dirty="0" smtClean="0">
                <a:solidFill>
                  <a:srgbClr val="000066"/>
                </a:solidFill>
                <a:latin typeface="Arial Narrow" panose="020B0606020202030204" pitchFamily="34" charset="0"/>
              </a:rPr>
              <a:t> model is a </a:t>
            </a:r>
            <a:r>
              <a:rPr lang="tr-TR" sz="1600" dirty="0" err="1" smtClean="0">
                <a:solidFill>
                  <a:srgbClr val="000066"/>
                </a:solidFill>
                <a:latin typeface="Arial Narrow" panose="020B0606020202030204" pitchFamily="34" charset="0"/>
              </a:rPr>
              <a:t>simplified</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method</a:t>
            </a:r>
            <a:r>
              <a:rPr lang="tr-TR" sz="1600" dirty="0" smtClean="0">
                <a:solidFill>
                  <a:srgbClr val="000066"/>
                </a:solidFill>
                <a:latin typeface="Arial Narrow" panose="020B0606020202030204" pitchFamily="34" charset="0"/>
              </a:rPr>
              <a:t> of </a:t>
            </a:r>
            <a:r>
              <a:rPr lang="tr-TR" sz="1600" dirty="0" err="1" smtClean="0">
                <a:solidFill>
                  <a:srgbClr val="000066"/>
                </a:solidFill>
                <a:latin typeface="Arial Narrow" panose="020B0606020202030204" pitchFamily="34" charset="0"/>
              </a:rPr>
              <a:t>computing</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stock</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value</a:t>
            </a:r>
            <a:endParaRPr lang="tr-TR" sz="1600" dirty="0">
              <a:solidFill>
                <a:srgbClr val="000066"/>
              </a:solidFill>
              <a:latin typeface="Arial Narrow" panose="020B0606020202030204" pitchFamily="34" charset="0"/>
            </a:endParaRPr>
          </a:p>
          <a:p>
            <a:pPr marL="0" lvl="0" indent="0" algn="ctr">
              <a:spcBef>
                <a:spcPts val="0"/>
              </a:spcBef>
              <a:buNone/>
            </a:pPr>
            <a:r>
              <a:rPr lang="tr-TR" sz="1600" dirty="0" err="1" smtClean="0">
                <a:solidFill>
                  <a:srgbClr val="000066"/>
                </a:solidFill>
                <a:latin typeface="Arial Narrow" panose="020B0606020202030204" pitchFamily="34" charset="0"/>
              </a:rPr>
              <a:t>that</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depends</a:t>
            </a:r>
            <a:r>
              <a:rPr lang="tr-TR" sz="1600" dirty="0" smtClean="0">
                <a:solidFill>
                  <a:srgbClr val="000066"/>
                </a:solidFill>
                <a:latin typeface="Arial Narrow" panose="020B0606020202030204" pitchFamily="34" charset="0"/>
              </a:rPr>
              <a:t> on </a:t>
            </a:r>
            <a:r>
              <a:rPr lang="tr-TR" sz="1600" dirty="0" err="1" smtClean="0">
                <a:solidFill>
                  <a:srgbClr val="000066"/>
                </a:solidFill>
                <a:latin typeface="Arial Narrow" panose="020B0606020202030204" pitchFamily="34" charset="0"/>
              </a:rPr>
              <a:t>the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assumption</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that</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the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dividends</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are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growing</a:t>
            </a:r>
            <a:r>
              <a:rPr lang="tr-TR" sz="1600" dirty="0" smtClean="0">
                <a:solidFill>
                  <a:srgbClr val="000066"/>
                </a:solidFill>
                <a:latin typeface="Arial Narrow" panose="020B0606020202030204" pitchFamily="34" charset="0"/>
              </a:rPr>
              <a:t> at a </a:t>
            </a:r>
            <a:r>
              <a:rPr lang="tr-TR" sz="1600" dirty="0" err="1" smtClean="0">
                <a:solidFill>
                  <a:srgbClr val="000066"/>
                </a:solidFill>
                <a:latin typeface="Arial Narrow" panose="020B0606020202030204" pitchFamily="34" charset="0"/>
              </a:rPr>
              <a:t>constant</a:t>
            </a:r>
            <a:r>
              <a:rPr lang="tr-TR" sz="1600" dirty="0" smtClean="0">
                <a:solidFill>
                  <a:srgbClr val="000066"/>
                </a:solidFill>
                <a:latin typeface="Arial Narrow" panose="020B0606020202030204" pitchFamily="34" charset="0"/>
              </a:rPr>
              <a:t> rate </a:t>
            </a:r>
            <a:r>
              <a:rPr lang="tr-TR" sz="1600" dirty="0" err="1" smtClean="0">
                <a:solidFill>
                  <a:srgbClr val="000066"/>
                </a:solidFill>
                <a:latin typeface="Arial Narrow" panose="020B0606020202030204" pitchFamily="34" charset="0"/>
              </a:rPr>
              <a:t>forever</a:t>
            </a:r>
            <a:r>
              <a:rPr lang="tr-TR" sz="1600" dirty="0" smtClean="0">
                <a:solidFill>
                  <a:srgbClr val="000066"/>
                </a:solidFill>
                <a:latin typeface="Arial Narrow" panose="020B0606020202030204" pitchFamily="34" charset="0"/>
              </a:rPr>
              <a:t>.</a:t>
            </a:r>
          </a:p>
          <a:p>
            <a:pPr marL="0" lvl="0" indent="0" algn="ctr">
              <a:spcBef>
                <a:spcPts val="0"/>
              </a:spcBef>
              <a:buNone/>
            </a:pPr>
            <a:r>
              <a:rPr lang="tr-TR" sz="1600" dirty="0" err="1" smtClean="0">
                <a:solidFill>
                  <a:srgbClr val="000066"/>
                </a:solidFill>
                <a:latin typeface="Arial Narrow" panose="020B0606020202030204" pitchFamily="34" charset="0"/>
              </a:rPr>
              <a:t>Given</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our</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uncertainty</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regarding</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future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dividends</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this</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assumption</a:t>
            </a:r>
            <a:r>
              <a:rPr lang="tr-TR" sz="1600" dirty="0" smtClean="0">
                <a:solidFill>
                  <a:srgbClr val="000066"/>
                </a:solidFill>
                <a:latin typeface="Arial Narrow" panose="020B0606020202030204" pitchFamily="34" charset="0"/>
              </a:rPr>
              <a:t> is </a:t>
            </a:r>
            <a:r>
              <a:rPr lang="tr-TR" sz="1600" dirty="0" err="1" smtClean="0">
                <a:solidFill>
                  <a:srgbClr val="000066"/>
                </a:solidFill>
                <a:latin typeface="Arial Narrow" panose="020B0606020202030204" pitchFamily="34" charset="0"/>
              </a:rPr>
              <a:t>often</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the</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best</a:t>
            </a:r>
            <a:r>
              <a:rPr lang="tr-TR" sz="1600" dirty="0" smtClean="0">
                <a:solidFill>
                  <a:srgbClr val="000066"/>
                </a:solidFill>
                <a:latin typeface="Arial Narrow" panose="020B0606020202030204" pitchFamily="34" charset="0"/>
              </a:rPr>
              <a:t> </a:t>
            </a:r>
            <a:r>
              <a:rPr lang="tr-TR" sz="1600" dirty="0" err="1" smtClean="0">
                <a:solidFill>
                  <a:srgbClr val="000066"/>
                </a:solidFill>
                <a:latin typeface="Arial Narrow" panose="020B0606020202030204" pitchFamily="34" charset="0"/>
              </a:rPr>
              <a:t>we</a:t>
            </a:r>
            <a:r>
              <a:rPr lang="tr-TR" sz="1600" dirty="0" smtClean="0">
                <a:solidFill>
                  <a:srgbClr val="000066"/>
                </a:solidFill>
                <a:latin typeface="Arial Narrow" panose="020B0606020202030204" pitchFamily="34" charset="0"/>
              </a:rPr>
              <a:t> can do.</a:t>
            </a:r>
          </a:p>
          <a:p>
            <a:pPr marL="0" lvl="0" indent="0" algn="ctr">
              <a:spcBef>
                <a:spcPts val="0"/>
              </a:spcBef>
              <a:buNone/>
            </a:pPr>
            <a:r>
              <a:rPr lang="tr-TR" sz="1600" dirty="0" err="1">
                <a:solidFill>
                  <a:srgbClr val="000066"/>
                </a:solidFill>
                <a:latin typeface="Arial Narrow" panose="020B0606020202030204" pitchFamily="34" charset="0"/>
              </a:rPr>
              <a:t>Also</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growth</a:t>
            </a:r>
            <a:r>
              <a:rPr lang="tr-TR" sz="1600" dirty="0">
                <a:solidFill>
                  <a:srgbClr val="000066"/>
                </a:solidFill>
                <a:latin typeface="Arial Narrow" panose="020B0606020202030204" pitchFamily="34" charset="0"/>
              </a:rPr>
              <a:t> rate is </a:t>
            </a:r>
            <a:r>
              <a:rPr lang="tr-TR" sz="1600" dirty="0" err="1">
                <a:solidFill>
                  <a:srgbClr val="000066"/>
                </a:solidFill>
                <a:latin typeface="Arial Narrow" panose="020B0606020202030204" pitchFamily="34" charset="0"/>
              </a:rPr>
              <a:t>assumed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to</a:t>
            </a:r>
            <a:r>
              <a:rPr lang="tr-TR" sz="1600" dirty="0">
                <a:solidFill>
                  <a:srgbClr val="000066"/>
                </a:solidFill>
                <a:latin typeface="Arial Narrow" panose="020B0606020202030204" pitchFamily="34" charset="0"/>
              </a:rPr>
              <a:t> be </a:t>
            </a:r>
            <a:r>
              <a:rPr lang="tr-TR" sz="1600" dirty="0" err="1">
                <a:solidFill>
                  <a:srgbClr val="000066"/>
                </a:solidFill>
                <a:latin typeface="Arial Narrow" panose="020B0606020202030204" pitchFamily="34" charset="0"/>
              </a:rPr>
              <a:t>less</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than</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the</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required</a:t>
            </a:r>
            <a:r>
              <a:rPr lang="tr-TR" sz="1600" dirty="0">
                <a:solidFill>
                  <a:srgbClr val="000066"/>
                </a:solidFill>
                <a:latin typeface="Arial Narrow" panose="020B0606020202030204" pitchFamily="34" charset="0"/>
              </a:rPr>
              <a:t> </a:t>
            </a:r>
            <a:r>
              <a:rPr lang="tr-TR" sz="1600" dirty="0" err="1">
                <a:solidFill>
                  <a:srgbClr val="000066"/>
                </a:solidFill>
                <a:latin typeface="Arial Narrow" panose="020B0606020202030204" pitchFamily="34" charset="0"/>
              </a:rPr>
              <a:t>return</a:t>
            </a:r>
            <a:r>
              <a:rPr lang="tr-TR" sz="1600" dirty="0">
                <a:solidFill>
                  <a:srgbClr val="000066"/>
                </a:solidFill>
                <a:latin typeface="Arial Narrow" panose="020B0606020202030204" pitchFamily="34" charset="0"/>
              </a:rPr>
              <a:t> on </a:t>
            </a:r>
            <a:r>
              <a:rPr lang="tr-TR" sz="1600" dirty="0" err="1">
                <a:solidFill>
                  <a:srgbClr val="000066"/>
                </a:solidFill>
                <a:latin typeface="Arial Narrow" panose="020B0606020202030204" pitchFamily="34" charset="0"/>
              </a:rPr>
              <a:t>equity</a:t>
            </a:r>
            <a:endParaRPr lang="tr-TR" sz="1600" dirty="0">
              <a:solidFill>
                <a:srgbClr val="000066"/>
              </a:solidFill>
              <a:latin typeface="Arial Narrow" panose="020B0606020202030204" pitchFamily="34" charset="0"/>
            </a:endParaRPr>
          </a:p>
          <a:p>
            <a:pPr marL="0" lvl="0" indent="0" algn="ctr">
              <a:spcBef>
                <a:spcPts val="0"/>
              </a:spcBef>
              <a:buNone/>
            </a:pPr>
            <a:r>
              <a:rPr lang="tr-TR" sz="1600" dirty="0" err="1">
                <a:solidFill>
                  <a:srgbClr val="000066"/>
                </a:solidFill>
                <a:latin typeface="Arial Narrow" panose="020B0606020202030204" pitchFamily="34" charset="0"/>
              </a:rPr>
              <a:t>which</a:t>
            </a:r>
            <a:r>
              <a:rPr lang="tr-TR" sz="1600" dirty="0">
                <a:solidFill>
                  <a:srgbClr val="000066"/>
                </a:solidFill>
                <a:latin typeface="Arial Narrow" panose="020B0606020202030204" pitchFamily="34" charset="0"/>
              </a:rPr>
              <a:t> is a </a:t>
            </a:r>
            <a:r>
              <a:rPr lang="tr-TR" sz="1600" dirty="0" err="1">
                <a:solidFill>
                  <a:srgbClr val="000066"/>
                </a:solidFill>
                <a:latin typeface="Arial Narrow" panose="020B0606020202030204" pitchFamily="34" charset="0"/>
              </a:rPr>
              <a:t>reasonable</a:t>
            </a:r>
            <a:r>
              <a:rPr lang="tr-TR" sz="1600" dirty="0">
                <a:solidFill>
                  <a:srgbClr val="000066"/>
                </a:solidFill>
                <a:latin typeface="Arial Narrow" panose="020B0606020202030204" pitchFamily="34" charset="0"/>
              </a:rPr>
              <a:t> </a:t>
            </a:r>
            <a:r>
              <a:rPr lang="tr-TR" sz="1600" err="1">
                <a:solidFill>
                  <a:srgbClr val="000066"/>
                </a:solidFill>
                <a:latin typeface="Arial Narrow" panose="020B0606020202030204" pitchFamily="34" charset="0"/>
              </a:rPr>
              <a:t>assumption</a:t>
            </a:r>
            <a:r>
              <a:rPr lang="tr-TR" sz="1600" smtClean="0">
                <a:solidFill>
                  <a:srgbClr val="000066"/>
                </a:solidFill>
                <a:latin typeface="Arial Narrow" panose="020B0606020202030204" pitchFamily="34" charset="0"/>
              </a:rPr>
              <a:t>.</a:t>
            </a:r>
          </a:p>
          <a:p>
            <a:pPr marL="0" lvl="0" indent="0" algn="ctr">
              <a:spcBef>
                <a:spcPts val="0"/>
              </a:spcBef>
              <a:buNone/>
            </a:pPr>
            <a:endParaRPr lang="tr-TR" sz="800" dirty="0" smtClean="0">
              <a:latin typeface="Arial Narrow" panose="020B0606020202030204" pitchFamily="34" charset="0"/>
            </a:endParaRPr>
          </a:p>
          <a:p>
            <a:pPr marL="0" indent="0" algn="ctr">
              <a:spcBef>
                <a:spcPts val="0"/>
              </a:spcBef>
              <a:buNone/>
            </a:pPr>
            <a:r>
              <a:rPr lang="tr-TR" sz="1600">
                <a:latin typeface="Arial Narrow" panose="020B0606020202030204" pitchFamily="34" charset="0"/>
              </a:rPr>
              <a:t>P</a:t>
            </a:r>
            <a:r>
              <a:rPr lang="tr-TR" sz="1600" baseline="-25000">
                <a:latin typeface="Arial Narrow" panose="020B0606020202030204" pitchFamily="34" charset="0"/>
              </a:rPr>
              <a:t>0</a:t>
            </a:r>
            <a:r>
              <a:rPr lang="tr-TR" sz="1600">
                <a:latin typeface="Arial Narrow" panose="020B0606020202030204" pitchFamily="34" charset="0"/>
              </a:rPr>
              <a:t> = the curent price of the </a:t>
            </a:r>
            <a:r>
              <a:rPr lang="tr-TR" sz="1600" smtClean="0">
                <a:latin typeface="Arial Narrow" panose="020B0606020202030204" pitchFamily="34" charset="0"/>
              </a:rPr>
              <a:t>stock</a:t>
            </a:r>
            <a:endParaRPr lang="tr-TR" sz="1600" dirty="0">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D</a:t>
            </a:r>
            <a:r>
              <a:rPr lang="tr-TR" sz="1600" baseline="-25000" noProof="1" smtClean="0">
                <a:latin typeface="Arial Narrow" panose="020B0606020202030204" pitchFamily="34" charset="0"/>
              </a:rPr>
              <a:t>0</a:t>
            </a:r>
            <a:r>
              <a:rPr lang="tr-TR" sz="1600" noProof="1" smtClean="0">
                <a:latin typeface="Arial Narrow" panose="020B0606020202030204" pitchFamily="34" charset="0"/>
              </a:rPr>
              <a:t> </a:t>
            </a:r>
            <a:r>
              <a:rPr lang="tr-TR" sz="1600" noProof="1">
                <a:latin typeface="Arial Narrow" panose="020B0606020202030204" pitchFamily="34" charset="0"/>
              </a:rPr>
              <a:t>= the </a:t>
            </a:r>
            <a:r>
              <a:rPr lang="tr-TR" sz="1600" noProof="1" smtClean="0">
                <a:latin typeface="Arial Narrow" panose="020B0606020202030204" pitchFamily="34" charset="0"/>
              </a:rPr>
              <a:t>most recent paid dividend</a:t>
            </a:r>
          </a:p>
          <a:p>
            <a:pPr marL="0" indent="0" algn="ctr">
              <a:spcBef>
                <a:spcPts val="0"/>
              </a:spcBef>
              <a:buNone/>
            </a:pPr>
            <a:r>
              <a:rPr lang="tr-TR" sz="1600" noProof="1" smtClean="0">
                <a:latin typeface="Arial Narrow" panose="020B0606020202030204" pitchFamily="34" charset="0"/>
              </a:rPr>
              <a:t>D</a:t>
            </a:r>
            <a:r>
              <a:rPr lang="tr-TR" sz="1600" baseline="-25000" noProof="1" smtClean="0">
                <a:latin typeface="Arial Narrow" panose="020B0606020202030204" pitchFamily="34" charset="0"/>
              </a:rPr>
              <a:t>1</a:t>
            </a:r>
            <a:r>
              <a:rPr lang="tr-TR" sz="1600" noProof="1" smtClean="0">
                <a:latin typeface="Arial Narrow" panose="020B0606020202030204" pitchFamily="34" charset="0"/>
              </a:rPr>
              <a:t> </a:t>
            </a:r>
            <a:r>
              <a:rPr lang="tr-TR" sz="1600" noProof="1">
                <a:latin typeface="Arial Narrow" panose="020B0606020202030204" pitchFamily="34" charset="0"/>
              </a:rPr>
              <a:t>= the </a:t>
            </a:r>
            <a:r>
              <a:rPr lang="tr-TR" sz="1600" noProof="1" smtClean="0">
                <a:latin typeface="Arial Narrow" panose="020B0606020202030204" pitchFamily="34" charset="0"/>
              </a:rPr>
              <a:t>dividend expected to be paid at the end of year 1</a:t>
            </a:r>
          </a:p>
          <a:p>
            <a:pPr marL="0" lvl="0" indent="0" algn="ctr">
              <a:spcBef>
                <a:spcPts val="0"/>
              </a:spcBef>
              <a:buNone/>
            </a:pPr>
            <a:r>
              <a:rPr lang="tr-TR" sz="1600" noProof="1" smtClean="0">
                <a:latin typeface="Arial Narrow" panose="020B0606020202030204" pitchFamily="34" charset="0"/>
              </a:rPr>
              <a:t>g = the expected average constant growth rate in dividends</a:t>
            </a:r>
            <a:endParaRPr lang="tr-TR" sz="1600" noProof="1">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k</a:t>
            </a:r>
            <a:r>
              <a:rPr lang="tr-TR" sz="1600" baseline="-25000" noProof="1">
                <a:latin typeface="Arial Narrow" panose="020B0606020202030204" pitchFamily="34" charset="0"/>
              </a:rPr>
              <a:t>e</a:t>
            </a:r>
            <a:r>
              <a:rPr lang="tr-TR" sz="1600" noProof="1">
                <a:latin typeface="Arial Narrow" panose="020B0606020202030204" pitchFamily="34" charset="0"/>
              </a:rPr>
              <a:t> = the required return on investments in equity</a:t>
            </a: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noProof="1" smtClean="0">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1763688" y="4077072"/>
            <a:ext cx="5688633" cy="2200107"/>
          </a:xfrm>
          <a:prstGeom prst="rect">
            <a:avLst/>
          </a:prstGeom>
        </p:spPr>
      </p:pic>
    </p:spTree>
    <p:extLst>
      <p:ext uri="{BB962C8B-B14F-4D97-AF65-F5344CB8AC3E}">
        <p14:creationId xmlns:p14="http://schemas.microsoft.com/office/powerpoint/2010/main" val="19631577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[8] Financial Crises</a:t>
            </a:r>
            <a:br>
              <a:rPr lang="tr-TR" sz="2400">
                <a:solidFill>
                  <a:srgbClr val="800000"/>
                </a:solidFill>
                <a:latin typeface="Arial Narrow" pitchFamily="34" charset="0"/>
              </a:rPr>
            </a:br>
            <a:r>
              <a:rPr lang="tr-TR" sz="2400">
                <a:latin typeface="Arial Narrow" pitchFamily="34" charset="0"/>
              </a:rPr>
              <a:t>2007-2008 </a:t>
            </a:r>
            <a:r>
              <a:rPr lang="tr-TR" sz="2400" smtClean="0">
                <a:latin typeface="Arial Narrow" pitchFamily="34" charset="0"/>
              </a:rPr>
              <a:t>Crisis</a:t>
            </a:r>
            <a:endParaRPr lang="tr-TR" sz="2800" dirty="0">
              <a:latin typeface="Arial Narrow" pitchFamily="34" charset="0"/>
            </a:endParaRPr>
          </a:p>
        </p:txBody>
      </p:sp>
      <p:sp>
        <p:nvSpPr>
          <p:cNvPr id="5" name="Content Placeholder 4"/>
          <p:cNvSpPr>
            <a:spLocks noGrp="1"/>
          </p:cNvSpPr>
          <p:nvPr>
            <p:ph idx="1"/>
          </p:nvPr>
        </p:nvSpPr>
        <p:spPr>
          <a:xfrm>
            <a:off x="457200" y="1484784"/>
            <a:ext cx="8229600" cy="5184576"/>
          </a:xfrm>
          <a:ln w="25400">
            <a:noFill/>
          </a:ln>
        </p:spPr>
        <p:txBody>
          <a:bodyPr>
            <a:noAutofit/>
          </a:bodyPr>
          <a:lstStyle/>
          <a:p>
            <a:pPr marL="0" indent="0" algn="ctr">
              <a:spcBef>
                <a:spcPts val="0"/>
              </a:spcBef>
              <a:buNone/>
            </a:pPr>
            <a:endParaRPr lang="tr-TR" sz="1600" dirty="0" smtClean="0">
              <a:latin typeface="Arial Narrow" panose="020B0606020202030204" pitchFamily="34" charset="0"/>
            </a:endParaRPr>
          </a:p>
          <a:p>
            <a:pPr marL="0" indent="0" algn="ctr">
              <a:spcBef>
                <a:spcPts val="0"/>
              </a:spcBef>
              <a:buNone/>
            </a:pPr>
            <a:r>
              <a:rPr lang="en-US" sz="1800" dirty="0">
                <a:latin typeface="Arial Narrow" panose="020B0606020202030204" pitchFamily="34" charset="0"/>
              </a:rPr>
              <a:t>It began in 2007 with a crisis in </a:t>
            </a:r>
            <a:r>
              <a:rPr lang="en-US" sz="1800" dirty="0"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subprime</a:t>
            </a:r>
            <a:r>
              <a:rPr lang="tr-TR" sz="1800" dirty="0" smtClean="0">
                <a:latin typeface="Arial Narrow" panose="020B0606020202030204" pitchFamily="34" charset="0"/>
              </a:rPr>
              <a:t> </a:t>
            </a:r>
            <a:r>
              <a:rPr lang="tr-TR" sz="1800" dirty="0" err="1" smtClean="0">
                <a:latin typeface="Arial Narrow" panose="020B0606020202030204" pitchFamily="34" charset="0"/>
              </a:rPr>
              <a:t>mortgage</a:t>
            </a:r>
            <a:r>
              <a:rPr lang="en-US" sz="1800" dirty="0">
                <a:latin typeface="Arial Narrow" panose="020B0606020202030204" pitchFamily="34" charset="0"/>
              </a:rPr>
              <a:t> market in </a:t>
            </a:r>
            <a:r>
              <a:rPr lang="en-US" sz="1800" dirty="0" smtClean="0">
                <a:latin typeface="Arial Narrow" panose="020B0606020202030204" pitchFamily="34" charset="0"/>
              </a:rPr>
              <a:t>the</a:t>
            </a:r>
            <a:r>
              <a:rPr lang="tr-TR" sz="1800" dirty="0" smtClean="0">
                <a:latin typeface="Arial Narrow" panose="020B0606020202030204" pitchFamily="34" charset="0"/>
              </a:rPr>
              <a:t> United </a:t>
            </a:r>
            <a:r>
              <a:rPr lang="tr-TR" sz="1800" dirty="0" err="1" smtClean="0">
                <a:latin typeface="Arial Narrow" panose="020B0606020202030204" pitchFamily="34" charset="0"/>
              </a:rPr>
              <a:t>States</a:t>
            </a:r>
            <a:r>
              <a:rPr lang="en-US" sz="1800" dirty="0" smtClean="0">
                <a:latin typeface="Arial Narrow" panose="020B0606020202030204" pitchFamily="34" charset="0"/>
              </a:rPr>
              <a:t>,</a:t>
            </a:r>
            <a:endParaRPr lang="tr-TR" sz="1800" dirty="0" smtClean="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and </a:t>
            </a:r>
            <a:r>
              <a:rPr lang="en-US" sz="1800" dirty="0">
                <a:latin typeface="Arial Narrow" panose="020B0606020202030204" pitchFamily="34" charset="0"/>
              </a:rPr>
              <a:t>developed into a full-blown </a:t>
            </a:r>
            <a:r>
              <a:rPr lang="en-US" sz="1800" dirty="0" smtClean="0">
                <a:latin typeface="Arial Narrow" panose="020B0606020202030204" pitchFamily="34" charset="0"/>
              </a:rPr>
              <a:t>international</a:t>
            </a:r>
            <a:r>
              <a:rPr lang="tr-TR" sz="1800" dirty="0" smtClean="0">
                <a:latin typeface="Arial Narrow" panose="020B0606020202030204" pitchFamily="34" charset="0"/>
              </a:rPr>
              <a:t> </a:t>
            </a:r>
            <a:r>
              <a:rPr lang="tr-TR" sz="1800" dirty="0" err="1" smtClean="0">
                <a:latin typeface="Arial Narrow" panose="020B0606020202030204" pitchFamily="34" charset="0"/>
              </a:rPr>
              <a:t>banking</a:t>
            </a:r>
            <a:r>
              <a:rPr lang="tr-TR" sz="1800" dirty="0" smtClean="0">
                <a:latin typeface="Arial Narrow" panose="020B0606020202030204" pitchFamily="34" charset="0"/>
              </a:rPr>
              <a:t> </a:t>
            </a:r>
            <a:r>
              <a:rPr lang="tr-TR" sz="1800" dirty="0" err="1" smtClean="0">
                <a:latin typeface="Arial Narrow" panose="020B0606020202030204" pitchFamily="34" charset="0"/>
              </a:rPr>
              <a:t>crisis</a:t>
            </a:r>
            <a:endParaRPr lang="tr-TR" sz="1800" dirty="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with </a:t>
            </a:r>
            <a:r>
              <a:rPr lang="en-US" sz="1800" dirty="0">
                <a:latin typeface="Arial Narrow" panose="020B0606020202030204" pitchFamily="34" charset="0"/>
              </a:rPr>
              <a:t>the collapse of the investment </a:t>
            </a:r>
            <a:r>
              <a:rPr lang="en-US" sz="1800" dirty="0" smtClean="0">
                <a:latin typeface="Arial Narrow" panose="020B0606020202030204" pitchFamily="34" charset="0"/>
              </a:rPr>
              <a:t>bank</a:t>
            </a:r>
            <a:r>
              <a:rPr lang="tr-TR" sz="1800" dirty="0" smtClean="0">
                <a:latin typeface="Arial Narrow" panose="020B0606020202030204" pitchFamily="34" charset="0"/>
              </a:rPr>
              <a:t> </a:t>
            </a:r>
            <a:r>
              <a:rPr lang="tr-TR" sz="1800" dirty="0" err="1" smtClean="0">
                <a:latin typeface="Arial Narrow" panose="020B0606020202030204" pitchFamily="34" charset="0"/>
              </a:rPr>
              <a:t>Lehman</a:t>
            </a:r>
            <a:r>
              <a:rPr lang="tr-TR" sz="1800" dirty="0" smtClean="0">
                <a:latin typeface="Arial Narrow" panose="020B0606020202030204" pitchFamily="34" charset="0"/>
              </a:rPr>
              <a:t> </a:t>
            </a:r>
            <a:r>
              <a:rPr lang="tr-TR" sz="1800" dirty="0" err="1" smtClean="0">
                <a:latin typeface="Arial Narrow" panose="020B0606020202030204" pitchFamily="34" charset="0"/>
              </a:rPr>
              <a:t>Brothers</a:t>
            </a:r>
            <a:r>
              <a:rPr lang="en-US" sz="1800" dirty="0">
                <a:latin typeface="Arial Narrow" panose="020B0606020202030204" pitchFamily="34" charset="0"/>
              </a:rPr>
              <a:t> on September 15, </a:t>
            </a:r>
            <a:r>
              <a:rPr lang="en-US" sz="1800" dirty="0" smtClean="0">
                <a:latin typeface="Arial Narrow" panose="020B0606020202030204" pitchFamily="34" charset="0"/>
              </a:rPr>
              <a:t>2008.</a:t>
            </a:r>
            <a:endParaRPr lang="tr-TR" sz="1800" dirty="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Excessive </a:t>
            </a:r>
            <a:r>
              <a:rPr lang="en-US" sz="1800" dirty="0">
                <a:latin typeface="Arial Narrow" panose="020B0606020202030204" pitchFamily="34" charset="0"/>
              </a:rPr>
              <a:t>risk-taking by banks such as Lehman </a:t>
            </a:r>
            <a:r>
              <a:rPr lang="en-US" sz="1800" dirty="0" smtClean="0">
                <a:latin typeface="Arial Narrow" panose="020B0606020202030204" pitchFamily="34" charset="0"/>
              </a:rPr>
              <a:t>Brothers</a:t>
            </a:r>
            <a:endParaRPr lang="tr-TR" sz="1800" dirty="0" smtClean="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helped </a:t>
            </a:r>
            <a:r>
              <a:rPr lang="en-US" sz="1800" dirty="0">
                <a:latin typeface="Arial Narrow" panose="020B0606020202030204" pitchFamily="34" charset="0"/>
              </a:rPr>
              <a:t>to magnify the financial impact </a:t>
            </a:r>
            <a:r>
              <a:rPr lang="en-US" sz="1800" dirty="0" smtClean="0">
                <a:latin typeface="Arial Narrow" panose="020B0606020202030204" pitchFamily="34" charset="0"/>
              </a:rPr>
              <a:t>globally.</a:t>
            </a:r>
            <a:endParaRPr lang="tr-TR" sz="1800" dirty="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Massive</a:t>
            </a:r>
            <a:r>
              <a:rPr lang="tr-TR" sz="1800" dirty="0" smtClean="0">
                <a:latin typeface="Arial Narrow" panose="020B0606020202030204" pitchFamily="34" charset="0"/>
              </a:rPr>
              <a:t> </a:t>
            </a:r>
            <a:r>
              <a:rPr lang="tr-TR" sz="1800" dirty="0" err="1" smtClean="0">
                <a:latin typeface="Arial Narrow" panose="020B0606020202030204" pitchFamily="34" charset="0"/>
              </a:rPr>
              <a:t>bail-outs</a:t>
            </a:r>
            <a:r>
              <a:rPr lang="en-US" sz="1800" dirty="0">
                <a:latin typeface="Arial Narrow" panose="020B0606020202030204" pitchFamily="34" charset="0"/>
              </a:rPr>
              <a:t> of financial </a:t>
            </a:r>
            <a:r>
              <a:rPr lang="en-US" sz="1800" dirty="0" smtClean="0">
                <a:latin typeface="Arial Narrow" panose="020B0606020202030204" pitchFamily="34" charset="0"/>
              </a:rPr>
              <a:t>institutions</a:t>
            </a:r>
            <a:endParaRPr lang="tr-TR" sz="1800" dirty="0" smtClean="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and </a:t>
            </a:r>
            <a:r>
              <a:rPr lang="en-US" sz="1800" dirty="0">
                <a:latin typeface="Arial Narrow" panose="020B0606020202030204" pitchFamily="34" charset="0"/>
              </a:rPr>
              <a:t>other palliative </a:t>
            </a:r>
            <a:r>
              <a:rPr lang="en-US" sz="1800" dirty="0" smtClean="0">
                <a:latin typeface="Arial Narrow" panose="020B0606020202030204" pitchFamily="34" charset="0"/>
              </a:rPr>
              <a:t>monetary</a:t>
            </a:r>
            <a:r>
              <a:rPr lang="tr-TR" sz="1800" dirty="0" smtClean="0">
                <a:latin typeface="Arial Narrow" panose="020B0606020202030204" pitchFamily="34" charset="0"/>
              </a:rPr>
              <a:t> (″</a:t>
            </a:r>
            <a:r>
              <a:rPr lang="tr-TR" sz="1800" dirty="0" err="1" smtClean="0">
                <a:latin typeface="Arial Narrow" panose="020B0606020202030204" pitchFamily="34" charset="0"/>
              </a:rPr>
              <a:t>quantitative</a:t>
            </a:r>
            <a:r>
              <a:rPr lang="tr-TR" sz="1800" dirty="0" smtClean="0">
                <a:latin typeface="Arial Narrow" panose="020B0606020202030204" pitchFamily="34" charset="0"/>
              </a:rPr>
              <a:t> </a:t>
            </a:r>
            <a:r>
              <a:rPr lang="tr-TR" sz="1800" dirty="0" err="1" smtClean="0">
                <a:latin typeface="Arial Narrow" panose="020B0606020202030204" pitchFamily="34" charset="0"/>
              </a:rPr>
              <a:t>easing</a:t>
            </a:r>
            <a:r>
              <a:rPr lang="tr-TR" sz="1800" dirty="0" smtClean="0">
                <a:latin typeface="Arial Narrow" panose="020B0606020202030204" pitchFamily="34" charset="0"/>
              </a:rPr>
              <a:t>″)</a:t>
            </a:r>
          </a:p>
          <a:p>
            <a:pPr marL="0" indent="0" algn="ctr">
              <a:spcBef>
                <a:spcPts val="0"/>
              </a:spcBef>
              <a:buNone/>
            </a:pPr>
            <a:r>
              <a:rPr lang="en-US" sz="1800" dirty="0" smtClean="0">
                <a:latin typeface="Arial Narrow" panose="020B0606020202030204" pitchFamily="34" charset="0"/>
              </a:rPr>
              <a:t>and </a:t>
            </a:r>
            <a:r>
              <a:rPr lang="en-US" sz="1800" dirty="0">
                <a:latin typeface="Arial Narrow" panose="020B0606020202030204" pitchFamily="34" charset="0"/>
              </a:rPr>
              <a:t>fiscal </a:t>
            </a:r>
            <a:r>
              <a:rPr lang="en-US" sz="1800" dirty="0" smtClean="0">
                <a:latin typeface="Arial Narrow" panose="020B0606020202030204" pitchFamily="34" charset="0"/>
              </a:rPr>
              <a:t>policies</a:t>
            </a:r>
            <a:endParaRPr lang="tr-TR" sz="1800" dirty="0" smtClean="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were </a:t>
            </a:r>
            <a:r>
              <a:rPr lang="en-US" sz="1800" dirty="0">
                <a:latin typeface="Arial Narrow" panose="020B0606020202030204" pitchFamily="34" charset="0"/>
              </a:rPr>
              <a:t>employed to prevent a possible collapse of </a:t>
            </a:r>
            <a:r>
              <a:rPr lang="en-US" sz="1800" dirty="0"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world</a:t>
            </a:r>
            <a:r>
              <a:rPr lang="tr-TR" sz="1800" dirty="0" smtClean="0">
                <a:latin typeface="Arial Narrow" panose="020B0606020202030204" pitchFamily="34" charset="0"/>
              </a:rPr>
              <a:t> </a:t>
            </a:r>
            <a:r>
              <a:rPr lang="tr-TR" sz="1800" dirty="0" err="1" smtClean="0">
                <a:latin typeface="Arial Narrow" panose="020B0606020202030204" pitchFamily="34" charset="0"/>
              </a:rPr>
              <a:t>financial</a:t>
            </a:r>
            <a:r>
              <a:rPr lang="tr-TR" sz="1800" dirty="0" smtClean="0">
                <a:latin typeface="Arial Narrow" panose="020B0606020202030204" pitchFamily="34" charset="0"/>
              </a:rPr>
              <a:t> </a:t>
            </a:r>
            <a:r>
              <a:rPr lang="tr-TR" sz="1800" dirty="0" err="1" smtClean="0">
                <a:latin typeface="Arial Narrow" panose="020B0606020202030204" pitchFamily="34" charset="0"/>
              </a:rPr>
              <a:t>system</a:t>
            </a:r>
            <a:r>
              <a:rPr lang="en-US" sz="1800" dirty="0" smtClean="0">
                <a:latin typeface="Arial Narrow" panose="020B0606020202030204" pitchFamily="34" charset="0"/>
              </a:rPr>
              <a:t>.</a:t>
            </a:r>
            <a:endParaRPr lang="tr-TR" sz="1800" dirty="0" smtClean="0">
              <a:latin typeface="Arial Narrow" panose="020B0606020202030204" pitchFamily="34" charset="0"/>
            </a:endParaRPr>
          </a:p>
          <a:p>
            <a:pPr marL="0" indent="0" algn="ctr">
              <a:spcBef>
                <a:spcPts val="0"/>
              </a:spcBef>
              <a:buNone/>
            </a:pPr>
            <a:endParaRPr lang="tr-TR" sz="1800" dirty="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The </a:t>
            </a:r>
            <a:r>
              <a:rPr lang="en-US" sz="1800" dirty="0">
                <a:latin typeface="Arial Narrow" panose="020B0606020202030204" pitchFamily="34" charset="0"/>
              </a:rPr>
              <a:t>crisis was nonetheless followed by a </a:t>
            </a:r>
            <a:r>
              <a:rPr lang="en-US" sz="1800" dirty="0" smtClean="0">
                <a:latin typeface="Arial Narrow" panose="020B0606020202030204" pitchFamily="34" charset="0"/>
              </a:rPr>
              <a:t>global</a:t>
            </a:r>
            <a:r>
              <a:rPr lang="tr-TR" sz="1800" dirty="0" smtClean="0">
                <a:latin typeface="Arial Narrow" panose="020B0606020202030204" pitchFamily="34" charset="0"/>
              </a:rPr>
              <a:t> </a:t>
            </a:r>
            <a:r>
              <a:rPr lang="tr-TR" sz="1800" dirty="0" err="1" smtClean="0">
                <a:latin typeface="Arial Narrow" panose="020B0606020202030204" pitchFamily="34" charset="0"/>
              </a:rPr>
              <a:t>economic</a:t>
            </a:r>
            <a:r>
              <a:rPr lang="tr-TR" sz="1800" dirty="0" smtClean="0">
                <a:latin typeface="Arial Narrow" panose="020B0606020202030204" pitchFamily="34" charset="0"/>
              </a:rPr>
              <a:t> </a:t>
            </a:r>
            <a:r>
              <a:rPr lang="tr-TR" sz="1800" dirty="0" err="1" smtClean="0">
                <a:latin typeface="Arial Narrow" panose="020B0606020202030204" pitchFamily="34" charset="0"/>
              </a:rPr>
              <a:t>downturn</a:t>
            </a:r>
            <a:r>
              <a:rPr lang="en-US" sz="1800" dirty="0" smtClean="0">
                <a:latin typeface="Arial Narrow" panose="020B0606020202030204" pitchFamily="34" charset="0"/>
              </a:rPr>
              <a:t>, the</a:t>
            </a:r>
            <a:r>
              <a:rPr lang="tr-TR" sz="1800" dirty="0" smtClean="0">
                <a:latin typeface="Arial Narrow" panose="020B0606020202030204" pitchFamily="34" charset="0"/>
              </a:rPr>
              <a:t> Great </a:t>
            </a:r>
            <a:r>
              <a:rPr lang="tr-TR" sz="1800" dirty="0" err="1" smtClean="0">
                <a:latin typeface="Arial Narrow" panose="020B0606020202030204" pitchFamily="34" charset="0"/>
              </a:rPr>
              <a:t>Recession</a:t>
            </a:r>
            <a:r>
              <a:rPr lang="en-US" sz="1800" dirty="0" smtClean="0">
                <a:latin typeface="Arial Narrow" panose="020B0606020202030204" pitchFamily="34" charset="0"/>
              </a:rPr>
              <a:t>.</a:t>
            </a:r>
            <a:endParaRPr lang="tr-TR" sz="1800" dirty="0" smtClean="0">
              <a:latin typeface="Arial Narrow" panose="020B0606020202030204" pitchFamily="34" charset="0"/>
            </a:endParaRPr>
          </a:p>
          <a:p>
            <a:pPr marL="0" indent="0" algn="ctr">
              <a:spcBef>
                <a:spcPts val="0"/>
              </a:spcBef>
              <a:buNone/>
            </a:pPr>
            <a:endParaRPr lang="tr-TR" sz="1800" dirty="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Europen</a:t>
            </a:r>
            <a:r>
              <a:rPr lang="tr-TR" sz="1800" dirty="0" smtClean="0">
                <a:latin typeface="Arial Narrow" panose="020B0606020202030204" pitchFamily="34" charset="0"/>
              </a:rPr>
              <a:t> </a:t>
            </a:r>
            <a:r>
              <a:rPr lang="tr-TR" sz="1800" dirty="0" err="1" smtClean="0">
                <a:latin typeface="Arial Narrow" panose="020B0606020202030204" pitchFamily="34" charset="0"/>
              </a:rPr>
              <a:t>debt</a:t>
            </a:r>
            <a:r>
              <a:rPr lang="tr-TR" sz="1800" dirty="0" smtClean="0">
                <a:latin typeface="Arial Narrow" panose="020B0606020202030204" pitchFamily="34" charset="0"/>
              </a:rPr>
              <a:t> </a:t>
            </a:r>
            <a:r>
              <a:rPr lang="tr-TR" sz="1800" dirty="0" err="1" smtClean="0">
                <a:latin typeface="Arial Narrow" panose="020B0606020202030204" pitchFamily="34" charset="0"/>
              </a:rPr>
              <a:t>crisis</a:t>
            </a:r>
            <a:r>
              <a:rPr lang="en-US" sz="1800" dirty="0" smtClean="0">
                <a:latin typeface="Arial Narrow" panose="020B0606020202030204" pitchFamily="34" charset="0"/>
              </a:rPr>
              <a:t>,</a:t>
            </a:r>
            <a:endParaRPr lang="tr-TR" sz="1800" dirty="0" smtClean="0">
              <a:latin typeface="Arial Narrow" panose="020B0606020202030204" pitchFamily="34" charset="0"/>
            </a:endParaRPr>
          </a:p>
          <a:p>
            <a:pPr marL="0" indent="0" algn="ctr">
              <a:spcBef>
                <a:spcPts val="0"/>
              </a:spcBef>
              <a:buNone/>
            </a:pPr>
            <a:r>
              <a:rPr lang="en-US" sz="1800" dirty="0" smtClean="0">
                <a:latin typeface="Arial Narrow" panose="020B0606020202030204" pitchFamily="34" charset="0"/>
              </a:rPr>
              <a:t>a </a:t>
            </a:r>
            <a:r>
              <a:rPr lang="en-US" sz="1800" dirty="0">
                <a:latin typeface="Arial Narrow" panose="020B0606020202030204" pitchFamily="34" charset="0"/>
              </a:rPr>
              <a:t>crisis in the banking system of the European countries using </a:t>
            </a:r>
            <a:r>
              <a:rPr lang="en-US" sz="1800" dirty="0"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euro</a:t>
            </a:r>
            <a:r>
              <a:rPr lang="en-US" sz="1800" dirty="0" smtClean="0">
                <a:latin typeface="Arial Narrow" panose="020B0606020202030204" pitchFamily="34" charset="0"/>
              </a:rPr>
              <a:t>, </a:t>
            </a:r>
            <a:r>
              <a:rPr lang="en-US" sz="1800" dirty="0">
                <a:latin typeface="Arial Narrow" panose="020B0606020202030204" pitchFamily="34" charset="0"/>
              </a:rPr>
              <a:t>followed later.</a:t>
            </a:r>
          </a:p>
        </p:txBody>
      </p:sp>
    </p:spTree>
    <p:extLst>
      <p:ext uri="{BB962C8B-B14F-4D97-AF65-F5344CB8AC3E}">
        <p14:creationId xmlns:p14="http://schemas.microsoft.com/office/powerpoint/2010/main" val="7017508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7504" y="140204"/>
            <a:ext cx="2653952" cy="1776628"/>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a:solidFill>
                  <a:srgbClr val="800000"/>
                </a:solidFill>
                <a:latin typeface="Arial Narrow" pitchFamily="34" charset="0"/>
              </a:rPr>
              <a:t>[8] Financial Crises</a:t>
            </a:r>
            <a:br>
              <a:rPr lang="tr-TR" sz="2400">
                <a:solidFill>
                  <a:srgbClr val="800000"/>
                </a:solidFill>
                <a:latin typeface="Arial Narrow" pitchFamily="34" charset="0"/>
              </a:rPr>
            </a:br>
            <a:r>
              <a:rPr lang="tr-TR" sz="2400">
                <a:latin typeface="Arial Narrow" pitchFamily="34" charset="0"/>
              </a:rPr>
              <a:t>2007-2008 </a:t>
            </a:r>
            <a:r>
              <a:rPr lang="tr-TR" sz="2400" smtClean="0">
                <a:latin typeface="Arial Narrow" pitchFamily="34" charset="0"/>
              </a:rPr>
              <a:t>Crisis</a:t>
            </a:r>
            <a:br>
              <a:rPr lang="tr-TR" sz="2400" smtClean="0">
                <a:latin typeface="Arial Narrow" pitchFamily="34" charset="0"/>
              </a:rPr>
            </a:br>
            <a:r>
              <a:rPr lang="en-US" sz="2400">
                <a:latin typeface="Arial Narrow" panose="020B0606020202030204" pitchFamily="34" charset="0"/>
              </a:rPr>
              <a:t>Quantitative </a:t>
            </a:r>
            <a:r>
              <a:rPr lang="tr-TR" sz="2400" smtClean="0">
                <a:latin typeface="Arial Narrow" panose="020B0606020202030204" pitchFamily="34" charset="0"/>
              </a:rPr>
              <a:t>E</a:t>
            </a:r>
            <a:r>
              <a:rPr lang="en-US" sz="2400" smtClean="0">
                <a:latin typeface="Arial Narrow" panose="020B0606020202030204" pitchFamily="34" charset="0"/>
              </a:rPr>
              <a:t>asing</a:t>
            </a:r>
            <a:endParaRPr lang="tr-TR" sz="2400" dirty="0">
              <a:latin typeface="Arial Narrow" pitchFamily="34" charset="0"/>
            </a:endParaRPr>
          </a:p>
        </p:txBody>
      </p:sp>
      <p:sp>
        <p:nvSpPr>
          <p:cNvPr id="5" name="Content Placeholder 4"/>
          <p:cNvSpPr>
            <a:spLocks noGrp="1"/>
          </p:cNvSpPr>
          <p:nvPr>
            <p:ph idx="1"/>
          </p:nvPr>
        </p:nvSpPr>
        <p:spPr>
          <a:xfrm>
            <a:off x="2761456" y="274638"/>
            <a:ext cx="6203032" cy="1930226"/>
          </a:xfrm>
          <a:ln w="25400">
            <a:noFill/>
          </a:ln>
        </p:spPr>
        <p:txBody>
          <a:bodyPr>
            <a:noAutofit/>
          </a:bodyPr>
          <a:lstStyle/>
          <a:p>
            <a:pPr marL="0" indent="0" algn="ctr">
              <a:spcBef>
                <a:spcPts val="0"/>
              </a:spcBef>
              <a:buNone/>
            </a:pPr>
            <a:r>
              <a:rPr lang="en-US" sz="1600" dirty="0" smtClean="0">
                <a:latin typeface="Arial Narrow" panose="020B0606020202030204" pitchFamily="34" charset="0"/>
              </a:rPr>
              <a:t>Quantitative </a:t>
            </a:r>
            <a:r>
              <a:rPr lang="en-US" sz="1600" dirty="0">
                <a:latin typeface="Arial Narrow" panose="020B0606020202030204" pitchFamily="34" charset="0"/>
              </a:rPr>
              <a:t>easing (QE) is a monetary policy, implemented by </a:t>
            </a:r>
            <a:r>
              <a:rPr lang="en-US" sz="1600" dirty="0" smtClean="0">
                <a:latin typeface="Arial Narrow" panose="020B0606020202030204" pitchFamily="34" charset="0"/>
              </a:rPr>
              <a:t>the</a:t>
            </a:r>
            <a:r>
              <a:rPr lang="tr-TR" sz="1600" dirty="0" smtClean="0">
                <a:latin typeface="Arial Narrow" panose="020B0606020202030204" pitchFamily="34" charset="0"/>
              </a:rPr>
              <a:t> Central Bank</a:t>
            </a:r>
            <a:r>
              <a:rPr lang="en-US" sz="1600" dirty="0" smtClean="0">
                <a:latin typeface="Arial Narrow" panose="020B0606020202030204" pitchFamily="34" charset="0"/>
              </a:rPr>
              <a:t>,</a:t>
            </a:r>
            <a:endParaRPr lang="tr-TR" sz="1600" dirty="0" smtClean="0">
              <a:latin typeface="Arial Narrow" panose="020B0606020202030204" pitchFamily="34" charset="0"/>
            </a:endParaRPr>
          </a:p>
          <a:p>
            <a:pPr marL="0" indent="0" algn="ctr">
              <a:spcBef>
                <a:spcPts val="0"/>
              </a:spcBef>
              <a:buNone/>
            </a:pPr>
            <a:r>
              <a:rPr lang="en-US" sz="1600" dirty="0" smtClean="0">
                <a:latin typeface="Arial Narrow" panose="020B0606020202030204" pitchFamily="34" charset="0"/>
              </a:rPr>
              <a:t>primarily </a:t>
            </a:r>
            <a:r>
              <a:rPr lang="en-US" sz="1600" dirty="0">
                <a:latin typeface="Arial Narrow" panose="020B0606020202030204" pitchFamily="34" charset="0"/>
              </a:rPr>
              <a:t>to energize the </a:t>
            </a:r>
            <a:r>
              <a:rPr lang="en-US" sz="1600" dirty="0" smtClean="0">
                <a:latin typeface="Arial Narrow" panose="020B0606020202030204" pitchFamily="34" charset="0"/>
              </a:rPr>
              <a:t>economy.</a:t>
            </a:r>
            <a:endParaRPr lang="tr-TR" sz="1600" dirty="0" smtClean="0">
              <a:latin typeface="Arial Narrow" panose="020B0606020202030204" pitchFamily="34" charset="0"/>
            </a:endParaRPr>
          </a:p>
          <a:p>
            <a:pPr marL="0" indent="0" algn="ctr">
              <a:spcBef>
                <a:spcPts val="0"/>
              </a:spcBef>
              <a:buNone/>
            </a:pPr>
            <a:r>
              <a:rPr lang="en-US" sz="1600" dirty="0" smtClean="0">
                <a:latin typeface="Arial Narrow" panose="020B0606020202030204" pitchFamily="34" charset="0"/>
              </a:rPr>
              <a:t>The </a:t>
            </a:r>
            <a:r>
              <a:rPr lang="en-US" sz="1600" dirty="0">
                <a:latin typeface="Arial Narrow" panose="020B0606020202030204" pitchFamily="34" charset="0"/>
              </a:rPr>
              <a:t>Central Bank will create money to buy government securities from the </a:t>
            </a:r>
            <a:r>
              <a:rPr lang="en-US" sz="1600" dirty="0" smtClean="0">
                <a:latin typeface="Arial Narrow" panose="020B0606020202030204" pitchFamily="34" charset="0"/>
              </a:rPr>
              <a:t>market</a:t>
            </a:r>
            <a:endParaRPr lang="tr-TR" sz="1600" dirty="0" smtClean="0">
              <a:latin typeface="Arial Narrow" panose="020B0606020202030204" pitchFamily="34" charset="0"/>
            </a:endParaRPr>
          </a:p>
          <a:p>
            <a:pPr marL="0" indent="0" algn="ctr">
              <a:spcBef>
                <a:spcPts val="0"/>
              </a:spcBef>
              <a:buNone/>
            </a:pPr>
            <a:r>
              <a:rPr lang="en-US" sz="1600" dirty="0" smtClean="0">
                <a:latin typeface="Arial Narrow" panose="020B0606020202030204" pitchFamily="34" charset="0"/>
              </a:rPr>
              <a:t>in </a:t>
            </a:r>
            <a:r>
              <a:rPr lang="en-US" sz="1600" dirty="0">
                <a:latin typeface="Arial Narrow" panose="020B0606020202030204" pitchFamily="34" charset="0"/>
              </a:rPr>
              <a:t>order to </a:t>
            </a:r>
            <a:r>
              <a:rPr lang="en-US" sz="1600" dirty="0" smtClean="0">
                <a:latin typeface="Arial Narrow" panose="020B0606020202030204" pitchFamily="34" charset="0"/>
              </a:rPr>
              <a:t>lower</a:t>
            </a:r>
            <a:r>
              <a:rPr lang="tr-TR" sz="1600" dirty="0" smtClean="0">
                <a:latin typeface="Arial Narrow" panose="020B0606020202030204" pitchFamily="34" charset="0"/>
              </a:rPr>
              <a:t> </a:t>
            </a:r>
            <a:r>
              <a:rPr lang="tr-TR" sz="1600" dirty="0" err="1" smtClean="0">
                <a:latin typeface="Arial Narrow" panose="020B0606020202030204" pitchFamily="34" charset="0"/>
              </a:rPr>
              <a:t>interest</a:t>
            </a:r>
            <a:r>
              <a:rPr lang="tr-TR" sz="1600" dirty="0" smtClean="0">
                <a:latin typeface="Arial Narrow" panose="020B0606020202030204" pitchFamily="34" charset="0"/>
              </a:rPr>
              <a:t> </a:t>
            </a:r>
            <a:r>
              <a:rPr lang="tr-TR" sz="1600" dirty="0" err="1" smtClean="0">
                <a:latin typeface="Arial Narrow" panose="020B0606020202030204" pitchFamily="34" charset="0"/>
              </a:rPr>
              <a:t>rates</a:t>
            </a:r>
            <a:r>
              <a:rPr lang="en-US" sz="1600" dirty="0">
                <a:latin typeface="Arial Narrow" panose="020B0606020202030204" pitchFamily="34" charset="0"/>
              </a:rPr>
              <a:t> and increase the money </a:t>
            </a:r>
            <a:r>
              <a:rPr lang="en-US" sz="1600" dirty="0" smtClean="0">
                <a:latin typeface="Arial Narrow" panose="020B0606020202030204" pitchFamily="34" charset="0"/>
              </a:rPr>
              <a:t>supply.</a:t>
            </a:r>
            <a:endParaRPr lang="tr-TR" sz="1600" dirty="0" smtClean="0">
              <a:latin typeface="Arial Narrow" panose="020B0606020202030204" pitchFamily="34" charset="0"/>
            </a:endParaRPr>
          </a:p>
          <a:p>
            <a:pPr marL="0" indent="0" algn="ctr">
              <a:spcBef>
                <a:spcPts val="0"/>
              </a:spcBef>
              <a:buNone/>
            </a:pPr>
            <a:r>
              <a:rPr lang="en-US" sz="1600" dirty="0" smtClean="0">
                <a:latin typeface="Arial Narrow" panose="020B0606020202030204" pitchFamily="34" charset="0"/>
              </a:rPr>
              <a:t>These </a:t>
            </a:r>
            <a:r>
              <a:rPr lang="en-US" sz="1600" dirty="0">
                <a:latin typeface="Arial Narrow" panose="020B0606020202030204" pitchFamily="34" charset="0"/>
              </a:rPr>
              <a:t>economic conditions will then trigger financial </a:t>
            </a:r>
            <a:r>
              <a:rPr lang="en-US" sz="1600" dirty="0" smtClean="0">
                <a:latin typeface="Arial Narrow" panose="020B0606020202030204" pitchFamily="34" charset="0"/>
              </a:rPr>
              <a:t>institutions</a:t>
            </a:r>
            <a:endParaRPr lang="tr-TR" sz="1600" dirty="0" smtClean="0">
              <a:latin typeface="Arial Narrow" panose="020B0606020202030204" pitchFamily="34" charset="0"/>
            </a:endParaRPr>
          </a:p>
          <a:p>
            <a:pPr marL="0" indent="0" algn="ctr">
              <a:spcBef>
                <a:spcPts val="0"/>
              </a:spcBef>
              <a:buNone/>
            </a:pPr>
            <a:r>
              <a:rPr lang="en-US" sz="1600" dirty="0" smtClean="0">
                <a:latin typeface="Arial Narrow" panose="020B0606020202030204" pitchFamily="34" charset="0"/>
              </a:rPr>
              <a:t>to </a:t>
            </a:r>
            <a:r>
              <a:rPr lang="en-US" sz="1600" dirty="0">
                <a:latin typeface="Arial Narrow" panose="020B0606020202030204" pitchFamily="34" charset="0"/>
              </a:rPr>
              <a:t>promote increased </a:t>
            </a:r>
            <a:r>
              <a:rPr lang="en-US" sz="1600" dirty="0" smtClean="0">
                <a:latin typeface="Arial Narrow" panose="020B0606020202030204" pitchFamily="34" charset="0"/>
              </a:rPr>
              <a:t>lending</a:t>
            </a:r>
            <a:r>
              <a:rPr lang="tr-TR" sz="1600" dirty="0" smtClean="0">
                <a:latin typeface="Arial Narrow" panose="020B0606020202030204" pitchFamily="34" charset="0"/>
              </a:rPr>
              <a:t> </a:t>
            </a:r>
            <a:r>
              <a:rPr lang="en-US" sz="1600" dirty="0" smtClean="0">
                <a:latin typeface="Arial Narrow" panose="020B0606020202030204" pitchFamily="34" charset="0"/>
              </a:rPr>
              <a:t>and </a:t>
            </a:r>
            <a:r>
              <a:rPr lang="en-US" sz="1600" dirty="0">
                <a:latin typeface="Arial Narrow" panose="020B0606020202030204" pitchFamily="34" charset="0"/>
              </a:rPr>
              <a:t>to make money supply more liquid</a:t>
            </a:r>
            <a:r>
              <a:rPr lang="en-US" sz="1600" dirty="0" smtClean="0">
                <a:latin typeface="Arial Narrow" panose="020B0606020202030204" pitchFamily="34" charset="0"/>
              </a:rPr>
              <a:t>.</a:t>
            </a:r>
            <a:endParaRPr lang="tr-TR" sz="1600" dirty="0" smtClean="0">
              <a:latin typeface="Arial Narrow" panose="020B0606020202030204" pitchFamily="34" charset="0"/>
            </a:endParaRPr>
          </a:p>
          <a:p>
            <a:pPr marL="0" indent="0" algn="ctr">
              <a:spcBef>
                <a:spcPts val="0"/>
              </a:spcBef>
              <a:buNone/>
            </a:pPr>
            <a:endParaRPr lang="tr-TR" sz="800" dirty="0">
              <a:latin typeface="Arial Narrow" panose="020B0606020202030204" pitchFamily="34" charset="0"/>
            </a:endParaRPr>
          </a:p>
          <a:p>
            <a:pPr marL="0" indent="0" algn="ctr">
              <a:spcBef>
                <a:spcPts val="0"/>
              </a:spcBef>
              <a:buNone/>
            </a:pPr>
            <a:r>
              <a:rPr lang="tr-TR" sz="1600" dirty="0" err="1" smtClean="0">
                <a:latin typeface="Arial Narrow" panose="020B0606020202030204" pitchFamily="34" charset="0"/>
              </a:rPr>
              <a:t>FED’s</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Sheet</a:t>
            </a:r>
            <a:r>
              <a:rPr lang="tr-TR" sz="1600" dirty="0" smtClean="0">
                <a:latin typeface="Arial Narrow" panose="020B0606020202030204" pitchFamily="34" charset="0"/>
              </a:rPr>
              <a:t> size</a:t>
            </a:r>
            <a:endParaRPr lang="en-US" sz="1600" dirty="0">
              <a:latin typeface="Arial Narrow" panose="020B0606020202030204" pitchFamily="34" charset="0"/>
            </a:endParaRPr>
          </a:p>
        </p:txBody>
      </p:sp>
      <p:pic>
        <p:nvPicPr>
          <p:cNvPr id="3" name="Resim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891" y="2204864"/>
            <a:ext cx="8458217" cy="4184913"/>
          </a:xfrm>
          <a:prstGeom prst="rect">
            <a:avLst/>
          </a:prstGeom>
        </p:spPr>
      </p:pic>
      <p:cxnSp>
        <p:nvCxnSpPr>
          <p:cNvPr id="10" name="Düz Ok Bağlayıcısı 9"/>
          <p:cNvCxnSpPr/>
          <p:nvPr/>
        </p:nvCxnSpPr>
        <p:spPr>
          <a:xfrm>
            <a:off x="4644008" y="2996952"/>
            <a:ext cx="0" cy="115212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a:stCxn id="16" idx="2"/>
          </p:cNvCxnSpPr>
          <p:nvPr/>
        </p:nvCxnSpPr>
        <p:spPr>
          <a:xfrm>
            <a:off x="5364088" y="2862518"/>
            <a:ext cx="0" cy="121455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Düz Ok Bağlayıcısı 11"/>
          <p:cNvCxnSpPr>
            <a:stCxn id="17" idx="2"/>
          </p:cNvCxnSpPr>
          <p:nvPr/>
        </p:nvCxnSpPr>
        <p:spPr>
          <a:xfrm>
            <a:off x="6156176" y="2754506"/>
            <a:ext cx="0" cy="1018355"/>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Metin kutusu 14"/>
          <p:cNvSpPr txBox="1"/>
          <p:nvPr/>
        </p:nvSpPr>
        <p:spPr>
          <a:xfrm>
            <a:off x="4256722" y="2492896"/>
            <a:ext cx="774571" cy="523220"/>
          </a:xfrm>
          <a:prstGeom prst="rect">
            <a:avLst/>
          </a:prstGeom>
          <a:noFill/>
        </p:spPr>
        <p:txBody>
          <a:bodyPr wrap="none" rtlCol="0">
            <a:spAutoFit/>
          </a:bodyPr>
          <a:lstStyle/>
          <a:p>
            <a:r>
              <a:rPr lang="tr-TR" sz="2800" dirty="0" smtClean="0">
                <a:solidFill>
                  <a:srgbClr val="FF0000"/>
                </a:solidFill>
                <a:latin typeface="Arial Narrow" panose="020B0606020202030204" pitchFamily="34" charset="0"/>
              </a:rPr>
              <a:t>QE1</a:t>
            </a:r>
            <a:endParaRPr lang="en-US" sz="2800" dirty="0">
              <a:solidFill>
                <a:srgbClr val="FF0000"/>
              </a:solidFill>
              <a:latin typeface="Arial Narrow" panose="020B0606020202030204" pitchFamily="34" charset="0"/>
            </a:endParaRPr>
          </a:p>
        </p:txBody>
      </p:sp>
      <p:sp>
        <p:nvSpPr>
          <p:cNvPr id="16" name="Metin kutusu 15"/>
          <p:cNvSpPr txBox="1"/>
          <p:nvPr/>
        </p:nvSpPr>
        <p:spPr>
          <a:xfrm>
            <a:off x="4976802" y="2339298"/>
            <a:ext cx="774571" cy="523220"/>
          </a:xfrm>
          <a:prstGeom prst="rect">
            <a:avLst/>
          </a:prstGeom>
          <a:noFill/>
        </p:spPr>
        <p:txBody>
          <a:bodyPr wrap="none" rtlCol="0">
            <a:spAutoFit/>
          </a:bodyPr>
          <a:lstStyle/>
          <a:p>
            <a:r>
              <a:rPr lang="tr-TR" sz="2800" dirty="0" smtClean="0">
                <a:solidFill>
                  <a:srgbClr val="FF0000"/>
                </a:solidFill>
                <a:latin typeface="Arial Narrow" panose="020B0606020202030204" pitchFamily="34" charset="0"/>
              </a:rPr>
              <a:t>QE2</a:t>
            </a:r>
            <a:endParaRPr lang="en-US" sz="2800" dirty="0">
              <a:solidFill>
                <a:srgbClr val="FF0000"/>
              </a:solidFill>
              <a:latin typeface="Arial Narrow" panose="020B0606020202030204" pitchFamily="34" charset="0"/>
            </a:endParaRPr>
          </a:p>
        </p:txBody>
      </p:sp>
      <p:sp>
        <p:nvSpPr>
          <p:cNvPr id="17" name="Metin kutusu 16"/>
          <p:cNvSpPr txBox="1"/>
          <p:nvPr/>
        </p:nvSpPr>
        <p:spPr>
          <a:xfrm>
            <a:off x="5768890" y="2231286"/>
            <a:ext cx="774571" cy="523220"/>
          </a:xfrm>
          <a:prstGeom prst="rect">
            <a:avLst/>
          </a:prstGeom>
          <a:noFill/>
        </p:spPr>
        <p:txBody>
          <a:bodyPr wrap="none" rtlCol="0">
            <a:spAutoFit/>
          </a:bodyPr>
          <a:lstStyle/>
          <a:p>
            <a:r>
              <a:rPr lang="tr-TR" sz="2800" dirty="0" smtClean="0">
                <a:solidFill>
                  <a:srgbClr val="FF0000"/>
                </a:solidFill>
                <a:latin typeface="Arial Narrow" panose="020B0606020202030204" pitchFamily="34" charset="0"/>
              </a:rPr>
              <a:t>QE3</a:t>
            </a:r>
            <a:endParaRPr lang="en-US" sz="2800"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266084083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2008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[9] Banks</a:t>
            </a:r>
            <a:endParaRPr lang="tr-TR" sz="2400" dirty="0">
              <a:latin typeface="Arial Narrow" pitchFamily="34" charset="0"/>
            </a:endParaRPr>
          </a:p>
        </p:txBody>
      </p:sp>
      <p:sp>
        <p:nvSpPr>
          <p:cNvPr id="5" name="Content Placeholder 4"/>
          <p:cNvSpPr>
            <a:spLocks noGrp="1"/>
          </p:cNvSpPr>
          <p:nvPr>
            <p:ph idx="1"/>
          </p:nvPr>
        </p:nvSpPr>
        <p:spPr>
          <a:xfrm>
            <a:off x="457200" y="836712"/>
            <a:ext cx="8229600" cy="5544616"/>
          </a:xfrm>
          <a:ln w="25400">
            <a:noFill/>
          </a:ln>
        </p:spPr>
        <p:txBody>
          <a:bodyPr>
            <a:noAutofit/>
          </a:bodyPr>
          <a:lstStyle/>
          <a:p>
            <a:pPr marL="0" lvl="0" indent="0" algn="ctr">
              <a:spcBef>
                <a:spcPts val="0"/>
              </a:spcBef>
              <a:buNone/>
            </a:pPr>
            <a:endParaRPr lang="tr-TR" sz="1100" smtClean="0">
              <a:latin typeface="Arial Narrow" panose="020B0606020202030204" pitchFamily="34" charset="0"/>
            </a:endParaRPr>
          </a:p>
          <a:p>
            <a:pPr marL="0" lvl="0" indent="0" algn="ctr">
              <a:spcBef>
                <a:spcPts val="0"/>
              </a:spcBef>
              <a:buNone/>
            </a:pPr>
            <a:r>
              <a:rPr lang="tr-TR" sz="1800" smtClean="0">
                <a:latin typeface="Arial Narrow" panose="020B0606020202030204" pitchFamily="34" charset="0"/>
              </a:rPr>
              <a:t>Asset Transformation</a:t>
            </a:r>
          </a:p>
          <a:p>
            <a:pPr marL="0" lvl="0" indent="0" algn="ctr">
              <a:spcBef>
                <a:spcPts val="0"/>
              </a:spcBef>
              <a:buNone/>
            </a:pPr>
            <a:r>
              <a:rPr lang="tr-TR" sz="1800" smtClean="0">
                <a:latin typeface="Arial Narrow" panose="020B0606020202030204" pitchFamily="34" charset="0"/>
              </a:rPr>
              <a:t>Banks </a:t>
            </a:r>
            <a:r>
              <a:rPr lang="tr-TR" sz="1800" dirty="0" err="1">
                <a:latin typeface="Arial Narrow" panose="020B0606020202030204" pitchFamily="34" charset="0"/>
              </a:rPr>
              <a:t>make</a:t>
            </a:r>
            <a:r>
              <a:rPr lang="tr-TR" sz="1800" dirty="0">
                <a:latin typeface="Arial Narrow" panose="020B0606020202030204" pitchFamily="34" charset="0"/>
              </a:rPr>
              <a:t> </a:t>
            </a:r>
            <a:r>
              <a:rPr lang="tr-TR" sz="1800" dirty="0" err="1">
                <a:latin typeface="Arial Narrow" panose="020B0606020202030204" pitchFamily="34" charset="0"/>
              </a:rPr>
              <a:t>profits</a:t>
            </a:r>
            <a:r>
              <a:rPr lang="tr-TR" sz="1800" dirty="0">
                <a:latin typeface="Arial Narrow" panose="020B0606020202030204" pitchFamily="34" charset="0"/>
              </a:rPr>
              <a:t> </a:t>
            </a:r>
            <a:r>
              <a:rPr lang="tr-TR" sz="1800" dirty="0" err="1">
                <a:latin typeface="Arial Narrow" panose="020B0606020202030204" pitchFamily="34" charset="0"/>
              </a:rPr>
              <a:t>through</a:t>
            </a:r>
            <a:r>
              <a:rPr lang="tr-TR" sz="1800" dirty="0">
                <a:latin typeface="Arial Narrow" panose="020B0606020202030204" pitchFamily="34" charset="0"/>
              </a:rPr>
              <a:t> </a:t>
            </a:r>
            <a:r>
              <a:rPr lang="tr-TR" sz="1800" dirty="0" err="1">
                <a:latin typeface="Arial Narrow" panose="020B0606020202030204" pitchFamily="34" charset="0"/>
              </a:rPr>
              <a:t>the</a:t>
            </a:r>
            <a:r>
              <a:rPr lang="tr-TR" sz="1800" dirty="0">
                <a:latin typeface="Arial Narrow" panose="020B0606020202030204" pitchFamily="34" charset="0"/>
              </a:rPr>
              <a:t> </a:t>
            </a:r>
            <a:r>
              <a:rPr lang="tr-TR" sz="1800" dirty="0" err="1">
                <a:latin typeface="Arial Narrow" panose="020B0606020202030204" pitchFamily="34" charset="0"/>
              </a:rPr>
              <a:t>process</a:t>
            </a:r>
            <a:r>
              <a:rPr lang="tr-TR" sz="1800" dirty="0">
                <a:latin typeface="Arial Narrow" panose="020B0606020202030204" pitchFamily="34" charset="0"/>
              </a:rPr>
              <a:t> of </a:t>
            </a:r>
            <a:r>
              <a:rPr lang="tr-TR" sz="1800" dirty="0" err="1">
                <a:latin typeface="Arial Narrow" panose="020B0606020202030204" pitchFamily="34" charset="0"/>
              </a:rPr>
              <a:t>asset</a:t>
            </a:r>
            <a:r>
              <a:rPr lang="tr-TR" sz="1800" dirty="0">
                <a:latin typeface="Arial Narrow" panose="020B0606020202030204" pitchFamily="34" charset="0"/>
              </a:rPr>
              <a:t> </a:t>
            </a:r>
            <a:r>
              <a:rPr lang="tr-TR" sz="1800" dirty="0" err="1">
                <a:latin typeface="Arial Narrow" panose="020B0606020202030204" pitchFamily="34" charset="0"/>
              </a:rPr>
              <a:t>transformation</a:t>
            </a:r>
            <a:r>
              <a:rPr lang="tr-TR" sz="1800" dirty="0">
                <a:latin typeface="Arial Narrow" panose="020B0606020202030204" pitchFamily="34" charset="0"/>
              </a:rPr>
              <a:t>:</a:t>
            </a:r>
          </a:p>
          <a:p>
            <a:pPr marL="0" lvl="0" indent="0" algn="ctr">
              <a:spcBef>
                <a:spcPts val="0"/>
              </a:spcBef>
              <a:buNone/>
            </a:pPr>
            <a:r>
              <a:rPr lang="tr-TR" sz="1800" dirty="0" err="1">
                <a:latin typeface="Arial Narrow" panose="020B0606020202030204" pitchFamily="34" charset="0"/>
              </a:rPr>
              <a:t>They</a:t>
            </a:r>
            <a:r>
              <a:rPr lang="tr-TR" sz="1800" dirty="0">
                <a:latin typeface="Arial Narrow" panose="020B0606020202030204" pitchFamily="34" charset="0"/>
              </a:rPr>
              <a:t> </a:t>
            </a:r>
            <a:r>
              <a:rPr lang="tr-TR" sz="1800" dirty="0" err="1">
                <a:latin typeface="Arial Narrow" panose="020B0606020202030204" pitchFamily="34" charset="0"/>
              </a:rPr>
              <a:t>borrow</a:t>
            </a:r>
            <a:r>
              <a:rPr lang="tr-TR" sz="1800" dirty="0">
                <a:latin typeface="Arial Narrow" panose="020B0606020202030204" pitchFamily="34" charset="0"/>
              </a:rPr>
              <a:t> </a:t>
            </a:r>
            <a:r>
              <a:rPr lang="tr-TR" sz="1800" dirty="0" err="1">
                <a:latin typeface="Arial Narrow" panose="020B0606020202030204" pitchFamily="34" charset="0"/>
              </a:rPr>
              <a:t>short</a:t>
            </a:r>
            <a:r>
              <a:rPr lang="tr-TR" sz="1800" dirty="0">
                <a:latin typeface="Arial Narrow" panose="020B0606020202030204" pitchFamily="34" charset="0"/>
              </a:rPr>
              <a:t> (</a:t>
            </a:r>
            <a:r>
              <a:rPr lang="tr-TR" sz="1800" dirty="0" err="1">
                <a:latin typeface="Arial Narrow" panose="020B0606020202030204" pitchFamily="34" charset="0"/>
              </a:rPr>
              <a:t>accept</a:t>
            </a:r>
            <a:r>
              <a:rPr lang="tr-TR" sz="1800" dirty="0">
                <a:latin typeface="Arial Narrow" panose="020B0606020202030204" pitchFamily="34" charset="0"/>
              </a:rPr>
              <a:t> </a:t>
            </a:r>
            <a:r>
              <a:rPr lang="tr-TR" sz="1800" dirty="0" err="1">
                <a:latin typeface="Arial Narrow" panose="020B0606020202030204" pitchFamily="34" charset="0"/>
              </a:rPr>
              <a:t>short-term</a:t>
            </a:r>
            <a:r>
              <a:rPr lang="tr-TR" sz="1800" dirty="0">
                <a:latin typeface="Arial Narrow" panose="020B0606020202030204" pitchFamily="34" charset="0"/>
              </a:rPr>
              <a:t> </a:t>
            </a:r>
            <a:r>
              <a:rPr lang="tr-TR" sz="1800" dirty="0" err="1">
                <a:latin typeface="Arial Narrow" panose="020B0606020202030204" pitchFamily="34" charset="0"/>
              </a:rPr>
              <a:t>deposits</a:t>
            </a:r>
            <a:r>
              <a:rPr lang="tr-TR" sz="1800" dirty="0">
                <a:latin typeface="Arial Narrow" panose="020B0606020202030204" pitchFamily="34" charset="0"/>
              </a:rPr>
              <a:t>)</a:t>
            </a:r>
          </a:p>
          <a:p>
            <a:pPr marL="0" lvl="0" indent="0" algn="ctr">
              <a:spcBef>
                <a:spcPts val="0"/>
              </a:spcBef>
              <a:buNone/>
            </a:pPr>
            <a:r>
              <a:rPr lang="tr-TR" sz="1800" dirty="0" err="1">
                <a:latin typeface="Arial Narrow" panose="020B0606020202030204" pitchFamily="34" charset="0"/>
              </a:rPr>
              <a:t>and</a:t>
            </a:r>
            <a:r>
              <a:rPr lang="tr-TR" sz="1800" dirty="0">
                <a:latin typeface="Arial Narrow" panose="020B0606020202030204" pitchFamily="34" charset="0"/>
              </a:rPr>
              <a:t> </a:t>
            </a:r>
            <a:r>
              <a:rPr lang="tr-TR" sz="1800" dirty="0" err="1">
                <a:latin typeface="Arial Narrow" panose="020B0606020202030204" pitchFamily="34" charset="0"/>
              </a:rPr>
              <a:t>lend</a:t>
            </a:r>
            <a:r>
              <a:rPr lang="tr-TR" sz="1800" dirty="0">
                <a:latin typeface="Arial Narrow" panose="020B0606020202030204" pitchFamily="34" charset="0"/>
              </a:rPr>
              <a:t> </a:t>
            </a:r>
            <a:r>
              <a:rPr lang="tr-TR" sz="1800" dirty="0" err="1">
                <a:latin typeface="Arial Narrow" panose="020B0606020202030204" pitchFamily="34" charset="0"/>
              </a:rPr>
              <a:t>long</a:t>
            </a:r>
            <a:r>
              <a:rPr lang="tr-TR" sz="1800" dirty="0">
                <a:latin typeface="Arial Narrow" panose="020B0606020202030204" pitchFamily="34" charset="0"/>
              </a:rPr>
              <a:t> (</a:t>
            </a:r>
            <a:r>
              <a:rPr lang="tr-TR" sz="1800" dirty="0" err="1">
                <a:latin typeface="Arial Narrow" panose="020B0606020202030204" pitchFamily="34" charset="0"/>
              </a:rPr>
              <a:t>make</a:t>
            </a:r>
            <a:r>
              <a:rPr lang="tr-TR" sz="1800" dirty="0">
                <a:latin typeface="Arial Narrow" panose="020B0606020202030204" pitchFamily="34" charset="0"/>
              </a:rPr>
              <a:t> </a:t>
            </a:r>
            <a:r>
              <a:rPr lang="tr-TR" sz="1800" dirty="0" err="1">
                <a:latin typeface="Arial Narrow" panose="020B0606020202030204" pitchFamily="34" charset="0"/>
              </a:rPr>
              <a:t>long-term</a:t>
            </a:r>
            <a:r>
              <a:rPr lang="tr-TR" sz="1800" dirty="0">
                <a:latin typeface="Arial Narrow" panose="020B0606020202030204" pitchFamily="34" charset="0"/>
              </a:rPr>
              <a:t> </a:t>
            </a:r>
            <a:r>
              <a:rPr lang="tr-TR" sz="1800" err="1">
                <a:latin typeface="Arial Narrow" panose="020B0606020202030204" pitchFamily="34" charset="0"/>
              </a:rPr>
              <a:t>loans</a:t>
            </a:r>
            <a:r>
              <a:rPr lang="tr-TR" sz="1800" smtClean="0">
                <a:latin typeface="Arial Narrow" panose="020B0606020202030204" pitchFamily="34" charset="0"/>
              </a:rPr>
              <a:t>).</a:t>
            </a:r>
          </a:p>
          <a:p>
            <a:pPr marL="0" lvl="0" indent="0" algn="ctr">
              <a:spcBef>
                <a:spcPts val="0"/>
              </a:spcBef>
              <a:buNone/>
            </a:pPr>
            <a:endParaRPr lang="tr-TR" sz="1800" smtClean="0">
              <a:latin typeface="Arial Narrow" panose="020B0606020202030204" pitchFamily="34" charset="0"/>
            </a:endParaRPr>
          </a:p>
          <a:p>
            <a:pPr marL="0" lvl="0" indent="0" algn="ctr">
              <a:spcBef>
                <a:spcPts val="0"/>
              </a:spcBef>
              <a:buNone/>
            </a:pPr>
            <a:endParaRPr lang="tr-TR" sz="1800">
              <a:latin typeface="Arial Narrow" panose="020B0606020202030204" pitchFamily="34" charset="0"/>
            </a:endParaRPr>
          </a:p>
          <a:p>
            <a:pPr marL="0" lvl="0" indent="0" algn="ctr">
              <a:spcBef>
                <a:spcPts val="0"/>
              </a:spcBef>
              <a:buNone/>
            </a:pPr>
            <a:r>
              <a:rPr lang="tr-TR" sz="1800" smtClean="0">
                <a:latin typeface="Arial Narrow" panose="020B0606020202030204" pitchFamily="34" charset="0"/>
              </a:rPr>
              <a:t>Primary concerns of Bank Management</a:t>
            </a:r>
            <a:r>
              <a:rPr lang="tr-TR" sz="1800" smtClean="0">
                <a:latin typeface="Arial Narrow" panose="020B0606020202030204" pitchFamily="34" charset="0"/>
              </a:rPr>
              <a:t>:</a:t>
            </a:r>
          </a:p>
          <a:p>
            <a:pPr marL="0" lvl="0" indent="0" algn="ctr">
              <a:spcBef>
                <a:spcPts val="0"/>
              </a:spcBef>
              <a:buNone/>
            </a:pPr>
            <a:endParaRPr lang="tr-TR" sz="900">
              <a:latin typeface="Arial Narrow" panose="020B0606020202030204" pitchFamily="34" charset="0"/>
            </a:endParaRPr>
          </a:p>
          <a:p>
            <a:pPr lvl="0" algn="ctr">
              <a:spcBef>
                <a:spcPts val="0"/>
              </a:spcBef>
              <a:buFont typeface="+mj-lt"/>
              <a:buAutoNum type="arabicPeriod"/>
            </a:pPr>
            <a:r>
              <a:rPr lang="tr-TR" sz="1800" noProof="1" smtClean="0">
                <a:latin typeface="Arial Narrow" panose="020B0606020202030204" pitchFamily="34" charset="0"/>
              </a:rPr>
              <a:t>To make sure that the bank has enough ready cash to pay its depositors</a:t>
            </a:r>
          </a:p>
          <a:p>
            <a:pPr marL="0" lvl="0" indent="0" algn="ctr">
              <a:spcBef>
                <a:spcPts val="0"/>
              </a:spcBef>
              <a:buNone/>
            </a:pPr>
            <a:r>
              <a:rPr lang="tr-TR" sz="1800" noProof="1" smtClean="0">
                <a:latin typeface="Arial Narrow" panose="020B0606020202030204" pitchFamily="34" charset="0"/>
              </a:rPr>
              <a:t>when there are deposit outflows</a:t>
            </a:r>
          </a:p>
          <a:p>
            <a:pPr marL="0" lvl="0" indent="0" algn="ctr">
              <a:spcBef>
                <a:spcPts val="0"/>
              </a:spcBef>
              <a:buNone/>
            </a:pPr>
            <a:r>
              <a:rPr lang="tr-TR" sz="1800" noProof="1" smtClean="0">
                <a:latin typeface="Arial Narrow" panose="020B0606020202030204" pitchFamily="34" charset="0"/>
              </a:rPr>
              <a:t>the bank must engage in Liquidity Management</a:t>
            </a:r>
            <a:r>
              <a:rPr lang="tr-TR" sz="1800" noProof="1">
                <a:latin typeface="Arial Narrow" panose="020B0606020202030204" pitchFamily="34" charset="0"/>
              </a:rPr>
              <a:t>.</a:t>
            </a:r>
            <a:endParaRPr lang="tr-TR" sz="1800" noProof="1" smtClean="0">
              <a:latin typeface="Arial Narrow" panose="020B0606020202030204" pitchFamily="34" charset="0"/>
            </a:endParaRPr>
          </a:p>
          <a:p>
            <a:pPr marL="0" lvl="0" indent="0" algn="ctr">
              <a:spcBef>
                <a:spcPts val="0"/>
              </a:spcBef>
              <a:buNone/>
            </a:pPr>
            <a:endParaRPr lang="tr-TR" sz="900" noProof="1">
              <a:latin typeface="Arial Narrow" panose="020B0606020202030204" pitchFamily="34" charset="0"/>
            </a:endParaRPr>
          </a:p>
          <a:p>
            <a:pPr lvl="0" algn="ctr">
              <a:spcBef>
                <a:spcPts val="0"/>
              </a:spcBef>
              <a:buFont typeface="+mj-lt"/>
              <a:buAutoNum type="arabicPeriod" startAt="2"/>
            </a:pPr>
            <a:r>
              <a:rPr lang="tr-TR" sz="1800" noProof="1">
                <a:latin typeface="Arial Narrow" panose="020B0606020202030204" pitchFamily="34" charset="0"/>
              </a:rPr>
              <a:t>Pursuing an acceptably low level of risk</a:t>
            </a:r>
          </a:p>
          <a:p>
            <a:pPr marL="0" lvl="0" indent="0" algn="ctr">
              <a:spcBef>
                <a:spcPts val="0"/>
              </a:spcBef>
              <a:buNone/>
            </a:pPr>
            <a:r>
              <a:rPr lang="tr-TR" sz="1800" noProof="1">
                <a:latin typeface="Arial Narrow" panose="020B0606020202030204" pitchFamily="34" charset="0"/>
              </a:rPr>
              <a:t>by acquiring assets that have a low rate default</a:t>
            </a:r>
          </a:p>
          <a:p>
            <a:pPr marL="0" lvl="0" indent="0" algn="ctr">
              <a:spcBef>
                <a:spcPts val="0"/>
              </a:spcBef>
              <a:buNone/>
            </a:pPr>
            <a:r>
              <a:rPr lang="tr-TR" sz="1800" noProof="1">
                <a:latin typeface="Arial Narrow" panose="020B0606020202030204" pitchFamily="34" charset="0"/>
              </a:rPr>
              <a:t>and by diversifying asset holdings (Asset Management).</a:t>
            </a:r>
          </a:p>
          <a:p>
            <a:pPr marL="0" lvl="0" indent="0" algn="ctr">
              <a:spcBef>
                <a:spcPts val="0"/>
              </a:spcBef>
              <a:buNone/>
            </a:pPr>
            <a:endParaRPr lang="tr-TR" sz="900" noProof="1">
              <a:latin typeface="Arial Narrow" panose="020B0606020202030204" pitchFamily="34" charset="0"/>
            </a:endParaRPr>
          </a:p>
          <a:p>
            <a:pPr lvl="0" algn="ctr">
              <a:spcBef>
                <a:spcPts val="0"/>
              </a:spcBef>
              <a:buFont typeface="+mj-lt"/>
              <a:buAutoNum type="arabicPeriod" startAt="3"/>
            </a:pPr>
            <a:r>
              <a:rPr lang="tr-TR" sz="1800" noProof="1">
                <a:latin typeface="Arial Narrow" panose="020B0606020202030204" pitchFamily="34" charset="0"/>
              </a:rPr>
              <a:t>Acquring funds at low cost (Liability Management).</a:t>
            </a:r>
          </a:p>
          <a:p>
            <a:pPr lvl="0" algn="ctr">
              <a:spcBef>
                <a:spcPts val="0"/>
              </a:spcBef>
              <a:buFont typeface="+mj-lt"/>
              <a:buAutoNum type="arabicPeriod" startAt="3"/>
            </a:pPr>
            <a:endParaRPr lang="tr-TR" sz="900" noProof="1">
              <a:latin typeface="Arial Narrow" panose="020B0606020202030204" pitchFamily="34" charset="0"/>
            </a:endParaRPr>
          </a:p>
          <a:p>
            <a:pPr lvl="0" algn="ctr">
              <a:spcBef>
                <a:spcPts val="0"/>
              </a:spcBef>
              <a:buFont typeface="+mj-lt"/>
              <a:buAutoNum type="arabicPeriod" startAt="3"/>
            </a:pPr>
            <a:r>
              <a:rPr lang="tr-TR" sz="1800" noProof="1">
                <a:latin typeface="Arial Narrow" panose="020B0606020202030204" pitchFamily="34" charset="0"/>
              </a:rPr>
              <a:t>Deciding the amount of capital the bank should maintain</a:t>
            </a:r>
          </a:p>
          <a:p>
            <a:pPr marL="0" lvl="0" indent="0" algn="ctr">
              <a:spcBef>
                <a:spcPts val="0"/>
              </a:spcBef>
              <a:buNone/>
            </a:pPr>
            <a:r>
              <a:rPr lang="tr-TR" sz="1800" noProof="1">
                <a:latin typeface="Arial Narrow" panose="020B0606020202030204" pitchFamily="34" charset="0"/>
              </a:rPr>
              <a:t>and then acquiring the needed capital (Capital Adequacy Management).</a:t>
            </a: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p:txBody>
      </p:sp>
    </p:spTree>
    <p:extLst>
      <p:ext uri="{BB962C8B-B14F-4D97-AF65-F5344CB8AC3E}">
        <p14:creationId xmlns:p14="http://schemas.microsoft.com/office/powerpoint/2010/main" val="3976691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72008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[9] Banks</a:t>
            </a:r>
            <a:endParaRPr lang="tr-TR" sz="2400" dirty="0">
              <a:latin typeface="Arial Narrow" pitchFamily="34" charset="0"/>
            </a:endParaRPr>
          </a:p>
        </p:txBody>
      </p:sp>
      <p:sp>
        <p:nvSpPr>
          <p:cNvPr id="5" name="Content Placeholder 4"/>
          <p:cNvSpPr>
            <a:spLocks noGrp="1"/>
          </p:cNvSpPr>
          <p:nvPr>
            <p:ph idx="1"/>
          </p:nvPr>
        </p:nvSpPr>
        <p:spPr>
          <a:xfrm>
            <a:off x="457200" y="836712"/>
            <a:ext cx="8229600" cy="5289451"/>
          </a:xfrm>
          <a:ln w="25400">
            <a:noFill/>
          </a:ln>
        </p:spPr>
        <p:txBody>
          <a:bodyPr>
            <a:noAutofit/>
          </a:bodyPr>
          <a:lstStyle/>
          <a:p>
            <a:pPr marL="0" lvl="0" indent="0" algn="ctr">
              <a:spcBef>
                <a:spcPts val="0"/>
              </a:spcBef>
              <a:buNone/>
            </a:pPr>
            <a:endParaRPr lang="tr-TR" sz="2200" smtClean="0">
              <a:latin typeface="Arial Narrow" panose="020B0606020202030204" pitchFamily="34" charset="0"/>
            </a:endParaRPr>
          </a:p>
          <a:p>
            <a:pPr marL="0" lvl="0" indent="0" algn="ctr">
              <a:spcBef>
                <a:spcPts val="0"/>
              </a:spcBef>
              <a:buNone/>
            </a:pPr>
            <a:r>
              <a:rPr lang="tr-TR" sz="1800" smtClean="0">
                <a:latin typeface="Arial Narrow" panose="020B0606020202030204" pitchFamily="34" charset="0"/>
              </a:rPr>
              <a:t>Primary </a:t>
            </a:r>
            <a:r>
              <a:rPr lang="tr-TR" sz="1800">
                <a:latin typeface="Arial Narrow" panose="020B0606020202030204" pitchFamily="34" charset="0"/>
              </a:rPr>
              <a:t>risks in banking</a:t>
            </a:r>
          </a:p>
          <a:p>
            <a:pPr marL="0" lvl="0" indent="0" algn="ctr">
              <a:spcBef>
                <a:spcPts val="0"/>
              </a:spcBef>
              <a:buNone/>
            </a:pPr>
            <a:r>
              <a:rPr lang="tr-TR" sz="1800">
                <a:latin typeface="Arial Narrow" panose="020B0606020202030204" pitchFamily="34" charset="0"/>
              </a:rPr>
              <a:t>are as follows.</a:t>
            </a:r>
          </a:p>
          <a:p>
            <a:pPr lvl="0" algn="ctr">
              <a:spcBef>
                <a:spcPts val="0"/>
              </a:spcBef>
              <a:buFont typeface="+mj-lt"/>
              <a:buAutoNum type="arabicPeriod"/>
            </a:pPr>
            <a:r>
              <a:rPr lang="tr-TR" sz="1800" smtClean="0">
                <a:latin typeface="Arial Narrow" panose="020B0606020202030204" pitchFamily="34" charset="0"/>
              </a:rPr>
              <a:t>Credit </a:t>
            </a:r>
            <a:r>
              <a:rPr lang="tr-TR" sz="1800">
                <a:latin typeface="Arial Narrow" panose="020B0606020202030204" pitchFamily="34" charset="0"/>
              </a:rPr>
              <a:t>Risk</a:t>
            </a:r>
          </a:p>
          <a:p>
            <a:pPr marL="0" lvl="0" indent="0" algn="ctr">
              <a:spcBef>
                <a:spcPts val="0"/>
              </a:spcBef>
              <a:buNone/>
            </a:pPr>
            <a:r>
              <a:rPr lang="tr-TR" sz="1800" noProof="1">
                <a:latin typeface="Arial Narrow" panose="020B0606020202030204" pitchFamily="34" charset="0"/>
              </a:rPr>
              <a:t>The risk arising because borrowers may default</a:t>
            </a:r>
            <a:r>
              <a:rPr lang="tr-TR" sz="1800" noProof="1" smtClean="0">
                <a:latin typeface="Arial Narrow" panose="020B0606020202030204" pitchFamily="34" charset="0"/>
              </a:rPr>
              <a:t>.</a:t>
            </a:r>
            <a:endParaRPr lang="tr-TR" sz="1800" noProof="1">
              <a:latin typeface="Arial Narrow" panose="020B0606020202030204" pitchFamily="34" charset="0"/>
            </a:endParaRPr>
          </a:p>
          <a:p>
            <a:pPr lvl="0" algn="ctr">
              <a:spcBef>
                <a:spcPts val="0"/>
              </a:spcBef>
              <a:buFont typeface="+mj-lt"/>
              <a:buAutoNum type="arabicPeriod" startAt="2"/>
            </a:pPr>
            <a:r>
              <a:rPr lang="tr-TR" sz="1800" noProof="1">
                <a:latin typeface="Arial Narrow" panose="020B0606020202030204" pitchFamily="34" charset="0"/>
              </a:rPr>
              <a:t>Interest-rate Risk</a:t>
            </a:r>
          </a:p>
          <a:p>
            <a:pPr marL="0" lvl="0" indent="0" algn="ctr">
              <a:spcBef>
                <a:spcPts val="0"/>
              </a:spcBef>
              <a:buNone/>
            </a:pPr>
            <a:r>
              <a:rPr lang="tr-TR" sz="1800" noProof="1">
                <a:latin typeface="Arial Narrow" panose="020B0606020202030204" pitchFamily="34" charset="0"/>
              </a:rPr>
              <a:t>The riskiness of earnings and returns on bank assets</a:t>
            </a:r>
          </a:p>
          <a:p>
            <a:pPr marL="0" lvl="0" indent="0" algn="ctr">
              <a:spcBef>
                <a:spcPts val="0"/>
              </a:spcBef>
              <a:buNone/>
            </a:pPr>
            <a:r>
              <a:rPr lang="tr-TR" sz="1800" noProof="1">
                <a:latin typeface="Arial Narrow" panose="020B0606020202030204" pitchFamily="34" charset="0"/>
              </a:rPr>
              <a:t>that results from interest-rate changes</a:t>
            </a:r>
            <a:r>
              <a:rPr lang="tr-TR" sz="1800" noProof="1" smtClean="0">
                <a:latin typeface="Arial Narrow" panose="020B0606020202030204" pitchFamily="34" charset="0"/>
              </a:rPr>
              <a:t>.</a:t>
            </a:r>
          </a:p>
          <a:p>
            <a:pPr marL="0" lvl="0" indent="0" algn="ctr">
              <a:spcBef>
                <a:spcPts val="0"/>
              </a:spcBef>
              <a:buNone/>
            </a:pPr>
            <a:endParaRPr lang="tr-TR" sz="1800" noProof="1" smtClean="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indent="0" algn="ctr">
              <a:spcBef>
                <a:spcPts val="0"/>
              </a:spcBef>
              <a:buNone/>
            </a:pPr>
            <a:r>
              <a:rPr lang="tr-TR" sz="1800">
                <a:latin typeface="Arial Narrow" panose="020B0606020202030204" pitchFamily="34" charset="0"/>
              </a:rPr>
              <a:t>Credit risk management principles</a:t>
            </a:r>
          </a:p>
          <a:p>
            <a:pPr marL="0" indent="0" algn="ctr">
              <a:spcBef>
                <a:spcPts val="0"/>
              </a:spcBef>
              <a:buNone/>
            </a:pPr>
            <a:r>
              <a:rPr lang="tr-TR" sz="1800">
                <a:latin typeface="Arial Narrow" panose="020B0606020202030204" pitchFamily="34" charset="0"/>
              </a:rPr>
              <a:t>involving loan </a:t>
            </a:r>
            <a:r>
              <a:rPr lang="tr-TR" sz="1800" smtClean="0">
                <a:latin typeface="Arial Narrow" panose="020B0606020202030204" pitchFamily="34" charset="0"/>
              </a:rPr>
              <a:t>activities are </a:t>
            </a:r>
            <a:r>
              <a:rPr lang="tr-TR" sz="1800">
                <a:latin typeface="Arial Narrow" panose="020B0606020202030204" pitchFamily="34" charset="0"/>
              </a:rPr>
              <a:t>the following</a:t>
            </a:r>
            <a:r>
              <a:rPr lang="tr-TR" sz="1800" smtClean="0">
                <a:latin typeface="Arial Narrow" panose="020B0606020202030204" pitchFamily="34" charset="0"/>
              </a:rPr>
              <a:t>:</a:t>
            </a:r>
            <a:endParaRPr lang="tr-TR" sz="1800">
              <a:latin typeface="Arial Narrow" panose="020B0606020202030204" pitchFamily="34" charset="0"/>
            </a:endParaRPr>
          </a:p>
          <a:p>
            <a:pPr lvl="6">
              <a:spcBef>
                <a:spcPts val="0"/>
              </a:spcBef>
              <a:buFont typeface="+mj-lt"/>
              <a:buAutoNum type="arabicPeriod"/>
            </a:pPr>
            <a:r>
              <a:rPr lang="tr-TR" sz="1800">
                <a:latin typeface="Arial Narrow" panose="020B0606020202030204" pitchFamily="34" charset="0"/>
              </a:rPr>
              <a:t>screening and monitoring</a:t>
            </a:r>
          </a:p>
          <a:p>
            <a:pPr lvl="6">
              <a:spcBef>
                <a:spcPts val="0"/>
              </a:spcBef>
              <a:buFont typeface="+mj-lt"/>
              <a:buAutoNum type="arabicPeriod"/>
            </a:pPr>
            <a:r>
              <a:rPr lang="tr-TR" sz="1800">
                <a:latin typeface="Arial Narrow" panose="020B0606020202030204" pitchFamily="34" charset="0"/>
              </a:rPr>
              <a:t>long-term customer relationships</a:t>
            </a:r>
          </a:p>
          <a:p>
            <a:pPr lvl="6">
              <a:spcBef>
                <a:spcPts val="0"/>
              </a:spcBef>
              <a:buFont typeface="+mj-lt"/>
              <a:buAutoNum type="arabicPeriod"/>
            </a:pPr>
            <a:r>
              <a:rPr lang="tr-TR" sz="1800">
                <a:latin typeface="Arial Narrow" panose="020B0606020202030204" pitchFamily="34" charset="0"/>
              </a:rPr>
              <a:t>loan commitments</a:t>
            </a:r>
          </a:p>
          <a:p>
            <a:pPr lvl="6">
              <a:spcBef>
                <a:spcPts val="0"/>
              </a:spcBef>
              <a:buFont typeface="+mj-lt"/>
              <a:buAutoNum type="arabicPeriod"/>
            </a:pPr>
            <a:r>
              <a:rPr lang="tr-TR" sz="1800">
                <a:latin typeface="Arial Narrow" panose="020B0606020202030204" pitchFamily="34" charset="0"/>
              </a:rPr>
              <a:t>collateral and compensating balances</a:t>
            </a:r>
          </a:p>
          <a:p>
            <a:pPr lvl="6">
              <a:spcBef>
                <a:spcPts val="0"/>
              </a:spcBef>
              <a:buFont typeface="+mj-lt"/>
              <a:buAutoNum type="arabicPeriod"/>
            </a:pPr>
            <a:r>
              <a:rPr lang="tr-TR" sz="1800">
                <a:latin typeface="Arial Narrow" panose="020B0606020202030204" pitchFamily="34" charset="0"/>
              </a:rPr>
              <a:t>credit rationing</a:t>
            </a:r>
            <a:endParaRPr lang="tr-TR" sz="1800" noProof="1">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endParaRPr lang="tr-TR" sz="1800" dirty="0">
              <a:latin typeface="Arial Narrow" panose="020B0606020202030204" pitchFamily="34" charset="0"/>
            </a:endParaRPr>
          </a:p>
        </p:txBody>
      </p:sp>
    </p:spTree>
    <p:extLst>
      <p:ext uri="{BB962C8B-B14F-4D97-AF65-F5344CB8AC3E}">
        <p14:creationId xmlns:p14="http://schemas.microsoft.com/office/powerpoint/2010/main" val="5964747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224136"/>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[9] Banks</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err="1" smtClean="0">
                <a:latin typeface="Arial Narrow" pitchFamily="34" charset="0"/>
              </a:rPr>
              <a:t>Estimating</a:t>
            </a:r>
            <a:r>
              <a:rPr lang="tr-TR" sz="2400" dirty="0" smtClean="0">
                <a:latin typeface="Arial Narrow" pitchFamily="34" charset="0"/>
              </a:rPr>
              <a:t> </a:t>
            </a:r>
            <a:r>
              <a:rPr lang="tr-TR" sz="2400" dirty="0" err="1" smtClean="0">
                <a:latin typeface="Arial Narrow" pitchFamily="34" charset="0"/>
              </a:rPr>
              <a:t>the</a:t>
            </a:r>
            <a:r>
              <a:rPr lang="tr-TR" sz="2400" dirty="0" smtClean="0">
                <a:latin typeface="Arial Narrow" pitchFamily="34" charset="0"/>
              </a:rPr>
              <a:t> Size of </a:t>
            </a: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Interest</a:t>
            </a:r>
            <a:r>
              <a:rPr lang="tr-TR" sz="2400" dirty="0" smtClean="0">
                <a:latin typeface="Arial Narrow" pitchFamily="34" charset="0"/>
              </a:rPr>
              <a:t>-Rate </a:t>
            </a:r>
            <a:r>
              <a:rPr lang="tr-TR" sz="2400" dirty="0">
                <a:latin typeface="Arial Narrow" pitchFamily="34" charset="0"/>
              </a:rPr>
              <a:t>Risk</a:t>
            </a: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lvl="0" indent="0" algn="ctr">
              <a:spcBef>
                <a:spcPts val="0"/>
              </a:spcBef>
              <a:buNone/>
            </a:pPr>
            <a:endParaRPr lang="tr-TR" sz="900" dirty="0">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Gap and duration analyses tell a financial institution</a:t>
            </a:r>
          </a:p>
          <a:p>
            <a:pPr marL="0" lvl="0" indent="0" algn="ctr">
              <a:spcBef>
                <a:spcPts val="0"/>
              </a:spcBef>
              <a:buNone/>
            </a:pPr>
            <a:r>
              <a:rPr lang="tr-TR" sz="1800" noProof="1">
                <a:latin typeface="Arial Narrow" panose="020B0606020202030204" pitchFamily="34" charset="0"/>
              </a:rPr>
              <a:t>if it has more rate-sensitive liabilities than assets</a:t>
            </a:r>
            <a:endParaRPr lang="tr-TR" sz="800" noProof="1">
              <a:latin typeface="Arial Narrow" panose="020B0606020202030204" pitchFamily="34" charset="0"/>
            </a:endParaRPr>
          </a:p>
          <a:p>
            <a:pPr marL="0" lvl="0" indent="0" algn="ctr">
              <a:spcBef>
                <a:spcPts val="0"/>
              </a:spcBef>
              <a:buNone/>
            </a:pPr>
            <a:r>
              <a:rPr lang="tr-TR" sz="1600" noProof="1">
                <a:solidFill>
                  <a:srgbClr val="000066"/>
                </a:solidFill>
                <a:latin typeface="Arial Narrow" panose="020B0606020202030204" pitchFamily="34" charset="0"/>
              </a:rPr>
              <a:t>[″rate-sensitive″ = with interest rates that change frequently (at least once a year)</a:t>
            </a:r>
          </a:p>
          <a:p>
            <a:pPr marL="0" lvl="0" indent="0" algn="ctr">
              <a:spcBef>
                <a:spcPts val="0"/>
              </a:spcBef>
              <a:buNone/>
            </a:pPr>
            <a:r>
              <a:rPr lang="tr-TR" sz="1600" noProof="1">
                <a:solidFill>
                  <a:srgbClr val="000066"/>
                </a:solidFill>
                <a:latin typeface="Arial Narrow" panose="020B0606020202030204" pitchFamily="34" charset="0"/>
              </a:rPr>
              <a:t>″fixed-rate″ = with interest rates that remain unchanged for a long period (over a year)]</a:t>
            </a:r>
            <a:endParaRPr lang="tr-TR" sz="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in which case a rise in interest rates will reduce profits</a:t>
            </a:r>
          </a:p>
          <a:p>
            <a:pPr marL="0" lvl="0" indent="0" algn="ctr">
              <a:spcBef>
                <a:spcPts val="0"/>
              </a:spcBef>
              <a:buNone/>
            </a:pPr>
            <a:r>
              <a:rPr lang="tr-TR" sz="1800" noProof="1">
                <a:latin typeface="Arial Narrow" panose="020B0606020202030204" pitchFamily="34" charset="0"/>
              </a:rPr>
              <a:t>and a fall in interest rates will raise profits.</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Gap = rate-sensitive Liabilities – rate-sensitive Assets</a:t>
            </a:r>
          </a:p>
          <a:p>
            <a:pPr marL="0" lvl="0" indent="0" algn="ctr">
              <a:spcBef>
                <a:spcPts val="0"/>
              </a:spcBef>
              <a:buNone/>
            </a:pPr>
            <a:r>
              <a:rPr lang="tr-TR" sz="1600" noProof="1">
                <a:solidFill>
                  <a:srgbClr val="000066"/>
                </a:solidFill>
                <a:latin typeface="Arial Narrow" panose="020B0606020202030204" pitchFamily="34" charset="0"/>
              </a:rPr>
              <a:t>By multiplying the Gap times change in interest rate,</a:t>
            </a:r>
          </a:p>
          <a:p>
            <a:pPr marL="0" lvl="0" indent="0" algn="ctr">
              <a:spcBef>
                <a:spcPts val="0"/>
              </a:spcBef>
              <a:buNone/>
            </a:pPr>
            <a:r>
              <a:rPr lang="tr-TR" sz="1600" noProof="1">
                <a:solidFill>
                  <a:srgbClr val="000066"/>
                </a:solidFill>
                <a:latin typeface="Arial Narrow" panose="020B0606020202030204" pitchFamily="34" charset="0"/>
              </a:rPr>
              <a:t>we can immediately obtain the effect on bank profits.</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Duration = the average lifetime of a security’s stream of payments</a:t>
            </a:r>
          </a:p>
          <a:p>
            <a:pPr marL="0" lvl="0" indent="0" algn="ctr">
              <a:spcBef>
                <a:spcPts val="0"/>
              </a:spcBef>
              <a:buNone/>
            </a:pPr>
            <a:r>
              <a:rPr lang="tr-TR" sz="1600" noProof="1">
                <a:solidFill>
                  <a:srgbClr val="000066"/>
                </a:solidFill>
                <a:latin typeface="Arial Narrow" panose="020B0606020202030204" pitchFamily="34" charset="0"/>
              </a:rPr>
              <a:t>By multiplying the weighted average duration of a bank’s assets and of its liabilities</a:t>
            </a:r>
          </a:p>
          <a:p>
            <a:pPr marL="0" lvl="0" indent="0" algn="ctr">
              <a:spcBef>
                <a:spcPts val="0"/>
              </a:spcBef>
              <a:buNone/>
            </a:pPr>
            <a:r>
              <a:rPr lang="tr-TR" sz="1600" noProof="1">
                <a:solidFill>
                  <a:srgbClr val="000066"/>
                </a:solidFill>
                <a:latin typeface="Arial Narrow" panose="020B0606020202030204" pitchFamily="34" charset="0"/>
              </a:rPr>
              <a:t>times the amount of assets and of liabilities</a:t>
            </a:r>
          </a:p>
          <a:p>
            <a:pPr marL="0" lvl="0" indent="0" algn="ctr">
              <a:spcBef>
                <a:spcPts val="0"/>
              </a:spcBef>
              <a:buNone/>
            </a:pPr>
            <a:r>
              <a:rPr lang="tr-TR" sz="1600" noProof="1">
                <a:solidFill>
                  <a:srgbClr val="000066"/>
                </a:solidFill>
                <a:latin typeface="Arial Narrow" panose="020B0606020202030204" pitchFamily="34" charset="0"/>
              </a:rPr>
              <a:t>times change in interest rate,</a:t>
            </a:r>
          </a:p>
          <a:p>
            <a:pPr marL="0" lvl="0" indent="0" algn="ctr">
              <a:spcBef>
                <a:spcPts val="0"/>
              </a:spcBef>
              <a:buNone/>
            </a:pPr>
            <a:r>
              <a:rPr lang="tr-TR" sz="1600" noProof="1">
                <a:solidFill>
                  <a:srgbClr val="000066"/>
                </a:solidFill>
                <a:latin typeface="Arial Narrow" panose="020B0606020202030204" pitchFamily="34" charset="0"/>
              </a:rPr>
              <a:t>we can immediately obtain the approximate effect on bank’s total asset value.</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Financial institutions manage their interest-rate risk by modifying their balance sheets</a:t>
            </a:r>
          </a:p>
          <a:p>
            <a:pPr marL="0" lvl="0" indent="0" algn="ctr">
              <a:spcBef>
                <a:spcPts val="0"/>
              </a:spcBef>
              <a:buNone/>
            </a:pPr>
            <a:r>
              <a:rPr lang="tr-TR" sz="1800" noProof="1">
                <a:latin typeface="Arial Narrow" panose="020B0606020202030204" pitchFamily="34" charset="0"/>
              </a:rPr>
              <a:t>but can also use strategies involving financial derivatives.</a:t>
            </a:r>
            <a:endParaRPr lang="tr-TR" sz="1600" noProof="1">
              <a:latin typeface="Arial Narrow" panose="020B0606020202030204" pitchFamily="34" charset="0"/>
            </a:endParaRPr>
          </a:p>
        </p:txBody>
      </p:sp>
    </p:spTree>
    <p:extLst>
      <p:ext uri="{BB962C8B-B14F-4D97-AF65-F5344CB8AC3E}">
        <p14:creationId xmlns:p14="http://schemas.microsoft.com/office/powerpoint/2010/main" val="4122403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15716" y="116632"/>
            <a:ext cx="5112568" cy="1224136"/>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[9] Banks</a:t>
            </a:r>
            <a:r>
              <a:rPr lang="tr-TR" sz="2400">
                <a:solidFill>
                  <a:srgbClr val="800000"/>
                </a:solidFill>
                <a:latin typeface="Arial Narrow" pitchFamily="34" charset="0"/>
              </a:rPr>
              <a:t/>
            </a:r>
            <a:br>
              <a:rPr lang="tr-TR" sz="2400">
                <a:solidFill>
                  <a:srgbClr val="800000"/>
                </a:solidFill>
                <a:latin typeface="Arial Narrow" pitchFamily="34" charset="0"/>
              </a:rPr>
            </a:br>
            <a:r>
              <a:rPr lang="tr-TR" sz="2400" smtClean="0">
                <a:latin typeface="Arial Narrow" pitchFamily="34" charset="0"/>
              </a:rPr>
              <a:t>Gap Analysis</a:t>
            </a:r>
            <a:endParaRPr lang="tr-TR" sz="2400" dirty="0">
              <a:latin typeface="Arial Narrow" pitchFamily="34" charset="0"/>
            </a:endParaRP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lvl="0" indent="0" algn="ctr">
              <a:spcBef>
                <a:spcPts val="0"/>
              </a:spcBef>
              <a:buNone/>
            </a:pPr>
            <a:r>
              <a:rPr lang="tr-TR" sz="900" smtClean="0">
                <a:latin typeface="Arial Narrow" panose="020B0606020202030204" pitchFamily="34" charset="0"/>
              </a:rPr>
              <a:t> </a:t>
            </a:r>
            <a:endParaRPr lang="tr-TR" sz="900" dirty="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900890" y="1556792"/>
            <a:ext cx="7342219" cy="3672408"/>
          </a:xfrm>
          <a:prstGeom prst="rect">
            <a:avLst/>
          </a:prstGeom>
        </p:spPr>
      </p:pic>
    </p:spTree>
    <p:extLst>
      <p:ext uri="{BB962C8B-B14F-4D97-AF65-F5344CB8AC3E}">
        <p14:creationId xmlns:p14="http://schemas.microsoft.com/office/powerpoint/2010/main" val="7448593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15716" y="116632"/>
            <a:ext cx="5112568" cy="1224136"/>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[9] Banks</a:t>
            </a:r>
            <a:r>
              <a:rPr lang="tr-TR" sz="2400">
                <a:solidFill>
                  <a:srgbClr val="800000"/>
                </a:solidFill>
                <a:latin typeface="Arial Narrow" pitchFamily="34" charset="0"/>
              </a:rPr>
              <a:t/>
            </a:r>
            <a:br>
              <a:rPr lang="tr-TR" sz="2400">
                <a:solidFill>
                  <a:srgbClr val="800000"/>
                </a:solidFill>
                <a:latin typeface="Arial Narrow" pitchFamily="34" charset="0"/>
              </a:rPr>
            </a:br>
            <a:r>
              <a:rPr lang="tr-TR" sz="2400" smtClean="0">
                <a:latin typeface="Arial Narrow" pitchFamily="34" charset="0"/>
              </a:rPr>
              <a:t>Duration Analysis</a:t>
            </a:r>
            <a:endParaRPr lang="tr-TR" sz="2400" dirty="0">
              <a:latin typeface="Arial Narrow" pitchFamily="34" charset="0"/>
            </a:endParaRP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lvl="0" indent="0" algn="ctr">
              <a:spcBef>
                <a:spcPts val="0"/>
              </a:spcBef>
              <a:buNone/>
            </a:pPr>
            <a:endParaRPr lang="tr-TR" sz="900" dirty="0">
              <a:latin typeface="Arial Narrow" panose="020B0606020202030204" pitchFamily="34" charset="0"/>
            </a:endParaRPr>
          </a:p>
          <a:p>
            <a:pPr marL="0" indent="0" algn="ctr">
              <a:spcBef>
                <a:spcPts val="0"/>
              </a:spcBef>
              <a:buNone/>
            </a:pPr>
            <a:r>
              <a:rPr lang="tr-TR" sz="1800" noProof="1" smtClean="0">
                <a:latin typeface="Arial Narrow" panose="020B0606020202030204" pitchFamily="34" charset="0"/>
              </a:rPr>
              <a:t>Duration </a:t>
            </a:r>
            <a:r>
              <a:rPr lang="tr-TR" sz="1800" noProof="1">
                <a:latin typeface="Arial Narrow" panose="020B0606020202030204" pitchFamily="34" charset="0"/>
              </a:rPr>
              <a:t>= the average lifetime of a security’s stream of payments</a:t>
            </a:r>
          </a:p>
          <a:p>
            <a:pPr marL="0" lvl="0" indent="0" algn="ctr">
              <a:spcBef>
                <a:spcPts val="0"/>
              </a:spcBef>
              <a:buNone/>
            </a:pPr>
            <a:endParaRPr lang="tr-TR" sz="2400" noProof="1">
              <a:solidFill>
                <a:srgbClr val="000066"/>
              </a:solidFill>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872607" y="1916832"/>
            <a:ext cx="7533042" cy="3958990"/>
          </a:xfrm>
          <a:prstGeom prst="rect">
            <a:avLst/>
          </a:prstGeom>
        </p:spPr>
      </p:pic>
    </p:spTree>
    <p:extLst>
      <p:ext uri="{BB962C8B-B14F-4D97-AF65-F5344CB8AC3E}">
        <p14:creationId xmlns:p14="http://schemas.microsoft.com/office/powerpoint/2010/main" val="38614164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188640"/>
            <a:ext cx="8208912"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[10] Central </a:t>
            </a:r>
            <a:r>
              <a:rPr lang="tr-TR" sz="2400" dirty="0" err="1" smtClean="0">
                <a:solidFill>
                  <a:srgbClr val="800000"/>
                </a:solidFill>
                <a:latin typeface="Arial Narrow" pitchFamily="34" charset="0"/>
              </a:rPr>
              <a:t>Banks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Fundamental</a:t>
            </a:r>
            <a:r>
              <a:rPr lang="tr-TR" sz="2400" dirty="0" smtClean="0">
                <a:latin typeface="Arial Narrow" pitchFamily="34" charset="0"/>
              </a:rPr>
              <a:t> Powers </a:t>
            </a:r>
            <a:r>
              <a:rPr lang="tr-TR" sz="2400" smtClean="0">
                <a:latin typeface="Arial Narrow" pitchFamily="34" charset="0"/>
              </a:rPr>
              <a:t>of Central Bank of Turkey </a:t>
            </a:r>
            <a:r>
              <a:rPr lang="tr-TR" sz="2400" dirty="0" smtClean="0">
                <a:latin typeface="Arial Narrow" pitchFamily="34" charset="0"/>
              </a:rPr>
              <a:t>(TCMB)</a:t>
            </a:r>
            <a:endParaRPr lang="tr-TR" sz="2400" dirty="0">
              <a:latin typeface="Arial Narrow" pitchFamily="34" charset="0"/>
            </a:endParaRPr>
          </a:p>
        </p:txBody>
      </p:sp>
      <p:sp>
        <p:nvSpPr>
          <p:cNvPr id="5" name="Content Placeholder 4"/>
          <p:cNvSpPr>
            <a:spLocks noGrp="1"/>
          </p:cNvSpPr>
          <p:nvPr>
            <p:ph idx="1"/>
          </p:nvPr>
        </p:nvSpPr>
        <p:spPr>
          <a:xfrm>
            <a:off x="467544" y="1484784"/>
            <a:ext cx="8208912" cy="5040560"/>
          </a:xfrm>
          <a:ln w="25400">
            <a:noFill/>
          </a:ln>
        </p:spPr>
        <p:txBody>
          <a:bodyPr>
            <a:noAutofit/>
          </a:bodyPr>
          <a:lstStyle/>
          <a:p>
            <a:pPr marL="0" lvl="1" algn="ctr">
              <a:lnSpc>
                <a:spcPct val="150000"/>
              </a:lnSpc>
              <a:spcBef>
                <a:spcPts val="0"/>
              </a:spcBef>
              <a:buFont typeface="Arial" panose="020B0604020202020204" pitchFamily="34" charset="0"/>
              <a:buChar char="•"/>
            </a:pPr>
            <a:r>
              <a:rPr lang="en-US" sz="1800" smtClean="0">
                <a:latin typeface="Arial Narrow" panose="020B0606020202030204" pitchFamily="34" charset="0"/>
              </a:rPr>
              <a:t>exclusive </a:t>
            </a:r>
            <a:r>
              <a:rPr lang="en-US" sz="1800" dirty="0">
                <a:latin typeface="Arial Narrow" panose="020B0606020202030204" pitchFamily="34" charset="0"/>
              </a:rPr>
              <a:t>right to issue banknotes in Turkey</a:t>
            </a:r>
          </a:p>
          <a:p>
            <a:pPr marL="0" lvl="1" algn="ctr">
              <a:lnSpc>
                <a:spcPct val="150000"/>
              </a:lnSpc>
              <a:spcBef>
                <a:spcPts val="0"/>
              </a:spcBef>
              <a:buFont typeface="Arial" panose="020B0604020202020204" pitchFamily="34" charset="0"/>
              <a:buChar char="•"/>
            </a:pPr>
            <a:r>
              <a:rPr lang="en-US" sz="1800" dirty="0" smtClean="0">
                <a:latin typeface="Arial Narrow" panose="020B0606020202030204" pitchFamily="34" charset="0"/>
              </a:rPr>
              <a:t>right </a:t>
            </a:r>
            <a:r>
              <a:rPr lang="en-US" sz="1800" dirty="0">
                <a:latin typeface="Arial Narrow" panose="020B0606020202030204" pitchFamily="34" charset="0"/>
              </a:rPr>
              <a:t>to determine of the </a:t>
            </a:r>
            <a:r>
              <a:rPr lang="en-US" sz="1800">
                <a:latin typeface="Arial Narrow" panose="020B0606020202030204" pitchFamily="34" charset="0"/>
              </a:rPr>
              <a:t>inflation </a:t>
            </a:r>
            <a:r>
              <a:rPr lang="en-US" sz="1800" smtClean="0">
                <a:latin typeface="Arial Narrow" panose="020B0606020202030204" pitchFamily="34" charset="0"/>
              </a:rPr>
              <a:t>target</a:t>
            </a:r>
            <a:r>
              <a:rPr lang="tr-TR" sz="1800" dirty="0">
                <a:latin typeface="Arial Narrow" panose="020B0606020202030204" pitchFamily="34" charset="0"/>
              </a:rPr>
              <a:t> </a:t>
            </a:r>
            <a:r>
              <a:rPr lang="en-US" sz="1800" smtClean="0">
                <a:latin typeface="Arial Narrow" panose="020B0606020202030204" pitchFamily="34" charset="0"/>
              </a:rPr>
              <a:t>and </a:t>
            </a:r>
            <a:r>
              <a:rPr lang="en-US" sz="1800" dirty="0" smtClean="0">
                <a:latin typeface="Arial Narrow" panose="020B0606020202030204" pitchFamily="34" charset="0"/>
              </a:rPr>
              <a:t>implement </a:t>
            </a:r>
            <a:r>
              <a:rPr lang="en-US" sz="1800" dirty="0">
                <a:latin typeface="Arial Narrow" panose="020B0606020202030204" pitchFamily="34" charset="0"/>
              </a:rPr>
              <a:t>of monetary policy</a:t>
            </a:r>
          </a:p>
          <a:p>
            <a:pPr marL="0" lvl="1" algn="ctr">
              <a:lnSpc>
                <a:spcPct val="150000"/>
              </a:lnSpc>
              <a:spcBef>
                <a:spcPts val="0"/>
              </a:spcBef>
              <a:buFont typeface="Arial" panose="020B0604020202020204" pitchFamily="34" charset="0"/>
              <a:buChar char="•"/>
            </a:pPr>
            <a:r>
              <a:rPr lang="en-US" sz="1800" dirty="0" smtClean="0">
                <a:latin typeface="Arial Narrow" panose="020B0606020202030204" pitchFamily="34" charset="0"/>
              </a:rPr>
              <a:t>role </a:t>
            </a:r>
            <a:r>
              <a:rPr lang="en-US" sz="1800" dirty="0">
                <a:latin typeface="Arial Narrow" panose="020B0606020202030204" pitchFamily="34" charset="0"/>
              </a:rPr>
              <a:t>of </a:t>
            </a:r>
            <a:r>
              <a:rPr lang="en-US" sz="1800" dirty="0" smtClean="0">
                <a:latin typeface="Arial Narrow" panose="020B0606020202030204" pitchFamily="34" charset="0"/>
              </a:rPr>
              <a:t>the</a:t>
            </a:r>
            <a:r>
              <a:rPr lang="tr-TR" sz="1800" dirty="0" smtClean="0">
                <a:latin typeface="Arial Narrow" panose="020B0606020202030204" pitchFamily="34" charset="0"/>
              </a:rPr>
              <a:t> </a:t>
            </a:r>
            <a:r>
              <a:rPr lang="tr-TR" sz="1800" dirty="0" err="1" smtClean="0">
                <a:latin typeface="Arial Narrow" panose="020B0606020202030204" pitchFamily="34" charset="0"/>
              </a:rPr>
              <a:t>lender</a:t>
            </a:r>
            <a:r>
              <a:rPr lang="tr-TR" sz="1800" dirty="0" smtClean="0">
                <a:latin typeface="Arial Narrow" panose="020B0606020202030204" pitchFamily="34" charset="0"/>
              </a:rPr>
              <a:t> of </a:t>
            </a:r>
            <a:r>
              <a:rPr lang="tr-TR" sz="1800" dirty="0" err="1" smtClean="0">
                <a:latin typeface="Arial Narrow" panose="020B0606020202030204" pitchFamily="34" charset="0"/>
              </a:rPr>
              <a:t>last</a:t>
            </a:r>
            <a:r>
              <a:rPr lang="tr-TR" sz="1800" dirty="0" smtClean="0">
                <a:latin typeface="Arial Narrow" panose="020B0606020202030204" pitchFamily="34" charset="0"/>
              </a:rPr>
              <a:t> </a:t>
            </a:r>
            <a:r>
              <a:rPr lang="tr-TR" sz="1800" dirty="0" err="1" smtClean="0">
                <a:latin typeface="Arial Narrow" panose="020B0606020202030204" pitchFamily="34" charset="0"/>
              </a:rPr>
              <a:t>resort</a:t>
            </a:r>
            <a:r>
              <a:rPr lang="tr-TR" sz="1800" dirty="0" smtClean="0">
                <a:latin typeface="Arial Narrow" panose="020B0606020202030204" pitchFamily="34" charset="0"/>
              </a:rPr>
              <a:t> </a:t>
            </a:r>
            <a:r>
              <a:rPr lang="tr-TR" sz="1800" dirty="0" err="1" smtClean="0">
                <a:latin typeface="Arial Narrow" panose="020B0606020202030204" pitchFamily="34" charset="0"/>
              </a:rPr>
              <a:t>for</a:t>
            </a:r>
            <a:r>
              <a:rPr lang="tr-TR" sz="1800" dirty="0" smtClean="0">
                <a:latin typeface="Arial Narrow" panose="020B0606020202030204" pitchFamily="34" charset="0"/>
              </a:rPr>
              <a:t> </a:t>
            </a:r>
            <a:r>
              <a:rPr lang="tr-TR" sz="1800" dirty="0" err="1" smtClean="0">
                <a:latin typeface="Arial Narrow" panose="020B0606020202030204" pitchFamily="34" charset="0"/>
              </a:rPr>
              <a:t>financial</a:t>
            </a:r>
            <a:r>
              <a:rPr lang="tr-TR" sz="1800" dirty="0" smtClean="0">
                <a:latin typeface="Arial Narrow" panose="020B0606020202030204" pitchFamily="34" charset="0"/>
              </a:rPr>
              <a:t> </a:t>
            </a:r>
            <a:r>
              <a:rPr lang="tr-TR" sz="1800" dirty="0" err="1" smtClean="0">
                <a:latin typeface="Arial Narrow" panose="020B0606020202030204" pitchFamily="34" charset="0"/>
              </a:rPr>
              <a:t>institutions</a:t>
            </a:r>
            <a:endParaRPr lang="en-US" sz="1800" dirty="0">
              <a:latin typeface="Arial Narrow" panose="020B0606020202030204" pitchFamily="34" charset="0"/>
            </a:endParaRPr>
          </a:p>
          <a:p>
            <a:pPr marL="0" lvl="1" algn="ctr">
              <a:lnSpc>
                <a:spcPct val="150000"/>
              </a:lnSpc>
              <a:spcBef>
                <a:spcPts val="0"/>
              </a:spcBef>
              <a:buFont typeface="Arial" panose="020B0604020202020204" pitchFamily="34" charset="0"/>
              <a:buChar char="•"/>
            </a:pPr>
            <a:r>
              <a:rPr lang="en-US" sz="1800" dirty="0" smtClean="0">
                <a:latin typeface="Arial Narrow" panose="020B0606020202030204" pitchFamily="34" charset="0"/>
              </a:rPr>
              <a:t>power </a:t>
            </a:r>
            <a:r>
              <a:rPr lang="en-US" sz="1800" dirty="0">
                <a:latin typeface="Arial Narrow" panose="020B0606020202030204" pitchFamily="34" charset="0"/>
              </a:rPr>
              <a:t>to request </a:t>
            </a:r>
            <a:r>
              <a:rPr lang="en-US" sz="1800" dirty="0" smtClean="0">
                <a:latin typeface="Arial Narrow" panose="020B0606020202030204" pitchFamily="34" charset="0"/>
              </a:rPr>
              <a:t>information </a:t>
            </a:r>
            <a:r>
              <a:rPr lang="en-US" sz="1800" dirty="0">
                <a:latin typeface="Arial Narrow" panose="020B0606020202030204" pitchFamily="34" charset="0"/>
              </a:rPr>
              <a:t>from financial institutions</a:t>
            </a:r>
          </a:p>
        </p:txBody>
      </p:sp>
    </p:spTree>
    <p:extLst>
      <p:ext uri="{BB962C8B-B14F-4D97-AF65-F5344CB8AC3E}">
        <p14:creationId xmlns:p14="http://schemas.microsoft.com/office/powerpoint/2010/main" val="392559086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[10] Money </a:t>
            </a:r>
            <a:r>
              <a:rPr lang="tr-TR" sz="2400" dirty="0" err="1" smtClean="0">
                <a:solidFill>
                  <a:srgbClr val="800000"/>
                </a:solidFill>
                <a:latin typeface="Arial Narrow" pitchFamily="34" charset="0"/>
              </a:rPr>
              <a:t>Supply</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latin typeface="Arial Narrow" pitchFamily="34" charset="0"/>
              </a:rPr>
              <a:t>Control of </a:t>
            </a:r>
            <a:r>
              <a:rPr lang="tr-TR" sz="2400" dirty="0" err="1" smtClean="0">
                <a:latin typeface="Arial Narrow" pitchFamily="34" charset="0"/>
              </a:rPr>
              <a:t>the</a:t>
            </a:r>
            <a:r>
              <a:rPr lang="tr-TR" sz="2400" dirty="0" smtClean="0">
                <a:latin typeface="Arial Narrow" pitchFamily="34" charset="0"/>
              </a:rPr>
              <a:t> </a:t>
            </a:r>
            <a:r>
              <a:rPr lang="tr-TR" sz="2400" dirty="0" err="1" smtClean="0">
                <a:latin typeface="Arial Narrow" pitchFamily="34" charset="0"/>
              </a:rPr>
              <a:t>Monetary</a:t>
            </a:r>
            <a:r>
              <a:rPr lang="tr-TR" sz="2400" dirty="0" smtClean="0">
                <a:latin typeface="Arial Narrow" pitchFamily="34" charset="0"/>
              </a:rPr>
              <a:t> Base</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primary way in which the Central Bank causes changes in the monetary base</a:t>
            </a:r>
          </a:p>
          <a:p>
            <a:pPr marL="0" lvl="0" indent="0" algn="ctr">
              <a:spcBef>
                <a:spcPts val="0"/>
              </a:spcBef>
              <a:buNone/>
            </a:pPr>
            <a:r>
              <a:rPr lang="tr-TR" sz="1800" noProof="1" smtClean="0">
                <a:latin typeface="Arial Narrow" panose="020B0606020202030204" pitchFamily="34" charset="0"/>
              </a:rPr>
              <a:t>is through its open market operations</a:t>
            </a:r>
            <a:r>
              <a:rPr lang="tr-TR" sz="1800" noProof="1">
                <a:latin typeface="Arial Narrow" panose="020B0606020202030204" pitchFamily="34" charset="0"/>
              </a:rPr>
              <a:t>;</a:t>
            </a:r>
            <a:endParaRPr lang="tr-TR" sz="1800" noProof="1" smtClean="0">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t</a:t>
            </a:r>
            <a:r>
              <a:rPr lang="tr-TR" sz="1800" noProof="1" smtClean="0">
                <a:latin typeface="Arial Narrow" panose="020B0606020202030204" pitchFamily="34" charset="0"/>
              </a:rPr>
              <a:t>he Central Bank buys/sells bonds from/to banks.</a:t>
            </a:r>
          </a:p>
          <a:p>
            <a:pPr marL="0" lvl="0" indent="0" algn="ctr">
              <a:spcBef>
                <a:spcPts val="0"/>
              </a:spcBef>
              <a:buNone/>
            </a:pPr>
            <a:r>
              <a:rPr lang="tr-TR" sz="1800" noProof="1" smtClean="0">
                <a:latin typeface="Arial Narrow" panose="020B0606020202030204" pitchFamily="34" charset="0"/>
              </a:rPr>
              <a:t>Buying expands MB (=C+R) by increasing reserves of banks held at the Central Bank.</a:t>
            </a:r>
          </a:p>
          <a:p>
            <a:pPr marL="0" lvl="0" indent="0" algn="ctr">
              <a:spcBef>
                <a:spcPts val="0"/>
              </a:spcBef>
              <a:buNone/>
            </a:pPr>
            <a:r>
              <a:rPr lang="tr-TR" sz="1800" noProof="1" smtClean="0">
                <a:latin typeface="Arial Narrow" panose="020B0606020202030204" pitchFamily="34" charset="0"/>
              </a:rPr>
              <a:t>Selling contracts MB.</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Lending to financial institutions also expands MB by increasing reserves.</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The Central Bank sets the discount rate (interest rate on loans to banks), and then banks make decisions about whether to borrow.</a:t>
            </a:r>
          </a:p>
          <a:p>
            <a:pPr marL="0" lvl="0" indent="0" algn="ctr">
              <a:spcBef>
                <a:spcPts val="0"/>
              </a:spcBef>
              <a:buNone/>
            </a:pPr>
            <a:r>
              <a:rPr lang="tr-TR" sz="1800" noProof="1" smtClean="0">
                <a:latin typeface="Arial Narrow" panose="020B0606020202030204" pitchFamily="34" charset="0"/>
              </a:rPr>
              <a:t>The component of Monetary Base which is created by loans from the Central Bank</a:t>
            </a:r>
          </a:p>
          <a:p>
            <a:pPr marL="0" lvl="0" indent="0" algn="ctr">
              <a:spcBef>
                <a:spcPts val="0"/>
              </a:spcBef>
              <a:buNone/>
            </a:pPr>
            <a:r>
              <a:rPr lang="tr-TR" sz="1800" noProof="1" smtClean="0">
                <a:latin typeface="Arial Narrow" panose="020B0606020202030204" pitchFamily="34" charset="0"/>
              </a:rPr>
              <a:t>(called borrowed reserves)</a:t>
            </a:r>
          </a:p>
          <a:p>
            <a:pPr marL="0" lvl="0" indent="0" algn="ctr">
              <a:spcBef>
                <a:spcPts val="0"/>
              </a:spcBef>
              <a:buNone/>
            </a:pPr>
            <a:r>
              <a:rPr lang="tr-TR" sz="1800" noProof="1" smtClean="0">
                <a:latin typeface="Arial Narrow" panose="020B0606020202030204" pitchFamily="34" charset="0"/>
              </a:rPr>
              <a:t>is less tightly controlled</a:t>
            </a:r>
          </a:p>
          <a:p>
            <a:pPr marL="0" lvl="0" indent="0" algn="ctr">
              <a:spcBef>
                <a:spcPts val="0"/>
              </a:spcBef>
              <a:buNone/>
            </a:pPr>
            <a:r>
              <a:rPr lang="tr-TR" sz="1800" noProof="1" smtClean="0">
                <a:latin typeface="Arial Narrow" panose="020B0606020202030204" pitchFamily="34" charset="0"/>
              </a:rPr>
              <a:t>compared to the component that is created by open market operations</a:t>
            </a:r>
          </a:p>
          <a:p>
            <a:pPr marL="0" lvl="0" indent="0" algn="ctr">
              <a:spcBef>
                <a:spcPts val="0"/>
              </a:spcBef>
              <a:buNone/>
            </a:pPr>
            <a:r>
              <a:rPr lang="tr-TR" sz="1800" noProof="1" smtClean="0">
                <a:latin typeface="Arial Narrow" panose="020B0606020202030204" pitchFamily="34" charset="0"/>
              </a:rPr>
              <a:t>which is called the nonborrowed monetary base.</a:t>
            </a:r>
            <a:endParaRPr lang="tr-TR" sz="1600" noProof="1">
              <a:latin typeface="Arial Narrow" panose="020B0606020202030204" pitchFamily="34" charset="0"/>
            </a:endParaRPr>
          </a:p>
        </p:txBody>
      </p:sp>
    </p:spTree>
    <p:extLst>
      <p:ext uri="{BB962C8B-B14F-4D97-AF65-F5344CB8AC3E}">
        <p14:creationId xmlns:p14="http://schemas.microsoft.com/office/powerpoint/2010/main" val="150678297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52128"/>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[10] Money </a:t>
            </a:r>
            <a:r>
              <a:rPr lang="tr-TR" sz="2400" dirty="0" err="1" smtClean="0">
                <a:solidFill>
                  <a:srgbClr val="800000"/>
                </a:solidFill>
                <a:latin typeface="Arial Narrow" pitchFamily="34" charset="0"/>
              </a:rPr>
              <a:t>Supply</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Multiple</a:t>
            </a:r>
            <a:r>
              <a:rPr lang="tr-TR" sz="2400" dirty="0" smtClean="0">
                <a:latin typeface="Arial Narrow" pitchFamily="34" charset="0"/>
              </a:rPr>
              <a:t> </a:t>
            </a:r>
            <a:r>
              <a:rPr lang="tr-TR" sz="2400" dirty="0" err="1" smtClean="0">
                <a:latin typeface="Arial Narrow" pitchFamily="34" charset="0"/>
              </a:rPr>
              <a:t>Deposit</a:t>
            </a:r>
            <a:r>
              <a:rPr lang="tr-TR" sz="2400" dirty="0" smtClean="0">
                <a:latin typeface="Arial Narrow" pitchFamily="34" charset="0"/>
              </a:rPr>
              <a:t> </a:t>
            </a:r>
            <a:r>
              <a:rPr lang="tr-TR" sz="2400" dirty="0" err="1" smtClean="0">
                <a:latin typeface="Arial Narrow" pitchFamily="34" charset="0"/>
              </a:rPr>
              <a:t>Creation</a:t>
            </a:r>
            <a:endParaRPr lang="tr-TR" sz="2400" dirty="0">
              <a:latin typeface="Arial Narrow" pitchFamily="34" charset="0"/>
            </a:endParaRPr>
          </a:p>
        </p:txBody>
      </p:sp>
      <p:sp>
        <p:nvSpPr>
          <p:cNvPr id="5" name="Content Placeholder 4"/>
          <p:cNvSpPr>
            <a:spLocks noGrp="1"/>
          </p:cNvSpPr>
          <p:nvPr>
            <p:ph idx="1"/>
          </p:nvPr>
        </p:nvSpPr>
        <p:spPr>
          <a:xfrm>
            <a:off x="179512" y="1268760"/>
            <a:ext cx="8784976" cy="5328592"/>
          </a:xfrm>
          <a:ln w="25400">
            <a:noFill/>
          </a:ln>
        </p:spPr>
        <p:txBody>
          <a:bodyPr>
            <a:noAutofit/>
          </a:bodyPr>
          <a:lstStyle/>
          <a:p>
            <a:pPr marL="0" lvl="0" indent="0" algn="ctr">
              <a:spcBef>
                <a:spcPts val="0"/>
              </a:spcBef>
              <a:buNone/>
            </a:pPr>
            <a:r>
              <a:rPr lang="tr-TR" sz="1600" noProof="1" smtClean="0">
                <a:latin typeface="Arial Narrow" panose="020B0606020202030204" pitchFamily="34" charset="0"/>
              </a:rPr>
              <a:t>When the Central Bank supplies the banking system with 1$ of additional reserves,</a:t>
            </a:r>
          </a:p>
          <a:p>
            <a:pPr marL="0" lvl="0" indent="0" algn="ctr">
              <a:spcBef>
                <a:spcPts val="0"/>
              </a:spcBef>
              <a:buNone/>
            </a:pPr>
            <a:r>
              <a:rPr lang="tr-TR" sz="1600" noProof="1" smtClean="0">
                <a:latin typeface="Arial Narrow" panose="020B0606020202030204" pitchFamily="34" charset="0"/>
              </a:rPr>
              <a:t>deposits increase by a multiple of this amount,</a:t>
            </a:r>
          </a:p>
          <a:p>
            <a:pPr marL="0" lvl="0" indent="0" algn="ctr">
              <a:spcBef>
                <a:spcPts val="0"/>
              </a:spcBef>
              <a:buNone/>
            </a:pPr>
            <a:r>
              <a:rPr lang="tr-TR" sz="1600" noProof="1" smtClean="0">
                <a:latin typeface="Arial Narrow" panose="020B0606020202030204" pitchFamily="34" charset="0"/>
              </a:rPr>
              <a:t>a process called ″multiple deposit creation″.</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For example, when the Central Bank buys 100 m$ worth bonds from the First National Bank,</a:t>
            </a:r>
          </a:p>
          <a:p>
            <a:pPr marL="0" lvl="0" indent="0" algn="ctr">
              <a:spcBef>
                <a:spcPts val="0"/>
              </a:spcBef>
              <a:buNone/>
            </a:pPr>
            <a:r>
              <a:rPr lang="tr-TR" sz="1600" noProof="1" smtClean="0">
                <a:latin typeface="Arial Narrow" panose="020B0606020202030204" pitchFamily="34" charset="0"/>
              </a:rPr>
              <a:t>the bank finds that it has an increase in reserves of 100 m$.</a:t>
            </a:r>
          </a:p>
          <a:p>
            <a:pPr marL="0" lvl="0" indent="0" algn="ctr">
              <a:spcBef>
                <a:spcPts val="0"/>
              </a:spcBef>
              <a:buNone/>
            </a:pPr>
            <a:r>
              <a:rPr lang="tr-TR" sz="1600" noProof="1" smtClean="0">
                <a:latin typeface="Arial Narrow" panose="020B0606020202030204" pitchFamily="34" charset="0"/>
              </a:rPr>
              <a:t>Let us say the bank decides to make a loan</a:t>
            </a:r>
          </a:p>
          <a:p>
            <a:pPr marL="0" lvl="0" indent="0" algn="ctr">
              <a:spcBef>
                <a:spcPts val="0"/>
              </a:spcBef>
              <a:buNone/>
            </a:pPr>
            <a:r>
              <a:rPr lang="tr-TR" sz="1600" noProof="1" smtClean="0">
                <a:latin typeface="Arial Narrow" panose="020B0606020202030204" pitchFamily="34" charset="0"/>
              </a:rPr>
              <a:t>equal in amount to the 100 m$ rise in excess reserves.</a:t>
            </a:r>
          </a:p>
          <a:p>
            <a:pPr marL="0" lvl="0" indent="0" algn="ctr">
              <a:spcBef>
                <a:spcPts val="0"/>
              </a:spcBef>
              <a:buNone/>
            </a:pPr>
            <a:endParaRPr lang="tr-TR" sz="8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The borrower deposits the borrowed amount of 100 m$ to Bank A.</a:t>
            </a:r>
          </a:p>
          <a:p>
            <a:pPr marL="0" lvl="0" indent="0" algn="ctr">
              <a:spcBef>
                <a:spcPts val="0"/>
              </a:spcBef>
              <a:buNone/>
            </a:pPr>
            <a:r>
              <a:rPr lang="tr-TR" sz="1600" noProof="1" smtClean="0">
                <a:latin typeface="Arial Narrow" panose="020B0606020202030204" pitchFamily="34" charset="0"/>
              </a:rPr>
              <a:t>If the required reserve ratio is 10%,</a:t>
            </a:r>
          </a:p>
          <a:p>
            <a:pPr marL="0" lvl="0" indent="0" algn="ctr">
              <a:spcBef>
                <a:spcPts val="0"/>
              </a:spcBef>
              <a:buNone/>
            </a:pPr>
            <a:r>
              <a:rPr lang="tr-TR" sz="1600" noProof="1" smtClean="0">
                <a:latin typeface="Arial Narrow" panose="020B0606020202030204" pitchFamily="34" charset="0"/>
              </a:rPr>
              <a:t>Bank A will now find itself with a 10 m$ increase in required reserves,</a:t>
            </a:r>
          </a:p>
          <a:p>
            <a:pPr marL="0" lvl="0" indent="0" algn="ctr">
              <a:spcBef>
                <a:spcPts val="0"/>
              </a:spcBef>
              <a:buNone/>
            </a:pPr>
            <a:r>
              <a:rPr lang="tr-TR" sz="1600" noProof="1" smtClean="0">
                <a:latin typeface="Arial Narrow" panose="020B0606020202030204" pitchFamily="34" charset="0"/>
              </a:rPr>
              <a:t>leaving it 90 m$ of excess reserves which it can lend.</a:t>
            </a:r>
          </a:p>
          <a:p>
            <a:pPr marL="0" lvl="0" indent="0" algn="ctr">
              <a:spcBef>
                <a:spcPts val="0"/>
              </a:spcBef>
              <a:buNone/>
            </a:pPr>
            <a:endParaRPr lang="tr-TR" sz="800" noProof="1" smtClean="0">
              <a:latin typeface="Arial Narrow" panose="020B0606020202030204" pitchFamily="34" charset="0"/>
            </a:endParaRPr>
          </a:p>
          <a:p>
            <a:pPr marL="0" lvl="0" indent="0" algn="ctr">
              <a:spcBef>
                <a:spcPts val="0"/>
              </a:spcBef>
              <a:buNone/>
            </a:pPr>
            <a:r>
              <a:rPr lang="tr-TR" sz="1600" noProof="1">
                <a:latin typeface="Arial Narrow" panose="020B0606020202030204" pitchFamily="34" charset="0"/>
              </a:rPr>
              <a:t>The </a:t>
            </a:r>
            <a:r>
              <a:rPr lang="tr-TR" sz="1600" noProof="1" smtClean="0">
                <a:latin typeface="Arial Narrow" panose="020B0606020202030204" pitchFamily="34" charset="0"/>
              </a:rPr>
              <a:t>new borrower </a:t>
            </a:r>
            <a:r>
              <a:rPr lang="tr-TR" sz="1600" noProof="1">
                <a:latin typeface="Arial Narrow" panose="020B0606020202030204" pitchFamily="34" charset="0"/>
              </a:rPr>
              <a:t>deposits the borrowed amount of 9</a:t>
            </a:r>
            <a:r>
              <a:rPr lang="tr-TR" sz="1600" noProof="1" smtClean="0">
                <a:latin typeface="Arial Narrow" panose="020B0606020202030204" pitchFamily="34" charset="0"/>
              </a:rPr>
              <a:t>0 </a:t>
            </a:r>
            <a:r>
              <a:rPr lang="tr-TR" sz="1600" noProof="1">
                <a:latin typeface="Arial Narrow" panose="020B0606020202030204" pitchFamily="34" charset="0"/>
              </a:rPr>
              <a:t>m$ to Bank </a:t>
            </a:r>
            <a:r>
              <a:rPr lang="tr-TR" sz="1600" noProof="1" smtClean="0">
                <a:latin typeface="Arial Narrow" panose="020B0606020202030204" pitchFamily="34" charset="0"/>
              </a:rPr>
              <a:t>B.</a:t>
            </a:r>
            <a:endParaRPr lang="tr-TR" sz="1600" noProof="1">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Since </a:t>
            </a:r>
            <a:r>
              <a:rPr lang="tr-TR" sz="1600" noProof="1">
                <a:latin typeface="Arial Narrow" panose="020B0606020202030204" pitchFamily="34" charset="0"/>
              </a:rPr>
              <a:t>the required reserve ratio is 10</a:t>
            </a:r>
            <a:r>
              <a:rPr lang="tr-TR" sz="1600" noProof="1" smtClean="0">
                <a:latin typeface="Arial Narrow" panose="020B0606020202030204" pitchFamily="34" charset="0"/>
              </a:rPr>
              <a:t>%,</a:t>
            </a:r>
          </a:p>
          <a:p>
            <a:pPr marL="0" lvl="0" indent="0" algn="ctr">
              <a:spcBef>
                <a:spcPts val="0"/>
              </a:spcBef>
              <a:buNone/>
            </a:pPr>
            <a:r>
              <a:rPr lang="tr-TR" sz="1600" noProof="1" smtClean="0">
                <a:latin typeface="Arial Narrow" panose="020B0606020202030204" pitchFamily="34" charset="0"/>
              </a:rPr>
              <a:t>Bank B </a:t>
            </a:r>
            <a:r>
              <a:rPr lang="tr-TR" sz="1600" noProof="1">
                <a:latin typeface="Arial Narrow" panose="020B0606020202030204" pitchFamily="34" charset="0"/>
              </a:rPr>
              <a:t>will now find itself with a </a:t>
            </a:r>
            <a:r>
              <a:rPr lang="tr-TR" sz="1600" noProof="1" smtClean="0">
                <a:latin typeface="Arial Narrow" panose="020B0606020202030204" pitchFamily="34" charset="0"/>
              </a:rPr>
              <a:t>9 </a:t>
            </a:r>
            <a:r>
              <a:rPr lang="tr-TR" sz="1600" noProof="1">
                <a:latin typeface="Arial Narrow" panose="020B0606020202030204" pitchFamily="34" charset="0"/>
              </a:rPr>
              <a:t>m$ increase in required </a:t>
            </a:r>
            <a:r>
              <a:rPr lang="tr-TR" sz="1600" noProof="1" smtClean="0">
                <a:latin typeface="Arial Narrow" panose="020B0606020202030204" pitchFamily="34" charset="0"/>
              </a:rPr>
              <a:t>reserves,</a:t>
            </a:r>
          </a:p>
          <a:p>
            <a:pPr marL="0" lvl="0" indent="0" algn="ctr">
              <a:spcBef>
                <a:spcPts val="0"/>
              </a:spcBef>
              <a:buNone/>
            </a:pPr>
            <a:r>
              <a:rPr lang="tr-TR" sz="1600" noProof="1" smtClean="0">
                <a:latin typeface="Arial Narrow" panose="020B0606020202030204" pitchFamily="34" charset="0"/>
              </a:rPr>
              <a:t>leaving </a:t>
            </a:r>
            <a:r>
              <a:rPr lang="tr-TR" sz="1600" noProof="1">
                <a:latin typeface="Arial Narrow" panose="020B0606020202030204" pitchFamily="34" charset="0"/>
              </a:rPr>
              <a:t>it </a:t>
            </a:r>
            <a:r>
              <a:rPr lang="tr-TR" sz="1600" noProof="1" smtClean="0">
                <a:latin typeface="Arial Narrow" panose="020B0606020202030204" pitchFamily="34" charset="0"/>
              </a:rPr>
              <a:t>81 </a:t>
            </a:r>
            <a:r>
              <a:rPr lang="tr-TR" sz="1600" noProof="1">
                <a:latin typeface="Arial Narrow" panose="020B0606020202030204" pitchFamily="34" charset="0"/>
              </a:rPr>
              <a:t>m$ of excess reserves which it can lend.</a:t>
            </a:r>
          </a:p>
          <a:p>
            <a:pPr marL="0" lvl="0" indent="0" algn="ctr">
              <a:spcBef>
                <a:spcPts val="0"/>
              </a:spcBef>
              <a:buNone/>
            </a:pPr>
            <a:endParaRPr lang="tr-TR" sz="800" noProof="1" smtClean="0">
              <a:latin typeface="Arial Narrow" panose="020B0606020202030204" pitchFamily="34" charset="0"/>
            </a:endParaRPr>
          </a:p>
          <a:p>
            <a:pPr marL="0" lvl="0" indent="0" algn="ctr">
              <a:spcBef>
                <a:spcPts val="0"/>
              </a:spcBef>
              <a:buNone/>
            </a:pPr>
            <a:r>
              <a:rPr lang="tr-TR" sz="1600" noProof="1" smtClean="0">
                <a:latin typeface="Arial Narrow" panose="020B0606020202030204" pitchFamily="34" charset="0"/>
              </a:rPr>
              <a:t>The process goes on, eventually leading to a 1,000 m$ expansion in deposits.</a:t>
            </a:r>
          </a:p>
          <a:p>
            <a:pPr marL="0" lvl="0" indent="0" algn="ctr">
              <a:spcBef>
                <a:spcPts val="0"/>
              </a:spcBef>
              <a:buNone/>
            </a:pPr>
            <a:r>
              <a:rPr lang="tr-TR" sz="1600" noProof="1" smtClean="0">
                <a:latin typeface="Symbol" panose="05050102010706020507" pitchFamily="18" charset="2"/>
              </a:rPr>
              <a:t>D</a:t>
            </a:r>
            <a:r>
              <a:rPr lang="tr-TR" sz="1600" noProof="1" smtClean="0">
                <a:latin typeface="Arial Narrow" panose="020B0606020202030204" pitchFamily="34" charset="0"/>
              </a:rPr>
              <a:t> Deposits = </a:t>
            </a:r>
            <a:r>
              <a:rPr lang="tr-TR" sz="1600" noProof="1" smtClean="0">
                <a:latin typeface="Symbol" panose="05050102010706020507" pitchFamily="18" charset="2"/>
              </a:rPr>
              <a:t>D</a:t>
            </a:r>
            <a:r>
              <a:rPr lang="tr-TR" sz="1600" noProof="1" smtClean="0">
                <a:latin typeface="Arial Narrow" panose="020B0606020202030204" pitchFamily="34" charset="0"/>
              </a:rPr>
              <a:t> Reserves * Simple Deposit Multiplier</a:t>
            </a:r>
          </a:p>
          <a:p>
            <a:pPr marL="0" lvl="0" indent="0" algn="ctr">
              <a:spcBef>
                <a:spcPts val="0"/>
              </a:spcBef>
              <a:buNone/>
            </a:pPr>
            <a:r>
              <a:rPr lang="tr-TR" sz="1600" noProof="1">
                <a:latin typeface="Arial Narrow" panose="020B0606020202030204" pitchFamily="34" charset="0"/>
              </a:rPr>
              <a:t>w</a:t>
            </a:r>
            <a:r>
              <a:rPr lang="tr-TR" sz="1600" noProof="1" smtClean="0">
                <a:latin typeface="Arial Narrow" panose="020B0606020202030204" pitchFamily="34" charset="0"/>
              </a:rPr>
              <a:t>here Simple Deposit Multiplier = 1 / Required Reserve Ratio</a:t>
            </a:r>
            <a:endParaRPr lang="tr-TR" sz="1600" noProof="1">
              <a:latin typeface="Arial Narrow" panose="020B0606020202030204" pitchFamily="34" charset="0"/>
            </a:endParaRPr>
          </a:p>
        </p:txBody>
      </p:sp>
    </p:spTree>
    <p:extLst>
      <p:ext uri="{BB962C8B-B14F-4D97-AF65-F5344CB8AC3E}">
        <p14:creationId xmlns:p14="http://schemas.microsoft.com/office/powerpoint/2010/main" val="2427480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[11] Monetary </a:t>
            </a:r>
            <a:r>
              <a:rPr lang="tr-TR" sz="2400" dirty="0" err="1" smtClean="0">
                <a:solidFill>
                  <a:srgbClr val="800000"/>
                </a:solidFill>
                <a:latin typeface="Arial Narrow" pitchFamily="34" charset="0"/>
              </a:rPr>
              <a:t>Policy</a:t>
            </a:r>
            <a:r>
              <a:rPr lang="tr-TR" sz="2400" dirty="0" smtClean="0">
                <a:solidFill>
                  <a:srgbClr val="800000"/>
                </a:solidFill>
                <a:latin typeface="Arial Narrow" pitchFamily="34" charset="0"/>
              </a:rPr>
              <a:t> </a:t>
            </a:r>
            <a:r>
              <a:rPr lang="tr-TR" sz="2400" smtClean="0">
                <a:solidFill>
                  <a:srgbClr val="800000"/>
                </a:solidFill>
                <a:latin typeface="Arial Narrow" pitchFamily="34" charset="0"/>
              </a:rPr>
              <a:t/>
            </a:r>
            <a:br>
              <a:rPr lang="tr-TR" sz="2400" smtClean="0">
                <a:solidFill>
                  <a:srgbClr val="800000"/>
                </a:solidFill>
                <a:latin typeface="Arial Narrow" pitchFamily="34" charset="0"/>
              </a:rPr>
            </a:br>
            <a:r>
              <a:rPr lang="tr-TR" sz="2400" smtClean="0">
                <a:latin typeface="Arial Narrow" pitchFamily="34" charset="0"/>
              </a:rPr>
              <a:t>Goals</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algn="ctr">
              <a:lnSpc>
                <a:spcPct val="150000"/>
              </a:lnSpc>
              <a:spcBef>
                <a:spcPts val="0"/>
              </a:spcBef>
              <a:buFont typeface="+mj-lt"/>
              <a:buAutoNum type="arabicPeriod"/>
            </a:pPr>
            <a:r>
              <a:rPr lang="tr-TR" sz="1800" noProof="1" smtClean="0">
                <a:latin typeface="Arial Narrow" panose="020B0606020202030204" pitchFamily="34" charset="0"/>
              </a:rPr>
              <a:t>Price stability</a:t>
            </a:r>
          </a:p>
          <a:p>
            <a:pPr algn="ctr">
              <a:lnSpc>
                <a:spcPct val="150000"/>
              </a:lnSpc>
              <a:spcBef>
                <a:spcPts val="0"/>
              </a:spcBef>
              <a:buFont typeface="+mj-lt"/>
              <a:buAutoNum type="arabicPeriod"/>
            </a:pPr>
            <a:r>
              <a:rPr lang="tr-TR" sz="1800" noProof="1">
                <a:latin typeface="Arial Narrow" panose="020B0606020202030204" pitchFamily="34" charset="0"/>
              </a:rPr>
              <a:t>High employment and economic </a:t>
            </a:r>
            <a:r>
              <a:rPr lang="tr-TR" sz="1800" noProof="1" smtClean="0">
                <a:latin typeface="Arial Narrow" panose="020B0606020202030204" pitchFamily="34" charset="0"/>
              </a:rPr>
              <a:t>growth</a:t>
            </a:r>
          </a:p>
          <a:p>
            <a:pPr algn="ctr">
              <a:lnSpc>
                <a:spcPct val="150000"/>
              </a:lnSpc>
              <a:spcBef>
                <a:spcPts val="0"/>
              </a:spcBef>
              <a:buFont typeface="+mj-lt"/>
              <a:buAutoNum type="arabicPeriod"/>
            </a:pPr>
            <a:r>
              <a:rPr lang="tr-TR" sz="1800" noProof="1" smtClean="0">
                <a:latin typeface="Arial Narrow" panose="020B0606020202030204" pitchFamily="34" charset="0"/>
              </a:rPr>
              <a:t>Stability of financial markets</a:t>
            </a:r>
          </a:p>
          <a:p>
            <a:pPr algn="ctr">
              <a:lnSpc>
                <a:spcPct val="150000"/>
              </a:lnSpc>
              <a:spcBef>
                <a:spcPts val="0"/>
              </a:spcBef>
              <a:buFont typeface="+mj-lt"/>
              <a:buAutoNum type="arabicPeriod"/>
            </a:pPr>
            <a:r>
              <a:rPr lang="tr-TR" sz="1800" noProof="1" smtClean="0">
                <a:latin typeface="Arial Narrow" panose="020B0606020202030204" pitchFamily="34" charset="0"/>
              </a:rPr>
              <a:t>Interest-rate stability</a:t>
            </a:r>
          </a:p>
          <a:p>
            <a:pPr algn="ctr">
              <a:lnSpc>
                <a:spcPct val="150000"/>
              </a:lnSpc>
              <a:spcBef>
                <a:spcPts val="0"/>
              </a:spcBef>
              <a:buFont typeface="+mj-lt"/>
              <a:buAutoNum type="arabicPeriod"/>
            </a:pPr>
            <a:r>
              <a:rPr lang="tr-TR" sz="1800" noProof="1" smtClean="0">
                <a:latin typeface="Arial Narrow" panose="020B0606020202030204" pitchFamily="34" charset="0"/>
              </a:rPr>
              <a:t>Stability in foreign exchange markets</a:t>
            </a:r>
          </a:p>
        </p:txBody>
      </p:sp>
    </p:spTree>
    <p:extLst>
      <p:ext uri="{BB962C8B-B14F-4D97-AF65-F5344CB8AC3E}">
        <p14:creationId xmlns:p14="http://schemas.microsoft.com/office/powerpoint/2010/main" val="139933708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998984"/>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[12] Foreign </a:t>
            </a:r>
            <a:r>
              <a:rPr lang="tr-TR" sz="2400" dirty="0">
                <a:solidFill>
                  <a:srgbClr val="800000"/>
                </a:solidFill>
                <a:latin typeface="Arial Narrow" pitchFamily="34" charset="0"/>
              </a:rPr>
              <a:t>Exchange </a:t>
            </a:r>
            <a:r>
              <a:rPr lang="tr-TR" sz="2400" dirty="0" err="1">
                <a:solidFill>
                  <a:srgbClr val="800000"/>
                </a:solidFill>
                <a:latin typeface="Arial Narrow" pitchFamily="34" charset="0"/>
              </a:rPr>
              <a:t>Markets</a:t>
            </a:r>
            <a:r>
              <a:rPr lang="tr-TR" sz="2400">
                <a:solidFill>
                  <a:srgbClr val="800000"/>
                </a:solidFill>
                <a:latin typeface="Arial Narrow" pitchFamily="34" charset="0"/>
              </a:rPr>
              <a:t/>
            </a:r>
            <a:br>
              <a:rPr lang="tr-TR" sz="2400">
                <a:solidFill>
                  <a:srgbClr val="800000"/>
                </a:solidFill>
                <a:latin typeface="Arial Narrow" pitchFamily="34" charset="0"/>
              </a:rPr>
            </a:br>
            <a:r>
              <a:rPr lang="tr-TR" sz="2400">
                <a:latin typeface="Arial Narrow" pitchFamily="34" charset="0"/>
              </a:rPr>
              <a:t>How Do FX Rates Come Out ?</a:t>
            </a:r>
            <a:endParaRPr lang="tr-TR" sz="2400" dirty="0">
              <a:latin typeface="Arial Narrow" pitchFamily="34" charset="0"/>
            </a:endParaRPr>
          </a:p>
        </p:txBody>
      </p:sp>
      <p:sp>
        <p:nvSpPr>
          <p:cNvPr id="5" name="Content Placeholder 4"/>
          <p:cNvSpPr>
            <a:spLocks noGrp="1"/>
          </p:cNvSpPr>
          <p:nvPr>
            <p:ph idx="1"/>
          </p:nvPr>
        </p:nvSpPr>
        <p:spPr>
          <a:xfrm>
            <a:off x="457200" y="1187624"/>
            <a:ext cx="8229600" cy="5553744"/>
          </a:xfrm>
          <a:ln w="25400">
            <a:noFill/>
          </a:ln>
        </p:spPr>
        <p:txBody>
          <a:bodyPr>
            <a:noAutofit/>
          </a:bodyPr>
          <a:lstStyle/>
          <a:p>
            <a:pPr marL="0" lvl="0" indent="0" algn="ctr">
              <a:spcBef>
                <a:spcPts val="0"/>
              </a:spcBef>
              <a:buNone/>
            </a:pPr>
            <a:r>
              <a:rPr lang="tr-TR" sz="2000">
                <a:latin typeface="Arial Narrow" panose="020B0606020202030204" pitchFamily="34" charset="0"/>
              </a:rPr>
              <a:t>Law of One Price:</a:t>
            </a:r>
          </a:p>
          <a:p>
            <a:pPr marL="0" lvl="0" indent="0" algn="ctr">
              <a:spcBef>
                <a:spcPts val="0"/>
              </a:spcBef>
              <a:buNone/>
            </a:pPr>
            <a:r>
              <a:rPr lang="tr-TR" sz="1800" noProof="1">
                <a:latin typeface="Arial Narrow" panose="020B0606020202030204" pitchFamily="34" charset="0"/>
              </a:rPr>
              <a:t>If two countries produce an identical good,</a:t>
            </a:r>
          </a:p>
          <a:p>
            <a:pPr marL="0" lvl="0" indent="0" algn="ctr">
              <a:spcBef>
                <a:spcPts val="0"/>
              </a:spcBef>
              <a:buNone/>
            </a:pPr>
            <a:r>
              <a:rPr lang="tr-TR" sz="1800" noProof="1">
                <a:latin typeface="Arial Narrow" panose="020B0606020202030204" pitchFamily="34" charset="0"/>
              </a:rPr>
              <a:t>and transportation costs and trade barriers are very low,</a:t>
            </a:r>
          </a:p>
          <a:p>
            <a:pPr marL="0" lvl="0" indent="0" algn="ctr">
              <a:spcBef>
                <a:spcPts val="0"/>
              </a:spcBef>
              <a:buNone/>
            </a:pPr>
            <a:r>
              <a:rPr lang="tr-TR" sz="1800" noProof="1">
                <a:latin typeface="Arial Narrow" panose="020B0606020202030204" pitchFamily="34" charset="0"/>
              </a:rPr>
              <a:t>the price of the good should be the same throughout the world</a:t>
            </a:r>
          </a:p>
          <a:p>
            <a:pPr marL="0" lvl="0" indent="0" algn="ctr">
              <a:spcBef>
                <a:spcPts val="0"/>
              </a:spcBef>
              <a:buNone/>
            </a:pPr>
            <a:r>
              <a:rPr lang="tr-TR" sz="1800" noProof="1">
                <a:latin typeface="Arial Narrow" panose="020B0606020202030204" pitchFamily="34" charset="0"/>
              </a:rPr>
              <a:t>no matter which country produces it.</a:t>
            </a:r>
          </a:p>
          <a:p>
            <a:pPr marL="0" lvl="0" indent="0" algn="ctr">
              <a:spcBef>
                <a:spcPts val="0"/>
              </a:spcBef>
              <a:buNone/>
            </a:pPr>
            <a:endParaRPr lang="tr-TR" sz="1800" dirty="0">
              <a:latin typeface="Arial Narrow" panose="020B0606020202030204" pitchFamily="34" charset="0"/>
            </a:endParaRPr>
          </a:p>
          <a:p>
            <a:pPr marL="0" lvl="0" indent="0" algn="ctr">
              <a:spcBef>
                <a:spcPts val="0"/>
              </a:spcBef>
              <a:buNone/>
            </a:pPr>
            <a:r>
              <a:rPr lang="tr-TR" sz="2000" dirty="0" err="1">
                <a:latin typeface="Arial Narrow" panose="020B0606020202030204" pitchFamily="34" charset="0"/>
              </a:rPr>
              <a:t>Theory</a:t>
            </a:r>
            <a:r>
              <a:rPr lang="tr-TR" sz="2000" dirty="0">
                <a:latin typeface="Arial Narrow" panose="020B0606020202030204" pitchFamily="34" charset="0"/>
              </a:rPr>
              <a:t> of </a:t>
            </a:r>
            <a:r>
              <a:rPr lang="tr-TR" sz="2000" dirty="0" err="1">
                <a:latin typeface="Arial Narrow" panose="020B0606020202030204" pitchFamily="34" charset="0"/>
              </a:rPr>
              <a:t>Purchasing</a:t>
            </a:r>
            <a:r>
              <a:rPr lang="tr-TR" sz="2000" dirty="0">
                <a:latin typeface="Arial Narrow" panose="020B0606020202030204" pitchFamily="34" charset="0"/>
              </a:rPr>
              <a:t> </a:t>
            </a:r>
            <a:r>
              <a:rPr lang="tr-TR" sz="2000" dirty="0" err="1">
                <a:latin typeface="Arial Narrow" panose="020B0606020202030204" pitchFamily="34" charset="0"/>
              </a:rPr>
              <a:t>Power</a:t>
            </a:r>
            <a:r>
              <a:rPr lang="tr-TR" sz="2000" dirty="0">
                <a:latin typeface="Arial Narrow" panose="020B0606020202030204" pitchFamily="34" charset="0"/>
              </a:rPr>
              <a:t> </a:t>
            </a:r>
            <a:r>
              <a:rPr lang="tr-TR" sz="2000" dirty="0" err="1">
                <a:latin typeface="Arial Narrow" panose="020B0606020202030204" pitchFamily="34" charset="0"/>
              </a:rPr>
              <a:t>Parity</a:t>
            </a:r>
            <a:r>
              <a:rPr lang="tr-TR" sz="2000" dirty="0">
                <a:latin typeface="Arial Narrow" panose="020B0606020202030204" pitchFamily="34" charset="0"/>
              </a:rPr>
              <a:t> (PPP)</a:t>
            </a:r>
          </a:p>
          <a:p>
            <a:pPr marL="0" lvl="0" indent="0" algn="ctr">
              <a:spcBef>
                <a:spcPts val="0"/>
              </a:spcBef>
              <a:buNone/>
            </a:pPr>
            <a:r>
              <a:rPr lang="tr-TR" sz="1800" noProof="1">
                <a:latin typeface="Arial Narrow" panose="020B0606020202030204" pitchFamily="34" charset="0"/>
              </a:rPr>
              <a:t>states that exchange rates between any two currencies</a:t>
            </a:r>
          </a:p>
          <a:p>
            <a:pPr marL="0" lvl="0" indent="0" algn="ctr">
              <a:spcBef>
                <a:spcPts val="0"/>
              </a:spcBef>
              <a:buNone/>
            </a:pPr>
            <a:r>
              <a:rPr lang="tr-TR" sz="1800" noProof="1">
                <a:latin typeface="Arial Narrow" panose="020B0606020202030204" pitchFamily="34" charset="0"/>
              </a:rPr>
              <a:t>will adjust to reflect changes in the price levels of the two countries.</a:t>
            </a:r>
          </a:p>
          <a:p>
            <a:pPr marL="0" lvl="0" indent="0" algn="ctr">
              <a:spcBef>
                <a:spcPts val="0"/>
              </a:spcBef>
              <a:buNone/>
            </a:pPr>
            <a:endParaRPr lang="tr-TR" sz="9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The theory of PPP is simply an application of the Law of One Price</a:t>
            </a:r>
          </a:p>
          <a:p>
            <a:pPr marL="0" lvl="0" indent="0" algn="ctr">
              <a:spcBef>
                <a:spcPts val="0"/>
              </a:spcBef>
              <a:buNone/>
            </a:pPr>
            <a:r>
              <a:rPr lang="tr-TR" sz="1800" noProof="1">
                <a:latin typeface="Arial Narrow" panose="020B0606020202030204" pitchFamily="34" charset="0"/>
              </a:rPr>
              <a:t>to national price levels rather than to individual prices.</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solidFill>
                  <a:srgbClr val="000066"/>
                </a:solidFill>
                <a:latin typeface="Arial Narrow" panose="020B0606020202030204" pitchFamily="34" charset="0"/>
              </a:rPr>
              <a:t>Suppose that the Yen price of Japanese steel rises 8% (to 10,800 ¥) due to inflation in Japan</a:t>
            </a:r>
          </a:p>
          <a:p>
            <a:pPr marL="0" lvl="0" indent="0" algn="ctr">
              <a:spcBef>
                <a:spcPts val="0"/>
              </a:spcBef>
              <a:buNone/>
            </a:pPr>
            <a:r>
              <a:rPr lang="tr-TR" sz="1800" noProof="1">
                <a:solidFill>
                  <a:srgbClr val="000066"/>
                </a:solidFill>
                <a:latin typeface="Arial Narrow" panose="020B0606020202030204" pitchFamily="34" charset="0"/>
              </a:rPr>
              <a:t>while the Dollar price of the American steel rises 4% (to 104 $) due to inflation in the US;</a:t>
            </a:r>
          </a:p>
          <a:p>
            <a:pPr marL="0" indent="0" algn="ctr">
              <a:spcBef>
                <a:spcPts val="0"/>
              </a:spcBef>
              <a:buNone/>
            </a:pPr>
            <a:r>
              <a:rPr lang="tr-TR" sz="1800" noProof="1">
                <a:solidFill>
                  <a:srgbClr val="000066"/>
                </a:solidFill>
                <a:latin typeface="Arial Narrow" panose="020B0606020202030204" pitchFamily="34" charset="0"/>
              </a:rPr>
              <a:t>then 1 $ should be worth 103.85 ¥ reflecting the inflation difference.</a:t>
            </a:r>
          </a:p>
          <a:p>
            <a:pPr marL="0" lvl="0" indent="0" algn="ctr">
              <a:spcBef>
                <a:spcPts val="0"/>
              </a:spcBef>
              <a:buNone/>
            </a:pPr>
            <a:endParaRPr lang="tr-TR" sz="1800" noProof="1">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885822" y="5877272"/>
            <a:ext cx="7372356" cy="576064"/>
          </a:xfrm>
          <a:prstGeom prst="rect">
            <a:avLst/>
          </a:prstGeom>
        </p:spPr>
      </p:pic>
    </p:spTree>
    <p:extLst>
      <p:ext uri="{BB962C8B-B14F-4D97-AF65-F5344CB8AC3E}">
        <p14:creationId xmlns:p14="http://schemas.microsoft.com/office/powerpoint/2010/main" val="38322559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29600" cy="114300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[12] Foreign Exchange Markets</a:t>
            </a:r>
            <a:endParaRPr lang="tr-TR" sz="2800" dirty="0">
              <a:latin typeface="Arial Narrow" pitchFamily="34" charset="0"/>
            </a:endParaRPr>
          </a:p>
        </p:txBody>
      </p:sp>
      <p:sp>
        <p:nvSpPr>
          <p:cNvPr id="5" name="Content Placeholder 4"/>
          <p:cNvSpPr>
            <a:spLocks noGrp="1"/>
          </p:cNvSpPr>
          <p:nvPr>
            <p:ph idx="1"/>
          </p:nvPr>
        </p:nvSpPr>
        <p:spPr>
          <a:xfrm>
            <a:off x="457200" y="1340768"/>
            <a:ext cx="8229600" cy="5112568"/>
          </a:xfrm>
          <a:ln w="25400">
            <a:noFill/>
          </a:ln>
        </p:spPr>
        <p:txBody>
          <a:bodyPr>
            <a:noAutofit/>
          </a:bodyPr>
          <a:lstStyle/>
          <a:p>
            <a:pPr marL="0" lvl="0" indent="0" algn="ctr">
              <a:spcBef>
                <a:spcPts val="0"/>
              </a:spcBef>
              <a:buNone/>
            </a:pPr>
            <a:r>
              <a:rPr lang="tr-TR" sz="2000">
                <a:latin typeface="Arial Narrow" panose="020B0606020202030204" pitchFamily="34" charset="0"/>
              </a:rPr>
              <a:t>Calculating Forward Rate for Selling </a:t>
            </a:r>
            <a:r>
              <a:rPr lang="tr-TR" sz="2000" smtClean="0">
                <a:latin typeface="Arial Narrow" panose="020B0606020202030204" pitchFamily="34" charset="0"/>
              </a:rPr>
              <a:t>FX</a:t>
            </a:r>
          </a:p>
          <a:p>
            <a:pPr marL="0" lvl="0" indent="0" algn="ctr">
              <a:spcBef>
                <a:spcPts val="0"/>
              </a:spcBef>
              <a:buNone/>
            </a:pPr>
            <a:r>
              <a:rPr lang="tr-TR" sz="2400" smtClean="0">
                <a:latin typeface="Arial Narrow" panose="020B0606020202030204" pitchFamily="34" charset="0"/>
              </a:rPr>
              <a:t>[Forward Bid Rate]</a:t>
            </a:r>
            <a:endParaRPr lang="tr-TR" sz="2400">
              <a:latin typeface="Arial Narrow" panose="020B0606020202030204" pitchFamily="34" charset="0"/>
            </a:endParaRPr>
          </a:p>
          <a:p>
            <a:pPr marL="0" lvl="0" indent="0" algn="ctr">
              <a:spcBef>
                <a:spcPts val="0"/>
              </a:spcBef>
              <a:buNone/>
            </a:pPr>
            <a:r>
              <a:rPr lang="tr-TR" sz="1800" smtClean="0">
                <a:latin typeface="Arial Narrow" panose="020B0606020202030204" pitchFamily="34" charset="0"/>
              </a:rPr>
              <a:t>Assume </a:t>
            </a:r>
            <a:r>
              <a:rPr lang="tr-TR" sz="1800" dirty="0" smtClean="0">
                <a:latin typeface="Arial Narrow" panose="020B0606020202030204" pitchFamily="34" charset="0"/>
              </a:rPr>
              <a:t>1€</a:t>
            </a:r>
            <a:r>
              <a:rPr lang="tr-TR" sz="1800" dirty="0">
                <a:latin typeface="Arial Narrow" panose="020B0606020202030204" pitchFamily="34" charset="0"/>
              </a:rPr>
              <a:t> </a:t>
            </a:r>
            <a:r>
              <a:rPr lang="tr-TR" sz="1800" dirty="0" smtClean="0">
                <a:latin typeface="Arial Narrow" panose="020B0606020202030204" pitchFamily="34" charset="0"/>
              </a:rPr>
              <a:t>is </a:t>
            </a:r>
            <a:r>
              <a:rPr lang="tr-TR" sz="1800" dirty="0" err="1" smtClean="0">
                <a:latin typeface="Arial Narrow" panose="020B0606020202030204" pitchFamily="34" charset="0"/>
              </a:rPr>
              <a:t>bought</a:t>
            </a:r>
            <a:r>
              <a:rPr lang="tr-TR" sz="1800" dirty="0" smtClean="0">
                <a:latin typeface="Arial Narrow" panose="020B0606020202030204" pitchFamily="34" charset="0"/>
              </a:rPr>
              <a:t> </a:t>
            </a:r>
            <a:r>
              <a:rPr lang="tr-TR" sz="1800" dirty="0" err="1" smtClean="0">
                <a:latin typeface="Arial Narrow" panose="020B0606020202030204" pitchFamily="34" charset="0"/>
              </a:rPr>
              <a:t>for</a:t>
            </a:r>
            <a:r>
              <a:rPr lang="tr-TR" sz="1800" dirty="0" smtClean="0">
                <a:latin typeface="Arial Narrow" panose="020B0606020202030204" pitchFamily="34" charset="0"/>
              </a:rPr>
              <a:t> 6.45 TL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sold</a:t>
            </a:r>
            <a:r>
              <a:rPr lang="tr-TR" sz="1800" dirty="0" smtClean="0">
                <a:latin typeface="Arial Narrow" panose="020B0606020202030204" pitchFamily="34" charset="0"/>
              </a:rPr>
              <a:t> </a:t>
            </a:r>
            <a:r>
              <a:rPr lang="tr-TR" sz="1800" dirty="0" err="1" smtClean="0">
                <a:latin typeface="Arial Narrow" panose="020B0606020202030204" pitchFamily="34" charset="0"/>
              </a:rPr>
              <a:t>for</a:t>
            </a:r>
            <a:r>
              <a:rPr lang="tr-TR" sz="1800" dirty="0" smtClean="0">
                <a:latin typeface="Arial Narrow" panose="020B0606020202030204" pitchFamily="34" charset="0"/>
              </a:rPr>
              <a:t> 6.55 TL in </a:t>
            </a:r>
            <a:r>
              <a:rPr lang="tr-TR" sz="1800" dirty="0" err="1" smtClean="0">
                <a:latin typeface="Arial Narrow" panose="020B0606020202030204" pitchFamily="34" charset="0"/>
              </a:rPr>
              <a:t>the</a:t>
            </a:r>
            <a:r>
              <a:rPr lang="tr-TR" sz="1800" dirty="0" smtClean="0">
                <a:latin typeface="Arial Narrow" panose="020B0606020202030204" pitchFamily="34" charset="0"/>
              </a:rPr>
              <a:t> market </a:t>
            </a:r>
            <a:r>
              <a:rPr lang="tr-TR" sz="1800" dirty="0" err="1" smtClean="0">
                <a:latin typeface="Arial Narrow" panose="020B0606020202030204" pitchFamily="34" charset="0"/>
              </a:rPr>
              <a:t>today</a:t>
            </a:r>
            <a:endParaRPr lang="tr-TR" sz="1800" dirty="0" smtClean="0">
              <a:latin typeface="Arial Narrow" panose="020B0606020202030204" pitchFamily="34" charset="0"/>
            </a:endParaRPr>
          </a:p>
          <a:p>
            <a:pPr marL="0" lvl="0" indent="0" algn="ctr">
              <a:spcBef>
                <a:spcPts val="0"/>
              </a:spcBef>
              <a:buNone/>
            </a:pPr>
            <a:r>
              <a:rPr lang="tr-TR" sz="1800" noProof="1" smtClean="0">
                <a:latin typeface="Arial Narrow" panose="020B0606020202030204" pitchFamily="34" charset="0"/>
              </a:rPr>
              <a:t>and you ask a bank to quote €/TL rate for 1m € for 3 months from now</a:t>
            </a:r>
          </a:p>
          <a:p>
            <a:pPr marL="0" lvl="0" indent="0" algn="ctr">
              <a:spcBef>
                <a:spcPts val="0"/>
              </a:spcBef>
              <a:buNone/>
            </a:pPr>
            <a:r>
              <a:rPr lang="tr-TR" sz="1800" noProof="1" smtClean="0">
                <a:latin typeface="Arial Narrow" panose="020B0606020202030204" pitchFamily="34" charset="0"/>
              </a:rPr>
              <a:t>when you want to sell your export revenue.</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2000">
                <a:latin typeface="Arial Narrow" pitchFamily="34" charset="0"/>
              </a:rPr>
              <a:t>Calculating Forward Rate for Purchasing </a:t>
            </a:r>
            <a:r>
              <a:rPr lang="tr-TR" sz="2000" smtClean="0">
                <a:latin typeface="Arial Narrow" pitchFamily="34" charset="0"/>
              </a:rPr>
              <a:t>FX</a:t>
            </a:r>
          </a:p>
          <a:p>
            <a:pPr marL="0" lvl="0" indent="0" algn="ctr">
              <a:spcBef>
                <a:spcPts val="0"/>
              </a:spcBef>
              <a:buNone/>
            </a:pPr>
            <a:r>
              <a:rPr lang="tr-TR" sz="2400" smtClean="0">
                <a:latin typeface="Arial Narrow" pitchFamily="34" charset="0"/>
              </a:rPr>
              <a:t>[Forward Offer Rate]</a:t>
            </a:r>
          </a:p>
          <a:p>
            <a:pPr marL="0" lvl="0" indent="0" algn="ctr">
              <a:spcBef>
                <a:spcPts val="0"/>
              </a:spcBef>
              <a:buNone/>
            </a:pPr>
            <a:r>
              <a:rPr lang="tr-TR" sz="1800">
                <a:latin typeface="Arial Narrow" panose="020B0606020202030204" pitchFamily="34" charset="0"/>
              </a:rPr>
              <a:t>Assume 1€ is bought for 6.45 TL and sold for 6.55 TL in the market today</a:t>
            </a:r>
          </a:p>
          <a:p>
            <a:pPr marL="0" lvl="0" indent="0" algn="ctr">
              <a:spcBef>
                <a:spcPts val="0"/>
              </a:spcBef>
              <a:buNone/>
            </a:pPr>
            <a:r>
              <a:rPr lang="tr-TR" sz="1800" noProof="1">
                <a:latin typeface="Arial Narrow" panose="020B0606020202030204" pitchFamily="34" charset="0"/>
              </a:rPr>
              <a:t>and you ask a bank to quote €/TL rate for purchasing 1m € for 3 months from now</a:t>
            </a:r>
          </a:p>
          <a:p>
            <a:pPr marL="0" lvl="0" indent="0" algn="ctr">
              <a:spcBef>
                <a:spcPts val="0"/>
              </a:spcBef>
              <a:buNone/>
            </a:pPr>
            <a:r>
              <a:rPr lang="tr-TR" sz="1800" noProof="1">
                <a:latin typeface="Arial Narrow" panose="020B0606020202030204" pitchFamily="34" charset="0"/>
              </a:rPr>
              <a:t>when you want to pay for your imports.</a:t>
            </a:r>
          </a:p>
          <a:p>
            <a:pPr marL="0" lvl="0" indent="0" algn="ctr">
              <a:spcBef>
                <a:spcPts val="0"/>
              </a:spcBef>
              <a:buNone/>
            </a:pPr>
            <a:endParaRPr lang="tr-TR" sz="1800" noProof="1" smtClean="0">
              <a:latin typeface="Arial Narrow" panose="020B0606020202030204" pitchFamily="34" charset="0"/>
            </a:endParaRPr>
          </a:p>
        </p:txBody>
      </p:sp>
    </p:spTree>
    <p:extLst>
      <p:ext uri="{BB962C8B-B14F-4D97-AF65-F5344CB8AC3E}">
        <p14:creationId xmlns:p14="http://schemas.microsoft.com/office/powerpoint/2010/main" val="13328197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584590"/>
            <a:ext cx="4896544" cy="114300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[12] Foreign </a:t>
            </a:r>
            <a:r>
              <a:rPr lang="tr-TR" sz="2400" dirty="0" smtClean="0">
                <a:solidFill>
                  <a:srgbClr val="800000"/>
                </a:solidFill>
                <a:latin typeface="Arial Narrow" pitchFamily="34" charset="0"/>
              </a:rPr>
              <a:t>Exchange </a:t>
            </a:r>
            <a:r>
              <a:rPr lang="tr-TR" sz="2400" dirty="0" err="1" smtClean="0">
                <a:solidFill>
                  <a:srgbClr val="800000"/>
                </a:solidFill>
                <a:latin typeface="Arial Narrow" pitchFamily="34" charset="0"/>
              </a:rPr>
              <a:t>Markets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Calculating</a:t>
            </a:r>
            <a:r>
              <a:rPr lang="tr-TR" sz="2400" dirty="0" smtClean="0">
                <a:latin typeface="Arial Narrow" pitchFamily="34" charset="0"/>
              </a:rPr>
              <a:t> </a:t>
            </a:r>
            <a:r>
              <a:rPr lang="tr-TR" sz="2400" dirty="0" err="1" smtClean="0">
                <a:latin typeface="Arial Narrow" pitchFamily="34" charset="0"/>
              </a:rPr>
              <a:t>Forward</a:t>
            </a:r>
            <a:r>
              <a:rPr lang="tr-TR" sz="2400" dirty="0" smtClean="0">
                <a:latin typeface="Arial Narrow" pitchFamily="34" charset="0"/>
              </a:rPr>
              <a:t> FX Rate</a:t>
            </a:r>
            <a:endParaRPr lang="tr-TR" sz="2400" dirty="0">
              <a:latin typeface="Arial Narrow" pitchFamily="34" charset="0"/>
            </a:endParaRPr>
          </a:p>
        </p:txBody>
      </p:sp>
      <p:pic>
        <p:nvPicPr>
          <p:cNvPr id="9" name="Resim 8"/>
          <p:cNvPicPr>
            <a:picLocks noChangeAspect="1"/>
          </p:cNvPicPr>
          <p:nvPr/>
        </p:nvPicPr>
        <p:blipFill>
          <a:blip r:embed="rId3"/>
          <a:stretch>
            <a:fillRect/>
          </a:stretch>
        </p:blipFill>
        <p:spPr>
          <a:xfrm>
            <a:off x="488363" y="2420888"/>
            <a:ext cx="8188093" cy="854968"/>
          </a:xfrm>
          <a:prstGeom prst="rect">
            <a:avLst/>
          </a:prstGeom>
        </p:spPr>
      </p:pic>
      <p:sp>
        <p:nvSpPr>
          <p:cNvPr id="6" name="İçerik Yer Tutucusu 5"/>
          <p:cNvSpPr>
            <a:spLocks noGrp="1"/>
          </p:cNvSpPr>
          <p:nvPr>
            <p:ph idx="1"/>
          </p:nvPr>
        </p:nvSpPr>
        <p:spPr>
          <a:xfrm>
            <a:off x="457200" y="1600200"/>
            <a:ext cx="4762872" cy="4525963"/>
          </a:xfrm>
        </p:spPr>
        <p:txBody>
          <a:bodyPr/>
          <a:lstStyle/>
          <a:p>
            <a:pPr marL="0" indent="0">
              <a:buNone/>
            </a:pPr>
            <a:r>
              <a:rPr lang="tr-TR" smtClean="0"/>
              <a:t> </a:t>
            </a:r>
            <a:endParaRPr lang="en-US"/>
          </a:p>
        </p:txBody>
      </p:sp>
      <p:pic>
        <p:nvPicPr>
          <p:cNvPr id="12" name="Resim 11"/>
          <p:cNvPicPr>
            <a:picLocks noChangeAspect="1"/>
          </p:cNvPicPr>
          <p:nvPr/>
        </p:nvPicPr>
        <p:blipFill>
          <a:blip r:embed="rId4"/>
          <a:stretch>
            <a:fillRect/>
          </a:stretch>
        </p:blipFill>
        <p:spPr>
          <a:xfrm>
            <a:off x="5436096" y="188640"/>
            <a:ext cx="2819631" cy="1670491"/>
          </a:xfrm>
          <a:prstGeom prst="rect">
            <a:avLst/>
          </a:prstGeom>
        </p:spPr>
      </p:pic>
      <p:sp>
        <p:nvSpPr>
          <p:cNvPr id="13" name="Metin kutusu 12"/>
          <p:cNvSpPr txBox="1"/>
          <p:nvPr/>
        </p:nvSpPr>
        <p:spPr>
          <a:xfrm>
            <a:off x="5456632" y="1883717"/>
            <a:ext cx="2900153" cy="338554"/>
          </a:xfrm>
          <a:prstGeom prst="rect">
            <a:avLst/>
          </a:prstGeom>
          <a:solidFill>
            <a:schemeClr val="bg1"/>
          </a:solidFill>
        </p:spPr>
        <p:txBody>
          <a:bodyPr wrap="none" rtlCol="0">
            <a:spAutoFit/>
          </a:bodyPr>
          <a:lstStyle/>
          <a:p>
            <a:r>
              <a:rPr lang="tr-TR" sz="1600" dirty="0" smtClean="0">
                <a:latin typeface="Arial Narrow" panose="020B0606020202030204" pitchFamily="34" charset="0"/>
              </a:rPr>
              <a:t>Zero </a:t>
            </a:r>
            <a:r>
              <a:rPr lang="tr-TR" sz="1600" dirty="0" err="1" smtClean="0">
                <a:latin typeface="Arial Narrow" panose="020B0606020202030204" pitchFamily="34" charset="0"/>
              </a:rPr>
              <a:t>transaction</a:t>
            </a:r>
            <a:r>
              <a:rPr lang="tr-TR" sz="1600" dirty="0" smtClean="0">
                <a:latin typeface="Arial Narrow" panose="020B0606020202030204" pitchFamily="34" charset="0"/>
              </a:rPr>
              <a:t> </a:t>
            </a:r>
            <a:r>
              <a:rPr lang="tr-TR" sz="1600" dirty="0" err="1" smtClean="0">
                <a:latin typeface="Arial Narrow" panose="020B0606020202030204" pitchFamily="34" charset="0"/>
              </a:rPr>
              <a:t>costs</a:t>
            </a:r>
            <a:r>
              <a:rPr lang="tr-TR" sz="1600" dirty="0" smtClean="0">
                <a:latin typeface="Arial Narrow" panose="020B0606020202030204" pitchFamily="34" charset="0"/>
              </a:rPr>
              <a:t> </a:t>
            </a:r>
            <a:r>
              <a:rPr lang="tr-TR" sz="1600" dirty="0" err="1" smtClean="0">
                <a:latin typeface="Arial Narrow" panose="020B0606020202030204" pitchFamily="34" charset="0"/>
              </a:rPr>
              <a:t>are</a:t>
            </a:r>
            <a:r>
              <a:rPr lang="tr-TR" sz="1600" dirty="0" smtClean="0">
                <a:latin typeface="Arial Narrow" panose="020B0606020202030204" pitchFamily="34" charset="0"/>
              </a:rPr>
              <a:t> </a:t>
            </a:r>
            <a:r>
              <a:rPr lang="tr-TR" sz="1600" dirty="0" err="1" smtClean="0">
                <a:latin typeface="Arial Narrow" panose="020B0606020202030204" pitchFamily="34" charset="0"/>
              </a:rPr>
              <a:t>assumed</a:t>
            </a:r>
            <a:r>
              <a:rPr lang="tr-TR" sz="1600" dirty="0" smtClean="0">
                <a:latin typeface="Arial Narrow" panose="020B0606020202030204" pitchFamily="34" charset="0"/>
              </a:rPr>
              <a:t>.</a:t>
            </a:r>
            <a:endParaRPr lang="en-US" sz="1600" dirty="0">
              <a:latin typeface="Arial Narrow" panose="020B0606020202030204" pitchFamily="34" charset="0"/>
            </a:endParaRPr>
          </a:p>
        </p:txBody>
      </p:sp>
      <p:pic>
        <p:nvPicPr>
          <p:cNvPr id="16" name="Resim 15"/>
          <p:cNvPicPr>
            <a:picLocks noChangeAspect="1"/>
          </p:cNvPicPr>
          <p:nvPr/>
        </p:nvPicPr>
        <p:blipFill>
          <a:blip r:embed="rId5"/>
          <a:stretch>
            <a:fillRect/>
          </a:stretch>
        </p:blipFill>
        <p:spPr>
          <a:xfrm>
            <a:off x="709252" y="4653136"/>
            <a:ext cx="7984353" cy="823586"/>
          </a:xfrm>
          <a:prstGeom prst="rect">
            <a:avLst/>
          </a:prstGeom>
        </p:spPr>
      </p:pic>
      <p:pic>
        <p:nvPicPr>
          <p:cNvPr id="23" name="Resim 22"/>
          <p:cNvPicPr>
            <a:picLocks noChangeAspect="1"/>
          </p:cNvPicPr>
          <p:nvPr/>
        </p:nvPicPr>
        <p:blipFill>
          <a:blip r:embed="rId6"/>
          <a:stretch>
            <a:fillRect/>
          </a:stretch>
        </p:blipFill>
        <p:spPr>
          <a:xfrm>
            <a:off x="1655421" y="3068960"/>
            <a:ext cx="3996699" cy="1267537"/>
          </a:xfrm>
          <a:prstGeom prst="rect">
            <a:avLst/>
          </a:prstGeom>
        </p:spPr>
      </p:pic>
      <p:pic>
        <p:nvPicPr>
          <p:cNvPr id="24" name="Resim 23"/>
          <p:cNvPicPr>
            <a:picLocks noChangeAspect="1"/>
          </p:cNvPicPr>
          <p:nvPr/>
        </p:nvPicPr>
        <p:blipFill>
          <a:blip r:embed="rId7"/>
          <a:stretch>
            <a:fillRect/>
          </a:stretch>
        </p:blipFill>
        <p:spPr>
          <a:xfrm>
            <a:off x="1655421" y="5445224"/>
            <a:ext cx="3996699" cy="1187265"/>
          </a:xfrm>
          <a:prstGeom prst="rect">
            <a:avLst/>
          </a:prstGeom>
        </p:spPr>
      </p:pic>
      <p:sp>
        <p:nvSpPr>
          <p:cNvPr id="2" name="Dikdörtgen 1"/>
          <p:cNvSpPr/>
          <p:nvPr/>
        </p:nvSpPr>
        <p:spPr>
          <a:xfrm>
            <a:off x="323528" y="2276872"/>
            <a:ext cx="8572976" cy="2160240"/>
          </a:xfrm>
          <a:prstGeom prst="rect">
            <a:avLst/>
          </a:prstGeom>
          <a:noFill/>
          <a:ln>
            <a:solidFill>
              <a:srgbClr val="8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ikdörtgen 10"/>
          <p:cNvSpPr/>
          <p:nvPr/>
        </p:nvSpPr>
        <p:spPr>
          <a:xfrm>
            <a:off x="323528" y="4546551"/>
            <a:ext cx="8572976" cy="2160240"/>
          </a:xfrm>
          <a:prstGeom prst="rect">
            <a:avLst/>
          </a:prstGeom>
          <a:no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23424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smtClean="0">
                <a:latin typeface="Arial Narrow" pitchFamily="34" charset="0"/>
              </a:rPr>
              <a:t/>
            </a:r>
            <a:br>
              <a:rPr lang="tr-TR" sz="1400" smtClean="0">
                <a:latin typeface="Arial Narrow" pitchFamily="34" charset="0"/>
              </a:rPr>
            </a:br>
            <a:r>
              <a:rPr lang="tr-TR" sz="2400" smtClean="0">
                <a:solidFill>
                  <a:srgbClr val="800000"/>
                </a:solidFill>
                <a:latin typeface="Arial Narrow" pitchFamily="34" charset="0"/>
              </a:rPr>
              <a:t>[13] International </a:t>
            </a:r>
            <a:r>
              <a:rPr lang="tr-TR" sz="2400" dirty="0" smtClean="0">
                <a:solidFill>
                  <a:srgbClr val="800000"/>
                </a:solidFill>
                <a:latin typeface="Arial Narrow" pitchFamily="34" charset="0"/>
              </a:rPr>
              <a:t>Financial </a:t>
            </a:r>
            <a:r>
              <a:rPr lang="tr-TR" sz="2400" dirty="0" err="1" smtClean="0">
                <a:solidFill>
                  <a:srgbClr val="800000"/>
                </a:solidFill>
                <a:latin typeface="Arial Narrow" pitchFamily="34" charset="0"/>
              </a:rPr>
              <a:t>System</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latin typeface="Arial Narrow" pitchFamily="34" charset="0"/>
              </a:rPr>
              <a:t>Balance</a:t>
            </a:r>
            <a:r>
              <a:rPr lang="tr-TR" sz="2400" dirty="0" smtClean="0">
                <a:latin typeface="Arial Narrow" pitchFamily="34" charset="0"/>
              </a:rPr>
              <a:t> of </a:t>
            </a:r>
            <a:r>
              <a:rPr lang="tr-TR" sz="2400" dirty="0" err="1" smtClean="0">
                <a:latin typeface="Arial Narrow" pitchFamily="34" charset="0"/>
              </a:rPr>
              <a:t>Payments</a:t>
            </a:r>
            <a:endParaRPr lang="tr-TR" sz="2400" dirty="0">
              <a:latin typeface="Arial Narrow" pitchFamily="34" charset="0"/>
            </a:endParaRPr>
          </a:p>
        </p:txBody>
      </p:sp>
      <p:sp>
        <p:nvSpPr>
          <p:cNvPr id="5" name="Content Placeholder 4"/>
          <p:cNvSpPr>
            <a:spLocks noGrp="1"/>
          </p:cNvSpPr>
          <p:nvPr>
            <p:ph idx="1"/>
          </p:nvPr>
        </p:nvSpPr>
        <p:spPr>
          <a:xfrm>
            <a:off x="457200" y="1412776"/>
            <a:ext cx="8229600" cy="5256584"/>
          </a:xfrm>
          <a:ln w="25400">
            <a:noFill/>
          </a:ln>
        </p:spPr>
        <p:txBody>
          <a:bodyPr>
            <a:noAutofit/>
          </a:bodyPr>
          <a:lstStyle/>
          <a:p>
            <a:pPr marL="0" lvl="0" indent="0" algn="ctr">
              <a:spcBef>
                <a:spcPts val="0"/>
              </a:spcBef>
              <a:buNone/>
            </a:pPr>
            <a:r>
              <a:rPr lang="tr-TR" sz="1600" dirty="0" err="1" smtClean="0">
                <a:latin typeface="Arial Narrow" panose="020B0606020202030204" pitchFamily="34" charset="0"/>
              </a:rPr>
              <a:t>Because</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of </a:t>
            </a:r>
            <a:r>
              <a:rPr lang="tr-TR" sz="1600" dirty="0" err="1" smtClean="0">
                <a:latin typeface="Arial Narrow" panose="020B0606020202030204" pitchFamily="34" charset="0"/>
              </a:rPr>
              <a:t>payments</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official</a:t>
            </a:r>
            <a:r>
              <a:rPr lang="tr-TR" sz="1600" dirty="0" smtClean="0">
                <a:latin typeface="Arial Narrow" panose="020B0606020202030204" pitchFamily="34" charset="0"/>
              </a:rPr>
              <a:t> </a:t>
            </a:r>
            <a:r>
              <a:rPr lang="tr-TR" sz="1600" dirty="0" err="1" smtClean="0">
                <a:latin typeface="Arial Narrow" panose="020B0606020202030204" pitchFamily="34" charset="0"/>
              </a:rPr>
              <a:t>transactions</a:t>
            </a:r>
            <a:r>
              <a:rPr lang="tr-TR" sz="1600" dirty="0" smtClean="0">
                <a:latin typeface="Arial Narrow" panose="020B0606020202030204" pitchFamily="34" charset="0"/>
              </a:rPr>
              <a:t> </a:t>
            </a:r>
            <a:r>
              <a:rPr lang="tr-TR" sz="1600" dirty="0" err="1" smtClean="0">
                <a:latin typeface="Arial Narrow" panose="020B0606020202030204" pitchFamily="34" charset="0"/>
              </a:rPr>
              <a:t>balance</a:t>
            </a:r>
            <a:r>
              <a:rPr lang="tr-TR" sz="1600" dirty="0" smtClean="0">
                <a:latin typeface="Arial Narrow" panose="020B0606020202030204" pitchFamily="34" charset="0"/>
              </a:rPr>
              <a:t>, </a:t>
            </a:r>
            <a:r>
              <a:rPr lang="tr-TR" sz="1600" dirty="0" err="1" smtClean="0">
                <a:latin typeface="Arial Narrow" panose="020B0606020202030204" pitchFamily="34" charset="0"/>
              </a:rPr>
              <a:t>which</a:t>
            </a:r>
            <a:r>
              <a:rPr lang="tr-TR" sz="1600" dirty="0" smtClean="0">
                <a:latin typeface="Arial Narrow" panose="020B0606020202030204" pitchFamily="34" charset="0"/>
              </a:rPr>
              <a:t> </a:t>
            </a:r>
            <a:r>
              <a:rPr lang="tr-TR" sz="1600" dirty="0" err="1" smtClean="0">
                <a:latin typeface="Arial Narrow" panose="020B0606020202030204" pitchFamily="34" charset="0"/>
              </a:rPr>
              <a:t>equals</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current</a:t>
            </a:r>
            <a:r>
              <a:rPr lang="tr-TR" sz="1600" dirty="0" smtClean="0">
                <a:latin typeface="Arial Narrow" panose="020B0606020202030204" pitchFamily="34" charset="0"/>
              </a:rPr>
              <a:t> </a:t>
            </a:r>
            <a:r>
              <a:rPr lang="tr-TR" sz="1600" dirty="0" err="1" smtClean="0">
                <a:latin typeface="Arial Narrow" panose="020B0606020202030204" pitchFamily="34" charset="0"/>
              </a:rPr>
              <a:t>account</a:t>
            </a:r>
            <a:r>
              <a:rPr lang="tr-TR" sz="1600" dirty="0" smtClean="0">
                <a:latin typeface="Arial Narrow" panose="020B0606020202030204" pitchFamily="34" charset="0"/>
              </a:rPr>
              <a:t> </a:t>
            </a:r>
            <a:r>
              <a:rPr lang="tr-TR" sz="1600" dirty="0" err="1" smtClean="0">
                <a:latin typeface="Arial Narrow" panose="020B0606020202030204" pitchFamily="34" charset="0"/>
              </a:rPr>
              <a:t>plus</a:t>
            </a:r>
            <a:r>
              <a:rPr lang="tr-TR" sz="1600" dirty="0" smtClean="0">
                <a:latin typeface="Arial Narrow" panose="020B0606020202030204" pitchFamily="34" charset="0"/>
              </a:rPr>
              <a:t> </a:t>
            </a:r>
            <a:r>
              <a:rPr lang="tr-TR" sz="1600" dirty="0" err="1" smtClean="0">
                <a:latin typeface="Arial Narrow" panose="020B0606020202030204" pitchFamily="34" charset="0"/>
              </a:rPr>
              <a:t>the</a:t>
            </a:r>
            <a:r>
              <a:rPr lang="tr-TR" sz="1600" dirty="0" smtClean="0">
                <a:latin typeface="Arial Narrow" panose="020B0606020202030204" pitchFamily="34" charset="0"/>
              </a:rPr>
              <a:t> </a:t>
            </a:r>
            <a:r>
              <a:rPr lang="tr-TR" sz="1600" dirty="0" err="1" smtClean="0">
                <a:latin typeface="Arial Narrow" panose="020B0606020202030204" pitchFamily="34" charset="0"/>
              </a:rPr>
              <a:t>capital</a:t>
            </a:r>
            <a:r>
              <a:rPr lang="tr-TR" sz="1600" dirty="0" smtClean="0">
                <a:latin typeface="Arial Narrow" panose="020B0606020202030204" pitchFamily="34" charset="0"/>
              </a:rPr>
              <a:t> </a:t>
            </a:r>
            <a:r>
              <a:rPr lang="tr-TR" sz="1600" dirty="0" err="1" smtClean="0">
                <a:latin typeface="Arial Narrow" panose="020B0606020202030204" pitchFamily="34" charset="0"/>
              </a:rPr>
              <a:t>account</a:t>
            </a:r>
            <a:r>
              <a:rPr lang="tr-TR" sz="1600" dirty="0" smtClean="0">
                <a:latin typeface="Arial Narrow" panose="020B0606020202030204" pitchFamily="34" charset="0"/>
              </a:rPr>
              <a:t>, </a:t>
            </a:r>
            <a:r>
              <a:rPr lang="tr-TR" sz="1600" dirty="0" err="1" smtClean="0">
                <a:latin typeface="Arial Narrow" panose="020B0606020202030204" pitchFamily="34" charset="0"/>
              </a:rPr>
              <a:t>tells</a:t>
            </a:r>
            <a:r>
              <a:rPr lang="tr-TR" sz="1600" dirty="0" smtClean="0">
                <a:latin typeface="Arial Narrow" panose="020B0606020202030204" pitchFamily="34" charset="0"/>
              </a:rPr>
              <a:t> us </a:t>
            </a:r>
            <a:r>
              <a:rPr lang="tr-TR" sz="1600" dirty="0" err="1" smtClean="0">
                <a:latin typeface="Arial Narrow" panose="020B0606020202030204" pitchFamily="34" charset="0"/>
              </a:rPr>
              <a:t>the</a:t>
            </a:r>
            <a:r>
              <a:rPr lang="tr-TR" sz="1600" dirty="0" smtClean="0">
                <a:latin typeface="Arial Narrow" panose="020B0606020202030204" pitchFamily="34" charset="0"/>
              </a:rPr>
              <a:t> net </a:t>
            </a:r>
            <a:r>
              <a:rPr lang="tr-TR" sz="1600" dirty="0" err="1" smtClean="0">
                <a:latin typeface="Arial Narrow" panose="020B0606020202030204" pitchFamily="34" charset="0"/>
              </a:rPr>
              <a:t>amount</a:t>
            </a:r>
            <a:r>
              <a:rPr lang="tr-TR" sz="1600" dirty="0" smtClean="0">
                <a:latin typeface="Arial Narrow" panose="020B0606020202030204" pitchFamily="34" charset="0"/>
              </a:rPr>
              <a:t> of </a:t>
            </a:r>
            <a:r>
              <a:rPr lang="tr-TR" sz="1600" dirty="0" err="1" smtClean="0">
                <a:latin typeface="Arial Narrow" panose="020B0606020202030204" pitchFamily="34" charset="0"/>
              </a:rPr>
              <a:t>international</a:t>
            </a:r>
            <a:r>
              <a:rPr lang="tr-TR" sz="1600" dirty="0" smtClean="0">
                <a:latin typeface="Arial Narrow" panose="020B0606020202030204" pitchFamily="34" charset="0"/>
              </a:rPr>
              <a:t> </a:t>
            </a:r>
            <a:r>
              <a:rPr lang="tr-TR" sz="1600" dirty="0" err="1" smtClean="0">
                <a:latin typeface="Arial Narrow" panose="020B0606020202030204" pitchFamily="34" charset="0"/>
              </a:rPr>
              <a:t>reserves</a:t>
            </a:r>
            <a:r>
              <a:rPr lang="tr-TR" sz="1600" dirty="0" smtClean="0">
                <a:latin typeface="Arial Narrow" panose="020B0606020202030204" pitchFamily="34" charset="0"/>
              </a:rPr>
              <a:t> </a:t>
            </a:r>
            <a:r>
              <a:rPr lang="tr-TR" sz="1600" dirty="0" err="1" smtClean="0">
                <a:latin typeface="Arial Narrow" panose="020B0606020202030204" pitchFamily="34" charset="0"/>
              </a:rPr>
              <a:t>that</a:t>
            </a:r>
            <a:r>
              <a:rPr lang="tr-TR" sz="1600" dirty="0" smtClean="0">
                <a:latin typeface="Arial Narrow" panose="020B0606020202030204" pitchFamily="34" charset="0"/>
              </a:rPr>
              <a:t> </a:t>
            </a:r>
            <a:r>
              <a:rPr lang="tr-TR" sz="1600" dirty="0" err="1" smtClean="0">
                <a:latin typeface="Arial Narrow" panose="020B0606020202030204" pitchFamily="34" charset="0"/>
              </a:rPr>
              <a:t>must</a:t>
            </a:r>
            <a:r>
              <a:rPr lang="tr-TR" sz="1600" dirty="0" smtClean="0">
                <a:latin typeface="Arial Narrow" panose="020B0606020202030204" pitchFamily="34" charset="0"/>
              </a:rPr>
              <a:t> </a:t>
            </a:r>
            <a:r>
              <a:rPr lang="tr-TR" sz="1600" dirty="0" err="1" smtClean="0">
                <a:latin typeface="Arial Narrow" panose="020B0606020202030204" pitchFamily="34" charset="0"/>
              </a:rPr>
              <a:t>move</a:t>
            </a:r>
            <a:r>
              <a:rPr lang="tr-TR" sz="1600" dirty="0" smtClean="0">
                <a:latin typeface="Arial Narrow" panose="020B0606020202030204" pitchFamily="34" charset="0"/>
              </a:rPr>
              <a:t> </a:t>
            </a:r>
            <a:r>
              <a:rPr lang="tr-TR" sz="1600" dirty="0" err="1" smtClean="0">
                <a:latin typeface="Arial Narrow" panose="020B0606020202030204" pitchFamily="34" charset="0"/>
              </a:rPr>
              <a:t>between</a:t>
            </a:r>
            <a:r>
              <a:rPr lang="tr-TR" sz="1600" dirty="0" smtClean="0">
                <a:latin typeface="Arial Narrow" panose="020B0606020202030204" pitchFamily="34" charset="0"/>
              </a:rPr>
              <a:t> </a:t>
            </a:r>
            <a:r>
              <a:rPr lang="tr-TR" sz="1600" dirty="0" err="1" smtClean="0">
                <a:latin typeface="Arial Narrow" panose="020B0606020202030204" pitchFamily="34" charset="0"/>
              </a:rPr>
              <a:t>governments</a:t>
            </a:r>
            <a:r>
              <a:rPr lang="tr-TR" sz="1600" dirty="0" smtClean="0">
                <a:latin typeface="Arial Narrow" panose="020B0606020202030204" pitchFamily="34" charset="0"/>
              </a:rPr>
              <a:t> (as </a:t>
            </a:r>
            <a:r>
              <a:rPr lang="tr-TR" sz="1600" dirty="0" err="1" smtClean="0">
                <a:latin typeface="Arial Narrow" panose="020B0606020202030204" pitchFamily="34" charset="0"/>
              </a:rPr>
              <a:t>represented</a:t>
            </a:r>
            <a:r>
              <a:rPr lang="tr-TR" sz="1600" dirty="0" smtClean="0">
                <a:latin typeface="Arial Narrow" panose="020B0606020202030204" pitchFamily="34" charset="0"/>
              </a:rPr>
              <a:t> </a:t>
            </a:r>
            <a:r>
              <a:rPr lang="tr-TR" sz="1600" dirty="0" err="1" smtClean="0">
                <a:latin typeface="Arial Narrow" panose="020B0606020202030204" pitchFamily="34" charset="0"/>
              </a:rPr>
              <a:t>by</a:t>
            </a:r>
            <a:r>
              <a:rPr lang="tr-TR" sz="1600" dirty="0" smtClean="0">
                <a:latin typeface="Arial Narrow" panose="020B0606020202030204" pitchFamily="34" charset="0"/>
              </a:rPr>
              <a:t> </a:t>
            </a:r>
            <a:r>
              <a:rPr lang="tr-TR" sz="1600" dirty="0" err="1" smtClean="0">
                <a:latin typeface="Arial Narrow" panose="020B0606020202030204" pitchFamily="34" charset="0"/>
              </a:rPr>
              <a:t>their</a:t>
            </a:r>
            <a:r>
              <a:rPr lang="tr-TR" sz="1600" dirty="0" smtClean="0">
                <a:latin typeface="Arial Narrow" panose="020B0606020202030204" pitchFamily="34" charset="0"/>
              </a:rPr>
              <a:t> </a:t>
            </a:r>
            <a:r>
              <a:rPr lang="tr-TR" sz="1600" dirty="0" err="1" smtClean="0">
                <a:latin typeface="Arial Narrow" panose="020B0606020202030204" pitchFamily="34" charset="0"/>
              </a:rPr>
              <a:t>central</a:t>
            </a:r>
            <a:r>
              <a:rPr lang="tr-TR" sz="1600" dirty="0" smtClean="0">
                <a:latin typeface="Arial Narrow" panose="020B0606020202030204" pitchFamily="34" charset="0"/>
              </a:rPr>
              <a:t> </a:t>
            </a:r>
            <a:r>
              <a:rPr lang="tr-TR" sz="1600" dirty="0" err="1" smtClean="0">
                <a:latin typeface="Arial Narrow" panose="020B0606020202030204" pitchFamily="34" charset="0"/>
              </a:rPr>
              <a:t>banks</a:t>
            </a:r>
            <a:r>
              <a:rPr lang="tr-TR" sz="1600" dirty="0" smtClean="0">
                <a:latin typeface="Arial Narrow" panose="020B0606020202030204" pitchFamily="34" charset="0"/>
              </a:rPr>
              <a:t>) </a:t>
            </a:r>
            <a:r>
              <a:rPr lang="tr-TR" sz="1600" dirty="0" err="1" smtClean="0">
                <a:latin typeface="Arial Narrow" panose="020B0606020202030204" pitchFamily="34" charset="0"/>
              </a:rPr>
              <a:t>to</a:t>
            </a:r>
            <a:r>
              <a:rPr lang="tr-TR" sz="1600" dirty="0" smtClean="0">
                <a:latin typeface="Arial Narrow" panose="020B0606020202030204" pitchFamily="34" charset="0"/>
              </a:rPr>
              <a:t> </a:t>
            </a:r>
            <a:r>
              <a:rPr lang="tr-TR" sz="1600" dirty="0" err="1" smtClean="0">
                <a:latin typeface="Arial Narrow" panose="020B0606020202030204" pitchFamily="34" charset="0"/>
              </a:rPr>
              <a:t>finance</a:t>
            </a:r>
            <a:r>
              <a:rPr lang="tr-TR" sz="1600" dirty="0" smtClean="0">
                <a:latin typeface="Arial Narrow" panose="020B0606020202030204" pitchFamily="34" charset="0"/>
              </a:rPr>
              <a:t> </a:t>
            </a:r>
            <a:r>
              <a:rPr lang="tr-TR" sz="1600" dirty="0" err="1" smtClean="0">
                <a:latin typeface="Arial Narrow" panose="020B0606020202030204" pitchFamily="34" charset="0"/>
              </a:rPr>
              <a:t>international</a:t>
            </a:r>
            <a:r>
              <a:rPr lang="tr-TR" sz="1600" dirty="0" smtClean="0">
                <a:latin typeface="Arial Narrow" panose="020B0606020202030204" pitchFamily="34" charset="0"/>
              </a:rPr>
              <a:t> </a:t>
            </a:r>
            <a:r>
              <a:rPr lang="tr-TR" sz="1600" dirty="0" err="1" smtClean="0">
                <a:latin typeface="Arial Narrow" panose="020B0606020202030204" pitchFamily="34" charset="0"/>
              </a:rPr>
              <a:t>transactions</a:t>
            </a:r>
            <a:r>
              <a:rPr lang="tr-TR" sz="1600" dirty="0" smtClean="0">
                <a:latin typeface="Arial Narrow" panose="020B0606020202030204" pitchFamily="34" charset="0"/>
              </a:rPr>
              <a:t>.</a:t>
            </a:r>
            <a:endParaRPr lang="tr-TR" sz="1600" noProof="1" smtClean="0">
              <a:latin typeface="Arial Narrow" panose="020B0606020202030204" pitchFamily="34" charset="0"/>
            </a:endParaRPr>
          </a:p>
        </p:txBody>
      </p:sp>
      <p:pic>
        <p:nvPicPr>
          <p:cNvPr id="3" name="Resim 2"/>
          <p:cNvPicPr>
            <a:picLocks noChangeAspect="1"/>
          </p:cNvPicPr>
          <p:nvPr/>
        </p:nvPicPr>
        <p:blipFill>
          <a:blip r:embed="rId3"/>
          <a:stretch>
            <a:fillRect/>
          </a:stretch>
        </p:blipFill>
        <p:spPr>
          <a:xfrm>
            <a:off x="460074" y="2492896"/>
            <a:ext cx="8293627" cy="3960440"/>
          </a:xfrm>
          <a:prstGeom prst="rect">
            <a:avLst/>
          </a:prstGeom>
        </p:spPr>
      </p:pic>
      <p:sp>
        <p:nvSpPr>
          <p:cNvPr id="2" name="Yuvarlatılmış Dikdörtgen 1"/>
          <p:cNvSpPr/>
          <p:nvPr/>
        </p:nvSpPr>
        <p:spPr>
          <a:xfrm>
            <a:off x="390299" y="3861048"/>
            <a:ext cx="3173590" cy="2592288"/>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12544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228998"/>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[13] International </a:t>
            </a:r>
            <a:r>
              <a:rPr lang="tr-TR" sz="2400" dirty="0">
                <a:solidFill>
                  <a:srgbClr val="800000"/>
                </a:solidFill>
                <a:latin typeface="Arial Narrow" pitchFamily="34" charset="0"/>
              </a:rPr>
              <a:t>Financial </a:t>
            </a:r>
            <a:r>
              <a:rPr lang="tr-TR" sz="2400" dirty="0" err="1">
                <a:solidFill>
                  <a:srgbClr val="800000"/>
                </a:solidFill>
                <a:latin typeface="Arial Narrow" pitchFamily="34" charset="0"/>
              </a:rPr>
              <a:t>System</a:t>
            </a:r>
            <a:r>
              <a:rPr lang="tr-TR" sz="2400" dirty="0">
                <a:latin typeface="Arial Narrow" pitchFamily="34" charset="0"/>
              </a:rPr>
              <a:t/>
            </a:r>
            <a:br>
              <a:rPr lang="tr-TR" sz="2400" dirty="0">
                <a:latin typeface="Arial Narrow" pitchFamily="34" charset="0"/>
              </a:rPr>
            </a:br>
            <a:r>
              <a:rPr lang="tr-TR" sz="2400" dirty="0">
                <a:latin typeface="Arial Narrow" pitchFamily="34" charset="0"/>
              </a:rPr>
              <a:t>Exchange Rate </a:t>
            </a:r>
            <a:r>
              <a:rPr lang="tr-TR" sz="2400" dirty="0" err="1">
                <a:latin typeface="Arial Narrow" pitchFamily="34" charset="0"/>
              </a:rPr>
              <a:t>Regimes</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0" indent="0" algn="ctr">
              <a:spcBef>
                <a:spcPts val="0"/>
              </a:spcBef>
              <a:buNone/>
            </a:pPr>
            <a:endParaRPr lang="tr-TR" sz="900" dirty="0">
              <a:latin typeface="Arial Narrow" panose="020B0606020202030204" pitchFamily="34" charset="0"/>
            </a:endParaRPr>
          </a:p>
          <a:p>
            <a:pPr marL="0" lvl="0" indent="0" algn="ctr">
              <a:spcBef>
                <a:spcPts val="0"/>
              </a:spcBef>
              <a:buNone/>
            </a:pPr>
            <a:r>
              <a:rPr lang="tr-TR" sz="1800" dirty="0" err="1">
                <a:latin typeface="Arial Narrow" panose="020B0606020202030204" pitchFamily="34" charset="0"/>
              </a:rPr>
              <a:t>Classified</a:t>
            </a:r>
            <a:r>
              <a:rPr lang="tr-TR" sz="1800" dirty="0">
                <a:latin typeface="Arial Narrow" panose="020B0606020202030204" pitchFamily="34" charset="0"/>
              </a:rPr>
              <a:t> </a:t>
            </a:r>
            <a:r>
              <a:rPr lang="tr-TR" sz="1800" dirty="0" err="1">
                <a:latin typeface="Arial Narrow" panose="020B0606020202030204" pitchFamily="34" charset="0"/>
              </a:rPr>
              <a:t>into</a:t>
            </a:r>
            <a:r>
              <a:rPr lang="tr-TR" sz="1800" dirty="0">
                <a:latin typeface="Arial Narrow" panose="020B0606020202030204" pitchFamily="34" charset="0"/>
              </a:rPr>
              <a:t> </a:t>
            </a:r>
            <a:r>
              <a:rPr lang="tr-TR" sz="1800" dirty="0" err="1">
                <a:latin typeface="Arial Narrow" panose="020B0606020202030204" pitchFamily="34" charset="0"/>
              </a:rPr>
              <a:t>two</a:t>
            </a:r>
            <a:r>
              <a:rPr lang="tr-TR" sz="1800" dirty="0">
                <a:latin typeface="Arial Narrow" panose="020B0606020202030204" pitchFamily="34" charset="0"/>
              </a:rPr>
              <a:t> </a:t>
            </a:r>
            <a:r>
              <a:rPr lang="tr-TR" sz="1800" dirty="0" err="1">
                <a:latin typeface="Arial Narrow" panose="020B0606020202030204" pitchFamily="34" charset="0"/>
              </a:rPr>
              <a:t>basic</a:t>
            </a:r>
            <a:r>
              <a:rPr lang="tr-TR" sz="1800" dirty="0">
                <a:latin typeface="Arial Narrow" panose="020B0606020202030204" pitchFamily="34" charset="0"/>
              </a:rPr>
              <a:t> </a:t>
            </a:r>
            <a:r>
              <a:rPr lang="tr-TR" sz="1800" dirty="0" err="1" smtClean="0">
                <a:latin typeface="Arial Narrow" panose="020B0606020202030204" pitchFamily="34" charset="0"/>
              </a:rPr>
              <a:t>types</a:t>
            </a:r>
            <a:r>
              <a:rPr lang="tr-TR" sz="1800" dirty="0">
                <a:latin typeface="Arial Narrow" panose="020B0606020202030204" pitchFamily="34" charset="0"/>
              </a:rPr>
              <a:t>;</a:t>
            </a:r>
            <a:r>
              <a:rPr lang="tr-TR" sz="1800" dirty="0" smtClean="0">
                <a:latin typeface="Arial Narrow" panose="020B0606020202030204" pitchFamily="34" charset="0"/>
              </a:rPr>
              <a:t> «</a:t>
            </a:r>
            <a:r>
              <a:rPr lang="tr-TR" sz="1800" dirty="0" err="1" smtClean="0">
                <a:latin typeface="Arial Narrow" panose="020B0606020202030204" pitchFamily="34" charset="0"/>
              </a:rPr>
              <a:t>Fixed</a:t>
            </a:r>
            <a:r>
              <a:rPr lang="tr-TR" sz="1800" dirty="0" smtClean="0">
                <a:latin typeface="Arial Narrow" panose="020B0606020202030204" pitchFamily="34" charset="0"/>
              </a:rPr>
              <a:t>» </a:t>
            </a:r>
            <a:r>
              <a:rPr lang="tr-TR" sz="1800" dirty="0" err="1" smtClean="0">
                <a:latin typeface="Arial Narrow" panose="020B0606020202030204" pitchFamily="34" charset="0"/>
              </a:rPr>
              <a:t>and</a:t>
            </a:r>
            <a:r>
              <a:rPr lang="tr-TR" sz="1800" dirty="0" smtClean="0">
                <a:latin typeface="Arial Narrow" panose="020B0606020202030204" pitchFamily="34" charset="0"/>
              </a:rPr>
              <a:t> «</a:t>
            </a:r>
            <a:r>
              <a:rPr lang="tr-TR" sz="1800" dirty="0" err="1" smtClean="0">
                <a:latin typeface="Arial Narrow" panose="020B0606020202030204" pitchFamily="34" charset="0"/>
              </a:rPr>
              <a:t>Floating</a:t>
            </a:r>
            <a:r>
              <a:rPr lang="tr-TR" sz="1800" dirty="0" smtClean="0">
                <a:latin typeface="Arial Narrow" panose="020B0606020202030204" pitchFamily="34" charset="0"/>
              </a:rPr>
              <a:t>»,</a:t>
            </a:r>
          </a:p>
          <a:p>
            <a:pPr marL="0" lvl="0" indent="0" algn="ctr">
              <a:spcBef>
                <a:spcPts val="0"/>
              </a:spcBef>
              <a:buNone/>
            </a:pPr>
            <a:r>
              <a:rPr lang="tr-TR" sz="1800" dirty="0" err="1" smtClean="0">
                <a:latin typeface="Arial Narrow" panose="020B0606020202030204" pitchFamily="34" charset="0"/>
              </a:rPr>
              <a:t>and</a:t>
            </a:r>
            <a:r>
              <a:rPr lang="tr-TR" sz="1800" dirty="0" smtClean="0">
                <a:latin typeface="Arial Narrow" panose="020B0606020202030204" pitchFamily="34" charset="0"/>
              </a:rPr>
              <a:t> a </a:t>
            </a:r>
            <a:r>
              <a:rPr lang="tr-TR" sz="1800" dirty="0" err="1" smtClean="0">
                <a:latin typeface="Arial Narrow" panose="020B0606020202030204" pitchFamily="34" charset="0"/>
              </a:rPr>
              <a:t>third</a:t>
            </a:r>
            <a:r>
              <a:rPr lang="tr-TR" sz="1800" dirty="0" smtClean="0">
                <a:latin typeface="Arial Narrow" panose="020B0606020202030204" pitchFamily="34" charset="0"/>
              </a:rPr>
              <a:t> </a:t>
            </a:r>
            <a:r>
              <a:rPr lang="tr-TR" sz="1800" dirty="0" err="1" smtClean="0">
                <a:latin typeface="Arial Narrow" panose="020B0606020202030204" pitchFamily="34" charset="0"/>
              </a:rPr>
              <a:t>one</a:t>
            </a:r>
            <a:r>
              <a:rPr lang="tr-TR" sz="1800" dirty="0" smtClean="0">
                <a:latin typeface="Arial Narrow" panose="020B0606020202030204" pitchFamily="34" charset="0"/>
              </a:rPr>
              <a:t> </a:t>
            </a:r>
            <a:r>
              <a:rPr lang="tr-TR" sz="1800" dirty="0" err="1" smtClean="0">
                <a:latin typeface="Arial Narrow" panose="020B0606020202030204" pitchFamily="34" charset="0"/>
              </a:rPr>
              <a:t>which</a:t>
            </a:r>
            <a:r>
              <a:rPr lang="tr-TR" sz="1800" dirty="0" smtClean="0">
                <a:latin typeface="Arial Narrow" panose="020B0606020202030204" pitchFamily="34" charset="0"/>
              </a:rPr>
              <a:t> is </a:t>
            </a:r>
            <a:r>
              <a:rPr lang="tr-TR" sz="1800" dirty="0" err="1" smtClean="0">
                <a:latin typeface="Arial Narrow" panose="020B0606020202030204" pitchFamily="34" charset="0"/>
              </a:rPr>
              <a:t>more</a:t>
            </a:r>
            <a:r>
              <a:rPr lang="tr-TR" sz="1800" dirty="0" smtClean="0">
                <a:latin typeface="Arial Narrow" panose="020B0606020202030204" pitchFamily="34" charset="0"/>
              </a:rPr>
              <a:t> </a:t>
            </a:r>
            <a:r>
              <a:rPr lang="tr-TR" sz="1800" dirty="0" err="1" smtClean="0">
                <a:latin typeface="Arial Narrow" panose="020B0606020202030204" pitchFamily="34" charset="0"/>
              </a:rPr>
              <a:t>or</a:t>
            </a:r>
            <a:r>
              <a:rPr lang="tr-TR" sz="1800" dirty="0" smtClean="0">
                <a:latin typeface="Arial Narrow" panose="020B0606020202030204" pitchFamily="34" charset="0"/>
              </a:rPr>
              <a:t> </a:t>
            </a:r>
            <a:r>
              <a:rPr lang="tr-TR" sz="1800" dirty="0" err="1" smtClean="0">
                <a:latin typeface="Arial Narrow" panose="020B0606020202030204" pitchFamily="34" charset="0"/>
              </a:rPr>
              <a:t>less</a:t>
            </a:r>
            <a:r>
              <a:rPr lang="tr-TR" sz="1800" dirty="0" smtClean="0">
                <a:latin typeface="Arial Narrow" panose="020B0606020202030204" pitchFamily="34" charset="0"/>
              </a:rPr>
              <a:t> in </a:t>
            </a:r>
            <a:r>
              <a:rPr lang="tr-TR" sz="1800" dirty="0" err="1" smtClean="0">
                <a:latin typeface="Arial Narrow" panose="020B0606020202030204" pitchFamily="34" charset="0"/>
              </a:rPr>
              <a:t>between</a:t>
            </a:r>
            <a:r>
              <a:rPr lang="tr-TR" sz="1800" dirty="0" smtClean="0">
                <a:latin typeface="Arial Narrow" panose="020B0606020202030204" pitchFamily="34" charset="0"/>
              </a:rPr>
              <a:t>, </a:t>
            </a:r>
            <a:r>
              <a:rPr lang="tr-TR" sz="1800" dirty="0" err="1" smtClean="0">
                <a:latin typeface="Arial Narrow" panose="020B0606020202030204" pitchFamily="34" charset="0"/>
              </a:rPr>
              <a:t>namely</a:t>
            </a:r>
            <a:r>
              <a:rPr lang="tr-TR" sz="1800" dirty="0" smtClean="0">
                <a:latin typeface="Arial Narrow" panose="020B0606020202030204" pitchFamily="34" charset="0"/>
              </a:rPr>
              <a:t>, «</a:t>
            </a:r>
            <a:r>
              <a:rPr lang="tr-TR" sz="1800" dirty="0" err="1" smtClean="0">
                <a:latin typeface="Arial Narrow" panose="020B0606020202030204" pitchFamily="34" charset="0"/>
              </a:rPr>
              <a:t>Managed</a:t>
            </a:r>
            <a:r>
              <a:rPr lang="tr-TR" sz="1800" dirty="0" smtClean="0">
                <a:latin typeface="Arial Narrow" panose="020B0606020202030204" pitchFamily="34" charset="0"/>
              </a:rPr>
              <a:t> </a:t>
            </a:r>
            <a:r>
              <a:rPr lang="tr-TR" sz="1800" dirty="0" err="1" smtClean="0">
                <a:latin typeface="Arial Narrow" panose="020B0606020202030204" pitchFamily="34" charset="0"/>
              </a:rPr>
              <a:t>Float</a:t>
            </a:r>
            <a:r>
              <a:rPr lang="tr-TR" sz="1800" dirty="0" smtClean="0">
                <a:latin typeface="Arial Narrow" panose="020B0606020202030204" pitchFamily="34" charset="0"/>
              </a:rPr>
              <a:t>».</a:t>
            </a:r>
            <a:endParaRPr lang="tr-TR" sz="1800" dirty="0">
              <a:latin typeface="Arial Narrow" panose="020B0606020202030204" pitchFamily="34" charset="0"/>
            </a:endParaRP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In a fixed exchange rate regime,</a:t>
            </a:r>
          </a:p>
          <a:p>
            <a:pPr marL="0" lvl="0" indent="0" algn="ctr">
              <a:spcBef>
                <a:spcPts val="0"/>
              </a:spcBef>
              <a:buNone/>
            </a:pPr>
            <a:r>
              <a:rPr lang="tr-TR" sz="1800" noProof="1">
                <a:latin typeface="Arial Narrow" panose="020B0606020202030204" pitchFamily="34" charset="0"/>
              </a:rPr>
              <a:t>the value of a currency is pegged relative to</a:t>
            </a:r>
          </a:p>
          <a:p>
            <a:pPr marL="0" lvl="0" indent="0" algn="ctr">
              <a:spcBef>
                <a:spcPts val="0"/>
              </a:spcBef>
              <a:buNone/>
            </a:pPr>
            <a:r>
              <a:rPr lang="tr-TR" sz="1800" noProof="1">
                <a:latin typeface="Arial Narrow" panose="020B0606020202030204" pitchFamily="34" charset="0"/>
              </a:rPr>
              <a:t>the value of another currency (called the anchor currency)</a:t>
            </a:r>
          </a:p>
          <a:p>
            <a:pPr marL="0" lvl="0" indent="0" algn="ctr">
              <a:spcBef>
                <a:spcPts val="0"/>
              </a:spcBef>
              <a:buNone/>
            </a:pPr>
            <a:r>
              <a:rPr lang="tr-TR" sz="1800" noProof="1">
                <a:latin typeface="Arial Narrow" panose="020B0606020202030204" pitchFamily="34" charset="0"/>
              </a:rPr>
              <a:t>so that the exchange rate is fixed in terms of the anchor currency.</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In a floating exchange rate regime,</a:t>
            </a:r>
          </a:p>
          <a:p>
            <a:pPr marL="0" lvl="0" indent="0" algn="ctr">
              <a:spcBef>
                <a:spcPts val="0"/>
              </a:spcBef>
              <a:buNone/>
            </a:pPr>
            <a:r>
              <a:rPr lang="tr-TR" sz="1800" noProof="1">
                <a:latin typeface="Arial Narrow" panose="020B0606020202030204" pitchFamily="34" charset="0"/>
              </a:rPr>
              <a:t>the value of a currency is allowed to fluctuate against all other currencies.</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r>
              <a:rPr lang="tr-TR" sz="1800" noProof="1">
                <a:latin typeface="Arial Narrow" panose="020B0606020202030204" pitchFamily="34" charset="0"/>
              </a:rPr>
              <a:t>When countries intervene in foreign exchange markets</a:t>
            </a:r>
          </a:p>
          <a:p>
            <a:pPr marL="0" lvl="0" indent="0" algn="ctr">
              <a:spcBef>
                <a:spcPts val="0"/>
              </a:spcBef>
              <a:buNone/>
            </a:pPr>
            <a:r>
              <a:rPr lang="tr-TR" sz="1800" noProof="1">
                <a:latin typeface="Arial Narrow" panose="020B0606020202030204" pitchFamily="34" charset="0"/>
              </a:rPr>
              <a:t>in an attempt to influence their exchange rates</a:t>
            </a:r>
          </a:p>
          <a:p>
            <a:pPr marL="0" lvl="0" indent="0" algn="ctr">
              <a:spcBef>
                <a:spcPts val="0"/>
              </a:spcBef>
              <a:buNone/>
            </a:pPr>
            <a:r>
              <a:rPr lang="tr-TR" sz="1800" noProof="1">
                <a:latin typeface="Arial Narrow" panose="020B0606020202030204" pitchFamily="34" charset="0"/>
              </a:rPr>
              <a:t>by buying and selling foreign assets,</a:t>
            </a:r>
          </a:p>
          <a:p>
            <a:pPr marL="0" lvl="0" indent="0" algn="ctr">
              <a:spcBef>
                <a:spcPts val="0"/>
              </a:spcBef>
              <a:buNone/>
            </a:pPr>
            <a:r>
              <a:rPr lang="tr-TR" sz="1800" noProof="1">
                <a:latin typeface="Arial Narrow" panose="020B0606020202030204" pitchFamily="34" charset="0"/>
              </a:rPr>
              <a:t>the regime is referred to as a managed float regime (or a dirty float).</a:t>
            </a:r>
          </a:p>
          <a:p>
            <a:pPr marL="0" lvl="0" indent="0" algn="ctr">
              <a:spcBef>
                <a:spcPts val="0"/>
              </a:spcBef>
              <a:buNone/>
            </a:pPr>
            <a:endParaRPr lang="tr-TR" sz="1800" noProof="1">
              <a:latin typeface="Arial Narrow" panose="020B0606020202030204" pitchFamily="34" charset="0"/>
            </a:endParaRPr>
          </a:p>
          <a:p>
            <a:pPr marL="0" lvl="0" indent="0" algn="ctr">
              <a:spcBef>
                <a:spcPts val="0"/>
              </a:spcBef>
              <a:buNone/>
            </a:pPr>
            <a:endParaRPr lang="tr-TR" sz="1600" noProof="1">
              <a:latin typeface="Arial Narrow" panose="020B0606020202030204" pitchFamily="34" charset="0"/>
            </a:endParaRPr>
          </a:p>
        </p:txBody>
      </p:sp>
    </p:spTree>
    <p:extLst>
      <p:ext uri="{BB962C8B-B14F-4D97-AF65-F5344CB8AC3E}">
        <p14:creationId xmlns:p14="http://schemas.microsoft.com/office/powerpoint/2010/main" val="3831959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6632"/>
            <a:ext cx="8291264" cy="1944216"/>
          </a:xfrm>
          <a:ln w="25400">
            <a:noFill/>
          </a:ln>
        </p:spPr>
        <p:txBody>
          <a:bodyPr>
            <a:noAutofit/>
          </a:bodyPr>
          <a:lstStyle/>
          <a:p>
            <a:r>
              <a:rPr lang="tr-TR" sz="1400" dirty="0">
                <a:latin typeface="Arial Narrow" pitchFamily="34" charset="0"/>
              </a:rPr>
              <a:t>NTE 1010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err="1">
                <a:latin typeface="Arial Narrow" pitchFamily="34" charset="0"/>
              </a:rPr>
              <a:t>for</a:t>
            </a:r>
            <a:r>
              <a:rPr lang="tr-TR" sz="1400">
                <a:latin typeface="Arial Narrow" pitchFamily="34" charset="0"/>
              </a:rPr>
              <a:t> </a:t>
            </a:r>
            <a:r>
              <a:rPr lang="tr-TR" sz="1400" smtClean="0">
                <a:latin typeface="Arial Narrow" pitchFamily="34" charset="0"/>
              </a:rPr>
              <a:t>Engineers</a:t>
            </a:r>
            <a:br>
              <a:rPr lang="tr-TR" sz="1400" smtClean="0">
                <a:latin typeface="Arial Narrow" pitchFamily="34" charset="0"/>
              </a:rPr>
            </a:br>
            <a:r>
              <a:rPr lang="tr-TR" sz="2400">
                <a:solidFill>
                  <a:srgbClr val="800000"/>
                </a:solidFill>
                <a:latin typeface="Arial Narrow" pitchFamily="34" charset="0"/>
              </a:rPr>
              <a:t>[14] Managing Working Capital</a:t>
            </a:r>
            <a:r>
              <a:rPr lang="tr-TR" sz="1400" dirty="0">
                <a:latin typeface="Arial Narrow" pitchFamily="34" charset="0"/>
              </a:rPr>
              <a:t/>
            </a:r>
            <a:br>
              <a:rPr lang="tr-TR" sz="1400" dirty="0">
                <a:latin typeface="Arial Narrow" pitchFamily="34" charset="0"/>
              </a:rPr>
            </a:br>
            <a:r>
              <a:rPr lang="tr-TR" sz="2400" noProof="1">
                <a:solidFill>
                  <a:srgbClr val="0000FF"/>
                </a:solidFill>
                <a:latin typeface="Arial Narrow" panose="020B0606020202030204" pitchFamily="34" charset="0"/>
              </a:rPr>
              <a:t>Working Capital = Current Assets – Current </a:t>
            </a:r>
            <a:r>
              <a:rPr lang="tr-TR" sz="2400" noProof="1" smtClean="0">
                <a:solidFill>
                  <a:srgbClr val="0000FF"/>
                </a:solidFill>
                <a:latin typeface="Arial Narrow" panose="020B0606020202030204" pitchFamily="34" charset="0"/>
              </a:rPr>
              <a:t>Liabilities</a:t>
            </a:r>
            <a:r>
              <a:rPr lang="tr-TR" sz="2800" noProof="1" smtClean="0">
                <a:solidFill>
                  <a:srgbClr val="C00000"/>
                </a:solidFill>
                <a:latin typeface="Arial Narrow" panose="020B0606020202030204" pitchFamily="34" charset="0"/>
              </a:rPr>
              <a:t/>
            </a:r>
            <a:br>
              <a:rPr lang="tr-TR" sz="2800" noProof="1" smtClean="0">
                <a:solidFill>
                  <a:srgbClr val="C00000"/>
                </a:solidFill>
                <a:latin typeface="Arial Narrow" panose="020B0606020202030204" pitchFamily="34" charset="0"/>
              </a:rPr>
            </a:br>
            <a:r>
              <a:rPr lang="tr-TR" sz="1800" noProof="1" smtClean="0">
                <a:solidFill>
                  <a:srgbClr val="000066"/>
                </a:solidFill>
                <a:latin typeface="Arial Narrow" panose="020B0606020202030204" pitchFamily="34" charset="0"/>
              </a:rPr>
              <a:t>Working </a:t>
            </a:r>
            <a:r>
              <a:rPr lang="tr-TR" sz="1800" noProof="1">
                <a:solidFill>
                  <a:srgbClr val="000066"/>
                </a:solidFill>
                <a:latin typeface="Arial Narrow" panose="020B0606020202030204" pitchFamily="34" charset="0"/>
              </a:rPr>
              <a:t>Capital = +Cash and Equivalents +Trade Receivables +Inventories</a:t>
            </a:r>
            <a:br>
              <a:rPr lang="tr-TR" sz="1800" noProof="1">
                <a:solidFill>
                  <a:srgbClr val="000066"/>
                </a:solidFill>
                <a:latin typeface="Arial Narrow" panose="020B0606020202030204" pitchFamily="34" charset="0"/>
              </a:rPr>
            </a:br>
            <a:r>
              <a:rPr lang="tr-TR" sz="1800" noProof="1">
                <a:solidFill>
                  <a:srgbClr val="000066"/>
                </a:solidFill>
                <a:latin typeface="Arial Narrow" panose="020B0606020202030204" pitchFamily="34" charset="0"/>
              </a:rPr>
              <a:t>		</a:t>
            </a:r>
            <a:r>
              <a:rPr lang="tr-TR" sz="1800" noProof="1" smtClean="0">
                <a:solidFill>
                  <a:srgbClr val="000066"/>
                </a:solidFill>
                <a:latin typeface="Arial Narrow" panose="020B0606020202030204" pitchFamily="34" charset="0"/>
              </a:rPr>
              <a:t>-</a:t>
            </a:r>
            <a:r>
              <a:rPr lang="tr-TR" sz="1800" noProof="1">
                <a:solidFill>
                  <a:srgbClr val="000066"/>
                </a:solidFill>
                <a:latin typeface="Arial Narrow" panose="020B0606020202030204" pitchFamily="34" charset="0"/>
              </a:rPr>
              <a:t>Bank Loans -Trade Payables</a:t>
            </a:r>
            <a:endParaRPr lang="tr-TR" sz="1800" dirty="0">
              <a:solidFill>
                <a:srgbClr val="000066"/>
              </a:solidFill>
              <a:latin typeface="Arial Narrow" pitchFamily="34" charset="0"/>
            </a:endParaRPr>
          </a:p>
        </p:txBody>
      </p:sp>
      <p:sp>
        <p:nvSpPr>
          <p:cNvPr id="5" name="Content Placeholder 4"/>
          <p:cNvSpPr>
            <a:spLocks noGrp="1"/>
          </p:cNvSpPr>
          <p:nvPr>
            <p:ph idx="1"/>
          </p:nvPr>
        </p:nvSpPr>
        <p:spPr>
          <a:xfrm>
            <a:off x="457200" y="1600200"/>
            <a:ext cx="8291264" cy="5069160"/>
          </a:xfrm>
          <a:ln w="25400">
            <a:noFill/>
          </a:ln>
        </p:spPr>
        <p:txBody>
          <a:bodyPr>
            <a:noAutofit/>
          </a:bodyPr>
          <a:lstStyle/>
          <a:p>
            <a:pPr marL="0" lvl="1" indent="0" algn="ctr">
              <a:spcBef>
                <a:spcPts val="0"/>
              </a:spcBef>
              <a:buNone/>
            </a:pPr>
            <a:r>
              <a:rPr lang="tr-TR" sz="1800" noProof="1">
                <a:latin typeface="Arial Narrow" panose="020B0606020202030204" pitchFamily="34" charset="0"/>
              </a:rPr>
              <a:t> </a:t>
            </a:r>
            <a:endParaRPr lang="tr-TR" sz="1600" noProof="1">
              <a:latin typeface="Arial Narrow" panose="020B0606020202030204" pitchFamily="34" charset="0"/>
            </a:endParaRPr>
          </a:p>
        </p:txBody>
      </p:sp>
      <p:pic>
        <p:nvPicPr>
          <p:cNvPr id="7" name="Resim 6">
            <a:extLst>
              <a:ext uri="{FF2B5EF4-FFF2-40B4-BE49-F238E27FC236}">
                <a16:creationId xmlns:a16="http://schemas.microsoft.com/office/drawing/2014/main" id="{EAE7DB11-3380-4416-A2DB-6422E0D70ADC}"/>
              </a:ext>
            </a:extLst>
          </p:cNvPr>
          <p:cNvPicPr>
            <a:picLocks noChangeAspect="1"/>
          </p:cNvPicPr>
          <p:nvPr/>
        </p:nvPicPr>
        <p:blipFill>
          <a:blip r:embed="rId3"/>
          <a:stretch>
            <a:fillRect/>
          </a:stretch>
        </p:blipFill>
        <p:spPr>
          <a:xfrm>
            <a:off x="683568" y="2060848"/>
            <a:ext cx="7848873" cy="3244613"/>
          </a:xfrm>
          <a:prstGeom prst="rect">
            <a:avLst/>
          </a:prstGeom>
        </p:spPr>
      </p:pic>
    </p:spTree>
    <p:extLst>
      <p:ext uri="{BB962C8B-B14F-4D97-AF65-F5344CB8AC3E}">
        <p14:creationId xmlns:p14="http://schemas.microsoft.com/office/powerpoint/2010/main" val="2486308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67544" y="274638"/>
            <a:ext cx="8136904" cy="1143000"/>
          </a:xfrm>
          <a:ln w="25400">
            <a:noFill/>
          </a:ln>
        </p:spPr>
        <p:txBody>
          <a:bodyPr>
            <a:noAutofit/>
          </a:bodyPr>
          <a:lstStyle/>
          <a:p>
            <a:r>
              <a:rPr lang="tr-TR" sz="1600" dirty="0" err="1">
                <a:latin typeface="Arial Narrow" pitchFamily="34" charset="0"/>
              </a:rPr>
              <a:t>NTE</a:t>
            </a:r>
            <a:r>
              <a:rPr lang="tr-TR" sz="1600" dirty="0">
                <a:latin typeface="Arial Narrow" pitchFamily="34" charset="0"/>
              </a:rPr>
              <a:t> 1010 – </a:t>
            </a:r>
            <a:r>
              <a:rPr lang="tr-TR" sz="1600" dirty="0" err="1">
                <a:latin typeface="Arial Narrow" pitchFamily="34" charset="0"/>
              </a:rPr>
              <a:t>Introduction</a:t>
            </a:r>
            <a:r>
              <a:rPr lang="tr-TR" sz="1600" dirty="0">
                <a:latin typeface="Arial Narrow" pitchFamily="34" charset="0"/>
              </a:rPr>
              <a:t> </a:t>
            </a:r>
            <a:r>
              <a:rPr lang="tr-TR" sz="1600" dirty="0" err="1">
                <a:latin typeface="Arial Narrow" pitchFamily="34" charset="0"/>
              </a:rPr>
              <a:t>to</a:t>
            </a:r>
            <a:r>
              <a:rPr lang="tr-TR" sz="1600" dirty="0">
                <a:latin typeface="Arial Narrow" pitchFamily="34" charset="0"/>
              </a:rPr>
              <a:t> Finance </a:t>
            </a:r>
            <a:r>
              <a:rPr lang="tr-TR" sz="1600" dirty="0" err="1">
                <a:latin typeface="Arial Narrow" pitchFamily="34" charset="0"/>
              </a:rPr>
              <a:t>for</a:t>
            </a:r>
            <a:r>
              <a:rPr lang="tr-TR" sz="1600" dirty="0">
                <a:latin typeface="Arial Narrow" pitchFamily="34" charset="0"/>
              </a:rPr>
              <a:t> </a:t>
            </a:r>
            <a:r>
              <a:rPr lang="tr-TR" sz="1600" dirty="0" err="1">
                <a:latin typeface="Arial Narrow" pitchFamily="34" charset="0"/>
              </a:rPr>
              <a:t>Engineers</a:t>
            </a:r>
            <a:r>
              <a:rPr lang="tr-TR" sz="1400">
                <a:latin typeface="Arial Narrow" pitchFamily="34" charset="0"/>
              </a:rPr>
              <a:t/>
            </a:r>
            <a:br>
              <a:rPr lang="tr-TR" sz="1400">
                <a:latin typeface="Arial Narrow" pitchFamily="34" charset="0"/>
              </a:rPr>
            </a:br>
            <a:r>
              <a:rPr lang="tr-TR" sz="2400" smtClean="0">
                <a:solidFill>
                  <a:srgbClr val="800000"/>
                </a:solidFill>
                <a:latin typeface="Arial Narrow" pitchFamily="34" charset="0"/>
              </a:rPr>
              <a:t>[14] Managing </a:t>
            </a:r>
            <a:r>
              <a:rPr lang="tr-TR" sz="2400" err="1">
                <a:solidFill>
                  <a:srgbClr val="800000"/>
                </a:solidFill>
                <a:latin typeface="Arial Narrow" pitchFamily="34" charset="0"/>
              </a:rPr>
              <a:t>Working</a:t>
            </a:r>
            <a:r>
              <a:rPr lang="tr-TR" sz="2400">
                <a:solidFill>
                  <a:srgbClr val="800000"/>
                </a:solidFill>
                <a:latin typeface="Arial Narrow" pitchFamily="34" charset="0"/>
              </a:rPr>
              <a:t> </a:t>
            </a:r>
            <a:r>
              <a:rPr lang="tr-TR" sz="2400" smtClean="0">
                <a:solidFill>
                  <a:srgbClr val="800000"/>
                </a:solidFill>
                <a:latin typeface="Arial Narrow" pitchFamily="34" charset="0"/>
              </a:rPr>
              <a:t>Capital</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000" smtClean="0">
                <a:latin typeface="Arial Narrow" pitchFamily="34" charset="0"/>
              </a:rPr>
              <a:t>Measuring </a:t>
            </a:r>
            <a:r>
              <a:rPr lang="tr-TR" sz="2000" dirty="0">
                <a:latin typeface="Arial Narrow" pitchFamily="34" charset="0"/>
              </a:rPr>
              <a:t>Operating Cash </a:t>
            </a:r>
            <a:r>
              <a:rPr lang="tr-TR" sz="2000" dirty="0" err="1">
                <a:latin typeface="Arial Narrow" pitchFamily="34" charset="0"/>
              </a:rPr>
              <a:t>Cycle</a:t>
            </a:r>
            <a:endParaRPr lang="tr-TR" sz="2000" dirty="0">
              <a:latin typeface="Arial Narrow" pitchFamily="34" charset="0"/>
            </a:endParaRPr>
          </a:p>
        </p:txBody>
      </p:sp>
      <p:sp>
        <p:nvSpPr>
          <p:cNvPr id="5" name="Content Placeholder 4"/>
          <p:cNvSpPr>
            <a:spLocks noGrp="1"/>
          </p:cNvSpPr>
          <p:nvPr>
            <p:ph idx="1"/>
          </p:nvPr>
        </p:nvSpPr>
        <p:spPr>
          <a:xfrm>
            <a:off x="179512" y="1600200"/>
            <a:ext cx="8784976" cy="4525963"/>
          </a:xfrm>
          <a:ln w="25400">
            <a:noFill/>
          </a:ln>
        </p:spPr>
        <p:txBody>
          <a:bodyPr>
            <a:noAutofit/>
          </a:bodyPr>
          <a:lstStyle/>
          <a:p>
            <a:pPr marL="0" lvl="1" indent="0" algn="ctr">
              <a:spcBef>
                <a:spcPts val="0"/>
              </a:spcBef>
              <a:buNone/>
            </a:pPr>
            <a:endParaRPr lang="tr-TR" sz="900" noProof="1">
              <a:solidFill>
                <a:srgbClr val="C00000"/>
              </a:solidFill>
              <a:latin typeface="Arial Narrow" panose="020B0606020202030204" pitchFamily="34" charset="0"/>
            </a:endParaRPr>
          </a:p>
          <a:p>
            <a:pPr marL="0" lvl="1" indent="0" algn="ctr">
              <a:spcBef>
                <a:spcPts val="0"/>
              </a:spcBef>
              <a:buNone/>
            </a:pPr>
            <a:r>
              <a:rPr lang="tr-TR" sz="1800" noProof="1">
                <a:solidFill>
                  <a:srgbClr val="C00000"/>
                </a:solidFill>
                <a:latin typeface="Arial Narrow" panose="020B0606020202030204" pitchFamily="34" charset="0"/>
              </a:rPr>
              <a:t> </a:t>
            </a:r>
            <a:endParaRPr lang="tr-TR" sz="1800" noProof="1">
              <a:latin typeface="Arial Narrow" panose="020B0606020202030204" pitchFamily="34" charset="0"/>
            </a:endParaRPr>
          </a:p>
        </p:txBody>
      </p:sp>
      <p:pic>
        <p:nvPicPr>
          <p:cNvPr id="2" name="Resim 1"/>
          <p:cNvPicPr>
            <a:picLocks noChangeAspect="1"/>
          </p:cNvPicPr>
          <p:nvPr/>
        </p:nvPicPr>
        <p:blipFill>
          <a:blip r:embed="rId3"/>
          <a:stretch>
            <a:fillRect/>
          </a:stretch>
        </p:blipFill>
        <p:spPr>
          <a:xfrm>
            <a:off x="755576" y="1844824"/>
            <a:ext cx="7560840" cy="2601206"/>
          </a:xfrm>
          <a:prstGeom prst="rect">
            <a:avLst/>
          </a:prstGeom>
        </p:spPr>
      </p:pic>
    </p:spTree>
    <p:extLst>
      <p:ext uri="{BB962C8B-B14F-4D97-AF65-F5344CB8AC3E}">
        <p14:creationId xmlns:p14="http://schemas.microsoft.com/office/powerpoint/2010/main" val="1848864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0584"/>
            <a:ext cx="8291264" cy="952152"/>
          </a:xfrm>
          <a:ln w="25400">
            <a:noFill/>
          </a:ln>
        </p:spPr>
        <p:txBody>
          <a:bodyPr>
            <a:noAutofit/>
          </a:bodyPr>
          <a:lstStyle/>
          <a:p>
            <a:r>
              <a:rPr lang="tr-TR" sz="1600" dirty="0" err="1">
                <a:latin typeface="Arial Narrow" pitchFamily="34" charset="0"/>
              </a:rPr>
              <a:t>NTE</a:t>
            </a:r>
            <a:r>
              <a:rPr lang="tr-TR" sz="1600" dirty="0">
                <a:latin typeface="Arial Narrow" pitchFamily="34" charset="0"/>
              </a:rPr>
              <a:t> 1010 – </a:t>
            </a:r>
            <a:r>
              <a:rPr lang="tr-TR" sz="1600" dirty="0" err="1">
                <a:latin typeface="Arial Narrow" pitchFamily="34" charset="0"/>
              </a:rPr>
              <a:t>Introduction</a:t>
            </a:r>
            <a:r>
              <a:rPr lang="tr-TR" sz="1600" dirty="0">
                <a:latin typeface="Arial Narrow" pitchFamily="34" charset="0"/>
              </a:rPr>
              <a:t> </a:t>
            </a:r>
            <a:r>
              <a:rPr lang="tr-TR" sz="1600" dirty="0" err="1">
                <a:latin typeface="Arial Narrow" pitchFamily="34" charset="0"/>
              </a:rPr>
              <a:t>to</a:t>
            </a:r>
            <a:r>
              <a:rPr lang="tr-TR" sz="1600" dirty="0">
                <a:latin typeface="Arial Narrow" pitchFamily="34" charset="0"/>
              </a:rPr>
              <a:t> Finance </a:t>
            </a:r>
            <a:r>
              <a:rPr lang="tr-TR" sz="1600" err="1">
                <a:latin typeface="Arial Narrow" pitchFamily="34" charset="0"/>
              </a:rPr>
              <a:t>for</a:t>
            </a:r>
            <a:r>
              <a:rPr lang="tr-TR" sz="1600">
                <a:latin typeface="Arial Narrow" pitchFamily="34" charset="0"/>
              </a:rPr>
              <a:t> </a:t>
            </a:r>
            <a:r>
              <a:rPr lang="tr-TR" sz="1600" smtClean="0">
                <a:latin typeface="Arial Narrow" pitchFamily="34" charset="0"/>
              </a:rPr>
              <a:t>Engineers</a:t>
            </a:r>
            <a:br>
              <a:rPr lang="tr-TR" sz="1600" smtClean="0">
                <a:latin typeface="Arial Narrow" pitchFamily="34" charset="0"/>
              </a:rPr>
            </a:br>
            <a:r>
              <a:rPr lang="tr-TR" sz="2400">
                <a:solidFill>
                  <a:srgbClr val="800000"/>
                </a:solidFill>
                <a:latin typeface="Arial Narrow" pitchFamily="34" charset="0"/>
              </a:rPr>
              <a:t>[14] Managing Working Capital</a:t>
            </a:r>
            <a:r>
              <a:rPr lang="tr-TR" sz="1400" dirty="0">
                <a:latin typeface="Arial Narrow" pitchFamily="34" charset="0"/>
              </a:rPr>
              <a:t/>
            </a:r>
            <a:br>
              <a:rPr lang="tr-TR" sz="1400" dirty="0">
                <a:latin typeface="Arial Narrow" pitchFamily="34" charset="0"/>
              </a:rPr>
            </a:br>
            <a:r>
              <a:rPr lang="tr-TR" sz="2000" dirty="0" err="1">
                <a:latin typeface="Arial Narrow" pitchFamily="34" charset="0"/>
              </a:rPr>
              <a:t>Weighted</a:t>
            </a:r>
            <a:r>
              <a:rPr lang="tr-TR" sz="2000" dirty="0">
                <a:latin typeface="Arial Narrow" pitchFamily="34" charset="0"/>
              </a:rPr>
              <a:t> </a:t>
            </a:r>
            <a:r>
              <a:rPr lang="tr-TR" sz="2000" dirty="0" err="1">
                <a:latin typeface="Arial Narrow" pitchFamily="34" charset="0"/>
              </a:rPr>
              <a:t>Average</a:t>
            </a:r>
            <a:r>
              <a:rPr lang="tr-TR" sz="2000" dirty="0">
                <a:latin typeface="Arial Narrow" pitchFamily="34" charset="0"/>
              </a:rPr>
              <a:t> </a:t>
            </a:r>
            <a:r>
              <a:rPr lang="tr-TR" sz="2000" dirty="0" err="1">
                <a:latin typeface="Arial Narrow" pitchFamily="34" charset="0"/>
              </a:rPr>
              <a:t>Cost</a:t>
            </a:r>
            <a:r>
              <a:rPr lang="tr-TR" sz="2000" dirty="0">
                <a:latin typeface="Arial Narrow" pitchFamily="34" charset="0"/>
              </a:rPr>
              <a:t> of </a:t>
            </a:r>
            <a:r>
              <a:rPr lang="tr-TR" sz="2000" dirty="0" err="1">
                <a:latin typeface="Arial Narrow" pitchFamily="34" charset="0"/>
              </a:rPr>
              <a:t>Capital</a:t>
            </a:r>
            <a:r>
              <a:rPr lang="tr-TR" sz="2000" dirty="0">
                <a:latin typeface="Arial Narrow" pitchFamily="34" charset="0"/>
              </a:rPr>
              <a:t>, </a:t>
            </a:r>
            <a:r>
              <a:rPr lang="tr-TR" sz="2000" dirty="0" err="1">
                <a:latin typeface="Arial Narrow" pitchFamily="34" charset="0"/>
              </a:rPr>
              <a:t>WACC</a:t>
            </a:r>
            <a:endParaRPr lang="tr-TR" sz="2000" dirty="0">
              <a:latin typeface="Arial Narrow" pitchFamily="34" charset="0"/>
            </a:endParaRPr>
          </a:p>
        </p:txBody>
      </p:sp>
      <p:sp>
        <p:nvSpPr>
          <p:cNvPr id="5" name="Content Placeholder 4"/>
          <p:cNvSpPr>
            <a:spLocks noGrp="1"/>
          </p:cNvSpPr>
          <p:nvPr>
            <p:ph idx="1"/>
          </p:nvPr>
        </p:nvSpPr>
        <p:spPr>
          <a:xfrm>
            <a:off x="457200" y="1052736"/>
            <a:ext cx="8291264" cy="5688632"/>
          </a:xfrm>
          <a:ln w="25400">
            <a:noFill/>
          </a:ln>
        </p:spPr>
        <p:txBody>
          <a:bodyPr>
            <a:noAutofit/>
          </a:bodyPr>
          <a:lstStyle/>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An examination of the above equation could lead to the false conclusion that the optimal solution would be to fund the company entirely from debt sources.</a:t>
            </a:r>
          </a:p>
          <a:p>
            <a:pPr marL="0" lvl="1" indent="0" algn="ctr">
              <a:spcBef>
                <a:spcPts val="0"/>
              </a:spcBef>
              <a:buNone/>
            </a:pPr>
            <a:r>
              <a:rPr lang="tr-TR" sz="1600" noProof="1">
                <a:latin typeface="Arial Narrow" panose="020B0606020202030204" pitchFamily="34" charset="0"/>
              </a:rPr>
              <a:t>However, increasing debt makes the company more risky</a:t>
            </a:r>
          </a:p>
          <a:p>
            <a:pPr marL="0" lvl="1" indent="0" algn="ctr">
              <a:spcBef>
                <a:spcPts val="0"/>
              </a:spcBef>
              <a:buNone/>
            </a:pPr>
            <a:r>
              <a:rPr lang="tr-TR" sz="1600" noProof="1">
                <a:latin typeface="Arial Narrow" panose="020B0606020202030204" pitchFamily="34" charset="0"/>
              </a:rPr>
              <a:t>due to increased fixed costs of servicing (making interest payments of) the debt.</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endParaRPr lang="tr-TR" sz="1600" noProof="1">
              <a:latin typeface="Arial Narrow" panose="020B0606020202030204" pitchFamily="34" charset="0"/>
            </a:endParaRPr>
          </a:p>
          <a:p>
            <a:pPr marL="0" lvl="1" indent="0" algn="ctr">
              <a:spcBef>
                <a:spcPts val="0"/>
              </a:spcBef>
              <a:buNone/>
            </a:pPr>
            <a:endParaRPr lang="tr-TR" sz="1600" noProof="1">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Investors are often more reluctant to invest in companies that have a high proportion of debt.</a:t>
            </a:r>
          </a:p>
          <a:p>
            <a:pPr marL="0" lvl="1" indent="0" algn="ctr">
              <a:spcBef>
                <a:spcPts val="0"/>
              </a:spcBef>
              <a:buNone/>
            </a:pPr>
            <a:r>
              <a:rPr lang="tr-TR" sz="1600" noProof="1">
                <a:latin typeface="Arial Narrow" panose="020B0606020202030204" pitchFamily="34" charset="0"/>
              </a:rPr>
              <a:t>As a result, the cost of equity will increase for </a:t>
            </a:r>
            <a:r>
              <a:rPr lang="tr-TR" sz="1600" noProof="1" smtClean="0">
                <a:latin typeface="Arial Narrow" panose="020B0606020202030204" pitchFamily="34" charset="0"/>
              </a:rPr>
              <a:t>companies with </a:t>
            </a:r>
            <a:r>
              <a:rPr lang="tr-TR" sz="1600" noProof="1">
                <a:latin typeface="Arial Narrow" panose="020B0606020202030204" pitchFamily="34" charset="0"/>
              </a:rPr>
              <a:t>an abnormally high proportion of debt</a:t>
            </a:r>
            <a:r>
              <a:rPr lang="tr-TR" sz="1600" noProof="1" smtClean="0">
                <a:latin typeface="Arial Narrow" panose="020B0606020202030204" pitchFamily="34" charset="0"/>
              </a:rPr>
              <a:t>.</a:t>
            </a:r>
          </a:p>
          <a:p>
            <a:pPr marL="0" lvl="1" indent="0" algn="ctr">
              <a:spcBef>
                <a:spcPts val="0"/>
              </a:spcBef>
              <a:buNone/>
            </a:pPr>
            <a:r>
              <a:rPr lang="tr-TR" sz="1600" noProof="1" smtClean="0">
                <a:latin typeface="Arial Narrow" panose="020B0606020202030204" pitchFamily="34" charset="0"/>
              </a:rPr>
              <a:t>Banks would also be more reluctant to lend to such companies.</a:t>
            </a:r>
            <a:endParaRPr lang="tr-TR" sz="1600" noProof="1">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2182725" y="1052736"/>
            <a:ext cx="4840213" cy="777608"/>
          </a:xfrm>
          <a:prstGeom prst="rect">
            <a:avLst/>
          </a:prstGeom>
        </p:spPr>
      </p:pic>
      <p:pic>
        <p:nvPicPr>
          <p:cNvPr id="3" name="Resim 2"/>
          <p:cNvPicPr>
            <a:picLocks noChangeAspect="1"/>
          </p:cNvPicPr>
          <p:nvPr/>
        </p:nvPicPr>
        <p:blipFill>
          <a:blip r:embed="rId4"/>
          <a:stretch>
            <a:fillRect/>
          </a:stretch>
        </p:blipFill>
        <p:spPr>
          <a:xfrm>
            <a:off x="575325" y="2803908"/>
            <a:ext cx="3852659" cy="3217380"/>
          </a:xfrm>
          <a:prstGeom prst="rect">
            <a:avLst/>
          </a:prstGeom>
        </p:spPr>
      </p:pic>
      <p:pic>
        <p:nvPicPr>
          <p:cNvPr id="7" name="Resim 6"/>
          <p:cNvPicPr>
            <a:picLocks noChangeAspect="1"/>
          </p:cNvPicPr>
          <p:nvPr/>
        </p:nvPicPr>
        <p:blipFill>
          <a:blip r:embed="rId5"/>
          <a:stretch>
            <a:fillRect/>
          </a:stretch>
        </p:blipFill>
        <p:spPr>
          <a:xfrm>
            <a:off x="5023984" y="2803908"/>
            <a:ext cx="3940504" cy="3217380"/>
          </a:xfrm>
          <a:prstGeom prst="rect">
            <a:avLst/>
          </a:prstGeom>
        </p:spPr>
      </p:pic>
      <p:sp>
        <p:nvSpPr>
          <p:cNvPr id="8" name="Metin kutusu 7"/>
          <p:cNvSpPr txBox="1"/>
          <p:nvPr/>
        </p:nvSpPr>
        <p:spPr>
          <a:xfrm rot="16200000">
            <a:off x="-74045" y="4111547"/>
            <a:ext cx="1032655" cy="338554"/>
          </a:xfrm>
          <a:prstGeom prst="rect">
            <a:avLst/>
          </a:prstGeom>
          <a:noFill/>
        </p:spPr>
        <p:txBody>
          <a:bodyPr wrap="none" rtlCol="0">
            <a:spAutoFit/>
          </a:bodyPr>
          <a:lstStyle/>
          <a:p>
            <a:r>
              <a:rPr lang="tr-TR" sz="1600" dirty="0" err="1">
                <a:latin typeface="Arial Narrow" panose="020B0606020202030204" pitchFamily="34" charset="0"/>
              </a:rPr>
              <a:t>Earnings</a:t>
            </a:r>
            <a:r>
              <a:rPr lang="tr-TR" sz="1600" dirty="0">
                <a:latin typeface="Arial Narrow" panose="020B0606020202030204" pitchFamily="34" charset="0"/>
              </a:rPr>
              <a:t>, $</a:t>
            </a:r>
          </a:p>
        </p:txBody>
      </p:sp>
      <p:sp>
        <p:nvSpPr>
          <p:cNvPr id="9" name="Metin kutusu 8"/>
          <p:cNvSpPr txBox="1"/>
          <p:nvPr/>
        </p:nvSpPr>
        <p:spPr>
          <a:xfrm rot="16200000">
            <a:off x="3991460" y="4263947"/>
            <a:ext cx="1787669" cy="338554"/>
          </a:xfrm>
          <a:prstGeom prst="rect">
            <a:avLst/>
          </a:prstGeom>
          <a:noFill/>
        </p:spPr>
        <p:txBody>
          <a:bodyPr wrap="none" rtlCol="0">
            <a:spAutoFit/>
          </a:bodyPr>
          <a:lstStyle/>
          <a:p>
            <a:r>
              <a:rPr lang="tr-TR" sz="1600" dirty="0" err="1">
                <a:latin typeface="Arial Narrow" panose="020B0606020202030204" pitchFamily="34" charset="0"/>
              </a:rPr>
              <a:t>Earnings</a:t>
            </a:r>
            <a:r>
              <a:rPr lang="tr-TR" sz="1600" dirty="0">
                <a:latin typeface="Arial Narrow" panose="020B0606020202030204" pitchFamily="34" charset="0"/>
              </a:rPr>
              <a:t> </a:t>
            </a:r>
            <a:r>
              <a:rPr lang="tr-TR" sz="1600" dirty="0" err="1">
                <a:latin typeface="Arial Narrow" panose="020B0606020202030204" pitchFamily="34" charset="0"/>
              </a:rPr>
              <a:t>per</a:t>
            </a:r>
            <a:r>
              <a:rPr lang="tr-TR" sz="1600" dirty="0">
                <a:latin typeface="Arial Narrow" panose="020B0606020202030204" pitchFamily="34" charset="0"/>
              </a:rPr>
              <a:t> </a:t>
            </a:r>
            <a:r>
              <a:rPr lang="tr-TR" sz="1600" dirty="0" err="1">
                <a:latin typeface="Arial Narrow" panose="020B0606020202030204" pitchFamily="34" charset="0"/>
              </a:rPr>
              <a:t>share</a:t>
            </a:r>
            <a:r>
              <a:rPr lang="tr-TR" sz="1600" dirty="0">
                <a:latin typeface="Arial Narrow" panose="020B0606020202030204" pitchFamily="34" charset="0"/>
              </a:rPr>
              <a:t>, $</a:t>
            </a:r>
          </a:p>
        </p:txBody>
      </p:sp>
      <p:sp>
        <p:nvSpPr>
          <p:cNvPr id="10" name="Metin kutusu 9"/>
          <p:cNvSpPr txBox="1"/>
          <p:nvPr/>
        </p:nvSpPr>
        <p:spPr>
          <a:xfrm>
            <a:off x="3205335" y="4581128"/>
            <a:ext cx="790601" cy="338554"/>
          </a:xfrm>
          <a:prstGeom prst="rect">
            <a:avLst/>
          </a:prstGeom>
          <a:noFill/>
        </p:spPr>
        <p:txBody>
          <a:bodyPr wrap="none" rtlCol="0">
            <a:spAutoFit/>
          </a:bodyPr>
          <a:lstStyle/>
          <a:p>
            <a:r>
              <a:rPr lang="tr-TR" sz="1600" dirty="0" err="1">
                <a:latin typeface="Arial Narrow" panose="020B0606020202030204" pitchFamily="34" charset="0"/>
              </a:rPr>
              <a:t>Sales</a:t>
            </a:r>
            <a:r>
              <a:rPr lang="tr-TR" sz="1600" dirty="0">
                <a:latin typeface="Arial Narrow" panose="020B0606020202030204" pitchFamily="34" charset="0"/>
              </a:rPr>
              <a:t>, $</a:t>
            </a:r>
          </a:p>
        </p:txBody>
      </p:sp>
      <p:sp>
        <p:nvSpPr>
          <p:cNvPr id="11" name="Metin kutusu 10"/>
          <p:cNvSpPr txBox="1"/>
          <p:nvPr/>
        </p:nvSpPr>
        <p:spPr>
          <a:xfrm>
            <a:off x="7453807" y="5085184"/>
            <a:ext cx="790601" cy="338554"/>
          </a:xfrm>
          <a:prstGeom prst="rect">
            <a:avLst/>
          </a:prstGeom>
          <a:noFill/>
        </p:spPr>
        <p:txBody>
          <a:bodyPr wrap="none" rtlCol="0">
            <a:spAutoFit/>
          </a:bodyPr>
          <a:lstStyle/>
          <a:p>
            <a:r>
              <a:rPr lang="tr-TR" sz="1600" dirty="0" err="1">
                <a:latin typeface="Arial Narrow" panose="020B0606020202030204" pitchFamily="34" charset="0"/>
              </a:rPr>
              <a:t>Sales</a:t>
            </a:r>
            <a:r>
              <a:rPr lang="tr-TR" sz="1600" dirty="0">
                <a:latin typeface="Arial Narrow" panose="020B0606020202030204" pitchFamily="34" charset="0"/>
              </a:rPr>
              <a:t>, $</a:t>
            </a:r>
          </a:p>
        </p:txBody>
      </p:sp>
      <p:cxnSp>
        <p:nvCxnSpPr>
          <p:cNvPr id="13" name="Düz Bağlayıcı 12"/>
          <p:cNvCxnSpPr/>
          <p:nvPr/>
        </p:nvCxnSpPr>
        <p:spPr>
          <a:xfrm>
            <a:off x="1475656" y="4653136"/>
            <a:ext cx="0" cy="504056"/>
          </a:xfrm>
          <a:prstGeom prst="line">
            <a:avLst/>
          </a:prstGeom>
          <a:ln w="38100">
            <a:solidFill>
              <a:srgbClr val="FF6600"/>
            </a:solidFill>
          </a:ln>
        </p:spPr>
        <p:style>
          <a:lnRef idx="1">
            <a:schemeClr val="accent1"/>
          </a:lnRef>
          <a:fillRef idx="0">
            <a:schemeClr val="accent1"/>
          </a:fillRef>
          <a:effectRef idx="0">
            <a:schemeClr val="accent1"/>
          </a:effectRef>
          <a:fontRef idx="minor">
            <a:schemeClr val="tx1"/>
          </a:fontRef>
        </p:style>
      </p:cxnSp>
      <p:sp>
        <p:nvSpPr>
          <p:cNvPr id="14" name="Metin kutusu 13"/>
          <p:cNvSpPr txBox="1"/>
          <p:nvPr/>
        </p:nvSpPr>
        <p:spPr>
          <a:xfrm>
            <a:off x="1475656" y="5085184"/>
            <a:ext cx="2177199" cy="338554"/>
          </a:xfrm>
          <a:prstGeom prst="rect">
            <a:avLst/>
          </a:prstGeom>
          <a:noFill/>
        </p:spPr>
        <p:txBody>
          <a:bodyPr wrap="none" rtlCol="0">
            <a:spAutoFit/>
          </a:bodyPr>
          <a:lstStyle/>
          <a:p>
            <a:r>
              <a:rPr lang="tr-TR" sz="1600" dirty="0" err="1">
                <a:solidFill>
                  <a:srgbClr val="FF6600"/>
                </a:solidFill>
                <a:latin typeface="Arial Narrow" panose="020B0606020202030204" pitchFamily="34" charset="0"/>
              </a:rPr>
              <a:t>additional</a:t>
            </a:r>
            <a:r>
              <a:rPr lang="tr-TR" sz="1600" dirty="0">
                <a:solidFill>
                  <a:srgbClr val="FF6600"/>
                </a:solidFill>
                <a:latin typeface="Arial Narrow" panose="020B0606020202030204" pitchFamily="34" charset="0"/>
              </a:rPr>
              <a:t> </a:t>
            </a:r>
            <a:r>
              <a:rPr lang="tr-TR" sz="1600" dirty="0" err="1">
                <a:solidFill>
                  <a:srgbClr val="FF6600"/>
                </a:solidFill>
                <a:latin typeface="Arial Narrow" panose="020B0606020202030204" pitchFamily="34" charset="0"/>
              </a:rPr>
              <a:t>interest</a:t>
            </a:r>
            <a:r>
              <a:rPr lang="tr-TR" sz="1600" dirty="0">
                <a:solidFill>
                  <a:srgbClr val="FF6600"/>
                </a:solidFill>
                <a:latin typeface="Arial Narrow" panose="020B0606020202030204" pitchFamily="34" charset="0"/>
              </a:rPr>
              <a:t> </a:t>
            </a:r>
            <a:r>
              <a:rPr lang="tr-TR" sz="1600" dirty="0" err="1">
                <a:solidFill>
                  <a:srgbClr val="FF6600"/>
                </a:solidFill>
                <a:latin typeface="Arial Narrow" panose="020B0606020202030204" pitchFamily="34" charset="0"/>
              </a:rPr>
              <a:t>expense</a:t>
            </a:r>
            <a:endParaRPr lang="tr-TR" sz="1600" dirty="0">
              <a:solidFill>
                <a:srgbClr val="FF6600"/>
              </a:solidFill>
              <a:latin typeface="Arial Narrow" panose="020B0606020202030204" pitchFamily="34" charset="0"/>
            </a:endParaRPr>
          </a:p>
        </p:txBody>
      </p:sp>
    </p:spTree>
    <p:extLst>
      <p:ext uri="{BB962C8B-B14F-4D97-AF65-F5344CB8AC3E}">
        <p14:creationId xmlns:p14="http://schemas.microsoft.com/office/powerpoint/2010/main" val="27411620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6645</TotalTime>
  <Words>5177</Words>
  <Application>Microsoft Office PowerPoint</Application>
  <PresentationFormat>Ekran Gösterisi (4:3)</PresentationFormat>
  <Paragraphs>701</Paragraphs>
  <Slides>57</Slides>
  <Notes>57</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57</vt:i4>
      </vt:variant>
    </vt:vector>
  </HeadingPairs>
  <TitlesOfParts>
    <vt:vector size="64" baseType="lpstr">
      <vt:lpstr>Arial</vt:lpstr>
      <vt:lpstr>Arial Narrow</vt:lpstr>
      <vt:lpstr>Bookman Old Style</vt:lpstr>
      <vt:lpstr>Calibri</vt:lpstr>
      <vt:lpstr>Cambria Math</vt:lpstr>
      <vt:lpstr>Symbol</vt:lpstr>
      <vt:lpstr>Office Theme</vt:lpstr>
      <vt:lpstr> </vt:lpstr>
      <vt:lpstr>NTE 1010 – Introduction to Finance for Engineers [1] Financial Accounting Accounting vs Finance</vt:lpstr>
      <vt:lpstr>NTE 1010 – Introduction to Finance for Engineers [1] Financial Accounting Accounting Principles and Conventions</vt:lpstr>
      <vt:lpstr>NTE 1010 – Introduction to Finance for Engineers [1] Financial Accounting Business Entity</vt:lpstr>
      <vt:lpstr>NTE 1010 – Introduction to Finance for Engineers [1] Financial Accounting Accrual Accounting</vt:lpstr>
      <vt:lpstr>NTE 1010 – Introduction to Finance for Engineers [1] Financial Accounting Historical Cost</vt:lpstr>
      <vt:lpstr>NTE 1010.1 – Introduction to Finance for Engineers [1] Financial Accounting Accounting Conventions</vt:lpstr>
      <vt:lpstr>NTE 1010 – Introduction to Finance for Engineers [2] Financial Statements Major Financial Statements</vt:lpstr>
      <vt:lpstr>NTE 1010 – Introduction to Finance for Engineers [2] Financial Statements Balance Sheet</vt:lpstr>
      <vt:lpstr>NTE 1010 – Introduction to Finance for Engineers [2] Financial Statements Income Statement</vt:lpstr>
      <vt:lpstr>NTE 1010 - Introduction to Finance for Engineers [2] Financial Statements Cash Flow Statement</vt:lpstr>
      <vt:lpstr>NTE 1010 – Introduction to Finance for Engineers [3] Analysing &amp; Interpreting Financial Statements Ratio Analysis</vt:lpstr>
      <vt:lpstr>NTE 1010 – Introduction to Finance for Engineers  [3] Analysing &amp; Interpreting Financial Statements  Horizontal Analysis</vt:lpstr>
      <vt:lpstr>NTE 1010 – Introduction to Finance for Engineers  [3] Analysing &amp; Interpreting Financial Statements  Vertical Analysis</vt:lpstr>
      <vt:lpstr>NTE 1010 – Introduction to Finance for Engineers [4] Management Accounting Break-Even Analysis</vt:lpstr>
      <vt:lpstr>NTE 1010 – Introduction to Finance for Engineers [4] Management Accounting Break-Even Analysis</vt:lpstr>
      <vt:lpstr>NTE 1010 – Introduction to Finance for Engineers [4] Management Accounting Margin of Safety</vt:lpstr>
      <vt:lpstr>NTE 1010 – Introduction to Finance for Engineers [4] Management Accounting Operating Gearing</vt:lpstr>
      <vt:lpstr>NTE 1010 – Introduction to Finance for Engineers [4] Management Accounting Activity-Based Costing</vt:lpstr>
      <vt:lpstr>NTE 1010 – Introduction to Finance for Engineers [4] Management Accounting Activity-Based Costing</vt:lpstr>
      <vt:lpstr>NTE 1010 – Introduction to Finance for Engineers [4] Management Accounting Budgeting</vt:lpstr>
      <vt:lpstr>NTE 1010 – Introduction to Finance for Engineers [5] Financial System Flow of Funds through the Financial System</vt:lpstr>
      <vt:lpstr>NTE 1010 – Introduction to Finance for Engineers [5] Financial System Primary and Secondary Markets</vt:lpstr>
      <vt:lpstr>NTE 1010.1 – Introduction to Finance for Engineers [5] Financial System Equity</vt:lpstr>
      <vt:lpstr>NTE 1010 – Introduction to Finance for Engineers [5] Financial System Types of Financial Intermediaries</vt:lpstr>
      <vt:lpstr>NTE 1010 – Introduction to Finance for Engineers [5] Financial System Money</vt:lpstr>
      <vt:lpstr>NTE 1010 – Introduction to Finance for Engineers [6] Interest Rates Yield to Maturity</vt:lpstr>
      <vt:lpstr>NTE 1010 – Introduction to Finance for Engineers [6] Interest Rates Effective Cost of a Corporate Bond</vt:lpstr>
      <vt:lpstr>NTE 1010 – Introduction to Finance for Engineers [6] Interest Rates Real versus Nominal Interest Rate</vt:lpstr>
      <vt:lpstr>NTE 1010 – Introduction to Finance for Engineers [6] Interest Rates Interest-Rate Risk</vt:lpstr>
      <vt:lpstr>NTE 1010 – Introduction to Finance for Engineers [6] Interest Rates Yield Curve</vt:lpstr>
      <vt:lpstr>NTE 1010 – Introduction to Finance for Engineers [6] Interest Rates Expectations Theory</vt:lpstr>
      <vt:lpstr>NTE 1010 – Introduction to Finance for Engineers [6] Interest Rates  Liquidity Premium Theory</vt:lpstr>
      <vt:lpstr>NTE 1010 – Introduction to Finance for Engineers [7] Stock Markets Computing the Price of Common Stock</vt:lpstr>
      <vt:lpstr>NTE 1010 – Introduction to Finance for Engineers [7] Stock Markets The One-Period Valuation Model</vt:lpstr>
      <vt:lpstr>NTE 1010 – Introduction to Finance for Engineers [7] Stock Markets The Generalized Dividend Valuation Model</vt:lpstr>
      <vt:lpstr>NTE 1010 – Introduction to Finance for Engineers [7] Stock Markets The Generalized Dividend Valuation Model</vt:lpstr>
      <vt:lpstr>NTE 1010 – Introduction to Finance for Engineers [7] Stock Markets Valuation - Gordon Growth Model</vt:lpstr>
      <vt:lpstr>NTE 1010 – Introduction to Finance for Engineers [8] Financial Crises 2007-2008 Crisis</vt:lpstr>
      <vt:lpstr>NTE 1010 – Introduction to Finance for Engineers [8] Financial Crises 2007-2008 Crisis Quantitative Easing</vt:lpstr>
      <vt:lpstr>NTE 1010 – Introduction to Finance for Engineers [9] Banks</vt:lpstr>
      <vt:lpstr>NTE 1010 – Introduction to Finance for Engineers [9] Banks</vt:lpstr>
      <vt:lpstr>NTE 1010 – Introduction to Finance for Engineers [9] Banks Estimating the Size of the Interest-Rate Risk</vt:lpstr>
      <vt:lpstr>NTE 1010 – Introduction to Finance for Engineers [9] Banks Gap Analysis</vt:lpstr>
      <vt:lpstr>NTE 1010 – Introduction to Finance for Engineers [9] Banks Duration Analysis</vt:lpstr>
      <vt:lpstr>NTE 1010 – Introduction to Finance for Engineers [10] Central Banks Fundamental Powers of Central Bank of Turkey (TCMB)</vt:lpstr>
      <vt:lpstr>NTE 1010 – Introduction to Finance for Engineers [10] Money Supply Control of the Monetary Base</vt:lpstr>
      <vt:lpstr>NTE 1010 – Introduction to Finance for Engineers [10] Money Supply Multiple Deposit Creation</vt:lpstr>
      <vt:lpstr>NTE 1010 – Introduction to Finance for Engineers [11] Monetary Policy  Goals</vt:lpstr>
      <vt:lpstr>NTE 1010 – Introduction to Finance for Engineers [12] Foreign Exchange Markets How Do FX Rates Come Out ?</vt:lpstr>
      <vt:lpstr>NTE 1010 – Introduction to Finance for Engineers [12] Foreign Exchange Markets</vt:lpstr>
      <vt:lpstr>NTE 1010 – Introduction to Finance for Engineers [12] Foreign Exchange Markets Calculating Forward FX Rate</vt:lpstr>
      <vt:lpstr>NTE 1010 – Introduction to Finance for Engineers [13] International Financial System Balance of Payments</vt:lpstr>
      <vt:lpstr>NTE 1010 – Introduction to Finance for Engineers [13] International Financial System Exchange Rate Regimes</vt:lpstr>
      <vt:lpstr>NTE 1010 – Introduction to Finance for Engineers [14] Managing Working Capital Working Capital = Current Assets – Current Liabilities Working Capital = +Cash and Equivalents +Trade Receivables +Inventories   -Bank Loans -Trade Payables</vt:lpstr>
      <vt:lpstr>NTE 1010 – Introduction to Finance for Engineers [14] Managing Working Capital Measuring Operating Cash Cycle</vt:lpstr>
      <vt:lpstr>NTE 1010 – Introduction to Finance for Engineers [14] Managing Working Capital Weighted Average Cost of Capital, WACC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508</cp:revision>
  <cp:lastPrinted>2020-05-16T08:47:18Z</cp:lastPrinted>
  <dcterms:created xsi:type="dcterms:W3CDTF">2015-11-30T12:51:35Z</dcterms:created>
  <dcterms:modified xsi:type="dcterms:W3CDTF">2020-05-20T16:40:01Z</dcterms:modified>
  <dc:description/>
</cp:coreProperties>
</file>