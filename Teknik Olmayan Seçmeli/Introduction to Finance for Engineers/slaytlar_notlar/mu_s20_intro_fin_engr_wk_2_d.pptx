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567" r:id="rId2"/>
    <p:sldId id="554" r:id="rId3"/>
    <p:sldId id="592" r:id="rId4"/>
    <p:sldId id="564" r:id="rId5"/>
    <p:sldId id="589" r:id="rId6"/>
    <p:sldId id="600" r:id="rId7"/>
    <p:sldId id="449" r:id="rId8"/>
    <p:sldId id="549" r:id="rId9"/>
    <p:sldId id="593" r:id="rId10"/>
    <p:sldId id="550" r:id="rId11"/>
    <p:sldId id="594" r:id="rId12"/>
    <p:sldId id="551" r:id="rId13"/>
    <p:sldId id="595" r:id="rId14"/>
    <p:sldId id="598" r:id="rId15"/>
    <p:sldId id="454" r:id="rId16"/>
    <p:sldId id="456" r:id="rId17"/>
    <p:sldId id="463" r:id="rId18"/>
    <p:sldId id="562" r:id="rId19"/>
    <p:sldId id="565" r:id="rId20"/>
    <p:sldId id="590" r:id="rId21"/>
    <p:sldId id="556" r:id="rId22"/>
    <p:sldId id="557" r:id="rId23"/>
    <p:sldId id="558" r:id="rId24"/>
    <p:sldId id="559" r:id="rId25"/>
    <p:sldId id="591" r:id="rId26"/>
    <p:sldId id="560" r:id="rId27"/>
    <p:sldId id="563" r:id="rId28"/>
    <p:sldId id="596" r:id="rId29"/>
    <p:sldId id="599" r:id="rId30"/>
    <p:sldId id="566" r:id="rId31"/>
    <p:sldId id="506" r:id="rId32"/>
    <p:sldId id="561" r:id="rId33"/>
    <p:sldId id="510" r:id="rId34"/>
    <p:sldId id="586" r:id="rId35"/>
    <p:sldId id="517" r:id="rId36"/>
    <p:sldId id="597" r:id="rId37"/>
  </p:sldIdLst>
  <p:sldSz cx="9144000" cy="6858000" type="screen4x3"/>
  <p:notesSz cx="9607550" cy="688975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800000"/>
    <a:srgbClr val="000066"/>
    <a:srgbClr val="003300"/>
    <a:srgbClr val="FF6600"/>
    <a:srgbClr val="FFCCFF"/>
    <a:srgbClr val="FFFFFF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9" autoAdjust="0"/>
    <p:restoredTop sz="94662" autoAdjust="0"/>
  </p:normalViewPr>
  <p:slideViewPr>
    <p:cSldViewPr>
      <p:cViewPr varScale="1">
        <p:scale>
          <a:sx n="63" d="100"/>
          <a:sy n="63" d="100"/>
        </p:scale>
        <p:origin x="89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3528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42491" y="0"/>
            <a:ext cx="4163526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13.02.2020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43668"/>
            <a:ext cx="4163528" cy="344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42491" y="6543668"/>
            <a:ext cx="4163526" cy="344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327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42054" y="0"/>
            <a:ext cx="416327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13.02.2020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81338" y="515938"/>
            <a:ext cx="3444875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755" y="3272631"/>
            <a:ext cx="7686040" cy="3100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44067"/>
            <a:ext cx="4163273" cy="344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42054" y="6544067"/>
            <a:ext cx="4163273" cy="344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85477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6210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26367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4135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203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0478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5448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8433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10134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7907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65440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9329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51893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0545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9440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2822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1572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5938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3170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7891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54238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960865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18056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71643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4040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34641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8750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923697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25404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43649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953624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22146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924455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902999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535380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45944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13.02.2020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emf"/><Relationship Id="rId4" Type="http://schemas.openxmlformats.org/officeDocument/2006/relationships/image" Target="../media/image20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4.e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emf"/><Relationship Id="rId4" Type="http://schemas.openxmlformats.org/officeDocument/2006/relationships/image" Target="../media/image26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emf"/><Relationship Id="rId4" Type="http://schemas.openxmlformats.org/officeDocument/2006/relationships/image" Target="../media/image28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em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emf"/><Relationship Id="rId4" Type="http://schemas.openxmlformats.org/officeDocument/2006/relationships/image" Target="../media/image33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emf"/><Relationship Id="rId4" Type="http://schemas.openxmlformats.org/officeDocument/2006/relationships/image" Target="../media/image35.em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dirty="0" smtClean="0"/>
              <a:t> </a:t>
            </a:r>
            <a:endParaRPr lang="tr-TR" sz="12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55576" y="2204864"/>
            <a:ext cx="7704856" cy="1872208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tr-TR" sz="2000" dirty="0">
                <a:solidFill>
                  <a:srgbClr val="800000"/>
                </a:solidFill>
                <a:latin typeface="Arial Narrow" pitchFamily="34" charset="0"/>
              </a:rPr>
              <a:t>NTE </a:t>
            </a: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1010 - </a:t>
            </a:r>
            <a:r>
              <a:rPr lang="tr-TR" sz="20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0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20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20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20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0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r>
              <a:rPr lang="tr-TR" sz="20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0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Spring 2020</a:t>
            </a:r>
          </a:p>
          <a:p>
            <a:pPr>
              <a:spcBef>
                <a:spcPts val="0"/>
              </a:spcBef>
            </a:pPr>
            <a:r>
              <a:rPr lang="tr-TR" sz="3600" dirty="0" err="1">
                <a:solidFill>
                  <a:srgbClr val="800000"/>
                </a:solidFill>
                <a:latin typeface="Arial Narrow" pitchFamily="34" charset="0"/>
              </a:rPr>
              <a:t>w</a:t>
            </a:r>
            <a:r>
              <a:rPr lang="tr-TR" sz="3600" dirty="0" err="1" smtClean="0">
                <a:solidFill>
                  <a:srgbClr val="800000"/>
                </a:solidFill>
                <a:latin typeface="Arial Narrow" pitchFamily="34" charset="0"/>
              </a:rPr>
              <a:t>eek</a:t>
            </a:r>
            <a:r>
              <a:rPr lang="tr-TR" sz="3600" dirty="0" smtClean="0">
                <a:solidFill>
                  <a:srgbClr val="800000"/>
                </a:solidFill>
                <a:latin typeface="Arial Narrow" pitchFamily="34" charset="0"/>
              </a:rPr>
              <a:t> 2</a:t>
            </a:r>
          </a:p>
          <a:p>
            <a:pPr>
              <a:spcBef>
                <a:spcPts val="0"/>
              </a:spcBef>
            </a:pPr>
            <a:endParaRPr lang="tr-TR" sz="9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36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endParaRPr lang="tr-TR" sz="3600" dirty="0" smtClean="0">
              <a:solidFill>
                <a:srgbClr val="8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65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1600" y="188640"/>
            <a:ext cx="7715200" cy="864096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2400" dirty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400" dirty="0" err="1" smtClean="0">
                <a:latin typeface="Arial Narrow" pitchFamily="34" charset="0"/>
              </a:rPr>
              <a:t>Reports</a:t>
            </a:r>
            <a:r>
              <a:rPr lang="tr-TR" sz="2400" dirty="0" smtClean="0">
                <a:latin typeface="Arial Narrow" pitchFamily="34" charset="0"/>
              </a:rPr>
              <a:t> of Financial Accounting</a:t>
            </a:r>
            <a:endParaRPr lang="tr-TR" sz="24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Three major financial statements that form the core of financial accounting:</a:t>
            </a:r>
          </a:p>
          <a:p>
            <a:pPr marL="0" lvl="1" indent="0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Balance Sheet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shows the accumulated wealth of the business </a:t>
            </a:r>
            <a:r>
              <a:rPr lang="tr-TR" sz="18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at the </a:t>
            </a:r>
            <a:r>
              <a:rPr lang="tr-TR" sz="1800" u="sng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end</a:t>
            </a:r>
            <a:r>
              <a:rPr lang="tr-TR" sz="18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 of the period</a:t>
            </a:r>
            <a:r>
              <a:rPr lang="tr-TR" sz="1800" noProof="1" smtClean="0">
                <a:latin typeface="Arial Narrow" panose="020B0606020202030204" pitchFamily="34" charset="0"/>
              </a:rPr>
              <a:t>,</a:t>
            </a:r>
          </a:p>
          <a:p>
            <a:pPr marL="400050" lvl="2" indent="0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Income Statement </a:t>
            </a:r>
            <a:r>
              <a:rPr lang="tr-TR" sz="1800" noProof="1" smtClean="0">
                <a:latin typeface="Arial Narrow" panose="020B0606020202030204" pitchFamily="34" charset="0"/>
              </a:rPr>
              <a:t>(also known as Profit and Loss Account)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s</a:t>
            </a:r>
            <a:r>
              <a:rPr lang="tr-TR" sz="1800" noProof="1" smtClean="0">
                <a:latin typeface="Arial Narrow" panose="020B0606020202030204" pitchFamily="34" charset="0"/>
              </a:rPr>
              <a:t>hows the wealth (profit) generated or lost by the business </a:t>
            </a:r>
            <a:r>
              <a:rPr lang="tr-TR" sz="1800" u="sng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during</a:t>
            </a:r>
            <a:r>
              <a:rPr lang="tr-TR" sz="18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 the period</a:t>
            </a:r>
            <a:r>
              <a:rPr lang="tr-TR" sz="1800" noProof="1" smtClean="0">
                <a:latin typeface="Arial Narrow" panose="020B0606020202030204" pitchFamily="34" charset="0"/>
              </a:rPr>
              <a:t>,</a:t>
            </a:r>
          </a:p>
          <a:p>
            <a:pPr marL="400050" lvl="2" indent="0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Cash Flow Statement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s</a:t>
            </a:r>
            <a:r>
              <a:rPr lang="tr-TR" sz="1800" noProof="1" smtClean="0">
                <a:latin typeface="Arial Narrow" panose="020B0606020202030204" pitchFamily="34" charset="0"/>
              </a:rPr>
              <a:t>hows the cash in and cash out </a:t>
            </a:r>
            <a:r>
              <a:rPr lang="tr-TR" sz="1800" u="sng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during</a:t>
            </a:r>
            <a:r>
              <a:rPr lang="tr-TR" sz="18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 the period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</a:p>
          <a:p>
            <a:pPr marL="400050" lvl="2" indent="0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Taken together, they provide an overall picture of the financial health of the business.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890" y="4077072"/>
            <a:ext cx="3980310" cy="21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4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400" dirty="0" err="1" smtClean="0">
                <a:latin typeface="Arial Narrow" pitchFamily="34" charset="0"/>
              </a:rPr>
              <a:t>Relationship</a:t>
            </a:r>
            <a:r>
              <a:rPr lang="tr-TR" sz="2400" dirty="0" smtClean="0">
                <a:latin typeface="Arial Narrow" pitchFamily="34" charset="0"/>
              </a:rPr>
              <a:t> </a:t>
            </a:r>
            <a:r>
              <a:rPr lang="tr-TR" sz="2400" dirty="0" err="1" smtClean="0">
                <a:latin typeface="Arial Narrow" pitchFamily="34" charset="0"/>
              </a:rPr>
              <a:t>among</a:t>
            </a:r>
            <a:r>
              <a:rPr lang="tr-TR" sz="2400" dirty="0" smtClean="0">
                <a:latin typeface="Arial Narrow" pitchFamily="34" charset="0"/>
              </a:rPr>
              <a:t> </a:t>
            </a:r>
            <a:r>
              <a:rPr lang="tr-TR" sz="2400" dirty="0" err="1" smtClean="0">
                <a:latin typeface="Arial Narrow" pitchFamily="34" charset="0"/>
              </a:rPr>
              <a:t>Primary</a:t>
            </a:r>
            <a:r>
              <a:rPr lang="tr-TR" sz="2400" dirty="0" smtClean="0">
                <a:latin typeface="Arial Narrow" pitchFamily="34" charset="0"/>
              </a:rPr>
              <a:t> Financial </a:t>
            </a:r>
            <a:r>
              <a:rPr lang="tr-TR" sz="2400" dirty="0" err="1" smtClean="0">
                <a:latin typeface="Arial Narrow" pitchFamily="34" charset="0"/>
              </a:rPr>
              <a:t>Statements</a:t>
            </a:r>
            <a:endParaRPr lang="tr-TR" sz="24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27" y="1196752"/>
            <a:ext cx="7979346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2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589548" y="2738784"/>
            <a:ext cx="3960440" cy="2202383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err="1" smtClean="0">
                <a:solidFill>
                  <a:srgbClr val="800000"/>
                </a:solidFill>
                <a:latin typeface="Arial Narrow" pitchFamily="34" charset="0"/>
              </a:rPr>
              <a:t>Balance</a:t>
            </a:r>
            <a:r>
              <a:rPr lang="tr-TR" sz="36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3600" dirty="0" err="1" smtClean="0">
                <a:solidFill>
                  <a:srgbClr val="800000"/>
                </a:solidFill>
                <a:latin typeface="Arial Narrow" pitchFamily="34" charset="0"/>
              </a:rPr>
              <a:t>Sheet</a:t>
            </a:r>
            <a:endParaRPr lang="tr-TR" sz="36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Income</a:t>
            </a: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 Statement</a:t>
            </a:r>
          </a:p>
          <a:p>
            <a:pPr>
              <a:spcBef>
                <a:spcPts val="0"/>
              </a:spcBef>
            </a:pP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Cash </a:t>
            </a: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Flow</a:t>
            </a: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 Statement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90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7584" y="116632"/>
            <a:ext cx="3456384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Major</a:t>
            </a:r>
            <a:r>
              <a:rPr lang="tr-TR" sz="2000" dirty="0">
                <a:latin typeface="Arial Narrow" pitchFamily="34" charset="0"/>
              </a:rPr>
              <a:t> Financial </a:t>
            </a:r>
            <a:r>
              <a:rPr lang="tr-TR" sz="2000" dirty="0" err="1">
                <a:latin typeface="Arial Narrow" pitchFamily="34" charset="0"/>
              </a:rPr>
              <a:t>Statements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Balance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Sheet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27584" y="1340768"/>
            <a:ext cx="5760640" cy="5328592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what is the accumulated wealth of the business (Owners’ Equity)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at the end of a particular </a:t>
            </a:r>
            <a:r>
              <a:rPr lang="tr-TR" sz="1600" noProof="1" smtClean="0">
                <a:latin typeface="Arial Narrow" panose="020B0606020202030204" pitchFamily="34" charset="0"/>
              </a:rPr>
              <a:t>period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>
                <a:solidFill>
                  <a:srgbClr val="0000CC"/>
                </a:solidFill>
                <a:latin typeface="Arial Narrow" pitchFamily="34" charset="0"/>
              </a:rPr>
              <a:t>Basic </a:t>
            </a:r>
            <a:r>
              <a:rPr lang="tr-TR" sz="1600" dirty="0" err="1">
                <a:solidFill>
                  <a:srgbClr val="0000CC"/>
                </a:solidFill>
                <a:latin typeface="Arial Narrow" pitchFamily="34" charset="0"/>
              </a:rPr>
              <a:t>Structure</a:t>
            </a:r>
            <a:r>
              <a:rPr lang="tr-TR" sz="1600" dirty="0">
                <a:solidFill>
                  <a:srgbClr val="0000CC"/>
                </a:solidFill>
                <a:latin typeface="Arial Narrow" pitchFamily="34" charset="0"/>
              </a:rPr>
              <a:t> of a </a:t>
            </a:r>
            <a:r>
              <a:rPr lang="tr-TR" sz="1600" dirty="0" err="1">
                <a:solidFill>
                  <a:srgbClr val="0000CC"/>
                </a:solidFill>
                <a:latin typeface="Arial Narrow" pitchFamily="34" charset="0"/>
              </a:rPr>
              <a:t>Balance</a:t>
            </a:r>
            <a:r>
              <a:rPr lang="tr-TR" sz="1600" dirty="0">
                <a:solidFill>
                  <a:srgbClr val="0000CC"/>
                </a:solidFill>
                <a:latin typeface="Arial Narrow" pitchFamily="34" charset="0"/>
              </a:rPr>
              <a:t> </a:t>
            </a:r>
            <a:r>
              <a:rPr lang="tr-TR" sz="1600" dirty="0" err="1">
                <a:solidFill>
                  <a:srgbClr val="0000CC"/>
                </a:solidFill>
                <a:latin typeface="Arial Narrow" pitchFamily="34" charset="0"/>
              </a:rPr>
              <a:t>Sheet</a:t>
            </a:r>
            <a:endParaRPr lang="tr-TR" sz="1600" noProof="1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CC"/>
                </a:solidFill>
                <a:latin typeface="Arial Narrow" panose="020B0606020202030204" pitchFamily="34" charset="0"/>
              </a:rPr>
              <a:t>+ Assets </a:t>
            </a:r>
            <a:r>
              <a:rPr lang="tr-TR" sz="1600" noProof="1">
                <a:latin typeface="Arial Narrow" panose="020B0606020202030204" pitchFamily="34" charset="0"/>
              </a:rPr>
              <a:t>(resources held by the business)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- Liabilities</a:t>
            </a:r>
            <a:r>
              <a:rPr lang="tr-TR" sz="1600" noProof="1" smtClean="0">
                <a:latin typeface="Arial Narrow" panose="020B0606020202030204" pitchFamily="34" charset="0"/>
              </a:rPr>
              <a:t> </a:t>
            </a:r>
            <a:r>
              <a:rPr lang="tr-TR" sz="1600" noProof="1">
                <a:latin typeface="Arial Narrow" panose="020B0606020202030204" pitchFamily="34" charset="0"/>
              </a:rPr>
              <a:t>(obligation of the business to provide cash, or some other form of benefit </a:t>
            </a:r>
            <a:r>
              <a:rPr lang="tr-TR" sz="1600" noProof="1" smtClean="0">
                <a:latin typeface="Arial Narrow" panose="020B0606020202030204" pitchFamily="34" charset="0"/>
              </a:rPr>
              <a:t>to other </a:t>
            </a:r>
            <a:r>
              <a:rPr lang="tr-TR" sz="1600" noProof="1">
                <a:latin typeface="Arial Narrow" panose="020B0606020202030204" pitchFamily="34" charset="0"/>
              </a:rPr>
              <a:t>individuals and organizations apart from the owners)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CC"/>
                </a:solidFill>
                <a:latin typeface="Arial Narrow" panose="020B0606020202030204" pitchFamily="34" charset="0"/>
              </a:rPr>
              <a:t>= Owner’s </a:t>
            </a:r>
            <a:r>
              <a:rPr lang="tr-TR" sz="16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Equity </a:t>
            </a:r>
            <a:r>
              <a:rPr lang="tr-TR" sz="1600" noProof="1" smtClean="0">
                <a:latin typeface="Arial Narrow" panose="020B0606020202030204" pitchFamily="34" charset="0"/>
              </a:rPr>
              <a:t>(accumulated wealth of the business)</a:t>
            </a:r>
            <a:endParaRPr lang="tr-TR" sz="1600" noProof="1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3" y="3933056"/>
            <a:ext cx="3888432" cy="1023877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3" y="5399191"/>
            <a:ext cx="3888432" cy="127697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0" y="44624"/>
            <a:ext cx="2102448" cy="6736292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827584" y="2420888"/>
            <a:ext cx="5760640" cy="1152128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9791" y="332656"/>
            <a:ext cx="3744416" cy="1070992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Balance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Basic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Structure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340768"/>
            <a:ext cx="6120680" cy="4896544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  <a:endParaRPr lang="tr-TR" sz="1800" noProof="1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11" y="1556792"/>
            <a:ext cx="8397775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1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341784"/>
            <a:ext cx="6120680" cy="107099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Balance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Assets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340768"/>
            <a:ext cx="6120680" cy="4896544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For a particular item to be treated as an asset for accounting purposes,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it should have the following characteristics.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A probable future benefit must exist.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The business must have an exclusive right to control the benefit.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The benefit must arise from some past transaction or event.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The asset must be capable of measurement in monetary terms.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Note that all four of these conditions must apply.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Still, some resources not satisfying all four may well be assets in a broader sense, but not for accounting purposes.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Once an asset has been acquired by a business, it will continue to be considered an asset until the benefits are exhausted or the business disposes of it in some way.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Assets that have a physical substance and can be touched are referred to as </a:t>
            </a:r>
            <a:r>
              <a:rPr lang="tr-TR" sz="1800" i="1" noProof="1" smtClean="0">
                <a:latin typeface="Arial Narrow" panose="020B0606020202030204" pitchFamily="34" charset="0"/>
              </a:rPr>
              <a:t>tangible assets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Assets that have no physical substance but which, nevertheless, provide expected future benefits (such as patents) are referred to as </a:t>
            </a:r>
            <a:r>
              <a:rPr lang="tr-TR" sz="1800" i="1" noProof="1" smtClean="0">
                <a:latin typeface="Arial Narrow" panose="020B0606020202030204" pitchFamily="34" charset="0"/>
              </a:rPr>
              <a:t>intangible assets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  <a:endParaRPr lang="tr-TR" sz="1800" noProof="1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40" y="306893"/>
            <a:ext cx="1963300" cy="629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9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332656"/>
            <a:ext cx="6048672" cy="100811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Balance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Assets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95536" y="1268760"/>
            <a:ext cx="6048672" cy="4896544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solidFill>
                  <a:srgbClr val="C00000"/>
                </a:solidFill>
                <a:latin typeface="Arial Narrow" panose="020B0606020202030204" pitchFamily="34" charset="0"/>
              </a:rPr>
              <a:t>Current assets </a:t>
            </a:r>
            <a:r>
              <a:rPr lang="tr-TR" sz="1800" noProof="1">
                <a:latin typeface="Arial Narrow" panose="020B0606020202030204" pitchFamily="34" charset="0"/>
              </a:rPr>
              <a:t>are basically assets that are held for the short term.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They have to meet any one of the following four criteria: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held for sale or consumption in the normal course of a business’ operating cycle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are for the short term (i.e. to be sold within a year)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are held primarily for trading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are cash, or near cash such as easily marketable, short-term investments</a:t>
            </a:r>
          </a:p>
          <a:p>
            <a:pPr marL="0" lvl="1" indent="0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most common current assets are inventories (or stock), customers who owe money for goods or services supplied on credit (known as trade receivables or debtors), and cash.</a:t>
            </a:r>
          </a:p>
          <a:p>
            <a:pPr marL="0" lvl="1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solidFill>
                  <a:srgbClr val="C00000"/>
                </a:solidFill>
                <a:latin typeface="Arial Narrow" panose="020B0606020202030204" pitchFamily="34" charset="0"/>
              </a:rPr>
              <a:t>Non-current assets </a:t>
            </a:r>
            <a:r>
              <a:rPr lang="tr-TR" sz="1800" noProof="1">
                <a:latin typeface="Arial Narrow" panose="020B0606020202030204" pitchFamily="34" charset="0"/>
              </a:rPr>
              <a:t>(also called fixed assets) are assets that do not meet the above criteria.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They are held for the long-term operations of the business.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Essentially, they are ″tools″ of the business and are held with the objective of generating wealth.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332657"/>
            <a:ext cx="1932785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2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38536" cy="423448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Arçelik A.Ş. 30 </a:t>
            </a:r>
            <a:r>
              <a:rPr lang="tr-TR" sz="2800" dirty="0" err="1" smtClean="0">
                <a:latin typeface="Arial Narrow" pitchFamily="34" charset="0"/>
              </a:rPr>
              <a:t>June</a:t>
            </a:r>
            <a:r>
              <a:rPr lang="tr-TR" sz="2800" dirty="0" smtClean="0">
                <a:latin typeface="Arial Narrow" pitchFamily="34" charset="0"/>
              </a:rPr>
              <a:t> 2019</a:t>
            </a:r>
            <a:br>
              <a:rPr lang="tr-TR" sz="2800" dirty="0" smtClean="0">
                <a:latin typeface="Arial Narrow" pitchFamily="34" charset="0"/>
              </a:rPr>
            </a:b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Assets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339752" y="1600200"/>
            <a:ext cx="6347048" cy="452596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30" y="164195"/>
            <a:ext cx="6456458" cy="6505166"/>
          </a:xfrm>
          <a:prstGeom prst="rect">
            <a:avLst/>
          </a:prstGeom>
        </p:spPr>
      </p:pic>
      <p:sp>
        <p:nvSpPr>
          <p:cNvPr id="8" name="Metin kutusu 7"/>
          <p:cNvSpPr txBox="1"/>
          <p:nvPr/>
        </p:nvSpPr>
        <p:spPr>
          <a:xfrm>
            <a:off x="472339" y="4653136"/>
            <a:ext cx="17233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latin typeface="Arial Narrow" panose="020B0606020202030204" pitchFamily="34" charset="0"/>
              </a:rPr>
              <a:t>http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://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www.arcelikas.com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UserFiles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/file/Arcelik%20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2019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%202%C3%87%20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Finansal%20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Rapor.pdf</a:t>
            </a:r>
            <a:endParaRPr lang="en-US" sz="1600" dirty="0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02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332656"/>
            <a:ext cx="6192688" cy="100811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Balance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Liabilities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95536" y="1268760"/>
            <a:ext cx="6192688" cy="4968552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Liabilities are obligations of the business to provide cash, or some other form of benefit to other individuals and organizations apart from the owners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  <a:endParaRPr lang="tr-TR" sz="9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Once a liability has been incurred by a business, it will remain as an obligation until it is settled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  <a:endParaRPr lang="tr-TR" sz="9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Liabilities are classified into two groups:</a:t>
            </a:r>
          </a:p>
          <a:p>
            <a:pPr marL="0" lvl="1" indent="0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solidFill>
                  <a:srgbClr val="C00000"/>
                </a:solidFill>
                <a:latin typeface="Arial Narrow" panose="020B0606020202030204" pitchFamily="34" charset="0"/>
              </a:rPr>
              <a:t>Current liabilities </a:t>
            </a:r>
            <a:r>
              <a:rPr lang="tr-TR" sz="1800" noProof="1">
                <a:latin typeface="Arial Narrow" panose="020B0606020202030204" pitchFamily="34" charset="0"/>
              </a:rPr>
              <a:t>are basically amounts due for settlement in the short term.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They have to meet any one of the following four criteria: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expected to be settled within the normal course of the business’ operating cycle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due to be settled within 12 months of the balance sheet date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held primarily for trading purposes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Business does not have the right to defer settlement beyond 12 months after the balance sheet date</a:t>
            </a:r>
          </a:p>
          <a:p>
            <a:pPr marL="0" lvl="1" indent="0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solidFill>
                  <a:srgbClr val="C00000"/>
                </a:solidFill>
                <a:latin typeface="Arial Narrow" panose="020B0606020202030204" pitchFamily="34" charset="0"/>
              </a:rPr>
              <a:t>Non-current liabilities </a:t>
            </a:r>
            <a:r>
              <a:rPr lang="tr-TR" sz="1800" noProof="1">
                <a:latin typeface="Arial Narrow" panose="020B0606020202030204" pitchFamily="34" charset="0"/>
              </a:rPr>
              <a:t>represent those amounts due to outside parties that are not current liabilities.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025" y="332656"/>
            <a:ext cx="1977734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5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38536" cy="423448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Arçelik A.Ş. 30 </a:t>
            </a:r>
            <a:r>
              <a:rPr lang="tr-TR" sz="2800" dirty="0" err="1" smtClean="0">
                <a:latin typeface="Arial Narrow" pitchFamily="34" charset="0"/>
              </a:rPr>
              <a:t>June</a:t>
            </a:r>
            <a:r>
              <a:rPr lang="tr-TR" sz="2800" dirty="0" smtClean="0">
                <a:latin typeface="Arial Narrow" pitchFamily="34" charset="0"/>
              </a:rPr>
              <a:t> 2019</a:t>
            </a:r>
            <a:br>
              <a:rPr lang="tr-TR" sz="2800" dirty="0" smtClean="0">
                <a:latin typeface="Arial Narrow" pitchFamily="34" charset="0"/>
              </a:rPr>
            </a:b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Liabilities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339752" y="1600200"/>
            <a:ext cx="6347048" cy="452596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270" y="188640"/>
            <a:ext cx="5677130" cy="6480720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472339" y="4653136"/>
            <a:ext cx="17233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latin typeface="Arial Narrow" panose="020B0606020202030204" pitchFamily="34" charset="0"/>
              </a:rPr>
              <a:t>http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://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www.arcelikas.com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UserFiles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/file/Arcelik%20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2019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%202%C3%87%20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Finansal%20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Rapor.pdf</a:t>
            </a:r>
            <a:endParaRPr lang="en-US" sz="1600" dirty="0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07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341784"/>
            <a:ext cx="5904656" cy="998984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Balance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Owner’s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Equity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628800"/>
            <a:ext cx="5904656" cy="475252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Represents </a:t>
            </a:r>
            <a:r>
              <a:rPr lang="tr-TR" sz="1800" noProof="1">
                <a:latin typeface="Arial Narrow" panose="020B0606020202030204" pitchFamily="34" charset="0"/>
              </a:rPr>
              <a:t>the claim of the owners against the business.</a:t>
            </a:r>
          </a:p>
          <a:p>
            <a:pPr marL="0" lvl="1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For accounting purposes, a clear distinction is </a:t>
            </a:r>
            <a:r>
              <a:rPr lang="tr-TR" sz="1800" noProof="1" smtClean="0">
                <a:latin typeface="Arial Narrow" panose="020B0606020202030204" pitchFamily="34" charset="0"/>
              </a:rPr>
              <a:t>made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between </a:t>
            </a:r>
            <a:r>
              <a:rPr lang="tr-TR" sz="1800" noProof="1">
                <a:latin typeface="Arial Narrow" panose="020B0606020202030204" pitchFamily="34" charset="0"/>
              </a:rPr>
              <a:t>the business and the owner(s).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Viewed from this perspective,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any funds contributed by the owners will be seen </a:t>
            </a:r>
            <a:r>
              <a:rPr lang="tr-TR" sz="1800" noProof="1" smtClean="0">
                <a:latin typeface="Arial Narrow" panose="020B0606020202030204" pitchFamily="34" charset="0"/>
              </a:rPr>
              <a:t>as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coming </a:t>
            </a:r>
            <a:r>
              <a:rPr lang="tr-TR" sz="1800" noProof="1">
                <a:latin typeface="Arial Narrow" panose="020B0606020202030204" pitchFamily="34" charset="0"/>
              </a:rPr>
              <a:t>from outside the business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and will appear as a claim against the business in its balance sheet.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341784"/>
            <a:ext cx="1944216" cy="62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0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38536" cy="423448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Arçelik A.Ş. 30 </a:t>
            </a:r>
            <a:r>
              <a:rPr lang="tr-TR" sz="2800" dirty="0" err="1" smtClean="0">
                <a:latin typeface="Arial Narrow" pitchFamily="34" charset="0"/>
              </a:rPr>
              <a:t>June</a:t>
            </a:r>
            <a:r>
              <a:rPr lang="tr-TR" sz="2800" dirty="0" smtClean="0">
                <a:latin typeface="Arial Narrow" pitchFamily="34" charset="0"/>
              </a:rPr>
              <a:t> 2019</a:t>
            </a:r>
            <a:br>
              <a:rPr lang="tr-TR" sz="2800" dirty="0" smtClean="0">
                <a:latin typeface="Arial Narrow" pitchFamily="34" charset="0"/>
              </a:rPr>
            </a:b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Owners</a:t>
            </a: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’</a:t>
            </a:r>
            <a:b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Equity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339752" y="1600200"/>
            <a:ext cx="6347048" cy="452596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310" y="147008"/>
            <a:ext cx="6040122" cy="6554707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472339" y="4653136"/>
            <a:ext cx="17233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latin typeface="Arial Narrow" panose="020B0606020202030204" pitchFamily="34" charset="0"/>
              </a:rPr>
              <a:t>http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://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www.arcelikas.com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UserFiles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/file/Arcelik%20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2019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%202%C3%87%20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Finansal%20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Rapor.pdf</a:t>
            </a:r>
            <a:endParaRPr lang="en-US" sz="1600" dirty="0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90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5588" y="274638"/>
            <a:ext cx="7677428" cy="1138138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Balance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Akbank T.A.Ş. 30 </a:t>
            </a:r>
            <a:r>
              <a:rPr lang="tr-TR" sz="2800" dirty="0" err="1" smtClean="0">
                <a:latin typeface="Arial Narrow" pitchFamily="34" charset="0"/>
              </a:rPr>
              <a:t>June</a:t>
            </a:r>
            <a:r>
              <a:rPr lang="tr-TR" sz="2800" dirty="0" smtClean="0">
                <a:latin typeface="Arial Narrow" pitchFamily="34" charset="0"/>
              </a:rPr>
              <a:t> 2019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339752" y="1600200"/>
            <a:ext cx="6347048" cy="452596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87" y="1340768"/>
            <a:ext cx="7677428" cy="509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54973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1010.1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Major</a:t>
            </a:r>
            <a:r>
              <a:rPr lang="tr-TR" sz="2000" dirty="0" smtClean="0">
                <a:latin typeface="Arial Narrow" pitchFamily="34" charset="0"/>
              </a:rPr>
              <a:t> Financial </a:t>
            </a:r>
            <a:r>
              <a:rPr lang="tr-TR" sz="2000" dirty="0" err="1" smtClean="0"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Balance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: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Asset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Valuation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Property, plant and equipment are shown at historic cost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less any amounts written off for depreciation.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	However, fair values, if below depreciated cost, should rather be used.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Where the amount that can be recovered from the tangible non-current assets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is below the net book value,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	this lower amount should be reflected in the balance sheet.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Intangible non-current assets broadly follow the same valuation rules as described above.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Current assets are shown at the lower of cost or net realisable value.</a:t>
            </a:r>
          </a:p>
        </p:txBody>
      </p:sp>
    </p:spTree>
    <p:extLst>
      <p:ext uri="{BB962C8B-B14F-4D97-AF65-F5344CB8AC3E}">
        <p14:creationId xmlns:p14="http://schemas.microsoft.com/office/powerpoint/2010/main" val="133017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54973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3600" dirty="0" smtClean="0">
                <a:latin typeface="Arial Narrow" pitchFamily="34" charset="0"/>
              </a:rPr>
              <a:t> </a:t>
            </a:r>
            <a:endParaRPr lang="tr-TR" sz="36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9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9418"/>
            <a:ext cx="8147248" cy="556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949" y="476672"/>
            <a:ext cx="1306488" cy="3534067"/>
          </a:xfrm>
          <a:noFill/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Major</a:t>
            </a:r>
            <a:r>
              <a:rPr lang="tr-TR" sz="2000" dirty="0" smtClean="0">
                <a:latin typeface="Arial Narrow" pitchFamily="34" charset="0"/>
              </a:rPr>
              <a:t> Financial </a:t>
            </a:r>
            <a:r>
              <a:rPr lang="tr-TR" sz="2000" dirty="0" err="1" smtClean="0"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Balance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exercise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  <a:endParaRPr lang="tr-TR" sz="1800" noProof="1">
              <a:latin typeface="Arial Narrow" panose="020B0606020202030204" pitchFamily="34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285" y="476672"/>
            <a:ext cx="6609516" cy="606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4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63688" y="1600200"/>
            <a:ext cx="6923112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  <a:endParaRPr lang="tr-TR" sz="1800" noProof="1">
              <a:latin typeface="Arial Narrow" panose="020B0606020202030204" pitchFamily="34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680" y="476672"/>
            <a:ext cx="5897048" cy="6070236"/>
          </a:xfrm>
          <a:prstGeom prst="rect">
            <a:avLst/>
          </a:prstGeom>
        </p:spPr>
      </p:pic>
      <p:sp>
        <p:nvSpPr>
          <p:cNvPr id="7" name="Unvan 6"/>
          <p:cNvSpPr>
            <a:spLocks noGrp="1"/>
          </p:cNvSpPr>
          <p:nvPr>
            <p:ph type="title"/>
          </p:nvPr>
        </p:nvSpPr>
        <p:spPr>
          <a:xfrm>
            <a:off x="1835696" y="274638"/>
            <a:ext cx="6851104" cy="1143000"/>
          </a:xfrm>
        </p:spPr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601949" y="476672"/>
            <a:ext cx="1306488" cy="3534067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r-TR" sz="1400" smtClean="0">
                <a:latin typeface="Arial Narrow" pitchFamily="34" charset="0"/>
              </a:rPr>
              <a:t>NTE 1010 – Introduction to Finance for Engineers</a:t>
            </a:r>
            <a:br>
              <a:rPr lang="tr-TR" sz="1400" smtClean="0">
                <a:latin typeface="Arial Narrow" pitchFamily="34" charset="0"/>
              </a:rPr>
            </a:br>
            <a:r>
              <a:rPr lang="tr-TR" sz="2000" smtClean="0">
                <a:latin typeface="Arial Narrow" pitchFamily="34" charset="0"/>
              </a:rPr>
              <a:t>Major Financial Statements</a:t>
            </a:r>
            <a:r>
              <a:rPr lang="tr-TR" sz="240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smtClean="0">
                <a:solidFill>
                  <a:srgbClr val="800000"/>
                </a:solidFill>
                <a:latin typeface="Arial Narrow" pitchFamily="34" charset="0"/>
              </a:rPr>
              <a:t>Balance Sheet</a:t>
            </a:r>
            <a:br>
              <a:rPr lang="tr-TR" sz="240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smtClean="0">
                <a:solidFill>
                  <a:srgbClr val="800000"/>
                </a:solidFill>
                <a:latin typeface="Arial Narrow" pitchFamily="34" charset="0"/>
              </a:rPr>
              <a:t>exercise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73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373524" y="2738784"/>
            <a:ext cx="4392488" cy="2274392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Balance</a:t>
            </a: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Sheet</a:t>
            </a:r>
            <a:endParaRPr lang="tr-TR" sz="2400" dirty="0" smtClean="0">
              <a:solidFill>
                <a:schemeClr val="bg1">
                  <a:lumMod val="65000"/>
                </a:schemeClr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err="1" smtClean="0">
                <a:solidFill>
                  <a:srgbClr val="800000"/>
                </a:solidFill>
                <a:latin typeface="Arial Narrow" pitchFamily="34" charset="0"/>
              </a:rPr>
              <a:t>Income</a:t>
            </a:r>
            <a:r>
              <a:rPr lang="tr-TR" sz="3600" dirty="0" smtClean="0">
                <a:solidFill>
                  <a:srgbClr val="800000"/>
                </a:solidFill>
                <a:latin typeface="Arial Narrow" pitchFamily="34" charset="0"/>
              </a:rPr>
              <a:t> Statement</a:t>
            </a:r>
          </a:p>
          <a:p>
            <a:pPr>
              <a:spcBef>
                <a:spcPts val="0"/>
              </a:spcBef>
            </a:pPr>
            <a:endParaRPr lang="tr-TR" sz="400" dirty="0" smtClean="0">
              <a:solidFill>
                <a:schemeClr val="bg1">
                  <a:lumMod val="65000"/>
                </a:schemeClr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Cash </a:t>
            </a: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Flow</a:t>
            </a: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 Statement</a:t>
            </a:r>
          </a:p>
          <a:p>
            <a:pPr>
              <a:spcBef>
                <a:spcPts val="0"/>
              </a:spcBef>
            </a:pP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3608" y="634678"/>
            <a:ext cx="3538736" cy="106613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Major</a:t>
            </a:r>
            <a:r>
              <a:rPr lang="tr-TR" sz="2000" dirty="0">
                <a:latin typeface="Arial Narrow" pitchFamily="34" charset="0"/>
              </a:rPr>
              <a:t> Financial </a:t>
            </a:r>
            <a:r>
              <a:rPr lang="tr-TR" sz="2000" dirty="0" err="1">
                <a:latin typeface="Arial Narrow" pitchFamily="34" charset="0"/>
              </a:rPr>
              <a:t>Statements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Income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3568" y="2276872"/>
            <a:ext cx="4392488" cy="3849291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purpose of the Income Statement,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also called Profit and Loss Account,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is to measure and report how much profit (wealth)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business has generated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over a period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(most commonly a year, a quarter, a month</a:t>
            </a:r>
            <a:r>
              <a:rPr lang="tr-TR" sz="1800" noProof="1" smtClean="0">
                <a:latin typeface="Arial Narrow" panose="020B0606020202030204" pitchFamily="34" charset="0"/>
              </a:rPr>
              <a:t>).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620688"/>
            <a:ext cx="3123152" cy="558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58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1"/>
            <a:ext cx="5338936" cy="1043591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Income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Statement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Revenue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79909"/>
            <a:ext cx="5338936" cy="4929411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Recognition </a:t>
            </a:r>
            <a:r>
              <a:rPr lang="tr-TR" sz="1800" noProof="1">
                <a:latin typeface="Arial Narrow" panose="020B0606020202030204" pitchFamily="34" charset="0"/>
              </a:rPr>
              <a:t>of sales </a:t>
            </a:r>
            <a:r>
              <a:rPr lang="tr-TR" sz="1800" noProof="1" smtClean="0">
                <a:latin typeface="Arial Narrow" panose="020B0606020202030204" pitchFamily="34" charset="0"/>
              </a:rPr>
              <a:t>revenue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is </a:t>
            </a:r>
            <a:r>
              <a:rPr lang="tr-TR" sz="1800" noProof="1">
                <a:latin typeface="Arial Narrow" panose="020B0606020202030204" pitchFamily="34" charset="0"/>
              </a:rPr>
              <a:t>independent of cash collection.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This is </a:t>
            </a:r>
            <a:r>
              <a:rPr lang="tr-TR" sz="1800" i="1" noProof="1">
                <a:latin typeface="Arial Narrow" panose="020B0606020202030204" pitchFamily="34" charset="0"/>
              </a:rPr>
              <a:t>Accrual Accounting</a:t>
            </a:r>
            <a:r>
              <a:rPr lang="tr-TR" sz="1800" noProof="1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For credit </a:t>
            </a:r>
            <a:r>
              <a:rPr lang="tr-TR" sz="1800" noProof="1" smtClean="0">
                <a:latin typeface="Arial Narrow" panose="020B0606020202030204" pitchFamily="34" charset="0"/>
              </a:rPr>
              <a:t>sales,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revenue </a:t>
            </a:r>
            <a:r>
              <a:rPr lang="tr-TR" sz="1800" noProof="1">
                <a:latin typeface="Arial Narrow" panose="020B0606020202030204" pitchFamily="34" charset="0"/>
              </a:rPr>
              <a:t>is recognized before the cash collected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Advance payment </a:t>
            </a:r>
            <a:r>
              <a:rPr lang="tr-TR" sz="1800" noProof="1" smtClean="0">
                <a:latin typeface="Arial Narrow" panose="020B0606020202030204" pitchFamily="34" charset="0"/>
              </a:rPr>
              <a:t>received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can </a:t>
            </a:r>
            <a:r>
              <a:rPr lang="tr-TR" sz="1800" noProof="1">
                <a:latin typeface="Arial Narrow" panose="020B0606020202030204" pitchFamily="34" charset="0"/>
              </a:rPr>
              <a:t>not be recognized as revenue.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Sales revenue is recognized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when ownership and control of goods </a:t>
            </a:r>
            <a:r>
              <a:rPr lang="tr-TR" sz="1800" noProof="1" smtClean="0">
                <a:latin typeface="Arial Narrow" panose="020B0606020202030204" pitchFamily="34" charset="0"/>
              </a:rPr>
              <a:t>sold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passes </a:t>
            </a:r>
            <a:r>
              <a:rPr lang="tr-TR" sz="1800" noProof="1">
                <a:latin typeface="Arial Narrow" panose="020B0606020202030204" pitchFamily="34" charset="0"/>
              </a:rPr>
              <a:t>to the buyer.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1193260"/>
            <a:ext cx="3019368" cy="540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7250" y="297177"/>
            <a:ext cx="4438836" cy="1043591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Income</a:t>
            </a:r>
            <a:r>
              <a:rPr lang="tr-TR" sz="2000" dirty="0" smtClean="0"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of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Goods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Sold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208" y="1379909"/>
            <a:ext cx="5338936" cy="4929411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Commonly </a:t>
            </a:r>
            <a:r>
              <a:rPr lang="tr-TR" sz="1800" noProof="1">
                <a:latin typeface="Arial Narrow" panose="020B0606020202030204" pitchFamily="34" charset="0"/>
              </a:rPr>
              <a:t>used methods of are the following</a:t>
            </a:r>
            <a:r>
              <a:rPr lang="tr-TR" sz="1800" noProof="1" smtClean="0">
                <a:latin typeface="Arial Narrow" panose="020B0606020202030204" pitchFamily="34" charset="0"/>
              </a:rPr>
              <a:t>:</a:t>
            </a: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First In, First Out (</a:t>
            </a:r>
            <a:r>
              <a:rPr lang="tr-TR" sz="18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FIFO)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</a:t>
            </a:r>
            <a:r>
              <a:rPr lang="tr-TR" sz="1800" noProof="1">
                <a:latin typeface="Arial Narrow" panose="020B0606020202030204" pitchFamily="34" charset="0"/>
              </a:rPr>
              <a:t>earliest inventories held are the first to be sold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Last In, First Out </a:t>
            </a:r>
            <a:r>
              <a:rPr lang="tr-TR" sz="18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(</a:t>
            </a: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L</a:t>
            </a:r>
            <a:r>
              <a:rPr lang="tr-TR" sz="18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IFO)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</a:t>
            </a:r>
            <a:r>
              <a:rPr lang="tr-TR" sz="1800" noProof="1">
                <a:latin typeface="Arial Narrow" panose="020B0606020202030204" pitchFamily="34" charset="0"/>
              </a:rPr>
              <a:t>latest inventories held are the first to be sold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</a:p>
          <a:p>
            <a:pPr marL="400050" lvl="2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Weighted Average Cost (AVCO)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50" y="1867774"/>
            <a:ext cx="4438836" cy="1129178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720" y="1325632"/>
            <a:ext cx="2824712" cy="505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5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441193"/>
            <a:ext cx="5112568" cy="1043591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Income</a:t>
            </a:r>
            <a:r>
              <a:rPr lang="tr-TR" sz="2000" dirty="0" smtClean="0"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Expenses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3568" y="1379909"/>
            <a:ext cx="5112568" cy="4929411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Expenses </a:t>
            </a:r>
            <a:r>
              <a:rPr lang="tr-TR" sz="1800" noProof="1">
                <a:latin typeface="Arial Narrow" panose="020B0606020202030204" pitchFamily="34" charset="0"/>
              </a:rPr>
              <a:t>should be </a:t>
            </a:r>
            <a:r>
              <a:rPr lang="tr-TR" sz="1800" noProof="1" smtClean="0">
                <a:latin typeface="Arial Narrow" panose="020B0606020202030204" pitchFamily="34" charset="0"/>
              </a:rPr>
              <a:t>matched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</a:t>
            </a:r>
            <a:r>
              <a:rPr lang="tr-TR" sz="1800" noProof="1">
                <a:latin typeface="Arial Narrow" panose="020B0606020202030204" pitchFamily="34" charset="0"/>
              </a:rPr>
              <a:t>the </a:t>
            </a:r>
            <a:r>
              <a:rPr lang="tr-TR" sz="1800" noProof="1" smtClean="0">
                <a:latin typeface="Arial Narrow" panose="020B0606020202030204" pitchFamily="34" charset="0"/>
              </a:rPr>
              <a:t>revenue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that </a:t>
            </a:r>
            <a:r>
              <a:rPr lang="tr-TR" sz="1800" noProof="1">
                <a:latin typeface="Arial Narrow" panose="020B0606020202030204" pitchFamily="34" charset="0"/>
              </a:rPr>
              <a:t>they helped to generate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Recognition of expenses is </a:t>
            </a:r>
            <a:r>
              <a:rPr lang="tr-TR" sz="1800" noProof="1" smtClean="0">
                <a:latin typeface="Arial Narrow" panose="020B0606020202030204" pitchFamily="34" charset="0"/>
              </a:rPr>
              <a:t>also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independent </a:t>
            </a:r>
            <a:r>
              <a:rPr lang="tr-TR" sz="1800" noProof="1">
                <a:latin typeface="Arial Narrow" panose="020B0606020202030204" pitchFamily="34" charset="0"/>
              </a:rPr>
              <a:t>of cash payment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as per </a:t>
            </a:r>
            <a:r>
              <a:rPr lang="tr-TR" sz="1800" i="1" noProof="1">
                <a:latin typeface="Arial Narrow" panose="020B0606020202030204" pitchFamily="34" charset="0"/>
              </a:rPr>
              <a:t>Accrual Accounting</a:t>
            </a:r>
            <a:r>
              <a:rPr lang="tr-TR" sz="1800" noProof="1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Nevertheless, Accrual Accounting is subject to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</a:t>
            </a:r>
            <a:r>
              <a:rPr lang="tr-TR" sz="1800" i="1" noProof="1">
                <a:latin typeface="Arial Narrow" panose="020B0606020202030204" pitchFamily="34" charset="0"/>
              </a:rPr>
              <a:t>Materiality Convention </a:t>
            </a:r>
            <a:r>
              <a:rPr lang="tr-TR" sz="1800" noProof="1">
                <a:latin typeface="Arial Narrow" panose="020B0606020202030204" pitchFamily="34" charset="0"/>
              </a:rPr>
              <a:t>of accounting.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3" y="1484784"/>
            <a:ext cx="277602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1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441193"/>
            <a:ext cx="5112568" cy="1043591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latin typeface="Arial Narrow" pitchFamily="34" charset="0"/>
              </a:rPr>
              <a:t>Income</a:t>
            </a:r>
            <a:r>
              <a:rPr lang="tr-TR" sz="2400" dirty="0" smtClean="0"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Depreciation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3568" y="1772816"/>
            <a:ext cx="5112568" cy="4536504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Depreciation </a:t>
            </a:r>
            <a:r>
              <a:rPr lang="tr-TR" sz="1800" noProof="1">
                <a:latin typeface="Arial Narrow" panose="020B0606020202030204" pitchFamily="34" charset="0"/>
              </a:rPr>
              <a:t>is an attempt to measure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that portion of the cost of a non-current </a:t>
            </a:r>
            <a:r>
              <a:rPr lang="tr-TR" sz="1800" noProof="1" smtClean="0">
                <a:latin typeface="Arial Narrow" panose="020B0606020202030204" pitchFamily="34" charset="0"/>
              </a:rPr>
              <a:t>asset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that </a:t>
            </a:r>
            <a:r>
              <a:rPr lang="tr-TR" sz="1800" noProof="1">
                <a:latin typeface="Arial Narrow" panose="020B0606020202030204" pitchFamily="34" charset="0"/>
              </a:rPr>
              <a:t>is </a:t>
            </a:r>
            <a:r>
              <a:rPr lang="tr-TR" sz="1800" noProof="1" smtClean="0">
                <a:latin typeface="Arial Narrow" panose="020B0606020202030204" pitchFamily="34" charset="0"/>
              </a:rPr>
              <a:t>used to </a:t>
            </a:r>
            <a:r>
              <a:rPr lang="tr-TR" sz="1800" noProof="1">
                <a:latin typeface="Arial Narrow" panose="020B0606020202030204" pitchFamily="34" charset="0"/>
              </a:rPr>
              <a:t>generate the </a:t>
            </a:r>
            <a:r>
              <a:rPr lang="tr-TR" sz="1800" noProof="1" smtClean="0">
                <a:latin typeface="Arial Narrow" panose="020B0606020202030204" pitchFamily="34" charset="0"/>
              </a:rPr>
              <a:t>revenue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recognized </a:t>
            </a:r>
            <a:r>
              <a:rPr lang="tr-TR" sz="1800" noProof="1">
                <a:latin typeface="Arial Narrow" panose="020B0606020202030204" pitchFamily="34" charset="0"/>
              </a:rPr>
              <a:t>during a particular period.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following have to be </a:t>
            </a:r>
            <a:r>
              <a:rPr lang="tr-TR" sz="1800" noProof="1" smtClean="0">
                <a:latin typeface="Arial Narrow" panose="020B0606020202030204" pitchFamily="34" charset="0"/>
              </a:rPr>
              <a:t>considered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</a:t>
            </a:r>
            <a:r>
              <a:rPr lang="tr-TR" sz="1800" noProof="1">
                <a:latin typeface="Arial Narrow" panose="020B0606020202030204" pitchFamily="34" charset="0"/>
              </a:rPr>
              <a:t>calculate </a:t>
            </a:r>
            <a:r>
              <a:rPr lang="tr-TR" sz="1800" i="1" noProof="1">
                <a:latin typeface="Arial Narrow" panose="020B0606020202030204" pitchFamily="34" charset="0"/>
              </a:rPr>
              <a:t>Depreciation Expense</a:t>
            </a:r>
            <a:r>
              <a:rPr lang="tr-TR" sz="1800" noProof="1" smtClean="0">
                <a:latin typeface="Arial Narrow" panose="020B0606020202030204" pitchFamily="34" charset="0"/>
              </a:rPr>
              <a:t>: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Cost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(all </a:t>
            </a:r>
            <a:r>
              <a:rPr lang="tr-TR" sz="1800" noProof="1">
                <a:latin typeface="Arial Narrow" panose="020B0606020202030204" pitchFamily="34" charset="0"/>
              </a:rPr>
              <a:t>costs incurred to to make the asset ready for use</a:t>
            </a:r>
            <a:r>
              <a:rPr lang="tr-TR" sz="1800" noProof="1" smtClean="0">
                <a:latin typeface="Arial Narrow" panose="020B0606020202030204" pitchFamily="34" charset="0"/>
              </a:rPr>
              <a:t>),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Useful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life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(shorter </a:t>
            </a:r>
            <a:r>
              <a:rPr lang="tr-TR" sz="1800" noProof="1">
                <a:latin typeface="Arial Narrow" panose="020B0606020202030204" pitchFamily="34" charset="0"/>
              </a:rPr>
              <a:t>of the physical and economic life</a:t>
            </a:r>
            <a:r>
              <a:rPr lang="tr-TR" sz="1800" noProof="1" smtClean="0">
                <a:latin typeface="Arial Narrow" panose="020B0606020202030204" pitchFamily="34" charset="0"/>
              </a:rPr>
              <a:t>),</a:t>
            </a:r>
          </a:p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900" noProof="1">
              <a:latin typeface="Arial Narrow" panose="020B0606020202030204" pitchFamily="34" charset="0"/>
            </a:endParaRPr>
          </a:p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Residual (salvage or disposal)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value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of </a:t>
            </a:r>
            <a:r>
              <a:rPr lang="tr-TR" sz="1800" noProof="1">
                <a:latin typeface="Arial Narrow" panose="020B0606020202030204" pitchFamily="34" charset="0"/>
              </a:rPr>
              <a:t>the </a:t>
            </a:r>
            <a:r>
              <a:rPr lang="tr-TR" sz="1800" noProof="1" smtClean="0">
                <a:latin typeface="Arial Narrow" panose="020B0606020202030204" pitchFamily="34" charset="0"/>
              </a:rPr>
              <a:t>asset </a:t>
            </a:r>
            <a:r>
              <a:rPr lang="tr-TR" sz="1800" noProof="1">
                <a:latin typeface="Arial Narrow" panose="020B0606020202030204" pitchFamily="34" charset="0"/>
              </a:rPr>
              <a:t>(needs to be estimated</a:t>
            </a:r>
            <a:r>
              <a:rPr lang="tr-TR" sz="1800" noProof="1" smtClean="0">
                <a:latin typeface="Arial Narrow" panose="020B0606020202030204" pitchFamily="34" charset="0"/>
              </a:rPr>
              <a:t>), and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Depreciation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method.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1484784"/>
            <a:ext cx="277602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9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27784" y="116632"/>
            <a:ext cx="3888432" cy="998984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Income</a:t>
            </a:r>
            <a:r>
              <a:rPr lang="tr-TR" sz="2000" dirty="0">
                <a:latin typeface="Arial Narrow" pitchFamily="34" charset="0"/>
              </a:rPr>
              <a:t> Statement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Depreciation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  <a:ln w="25400">
            <a:noFill/>
          </a:ln>
        </p:spPr>
        <p:txBody>
          <a:bodyPr>
            <a:noAutofit/>
          </a:bodyPr>
          <a:lstStyle/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solidFill>
                  <a:srgbClr val="C00000"/>
                </a:solidFill>
                <a:latin typeface="Arial Narrow" panose="020B0606020202030204" pitchFamily="34" charset="0"/>
              </a:rPr>
              <a:t>Depreciation method</a:t>
            </a:r>
            <a:r>
              <a:rPr lang="tr-TR" sz="1800" noProof="1">
                <a:latin typeface="Arial Narrow" panose="020B0606020202030204" pitchFamily="34" charset="0"/>
              </a:rPr>
              <a:t> (most commonly used are the following):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030" y="3933056"/>
            <a:ext cx="3888432" cy="261641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700808"/>
            <a:ext cx="7344816" cy="218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43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1560" y="260648"/>
            <a:ext cx="3816424" cy="1043591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Income</a:t>
            </a:r>
            <a:r>
              <a:rPr lang="tr-TR" sz="2000" dirty="0" smtClean="0"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noProof="1">
                <a:solidFill>
                  <a:srgbClr val="800000"/>
                </a:solidFill>
                <a:latin typeface="Arial Narrow" panose="020B0606020202030204" pitchFamily="34" charset="0"/>
              </a:rPr>
              <a:t>″Bad″ </a:t>
            </a:r>
            <a:r>
              <a:rPr lang="tr-TR" sz="24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Receivables 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1560" y="1628800"/>
            <a:ext cx="3240360" cy="4680519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Many </a:t>
            </a:r>
            <a:r>
              <a:rPr lang="tr-TR" sz="1800" noProof="1">
                <a:latin typeface="Arial Narrow" panose="020B0606020202030204" pitchFamily="34" charset="0"/>
              </a:rPr>
              <a:t>businesses sell </a:t>
            </a:r>
            <a:r>
              <a:rPr lang="tr-TR" sz="1800" noProof="1" smtClean="0">
                <a:latin typeface="Arial Narrow" panose="020B0606020202030204" pitchFamily="34" charset="0"/>
              </a:rPr>
              <a:t>goods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on </a:t>
            </a:r>
            <a:r>
              <a:rPr lang="tr-TR" sz="1800" noProof="1">
                <a:latin typeface="Arial Narrow" panose="020B0606020202030204" pitchFamily="34" charset="0"/>
              </a:rPr>
              <a:t>credit.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When it </a:t>
            </a:r>
            <a:r>
              <a:rPr lang="tr-TR" sz="1800" noProof="1" smtClean="0">
                <a:latin typeface="Arial Narrow" panose="020B0606020202030204" pitchFamily="34" charset="0"/>
              </a:rPr>
              <a:t>becomes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reasonably certain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that </a:t>
            </a:r>
            <a:r>
              <a:rPr lang="tr-TR" sz="1800" noProof="1">
                <a:latin typeface="Arial Narrow" panose="020B0606020202030204" pitchFamily="34" charset="0"/>
              </a:rPr>
              <a:t>the customer will never pay,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receivable is considered to be ″bad″.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To provide a more realistic picture </a:t>
            </a:r>
            <a:r>
              <a:rPr lang="tr-TR" sz="1800" noProof="1" smtClean="0">
                <a:latin typeface="Arial Narrow" panose="020B0606020202030204" pitchFamily="34" charset="0"/>
              </a:rPr>
              <a:t>of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</a:t>
            </a:r>
            <a:r>
              <a:rPr lang="tr-TR" sz="1800" noProof="1">
                <a:latin typeface="Arial Narrow" panose="020B0606020202030204" pitchFamily="34" charset="0"/>
              </a:rPr>
              <a:t>financial performance and position,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″bad″ receivables must </a:t>
            </a:r>
            <a:r>
              <a:rPr lang="tr-TR" sz="1800" noProof="1" smtClean="0">
                <a:latin typeface="Arial Narrow" panose="020B0606020202030204" pitchFamily="34" charset="0"/>
              </a:rPr>
              <a:t>be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″written </a:t>
            </a:r>
            <a:r>
              <a:rPr lang="tr-TR" sz="1800" noProof="1">
                <a:latin typeface="Arial Narrow" panose="020B0606020202030204" pitchFamily="34" charset="0"/>
              </a:rPr>
              <a:t>off″ by</a:t>
            </a:r>
          </a:p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reducing the receivables and</a:t>
            </a:r>
          </a:p>
          <a:p>
            <a:pPr marL="342900" lvl="1" indent="-34290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>
                <a:latin typeface="Arial Narrow" panose="020B0606020202030204" pitchFamily="34" charset="0"/>
              </a:rPr>
              <a:t>increasing expenses.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56" y="404664"/>
            <a:ext cx="1910311" cy="612068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1541528"/>
            <a:ext cx="2766372" cy="469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5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7504" y="764704"/>
            <a:ext cx="1944216" cy="5328592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en-US" sz="1500" noProof="1" smtClean="0">
                <a:latin typeface="Arial Narrow" panose="020B0606020202030204" pitchFamily="34" charset="0"/>
              </a:rPr>
              <a:t>Shop </a:t>
            </a:r>
            <a:r>
              <a:rPr lang="en-US" sz="1500" noProof="1">
                <a:latin typeface="Arial Narrow" panose="020B0606020202030204" pitchFamily="34" charset="0"/>
              </a:rPr>
              <a:t>Co has the </a:t>
            </a:r>
            <a:r>
              <a:rPr lang="tr-TR" sz="1500" noProof="1">
                <a:latin typeface="Arial Narrow" panose="020B0606020202030204" pitchFamily="34" charset="0"/>
              </a:rPr>
              <a:t>next</a:t>
            </a:r>
            <a:r>
              <a:rPr lang="en-US" sz="1500" noProof="1">
                <a:latin typeface="Arial Narrow" panose="020B0606020202030204" pitchFamily="34" charset="0"/>
              </a:rPr>
              <a:t> Balance Sheet on 31-12-2016. The following is a summary of transactions that occurred</a:t>
            </a:r>
            <a:r>
              <a:rPr lang="tr-TR" sz="1500" noProof="1">
                <a:latin typeface="Arial Narrow" panose="020B0606020202030204" pitchFamily="34" charset="0"/>
              </a:rPr>
              <a:t> </a:t>
            </a:r>
            <a:r>
              <a:rPr lang="en-US" sz="1500" noProof="1">
                <a:latin typeface="Arial Narrow" panose="020B0606020202030204" pitchFamily="34" charset="0"/>
              </a:rPr>
              <a:t>during the year 2017: Prepare 2017 year-end Balance Sheet and 2017 Income Statement of Shop Co.</a:t>
            </a:r>
            <a:endParaRPr lang="tr-TR" sz="1500" noProof="1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sz="1500" noProof="1">
                <a:solidFill>
                  <a:srgbClr val="FF0000"/>
                </a:solidFill>
                <a:latin typeface="Arial Narrow" panose="020B0606020202030204" pitchFamily="34" charset="0"/>
              </a:rPr>
              <a:t>1</a:t>
            </a:r>
            <a:r>
              <a:rPr lang="en-US" sz="1500" noProof="1">
                <a:latin typeface="Arial Narrow" panose="020B0606020202030204" pitchFamily="34" charset="0"/>
              </a:rPr>
              <a:t> - Inventories totalling $550,000 were bought on </a:t>
            </a:r>
            <a:r>
              <a:rPr lang="en-US" sz="1500" noProof="1" smtClean="0">
                <a:latin typeface="Arial Narrow" panose="020B0606020202030204" pitchFamily="34" charset="0"/>
              </a:rPr>
              <a:t>credit.</a:t>
            </a:r>
            <a:endParaRPr lang="tr-TR" sz="1500" noProof="1" smtClean="0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sz="15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2</a:t>
            </a:r>
            <a:r>
              <a:rPr lang="en-US" sz="1500" noProof="1" smtClean="0">
                <a:latin typeface="Arial Narrow" panose="020B0606020202030204" pitchFamily="34" charset="0"/>
              </a:rPr>
              <a:t> </a:t>
            </a:r>
            <a:r>
              <a:rPr lang="en-US" sz="1500" noProof="1">
                <a:latin typeface="Arial Narrow" panose="020B0606020202030204" pitchFamily="34" charset="0"/>
              </a:rPr>
              <a:t>- Sales revenue on credit totalled $700,000 (cost of goods sold was $450,000</a:t>
            </a:r>
            <a:r>
              <a:rPr lang="en-US" sz="1500" noProof="1" smtClean="0">
                <a:latin typeface="Arial Narrow" panose="020B0606020202030204" pitchFamily="34" charset="0"/>
              </a:rPr>
              <a:t>).</a:t>
            </a:r>
            <a:endParaRPr lang="tr-TR" sz="1500" noProof="1" smtClean="0">
              <a:latin typeface="Arial Narrow" panose="020B0606020202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sz="15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3</a:t>
            </a:r>
            <a:r>
              <a:rPr lang="en-US" sz="1500" noProof="1" smtClean="0">
                <a:latin typeface="Arial Narrow" panose="020B0606020202030204" pitchFamily="34" charset="0"/>
              </a:rPr>
              <a:t> </a:t>
            </a:r>
            <a:r>
              <a:rPr lang="en-US" sz="1500" noProof="1">
                <a:latin typeface="Arial Narrow" panose="020B0606020202030204" pitchFamily="34" charset="0"/>
              </a:rPr>
              <a:t>- Receipts from trade receivables totalled $600,000.</a:t>
            </a:r>
            <a:r>
              <a:rPr lang="tr-TR" sz="1500" noProof="1">
                <a:latin typeface="Arial Narrow" panose="020B0606020202030204" pitchFamily="34" charset="0"/>
              </a:rPr>
              <a:t> </a:t>
            </a:r>
            <a:r>
              <a:rPr lang="en-US" sz="1500" noProof="1">
                <a:latin typeface="Arial Narrow" panose="020B0606020202030204" pitchFamily="34" charset="0"/>
              </a:rPr>
              <a:t>At year-end, it was clear that a trade debtor who owed $2,000 would not be able to pay any part of the debt.</a:t>
            </a:r>
            <a:endParaRPr lang="tr-TR" sz="1500" noProof="1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44623"/>
            <a:ext cx="6984776" cy="5841537"/>
          </a:xfrm>
          <a:prstGeom prst="rect">
            <a:avLst/>
          </a:prstGeom>
        </p:spPr>
      </p:pic>
      <p:sp>
        <p:nvSpPr>
          <p:cNvPr id="8" name="Unvan 7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1143000"/>
          </a:xfrm>
        </p:spPr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6034531"/>
            <a:ext cx="8328328" cy="778845"/>
          </a:xfrm>
          <a:prstGeom prst="rect">
            <a:avLst/>
          </a:prstGeom>
        </p:spPr>
      </p:pic>
      <p:sp>
        <p:nvSpPr>
          <p:cNvPr id="11" name="Content Placeholder 4"/>
          <p:cNvSpPr txBox="1">
            <a:spLocks/>
          </p:cNvSpPr>
          <p:nvPr/>
        </p:nvSpPr>
        <p:spPr>
          <a:xfrm>
            <a:off x="107504" y="44624"/>
            <a:ext cx="1944216" cy="720080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tr-TR" sz="20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BS &amp; Income St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tr-TR" sz="20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exercise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500" noProof="1" smtClean="0">
                <a:latin typeface="Arial Narrow" panose="020B0606020202030204" pitchFamily="34" charset="0"/>
              </a:rPr>
              <a:t>.</a:t>
            </a:r>
            <a:endParaRPr lang="tr-TR" sz="15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68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38536" cy="423448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Arçelik A.Ş. 1 </a:t>
            </a:r>
            <a:r>
              <a:rPr lang="tr-TR" sz="2800" dirty="0" err="1" smtClean="0">
                <a:latin typeface="Arial Narrow" pitchFamily="34" charset="0"/>
              </a:rPr>
              <a:t>January</a:t>
            </a:r>
            <a:r>
              <a:rPr lang="tr-TR" sz="2800" dirty="0" smtClean="0">
                <a:latin typeface="Arial Narrow" pitchFamily="34" charset="0"/>
              </a:rPr>
              <a:t/>
            </a:r>
            <a:br>
              <a:rPr lang="tr-TR" sz="2800" dirty="0" smtClean="0"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- 30 </a:t>
            </a:r>
            <a:r>
              <a:rPr lang="tr-TR" sz="2800" dirty="0" err="1" smtClean="0">
                <a:latin typeface="Arial Narrow" pitchFamily="34" charset="0"/>
              </a:rPr>
              <a:t>June</a:t>
            </a:r>
            <a:r>
              <a:rPr lang="tr-TR" sz="2800" dirty="0" smtClean="0">
                <a:latin typeface="Arial Narrow" pitchFamily="34" charset="0"/>
              </a:rPr>
              <a:t> 2019</a:t>
            </a:r>
            <a:br>
              <a:rPr lang="tr-TR" sz="2800" dirty="0" smtClean="0">
                <a:latin typeface="Arial Narrow" pitchFamily="34" charset="0"/>
              </a:rPr>
            </a:b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Income</a:t>
            </a: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Statement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339752" y="1600200"/>
            <a:ext cx="6347048" cy="452596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81" y="237891"/>
            <a:ext cx="6457099" cy="6503478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472339" y="4653136"/>
            <a:ext cx="17233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latin typeface="Arial Narrow" panose="020B0606020202030204" pitchFamily="34" charset="0"/>
              </a:rPr>
              <a:t>http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://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www.arcelikas.com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UserFiles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/file/Arcelik%20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2019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%202%C3%87%20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Finansal%20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Rapor.pdf</a:t>
            </a:r>
            <a:endParaRPr lang="en-US" sz="1600" dirty="0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6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5588" y="274638"/>
            <a:ext cx="7677428" cy="1138138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Income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Akbank T.A.Ş. 1 </a:t>
            </a:r>
            <a:r>
              <a:rPr lang="tr-TR" sz="2800" dirty="0" err="1" smtClean="0">
                <a:latin typeface="Arial Narrow" pitchFamily="34" charset="0"/>
              </a:rPr>
              <a:t>January</a:t>
            </a:r>
            <a:r>
              <a:rPr lang="tr-TR" sz="2800" dirty="0" smtClean="0">
                <a:latin typeface="Arial Narrow" pitchFamily="34" charset="0"/>
              </a:rPr>
              <a:t> - 30 </a:t>
            </a:r>
            <a:r>
              <a:rPr lang="tr-TR" sz="2800" dirty="0" err="1" smtClean="0">
                <a:latin typeface="Arial Narrow" pitchFamily="34" charset="0"/>
              </a:rPr>
              <a:t>June</a:t>
            </a:r>
            <a:r>
              <a:rPr lang="tr-TR" sz="2800" dirty="0" smtClean="0">
                <a:latin typeface="Arial Narrow" pitchFamily="34" charset="0"/>
              </a:rPr>
              <a:t> 2019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339752" y="1600200"/>
            <a:ext cx="6347048" cy="452596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88" y="1447578"/>
            <a:ext cx="7677428" cy="478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9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941476" y="2738784"/>
            <a:ext cx="5256584" cy="2346400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Balance</a:t>
            </a: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Sheet</a:t>
            </a:r>
            <a:endParaRPr lang="tr-TR" sz="2400" dirty="0" smtClean="0">
              <a:solidFill>
                <a:schemeClr val="bg1">
                  <a:lumMod val="65000"/>
                </a:schemeClr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Income</a:t>
            </a:r>
            <a:r>
              <a:rPr lang="tr-TR" sz="2400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 Statement</a:t>
            </a:r>
          </a:p>
          <a:p>
            <a:pPr>
              <a:spcBef>
                <a:spcPts val="0"/>
              </a:spcBef>
            </a:pPr>
            <a:r>
              <a:rPr lang="tr-TR" sz="3600" dirty="0" smtClean="0">
                <a:solidFill>
                  <a:srgbClr val="800000"/>
                </a:solidFill>
                <a:latin typeface="Arial Narrow" pitchFamily="34" charset="0"/>
              </a:rPr>
              <a:t>Cash </a:t>
            </a:r>
            <a:r>
              <a:rPr lang="tr-TR" sz="3600" dirty="0" err="1" smtClean="0">
                <a:solidFill>
                  <a:srgbClr val="800000"/>
                </a:solidFill>
                <a:latin typeface="Arial Narrow" pitchFamily="34" charset="0"/>
              </a:rPr>
              <a:t>Flow</a:t>
            </a:r>
            <a:r>
              <a:rPr lang="tr-TR" sz="3600" dirty="0" smtClean="0">
                <a:solidFill>
                  <a:srgbClr val="800000"/>
                </a:solidFill>
                <a:latin typeface="Arial Narrow" pitchFamily="34" charset="0"/>
              </a:rPr>
              <a:t> Statement</a:t>
            </a:r>
          </a:p>
          <a:p>
            <a:pPr>
              <a:spcBef>
                <a:spcPts val="0"/>
              </a:spcBef>
            </a:pP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22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Major</a:t>
            </a:r>
            <a:r>
              <a:rPr lang="tr-TR" sz="2000" dirty="0">
                <a:latin typeface="Arial Narrow" pitchFamily="34" charset="0"/>
              </a:rPr>
              <a:t> Financial </a:t>
            </a:r>
            <a:r>
              <a:rPr lang="tr-TR" sz="2000" dirty="0" err="1" smtClean="0">
                <a:latin typeface="Arial Narrow" pitchFamily="34" charset="0"/>
              </a:rPr>
              <a:t>Statements</a:t>
            </a:r>
            <a:r>
              <a:rPr lang="tr-TR" sz="2400" dirty="0" smtClean="0">
                <a:latin typeface="Arial Narrow" pitchFamily="34" charset="0"/>
              </a:rPr>
              <a:t/>
            </a:r>
            <a:br>
              <a:rPr lang="tr-TR" sz="2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Cash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Flow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Statement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Income Statement sets out the revenue and expenses,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rather than the cash receipts and cash payments, for the period.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Thus, Income Statement may have little or no relation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the cash generated for the period.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Why is cash so important?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Because, people and organizations will not normally accept other than cash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 settlement of their claims against the business.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When businesses fail, it is their inability to find the cash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pay the amounts owed that really pushes them under.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Analysts tend to watch most carefully when trying to assess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ability of businesses to survive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and/or take advantage of commercial opportunities as they arise.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86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116632"/>
            <a:ext cx="5328592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Balance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Sheet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Cash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and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Cash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Equivalents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3568" y="1340768"/>
            <a:ext cx="5328592" cy="5328592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Cash are banknotes and coins in </a:t>
            </a:r>
            <a:r>
              <a:rPr lang="tr-TR" sz="1800" noProof="1" smtClean="0">
                <a:latin typeface="Arial Narrow" panose="020B0606020202030204" pitchFamily="34" charset="0"/>
              </a:rPr>
              <a:t>hand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</a:t>
            </a:r>
            <a:r>
              <a:rPr lang="tr-TR" sz="1800" noProof="1">
                <a:latin typeface="Arial Narrow" panose="020B0606020202030204" pitchFamily="34" charset="0"/>
              </a:rPr>
              <a:t>deposits in banks and similar institutions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that are accessible to the business on demand.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Cash equivalents are short-term, highly liquid investments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that are readily convertible to known amounts of cash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and which are subject to insignificant risk of changes of value.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Cash equivalents are held </a:t>
            </a:r>
            <a:r>
              <a:rPr lang="tr-TR" sz="1800" noProof="1" smtClean="0">
                <a:latin typeface="Arial Narrow" panose="020B0606020202030204" pitchFamily="34" charset="0"/>
              </a:rPr>
              <a:t>for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</a:t>
            </a:r>
            <a:r>
              <a:rPr lang="tr-TR" sz="1800" noProof="1">
                <a:latin typeface="Arial Narrow" panose="020B0606020202030204" pitchFamily="34" charset="0"/>
              </a:rPr>
              <a:t>purpose </a:t>
            </a:r>
            <a:r>
              <a:rPr lang="tr-TR" sz="1800" noProof="1" smtClean="0">
                <a:latin typeface="Arial Narrow" panose="020B0606020202030204" pitchFamily="34" charset="0"/>
              </a:rPr>
              <a:t>of meeting </a:t>
            </a:r>
            <a:r>
              <a:rPr lang="tr-TR" sz="1800" noProof="1">
                <a:latin typeface="Arial Narrow" panose="020B0606020202030204" pitchFamily="34" charset="0"/>
              </a:rPr>
              <a:t>short-term cash commitments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rather than for investment or other purposes.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332656"/>
            <a:ext cx="1932785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1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5576" y="260648"/>
            <a:ext cx="3432251" cy="970608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1010 -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smtClean="0">
                <a:latin typeface="Arial Narrow" pitchFamily="34" charset="0"/>
              </a:rPr>
              <a:t>Cash </a:t>
            </a:r>
            <a:r>
              <a:rPr lang="tr-TR" sz="2000" dirty="0" err="1" smtClean="0">
                <a:latin typeface="Arial Narrow" pitchFamily="34" charset="0"/>
              </a:rPr>
              <a:t>Flow</a:t>
            </a:r>
            <a:r>
              <a:rPr lang="tr-TR" sz="2000" dirty="0" smtClean="0"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Standard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Layout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365812"/>
            <a:ext cx="3432251" cy="515448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765" y="1124744"/>
            <a:ext cx="4048758" cy="48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5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Cash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Flow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Normal </a:t>
            </a:r>
            <a:r>
              <a:rPr lang="tr-TR" sz="2800" dirty="0" err="1" smtClean="0">
                <a:latin typeface="Arial Narrow" pitchFamily="34" charset="0"/>
              </a:rPr>
              <a:t>Direction</a:t>
            </a:r>
            <a:r>
              <a:rPr lang="tr-TR" sz="2800" dirty="0" smtClean="0">
                <a:latin typeface="Arial Narrow" pitchFamily="34" charset="0"/>
              </a:rPr>
              <a:t> of Cash </a:t>
            </a:r>
            <a:r>
              <a:rPr lang="tr-TR" sz="2800" dirty="0" err="1" smtClean="0">
                <a:latin typeface="Arial Narrow" pitchFamily="34" charset="0"/>
              </a:rPr>
              <a:t>Flows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20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5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Normally ″</a:t>
            </a: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operating</a:t>
            </a:r>
            <a:r>
              <a:rPr lang="tr-TR" sz="1800" noProof="1" smtClean="0">
                <a:latin typeface="Arial Narrow" panose="020B0606020202030204" pitchFamily="34" charset="0"/>
              </a:rPr>
              <a:t> activities″ provide positive cash flows.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Investing</a:t>
            </a:r>
            <a:r>
              <a:rPr lang="tr-TR" sz="1800" noProof="1" smtClean="0">
                <a:latin typeface="Arial Narrow" panose="020B0606020202030204" pitchFamily="34" charset="0"/>
              </a:rPr>
              <a:t> activities typically cause net negative cash flows.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This is because most types of non-current asset wear out,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</a:t>
            </a:r>
            <a:r>
              <a:rPr lang="tr-TR" sz="1800" noProof="1" smtClean="0">
                <a:latin typeface="Arial Narrow" panose="020B0606020202030204" pitchFamily="34" charset="0"/>
              </a:rPr>
              <a:t>nd because businesses tend to seek to expand their asset base.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When a business sells some non-current assets,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this will give rise to positive cash flows,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but in net terms the cash flows are normally negative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with cash spent on new assets outweighing that received from disposal of old ones.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Financing</a:t>
            </a:r>
            <a:r>
              <a:rPr lang="tr-TR" sz="1800" noProof="1" smtClean="0">
                <a:latin typeface="Arial Narrow" panose="020B0606020202030204" pitchFamily="34" charset="0"/>
              </a:rPr>
              <a:t> can go in either direction, depending on the financing strategy at the time.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Since businesses seek to expand, there is a general tendency for this area to lead to cash coming into the business rather than leaving it.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41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2592288" cy="1325562"/>
          </a:xfrm>
          <a:noFill/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</a:t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Cash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Flow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Statement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exercise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5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2" y="1628800"/>
            <a:ext cx="5123437" cy="4237001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13621"/>
            <a:ext cx="3672408" cy="635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9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38536" cy="4234482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Statements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Arçelik A.Ş. 1 </a:t>
            </a:r>
            <a:r>
              <a:rPr lang="tr-TR" sz="2800" dirty="0" err="1" smtClean="0">
                <a:latin typeface="Arial Narrow" pitchFamily="34" charset="0"/>
              </a:rPr>
              <a:t>January</a:t>
            </a:r>
            <a:r>
              <a:rPr lang="tr-TR" sz="2800" dirty="0" smtClean="0">
                <a:latin typeface="Arial Narrow" pitchFamily="34" charset="0"/>
              </a:rPr>
              <a:t/>
            </a:r>
            <a:br>
              <a:rPr lang="tr-TR" sz="2800" dirty="0" smtClean="0"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- 30 </a:t>
            </a:r>
            <a:r>
              <a:rPr lang="tr-TR" sz="2800" dirty="0" err="1" smtClean="0">
                <a:latin typeface="Arial Narrow" pitchFamily="34" charset="0"/>
              </a:rPr>
              <a:t>June</a:t>
            </a:r>
            <a:r>
              <a:rPr lang="tr-TR" sz="2800" dirty="0" smtClean="0">
                <a:latin typeface="Arial Narrow" pitchFamily="34" charset="0"/>
              </a:rPr>
              <a:t> 2019</a:t>
            </a:r>
            <a:br>
              <a:rPr lang="tr-TR" sz="2800" dirty="0" smtClean="0">
                <a:latin typeface="Arial Narrow" pitchFamily="34" charset="0"/>
              </a:rPr>
            </a:b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Cash </a:t>
            </a: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Flow</a:t>
            </a: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Statement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339752" y="1600200"/>
            <a:ext cx="6347048" cy="452596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85" y="188640"/>
            <a:ext cx="5045143" cy="6552728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472339" y="4653136"/>
            <a:ext cx="17233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latin typeface="Arial Narrow" panose="020B0606020202030204" pitchFamily="34" charset="0"/>
              </a:rPr>
              <a:t>http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://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www.arcelikas.com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UserFiles</a:t>
            </a:r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/file/Arcelik%20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2019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%202%C3%87%20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Finansal%20</a:t>
            </a:r>
            <a:endParaRPr lang="tr-TR" sz="16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r>
              <a:rPr lang="en-US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Rapor.pdf</a:t>
            </a:r>
            <a:endParaRPr lang="en-US" sz="1600" dirty="0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26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3882</TotalTime>
  <Words>1804</Words>
  <Application>Microsoft Office PowerPoint</Application>
  <PresentationFormat>Ekran Gösterisi (4:3)</PresentationFormat>
  <Paragraphs>328</Paragraphs>
  <Slides>36</Slides>
  <Notes>36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36</vt:i4>
      </vt:variant>
    </vt:vector>
  </HeadingPairs>
  <TitlesOfParts>
    <vt:vector size="40" baseType="lpstr">
      <vt:lpstr>Arial</vt:lpstr>
      <vt:lpstr>Arial Narrow</vt:lpstr>
      <vt:lpstr>Calibri</vt:lpstr>
      <vt:lpstr>Office Theme</vt:lpstr>
      <vt:lpstr> </vt:lpstr>
      <vt:lpstr>NTE 1010 – Introduction to Finance for Engineers Reports of Financial Accounting</vt:lpstr>
      <vt:lpstr>NTE 1010 – Introduction to Finance for Engineers Relationship among Primary Financial Statements</vt:lpstr>
      <vt:lpstr> </vt:lpstr>
      <vt:lpstr>NTE 1010 – Introduction to Finance for Engineers Major Financial Statements Balance Sheet</vt:lpstr>
      <vt:lpstr>NTE 1010 – Introduction to Finance for Engineers Balance Sheet Basic Structure</vt:lpstr>
      <vt:lpstr>NTE 1010 – Introduction to Finance for Engineers Balance Sheet Assets</vt:lpstr>
      <vt:lpstr>NTE 1010 – Introduction to Finance for Engineers Balance Sheet Assets</vt:lpstr>
      <vt:lpstr>NTE 1010 – Introduction to Finance for Engineers Financial Statements Arçelik A.Ş. 30 June 2019 Assets</vt:lpstr>
      <vt:lpstr>NTE 1010 – Introduction to Finance for Engineers Balance Sheet Liabilities</vt:lpstr>
      <vt:lpstr>NTE 1010 – Introduction to Finance for Engineers Financial Statements Arçelik A.Ş. 30 June 2019 Liabilities</vt:lpstr>
      <vt:lpstr>NTE 1010 – Introduction to Finance for Engineers Balance Sheet Owner’s Equity</vt:lpstr>
      <vt:lpstr>NTE 1010 – Introduction to Finance for Engineers Financial Statements Arçelik A.Ş. 30 June 2019 Owners’ Equity</vt:lpstr>
      <vt:lpstr>NTE 1010 – Introduction to Finance for Engineers Financial Statements – Balance Sheet Akbank T.A.Ş. 30 June 2019</vt:lpstr>
      <vt:lpstr>NTE 1010.1 – Introduction to Finance for Engineers Major Financial Statements Balance Sheet: Asset Valuation</vt:lpstr>
      <vt:lpstr> </vt:lpstr>
      <vt:lpstr>NTE 1010 – Introduction to Finance for Engineers Major Financial Statements Balance Sheet exercise</vt:lpstr>
      <vt:lpstr> </vt:lpstr>
      <vt:lpstr> </vt:lpstr>
      <vt:lpstr>NTE 1010 – Introduction to Finance for Engineers Major Financial Statements Income Statement</vt:lpstr>
      <vt:lpstr>NTE 1010 – Introduction to Finance for Engineers Income Statement Revenue</vt:lpstr>
      <vt:lpstr>NTE 1010 – Introduction to Finance for Engineers Income Statement Cost of Goods Sold</vt:lpstr>
      <vt:lpstr>NTE 1010 – Introduction to Finance for Engineers Income Statement Expenses</vt:lpstr>
      <vt:lpstr>NTE 1010 – Introduction to Finance for Engineers Income Statement Depreciation</vt:lpstr>
      <vt:lpstr>NTE 1010 – Introduction to Finance for Engineers Income Statement Depreciation</vt:lpstr>
      <vt:lpstr>NTE 1010 – Introduction to Finance for Engineers Income Statement ″Bad″ Receivables </vt:lpstr>
      <vt:lpstr> </vt:lpstr>
      <vt:lpstr>NTE 1010 – Introduction to Finance for Engineers Financial Statements Arçelik A.Ş. 1 January - 30 June 2019 Income Statement</vt:lpstr>
      <vt:lpstr>NTE 1010 – Introduction to Finance for Engineers Financial Statements – Income Statement Akbank T.A.Ş. 1 January - 30 June 2019</vt:lpstr>
      <vt:lpstr> </vt:lpstr>
      <vt:lpstr>NTE 1010 – Introduction to Finance for Engineers Major Financial Statements Cash Flow Statement</vt:lpstr>
      <vt:lpstr>NTE 1010 – Introduction to Finance for Engineers Balance Sheet Cash and Cash Equivalents</vt:lpstr>
      <vt:lpstr>NTE 1010 - Introduction to Finance for Engineers Cash Flow Statement Standard Layout</vt:lpstr>
      <vt:lpstr>NTE 1010 – Introduction to Finance for Engineers Cash Flow Statement Normal Direction of Cash Flows</vt:lpstr>
      <vt:lpstr>NTE 1010 Introduction to Finance for Engineers Cash Flow Statement exercise</vt:lpstr>
      <vt:lpstr>NTE 1010 – Introduction to Finance for Engineers Financial Statements Arçelik A.Ş. 1 January - 30 June 2019 Cash Flow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370</cp:revision>
  <cp:lastPrinted>2019-02-08T05:09:00Z</cp:lastPrinted>
  <dcterms:created xsi:type="dcterms:W3CDTF">2015-11-30T12:51:35Z</dcterms:created>
  <dcterms:modified xsi:type="dcterms:W3CDTF">2020-02-13T13:04:29Z</dcterms:modified>
  <dc:description/>
</cp:coreProperties>
</file>