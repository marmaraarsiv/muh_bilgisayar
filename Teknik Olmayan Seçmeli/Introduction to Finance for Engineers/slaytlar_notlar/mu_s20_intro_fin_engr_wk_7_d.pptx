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630" r:id="rId2"/>
    <p:sldId id="631" r:id="rId3"/>
    <p:sldId id="632" r:id="rId4"/>
    <p:sldId id="640" r:id="rId5"/>
    <p:sldId id="641" r:id="rId6"/>
    <p:sldId id="642" r:id="rId7"/>
    <p:sldId id="643" r:id="rId8"/>
    <p:sldId id="644" r:id="rId9"/>
    <p:sldId id="645" r:id="rId10"/>
    <p:sldId id="646" r:id="rId11"/>
    <p:sldId id="647" r:id="rId12"/>
    <p:sldId id="648" r:id="rId13"/>
  </p:sldIdLst>
  <p:sldSz cx="9144000" cy="6858000" type="screen4x3"/>
  <p:notesSz cx="9296400" cy="70104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000066"/>
    <a:srgbClr val="0000FF"/>
    <a:srgbClr val="FF00FF"/>
    <a:srgbClr val="FF6600"/>
    <a:srgbClr val="0000CC"/>
    <a:srgbClr val="FFFFFF"/>
    <a:srgbClr val="3333CC"/>
    <a:srgbClr val="FF9900"/>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2" autoAdjust="0"/>
  </p:normalViewPr>
  <p:slideViewPr>
    <p:cSldViewPr>
      <p:cViewPr varScale="1">
        <p:scale>
          <a:sx n="74" d="100"/>
          <a:sy n="74" d="100"/>
        </p:scale>
        <p:origin x="1084"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689" cy="350520"/>
          </a:xfrm>
          <a:prstGeom prst="rect">
            <a:avLst/>
          </a:prstGeom>
        </p:spPr>
        <p:txBody>
          <a:bodyPr vert="horz" lIns="91111" tIns="45555" rIns="91111" bIns="45555" rtlCol="0"/>
          <a:lstStyle>
            <a:lvl1pPr algn="l">
              <a:defRPr sz="1200"/>
            </a:lvl1pPr>
          </a:lstStyle>
          <a:p>
            <a:endParaRPr lang="tr-TR"/>
          </a:p>
        </p:txBody>
      </p:sp>
      <p:sp>
        <p:nvSpPr>
          <p:cNvPr id="3" name="Date Placeholder 2"/>
          <p:cNvSpPr>
            <a:spLocks noGrp="1"/>
          </p:cNvSpPr>
          <p:nvPr>
            <p:ph type="dt" sz="quarter" idx="1"/>
          </p:nvPr>
        </p:nvSpPr>
        <p:spPr>
          <a:xfrm>
            <a:off x="5266230" y="1"/>
            <a:ext cx="4028687" cy="350520"/>
          </a:xfrm>
          <a:prstGeom prst="rect">
            <a:avLst/>
          </a:prstGeom>
        </p:spPr>
        <p:txBody>
          <a:bodyPr vert="horz" lIns="91111" tIns="45555" rIns="91111" bIns="45555" rtlCol="0"/>
          <a:lstStyle>
            <a:lvl1pPr algn="r">
              <a:defRPr sz="1200"/>
            </a:lvl1pPr>
          </a:lstStyle>
          <a:p>
            <a:fld id="{41DD2113-24C6-4329-AB40-201D9F0A72C4}" type="datetimeFigureOut">
              <a:rPr lang="tr-TR" smtClean="0"/>
              <a:t>4.04.2020</a:t>
            </a:fld>
            <a:endParaRPr lang="tr-TR"/>
          </a:p>
        </p:txBody>
      </p:sp>
      <p:sp>
        <p:nvSpPr>
          <p:cNvPr id="4" name="Footer Placeholder 3"/>
          <p:cNvSpPr>
            <a:spLocks noGrp="1"/>
          </p:cNvSpPr>
          <p:nvPr>
            <p:ph type="ftr" sz="quarter" idx="2"/>
          </p:nvPr>
        </p:nvSpPr>
        <p:spPr>
          <a:xfrm>
            <a:off x="0" y="6658258"/>
            <a:ext cx="4028689" cy="350520"/>
          </a:xfrm>
          <a:prstGeom prst="rect">
            <a:avLst/>
          </a:prstGeom>
        </p:spPr>
        <p:txBody>
          <a:bodyPr vert="horz" lIns="91111" tIns="45555" rIns="91111" bIns="45555" rtlCol="0" anchor="b"/>
          <a:lstStyle>
            <a:lvl1pPr algn="l">
              <a:defRPr sz="1200"/>
            </a:lvl1pPr>
          </a:lstStyle>
          <a:p>
            <a:endParaRPr lang="tr-TR"/>
          </a:p>
        </p:txBody>
      </p:sp>
      <p:sp>
        <p:nvSpPr>
          <p:cNvPr id="5" name="Slide Number Placeholder 4"/>
          <p:cNvSpPr>
            <a:spLocks noGrp="1"/>
          </p:cNvSpPr>
          <p:nvPr>
            <p:ph type="sldNum" sz="quarter" idx="3"/>
          </p:nvPr>
        </p:nvSpPr>
        <p:spPr>
          <a:xfrm>
            <a:off x="5266230" y="6658258"/>
            <a:ext cx="4028687" cy="350520"/>
          </a:xfrm>
          <a:prstGeom prst="rect">
            <a:avLst/>
          </a:prstGeom>
        </p:spPr>
        <p:txBody>
          <a:bodyPr vert="horz" lIns="91111" tIns="45555" rIns="91111" bIns="45555" rtlCol="0" anchor="b"/>
          <a:lstStyle>
            <a:lvl1pPr algn="r">
              <a:defRPr sz="1200"/>
            </a:lvl1pPr>
          </a:lstStyle>
          <a:p>
            <a:fld id="{7F4D469E-94F5-4441-A8A1-33E94B5433C8}" type="slidenum">
              <a:rPr lang="tr-TR" smtClean="0"/>
              <a:t>‹#›</a:t>
            </a:fld>
            <a:endParaRPr lang="tr-TR"/>
          </a:p>
        </p:txBody>
      </p:sp>
    </p:spTree>
    <p:extLst>
      <p:ext uri="{BB962C8B-B14F-4D97-AF65-F5344CB8AC3E}">
        <p14:creationId xmlns:p14="http://schemas.microsoft.com/office/powerpoint/2010/main" val="28919393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
            <a:ext cx="4028442" cy="350520"/>
          </a:xfrm>
          <a:prstGeom prst="rect">
            <a:avLst/>
          </a:prstGeom>
        </p:spPr>
        <p:txBody>
          <a:bodyPr vert="horz" lIns="91111" tIns="45555" rIns="91111" bIns="45555" rtlCol="0"/>
          <a:lstStyle>
            <a:lvl1pPr algn="l">
              <a:defRPr sz="1200"/>
            </a:lvl1pPr>
          </a:lstStyle>
          <a:p>
            <a:endParaRPr lang="tr-TR"/>
          </a:p>
        </p:txBody>
      </p:sp>
      <p:sp>
        <p:nvSpPr>
          <p:cNvPr id="3" name="Date Placeholder 2"/>
          <p:cNvSpPr>
            <a:spLocks noGrp="1"/>
          </p:cNvSpPr>
          <p:nvPr>
            <p:ph type="dt" idx="1"/>
          </p:nvPr>
        </p:nvSpPr>
        <p:spPr>
          <a:xfrm>
            <a:off x="5265810" y="1"/>
            <a:ext cx="4028442" cy="350520"/>
          </a:xfrm>
          <a:prstGeom prst="rect">
            <a:avLst/>
          </a:prstGeom>
        </p:spPr>
        <p:txBody>
          <a:bodyPr vert="horz" lIns="91111" tIns="45555" rIns="91111" bIns="45555" rtlCol="0"/>
          <a:lstStyle>
            <a:lvl1pPr algn="r">
              <a:defRPr sz="1200"/>
            </a:lvl1pPr>
          </a:lstStyle>
          <a:p>
            <a:fld id="{D48C765E-539C-483F-BCDF-F0F0AD79452C}" type="datetimeFigureOut">
              <a:rPr lang="tr-TR" smtClean="0"/>
              <a:pPr/>
              <a:t>4.04.2020</a:t>
            </a:fld>
            <a:endParaRPr lang="tr-TR"/>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1111" tIns="45555" rIns="91111" bIns="45555" rtlCol="0" anchor="ctr"/>
          <a:lstStyle/>
          <a:p>
            <a:endParaRPr lang="tr-TR"/>
          </a:p>
        </p:txBody>
      </p:sp>
      <p:sp>
        <p:nvSpPr>
          <p:cNvPr id="5" name="Notes Placeholder 4"/>
          <p:cNvSpPr>
            <a:spLocks noGrp="1"/>
          </p:cNvSpPr>
          <p:nvPr>
            <p:ph type="body" sz="quarter" idx="3"/>
          </p:nvPr>
        </p:nvSpPr>
        <p:spPr>
          <a:xfrm>
            <a:off x="929640" y="3329943"/>
            <a:ext cx="7437120" cy="3154681"/>
          </a:xfrm>
          <a:prstGeom prst="rect">
            <a:avLst/>
          </a:prstGeom>
        </p:spPr>
        <p:txBody>
          <a:bodyPr vert="horz" lIns="91111" tIns="45555" rIns="91111" bIns="4555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3" y="6658665"/>
            <a:ext cx="4028442" cy="350520"/>
          </a:xfrm>
          <a:prstGeom prst="rect">
            <a:avLst/>
          </a:prstGeom>
        </p:spPr>
        <p:txBody>
          <a:bodyPr vert="horz" lIns="91111" tIns="45555" rIns="91111" bIns="45555" rtlCol="0" anchor="b"/>
          <a:lstStyle>
            <a:lvl1pPr algn="l">
              <a:defRPr sz="1200"/>
            </a:lvl1pPr>
          </a:lstStyle>
          <a:p>
            <a:endParaRPr lang="tr-TR"/>
          </a:p>
        </p:txBody>
      </p:sp>
      <p:sp>
        <p:nvSpPr>
          <p:cNvPr id="7" name="Slide Number Placeholder 6"/>
          <p:cNvSpPr>
            <a:spLocks noGrp="1"/>
          </p:cNvSpPr>
          <p:nvPr>
            <p:ph type="sldNum" sz="quarter" idx="5"/>
          </p:nvPr>
        </p:nvSpPr>
        <p:spPr>
          <a:xfrm>
            <a:off x="5265810" y="6658665"/>
            <a:ext cx="4028442" cy="350520"/>
          </a:xfrm>
          <a:prstGeom prst="rect">
            <a:avLst/>
          </a:prstGeom>
        </p:spPr>
        <p:txBody>
          <a:bodyPr vert="horz" lIns="91111" tIns="45555" rIns="91111" bIns="45555" rtlCol="0" anchor="b"/>
          <a:lstStyle>
            <a:lvl1pPr algn="r">
              <a:defRPr sz="1200"/>
            </a:lvl1pPr>
          </a:lstStyle>
          <a:p>
            <a:fld id="{AE8B6D33-EF40-4511-BB6D-F4559DCC6EDC}" type="slidenum">
              <a:rPr lang="tr-TR" smtClean="0"/>
              <a:pPr/>
              <a:t>‹#›</a:t>
            </a:fld>
            <a:endParaRPr lang="tr-TR"/>
          </a:p>
        </p:txBody>
      </p:sp>
    </p:spTree>
    <p:extLst>
      <p:ext uri="{BB962C8B-B14F-4D97-AF65-F5344CB8AC3E}">
        <p14:creationId xmlns:p14="http://schemas.microsoft.com/office/powerpoint/2010/main" val="385840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a:p>
        </p:txBody>
      </p:sp>
      <p:sp>
        <p:nvSpPr>
          <p:cNvPr id="4" name="Slayt Numarası Yer Tutucusu 3"/>
          <p:cNvSpPr>
            <a:spLocks noGrp="1"/>
          </p:cNvSpPr>
          <p:nvPr>
            <p:ph type="sldNum" sz="quarter" idx="10"/>
          </p:nvPr>
        </p:nvSpPr>
        <p:spPr/>
        <p:txBody>
          <a:bodyPr/>
          <a:lstStyle/>
          <a:p>
            <a:fld id="{AE8B6D33-EF40-4511-BB6D-F4559DCC6EDC}" type="slidenum">
              <a:rPr lang="tr-TR" smtClean="0"/>
              <a:pPr/>
              <a:t>1</a:t>
            </a:fld>
            <a:endParaRPr lang="tr-TR"/>
          </a:p>
        </p:txBody>
      </p:sp>
    </p:spTree>
    <p:extLst>
      <p:ext uri="{BB962C8B-B14F-4D97-AF65-F5344CB8AC3E}">
        <p14:creationId xmlns:p14="http://schemas.microsoft.com/office/powerpoint/2010/main" val="4040027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225603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914205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840015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382374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191247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502252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237721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661977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4153262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630047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788548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tr-TR"/>
          </a:p>
        </p:txBody>
      </p:sp>
      <p:sp>
        <p:nvSpPr>
          <p:cNvPr id="4" name="Date Placeholder 3"/>
          <p:cNvSpPr>
            <a:spLocks noGrp="1"/>
          </p:cNvSpPr>
          <p:nvPr>
            <p:ph type="dt" sz="half" idx="10"/>
          </p:nvPr>
        </p:nvSpPr>
        <p:spPr/>
        <p:txBody>
          <a:bodyPr/>
          <a:lstStyle/>
          <a:p>
            <a:fld id="{FDDAEEC2-418A-4AE9-8D76-1350AC2C960C}" type="datetime1">
              <a:rPr lang="tr-TR" smtClean="0"/>
              <a:pPr/>
              <a:t>4.04.2020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2D8B617E-CC2C-45DD-8B2D-8AE4EA5FC5F8}" type="datetime1">
              <a:rPr lang="tr-TR" smtClean="0"/>
              <a:pPr/>
              <a:t>4.04.2020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09D0F5-A4BC-46CD-8841-C457452FFEDC}" type="datetime1">
              <a:rPr lang="tr-TR" smtClean="0"/>
              <a:pPr/>
              <a:t>4.04.2020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p:txBody>
          <a:bodyPr/>
          <a:lstStyle/>
          <a:p>
            <a:fld id="{4FA334DA-5AD4-4FA3-AFE8-2A8C67D70199}" type="datetime1">
              <a:rPr lang="tr-TR" smtClean="0"/>
              <a:pPr/>
              <a:t>4.04.2020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p:cNvSpPr>
            <a:spLocks noGrp="1"/>
          </p:cNvSpPr>
          <p:nvPr>
            <p:ph type="dt" sz="half" idx="10"/>
          </p:nvPr>
        </p:nvSpPr>
        <p:spPr/>
        <p:txBody>
          <a:bodyPr/>
          <a:lstStyle/>
          <a:p>
            <a:fld id="{3C28F8EC-0934-411F-B635-3062B68C4A87}" type="datetime1">
              <a:rPr lang="tr-TR" smtClean="0"/>
              <a:pPr/>
              <a:t>4.04.2020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Date Placeholder 2"/>
          <p:cNvSpPr>
            <a:spLocks noGrp="1"/>
          </p:cNvSpPr>
          <p:nvPr>
            <p:ph type="dt" sz="half" idx="10"/>
          </p:nvPr>
        </p:nvSpPr>
        <p:spPr/>
        <p:txBody>
          <a:bodyPr/>
          <a:lstStyle/>
          <a:p>
            <a:fld id="{865BC700-BE93-49BC-965A-FE7AF14E8E5E}" type="datetime1">
              <a:rPr lang="tr-TR" smtClean="0"/>
              <a:pPr/>
              <a:t>4.04.2020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9B533D-1371-4A64-9DA7-B94E9E82C698}" type="datetime1">
              <a:rPr lang="tr-TR" smtClean="0"/>
              <a:pPr/>
              <a:t>4.04.2020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524A5A-A249-4E71-9C80-CB1606C64E4A}" type="datetime1">
              <a:rPr lang="tr-TR" smtClean="0"/>
              <a:pPr/>
              <a:t>4.04.2020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BAA4DE-DE11-46F8-8818-543B671E4FAF}" type="datetime1">
              <a:rPr lang="tr-TR" smtClean="0"/>
              <a:pPr/>
              <a:t>4.04.2020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9D0022AE-E832-4A8B-9536-4372F3E1F6C7}" type="datetime1">
              <a:rPr lang="tr-TR" smtClean="0"/>
              <a:pPr/>
              <a:t>4.04.2020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532FB04C-27DE-4D51-8F84-8865E814DCCD}" type="datetime1">
              <a:rPr lang="tr-TR" smtClean="0"/>
              <a:pPr/>
              <a:t>4.04.2020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B7707C-6B9A-4E38-AEE2-597F60E606B3}" type="datetime1">
              <a:rPr lang="tr-TR" smtClean="0"/>
              <a:pPr/>
              <a:t>4.04.2020</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C0ACAC-419D-446D-993D-E467CC79BCB5}"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3568" y="1268760"/>
            <a:ext cx="7772400" cy="1470025"/>
          </a:xfrm>
        </p:spPr>
        <p:txBody>
          <a:bodyPr>
            <a:normAutofit/>
          </a:bodyPr>
          <a:lstStyle/>
          <a:p>
            <a:pPr>
              <a:spcBef>
                <a:spcPts val="600"/>
              </a:spcBef>
              <a:spcAft>
                <a:spcPts val="600"/>
              </a:spcAft>
            </a:pPr>
            <a:r>
              <a:rPr lang="tr-TR" sz="1200" smtClean="0"/>
              <a:t> </a:t>
            </a:r>
            <a:endParaRPr lang="tr-TR" sz="1200"/>
          </a:p>
        </p:txBody>
      </p:sp>
      <p:sp>
        <p:nvSpPr>
          <p:cNvPr id="6" name="Subtitle 5"/>
          <p:cNvSpPr>
            <a:spLocks noGrp="1"/>
          </p:cNvSpPr>
          <p:nvPr>
            <p:ph type="subTitle" idx="1"/>
          </p:nvPr>
        </p:nvSpPr>
        <p:spPr>
          <a:xfrm>
            <a:off x="717340" y="1772816"/>
            <a:ext cx="7704856" cy="2952328"/>
          </a:xfrm>
          <a:ln w="25400">
            <a:noFill/>
          </a:ln>
        </p:spPr>
        <p:txBody>
          <a:bodyPr>
            <a:noAutofit/>
          </a:bodyPr>
          <a:lstStyle/>
          <a:p>
            <a:pPr>
              <a:spcBef>
                <a:spcPts val="0"/>
              </a:spcBef>
            </a:pPr>
            <a:endParaRPr lang="tr-TR" sz="800" dirty="0" smtClean="0">
              <a:solidFill>
                <a:srgbClr val="800000"/>
              </a:solidFill>
              <a:latin typeface="Arial Narrow" pitchFamily="34" charset="0"/>
            </a:endParaRPr>
          </a:p>
          <a:p>
            <a:pPr>
              <a:spcBef>
                <a:spcPts val="0"/>
              </a:spcBef>
            </a:pPr>
            <a:r>
              <a:rPr lang="tr-TR" sz="2400" dirty="0" err="1" smtClean="0">
                <a:solidFill>
                  <a:srgbClr val="800000"/>
                </a:solidFill>
                <a:latin typeface="Arial Narrow" pitchFamily="34" charset="0"/>
              </a:rPr>
              <a:t>NTE</a:t>
            </a:r>
            <a:r>
              <a:rPr lang="tr-TR" sz="2400" dirty="0" smtClean="0">
                <a:solidFill>
                  <a:srgbClr val="800000"/>
                </a:solidFill>
                <a:latin typeface="Arial Narrow" pitchFamily="34" charset="0"/>
              </a:rPr>
              <a:t> 1010</a:t>
            </a:r>
          </a:p>
          <a:p>
            <a:pPr>
              <a:spcBef>
                <a:spcPts val="0"/>
              </a:spcBef>
            </a:pPr>
            <a:r>
              <a:rPr lang="tr-TR" sz="2400" dirty="0" err="1" smtClean="0">
                <a:solidFill>
                  <a:srgbClr val="800000"/>
                </a:solidFill>
                <a:latin typeface="Arial Narrow" pitchFamily="34" charset="0"/>
              </a:rPr>
              <a:t>Introduction</a:t>
            </a:r>
            <a:r>
              <a:rPr lang="tr-TR" sz="2400" dirty="0" smtClean="0">
                <a:solidFill>
                  <a:srgbClr val="800000"/>
                </a:solidFill>
                <a:latin typeface="Arial Narrow" pitchFamily="34" charset="0"/>
              </a:rPr>
              <a:t> </a:t>
            </a:r>
            <a:r>
              <a:rPr lang="tr-TR" sz="2400" dirty="0" err="1">
                <a:solidFill>
                  <a:srgbClr val="800000"/>
                </a:solidFill>
                <a:latin typeface="Arial Narrow" pitchFamily="34" charset="0"/>
              </a:rPr>
              <a:t>to</a:t>
            </a:r>
            <a:r>
              <a:rPr lang="tr-TR" sz="2400" dirty="0">
                <a:solidFill>
                  <a:srgbClr val="800000"/>
                </a:solidFill>
                <a:latin typeface="Arial Narrow" pitchFamily="34" charset="0"/>
              </a:rPr>
              <a:t> Finance </a:t>
            </a:r>
            <a:r>
              <a:rPr lang="tr-TR" sz="2400" dirty="0" err="1">
                <a:solidFill>
                  <a:srgbClr val="800000"/>
                </a:solidFill>
                <a:latin typeface="Arial Narrow" pitchFamily="34" charset="0"/>
              </a:rPr>
              <a:t>for</a:t>
            </a:r>
            <a:r>
              <a:rPr lang="tr-TR" sz="2400" dirty="0">
                <a:solidFill>
                  <a:srgbClr val="800000"/>
                </a:solidFill>
                <a:latin typeface="Arial Narrow" pitchFamily="34" charset="0"/>
              </a:rPr>
              <a:t> </a:t>
            </a:r>
            <a:r>
              <a:rPr lang="tr-TR" sz="2400" dirty="0" err="1" smtClean="0">
                <a:solidFill>
                  <a:srgbClr val="800000"/>
                </a:solidFill>
                <a:latin typeface="Arial Narrow" pitchFamily="34" charset="0"/>
              </a:rPr>
              <a:t>Engineers</a:t>
            </a:r>
            <a:endParaRPr lang="tr-TR" sz="1200" dirty="0" smtClean="0">
              <a:solidFill>
                <a:srgbClr val="800000"/>
              </a:solidFill>
              <a:latin typeface="Arial Narrow" pitchFamily="34" charset="0"/>
            </a:endParaRPr>
          </a:p>
          <a:p>
            <a:pPr>
              <a:spcBef>
                <a:spcPts val="0"/>
              </a:spcBef>
            </a:pPr>
            <a:endParaRPr lang="tr-TR" sz="1600" dirty="0">
              <a:solidFill>
                <a:srgbClr val="800000"/>
              </a:solidFill>
              <a:latin typeface="Arial Narrow" pitchFamily="34" charset="0"/>
            </a:endParaRPr>
          </a:p>
          <a:p>
            <a:pPr>
              <a:spcBef>
                <a:spcPts val="0"/>
              </a:spcBef>
            </a:pPr>
            <a:r>
              <a:rPr lang="tr-TR" dirty="0" err="1" smtClean="0">
                <a:solidFill>
                  <a:schemeClr val="tx1"/>
                </a:solidFill>
                <a:latin typeface="Arial Narrow" pitchFamily="34" charset="0"/>
              </a:rPr>
              <a:t>week</a:t>
            </a:r>
            <a:r>
              <a:rPr lang="tr-TR" dirty="0" smtClean="0">
                <a:solidFill>
                  <a:schemeClr val="tx1"/>
                </a:solidFill>
                <a:latin typeface="Arial Narrow" pitchFamily="34" charset="0"/>
              </a:rPr>
              <a:t> 7</a:t>
            </a:r>
            <a:endParaRPr lang="tr-TR" sz="800" dirty="0" smtClean="0">
              <a:solidFill>
                <a:schemeClr val="tx1"/>
              </a:solidFill>
              <a:latin typeface="Arial Narrow" pitchFamily="34" charset="0"/>
            </a:endParaRPr>
          </a:p>
          <a:p>
            <a:pPr>
              <a:spcBef>
                <a:spcPts val="0"/>
              </a:spcBef>
            </a:pPr>
            <a:r>
              <a:rPr lang="tr-TR" dirty="0" err="1" smtClean="0">
                <a:solidFill>
                  <a:schemeClr val="tx1"/>
                </a:solidFill>
                <a:latin typeface="Arial Narrow" pitchFamily="34" charset="0"/>
              </a:rPr>
              <a:t>Stock</a:t>
            </a:r>
            <a:r>
              <a:rPr lang="tr-TR" dirty="0" smtClean="0">
                <a:solidFill>
                  <a:schemeClr val="tx1"/>
                </a:solidFill>
                <a:latin typeface="Arial Narrow" pitchFamily="34" charset="0"/>
              </a:rPr>
              <a:t> </a:t>
            </a:r>
            <a:r>
              <a:rPr lang="tr-TR" dirty="0" err="1" smtClean="0">
                <a:solidFill>
                  <a:schemeClr val="tx1"/>
                </a:solidFill>
                <a:latin typeface="Arial Narrow" pitchFamily="34" charset="0"/>
              </a:rPr>
              <a:t>Markets</a:t>
            </a:r>
            <a:endParaRPr lang="tr-TR" dirty="0" smtClean="0">
              <a:solidFill>
                <a:schemeClr val="tx1"/>
              </a:solidFill>
              <a:latin typeface="Arial Narrow" pitchFamily="34" charset="0"/>
            </a:endParaRPr>
          </a:p>
        </p:txBody>
      </p:sp>
    </p:spTree>
    <p:extLst>
      <p:ext uri="{BB962C8B-B14F-4D97-AF65-F5344CB8AC3E}">
        <p14:creationId xmlns:p14="http://schemas.microsoft.com/office/powerpoint/2010/main" val="35375420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752"/>
            <a:ext cx="8229600" cy="782960"/>
          </a:xfrm>
          <a:ln w="25400">
            <a:noFill/>
          </a:ln>
        </p:spPr>
        <p:txBody>
          <a:bodyPr>
            <a:noAutofit/>
          </a:bodyPr>
          <a:lstStyle/>
          <a:p>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in </a:t>
            </a:r>
            <a:r>
              <a:rPr lang="tr-TR" sz="2400" dirty="0" err="1" smtClean="0">
                <a:solidFill>
                  <a:srgbClr val="800000"/>
                </a:solidFill>
                <a:latin typeface="Arial Narrow" pitchFamily="34" charset="0"/>
              </a:rPr>
              <a:t>the</a:t>
            </a:r>
            <a:r>
              <a:rPr lang="tr-TR" sz="2400" dirty="0" smtClean="0">
                <a:solidFill>
                  <a:srgbClr val="800000"/>
                </a:solidFill>
                <a:latin typeface="Arial Narrow" pitchFamily="34" charset="0"/>
              </a:rPr>
              <a:t> World</a:t>
            </a:r>
            <a:endParaRPr lang="tr-TR" sz="2800" dirty="0">
              <a:latin typeface="Arial Narrow" pitchFamily="34" charset="0"/>
            </a:endParaRPr>
          </a:p>
        </p:txBody>
      </p:sp>
      <p:sp>
        <p:nvSpPr>
          <p:cNvPr id="5" name="Content Placeholder 4"/>
          <p:cNvSpPr>
            <a:spLocks noGrp="1"/>
          </p:cNvSpPr>
          <p:nvPr>
            <p:ph idx="1"/>
          </p:nvPr>
        </p:nvSpPr>
        <p:spPr>
          <a:xfrm>
            <a:off x="457200" y="836712"/>
            <a:ext cx="8229600" cy="5760640"/>
          </a:xfrm>
          <a:ln w="25400">
            <a:noFill/>
          </a:ln>
        </p:spPr>
        <p:txBody>
          <a:bodyPr>
            <a:noAutofit/>
          </a:bodyPr>
          <a:lstStyle/>
          <a:p>
            <a:pPr marL="0" indent="0" fontAlgn="base">
              <a:spcBef>
                <a:spcPts val="0"/>
              </a:spcBef>
              <a:buNone/>
            </a:pPr>
            <a:r>
              <a:rPr lang="en-US" sz="1500" dirty="0">
                <a:solidFill>
                  <a:srgbClr val="800000"/>
                </a:solidFill>
                <a:latin typeface="Arial Narrow" panose="020B0606020202030204" pitchFamily="34" charset="0"/>
              </a:rPr>
              <a:t>1- New York Stock Exchange, United States: </a:t>
            </a:r>
            <a:r>
              <a:rPr lang="en-US" sz="1500" dirty="0">
                <a:latin typeface="Arial Narrow" panose="020B0606020202030204" pitchFamily="34" charset="0"/>
              </a:rPr>
              <a:t>Founded in 1792, the New York Stock Exchange has been the world’s largest stock exchange since the end of World War I, when it overtook the London Stock Exchange. It has a market capitalization of $22.9 trillion and about 2,400 listed companies. </a:t>
            </a:r>
          </a:p>
          <a:p>
            <a:pPr marL="0" indent="0" fontAlgn="base">
              <a:spcBef>
                <a:spcPts val="0"/>
              </a:spcBef>
              <a:buNone/>
            </a:pPr>
            <a:r>
              <a:rPr lang="en-US" sz="1500" dirty="0">
                <a:solidFill>
                  <a:srgbClr val="800000"/>
                </a:solidFill>
                <a:latin typeface="Arial Narrow" panose="020B0606020202030204" pitchFamily="34" charset="0"/>
              </a:rPr>
              <a:t>2- NASDAQ, United States: </a:t>
            </a:r>
            <a:r>
              <a:rPr lang="en-US" sz="1500" dirty="0">
                <a:latin typeface="Arial Narrow" panose="020B0606020202030204" pitchFamily="34" charset="0"/>
              </a:rPr>
              <a:t>The NASDAQ Stock Market was founded in 1971 in New York City. NASDAQ had a market capitalization of $10.8 trillion with an average monthly trading volume of $1.26 trillion.</a:t>
            </a:r>
          </a:p>
          <a:p>
            <a:pPr marL="0" indent="0" fontAlgn="base">
              <a:spcBef>
                <a:spcPts val="0"/>
              </a:spcBef>
              <a:buNone/>
            </a:pPr>
            <a:r>
              <a:rPr lang="en-US" sz="1500" dirty="0">
                <a:solidFill>
                  <a:srgbClr val="800000"/>
                </a:solidFill>
                <a:latin typeface="Arial Narrow" panose="020B0606020202030204" pitchFamily="34" charset="0"/>
              </a:rPr>
              <a:t>3- Tokyo Stock Exchange, Japan: </a:t>
            </a:r>
            <a:r>
              <a:rPr lang="en-US" sz="1500" dirty="0">
                <a:latin typeface="Arial Narrow" panose="020B0606020202030204" pitchFamily="34" charset="0"/>
              </a:rPr>
              <a:t>Founded in 1878, the Tokyo Stock Exchange has close to 2,300 listed companies with a combined market capitalization of $5.67 trillion. </a:t>
            </a:r>
          </a:p>
          <a:p>
            <a:pPr marL="0" indent="0" fontAlgn="base">
              <a:spcBef>
                <a:spcPts val="0"/>
              </a:spcBef>
              <a:buNone/>
            </a:pPr>
            <a:r>
              <a:rPr lang="en-US" sz="1500" dirty="0">
                <a:solidFill>
                  <a:srgbClr val="800000"/>
                </a:solidFill>
                <a:latin typeface="Arial Narrow" panose="020B0606020202030204" pitchFamily="34" charset="0"/>
              </a:rPr>
              <a:t>4- Shanghai Stock Exchange, China: </a:t>
            </a:r>
            <a:r>
              <a:rPr lang="en-US" sz="1500" dirty="0">
                <a:latin typeface="Arial Narrow" panose="020B0606020202030204" pitchFamily="34" charset="0"/>
              </a:rPr>
              <a:t>It has a market capitalization of $4.02 trillion. It has more than 1,000 listed companies. Though its origins date back to 1866, it was suspended following the Chinese Revolution in 1949. The Shanghai Exchange in its modern avatar was founded in 1990. </a:t>
            </a:r>
          </a:p>
          <a:p>
            <a:pPr marL="0" indent="0" fontAlgn="base">
              <a:spcBef>
                <a:spcPts val="0"/>
              </a:spcBef>
              <a:buNone/>
            </a:pPr>
            <a:r>
              <a:rPr lang="en-US" sz="1500" dirty="0">
                <a:solidFill>
                  <a:srgbClr val="800000"/>
                </a:solidFill>
                <a:latin typeface="Arial Narrow" panose="020B0606020202030204" pitchFamily="34" charset="0"/>
              </a:rPr>
              <a:t>5- Hong Kong Stock Exchange, Hong Kong: </a:t>
            </a:r>
            <a:r>
              <a:rPr lang="en-US" sz="1500" dirty="0">
                <a:latin typeface="Arial Narrow" panose="020B0606020202030204" pitchFamily="34" charset="0"/>
              </a:rPr>
              <a:t>The Hong Kong Stock Exchange was founded in 1891. It has close to 2,000 listed companies, about half of which are from mainland China. It has a market capitalization of $3.93 trillion. </a:t>
            </a:r>
          </a:p>
          <a:p>
            <a:pPr marL="0" indent="0" fontAlgn="base">
              <a:spcBef>
                <a:spcPts val="0"/>
              </a:spcBef>
              <a:buNone/>
            </a:pPr>
            <a:r>
              <a:rPr lang="en-US" sz="1500" dirty="0">
                <a:solidFill>
                  <a:srgbClr val="800000"/>
                </a:solidFill>
                <a:latin typeface="Arial Narrow" panose="020B0606020202030204" pitchFamily="34" charset="0"/>
              </a:rPr>
              <a:t>6- Euronext, Eurozone: </a:t>
            </a:r>
            <a:r>
              <a:rPr lang="en-US" sz="1500" dirty="0">
                <a:latin typeface="Arial Narrow" panose="020B0606020202030204" pitchFamily="34" charset="0"/>
              </a:rPr>
              <a:t>Headquartered in Amsterdam, the Netherlands, Euronext is a pan-European stock exchange with a presence in France, Belgium, Ireland, and Portugal. It has approximately 1,300 listed companies with a combined market capitalization of $3.92 trillion. </a:t>
            </a:r>
          </a:p>
          <a:p>
            <a:pPr marL="0" indent="0" fontAlgn="base">
              <a:spcBef>
                <a:spcPts val="0"/>
              </a:spcBef>
              <a:buNone/>
            </a:pPr>
            <a:r>
              <a:rPr lang="en-US" sz="1500" dirty="0">
                <a:solidFill>
                  <a:srgbClr val="800000"/>
                </a:solidFill>
                <a:latin typeface="Arial Narrow" panose="020B0606020202030204" pitchFamily="34" charset="0"/>
              </a:rPr>
              <a:t>7- London Stock Exchange, United Kingdom: </a:t>
            </a:r>
            <a:r>
              <a:rPr lang="en-US" sz="1500" dirty="0">
                <a:latin typeface="Arial Narrow" panose="020B0606020202030204" pitchFamily="34" charset="0"/>
              </a:rPr>
              <a:t>The London Stock Exchange was founded in 1698. It has more than 3,000 listed companies with a combined market capitalization of $3.76 trillion. </a:t>
            </a:r>
          </a:p>
          <a:p>
            <a:pPr marL="0" indent="0" fontAlgn="base">
              <a:spcBef>
                <a:spcPts val="0"/>
              </a:spcBef>
              <a:buNone/>
            </a:pPr>
            <a:r>
              <a:rPr lang="en-US" sz="1500" dirty="0">
                <a:solidFill>
                  <a:srgbClr val="800000"/>
                </a:solidFill>
                <a:latin typeface="Arial Narrow" panose="020B0606020202030204" pitchFamily="34" charset="0"/>
              </a:rPr>
              <a:t>8- Shenzhen Stock Exchange, China: </a:t>
            </a:r>
            <a:r>
              <a:rPr lang="en-US" sz="1500" dirty="0">
                <a:latin typeface="Arial Narrow" panose="020B0606020202030204" pitchFamily="34" charset="0"/>
              </a:rPr>
              <a:t>Formally established in 1990, the Shenzhen Stock Exchange has a market capitalization of $2.5 trillion as of November 2018. </a:t>
            </a:r>
          </a:p>
          <a:p>
            <a:pPr marL="0" indent="0" fontAlgn="base">
              <a:spcBef>
                <a:spcPts val="0"/>
              </a:spcBef>
              <a:buNone/>
            </a:pPr>
            <a:r>
              <a:rPr lang="en-US" sz="1500" dirty="0">
                <a:solidFill>
                  <a:srgbClr val="800000"/>
                </a:solidFill>
                <a:latin typeface="Arial Narrow" panose="020B0606020202030204" pitchFamily="34" charset="0"/>
              </a:rPr>
              <a:t>9- Toronto Stock Exchange, Canada: </a:t>
            </a:r>
            <a:r>
              <a:rPr lang="en-US" sz="1500" dirty="0">
                <a:latin typeface="Arial Narrow" panose="020B0606020202030204" pitchFamily="34" charset="0"/>
              </a:rPr>
              <a:t>Toronto Stock Exchange (TSX) has 2,207 listed companies with a combined market capitalization of $2.1 trillion.</a:t>
            </a:r>
          </a:p>
          <a:p>
            <a:pPr marL="0" indent="0" fontAlgn="base">
              <a:spcBef>
                <a:spcPts val="0"/>
              </a:spcBef>
              <a:buNone/>
            </a:pPr>
            <a:r>
              <a:rPr lang="en-US" sz="1500" dirty="0">
                <a:solidFill>
                  <a:srgbClr val="800000"/>
                </a:solidFill>
                <a:latin typeface="Arial Narrow" panose="020B0606020202030204" pitchFamily="34" charset="0"/>
              </a:rPr>
              <a:t>10- Bombay Stock Exchange, India: </a:t>
            </a:r>
            <a:r>
              <a:rPr lang="en-US" sz="1500" dirty="0">
                <a:latin typeface="Arial Narrow" panose="020B0606020202030204" pitchFamily="34" charset="0"/>
              </a:rPr>
              <a:t>Founded in 1875, the Bombay Stock Exchange was the first stock exchange in Asia. As of November 2018, it had a market capitalization of $2.05 trillion. BSE has 5,749 listed companies</a:t>
            </a:r>
            <a:r>
              <a:rPr lang="en-US" sz="1500" dirty="0" smtClean="0">
                <a:latin typeface="Arial Narrow" panose="020B0606020202030204" pitchFamily="34" charset="0"/>
              </a:rPr>
              <a:t>.</a:t>
            </a:r>
            <a:endParaRPr lang="en-US" sz="1500" dirty="0">
              <a:latin typeface="Arial Narrow" panose="020B0606020202030204" pitchFamily="34" charset="0"/>
            </a:endParaRPr>
          </a:p>
          <a:p>
            <a:pPr marL="0" indent="0" fontAlgn="base">
              <a:spcBef>
                <a:spcPts val="0"/>
              </a:spcBef>
              <a:buNone/>
            </a:pPr>
            <a:endParaRPr lang="tr-TR" sz="800" dirty="0" smtClean="0">
              <a:solidFill>
                <a:srgbClr val="800000"/>
              </a:solidFill>
              <a:latin typeface="Arial Narrow" panose="020B0606020202030204" pitchFamily="34" charset="0"/>
            </a:endParaRPr>
          </a:p>
          <a:p>
            <a:pPr marL="0" indent="0" fontAlgn="base">
              <a:spcBef>
                <a:spcPts val="0"/>
              </a:spcBef>
              <a:buNone/>
            </a:pPr>
            <a:r>
              <a:rPr lang="en-US" sz="1500" dirty="0" smtClean="0">
                <a:solidFill>
                  <a:srgbClr val="800000"/>
                </a:solidFill>
                <a:latin typeface="Arial Narrow" panose="020B0606020202030204" pitchFamily="34" charset="0"/>
              </a:rPr>
              <a:t>Istanbul</a:t>
            </a:r>
            <a:r>
              <a:rPr lang="en-US" sz="1500" dirty="0">
                <a:solidFill>
                  <a:srgbClr val="800000"/>
                </a:solidFill>
                <a:latin typeface="Arial Narrow" panose="020B0606020202030204" pitchFamily="34" charset="0"/>
              </a:rPr>
              <a:t> Stock Exchange </a:t>
            </a:r>
            <a:r>
              <a:rPr lang="en-US" sz="1500" dirty="0">
                <a:latin typeface="Arial Narrow" panose="020B0606020202030204" pitchFamily="34" charset="0"/>
              </a:rPr>
              <a:t>as a Market Capitalization of $163.58 Billion.</a:t>
            </a:r>
          </a:p>
        </p:txBody>
      </p:sp>
    </p:spTree>
    <p:extLst>
      <p:ext uri="{BB962C8B-B14F-4D97-AF65-F5344CB8AC3E}">
        <p14:creationId xmlns:p14="http://schemas.microsoft.com/office/powerpoint/2010/main" val="10107662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752"/>
            <a:ext cx="1162472" cy="3303240"/>
          </a:xfrm>
          <a:ln w="25400">
            <a:noFill/>
          </a:ln>
        </p:spPr>
        <p:txBody>
          <a:bodyPr>
            <a:noAutofit/>
          </a:bodyPr>
          <a:lstStyle/>
          <a:p>
            <a:pPr algn="l"/>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in </a:t>
            </a:r>
            <a:r>
              <a:rPr lang="tr-TR" sz="2400" dirty="0" err="1" smtClean="0">
                <a:solidFill>
                  <a:srgbClr val="800000"/>
                </a:solidFill>
                <a:latin typeface="Arial Narrow" pitchFamily="34" charset="0"/>
              </a:rPr>
              <a:t>the</a:t>
            </a:r>
            <a:r>
              <a:rPr lang="tr-TR" sz="2400" dirty="0" smtClean="0">
                <a:solidFill>
                  <a:srgbClr val="800000"/>
                </a:solidFill>
                <a:latin typeface="Arial Narrow" pitchFamily="34" charset="0"/>
              </a:rPr>
              <a:t> World</a:t>
            </a:r>
            <a:endParaRPr lang="tr-TR" sz="2800" dirty="0">
              <a:latin typeface="Arial Narrow" pitchFamily="34" charset="0"/>
            </a:endParaRPr>
          </a:p>
        </p:txBody>
      </p:sp>
      <p:sp>
        <p:nvSpPr>
          <p:cNvPr id="5" name="Content Placeholder 4"/>
          <p:cNvSpPr>
            <a:spLocks noGrp="1"/>
          </p:cNvSpPr>
          <p:nvPr>
            <p:ph idx="1"/>
          </p:nvPr>
        </p:nvSpPr>
        <p:spPr>
          <a:xfrm>
            <a:off x="457200" y="836712"/>
            <a:ext cx="8229600" cy="5760640"/>
          </a:xfrm>
          <a:ln w="25400">
            <a:noFill/>
          </a:ln>
        </p:spPr>
        <p:txBody>
          <a:bodyPr>
            <a:noAutofit/>
          </a:bodyPr>
          <a:lstStyle/>
          <a:p>
            <a:pPr marL="0" indent="0" fontAlgn="base">
              <a:spcBef>
                <a:spcPts val="0"/>
              </a:spcBef>
              <a:buNone/>
            </a:pPr>
            <a:r>
              <a:rPr lang="tr-TR" sz="1500" dirty="0" smtClean="0">
                <a:solidFill>
                  <a:srgbClr val="800000"/>
                </a:solidFill>
                <a:latin typeface="Arial Narrow" panose="020B0606020202030204" pitchFamily="34" charset="0"/>
              </a:rPr>
              <a:t> </a:t>
            </a:r>
            <a:endParaRPr lang="en-US" sz="1500" dirty="0">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1758321" y="188640"/>
            <a:ext cx="7206167" cy="6408712"/>
          </a:xfrm>
          <a:prstGeom prst="rect">
            <a:avLst/>
          </a:prstGeom>
        </p:spPr>
      </p:pic>
    </p:spTree>
    <p:extLst>
      <p:ext uri="{BB962C8B-B14F-4D97-AF65-F5344CB8AC3E}">
        <p14:creationId xmlns:p14="http://schemas.microsoft.com/office/powerpoint/2010/main" val="29599020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smtClean="0">
                <a:latin typeface="Arial Narrow" pitchFamily="34" charset="0"/>
              </a:rPr>
              <a:t>Computing </a:t>
            </a:r>
            <a:r>
              <a:rPr lang="tr-TR" sz="2800" dirty="0" err="1" smtClean="0">
                <a:latin typeface="Arial Narrow" pitchFamily="34" charset="0"/>
              </a:rPr>
              <a:t>the</a:t>
            </a:r>
            <a:r>
              <a:rPr lang="tr-TR" sz="2800" dirty="0" smtClean="0">
                <a:latin typeface="Arial Narrow" pitchFamily="34" charset="0"/>
              </a:rPr>
              <a:t> </a:t>
            </a:r>
            <a:r>
              <a:rPr lang="tr-TR" sz="2800" dirty="0" err="1" smtClean="0">
                <a:latin typeface="Arial Narrow" pitchFamily="34" charset="0"/>
              </a:rPr>
              <a:t>Price</a:t>
            </a:r>
            <a:r>
              <a:rPr lang="tr-TR" sz="2800" dirty="0" smtClean="0">
                <a:latin typeface="Arial Narrow" pitchFamily="34" charset="0"/>
              </a:rPr>
              <a:t> of </a:t>
            </a:r>
            <a:r>
              <a:rPr lang="tr-TR" sz="2800" dirty="0" err="1" smtClean="0">
                <a:latin typeface="Arial Narrow" pitchFamily="34" charset="0"/>
              </a:rPr>
              <a:t>Common</a:t>
            </a:r>
            <a:r>
              <a:rPr lang="tr-TR" sz="2800" dirty="0" smtClean="0">
                <a:latin typeface="Arial Narrow" pitchFamily="34" charset="0"/>
              </a:rPr>
              <a:t> </a:t>
            </a:r>
            <a:r>
              <a:rPr lang="tr-TR" sz="2800" dirty="0" err="1" smtClean="0">
                <a:latin typeface="Arial Narrow" pitchFamily="34" charset="0"/>
              </a:rPr>
              <a:t>Stock</a:t>
            </a:r>
            <a:endParaRPr lang="tr-TR" sz="2800" dirty="0">
              <a:latin typeface="Arial Narrow" pitchFamily="34" charset="0"/>
            </a:endParaRPr>
          </a:p>
        </p:txBody>
      </p:sp>
      <p:sp>
        <p:nvSpPr>
          <p:cNvPr id="5" name="Content Placeholder 4"/>
          <p:cNvSpPr>
            <a:spLocks noGrp="1"/>
          </p:cNvSpPr>
          <p:nvPr>
            <p:ph idx="1"/>
          </p:nvPr>
        </p:nvSpPr>
        <p:spPr>
          <a:xfrm>
            <a:off x="457200" y="1600200"/>
            <a:ext cx="8229600" cy="4637112"/>
          </a:xfrm>
          <a:ln w="25400">
            <a:noFill/>
          </a:ln>
        </p:spPr>
        <p:txBody>
          <a:bodyPr>
            <a:noAutofit/>
          </a:bodyPr>
          <a:lstStyle/>
          <a:p>
            <a:pPr marL="0" lvl="0" indent="0" algn="ctr">
              <a:spcBef>
                <a:spcPts val="0"/>
              </a:spcBef>
              <a:buNone/>
            </a:pPr>
            <a:r>
              <a:rPr lang="tr-TR" sz="1800" dirty="0" err="1" smtClean="0">
                <a:latin typeface="Arial Narrow" panose="020B0606020202030204" pitchFamily="34" charset="0"/>
              </a:rPr>
              <a:t>Common</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r>
              <a:rPr lang="tr-TR" sz="1800" dirty="0" smtClean="0">
                <a:latin typeface="Arial Narrow" panose="020B0606020202030204" pitchFamily="34" charset="0"/>
              </a:rPr>
              <a:t> is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principal</a:t>
            </a:r>
            <a:r>
              <a:rPr lang="tr-TR" sz="1800" dirty="0" smtClean="0">
                <a:latin typeface="Arial Narrow" panose="020B0606020202030204" pitchFamily="34" charset="0"/>
              </a:rPr>
              <a:t> </a:t>
            </a:r>
            <a:r>
              <a:rPr lang="tr-TR" sz="1800" dirty="0" err="1" smtClean="0">
                <a:latin typeface="Arial Narrow" panose="020B0606020202030204" pitchFamily="34" charset="0"/>
              </a:rPr>
              <a:t>way</a:t>
            </a:r>
            <a:r>
              <a:rPr lang="tr-TR" sz="1800" dirty="0" smtClean="0">
                <a:latin typeface="Arial Narrow" panose="020B0606020202030204" pitchFamily="34" charset="0"/>
              </a:rPr>
              <a:t> </a:t>
            </a:r>
            <a:r>
              <a:rPr lang="tr-TR" sz="1800" dirty="0" err="1" smtClean="0">
                <a:latin typeface="Arial Narrow" panose="020B0606020202030204" pitchFamily="34" charset="0"/>
              </a:rPr>
              <a:t>that</a:t>
            </a:r>
            <a:r>
              <a:rPr lang="tr-TR" sz="1800" dirty="0" smtClean="0">
                <a:latin typeface="Arial Narrow" panose="020B0606020202030204" pitchFamily="34" charset="0"/>
              </a:rPr>
              <a:t> </a:t>
            </a:r>
            <a:r>
              <a:rPr lang="tr-TR" sz="1800" dirty="0" err="1" smtClean="0">
                <a:latin typeface="Arial Narrow" panose="020B0606020202030204" pitchFamily="34" charset="0"/>
              </a:rPr>
              <a:t>corporations</a:t>
            </a:r>
            <a:r>
              <a:rPr lang="tr-TR" sz="1800" dirty="0" smtClean="0">
                <a:latin typeface="Arial Narrow" panose="020B0606020202030204" pitchFamily="34" charset="0"/>
              </a:rPr>
              <a:t> </a:t>
            </a:r>
            <a:r>
              <a:rPr lang="tr-TR" sz="1800" dirty="0" err="1" smtClean="0">
                <a:latin typeface="Arial Narrow" panose="020B0606020202030204" pitchFamily="34" charset="0"/>
              </a:rPr>
              <a:t>raise</a:t>
            </a:r>
            <a:r>
              <a:rPr lang="tr-TR" sz="1800" dirty="0" smtClean="0">
                <a:latin typeface="Arial Narrow" panose="020B0606020202030204" pitchFamily="34" charset="0"/>
              </a:rPr>
              <a:t> </a:t>
            </a:r>
            <a:r>
              <a:rPr lang="tr-TR" sz="1800" dirty="0" err="1" smtClean="0">
                <a:latin typeface="Arial Narrow" panose="020B0606020202030204" pitchFamily="34" charset="0"/>
              </a:rPr>
              <a:t>equity</a:t>
            </a:r>
            <a:r>
              <a:rPr lang="tr-TR" sz="1800" dirty="0" smtClean="0">
                <a:latin typeface="Arial Narrow" panose="020B0606020202030204" pitchFamily="34" charset="0"/>
              </a:rPr>
              <a:t> </a:t>
            </a:r>
            <a:r>
              <a:rPr lang="tr-TR" sz="1800" dirty="0" err="1" smtClean="0">
                <a:latin typeface="Arial Narrow" panose="020B0606020202030204" pitchFamily="34" charset="0"/>
              </a:rPr>
              <a:t>capital</a:t>
            </a:r>
            <a:r>
              <a:rPr lang="tr-TR" sz="1800" dirty="0" smtClean="0">
                <a:latin typeface="Arial Narrow" panose="020B0606020202030204" pitchFamily="34" charset="0"/>
              </a:rPr>
              <a:t>.</a:t>
            </a:r>
          </a:p>
          <a:p>
            <a:pPr marL="0" lvl="0" indent="0" algn="ctr">
              <a:spcBef>
                <a:spcPts val="0"/>
              </a:spcBef>
              <a:buNone/>
            </a:pPr>
            <a:r>
              <a:rPr lang="tr-TR" sz="1800" noProof="1" smtClean="0">
                <a:latin typeface="Arial Narrow" panose="020B0606020202030204" pitchFamily="34" charset="0"/>
              </a:rPr>
              <a:t>Stockholders – those who hold stock in a Corporation –</a:t>
            </a:r>
          </a:p>
          <a:p>
            <a:pPr marL="0" lvl="0" indent="0" algn="ctr">
              <a:spcBef>
                <a:spcPts val="0"/>
              </a:spcBef>
              <a:buNone/>
            </a:pPr>
            <a:r>
              <a:rPr lang="tr-TR" sz="1800" noProof="1" smtClean="0">
                <a:latin typeface="Arial Narrow" panose="020B0606020202030204" pitchFamily="34" charset="0"/>
              </a:rPr>
              <a:t>own an interest in the Corporation proportional to the percentage outstanding shares they own.</a:t>
            </a:r>
          </a:p>
          <a:p>
            <a:pPr marL="0" lvl="0" indent="0" algn="ctr">
              <a:spcBef>
                <a:spcPts val="0"/>
              </a:spcBef>
              <a:buNone/>
            </a:pPr>
            <a:r>
              <a:rPr lang="tr-TR" sz="1800" noProof="1" smtClean="0">
                <a:latin typeface="Arial Narrow" panose="020B0606020202030204" pitchFamily="34" charset="0"/>
              </a:rPr>
              <a:t>This ownership interest gives them the right to vote</a:t>
            </a:r>
          </a:p>
          <a:p>
            <a:pPr marL="0" lvl="0" indent="0" algn="ctr">
              <a:spcBef>
                <a:spcPts val="0"/>
              </a:spcBef>
              <a:buNone/>
            </a:pPr>
            <a:r>
              <a:rPr lang="tr-TR" sz="1800" noProof="1" smtClean="0">
                <a:latin typeface="Arial Narrow" panose="020B0606020202030204" pitchFamily="34" charset="0"/>
              </a:rPr>
              <a:t>and to be the residual claimant of all funds flowing into the firm (known as cash flows),</a:t>
            </a:r>
          </a:p>
          <a:p>
            <a:pPr marL="0" lvl="0" indent="0" algn="ctr">
              <a:spcBef>
                <a:spcPts val="0"/>
              </a:spcBef>
              <a:buNone/>
            </a:pPr>
            <a:r>
              <a:rPr lang="tr-TR" sz="1800" noProof="1" smtClean="0">
                <a:latin typeface="Arial Narrow" panose="020B0606020202030204" pitchFamily="34" charset="0"/>
              </a:rPr>
              <a:t>meaning that the stockholder receives whatever remains</a:t>
            </a:r>
          </a:p>
          <a:p>
            <a:pPr marL="0" lvl="0" indent="0" algn="ctr">
              <a:spcBef>
                <a:spcPts val="0"/>
              </a:spcBef>
              <a:buNone/>
            </a:pPr>
            <a:r>
              <a:rPr lang="tr-TR" sz="1800" noProof="1" smtClean="0">
                <a:latin typeface="Arial Narrow" panose="020B0606020202030204" pitchFamily="34" charset="0"/>
              </a:rPr>
              <a:t>after all other claims against the firm’s assets have been satisfied.</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Stockholders may receive dividends from the net earnings of the Corporation.</a:t>
            </a:r>
          </a:p>
          <a:p>
            <a:pPr marL="0" lvl="0" indent="0" algn="ctr">
              <a:spcBef>
                <a:spcPts val="0"/>
              </a:spcBef>
              <a:buNone/>
            </a:pPr>
            <a:r>
              <a:rPr lang="tr-TR" sz="1800" noProof="1" smtClean="0">
                <a:latin typeface="Arial Narrow" panose="020B0606020202030204" pitchFamily="34" charset="0"/>
              </a:rPr>
              <a:t>Dividends are payments made periodically,</a:t>
            </a:r>
          </a:p>
          <a:p>
            <a:pPr marL="0" lvl="0" indent="0" algn="ctr">
              <a:spcBef>
                <a:spcPts val="0"/>
              </a:spcBef>
              <a:buNone/>
            </a:pPr>
            <a:r>
              <a:rPr lang="tr-TR" sz="1800" noProof="1" smtClean="0">
                <a:latin typeface="Arial Narrow" panose="020B0606020202030204" pitchFamily="34" charset="0"/>
              </a:rPr>
              <a:t>usually every quarter in the U.S. and annually in Turkey, to stockholders.</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In addition, the stocholder has the right to sell the stock.</a:t>
            </a:r>
          </a:p>
          <a:p>
            <a:pPr marL="0" lvl="0" indent="0" algn="ctr">
              <a:spcBef>
                <a:spcPts val="0"/>
              </a:spcBef>
              <a:buNone/>
            </a:pPr>
            <a:r>
              <a:rPr lang="tr-TR" sz="1800" noProof="1" smtClean="0">
                <a:latin typeface="Arial Narrow" panose="020B0606020202030204" pitchFamily="34" charset="0"/>
              </a:rPr>
              <a:t>One basic principle of finance is that the value of any investment is found by computing</a:t>
            </a:r>
          </a:p>
          <a:p>
            <a:pPr marL="0" lvl="0" indent="0" algn="ctr">
              <a:spcBef>
                <a:spcPts val="0"/>
              </a:spcBef>
              <a:buNone/>
            </a:pPr>
            <a:r>
              <a:rPr lang="tr-TR" sz="1800" noProof="1" smtClean="0">
                <a:latin typeface="Arial Narrow" panose="020B0606020202030204" pitchFamily="34" charset="0"/>
              </a:rPr>
              <a:t>the present value of all cash flows the investment will generate over its life.</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The cash flows a stockholder might earn from stock are dividends, the sales price, or both.</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spTree>
    <p:extLst>
      <p:ext uri="{BB962C8B-B14F-4D97-AF65-F5344CB8AC3E}">
        <p14:creationId xmlns:p14="http://schemas.microsoft.com/office/powerpoint/2010/main" val="33901987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itchFamily="34" charset="0"/>
              </a:rPr>
              <a:t>The</a:t>
            </a:r>
            <a:r>
              <a:rPr lang="tr-TR" sz="2800" dirty="0" smtClean="0">
                <a:latin typeface="Arial Narrow" pitchFamily="34" charset="0"/>
              </a:rPr>
              <a:t> </a:t>
            </a:r>
            <a:r>
              <a:rPr lang="tr-TR" sz="2800" dirty="0" err="1" smtClean="0">
                <a:latin typeface="Arial Narrow" pitchFamily="34" charset="0"/>
              </a:rPr>
              <a:t>One-Period</a:t>
            </a:r>
            <a:r>
              <a:rPr lang="tr-TR" sz="2800" dirty="0" smtClean="0">
                <a:latin typeface="Arial Narrow" pitchFamily="34" charset="0"/>
              </a:rPr>
              <a:t> </a:t>
            </a:r>
            <a:r>
              <a:rPr lang="tr-TR" sz="2800" dirty="0" err="1" smtClean="0">
                <a:latin typeface="Arial Narrow" pitchFamily="34" charset="0"/>
              </a:rPr>
              <a:t>Valuation</a:t>
            </a:r>
            <a:r>
              <a:rPr lang="tr-TR" sz="2800" dirty="0" smtClean="0">
                <a:latin typeface="Arial Narrow" pitchFamily="34" charset="0"/>
              </a:rPr>
              <a:t> Model</a:t>
            </a:r>
            <a:endParaRPr lang="tr-TR" sz="28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r>
              <a:rPr lang="tr-TR" sz="1800" dirty="0" smtClean="0">
                <a:latin typeface="Arial Narrow" panose="020B0606020202030204" pitchFamily="34" charset="0"/>
              </a:rPr>
              <a:t> </a:t>
            </a:r>
            <a:r>
              <a:rPr lang="tr-TR" sz="1800" dirty="0" err="1" smtClean="0">
                <a:latin typeface="Arial Narrow" panose="020B0606020202030204" pitchFamily="34" charset="0"/>
              </a:rPr>
              <a:t>today</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you</a:t>
            </a:r>
            <a:r>
              <a:rPr lang="tr-TR" sz="1800" dirty="0" smtClean="0">
                <a:latin typeface="Arial Narrow" panose="020B0606020202030204" pitchFamily="34" charset="0"/>
              </a:rPr>
              <a:t> </a:t>
            </a:r>
            <a:r>
              <a:rPr lang="tr-TR" sz="1800" dirty="0" err="1" smtClean="0">
                <a:latin typeface="Arial Narrow" panose="020B0606020202030204" pitchFamily="34" charset="0"/>
              </a:rPr>
              <a:t>need</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find</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present</a:t>
            </a:r>
            <a:r>
              <a:rPr lang="tr-TR" sz="1800" dirty="0" smtClean="0">
                <a:latin typeface="Arial Narrow" panose="020B0606020202030204" pitchFamily="34" charset="0"/>
              </a:rPr>
              <a:t> </a:t>
            </a:r>
            <a:r>
              <a:rPr lang="tr-TR" sz="1800" dirty="0" err="1" smtClean="0">
                <a:latin typeface="Arial Narrow" panose="020B0606020202030204" pitchFamily="34" charset="0"/>
              </a:rPr>
              <a:t>discounted</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expected</a:t>
            </a:r>
            <a:r>
              <a:rPr lang="tr-TR" sz="1800" dirty="0" smtClean="0">
                <a:latin typeface="Arial Narrow" panose="020B0606020202030204" pitchFamily="34" charset="0"/>
              </a:rPr>
              <a:t> </a:t>
            </a:r>
            <a:r>
              <a:rPr lang="tr-TR" sz="1800" dirty="0" err="1" smtClean="0">
                <a:latin typeface="Arial Narrow" panose="020B0606020202030204" pitchFamily="34" charset="0"/>
              </a:rPr>
              <a:t>cash</a:t>
            </a:r>
            <a:r>
              <a:rPr lang="tr-TR" sz="1800" dirty="0" smtClean="0">
                <a:latin typeface="Arial Narrow" panose="020B0606020202030204" pitchFamily="34" charset="0"/>
              </a:rPr>
              <a:t> </a:t>
            </a:r>
            <a:r>
              <a:rPr lang="tr-TR" sz="1800" dirty="0" err="1" smtClean="0">
                <a:latin typeface="Arial Narrow" panose="020B0606020202030204" pitchFamily="34" charset="0"/>
              </a:rPr>
              <a:t>flows</a:t>
            </a:r>
            <a:r>
              <a:rPr lang="tr-TR" sz="1800" dirty="0" smtClean="0">
                <a:latin typeface="Arial Narrow" panose="020B0606020202030204" pitchFamily="34" charset="0"/>
              </a:rPr>
              <a:t> (</a:t>
            </a:r>
            <a:r>
              <a:rPr lang="tr-TR" sz="1800" dirty="0" err="1" smtClean="0">
                <a:latin typeface="Arial Narrow" panose="020B0606020202030204" pitchFamily="34" charset="0"/>
              </a:rPr>
              <a:t>future</a:t>
            </a:r>
            <a:r>
              <a:rPr lang="tr-TR" sz="1800" dirty="0" smtClean="0">
                <a:latin typeface="Arial Narrow" panose="020B0606020202030204" pitchFamily="34" charset="0"/>
              </a:rPr>
              <a:t> </a:t>
            </a:r>
            <a:r>
              <a:rPr lang="tr-TR" sz="1800" dirty="0" err="1" smtClean="0">
                <a:latin typeface="Arial Narrow" panose="020B0606020202030204" pitchFamily="34" charset="0"/>
              </a:rPr>
              <a:t>payments</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cash</a:t>
            </a:r>
            <a:r>
              <a:rPr lang="tr-TR" sz="1800" dirty="0" smtClean="0">
                <a:latin typeface="Arial Narrow" panose="020B0606020202030204" pitchFamily="34" charset="0"/>
              </a:rPr>
              <a:t> </a:t>
            </a:r>
            <a:r>
              <a:rPr lang="tr-TR" sz="1800" dirty="0" err="1" smtClean="0">
                <a:latin typeface="Arial Narrow" panose="020B0606020202030204" pitchFamily="34" charset="0"/>
              </a:rPr>
              <a:t>flows</a:t>
            </a:r>
            <a:r>
              <a:rPr lang="tr-TR" sz="1800" dirty="0" smtClean="0">
                <a:latin typeface="Arial Narrow" panose="020B0606020202030204" pitchFamily="34" charset="0"/>
              </a:rPr>
              <a:t> </a:t>
            </a:r>
            <a:r>
              <a:rPr lang="tr-TR" sz="1800" dirty="0" err="1" smtClean="0">
                <a:latin typeface="Arial Narrow" panose="020B0606020202030204" pitchFamily="34" charset="0"/>
              </a:rPr>
              <a:t>consist</a:t>
            </a:r>
            <a:r>
              <a:rPr lang="tr-TR" sz="1800" dirty="0" smtClean="0">
                <a:latin typeface="Arial Narrow" panose="020B0606020202030204" pitchFamily="34" charset="0"/>
              </a:rPr>
              <a:t> of </a:t>
            </a:r>
            <a:r>
              <a:rPr lang="tr-TR" sz="1800" dirty="0" err="1" smtClean="0">
                <a:latin typeface="Arial Narrow" panose="020B0606020202030204" pitchFamily="34" charset="0"/>
              </a:rPr>
              <a:t>one</a:t>
            </a:r>
            <a:r>
              <a:rPr lang="tr-TR" sz="1800" dirty="0" smtClean="0">
                <a:latin typeface="Arial Narrow" panose="020B0606020202030204" pitchFamily="34" charset="0"/>
              </a:rPr>
              <a:t> </a:t>
            </a:r>
            <a:r>
              <a:rPr lang="tr-TR" sz="1800" dirty="0" err="1" smtClean="0">
                <a:latin typeface="Arial Narrow" panose="020B0606020202030204" pitchFamily="34" charset="0"/>
              </a:rPr>
              <a:t>dividend</a:t>
            </a:r>
            <a:r>
              <a:rPr lang="tr-TR" sz="1800" dirty="0" smtClean="0">
                <a:latin typeface="Arial Narrow" panose="020B0606020202030204" pitchFamily="34" charset="0"/>
              </a:rPr>
              <a:t> </a:t>
            </a:r>
            <a:r>
              <a:rPr lang="tr-TR" sz="1800" dirty="0" err="1" smtClean="0">
                <a:latin typeface="Arial Narrow" panose="020B0606020202030204" pitchFamily="34" charset="0"/>
              </a:rPr>
              <a:t>payment</a:t>
            </a:r>
            <a:r>
              <a:rPr lang="tr-TR" sz="1800" dirty="0" smtClean="0">
                <a:latin typeface="Arial Narrow" panose="020B0606020202030204" pitchFamily="34" charset="0"/>
              </a:rPr>
              <a:t> </a:t>
            </a:r>
            <a:r>
              <a:rPr lang="tr-TR" sz="1800" dirty="0" err="1" smtClean="0">
                <a:latin typeface="Arial Narrow" panose="020B0606020202030204" pitchFamily="34" charset="0"/>
              </a:rPr>
              <a:t>plus</a:t>
            </a:r>
            <a:r>
              <a:rPr lang="tr-TR" sz="1800" dirty="0" smtClean="0">
                <a:latin typeface="Arial Narrow" panose="020B0606020202030204" pitchFamily="34" charset="0"/>
              </a:rPr>
              <a:t> a final </a:t>
            </a:r>
            <a:r>
              <a:rPr lang="tr-TR" sz="1800" dirty="0" err="1" smtClean="0">
                <a:latin typeface="Arial Narrow" panose="020B0606020202030204" pitchFamily="34" charset="0"/>
              </a:rPr>
              <a:t>sales</a:t>
            </a:r>
            <a:r>
              <a:rPr lang="tr-TR" sz="1800" dirty="0" smtClean="0">
                <a:latin typeface="Arial Narrow" panose="020B0606020202030204" pitchFamily="34" charset="0"/>
              </a:rPr>
              <a:t> </a:t>
            </a:r>
            <a:r>
              <a:rPr lang="tr-TR" sz="1800" dirty="0" err="1" smtClean="0">
                <a:latin typeface="Arial Narrow" panose="020B0606020202030204" pitchFamily="34" charset="0"/>
              </a:rPr>
              <a:t>price</a:t>
            </a:r>
            <a:r>
              <a:rPr lang="tr-TR" sz="1800" dirty="0" smtClean="0">
                <a:latin typeface="Arial Narrow" panose="020B0606020202030204" pitchFamily="34" charset="0"/>
              </a:rPr>
              <a:t>.</a:t>
            </a:r>
          </a:p>
          <a:p>
            <a:pPr marL="0" lvl="0" indent="0" algn="ctr">
              <a:spcBef>
                <a:spcPts val="0"/>
              </a:spcBef>
              <a:buNone/>
            </a:pPr>
            <a:endParaRPr lang="tr-TR" sz="18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P</a:t>
            </a:r>
            <a:r>
              <a:rPr lang="tr-TR" sz="1800" baseline="-25000" dirty="0" err="1" smtClean="0">
                <a:latin typeface="Arial Narrow" panose="020B0606020202030204" pitchFamily="34" charset="0"/>
              </a:rPr>
              <a:t>0</a:t>
            </a:r>
            <a:r>
              <a:rPr lang="tr-TR" sz="1800" dirty="0" smtClean="0">
                <a:latin typeface="Arial Narrow" panose="020B0606020202030204" pitchFamily="34" charset="0"/>
              </a:rPr>
              <a:t> =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curent</a:t>
            </a:r>
            <a:r>
              <a:rPr lang="tr-TR" sz="1800" dirty="0" smtClean="0">
                <a:latin typeface="Arial Narrow" panose="020B0606020202030204" pitchFamily="34" charset="0"/>
              </a:rPr>
              <a:t> </a:t>
            </a:r>
            <a:r>
              <a:rPr lang="tr-TR" sz="1800" dirty="0" err="1" smtClean="0">
                <a:latin typeface="Arial Narrow" panose="020B0606020202030204" pitchFamily="34" charset="0"/>
              </a:rPr>
              <a:t>price</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endParaRPr lang="tr-TR" sz="1800" dirty="0">
              <a:latin typeface="Arial Narrow" panose="020B0606020202030204" pitchFamily="34" charset="0"/>
            </a:endParaRPr>
          </a:p>
          <a:p>
            <a:pPr marL="0" lvl="0" indent="0" algn="ctr">
              <a:spcBef>
                <a:spcPts val="0"/>
              </a:spcBef>
              <a:buNone/>
            </a:pPr>
            <a:r>
              <a:rPr lang="tr-TR" sz="1600" dirty="0" smtClean="0">
                <a:latin typeface="Arial Narrow" panose="020B0606020202030204" pitchFamily="34" charset="0"/>
              </a:rPr>
              <a:t>(</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zero</a:t>
            </a:r>
            <a:r>
              <a:rPr lang="tr-TR" sz="1600" dirty="0" smtClean="0">
                <a:latin typeface="Arial Narrow" panose="020B0606020202030204" pitchFamily="34" charset="0"/>
              </a:rPr>
              <a:t> </a:t>
            </a:r>
            <a:r>
              <a:rPr lang="tr-TR" sz="1600" dirty="0" err="1" smtClean="0">
                <a:latin typeface="Arial Narrow" panose="020B0606020202030204" pitchFamily="34" charset="0"/>
              </a:rPr>
              <a:t>subscript</a:t>
            </a:r>
            <a:r>
              <a:rPr lang="tr-TR" sz="1600" dirty="0" smtClean="0">
                <a:latin typeface="Arial Narrow" panose="020B0606020202030204" pitchFamily="34" charset="0"/>
              </a:rPr>
              <a:t> </a:t>
            </a:r>
            <a:r>
              <a:rPr lang="tr-TR" sz="1600" dirty="0" err="1" smtClean="0">
                <a:latin typeface="Arial Narrow" panose="020B0606020202030204" pitchFamily="34" charset="0"/>
              </a:rPr>
              <a:t>refers</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time </a:t>
            </a:r>
            <a:r>
              <a:rPr lang="tr-TR" sz="1600" dirty="0" err="1" smtClean="0">
                <a:latin typeface="Arial Narrow" panose="020B0606020202030204" pitchFamily="34" charset="0"/>
              </a:rPr>
              <a:t>period</a:t>
            </a:r>
            <a:r>
              <a:rPr lang="tr-TR" sz="1600" dirty="0" smtClean="0">
                <a:latin typeface="Arial Narrow" panose="020B0606020202030204" pitchFamily="34" charset="0"/>
              </a:rPr>
              <a:t> </a:t>
            </a:r>
            <a:r>
              <a:rPr lang="tr-TR" sz="1600" dirty="0" err="1" smtClean="0">
                <a:latin typeface="Arial Narrow" panose="020B0606020202030204" pitchFamily="34" charset="0"/>
              </a:rPr>
              <a:t>zero</a:t>
            </a:r>
            <a:r>
              <a:rPr lang="tr-TR" sz="1600" dirty="0" smtClean="0">
                <a:latin typeface="Arial Narrow" panose="020B0606020202030204" pitchFamily="34" charset="0"/>
              </a:rPr>
              <a:t>, </a:t>
            </a:r>
            <a:r>
              <a:rPr lang="tr-TR" sz="1600" dirty="0" err="1" smtClean="0">
                <a:latin typeface="Arial Narrow" panose="020B0606020202030204" pitchFamily="34" charset="0"/>
              </a:rPr>
              <a:t>or</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present</a:t>
            </a:r>
            <a:r>
              <a:rPr lang="tr-TR" sz="1600" dirty="0" smtClean="0">
                <a:latin typeface="Arial Narrow" panose="020B0606020202030204" pitchFamily="34" charset="0"/>
              </a:rPr>
              <a:t>)</a:t>
            </a:r>
          </a:p>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Div</a:t>
            </a:r>
            <a:r>
              <a:rPr lang="tr-TR" sz="1800" baseline="-25000" noProof="1" smtClean="0">
                <a:latin typeface="Arial Narrow" panose="020B0606020202030204" pitchFamily="34" charset="0"/>
              </a:rPr>
              <a:t>1</a:t>
            </a:r>
            <a:r>
              <a:rPr lang="tr-TR" sz="1800" noProof="1" smtClean="0">
                <a:latin typeface="Arial Narrow" panose="020B0606020202030204" pitchFamily="34" charset="0"/>
              </a:rPr>
              <a:t> = the dividend paid at the end of year 1</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k</a:t>
            </a:r>
            <a:r>
              <a:rPr lang="tr-TR" sz="1800" baseline="-25000" noProof="1" smtClean="0">
                <a:latin typeface="Arial Narrow" panose="020B0606020202030204" pitchFamily="34" charset="0"/>
              </a:rPr>
              <a:t>e</a:t>
            </a:r>
            <a:r>
              <a:rPr lang="tr-TR" sz="1800" noProof="1" smtClean="0">
                <a:latin typeface="Arial Narrow" panose="020B0606020202030204" pitchFamily="34" charset="0"/>
              </a:rPr>
              <a:t> = the required return on investments in equity</a:t>
            </a: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P</a:t>
            </a:r>
            <a:r>
              <a:rPr lang="tr-TR" sz="1800" baseline="-25000" noProof="1" smtClean="0">
                <a:latin typeface="Arial Narrow" panose="020B0606020202030204" pitchFamily="34" charset="0"/>
              </a:rPr>
              <a:t>1</a:t>
            </a:r>
            <a:r>
              <a:rPr lang="tr-TR" sz="1800" noProof="1" smtClean="0">
                <a:latin typeface="Arial Narrow" panose="020B0606020202030204" pitchFamily="34" charset="0"/>
              </a:rPr>
              <a:t> = the price at the end of the first year; predicted sales price of the stock</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pic>
        <p:nvPicPr>
          <p:cNvPr id="2" name="Resim 1"/>
          <p:cNvPicPr>
            <a:picLocks noChangeAspect="1"/>
          </p:cNvPicPr>
          <p:nvPr/>
        </p:nvPicPr>
        <p:blipFill>
          <a:blip r:embed="rId3"/>
          <a:stretch>
            <a:fillRect/>
          </a:stretch>
        </p:blipFill>
        <p:spPr>
          <a:xfrm>
            <a:off x="3405991" y="4869160"/>
            <a:ext cx="2332018" cy="864096"/>
          </a:xfrm>
          <a:prstGeom prst="rect">
            <a:avLst/>
          </a:prstGeom>
        </p:spPr>
      </p:pic>
    </p:spTree>
    <p:extLst>
      <p:ext uri="{BB962C8B-B14F-4D97-AF65-F5344CB8AC3E}">
        <p14:creationId xmlns:p14="http://schemas.microsoft.com/office/powerpoint/2010/main" val="13607201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itchFamily="34" charset="0"/>
              </a:rPr>
              <a:t>The</a:t>
            </a:r>
            <a:r>
              <a:rPr lang="tr-TR" sz="2800" dirty="0" smtClean="0">
                <a:latin typeface="Arial Narrow" pitchFamily="34" charset="0"/>
              </a:rPr>
              <a:t> </a:t>
            </a:r>
            <a:r>
              <a:rPr lang="tr-TR" sz="2800" dirty="0" err="1" smtClean="0">
                <a:latin typeface="Arial Narrow" pitchFamily="34" charset="0"/>
              </a:rPr>
              <a:t>Generalized</a:t>
            </a:r>
            <a:r>
              <a:rPr lang="tr-TR" sz="2800" dirty="0" smtClean="0">
                <a:latin typeface="Arial Narrow" pitchFamily="34" charset="0"/>
              </a:rPr>
              <a:t> </a:t>
            </a:r>
            <a:r>
              <a:rPr lang="tr-TR" sz="2800" dirty="0" err="1" smtClean="0">
                <a:latin typeface="Arial Narrow" pitchFamily="34" charset="0"/>
              </a:rPr>
              <a:t>Dividend</a:t>
            </a:r>
            <a:r>
              <a:rPr lang="tr-TR" sz="2800" dirty="0" smtClean="0">
                <a:latin typeface="Arial Narrow" pitchFamily="34" charset="0"/>
              </a:rPr>
              <a:t> </a:t>
            </a:r>
            <a:r>
              <a:rPr lang="tr-TR" sz="2800" dirty="0" err="1" smtClean="0">
                <a:latin typeface="Arial Narrow" pitchFamily="34" charset="0"/>
              </a:rPr>
              <a:t>Valuation</a:t>
            </a:r>
            <a:r>
              <a:rPr lang="tr-TR" sz="2800" dirty="0" smtClean="0">
                <a:latin typeface="Arial Narrow" pitchFamily="34" charset="0"/>
              </a:rPr>
              <a:t> Model</a:t>
            </a:r>
            <a:endParaRPr lang="tr-TR" sz="2800" dirty="0">
              <a:latin typeface="Arial Narrow" pitchFamily="34" charset="0"/>
            </a:endParaRPr>
          </a:p>
        </p:txBody>
      </p:sp>
      <p:sp>
        <p:nvSpPr>
          <p:cNvPr id="5" name="Content Placeholder 4"/>
          <p:cNvSpPr>
            <a:spLocks noGrp="1"/>
          </p:cNvSpPr>
          <p:nvPr>
            <p:ph idx="1"/>
          </p:nvPr>
        </p:nvSpPr>
        <p:spPr>
          <a:xfrm>
            <a:off x="457200" y="1600200"/>
            <a:ext cx="8229600" cy="4709120"/>
          </a:xfrm>
          <a:ln w="25400">
            <a:noFill/>
          </a:ln>
        </p:spPr>
        <p:txBody>
          <a:bodyPr>
            <a:noAutofit/>
          </a:bodyPr>
          <a:lstStyle/>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Using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present</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a:t>
            </a:r>
            <a:r>
              <a:rPr lang="tr-TR" sz="1800" dirty="0" err="1" smtClean="0">
                <a:latin typeface="Arial Narrow" panose="020B0606020202030204" pitchFamily="34" charset="0"/>
              </a:rPr>
              <a:t>concept</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we</a:t>
            </a:r>
            <a:r>
              <a:rPr lang="tr-TR" sz="1800" dirty="0" smtClean="0">
                <a:latin typeface="Arial Narrow" panose="020B0606020202030204" pitchFamily="34" charset="0"/>
              </a:rPr>
              <a:t> can </a:t>
            </a:r>
            <a:r>
              <a:rPr lang="tr-TR" sz="1800" dirty="0" err="1" smtClean="0">
                <a:latin typeface="Arial Narrow" panose="020B0606020202030204" pitchFamily="34" charset="0"/>
              </a:rPr>
              <a:t>extend</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one-period</a:t>
            </a:r>
            <a:r>
              <a:rPr lang="tr-TR" sz="1800" dirty="0" smtClean="0">
                <a:latin typeface="Arial Narrow" panose="020B0606020202030204" pitchFamily="34" charset="0"/>
              </a:rPr>
              <a:t> </a:t>
            </a:r>
            <a:r>
              <a:rPr lang="tr-TR" sz="1800" dirty="0" err="1" smtClean="0">
                <a:latin typeface="Arial Narrow" panose="020B0606020202030204" pitchFamily="34" charset="0"/>
              </a:rPr>
              <a:t>dividend</a:t>
            </a:r>
            <a:r>
              <a:rPr lang="tr-TR" sz="1800" dirty="0" smtClean="0">
                <a:latin typeface="Arial Narrow" panose="020B0606020202030204" pitchFamily="34" charset="0"/>
              </a:rPr>
              <a:t> </a:t>
            </a:r>
            <a:r>
              <a:rPr lang="tr-TR" sz="1800" dirty="0" err="1" smtClean="0">
                <a:latin typeface="Arial Narrow" panose="020B0606020202030204" pitchFamily="34" charset="0"/>
              </a:rPr>
              <a:t>valuation</a:t>
            </a:r>
            <a:r>
              <a:rPr lang="tr-TR" sz="1800" dirty="0" smtClean="0">
                <a:latin typeface="Arial Narrow" panose="020B0606020202030204" pitchFamily="34" charset="0"/>
              </a:rPr>
              <a:t> model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any</a:t>
            </a:r>
            <a:r>
              <a:rPr lang="tr-TR" sz="1800" dirty="0" smtClean="0">
                <a:latin typeface="Arial Narrow" panose="020B0606020202030204" pitchFamily="34" charset="0"/>
              </a:rPr>
              <a:t> </a:t>
            </a:r>
            <a:r>
              <a:rPr lang="tr-TR" sz="1800" dirty="0" err="1" smtClean="0">
                <a:latin typeface="Arial Narrow" panose="020B0606020202030204" pitchFamily="34" charset="0"/>
              </a:rPr>
              <a:t>number</a:t>
            </a:r>
            <a:r>
              <a:rPr lang="tr-TR" sz="1800" dirty="0" smtClean="0">
                <a:latin typeface="Arial Narrow" panose="020B0606020202030204" pitchFamily="34" charset="0"/>
              </a:rPr>
              <a:t> of </a:t>
            </a:r>
            <a:r>
              <a:rPr lang="tr-TR" sz="1800" dirty="0" err="1" smtClean="0">
                <a:latin typeface="Arial Narrow" panose="020B0606020202030204" pitchFamily="34" charset="0"/>
              </a:rPr>
              <a:t>periods</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of a </a:t>
            </a:r>
            <a:r>
              <a:rPr lang="tr-TR" sz="1800" dirty="0" err="1" smtClean="0">
                <a:latin typeface="Arial Narrow" panose="020B0606020202030204" pitchFamily="34" charset="0"/>
              </a:rPr>
              <a:t>stock</a:t>
            </a:r>
            <a:r>
              <a:rPr lang="tr-TR" sz="1800" dirty="0" smtClean="0">
                <a:latin typeface="Arial Narrow" panose="020B0606020202030204" pitchFamily="34" charset="0"/>
              </a:rPr>
              <a:t> </a:t>
            </a:r>
            <a:r>
              <a:rPr lang="tr-TR" sz="1800" dirty="0" err="1" smtClean="0">
                <a:latin typeface="Arial Narrow" panose="020B0606020202030204" pitchFamily="34" charset="0"/>
              </a:rPr>
              <a:t>today</a:t>
            </a:r>
            <a:r>
              <a:rPr lang="tr-TR" sz="1800" dirty="0" smtClean="0">
                <a:latin typeface="Arial Narrow" panose="020B0606020202030204" pitchFamily="34" charset="0"/>
              </a:rPr>
              <a:t> is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present</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of </a:t>
            </a:r>
            <a:r>
              <a:rPr lang="tr-TR" sz="1800" dirty="0" err="1" smtClean="0">
                <a:latin typeface="Arial Narrow" panose="020B0606020202030204" pitchFamily="34" charset="0"/>
              </a:rPr>
              <a:t>all</a:t>
            </a:r>
            <a:r>
              <a:rPr lang="tr-TR" sz="1800" dirty="0" smtClean="0">
                <a:latin typeface="Arial Narrow" panose="020B0606020202030204" pitchFamily="34" charset="0"/>
              </a:rPr>
              <a:t> </a:t>
            </a:r>
            <a:r>
              <a:rPr lang="tr-TR" sz="1800" dirty="0" err="1" smtClean="0">
                <a:latin typeface="Arial Narrow" panose="020B0606020202030204" pitchFamily="34" charset="0"/>
              </a:rPr>
              <a:t>future</a:t>
            </a:r>
            <a:r>
              <a:rPr lang="tr-TR" sz="1800" dirty="0" smtClean="0">
                <a:latin typeface="Arial Narrow" panose="020B0606020202030204" pitchFamily="34" charset="0"/>
              </a:rPr>
              <a:t> </a:t>
            </a:r>
            <a:r>
              <a:rPr lang="tr-TR" sz="1800" dirty="0" err="1" smtClean="0">
                <a:latin typeface="Arial Narrow" panose="020B0606020202030204" pitchFamily="34" charset="0"/>
              </a:rPr>
              <a:t>cash</a:t>
            </a:r>
            <a:r>
              <a:rPr lang="tr-TR" sz="1800" dirty="0" smtClean="0">
                <a:latin typeface="Arial Narrow" panose="020B0606020202030204" pitchFamily="34" charset="0"/>
              </a:rPr>
              <a:t> </a:t>
            </a:r>
            <a:r>
              <a:rPr lang="tr-TR" sz="1800" dirty="0" err="1" smtClean="0">
                <a:latin typeface="Arial Narrow" panose="020B0606020202030204" pitchFamily="34" charset="0"/>
              </a:rPr>
              <a:t>flows</a:t>
            </a:r>
            <a:r>
              <a:rPr lang="tr-TR" sz="1800" dirty="0" smtClean="0">
                <a:latin typeface="Arial Narrow" panose="020B0606020202030204" pitchFamily="34" charset="0"/>
              </a:rPr>
              <a:t>.</a:t>
            </a:r>
          </a:p>
          <a:p>
            <a:pPr marL="0" lvl="0" indent="0" algn="ctr">
              <a:spcBef>
                <a:spcPts val="0"/>
              </a:spcBef>
              <a:buNone/>
            </a:pPr>
            <a:endParaRPr lang="tr-TR" sz="18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P</a:t>
            </a:r>
            <a:r>
              <a:rPr lang="tr-TR" sz="1800" baseline="-25000" dirty="0" err="1" smtClean="0">
                <a:latin typeface="Arial Narrow" panose="020B0606020202030204" pitchFamily="34" charset="0"/>
              </a:rPr>
              <a:t>0</a:t>
            </a:r>
            <a:r>
              <a:rPr lang="tr-TR" sz="1800" dirty="0" smtClean="0">
                <a:latin typeface="Arial Narrow" panose="020B0606020202030204" pitchFamily="34" charset="0"/>
              </a:rPr>
              <a:t> =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curent</a:t>
            </a:r>
            <a:r>
              <a:rPr lang="tr-TR" sz="1800" dirty="0" smtClean="0">
                <a:latin typeface="Arial Narrow" panose="020B0606020202030204" pitchFamily="34" charset="0"/>
              </a:rPr>
              <a:t> </a:t>
            </a:r>
            <a:r>
              <a:rPr lang="tr-TR" sz="1800" dirty="0" err="1" smtClean="0">
                <a:latin typeface="Arial Narrow" panose="020B0606020202030204" pitchFamily="34" charset="0"/>
              </a:rPr>
              <a:t>price</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endParaRPr lang="tr-TR" sz="1800" dirty="0" smtClean="0">
              <a:latin typeface="Arial Narrow" panose="020B0606020202030204" pitchFamily="34" charset="0"/>
            </a:endParaRPr>
          </a:p>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D</a:t>
            </a:r>
            <a:r>
              <a:rPr lang="tr-TR" sz="1800" baseline="-25000" noProof="1">
                <a:latin typeface="Arial Narrow" panose="020B0606020202030204" pitchFamily="34" charset="0"/>
              </a:rPr>
              <a:t>t</a:t>
            </a:r>
            <a:r>
              <a:rPr lang="tr-TR" sz="1800" noProof="1" smtClean="0">
                <a:latin typeface="Arial Narrow" panose="020B0606020202030204" pitchFamily="34" charset="0"/>
              </a:rPr>
              <a:t> = the dividend paid at the end of year t</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k</a:t>
            </a:r>
            <a:r>
              <a:rPr lang="tr-TR" sz="1800" baseline="-25000" noProof="1" smtClean="0">
                <a:latin typeface="Arial Narrow" panose="020B0606020202030204" pitchFamily="34" charset="0"/>
              </a:rPr>
              <a:t>e</a:t>
            </a:r>
            <a:r>
              <a:rPr lang="tr-TR" sz="1800" noProof="1" smtClean="0">
                <a:latin typeface="Arial Narrow" panose="020B0606020202030204" pitchFamily="34" charset="0"/>
              </a:rPr>
              <a:t> = the required return on investments in equity</a:t>
            </a: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P</a:t>
            </a:r>
            <a:r>
              <a:rPr lang="tr-TR" sz="1800" baseline="-25000" noProof="1" smtClean="0">
                <a:latin typeface="Arial Narrow" panose="020B0606020202030204" pitchFamily="34" charset="0"/>
              </a:rPr>
              <a:t>N</a:t>
            </a:r>
            <a:r>
              <a:rPr lang="tr-TR" sz="1800" noProof="1" smtClean="0">
                <a:latin typeface="Arial Narrow" panose="020B0606020202030204" pitchFamily="34" charset="0"/>
              </a:rPr>
              <a:t> = the price at the end of year N; predicted sales price of the stock</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pic>
        <p:nvPicPr>
          <p:cNvPr id="6" name="Resim 5"/>
          <p:cNvPicPr>
            <a:picLocks noChangeAspect="1"/>
          </p:cNvPicPr>
          <p:nvPr/>
        </p:nvPicPr>
        <p:blipFill>
          <a:blip r:embed="rId3"/>
          <a:stretch>
            <a:fillRect/>
          </a:stretch>
        </p:blipFill>
        <p:spPr>
          <a:xfrm>
            <a:off x="1462154" y="5013176"/>
            <a:ext cx="6219692" cy="792088"/>
          </a:xfrm>
          <a:prstGeom prst="rect">
            <a:avLst/>
          </a:prstGeom>
        </p:spPr>
      </p:pic>
    </p:spTree>
    <p:extLst>
      <p:ext uri="{BB962C8B-B14F-4D97-AF65-F5344CB8AC3E}">
        <p14:creationId xmlns:p14="http://schemas.microsoft.com/office/powerpoint/2010/main" val="36516230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274638"/>
            <a:ext cx="8496944"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itchFamily="34" charset="0"/>
              </a:rPr>
              <a:t>The</a:t>
            </a:r>
            <a:r>
              <a:rPr lang="tr-TR" sz="2800" dirty="0" smtClean="0">
                <a:latin typeface="Arial Narrow" pitchFamily="34" charset="0"/>
              </a:rPr>
              <a:t> </a:t>
            </a:r>
            <a:r>
              <a:rPr lang="tr-TR" sz="2800" dirty="0" err="1" smtClean="0">
                <a:latin typeface="Arial Narrow" pitchFamily="34" charset="0"/>
              </a:rPr>
              <a:t>Generalized</a:t>
            </a:r>
            <a:r>
              <a:rPr lang="tr-TR" sz="2800" dirty="0" smtClean="0">
                <a:latin typeface="Arial Narrow" pitchFamily="34" charset="0"/>
              </a:rPr>
              <a:t> </a:t>
            </a:r>
            <a:r>
              <a:rPr lang="tr-TR" sz="2800" dirty="0" err="1" smtClean="0">
                <a:latin typeface="Arial Narrow" pitchFamily="34" charset="0"/>
              </a:rPr>
              <a:t>Dividend</a:t>
            </a:r>
            <a:r>
              <a:rPr lang="tr-TR" sz="2800" dirty="0" smtClean="0">
                <a:latin typeface="Arial Narrow" pitchFamily="34" charset="0"/>
              </a:rPr>
              <a:t> </a:t>
            </a:r>
            <a:r>
              <a:rPr lang="tr-TR" sz="2800" dirty="0" err="1" smtClean="0">
                <a:latin typeface="Arial Narrow" pitchFamily="34" charset="0"/>
              </a:rPr>
              <a:t>Valuation</a:t>
            </a:r>
            <a:r>
              <a:rPr lang="tr-TR" sz="2800" dirty="0" smtClean="0">
                <a:latin typeface="Arial Narrow" pitchFamily="34" charset="0"/>
              </a:rPr>
              <a:t> Model</a:t>
            </a:r>
            <a:endParaRPr lang="tr-TR" sz="2800" dirty="0">
              <a:latin typeface="Arial Narrow" pitchFamily="34" charset="0"/>
            </a:endParaRPr>
          </a:p>
        </p:txBody>
      </p:sp>
      <p:sp>
        <p:nvSpPr>
          <p:cNvPr id="5" name="Content Placeholder 4"/>
          <p:cNvSpPr>
            <a:spLocks noGrp="1"/>
          </p:cNvSpPr>
          <p:nvPr>
            <p:ph idx="1"/>
          </p:nvPr>
        </p:nvSpPr>
        <p:spPr>
          <a:xfrm>
            <a:off x="323528" y="1600200"/>
            <a:ext cx="8496944" cy="4997152"/>
          </a:xfrm>
          <a:ln w="25400">
            <a:noFill/>
          </a:ln>
        </p:spPr>
        <p:txBody>
          <a:bodyPr>
            <a:noAutofit/>
          </a:bodyPr>
          <a:lstStyle/>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generalized</a:t>
            </a:r>
            <a:r>
              <a:rPr lang="tr-TR" sz="1800" dirty="0" smtClean="0">
                <a:latin typeface="Arial Narrow" panose="020B0606020202030204" pitchFamily="34" charset="0"/>
              </a:rPr>
              <a:t> </a:t>
            </a:r>
            <a:r>
              <a:rPr lang="tr-TR" sz="1800" dirty="0" err="1" smtClean="0">
                <a:latin typeface="Arial Narrow" panose="020B0606020202030204" pitchFamily="34" charset="0"/>
              </a:rPr>
              <a:t>dividend</a:t>
            </a:r>
            <a:r>
              <a:rPr lang="tr-TR" sz="1800" dirty="0" smtClean="0">
                <a:latin typeface="Arial Narrow" panose="020B0606020202030204" pitchFamily="34" charset="0"/>
              </a:rPr>
              <a:t> model </a:t>
            </a:r>
            <a:r>
              <a:rPr lang="tr-TR" sz="1800" dirty="0" err="1" smtClean="0">
                <a:latin typeface="Arial Narrow" panose="020B0606020202030204" pitchFamily="34" charset="0"/>
              </a:rPr>
              <a:t>may</a:t>
            </a:r>
            <a:r>
              <a:rPr lang="tr-TR" sz="1800" dirty="0" smtClean="0">
                <a:latin typeface="Arial Narrow" panose="020B0606020202030204" pitchFamily="34" charset="0"/>
              </a:rPr>
              <a:t> be </a:t>
            </a:r>
            <a:r>
              <a:rPr lang="tr-TR" sz="1800" dirty="0" err="1" smtClean="0">
                <a:latin typeface="Arial Narrow" panose="020B0606020202030204" pitchFamily="34" charset="0"/>
              </a:rPr>
              <a:t>rewritten</a:t>
            </a:r>
            <a:r>
              <a:rPr lang="tr-TR" sz="1800" dirty="0" smtClean="0">
                <a:latin typeface="Arial Narrow" panose="020B0606020202030204" pitchFamily="34" charset="0"/>
              </a:rPr>
              <a:t> </a:t>
            </a:r>
            <a:r>
              <a:rPr lang="tr-TR" sz="1800" dirty="0" err="1" smtClean="0">
                <a:latin typeface="Arial Narrow" panose="020B0606020202030204" pitchFamily="34" charset="0"/>
              </a:rPr>
              <a:t>without</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final </a:t>
            </a:r>
            <a:r>
              <a:rPr lang="tr-TR" sz="1800" dirty="0" err="1" smtClean="0">
                <a:latin typeface="Arial Narrow" panose="020B0606020202030204" pitchFamily="34" charset="0"/>
              </a:rPr>
              <a:t>sales</a:t>
            </a:r>
            <a:r>
              <a:rPr lang="tr-TR" sz="1800" dirty="0" smtClean="0">
                <a:latin typeface="Arial Narrow" panose="020B0606020202030204" pitchFamily="34" charset="0"/>
              </a:rPr>
              <a:t> </a:t>
            </a:r>
            <a:r>
              <a:rPr lang="tr-TR" sz="1800" dirty="0" err="1" smtClean="0">
                <a:latin typeface="Arial Narrow" panose="020B0606020202030204" pitchFamily="34" charset="0"/>
              </a:rPr>
              <a:t>price</a:t>
            </a:r>
            <a:r>
              <a:rPr lang="tr-TR" sz="1800" dirty="0" smtClean="0">
                <a:latin typeface="Arial Narrow" panose="020B0606020202030204" pitchFamily="34" charset="0"/>
              </a:rPr>
              <a:t>.</a:t>
            </a:r>
          </a:p>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P</a:t>
            </a:r>
            <a:r>
              <a:rPr lang="tr-TR" sz="1800" baseline="-25000" dirty="0" err="1" smtClean="0">
                <a:latin typeface="Arial Narrow" panose="020B0606020202030204" pitchFamily="34" charset="0"/>
              </a:rPr>
              <a:t>0</a:t>
            </a:r>
            <a:r>
              <a:rPr lang="tr-TR" sz="1800" dirty="0" smtClean="0">
                <a:latin typeface="Arial Narrow" panose="020B0606020202030204" pitchFamily="34" charset="0"/>
              </a:rPr>
              <a:t> =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curent</a:t>
            </a:r>
            <a:r>
              <a:rPr lang="tr-TR" sz="1800" dirty="0" smtClean="0">
                <a:latin typeface="Arial Narrow" panose="020B0606020202030204" pitchFamily="34" charset="0"/>
              </a:rPr>
              <a:t> </a:t>
            </a:r>
            <a:r>
              <a:rPr lang="tr-TR" sz="1800" dirty="0" err="1" smtClean="0">
                <a:latin typeface="Arial Narrow" panose="020B0606020202030204" pitchFamily="34" charset="0"/>
              </a:rPr>
              <a:t>price</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endParaRPr lang="tr-TR" sz="900" dirty="0"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D</a:t>
            </a:r>
            <a:r>
              <a:rPr lang="tr-TR" sz="1800" baseline="-25000" noProof="1">
                <a:latin typeface="Arial Narrow" panose="020B0606020202030204" pitchFamily="34" charset="0"/>
              </a:rPr>
              <a:t>t</a:t>
            </a:r>
            <a:r>
              <a:rPr lang="tr-TR" sz="1800" noProof="1" smtClean="0">
                <a:latin typeface="Arial Narrow" panose="020B0606020202030204" pitchFamily="34" charset="0"/>
              </a:rPr>
              <a:t> = the dividend paid at the end of year t</a:t>
            </a: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k</a:t>
            </a:r>
            <a:r>
              <a:rPr lang="tr-TR" sz="1800" baseline="-25000" noProof="1" smtClean="0">
                <a:latin typeface="Arial Narrow" panose="020B0606020202030204" pitchFamily="34" charset="0"/>
              </a:rPr>
              <a:t>e</a:t>
            </a:r>
            <a:r>
              <a:rPr lang="tr-TR" sz="1800" noProof="1" smtClean="0">
                <a:latin typeface="Arial Narrow" panose="020B0606020202030204" pitchFamily="34" charset="0"/>
              </a:rPr>
              <a:t> = the required return on investments in equity</a:t>
            </a:r>
            <a:endParaRPr lang="tr-TR" sz="9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This tells us that the price of stock is determined only by the present value of the dividends</a:t>
            </a:r>
          </a:p>
          <a:p>
            <a:pPr marL="0" lvl="0" indent="0" algn="ctr">
              <a:spcBef>
                <a:spcPts val="0"/>
              </a:spcBef>
              <a:buNone/>
            </a:pPr>
            <a:r>
              <a:rPr lang="tr-TR" sz="1800" noProof="1" smtClean="0">
                <a:latin typeface="Arial Narrow" panose="020B0606020202030204" pitchFamily="34" charset="0"/>
              </a:rPr>
              <a:t>and nothing else matters.</a:t>
            </a:r>
          </a:p>
          <a:p>
            <a:pPr marL="0" lvl="0" indent="0" algn="ctr">
              <a:spcBef>
                <a:spcPts val="0"/>
              </a:spcBef>
              <a:buNone/>
            </a:pPr>
            <a:r>
              <a:rPr lang="tr-TR" sz="1800" noProof="1" smtClean="0">
                <a:latin typeface="Arial Narrow" panose="020B0606020202030204" pitchFamily="34" charset="0"/>
              </a:rPr>
              <a:t>In other words, buyers of the stock expect that the firm will pay dividends someday.</a:t>
            </a:r>
          </a:p>
          <a:p>
            <a:pPr marL="0" lvl="0" indent="0" algn="ctr">
              <a:spcBef>
                <a:spcPts val="0"/>
              </a:spcBef>
              <a:buNone/>
            </a:pPr>
            <a:r>
              <a:rPr lang="tr-TR" sz="1800" noProof="1" smtClean="0">
                <a:latin typeface="Arial Narrow" panose="020B0606020202030204" pitchFamily="34" charset="0"/>
              </a:rPr>
              <a:t>Most of the time a firm institutes dividends</a:t>
            </a:r>
          </a:p>
          <a:p>
            <a:pPr marL="0" lvl="0" indent="0" algn="ctr">
              <a:spcBef>
                <a:spcPts val="0"/>
              </a:spcBef>
              <a:buNone/>
            </a:pPr>
            <a:r>
              <a:rPr lang="tr-TR" sz="1800" noProof="1" smtClean="0">
                <a:latin typeface="Arial Narrow" panose="020B0606020202030204" pitchFamily="34" charset="0"/>
              </a:rPr>
              <a:t>as soon as it has completed the rapid growth phase of its life cycle.</a:t>
            </a:r>
          </a:p>
          <a:p>
            <a:pPr marL="0" lvl="0" indent="0" algn="ctr">
              <a:spcBef>
                <a:spcPts val="0"/>
              </a:spcBef>
              <a:buNone/>
            </a:pPr>
            <a:r>
              <a:rPr lang="tr-TR" sz="1800" noProof="1" smtClean="0">
                <a:latin typeface="Arial Narrow" panose="020B0606020202030204" pitchFamily="34" charset="0"/>
              </a:rPr>
              <a:t>However, this model requires that we compute the present value of an infinite stream of dividends,</a:t>
            </a:r>
          </a:p>
          <a:p>
            <a:pPr marL="0" lvl="0" indent="0" algn="ctr">
              <a:spcBef>
                <a:spcPts val="0"/>
              </a:spcBef>
              <a:buNone/>
            </a:pPr>
            <a:r>
              <a:rPr lang="tr-TR" sz="1800" noProof="1" smtClean="0">
                <a:latin typeface="Arial Narrow" panose="020B0606020202030204" pitchFamily="34" charset="0"/>
              </a:rPr>
              <a:t>a process that could be difficult, to say the least.</a:t>
            </a:r>
          </a:p>
        </p:txBody>
      </p:sp>
      <p:pic>
        <p:nvPicPr>
          <p:cNvPr id="7" name="Resim 6"/>
          <p:cNvPicPr>
            <a:picLocks noChangeAspect="1"/>
          </p:cNvPicPr>
          <p:nvPr/>
        </p:nvPicPr>
        <p:blipFill>
          <a:blip r:embed="rId3"/>
          <a:stretch>
            <a:fillRect/>
          </a:stretch>
        </p:blipFill>
        <p:spPr>
          <a:xfrm>
            <a:off x="3707240" y="3068960"/>
            <a:ext cx="1729520" cy="1473622"/>
          </a:xfrm>
          <a:prstGeom prst="rect">
            <a:avLst/>
          </a:prstGeom>
        </p:spPr>
      </p:pic>
    </p:spTree>
    <p:extLst>
      <p:ext uri="{BB962C8B-B14F-4D97-AF65-F5344CB8AC3E}">
        <p14:creationId xmlns:p14="http://schemas.microsoft.com/office/powerpoint/2010/main" val="20277344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a:latin typeface="Arial Narrow" pitchFamily="34" charset="0"/>
              </a:rPr>
              <a:t>Valuation</a:t>
            </a:r>
            <a:r>
              <a:rPr lang="tr-TR" sz="2800" dirty="0">
                <a:latin typeface="Arial Narrow" pitchFamily="34" charset="0"/>
              </a:rPr>
              <a:t> - Gordon </a:t>
            </a:r>
            <a:r>
              <a:rPr lang="tr-TR" sz="2800" dirty="0" err="1">
                <a:latin typeface="Arial Narrow" pitchFamily="34" charset="0"/>
              </a:rPr>
              <a:t>Growth</a:t>
            </a:r>
            <a:r>
              <a:rPr lang="tr-TR" sz="2800" dirty="0">
                <a:latin typeface="Arial Narrow" pitchFamily="34" charset="0"/>
              </a:rPr>
              <a:t> Model</a:t>
            </a:r>
          </a:p>
        </p:txBody>
      </p:sp>
      <p:sp>
        <p:nvSpPr>
          <p:cNvPr id="5" name="Content Placeholder 4"/>
          <p:cNvSpPr>
            <a:spLocks noGrp="1"/>
          </p:cNvSpPr>
          <p:nvPr>
            <p:ph idx="1"/>
          </p:nvPr>
        </p:nvSpPr>
        <p:spPr>
          <a:xfrm>
            <a:off x="457200" y="1340768"/>
            <a:ext cx="8229600" cy="5400600"/>
          </a:xfrm>
          <a:ln w="25400">
            <a:noFill/>
          </a:ln>
        </p:spPr>
        <p:txBody>
          <a:bodyPr>
            <a:noAutofit/>
          </a:bodyPr>
          <a:lstStyle/>
          <a:p>
            <a:pPr marL="0" lvl="0" indent="0" algn="ctr">
              <a:spcBef>
                <a:spcPts val="0"/>
              </a:spcBef>
              <a:buNone/>
            </a:pPr>
            <a:endParaRPr lang="tr-TR" sz="8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Gordon </a:t>
            </a:r>
            <a:r>
              <a:rPr lang="tr-TR" sz="1800" dirty="0" err="1" smtClean="0">
                <a:latin typeface="Arial Narrow" panose="020B0606020202030204" pitchFamily="34" charset="0"/>
              </a:rPr>
              <a:t>growth</a:t>
            </a:r>
            <a:r>
              <a:rPr lang="tr-TR" sz="1800" dirty="0" smtClean="0">
                <a:latin typeface="Arial Narrow" panose="020B0606020202030204" pitchFamily="34" charset="0"/>
              </a:rPr>
              <a:t> model is a </a:t>
            </a:r>
            <a:r>
              <a:rPr lang="tr-TR" sz="1800" dirty="0" err="1" smtClean="0">
                <a:latin typeface="Arial Narrow" panose="020B0606020202030204" pitchFamily="34" charset="0"/>
              </a:rPr>
              <a:t>simplified</a:t>
            </a:r>
            <a:r>
              <a:rPr lang="tr-TR" sz="1800" dirty="0" smtClean="0">
                <a:latin typeface="Arial Narrow" panose="020B0606020202030204" pitchFamily="34" charset="0"/>
              </a:rPr>
              <a:t> </a:t>
            </a:r>
            <a:r>
              <a:rPr lang="tr-TR" sz="1800" dirty="0" err="1" smtClean="0">
                <a:latin typeface="Arial Narrow" panose="020B0606020202030204" pitchFamily="34" charset="0"/>
              </a:rPr>
              <a:t>method</a:t>
            </a:r>
            <a:r>
              <a:rPr lang="tr-TR" sz="1800" dirty="0" smtClean="0">
                <a:latin typeface="Arial Narrow" panose="020B0606020202030204" pitchFamily="34" charset="0"/>
              </a:rPr>
              <a:t> of </a:t>
            </a:r>
            <a:r>
              <a:rPr lang="tr-TR" sz="1800" dirty="0" err="1" smtClean="0">
                <a:latin typeface="Arial Narrow" panose="020B0606020202030204" pitchFamily="34" charset="0"/>
              </a:rPr>
              <a:t>computing</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endParaRPr lang="tr-TR" sz="1800" dirty="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that</a:t>
            </a:r>
            <a:r>
              <a:rPr lang="tr-TR" sz="1800" dirty="0" smtClean="0">
                <a:latin typeface="Arial Narrow" panose="020B0606020202030204" pitchFamily="34" charset="0"/>
              </a:rPr>
              <a:t> </a:t>
            </a:r>
            <a:r>
              <a:rPr lang="tr-TR" sz="1800" dirty="0" err="1" smtClean="0">
                <a:latin typeface="Arial Narrow" panose="020B0606020202030204" pitchFamily="34" charset="0"/>
              </a:rPr>
              <a:t>depends</a:t>
            </a:r>
            <a:r>
              <a:rPr lang="tr-TR" sz="1800" dirty="0" smtClean="0">
                <a:latin typeface="Arial Narrow" panose="020B0606020202030204" pitchFamily="34" charset="0"/>
              </a:rPr>
              <a:t> on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assumption</a:t>
            </a:r>
            <a:r>
              <a:rPr lang="tr-TR" sz="1800" dirty="0" smtClean="0">
                <a:latin typeface="Arial Narrow" panose="020B0606020202030204" pitchFamily="34" charset="0"/>
              </a:rPr>
              <a:t> </a:t>
            </a:r>
            <a:r>
              <a:rPr lang="tr-TR" sz="1800" dirty="0" err="1" smtClean="0">
                <a:latin typeface="Arial Narrow" panose="020B0606020202030204" pitchFamily="34" charset="0"/>
              </a:rPr>
              <a:t>that</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dividends</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growing</a:t>
            </a:r>
            <a:r>
              <a:rPr lang="tr-TR" sz="1800" dirty="0" smtClean="0">
                <a:latin typeface="Arial Narrow" panose="020B0606020202030204" pitchFamily="34" charset="0"/>
              </a:rPr>
              <a:t> at a </a:t>
            </a:r>
            <a:r>
              <a:rPr lang="tr-TR" sz="1800" dirty="0" err="1" smtClean="0">
                <a:latin typeface="Arial Narrow" panose="020B0606020202030204" pitchFamily="34" charset="0"/>
              </a:rPr>
              <a:t>constant</a:t>
            </a:r>
            <a:r>
              <a:rPr lang="tr-TR" sz="1800" dirty="0" smtClean="0">
                <a:latin typeface="Arial Narrow" panose="020B0606020202030204" pitchFamily="34" charset="0"/>
              </a:rPr>
              <a:t> rate </a:t>
            </a:r>
            <a:r>
              <a:rPr lang="tr-TR" sz="1800" dirty="0" err="1" smtClean="0">
                <a:latin typeface="Arial Narrow" panose="020B0606020202030204" pitchFamily="34" charset="0"/>
              </a:rPr>
              <a:t>forever</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Given</a:t>
            </a:r>
            <a:r>
              <a:rPr lang="tr-TR" sz="1800" dirty="0" smtClean="0">
                <a:latin typeface="Arial Narrow" panose="020B0606020202030204" pitchFamily="34" charset="0"/>
              </a:rPr>
              <a:t> </a:t>
            </a:r>
            <a:r>
              <a:rPr lang="tr-TR" sz="1800" dirty="0" err="1" smtClean="0">
                <a:latin typeface="Arial Narrow" panose="020B0606020202030204" pitchFamily="34" charset="0"/>
              </a:rPr>
              <a:t>our</a:t>
            </a:r>
            <a:r>
              <a:rPr lang="tr-TR" sz="1800" dirty="0" smtClean="0">
                <a:latin typeface="Arial Narrow" panose="020B0606020202030204" pitchFamily="34" charset="0"/>
              </a:rPr>
              <a:t> </a:t>
            </a:r>
            <a:r>
              <a:rPr lang="tr-TR" sz="1800" dirty="0" err="1" smtClean="0">
                <a:latin typeface="Arial Narrow" panose="020B0606020202030204" pitchFamily="34" charset="0"/>
              </a:rPr>
              <a:t>uncertainty</a:t>
            </a:r>
            <a:r>
              <a:rPr lang="tr-TR" sz="1800" dirty="0" smtClean="0">
                <a:latin typeface="Arial Narrow" panose="020B0606020202030204" pitchFamily="34" charset="0"/>
              </a:rPr>
              <a:t> </a:t>
            </a:r>
            <a:r>
              <a:rPr lang="tr-TR" sz="1800" dirty="0" err="1" smtClean="0">
                <a:latin typeface="Arial Narrow" panose="020B0606020202030204" pitchFamily="34" charset="0"/>
              </a:rPr>
              <a:t>regarding</a:t>
            </a:r>
            <a:r>
              <a:rPr lang="tr-TR" sz="1800" dirty="0" smtClean="0">
                <a:latin typeface="Arial Narrow" panose="020B0606020202030204" pitchFamily="34" charset="0"/>
              </a:rPr>
              <a:t> </a:t>
            </a:r>
            <a:r>
              <a:rPr lang="tr-TR" sz="1800" dirty="0" err="1" smtClean="0">
                <a:latin typeface="Arial Narrow" panose="020B0606020202030204" pitchFamily="34" charset="0"/>
              </a:rPr>
              <a:t>future</a:t>
            </a:r>
            <a:r>
              <a:rPr lang="tr-TR" sz="1800" dirty="0" smtClean="0">
                <a:latin typeface="Arial Narrow" panose="020B0606020202030204" pitchFamily="34" charset="0"/>
              </a:rPr>
              <a:t> </a:t>
            </a:r>
            <a:r>
              <a:rPr lang="tr-TR" sz="1800" dirty="0" err="1" smtClean="0">
                <a:latin typeface="Arial Narrow" panose="020B0606020202030204" pitchFamily="34" charset="0"/>
              </a:rPr>
              <a:t>dividends</a:t>
            </a:r>
            <a:r>
              <a:rPr lang="tr-TR" sz="1800" dirty="0" smtClean="0">
                <a:latin typeface="Arial Narrow" panose="020B0606020202030204" pitchFamily="34" charset="0"/>
              </a:rPr>
              <a:t>, </a:t>
            </a:r>
            <a:r>
              <a:rPr lang="tr-TR" sz="1800" dirty="0" err="1" smtClean="0">
                <a:latin typeface="Arial Narrow" panose="020B0606020202030204" pitchFamily="34" charset="0"/>
              </a:rPr>
              <a:t>this</a:t>
            </a:r>
            <a:r>
              <a:rPr lang="tr-TR" sz="1800" dirty="0" smtClean="0">
                <a:latin typeface="Arial Narrow" panose="020B0606020202030204" pitchFamily="34" charset="0"/>
              </a:rPr>
              <a:t> </a:t>
            </a:r>
            <a:r>
              <a:rPr lang="tr-TR" sz="1800" dirty="0" err="1" smtClean="0">
                <a:latin typeface="Arial Narrow" panose="020B0606020202030204" pitchFamily="34" charset="0"/>
              </a:rPr>
              <a:t>assumption</a:t>
            </a:r>
            <a:r>
              <a:rPr lang="tr-TR" sz="1800" dirty="0" smtClean="0">
                <a:latin typeface="Arial Narrow" panose="020B0606020202030204" pitchFamily="34" charset="0"/>
              </a:rPr>
              <a:t> is </a:t>
            </a:r>
            <a:r>
              <a:rPr lang="tr-TR" sz="1800" dirty="0" err="1" smtClean="0">
                <a:latin typeface="Arial Narrow" panose="020B0606020202030204" pitchFamily="34" charset="0"/>
              </a:rPr>
              <a:t>often</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best</a:t>
            </a:r>
            <a:r>
              <a:rPr lang="tr-TR" sz="1800" dirty="0" smtClean="0">
                <a:latin typeface="Arial Narrow" panose="020B0606020202030204" pitchFamily="34" charset="0"/>
              </a:rPr>
              <a:t> </a:t>
            </a:r>
            <a:r>
              <a:rPr lang="tr-TR" sz="1800" dirty="0" err="1" smtClean="0">
                <a:latin typeface="Arial Narrow" panose="020B0606020202030204" pitchFamily="34" charset="0"/>
              </a:rPr>
              <a:t>we</a:t>
            </a:r>
            <a:r>
              <a:rPr lang="tr-TR" sz="1800" dirty="0" smtClean="0">
                <a:latin typeface="Arial Narrow" panose="020B0606020202030204" pitchFamily="34" charset="0"/>
              </a:rPr>
              <a:t> can do.</a:t>
            </a:r>
          </a:p>
          <a:p>
            <a:pPr marL="0" lvl="0" indent="0" algn="ctr">
              <a:spcBef>
                <a:spcPts val="0"/>
              </a:spcBef>
              <a:buNone/>
            </a:pPr>
            <a:r>
              <a:rPr lang="tr-TR" sz="1800" dirty="0" err="1">
                <a:latin typeface="Arial Narrow" panose="020B0606020202030204" pitchFamily="34" charset="0"/>
              </a:rPr>
              <a:t>Also</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growth</a:t>
            </a:r>
            <a:r>
              <a:rPr lang="tr-TR" sz="1800" dirty="0">
                <a:latin typeface="Arial Narrow" panose="020B0606020202030204" pitchFamily="34" charset="0"/>
              </a:rPr>
              <a:t> rate is </a:t>
            </a:r>
            <a:r>
              <a:rPr lang="tr-TR" sz="1800" dirty="0" err="1">
                <a:latin typeface="Arial Narrow" panose="020B0606020202030204" pitchFamily="34" charset="0"/>
              </a:rPr>
              <a:t>assumed</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be </a:t>
            </a:r>
            <a:r>
              <a:rPr lang="tr-TR" sz="1800" dirty="0" err="1">
                <a:latin typeface="Arial Narrow" panose="020B0606020202030204" pitchFamily="34" charset="0"/>
              </a:rPr>
              <a:t>less</a:t>
            </a:r>
            <a:r>
              <a:rPr lang="tr-TR" sz="1800" dirty="0">
                <a:latin typeface="Arial Narrow" panose="020B0606020202030204" pitchFamily="34" charset="0"/>
              </a:rPr>
              <a:t> </a:t>
            </a:r>
            <a:r>
              <a:rPr lang="tr-TR" sz="1800" dirty="0" err="1">
                <a:latin typeface="Arial Narrow" panose="020B0606020202030204" pitchFamily="34" charset="0"/>
              </a:rPr>
              <a:t>than</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required</a:t>
            </a:r>
            <a:r>
              <a:rPr lang="tr-TR" sz="1800" dirty="0">
                <a:latin typeface="Arial Narrow" panose="020B0606020202030204" pitchFamily="34" charset="0"/>
              </a:rPr>
              <a:t> </a:t>
            </a:r>
            <a:r>
              <a:rPr lang="tr-TR" sz="1800" dirty="0" err="1">
                <a:latin typeface="Arial Narrow" panose="020B0606020202030204" pitchFamily="34" charset="0"/>
              </a:rPr>
              <a:t>return</a:t>
            </a:r>
            <a:r>
              <a:rPr lang="tr-TR" sz="1800" dirty="0">
                <a:latin typeface="Arial Narrow" panose="020B0606020202030204" pitchFamily="34" charset="0"/>
              </a:rPr>
              <a:t> on </a:t>
            </a:r>
            <a:r>
              <a:rPr lang="tr-TR" sz="1800" dirty="0" err="1">
                <a:latin typeface="Arial Narrow" panose="020B0606020202030204" pitchFamily="34" charset="0"/>
              </a:rPr>
              <a:t>equity</a:t>
            </a:r>
            <a:endParaRPr lang="tr-TR" sz="1800" dirty="0">
              <a:latin typeface="Arial Narrow" panose="020B0606020202030204" pitchFamily="34" charset="0"/>
            </a:endParaRPr>
          </a:p>
          <a:p>
            <a:pPr marL="0" lvl="0" indent="0" algn="ctr">
              <a:spcBef>
                <a:spcPts val="0"/>
              </a:spcBef>
              <a:buNone/>
            </a:pPr>
            <a:r>
              <a:rPr lang="tr-TR" sz="1800" dirty="0" err="1">
                <a:latin typeface="Arial Narrow" panose="020B0606020202030204" pitchFamily="34" charset="0"/>
              </a:rPr>
              <a:t>which</a:t>
            </a:r>
            <a:r>
              <a:rPr lang="tr-TR" sz="1800" dirty="0">
                <a:latin typeface="Arial Narrow" panose="020B0606020202030204" pitchFamily="34" charset="0"/>
              </a:rPr>
              <a:t> is a </a:t>
            </a:r>
            <a:r>
              <a:rPr lang="tr-TR" sz="1800" dirty="0" err="1">
                <a:latin typeface="Arial Narrow" panose="020B0606020202030204" pitchFamily="34" charset="0"/>
              </a:rPr>
              <a:t>reasonable</a:t>
            </a:r>
            <a:r>
              <a:rPr lang="tr-TR" sz="1800" dirty="0">
                <a:latin typeface="Arial Narrow" panose="020B0606020202030204" pitchFamily="34" charset="0"/>
              </a:rPr>
              <a:t> </a:t>
            </a:r>
            <a:r>
              <a:rPr lang="tr-TR" sz="1800" dirty="0" err="1">
                <a:latin typeface="Arial Narrow" panose="020B0606020202030204" pitchFamily="34" charset="0"/>
              </a:rPr>
              <a:t>assumption</a:t>
            </a:r>
            <a:r>
              <a:rPr lang="tr-TR" sz="1800" dirty="0" smtClean="0">
                <a:latin typeface="Arial Narrow" panose="020B0606020202030204" pitchFamily="34" charset="0"/>
              </a:rPr>
              <a:t>.</a:t>
            </a:r>
          </a:p>
          <a:p>
            <a:pPr marL="0" lvl="0" indent="0" algn="ctr">
              <a:spcBef>
                <a:spcPts val="0"/>
              </a:spcBef>
              <a:buNone/>
            </a:pPr>
            <a:endParaRPr lang="tr-TR" sz="800" dirty="0">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D</a:t>
            </a:r>
            <a:r>
              <a:rPr lang="tr-TR" sz="1600" baseline="-25000" noProof="1" smtClean="0">
                <a:latin typeface="Arial Narrow" panose="020B0606020202030204" pitchFamily="34" charset="0"/>
              </a:rPr>
              <a:t>0</a:t>
            </a:r>
            <a:r>
              <a:rPr lang="tr-TR" sz="1600" noProof="1" smtClean="0">
                <a:latin typeface="Arial Narrow" panose="020B0606020202030204" pitchFamily="34" charset="0"/>
              </a:rPr>
              <a:t> </a:t>
            </a:r>
            <a:r>
              <a:rPr lang="tr-TR" sz="1600" noProof="1">
                <a:latin typeface="Arial Narrow" panose="020B0606020202030204" pitchFamily="34" charset="0"/>
              </a:rPr>
              <a:t>= the </a:t>
            </a:r>
            <a:r>
              <a:rPr lang="tr-TR" sz="1600" noProof="1" smtClean="0">
                <a:latin typeface="Arial Narrow" panose="020B0606020202030204" pitchFamily="34" charset="0"/>
              </a:rPr>
              <a:t>most recent paid dividend</a:t>
            </a:r>
          </a:p>
          <a:p>
            <a:pPr marL="0" lvl="0" indent="0" algn="ctr">
              <a:spcBef>
                <a:spcPts val="0"/>
              </a:spcBef>
              <a:buNone/>
            </a:pPr>
            <a:r>
              <a:rPr lang="tr-TR" sz="1600" noProof="1" smtClean="0">
                <a:latin typeface="Arial Narrow" panose="020B0606020202030204" pitchFamily="34" charset="0"/>
              </a:rPr>
              <a:t>g = the expected constant growth rate in dividends</a:t>
            </a:r>
            <a:endParaRPr lang="tr-TR" sz="1600" noProof="1">
              <a:latin typeface="Arial Narrow" panose="020B0606020202030204" pitchFamily="34" charset="0"/>
            </a:endParaRPr>
          </a:p>
          <a:p>
            <a:pPr marL="0" lvl="0" indent="0" algn="ctr">
              <a:spcBef>
                <a:spcPts val="0"/>
              </a:spcBef>
              <a:buNone/>
            </a:pPr>
            <a:r>
              <a:rPr lang="tr-TR" sz="1600" noProof="1">
                <a:latin typeface="Arial Narrow" panose="020B0606020202030204" pitchFamily="34" charset="0"/>
              </a:rPr>
              <a:t>k</a:t>
            </a:r>
            <a:r>
              <a:rPr lang="tr-TR" sz="1600" baseline="-25000" noProof="1">
                <a:latin typeface="Arial Narrow" panose="020B0606020202030204" pitchFamily="34" charset="0"/>
              </a:rPr>
              <a:t>e</a:t>
            </a:r>
            <a:r>
              <a:rPr lang="tr-TR" sz="1600" noProof="1">
                <a:latin typeface="Arial Narrow" panose="020B0606020202030204" pitchFamily="34" charset="0"/>
              </a:rPr>
              <a:t> = the required return on investments in equity</a:t>
            </a: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pic>
        <p:nvPicPr>
          <p:cNvPr id="2" name="Resim 1"/>
          <p:cNvPicPr>
            <a:picLocks noChangeAspect="1"/>
          </p:cNvPicPr>
          <p:nvPr/>
        </p:nvPicPr>
        <p:blipFill>
          <a:blip r:embed="rId3"/>
          <a:stretch>
            <a:fillRect/>
          </a:stretch>
        </p:blipFill>
        <p:spPr>
          <a:xfrm>
            <a:off x="1259632" y="3789040"/>
            <a:ext cx="6612775" cy="2557524"/>
          </a:xfrm>
          <a:prstGeom prst="rect">
            <a:avLst/>
          </a:prstGeom>
        </p:spPr>
      </p:pic>
    </p:spTree>
    <p:extLst>
      <p:ext uri="{BB962C8B-B14F-4D97-AF65-F5344CB8AC3E}">
        <p14:creationId xmlns:p14="http://schemas.microsoft.com/office/powerpoint/2010/main" val="32288237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itchFamily="34" charset="0"/>
              </a:rPr>
              <a:t>Volatility</a:t>
            </a:r>
            <a:endParaRPr lang="tr-TR" sz="28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endParaRPr lang="tr-TR" sz="18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interaction</a:t>
            </a:r>
            <a:r>
              <a:rPr lang="tr-TR" sz="1800" dirty="0" smtClean="0">
                <a:latin typeface="Arial Narrow" panose="020B0606020202030204" pitchFamily="34" charset="0"/>
              </a:rPr>
              <a:t> </a:t>
            </a:r>
            <a:r>
              <a:rPr lang="tr-TR" sz="1800" dirty="0" err="1" smtClean="0">
                <a:latin typeface="Arial Narrow" panose="020B0606020202030204" pitchFamily="34" charset="0"/>
              </a:rPr>
              <a:t>among</a:t>
            </a:r>
            <a:r>
              <a:rPr lang="tr-TR" sz="1800" dirty="0" smtClean="0">
                <a:latin typeface="Arial Narrow" panose="020B0606020202030204" pitchFamily="34" charset="0"/>
              </a:rPr>
              <a:t> </a:t>
            </a:r>
            <a:r>
              <a:rPr lang="tr-TR" sz="1800" dirty="0" err="1" smtClean="0">
                <a:latin typeface="Arial Narrow" panose="020B0606020202030204" pitchFamily="34" charset="0"/>
              </a:rPr>
              <a:t>traders</a:t>
            </a:r>
            <a:r>
              <a:rPr lang="tr-TR" sz="1800" dirty="0" smtClean="0">
                <a:latin typeface="Arial Narrow" panose="020B0606020202030204" pitchFamily="34" charset="0"/>
              </a:rPr>
              <a:t> in </a:t>
            </a:r>
            <a:r>
              <a:rPr lang="tr-TR" sz="1800" dirty="0" err="1" smtClean="0">
                <a:latin typeface="Arial Narrow" panose="020B0606020202030204" pitchFamily="34" charset="0"/>
              </a:rPr>
              <a:t>the</a:t>
            </a:r>
            <a:r>
              <a:rPr lang="tr-TR" sz="1800" dirty="0" smtClean="0">
                <a:latin typeface="Arial Narrow" panose="020B0606020202030204" pitchFamily="34" charset="0"/>
              </a:rPr>
              <a:t> market is </a:t>
            </a:r>
            <a:r>
              <a:rPr lang="tr-TR" sz="1800" dirty="0" err="1" smtClean="0">
                <a:latin typeface="Arial Narrow" panose="020B0606020202030204" pitchFamily="34" charset="0"/>
              </a:rPr>
              <a:t>what</a:t>
            </a:r>
            <a:r>
              <a:rPr lang="tr-TR" sz="1800" dirty="0" smtClean="0">
                <a:latin typeface="Arial Narrow" panose="020B0606020202030204" pitchFamily="34" charset="0"/>
              </a:rPr>
              <a:t> </a:t>
            </a:r>
            <a:r>
              <a:rPr lang="tr-TR" sz="1800" dirty="0" err="1" smtClean="0">
                <a:latin typeface="Arial Narrow" panose="020B0606020202030204" pitchFamily="34" charset="0"/>
              </a:rPr>
              <a:t>actually</a:t>
            </a:r>
            <a:r>
              <a:rPr lang="tr-TR" sz="1800" dirty="0" smtClean="0">
                <a:latin typeface="Arial Narrow" panose="020B0606020202030204" pitchFamily="34" charset="0"/>
              </a:rPr>
              <a:t> </a:t>
            </a:r>
            <a:r>
              <a:rPr lang="tr-TR" sz="1800" dirty="0" err="1" smtClean="0">
                <a:latin typeface="Arial Narrow" panose="020B0606020202030204" pitchFamily="34" charset="0"/>
              </a:rPr>
              <a:t>sets</a:t>
            </a:r>
            <a:r>
              <a:rPr lang="tr-TR" sz="1800" dirty="0" smtClean="0">
                <a:latin typeface="Arial Narrow" panose="020B0606020202030204" pitchFamily="34" charset="0"/>
              </a:rPr>
              <a:t> </a:t>
            </a:r>
            <a:r>
              <a:rPr lang="tr-TR" sz="1800" dirty="0" err="1" smtClean="0">
                <a:latin typeface="Arial Narrow" panose="020B0606020202030204" pitchFamily="34" charset="0"/>
              </a:rPr>
              <a:t>prices</a:t>
            </a:r>
            <a:r>
              <a:rPr lang="tr-TR" sz="1800" dirty="0" smtClean="0">
                <a:latin typeface="Arial Narrow" panose="020B0606020202030204" pitchFamily="34" charset="0"/>
              </a:rPr>
              <a:t> on a </a:t>
            </a:r>
            <a:r>
              <a:rPr lang="tr-TR" sz="1800" dirty="0" err="1" smtClean="0">
                <a:latin typeface="Arial Narrow" panose="020B0606020202030204" pitchFamily="34" charset="0"/>
              </a:rPr>
              <a:t>day-to-day</a:t>
            </a:r>
            <a:r>
              <a:rPr lang="tr-TR" sz="1800" dirty="0" smtClean="0">
                <a:latin typeface="Arial Narrow" panose="020B0606020202030204" pitchFamily="34" charset="0"/>
              </a:rPr>
              <a:t> </a:t>
            </a:r>
            <a:r>
              <a:rPr lang="tr-TR" sz="1800" dirty="0" err="1" smtClean="0">
                <a:latin typeface="Arial Narrow" panose="020B0606020202030204" pitchFamily="34" charset="0"/>
              </a:rPr>
              <a:t>basis</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trader</a:t>
            </a:r>
            <a:r>
              <a:rPr lang="tr-TR" sz="1800" dirty="0" smtClean="0">
                <a:latin typeface="Arial Narrow" panose="020B0606020202030204" pitchFamily="34" charset="0"/>
              </a:rPr>
              <a:t> </a:t>
            </a:r>
            <a:r>
              <a:rPr lang="tr-TR" sz="1800" dirty="0" err="1" smtClean="0">
                <a:latin typeface="Arial Narrow" panose="020B0606020202030204" pitchFamily="34" charset="0"/>
              </a:rPr>
              <a:t>who</a:t>
            </a:r>
            <a:r>
              <a:rPr lang="tr-TR" sz="1800" dirty="0" smtClean="0">
                <a:latin typeface="Arial Narrow" panose="020B0606020202030204" pitchFamily="34" charset="0"/>
              </a:rPr>
              <a:t> </a:t>
            </a:r>
            <a:r>
              <a:rPr lang="tr-TR" sz="1800" dirty="0" err="1" smtClean="0">
                <a:latin typeface="Arial Narrow" panose="020B0606020202030204" pitchFamily="34" charset="0"/>
              </a:rPr>
              <a:t>values</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security</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most</a:t>
            </a:r>
            <a:endParaRPr lang="tr-TR" sz="1800" dirty="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a:t>
            </a:r>
            <a:r>
              <a:rPr lang="tr-TR" sz="1800" dirty="0" err="1" smtClean="0">
                <a:latin typeface="Arial Narrow" panose="020B0606020202030204" pitchFamily="34" charset="0"/>
              </a:rPr>
              <a:t>either</a:t>
            </a:r>
            <a:r>
              <a:rPr lang="tr-TR" sz="1800" dirty="0" smtClean="0">
                <a:latin typeface="Arial Narrow" panose="020B0606020202030204" pitchFamily="34" charset="0"/>
              </a:rPr>
              <a:t> </a:t>
            </a:r>
            <a:r>
              <a:rPr lang="tr-TR" sz="1800" dirty="0" err="1" smtClean="0">
                <a:latin typeface="Arial Narrow" panose="020B0606020202030204" pitchFamily="34" charset="0"/>
              </a:rPr>
              <a:t>because</a:t>
            </a:r>
            <a:r>
              <a:rPr lang="tr-TR" sz="1800" dirty="0" smtClean="0">
                <a:latin typeface="Arial Narrow" panose="020B0606020202030204" pitchFamily="34" charset="0"/>
              </a:rPr>
              <a:t> of </a:t>
            </a:r>
            <a:r>
              <a:rPr lang="tr-TR" sz="1800" dirty="0" err="1" smtClean="0">
                <a:latin typeface="Arial Narrow" panose="020B0606020202030204" pitchFamily="34" charset="0"/>
              </a:rPr>
              <a:t>less</a:t>
            </a:r>
            <a:r>
              <a:rPr lang="tr-TR" sz="1800" dirty="0" smtClean="0">
                <a:latin typeface="Arial Narrow" panose="020B0606020202030204" pitchFamily="34" charset="0"/>
              </a:rPr>
              <a:t> </a:t>
            </a:r>
            <a:r>
              <a:rPr lang="tr-TR" sz="1800" dirty="0" err="1" smtClean="0">
                <a:latin typeface="Arial Narrow" panose="020B0606020202030204" pitchFamily="34" charset="0"/>
              </a:rPr>
              <a:t>uncertainty</a:t>
            </a:r>
            <a:r>
              <a:rPr lang="tr-TR" sz="1800" dirty="0" smtClean="0">
                <a:latin typeface="Arial Narrow" panose="020B0606020202030204" pitchFamily="34" charset="0"/>
              </a:rPr>
              <a:t> </a:t>
            </a:r>
            <a:r>
              <a:rPr lang="tr-TR" sz="1800" dirty="0" err="1" smtClean="0">
                <a:latin typeface="Arial Narrow" panose="020B0606020202030204" pitchFamily="34" charset="0"/>
              </a:rPr>
              <a:t>about</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cash</a:t>
            </a:r>
            <a:r>
              <a:rPr lang="tr-TR" sz="1800" dirty="0" smtClean="0">
                <a:latin typeface="Arial Narrow" panose="020B0606020202030204" pitchFamily="34" charset="0"/>
              </a:rPr>
              <a:t> </a:t>
            </a:r>
            <a:r>
              <a:rPr lang="tr-TR" sz="1800" dirty="0" err="1" smtClean="0">
                <a:latin typeface="Arial Narrow" panose="020B0606020202030204" pitchFamily="34" charset="0"/>
              </a:rPr>
              <a:t>flows</a:t>
            </a:r>
            <a:endParaRPr lang="tr-TR" sz="1800" dirty="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or</a:t>
            </a:r>
            <a:r>
              <a:rPr lang="tr-TR" sz="1800" dirty="0" smtClean="0">
                <a:latin typeface="Arial Narrow" panose="020B0606020202030204" pitchFamily="34" charset="0"/>
              </a:rPr>
              <a:t> </a:t>
            </a:r>
            <a:r>
              <a:rPr lang="tr-TR" sz="1800" dirty="0" err="1" smtClean="0">
                <a:latin typeface="Arial Narrow" panose="020B0606020202030204" pitchFamily="34" charset="0"/>
              </a:rPr>
              <a:t>because</a:t>
            </a:r>
            <a:r>
              <a:rPr lang="tr-TR" sz="1800" dirty="0" smtClean="0">
                <a:latin typeface="Arial Narrow" panose="020B0606020202030204" pitchFamily="34" charset="0"/>
              </a:rPr>
              <a:t> of </a:t>
            </a:r>
            <a:r>
              <a:rPr lang="tr-TR" sz="1800" dirty="0" err="1" smtClean="0">
                <a:latin typeface="Arial Narrow" panose="020B0606020202030204" pitchFamily="34" charset="0"/>
              </a:rPr>
              <a:t>greater</a:t>
            </a:r>
            <a:r>
              <a:rPr lang="tr-TR" sz="1800" dirty="0" smtClean="0">
                <a:latin typeface="Arial Narrow" panose="020B0606020202030204" pitchFamily="34" charset="0"/>
              </a:rPr>
              <a:t> </a:t>
            </a:r>
            <a:r>
              <a:rPr lang="tr-TR" sz="1800" dirty="0" err="1" smtClean="0">
                <a:latin typeface="Arial Narrow" panose="020B0606020202030204" pitchFamily="34" charset="0"/>
              </a:rPr>
              <a:t>estimated</a:t>
            </a:r>
            <a:r>
              <a:rPr lang="tr-TR" sz="1800" dirty="0" smtClean="0">
                <a:latin typeface="Arial Narrow" panose="020B0606020202030204" pitchFamily="34" charset="0"/>
              </a:rPr>
              <a:t> </a:t>
            </a:r>
            <a:r>
              <a:rPr lang="tr-TR" sz="1800" dirty="0" err="1" smtClean="0">
                <a:latin typeface="Arial Narrow" panose="020B0606020202030204" pitchFamily="34" charset="0"/>
              </a:rPr>
              <a:t>cash</a:t>
            </a:r>
            <a:r>
              <a:rPr lang="tr-TR" sz="1800" dirty="0" smtClean="0">
                <a:latin typeface="Arial Narrow" panose="020B0606020202030204" pitchFamily="34" charset="0"/>
              </a:rPr>
              <a:t> </a:t>
            </a:r>
            <a:r>
              <a:rPr lang="tr-TR" sz="1800" dirty="0" err="1" smtClean="0">
                <a:latin typeface="Arial Narrow" panose="020B0606020202030204" pitchFamily="34" charset="0"/>
              </a:rPr>
              <a:t>flows</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will</a:t>
            </a:r>
            <a:r>
              <a:rPr lang="tr-TR" sz="1800" dirty="0" smtClean="0">
                <a:latin typeface="Arial Narrow" panose="020B0606020202030204" pitchFamily="34" charset="0"/>
              </a:rPr>
              <a:t> be </a:t>
            </a:r>
            <a:r>
              <a:rPr lang="tr-TR" sz="1800" dirty="0" err="1" smtClean="0">
                <a:latin typeface="Arial Narrow" panose="020B0606020202030204" pitchFamily="34" charset="0"/>
              </a:rPr>
              <a:t>willing</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pay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most</a:t>
            </a:r>
            <a:r>
              <a:rPr lang="tr-TR" sz="1800" dirty="0" smtClean="0">
                <a:latin typeface="Arial Narrow" panose="020B0606020202030204" pitchFamily="34" charset="0"/>
              </a:rPr>
              <a:t>.</a:t>
            </a:r>
          </a:p>
          <a:p>
            <a:pPr marL="0" lvl="0" indent="0" algn="ctr">
              <a:spcBef>
                <a:spcPts val="0"/>
              </a:spcBef>
              <a:buNone/>
            </a:pPr>
            <a:r>
              <a:rPr lang="tr-TR" sz="1800" noProof="1" smtClean="0">
                <a:latin typeface="Arial Narrow" panose="020B0606020202030204" pitchFamily="34" charset="0"/>
              </a:rPr>
              <a:t>As the new information is released,</a:t>
            </a:r>
          </a:p>
          <a:p>
            <a:pPr marL="0" lvl="0" indent="0" algn="ctr">
              <a:spcBef>
                <a:spcPts val="0"/>
              </a:spcBef>
              <a:buNone/>
            </a:pPr>
            <a:r>
              <a:rPr lang="tr-TR" sz="1800" noProof="1" smtClean="0">
                <a:latin typeface="Arial Narrow" panose="020B0606020202030204" pitchFamily="34" charset="0"/>
              </a:rPr>
              <a:t>investors will revise their estimates of the true value of the security and will either buy or sell it,</a:t>
            </a:r>
          </a:p>
          <a:p>
            <a:pPr marL="0" lvl="0" indent="0" algn="ctr">
              <a:spcBef>
                <a:spcPts val="0"/>
              </a:spcBef>
              <a:buNone/>
            </a:pPr>
            <a:r>
              <a:rPr lang="tr-TR" sz="1800" noProof="1" smtClean="0">
                <a:latin typeface="Arial Narrow" panose="020B0606020202030204" pitchFamily="34" charset="0"/>
              </a:rPr>
              <a:t>depending on how the market price compares with their estimated valuation.</a:t>
            </a:r>
          </a:p>
          <a:p>
            <a:pPr marL="0" lvl="0" indent="0" algn="ctr">
              <a:spcBef>
                <a:spcPts val="0"/>
              </a:spcBef>
              <a:buNone/>
            </a:pPr>
            <a:r>
              <a:rPr lang="tr-TR" sz="1800" noProof="1" smtClean="0">
                <a:latin typeface="Arial Narrow" panose="020B0606020202030204" pitchFamily="34" charset="0"/>
              </a:rPr>
              <a:t>Because small changes in estimated growth rates or required return</a:t>
            </a:r>
          </a:p>
          <a:p>
            <a:pPr marL="0" lvl="0" indent="0" algn="ctr">
              <a:spcBef>
                <a:spcPts val="0"/>
              </a:spcBef>
              <a:buNone/>
            </a:pPr>
            <a:r>
              <a:rPr lang="tr-TR" sz="1800" noProof="1" smtClean="0">
                <a:latin typeface="Arial Narrow" panose="020B0606020202030204" pitchFamily="34" charset="0"/>
              </a:rPr>
              <a:t>result in large changes in price,</a:t>
            </a:r>
          </a:p>
          <a:p>
            <a:pPr marL="0" lvl="0" indent="0" algn="ctr">
              <a:spcBef>
                <a:spcPts val="0"/>
              </a:spcBef>
              <a:buNone/>
            </a:pPr>
            <a:r>
              <a:rPr lang="tr-TR" sz="1800" noProof="1" smtClean="0">
                <a:latin typeface="Arial Narrow" panose="020B0606020202030204" pitchFamily="34" charset="0"/>
              </a:rPr>
              <a:t>it is not surprising that the markets are often volatile.</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spTree>
    <p:extLst>
      <p:ext uri="{BB962C8B-B14F-4D97-AF65-F5344CB8AC3E}">
        <p14:creationId xmlns:p14="http://schemas.microsoft.com/office/powerpoint/2010/main" val="3958515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itchFamily="34" charset="0"/>
              </a:rPr>
              <a:t>Efficient</a:t>
            </a:r>
            <a:r>
              <a:rPr lang="tr-TR" sz="2800" dirty="0" smtClean="0">
                <a:latin typeface="Arial Narrow" pitchFamily="34" charset="0"/>
              </a:rPr>
              <a:t> Market </a:t>
            </a:r>
            <a:r>
              <a:rPr lang="tr-TR" sz="2800" dirty="0" err="1" smtClean="0">
                <a:latin typeface="Arial Narrow" pitchFamily="34" charset="0"/>
              </a:rPr>
              <a:t>Hypothesis</a:t>
            </a:r>
            <a:endParaRPr lang="tr-TR" sz="28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efficient</a:t>
            </a:r>
            <a:r>
              <a:rPr lang="tr-TR" sz="1800" dirty="0" smtClean="0">
                <a:latin typeface="Arial Narrow" panose="020B0606020202030204" pitchFamily="34" charset="0"/>
              </a:rPr>
              <a:t> market </a:t>
            </a:r>
            <a:r>
              <a:rPr lang="tr-TR" sz="1800" dirty="0" err="1" smtClean="0">
                <a:latin typeface="Arial Narrow" panose="020B0606020202030204" pitchFamily="34" charset="0"/>
              </a:rPr>
              <a:t>hypothesis</a:t>
            </a:r>
            <a:r>
              <a:rPr lang="tr-TR" sz="1800" dirty="0" smtClean="0">
                <a:latin typeface="Arial Narrow" panose="020B0606020202030204" pitchFamily="34" charset="0"/>
              </a:rPr>
              <a:t> </a:t>
            </a:r>
            <a:r>
              <a:rPr lang="tr-TR" sz="1800" dirty="0" err="1" smtClean="0">
                <a:latin typeface="Arial Narrow" panose="020B0606020202030204" pitchFamily="34" charset="0"/>
              </a:rPr>
              <a:t>states</a:t>
            </a:r>
            <a:r>
              <a:rPr lang="tr-TR" sz="1800" dirty="0" smtClean="0">
                <a:latin typeface="Arial Narrow" panose="020B0606020202030204" pitchFamily="34" charset="0"/>
              </a:rPr>
              <a:t> </a:t>
            </a:r>
            <a:r>
              <a:rPr lang="tr-TR" sz="1800" dirty="0" err="1" smtClean="0">
                <a:latin typeface="Arial Narrow" panose="020B0606020202030204" pitchFamily="34" charset="0"/>
              </a:rPr>
              <a:t>that</a:t>
            </a:r>
            <a:endParaRPr lang="tr-TR" sz="1800" dirty="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current</a:t>
            </a:r>
            <a:r>
              <a:rPr lang="tr-TR" sz="1800" dirty="0" smtClean="0">
                <a:latin typeface="Arial Narrow" panose="020B0606020202030204" pitchFamily="34" charset="0"/>
              </a:rPr>
              <a:t> </a:t>
            </a:r>
            <a:r>
              <a:rPr lang="tr-TR" sz="1800" dirty="0" err="1" smtClean="0">
                <a:latin typeface="Arial Narrow" panose="020B0606020202030204" pitchFamily="34" charset="0"/>
              </a:rPr>
              <a:t>security</a:t>
            </a:r>
            <a:r>
              <a:rPr lang="tr-TR" sz="1800" dirty="0" smtClean="0">
                <a:latin typeface="Arial Narrow" panose="020B0606020202030204" pitchFamily="34" charset="0"/>
              </a:rPr>
              <a:t> </a:t>
            </a:r>
            <a:r>
              <a:rPr lang="tr-TR" sz="1800" dirty="0" err="1" smtClean="0">
                <a:latin typeface="Arial Narrow" panose="020B0606020202030204" pitchFamily="34" charset="0"/>
              </a:rPr>
              <a:t>prices</a:t>
            </a:r>
            <a:r>
              <a:rPr lang="tr-TR" sz="1800" dirty="0" smtClean="0">
                <a:latin typeface="Arial Narrow" panose="020B0606020202030204" pitchFamily="34" charset="0"/>
              </a:rPr>
              <a:t> </a:t>
            </a:r>
            <a:r>
              <a:rPr lang="tr-TR" sz="1800" dirty="0" err="1" smtClean="0">
                <a:latin typeface="Arial Narrow" panose="020B0606020202030204" pitchFamily="34" charset="0"/>
              </a:rPr>
              <a:t>will</a:t>
            </a:r>
            <a:r>
              <a:rPr lang="tr-TR" sz="1800" dirty="0" smtClean="0">
                <a:latin typeface="Arial Narrow" panose="020B0606020202030204" pitchFamily="34" charset="0"/>
              </a:rPr>
              <a:t> </a:t>
            </a:r>
            <a:r>
              <a:rPr lang="tr-TR" sz="1800" dirty="0" err="1" smtClean="0">
                <a:latin typeface="Arial Narrow" panose="020B0606020202030204" pitchFamily="34" charset="0"/>
              </a:rPr>
              <a:t>fully</a:t>
            </a:r>
            <a:r>
              <a:rPr lang="tr-TR" sz="1800" dirty="0" smtClean="0">
                <a:latin typeface="Arial Narrow" panose="020B0606020202030204" pitchFamily="34" charset="0"/>
              </a:rPr>
              <a:t> </a:t>
            </a:r>
            <a:r>
              <a:rPr lang="tr-TR" sz="1800" dirty="0" err="1" smtClean="0">
                <a:latin typeface="Arial Narrow" panose="020B0606020202030204" pitchFamily="34" charset="0"/>
              </a:rPr>
              <a:t>reflect</a:t>
            </a:r>
            <a:r>
              <a:rPr lang="tr-TR" sz="1800" dirty="0" smtClean="0">
                <a:latin typeface="Arial Narrow" panose="020B0606020202030204" pitchFamily="34" charset="0"/>
              </a:rPr>
              <a:t> </a:t>
            </a:r>
            <a:r>
              <a:rPr lang="tr-TR" sz="1800" dirty="0" err="1" smtClean="0">
                <a:latin typeface="Arial Narrow" panose="020B0606020202030204" pitchFamily="34" charset="0"/>
              </a:rPr>
              <a:t>all</a:t>
            </a:r>
            <a:r>
              <a:rPr lang="tr-TR" sz="1800" dirty="0" smtClean="0">
                <a:latin typeface="Arial Narrow" panose="020B0606020202030204" pitchFamily="34" charset="0"/>
              </a:rPr>
              <a:t> </a:t>
            </a:r>
            <a:r>
              <a:rPr lang="tr-TR" sz="1800" dirty="0" err="1" smtClean="0">
                <a:latin typeface="Arial Narrow" panose="020B0606020202030204" pitchFamily="34" charset="0"/>
              </a:rPr>
              <a:t>available</a:t>
            </a:r>
            <a:r>
              <a:rPr lang="tr-TR" sz="1800" dirty="0" smtClean="0">
                <a:latin typeface="Arial Narrow" panose="020B0606020202030204" pitchFamily="34" charset="0"/>
              </a:rPr>
              <a:t> </a:t>
            </a:r>
            <a:r>
              <a:rPr lang="tr-TR" sz="1800" dirty="0" err="1" smtClean="0">
                <a:latin typeface="Arial Narrow" panose="020B0606020202030204" pitchFamily="34" charset="0"/>
              </a:rPr>
              <a:t>information</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because</a:t>
            </a:r>
            <a:r>
              <a:rPr lang="tr-TR" sz="1800" dirty="0" smtClean="0">
                <a:latin typeface="Arial Narrow" panose="020B0606020202030204" pitchFamily="34" charset="0"/>
              </a:rPr>
              <a:t> in an </a:t>
            </a:r>
            <a:r>
              <a:rPr lang="tr-TR" sz="1800" dirty="0" err="1" smtClean="0">
                <a:latin typeface="Arial Narrow" panose="020B0606020202030204" pitchFamily="34" charset="0"/>
              </a:rPr>
              <a:t>efficient</a:t>
            </a:r>
            <a:r>
              <a:rPr lang="tr-TR" sz="1800" dirty="0" smtClean="0">
                <a:latin typeface="Arial Narrow" panose="020B0606020202030204" pitchFamily="34" charset="0"/>
              </a:rPr>
              <a:t> market, </a:t>
            </a:r>
            <a:r>
              <a:rPr lang="tr-TR" sz="1800" dirty="0" err="1" smtClean="0">
                <a:latin typeface="Arial Narrow" panose="020B0606020202030204" pitchFamily="34" charset="0"/>
              </a:rPr>
              <a:t>all</a:t>
            </a:r>
            <a:r>
              <a:rPr lang="tr-TR" sz="1800" dirty="0" smtClean="0">
                <a:latin typeface="Arial Narrow" panose="020B0606020202030204" pitchFamily="34" charset="0"/>
              </a:rPr>
              <a:t> </a:t>
            </a:r>
            <a:r>
              <a:rPr lang="tr-TR" sz="1800" dirty="0" err="1" smtClean="0">
                <a:latin typeface="Arial Narrow" panose="020B0606020202030204" pitchFamily="34" charset="0"/>
              </a:rPr>
              <a:t>unexploited</a:t>
            </a:r>
            <a:r>
              <a:rPr lang="tr-TR" sz="1800" dirty="0" smtClean="0">
                <a:latin typeface="Arial Narrow" panose="020B0606020202030204" pitchFamily="34" charset="0"/>
              </a:rPr>
              <a:t> </a:t>
            </a:r>
            <a:r>
              <a:rPr lang="tr-TR" sz="1800" dirty="0" err="1" smtClean="0">
                <a:latin typeface="Arial Narrow" panose="020B0606020202030204" pitchFamily="34" charset="0"/>
              </a:rPr>
              <a:t>profit</a:t>
            </a:r>
            <a:r>
              <a:rPr lang="tr-TR" sz="1800" dirty="0" smtClean="0">
                <a:latin typeface="Arial Narrow" panose="020B0606020202030204" pitchFamily="34" charset="0"/>
              </a:rPr>
              <a:t> </a:t>
            </a:r>
            <a:r>
              <a:rPr lang="tr-TR" sz="1800" dirty="0" err="1" smtClean="0">
                <a:latin typeface="Arial Narrow" panose="020B0606020202030204" pitchFamily="34" charset="0"/>
              </a:rPr>
              <a:t>opportunities</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eliminated</a:t>
            </a:r>
            <a:r>
              <a:rPr lang="tr-TR" sz="1800" dirty="0" smtClean="0">
                <a:latin typeface="Arial Narrow" panose="020B0606020202030204" pitchFamily="34" charset="0"/>
              </a:rPr>
              <a:t>.</a:t>
            </a:r>
          </a:p>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The elimination of unexploited profit opportunities necessary for a financial market to be efficient</a:t>
            </a:r>
          </a:p>
          <a:p>
            <a:pPr marL="0" lvl="0" indent="0" algn="ctr">
              <a:spcBef>
                <a:spcPts val="0"/>
              </a:spcBef>
              <a:buNone/>
            </a:pPr>
            <a:r>
              <a:rPr lang="tr-TR" sz="1800" noProof="1" smtClean="0">
                <a:latin typeface="Arial Narrow" panose="020B0606020202030204" pitchFamily="34" charset="0"/>
              </a:rPr>
              <a:t>does not require that all market participants be well informed.</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The efficient market hypothesis indicates that</a:t>
            </a:r>
          </a:p>
          <a:p>
            <a:pPr marL="0" lvl="0" indent="0" algn="ctr">
              <a:spcBef>
                <a:spcPts val="0"/>
              </a:spcBef>
              <a:buNone/>
            </a:pPr>
            <a:r>
              <a:rPr lang="tr-TR" sz="1800" noProof="1" smtClean="0">
                <a:latin typeface="Arial Narrow" panose="020B0606020202030204" pitchFamily="34" charset="0"/>
              </a:rPr>
              <a:t>hot tips and investment advisors’ published recommendations</a:t>
            </a:r>
          </a:p>
          <a:p>
            <a:pPr marL="0" lvl="0" indent="0" algn="ctr">
              <a:spcBef>
                <a:spcPts val="0"/>
              </a:spcBef>
              <a:buNone/>
            </a:pPr>
            <a:r>
              <a:rPr lang="tr-TR" sz="1800" noProof="1" smtClean="0">
                <a:latin typeface="Arial Narrow" panose="020B0606020202030204" pitchFamily="34" charset="0"/>
              </a:rPr>
              <a:t>cannot help an investor outperform the market</a:t>
            </a:r>
            <a:r>
              <a:rPr lang="tr-TR" sz="1800" noProof="1" smtClean="0">
                <a:latin typeface="Arial Narrow" panose="020B0606020202030204" pitchFamily="34" charset="0"/>
              </a:rPr>
              <a:t>.</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The prescription for investors is to pursue a buy-and-hold strategy</a:t>
            </a:r>
          </a:p>
          <a:p>
            <a:pPr marL="0" lvl="0" indent="0" algn="ctr">
              <a:spcBef>
                <a:spcPts val="0"/>
              </a:spcBef>
              <a:buNone/>
            </a:pPr>
            <a:r>
              <a:rPr lang="tr-TR" sz="1800" noProof="1" smtClean="0">
                <a:latin typeface="Arial Narrow" panose="020B0606020202030204" pitchFamily="34" charset="0"/>
              </a:rPr>
              <a:t>– purchase stocks and hold them for long periods of time</a:t>
            </a:r>
            <a:r>
              <a:rPr lang="tr-TR" sz="1800" noProof="1" smtClean="0">
                <a:latin typeface="Arial Narrow" panose="020B0606020202030204" pitchFamily="34" charset="0"/>
              </a:rPr>
              <a:t>.</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Empirical evidence generally supports</a:t>
            </a:r>
          </a:p>
          <a:p>
            <a:pPr marL="0" lvl="0" indent="0" algn="ctr">
              <a:spcBef>
                <a:spcPts val="0"/>
              </a:spcBef>
              <a:buNone/>
            </a:pPr>
            <a:r>
              <a:rPr lang="tr-TR" sz="1800" noProof="1" smtClean="0">
                <a:latin typeface="Arial Narrow" panose="020B0606020202030204" pitchFamily="34" charset="0"/>
              </a:rPr>
              <a:t>these implications of the efficient market hypothesis in the stock market.</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spTree>
    <p:extLst>
      <p:ext uri="{BB962C8B-B14F-4D97-AF65-F5344CB8AC3E}">
        <p14:creationId xmlns:p14="http://schemas.microsoft.com/office/powerpoint/2010/main" val="1751518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smtClean="0">
                <a:latin typeface="Arial Narrow" panose="020B0606020202030204" pitchFamily="34" charset="0"/>
              </a:rPr>
              <a:t>Market </a:t>
            </a:r>
            <a:r>
              <a:rPr lang="tr-TR" sz="2800" dirty="0" err="1" smtClean="0">
                <a:latin typeface="Arial Narrow" panose="020B0606020202030204" pitchFamily="34" charset="0"/>
              </a:rPr>
              <a:t>Crashes</a:t>
            </a:r>
            <a:r>
              <a:rPr lang="tr-TR" sz="2800" dirty="0" smtClean="0">
                <a:latin typeface="Arial Narrow" panose="020B0606020202030204" pitchFamily="34" charset="0"/>
              </a:rPr>
              <a:t> </a:t>
            </a:r>
            <a:r>
              <a:rPr lang="tr-TR" sz="2800" dirty="0" err="1">
                <a:latin typeface="Arial Narrow" panose="020B0606020202030204" pitchFamily="34" charset="0"/>
              </a:rPr>
              <a:t>and</a:t>
            </a:r>
            <a:r>
              <a:rPr lang="tr-TR" sz="2800" dirty="0">
                <a:latin typeface="Arial Narrow" panose="020B0606020202030204" pitchFamily="34" charset="0"/>
              </a:rPr>
              <a:t> </a:t>
            </a:r>
            <a:r>
              <a:rPr lang="tr-TR" sz="2800" dirty="0" err="1" smtClean="0">
                <a:latin typeface="Arial Narrow" panose="020B0606020202030204" pitchFamily="34" charset="0"/>
              </a:rPr>
              <a:t>Bubles</a:t>
            </a:r>
            <a:endParaRPr lang="tr-TR" sz="28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endParaRPr lang="tr-TR" sz="18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existence</a:t>
            </a:r>
            <a:r>
              <a:rPr lang="tr-TR" sz="1800" dirty="0" smtClean="0">
                <a:latin typeface="Arial Narrow" panose="020B0606020202030204" pitchFamily="34" charset="0"/>
              </a:rPr>
              <a:t> of market </a:t>
            </a:r>
            <a:r>
              <a:rPr lang="tr-TR" sz="1800" dirty="0" err="1" smtClean="0">
                <a:latin typeface="Arial Narrow" panose="020B0606020202030204" pitchFamily="34" charset="0"/>
              </a:rPr>
              <a:t>crashes</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bubles</a:t>
            </a:r>
            <a:r>
              <a:rPr lang="tr-TR" sz="1800" dirty="0" smtClean="0">
                <a:latin typeface="Arial Narrow" panose="020B0606020202030204" pitchFamily="34" charset="0"/>
              </a:rPr>
              <a:t> has </a:t>
            </a:r>
            <a:r>
              <a:rPr lang="tr-TR" sz="1800" dirty="0" err="1" smtClean="0">
                <a:latin typeface="Arial Narrow" panose="020B0606020202030204" pitchFamily="34" charset="0"/>
              </a:rPr>
              <a:t>convince</a:t>
            </a:r>
            <a:r>
              <a:rPr lang="tr-TR" sz="1800" dirty="0" smtClean="0">
                <a:latin typeface="Arial Narrow" panose="020B0606020202030204" pitchFamily="34" charset="0"/>
              </a:rPr>
              <a:t> </a:t>
            </a:r>
            <a:r>
              <a:rPr lang="tr-TR" sz="1800" dirty="0" err="1" smtClean="0">
                <a:latin typeface="Arial Narrow" panose="020B0606020202030204" pitchFamily="34" charset="0"/>
              </a:rPr>
              <a:t>many</a:t>
            </a:r>
            <a:r>
              <a:rPr lang="tr-TR" sz="1800" dirty="0" smtClean="0">
                <a:latin typeface="Arial Narrow" panose="020B0606020202030204" pitchFamily="34" charset="0"/>
              </a:rPr>
              <a:t> </a:t>
            </a:r>
            <a:r>
              <a:rPr lang="tr-TR" sz="1800" dirty="0" err="1" smtClean="0">
                <a:latin typeface="Arial Narrow" panose="020B0606020202030204" pitchFamily="34" charset="0"/>
              </a:rPr>
              <a:t>economists</a:t>
            </a:r>
            <a:r>
              <a:rPr lang="tr-TR" sz="1800" dirty="0" smtClean="0">
                <a:latin typeface="Arial Narrow" panose="020B0606020202030204" pitchFamily="34" charset="0"/>
              </a:rPr>
              <a:t> </a:t>
            </a:r>
            <a:r>
              <a:rPr lang="tr-TR" sz="1800" dirty="0" err="1" smtClean="0">
                <a:latin typeface="Arial Narrow" panose="020B0606020202030204" pitchFamily="34" charset="0"/>
              </a:rPr>
              <a:t>that</a:t>
            </a:r>
            <a:endParaRPr lang="tr-TR" sz="1800" dirty="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stronger</a:t>
            </a:r>
            <a:r>
              <a:rPr lang="tr-TR" sz="1800" dirty="0" smtClean="0">
                <a:latin typeface="Arial Narrow" panose="020B0606020202030204" pitchFamily="34" charset="0"/>
              </a:rPr>
              <a:t> </a:t>
            </a:r>
            <a:r>
              <a:rPr lang="tr-TR" sz="1800" dirty="0" err="1" smtClean="0">
                <a:latin typeface="Arial Narrow" panose="020B0606020202030204" pitchFamily="34" charset="0"/>
              </a:rPr>
              <a:t>version</a:t>
            </a:r>
            <a:r>
              <a:rPr lang="tr-TR" sz="1800" dirty="0" smtClean="0">
                <a:latin typeface="Arial Narrow" panose="020B0606020202030204" pitchFamily="34" charset="0"/>
              </a:rPr>
              <a:t> of market </a:t>
            </a:r>
            <a:r>
              <a:rPr lang="tr-TR" sz="1800" dirty="0" err="1" smtClean="0">
                <a:latin typeface="Arial Narrow" panose="020B0606020202030204" pitchFamily="34" charset="0"/>
              </a:rPr>
              <a:t>efficiency</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which</a:t>
            </a:r>
            <a:r>
              <a:rPr lang="tr-TR" sz="1800" dirty="0" smtClean="0">
                <a:latin typeface="Arial Narrow" panose="020B0606020202030204" pitchFamily="34" charset="0"/>
              </a:rPr>
              <a:t> </a:t>
            </a:r>
            <a:r>
              <a:rPr lang="tr-TR" sz="1800" dirty="0" err="1" smtClean="0">
                <a:latin typeface="Arial Narrow" panose="020B0606020202030204" pitchFamily="34" charset="0"/>
              </a:rPr>
              <a:t>states</a:t>
            </a:r>
            <a:r>
              <a:rPr lang="tr-TR" sz="1800" dirty="0" smtClean="0">
                <a:latin typeface="Arial Narrow" panose="020B0606020202030204" pitchFamily="34" charset="0"/>
              </a:rPr>
              <a:t> </a:t>
            </a:r>
            <a:r>
              <a:rPr lang="tr-TR" sz="1800" dirty="0" err="1" smtClean="0">
                <a:latin typeface="Arial Narrow" panose="020B0606020202030204" pitchFamily="34" charset="0"/>
              </a:rPr>
              <a:t>that</a:t>
            </a:r>
            <a:r>
              <a:rPr lang="tr-TR" sz="1800" dirty="0" smtClean="0">
                <a:latin typeface="Arial Narrow" panose="020B0606020202030204" pitchFamily="34" charset="0"/>
              </a:rPr>
              <a:t> </a:t>
            </a:r>
            <a:r>
              <a:rPr lang="tr-TR" sz="1800" dirty="0" err="1" smtClean="0">
                <a:latin typeface="Arial Narrow" panose="020B0606020202030204" pitchFamily="34" charset="0"/>
              </a:rPr>
              <a:t>asset</a:t>
            </a:r>
            <a:r>
              <a:rPr lang="tr-TR" sz="1800" dirty="0" smtClean="0">
                <a:latin typeface="Arial Narrow" panose="020B0606020202030204" pitchFamily="34" charset="0"/>
              </a:rPr>
              <a:t> </a:t>
            </a:r>
            <a:r>
              <a:rPr lang="tr-TR" sz="1800" dirty="0" err="1" smtClean="0">
                <a:latin typeface="Arial Narrow" panose="020B0606020202030204" pitchFamily="34" charset="0"/>
              </a:rPr>
              <a:t>prices</a:t>
            </a:r>
            <a:r>
              <a:rPr lang="tr-TR" sz="1800" dirty="0" smtClean="0">
                <a:latin typeface="Arial Narrow" panose="020B0606020202030204" pitchFamily="34" charset="0"/>
              </a:rPr>
              <a:t> </a:t>
            </a:r>
            <a:r>
              <a:rPr lang="tr-TR" sz="1800" dirty="0" err="1" smtClean="0">
                <a:latin typeface="Arial Narrow" panose="020B0606020202030204" pitchFamily="34" charset="0"/>
              </a:rPr>
              <a:t>reflect</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true</a:t>
            </a:r>
            <a:r>
              <a:rPr lang="tr-TR" sz="1800" dirty="0" smtClean="0">
                <a:latin typeface="Arial Narrow" panose="020B0606020202030204" pitchFamily="34" charset="0"/>
              </a:rPr>
              <a:t> </a:t>
            </a:r>
            <a:r>
              <a:rPr lang="tr-TR" sz="1800" dirty="0" err="1" smtClean="0">
                <a:latin typeface="Arial Narrow" panose="020B0606020202030204" pitchFamily="34" charset="0"/>
              </a:rPr>
              <a:t>fundemental</a:t>
            </a:r>
            <a:r>
              <a:rPr lang="tr-TR" sz="1800" dirty="0" smtClean="0">
                <a:latin typeface="Arial Narrow" panose="020B0606020202030204" pitchFamily="34" charset="0"/>
              </a:rPr>
              <a:t> (</a:t>
            </a:r>
            <a:r>
              <a:rPr lang="tr-TR" sz="1800" dirty="0" err="1" smtClean="0">
                <a:latin typeface="Arial Narrow" panose="020B0606020202030204" pitchFamily="34" charset="0"/>
              </a:rPr>
              <a:t>intrinsic</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of </a:t>
            </a:r>
            <a:r>
              <a:rPr lang="tr-TR" sz="1800" dirty="0" err="1" smtClean="0">
                <a:latin typeface="Arial Narrow" panose="020B0606020202030204" pitchFamily="34" charset="0"/>
              </a:rPr>
              <a:t>securities</a:t>
            </a:r>
            <a:r>
              <a:rPr lang="tr-TR" sz="1800" dirty="0" smtClean="0">
                <a:latin typeface="Arial Narrow" panose="020B0606020202030204" pitchFamily="34" charset="0"/>
              </a:rPr>
              <a:t>,</a:t>
            </a:r>
          </a:p>
          <a:p>
            <a:pPr marL="0" lvl="0" indent="0" algn="ctr">
              <a:spcBef>
                <a:spcPts val="0"/>
              </a:spcBef>
              <a:buNone/>
            </a:pPr>
            <a:r>
              <a:rPr lang="tr-TR" sz="1800" dirty="0" smtClean="0">
                <a:latin typeface="Arial Narrow" panose="020B0606020202030204" pitchFamily="34" charset="0"/>
              </a:rPr>
              <a:t>is not </a:t>
            </a:r>
            <a:r>
              <a:rPr lang="tr-TR" sz="1800" dirty="0" err="1" smtClean="0">
                <a:latin typeface="Arial Narrow" panose="020B0606020202030204" pitchFamily="34" charset="0"/>
              </a:rPr>
              <a:t>correct</a:t>
            </a:r>
            <a:r>
              <a:rPr lang="tr-TR" sz="1800" dirty="0" smtClean="0">
                <a:latin typeface="Arial Narrow" panose="020B0606020202030204" pitchFamily="34" charset="0"/>
              </a:rPr>
              <a:t>.</a:t>
            </a:r>
          </a:p>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It is far less clear that these crashes show that</a:t>
            </a:r>
          </a:p>
          <a:p>
            <a:pPr marL="0" lvl="0" indent="0" algn="ctr">
              <a:spcBef>
                <a:spcPts val="0"/>
              </a:spcBef>
              <a:buNone/>
            </a:pPr>
            <a:r>
              <a:rPr lang="tr-TR" sz="1800" noProof="1" smtClean="0">
                <a:latin typeface="Arial Narrow" panose="020B0606020202030204" pitchFamily="34" charset="0"/>
              </a:rPr>
              <a:t>the efficient market hypothesis is wrong</a:t>
            </a:r>
            <a:r>
              <a:rPr lang="tr-TR" sz="1800" noProof="1" smtClean="0">
                <a:latin typeface="Arial Narrow" panose="020B0606020202030204" pitchFamily="34" charset="0"/>
              </a:rPr>
              <a:t>.</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Even if the stock market was driven by factors other than fundementals,</a:t>
            </a:r>
          </a:p>
          <a:p>
            <a:pPr marL="0" lvl="0" indent="0" algn="ctr">
              <a:spcBef>
                <a:spcPts val="0"/>
              </a:spcBef>
              <a:buNone/>
            </a:pPr>
            <a:r>
              <a:rPr lang="tr-TR" sz="1800" noProof="1" smtClean="0">
                <a:latin typeface="Arial Narrow" panose="020B0606020202030204" pitchFamily="34" charset="0"/>
              </a:rPr>
              <a:t>these crashes do not clearly demonstrate that</a:t>
            </a:r>
          </a:p>
          <a:p>
            <a:pPr marL="0" lvl="0" indent="0" algn="ctr">
              <a:spcBef>
                <a:spcPts val="0"/>
              </a:spcBef>
              <a:buNone/>
            </a:pPr>
            <a:r>
              <a:rPr lang="tr-TR" sz="1800" noProof="1" smtClean="0">
                <a:latin typeface="Arial Narrow" panose="020B0606020202030204" pitchFamily="34" charset="0"/>
              </a:rPr>
              <a:t>many basic lessons of the efficient market hypothesis are no longer valid,</a:t>
            </a:r>
          </a:p>
          <a:p>
            <a:pPr marL="0" lvl="0" indent="0" algn="ctr">
              <a:spcBef>
                <a:spcPts val="0"/>
              </a:spcBef>
              <a:buNone/>
            </a:pPr>
            <a:r>
              <a:rPr lang="tr-TR" sz="1800" noProof="1" smtClean="0">
                <a:latin typeface="Arial Narrow" panose="020B0606020202030204" pitchFamily="34" charset="0"/>
              </a:rPr>
              <a:t>as long as these crashes could not have been predicted.</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spTree>
    <p:extLst>
      <p:ext uri="{BB962C8B-B14F-4D97-AF65-F5344CB8AC3E}">
        <p14:creationId xmlns:p14="http://schemas.microsoft.com/office/powerpoint/2010/main" val="974941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Stock</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800" dirty="0" err="1" smtClean="0">
                <a:latin typeface="Arial Narrow" panose="020B0606020202030204" pitchFamily="34" charset="0"/>
              </a:rPr>
              <a:t>Behavioral</a:t>
            </a:r>
            <a:r>
              <a:rPr lang="tr-TR" sz="2800" dirty="0" smtClean="0">
                <a:latin typeface="Arial Narrow" panose="020B0606020202030204" pitchFamily="34" charset="0"/>
              </a:rPr>
              <a:t> Finance</a:t>
            </a:r>
            <a:endParaRPr lang="tr-TR" sz="28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endParaRPr lang="tr-TR" sz="18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new</a:t>
            </a:r>
            <a:r>
              <a:rPr lang="tr-TR" sz="1800" dirty="0" smtClean="0">
                <a:latin typeface="Arial Narrow" panose="020B0606020202030204" pitchFamily="34" charset="0"/>
              </a:rPr>
              <a:t> </a:t>
            </a:r>
            <a:r>
              <a:rPr lang="tr-TR" sz="1800" dirty="0" err="1" smtClean="0">
                <a:latin typeface="Arial Narrow" panose="020B0606020202030204" pitchFamily="34" charset="0"/>
              </a:rPr>
              <a:t>field</a:t>
            </a:r>
            <a:r>
              <a:rPr lang="tr-TR" sz="1800" dirty="0" smtClean="0">
                <a:latin typeface="Arial Narrow" panose="020B0606020202030204" pitchFamily="34" charset="0"/>
              </a:rPr>
              <a:t> of </a:t>
            </a:r>
            <a:r>
              <a:rPr lang="tr-TR" sz="1800" dirty="0" err="1" smtClean="0">
                <a:latin typeface="Arial Narrow" panose="020B0606020202030204" pitchFamily="34" charset="0"/>
              </a:rPr>
              <a:t>behavioral</a:t>
            </a:r>
            <a:r>
              <a:rPr lang="tr-TR" sz="1800" dirty="0" smtClean="0">
                <a:latin typeface="Arial Narrow" panose="020B0606020202030204" pitchFamily="34" charset="0"/>
              </a:rPr>
              <a:t> </a:t>
            </a:r>
            <a:r>
              <a:rPr lang="tr-TR" sz="1800" dirty="0" err="1" smtClean="0">
                <a:latin typeface="Arial Narrow" panose="020B0606020202030204" pitchFamily="34" charset="0"/>
              </a:rPr>
              <a:t>finance</a:t>
            </a:r>
            <a:r>
              <a:rPr lang="tr-TR" sz="1800" dirty="0" smtClean="0">
                <a:latin typeface="Arial Narrow" panose="020B0606020202030204" pitchFamily="34" charset="0"/>
              </a:rPr>
              <a:t> </a:t>
            </a:r>
            <a:r>
              <a:rPr lang="tr-TR" sz="1800" dirty="0" err="1" smtClean="0">
                <a:latin typeface="Arial Narrow" panose="020B0606020202030204" pitchFamily="34" charset="0"/>
              </a:rPr>
              <a:t>applies</a:t>
            </a:r>
            <a:r>
              <a:rPr lang="tr-TR" sz="1800" dirty="0" smtClean="0">
                <a:latin typeface="Arial Narrow" panose="020B0606020202030204" pitchFamily="34" charset="0"/>
              </a:rPr>
              <a:t> </a:t>
            </a:r>
            <a:r>
              <a:rPr lang="tr-TR" sz="1800" dirty="0" err="1" smtClean="0">
                <a:latin typeface="Arial Narrow" panose="020B0606020202030204" pitchFamily="34" charset="0"/>
              </a:rPr>
              <a:t>concepts</a:t>
            </a:r>
            <a:r>
              <a:rPr lang="tr-TR" sz="1800" dirty="0" smtClean="0">
                <a:latin typeface="Arial Narrow" panose="020B0606020202030204" pitchFamily="34" charset="0"/>
              </a:rPr>
              <a:t> </a:t>
            </a:r>
            <a:r>
              <a:rPr lang="tr-TR" sz="1800" dirty="0" err="1" smtClean="0">
                <a:latin typeface="Arial Narrow" panose="020B0606020202030204" pitchFamily="34" charset="0"/>
              </a:rPr>
              <a:t>from</a:t>
            </a:r>
            <a:r>
              <a:rPr lang="tr-TR" sz="1800" dirty="0" smtClean="0">
                <a:latin typeface="Arial Narrow" panose="020B0606020202030204" pitchFamily="34" charset="0"/>
              </a:rPr>
              <a:t> </a:t>
            </a:r>
            <a:r>
              <a:rPr lang="tr-TR" sz="1800" dirty="0" err="1" smtClean="0">
                <a:latin typeface="Arial Narrow" panose="020B0606020202030204" pitchFamily="34" charset="0"/>
              </a:rPr>
              <a:t>other</a:t>
            </a:r>
            <a:r>
              <a:rPr lang="tr-TR" sz="1800" dirty="0" smtClean="0">
                <a:latin typeface="Arial Narrow" panose="020B0606020202030204" pitchFamily="34" charset="0"/>
              </a:rPr>
              <a:t> </a:t>
            </a:r>
            <a:r>
              <a:rPr lang="tr-TR" sz="1800" dirty="0" err="1" smtClean="0">
                <a:latin typeface="Arial Narrow" panose="020B0606020202030204" pitchFamily="34" charset="0"/>
              </a:rPr>
              <a:t>social</a:t>
            </a:r>
            <a:r>
              <a:rPr lang="tr-TR" sz="1800" dirty="0" smtClean="0">
                <a:latin typeface="Arial Narrow" panose="020B0606020202030204" pitchFamily="34" charset="0"/>
              </a:rPr>
              <a:t> </a:t>
            </a:r>
            <a:r>
              <a:rPr lang="tr-TR" sz="1800" dirty="0" err="1" smtClean="0">
                <a:latin typeface="Arial Narrow" panose="020B0606020202030204" pitchFamily="34" charset="0"/>
              </a:rPr>
              <a:t>sciences</a:t>
            </a:r>
            <a:endParaRPr lang="tr-TR" sz="1800" dirty="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such</a:t>
            </a:r>
            <a:r>
              <a:rPr lang="tr-TR" sz="1800" dirty="0" smtClean="0">
                <a:latin typeface="Arial Narrow" panose="020B0606020202030204" pitchFamily="34" charset="0"/>
              </a:rPr>
              <a:t> as </a:t>
            </a:r>
            <a:r>
              <a:rPr lang="tr-TR" sz="1800" dirty="0" err="1" smtClean="0">
                <a:latin typeface="Arial Narrow" panose="020B0606020202030204" pitchFamily="34" charset="0"/>
              </a:rPr>
              <a:t>anthropology</a:t>
            </a:r>
            <a:r>
              <a:rPr lang="tr-TR" sz="1800" dirty="0" smtClean="0">
                <a:latin typeface="Arial Narrow" panose="020B0606020202030204" pitchFamily="34" charset="0"/>
              </a:rPr>
              <a:t>, </a:t>
            </a:r>
            <a:r>
              <a:rPr lang="tr-TR" sz="1800" dirty="0" err="1" smtClean="0">
                <a:latin typeface="Arial Narrow" panose="020B0606020202030204" pitchFamily="34" charset="0"/>
              </a:rPr>
              <a:t>sociology</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psychology</a:t>
            </a:r>
            <a:endParaRPr lang="tr-TR" sz="18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understand</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behavior</a:t>
            </a:r>
            <a:r>
              <a:rPr lang="tr-TR" sz="1800" dirty="0" smtClean="0">
                <a:latin typeface="Arial Narrow" panose="020B0606020202030204" pitchFamily="34" charset="0"/>
              </a:rPr>
              <a:t> of </a:t>
            </a:r>
            <a:r>
              <a:rPr lang="tr-TR" sz="1800" dirty="0" err="1" smtClean="0">
                <a:latin typeface="Arial Narrow" panose="020B0606020202030204" pitchFamily="34" charset="0"/>
              </a:rPr>
              <a:t>security</a:t>
            </a:r>
            <a:r>
              <a:rPr lang="tr-TR" sz="1800" dirty="0" smtClean="0">
                <a:latin typeface="Arial Narrow" panose="020B0606020202030204" pitchFamily="34" charset="0"/>
              </a:rPr>
              <a:t> </a:t>
            </a:r>
            <a:r>
              <a:rPr lang="tr-TR" sz="1800" dirty="0" err="1" smtClean="0">
                <a:latin typeface="Arial Narrow" panose="020B0606020202030204" pitchFamily="34" charset="0"/>
              </a:rPr>
              <a:t>prices</a:t>
            </a:r>
            <a:r>
              <a:rPr lang="tr-TR" sz="1800" dirty="0" smtClean="0">
                <a:latin typeface="Arial Narrow" panose="020B0606020202030204" pitchFamily="34" charset="0"/>
              </a:rPr>
              <a:t>.</a:t>
            </a:r>
          </a:p>
          <a:p>
            <a:pPr marL="0" lvl="0" indent="0" algn="ctr">
              <a:spcBef>
                <a:spcPts val="0"/>
              </a:spcBef>
              <a:buNone/>
            </a:pPr>
            <a:r>
              <a:rPr lang="tr-TR" sz="1800" noProof="1" smtClean="0">
                <a:latin typeface="Arial Narrow" panose="020B0606020202030204" pitchFamily="34" charset="0"/>
              </a:rPr>
              <a:t>Loss aversion, overconfidence, and social contagion can explain why</a:t>
            </a:r>
          </a:p>
          <a:p>
            <a:pPr marL="0" lvl="0" indent="0" algn="ctr">
              <a:spcBef>
                <a:spcPts val="0"/>
              </a:spcBef>
              <a:buNone/>
            </a:pPr>
            <a:r>
              <a:rPr lang="tr-TR" sz="1800" noProof="1" smtClean="0">
                <a:latin typeface="Arial Narrow" panose="020B0606020202030204" pitchFamily="34" charset="0"/>
              </a:rPr>
              <a:t>trading volume is so high, stock prices become overvalued, and speculative bubbles occur.</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spTree>
    <p:extLst>
      <p:ext uri="{BB962C8B-B14F-4D97-AF65-F5344CB8AC3E}">
        <p14:creationId xmlns:p14="http://schemas.microsoft.com/office/powerpoint/2010/main" val="48653408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10535</TotalTime>
  <Words>1482</Words>
  <Application>Microsoft Office PowerPoint</Application>
  <PresentationFormat>Ekran Gösterisi (4:3)</PresentationFormat>
  <Paragraphs>154</Paragraphs>
  <Slides>12</Slides>
  <Notes>12</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12</vt:i4>
      </vt:variant>
    </vt:vector>
  </HeadingPairs>
  <TitlesOfParts>
    <vt:vector size="16" baseType="lpstr">
      <vt:lpstr>Arial</vt:lpstr>
      <vt:lpstr>Arial Narrow</vt:lpstr>
      <vt:lpstr>Calibri</vt:lpstr>
      <vt:lpstr>Office Theme</vt:lpstr>
      <vt:lpstr> </vt:lpstr>
      <vt:lpstr>NTE 1010 – Introduction to Finance for Engineers Stock Markets in the World</vt:lpstr>
      <vt:lpstr>NTE 1010 – Introduction to Finance for Engineers Stock Markets in the World</vt:lpstr>
      <vt:lpstr>NTE 1010 – Introduction to Finance for Engineers Stock Markets Computing the Price of Common Stock</vt:lpstr>
      <vt:lpstr>NTE 1010 – Introduction to Finance for Engineers Stock Markets The One-Period Valuation Model</vt:lpstr>
      <vt:lpstr>NTE 1010 – Introduction to Finance for Engineers Stock Markets The Generalized Dividend Valuation Model</vt:lpstr>
      <vt:lpstr>NTE 1010 – Introduction to Finance for Engineers Stock Markets The Generalized Dividend Valuation Model</vt:lpstr>
      <vt:lpstr>NTE 1010 – Introduction to Finance for Engineers Stock Markets Valuation - Gordon Growth Model</vt:lpstr>
      <vt:lpstr>NTE 1010 – Introduction to Finance for Engineers Stock Markets Volatility</vt:lpstr>
      <vt:lpstr>NTE 1010 – Introduction to Finance for Engineers Stock Markets Efficient Market Hypothesis</vt:lpstr>
      <vt:lpstr>NTE 1010 – Introduction to Finance for Engineers Stock Markets Market Crashes and Bubles</vt:lpstr>
      <vt:lpstr>NTE 1010 – Introduction to Finance for Engineers Stock Markets Behavioral Finance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
  <cp:revision>638</cp:revision>
  <cp:lastPrinted>2019-11-22T05:27:57Z</cp:lastPrinted>
  <dcterms:created xsi:type="dcterms:W3CDTF">2015-11-30T12:51:35Z</dcterms:created>
  <dcterms:modified xsi:type="dcterms:W3CDTF">2020-04-04T07:10:24Z</dcterms:modified>
  <dc:description/>
</cp:coreProperties>
</file>