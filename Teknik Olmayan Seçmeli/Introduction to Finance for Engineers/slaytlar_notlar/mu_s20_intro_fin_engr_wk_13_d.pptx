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661" r:id="rId2"/>
    <p:sldId id="644" r:id="rId3"/>
    <p:sldId id="645" r:id="rId4"/>
    <p:sldId id="649" r:id="rId5"/>
    <p:sldId id="660" r:id="rId6"/>
    <p:sldId id="651" r:id="rId7"/>
    <p:sldId id="659" r:id="rId8"/>
    <p:sldId id="647" r:id="rId9"/>
    <p:sldId id="648" r:id="rId10"/>
  </p:sldIdLst>
  <p:sldSz cx="9144000" cy="6858000" type="screen4x3"/>
  <p:notesSz cx="6858000" cy="9945688"/>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a:srgbClr val="CC00CC"/>
    <a:srgbClr val="FF6600"/>
    <a:srgbClr val="0000FF"/>
    <a:srgbClr val="CC3399"/>
    <a:srgbClr val="FF99FF"/>
    <a:srgbClr val="FFCCFF"/>
    <a:srgbClr val="000066"/>
    <a:srgbClr val="FF00FF"/>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2" autoAdjust="0"/>
  </p:normalViewPr>
  <p:slideViewPr>
    <p:cSldViewPr>
      <p:cViewPr varScale="1">
        <p:scale>
          <a:sx n="74" d="100"/>
          <a:sy n="74" d="100"/>
        </p:scale>
        <p:origin x="1084"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983" cy="497285"/>
          </a:xfrm>
          <a:prstGeom prst="rect">
            <a:avLst/>
          </a:prstGeom>
        </p:spPr>
        <p:txBody>
          <a:bodyPr vert="horz" lIns="91111" tIns="45555" rIns="91111" bIns="45555" rtlCol="0"/>
          <a:lstStyle>
            <a:lvl1pPr algn="l">
              <a:defRPr sz="1200"/>
            </a:lvl1pPr>
          </a:lstStyle>
          <a:p>
            <a:endParaRPr lang="tr-TR"/>
          </a:p>
        </p:txBody>
      </p:sp>
      <p:sp>
        <p:nvSpPr>
          <p:cNvPr id="3" name="Date Placeholder 2"/>
          <p:cNvSpPr>
            <a:spLocks noGrp="1"/>
          </p:cNvSpPr>
          <p:nvPr>
            <p:ph type="dt" sz="quarter" idx="1"/>
          </p:nvPr>
        </p:nvSpPr>
        <p:spPr>
          <a:xfrm>
            <a:off x="3884924" y="1"/>
            <a:ext cx="2971982" cy="497285"/>
          </a:xfrm>
          <a:prstGeom prst="rect">
            <a:avLst/>
          </a:prstGeom>
        </p:spPr>
        <p:txBody>
          <a:bodyPr vert="horz" lIns="91111" tIns="45555" rIns="91111" bIns="45555" rtlCol="0"/>
          <a:lstStyle>
            <a:lvl1pPr algn="r">
              <a:defRPr sz="1200"/>
            </a:lvl1pPr>
          </a:lstStyle>
          <a:p>
            <a:fld id="{41DD2113-24C6-4329-AB40-201D9F0A72C4}" type="datetimeFigureOut">
              <a:rPr lang="tr-TR" smtClean="0"/>
              <a:t>8.05.2020</a:t>
            </a:fld>
            <a:endParaRPr lang="tr-TR"/>
          </a:p>
        </p:txBody>
      </p:sp>
      <p:sp>
        <p:nvSpPr>
          <p:cNvPr id="4" name="Footer Placeholder 3"/>
          <p:cNvSpPr>
            <a:spLocks noGrp="1"/>
          </p:cNvSpPr>
          <p:nvPr>
            <p:ph type="ftr" sz="quarter" idx="2"/>
          </p:nvPr>
        </p:nvSpPr>
        <p:spPr>
          <a:xfrm>
            <a:off x="0" y="9446102"/>
            <a:ext cx="2971983" cy="497285"/>
          </a:xfrm>
          <a:prstGeom prst="rect">
            <a:avLst/>
          </a:prstGeom>
        </p:spPr>
        <p:txBody>
          <a:bodyPr vert="horz" lIns="91111" tIns="45555" rIns="91111" bIns="45555" rtlCol="0" anchor="b"/>
          <a:lstStyle>
            <a:lvl1pPr algn="l">
              <a:defRPr sz="1200"/>
            </a:lvl1pPr>
          </a:lstStyle>
          <a:p>
            <a:endParaRPr lang="tr-TR"/>
          </a:p>
        </p:txBody>
      </p:sp>
      <p:sp>
        <p:nvSpPr>
          <p:cNvPr id="5" name="Slide Number Placeholder 4"/>
          <p:cNvSpPr>
            <a:spLocks noGrp="1"/>
          </p:cNvSpPr>
          <p:nvPr>
            <p:ph type="sldNum" sz="quarter" idx="3"/>
          </p:nvPr>
        </p:nvSpPr>
        <p:spPr>
          <a:xfrm>
            <a:off x="3884924" y="9446102"/>
            <a:ext cx="2971982" cy="497285"/>
          </a:xfrm>
          <a:prstGeom prst="rect">
            <a:avLst/>
          </a:prstGeom>
        </p:spPr>
        <p:txBody>
          <a:bodyPr vert="horz" lIns="91111" tIns="45555" rIns="91111" bIns="45555" rtlCol="0" anchor="b"/>
          <a:lstStyle>
            <a:lvl1pPr algn="r">
              <a:defRPr sz="1200"/>
            </a:lvl1pPr>
          </a:lstStyle>
          <a:p>
            <a:fld id="{7F4D469E-94F5-4441-A8A1-33E94B5433C8}" type="slidenum">
              <a:rPr lang="tr-TR" smtClean="0"/>
              <a:t>‹#›</a:t>
            </a:fld>
            <a:endParaRPr lang="tr-TR"/>
          </a:p>
        </p:txBody>
      </p:sp>
    </p:spTree>
    <p:extLst>
      <p:ext uri="{BB962C8B-B14F-4D97-AF65-F5344CB8AC3E}">
        <p14:creationId xmlns:p14="http://schemas.microsoft.com/office/powerpoint/2010/main" val="28919393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71801" cy="497285"/>
          </a:xfrm>
          <a:prstGeom prst="rect">
            <a:avLst/>
          </a:prstGeom>
        </p:spPr>
        <p:txBody>
          <a:bodyPr vert="horz" lIns="91111" tIns="45555" rIns="91111" bIns="45555" rtlCol="0"/>
          <a:lstStyle>
            <a:lvl1pPr algn="l">
              <a:defRPr sz="1200"/>
            </a:lvl1pPr>
          </a:lstStyle>
          <a:p>
            <a:endParaRPr lang="tr-TR"/>
          </a:p>
        </p:txBody>
      </p:sp>
      <p:sp>
        <p:nvSpPr>
          <p:cNvPr id="3" name="Date Placeholder 2"/>
          <p:cNvSpPr>
            <a:spLocks noGrp="1"/>
          </p:cNvSpPr>
          <p:nvPr>
            <p:ph type="dt" idx="1"/>
          </p:nvPr>
        </p:nvSpPr>
        <p:spPr>
          <a:xfrm>
            <a:off x="3884613" y="1"/>
            <a:ext cx="2971801" cy="497285"/>
          </a:xfrm>
          <a:prstGeom prst="rect">
            <a:avLst/>
          </a:prstGeom>
        </p:spPr>
        <p:txBody>
          <a:bodyPr vert="horz" lIns="91111" tIns="45555" rIns="91111" bIns="45555" rtlCol="0"/>
          <a:lstStyle>
            <a:lvl1pPr algn="r">
              <a:defRPr sz="1200"/>
            </a:lvl1pPr>
          </a:lstStyle>
          <a:p>
            <a:fld id="{D48C765E-539C-483F-BCDF-F0F0AD79452C}" type="datetimeFigureOut">
              <a:rPr lang="tr-TR" smtClean="0"/>
              <a:pPr/>
              <a:t>8.05.2020</a:t>
            </a:fld>
            <a:endParaRPr lang="tr-TR"/>
          </a:p>
        </p:txBody>
      </p:sp>
      <p:sp>
        <p:nvSpPr>
          <p:cNvPr id="4" name="Slide Image Placeholder 3"/>
          <p:cNvSpPr>
            <a:spLocks noGrp="1" noRot="1" noChangeAspect="1"/>
          </p:cNvSpPr>
          <p:nvPr>
            <p:ph type="sldImg" idx="2"/>
          </p:nvPr>
        </p:nvSpPr>
        <p:spPr>
          <a:xfrm>
            <a:off x="942975" y="746125"/>
            <a:ext cx="4972050" cy="3729038"/>
          </a:xfrm>
          <a:prstGeom prst="rect">
            <a:avLst/>
          </a:prstGeom>
          <a:noFill/>
          <a:ln w="12700">
            <a:solidFill>
              <a:prstClr val="black"/>
            </a:solidFill>
          </a:ln>
        </p:spPr>
        <p:txBody>
          <a:bodyPr vert="horz" lIns="91111" tIns="45555" rIns="91111" bIns="45555" rtlCol="0" anchor="ctr"/>
          <a:lstStyle/>
          <a:p>
            <a:endParaRPr lang="tr-TR"/>
          </a:p>
        </p:txBody>
      </p:sp>
      <p:sp>
        <p:nvSpPr>
          <p:cNvPr id="5" name="Notes Placeholder 4"/>
          <p:cNvSpPr>
            <a:spLocks noGrp="1"/>
          </p:cNvSpPr>
          <p:nvPr>
            <p:ph type="body" sz="quarter" idx="3"/>
          </p:nvPr>
        </p:nvSpPr>
        <p:spPr>
          <a:xfrm>
            <a:off x="685800" y="4724203"/>
            <a:ext cx="5486400" cy="4475561"/>
          </a:xfrm>
          <a:prstGeom prst="rect">
            <a:avLst/>
          </a:prstGeom>
        </p:spPr>
        <p:txBody>
          <a:bodyPr vert="horz" lIns="91111" tIns="45555" rIns="91111" bIns="45555"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6" name="Footer Placeholder 5"/>
          <p:cNvSpPr>
            <a:spLocks noGrp="1"/>
          </p:cNvSpPr>
          <p:nvPr>
            <p:ph type="ftr" sz="quarter" idx="4"/>
          </p:nvPr>
        </p:nvSpPr>
        <p:spPr>
          <a:xfrm>
            <a:off x="1" y="9446678"/>
            <a:ext cx="2971801" cy="497285"/>
          </a:xfrm>
          <a:prstGeom prst="rect">
            <a:avLst/>
          </a:prstGeom>
        </p:spPr>
        <p:txBody>
          <a:bodyPr vert="horz" lIns="91111" tIns="45555" rIns="91111" bIns="45555" rtlCol="0" anchor="b"/>
          <a:lstStyle>
            <a:lvl1pPr algn="l">
              <a:defRPr sz="1200"/>
            </a:lvl1pPr>
          </a:lstStyle>
          <a:p>
            <a:endParaRPr lang="tr-TR"/>
          </a:p>
        </p:txBody>
      </p:sp>
      <p:sp>
        <p:nvSpPr>
          <p:cNvPr id="7" name="Slide Number Placeholder 6"/>
          <p:cNvSpPr>
            <a:spLocks noGrp="1"/>
          </p:cNvSpPr>
          <p:nvPr>
            <p:ph type="sldNum" sz="quarter" idx="5"/>
          </p:nvPr>
        </p:nvSpPr>
        <p:spPr>
          <a:xfrm>
            <a:off x="3884613" y="9446678"/>
            <a:ext cx="2971801" cy="497285"/>
          </a:xfrm>
          <a:prstGeom prst="rect">
            <a:avLst/>
          </a:prstGeom>
        </p:spPr>
        <p:txBody>
          <a:bodyPr vert="horz" lIns="91111" tIns="45555" rIns="91111" bIns="45555" rtlCol="0" anchor="b"/>
          <a:lstStyle>
            <a:lvl1pPr algn="r">
              <a:defRPr sz="1200"/>
            </a:lvl1pPr>
          </a:lstStyle>
          <a:p>
            <a:fld id="{AE8B6D33-EF40-4511-BB6D-F4559DCC6EDC}" type="slidenum">
              <a:rPr lang="tr-TR" smtClean="0"/>
              <a:pPr/>
              <a:t>‹#›</a:t>
            </a:fld>
            <a:endParaRPr lang="tr-TR"/>
          </a:p>
        </p:txBody>
      </p:sp>
    </p:spTree>
    <p:extLst>
      <p:ext uri="{BB962C8B-B14F-4D97-AF65-F5344CB8AC3E}">
        <p14:creationId xmlns:p14="http://schemas.microsoft.com/office/powerpoint/2010/main" val="385840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en-US"/>
          </a:p>
        </p:txBody>
      </p:sp>
      <p:sp>
        <p:nvSpPr>
          <p:cNvPr id="4" name="Slayt Numarası Yer Tutucusu 3"/>
          <p:cNvSpPr>
            <a:spLocks noGrp="1"/>
          </p:cNvSpPr>
          <p:nvPr>
            <p:ph type="sldNum" sz="quarter" idx="10"/>
          </p:nvPr>
        </p:nvSpPr>
        <p:spPr/>
        <p:txBody>
          <a:bodyPr/>
          <a:lstStyle/>
          <a:p>
            <a:fld id="{AE8B6D33-EF40-4511-BB6D-F4559DCC6EDC}" type="slidenum">
              <a:rPr lang="tr-TR" smtClean="0"/>
              <a:pPr/>
              <a:t>1</a:t>
            </a:fld>
            <a:endParaRPr lang="tr-TR"/>
          </a:p>
        </p:txBody>
      </p:sp>
    </p:spTree>
    <p:extLst>
      <p:ext uri="{BB962C8B-B14F-4D97-AF65-F5344CB8AC3E}">
        <p14:creationId xmlns:p14="http://schemas.microsoft.com/office/powerpoint/2010/main" val="1995640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6119486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7674872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16520611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1561921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2305068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14307822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18385821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750767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tr-TR"/>
          </a:p>
        </p:txBody>
      </p:sp>
      <p:sp>
        <p:nvSpPr>
          <p:cNvPr id="4" name="Date Placeholder 3"/>
          <p:cNvSpPr>
            <a:spLocks noGrp="1"/>
          </p:cNvSpPr>
          <p:nvPr>
            <p:ph type="dt" sz="half" idx="10"/>
          </p:nvPr>
        </p:nvSpPr>
        <p:spPr/>
        <p:txBody>
          <a:bodyPr/>
          <a:lstStyle/>
          <a:p>
            <a:fld id="{FDDAEEC2-418A-4AE9-8D76-1350AC2C960C}" type="datetime1">
              <a:rPr lang="tr-TR" smtClean="0"/>
              <a:pPr/>
              <a:t>8.05.2020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p:cNvSpPr>
          <p:nvPr>
            <p:ph type="dt" sz="half" idx="10"/>
          </p:nvPr>
        </p:nvSpPr>
        <p:spPr/>
        <p:txBody>
          <a:bodyPr/>
          <a:lstStyle/>
          <a:p>
            <a:fld id="{2D8B617E-CC2C-45DD-8B2D-8AE4EA5FC5F8}" type="datetime1">
              <a:rPr lang="tr-TR" smtClean="0"/>
              <a:pPr/>
              <a:t>8.05.2020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709D0F5-A4BC-46CD-8841-C457452FFEDC}" type="datetime1">
              <a:rPr lang="tr-TR" smtClean="0"/>
              <a:pPr/>
              <a:t>8.05.2020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5" name="Date Placeholder 4"/>
          <p:cNvSpPr>
            <a:spLocks noGrp="1"/>
          </p:cNvSpPr>
          <p:nvPr>
            <p:ph type="dt" sz="half" idx="10"/>
          </p:nvPr>
        </p:nvSpPr>
        <p:spPr/>
        <p:txBody>
          <a:bodyPr/>
          <a:lstStyle/>
          <a:p>
            <a:fld id="{4FA334DA-5AD4-4FA3-AFE8-2A8C67D70199}" type="datetime1">
              <a:rPr lang="tr-TR" smtClean="0"/>
              <a:pPr/>
              <a:t>8.05.2020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7" name="Date Placeholder 6"/>
          <p:cNvSpPr>
            <a:spLocks noGrp="1"/>
          </p:cNvSpPr>
          <p:nvPr>
            <p:ph type="dt" sz="half" idx="10"/>
          </p:nvPr>
        </p:nvSpPr>
        <p:spPr/>
        <p:txBody>
          <a:bodyPr/>
          <a:lstStyle/>
          <a:p>
            <a:fld id="{3C28F8EC-0934-411F-B635-3062B68C4A87}" type="datetime1">
              <a:rPr lang="tr-TR" smtClean="0"/>
              <a:pPr/>
              <a:t>8.05.2020</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Date Placeholder 2"/>
          <p:cNvSpPr>
            <a:spLocks noGrp="1"/>
          </p:cNvSpPr>
          <p:nvPr>
            <p:ph type="dt" sz="half" idx="10"/>
          </p:nvPr>
        </p:nvSpPr>
        <p:spPr/>
        <p:txBody>
          <a:bodyPr/>
          <a:lstStyle/>
          <a:p>
            <a:fld id="{865BC700-BE93-49BC-965A-FE7AF14E8E5E}" type="datetime1">
              <a:rPr lang="tr-TR" smtClean="0"/>
              <a:pPr/>
              <a:t>8.05.2020</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9B533D-1371-4A64-9DA7-B94E9E82C698}" type="datetime1">
              <a:rPr lang="tr-TR" smtClean="0"/>
              <a:pPr/>
              <a:t>8.05.2020</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3524A5A-A249-4E71-9C80-CB1606C64E4A}" type="datetime1">
              <a:rPr lang="tr-TR" smtClean="0"/>
              <a:pPr/>
              <a:t>8.05.2020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DBAA4DE-DE11-46F8-8818-543B671E4FAF}" type="datetime1">
              <a:rPr lang="tr-TR" smtClean="0"/>
              <a:pPr/>
              <a:t>8.05.2020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p:cNvSpPr>
          <p:nvPr>
            <p:ph type="dt" sz="half" idx="10"/>
          </p:nvPr>
        </p:nvSpPr>
        <p:spPr/>
        <p:txBody>
          <a:bodyPr/>
          <a:lstStyle/>
          <a:p>
            <a:fld id="{9D0022AE-E832-4A8B-9536-4372F3E1F6C7}" type="datetime1">
              <a:rPr lang="tr-TR" smtClean="0"/>
              <a:pPr/>
              <a:t>8.05.2020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p:cNvSpPr>
          <p:nvPr>
            <p:ph type="dt" sz="half" idx="10"/>
          </p:nvPr>
        </p:nvSpPr>
        <p:spPr/>
        <p:txBody>
          <a:bodyPr/>
          <a:lstStyle/>
          <a:p>
            <a:fld id="{532FB04C-27DE-4D51-8F84-8865E814DCCD}" type="datetime1">
              <a:rPr lang="tr-TR" smtClean="0"/>
              <a:pPr/>
              <a:t>8.05.2020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tr-T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B7707C-6B9A-4E38-AEE2-597F60E606B3}" type="datetime1">
              <a:rPr lang="tr-TR" smtClean="0"/>
              <a:pPr/>
              <a:t>8.05.2020</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C0ACAC-419D-446D-993D-E467CC79BCB5}"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683568" y="1268760"/>
            <a:ext cx="7772400" cy="1470025"/>
          </a:xfrm>
        </p:spPr>
        <p:txBody>
          <a:bodyPr>
            <a:normAutofit/>
          </a:bodyPr>
          <a:lstStyle/>
          <a:p>
            <a:pPr>
              <a:spcBef>
                <a:spcPts val="600"/>
              </a:spcBef>
              <a:spcAft>
                <a:spcPts val="600"/>
              </a:spcAft>
            </a:pPr>
            <a:r>
              <a:rPr lang="tr-TR" sz="1200" smtClean="0"/>
              <a:t> </a:t>
            </a:r>
            <a:endParaRPr lang="tr-TR" sz="1200"/>
          </a:p>
        </p:txBody>
      </p:sp>
      <p:sp>
        <p:nvSpPr>
          <p:cNvPr id="6" name="Subtitle 5"/>
          <p:cNvSpPr>
            <a:spLocks noGrp="1"/>
          </p:cNvSpPr>
          <p:nvPr>
            <p:ph type="subTitle" idx="1"/>
          </p:nvPr>
        </p:nvSpPr>
        <p:spPr>
          <a:xfrm>
            <a:off x="717340" y="620688"/>
            <a:ext cx="7704856" cy="4824536"/>
          </a:xfrm>
          <a:ln w="25400">
            <a:noFill/>
          </a:ln>
        </p:spPr>
        <p:txBody>
          <a:bodyPr>
            <a:noAutofit/>
          </a:bodyPr>
          <a:lstStyle/>
          <a:p>
            <a:pPr>
              <a:spcBef>
                <a:spcPts val="0"/>
              </a:spcBef>
            </a:pPr>
            <a:endParaRPr lang="tr-TR" sz="800" dirty="0" smtClean="0">
              <a:solidFill>
                <a:srgbClr val="800000"/>
              </a:solidFill>
              <a:latin typeface="Arial Narrow" pitchFamily="34" charset="0"/>
            </a:endParaRPr>
          </a:p>
          <a:p>
            <a:pPr>
              <a:spcBef>
                <a:spcPts val="0"/>
              </a:spcBef>
            </a:pPr>
            <a:r>
              <a:rPr lang="tr-TR" sz="1800" dirty="0">
                <a:solidFill>
                  <a:schemeClr val="tx1"/>
                </a:solidFill>
                <a:latin typeface="Arial Narrow" pitchFamily="34" charset="0"/>
              </a:rPr>
              <a:t>NTE 1010</a:t>
            </a:r>
          </a:p>
          <a:p>
            <a:pPr>
              <a:spcBef>
                <a:spcPts val="0"/>
              </a:spcBef>
            </a:pPr>
            <a:r>
              <a:rPr lang="tr-TR" sz="1800" dirty="0" err="1">
                <a:solidFill>
                  <a:schemeClr val="tx1"/>
                </a:solidFill>
                <a:latin typeface="Arial Narrow" pitchFamily="34" charset="0"/>
              </a:rPr>
              <a:t>Introduction</a:t>
            </a:r>
            <a:r>
              <a:rPr lang="tr-TR" sz="1800" dirty="0">
                <a:solidFill>
                  <a:schemeClr val="tx1"/>
                </a:solidFill>
                <a:latin typeface="Arial Narrow" pitchFamily="34" charset="0"/>
              </a:rPr>
              <a:t> </a:t>
            </a:r>
            <a:r>
              <a:rPr lang="tr-TR" sz="1800" dirty="0" err="1">
                <a:solidFill>
                  <a:schemeClr val="tx1"/>
                </a:solidFill>
                <a:latin typeface="Arial Narrow" pitchFamily="34" charset="0"/>
              </a:rPr>
              <a:t>to</a:t>
            </a:r>
            <a:r>
              <a:rPr lang="tr-TR" sz="1800" dirty="0">
                <a:solidFill>
                  <a:schemeClr val="tx1"/>
                </a:solidFill>
                <a:latin typeface="Arial Narrow" pitchFamily="34" charset="0"/>
              </a:rPr>
              <a:t> Finance </a:t>
            </a:r>
            <a:r>
              <a:rPr lang="tr-TR" sz="1800" dirty="0" err="1">
                <a:solidFill>
                  <a:schemeClr val="tx1"/>
                </a:solidFill>
                <a:latin typeface="Arial Narrow" pitchFamily="34" charset="0"/>
              </a:rPr>
              <a:t>for</a:t>
            </a:r>
            <a:r>
              <a:rPr lang="tr-TR" sz="1800" dirty="0">
                <a:solidFill>
                  <a:schemeClr val="tx1"/>
                </a:solidFill>
                <a:latin typeface="Arial Narrow" pitchFamily="34" charset="0"/>
              </a:rPr>
              <a:t> </a:t>
            </a:r>
            <a:r>
              <a:rPr lang="tr-TR" sz="1800" dirty="0" err="1" smtClean="0">
                <a:solidFill>
                  <a:schemeClr val="tx1"/>
                </a:solidFill>
                <a:latin typeface="Arial Narrow" pitchFamily="34" charset="0"/>
              </a:rPr>
              <a:t>Engineers</a:t>
            </a:r>
            <a:endParaRPr lang="tr-TR" sz="1800" dirty="0" smtClean="0">
              <a:solidFill>
                <a:schemeClr val="tx1"/>
              </a:solidFill>
              <a:latin typeface="Arial Narrow" pitchFamily="34" charset="0"/>
            </a:endParaRPr>
          </a:p>
          <a:p>
            <a:pPr>
              <a:spcBef>
                <a:spcPts val="0"/>
              </a:spcBef>
            </a:pPr>
            <a:endParaRPr lang="tr-TR" sz="2400" dirty="0">
              <a:solidFill>
                <a:srgbClr val="800000"/>
              </a:solidFill>
              <a:latin typeface="Arial Narrow" pitchFamily="34" charset="0"/>
            </a:endParaRPr>
          </a:p>
          <a:p>
            <a:pPr>
              <a:spcBef>
                <a:spcPts val="0"/>
              </a:spcBef>
            </a:pPr>
            <a:r>
              <a:rPr lang="tr-TR" sz="2200" dirty="0">
                <a:solidFill>
                  <a:srgbClr val="000066"/>
                </a:solidFill>
                <a:latin typeface="Arial Narrow" pitchFamily="34" charset="0"/>
              </a:rPr>
              <a:t>Spring </a:t>
            </a:r>
            <a:r>
              <a:rPr lang="tr-TR" sz="2200" dirty="0" smtClean="0">
                <a:solidFill>
                  <a:srgbClr val="000066"/>
                </a:solidFill>
                <a:latin typeface="Arial Narrow" pitchFamily="34" charset="0"/>
              </a:rPr>
              <a:t>2020</a:t>
            </a:r>
          </a:p>
          <a:p>
            <a:pPr>
              <a:spcBef>
                <a:spcPts val="0"/>
              </a:spcBef>
            </a:pPr>
            <a:endParaRPr lang="tr-TR" sz="2200" dirty="0">
              <a:solidFill>
                <a:srgbClr val="000066"/>
              </a:solidFill>
              <a:latin typeface="Arial Narrow" pitchFamily="34" charset="0"/>
            </a:endParaRPr>
          </a:p>
          <a:p>
            <a:pPr>
              <a:spcBef>
                <a:spcPts val="0"/>
              </a:spcBef>
            </a:pPr>
            <a:r>
              <a:rPr lang="tr-TR" sz="2600" dirty="0" err="1">
                <a:solidFill>
                  <a:srgbClr val="000066"/>
                </a:solidFill>
                <a:latin typeface="Arial Narrow" pitchFamily="34" charset="0"/>
              </a:rPr>
              <a:t>week</a:t>
            </a:r>
            <a:endParaRPr lang="tr-TR" sz="2600" dirty="0">
              <a:solidFill>
                <a:srgbClr val="000066"/>
              </a:solidFill>
              <a:latin typeface="Arial Narrow" pitchFamily="34" charset="0"/>
            </a:endParaRPr>
          </a:p>
          <a:p>
            <a:pPr>
              <a:spcBef>
                <a:spcPts val="0"/>
              </a:spcBef>
            </a:pPr>
            <a:r>
              <a:rPr lang="tr-TR" sz="3600" dirty="0" smtClean="0">
                <a:solidFill>
                  <a:srgbClr val="000066"/>
                </a:solidFill>
                <a:latin typeface="Arial Narrow" pitchFamily="34" charset="0"/>
              </a:rPr>
              <a:t>13</a:t>
            </a:r>
            <a:endParaRPr lang="tr-TR" sz="3600" dirty="0">
              <a:solidFill>
                <a:srgbClr val="000066"/>
              </a:solidFill>
              <a:latin typeface="Arial Narrow" pitchFamily="34" charset="0"/>
            </a:endParaRPr>
          </a:p>
          <a:p>
            <a:pPr>
              <a:spcBef>
                <a:spcPts val="0"/>
              </a:spcBef>
            </a:pPr>
            <a:endParaRPr lang="tr-TR" sz="2400" dirty="0">
              <a:solidFill>
                <a:schemeClr val="tx1"/>
              </a:solidFill>
              <a:latin typeface="Arial Narrow" pitchFamily="34" charset="0"/>
            </a:endParaRPr>
          </a:p>
          <a:p>
            <a:pPr>
              <a:spcBef>
                <a:spcPts val="0"/>
              </a:spcBef>
            </a:pPr>
            <a:endParaRPr lang="tr-TR" sz="2400" dirty="0">
              <a:solidFill>
                <a:schemeClr val="tx1"/>
              </a:solidFill>
              <a:latin typeface="Arial Narrow" pitchFamily="34" charset="0"/>
            </a:endParaRPr>
          </a:p>
          <a:p>
            <a:pPr>
              <a:spcBef>
                <a:spcPts val="0"/>
              </a:spcBef>
            </a:pPr>
            <a:r>
              <a:rPr lang="tr-TR" dirty="0">
                <a:solidFill>
                  <a:srgbClr val="800000"/>
                </a:solidFill>
                <a:latin typeface="Arial Narrow" pitchFamily="34" charset="0"/>
              </a:rPr>
              <a:t>International Financial </a:t>
            </a:r>
            <a:r>
              <a:rPr lang="tr-TR" dirty="0" err="1">
                <a:solidFill>
                  <a:srgbClr val="800000"/>
                </a:solidFill>
                <a:latin typeface="Arial Narrow" pitchFamily="34" charset="0"/>
              </a:rPr>
              <a:t>System</a:t>
            </a:r>
            <a:endParaRPr lang="tr-TR" dirty="0">
              <a:solidFill>
                <a:srgbClr val="800000"/>
              </a:solidFill>
              <a:latin typeface="Arial Narrow" pitchFamily="34" charset="0"/>
            </a:endParaRPr>
          </a:p>
        </p:txBody>
      </p:sp>
    </p:spTree>
    <p:extLst>
      <p:ext uri="{BB962C8B-B14F-4D97-AF65-F5344CB8AC3E}">
        <p14:creationId xmlns:p14="http://schemas.microsoft.com/office/powerpoint/2010/main" val="6682274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88640"/>
            <a:ext cx="8229600" cy="1143000"/>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400" dirty="0" smtClean="0">
                <a:solidFill>
                  <a:srgbClr val="800000"/>
                </a:solidFill>
                <a:latin typeface="Arial Narrow" pitchFamily="34" charset="0"/>
              </a:rPr>
              <a:t>International Financial </a:t>
            </a:r>
            <a:r>
              <a:rPr lang="tr-TR" sz="2400" dirty="0" err="1" smtClean="0">
                <a:solidFill>
                  <a:srgbClr val="800000"/>
                </a:solidFill>
                <a:latin typeface="Arial Narrow" pitchFamily="34" charset="0"/>
              </a:rPr>
              <a:t>System</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800" dirty="0" err="1" smtClean="0">
                <a:latin typeface="Arial Narrow" pitchFamily="34" charset="0"/>
              </a:rPr>
              <a:t>Balance</a:t>
            </a:r>
            <a:r>
              <a:rPr lang="tr-TR" sz="2800" dirty="0" smtClean="0">
                <a:latin typeface="Arial Narrow" pitchFamily="34" charset="0"/>
              </a:rPr>
              <a:t> of </a:t>
            </a:r>
            <a:r>
              <a:rPr lang="tr-TR" sz="2800" dirty="0" err="1" smtClean="0">
                <a:latin typeface="Arial Narrow" pitchFamily="34" charset="0"/>
              </a:rPr>
              <a:t>Payments</a:t>
            </a:r>
            <a:endParaRPr lang="tr-TR" sz="2800" dirty="0">
              <a:latin typeface="Arial Narrow" pitchFamily="34" charset="0"/>
            </a:endParaRPr>
          </a:p>
        </p:txBody>
      </p:sp>
      <p:sp>
        <p:nvSpPr>
          <p:cNvPr id="5" name="Content Placeholder 4"/>
          <p:cNvSpPr>
            <a:spLocks noGrp="1"/>
          </p:cNvSpPr>
          <p:nvPr>
            <p:ph idx="1"/>
          </p:nvPr>
        </p:nvSpPr>
        <p:spPr>
          <a:xfrm>
            <a:off x="457200" y="1412776"/>
            <a:ext cx="8229600" cy="5256584"/>
          </a:xfrm>
          <a:ln w="25400">
            <a:noFill/>
          </a:ln>
        </p:spPr>
        <p:txBody>
          <a:bodyPr>
            <a:noAutofit/>
          </a:bodyPr>
          <a:lstStyle/>
          <a:p>
            <a:pPr marL="0" lvl="0" indent="0" algn="ctr">
              <a:spcBef>
                <a:spcPts val="0"/>
              </a:spcBef>
              <a:buNone/>
            </a:pPr>
            <a:endParaRPr lang="tr-TR" sz="800" dirty="0" smtClean="0">
              <a:latin typeface="Arial Narrow" panose="020B0606020202030204" pitchFamily="34" charset="0"/>
            </a:endParaRPr>
          </a:p>
          <a:p>
            <a:pPr marL="0" lvl="0" indent="0" algn="ctr">
              <a:spcBef>
                <a:spcPts val="0"/>
              </a:spcBef>
              <a:buNone/>
            </a:pPr>
            <a:r>
              <a:rPr lang="tr-TR" sz="1600" dirty="0" smtClean="0">
                <a:latin typeface="Arial Narrow" panose="020B0606020202030204" pitchFamily="34" charset="0"/>
              </a:rPr>
              <a:t>A </a:t>
            </a:r>
            <a:r>
              <a:rPr lang="tr-TR" sz="1600" dirty="0" err="1" smtClean="0">
                <a:latin typeface="Arial Narrow" panose="020B0606020202030204" pitchFamily="34" charset="0"/>
              </a:rPr>
              <a:t>bookkeeping</a:t>
            </a:r>
            <a:r>
              <a:rPr lang="tr-TR" sz="1600" dirty="0" smtClean="0">
                <a:latin typeface="Arial Narrow" panose="020B0606020202030204" pitchFamily="34" charset="0"/>
              </a:rPr>
              <a:t> </a:t>
            </a:r>
            <a:r>
              <a:rPr lang="tr-TR" sz="1600" dirty="0" err="1" smtClean="0">
                <a:latin typeface="Arial Narrow" panose="020B0606020202030204" pitchFamily="34" charset="0"/>
              </a:rPr>
              <a:t>system</a:t>
            </a:r>
            <a:r>
              <a:rPr lang="tr-TR" sz="1600" dirty="0" smtClean="0">
                <a:latin typeface="Arial Narrow" panose="020B0606020202030204" pitchFamily="34" charset="0"/>
              </a:rPr>
              <a:t> </a:t>
            </a:r>
            <a:r>
              <a:rPr lang="tr-TR" sz="1600" dirty="0" err="1" smtClean="0">
                <a:latin typeface="Arial Narrow" panose="020B0606020202030204" pitchFamily="34" charset="0"/>
              </a:rPr>
              <a:t>for</a:t>
            </a:r>
            <a:r>
              <a:rPr lang="tr-TR" sz="1600" dirty="0" smtClean="0">
                <a:latin typeface="Arial Narrow" panose="020B0606020202030204" pitchFamily="34" charset="0"/>
              </a:rPr>
              <a:t> </a:t>
            </a:r>
            <a:r>
              <a:rPr lang="tr-TR" sz="1600" dirty="0" err="1" smtClean="0">
                <a:latin typeface="Arial Narrow" panose="020B0606020202030204" pitchFamily="34" charset="0"/>
              </a:rPr>
              <a:t>recording</a:t>
            </a:r>
            <a:r>
              <a:rPr lang="tr-TR" sz="1600" dirty="0" smtClean="0">
                <a:latin typeface="Arial Narrow" panose="020B0606020202030204" pitchFamily="34" charset="0"/>
              </a:rPr>
              <a:t> </a:t>
            </a:r>
            <a:r>
              <a:rPr lang="tr-TR" sz="1600" dirty="0" err="1" smtClean="0">
                <a:latin typeface="Arial Narrow" panose="020B0606020202030204" pitchFamily="34" charset="0"/>
              </a:rPr>
              <a:t>all</a:t>
            </a:r>
            <a:r>
              <a:rPr lang="tr-TR" sz="1600" dirty="0" smtClean="0">
                <a:latin typeface="Arial Narrow" panose="020B0606020202030204" pitchFamily="34" charset="0"/>
              </a:rPr>
              <a:t> </a:t>
            </a:r>
            <a:r>
              <a:rPr lang="tr-TR" sz="1600" dirty="0" err="1" smtClean="0">
                <a:latin typeface="Arial Narrow" panose="020B0606020202030204" pitchFamily="34" charset="0"/>
              </a:rPr>
              <a:t>receipts</a:t>
            </a:r>
            <a:r>
              <a:rPr lang="tr-TR" sz="1600" dirty="0" smtClean="0">
                <a:latin typeface="Arial Narrow" panose="020B0606020202030204" pitchFamily="34" charset="0"/>
              </a:rPr>
              <a:t> </a:t>
            </a:r>
            <a:r>
              <a:rPr lang="tr-TR" sz="1600" dirty="0" err="1" smtClean="0">
                <a:latin typeface="Arial Narrow" panose="020B0606020202030204" pitchFamily="34" charset="0"/>
              </a:rPr>
              <a:t>and</a:t>
            </a:r>
            <a:r>
              <a:rPr lang="tr-TR" sz="1600" dirty="0" smtClean="0">
                <a:latin typeface="Arial Narrow" panose="020B0606020202030204" pitchFamily="34" charset="0"/>
              </a:rPr>
              <a:t> </a:t>
            </a:r>
            <a:r>
              <a:rPr lang="tr-TR" sz="1600" dirty="0" err="1" smtClean="0">
                <a:latin typeface="Arial Narrow" panose="020B0606020202030204" pitchFamily="34" charset="0"/>
              </a:rPr>
              <a:t>payments</a:t>
            </a:r>
            <a:r>
              <a:rPr lang="tr-TR" sz="1600" dirty="0" smtClean="0">
                <a:latin typeface="Arial Narrow" panose="020B0606020202030204" pitchFamily="34" charset="0"/>
              </a:rPr>
              <a:t> (</a:t>
            </a:r>
            <a:r>
              <a:rPr lang="tr-TR" sz="1600" dirty="0" err="1" smtClean="0">
                <a:latin typeface="Arial Narrow" panose="020B0606020202030204" pitchFamily="34" charset="0"/>
              </a:rPr>
              <a:t>private</a:t>
            </a:r>
            <a:r>
              <a:rPr lang="tr-TR" sz="1600" dirty="0" smtClean="0">
                <a:latin typeface="Arial Narrow" panose="020B0606020202030204" pitchFamily="34" charset="0"/>
              </a:rPr>
              <a:t> </a:t>
            </a:r>
            <a:r>
              <a:rPr lang="tr-TR" sz="1600" dirty="0" err="1" smtClean="0">
                <a:latin typeface="Arial Narrow" panose="020B0606020202030204" pitchFamily="34" charset="0"/>
              </a:rPr>
              <a:t>sector</a:t>
            </a:r>
            <a:r>
              <a:rPr lang="tr-TR" sz="1600" dirty="0" smtClean="0">
                <a:latin typeface="Arial Narrow" panose="020B0606020202030204" pitchFamily="34" charset="0"/>
              </a:rPr>
              <a:t> </a:t>
            </a:r>
            <a:r>
              <a:rPr lang="tr-TR" sz="1600" dirty="0" err="1" smtClean="0">
                <a:latin typeface="Arial Narrow" panose="020B0606020202030204" pitchFamily="34" charset="0"/>
              </a:rPr>
              <a:t>and</a:t>
            </a:r>
            <a:r>
              <a:rPr lang="tr-TR" sz="1600" dirty="0" smtClean="0">
                <a:latin typeface="Arial Narrow" panose="020B0606020202030204" pitchFamily="34" charset="0"/>
              </a:rPr>
              <a:t> </a:t>
            </a:r>
            <a:r>
              <a:rPr lang="tr-TR" sz="1600" dirty="0" err="1" smtClean="0">
                <a:latin typeface="Arial Narrow" panose="020B0606020202030204" pitchFamily="34" charset="0"/>
              </a:rPr>
              <a:t>government</a:t>
            </a:r>
            <a:r>
              <a:rPr lang="tr-TR" sz="1600" dirty="0" smtClean="0">
                <a:latin typeface="Arial Narrow" panose="020B0606020202030204" pitchFamily="34" charset="0"/>
              </a:rPr>
              <a:t>)</a:t>
            </a:r>
          </a:p>
          <a:p>
            <a:pPr marL="0" lvl="0" indent="0" algn="ctr">
              <a:spcBef>
                <a:spcPts val="0"/>
              </a:spcBef>
              <a:buNone/>
            </a:pPr>
            <a:r>
              <a:rPr lang="tr-TR" sz="1600" dirty="0" err="1" smtClean="0">
                <a:latin typeface="Arial Narrow" panose="020B0606020202030204" pitchFamily="34" charset="0"/>
              </a:rPr>
              <a:t>that</a:t>
            </a:r>
            <a:r>
              <a:rPr lang="tr-TR" sz="1600" dirty="0" smtClean="0">
                <a:latin typeface="Arial Narrow" panose="020B0606020202030204" pitchFamily="34" charset="0"/>
              </a:rPr>
              <a:t> </a:t>
            </a:r>
            <a:r>
              <a:rPr lang="tr-TR" sz="1600" dirty="0" err="1" smtClean="0">
                <a:latin typeface="Arial Narrow" panose="020B0606020202030204" pitchFamily="34" charset="0"/>
              </a:rPr>
              <a:t>have</a:t>
            </a:r>
            <a:r>
              <a:rPr lang="tr-TR" sz="1600" dirty="0" smtClean="0">
                <a:latin typeface="Arial Narrow" panose="020B0606020202030204" pitchFamily="34" charset="0"/>
              </a:rPr>
              <a:t> a </a:t>
            </a:r>
            <a:r>
              <a:rPr lang="tr-TR" sz="1600" dirty="0" err="1" smtClean="0">
                <a:latin typeface="Arial Narrow" panose="020B0606020202030204" pitchFamily="34" charset="0"/>
              </a:rPr>
              <a:t>direct</a:t>
            </a:r>
            <a:r>
              <a:rPr lang="tr-TR" sz="1600" dirty="0" smtClean="0">
                <a:latin typeface="Arial Narrow" panose="020B0606020202030204" pitchFamily="34" charset="0"/>
              </a:rPr>
              <a:t> </a:t>
            </a:r>
            <a:r>
              <a:rPr lang="tr-TR" sz="1600" dirty="0" err="1" smtClean="0">
                <a:latin typeface="Arial Narrow" panose="020B0606020202030204" pitchFamily="34" charset="0"/>
              </a:rPr>
              <a:t>bearing</a:t>
            </a:r>
            <a:r>
              <a:rPr lang="tr-TR" sz="1600" dirty="0" smtClean="0">
                <a:latin typeface="Arial Narrow" panose="020B0606020202030204" pitchFamily="34" charset="0"/>
              </a:rPr>
              <a:t> on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movement</a:t>
            </a:r>
            <a:r>
              <a:rPr lang="tr-TR" sz="1600" dirty="0" smtClean="0">
                <a:latin typeface="Arial Narrow" panose="020B0606020202030204" pitchFamily="34" charset="0"/>
              </a:rPr>
              <a:t> of </a:t>
            </a:r>
            <a:r>
              <a:rPr lang="tr-TR" sz="1600" dirty="0" err="1" smtClean="0">
                <a:latin typeface="Arial Narrow" panose="020B0606020202030204" pitchFamily="34" charset="0"/>
              </a:rPr>
              <a:t>funds</a:t>
            </a:r>
            <a:r>
              <a:rPr lang="tr-TR" sz="1600" dirty="0" smtClean="0">
                <a:latin typeface="Arial Narrow" panose="020B0606020202030204" pitchFamily="34" charset="0"/>
              </a:rPr>
              <a:t> </a:t>
            </a:r>
            <a:r>
              <a:rPr lang="tr-TR" sz="1600" dirty="0" err="1" smtClean="0">
                <a:latin typeface="Arial Narrow" panose="020B0606020202030204" pitchFamily="34" charset="0"/>
              </a:rPr>
              <a:t>betweena</a:t>
            </a:r>
            <a:r>
              <a:rPr lang="tr-TR" sz="1600" dirty="0" smtClean="0">
                <a:latin typeface="Arial Narrow" panose="020B0606020202030204" pitchFamily="34" charset="0"/>
              </a:rPr>
              <a:t> </a:t>
            </a:r>
            <a:r>
              <a:rPr lang="tr-TR" sz="1600" dirty="0" err="1" smtClean="0">
                <a:latin typeface="Arial Narrow" panose="020B0606020202030204" pitchFamily="34" charset="0"/>
              </a:rPr>
              <a:t>nation</a:t>
            </a:r>
            <a:r>
              <a:rPr lang="tr-TR" sz="1600" dirty="0" smtClean="0">
                <a:latin typeface="Arial Narrow" panose="020B0606020202030204" pitchFamily="34" charset="0"/>
              </a:rPr>
              <a:t> </a:t>
            </a:r>
            <a:r>
              <a:rPr lang="tr-TR" sz="1600" dirty="0" err="1" smtClean="0">
                <a:latin typeface="Arial Narrow" panose="020B0606020202030204" pitchFamily="34" charset="0"/>
              </a:rPr>
              <a:t>and</a:t>
            </a:r>
            <a:r>
              <a:rPr lang="tr-TR" sz="1600" dirty="0" smtClean="0">
                <a:latin typeface="Arial Narrow" panose="020B0606020202030204" pitchFamily="34" charset="0"/>
              </a:rPr>
              <a:t> </a:t>
            </a:r>
            <a:r>
              <a:rPr lang="tr-TR" sz="1600" dirty="0" err="1" smtClean="0">
                <a:latin typeface="Arial Narrow" panose="020B0606020202030204" pitchFamily="34" charset="0"/>
              </a:rPr>
              <a:t>foreign</a:t>
            </a:r>
            <a:r>
              <a:rPr lang="tr-TR" sz="1600" dirty="0" smtClean="0">
                <a:latin typeface="Arial Narrow" panose="020B0606020202030204" pitchFamily="34" charset="0"/>
              </a:rPr>
              <a:t> </a:t>
            </a:r>
            <a:r>
              <a:rPr lang="tr-TR" sz="1600" dirty="0" err="1" smtClean="0">
                <a:latin typeface="Arial Narrow" panose="020B0606020202030204" pitchFamily="34" charset="0"/>
              </a:rPr>
              <a:t>countries</a:t>
            </a:r>
            <a:r>
              <a:rPr lang="tr-TR" sz="1600" dirty="0" smtClean="0">
                <a:latin typeface="Arial Narrow" panose="020B0606020202030204" pitchFamily="34" charset="0"/>
              </a:rPr>
              <a:t>.</a:t>
            </a:r>
          </a:p>
          <a:p>
            <a:pPr marL="0" lvl="0" indent="0" algn="ctr">
              <a:spcBef>
                <a:spcPts val="0"/>
              </a:spcBef>
              <a:buNone/>
            </a:pPr>
            <a:endParaRPr lang="tr-TR" sz="800" noProof="1">
              <a:latin typeface="Arial Narrow" panose="020B0606020202030204" pitchFamily="34" charset="0"/>
            </a:endParaRPr>
          </a:p>
          <a:p>
            <a:pPr marL="0" lvl="0" indent="0" algn="ctr">
              <a:spcBef>
                <a:spcPts val="0"/>
              </a:spcBef>
              <a:buNone/>
            </a:pPr>
            <a:r>
              <a:rPr lang="tr-TR" sz="1600" noProof="1" smtClean="0">
                <a:latin typeface="Arial Narrow" panose="020B0606020202030204" pitchFamily="34" charset="0"/>
              </a:rPr>
              <a:t>The </a:t>
            </a:r>
            <a:r>
              <a:rPr lang="tr-TR" sz="1600" noProof="1" smtClean="0">
                <a:solidFill>
                  <a:srgbClr val="800000"/>
                </a:solidFill>
                <a:latin typeface="Arial Narrow" panose="020B0606020202030204" pitchFamily="34" charset="0"/>
              </a:rPr>
              <a:t>current account </a:t>
            </a:r>
            <a:r>
              <a:rPr lang="tr-TR" sz="1600" noProof="1" smtClean="0">
                <a:latin typeface="Arial Narrow" panose="020B0606020202030204" pitchFamily="34" charset="0"/>
              </a:rPr>
              <a:t>shows international transactions that involve</a:t>
            </a:r>
          </a:p>
          <a:p>
            <a:pPr marL="0" lvl="0" indent="0" algn="ctr">
              <a:spcBef>
                <a:spcPts val="0"/>
              </a:spcBef>
              <a:buNone/>
            </a:pPr>
            <a:r>
              <a:rPr lang="tr-TR" sz="1600" noProof="1" smtClean="0">
                <a:latin typeface="Arial Narrow" panose="020B0606020202030204" pitchFamily="34" charset="0"/>
              </a:rPr>
              <a:t>currently produced goods and services. </a:t>
            </a:r>
          </a:p>
          <a:p>
            <a:pPr marL="0" lvl="0" indent="0" algn="ctr">
              <a:spcBef>
                <a:spcPts val="0"/>
              </a:spcBef>
              <a:buNone/>
            </a:pPr>
            <a:r>
              <a:rPr lang="tr-TR" sz="1600" noProof="1" smtClean="0">
                <a:latin typeface="Arial Narrow" panose="020B0606020202030204" pitchFamily="34" charset="0"/>
              </a:rPr>
              <a:t>The difference between merchandise exports and imports, the net receipts from trade,</a:t>
            </a:r>
          </a:p>
          <a:p>
            <a:pPr marL="0" lvl="0" indent="0" algn="ctr">
              <a:spcBef>
                <a:spcPts val="0"/>
              </a:spcBef>
              <a:buNone/>
            </a:pPr>
            <a:r>
              <a:rPr lang="tr-TR" sz="1600" noProof="1" smtClean="0">
                <a:latin typeface="Arial Narrow" panose="020B0606020202030204" pitchFamily="34" charset="0"/>
              </a:rPr>
              <a:t>is called the </a:t>
            </a:r>
            <a:r>
              <a:rPr lang="tr-TR" sz="1600" noProof="1" smtClean="0">
                <a:solidFill>
                  <a:srgbClr val="800000"/>
                </a:solidFill>
                <a:latin typeface="Arial Narrow" panose="020B0606020202030204" pitchFamily="34" charset="0"/>
              </a:rPr>
              <a:t>trade balance</a:t>
            </a:r>
            <a:r>
              <a:rPr lang="tr-TR" sz="1600" noProof="1" smtClean="0">
                <a:latin typeface="Arial Narrow" panose="020B0606020202030204" pitchFamily="34" charset="0"/>
              </a:rPr>
              <a:t>.</a:t>
            </a:r>
          </a:p>
          <a:p>
            <a:pPr marL="0" lvl="0" indent="0" algn="ctr">
              <a:spcBef>
                <a:spcPts val="0"/>
              </a:spcBef>
              <a:buNone/>
            </a:pPr>
            <a:r>
              <a:rPr lang="tr-TR" sz="1600" noProof="1" smtClean="0">
                <a:latin typeface="Arial Narrow" panose="020B0606020202030204" pitchFamily="34" charset="0"/>
              </a:rPr>
              <a:t>Additional items included in the current account are</a:t>
            </a:r>
          </a:p>
          <a:p>
            <a:pPr marL="0" lvl="0" indent="0" algn="ctr">
              <a:spcBef>
                <a:spcPts val="0"/>
              </a:spcBef>
              <a:buNone/>
            </a:pPr>
            <a:r>
              <a:rPr lang="tr-TR" sz="1600" noProof="1" smtClean="0">
                <a:latin typeface="Arial Narrow" panose="020B0606020202030204" pitchFamily="34" charset="0"/>
              </a:rPr>
              <a:t>the net receipts (cash flows received from abroad minus cash flows sent abroad)</a:t>
            </a:r>
          </a:p>
          <a:p>
            <a:pPr marL="0" lvl="0" indent="0" algn="ctr">
              <a:spcBef>
                <a:spcPts val="0"/>
              </a:spcBef>
              <a:buNone/>
            </a:pPr>
            <a:r>
              <a:rPr lang="tr-TR" sz="1600" noProof="1" smtClean="0">
                <a:latin typeface="Arial Narrow" panose="020B0606020202030204" pitchFamily="34" charset="0"/>
              </a:rPr>
              <a:t>from three categories:</a:t>
            </a:r>
          </a:p>
          <a:p>
            <a:pPr algn="ctr">
              <a:spcBef>
                <a:spcPts val="0"/>
              </a:spcBef>
            </a:pPr>
            <a:r>
              <a:rPr lang="tr-TR" sz="1600" noProof="1" smtClean="0">
                <a:latin typeface="Arial Narrow" panose="020B0606020202030204" pitchFamily="34" charset="0"/>
              </a:rPr>
              <a:t>investment income</a:t>
            </a:r>
          </a:p>
          <a:p>
            <a:pPr algn="ctr">
              <a:spcBef>
                <a:spcPts val="0"/>
              </a:spcBef>
            </a:pPr>
            <a:r>
              <a:rPr lang="tr-TR" sz="1600" noProof="1" smtClean="0">
                <a:latin typeface="Arial Narrow" panose="020B0606020202030204" pitchFamily="34" charset="0"/>
              </a:rPr>
              <a:t>service transactions</a:t>
            </a:r>
          </a:p>
          <a:p>
            <a:pPr algn="ctr">
              <a:spcBef>
                <a:spcPts val="0"/>
              </a:spcBef>
            </a:pPr>
            <a:r>
              <a:rPr lang="tr-TR" sz="1600" noProof="1" smtClean="0">
                <a:latin typeface="Arial Narrow" panose="020B0606020202030204" pitchFamily="34" charset="0"/>
              </a:rPr>
              <a:t>unilateral transfers (gifts, pensions, and foreign aid)</a:t>
            </a:r>
          </a:p>
          <a:p>
            <a:pPr marL="0" lvl="0" indent="0" algn="ctr">
              <a:spcBef>
                <a:spcPts val="0"/>
              </a:spcBef>
              <a:buNone/>
            </a:pPr>
            <a:endParaRPr lang="tr-TR" sz="800" noProof="1">
              <a:latin typeface="Arial Narrow" panose="020B0606020202030204" pitchFamily="34" charset="0"/>
            </a:endParaRPr>
          </a:p>
          <a:p>
            <a:pPr marL="0" lvl="0" indent="0" algn="ctr">
              <a:spcBef>
                <a:spcPts val="0"/>
              </a:spcBef>
              <a:buNone/>
            </a:pPr>
            <a:r>
              <a:rPr lang="tr-TR" sz="1600" noProof="1" smtClean="0">
                <a:latin typeface="Arial Narrow" panose="020B0606020202030204" pitchFamily="34" charset="0"/>
              </a:rPr>
              <a:t>Another important item in the balance of payments is the </a:t>
            </a:r>
            <a:r>
              <a:rPr lang="tr-TR" sz="1600" noProof="1" smtClean="0">
                <a:solidFill>
                  <a:srgbClr val="800000"/>
                </a:solidFill>
                <a:latin typeface="Arial Narrow" panose="020B0606020202030204" pitchFamily="34" charset="0"/>
              </a:rPr>
              <a:t>capital account</a:t>
            </a:r>
            <a:r>
              <a:rPr lang="tr-TR" sz="1600" noProof="1" smtClean="0">
                <a:latin typeface="Arial Narrow" panose="020B0606020202030204" pitchFamily="34" charset="0"/>
              </a:rPr>
              <a:t>, the net receipts from capital transactions (e.g., purchases of stocks and bonds, bank loans, etc.).</a:t>
            </a:r>
          </a:p>
          <a:p>
            <a:pPr marL="0" lvl="0" indent="0" algn="ctr">
              <a:spcBef>
                <a:spcPts val="0"/>
              </a:spcBef>
              <a:buNone/>
            </a:pPr>
            <a:endParaRPr lang="tr-TR" sz="800" noProof="1" smtClean="0">
              <a:latin typeface="Arial Narrow" panose="020B0606020202030204" pitchFamily="34" charset="0"/>
            </a:endParaRPr>
          </a:p>
          <a:p>
            <a:pPr marL="0" lvl="0" indent="0" algn="ctr">
              <a:spcBef>
                <a:spcPts val="0"/>
              </a:spcBef>
              <a:buNone/>
            </a:pPr>
            <a:r>
              <a:rPr lang="tr-TR" sz="1600" noProof="1" smtClean="0">
                <a:latin typeface="Arial Narrow" panose="020B0606020202030204" pitchFamily="34" charset="0"/>
              </a:rPr>
              <a:t>The sum of the current account and the capital account equals</a:t>
            </a:r>
          </a:p>
          <a:p>
            <a:pPr marL="0" lvl="0" indent="0" algn="ctr">
              <a:spcBef>
                <a:spcPts val="0"/>
              </a:spcBef>
              <a:buNone/>
            </a:pPr>
            <a:r>
              <a:rPr lang="tr-TR" sz="1600" noProof="1" smtClean="0">
                <a:latin typeface="Arial Narrow" panose="020B0606020202030204" pitchFamily="34" charset="0"/>
              </a:rPr>
              <a:t>the </a:t>
            </a:r>
            <a:r>
              <a:rPr lang="tr-TR" sz="1600" noProof="1" smtClean="0">
                <a:solidFill>
                  <a:srgbClr val="800000"/>
                </a:solidFill>
                <a:latin typeface="Arial Narrow" panose="020B0606020202030204" pitchFamily="34" charset="0"/>
              </a:rPr>
              <a:t>official reserve transactions balance </a:t>
            </a:r>
            <a:r>
              <a:rPr lang="tr-TR" sz="1600" noProof="1" smtClean="0">
                <a:latin typeface="Arial Narrow" panose="020B0606020202030204" pitchFamily="34" charset="0"/>
              </a:rPr>
              <a:t>(net change in government international reserves).</a:t>
            </a:r>
          </a:p>
          <a:p>
            <a:pPr marL="0" lvl="0" indent="0" algn="ctr">
              <a:spcBef>
                <a:spcPts val="0"/>
              </a:spcBef>
              <a:buNone/>
            </a:pPr>
            <a:endParaRPr lang="tr-TR" sz="800" noProof="1">
              <a:latin typeface="Arial Narrow" panose="020B0606020202030204" pitchFamily="34" charset="0"/>
            </a:endParaRPr>
          </a:p>
          <a:p>
            <a:pPr marL="0" lvl="0" indent="0" algn="ctr">
              <a:spcBef>
                <a:spcPts val="0"/>
              </a:spcBef>
              <a:buNone/>
            </a:pPr>
            <a:r>
              <a:rPr lang="tr-TR" sz="1600" noProof="1" smtClean="0">
                <a:latin typeface="Arial Narrow" panose="020B0606020202030204" pitchFamily="34" charset="0"/>
              </a:rPr>
              <a:t>When economists refer to a </a:t>
            </a:r>
            <a:r>
              <a:rPr lang="tr-TR" sz="1600" noProof="1" smtClean="0">
                <a:solidFill>
                  <a:srgbClr val="800000"/>
                </a:solidFill>
                <a:latin typeface="Arial Narrow" panose="020B0606020202030204" pitchFamily="34" charset="0"/>
              </a:rPr>
              <a:t>surplus or deficit in the balance of payments</a:t>
            </a:r>
            <a:r>
              <a:rPr lang="tr-TR" sz="1600" noProof="1" smtClean="0">
                <a:latin typeface="Arial Narrow" panose="020B0606020202030204" pitchFamily="34" charset="0"/>
              </a:rPr>
              <a:t>,</a:t>
            </a:r>
          </a:p>
          <a:p>
            <a:pPr marL="0" lvl="0" indent="0" algn="ctr">
              <a:spcBef>
                <a:spcPts val="0"/>
              </a:spcBef>
              <a:buNone/>
            </a:pPr>
            <a:r>
              <a:rPr lang="tr-TR" sz="1600" noProof="1" smtClean="0">
                <a:latin typeface="Arial Narrow" panose="020B0606020202030204" pitchFamily="34" charset="0"/>
              </a:rPr>
              <a:t>they actually mean a surplus or deficit in the offical reserve transactions balance.</a:t>
            </a:r>
          </a:p>
        </p:txBody>
      </p:sp>
    </p:spTree>
    <p:extLst>
      <p:ext uri="{BB962C8B-B14F-4D97-AF65-F5344CB8AC3E}">
        <p14:creationId xmlns:p14="http://schemas.microsoft.com/office/powerpoint/2010/main" val="36997054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88640"/>
            <a:ext cx="8229600" cy="1143000"/>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400" dirty="0" smtClean="0">
                <a:solidFill>
                  <a:srgbClr val="800000"/>
                </a:solidFill>
                <a:latin typeface="Arial Narrow" pitchFamily="34" charset="0"/>
              </a:rPr>
              <a:t>International Financial </a:t>
            </a:r>
            <a:r>
              <a:rPr lang="tr-TR" sz="2400" dirty="0" err="1" smtClean="0">
                <a:solidFill>
                  <a:srgbClr val="800000"/>
                </a:solidFill>
                <a:latin typeface="Arial Narrow" pitchFamily="34" charset="0"/>
              </a:rPr>
              <a:t>System</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800" dirty="0" err="1" smtClean="0">
                <a:latin typeface="Arial Narrow" pitchFamily="34" charset="0"/>
              </a:rPr>
              <a:t>Balance</a:t>
            </a:r>
            <a:r>
              <a:rPr lang="tr-TR" sz="2800" dirty="0" smtClean="0">
                <a:latin typeface="Arial Narrow" pitchFamily="34" charset="0"/>
              </a:rPr>
              <a:t> of </a:t>
            </a:r>
            <a:r>
              <a:rPr lang="tr-TR" sz="2800" dirty="0" err="1" smtClean="0">
                <a:latin typeface="Arial Narrow" pitchFamily="34" charset="0"/>
              </a:rPr>
              <a:t>Payments</a:t>
            </a:r>
            <a:endParaRPr lang="tr-TR" sz="2800" dirty="0">
              <a:latin typeface="Arial Narrow" pitchFamily="34" charset="0"/>
            </a:endParaRPr>
          </a:p>
        </p:txBody>
      </p:sp>
      <p:sp>
        <p:nvSpPr>
          <p:cNvPr id="5" name="Content Placeholder 4"/>
          <p:cNvSpPr>
            <a:spLocks noGrp="1"/>
          </p:cNvSpPr>
          <p:nvPr>
            <p:ph idx="1"/>
          </p:nvPr>
        </p:nvSpPr>
        <p:spPr>
          <a:xfrm>
            <a:off x="457200" y="1412776"/>
            <a:ext cx="8229600" cy="5256584"/>
          </a:xfrm>
          <a:ln w="25400">
            <a:noFill/>
          </a:ln>
        </p:spPr>
        <p:txBody>
          <a:bodyPr>
            <a:noAutofit/>
          </a:bodyPr>
          <a:lstStyle/>
          <a:p>
            <a:pPr marL="0" lvl="0" indent="0" algn="ctr">
              <a:spcBef>
                <a:spcPts val="0"/>
              </a:spcBef>
              <a:buNone/>
            </a:pPr>
            <a:r>
              <a:rPr lang="tr-TR" sz="1600" dirty="0" err="1" smtClean="0">
                <a:latin typeface="Arial Narrow" panose="020B0606020202030204" pitchFamily="34" charset="0"/>
              </a:rPr>
              <a:t>Because</a:t>
            </a:r>
            <a:r>
              <a:rPr lang="tr-TR" sz="1600" dirty="0" smtClean="0">
                <a:latin typeface="Arial Narrow" panose="020B0606020202030204" pitchFamily="34" charset="0"/>
              </a:rPr>
              <a:t>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balance</a:t>
            </a:r>
            <a:r>
              <a:rPr lang="tr-TR" sz="1600" dirty="0" smtClean="0">
                <a:latin typeface="Arial Narrow" panose="020B0606020202030204" pitchFamily="34" charset="0"/>
              </a:rPr>
              <a:t> of </a:t>
            </a:r>
            <a:r>
              <a:rPr lang="tr-TR" sz="1600" dirty="0" err="1" smtClean="0">
                <a:latin typeface="Arial Narrow" panose="020B0606020202030204" pitchFamily="34" charset="0"/>
              </a:rPr>
              <a:t>payments</a:t>
            </a:r>
            <a:r>
              <a:rPr lang="tr-TR" sz="1600" dirty="0" smtClean="0">
                <a:latin typeface="Arial Narrow" panose="020B0606020202030204" pitchFamily="34" charset="0"/>
              </a:rPr>
              <a:t> </a:t>
            </a:r>
            <a:r>
              <a:rPr lang="tr-TR" sz="1600" dirty="0" err="1" smtClean="0">
                <a:latin typeface="Arial Narrow" panose="020B0606020202030204" pitchFamily="34" charset="0"/>
              </a:rPr>
              <a:t>must</a:t>
            </a:r>
            <a:r>
              <a:rPr lang="tr-TR" sz="1600" dirty="0" smtClean="0">
                <a:latin typeface="Arial Narrow" panose="020B0606020202030204" pitchFamily="34" charset="0"/>
              </a:rPr>
              <a:t> </a:t>
            </a:r>
            <a:r>
              <a:rPr lang="tr-TR" sz="1600" dirty="0" err="1" smtClean="0">
                <a:latin typeface="Arial Narrow" panose="020B0606020202030204" pitchFamily="34" charset="0"/>
              </a:rPr>
              <a:t>balance</a:t>
            </a:r>
            <a:r>
              <a:rPr lang="tr-TR" sz="1600" dirty="0" smtClean="0">
                <a:latin typeface="Arial Narrow" panose="020B0606020202030204" pitchFamily="34" charset="0"/>
              </a:rPr>
              <a:t>,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official</a:t>
            </a:r>
            <a:r>
              <a:rPr lang="tr-TR" sz="1600" dirty="0" smtClean="0">
                <a:latin typeface="Arial Narrow" panose="020B0606020202030204" pitchFamily="34" charset="0"/>
              </a:rPr>
              <a:t> </a:t>
            </a:r>
            <a:r>
              <a:rPr lang="tr-TR" sz="1600" dirty="0" err="1" smtClean="0">
                <a:latin typeface="Arial Narrow" panose="020B0606020202030204" pitchFamily="34" charset="0"/>
              </a:rPr>
              <a:t>transactions</a:t>
            </a:r>
            <a:r>
              <a:rPr lang="tr-TR" sz="1600" dirty="0" smtClean="0">
                <a:latin typeface="Arial Narrow" panose="020B0606020202030204" pitchFamily="34" charset="0"/>
              </a:rPr>
              <a:t> </a:t>
            </a:r>
            <a:r>
              <a:rPr lang="tr-TR" sz="1600" dirty="0" err="1" smtClean="0">
                <a:latin typeface="Arial Narrow" panose="020B0606020202030204" pitchFamily="34" charset="0"/>
              </a:rPr>
              <a:t>balance</a:t>
            </a:r>
            <a:r>
              <a:rPr lang="tr-TR" sz="1600" dirty="0" smtClean="0">
                <a:latin typeface="Arial Narrow" panose="020B0606020202030204" pitchFamily="34" charset="0"/>
              </a:rPr>
              <a:t>, </a:t>
            </a:r>
            <a:r>
              <a:rPr lang="tr-TR" sz="1600" dirty="0" err="1" smtClean="0">
                <a:latin typeface="Arial Narrow" panose="020B0606020202030204" pitchFamily="34" charset="0"/>
              </a:rPr>
              <a:t>which</a:t>
            </a:r>
            <a:r>
              <a:rPr lang="tr-TR" sz="1600" dirty="0" smtClean="0">
                <a:latin typeface="Arial Narrow" panose="020B0606020202030204" pitchFamily="34" charset="0"/>
              </a:rPr>
              <a:t> </a:t>
            </a:r>
            <a:r>
              <a:rPr lang="tr-TR" sz="1600" dirty="0" err="1" smtClean="0">
                <a:latin typeface="Arial Narrow" panose="020B0606020202030204" pitchFamily="34" charset="0"/>
              </a:rPr>
              <a:t>equals</a:t>
            </a:r>
            <a:r>
              <a:rPr lang="tr-TR" sz="1600" dirty="0" smtClean="0">
                <a:latin typeface="Arial Narrow" panose="020B0606020202030204" pitchFamily="34" charset="0"/>
              </a:rPr>
              <a:t>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current</a:t>
            </a:r>
            <a:r>
              <a:rPr lang="tr-TR" sz="1600" dirty="0" smtClean="0">
                <a:latin typeface="Arial Narrow" panose="020B0606020202030204" pitchFamily="34" charset="0"/>
              </a:rPr>
              <a:t> </a:t>
            </a:r>
            <a:r>
              <a:rPr lang="tr-TR" sz="1600" dirty="0" err="1" smtClean="0">
                <a:latin typeface="Arial Narrow" panose="020B0606020202030204" pitchFamily="34" charset="0"/>
              </a:rPr>
              <a:t>account</a:t>
            </a:r>
            <a:r>
              <a:rPr lang="tr-TR" sz="1600" dirty="0" smtClean="0">
                <a:latin typeface="Arial Narrow" panose="020B0606020202030204" pitchFamily="34" charset="0"/>
              </a:rPr>
              <a:t> </a:t>
            </a:r>
            <a:r>
              <a:rPr lang="tr-TR" sz="1600" dirty="0" err="1" smtClean="0">
                <a:latin typeface="Arial Narrow" panose="020B0606020202030204" pitchFamily="34" charset="0"/>
              </a:rPr>
              <a:t>plus</a:t>
            </a:r>
            <a:r>
              <a:rPr lang="tr-TR" sz="1600" dirty="0" smtClean="0">
                <a:latin typeface="Arial Narrow" panose="020B0606020202030204" pitchFamily="34" charset="0"/>
              </a:rPr>
              <a:t>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capital</a:t>
            </a:r>
            <a:r>
              <a:rPr lang="tr-TR" sz="1600" dirty="0" smtClean="0">
                <a:latin typeface="Arial Narrow" panose="020B0606020202030204" pitchFamily="34" charset="0"/>
              </a:rPr>
              <a:t> </a:t>
            </a:r>
            <a:r>
              <a:rPr lang="tr-TR" sz="1600" dirty="0" err="1" smtClean="0">
                <a:latin typeface="Arial Narrow" panose="020B0606020202030204" pitchFamily="34" charset="0"/>
              </a:rPr>
              <a:t>account</a:t>
            </a:r>
            <a:r>
              <a:rPr lang="tr-TR" sz="1600" dirty="0" smtClean="0">
                <a:latin typeface="Arial Narrow" panose="020B0606020202030204" pitchFamily="34" charset="0"/>
              </a:rPr>
              <a:t>, </a:t>
            </a:r>
            <a:r>
              <a:rPr lang="tr-TR" sz="1600" dirty="0" err="1" smtClean="0">
                <a:latin typeface="Arial Narrow" panose="020B0606020202030204" pitchFamily="34" charset="0"/>
              </a:rPr>
              <a:t>tells</a:t>
            </a:r>
            <a:r>
              <a:rPr lang="tr-TR" sz="1600" dirty="0" smtClean="0">
                <a:latin typeface="Arial Narrow" panose="020B0606020202030204" pitchFamily="34" charset="0"/>
              </a:rPr>
              <a:t> us </a:t>
            </a:r>
            <a:r>
              <a:rPr lang="tr-TR" sz="1600" dirty="0" err="1" smtClean="0">
                <a:latin typeface="Arial Narrow" panose="020B0606020202030204" pitchFamily="34" charset="0"/>
              </a:rPr>
              <a:t>the</a:t>
            </a:r>
            <a:r>
              <a:rPr lang="tr-TR" sz="1600" dirty="0" smtClean="0">
                <a:latin typeface="Arial Narrow" panose="020B0606020202030204" pitchFamily="34" charset="0"/>
              </a:rPr>
              <a:t> net </a:t>
            </a:r>
            <a:r>
              <a:rPr lang="tr-TR" sz="1600" dirty="0" err="1" smtClean="0">
                <a:latin typeface="Arial Narrow" panose="020B0606020202030204" pitchFamily="34" charset="0"/>
              </a:rPr>
              <a:t>amount</a:t>
            </a:r>
            <a:r>
              <a:rPr lang="tr-TR" sz="1600" dirty="0" smtClean="0">
                <a:latin typeface="Arial Narrow" panose="020B0606020202030204" pitchFamily="34" charset="0"/>
              </a:rPr>
              <a:t> of </a:t>
            </a:r>
            <a:r>
              <a:rPr lang="tr-TR" sz="1600" dirty="0" err="1" smtClean="0">
                <a:latin typeface="Arial Narrow" panose="020B0606020202030204" pitchFamily="34" charset="0"/>
              </a:rPr>
              <a:t>international</a:t>
            </a:r>
            <a:r>
              <a:rPr lang="tr-TR" sz="1600" dirty="0" smtClean="0">
                <a:latin typeface="Arial Narrow" panose="020B0606020202030204" pitchFamily="34" charset="0"/>
              </a:rPr>
              <a:t> </a:t>
            </a:r>
            <a:r>
              <a:rPr lang="tr-TR" sz="1600" dirty="0" err="1" smtClean="0">
                <a:latin typeface="Arial Narrow" panose="020B0606020202030204" pitchFamily="34" charset="0"/>
              </a:rPr>
              <a:t>reserves</a:t>
            </a:r>
            <a:r>
              <a:rPr lang="tr-TR" sz="1600" dirty="0" smtClean="0">
                <a:latin typeface="Arial Narrow" panose="020B0606020202030204" pitchFamily="34" charset="0"/>
              </a:rPr>
              <a:t> </a:t>
            </a:r>
            <a:r>
              <a:rPr lang="tr-TR" sz="1600" dirty="0" err="1" smtClean="0">
                <a:latin typeface="Arial Narrow" panose="020B0606020202030204" pitchFamily="34" charset="0"/>
              </a:rPr>
              <a:t>that</a:t>
            </a:r>
            <a:r>
              <a:rPr lang="tr-TR" sz="1600" dirty="0" smtClean="0">
                <a:latin typeface="Arial Narrow" panose="020B0606020202030204" pitchFamily="34" charset="0"/>
              </a:rPr>
              <a:t> </a:t>
            </a:r>
            <a:r>
              <a:rPr lang="tr-TR" sz="1600" dirty="0" err="1" smtClean="0">
                <a:latin typeface="Arial Narrow" panose="020B0606020202030204" pitchFamily="34" charset="0"/>
              </a:rPr>
              <a:t>must</a:t>
            </a:r>
            <a:r>
              <a:rPr lang="tr-TR" sz="1600" dirty="0" smtClean="0">
                <a:latin typeface="Arial Narrow" panose="020B0606020202030204" pitchFamily="34" charset="0"/>
              </a:rPr>
              <a:t> </a:t>
            </a:r>
            <a:r>
              <a:rPr lang="tr-TR" sz="1600" dirty="0" err="1" smtClean="0">
                <a:latin typeface="Arial Narrow" panose="020B0606020202030204" pitchFamily="34" charset="0"/>
              </a:rPr>
              <a:t>move</a:t>
            </a:r>
            <a:r>
              <a:rPr lang="tr-TR" sz="1600" dirty="0" smtClean="0">
                <a:latin typeface="Arial Narrow" panose="020B0606020202030204" pitchFamily="34" charset="0"/>
              </a:rPr>
              <a:t> </a:t>
            </a:r>
            <a:r>
              <a:rPr lang="tr-TR" sz="1600" dirty="0" err="1" smtClean="0">
                <a:latin typeface="Arial Narrow" panose="020B0606020202030204" pitchFamily="34" charset="0"/>
              </a:rPr>
              <a:t>between</a:t>
            </a:r>
            <a:r>
              <a:rPr lang="tr-TR" sz="1600" dirty="0" smtClean="0">
                <a:latin typeface="Arial Narrow" panose="020B0606020202030204" pitchFamily="34" charset="0"/>
              </a:rPr>
              <a:t> </a:t>
            </a:r>
            <a:r>
              <a:rPr lang="tr-TR" sz="1600" dirty="0" err="1" smtClean="0">
                <a:latin typeface="Arial Narrow" panose="020B0606020202030204" pitchFamily="34" charset="0"/>
              </a:rPr>
              <a:t>governments</a:t>
            </a:r>
            <a:r>
              <a:rPr lang="tr-TR" sz="1600" dirty="0" smtClean="0">
                <a:latin typeface="Arial Narrow" panose="020B0606020202030204" pitchFamily="34" charset="0"/>
              </a:rPr>
              <a:t> (as </a:t>
            </a:r>
            <a:r>
              <a:rPr lang="tr-TR" sz="1600" dirty="0" err="1" smtClean="0">
                <a:latin typeface="Arial Narrow" panose="020B0606020202030204" pitchFamily="34" charset="0"/>
              </a:rPr>
              <a:t>represented</a:t>
            </a:r>
            <a:r>
              <a:rPr lang="tr-TR" sz="1600" dirty="0" smtClean="0">
                <a:latin typeface="Arial Narrow" panose="020B0606020202030204" pitchFamily="34" charset="0"/>
              </a:rPr>
              <a:t> </a:t>
            </a:r>
            <a:r>
              <a:rPr lang="tr-TR" sz="1600" dirty="0" err="1" smtClean="0">
                <a:latin typeface="Arial Narrow" panose="020B0606020202030204" pitchFamily="34" charset="0"/>
              </a:rPr>
              <a:t>by</a:t>
            </a:r>
            <a:r>
              <a:rPr lang="tr-TR" sz="1600" dirty="0" smtClean="0">
                <a:latin typeface="Arial Narrow" panose="020B0606020202030204" pitchFamily="34" charset="0"/>
              </a:rPr>
              <a:t> </a:t>
            </a:r>
            <a:r>
              <a:rPr lang="tr-TR" sz="1600" dirty="0" err="1" smtClean="0">
                <a:latin typeface="Arial Narrow" panose="020B0606020202030204" pitchFamily="34" charset="0"/>
              </a:rPr>
              <a:t>their</a:t>
            </a:r>
            <a:r>
              <a:rPr lang="tr-TR" sz="1600" dirty="0" smtClean="0">
                <a:latin typeface="Arial Narrow" panose="020B0606020202030204" pitchFamily="34" charset="0"/>
              </a:rPr>
              <a:t> </a:t>
            </a:r>
            <a:r>
              <a:rPr lang="tr-TR" sz="1600" dirty="0" err="1" smtClean="0">
                <a:latin typeface="Arial Narrow" panose="020B0606020202030204" pitchFamily="34" charset="0"/>
              </a:rPr>
              <a:t>central</a:t>
            </a:r>
            <a:r>
              <a:rPr lang="tr-TR" sz="1600" dirty="0" smtClean="0">
                <a:latin typeface="Arial Narrow" panose="020B0606020202030204" pitchFamily="34" charset="0"/>
              </a:rPr>
              <a:t> </a:t>
            </a:r>
            <a:r>
              <a:rPr lang="tr-TR" sz="1600" dirty="0" err="1" smtClean="0">
                <a:latin typeface="Arial Narrow" panose="020B0606020202030204" pitchFamily="34" charset="0"/>
              </a:rPr>
              <a:t>banks</a:t>
            </a:r>
            <a:r>
              <a:rPr lang="tr-TR" sz="1600" dirty="0" smtClean="0">
                <a:latin typeface="Arial Narrow" panose="020B0606020202030204" pitchFamily="34" charset="0"/>
              </a:rPr>
              <a:t>) </a:t>
            </a:r>
            <a:r>
              <a:rPr lang="tr-TR" sz="1600" dirty="0" err="1" smtClean="0">
                <a:latin typeface="Arial Narrow" panose="020B0606020202030204" pitchFamily="34" charset="0"/>
              </a:rPr>
              <a:t>to</a:t>
            </a:r>
            <a:r>
              <a:rPr lang="tr-TR" sz="1600" dirty="0" smtClean="0">
                <a:latin typeface="Arial Narrow" panose="020B0606020202030204" pitchFamily="34" charset="0"/>
              </a:rPr>
              <a:t> </a:t>
            </a:r>
            <a:r>
              <a:rPr lang="tr-TR" sz="1600" dirty="0" err="1" smtClean="0">
                <a:latin typeface="Arial Narrow" panose="020B0606020202030204" pitchFamily="34" charset="0"/>
              </a:rPr>
              <a:t>finance</a:t>
            </a:r>
            <a:r>
              <a:rPr lang="tr-TR" sz="1600" dirty="0" smtClean="0">
                <a:latin typeface="Arial Narrow" panose="020B0606020202030204" pitchFamily="34" charset="0"/>
              </a:rPr>
              <a:t> </a:t>
            </a:r>
            <a:r>
              <a:rPr lang="tr-TR" sz="1600" dirty="0" err="1" smtClean="0">
                <a:latin typeface="Arial Narrow" panose="020B0606020202030204" pitchFamily="34" charset="0"/>
              </a:rPr>
              <a:t>international</a:t>
            </a:r>
            <a:r>
              <a:rPr lang="tr-TR" sz="1600" dirty="0" smtClean="0">
                <a:latin typeface="Arial Narrow" panose="020B0606020202030204" pitchFamily="34" charset="0"/>
              </a:rPr>
              <a:t> </a:t>
            </a:r>
            <a:r>
              <a:rPr lang="tr-TR" sz="1600" dirty="0" err="1" smtClean="0">
                <a:latin typeface="Arial Narrow" panose="020B0606020202030204" pitchFamily="34" charset="0"/>
              </a:rPr>
              <a:t>transactions</a:t>
            </a:r>
            <a:r>
              <a:rPr lang="tr-TR" sz="1600" dirty="0" smtClean="0">
                <a:latin typeface="Arial Narrow" panose="020B0606020202030204" pitchFamily="34" charset="0"/>
              </a:rPr>
              <a:t>.</a:t>
            </a:r>
            <a:endParaRPr lang="tr-TR" sz="1600" noProof="1" smtClean="0">
              <a:latin typeface="Arial Narrow" panose="020B0606020202030204" pitchFamily="34" charset="0"/>
            </a:endParaRPr>
          </a:p>
        </p:txBody>
      </p:sp>
      <p:pic>
        <p:nvPicPr>
          <p:cNvPr id="3" name="Resim 2"/>
          <p:cNvPicPr>
            <a:picLocks noChangeAspect="1"/>
          </p:cNvPicPr>
          <p:nvPr/>
        </p:nvPicPr>
        <p:blipFill>
          <a:blip r:embed="rId3"/>
          <a:stretch>
            <a:fillRect/>
          </a:stretch>
        </p:blipFill>
        <p:spPr>
          <a:xfrm>
            <a:off x="460074" y="2492896"/>
            <a:ext cx="8293627" cy="3960440"/>
          </a:xfrm>
          <a:prstGeom prst="rect">
            <a:avLst/>
          </a:prstGeom>
        </p:spPr>
      </p:pic>
    </p:spTree>
    <p:extLst>
      <p:ext uri="{BB962C8B-B14F-4D97-AF65-F5344CB8AC3E}">
        <p14:creationId xmlns:p14="http://schemas.microsoft.com/office/powerpoint/2010/main" val="11900113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79512" y="116632"/>
            <a:ext cx="3456384" cy="1656184"/>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smtClean="0">
                <a:solidFill>
                  <a:srgbClr val="800000"/>
                </a:solidFill>
                <a:latin typeface="Arial Narrow" pitchFamily="34" charset="0"/>
              </a:rPr>
              <a:t>International Financial </a:t>
            </a:r>
            <a:r>
              <a:rPr lang="tr-TR" sz="2000" dirty="0" err="1" smtClean="0">
                <a:solidFill>
                  <a:srgbClr val="800000"/>
                </a:solidFill>
                <a:latin typeface="Arial Narrow" pitchFamily="34" charset="0"/>
              </a:rPr>
              <a:t>System</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400" dirty="0" err="1" smtClean="0">
                <a:latin typeface="Arial Narrow" pitchFamily="34" charset="0"/>
              </a:rPr>
              <a:t>Current</a:t>
            </a:r>
            <a:r>
              <a:rPr lang="tr-TR" sz="2400" dirty="0" smtClean="0">
                <a:latin typeface="Arial Narrow" pitchFamily="34" charset="0"/>
              </a:rPr>
              <a:t> </a:t>
            </a:r>
            <a:r>
              <a:rPr lang="tr-TR" sz="2400" dirty="0" err="1" smtClean="0">
                <a:latin typeface="Arial Narrow" pitchFamily="34" charset="0"/>
              </a:rPr>
              <a:t>Account</a:t>
            </a:r>
            <a:r>
              <a:rPr lang="tr-TR" sz="2400" dirty="0" smtClean="0">
                <a:latin typeface="Arial Narrow" pitchFamily="34" charset="0"/>
              </a:rPr>
              <a:t> </a:t>
            </a:r>
            <a:r>
              <a:rPr lang="tr-TR" sz="2400" dirty="0" err="1" smtClean="0">
                <a:latin typeface="Arial Narrow" pitchFamily="34" charset="0"/>
              </a:rPr>
              <a:t>Balance</a:t>
            </a:r>
            <a:r>
              <a:rPr lang="tr-TR" sz="2400" dirty="0">
                <a:latin typeface="Arial Narrow" pitchFamily="34" charset="0"/>
              </a:rPr>
              <a:t/>
            </a:r>
            <a:br>
              <a:rPr lang="tr-TR" sz="2400" dirty="0">
                <a:latin typeface="Arial Narrow" pitchFamily="34" charset="0"/>
              </a:rPr>
            </a:br>
            <a:r>
              <a:rPr lang="tr-TR" sz="2400" dirty="0" smtClean="0">
                <a:latin typeface="Arial Narrow" pitchFamily="34" charset="0"/>
              </a:rPr>
              <a:t>of </a:t>
            </a:r>
            <a:r>
              <a:rPr lang="tr-TR" sz="2400" dirty="0" err="1" smtClean="0">
                <a:latin typeface="Arial Narrow" pitchFamily="34" charset="0"/>
              </a:rPr>
              <a:t>Turkey</a:t>
            </a:r>
            <a:endParaRPr lang="tr-TR" sz="2400" dirty="0">
              <a:latin typeface="Arial Narrow" pitchFamily="34" charset="0"/>
            </a:endParaRPr>
          </a:p>
        </p:txBody>
      </p:sp>
      <p:sp>
        <p:nvSpPr>
          <p:cNvPr id="5" name="Content Placeholder 4"/>
          <p:cNvSpPr>
            <a:spLocks noGrp="1"/>
          </p:cNvSpPr>
          <p:nvPr>
            <p:ph idx="1"/>
          </p:nvPr>
        </p:nvSpPr>
        <p:spPr>
          <a:xfrm>
            <a:off x="107504" y="1412776"/>
            <a:ext cx="8579296" cy="5256584"/>
          </a:xfrm>
          <a:ln w="25400">
            <a:noFill/>
          </a:ln>
        </p:spPr>
        <p:txBody>
          <a:bodyPr>
            <a:noAutofit/>
          </a:bodyPr>
          <a:lstStyle/>
          <a:p>
            <a:pPr marL="0" lvl="0" indent="0">
              <a:spcBef>
                <a:spcPts val="0"/>
              </a:spcBef>
              <a:buNone/>
            </a:pPr>
            <a:endParaRPr lang="tr-TR" sz="1200" dirty="0" smtClean="0">
              <a:latin typeface="Arial Narrow" panose="020B0606020202030204" pitchFamily="34" charset="0"/>
            </a:endParaRPr>
          </a:p>
          <a:p>
            <a:pPr marL="0" lvl="0" indent="0">
              <a:spcBef>
                <a:spcPts val="0"/>
              </a:spcBef>
              <a:buNone/>
            </a:pPr>
            <a:endParaRPr lang="tr-TR" sz="1200" dirty="0">
              <a:latin typeface="Arial Narrow" panose="020B0606020202030204" pitchFamily="34" charset="0"/>
            </a:endParaRPr>
          </a:p>
          <a:p>
            <a:pPr marL="0" lvl="0" indent="0">
              <a:spcBef>
                <a:spcPts val="0"/>
              </a:spcBef>
              <a:buNone/>
            </a:pPr>
            <a:endParaRPr lang="tr-TR" sz="1200" dirty="0" smtClean="0">
              <a:latin typeface="Arial Narrow" panose="020B0606020202030204" pitchFamily="34" charset="0"/>
            </a:endParaRPr>
          </a:p>
          <a:p>
            <a:pPr marL="0" lvl="0" indent="0">
              <a:spcBef>
                <a:spcPts val="0"/>
              </a:spcBef>
              <a:buNone/>
            </a:pPr>
            <a:endParaRPr lang="tr-TR" sz="1200" dirty="0">
              <a:latin typeface="Arial Narrow" panose="020B0606020202030204" pitchFamily="34" charset="0"/>
            </a:endParaRPr>
          </a:p>
          <a:p>
            <a:pPr marL="0" lvl="0" indent="0">
              <a:spcBef>
                <a:spcPts val="0"/>
              </a:spcBef>
              <a:buNone/>
            </a:pPr>
            <a:endParaRPr lang="tr-TR" sz="1200" dirty="0" smtClean="0">
              <a:latin typeface="Arial Narrow" panose="020B0606020202030204" pitchFamily="34" charset="0"/>
            </a:endParaRPr>
          </a:p>
          <a:p>
            <a:pPr marL="0" lvl="0" indent="0">
              <a:spcBef>
                <a:spcPts val="0"/>
              </a:spcBef>
              <a:buNone/>
            </a:pPr>
            <a:r>
              <a:rPr lang="tr-TR" sz="1200" dirty="0" smtClean="0">
                <a:latin typeface="Arial Narrow" panose="020B0606020202030204" pitchFamily="34" charset="0"/>
              </a:rPr>
              <a:t> </a:t>
            </a:r>
            <a:endParaRPr lang="tr-TR" sz="1200" noProof="1" smtClean="0">
              <a:latin typeface="Arial Narrow" panose="020B0606020202030204" pitchFamily="34" charset="0"/>
            </a:endParaRPr>
          </a:p>
        </p:txBody>
      </p:sp>
      <p:pic>
        <p:nvPicPr>
          <p:cNvPr id="3" name="Resim 2"/>
          <p:cNvPicPr>
            <a:picLocks noChangeAspect="1"/>
          </p:cNvPicPr>
          <p:nvPr/>
        </p:nvPicPr>
        <p:blipFill>
          <a:blip r:embed="rId3"/>
          <a:stretch>
            <a:fillRect/>
          </a:stretch>
        </p:blipFill>
        <p:spPr>
          <a:xfrm>
            <a:off x="131812" y="2708920"/>
            <a:ext cx="8554988" cy="3456384"/>
          </a:xfrm>
          <a:prstGeom prst="rect">
            <a:avLst/>
          </a:prstGeom>
        </p:spPr>
      </p:pic>
      <p:pic>
        <p:nvPicPr>
          <p:cNvPr id="6" name="Resim 5"/>
          <p:cNvPicPr>
            <a:picLocks noChangeAspect="1"/>
          </p:cNvPicPr>
          <p:nvPr/>
        </p:nvPicPr>
        <p:blipFill>
          <a:blip r:embed="rId4"/>
          <a:stretch>
            <a:fillRect/>
          </a:stretch>
        </p:blipFill>
        <p:spPr>
          <a:xfrm>
            <a:off x="3848198" y="116632"/>
            <a:ext cx="5260306" cy="2448272"/>
          </a:xfrm>
          <a:prstGeom prst="rect">
            <a:avLst/>
          </a:prstGeom>
        </p:spPr>
      </p:pic>
      <p:sp>
        <p:nvSpPr>
          <p:cNvPr id="8" name="Metin kutusu 7"/>
          <p:cNvSpPr txBox="1"/>
          <p:nvPr/>
        </p:nvSpPr>
        <p:spPr>
          <a:xfrm>
            <a:off x="6732240" y="260648"/>
            <a:ext cx="2045688" cy="369332"/>
          </a:xfrm>
          <a:prstGeom prst="rect">
            <a:avLst/>
          </a:prstGeom>
          <a:noFill/>
        </p:spPr>
        <p:txBody>
          <a:bodyPr wrap="none" rtlCol="0">
            <a:spAutoFit/>
          </a:bodyPr>
          <a:lstStyle/>
          <a:p>
            <a:r>
              <a:rPr lang="tr-TR" dirty="0" err="1" smtClean="0">
                <a:latin typeface="Arial Narrow" panose="020B0606020202030204" pitchFamily="34" charset="0"/>
              </a:rPr>
              <a:t>Qly</a:t>
            </a:r>
            <a:r>
              <a:rPr lang="tr-TR" dirty="0" smtClean="0">
                <a:latin typeface="Arial Narrow" panose="020B0606020202030204" pitchFamily="34" charset="0"/>
              </a:rPr>
              <a:t> GDP </a:t>
            </a:r>
            <a:r>
              <a:rPr lang="tr-TR" dirty="0" err="1" smtClean="0">
                <a:latin typeface="Arial Narrow" panose="020B0606020202030204" pitchFamily="34" charset="0"/>
              </a:rPr>
              <a:t>Growth</a:t>
            </a:r>
            <a:r>
              <a:rPr lang="tr-TR" dirty="0" smtClean="0">
                <a:latin typeface="Arial Narrow" panose="020B0606020202030204" pitchFamily="34" charset="0"/>
              </a:rPr>
              <a:t> Rate</a:t>
            </a:r>
            <a:endParaRPr lang="en-US" dirty="0">
              <a:latin typeface="Arial Narrow" panose="020B0606020202030204" pitchFamily="34" charset="0"/>
            </a:endParaRPr>
          </a:p>
        </p:txBody>
      </p:sp>
      <p:sp>
        <p:nvSpPr>
          <p:cNvPr id="9" name="Metin kutusu 8"/>
          <p:cNvSpPr txBox="1"/>
          <p:nvPr/>
        </p:nvSpPr>
        <p:spPr>
          <a:xfrm>
            <a:off x="899592" y="2524254"/>
            <a:ext cx="4114460" cy="369332"/>
          </a:xfrm>
          <a:prstGeom prst="rect">
            <a:avLst/>
          </a:prstGeom>
          <a:noFill/>
        </p:spPr>
        <p:txBody>
          <a:bodyPr wrap="none" rtlCol="0">
            <a:spAutoFit/>
          </a:bodyPr>
          <a:lstStyle/>
          <a:p>
            <a:r>
              <a:rPr lang="tr-TR" dirty="0" err="1" smtClean="0">
                <a:latin typeface="Arial Narrow" panose="020B0606020202030204" pitchFamily="34" charset="0"/>
              </a:rPr>
              <a:t>Monthly</a:t>
            </a:r>
            <a:r>
              <a:rPr lang="tr-TR" dirty="0" smtClean="0">
                <a:latin typeface="Arial Narrow" panose="020B0606020202030204" pitchFamily="34" charset="0"/>
              </a:rPr>
              <a:t> </a:t>
            </a:r>
            <a:r>
              <a:rPr lang="tr-TR" dirty="0" err="1" smtClean="0">
                <a:latin typeface="Arial Narrow" panose="020B0606020202030204" pitchFamily="34" charset="0"/>
              </a:rPr>
              <a:t>Current</a:t>
            </a:r>
            <a:r>
              <a:rPr lang="tr-TR" dirty="0" smtClean="0">
                <a:latin typeface="Arial Narrow" panose="020B0606020202030204" pitchFamily="34" charset="0"/>
              </a:rPr>
              <a:t> </a:t>
            </a:r>
            <a:r>
              <a:rPr lang="tr-TR" dirty="0" err="1" smtClean="0">
                <a:latin typeface="Arial Narrow" panose="020B0606020202030204" pitchFamily="34" charset="0"/>
              </a:rPr>
              <a:t>Account</a:t>
            </a:r>
            <a:r>
              <a:rPr lang="tr-TR" dirty="0" smtClean="0">
                <a:latin typeface="Arial Narrow" panose="020B0606020202030204" pitchFamily="34" charset="0"/>
              </a:rPr>
              <a:t> </a:t>
            </a:r>
            <a:r>
              <a:rPr lang="tr-TR" dirty="0" err="1" smtClean="0">
                <a:latin typeface="Arial Narrow" panose="020B0606020202030204" pitchFamily="34" charset="0"/>
              </a:rPr>
              <a:t>Balance</a:t>
            </a:r>
            <a:r>
              <a:rPr lang="tr-TR" dirty="0" smtClean="0">
                <a:latin typeface="Arial Narrow" panose="020B0606020202030204" pitchFamily="34" charset="0"/>
              </a:rPr>
              <a:t> (</a:t>
            </a:r>
            <a:r>
              <a:rPr lang="tr-TR" dirty="0" err="1" smtClean="0">
                <a:latin typeface="Arial Narrow" panose="020B0606020202030204" pitchFamily="34" charset="0"/>
              </a:rPr>
              <a:t>billion</a:t>
            </a:r>
            <a:r>
              <a:rPr lang="tr-TR" dirty="0" smtClean="0">
                <a:latin typeface="Arial Narrow" panose="020B0606020202030204" pitchFamily="34" charset="0"/>
              </a:rPr>
              <a:t> USD)</a:t>
            </a:r>
            <a:endParaRPr lang="en-US" dirty="0">
              <a:latin typeface="Arial Narrow" panose="020B0606020202030204" pitchFamily="34" charset="0"/>
            </a:endParaRPr>
          </a:p>
        </p:txBody>
      </p:sp>
      <p:sp>
        <p:nvSpPr>
          <p:cNvPr id="10" name="Dikdörtgen 9"/>
          <p:cNvSpPr/>
          <p:nvPr/>
        </p:nvSpPr>
        <p:spPr>
          <a:xfrm>
            <a:off x="467543" y="2708920"/>
            <a:ext cx="82351" cy="6480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kdörtgen 10"/>
          <p:cNvSpPr/>
          <p:nvPr/>
        </p:nvSpPr>
        <p:spPr>
          <a:xfrm>
            <a:off x="467544" y="4005064"/>
            <a:ext cx="144016" cy="19442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Düz Bağlayıcı 12"/>
          <p:cNvCxnSpPr/>
          <p:nvPr/>
        </p:nvCxnSpPr>
        <p:spPr>
          <a:xfrm flipV="1">
            <a:off x="7884368" y="3501008"/>
            <a:ext cx="0" cy="252028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Düz Bağlayıcı 14"/>
          <p:cNvCxnSpPr/>
          <p:nvPr/>
        </p:nvCxnSpPr>
        <p:spPr>
          <a:xfrm>
            <a:off x="4067944" y="1916832"/>
            <a:ext cx="3816424" cy="15841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55958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79512" y="188640"/>
            <a:ext cx="1368151" cy="2880320"/>
          </a:xfrm>
          <a:ln w="25400">
            <a:noFill/>
          </a:ln>
        </p:spPr>
        <p:txBody>
          <a:bodyPr>
            <a:noAutofit/>
          </a:bodyPr>
          <a:lstStyle/>
          <a:p>
            <a:r>
              <a:rPr lang="tr-TR" sz="1400" dirty="0">
                <a:latin typeface="Arial Narrow" pitchFamily="34" charset="0"/>
              </a:rPr>
              <a:t>NTE </a:t>
            </a:r>
            <a:r>
              <a:rPr lang="tr-TR" sz="1400" dirty="0" smtClean="0">
                <a:latin typeface="Arial Narrow" pitchFamily="34" charset="0"/>
              </a:rPr>
              <a:t>1010 </a:t>
            </a:r>
            <a:r>
              <a:rPr lang="tr-TR" sz="1400" dirty="0">
                <a:latin typeface="Arial Narrow" pitchFamily="34" charset="0"/>
              </a:rPr>
              <a:t>– </a:t>
            </a:r>
            <a:r>
              <a:rPr lang="tr-TR" sz="1400" dirty="0" err="1" smtClean="0">
                <a:latin typeface="Arial Narrow" pitchFamily="34" charset="0"/>
              </a:rPr>
              <a:t>Intro</a:t>
            </a:r>
            <a:r>
              <a:rPr lang="tr-TR" sz="1400" dirty="0" smtClean="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smtClean="0">
                <a:latin typeface="Arial Narrow" pitchFamily="34" charset="0"/>
              </a:rPr>
              <a:t>Engr</a:t>
            </a:r>
            <a:r>
              <a:rPr lang="tr-TR" sz="1400" dirty="0" smtClean="0">
                <a:latin typeface="Arial Narrow" pitchFamily="34" charset="0"/>
              </a:rPr>
              <a:t/>
            </a:r>
            <a:br>
              <a:rPr lang="tr-TR" sz="1400" dirty="0" smtClean="0">
                <a:latin typeface="Arial Narrow" pitchFamily="34" charset="0"/>
              </a:rPr>
            </a:br>
            <a:r>
              <a:rPr lang="tr-TR" sz="1400" dirty="0" smtClean="0">
                <a:latin typeface="Arial Narrow" pitchFamily="34" charset="0"/>
              </a:rPr>
              <a:t>International Financial </a:t>
            </a:r>
            <a:r>
              <a:rPr lang="tr-TR" sz="1400" dirty="0" err="1" smtClean="0">
                <a:latin typeface="Arial Narrow" pitchFamily="34" charset="0"/>
              </a:rPr>
              <a:t>System</a:t>
            </a:r>
            <a:r>
              <a:rPr lang="tr-TR" sz="1400" dirty="0" smtClean="0">
                <a:latin typeface="Arial Narrow" pitchFamily="34" charset="0"/>
              </a:rPr>
              <a:t/>
            </a:r>
            <a:br>
              <a:rPr lang="tr-TR" sz="1400" dirty="0" smtClean="0">
                <a:latin typeface="Arial Narrow" pitchFamily="34" charset="0"/>
              </a:rPr>
            </a:br>
            <a:r>
              <a:rPr lang="tr-TR" sz="1400" dirty="0" smtClean="0">
                <a:solidFill>
                  <a:srgbClr val="800000"/>
                </a:solidFill>
                <a:latin typeface="Arial Narrow" pitchFamily="34" charset="0"/>
              </a:rPr>
              <a:t>A New </a:t>
            </a:r>
            <a:r>
              <a:rPr lang="tr-TR" sz="1400" dirty="0" err="1" smtClean="0">
                <a:solidFill>
                  <a:srgbClr val="800000"/>
                </a:solidFill>
                <a:latin typeface="Arial Narrow" pitchFamily="34" charset="0"/>
              </a:rPr>
              <a:t>Economic</a:t>
            </a:r>
            <a:r>
              <a:rPr lang="tr-TR" sz="1400" dirty="0" smtClean="0">
                <a:solidFill>
                  <a:srgbClr val="800000"/>
                </a:solidFill>
                <a:latin typeface="Arial Narrow" pitchFamily="34" charset="0"/>
              </a:rPr>
              <a:t> Model</a:t>
            </a:r>
            <a:br>
              <a:rPr lang="tr-TR" sz="1400" dirty="0" smtClean="0">
                <a:solidFill>
                  <a:srgbClr val="800000"/>
                </a:solidFill>
                <a:latin typeface="Arial Narrow" pitchFamily="34" charset="0"/>
              </a:rPr>
            </a:br>
            <a:r>
              <a:rPr lang="tr-TR" sz="1400" dirty="0" err="1" smtClean="0">
                <a:solidFill>
                  <a:srgbClr val="800000"/>
                </a:solidFill>
                <a:latin typeface="Arial Narrow" pitchFamily="34" charset="0"/>
              </a:rPr>
              <a:t>after</a:t>
            </a:r>
            <a:r>
              <a:rPr lang="tr-TR" sz="1400" dirty="0" smtClean="0">
                <a:solidFill>
                  <a:srgbClr val="800000"/>
                </a:solidFill>
                <a:latin typeface="Arial Narrow" pitchFamily="34" charset="0"/>
              </a:rPr>
              <a:t> 2003</a:t>
            </a:r>
            <a:br>
              <a:rPr lang="tr-TR" sz="1400" dirty="0" smtClean="0">
                <a:solidFill>
                  <a:srgbClr val="800000"/>
                </a:solidFill>
                <a:latin typeface="Arial Narrow" pitchFamily="34" charset="0"/>
              </a:rPr>
            </a:br>
            <a:r>
              <a:rPr lang="tr-TR" sz="1400" dirty="0" smtClean="0">
                <a:solidFill>
                  <a:srgbClr val="800000"/>
                </a:solidFill>
                <a:latin typeface="Arial Narrow" pitchFamily="34" charset="0"/>
              </a:rPr>
              <a:t>in </a:t>
            </a:r>
            <a:r>
              <a:rPr lang="tr-TR" sz="1400" dirty="0" err="1" smtClean="0">
                <a:solidFill>
                  <a:srgbClr val="800000"/>
                </a:solidFill>
                <a:latin typeface="Arial Narrow" pitchFamily="34" charset="0"/>
              </a:rPr>
              <a:t>Turkey</a:t>
            </a:r>
            <a:r>
              <a:rPr lang="tr-TR" sz="1400" dirty="0" smtClean="0">
                <a:solidFill>
                  <a:srgbClr val="800000"/>
                </a:solidFill>
                <a:latin typeface="Arial Narrow" pitchFamily="34" charset="0"/>
              </a:rPr>
              <a:t>:</a:t>
            </a:r>
            <a:br>
              <a:rPr lang="tr-TR" sz="1400" dirty="0" smtClean="0">
                <a:solidFill>
                  <a:srgbClr val="800000"/>
                </a:solidFill>
                <a:latin typeface="Arial Narrow" pitchFamily="34" charset="0"/>
              </a:rPr>
            </a:br>
            <a:r>
              <a:rPr lang="tr-TR" sz="1400" dirty="0" err="1" smtClean="0">
                <a:latin typeface="Arial Narrow" pitchFamily="34" charset="0"/>
              </a:rPr>
              <a:t>Growth</a:t>
            </a:r>
            <a:r>
              <a:rPr lang="tr-TR" sz="1400" dirty="0" smtClean="0">
                <a:latin typeface="Arial Narrow" pitchFamily="34" charset="0"/>
              </a:rPr>
              <a:t> </a:t>
            </a:r>
            <a:r>
              <a:rPr lang="tr-TR" sz="1400" dirty="0" err="1" smtClean="0">
                <a:latin typeface="Arial Narrow" pitchFamily="34" charset="0"/>
              </a:rPr>
              <a:t>funded</a:t>
            </a:r>
            <a:r>
              <a:rPr lang="tr-TR" sz="1400" dirty="0" smtClean="0">
                <a:latin typeface="Arial Narrow" pitchFamily="34" charset="0"/>
              </a:rPr>
              <a:t> </a:t>
            </a:r>
            <a:r>
              <a:rPr lang="tr-TR" sz="1400" dirty="0" err="1" smtClean="0">
                <a:latin typeface="Arial Narrow" pitchFamily="34" charset="0"/>
              </a:rPr>
              <a:t>by</a:t>
            </a:r>
            <a:r>
              <a:rPr lang="tr-TR" sz="1400" dirty="0" smtClean="0">
                <a:latin typeface="Arial Narrow" pitchFamily="34" charset="0"/>
              </a:rPr>
              <a:t/>
            </a:r>
            <a:br>
              <a:rPr lang="tr-TR" sz="1400" dirty="0" smtClean="0">
                <a:latin typeface="Arial Narrow" pitchFamily="34" charset="0"/>
              </a:rPr>
            </a:br>
            <a:r>
              <a:rPr lang="tr-TR" sz="1400" dirty="0" err="1" smtClean="0">
                <a:latin typeface="Arial Narrow" pitchFamily="34" charset="0"/>
              </a:rPr>
              <a:t>borrowing</a:t>
            </a:r>
            <a:endParaRPr lang="tr-TR" sz="1400" dirty="0">
              <a:latin typeface="Arial Narrow" pitchFamily="34" charset="0"/>
            </a:endParaRPr>
          </a:p>
        </p:txBody>
      </p:sp>
      <p:sp>
        <p:nvSpPr>
          <p:cNvPr id="5" name="Content Placeholder 4"/>
          <p:cNvSpPr>
            <a:spLocks noGrp="1"/>
          </p:cNvSpPr>
          <p:nvPr>
            <p:ph idx="1"/>
          </p:nvPr>
        </p:nvSpPr>
        <p:spPr>
          <a:xfrm>
            <a:off x="251520" y="2852936"/>
            <a:ext cx="8424936" cy="3816424"/>
          </a:xfrm>
          <a:ln w="25400">
            <a:noFill/>
          </a:ln>
        </p:spPr>
        <p:txBody>
          <a:bodyPr>
            <a:noAutofit/>
          </a:bodyPr>
          <a:lstStyle/>
          <a:p>
            <a:pPr marL="0" lvl="0" indent="0">
              <a:spcBef>
                <a:spcPts val="0"/>
              </a:spcBef>
              <a:buNone/>
            </a:pPr>
            <a:endParaRPr lang="tr-TR" sz="1200" dirty="0" smtClean="0">
              <a:latin typeface="Arial Narrow" panose="020B0606020202030204" pitchFamily="34" charset="0"/>
            </a:endParaRPr>
          </a:p>
          <a:p>
            <a:pPr marL="0" lvl="0" indent="0" algn="ctr">
              <a:spcBef>
                <a:spcPts val="0"/>
              </a:spcBef>
              <a:buNone/>
            </a:pPr>
            <a:endParaRPr lang="tr-TR" sz="1800" dirty="0" smtClean="0">
              <a:latin typeface="Arial Narrow" panose="020B0606020202030204" pitchFamily="34" charset="0"/>
            </a:endParaRPr>
          </a:p>
          <a:p>
            <a:pPr marL="0" lvl="0" indent="0" algn="ctr">
              <a:spcBef>
                <a:spcPts val="0"/>
              </a:spcBef>
              <a:buNone/>
            </a:pPr>
            <a:endParaRPr lang="tr-TR" sz="1800" dirty="0">
              <a:latin typeface="Arial Narrow" panose="020B0606020202030204" pitchFamily="34" charset="0"/>
            </a:endParaRPr>
          </a:p>
          <a:p>
            <a:pPr marL="0" lvl="0" indent="0" algn="ctr">
              <a:spcBef>
                <a:spcPts val="0"/>
              </a:spcBef>
              <a:buNone/>
            </a:pPr>
            <a:endParaRPr lang="tr-TR" sz="1800" dirty="0" smtClean="0">
              <a:latin typeface="Arial Narrow" panose="020B0606020202030204" pitchFamily="34" charset="0"/>
            </a:endParaRPr>
          </a:p>
          <a:p>
            <a:pPr marL="0" lvl="0" indent="0" algn="ctr">
              <a:spcBef>
                <a:spcPts val="0"/>
              </a:spcBef>
              <a:buNone/>
            </a:pPr>
            <a:r>
              <a:rPr lang="tr-TR" sz="1800" dirty="0" smtClean="0">
                <a:latin typeface="Arial Narrow" panose="020B0606020202030204" pitchFamily="34" charset="0"/>
              </a:rPr>
              <a:t>F</a:t>
            </a:r>
            <a:endParaRPr lang="tr-TR" sz="1800" dirty="0">
              <a:latin typeface="Arial Narrow" panose="020B0606020202030204" pitchFamily="34" charset="0"/>
            </a:endParaRPr>
          </a:p>
          <a:p>
            <a:pPr marL="0" lvl="0" indent="0" algn="ctr">
              <a:spcBef>
                <a:spcPts val="0"/>
              </a:spcBef>
              <a:buNone/>
            </a:pPr>
            <a:endParaRPr lang="tr-TR" sz="1800" dirty="0" smtClean="0">
              <a:latin typeface="Arial Narrow" panose="020B0606020202030204" pitchFamily="34" charset="0"/>
            </a:endParaRPr>
          </a:p>
          <a:p>
            <a:pPr marL="0" lvl="0" indent="0" algn="r">
              <a:spcBef>
                <a:spcPts val="0"/>
              </a:spcBef>
              <a:buNone/>
            </a:pPr>
            <a:endParaRPr lang="tr-TR" sz="2000" dirty="0" smtClean="0">
              <a:latin typeface="Arial Narrow" panose="020B0606020202030204" pitchFamily="34" charset="0"/>
            </a:endParaRPr>
          </a:p>
          <a:p>
            <a:pPr marL="0" lvl="0" indent="0">
              <a:spcBef>
                <a:spcPts val="0"/>
              </a:spcBef>
              <a:buNone/>
            </a:pPr>
            <a:r>
              <a:rPr lang="tr-TR" sz="1600" dirty="0" smtClean="0">
                <a:solidFill>
                  <a:srgbClr val="800000"/>
                </a:solidFill>
                <a:latin typeface="Arial Narrow" panose="020B0606020202030204" pitchFamily="34" charset="0"/>
              </a:rPr>
              <a:t> </a:t>
            </a:r>
          </a:p>
          <a:p>
            <a:pPr marL="0" lvl="0" indent="0">
              <a:spcBef>
                <a:spcPts val="0"/>
              </a:spcBef>
              <a:buNone/>
            </a:pPr>
            <a:endParaRPr lang="tr-TR" sz="1800" noProof="1" smtClean="0">
              <a:latin typeface="Arial Narrow" panose="020B0606020202030204" pitchFamily="34" charset="0"/>
            </a:endParaRPr>
          </a:p>
        </p:txBody>
      </p:sp>
      <p:pic>
        <p:nvPicPr>
          <p:cNvPr id="32" name="Resim 31"/>
          <p:cNvPicPr>
            <a:picLocks noChangeAspect="1"/>
          </p:cNvPicPr>
          <p:nvPr/>
        </p:nvPicPr>
        <p:blipFill>
          <a:blip r:embed="rId3"/>
          <a:stretch>
            <a:fillRect/>
          </a:stretch>
        </p:blipFill>
        <p:spPr>
          <a:xfrm>
            <a:off x="827584" y="3119316"/>
            <a:ext cx="8136904" cy="3150491"/>
          </a:xfrm>
          <a:prstGeom prst="rect">
            <a:avLst/>
          </a:prstGeom>
        </p:spPr>
      </p:pic>
      <p:pic>
        <p:nvPicPr>
          <p:cNvPr id="11" name="Resim 10"/>
          <p:cNvPicPr>
            <a:picLocks noChangeAspect="1"/>
          </p:cNvPicPr>
          <p:nvPr/>
        </p:nvPicPr>
        <p:blipFill>
          <a:blip r:embed="rId4"/>
          <a:stretch>
            <a:fillRect/>
          </a:stretch>
        </p:blipFill>
        <p:spPr>
          <a:xfrm>
            <a:off x="3275856" y="44624"/>
            <a:ext cx="4968552" cy="3486150"/>
          </a:xfrm>
          <a:prstGeom prst="rect">
            <a:avLst/>
          </a:prstGeom>
        </p:spPr>
      </p:pic>
      <p:pic>
        <p:nvPicPr>
          <p:cNvPr id="12" name="Resim 11"/>
          <p:cNvPicPr>
            <a:picLocks noChangeAspect="1"/>
          </p:cNvPicPr>
          <p:nvPr/>
        </p:nvPicPr>
        <p:blipFill>
          <a:blip r:embed="rId5"/>
          <a:stretch>
            <a:fillRect/>
          </a:stretch>
        </p:blipFill>
        <p:spPr>
          <a:xfrm>
            <a:off x="1691679" y="71812"/>
            <a:ext cx="6840761" cy="3213171"/>
          </a:xfrm>
          <a:prstGeom prst="rect">
            <a:avLst/>
          </a:prstGeom>
        </p:spPr>
      </p:pic>
      <p:cxnSp>
        <p:nvCxnSpPr>
          <p:cNvPr id="17" name="Düz Bağlayıcı 16"/>
          <p:cNvCxnSpPr/>
          <p:nvPr/>
        </p:nvCxnSpPr>
        <p:spPr>
          <a:xfrm>
            <a:off x="2195736" y="3284983"/>
            <a:ext cx="0" cy="2952329"/>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7" name="Metin kutusu 36"/>
          <p:cNvSpPr txBox="1"/>
          <p:nvPr/>
        </p:nvSpPr>
        <p:spPr>
          <a:xfrm>
            <a:off x="2195736" y="5599854"/>
            <a:ext cx="3661965" cy="338554"/>
          </a:xfrm>
          <a:prstGeom prst="rect">
            <a:avLst/>
          </a:prstGeom>
          <a:noFill/>
        </p:spPr>
        <p:txBody>
          <a:bodyPr wrap="none" rtlCol="0">
            <a:spAutoFit/>
          </a:bodyPr>
          <a:lstStyle/>
          <a:p>
            <a:r>
              <a:rPr lang="tr-TR" sz="1600" dirty="0" err="1" smtClean="0">
                <a:latin typeface="Arial Narrow" panose="020B0606020202030204" pitchFamily="34" charset="0"/>
              </a:rPr>
              <a:t>Monthly</a:t>
            </a:r>
            <a:r>
              <a:rPr lang="tr-TR" sz="1600" dirty="0" smtClean="0">
                <a:latin typeface="Arial Narrow" panose="020B0606020202030204" pitchFamily="34" charset="0"/>
              </a:rPr>
              <a:t> </a:t>
            </a:r>
            <a:r>
              <a:rPr lang="tr-TR" sz="1600" dirty="0" err="1" smtClean="0">
                <a:latin typeface="Arial Narrow" panose="020B0606020202030204" pitchFamily="34" charset="0"/>
              </a:rPr>
              <a:t>Current</a:t>
            </a:r>
            <a:r>
              <a:rPr lang="tr-TR" sz="1600" dirty="0" smtClean="0">
                <a:latin typeface="Arial Narrow" panose="020B0606020202030204" pitchFamily="34" charset="0"/>
              </a:rPr>
              <a:t> </a:t>
            </a:r>
            <a:r>
              <a:rPr lang="tr-TR" sz="1600" dirty="0" err="1" smtClean="0">
                <a:latin typeface="Arial Narrow" panose="020B0606020202030204" pitchFamily="34" charset="0"/>
              </a:rPr>
              <a:t>Account</a:t>
            </a:r>
            <a:r>
              <a:rPr lang="tr-TR" sz="1600" dirty="0" smtClean="0">
                <a:latin typeface="Arial Narrow" panose="020B0606020202030204" pitchFamily="34" charset="0"/>
              </a:rPr>
              <a:t> </a:t>
            </a:r>
            <a:r>
              <a:rPr lang="tr-TR" sz="1600" dirty="0" err="1" smtClean="0">
                <a:latin typeface="Arial Narrow" panose="020B0606020202030204" pitchFamily="34" charset="0"/>
              </a:rPr>
              <a:t>Balance</a:t>
            </a:r>
            <a:r>
              <a:rPr lang="tr-TR" sz="1600" dirty="0" smtClean="0">
                <a:latin typeface="Arial Narrow" panose="020B0606020202030204" pitchFamily="34" charset="0"/>
              </a:rPr>
              <a:t> (</a:t>
            </a:r>
            <a:r>
              <a:rPr lang="tr-TR" sz="1600" dirty="0" err="1" smtClean="0">
                <a:latin typeface="Arial Narrow" panose="020B0606020202030204" pitchFamily="34" charset="0"/>
              </a:rPr>
              <a:t>billion</a:t>
            </a:r>
            <a:r>
              <a:rPr lang="tr-TR" sz="1600" dirty="0" smtClean="0">
                <a:latin typeface="Arial Narrow" panose="020B0606020202030204" pitchFamily="34" charset="0"/>
              </a:rPr>
              <a:t> USD)</a:t>
            </a:r>
            <a:endParaRPr lang="en-US" sz="1600" dirty="0">
              <a:latin typeface="Arial Narrow" panose="020B0606020202030204" pitchFamily="34" charset="0"/>
            </a:endParaRPr>
          </a:p>
        </p:txBody>
      </p:sp>
      <p:cxnSp>
        <p:nvCxnSpPr>
          <p:cNvPr id="9" name="Düz Bağlayıcı 8"/>
          <p:cNvCxnSpPr/>
          <p:nvPr/>
        </p:nvCxnSpPr>
        <p:spPr>
          <a:xfrm>
            <a:off x="8460432" y="3317478"/>
            <a:ext cx="0" cy="54357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 name="Metin kutusu 5"/>
          <p:cNvSpPr txBox="1"/>
          <p:nvPr/>
        </p:nvSpPr>
        <p:spPr>
          <a:xfrm>
            <a:off x="3563888" y="2521537"/>
            <a:ext cx="1481496" cy="276999"/>
          </a:xfrm>
          <a:prstGeom prst="rect">
            <a:avLst/>
          </a:prstGeom>
          <a:noFill/>
        </p:spPr>
        <p:txBody>
          <a:bodyPr wrap="none" rtlCol="0">
            <a:spAutoFit/>
          </a:bodyPr>
          <a:lstStyle/>
          <a:p>
            <a:r>
              <a:rPr lang="tr-TR" sz="1200" dirty="0" err="1" smtClean="0">
                <a:latin typeface="Arial Narrow" panose="020B0606020202030204" pitchFamily="34" charset="0"/>
              </a:rPr>
              <a:t>Gnl</a:t>
            </a:r>
            <a:r>
              <a:rPr lang="tr-TR" sz="1200" dirty="0" smtClean="0">
                <a:latin typeface="Arial Narrow" panose="020B0606020202030204" pitchFamily="34" charset="0"/>
              </a:rPr>
              <a:t> </a:t>
            </a:r>
            <a:r>
              <a:rPr lang="tr-TR" sz="1200" dirty="0" err="1" smtClean="0">
                <a:latin typeface="Arial Narrow" panose="020B0606020202030204" pitchFamily="34" charset="0"/>
              </a:rPr>
              <a:t>Govt</a:t>
            </a:r>
            <a:r>
              <a:rPr lang="tr-TR" sz="1200" dirty="0" smtClean="0">
                <a:latin typeface="Arial Narrow" panose="020B0606020202030204" pitchFamily="34" charset="0"/>
              </a:rPr>
              <a:t> </a:t>
            </a:r>
            <a:r>
              <a:rPr lang="tr-TR" sz="1200" dirty="0" err="1" smtClean="0">
                <a:latin typeface="Arial Narrow" panose="020B0606020202030204" pitchFamily="34" charset="0"/>
              </a:rPr>
              <a:t>excl</a:t>
            </a:r>
            <a:r>
              <a:rPr lang="tr-TR" sz="1200" dirty="0" smtClean="0">
                <a:latin typeface="Arial Narrow" panose="020B0606020202030204" pitchFamily="34" charset="0"/>
              </a:rPr>
              <a:t> </a:t>
            </a:r>
            <a:r>
              <a:rPr lang="tr-TR" sz="1200" dirty="0" err="1" smtClean="0">
                <a:latin typeface="Arial Narrow" panose="020B0606020202030204" pitchFamily="34" charset="0"/>
              </a:rPr>
              <a:t>St</a:t>
            </a:r>
            <a:r>
              <a:rPr lang="tr-TR" sz="1200" dirty="0" smtClean="0">
                <a:latin typeface="Arial Narrow" panose="020B0606020202030204" pitchFamily="34" charset="0"/>
              </a:rPr>
              <a:t> </a:t>
            </a:r>
            <a:r>
              <a:rPr lang="tr-TR" sz="1200" dirty="0" err="1" smtClean="0">
                <a:latin typeface="Arial Narrow" panose="020B0606020202030204" pitchFamily="34" charset="0"/>
              </a:rPr>
              <a:t>Banks</a:t>
            </a:r>
            <a:endParaRPr lang="en-US" sz="1200" dirty="0">
              <a:latin typeface="Arial Narrow" panose="020B0606020202030204" pitchFamily="34" charset="0"/>
            </a:endParaRPr>
          </a:p>
        </p:txBody>
      </p:sp>
      <p:cxnSp>
        <p:nvCxnSpPr>
          <p:cNvPr id="13" name="Düz Bağlayıcı 12"/>
          <p:cNvCxnSpPr/>
          <p:nvPr/>
        </p:nvCxnSpPr>
        <p:spPr>
          <a:xfrm>
            <a:off x="4355976" y="2924944"/>
            <a:ext cx="0" cy="267491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 name="Dikdörtgen 9"/>
          <p:cNvSpPr/>
          <p:nvPr/>
        </p:nvSpPr>
        <p:spPr>
          <a:xfrm>
            <a:off x="1145950" y="3119316"/>
            <a:ext cx="144016" cy="5977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ikdörtgen 17"/>
          <p:cNvSpPr/>
          <p:nvPr/>
        </p:nvSpPr>
        <p:spPr>
          <a:xfrm>
            <a:off x="1145950" y="4293096"/>
            <a:ext cx="113682" cy="17281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59396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88640"/>
            <a:ext cx="8229600" cy="1143000"/>
          </a:xfrm>
          <a:ln w="25400">
            <a:noFill/>
          </a:ln>
        </p:spPr>
        <p:txBody>
          <a:bodyPr>
            <a:noAutofit/>
          </a:bodyPr>
          <a:lstStyle/>
          <a:p>
            <a:r>
              <a:rPr lang="tr-TR" sz="1400" dirty="0">
                <a:latin typeface="Arial Narrow" pitchFamily="34" charset="0"/>
              </a:rPr>
              <a:t>NTE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400" dirty="0" smtClean="0">
                <a:solidFill>
                  <a:srgbClr val="800000"/>
                </a:solidFill>
                <a:latin typeface="Arial Narrow" pitchFamily="34" charset="0"/>
              </a:rPr>
              <a:t>International Financial </a:t>
            </a:r>
            <a:r>
              <a:rPr lang="tr-TR" sz="2400" dirty="0" err="1" smtClean="0">
                <a:solidFill>
                  <a:srgbClr val="800000"/>
                </a:solidFill>
                <a:latin typeface="Arial Narrow" pitchFamily="34" charset="0"/>
              </a:rPr>
              <a:t>System</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800" dirty="0" err="1" smtClean="0">
                <a:latin typeface="Arial Narrow" pitchFamily="34" charset="0"/>
              </a:rPr>
              <a:t>Current</a:t>
            </a:r>
            <a:r>
              <a:rPr lang="tr-TR" sz="2800" dirty="0" smtClean="0">
                <a:latin typeface="Arial Narrow" pitchFamily="34" charset="0"/>
              </a:rPr>
              <a:t> </a:t>
            </a:r>
            <a:r>
              <a:rPr lang="tr-TR" sz="2800" dirty="0" err="1" smtClean="0">
                <a:latin typeface="Arial Narrow" pitchFamily="34" charset="0"/>
              </a:rPr>
              <a:t>Account</a:t>
            </a:r>
            <a:r>
              <a:rPr lang="tr-TR" sz="2800" dirty="0" smtClean="0">
                <a:latin typeface="Arial Narrow" pitchFamily="34" charset="0"/>
              </a:rPr>
              <a:t> </a:t>
            </a:r>
            <a:r>
              <a:rPr lang="tr-TR" sz="2800" dirty="0" err="1" smtClean="0">
                <a:latin typeface="Arial Narrow" pitchFamily="34" charset="0"/>
              </a:rPr>
              <a:t>Balance</a:t>
            </a:r>
            <a:r>
              <a:rPr lang="tr-TR" sz="2800" dirty="0" smtClean="0">
                <a:latin typeface="Arial Narrow" pitchFamily="34" charset="0"/>
              </a:rPr>
              <a:t> in </a:t>
            </a:r>
            <a:r>
              <a:rPr lang="tr-TR" sz="2800" dirty="0" err="1" smtClean="0">
                <a:latin typeface="Arial Narrow" pitchFamily="34" charset="0"/>
              </a:rPr>
              <a:t>the</a:t>
            </a:r>
            <a:r>
              <a:rPr lang="tr-TR" sz="2800" dirty="0" smtClean="0">
                <a:latin typeface="Arial Narrow" pitchFamily="34" charset="0"/>
              </a:rPr>
              <a:t> World</a:t>
            </a:r>
            <a:endParaRPr lang="tr-TR" sz="2800" dirty="0">
              <a:latin typeface="Arial Narrow" pitchFamily="34" charset="0"/>
            </a:endParaRPr>
          </a:p>
        </p:txBody>
      </p:sp>
      <p:sp>
        <p:nvSpPr>
          <p:cNvPr id="5" name="Content Placeholder 4"/>
          <p:cNvSpPr>
            <a:spLocks noGrp="1"/>
          </p:cNvSpPr>
          <p:nvPr>
            <p:ph idx="1"/>
          </p:nvPr>
        </p:nvSpPr>
        <p:spPr>
          <a:xfrm>
            <a:off x="457200" y="1412776"/>
            <a:ext cx="8229600" cy="5256584"/>
          </a:xfrm>
          <a:ln w="25400">
            <a:noFill/>
          </a:ln>
        </p:spPr>
        <p:txBody>
          <a:bodyPr>
            <a:noAutofit/>
          </a:bodyPr>
          <a:lstStyle/>
          <a:p>
            <a:pPr marL="0" lvl="0" indent="0" algn="ctr">
              <a:spcBef>
                <a:spcPts val="0"/>
              </a:spcBef>
              <a:buNone/>
            </a:pPr>
            <a:r>
              <a:rPr lang="tr-TR" sz="1600" dirty="0" smtClean="0">
                <a:latin typeface="Arial Narrow" panose="020B0606020202030204" pitchFamily="34" charset="0"/>
              </a:rPr>
              <a:t> </a:t>
            </a:r>
            <a:endParaRPr lang="tr-TR" sz="1600" noProof="1" smtClean="0">
              <a:latin typeface="Arial Narrow" panose="020B0606020202030204" pitchFamily="34" charset="0"/>
            </a:endParaRPr>
          </a:p>
        </p:txBody>
      </p:sp>
      <p:sp>
        <p:nvSpPr>
          <p:cNvPr id="6" name="Dikdörtgen 5"/>
          <p:cNvSpPr/>
          <p:nvPr/>
        </p:nvSpPr>
        <p:spPr>
          <a:xfrm>
            <a:off x="5292080" y="5301208"/>
            <a:ext cx="3394720" cy="576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Dikdörtgen 7"/>
          <p:cNvSpPr/>
          <p:nvPr/>
        </p:nvSpPr>
        <p:spPr>
          <a:xfrm>
            <a:off x="5580112" y="5301208"/>
            <a:ext cx="2952328"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 name="Resim 1"/>
          <p:cNvPicPr>
            <a:picLocks noChangeAspect="1"/>
          </p:cNvPicPr>
          <p:nvPr/>
        </p:nvPicPr>
        <p:blipFill>
          <a:blip r:embed="rId3"/>
          <a:stretch>
            <a:fillRect/>
          </a:stretch>
        </p:blipFill>
        <p:spPr>
          <a:xfrm>
            <a:off x="149822" y="1340768"/>
            <a:ext cx="8844360" cy="4143829"/>
          </a:xfrm>
          <a:prstGeom prst="rect">
            <a:avLst/>
          </a:prstGeom>
        </p:spPr>
      </p:pic>
      <p:sp>
        <p:nvSpPr>
          <p:cNvPr id="3" name="Dikdörtgen 2"/>
          <p:cNvSpPr/>
          <p:nvPr/>
        </p:nvSpPr>
        <p:spPr>
          <a:xfrm>
            <a:off x="179512" y="4077072"/>
            <a:ext cx="1728192" cy="216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93830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699792" y="404664"/>
            <a:ext cx="3672408" cy="1012974"/>
          </a:xfrm>
          <a:ln w="25400">
            <a:noFill/>
          </a:ln>
        </p:spPr>
        <p:txBody>
          <a:bodyPr>
            <a:noAutofit/>
          </a:bodyPr>
          <a:lstStyle/>
          <a:p>
            <a:r>
              <a:rPr lang="tr-TR" sz="1400" dirty="0" err="1">
                <a:latin typeface="Arial Narrow" pitchFamily="34" charset="0"/>
              </a:rPr>
              <a:t>NTE</a:t>
            </a:r>
            <a:r>
              <a:rPr lang="tr-TR" sz="1400" dirty="0">
                <a:latin typeface="Arial Narrow" pitchFamily="34" charset="0"/>
              </a:rPr>
              <a:t> 1010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a:latin typeface="Arial Narrow" pitchFamily="34" charset="0"/>
              </a:rPr>
              <a:t/>
            </a:r>
            <a:br>
              <a:rPr lang="tr-TR" sz="1400" dirty="0">
                <a:latin typeface="Arial Narrow" pitchFamily="34" charset="0"/>
              </a:rPr>
            </a:br>
            <a:r>
              <a:rPr lang="tr-TR" sz="2000" dirty="0">
                <a:latin typeface="Arial Narrow" pitchFamily="34" charset="0"/>
              </a:rPr>
              <a:t>International Financial </a:t>
            </a:r>
            <a:r>
              <a:rPr lang="tr-TR" sz="2000" dirty="0" err="1">
                <a:latin typeface="Arial Narrow" pitchFamily="34" charset="0"/>
              </a:rPr>
              <a:t>System</a:t>
            </a:r>
            <a:r>
              <a:rPr lang="tr-TR" sz="2000" dirty="0">
                <a:latin typeface="Arial Narrow" pitchFamily="34" charset="0"/>
              </a:rPr>
              <a:t/>
            </a:r>
            <a:br>
              <a:rPr lang="tr-TR" sz="2000" dirty="0">
                <a:latin typeface="Arial Narrow" pitchFamily="34" charset="0"/>
              </a:rPr>
            </a:br>
            <a:r>
              <a:rPr lang="tr-TR" sz="2400" dirty="0">
                <a:solidFill>
                  <a:srgbClr val="800000"/>
                </a:solidFill>
                <a:latin typeface="Arial Narrow" pitchFamily="34" charset="0"/>
              </a:rPr>
              <a:t>Exchange Rate </a:t>
            </a:r>
            <a:r>
              <a:rPr lang="tr-TR" sz="2400" dirty="0" err="1">
                <a:solidFill>
                  <a:srgbClr val="800000"/>
                </a:solidFill>
                <a:latin typeface="Arial Narrow" pitchFamily="34" charset="0"/>
              </a:rPr>
              <a:t>Regimes</a:t>
            </a:r>
            <a:endParaRPr lang="tr-TR" sz="2400" dirty="0">
              <a:solidFill>
                <a:srgbClr val="800000"/>
              </a:solidFill>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0" lvl="0" indent="0" algn="ctr">
              <a:spcBef>
                <a:spcPts val="0"/>
              </a:spcBef>
              <a:buNone/>
            </a:pPr>
            <a:endParaRPr lang="tr-TR" sz="900" dirty="0">
              <a:latin typeface="Arial Narrow" panose="020B0606020202030204" pitchFamily="34" charset="0"/>
            </a:endParaRPr>
          </a:p>
          <a:p>
            <a:pPr marL="0" lvl="0" indent="0" algn="ctr">
              <a:spcBef>
                <a:spcPts val="0"/>
              </a:spcBef>
              <a:buNone/>
            </a:pPr>
            <a:r>
              <a:rPr lang="tr-TR" sz="1800" dirty="0" err="1">
                <a:latin typeface="Arial Narrow" panose="020B0606020202030204" pitchFamily="34" charset="0"/>
              </a:rPr>
              <a:t>Classified</a:t>
            </a:r>
            <a:r>
              <a:rPr lang="tr-TR" sz="1800" dirty="0">
                <a:latin typeface="Arial Narrow" panose="020B0606020202030204" pitchFamily="34" charset="0"/>
              </a:rPr>
              <a:t> </a:t>
            </a:r>
            <a:r>
              <a:rPr lang="tr-TR" sz="1800" dirty="0" err="1">
                <a:latin typeface="Arial Narrow" panose="020B0606020202030204" pitchFamily="34" charset="0"/>
              </a:rPr>
              <a:t>into</a:t>
            </a:r>
            <a:r>
              <a:rPr lang="tr-TR" sz="1800" dirty="0">
                <a:latin typeface="Arial Narrow" panose="020B0606020202030204" pitchFamily="34" charset="0"/>
              </a:rPr>
              <a:t> </a:t>
            </a:r>
            <a:r>
              <a:rPr lang="tr-TR" sz="1800" dirty="0" err="1">
                <a:latin typeface="Arial Narrow" panose="020B0606020202030204" pitchFamily="34" charset="0"/>
              </a:rPr>
              <a:t>two</a:t>
            </a:r>
            <a:r>
              <a:rPr lang="tr-TR" sz="1800" dirty="0">
                <a:latin typeface="Arial Narrow" panose="020B0606020202030204" pitchFamily="34" charset="0"/>
              </a:rPr>
              <a:t> </a:t>
            </a:r>
            <a:r>
              <a:rPr lang="tr-TR" sz="1800" dirty="0" err="1">
                <a:latin typeface="Arial Narrow" panose="020B0606020202030204" pitchFamily="34" charset="0"/>
              </a:rPr>
              <a:t>basic</a:t>
            </a:r>
            <a:r>
              <a:rPr lang="tr-TR" sz="1800" dirty="0">
                <a:latin typeface="Arial Narrow" panose="020B0606020202030204" pitchFamily="34" charset="0"/>
              </a:rPr>
              <a:t> </a:t>
            </a:r>
            <a:r>
              <a:rPr lang="tr-TR" sz="1800" dirty="0" err="1" smtClean="0">
                <a:latin typeface="Arial Narrow" panose="020B0606020202030204" pitchFamily="34" charset="0"/>
              </a:rPr>
              <a:t>types</a:t>
            </a:r>
            <a:r>
              <a:rPr lang="tr-TR" sz="1800" dirty="0">
                <a:latin typeface="Arial Narrow" panose="020B0606020202030204" pitchFamily="34" charset="0"/>
              </a:rPr>
              <a:t>;</a:t>
            </a:r>
            <a:r>
              <a:rPr lang="tr-TR" sz="1800" dirty="0" smtClean="0">
                <a:latin typeface="Arial Narrow" panose="020B0606020202030204" pitchFamily="34" charset="0"/>
              </a:rPr>
              <a:t> «</a:t>
            </a:r>
            <a:r>
              <a:rPr lang="tr-TR" sz="1800" dirty="0" err="1" smtClean="0">
                <a:latin typeface="Arial Narrow" panose="020B0606020202030204" pitchFamily="34" charset="0"/>
              </a:rPr>
              <a:t>Fixed</a:t>
            </a:r>
            <a:r>
              <a:rPr lang="tr-TR" sz="1800" dirty="0" smtClean="0">
                <a:latin typeface="Arial Narrow" panose="020B0606020202030204" pitchFamily="34" charset="0"/>
              </a:rPr>
              <a:t>» </a:t>
            </a:r>
            <a:r>
              <a:rPr lang="tr-TR" sz="1800" dirty="0" err="1" smtClean="0">
                <a:latin typeface="Arial Narrow" panose="020B0606020202030204" pitchFamily="34" charset="0"/>
              </a:rPr>
              <a:t>and</a:t>
            </a:r>
            <a:r>
              <a:rPr lang="tr-TR" sz="1800" dirty="0" smtClean="0">
                <a:latin typeface="Arial Narrow" panose="020B0606020202030204" pitchFamily="34" charset="0"/>
              </a:rPr>
              <a:t> «</a:t>
            </a:r>
            <a:r>
              <a:rPr lang="tr-TR" sz="1800" dirty="0" err="1" smtClean="0">
                <a:latin typeface="Arial Narrow" panose="020B0606020202030204" pitchFamily="34" charset="0"/>
              </a:rPr>
              <a:t>Floating</a:t>
            </a:r>
            <a:r>
              <a:rPr lang="tr-TR" sz="1800" dirty="0" smtClean="0">
                <a:latin typeface="Arial Narrow" panose="020B0606020202030204" pitchFamily="34" charset="0"/>
              </a:rPr>
              <a:t>»,</a:t>
            </a:r>
          </a:p>
          <a:p>
            <a:pPr marL="0" lvl="0" indent="0" algn="ctr">
              <a:spcBef>
                <a:spcPts val="0"/>
              </a:spcBef>
              <a:buNone/>
            </a:pPr>
            <a:r>
              <a:rPr lang="tr-TR" sz="1800" dirty="0" err="1" smtClean="0">
                <a:latin typeface="Arial Narrow" panose="020B0606020202030204" pitchFamily="34" charset="0"/>
              </a:rPr>
              <a:t>and</a:t>
            </a:r>
            <a:r>
              <a:rPr lang="tr-TR" sz="1800" dirty="0" smtClean="0">
                <a:latin typeface="Arial Narrow" panose="020B0606020202030204" pitchFamily="34" charset="0"/>
              </a:rPr>
              <a:t> a </a:t>
            </a:r>
            <a:r>
              <a:rPr lang="tr-TR" sz="1800" dirty="0" err="1" smtClean="0">
                <a:latin typeface="Arial Narrow" panose="020B0606020202030204" pitchFamily="34" charset="0"/>
              </a:rPr>
              <a:t>third</a:t>
            </a:r>
            <a:r>
              <a:rPr lang="tr-TR" sz="1800" dirty="0" smtClean="0">
                <a:latin typeface="Arial Narrow" panose="020B0606020202030204" pitchFamily="34" charset="0"/>
              </a:rPr>
              <a:t> </a:t>
            </a:r>
            <a:r>
              <a:rPr lang="tr-TR" sz="1800" dirty="0" err="1" smtClean="0">
                <a:latin typeface="Arial Narrow" panose="020B0606020202030204" pitchFamily="34" charset="0"/>
              </a:rPr>
              <a:t>one</a:t>
            </a:r>
            <a:r>
              <a:rPr lang="tr-TR" sz="1800" dirty="0" smtClean="0">
                <a:latin typeface="Arial Narrow" panose="020B0606020202030204" pitchFamily="34" charset="0"/>
              </a:rPr>
              <a:t> </a:t>
            </a:r>
            <a:r>
              <a:rPr lang="tr-TR" sz="1800" dirty="0" err="1" smtClean="0">
                <a:latin typeface="Arial Narrow" panose="020B0606020202030204" pitchFamily="34" charset="0"/>
              </a:rPr>
              <a:t>which</a:t>
            </a:r>
            <a:r>
              <a:rPr lang="tr-TR" sz="1800" dirty="0" smtClean="0">
                <a:latin typeface="Arial Narrow" panose="020B0606020202030204" pitchFamily="34" charset="0"/>
              </a:rPr>
              <a:t> is </a:t>
            </a:r>
            <a:r>
              <a:rPr lang="tr-TR" sz="1800" dirty="0" err="1" smtClean="0">
                <a:latin typeface="Arial Narrow" panose="020B0606020202030204" pitchFamily="34" charset="0"/>
              </a:rPr>
              <a:t>more</a:t>
            </a:r>
            <a:r>
              <a:rPr lang="tr-TR" sz="1800" dirty="0" smtClean="0">
                <a:latin typeface="Arial Narrow" panose="020B0606020202030204" pitchFamily="34" charset="0"/>
              </a:rPr>
              <a:t> </a:t>
            </a:r>
            <a:r>
              <a:rPr lang="tr-TR" sz="1800" dirty="0" err="1" smtClean="0">
                <a:latin typeface="Arial Narrow" panose="020B0606020202030204" pitchFamily="34" charset="0"/>
              </a:rPr>
              <a:t>or</a:t>
            </a:r>
            <a:r>
              <a:rPr lang="tr-TR" sz="1800" dirty="0" smtClean="0">
                <a:latin typeface="Arial Narrow" panose="020B0606020202030204" pitchFamily="34" charset="0"/>
              </a:rPr>
              <a:t> </a:t>
            </a:r>
            <a:r>
              <a:rPr lang="tr-TR" sz="1800" dirty="0" err="1" smtClean="0">
                <a:latin typeface="Arial Narrow" panose="020B0606020202030204" pitchFamily="34" charset="0"/>
              </a:rPr>
              <a:t>less</a:t>
            </a:r>
            <a:r>
              <a:rPr lang="tr-TR" sz="1800" dirty="0" smtClean="0">
                <a:latin typeface="Arial Narrow" panose="020B0606020202030204" pitchFamily="34" charset="0"/>
              </a:rPr>
              <a:t> in </a:t>
            </a:r>
            <a:r>
              <a:rPr lang="tr-TR" sz="1800" dirty="0" err="1" smtClean="0">
                <a:latin typeface="Arial Narrow" panose="020B0606020202030204" pitchFamily="34" charset="0"/>
              </a:rPr>
              <a:t>between</a:t>
            </a:r>
            <a:r>
              <a:rPr lang="tr-TR" sz="1800" dirty="0" smtClean="0">
                <a:latin typeface="Arial Narrow" panose="020B0606020202030204" pitchFamily="34" charset="0"/>
              </a:rPr>
              <a:t>, </a:t>
            </a:r>
            <a:r>
              <a:rPr lang="tr-TR" sz="1800" dirty="0" err="1" smtClean="0">
                <a:latin typeface="Arial Narrow" panose="020B0606020202030204" pitchFamily="34" charset="0"/>
              </a:rPr>
              <a:t>namely</a:t>
            </a:r>
            <a:r>
              <a:rPr lang="tr-TR" sz="1800" dirty="0" smtClean="0">
                <a:latin typeface="Arial Narrow" panose="020B0606020202030204" pitchFamily="34" charset="0"/>
              </a:rPr>
              <a:t>, «</a:t>
            </a:r>
            <a:r>
              <a:rPr lang="tr-TR" sz="1800" dirty="0" err="1" smtClean="0">
                <a:latin typeface="Arial Narrow" panose="020B0606020202030204" pitchFamily="34" charset="0"/>
              </a:rPr>
              <a:t>Managed</a:t>
            </a:r>
            <a:r>
              <a:rPr lang="tr-TR" sz="1800" dirty="0" smtClean="0">
                <a:latin typeface="Arial Narrow" panose="020B0606020202030204" pitchFamily="34" charset="0"/>
              </a:rPr>
              <a:t> </a:t>
            </a:r>
            <a:r>
              <a:rPr lang="tr-TR" sz="1800" dirty="0" err="1" smtClean="0">
                <a:latin typeface="Arial Narrow" panose="020B0606020202030204" pitchFamily="34" charset="0"/>
              </a:rPr>
              <a:t>Float</a:t>
            </a:r>
            <a:r>
              <a:rPr lang="tr-TR" sz="1800" dirty="0" smtClean="0">
                <a:latin typeface="Arial Narrow" panose="020B0606020202030204" pitchFamily="34" charset="0"/>
              </a:rPr>
              <a:t>».</a:t>
            </a:r>
            <a:endParaRPr lang="tr-TR" sz="1800" dirty="0">
              <a:latin typeface="Arial Narrow" panose="020B0606020202030204" pitchFamily="34" charset="0"/>
            </a:endParaRP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r>
              <a:rPr lang="tr-TR" sz="1800" noProof="1">
                <a:latin typeface="Arial Narrow" panose="020B0606020202030204" pitchFamily="34" charset="0"/>
              </a:rPr>
              <a:t>In a </a:t>
            </a:r>
            <a:r>
              <a:rPr lang="tr-TR" sz="1800" noProof="1">
                <a:solidFill>
                  <a:srgbClr val="800000"/>
                </a:solidFill>
                <a:latin typeface="Arial Narrow" panose="020B0606020202030204" pitchFamily="34" charset="0"/>
              </a:rPr>
              <a:t>fixed exchange rate regime</a:t>
            </a:r>
            <a:r>
              <a:rPr lang="tr-TR" sz="1800" noProof="1">
                <a:latin typeface="Arial Narrow" panose="020B0606020202030204" pitchFamily="34" charset="0"/>
              </a:rPr>
              <a:t>,</a:t>
            </a:r>
          </a:p>
          <a:p>
            <a:pPr marL="0" lvl="0" indent="0" algn="ctr">
              <a:spcBef>
                <a:spcPts val="0"/>
              </a:spcBef>
              <a:buNone/>
            </a:pPr>
            <a:r>
              <a:rPr lang="tr-TR" sz="1800" noProof="1">
                <a:latin typeface="Arial Narrow" panose="020B0606020202030204" pitchFamily="34" charset="0"/>
              </a:rPr>
              <a:t>the value of a currency is pegged relative to</a:t>
            </a:r>
          </a:p>
          <a:p>
            <a:pPr marL="0" lvl="0" indent="0" algn="ctr">
              <a:spcBef>
                <a:spcPts val="0"/>
              </a:spcBef>
              <a:buNone/>
            </a:pPr>
            <a:r>
              <a:rPr lang="tr-TR" sz="1800" noProof="1">
                <a:latin typeface="Arial Narrow" panose="020B0606020202030204" pitchFamily="34" charset="0"/>
              </a:rPr>
              <a:t>the value of another currency (called the anchor currency)</a:t>
            </a:r>
          </a:p>
          <a:p>
            <a:pPr marL="0" lvl="0" indent="0" algn="ctr">
              <a:spcBef>
                <a:spcPts val="0"/>
              </a:spcBef>
              <a:buNone/>
            </a:pPr>
            <a:r>
              <a:rPr lang="tr-TR" sz="1800" noProof="1">
                <a:latin typeface="Arial Narrow" panose="020B0606020202030204" pitchFamily="34" charset="0"/>
              </a:rPr>
              <a:t>so that the exchange rate is fixed in terms of the anchor currency.</a:t>
            </a: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r>
              <a:rPr lang="tr-TR" sz="1800" noProof="1">
                <a:latin typeface="Arial Narrow" panose="020B0606020202030204" pitchFamily="34" charset="0"/>
              </a:rPr>
              <a:t>In a </a:t>
            </a:r>
            <a:r>
              <a:rPr lang="tr-TR" sz="1800" noProof="1">
                <a:solidFill>
                  <a:srgbClr val="800000"/>
                </a:solidFill>
                <a:latin typeface="Arial Narrow" panose="020B0606020202030204" pitchFamily="34" charset="0"/>
              </a:rPr>
              <a:t>floating exchange rate regime</a:t>
            </a:r>
            <a:r>
              <a:rPr lang="tr-TR" sz="1800" noProof="1">
                <a:latin typeface="Arial Narrow" panose="020B0606020202030204" pitchFamily="34" charset="0"/>
              </a:rPr>
              <a:t>,</a:t>
            </a:r>
          </a:p>
          <a:p>
            <a:pPr marL="0" lvl="0" indent="0" algn="ctr">
              <a:spcBef>
                <a:spcPts val="0"/>
              </a:spcBef>
              <a:buNone/>
            </a:pPr>
            <a:r>
              <a:rPr lang="tr-TR" sz="1800" noProof="1">
                <a:latin typeface="Arial Narrow" panose="020B0606020202030204" pitchFamily="34" charset="0"/>
              </a:rPr>
              <a:t>the value of a currency is allowed to fluctuate against all other currencies.</a:t>
            </a: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r>
              <a:rPr lang="tr-TR" sz="1800" noProof="1">
                <a:latin typeface="Arial Narrow" panose="020B0606020202030204" pitchFamily="34" charset="0"/>
              </a:rPr>
              <a:t>When countries intervene in foreign exchange markets</a:t>
            </a:r>
          </a:p>
          <a:p>
            <a:pPr marL="0" lvl="0" indent="0" algn="ctr">
              <a:spcBef>
                <a:spcPts val="0"/>
              </a:spcBef>
              <a:buNone/>
            </a:pPr>
            <a:r>
              <a:rPr lang="tr-TR" sz="1800" noProof="1">
                <a:latin typeface="Arial Narrow" panose="020B0606020202030204" pitchFamily="34" charset="0"/>
              </a:rPr>
              <a:t>in an attempt to influence their exchange rates</a:t>
            </a:r>
          </a:p>
          <a:p>
            <a:pPr marL="0" lvl="0" indent="0" algn="ctr">
              <a:spcBef>
                <a:spcPts val="0"/>
              </a:spcBef>
              <a:buNone/>
            </a:pPr>
            <a:r>
              <a:rPr lang="tr-TR" sz="1800" noProof="1">
                <a:latin typeface="Arial Narrow" panose="020B0606020202030204" pitchFamily="34" charset="0"/>
              </a:rPr>
              <a:t>by buying and selling foreign assets,</a:t>
            </a:r>
          </a:p>
          <a:p>
            <a:pPr marL="0" lvl="0" indent="0" algn="ctr">
              <a:spcBef>
                <a:spcPts val="0"/>
              </a:spcBef>
              <a:buNone/>
            </a:pPr>
            <a:r>
              <a:rPr lang="tr-TR" sz="1800" noProof="1">
                <a:latin typeface="Arial Narrow" panose="020B0606020202030204" pitchFamily="34" charset="0"/>
              </a:rPr>
              <a:t>the regime is referred to as a </a:t>
            </a:r>
            <a:r>
              <a:rPr lang="tr-TR" sz="1800" noProof="1">
                <a:solidFill>
                  <a:srgbClr val="800000"/>
                </a:solidFill>
                <a:latin typeface="Arial Narrow" panose="020B0606020202030204" pitchFamily="34" charset="0"/>
              </a:rPr>
              <a:t>managed float regime </a:t>
            </a:r>
            <a:r>
              <a:rPr lang="tr-TR" sz="1800" noProof="1">
                <a:latin typeface="Arial Narrow" panose="020B0606020202030204" pitchFamily="34" charset="0"/>
              </a:rPr>
              <a:t>(or a dirty float).</a:t>
            </a: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endParaRPr lang="tr-TR" sz="1600" noProof="1">
              <a:latin typeface="Arial Narrow" panose="020B0606020202030204" pitchFamily="34" charset="0"/>
            </a:endParaRPr>
          </a:p>
        </p:txBody>
      </p:sp>
    </p:spTree>
    <p:extLst>
      <p:ext uri="{BB962C8B-B14F-4D97-AF65-F5344CB8AC3E}">
        <p14:creationId xmlns:p14="http://schemas.microsoft.com/office/powerpoint/2010/main" val="3274596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6632"/>
            <a:ext cx="8229600" cy="1143000"/>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400" dirty="0" smtClean="0">
                <a:solidFill>
                  <a:srgbClr val="800000"/>
                </a:solidFill>
                <a:latin typeface="Arial Narrow" pitchFamily="34" charset="0"/>
              </a:rPr>
              <a:t>International Financial </a:t>
            </a:r>
            <a:r>
              <a:rPr lang="tr-TR" sz="2400" dirty="0" err="1" smtClean="0">
                <a:solidFill>
                  <a:srgbClr val="800000"/>
                </a:solidFill>
                <a:latin typeface="Arial Narrow" pitchFamily="34" charset="0"/>
              </a:rPr>
              <a:t>System</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800" dirty="0" err="1" smtClean="0">
                <a:latin typeface="Arial Narrow" pitchFamily="34" charset="0"/>
              </a:rPr>
              <a:t>Past</a:t>
            </a:r>
            <a:r>
              <a:rPr lang="tr-TR" sz="2800" dirty="0" smtClean="0">
                <a:latin typeface="Arial Narrow" pitchFamily="34" charset="0"/>
              </a:rPr>
              <a:t> Exchange Rate </a:t>
            </a:r>
            <a:r>
              <a:rPr lang="tr-TR" sz="2800" dirty="0" err="1" smtClean="0">
                <a:latin typeface="Arial Narrow" pitchFamily="34" charset="0"/>
              </a:rPr>
              <a:t>Regimes</a:t>
            </a:r>
            <a:endParaRPr lang="tr-TR" sz="2800" dirty="0">
              <a:latin typeface="Arial Narrow" pitchFamily="34" charset="0"/>
            </a:endParaRPr>
          </a:p>
        </p:txBody>
      </p:sp>
      <p:sp>
        <p:nvSpPr>
          <p:cNvPr id="5" name="Content Placeholder 4"/>
          <p:cNvSpPr>
            <a:spLocks noGrp="1"/>
          </p:cNvSpPr>
          <p:nvPr>
            <p:ph idx="1"/>
          </p:nvPr>
        </p:nvSpPr>
        <p:spPr>
          <a:xfrm>
            <a:off x="457200" y="1340768"/>
            <a:ext cx="8229600" cy="5256584"/>
          </a:xfrm>
          <a:ln w="25400">
            <a:noFill/>
          </a:ln>
        </p:spPr>
        <p:txBody>
          <a:bodyPr>
            <a:noAutofit/>
          </a:bodyPr>
          <a:lstStyle/>
          <a:p>
            <a:pPr marL="0" lvl="0" indent="0" algn="ctr">
              <a:spcBef>
                <a:spcPts val="0"/>
              </a:spcBef>
              <a:buNone/>
            </a:pPr>
            <a:r>
              <a:rPr lang="tr-TR" sz="1600" dirty="0" err="1" smtClean="0">
                <a:solidFill>
                  <a:srgbClr val="800000"/>
                </a:solidFill>
                <a:latin typeface="Arial Narrow" panose="020B0606020202030204" pitchFamily="34" charset="0"/>
              </a:rPr>
              <a:t>Before</a:t>
            </a:r>
            <a:r>
              <a:rPr lang="tr-TR" sz="1600" dirty="0" smtClean="0">
                <a:solidFill>
                  <a:srgbClr val="800000"/>
                </a:solidFill>
                <a:latin typeface="Arial Narrow" panose="020B0606020202030204" pitchFamily="34" charset="0"/>
              </a:rPr>
              <a:t> World </a:t>
            </a:r>
            <a:r>
              <a:rPr lang="tr-TR" sz="1600" dirty="0" err="1" smtClean="0">
                <a:solidFill>
                  <a:srgbClr val="800000"/>
                </a:solidFill>
                <a:latin typeface="Arial Narrow" panose="020B0606020202030204" pitchFamily="34" charset="0"/>
              </a:rPr>
              <a:t>War</a:t>
            </a:r>
            <a:r>
              <a:rPr lang="tr-TR" sz="1600" dirty="0" smtClean="0">
                <a:solidFill>
                  <a:srgbClr val="800000"/>
                </a:solidFill>
                <a:latin typeface="Arial Narrow" panose="020B0606020202030204" pitchFamily="34" charset="0"/>
              </a:rPr>
              <a:t> I,</a:t>
            </a:r>
          </a:p>
          <a:p>
            <a:pPr marL="0" lvl="0" indent="0" algn="ctr">
              <a:spcBef>
                <a:spcPts val="0"/>
              </a:spcBef>
              <a:buNone/>
            </a:pP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world</a:t>
            </a:r>
            <a:r>
              <a:rPr lang="tr-TR" sz="1600" dirty="0" smtClean="0">
                <a:latin typeface="Arial Narrow" panose="020B0606020202030204" pitchFamily="34" charset="0"/>
              </a:rPr>
              <a:t> </a:t>
            </a:r>
            <a:r>
              <a:rPr lang="tr-TR" sz="1600" dirty="0" err="1" smtClean="0">
                <a:latin typeface="Arial Narrow" panose="020B0606020202030204" pitchFamily="34" charset="0"/>
              </a:rPr>
              <a:t>economy</a:t>
            </a:r>
            <a:r>
              <a:rPr lang="tr-TR" sz="1600" dirty="0" smtClean="0">
                <a:latin typeface="Arial Narrow" panose="020B0606020202030204" pitchFamily="34" charset="0"/>
              </a:rPr>
              <a:t> </a:t>
            </a:r>
            <a:r>
              <a:rPr lang="tr-TR" sz="1600" dirty="0" err="1" smtClean="0">
                <a:latin typeface="Arial Narrow" panose="020B0606020202030204" pitchFamily="34" charset="0"/>
              </a:rPr>
              <a:t>operated</a:t>
            </a:r>
            <a:r>
              <a:rPr lang="tr-TR" sz="1600" dirty="0" smtClean="0">
                <a:latin typeface="Arial Narrow" panose="020B0606020202030204" pitchFamily="34" charset="0"/>
              </a:rPr>
              <a:t> </a:t>
            </a:r>
            <a:r>
              <a:rPr lang="tr-TR" sz="1600" dirty="0" err="1" smtClean="0">
                <a:latin typeface="Arial Narrow" panose="020B0606020202030204" pitchFamily="34" charset="0"/>
              </a:rPr>
              <a:t>under</a:t>
            </a:r>
            <a:r>
              <a:rPr lang="tr-TR" sz="1600" dirty="0" smtClean="0">
                <a:latin typeface="Arial Narrow" panose="020B0606020202030204" pitchFamily="34" charset="0"/>
              </a:rPr>
              <a:t>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solidFill>
                  <a:srgbClr val="800000"/>
                </a:solidFill>
                <a:latin typeface="Arial Narrow" panose="020B0606020202030204" pitchFamily="34" charset="0"/>
              </a:rPr>
              <a:t>gold</a:t>
            </a:r>
            <a:r>
              <a:rPr lang="tr-TR" sz="1600" dirty="0" smtClean="0">
                <a:solidFill>
                  <a:srgbClr val="800000"/>
                </a:solidFill>
                <a:latin typeface="Arial Narrow" panose="020B0606020202030204" pitchFamily="34" charset="0"/>
              </a:rPr>
              <a:t> </a:t>
            </a:r>
            <a:r>
              <a:rPr lang="tr-TR" sz="1600" dirty="0" err="1" smtClean="0">
                <a:solidFill>
                  <a:srgbClr val="800000"/>
                </a:solidFill>
                <a:latin typeface="Arial Narrow" panose="020B0606020202030204" pitchFamily="34" charset="0"/>
              </a:rPr>
              <a:t>standard</a:t>
            </a:r>
            <a:r>
              <a:rPr lang="tr-TR" sz="1600" dirty="0" smtClean="0">
                <a:latin typeface="Arial Narrow" panose="020B0606020202030204" pitchFamily="34" charset="0"/>
              </a:rPr>
              <a:t>,</a:t>
            </a:r>
          </a:p>
          <a:p>
            <a:pPr marL="0" lvl="0" indent="0" algn="ctr">
              <a:spcBef>
                <a:spcPts val="0"/>
              </a:spcBef>
              <a:buNone/>
            </a:pPr>
            <a:r>
              <a:rPr lang="tr-TR" sz="1600" dirty="0" smtClean="0">
                <a:latin typeface="Arial Narrow" panose="020B0606020202030204" pitchFamily="34" charset="0"/>
              </a:rPr>
              <a:t>a </a:t>
            </a:r>
            <a:r>
              <a:rPr lang="tr-TR" sz="1600" dirty="0" err="1" smtClean="0">
                <a:latin typeface="Arial Narrow" panose="020B0606020202030204" pitchFamily="34" charset="0"/>
              </a:rPr>
              <a:t>fixed</a:t>
            </a:r>
            <a:r>
              <a:rPr lang="tr-TR" sz="1600" dirty="0" smtClean="0">
                <a:latin typeface="Arial Narrow" panose="020B0606020202030204" pitchFamily="34" charset="0"/>
              </a:rPr>
              <a:t> </a:t>
            </a:r>
            <a:r>
              <a:rPr lang="tr-TR" sz="1600" dirty="0" err="1" smtClean="0">
                <a:latin typeface="Arial Narrow" panose="020B0606020202030204" pitchFamily="34" charset="0"/>
              </a:rPr>
              <a:t>exchange</a:t>
            </a:r>
            <a:r>
              <a:rPr lang="tr-TR" sz="1600" dirty="0" smtClean="0">
                <a:latin typeface="Arial Narrow" panose="020B0606020202030204" pitchFamily="34" charset="0"/>
              </a:rPr>
              <a:t> rate </a:t>
            </a:r>
            <a:r>
              <a:rPr lang="tr-TR" sz="1600" dirty="0" err="1" smtClean="0">
                <a:latin typeface="Arial Narrow" panose="020B0606020202030204" pitchFamily="34" charset="0"/>
              </a:rPr>
              <a:t>regime</a:t>
            </a:r>
            <a:endParaRPr lang="tr-TR" sz="1600" dirty="0">
              <a:latin typeface="Arial Narrow" panose="020B0606020202030204" pitchFamily="34" charset="0"/>
            </a:endParaRPr>
          </a:p>
          <a:p>
            <a:pPr marL="0" lvl="0" indent="0" algn="ctr">
              <a:spcBef>
                <a:spcPts val="0"/>
              </a:spcBef>
              <a:buNone/>
            </a:pPr>
            <a:r>
              <a:rPr lang="tr-TR" sz="1600" dirty="0" smtClean="0">
                <a:latin typeface="Arial Narrow" panose="020B0606020202030204" pitchFamily="34" charset="0"/>
              </a:rPr>
              <a:t>in </a:t>
            </a:r>
            <a:r>
              <a:rPr lang="tr-TR" sz="1600" dirty="0" err="1" smtClean="0">
                <a:latin typeface="Arial Narrow" panose="020B0606020202030204" pitchFamily="34" charset="0"/>
              </a:rPr>
              <a:t>which</a:t>
            </a:r>
            <a:r>
              <a:rPr lang="tr-TR" sz="1600" dirty="0" smtClean="0">
                <a:latin typeface="Arial Narrow" panose="020B0606020202030204" pitchFamily="34" charset="0"/>
              </a:rPr>
              <a:t>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currency</a:t>
            </a:r>
            <a:r>
              <a:rPr lang="tr-TR" sz="1600" dirty="0" smtClean="0">
                <a:latin typeface="Arial Narrow" panose="020B0606020202030204" pitchFamily="34" charset="0"/>
              </a:rPr>
              <a:t> of </a:t>
            </a:r>
            <a:r>
              <a:rPr lang="tr-TR" sz="1600" dirty="0" err="1" smtClean="0">
                <a:latin typeface="Arial Narrow" panose="020B0606020202030204" pitchFamily="34" charset="0"/>
              </a:rPr>
              <a:t>most</a:t>
            </a:r>
            <a:r>
              <a:rPr lang="tr-TR" sz="1600" dirty="0" smtClean="0">
                <a:latin typeface="Arial Narrow" panose="020B0606020202030204" pitchFamily="34" charset="0"/>
              </a:rPr>
              <a:t> </a:t>
            </a:r>
            <a:r>
              <a:rPr lang="tr-TR" sz="1600" dirty="0" err="1" smtClean="0">
                <a:latin typeface="Arial Narrow" panose="020B0606020202030204" pitchFamily="34" charset="0"/>
              </a:rPr>
              <a:t>countries</a:t>
            </a:r>
            <a:r>
              <a:rPr lang="tr-TR" sz="1600" dirty="0" smtClean="0">
                <a:latin typeface="Arial Narrow" panose="020B0606020202030204" pitchFamily="34" charset="0"/>
              </a:rPr>
              <a:t> </a:t>
            </a:r>
            <a:r>
              <a:rPr lang="tr-TR" sz="1600" dirty="0" err="1" smtClean="0">
                <a:latin typeface="Arial Narrow" panose="020B0606020202030204" pitchFamily="34" charset="0"/>
              </a:rPr>
              <a:t>was</a:t>
            </a:r>
            <a:r>
              <a:rPr lang="tr-TR" sz="1600" dirty="0" smtClean="0">
                <a:latin typeface="Arial Narrow" panose="020B0606020202030204" pitchFamily="34" charset="0"/>
              </a:rPr>
              <a:t> </a:t>
            </a:r>
            <a:r>
              <a:rPr lang="tr-TR" sz="1600" dirty="0" err="1" smtClean="0">
                <a:latin typeface="Arial Narrow" panose="020B0606020202030204" pitchFamily="34" charset="0"/>
              </a:rPr>
              <a:t>convertible</a:t>
            </a:r>
            <a:r>
              <a:rPr lang="tr-TR" sz="1600" dirty="0" smtClean="0">
                <a:latin typeface="Arial Narrow" panose="020B0606020202030204" pitchFamily="34" charset="0"/>
              </a:rPr>
              <a:t> </a:t>
            </a:r>
            <a:r>
              <a:rPr lang="tr-TR" sz="1600" dirty="0" err="1" smtClean="0">
                <a:latin typeface="Arial Narrow" panose="020B0606020202030204" pitchFamily="34" charset="0"/>
              </a:rPr>
              <a:t>directly</a:t>
            </a:r>
            <a:r>
              <a:rPr lang="tr-TR" sz="1600" dirty="0" smtClean="0">
                <a:latin typeface="Arial Narrow" panose="020B0606020202030204" pitchFamily="34" charset="0"/>
              </a:rPr>
              <a:t> </a:t>
            </a:r>
            <a:r>
              <a:rPr lang="tr-TR" sz="1600" dirty="0" err="1" smtClean="0">
                <a:latin typeface="Arial Narrow" panose="020B0606020202030204" pitchFamily="34" charset="0"/>
              </a:rPr>
              <a:t>into</a:t>
            </a:r>
            <a:r>
              <a:rPr lang="tr-TR" sz="1600" dirty="0" smtClean="0">
                <a:latin typeface="Arial Narrow" panose="020B0606020202030204" pitchFamily="34" charset="0"/>
              </a:rPr>
              <a:t> </a:t>
            </a:r>
            <a:r>
              <a:rPr lang="tr-TR" sz="1600" dirty="0" err="1" smtClean="0">
                <a:latin typeface="Arial Narrow" panose="020B0606020202030204" pitchFamily="34" charset="0"/>
              </a:rPr>
              <a:t>gold</a:t>
            </a:r>
            <a:r>
              <a:rPr lang="tr-TR" sz="1600" dirty="0" smtClean="0">
                <a:latin typeface="Arial Narrow" panose="020B0606020202030204" pitchFamily="34" charset="0"/>
              </a:rPr>
              <a:t> at </a:t>
            </a:r>
            <a:r>
              <a:rPr lang="tr-TR" sz="1600" dirty="0" err="1" smtClean="0">
                <a:latin typeface="Arial Narrow" panose="020B0606020202030204" pitchFamily="34" charset="0"/>
              </a:rPr>
              <a:t>fixed</a:t>
            </a:r>
            <a:r>
              <a:rPr lang="tr-TR" sz="1600" dirty="0" smtClean="0">
                <a:latin typeface="Arial Narrow" panose="020B0606020202030204" pitchFamily="34" charset="0"/>
              </a:rPr>
              <a:t> </a:t>
            </a:r>
            <a:r>
              <a:rPr lang="tr-TR" sz="1600" dirty="0" err="1" smtClean="0">
                <a:latin typeface="Arial Narrow" panose="020B0606020202030204" pitchFamily="34" charset="0"/>
              </a:rPr>
              <a:t>rates</a:t>
            </a:r>
            <a:r>
              <a:rPr lang="tr-TR" sz="1600" dirty="0" smtClean="0">
                <a:latin typeface="Arial Narrow" panose="020B0606020202030204" pitchFamily="34" charset="0"/>
              </a:rPr>
              <a:t>,</a:t>
            </a:r>
          </a:p>
          <a:p>
            <a:pPr marL="0" lvl="0" indent="0" algn="ctr">
              <a:spcBef>
                <a:spcPts val="0"/>
              </a:spcBef>
              <a:buNone/>
            </a:pPr>
            <a:r>
              <a:rPr lang="tr-TR" sz="1600" dirty="0" err="1" smtClean="0">
                <a:latin typeface="Arial Narrow" panose="020B0606020202030204" pitchFamily="34" charset="0"/>
              </a:rPr>
              <a:t>so</a:t>
            </a:r>
            <a:r>
              <a:rPr lang="tr-TR" sz="1600" dirty="0" smtClean="0">
                <a:latin typeface="Arial Narrow" panose="020B0606020202030204" pitchFamily="34" charset="0"/>
              </a:rPr>
              <a:t> </a:t>
            </a:r>
            <a:r>
              <a:rPr lang="tr-TR" sz="1600" dirty="0" err="1" smtClean="0">
                <a:latin typeface="Arial Narrow" panose="020B0606020202030204" pitchFamily="34" charset="0"/>
              </a:rPr>
              <a:t>exchange</a:t>
            </a:r>
            <a:r>
              <a:rPr lang="tr-TR" sz="1600" dirty="0" smtClean="0">
                <a:latin typeface="Arial Narrow" panose="020B0606020202030204" pitchFamily="34" charset="0"/>
              </a:rPr>
              <a:t> </a:t>
            </a:r>
            <a:r>
              <a:rPr lang="tr-TR" sz="1600" dirty="0" err="1" smtClean="0">
                <a:latin typeface="Arial Narrow" panose="020B0606020202030204" pitchFamily="34" charset="0"/>
              </a:rPr>
              <a:t>rates</a:t>
            </a:r>
            <a:r>
              <a:rPr lang="tr-TR" sz="1600" dirty="0" smtClean="0">
                <a:latin typeface="Arial Narrow" panose="020B0606020202030204" pitchFamily="34" charset="0"/>
              </a:rPr>
              <a:t> </a:t>
            </a:r>
            <a:r>
              <a:rPr lang="tr-TR" sz="1600" dirty="0" err="1" smtClean="0">
                <a:latin typeface="Arial Narrow" panose="020B0606020202030204" pitchFamily="34" charset="0"/>
              </a:rPr>
              <a:t>between</a:t>
            </a:r>
            <a:r>
              <a:rPr lang="tr-TR" sz="1600" dirty="0" smtClean="0">
                <a:latin typeface="Arial Narrow" panose="020B0606020202030204" pitchFamily="34" charset="0"/>
              </a:rPr>
              <a:t> </a:t>
            </a:r>
            <a:r>
              <a:rPr lang="tr-TR" sz="1600" dirty="0" err="1" smtClean="0">
                <a:latin typeface="Arial Narrow" panose="020B0606020202030204" pitchFamily="34" charset="0"/>
              </a:rPr>
              <a:t>currencies</a:t>
            </a:r>
            <a:r>
              <a:rPr lang="tr-TR" sz="1600" dirty="0" smtClean="0">
                <a:latin typeface="Arial Narrow" panose="020B0606020202030204" pitchFamily="34" charset="0"/>
              </a:rPr>
              <a:t> </a:t>
            </a:r>
            <a:r>
              <a:rPr lang="tr-TR" sz="1600" dirty="0" err="1" smtClean="0">
                <a:latin typeface="Arial Narrow" panose="020B0606020202030204" pitchFamily="34" charset="0"/>
              </a:rPr>
              <a:t>were</a:t>
            </a:r>
            <a:r>
              <a:rPr lang="tr-TR" sz="1600" dirty="0" smtClean="0">
                <a:latin typeface="Arial Narrow" panose="020B0606020202030204" pitchFamily="34" charset="0"/>
              </a:rPr>
              <a:t> </a:t>
            </a:r>
            <a:r>
              <a:rPr lang="tr-TR" sz="1600" dirty="0" err="1" smtClean="0">
                <a:latin typeface="Arial Narrow" panose="020B0606020202030204" pitchFamily="34" charset="0"/>
              </a:rPr>
              <a:t>also</a:t>
            </a:r>
            <a:r>
              <a:rPr lang="tr-TR" sz="1600" dirty="0" smtClean="0">
                <a:latin typeface="Arial Narrow" panose="020B0606020202030204" pitchFamily="34" charset="0"/>
              </a:rPr>
              <a:t> </a:t>
            </a:r>
            <a:r>
              <a:rPr lang="tr-TR" sz="1600" dirty="0" err="1" smtClean="0">
                <a:latin typeface="Arial Narrow" panose="020B0606020202030204" pitchFamily="34" charset="0"/>
              </a:rPr>
              <a:t>fixed</a:t>
            </a:r>
            <a:r>
              <a:rPr lang="tr-TR" sz="1600" dirty="0" smtClean="0">
                <a:latin typeface="Arial Narrow" panose="020B0606020202030204" pitchFamily="34" charset="0"/>
              </a:rPr>
              <a:t>.</a:t>
            </a:r>
          </a:p>
          <a:p>
            <a:pPr marL="0" lvl="0" indent="0" algn="ctr">
              <a:spcBef>
                <a:spcPts val="0"/>
              </a:spcBef>
              <a:buNone/>
            </a:pPr>
            <a:r>
              <a:rPr lang="tr-TR" sz="1600" noProof="1" smtClean="0">
                <a:solidFill>
                  <a:srgbClr val="800000"/>
                </a:solidFill>
                <a:latin typeface="Arial Narrow" panose="020B0606020202030204" pitchFamily="34" charset="0"/>
              </a:rPr>
              <a:t>After World War II,</a:t>
            </a:r>
          </a:p>
          <a:p>
            <a:pPr marL="0" lvl="0" indent="0" algn="ctr">
              <a:spcBef>
                <a:spcPts val="0"/>
              </a:spcBef>
              <a:buNone/>
            </a:pPr>
            <a:r>
              <a:rPr lang="tr-TR" sz="1600" noProof="1" smtClean="0">
                <a:latin typeface="Arial Narrow" panose="020B0606020202030204" pitchFamily="34" charset="0"/>
              </a:rPr>
              <a:t>a fixed exchange rate system known as the </a:t>
            </a:r>
            <a:r>
              <a:rPr lang="tr-TR" sz="1600" noProof="1" smtClean="0">
                <a:solidFill>
                  <a:srgbClr val="800000"/>
                </a:solidFill>
                <a:latin typeface="Arial Narrow" panose="020B0606020202030204" pitchFamily="34" charset="0"/>
              </a:rPr>
              <a:t>Bretton Woods </a:t>
            </a:r>
            <a:r>
              <a:rPr lang="tr-TR" sz="1600" noProof="1" smtClean="0">
                <a:latin typeface="Arial Narrow" panose="020B0606020202030204" pitchFamily="34" charset="0"/>
              </a:rPr>
              <a:t>system was set up.</a:t>
            </a:r>
          </a:p>
          <a:p>
            <a:pPr marL="0" lvl="0" indent="0" algn="ctr">
              <a:spcBef>
                <a:spcPts val="0"/>
              </a:spcBef>
              <a:buNone/>
            </a:pPr>
            <a:r>
              <a:rPr lang="tr-TR" sz="1600" noProof="1" smtClean="0">
                <a:latin typeface="Arial Narrow" panose="020B0606020202030204" pitchFamily="34" charset="0"/>
              </a:rPr>
              <a:t>(Bretton Woods is a town in the US.)</a:t>
            </a:r>
          </a:p>
          <a:p>
            <a:pPr marL="0" lvl="0" indent="0" algn="ctr">
              <a:spcBef>
                <a:spcPts val="0"/>
              </a:spcBef>
              <a:buNone/>
            </a:pPr>
            <a:r>
              <a:rPr lang="tr-TR" sz="1600" noProof="1" smtClean="0">
                <a:latin typeface="Arial Narrow" panose="020B0606020202030204" pitchFamily="34" charset="0"/>
              </a:rPr>
              <a:t>As the US emerged from WWII as the world’s largest economic power, with over half of the world’s manufacturing capacity and the greater part of the world’s gold, the Bretton Woods system of fixed exchange rates was based on the convertibility of US dollars into gold at 35$ per ounce.</a:t>
            </a:r>
          </a:p>
          <a:p>
            <a:pPr marL="0" lvl="0" indent="0" algn="ctr">
              <a:spcBef>
                <a:spcPts val="0"/>
              </a:spcBef>
              <a:buNone/>
            </a:pPr>
            <a:r>
              <a:rPr lang="tr-TR" sz="1600" noProof="1" smtClean="0">
                <a:latin typeface="Arial Narrow" panose="020B0606020202030204" pitchFamily="34" charset="0"/>
              </a:rPr>
              <a:t>Gold as well as US dollars were to kept by other countries as international reserves</a:t>
            </a:r>
          </a:p>
          <a:p>
            <a:pPr marL="0" lvl="0" indent="0" algn="ctr">
              <a:spcBef>
                <a:spcPts val="0"/>
              </a:spcBef>
              <a:buNone/>
            </a:pPr>
            <a:r>
              <a:rPr lang="tr-TR" sz="1600" noProof="1" smtClean="0">
                <a:latin typeface="Arial Narrow" panose="020B0606020202030204" pitchFamily="34" charset="0"/>
              </a:rPr>
              <a:t>with US guaranteeing to provide an ounce of gold for 35$ on demand.</a:t>
            </a:r>
          </a:p>
          <a:p>
            <a:pPr marL="0" lvl="0" indent="0" algn="ctr">
              <a:spcBef>
                <a:spcPts val="0"/>
              </a:spcBef>
              <a:buNone/>
            </a:pPr>
            <a:r>
              <a:rPr lang="tr-TR" sz="1600" noProof="1" smtClean="0">
                <a:latin typeface="Arial Narrow" panose="020B0606020202030204" pitchFamily="34" charset="0"/>
              </a:rPr>
              <a:t>As a result, US $ became the reserve currency of the world.</a:t>
            </a:r>
            <a:endParaRPr lang="tr-TR" sz="800" noProof="1">
              <a:latin typeface="Arial Narrow" panose="020B0606020202030204" pitchFamily="34" charset="0"/>
            </a:endParaRPr>
          </a:p>
          <a:p>
            <a:pPr marL="0" lvl="0" indent="0" algn="ctr">
              <a:spcBef>
                <a:spcPts val="0"/>
              </a:spcBef>
              <a:buNone/>
            </a:pPr>
            <a:r>
              <a:rPr lang="tr-TR" sz="1600" noProof="1" smtClean="0">
                <a:solidFill>
                  <a:srgbClr val="800000"/>
                </a:solidFill>
                <a:latin typeface="Arial Narrow" panose="020B0606020202030204" pitchFamily="34" charset="0"/>
              </a:rPr>
              <a:t>The Bretton Woods system was abondoned in 1971</a:t>
            </a:r>
          </a:p>
          <a:p>
            <a:pPr marL="0" lvl="0" indent="0" algn="ctr">
              <a:spcBef>
                <a:spcPts val="0"/>
              </a:spcBef>
              <a:buNone/>
            </a:pPr>
            <a:r>
              <a:rPr lang="tr-TR" sz="1600" noProof="1" smtClean="0">
                <a:latin typeface="Arial Narrow" panose="020B0606020202030204" pitchFamily="34" charset="0"/>
              </a:rPr>
              <a:t>with US declaring that it will no longer provide gold in return for US $ anymore.</a:t>
            </a:r>
          </a:p>
          <a:p>
            <a:pPr marL="0" lvl="0" indent="0" algn="ctr">
              <a:spcBef>
                <a:spcPts val="0"/>
              </a:spcBef>
              <a:buNone/>
            </a:pPr>
            <a:r>
              <a:rPr lang="tr-TR" sz="1600" noProof="1" smtClean="0">
                <a:latin typeface="Arial Narrow" panose="020B0606020202030204" pitchFamily="34" charset="0"/>
              </a:rPr>
              <a:t>Fixed exchange rate was abondoned in 1973.</a:t>
            </a:r>
          </a:p>
          <a:p>
            <a:pPr marL="0" lvl="0" indent="0" algn="ctr">
              <a:spcBef>
                <a:spcPts val="0"/>
              </a:spcBef>
              <a:buNone/>
            </a:pPr>
            <a:r>
              <a:rPr lang="tr-TR" sz="1600" noProof="1" smtClean="0">
                <a:latin typeface="Arial Narrow" panose="020B0606020202030204" pitchFamily="34" charset="0"/>
              </a:rPr>
              <a:t>From 1979 to 1990, the European Union instituted among its members its own fixed exchange rate system with some fluctuation allowed between narrow limits which was called the ″snake″.</a:t>
            </a:r>
          </a:p>
          <a:p>
            <a:pPr marL="0" lvl="0" indent="0" algn="ctr">
              <a:spcBef>
                <a:spcPts val="0"/>
              </a:spcBef>
              <a:buNone/>
            </a:pPr>
            <a:r>
              <a:rPr lang="tr-TR" sz="1600" noProof="1" smtClean="0">
                <a:latin typeface="Arial Narrow" panose="020B0606020202030204" pitchFamily="34" charset="0"/>
              </a:rPr>
              <a:t>In practice, currencies of all participating countries were pegged to German mark.</a:t>
            </a:r>
          </a:p>
          <a:p>
            <a:pPr marL="0" lvl="0" indent="0" algn="ctr">
              <a:spcBef>
                <a:spcPts val="0"/>
              </a:spcBef>
              <a:buNone/>
            </a:pPr>
            <a:r>
              <a:rPr lang="tr-TR" sz="1600" noProof="1" smtClean="0">
                <a:latin typeface="Arial Narrow" panose="020B0606020202030204" pitchFamily="34" charset="0"/>
              </a:rPr>
              <a:t>On January 1, 1999, Euro was launched with an initial value of 1.08 US $.</a:t>
            </a:r>
          </a:p>
          <a:p>
            <a:pPr marL="0" lvl="0" indent="0" algn="ctr">
              <a:spcBef>
                <a:spcPts val="0"/>
              </a:spcBef>
              <a:buNone/>
            </a:pPr>
            <a:endParaRPr lang="tr-TR" sz="1600" noProof="1" smtClean="0">
              <a:latin typeface="Arial Narrow" panose="020B0606020202030204" pitchFamily="34" charset="0"/>
            </a:endParaRPr>
          </a:p>
          <a:p>
            <a:pPr marL="0" lvl="0" indent="0" algn="ctr">
              <a:spcBef>
                <a:spcPts val="0"/>
              </a:spcBef>
              <a:buNone/>
            </a:pPr>
            <a:endParaRPr lang="tr-TR" sz="1600" noProof="1" smtClean="0">
              <a:latin typeface="Arial Narrow" panose="020B0606020202030204" pitchFamily="34" charset="0"/>
            </a:endParaRPr>
          </a:p>
          <a:p>
            <a:pPr marL="0" lvl="0" indent="0" algn="ctr">
              <a:spcBef>
                <a:spcPts val="0"/>
              </a:spcBef>
              <a:buNone/>
            </a:pPr>
            <a:endParaRPr lang="tr-TR" sz="1600" noProof="1">
              <a:latin typeface="Arial Narrow" panose="020B0606020202030204" pitchFamily="34" charset="0"/>
            </a:endParaRPr>
          </a:p>
        </p:txBody>
      </p:sp>
    </p:spTree>
    <p:extLst>
      <p:ext uri="{BB962C8B-B14F-4D97-AF65-F5344CB8AC3E}">
        <p14:creationId xmlns:p14="http://schemas.microsoft.com/office/powerpoint/2010/main" val="14531716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43608" y="274638"/>
            <a:ext cx="7200800" cy="1143000"/>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400" dirty="0" err="1" smtClean="0">
                <a:solidFill>
                  <a:srgbClr val="800000"/>
                </a:solidFill>
                <a:latin typeface="Arial Narrow" pitchFamily="34" charset="0"/>
              </a:rPr>
              <a:t>Foreign</a:t>
            </a:r>
            <a:r>
              <a:rPr lang="tr-TR" sz="2400" dirty="0" smtClean="0">
                <a:solidFill>
                  <a:srgbClr val="800000"/>
                </a:solidFill>
                <a:latin typeface="Arial Narrow" pitchFamily="34" charset="0"/>
              </a:rPr>
              <a:t> Exchange </a:t>
            </a:r>
            <a:r>
              <a:rPr lang="tr-TR" sz="2400" dirty="0" err="1" smtClean="0">
                <a:solidFill>
                  <a:srgbClr val="800000"/>
                </a:solidFill>
                <a:latin typeface="Arial Narrow" pitchFamily="34" charset="0"/>
              </a:rPr>
              <a:t>Markets</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800" dirty="0" err="1" smtClean="0">
                <a:latin typeface="Arial Narrow" pitchFamily="34" charset="0"/>
              </a:rPr>
              <a:t>Worth</a:t>
            </a:r>
            <a:r>
              <a:rPr lang="tr-TR" sz="2800" dirty="0" smtClean="0">
                <a:latin typeface="Arial Narrow" pitchFamily="34" charset="0"/>
              </a:rPr>
              <a:t> of € in $</a:t>
            </a:r>
            <a:endParaRPr lang="tr-TR" sz="2800" dirty="0">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0" lvl="0" indent="0" algn="ctr">
              <a:spcBef>
                <a:spcPts val="0"/>
              </a:spcBef>
              <a:buNone/>
            </a:pPr>
            <a:r>
              <a:rPr lang="tr-TR" sz="1800" dirty="0" smtClean="0">
                <a:latin typeface="Arial Narrow" panose="020B0606020202030204" pitchFamily="34" charset="0"/>
              </a:rPr>
              <a:t> </a:t>
            </a:r>
            <a:endParaRPr lang="tr-TR" sz="1800" noProof="1" smtClean="0">
              <a:latin typeface="Arial Narrow" panose="020B0606020202030204" pitchFamily="34" charset="0"/>
            </a:endParaRPr>
          </a:p>
          <a:p>
            <a:pPr marL="0" lvl="0" indent="0" algn="ctr">
              <a:spcBef>
                <a:spcPts val="0"/>
              </a:spcBef>
              <a:buNone/>
            </a:pPr>
            <a:endParaRPr lang="tr-TR" sz="1800" noProof="1" smtClean="0">
              <a:latin typeface="Arial Narrow" panose="020B0606020202030204" pitchFamily="34" charset="0"/>
            </a:endParaRPr>
          </a:p>
          <a:p>
            <a:pPr marL="0" lvl="0" indent="0" algn="ctr">
              <a:spcBef>
                <a:spcPts val="0"/>
              </a:spcBef>
              <a:buNone/>
            </a:pPr>
            <a:endParaRPr lang="tr-TR" sz="1600" noProof="1">
              <a:latin typeface="Arial Narrow" panose="020B0606020202030204" pitchFamily="34" charset="0"/>
            </a:endParaRPr>
          </a:p>
        </p:txBody>
      </p:sp>
      <p:pic>
        <p:nvPicPr>
          <p:cNvPr id="3" name="Resim 2"/>
          <p:cNvPicPr>
            <a:picLocks noChangeAspect="1"/>
          </p:cNvPicPr>
          <p:nvPr/>
        </p:nvPicPr>
        <p:blipFill>
          <a:blip r:embed="rId3"/>
          <a:stretch>
            <a:fillRect/>
          </a:stretch>
        </p:blipFill>
        <p:spPr>
          <a:xfrm>
            <a:off x="1043608" y="1700808"/>
            <a:ext cx="7202679" cy="4445403"/>
          </a:xfrm>
          <a:prstGeom prst="rect">
            <a:avLst/>
          </a:prstGeom>
        </p:spPr>
      </p:pic>
      <p:cxnSp>
        <p:nvCxnSpPr>
          <p:cNvPr id="9" name="Düz Bağlayıcı 8"/>
          <p:cNvCxnSpPr/>
          <p:nvPr/>
        </p:nvCxnSpPr>
        <p:spPr>
          <a:xfrm>
            <a:off x="1475656" y="5013176"/>
            <a:ext cx="64807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Düz Bağlayıcı 9"/>
          <p:cNvCxnSpPr/>
          <p:nvPr/>
        </p:nvCxnSpPr>
        <p:spPr>
          <a:xfrm>
            <a:off x="1475656" y="4221088"/>
            <a:ext cx="6480720" cy="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 name="Düz Bağlayıcı 10"/>
          <p:cNvCxnSpPr/>
          <p:nvPr/>
        </p:nvCxnSpPr>
        <p:spPr>
          <a:xfrm>
            <a:off x="1475656" y="2060848"/>
            <a:ext cx="648072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12" name="Düz Bağlayıcı 11"/>
          <p:cNvCxnSpPr/>
          <p:nvPr/>
        </p:nvCxnSpPr>
        <p:spPr>
          <a:xfrm>
            <a:off x="1547664" y="5805264"/>
            <a:ext cx="6480720" cy="0"/>
          </a:xfrm>
          <a:prstGeom prst="line">
            <a:avLst/>
          </a:prstGeom>
          <a:ln>
            <a:solidFill>
              <a:srgbClr val="CC00C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589177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11530</TotalTime>
  <Words>750</Words>
  <Application>Microsoft Office PowerPoint</Application>
  <PresentationFormat>Ekran Gösterisi (4:3)</PresentationFormat>
  <Paragraphs>99</Paragraphs>
  <Slides>9</Slides>
  <Notes>9</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9</vt:i4>
      </vt:variant>
    </vt:vector>
  </HeadingPairs>
  <TitlesOfParts>
    <vt:vector size="13" baseType="lpstr">
      <vt:lpstr>Arial</vt:lpstr>
      <vt:lpstr>Arial Narrow</vt:lpstr>
      <vt:lpstr>Calibri</vt:lpstr>
      <vt:lpstr>Office Theme</vt:lpstr>
      <vt:lpstr> </vt:lpstr>
      <vt:lpstr>NTE 1010 – Introduction to Finance for Engineers International Financial System Balance of Payments</vt:lpstr>
      <vt:lpstr>NTE 1010 – Introduction to Finance for Engineers International Financial System Balance of Payments</vt:lpstr>
      <vt:lpstr>NTE 1010 – Introduction to Finance for Engineers International Financial System Current Account Balance of Turkey</vt:lpstr>
      <vt:lpstr>NTE 1010 – Intro to Finance for Engr International Financial System A New Economic Model after 2003 in Turkey: Growth funded by borrowing</vt:lpstr>
      <vt:lpstr>NTE 1010 – Introduction to Finance for Engineers International Financial System Current Account Balance in the World</vt:lpstr>
      <vt:lpstr>NTE 1010 – Introduction to Finance for Engineers International Financial System Exchange Rate Regimes</vt:lpstr>
      <vt:lpstr>NTE 1010 – Introduction to Finance for Engineers International Financial System Past Exchange Rate Regimes</vt:lpstr>
      <vt:lpstr>NTE 1010 – Introduction to Finance for Engineers Foreign Exchange Markets Worth of € in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
  <cp:revision>716</cp:revision>
  <cp:lastPrinted>2018-12-13T08:03:39Z</cp:lastPrinted>
  <dcterms:created xsi:type="dcterms:W3CDTF">2015-11-30T12:51:35Z</dcterms:created>
  <dcterms:modified xsi:type="dcterms:W3CDTF">2020-05-08T05:19:00Z</dcterms:modified>
  <dc:description/>
</cp:coreProperties>
</file>