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handoutMasterIdLst>
    <p:handoutMasterId r:id="rId24"/>
  </p:handoutMasterIdLst>
  <p:sldIdLst>
    <p:sldId id="567" r:id="rId2"/>
    <p:sldId id="569" r:id="rId3"/>
    <p:sldId id="589" r:id="rId4"/>
    <p:sldId id="578" r:id="rId5"/>
    <p:sldId id="572" r:id="rId6"/>
    <p:sldId id="588" r:id="rId7"/>
    <p:sldId id="579" r:id="rId8"/>
    <p:sldId id="393" r:id="rId9"/>
    <p:sldId id="404" r:id="rId10"/>
    <p:sldId id="406" r:id="rId11"/>
    <p:sldId id="418" r:id="rId12"/>
    <p:sldId id="409" r:id="rId13"/>
    <p:sldId id="410" r:id="rId14"/>
    <p:sldId id="420" r:id="rId15"/>
    <p:sldId id="421" r:id="rId16"/>
    <p:sldId id="422" r:id="rId17"/>
    <p:sldId id="590" r:id="rId18"/>
    <p:sldId id="423" r:id="rId19"/>
    <p:sldId id="591" r:id="rId20"/>
    <p:sldId id="553" r:id="rId21"/>
    <p:sldId id="592" r:id="rId22"/>
  </p:sldIdLst>
  <p:sldSz cx="9144000" cy="6858000" type="screen4x3"/>
  <p:notesSz cx="6889750" cy="960755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00FF"/>
    <a:srgbClr val="800000"/>
    <a:srgbClr val="000066"/>
    <a:srgbClr val="003300"/>
    <a:srgbClr val="FFCCFF"/>
    <a:srgbClr val="0000CC"/>
    <a:srgbClr val="FFFFFF"/>
    <a:srgbClr val="3333CC"/>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39" autoAdjust="0"/>
    <p:restoredTop sz="94662" autoAdjust="0"/>
  </p:normalViewPr>
  <p:slideViewPr>
    <p:cSldViewPr>
      <p:cViewPr varScale="1">
        <p:scale>
          <a:sx n="63" d="100"/>
          <a:sy n="63" d="100"/>
        </p:scale>
        <p:origin x="89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5742" cy="48037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sz="quarter" idx="1"/>
          </p:nvPr>
        </p:nvSpPr>
        <p:spPr>
          <a:xfrm>
            <a:off x="3902910" y="0"/>
            <a:ext cx="2985741" cy="480378"/>
          </a:xfrm>
          <a:prstGeom prst="rect">
            <a:avLst/>
          </a:prstGeom>
        </p:spPr>
        <p:txBody>
          <a:bodyPr vert="horz" lIns="91440" tIns="45720" rIns="91440" bIns="45720" rtlCol="0"/>
          <a:lstStyle>
            <a:lvl1pPr algn="r">
              <a:defRPr sz="1200"/>
            </a:lvl1pPr>
          </a:lstStyle>
          <a:p>
            <a:fld id="{41DD2113-24C6-4329-AB40-201D9F0A72C4}" type="datetimeFigureOut">
              <a:rPr lang="tr-TR" smtClean="0"/>
              <a:t>13.02.2020</a:t>
            </a:fld>
            <a:endParaRPr lang="tr-TR"/>
          </a:p>
        </p:txBody>
      </p:sp>
      <p:sp>
        <p:nvSpPr>
          <p:cNvPr id="4" name="Footer Placeholder 3"/>
          <p:cNvSpPr>
            <a:spLocks noGrp="1"/>
          </p:cNvSpPr>
          <p:nvPr>
            <p:ph type="ftr" sz="quarter" idx="2"/>
          </p:nvPr>
        </p:nvSpPr>
        <p:spPr>
          <a:xfrm>
            <a:off x="0" y="9124949"/>
            <a:ext cx="2985742" cy="480378"/>
          </a:xfrm>
          <a:prstGeom prst="rect">
            <a:avLst/>
          </a:prstGeom>
        </p:spPr>
        <p:txBody>
          <a:bodyPr vert="horz" lIns="91440" tIns="45720" rIns="91440" bIns="45720" rtlCol="0" anchor="b"/>
          <a:lstStyle>
            <a:lvl1pPr algn="l">
              <a:defRPr sz="1200"/>
            </a:lvl1pPr>
          </a:lstStyle>
          <a:p>
            <a:endParaRPr lang="tr-TR"/>
          </a:p>
        </p:txBody>
      </p:sp>
      <p:sp>
        <p:nvSpPr>
          <p:cNvPr id="5" name="Slide Number Placeholder 4"/>
          <p:cNvSpPr>
            <a:spLocks noGrp="1"/>
          </p:cNvSpPr>
          <p:nvPr>
            <p:ph type="sldNum" sz="quarter" idx="3"/>
          </p:nvPr>
        </p:nvSpPr>
        <p:spPr>
          <a:xfrm>
            <a:off x="3902910" y="9124949"/>
            <a:ext cx="2985741" cy="480378"/>
          </a:xfrm>
          <a:prstGeom prst="rect">
            <a:avLst/>
          </a:prstGeom>
        </p:spPr>
        <p:txBody>
          <a:bodyPr vert="horz" lIns="91440" tIns="45720" rIns="91440" bIns="45720" rtlCol="0" anchor="b"/>
          <a:lstStyle>
            <a:lvl1pPr algn="r">
              <a:defRPr sz="1200"/>
            </a:lvl1pPr>
          </a:lstStyle>
          <a:p>
            <a:fld id="{7F4D469E-94F5-4441-A8A1-33E94B5433C8}" type="slidenum">
              <a:rPr lang="tr-TR" smtClean="0"/>
              <a:t>‹#›</a:t>
            </a:fld>
            <a:endParaRPr lang="tr-TR"/>
          </a:p>
        </p:txBody>
      </p:sp>
    </p:spTree>
    <p:extLst>
      <p:ext uri="{BB962C8B-B14F-4D97-AF65-F5344CB8AC3E}">
        <p14:creationId xmlns:p14="http://schemas.microsoft.com/office/powerpoint/2010/main" val="28919393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85559" cy="48037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902597" y="0"/>
            <a:ext cx="2985559" cy="480378"/>
          </a:xfrm>
          <a:prstGeom prst="rect">
            <a:avLst/>
          </a:prstGeom>
        </p:spPr>
        <p:txBody>
          <a:bodyPr vert="horz" lIns="91440" tIns="45720" rIns="91440" bIns="45720" rtlCol="0"/>
          <a:lstStyle>
            <a:lvl1pPr algn="r">
              <a:defRPr sz="1200"/>
            </a:lvl1pPr>
          </a:lstStyle>
          <a:p>
            <a:fld id="{D48C765E-539C-483F-BCDF-F0F0AD79452C}" type="datetimeFigureOut">
              <a:rPr lang="tr-TR" smtClean="0"/>
              <a:pPr/>
              <a:t>13.02.2020</a:t>
            </a:fld>
            <a:endParaRPr lang="tr-TR"/>
          </a:p>
        </p:txBody>
      </p:sp>
      <p:sp>
        <p:nvSpPr>
          <p:cNvPr id="4" name="Slide Image Placeholder 3"/>
          <p:cNvSpPr>
            <a:spLocks noGrp="1" noRot="1" noChangeAspect="1"/>
          </p:cNvSpPr>
          <p:nvPr>
            <p:ph type="sldImg" idx="2"/>
          </p:nvPr>
        </p:nvSpPr>
        <p:spPr>
          <a:xfrm>
            <a:off x="1042988" y="719138"/>
            <a:ext cx="4803775" cy="3603625"/>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8975" y="4563586"/>
            <a:ext cx="5511800" cy="432339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6" name="Footer Placeholder 5"/>
          <p:cNvSpPr>
            <a:spLocks noGrp="1"/>
          </p:cNvSpPr>
          <p:nvPr>
            <p:ph type="ftr" sz="quarter" idx="4"/>
          </p:nvPr>
        </p:nvSpPr>
        <p:spPr>
          <a:xfrm>
            <a:off x="1" y="9125506"/>
            <a:ext cx="2985559" cy="480378"/>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902597" y="9125506"/>
            <a:ext cx="2985559" cy="480378"/>
          </a:xfrm>
          <a:prstGeom prst="rect">
            <a:avLst/>
          </a:prstGeom>
        </p:spPr>
        <p:txBody>
          <a:bodyPr vert="horz" lIns="91440" tIns="45720" rIns="91440" bIns="45720" rtlCol="0" anchor="b"/>
          <a:lstStyle>
            <a:lvl1pPr algn="r">
              <a:defRPr sz="1200"/>
            </a:lvl1pPr>
          </a:lstStyle>
          <a:p>
            <a:fld id="{AE8B6D33-EF40-4511-BB6D-F4559DCC6EDC}" type="slidenum">
              <a:rPr lang="tr-TR" smtClean="0"/>
              <a:pPr/>
              <a:t>‹#›</a:t>
            </a:fld>
            <a:endParaRPr lang="tr-TR"/>
          </a:p>
        </p:txBody>
      </p:sp>
    </p:spTree>
    <p:extLst>
      <p:ext uri="{BB962C8B-B14F-4D97-AF65-F5344CB8AC3E}">
        <p14:creationId xmlns:p14="http://schemas.microsoft.com/office/powerpoint/2010/main" val="385840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10"/>
          </p:nvPr>
        </p:nvSpPr>
        <p:spPr/>
        <p:txBody>
          <a:bodyPr/>
          <a:lstStyle/>
          <a:p>
            <a:fld id="{AE8B6D33-EF40-4511-BB6D-F4559DCC6EDC}" type="slidenum">
              <a:rPr lang="tr-TR" smtClean="0"/>
              <a:pPr/>
              <a:t>1</a:t>
            </a:fld>
            <a:endParaRPr lang="tr-TR" dirty="0"/>
          </a:p>
        </p:txBody>
      </p:sp>
    </p:spTree>
    <p:extLst>
      <p:ext uri="{BB962C8B-B14F-4D97-AF65-F5344CB8AC3E}">
        <p14:creationId xmlns:p14="http://schemas.microsoft.com/office/powerpoint/2010/main" val="7854778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1067573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622136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4125094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5</a:t>
            </a:fld>
            <a:endParaRPr lang="tr-TR"/>
          </a:p>
        </p:txBody>
      </p:sp>
    </p:spTree>
    <p:extLst>
      <p:ext uri="{BB962C8B-B14F-4D97-AF65-F5344CB8AC3E}">
        <p14:creationId xmlns:p14="http://schemas.microsoft.com/office/powerpoint/2010/main" val="1987956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3199727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927108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a:p>
        </p:txBody>
      </p:sp>
      <p:sp>
        <p:nvSpPr>
          <p:cNvPr id="4" name="Slayt Numarası Yer Tutucusu 3"/>
          <p:cNvSpPr>
            <a:spLocks noGrp="1"/>
          </p:cNvSpPr>
          <p:nvPr>
            <p:ph type="sldNum" sz="quarter" idx="10"/>
          </p:nvPr>
        </p:nvSpPr>
        <p:spPr/>
        <p:txBody>
          <a:bodyPr/>
          <a:lstStyle/>
          <a:p>
            <a:fld id="{AE8B6D33-EF40-4511-BB6D-F4559DCC6EDC}" type="slidenum">
              <a:rPr lang="tr-TR" smtClean="0"/>
              <a:pPr/>
              <a:t>8</a:t>
            </a:fld>
            <a:endParaRPr lang="tr-TR"/>
          </a:p>
        </p:txBody>
      </p:sp>
    </p:spTree>
    <p:extLst>
      <p:ext uri="{BB962C8B-B14F-4D97-AF65-F5344CB8AC3E}">
        <p14:creationId xmlns:p14="http://schemas.microsoft.com/office/powerpoint/2010/main" val="16040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9043346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4192904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640211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3341209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684101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8775191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dirty="0"/>
          </a:p>
        </p:txBody>
      </p:sp>
    </p:spTree>
    <p:extLst>
      <p:ext uri="{BB962C8B-B14F-4D97-AF65-F5344CB8AC3E}">
        <p14:creationId xmlns:p14="http://schemas.microsoft.com/office/powerpoint/2010/main" val="304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33807335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9278087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29338443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914470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42262682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tr-TR"/>
          </a:p>
        </p:txBody>
      </p:sp>
    </p:spTree>
    <p:extLst>
      <p:ext uri="{BB962C8B-B14F-4D97-AF65-F5344CB8AC3E}">
        <p14:creationId xmlns:p14="http://schemas.microsoft.com/office/powerpoint/2010/main" val="6546862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tr-T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tr-TR"/>
          </a:p>
        </p:txBody>
      </p:sp>
      <p:sp>
        <p:nvSpPr>
          <p:cNvPr id="4" name="Date Placeholder 3"/>
          <p:cNvSpPr>
            <a:spLocks noGrp="1"/>
          </p:cNvSpPr>
          <p:nvPr>
            <p:ph type="dt" sz="half" idx="10"/>
          </p:nvPr>
        </p:nvSpPr>
        <p:spPr/>
        <p:txBody>
          <a:bodyPr/>
          <a:lstStyle/>
          <a:p>
            <a:fld id="{FDDAEEC2-418A-4AE9-8D76-1350AC2C960C}" type="datetime1">
              <a:rPr lang="tr-TR" smtClean="0"/>
              <a:pPr/>
              <a:t>13.02.2020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2D8B617E-CC2C-45DD-8B2D-8AE4EA5FC5F8}" type="datetime1">
              <a:rPr lang="tr-TR" smtClean="0"/>
              <a:pPr/>
              <a:t>13.02.2020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tr-T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09D0F5-A4BC-46CD-8841-C457452FFEDC}" type="datetime1">
              <a:rPr lang="tr-TR" smtClean="0"/>
              <a:pPr/>
              <a:t>13.02.2020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Date Placeholder 4"/>
          <p:cNvSpPr>
            <a:spLocks noGrp="1"/>
          </p:cNvSpPr>
          <p:nvPr>
            <p:ph type="dt" sz="half" idx="10"/>
          </p:nvPr>
        </p:nvSpPr>
        <p:spPr/>
        <p:txBody>
          <a:bodyPr/>
          <a:lstStyle/>
          <a:p>
            <a:fld id="{4FA334DA-5AD4-4FA3-AFE8-2A8C67D70199}" type="datetime1">
              <a:rPr lang="tr-TR" smtClean="0"/>
              <a:pPr/>
              <a:t>13.02.2020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tr-T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7" name="Date Placeholder 6"/>
          <p:cNvSpPr>
            <a:spLocks noGrp="1"/>
          </p:cNvSpPr>
          <p:nvPr>
            <p:ph type="dt" sz="half" idx="10"/>
          </p:nvPr>
        </p:nvSpPr>
        <p:spPr/>
        <p:txBody>
          <a:bodyPr/>
          <a:lstStyle/>
          <a:p>
            <a:fld id="{3C28F8EC-0934-411F-B635-3062B68C4A87}" type="datetime1">
              <a:rPr lang="tr-TR" smtClean="0"/>
              <a:pPr/>
              <a:t>13.02.2020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Date Placeholder 2"/>
          <p:cNvSpPr>
            <a:spLocks noGrp="1"/>
          </p:cNvSpPr>
          <p:nvPr>
            <p:ph type="dt" sz="half" idx="10"/>
          </p:nvPr>
        </p:nvSpPr>
        <p:spPr/>
        <p:txBody>
          <a:bodyPr/>
          <a:lstStyle/>
          <a:p>
            <a:fld id="{865BC700-BE93-49BC-965A-FE7AF14E8E5E}" type="datetime1">
              <a:rPr lang="tr-TR" smtClean="0"/>
              <a:pPr/>
              <a:t>13.02.2020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9B533D-1371-4A64-9DA7-B94E9E82C698}" type="datetime1">
              <a:rPr lang="tr-TR" smtClean="0"/>
              <a:pPr/>
              <a:t>13.02.2020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tr-T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3524A5A-A249-4E71-9C80-CB1606C64E4A}" type="datetime1">
              <a:rPr lang="tr-TR" smtClean="0"/>
              <a:pPr/>
              <a:t>13.02.2020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tr-T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BAA4DE-DE11-46F8-8818-543B671E4FAF}" type="datetime1">
              <a:rPr lang="tr-TR" smtClean="0"/>
              <a:pPr/>
              <a:t>13.02.2020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tr-T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9D0022AE-E832-4A8B-9536-4372F3E1F6C7}" type="datetime1">
              <a:rPr lang="tr-TR" smtClean="0"/>
              <a:pPr/>
              <a:t>13.02.2020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tr-T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10"/>
          </p:nvPr>
        </p:nvSpPr>
        <p:spPr/>
        <p:txBody>
          <a:bodyPr/>
          <a:lstStyle/>
          <a:p>
            <a:fld id="{532FB04C-27DE-4D51-8F84-8865E814DCCD}" type="datetime1">
              <a:rPr lang="tr-TR" smtClean="0"/>
              <a:pPr/>
              <a:t>13.02.2020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85C0ACAC-419D-446D-993D-E467CC79BCB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tr-T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tr-T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B7707C-6B9A-4E38-AEE2-597F60E606B3}" type="datetime1">
              <a:rPr lang="tr-TR" smtClean="0"/>
              <a:pPr/>
              <a:t>13.02.2020</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C0ACAC-419D-446D-993D-E467CC79BCB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e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discord.gg/" TargetMode="Externa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e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em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dirty="0" smtClean="0"/>
              <a:t> </a:t>
            </a:r>
            <a:endParaRPr lang="tr-TR" sz="1200" dirty="0"/>
          </a:p>
        </p:txBody>
      </p:sp>
      <p:sp>
        <p:nvSpPr>
          <p:cNvPr id="6" name="Subtitle 5"/>
          <p:cNvSpPr>
            <a:spLocks noGrp="1"/>
          </p:cNvSpPr>
          <p:nvPr>
            <p:ph type="subTitle" idx="1"/>
          </p:nvPr>
        </p:nvSpPr>
        <p:spPr>
          <a:xfrm>
            <a:off x="1835696" y="2204864"/>
            <a:ext cx="5328592" cy="1872208"/>
          </a:xfrm>
          <a:ln w="25400">
            <a:noFill/>
          </a:ln>
        </p:spPr>
        <p:txBody>
          <a:bodyPr>
            <a:noAutofit/>
          </a:bodyPr>
          <a:lstStyle/>
          <a:p>
            <a:pPr>
              <a:spcBef>
                <a:spcPts val="0"/>
              </a:spcBef>
            </a:pPr>
            <a:r>
              <a:rPr lang="tr-TR" sz="2000" dirty="0">
                <a:solidFill>
                  <a:srgbClr val="800000"/>
                </a:solidFill>
                <a:latin typeface="Arial Narrow" pitchFamily="34" charset="0"/>
              </a:rPr>
              <a:t>NTE </a:t>
            </a:r>
            <a:r>
              <a:rPr lang="tr-TR" sz="2000" dirty="0" smtClean="0">
                <a:solidFill>
                  <a:srgbClr val="800000"/>
                </a:solidFill>
                <a:latin typeface="Arial Narrow" pitchFamily="34" charset="0"/>
              </a:rPr>
              <a:t>1010.1 - </a:t>
            </a:r>
            <a:r>
              <a:rPr lang="tr-TR" sz="2000" dirty="0" err="1" smtClean="0">
                <a:solidFill>
                  <a:srgbClr val="800000"/>
                </a:solidFill>
                <a:latin typeface="Arial Narrow" pitchFamily="34" charset="0"/>
              </a:rPr>
              <a:t>Introduction</a:t>
            </a:r>
            <a:r>
              <a:rPr lang="tr-TR" sz="2000" dirty="0" smtClean="0">
                <a:solidFill>
                  <a:srgbClr val="800000"/>
                </a:solidFill>
                <a:latin typeface="Arial Narrow" pitchFamily="34" charset="0"/>
              </a:rPr>
              <a:t> </a:t>
            </a:r>
            <a:r>
              <a:rPr lang="tr-TR" sz="2000" dirty="0" err="1">
                <a:solidFill>
                  <a:srgbClr val="800000"/>
                </a:solidFill>
                <a:latin typeface="Arial Narrow" pitchFamily="34" charset="0"/>
              </a:rPr>
              <a:t>to</a:t>
            </a:r>
            <a:r>
              <a:rPr lang="tr-TR" sz="2000" dirty="0">
                <a:solidFill>
                  <a:srgbClr val="800000"/>
                </a:solidFill>
                <a:latin typeface="Arial Narrow" pitchFamily="34" charset="0"/>
              </a:rPr>
              <a:t> Finance </a:t>
            </a:r>
            <a:r>
              <a:rPr lang="tr-TR" sz="2000" dirty="0" err="1">
                <a:solidFill>
                  <a:srgbClr val="800000"/>
                </a:solidFill>
                <a:latin typeface="Arial Narrow" pitchFamily="34" charset="0"/>
              </a:rPr>
              <a:t>for</a:t>
            </a:r>
            <a:r>
              <a:rPr lang="tr-TR" sz="2000" dirty="0">
                <a:solidFill>
                  <a:srgbClr val="800000"/>
                </a:solidFill>
                <a:latin typeface="Arial Narrow" pitchFamily="34" charset="0"/>
              </a:rPr>
              <a:t> </a:t>
            </a:r>
            <a:r>
              <a:rPr lang="tr-TR" sz="2000" dirty="0" err="1" smtClean="0">
                <a:solidFill>
                  <a:srgbClr val="800000"/>
                </a:solidFill>
                <a:latin typeface="Arial Narrow" pitchFamily="34" charset="0"/>
              </a:rPr>
              <a:t>Engineers</a:t>
            </a:r>
            <a:r>
              <a:rPr lang="tr-TR" sz="2000" dirty="0">
                <a:solidFill>
                  <a:srgbClr val="800000"/>
                </a:solidFill>
                <a:latin typeface="Arial Narrow" pitchFamily="34" charset="0"/>
              </a:rPr>
              <a:t/>
            </a:r>
            <a:br>
              <a:rPr lang="tr-TR" sz="2000" dirty="0">
                <a:solidFill>
                  <a:srgbClr val="800000"/>
                </a:solidFill>
                <a:latin typeface="Arial Narrow" pitchFamily="34" charset="0"/>
              </a:rPr>
            </a:br>
            <a:r>
              <a:rPr lang="tr-TR" sz="2000" dirty="0" smtClean="0">
                <a:solidFill>
                  <a:srgbClr val="800000"/>
                </a:solidFill>
                <a:latin typeface="Arial Narrow" pitchFamily="34" charset="0"/>
              </a:rPr>
              <a:t>Spring 2020</a:t>
            </a:r>
          </a:p>
          <a:p>
            <a:pPr>
              <a:spcBef>
                <a:spcPts val="0"/>
              </a:spcBef>
            </a:pPr>
            <a:r>
              <a:rPr lang="tr-TR" sz="3600" dirty="0" err="1">
                <a:solidFill>
                  <a:srgbClr val="800000"/>
                </a:solidFill>
                <a:latin typeface="Arial Narrow" pitchFamily="34" charset="0"/>
              </a:rPr>
              <a:t>w</a:t>
            </a:r>
            <a:r>
              <a:rPr lang="tr-TR" sz="3600" dirty="0" err="1" smtClean="0">
                <a:solidFill>
                  <a:srgbClr val="800000"/>
                </a:solidFill>
                <a:latin typeface="Arial Narrow" pitchFamily="34" charset="0"/>
              </a:rPr>
              <a:t>eek</a:t>
            </a:r>
            <a:r>
              <a:rPr lang="tr-TR" sz="3600" dirty="0" smtClean="0">
                <a:solidFill>
                  <a:srgbClr val="800000"/>
                </a:solidFill>
                <a:latin typeface="Arial Narrow" pitchFamily="34" charset="0"/>
              </a:rPr>
              <a:t> 1</a:t>
            </a:r>
          </a:p>
          <a:p>
            <a:pPr>
              <a:spcBef>
                <a:spcPts val="0"/>
              </a:spcBef>
            </a:pPr>
            <a:endParaRPr lang="tr-TR" sz="900" dirty="0" smtClean="0">
              <a:solidFill>
                <a:srgbClr val="800000"/>
              </a:solidFill>
              <a:latin typeface="Arial Narrow" pitchFamily="34" charset="0"/>
            </a:endParaRPr>
          </a:p>
          <a:p>
            <a:pPr>
              <a:spcBef>
                <a:spcPts val="0"/>
              </a:spcBef>
            </a:pPr>
            <a:r>
              <a:rPr lang="tr-TR" sz="2800" dirty="0" err="1" smtClean="0">
                <a:solidFill>
                  <a:srgbClr val="800000"/>
                </a:solidFill>
                <a:latin typeface="Arial Narrow" pitchFamily="34" charset="0"/>
              </a:rPr>
              <a:t>Introduction</a:t>
            </a:r>
            <a:endParaRPr lang="tr-TR" sz="2800" dirty="0" smtClean="0">
              <a:solidFill>
                <a:srgbClr val="800000"/>
              </a:solidFill>
              <a:latin typeface="Arial Narrow" pitchFamily="34" charset="0"/>
            </a:endParaRPr>
          </a:p>
        </p:txBody>
      </p:sp>
    </p:spTree>
    <p:extLst>
      <p:ext uri="{BB962C8B-B14F-4D97-AF65-F5344CB8AC3E}">
        <p14:creationId xmlns:p14="http://schemas.microsoft.com/office/powerpoint/2010/main" val="39466575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601178" y="332656"/>
            <a:ext cx="5941642" cy="922114"/>
          </a:xfrm>
          <a:ln w="25400">
            <a:noFill/>
          </a:ln>
        </p:spPr>
        <p:txBody>
          <a:bodyPr>
            <a:normAutofit/>
          </a:bodyPr>
          <a:lstStyle/>
          <a:p>
            <a:r>
              <a:rPr lang="tr-TR" sz="1800" dirty="0">
                <a:latin typeface="Arial Narrow" pitchFamily="34" charset="0"/>
              </a:rPr>
              <a:t>NTE 1010 – </a:t>
            </a:r>
            <a:r>
              <a:rPr lang="tr-TR" sz="1800" dirty="0" err="1">
                <a:latin typeface="Arial Narrow" pitchFamily="34" charset="0"/>
              </a:rPr>
              <a:t>Introduction</a:t>
            </a:r>
            <a:r>
              <a:rPr lang="tr-TR" sz="1800" dirty="0">
                <a:latin typeface="Arial Narrow" pitchFamily="34" charset="0"/>
              </a:rPr>
              <a:t> </a:t>
            </a:r>
            <a:r>
              <a:rPr lang="tr-TR" sz="1800" dirty="0" err="1">
                <a:latin typeface="Arial Narrow" pitchFamily="34" charset="0"/>
              </a:rPr>
              <a:t>to</a:t>
            </a:r>
            <a:r>
              <a:rPr lang="tr-TR" sz="1800" dirty="0">
                <a:latin typeface="Arial Narrow" pitchFamily="34" charset="0"/>
              </a:rPr>
              <a:t> Finance </a:t>
            </a:r>
            <a:r>
              <a:rPr lang="tr-TR" sz="1800" dirty="0" err="1">
                <a:latin typeface="Arial Narrow" pitchFamily="34" charset="0"/>
              </a:rPr>
              <a:t>for</a:t>
            </a:r>
            <a:r>
              <a:rPr lang="tr-TR" sz="1800" dirty="0">
                <a:latin typeface="Arial Narrow" pitchFamily="34" charset="0"/>
              </a:rPr>
              <a:t> </a:t>
            </a:r>
            <a:r>
              <a:rPr lang="tr-TR" sz="1800" dirty="0" err="1">
                <a:latin typeface="Arial Narrow" pitchFamily="34" charset="0"/>
              </a:rPr>
              <a:t>Engineers</a:t>
            </a:r>
            <a:r>
              <a:rPr lang="tr-TR" sz="2000" dirty="0">
                <a:latin typeface="Arial Narrow" pitchFamily="34" charset="0"/>
              </a:rPr>
              <a:t/>
            </a:r>
            <a:br>
              <a:rPr lang="tr-TR" sz="2000" dirty="0">
                <a:latin typeface="Arial Narrow" pitchFamily="34" charset="0"/>
              </a:rPr>
            </a:br>
            <a:r>
              <a:rPr lang="tr-TR" sz="2400" dirty="0">
                <a:solidFill>
                  <a:srgbClr val="800000"/>
                </a:solidFill>
                <a:latin typeface="Arial Narrow" pitchFamily="34" charset="0"/>
              </a:rPr>
              <a:t>Spring </a:t>
            </a:r>
            <a:r>
              <a:rPr lang="tr-TR" sz="2400" dirty="0" smtClean="0">
                <a:solidFill>
                  <a:srgbClr val="800000"/>
                </a:solidFill>
                <a:latin typeface="Arial Narrow" pitchFamily="34" charset="0"/>
              </a:rPr>
              <a:t>2020 - Course </a:t>
            </a:r>
            <a:r>
              <a:rPr lang="tr-TR" sz="2400" dirty="0" err="1" smtClean="0">
                <a:solidFill>
                  <a:srgbClr val="800000"/>
                </a:solidFill>
                <a:latin typeface="Arial Narrow" pitchFamily="34" charset="0"/>
              </a:rPr>
              <a:t>Contents</a:t>
            </a:r>
            <a:r>
              <a:rPr lang="tr-TR" sz="2400" dirty="0">
                <a:solidFill>
                  <a:srgbClr val="800000"/>
                </a:solidFill>
                <a:latin typeface="Arial Narrow" pitchFamily="34" charset="0"/>
              </a:rPr>
              <a:t> </a:t>
            </a:r>
            <a:r>
              <a:rPr lang="tr-TR" sz="2400" dirty="0" smtClean="0">
                <a:solidFill>
                  <a:srgbClr val="800000"/>
                </a:solidFill>
                <a:latin typeface="Arial Narrow" pitchFamily="34" charset="0"/>
              </a:rPr>
              <a:t>&amp; </a:t>
            </a:r>
            <a:r>
              <a:rPr lang="tr-TR" sz="2400" dirty="0" err="1" smtClean="0">
                <a:solidFill>
                  <a:srgbClr val="800000"/>
                </a:solidFill>
                <a:latin typeface="Arial Narrow" pitchFamily="34" charset="0"/>
              </a:rPr>
              <a:t>Weekly</a:t>
            </a:r>
            <a:r>
              <a:rPr lang="tr-TR" sz="2400" dirty="0" smtClean="0">
                <a:solidFill>
                  <a:srgbClr val="800000"/>
                </a:solidFill>
                <a:latin typeface="Arial Narrow" pitchFamily="34" charset="0"/>
              </a:rPr>
              <a:t> Schedule</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lvl="1">
              <a:spcBef>
                <a:spcPts val="300"/>
              </a:spcBef>
              <a:spcAft>
                <a:spcPts val="300"/>
              </a:spcAft>
            </a:pPr>
            <a:endParaRPr lang="en-US" sz="1000" noProof="1" smtClean="0">
              <a:latin typeface="Arial Narrow" pitchFamily="34" charset="0"/>
            </a:endParaRPr>
          </a:p>
          <a:p>
            <a:pPr marL="457200" lvl="1" indent="0">
              <a:spcBef>
                <a:spcPts val="0"/>
              </a:spcBef>
              <a:spcAft>
                <a:spcPts val="600"/>
              </a:spcAft>
              <a:buNone/>
            </a:pPr>
            <a:r>
              <a:rPr lang="tr-TR" sz="2000" noProof="1" smtClean="0">
                <a:latin typeface="Arial Narrow" pitchFamily="34" charset="0"/>
              </a:rPr>
              <a:t> </a:t>
            </a:r>
            <a:endParaRPr lang="en-US" sz="2000" noProof="1">
              <a:solidFill>
                <a:srgbClr val="0000CC"/>
              </a:solidFill>
              <a:latin typeface="Arial Narrow" panose="020B0606020202030204" pitchFamily="34" charset="0"/>
            </a:endParaRPr>
          </a:p>
        </p:txBody>
      </p:sp>
      <p:pic>
        <p:nvPicPr>
          <p:cNvPr id="6" name="Resim 5"/>
          <p:cNvPicPr>
            <a:picLocks noChangeAspect="1"/>
          </p:cNvPicPr>
          <p:nvPr/>
        </p:nvPicPr>
        <p:blipFill>
          <a:blip r:embed="rId3"/>
          <a:stretch>
            <a:fillRect/>
          </a:stretch>
        </p:blipFill>
        <p:spPr>
          <a:xfrm>
            <a:off x="1601178" y="1412776"/>
            <a:ext cx="5964131" cy="4464496"/>
          </a:xfrm>
          <a:prstGeom prst="rect">
            <a:avLst/>
          </a:prstGeom>
        </p:spPr>
      </p:pic>
    </p:spTree>
    <p:extLst>
      <p:ext uri="{BB962C8B-B14F-4D97-AF65-F5344CB8AC3E}">
        <p14:creationId xmlns:p14="http://schemas.microsoft.com/office/powerpoint/2010/main" val="18520872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rmAutofit/>
          </a:bodyPr>
          <a:lstStyle/>
          <a:p>
            <a:r>
              <a:rPr lang="tr-TR" sz="2000" dirty="0" err="1">
                <a:latin typeface="Arial Narrow" pitchFamily="34" charset="0"/>
              </a:rPr>
              <a:t>NTE</a:t>
            </a:r>
            <a:r>
              <a:rPr lang="tr-TR" sz="2000" dirty="0">
                <a:latin typeface="Arial Narrow" pitchFamily="34" charset="0"/>
              </a:rPr>
              <a:t> 1010 – </a:t>
            </a:r>
            <a:r>
              <a:rPr lang="tr-TR" sz="2000" dirty="0" err="1">
                <a:latin typeface="Arial Narrow" pitchFamily="34" charset="0"/>
              </a:rPr>
              <a:t>Introduction</a:t>
            </a:r>
            <a:r>
              <a:rPr lang="tr-TR" sz="2000" dirty="0">
                <a:latin typeface="Arial Narrow" pitchFamily="34" charset="0"/>
              </a:rPr>
              <a:t> </a:t>
            </a:r>
            <a:r>
              <a:rPr lang="tr-TR" sz="2000" dirty="0" err="1">
                <a:latin typeface="Arial Narrow" pitchFamily="34" charset="0"/>
              </a:rPr>
              <a:t>to</a:t>
            </a:r>
            <a:r>
              <a:rPr lang="tr-TR" sz="2000" dirty="0">
                <a:latin typeface="Arial Narrow" pitchFamily="34" charset="0"/>
              </a:rPr>
              <a:t> Finance </a:t>
            </a:r>
            <a:r>
              <a:rPr lang="tr-TR" sz="2000" dirty="0" err="1">
                <a:latin typeface="Arial Narrow" pitchFamily="34" charset="0"/>
              </a:rPr>
              <a:t>for</a:t>
            </a:r>
            <a:r>
              <a:rPr lang="tr-TR" sz="2000" dirty="0">
                <a:latin typeface="Arial Narrow" pitchFamily="34" charset="0"/>
              </a:rPr>
              <a:t> </a:t>
            </a:r>
            <a:r>
              <a:rPr lang="tr-TR" sz="2000" dirty="0" err="1" smtClean="0">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Exams</a:t>
            </a:r>
            <a:r>
              <a:rPr lang="tr-TR" sz="2400" dirty="0" smtClean="0">
                <a:solidFill>
                  <a:srgbClr val="800000"/>
                </a:solidFill>
                <a:latin typeface="Arial Narrow" pitchFamily="34" charset="0"/>
              </a:rPr>
              <a:t> &amp; Recommended Reading</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196752"/>
            <a:ext cx="8229600" cy="4525963"/>
          </a:xfrm>
          <a:ln w="25400">
            <a:noFill/>
          </a:ln>
        </p:spPr>
        <p:txBody>
          <a:bodyPr>
            <a:noAutofit/>
          </a:bodyPr>
          <a:lstStyle/>
          <a:p>
            <a:pPr lvl="1" algn="ctr">
              <a:spcBef>
                <a:spcPts val="300"/>
              </a:spcBef>
              <a:spcAft>
                <a:spcPts val="300"/>
              </a:spcAft>
              <a:buFont typeface="+mj-lt"/>
              <a:buAutoNum type="arabicPeriod"/>
            </a:pPr>
            <a:endParaRPr lang="tr-TR" sz="400" dirty="0" smtClean="0">
              <a:latin typeface="Arial Narrow" pitchFamily="34" charset="0"/>
            </a:endParaRPr>
          </a:p>
          <a:p>
            <a:pPr marL="0" lvl="1" indent="0" algn="ctr">
              <a:spcBef>
                <a:spcPts val="0"/>
              </a:spcBef>
              <a:buNone/>
            </a:pPr>
            <a:r>
              <a:rPr lang="tr-TR" sz="1800" noProof="1" smtClean="0">
                <a:latin typeface="Arial Narrow" panose="020B0606020202030204" pitchFamily="34" charset="0"/>
              </a:rPr>
              <a:t>At the exams,</a:t>
            </a:r>
          </a:p>
          <a:p>
            <a:pPr marL="0" lvl="1" indent="0" algn="ctr">
              <a:spcBef>
                <a:spcPts val="0"/>
              </a:spcBef>
              <a:buNone/>
            </a:pPr>
            <a:r>
              <a:rPr lang="tr-TR" sz="1800" noProof="1" smtClean="0">
                <a:solidFill>
                  <a:srgbClr val="003300"/>
                </a:solidFill>
                <a:latin typeface="Arial Narrow" panose="020B0606020202030204" pitchFamily="34" charset="0"/>
              </a:rPr>
              <a:t>you will need to have a calculator which can calculate power of a number.</a:t>
            </a:r>
          </a:p>
          <a:p>
            <a:pPr marL="0" lvl="1" indent="0" algn="ctr">
              <a:spcBef>
                <a:spcPts val="0"/>
              </a:spcBef>
              <a:buNone/>
            </a:pPr>
            <a:endParaRPr lang="tr-TR" sz="900" noProof="1" smtClean="0">
              <a:solidFill>
                <a:srgbClr val="00B050"/>
              </a:solidFill>
              <a:latin typeface="Arial Narrow" panose="020B0606020202030204" pitchFamily="34" charset="0"/>
            </a:endParaRPr>
          </a:p>
          <a:p>
            <a:pPr marL="0" lvl="3" indent="0" algn="ctr">
              <a:spcBef>
                <a:spcPts val="0"/>
              </a:spcBef>
              <a:buNone/>
            </a:pPr>
            <a:r>
              <a:rPr lang="en-US" sz="1800" noProof="1" smtClean="0">
                <a:solidFill>
                  <a:srgbClr val="800000"/>
                </a:solidFill>
                <a:latin typeface="Arial Narrow" panose="020B0606020202030204" pitchFamily="34" charset="0"/>
              </a:rPr>
              <a:t>You may </a:t>
            </a:r>
            <a:r>
              <a:rPr lang="en-US" sz="1800" noProof="1">
                <a:solidFill>
                  <a:srgbClr val="800000"/>
                </a:solidFill>
                <a:latin typeface="Arial Narrow" panose="020B0606020202030204" pitchFamily="34" charset="0"/>
              </a:rPr>
              <a:t>not use computers, telephones or any other electronic equipment of that </a:t>
            </a:r>
            <a:r>
              <a:rPr lang="en-US" sz="1800" noProof="1" smtClean="0">
                <a:solidFill>
                  <a:srgbClr val="800000"/>
                </a:solidFill>
                <a:latin typeface="Arial Narrow" panose="020B0606020202030204" pitchFamily="34" charset="0"/>
              </a:rPr>
              <a:t>sort.</a:t>
            </a:r>
            <a:endParaRPr lang="tr-TR" sz="1800" noProof="1" smtClean="0">
              <a:solidFill>
                <a:srgbClr val="800000"/>
              </a:solidFill>
              <a:latin typeface="Arial Narrow" panose="020B0606020202030204" pitchFamily="34" charset="0"/>
            </a:endParaRPr>
          </a:p>
          <a:p>
            <a:pPr marL="0" lvl="3" indent="0" algn="ctr">
              <a:spcBef>
                <a:spcPts val="0"/>
              </a:spcBef>
              <a:buNone/>
            </a:pPr>
            <a:endParaRPr lang="tr-TR" sz="900" noProof="1" smtClean="0">
              <a:solidFill>
                <a:srgbClr val="FF0000"/>
              </a:solidFill>
              <a:latin typeface="Arial Narrow" panose="020B0606020202030204" pitchFamily="34" charset="0"/>
            </a:endParaRPr>
          </a:p>
          <a:p>
            <a:pPr marL="0" lvl="3" indent="0" algn="ctr">
              <a:spcBef>
                <a:spcPts val="0"/>
              </a:spcBef>
              <a:buNone/>
            </a:pPr>
            <a:r>
              <a:rPr lang="en-US" sz="1800" noProof="1" smtClean="0">
                <a:solidFill>
                  <a:srgbClr val="003300"/>
                </a:solidFill>
                <a:latin typeface="Arial Narrow" panose="020B0606020202030204" pitchFamily="34" charset="0"/>
              </a:rPr>
              <a:t>You </a:t>
            </a:r>
            <a:r>
              <a:rPr lang="en-US" sz="1800" noProof="1">
                <a:solidFill>
                  <a:srgbClr val="003300"/>
                </a:solidFill>
                <a:latin typeface="Arial Narrow" panose="020B0606020202030204" pitchFamily="34" charset="0"/>
              </a:rPr>
              <a:t>may refer to an A4-sized sheet with formulas &amp; notes on both </a:t>
            </a:r>
            <a:r>
              <a:rPr lang="en-US" sz="1800" noProof="1" smtClean="0">
                <a:solidFill>
                  <a:srgbClr val="003300"/>
                </a:solidFill>
                <a:latin typeface="Arial Narrow" panose="020B0606020202030204" pitchFamily="34" charset="0"/>
              </a:rPr>
              <a:t>sides</a:t>
            </a:r>
            <a:endParaRPr lang="tr-TR" sz="1800" noProof="1" smtClean="0">
              <a:solidFill>
                <a:srgbClr val="003300"/>
              </a:solidFill>
              <a:latin typeface="Arial Narrow" panose="020B0606020202030204" pitchFamily="34" charset="0"/>
            </a:endParaRPr>
          </a:p>
          <a:p>
            <a:pPr marL="0" lvl="3" indent="0" algn="ctr">
              <a:spcBef>
                <a:spcPts val="0"/>
              </a:spcBef>
              <a:buNone/>
            </a:pPr>
            <a:r>
              <a:rPr lang="en-US" sz="1800" noProof="1" smtClean="0">
                <a:solidFill>
                  <a:srgbClr val="003300"/>
                </a:solidFill>
                <a:latin typeface="Arial Narrow" panose="020B0606020202030204" pitchFamily="34" charset="0"/>
              </a:rPr>
              <a:t>and </a:t>
            </a:r>
            <a:r>
              <a:rPr lang="en-US" sz="1800" noProof="1">
                <a:solidFill>
                  <a:srgbClr val="003300"/>
                </a:solidFill>
                <a:latin typeface="Arial Narrow" panose="020B0606020202030204" pitchFamily="34" charset="0"/>
              </a:rPr>
              <a:t>to the A3-sized </a:t>
            </a:r>
            <a:r>
              <a:rPr lang="tr-TR" sz="1800" noProof="1" smtClean="0">
                <a:solidFill>
                  <a:srgbClr val="003300"/>
                </a:solidFill>
                <a:latin typeface="Arial Narrow" panose="020B0606020202030204" pitchFamily="34" charset="0"/>
              </a:rPr>
              <a:t>table</a:t>
            </a:r>
            <a:r>
              <a:rPr lang="en-US" sz="1800" noProof="1" smtClean="0">
                <a:solidFill>
                  <a:srgbClr val="003300"/>
                </a:solidFill>
                <a:latin typeface="Arial Narrow" panose="020B0606020202030204" pitchFamily="34" charset="0"/>
              </a:rPr>
              <a:t> </a:t>
            </a:r>
            <a:r>
              <a:rPr lang="en-US" sz="1800" noProof="1">
                <a:solidFill>
                  <a:srgbClr val="003300"/>
                </a:solidFill>
                <a:latin typeface="Arial Narrow" panose="020B0606020202030204" pitchFamily="34" charset="0"/>
              </a:rPr>
              <a:t>of Time Value </a:t>
            </a:r>
            <a:r>
              <a:rPr lang="en-US" sz="1800" noProof="1" smtClean="0">
                <a:solidFill>
                  <a:srgbClr val="003300"/>
                </a:solidFill>
                <a:latin typeface="Arial Narrow" panose="020B0606020202030204" pitchFamily="34" charset="0"/>
              </a:rPr>
              <a:t>Factors.</a:t>
            </a:r>
            <a:endParaRPr lang="tr-TR" sz="1800" noProof="1" smtClean="0">
              <a:solidFill>
                <a:srgbClr val="003300"/>
              </a:solidFill>
              <a:latin typeface="Arial Narrow" panose="020B0606020202030204" pitchFamily="34" charset="0"/>
            </a:endParaRPr>
          </a:p>
          <a:p>
            <a:pPr marL="0" lvl="3" indent="0" algn="ctr">
              <a:spcBef>
                <a:spcPts val="0"/>
              </a:spcBef>
              <a:buNone/>
            </a:pPr>
            <a:endParaRPr lang="tr-TR" sz="900" noProof="1" smtClean="0">
              <a:solidFill>
                <a:srgbClr val="00B050"/>
              </a:solidFill>
              <a:latin typeface="Arial Narrow" panose="020B0606020202030204" pitchFamily="34" charset="0"/>
            </a:endParaRPr>
          </a:p>
          <a:p>
            <a:pPr marL="0" lvl="3" indent="0" algn="ctr">
              <a:spcBef>
                <a:spcPts val="0"/>
              </a:spcBef>
              <a:buNone/>
            </a:pPr>
            <a:r>
              <a:rPr lang="en-US" sz="1800" noProof="1" smtClean="0">
                <a:solidFill>
                  <a:srgbClr val="800000"/>
                </a:solidFill>
                <a:latin typeface="Arial Narrow" panose="020B0606020202030204" pitchFamily="34" charset="0"/>
              </a:rPr>
              <a:t>All </a:t>
            </a:r>
            <a:r>
              <a:rPr lang="en-US" sz="1800" noProof="1">
                <a:solidFill>
                  <a:srgbClr val="800000"/>
                </a:solidFill>
                <a:latin typeface="Arial Narrow" panose="020B0606020202030204" pitchFamily="34" charset="0"/>
              </a:rPr>
              <a:t>other notes and books are not to be referred to.</a:t>
            </a:r>
            <a:endParaRPr lang="tr-TR" sz="1800" noProof="1" smtClean="0">
              <a:solidFill>
                <a:srgbClr val="800000"/>
              </a:solidFill>
              <a:latin typeface="Arial Narrow" panose="020B0606020202030204" pitchFamily="34" charset="0"/>
            </a:endParaRPr>
          </a:p>
          <a:p>
            <a:pPr marL="0" lvl="3" indent="0" algn="ctr">
              <a:spcBef>
                <a:spcPts val="0"/>
              </a:spcBef>
              <a:buNone/>
            </a:pPr>
            <a:endParaRPr lang="tr-TR" sz="900" noProof="1" smtClean="0">
              <a:latin typeface="Arial Narrow" panose="020B0606020202030204" pitchFamily="34" charset="0"/>
            </a:endParaRPr>
          </a:p>
          <a:p>
            <a:pPr marL="457200" lvl="1" indent="0">
              <a:spcBef>
                <a:spcPts val="0"/>
              </a:spcBef>
              <a:buNone/>
            </a:pPr>
            <a:r>
              <a:rPr lang="tr-TR" sz="1800" noProof="1">
                <a:solidFill>
                  <a:srgbClr val="000066"/>
                </a:solidFill>
                <a:latin typeface="Arial Narrow" panose="020B0606020202030204" pitchFamily="34" charset="0"/>
              </a:rPr>
              <a:t>Every week, after the lecture, lecture notes will be uploaded to internet, DISCORD</a:t>
            </a:r>
          </a:p>
          <a:p>
            <a:pPr marL="857250" lvl="2" indent="0">
              <a:spcBef>
                <a:spcPts val="0"/>
              </a:spcBef>
              <a:buNone/>
            </a:pPr>
            <a:r>
              <a:rPr lang="tr-TR" sz="1800" noProof="1">
                <a:solidFill>
                  <a:srgbClr val="000066"/>
                </a:solidFill>
                <a:latin typeface="Arial Narrow" panose="020B0606020202030204" pitchFamily="34" charset="0"/>
              </a:rPr>
              <a:t>you may reach to them via the following link: </a:t>
            </a:r>
            <a:r>
              <a:rPr lang="tr-TR" sz="1800" noProof="1">
                <a:solidFill>
                  <a:srgbClr val="000066"/>
                </a:solidFill>
                <a:latin typeface="Arial Narrow" panose="020B0606020202030204" pitchFamily="34" charset="0"/>
                <a:hlinkClick r:id="rId3"/>
              </a:rPr>
              <a:t>https://</a:t>
            </a:r>
            <a:r>
              <a:rPr lang="tr-TR" sz="1800" noProof="1" smtClean="0">
                <a:solidFill>
                  <a:srgbClr val="000066"/>
                </a:solidFill>
                <a:latin typeface="Arial Narrow" panose="020B0606020202030204" pitchFamily="34" charset="0"/>
                <a:hlinkClick r:id="rId3"/>
              </a:rPr>
              <a:t>discord.gg</a:t>
            </a:r>
            <a:r>
              <a:rPr lang="tr-TR" sz="1800" noProof="1" smtClean="0">
                <a:solidFill>
                  <a:srgbClr val="0000FF"/>
                </a:solidFill>
                <a:latin typeface="Arial Narrow" panose="020B0606020202030204" pitchFamily="34" charset="0"/>
                <a:hlinkClick r:id="rId3"/>
              </a:rPr>
              <a:t>/</a:t>
            </a:r>
            <a:r>
              <a:rPr lang="tr-TR" sz="1800" noProof="1" smtClean="0">
                <a:solidFill>
                  <a:srgbClr val="FF0000"/>
                </a:solidFill>
                <a:latin typeface="Arial Narrow" panose="020B0606020202030204" pitchFamily="34" charset="0"/>
              </a:rPr>
              <a:t>J3gVqr3</a:t>
            </a:r>
            <a:endParaRPr lang="en-US" sz="1800" noProof="1" smtClean="0">
              <a:solidFill>
                <a:srgbClr val="FF0000"/>
              </a:solidFill>
              <a:latin typeface="Arial Narrow" panose="020B0606020202030204" pitchFamily="34" charset="0"/>
            </a:endParaRPr>
          </a:p>
        </p:txBody>
      </p:sp>
      <p:pic>
        <p:nvPicPr>
          <p:cNvPr id="6" name="Resim 5"/>
          <p:cNvPicPr>
            <a:picLocks noChangeAspect="1"/>
          </p:cNvPicPr>
          <p:nvPr/>
        </p:nvPicPr>
        <p:blipFill>
          <a:blip r:embed="rId4"/>
          <a:stretch>
            <a:fillRect/>
          </a:stretch>
        </p:blipFill>
        <p:spPr>
          <a:xfrm>
            <a:off x="529208" y="4365104"/>
            <a:ext cx="8075240" cy="1089440"/>
          </a:xfrm>
          <a:prstGeom prst="rect">
            <a:avLst/>
          </a:prstGeom>
        </p:spPr>
      </p:pic>
    </p:spTree>
    <p:extLst>
      <p:ext uri="{BB962C8B-B14F-4D97-AF65-F5344CB8AC3E}">
        <p14:creationId xmlns:p14="http://schemas.microsoft.com/office/powerpoint/2010/main" val="2868534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rmAutofit/>
          </a:bodyPr>
          <a:lstStyle/>
          <a:p>
            <a:r>
              <a:rPr lang="tr-TR" sz="2000" dirty="0">
                <a:latin typeface="Arial Narrow" pitchFamily="34" charset="0"/>
              </a:rPr>
              <a:t>NTE 1010 – </a:t>
            </a:r>
            <a:r>
              <a:rPr lang="tr-TR" sz="2000" dirty="0" err="1">
                <a:latin typeface="Arial Narrow" pitchFamily="34" charset="0"/>
              </a:rPr>
              <a:t>Introduction</a:t>
            </a:r>
            <a:r>
              <a:rPr lang="tr-TR" sz="2000" dirty="0">
                <a:latin typeface="Arial Narrow" pitchFamily="34" charset="0"/>
              </a:rPr>
              <a:t> </a:t>
            </a:r>
            <a:r>
              <a:rPr lang="tr-TR" sz="2000" dirty="0" err="1">
                <a:latin typeface="Arial Narrow" pitchFamily="34" charset="0"/>
              </a:rPr>
              <a:t>to</a:t>
            </a:r>
            <a:r>
              <a:rPr lang="tr-TR" sz="2000" dirty="0">
                <a:latin typeface="Arial Narrow" pitchFamily="34" charset="0"/>
              </a:rPr>
              <a:t> Finance </a:t>
            </a:r>
            <a:r>
              <a:rPr lang="tr-TR" sz="2000" dirty="0" err="1">
                <a:latin typeface="Arial Narrow" pitchFamily="34" charset="0"/>
              </a:rPr>
              <a:t>for</a:t>
            </a:r>
            <a:r>
              <a:rPr lang="tr-TR" sz="2000" dirty="0">
                <a:latin typeface="Arial Narrow" pitchFamily="34" charset="0"/>
              </a:rPr>
              <a:t> </a:t>
            </a:r>
            <a:r>
              <a:rPr lang="tr-TR" sz="2000" dirty="0" err="1">
                <a:latin typeface="Arial Narrow" pitchFamily="34" charset="0"/>
              </a:rPr>
              <a:t>Engineers</a:t>
            </a:r>
            <a:r>
              <a:rPr lang="tr-TR" sz="2000" dirty="0">
                <a:latin typeface="Arial Narrow" pitchFamily="34" charset="0"/>
              </a:rPr>
              <a:t/>
            </a:r>
            <a:br>
              <a:rPr lang="tr-TR" sz="2000" dirty="0">
                <a:latin typeface="Arial Narrow" pitchFamily="34" charset="0"/>
              </a:rPr>
            </a:br>
            <a:r>
              <a:rPr lang="tr-TR" sz="2400" dirty="0">
                <a:solidFill>
                  <a:srgbClr val="800000"/>
                </a:solidFill>
                <a:latin typeface="Arial Narrow" pitchFamily="34" charset="0"/>
              </a:rPr>
              <a:t>Spring </a:t>
            </a:r>
            <a:r>
              <a:rPr lang="tr-TR" sz="2400" dirty="0" smtClean="0">
                <a:solidFill>
                  <a:srgbClr val="800000"/>
                </a:solidFill>
                <a:latin typeface="Arial Narrow" pitchFamily="34" charset="0"/>
              </a:rPr>
              <a:t>2020 - </a:t>
            </a:r>
            <a:r>
              <a:rPr lang="tr-TR" sz="2400" dirty="0">
                <a:solidFill>
                  <a:srgbClr val="800000"/>
                </a:solidFill>
                <a:latin typeface="Arial Narrow" pitchFamily="34" charset="0"/>
              </a:rPr>
              <a:t>Course </a:t>
            </a:r>
            <a:r>
              <a:rPr lang="tr-TR" sz="2400" dirty="0" err="1">
                <a:solidFill>
                  <a:srgbClr val="800000"/>
                </a:solidFill>
                <a:latin typeface="Arial Narrow" pitchFamily="34" charset="0"/>
              </a:rPr>
              <a:t>Grading</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457200" lvl="1" indent="0">
              <a:spcBef>
                <a:spcPts val="0"/>
              </a:spcBef>
              <a:buNone/>
            </a:pPr>
            <a:r>
              <a:rPr lang="tr-TR" sz="2000" dirty="0" smtClean="0">
                <a:latin typeface="Arial Narrow" pitchFamily="34" charset="0"/>
              </a:rPr>
              <a:t> </a:t>
            </a:r>
            <a:endParaRPr lang="tr-TR" sz="1800" noProof="1" smtClean="0">
              <a:solidFill>
                <a:srgbClr val="000066"/>
              </a:solidFill>
              <a:latin typeface="Arial Narrow" pitchFamily="34" charset="0"/>
            </a:endParaRPr>
          </a:p>
        </p:txBody>
      </p:sp>
      <p:pic>
        <p:nvPicPr>
          <p:cNvPr id="3" name="Resim 2"/>
          <p:cNvPicPr>
            <a:picLocks noChangeAspect="1"/>
          </p:cNvPicPr>
          <p:nvPr/>
        </p:nvPicPr>
        <p:blipFill>
          <a:blip r:embed="rId3"/>
          <a:stretch>
            <a:fillRect/>
          </a:stretch>
        </p:blipFill>
        <p:spPr>
          <a:xfrm>
            <a:off x="1202841" y="1556792"/>
            <a:ext cx="6738318" cy="2952328"/>
          </a:xfrm>
          <a:prstGeom prst="rect">
            <a:avLst/>
          </a:prstGeom>
        </p:spPr>
      </p:pic>
    </p:spTree>
    <p:extLst>
      <p:ext uri="{BB962C8B-B14F-4D97-AF65-F5344CB8AC3E}">
        <p14:creationId xmlns:p14="http://schemas.microsoft.com/office/powerpoint/2010/main" val="11682936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2193504" y="2738785"/>
            <a:ext cx="4752528" cy="1152128"/>
          </a:xfrm>
          <a:ln w="25400">
            <a:noFill/>
          </a:ln>
        </p:spPr>
        <p:txBody>
          <a:bodyPr>
            <a:noAutofit/>
          </a:bodyPr>
          <a:lstStyle/>
          <a:p>
            <a:pPr>
              <a:spcBef>
                <a:spcPts val="0"/>
              </a:spcBef>
            </a:pPr>
            <a:endParaRPr lang="tr-TR" sz="1800" dirty="0" smtClean="0">
              <a:solidFill>
                <a:srgbClr val="800000"/>
              </a:solidFill>
              <a:latin typeface="Arial Narrow" pitchFamily="34" charset="0"/>
            </a:endParaRPr>
          </a:p>
          <a:p>
            <a:pPr>
              <a:spcBef>
                <a:spcPts val="0"/>
              </a:spcBef>
            </a:pPr>
            <a:r>
              <a:rPr lang="tr-TR" sz="3600" dirty="0" smtClean="0">
                <a:solidFill>
                  <a:srgbClr val="800000"/>
                </a:solidFill>
                <a:latin typeface="Arial Narrow" pitchFamily="34" charset="0"/>
              </a:rPr>
              <a:t>Finance </a:t>
            </a:r>
            <a:r>
              <a:rPr lang="tr-TR" sz="3600" dirty="0" err="1">
                <a:solidFill>
                  <a:srgbClr val="800000"/>
                </a:solidFill>
                <a:latin typeface="Arial Narrow" pitchFamily="34" charset="0"/>
              </a:rPr>
              <a:t>for</a:t>
            </a:r>
            <a:r>
              <a:rPr lang="tr-TR" sz="3600" dirty="0">
                <a:solidFill>
                  <a:srgbClr val="800000"/>
                </a:solidFill>
                <a:latin typeface="Arial Narrow" pitchFamily="34" charset="0"/>
              </a:rPr>
              <a:t> </a:t>
            </a:r>
            <a:r>
              <a:rPr lang="tr-TR" sz="3600" dirty="0" err="1" smtClean="0">
                <a:solidFill>
                  <a:srgbClr val="800000"/>
                </a:solidFill>
                <a:latin typeface="Arial Narrow" pitchFamily="34" charset="0"/>
              </a:rPr>
              <a:t>Engineers</a:t>
            </a:r>
            <a:endParaRPr lang="tr-TR" sz="3600" dirty="0" smtClean="0">
              <a:solidFill>
                <a:srgbClr val="800000"/>
              </a:solidFill>
              <a:latin typeface="Arial Narrow" pitchFamily="34" charset="0"/>
            </a:endParaRPr>
          </a:p>
        </p:txBody>
      </p:sp>
    </p:spTree>
    <p:extLst>
      <p:ext uri="{BB962C8B-B14F-4D97-AF65-F5344CB8AC3E}">
        <p14:creationId xmlns:p14="http://schemas.microsoft.com/office/powerpoint/2010/main" val="356276938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87624" y="341784"/>
            <a:ext cx="3600400" cy="1143000"/>
          </a:xfrm>
          <a:ln w="25400">
            <a:noFill/>
          </a:ln>
        </p:spPr>
        <p:txBody>
          <a:bodyPr>
            <a:noAutofit/>
          </a:bodyPr>
          <a:lstStyle/>
          <a:p>
            <a:pPr algn="l"/>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smtClean="0">
                <a:latin typeface="Arial Narrow" pitchFamily="34" charset="0"/>
              </a:rPr>
              <a:t>Finance </a:t>
            </a:r>
            <a:r>
              <a:rPr lang="tr-TR" sz="2400" dirty="0" err="1" smtClean="0">
                <a:latin typeface="Arial Narrow" pitchFamily="34" charset="0"/>
              </a:rPr>
              <a:t>for</a:t>
            </a:r>
            <a:r>
              <a:rPr lang="tr-TR" sz="2400" dirty="0" smtClean="0">
                <a:latin typeface="Arial Narrow" pitchFamily="34" charset="0"/>
              </a:rPr>
              <a:t> </a:t>
            </a:r>
            <a:r>
              <a:rPr lang="tr-TR" sz="2400" dirty="0" err="1" smtClean="0">
                <a:latin typeface="Arial Narrow" pitchFamily="34" charset="0"/>
              </a:rPr>
              <a:t>Engineers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Functions</a:t>
            </a:r>
            <a:r>
              <a:rPr lang="tr-TR" sz="2400" dirty="0" smtClean="0">
                <a:solidFill>
                  <a:srgbClr val="800000"/>
                </a:solidFill>
                <a:latin typeface="Arial Narrow" pitchFamily="34" charset="0"/>
              </a:rPr>
              <a:t> in a </a:t>
            </a:r>
            <a:r>
              <a:rPr lang="tr-TR" sz="2400" dirty="0" err="1" smtClean="0">
                <a:solidFill>
                  <a:srgbClr val="800000"/>
                </a:solidFill>
                <a:latin typeface="Arial Narrow" pitchFamily="34" charset="0"/>
              </a:rPr>
              <a:t>Company</a:t>
            </a:r>
            <a:endParaRPr lang="tr-TR" sz="2400" dirty="0">
              <a:solidFill>
                <a:srgbClr val="800000"/>
              </a:solidFill>
              <a:latin typeface="Arial Narrow" pitchFamily="34" charset="0"/>
            </a:endParaRPr>
          </a:p>
        </p:txBody>
      </p:sp>
      <p:sp>
        <p:nvSpPr>
          <p:cNvPr id="2" name="Halka 1"/>
          <p:cNvSpPr/>
          <p:nvPr/>
        </p:nvSpPr>
        <p:spPr>
          <a:xfrm>
            <a:off x="4716016" y="2780928"/>
            <a:ext cx="3456384" cy="3384376"/>
          </a:xfrm>
          <a:prstGeom prst="donut">
            <a:avLst>
              <a:gd name="adj" fmla="val 20636"/>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solidFill>
                <a:schemeClr val="tx1"/>
              </a:solidFill>
            </a:endParaRPr>
          </a:p>
        </p:txBody>
      </p:sp>
      <p:sp>
        <p:nvSpPr>
          <p:cNvPr id="3" name="Metin kutusu 2"/>
          <p:cNvSpPr txBox="1"/>
          <p:nvPr/>
        </p:nvSpPr>
        <p:spPr>
          <a:xfrm>
            <a:off x="5509497" y="3573016"/>
            <a:ext cx="1869422" cy="1384995"/>
          </a:xfrm>
          <a:prstGeom prst="rect">
            <a:avLst/>
          </a:prstGeom>
          <a:noFill/>
        </p:spPr>
        <p:txBody>
          <a:bodyPr wrap="none" rtlCol="0">
            <a:spAutoFit/>
          </a:bodyPr>
          <a:lstStyle/>
          <a:p>
            <a:pPr algn="ctr"/>
            <a:r>
              <a:rPr lang="tr-TR" sz="3200" dirty="0" err="1" smtClean="0">
                <a:solidFill>
                  <a:srgbClr val="800000"/>
                </a:solidFill>
                <a:latin typeface="Arial Narrow" panose="020B0606020202030204" pitchFamily="34" charset="0"/>
              </a:rPr>
              <a:t>Sales</a:t>
            </a:r>
            <a:endParaRPr lang="tr-TR" sz="3200" dirty="0" smtClean="0">
              <a:solidFill>
                <a:srgbClr val="800000"/>
              </a:solidFill>
              <a:latin typeface="Arial Narrow" panose="020B0606020202030204" pitchFamily="34" charset="0"/>
            </a:endParaRPr>
          </a:p>
          <a:p>
            <a:pPr algn="ctr"/>
            <a:r>
              <a:rPr lang="tr-TR" sz="2400" dirty="0" err="1" smtClean="0">
                <a:solidFill>
                  <a:srgbClr val="800000"/>
                </a:solidFill>
                <a:latin typeface="Arial Narrow" panose="020B0606020202030204" pitchFamily="34" charset="0"/>
              </a:rPr>
              <a:t>Production</a:t>
            </a:r>
            <a:endParaRPr lang="tr-TR" sz="2400" dirty="0" smtClean="0">
              <a:solidFill>
                <a:srgbClr val="800000"/>
              </a:solidFill>
              <a:latin typeface="Arial Narrow" panose="020B0606020202030204" pitchFamily="34" charset="0"/>
            </a:endParaRPr>
          </a:p>
          <a:p>
            <a:pPr algn="ctr"/>
            <a:r>
              <a:rPr lang="tr-TR" sz="2800" dirty="0" err="1" smtClean="0">
                <a:solidFill>
                  <a:srgbClr val="800000"/>
                </a:solidFill>
                <a:latin typeface="Arial Narrow" panose="020B0606020202030204" pitchFamily="34" charset="0"/>
              </a:rPr>
              <a:t>Procurement</a:t>
            </a:r>
            <a:endParaRPr lang="tr-TR" sz="2800" dirty="0">
              <a:solidFill>
                <a:srgbClr val="800000"/>
              </a:solidFill>
              <a:latin typeface="Arial Narrow" panose="020B0606020202030204" pitchFamily="34" charset="0"/>
            </a:endParaRPr>
          </a:p>
        </p:txBody>
      </p:sp>
      <p:cxnSp>
        <p:nvCxnSpPr>
          <p:cNvPr id="7" name="Düz Bağlayıcı 6"/>
          <p:cNvCxnSpPr/>
          <p:nvPr/>
        </p:nvCxnSpPr>
        <p:spPr>
          <a:xfrm>
            <a:off x="4716016" y="4437112"/>
            <a:ext cx="7200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Düz Bağlayıcı 8"/>
          <p:cNvCxnSpPr/>
          <p:nvPr/>
        </p:nvCxnSpPr>
        <p:spPr>
          <a:xfrm flipH="1">
            <a:off x="7452320" y="4509120"/>
            <a:ext cx="72008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Düz Bağlayıcı 10"/>
          <p:cNvCxnSpPr/>
          <p:nvPr/>
        </p:nvCxnSpPr>
        <p:spPr>
          <a:xfrm flipV="1">
            <a:off x="6516216" y="5445224"/>
            <a:ext cx="0" cy="72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Metin kutusu 11"/>
          <p:cNvSpPr txBox="1"/>
          <p:nvPr/>
        </p:nvSpPr>
        <p:spPr>
          <a:xfrm>
            <a:off x="5213118" y="5075602"/>
            <a:ext cx="445956" cy="523220"/>
          </a:xfrm>
          <a:prstGeom prst="rect">
            <a:avLst/>
          </a:prstGeom>
          <a:noFill/>
        </p:spPr>
        <p:txBody>
          <a:bodyPr wrap="none" rtlCol="0">
            <a:spAutoFit/>
          </a:bodyPr>
          <a:lstStyle/>
          <a:p>
            <a:r>
              <a:rPr lang="tr-TR" sz="2800" dirty="0" smtClean="0">
                <a:solidFill>
                  <a:srgbClr val="000066"/>
                </a:solidFill>
                <a:latin typeface="Arial Narrow" panose="020B0606020202030204" pitchFamily="34" charset="0"/>
              </a:rPr>
              <a:t>IT</a:t>
            </a:r>
            <a:endParaRPr lang="tr-TR" sz="2800" dirty="0">
              <a:solidFill>
                <a:srgbClr val="000066"/>
              </a:solidFill>
              <a:latin typeface="Arial Narrow" panose="020B0606020202030204" pitchFamily="34" charset="0"/>
            </a:endParaRPr>
          </a:p>
        </p:txBody>
      </p:sp>
      <p:sp>
        <p:nvSpPr>
          <p:cNvPr id="13" name="Metin kutusu 12"/>
          <p:cNvSpPr txBox="1"/>
          <p:nvPr/>
        </p:nvSpPr>
        <p:spPr>
          <a:xfrm>
            <a:off x="7201295" y="5075602"/>
            <a:ext cx="611065" cy="523220"/>
          </a:xfrm>
          <a:prstGeom prst="rect">
            <a:avLst/>
          </a:prstGeom>
          <a:noFill/>
        </p:spPr>
        <p:txBody>
          <a:bodyPr wrap="none" rtlCol="0">
            <a:spAutoFit/>
          </a:bodyPr>
          <a:lstStyle/>
          <a:p>
            <a:r>
              <a:rPr lang="tr-TR" sz="2800" dirty="0" err="1" smtClean="0">
                <a:solidFill>
                  <a:srgbClr val="000066"/>
                </a:solidFill>
                <a:latin typeface="Arial Narrow" panose="020B0606020202030204" pitchFamily="34" charset="0"/>
              </a:rPr>
              <a:t>HR</a:t>
            </a:r>
            <a:endParaRPr lang="tr-TR" sz="2800" dirty="0">
              <a:solidFill>
                <a:srgbClr val="000066"/>
              </a:solidFill>
              <a:latin typeface="Arial Narrow" panose="020B0606020202030204" pitchFamily="34" charset="0"/>
            </a:endParaRPr>
          </a:p>
        </p:txBody>
      </p:sp>
      <p:sp>
        <p:nvSpPr>
          <p:cNvPr id="14" name="Metin kutusu 13"/>
          <p:cNvSpPr txBox="1"/>
          <p:nvPr/>
        </p:nvSpPr>
        <p:spPr>
          <a:xfrm>
            <a:off x="5832836" y="2780928"/>
            <a:ext cx="1222743" cy="707886"/>
          </a:xfrm>
          <a:prstGeom prst="rect">
            <a:avLst/>
          </a:prstGeom>
          <a:noFill/>
        </p:spPr>
        <p:txBody>
          <a:bodyPr wrap="square" rtlCol="0">
            <a:spAutoFit/>
          </a:bodyPr>
          <a:lstStyle/>
          <a:p>
            <a:pPr algn="ctr"/>
            <a:r>
              <a:rPr lang="tr-TR" sz="2400" dirty="0" smtClean="0">
                <a:solidFill>
                  <a:srgbClr val="FF6600"/>
                </a:solidFill>
                <a:latin typeface="Arial Narrow" panose="020B0606020202030204" pitchFamily="34" charset="0"/>
              </a:rPr>
              <a:t>Finance</a:t>
            </a:r>
          </a:p>
          <a:p>
            <a:pPr algn="ctr"/>
            <a:r>
              <a:rPr lang="tr-TR" sz="1600" dirty="0" smtClean="0">
                <a:solidFill>
                  <a:srgbClr val="FF6600"/>
                </a:solidFill>
                <a:latin typeface="Arial Narrow" panose="020B0606020202030204" pitchFamily="34" charset="0"/>
              </a:rPr>
              <a:t>&amp; Accounting</a:t>
            </a:r>
            <a:endParaRPr lang="tr-TR" sz="1600" dirty="0">
              <a:solidFill>
                <a:srgbClr val="FF6600"/>
              </a:solidFill>
              <a:latin typeface="Arial Narrow" panose="020B0606020202030204" pitchFamily="34" charset="0"/>
            </a:endParaRPr>
          </a:p>
        </p:txBody>
      </p:sp>
      <p:sp>
        <p:nvSpPr>
          <p:cNvPr id="6" name="İçerik Yer Tutucusu 5"/>
          <p:cNvSpPr>
            <a:spLocks noGrp="1"/>
          </p:cNvSpPr>
          <p:nvPr>
            <p:ph idx="1"/>
          </p:nvPr>
        </p:nvSpPr>
        <p:spPr>
          <a:xfrm>
            <a:off x="971600" y="1600200"/>
            <a:ext cx="7488832" cy="4525963"/>
          </a:xfrm>
        </p:spPr>
        <p:txBody>
          <a:bodyPr/>
          <a:lstStyle/>
          <a:p>
            <a:pPr marL="0" indent="-400050">
              <a:spcBef>
                <a:spcPts val="0"/>
              </a:spcBef>
              <a:buNone/>
            </a:pPr>
            <a:r>
              <a:rPr lang="tr-TR" sz="1800" noProof="1">
                <a:latin typeface="Arial Narrow" panose="020B0606020202030204" pitchFamily="34" charset="0"/>
              </a:rPr>
              <a:t>Basic functions in a company are the following:</a:t>
            </a:r>
          </a:p>
          <a:p>
            <a:pPr marL="857250" lvl="2" indent="-457200">
              <a:spcBef>
                <a:spcPts val="0"/>
              </a:spcBef>
              <a:buFont typeface="+mj-lt"/>
              <a:buAutoNum type="arabicPeriod"/>
            </a:pPr>
            <a:r>
              <a:rPr lang="tr-TR" sz="1800" noProof="1">
                <a:latin typeface="Arial Narrow" panose="020B0606020202030204" pitchFamily="34" charset="0"/>
              </a:rPr>
              <a:t>Procurement (for production and trading companies)</a:t>
            </a:r>
          </a:p>
          <a:p>
            <a:pPr marL="857250" lvl="2" indent="-457200">
              <a:spcBef>
                <a:spcPts val="0"/>
              </a:spcBef>
              <a:buFont typeface="+mj-lt"/>
              <a:buAutoNum type="arabicPeriod"/>
            </a:pPr>
            <a:r>
              <a:rPr lang="tr-TR" sz="1800" noProof="1">
                <a:latin typeface="Arial Narrow" panose="020B0606020202030204" pitchFamily="34" charset="0"/>
              </a:rPr>
              <a:t>Production (for production companies)</a:t>
            </a:r>
          </a:p>
          <a:p>
            <a:pPr marL="857250" lvl="2" indent="-457200">
              <a:spcBef>
                <a:spcPts val="0"/>
              </a:spcBef>
              <a:buFont typeface="+mj-lt"/>
              <a:buAutoNum type="arabicPeriod"/>
            </a:pPr>
            <a:r>
              <a:rPr lang="tr-TR" sz="1800" noProof="1">
                <a:latin typeface="Arial Narrow" panose="020B0606020202030204" pitchFamily="34" charset="0"/>
              </a:rPr>
              <a:t>Sales</a:t>
            </a:r>
          </a:p>
          <a:p>
            <a:pPr marL="857250" lvl="2" indent="-457200">
              <a:spcBef>
                <a:spcPts val="0"/>
              </a:spcBef>
              <a:buFont typeface="+mj-lt"/>
              <a:buAutoNum type="arabicPeriod"/>
            </a:pPr>
            <a:r>
              <a:rPr lang="tr-TR" sz="1800" noProof="1">
                <a:latin typeface="Arial Narrow" panose="020B0606020202030204" pitchFamily="34" charset="0"/>
              </a:rPr>
              <a:t>Information Technologies, IT</a:t>
            </a:r>
          </a:p>
          <a:p>
            <a:pPr marL="857250" lvl="2" indent="-457200">
              <a:spcBef>
                <a:spcPts val="0"/>
              </a:spcBef>
              <a:buFont typeface="+mj-lt"/>
              <a:buAutoNum type="arabicPeriod"/>
            </a:pPr>
            <a:r>
              <a:rPr lang="tr-TR" sz="1800" noProof="1">
                <a:latin typeface="Arial Narrow" panose="020B0606020202030204" pitchFamily="34" charset="0"/>
              </a:rPr>
              <a:t>Human Resources, HR</a:t>
            </a:r>
          </a:p>
          <a:p>
            <a:pPr marL="857250" lvl="2" indent="-457200">
              <a:spcBef>
                <a:spcPts val="0"/>
              </a:spcBef>
              <a:buFont typeface="+mj-lt"/>
              <a:buAutoNum type="arabicPeriod"/>
            </a:pPr>
            <a:r>
              <a:rPr lang="tr-TR" sz="1800" noProof="1">
                <a:latin typeface="Arial Narrow" panose="020B0606020202030204" pitchFamily="34" charset="0"/>
              </a:rPr>
              <a:t>Accounting</a:t>
            </a:r>
          </a:p>
          <a:p>
            <a:pPr marL="857250" lvl="2" indent="-457200">
              <a:spcBef>
                <a:spcPts val="0"/>
              </a:spcBef>
              <a:buFont typeface="+mj-lt"/>
              <a:buAutoNum type="arabicPeriod"/>
            </a:pPr>
            <a:r>
              <a:rPr lang="tr-TR" sz="1800" noProof="1">
                <a:latin typeface="Arial Narrow" panose="020B0606020202030204" pitchFamily="34" charset="0"/>
              </a:rPr>
              <a:t>Finance</a:t>
            </a:r>
          </a:p>
          <a:p>
            <a:pPr marL="0" indent="0">
              <a:buNone/>
            </a:pPr>
            <a:endParaRPr lang="en-US" dirty="0"/>
          </a:p>
        </p:txBody>
      </p:sp>
    </p:spTree>
    <p:extLst>
      <p:ext uri="{BB962C8B-B14F-4D97-AF65-F5344CB8AC3E}">
        <p14:creationId xmlns:p14="http://schemas.microsoft.com/office/powerpoint/2010/main" val="33637127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35696" y="274638"/>
            <a:ext cx="5256584" cy="114300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a:solidFill>
                  <a:srgbClr val="800000"/>
                </a:solidFill>
                <a:latin typeface="Arial Narrow" pitchFamily="34" charset="0"/>
              </a:rPr>
              <a:t>Finance </a:t>
            </a:r>
            <a:r>
              <a:rPr lang="tr-TR" sz="2400" dirty="0" err="1">
                <a:solidFill>
                  <a:srgbClr val="800000"/>
                </a:solidFill>
                <a:latin typeface="Arial Narrow" pitchFamily="34" charset="0"/>
              </a:rPr>
              <a:t>for</a:t>
            </a:r>
            <a:r>
              <a:rPr lang="tr-TR" sz="2400" dirty="0">
                <a:solidFill>
                  <a:srgbClr val="800000"/>
                </a:solidFill>
                <a:latin typeface="Arial Narrow" pitchFamily="34" charset="0"/>
              </a:rPr>
              <a:t> </a:t>
            </a:r>
            <a:r>
              <a:rPr lang="tr-TR" sz="2400" dirty="0" err="1">
                <a:solidFill>
                  <a:srgbClr val="800000"/>
                </a:solidFill>
                <a:latin typeface="Arial Narrow" pitchFamily="34" charset="0"/>
              </a:rPr>
              <a:t>Engineers</a:t>
            </a:r>
            <a:r>
              <a:rPr lang="tr-TR" sz="2400" dirty="0" smtClean="0">
                <a:solidFill>
                  <a:srgbClr val="C00000"/>
                </a:solidFill>
                <a:latin typeface="Arial Narrow" pitchFamily="34" charset="0"/>
              </a:rPr>
              <a:t/>
            </a:r>
            <a:br>
              <a:rPr lang="tr-TR" sz="2400" dirty="0" smtClean="0">
                <a:solidFill>
                  <a:srgbClr val="C00000"/>
                </a:solidFill>
                <a:latin typeface="Arial Narrow" pitchFamily="34" charset="0"/>
              </a:rPr>
            </a:br>
            <a:r>
              <a:rPr lang="tr-TR" sz="2800" dirty="0" smtClean="0">
                <a:latin typeface="Arial Narrow" pitchFamily="34" charset="0"/>
              </a:rPr>
              <a:t>Finance </a:t>
            </a:r>
            <a:r>
              <a:rPr lang="tr-TR" sz="2800" dirty="0" err="1" smtClean="0">
                <a:latin typeface="Arial Narrow" pitchFamily="34" charset="0"/>
              </a:rPr>
              <a:t>Function</a:t>
            </a:r>
            <a:endParaRPr lang="tr-TR" sz="2800" dirty="0">
              <a:latin typeface="Arial Narrow" pitchFamily="34" charset="0"/>
            </a:endParaRPr>
          </a:p>
        </p:txBody>
      </p:sp>
      <p:sp>
        <p:nvSpPr>
          <p:cNvPr id="5" name="Content Placeholder 4"/>
          <p:cNvSpPr>
            <a:spLocks noGrp="1"/>
          </p:cNvSpPr>
          <p:nvPr>
            <p:ph idx="1"/>
          </p:nvPr>
        </p:nvSpPr>
        <p:spPr>
          <a:xfrm>
            <a:off x="1835696" y="1600200"/>
            <a:ext cx="5256584" cy="4525963"/>
          </a:xfrm>
          <a:ln w="25400">
            <a:noFill/>
          </a:ln>
        </p:spPr>
        <p:txBody>
          <a:bodyPr>
            <a:noAutofit/>
          </a:bodyPr>
          <a:lstStyle/>
          <a:p>
            <a:pPr marL="0" lvl="1" indent="0" algn="ctr">
              <a:spcBef>
                <a:spcPts val="0"/>
              </a:spcBef>
              <a:buNone/>
            </a:pPr>
            <a:endParaRPr lang="tr-TR" sz="800" noProof="1" smtClean="0">
              <a:solidFill>
                <a:srgbClr val="C00000"/>
              </a:solidFill>
              <a:latin typeface="Arial Narrow" panose="020B0606020202030204" pitchFamily="34" charset="0"/>
            </a:endParaRP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Finance uses</a:t>
            </a:r>
          </a:p>
          <a:p>
            <a:pPr marL="0" lvl="1" indent="0" algn="ctr">
              <a:spcBef>
                <a:spcPts val="0"/>
              </a:spcBef>
              <a:buNone/>
            </a:pPr>
            <a:r>
              <a:rPr lang="tr-TR" sz="1800" noProof="1">
                <a:solidFill>
                  <a:srgbClr val="800000"/>
                </a:solidFill>
                <a:latin typeface="Arial Narrow" panose="020B0606020202030204" pitchFamily="34" charset="0"/>
              </a:rPr>
              <a:t>internal information </a:t>
            </a:r>
            <a:r>
              <a:rPr lang="tr-TR" sz="1800" noProof="1">
                <a:latin typeface="Arial Narrow" panose="020B0606020202030204" pitchFamily="34" charset="0"/>
              </a:rPr>
              <a:t>(basically accounting data such as</a:t>
            </a:r>
          </a:p>
          <a:p>
            <a:pPr marL="0" lvl="1" indent="0" algn="ctr">
              <a:spcBef>
                <a:spcPts val="0"/>
              </a:spcBef>
              <a:buNone/>
            </a:pPr>
            <a:r>
              <a:rPr lang="tr-TR" sz="1800" noProof="1">
                <a:latin typeface="Arial Narrow" panose="020B0606020202030204" pitchFamily="34" charset="0"/>
              </a:rPr>
              <a:t>Balance Sheet, Income Statement, Cash Flow)</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and </a:t>
            </a:r>
            <a:r>
              <a:rPr lang="tr-TR" sz="1800" noProof="1">
                <a:solidFill>
                  <a:srgbClr val="800000"/>
                </a:solidFill>
                <a:latin typeface="Arial Narrow" panose="020B0606020202030204" pitchFamily="34" charset="0"/>
              </a:rPr>
              <a:t>external information </a:t>
            </a:r>
            <a:r>
              <a:rPr lang="tr-TR" sz="1800" noProof="1">
                <a:latin typeface="Arial Narrow" panose="020B0606020202030204" pitchFamily="34" charset="0"/>
              </a:rPr>
              <a:t>to perform its job.</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Basic external info neded (actual as well as forecasts) are</a:t>
            </a:r>
          </a:p>
          <a:p>
            <a:pPr marL="0" lvl="1" indent="0" algn="ctr">
              <a:spcBef>
                <a:spcPts val="0"/>
              </a:spcBef>
              <a:buNone/>
            </a:pPr>
            <a:r>
              <a:rPr lang="tr-TR" sz="1800" noProof="1">
                <a:latin typeface="Arial Narrow" panose="020B0606020202030204" pitchFamily="34" charset="0"/>
              </a:rPr>
              <a:t>interest rates,</a:t>
            </a:r>
          </a:p>
          <a:p>
            <a:pPr marL="0" lvl="1" indent="0" algn="ctr">
              <a:spcBef>
                <a:spcPts val="0"/>
              </a:spcBef>
              <a:buNone/>
            </a:pPr>
            <a:r>
              <a:rPr lang="tr-TR" sz="1800" noProof="1">
                <a:latin typeface="Arial Narrow" panose="020B0606020202030204" pitchFamily="34" charset="0"/>
              </a:rPr>
              <a:t>FX rates &amp; devaluation,</a:t>
            </a:r>
          </a:p>
          <a:p>
            <a:pPr marL="0" lvl="1" indent="0" algn="ctr">
              <a:spcBef>
                <a:spcPts val="0"/>
              </a:spcBef>
              <a:buNone/>
            </a:pPr>
            <a:r>
              <a:rPr lang="tr-TR" sz="1800" noProof="1">
                <a:latin typeface="Arial Narrow" panose="020B0606020202030204" pitchFamily="34" charset="0"/>
              </a:rPr>
              <a:t>inflation,</a:t>
            </a:r>
          </a:p>
          <a:p>
            <a:pPr marL="0" lvl="1" indent="0" algn="ctr">
              <a:spcBef>
                <a:spcPts val="0"/>
              </a:spcBef>
              <a:buNone/>
            </a:pPr>
            <a:r>
              <a:rPr lang="tr-TR" sz="1800" noProof="1">
                <a:latin typeface="Arial Narrow" panose="020B0606020202030204" pitchFamily="34" charset="0"/>
              </a:rPr>
              <a:t>growth rates of economy and markets.</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Financial Management takes care of</a:t>
            </a:r>
          </a:p>
          <a:p>
            <a:pPr marL="0" lvl="1" indent="0" algn="ctr">
              <a:spcBef>
                <a:spcPts val="0"/>
              </a:spcBef>
              <a:buNone/>
            </a:pPr>
            <a:r>
              <a:rPr lang="tr-TR" sz="1800" noProof="1">
                <a:latin typeface="Arial Narrow" panose="020B0606020202030204" pitchFamily="34" charset="0"/>
              </a:rPr>
              <a:t>the ″money side″ of the business.</a:t>
            </a:r>
          </a:p>
        </p:txBody>
      </p:sp>
    </p:spTree>
    <p:extLst>
      <p:ext uri="{BB962C8B-B14F-4D97-AF65-F5344CB8AC3E}">
        <p14:creationId xmlns:p14="http://schemas.microsoft.com/office/powerpoint/2010/main" val="313013655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683568" y="1268760"/>
            <a:ext cx="7772400" cy="1470025"/>
          </a:xfrm>
        </p:spPr>
        <p:txBody>
          <a:bodyPr>
            <a:normAutofit/>
          </a:bodyPr>
          <a:lstStyle/>
          <a:p>
            <a:pPr>
              <a:spcBef>
                <a:spcPts val="600"/>
              </a:spcBef>
              <a:spcAft>
                <a:spcPts val="600"/>
              </a:spcAft>
            </a:pPr>
            <a:r>
              <a:rPr lang="tr-TR" sz="1200" smtClean="0"/>
              <a:t> </a:t>
            </a:r>
            <a:endParaRPr lang="tr-TR" sz="1200"/>
          </a:p>
        </p:txBody>
      </p:sp>
      <p:sp>
        <p:nvSpPr>
          <p:cNvPr id="6" name="Subtitle 5"/>
          <p:cNvSpPr>
            <a:spLocks noGrp="1"/>
          </p:cNvSpPr>
          <p:nvPr>
            <p:ph type="subTitle" idx="1"/>
          </p:nvPr>
        </p:nvSpPr>
        <p:spPr>
          <a:xfrm>
            <a:off x="2339752" y="2492896"/>
            <a:ext cx="4464496" cy="2376264"/>
          </a:xfrm>
          <a:ln w="25400">
            <a:noFill/>
          </a:ln>
        </p:spPr>
        <p:txBody>
          <a:bodyPr>
            <a:noAutofit/>
          </a:bodyPr>
          <a:lstStyle/>
          <a:p>
            <a:pPr>
              <a:spcBef>
                <a:spcPts val="0"/>
              </a:spcBef>
            </a:pPr>
            <a:endParaRPr lang="tr-TR" sz="800" dirty="0" smtClean="0">
              <a:solidFill>
                <a:srgbClr val="800000"/>
              </a:solidFill>
              <a:latin typeface="Arial Narrow" pitchFamily="34" charset="0"/>
            </a:endParaRPr>
          </a:p>
          <a:p>
            <a:pPr>
              <a:spcBef>
                <a:spcPts val="0"/>
              </a:spcBef>
            </a:pPr>
            <a:r>
              <a:rPr lang="tr-TR" sz="2400" dirty="0" err="1" smtClean="0">
                <a:solidFill>
                  <a:srgbClr val="800000"/>
                </a:solidFill>
                <a:latin typeface="Arial Narrow" pitchFamily="34" charset="0"/>
              </a:rPr>
              <a:t>NTE</a:t>
            </a:r>
            <a:r>
              <a:rPr lang="tr-TR" sz="2400" dirty="0" smtClean="0">
                <a:solidFill>
                  <a:srgbClr val="800000"/>
                </a:solidFill>
                <a:latin typeface="Arial Narrow" pitchFamily="34" charset="0"/>
              </a:rPr>
              <a:t> 1010</a:t>
            </a:r>
          </a:p>
          <a:p>
            <a:pPr>
              <a:spcBef>
                <a:spcPts val="0"/>
              </a:spcBef>
            </a:pPr>
            <a:r>
              <a:rPr lang="tr-TR" sz="2400" dirty="0" err="1" smtClean="0">
                <a:solidFill>
                  <a:srgbClr val="800000"/>
                </a:solidFill>
                <a:latin typeface="Arial Narrow" pitchFamily="34" charset="0"/>
              </a:rPr>
              <a:t>Introduction</a:t>
            </a:r>
            <a:r>
              <a:rPr lang="tr-TR" sz="2400" dirty="0" smtClean="0">
                <a:solidFill>
                  <a:srgbClr val="800000"/>
                </a:solidFill>
                <a:latin typeface="Arial Narrow" pitchFamily="34" charset="0"/>
              </a:rPr>
              <a:t> </a:t>
            </a:r>
            <a:r>
              <a:rPr lang="tr-TR" sz="2400" dirty="0" err="1">
                <a:solidFill>
                  <a:srgbClr val="800000"/>
                </a:solidFill>
                <a:latin typeface="Arial Narrow" pitchFamily="34" charset="0"/>
              </a:rPr>
              <a:t>to</a:t>
            </a:r>
            <a:r>
              <a:rPr lang="tr-TR" sz="2400" dirty="0">
                <a:solidFill>
                  <a:srgbClr val="800000"/>
                </a:solidFill>
                <a:latin typeface="Arial Narrow" pitchFamily="34" charset="0"/>
              </a:rPr>
              <a:t> Finance </a:t>
            </a:r>
            <a:r>
              <a:rPr lang="tr-TR" sz="2400" dirty="0" err="1">
                <a:solidFill>
                  <a:srgbClr val="800000"/>
                </a:solidFill>
                <a:latin typeface="Arial Narrow" pitchFamily="34" charset="0"/>
              </a:rPr>
              <a:t>for</a:t>
            </a:r>
            <a:r>
              <a:rPr lang="tr-TR" sz="2400" dirty="0">
                <a:solidFill>
                  <a:srgbClr val="800000"/>
                </a:solidFill>
                <a:latin typeface="Arial Narrow" pitchFamily="34" charset="0"/>
              </a:rPr>
              <a:t> </a:t>
            </a:r>
            <a:r>
              <a:rPr lang="tr-TR" sz="2400" dirty="0" err="1" smtClean="0">
                <a:solidFill>
                  <a:srgbClr val="800000"/>
                </a:solidFill>
                <a:latin typeface="Arial Narrow" pitchFamily="34" charset="0"/>
              </a:rPr>
              <a:t>Engineers</a:t>
            </a:r>
            <a:endParaRPr lang="tr-TR" sz="1200" dirty="0" smtClean="0">
              <a:solidFill>
                <a:srgbClr val="800000"/>
              </a:solidFill>
              <a:latin typeface="Arial Narrow" pitchFamily="34" charset="0"/>
            </a:endParaRPr>
          </a:p>
          <a:p>
            <a:pPr>
              <a:spcBef>
                <a:spcPts val="0"/>
              </a:spcBef>
            </a:pPr>
            <a:endParaRPr lang="tr-TR" sz="1600" dirty="0" smtClean="0">
              <a:solidFill>
                <a:srgbClr val="800000"/>
              </a:solidFill>
              <a:latin typeface="Arial Narrow" pitchFamily="34" charset="0"/>
            </a:endParaRPr>
          </a:p>
          <a:p>
            <a:pPr>
              <a:spcBef>
                <a:spcPts val="0"/>
              </a:spcBef>
            </a:pPr>
            <a:endParaRPr lang="tr-TR" sz="1600" dirty="0">
              <a:solidFill>
                <a:srgbClr val="800000"/>
              </a:solidFill>
              <a:latin typeface="Arial Narrow" pitchFamily="34" charset="0"/>
            </a:endParaRPr>
          </a:p>
          <a:p>
            <a:pPr>
              <a:spcBef>
                <a:spcPts val="0"/>
              </a:spcBef>
            </a:pPr>
            <a:r>
              <a:rPr lang="tr-TR" dirty="0" smtClean="0">
                <a:solidFill>
                  <a:schemeClr val="tx1"/>
                </a:solidFill>
                <a:latin typeface="Arial Narrow" pitchFamily="34" charset="0"/>
              </a:rPr>
              <a:t>Financial Accounting</a:t>
            </a:r>
          </a:p>
        </p:txBody>
      </p:sp>
    </p:spTree>
    <p:extLst>
      <p:ext uri="{BB962C8B-B14F-4D97-AF65-F5344CB8AC3E}">
        <p14:creationId xmlns:p14="http://schemas.microsoft.com/office/powerpoint/2010/main" val="8394898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74638"/>
            <a:ext cx="849694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err="1" smtClean="0">
                <a:solidFill>
                  <a:srgbClr val="800000"/>
                </a:solidFill>
                <a:latin typeface="Arial Narrow" pitchFamily="34" charset="0"/>
              </a:rPr>
              <a:t>Introduction</a:t>
            </a:r>
            <a:r>
              <a:rPr lang="tr-TR" sz="2400" dirty="0" smtClean="0">
                <a:solidFill>
                  <a:srgbClr val="C00000"/>
                </a:solidFill>
                <a:latin typeface="Arial Narrow" pitchFamily="34" charset="0"/>
              </a:rPr>
              <a:t/>
            </a:r>
            <a:br>
              <a:rPr lang="tr-TR" sz="2400" dirty="0" smtClean="0">
                <a:solidFill>
                  <a:srgbClr val="C00000"/>
                </a:solidFill>
                <a:latin typeface="Arial Narrow" pitchFamily="34" charset="0"/>
              </a:rPr>
            </a:br>
            <a:r>
              <a:rPr lang="tr-TR" sz="2800" dirty="0" smtClean="0">
                <a:latin typeface="Arial Narrow" pitchFamily="34" charset="0"/>
              </a:rPr>
              <a:t>Financial Accounting</a:t>
            </a:r>
            <a:endParaRPr lang="tr-TR" sz="2800" dirty="0">
              <a:latin typeface="Arial Narrow" pitchFamily="34" charset="0"/>
            </a:endParaRPr>
          </a:p>
        </p:txBody>
      </p:sp>
      <p:sp>
        <p:nvSpPr>
          <p:cNvPr id="5" name="Content Placeholder 4"/>
          <p:cNvSpPr>
            <a:spLocks noGrp="1"/>
          </p:cNvSpPr>
          <p:nvPr>
            <p:ph idx="1"/>
          </p:nvPr>
        </p:nvSpPr>
        <p:spPr>
          <a:xfrm>
            <a:off x="323528" y="1600200"/>
            <a:ext cx="8496944" cy="4525963"/>
          </a:xfrm>
          <a:ln w="25400">
            <a:noFill/>
          </a:ln>
        </p:spPr>
        <p:txBody>
          <a:bodyPr>
            <a:noAutofit/>
          </a:bodyPr>
          <a:lstStyle/>
          <a:p>
            <a:pPr marL="0" lvl="1" indent="0" algn="ctr">
              <a:spcBef>
                <a:spcPts val="0"/>
              </a:spcBef>
              <a:buNone/>
            </a:pPr>
            <a:endParaRPr lang="tr-TR" sz="800" noProof="1" smtClean="0">
              <a:solidFill>
                <a:srgbClr val="C00000"/>
              </a:solidFill>
              <a:latin typeface="Arial Narrow" panose="020B0606020202030204" pitchFamily="34" charset="0"/>
            </a:endParaRPr>
          </a:p>
          <a:p>
            <a:pPr marL="0" lvl="1" indent="0" algn="ctr">
              <a:spcBef>
                <a:spcPts val="0"/>
              </a:spcBef>
              <a:buNone/>
            </a:pPr>
            <a:r>
              <a:rPr lang="tr-TR" sz="2000" noProof="1" smtClean="0">
                <a:solidFill>
                  <a:srgbClr val="C00000"/>
                </a:solidFill>
                <a:latin typeface="Arial Narrow" panose="020B0606020202030204" pitchFamily="34" charset="0"/>
              </a:rPr>
              <a:t>Accounting</a:t>
            </a:r>
            <a:r>
              <a:rPr lang="tr-TR" sz="2000" noProof="1" smtClean="0">
                <a:latin typeface="Arial Narrow" panose="020B0606020202030204" pitchFamily="34" charset="0"/>
              </a:rPr>
              <a:t> is concerned with</a:t>
            </a:r>
          </a:p>
          <a:p>
            <a:pPr marL="0" lvl="1" indent="0" algn="ctr">
              <a:spcBef>
                <a:spcPts val="0"/>
              </a:spcBef>
              <a:buNone/>
            </a:pPr>
            <a:r>
              <a:rPr lang="tr-TR" sz="2000" noProof="1">
                <a:latin typeface="Arial Narrow" panose="020B0606020202030204" pitchFamily="34" charset="0"/>
              </a:rPr>
              <a:t>c</a:t>
            </a:r>
            <a:r>
              <a:rPr lang="tr-TR" sz="2000" noProof="1" smtClean="0">
                <a:latin typeface="Arial Narrow" panose="020B0606020202030204" pitchFamily="34" charset="0"/>
              </a:rPr>
              <a:t>ollecting, analysing and communicating</a:t>
            </a:r>
          </a:p>
          <a:p>
            <a:pPr marL="0" lvl="1" indent="0" algn="ctr">
              <a:spcBef>
                <a:spcPts val="0"/>
              </a:spcBef>
              <a:buNone/>
            </a:pPr>
            <a:r>
              <a:rPr lang="tr-TR" sz="2000" noProof="1" smtClean="0">
                <a:latin typeface="Arial Narrow" panose="020B0606020202030204" pitchFamily="34" charset="0"/>
              </a:rPr>
              <a:t>financial information.</a:t>
            </a:r>
          </a:p>
          <a:p>
            <a:pPr marL="0" lvl="1" indent="0" algn="ctr">
              <a:spcBef>
                <a:spcPts val="0"/>
              </a:spcBef>
              <a:buNone/>
            </a:pPr>
            <a:endParaRPr lang="tr-TR" sz="800" noProof="1" smtClean="0">
              <a:latin typeface="Arial Narrow" panose="020B0606020202030204" pitchFamily="34" charset="0"/>
            </a:endParaRPr>
          </a:p>
          <a:p>
            <a:pPr marL="0" lvl="1" indent="0" algn="ctr">
              <a:spcBef>
                <a:spcPts val="0"/>
              </a:spcBef>
              <a:buNone/>
            </a:pPr>
            <a:r>
              <a:rPr lang="tr-TR" sz="1600" noProof="1" smtClean="0">
                <a:latin typeface="Arial Narrow" panose="020B0606020202030204" pitchFamily="34" charset="0"/>
              </a:rPr>
              <a:t>This information is useful for</a:t>
            </a:r>
          </a:p>
          <a:p>
            <a:pPr marL="0" lvl="1" indent="0" algn="ctr">
              <a:spcBef>
                <a:spcPts val="0"/>
              </a:spcBef>
              <a:buNone/>
            </a:pPr>
            <a:r>
              <a:rPr lang="tr-TR" sz="1600" noProof="1" smtClean="0">
                <a:latin typeface="Arial Narrow" panose="020B0606020202030204" pitchFamily="34" charset="0"/>
              </a:rPr>
              <a:t>those who need to make decisions and plans about businesses,</a:t>
            </a:r>
          </a:p>
          <a:p>
            <a:pPr marL="0" lvl="1" indent="0" algn="ctr">
              <a:spcBef>
                <a:spcPts val="0"/>
              </a:spcBef>
              <a:buNone/>
            </a:pPr>
            <a:r>
              <a:rPr lang="tr-TR" sz="1600" noProof="1" smtClean="0">
                <a:latin typeface="Arial Narrow" panose="020B0606020202030204" pitchFamily="34" charset="0"/>
              </a:rPr>
              <a:t>and for those who need to control those businesses.</a:t>
            </a: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r>
              <a:rPr lang="tr-TR" sz="2000" noProof="1" smtClean="0">
                <a:solidFill>
                  <a:srgbClr val="C00000"/>
                </a:solidFill>
                <a:latin typeface="Arial Narrow" panose="020B0606020202030204" pitchFamily="34" charset="0"/>
              </a:rPr>
              <a:t>Finance</a:t>
            </a:r>
            <a:r>
              <a:rPr lang="tr-TR" sz="2000" noProof="1">
                <a:latin typeface="Arial Narrow" panose="020B0606020202030204" pitchFamily="34" charset="0"/>
              </a:rPr>
              <a:t> </a:t>
            </a:r>
            <a:r>
              <a:rPr lang="tr-TR" sz="2000" noProof="1" smtClean="0">
                <a:latin typeface="Arial Narrow" panose="020B0606020202030204" pitchFamily="34" charset="0"/>
              </a:rPr>
              <a:t>is concerned with the ways in which funds for a business are raised and invested.</a:t>
            </a:r>
          </a:p>
          <a:p>
            <a:pPr marL="0" lvl="1" indent="0" algn="ctr">
              <a:spcBef>
                <a:spcPts val="0"/>
              </a:spcBef>
              <a:buNone/>
            </a:pPr>
            <a:endParaRPr lang="tr-TR" sz="2000" noProof="1" smtClean="0">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Finance, like accounting, exists to help decision makers</a:t>
            </a:r>
            <a:r>
              <a:rPr lang="tr-TR" sz="1600" noProof="1" smtClean="0">
                <a:latin typeface="Arial Narrow" panose="020B0606020202030204" pitchFamily="34" charset="0"/>
              </a:rPr>
              <a:t>.</a:t>
            </a:r>
          </a:p>
          <a:p>
            <a:pPr marL="0" lvl="1" indent="0" algn="ctr">
              <a:spcBef>
                <a:spcPts val="0"/>
              </a:spcBef>
              <a:buNone/>
            </a:pPr>
            <a:endParaRPr lang="tr-TR" sz="2000" noProof="1">
              <a:latin typeface="Arial Narrow" panose="020B0606020202030204" pitchFamily="34" charset="0"/>
            </a:endParaRPr>
          </a:p>
          <a:p>
            <a:pPr marL="0" lvl="1" indent="0" algn="ctr">
              <a:spcBef>
                <a:spcPts val="0"/>
              </a:spcBef>
              <a:buNone/>
            </a:pPr>
            <a:r>
              <a:rPr lang="tr-TR" sz="1600" noProof="1">
                <a:latin typeface="Arial Narrow" panose="020B0606020202030204" pitchFamily="34" charset="0"/>
              </a:rPr>
              <a:t>A high-level of understanding of </a:t>
            </a:r>
            <a:r>
              <a:rPr lang="tr-TR" sz="1600" noProof="1" smtClean="0">
                <a:latin typeface="Arial Narrow" panose="020B0606020202030204" pitchFamily="34" charset="0"/>
              </a:rPr>
              <a:t>accounting and finance</a:t>
            </a:r>
          </a:p>
          <a:p>
            <a:pPr marL="0" lvl="1" indent="0" algn="ctr">
              <a:spcBef>
                <a:spcPts val="0"/>
              </a:spcBef>
              <a:buNone/>
            </a:pPr>
            <a:r>
              <a:rPr lang="tr-TR" sz="1600" noProof="1" smtClean="0">
                <a:latin typeface="Arial Narrow" panose="020B0606020202030204" pitchFamily="34" charset="0"/>
              </a:rPr>
              <a:t>is required by most engineers within a company in order to be able to</a:t>
            </a:r>
          </a:p>
          <a:p>
            <a:pPr marL="0" lvl="1" indent="0" algn="ctr">
              <a:spcBef>
                <a:spcPts val="0"/>
              </a:spcBef>
              <a:buNone/>
            </a:pPr>
            <a:r>
              <a:rPr lang="tr-TR" sz="1600" noProof="1" smtClean="0">
                <a:latin typeface="Arial Narrow" panose="020B0606020202030204" pitchFamily="34" charset="0"/>
              </a:rPr>
              <a:t>communicate better with the managers and accounting staff of the company.</a:t>
            </a:r>
            <a:endParaRPr lang="tr-TR" sz="1600" noProof="1">
              <a:latin typeface="Arial Narrow" panose="020B0606020202030204" pitchFamily="34" charset="0"/>
            </a:endParaRPr>
          </a:p>
          <a:p>
            <a:pPr marL="0" lvl="1" indent="0" algn="ctr">
              <a:spcBef>
                <a:spcPts val="0"/>
              </a:spcBef>
              <a:buNone/>
            </a:pPr>
            <a:endParaRPr lang="tr-TR" sz="2000" noProof="1" smtClean="0">
              <a:latin typeface="Arial Narrow" panose="020B0606020202030204" pitchFamily="34" charset="0"/>
            </a:endParaRPr>
          </a:p>
        </p:txBody>
      </p:sp>
    </p:spTree>
    <p:extLst>
      <p:ext uri="{BB962C8B-B14F-4D97-AF65-F5344CB8AC3E}">
        <p14:creationId xmlns:p14="http://schemas.microsoft.com/office/powerpoint/2010/main" val="25560848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smtClean="0">
                <a:solidFill>
                  <a:srgbClr val="800000"/>
                </a:solidFill>
                <a:latin typeface="Arial Narrow" pitchFamily="34" charset="0"/>
              </a:rPr>
              <a:t>Financial Accounting</a:t>
            </a:r>
            <a:r>
              <a:rPr lang="tr-TR" sz="2000" dirty="0" smtClean="0">
                <a:solidFill>
                  <a:srgbClr val="C00000"/>
                </a:solidFill>
                <a:latin typeface="Arial Narrow" pitchFamily="34" charset="0"/>
              </a:rPr>
              <a:t/>
            </a:r>
            <a:br>
              <a:rPr lang="tr-TR" sz="2000" dirty="0" smtClean="0">
                <a:solidFill>
                  <a:srgbClr val="C00000"/>
                </a:solidFill>
                <a:latin typeface="Arial Narrow" pitchFamily="34" charset="0"/>
              </a:rPr>
            </a:br>
            <a:r>
              <a:rPr lang="tr-TR" sz="2400" dirty="0" smtClean="0">
                <a:latin typeface="Arial Narrow" pitchFamily="34" charset="0"/>
              </a:rPr>
              <a:t>Main </a:t>
            </a:r>
            <a:r>
              <a:rPr lang="tr-TR" sz="2400" dirty="0" err="1" smtClean="0">
                <a:latin typeface="Arial Narrow" pitchFamily="34" charset="0"/>
              </a:rPr>
              <a:t>users</a:t>
            </a:r>
            <a:r>
              <a:rPr lang="tr-TR" sz="2400" dirty="0" smtClean="0">
                <a:latin typeface="Arial Narrow" pitchFamily="34" charset="0"/>
              </a:rPr>
              <a:t> of </a:t>
            </a:r>
            <a:r>
              <a:rPr lang="tr-TR" sz="2400" dirty="0" err="1" smtClean="0">
                <a:latin typeface="Arial Narrow" pitchFamily="34" charset="0"/>
              </a:rPr>
              <a:t>financial</a:t>
            </a:r>
            <a:r>
              <a:rPr lang="tr-TR" sz="2400" dirty="0" smtClean="0">
                <a:latin typeface="Arial Narrow" pitchFamily="34" charset="0"/>
              </a:rPr>
              <a:t> </a:t>
            </a:r>
            <a:r>
              <a:rPr lang="tr-TR" sz="2400" dirty="0" err="1" smtClean="0">
                <a:latin typeface="Arial Narrow" pitchFamily="34" charset="0"/>
              </a:rPr>
              <a:t>information</a:t>
            </a:r>
            <a:r>
              <a:rPr lang="tr-TR" sz="2400" dirty="0" smtClean="0">
                <a:latin typeface="Arial Narrow" pitchFamily="34" charset="0"/>
              </a:rPr>
              <a:t> </a:t>
            </a:r>
            <a:r>
              <a:rPr lang="tr-TR" sz="2400" dirty="0" err="1" smtClean="0">
                <a:latin typeface="Arial Narrow" pitchFamily="34" charset="0"/>
              </a:rPr>
              <a:t>relating</a:t>
            </a:r>
            <a:r>
              <a:rPr lang="tr-TR" sz="2400" dirty="0" smtClean="0">
                <a:latin typeface="Arial Narrow" pitchFamily="34" charset="0"/>
              </a:rPr>
              <a:t> </a:t>
            </a:r>
            <a:r>
              <a:rPr lang="tr-TR" sz="2400" dirty="0" err="1" smtClean="0">
                <a:latin typeface="Arial Narrow" pitchFamily="34" charset="0"/>
              </a:rPr>
              <a:t>to</a:t>
            </a:r>
            <a:r>
              <a:rPr lang="tr-TR" sz="2400" dirty="0" smtClean="0">
                <a:latin typeface="Arial Narrow" pitchFamily="34" charset="0"/>
              </a:rPr>
              <a:t> a </a:t>
            </a:r>
            <a:r>
              <a:rPr lang="tr-TR" sz="2400" dirty="0" err="1" smtClean="0">
                <a:latin typeface="Arial Narrow" pitchFamily="34" charset="0"/>
              </a:rPr>
              <a:t>business</a:t>
            </a:r>
            <a:endParaRPr lang="tr-TR" sz="24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457200" lvl="1" indent="0" algn="ctr">
              <a:spcBef>
                <a:spcPts val="300"/>
              </a:spcBef>
              <a:spcAft>
                <a:spcPts val="300"/>
              </a:spcAft>
              <a:buNone/>
            </a:pPr>
            <a:endParaRPr lang="tr-TR" sz="800" dirty="0" smtClean="0">
              <a:latin typeface="Arial Narrow" pitchFamily="34" charset="0"/>
            </a:endParaRPr>
          </a:p>
          <a:p>
            <a:pPr marL="0" lvl="1" indent="0" algn="ctr">
              <a:spcBef>
                <a:spcPts val="0"/>
              </a:spcBef>
              <a:buNone/>
            </a:pPr>
            <a:r>
              <a:rPr lang="tr-TR" sz="2000" noProof="1" smtClean="0">
                <a:latin typeface="Arial Narrow" panose="020B0606020202030204" pitchFamily="34" charset="0"/>
              </a:rPr>
              <a:t> </a:t>
            </a:r>
          </a:p>
        </p:txBody>
      </p:sp>
      <p:pic>
        <p:nvPicPr>
          <p:cNvPr id="7" name="Resim 6"/>
          <p:cNvPicPr>
            <a:picLocks noChangeAspect="1"/>
          </p:cNvPicPr>
          <p:nvPr/>
        </p:nvPicPr>
        <p:blipFill>
          <a:blip r:embed="rId3"/>
          <a:stretch>
            <a:fillRect/>
          </a:stretch>
        </p:blipFill>
        <p:spPr>
          <a:xfrm>
            <a:off x="1043608" y="1700808"/>
            <a:ext cx="7154343" cy="4320480"/>
          </a:xfrm>
          <a:prstGeom prst="rect">
            <a:avLst/>
          </a:prstGeom>
        </p:spPr>
      </p:pic>
    </p:spTree>
    <p:extLst>
      <p:ext uri="{BB962C8B-B14F-4D97-AF65-F5344CB8AC3E}">
        <p14:creationId xmlns:p14="http://schemas.microsoft.com/office/powerpoint/2010/main" val="11571587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smtClean="0">
                <a:latin typeface="Arial Narrow" pitchFamily="34" charset="0"/>
              </a:rPr>
              <a:t>Engineers</a:t>
            </a:r>
            <a:r>
              <a:rPr lang="tr-TR" sz="2400" dirty="0">
                <a:solidFill>
                  <a:srgbClr val="C00000"/>
                </a:solidFill>
                <a:latin typeface="Arial Narrow" pitchFamily="34" charset="0"/>
              </a:rPr>
              <a:t/>
            </a:r>
            <a:br>
              <a:rPr lang="tr-TR" sz="2400" dirty="0">
                <a:solidFill>
                  <a:srgbClr val="C00000"/>
                </a:solidFill>
                <a:latin typeface="Arial Narrow" pitchFamily="34" charset="0"/>
              </a:rPr>
            </a:br>
            <a:r>
              <a:rPr lang="tr-TR" sz="2800" dirty="0" smtClean="0">
                <a:latin typeface="Arial Narrow" pitchFamily="34" charset="0"/>
              </a:rPr>
              <a:t>Financial Accounting </a:t>
            </a:r>
            <a:r>
              <a:rPr lang="tr-TR" sz="2800" dirty="0" err="1" smtClean="0">
                <a:latin typeface="Arial Narrow" pitchFamily="34" charset="0"/>
              </a:rPr>
              <a:t>versus</a:t>
            </a:r>
            <a:r>
              <a:rPr lang="tr-TR" sz="2800" dirty="0" smtClean="0">
                <a:latin typeface="Arial Narrow" pitchFamily="34" charset="0"/>
              </a:rPr>
              <a:t> Management Accounting</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2000" noProof="1" smtClean="0">
              <a:solidFill>
                <a:srgbClr val="C00000"/>
              </a:solidFill>
              <a:latin typeface="Arial Narrow" panose="020B0606020202030204" pitchFamily="34" charset="0"/>
            </a:endParaRPr>
          </a:p>
          <a:p>
            <a:pPr marL="0" lvl="1" indent="0" algn="ctr">
              <a:spcBef>
                <a:spcPts val="0"/>
              </a:spcBef>
              <a:buNone/>
            </a:pPr>
            <a:r>
              <a:rPr lang="tr-TR" sz="2000" noProof="1" smtClean="0">
                <a:latin typeface="Arial Narrow" panose="020B0606020202030204" pitchFamily="34" charset="0"/>
              </a:rPr>
              <a:t> </a:t>
            </a:r>
          </a:p>
        </p:txBody>
      </p:sp>
      <p:pic>
        <p:nvPicPr>
          <p:cNvPr id="7" name="Resim 6"/>
          <p:cNvPicPr>
            <a:picLocks noChangeAspect="1"/>
          </p:cNvPicPr>
          <p:nvPr/>
        </p:nvPicPr>
        <p:blipFill>
          <a:blip r:embed="rId3"/>
          <a:stretch>
            <a:fillRect/>
          </a:stretch>
        </p:blipFill>
        <p:spPr>
          <a:xfrm>
            <a:off x="813603" y="1701048"/>
            <a:ext cx="7574821" cy="4320240"/>
          </a:xfrm>
          <a:prstGeom prst="rect">
            <a:avLst/>
          </a:prstGeom>
        </p:spPr>
      </p:pic>
    </p:spTree>
    <p:extLst>
      <p:ext uri="{BB962C8B-B14F-4D97-AF65-F5344CB8AC3E}">
        <p14:creationId xmlns:p14="http://schemas.microsoft.com/office/powerpoint/2010/main" val="23370818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a:latin typeface="Arial Narrow" pitchFamily="34" charset="0"/>
              </a:rPr>
              <a:t>Financial Accounting</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Usefulness</a:t>
            </a:r>
            <a:r>
              <a:rPr lang="tr-TR" sz="2400" dirty="0" smtClean="0">
                <a:solidFill>
                  <a:srgbClr val="800000"/>
                </a:solidFill>
                <a:latin typeface="Arial Narrow" pitchFamily="34" charset="0"/>
              </a:rPr>
              <a:t> of </a:t>
            </a:r>
            <a:r>
              <a:rPr lang="tr-TR" sz="2400" dirty="0" err="1" smtClean="0">
                <a:solidFill>
                  <a:srgbClr val="800000"/>
                </a:solidFill>
                <a:latin typeface="Arial Narrow" pitchFamily="34" charset="0"/>
              </a:rPr>
              <a:t>financial</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information</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457200" lvl="1" indent="0" algn="ctr">
              <a:spcBef>
                <a:spcPts val="300"/>
              </a:spcBef>
              <a:spcAft>
                <a:spcPts val="300"/>
              </a:spcAft>
              <a:buNone/>
            </a:pPr>
            <a:endParaRPr lang="tr-TR" sz="800" dirty="0" smtClean="0">
              <a:latin typeface="Arial Narrow" pitchFamily="34" charset="0"/>
            </a:endParaRPr>
          </a:p>
          <a:p>
            <a:pPr marL="0" lvl="1" indent="0" algn="ctr">
              <a:spcBef>
                <a:spcPts val="0"/>
              </a:spcBef>
              <a:buNone/>
            </a:pPr>
            <a:r>
              <a:rPr lang="tr-TR" sz="2000" noProof="1" smtClean="0">
                <a:latin typeface="Arial Narrow" panose="020B0606020202030204" pitchFamily="34" charset="0"/>
              </a:rPr>
              <a:t> </a:t>
            </a:r>
          </a:p>
        </p:txBody>
      </p:sp>
      <p:pic>
        <p:nvPicPr>
          <p:cNvPr id="6" name="Resim 5"/>
          <p:cNvPicPr>
            <a:picLocks noChangeAspect="1"/>
          </p:cNvPicPr>
          <p:nvPr/>
        </p:nvPicPr>
        <p:blipFill>
          <a:blip r:embed="rId3"/>
          <a:stretch>
            <a:fillRect/>
          </a:stretch>
        </p:blipFill>
        <p:spPr>
          <a:xfrm>
            <a:off x="457199" y="1569959"/>
            <a:ext cx="8282435" cy="4556204"/>
          </a:xfrm>
          <a:prstGeom prst="rect">
            <a:avLst/>
          </a:prstGeom>
        </p:spPr>
      </p:pic>
    </p:spTree>
    <p:extLst>
      <p:ext uri="{BB962C8B-B14F-4D97-AF65-F5344CB8AC3E}">
        <p14:creationId xmlns:p14="http://schemas.microsoft.com/office/powerpoint/2010/main" val="24011381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400" dirty="0">
                <a:latin typeface="Arial Narrow" pitchFamily="34" charset="0"/>
              </a:rPr>
              <a:t>Financial Accounting</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solidFill>
                  <a:srgbClr val="800000"/>
                </a:solidFill>
                <a:latin typeface="Arial Narrow" pitchFamily="34" charset="0"/>
              </a:rPr>
              <a:t>Accounting as Information </a:t>
            </a:r>
            <a:r>
              <a:rPr lang="tr-TR" sz="2400" dirty="0" err="1" smtClean="0">
                <a:solidFill>
                  <a:srgbClr val="800000"/>
                </a:solidFill>
                <a:latin typeface="Arial Narrow" pitchFamily="34" charset="0"/>
              </a:rPr>
              <a:t>System</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457200" lvl="1" indent="0" algn="ctr">
              <a:spcBef>
                <a:spcPts val="300"/>
              </a:spcBef>
              <a:spcAft>
                <a:spcPts val="300"/>
              </a:spcAft>
              <a:buNone/>
            </a:pPr>
            <a:endParaRPr lang="tr-TR" sz="800" dirty="0" smtClean="0">
              <a:latin typeface="Arial Narrow" pitchFamily="34" charset="0"/>
            </a:endParaRPr>
          </a:p>
          <a:p>
            <a:pPr marL="0" lvl="1" indent="0" algn="ctr">
              <a:spcBef>
                <a:spcPts val="0"/>
              </a:spcBef>
              <a:buNone/>
            </a:pPr>
            <a:r>
              <a:rPr lang="tr-TR" sz="2000" noProof="1" smtClean="0">
                <a:latin typeface="Arial Narrow" panose="020B0606020202030204" pitchFamily="34" charset="0"/>
              </a:rPr>
              <a:t> </a:t>
            </a:r>
          </a:p>
        </p:txBody>
      </p:sp>
      <p:pic>
        <p:nvPicPr>
          <p:cNvPr id="6" name="Resim 5"/>
          <p:cNvPicPr>
            <a:picLocks noChangeAspect="1"/>
          </p:cNvPicPr>
          <p:nvPr/>
        </p:nvPicPr>
        <p:blipFill>
          <a:blip r:embed="rId3"/>
          <a:stretch>
            <a:fillRect/>
          </a:stretch>
        </p:blipFill>
        <p:spPr>
          <a:xfrm>
            <a:off x="457200" y="2780928"/>
            <a:ext cx="8187864" cy="1368152"/>
          </a:xfrm>
          <a:prstGeom prst="rect">
            <a:avLst/>
          </a:prstGeom>
        </p:spPr>
      </p:pic>
    </p:spTree>
    <p:extLst>
      <p:ext uri="{BB962C8B-B14F-4D97-AF65-F5344CB8AC3E}">
        <p14:creationId xmlns:p14="http://schemas.microsoft.com/office/powerpoint/2010/main" val="16971924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188640"/>
            <a:ext cx="8229600"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a:latin typeface="Arial Narrow" pitchFamily="34" charset="0"/>
              </a:rPr>
              <a:t>Financial Accounting</a:t>
            </a:r>
            <a:r>
              <a:rPr lang="tr-TR" sz="2400" dirty="0">
                <a:solidFill>
                  <a:srgbClr val="800000"/>
                </a:solidFill>
                <a:latin typeface="Arial Narrow" pitchFamily="34" charset="0"/>
              </a:rPr>
              <a:t/>
            </a:r>
            <a:br>
              <a:rPr lang="tr-TR" sz="2400" dirty="0">
                <a:solidFill>
                  <a:srgbClr val="800000"/>
                </a:solidFill>
                <a:latin typeface="Arial Narrow" pitchFamily="34" charset="0"/>
              </a:rPr>
            </a:br>
            <a:r>
              <a:rPr lang="tr-TR" sz="2400" dirty="0" smtClean="0">
                <a:solidFill>
                  <a:srgbClr val="800000"/>
                </a:solidFill>
                <a:latin typeface="Arial Narrow" pitchFamily="34" charset="0"/>
              </a:rPr>
              <a:t>Accounting </a:t>
            </a:r>
            <a:r>
              <a:rPr lang="tr-TR" sz="2400" dirty="0" err="1" smtClean="0">
                <a:solidFill>
                  <a:srgbClr val="800000"/>
                </a:solidFill>
                <a:latin typeface="Arial Narrow" pitchFamily="34" charset="0"/>
              </a:rPr>
              <a:t>Principles</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Conventions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457200" y="1412776"/>
            <a:ext cx="8229600" cy="5040560"/>
          </a:xfrm>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Each country has a different variation of ″Generally Accepted Accounting Principles″.</a:t>
            </a:r>
          </a:p>
          <a:p>
            <a:pPr marL="0" lvl="1" indent="0" algn="ctr">
              <a:spcBef>
                <a:spcPts val="0"/>
              </a:spcBef>
              <a:buNone/>
            </a:pPr>
            <a:r>
              <a:rPr lang="tr-TR" sz="1800" noProof="1" smtClean="0">
                <a:latin typeface="Arial Narrow" panose="020B0606020202030204" pitchFamily="34" charset="0"/>
              </a:rPr>
              <a:t>For example, </a:t>
            </a:r>
            <a:r>
              <a:rPr lang="tr-TR" sz="1800" noProof="1" smtClean="0">
                <a:solidFill>
                  <a:srgbClr val="C00000"/>
                </a:solidFill>
                <a:latin typeface="Arial Narrow" panose="020B0606020202030204" pitchFamily="34" charset="0"/>
              </a:rPr>
              <a:t>GAAP</a:t>
            </a:r>
            <a:r>
              <a:rPr lang="tr-TR" sz="1800" noProof="1" smtClean="0">
                <a:latin typeface="Arial Narrow" panose="020B0606020202030204" pitchFamily="34" charset="0"/>
              </a:rPr>
              <a:t> accepted in Turkey are called TR GAAP, in USA as US GAAP.</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A version that is harmonized internationaly is called </a:t>
            </a:r>
            <a:r>
              <a:rPr lang="tr-TR" sz="1800" noProof="1" smtClean="0">
                <a:solidFill>
                  <a:srgbClr val="C00000"/>
                </a:solidFill>
                <a:latin typeface="Arial Narrow" panose="020B0606020202030204" pitchFamily="34" charset="0"/>
              </a:rPr>
              <a:t>IFRS</a:t>
            </a:r>
            <a:r>
              <a:rPr lang="tr-TR" sz="1800" noProof="1" smtClean="0">
                <a:latin typeface="Arial Narrow" panose="020B0606020202030204" pitchFamily="34" charset="0"/>
              </a:rPr>
              <a:t>,</a:t>
            </a:r>
          </a:p>
          <a:p>
            <a:pPr marL="0" lvl="1" indent="0" algn="ctr">
              <a:spcBef>
                <a:spcPts val="0"/>
              </a:spcBef>
              <a:buNone/>
            </a:pPr>
            <a:r>
              <a:rPr lang="tr-TR" sz="1800" noProof="1" smtClean="0">
                <a:latin typeface="Arial Narrow" panose="020B0606020202030204" pitchFamily="34" charset="0"/>
              </a:rPr>
              <a:t>″International Financial Reporting Standards″.</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Although it is not necessary to have a detailed understanding of GAAP or IFRS</a:t>
            </a:r>
          </a:p>
          <a:p>
            <a:pPr marL="0" lvl="1" indent="0" algn="ctr">
              <a:spcBef>
                <a:spcPts val="0"/>
              </a:spcBef>
              <a:buNone/>
            </a:pPr>
            <a:r>
              <a:rPr lang="tr-TR" sz="1800" noProof="1">
                <a:latin typeface="Arial Narrow" panose="020B0606020202030204" pitchFamily="34" charset="0"/>
              </a:rPr>
              <a:t>i</a:t>
            </a:r>
            <a:r>
              <a:rPr lang="tr-TR" sz="1800" noProof="1" smtClean="0">
                <a:latin typeface="Arial Narrow" panose="020B0606020202030204" pitchFamily="34" charset="0"/>
              </a:rPr>
              <a:t>n order to understand the financial statements,</a:t>
            </a:r>
          </a:p>
          <a:p>
            <a:pPr marL="0" lvl="1" indent="0" algn="ctr">
              <a:spcBef>
                <a:spcPts val="0"/>
              </a:spcBef>
              <a:buNone/>
            </a:pPr>
            <a:r>
              <a:rPr lang="tr-TR" sz="1800" noProof="1" smtClean="0">
                <a:latin typeface="Arial Narrow" panose="020B0606020202030204" pitchFamily="34" charset="0"/>
              </a:rPr>
              <a:t>it is necessary to understand</a:t>
            </a:r>
          </a:p>
          <a:p>
            <a:pPr marL="0" lvl="1" indent="0" algn="ctr">
              <a:spcBef>
                <a:spcPts val="0"/>
              </a:spcBef>
              <a:buNone/>
            </a:pPr>
            <a:r>
              <a:rPr lang="tr-TR" sz="1800" noProof="1">
                <a:latin typeface="Arial Narrow" panose="020B0606020202030204" pitchFamily="34" charset="0"/>
              </a:rPr>
              <a:t>s</a:t>
            </a:r>
            <a:r>
              <a:rPr lang="tr-TR" sz="1800" noProof="1" smtClean="0">
                <a:latin typeface="Arial Narrow" panose="020B0606020202030204" pitchFamily="34" charset="0"/>
              </a:rPr>
              <a:t>ome of the </a:t>
            </a:r>
            <a:r>
              <a:rPr lang="tr-TR" sz="1800" noProof="1" smtClean="0">
                <a:solidFill>
                  <a:srgbClr val="C00000"/>
                </a:solidFill>
                <a:latin typeface="Arial Narrow" panose="020B0606020202030204" pitchFamily="34" charset="0"/>
              </a:rPr>
              <a:t>basic accounting principles and conventions:</a:t>
            </a:r>
          </a:p>
          <a:p>
            <a:pPr marL="0" lvl="1" indent="0" algn="ctr">
              <a:spcBef>
                <a:spcPts val="0"/>
              </a:spcBef>
              <a:buNone/>
            </a:pPr>
            <a:endParaRPr lang="tr-TR" sz="1800" noProof="1" smtClean="0">
              <a:solidFill>
                <a:srgbClr val="C00000"/>
              </a:solidFill>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Business Entity</a:t>
            </a:r>
          </a:p>
          <a:p>
            <a:pPr marL="0" lvl="1" indent="0" algn="ctr">
              <a:spcBef>
                <a:spcPts val="0"/>
              </a:spcBef>
              <a:buNone/>
            </a:pPr>
            <a:r>
              <a:rPr lang="tr-TR" sz="1800" noProof="1">
                <a:latin typeface="Arial Narrow" panose="020B0606020202030204" pitchFamily="34" charset="0"/>
              </a:rPr>
              <a:t>The business and its owners are treated separately for the purposes of accounting;</a:t>
            </a:r>
          </a:p>
          <a:p>
            <a:pPr marL="0" lvl="1" indent="0" algn="ctr">
              <a:spcBef>
                <a:spcPts val="0"/>
              </a:spcBef>
              <a:buNone/>
            </a:pPr>
            <a:r>
              <a:rPr lang="tr-TR" sz="1800" noProof="1">
                <a:latin typeface="Arial Narrow" panose="020B0606020202030204" pitchFamily="34" charset="0"/>
              </a:rPr>
              <a:t>this differs from the legal treatment</a:t>
            </a:r>
            <a:r>
              <a:rPr lang="tr-TR" sz="1800" noProof="1" smtClean="0">
                <a:latin typeface="Arial Narrow" panose="020B0606020202030204" pitchFamily="34" charset="0"/>
              </a:rPr>
              <a:t>.</a:t>
            </a:r>
          </a:p>
          <a:p>
            <a:pPr marL="0" lvl="1" indent="0" algn="ctr">
              <a:spcBef>
                <a:spcPts val="0"/>
              </a:spcBef>
              <a:buNone/>
            </a:pPr>
            <a:endParaRPr lang="tr-TR" sz="1800" noProof="1" smtClean="0">
              <a:solidFill>
                <a:srgbClr val="C00000"/>
              </a:solidFill>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Accrual Accounting</a:t>
            </a:r>
          </a:p>
          <a:p>
            <a:pPr marL="342900" lvl="1" indent="-342900" algn="ctr">
              <a:spcBef>
                <a:spcPts val="0"/>
              </a:spcBef>
              <a:buFont typeface="Arial" panose="020B0604020202020204" pitchFamily="34" charset="0"/>
              <a:buChar char="•"/>
            </a:pPr>
            <a:endParaRPr lang="tr-TR" sz="900" noProof="1" smtClean="0">
              <a:solidFill>
                <a:srgbClr val="C00000"/>
              </a:solidFill>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Historical Cost</a:t>
            </a:r>
          </a:p>
        </p:txBody>
      </p:sp>
    </p:spTree>
    <p:extLst>
      <p:ext uri="{BB962C8B-B14F-4D97-AF65-F5344CB8AC3E}">
        <p14:creationId xmlns:p14="http://schemas.microsoft.com/office/powerpoint/2010/main" val="32971587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000" dirty="0" smtClean="0">
                <a:latin typeface="Arial Narrow" pitchFamily="34" charset="0"/>
              </a:rPr>
              <a:t>Basic Accounting </a:t>
            </a:r>
            <a:r>
              <a:rPr lang="tr-TR" sz="2000" dirty="0" err="1" smtClean="0">
                <a:latin typeface="Arial Narrow" pitchFamily="34" charset="0"/>
              </a:rPr>
              <a:t>Principles</a:t>
            </a:r>
            <a:r>
              <a:rPr lang="tr-TR" sz="2000" dirty="0" smtClean="0">
                <a:latin typeface="Arial Narrow" pitchFamily="34" charset="0"/>
              </a:rPr>
              <a:t> </a:t>
            </a:r>
            <a:r>
              <a:rPr lang="tr-TR" sz="2000" dirty="0" err="1" smtClean="0">
                <a:latin typeface="Arial Narrow" pitchFamily="34" charset="0"/>
              </a:rPr>
              <a:t>and</a:t>
            </a:r>
            <a:r>
              <a:rPr lang="tr-TR" sz="2000" dirty="0" smtClean="0">
                <a:latin typeface="Arial Narrow" pitchFamily="34" charset="0"/>
              </a:rPr>
              <a:t> </a:t>
            </a:r>
            <a:r>
              <a:rPr lang="tr-TR" sz="2000" dirty="0" err="1" smtClean="0">
                <a:latin typeface="Arial Narrow" pitchFamily="34" charset="0"/>
              </a:rPr>
              <a:t>Conventions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smtClean="0">
                <a:solidFill>
                  <a:srgbClr val="800000"/>
                </a:solidFill>
                <a:latin typeface="Arial Narrow" pitchFamily="34" charset="0"/>
              </a:rPr>
              <a:t>Business </a:t>
            </a:r>
            <a:r>
              <a:rPr lang="tr-TR" sz="2400" dirty="0" err="1" smtClean="0">
                <a:solidFill>
                  <a:srgbClr val="800000"/>
                </a:solidFill>
                <a:latin typeface="Arial Narrow" pitchFamily="34" charset="0"/>
              </a:rPr>
              <a:t>Entity</a:t>
            </a:r>
            <a:endParaRPr lang="tr-TR" sz="2400" dirty="0">
              <a:solidFill>
                <a:srgbClr val="800000"/>
              </a:solidFill>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900" noProof="1" smtClean="0">
              <a:solidFill>
                <a:srgbClr val="C00000"/>
              </a:solidFill>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business and its owners are treated separately for the purposes of accounting;</a:t>
            </a:r>
          </a:p>
          <a:p>
            <a:pPr marL="0" lvl="1" indent="0" algn="ctr">
              <a:spcBef>
                <a:spcPts val="0"/>
              </a:spcBef>
              <a:buNone/>
            </a:pPr>
            <a:r>
              <a:rPr lang="tr-TR" sz="1800" noProof="1">
                <a:latin typeface="Arial Narrow" panose="020B0606020202030204" pitchFamily="34" charset="0"/>
              </a:rPr>
              <a:t>t</a:t>
            </a:r>
            <a:r>
              <a:rPr lang="tr-TR" sz="1800" noProof="1" smtClean="0">
                <a:latin typeface="Arial Narrow" panose="020B0606020202030204" pitchFamily="34" charset="0"/>
              </a:rPr>
              <a:t>his differs from the legal treatment.</a:t>
            </a:r>
          </a:p>
          <a:p>
            <a:pPr marL="0" lvl="1" indent="0" algn="ctr">
              <a:spcBef>
                <a:spcPts val="0"/>
              </a:spcBef>
              <a:buNone/>
            </a:pPr>
            <a:endParaRPr lang="tr-TR" sz="9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The three </a:t>
            </a:r>
            <a:r>
              <a:rPr lang="tr-TR" sz="1800" noProof="1" smtClean="0">
                <a:solidFill>
                  <a:srgbClr val="C00000"/>
                </a:solidFill>
                <a:latin typeface="Arial Narrow" panose="020B0606020202030204" pitchFamily="34" charset="0"/>
              </a:rPr>
              <a:t>main forms of legal structures of a business are</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Sole propriertorship </a:t>
            </a:r>
            <a:r>
              <a:rPr lang="tr-TR" sz="1800" noProof="1" smtClean="0">
                <a:latin typeface="Arial Narrow" panose="020B0606020202030204" pitchFamily="34" charset="0"/>
              </a:rPr>
              <a:t>(şahıs şirketi)</a:t>
            </a:r>
          </a:p>
          <a:p>
            <a:pPr marL="0" lvl="1" indent="0" algn="ctr">
              <a:spcBef>
                <a:spcPts val="0"/>
              </a:spcBef>
              <a:buNone/>
            </a:pPr>
            <a:r>
              <a:rPr lang="tr-TR" sz="1800" noProof="1">
                <a:latin typeface="Arial Narrow" panose="020B0606020202030204" pitchFamily="34" charset="0"/>
              </a:rPr>
              <a:t>w</a:t>
            </a:r>
            <a:r>
              <a:rPr lang="tr-TR" sz="1800" noProof="1" smtClean="0">
                <a:latin typeface="Arial Narrow" panose="020B0606020202030204" pitchFamily="34" charset="0"/>
              </a:rPr>
              <a:t>here owner is personally responsible for the debts of the business,</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Partnership</a:t>
            </a:r>
            <a:r>
              <a:rPr lang="tr-TR" sz="1800" noProof="1" smtClean="0">
                <a:latin typeface="Arial Narrow" panose="020B0606020202030204" pitchFamily="34" charset="0"/>
              </a:rPr>
              <a:t> (adi ortaklık)</a:t>
            </a:r>
          </a:p>
          <a:p>
            <a:pPr marL="0" lvl="1" indent="0" algn="ctr">
              <a:spcBef>
                <a:spcPts val="0"/>
              </a:spcBef>
              <a:buNone/>
            </a:pPr>
            <a:r>
              <a:rPr lang="tr-TR" sz="1800" noProof="1" smtClean="0">
                <a:latin typeface="Arial Narrow" panose="020B0606020202030204" pitchFamily="34" charset="0"/>
              </a:rPr>
              <a:t>where partners are ″jointly and severally responsible″</a:t>
            </a:r>
          </a:p>
          <a:p>
            <a:pPr marL="0" lvl="1" indent="0" algn="ctr">
              <a:spcBef>
                <a:spcPts val="0"/>
              </a:spcBef>
              <a:buNone/>
            </a:pPr>
            <a:r>
              <a:rPr lang="tr-TR" sz="1800" noProof="1">
                <a:latin typeface="Arial Narrow" panose="020B0606020202030204" pitchFamily="34" charset="0"/>
              </a:rPr>
              <a:t>meaning that creditors can attempt to recover bad </a:t>
            </a:r>
            <a:r>
              <a:rPr lang="tr-TR" sz="1800" noProof="1" smtClean="0">
                <a:latin typeface="Arial Narrow" panose="020B0606020202030204" pitchFamily="34" charset="0"/>
              </a:rPr>
              <a:t>debts</a:t>
            </a:r>
          </a:p>
          <a:p>
            <a:pPr marL="0" lvl="1" indent="0" algn="ctr">
              <a:spcBef>
                <a:spcPts val="0"/>
              </a:spcBef>
              <a:buNone/>
            </a:pPr>
            <a:r>
              <a:rPr lang="tr-TR" sz="1800" noProof="1" smtClean="0">
                <a:latin typeface="Arial Narrow" panose="020B0606020202030204" pitchFamily="34" charset="0"/>
              </a:rPr>
              <a:t>from </a:t>
            </a:r>
            <a:r>
              <a:rPr lang="tr-TR" sz="1800" noProof="1">
                <a:latin typeface="Arial Narrow" panose="020B0606020202030204" pitchFamily="34" charset="0"/>
              </a:rPr>
              <a:t>all the owners, or each one separately, in their personal capacities</a:t>
            </a:r>
            <a:r>
              <a:rPr lang="tr-TR" sz="1800" noProof="1" smtClean="0">
                <a:latin typeface="Arial Narrow" panose="020B0606020202030204" pitchFamily="34" charset="0"/>
              </a:rPr>
              <a:t>,</a:t>
            </a:r>
          </a:p>
          <a:p>
            <a:pPr marL="0" lvl="1" indent="0" algn="ctr">
              <a:spcBef>
                <a:spcPts val="0"/>
              </a:spcBef>
              <a:buNone/>
            </a:pPr>
            <a:endParaRPr lang="tr-TR" sz="1800" noProof="1" smtClean="0">
              <a:latin typeface="Arial Narrow" panose="020B0606020202030204" pitchFamily="34" charset="0"/>
            </a:endParaRPr>
          </a:p>
          <a:p>
            <a:pPr marL="342900" lvl="1" indent="-342900" algn="ctr">
              <a:spcBef>
                <a:spcPts val="0"/>
              </a:spcBef>
              <a:buFont typeface="Arial" panose="020B0604020202020204" pitchFamily="34" charset="0"/>
              <a:buChar char="•"/>
            </a:pPr>
            <a:r>
              <a:rPr lang="tr-TR" sz="1800" noProof="1" smtClean="0">
                <a:solidFill>
                  <a:srgbClr val="C00000"/>
                </a:solidFill>
                <a:latin typeface="Arial Narrow" panose="020B0606020202030204" pitchFamily="34" charset="0"/>
              </a:rPr>
              <a:t>Corporation</a:t>
            </a:r>
            <a:r>
              <a:rPr lang="tr-TR" sz="1800" noProof="1" smtClean="0">
                <a:latin typeface="Arial Narrow" panose="020B0606020202030204" pitchFamily="34" charset="0"/>
              </a:rPr>
              <a:t> (şirket)</a:t>
            </a:r>
          </a:p>
          <a:p>
            <a:pPr marL="0" lvl="1" indent="0" algn="ctr">
              <a:spcBef>
                <a:spcPts val="0"/>
              </a:spcBef>
              <a:buNone/>
            </a:pPr>
            <a:r>
              <a:rPr lang="tr-TR" sz="1800" noProof="1" smtClean="0">
                <a:latin typeface="Arial Narrow" panose="020B0606020202030204" pitchFamily="34" charset="0"/>
              </a:rPr>
              <a:t>where the most that the owners can lose is their equity investment in the company.</a:t>
            </a:r>
          </a:p>
        </p:txBody>
      </p:sp>
    </p:spTree>
    <p:extLst>
      <p:ext uri="{BB962C8B-B14F-4D97-AF65-F5344CB8AC3E}">
        <p14:creationId xmlns:p14="http://schemas.microsoft.com/office/powerpoint/2010/main" val="4991113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smtClean="0">
                <a:solidFill>
                  <a:srgbClr val="800000"/>
                </a:solidFill>
                <a:latin typeface="Arial Narrow" pitchFamily="34" charset="0"/>
              </a:rPr>
              <a:t>Basic Accounting </a:t>
            </a:r>
            <a:r>
              <a:rPr lang="tr-TR" sz="2400" dirty="0" err="1" smtClean="0">
                <a:solidFill>
                  <a:srgbClr val="800000"/>
                </a:solidFill>
                <a:latin typeface="Arial Narrow" pitchFamily="34" charset="0"/>
              </a:rPr>
              <a:t>Principles</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Conventions</a:t>
            </a:r>
            <a:r>
              <a:rPr lang="tr-TR" sz="2800" dirty="0" smtClean="0">
                <a:latin typeface="Arial Narrow" pitchFamily="34" charset="0"/>
              </a:rPr>
              <a:t/>
            </a:r>
            <a:br>
              <a:rPr lang="tr-TR" sz="2800" dirty="0" smtClean="0">
                <a:latin typeface="Arial Narrow" pitchFamily="34" charset="0"/>
              </a:rPr>
            </a:br>
            <a:r>
              <a:rPr lang="tr-TR" sz="2800" dirty="0" err="1" smtClean="0">
                <a:latin typeface="Arial Narrow" pitchFamily="34" charset="0"/>
              </a:rPr>
              <a:t>Accrual</a:t>
            </a:r>
            <a:r>
              <a:rPr lang="tr-TR" sz="2800" dirty="0" smtClean="0">
                <a:latin typeface="Arial Narrow" pitchFamily="34" charset="0"/>
              </a:rPr>
              <a:t> Accounting</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endParaRPr lang="tr-TR" sz="900" noProof="1" smtClean="0">
              <a:solidFill>
                <a:srgbClr val="C00000"/>
              </a:solidFill>
              <a:latin typeface="Arial Narrow" panose="020B0606020202030204" pitchFamily="34" charset="0"/>
            </a:endParaRPr>
          </a:p>
          <a:p>
            <a:pPr marL="0" lvl="1" indent="0" algn="ctr">
              <a:spcBef>
                <a:spcPts val="0"/>
              </a:spcBef>
              <a:buNone/>
            </a:pPr>
            <a:r>
              <a:rPr lang="tr-TR" sz="1800" noProof="1" smtClean="0">
                <a:solidFill>
                  <a:srgbClr val="C00000"/>
                </a:solidFill>
                <a:latin typeface="Arial Narrow" panose="020B0606020202030204" pitchFamily="34" charset="0"/>
              </a:rPr>
              <a:t>Accrual</a:t>
            </a:r>
            <a:r>
              <a:rPr lang="tr-TR" sz="1800" noProof="1" smtClean="0">
                <a:latin typeface="Arial Narrow" panose="020B0606020202030204" pitchFamily="34" charset="0"/>
              </a:rPr>
              <a:t> accounting recognises a sale when it occurs, that is, when the sale documents are signed, not when the customer finally pays the cash in settlement.</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If the transaction occurs before the cash transfer, the tranaction is </a:t>
            </a:r>
            <a:r>
              <a:rPr lang="tr-TR" sz="1800" noProof="1" smtClean="0">
                <a:solidFill>
                  <a:srgbClr val="C00000"/>
                </a:solidFill>
                <a:latin typeface="Arial Narrow" panose="020B0606020202030204" pitchFamily="34" charset="0"/>
              </a:rPr>
              <a:t>accrued</a:t>
            </a:r>
            <a:r>
              <a:rPr lang="tr-TR" sz="1800" noProof="1" smtClean="0">
                <a:latin typeface="Arial Narrow" panose="020B0606020202030204" pitchFamily="34" charset="0"/>
              </a:rPr>
              <a:t>,</a:t>
            </a:r>
          </a:p>
          <a:p>
            <a:pPr marL="0" lvl="1" indent="0" algn="ctr">
              <a:spcBef>
                <a:spcPts val="0"/>
              </a:spcBef>
              <a:buNone/>
            </a:pPr>
            <a:r>
              <a:rPr lang="tr-TR" sz="1800" noProof="1" smtClean="0">
                <a:latin typeface="Arial Narrow" panose="020B0606020202030204" pitchFamily="34" charset="0"/>
              </a:rPr>
              <a:t>and if the transaction is recognised after the cash transfer, it is </a:t>
            </a:r>
            <a:r>
              <a:rPr lang="tr-TR" sz="1800" noProof="1" smtClean="0">
                <a:solidFill>
                  <a:srgbClr val="C00000"/>
                </a:solidFill>
                <a:latin typeface="Arial Narrow" panose="020B0606020202030204" pitchFamily="34" charset="0"/>
              </a:rPr>
              <a:t>deferred</a:t>
            </a:r>
            <a:r>
              <a:rPr lang="tr-TR" sz="1800" noProof="1" smtClean="0">
                <a:latin typeface="Arial Narrow" panose="020B0606020202030204" pitchFamily="34" charset="0"/>
              </a:rPr>
              <a:t>.</a:t>
            </a:r>
          </a:p>
          <a:p>
            <a:pPr marL="0" lvl="1" indent="0" algn="ctr">
              <a:spcBef>
                <a:spcPts val="0"/>
              </a:spcBef>
              <a:buNone/>
            </a:pPr>
            <a:r>
              <a:rPr lang="tr-TR" sz="1800" noProof="1" smtClean="0">
                <a:latin typeface="Arial Narrow" panose="020B0606020202030204" pitchFamily="34" charset="0"/>
              </a:rPr>
              <a:t>For example, deferred taxation is the recognition of taxes owed but not paid yet.</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Because of the difference in timing between the recognition of a transaction and cash receipt or payment, there is the need to match the expenses to the correct period in which the revenue is recognised. </a:t>
            </a:r>
            <a:r>
              <a:rPr lang="tr-TR" sz="1800" noProof="1" smtClean="0">
                <a:solidFill>
                  <a:srgbClr val="C00000"/>
                </a:solidFill>
                <a:latin typeface="Arial Narrow" panose="020B0606020202030204" pitchFamily="34" charset="0"/>
              </a:rPr>
              <a:t>Matching expenses and revenues </a:t>
            </a:r>
            <a:r>
              <a:rPr lang="tr-TR" sz="1800" noProof="1" smtClean="0">
                <a:latin typeface="Arial Narrow" panose="020B0606020202030204" pitchFamily="34" charset="0"/>
              </a:rPr>
              <a:t>allows for</a:t>
            </a:r>
          </a:p>
          <a:p>
            <a:pPr marL="0" lvl="1" indent="0" algn="ctr">
              <a:spcBef>
                <a:spcPts val="0"/>
              </a:spcBef>
              <a:buNone/>
            </a:pPr>
            <a:r>
              <a:rPr lang="tr-TR" sz="1800" noProof="1" smtClean="0">
                <a:latin typeface="Arial Narrow" panose="020B0606020202030204" pitchFamily="34" charset="0"/>
              </a:rPr>
              <a:t>the correct calculation of the profit that a company has made in a particular period.</a:t>
            </a:r>
            <a:endParaRPr lang="tr-TR" sz="1800" noProof="1">
              <a:latin typeface="Arial Narrow" panose="020B0606020202030204" pitchFamily="34" charset="0"/>
            </a:endParaRP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On the other hand, the cost of an asset with a useful life of longer than a year</a:t>
            </a:r>
          </a:p>
          <a:p>
            <a:pPr marL="0" lvl="1" indent="0" algn="ctr">
              <a:spcBef>
                <a:spcPts val="0"/>
              </a:spcBef>
              <a:buNone/>
            </a:pPr>
            <a:r>
              <a:rPr lang="tr-TR" sz="1800" noProof="1" smtClean="0">
                <a:latin typeface="Arial Narrow" panose="020B0606020202030204" pitchFamily="34" charset="0"/>
              </a:rPr>
              <a:t>is spread out over its expected useful life.</a:t>
            </a:r>
          </a:p>
          <a:p>
            <a:pPr marL="0" lvl="1" indent="0" algn="ctr">
              <a:spcBef>
                <a:spcPts val="0"/>
              </a:spcBef>
              <a:buNone/>
            </a:pPr>
            <a:r>
              <a:rPr lang="tr-TR" sz="1800" noProof="1" smtClean="0">
                <a:latin typeface="Arial Narrow" panose="020B0606020202030204" pitchFamily="34" charset="0"/>
              </a:rPr>
              <a:t>This procedure is called </a:t>
            </a:r>
            <a:r>
              <a:rPr lang="tr-TR" sz="1800" noProof="1" smtClean="0">
                <a:solidFill>
                  <a:srgbClr val="C00000"/>
                </a:solidFill>
                <a:latin typeface="Arial Narrow" panose="020B0606020202030204" pitchFamily="34" charset="0"/>
              </a:rPr>
              <a:t>depreciation</a:t>
            </a:r>
            <a:r>
              <a:rPr lang="tr-TR" sz="1800" noProof="1" smtClean="0">
                <a:latin typeface="Arial Narrow" panose="020B0606020202030204" pitchFamily="34" charset="0"/>
              </a:rPr>
              <a:t>.</a:t>
            </a:r>
          </a:p>
        </p:txBody>
      </p:sp>
    </p:spTree>
    <p:extLst>
      <p:ext uri="{BB962C8B-B14F-4D97-AF65-F5344CB8AC3E}">
        <p14:creationId xmlns:p14="http://schemas.microsoft.com/office/powerpoint/2010/main" val="4518666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63688" y="274638"/>
            <a:ext cx="525658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smtClean="0">
                <a:solidFill>
                  <a:srgbClr val="800000"/>
                </a:solidFill>
                <a:latin typeface="Arial Narrow" pitchFamily="34" charset="0"/>
              </a:rPr>
              <a:t>Basic Accounting </a:t>
            </a:r>
            <a:r>
              <a:rPr lang="tr-TR" sz="2400" dirty="0" err="1" smtClean="0">
                <a:solidFill>
                  <a:srgbClr val="800000"/>
                </a:solidFill>
                <a:latin typeface="Arial Narrow" pitchFamily="34" charset="0"/>
              </a:rPr>
              <a:t>Principles</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Conventions</a:t>
            </a:r>
            <a:r>
              <a:rPr lang="tr-TR" sz="2800" dirty="0" smtClean="0">
                <a:latin typeface="Arial Narrow" pitchFamily="34" charset="0"/>
              </a:rPr>
              <a:t/>
            </a:r>
            <a:br>
              <a:rPr lang="tr-TR" sz="2800" dirty="0" smtClean="0">
                <a:latin typeface="Arial Narrow" pitchFamily="34" charset="0"/>
              </a:rPr>
            </a:br>
            <a:r>
              <a:rPr lang="tr-TR" sz="2800" dirty="0" err="1" smtClean="0">
                <a:latin typeface="Arial Narrow" pitchFamily="34" charset="0"/>
              </a:rPr>
              <a:t>Accrual</a:t>
            </a:r>
            <a:r>
              <a:rPr lang="tr-TR" sz="2800" dirty="0" smtClean="0">
                <a:latin typeface="Arial Narrow" pitchFamily="34" charset="0"/>
              </a:rPr>
              <a:t> Accounting</a:t>
            </a:r>
            <a:endParaRPr lang="tr-TR" sz="2800" dirty="0">
              <a:latin typeface="Arial Narrow" pitchFamily="34" charset="0"/>
            </a:endParaRPr>
          </a:p>
        </p:txBody>
      </p:sp>
      <p:sp>
        <p:nvSpPr>
          <p:cNvPr id="5" name="Content Placeholder 4"/>
          <p:cNvSpPr>
            <a:spLocks noGrp="1"/>
          </p:cNvSpPr>
          <p:nvPr>
            <p:ph idx="1"/>
          </p:nvPr>
        </p:nvSpPr>
        <p:spPr>
          <a:xfrm>
            <a:off x="1763688" y="1600200"/>
            <a:ext cx="5256584" cy="4525963"/>
          </a:xfrm>
          <a:ln w="25400">
            <a:noFill/>
          </a:ln>
        </p:spPr>
        <p:txBody>
          <a:bodyPr>
            <a:noAutofit/>
          </a:bodyPr>
          <a:lstStyle/>
          <a:p>
            <a:pPr marL="0" lvl="1" indent="0" algn="ctr">
              <a:spcBef>
                <a:spcPts val="0"/>
              </a:spcBef>
              <a:buNone/>
            </a:pPr>
            <a:endParaRPr lang="tr-TR" sz="1800" noProof="1" smtClean="0">
              <a:solidFill>
                <a:srgbClr val="C00000"/>
              </a:solidFill>
              <a:latin typeface="Arial Narrow" panose="020B0606020202030204" pitchFamily="34" charset="0"/>
            </a:endParaRPr>
          </a:p>
          <a:p>
            <a:pPr marL="0" lvl="1" indent="0" algn="ctr">
              <a:spcBef>
                <a:spcPts val="0"/>
              </a:spcBef>
              <a:buNone/>
            </a:pPr>
            <a:endParaRPr lang="tr-TR" sz="1800" noProof="1" smtClean="0">
              <a:solidFill>
                <a:srgbClr val="C00000"/>
              </a:solidFill>
              <a:latin typeface="Arial Narrow" panose="020B0606020202030204" pitchFamily="34" charset="0"/>
            </a:endParaRPr>
          </a:p>
          <a:p>
            <a:pPr marL="0" lvl="1" indent="0" algn="ctr">
              <a:spcBef>
                <a:spcPts val="0"/>
              </a:spcBef>
              <a:buNone/>
            </a:pPr>
            <a:r>
              <a:rPr lang="tr-TR" sz="1800" noProof="1" smtClean="0">
                <a:solidFill>
                  <a:srgbClr val="C00000"/>
                </a:solidFill>
                <a:latin typeface="Arial Narrow" panose="020B0606020202030204" pitchFamily="34" charset="0"/>
              </a:rPr>
              <a:t>Accrual</a:t>
            </a:r>
            <a:r>
              <a:rPr lang="tr-TR" sz="1800" noProof="1" smtClean="0">
                <a:latin typeface="Arial Narrow" panose="020B0606020202030204" pitchFamily="34" charset="0"/>
              </a:rPr>
              <a:t> accounting recognises a sale when it occurs,</a:t>
            </a:r>
          </a:p>
          <a:p>
            <a:pPr marL="0" lvl="1" indent="0" algn="ctr">
              <a:spcBef>
                <a:spcPts val="0"/>
              </a:spcBef>
              <a:buNone/>
            </a:pPr>
            <a:r>
              <a:rPr lang="tr-TR" sz="1800" noProof="1" smtClean="0">
                <a:latin typeface="Arial Narrow" panose="020B0606020202030204" pitchFamily="34" charset="0"/>
              </a:rPr>
              <a:t>that is, when the sale documents are signed,</a:t>
            </a:r>
          </a:p>
          <a:p>
            <a:pPr marL="0" lvl="1" indent="0" algn="ctr">
              <a:spcBef>
                <a:spcPts val="0"/>
              </a:spcBef>
              <a:buNone/>
            </a:pPr>
            <a:r>
              <a:rPr lang="tr-TR" sz="1800" noProof="1" smtClean="0">
                <a:latin typeface="Arial Narrow" panose="020B0606020202030204" pitchFamily="34" charset="0"/>
              </a:rPr>
              <a:t>not when the customer finally pays the cash in settlement.</a:t>
            </a:r>
          </a:p>
          <a:p>
            <a:pPr marL="0" lvl="1" indent="0" algn="ctr">
              <a:spcBef>
                <a:spcPts val="0"/>
              </a:spcBef>
              <a:buNone/>
            </a:pPr>
            <a:endParaRPr lang="tr-TR" sz="1800" noProof="1" smtClean="0">
              <a:latin typeface="Arial Narrow" panose="020B0606020202030204" pitchFamily="34" charset="0"/>
            </a:endParaRP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If the transaction occurs before the cash transfer,</a:t>
            </a:r>
          </a:p>
          <a:p>
            <a:pPr marL="0" lvl="1" indent="0" algn="ctr">
              <a:spcBef>
                <a:spcPts val="0"/>
              </a:spcBef>
              <a:buNone/>
            </a:pPr>
            <a:r>
              <a:rPr lang="tr-TR" sz="1800" noProof="1" smtClean="0">
                <a:latin typeface="Arial Narrow" panose="020B0606020202030204" pitchFamily="34" charset="0"/>
              </a:rPr>
              <a:t>the tranaction is </a:t>
            </a:r>
            <a:r>
              <a:rPr lang="tr-TR" sz="1800" noProof="1" smtClean="0">
                <a:solidFill>
                  <a:srgbClr val="C00000"/>
                </a:solidFill>
                <a:latin typeface="Arial Narrow" panose="020B0606020202030204" pitchFamily="34" charset="0"/>
              </a:rPr>
              <a:t>accrued</a:t>
            </a:r>
            <a:r>
              <a:rPr lang="tr-TR" sz="1800" noProof="1" smtClean="0">
                <a:latin typeface="Arial Narrow" panose="020B0606020202030204" pitchFamily="34" charset="0"/>
              </a:rPr>
              <a:t>,</a:t>
            </a:r>
          </a:p>
          <a:p>
            <a:pPr marL="0" lvl="1" indent="0" algn="ctr">
              <a:spcBef>
                <a:spcPts val="0"/>
              </a:spcBef>
              <a:buNone/>
            </a:pPr>
            <a:r>
              <a:rPr lang="tr-TR" sz="1800" noProof="1">
                <a:latin typeface="Arial Narrow" panose="020B0606020202030204" pitchFamily="34" charset="0"/>
              </a:rPr>
              <a:t>a</a:t>
            </a:r>
            <a:r>
              <a:rPr lang="tr-TR" sz="1800" noProof="1" smtClean="0">
                <a:latin typeface="Arial Narrow" panose="020B0606020202030204" pitchFamily="34" charset="0"/>
              </a:rPr>
              <a:t>nd</a:t>
            </a:r>
          </a:p>
          <a:p>
            <a:pPr marL="0" lvl="1" indent="0" algn="ctr">
              <a:spcBef>
                <a:spcPts val="0"/>
              </a:spcBef>
              <a:buNone/>
            </a:pPr>
            <a:r>
              <a:rPr lang="tr-TR" sz="1800" noProof="1" smtClean="0">
                <a:latin typeface="Arial Narrow" panose="020B0606020202030204" pitchFamily="34" charset="0"/>
              </a:rPr>
              <a:t>if the transaction is recognised after the cash transfer,</a:t>
            </a:r>
          </a:p>
          <a:p>
            <a:pPr marL="0" lvl="1" indent="0" algn="ctr">
              <a:spcBef>
                <a:spcPts val="0"/>
              </a:spcBef>
              <a:buNone/>
            </a:pPr>
            <a:r>
              <a:rPr lang="tr-TR" sz="1800" noProof="1" smtClean="0">
                <a:latin typeface="Arial Narrow" panose="020B0606020202030204" pitchFamily="34" charset="0"/>
              </a:rPr>
              <a:t>it is </a:t>
            </a:r>
            <a:r>
              <a:rPr lang="tr-TR" sz="1800" noProof="1" smtClean="0">
                <a:solidFill>
                  <a:srgbClr val="C00000"/>
                </a:solidFill>
                <a:latin typeface="Arial Narrow" panose="020B0606020202030204" pitchFamily="34" charset="0"/>
              </a:rPr>
              <a:t>deferred</a:t>
            </a:r>
            <a:r>
              <a:rPr lang="tr-TR" sz="1800" noProof="1" smtClean="0">
                <a:latin typeface="Arial Narrow" panose="020B0606020202030204" pitchFamily="34" charset="0"/>
              </a:rPr>
              <a:t>.</a:t>
            </a:r>
          </a:p>
        </p:txBody>
      </p:sp>
    </p:spTree>
    <p:extLst>
      <p:ext uri="{BB962C8B-B14F-4D97-AF65-F5344CB8AC3E}">
        <p14:creationId xmlns:p14="http://schemas.microsoft.com/office/powerpoint/2010/main" val="36749672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ln w="25400">
            <a:noFill/>
          </a:ln>
        </p:spPr>
        <p:txBody>
          <a:bodyPr>
            <a:noAutofit/>
          </a:bodyPr>
          <a:lstStyle/>
          <a:p>
            <a:r>
              <a:rPr lang="tr-TR" sz="1400" dirty="0" err="1">
                <a:latin typeface="Arial Narrow" pitchFamily="34" charset="0"/>
              </a:rPr>
              <a:t>NTE</a:t>
            </a:r>
            <a:r>
              <a:rPr lang="tr-TR" sz="1400" dirty="0">
                <a:latin typeface="Arial Narrow" pitchFamily="34" charset="0"/>
              </a:rPr>
              <a:t>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smtClean="0">
                <a:solidFill>
                  <a:srgbClr val="800000"/>
                </a:solidFill>
                <a:latin typeface="Arial Narrow" pitchFamily="34" charset="0"/>
              </a:rPr>
              <a:t>Basic Accounting </a:t>
            </a:r>
            <a:r>
              <a:rPr lang="tr-TR" sz="2400" dirty="0" err="1" smtClean="0">
                <a:solidFill>
                  <a:srgbClr val="800000"/>
                </a:solidFill>
                <a:latin typeface="Arial Narrow" pitchFamily="34" charset="0"/>
              </a:rPr>
              <a:t>Principles</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Conventions</a:t>
            </a:r>
            <a:r>
              <a:rPr lang="tr-TR" sz="2800" dirty="0" smtClean="0">
                <a:latin typeface="Arial Narrow" pitchFamily="34" charset="0"/>
              </a:rPr>
              <a:t/>
            </a:r>
            <a:br>
              <a:rPr lang="tr-TR" sz="2800" dirty="0" smtClean="0">
                <a:latin typeface="Arial Narrow" pitchFamily="34" charset="0"/>
              </a:rPr>
            </a:br>
            <a:r>
              <a:rPr lang="tr-TR" sz="2800" dirty="0" err="1" smtClean="0">
                <a:latin typeface="Arial Narrow" pitchFamily="34" charset="0"/>
              </a:rPr>
              <a:t>Historical</a:t>
            </a:r>
            <a:r>
              <a:rPr lang="tr-TR" sz="2800" dirty="0" smtClean="0">
                <a:latin typeface="Arial Narrow" pitchFamily="34" charset="0"/>
              </a:rPr>
              <a:t> </a:t>
            </a:r>
            <a:r>
              <a:rPr lang="tr-TR" sz="2800" dirty="0" err="1" smtClean="0">
                <a:latin typeface="Arial Narrow" pitchFamily="34" charset="0"/>
              </a:rPr>
              <a:t>Cost</a:t>
            </a:r>
            <a:endParaRPr lang="tr-TR" sz="2800" dirty="0">
              <a:latin typeface="Arial Narrow" pitchFamily="34" charset="0"/>
            </a:endParaRPr>
          </a:p>
        </p:txBody>
      </p:sp>
      <p:sp>
        <p:nvSpPr>
          <p:cNvPr id="5" name="Content Placeholder 4"/>
          <p:cNvSpPr>
            <a:spLocks noGrp="1"/>
          </p:cNvSpPr>
          <p:nvPr>
            <p:ph idx="1"/>
          </p:nvPr>
        </p:nvSpPr>
        <p:spPr>
          <a:ln w="25400">
            <a:noFill/>
          </a:ln>
        </p:spPr>
        <p:txBody>
          <a:bodyPr>
            <a:noAutofit/>
          </a:bodyPr>
          <a:lstStyle/>
          <a:p>
            <a:pPr marL="0" lvl="1" indent="0" algn="ctr">
              <a:spcBef>
                <a:spcPts val="0"/>
              </a:spcBef>
              <a:buNone/>
            </a:pPr>
            <a:r>
              <a:rPr lang="tr-TR" sz="1800" noProof="1" smtClean="0">
                <a:latin typeface="Arial Narrow" panose="020B0606020202030204" pitchFamily="34" charset="0"/>
              </a:rPr>
              <a:t>The figures in the accounts represent historical values,</a:t>
            </a:r>
          </a:p>
          <a:p>
            <a:pPr marL="0" lvl="1" indent="0" algn="ctr">
              <a:spcBef>
                <a:spcPts val="0"/>
              </a:spcBef>
              <a:buNone/>
            </a:pPr>
            <a:r>
              <a:rPr lang="tr-TR" sz="1800" noProof="1" smtClean="0">
                <a:latin typeface="Arial Narrow" panose="020B0606020202030204" pitchFamily="34" charset="0"/>
              </a:rPr>
              <a:t>i.e. the cost of acquiring the assets or goods at the date of acquisition.</a:t>
            </a:r>
          </a:p>
          <a:p>
            <a:pPr marL="0" lvl="1" indent="0" algn="ctr">
              <a:spcBef>
                <a:spcPts val="0"/>
              </a:spcBef>
              <a:buNone/>
            </a:pPr>
            <a:r>
              <a:rPr lang="tr-TR" sz="1800" noProof="1" smtClean="0">
                <a:latin typeface="Arial Narrow" panose="020B0606020202030204" pitchFamily="34" charset="0"/>
              </a:rPr>
              <a:t>The value of an asset in the accounts, that is, its ″</a:t>
            </a:r>
            <a:r>
              <a:rPr lang="tr-TR" sz="1800" noProof="1" smtClean="0">
                <a:solidFill>
                  <a:srgbClr val="C00000"/>
                </a:solidFill>
                <a:latin typeface="Arial Narrow" panose="020B0606020202030204" pitchFamily="34" charset="0"/>
              </a:rPr>
              <a:t>book value</a:t>
            </a:r>
            <a:r>
              <a:rPr lang="tr-TR" sz="1800" noProof="1" smtClean="0">
                <a:latin typeface="Arial Narrow" panose="020B0606020202030204" pitchFamily="34" charset="0"/>
              </a:rPr>
              <a:t>″ is unrelated to its value</a:t>
            </a:r>
          </a:p>
          <a:p>
            <a:pPr marL="0" lvl="1" indent="0" algn="ctr">
              <a:spcBef>
                <a:spcPts val="0"/>
              </a:spcBef>
              <a:buNone/>
            </a:pPr>
            <a:r>
              <a:rPr lang="tr-TR" sz="1800" noProof="1" smtClean="0">
                <a:latin typeface="Arial Narrow" panose="020B0606020202030204" pitchFamily="34" charset="0"/>
              </a:rPr>
              <a:t>either within the business (</a:t>
            </a:r>
            <a:r>
              <a:rPr lang="tr-TR" sz="1800" noProof="1" smtClean="0">
                <a:solidFill>
                  <a:srgbClr val="C00000"/>
                </a:solidFill>
                <a:latin typeface="Arial Narrow" panose="020B0606020202030204" pitchFamily="34" charset="0"/>
              </a:rPr>
              <a:t>replacement value</a:t>
            </a:r>
            <a:r>
              <a:rPr lang="tr-TR" sz="1800" noProof="1" smtClean="0">
                <a:latin typeface="Arial Narrow" panose="020B0606020202030204" pitchFamily="34" charset="0"/>
              </a:rPr>
              <a:t>) or to its value to others (</a:t>
            </a:r>
            <a:r>
              <a:rPr lang="tr-TR" sz="1800" noProof="1" smtClean="0">
                <a:solidFill>
                  <a:srgbClr val="C00000"/>
                </a:solidFill>
                <a:latin typeface="Arial Narrow" panose="020B0606020202030204" pitchFamily="34" charset="0"/>
              </a:rPr>
              <a:t>market value</a:t>
            </a:r>
            <a:r>
              <a:rPr lang="tr-TR" sz="1800" noProof="1" smtClean="0">
                <a:latin typeface="Arial Narrow" panose="020B0606020202030204" pitchFamily="34" charset="0"/>
              </a:rPr>
              <a:t>).</a:t>
            </a:r>
          </a:p>
          <a:p>
            <a:pPr marL="0" lvl="1" indent="0" algn="ctr">
              <a:spcBef>
                <a:spcPts val="0"/>
              </a:spcBef>
              <a:buNone/>
            </a:pPr>
            <a:r>
              <a:rPr lang="tr-TR" sz="1800" noProof="1" smtClean="0">
                <a:latin typeface="Arial Narrow" panose="020B0606020202030204" pitchFamily="34" charset="0"/>
              </a:rPr>
              <a:t>Although this seems unrealistic, historical cost reporting removes the requirement</a:t>
            </a:r>
          </a:p>
          <a:p>
            <a:pPr marL="0" lvl="1" indent="0" algn="ctr">
              <a:spcBef>
                <a:spcPts val="0"/>
              </a:spcBef>
              <a:buNone/>
            </a:pPr>
            <a:r>
              <a:rPr lang="tr-TR" sz="1800" noProof="1" smtClean="0">
                <a:latin typeface="Arial Narrow" panose="020B0606020202030204" pitchFamily="34" charset="0"/>
              </a:rPr>
              <a:t>for valuation based on subjective opinion,</a:t>
            </a:r>
          </a:p>
          <a:p>
            <a:pPr marL="0" lvl="1" indent="0" algn="ctr">
              <a:spcBef>
                <a:spcPts val="0"/>
              </a:spcBef>
              <a:buNone/>
            </a:pPr>
            <a:r>
              <a:rPr lang="tr-TR" sz="1800" noProof="1" smtClean="0">
                <a:latin typeface="Arial Narrow" panose="020B0606020202030204" pitchFamily="34" charset="0"/>
              </a:rPr>
              <a:t>which could result in manipulation of the financial position.</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This convention also removes the need to adjust the figures for inflation.</a:t>
            </a:r>
          </a:p>
          <a:p>
            <a:pPr marL="0" lvl="1" indent="0" algn="ctr">
              <a:spcBef>
                <a:spcPts val="0"/>
              </a:spcBef>
              <a:buNone/>
            </a:pPr>
            <a:r>
              <a:rPr lang="tr-TR" sz="1800" noProof="1" smtClean="0">
                <a:latin typeface="Arial Narrow" panose="020B0606020202030204" pitchFamily="34" charset="0"/>
              </a:rPr>
              <a:t>Nevertheless, in high inflation environments (where </a:t>
            </a:r>
            <a:r>
              <a:rPr lang="en-US" sz="1800" dirty="0" smtClean="0">
                <a:latin typeface="Arial Narrow" panose="020B0606020202030204" pitchFamily="34" charset="0"/>
              </a:rPr>
              <a:t>cumulative </a:t>
            </a:r>
            <a:r>
              <a:rPr lang="en-US" sz="1800" dirty="0">
                <a:latin typeface="Arial Narrow" panose="020B0606020202030204" pitchFamily="34" charset="0"/>
              </a:rPr>
              <a:t>inflation rate over three years exceeds 100</a:t>
            </a:r>
            <a:r>
              <a:rPr lang="en-US" sz="1800" dirty="0" smtClean="0">
                <a:latin typeface="Arial Narrow" panose="020B0606020202030204" pitchFamily="34" charset="0"/>
              </a:rPr>
              <a:t>%</a:t>
            </a:r>
            <a:r>
              <a:rPr lang="tr-TR" sz="1800" dirty="0" smtClean="0">
                <a:latin typeface="Arial Narrow" panose="020B0606020202030204" pitchFamily="34" charset="0"/>
              </a:rPr>
              <a:t>), </a:t>
            </a:r>
            <a:r>
              <a:rPr lang="tr-TR" sz="1800" noProof="1" smtClean="0">
                <a:latin typeface="Arial Narrow" panose="020B0606020202030204" pitchFamily="34" charset="0"/>
              </a:rPr>
              <a:t>″</a:t>
            </a:r>
            <a:r>
              <a:rPr lang="tr-TR" sz="1800" noProof="1">
                <a:solidFill>
                  <a:srgbClr val="C00000"/>
                </a:solidFill>
                <a:latin typeface="Arial Narrow" panose="020B0606020202030204" pitchFamily="34" charset="0"/>
              </a:rPr>
              <a:t>inflationary accounting</a:t>
            </a:r>
            <a:r>
              <a:rPr lang="tr-TR" sz="1800" noProof="1">
                <a:latin typeface="Arial Narrow" panose="020B0606020202030204" pitchFamily="34" charset="0"/>
              </a:rPr>
              <a:t>″ is allowed.</a:t>
            </a:r>
          </a:p>
          <a:p>
            <a:pPr marL="0" lvl="1" indent="0" algn="ctr">
              <a:spcBef>
                <a:spcPts val="0"/>
              </a:spcBef>
              <a:buNone/>
            </a:pPr>
            <a:endParaRPr lang="tr-TR" sz="1800" noProof="1">
              <a:latin typeface="Arial Narrow" panose="020B0606020202030204" pitchFamily="34" charset="0"/>
            </a:endParaRPr>
          </a:p>
          <a:p>
            <a:pPr marL="0" lvl="1" indent="0" algn="ctr">
              <a:spcBef>
                <a:spcPts val="0"/>
              </a:spcBef>
              <a:buNone/>
            </a:pPr>
            <a:r>
              <a:rPr lang="tr-TR" sz="1800" noProof="1" smtClean="0">
                <a:latin typeface="Arial Narrow" panose="020B0606020202030204" pitchFamily="34" charset="0"/>
              </a:rPr>
              <a:t>This is also in accord with the </a:t>
            </a:r>
            <a:r>
              <a:rPr lang="tr-TR" sz="1800" noProof="1" smtClean="0">
                <a:solidFill>
                  <a:srgbClr val="C00000"/>
                </a:solidFill>
                <a:latin typeface="Arial Narrow" panose="020B0606020202030204" pitchFamily="34" charset="0"/>
              </a:rPr>
              <a:t>conservative position </a:t>
            </a:r>
            <a:r>
              <a:rPr lang="tr-TR" sz="1800" noProof="1" smtClean="0">
                <a:latin typeface="Arial Narrow" panose="020B0606020202030204" pitchFamily="34" charset="0"/>
              </a:rPr>
              <a:t>adopted by accounting. For example, if losses are probable, and can be reasonably estimated, they are recorded. However, if gains ocur, these are only recorded when they occur.</a:t>
            </a:r>
          </a:p>
          <a:p>
            <a:pPr marL="0" lvl="1" indent="0" algn="ctr">
              <a:spcBef>
                <a:spcPts val="0"/>
              </a:spcBef>
              <a:buNone/>
            </a:pPr>
            <a:endParaRPr lang="tr-TR" sz="2000" noProof="1" smtClean="0">
              <a:latin typeface="Arial Narrow" panose="020B0606020202030204" pitchFamily="34" charset="0"/>
            </a:endParaRPr>
          </a:p>
        </p:txBody>
      </p:sp>
    </p:spTree>
    <p:extLst>
      <p:ext uri="{BB962C8B-B14F-4D97-AF65-F5344CB8AC3E}">
        <p14:creationId xmlns:p14="http://schemas.microsoft.com/office/powerpoint/2010/main" val="33574417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763688" y="274638"/>
            <a:ext cx="5256584" cy="1143000"/>
          </a:xfrm>
          <a:ln w="25400">
            <a:noFill/>
          </a:ln>
        </p:spPr>
        <p:txBody>
          <a:bodyPr>
            <a:noAutofit/>
          </a:bodyPr>
          <a:lstStyle/>
          <a:p>
            <a:r>
              <a:rPr lang="tr-TR" sz="1400" dirty="0">
                <a:latin typeface="Arial Narrow" pitchFamily="34" charset="0"/>
              </a:rPr>
              <a:t>NTE </a:t>
            </a:r>
            <a:r>
              <a:rPr lang="tr-TR" sz="1400" dirty="0" smtClean="0">
                <a:latin typeface="Arial Narrow" pitchFamily="34" charset="0"/>
              </a:rPr>
              <a:t>1010 </a:t>
            </a:r>
            <a:r>
              <a:rPr lang="tr-TR" sz="1400" dirty="0">
                <a:latin typeface="Arial Narrow" pitchFamily="34" charset="0"/>
              </a:rPr>
              <a:t>–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a:latin typeface="Arial Narrow" pitchFamily="34" charset="0"/>
              </a:rPr>
              <a:t/>
            </a:r>
            <a:br>
              <a:rPr lang="tr-TR" sz="1400" dirty="0">
                <a:latin typeface="Arial Narrow" pitchFamily="34" charset="0"/>
              </a:rPr>
            </a:br>
            <a:r>
              <a:rPr lang="tr-TR" sz="2400" dirty="0" smtClean="0">
                <a:solidFill>
                  <a:srgbClr val="800000"/>
                </a:solidFill>
                <a:latin typeface="Arial Narrow" pitchFamily="34" charset="0"/>
              </a:rPr>
              <a:t>Basic Accounting </a:t>
            </a:r>
            <a:r>
              <a:rPr lang="tr-TR" sz="2400" dirty="0" err="1" smtClean="0">
                <a:solidFill>
                  <a:srgbClr val="800000"/>
                </a:solidFill>
                <a:latin typeface="Arial Narrow" pitchFamily="34" charset="0"/>
              </a:rPr>
              <a:t>Principles</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and</a:t>
            </a:r>
            <a:r>
              <a:rPr lang="tr-TR" sz="2400" dirty="0" smtClean="0">
                <a:solidFill>
                  <a:srgbClr val="800000"/>
                </a:solidFill>
                <a:latin typeface="Arial Narrow" pitchFamily="34" charset="0"/>
              </a:rPr>
              <a:t> </a:t>
            </a:r>
            <a:r>
              <a:rPr lang="tr-TR" sz="2400" dirty="0" err="1" smtClean="0">
                <a:solidFill>
                  <a:srgbClr val="800000"/>
                </a:solidFill>
                <a:latin typeface="Arial Narrow" pitchFamily="34" charset="0"/>
              </a:rPr>
              <a:t>Conventions</a:t>
            </a:r>
            <a:r>
              <a:rPr lang="tr-TR" sz="2800" dirty="0" smtClean="0">
                <a:latin typeface="Arial Narrow" pitchFamily="34" charset="0"/>
              </a:rPr>
              <a:t/>
            </a:r>
            <a:br>
              <a:rPr lang="tr-TR" sz="2800" dirty="0" smtClean="0">
                <a:latin typeface="Arial Narrow" pitchFamily="34" charset="0"/>
              </a:rPr>
            </a:br>
            <a:r>
              <a:rPr lang="tr-TR" sz="2800" dirty="0" err="1">
                <a:latin typeface="Arial Narrow" pitchFamily="34" charset="0"/>
              </a:rPr>
              <a:t>Historical</a:t>
            </a:r>
            <a:r>
              <a:rPr lang="tr-TR" sz="2800" dirty="0">
                <a:latin typeface="Arial Narrow" pitchFamily="34" charset="0"/>
              </a:rPr>
              <a:t> </a:t>
            </a:r>
            <a:r>
              <a:rPr lang="tr-TR" sz="2800" dirty="0" err="1">
                <a:latin typeface="Arial Narrow" pitchFamily="34" charset="0"/>
              </a:rPr>
              <a:t>Cost</a:t>
            </a:r>
            <a:endParaRPr lang="tr-TR" sz="2800" dirty="0">
              <a:latin typeface="Arial Narrow" pitchFamily="34" charset="0"/>
            </a:endParaRPr>
          </a:p>
        </p:txBody>
      </p:sp>
      <p:sp>
        <p:nvSpPr>
          <p:cNvPr id="5" name="Content Placeholder 4"/>
          <p:cNvSpPr>
            <a:spLocks noGrp="1"/>
          </p:cNvSpPr>
          <p:nvPr>
            <p:ph idx="1"/>
          </p:nvPr>
        </p:nvSpPr>
        <p:spPr>
          <a:xfrm>
            <a:off x="1763688" y="1600200"/>
            <a:ext cx="5256584" cy="4525963"/>
          </a:xfrm>
          <a:ln w="25400">
            <a:noFill/>
          </a:ln>
        </p:spPr>
        <p:txBody>
          <a:bodyPr>
            <a:noAutofit/>
          </a:bodyPr>
          <a:lstStyle/>
          <a:p>
            <a:pPr marL="0" lvl="1" indent="0" algn="ctr">
              <a:spcBef>
                <a:spcPts val="0"/>
              </a:spcBef>
              <a:buNone/>
            </a:pPr>
            <a:endParaRPr lang="tr-TR" sz="1800" noProof="1" smtClean="0">
              <a:solidFill>
                <a:srgbClr val="C00000"/>
              </a:solidFill>
              <a:latin typeface="Arial Narrow" panose="020B0606020202030204" pitchFamily="34" charset="0"/>
            </a:endParaRPr>
          </a:p>
          <a:p>
            <a:pPr marL="0" lvl="1" indent="0" algn="ctr">
              <a:spcBef>
                <a:spcPts val="0"/>
              </a:spcBef>
              <a:buNone/>
            </a:pPr>
            <a:endParaRPr lang="tr-TR" sz="1800" noProof="1" smtClean="0">
              <a:solidFill>
                <a:srgbClr val="C00000"/>
              </a:solidFill>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The figures in the accounts represent historical values,</a:t>
            </a:r>
          </a:p>
          <a:p>
            <a:pPr marL="0" lvl="1" indent="0" algn="ctr">
              <a:spcBef>
                <a:spcPts val="0"/>
              </a:spcBef>
              <a:buNone/>
            </a:pPr>
            <a:r>
              <a:rPr lang="tr-TR" sz="1800" noProof="1">
                <a:latin typeface="Arial Narrow" panose="020B0606020202030204" pitchFamily="34" charset="0"/>
              </a:rPr>
              <a:t>i.e. the cost of acquiring the assets or </a:t>
            </a:r>
            <a:r>
              <a:rPr lang="tr-TR" sz="1800" noProof="1" smtClean="0">
                <a:latin typeface="Arial Narrow" panose="020B0606020202030204" pitchFamily="34" charset="0"/>
              </a:rPr>
              <a:t>goods</a:t>
            </a:r>
          </a:p>
          <a:p>
            <a:pPr marL="0" lvl="1" indent="0" algn="ctr">
              <a:spcBef>
                <a:spcPts val="0"/>
              </a:spcBef>
              <a:buNone/>
            </a:pPr>
            <a:r>
              <a:rPr lang="tr-TR" sz="1800" noProof="1" smtClean="0">
                <a:latin typeface="Arial Narrow" panose="020B0606020202030204" pitchFamily="34" charset="0"/>
              </a:rPr>
              <a:t>at </a:t>
            </a:r>
            <a:r>
              <a:rPr lang="tr-TR" sz="1800" noProof="1">
                <a:latin typeface="Arial Narrow" panose="020B0606020202030204" pitchFamily="34" charset="0"/>
              </a:rPr>
              <a:t>the date of acquisition</a:t>
            </a:r>
            <a:r>
              <a:rPr lang="tr-TR" sz="1800" noProof="1" smtClean="0">
                <a:latin typeface="Arial Narrow" panose="020B0606020202030204" pitchFamily="34" charset="0"/>
              </a:rPr>
              <a:t>.</a:t>
            </a:r>
          </a:p>
          <a:p>
            <a:pPr marL="0" lvl="1" indent="0" algn="ctr">
              <a:spcBef>
                <a:spcPts val="0"/>
              </a:spcBef>
              <a:buNone/>
            </a:pPr>
            <a:endParaRPr lang="tr-TR" sz="900" noProof="1">
              <a:latin typeface="Arial Narrow" panose="020B0606020202030204" pitchFamily="34" charset="0"/>
            </a:endParaRPr>
          </a:p>
          <a:p>
            <a:pPr marL="0" lvl="1" indent="0" algn="ctr">
              <a:spcBef>
                <a:spcPts val="0"/>
              </a:spcBef>
              <a:buNone/>
            </a:pPr>
            <a:r>
              <a:rPr lang="tr-TR" sz="1800" noProof="1">
                <a:latin typeface="Arial Narrow" panose="020B0606020202030204" pitchFamily="34" charset="0"/>
              </a:rPr>
              <a:t>The value of an asset in the </a:t>
            </a:r>
            <a:r>
              <a:rPr lang="tr-TR" sz="1800" noProof="1" smtClean="0">
                <a:latin typeface="Arial Narrow" panose="020B0606020202030204" pitchFamily="34" charset="0"/>
              </a:rPr>
              <a:t>accounts,</a:t>
            </a:r>
          </a:p>
          <a:p>
            <a:pPr marL="0" lvl="1" indent="0" algn="ctr">
              <a:spcBef>
                <a:spcPts val="0"/>
              </a:spcBef>
              <a:buNone/>
            </a:pPr>
            <a:r>
              <a:rPr lang="tr-TR" sz="1800" noProof="1" smtClean="0">
                <a:latin typeface="Arial Narrow" panose="020B0606020202030204" pitchFamily="34" charset="0"/>
              </a:rPr>
              <a:t>that </a:t>
            </a:r>
            <a:r>
              <a:rPr lang="tr-TR" sz="1800" noProof="1">
                <a:latin typeface="Arial Narrow" panose="020B0606020202030204" pitchFamily="34" charset="0"/>
              </a:rPr>
              <a:t>is, its ″</a:t>
            </a:r>
            <a:r>
              <a:rPr lang="tr-TR" sz="1800" noProof="1">
                <a:solidFill>
                  <a:srgbClr val="C00000"/>
                </a:solidFill>
                <a:latin typeface="Arial Narrow" panose="020B0606020202030204" pitchFamily="34" charset="0"/>
              </a:rPr>
              <a:t>book value</a:t>
            </a:r>
            <a:r>
              <a:rPr lang="tr-TR" sz="1800" noProof="1">
                <a:latin typeface="Arial Narrow" panose="020B0606020202030204" pitchFamily="34" charset="0"/>
              </a:rPr>
              <a:t>″ is unrelated to its value</a:t>
            </a:r>
          </a:p>
          <a:p>
            <a:pPr marL="0" lvl="1" indent="0" algn="ctr">
              <a:spcBef>
                <a:spcPts val="0"/>
              </a:spcBef>
              <a:buNone/>
            </a:pPr>
            <a:r>
              <a:rPr lang="tr-TR" sz="1800" noProof="1">
                <a:latin typeface="Arial Narrow" panose="020B0606020202030204" pitchFamily="34" charset="0"/>
              </a:rPr>
              <a:t>either within the business (</a:t>
            </a:r>
            <a:r>
              <a:rPr lang="tr-TR" sz="1800" noProof="1">
                <a:solidFill>
                  <a:srgbClr val="C00000"/>
                </a:solidFill>
                <a:latin typeface="Arial Narrow" panose="020B0606020202030204" pitchFamily="34" charset="0"/>
              </a:rPr>
              <a:t>replacement </a:t>
            </a:r>
            <a:r>
              <a:rPr lang="tr-TR" sz="1800" noProof="1" smtClean="0">
                <a:solidFill>
                  <a:srgbClr val="C00000"/>
                </a:solidFill>
                <a:latin typeface="Arial Narrow" panose="020B0606020202030204" pitchFamily="34" charset="0"/>
              </a:rPr>
              <a:t>value</a:t>
            </a:r>
            <a:r>
              <a:rPr lang="tr-TR" sz="1800" noProof="1" smtClean="0">
                <a:latin typeface="Arial Narrow" panose="020B0606020202030204" pitchFamily="34" charset="0"/>
              </a:rPr>
              <a:t>)</a:t>
            </a:r>
          </a:p>
          <a:p>
            <a:pPr marL="0" lvl="1" indent="0" algn="ctr">
              <a:spcBef>
                <a:spcPts val="0"/>
              </a:spcBef>
              <a:buNone/>
            </a:pPr>
            <a:r>
              <a:rPr lang="tr-TR" sz="1800" noProof="1" smtClean="0">
                <a:latin typeface="Arial Narrow" panose="020B0606020202030204" pitchFamily="34" charset="0"/>
              </a:rPr>
              <a:t>or </a:t>
            </a:r>
            <a:r>
              <a:rPr lang="tr-TR" sz="1800" noProof="1">
                <a:latin typeface="Arial Narrow" panose="020B0606020202030204" pitchFamily="34" charset="0"/>
              </a:rPr>
              <a:t>to its value to others (</a:t>
            </a:r>
            <a:r>
              <a:rPr lang="tr-TR" sz="1800" noProof="1">
                <a:solidFill>
                  <a:srgbClr val="C00000"/>
                </a:solidFill>
                <a:latin typeface="Arial Narrow" panose="020B0606020202030204" pitchFamily="34" charset="0"/>
              </a:rPr>
              <a:t>market value</a:t>
            </a:r>
            <a:r>
              <a:rPr lang="tr-TR" sz="1800" noProof="1">
                <a:latin typeface="Arial Narrow" panose="020B0606020202030204" pitchFamily="34" charset="0"/>
              </a:rPr>
              <a:t>).</a:t>
            </a:r>
          </a:p>
        </p:txBody>
      </p:sp>
    </p:spTree>
    <p:extLst>
      <p:ext uri="{BB962C8B-B14F-4D97-AF65-F5344CB8AC3E}">
        <p14:creationId xmlns:p14="http://schemas.microsoft.com/office/powerpoint/2010/main" val="17961131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54973"/>
            <a:ext cx="849694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err="1" smtClean="0">
                <a:latin typeface="Arial Narrow" pitchFamily="34" charset="0"/>
              </a:rPr>
              <a:t>Major</a:t>
            </a:r>
            <a:r>
              <a:rPr lang="tr-TR" sz="2000" dirty="0" smtClean="0">
                <a:latin typeface="Arial Narrow" pitchFamily="34" charset="0"/>
              </a:rPr>
              <a:t> Financial </a:t>
            </a:r>
            <a:r>
              <a:rPr lang="tr-TR" sz="2000" dirty="0" err="1" smtClean="0">
                <a:latin typeface="Arial Narrow" pitchFamily="34" charset="0"/>
              </a:rPr>
              <a:t>Statements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Additional</a:t>
            </a:r>
            <a:r>
              <a:rPr lang="tr-TR" sz="2400" dirty="0" smtClean="0">
                <a:solidFill>
                  <a:srgbClr val="800000"/>
                </a:solidFill>
                <a:latin typeface="Arial Narrow" pitchFamily="34" charset="0"/>
              </a:rPr>
              <a:t> Accounting </a:t>
            </a:r>
            <a:r>
              <a:rPr lang="tr-TR" sz="2400" dirty="0" err="1" smtClean="0">
                <a:solidFill>
                  <a:srgbClr val="800000"/>
                </a:solidFill>
                <a:latin typeface="Arial Narrow" pitchFamily="34" charset="0"/>
              </a:rPr>
              <a:t>Conventions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1331640" y="1628800"/>
            <a:ext cx="6480720" cy="4752528"/>
          </a:xfrm>
          <a:ln w="25400">
            <a:noFill/>
          </a:ln>
        </p:spPr>
        <p:txBody>
          <a:bodyPr>
            <a:noAutofit/>
          </a:bodyPr>
          <a:lstStyle/>
          <a:p>
            <a:pPr marL="285750" lvl="1">
              <a:spcBef>
                <a:spcPts val="0"/>
              </a:spcBef>
              <a:buFont typeface="Arial" panose="020B0604020202020204" pitchFamily="34" charset="0"/>
              <a:buChar char="•"/>
            </a:pPr>
            <a:r>
              <a:rPr lang="tr-TR" sz="1800" noProof="1" smtClean="0">
                <a:solidFill>
                  <a:srgbClr val="800000"/>
                </a:solidFill>
                <a:latin typeface="Arial Narrow" panose="020B0606020202030204" pitchFamily="34" charset="0"/>
              </a:rPr>
              <a:t>Money </a:t>
            </a:r>
            <a:r>
              <a:rPr lang="tr-TR" sz="1800" noProof="1" smtClean="0">
                <a:solidFill>
                  <a:srgbClr val="800000"/>
                </a:solidFill>
                <a:latin typeface="Arial Narrow" panose="020B0606020202030204" pitchFamily="34" charset="0"/>
              </a:rPr>
              <a:t>Measurement</a:t>
            </a:r>
          </a:p>
          <a:p>
            <a:pPr marL="400050" lvl="2" indent="0">
              <a:spcBef>
                <a:spcPts val="0"/>
              </a:spcBef>
              <a:buNone/>
            </a:pPr>
            <a:r>
              <a:rPr lang="tr-TR" sz="1800" noProof="1" smtClean="0">
                <a:latin typeface="Arial Narrow" panose="020B0606020202030204" pitchFamily="34" charset="0"/>
              </a:rPr>
              <a:t>Resources not capable of being measured in monetary terms will be excluded.</a:t>
            </a:r>
          </a:p>
          <a:p>
            <a:pPr marL="400050" lvl="2" indent="0">
              <a:spcBef>
                <a:spcPts val="0"/>
              </a:spcBef>
              <a:buNone/>
            </a:pPr>
            <a:r>
              <a:rPr lang="tr-TR" sz="1800" noProof="1" smtClean="0">
                <a:latin typeface="Arial Narrow" panose="020B0606020202030204" pitchFamily="34" charset="0"/>
              </a:rPr>
              <a:t>	Accounting normally deals with only those items that are capable of being expressed in monetary terms. Money has the advantage that it is a useful common denominator with which to express the wide variety of resources held by a business.</a:t>
            </a:r>
          </a:p>
          <a:p>
            <a:pPr marL="400050" lvl="2" indent="0">
              <a:spcBef>
                <a:spcPts val="0"/>
              </a:spcBef>
              <a:buNone/>
            </a:pPr>
            <a:endParaRPr lang="tr-TR" sz="900" noProof="1" smtClean="0">
              <a:solidFill>
                <a:srgbClr val="800000"/>
              </a:solidFill>
              <a:latin typeface="Arial Narrow" panose="020B0606020202030204" pitchFamily="34" charset="0"/>
            </a:endParaRPr>
          </a:p>
          <a:p>
            <a:pPr marL="285750" lvl="1">
              <a:spcBef>
                <a:spcPts val="0"/>
              </a:spcBef>
              <a:buFont typeface="Arial" panose="020B0604020202020204" pitchFamily="34" charset="0"/>
              <a:buChar char="•"/>
            </a:pPr>
            <a:r>
              <a:rPr lang="tr-TR" sz="1800" noProof="1" smtClean="0">
                <a:solidFill>
                  <a:srgbClr val="800000"/>
                </a:solidFill>
                <a:latin typeface="Arial Narrow" panose="020B0606020202030204" pitchFamily="34" charset="0"/>
              </a:rPr>
              <a:t>Going Concern</a:t>
            </a:r>
          </a:p>
          <a:p>
            <a:pPr marL="400050" lvl="2" indent="0">
              <a:spcBef>
                <a:spcPts val="0"/>
              </a:spcBef>
              <a:buNone/>
            </a:pPr>
            <a:r>
              <a:rPr lang="tr-TR" sz="1800" noProof="1" smtClean="0">
                <a:latin typeface="Arial Narrow" panose="020B0606020202030204" pitchFamily="34" charset="0"/>
              </a:rPr>
              <a:t>Financial statements are to be prepared on the assumption that</a:t>
            </a:r>
          </a:p>
          <a:p>
            <a:pPr marL="400050" lvl="2" indent="0">
              <a:spcBef>
                <a:spcPts val="0"/>
              </a:spcBef>
              <a:buNone/>
            </a:pPr>
            <a:r>
              <a:rPr lang="tr-TR" sz="1800" noProof="1" smtClean="0">
                <a:latin typeface="Arial Narrow" panose="020B0606020202030204" pitchFamily="34" charset="0"/>
              </a:rPr>
              <a:t>	the business will continue operations for the foreseeable future,</a:t>
            </a:r>
          </a:p>
          <a:p>
            <a:pPr marL="400050" lvl="2" indent="0">
              <a:spcBef>
                <a:spcPts val="0"/>
              </a:spcBef>
              <a:buNone/>
            </a:pPr>
            <a:r>
              <a:rPr lang="tr-TR" sz="1800" noProof="1" smtClean="0">
                <a:latin typeface="Arial Narrow" panose="020B0606020202030204" pitchFamily="34" charset="0"/>
              </a:rPr>
              <a:t>		unless this is known not to be true.</a:t>
            </a:r>
          </a:p>
          <a:p>
            <a:pPr marL="400050" lvl="2" indent="0">
              <a:spcBef>
                <a:spcPts val="0"/>
              </a:spcBef>
              <a:buNone/>
            </a:pPr>
            <a:r>
              <a:rPr lang="tr-TR" sz="1800" noProof="1" smtClean="0">
                <a:latin typeface="Arial Narrow" panose="020B0606020202030204" pitchFamily="34" charset="0"/>
              </a:rPr>
              <a:t>In other words, it is assumed that there is no intention, or need, to sell off the non-current assets of the business. Based on this assumption, it is prudent to continue to show the value of non-current assets at their recorded values (that is, based on historic cost).</a:t>
            </a:r>
          </a:p>
          <a:p>
            <a:pPr marL="400050" lvl="2" indent="0">
              <a:spcBef>
                <a:spcPts val="0"/>
              </a:spcBef>
              <a:buNone/>
            </a:pPr>
            <a:endParaRPr lang="tr-TR" sz="900" noProof="1" smtClean="0">
              <a:latin typeface="Arial Narrow" panose="020B0606020202030204" pitchFamily="34" charset="0"/>
            </a:endParaRPr>
          </a:p>
        </p:txBody>
      </p:sp>
    </p:spTree>
    <p:extLst>
      <p:ext uri="{BB962C8B-B14F-4D97-AF65-F5344CB8AC3E}">
        <p14:creationId xmlns:p14="http://schemas.microsoft.com/office/powerpoint/2010/main" val="188819672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3528" y="254973"/>
            <a:ext cx="8496944" cy="1143000"/>
          </a:xfrm>
          <a:ln w="25400">
            <a:noFill/>
          </a:ln>
        </p:spPr>
        <p:txBody>
          <a:bodyPr>
            <a:noAutofit/>
          </a:bodyPr>
          <a:lstStyle/>
          <a:p>
            <a:r>
              <a:rPr lang="tr-TR" sz="1400" dirty="0" err="1">
                <a:latin typeface="Arial Narrow" pitchFamily="34" charset="0"/>
              </a:rPr>
              <a:t>NTE</a:t>
            </a:r>
            <a:r>
              <a:rPr lang="tr-TR" sz="1400" dirty="0">
                <a:latin typeface="Arial Narrow" pitchFamily="34" charset="0"/>
              </a:rPr>
              <a:t> 1010.1 – </a:t>
            </a:r>
            <a:r>
              <a:rPr lang="tr-TR" sz="1400" dirty="0" err="1">
                <a:latin typeface="Arial Narrow" pitchFamily="34" charset="0"/>
              </a:rPr>
              <a:t>Introduction</a:t>
            </a:r>
            <a:r>
              <a:rPr lang="tr-TR" sz="1400" dirty="0">
                <a:latin typeface="Arial Narrow" pitchFamily="34" charset="0"/>
              </a:rPr>
              <a:t> </a:t>
            </a:r>
            <a:r>
              <a:rPr lang="tr-TR" sz="1400" dirty="0" err="1">
                <a:latin typeface="Arial Narrow" pitchFamily="34" charset="0"/>
              </a:rPr>
              <a:t>to</a:t>
            </a:r>
            <a:r>
              <a:rPr lang="tr-TR" sz="1400" dirty="0">
                <a:latin typeface="Arial Narrow" pitchFamily="34" charset="0"/>
              </a:rPr>
              <a:t> Finance </a:t>
            </a:r>
            <a:r>
              <a:rPr lang="tr-TR" sz="1400" dirty="0" err="1">
                <a:latin typeface="Arial Narrow" pitchFamily="34" charset="0"/>
              </a:rPr>
              <a:t>for</a:t>
            </a:r>
            <a:r>
              <a:rPr lang="tr-TR" sz="1400" dirty="0">
                <a:latin typeface="Arial Narrow" pitchFamily="34" charset="0"/>
              </a:rPr>
              <a:t> </a:t>
            </a:r>
            <a:r>
              <a:rPr lang="tr-TR" sz="1400" dirty="0" err="1">
                <a:latin typeface="Arial Narrow" pitchFamily="34" charset="0"/>
              </a:rPr>
              <a:t>Engineers</a:t>
            </a:r>
            <a:r>
              <a:rPr lang="tr-TR" sz="1400" dirty="0" smtClean="0">
                <a:latin typeface="Arial Narrow" pitchFamily="34" charset="0"/>
              </a:rPr>
              <a:t/>
            </a:r>
            <a:br>
              <a:rPr lang="tr-TR" sz="1400" dirty="0" smtClean="0">
                <a:latin typeface="Arial Narrow" pitchFamily="34" charset="0"/>
              </a:rPr>
            </a:br>
            <a:r>
              <a:rPr lang="tr-TR" sz="2000" dirty="0" err="1" smtClean="0">
                <a:latin typeface="Arial Narrow" pitchFamily="34" charset="0"/>
              </a:rPr>
              <a:t>Major</a:t>
            </a:r>
            <a:r>
              <a:rPr lang="tr-TR" sz="2000" dirty="0" smtClean="0">
                <a:latin typeface="Arial Narrow" pitchFamily="34" charset="0"/>
              </a:rPr>
              <a:t> Financial </a:t>
            </a:r>
            <a:r>
              <a:rPr lang="tr-TR" sz="2000" dirty="0" err="1" smtClean="0">
                <a:latin typeface="Arial Narrow" pitchFamily="34" charset="0"/>
              </a:rPr>
              <a:t>Statements</a:t>
            </a:r>
            <a:r>
              <a:rPr lang="tr-TR" sz="2400" dirty="0" smtClean="0">
                <a:solidFill>
                  <a:srgbClr val="800000"/>
                </a:solidFill>
                <a:latin typeface="Arial Narrow" pitchFamily="34" charset="0"/>
              </a:rPr>
              <a:t/>
            </a:r>
            <a:br>
              <a:rPr lang="tr-TR" sz="2400" dirty="0" smtClean="0">
                <a:solidFill>
                  <a:srgbClr val="800000"/>
                </a:solidFill>
                <a:latin typeface="Arial Narrow" pitchFamily="34" charset="0"/>
              </a:rPr>
            </a:br>
            <a:r>
              <a:rPr lang="tr-TR" sz="2400" dirty="0" err="1" smtClean="0">
                <a:solidFill>
                  <a:srgbClr val="800000"/>
                </a:solidFill>
                <a:latin typeface="Arial Narrow" pitchFamily="34" charset="0"/>
              </a:rPr>
              <a:t>Additional</a:t>
            </a:r>
            <a:r>
              <a:rPr lang="tr-TR" sz="2400" dirty="0" smtClean="0">
                <a:solidFill>
                  <a:srgbClr val="800000"/>
                </a:solidFill>
                <a:latin typeface="Arial Narrow" pitchFamily="34" charset="0"/>
              </a:rPr>
              <a:t> Accounting </a:t>
            </a:r>
            <a:r>
              <a:rPr lang="tr-TR" sz="2400" dirty="0" err="1" smtClean="0">
                <a:solidFill>
                  <a:srgbClr val="800000"/>
                </a:solidFill>
                <a:latin typeface="Arial Narrow" pitchFamily="34" charset="0"/>
              </a:rPr>
              <a:t>Conventions</a:t>
            </a:r>
            <a:endParaRPr lang="tr-TR" sz="2400" dirty="0">
              <a:solidFill>
                <a:srgbClr val="800000"/>
              </a:solidFill>
              <a:latin typeface="Arial Narrow" pitchFamily="34" charset="0"/>
            </a:endParaRPr>
          </a:p>
        </p:txBody>
      </p:sp>
      <p:sp>
        <p:nvSpPr>
          <p:cNvPr id="5" name="Content Placeholder 4"/>
          <p:cNvSpPr>
            <a:spLocks noGrp="1"/>
          </p:cNvSpPr>
          <p:nvPr>
            <p:ph idx="1"/>
          </p:nvPr>
        </p:nvSpPr>
        <p:spPr>
          <a:xfrm>
            <a:off x="1151620" y="1556792"/>
            <a:ext cx="6840760" cy="4752528"/>
          </a:xfrm>
          <a:ln w="25400">
            <a:noFill/>
          </a:ln>
        </p:spPr>
        <p:txBody>
          <a:bodyPr>
            <a:noAutofit/>
          </a:bodyPr>
          <a:lstStyle/>
          <a:p>
            <a:pPr marL="285750" lvl="1">
              <a:spcBef>
                <a:spcPts val="0"/>
              </a:spcBef>
              <a:buFont typeface="Arial" panose="020B0604020202020204" pitchFamily="34" charset="0"/>
              <a:buChar char="•"/>
            </a:pPr>
            <a:r>
              <a:rPr lang="tr-TR" sz="1800" noProof="1" smtClean="0">
                <a:solidFill>
                  <a:srgbClr val="800000"/>
                </a:solidFill>
                <a:latin typeface="Arial Narrow" panose="020B0606020202030204" pitchFamily="34" charset="0"/>
              </a:rPr>
              <a:t>Dual </a:t>
            </a:r>
            <a:r>
              <a:rPr lang="tr-TR" sz="1800" noProof="1" smtClean="0">
                <a:solidFill>
                  <a:srgbClr val="800000"/>
                </a:solidFill>
                <a:latin typeface="Arial Narrow" panose="020B0606020202030204" pitchFamily="34" charset="0"/>
              </a:rPr>
              <a:t>Aspect</a:t>
            </a:r>
          </a:p>
          <a:p>
            <a:pPr marL="400050" lvl="2" indent="0">
              <a:spcBef>
                <a:spcPts val="0"/>
              </a:spcBef>
              <a:buNone/>
            </a:pPr>
            <a:r>
              <a:rPr lang="tr-TR" sz="1800" noProof="1" smtClean="0">
                <a:latin typeface="Arial Narrow" panose="020B0606020202030204" pitchFamily="34" charset="0"/>
              </a:rPr>
              <a:t>Each transaction has two aspects, both of which will affect the balance sheet.</a:t>
            </a:r>
          </a:p>
          <a:p>
            <a:pPr marL="400050" lvl="2" indent="0">
              <a:spcBef>
                <a:spcPts val="0"/>
              </a:spcBef>
              <a:buNone/>
            </a:pPr>
            <a:r>
              <a:rPr lang="tr-TR" sz="1800" noProof="1" smtClean="0">
                <a:latin typeface="Arial Narrow" panose="020B0606020202030204" pitchFamily="34" charset="0"/>
              </a:rPr>
              <a:t>	The purchase of a car for cash results in an increase in one asset (vehicles) and a decrease in another (cash). The repayment of a bank loan results in the decrease in a liability (loans) and the decrease in an asset (cash / bank).</a:t>
            </a:r>
          </a:p>
          <a:p>
            <a:pPr marL="400050" lvl="2" indent="0">
              <a:spcBef>
                <a:spcPts val="0"/>
              </a:spcBef>
              <a:buNone/>
            </a:pPr>
            <a:endParaRPr lang="tr-TR" sz="900" noProof="1" smtClean="0">
              <a:latin typeface="Arial Narrow" panose="020B0606020202030204" pitchFamily="34" charset="0"/>
            </a:endParaRPr>
          </a:p>
          <a:p>
            <a:pPr marL="285750" lvl="1">
              <a:spcBef>
                <a:spcPts val="0"/>
              </a:spcBef>
              <a:buFont typeface="Arial" panose="020B0604020202020204" pitchFamily="34" charset="0"/>
              <a:buChar char="•"/>
            </a:pPr>
            <a:r>
              <a:rPr lang="tr-TR" sz="1800" noProof="1" smtClean="0">
                <a:solidFill>
                  <a:srgbClr val="800000"/>
                </a:solidFill>
                <a:latin typeface="Arial Narrow" panose="020B0606020202030204" pitchFamily="34" charset="0"/>
              </a:rPr>
              <a:t>Prudence</a:t>
            </a:r>
          </a:p>
          <a:p>
            <a:pPr marL="400050" lvl="2" indent="0">
              <a:spcBef>
                <a:spcPts val="0"/>
              </a:spcBef>
              <a:buNone/>
            </a:pPr>
            <a:r>
              <a:rPr lang="tr-TR" sz="1800" noProof="1" smtClean="0">
                <a:latin typeface="Arial Narrow" panose="020B0606020202030204" pitchFamily="34" charset="0"/>
              </a:rPr>
              <a:t>Financial statements should err on the side of caution.</a:t>
            </a:r>
          </a:p>
          <a:p>
            <a:pPr marL="400050" lvl="2" indent="0">
              <a:spcBef>
                <a:spcPts val="0"/>
              </a:spcBef>
              <a:buNone/>
            </a:pPr>
            <a:r>
              <a:rPr lang="tr-TR" sz="1800" noProof="1" smtClean="0">
                <a:latin typeface="Arial Narrow" panose="020B0606020202030204" pitchFamily="34" charset="0"/>
              </a:rPr>
              <a:t>	The convention represents an attempt to deal with the uncertainty surrounding many events reported in the financial statements, and evolved to counteract the excessive optimism of some managers and owners, which resulted in an overstatement of financial position.</a:t>
            </a:r>
          </a:p>
          <a:p>
            <a:pPr marL="400050" lvl="2" indent="0">
              <a:spcBef>
                <a:spcPts val="0"/>
              </a:spcBef>
              <a:buNone/>
            </a:pPr>
            <a:endParaRPr lang="tr-TR" sz="900" noProof="1" smtClean="0">
              <a:latin typeface="Arial Narrow" panose="020B0606020202030204" pitchFamily="34" charset="0"/>
            </a:endParaRPr>
          </a:p>
          <a:p>
            <a:pPr marL="285750" lvl="1">
              <a:spcBef>
                <a:spcPts val="0"/>
              </a:spcBef>
              <a:buFont typeface="Arial" panose="020B0604020202020204" pitchFamily="34" charset="0"/>
              <a:buChar char="•"/>
            </a:pPr>
            <a:r>
              <a:rPr lang="tr-TR" sz="1800" noProof="1" smtClean="0">
                <a:solidFill>
                  <a:srgbClr val="800000"/>
                </a:solidFill>
                <a:latin typeface="Arial Narrow" panose="020B0606020202030204" pitchFamily="34" charset="0"/>
              </a:rPr>
              <a:t>Objectivity </a:t>
            </a:r>
            <a:r>
              <a:rPr lang="tr-TR" sz="1800" noProof="1" smtClean="0">
                <a:latin typeface="Arial Narrow" panose="020B0606020202030204" pitchFamily="34" charset="0"/>
              </a:rPr>
              <a:t>convention seeks to reduce personal bias in financial statements.</a:t>
            </a:r>
            <a:endParaRPr lang="tr-TR" sz="1800" noProof="1">
              <a:solidFill>
                <a:srgbClr val="800000"/>
              </a:solidFill>
              <a:latin typeface="Arial Narrow" panose="020B0606020202030204" pitchFamily="34" charset="0"/>
            </a:endParaRPr>
          </a:p>
          <a:p>
            <a:pPr marL="400050" lvl="2" indent="0">
              <a:spcBef>
                <a:spcPts val="0"/>
              </a:spcBef>
              <a:buNone/>
            </a:pPr>
            <a:r>
              <a:rPr lang="tr-TR" sz="1800" noProof="1" smtClean="0">
                <a:latin typeface="Arial Narrow" panose="020B0606020202030204" pitchFamily="34" charset="0"/>
              </a:rPr>
              <a:t>Financial statements should be based on objective verifiable evidence</a:t>
            </a:r>
          </a:p>
          <a:p>
            <a:pPr marL="400050" lvl="2" indent="0">
              <a:spcBef>
                <a:spcPts val="0"/>
              </a:spcBef>
              <a:buNone/>
            </a:pPr>
            <a:r>
              <a:rPr lang="tr-TR" sz="1800" noProof="1">
                <a:latin typeface="Arial Narrow" panose="020B0606020202030204" pitchFamily="34" charset="0"/>
              </a:rPr>
              <a:t>	</a:t>
            </a:r>
            <a:r>
              <a:rPr lang="tr-TR" sz="1800" noProof="1" smtClean="0">
                <a:latin typeface="Arial Narrow" panose="020B0606020202030204" pitchFamily="34" charset="0"/>
              </a:rPr>
              <a:t>rather than on matters of opinion.</a:t>
            </a:r>
          </a:p>
        </p:txBody>
      </p:sp>
    </p:spTree>
    <p:extLst>
      <p:ext uri="{BB962C8B-B14F-4D97-AF65-F5344CB8AC3E}">
        <p14:creationId xmlns:p14="http://schemas.microsoft.com/office/powerpoint/2010/main" val="330541240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3827</TotalTime>
  <Words>1206</Words>
  <Application>Microsoft Office PowerPoint</Application>
  <PresentationFormat>Ekran Gösterisi (4:3)</PresentationFormat>
  <Paragraphs>208</Paragraphs>
  <Slides>21</Slides>
  <Notes>21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21</vt:i4>
      </vt:variant>
    </vt:vector>
  </HeadingPairs>
  <TitlesOfParts>
    <vt:vector size="25" baseType="lpstr">
      <vt:lpstr>Arial</vt:lpstr>
      <vt:lpstr>Arial Narrow</vt:lpstr>
      <vt:lpstr>Calibri</vt:lpstr>
      <vt:lpstr>Office Theme</vt:lpstr>
      <vt:lpstr> </vt:lpstr>
      <vt:lpstr>NTE 1010 – Introduction to Finance for Engineers Spring 2020 - Course Contents &amp; Weekly Schedule</vt:lpstr>
      <vt:lpstr>NTE 1010 – Introduction to Finance for Engineers Exams &amp; Recommended Reading</vt:lpstr>
      <vt:lpstr>NTE 1010 – Introduction to Finance for Engineers Spring 2020 - Course Grading</vt:lpstr>
      <vt:lpstr> </vt:lpstr>
      <vt:lpstr>NTE 1010 – Introduction to Finance for Engineers Finance for Engineers Functions in a Company</vt:lpstr>
      <vt:lpstr>NTE 1010 – Introduction to Finance for Engineers Finance for Engineers Finance Function</vt:lpstr>
      <vt:lpstr> </vt:lpstr>
      <vt:lpstr>NTE 1010 – Introduction to Finance for Engineers Introduction Financial Accounting</vt:lpstr>
      <vt:lpstr>NTE 1010 – Introduction to Finance for Engineers Financial Accounting Main users of financial information relating to a business</vt:lpstr>
      <vt:lpstr>NTE 1010 – Introduction to Finance for Engineers Financial Accounting versus Management Accounting</vt:lpstr>
      <vt:lpstr>NTE 1010 – Introduction to Finance for Engineers Financial Accounting Usefulness of financial information</vt:lpstr>
      <vt:lpstr>NTE 1010 – Introduction to Finance for Engineers Financial Accounting Accounting as Information System</vt:lpstr>
      <vt:lpstr>NTE 1010 – Introduction to Finance for Engineers Financial Accounting Accounting Principles and Conventions</vt:lpstr>
      <vt:lpstr>NTE 1010 – Introduction to Finance for Engineers Basic Accounting Principles and Conventions Business Entity</vt:lpstr>
      <vt:lpstr>NTE 1010 – Introduction to Finance for Engineers Basic Accounting Principles and Conventions Accrual Accounting</vt:lpstr>
      <vt:lpstr>NTE 1010 – Introduction to Finance for Engineers Basic Accounting Principles and Conventions Accrual Accounting</vt:lpstr>
      <vt:lpstr>NTE 1010 – Introduction to Finance for Engineers Basic Accounting Principles and Conventions Historical Cost</vt:lpstr>
      <vt:lpstr>NTE 1010 – Introduction to Finance for Engineers Basic Accounting Principles and Conventions Historical Cost</vt:lpstr>
      <vt:lpstr>NTE 1010.1 – Introduction to Finance for Engineers Major Financial Statements Additional Accounting Conventions</vt:lpstr>
      <vt:lpstr>NTE 1010.1 – Introduction to Finance for Engineers Major Financial Statements Additional Accounting Conventions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
  <cp:lastModifiedBy/>
  <cp:revision>374</cp:revision>
  <cp:lastPrinted>2019-09-12T13:01:11Z</cp:lastPrinted>
  <dcterms:created xsi:type="dcterms:W3CDTF">2015-11-30T12:51:35Z</dcterms:created>
  <dcterms:modified xsi:type="dcterms:W3CDTF">2020-02-13T11:07:55Z</dcterms:modified>
  <dc:description/>
</cp:coreProperties>
</file>