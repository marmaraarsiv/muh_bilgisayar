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494" r:id="rId2"/>
    <p:sldId id="507" r:id="rId3"/>
    <p:sldId id="513" r:id="rId4"/>
    <p:sldId id="515" r:id="rId5"/>
    <p:sldId id="516" r:id="rId6"/>
    <p:sldId id="517" r:id="rId7"/>
    <p:sldId id="544" r:id="rId8"/>
    <p:sldId id="526" r:id="rId9"/>
    <p:sldId id="545" r:id="rId10"/>
    <p:sldId id="519" r:id="rId11"/>
    <p:sldId id="522" r:id="rId12"/>
    <p:sldId id="523" r:id="rId13"/>
    <p:sldId id="524" r:id="rId14"/>
    <p:sldId id="525" r:id="rId15"/>
    <p:sldId id="508" r:id="rId16"/>
    <p:sldId id="542" r:id="rId17"/>
    <p:sldId id="528" r:id="rId18"/>
    <p:sldId id="529" r:id="rId19"/>
    <p:sldId id="530" r:id="rId20"/>
    <p:sldId id="533" r:id="rId21"/>
    <p:sldId id="534" r:id="rId22"/>
    <p:sldId id="535" r:id="rId23"/>
    <p:sldId id="536" r:id="rId24"/>
    <p:sldId id="511" r:id="rId25"/>
    <p:sldId id="509" r:id="rId26"/>
    <p:sldId id="537" r:id="rId27"/>
    <p:sldId id="543" r:id="rId28"/>
    <p:sldId id="538" r:id="rId29"/>
    <p:sldId id="540" r:id="rId30"/>
    <p:sldId id="541" r:id="rId31"/>
    <p:sldId id="512" r:id="rId32"/>
    <p:sldId id="546" r:id="rId33"/>
    <p:sldId id="547" r:id="rId34"/>
  </p:sldIdLst>
  <p:sldSz cx="9144000" cy="6858000" type="screen4x3"/>
  <p:notesSz cx="9296400" cy="70104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800000"/>
    <a:srgbClr val="0000CC"/>
    <a:srgbClr val="FF6600"/>
    <a:srgbClr val="FFFFFF"/>
    <a:srgbClr val="3333CC"/>
    <a:srgbClr val="FF9900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2" autoAdjust="0"/>
  </p:normalViewPr>
  <p:slideViewPr>
    <p:cSldViewPr>
      <p:cViewPr varScale="1">
        <p:scale>
          <a:sx n="67" d="100"/>
          <a:sy n="67" d="100"/>
        </p:scale>
        <p:origin x="81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689" cy="350520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6230" y="1"/>
            <a:ext cx="4028687" cy="350520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41DD2113-24C6-4329-AB40-201D9F0A72C4}" type="datetimeFigureOut">
              <a:rPr lang="tr-TR" smtClean="0"/>
              <a:t>3.03.2020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258"/>
            <a:ext cx="4028689" cy="350520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6230" y="6658258"/>
            <a:ext cx="4028687" cy="350520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7F4D469E-94F5-4441-A8A1-33E94B5433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1939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028442" cy="350520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2" cy="350520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D48C765E-539C-483F-BCDF-F0F0AD79452C}" type="datetimeFigureOut">
              <a:rPr lang="tr-TR" smtClean="0"/>
              <a:pPr/>
              <a:t>3.03.2020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11" tIns="45555" rIns="91111" bIns="45555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2"/>
            <a:ext cx="7437120" cy="3154681"/>
          </a:xfrm>
          <a:prstGeom prst="rect">
            <a:avLst/>
          </a:prstGeom>
        </p:spPr>
        <p:txBody>
          <a:bodyPr vert="horz" lIns="91111" tIns="45555" rIns="91111" bIns="4555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658665"/>
            <a:ext cx="4028442" cy="350520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5"/>
            <a:ext cx="4028442" cy="350520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AE8B6D33-EF40-4511-BB6D-F4559DCC6ED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84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4704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658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44243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70278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49333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80738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21319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92680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33737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15652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64317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67597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68060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226343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8350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157064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60891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820145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955929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32001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535519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96556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988032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448359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35304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977310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651929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619460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353105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73713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237443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18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496376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EEC2-418A-4AE9-8D76-1350AC2C960C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B617E-CC2C-45DD-8B2D-8AE4EA5FC5F8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D0F5-A4BC-46CD-8841-C457452FFEDC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34DA-5AD4-4FA3-AFE8-2A8C67D70199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F8EC-0934-411F-B635-3062B68C4A87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C700-BE93-49BC-965A-FE7AF14E8E5E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533D-1371-4A64-9DA7-B94E9E82C698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4A5A-A249-4E71-9C80-CB1606C64E4A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A4DE-DE11-46F8-8818-543B671E4FAF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022AE-E832-4A8B-9536-4372F3E1F6C7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B04C-27DE-4D51-8F84-8865E814DCCD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7707C-6B9A-4E38-AEE2-597F60E606B3}" type="datetime1">
              <a:rPr lang="tr-TR" smtClean="0"/>
              <a:pPr/>
              <a:t>3.03.2020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8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emf"/><Relationship Id="rId4" Type="http://schemas.openxmlformats.org/officeDocument/2006/relationships/image" Target="../media/image35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emf"/><Relationship Id="rId4" Type="http://schemas.openxmlformats.org/officeDocument/2006/relationships/image" Target="../media/image37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2492896"/>
            <a:ext cx="7704856" cy="2448272"/>
          </a:xfrm>
          <a:ln w="254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NTE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1010</a:t>
            </a: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Introduction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to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Finance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for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Engineers</a:t>
            </a:r>
            <a:endParaRPr lang="tr-TR" sz="12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16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dirty="0" err="1" smtClean="0">
                <a:solidFill>
                  <a:schemeClr val="tx1"/>
                </a:solidFill>
                <a:latin typeface="Arial Narrow" pitchFamily="34" charset="0"/>
              </a:rPr>
              <a:t>week</a:t>
            </a:r>
            <a:r>
              <a:rPr lang="tr-TR" dirty="0" smtClean="0">
                <a:solidFill>
                  <a:schemeClr val="tx1"/>
                </a:solidFill>
                <a:latin typeface="Arial Narrow" pitchFamily="34" charset="0"/>
              </a:rPr>
              <a:t> 4</a:t>
            </a:r>
          </a:p>
          <a:p>
            <a:pPr>
              <a:spcBef>
                <a:spcPts val="0"/>
              </a:spcBef>
            </a:pPr>
            <a:r>
              <a:rPr lang="tr-TR" dirty="0" smtClean="0">
                <a:solidFill>
                  <a:schemeClr val="tx1"/>
                </a:solidFill>
                <a:latin typeface="Arial Narrow" pitchFamily="34" charset="0"/>
              </a:rPr>
              <a:t>Management Accounting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z="18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1</a:t>
            </a:fld>
            <a:endParaRPr lang="tr-TR" sz="18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85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835696" y="2738785"/>
            <a:ext cx="5760640" cy="1698328"/>
          </a:xfrm>
          <a:ln w="254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12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36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3600" dirty="0" smtClean="0">
                <a:solidFill>
                  <a:srgbClr val="800000"/>
                </a:solidFill>
                <a:latin typeface="Arial Narrow" pitchFamily="34" charset="0"/>
              </a:rPr>
              <a:t> – Volume – Profit</a:t>
            </a:r>
          </a:p>
          <a:p>
            <a:pPr>
              <a:spcBef>
                <a:spcPts val="0"/>
              </a:spcBef>
            </a:pPr>
            <a:r>
              <a:rPr lang="tr-TR" sz="4800" dirty="0" smtClean="0">
                <a:solidFill>
                  <a:srgbClr val="800000"/>
                </a:solidFill>
                <a:latin typeface="Arial Narrow" pitchFamily="34" charset="0"/>
              </a:rPr>
              <a:t>Break-</a:t>
            </a:r>
            <a:r>
              <a:rPr lang="tr-TR" sz="4800" dirty="0" err="1" smtClean="0">
                <a:solidFill>
                  <a:srgbClr val="800000"/>
                </a:solidFill>
                <a:latin typeface="Arial Narrow" pitchFamily="34" charset="0"/>
              </a:rPr>
              <a:t>Even</a:t>
            </a:r>
            <a:endParaRPr lang="tr-TR" sz="4800" dirty="0" smtClean="0">
              <a:solidFill>
                <a:srgbClr val="80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8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, Volume, Profit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Costs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Costs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represent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resources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have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be </a:t>
            </a:r>
            <a:r>
              <a:rPr lang="tr-TR" sz="1800" dirty="0" err="1">
                <a:latin typeface="Arial Narrow" panose="020B0606020202030204" pitchFamily="34" charset="0"/>
              </a:rPr>
              <a:t>sacrificed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achieve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business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objective</a:t>
            </a:r>
            <a:r>
              <a:rPr lang="tr-TR" sz="1800" dirty="0" smtClean="0">
                <a:latin typeface="Arial Narrow" panose="020B0606020202030204" pitchFamily="34" charset="0"/>
              </a:rPr>
              <a:t>;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in </a:t>
            </a:r>
            <a:r>
              <a:rPr lang="tr-TR" sz="1800" dirty="0" err="1">
                <a:latin typeface="Arial Narrow" panose="020B0606020202030204" pitchFamily="34" charset="0"/>
              </a:rPr>
              <a:t>other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words</a:t>
            </a:r>
            <a:r>
              <a:rPr lang="tr-TR" sz="1800" dirty="0">
                <a:latin typeface="Arial Narrow" panose="020B0606020202030204" pitchFamily="34" charset="0"/>
              </a:rPr>
              <a:t>, it is </a:t>
            </a:r>
            <a:r>
              <a:rPr lang="tr-TR" sz="1800" dirty="0" err="1">
                <a:latin typeface="Arial Narrow" panose="020B0606020202030204" pitchFamily="34" charset="0"/>
              </a:rPr>
              <a:t>spending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money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business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objective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may</a:t>
            </a:r>
            <a:r>
              <a:rPr lang="tr-TR" sz="1800" dirty="0">
                <a:latin typeface="Arial Narrow" panose="020B0606020202030204" pitchFamily="34" charset="0"/>
              </a:rPr>
              <a:t> be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make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particular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product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provide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particular</a:t>
            </a:r>
            <a:r>
              <a:rPr lang="tr-TR" sz="1800" dirty="0">
                <a:latin typeface="Arial Narrow" panose="020B0606020202030204" pitchFamily="34" charset="0"/>
              </a:rPr>
              <a:t> service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so</a:t>
            </a:r>
            <a:r>
              <a:rPr lang="tr-TR" sz="1800" dirty="0">
                <a:latin typeface="Arial Narrow" panose="020B0606020202030204" pitchFamily="34" charset="0"/>
              </a:rPr>
              <a:t> on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(</a:t>
            </a:r>
            <a:r>
              <a:rPr lang="tr-TR" sz="1800" dirty="0" err="1">
                <a:latin typeface="Arial Narrow" panose="020B0606020202030204" pitchFamily="34" charset="0"/>
              </a:rPr>
              <a:t>If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benefit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spending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money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realized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immediately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up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within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 smtClean="0">
                <a:latin typeface="Arial Narrow" panose="020B0606020202030204" pitchFamily="34" charset="0"/>
              </a:rPr>
              <a:t>year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then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it is a </a:t>
            </a:r>
            <a:r>
              <a:rPr lang="tr-TR" sz="1800" dirty="0" err="1" smtClean="0">
                <a:latin typeface="Arial Narrow" panose="020B0606020202030204" pitchFamily="34" charset="0"/>
              </a:rPr>
              <a:t>cost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On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other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hand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if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benefit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realized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over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period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longer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one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year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then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it is an </a:t>
            </a:r>
            <a:r>
              <a:rPr lang="tr-TR" sz="1800" dirty="0" err="1" smtClean="0">
                <a:latin typeface="Arial Narrow" panose="020B0606020202030204" pitchFamily="34" charset="0"/>
              </a:rPr>
              <a:t>investment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investments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spread </a:t>
            </a:r>
            <a:r>
              <a:rPr lang="tr-TR" sz="1800" dirty="0" err="1">
                <a:latin typeface="Arial Narrow" panose="020B0606020202030204" pitchFamily="34" charset="0"/>
              </a:rPr>
              <a:t>out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over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their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useful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lives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by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a </a:t>
            </a:r>
            <a:r>
              <a:rPr lang="tr-TR" sz="1800" dirty="0" err="1">
                <a:latin typeface="Arial Narrow" panose="020B0606020202030204" pitchFamily="34" charset="0"/>
              </a:rPr>
              <a:t>method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called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depreciation</a:t>
            </a:r>
            <a:r>
              <a:rPr lang="tr-TR" sz="1800" dirty="0" smtClean="0">
                <a:latin typeface="Arial Narrow" panose="020B0606020202030204" pitchFamily="34" charset="0"/>
              </a:rPr>
              <a:t>.)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may</a:t>
            </a:r>
            <a:r>
              <a:rPr lang="tr-TR" sz="1800" dirty="0">
                <a:latin typeface="Arial Narrow" panose="020B0606020202030204" pitchFamily="34" charset="0"/>
              </a:rPr>
              <a:t> be </a:t>
            </a:r>
            <a:r>
              <a:rPr lang="tr-TR" sz="1800" dirty="0" err="1">
                <a:latin typeface="Arial Narrow" panose="020B0606020202030204" pitchFamily="34" charset="0"/>
              </a:rPr>
              <a:t>classified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many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ways</a:t>
            </a:r>
            <a:r>
              <a:rPr lang="tr-TR" sz="1800" dirty="0" smtClean="0">
                <a:latin typeface="Arial Narrow" panose="020B0606020202030204" pitchFamily="34" charset="0"/>
              </a:rPr>
              <a:t>;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one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important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way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according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how </a:t>
            </a:r>
            <a:r>
              <a:rPr lang="tr-TR" sz="1800" dirty="0" err="1">
                <a:latin typeface="Arial Narrow" panose="020B0606020202030204" pitchFamily="34" charset="0"/>
              </a:rPr>
              <a:t>they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behave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relation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to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changes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in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volume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06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3466728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Costs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4186808" cy="5069160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tr-TR" sz="18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Fixed</a:t>
            </a:r>
            <a:r>
              <a:rPr lang="tr-TR" sz="18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C00000"/>
                </a:solidFill>
                <a:latin typeface="Arial Narrow" panose="020B0606020202030204" pitchFamily="34" charset="0"/>
              </a:rPr>
              <a:t>C</a:t>
            </a:r>
            <a:r>
              <a:rPr lang="tr-TR" sz="18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osts</a:t>
            </a:r>
            <a:r>
              <a:rPr lang="tr-TR" sz="18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are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those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independent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smtClean="0">
                <a:latin typeface="Arial Narrow" panose="020B0606020202030204" pitchFamily="34" charset="0"/>
              </a:rPr>
              <a:t>of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level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activity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(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example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rent</a:t>
            </a:r>
            <a:r>
              <a:rPr lang="tr-TR" sz="1800" dirty="0" smtClean="0">
                <a:latin typeface="Arial Narrow" panose="020B0606020202030204" pitchFamily="34" charset="0"/>
              </a:rPr>
              <a:t>).</a:t>
            </a:r>
          </a:p>
          <a:p>
            <a:pPr marL="0" lvl="0" indent="0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Nevertheless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as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volume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increases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at </a:t>
            </a:r>
            <a:r>
              <a:rPr lang="tr-TR" sz="1800" dirty="0">
                <a:latin typeface="Arial Narrow" panose="020B0606020202030204" pitchFamily="34" charset="0"/>
              </a:rPr>
              <a:t>a </a:t>
            </a:r>
            <a:r>
              <a:rPr lang="tr-TR" sz="1800" dirty="0" err="1">
                <a:latin typeface="Arial Narrow" panose="020B0606020202030204" pitchFamily="34" charset="0"/>
              </a:rPr>
              <a:t>particular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point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volume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cannot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increase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further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without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additional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cost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such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as </a:t>
            </a:r>
            <a:r>
              <a:rPr lang="tr-TR" sz="1800" dirty="0" err="1">
                <a:latin typeface="Arial Narrow" panose="020B0606020202030204" pitchFamily="34" charset="0"/>
              </a:rPr>
              <a:t>renting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additional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space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Fixed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behave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like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this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often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referred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to</a:t>
            </a:r>
            <a:r>
              <a:rPr lang="tr-TR" sz="1800" dirty="0" smtClean="0">
                <a:latin typeface="Arial Narrow" panose="020B0606020202030204" pitchFamily="34" charset="0"/>
              </a:rPr>
              <a:t> as </a:t>
            </a:r>
            <a:r>
              <a:rPr lang="tr-TR" sz="1800" dirty="0" err="1">
                <a:solidFill>
                  <a:srgbClr val="C00000"/>
                </a:solidFill>
                <a:latin typeface="Arial Narrow" panose="020B0606020202030204" pitchFamily="34" charset="0"/>
              </a:rPr>
              <a:t>Stepped</a:t>
            </a:r>
            <a:r>
              <a:rPr lang="tr-TR" sz="1800" dirty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C00000"/>
                </a:solidFill>
                <a:latin typeface="Arial Narrow" panose="020B0606020202030204" pitchFamily="34" charset="0"/>
              </a:rPr>
              <a:t>Fixed</a:t>
            </a:r>
            <a:r>
              <a:rPr lang="tr-TR" sz="1800" dirty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C00000"/>
                </a:solidFill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16632"/>
            <a:ext cx="4186808" cy="3310331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5" y="3491551"/>
            <a:ext cx="4186808" cy="332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5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3466728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Costs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4330824" cy="5400600"/>
          </a:xfrm>
          <a:ln w="25400">
            <a:noFill/>
          </a:ln>
        </p:spPr>
        <p:txBody>
          <a:bodyPr>
            <a:noAutofit/>
          </a:bodyPr>
          <a:lstStyle/>
          <a:p>
            <a:pPr algn="ctr">
              <a:spcBef>
                <a:spcPts val="0"/>
              </a:spcBef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>
              <a:buNone/>
            </a:pPr>
            <a:r>
              <a:rPr lang="tr-TR" sz="1800" dirty="0" err="1">
                <a:solidFill>
                  <a:srgbClr val="0000CC"/>
                </a:solidFill>
                <a:latin typeface="Arial Narrow" panose="020B0606020202030204" pitchFamily="34" charset="0"/>
              </a:rPr>
              <a:t>Variable</a:t>
            </a:r>
            <a:r>
              <a:rPr lang="tr-TR" sz="1800" dirty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CC"/>
                </a:solidFill>
                <a:latin typeface="Arial Narrow" panose="020B0606020202030204" pitchFamily="34" charset="0"/>
              </a:rPr>
              <a:t>C</a:t>
            </a:r>
            <a:r>
              <a:rPr lang="tr-TR" sz="18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osts</a:t>
            </a:r>
            <a:r>
              <a:rPr lang="tr-TR" sz="18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are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those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vary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with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level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activity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(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example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raw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materials</a:t>
            </a:r>
            <a:r>
              <a:rPr lang="tr-TR" sz="1800" dirty="0" smtClean="0">
                <a:latin typeface="Arial Narrow" panose="020B0606020202030204" pitchFamily="34" charset="0"/>
              </a:rPr>
              <a:t>).</a:t>
            </a:r>
          </a:p>
          <a:p>
            <a:pPr marL="0" lvl="0" indent="0"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>
              <a:buNone/>
            </a:pPr>
            <a:r>
              <a:rPr lang="tr-TR" sz="1800" dirty="0" smtClean="0">
                <a:solidFill>
                  <a:srgbClr val="FF6600"/>
                </a:solidFill>
                <a:latin typeface="Arial Narrow" panose="020B0606020202030204" pitchFamily="34" charset="0"/>
              </a:rPr>
              <a:t>Total </a:t>
            </a:r>
            <a:r>
              <a:rPr lang="tr-TR" sz="1800" dirty="0" err="1">
                <a:solidFill>
                  <a:srgbClr val="FF6600"/>
                </a:solidFill>
                <a:latin typeface="Arial Narrow" panose="020B0606020202030204" pitchFamily="34" charset="0"/>
              </a:rPr>
              <a:t>C</a:t>
            </a:r>
            <a:r>
              <a:rPr lang="tr-TR" sz="1800" dirty="0" err="1" smtClean="0">
                <a:solidFill>
                  <a:srgbClr val="FF6600"/>
                </a:solidFill>
                <a:latin typeface="Arial Narrow" panose="020B0606020202030204" pitchFamily="34" charset="0"/>
              </a:rPr>
              <a:t>osts</a:t>
            </a:r>
            <a:r>
              <a:rPr lang="tr-TR" sz="1800" dirty="0" smtClean="0">
                <a:solidFill>
                  <a:srgbClr val="FF66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= </a:t>
            </a:r>
            <a:r>
              <a:rPr lang="tr-TR" sz="1800" dirty="0" err="1">
                <a:solidFill>
                  <a:srgbClr val="C00000"/>
                </a:solidFill>
                <a:latin typeface="Arial Narrow" panose="020B0606020202030204" pitchFamily="34" charset="0"/>
              </a:rPr>
              <a:t>Fixed</a:t>
            </a:r>
            <a:r>
              <a:rPr lang="tr-TR" sz="1800" dirty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C00000"/>
                </a:solidFill>
                <a:latin typeface="Arial Narrow" panose="020B0606020202030204" pitchFamily="34" charset="0"/>
              </a:rPr>
              <a:t>C</a:t>
            </a:r>
            <a:r>
              <a:rPr lang="tr-TR" sz="1800" dirty="0" err="1" smtClean="0">
                <a:solidFill>
                  <a:srgbClr val="C00000"/>
                </a:solidFill>
                <a:latin typeface="Arial Narrow" panose="020B0606020202030204" pitchFamily="34" charset="0"/>
              </a:rPr>
              <a:t>osts</a:t>
            </a:r>
            <a:r>
              <a:rPr lang="tr-TR" sz="18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+ </a:t>
            </a:r>
            <a:r>
              <a:rPr lang="tr-TR" sz="1800" dirty="0" err="1">
                <a:solidFill>
                  <a:srgbClr val="0000CC"/>
                </a:solidFill>
                <a:latin typeface="Arial Narrow" panose="020B0606020202030204" pitchFamily="34" charset="0"/>
              </a:rPr>
              <a:t>Variable</a:t>
            </a:r>
            <a:r>
              <a:rPr lang="tr-TR" sz="1800" dirty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CC"/>
                </a:solidFill>
                <a:latin typeface="Arial Narrow" panose="020B0606020202030204" pitchFamily="34" charset="0"/>
              </a:rPr>
              <a:t>C</a:t>
            </a:r>
            <a:r>
              <a:rPr lang="tr-TR" sz="18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osts</a:t>
            </a:r>
            <a:endParaRPr lang="tr-TR" sz="1800" dirty="0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pPr marL="0" lvl="0" indent="0"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Semi-</a:t>
            </a:r>
            <a:r>
              <a:rPr lang="tr-TR" sz="1800" dirty="0" err="1" smtClean="0">
                <a:latin typeface="Arial Narrow" panose="020B0606020202030204" pitchFamily="34" charset="0"/>
              </a:rPr>
              <a:t>fixed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(semi-</a:t>
            </a:r>
            <a:r>
              <a:rPr lang="tr-TR" sz="1800" dirty="0" err="1">
                <a:latin typeface="Arial Narrow" panose="020B0606020202030204" pitchFamily="34" charset="0"/>
              </a:rPr>
              <a:t>variable</a:t>
            </a:r>
            <a:r>
              <a:rPr lang="tr-TR" sz="1800" dirty="0">
                <a:latin typeface="Arial Narrow" panose="020B0606020202030204" pitchFamily="34" charset="0"/>
              </a:rPr>
              <a:t>)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are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a </a:t>
            </a:r>
            <a:r>
              <a:rPr lang="tr-TR" sz="1800" dirty="0" err="1">
                <a:latin typeface="Arial Narrow" panose="020B0606020202030204" pitchFamily="34" charset="0"/>
              </a:rPr>
              <a:t>mixture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two</a:t>
            </a:r>
            <a:r>
              <a:rPr lang="tr-TR" sz="1800" dirty="0" smtClean="0">
                <a:latin typeface="Arial Narrow" panose="020B0606020202030204" pitchFamily="34" charset="0"/>
              </a:rPr>
              <a:t> (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example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electricity</a:t>
            </a:r>
            <a:r>
              <a:rPr lang="tr-TR" sz="1800" dirty="0">
                <a:latin typeface="Arial Narrow" panose="020B0606020202030204" pitchFamily="34" charset="0"/>
              </a:rPr>
              <a:t>).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66" y="116633"/>
            <a:ext cx="4167641" cy="3312368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966" y="3467797"/>
            <a:ext cx="4162349" cy="3302419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6276" y="4005063"/>
            <a:ext cx="3274196" cy="1521709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6276" y="5526773"/>
            <a:ext cx="3274196" cy="581579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5598" y="3789040"/>
            <a:ext cx="1103472" cy="774259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6336" y="4741818"/>
            <a:ext cx="1072989" cy="304826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952" y="5649973"/>
            <a:ext cx="896190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3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, Volume, Profit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Break-</a:t>
            </a:r>
            <a:r>
              <a:rPr lang="tr-TR" sz="2800" dirty="0" err="1" smtClean="0">
                <a:latin typeface="Arial Narrow" pitchFamily="34" charset="0"/>
              </a:rPr>
              <a:t>Even</a:t>
            </a:r>
            <a:r>
              <a:rPr lang="tr-TR" sz="2800" dirty="0" smtClean="0">
                <a:latin typeface="Arial Narrow" pitchFamily="34" charset="0"/>
              </a:rPr>
              <a:t> Analysis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break-</a:t>
            </a:r>
            <a:r>
              <a:rPr lang="tr-TR" sz="1800" dirty="0" err="1">
                <a:latin typeface="Arial Narrow" panose="020B0606020202030204" pitchFamily="34" charset="0"/>
              </a:rPr>
              <a:t>even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point</a:t>
            </a:r>
            <a:r>
              <a:rPr lang="tr-TR" sz="1800" dirty="0">
                <a:latin typeface="Arial Narrow" panose="020B0606020202030204" pitchFamily="34" charset="0"/>
              </a:rPr>
              <a:t> (</a:t>
            </a:r>
            <a:r>
              <a:rPr lang="tr-TR" sz="1800" dirty="0" err="1">
                <a:latin typeface="Arial Narrow" panose="020B0606020202030204" pitchFamily="34" charset="0"/>
              </a:rPr>
              <a:t>BEP</a:t>
            </a:r>
            <a:r>
              <a:rPr lang="tr-TR" sz="1800" dirty="0">
                <a:latin typeface="Arial Narrow" panose="020B0606020202030204" pitchFamily="34" charset="0"/>
              </a:rPr>
              <a:t>) is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level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 (in </a:t>
            </a:r>
            <a:r>
              <a:rPr lang="tr-TR" sz="1800" dirty="0" err="1">
                <a:latin typeface="Arial Narrow" panose="020B0606020202030204" pitchFamily="34" charset="0"/>
              </a:rPr>
              <a:t>units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output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sales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revenue</a:t>
            </a:r>
            <a:r>
              <a:rPr lang="tr-TR" sz="1800" dirty="0" smtClean="0">
                <a:latin typeface="Arial Narrow" panose="020B0606020202030204" pitchFamily="34" charset="0"/>
              </a:rPr>
              <a:t>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at </a:t>
            </a:r>
            <a:r>
              <a:rPr lang="tr-TR" sz="1800" dirty="0" err="1">
                <a:latin typeface="Arial Narrow" panose="020B0606020202030204" pitchFamily="34" charset="0"/>
              </a:rPr>
              <a:t>which</a:t>
            </a:r>
            <a:r>
              <a:rPr lang="tr-TR" sz="1800" dirty="0">
                <a:latin typeface="Arial Narrow" panose="020B0606020202030204" pitchFamily="34" charset="0"/>
              </a:rPr>
              <a:t> total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(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+</a:t>
            </a:r>
            <a:r>
              <a:rPr lang="tr-TR" sz="1800" dirty="0" err="1">
                <a:latin typeface="Arial Narrow" panose="020B0606020202030204" pitchFamily="34" charset="0"/>
              </a:rPr>
              <a:t>variable</a:t>
            </a:r>
            <a:r>
              <a:rPr lang="tr-TR" sz="1800" dirty="0">
                <a:latin typeface="Arial Narrow" panose="020B0606020202030204" pitchFamily="34" charset="0"/>
              </a:rPr>
              <a:t>) = total </a:t>
            </a:r>
            <a:r>
              <a:rPr lang="tr-TR" sz="1800" dirty="0" err="1">
                <a:latin typeface="Arial Narrow" panose="020B0606020202030204" pitchFamily="34" charset="0"/>
              </a:rPr>
              <a:t>sales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revenue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2171700" lvl="5" indent="0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At </a:t>
            </a:r>
            <a:r>
              <a:rPr lang="tr-TR" sz="1800" dirty="0" err="1">
                <a:latin typeface="Arial Narrow" panose="020B0606020202030204" pitchFamily="34" charset="0"/>
              </a:rPr>
              <a:t>BEP</a:t>
            </a:r>
            <a:r>
              <a:rPr lang="tr-TR" sz="1800" dirty="0">
                <a:latin typeface="Arial Narrow" panose="020B0606020202030204" pitchFamily="34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(</a:t>
            </a:r>
            <a:r>
              <a:rPr lang="tr-TR" sz="1800" dirty="0" err="1">
                <a:latin typeface="Arial Narrow" panose="020B0606020202030204" pitchFamily="34" charset="0"/>
              </a:rPr>
              <a:t>Price</a:t>
            </a:r>
            <a:r>
              <a:rPr lang="tr-TR" sz="1800" dirty="0">
                <a:latin typeface="Arial Narrow" panose="020B0606020202030204" pitchFamily="34" charset="0"/>
              </a:rPr>
              <a:t> - </a:t>
            </a:r>
            <a:r>
              <a:rPr lang="tr-TR" sz="1800" dirty="0" err="1">
                <a:latin typeface="Arial Narrow" panose="020B0606020202030204" pitchFamily="34" charset="0"/>
              </a:rPr>
              <a:t>Unit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Variable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) is </a:t>
            </a:r>
            <a:r>
              <a:rPr lang="tr-TR" sz="1800" dirty="0" err="1">
                <a:latin typeface="Arial Narrow" panose="020B0606020202030204" pitchFamily="34" charset="0"/>
              </a:rPr>
              <a:t>called</a:t>
            </a:r>
            <a:r>
              <a:rPr lang="tr-TR" sz="1800" dirty="0">
                <a:latin typeface="Arial Narrow" panose="020B0606020202030204" pitchFamily="34" charset="0"/>
              </a:rPr>
              <a:t> "</a:t>
            </a:r>
            <a:r>
              <a:rPr lang="tr-TR" sz="1800" dirty="0" err="1">
                <a:latin typeface="Arial Narrow" panose="020B0606020202030204" pitchFamily="34" charset="0"/>
              </a:rPr>
              <a:t>contribution</a:t>
            </a:r>
            <a:r>
              <a:rPr lang="tr-TR" sz="1800" dirty="0" smtClean="0">
                <a:latin typeface="Arial Narrow" panose="020B0606020202030204" pitchFamily="34" charset="0"/>
              </a:rPr>
              <a:t>",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because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it </a:t>
            </a:r>
            <a:r>
              <a:rPr lang="tr-TR" sz="1800" dirty="0" err="1">
                <a:latin typeface="Arial Narrow" panose="020B0606020202030204" pitchFamily="34" charset="0"/>
              </a:rPr>
              <a:t>contributes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meeting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if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there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any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excess</a:t>
            </a:r>
            <a:r>
              <a:rPr lang="tr-TR" sz="1800" dirty="0">
                <a:latin typeface="Arial Narrow" panose="020B0606020202030204" pitchFamily="34" charset="0"/>
              </a:rPr>
              <a:t>, it </a:t>
            </a:r>
            <a:r>
              <a:rPr lang="tr-TR" sz="1800" dirty="0" err="1">
                <a:latin typeface="Arial Narrow" panose="020B0606020202030204" pitchFamily="34" charset="0"/>
              </a:rPr>
              <a:t>also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contributes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profit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Knowledge of </a:t>
            </a:r>
            <a:r>
              <a:rPr lang="tr-TR" sz="1800" dirty="0" err="1">
                <a:latin typeface="Arial Narrow" panose="020B0606020202030204" pitchFamily="34" charset="0"/>
              </a:rPr>
              <a:t>BEP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particular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 can be </a:t>
            </a:r>
            <a:r>
              <a:rPr lang="tr-TR" sz="1800" dirty="0" err="1">
                <a:latin typeface="Arial Narrow" panose="020B0606020202030204" pitchFamily="34" charset="0"/>
              </a:rPr>
              <a:t>used</a:t>
            </a:r>
            <a:r>
              <a:rPr lang="tr-TR" sz="1800" dirty="0">
                <a:latin typeface="Arial Narrow" panose="020B0606020202030204" pitchFamily="34" charset="0"/>
              </a:rPr>
              <a:t> as a </a:t>
            </a:r>
            <a:r>
              <a:rPr lang="tr-TR" sz="1800" dirty="0" err="1">
                <a:latin typeface="Arial Narrow" panose="020B0606020202030204" pitchFamily="34" charset="0"/>
              </a:rPr>
              <a:t>basis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risk </a:t>
            </a:r>
            <a:r>
              <a:rPr lang="tr-TR" sz="1800" dirty="0" err="1" smtClean="0">
                <a:latin typeface="Arial Narrow" panose="020B0606020202030204" pitchFamily="34" charset="0"/>
              </a:rPr>
              <a:t>assessment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Planning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operate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only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just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above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Break-</a:t>
            </a:r>
            <a:r>
              <a:rPr lang="tr-TR" sz="1800" dirty="0" err="1">
                <a:latin typeface="Arial Narrow" panose="020B0606020202030204" pitchFamily="34" charset="0"/>
              </a:rPr>
              <a:t>Even</a:t>
            </a:r>
            <a:r>
              <a:rPr lang="tr-TR" sz="1800" dirty="0">
                <a:latin typeface="Arial Narrow" panose="020B0606020202030204" pitchFamily="34" charset="0"/>
              </a:rPr>
              <a:t> Volume of </a:t>
            </a:r>
            <a:r>
              <a:rPr lang="tr-TR" sz="1800" dirty="0" smtClean="0">
                <a:latin typeface="Arial Narrow" panose="020B0606020202030204" pitchFamily="34" charset="0"/>
              </a:rPr>
              <a:t>Activity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may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indicate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it is a </a:t>
            </a:r>
            <a:r>
              <a:rPr lang="tr-TR" sz="1800" dirty="0" err="1">
                <a:latin typeface="Arial Narrow" panose="020B0606020202030204" pitchFamily="34" charset="0"/>
              </a:rPr>
              <a:t>risky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venture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since </a:t>
            </a:r>
            <a:r>
              <a:rPr lang="tr-TR" sz="1800" dirty="0" err="1">
                <a:latin typeface="Arial Narrow" panose="020B0606020202030204" pitchFamily="34" charset="0"/>
              </a:rPr>
              <a:t>only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small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fall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from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planned</a:t>
            </a:r>
            <a:r>
              <a:rPr lang="tr-TR" sz="1800" dirty="0">
                <a:latin typeface="Arial Narrow" panose="020B0606020202030204" pitchFamily="34" charset="0"/>
              </a:rPr>
              <a:t> / </a:t>
            </a:r>
            <a:r>
              <a:rPr lang="tr-TR" sz="1800" dirty="0" err="1">
                <a:latin typeface="Arial Narrow" panose="020B0606020202030204" pitchFamily="34" charset="0"/>
              </a:rPr>
              <a:t>expected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volume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could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lead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loss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636912"/>
            <a:ext cx="7632848" cy="118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19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9752" y="274638"/>
            <a:ext cx="4752528" cy="1143000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000" dirty="0">
                <a:latin typeface="Arial Narrow" pitchFamily="34" charset="0"/>
              </a:rPr>
              <a:t>Management Accounting – </a:t>
            </a:r>
            <a:r>
              <a:rPr lang="tr-TR" sz="2000" dirty="0" err="1">
                <a:latin typeface="Arial Narrow" pitchFamily="34" charset="0"/>
              </a:rPr>
              <a:t>Cost</a:t>
            </a:r>
            <a:r>
              <a:rPr lang="tr-TR" sz="2000" dirty="0">
                <a:latin typeface="Arial Narrow" pitchFamily="34" charset="0"/>
              </a:rPr>
              <a:t>, Volume, Profit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Break-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Even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Analysis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break-</a:t>
            </a:r>
            <a:r>
              <a:rPr lang="tr-TR" sz="1800" dirty="0" err="1">
                <a:latin typeface="Arial Narrow" panose="020B0606020202030204" pitchFamily="34" charset="0"/>
              </a:rPr>
              <a:t>even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point</a:t>
            </a:r>
            <a:r>
              <a:rPr lang="tr-TR" sz="1800" dirty="0">
                <a:latin typeface="Arial Narrow" panose="020B0606020202030204" pitchFamily="34" charset="0"/>
              </a:rPr>
              <a:t> (BEP) </a:t>
            </a:r>
            <a:r>
              <a:rPr lang="tr-TR" sz="1800" dirty="0" smtClean="0">
                <a:latin typeface="Arial Narrow" panose="020B0606020202030204" pitchFamily="34" charset="0"/>
              </a:rPr>
              <a:t>is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level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 (in </a:t>
            </a:r>
            <a:r>
              <a:rPr lang="tr-TR" sz="1800" dirty="0" err="1">
                <a:latin typeface="Arial Narrow" panose="020B0606020202030204" pitchFamily="34" charset="0"/>
              </a:rPr>
              <a:t>units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output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sales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revenue</a:t>
            </a:r>
            <a:r>
              <a:rPr lang="tr-TR" sz="1800" dirty="0">
                <a:latin typeface="Arial Narrow" panose="020B0606020202030204" pitchFamily="34" charset="0"/>
              </a:rPr>
              <a:t>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at </a:t>
            </a:r>
            <a:r>
              <a:rPr lang="tr-TR" sz="1800" dirty="0" err="1">
                <a:latin typeface="Arial Narrow" panose="020B0606020202030204" pitchFamily="34" charset="0"/>
              </a:rPr>
              <a:t>which</a:t>
            </a:r>
            <a:r>
              <a:rPr lang="tr-TR" sz="1800" dirty="0">
                <a:latin typeface="Arial Narrow" panose="020B0606020202030204" pitchFamily="34" charset="0"/>
              </a:rPr>
              <a:t> total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(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+</a:t>
            </a:r>
            <a:r>
              <a:rPr lang="tr-TR" sz="1800" dirty="0" err="1">
                <a:latin typeface="Arial Narrow" panose="020B0606020202030204" pitchFamily="34" charset="0"/>
              </a:rPr>
              <a:t>variable</a:t>
            </a:r>
            <a:r>
              <a:rPr lang="tr-TR" sz="1800" dirty="0">
                <a:latin typeface="Arial Narrow" panose="020B0606020202030204" pitchFamily="34" charset="0"/>
              </a:rPr>
              <a:t>) = total </a:t>
            </a:r>
            <a:r>
              <a:rPr lang="tr-TR" sz="1800" dirty="0" err="1">
                <a:latin typeface="Arial Narrow" panose="020B0606020202030204" pitchFamily="34" charset="0"/>
              </a:rPr>
              <a:t>sales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revenue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685" y="2420888"/>
            <a:ext cx="5424603" cy="4068453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993" y="2688820"/>
            <a:ext cx="1280271" cy="1036410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231" y="3284984"/>
            <a:ext cx="664522" cy="560881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0521" y="3734987"/>
            <a:ext cx="1012024" cy="640135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3928" y="3866479"/>
            <a:ext cx="1121761" cy="627942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1062" y="4424311"/>
            <a:ext cx="134124" cy="140220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6335" y="4581128"/>
            <a:ext cx="163577" cy="1370930"/>
          </a:xfrm>
          <a:prstGeom prst="rect">
            <a:avLst/>
          </a:prstGeom>
        </p:spPr>
      </p:pic>
      <p:pic>
        <p:nvPicPr>
          <p:cNvPr id="15" name="Resim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3848" y="4683444"/>
            <a:ext cx="640135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8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, Volume, Profit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Break-</a:t>
            </a:r>
            <a:r>
              <a:rPr lang="tr-TR" sz="2800" dirty="0" err="1" smtClean="0">
                <a:latin typeface="Arial Narrow" pitchFamily="34" charset="0"/>
              </a:rPr>
              <a:t>Even</a:t>
            </a:r>
            <a:r>
              <a:rPr lang="tr-TR" sz="2800" dirty="0" smtClean="0">
                <a:latin typeface="Arial Narrow" pitchFamily="34" charset="0"/>
              </a:rPr>
              <a:t> Analysis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Cottage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Industries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Ltd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makes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baskets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operating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workshop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month</a:t>
            </a:r>
            <a:r>
              <a:rPr lang="tr-TR" sz="1800" dirty="0">
                <a:latin typeface="Arial Narrow" panose="020B0606020202030204" pitchFamily="34" charset="0"/>
              </a:rPr>
              <a:t> total $</a:t>
            </a:r>
            <a:r>
              <a:rPr lang="tr-TR" sz="1800" dirty="0" smtClean="0">
                <a:latin typeface="Arial Narrow" panose="020B0606020202030204" pitchFamily="34" charset="0"/>
              </a:rPr>
              <a:t>500.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Each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basket </a:t>
            </a:r>
            <a:r>
              <a:rPr lang="tr-TR" sz="1800" dirty="0" err="1">
                <a:latin typeface="Arial Narrow" panose="020B0606020202030204" pitchFamily="34" charset="0"/>
              </a:rPr>
              <a:t>requires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materials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cost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$</a:t>
            </a:r>
            <a:r>
              <a:rPr lang="tr-TR" sz="1800" dirty="0" smtClean="0">
                <a:latin typeface="Arial Narrow" panose="020B0606020202030204" pitchFamily="34" charset="0"/>
              </a:rPr>
              <a:t>2.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Each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basket </a:t>
            </a:r>
            <a:r>
              <a:rPr lang="tr-TR" sz="1800" dirty="0" err="1">
                <a:latin typeface="Arial Narrow" panose="020B0606020202030204" pitchFamily="34" charset="0"/>
              </a:rPr>
              <a:t>takes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one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hour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make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business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pays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basket </a:t>
            </a:r>
            <a:r>
              <a:rPr lang="tr-TR" sz="1800" dirty="0" err="1">
                <a:latin typeface="Arial Narrow" panose="020B0606020202030204" pitchFamily="34" charset="0"/>
              </a:rPr>
              <a:t>makers</a:t>
            </a:r>
            <a:r>
              <a:rPr lang="tr-TR" sz="1800" dirty="0">
                <a:latin typeface="Arial Narrow" panose="020B0606020202030204" pitchFamily="34" charset="0"/>
              </a:rPr>
              <a:t> $10 an </a:t>
            </a:r>
            <a:r>
              <a:rPr lang="tr-TR" sz="1800" dirty="0" err="1" smtClean="0">
                <a:latin typeface="Arial Narrow" panose="020B0606020202030204" pitchFamily="34" charset="0"/>
              </a:rPr>
              <a:t>hour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basket </a:t>
            </a:r>
            <a:r>
              <a:rPr lang="tr-TR" sz="1800" dirty="0" err="1">
                <a:latin typeface="Arial Narrow" panose="020B0606020202030204" pitchFamily="34" charset="0"/>
              </a:rPr>
              <a:t>makers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all</a:t>
            </a:r>
            <a:r>
              <a:rPr lang="tr-TR" sz="1800" dirty="0">
                <a:latin typeface="Arial Narrow" panose="020B0606020202030204" pitchFamily="34" charset="0"/>
              </a:rPr>
              <a:t> on </a:t>
            </a:r>
            <a:r>
              <a:rPr lang="tr-TR" sz="1800" dirty="0" err="1">
                <a:latin typeface="Arial Narrow" panose="020B0606020202030204" pitchFamily="34" charset="0"/>
              </a:rPr>
              <a:t>contracts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such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that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if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they</a:t>
            </a:r>
            <a:r>
              <a:rPr lang="tr-TR" sz="1800" dirty="0">
                <a:latin typeface="Arial Narrow" panose="020B0606020202030204" pitchFamily="34" charset="0"/>
              </a:rPr>
              <a:t> do not </a:t>
            </a:r>
            <a:r>
              <a:rPr lang="tr-TR" sz="1800" dirty="0" err="1">
                <a:latin typeface="Arial Narrow" panose="020B0606020202030204" pitchFamily="34" charset="0"/>
              </a:rPr>
              <a:t>work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reason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they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not </a:t>
            </a:r>
            <a:r>
              <a:rPr lang="tr-TR" sz="1800" dirty="0" err="1" smtClean="0">
                <a:latin typeface="Arial Narrow" panose="020B0606020202030204" pitchFamily="34" charset="0"/>
              </a:rPr>
              <a:t>paid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baskets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sold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wholesaler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$14 </a:t>
            </a:r>
            <a:r>
              <a:rPr lang="tr-TR" sz="1800" dirty="0" err="1" smtClean="0">
                <a:latin typeface="Arial Narrow" panose="020B0606020202030204" pitchFamily="34" charset="0"/>
              </a:rPr>
              <a:t>each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What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is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Break-</a:t>
            </a:r>
            <a:r>
              <a:rPr lang="tr-TR" sz="1800" dirty="0" err="1">
                <a:latin typeface="Arial Narrow" panose="020B0606020202030204" pitchFamily="34" charset="0"/>
              </a:rPr>
              <a:t>Even</a:t>
            </a:r>
            <a:r>
              <a:rPr lang="tr-TR" sz="1800" dirty="0">
                <a:latin typeface="Arial Narrow" panose="020B0606020202030204" pitchFamily="34" charset="0"/>
              </a:rPr>
              <a:t> Point (</a:t>
            </a:r>
            <a:r>
              <a:rPr lang="tr-TR" sz="1800" dirty="0" err="1">
                <a:latin typeface="Arial Narrow" panose="020B0606020202030204" pitchFamily="34" charset="0"/>
              </a:rPr>
              <a:t>BEP</a:t>
            </a:r>
            <a:r>
              <a:rPr lang="tr-TR" sz="1800" dirty="0">
                <a:latin typeface="Arial Narrow" panose="020B0606020202030204" pitchFamily="34" charset="0"/>
              </a:rPr>
              <a:t>)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basket </a:t>
            </a:r>
            <a:r>
              <a:rPr lang="tr-TR" sz="1800" dirty="0" err="1">
                <a:latin typeface="Arial Narrow" panose="020B0606020202030204" pitchFamily="34" charset="0"/>
              </a:rPr>
              <a:t>making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business</a:t>
            </a:r>
            <a:r>
              <a:rPr lang="tr-TR" sz="1800" dirty="0" smtClean="0">
                <a:latin typeface="Arial Narrow" panose="020B0606020202030204" pitchFamily="34" charset="0"/>
              </a:rPr>
              <a:t>?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725144"/>
            <a:ext cx="7142948" cy="91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67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9752" y="274638"/>
            <a:ext cx="4752528" cy="1143000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>
                <a:latin typeface="Arial Narrow" pitchFamily="34" charset="0"/>
              </a:rPr>
              <a:t>NTE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000" dirty="0">
                <a:latin typeface="Arial Narrow" pitchFamily="34" charset="0"/>
              </a:rPr>
              <a:t>Management Accounting – </a:t>
            </a:r>
            <a:r>
              <a:rPr lang="tr-TR" sz="2000" dirty="0" err="1">
                <a:latin typeface="Arial Narrow" pitchFamily="34" charset="0"/>
              </a:rPr>
              <a:t>Cost</a:t>
            </a:r>
            <a:r>
              <a:rPr lang="tr-TR" sz="2000" dirty="0">
                <a:latin typeface="Arial Narrow" pitchFamily="34" charset="0"/>
              </a:rPr>
              <a:t>, Volume, Profit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Break-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Even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Analysis: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Margin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of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Safety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Margin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Safety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=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excess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planned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volume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over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BEP /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planned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volume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activity</a:t>
            </a:r>
            <a:endParaRPr lang="tr-TR" sz="18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Margin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of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Safety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= (600-420) / 600 = 30%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685" y="2420888"/>
            <a:ext cx="5424603" cy="4068453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993" y="2688820"/>
            <a:ext cx="1280271" cy="1036410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231" y="3284984"/>
            <a:ext cx="664522" cy="560881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0521" y="3734987"/>
            <a:ext cx="1012024" cy="640135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3928" y="3866479"/>
            <a:ext cx="1121761" cy="627942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flipV="1">
            <a:off x="4426547" y="4337899"/>
            <a:ext cx="299433" cy="313043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1081" y="4636037"/>
            <a:ext cx="221838" cy="1157905"/>
          </a:xfrm>
          <a:prstGeom prst="rect">
            <a:avLst/>
          </a:prstGeom>
        </p:spPr>
      </p:pic>
      <p:pic>
        <p:nvPicPr>
          <p:cNvPr id="15" name="Resim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3848" y="4683444"/>
            <a:ext cx="640135" cy="548688"/>
          </a:xfrm>
          <a:prstGeom prst="rect">
            <a:avLst/>
          </a:prstGeom>
        </p:spPr>
      </p:pic>
      <p:sp>
        <p:nvSpPr>
          <p:cNvPr id="16" name="Yukarı Ok 15"/>
          <p:cNvSpPr/>
          <p:nvPr/>
        </p:nvSpPr>
        <p:spPr>
          <a:xfrm>
            <a:off x="5228599" y="3993162"/>
            <a:ext cx="245036" cy="1782848"/>
          </a:xfrm>
          <a:prstGeom prst="up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9067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, Volume, Profit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Break-</a:t>
            </a:r>
            <a:r>
              <a:rPr lang="tr-TR" sz="2800" dirty="0" err="1" smtClean="0">
                <a:latin typeface="Arial Narrow" pitchFamily="34" charset="0"/>
              </a:rPr>
              <a:t>Even</a:t>
            </a:r>
            <a:r>
              <a:rPr lang="tr-TR" sz="2800" dirty="0" smtClean="0">
                <a:latin typeface="Arial Narrow" pitchFamily="34" charset="0"/>
              </a:rPr>
              <a:t> Analysis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Profit-</a:t>
            </a:r>
            <a:r>
              <a:rPr lang="tr-TR" sz="1800" dirty="0" err="1" smtClean="0">
                <a:latin typeface="Arial Narrow" panose="020B0606020202030204" pitchFamily="34" charset="0"/>
              </a:rPr>
              <a:t>volume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(</a:t>
            </a:r>
            <a:r>
              <a:rPr lang="tr-TR" sz="1800" dirty="0" err="1">
                <a:latin typeface="Arial Narrow" panose="020B0606020202030204" pitchFamily="34" charset="0"/>
              </a:rPr>
              <a:t>PV</a:t>
            </a:r>
            <a:r>
              <a:rPr lang="tr-TR" sz="1800" dirty="0">
                <a:latin typeface="Arial Narrow" panose="020B0606020202030204" pitchFamily="34" charset="0"/>
              </a:rPr>
              <a:t>) </a:t>
            </a:r>
            <a:r>
              <a:rPr lang="tr-TR" sz="1800" dirty="0" err="1">
                <a:latin typeface="Arial Narrow" panose="020B0606020202030204" pitchFamily="34" charset="0"/>
              </a:rPr>
              <a:t>chart</a:t>
            </a:r>
            <a:r>
              <a:rPr lang="tr-TR" sz="1800" dirty="0">
                <a:latin typeface="Arial Narrow" panose="020B0606020202030204" pitchFamily="34" charset="0"/>
              </a:rPr>
              <a:t> is an </a:t>
            </a:r>
            <a:r>
              <a:rPr lang="tr-TR" sz="1800" dirty="0" err="1">
                <a:latin typeface="Arial Narrow" panose="020B0606020202030204" pitchFamily="34" charset="0"/>
              </a:rPr>
              <a:t>alternative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approach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BE </a:t>
            </a:r>
            <a:r>
              <a:rPr lang="tr-TR" sz="1800" dirty="0" err="1">
                <a:latin typeface="Arial Narrow" panose="020B0606020202030204" pitchFamily="34" charset="0"/>
              </a:rPr>
              <a:t>chart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211" y="2203021"/>
            <a:ext cx="5067577" cy="4466339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4365104"/>
            <a:ext cx="117222" cy="144016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6914" y="4545641"/>
            <a:ext cx="335309" cy="1079086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4309979"/>
            <a:ext cx="216024" cy="235662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9952" y="3765410"/>
            <a:ext cx="1121761" cy="627942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2160" y="3744072"/>
            <a:ext cx="585267" cy="335309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3072" y="4811186"/>
            <a:ext cx="548688" cy="33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3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, Volume, Profit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Break-</a:t>
            </a:r>
            <a:r>
              <a:rPr lang="tr-TR" sz="2800" dirty="0" err="1" smtClean="0">
                <a:latin typeface="Arial Narrow" pitchFamily="34" charset="0"/>
              </a:rPr>
              <a:t>Even</a:t>
            </a:r>
            <a:r>
              <a:rPr lang="tr-TR" sz="2800" dirty="0" smtClean="0">
                <a:latin typeface="Arial Narrow" pitchFamily="34" charset="0"/>
              </a:rPr>
              <a:t> Analysis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Operating </a:t>
            </a:r>
            <a:r>
              <a:rPr lang="tr-TR" sz="1800" dirty="0" err="1">
                <a:latin typeface="Arial Narrow" panose="020B0606020202030204" pitchFamily="34" charset="0"/>
              </a:rPr>
              <a:t>gearing</a:t>
            </a:r>
            <a:r>
              <a:rPr lang="tr-TR" sz="1800" dirty="0">
                <a:latin typeface="Arial Narrow" panose="020B0606020202030204" pitchFamily="34" charset="0"/>
              </a:rPr>
              <a:t> =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extent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which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total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some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rather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variable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An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with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relatively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high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compared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with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variable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costs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is </a:t>
            </a:r>
            <a:r>
              <a:rPr lang="tr-TR" sz="1800" dirty="0" err="1">
                <a:latin typeface="Arial Narrow" panose="020B0606020202030204" pitchFamily="34" charset="0"/>
              </a:rPr>
              <a:t>said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have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higher</a:t>
            </a:r>
            <a:r>
              <a:rPr lang="tr-TR" sz="18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CC"/>
                </a:solidFill>
                <a:latin typeface="Arial Narrow" panose="020B0606020202030204" pitchFamily="34" charset="0"/>
              </a:rPr>
              <a:t>operating</a:t>
            </a:r>
            <a:r>
              <a:rPr lang="tr-TR" sz="1800" dirty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gearing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05" y="3356992"/>
            <a:ext cx="4339587" cy="3254690"/>
          </a:xfrm>
          <a:prstGeom prst="rect">
            <a:avLst/>
          </a:prstGeom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3356992"/>
            <a:ext cx="4339587" cy="325469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4437112"/>
            <a:ext cx="1121761" cy="627942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1760" y="4873073"/>
            <a:ext cx="134124" cy="14022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8264" y="4873073"/>
            <a:ext cx="134124" cy="140220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920" y="4356395"/>
            <a:ext cx="1121761" cy="627942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0577" y="3400702"/>
            <a:ext cx="1280271" cy="1036410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0791" y="3386268"/>
            <a:ext cx="1280271" cy="103641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1719" y="3917368"/>
            <a:ext cx="664522" cy="560881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1228" y="4344202"/>
            <a:ext cx="1012024" cy="640135"/>
          </a:xfrm>
          <a:prstGeom prst="rect">
            <a:avLst/>
          </a:prstGeom>
        </p:spPr>
      </p:pic>
      <p:pic>
        <p:nvPicPr>
          <p:cNvPr id="16" name="Resim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8924" y="4717971"/>
            <a:ext cx="993734" cy="457240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0482" y="4151382"/>
            <a:ext cx="670618" cy="542591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568" y="5445224"/>
            <a:ext cx="640135" cy="548688"/>
          </a:xfrm>
          <a:prstGeom prst="rect">
            <a:avLst/>
          </a:prstGeom>
        </p:spPr>
      </p:pic>
      <p:sp>
        <p:nvSpPr>
          <p:cNvPr id="19" name="Metin kutusu 8"/>
          <p:cNvSpPr txBox="1"/>
          <p:nvPr/>
        </p:nvSpPr>
        <p:spPr>
          <a:xfrm rot="20174335">
            <a:off x="5335209" y="5296920"/>
            <a:ext cx="540148" cy="327718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600">
                <a:solidFill>
                  <a:srgbClr val="FF00FF"/>
                </a:solidFill>
                <a:latin typeface="Arial Narrow" panose="020B0606020202030204" pitchFamily="34" charset="0"/>
              </a:rPr>
              <a:t>Loss</a:t>
            </a:r>
          </a:p>
        </p:txBody>
      </p:sp>
      <p:sp>
        <p:nvSpPr>
          <p:cNvPr id="21" name="Aşağı Ok 20"/>
          <p:cNvSpPr/>
          <p:nvPr/>
        </p:nvSpPr>
        <p:spPr>
          <a:xfrm>
            <a:off x="2411760" y="5011713"/>
            <a:ext cx="134124" cy="100957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Aşağı Ok 21"/>
          <p:cNvSpPr/>
          <p:nvPr/>
        </p:nvSpPr>
        <p:spPr>
          <a:xfrm>
            <a:off x="6948264" y="5025183"/>
            <a:ext cx="134124" cy="100957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Metin kutusu 22"/>
          <p:cNvSpPr txBox="1"/>
          <p:nvPr/>
        </p:nvSpPr>
        <p:spPr>
          <a:xfrm>
            <a:off x="5292079" y="3356992"/>
            <a:ext cx="199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 err="1">
                <a:solidFill>
                  <a:srgbClr val="0000CC"/>
                </a:solidFill>
                <a:latin typeface="Arial Narrow" panose="020B0606020202030204" pitchFamily="34" charset="0"/>
              </a:rPr>
              <a:t>h</a:t>
            </a:r>
            <a:r>
              <a:rPr lang="tr-TR" sz="16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igher</a:t>
            </a:r>
            <a:r>
              <a:rPr lang="tr-TR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operating</a:t>
            </a:r>
            <a:r>
              <a:rPr lang="tr-TR" sz="1600" dirty="0" smtClean="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0000CC"/>
                </a:solidFill>
                <a:latin typeface="Arial Narrow" panose="020B0606020202030204" pitchFamily="34" charset="0"/>
              </a:rPr>
              <a:t>gearing</a:t>
            </a:r>
            <a:endParaRPr lang="tr-TR" sz="1600" dirty="0">
              <a:solidFill>
                <a:srgbClr val="0000CC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32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, Volume, Profit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Break-</a:t>
            </a:r>
            <a:r>
              <a:rPr lang="tr-TR" sz="2800" dirty="0" err="1" smtClean="0">
                <a:latin typeface="Arial Narrow" pitchFamily="34" charset="0"/>
              </a:rPr>
              <a:t>Even</a:t>
            </a:r>
            <a:r>
              <a:rPr lang="tr-TR" sz="2800" dirty="0" smtClean="0">
                <a:latin typeface="Arial Narrow" pitchFamily="34" charset="0"/>
              </a:rPr>
              <a:t> Analysis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Operating </a:t>
            </a:r>
            <a:r>
              <a:rPr lang="tr-TR" sz="1800" dirty="0" err="1">
                <a:latin typeface="Arial Narrow" panose="020B0606020202030204" pitchFamily="34" charset="0"/>
              </a:rPr>
              <a:t>gearing</a:t>
            </a:r>
            <a:r>
              <a:rPr lang="tr-TR" sz="1800" dirty="0">
                <a:latin typeface="Arial Narrow" panose="020B0606020202030204" pitchFamily="34" charset="0"/>
              </a:rPr>
              <a:t> =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extent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which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total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some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rather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variable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indent="0" algn="ctr">
              <a:buNone/>
            </a:pP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Increasing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level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operating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gearing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tends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make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profits</a:t>
            </a:r>
            <a:endParaRPr lang="tr-TR" sz="18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indent="0" algn="ctr"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more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sensitive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changes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volume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</p:txBody>
      </p:sp>
      <p:pic>
        <p:nvPicPr>
          <p:cNvPr id="13" name="Resim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542" y="2662101"/>
            <a:ext cx="4182915" cy="4079267"/>
          </a:xfrm>
          <a:prstGeom prst="rect">
            <a:avLst/>
          </a:prstGeom>
        </p:spPr>
      </p:pic>
      <p:pic>
        <p:nvPicPr>
          <p:cNvPr id="15" name="Resim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2780928"/>
            <a:ext cx="1658256" cy="566977"/>
          </a:xfrm>
          <a:prstGeom prst="rect">
            <a:avLst/>
          </a:prstGeom>
        </p:spPr>
      </p:pic>
      <p:sp>
        <p:nvSpPr>
          <p:cNvPr id="24" name="Akış Çizelgesi: Bağlayıcı 23"/>
          <p:cNvSpPr/>
          <p:nvPr/>
        </p:nvSpPr>
        <p:spPr>
          <a:xfrm>
            <a:off x="4655691" y="4602563"/>
            <a:ext cx="120650" cy="13335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tr-TR" sz="1100"/>
          </a:p>
        </p:txBody>
      </p:sp>
      <p:sp>
        <p:nvSpPr>
          <p:cNvPr id="25" name="Metin kutusu 10"/>
          <p:cNvSpPr txBox="1"/>
          <p:nvPr/>
        </p:nvSpPr>
        <p:spPr>
          <a:xfrm>
            <a:off x="2627784" y="5877272"/>
            <a:ext cx="479618" cy="30777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400" b="1" dirty="0">
                <a:solidFill>
                  <a:srgbClr val="FF6600"/>
                </a:solidFill>
                <a:latin typeface="Arial Narrow" panose="020B0606020202030204" pitchFamily="34" charset="0"/>
              </a:rPr>
              <a:t>-700</a:t>
            </a:r>
          </a:p>
        </p:txBody>
      </p:sp>
      <p:sp>
        <p:nvSpPr>
          <p:cNvPr id="26" name="Oval 25"/>
          <p:cNvSpPr/>
          <p:nvPr/>
        </p:nvSpPr>
        <p:spPr>
          <a:xfrm>
            <a:off x="2411760" y="5300133"/>
            <a:ext cx="432048" cy="28803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tr-TR" sz="1100"/>
          </a:p>
        </p:txBody>
      </p:sp>
    </p:spTree>
    <p:extLst>
      <p:ext uri="{BB962C8B-B14F-4D97-AF65-F5344CB8AC3E}">
        <p14:creationId xmlns:p14="http://schemas.microsoft.com/office/powerpoint/2010/main" val="298077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, Volume, Profit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anose="020B0606020202030204" pitchFamily="34" charset="0"/>
              </a:rPr>
              <a:t>Weaknesses</a:t>
            </a:r>
            <a:r>
              <a:rPr lang="tr-TR" sz="2800" dirty="0">
                <a:latin typeface="Arial Narrow" panose="020B0606020202030204" pitchFamily="34" charset="0"/>
              </a:rPr>
              <a:t> of </a:t>
            </a:r>
            <a:r>
              <a:rPr lang="tr-TR" sz="2800" dirty="0" smtClean="0">
                <a:latin typeface="Arial Narrow" pitchFamily="34" charset="0"/>
              </a:rPr>
              <a:t>Break-</a:t>
            </a:r>
            <a:r>
              <a:rPr lang="tr-TR" sz="2800" dirty="0" err="1" smtClean="0">
                <a:latin typeface="Arial Narrow" pitchFamily="34" charset="0"/>
              </a:rPr>
              <a:t>Even</a:t>
            </a:r>
            <a:r>
              <a:rPr lang="tr-TR" sz="2800" dirty="0" smtClean="0">
                <a:latin typeface="Arial Narrow" pitchFamily="34" charset="0"/>
              </a:rPr>
              <a:t> Analysis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lvl="0"/>
            <a:endParaRPr lang="tr-TR" sz="1800" dirty="0" smtClean="0">
              <a:latin typeface="Arial Narrow" panose="020B0606020202030204" pitchFamily="34" charset="0"/>
            </a:endParaRPr>
          </a:p>
          <a:p>
            <a:pPr lvl="0"/>
            <a:r>
              <a:rPr lang="tr-TR" sz="1800" dirty="0" err="1" smtClean="0">
                <a:latin typeface="Arial Narrow" panose="020B0606020202030204" pitchFamily="34" charset="0"/>
              </a:rPr>
              <a:t>Non-linear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relationships</a:t>
            </a:r>
            <a:r>
              <a:rPr lang="tr-TR" sz="1800" dirty="0" smtClean="0">
                <a:latin typeface="Arial Narrow" panose="020B0606020202030204" pitchFamily="34" charset="0"/>
              </a:rPr>
              <a:t>:</a:t>
            </a:r>
          </a:p>
          <a:p>
            <a:pPr marL="400050" lvl="1" indent="0"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basic</a:t>
            </a:r>
            <a:r>
              <a:rPr lang="tr-TR" sz="1800" dirty="0">
                <a:latin typeface="Arial Narrow" panose="020B0606020202030204" pitchFamily="34" charset="0"/>
              </a:rPr>
              <a:t> Break-</a:t>
            </a:r>
            <a:r>
              <a:rPr lang="tr-TR" sz="1800" dirty="0" err="1">
                <a:latin typeface="Arial Narrow" panose="020B0606020202030204" pitchFamily="34" charset="0"/>
              </a:rPr>
              <a:t>Even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analysis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assumes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relationships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between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sales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revenues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variable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volume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linear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ones</a:t>
            </a:r>
            <a:r>
              <a:rPr lang="tr-TR" sz="1800" dirty="0">
                <a:latin typeface="Arial Narrow" panose="020B0606020202030204" pitchFamily="34" charset="0"/>
              </a:rPr>
              <a:t>; in </a:t>
            </a:r>
            <a:r>
              <a:rPr lang="tr-TR" sz="1800" dirty="0" err="1">
                <a:latin typeface="Arial Narrow" panose="020B0606020202030204" pitchFamily="34" charset="0"/>
              </a:rPr>
              <a:t>real</a:t>
            </a:r>
            <a:r>
              <a:rPr lang="tr-TR" sz="1800" dirty="0">
                <a:latin typeface="Arial Narrow" panose="020B0606020202030204" pitchFamily="34" charset="0"/>
              </a:rPr>
              <a:t> life, </a:t>
            </a:r>
            <a:r>
              <a:rPr lang="tr-TR" sz="1800" dirty="0" err="1">
                <a:latin typeface="Arial Narrow" panose="020B0606020202030204" pitchFamily="34" charset="0"/>
              </a:rPr>
              <a:t>this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unlikely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be </a:t>
            </a:r>
            <a:r>
              <a:rPr lang="tr-TR" sz="1800" dirty="0" err="1">
                <a:latin typeface="Arial Narrow" panose="020B0606020202030204" pitchFamily="34" charset="0"/>
              </a:rPr>
              <a:t>so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lvl="0"/>
            <a:endParaRPr lang="tr-TR" sz="1800" dirty="0">
              <a:latin typeface="Arial Narrow" panose="020B0606020202030204" pitchFamily="34" charset="0"/>
            </a:endParaRPr>
          </a:p>
          <a:p>
            <a:pPr lvl="0"/>
            <a:r>
              <a:rPr lang="tr-TR" sz="1800" dirty="0" err="1">
                <a:latin typeface="Arial Narrow" panose="020B0606020202030204" pitchFamily="34" charset="0"/>
              </a:rPr>
              <a:t>Stepped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costs</a:t>
            </a:r>
            <a:r>
              <a:rPr lang="tr-TR" sz="1800" dirty="0" smtClean="0">
                <a:latin typeface="Arial Narrow" panose="020B0606020202030204" pitchFamily="34" charset="0"/>
              </a:rPr>
              <a:t>:</a:t>
            </a:r>
          </a:p>
          <a:p>
            <a:pPr marL="400050" lvl="1" indent="0"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Most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such</a:t>
            </a:r>
            <a:r>
              <a:rPr lang="tr-TR" sz="1800" dirty="0">
                <a:latin typeface="Arial Narrow" panose="020B0606020202030204" pitchFamily="34" charset="0"/>
              </a:rPr>
              <a:t> as </a:t>
            </a:r>
            <a:r>
              <a:rPr lang="tr-TR" sz="1800" dirty="0" err="1">
                <a:latin typeface="Arial Narrow" panose="020B0606020202030204" pitchFamily="34" charset="0"/>
              </a:rPr>
              <a:t>rent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supervisory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salaries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administration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not 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over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volumes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real</a:t>
            </a:r>
            <a:r>
              <a:rPr lang="tr-TR" sz="1800" dirty="0">
                <a:latin typeface="Arial Narrow" panose="020B0606020202030204" pitchFamily="34" charset="0"/>
              </a:rPr>
              <a:t> life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lvl="0"/>
            <a:endParaRPr lang="tr-TR" sz="1800" dirty="0">
              <a:latin typeface="Arial Narrow" panose="020B0606020202030204" pitchFamily="34" charset="0"/>
            </a:endParaRPr>
          </a:p>
          <a:p>
            <a:r>
              <a:rPr lang="tr-TR" sz="1800" dirty="0">
                <a:latin typeface="Arial Narrow" panose="020B0606020202030204" pitchFamily="34" charset="0"/>
              </a:rPr>
              <a:t>Multi-</a:t>
            </a:r>
            <a:r>
              <a:rPr lang="tr-TR" sz="1800" dirty="0" err="1">
                <a:latin typeface="Arial Narrow" panose="020B0606020202030204" pitchFamily="34" charset="0"/>
              </a:rPr>
              <a:t>product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businesses</a:t>
            </a:r>
            <a:r>
              <a:rPr lang="tr-TR" sz="1800" dirty="0" smtClean="0">
                <a:latin typeface="Arial Narrow" panose="020B0606020202030204" pitchFamily="34" charset="0"/>
              </a:rPr>
              <a:t>:</a:t>
            </a:r>
          </a:p>
          <a:p>
            <a:pPr marL="400050" lvl="1" indent="0"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Fixed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tend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relate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one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; </a:t>
            </a:r>
            <a:r>
              <a:rPr lang="tr-TR" sz="1800" dirty="0" err="1">
                <a:latin typeface="Arial Narrow" panose="020B0606020202030204" pitchFamily="34" charset="0"/>
              </a:rPr>
              <a:t>while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ways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dividing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between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activities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these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tend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be </a:t>
            </a:r>
            <a:r>
              <a:rPr lang="tr-TR" sz="1800" dirty="0" err="1">
                <a:latin typeface="Arial Narrow" panose="020B0606020202030204" pitchFamily="34" charset="0"/>
              </a:rPr>
              <a:t>arbitrary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41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, Volume, Profit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anose="020B0606020202030204" pitchFamily="34" charset="0"/>
              </a:rPr>
              <a:t>Marginal</a:t>
            </a:r>
            <a:r>
              <a:rPr lang="tr-TR" sz="2800" dirty="0">
                <a:latin typeface="Arial Narrow" panose="020B0606020202030204" pitchFamily="34" charset="0"/>
              </a:rPr>
              <a:t> A</a:t>
            </a:r>
            <a:r>
              <a:rPr lang="tr-TR" sz="2800" dirty="0" smtClean="0">
                <a:latin typeface="Arial Narrow" panose="020B0606020202030204" pitchFamily="34" charset="0"/>
              </a:rPr>
              <a:t>nalysis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328592"/>
          </a:xfrm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tr-TR" sz="4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(</a:t>
            </a:r>
            <a:r>
              <a:rPr lang="tr-TR" sz="1600" dirty="0" err="1">
                <a:latin typeface="Arial Narrow" panose="020B0606020202030204" pitchFamily="34" charset="0"/>
              </a:rPr>
              <a:t>ignores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fixed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where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these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not </a:t>
            </a:r>
            <a:r>
              <a:rPr lang="tr-TR" sz="1600" dirty="0" err="1">
                <a:latin typeface="Arial Narrow" panose="020B0606020202030204" pitchFamily="34" charset="0"/>
              </a:rPr>
              <a:t>affected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decision</a:t>
            </a:r>
            <a:r>
              <a:rPr lang="tr-TR" sz="1600" dirty="0" smtClean="0">
                <a:latin typeface="Arial Narrow" panose="020B0606020202030204" pitchFamily="34" charset="0"/>
              </a:rPr>
              <a:t>):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400" dirty="0" smtClean="0">
              <a:latin typeface="Arial Narrow" panose="020B0606020202030204" pitchFamily="34" charset="0"/>
            </a:endParaRPr>
          </a:p>
          <a:p>
            <a:pPr marL="0" lvl="0">
              <a:spcBef>
                <a:spcPts val="0"/>
              </a:spcBef>
            </a:pPr>
            <a:r>
              <a:rPr lang="tr-TR" sz="16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Accepting</a:t>
            </a:r>
            <a:r>
              <a:rPr lang="tr-TR" sz="16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/</a:t>
            </a:r>
            <a:r>
              <a:rPr lang="tr-TR" sz="16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rejecting</a:t>
            </a:r>
            <a:r>
              <a:rPr lang="tr-TR" sz="16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special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contracts</a:t>
            </a:r>
            <a:endParaRPr lang="tr-TR" sz="1600" dirty="0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 - </a:t>
            </a:r>
            <a:r>
              <a:rPr lang="tr-TR" sz="1600" dirty="0" err="1" smtClean="0">
                <a:latin typeface="Arial Narrow" panose="020B0606020202030204" pitchFamily="34" charset="0"/>
              </a:rPr>
              <a:t>consider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only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effect</a:t>
            </a:r>
            <a:r>
              <a:rPr lang="tr-TR" sz="1600" dirty="0">
                <a:latin typeface="Arial Narrow" panose="020B0606020202030204" pitchFamily="34" charset="0"/>
              </a:rPr>
              <a:t> on </a:t>
            </a:r>
            <a:r>
              <a:rPr lang="tr-TR" sz="1600" dirty="0" err="1">
                <a:latin typeface="Arial Narrow" panose="020B0606020202030204" pitchFamily="34" charset="0"/>
              </a:rPr>
              <a:t>contributions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Since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fixed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will</a:t>
            </a:r>
            <a:r>
              <a:rPr lang="tr-TR" sz="1600" dirty="0">
                <a:latin typeface="Arial Narrow" panose="020B0606020202030204" pitchFamily="34" charset="0"/>
              </a:rPr>
              <a:t> be </a:t>
            </a:r>
            <a:r>
              <a:rPr lang="tr-TR" sz="1600" dirty="0" err="1">
                <a:latin typeface="Arial Narrow" panose="020B0606020202030204" pitchFamily="34" charset="0"/>
              </a:rPr>
              <a:t>incurred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any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case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they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not </a:t>
            </a:r>
            <a:r>
              <a:rPr lang="tr-TR" sz="1600" dirty="0" err="1">
                <a:latin typeface="Arial Narrow" panose="020B0606020202030204" pitchFamily="34" charset="0"/>
              </a:rPr>
              <a:t>relevant</a:t>
            </a:r>
            <a:r>
              <a:rPr lang="tr-TR" sz="1600" dirty="0">
                <a:latin typeface="Arial Narrow" panose="020B0606020202030204" pitchFamily="34" charset="0"/>
              </a:rPr>
              <a:t>. </a:t>
            </a:r>
            <a:r>
              <a:rPr lang="tr-TR" sz="1600" dirty="0" err="1">
                <a:latin typeface="Arial Narrow" panose="020B0606020202030204" pitchFamily="34" charset="0"/>
              </a:rPr>
              <a:t>We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need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see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whether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price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offered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special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contract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will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yield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contribution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i.e</a:t>
            </a:r>
            <a:r>
              <a:rPr lang="tr-TR" sz="1600" dirty="0">
                <a:latin typeface="Arial Narrow" panose="020B0606020202030204" pitchFamily="34" charset="0"/>
              </a:rPr>
              <a:t>. </a:t>
            </a:r>
            <a:r>
              <a:rPr lang="tr-TR" sz="1600" dirty="0" err="1">
                <a:latin typeface="Arial Narrow" panose="020B0606020202030204" pitchFamily="34" charset="0"/>
              </a:rPr>
              <a:t>Price</a:t>
            </a:r>
            <a:r>
              <a:rPr lang="tr-TR" sz="1600" dirty="0">
                <a:latin typeface="Arial Narrow" panose="020B0606020202030204" pitchFamily="34" charset="0"/>
              </a:rPr>
              <a:t> - </a:t>
            </a:r>
            <a:r>
              <a:rPr lang="tr-TR" sz="1600" dirty="0" err="1">
                <a:latin typeface="Arial Narrow" panose="020B0606020202030204" pitchFamily="34" charset="0"/>
              </a:rPr>
              <a:t>Unit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Variable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>
              <a:spcBef>
                <a:spcPts val="0"/>
              </a:spcBef>
            </a:pPr>
            <a:endParaRPr lang="tr-TR" sz="400" dirty="0">
              <a:latin typeface="Arial Narrow" panose="020B0606020202030204" pitchFamily="34" charset="0"/>
            </a:endParaRPr>
          </a:p>
          <a:p>
            <a:pPr marL="0" lvl="0">
              <a:spcBef>
                <a:spcPts val="0"/>
              </a:spcBef>
            </a:pP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Using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scarce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resources</a:t>
            </a:r>
            <a:endParaRPr lang="tr-TR" sz="1600" dirty="0" smtClean="0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-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limiting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factor</a:t>
            </a:r>
            <a:r>
              <a:rPr lang="tr-TR" sz="1600" dirty="0">
                <a:latin typeface="Arial Narrow" panose="020B0606020202030204" pitchFamily="34" charset="0"/>
              </a:rPr>
              <a:t> is </a:t>
            </a:r>
            <a:r>
              <a:rPr lang="tr-TR" sz="1600" dirty="0" err="1">
                <a:latin typeface="Arial Narrow" panose="020B0606020202030204" pitchFamily="34" charset="0"/>
              </a:rPr>
              <a:t>most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effectively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used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maximising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contribution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unit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We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tend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think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terms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size of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market </a:t>
            </a:r>
            <a:r>
              <a:rPr lang="tr-TR" sz="1600" dirty="0" err="1">
                <a:latin typeface="Arial Narrow" panose="020B0606020202030204" pitchFamily="34" charset="0"/>
              </a:rPr>
              <a:t>being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brake</a:t>
            </a:r>
            <a:r>
              <a:rPr lang="tr-TR" sz="1600" dirty="0">
                <a:latin typeface="Arial Narrow" panose="020B0606020202030204" pitchFamily="34" charset="0"/>
              </a:rPr>
              <a:t> on </a:t>
            </a:r>
            <a:r>
              <a:rPr lang="tr-TR" sz="1600" dirty="0" err="1" smtClean="0">
                <a:latin typeface="Arial Narrow" panose="020B0606020202030204" pitchFamily="34" charset="0"/>
              </a:rPr>
              <a:t>output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This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is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say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ability</a:t>
            </a:r>
            <a:r>
              <a:rPr lang="tr-TR" sz="1600" dirty="0">
                <a:latin typeface="Arial Narrow" panose="020B0606020202030204" pitchFamily="34" charset="0"/>
              </a:rPr>
              <a:t> of a </a:t>
            </a:r>
            <a:r>
              <a:rPr lang="tr-TR" sz="1600" dirty="0" err="1">
                <a:latin typeface="Arial Narrow" panose="020B0606020202030204" pitchFamily="34" charset="0"/>
              </a:rPr>
              <a:t>business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sell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will</a:t>
            </a:r>
            <a:r>
              <a:rPr lang="tr-TR" sz="1600" dirty="0">
                <a:latin typeface="Arial Narrow" panose="020B0606020202030204" pitchFamily="34" charset="0"/>
              </a:rPr>
              <a:t> limit </a:t>
            </a:r>
            <a:r>
              <a:rPr lang="tr-TR" sz="1600" dirty="0" err="1">
                <a:latin typeface="Arial Narrow" panose="020B0606020202030204" pitchFamily="34" charset="0"/>
              </a:rPr>
              <a:t>production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rather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than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ability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produce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will</a:t>
            </a:r>
            <a:r>
              <a:rPr lang="tr-TR" sz="1600" dirty="0">
                <a:latin typeface="Arial Narrow" panose="020B0606020202030204" pitchFamily="34" charset="0"/>
              </a:rPr>
              <a:t> limit </a:t>
            </a:r>
            <a:r>
              <a:rPr lang="tr-TR" sz="1600" dirty="0" err="1">
                <a:latin typeface="Arial Narrow" panose="020B0606020202030204" pitchFamily="34" charset="0"/>
              </a:rPr>
              <a:t>sales</a:t>
            </a:r>
            <a:r>
              <a:rPr lang="tr-TR" sz="1600" dirty="0">
                <a:latin typeface="Arial Narrow" panose="020B0606020202030204" pitchFamily="34" charset="0"/>
              </a:rPr>
              <a:t>. </a:t>
            </a:r>
            <a:r>
              <a:rPr lang="tr-TR" sz="1600" dirty="0" err="1">
                <a:latin typeface="Arial Narrow" panose="020B0606020202030204" pitchFamily="34" charset="0"/>
              </a:rPr>
              <a:t>In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some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cases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however</a:t>
            </a:r>
            <a:r>
              <a:rPr lang="tr-TR" sz="1600" dirty="0">
                <a:latin typeface="Arial Narrow" panose="020B0606020202030204" pitchFamily="34" charset="0"/>
              </a:rPr>
              <a:t>, it is a limit on </a:t>
            </a:r>
            <a:r>
              <a:rPr lang="tr-TR" sz="1600" dirty="0" err="1">
                <a:latin typeface="Arial Narrow" panose="020B0606020202030204" pitchFamily="34" charset="0"/>
              </a:rPr>
              <a:t>what</a:t>
            </a:r>
            <a:r>
              <a:rPr lang="tr-TR" sz="1600" dirty="0">
                <a:latin typeface="Arial Narrow" panose="020B0606020202030204" pitchFamily="34" charset="0"/>
              </a:rPr>
              <a:t> can be </a:t>
            </a:r>
            <a:r>
              <a:rPr lang="tr-TR" sz="1600" dirty="0" err="1">
                <a:latin typeface="Arial Narrow" panose="020B0606020202030204" pitchFamily="34" charset="0"/>
              </a:rPr>
              <a:t>produced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limits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sales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Limited </a:t>
            </a:r>
            <a:r>
              <a:rPr lang="tr-TR" sz="1600" dirty="0" err="1">
                <a:latin typeface="Arial Narrow" panose="020B0606020202030204" pitchFamily="34" charset="0"/>
              </a:rPr>
              <a:t>production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might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stem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from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shortage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any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factor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production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	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- </a:t>
            </a:r>
            <a:r>
              <a:rPr lang="tr-TR" sz="1600" dirty="0" err="1">
                <a:latin typeface="Arial Narrow" panose="020B0606020202030204" pitchFamily="34" charset="0"/>
              </a:rPr>
              <a:t>labour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raw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materials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space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machinery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so</a:t>
            </a:r>
            <a:r>
              <a:rPr lang="tr-TR" sz="1600" dirty="0">
                <a:latin typeface="Arial Narrow" panose="020B0606020202030204" pitchFamily="34" charset="0"/>
              </a:rPr>
              <a:t> on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400050" lvl="1" indent="0">
              <a:spcBef>
                <a:spcPts val="0"/>
              </a:spcBef>
              <a:buNone/>
            </a:pPr>
            <a:endParaRPr lang="tr-TR" sz="400" dirty="0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0" lvl="0">
              <a:spcBef>
                <a:spcPts val="0"/>
              </a:spcBef>
            </a:pP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Make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-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or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-buy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decisions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(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outsourcing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/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subcontracting</a:t>
            </a:r>
            <a:r>
              <a:rPr lang="tr-TR" sz="16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)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- </a:t>
            </a:r>
            <a:r>
              <a:rPr lang="tr-TR" sz="1600" dirty="0" err="1">
                <a:latin typeface="Arial Narrow" panose="020B0606020202030204" pitchFamily="34" charset="0"/>
              </a:rPr>
              <a:t>take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leads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highest</a:t>
            </a:r>
            <a:r>
              <a:rPr lang="tr-TR" sz="1600" dirty="0">
                <a:latin typeface="Arial Narrow" panose="020B0606020202030204" pitchFamily="34" charset="0"/>
              </a:rPr>
              <a:t> total </a:t>
            </a:r>
            <a:r>
              <a:rPr lang="tr-TR" sz="1600" dirty="0" err="1" smtClean="0">
                <a:latin typeface="Arial Narrow" panose="020B0606020202030204" pitchFamily="34" charset="0"/>
              </a:rPr>
              <a:t>contributions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Compare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variable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subcontracting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variable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internal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manufacture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>
              <a:spcBef>
                <a:spcPts val="0"/>
              </a:spcBef>
            </a:pPr>
            <a:endParaRPr lang="tr-TR" sz="400" dirty="0">
              <a:latin typeface="Arial Narrow" panose="020B0606020202030204" pitchFamily="34" charset="0"/>
            </a:endParaRPr>
          </a:p>
          <a:p>
            <a:pPr marL="0">
              <a:spcBef>
                <a:spcPts val="0"/>
              </a:spcBef>
            </a:pP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Closing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/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continuing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an </a:t>
            </a:r>
            <a:r>
              <a:rPr lang="tr-TR" sz="16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activity</a:t>
            </a:r>
            <a:endParaRPr lang="tr-TR" sz="1600" dirty="0" smtClean="0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- </a:t>
            </a:r>
            <a:r>
              <a:rPr lang="tr-TR" sz="1600" dirty="0" err="1">
                <a:latin typeface="Arial Narrow" panose="020B0606020202030204" pitchFamily="34" charset="0"/>
              </a:rPr>
              <a:t>should</a:t>
            </a:r>
            <a:r>
              <a:rPr lang="tr-TR" sz="1600" dirty="0">
                <a:latin typeface="Arial Narrow" panose="020B0606020202030204" pitchFamily="34" charset="0"/>
              </a:rPr>
              <a:t> be </a:t>
            </a:r>
            <a:r>
              <a:rPr lang="tr-TR" sz="1600" dirty="0" err="1">
                <a:latin typeface="Arial Narrow" panose="020B0606020202030204" pitchFamily="34" charset="0"/>
              </a:rPr>
              <a:t>assessed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net </a:t>
            </a:r>
            <a:r>
              <a:rPr lang="tr-TR" sz="1600" dirty="0" err="1">
                <a:latin typeface="Arial Narrow" panose="020B0606020202030204" pitchFamily="34" charset="0"/>
              </a:rPr>
              <a:t>effect</a:t>
            </a:r>
            <a:r>
              <a:rPr lang="tr-TR" sz="1600" dirty="0">
                <a:latin typeface="Arial Narrow" panose="020B0606020202030204" pitchFamily="34" charset="0"/>
              </a:rPr>
              <a:t> on total </a:t>
            </a:r>
            <a:r>
              <a:rPr lang="tr-TR" sz="1600" dirty="0" err="1" smtClean="0">
                <a:latin typeface="Arial Narrow" panose="020B0606020202030204" pitchFamily="34" charset="0"/>
              </a:rPr>
              <a:t>contributions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For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a </a:t>
            </a:r>
            <a:r>
              <a:rPr lang="tr-TR" sz="1600" dirty="0" err="1">
                <a:latin typeface="Arial Narrow" panose="020B0606020202030204" pitchFamily="34" charset="0"/>
              </a:rPr>
              <a:t>department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is </a:t>
            </a:r>
            <a:r>
              <a:rPr lang="tr-TR" sz="1600" dirty="0" err="1">
                <a:latin typeface="Arial Narrow" panose="020B0606020202030204" pitchFamily="34" charset="0"/>
              </a:rPr>
              <a:t>making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loss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if</a:t>
            </a:r>
            <a:r>
              <a:rPr lang="tr-TR" sz="1600" dirty="0">
                <a:latin typeface="Arial Narrow" panose="020B0606020202030204" pitchFamily="34" charset="0"/>
              </a:rPr>
              <a:t> it is </a:t>
            </a:r>
            <a:r>
              <a:rPr lang="tr-TR" sz="1600" dirty="0" err="1">
                <a:latin typeface="Arial Narrow" panose="020B0606020202030204" pitchFamily="34" charset="0"/>
              </a:rPr>
              <a:t>making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positive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contribution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before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allocated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fixed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costs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	</a:t>
            </a:r>
            <a:r>
              <a:rPr lang="tr-TR" sz="1600" dirty="0" smtClean="0">
                <a:latin typeface="Arial Narrow" panose="020B0606020202030204" pitchFamily="34" charset="0"/>
              </a:rPr>
              <a:t>it </a:t>
            </a:r>
            <a:r>
              <a:rPr lang="tr-TR" sz="1600" dirty="0" err="1">
                <a:latin typeface="Arial Narrow" panose="020B0606020202030204" pitchFamily="34" charset="0"/>
              </a:rPr>
              <a:t>should</a:t>
            </a:r>
            <a:r>
              <a:rPr lang="tr-TR" sz="1600" dirty="0">
                <a:latin typeface="Arial Narrow" panose="020B0606020202030204" pitchFamily="34" charset="0"/>
              </a:rPr>
              <a:t> not be </a:t>
            </a:r>
            <a:r>
              <a:rPr lang="tr-TR" sz="1600" dirty="0" err="1" smtClean="0">
                <a:latin typeface="Arial Narrow" panose="020B0606020202030204" pitchFamily="34" charset="0"/>
              </a:rPr>
              <a:t>closed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Because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allocated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fixed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would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continue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whether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department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were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closed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or</a:t>
            </a:r>
            <a:r>
              <a:rPr lang="tr-TR" sz="1600" dirty="0">
                <a:latin typeface="Arial Narrow" panose="020B0606020202030204" pitchFamily="34" charset="0"/>
              </a:rPr>
              <a:t> not.</a:t>
            </a: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29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337520" y="2738785"/>
            <a:ext cx="4464496" cy="1482304"/>
          </a:xfrm>
          <a:ln w="254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4800" dirty="0" smtClean="0">
                <a:solidFill>
                  <a:srgbClr val="800000"/>
                </a:solidFill>
                <a:latin typeface="Arial Narrow" pitchFamily="34" charset="0"/>
              </a:rPr>
              <a:t>Full </a:t>
            </a:r>
            <a:r>
              <a:rPr lang="tr-TR" sz="4800" dirty="0" err="1" smtClean="0">
                <a:solidFill>
                  <a:srgbClr val="800000"/>
                </a:solidFill>
                <a:latin typeface="Arial Narrow" pitchFamily="34" charset="0"/>
              </a:rPr>
              <a:t>Costing</a:t>
            </a:r>
            <a:endParaRPr lang="tr-T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38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92088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Full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Costing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Full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=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total </a:t>
            </a:r>
            <a:r>
              <a:rPr lang="tr-TR" sz="1800" dirty="0" err="1">
                <a:latin typeface="Arial Narrow" panose="020B0606020202030204" pitchFamily="34" charset="0"/>
              </a:rPr>
              <a:t>amount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resources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sacrificed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achieve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particular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objective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derive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full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figure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we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must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accumulate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incurred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assign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particular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product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or</a:t>
            </a:r>
            <a:r>
              <a:rPr lang="tr-TR" sz="1600" dirty="0">
                <a:latin typeface="Arial Narrow" panose="020B0606020202030204" pitchFamily="34" charset="0"/>
              </a:rPr>
              <a:t> service.</a:t>
            </a: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60848"/>
            <a:ext cx="8208912" cy="473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0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Full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Costing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Single</a:t>
            </a:r>
            <a:r>
              <a:rPr lang="tr-TR" sz="2800" dirty="0" smtClean="0">
                <a:latin typeface="Arial Narrow" pitchFamily="34" charset="0"/>
              </a:rPr>
              <a:t> Product Operations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Full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=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total </a:t>
            </a:r>
            <a:r>
              <a:rPr lang="tr-TR" sz="1800" dirty="0" err="1">
                <a:latin typeface="Arial Narrow" panose="020B0606020202030204" pitchFamily="34" charset="0"/>
              </a:rPr>
              <a:t>amount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resources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sacrificed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achieve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particular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objective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derive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full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figure</a:t>
            </a:r>
            <a:r>
              <a:rPr lang="tr-TR" sz="1600" dirty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we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must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accumulate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incurred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assign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particular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product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or</a:t>
            </a:r>
            <a:r>
              <a:rPr lang="tr-TR" sz="1600" dirty="0">
                <a:latin typeface="Arial Narrow" panose="020B0606020202030204" pitchFamily="34" charset="0"/>
              </a:rPr>
              <a:t> service.</a:t>
            </a: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Single-product</a:t>
            </a:r>
            <a:r>
              <a:rPr lang="tr-TR" sz="18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operations</a:t>
            </a:r>
            <a:r>
              <a:rPr lang="tr-TR" sz="1800" dirty="0">
                <a:solidFill>
                  <a:srgbClr val="800000"/>
                </a:solidFill>
                <a:latin typeface="Arial Narrow" panose="020B0606020202030204" pitchFamily="34" charset="0"/>
              </a:rPr>
              <a:t>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Where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units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output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identical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full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can be </a:t>
            </a:r>
            <a:r>
              <a:rPr lang="tr-TR" sz="1800" dirty="0" err="1">
                <a:latin typeface="Arial Narrow" panose="020B0606020202030204" pitchFamily="34" charset="0"/>
              </a:rPr>
              <a:t>calculated</a:t>
            </a:r>
            <a:r>
              <a:rPr lang="tr-TR" sz="1800" dirty="0">
                <a:latin typeface="Arial Narrow" panose="020B0606020202030204" pitchFamily="34" charset="0"/>
              </a:rPr>
              <a:t> as </a:t>
            </a:r>
            <a:r>
              <a:rPr lang="tr-TR" sz="1800" dirty="0" err="1">
                <a:latin typeface="Arial Narrow" panose="020B0606020202030204" pitchFamily="34" charset="0"/>
              </a:rPr>
              <a:t>follows</a:t>
            </a:r>
            <a:r>
              <a:rPr lang="tr-TR" sz="1800" dirty="0" smtClean="0">
                <a:latin typeface="Arial Narrow" panose="020B0606020202030204" pitchFamily="34" charset="0"/>
              </a:rPr>
              <a:t>: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Cost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per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unit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= Total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cost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output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/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Number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units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produced</a:t>
            </a:r>
            <a:endParaRPr lang="tr-TR" sz="1800" noProof="1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40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Full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Costing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Single</a:t>
            </a:r>
            <a:r>
              <a:rPr lang="tr-TR" sz="2800" dirty="0" smtClean="0">
                <a:latin typeface="Arial Narrow" pitchFamily="34" charset="0"/>
              </a:rPr>
              <a:t> Product Operations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Fruitjuice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Ltd</a:t>
            </a:r>
            <a:r>
              <a:rPr lang="tr-TR" sz="1800" dirty="0">
                <a:latin typeface="Arial Narrow" panose="020B0606020202030204" pitchFamily="34" charset="0"/>
              </a:rPr>
              <a:t> has </a:t>
            </a:r>
            <a:r>
              <a:rPr lang="tr-TR" sz="1800" dirty="0" err="1">
                <a:latin typeface="Arial Narrow" panose="020B0606020202030204" pitchFamily="34" charset="0"/>
              </a:rPr>
              <a:t>just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one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product</a:t>
            </a:r>
            <a:r>
              <a:rPr lang="tr-TR" sz="1800" dirty="0">
                <a:latin typeface="Arial Narrow" panose="020B0606020202030204" pitchFamily="34" charset="0"/>
              </a:rPr>
              <a:t>, a </a:t>
            </a:r>
            <a:r>
              <a:rPr lang="tr-TR" sz="1800" dirty="0" err="1">
                <a:latin typeface="Arial Narrow" panose="020B0606020202030204" pitchFamily="34" charset="0"/>
              </a:rPr>
              <a:t>sparkling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orange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drink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marketed</a:t>
            </a:r>
            <a:r>
              <a:rPr lang="tr-TR" sz="1800" dirty="0">
                <a:latin typeface="Arial Narrow" panose="020B0606020202030204" pitchFamily="34" charset="0"/>
              </a:rPr>
              <a:t> as "</a:t>
            </a:r>
            <a:r>
              <a:rPr lang="tr-TR" sz="1800" dirty="0" err="1">
                <a:latin typeface="Arial Narrow" panose="020B0606020202030204" pitchFamily="34" charset="0"/>
              </a:rPr>
              <a:t>Orange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Fizz</a:t>
            </a:r>
            <a:r>
              <a:rPr lang="tr-TR" sz="1800" dirty="0">
                <a:latin typeface="Arial Narrow" panose="020B0606020202030204" pitchFamily="34" charset="0"/>
              </a:rPr>
              <a:t>". </a:t>
            </a:r>
            <a:r>
              <a:rPr lang="tr-TR" sz="1800" dirty="0" err="1">
                <a:latin typeface="Arial Narrow" panose="020B0606020202030204" pitchFamily="34" charset="0"/>
              </a:rPr>
              <a:t>During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last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month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business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produced</a:t>
            </a:r>
            <a:r>
              <a:rPr lang="tr-TR" sz="1800" dirty="0">
                <a:latin typeface="Arial Narrow" panose="020B0606020202030204" pitchFamily="34" charset="0"/>
              </a:rPr>
              <a:t> 7,300 </a:t>
            </a:r>
            <a:r>
              <a:rPr lang="tr-TR" sz="1800" dirty="0" err="1">
                <a:latin typeface="Arial Narrow" panose="020B0606020202030204" pitchFamily="34" charset="0"/>
              </a:rPr>
              <a:t>litres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drink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incurred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were</a:t>
            </a:r>
            <a:r>
              <a:rPr lang="tr-TR" sz="1800" dirty="0">
                <a:latin typeface="Arial Narrow" panose="020B0606020202030204" pitchFamily="34" charset="0"/>
              </a:rPr>
              <a:t> as </a:t>
            </a:r>
            <a:r>
              <a:rPr lang="tr-TR" sz="1800" dirty="0" err="1">
                <a:latin typeface="Arial Narrow" panose="020B0606020202030204" pitchFamily="34" charset="0"/>
              </a:rPr>
              <a:t>follows</a:t>
            </a:r>
            <a:r>
              <a:rPr lang="tr-TR" sz="1800" dirty="0" smtClean="0">
                <a:latin typeface="Arial Narrow" panose="020B0606020202030204" pitchFamily="34" charset="0"/>
              </a:rPr>
              <a:t>: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What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full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per</a:t>
            </a:r>
            <a:r>
              <a:rPr lang="tr-TR" sz="1800" dirty="0">
                <a:latin typeface="Arial Narrow" panose="020B0606020202030204" pitchFamily="34" charset="0"/>
              </a:rPr>
              <a:t> litre of </a:t>
            </a:r>
            <a:r>
              <a:rPr lang="tr-TR" sz="1800" dirty="0" err="1">
                <a:latin typeface="Arial Narrow" panose="020B0606020202030204" pitchFamily="34" charset="0"/>
              </a:rPr>
              <a:t>producing</a:t>
            </a:r>
            <a:r>
              <a:rPr lang="tr-TR" sz="1800" dirty="0">
                <a:latin typeface="Arial Narrow" panose="020B0606020202030204" pitchFamily="34" charset="0"/>
              </a:rPr>
              <a:t> "</a:t>
            </a:r>
            <a:r>
              <a:rPr lang="tr-TR" sz="1800" dirty="0" err="1">
                <a:latin typeface="Arial Narrow" panose="020B0606020202030204" pitchFamily="34" charset="0"/>
              </a:rPr>
              <a:t>Orange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Fizz</a:t>
            </a:r>
            <a:r>
              <a:rPr lang="tr-TR" sz="1800" dirty="0" smtClean="0">
                <a:latin typeface="Arial Narrow" panose="020B0606020202030204" pitchFamily="34" charset="0"/>
              </a:rPr>
              <a:t>"?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This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figure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found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by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simply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adding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together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all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costs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incurred</a:t>
            </a:r>
            <a:endParaRPr lang="tr-TR" sz="18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then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dividing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by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number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litres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produced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  <a:endParaRPr lang="tr-TR" sz="1800" noProof="1" smtClean="0">
              <a:solidFill>
                <a:srgbClr val="000066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703" y="2381482"/>
            <a:ext cx="2378593" cy="1983622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702" y="5477826"/>
            <a:ext cx="2365755" cy="75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59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Full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Costing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Multi-Product Operations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Where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units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output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not </a:t>
            </a:r>
            <a:r>
              <a:rPr lang="tr-TR" sz="1800" dirty="0" err="1" smtClean="0">
                <a:latin typeface="Arial Narrow" panose="020B0606020202030204" pitchFamily="34" charset="0"/>
              </a:rPr>
              <a:t>identical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it </a:t>
            </a:r>
            <a:r>
              <a:rPr lang="tr-TR" sz="1800" dirty="0">
                <a:latin typeface="Arial Narrow" panose="020B0606020202030204" pitchFamily="34" charset="0"/>
              </a:rPr>
              <a:t>is </a:t>
            </a:r>
            <a:r>
              <a:rPr lang="tr-TR" sz="1800" dirty="0" err="1">
                <a:latin typeface="Arial Narrow" panose="020B0606020202030204" pitchFamily="34" charset="0"/>
              </a:rPr>
              <a:t>necessary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divide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two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categories</a:t>
            </a:r>
            <a:r>
              <a:rPr lang="tr-TR" sz="1800" dirty="0">
                <a:latin typeface="Arial Narrow" panose="020B0606020202030204" pitchFamily="34" charset="0"/>
              </a:rPr>
              <a:t>: </a:t>
            </a:r>
            <a:r>
              <a:rPr lang="tr-TR" sz="1800" dirty="0" err="1">
                <a:latin typeface="Arial Narrow" panose="020B0606020202030204" pitchFamily="34" charset="0"/>
              </a:rPr>
              <a:t>direct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indirect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Direct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=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can be </a:t>
            </a:r>
            <a:r>
              <a:rPr lang="tr-TR" sz="1800" dirty="0" err="1">
                <a:latin typeface="Arial Narrow" panose="020B0606020202030204" pitchFamily="34" charset="0"/>
              </a:rPr>
              <a:t>identified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with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specific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units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(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example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labour</a:t>
            </a:r>
            <a:r>
              <a:rPr lang="tr-TR" sz="1800" dirty="0">
                <a:latin typeface="Arial Narrow" panose="020B0606020202030204" pitchFamily="34" charset="0"/>
              </a:rPr>
              <a:t> of a </a:t>
            </a:r>
            <a:r>
              <a:rPr lang="tr-TR" sz="1800" dirty="0" err="1">
                <a:latin typeface="Arial Narrow" panose="020B0606020202030204" pitchFamily="34" charset="0"/>
              </a:rPr>
              <a:t>garage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mechanic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relation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particular</a:t>
            </a:r>
            <a:r>
              <a:rPr lang="tr-TR" sz="1800" dirty="0">
                <a:latin typeface="Arial Narrow" panose="020B0606020202030204" pitchFamily="34" charset="0"/>
              </a:rPr>
              <a:t> car </a:t>
            </a:r>
            <a:r>
              <a:rPr lang="tr-TR" sz="1800" dirty="0" err="1">
                <a:latin typeface="Arial Narrow" panose="020B0606020202030204" pitchFamily="34" charset="0"/>
              </a:rPr>
              <a:t>repair</a:t>
            </a:r>
            <a:r>
              <a:rPr lang="tr-TR" sz="1800" dirty="0" smtClean="0">
                <a:latin typeface="Arial Narrow" panose="020B0606020202030204" pitchFamily="34" charset="0"/>
              </a:rPr>
              <a:t>).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Indirect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(</a:t>
            </a:r>
            <a:r>
              <a:rPr lang="tr-TR" sz="1800" dirty="0" err="1">
                <a:latin typeface="Arial Narrow" panose="020B0606020202030204" pitchFamily="34" charset="0"/>
              </a:rPr>
              <a:t>overheads</a:t>
            </a:r>
            <a:r>
              <a:rPr lang="tr-TR" sz="1800" dirty="0">
                <a:latin typeface="Arial Narrow" panose="020B0606020202030204" pitchFamily="34" charset="0"/>
              </a:rPr>
              <a:t>) =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cannot</a:t>
            </a:r>
            <a:r>
              <a:rPr lang="tr-TR" sz="1800" dirty="0">
                <a:latin typeface="Arial Narrow" panose="020B0606020202030204" pitchFamily="34" charset="0"/>
              </a:rPr>
              <a:t> be </a:t>
            </a:r>
            <a:r>
              <a:rPr lang="tr-TR" sz="1800" dirty="0" err="1">
                <a:latin typeface="Arial Narrow" panose="020B0606020202030204" pitchFamily="34" charset="0"/>
              </a:rPr>
              <a:t>directly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measured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respect</a:t>
            </a:r>
            <a:r>
              <a:rPr lang="tr-TR" sz="1800" dirty="0">
                <a:latin typeface="Arial Narrow" panose="020B0606020202030204" pitchFamily="34" charset="0"/>
              </a:rPr>
              <a:t> of a </a:t>
            </a:r>
            <a:r>
              <a:rPr lang="tr-TR" sz="1800" dirty="0" err="1">
                <a:latin typeface="Arial Narrow" panose="020B0606020202030204" pitchFamily="34" charset="0"/>
              </a:rPr>
              <a:t>particular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job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(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example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rent</a:t>
            </a:r>
            <a:r>
              <a:rPr lang="tr-TR" sz="1800" dirty="0">
                <a:latin typeface="Arial Narrow" panose="020B0606020202030204" pitchFamily="34" charset="0"/>
              </a:rPr>
              <a:t> of a </a:t>
            </a:r>
            <a:r>
              <a:rPr lang="tr-TR" sz="1800" dirty="0" err="1">
                <a:latin typeface="Arial Narrow" panose="020B0606020202030204" pitchFamily="34" charset="0"/>
              </a:rPr>
              <a:t>garage</a:t>
            </a:r>
            <a:r>
              <a:rPr lang="tr-TR" sz="1800" dirty="0" smtClean="0">
                <a:latin typeface="Arial Narrow" panose="020B0606020202030204" pitchFamily="34" charset="0"/>
              </a:rPr>
              <a:t>)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Full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= </a:t>
            </a:r>
            <a:r>
              <a:rPr lang="tr-TR" sz="1800" dirty="0" err="1">
                <a:latin typeface="Arial Narrow" panose="020B0606020202030204" pitchFamily="34" charset="0"/>
              </a:rPr>
              <a:t>direct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+</a:t>
            </a:r>
            <a:r>
              <a:rPr lang="tr-TR" sz="1800" dirty="0" err="1">
                <a:latin typeface="Arial Narrow" panose="020B0606020202030204" pitchFamily="34" charset="0"/>
              </a:rPr>
              <a:t>indirect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Direct/</a:t>
            </a:r>
            <a:r>
              <a:rPr lang="tr-TR" sz="1800" dirty="0" err="1">
                <a:latin typeface="Arial Narrow" panose="020B0606020202030204" pitchFamily="34" charset="0"/>
              </a:rPr>
              <a:t>indirect</a:t>
            </a:r>
            <a:r>
              <a:rPr lang="tr-TR" sz="1800" dirty="0">
                <a:latin typeface="Arial Narrow" panose="020B0606020202030204" pitchFamily="34" charset="0"/>
              </a:rPr>
              <a:t> is not </a:t>
            </a:r>
            <a:r>
              <a:rPr lang="tr-TR" sz="1800" dirty="0" err="1">
                <a:latin typeface="Arial Narrow" panose="020B0606020202030204" pitchFamily="34" charset="0"/>
              </a:rPr>
              <a:t>linked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variable</a:t>
            </a:r>
            <a:r>
              <a:rPr lang="tr-TR" sz="1800" dirty="0">
                <a:latin typeface="Arial Narrow" panose="020B0606020202030204" pitchFamily="34" charset="0"/>
              </a:rPr>
              <a:t>/</a:t>
            </a:r>
            <a:r>
              <a:rPr lang="tr-TR" sz="1800" dirty="0" err="1">
                <a:latin typeface="Arial Narrow" panose="020B0606020202030204" pitchFamily="34" charset="0"/>
              </a:rPr>
              <a:t>fixed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Indirect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difficult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relate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individul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units</a:t>
            </a:r>
            <a:r>
              <a:rPr lang="tr-TR" sz="1800" dirty="0">
                <a:latin typeface="Arial Narrow" panose="020B0606020202030204" pitchFamily="34" charset="0"/>
              </a:rPr>
              <a:t> - </a:t>
            </a:r>
            <a:r>
              <a:rPr lang="tr-TR" sz="1800" dirty="0" err="1">
                <a:latin typeface="Arial Narrow" panose="020B0606020202030204" pitchFamily="34" charset="0"/>
              </a:rPr>
              <a:t>arbitrary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bases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used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there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no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single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correct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method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Traditionally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indirect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seen</a:t>
            </a:r>
            <a:r>
              <a:rPr lang="tr-TR" sz="1800" dirty="0">
                <a:latin typeface="Arial Narrow" panose="020B0606020202030204" pitchFamily="34" charset="0"/>
              </a:rPr>
              <a:t> as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providing</a:t>
            </a:r>
            <a:r>
              <a:rPr lang="tr-TR" sz="1800" dirty="0">
                <a:latin typeface="Arial Narrow" panose="020B0606020202030204" pitchFamily="34" charset="0"/>
              </a:rPr>
              <a:t> a "service"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units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Direct </a:t>
            </a:r>
            <a:r>
              <a:rPr lang="tr-TR" sz="1800" dirty="0" err="1">
                <a:latin typeface="Arial Narrow" panose="020B0606020202030204" pitchFamily="34" charset="0"/>
              </a:rPr>
              <a:t>labour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hour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basis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applying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indirect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units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is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most</a:t>
            </a:r>
            <a:r>
              <a:rPr lang="tr-TR" sz="1800" dirty="0">
                <a:latin typeface="Arial Narrow" panose="020B0606020202030204" pitchFamily="34" charset="0"/>
              </a:rPr>
              <a:t> popular in </a:t>
            </a:r>
            <a:r>
              <a:rPr lang="tr-TR" sz="1800" dirty="0" err="1">
                <a:latin typeface="Arial Narrow" panose="020B0606020202030204" pitchFamily="34" charset="0"/>
              </a:rPr>
              <a:t>practice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  <a:endParaRPr lang="tr-TR" sz="18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76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Full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Costing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Overhead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Costs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Dealing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with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overheads</a:t>
            </a:r>
            <a:r>
              <a:rPr lang="tr-TR" sz="1800" dirty="0">
                <a:latin typeface="Arial Narrow" panose="020B0606020202030204" pitchFamily="34" charset="0"/>
              </a:rPr>
              <a:t> on a </a:t>
            </a:r>
            <a:r>
              <a:rPr lang="tr-TR" sz="1800" dirty="0" err="1">
                <a:latin typeface="Arial Narrow" panose="020B0606020202030204" pitchFamily="34" charset="0"/>
              </a:rPr>
              <a:t>departmental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basis</a:t>
            </a:r>
            <a:r>
              <a:rPr lang="tr-TR" sz="1800" dirty="0" smtClean="0">
                <a:latin typeface="Arial Narrow" panose="020B0606020202030204" pitchFamily="34" charset="0"/>
              </a:rPr>
              <a:t>: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Indirect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can be </a:t>
            </a:r>
            <a:r>
              <a:rPr lang="tr-TR" sz="1800" dirty="0" err="1" smtClean="0">
                <a:latin typeface="Arial Narrow" panose="020B0606020202030204" pitchFamily="34" charset="0"/>
              </a:rPr>
              <a:t>segmented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usually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on a </a:t>
            </a:r>
            <a:r>
              <a:rPr lang="tr-TR" sz="1800" dirty="0" err="1">
                <a:latin typeface="Arial Narrow" panose="020B0606020202030204" pitchFamily="34" charset="0"/>
              </a:rPr>
              <a:t>departmental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basis</a:t>
            </a:r>
            <a:r>
              <a:rPr lang="tr-TR" sz="1800" dirty="0">
                <a:latin typeface="Arial Narrow" panose="020B0606020202030204" pitchFamily="34" charset="0"/>
              </a:rPr>
              <a:t> - </a:t>
            </a:r>
            <a:r>
              <a:rPr lang="tr-TR" sz="1800" dirty="0" err="1">
                <a:latin typeface="Arial Narrow" panose="020B0606020202030204" pitchFamily="34" charset="0"/>
              </a:rPr>
              <a:t>each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department</a:t>
            </a:r>
            <a:r>
              <a:rPr lang="tr-TR" sz="1800" dirty="0">
                <a:latin typeface="Arial Narrow" panose="020B0606020202030204" pitchFamily="34" charset="0"/>
              </a:rPr>
              <a:t> has </a:t>
            </a:r>
            <a:r>
              <a:rPr lang="tr-TR" sz="1800" dirty="0" err="1">
                <a:latin typeface="Arial Narrow" panose="020B0606020202030204" pitchFamily="34" charset="0"/>
              </a:rPr>
              <a:t>its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own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overhead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recovery</a:t>
            </a:r>
            <a:r>
              <a:rPr lang="tr-TR" sz="1800" dirty="0">
                <a:latin typeface="Arial Narrow" panose="020B0606020202030204" pitchFamily="34" charset="0"/>
              </a:rPr>
              <a:t> rate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Each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department</a:t>
            </a:r>
            <a:r>
              <a:rPr lang="tr-TR" sz="1800" dirty="0">
                <a:latin typeface="Arial Narrow" panose="020B0606020202030204" pitchFamily="34" charset="0"/>
              </a:rPr>
              <a:t> is a </a:t>
            </a:r>
            <a:r>
              <a:rPr lang="tr-TR" sz="1800" dirty="0" err="1">
                <a:latin typeface="Arial Narrow" panose="020B0606020202030204" pitchFamily="34" charset="0"/>
              </a:rPr>
              <a:t>separate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centre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that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is an </a:t>
            </a:r>
            <a:r>
              <a:rPr lang="tr-TR" sz="1800" dirty="0" err="1">
                <a:latin typeface="Arial Narrow" panose="020B0606020202030204" pitchFamily="34" charset="0"/>
              </a:rPr>
              <a:t>area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activity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function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which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separately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collected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  <a:endParaRPr lang="tr-TR" sz="18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46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Full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Costing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anose="020B0606020202030204" pitchFamily="34" charset="0"/>
              </a:rPr>
              <a:t>Batch</a:t>
            </a:r>
            <a:r>
              <a:rPr lang="tr-TR" sz="2800" dirty="0">
                <a:latin typeface="Arial Narrow" panose="020B0606020202030204" pitchFamily="34" charset="0"/>
              </a:rPr>
              <a:t> </a:t>
            </a:r>
            <a:r>
              <a:rPr lang="tr-TR" sz="2800" dirty="0" err="1" smtClean="0">
                <a:latin typeface="Arial Narrow" panose="020B0606020202030204" pitchFamily="34" charset="0"/>
              </a:rPr>
              <a:t>Costing</a:t>
            </a:r>
            <a:r>
              <a:rPr lang="tr-TR" sz="2800" dirty="0">
                <a:latin typeface="Arial Narrow" panose="020B0606020202030204" pitchFamily="34" charset="0"/>
              </a:rPr>
              <a:t> </a:t>
            </a:r>
            <a:r>
              <a:rPr lang="tr-TR" sz="2800" dirty="0" smtClean="0">
                <a:latin typeface="Arial Narrow" panose="020B0606020202030204" pitchFamily="34" charset="0"/>
              </a:rPr>
              <a:t>/ Activity-</a:t>
            </a:r>
            <a:r>
              <a:rPr lang="tr-TR" sz="2800" dirty="0" err="1" smtClean="0">
                <a:latin typeface="Arial Narrow" panose="020B0606020202030204" pitchFamily="34" charset="0"/>
              </a:rPr>
              <a:t>Based</a:t>
            </a:r>
            <a:r>
              <a:rPr lang="tr-TR" sz="2800" dirty="0" smtClean="0">
                <a:latin typeface="Arial Narrow" panose="020B0606020202030204" pitchFamily="34" charset="0"/>
              </a:rPr>
              <a:t> </a:t>
            </a:r>
            <a:r>
              <a:rPr lang="tr-TR" sz="2800" dirty="0" err="1" smtClean="0">
                <a:latin typeface="Arial Narrow" panose="020B0606020202030204" pitchFamily="34" charset="0"/>
              </a:rPr>
              <a:t>Costing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Batch</a:t>
            </a:r>
            <a:r>
              <a:rPr lang="tr-TR" sz="18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Costing</a:t>
            </a:r>
            <a:r>
              <a:rPr lang="tr-TR" sz="18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: </a:t>
            </a:r>
            <a:r>
              <a:rPr lang="tr-TR" sz="1800" dirty="0" smtClean="0">
                <a:latin typeface="Arial Narrow" panose="020B0606020202030204" pitchFamily="34" charset="0"/>
              </a:rPr>
              <a:t>A </a:t>
            </a:r>
            <a:r>
              <a:rPr lang="tr-TR" sz="1800" dirty="0" err="1">
                <a:latin typeface="Arial Narrow" panose="020B0606020202030204" pitchFamily="34" charset="0"/>
              </a:rPr>
              <a:t>variation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job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costing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where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each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job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consists</a:t>
            </a:r>
            <a:r>
              <a:rPr lang="tr-TR" sz="1800" dirty="0">
                <a:latin typeface="Arial Narrow" panose="020B0606020202030204" pitchFamily="34" charset="0"/>
              </a:rPr>
              <a:t> of a </a:t>
            </a:r>
            <a:r>
              <a:rPr lang="tr-TR" sz="1800" dirty="0" err="1">
                <a:latin typeface="Arial Narrow" panose="020B0606020202030204" pitchFamily="34" charset="0"/>
              </a:rPr>
              <a:t>number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identical</a:t>
            </a:r>
            <a:r>
              <a:rPr lang="tr-TR" sz="1800" dirty="0">
                <a:latin typeface="Arial Narrow" panose="020B0606020202030204" pitchFamily="34" charset="0"/>
              </a:rPr>
              <a:t> (</a:t>
            </a:r>
            <a:r>
              <a:rPr lang="tr-TR" sz="1800" dirty="0" err="1">
                <a:latin typeface="Arial Narrow" panose="020B0606020202030204" pitchFamily="34" charset="0"/>
              </a:rPr>
              <a:t>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near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identical</a:t>
            </a:r>
            <a:r>
              <a:rPr lang="tr-TR" sz="1800" dirty="0">
                <a:latin typeface="Arial Narrow" panose="020B0606020202030204" pitchFamily="34" charset="0"/>
              </a:rPr>
              <a:t>)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units</a:t>
            </a:r>
            <a:r>
              <a:rPr lang="tr-TR" sz="1800" dirty="0" smtClean="0">
                <a:latin typeface="Arial Narrow" panose="020B0606020202030204" pitchFamily="34" charset="0"/>
              </a:rPr>
              <a:t>: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per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unit</a:t>
            </a:r>
            <a:r>
              <a:rPr lang="tr-TR" sz="1800" dirty="0">
                <a:latin typeface="Arial Narrow" panose="020B0606020202030204" pitchFamily="34" charset="0"/>
              </a:rPr>
              <a:t> =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batch</a:t>
            </a:r>
            <a:r>
              <a:rPr lang="tr-TR" sz="1800" dirty="0">
                <a:latin typeface="Arial Narrow" panose="020B0606020202030204" pitchFamily="34" charset="0"/>
              </a:rPr>
              <a:t> (</a:t>
            </a:r>
            <a:r>
              <a:rPr lang="tr-TR" sz="1800" dirty="0" err="1">
                <a:latin typeface="Arial Narrow" panose="020B0606020202030204" pitchFamily="34" charset="0"/>
              </a:rPr>
              <a:t>direct</a:t>
            </a:r>
            <a:r>
              <a:rPr lang="tr-TR" sz="1800" dirty="0">
                <a:latin typeface="Arial Narrow" panose="020B0606020202030204" pitchFamily="34" charset="0"/>
              </a:rPr>
              <a:t> +</a:t>
            </a:r>
            <a:r>
              <a:rPr lang="tr-TR" sz="1800" dirty="0" err="1">
                <a:latin typeface="Arial Narrow" panose="020B0606020202030204" pitchFamily="34" charset="0"/>
              </a:rPr>
              <a:t>indirect</a:t>
            </a:r>
            <a:r>
              <a:rPr lang="tr-TR" sz="1800" dirty="0">
                <a:latin typeface="Arial Narrow" panose="020B0606020202030204" pitchFamily="34" charset="0"/>
              </a:rPr>
              <a:t>) / </a:t>
            </a:r>
            <a:r>
              <a:rPr lang="tr-TR" sz="1800" dirty="0" err="1">
                <a:latin typeface="Arial Narrow" panose="020B0606020202030204" pitchFamily="34" charset="0"/>
              </a:rPr>
              <a:t>Number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units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batch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If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full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charged</a:t>
            </a:r>
            <a:r>
              <a:rPr lang="tr-TR" sz="1800" dirty="0">
                <a:latin typeface="Arial Narrow" panose="020B0606020202030204" pitchFamily="34" charset="0"/>
              </a:rPr>
              <a:t> as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sales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price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things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go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according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smtClean="0">
                <a:latin typeface="Arial Narrow" panose="020B0606020202030204" pitchFamily="34" charset="0"/>
              </a:rPr>
              <a:t>plan,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business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will</a:t>
            </a:r>
            <a:r>
              <a:rPr lang="tr-TR" sz="1800" dirty="0">
                <a:latin typeface="Arial Narrow" panose="020B0606020202030204" pitchFamily="34" charset="0"/>
              </a:rPr>
              <a:t> break </a:t>
            </a:r>
            <a:r>
              <a:rPr lang="tr-TR" sz="1800" dirty="0" err="1">
                <a:latin typeface="Arial Narrow" panose="020B0606020202030204" pitchFamily="34" charset="0"/>
              </a:rPr>
              <a:t>even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>
                <a:solidFill>
                  <a:srgbClr val="800000"/>
                </a:solidFill>
                <a:latin typeface="Arial Narrow" panose="020B0606020202030204" pitchFamily="34" charset="0"/>
              </a:rPr>
              <a:t>Activity-</a:t>
            </a:r>
            <a:r>
              <a:rPr lang="tr-TR" sz="18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based</a:t>
            </a:r>
            <a:r>
              <a:rPr lang="tr-TR" sz="18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costing</a:t>
            </a:r>
            <a:r>
              <a:rPr lang="tr-TR" sz="1800" dirty="0">
                <a:solidFill>
                  <a:srgbClr val="800000"/>
                </a:solidFill>
                <a:latin typeface="Arial Narrow" panose="020B0606020202030204" pitchFamily="34" charset="0"/>
              </a:rPr>
              <a:t> (</a:t>
            </a:r>
            <a:r>
              <a:rPr lang="tr-TR" sz="18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ABC</a:t>
            </a:r>
            <a:r>
              <a:rPr lang="tr-TR" sz="1800" dirty="0">
                <a:solidFill>
                  <a:srgbClr val="800000"/>
                </a:solidFill>
                <a:latin typeface="Arial Narrow" panose="020B0606020202030204" pitchFamily="34" charset="0"/>
              </a:rPr>
              <a:t>) </a:t>
            </a:r>
            <a:r>
              <a:rPr lang="tr-TR" sz="1800" dirty="0">
                <a:latin typeface="Arial Narrow" panose="020B0606020202030204" pitchFamily="34" charset="0"/>
              </a:rPr>
              <a:t>is an </a:t>
            </a:r>
            <a:r>
              <a:rPr lang="tr-TR" sz="1800" dirty="0" err="1">
                <a:latin typeface="Arial Narrow" panose="020B0606020202030204" pitchFamily="34" charset="0"/>
              </a:rPr>
              <a:t>approach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dealing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with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overheads</a:t>
            </a:r>
            <a:r>
              <a:rPr lang="tr-TR" sz="1800" dirty="0">
                <a:latin typeface="Arial Narrow" panose="020B0606020202030204" pitchFamily="34" charset="0"/>
              </a:rPr>
              <a:t> (in </a:t>
            </a:r>
            <a:r>
              <a:rPr lang="tr-TR" sz="1800" dirty="0" err="1">
                <a:latin typeface="Arial Narrow" panose="020B0606020202030204" pitchFamily="34" charset="0"/>
              </a:rPr>
              <a:t>full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costing</a:t>
            </a:r>
            <a:r>
              <a:rPr lang="tr-TR" sz="1800" dirty="0" smtClean="0">
                <a:latin typeface="Arial Narrow" panose="020B0606020202030204" pitchFamily="34" charset="0"/>
              </a:rPr>
              <a:t>)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that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treats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as </a:t>
            </a:r>
            <a:r>
              <a:rPr lang="tr-TR" sz="1800" dirty="0" err="1">
                <a:latin typeface="Arial Narrow" panose="020B0606020202030204" pitchFamily="34" charset="0"/>
              </a:rPr>
              <a:t>being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caused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or</a:t>
            </a:r>
            <a:r>
              <a:rPr lang="tr-TR" sz="1800" dirty="0">
                <a:latin typeface="Arial Narrow" panose="020B0606020202030204" pitchFamily="34" charset="0"/>
              </a:rPr>
              <a:t> "</a:t>
            </a:r>
            <a:r>
              <a:rPr lang="tr-TR" sz="1800" dirty="0" err="1">
                <a:latin typeface="Arial Narrow" panose="020B0606020202030204" pitchFamily="34" charset="0"/>
              </a:rPr>
              <a:t>driven</a:t>
            </a:r>
            <a:r>
              <a:rPr lang="tr-TR" sz="1800" dirty="0">
                <a:latin typeface="Arial Narrow" panose="020B0606020202030204" pitchFamily="34" charset="0"/>
              </a:rPr>
              <a:t>" </a:t>
            </a:r>
            <a:r>
              <a:rPr lang="tr-TR" sz="1800" dirty="0" err="1">
                <a:latin typeface="Arial Narrow" panose="020B0606020202030204" pitchFamily="34" charset="0"/>
              </a:rPr>
              <a:t>by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activities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While</a:t>
            </a:r>
            <a:r>
              <a:rPr lang="tr-TR" sz="1800" dirty="0" smtClean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traditional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approach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overhead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allocated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smtClean="0">
                <a:latin typeface="Arial Narrow" panose="020B0606020202030204" pitchFamily="34" charset="0"/>
              </a:rPr>
              <a:t>on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basis</a:t>
            </a:r>
            <a:r>
              <a:rPr lang="tr-TR" sz="1800" dirty="0" smtClean="0">
                <a:latin typeface="Arial Narrow" panose="020B0606020202030204" pitchFamily="34" charset="0"/>
              </a:rPr>
              <a:t> of a </a:t>
            </a:r>
            <a:r>
              <a:rPr lang="tr-TR" sz="1800" dirty="0" err="1" smtClean="0">
                <a:latin typeface="Arial Narrow" panose="020B0606020202030204" pitchFamily="34" charset="0"/>
              </a:rPr>
              <a:t>parameter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in </a:t>
            </a:r>
            <a:r>
              <a:rPr lang="tr-TR" sz="1800" dirty="0" err="1" smtClean="0">
                <a:latin typeface="Arial Narrow" panose="020B0606020202030204" pitchFamily="34" charset="0"/>
              </a:rPr>
              <a:t>ABC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approach</a:t>
            </a:r>
            <a:r>
              <a:rPr lang="tr-TR" sz="1800" dirty="0" smtClean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overhead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charged</a:t>
            </a:r>
            <a:r>
              <a:rPr lang="tr-TR" sz="1800" dirty="0" smtClean="0">
                <a:latin typeface="Arial Narrow" panose="020B0606020202030204" pitchFamily="34" charset="0"/>
              </a:rPr>
              <a:t> on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basis</a:t>
            </a:r>
            <a:r>
              <a:rPr lang="tr-TR" sz="1800" dirty="0" smtClean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activities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Advocates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argue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it is </a:t>
            </a:r>
            <a:r>
              <a:rPr lang="tr-TR" sz="1800" dirty="0" err="1">
                <a:latin typeface="Arial Narrow" panose="020B0606020202030204" pitchFamily="34" charset="0"/>
              </a:rPr>
              <a:t>more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relevant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modern </a:t>
            </a:r>
            <a:r>
              <a:rPr lang="tr-TR" sz="1800" dirty="0" err="1">
                <a:latin typeface="Arial Narrow" panose="020B0606020202030204" pitchFamily="34" charset="0"/>
              </a:rPr>
              <a:t>commercial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environment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than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is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traditional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approach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Identification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drivers</a:t>
            </a:r>
            <a:r>
              <a:rPr lang="tr-TR" sz="1800" dirty="0">
                <a:latin typeface="Arial Narrow" panose="020B0606020202030204" pitchFamily="34" charset="0"/>
              </a:rPr>
              <a:t> can </a:t>
            </a:r>
            <a:r>
              <a:rPr lang="tr-TR" sz="1800" dirty="0" err="1">
                <a:latin typeface="Arial Narrow" panose="020B0606020202030204" pitchFamily="34" charset="0"/>
              </a:rPr>
              <a:t>lead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relevant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indirect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treatment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full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costing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Identification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drivers</a:t>
            </a:r>
            <a:r>
              <a:rPr lang="tr-TR" sz="1800" dirty="0">
                <a:latin typeface="Arial Narrow" panose="020B0606020202030204" pitchFamily="34" charset="0"/>
              </a:rPr>
              <a:t> can </a:t>
            </a:r>
            <a:r>
              <a:rPr lang="tr-TR" sz="1800" dirty="0" err="1">
                <a:latin typeface="Arial Narrow" panose="020B0606020202030204" pitchFamily="34" charset="0"/>
              </a:rPr>
              <a:t>lead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better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control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overheads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Critics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argue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ABC</a:t>
            </a:r>
            <a:r>
              <a:rPr lang="tr-TR" sz="1800" dirty="0">
                <a:latin typeface="Arial Narrow" panose="020B0606020202030204" pitchFamily="34" charset="0"/>
              </a:rPr>
              <a:t> is time-</a:t>
            </a:r>
            <a:r>
              <a:rPr lang="tr-TR" sz="1800" dirty="0" err="1">
                <a:latin typeface="Arial Narrow" panose="020B0606020202030204" pitchFamily="34" charset="0"/>
              </a:rPr>
              <a:t>consuming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expensive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apply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not </a:t>
            </a:r>
            <a:r>
              <a:rPr lang="tr-TR" sz="1800" dirty="0" err="1">
                <a:latin typeface="Arial Narrow" panose="020B0606020202030204" pitchFamily="34" charset="0"/>
              </a:rPr>
              <a:t>justified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possible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improvement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quality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information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  <a:endParaRPr lang="tr-TR" sz="18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20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Full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Costing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anose="020B0606020202030204" pitchFamily="34" charset="0"/>
              </a:rPr>
              <a:t>Activity-</a:t>
            </a:r>
            <a:r>
              <a:rPr lang="tr-TR" sz="2800" dirty="0" err="1" smtClean="0">
                <a:latin typeface="Arial Narrow" panose="020B0606020202030204" pitchFamily="34" charset="0"/>
              </a:rPr>
              <a:t>Based</a:t>
            </a:r>
            <a:r>
              <a:rPr lang="tr-TR" sz="2800" dirty="0" smtClean="0">
                <a:latin typeface="Arial Narrow" panose="020B0606020202030204" pitchFamily="34" charset="0"/>
              </a:rPr>
              <a:t> </a:t>
            </a:r>
            <a:r>
              <a:rPr lang="tr-TR" sz="2800" dirty="0" err="1" smtClean="0">
                <a:latin typeface="Arial Narrow" panose="020B0606020202030204" pitchFamily="34" charset="0"/>
              </a:rPr>
              <a:t>Costing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925144"/>
          </a:xfrm>
          <a:ln w="25400"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Modern </a:t>
            </a:r>
            <a:r>
              <a:rPr lang="tr-TR" sz="1600" dirty="0" err="1">
                <a:latin typeface="Arial Narrow" panose="020B0606020202030204" pitchFamily="34" charset="0"/>
              </a:rPr>
              <a:t>Producers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Ltd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runs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like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virtually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all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manufacturers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finished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goods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stores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business</a:t>
            </a:r>
            <a:r>
              <a:rPr lang="tr-TR" sz="1600" dirty="0">
                <a:latin typeface="Arial Narrow" panose="020B0606020202030204" pitchFamily="34" charset="0"/>
              </a:rPr>
              <a:t> has </a:t>
            </a:r>
            <a:r>
              <a:rPr lang="tr-TR" sz="1600" dirty="0" err="1">
                <a:latin typeface="Arial Narrow" panose="020B0606020202030204" pitchFamily="34" charset="0"/>
              </a:rPr>
              <a:t>two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product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lines</a:t>
            </a:r>
            <a:r>
              <a:rPr lang="tr-TR" sz="1600" dirty="0">
                <a:latin typeface="Arial Narrow" panose="020B0606020202030204" pitchFamily="34" charset="0"/>
              </a:rPr>
              <a:t>, A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smtClean="0">
                <a:latin typeface="Arial Narrow" panose="020B0606020202030204" pitchFamily="34" charset="0"/>
              </a:rPr>
              <a:t>B.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Product </a:t>
            </a:r>
            <a:r>
              <a:rPr lang="tr-TR" sz="1600" dirty="0">
                <a:latin typeface="Arial Narrow" panose="020B0606020202030204" pitchFamily="34" charset="0"/>
              </a:rPr>
              <a:t>A </a:t>
            </a:r>
            <a:r>
              <a:rPr lang="tr-TR" sz="1600" dirty="0" err="1">
                <a:latin typeface="Arial Narrow" panose="020B0606020202030204" pitchFamily="34" charset="0"/>
              </a:rPr>
              <a:t>tends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be </a:t>
            </a:r>
            <a:r>
              <a:rPr lang="tr-TR" sz="1600" dirty="0" err="1">
                <a:latin typeface="Arial Narrow" panose="020B0606020202030204" pitchFamily="34" charset="0"/>
              </a:rPr>
              <a:t>made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small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batches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low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levels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finished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goods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inventories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held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Product </a:t>
            </a:r>
            <a:r>
              <a:rPr lang="tr-TR" sz="1600" dirty="0">
                <a:latin typeface="Arial Narrow" panose="020B0606020202030204" pitchFamily="34" charset="0"/>
              </a:rPr>
              <a:t>B is </a:t>
            </a:r>
            <a:r>
              <a:rPr lang="tr-TR" sz="1600" dirty="0" err="1">
                <a:latin typeface="Arial Narrow" panose="020B0606020202030204" pitchFamily="34" charset="0"/>
              </a:rPr>
              <a:t>supllied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relatively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large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quantities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instantly</a:t>
            </a:r>
            <a:r>
              <a:rPr lang="tr-TR" sz="1600" dirty="0" smtClean="0">
                <a:latin typeface="Arial Narrow" panose="020B0606020202030204" pitchFamily="34" charset="0"/>
              </a:rPr>
              <a:t>. As </a:t>
            </a:r>
            <a:r>
              <a:rPr lang="tr-TR" sz="1600" dirty="0">
                <a:latin typeface="Arial Narrow" panose="020B0606020202030204" pitchFamily="34" charset="0"/>
              </a:rPr>
              <a:t>a </a:t>
            </a:r>
            <a:r>
              <a:rPr lang="tr-TR" sz="1600" dirty="0" err="1" smtClean="0">
                <a:latin typeface="Arial Narrow" panose="020B0606020202030204" pitchFamily="34" charset="0"/>
              </a:rPr>
              <a:t>consequence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much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of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finished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goods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stores</a:t>
            </a:r>
            <a:r>
              <a:rPr lang="tr-TR" sz="1600" dirty="0">
                <a:latin typeface="Arial Narrow" panose="020B0606020202030204" pitchFamily="34" charset="0"/>
              </a:rPr>
              <a:t> is </a:t>
            </a:r>
            <a:r>
              <a:rPr lang="tr-TR" sz="1600" dirty="0" err="1">
                <a:latin typeface="Arial Narrow" panose="020B0606020202030204" pitchFamily="34" charset="0"/>
              </a:rPr>
              <a:t>filled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with</a:t>
            </a:r>
            <a:r>
              <a:rPr lang="tr-TR" sz="1600" dirty="0">
                <a:latin typeface="Arial Narrow" panose="020B0606020202030204" pitchFamily="34" charset="0"/>
              </a:rPr>
              <a:t> Product B </a:t>
            </a:r>
            <a:r>
              <a:rPr lang="tr-TR" sz="1600" dirty="0" err="1">
                <a:latin typeface="Arial Narrow" panose="020B0606020202030204" pitchFamily="34" charset="0"/>
              </a:rPr>
              <a:t>ready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be </a:t>
            </a:r>
            <a:r>
              <a:rPr lang="tr-TR" sz="1600" dirty="0" err="1">
                <a:latin typeface="Arial Narrow" panose="020B0606020202030204" pitchFamily="34" charset="0"/>
              </a:rPr>
              <a:t>dispatched</a:t>
            </a:r>
            <a:r>
              <a:rPr lang="tr-TR" sz="1600" dirty="0">
                <a:latin typeface="Arial Narrow" panose="020B0606020202030204" pitchFamily="34" charset="0"/>
              </a:rPr>
              <a:t> as an </a:t>
            </a:r>
            <a:r>
              <a:rPr lang="tr-TR" sz="1600" dirty="0" err="1">
                <a:latin typeface="Arial Narrow" panose="020B0606020202030204" pitchFamily="34" charset="0"/>
              </a:rPr>
              <a:t>order</a:t>
            </a:r>
            <a:r>
              <a:rPr lang="tr-TR" sz="1600" dirty="0">
                <a:latin typeface="Arial Narrow" panose="020B0606020202030204" pitchFamily="34" charset="0"/>
              </a:rPr>
              <a:t> is </a:t>
            </a:r>
            <a:r>
              <a:rPr lang="tr-TR" sz="1600" dirty="0" err="1" smtClean="0">
                <a:latin typeface="Arial Narrow" panose="020B0606020202030204" pitchFamily="34" charset="0"/>
              </a:rPr>
              <a:t>received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Traditionally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>
                <a:latin typeface="Arial Narrow" panose="020B0606020202030204" pitchFamily="34" charset="0"/>
              </a:rPr>
              <a:t> of of </a:t>
            </a:r>
            <a:r>
              <a:rPr lang="tr-TR" sz="1600" dirty="0" err="1">
                <a:latin typeface="Arial Narrow" panose="020B0606020202030204" pitchFamily="34" charset="0"/>
              </a:rPr>
              <a:t>operationg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stores</a:t>
            </a:r>
            <a:r>
              <a:rPr lang="tr-TR" sz="1600" dirty="0">
                <a:latin typeface="Arial Narrow" panose="020B0606020202030204" pitchFamily="34" charset="0"/>
              </a:rPr>
              <a:t> (an </a:t>
            </a:r>
            <a:r>
              <a:rPr lang="tr-TR" sz="1600" dirty="0" err="1">
                <a:latin typeface="Arial Narrow" panose="020B0606020202030204" pitchFamily="34" charset="0"/>
              </a:rPr>
              <a:t>overhead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>
                <a:latin typeface="Arial Narrow" panose="020B0606020202030204" pitchFamily="34" charset="0"/>
              </a:rPr>
              <a:t>)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allocated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products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smtClean="0">
                <a:latin typeface="Arial Narrow" panose="020B0606020202030204" pitchFamily="34" charset="0"/>
              </a:rPr>
              <a:t>B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according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number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direct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labour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hours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worked</a:t>
            </a:r>
            <a:r>
              <a:rPr lang="tr-TR" sz="1600" dirty="0">
                <a:latin typeface="Arial Narrow" panose="020B0606020202030204" pitchFamily="34" charset="0"/>
              </a:rPr>
              <a:t> on </a:t>
            </a:r>
            <a:r>
              <a:rPr lang="tr-TR" sz="1600" dirty="0" err="1">
                <a:latin typeface="Arial Narrow" panose="020B0606020202030204" pitchFamily="34" charset="0"/>
              </a:rPr>
              <a:t>each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one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did</a:t>
            </a:r>
            <a:r>
              <a:rPr lang="tr-TR" sz="1600" dirty="0">
                <a:latin typeface="Arial Narrow" panose="020B0606020202030204" pitchFamily="34" charset="0"/>
              </a:rPr>
              <a:t> not </a:t>
            </a:r>
            <a:r>
              <a:rPr lang="tr-TR" sz="1600" dirty="0" err="1">
                <a:latin typeface="Arial Narrow" panose="020B0606020202030204" pitchFamily="34" charset="0"/>
              </a:rPr>
              <a:t>seem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fair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new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accountant</a:t>
            </a:r>
            <a:r>
              <a:rPr lang="tr-TR" sz="1600" dirty="0">
                <a:latin typeface="Arial Narrow" panose="020B0606020202030204" pitchFamily="34" charset="0"/>
              </a:rPr>
              <a:t> Modern </a:t>
            </a:r>
            <a:r>
              <a:rPr lang="tr-TR" sz="1600" dirty="0" err="1">
                <a:latin typeface="Arial Narrow" panose="020B0606020202030204" pitchFamily="34" charset="0"/>
              </a:rPr>
              <a:t>Producers</a:t>
            </a:r>
            <a:r>
              <a:rPr lang="tr-TR" sz="1600" dirty="0">
                <a:latin typeface="Arial Narrow" panose="020B0606020202030204" pitchFamily="34" charset="0"/>
              </a:rPr>
              <a:t> Ltd.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 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He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estimated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that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costs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running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finished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goods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stores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for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next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year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will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be 90,000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$.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800" dirty="0" smtClean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It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is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also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estimated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that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each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unit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Product A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will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spend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an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average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1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week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stores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before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being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sold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Product B,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equivalent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period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is 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4 </a:t>
            </a: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weeks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Both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products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are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roughly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similar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size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and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have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very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similar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storage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needs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800" dirty="0" smtClean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It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is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estimated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that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next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year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50,000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units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Product A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and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25,000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units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Product B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will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pass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through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stores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600" dirty="0" smtClean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new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accountant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wants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allocate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overhead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cost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running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finished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goods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stores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products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and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B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according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Activity-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Based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Costing</a:t>
            </a:r>
            <a:endParaRPr lang="tr-TR" sz="16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quantity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products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and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time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spent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stores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as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cost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drivers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  <a:endParaRPr lang="tr-TR" sz="1600" noProof="1" smtClean="0">
              <a:solidFill>
                <a:srgbClr val="000066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50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1400" dirty="0" smtClean="0">
                <a:latin typeface="Arial Narrow" pitchFamily="34" charset="0"/>
              </a:rPr>
              <a:t> 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1520" y="116632"/>
            <a:ext cx="8640960" cy="6624736"/>
          </a:xfrm>
          <a:ln w="25400"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tr-TR" sz="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2800" dirty="0" smtClean="0">
                <a:latin typeface="Arial Narrow" panose="020B0606020202030204" pitchFamily="34" charset="0"/>
              </a:rPr>
              <a:t>Activity-</a:t>
            </a:r>
            <a:r>
              <a:rPr lang="tr-TR" sz="2800" dirty="0" err="1" smtClean="0">
                <a:latin typeface="Arial Narrow" panose="020B0606020202030204" pitchFamily="34" charset="0"/>
              </a:rPr>
              <a:t>Based</a:t>
            </a:r>
            <a:r>
              <a:rPr lang="tr-TR" sz="2800" dirty="0" smtClean="0">
                <a:latin typeface="Arial Narrow" panose="020B0606020202030204" pitchFamily="34" charset="0"/>
              </a:rPr>
              <a:t> </a:t>
            </a:r>
            <a:r>
              <a:rPr lang="tr-TR" sz="2800" dirty="0" err="1">
                <a:latin typeface="Arial Narrow" panose="020B0606020202030204" pitchFamily="34" charset="0"/>
              </a:rPr>
              <a:t>Costing</a:t>
            </a:r>
            <a:endParaRPr lang="tr-TR" sz="2800" dirty="0" smtClean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800" dirty="0" smtClean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He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estimated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that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costs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running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finished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goods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stores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for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next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year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will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be 90,000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$.</a:t>
            </a:r>
            <a:endParaRPr lang="tr-TR" sz="800" dirty="0" smtClean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It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is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also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estimated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that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each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unit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Product A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will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spend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an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average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1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week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stores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before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being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sold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Product B,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equivalent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period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is 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4 </a:t>
            </a: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weeks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Both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products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are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roughly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similar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size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and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have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very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similar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storage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needs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  <a:endParaRPr lang="tr-TR" sz="800" dirty="0" smtClean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It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is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estimated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that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next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year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50,000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units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Product A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and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25,000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units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Product B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will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pass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through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stores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new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accountant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wants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allocate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overhead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cost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running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finished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goods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stores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products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and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B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according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Activity-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Based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Costing</a:t>
            </a:r>
            <a:endParaRPr lang="tr-TR" sz="16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quantity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products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and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time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spent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stores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as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cost</a:t>
            </a:r>
            <a:r>
              <a:rPr lang="tr-TR" sz="16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drivers</a:t>
            </a:r>
            <a:r>
              <a:rPr lang="tr-TR" sz="16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total </a:t>
            </a:r>
            <a:r>
              <a:rPr lang="tr-TR" sz="1600" dirty="0" err="1">
                <a:latin typeface="Arial Narrow" panose="020B0606020202030204" pitchFamily="34" charset="0"/>
              </a:rPr>
              <a:t>number</a:t>
            </a:r>
            <a:r>
              <a:rPr lang="tr-TR" sz="1600" dirty="0">
                <a:latin typeface="Arial Narrow" panose="020B0606020202030204" pitchFamily="34" charset="0"/>
              </a:rPr>
              <a:t> of "</a:t>
            </a:r>
            <a:r>
              <a:rPr lang="tr-TR" sz="1600" dirty="0" err="1">
                <a:latin typeface="Arial Narrow" panose="020B0606020202030204" pitchFamily="34" charset="0"/>
              </a:rPr>
              <a:t>product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weeks</a:t>
            </a:r>
            <a:r>
              <a:rPr lang="tr-TR" sz="1600" dirty="0">
                <a:latin typeface="Arial Narrow" panose="020B0606020202030204" pitchFamily="34" charset="0"/>
              </a:rPr>
              <a:t>" in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stores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will</a:t>
            </a:r>
            <a:r>
              <a:rPr lang="tr-TR" sz="1600" dirty="0">
                <a:latin typeface="Arial Narrow" panose="020B0606020202030204" pitchFamily="34" charset="0"/>
              </a:rPr>
              <a:t> be</a:t>
            </a:r>
            <a:r>
              <a:rPr lang="tr-TR" sz="1600" dirty="0" smtClean="0">
                <a:latin typeface="Arial Narrow" panose="020B0606020202030204" pitchFamily="34" charset="0"/>
              </a:rPr>
              <a:t>: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finished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goods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store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per</a:t>
            </a:r>
            <a:r>
              <a:rPr lang="tr-TR" sz="1600" dirty="0">
                <a:latin typeface="Arial Narrow" panose="020B0606020202030204" pitchFamily="34" charset="0"/>
              </a:rPr>
              <a:t> "</a:t>
            </a:r>
            <a:r>
              <a:rPr lang="tr-TR" sz="1600" dirty="0" err="1">
                <a:latin typeface="Arial Narrow" panose="020B0606020202030204" pitchFamily="34" charset="0"/>
              </a:rPr>
              <a:t>product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week</a:t>
            </a:r>
            <a:r>
              <a:rPr lang="tr-TR" sz="1600" dirty="0">
                <a:latin typeface="Arial Narrow" panose="020B0606020202030204" pitchFamily="34" charset="0"/>
              </a:rPr>
              <a:t>" is </a:t>
            </a:r>
            <a:r>
              <a:rPr lang="tr-TR" sz="1600" dirty="0" err="1">
                <a:latin typeface="Arial Narrow" panose="020B0606020202030204" pitchFamily="34" charset="0"/>
              </a:rPr>
              <a:t>given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90,000$ / 150,000 </a:t>
            </a:r>
            <a:r>
              <a:rPr lang="tr-TR" sz="1600" dirty="0" err="1">
                <a:latin typeface="Arial Narrow" panose="020B0606020202030204" pitchFamily="34" charset="0"/>
              </a:rPr>
              <a:t>product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weeks</a:t>
            </a:r>
            <a:r>
              <a:rPr lang="tr-TR" sz="1600" dirty="0">
                <a:latin typeface="Arial Narrow" panose="020B0606020202030204" pitchFamily="34" charset="0"/>
              </a:rPr>
              <a:t> = 0.60$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Therefore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each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unit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product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product</a:t>
            </a:r>
            <a:r>
              <a:rPr lang="tr-TR" sz="1600" dirty="0">
                <a:latin typeface="Arial Narrow" panose="020B0606020202030204" pitchFamily="34" charset="0"/>
              </a:rPr>
              <a:t> B </a:t>
            </a:r>
            <a:r>
              <a:rPr lang="tr-TR" sz="1600" dirty="0" err="1">
                <a:latin typeface="Arial Narrow" panose="020B0606020202030204" pitchFamily="34" charset="0"/>
              </a:rPr>
              <a:t>will</a:t>
            </a:r>
            <a:r>
              <a:rPr lang="tr-TR" sz="1600" dirty="0">
                <a:latin typeface="Arial Narrow" panose="020B0606020202030204" pitchFamily="34" charset="0"/>
              </a:rPr>
              <a:t> be </a:t>
            </a:r>
            <a:r>
              <a:rPr lang="tr-TR" sz="1600" dirty="0" err="1">
                <a:latin typeface="Arial Narrow" panose="020B0606020202030204" pitchFamily="34" charset="0"/>
              </a:rPr>
              <a:t>charged</a:t>
            </a:r>
            <a:r>
              <a:rPr lang="tr-TR" sz="1600" dirty="0">
                <a:latin typeface="Arial Narrow" panose="020B0606020202030204" pitchFamily="34" charset="0"/>
              </a:rPr>
              <a:t> as </a:t>
            </a:r>
            <a:r>
              <a:rPr lang="tr-TR" sz="1600" dirty="0" err="1">
                <a:latin typeface="Arial Narrow" panose="020B0606020202030204" pitchFamily="34" charset="0"/>
              </a:rPr>
              <a:t>follows</a:t>
            </a:r>
            <a:r>
              <a:rPr lang="tr-TR" sz="1600" dirty="0">
                <a:latin typeface="Arial Narrow" panose="020B0606020202030204" pitchFamily="34" charset="0"/>
              </a:rPr>
              <a:t>:</a:t>
            </a:r>
            <a:endParaRPr lang="tr-TR" sz="1600" noProof="1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053" y="3212976"/>
            <a:ext cx="4539893" cy="165618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319" y="5445224"/>
            <a:ext cx="4883360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2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Full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Costing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solidFill>
                  <a:srgbClr val="00B050"/>
                </a:solidFill>
                <a:latin typeface="Arial Narrow" panose="020B0606020202030204" pitchFamily="34" charset="0"/>
              </a:rPr>
              <a:t>Pricing</a:t>
            </a:r>
            <a:r>
              <a:rPr lang="tr-TR" sz="1800" dirty="0" smtClean="0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>
                <a:solidFill>
                  <a:srgbClr val="00B050"/>
                </a:solidFill>
                <a:latin typeface="Arial Narrow" panose="020B0606020202030204" pitchFamily="34" charset="0"/>
              </a:rPr>
              <a:t>(</a:t>
            </a:r>
            <a:r>
              <a:rPr lang="tr-TR" sz="1800" dirty="0" err="1">
                <a:solidFill>
                  <a:srgbClr val="00B050"/>
                </a:solidFill>
                <a:latin typeface="Arial Narrow" panose="020B0606020202030204" pitchFamily="34" charset="0"/>
              </a:rPr>
              <a:t>full</a:t>
            </a:r>
            <a:r>
              <a:rPr lang="tr-TR" sz="1800" dirty="0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B050"/>
                </a:solidFill>
                <a:latin typeface="Arial Narrow" panose="020B0606020202030204" pitchFamily="34" charset="0"/>
              </a:rPr>
              <a:t>cost</a:t>
            </a:r>
            <a:r>
              <a:rPr lang="tr-TR" sz="1800" dirty="0">
                <a:solidFill>
                  <a:srgbClr val="00B050"/>
                </a:solidFill>
                <a:latin typeface="Arial Narrow" panose="020B0606020202030204" pitchFamily="34" charset="0"/>
              </a:rPr>
              <a:t>) on a </a:t>
            </a:r>
            <a:r>
              <a:rPr lang="tr-TR" sz="1800" dirty="0" err="1">
                <a:solidFill>
                  <a:srgbClr val="00B050"/>
                </a:solidFill>
                <a:latin typeface="Arial Narrow" panose="020B0606020202030204" pitchFamily="34" charset="0"/>
              </a:rPr>
              <a:t>cost-plus</a:t>
            </a:r>
            <a:r>
              <a:rPr lang="tr-TR" sz="1800" dirty="0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B050"/>
                </a:solidFill>
                <a:latin typeface="Arial Narrow" panose="020B0606020202030204" pitchFamily="34" charset="0"/>
              </a:rPr>
              <a:t>basis</a:t>
            </a:r>
            <a:r>
              <a:rPr lang="tr-TR" sz="1800" dirty="0">
                <a:solidFill>
                  <a:srgbClr val="00B050"/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In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some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industries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circumstances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full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used</a:t>
            </a:r>
            <a:r>
              <a:rPr lang="tr-TR" sz="1800" dirty="0">
                <a:latin typeface="Arial Narrow" panose="020B0606020202030204" pitchFamily="34" charset="0"/>
              </a:rPr>
              <a:t> as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basis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pricing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Here</a:t>
            </a:r>
            <a:r>
              <a:rPr lang="tr-TR" sz="1800" dirty="0">
                <a:latin typeface="Arial Narrow" panose="020B0606020202030204" pitchFamily="34" charset="0"/>
              </a:rPr>
              <a:t>,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full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deduced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percentage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added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profit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This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is </a:t>
            </a:r>
            <a:r>
              <a:rPr lang="tr-TR" sz="1800" dirty="0" err="1">
                <a:latin typeface="Arial Narrow" panose="020B0606020202030204" pitchFamily="34" charset="0"/>
              </a:rPr>
              <a:t>known</a:t>
            </a:r>
            <a:r>
              <a:rPr lang="tr-TR" sz="1800" dirty="0">
                <a:latin typeface="Arial Narrow" panose="020B0606020202030204" pitchFamily="34" charset="0"/>
              </a:rPr>
              <a:t> as </a:t>
            </a:r>
            <a:r>
              <a:rPr lang="tr-TR" sz="1800" dirty="0" err="1">
                <a:latin typeface="Arial Narrow" panose="020B0606020202030204" pitchFamily="34" charset="0"/>
              </a:rPr>
              <a:t>cost-plus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pricing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Vehicle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repair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shops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typically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operate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this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way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Lawyers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accountants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doing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work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clients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often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use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this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approach</a:t>
            </a:r>
            <a:r>
              <a:rPr lang="tr-TR" sz="1800" dirty="0">
                <a:latin typeface="Arial Narrow" panose="020B0606020202030204" pitchFamily="34" charset="0"/>
              </a:rPr>
              <a:t> as </a:t>
            </a:r>
            <a:r>
              <a:rPr lang="tr-TR" sz="1800" dirty="0" err="1">
                <a:latin typeface="Arial Narrow" panose="020B0606020202030204" pitchFamily="34" charset="0"/>
              </a:rPr>
              <a:t>well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B050"/>
                </a:solidFill>
                <a:latin typeface="Arial Narrow" panose="020B0606020202030204" pitchFamily="34" charset="0"/>
              </a:rPr>
              <a:t>Income</a:t>
            </a:r>
            <a:r>
              <a:rPr lang="tr-TR" sz="1800" dirty="0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B050"/>
                </a:solidFill>
                <a:latin typeface="Arial Narrow" panose="020B0606020202030204" pitchFamily="34" charset="0"/>
              </a:rPr>
              <a:t>measurement</a:t>
            </a:r>
            <a:r>
              <a:rPr lang="tr-TR" sz="1800" dirty="0">
                <a:solidFill>
                  <a:srgbClr val="00B050"/>
                </a:solidFill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Where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smtClean="0">
                <a:latin typeface="Arial Narrow" panose="020B0606020202030204" pitchFamily="34" charset="0"/>
              </a:rPr>
              <a:t>service is </a:t>
            </a:r>
            <a:r>
              <a:rPr lang="tr-TR" sz="1800" dirty="0" err="1">
                <a:latin typeface="Arial Narrow" panose="020B0606020202030204" pitchFamily="34" charset="0"/>
              </a:rPr>
              <a:t>partially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rendered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one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accounting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period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but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revenue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realised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next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Full-</a:t>
            </a:r>
            <a:r>
              <a:rPr lang="tr-TR" sz="1800" dirty="0" err="1" smtClean="0">
                <a:latin typeface="Arial Narrow" panose="020B0606020202030204" pitchFamily="34" charset="0"/>
              </a:rPr>
              <a:t>Costing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information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may</a:t>
            </a:r>
            <a:r>
              <a:rPr lang="tr-TR" sz="1800" dirty="0">
                <a:latin typeface="Arial Narrow" panose="020B0606020202030204" pitchFamily="34" charset="0"/>
              </a:rPr>
              <a:t> be </a:t>
            </a:r>
            <a:r>
              <a:rPr lang="tr-TR" sz="1800" dirty="0" err="1">
                <a:latin typeface="Arial Narrow" panose="020B0606020202030204" pitchFamily="34" charset="0"/>
              </a:rPr>
              <a:t>useful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assessing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profitability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Full </a:t>
            </a:r>
            <a:r>
              <a:rPr lang="tr-TR" sz="1800" dirty="0" err="1">
                <a:latin typeface="Arial Narrow" panose="020B0606020202030204" pitchFamily="34" charset="0"/>
              </a:rPr>
              <a:t>cost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information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seen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some</a:t>
            </a:r>
            <a:r>
              <a:rPr lang="tr-TR" sz="1800" dirty="0">
                <a:latin typeface="Arial Narrow" panose="020B0606020202030204" pitchFamily="34" charset="0"/>
              </a:rPr>
              <a:t> as not </a:t>
            </a:r>
            <a:r>
              <a:rPr lang="tr-TR" sz="1800" dirty="0" err="1">
                <a:latin typeface="Arial Narrow" panose="020B0606020202030204" pitchFamily="34" charset="0"/>
              </a:rPr>
              <a:t>very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useful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because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it can be </a:t>
            </a:r>
            <a:r>
              <a:rPr lang="tr-TR" sz="18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backward</a:t>
            </a:r>
            <a:r>
              <a:rPr lang="tr-TR" sz="18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FF0000"/>
                </a:solidFill>
                <a:latin typeface="Arial Narrow" panose="020B0606020202030204" pitchFamily="34" charset="0"/>
              </a:rPr>
              <a:t>looking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54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337520" y="2738785"/>
            <a:ext cx="4464496" cy="1482304"/>
          </a:xfrm>
          <a:ln w="254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4800" dirty="0" err="1" smtClean="0">
                <a:solidFill>
                  <a:srgbClr val="800000"/>
                </a:solidFill>
                <a:latin typeface="Arial Narrow" pitchFamily="34" charset="0"/>
              </a:rPr>
              <a:t>Budgeting</a:t>
            </a:r>
            <a:endParaRPr lang="tr-T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44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Budgeting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400050" lvl="1" indent="0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8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Budget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= a </a:t>
            </a:r>
            <a:r>
              <a:rPr lang="tr-TR" sz="1800" dirty="0" err="1">
                <a:latin typeface="Arial Narrow" panose="020B0606020202030204" pitchFamily="34" charset="0"/>
              </a:rPr>
              <a:t>short-term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business</a:t>
            </a:r>
            <a:r>
              <a:rPr lang="tr-TR" sz="1800" dirty="0">
                <a:latin typeface="Arial Narrow" panose="020B0606020202030204" pitchFamily="34" charset="0"/>
              </a:rPr>
              <a:t> plan, </a:t>
            </a:r>
            <a:r>
              <a:rPr lang="tr-TR" sz="1800" dirty="0" err="1">
                <a:latin typeface="Arial Narrow" panose="020B0606020202030204" pitchFamily="34" charset="0"/>
              </a:rPr>
              <a:t>mainly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expressed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financial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terms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Budgets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short-term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means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working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towards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business's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objectives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Usually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12 </a:t>
            </a:r>
            <a:r>
              <a:rPr lang="tr-TR" sz="1800" dirty="0" err="1">
                <a:latin typeface="Arial Narrow" panose="020B0606020202030204" pitchFamily="34" charset="0"/>
              </a:rPr>
              <a:t>months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with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subperiods</a:t>
            </a:r>
            <a:r>
              <a:rPr lang="tr-TR" sz="1800" dirty="0">
                <a:latin typeface="Arial Narrow" panose="020B0606020202030204" pitchFamily="34" charset="0"/>
              </a:rPr>
              <a:t> of a </a:t>
            </a:r>
            <a:r>
              <a:rPr lang="tr-TR" sz="1800" dirty="0" err="1">
                <a:latin typeface="Arial Narrow" panose="020B0606020202030204" pitchFamily="34" charset="0"/>
              </a:rPr>
              <a:t>month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Uses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:</a:t>
            </a:r>
          </a:p>
          <a:p>
            <a:pPr lvl="2">
              <a:spcBef>
                <a:spcPts val="0"/>
              </a:spcBef>
            </a:pPr>
            <a:r>
              <a:rPr lang="tr-TR" sz="1800" dirty="0" err="1">
                <a:latin typeface="Arial Narrow" panose="020B0606020202030204" pitchFamily="34" charset="0"/>
              </a:rPr>
              <a:t>promote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forward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thinking</a:t>
            </a:r>
            <a:endParaRPr lang="tr-TR" sz="1800" dirty="0">
              <a:latin typeface="Arial Narrow" panose="020B0606020202030204" pitchFamily="34" charset="0"/>
            </a:endParaRPr>
          </a:p>
          <a:p>
            <a:pPr lvl="2">
              <a:spcBef>
                <a:spcPts val="0"/>
              </a:spcBef>
            </a:pPr>
            <a:r>
              <a:rPr lang="tr-TR" sz="1800" dirty="0" err="1">
                <a:latin typeface="Arial Narrow" panose="020B0606020202030204" pitchFamily="34" charset="0"/>
              </a:rPr>
              <a:t>help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coordinate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various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aspects</a:t>
            </a:r>
            <a:endParaRPr lang="tr-TR" sz="1800" dirty="0">
              <a:latin typeface="Arial Narrow" panose="020B0606020202030204" pitchFamily="34" charset="0"/>
            </a:endParaRPr>
          </a:p>
          <a:p>
            <a:pPr lvl="2">
              <a:spcBef>
                <a:spcPts val="0"/>
              </a:spcBef>
            </a:pPr>
            <a:r>
              <a:rPr lang="tr-TR" sz="1800" dirty="0" err="1">
                <a:latin typeface="Arial Narrow" panose="020B0606020202030204" pitchFamily="34" charset="0"/>
              </a:rPr>
              <a:t>motivate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performance</a:t>
            </a:r>
            <a:endParaRPr lang="tr-TR" sz="1800" dirty="0">
              <a:latin typeface="Arial Narrow" panose="020B0606020202030204" pitchFamily="34" charset="0"/>
            </a:endParaRPr>
          </a:p>
          <a:p>
            <a:pPr lvl="2">
              <a:spcBef>
                <a:spcPts val="0"/>
              </a:spcBef>
            </a:pPr>
            <a:r>
              <a:rPr lang="tr-TR" sz="1800" dirty="0" err="1">
                <a:latin typeface="Arial Narrow" panose="020B0606020202030204" pitchFamily="34" charset="0"/>
              </a:rPr>
              <a:t>provide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basis</a:t>
            </a:r>
            <a:r>
              <a:rPr lang="tr-TR" sz="1800" dirty="0">
                <a:latin typeface="Arial Narrow" panose="020B0606020202030204" pitchFamily="34" charset="0"/>
              </a:rPr>
              <a:t> of a </a:t>
            </a:r>
            <a:r>
              <a:rPr lang="tr-TR" sz="1800" dirty="0" err="1">
                <a:latin typeface="Arial Narrow" panose="020B0606020202030204" pitchFamily="34" charset="0"/>
              </a:rPr>
              <a:t>system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control</a:t>
            </a:r>
            <a:endParaRPr lang="tr-TR" sz="1800" dirty="0">
              <a:latin typeface="Arial Narrow" panose="020B0606020202030204" pitchFamily="34" charset="0"/>
            </a:endParaRPr>
          </a:p>
          <a:p>
            <a:pPr lvl="2">
              <a:spcBef>
                <a:spcPts val="0"/>
              </a:spcBef>
            </a:pPr>
            <a:r>
              <a:rPr lang="tr-TR" sz="1800" dirty="0" err="1">
                <a:latin typeface="Arial Narrow" panose="020B0606020202030204" pitchFamily="34" charset="0"/>
              </a:rPr>
              <a:t>provide</a:t>
            </a:r>
            <a:r>
              <a:rPr lang="tr-TR" sz="1800" dirty="0">
                <a:latin typeface="Arial Narrow" panose="020B0606020202030204" pitchFamily="34" charset="0"/>
              </a:rPr>
              <a:t> a </a:t>
            </a:r>
            <a:r>
              <a:rPr lang="tr-TR" sz="1800" dirty="0" err="1">
                <a:latin typeface="Arial Narrow" panose="020B0606020202030204" pitchFamily="34" charset="0"/>
              </a:rPr>
              <a:t>system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authorisation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 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Preparing</a:t>
            </a:r>
            <a:r>
              <a:rPr lang="tr-TR" sz="18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budgets</a:t>
            </a:r>
            <a:r>
              <a:rPr lang="tr-TR" sz="1800" dirty="0">
                <a:solidFill>
                  <a:srgbClr val="800000"/>
                </a:solidFill>
                <a:latin typeface="Arial Narrow" panose="020B0606020202030204" pitchFamily="34" charset="0"/>
              </a:rPr>
              <a:t>: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There</a:t>
            </a:r>
            <a:r>
              <a:rPr lang="tr-TR" sz="1800" dirty="0">
                <a:latin typeface="Arial Narrow" panose="020B0606020202030204" pitchFamily="34" charset="0"/>
              </a:rPr>
              <a:t> is </a:t>
            </a:r>
            <a:r>
              <a:rPr lang="tr-TR" sz="1800" dirty="0" err="1">
                <a:latin typeface="Arial Narrow" panose="020B0606020202030204" pitchFamily="34" charset="0"/>
              </a:rPr>
              <a:t>no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standard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style</a:t>
            </a:r>
            <a:r>
              <a:rPr lang="tr-TR" sz="1800" dirty="0">
                <a:latin typeface="Arial Narrow" panose="020B0606020202030204" pitchFamily="34" charset="0"/>
              </a:rPr>
              <a:t> - </a:t>
            </a:r>
            <a:r>
              <a:rPr lang="tr-TR" sz="1800" dirty="0" err="1">
                <a:latin typeface="Arial Narrow" panose="020B0606020202030204" pitchFamily="34" charset="0"/>
              </a:rPr>
              <a:t>practicality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usefulness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key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issues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They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usually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prepared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columnar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smtClean="0">
                <a:latin typeface="Arial Narrow" panose="020B0606020202030204" pitchFamily="34" charset="0"/>
              </a:rPr>
              <a:t>form,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	</a:t>
            </a:r>
            <a:r>
              <a:rPr lang="tr-TR" sz="1800" dirty="0" err="1" smtClean="0">
                <a:latin typeface="Arial Narrow" panose="020B0606020202030204" pitchFamily="34" charset="0"/>
              </a:rPr>
              <a:t>with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a </a:t>
            </a:r>
            <a:r>
              <a:rPr lang="tr-TR" sz="1800" dirty="0" err="1">
                <a:latin typeface="Arial Narrow" panose="020B0606020202030204" pitchFamily="34" charset="0"/>
              </a:rPr>
              <a:t>column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each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month</a:t>
            </a:r>
            <a:r>
              <a:rPr lang="tr-TR" sz="1800" dirty="0">
                <a:latin typeface="Arial Narrow" panose="020B0606020202030204" pitchFamily="34" charset="0"/>
              </a:rPr>
              <a:t> (</a:t>
            </a:r>
            <a:r>
              <a:rPr lang="tr-TR" sz="1800" dirty="0" err="1">
                <a:latin typeface="Arial Narrow" panose="020B0606020202030204" pitchFamily="34" charset="0"/>
              </a:rPr>
              <a:t>or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similarly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short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period</a:t>
            </a:r>
            <a:r>
              <a:rPr lang="tr-TR" sz="1800" dirty="0">
                <a:latin typeface="Arial Narrow" panose="020B0606020202030204" pitchFamily="34" charset="0"/>
              </a:rPr>
              <a:t>).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Each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budget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must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link (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coordinate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)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with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others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  <a:endParaRPr lang="tr-TR" sz="1800" noProof="1" smtClean="0">
              <a:solidFill>
                <a:srgbClr val="000066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24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Budgeting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400050" lvl="1" indent="0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tr-TR" sz="18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53" y="1384176"/>
            <a:ext cx="8196503" cy="53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6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116632"/>
            <a:ext cx="4680520" cy="925563"/>
          </a:xfrm>
          <a:ln w="25400">
            <a:noFill/>
          </a:ln>
        </p:spPr>
        <p:txBody>
          <a:bodyPr>
            <a:noAutofit/>
          </a:bodyPr>
          <a:lstStyle/>
          <a:p>
            <a:pPr algn="l"/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5495" y="44624"/>
            <a:ext cx="5535740" cy="6768752"/>
          </a:xfrm>
          <a:ln w="25400">
            <a:noFill/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Vierra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Popova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Ltd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smtClean="0">
                <a:latin typeface="Arial Narrow" panose="020B0606020202030204" pitchFamily="34" charset="0"/>
              </a:rPr>
              <a:t>is a </a:t>
            </a:r>
            <a:r>
              <a:rPr lang="tr-TR" sz="1400" dirty="0" err="1">
                <a:latin typeface="Arial Narrow" panose="020B0606020202030204" pitchFamily="34" charset="0"/>
              </a:rPr>
              <a:t>wholesale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business</a:t>
            </a:r>
            <a:r>
              <a:rPr lang="tr-TR" sz="1400" dirty="0">
                <a:latin typeface="Arial Narrow" panose="020B060602020203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budgeted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income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statements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for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each</a:t>
            </a:r>
            <a:r>
              <a:rPr lang="tr-TR" sz="1400" dirty="0"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net </a:t>
            </a:r>
            <a:r>
              <a:rPr lang="tr-TR" sz="1400" dirty="0" err="1">
                <a:latin typeface="Arial Narrow" panose="020B0606020202030204" pitchFamily="34" charset="0"/>
              </a:rPr>
              <a:t>six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months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are</a:t>
            </a:r>
            <a:r>
              <a:rPr lang="tr-TR" sz="1400" dirty="0">
                <a:latin typeface="Arial Narrow" panose="020B0606020202030204" pitchFamily="34" charset="0"/>
              </a:rPr>
              <a:t> as </a:t>
            </a:r>
            <a:r>
              <a:rPr lang="tr-TR" sz="1400" dirty="0" err="1">
                <a:latin typeface="Arial Narrow" panose="020B0606020202030204" pitchFamily="34" charset="0"/>
              </a:rPr>
              <a:t>follows</a:t>
            </a:r>
            <a:r>
              <a:rPr lang="tr-TR" sz="1400" dirty="0" smtClean="0">
                <a:latin typeface="Arial Narrow" panose="020B0606020202030204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business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allows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all</a:t>
            </a:r>
            <a:r>
              <a:rPr lang="tr-TR" sz="1400" dirty="0"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latin typeface="Arial Narrow" panose="020B0606020202030204" pitchFamily="34" charset="0"/>
              </a:rPr>
              <a:t>its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customers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one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month's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credit</a:t>
            </a:r>
            <a:r>
              <a:rPr lang="tr-TR" sz="1400" dirty="0">
                <a:latin typeface="Arial Narrow" panose="020B0606020202030204" pitchFamily="34" charset="0"/>
              </a:rPr>
              <a:t>. </a:t>
            </a:r>
            <a:r>
              <a:rPr lang="tr-TR" sz="1400" dirty="0" err="1">
                <a:latin typeface="Arial Narrow" panose="020B0606020202030204" pitchFamily="34" charset="0"/>
              </a:rPr>
              <a:t>Sales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revenue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during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December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totalled</a:t>
            </a:r>
            <a:r>
              <a:rPr lang="tr-TR" sz="1400" dirty="0">
                <a:latin typeface="Arial Narrow" panose="020B0606020202030204" pitchFamily="34" charset="0"/>
              </a:rPr>
              <a:t> 60,000$.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business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plans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to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maintain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inventories</a:t>
            </a:r>
            <a:r>
              <a:rPr lang="tr-TR" sz="1400" dirty="0">
                <a:latin typeface="Arial Narrow" panose="020B0606020202030204" pitchFamily="34" charset="0"/>
              </a:rPr>
              <a:t> at </a:t>
            </a:r>
            <a:r>
              <a:rPr lang="tr-TR" sz="1400" dirty="0" err="1">
                <a:latin typeface="Arial Narrow" panose="020B0606020202030204" pitchFamily="34" charset="0"/>
              </a:rPr>
              <a:t>their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existing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level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until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some</a:t>
            </a:r>
            <a:r>
              <a:rPr lang="tr-TR" sz="1400" dirty="0">
                <a:latin typeface="Arial Narrow" panose="020B0606020202030204" pitchFamily="34" charset="0"/>
              </a:rPr>
              <a:t> time in </a:t>
            </a:r>
            <a:r>
              <a:rPr lang="tr-TR" sz="1400" dirty="0" err="1">
                <a:latin typeface="Arial Narrow" panose="020B0606020202030204" pitchFamily="34" charset="0"/>
              </a:rPr>
              <a:t>March</a:t>
            </a:r>
            <a:r>
              <a:rPr lang="tr-TR" sz="1400" dirty="0">
                <a:latin typeface="Arial Narrow" panose="020B0606020202030204" pitchFamily="34" charset="0"/>
              </a:rPr>
              <a:t>, </a:t>
            </a:r>
            <a:r>
              <a:rPr lang="tr-TR" sz="1400" dirty="0" err="1">
                <a:latin typeface="Arial Narrow" panose="020B0606020202030204" pitchFamily="34" charset="0"/>
              </a:rPr>
              <a:t>when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they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are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to</a:t>
            </a:r>
            <a:r>
              <a:rPr lang="tr-TR" sz="1400" dirty="0">
                <a:latin typeface="Arial Narrow" panose="020B0606020202030204" pitchFamily="34" charset="0"/>
              </a:rPr>
              <a:t> be </a:t>
            </a:r>
            <a:r>
              <a:rPr lang="tr-TR" sz="1400" dirty="0" err="1">
                <a:latin typeface="Arial Narrow" panose="020B0606020202030204" pitchFamily="34" charset="0"/>
              </a:rPr>
              <a:t>reduced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by</a:t>
            </a:r>
            <a:r>
              <a:rPr lang="tr-TR" sz="1400" dirty="0">
                <a:latin typeface="Arial Narrow" panose="020B0606020202030204" pitchFamily="34" charset="0"/>
              </a:rPr>
              <a:t> 5,000$. </a:t>
            </a:r>
            <a:r>
              <a:rPr lang="tr-TR" sz="1400" dirty="0" err="1">
                <a:latin typeface="Arial Narrow" panose="020B0606020202030204" pitchFamily="34" charset="0"/>
              </a:rPr>
              <a:t>Inventories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will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remain</a:t>
            </a:r>
            <a:r>
              <a:rPr lang="tr-TR" sz="1400" dirty="0">
                <a:latin typeface="Arial Narrow" panose="020B0606020202030204" pitchFamily="34" charset="0"/>
              </a:rPr>
              <a:t> at </a:t>
            </a:r>
            <a:r>
              <a:rPr lang="tr-TR" sz="1400" dirty="0" err="1">
                <a:latin typeface="Arial Narrow" panose="020B0606020202030204" pitchFamily="34" charset="0"/>
              </a:rPr>
              <a:t>this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lower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level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indefinitely</a:t>
            </a:r>
            <a:r>
              <a:rPr lang="tr-TR" sz="1400" dirty="0">
                <a:latin typeface="Arial Narrow" panose="020B060602020203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Inventories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purchases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are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made</a:t>
            </a:r>
            <a:r>
              <a:rPr lang="tr-TR" sz="1400" dirty="0">
                <a:latin typeface="Arial Narrow" panose="020B0606020202030204" pitchFamily="34" charset="0"/>
              </a:rPr>
              <a:t> on </a:t>
            </a:r>
            <a:r>
              <a:rPr lang="tr-TR" sz="1400" dirty="0" err="1">
                <a:latin typeface="Arial Narrow" panose="020B0606020202030204" pitchFamily="34" charset="0"/>
              </a:rPr>
              <a:t>one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month's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credit</a:t>
            </a:r>
            <a:r>
              <a:rPr lang="tr-TR" sz="1400" dirty="0">
                <a:latin typeface="Arial Narrow" panose="020B0606020202030204" pitchFamily="34" charset="0"/>
              </a:rPr>
              <a:t>. </a:t>
            </a:r>
            <a:r>
              <a:rPr lang="tr-TR" sz="1400" dirty="0" err="1">
                <a:latin typeface="Arial Narrow" panose="020B0606020202030204" pitchFamily="34" charset="0"/>
              </a:rPr>
              <a:t>December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purchases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totalled</a:t>
            </a:r>
            <a:r>
              <a:rPr lang="tr-TR" sz="1400" dirty="0">
                <a:latin typeface="Arial Narrow" panose="020B0606020202030204" pitchFamily="34" charset="0"/>
              </a:rPr>
              <a:t> 30,000$.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Salaries</a:t>
            </a:r>
            <a:r>
              <a:rPr lang="tr-TR" sz="1400" dirty="0">
                <a:latin typeface="Arial Narrow" panose="020B0606020202030204" pitchFamily="34" charset="0"/>
              </a:rPr>
              <a:t>, </a:t>
            </a:r>
            <a:r>
              <a:rPr lang="tr-TR" sz="1400" dirty="0" err="1">
                <a:latin typeface="Arial Narrow" panose="020B0606020202030204" pitchFamily="34" charset="0"/>
              </a:rPr>
              <a:t>wages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and</a:t>
            </a:r>
            <a:r>
              <a:rPr lang="tr-TR" sz="1400" dirty="0">
                <a:latin typeface="Arial Narrow" panose="020B0606020202030204" pitchFamily="34" charset="0"/>
              </a:rPr>
              <a:t> "</a:t>
            </a:r>
            <a:r>
              <a:rPr lang="tr-TR" sz="1400" dirty="0" err="1">
                <a:latin typeface="Arial Narrow" panose="020B0606020202030204" pitchFamily="34" charset="0"/>
              </a:rPr>
              <a:t>other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overhead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costs</a:t>
            </a:r>
            <a:r>
              <a:rPr lang="tr-TR" sz="1400" dirty="0">
                <a:latin typeface="Arial Narrow" panose="020B0606020202030204" pitchFamily="34" charset="0"/>
              </a:rPr>
              <a:t>" </a:t>
            </a:r>
            <a:r>
              <a:rPr lang="tr-TR" sz="1400" dirty="0" err="1">
                <a:latin typeface="Arial Narrow" panose="020B0606020202030204" pitchFamily="34" charset="0"/>
              </a:rPr>
              <a:t>are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paid</a:t>
            </a:r>
            <a:r>
              <a:rPr lang="tr-TR" sz="1400" dirty="0">
                <a:latin typeface="Arial Narrow" panose="020B0606020202030204" pitchFamily="34" charset="0"/>
              </a:rPr>
              <a:t> in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month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concerned</a:t>
            </a:r>
            <a:r>
              <a:rPr lang="tr-TR" sz="1400" dirty="0">
                <a:latin typeface="Arial Narrow" panose="020B060602020203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Electricity</a:t>
            </a:r>
            <a:r>
              <a:rPr lang="tr-TR" sz="1400" dirty="0">
                <a:latin typeface="Arial Narrow" panose="020B0606020202030204" pitchFamily="34" charset="0"/>
              </a:rPr>
              <a:t> is </a:t>
            </a:r>
            <a:r>
              <a:rPr lang="tr-TR" sz="1400" dirty="0" err="1">
                <a:latin typeface="Arial Narrow" panose="020B0606020202030204" pitchFamily="34" charset="0"/>
              </a:rPr>
              <a:t>paid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quarterly</a:t>
            </a:r>
            <a:r>
              <a:rPr lang="tr-TR" sz="1400" dirty="0">
                <a:latin typeface="Arial Narrow" panose="020B0606020202030204" pitchFamily="34" charset="0"/>
              </a:rPr>
              <a:t> in </a:t>
            </a:r>
            <a:r>
              <a:rPr lang="tr-TR" sz="1400" dirty="0" err="1">
                <a:latin typeface="Arial Narrow" panose="020B0606020202030204" pitchFamily="34" charset="0"/>
              </a:rPr>
              <a:t>arrears</a:t>
            </a:r>
            <a:r>
              <a:rPr lang="tr-TR" sz="1400" dirty="0">
                <a:latin typeface="Arial Narrow" panose="020B0606020202030204" pitchFamily="34" charset="0"/>
              </a:rPr>
              <a:t> in </a:t>
            </a:r>
            <a:r>
              <a:rPr lang="tr-TR" sz="1400" dirty="0" err="1">
                <a:latin typeface="Arial Narrow" panose="020B0606020202030204" pitchFamily="34" charset="0"/>
              </a:rPr>
              <a:t>March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and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June</a:t>
            </a:r>
            <a:r>
              <a:rPr lang="tr-TR" sz="1400" dirty="0">
                <a:latin typeface="Arial Narrow" panose="020B060602020203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business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plans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to</a:t>
            </a:r>
            <a:r>
              <a:rPr lang="tr-TR" sz="1400" dirty="0">
                <a:latin typeface="Arial Narrow" panose="020B0606020202030204" pitchFamily="34" charset="0"/>
              </a:rPr>
              <a:t> buy </a:t>
            </a:r>
            <a:r>
              <a:rPr lang="tr-TR" sz="1400" dirty="0" err="1">
                <a:latin typeface="Arial Narrow" panose="020B0606020202030204" pitchFamily="34" charset="0"/>
              </a:rPr>
              <a:t>and</a:t>
            </a:r>
            <a:r>
              <a:rPr lang="tr-TR" sz="1400" dirty="0">
                <a:latin typeface="Arial Narrow" panose="020B0606020202030204" pitchFamily="34" charset="0"/>
              </a:rPr>
              <a:t> pay </a:t>
            </a:r>
            <a:r>
              <a:rPr lang="tr-TR" sz="1400" dirty="0" err="1">
                <a:latin typeface="Arial Narrow" panose="020B0606020202030204" pitchFamily="34" charset="0"/>
              </a:rPr>
              <a:t>for</a:t>
            </a:r>
            <a:r>
              <a:rPr lang="tr-TR" sz="1400" dirty="0">
                <a:latin typeface="Arial Narrow" panose="020B0606020202030204" pitchFamily="34" charset="0"/>
              </a:rPr>
              <a:t> a </a:t>
            </a:r>
            <a:r>
              <a:rPr lang="tr-TR" sz="1400" dirty="0" err="1">
                <a:latin typeface="Arial Narrow" panose="020B0606020202030204" pitchFamily="34" charset="0"/>
              </a:rPr>
              <a:t>new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delivery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van</a:t>
            </a:r>
            <a:r>
              <a:rPr lang="tr-TR" sz="1400" dirty="0">
                <a:latin typeface="Arial Narrow" panose="020B0606020202030204" pitchFamily="34" charset="0"/>
              </a:rPr>
              <a:t> in </a:t>
            </a:r>
            <a:r>
              <a:rPr lang="tr-TR" sz="1400" dirty="0" err="1">
                <a:latin typeface="Arial Narrow" panose="020B0606020202030204" pitchFamily="34" charset="0"/>
              </a:rPr>
              <a:t>March</a:t>
            </a:r>
            <a:r>
              <a:rPr lang="tr-TR" sz="1400" dirty="0">
                <a:latin typeface="Arial Narrow" panose="020B0606020202030204" pitchFamily="34" charset="0"/>
              </a:rPr>
              <a:t>. </a:t>
            </a:r>
            <a:r>
              <a:rPr lang="tr-TR" sz="1400" dirty="0" err="1">
                <a:latin typeface="Arial Narrow" panose="020B0606020202030204" pitchFamily="34" charset="0"/>
              </a:rPr>
              <a:t>This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will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cost</a:t>
            </a:r>
            <a:r>
              <a:rPr lang="tr-TR" sz="1400" dirty="0">
                <a:latin typeface="Arial Narrow" panose="020B0606020202030204" pitchFamily="34" charset="0"/>
              </a:rPr>
              <a:t> a total of 15,000$, but an </a:t>
            </a:r>
            <a:r>
              <a:rPr lang="tr-TR" sz="1400" dirty="0" err="1">
                <a:latin typeface="Arial Narrow" panose="020B0606020202030204" pitchFamily="34" charset="0"/>
              </a:rPr>
              <a:t>existing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van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will</a:t>
            </a:r>
            <a:r>
              <a:rPr lang="tr-TR" sz="1400" dirty="0">
                <a:latin typeface="Arial Narrow" panose="020B0606020202030204" pitchFamily="34" charset="0"/>
              </a:rPr>
              <a:t> be </a:t>
            </a:r>
            <a:r>
              <a:rPr lang="tr-TR" sz="1400" dirty="0" err="1">
                <a:latin typeface="Arial Narrow" panose="020B0606020202030204" pitchFamily="34" charset="0"/>
              </a:rPr>
              <a:t>traded</a:t>
            </a:r>
            <a:r>
              <a:rPr lang="tr-TR" sz="1400" dirty="0">
                <a:latin typeface="Arial Narrow" panose="020B0606020202030204" pitchFamily="34" charset="0"/>
              </a:rPr>
              <a:t> in </a:t>
            </a:r>
            <a:r>
              <a:rPr lang="tr-TR" sz="1400" dirty="0" err="1">
                <a:latin typeface="Arial Narrow" panose="020B0606020202030204" pitchFamily="34" charset="0"/>
              </a:rPr>
              <a:t>for</a:t>
            </a:r>
            <a:r>
              <a:rPr lang="tr-TR" sz="1400" dirty="0">
                <a:latin typeface="Arial Narrow" panose="020B0606020202030204" pitchFamily="34" charset="0"/>
              </a:rPr>
              <a:t> 4,000$ as </a:t>
            </a:r>
            <a:r>
              <a:rPr lang="tr-TR" sz="1400" dirty="0" err="1">
                <a:latin typeface="Arial Narrow" panose="020B0606020202030204" pitchFamily="34" charset="0"/>
              </a:rPr>
              <a:t>part</a:t>
            </a:r>
            <a:r>
              <a:rPr lang="tr-TR" sz="1400" dirty="0"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deal</a:t>
            </a:r>
            <a:r>
              <a:rPr lang="tr-TR" sz="1400" dirty="0">
                <a:latin typeface="Arial Narrow" panose="020B060602020203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business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expects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to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have</a:t>
            </a:r>
            <a:r>
              <a:rPr lang="tr-TR" sz="1400" dirty="0">
                <a:latin typeface="Arial Narrow" panose="020B0606020202030204" pitchFamily="34" charset="0"/>
              </a:rPr>
              <a:t> 12,000$ in </a:t>
            </a:r>
            <a:r>
              <a:rPr lang="tr-TR" sz="1400" dirty="0" err="1">
                <a:latin typeface="Arial Narrow" panose="020B0606020202030204" pitchFamily="34" charset="0"/>
              </a:rPr>
              <a:t>cash</a:t>
            </a:r>
            <a:r>
              <a:rPr lang="tr-TR" sz="1400" dirty="0">
                <a:latin typeface="Arial Narrow" panose="020B0606020202030204" pitchFamily="34" charset="0"/>
              </a:rPr>
              <a:t> at </a:t>
            </a:r>
            <a:r>
              <a:rPr lang="tr-TR" sz="1400" dirty="0" err="1">
                <a:latin typeface="Arial Narrow" panose="020B0606020202030204" pitchFamily="34" charset="0"/>
              </a:rPr>
              <a:t>the</a:t>
            </a:r>
            <a:r>
              <a:rPr lang="tr-TR" sz="1400" dirty="0"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latin typeface="Arial Narrow" panose="020B0606020202030204" pitchFamily="34" charset="0"/>
              </a:rPr>
              <a:t>beginning</a:t>
            </a:r>
            <a:r>
              <a:rPr lang="tr-TR" sz="1400" dirty="0"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latin typeface="Arial Narrow" panose="020B0606020202030204" pitchFamily="34" charset="0"/>
              </a:rPr>
              <a:t>January</a:t>
            </a:r>
            <a:r>
              <a:rPr lang="tr-TR" sz="1400" dirty="0">
                <a:latin typeface="Arial Narrow" panose="020B060602020203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tr-TR" sz="14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Please</a:t>
            </a:r>
            <a:r>
              <a:rPr lang="tr-TR" sz="14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prepare</a:t>
            </a:r>
            <a:r>
              <a:rPr lang="tr-TR" sz="14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cash</a:t>
            </a:r>
            <a:r>
              <a:rPr lang="tr-TR" sz="14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budget</a:t>
            </a:r>
            <a:r>
              <a:rPr lang="tr-TR" sz="14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for</a:t>
            </a:r>
            <a:r>
              <a:rPr lang="tr-TR" sz="14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six</a:t>
            </a:r>
            <a:r>
              <a:rPr lang="tr-TR" sz="14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months</a:t>
            </a:r>
            <a:r>
              <a:rPr lang="tr-TR" sz="14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ending</a:t>
            </a:r>
            <a:r>
              <a:rPr lang="tr-TR" sz="1400" dirty="0">
                <a:solidFill>
                  <a:srgbClr val="800000"/>
                </a:solidFill>
                <a:latin typeface="Arial Narrow" panose="020B0606020202030204" pitchFamily="34" charset="0"/>
              </a:rPr>
              <a:t> in </a:t>
            </a:r>
            <a:r>
              <a:rPr lang="tr-TR" sz="14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June</a:t>
            </a:r>
            <a:r>
              <a:rPr lang="tr-TR" sz="1400" dirty="0">
                <a:solidFill>
                  <a:srgbClr val="800000"/>
                </a:solidFill>
                <a:latin typeface="Arial Narrow" panose="020B0606020202030204" pitchFamily="34" charset="0"/>
              </a:rPr>
              <a:t>.</a:t>
            </a:r>
          </a:p>
          <a:p>
            <a:pPr marL="0">
              <a:spcBef>
                <a:spcPts val="0"/>
              </a:spcBef>
            </a:pP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[1]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cash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receipts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from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trade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receivables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lag</a:t>
            </a:r>
            <a:r>
              <a:rPr lang="tr-TR" sz="14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a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month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behind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sales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,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because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customers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are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given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a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month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in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which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pay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for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their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purchases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.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So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,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December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sales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will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be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paid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for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in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January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and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so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on.</a:t>
            </a:r>
          </a:p>
          <a:p>
            <a:pPr marL="0">
              <a:spcBef>
                <a:spcPts val="0"/>
              </a:spcBef>
            </a:pP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[2]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In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most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months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,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purchases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inventories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will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equal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cost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goods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sold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.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This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is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because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business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maintains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a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constant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level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inventories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.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For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inventories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remain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constant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at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end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each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month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,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business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must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replace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eactly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amount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that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has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been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used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>
              <a:spcBef>
                <a:spcPts val="0"/>
              </a:spcBef>
            </a:pP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During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March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,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however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,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business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plans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reduce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its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inventories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by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5,000$.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this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means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that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inventories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purchases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will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be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lower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than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inventories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usage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that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month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.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payments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for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inventories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purchases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lag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a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month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behind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purchases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because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business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expects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be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allowed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a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month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pay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for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what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it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buys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>
              <a:spcBef>
                <a:spcPts val="0"/>
              </a:spcBef>
            </a:pP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[3]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Each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month's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cash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balance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is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previous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month's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figure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plus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cash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surplus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(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or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minus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cash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deficit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)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for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current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month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.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ebalance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at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start of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January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is 12,000$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according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information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provided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earlier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>
              <a:spcBef>
                <a:spcPts val="0"/>
              </a:spcBef>
            </a:pP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[4]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Depreciation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does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not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give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rise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to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a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cash</a:t>
            </a:r>
            <a:r>
              <a:rPr lang="tr-TR" sz="14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4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payment</a:t>
            </a:r>
            <a:r>
              <a:rPr lang="tr-TR" sz="14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  <a:endParaRPr lang="tr-TR" sz="1400" noProof="1" smtClean="0">
              <a:solidFill>
                <a:srgbClr val="000066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235" y="473053"/>
            <a:ext cx="3491885" cy="569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74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Budgeting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Trade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Receivables</a:t>
            </a:r>
            <a:r>
              <a:rPr lang="tr-TR" sz="1800" dirty="0">
                <a:latin typeface="Arial Narrow" panose="020B0606020202030204" pitchFamily="34" charset="0"/>
              </a:rPr>
              <a:t> Budget: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Balance</a:t>
            </a:r>
            <a:r>
              <a:rPr lang="tr-TR" sz="1800" dirty="0">
                <a:latin typeface="Arial Narrow" panose="020B0606020202030204" pitchFamily="34" charset="0"/>
              </a:rPr>
              <a:t> at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beginning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month</a:t>
            </a:r>
            <a:r>
              <a:rPr lang="tr-TR" sz="1800" dirty="0">
                <a:latin typeface="Arial Narrow" panose="020B0606020202030204" pitchFamily="34" charset="0"/>
              </a:rPr>
              <a:t> + </a:t>
            </a:r>
            <a:r>
              <a:rPr lang="tr-TR" sz="1800" dirty="0" err="1">
                <a:latin typeface="Arial Narrow" panose="020B0606020202030204" pitchFamily="34" charset="0"/>
              </a:rPr>
              <a:t>Sales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revenue</a:t>
            </a:r>
            <a:r>
              <a:rPr lang="tr-TR" sz="1800" dirty="0">
                <a:latin typeface="Arial Narrow" panose="020B0606020202030204" pitchFamily="34" charset="0"/>
              </a:rPr>
              <a:t> - Cash </a:t>
            </a:r>
            <a:r>
              <a:rPr lang="tr-TR" sz="1800" dirty="0" err="1" smtClean="0">
                <a:latin typeface="Arial Narrow" panose="020B0606020202030204" pitchFamily="34" charset="0"/>
              </a:rPr>
              <a:t>receipts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= </a:t>
            </a:r>
            <a:r>
              <a:rPr lang="tr-TR" sz="1800" dirty="0" err="1">
                <a:latin typeface="Arial Narrow" panose="020B0606020202030204" pitchFamily="34" charset="0"/>
              </a:rPr>
              <a:t>Balance</a:t>
            </a:r>
            <a:r>
              <a:rPr lang="tr-TR" sz="1800" dirty="0">
                <a:latin typeface="Arial Narrow" panose="020B0606020202030204" pitchFamily="34" charset="0"/>
              </a:rPr>
              <a:t> at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end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month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Trade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Payables</a:t>
            </a:r>
            <a:r>
              <a:rPr lang="tr-TR" sz="1800" dirty="0">
                <a:latin typeface="Arial Narrow" panose="020B0606020202030204" pitchFamily="34" charset="0"/>
              </a:rPr>
              <a:t> Budget: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Balance</a:t>
            </a:r>
            <a:r>
              <a:rPr lang="tr-TR" sz="1800" dirty="0">
                <a:latin typeface="Arial Narrow" panose="020B0606020202030204" pitchFamily="34" charset="0"/>
              </a:rPr>
              <a:t> at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beginning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month</a:t>
            </a:r>
            <a:r>
              <a:rPr lang="tr-TR" sz="1800" dirty="0">
                <a:latin typeface="Arial Narrow" panose="020B0606020202030204" pitchFamily="34" charset="0"/>
              </a:rPr>
              <a:t> + </a:t>
            </a:r>
            <a:r>
              <a:rPr lang="tr-TR" sz="1800" dirty="0" err="1">
                <a:latin typeface="Arial Narrow" panose="020B0606020202030204" pitchFamily="34" charset="0"/>
              </a:rPr>
              <a:t>Purchases</a:t>
            </a:r>
            <a:r>
              <a:rPr lang="tr-TR" sz="1800" dirty="0">
                <a:latin typeface="Arial Narrow" panose="020B0606020202030204" pitchFamily="34" charset="0"/>
              </a:rPr>
              <a:t> - Cash </a:t>
            </a:r>
            <a:r>
              <a:rPr lang="tr-TR" sz="1800" dirty="0" err="1" smtClean="0">
                <a:latin typeface="Arial Narrow" panose="020B0606020202030204" pitchFamily="34" charset="0"/>
              </a:rPr>
              <a:t>payments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= </a:t>
            </a:r>
            <a:r>
              <a:rPr lang="tr-TR" sz="1800" dirty="0" err="1">
                <a:latin typeface="Arial Narrow" panose="020B0606020202030204" pitchFamily="34" charset="0"/>
              </a:rPr>
              <a:t>Balance</a:t>
            </a:r>
            <a:r>
              <a:rPr lang="tr-TR" sz="1800" dirty="0">
                <a:latin typeface="Arial Narrow" panose="020B0606020202030204" pitchFamily="34" charset="0"/>
              </a:rPr>
              <a:t> at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end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month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Inventories</a:t>
            </a:r>
            <a:r>
              <a:rPr lang="tr-TR" sz="1800" dirty="0">
                <a:latin typeface="Arial Narrow" panose="020B0606020202030204" pitchFamily="34" charset="0"/>
              </a:rPr>
              <a:t> Budget: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Balance</a:t>
            </a:r>
            <a:r>
              <a:rPr lang="tr-TR" sz="1800" dirty="0">
                <a:latin typeface="Arial Narrow" panose="020B0606020202030204" pitchFamily="34" charset="0"/>
              </a:rPr>
              <a:t> at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beginning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month</a:t>
            </a:r>
            <a:r>
              <a:rPr lang="tr-TR" sz="1800" dirty="0">
                <a:latin typeface="Arial Narrow" panose="020B0606020202030204" pitchFamily="34" charset="0"/>
              </a:rPr>
              <a:t> + </a:t>
            </a:r>
            <a:r>
              <a:rPr lang="tr-TR" sz="1800" dirty="0" err="1">
                <a:latin typeface="Arial Narrow" panose="020B0606020202030204" pitchFamily="34" charset="0"/>
              </a:rPr>
              <a:t>Purchases</a:t>
            </a:r>
            <a:r>
              <a:rPr lang="tr-TR" sz="1800" dirty="0">
                <a:latin typeface="Arial Narrow" panose="020B0606020202030204" pitchFamily="34" charset="0"/>
              </a:rPr>
              <a:t> - </a:t>
            </a:r>
            <a:r>
              <a:rPr lang="tr-TR" sz="1800" dirty="0" err="1">
                <a:latin typeface="Arial Narrow" panose="020B0606020202030204" pitchFamily="34" charset="0"/>
              </a:rPr>
              <a:t>Inventories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used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= </a:t>
            </a:r>
            <a:r>
              <a:rPr lang="tr-TR" sz="1800" dirty="0" err="1">
                <a:latin typeface="Arial Narrow" panose="020B0606020202030204" pitchFamily="34" charset="0"/>
              </a:rPr>
              <a:t>Balance</a:t>
            </a:r>
            <a:r>
              <a:rPr lang="tr-TR" sz="1800" dirty="0">
                <a:latin typeface="Arial Narrow" panose="020B0606020202030204" pitchFamily="34" charset="0"/>
              </a:rPr>
              <a:t> at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end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month</a:t>
            </a:r>
            <a:endParaRPr lang="tr-TR" sz="18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2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Budgeting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Controlling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through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Budgeting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328592"/>
          </a:xfrm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Flexing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match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volume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output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Variance</a:t>
            </a:r>
            <a:r>
              <a:rPr lang="tr-TR" sz="1600" dirty="0">
                <a:latin typeface="Arial Narrow" panose="020B0606020202030204" pitchFamily="34" charset="0"/>
              </a:rPr>
              <a:t> = </a:t>
            </a:r>
            <a:r>
              <a:rPr lang="tr-TR" sz="1600" dirty="0" err="1">
                <a:latin typeface="Arial Narrow" panose="020B0606020202030204" pitchFamily="34" charset="0"/>
              </a:rPr>
              <a:t>increase</a:t>
            </a:r>
            <a:r>
              <a:rPr lang="tr-TR" sz="1600" dirty="0">
                <a:latin typeface="Arial Narrow" panose="020B0606020202030204" pitchFamily="34" charset="0"/>
              </a:rPr>
              <a:t> (</a:t>
            </a:r>
            <a:r>
              <a:rPr lang="tr-TR" sz="1600" dirty="0" err="1">
                <a:latin typeface="Arial Narrow" panose="020B0606020202030204" pitchFamily="34" charset="0"/>
              </a:rPr>
              <a:t>favourable</a:t>
            </a:r>
            <a:r>
              <a:rPr lang="tr-TR" sz="1600" dirty="0">
                <a:latin typeface="Arial Narrow" panose="020B0606020202030204" pitchFamily="34" charset="0"/>
              </a:rPr>
              <a:t>) </a:t>
            </a:r>
            <a:r>
              <a:rPr lang="tr-TR" sz="1600" dirty="0" err="1">
                <a:latin typeface="Arial Narrow" panose="020B0606020202030204" pitchFamily="34" charset="0"/>
              </a:rPr>
              <a:t>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decrease</a:t>
            </a:r>
            <a:r>
              <a:rPr lang="tr-TR" sz="1600" dirty="0">
                <a:latin typeface="Arial Narrow" panose="020B0606020202030204" pitchFamily="34" charset="0"/>
              </a:rPr>
              <a:t> (</a:t>
            </a:r>
            <a:r>
              <a:rPr lang="tr-TR" sz="1600" dirty="0" err="1">
                <a:latin typeface="Arial Narrow" panose="020B0606020202030204" pitchFamily="34" charset="0"/>
              </a:rPr>
              <a:t>adverse</a:t>
            </a:r>
            <a:r>
              <a:rPr lang="tr-TR" sz="1600" dirty="0">
                <a:latin typeface="Arial Narrow" panose="020B0606020202030204" pitchFamily="34" charset="0"/>
              </a:rPr>
              <a:t>) in </a:t>
            </a:r>
            <a:r>
              <a:rPr lang="tr-TR" sz="1600" dirty="0" err="1">
                <a:latin typeface="Arial Narrow" panose="020B0606020202030204" pitchFamily="34" charset="0"/>
              </a:rPr>
              <a:t>profit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relative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profit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as </a:t>
            </a:r>
            <a:r>
              <a:rPr lang="tr-TR" sz="1600" dirty="0">
                <a:latin typeface="Arial Narrow" panose="020B0606020202030204" pitchFamily="34" charset="0"/>
              </a:rPr>
              <a:t>a </a:t>
            </a:r>
            <a:r>
              <a:rPr lang="tr-TR" sz="1600" dirty="0" err="1">
                <a:latin typeface="Arial Narrow" panose="020B0606020202030204" pitchFamily="34" charset="0"/>
              </a:rPr>
              <a:t>result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some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aspect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business's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activities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taken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alone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profit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plus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all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favourable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variances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less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all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adverse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variances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equals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profit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0" indent="0">
              <a:spcBef>
                <a:spcPts val="0"/>
              </a:spcBef>
              <a:buNone/>
            </a:pP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tr-TR" sz="16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Commonly</a:t>
            </a:r>
            <a:r>
              <a:rPr lang="tr-TR" sz="16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calculated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variances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: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Sales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volume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variance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= </a:t>
            </a:r>
            <a:r>
              <a:rPr lang="tr-TR" sz="1600" dirty="0" err="1">
                <a:latin typeface="Arial Narrow" panose="020B0606020202030204" pitchFamily="34" charset="0"/>
              </a:rPr>
              <a:t>difference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between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volume</a:t>
            </a:r>
            <a:r>
              <a:rPr lang="tr-TR" sz="1600" dirty="0">
                <a:latin typeface="Arial Narrow" panose="020B0606020202030204" pitchFamily="34" charset="0"/>
              </a:rPr>
              <a:t> (in </a:t>
            </a:r>
            <a:r>
              <a:rPr lang="tr-TR" sz="1600" dirty="0" err="1">
                <a:latin typeface="Arial Narrow" panose="020B0606020202030204" pitchFamily="34" charset="0"/>
              </a:rPr>
              <a:t>units</a:t>
            </a:r>
            <a:r>
              <a:rPr lang="tr-TR" sz="1600" dirty="0">
                <a:latin typeface="Arial Narrow" panose="020B0606020202030204" pitchFamily="34" charset="0"/>
              </a:rPr>
              <a:t>) </a:t>
            </a:r>
            <a:r>
              <a:rPr lang="tr-TR" sz="1600" dirty="0" err="1">
                <a:latin typeface="Arial Narrow" panose="020B0606020202030204" pitchFamily="34" charset="0"/>
              </a:rPr>
              <a:t>multiplied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contribution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unit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Sales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price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variance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= </a:t>
            </a:r>
            <a:r>
              <a:rPr lang="tr-TR" sz="1600" dirty="0" err="1">
                <a:latin typeface="Arial Narrow" panose="020B0606020202030204" pitchFamily="34" charset="0"/>
              </a:rPr>
              <a:t>difference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between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sales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revenue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volume</a:t>
            </a:r>
            <a:r>
              <a:rPr lang="tr-TR" sz="1600" dirty="0">
                <a:latin typeface="Arial Narrow" panose="020B0606020202030204" pitchFamily="34" charset="0"/>
              </a:rPr>
              <a:t> at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sales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price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unit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direct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materials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usage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variance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= </a:t>
            </a:r>
            <a:r>
              <a:rPr lang="tr-TR" sz="1600" dirty="0" err="1">
                <a:latin typeface="Arial Narrow" panose="020B0606020202030204" pitchFamily="34" charset="0"/>
              </a:rPr>
              <a:t>difference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between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usage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usage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volume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output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multiplied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material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unit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material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direct</a:t>
            </a:r>
            <a:r>
              <a:rPr lang="tr-TR" sz="16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material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price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variance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= </a:t>
            </a:r>
            <a:r>
              <a:rPr lang="tr-TR" sz="1600" dirty="0" err="1">
                <a:latin typeface="Arial Narrow" panose="020B0606020202030204" pitchFamily="34" charset="0"/>
              </a:rPr>
              <a:t>difference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between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material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usage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multiplied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unit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material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direct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labour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efficiency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variance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= </a:t>
            </a:r>
            <a:r>
              <a:rPr lang="tr-TR" sz="1600" dirty="0" err="1">
                <a:latin typeface="Arial Narrow" panose="020B0606020202030204" pitchFamily="34" charset="0"/>
              </a:rPr>
              <a:t>difference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between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labour</a:t>
            </a:r>
            <a:r>
              <a:rPr lang="tr-TR" sz="1600" dirty="0">
                <a:latin typeface="Arial Narrow" panose="020B0606020202030204" pitchFamily="34" charset="0"/>
              </a:rPr>
              <a:t> time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time, 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volume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output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multiplied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labour</a:t>
            </a:r>
            <a:r>
              <a:rPr lang="tr-TR" sz="1600" dirty="0">
                <a:latin typeface="Arial Narrow" panose="020B0606020202030204" pitchFamily="34" charset="0"/>
              </a:rPr>
              <a:t> rate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direct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labour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rate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variance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= </a:t>
            </a:r>
            <a:r>
              <a:rPr lang="tr-TR" sz="1600" dirty="0" err="1">
                <a:latin typeface="Arial Narrow" panose="020B0606020202030204" pitchFamily="34" charset="0"/>
              </a:rPr>
              <a:t>difference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between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labour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labour</a:t>
            </a:r>
            <a:r>
              <a:rPr lang="tr-TR" sz="1600" dirty="0">
                <a:latin typeface="Arial Narrow" panose="020B0606020202030204" pitchFamily="34" charset="0"/>
              </a:rPr>
              <a:t> time </a:t>
            </a:r>
            <a:r>
              <a:rPr lang="tr-TR" sz="1600" dirty="0" err="1">
                <a:latin typeface="Arial Narrow" panose="020B0606020202030204" pitchFamily="34" charset="0"/>
              </a:rPr>
              <a:t>multiplied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labour</a:t>
            </a:r>
            <a:r>
              <a:rPr lang="tr-TR" sz="1600" dirty="0">
                <a:latin typeface="Arial Narrow" panose="020B0606020202030204" pitchFamily="34" charset="0"/>
              </a:rPr>
              <a:t> rate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fixed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overhead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spending</a:t>
            </a:r>
            <a:r>
              <a:rPr lang="tr-TR" sz="16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variance</a:t>
            </a:r>
            <a:r>
              <a:rPr lang="tr-TR" sz="1600" dirty="0">
                <a:latin typeface="Arial Narrow" panose="020B0606020202030204" pitchFamily="34" charset="0"/>
              </a:rPr>
              <a:t> = </a:t>
            </a:r>
            <a:r>
              <a:rPr lang="tr-TR" sz="1600" dirty="0" err="1">
                <a:latin typeface="Arial Narrow" panose="020B0606020202030204" pitchFamily="34" charset="0"/>
              </a:rPr>
              <a:t>difference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between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spending</a:t>
            </a:r>
            <a:r>
              <a:rPr lang="tr-TR" sz="1600" dirty="0">
                <a:latin typeface="Arial Narrow" panose="020B0606020202030204" pitchFamily="34" charset="0"/>
              </a:rPr>
              <a:t> on </a:t>
            </a:r>
            <a:r>
              <a:rPr lang="tr-TR" sz="1600" dirty="0" err="1">
                <a:latin typeface="Arial Narrow" panose="020B0606020202030204" pitchFamily="34" charset="0"/>
              </a:rPr>
              <a:t>fixed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overheads</a:t>
            </a:r>
            <a:endParaRPr lang="tr-TR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44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Management Accounting –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Budgeting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Controlling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through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Budgeting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latin typeface="Arial Narrow" panose="020B0606020202030204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 err="1" smtClean="0">
                <a:latin typeface="Arial Narrow" panose="020B0606020202030204" pitchFamily="34" charset="0"/>
              </a:rPr>
              <a:t>Standards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= </a:t>
            </a:r>
            <a:r>
              <a:rPr lang="tr-TR" sz="1600" dirty="0" err="1">
                <a:latin typeface="Arial Narrow" panose="020B0606020202030204" pitchFamily="34" charset="0"/>
              </a:rPr>
              <a:t>budgeted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physical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quantities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financial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values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one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unit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inputs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outputs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	</a:t>
            </a:r>
            <a:r>
              <a:rPr lang="tr-TR" sz="1600" dirty="0" err="1" smtClean="0">
                <a:latin typeface="Arial Narrow" panose="020B0606020202030204" pitchFamily="34" charset="0"/>
              </a:rPr>
              <a:t>Standards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useful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providing</a:t>
            </a:r>
            <a:r>
              <a:rPr lang="tr-TR" sz="1600" dirty="0">
                <a:latin typeface="Arial Narrow" panose="020B0606020202030204" pitchFamily="34" charset="0"/>
              </a:rPr>
              <a:t> data 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decision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making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 err="1">
                <a:latin typeface="Arial Narrow" panose="020B0606020202030204" pitchFamily="34" charset="0"/>
              </a:rPr>
              <a:t>Significant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/</a:t>
            </a:r>
            <a:r>
              <a:rPr lang="tr-TR" sz="1600" dirty="0" err="1">
                <a:latin typeface="Arial Narrow" panose="020B0606020202030204" pitchFamily="34" charset="0"/>
              </a:rPr>
              <a:t>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persistent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variances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need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be </a:t>
            </a:r>
            <a:r>
              <a:rPr lang="tr-TR" sz="1600" dirty="0" err="1">
                <a:latin typeface="Arial Narrow" panose="020B0606020202030204" pitchFamily="34" charset="0"/>
              </a:rPr>
              <a:t>investigated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establish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their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cause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>
              <a:spcBef>
                <a:spcPts val="0"/>
              </a:spcBef>
            </a:pPr>
            <a:endParaRPr lang="tr-TR" sz="800" dirty="0">
              <a:latin typeface="Arial Narrow" panose="020B0606020202030204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 err="1">
                <a:latin typeface="Arial Narrow" panose="020B0606020202030204" pitchFamily="34" charset="0"/>
              </a:rPr>
              <a:t>Good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budgetary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control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requires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establishing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systems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routines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ensure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such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things</a:t>
            </a:r>
            <a:r>
              <a:rPr lang="tr-TR" sz="1600" dirty="0">
                <a:latin typeface="Arial Narrow" panose="020B0606020202030204" pitchFamily="34" charset="0"/>
              </a:rPr>
              <a:t> as </a:t>
            </a:r>
            <a:r>
              <a:rPr lang="tr-TR" sz="1600" dirty="0" err="1">
                <a:latin typeface="Arial Narrow" panose="020B0606020202030204" pitchFamily="34" charset="0"/>
              </a:rPr>
              <a:t>clear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distinction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between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individual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managers</a:t>
            </a:r>
            <a:r>
              <a:rPr lang="tr-TR" sz="1600" dirty="0">
                <a:latin typeface="Arial Narrow" panose="020B0606020202030204" pitchFamily="34" charset="0"/>
              </a:rPr>
              <a:t>' </a:t>
            </a:r>
            <a:r>
              <a:rPr lang="tr-TR" sz="1600" dirty="0" err="1">
                <a:latin typeface="Arial Narrow" panose="020B0606020202030204" pitchFamily="34" charset="0"/>
              </a:rPr>
              <a:t>areas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responsibility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prompt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frequent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relevant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variance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reporting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senior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management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commitment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>
              <a:spcBef>
                <a:spcPts val="0"/>
              </a:spcBef>
            </a:pPr>
            <a:endParaRPr lang="tr-TR" sz="800" dirty="0">
              <a:latin typeface="Arial Narrow" panose="020B0606020202030204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>
                <a:latin typeface="Arial Narrow" panose="020B0606020202030204" pitchFamily="34" charset="0"/>
              </a:rPr>
              <a:t>Not </a:t>
            </a:r>
            <a:r>
              <a:rPr lang="tr-TR" sz="1600" dirty="0" err="1">
                <a:latin typeface="Arial Narrow" panose="020B0606020202030204" pitchFamily="34" charset="0"/>
              </a:rPr>
              <a:t>all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activities</a:t>
            </a:r>
            <a:r>
              <a:rPr lang="tr-TR" sz="1600" dirty="0">
                <a:latin typeface="Arial Narrow" panose="020B0606020202030204" pitchFamily="34" charset="0"/>
              </a:rPr>
              <a:t> can </a:t>
            </a:r>
            <a:r>
              <a:rPr lang="tr-TR" sz="1600" dirty="0" err="1">
                <a:latin typeface="Arial Narrow" panose="020B0606020202030204" pitchFamily="34" charset="0"/>
              </a:rPr>
              <a:t>usefully</a:t>
            </a:r>
            <a:r>
              <a:rPr lang="tr-TR" sz="1600" dirty="0">
                <a:latin typeface="Arial Narrow" panose="020B0606020202030204" pitchFamily="34" charset="0"/>
              </a:rPr>
              <a:t> be </a:t>
            </a:r>
            <a:r>
              <a:rPr lang="tr-TR" sz="1600" dirty="0" err="1">
                <a:latin typeface="Arial Narrow" panose="020B0606020202030204" pitchFamily="34" charset="0"/>
              </a:rPr>
              <a:t>controlled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through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traditional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variance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analysis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Expenses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such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training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advertising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discretionary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not </a:t>
            </a:r>
            <a:r>
              <a:rPr lang="tr-TR" sz="1600" dirty="0" err="1">
                <a:latin typeface="Arial Narrow" panose="020B0606020202030204" pitchFamily="34" charset="0"/>
              </a:rPr>
              <a:t>linked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level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output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smtClean="0">
                <a:latin typeface="Arial Narrow" panose="020B0606020202030204" pitchFamily="34" charset="0"/>
              </a:rPr>
              <a:t>in a </a:t>
            </a:r>
            <a:r>
              <a:rPr lang="tr-TR" sz="1600" dirty="0" err="1">
                <a:latin typeface="Arial Narrow" panose="020B0606020202030204" pitchFamily="34" charset="0"/>
              </a:rPr>
              <a:t>direct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way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Standards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can </a:t>
            </a:r>
            <a:r>
              <a:rPr lang="tr-TR" sz="1600" dirty="0" err="1">
                <a:latin typeface="Arial Narrow" panose="020B0606020202030204" pitchFamily="34" charset="0"/>
              </a:rPr>
              <a:t>quickly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become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out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date</a:t>
            </a:r>
            <a:r>
              <a:rPr lang="tr-TR" sz="1600" dirty="0">
                <a:latin typeface="Arial Narrow" panose="020B0606020202030204" pitchFamily="34" charset="0"/>
              </a:rPr>
              <a:t> as a </a:t>
            </a:r>
            <a:r>
              <a:rPr lang="tr-TR" sz="1600" dirty="0" err="1">
                <a:latin typeface="Arial Narrow" panose="020B0606020202030204" pitchFamily="34" charset="0"/>
              </a:rPr>
              <a:t>result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technological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change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Sometimes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factors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outside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control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manager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concerned</a:t>
            </a:r>
            <a:r>
              <a:rPr lang="tr-TR" sz="1600" dirty="0">
                <a:latin typeface="Arial Narrow" panose="020B0606020202030204" pitchFamily="34" charset="0"/>
              </a:rPr>
              <a:t> can </a:t>
            </a:r>
            <a:r>
              <a:rPr lang="tr-TR" sz="1600" dirty="0" err="1">
                <a:latin typeface="Arial Narrow" panose="020B0606020202030204" pitchFamily="34" charset="0"/>
              </a:rPr>
              <a:t>affect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calculation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variance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which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manager</a:t>
            </a:r>
            <a:r>
              <a:rPr lang="tr-TR" sz="1600" dirty="0">
                <a:latin typeface="Arial Narrow" panose="020B0606020202030204" pitchFamily="34" charset="0"/>
              </a:rPr>
              <a:t> is </a:t>
            </a:r>
            <a:r>
              <a:rPr lang="tr-TR" sz="1600" dirty="0" err="1">
                <a:latin typeface="Arial Narrow" panose="020B0606020202030204" pitchFamily="34" charset="0"/>
              </a:rPr>
              <a:t>held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accountable</a:t>
            </a:r>
            <a:r>
              <a:rPr lang="tr-TR" sz="1600" dirty="0">
                <a:latin typeface="Arial Narrow" panose="020B0606020202030204" pitchFamily="34" charset="0"/>
              </a:rPr>
              <a:t>; </a:t>
            </a:r>
            <a:r>
              <a:rPr lang="tr-TR" sz="1600" dirty="0" err="1">
                <a:latin typeface="Arial Narrow" panose="020B0606020202030204" pitchFamily="34" charset="0"/>
              </a:rPr>
              <a:t>this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should</a:t>
            </a:r>
            <a:r>
              <a:rPr lang="tr-TR" sz="1600" dirty="0">
                <a:latin typeface="Arial Narrow" panose="020B0606020202030204" pitchFamily="34" charset="0"/>
              </a:rPr>
              <a:t> be </a:t>
            </a:r>
            <a:r>
              <a:rPr lang="tr-TR" sz="1600" dirty="0" err="1">
                <a:latin typeface="Arial Narrow" panose="020B0606020202030204" pitchFamily="34" charset="0"/>
              </a:rPr>
              <a:t>taken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account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practice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creating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clear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lines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demarcation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between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areas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responsibility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various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managers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may</a:t>
            </a:r>
            <a:r>
              <a:rPr lang="tr-TR" sz="1600" dirty="0">
                <a:latin typeface="Arial Narrow" panose="020B0606020202030204" pitchFamily="34" charset="0"/>
              </a:rPr>
              <a:t> be </a:t>
            </a:r>
            <a:r>
              <a:rPr lang="tr-TR" sz="1600" dirty="0" err="1">
                <a:latin typeface="Arial Narrow" panose="020B0606020202030204" pitchFamily="34" charset="0"/>
              </a:rPr>
              <a:t>difficult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800100" lvl="2" indent="0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 err="1">
                <a:latin typeface="Arial Narrow" panose="020B0606020202030204" pitchFamily="34" charset="0"/>
              </a:rPr>
              <a:t>There</a:t>
            </a:r>
            <a:r>
              <a:rPr lang="tr-TR" sz="1600" dirty="0">
                <a:latin typeface="Arial Narrow" panose="020B0606020202030204" pitchFamily="34" charset="0"/>
              </a:rPr>
              <a:t> is a </a:t>
            </a:r>
            <a:r>
              <a:rPr lang="tr-TR" sz="1600" dirty="0" err="1">
                <a:latin typeface="Arial Narrow" panose="020B0606020202030204" pitchFamily="34" charset="0"/>
              </a:rPr>
              <a:t>behavioural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aspect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control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which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should</a:t>
            </a:r>
            <a:r>
              <a:rPr lang="tr-TR" sz="1600" dirty="0">
                <a:latin typeface="Arial Narrow" panose="020B0606020202030204" pitchFamily="34" charset="0"/>
              </a:rPr>
              <a:t> be </a:t>
            </a:r>
            <a:r>
              <a:rPr lang="tr-TR" sz="1600" dirty="0" err="1">
                <a:latin typeface="Arial Narrow" panose="020B0606020202030204" pitchFamily="34" charset="0"/>
              </a:rPr>
              <a:t>taken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accountnby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senior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managers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Examples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performance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improvement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motivation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participation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improves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performance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motivation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938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55576" y="1268760"/>
            <a:ext cx="7700392" cy="147002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tr-TR" sz="2400" dirty="0">
                <a:latin typeface="Arial Narrow" pitchFamily="34" charset="0"/>
              </a:rPr>
              <a:t>NTE 1010</a:t>
            </a:r>
            <a:br>
              <a:rPr lang="tr-TR" sz="2400" dirty="0">
                <a:latin typeface="Arial Narrow" pitchFamily="34" charset="0"/>
              </a:rPr>
            </a:br>
            <a:r>
              <a:rPr lang="tr-TR" sz="2400" dirty="0" err="1">
                <a:latin typeface="Arial Narrow" pitchFamily="34" charset="0"/>
              </a:rPr>
              <a:t>Introduction</a:t>
            </a:r>
            <a:r>
              <a:rPr lang="tr-TR" sz="2400" dirty="0">
                <a:latin typeface="Arial Narrow" pitchFamily="34" charset="0"/>
              </a:rPr>
              <a:t> </a:t>
            </a:r>
            <a:r>
              <a:rPr lang="tr-TR" sz="2400" dirty="0" err="1">
                <a:latin typeface="Arial Narrow" pitchFamily="34" charset="0"/>
              </a:rPr>
              <a:t>to</a:t>
            </a:r>
            <a:r>
              <a:rPr lang="tr-TR" sz="2400" dirty="0">
                <a:latin typeface="Arial Narrow" pitchFamily="34" charset="0"/>
              </a:rPr>
              <a:t> Finance </a:t>
            </a:r>
            <a:r>
              <a:rPr lang="tr-TR" sz="2400" dirty="0" err="1">
                <a:latin typeface="Arial Narrow" pitchFamily="34" charset="0"/>
              </a:rPr>
              <a:t>for</a:t>
            </a:r>
            <a:r>
              <a:rPr lang="tr-TR" sz="2400" dirty="0">
                <a:latin typeface="Arial Narrow" pitchFamily="34" charset="0"/>
              </a:rPr>
              <a:t> </a:t>
            </a:r>
            <a:r>
              <a:rPr lang="tr-TR" sz="2400" dirty="0" err="1">
                <a:latin typeface="Arial Narrow" pitchFamily="34" charset="0"/>
              </a:rPr>
              <a:t>Engineers</a:t>
            </a:r>
            <a:r>
              <a:rPr lang="tr-TR" sz="2400" dirty="0">
                <a:latin typeface="Arial Narrow" pitchFamily="34" charset="0"/>
              </a:rPr>
              <a:t/>
            </a:r>
            <a:br>
              <a:rPr lang="tr-TR" sz="2400" dirty="0">
                <a:latin typeface="Arial Narrow" pitchFamily="34" charset="0"/>
              </a:rPr>
            </a:br>
            <a:r>
              <a:rPr lang="tr-TR" sz="2400" dirty="0" smtClean="0">
                <a:latin typeface="Arial Narrow" pitchFamily="34" charset="0"/>
              </a:rPr>
              <a:t/>
            </a:r>
            <a:br>
              <a:rPr lang="tr-TR" sz="2400" dirty="0" smtClean="0">
                <a:latin typeface="Arial Narrow" pitchFamily="34" charset="0"/>
              </a:rPr>
            </a:br>
            <a:endParaRPr lang="tr-TR" sz="12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339752" y="2996952"/>
            <a:ext cx="4608512" cy="1872208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1800" noProof="1" smtClean="0">
              <a:solidFill>
                <a:srgbClr val="C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noProof="1" smtClean="0">
                <a:solidFill>
                  <a:srgbClr val="800000"/>
                </a:solidFill>
                <a:latin typeface="Arial Narrow" pitchFamily="34" charset="0"/>
              </a:rPr>
              <a:t>Spring 2020 - Week 4</a:t>
            </a:r>
          </a:p>
          <a:p>
            <a:pPr>
              <a:spcBef>
                <a:spcPts val="0"/>
              </a:spcBef>
            </a:pPr>
            <a:endParaRPr lang="tr-TR" sz="1200" noProof="1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3600" noProof="1" smtClean="0">
                <a:solidFill>
                  <a:srgbClr val="800000"/>
                </a:solidFill>
                <a:latin typeface="Arial Narrow" pitchFamily="34" charset="0"/>
              </a:rPr>
              <a:t>Homework 1</a:t>
            </a:r>
            <a:endParaRPr lang="tr-TR" sz="3600" dirty="0">
              <a:solidFill>
                <a:srgbClr val="80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50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800" dirty="0" err="1" smtClean="0">
                <a:solidFill>
                  <a:srgbClr val="800000"/>
                </a:solidFill>
                <a:latin typeface="Arial Narrow" pitchFamily="34" charset="0"/>
              </a:rPr>
              <a:t>Homework</a:t>
            </a:r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>-1</a:t>
            </a:r>
            <a:r>
              <a:rPr lang="tr-TR" sz="2400" dirty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400" dirty="0" smtClean="0">
                <a:latin typeface="Arial Narrow" pitchFamily="34" charset="0"/>
              </a:rPr>
              <a:t>Analysis of Financial </a:t>
            </a:r>
            <a:r>
              <a:rPr lang="tr-TR" sz="2400" dirty="0" err="1" smtClean="0">
                <a:latin typeface="Arial Narrow" pitchFamily="34" charset="0"/>
              </a:rPr>
              <a:t>Statements</a:t>
            </a:r>
            <a:endParaRPr lang="tr-TR" sz="24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lvl="1" indent="-342900">
              <a:spcBef>
                <a:spcPts val="0"/>
              </a:spcBef>
              <a:buFont typeface="+mj-lt"/>
              <a:buAutoNum type="arabicPeriod"/>
            </a:pPr>
            <a:endParaRPr lang="tr-TR" sz="800" noProof="1" smtClean="0">
              <a:latin typeface="Arial Narrow" panose="020B0606020202030204" pitchFamily="34" charset="0"/>
            </a:endParaRPr>
          </a:p>
          <a:p>
            <a:pPr marL="342900" lvl="1" indent="-342900">
              <a:spcBef>
                <a:spcPts val="0"/>
              </a:spcBef>
              <a:buFont typeface="+mj-lt"/>
              <a:buAutoNum type="arabicPeriod"/>
            </a:pPr>
            <a:r>
              <a:rPr lang="tr-TR" sz="1600" noProof="1" smtClean="0">
                <a:latin typeface="Arial Narrow" panose="020B0606020202030204" pitchFamily="34" charset="0"/>
              </a:rPr>
              <a:t>Find 2017, 2018 and 2019 year-end Financial Statements of a company</a:t>
            </a:r>
          </a:p>
          <a:p>
            <a:pPr marL="857250" lvl="3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shares of which are being traded in İstanbul Stock Exchange.</a:t>
            </a:r>
          </a:p>
          <a:p>
            <a:pPr marL="857250" lvl="3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Attach copies of those statements to your homework and state the source of the information.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Afterwards, choose 3 ratio classifications out of</a:t>
            </a:r>
          </a:p>
          <a:p>
            <a:pPr marL="857250" lvl="3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[1] Profitability, [2] Efficiency, [3] Liquidity, [4] Financial leverage, [5] Investment.</a:t>
            </a:r>
          </a:p>
          <a:p>
            <a:pPr marL="857250" lvl="3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And then, pick a ratio in each one; state the formulas of each ratio that you picked.</a:t>
            </a:r>
          </a:p>
          <a:p>
            <a:pPr marL="342900" lvl="1" indent="-342900">
              <a:spcBef>
                <a:spcPts val="0"/>
              </a:spcBef>
              <a:buFont typeface="+mj-lt"/>
              <a:buAutoNum type="arabicPeriod"/>
            </a:pPr>
            <a:r>
              <a:rPr lang="tr-TR" sz="1600" noProof="1" smtClean="0">
                <a:latin typeface="Arial Narrow" panose="020B0606020202030204" pitchFamily="34" charset="0"/>
              </a:rPr>
              <a:t>Calculate 2018 and 2019 values for these 3 ratios that you picked.</a:t>
            </a:r>
          </a:p>
          <a:p>
            <a:pPr marL="342900" lvl="1" indent="-342900">
              <a:spcBef>
                <a:spcPts val="0"/>
              </a:spcBef>
              <a:buFont typeface="+mj-lt"/>
              <a:buAutoNum type="arabicPeriod"/>
            </a:pPr>
            <a:r>
              <a:rPr lang="tr-TR" sz="1600" noProof="1" smtClean="0">
                <a:latin typeface="Arial Narrow" panose="020B0606020202030204" pitchFamily="34" charset="0"/>
              </a:rPr>
              <a:t>Comment for each ratio whether the company performed better or worse in 2019 compared to 2018</a:t>
            </a:r>
          </a:p>
          <a:p>
            <a:pPr marL="857250" lvl="3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and explain why so.</a:t>
            </a: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742950" lvl="2" indent="-285750">
              <a:spcBef>
                <a:spcPts val="0"/>
              </a:spcBef>
            </a:pPr>
            <a:r>
              <a:rPr lang="tr-TR" sz="16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You may do your homework in groups (of max 3 students) if you wish.</a:t>
            </a:r>
          </a:p>
          <a:p>
            <a:pPr marL="742950" lvl="2" indent="-285750">
              <a:spcBef>
                <a:spcPts val="0"/>
              </a:spcBef>
            </a:pPr>
            <a:r>
              <a:rPr lang="tr-TR" sz="16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The homework should either be a computer printout or a legible handwriting.</a:t>
            </a:r>
          </a:p>
          <a:p>
            <a:pPr marL="742950" lvl="2" indent="-285750">
              <a:spcBef>
                <a:spcPts val="0"/>
              </a:spcBef>
            </a:pPr>
            <a:r>
              <a:rPr lang="tr-TR" sz="16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At the top, it must have the following heading:</a:t>
            </a:r>
          </a:p>
          <a:p>
            <a:pPr marL="1314450" lvl="4" indent="0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66"/>
                </a:solidFill>
                <a:latin typeface="Arial Narrow" panose="020B0606020202030204" pitchFamily="34" charset="0"/>
              </a:rPr>
              <a:t>″</a:t>
            </a:r>
            <a:r>
              <a:rPr lang="tr-TR" sz="16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NTE 1010 Introduction to Finance for Engineers, Spring 2020, Homework-1″</a:t>
            </a:r>
          </a:p>
          <a:p>
            <a:pPr marL="1314450" lvl="4" indent="0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66"/>
                </a:solidFill>
                <a:latin typeface="Arial Narrow" panose="020B0606020202030204" pitchFamily="34" charset="0"/>
              </a:rPr>
              <a:t>f</a:t>
            </a:r>
            <a:r>
              <a:rPr lang="tr-TR" sz="16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ollowed by your name(s), family name(s), and student ID no(s).</a:t>
            </a:r>
          </a:p>
          <a:p>
            <a:pPr marL="514350" lvl="1" indent="-5143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800000"/>
                </a:solidFill>
                <a:latin typeface="Arial Narrow" panose="020B0606020202030204" pitchFamily="34" charset="0"/>
              </a:rPr>
              <a:t>Homework-1 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is to be handed-in two weeks later, on 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Wedn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esday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, March 25th in the class.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Each homework is worth 6% of your course grade.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Do not copy the work of somebody else.</a:t>
            </a:r>
            <a:endParaRPr lang="tr-TR" sz="1600" noProof="1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285750" lvl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tr-TR" sz="16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39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7388</TotalTime>
  <Words>3153</Words>
  <Application>Microsoft Office PowerPoint</Application>
  <PresentationFormat>Ekran Gösterisi (4:3)</PresentationFormat>
  <Paragraphs>418</Paragraphs>
  <Slides>33</Slides>
  <Notes>33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33</vt:i4>
      </vt:variant>
    </vt:vector>
  </HeadingPairs>
  <TitlesOfParts>
    <vt:vector size="37" baseType="lpstr">
      <vt:lpstr>Arial</vt:lpstr>
      <vt:lpstr>Arial Narrow</vt:lpstr>
      <vt:lpstr>Calibri</vt:lpstr>
      <vt:lpstr>Office Theme</vt:lpstr>
      <vt:lpstr> </vt:lpstr>
      <vt:lpstr> </vt:lpstr>
      <vt:lpstr>NTE 1010 – Introduction to Finance for Engineers Management Accounting – Cost, Volume, Profit Costs</vt:lpstr>
      <vt:lpstr>NTE 1010 – Introduction to Finance for Engineers Management Accounting Costs</vt:lpstr>
      <vt:lpstr>NTE 1010 – Introduction to Finance for Engineers Management Accounting Costs</vt:lpstr>
      <vt:lpstr>NTE 1010 – Introduction to Finance for Engineers Management Accounting – Cost, Volume, Profit Break-Even Analysis</vt:lpstr>
      <vt:lpstr>NTE 1010 – Introduction to Finance for Engineers Management Accounting – Cost, Volume, Profit Break-Even Analysis</vt:lpstr>
      <vt:lpstr>NTE 1010 – Introduction to Finance for Engineers Management Accounting – Cost, Volume, Profit Break-Even Analysis</vt:lpstr>
      <vt:lpstr>NTE 1010 – Introduction to Finance for Engineers Management Accounting – Cost, Volume, Profit Break-Even Analysis: Margin of Safety</vt:lpstr>
      <vt:lpstr>NTE 1010 – Introduction to Finance for Engineers Management Accounting – Cost, Volume, Profit Break-Even Analysis</vt:lpstr>
      <vt:lpstr>NTE 1010 – Introduction to Finance for Engineers Management Accounting – Cost, Volume, Profit Break-Even Analysis</vt:lpstr>
      <vt:lpstr>NTE 1010 – Introduction to Finance for Engineers Management Accounting – Cost, Volume, Profit Break-Even Analysis</vt:lpstr>
      <vt:lpstr>NTE 1010 – Introduction to Finance for Engineers Management Accounting – Cost, Volume, Profit Weaknesses of Break-Even Analysis</vt:lpstr>
      <vt:lpstr>NTE 1010 – Introduction to Finance for Engineers Management Accounting – Cost, Volume, Profit Marginal Analysis</vt:lpstr>
      <vt:lpstr> </vt:lpstr>
      <vt:lpstr>NTE 1010 – Introduction to Finance for Engineers Management Accounting – Full Costing</vt:lpstr>
      <vt:lpstr>NTE 1010 – Introduction to Finance for Engineers Management Accounting – Full Costing Single Product Operations</vt:lpstr>
      <vt:lpstr>NTE 1010 – Introduction to Finance for Engineers Management Accounting – Full Costing Single Product Operations</vt:lpstr>
      <vt:lpstr>NTE 1010 – Introduction to Finance for Engineers Management Accounting – Full Costing Multi-Product Operations</vt:lpstr>
      <vt:lpstr>NTE 1010 – Introduction to Finance for Engineers Management Accounting – Full Costing Overhead Costs</vt:lpstr>
      <vt:lpstr>NTE 1010 – Introduction to Finance for Engineers Management Accounting – Full Costing Batch Costing / Activity-Based Costing</vt:lpstr>
      <vt:lpstr>NTE 1010 – Introduction to Finance for Engineers Management Accounting – Full Costing Activity-Based Costing</vt:lpstr>
      <vt:lpstr> </vt:lpstr>
      <vt:lpstr>NTE 1010 – Introduction to Finance for Engineers Management Accounting – Full Costing</vt:lpstr>
      <vt:lpstr> </vt:lpstr>
      <vt:lpstr>NTE 1010 – Introduction to Finance for Engineers Management Accounting – Budgeting</vt:lpstr>
      <vt:lpstr>NTE 1010 – Introduction to Finance for Engineers Management Accounting – Budgeting</vt:lpstr>
      <vt:lpstr> </vt:lpstr>
      <vt:lpstr>NTE 1010 – Introduction to Finance for Engineers Management Accounting – Budgeting</vt:lpstr>
      <vt:lpstr>NTE 1010 – Introduction to Finance for Engineers Management Accounting – Budgeting Controlling through Budgeting</vt:lpstr>
      <vt:lpstr>NTE 1010 – Introduction to Finance for Engineers Management Accounting – Budgeting Controlling through Budgeting</vt:lpstr>
      <vt:lpstr>NTE 1010 Introduction to Finance for Engineers  </vt:lpstr>
      <vt:lpstr>NTE 1010 – Introduction to Finance for Engineers Homework-1 Analysis of Financial Statements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480</cp:revision>
  <cp:lastPrinted>2019-10-14T14:56:55Z</cp:lastPrinted>
  <dcterms:created xsi:type="dcterms:W3CDTF">2015-11-30T12:51:35Z</dcterms:created>
  <dcterms:modified xsi:type="dcterms:W3CDTF">2020-03-03T12:19:23Z</dcterms:modified>
  <dc:description/>
</cp:coreProperties>
</file>