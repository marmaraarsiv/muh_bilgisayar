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565" r:id="rId2"/>
    <p:sldId id="604" r:id="rId3"/>
    <p:sldId id="610" r:id="rId4"/>
    <p:sldId id="605" r:id="rId5"/>
    <p:sldId id="611" r:id="rId6"/>
    <p:sldId id="627" r:id="rId7"/>
    <p:sldId id="606" r:id="rId8"/>
    <p:sldId id="613" r:id="rId9"/>
    <p:sldId id="607" r:id="rId10"/>
    <p:sldId id="614" r:id="rId11"/>
    <p:sldId id="618" r:id="rId12"/>
    <p:sldId id="617" r:id="rId13"/>
    <p:sldId id="616" r:id="rId14"/>
    <p:sldId id="615" r:id="rId15"/>
    <p:sldId id="649" r:id="rId16"/>
    <p:sldId id="651" r:id="rId17"/>
    <p:sldId id="619" r:id="rId18"/>
    <p:sldId id="620" r:id="rId19"/>
    <p:sldId id="628" r:id="rId20"/>
    <p:sldId id="609" r:id="rId21"/>
  </p:sldIdLst>
  <p:sldSz cx="9144000" cy="6858000" type="screen4x3"/>
  <p:notesSz cx="9296400" cy="70104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000066"/>
    <a:srgbClr val="0000FF"/>
    <a:srgbClr val="FF00FF"/>
    <a:srgbClr val="FF6600"/>
    <a:srgbClr val="0000CC"/>
    <a:srgbClr val="FFFFFF"/>
    <a:srgbClr val="3333CC"/>
    <a:srgbClr val="FF9900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2" autoAdjust="0"/>
  </p:normalViewPr>
  <p:slideViewPr>
    <p:cSldViewPr>
      <p:cViewPr varScale="1">
        <p:scale>
          <a:sx n="74" d="100"/>
          <a:sy n="74" d="100"/>
        </p:scale>
        <p:origin x="108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689" cy="350520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6230" y="1"/>
            <a:ext cx="4028687" cy="350520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41DD2113-24C6-4329-AB40-201D9F0A72C4}" type="datetimeFigureOut">
              <a:rPr lang="tr-TR" smtClean="0"/>
              <a:t>14.04.2020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258"/>
            <a:ext cx="4028689" cy="350520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6230" y="6658258"/>
            <a:ext cx="4028687" cy="350520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7F4D469E-94F5-4441-A8A1-33E94B5433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1939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4028442" cy="350520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10" y="1"/>
            <a:ext cx="4028442" cy="350520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D48C765E-539C-483F-BCDF-F0F0AD79452C}" type="datetimeFigureOut">
              <a:rPr lang="tr-TR" smtClean="0"/>
              <a:pPr/>
              <a:t>14.04.2020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11" tIns="45555" rIns="91111" bIns="45555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3"/>
            <a:ext cx="7437120" cy="3154681"/>
          </a:xfrm>
          <a:prstGeom prst="rect">
            <a:avLst/>
          </a:prstGeom>
        </p:spPr>
        <p:txBody>
          <a:bodyPr vert="horz" lIns="91111" tIns="45555" rIns="91111" bIns="4555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6658665"/>
            <a:ext cx="4028442" cy="350520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10" y="6658665"/>
            <a:ext cx="4028442" cy="350520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AE8B6D33-EF40-4511-BB6D-F4559DCC6ED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84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4918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485094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64789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69618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45283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63072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824358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57765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79946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25997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13366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8461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33323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81892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016715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552047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29587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43600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98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636907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EEC2-418A-4AE9-8D76-1350AC2C960C}" type="datetime1">
              <a:rPr lang="tr-TR" smtClean="0"/>
              <a:pPr/>
              <a:t>14.04.2020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B617E-CC2C-45DD-8B2D-8AE4EA5FC5F8}" type="datetime1">
              <a:rPr lang="tr-TR" smtClean="0"/>
              <a:pPr/>
              <a:t>14.04.2020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D0F5-A4BC-46CD-8841-C457452FFEDC}" type="datetime1">
              <a:rPr lang="tr-TR" smtClean="0"/>
              <a:pPr/>
              <a:t>14.04.2020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334DA-5AD4-4FA3-AFE8-2A8C67D70199}" type="datetime1">
              <a:rPr lang="tr-TR" smtClean="0"/>
              <a:pPr/>
              <a:t>14.04.2020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F8EC-0934-411F-B635-3062B68C4A87}" type="datetime1">
              <a:rPr lang="tr-TR" smtClean="0"/>
              <a:pPr/>
              <a:t>14.04.2020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C700-BE93-49BC-965A-FE7AF14E8E5E}" type="datetime1">
              <a:rPr lang="tr-TR" smtClean="0"/>
              <a:pPr/>
              <a:t>14.04.2020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533D-1371-4A64-9DA7-B94E9E82C698}" type="datetime1">
              <a:rPr lang="tr-TR" smtClean="0"/>
              <a:pPr/>
              <a:t>14.04.2020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4A5A-A249-4E71-9C80-CB1606C64E4A}" type="datetime1">
              <a:rPr lang="tr-TR" smtClean="0"/>
              <a:pPr/>
              <a:t>14.04.2020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A4DE-DE11-46F8-8818-543B671E4FAF}" type="datetime1">
              <a:rPr lang="tr-TR" smtClean="0"/>
              <a:pPr/>
              <a:t>14.04.2020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022AE-E832-4A8B-9536-4372F3E1F6C7}" type="datetime1">
              <a:rPr lang="tr-TR" smtClean="0"/>
              <a:pPr/>
              <a:t>14.04.2020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B04C-27DE-4D51-8F84-8865E814DCCD}" type="datetime1">
              <a:rPr lang="tr-TR" smtClean="0"/>
              <a:pPr/>
              <a:t>14.04.2020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7707C-6B9A-4E38-AEE2-597F60E606B3}" type="datetime1">
              <a:rPr lang="tr-TR" smtClean="0"/>
              <a:pPr/>
              <a:t>14.04.2020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/>
              <a:t> 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7340" y="1124744"/>
            <a:ext cx="7704856" cy="3960440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1600" dirty="0" err="1">
                <a:solidFill>
                  <a:schemeClr val="tx1"/>
                </a:solidFill>
                <a:latin typeface="Arial Narrow" pitchFamily="34" charset="0"/>
              </a:rPr>
              <a:t>NTE</a:t>
            </a:r>
            <a:r>
              <a:rPr lang="tr-TR" sz="1600" dirty="0">
                <a:solidFill>
                  <a:schemeClr val="tx1"/>
                </a:solidFill>
                <a:latin typeface="Arial Narrow" pitchFamily="34" charset="0"/>
              </a:rPr>
              <a:t> 1010</a:t>
            </a:r>
          </a:p>
          <a:p>
            <a:pPr>
              <a:spcBef>
                <a:spcPts val="0"/>
              </a:spcBef>
            </a:pPr>
            <a:r>
              <a:rPr lang="tr-TR" sz="1600" dirty="0" err="1">
                <a:solidFill>
                  <a:schemeClr val="tx1"/>
                </a:solidFill>
                <a:latin typeface="Arial Narrow" pitchFamily="34" charset="0"/>
              </a:rPr>
              <a:t>Introduction</a:t>
            </a:r>
            <a:r>
              <a:rPr lang="tr-TR" sz="1600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sz="1600" dirty="0" err="1">
                <a:solidFill>
                  <a:schemeClr val="tx1"/>
                </a:solidFill>
                <a:latin typeface="Arial Narrow" pitchFamily="34" charset="0"/>
              </a:rPr>
              <a:t>to</a:t>
            </a:r>
            <a:r>
              <a:rPr lang="tr-TR" sz="1600" dirty="0">
                <a:solidFill>
                  <a:schemeClr val="tx1"/>
                </a:solidFill>
                <a:latin typeface="Arial Narrow" pitchFamily="34" charset="0"/>
              </a:rPr>
              <a:t> Finance </a:t>
            </a:r>
            <a:r>
              <a:rPr lang="tr-TR" sz="1600" dirty="0" err="1">
                <a:solidFill>
                  <a:schemeClr val="tx1"/>
                </a:solidFill>
                <a:latin typeface="Arial Narrow" pitchFamily="34" charset="0"/>
              </a:rPr>
              <a:t>for</a:t>
            </a:r>
            <a:r>
              <a:rPr lang="tr-TR" sz="1600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sz="1600" dirty="0" err="1">
                <a:solidFill>
                  <a:schemeClr val="tx1"/>
                </a:solidFill>
                <a:latin typeface="Arial Narrow" pitchFamily="34" charset="0"/>
              </a:rPr>
              <a:t>Engineers</a:t>
            </a:r>
            <a:endParaRPr lang="tr-TR" sz="16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16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16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800" dirty="0" err="1" smtClean="0">
                <a:solidFill>
                  <a:schemeClr val="tx1"/>
                </a:solidFill>
                <a:latin typeface="Arial Narrow" pitchFamily="34" charset="0"/>
              </a:rPr>
              <a:t>week</a:t>
            </a:r>
            <a:endParaRPr lang="tr-TR" sz="28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3600" dirty="0" smtClean="0">
                <a:solidFill>
                  <a:schemeClr val="tx1"/>
                </a:solidFill>
                <a:latin typeface="Arial Narrow" pitchFamily="34" charset="0"/>
              </a:rPr>
              <a:t>9</a:t>
            </a:r>
            <a:endParaRPr lang="tr-TR" sz="36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8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8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dirty="0" err="1" smtClean="0">
                <a:solidFill>
                  <a:schemeClr val="tx1"/>
                </a:solidFill>
                <a:latin typeface="Arial Narrow" pitchFamily="34" charset="0"/>
              </a:rPr>
              <a:t>Banking</a:t>
            </a:r>
            <a:endParaRPr lang="tr-TR" dirty="0">
              <a:solidFill>
                <a:schemeClr val="tx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79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itchFamily="34" charset="0"/>
              </a:rPr>
              <a:t>Balance</a:t>
            </a:r>
            <a:r>
              <a:rPr lang="tr-TR" sz="2800" dirty="0">
                <a:latin typeface="Arial Narrow" pitchFamily="34" charset="0"/>
              </a:rPr>
              <a:t> </a:t>
            </a:r>
            <a:r>
              <a:rPr lang="tr-TR" sz="2800" dirty="0" err="1">
                <a:latin typeface="Arial Narrow" pitchFamily="34" charset="0"/>
              </a:rPr>
              <a:t>Sheet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balance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sheet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commercial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banks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can be </a:t>
            </a:r>
            <a:r>
              <a:rPr lang="tr-TR" sz="1800" dirty="0" err="1">
                <a:latin typeface="Arial Narrow" panose="020B0606020202030204" pitchFamily="34" charset="0"/>
              </a:rPr>
              <a:t>thought</a:t>
            </a:r>
            <a:r>
              <a:rPr lang="tr-TR" sz="1800" dirty="0">
                <a:latin typeface="Arial Narrow" panose="020B0606020202030204" pitchFamily="34" charset="0"/>
              </a:rPr>
              <a:t> of as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a </a:t>
            </a:r>
            <a:r>
              <a:rPr lang="tr-TR" sz="1800" dirty="0" err="1">
                <a:latin typeface="Arial Narrow" panose="020B0606020202030204" pitchFamily="34" charset="0"/>
              </a:rPr>
              <a:t>list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sources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uses</a:t>
            </a:r>
            <a:r>
              <a:rPr lang="tr-TR" sz="1800" dirty="0">
                <a:latin typeface="Arial Narrow" panose="020B0606020202030204" pitchFamily="34" charset="0"/>
              </a:rPr>
              <a:t> of bank </a:t>
            </a:r>
            <a:r>
              <a:rPr lang="tr-TR" sz="1800" dirty="0" err="1">
                <a:latin typeface="Arial Narrow" panose="020B0606020202030204" pitchFamily="34" charset="0"/>
              </a:rPr>
              <a:t>funds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 bank’s liabilities are its sources of funds,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which include checkable deposits, time deposits, discount loans from the Fed, borrowings from other banks and corporations, and bank capital.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 bank’s assets are its uses of funds,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which include reserves, cash items in process of collection, deposits at other banks, securities, loans, and other assets (mostly physical capital).</a:t>
            </a: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710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378496" cy="2434282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itchFamily="34" charset="0"/>
              </a:rPr>
              <a:t>Balance</a:t>
            </a:r>
            <a:r>
              <a:rPr lang="tr-TR" sz="2800" dirty="0">
                <a:latin typeface="Arial Narrow" pitchFamily="34" charset="0"/>
              </a:rPr>
              <a:t> </a:t>
            </a:r>
            <a:r>
              <a:rPr lang="tr-TR" sz="2800" dirty="0" err="1">
                <a:latin typeface="Arial Narrow" pitchFamily="34" charset="0"/>
              </a:rPr>
              <a:t>Sheet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 </a:t>
            </a:r>
            <a:endParaRPr lang="tr-TR" sz="1600" noProof="1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302302"/>
            <a:ext cx="5580682" cy="615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58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itchFamily="34" charset="0"/>
              </a:rPr>
              <a:t>Asset</a:t>
            </a:r>
            <a:r>
              <a:rPr lang="tr-TR" sz="2800" dirty="0">
                <a:latin typeface="Arial Narrow" pitchFamily="34" charset="0"/>
              </a:rPr>
              <a:t> </a:t>
            </a:r>
            <a:r>
              <a:rPr lang="tr-TR" sz="2800" dirty="0" err="1">
                <a:latin typeface="Arial Narrow" pitchFamily="34" charset="0"/>
              </a:rPr>
              <a:t>Transformation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Banks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make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profits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through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process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asset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transformation</a:t>
            </a:r>
            <a:r>
              <a:rPr lang="tr-TR" sz="1800" dirty="0">
                <a:latin typeface="Arial Narrow" panose="020B0606020202030204" pitchFamily="34" charset="0"/>
              </a:rPr>
              <a:t>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They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borrow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short</a:t>
            </a:r>
            <a:r>
              <a:rPr lang="tr-TR" sz="1800" dirty="0">
                <a:latin typeface="Arial Narrow" panose="020B0606020202030204" pitchFamily="34" charset="0"/>
              </a:rPr>
              <a:t> (</a:t>
            </a:r>
            <a:r>
              <a:rPr lang="tr-TR" sz="1800" dirty="0" err="1">
                <a:latin typeface="Arial Narrow" panose="020B0606020202030204" pitchFamily="34" charset="0"/>
              </a:rPr>
              <a:t>accept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short-term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deposits</a:t>
            </a:r>
            <a:r>
              <a:rPr lang="tr-TR" sz="1800" dirty="0">
                <a:latin typeface="Arial Narrow" panose="020B0606020202030204" pitchFamily="34" charset="0"/>
              </a:rPr>
              <a:t>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lend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long</a:t>
            </a:r>
            <a:r>
              <a:rPr lang="tr-TR" sz="1800" dirty="0">
                <a:latin typeface="Arial Narrow" panose="020B0606020202030204" pitchFamily="34" charset="0"/>
              </a:rPr>
              <a:t> (</a:t>
            </a:r>
            <a:r>
              <a:rPr lang="tr-TR" sz="1800" dirty="0" err="1">
                <a:latin typeface="Arial Narrow" panose="020B0606020202030204" pitchFamily="34" charset="0"/>
              </a:rPr>
              <a:t>make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long-term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loans</a:t>
            </a:r>
            <a:r>
              <a:rPr lang="tr-TR" sz="1800" dirty="0">
                <a:latin typeface="Arial Narrow" panose="020B0606020202030204" pitchFamily="34" charset="0"/>
              </a:rPr>
              <a:t>).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When a bank takes in additional deposits, it gains an equal amount of reserves;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when it pays out deposits, it loses an equal amount of reserves.</a:t>
            </a: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046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43808" y="188640"/>
            <a:ext cx="3456384" cy="940966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Bank Management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bank </a:t>
            </a:r>
            <a:r>
              <a:rPr lang="tr-TR" sz="1800" dirty="0" err="1">
                <a:latin typeface="Arial Narrow" panose="020B0606020202030204" pitchFamily="34" charset="0"/>
              </a:rPr>
              <a:t>manager</a:t>
            </a:r>
            <a:r>
              <a:rPr lang="tr-TR" sz="1800" dirty="0">
                <a:latin typeface="Arial Narrow" panose="020B0606020202030204" pitchFamily="34" charset="0"/>
              </a:rPr>
              <a:t> has </a:t>
            </a:r>
            <a:r>
              <a:rPr lang="tr-TR" sz="1800" dirty="0" err="1">
                <a:latin typeface="Arial Narrow" panose="020B0606020202030204" pitchFamily="34" charset="0"/>
              </a:rPr>
              <a:t>four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primary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concerns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lvl="0" algn="ctr">
              <a:spcBef>
                <a:spcPts val="0"/>
              </a:spcBef>
              <a:buFont typeface="+mj-lt"/>
              <a:buAutoNum type="arabicPeriod"/>
            </a:pPr>
            <a:r>
              <a:rPr lang="tr-TR" sz="1800" noProof="1">
                <a:latin typeface="Arial Narrow" panose="020B0606020202030204" pitchFamily="34" charset="0"/>
              </a:rPr>
              <a:t>To make sure that the bank has enough ready cash to pay its depositors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when there are deposit outflows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– that is, when deposits are lost because depositors make withdrawels and demand payment.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To keep enough cash on hand, the bank must engage in </a:t>
            </a: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Liquidity Management</a:t>
            </a:r>
            <a:r>
              <a:rPr lang="tr-TR" sz="1800" noProof="1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the acquisition of sufficiently liquid assets to meet the bank’s obligations to depositors.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lvl="0" algn="ctr">
              <a:spcBef>
                <a:spcPts val="0"/>
              </a:spcBef>
              <a:buFont typeface="+mj-lt"/>
              <a:buAutoNum type="arabicPeriod" startAt="2"/>
            </a:pPr>
            <a:r>
              <a:rPr lang="tr-TR" sz="1800" noProof="1">
                <a:latin typeface="Arial Narrow" panose="020B0606020202030204" pitchFamily="34" charset="0"/>
              </a:rPr>
              <a:t>Pursuing an acceptably low level of risk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by acquiring assets that have a low rate default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and by diversifying asset holdings (</a:t>
            </a: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Asset Management</a:t>
            </a:r>
            <a:r>
              <a:rPr lang="tr-TR" sz="1800" noProof="1">
                <a:latin typeface="Arial Narrow" panose="020B0606020202030204" pitchFamily="34" charset="0"/>
              </a:rPr>
              <a:t>).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lvl="0" algn="ctr">
              <a:spcBef>
                <a:spcPts val="0"/>
              </a:spcBef>
              <a:buFont typeface="+mj-lt"/>
              <a:buAutoNum type="arabicPeriod" startAt="3"/>
            </a:pPr>
            <a:r>
              <a:rPr lang="tr-TR" sz="1800" noProof="1">
                <a:latin typeface="Arial Narrow" panose="020B0606020202030204" pitchFamily="34" charset="0"/>
              </a:rPr>
              <a:t>Acquring funds at low cost (</a:t>
            </a: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Liability Management</a:t>
            </a:r>
            <a:r>
              <a:rPr lang="tr-TR" sz="1800" noProof="1">
                <a:latin typeface="Arial Narrow" panose="020B0606020202030204" pitchFamily="34" charset="0"/>
              </a:rPr>
              <a:t>).</a:t>
            </a:r>
          </a:p>
          <a:p>
            <a:pPr lvl="0" algn="ctr">
              <a:spcBef>
                <a:spcPts val="0"/>
              </a:spcBef>
              <a:buFont typeface="+mj-lt"/>
              <a:buAutoNum type="arabicPeriod" startAt="3"/>
            </a:pPr>
            <a:endParaRPr lang="tr-TR" sz="900" noProof="1">
              <a:latin typeface="Arial Narrow" panose="020B0606020202030204" pitchFamily="34" charset="0"/>
            </a:endParaRPr>
          </a:p>
          <a:p>
            <a:pPr lvl="0" algn="ctr">
              <a:spcBef>
                <a:spcPts val="0"/>
              </a:spcBef>
              <a:buFont typeface="+mj-lt"/>
              <a:buAutoNum type="arabicPeriod" startAt="3"/>
            </a:pPr>
            <a:r>
              <a:rPr lang="tr-TR" sz="1800" noProof="1">
                <a:latin typeface="Arial Narrow" panose="020B0606020202030204" pitchFamily="34" charset="0"/>
              </a:rPr>
              <a:t>Deciding the amount of capital the bank should maintain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and then acquiring the needed capital (</a:t>
            </a: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Capital Adequacy Management</a:t>
            </a:r>
            <a:r>
              <a:rPr lang="tr-TR" sz="1800" noProof="1">
                <a:latin typeface="Arial Narrow" panose="020B0606020202030204" pitchFamily="34" charset="0"/>
              </a:rPr>
              <a:t>).</a:t>
            </a:r>
          </a:p>
          <a:p>
            <a:pPr lvl="0" algn="ctr">
              <a:spcBef>
                <a:spcPts val="0"/>
              </a:spcBef>
              <a:buFont typeface="+mj-lt"/>
              <a:buAutoNum type="arabicPeriod" startAt="3"/>
            </a:pPr>
            <a:endParaRPr lang="tr-TR" sz="1800" noProof="1">
              <a:latin typeface="Arial Narrow" panose="020B0606020202030204" pitchFamily="34" charset="0"/>
            </a:endParaRPr>
          </a:p>
          <a:p>
            <a:pPr lvl="0" algn="ctr">
              <a:spcBef>
                <a:spcPts val="0"/>
              </a:spcBef>
              <a:buFont typeface="+mj-lt"/>
              <a:buAutoNum type="arabicPeriod" startAt="3"/>
            </a:pP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887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843808" y="188640"/>
            <a:ext cx="3456384" cy="998984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Banking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Risks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Primary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risks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banking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as </a:t>
            </a:r>
            <a:r>
              <a:rPr lang="tr-TR" sz="1800" dirty="0" err="1">
                <a:latin typeface="Arial Narrow" panose="020B0606020202030204" pitchFamily="34" charset="0"/>
              </a:rPr>
              <a:t>follows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lvl="0" algn="ctr">
              <a:spcBef>
                <a:spcPts val="0"/>
              </a:spcBef>
              <a:buFont typeface="+mj-lt"/>
              <a:buAutoNum type="arabicPeriod"/>
            </a:pPr>
            <a:r>
              <a:rPr lang="tr-TR" sz="18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Credit</a:t>
            </a:r>
            <a:r>
              <a:rPr lang="tr-TR" sz="1800" dirty="0">
                <a:solidFill>
                  <a:srgbClr val="800000"/>
                </a:solidFill>
                <a:latin typeface="Arial Narrow" panose="020B0606020202030204" pitchFamily="34" charset="0"/>
              </a:rPr>
              <a:t> Risk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The risk arising because borrowers may default.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lvl="0" algn="ctr">
              <a:spcBef>
                <a:spcPts val="0"/>
              </a:spcBef>
              <a:buFont typeface="+mj-lt"/>
              <a:buAutoNum type="arabicPeriod" startAt="2"/>
            </a:pPr>
            <a:r>
              <a:rPr lang="tr-TR" sz="1800" noProof="1">
                <a:solidFill>
                  <a:srgbClr val="800000"/>
                </a:solidFill>
                <a:latin typeface="Arial Narrow" panose="020B0606020202030204" pitchFamily="34" charset="0"/>
              </a:rPr>
              <a:t>Interest-rate Risk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The riskiness of earnings and returns on bank assets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that results from interest-rate changes.</a:t>
            </a:r>
          </a:p>
          <a:p>
            <a:pPr lvl="0" algn="ctr">
              <a:spcBef>
                <a:spcPts val="0"/>
              </a:spcBef>
              <a:buFont typeface="+mj-lt"/>
              <a:buAutoNum type="arabicPeriod" startAt="3"/>
            </a:pPr>
            <a:endParaRPr lang="tr-TR" sz="1800" noProof="1">
              <a:latin typeface="Arial Narrow" panose="020B0606020202030204" pitchFamily="34" charset="0"/>
            </a:endParaRPr>
          </a:p>
          <a:p>
            <a:pPr lvl="0" algn="ctr">
              <a:spcBef>
                <a:spcPts val="0"/>
              </a:spcBef>
              <a:buFont typeface="+mj-lt"/>
              <a:buAutoNum type="arabicPeriod" startAt="3"/>
            </a:pP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456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>
                <a:latin typeface="Arial Narrow" pitchFamily="34" charset="0"/>
              </a:rPr>
              <a:t>Bank Management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Although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more-liquid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assets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tend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earn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lower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returns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banks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still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desire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hold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them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Specifically, banks hold excess and secondary reserves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because they provide insurance against the costs of a deposit outflow.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Banks manage their assets to maximize profits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by seeking the highest returns possible on loans and securities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while at the same time trying to lower risk and making adequate provisions for liquidity.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Although liability management was once a staid affair,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large (money center) banks now actively seek out sources of funds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by issuing liabilities such as negotiable CDs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or by actively borrowing from other banks and corporations.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Banks manage the amount of capital they hold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to prevent bank failure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and to meet bank capital requirements set by the regulatory authorities.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However, they do not want to hold too much capital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because by so doing they will lower the returns to equity holders.</a:t>
            </a:r>
          </a:p>
        </p:txBody>
      </p:sp>
    </p:spTree>
    <p:extLst>
      <p:ext uri="{BB962C8B-B14F-4D97-AF65-F5344CB8AC3E}">
        <p14:creationId xmlns:p14="http://schemas.microsoft.com/office/powerpoint/2010/main" val="2950599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itchFamily="34" charset="0"/>
              </a:rPr>
              <a:t>Equity</a:t>
            </a:r>
            <a:r>
              <a:rPr lang="tr-TR" sz="2800" dirty="0">
                <a:latin typeface="Arial Narrow" pitchFamily="34" charset="0"/>
              </a:rPr>
              <a:t> </a:t>
            </a:r>
            <a:r>
              <a:rPr lang="tr-TR" sz="2800" dirty="0" err="1">
                <a:latin typeface="Arial Narrow" pitchFamily="34" charset="0"/>
              </a:rPr>
              <a:t>Multiplier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Higher</a:t>
            </a:r>
            <a:r>
              <a:rPr lang="tr-TR" sz="1800" dirty="0">
                <a:latin typeface="Arial Narrow" panose="020B0606020202030204" pitchFamily="34" charset="0"/>
              </a:rPr>
              <a:t> bank </a:t>
            </a:r>
            <a:r>
              <a:rPr lang="tr-TR" sz="1800" dirty="0" err="1">
                <a:latin typeface="Arial Narrow" panose="020B0606020202030204" pitchFamily="34" charset="0"/>
              </a:rPr>
              <a:t>capital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benefits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owners</a:t>
            </a:r>
            <a:r>
              <a:rPr lang="tr-TR" sz="1800" dirty="0">
                <a:latin typeface="Arial Narrow" panose="020B0606020202030204" pitchFamily="34" charset="0"/>
              </a:rPr>
              <a:t> of a bank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in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it </a:t>
            </a:r>
            <a:r>
              <a:rPr lang="tr-TR" sz="1800" dirty="0" err="1">
                <a:latin typeface="Arial Narrow" panose="020B0606020202030204" pitchFamily="34" charset="0"/>
              </a:rPr>
              <a:t>makes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their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investment</a:t>
            </a:r>
            <a:r>
              <a:rPr lang="tr-TR" sz="1800" dirty="0">
                <a:latin typeface="Arial Narrow" panose="020B0606020202030204" pitchFamily="34" charset="0"/>
              </a:rPr>
              <a:t> safer </a:t>
            </a:r>
            <a:r>
              <a:rPr lang="tr-TR" sz="1800" dirty="0" err="1">
                <a:latin typeface="Arial Narrow" panose="020B0606020202030204" pitchFamily="34" charset="0"/>
              </a:rPr>
              <a:t>by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reducing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likelyhood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bankruptcy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But bank capital is costly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because the higher it is, the lower will be the return on equity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for a given return on assets.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The bank management needs to aim for an optimal capital level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balancing the avoidance of bankruptcy and the maximization of return on equity.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853" y="1844824"/>
            <a:ext cx="6432293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28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9752" y="116632"/>
            <a:ext cx="4392488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itchFamily="34" charset="0"/>
              </a:rPr>
              <a:t>Credit</a:t>
            </a:r>
            <a:r>
              <a:rPr lang="tr-TR" sz="2800" dirty="0">
                <a:latin typeface="Arial Narrow" pitchFamily="34" charset="0"/>
              </a:rPr>
              <a:t> Risk Management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339752" y="1600200"/>
            <a:ext cx="4392488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Credit</a:t>
            </a:r>
            <a:r>
              <a:rPr lang="tr-TR" sz="1800" dirty="0">
                <a:latin typeface="Arial Narrow" panose="020B0606020202030204" pitchFamily="34" charset="0"/>
              </a:rPr>
              <a:t> risk </a:t>
            </a:r>
            <a:r>
              <a:rPr lang="tr-TR" sz="1800" dirty="0" err="1">
                <a:latin typeface="Arial Narrow" panose="020B0606020202030204" pitchFamily="34" charset="0"/>
              </a:rPr>
              <a:t>management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principles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involving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loan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activities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following</a:t>
            </a:r>
            <a:r>
              <a:rPr lang="tr-TR" sz="1800" dirty="0">
                <a:latin typeface="Arial Narrow" panose="020B0606020202030204" pitchFamily="34" charset="0"/>
              </a:rPr>
              <a:t>:</a:t>
            </a:r>
          </a:p>
          <a:p>
            <a:pPr mar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lvl="1">
              <a:spcBef>
                <a:spcPts val="0"/>
              </a:spcBef>
              <a:buFont typeface="+mj-lt"/>
              <a:buAutoNum type="arabicPeriod"/>
            </a:pPr>
            <a:r>
              <a:rPr lang="tr-TR" sz="1800" dirty="0" err="1">
                <a:latin typeface="Arial Narrow" panose="020B0606020202030204" pitchFamily="34" charset="0"/>
              </a:rPr>
              <a:t>screening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monitoring</a:t>
            </a:r>
            <a:endParaRPr lang="tr-TR" sz="1800" dirty="0">
              <a:latin typeface="Arial Narrow" panose="020B0606020202030204" pitchFamily="34" charset="0"/>
            </a:endParaRPr>
          </a:p>
          <a:p>
            <a:pPr lvl="1">
              <a:spcBef>
                <a:spcPts val="0"/>
              </a:spcBef>
              <a:buFont typeface="+mj-lt"/>
              <a:buAutoNum type="arabicPeriod"/>
            </a:pPr>
            <a:r>
              <a:rPr lang="tr-TR" sz="1800" dirty="0" err="1">
                <a:latin typeface="Arial Narrow" panose="020B0606020202030204" pitchFamily="34" charset="0"/>
              </a:rPr>
              <a:t>long-term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customer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relationships</a:t>
            </a:r>
            <a:endParaRPr lang="tr-TR" sz="1800" dirty="0">
              <a:latin typeface="Arial Narrow" panose="020B0606020202030204" pitchFamily="34" charset="0"/>
            </a:endParaRPr>
          </a:p>
          <a:p>
            <a:pPr lvl="1">
              <a:spcBef>
                <a:spcPts val="0"/>
              </a:spcBef>
              <a:buFont typeface="+mj-lt"/>
              <a:buAutoNum type="arabicPeriod"/>
            </a:pPr>
            <a:r>
              <a:rPr lang="tr-TR" sz="1800" dirty="0" err="1">
                <a:latin typeface="Arial Narrow" panose="020B0606020202030204" pitchFamily="34" charset="0"/>
              </a:rPr>
              <a:t>loan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commitments</a:t>
            </a:r>
            <a:endParaRPr lang="tr-TR" sz="1800" dirty="0">
              <a:latin typeface="Arial Narrow" panose="020B0606020202030204" pitchFamily="34" charset="0"/>
            </a:endParaRPr>
          </a:p>
          <a:p>
            <a:pPr lvl="1">
              <a:spcBef>
                <a:spcPts val="0"/>
              </a:spcBef>
              <a:buFont typeface="+mj-lt"/>
              <a:buAutoNum type="arabicPeriod"/>
            </a:pPr>
            <a:r>
              <a:rPr lang="tr-TR" sz="1800" dirty="0" err="1">
                <a:latin typeface="Arial Narrow" panose="020B0606020202030204" pitchFamily="34" charset="0"/>
              </a:rPr>
              <a:t>collateral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compensating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balances</a:t>
            </a:r>
            <a:endParaRPr lang="tr-TR" sz="1800" dirty="0">
              <a:latin typeface="Arial Narrow" panose="020B0606020202030204" pitchFamily="34" charset="0"/>
            </a:endParaRPr>
          </a:p>
          <a:p>
            <a:pPr lvl="1">
              <a:spcBef>
                <a:spcPts val="0"/>
              </a:spcBef>
              <a:buFont typeface="+mj-lt"/>
              <a:buAutoNum type="arabicPeriod"/>
            </a:pPr>
            <a:r>
              <a:rPr lang="tr-TR" sz="1800" dirty="0" err="1">
                <a:latin typeface="Arial Narrow" panose="020B0606020202030204" pitchFamily="34" charset="0"/>
              </a:rPr>
              <a:t>credit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rationing</a:t>
            </a:r>
            <a:endParaRPr lang="tr-TR" sz="18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615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itchFamily="34" charset="0"/>
              </a:rPr>
              <a:t>Credit</a:t>
            </a:r>
            <a:r>
              <a:rPr lang="tr-TR" sz="2800" dirty="0">
                <a:latin typeface="Arial Narrow" pitchFamily="34" charset="0"/>
              </a:rPr>
              <a:t> Risk Management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24536"/>
          </a:xfrm>
          <a:ln w="25400">
            <a:noFill/>
          </a:ln>
        </p:spPr>
        <p:txBody>
          <a:bodyPr>
            <a:noAutofit/>
          </a:bodyPr>
          <a:lstStyle/>
          <a:p>
            <a:pPr marL="0" lvl="1" indent="0" algn="ctr">
              <a:spcBef>
                <a:spcPts val="0"/>
              </a:spcBef>
              <a:buNone/>
            </a:pPr>
            <a:r>
              <a:rPr lang="tr-TR" sz="2000" dirty="0" err="1">
                <a:latin typeface="Arial Narrow" panose="020B0606020202030204" pitchFamily="34" charset="0"/>
              </a:rPr>
              <a:t>Screening</a:t>
            </a:r>
            <a:r>
              <a:rPr lang="tr-TR" sz="2000" dirty="0"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latin typeface="Arial Narrow" panose="020B0606020202030204" pitchFamily="34" charset="0"/>
              </a:rPr>
              <a:t>and</a:t>
            </a:r>
            <a:r>
              <a:rPr lang="tr-TR" sz="2000" dirty="0"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latin typeface="Arial Narrow" panose="020B0606020202030204" pitchFamily="34" charset="0"/>
              </a:rPr>
              <a:t>Monitoring</a:t>
            </a:r>
            <a:r>
              <a:rPr lang="tr-TR" sz="2000" dirty="0">
                <a:latin typeface="Arial Narrow" panose="020B0606020202030204" pitchFamily="34" charset="0"/>
              </a:rPr>
              <a:t>: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Asymmetric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information</a:t>
            </a:r>
            <a:r>
              <a:rPr lang="tr-TR" sz="1600" dirty="0">
                <a:latin typeface="Arial Narrow" panose="020B0606020202030204" pitchFamily="34" charset="0"/>
              </a:rPr>
              <a:t> is </a:t>
            </a:r>
            <a:r>
              <a:rPr lang="tr-TR" sz="1600" dirty="0" err="1">
                <a:latin typeface="Arial Narrow" panose="020B0606020202030204" pitchFamily="34" charset="0"/>
              </a:rPr>
              <a:t>present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loan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markets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because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lenders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have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less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information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about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investment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opportunities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activities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borrowers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than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borrowers</a:t>
            </a:r>
            <a:r>
              <a:rPr lang="tr-TR" sz="1600" dirty="0">
                <a:latin typeface="Arial Narrow" panose="020B0606020202030204" pitchFamily="34" charset="0"/>
              </a:rPr>
              <a:t> do.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This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situation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leads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two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information-producing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activities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banks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other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financial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institutions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– </a:t>
            </a:r>
            <a:r>
              <a:rPr lang="tr-TR" sz="1600" dirty="0" err="1">
                <a:latin typeface="Arial Narrow" panose="020B0606020202030204" pitchFamily="34" charset="0"/>
              </a:rPr>
              <a:t>screening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monitoring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effective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screening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lenders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must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collect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reliable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information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from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prospective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borrowers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Bank </a:t>
            </a:r>
            <a:r>
              <a:rPr lang="tr-TR" sz="1600" dirty="0" err="1">
                <a:latin typeface="Arial Narrow" panose="020B0606020202030204" pitchFamily="34" charset="0"/>
              </a:rPr>
              <a:t>collects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information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about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company’s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profits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losses</a:t>
            </a:r>
            <a:r>
              <a:rPr lang="tr-TR" sz="1600" dirty="0">
                <a:latin typeface="Arial Narrow" panose="020B0606020202030204" pitchFamily="34" charset="0"/>
              </a:rPr>
              <a:t> (</a:t>
            </a:r>
            <a:r>
              <a:rPr lang="tr-TR" sz="1600" dirty="0" err="1">
                <a:latin typeface="Arial Narrow" panose="020B0606020202030204" pitchFamily="34" charset="0"/>
              </a:rPr>
              <a:t>income</a:t>
            </a:r>
            <a:r>
              <a:rPr lang="tr-TR" sz="1600" dirty="0">
                <a:latin typeface="Arial Narrow" panose="020B0606020202030204" pitchFamily="34" charset="0"/>
              </a:rPr>
              <a:t>)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about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assets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liabilities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lender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also</a:t>
            </a:r>
            <a:r>
              <a:rPr lang="tr-TR" sz="1600" dirty="0">
                <a:latin typeface="Arial Narrow" panose="020B0606020202030204" pitchFamily="34" charset="0"/>
              </a:rPr>
              <a:t> has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evaluate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likely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future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success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business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So</a:t>
            </a:r>
            <a:r>
              <a:rPr lang="tr-TR" sz="1600" dirty="0">
                <a:latin typeface="Arial Narrow" panose="020B0606020202030204" pitchFamily="34" charset="0"/>
              </a:rPr>
              <a:t>, in </a:t>
            </a:r>
            <a:r>
              <a:rPr lang="tr-TR" sz="1600" dirty="0" err="1">
                <a:latin typeface="Arial Narrow" panose="020B0606020202030204" pitchFamily="34" charset="0"/>
              </a:rPr>
              <a:t>addition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obtaining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information</a:t>
            </a:r>
            <a:r>
              <a:rPr lang="tr-TR" sz="1600" dirty="0">
                <a:latin typeface="Arial Narrow" panose="020B0606020202030204" pitchFamily="34" charset="0"/>
              </a:rPr>
              <a:t> on </a:t>
            </a:r>
            <a:r>
              <a:rPr lang="tr-TR" sz="1600" dirty="0" err="1">
                <a:latin typeface="Arial Narrow" panose="020B0606020202030204" pitchFamily="34" charset="0"/>
              </a:rPr>
              <a:t>such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items</a:t>
            </a:r>
            <a:r>
              <a:rPr lang="tr-TR" sz="1600" dirty="0">
                <a:latin typeface="Arial Narrow" panose="020B0606020202030204" pitchFamily="34" charset="0"/>
              </a:rPr>
              <a:t> as </a:t>
            </a:r>
            <a:r>
              <a:rPr lang="tr-TR" sz="1600" dirty="0" err="1">
                <a:latin typeface="Arial Narrow" panose="020B0606020202030204" pitchFamily="34" charset="0"/>
              </a:rPr>
              <a:t>sales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figures</a:t>
            </a:r>
            <a:r>
              <a:rPr lang="tr-TR" sz="1600" dirty="0">
                <a:latin typeface="Arial Narrow" panose="020B0606020202030204" pitchFamily="34" charset="0"/>
              </a:rPr>
              <a:t>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a </a:t>
            </a:r>
            <a:r>
              <a:rPr lang="tr-TR" sz="1600" dirty="0" err="1">
                <a:latin typeface="Arial Narrow" panose="020B0606020202030204" pitchFamily="34" charset="0"/>
              </a:rPr>
              <a:t>loan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officer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might</a:t>
            </a:r>
            <a:r>
              <a:rPr lang="tr-TR" sz="1600" dirty="0">
                <a:latin typeface="Arial Narrow" panose="020B0606020202030204" pitchFamily="34" charset="0"/>
              </a:rPr>
              <a:t> ask </a:t>
            </a:r>
            <a:r>
              <a:rPr lang="tr-TR" sz="1600" dirty="0" err="1">
                <a:latin typeface="Arial Narrow" panose="020B0606020202030204" pitchFamily="34" charset="0"/>
              </a:rPr>
              <a:t>questions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about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company’s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future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plans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purpose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loan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competition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industry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officer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even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visit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compant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obtain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firsthand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look</a:t>
            </a:r>
            <a:r>
              <a:rPr lang="tr-TR" sz="1600" dirty="0">
                <a:latin typeface="Arial Narrow" panose="020B0606020202030204" pitchFamily="34" charset="0"/>
              </a:rPr>
              <a:t> at </a:t>
            </a:r>
            <a:r>
              <a:rPr lang="tr-TR" sz="1600" dirty="0" err="1">
                <a:latin typeface="Arial Narrow" panose="020B0606020202030204" pitchFamily="34" charset="0"/>
              </a:rPr>
              <a:t>its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operations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1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A </a:t>
            </a:r>
            <a:r>
              <a:rPr lang="tr-TR" sz="1600" dirty="0" err="1">
                <a:latin typeface="Arial Narrow" panose="020B0606020202030204" pitchFamily="34" charset="0"/>
              </a:rPr>
              <a:t>lender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should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write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provisions</a:t>
            </a:r>
            <a:r>
              <a:rPr lang="tr-TR" sz="1600" dirty="0">
                <a:latin typeface="Arial Narrow" panose="020B0606020202030204" pitchFamily="34" charset="0"/>
              </a:rPr>
              <a:t> (</a:t>
            </a:r>
            <a:r>
              <a:rPr lang="tr-TR" sz="1600" dirty="0" err="1">
                <a:latin typeface="Arial Narrow" panose="020B0606020202030204" pitchFamily="34" charset="0"/>
              </a:rPr>
              <a:t>restrictive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covenants</a:t>
            </a:r>
            <a:r>
              <a:rPr lang="tr-TR" sz="1600" dirty="0">
                <a:latin typeface="Arial Narrow" panose="020B0606020202030204" pitchFamily="34" charset="0"/>
              </a:rPr>
              <a:t>) </a:t>
            </a:r>
            <a:r>
              <a:rPr lang="tr-TR" sz="1600" dirty="0" err="1">
                <a:latin typeface="Arial Narrow" panose="020B0606020202030204" pitchFamily="34" charset="0"/>
              </a:rPr>
              <a:t>into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loan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contracts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restrict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borrowers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from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engaging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risky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activities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monitoring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borowers</a:t>
            </a:r>
            <a:r>
              <a:rPr lang="tr-TR" sz="1600" dirty="0">
                <a:latin typeface="Arial Narrow" panose="020B0606020202030204" pitchFamily="34" charset="0"/>
              </a:rPr>
              <a:t>’ </a:t>
            </a:r>
            <a:r>
              <a:rPr lang="tr-TR" sz="1600" dirty="0" err="1">
                <a:latin typeface="Arial Narrow" panose="020B0606020202030204" pitchFamily="34" charset="0"/>
              </a:rPr>
              <a:t>activities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see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whether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complying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with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restrictive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covenants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enforcing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covenants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if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not,</a:t>
            </a:r>
          </a:p>
          <a:p>
            <a:pPr marL="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lenders</a:t>
            </a:r>
            <a:r>
              <a:rPr lang="tr-TR" sz="1600" dirty="0">
                <a:latin typeface="Arial Narrow" panose="020B0606020202030204" pitchFamily="34" charset="0"/>
              </a:rPr>
              <a:t> can </a:t>
            </a:r>
            <a:r>
              <a:rPr lang="tr-TR" sz="1600" dirty="0" err="1">
                <a:latin typeface="Arial Narrow" panose="020B0606020202030204" pitchFamily="34" charset="0"/>
              </a:rPr>
              <a:t>make</a:t>
            </a:r>
            <a:r>
              <a:rPr lang="tr-TR" sz="1600" dirty="0">
                <a:latin typeface="Arial Narrow" panose="020B0606020202030204" pitchFamily="34" charset="0"/>
              </a:rPr>
              <a:t> sure </a:t>
            </a: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borrowers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not </a:t>
            </a:r>
            <a:r>
              <a:rPr lang="tr-TR" sz="1600" dirty="0" err="1">
                <a:latin typeface="Arial Narrow" panose="020B0606020202030204" pitchFamily="34" charset="0"/>
              </a:rPr>
              <a:t>taking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risks</a:t>
            </a:r>
            <a:r>
              <a:rPr lang="tr-TR" sz="1600" dirty="0">
                <a:latin typeface="Arial Narrow" panose="020B0606020202030204" pitchFamily="34" charset="0"/>
              </a:rPr>
              <a:t> at </a:t>
            </a:r>
            <a:r>
              <a:rPr lang="tr-TR" sz="1600" dirty="0" err="1">
                <a:latin typeface="Arial Narrow" panose="020B0606020202030204" pitchFamily="34" charset="0"/>
              </a:rPr>
              <a:t>their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expense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457200" lvl="1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398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itchFamily="34" charset="0"/>
              </a:rPr>
              <a:t>Credit</a:t>
            </a:r>
            <a:r>
              <a:rPr lang="tr-TR" sz="2800" dirty="0">
                <a:latin typeface="Arial Narrow" pitchFamily="34" charset="0"/>
              </a:rPr>
              <a:t> Risk Management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457200" lvl="1" indent="0" algn="ctr">
              <a:spcBef>
                <a:spcPts val="0"/>
              </a:spcBef>
              <a:buNone/>
            </a:pPr>
            <a:endParaRPr lang="tr-TR" sz="10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2000" dirty="0" err="1">
                <a:latin typeface="Arial Narrow" panose="020B0606020202030204" pitchFamily="34" charset="0"/>
              </a:rPr>
              <a:t>Long-term</a:t>
            </a:r>
            <a:r>
              <a:rPr lang="tr-TR" sz="2000" dirty="0"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latin typeface="Arial Narrow" panose="020B0606020202030204" pitchFamily="34" charset="0"/>
              </a:rPr>
              <a:t>Customer</a:t>
            </a:r>
            <a:r>
              <a:rPr lang="tr-TR" sz="2000" dirty="0"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latin typeface="Arial Narrow" panose="020B0606020202030204" pitchFamily="34" charset="0"/>
              </a:rPr>
              <a:t>Relationships</a:t>
            </a:r>
            <a:r>
              <a:rPr lang="tr-TR" sz="2000" dirty="0">
                <a:latin typeface="Arial Narrow" panose="020B0606020202030204" pitchFamily="34" charset="0"/>
              </a:rPr>
              <a:t>:</a:t>
            </a:r>
          </a:p>
          <a:p>
            <a:pPr marL="457200" lvl="1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lvl="1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>
                <a:latin typeface="Arial Narrow" panose="020B0606020202030204" pitchFamily="34" charset="0"/>
              </a:rPr>
              <a:t>Reduce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costs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information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collection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make</a:t>
            </a:r>
            <a:r>
              <a:rPr lang="tr-TR" sz="1600" dirty="0">
                <a:latin typeface="Arial Narrow" panose="020B0606020202030204" pitchFamily="34" charset="0"/>
              </a:rPr>
              <a:t> it </a:t>
            </a:r>
            <a:r>
              <a:rPr lang="tr-TR" sz="1600" dirty="0" err="1">
                <a:latin typeface="Arial Narrow" panose="020B0606020202030204" pitchFamily="34" charset="0"/>
              </a:rPr>
              <a:t>easier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screen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out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bad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credit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risks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lvl="1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costs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monitoring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long-term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customers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lower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lvl="1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>
                <a:latin typeface="Arial Narrow" panose="020B0606020202030204" pitchFamily="34" charset="0"/>
              </a:rPr>
              <a:t>Long-term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relationships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benefit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customer</a:t>
            </a:r>
            <a:r>
              <a:rPr lang="tr-TR" sz="1600" dirty="0">
                <a:latin typeface="Arial Narrow" panose="020B0606020202030204" pitchFamily="34" charset="0"/>
              </a:rPr>
              <a:t> as </a:t>
            </a:r>
            <a:r>
              <a:rPr lang="tr-TR" sz="1600" dirty="0" err="1">
                <a:latin typeface="Arial Narrow" panose="020B0606020202030204" pitchFamily="34" charset="0"/>
              </a:rPr>
              <a:t>well</a:t>
            </a:r>
            <a:r>
              <a:rPr lang="tr-TR" sz="1600" dirty="0">
                <a:latin typeface="Arial Narrow" panose="020B0606020202030204" pitchFamily="34" charset="0"/>
              </a:rPr>
              <a:t> as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bank.</a:t>
            </a:r>
          </a:p>
          <a:p>
            <a:pPr lvl="1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long-term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customer</a:t>
            </a:r>
            <a:r>
              <a:rPr lang="tr-TR" sz="1600" dirty="0">
                <a:latin typeface="Arial Narrow" panose="020B0606020202030204" pitchFamily="34" charset="0"/>
              </a:rPr>
              <a:t> has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incentive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avoid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risky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activities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would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upset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bank,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even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if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restrictions</a:t>
            </a:r>
            <a:r>
              <a:rPr lang="tr-TR" sz="1600" dirty="0">
                <a:latin typeface="Arial Narrow" panose="020B0606020202030204" pitchFamily="34" charset="0"/>
              </a:rPr>
              <a:t> on </a:t>
            </a:r>
            <a:r>
              <a:rPr lang="tr-TR" sz="1600" dirty="0" err="1">
                <a:latin typeface="Arial Narrow" panose="020B0606020202030204" pitchFamily="34" charset="0"/>
              </a:rPr>
              <a:t>these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risky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activities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are</a:t>
            </a:r>
            <a:r>
              <a:rPr lang="tr-TR" sz="1600" dirty="0">
                <a:latin typeface="Arial Narrow" panose="020B0606020202030204" pitchFamily="34" charset="0"/>
              </a:rPr>
              <a:t> not </a:t>
            </a:r>
            <a:r>
              <a:rPr lang="tr-TR" sz="1600" dirty="0" err="1">
                <a:latin typeface="Arial Narrow" panose="020B0606020202030204" pitchFamily="34" charset="0"/>
              </a:rPr>
              <a:t>specified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loan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contract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7244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itchFamily="34" charset="0"/>
              </a:rPr>
              <a:t>Credit</a:t>
            </a:r>
            <a:r>
              <a:rPr lang="tr-TR" sz="2800" dirty="0">
                <a:latin typeface="Arial Narrow" pitchFamily="34" charset="0"/>
              </a:rPr>
              <a:t> Risk Management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457200" lvl="1" indent="0" algn="ctr">
              <a:spcBef>
                <a:spcPts val="0"/>
              </a:spcBef>
              <a:buNone/>
            </a:pPr>
            <a:endParaRPr lang="tr-TR" sz="10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2000" dirty="0" err="1">
                <a:latin typeface="Arial Narrow" panose="020B0606020202030204" pitchFamily="34" charset="0"/>
              </a:rPr>
              <a:t>Loan</a:t>
            </a:r>
            <a:r>
              <a:rPr lang="tr-TR" sz="2000" dirty="0"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latin typeface="Arial Narrow" panose="020B0606020202030204" pitchFamily="34" charset="0"/>
              </a:rPr>
              <a:t>Commitments</a:t>
            </a:r>
            <a:r>
              <a:rPr lang="tr-TR" sz="2000" dirty="0">
                <a:latin typeface="Arial Narrow" panose="020B0606020202030204" pitchFamily="34" charset="0"/>
              </a:rPr>
              <a:t>:</a:t>
            </a:r>
          </a:p>
          <a:p>
            <a:pPr marL="457200" lvl="1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A </a:t>
            </a:r>
            <a:r>
              <a:rPr lang="tr-TR" sz="1600" dirty="0" err="1">
                <a:latin typeface="Arial Narrow" panose="020B0606020202030204" pitchFamily="34" charset="0"/>
              </a:rPr>
              <a:t>loan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commitment</a:t>
            </a:r>
            <a:r>
              <a:rPr lang="tr-TR" sz="1600" dirty="0">
                <a:latin typeface="Arial Narrow" panose="020B0606020202030204" pitchFamily="34" charset="0"/>
              </a:rPr>
              <a:t> is a </a:t>
            </a:r>
            <a:r>
              <a:rPr lang="tr-TR" sz="1600" dirty="0" err="1">
                <a:latin typeface="Arial Narrow" panose="020B0606020202030204" pitchFamily="34" charset="0"/>
              </a:rPr>
              <a:t>bank’s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commitment</a:t>
            </a:r>
            <a:r>
              <a:rPr lang="tr-TR" sz="1600" dirty="0">
                <a:latin typeface="Arial Narrow" panose="020B0606020202030204" pitchFamily="34" charset="0"/>
              </a:rPr>
              <a:t> (</a:t>
            </a: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specified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future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period</a:t>
            </a:r>
            <a:r>
              <a:rPr lang="tr-TR" sz="1600" dirty="0">
                <a:latin typeface="Arial Narrow" panose="020B0606020202030204" pitchFamily="34" charset="0"/>
              </a:rPr>
              <a:t> of time)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provide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firm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with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loans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up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given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amount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at an </a:t>
            </a:r>
            <a:r>
              <a:rPr lang="tr-TR" sz="1600" dirty="0" err="1">
                <a:latin typeface="Arial Narrow" panose="020B0606020202030204" pitchFamily="34" charset="0"/>
              </a:rPr>
              <a:t>interest</a:t>
            </a:r>
            <a:r>
              <a:rPr lang="tr-TR" sz="1600" dirty="0">
                <a:latin typeface="Arial Narrow" panose="020B0606020202030204" pitchFamily="34" charset="0"/>
              </a:rPr>
              <a:t> rate </a:t>
            </a: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r>
              <a:rPr lang="tr-TR" sz="1600" dirty="0">
                <a:latin typeface="Arial Narrow" panose="020B0606020202030204" pitchFamily="34" charset="0"/>
              </a:rPr>
              <a:t> is </a:t>
            </a:r>
            <a:r>
              <a:rPr lang="tr-TR" sz="1600" dirty="0" err="1">
                <a:latin typeface="Arial Narrow" panose="020B0606020202030204" pitchFamily="34" charset="0"/>
              </a:rPr>
              <a:t>tied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some</a:t>
            </a:r>
            <a:r>
              <a:rPr lang="tr-TR" sz="1600" dirty="0">
                <a:latin typeface="Arial Narrow" panose="020B0606020202030204" pitchFamily="34" charset="0"/>
              </a:rPr>
              <a:t> market </a:t>
            </a:r>
            <a:r>
              <a:rPr lang="tr-TR" sz="1600" dirty="0" err="1">
                <a:latin typeface="Arial Narrow" panose="020B0606020202030204" pitchFamily="34" charset="0"/>
              </a:rPr>
              <a:t>interest</a:t>
            </a:r>
            <a:r>
              <a:rPr lang="tr-TR" sz="1600" dirty="0">
                <a:latin typeface="Arial Narrow" panose="020B0606020202030204" pitchFamily="34" charset="0"/>
              </a:rPr>
              <a:t> rate.</a:t>
            </a:r>
          </a:p>
          <a:p>
            <a:pPr marL="457200" lvl="1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advantage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firm</a:t>
            </a:r>
            <a:r>
              <a:rPr lang="tr-TR" sz="1600" dirty="0">
                <a:latin typeface="Arial Narrow" panose="020B0606020202030204" pitchFamily="34" charset="0"/>
              </a:rPr>
              <a:t> is </a:t>
            </a: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r>
              <a:rPr lang="tr-TR" sz="1600" dirty="0">
                <a:latin typeface="Arial Narrow" panose="020B0606020202030204" pitchFamily="34" charset="0"/>
              </a:rPr>
              <a:t> it has a </a:t>
            </a:r>
            <a:r>
              <a:rPr lang="tr-TR" sz="1600" dirty="0" err="1">
                <a:latin typeface="Arial Narrow" panose="020B0606020202030204" pitchFamily="34" charset="0"/>
              </a:rPr>
              <a:t>source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credit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when</a:t>
            </a:r>
            <a:r>
              <a:rPr lang="tr-TR" sz="1600" dirty="0">
                <a:latin typeface="Arial Narrow" panose="020B0606020202030204" pitchFamily="34" charset="0"/>
              </a:rPr>
              <a:t> it </a:t>
            </a:r>
            <a:r>
              <a:rPr lang="tr-TR" sz="1600" dirty="0" err="1">
                <a:latin typeface="Arial Narrow" panose="020B0606020202030204" pitchFamily="34" charset="0"/>
              </a:rPr>
              <a:t>needs</a:t>
            </a:r>
            <a:r>
              <a:rPr lang="tr-TR" sz="1600" dirty="0">
                <a:latin typeface="Arial Narrow" panose="020B0606020202030204" pitchFamily="34" charset="0"/>
              </a:rPr>
              <a:t> it.</a:t>
            </a:r>
          </a:p>
          <a:p>
            <a:pPr marL="457200" lvl="1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advantage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for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bank is </a:t>
            </a: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loan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commitment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promotes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long-term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relationship</a:t>
            </a:r>
            <a:r>
              <a:rPr lang="tr-TR" sz="1600" dirty="0">
                <a:latin typeface="Arial Narrow" panose="020B0606020202030204" pitchFamily="34" charset="0"/>
              </a:rPr>
              <a:t>,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which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turn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facilitates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information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collection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In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addition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provisions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loan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commitment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agreement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require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that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firm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continually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supply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bank </a:t>
            </a:r>
            <a:r>
              <a:rPr lang="tr-TR" sz="1600" dirty="0" err="1">
                <a:latin typeface="Arial Narrow" panose="020B0606020202030204" pitchFamily="34" charset="0"/>
              </a:rPr>
              <a:t>with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information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about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firm’s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income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asset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liability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position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business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activities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and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so</a:t>
            </a:r>
            <a:r>
              <a:rPr lang="tr-TR" sz="1600" dirty="0">
                <a:latin typeface="Arial Narrow" panose="020B0606020202030204" pitchFamily="34" charset="0"/>
              </a:rPr>
              <a:t> on.</a:t>
            </a:r>
          </a:p>
        </p:txBody>
      </p:sp>
    </p:spTree>
    <p:extLst>
      <p:ext uri="{BB962C8B-B14F-4D97-AF65-F5344CB8AC3E}">
        <p14:creationId xmlns:p14="http://schemas.microsoft.com/office/powerpoint/2010/main" val="3009813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itchFamily="34" charset="0"/>
              </a:rPr>
              <a:t>Credit</a:t>
            </a:r>
            <a:r>
              <a:rPr lang="tr-TR" sz="2800" dirty="0">
                <a:latin typeface="Arial Narrow" pitchFamily="34" charset="0"/>
              </a:rPr>
              <a:t> Risk Management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457200" lvl="1" indent="0" algn="ctr">
              <a:spcBef>
                <a:spcPts val="0"/>
              </a:spcBef>
              <a:buNone/>
            </a:pPr>
            <a:endParaRPr lang="tr-TR" sz="10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2000" dirty="0" err="1">
                <a:latin typeface="Arial Narrow" panose="020B0606020202030204" pitchFamily="34" charset="0"/>
              </a:rPr>
              <a:t>Collateral</a:t>
            </a:r>
            <a:r>
              <a:rPr lang="tr-TR" sz="2000" dirty="0"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latin typeface="Arial Narrow" panose="020B0606020202030204" pitchFamily="34" charset="0"/>
              </a:rPr>
              <a:t>and</a:t>
            </a:r>
            <a:r>
              <a:rPr lang="tr-TR" sz="2000" dirty="0"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latin typeface="Arial Narrow" panose="020B0606020202030204" pitchFamily="34" charset="0"/>
              </a:rPr>
              <a:t>Compensating</a:t>
            </a:r>
            <a:r>
              <a:rPr lang="tr-TR" sz="2000" dirty="0"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latin typeface="Arial Narrow" panose="020B0606020202030204" pitchFamily="34" charset="0"/>
              </a:rPr>
              <a:t>Balances</a:t>
            </a:r>
            <a:r>
              <a:rPr lang="tr-TR" sz="2000" dirty="0">
                <a:latin typeface="Arial Narrow" panose="020B0606020202030204" pitchFamily="34" charset="0"/>
              </a:rPr>
              <a:t>:</a:t>
            </a:r>
          </a:p>
          <a:p>
            <a:pPr marL="457200" lvl="1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Collateral</a:t>
            </a:r>
            <a:r>
              <a:rPr lang="tr-TR" sz="1600" dirty="0">
                <a:latin typeface="Arial Narrow" panose="020B0606020202030204" pitchFamily="34" charset="0"/>
              </a:rPr>
              <a:t>, </a:t>
            </a:r>
            <a:r>
              <a:rPr lang="tr-TR" sz="1600" dirty="0" err="1">
                <a:latin typeface="Arial Narrow" panose="020B0606020202030204" pitchFamily="34" charset="0"/>
              </a:rPr>
              <a:t>which</a:t>
            </a:r>
            <a:r>
              <a:rPr lang="tr-TR" sz="1600" dirty="0">
                <a:latin typeface="Arial Narrow" panose="020B0606020202030204" pitchFamily="34" charset="0"/>
              </a:rPr>
              <a:t> is </a:t>
            </a:r>
            <a:r>
              <a:rPr lang="tr-TR" sz="1600" dirty="0" err="1">
                <a:latin typeface="Arial Narrow" panose="020B0606020202030204" pitchFamily="34" charset="0"/>
              </a:rPr>
              <a:t>property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promised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lender</a:t>
            </a:r>
            <a:r>
              <a:rPr lang="tr-TR" sz="1600" dirty="0">
                <a:latin typeface="Arial Narrow" panose="020B0606020202030204" pitchFamily="34" charset="0"/>
              </a:rPr>
              <a:t> as </a:t>
            </a:r>
            <a:r>
              <a:rPr lang="tr-TR" sz="1600" dirty="0" err="1">
                <a:latin typeface="Arial Narrow" panose="020B0606020202030204" pitchFamily="34" charset="0"/>
              </a:rPr>
              <a:t>compensation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if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borrower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defaults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lessens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adverse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consequences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because</a:t>
            </a:r>
            <a:r>
              <a:rPr lang="tr-TR" sz="1600" dirty="0">
                <a:latin typeface="Arial Narrow" panose="020B0606020202030204" pitchFamily="34" charset="0"/>
              </a:rPr>
              <a:t> it </a:t>
            </a:r>
            <a:r>
              <a:rPr lang="tr-TR" sz="1600" dirty="0" err="1">
                <a:latin typeface="Arial Narrow" panose="020B0606020202030204" pitchFamily="34" charset="0"/>
              </a:rPr>
              <a:t>reduces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lender’s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losses</a:t>
            </a:r>
            <a:r>
              <a:rPr lang="tr-TR" sz="1600" dirty="0">
                <a:latin typeface="Arial Narrow" panose="020B0606020202030204" pitchFamily="34" charset="0"/>
              </a:rPr>
              <a:t> in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case</a:t>
            </a:r>
            <a:r>
              <a:rPr lang="tr-TR" sz="1600" dirty="0">
                <a:latin typeface="Arial Narrow" panose="020B0606020202030204" pitchFamily="34" charset="0"/>
              </a:rPr>
              <a:t> of a </a:t>
            </a:r>
            <a:r>
              <a:rPr lang="tr-TR" sz="1600" dirty="0" err="1">
                <a:latin typeface="Arial Narrow" panose="020B0606020202030204" pitchFamily="34" charset="0"/>
              </a:rPr>
              <a:t>loan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default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457200" lvl="1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One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particular</a:t>
            </a:r>
            <a:r>
              <a:rPr lang="tr-TR" sz="1600" dirty="0">
                <a:latin typeface="Arial Narrow" panose="020B0606020202030204" pitchFamily="34" charset="0"/>
              </a:rPr>
              <a:t> form is </a:t>
            </a:r>
            <a:r>
              <a:rPr lang="tr-TR" sz="1600" dirty="0" err="1">
                <a:latin typeface="Arial Narrow" panose="020B0606020202030204" pitchFamily="34" charset="0"/>
              </a:rPr>
              <a:t>called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Compensating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Balances</a:t>
            </a:r>
            <a:r>
              <a:rPr lang="tr-TR" sz="1600" dirty="0">
                <a:latin typeface="Arial Narrow" panose="020B0606020202030204" pitchFamily="34" charset="0"/>
              </a:rPr>
              <a:t>: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A </a:t>
            </a:r>
            <a:r>
              <a:rPr lang="tr-TR" sz="1600" dirty="0" err="1">
                <a:latin typeface="Arial Narrow" panose="020B0606020202030204" pitchFamily="34" charset="0"/>
              </a:rPr>
              <a:t>firm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receiving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loan</a:t>
            </a:r>
            <a:r>
              <a:rPr lang="tr-TR" sz="1600" dirty="0">
                <a:latin typeface="Arial Narrow" panose="020B0606020202030204" pitchFamily="34" charset="0"/>
              </a:rPr>
              <a:t> is </a:t>
            </a:r>
            <a:r>
              <a:rPr lang="tr-TR" sz="1600" dirty="0" err="1">
                <a:latin typeface="Arial Narrow" panose="020B0606020202030204" pitchFamily="34" charset="0"/>
              </a:rPr>
              <a:t>asked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to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keep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a </a:t>
            </a:r>
            <a:r>
              <a:rPr lang="tr-TR" sz="1600" dirty="0" err="1">
                <a:latin typeface="Arial Narrow" panose="020B0606020202030204" pitchFamily="34" charset="0"/>
              </a:rPr>
              <a:t>required</a:t>
            </a:r>
            <a:r>
              <a:rPr lang="tr-TR" sz="1600" dirty="0">
                <a:latin typeface="Arial Narrow" panose="020B0606020202030204" pitchFamily="34" charset="0"/>
              </a:rPr>
              <a:t> minimum (on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average</a:t>
            </a:r>
            <a:r>
              <a:rPr lang="tr-TR" sz="1600" dirty="0">
                <a:latin typeface="Arial Narrow" panose="020B0606020202030204" pitchFamily="34" charset="0"/>
              </a:rPr>
              <a:t>) </a:t>
            </a:r>
            <a:r>
              <a:rPr lang="tr-TR" sz="1600" dirty="0" err="1">
                <a:latin typeface="Arial Narrow" panose="020B0606020202030204" pitchFamily="34" charset="0"/>
              </a:rPr>
              <a:t>amount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funds</a:t>
            </a:r>
            <a:r>
              <a:rPr lang="tr-TR" sz="1600" dirty="0">
                <a:latin typeface="Arial Narrow" panose="020B0606020202030204" pitchFamily="34" charset="0"/>
              </a:rPr>
              <a:t> in a </a:t>
            </a:r>
            <a:r>
              <a:rPr lang="tr-TR" sz="1600" dirty="0" err="1">
                <a:latin typeface="Arial Narrow" panose="020B0606020202030204" pitchFamily="34" charset="0"/>
              </a:rPr>
              <a:t>checking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account</a:t>
            </a:r>
            <a:r>
              <a:rPr lang="tr-TR" sz="1600" dirty="0">
                <a:latin typeface="Arial Narrow" panose="020B0606020202030204" pitchFamily="34" charset="0"/>
              </a:rPr>
              <a:t> at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bank.</a:t>
            </a:r>
          </a:p>
          <a:p>
            <a:pPr marL="457200" lvl="1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bank can </a:t>
            </a:r>
            <a:r>
              <a:rPr lang="tr-TR" sz="1600" dirty="0" err="1">
                <a:latin typeface="Arial Narrow" panose="020B0606020202030204" pitchFamily="34" charset="0"/>
              </a:rPr>
              <a:t>observe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firm’s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check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payment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practices</a:t>
            </a:r>
            <a:r>
              <a:rPr lang="tr-TR" sz="1600" dirty="0">
                <a:latin typeface="Arial Narrow" panose="020B0606020202030204" pitchFamily="34" charset="0"/>
              </a:rPr>
              <a:t>,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dirty="0" err="1">
                <a:latin typeface="Arial Narrow" panose="020B0606020202030204" pitchFamily="34" charset="0"/>
              </a:rPr>
              <a:t>which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may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yield</a:t>
            </a:r>
            <a:r>
              <a:rPr lang="tr-TR" sz="1600" dirty="0">
                <a:latin typeface="Arial Narrow" panose="020B0606020202030204" pitchFamily="34" charset="0"/>
              </a:rPr>
              <a:t> a </a:t>
            </a:r>
            <a:r>
              <a:rPr lang="tr-TR" sz="1600" dirty="0" err="1">
                <a:latin typeface="Arial Narrow" panose="020B0606020202030204" pitchFamily="34" charset="0"/>
              </a:rPr>
              <a:t>great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deal</a:t>
            </a:r>
            <a:r>
              <a:rPr lang="tr-TR" sz="1600" dirty="0">
                <a:latin typeface="Arial Narrow" panose="020B0606020202030204" pitchFamily="34" charset="0"/>
              </a:rPr>
              <a:t> of </a:t>
            </a:r>
            <a:r>
              <a:rPr lang="tr-TR" sz="1600" dirty="0" err="1">
                <a:latin typeface="Arial Narrow" panose="020B0606020202030204" pitchFamily="34" charset="0"/>
              </a:rPr>
              <a:t>information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about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the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borrower’s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financial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err="1">
                <a:latin typeface="Arial Narrow" panose="020B0606020202030204" pitchFamily="34" charset="0"/>
              </a:rPr>
              <a:t>condition</a:t>
            </a:r>
            <a:r>
              <a:rPr lang="tr-TR" sz="1600" dirty="0">
                <a:latin typeface="Arial Narrow" panose="020B0606020202030204" pitchFamily="34" charset="0"/>
              </a:rPr>
              <a:t>.</a:t>
            </a:r>
          </a:p>
          <a:p>
            <a:pPr marL="457200" lvl="1" indent="0" algn="ctr">
              <a:spcBef>
                <a:spcPts val="0"/>
              </a:spcBef>
              <a:buNone/>
            </a:pPr>
            <a:endParaRPr lang="tr-TR" sz="8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681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itchFamily="34" charset="0"/>
              </a:rPr>
              <a:t>Credit</a:t>
            </a:r>
            <a:r>
              <a:rPr lang="tr-TR" sz="2800" dirty="0">
                <a:latin typeface="Arial Narrow" pitchFamily="34" charset="0"/>
              </a:rPr>
              <a:t> Risk Management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457200" lvl="1" indent="0" algn="ctr">
              <a:spcBef>
                <a:spcPts val="0"/>
              </a:spcBef>
              <a:buNone/>
            </a:pPr>
            <a:endParaRPr lang="tr-TR" sz="1000" dirty="0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2000" dirty="0" err="1">
                <a:latin typeface="Arial Narrow" panose="020B0606020202030204" pitchFamily="34" charset="0"/>
              </a:rPr>
              <a:t>Credit</a:t>
            </a:r>
            <a:r>
              <a:rPr lang="tr-TR" sz="2000" dirty="0"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latin typeface="Arial Narrow" panose="020B0606020202030204" pitchFamily="34" charset="0"/>
              </a:rPr>
              <a:t>Rationing</a:t>
            </a:r>
            <a:r>
              <a:rPr lang="tr-TR" sz="2000" dirty="0">
                <a:latin typeface="Arial Narrow" panose="020B0606020202030204" pitchFamily="34" charset="0"/>
              </a:rPr>
              <a:t>:</a:t>
            </a:r>
          </a:p>
          <a:p>
            <a:pPr marL="457200" lvl="1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Credit rationing takes two forms.</a:t>
            </a:r>
          </a:p>
          <a:p>
            <a:pPr marL="457200" lvl="1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lvl="1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noProof="1">
                <a:latin typeface="Arial Narrow" panose="020B0606020202030204" pitchFamily="34" charset="0"/>
              </a:rPr>
              <a:t>A lender refuses to make a loan of any amount to a borrower,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even if the borrower is willing to pay a higher interest rate.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Individuals and firms with the riskiest investment projects are exactly those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that are willing to pay the highest interest rates.</a:t>
            </a:r>
          </a:p>
          <a:p>
            <a:pPr marL="457200" lvl="1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lvl="1" algn="ct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tr-TR" sz="1600" noProof="1">
                <a:latin typeface="Arial Narrow" panose="020B0606020202030204" pitchFamily="34" charset="0"/>
              </a:rPr>
              <a:t>A lender is willing to make a loan but restricts the size of the loan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to less than the borrower would like.</a:t>
            </a:r>
          </a:p>
          <a:p>
            <a:pPr marL="457200" lvl="1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Because more borrowers repay their loans if the loan amounts are small, financial institutions ration credit by providing borrowers with smaller loans than they seek.</a:t>
            </a:r>
          </a:p>
        </p:txBody>
      </p:sp>
    </p:spTree>
    <p:extLst>
      <p:ext uri="{BB962C8B-B14F-4D97-AF65-F5344CB8AC3E}">
        <p14:creationId xmlns:p14="http://schemas.microsoft.com/office/powerpoint/2010/main" val="1037574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itchFamily="34" charset="0"/>
              </a:rPr>
              <a:t>Interest</a:t>
            </a:r>
            <a:r>
              <a:rPr lang="tr-TR" sz="2800" dirty="0">
                <a:latin typeface="Arial Narrow" pitchFamily="34" charset="0"/>
              </a:rPr>
              <a:t>-Rate Risk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With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increased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volatility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interest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rates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that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occured</a:t>
            </a:r>
            <a:r>
              <a:rPr lang="tr-TR" sz="1800" dirty="0">
                <a:latin typeface="Arial Narrow" panose="020B0606020202030204" pitchFamily="34" charset="0"/>
              </a:rPr>
              <a:t> in </a:t>
            </a: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1980s,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the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financial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institutions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became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more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concerned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about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their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exposure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to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interest</a:t>
            </a:r>
            <a:r>
              <a:rPr lang="tr-TR" sz="1800" dirty="0">
                <a:latin typeface="Arial Narrow" panose="020B0606020202030204" pitchFamily="34" charset="0"/>
              </a:rPr>
              <a:t>-rate risk.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dirty="0" smtClean="0">
                <a:solidFill>
                  <a:srgbClr val="800000"/>
                </a:solidFill>
                <a:latin typeface="Arial Narrow" panose="020B0606020202030204" pitchFamily="34" charset="0"/>
              </a:rPr>
              <a:t>US </a:t>
            </a:r>
            <a:r>
              <a:rPr lang="tr-TR" sz="20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Interest</a:t>
            </a:r>
            <a:r>
              <a:rPr lang="tr-TR" sz="2000" dirty="0">
                <a:solidFill>
                  <a:srgbClr val="800000"/>
                </a:solidFill>
                <a:latin typeface="Arial Narrow" panose="020B0606020202030204" pitchFamily="34" charset="0"/>
              </a:rPr>
              <a:t> </a:t>
            </a:r>
            <a:r>
              <a:rPr lang="tr-TR" sz="2000" dirty="0" err="1">
                <a:solidFill>
                  <a:srgbClr val="800000"/>
                </a:solidFill>
                <a:latin typeface="Arial Narrow" panose="020B0606020202030204" pitchFamily="34" charset="0"/>
              </a:rPr>
              <a:t>Rates</a:t>
            </a:r>
            <a:endParaRPr lang="tr-TR" sz="2000" dirty="0">
              <a:solidFill>
                <a:srgbClr val="800000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52" y="2204864"/>
            <a:ext cx="8968660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83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71600" y="116632"/>
            <a:ext cx="7272808" cy="432048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2000" dirty="0" smtClean="0">
                <a:solidFill>
                  <a:srgbClr val="000066"/>
                </a:solidFill>
                <a:latin typeface="Arial Narrow" pitchFamily="34" charset="0"/>
              </a:rPr>
              <a:t> </a:t>
            </a:r>
            <a:endParaRPr lang="tr-TR" sz="2000" dirty="0">
              <a:solidFill>
                <a:srgbClr val="000066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248472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900" dirty="0">
                <a:latin typeface="Arial Narrow" panose="020B0606020202030204" pitchFamily="34" charset="0"/>
              </a:rPr>
              <a:t> 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5" y="4271144"/>
            <a:ext cx="7632847" cy="2326208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880" y="116632"/>
            <a:ext cx="4104456" cy="4032448"/>
          </a:xfrm>
          <a:prstGeom prst="rect">
            <a:avLst/>
          </a:prstGeom>
        </p:spPr>
      </p:pic>
      <p:cxnSp>
        <p:nvCxnSpPr>
          <p:cNvPr id="14" name="Düz Bağlayıcı 13"/>
          <p:cNvCxnSpPr/>
          <p:nvPr/>
        </p:nvCxnSpPr>
        <p:spPr>
          <a:xfrm>
            <a:off x="3347864" y="3861048"/>
            <a:ext cx="40324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Düz Bağlayıcı 17"/>
          <p:cNvCxnSpPr/>
          <p:nvPr/>
        </p:nvCxnSpPr>
        <p:spPr>
          <a:xfrm>
            <a:off x="179512" y="6237312"/>
            <a:ext cx="72728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Düz Bağlayıcı 19"/>
          <p:cNvCxnSpPr/>
          <p:nvPr/>
        </p:nvCxnSpPr>
        <p:spPr>
          <a:xfrm>
            <a:off x="3347864" y="2420888"/>
            <a:ext cx="4032448" cy="0"/>
          </a:xfrm>
          <a:prstGeom prst="line">
            <a:avLst/>
          </a:prstGeom>
          <a:ln w="3175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Düz Bağlayıcı 21"/>
          <p:cNvCxnSpPr/>
          <p:nvPr/>
        </p:nvCxnSpPr>
        <p:spPr>
          <a:xfrm>
            <a:off x="3347864" y="3140968"/>
            <a:ext cx="4032448" cy="0"/>
          </a:xfrm>
          <a:prstGeom prst="line">
            <a:avLst/>
          </a:prstGeom>
          <a:ln w="3175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Düz Bağlayıcı 25"/>
          <p:cNvCxnSpPr/>
          <p:nvPr/>
        </p:nvCxnSpPr>
        <p:spPr>
          <a:xfrm flipH="1">
            <a:off x="251520" y="4869160"/>
            <a:ext cx="7200800" cy="0"/>
          </a:xfrm>
          <a:prstGeom prst="line">
            <a:avLst/>
          </a:prstGeom>
          <a:ln w="3175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Düz Bağlayıcı 26"/>
          <p:cNvCxnSpPr/>
          <p:nvPr/>
        </p:nvCxnSpPr>
        <p:spPr>
          <a:xfrm flipH="1">
            <a:off x="251520" y="5517232"/>
            <a:ext cx="7200800" cy="0"/>
          </a:xfrm>
          <a:prstGeom prst="line">
            <a:avLst/>
          </a:prstGeom>
          <a:ln w="3175">
            <a:solidFill>
              <a:srgbClr val="C0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Düz Bağlayıcı 30"/>
          <p:cNvCxnSpPr/>
          <p:nvPr/>
        </p:nvCxnSpPr>
        <p:spPr>
          <a:xfrm>
            <a:off x="5508104" y="260648"/>
            <a:ext cx="0" cy="63367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Düz Bağlayıcı 32"/>
          <p:cNvCxnSpPr/>
          <p:nvPr/>
        </p:nvCxnSpPr>
        <p:spPr>
          <a:xfrm>
            <a:off x="3491880" y="413048"/>
            <a:ext cx="0" cy="63367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etin kutusu 34"/>
          <p:cNvSpPr txBox="1"/>
          <p:nvPr/>
        </p:nvSpPr>
        <p:spPr>
          <a:xfrm rot="16200000">
            <a:off x="6831064" y="1807211"/>
            <a:ext cx="2187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>
                <a:solidFill>
                  <a:srgbClr val="000066"/>
                </a:solidFill>
                <a:latin typeface="Arial Narrow" pitchFamily="34" charset="0"/>
              </a:rPr>
              <a:t>Interest</a:t>
            </a:r>
            <a:r>
              <a:rPr lang="tr-TR" dirty="0" smtClean="0">
                <a:solidFill>
                  <a:srgbClr val="000066"/>
                </a:solidFill>
                <a:latin typeface="Arial Narrow" pitchFamily="34" charset="0"/>
              </a:rPr>
              <a:t> </a:t>
            </a:r>
            <a:r>
              <a:rPr lang="tr-TR" dirty="0" err="1">
                <a:solidFill>
                  <a:srgbClr val="000066"/>
                </a:solidFill>
                <a:latin typeface="Arial Narrow" pitchFamily="34" charset="0"/>
              </a:rPr>
              <a:t>Rates</a:t>
            </a:r>
            <a:r>
              <a:rPr lang="tr-TR" dirty="0">
                <a:solidFill>
                  <a:srgbClr val="000066"/>
                </a:solidFill>
                <a:latin typeface="Arial Narrow" pitchFamily="34" charset="0"/>
              </a:rPr>
              <a:t> in </a:t>
            </a:r>
            <a:r>
              <a:rPr lang="tr-TR" dirty="0" err="1">
                <a:solidFill>
                  <a:srgbClr val="000066"/>
                </a:solidFill>
                <a:latin typeface="Arial Narrow" pitchFamily="34" charset="0"/>
              </a:rPr>
              <a:t>Turkey</a:t>
            </a:r>
            <a:endParaRPr lang="en-US" dirty="0"/>
          </a:p>
        </p:txBody>
      </p:sp>
      <p:sp>
        <p:nvSpPr>
          <p:cNvPr id="36" name="Metin kutusu 35"/>
          <p:cNvSpPr txBox="1"/>
          <p:nvPr/>
        </p:nvSpPr>
        <p:spPr>
          <a:xfrm rot="16200000">
            <a:off x="7186674" y="4914351"/>
            <a:ext cx="14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>
                <a:solidFill>
                  <a:srgbClr val="C00000"/>
                </a:solidFill>
                <a:latin typeface="Arial Narrow" pitchFamily="34" charset="0"/>
              </a:rPr>
              <a:t>Inflation</a:t>
            </a:r>
            <a:r>
              <a:rPr lang="tr-TR" dirty="0" smtClean="0">
                <a:solidFill>
                  <a:srgbClr val="C00000"/>
                </a:solidFill>
                <a:latin typeface="Arial Narrow" pitchFamily="34" charset="0"/>
              </a:rPr>
              <a:t> </a:t>
            </a:r>
            <a:r>
              <a:rPr lang="tr-TR" dirty="0" err="1">
                <a:solidFill>
                  <a:srgbClr val="C00000"/>
                </a:solidFill>
                <a:latin typeface="Arial Narrow" pitchFamily="34" charset="0"/>
              </a:rPr>
              <a:t>Turkey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7" name="Title 3"/>
          <p:cNvSpPr txBox="1">
            <a:spLocks/>
          </p:cNvSpPr>
          <p:nvPr/>
        </p:nvSpPr>
        <p:spPr>
          <a:xfrm>
            <a:off x="457200" y="116632"/>
            <a:ext cx="2242592" cy="2016224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1400" dirty="0" smtClean="0">
                <a:latin typeface="Arial Narrow" pitchFamily="34" charset="0"/>
              </a:rPr>
              <a:t>NTE </a:t>
            </a:r>
            <a:r>
              <a:rPr lang="tr-TR" sz="1400" dirty="0" smtClean="0">
                <a:latin typeface="Arial Narrow" pitchFamily="34" charset="0"/>
              </a:rPr>
              <a:t>1010</a:t>
            </a:r>
          </a:p>
          <a:p>
            <a:r>
              <a:rPr lang="tr-TR" sz="1400" dirty="0" err="1" smtClean="0">
                <a:latin typeface="Arial Narrow" pitchFamily="34" charset="0"/>
              </a:rPr>
              <a:t>Introduction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to</a:t>
            </a:r>
            <a:endParaRPr lang="tr-TR" sz="1400" dirty="0">
              <a:latin typeface="Arial Narrow" pitchFamily="34" charset="0"/>
            </a:endParaRPr>
          </a:p>
          <a:p>
            <a:r>
              <a:rPr lang="tr-TR" sz="1800" dirty="0" smtClean="0">
                <a:latin typeface="Arial Narrow" pitchFamily="34" charset="0"/>
              </a:rPr>
              <a:t>Finance</a:t>
            </a:r>
          </a:p>
          <a:p>
            <a:r>
              <a:rPr lang="tr-TR" sz="1400" dirty="0" err="1" smtClean="0">
                <a:latin typeface="Arial Narrow" pitchFamily="34" charset="0"/>
              </a:rPr>
              <a:t>for</a:t>
            </a:r>
            <a:r>
              <a:rPr lang="tr-TR" sz="1400" dirty="0" smtClean="0">
                <a:latin typeface="Arial Narrow" pitchFamily="34" charset="0"/>
              </a:rPr>
              <a:t> </a:t>
            </a:r>
            <a:r>
              <a:rPr lang="tr-TR" sz="1400" dirty="0" err="1" smtClean="0">
                <a:latin typeface="Arial Narrow" pitchFamily="34" charset="0"/>
              </a:rPr>
              <a:t>Engineers</a:t>
            </a:r>
            <a:endParaRPr lang="tr-TR" sz="1400" dirty="0" smtClean="0">
              <a:latin typeface="Arial Narrow" pitchFamily="34" charset="0"/>
            </a:endParaRPr>
          </a:p>
          <a:p>
            <a:endParaRPr lang="tr-TR" sz="800" dirty="0">
              <a:solidFill>
                <a:srgbClr val="800000"/>
              </a:solidFill>
              <a:latin typeface="Arial Narrow" pitchFamily="34" charset="0"/>
            </a:endParaRPr>
          </a:p>
          <a:p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latin typeface="Arial Narrow" pitchFamily="34" charset="0"/>
              </a:rPr>
              <a:t>Interest</a:t>
            </a:r>
            <a:r>
              <a:rPr lang="tr-TR" sz="2400" dirty="0" smtClean="0">
                <a:latin typeface="Arial Narrow" pitchFamily="34" charset="0"/>
              </a:rPr>
              <a:t>-Rate Risk</a:t>
            </a:r>
            <a:endParaRPr lang="tr-TR" sz="24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559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51720" y="116632"/>
            <a:ext cx="5184576" cy="926976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>
                <a:latin typeface="Arial Narrow" pitchFamily="34" charset="0"/>
              </a:rPr>
              <a:t>NTE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Estimating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the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Size of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the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Interest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-Rate 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Risk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Gap and duration analyses tell a financial institution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if it has more rate-sensitive liabilities than assets</a:t>
            </a:r>
            <a:endParaRPr lang="tr-TR" sz="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000066"/>
                </a:solidFill>
                <a:latin typeface="Arial Narrow" panose="020B0606020202030204" pitchFamily="34" charset="0"/>
              </a:rPr>
              <a:t>[″rate-sensitive″ = with interest rates that change frequently (at least once a year)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000066"/>
                </a:solidFill>
                <a:latin typeface="Arial Narrow" panose="020B0606020202030204" pitchFamily="34" charset="0"/>
              </a:rPr>
              <a:t>″fixed-rate″ = with interest rates that remain unchanged for a long period (over a year)]</a:t>
            </a:r>
            <a:endParaRPr lang="tr-TR" sz="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in which case a rise in interest rates will reduce profits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and a fall in interest rates will raise profits.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Gap = rate-sensitive Liabilities – rate-sensitive Assets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000066"/>
                </a:solidFill>
                <a:latin typeface="Arial Narrow" panose="020B0606020202030204" pitchFamily="34" charset="0"/>
              </a:rPr>
              <a:t>By multiplying the Gap times change in interest rate,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000066"/>
                </a:solidFill>
                <a:latin typeface="Arial Narrow" panose="020B0606020202030204" pitchFamily="34" charset="0"/>
              </a:rPr>
              <a:t>we can immediately obtain the effect on bank profits.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Duration = the average lifetime of a security’s stream of payments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000066"/>
                </a:solidFill>
                <a:latin typeface="Arial Narrow" panose="020B0606020202030204" pitchFamily="34" charset="0"/>
              </a:rPr>
              <a:t>By multiplying the weighted average duration of a bank’s assets and of its liabilities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000066"/>
                </a:solidFill>
                <a:latin typeface="Arial Narrow" panose="020B0606020202030204" pitchFamily="34" charset="0"/>
              </a:rPr>
              <a:t>times the amount of assets and of liabilities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000066"/>
                </a:solidFill>
                <a:latin typeface="Arial Narrow" panose="020B0606020202030204" pitchFamily="34" charset="0"/>
              </a:rPr>
              <a:t>times change in interest rate,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000066"/>
                </a:solidFill>
                <a:latin typeface="Arial Narrow" panose="020B0606020202030204" pitchFamily="34" charset="0"/>
              </a:rPr>
              <a:t>we can immediately obtain the approximate effect on bank’s total asset value.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Financial institutions manage their interest-rate risk by modifying their balance sheets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but can also use strategies involving financial derivatives.</a:t>
            </a: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99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15716" y="116632"/>
            <a:ext cx="5112568" cy="998984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>
                <a:latin typeface="Arial Narrow" pitchFamily="34" charset="0"/>
              </a:rPr>
              <a:t>NTE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Estimating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the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Size of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the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Interest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-Rate Risk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400" noProof="1">
                <a:solidFill>
                  <a:srgbClr val="000066"/>
                </a:solidFill>
                <a:latin typeface="Arial Narrow" panose="020B0606020202030204" pitchFamily="34" charset="0"/>
              </a:rPr>
              <a:t>Gap Analysis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90" y="2060848"/>
            <a:ext cx="7342219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721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15716" y="116632"/>
            <a:ext cx="5112568" cy="998984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>
                <a:latin typeface="Arial Narrow" pitchFamily="34" charset="0"/>
              </a:rPr>
              <a:t>NTE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000" dirty="0" err="1"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Estimating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the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Size of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the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Interest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-Rate Risk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2000" noProof="1">
                <a:solidFill>
                  <a:srgbClr val="000066"/>
                </a:solidFill>
                <a:latin typeface="Arial Narrow" panose="020B0606020202030204" pitchFamily="34" charset="0"/>
              </a:rPr>
              <a:t>Duration </a:t>
            </a:r>
            <a:r>
              <a:rPr lang="tr-TR" sz="20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Analysis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Duration = the average lifetime of a security’s stream of payments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2400" noProof="1">
              <a:solidFill>
                <a:srgbClr val="000066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07" y="2278322"/>
            <a:ext cx="7533042" cy="395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40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1010 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>
                <a:latin typeface="Arial Narrow" pitchFamily="34" charset="0"/>
              </a:rPr>
              <a:t/>
            </a:r>
            <a:br>
              <a:rPr lang="tr-TR" sz="1400" dirty="0"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>
                <a:latin typeface="Arial Narrow" pitchFamily="34" charset="0"/>
              </a:rPr>
              <a:t>Off-Balance-Sheet</a:t>
            </a:r>
            <a:r>
              <a:rPr lang="tr-TR" sz="2800" dirty="0">
                <a:latin typeface="Arial Narrow" pitchFamily="34" charset="0"/>
              </a:rPr>
              <a:t> </a:t>
            </a:r>
            <a:r>
              <a:rPr lang="tr-TR" sz="2800" dirty="0" err="1">
                <a:latin typeface="Arial Narrow" pitchFamily="34" charset="0"/>
              </a:rPr>
              <a:t>Activities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Off-balance-sheet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activities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consist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trading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financial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instruments</a:t>
            </a: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generating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income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from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fees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and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loan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sales</a:t>
            </a:r>
            <a:r>
              <a:rPr lang="tr-TR" sz="1800" dirty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>
                <a:latin typeface="Arial Narrow" panose="020B0606020202030204" pitchFamily="34" charset="0"/>
              </a:rPr>
              <a:t>all</a:t>
            </a:r>
            <a:r>
              <a:rPr lang="tr-TR" sz="1800" dirty="0">
                <a:latin typeface="Arial Narrow" panose="020B0606020202030204" pitchFamily="34" charset="0"/>
              </a:rPr>
              <a:t> of </a:t>
            </a:r>
            <a:r>
              <a:rPr lang="tr-TR" sz="1800" dirty="0" err="1">
                <a:latin typeface="Arial Narrow" panose="020B0606020202030204" pitchFamily="34" charset="0"/>
              </a:rPr>
              <a:t>which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affect</a:t>
            </a:r>
            <a:r>
              <a:rPr lang="tr-TR" sz="1800" dirty="0">
                <a:latin typeface="Arial Narrow" panose="020B0606020202030204" pitchFamily="34" charset="0"/>
              </a:rPr>
              <a:t> bank </a:t>
            </a:r>
            <a:r>
              <a:rPr lang="tr-TR" sz="1800" dirty="0" err="1">
                <a:latin typeface="Arial Narrow" panose="020B0606020202030204" pitchFamily="34" charset="0"/>
              </a:rPr>
              <a:t>profits</a:t>
            </a:r>
            <a:r>
              <a:rPr lang="tr-TR" sz="1800" dirty="0">
                <a:latin typeface="Arial Narrow" panose="020B0606020202030204" pitchFamily="34" charset="0"/>
              </a:rPr>
              <a:t> but </a:t>
            </a:r>
            <a:r>
              <a:rPr lang="tr-TR" sz="1800" dirty="0" err="1">
                <a:latin typeface="Arial Narrow" panose="020B0606020202030204" pitchFamily="34" charset="0"/>
              </a:rPr>
              <a:t>are</a:t>
            </a:r>
            <a:r>
              <a:rPr lang="tr-TR" sz="1800" dirty="0">
                <a:latin typeface="Arial Narrow" panose="020B0606020202030204" pitchFamily="34" charset="0"/>
              </a:rPr>
              <a:t> not </a:t>
            </a:r>
            <a:r>
              <a:rPr lang="tr-TR" sz="1800" dirty="0" err="1">
                <a:latin typeface="Arial Narrow" panose="020B0606020202030204" pitchFamily="34" charset="0"/>
              </a:rPr>
              <a:t>visible</a:t>
            </a:r>
            <a:r>
              <a:rPr lang="tr-TR" sz="1800" dirty="0">
                <a:latin typeface="Arial Narrow" panose="020B0606020202030204" pitchFamily="34" charset="0"/>
              </a:rPr>
              <a:t> on bank </a:t>
            </a:r>
            <a:r>
              <a:rPr lang="tr-TR" sz="1800" dirty="0" err="1">
                <a:latin typeface="Arial Narrow" panose="020B0606020202030204" pitchFamily="34" charset="0"/>
              </a:rPr>
              <a:t>balance</a:t>
            </a:r>
            <a:r>
              <a:rPr lang="tr-TR" sz="1800" dirty="0">
                <a:latin typeface="Arial Narrow" panose="020B0606020202030204" pitchFamily="34" charset="0"/>
              </a:rPr>
              <a:t> </a:t>
            </a:r>
            <a:r>
              <a:rPr lang="tr-TR" sz="1800" dirty="0" err="1">
                <a:latin typeface="Arial Narrow" panose="020B0606020202030204" pitchFamily="34" charset="0"/>
              </a:rPr>
              <a:t>sheets</a:t>
            </a:r>
            <a:r>
              <a:rPr lang="tr-TR" sz="1800" dirty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Because these off-balance-sheet activities expose banks to increased risk,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bank management must pay particular attention to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risk assessment procedures and internal controls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to restrict employees from taking on too much risk.</a:t>
            </a: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434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10595</TotalTime>
  <Words>1619</Words>
  <Application>Microsoft Office PowerPoint</Application>
  <PresentationFormat>Ekran Gösterisi (4:3)</PresentationFormat>
  <Paragraphs>238</Paragraphs>
  <Slides>20</Slides>
  <Notes>20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4" baseType="lpstr">
      <vt:lpstr>Arial</vt:lpstr>
      <vt:lpstr>Arial Narrow</vt:lpstr>
      <vt:lpstr>Calibri</vt:lpstr>
      <vt:lpstr>Office Theme</vt:lpstr>
      <vt:lpstr> </vt:lpstr>
      <vt:lpstr>NTE 1010 – Introduction to Finance for Engineers Banks Balance Sheet</vt:lpstr>
      <vt:lpstr>NTE 1010 – Introduction to Finance for Engineers Banks Balance Sheet</vt:lpstr>
      <vt:lpstr>NTE 1010 – Introduction to Finance for Engineers Banks Asset Transformation</vt:lpstr>
      <vt:lpstr>NTE 1010 – Introduction to Finance for Engineers Banks Bank Management</vt:lpstr>
      <vt:lpstr>NTE 1010 – Introduction to Finance for Engineers Banks Banking Risks</vt:lpstr>
      <vt:lpstr>NTE 1010 – Introduction to Finance for Engineers Banks Bank Management</vt:lpstr>
      <vt:lpstr>NTE 1010 – Introduction to Finance for Engineers Banks Equity Multiplier</vt:lpstr>
      <vt:lpstr>NTE 1010 – Introduction to Finance for Engineers Banks Credit Risk Management</vt:lpstr>
      <vt:lpstr>NTE 1010 – Introduction to Finance for Engineers Banks Credit Risk Management</vt:lpstr>
      <vt:lpstr>NTE 1010 – Introduction to Finance for Engineers Banks Credit Risk Management</vt:lpstr>
      <vt:lpstr>NTE 1010 – Introduction to Finance for Engineers Banks Credit Risk Management</vt:lpstr>
      <vt:lpstr>NTE 1010 – Introduction to Finance for Engineers Banks Credit Risk Management</vt:lpstr>
      <vt:lpstr>NTE 1010 – Introduction to Finance for Engineers Banks Credit Risk Management</vt:lpstr>
      <vt:lpstr>NTE 1010 – Introduction to Finance for Engineers Banks Interest-Rate Risk</vt:lpstr>
      <vt:lpstr> </vt:lpstr>
      <vt:lpstr>NTE 1010 – Introduction to Finance for Engineers Banks Estimating the Size of the Interest-Rate Risk</vt:lpstr>
      <vt:lpstr>NTE 1010 – Introduction to Finance for Engineers Banks Estimating the Size of the Interest-Rate Risk</vt:lpstr>
      <vt:lpstr>NTE 1010 – Introduction to Finance for Engineers Banks Estimating the Size of the Interest-Rate Risk</vt:lpstr>
      <vt:lpstr>NTE 1010 – Introduction to Finance for Engineers Banks Off-Balance-Sheet Activities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638</cp:revision>
  <cp:lastPrinted>2019-11-22T05:27:57Z</cp:lastPrinted>
  <dcterms:created xsi:type="dcterms:W3CDTF">2015-11-30T12:51:35Z</dcterms:created>
  <dcterms:modified xsi:type="dcterms:W3CDTF">2020-04-14T07:53:31Z</dcterms:modified>
  <dc:description/>
</cp:coreProperties>
</file>