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565" r:id="rId2"/>
    <p:sldId id="514" r:id="rId3"/>
    <p:sldId id="570" r:id="rId4"/>
    <p:sldId id="566" r:id="rId5"/>
    <p:sldId id="604" r:id="rId6"/>
    <p:sldId id="605" r:id="rId7"/>
    <p:sldId id="607" r:id="rId8"/>
    <p:sldId id="572" r:id="rId9"/>
    <p:sldId id="609" r:id="rId10"/>
    <p:sldId id="571" r:id="rId11"/>
    <p:sldId id="610" r:id="rId12"/>
    <p:sldId id="573" r:id="rId13"/>
    <p:sldId id="578" r:id="rId14"/>
    <p:sldId id="574" r:id="rId15"/>
    <p:sldId id="576" r:id="rId16"/>
    <p:sldId id="582" r:id="rId17"/>
    <p:sldId id="583" r:id="rId18"/>
    <p:sldId id="588" r:id="rId19"/>
    <p:sldId id="580" r:id="rId20"/>
    <p:sldId id="581" r:id="rId21"/>
    <p:sldId id="591" r:id="rId22"/>
    <p:sldId id="611" r:id="rId23"/>
    <p:sldId id="592" r:id="rId24"/>
    <p:sldId id="594" r:id="rId25"/>
    <p:sldId id="593" r:id="rId26"/>
    <p:sldId id="595" r:id="rId27"/>
    <p:sldId id="597" r:id="rId28"/>
    <p:sldId id="598" r:id="rId29"/>
    <p:sldId id="599" r:id="rId30"/>
    <p:sldId id="600" r:id="rId31"/>
    <p:sldId id="601" r:id="rId32"/>
  </p:sldIdLst>
  <p:sldSz cx="9144000" cy="6858000" type="screen4x3"/>
  <p:notesSz cx="6858000" cy="93138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800000"/>
    <a:srgbClr val="000066"/>
    <a:srgbClr val="FF6600"/>
    <a:srgbClr val="0000CC"/>
    <a:srgbClr val="FFFFFF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2" autoAdjust="0"/>
  </p:normalViewPr>
  <p:slideViewPr>
    <p:cSldViewPr>
      <p:cViewPr varScale="1">
        <p:scale>
          <a:sx n="74" d="100"/>
          <a:sy n="74" d="100"/>
        </p:scale>
        <p:origin x="10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983" cy="46569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924" y="2"/>
            <a:ext cx="2971982" cy="46569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21.03.2020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46015"/>
            <a:ext cx="2971983" cy="46569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924" y="8846015"/>
            <a:ext cx="2971982" cy="46569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1" cy="46569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5" y="2"/>
            <a:ext cx="2971801" cy="46569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21.03.2020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698500"/>
            <a:ext cx="465455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087"/>
            <a:ext cx="5486400" cy="4191240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846554"/>
            <a:ext cx="2971801" cy="46569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5" y="8846554"/>
            <a:ext cx="2971801" cy="46569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4918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1088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64183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24211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528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9396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79671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74249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5563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3067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17605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5065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70271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50750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79003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1619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80172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6105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7842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502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5537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30745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32304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989518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741853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25831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00223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401951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948274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396929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54992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21.03.2020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6" Type="http://schemas.openxmlformats.org/officeDocument/2006/relationships/image" Target="../media/image8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emf"/><Relationship Id="rId4" Type="http://schemas.openxmlformats.org/officeDocument/2006/relationships/image" Target="../media/image22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2492896"/>
            <a:ext cx="7704856" cy="2592288"/>
          </a:xfrm>
          <a:ln w="254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2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week</a:t>
            </a: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 6</a:t>
            </a:r>
          </a:p>
          <a:p>
            <a:pPr>
              <a:spcBef>
                <a:spcPts val="0"/>
              </a:spcBef>
            </a:pPr>
            <a:endParaRPr lang="tr-TR" sz="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Interest</a:t>
            </a: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Rates</a:t>
            </a:r>
            <a:endParaRPr lang="tr-TR" dirty="0" smtClean="0">
              <a:solidFill>
                <a:schemeClr val="tx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7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59832" y="476672"/>
            <a:ext cx="3456384" cy="940966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000" dirty="0" smtClean="0">
                <a:latin typeface="Arial Narrow" pitchFamily="34" charset="0"/>
              </a:rPr>
              <a:t/>
            </a:r>
            <a:br>
              <a:rPr lang="tr-TR" sz="20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Present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Value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Different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debt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instruments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have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very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different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streams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cash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payments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holder</a:t>
            </a:r>
            <a:r>
              <a:rPr lang="tr-TR" sz="1800" dirty="0" smtClean="0">
                <a:latin typeface="Arial Narrow" panose="020B0606020202030204" pitchFamily="34" charset="0"/>
              </a:rPr>
              <a:t> (</a:t>
            </a:r>
            <a:r>
              <a:rPr lang="tr-TR" sz="1800" dirty="0" err="1" smtClean="0">
                <a:latin typeface="Arial Narrow" panose="020B0606020202030204" pitchFamily="34" charset="0"/>
              </a:rPr>
              <a:t>known</a:t>
            </a:r>
            <a:r>
              <a:rPr lang="tr-TR" sz="1800" dirty="0" smtClean="0">
                <a:latin typeface="Arial Narrow" panose="020B0606020202030204" pitchFamily="34" charset="0"/>
              </a:rPr>
              <a:t> as </a:t>
            </a:r>
            <a:r>
              <a:rPr lang="tr-TR" sz="1800" dirty="0" err="1" smtClean="0">
                <a:latin typeface="Arial Narrow" panose="020B0606020202030204" pitchFamily="34" charset="0"/>
              </a:rPr>
              <a:t>cash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flows</a:t>
            </a:r>
            <a:r>
              <a:rPr lang="tr-TR" sz="1800" dirty="0" smtClean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with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very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different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timing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We need to understand how we can compare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value of one kind of debt instrument with another.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concept of present value (or present discounted value) is based on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commonsense notion that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a dollar paid to you one year from now is less valuable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than a dollar paid to you today.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This notion is true because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you can deposit a dollar today in a bank to earn interest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have more than a dollar in one year.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3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87824" y="476672"/>
            <a:ext cx="3456384" cy="940966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Present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Value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ln w="25400">
                <a:noFill/>
              </a:ln>
            </p:spPr>
            <p:txBody>
              <a:bodyPr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dirty="0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dirty="0" err="1" smtClean="0">
                    <a:latin typeface="Arial Narrow" panose="020B0606020202030204" pitchFamily="34" charset="0"/>
                  </a:rPr>
                  <a:t>If</a:t>
                </a:r>
                <a:r>
                  <a:rPr lang="tr-TR" sz="1800" dirty="0" smtClean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the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annual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interest</a:t>
                </a:r>
                <a:r>
                  <a:rPr lang="tr-TR" sz="1800" dirty="0">
                    <a:latin typeface="Arial Narrow" panose="020B0606020202030204" pitchFamily="34" charset="0"/>
                  </a:rPr>
                  <a:t> rate (</a:t>
                </a:r>
                <a:r>
                  <a:rPr lang="tr-TR" sz="1800" i="1" dirty="0">
                    <a:latin typeface="Bookman Old Style" panose="02050604050505020204" pitchFamily="18" charset="0"/>
                  </a:rPr>
                  <a:t>i</a:t>
                </a:r>
                <a:r>
                  <a:rPr lang="tr-TR" sz="1800" dirty="0">
                    <a:latin typeface="Arial Narrow" panose="020B0606020202030204" pitchFamily="34" charset="0"/>
                  </a:rPr>
                  <a:t> ) is 10%,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dirty="0" err="1">
                    <a:latin typeface="Arial Narrow" panose="020B0606020202030204" pitchFamily="34" charset="0"/>
                  </a:rPr>
                  <a:t>then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you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would</a:t>
                </a:r>
                <a:r>
                  <a:rPr lang="tr-TR" sz="1800" dirty="0">
                    <a:latin typeface="Arial Narrow" panose="020B0606020202030204" pitchFamily="34" charset="0"/>
                  </a:rPr>
                  <a:t> be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just</a:t>
                </a:r>
                <a:r>
                  <a:rPr lang="tr-TR" sz="1800" dirty="0">
                    <a:latin typeface="Arial Narrow" panose="020B0606020202030204" pitchFamily="34" charset="0"/>
                  </a:rPr>
                  <a:t> as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happy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having</a:t>
                </a:r>
                <a:r>
                  <a:rPr lang="tr-TR" sz="1800" dirty="0">
                    <a:latin typeface="Arial Narrow" panose="020B0606020202030204" pitchFamily="34" charset="0"/>
                  </a:rPr>
                  <a:t> $100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today</a:t>
                </a:r>
                <a:r>
                  <a:rPr lang="tr-TR" sz="1800" dirty="0">
                    <a:latin typeface="Arial Narrow" panose="020B0606020202030204" pitchFamily="34" charset="0"/>
                  </a:rPr>
                  <a:t> as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having</a:t>
                </a:r>
                <a:r>
                  <a:rPr lang="tr-TR" sz="1800" dirty="0">
                    <a:latin typeface="Arial Narrow" panose="020B0606020202030204" pitchFamily="34" charset="0"/>
                  </a:rPr>
                  <a:t> $110 a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year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from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now</a:t>
                </a:r>
                <a:r>
                  <a:rPr lang="tr-TR" sz="1800" dirty="0">
                    <a:latin typeface="Arial Narrow" panose="020B0606020202030204" pitchFamily="34" charset="0"/>
                  </a:rPr>
                  <a:t>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dirty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You would also just as happy having $100 today as having $121 two years from now,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or $133 three years from now,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or $100 x (1+10%)</a:t>
                </a:r>
                <a:r>
                  <a:rPr lang="tr-TR" sz="1800" baseline="30000" noProof="1">
                    <a:latin typeface="Arial Narrow" panose="020B0606020202030204" pitchFamily="34" charset="0"/>
                  </a:rPr>
                  <a:t>n</a:t>
                </a:r>
                <a:r>
                  <a:rPr lang="tr-TR" sz="1800" noProof="1">
                    <a:latin typeface="Arial Narrow" panose="020B0606020202030204" pitchFamily="34" charset="0"/>
                  </a:rPr>
                  <a:t> n years from now.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So, $100 x (1+10%)</a:t>
                </a:r>
                <a:r>
                  <a:rPr lang="tr-TR" sz="1800" baseline="30000" noProof="1">
                    <a:latin typeface="Arial Narrow" panose="020B0606020202030204" pitchFamily="34" charset="0"/>
                  </a:rPr>
                  <a:t>n</a:t>
                </a:r>
                <a:r>
                  <a:rPr lang="tr-TR" sz="1800" noProof="1">
                    <a:latin typeface="Arial Narrow" panose="020B0606020202030204" pitchFamily="34" charset="0"/>
                  </a:rPr>
                  <a:t> n years from now is worth $100 today.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Today’s value of so much $ n years from now (i.e. Cash Flow, CF) is called Present Value (PV).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This yields to the following formula: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i="1" noProof="1" smtClean="0">
                    <a:solidFill>
                      <a:srgbClr val="C00000"/>
                    </a:solidFill>
                  </a:rPr>
                  <a:t>PV</a:t>
                </a:r>
                <a:r>
                  <a:rPr lang="tr-TR" sz="1800" noProof="1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r-TR" sz="2400" i="1" noProof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400" i="1" noProof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</m:num>
                      <m:den>
                        <m:sSup>
                          <m:sSupPr>
                            <m:ctrlPr>
                              <a:rPr lang="tr-TR" sz="2400" i="1" noProof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tr-TR" sz="2400" i="1" noProof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tr-TR" sz="2400" i="1" noProof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tr-TR" sz="2400" i="1" noProof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tr-TR" sz="2400" i="1" noProof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 smtClean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83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87824" y="116632"/>
            <a:ext cx="3456384" cy="1008112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Yield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Maturity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896544"/>
              </a:xfrm>
              <a:ln w="25400">
                <a:noFill/>
              </a:ln>
            </p:spPr>
            <p:txBody>
              <a:bodyPr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Present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Value (PV) of the Debt Instrument may be formulated as follows: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9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2000" noProof="1" smtClean="0">
                    <a:latin typeface="Arial Narrow" panose="020B0606020202030204" pitchFamily="34" charset="0"/>
                  </a:rPr>
                  <a:t>PV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tr-TR" i="1" noProof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tr-TR" b="0" i="1" noProof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tr-TR" b="0" i="1" noProof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tr-TR" i="1" noProof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i="1" noProof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  <m:r>
                              <a:rPr lang="tr-TR" b="0" i="1" baseline="-25000" noProof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tr-TR" i="1" noProof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tr-TR" i="1" noProof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tr-TR" i="1" noProof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tr-TR" i="1" noProof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tr-TR" b="0" i="1" noProof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tr-TR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9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dirty="0" err="1">
                    <a:latin typeface="Arial Narrow" panose="020B0606020202030204" pitchFamily="34" charset="0"/>
                  </a:rPr>
                  <a:t>Yield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to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Maturity</a:t>
                </a:r>
                <a:r>
                  <a:rPr lang="tr-TR" sz="1800" dirty="0">
                    <a:latin typeface="Arial Narrow" panose="020B0606020202030204" pitchFamily="34" charset="0"/>
                  </a:rPr>
                  <a:t> is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the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interest</a:t>
                </a:r>
                <a:r>
                  <a:rPr lang="tr-TR" sz="1800" dirty="0">
                    <a:latin typeface="Arial Narrow" panose="020B0606020202030204" pitchFamily="34" charset="0"/>
                  </a:rPr>
                  <a:t> rate (</a:t>
                </a:r>
                <a:r>
                  <a:rPr lang="tr-TR" sz="1800" i="1" dirty="0">
                    <a:latin typeface="Bookman Old Style" panose="02050604050505020204" pitchFamily="18" charset="0"/>
                  </a:rPr>
                  <a:t>i</a:t>
                </a:r>
                <a:r>
                  <a:rPr lang="tr-TR" sz="1800" dirty="0">
                    <a:latin typeface="Arial Narrow" panose="020B0606020202030204" pitchFamily="34" charset="0"/>
                  </a:rPr>
                  <a:t> )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that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equates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the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present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value</a:t>
                </a:r>
                <a:r>
                  <a:rPr lang="tr-TR" sz="1800" dirty="0">
                    <a:latin typeface="Arial Narrow" panose="020B0606020202030204" pitchFamily="34" charset="0"/>
                  </a:rPr>
                  <a:t> of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cash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flow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payments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received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from</a:t>
                </a:r>
                <a:r>
                  <a:rPr lang="tr-TR" sz="1800" dirty="0">
                    <a:latin typeface="Arial Narrow" panose="020B0606020202030204" pitchFamily="34" charset="0"/>
                  </a:rPr>
                  <a:t> a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debt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instrument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with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its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value</a:t>
                </a:r>
                <a:r>
                  <a:rPr lang="tr-TR" sz="1800" dirty="0">
                    <a:latin typeface="Arial Narrow" panose="020B0606020202030204" pitchFamily="34" charset="0"/>
                  </a:rPr>
                  <a:t> </a:t>
                </a:r>
                <a:r>
                  <a:rPr lang="tr-TR" sz="1800" dirty="0" err="1">
                    <a:latin typeface="Arial Narrow" panose="020B0606020202030204" pitchFamily="34" charset="0"/>
                  </a:rPr>
                  <a:t>today</a:t>
                </a:r>
                <a:r>
                  <a:rPr lang="tr-TR" sz="1800" dirty="0">
                    <a:latin typeface="Arial Narrow" panose="020B0606020202030204" pitchFamily="34" charset="0"/>
                  </a:rPr>
                  <a:t>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Yield to Maturity is also known as Internal Rate of Return (IRR).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If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we know </a:t>
                </a:r>
                <a:r>
                  <a:rPr lang="tr-TR" sz="1800" i="1" noProof="1" smtClean="0">
                    <a:latin typeface="Arial Narrow" panose="020B0606020202030204" pitchFamily="34" charset="0"/>
                  </a:rPr>
                  <a:t>CF</a:t>
                </a:r>
                <a:r>
                  <a:rPr lang="tr-TR" sz="1800" i="1" baseline="-25000" noProof="1" smtClean="0">
                    <a:latin typeface="Arial Narrow" panose="020B0606020202030204" pitchFamily="34" charset="0"/>
                  </a:rPr>
                  <a:t>t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 and the PV of the debt instrument,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then we can calculate </a:t>
                </a:r>
                <a:r>
                  <a:rPr lang="tr-TR" sz="1800" i="1" noProof="1" smtClean="0">
                    <a:latin typeface="Bookman Old Style" panose="02050604050505020204" pitchFamily="18" charset="0"/>
                  </a:rPr>
                  <a:t>i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 , that is, its yield to maturity.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9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If we know </a:t>
                </a:r>
                <a:r>
                  <a:rPr lang="tr-TR" sz="1800" i="1" noProof="1">
                    <a:latin typeface="Arial Narrow" panose="020B0606020202030204" pitchFamily="34" charset="0"/>
                  </a:rPr>
                  <a:t>CF</a:t>
                </a:r>
                <a:r>
                  <a:rPr lang="tr-TR" sz="1800" i="1" baseline="-25000" noProof="1">
                    <a:latin typeface="Arial Narrow" panose="020B0606020202030204" pitchFamily="34" charset="0"/>
                  </a:rPr>
                  <a:t>t</a:t>
                </a:r>
                <a:r>
                  <a:rPr lang="tr-TR" sz="1800" noProof="1">
                    <a:latin typeface="Arial Narrow" panose="020B0606020202030204" pitchFamily="34" charset="0"/>
                  </a:rPr>
                  <a:t> and the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market interest rate relevant for </a:t>
                </a:r>
                <a:r>
                  <a:rPr lang="tr-TR" sz="1800" noProof="1">
                    <a:latin typeface="Arial Narrow" panose="020B0606020202030204" pitchFamily="34" charset="0"/>
                  </a:rPr>
                  <a:t>the debt instrument,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then we can calculate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its PV.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1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The effective cost of a corporate bond is determined by calculating</a:t>
                </a:r>
              </a:p>
              <a:p>
                <a:pPr marL="0" lvl="1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the Yield to Maturity (also known as Internal Rate of Return (IRR))</a:t>
                </a:r>
              </a:p>
              <a:p>
                <a:pPr marL="0" lvl="1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of the cash flows arising from the issuance of bond.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 smtClean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896544"/>
              </a:xfrm>
              <a:blipFill>
                <a:blip r:embed="rId3"/>
                <a:stretch>
                  <a:fillRect t="-498" b="-62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36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55776" y="476672"/>
            <a:ext cx="4104456" cy="93610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Yield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to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Maturity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Effective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of 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a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Corporate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Bond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96544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45" y="1916832"/>
            <a:ext cx="7894910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8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47664" y="116632"/>
            <a:ext cx="7139136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Yield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to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Maturity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Effective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of 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a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Corporate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Bond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96544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24745"/>
            <a:ext cx="7776864" cy="46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0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47864" y="58614"/>
            <a:ext cx="5338936" cy="706090"/>
          </a:xfrm>
          <a:ln w="25400">
            <a:noFill/>
          </a:ln>
        </p:spPr>
        <p:txBody>
          <a:bodyPr>
            <a:norm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Compound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Interest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Periods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is </a:t>
            </a:r>
            <a:r>
              <a:rPr lang="tr-TR" sz="1600" dirty="0" err="1" smtClean="0">
                <a:latin typeface="Arial Narrow" panose="020B0606020202030204" pitchFamily="34" charset="0"/>
              </a:rPr>
              <a:t>compounded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vary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4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400" dirty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8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[12%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compounded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quarterly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] is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same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as [3%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per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quarter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];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where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effective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rate is 12.55%.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r>
              <a:rPr lang="tr-TR" sz="1400" dirty="0" smtClean="0">
                <a:latin typeface="Arial Narrow" panose="020B0606020202030204" pitchFamily="34" charset="0"/>
              </a:rPr>
              <a:t>[12% </a:t>
            </a:r>
            <a:r>
              <a:rPr lang="tr-TR" sz="1400" dirty="0" err="1" smtClean="0">
                <a:latin typeface="Arial Narrow" panose="020B0606020202030204" pitchFamily="34" charset="0"/>
              </a:rPr>
              <a:t>compounded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monthly</a:t>
            </a:r>
            <a:r>
              <a:rPr lang="tr-TR" sz="1400" dirty="0" smtClean="0">
                <a:latin typeface="Arial Narrow" panose="020B0606020202030204" pitchFamily="34" charset="0"/>
              </a:rPr>
              <a:t>] is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same</a:t>
            </a:r>
            <a:r>
              <a:rPr lang="tr-TR" sz="1400" dirty="0" smtClean="0">
                <a:latin typeface="Arial Narrow" panose="020B0606020202030204" pitchFamily="34" charset="0"/>
              </a:rPr>
              <a:t> as [1% </a:t>
            </a:r>
            <a:r>
              <a:rPr lang="tr-TR" sz="1400" dirty="0" err="1" smtClean="0">
                <a:latin typeface="Arial Narrow" panose="020B0606020202030204" pitchFamily="34" charset="0"/>
              </a:rPr>
              <a:t>per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month</a:t>
            </a:r>
            <a:r>
              <a:rPr lang="tr-TR" sz="1400" dirty="0">
                <a:latin typeface="Arial Narrow" panose="020B0606020202030204" pitchFamily="34" charset="0"/>
              </a:rPr>
              <a:t>]; </a:t>
            </a:r>
            <a:r>
              <a:rPr lang="tr-TR" sz="1400" dirty="0" err="1">
                <a:latin typeface="Arial Narrow" panose="020B0606020202030204" pitchFamily="34" charset="0"/>
              </a:rPr>
              <a:t>where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effective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interest</a:t>
            </a:r>
            <a:r>
              <a:rPr lang="tr-TR" sz="1400" dirty="0">
                <a:latin typeface="Arial Narrow" panose="020B0606020202030204" pitchFamily="34" charset="0"/>
              </a:rPr>
              <a:t> rate is </a:t>
            </a:r>
            <a:r>
              <a:rPr lang="tr-TR" sz="1400" dirty="0" smtClean="0">
                <a:latin typeface="Arial Narrow" panose="020B0606020202030204" pitchFamily="34" charset="0"/>
              </a:rPr>
              <a:t>12.68%.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Note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that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[12%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per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year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] in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other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words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[12%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compounded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yearly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]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effective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rate is 12%.</a:t>
            </a:r>
            <a:endParaRPr lang="tr-TR" sz="1400" dirty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buSzPct val="200000"/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1" y="1043520"/>
            <a:ext cx="7243647" cy="40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29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55775" y="116632"/>
            <a:ext cx="4032448" cy="93610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err="1" smtClean="0">
                <a:latin typeface="Arial Narrow" pitchFamily="34" charset="0"/>
              </a:rPr>
              <a:t>Interest</a:t>
            </a:r>
            <a:r>
              <a:rPr lang="tr-TR" sz="1800" dirty="0" smtClean="0">
                <a:latin typeface="Arial Narrow" pitchFamily="34" charset="0"/>
              </a:rPr>
              <a:t> </a:t>
            </a:r>
            <a:r>
              <a:rPr lang="tr-TR" sz="1800" dirty="0" err="1" smtClean="0">
                <a:latin typeface="Arial Narrow" pitchFamily="34" charset="0"/>
              </a:rPr>
              <a:t>Rates</a:t>
            </a: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Real </a:t>
            </a:r>
            <a:r>
              <a:rPr lang="tr-TR" sz="2000" dirty="0" err="1" smtClean="0">
                <a:solidFill>
                  <a:srgbClr val="800000"/>
                </a:solidFill>
                <a:latin typeface="Arial Narrow" pitchFamily="34" charset="0"/>
              </a:rPr>
              <a:t>versus</a:t>
            </a: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 Nominal </a:t>
            </a:r>
            <a:r>
              <a:rPr lang="tr-TR" sz="2000" dirty="0" err="1" smtClean="0">
                <a:solidFill>
                  <a:srgbClr val="800000"/>
                </a:solidFill>
                <a:latin typeface="Arial Narrow" pitchFamily="34" charset="0"/>
              </a:rPr>
              <a:t>Interest</a:t>
            </a: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 Rate</a:t>
            </a:r>
            <a:endParaRPr lang="tr-TR" sz="2000" dirty="0">
              <a:solidFill>
                <a:srgbClr val="800000"/>
              </a:solidFill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328592"/>
              </a:xfrm>
              <a:ln w="25400">
                <a:noFill/>
              </a:ln>
            </p:spPr>
            <p:txBody>
              <a:bodyPr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600" noProof="1" smtClean="0">
                    <a:latin typeface="Arial Narrow" panose="020B0606020202030204" pitchFamily="34" charset="0"/>
                  </a:rPr>
                  <a:t>When the effect of inflation is deducted from nominal interest rate, real interest rate is obtained.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6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6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6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6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6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6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6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600" noProof="1" smtClean="0">
                    <a:latin typeface="Arial Narrow" panose="020B0606020202030204" pitchFamily="34" charset="0"/>
                  </a:rPr>
                  <a:t>The above relationship may be formulated as follows: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800" noProof="1" smtClean="0">
                  <a:latin typeface="Arial Narrow" panose="020B0606020202030204" pitchFamily="34" charset="0"/>
                </a:endParaRPr>
              </a:p>
              <a:p>
                <a:pPr marL="3543300" lvl="8" indent="0" algn="ctr">
                  <a:spcBef>
                    <a:spcPts val="0"/>
                  </a:spcBef>
                  <a:buNone/>
                </a:pPr>
                <a:r>
                  <a:rPr lang="tr-TR" sz="1600" noProof="1" smtClean="0">
                    <a:latin typeface="Bookman Old Style" panose="02050604050505020204" pitchFamily="18" charset="0"/>
                  </a:rPr>
                  <a:t>1+5% </a:t>
                </a:r>
                <a:r>
                  <a:rPr lang="tr-TR" sz="1600" noProof="1" smtClean="0">
                    <a:latin typeface="Arial Narrow" panose="020B0606020202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r-TR" i="1" noProof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i="1" noProof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tr-TR" b="0" i="1" noProof="1" smtClean="0">
                            <a:latin typeface="Cambria Math" panose="02040503050406030204" pitchFamily="18" charset="0"/>
                          </a:rPr>
                          <m:t>25%</m:t>
                        </m:r>
                      </m:num>
                      <m:den>
                        <m:r>
                          <a:rPr lang="tr-TR" i="1" noProof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tr-TR" b="0" i="1" noProof="1" smtClean="0">
                            <a:latin typeface="Cambria Math" panose="02040503050406030204" pitchFamily="18" charset="0"/>
                          </a:rPr>
                          <m:t>19%</m:t>
                        </m:r>
                      </m:den>
                    </m:f>
                  </m:oMath>
                </a14:m>
                <a:endParaRPr lang="tr-TR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8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600" noProof="1" smtClean="0">
                    <a:latin typeface="Arial Narrow" panose="020B0606020202030204" pitchFamily="34" charset="0"/>
                  </a:rPr>
                  <a:t>Note that the expected inflation is used.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328592"/>
              </a:xfrm>
              <a:blipFill>
                <a:blip r:embed="rId3"/>
                <a:stretch>
                  <a:fillRect t="-22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3429000"/>
            <a:ext cx="2952328" cy="624426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4365104"/>
            <a:ext cx="6565958" cy="1181094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466" y="1412776"/>
            <a:ext cx="3367065" cy="168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2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Effective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200" dirty="0">
                <a:solidFill>
                  <a:srgbClr val="800000"/>
                </a:solidFill>
                <a:latin typeface="Arial Narrow" pitchFamily="34" charset="0"/>
              </a:rPr>
              <a:t>of 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a Bank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Borrowing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which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is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paid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back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in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equal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installments</a:t>
            </a:r>
            <a:endParaRPr lang="tr-TR" sz="22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96544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96752"/>
            <a:ext cx="8252117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2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15816" y="404664"/>
            <a:ext cx="3528392" cy="101297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Interest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-Rate Risk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ln w="25400">
                <a:noFill/>
              </a:ln>
            </p:spPr>
            <p:txBody>
              <a:bodyPr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Present </a:t>
                </a:r>
                <a:r>
                  <a:rPr lang="tr-TR" sz="1800" noProof="1">
                    <a:latin typeface="Arial Narrow" panose="020B0606020202030204" pitchFamily="34" charset="0"/>
                  </a:rPr>
                  <a:t>Value (PV) of the Debt Instrument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tr-TR" sz="2400" i="1" noProof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tr-TR" sz="2400" i="1" noProof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tr-TR" sz="2400" i="1" noProof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sz="2400" i="1" noProof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tr-TR" sz="2400" i="1" noProof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sz="2400" i="1" noProof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  <m:r>
                              <a:rPr lang="tr-TR" sz="2400" i="1" baseline="-25000" noProof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tr-TR" sz="2400" i="1" noProof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tr-TR" sz="2400" i="1" noProof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tr-TR" sz="2400" i="1" noProof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tr-TR" sz="2400" i="1" noProof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tr-TR" sz="2400" i="1" noProof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tr-TR" sz="24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For a given set of </a:t>
                </a:r>
                <a:r>
                  <a:rPr lang="tr-TR" sz="1800" i="1" noProof="1">
                    <a:latin typeface="Arial Narrow" panose="020B0606020202030204" pitchFamily="34" charset="0"/>
                  </a:rPr>
                  <a:t>CF</a:t>
                </a:r>
                <a:r>
                  <a:rPr lang="tr-TR" sz="1800" i="1" baseline="-25000" noProof="1">
                    <a:latin typeface="Arial Narrow" panose="020B0606020202030204" pitchFamily="34" charset="0"/>
                  </a:rPr>
                  <a:t>t</a:t>
                </a:r>
                <a:r>
                  <a:rPr lang="tr-TR" sz="1800" noProof="1">
                    <a:latin typeface="Arial Narrow" panose="020B0606020202030204" pitchFamily="34" charset="0"/>
                  </a:rPr>
                  <a:t> 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when market interest rates </a:t>
                </a:r>
                <a:r>
                  <a:rPr lang="tr-TR" sz="1800" dirty="0">
                    <a:latin typeface="Arial Narrow" panose="020B0606020202030204" pitchFamily="34" charset="0"/>
                  </a:rPr>
                  <a:t>(</a:t>
                </a:r>
                <a:r>
                  <a:rPr lang="tr-TR" sz="1800" i="1" dirty="0">
                    <a:latin typeface="Bookman Old Style" panose="02050604050505020204" pitchFamily="18" charset="0"/>
                  </a:rPr>
                  <a:t>i</a:t>
                </a:r>
                <a:r>
                  <a:rPr lang="tr-TR" sz="1800" dirty="0">
                    <a:latin typeface="Arial Narrow" panose="020B0606020202030204" pitchFamily="34" charset="0"/>
                  </a:rPr>
                  <a:t> ) </a:t>
                </a:r>
                <a:r>
                  <a:rPr lang="tr-TR" sz="1800" noProof="1">
                    <a:latin typeface="Arial Narrow" panose="020B0606020202030204" pitchFamily="34" charset="0"/>
                  </a:rPr>
                  <a:t>go up,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the value (PV), that is, the price of the debt instrument drops.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And, vice versa.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Such volatility of prices of debt instruments is called Interest-Rate Risk.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Prices of longer-maturity bonds respond more drastically to changes in interest rates.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Dealing withinterest-rate risk is a major concern of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managers of financial institutions and investors.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 smtClean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0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19872" y="116632"/>
            <a:ext cx="3600400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Interest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-Rate Risk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44"/>
            <a:ext cx="8229600" cy="43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2492896"/>
            <a:ext cx="7704856" cy="2592288"/>
          </a:xfrm>
          <a:ln w="254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2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week</a:t>
            </a: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 6</a:t>
            </a:r>
          </a:p>
          <a:p>
            <a:pPr>
              <a:spcBef>
                <a:spcPts val="0"/>
              </a:spcBef>
            </a:pPr>
            <a:endParaRPr lang="tr-TR" sz="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Behavior</a:t>
            </a: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 of </a:t>
            </a: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Interest</a:t>
            </a: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Rates</a:t>
            </a:r>
            <a:endParaRPr lang="tr-TR" dirty="0" smtClean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z="18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12</a:t>
            </a:fld>
            <a:endParaRPr lang="tr-TR" sz="18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87724" y="341784"/>
            <a:ext cx="4968552" cy="99898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Behavior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Asset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Price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Yield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Maturity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Relationship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784"/>
                <a:ext cx="8229600" cy="5112568"/>
              </a:xfrm>
              <a:ln w="25400">
                <a:noFill/>
              </a:ln>
            </p:spPr>
            <p:txBody>
              <a:bodyPr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900" dirty="0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Interest </a:t>
                </a:r>
                <a:r>
                  <a:rPr lang="tr-TR" sz="1800" noProof="1">
                    <a:latin typeface="Arial Narrow" panose="020B0606020202030204" pitchFamily="34" charset="0"/>
                  </a:rPr>
                  <a:t>rate, </a:t>
                </a:r>
                <a:r>
                  <a:rPr lang="tr-TR" sz="1800" i="1" noProof="1">
                    <a:latin typeface="Bookman Old Style" panose="02050604050505020204" pitchFamily="18" charset="0"/>
                  </a:rPr>
                  <a:t>i</a:t>
                </a:r>
                <a:r>
                  <a:rPr lang="tr-TR" sz="1800" noProof="1">
                    <a:latin typeface="Arial Narrow" panose="020B0606020202030204" pitchFamily="34" charset="0"/>
                  </a:rPr>
                  <a:t>  (in other words, yield to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maturity of a security) </a:t>
                </a:r>
                <a:r>
                  <a:rPr lang="tr-TR" sz="1800" noProof="1">
                    <a:latin typeface="Arial Narrow" panose="020B0606020202030204" pitchFamily="34" charset="0"/>
                  </a:rPr>
                  <a:t>is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linked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o the </a:t>
                </a:r>
                <a:r>
                  <a:rPr lang="tr-TR" sz="1800" noProof="1">
                    <a:latin typeface="Arial Narrow" panose="020B0606020202030204" pitchFamily="34" charset="0"/>
                  </a:rPr>
                  <a:t>price of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that </a:t>
                </a:r>
                <a:r>
                  <a:rPr lang="tr-TR" sz="1800" noProof="1">
                    <a:latin typeface="Arial Narrow" panose="020B0606020202030204" pitchFamily="34" charset="0"/>
                  </a:rPr>
                  <a:t>security (in other words, 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the debt </a:t>
                </a:r>
                <a:r>
                  <a:rPr lang="tr-TR" sz="1800" noProof="1">
                    <a:latin typeface="Arial Narrow" panose="020B0606020202030204" pitchFamily="34" charset="0"/>
                  </a:rPr>
                  <a:t>instrument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)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a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s follows:</a:t>
                </a: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9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(price) PV </a:t>
                </a:r>
                <a:r>
                  <a:rPr lang="tr-TR" sz="2200" noProof="1">
                    <a:latin typeface="Arial Narrow" panose="020B0606020202030204" pitchFamily="34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tr-TR" sz="2200" i="1" noProof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tr-TR" sz="2200" i="1" noProof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tr-TR" sz="2200" i="1" noProof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sz="2200" i="1" noProof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tr-TR" sz="2200" i="1" noProof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sz="2200" i="1" noProof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  <m:r>
                              <a:rPr lang="tr-TR" sz="2200" i="1" baseline="-25000" noProof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tr-TR" sz="2200" i="1" noProof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tr-TR" sz="2200" i="1" noProof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tr-TR" sz="2200" i="1" noProof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tr-TR" sz="2200" i="1" noProof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tr-TR" sz="2200" i="1" noProof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tr-TR" sz="22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900" noProof="1" smtClean="0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9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For a given set of </a:t>
                </a:r>
                <a:r>
                  <a:rPr lang="tr-TR" sz="1800" i="1" noProof="1">
                    <a:latin typeface="Arial Narrow" panose="020B0606020202030204" pitchFamily="34" charset="0"/>
                  </a:rPr>
                  <a:t>CF</a:t>
                </a:r>
                <a:r>
                  <a:rPr lang="tr-TR" sz="1800" i="1" baseline="-25000" noProof="1">
                    <a:latin typeface="Arial Narrow" panose="020B0606020202030204" pitchFamily="34" charset="0"/>
                  </a:rPr>
                  <a:t>t</a:t>
                </a:r>
                <a:r>
                  <a:rPr lang="tr-TR" sz="1800" noProof="1">
                    <a:latin typeface="Arial Narrow" panose="020B0606020202030204" pitchFamily="34" charset="0"/>
                  </a:rPr>
                  <a:t> 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when market interest rates </a:t>
                </a:r>
                <a:r>
                  <a:rPr lang="tr-TR" sz="1800" dirty="0">
                    <a:latin typeface="Arial Narrow" panose="020B0606020202030204" pitchFamily="34" charset="0"/>
                  </a:rPr>
                  <a:t>(</a:t>
                </a:r>
                <a:r>
                  <a:rPr lang="tr-TR" sz="1800" i="1" dirty="0">
                    <a:latin typeface="Bookman Old Style" panose="02050604050505020204" pitchFamily="18" charset="0"/>
                  </a:rPr>
                  <a:t>i</a:t>
                </a:r>
                <a:r>
                  <a:rPr lang="tr-TR" sz="1800" dirty="0">
                    <a:latin typeface="Arial Narrow" panose="020B0606020202030204" pitchFamily="34" charset="0"/>
                  </a:rPr>
                  <a:t> ) </a:t>
                </a:r>
                <a:r>
                  <a:rPr lang="tr-TR" sz="1800" noProof="1">
                    <a:latin typeface="Arial Narrow" panose="020B0606020202030204" pitchFamily="34" charset="0"/>
                  </a:rPr>
                  <a:t>go up,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the value (PV), that is, the price of the debt instrument drops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And, vice versa.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On the other hand,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w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hen price of a debt instrument (e.g. bond) drops,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>
                    <a:latin typeface="Arial Narrow" panose="020B0606020202030204" pitchFamily="34" charset="0"/>
                  </a:rPr>
                  <a:t>i</a:t>
                </a:r>
                <a:r>
                  <a:rPr lang="tr-TR" sz="1800" noProof="1" smtClean="0">
                    <a:latin typeface="Arial Narrow" panose="020B0606020202030204" pitchFamily="34" charset="0"/>
                  </a:rPr>
                  <a:t>ts yield to maturity (IRR, interest rate) goes up.</a:t>
                </a: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tr-TR" sz="1800" noProof="1" smtClean="0">
                    <a:latin typeface="Arial Narrow" panose="020B0606020202030204" pitchFamily="34" charset="0"/>
                  </a:rPr>
                  <a:t>And, vice versa.</a:t>
                </a:r>
                <a:endParaRPr lang="tr-TR" sz="1800" noProof="1">
                  <a:latin typeface="Arial Narrow" panose="020B0606020202030204" pitchFamily="34" charset="0"/>
                </a:endParaRPr>
              </a:p>
              <a:p>
                <a:pPr marL="0" lvl="0" indent="0" algn="ctr">
                  <a:spcBef>
                    <a:spcPts val="0"/>
                  </a:spcBef>
                  <a:buNone/>
                </a:pPr>
                <a:endParaRPr lang="tr-TR" sz="1800" noProof="1" smtClean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784"/>
                <a:ext cx="8229600" cy="5112568"/>
              </a:xfrm>
              <a:blipFill>
                <a:blip r:embed="rId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58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71800" y="274638"/>
            <a:ext cx="3744416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Behavior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Determinants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of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Asset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Demand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1256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And, the basic economic theory tells us that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price is determined by demand and supply.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Demand for financial securities (in other words, assets) is affected by the following factors: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Wealth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Ceteris paribus, an increase in wealth raises the quantity demanded of an asset.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Expected Return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 increase in an asset’s expected return relative to that of an alternative asset, raises the demand.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Risk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If an </a:t>
            </a:r>
            <a:r>
              <a:rPr lang="tr-TR" sz="1600" noProof="1">
                <a:latin typeface="Arial Narrow" panose="020B0606020202030204" pitchFamily="34" charset="0"/>
              </a:rPr>
              <a:t>asset’s </a:t>
            </a:r>
            <a:r>
              <a:rPr lang="tr-TR" sz="1600" noProof="1" smtClean="0">
                <a:latin typeface="Arial Narrow" panose="020B0606020202030204" pitchFamily="34" charset="0"/>
              </a:rPr>
              <a:t>risk rises </a:t>
            </a:r>
            <a:r>
              <a:rPr lang="tr-TR" sz="1600" noProof="1">
                <a:latin typeface="Arial Narrow" panose="020B0606020202030204" pitchFamily="34" charset="0"/>
              </a:rPr>
              <a:t>relative to that of an alternative asset, </a:t>
            </a:r>
            <a:r>
              <a:rPr lang="tr-TR" sz="1600" noProof="1" smtClean="0">
                <a:latin typeface="Arial Narrow" panose="020B0606020202030204" pitchFamily="34" charset="0"/>
              </a:rPr>
              <a:t>its quantity demanded will fall.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Liquidity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more liquid an asset is relative to alternative assets, the more desirable it is,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the greater will be the quantity demanded.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76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3" y="235904"/>
            <a:ext cx="3600399" cy="1824944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Behavior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Supply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and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Demand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in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the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Bond Market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2276872"/>
            <a:ext cx="4104456" cy="432048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economics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market </a:t>
            </a:r>
            <a:r>
              <a:rPr lang="tr-TR" sz="1800" dirty="0" err="1" smtClean="0">
                <a:latin typeface="Arial Narrow" panose="020B0606020202030204" pitchFamily="34" charset="0"/>
              </a:rPr>
              <a:t>equilibrium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occurs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when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amount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that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people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are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willing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buy (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demand</a:t>
            </a:r>
            <a:r>
              <a:rPr lang="tr-TR" sz="1800" dirty="0" smtClean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equals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amount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that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people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are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willing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sell</a:t>
            </a:r>
            <a:r>
              <a:rPr lang="tr-TR" sz="1800" dirty="0" smtClean="0">
                <a:latin typeface="Arial Narrow" panose="020B0606020202030204" pitchFamily="34" charset="0"/>
              </a:rPr>
              <a:t> (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supply</a:t>
            </a:r>
            <a:r>
              <a:rPr lang="tr-TR" sz="1800" dirty="0" smtClean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at a </a:t>
            </a:r>
            <a:r>
              <a:rPr lang="tr-TR" sz="1800" dirty="0" err="1" smtClean="0">
                <a:latin typeface="Arial Narrow" panose="020B0606020202030204" pitchFamily="34" charset="0"/>
              </a:rPr>
              <a:t>given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price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468" y="260648"/>
            <a:ext cx="4594020" cy="5112568"/>
          </a:xfrm>
          <a:prstGeom prst="rect">
            <a:avLst/>
          </a:prstGeom>
        </p:spPr>
      </p:pic>
      <p:sp>
        <p:nvSpPr>
          <p:cNvPr id="13" name="Metin kutusu 12"/>
          <p:cNvSpPr txBox="1"/>
          <p:nvPr/>
        </p:nvSpPr>
        <p:spPr>
          <a:xfrm>
            <a:off x="4400821" y="332656"/>
            <a:ext cx="16113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Price</a:t>
            </a:r>
            <a:r>
              <a:rPr lang="tr-T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</a:t>
            </a:r>
          </a:p>
          <a:p>
            <a:r>
              <a:rPr lang="tr-TR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</a:t>
            </a:r>
            <a:r>
              <a:rPr lang="tr-T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20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Metin kutusu 13"/>
          <p:cNvSpPr txBox="1"/>
          <p:nvPr/>
        </p:nvSpPr>
        <p:spPr>
          <a:xfrm flipH="1">
            <a:off x="6300192" y="4509120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Quantity</a:t>
            </a:r>
            <a:r>
              <a:rPr lang="tr-T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 </a:t>
            </a:r>
            <a:r>
              <a:rPr lang="tr-TR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</a:t>
            </a:r>
            <a:r>
              <a:rPr lang="tr-T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20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5" name="Düz Bağlayıcı 14"/>
          <p:cNvCxnSpPr/>
          <p:nvPr/>
        </p:nvCxnSpPr>
        <p:spPr>
          <a:xfrm>
            <a:off x="7020272" y="2564904"/>
            <a:ext cx="0" cy="1512168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Bağlayıcı 15"/>
          <p:cNvCxnSpPr/>
          <p:nvPr/>
        </p:nvCxnSpPr>
        <p:spPr>
          <a:xfrm>
            <a:off x="5076056" y="2564904"/>
            <a:ext cx="1872208" cy="0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etin kutusu 1"/>
          <p:cNvSpPr txBox="1"/>
          <p:nvPr/>
        </p:nvSpPr>
        <p:spPr>
          <a:xfrm>
            <a:off x="8388424" y="1040541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S</a:t>
            </a:r>
            <a:endParaRPr lang="en-US" sz="3600" b="1" dirty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5174472" y="1040542"/>
            <a:ext cx="457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D</a:t>
            </a:r>
            <a:endParaRPr lang="en-US" sz="3600" b="1" dirty="0">
              <a:solidFill>
                <a:srgbClr val="8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36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20072" y="235904"/>
            <a:ext cx="3730561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Changes</a:t>
            </a:r>
            <a:r>
              <a:rPr lang="tr-TR" sz="2000" dirty="0">
                <a:latin typeface="Arial Narrow" pitchFamily="34" charset="0"/>
              </a:rPr>
              <a:t> in </a:t>
            </a:r>
            <a:r>
              <a:rPr lang="tr-TR" sz="2000" dirty="0" err="1">
                <a:latin typeface="Arial Narrow" pitchFamily="34" charset="0"/>
              </a:rPr>
              <a:t>Equilibrium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Interest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Shifts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in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Demand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Bonds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1" y="235904"/>
            <a:ext cx="4852095" cy="636144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When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find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out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that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our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wealth</a:t>
            </a:r>
            <a:r>
              <a:rPr lang="tr-TR" sz="1400" dirty="0" smtClean="0">
                <a:latin typeface="Arial Narrow" panose="020B0606020202030204" pitchFamily="34" charset="0"/>
              </a:rPr>
              <a:t> has </a:t>
            </a:r>
            <a:r>
              <a:rPr lang="tr-TR" sz="1400" dirty="0" err="1" smtClean="0">
                <a:latin typeface="Arial Narrow" panose="020B0606020202030204" pitchFamily="34" charset="0"/>
              </a:rPr>
              <a:t>increased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we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have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more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resources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available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with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which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to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purchase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assets</a:t>
            </a:r>
            <a:r>
              <a:rPr lang="tr-TR" sz="14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so</a:t>
            </a:r>
            <a:r>
              <a:rPr lang="tr-TR" sz="1400" dirty="0" smtClean="0">
                <a:latin typeface="Arial Narrow" panose="020B0606020202030204" pitchFamily="34" charset="0"/>
              </a:rPr>
              <a:t>, not </a:t>
            </a:r>
            <a:r>
              <a:rPr lang="tr-TR" sz="1400" dirty="0" err="1" smtClean="0">
                <a:latin typeface="Arial Narrow" panose="020B0606020202030204" pitchFamily="34" charset="0"/>
              </a:rPr>
              <a:t>surprisingly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quantity</a:t>
            </a:r>
            <a:r>
              <a:rPr lang="tr-TR" sz="1400" dirty="0" smtClean="0">
                <a:latin typeface="Arial Narrow" panose="020B0606020202030204" pitchFamily="34" charset="0"/>
              </a:rPr>
              <a:t> of </a:t>
            </a:r>
            <a:r>
              <a:rPr lang="tr-TR" sz="1400" dirty="0" err="1" smtClean="0">
                <a:latin typeface="Arial Narrow" panose="020B0606020202030204" pitchFamily="34" charset="0"/>
              </a:rPr>
              <a:t>assets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demand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increases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When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economy</a:t>
            </a:r>
            <a:r>
              <a:rPr lang="tr-TR" sz="1400" dirty="0" smtClean="0">
                <a:latin typeface="Arial Narrow" panose="020B0606020202030204" pitchFamily="34" charset="0"/>
              </a:rPr>
              <a:t> is </a:t>
            </a:r>
            <a:r>
              <a:rPr lang="tr-TR" sz="1400" dirty="0" err="1" smtClean="0">
                <a:latin typeface="Arial Narrow" panose="020B0606020202030204" pitchFamily="34" charset="0"/>
              </a:rPr>
              <a:t>growing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rapidly</a:t>
            </a:r>
            <a:r>
              <a:rPr lang="tr-TR" sz="1400" dirty="0" smtClean="0">
                <a:latin typeface="Arial Narrow" panose="020B0606020202030204" pitchFamily="34" charset="0"/>
              </a:rPr>
              <a:t> in a </a:t>
            </a:r>
            <a:r>
              <a:rPr lang="tr-TR" sz="1400" dirty="0" err="1" smtClean="0">
                <a:latin typeface="Arial Narrow" panose="020B0606020202030204" pitchFamily="34" charset="0"/>
              </a:rPr>
              <a:t>business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cycle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expansion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wealth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increases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Another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factor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that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affects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wealth</a:t>
            </a:r>
            <a:r>
              <a:rPr lang="tr-TR" sz="1400" dirty="0" smtClean="0">
                <a:latin typeface="Arial Narrow" panose="020B0606020202030204" pitchFamily="34" charset="0"/>
              </a:rPr>
              <a:t> is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public’s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propensity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to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save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If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households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save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more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wealth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increases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In</a:t>
            </a:r>
            <a:r>
              <a:rPr lang="tr-TR" sz="1400" dirty="0" smtClean="0">
                <a:latin typeface="Arial Narrow" panose="020B0606020202030204" pitchFamily="34" charset="0"/>
              </a:rPr>
              <a:t> a </a:t>
            </a:r>
            <a:r>
              <a:rPr lang="tr-TR" sz="1400" dirty="0" err="1" smtClean="0">
                <a:latin typeface="Arial Narrow" panose="020B0606020202030204" pitchFamily="34" charset="0"/>
              </a:rPr>
              <a:t>business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cycle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expansion</a:t>
            </a:r>
            <a:r>
              <a:rPr lang="tr-TR" sz="1400" dirty="0" smtClean="0">
                <a:latin typeface="Arial Narrow" panose="020B0606020202030204" pitchFamily="34" charset="0"/>
              </a:rPr>
              <a:t> (</a:t>
            </a:r>
            <a:r>
              <a:rPr lang="tr-TR" sz="1400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with</a:t>
            </a:r>
            <a:r>
              <a:rPr lang="tr-TR" sz="1400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growing</a:t>
            </a:r>
            <a:r>
              <a:rPr lang="tr-TR" sz="1400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wealth</a:t>
            </a:r>
            <a:r>
              <a:rPr lang="tr-TR" sz="1400" dirty="0" smtClean="0">
                <a:latin typeface="Arial Narrow" panose="020B0606020202030204" pitchFamily="34" charset="0"/>
              </a:rPr>
              <a:t>),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demand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for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bonds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rises</a:t>
            </a:r>
            <a:endParaRPr lang="tr-TR" sz="14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demand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curve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for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bonds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shifts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to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right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b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onds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go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up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,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rates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drop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4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If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more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people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started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trading</a:t>
            </a:r>
            <a:r>
              <a:rPr lang="tr-TR" sz="1400" dirty="0"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bond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smtClean="0">
                <a:latin typeface="Arial Narrow" panose="020B0606020202030204" pitchFamily="34" charset="0"/>
              </a:rPr>
              <a:t>market, </a:t>
            </a:r>
            <a:r>
              <a:rPr lang="tr-TR" sz="1400" dirty="0" err="1" smtClean="0">
                <a:latin typeface="Arial Narrow" panose="020B0606020202030204" pitchFamily="34" charset="0"/>
              </a:rPr>
              <a:t>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>
                <a:latin typeface="Arial Narrow" panose="020B0606020202030204" pitchFamily="34" charset="0"/>
              </a:rPr>
              <a:t>as a </a:t>
            </a:r>
            <a:r>
              <a:rPr lang="tr-TR" sz="1400" dirty="0" err="1">
                <a:latin typeface="Arial Narrow" panose="020B0606020202030204" pitchFamily="34" charset="0"/>
              </a:rPr>
              <a:t>result</a:t>
            </a:r>
            <a:r>
              <a:rPr lang="tr-TR" sz="1400" dirty="0">
                <a:latin typeface="Arial Narrow" panose="020B0606020202030204" pitchFamily="34" charset="0"/>
              </a:rPr>
              <a:t> it </a:t>
            </a:r>
            <a:r>
              <a:rPr lang="tr-TR" sz="1400" dirty="0" err="1">
                <a:latin typeface="Arial Narrow" panose="020B0606020202030204" pitchFamily="34" charset="0"/>
              </a:rPr>
              <a:t>became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easier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sell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quickly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increase</a:t>
            </a:r>
            <a:r>
              <a:rPr lang="tr-TR" sz="1400" dirty="0"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latin typeface="Arial Narrow" panose="020B0606020202030204" pitchFamily="34" charset="0"/>
              </a:rPr>
              <a:t>their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liquidity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would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cause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quantity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demanded</a:t>
            </a:r>
            <a:r>
              <a:rPr lang="tr-TR" sz="1400" dirty="0">
                <a:latin typeface="Arial Narrow" panose="020B0606020202030204" pitchFamily="34" charset="0"/>
              </a:rPr>
              <a:t> at </a:t>
            </a:r>
            <a:r>
              <a:rPr lang="tr-TR" sz="1400" dirty="0" err="1">
                <a:latin typeface="Arial Narrow" panose="020B0606020202030204" pitchFamily="34" charset="0"/>
              </a:rPr>
              <a:t>each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interest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smtClean="0">
                <a:latin typeface="Arial Narrow" panose="020B0606020202030204" pitchFamily="34" charset="0"/>
              </a:rPr>
              <a:t>rate </a:t>
            </a:r>
            <a:r>
              <a:rPr lang="tr-TR" sz="1400" dirty="0" err="1" smtClean="0">
                <a:latin typeface="Arial Narrow" panose="020B0606020202030204" pitchFamily="34" charset="0"/>
              </a:rPr>
              <a:t>to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rise</a:t>
            </a:r>
            <a:r>
              <a:rPr lang="tr-TR" sz="1400" dirty="0" smtClean="0">
                <a:latin typeface="Arial Narrow" panose="020B0606020202030204" pitchFamily="34" charset="0"/>
              </a:rPr>
              <a:t>.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Increased </a:t>
            </a:r>
            <a:r>
              <a:rPr lang="tr-TR" sz="1400" noProof="1">
                <a:solidFill>
                  <a:srgbClr val="FF0000"/>
                </a:solidFill>
                <a:latin typeface="Arial Narrow" panose="020B0606020202030204" pitchFamily="34" charset="0"/>
              </a:rPr>
              <a:t>liquidity of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bonds relative </a:t>
            </a:r>
            <a:r>
              <a:rPr lang="tr-TR" sz="1400" noProof="1">
                <a:solidFill>
                  <a:srgbClr val="FF0000"/>
                </a:solidFill>
                <a:latin typeface="Arial Narrow" panose="020B0606020202030204" pitchFamily="34" charset="0"/>
              </a:rPr>
              <a:t>to alternative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assets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results </a:t>
            </a:r>
            <a:r>
              <a:rPr lang="tr-TR" sz="1400" noProof="1">
                <a:latin typeface="Arial Narrow" panose="020B0606020202030204" pitchFamily="34" charset="0"/>
              </a:rPr>
              <a:t>in an increased demand for </a:t>
            </a:r>
            <a:r>
              <a:rPr lang="tr-TR" sz="1400" noProof="1" smtClean="0">
                <a:latin typeface="Arial Narrow" panose="020B0606020202030204" pitchFamily="34" charset="0"/>
              </a:rPr>
              <a:t>bonds,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and </a:t>
            </a:r>
            <a:r>
              <a:rPr lang="tr-TR" sz="1400" noProof="1">
                <a:latin typeface="Arial Narrow" panose="020B0606020202030204" pitchFamily="34" charset="0"/>
              </a:rPr>
              <a:t>the demand curve shifts to the </a:t>
            </a:r>
            <a:r>
              <a:rPr lang="tr-TR" sz="1400" noProof="1" smtClean="0">
                <a:latin typeface="Arial Narrow" panose="020B0606020202030204" pitchFamily="34" charset="0"/>
              </a:rPr>
              <a:t>right.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>
                <a:latin typeface="Arial Narrow" panose="020B0606020202030204" pitchFamily="34" charset="0"/>
              </a:rPr>
              <a:t>of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up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rates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drop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4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smtClean="0">
                <a:latin typeface="Arial Narrow" panose="020B0606020202030204" pitchFamily="34" charset="0"/>
              </a:rPr>
              <a:t>On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other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hand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reduction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brokarage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commissions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for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trading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common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stocks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that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occured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when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fixed</a:t>
            </a:r>
            <a:r>
              <a:rPr lang="tr-TR" sz="1400" dirty="0">
                <a:latin typeface="Arial Narrow" panose="020B0606020202030204" pitchFamily="34" charset="0"/>
              </a:rPr>
              <a:t>-rate </a:t>
            </a:r>
            <a:r>
              <a:rPr lang="tr-TR" sz="1400" dirty="0" err="1">
                <a:latin typeface="Arial Narrow" panose="020B0606020202030204" pitchFamily="34" charset="0"/>
              </a:rPr>
              <a:t>commission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structure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was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abolished</a:t>
            </a:r>
            <a:r>
              <a:rPr lang="tr-TR" sz="1400" dirty="0">
                <a:latin typeface="Arial Narrow" panose="020B0606020202030204" pitchFamily="34" charset="0"/>
              </a:rPr>
              <a:t> in 1975 in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US, </a:t>
            </a:r>
            <a:r>
              <a:rPr lang="tr-TR" sz="1400" dirty="0" err="1">
                <a:latin typeface="Arial Narrow" panose="020B0606020202030204" pitchFamily="34" charset="0"/>
              </a:rPr>
              <a:t>for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example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increased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liquidity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stocks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relative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bonds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resulting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lower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demand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for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bonds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shifted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demand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curve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left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626" y="1484784"/>
            <a:ext cx="3752861" cy="4176464"/>
          </a:xfrm>
          <a:prstGeom prst="rect">
            <a:avLst/>
          </a:prstGeom>
        </p:spPr>
      </p:pic>
      <p:sp>
        <p:nvSpPr>
          <p:cNvPr id="13" name="Metin kutusu 12"/>
          <p:cNvSpPr txBox="1"/>
          <p:nvPr/>
        </p:nvSpPr>
        <p:spPr>
          <a:xfrm>
            <a:off x="5228069" y="152767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Price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</a:t>
            </a:r>
          </a:p>
          <a:p>
            <a:r>
              <a:rPr lang="tr-T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Metin kutusu 13"/>
          <p:cNvSpPr txBox="1"/>
          <p:nvPr/>
        </p:nvSpPr>
        <p:spPr>
          <a:xfrm flipH="1">
            <a:off x="6345867" y="4915907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Quantity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 </a:t>
            </a:r>
            <a:r>
              <a:rPr lang="tr-T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5" name="Düz Bağlayıcı 14"/>
          <p:cNvCxnSpPr/>
          <p:nvPr/>
        </p:nvCxnSpPr>
        <p:spPr>
          <a:xfrm flipH="1">
            <a:off x="7308304" y="3356992"/>
            <a:ext cx="2252" cy="1152128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Bağlayıcı 15"/>
          <p:cNvCxnSpPr/>
          <p:nvPr/>
        </p:nvCxnSpPr>
        <p:spPr>
          <a:xfrm>
            <a:off x="5724128" y="3356992"/>
            <a:ext cx="1584176" cy="0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ağ Ok 2"/>
          <p:cNvSpPr/>
          <p:nvPr/>
        </p:nvSpPr>
        <p:spPr>
          <a:xfrm>
            <a:off x="6372200" y="2387912"/>
            <a:ext cx="648072" cy="288032"/>
          </a:xfrm>
          <a:prstGeom prst="rightArrow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8" name="Düz Bağlayıcı 7"/>
          <p:cNvCxnSpPr/>
          <p:nvPr/>
        </p:nvCxnSpPr>
        <p:spPr>
          <a:xfrm>
            <a:off x="6579778" y="2060848"/>
            <a:ext cx="2204689" cy="1512168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5815419" y="2124145"/>
            <a:ext cx="42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D</a:t>
            </a:r>
            <a:endParaRPr lang="en-US" sz="3200" b="1" dirty="0">
              <a:solidFill>
                <a:srgbClr val="8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6730887" y="1674407"/>
            <a:ext cx="521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FF00FF"/>
                </a:solidFill>
                <a:latin typeface="Arial Narrow" panose="020B0606020202030204" pitchFamily="34" charset="0"/>
              </a:rPr>
              <a:t>D’</a:t>
            </a:r>
            <a:endParaRPr lang="en-US" sz="3200" b="1" dirty="0">
              <a:solidFill>
                <a:srgbClr val="FF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8435099" y="2091169"/>
            <a:ext cx="40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S</a:t>
            </a:r>
            <a:endParaRPr lang="en-US" sz="3200" b="1" dirty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2537700"/>
            <a:ext cx="1813257" cy="4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7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20072" y="235904"/>
            <a:ext cx="3730561" cy="1032856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Changes</a:t>
            </a:r>
            <a:r>
              <a:rPr lang="tr-TR" sz="2000" dirty="0">
                <a:latin typeface="Arial Narrow" pitchFamily="34" charset="0"/>
              </a:rPr>
              <a:t> in </a:t>
            </a:r>
            <a:r>
              <a:rPr lang="tr-TR" sz="2000" dirty="0" err="1">
                <a:latin typeface="Arial Narrow" pitchFamily="34" charset="0"/>
              </a:rPr>
              <a:t>Equilibrium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Interest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Rates</a:t>
            </a:r>
            <a:r>
              <a:rPr lang="tr-TR" sz="2000" dirty="0">
                <a:latin typeface="Arial Narrow" pitchFamily="34" charset="0"/>
              </a:rPr>
              <a:t/>
            </a:r>
            <a:br>
              <a:rPr lang="tr-TR" sz="20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Shifts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in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Demand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Bonds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235904"/>
            <a:ext cx="4956136" cy="636144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When we make a decision to buy an asset, we are influenced by what we expect the return on the asset to be.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Higher expected interest rates in the future</a:t>
            </a:r>
            <a:r>
              <a:rPr lang="tr-TR" sz="1400" noProof="1" smtClean="0">
                <a:latin typeface="Arial Narrow" panose="020B0606020202030204" pitchFamily="34" charset="0"/>
              </a:rPr>
              <a:t> lower the expected return for long-term bonds today, decrease the demand, and shift the demand curve to the left. Changes in expected returns on other assets can also shift the demand curve for bonds.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If people suddenly became more optimistic about the stock market and began to expect higher stock prices in the future,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both expected capital gains and expected returns on stocks would rise.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With the expected return on bonds held constant,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the expected return on bonds today relative to stocks would fall,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lowering the demand for bonds and shifting the demand curve to the left.</a:t>
            </a:r>
          </a:p>
          <a:p>
            <a:pPr marL="800100" lvl="2" indent="0">
              <a:spcBef>
                <a:spcPts val="0"/>
              </a:spcBef>
              <a:buNone/>
            </a:pPr>
            <a:endParaRPr lang="tr-TR" sz="1400" dirty="0" smtClean="0">
              <a:latin typeface="Arial Narrow" panose="020B0606020202030204" pitchFamily="34" charset="0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of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bonds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come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down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,</a:t>
            </a:r>
            <a:endParaRPr lang="tr-TR" sz="1400" dirty="0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rates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go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up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4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>
                <a:latin typeface="Arial Narrow" panose="020B0606020202030204" pitchFamily="34" charset="0"/>
              </a:rPr>
              <a:t>An increase in expected inflation will lead </a:t>
            </a:r>
            <a:r>
              <a:rPr lang="tr-TR" sz="1400" noProof="1" smtClean="0">
                <a:latin typeface="Arial Narrow" panose="020B0606020202030204" pitchFamily="34" charset="0"/>
              </a:rPr>
              <a:t>to higher </a:t>
            </a:r>
            <a:r>
              <a:rPr lang="tr-TR" sz="1400" noProof="1">
                <a:latin typeface="Arial Narrow" panose="020B0606020202030204" pitchFamily="34" charset="0"/>
              </a:rPr>
              <a:t>prices on physical </a:t>
            </a:r>
            <a:r>
              <a:rPr lang="tr-TR" sz="1400" noProof="1" smtClean="0">
                <a:latin typeface="Arial Narrow" panose="020B0606020202030204" pitchFamily="34" charset="0"/>
              </a:rPr>
              <a:t>assets (also </a:t>
            </a:r>
            <a:r>
              <a:rPr lang="tr-TR" sz="1400" noProof="1">
                <a:latin typeface="Arial Narrow" panose="020B0606020202030204" pitchFamily="34" charset="0"/>
              </a:rPr>
              <a:t>called real assets) such as cars and </a:t>
            </a:r>
            <a:r>
              <a:rPr lang="tr-TR" sz="1400" noProof="1" smtClean="0">
                <a:latin typeface="Arial Narrow" panose="020B0606020202030204" pitchFamily="34" charset="0"/>
              </a:rPr>
              <a:t>houses in </a:t>
            </a:r>
            <a:r>
              <a:rPr lang="tr-TR" sz="1400" noProof="1">
                <a:latin typeface="Arial Narrow" panose="020B0606020202030204" pitchFamily="34" charset="0"/>
              </a:rPr>
              <a:t>the </a:t>
            </a:r>
            <a:r>
              <a:rPr lang="tr-TR" sz="1400" noProof="1" smtClean="0">
                <a:latin typeface="Arial Narrow" panose="020B0606020202030204" pitchFamily="34" charset="0"/>
              </a:rPr>
              <a:t>future and </a:t>
            </a:r>
            <a:r>
              <a:rPr lang="tr-TR" sz="1400" noProof="1">
                <a:latin typeface="Arial Narrow" panose="020B0606020202030204" pitchFamily="34" charset="0"/>
              </a:rPr>
              <a:t>hence higher nominal capital </a:t>
            </a:r>
            <a:r>
              <a:rPr lang="tr-TR" sz="1400" noProof="1" smtClean="0">
                <a:latin typeface="Arial Narrow" panose="020B0606020202030204" pitchFamily="34" charset="0"/>
              </a:rPr>
              <a:t>gains. The </a:t>
            </a:r>
            <a:r>
              <a:rPr lang="tr-TR" sz="1400" noProof="1">
                <a:latin typeface="Arial Narrow" panose="020B0606020202030204" pitchFamily="34" charset="0"/>
              </a:rPr>
              <a:t>resulting rise in the expected returns </a:t>
            </a:r>
            <a:r>
              <a:rPr lang="tr-TR" sz="1400" noProof="1" smtClean="0">
                <a:latin typeface="Arial Narrow" panose="020B0606020202030204" pitchFamily="34" charset="0"/>
              </a:rPr>
              <a:t>today on </a:t>
            </a:r>
            <a:r>
              <a:rPr lang="tr-TR" sz="1400" noProof="1">
                <a:latin typeface="Arial Narrow" panose="020B0606020202030204" pitchFamily="34" charset="0"/>
              </a:rPr>
              <a:t>these real </a:t>
            </a:r>
            <a:r>
              <a:rPr lang="tr-TR" sz="1400" noProof="1" smtClean="0">
                <a:latin typeface="Arial Narrow" panose="020B0606020202030204" pitchFamily="34" charset="0"/>
              </a:rPr>
              <a:t>assets will </a:t>
            </a:r>
            <a:r>
              <a:rPr lang="tr-TR" sz="1400" noProof="1">
                <a:latin typeface="Arial Narrow" panose="020B0606020202030204" pitchFamily="34" charset="0"/>
              </a:rPr>
              <a:t>lead to a fall in the expected return on </a:t>
            </a:r>
            <a:r>
              <a:rPr lang="tr-TR" sz="1400" noProof="1" smtClean="0">
                <a:latin typeface="Arial Narrow" panose="020B0606020202030204" pitchFamily="34" charset="0"/>
              </a:rPr>
              <a:t>bonds relative </a:t>
            </a:r>
            <a:r>
              <a:rPr lang="tr-TR" sz="1400" noProof="1">
                <a:latin typeface="Arial Narrow" panose="020B0606020202030204" pitchFamily="34" charset="0"/>
              </a:rPr>
              <a:t>to the expected return on real assets </a:t>
            </a:r>
            <a:r>
              <a:rPr lang="tr-TR" sz="1400" noProof="1" smtClean="0">
                <a:latin typeface="Arial Narrow" panose="020B0606020202030204" pitchFamily="34" charset="0"/>
              </a:rPr>
              <a:t>today and </a:t>
            </a:r>
            <a:r>
              <a:rPr lang="tr-TR" sz="1400" noProof="1">
                <a:latin typeface="Arial Narrow" panose="020B0606020202030204" pitchFamily="34" charset="0"/>
              </a:rPr>
              <a:t>thus cause the demand for bonds to </a:t>
            </a:r>
            <a:r>
              <a:rPr lang="tr-TR" sz="1400" noProof="1" smtClean="0">
                <a:latin typeface="Arial Narrow" panose="020B0606020202030204" pitchFamily="34" charset="0"/>
              </a:rPr>
              <a:t>fall.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An </a:t>
            </a:r>
            <a:r>
              <a:rPr lang="tr-TR" sz="1400" noProof="1">
                <a:solidFill>
                  <a:srgbClr val="FF0000"/>
                </a:solidFill>
                <a:latin typeface="Arial Narrow" panose="020B0606020202030204" pitchFamily="34" charset="0"/>
              </a:rPr>
              <a:t>increase in the expected rate of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inflation</a:t>
            </a:r>
            <a:r>
              <a:rPr lang="tr-TR" sz="14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noProof="1" smtClean="0">
                <a:latin typeface="Arial Narrow" panose="020B0606020202030204" pitchFamily="34" charset="0"/>
              </a:rPr>
              <a:t>lowers the </a:t>
            </a:r>
            <a:r>
              <a:rPr lang="tr-TR" sz="1400" noProof="1">
                <a:latin typeface="Arial Narrow" panose="020B0606020202030204" pitchFamily="34" charset="0"/>
              </a:rPr>
              <a:t>expected return for </a:t>
            </a:r>
            <a:r>
              <a:rPr lang="tr-TR" sz="1400" noProof="1" smtClean="0">
                <a:latin typeface="Arial Narrow" panose="020B0606020202030204" pitchFamily="34" charset="0"/>
              </a:rPr>
              <a:t>bonds, causing </a:t>
            </a:r>
            <a:r>
              <a:rPr lang="tr-TR" sz="1400" noProof="1">
                <a:latin typeface="Arial Narrow" panose="020B0606020202030204" pitchFamily="34" charset="0"/>
              </a:rPr>
              <a:t>their demand to </a:t>
            </a:r>
            <a:r>
              <a:rPr lang="tr-TR" sz="1400" noProof="1" smtClean="0">
                <a:latin typeface="Arial Narrow" panose="020B0606020202030204" pitchFamily="34" charset="0"/>
              </a:rPr>
              <a:t>decline and </a:t>
            </a:r>
            <a:r>
              <a:rPr lang="tr-TR" sz="1400" noProof="1">
                <a:latin typeface="Arial Narrow" panose="020B0606020202030204" pitchFamily="34" charset="0"/>
              </a:rPr>
              <a:t>the demand curve to shift to the </a:t>
            </a:r>
            <a:r>
              <a:rPr lang="tr-TR" sz="1400" noProof="1" smtClean="0">
                <a:latin typeface="Arial Narrow" panose="020B0606020202030204" pitchFamily="34" charset="0"/>
              </a:rPr>
              <a:t>left. </a:t>
            </a:r>
            <a:r>
              <a:rPr lang="tr-TR" sz="1400" dirty="0" err="1" smtClean="0"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>
                <a:latin typeface="Arial Narrow" panose="020B0606020202030204" pitchFamily="34" charset="0"/>
              </a:rPr>
              <a:t>of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come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down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rates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up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>
                <a:latin typeface="Arial Narrow" panose="020B0606020202030204" pitchFamily="34" charset="0"/>
              </a:rPr>
              <a:t>If prices in the bond market become more </a:t>
            </a:r>
            <a:r>
              <a:rPr lang="tr-TR" sz="1400" noProof="1" smtClean="0">
                <a:latin typeface="Arial Narrow" panose="020B0606020202030204" pitchFamily="34" charset="0"/>
              </a:rPr>
              <a:t>volatile, the </a:t>
            </a:r>
            <a:r>
              <a:rPr lang="tr-TR" sz="1400" noProof="1">
                <a:latin typeface="Arial Narrow" panose="020B0606020202030204" pitchFamily="34" charset="0"/>
              </a:rPr>
              <a:t>risk associated with bonds </a:t>
            </a:r>
            <a:r>
              <a:rPr lang="tr-TR" sz="1400" noProof="1" smtClean="0">
                <a:latin typeface="Arial Narrow" panose="020B0606020202030204" pitchFamily="34" charset="0"/>
              </a:rPr>
              <a:t>increases, and </a:t>
            </a:r>
            <a:r>
              <a:rPr lang="tr-TR" sz="1400" noProof="1">
                <a:latin typeface="Arial Narrow" panose="020B0606020202030204" pitchFamily="34" charset="0"/>
              </a:rPr>
              <a:t>bonds become a less attractive </a:t>
            </a:r>
            <a:r>
              <a:rPr lang="tr-TR" sz="1400" noProof="1" smtClean="0">
                <a:latin typeface="Arial Narrow" panose="020B0606020202030204" pitchFamily="34" charset="0"/>
              </a:rPr>
              <a:t>asset. An </a:t>
            </a:r>
            <a:r>
              <a:rPr lang="tr-TR" sz="1400" noProof="1">
                <a:solidFill>
                  <a:srgbClr val="FF0000"/>
                </a:solidFill>
                <a:latin typeface="Arial Narrow" panose="020B0606020202030204" pitchFamily="34" charset="0"/>
              </a:rPr>
              <a:t>increase in the riskiness of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bonds relative </a:t>
            </a:r>
            <a:r>
              <a:rPr lang="tr-TR" sz="1400" noProof="1">
                <a:solidFill>
                  <a:srgbClr val="FF0000"/>
                </a:solidFill>
                <a:latin typeface="Arial Narrow" panose="020B0606020202030204" pitchFamily="34" charset="0"/>
              </a:rPr>
              <a:t>to alternative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assets </a:t>
            </a:r>
            <a:r>
              <a:rPr lang="tr-TR" sz="1400" noProof="1" smtClean="0">
                <a:latin typeface="Arial Narrow" panose="020B0606020202030204" pitchFamily="34" charset="0"/>
              </a:rPr>
              <a:t>causes </a:t>
            </a:r>
            <a:r>
              <a:rPr lang="tr-TR" sz="1400" noProof="1">
                <a:latin typeface="Arial Narrow" panose="020B0606020202030204" pitchFamily="34" charset="0"/>
              </a:rPr>
              <a:t>the demand for bonds to </a:t>
            </a:r>
            <a:r>
              <a:rPr lang="tr-TR" sz="1400" noProof="1" smtClean="0">
                <a:latin typeface="Arial Narrow" panose="020B0606020202030204" pitchFamily="34" charset="0"/>
              </a:rPr>
              <a:t>fall and </a:t>
            </a:r>
            <a:r>
              <a:rPr lang="tr-TR" sz="1400" noProof="1">
                <a:latin typeface="Arial Narrow" panose="020B0606020202030204" pitchFamily="34" charset="0"/>
              </a:rPr>
              <a:t>the demand curve to shift to the </a:t>
            </a:r>
            <a:r>
              <a:rPr lang="tr-TR" sz="1400" noProof="1" smtClean="0">
                <a:latin typeface="Arial Narrow" panose="020B0606020202030204" pitchFamily="34" charset="0"/>
              </a:rPr>
              <a:t>left.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>
                <a:latin typeface="Arial Narrow" panose="020B0606020202030204" pitchFamily="34" charset="0"/>
              </a:rPr>
              <a:t>of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come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down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rates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up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4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507" y="1340768"/>
            <a:ext cx="3752861" cy="4176464"/>
          </a:xfrm>
          <a:prstGeom prst="rect">
            <a:avLst/>
          </a:prstGeom>
        </p:spPr>
      </p:pic>
      <p:sp>
        <p:nvSpPr>
          <p:cNvPr id="13" name="Metin kutusu 12"/>
          <p:cNvSpPr txBox="1"/>
          <p:nvPr/>
        </p:nvSpPr>
        <p:spPr>
          <a:xfrm>
            <a:off x="5205209" y="1340768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Price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</a:t>
            </a:r>
          </a:p>
          <a:p>
            <a:r>
              <a:rPr lang="tr-T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Metin kutusu 13"/>
          <p:cNvSpPr txBox="1"/>
          <p:nvPr/>
        </p:nvSpPr>
        <p:spPr>
          <a:xfrm flipH="1">
            <a:off x="6444208" y="4771891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Quantity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 </a:t>
            </a:r>
            <a:r>
              <a:rPr lang="tr-T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5" name="Düz Bağlayıcı 14"/>
          <p:cNvCxnSpPr/>
          <p:nvPr/>
        </p:nvCxnSpPr>
        <p:spPr>
          <a:xfrm>
            <a:off x="7350561" y="3284984"/>
            <a:ext cx="29751" cy="1080120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Bağlayıcı 15"/>
          <p:cNvCxnSpPr/>
          <p:nvPr/>
        </p:nvCxnSpPr>
        <p:spPr>
          <a:xfrm>
            <a:off x="5652120" y="3212976"/>
            <a:ext cx="1728192" cy="0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Düz Bağlayıcı 5"/>
          <p:cNvCxnSpPr/>
          <p:nvPr/>
        </p:nvCxnSpPr>
        <p:spPr>
          <a:xfrm>
            <a:off x="5866608" y="3037311"/>
            <a:ext cx="1823248" cy="118377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ol Ok 9"/>
          <p:cNvSpPr/>
          <p:nvPr/>
        </p:nvSpPr>
        <p:spPr>
          <a:xfrm>
            <a:off x="7665538" y="3861048"/>
            <a:ext cx="578870" cy="288031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Metin kutusu 16"/>
          <p:cNvSpPr txBox="1"/>
          <p:nvPr/>
        </p:nvSpPr>
        <p:spPr>
          <a:xfrm>
            <a:off x="8509715" y="3861048"/>
            <a:ext cx="42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D</a:t>
            </a:r>
            <a:endParaRPr lang="en-US" sz="3200" b="1" dirty="0">
              <a:solidFill>
                <a:srgbClr val="8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6859015" y="3861048"/>
            <a:ext cx="521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D’</a:t>
            </a:r>
            <a:endParaRPr lang="en-US" sz="32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8509715" y="1980129"/>
            <a:ext cx="40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S</a:t>
            </a:r>
            <a:endParaRPr lang="en-US" sz="3200" b="1" dirty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  <p:pic>
        <p:nvPicPr>
          <p:cNvPr id="20" name="Resim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672" y="2851238"/>
            <a:ext cx="1813257" cy="4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7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20072" y="235904"/>
            <a:ext cx="3730561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Changes</a:t>
            </a:r>
            <a:r>
              <a:rPr lang="tr-TR" sz="2000" dirty="0">
                <a:latin typeface="Arial Narrow" pitchFamily="34" charset="0"/>
              </a:rPr>
              <a:t> in </a:t>
            </a:r>
            <a:r>
              <a:rPr lang="tr-TR" sz="2000" dirty="0" err="1">
                <a:latin typeface="Arial Narrow" pitchFamily="34" charset="0"/>
              </a:rPr>
              <a:t>Equilibrium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Interest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Rates</a:t>
            </a:r>
            <a:r>
              <a:rPr lang="tr-TR" sz="2000" dirty="0">
                <a:latin typeface="Arial Narrow" pitchFamily="34" charset="0"/>
              </a:rPr>
              <a:t/>
            </a:r>
            <a:br>
              <a:rPr lang="tr-TR" sz="20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Shifts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in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Supply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of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Bonds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235904"/>
            <a:ext cx="4968552" cy="636144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more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profitable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plant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equipment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investments</a:t>
            </a:r>
            <a:endParaRPr lang="tr-TR" sz="14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that</a:t>
            </a:r>
            <a:r>
              <a:rPr lang="tr-TR" sz="1400" dirty="0" smtClean="0">
                <a:latin typeface="Arial Narrow" panose="020B0606020202030204" pitchFamily="34" charset="0"/>
              </a:rPr>
              <a:t> a </a:t>
            </a:r>
            <a:r>
              <a:rPr lang="tr-TR" sz="1400" dirty="0" err="1" smtClean="0">
                <a:latin typeface="Arial Narrow" panose="020B0606020202030204" pitchFamily="34" charset="0"/>
              </a:rPr>
              <a:t>firm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expects</a:t>
            </a:r>
            <a:r>
              <a:rPr lang="tr-TR" sz="1400" dirty="0" smtClean="0">
                <a:latin typeface="Arial Narrow" panose="020B0606020202030204" pitchFamily="34" charset="0"/>
              </a:rPr>
              <a:t> it can </a:t>
            </a:r>
            <a:r>
              <a:rPr lang="tr-TR" sz="1400" dirty="0" err="1" smtClean="0">
                <a:latin typeface="Arial Narrow" panose="020B0606020202030204" pitchFamily="34" charset="0"/>
              </a:rPr>
              <a:t>make</a:t>
            </a:r>
            <a:r>
              <a:rPr lang="tr-TR" sz="14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more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willing</a:t>
            </a:r>
            <a:r>
              <a:rPr lang="tr-TR" sz="1400" dirty="0" smtClean="0">
                <a:latin typeface="Arial Narrow" panose="020B0606020202030204" pitchFamily="34" charset="0"/>
              </a:rPr>
              <a:t> it </a:t>
            </a:r>
            <a:r>
              <a:rPr lang="tr-TR" sz="1400" dirty="0" err="1" smtClean="0">
                <a:latin typeface="Arial Narrow" panose="020B0606020202030204" pitchFamily="34" charset="0"/>
              </a:rPr>
              <a:t>will</a:t>
            </a:r>
            <a:r>
              <a:rPr lang="tr-TR" sz="1400" dirty="0" smtClean="0">
                <a:latin typeface="Arial Narrow" panose="020B0606020202030204" pitchFamily="34" charset="0"/>
              </a:rPr>
              <a:t> be </a:t>
            </a:r>
            <a:r>
              <a:rPr lang="tr-TR" sz="1400" dirty="0" err="1" smtClean="0">
                <a:latin typeface="Arial Narrow" panose="020B0606020202030204" pitchFamily="34" charset="0"/>
              </a:rPr>
              <a:t>to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borrow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for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financing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these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investments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When the economy is growing rapidly</a:t>
            </a:r>
            <a:r>
              <a:rPr lang="tr-TR" sz="1400" noProof="1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investment opportunities that are expected to be profitable abound,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the supply of bonds increases, and the supply curve shifts to the right.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of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bonds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come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down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,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400" dirty="0" err="1" smtClean="0">
                <a:solidFill>
                  <a:srgbClr val="0000FF"/>
                </a:solidFill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rates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go</a:t>
            </a:r>
            <a:r>
              <a:rPr lang="tr-TR" sz="1400" dirty="0">
                <a:solidFill>
                  <a:srgbClr val="0000FF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Arial Narrow" panose="020B0606020202030204" pitchFamily="34" charset="0"/>
              </a:rPr>
              <a:t>up</a:t>
            </a:r>
            <a:r>
              <a:rPr lang="tr-TR" sz="1400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4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>
                <a:latin typeface="Arial Narrow" panose="020B0606020202030204" pitchFamily="34" charset="0"/>
              </a:rPr>
              <a:t>The </a:t>
            </a:r>
            <a:r>
              <a:rPr lang="tr-TR" sz="1400" dirty="0" err="1">
                <a:latin typeface="Arial Narrow" panose="020B0606020202030204" pitchFamily="34" charset="0"/>
              </a:rPr>
              <a:t>real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cost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 smtClean="0">
                <a:latin typeface="Arial Narrow" panose="020B0606020202030204" pitchFamily="34" charset="0"/>
              </a:rPr>
              <a:t>borrowing</a:t>
            </a:r>
            <a:r>
              <a:rPr lang="tr-TR" sz="1400" dirty="0" smtClean="0">
                <a:latin typeface="Arial Narrow" panose="020B0606020202030204" pitchFamily="34" charset="0"/>
              </a:rPr>
              <a:t> is </a:t>
            </a:r>
            <a:r>
              <a:rPr lang="tr-TR" sz="1400" dirty="0" err="1">
                <a:latin typeface="Arial Narrow" panose="020B0606020202030204" pitchFamily="34" charset="0"/>
              </a:rPr>
              <a:t>more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accurately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measured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by</a:t>
            </a:r>
            <a:endParaRPr lang="tr-TR" sz="14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real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interest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smtClean="0">
                <a:latin typeface="Arial Narrow" panose="020B0606020202030204" pitchFamily="34" charset="0"/>
              </a:rPr>
              <a:t>rate,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which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equals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(nominal) </a:t>
            </a:r>
            <a:r>
              <a:rPr lang="tr-TR" sz="1400" dirty="0" err="1">
                <a:latin typeface="Arial Narrow" panose="020B0606020202030204" pitchFamily="34" charset="0"/>
              </a:rPr>
              <a:t>interest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smtClean="0">
                <a:latin typeface="Arial Narrow" panose="020B0606020202030204" pitchFamily="34" charset="0"/>
              </a:rPr>
              <a:t>rate </a:t>
            </a:r>
            <a:r>
              <a:rPr lang="tr-TR" sz="1400" i="1" dirty="0" err="1" smtClean="0">
                <a:latin typeface="Arial Narrow" panose="020B0606020202030204" pitchFamily="34" charset="0"/>
              </a:rPr>
              <a:t>less</a:t>
            </a:r>
            <a:r>
              <a:rPr lang="tr-TR" sz="1400" i="1" dirty="0">
                <a:latin typeface="Arial Narrow" panose="020B0606020202030204" pitchFamily="34" charset="0"/>
              </a:rPr>
              <a:t>*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expected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inflation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smtClean="0">
                <a:latin typeface="Arial Narrow" panose="020B0606020202030204" pitchFamily="34" charset="0"/>
              </a:rPr>
              <a:t>rate.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When </a:t>
            </a:r>
            <a:r>
              <a:rPr lang="tr-TR" sz="1400" noProof="1">
                <a:solidFill>
                  <a:srgbClr val="FF0000"/>
                </a:solidFill>
                <a:latin typeface="Arial Narrow" panose="020B0606020202030204" pitchFamily="34" charset="0"/>
              </a:rPr>
              <a:t>expected inflation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increases</a:t>
            </a:r>
            <a:r>
              <a:rPr lang="tr-TR" sz="1400" noProof="1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the </a:t>
            </a:r>
            <a:r>
              <a:rPr lang="tr-TR" sz="1400" noProof="1">
                <a:latin typeface="Arial Narrow" panose="020B0606020202030204" pitchFamily="34" charset="0"/>
              </a:rPr>
              <a:t>real cost of borrowing </a:t>
            </a:r>
            <a:r>
              <a:rPr lang="tr-TR" sz="1400" noProof="1" smtClean="0">
                <a:latin typeface="Arial Narrow" panose="020B0606020202030204" pitchFamily="34" charset="0"/>
              </a:rPr>
              <a:t>falls;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hence </a:t>
            </a:r>
            <a:r>
              <a:rPr lang="tr-TR" sz="1400" noProof="1">
                <a:latin typeface="Arial Narrow" panose="020B0606020202030204" pitchFamily="34" charset="0"/>
              </a:rPr>
              <a:t>the quantity of bonds supplied </a:t>
            </a:r>
            <a:r>
              <a:rPr lang="tr-TR" sz="1400" noProof="1" smtClean="0">
                <a:latin typeface="Arial Narrow" panose="020B0606020202030204" pitchFamily="34" charset="0"/>
              </a:rPr>
              <a:t>increase at </a:t>
            </a:r>
            <a:r>
              <a:rPr lang="tr-TR" sz="1400" noProof="1">
                <a:latin typeface="Arial Narrow" panose="020B0606020202030204" pitchFamily="34" charset="0"/>
              </a:rPr>
              <a:t>any given bond </a:t>
            </a:r>
            <a:r>
              <a:rPr lang="tr-TR" sz="1400" noProof="1" smtClean="0">
                <a:latin typeface="Arial Narrow" panose="020B0606020202030204" pitchFamily="34" charset="0"/>
              </a:rPr>
              <a:t>price,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i.e</a:t>
            </a:r>
            <a:r>
              <a:rPr lang="tr-TR" sz="1400" noProof="1">
                <a:latin typeface="Arial Narrow" panose="020B0606020202030204" pitchFamily="34" charset="0"/>
              </a:rPr>
              <a:t>. the supply curve shifts to the </a:t>
            </a:r>
            <a:r>
              <a:rPr lang="tr-TR" sz="1400" noProof="1" smtClean="0">
                <a:latin typeface="Arial Narrow" panose="020B0606020202030204" pitchFamily="34" charset="0"/>
              </a:rPr>
              <a:t>right.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>
                <a:latin typeface="Arial Narrow" panose="020B0606020202030204" pitchFamily="34" charset="0"/>
              </a:rPr>
              <a:t>of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come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down</a:t>
            </a:r>
            <a:r>
              <a:rPr lang="tr-TR" sz="1400" dirty="0" smtClean="0">
                <a:latin typeface="Arial Narrow" panose="020B0606020202030204" pitchFamily="34" charset="0"/>
              </a:rPr>
              <a:t>, </a:t>
            </a:r>
            <a:r>
              <a:rPr lang="tr-TR" sz="1400" dirty="0" err="1" smtClean="0">
                <a:latin typeface="Arial Narrow" panose="020B0606020202030204" pitchFamily="34" charset="0"/>
              </a:rPr>
              <a:t>interest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rates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up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  <a:endParaRPr lang="tr-TR" sz="14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Bookman Old Style" panose="02050604050505020204" pitchFamily="18" charset="0"/>
              </a:rPr>
              <a:t> </a:t>
            </a:r>
            <a:endParaRPr lang="tr-TR" sz="1800" noProof="1">
              <a:latin typeface="Bookman Old Style" panose="02050604050505020204" pitchFamily="18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400" noProof="1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Government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issues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finance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government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deficits</a:t>
            </a:r>
            <a:r>
              <a:rPr lang="tr-TR" sz="14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the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gap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between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government’s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expenditures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and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its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revenues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When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these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deficits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large</a:t>
            </a:r>
            <a:r>
              <a:rPr lang="tr-TR" sz="1400" dirty="0"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government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sells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more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bonds</a:t>
            </a:r>
            <a:r>
              <a:rPr lang="tr-TR" sz="14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and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quantity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supplied</a:t>
            </a:r>
            <a:r>
              <a:rPr lang="tr-TR" sz="1400" dirty="0">
                <a:latin typeface="Arial Narrow" panose="020B0606020202030204" pitchFamily="34" charset="0"/>
              </a:rPr>
              <a:t> at </a:t>
            </a:r>
            <a:r>
              <a:rPr lang="tr-TR" sz="1400" dirty="0" err="1">
                <a:latin typeface="Arial Narrow" panose="020B0606020202030204" pitchFamily="34" charset="0"/>
              </a:rPr>
              <a:t>each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bond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price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latin typeface="Arial Narrow" panose="020B0606020202030204" pitchFamily="34" charset="0"/>
              </a:rPr>
              <a:t>increases</a:t>
            </a:r>
            <a:r>
              <a:rPr lang="tr-TR" sz="14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Higher </a:t>
            </a:r>
            <a:r>
              <a:rPr lang="tr-TR" sz="1400" noProof="1">
                <a:solidFill>
                  <a:srgbClr val="FF0000"/>
                </a:solidFill>
                <a:latin typeface="Arial Narrow" panose="020B0606020202030204" pitchFamily="34" charset="0"/>
              </a:rPr>
              <a:t>government </a:t>
            </a:r>
            <a:r>
              <a:rPr lang="tr-TR" sz="14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deficits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400" noProof="1" smtClean="0">
                <a:latin typeface="Arial Narrow" panose="020B0606020202030204" pitchFamily="34" charset="0"/>
              </a:rPr>
              <a:t>increase </a:t>
            </a:r>
            <a:r>
              <a:rPr lang="tr-TR" sz="1400" noProof="1">
                <a:latin typeface="Arial Narrow" panose="020B0606020202030204" pitchFamily="34" charset="0"/>
              </a:rPr>
              <a:t>the supply of bonds and shift the supply curve to the </a:t>
            </a:r>
            <a:r>
              <a:rPr lang="tr-TR" sz="1400" noProof="1" smtClean="0">
                <a:latin typeface="Arial Narrow" panose="020B0606020202030204" pitchFamily="34" charset="0"/>
              </a:rPr>
              <a:t>right.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400" dirty="0" err="1" smtClean="0">
                <a:latin typeface="Arial Narrow" panose="020B0606020202030204" pitchFamily="34" charset="0"/>
              </a:rPr>
              <a:t>Price</a:t>
            </a:r>
            <a:r>
              <a:rPr lang="tr-TR" sz="1400" dirty="0" smtClean="0">
                <a:latin typeface="Arial Narrow" panose="020B0606020202030204" pitchFamily="34" charset="0"/>
              </a:rPr>
              <a:t> </a:t>
            </a:r>
            <a:r>
              <a:rPr lang="tr-TR" sz="1400" dirty="0">
                <a:latin typeface="Arial Narrow" panose="020B0606020202030204" pitchFamily="34" charset="0"/>
              </a:rPr>
              <a:t>of </a:t>
            </a:r>
            <a:r>
              <a:rPr lang="tr-TR" sz="1400" dirty="0" err="1">
                <a:latin typeface="Arial Narrow" panose="020B0606020202030204" pitchFamily="34" charset="0"/>
              </a:rPr>
              <a:t>bonds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come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down</a:t>
            </a:r>
            <a:r>
              <a:rPr lang="tr-TR" sz="1400" dirty="0"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latin typeface="Arial Narrow" panose="020B0606020202030204" pitchFamily="34" charset="0"/>
              </a:rPr>
              <a:t>interest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rates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go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up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484784"/>
            <a:ext cx="3744416" cy="4167065"/>
          </a:xfrm>
          <a:prstGeom prst="rect">
            <a:avLst/>
          </a:prstGeom>
        </p:spPr>
      </p:pic>
      <p:sp>
        <p:nvSpPr>
          <p:cNvPr id="13" name="Metin kutusu 12"/>
          <p:cNvSpPr txBox="1"/>
          <p:nvPr/>
        </p:nvSpPr>
        <p:spPr>
          <a:xfrm>
            <a:off x="5213211" y="1500813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Price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</a:t>
            </a:r>
          </a:p>
          <a:p>
            <a:r>
              <a:rPr lang="tr-T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P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Metin kutusu 13"/>
          <p:cNvSpPr txBox="1"/>
          <p:nvPr/>
        </p:nvSpPr>
        <p:spPr>
          <a:xfrm flipH="1">
            <a:off x="6444208" y="4907296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Quantity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, </a:t>
            </a:r>
            <a:r>
              <a:rPr lang="tr-T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B</a:t>
            </a:r>
            <a:r>
              <a:rPr lang="tr-T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($)</a:t>
            </a: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5" name="Düz Bağlayıcı 14"/>
          <p:cNvCxnSpPr/>
          <p:nvPr/>
        </p:nvCxnSpPr>
        <p:spPr>
          <a:xfrm>
            <a:off x="7365419" y="3429000"/>
            <a:ext cx="14893" cy="1080120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Bağlayıcı 15"/>
          <p:cNvCxnSpPr/>
          <p:nvPr/>
        </p:nvCxnSpPr>
        <p:spPr>
          <a:xfrm>
            <a:off x="5724128" y="3356992"/>
            <a:ext cx="1656184" cy="0"/>
          </a:xfrm>
          <a:prstGeom prst="line">
            <a:avLst/>
          </a:prstGeom>
          <a:ln w="57150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ağ Ok 2"/>
          <p:cNvSpPr/>
          <p:nvPr/>
        </p:nvSpPr>
        <p:spPr>
          <a:xfrm>
            <a:off x="7869475" y="3035088"/>
            <a:ext cx="557150" cy="321904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8" name="Düz Bağlayıcı 7"/>
          <p:cNvCxnSpPr/>
          <p:nvPr/>
        </p:nvCxnSpPr>
        <p:spPr>
          <a:xfrm flipV="1">
            <a:off x="6876256" y="3140968"/>
            <a:ext cx="1864734" cy="1224136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5796136" y="2101617"/>
            <a:ext cx="42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D</a:t>
            </a:r>
            <a:endParaRPr lang="en-US" sz="3200" b="1" dirty="0">
              <a:solidFill>
                <a:srgbClr val="8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8483394" y="2124145"/>
            <a:ext cx="40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S</a:t>
            </a:r>
            <a:endParaRPr lang="en-US" sz="3200" b="1" dirty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8515240" y="3136612"/>
            <a:ext cx="5020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S’</a:t>
            </a:r>
          </a:p>
        </p:txBody>
      </p:sp>
      <p:pic>
        <p:nvPicPr>
          <p:cNvPr id="20" name="Resim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373" y="1700808"/>
            <a:ext cx="1813257" cy="45925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59" y="4123284"/>
            <a:ext cx="3767535" cy="60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2492896"/>
            <a:ext cx="7704856" cy="3024336"/>
          </a:xfrm>
          <a:ln w="254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2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week</a:t>
            </a: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 6</a:t>
            </a:r>
          </a:p>
          <a:p>
            <a:pPr>
              <a:spcBef>
                <a:spcPts val="0"/>
              </a:spcBef>
            </a:pPr>
            <a:endParaRPr lang="tr-TR" sz="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The</a:t>
            </a: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 Risk 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and</a:t>
            </a: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Term</a:t>
            </a: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Structure</a:t>
            </a:r>
            <a:endParaRPr lang="tr-TR" sz="2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of 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Interest</a:t>
            </a: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Rates</a:t>
            </a:r>
            <a:endParaRPr lang="tr-TR" sz="2800" dirty="0" smtClean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z="18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19</a:t>
            </a:fld>
            <a:endParaRPr lang="tr-TR" sz="18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91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87824" y="404664"/>
            <a:ext cx="3456384" cy="101297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smtClean="0">
                <a:latin typeface="Arial Narrow" pitchFamily="34" charset="0"/>
              </a:rPr>
              <a:t>Risk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000" dirty="0" smtClean="0">
                <a:latin typeface="Arial Narrow" pitchFamily="34" charset="0"/>
              </a:rPr>
              <a:t/>
            </a:r>
            <a:br>
              <a:rPr lang="tr-TR" sz="20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Default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Risk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One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attribute</a:t>
            </a:r>
            <a:r>
              <a:rPr lang="tr-TR" sz="1600" dirty="0" smtClean="0">
                <a:latin typeface="Arial Narrow" panose="020B0606020202030204" pitchFamily="34" charset="0"/>
              </a:rPr>
              <a:t> of a </a:t>
            </a:r>
            <a:r>
              <a:rPr lang="tr-TR" sz="1600" dirty="0" err="1" smtClean="0">
                <a:latin typeface="Arial Narrow" panose="020B0606020202030204" pitchFamily="34" charset="0"/>
              </a:rPr>
              <a:t>bond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that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influences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rate is </a:t>
            </a:r>
            <a:r>
              <a:rPr lang="tr-TR" sz="1600" dirty="0" err="1" smtClean="0">
                <a:latin typeface="Arial Narrow" panose="020B0606020202030204" pitchFamily="34" charset="0"/>
              </a:rPr>
              <a:t>its</a:t>
            </a:r>
            <a:r>
              <a:rPr lang="tr-TR" sz="1600" dirty="0" smtClean="0">
                <a:latin typeface="Arial Narrow" panose="020B0606020202030204" pitchFamily="34" charset="0"/>
              </a:rPr>
              <a:t> risk of </a:t>
            </a:r>
            <a:r>
              <a:rPr lang="tr-TR" sz="1600" dirty="0" err="1" smtClean="0">
                <a:latin typeface="Arial Narrow" panose="020B0606020202030204" pitchFamily="34" charset="0"/>
              </a:rPr>
              <a:t>default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occurs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when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issuer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bond</a:t>
            </a:r>
            <a:r>
              <a:rPr lang="tr-TR" sz="1600" dirty="0" smtClean="0">
                <a:latin typeface="Arial Narrow" panose="020B0606020202030204" pitchFamily="34" charset="0"/>
              </a:rPr>
              <a:t> is </a:t>
            </a:r>
            <a:r>
              <a:rPr lang="tr-TR" sz="1600" dirty="0" err="1" smtClean="0">
                <a:latin typeface="Arial Narrow" panose="020B0606020202030204" pitchFamily="34" charset="0"/>
              </a:rPr>
              <a:t>unable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unwilling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make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payments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when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promised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or</a:t>
            </a:r>
            <a:r>
              <a:rPr lang="tr-TR" sz="1600" dirty="0" smtClean="0">
                <a:latin typeface="Arial Narrow" panose="020B0606020202030204" pitchFamily="34" charset="0"/>
              </a:rPr>
              <a:t> pay </a:t>
            </a:r>
            <a:r>
              <a:rPr lang="tr-TR" sz="1600" dirty="0" err="1" smtClean="0">
                <a:latin typeface="Arial Narrow" panose="020B0606020202030204" pitchFamily="34" charset="0"/>
              </a:rPr>
              <a:t>off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face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value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when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matures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Government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have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usually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been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considered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have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no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default</a:t>
            </a:r>
            <a:r>
              <a:rPr lang="tr-TR" sz="1600" dirty="0" smtClean="0">
                <a:latin typeface="Arial Narrow" panose="020B0606020202030204" pitchFamily="34" charset="0"/>
              </a:rPr>
              <a:t> risk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because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government</a:t>
            </a:r>
            <a:r>
              <a:rPr lang="tr-TR" sz="1600" dirty="0" smtClean="0">
                <a:latin typeface="Arial Narrow" panose="020B0606020202030204" pitchFamily="34" charset="0"/>
              </a:rPr>
              <a:t> can </a:t>
            </a:r>
            <a:r>
              <a:rPr lang="tr-TR" sz="1600" dirty="0" err="1" smtClean="0">
                <a:latin typeface="Arial Narrow" panose="020B0606020202030204" pitchFamily="34" charset="0"/>
              </a:rPr>
              <a:t>always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increase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taxes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print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money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pay </a:t>
            </a:r>
            <a:r>
              <a:rPr lang="tr-TR" sz="1600" dirty="0" err="1" smtClean="0">
                <a:latin typeface="Arial Narrow" panose="020B0606020202030204" pitchFamily="34" charset="0"/>
              </a:rPr>
              <a:t>off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obligations</a:t>
            </a:r>
            <a:r>
              <a:rPr lang="tr-TR" sz="1600" dirty="0" smtClean="0">
                <a:latin typeface="Arial Narrow" panose="020B0606020202030204" pitchFamily="34" charset="0"/>
              </a:rPr>
              <a:t>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called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default-free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spread </a:t>
            </a:r>
            <a:r>
              <a:rPr lang="tr-TR" sz="1600" dirty="0" err="1" smtClean="0">
                <a:latin typeface="Arial Narrow" panose="020B0606020202030204" pitchFamily="34" charset="0"/>
              </a:rPr>
              <a:t>between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on </a:t>
            </a:r>
            <a:r>
              <a:rPr lang="tr-TR" sz="1600" dirty="0" err="1" smtClean="0"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default</a:t>
            </a:r>
            <a:r>
              <a:rPr lang="tr-TR" sz="1600" dirty="0" smtClean="0">
                <a:latin typeface="Arial Narrow" panose="020B0606020202030204" pitchFamily="34" charset="0"/>
              </a:rPr>
              <a:t> risk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default-free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both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same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maturity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called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risk </a:t>
            </a:r>
            <a:r>
              <a:rPr lang="tr-TR" sz="1600" dirty="0" err="1" smtClean="0">
                <a:latin typeface="Arial Narrow" panose="020B0606020202030204" pitchFamily="34" charset="0"/>
              </a:rPr>
              <a:t>premium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indicates</a:t>
            </a:r>
            <a:r>
              <a:rPr lang="tr-TR" sz="1600" dirty="0" smtClean="0">
                <a:latin typeface="Arial Narrow" panose="020B0606020202030204" pitchFamily="34" charset="0"/>
              </a:rPr>
              <a:t> how </a:t>
            </a:r>
            <a:r>
              <a:rPr lang="tr-TR" sz="1600" dirty="0" err="1" smtClean="0">
                <a:latin typeface="Arial Narrow" panose="020B0606020202030204" pitchFamily="34" charset="0"/>
              </a:rPr>
              <a:t>much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additional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people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must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earn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be </a:t>
            </a:r>
            <a:r>
              <a:rPr lang="tr-TR" sz="1600" dirty="0" err="1" smtClean="0">
                <a:latin typeface="Arial Narrow" panose="020B0606020202030204" pitchFamily="34" charset="0"/>
              </a:rPr>
              <a:t>willing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hold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that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risky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bond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Purchasers of bonds need to know whether a Corporation is likely to default on its bonds;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information is provided by credit-rating agencies.</a:t>
            </a:r>
          </a:p>
        </p:txBody>
      </p:sp>
    </p:spTree>
    <p:extLst>
      <p:ext uri="{BB962C8B-B14F-4D97-AF65-F5344CB8AC3E}">
        <p14:creationId xmlns:p14="http://schemas.microsoft.com/office/powerpoint/2010/main" val="195709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2098576" cy="200223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smtClean="0">
                <a:latin typeface="Arial Narrow" pitchFamily="34" charset="0"/>
              </a:rPr>
              <a:t>Risk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Bond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Ratings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endParaRPr lang="tr-TR" sz="16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16632"/>
            <a:ext cx="3744416" cy="568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3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3808" y="116632"/>
            <a:ext cx="3456384" cy="99898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Yield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Curve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 </a:t>
            </a:r>
            <a:r>
              <a:rPr lang="tr-TR" sz="1600" dirty="0" err="1" smtClean="0">
                <a:latin typeface="Arial Narrow" panose="020B0606020202030204" pitchFamily="34" charset="0"/>
              </a:rPr>
              <a:t>plot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yields</a:t>
            </a:r>
            <a:r>
              <a:rPr lang="tr-TR" sz="1600" dirty="0" smtClean="0">
                <a:latin typeface="Arial Narrow" panose="020B0606020202030204" pitchFamily="34" charset="0"/>
              </a:rPr>
              <a:t> on </a:t>
            </a:r>
            <a:r>
              <a:rPr lang="tr-TR" sz="1600" dirty="0" err="1" smtClean="0"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differing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terms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maturity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but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same</a:t>
            </a:r>
            <a:r>
              <a:rPr lang="tr-TR" sz="1600" dirty="0" smtClean="0">
                <a:latin typeface="Arial Narrow" panose="020B0606020202030204" pitchFamily="34" charset="0"/>
              </a:rPr>
              <a:t> risk, </a:t>
            </a:r>
            <a:r>
              <a:rPr lang="tr-TR" sz="1600" dirty="0" err="1" smtClean="0">
                <a:latin typeface="Arial Narrow" panose="020B0606020202030204" pitchFamily="34" charset="0"/>
              </a:rPr>
              <a:t>liquidity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tax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considerations</a:t>
            </a:r>
            <a:r>
              <a:rPr lang="tr-TR" sz="1600" dirty="0" smtClean="0">
                <a:latin typeface="Arial Narrow" panose="020B0606020202030204" pitchFamily="34" charset="0"/>
              </a:rPr>
              <a:t> is </a:t>
            </a:r>
            <a:r>
              <a:rPr lang="tr-TR" sz="1600" dirty="0" err="1" smtClean="0">
                <a:latin typeface="Arial Narrow" panose="020B0606020202030204" pitchFamily="34" charset="0"/>
              </a:rPr>
              <a:t>called</a:t>
            </a:r>
            <a:r>
              <a:rPr lang="tr-TR" sz="1600" dirty="0" smtClean="0">
                <a:latin typeface="Arial Narrow" panose="020B0606020202030204" pitchFamily="34" charset="0"/>
              </a:rPr>
              <a:t> a </a:t>
            </a:r>
            <a:r>
              <a:rPr lang="tr-TR" sz="1600" dirty="0" err="1" smtClean="0">
                <a:latin typeface="Arial Narrow" panose="020B0606020202030204" pitchFamily="34" charset="0"/>
              </a:rPr>
              <a:t>yield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curve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it </a:t>
            </a:r>
            <a:r>
              <a:rPr lang="tr-TR" sz="1600" dirty="0" err="1" smtClean="0">
                <a:latin typeface="Arial Narrow" panose="020B0606020202030204" pitchFamily="34" charset="0"/>
              </a:rPr>
              <a:t>describes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term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structure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particular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types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						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	</a:t>
            </a:r>
            <a:r>
              <a:rPr lang="tr-TR" sz="1800" noProof="1" smtClean="0">
                <a:latin typeface="Arial Narrow" panose="020B0606020202030204" pitchFamily="34" charset="0"/>
              </a:rPr>
              <a:t>			</a:t>
            </a:r>
            <a:endParaRPr lang="tr-TR" sz="1600" noProof="1" smtClean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132856"/>
            <a:ext cx="3456384" cy="2880320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1988840"/>
            <a:ext cx="3636404" cy="4104456"/>
          </a:xfrm>
          <a:prstGeom prst="rect">
            <a:avLst/>
          </a:prstGeom>
        </p:spPr>
      </p:pic>
      <p:cxnSp>
        <p:nvCxnSpPr>
          <p:cNvPr id="8" name="Düz Bağlayıcı 7"/>
          <p:cNvCxnSpPr/>
          <p:nvPr/>
        </p:nvCxnSpPr>
        <p:spPr>
          <a:xfrm>
            <a:off x="1043608" y="4437112"/>
            <a:ext cx="748883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Bağlayıcı 8"/>
          <p:cNvCxnSpPr/>
          <p:nvPr/>
        </p:nvCxnSpPr>
        <p:spPr>
          <a:xfrm>
            <a:off x="1043608" y="2636912"/>
            <a:ext cx="748883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etin kutusu 9"/>
          <p:cNvSpPr txBox="1"/>
          <p:nvPr/>
        </p:nvSpPr>
        <p:spPr>
          <a:xfrm>
            <a:off x="8352420" y="2436857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C000"/>
                </a:solidFill>
                <a:latin typeface="Arial Narrow" panose="020B0606020202030204" pitchFamily="34" charset="0"/>
              </a:rPr>
              <a:t>24%</a:t>
            </a:r>
            <a:endParaRPr lang="en-US" sz="2000" dirty="0">
              <a:solidFill>
                <a:srgbClr val="FFC0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Metin kutusu 10"/>
          <p:cNvSpPr txBox="1"/>
          <p:nvPr/>
        </p:nvSpPr>
        <p:spPr>
          <a:xfrm>
            <a:off x="8383672" y="4237057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C000"/>
                </a:solidFill>
                <a:latin typeface="Arial Narrow" panose="020B0606020202030204" pitchFamily="34" charset="0"/>
              </a:rPr>
              <a:t>16%</a:t>
            </a:r>
            <a:endParaRPr lang="en-US" sz="2000" dirty="0">
              <a:solidFill>
                <a:srgbClr val="FFC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3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3808" y="260648"/>
            <a:ext cx="3456384" cy="99898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Yield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Curve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 </a:t>
            </a:r>
            <a:r>
              <a:rPr lang="tr-TR" sz="1800" dirty="0" err="1" smtClean="0">
                <a:latin typeface="Arial Narrow" panose="020B0606020202030204" pitchFamily="34" charset="0"/>
              </a:rPr>
              <a:t>plot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yields</a:t>
            </a:r>
            <a:r>
              <a:rPr lang="tr-TR" sz="1800" dirty="0" smtClean="0">
                <a:latin typeface="Arial Narrow" panose="020B0606020202030204" pitchFamily="34" charset="0"/>
              </a:rPr>
              <a:t> on </a:t>
            </a:r>
            <a:r>
              <a:rPr lang="tr-TR" sz="1800" dirty="0" err="1" smtClean="0">
                <a:latin typeface="Arial Narrow" panose="020B0606020202030204" pitchFamily="34" charset="0"/>
              </a:rPr>
              <a:t>bonds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with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differing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terms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maturity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but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same</a:t>
            </a:r>
            <a:r>
              <a:rPr lang="tr-TR" sz="1800" dirty="0" smtClean="0">
                <a:latin typeface="Arial Narrow" panose="020B0606020202030204" pitchFamily="34" charset="0"/>
              </a:rPr>
              <a:t> risk, </a:t>
            </a:r>
            <a:r>
              <a:rPr lang="tr-TR" sz="1800" dirty="0" err="1" smtClean="0">
                <a:latin typeface="Arial Narrow" panose="020B0606020202030204" pitchFamily="34" charset="0"/>
              </a:rPr>
              <a:t>liquidity</a:t>
            </a:r>
            <a:r>
              <a:rPr lang="tr-TR" sz="1800" dirty="0" smtClean="0">
                <a:latin typeface="Arial Narrow" panose="020B0606020202030204" pitchFamily="34" charset="0"/>
              </a:rPr>
              <a:t>, </a:t>
            </a: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tax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considerations</a:t>
            </a:r>
            <a:r>
              <a:rPr lang="tr-TR" sz="1800" dirty="0" smtClean="0">
                <a:latin typeface="Arial Narrow" panose="020B0606020202030204" pitchFamily="34" charset="0"/>
              </a:rPr>
              <a:t> is </a:t>
            </a:r>
            <a:r>
              <a:rPr lang="tr-TR" sz="1800" dirty="0" err="1" smtClean="0">
                <a:latin typeface="Arial Narrow" panose="020B0606020202030204" pitchFamily="34" charset="0"/>
              </a:rPr>
              <a:t>called</a:t>
            </a:r>
            <a:r>
              <a:rPr lang="tr-TR" sz="1800" dirty="0" smtClean="0">
                <a:latin typeface="Arial Narrow" panose="020B0606020202030204" pitchFamily="34" charset="0"/>
              </a:rPr>
              <a:t> a </a:t>
            </a:r>
            <a:r>
              <a:rPr lang="tr-TR" sz="1800" dirty="0" err="1" smtClean="0">
                <a:latin typeface="Arial Narrow" panose="020B0606020202030204" pitchFamily="34" charset="0"/>
              </a:rPr>
              <a:t>yield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curve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it </a:t>
            </a:r>
            <a:r>
              <a:rPr lang="tr-TR" sz="1800" dirty="0" err="1" smtClean="0">
                <a:latin typeface="Arial Narrow" panose="020B0606020202030204" pitchFamily="34" charset="0"/>
              </a:rPr>
              <a:t>describes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term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structure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interest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rates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particular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types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bonds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						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	</a:t>
            </a:r>
            <a:r>
              <a:rPr lang="tr-TR" sz="1800" noProof="1" smtClean="0">
                <a:latin typeface="Arial Narrow" panose="020B0606020202030204" pitchFamily="34" charset="0"/>
              </a:rPr>
              <a:t>	</a:t>
            </a:r>
            <a:r>
              <a:rPr lang="tr-TR" sz="1600" noProof="1" smtClean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US Yield Curve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6" y="3356992"/>
            <a:ext cx="4248472" cy="2941249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2348880"/>
            <a:ext cx="3931960" cy="3888432"/>
          </a:xfrm>
          <a:prstGeom prst="rect">
            <a:avLst/>
          </a:prstGeom>
        </p:spPr>
      </p:pic>
      <p:cxnSp>
        <p:nvCxnSpPr>
          <p:cNvPr id="8" name="Düz Bağlayıcı 7"/>
          <p:cNvCxnSpPr/>
          <p:nvPr/>
        </p:nvCxnSpPr>
        <p:spPr>
          <a:xfrm>
            <a:off x="928072" y="3429000"/>
            <a:ext cx="782039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Bağlayıcı 8"/>
          <p:cNvCxnSpPr/>
          <p:nvPr/>
        </p:nvCxnSpPr>
        <p:spPr>
          <a:xfrm>
            <a:off x="971600" y="4941168"/>
            <a:ext cx="777686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/>
          <p:cNvSpPr txBox="1"/>
          <p:nvPr/>
        </p:nvSpPr>
        <p:spPr>
          <a:xfrm>
            <a:off x="8619268" y="322193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solidFill>
                  <a:srgbClr val="FFC000"/>
                </a:solidFill>
                <a:latin typeface="Arial Narrow" panose="020B0606020202030204" pitchFamily="34" charset="0"/>
              </a:rPr>
              <a:t>3</a:t>
            </a:r>
            <a:r>
              <a:rPr lang="tr-TR" sz="2000" dirty="0" smtClean="0">
                <a:solidFill>
                  <a:srgbClr val="FFC000"/>
                </a:solidFill>
                <a:latin typeface="Arial Narrow" panose="020B0606020202030204" pitchFamily="34" charset="0"/>
              </a:rPr>
              <a:t>%</a:t>
            </a:r>
            <a:endParaRPr lang="en-US" sz="2000" dirty="0">
              <a:solidFill>
                <a:srgbClr val="FFC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8503846" y="4729623"/>
            <a:ext cx="66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C000"/>
                </a:solidFill>
                <a:latin typeface="Arial Narrow" panose="020B0606020202030204" pitchFamily="34" charset="0"/>
              </a:rPr>
              <a:t>1.5%</a:t>
            </a:r>
            <a:endParaRPr lang="en-US" sz="2000" dirty="0">
              <a:solidFill>
                <a:srgbClr val="FFC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26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Term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Structure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of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Interest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1800" dirty="0" err="1" smtClean="0">
                <a:latin typeface="Arial Narrow" pitchFamily="34" charset="0"/>
              </a:rPr>
              <a:t>Movements</a:t>
            </a:r>
            <a:r>
              <a:rPr lang="tr-TR" sz="1800" dirty="0" smtClean="0">
                <a:latin typeface="Arial Narrow" pitchFamily="34" charset="0"/>
              </a:rPr>
              <a:t> </a:t>
            </a:r>
            <a:r>
              <a:rPr lang="tr-TR" sz="1800" dirty="0" err="1" smtClean="0">
                <a:latin typeface="Arial Narrow" pitchFamily="34" charset="0"/>
              </a:rPr>
              <a:t>over</a:t>
            </a:r>
            <a:r>
              <a:rPr lang="tr-TR" sz="1800" dirty="0" smtClean="0">
                <a:latin typeface="Arial Narrow" pitchFamily="34" charset="0"/>
              </a:rPr>
              <a:t> Time of </a:t>
            </a:r>
            <a:r>
              <a:rPr lang="tr-TR" sz="1800" dirty="0" err="1" smtClean="0">
                <a:latin typeface="Arial Narrow" pitchFamily="34" charset="0"/>
              </a:rPr>
              <a:t>Interest</a:t>
            </a:r>
            <a:r>
              <a:rPr lang="tr-TR" sz="1800" dirty="0" smtClean="0">
                <a:latin typeface="Arial Narrow" pitchFamily="34" charset="0"/>
              </a:rPr>
              <a:t> </a:t>
            </a:r>
            <a:r>
              <a:rPr lang="tr-TR" sz="1800" dirty="0" err="1" smtClean="0">
                <a:latin typeface="Arial Narrow" pitchFamily="34" charset="0"/>
              </a:rPr>
              <a:t>Rates</a:t>
            </a:r>
            <a:r>
              <a:rPr lang="tr-TR" sz="1800" dirty="0" smtClean="0">
                <a:latin typeface="Arial Narrow" pitchFamily="34" charset="0"/>
              </a:rPr>
              <a:t> on US </a:t>
            </a:r>
            <a:r>
              <a:rPr lang="tr-TR" sz="1800" dirty="0" err="1" smtClean="0">
                <a:latin typeface="Arial Narrow" pitchFamily="34" charset="0"/>
              </a:rPr>
              <a:t>Government</a:t>
            </a:r>
            <a:r>
              <a:rPr lang="tr-TR" sz="1800" dirty="0" smtClean="0">
                <a:latin typeface="Arial Narrow" pitchFamily="34" charset="0"/>
              </a:rPr>
              <a:t> </a:t>
            </a:r>
            <a:r>
              <a:rPr lang="tr-TR" sz="1800" dirty="0" err="1" smtClean="0">
                <a:latin typeface="Arial Narrow" pitchFamily="34" charset="0"/>
              </a:rPr>
              <a:t>Bonds</a:t>
            </a:r>
            <a:r>
              <a:rPr lang="tr-TR" sz="1800" dirty="0" smtClean="0">
                <a:latin typeface="Arial Narrow" pitchFamily="34" charset="0"/>
              </a:rPr>
              <a:t> </a:t>
            </a:r>
            <a:r>
              <a:rPr lang="tr-TR" sz="1800" dirty="0" err="1" smtClean="0">
                <a:latin typeface="Arial Narrow" pitchFamily="34" charset="0"/>
              </a:rPr>
              <a:t>with</a:t>
            </a:r>
            <a:r>
              <a:rPr lang="tr-TR" sz="1800" dirty="0" smtClean="0">
                <a:latin typeface="Arial Narrow" pitchFamily="34" charset="0"/>
              </a:rPr>
              <a:t> </a:t>
            </a:r>
            <a:r>
              <a:rPr lang="tr-TR" sz="1800" dirty="0" err="1" smtClean="0">
                <a:latin typeface="Arial Narrow" pitchFamily="34" charset="0"/>
              </a:rPr>
              <a:t>Different</a:t>
            </a:r>
            <a:r>
              <a:rPr lang="tr-TR" sz="1800" dirty="0" smtClean="0">
                <a:latin typeface="Arial Narrow" pitchFamily="34" charset="0"/>
              </a:rPr>
              <a:t> </a:t>
            </a:r>
            <a:r>
              <a:rPr lang="tr-TR" sz="1800" dirty="0" err="1" smtClean="0">
                <a:latin typeface="Arial Narrow" pitchFamily="34" charset="0"/>
              </a:rPr>
              <a:t>Maturities</a:t>
            </a:r>
            <a:endParaRPr lang="tr-TR" sz="1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endParaRPr lang="tr-TR" sz="1600" noProof="1" smtClean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415777"/>
            <a:ext cx="8229601" cy="492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3808" y="260648"/>
            <a:ext cx="3456384" cy="994122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Yield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Curve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plot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yields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>
                <a:latin typeface="Arial Narrow" panose="020B0606020202030204" pitchFamily="34" charset="0"/>
              </a:rPr>
              <a:t>bonds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with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differing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terms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maturity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but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same</a:t>
            </a:r>
            <a:r>
              <a:rPr lang="tr-TR" sz="1600" dirty="0">
                <a:latin typeface="Arial Narrow" panose="020B0606020202030204" pitchFamily="34" charset="0"/>
              </a:rPr>
              <a:t> risk, </a:t>
            </a:r>
            <a:r>
              <a:rPr lang="tr-TR" sz="1600" dirty="0" err="1">
                <a:latin typeface="Arial Narrow" panose="020B0606020202030204" pitchFamily="34" charset="0"/>
              </a:rPr>
              <a:t>liquidity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tax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considerations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called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yield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curve</a:t>
            </a:r>
            <a:r>
              <a:rPr lang="tr-TR" sz="1600" dirty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it </a:t>
            </a:r>
            <a:r>
              <a:rPr lang="tr-TR" sz="1600" dirty="0" err="1">
                <a:latin typeface="Arial Narrow" panose="020B0606020202030204" pitchFamily="34" charset="0"/>
              </a:rPr>
              <a:t>describes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term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structure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interest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rates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particular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types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bonds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Three </a:t>
            </a:r>
            <a:r>
              <a:rPr lang="tr-TR" sz="1600" dirty="0" err="1" smtClean="0">
                <a:latin typeface="Arial Narrow" panose="020B0606020202030204" pitchFamily="34" charset="0"/>
              </a:rPr>
              <a:t>empirical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facts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about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term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structure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on </a:t>
            </a:r>
            <a:r>
              <a:rPr lang="tr-TR" sz="1600" dirty="0" err="1" smtClean="0">
                <a:latin typeface="Arial Narrow" panose="020B0606020202030204" pitchFamily="34" charset="0"/>
              </a:rPr>
              <a:t>bonds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different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maturities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together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over</a:t>
            </a:r>
            <a:r>
              <a:rPr lang="tr-TR" sz="1600" dirty="0" smtClean="0">
                <a:latin typeface="Arial Narrow" panose="020B0606020202030204" pitchFamily="34" charset="0"/>
              </a:rPr>
              <a:t> time.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 smtClean="0">
                <a:latin typeface="Arial Narrow" panose="020B0606020202030204" pitchFamily="34" charset="0"/>
              </a:rPr>
              <a:t>When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short-term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low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yield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curves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likely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have</a:t>
            </a:r>
            <a:r>
              <a:rPr lang="tr-TR" sz="1600" dirty="0" smtClean="0">
                <a:latin typeface="Arial Narrow" panose="020B0606020202030204" pitchFamily="34" charset="0"/>
              </a:rPr>
              <a:t> an </a:t>
            </a:r>
            <a:r>
              <a:rPr lang="tr-TR" sz="1600" dirty="0" err="1" smtClean="0">
                <a:latin typeface="Arial Narrow" panose="020B0606020202030204" pitchFamily="34" charset="0"/>
              </a:rPr>
              <a:t>upward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slope</a:t>
            </a:r>
            <a:r>
              <a:rPr lang="tr-TR" sz="1600" dirty="0" smtClean="0">
                <a:latin typeface="Arial Narrow" panose="020B0606020202030204" pitchFamily="34" charset="0"/>
              </a:rPr>
              <a:t>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when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short-term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high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yield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curves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likely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slope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downward</a:t>
            </a:r>
            <a:r>
              <a:rPr lang="tr-TR" sz="1600" dirty="0" smtClean="0">
                <a:latin typeface="Arial Narrow" panose="020B0606020202030204" pitchFamily="34" charset="0"/>
              </a:rPr>
              <a:t> (</a:t>
            </a:r>
            <a:r>
              <a:rPr lang="tr-TR" sz="1600" dirty="0" err="1" smtClean="0">
                <a:latin typeface="Arial Narrow" panose="020B0606020202030204" pitchFamily="34" charset="0"/>
              </a:rPr>
              <a:t>i.e</a:t>
            </a:r>
            <a:r>
              <a:rPr lang="tr-TR" sz="1600" dirty="0" smtClean="0">
                <a:latin typeface="Arial Narrow" panose="020B0606020202030204" pitchFamily="34" charset="0"/>
              </a:rPr>
              <a:t>. </a:t>
            </a:r>
            <a:r>
              <a:rPr lang="tr-TR" sz="1600" dirty="0" err="1">
                <a:latin typeface="Arial Narrow" panose="020B0606020202030204" pitchFamily="34" charset="0"/>
              </a:rPr>
              <a:t>i</a:t>
            </a:r>
            <a:r>
              <a:rPr lang="tr-TR" sz="1600" dirty="0" err="1" smtClean="0">
                <a:latin typeface="Arial Narrow" panose="020B0606020202030204" pitchFamily="34" charset="0"/>
              </a:rPr>
              <a:t>nverted</a:t>
            </a:r>
            <a:r>
              <a:rPr lang="tr-TR" sz="1600" dirty="0" smtClean="0">
                <a:latin typeface="Arial Narrow" panose="020B0606020202030204" pitchFamily="34" charset="0"/>
              </a:rPr>
              <a:t>).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 smtClean="0">
                <a:latin typeface="Arial Narrow" panose="020B0606020202030204" pitchFamily="34" charset="0"/>
              </a:rPr>
              <a:t>Yield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curves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almost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always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slope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upward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Three </a:t>
            </a:r>
            <a:r>
              <a:rPr lang="tr-TR" sz="1600" dirty="0" err="1" smtClean="0">
                <a:latin typeface="Arial Narrow" panose="020B0606020202030204" pitchFamily="34" charset="0"/>
              </a:rPr>
              <a:t>theories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have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been</a:t>
            </a:r>
            <a:r>
              <a:rPr lang="tr-TR" sz="1600" dirty="0" smtClean="0">
                <a:latin typeface="Arial Narrow" panose="020B0606020202030204" pitchFamily="34" charset="0"/>
              </a:rPr>
              <a:t> put </a:t>
            </a:r>
            <a:r>
              <a:rPr lang="tr-TR" sz="1600" dirty="0" err="1" smtClean="0">
                <a:latin typeface="Arial Narrow" panose="020B0606020202030204" pitchFamily="34" charset="0"/>
              </a:rPr>
              <a:t>forward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explain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term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structure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i.e. shapes of yield curves:</a:t>
            </a:r>
          </a:p>
          <a:p>
            <a:pPr lvl="6">
              <a:spcBef>
                <a:spcPts val="0"/>
              </a:spcBef>
            </a:pPr>
            <a:r>
              <a:rPr lang="tr-TR" sz="1600" noProof="1" smtClean="0">
                <a:latin typeface="Arial Narrow" panose="020B0606020202030204" pitchFamily="34" charset="0"/>
              </a:rPr>
              <a:t>The Expectations theory</a:t>
            </a:r>
          </a:p>
          <a:p>
            <a:pPr lvl="6">
              <a:spcBef>
                <a:spcPts val="0"/>
              </a:spcBef>
            </a:pPr>
            <a:r>
              <a:rPr lang="tr-TR" sz="1600" noProof="1" smtClean="0">
                <a:latin typeface="Arial Narrow" panose="020B0606020202030204" pitchFamily="34" charset="0"/>
              </a:rPr>
              <a:t>The Segmented </a:t>
            </a:r>
            <a:r>
              <a:rPr lang="tr-TR" sz="1600" noProof="1">
                <a:latin typeface="Arial Narrow" panose="020B0606020202030204" pitchFamily="34" charset="0"/>
              </a:rPr>
              <a:t>M</a:t>
            </a:r>
            <a:r>
              <a:rPr lang="tr-TR" sz="1600" noProof="1" smtClean="0">
                <a:latin typeface="Arial Narrow" panose="020B0606020202030204" pitchFamily="34" charset="0"/>
              </a:rPr>
              <a:t>arkets theory</a:t>
            </a:r>
          </a:p>
          <a:p>
            <a:pPr lvl="6">
              <a:spcBef>
                <a:spcPts val="0"/>
              </a:spcBef>
            </a:pPr>
            <a:r>
              <a:rPr lang="tr-TR" sz="1600" noProof="1" smtClean="0">
                <a:latin typeface="Arial Narrow" panose="020B0606020202030204" pitchFamily="34" charset="0"/>
              </a:rPr>
              <a:t>The Liquidity Premium theory</a:t>
            </a:r>
          </a:p>
        </p:txBody>
      </p:sp>
    </p:spTree>
    <p:extLst>
      <p:ext uri="{BB962C8B-B14F-4D97-AF65-F5344CB8AC3E}">
        <p14:creationId xmlns:p14="http://schemas.microsoft.com/office/powerpoint/2010/main" val="406562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15816" y="274638"/>
            <a:ext cx="3483074" cy="106613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Expectations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Theory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″The interest rate on a long-term bond will equal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 average of the short-term interest rates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that people expect to occur over the life of the long-term bond.″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For a 5-year bond, the yield formulation would be as follows: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24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When the yield curve is upward-sloping,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expectations theory suggests that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short-term interest rates are expected to rise in the future.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2924944"/>
            <a:ext cx="3987130" cy="804742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2627784" y="3068960"/>
            <a:ext cx="21602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3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60648"/>
            <a:ext cx="3672408" cy="994122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Expectations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Theory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7503" y="1340768"/>
            <a:ext cx="4032449" cy="540060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If expectation of annual interest rates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for the next 5 years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is as follows,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what would be the yield curve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according to the expectations theory?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401695"/>
            <a:ext cx="3672408" cy="1601623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464" y="1124744"/>
            <a:ext cx="4385999" cy="525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15816" y="274638"/>
            <a:ext cx="3456384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Segmented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Theory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segmented markets theory of the term structure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sees markets for different-maturity bonds as completely separate and segmented.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interest rate for each bond with a different maturity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is then determined by the supply and demand for that bond,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with no effects from expected returns on other bonds with other maturities.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theory of the term structure is at the opposite extreme to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expectations theory, which assumes that bonds of different maturities are perfect substitutes.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According to the segmented market theory,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risk averse investors generally prefer bonds with shorter maturities that have less interest-rate risk,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demand for long-term bonds is relatively lower than that for short-term bonds;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long-term bonds will have lower prices and higher interest rates,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hence the yield curve will typically slope upwards.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However, the segmented market theory fails to explain the other two empirical facts about yield curves: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tr-TR" sz="1600" dirty="0" err="1">
                <a:latin typeface="Arial Narrow" panose="020B0606020202030204" pitchFamily="34" charset="0"/>
              </a:rPr>
              <a:t>Interest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rates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>
                <a:latin typeface="Arial Narrow" panose="020B0606020202030204" pitchFamily="34" charset="0"/>
              </a:rPr>
              <a:t>bonds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different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maturities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together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over</a:t>
            </a:r>
            <a:r>
              <a:rPr lang="tr-TR" sz="1600" dirty="0">
                <a:latin typeface="Arial Narrow" panose="020B0606020202030204" pitchFamily="34" charset="0"/>
              </a:rPr>
              <a:t> time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algn="ctr">
              <a:spcBef>
                <a:spcPts val="0"/>
              </a:spcBef>
            </a:pPr>
            <a:endParaRPr lang="tr-TR" sz="400" dirty="0">
              <a:latin typeface="Arial Narrow" panose="020B060602020203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tr-TR" sz="1600" dirty="0" err="1">
                <a:latin typeface="Arial Narrow" panose="020B0606020202030204" pitchFamily="34" charset="0"/>
              </a:rPr>
              <a:t>When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short-term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interest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rates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low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yield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curves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likely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have</a:t>
            </a:r>
            <a:r>
              <a:rPr lang="tr-TR" sz="1600" dirty="0">
                <a:latin typeface="Arial Narrow" panose="020B0606020202030204" pitchFamily="34" charset="0"/>
              </a:rPr>
              <a:t> an </a:t>
            </a:r>
            <a:r>
              <a:rPr lang="tr-TR" sz="1600" dirty="0" err="1">
                <a:latin typeface="Arial Narrow" panose="020B0606020202030204" pitchFamily="34" charset="0"/>
              </a:rPr>
              <a:t>upward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slope</a:t>
            </a:r>
            <a:r>
              <a:rPr lang="tr-TR" sz="1600" dirty="0">
                <a:latin typeface="Arial Narrow" panose="020B0606020202030204" pitchFamily="34" charset="0"/>
              </a:rPr>
              <a:t>;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when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short-term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interest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rates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high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yield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curves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likely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slope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downward</a:t>
            </a:r>
            <a:r>
              <a:rPr lang="tr-TR" sz="1600" dirty="0"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latin typeface="Arial Narrow" panose="020B0606020202030204" pitchFamily="34" charset="0"/>
              </a:rPr>
              <a:t>i.e</a:t>
            </a:r>
            <a:r>
              <a:rPr lang="tr-TR" sz="1600" dirty="0">
                <a:latin typeface="Arial Narrow" panose="020B0606020202030204" pitchFamily="34" charset="0"/>
              </a:rPr>
              <a:t>. </a:t>
            </a:r>
            <a:r>
              <a:rPr lang="tr-TR" sz="1600" dirty="0" err="1">
                <a:latin typeface="Arial Narrow" panose="020B0606020202030204" pitchFamily="34" charset="0"/>
              </a:rPr>
              <a:t>inverted</a:t>
            </a:r>
            <a:r>
              <a:rPr lang="tr-TR" sz="1600" dirty="0">
                <a:latin typeface="Arial Narrow" panose="020B0606020202030204" pitchFamily="34" charset="0"/>
              </a:rPr>
              <a:t>).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75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71800" y="274638"/>
            <a:ext cx="3456384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000" dirty="0" smtClean="0">
                <a:latin typeface="Arial Narrow" pitchFamily="34" charset="0"/>
              </a:rPr>
              <a:t/>
            </a:r>
            <a:br>
              <a:rPr lang="tr-TR" sz="20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Liquidity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Premium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Theory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This theory states that the interest rate on a long-term bond will </a:t>
            </a:r>
            <a:r>
              <a:rPr lang="tr-TR" sz="1800" noProof="1" smtClean="0">
                <a:latin typeface="Arial Narrow" panose="020B0606020202030204" pitchFamily="34" charset="0"/>
              </a:rPr>
              <a:t>equal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 </a:t>
            </a:r>
            <a:r>
              <a:rPr lang="tr-TR" sz="1800" noProof="1">
                <a:latin typeface="Arial Narrow" panose="020B0606020202030204" pitchFamily="34" charset="0"/>
              </a:rPr>
              <a:t>average of short-term interest rates expected to occur over the life of the long-term </a:t>
            </a:r>
            <a:r>
              <a:rPr lang="tr-TR" sz="1800" noProof="1" smtClean="0">
                <a:latin typeface="Arial Narrow" panose="020B0606020202030204" pitchFamily="34" charset="0"/>
              </a:rPr>
              <a:t>bond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(as </a:t>
            </a:r>
            <a:r>
              <a:rPr lang="tr-TR" sz="1800" noProof="1">
                <a:latin typeface="Arial Narrow" panose="020B0606020202030204" pitchFamily="34" charset="0"/>
              </a:rPr>
              <a:t>in the Expectations theory)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plus a liquidity premium (also referred to as term premium)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that responds to supply and demand conditions for that bond.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Bonds of different maturities are assumed to be substitutes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but not perfect substitutes.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Investors tend to prefer short-term bonds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because these bonds bear less interest-rate risk.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For these reasons,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investors must be offered a positive liquidity premium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induce them to hold longer-term bonds.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3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3527" y="404664"/>
            <a:ext cx="1872209" cy="2448272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Liquidity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Premium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Theory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23527" y="2852936"/>
            <a:ext cx="1872209" cy="3744416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Because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liquidity premium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is always positive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grows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the term to maturity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increases,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yield curve implied by the liquidity premium theory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is always above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yield curve implied by the expectations theory and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has a steeper slope.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482" y="389817"/>
            <a:ext cx="6468981" cy="61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4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523934"/>
            <a:ext cx="1234479" cy="5882347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Term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Structure</a:t>
            </a:r>
            <a:r>
              <a:rPr lang="tr-TR" sz="2000" dirty="0" smtClean="0">
                <a:latin typeface="Arial Narrow" pitchFamily="34" charset="0"/>
              </a:rPr>
              <a:t> of </a:t>
            </a: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Rates</a:t>
            </a:r>
            <a:r>
              <a:rPr lang="tr-TR" sz="2000" dirty="0" smtClean="0">
                <a:latin typeface="Arial Narrow" pitchFamily="34" charset="0"/>
              </a:rPr>
              <a:t/>
            </a:r>
            <a:br>
              <a:rPr lang="tr-TR" sz="2000" dirty="0" smtClean="0">
                <a:latin typeface="Arial Narrow" pitchFamily="34" charset="0"/>
              </a:rPr>
            </a:br>
            <a:r>
              <a:rPr lang="tr-TR" sz="2000" dirty="0" smtClean="0">
                <a:latin typeface="Arial Narrow" pitchFamily="34" charset="0"/>
              </a:rPr>
              <a:t/>
            </a:r>
            <a:br>
              <a:rPr lang="tr-TR" sz="20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Liquidity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Premium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Theory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8834" y="1600200"/>
            <a:ext cx="7307966" cy="506916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  <a:endParaRPr lang="tr-TR" sz="1600" noProof="1" smtClean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706" y="523963"/>
            <a:ext cx="7615576" cy="588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3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8645</TotalTime>
  <Words>2536</Words>
  <Application>Microsoft Office PowerPoint</Application>
  <PresentationFormat>Ekran Gösterisi (4:3)</PresentationFormat>
  <Paragraphs>402</Paragraphs>
  <Slides>31</Slides>
  <Notes>31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31</vt:i4>
      </vt:variant>
    </vt:vector>
  </HeadingPairs>
  <TitlesOfParts>
    <vt:vector size="37" baseType="lpstr">
      <vt:lpstr>Arial</vt:lpstr>
      <vt:lpstr>Arial Narrow</vt:lpstr>
      <vt:lpstr>Bookman Old Style</vt:lpstr>
      <vt:lpstr>Calibri</vt:lpstr>
      <vt:lpstr>Cambria Math</vt:lpstr>
      <vt:lpstr>Office Theme</vt:lpstr>
      <vt:lpstr> </vt:lpstr>
      <vt:lpstr>NTE 1010 – Introduction to Finance for Engineers Interest Rates Present Value</vt:lpstr>
      <vt:lpstr>NTE 1010 – Introduction to Finance for Engineers Interest Rates Present Value</vt:lpstr>
      <vt:lpstr>NTE 1010 – Introduction to Finance for Engineers Interest Rates Yield to Maturity</vt:lpstr>
      <vt:lpstr>NTE 1010 – Introduction to Finance for Engineers Yield to Maturity Effective Cost of a Corporate Bond</vt:lpstr>
      <vt:lpstr>NTE 1010 – Introduction to Finance for Engineers Yield to Maturity Effective Cost of a Corporate Bond</vt:lpstr>
      <vt:lpstr>NTE 1010 – Introduction to Finance for Engineers Compound Interest</vt:lpstr>
      <vt:lpstr>NTE 1010 – Introduction to Finance for Engineers Interest Rates Real versus Nominal Interest Rate</vt:lpstr>
      <vt:lpstr>NTE 1010 – Introduction to Finance for Engineers Effective Cost of a Bank Borrowing which is paid back in equal installments</vt:lpstr>
      <vt:lpstr>NTE 1010 – Introduction to Finance for Engineers Interest Rates Interest-Rate Risk</vt:lpstr>
      <vt:lpstr>NTE 1010 – Introduction to Finance for Engineers Interest Rates Interest-Rate Risk</vt:lpstr>
      <vt:lpstr> </vt:lpstr>
      <vt:lpstr>NTE 1010 – Introduction to Finance for Engineers Behavior of Interest Rates Asset Price – Yield to Maturity Relationship</vt:lpstr>
      <vt:lpstr>NTE 1010 – Introduction to Finance for Engineers Behavior of Interest Rates Determinants of Asset Demand</vt:lpstr>
      <vt:lpstr>NTE 1010 – Introduction to Finance for Engineers Behavior of Interest Rates Supply and Demand in the Bond Market</vt:lpstr>
      <vt:lpstr>NTE 1010 – Introduction to Finance for Engineers Changes in Equilibrium Interest Rates Shifts in Demand for Bonds</vt:lpstr>
      <vt:lpstr>NTE 1010 – Introduction to Finance for Engineers Changes in Equilibrium Interest Rates Shifts in Demand for Bonds</vt:lpstr>
      <vt:lpstr>NTE 1010 – Introduction to Finance for Engineers Changes in Equilibrium Interest Rates Shifts in Supply of Bonds</vt:lpstr>
      <vt:lpstr> </vt:lpstr>
      <vt:lpstr>NTE 1010 – Introduction to Finance for Engineers Risk Structure of Interest Rates Default Risk</vt:lpstr>
      <vt:lpstr>NTE 1010 – Introduction to Finance for Engineers Risk Structure of Interest Rates Bond Ratings</vt:lpstr>
      <vt:lpstr>NTE 1010 – Introduction to Finance for Engineers Term Structure of Interest Rates Yield Curve</vt:lpstr>
      <vt:lpstr>NTE 1010 – Introduction to Finance for Engineers Term Structure of Interest Rates Yield Curve</vt:lpstr>
      <vt:lpstr>NTE 1010 – Introduction to Finance for Engineers Term Structure of Interest Rates Movements over Time of Interest Rates on US Government Bonds with Different Maturities</vt:lpstr>
      <vt:lpstr>NTE 1010 – Introduction to Finance for Engineers Term Structure of Interest Rates Yield Curve</vt:lpstr>
      <vt:lpstr>NTE 1010 – Introduction to Finance for Engineers Term Structure of Interest Rates Expectations Theory</vt:lpstr>
      <vt:lpstr>NTE 1010 – Introduction to Finance for Engineers Term Structure of Interest Rates Expectations Theory</vt:lpstr>
      <vt:lpstr>NTE 1010 – Introduction to Finance for Engineers Term Structure of Interest Rates Segmented Markets Theory</vt:lpstr>
      <vt:lpstr>NTE 1010 – Introduction to Finance for Engineers Term Structure of Interest Rates Liquidity Premium Theory</vt:lpstr>
      <vt:lpstr>NTE 1010 – Introduction to Finance for Engineers Term Structure of Interest Rates Liquidity Premium Theory</vt:lpstr>
      <vt:lpstr>NTE 1010 – Introduction to Finance for Engineers  Term Structure of Interest Rates  Liquidity Premium Theory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599</cp:revision>
  <cp:lastPrinted>2020-03-21T13:27:01Z</cp:lastPrinted>
  <dcterms:created xsi:type="dcterms:W3CDTF">2015-11-30T12:51:35Z</dcterms:created>
  <dcterms:modified xsi:type="dcterms:W3CDTF">2020-03-21T13:27:54Z</dcterms:modified>
  <dc:description/>
</cp:coreProperties>
</file>