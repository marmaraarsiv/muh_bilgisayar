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565" r:id="rId2"/>
    <p:sldId id="628" r:id="rId3"/>
    <p:sldId id="629" r:id="rId4"/>
    <p:sldId id="630" r:id="rId5"/>
    <p:sldId id="631" r:id="rId6"/>
    <p:sldId id="632" r:id="rId7"/>
    <p:sldId id="633" r:id="rId8"/>
    <p:sldId id="650" r:id="rId9"/>
    <p:sldId id="636" r:id="rId10"/>
    <p:sldId id="637" r:id="rId11"/>
    <p:sldId id="638" r:id="rId12"/>
    <p:sldId id="639" r:id="rId13"/>
    <p:sldId id="654" r:id="rId14"/>
    <p:sldId id="641" r:id="rId15"/>
  </p:sldIdLst>
  <p:sldSz cx="9144000" cy="6858000" type="screen4x3"/>
  <p:notesSz cx="6858000" cy="9313863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800000"/>
    <a:srgbClr val="0000FF"/>
    <a:srgbClr val="FF00FF"/>
    <a:srgbClr val="FF6600"/>
    <a:srgbClr val="0000CC"/>
    <a:srgbClr val="FFFFFF"/>
    <a:srgbClr val="3333CC"/>
    <a:srgbClr val="FF9900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2" autoAdjust="0"/>
  </p:normalViewPr>
  <p:slideViewPr>
    <p:cSldViewPr>
      <p:cViewPr varScale="1">
        <p:scale>
          <a:sx n="74" d="100"/>
          <a:sy n="74" d="100"/>
        </p:scale>
        <p:origin x="1084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71983" cy="465694"/>
          </a:xfrm>
          <a:prstGeom prst="rect">
            <a:avLst/>
          </a:prstGeom>
        </p:spPr>
        <p:txBody>
          <a:bodyPr vert="horz" lIns="91111" tIns="45555" rIns="91111" bIns="45555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924" y="1"/>
            <a:ext cx="2971982" cy="465694"/>
          </a:xfrm>
          <a:prstGeom prst="rect">
            <a:avLst/>
          </a:prstGeom>
        </p:spPr>
        <p:txBody>
          <a:bodyPr vert="horz" lIns="91111" tIns="45555" rIns="91111" bIns="45555" rtlCol="0"/>
          <a:lstStyle>
            <a:lvl1pPr algn="r">
              <a:defRPr sz="1200"/>
            </a:lvl1pPr>
          </a:lstStyle>
          <a:p>
            <a:fld id="{41DD2113-24C6-4329-AB40-201D9F0A72C4}" type="datetimeFigureOut">
              <a:rPr lang="tr-TR" smtClean="0"/>
              <a:t>17.04.2020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46015"/>
            <a:ext cx="2971983" cy="465694"/>
          </a:xfrm>
          <a:prstGeom prst="rect">
            <a:avLst/>
          </a:prstGeom>
        </p:spPr>
        <p:txBody>
          <a:bodyPr vert="horz" lIns="91111" tIns="45555" rIns="91111" bIns="45555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924" y="8846015"/>
            <a:ext cx="2971982" cy="465694"/>
          </a:xfrm>
          <a:prstGeom prst="rect">
            <a:avLst/>
          </a:prstGeom>
        </p:spPr>
        <p:txBody>
          <a:bodyPr vert="horz" lIns="91111" tIns="45555" rIns="91111" bIns="45555" rtlCol="0" anchor="b"/>
          <a:lstStyle>
            <a:lvl1pPr algn="r">
              <a:defRPr sz="1200"/>
            </a:lvl1pPr>
          </a:lstStyle>
          <a:p>
            <a:fld id="{7F4D469E-94F5-4441-A8A1-33E94B5433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919393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71801" cy="465694"/>
          </a:xfrm>
          <a:prstGeom prst="rect">
            <a:avLst/>
          </a:prstGeom>
        </p:spPr>
        <p:txBody>
          <a:bodyPr vert="horz" lIns="91111" tIns="45555" rIns="91111" bIns="45555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4" y="1"/>
            <a:ext cx="2971801" cy="465694"/>
          </a:xfrm>
          <a:prstGeom prst="rect">
            <a:avLst/>
          </a:prstGeom>
        </p:spPr>
        <p:txBody>
          <a:bodyPr vert="horz" lIns="91111" tIns="45555" rIns="91111" bIns="45555" rtlCol="0"/>
          <a:lstStyle>
            <a:lvl1pPr algn="r">
              <a:defRPr sz="1200"/>
            </a:lvl1pPr>
          </a:lstStyle>
          <a:p>
            <a:fld id="{D48C765E-539C-483F-BCDF-F0F0AD79452C}" type="datetimeFigureOut">
              <a:rPr lang="tr-TR" smtClean="0"/>
              <a:pPr/>
              <a:t>17.04.2020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00138" y="698500"/>
            <a:ext cx="4657725" cy="3492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11" tIns="45555" rIns="91111" bIns="45555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24086"/>
            <a:ext cx="5486400" cy="4191240"/>
          </a:xfrm>
          <a:prstGeom prst="rect">
            <a:avLst/>
          </a:prstGeom>
        </p:spPr>
        <p:txBody>
          <a:bodyPr vert="horz" lIns="91111" tIns="45555" rIns="91111" bIns="45555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8846554"/>
            <a:ext cx="2971801" cy="465694"/>
          </a:xfrm>
          <a:prstGeom prst="rect">
            <a:avLst/>
          </a:prstGeom>
        </p:spPr>
        <p:txBody>
          <a:bodyPr vert="horz" lIns="91111" tIns="45555" rIns="91111" bIns="45555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4" y="8846554"/>
            <a:ext cx="2971801" cy="465694"/>
          </a:xfrm>
          <a:prstGeom prst="rect">
            <a:avLst/>
          </a:prstGeom>
        </p:spPr>
        <p:txBody>
          <a:bodyPr vert="horz" lIns="91111" tIns="45555" rIns="91111" bIns="45555" rtlCol="0" anchor="b"/>
          <a:lstStyle>
            <a:lvl1pPr algn="r">
              <a:defRPr sz="1200"/>
            </a:lvl1pPr>
          </a:lstStyle>
          <a:p>
            <a:fld id="{AE8B6D33-EF40-4511-BB6D-F4559DCC6EDC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5840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B6D33-EF40-4511-BB6D-F4559DCC6EDC}" type="slidenum">
              <a:rPr lang="tr-TR" smtClean="0"/>
              <a:pPr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249185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534608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418721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561221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5162608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708975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546873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807807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339981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3706097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8464002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5749802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364645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5819477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AEEC2-418A-4AE9-8D76-1350AC2C960C}" type="datetime1">
              <a:rPr lang="tr-TR" smtClean="0"/>
              <a:pPr/>
              <a:t>17.04.2020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B617E-CC2C-45DD-8B2D-8AE4EA5FC5F8}" type="datetime1">
              <a:rPr lang="tr-TR" smtClean="0"/>
              <a:pPr/>
              <a:t>17.04.2020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D0F5-A4BC-46CD-8841-C457452FFEDC}" type="datetime1">
              <a:rPr lang="tr-TR" smtClean="0"/>
              <a:pPr/>
              <a:t>17.04.2020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334DA-5AD4-4FA3-AFE8-2A8C67D70199}" type="datetime1">
              <a:rPr lang="tr-TR" smtClean="0"/>
              <a:pPr/>
              <a:t>17.04.2020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8F8EC-0934-411F-B635-3062B68C4A87}" type="datetime1">
              <a:rPr lang="tr-TR" smtClean="0"/>
              <a:pPr/>
              <a:t>17.04.2020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BC700-BE93-49BC-965A-FE7AF14E8E5E}" type="datetime1">
              <a:rPr lang="tr-TR" smtClean="0"/>
              <a:pPr/>
              <a:t>17.04.2020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B533D-1371-4A64-9DA7-B94E9E82C698}" type="datetime1">
              <a:rPr lang="tr-TR" smtClean="0"/>
              <a:pPr/>
              <a:t>17.04.2020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24A5A-A249-4E71-9C80-CB1606C64E4A}" type="datetime1">
              <a:rPr lang="tr-TR" smtClean="0"/>
              <a:pPr/>
              <a:t>17.04.2020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AA4DE-DE11-46F8-8818-543B671E4FAF}" type="datetime1">
              <a:rPr lang="tr-TR" smtClean="0"/>
              <a:pPr/>
              <a:t>17.04.2020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022AE-E832-4A8B-9536-4372F3E1F6C7}" type="datetime1">
              <a:rPr lang="tr-TR" smtClean="0"/>
              <a:pPr/>
              <a:t>17.04.2020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FB04C-27DE-4D51-8F84-8865E814DCCD}" type="datetime1">
              <a:rPr lang="tr-TR" smtClean="0"/>
              <a:pPr/>
              <a:t>17.04.2020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B7707C-6B9A-4E38-AEE2-597F60E606B3}" type="datetime1">
              <a:rPr lang="tr-TR" smtClean="0"/>
              <a:pPr/>
              <a:t>17.04.2020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0ACAC-419D-446D-993D-E467CC79BCB5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em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e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3568" y="1268760"/>
            <a:ext cx="7772400" cy="1470025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tr-TR" sz="1200" smtClean="0"/>
              <a:t> </a:t>
            </a:r>
            <a:endParaRPr lang="tr-TR" sz="120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717340" y="620688"/>
            <a:ext cx="7704856" cy="4824536"/>
          </a:xfrm>
          <a:ln w="25400">
            <a:noFill/>
          </a:ln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endParaRPr lang="tr-TR" sz="800" dirty="0" smtClean="0">
              <a:solidFill>
                <a:srgbClr val="800000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1800" dirty="0">
                <a:solidFill>
                  <a:schemeClr val="tx1"/>
                </a:solidFill>
                <a:latin typeface="Arial Narrow" pitchFamily="34" charset="0"/>
              </a:rPr>
              <a:t>NTE 1010</a:t>
            </a:r>
          </a:p>
          <a:p>
            <a:pPr>
              <a:spcBef>
                <a:spcPts val="0"/>
              </a:spcBef>
            </a:pPr>
            <a:r>
              <a:rPr lang="tr-TR" sz="1800" dirty="0" err="1">
                <a:solidFill>
                  <a:schemeClr val="tx1"/>
                </a:solidFill>
                <a:latin typeface="Arial Narrow" pitchFamily="34" charset="0"/>
              </a:rPr>
              <a:t>Introduction</a:t>
            </a:r>
            <a:r>
              <a:rPr lang="tr-TR" sz="1800" dirty="0">
                <a:solidFill>
                  <a:schemeClr val="tx1"/>
                </a:solidFill>
                <a:latin typeface="Arial Narrow" pitchFamily="34" charset="0"/>
              </a:rPr>
              <a:t> </a:t>
            </a:r>
            <a:r>
              <a:rPr lang="tr-TR" sz="1800" dirty="0" err="1">
                <a:solidFill>
                  <a:schemeClr val="tx1"/>
                </a:solidFill>
                <a:latin typeface="Arial Narrow" pitchFamily="34" charset="0"/>
              </a:rPr>
              <a:t>to</a:t>
            </a:r>
            <a:r>
              <a:rPr lang="tr-TR" sz="1800" dirty="0">
                <a:solidFill>
                  <a:schemeClr val="tx1"/>
                </a:solidFill>
                <a:latin typeface="Arial Narrow" pitchFamily="34" charset="0"/>
              </a:rPr>
              <a:t> Finance </a:t>
            </a:r>
            <a:r>
              <a:rPr lang="tr-TR" sz="1800" dirty="0" err="1">
                <a:solidFill>
                  <a:schemeClr val="tx1"/>
                </a:solidFill>
                <a:latin typeface="Arial Narrow" pitchFamily="34" charset="0"/>
              </a:rPr>
              <a:t>for</a:t>
            </a:r>
            <a:r>
              <a:rPr lang="tr-TR" sz="1800" dirty="0">
                <a:solidFill>
                  <a:schemeClr val="tx1"/>
                </a:solidFill>
                <a:latin typeface="Arial Narrow" pitchFamily="34" charset="0"/>
              </a:rPr>
              <a:t> </a:t>
            </a:r>
            <a:r>
              <a:rPr lang="tr-TR" sz="1800" dirty="0" err="1" smtClean="0">
                <a:solidFill>
                  <a:schemeClr val="tx1"/>
                </a:solidFill>
                <a:latin typeface="Arial Narrow" pitchFamily="34" charset="0"/>
              </a:rPr>
              <a:t>Engineers</a:t>
            </a:r>
            <a:endParaRPr lang="tr-TR" sz="1800" dirty="0" smtClean="0">
              <a:solidFill>
                <a:schemeClr val="tx1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2200" dirty="0">
                <a:solidFill>
                  <a:srgbClr val="000066"/>
                </a:solidFill>
                <a:latin typeface="Arial Narrow" pitchFamily="34" charset="0"/>
              </a:rPr>
              <a:t>Spring </a:t>
            </a:r>
            <a:r>
              <a:rPr lang="tr-TR" sz="2200" dirty="0" smtClean="0">
                <a:solidFill>
                  <a:srgbClr val="000066"/>
                </a:solidFill>
                <a:latin typeface="Arial Narrow" pitchFamily="34" charset="0"/>
              </a:rPr>
              <a:t>2020</a:t>
            </a:r>
          </a:p>
          <a:p>
            <a:pPr>
              <a:spcBef>
                <a:spcPts val="0"/>
              </a:spcBef>
            </a:pPr>
            <a:endParaRPr lang="tr-TR" sz="2200" dirty="0">
              <a:solidFill>
                <a:srgbClr val="000066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2600" dirty="0" err="1">
                <a:solidFill>
                  <a:srgbClr val="000066"/>
                </a:solidFill>
                <a:latin typeface="Arial Narrow" pitchFamily="34" charset="0"/>
              </a:rPr>
              <a:t>week</a:t>
            </a:r>
            <a:endParaRPr lang="tr-TR" sz="2600" dirty="0">
              <a:solidFill>
                <a:srgbClr val="000066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sz="3600" dirty="0" smtClean="0">
                <a:solidFill>
                  <a:srgbClr val="000066"/>
                </a:solidFill>
                <a:latin typeface="Arial Narrow" pitchFamily="34" charset="0"/>
              </a:rPr>
              <a:t>10</a:t>
            </a:r>
            <a:endParaRPr lang="tr-TR" sz="3600" dirty="0">
              <a:solidFill>
                <a:srgbClr val="000066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endParaRPr lang="tr-TR" sz="2400" dirty="0">
              <a:solidFill>
                <a:schemeClr val="tx1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endParaRPr lang="tr-TR" sz="2400" dirty="0">
              <a:solidFill>
                <a:schemeClr val="tx1"/>
              </a:solidFill>
              <a:latin typeface="Arial Narrow" pitchFamily="34" charset="0"/>
            </a:endParaRPr>
          </a:p>
          <a:p>
            <a:pPr>
              <a:spcBef>
                <a:spcPts val="0"/>
              </a:spcBef>
            </a:pPr>
            <a:r>
              <a:rPr lang="tr-TR" dirty="0" smtClean="0">
                <a:solidFill>
                  <a:srgbClr val="800000"/>
                </a:solidFill>
                <a:latin typeface="Arial Narrow" pitchFamily="34" charset="0"/>
              </a:rPr>
              <a:t>Central </a:t>
            </a:r>
            <a:r>
              <a:rPr lang="tr-TR" dirty="0" err="1" smtClean="0">
                <a:solidFill>
                  <a:srgbClr val="800000"/>
                </a:solidFill>
                <a:latin typeface="Arial Narrow" pitchFamily="34" charset="0"/>
              </a:rPr>
              <a:t>Banks</a:t>
            </a:r>
            <a:endParaRPr lang="tr-TR" dirty="0">
              <a:solidFill>
                <a:srgbClr val="800000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079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800" dirty="0" smtClean="0">
                <a:solidFill>
                  <a:srgbClr val="800000"/>
                </a:solidFill>
                <a:latin typeface="Arial Narrow" pitchFamily="34" charset="0"/>
              </a:rPr>
              <a:t>Central </a:t>
            </a:r>
            <a:r>
              <a:rPr lang="tr-TR" sz="2800" dirty="0" err="1" smtClean="0">
                <a:solidFill>
                  <a:srgbClr val="800000"/>
                </a:solidFill>
                <a:latin typeface="Arial Narrow" pitchFamily="34" charset="0"/>
              </a:rPr>
              <a:t>Banks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endParaRPr lang="tr-TR" sz="1800" dirty="0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Among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the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most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important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players</a:t>
            </a:r>
            <a:r>
              <a:rPr lang="tr-TR" sz="1800" dirty="0" smtClean="0">
                <a:latin typeface="Arial Narrow" panose="020B0606020202030204" pitchFamily="34" charset="0"/>
              </a:rPr>
              <a:t> in </a:t>
            </a:r>
            <a:r>
              <a:rPr lang="tr-TR" sz="1800" dirty="0" err="1" smtClean="0">
                <a:latin typeface="Arial Narrow" panose="020B0606020202030204" pitchFamily="34" charset="0"/>
              </a:rPr>
              <a:t>financial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markets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throughout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the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world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are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central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banks</a:t>
            </a:r>
            <a:r>
              <a:rPr lang="tr-TR" sz="1800" dirty="0" smtClean="0">
                <a:latin typeface="Arial Narrow" panose="020B0606020202030204" pitchFamily="34" charset="0"/>
              </a:rPr>
              <a:t>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the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government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authorities</a:t>
            </a:r>
            <a:r>
              <a:rPr lang="tr-TR" sz="1800" dirty="0" smtClean="0">
                <a:latin typeface="Arial Narrow" panose="020B0606020202030204" pitchFamily="34" charset="0"/>
              </a:rPr>
              <a:t> in </a:t>
            </a:r>
            <a:r>
              <a:rPr lang="tr-TR" sz="1800" dirty="0" err="1" smtClean="0">
                <a:latin typeface="Arial Narrow" panose="020B0606020202030204" pitchFamily="34" charset="0"/>
              </a:rPr>
              <a:t>charge</a:t>
            </a:r>
            <a:r>
              <a:rPr lang="tr-TR" sz="1800" dirty="0" smtClean="0">
                <a:latin typeface="Arial Narrow" panose="020B0606020202030204" pitchFamily="34" charset="0"/>
              </a:rPr>
              <a:t> of </a:t>
            </a:r>
            <a:r>
              <a:rPr lang="tr-TR" sz="1800" dirty="0" err="1" smtClean="0">
                <a:latin typeface="Arial Narrow" panose="020B0606020202030204" pitchFamily="34" charset="0"/>
              </a:rPr>
              <a:t>monetary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policy</a:t>
            </a:r>
            <a:r>
              <a:rPr lang="tr-TR" sz="1800" dirty="0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(Governments are in charge in charge fiscal policy.)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800" noProof="1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Central banks’ actions affect interest rates, the amount of credit, and the money supply,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all of which have direct impacts not only on financial markets,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but also on aggregate output and inflation.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800" noProof="1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5128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90564" y="260648"/>
            <a:ext cx="4762872" cy="1143000"/>
          </a:xfrm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Central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Banks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smtClean="0">
                <a:latin typeface="Arial Narrow" pitchFamily="34" charset="0"/>
              </a:rPr>
              <a:t>US Federal </a:t>
            </a:r>
            <a:r>
              <a:rPr lang="tr-TR" sz="2800" dirty="0" err="1" smtClean="0">
                <a:latin typeface="Arial Narrow" pitchFamily="34" charset="0"/>
              </a:rPr>
              <a:t>Reserve</a:t>
            </a:r>
            <a:r>
              <a:rPr lang="tr-TR" sz="2800" dirty="0" smtClean="0">
                <a:latin typeface="Arial Narrow" pitchFamily="34" charset="0"/>
              </a:rPr>
              <a:t> </a:t>
            </a:r>
            <a:r>
              <a:rPr lang="tr-TR" sz="2800" dirty="0" err="1" smtClean="0">
                <a:latin typeface="Arial Narrow" pitchFamily="34" charset="0"/>
              </a:rPr>
              <a:t>System</a:t>
            </a:r>
            <a:r>
              <a:rPr lang="tr-TR" sz="2800" dirty="0" smtClean="0">
                <a:latin typeface="Arial Narrow" pitchFamily="34" charset="0"/>
              </a:rPr>
              <a:t> (Fed)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endParaRPr lang="tr-TR" sz="800" dirty="0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Federal </a:t>
            </a:r>
            <a:r>
              <a:rPr lang="tr-TR" sz="1600" dirty="0" err="1" smtClean="0">
                <a:latin typeface="Arial Narrow" panose="020B0606020202030204" pitchFamily="34" charset="0"/>
              </a:rPr>
              <a:t>Reserve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System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was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created</a:t>
            </a:r>
            <a:r>
              <a:rPr lang="tr-TR" sz="1600" dirty="0" smtClean="0">
                <a:latin typeface="Arial Narrow" panose="020B0606020202030204" pitchFamily="34" charset="0"/>
              </a:rPr>
              <a:t> in 1913 </a:t>
            </a:r>
            <a:r>
              <a:rPr lang="tr-TR" sz="1600" dirty="0" err="1" smtClean="0">
                <a:latin typeface="Arial Narrow" panose="020B0606020202030204" pitchFamily="34" charset="0"/>
              </a:rPr>
              <a:t>to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lessen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frequency</a:t>
            </a:r>
            <a:r>
              <a:rPr lang="tr-TR" sz="1600" dirty="0" smtClean="0">
                <a:latin typeface="Arial Narrow" panose="020B0606020202030204" pitchFamily="34" charset="0"/>
              </a:rPr>
              <a:t> of bank </a:t>
            </a:r>
            <a:r>
              <a:rPr lang="tr-TR" sz="1600" dirty="0" err="1" smtClean="0">
                <a:latin typeface="Arial Narrow" panose="020B0606020202030204" pitchFamily="34" charset="0"/>
              </a:rPr>
              <a:t>panics</a:t>
            </a:r>
            <a:r>
              <a:rPr lang="tr-TR" sz="1600" dirty="0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Because of public hostility to central banks and the centralization of power,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the system was created with many checks and balances to diffuse power.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It consists of 12 regional Federal Reserve banks,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around 2,500 member commercial banks,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the Board of Governors, the Federal Open Market Committee (FOMC),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and the Federal Advisory Council.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The case for an independent Fed rests on the view that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curtailing its independence and subjecting it to more political pressures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would impart an inflationary bias to monetary policy.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An independent Fed can afford to take the long view and not respond to short-term problems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that would result in expansionary monetary policy and a political business cycle.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The case against an independent Fed holds that it is undemocratic to have a monetary policy (so important to the public) controlled by an elite that is not accountable to the public.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An independent Fed also makes the coordination of monetary and fiscal policy dificult.</a:t>
            </a:r>
          </a:p>
        </p:txBody>
      </p:sp>
    </p:spTree>
    <p:extLst>
      <p:ext uri="{BB962C8B-B14F-4D97-AF65-F5344CB8AC3E}">
        <p14:creationId xmlns:p14="http://schemas.microsoft.com/office/powerpoint/2010/main" val="1654692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42492" y="188640"/>
            <a:ext cx="6059016" cy="1143000"/>
          </a:xfrm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Central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Banks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smtClean="0">
                <a:latin typeface="Arial Narrow" pitchFamily="34" charset="0"/>
              </a:rPr>
              <a:t>EU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endParaRPr lang="tr-TR" sz="1600" dirty="0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European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System</a:t>
            </a:r>
            <a:r>
              <a:rPr lang="tr-TR" sz="1600" dirty="0" smtClean="0">
                <a:latin typeface="Arial Narrow" panose="020B0606020202030204" pitchFamily="34" charset="0"/>
              </a:rPr>
              <a:t> of Central </a:t>
            </a:r>
            <a:r>
              <a:rPr lang="tr-TR" sz="1600" dirty="0" err="1" smtClean="0">
                <a:latin typeface="Arial Narrow" panose="020B0606020202030204" pitchFamily="34" charset="0"/>
              </a:rPr>
              <a:t>Banks</a:t>
            </a:r>
            <a:r>
              <a:rPr lang="tr-TR" sz="1600" dirty="0" smtClean="0">
                <a:latin typeface="Arial Narrow" panose="020B0606020202030204" pitchFamily="34" charset="0"/>
              </a:rPr>
              <a:t> has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smtClean="0">
                <a:latin typeface="Arial Narrow" panose="020B0606020202030204" pitchFamily="34" charset="0"/>
              </a:rPr>
              <a:t>a </a:t>
            </a:r>
            <a:r>
              <a:rPr lang="tr-TR" sz="1600" dirty="0" err="1" smtClean="0">
                <a:latin typeface="Arial Narrow" panose="020B0606020202030204" pitchFamily="34" charset="0"/>
              </a:rPr>
              <a:t>similar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structure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to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Federal </a:t>
            </a:r>
            <a:r>
              <a:rPr lang="tr-TR" sz="1600" dirty="0" err="1" smtClean="0">
                <a:latin typeface="Arial Narrow" panose="020B0606020202030204" pitchFamily="34" charset="0"/>
              </a:rPr>
              <a:t>Reserve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System</a:t>
            </a:r>
            <a:r>
              <a:rPr lang="tr-TR" sz="1600" dirty="0" smtClean="0">
                <a:latin typeface="Arial Narrow" panose="020B0606020202030204" pitchFamily="34" charset="0"/>
              </a:rPr>
              <a:t> of US,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with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each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member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country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having</a:t>
            </a:r>
            <a:r>
              <a:rPr lang="tr-TR" sz="1600" dirty="0" smtClean="0">
                <a:latin typeface="Arial Narrow" panose="020B0606020202030204" pitchFamily="34" charset="0"/>
              </a:rPr>
              <a:t> a </a:t>
            </a:r>
            <a:r>
              <a:rPr lang="tr-TR" sz="1600" dirty="0" err="1" smtClean="0">
                <a:latin typeface="Arial Narrow" panose="020B0606020202030204" pitchFamily="34" charset="0"/>
              </a:rPr>
              <a:t>National</a:t>
            </a:r>
            <a:r>
              <a:rPr lang="tr-TR" sz="1600" dirty="0" smtClean="0">
                <a:latin typeface="Arial Narrow" panose="020B0606020202030204" pitchFamily="34" charset="0"/>
              </a:rPr>
              <a:t> Central Bank,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and</a:t>
            </a:r>
            <a:r>
              <a:rPr lang="tr-TR" sz="1600" dirty="0" smtClean="0">
                <a:latin typeface="Arial Narrow" panose="020B0606020202030204" pitchFamily="34" charset="0"/>
              </a:rPr>
              <a:t> an </a:t>
            </a:r>
            <a:r>
              <a:rPr lang="tr-TR" sz="1600" dirty="0" err="1" smtClean="0">
                <a:latin typeface="Arial Narrow" panose="020B0606020202030204" pitchFamily="34" charset="0"/>
              </a:rPr>
              <a:t>Executive</a:t>
            </a:r>
            <a:r>
              <a:rPr lang="tr-TR" sz="1600" dirty="0" smtClean="0">
                <a:latin typeface="Arial Narrow" panose="020B0606020202030204" pitchFamily="34" charset="0"/>
              </a:rPr>
              <a:t> Board of </a:t>
            </a: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European</a:t>
            </a:r>
            <a:r>
              <a:rPr lang="tr-TR" sz="1600" dirty="0" smtClean="0">
                <a:latin typeface="Arial Narrow" panose="020B0606020202030204" pitchFamily="34" charset="0"/>
              </a:rPr>
              <a:t> Central Bank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being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located</a:t>
            </a:r>
            <a:r>
              <a:rPr lang="tr-TR" sz="1600" dirty="0" smtClean="0">
                <a:latin typeface="Arial Narrow" panose="020B0606020202030204" pitchFamily="34" charset="0"/>
              </a:rPr>
              <a:t> in Frankfurt, Germany.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The Governing Council,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which is made up of the six members of the Executive Board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(which includes the president of the European Central Bank)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and the presidents of the National Central Banks,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makes the decision on monetary policy.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The Eurosystem, which was established under the terms of the Maastricht Treaty,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is even more independent than the Federal Reserve System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because its charter cannot be changed by legislation.</a:t>
            </a:r>
          </a:p>
        </p:txBody>
      </p:sp>
    </p:spTree>
    <p:extLst>
      <p:ext uri="{BB962C8B-B14F-4D97-AF65-F5344CB8AC3E}">
        <p14:creationId xmlns:p14="http://schemas.microsoft.com/office/powerpoint/2010/main" val="3624692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Central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Banks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smtClean="0">
                <a:latin typeface="Arial Narrow" pitchFamily="34" charset="0"/>
              </a:rPr>
              <a:t>EU &amp; Euro </a:t>
            </a:r>
            <a:r>
              <a:rPr lang="tr-TR" sz="2800" dirty="0" err="1" smtClean="0">
                <a:latin typeface="Arial Narrow" pitchFamily="34" charset="0"/>
              </a:rPr>
              <a:t>Zone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endParaRPr lang="tr-TR" sz="900" dirty="0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endParaRPr lang="tr-TR" sz="1800" noProof="1" smtClean="0">
              <a:latin typeface="Arial Narrow" panose="020B0606020202030204" pitchFamily="34" charset="0"/>
            </a:endParaRP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00199"/>
            <a:ext cx="4258816" cy="394808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8714" y="1600200"/>
            <a:ext cx="3948086" cy="394808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5730848"/>
            <a:ext cx="1332002" cy="886387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28" y="5730848"/>
            <a:ext cx="1664678" cy="886387"/>
          </a:xfrm>
          <a:prstGeom prst="rect">
            <a:avLst/>
          </a:prstGeom>
          <a:ln w="3175">
            <a:solidFill>
              <a:srgbClr val="FFC000"/>
            </a:solidFill>
          </a:ln>
        </p:spPr>
      </p:pic>
    </p:spTree>
    <p:extLst>
      <p:ext uri="{BB962C8B-B14F-4D97-AF65-F5344CB8AC3E}">
        <p14:creationId xmlns:p14="http://schemas.microsoft.com/office/powerpoint/2010/main" val="3663704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619672" y="116632"/>
            <a:ext cx="6275040" cy="1143000"/>
          </a:xfrm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Central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Banks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err="1" smtClean="0">
                <a:latin typeface="Arial Narrow" pitchFamily="34" charset="0"/>
              </a:rPr>
              <a:t>Turkish</a:t>
            </a:r>
            <a:r>
              <a:rPr lang="tr-TR" sz="2800" dirty="0" smtClean="0">
                <a:latin typeface="Arial Narrow" pitchFamily="34" charset="0"/>
              </a:rPr>
              <a:t> Central Bank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259632"/>
            <a:ext cx="8229600" cy="5481736"/>
          </a:xfrm>
          <a:ln w="25400">
            <a:noFill/>
          </a:ln>
        </p:spPr>
        <p:txBody>
          <a:bodyPr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dirty="0" smtClean="0">
                <a:latin typeface="Arial Narrow" panose="020B0606020202030204" pitchFamily="34" charset="0"/>
              </a:rPr>
              <a:t>In </a:t>
            </a:r>
            <a:r>
              <a:rPr lang="en-US" sz="1600" dirty="0">
                <a:latin typeface="Arial Narrow" panose="020B0606020202030204" pitchFamily="34" charset="0"/>
              </a:rPr>
              <a:t>the Ottoman Empire, </a:t>
            </a:r>
            <a:r>
              <a:rPr lang="en-US" sz="1600" dirty="0" smtClean="0">
                <a:latin typeface="Arial Narrow" panose="020B0606020202030204" pitchFamily="34" charset="0"/>
              </a:rPr>
              <a:t>gold </a:t>
            </a:r>
            <a:r>
              <a:rPr lang="en-US" sz="1600" dirty="0">
                <a:latin typeface="Arial Narrow" panose="020B0606020202030204" pitchFamily="34" charset="0"/>
              </a:rPr>
              <a:t>coins </a:t>
            </a:r>
            <a:r>
              <a:rPr lang="tr-TR" sz="1600" dirty="0" err="1" smtClean="0">
                <a:latin typeface="Arial Narrow" panose="020B0606020202030204" pitchFamily="34" charset="0"/>
              </a:rPr>
              <a:t>were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minted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en-US" sz="1600" dirty="0" smtClean="0">
                <a:latin typeface="Arial Narrow" panose="020B0606020202030204" pitchFamily="34" charset="0"/>
              </a:rPr>
              <a:t>on </a:t>
            </a:r>
            <a:r>
              <a:rPr lang="en-US" sz="1600" dirty="0">
                <a:latin typeface="Arial Narrow" panose="020B0606020202030204" pitchFamily="34" charset="0"/>
              </a:rPr>
              <a:t>behalf of the </a:t>
            </a:r>
            <a:r>
              <a:rPr lang="en-US" sz="1600" dirty="0" smtClean="0">
                <a:latin typeface="Arial Narrow" panose="020B0606020202030204" pitchFamily="34" charset="0"/>
              </a:rPr>
              <a:t>Sultan.</a:t>
            </a:r>
            <a:endParaRPr lang="tr-TR" sz="16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600" dirty="0" smtClean="0">
                <a:latin typeface="Arial Narrow" panose="020B0606020202030204" pitchFamily="34" charset="0"/>
              </a:rPr>
              <a:t>The </a:t>
            </a:r>
            <a:r>
              <a:rPr lang="tr-TR" sz="1600" dirty="0">
                <a:latin typeface="Arial Narrow" panose="020B0606020202030204" pitchFamily="34" charset="0"/>
              </a:rPr>
              <a:t>e</a:t>
            </a:r>
            <a:r>
              <a:rPr lang="en-US" sz="1600" dirty="0" err="1" smtClean="0">
                <a:latin typeface="Arial Narrow" panose="020B0606020202030204" pitchFamily="34" charset="0"/>
              </a:rPr>
              <a:t>mpire</a:t>
            </a:r>
            <a:r>
              <a:rPr lang="en-US" sz="1600" dirty="0" smtClean="0">
                <a:latin typeface="Arial Narrow" panose="020B0606020202030204" pitchFamily="34" charset="0"/>
              </a:rPr>
              <a:t> </a:t>
            </a:r>
            <a:r>
              <a:rPr lang="en-US" sz="1600" dirty="0">
                <a:latin typeface="Arial Narrow" panose="020B0606020202030204" pitchFamily="34" charset="0"/>
              </a:rPr>
              <a:t>put cash banknotes </a:t>
            </a:r>
            <a:r>
              <a:rPr lang="en-US" sz="1600" dirty="0" smtClean="0">
                <a:latin typeface="Arial Narrow" panose="020B0606020202030204" pitchFamily="34" charset="0"/>
              </a:rPr>
              <a:t>into </a:t>
            </a:r>
            <a:r>
              <a:rPr lang="en-US" sz="1600" dirty="0">
                <a:latin typeface="Arial Narrow" panose="020B0606020202030204" pitchFamily="34" charset="0"/>
              </a:rPr>
              <a:t>circulation in </a:t>
            </a:r>
            <a:r>
              <a:rPr lang="en-US" sz="1600" dirty="0" smtClean="0">
                <a:latin typeface="Arial Narrow" panose="020B0606020202030204" pitchFamily="34" charset="0"/>
              </a:rPr>
              <a:t>1840.</a:t>
            </a:r>
            <a:endParaRPr lang="tr-TR" sz="16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600" dirty="0" smtClean="0">
                <a:latin typeface="Arial Narrow" panose="020B0606020202030204" pitchFamily="34" charset="0"/>
              </a:rPr>
              <a:t>During </a:t>
            </a:r>
            <a:r>
              <a:rPr lang="en-US" sz="1600" dirty="0">
                <a:latin typeface="Arial Narrow" panose="020B0606020202030204" pitchFamily="34" charset="0"/>
              </a:rPr>
              <a:t>the Crimean War, in </a:t>
            </a:r>
            <a:r>
              <a:rPr lang="en-US" sz="1600" dirty="0" smtClean="0">
                <a:latin typeface="Arial Narrow" panose="020B0606020202030204" pitchFamily="34" charset="0"/>
              </a:rPr>
              <a:t>1854,</a:t>
            </a:r>
            <a:endParaRPr lang="tr-TR" sz="16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600" dirty="0" smtClean="0">
                <a:latin typeface="Arial Narrow" panose="020B0606020202030204" pitchFamily="34" charset="0"/>
              </a:rPr>
              <a:t>the </a:t>
            </a:r>
            <a:r>
              <a:rPr lang="en-US" sz="1600" dirty="0">
                <a:latin typeface="Arial Narrow" panose="020B0606020202030204" pitchFamily="34" charset="0"/>
              </a:rPr>
              <a:t>Ottoman Empire, which borrowed from other nations for the first time in </a:t>
            </a:r>
            <a:r>
              <a:rPr lang="en-US" sz="1600" dirty="0" smtClean="0">
                <a:latin typeface="Arial Narrow" panose="020B0606020202030204" pitchFamily="34" charset="0"/>
              </a:rPr>
              <a:t>history,</a:t>
            </a:r>
            <a:endParaRPr lang="tr-TR" sz="16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600" dirty="0" smtClean="0">
                <a:latin typeface="Arial Narrow" panose="020B0606020202030204" pitchFamily="34" charset="0"/>
              </a:rPr>
              <a:t>needed </a:t>
            </a:r>
            <a:r>
              <a:rPr lang="en-US" sz="1600" dirty="0">
                <a:latin typeface="Arial Narrow" panose="020B0606020202030204" pitchFamily="34" charset="0"/>
              </a:rPr>
              <a:t>a state bank to assume an intermediary function in the repayment of external </a:t>
            </a:r>
            <a:r>
              <a:rPr lang="en-US" sz="1600" dirty="0" smtClean="0">
                <a:latin typeface="Arial Narrow" panose="020B0606020202030204" pitchFamily="34" charset="0"/>
              </a:rPr>
              <a:t>debts.</a:t>
            </a:r>
            <a:endParaRPr lang="tr-TR" sz="16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600" dirty="0" smtClean="0">
                <a:latin typeface="Arial Narrow" panose="020B0606020202030204" pitchFamily="34" charset="0"/>
              </a:rPr>
              <a:t>As </a:t>
            </a:r>
            <a:r>
              <a:rPr lang="en-US" sz="1600" dirty="0">
                <a:latin typeface="Arial Narrow" panose="020B0606020202030204" pitchFamily="34" charset="0"/>
              </a:rPr>
              <a:t>a result, the “Ottoman </a:t>
            </a:r>
            <a:r>
              <a:rPr lang="en-US" sz="1600" dirty="0" smtClean="0">
                <a:latin typeface="Arial Narrow" panose="020B0606020202030204" pitchFamily="34" charset="0"/>
              </a:rPr>
              <a:t>Bank”, </a:t>
            </a:r>
            <a:r>
              <a:rPr lang="en-US" sz="1600" dirty="0">
                <a:latin typeface="Arial Narrow" panose="020B0606020202030204" pitchFamily="34" charset="0"/>
              </a:rPr>
              <a:t>headquartered in London, was established with English capital in </a:t>
            </a:r>
            <a:r>
              <a:rPr lang="en-US" sz="1600" dirty="0" smtClean="0">
                <a:latin typeface="Arial Narrow" panose="020B0606020202030204" pitchFamily="34" charset="0"/>
              </a:rPr>
              <a:t>1856.</a:t>
            </a:r>
            <a:endParaRPr lang="tr-TR" sz="16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600" dirty="0" smtClean="0">
                <a:latin typeface="Arial Narrow" panose="020B0606020202030204" pitchFamily="34" charset="0"/>
              </a:rPr>
              <a:t>In </a:t>
            </a:r>
            <a:r>
              <a:rPr lang="en-US" sz="1600" dirty="0">
                <a:latin typeface="Arial Narrow" panose="020B0606020202030204" pitchFamily="34" charset="0"/>
              </a:rPr>
              <a:t>1863, the Ottoman Bank was dissolved and restructured as an English-French </a:t>
            </a:r>
            <a:r>
              <a:rPr lang="en-US" sz="1600" dirty="0" smtClean="0">
                <a:latin typeface="Arial Narrow" panose="020B0606020202030204" pitchFamily="34" charset="0"/>
              </a:rPr>
              <a:t>partnership</a:t>
            </a:r>
            <a:endParaRPr lang="tr-TR" sz="16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600" dirty="0" smtClean="0">
                <a:latin typeface="Arial Narrow" panose="020B0606020202030204" pitchFamily="34" charset="0"/>
              </a:rPr>
              <a:t>under </a:t>
            </a:r>
            <a:r>
              <a:rPr lang="en-US" sz="1600" dirty="0">
                <a:latin typeface="Arial Narrow" panose="020B0606020202030204" pitchFamily="34" charset="0"/>
              </a:rPr>
              <a:t>the name </a:t>
            </a:r>
            <a:r>
              <a:rPr lang="en-US" sz="1600" dirty="0" smtClean="0">
                <a:latin typeface="Arial Narrow" panose="020B0606020202030204" pitchFamily="34" charset="0"/>
              </a:rPr>
              <a:t>“Imperial </a:t>
            </a:r>
            <a:r>
              <a:rPr lang="en-US" sz="1600" dirty="0">
                <a:latin typeface="Arial Narrow" panose="020B0606020202030204" pitchFamily="34" charset="0"/>
              </a:rPr>
              <a:t>Ottoman </a:t>
            </a:r>
            <a:r>
              <a:rPr lang="en-US" sz="1600" dirty="0" smtClean="0">
                <a:latin typeface="Arial Narrow" panose="020B0606020202030204" pitchFamily="34" charset="0"/>
              </a:rPr>
              <a:t>Bank” </a:t>
            </a:r>
            <a:r>
              <a:rPr lang="en-US" sz="1600" dirty="0">
                <a:latin typeface="Arial Narrow" panose="020B0606020202030204" pitchFamily="34" charset="0"/>
              </a:rPr>
              <a:t>and became a state </a:t>
            </a:r>
            <a:r>
              <a:rPr lang="en-US" sz="1600" dirty="0" smtClean="0">
                <a:latin typeface="Arial Narrow" panose="020B0606020202030204" pitchFamily="34" charset="0"/>
              </a:rPr>
              <a:t>bank.</a:t>
            </a:r>
            <a:endParaRPr lang="tr-TR" sz="16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600" dirty="0" smtClean="0">
                <a:latin typeface="Arial Narrow" panose="020B0606020202030204" pitchFamily="34" charset="0"/>
              </a:rPr>
              <a:t>The </a:t>
            </a:r>
            <a:r>
              <a:rPr lang="en-US" sz="1600" dirty="0">
                <a:latin typeface="Arial Narrow" panose="020B0606020202030204" pitchFamily="34" charset="0"/>
              </a:rPr>
              <a:t>Imperial Ottoman Bank was granted the sole privilege of issuing banknotes for a period of thirty </a:t>
            </a:r>
            <a:r>
              <a:rPr lang="en-US" sz="1600" dirty="0" smtClean="0">
                <a:latin typeface="Arial Narrow" panose="020B0606020202030204" pitchFamily="34" charset="0"/>
              </a:rPr>
              <a:t>years.</a:t>
            </a:r>
            <a:endParaRPr lang="tr-TR" sz="16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600" dirty="0" smtClean="0">
                <a:latin typeface="Arial Narrow" panose="020B0606020202030204" pitchFamily="34" charset="0"/>
              </a:rPr>
              <a:t>The </a:t>
            </a:r>
            <a:r>
              <a:rPr lang="en-US" sz="1600" dirty="0">
                <a:latin typeface="Arial Narrow" panose="020B0606020202030204" pitchFamily="34" charset="0"/>
              </a:rPr>
              <a:t>Bank, acting as Treasurer of the State, was assigned to collect State </a:t>
            </a:r>
            <a:r>
              <a:rPr lang="en-US" sz="1600" dirty="0" smtClean="0">
                <a:latin typeface="Arial Narrow" panose="020B0606020202030204" pitchFamily="34" charset="0"/>
              </a:rPr>
              <a:t>revenues,</a:t>
            </a:r>
            <a:endParaRPr lang="tr-TR" sz="16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600" dirty="0" smtClean="0">
                <a:latin typeface="Arial Narrow" panose="020B0606020202030204" pitchFamily="34" charset="0"/>
              </a:rPr>
              <a:t>make </a:t>
            </a:r>
            <a:r>
              <a:rPr lang="en-US" sz="1600" dirty="0">
                <a:latin typeface="Arial Narrow" panose="020B0606020202030204" pitchFamily="34" charset="0"/>
              </a:rPr>
              <a:t>payments on behalf of the Treasury and discount Treasury </a:t>
            </a:r>
            <a:r>
              <a:rPr lang="en-US" sz="1600" dirty="0" smtClean="0">
                <a:latin typeface="Arial Narrow" panose="020B0606020202030204" pitchFamily="34" charset="0"/>
              </a:rPr>
              <a:t>bills,</a:t>
            </a:r>
            <a:endParaRPr lang="tr-TR" sz="16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600" dirty="0" smtClean="0">
                <a:latin typeface="Arial Narrow" panose="020B0606020202030204" pitchFamily="34" charset="0"/>
              </a:rPr>
              <a:t>as </a:t>
            </a:r>
            <a:r>
              <a:rPr lang="en-US" sz="1600" dirty="0">
                <a:latin typeface="Arial Narrow" panose="020B0606020202030204" pitchFamily="34" charset="0"/>
              </a:rPr>
              <a:t>well as making interest and principal payments pertaining to domestic and foreign debts.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600" dirty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 err="1" smtClean="0">
                <a:latin typeface="Arial Narrow" panose="020B0606020202030204" pitchFamily="34" charset="0"/>
              </a:rPr>
              <a:t>After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signing</a:t>
            </a:r>
            <a:r>
              <a:rPr lang="tr-TR" sz="1600" dirty="0" smtClean="0">
                <a:latin typeface="Arial Narrow" panose="020B0606020202030204" pitchFamily="34" charset="0"/>
              </a:rPr>
              <a:t> of </a:t>
            </a:r>
            <a:r>
              <a:rPr lang="tr-TR" sz="1600" dirty="0" err="1" smtClean="0">
                <a:latin typeface="Arial Narrow" panose="020B0606020202030204" pitchFamily="34" charset="0"/>
              </a:rPr>
              <a:t>Lausanne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Treaty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and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declaration</a:t>
            </a:r>
            <a:r>
              <a:rPr lang="tr-TR" sz="1600" dirty="0" smtClean="0">
                <a:latin typeface="Arial Narrow" panose="020B0606020202030204" pitchFamily="34" charset="0"/>
              </a:rPr>
              <a:t> of </a:t>
            </a:r>
            <a:r>
              <a:rPr lang="tr-TR" sz="1600" dirty="0" err="1" smtClean="0">
                <a:latin typeface="Arial Narrow" panose="020B0606020202030204" pitchFamily="34" charset="0"/>
              </a:rPr>
              <a:t>the</a:t>
            </a:r>
            <a:r>
              <a:rPr lang="tr-TR" sz="1600" dirty="0" smtClean="0">
                <a:latin typeface="Arial Narrow" panose="020B0606020202030204" pitchFamily="34" charset="0"/>
              </a:rPr>
              <a:t> </a:t>
            </a:r>
            <a:r>
              <a:rPr lang="tr-TR" sz="1600" dirty="0" err="1" smtClean="0">
                <a:latin typeface="Arial Narrow" panose="020B0606020202030204" pitchFamily="34" charset="0"/>
              </a:rPr>
              <a:t>Republic</a:t>
            </a:r>
            <a:r>
              <a:rPr lang="tr-TR" sz="1600" dirty="0">
                <a:latin typeface="Arial Narrow" panose="020B0606020202030204" pitchFamily="34" charset="0"/>
              </a:rPr>
              <a:t> </a:t>
            </a:r>
            <a:r>
              <a:rPr lang="tr-TR" sz="1600" dirty="0" smtClean="0">
                <a:latin typeface="Arial Narrow" panose="020B0606020202030204" pitchFamily="34" charset="0"/>
              </a:rPr>
              <a:t>in 1923,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dirty="0">
                <a:latin typeface="Arial Narrow" panose="020B0606020202030204" pitchFamily="34" charset="0"/>
              </a:rPr>
              <a:t>t</a:t>
            </a:r>
            <a:r>
              <a:rPr lang="en-US" sz="1600" dirty="0" smtClean="0">
                <a:latin typeface="Arial Narrow" panose="020B0606020202030204" pitchFamily="34" charset="0"/>
              </a:rPr>
              <a:t>he </a:t>
            </a:r>
            <a:r>
              <a:rPr lang="en-US" sz="1600" dirty="0">
                <a:latin typeface="Arial Narrow" panose="020B0606020202030204" pitchFamily="34" charset="0"/>
              </a:rPr>
              <a:t>preparations to establish a central bank of Turkey began in </a:t>
            </a:r>
            <a:r>
              <a:rPr lang="en-US" sz="1600" dirty="0" smtClean="0">
                <a:latin typeface="Arial Narrow" panose="020B0606020202030204" pitchFamily="34" charset="0"/>
              </a:rPr>
              <a:t>1926,</a:t>
            </a:r>
            <a:endParaRPr lang="tr-TR" sz="1600" dirty="0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en-US" sz="1600" dirty="0" smtClean="0">
                <a:latin typeface="Arial Narrow" panose="020B0606020202030204" pitchFamily="34" charset="0"/>
              </a:rPr>
              <a:t>but </a:t>
            </a:r>
            <a:r>
              <a:rPr lang="en-US" sz="1600" dirty="0">
                <a:latin typeface="Arial Narrow" panose="020B0606020202030204" pitchFamily="34" charset="0"/>
              </a:rPr>
              <a:t>the organization was established on 3 October </a:t>
            </a:r>
            <a:r>
              <a:rPr lang="en-US" sz="1600" dirty="0" smtClean="0">
                <a:latin typeface="Arial Narrow" panose="020B0606020202030204" pitchFamily="34" charset="0"/>
              </a:rPr>
              <a:t>1931</a:t>
            </a:r>
            <a:endParaRPr lang="tr-TR" sz="1600" dirty="0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en-US" sz="1600" dirty="0" smtClean="0">
                <a:latin typeface="Arial Narrow" panose="020B0606020202030204" pitchFamily="34" charset="0"/>
              </a:rPr>
              <a:t>and </a:t>
            </a:r>
            <a:r>
              <a:rPr lang="en-US" sz="1600" dirty="0">
                <a:latin typeface="Arial Narrow" panose="020B0606020202030204" pitchFamily="34" charset="0"/>
              </a:rPr>
              <a:t>opened officially on 1 January </a:t>
            </a:r>
            <a:r>
              <a:rPr lang="en-US" sz="1600" dirty="0" smtClean="0">
                <a:latin typeface="Arial Narrow" panose="020B0606020202030204" pitchFamily="34" charset="0"/>
              </a:rPr>
              <a:t>1932.</a:t>
            </a:r>
            <a:endParaRPr lang="tr-TR" sz="1600" dirty="0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en-US" sz="1600" dirty="0" smtClean="0">
                <a:latin typeface="Arial Narrow" panose="020B0606020202030204" pitchFamily="34" charset="0"/>
              </a:rPr>
              <a:t>The </a:t>
            </a:r>
            <a:r>
              <a:rPr lang="en-US" sz="1600" dirty="0">
                <a:latin typeface="Arial Narrow" panose="020B0606020202030204" pitchFamily="34" charset="0"/>
              </a:rPr>
              <a:t>Bank had, originally, a privilege of issuing banknotes for a period of 30 </a:t>
            </a:r>
            <a:r>
              <a:rPr lang="en-US" sz="1600" dirty="0" smtClean="0">
                <a:latin typeface="Arial Narrow" panose="020B0606020202030204" pitchFamily="34" charset="0"/>
              </a:rPr>
              <a:t>years.</a:t>
            </a:r>
            <a:endParaRPr lang="tr-TR" sz="1600" dirty="0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en-US" sz="1600" dirty="0" smtClean="0">
                <a:latin typeface="Arial Narrow" panose="020B0606020202030204" pitchFamily="34" charset="0"/>
              </a:rPr>
              <a:t>In </a:t>
            </a:r>
            <a:r>
              <a:rPr lang="en-US" sz="1600" dirty="0">
                <a:latin typeface="Arial Narrow" panose="020B0606020202030204" pitchFamily="34" charset="0"/>
              </a:rPr>
              <a:t>1955, this privilege was extended until </a:t>
            </a:r>
            <a:r>
              <a:rPr lang="en-US" sz="1600" dirty="0" smtClean="0">
                <a:latin typeface="Arial Narrow" panose="020B0606020202030204" pitchFamily="34" charset="0"/>
              </a:rPr>
              <a:t>1999.</a:t>
            </a:r>
            <a:endParaRPr lang="tr-TR" sz="1600" dirty="0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en-US" sz="1600" dirty="0" smtClean="0">
                <a:latin typeface="Arial Narrow" panose="020B0606020202030204" pitchFamily="34" charset="0"/>
              </a:rPr>
              <a:t>Finally </a:t>
            </a:r>
            <a:r>
              <a:rPr lang="en-US" sz="1600" dirty="0">
                <a:latin typeface="Arial Narrow" panose="020B0606020202030204" pitchFamily="34" charset="0"/>
              </a:rPr>
              <a:t>it was prolonged indefinitely in 1994.</a:t>
            </a:r>
            <a:endParaRPr lang="tr-TR" sz="1600" noProof="1" smtClean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366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Central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Banks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err="1" smtClean="0">
                <a:latin typeface="Arial Narrow" pitchFamily="34" charset="0"/>
              </a:rPr>
              <a:t>Turkey</a:t>
            </a:r>
            <a:r>
              <a:rPr lang="tr-TR" sz="2800" dirty="0" smtClean="0">
                <a:latin typeface="Arial Narrow" pitchFamily="34" charset="0"/>
              </a:rPr>
              <a:t> – </a:t>
            </a:r>
            <a:r>
              <a:rPr lang="tr-TR" sz="2800" dirty="0" err="1" smtClean="0">
                <a:latin typeface="Arial Narrow" pitchFamily="34" charset="0"/>
              </a:rPr>
              <a:t>CBRT</a:t>
            </a:r>
            <a:r>
              <a:rPr lang="tr-TR" sz="2800" dirty="0" smtClean="0">
                <a:latin typeface="Arial Narrow" pitchFamily="34" charset="0"/>
              </a:rPr>
              <a:t> / TCMB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256584"/>
          </a:xfrm>
          <a:ln w="25400">
            <a:noFill/>
          </a:ln>
        </p:spPr>
        <p:txBody>
          <a:bodyPr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endParaRPr lang="tr-TR" sz="1600" dirty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800" dirty="0" smtClean="0">
                <a:latin typeface="Arial Narrow" panose="020B0606020202030204" pitchFamily="34" charset="0"/>
              </a:rPr>
              <a:t>The </a:t>
            </a:r>
            <a:r>
              <a:rPr lang="en-US" sz="1800" dirty="0">
                <a:latin typeface="Arial Narrow" panose="020B0606020202030204" pitchFamily="34" charset="0"/>
              </a:rPr>
              <a:t>Law on the Central Bank of the Republic of Turkey, No. 1715 was enacted on 11 June </a:t>
            </a:r>
            <a:r>
              <a:rPr lang="en-US" sz="1800" dirty="0" smtClean="0">
                <a:latin typeface="Arial Narrow" panose="020B0606020202030204" pitchFamily="34" charset="0"/>
              </a:rPr>
              <a:t>1930.</a:t>
            </a:r>
            <a:endParaRPr lang="tr-TR" sz="18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800" dirty="0" smtClean="0">
                <a:latin typeface="Arial Narrow" panose="020B0606020202030204" pitchFamily="34" charset="0"/>
              </a:rPr>
              <a:t>According </a:t>
            </a:r>
            <a:r>
              <a:rPr lang="en-US" sz="1800" dirty="0">
                <a:latin typeface="Arial Narrow" panose="020B0606020202030204" pitchFamily="34" charset="0"/>
              </a:rPr>
              <a:t>to </a:t>
            </a:r>
            <a:r>
              <a:rPr lang="en-US" sz="1800" dirty="0" err="1" smtClean="0">
                <a:latin typeface="Arial Narrow" panose="020B0606020202030204" pitchFamily="34" charset="0"/>
              </a:rPr>
              <a:t>th</a:t>
            </a:r>
            <a:r>
              <a:rPr lang="tr-TR" sz="1800" dirty="0" smtClean="0">
                <a:latin typeface="Arial Narrow" panose="020B0606020202030204" pitchFamily="34" charset="0"/>
              </a:rPr>
              <a:t>at l</a:t>
            </a:r>
            <a:r>
              <a:rPr lang="en-US" sz="1800" dirty="0" smtClean="0">
                <a:latin typeface="Arial Narrow" panose="020B0606020202030204" pitchFamily="34" charset="0"/>
              </a:rPr>
              <a:t>aw</a:t>
            </a:r>
            <a:r>
              <a:rPr lang="tr-TR" sz="1800" dirty="0" smtClean="0">
                <a:latin typeface="Arial Narrow" panose="020B0606020202030204" pitchFamily="34" charset="0"/>
              </a:rPr>
              <a:t>, </a:t>
            </a:r>
            <a:r>
              <a:rPr lang="en-US" sz="1800" dirty="0" smtClean="0">
                <a:latin typeface="Arial Narrow" panose="020B0606020202030204" pitchFamily="34" charset="0"/>
              </a:rPr>
              <a:t>the </a:t>
            </a:r>
            <a:r>
              <a:rPr lang="en-US" sz="1800" dirty="0">
                <a:latin typeface="Arial Narrow" panose="020B0606020202030204" pitchFamily="34" charset="0"/>
              </a:rPr>
              <a:t>basic aim of the Bank </a:t>
            </a:r>
            <a:r>
              <a:rPr lang="en-US" sz="1800" dirty="0" smtClean="0">
                <a:latin typeface="Arial Narrow" panose="020B0606020202030204" pitchFamily="34" charset="0"/>
              </a:rPr>
              <a:t>was</a:t>
            </a:r>
            <a:endParaRPr lang="tr-TR" sz="18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800" dirty="0" smtClean="0">
                <a:latin typeface="Arial Narrow" panose="020B0606020202030204" pitchFamily="34" charset="0"/>
              </a:rPr>
              <a:t>to </a:t>
            </a:r>
            <a:r>
              <a:rPr lang="en-US" sz="1800" dirty="0">
                <a:latin typeface="Arial Narrow" panose="020B0606020202030204" pitchFamily="34" charset="0"/>
              </a:rPr>
              <a:t>support economic development of the </a:t>
            </a:r>
            <a:r>
              <a:rPr lang="en-US" sz="1800" dirty="0" smtClean="0">
                <a:latin typeface="Arial Narrow" panose="020B0606020202030204" pitchFamily="34" charset="0"/>
              </a:rPr>
              <a:t>country.</a:t>
            </a:r>
            <a:endParaRPr lang="tr-TR" sz="18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endParaRPr lang="tr-TR" sz="18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tr-TR" sz="1800" dirty="0" err="1" smtClean="0">
                <a:latin typeface="Arial Narrow" panose="020B0606020202030204" pitchFamily="34" charset="0"/>
              </a:rPr>
              <a:t>In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the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recent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past</a:t>
            </a:r>
            <a:r>
              <a:rPr lang="tr-TR" sz="1800" dirty="0" smtClean="0">
                <a:latin typeface="Arial Narrow" panose="020B0606020202030204" pitchFamily="34" charset="0"/>
              </a:rPr>
              <a:t>, </a:t>
            </a:r>
            <a:r>
              <a:rPr lang="tr-TR" sz="1800" dirty="0" err="1" smtClean="0">
                <a:latin typeface="Arial Narrow" panose="020B0606020202030204" pitchFamily="34" charset="0"/>
              </a:rPr>
              <a:t>however</a:t>
            </a:r>
            <a:r>
              <a:rPr lang="tr-TR" sz="1800" dirty="0" smtClean="0">
                <a:latin typeface="Arial Narrow" panose="020B0606020202030204" pitchFamily="34" charset="0"/>
              </a:rPr>
              <a:t>, t</a:t>
            </a:r>
            <a:r>
              <a:rPr lang="en-US" sz="1800" dirty="0" smtClean="0">
                <a:latin typeface="Arial Narrow" panose="020B0606020202030204" pitchFamily="34" charset="0"/>
              </a:rPr>
              <a:t>he </a:t>
            </a:r>
            <a:r>
              <a:rPr lang="en-US" sz="1800" dirty="0">
                <a:latin typeface="Arial Narrow" panose="020B0606020202030204" pitchFamily="34" charset="0"/>
              </a:rPr>
              <a:t>primary objective of the Bank </a:t>
            </a:r>
            <a:r>
              <a:rPr lang="tr-TR" sz="1800" dirty="0" err="1" smtClean="0">
                <a:latin typeface="Arial Narrow" panose="020B0606020202030204" pitchFamily="34" charset="0"/>
              </a:rPr>
              <a:t>was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changed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to</a:t>
            </a:r>
            <a:r>
              <a:rPr lang="en-US" sz="1800" dirty="0" smtClean="0">
                <a:latin typeface="Arial Narrow" panose="020B0606020202030204" pitchFamily="34" charset="0"/>
              </a:rPr>
              <a:t> be</a:t>
            </a:r>
            <a:endParaRPr lang="tr-TR" sz="18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800" dirty="0" smtClean="0">
                <a:latin typeface="Arial Narrow" panose="020B0606020202030204" pitchFamily="34" charset="0"/>
              </a:rPr>
              <a:t>to </a:t>
            </a:r>
            <a:r>
              <a:rPr lang="en-US" sz="1800" dirty="0">
                <a:latin typeface="Arial Narrow" panose="020B0606020202030204" pitchFamily="34" charset="0"/>
              </a:rPr>
              <a:t>achieve and maintain price </a:t>
            </a:r>
            <a:r>
              <a:rPr lang="en-US" sz="1800" dirty="0" smtClean="0">
                <a:latin typeface="Arial Narrow" panose="020B0606020202030204" pitchFamily="34" charset="0"/>
              </a:rPr>
              <a:t>stability.</a:t>
            </a:r>
            <a:endParaRPr lang="tr-TR" sz="18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800" dirty="0" smtClean="0">
                <a:latin typeface="Arial Narrow" panose="020B0606020202030204" pitchFamily="34" charset="0"/>
              </a:rPr>
              <a:t>The </a:t>
            </a:r>
            <a:r>
              <a:rPr lang="en-US" sz="1800" dirty="0">
                <a:latin typeface="Arial Narrow" panose="020B0606020202030204" pitchFamily="34" charset="0"/>
              </a:rPr>
              <a:t>Bank shall determine on its own discretion the monetary policy that it shall </a:t>
            </a:r>
            <a:r>
              <a:rPr lang="en-US" sz="1800" dirty="0" smtClean="0">
                <a:latin typeface="Arial Narrow" panose="020B0606020202030204" pitchFamily="34" charset="0"/>
              </a:rPr>
              <a:t>implement</a:t>
            </a:r>
            <a:endParaRPr lang="tr-TR" sz="18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800" dirty="0" smtClean="0">
                <a:latin typeface="Arial Narrow" panose="020B0606020202030204" pitchFamily="34" charset="0"/>
              </a:rPr>
              <a:t>and </a:t>
            </a:r>
            <a:r>
              <a:rPr lang="en-US" sz="1800" dirty="0">
                <a:latin typeface="Arial Narrow" panose="020B0606020202030204" pitchFamily="34" charset="0"/>
              </a:rPr>
              <a:t>the monetary policy instruments that it is going to </a:t>
            </a:r>
            <a:r>
              <a:rPr lang="en-US" sz="1800" dirty="0" smtClean="0">
                <a:latin typeface="Arial Narrow" panose="020B0606020202030204" pitchFamily="34" charset="0"/>
              </a:rPr>
              <a:t>use</a:t>
            </a:r>
            <a:endParaRPr lang="tr-TR" sz="1800" dirty="0" smtClean="0">
              <a:latin typeface="Arial Narrow" panose="020B060602020203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1800" dirty="0" smtClean="0">
                <a:latin typeface="Arial Narrow" panose="020B0606020202030204" pitchFamily="34" charset="0"/>
              </a:rPr>
              <a:t>in </a:t>
            </a:r>
            <a:r>
              <a:rPr lang="en-US" sz="1800" dirty="0">
                <a:latin typeface="Arial Narrow" panose="020B0606020202030204" pitchFamily="34" charset="0"/>
              </a:rPr>
              <a:t>order to achieve and maintain price stability</a:t>
            </a:r>
            <a:r>
              <a:rPr lang="en-US" sz="1800" dirty="0" smtClean="0">
                <a:latin typeface="Arial Narrow" panose="020B0606020202030204" pitchFamily="34" charset="0"/>
              </a:rPr>
              <a:t>.</a:t>
            </a:r>
            <a:endParaRPr lang="en-US" sz="18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0037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835696" y="188640"/>
            <a:ext cx="5040560" cy="1143000"/>
          </a:xfrm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Central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Banks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err="1" smtClean="0">
                <a:latin typeface="Arial Narrow" pitchFamily="34" charset="0"/>
              </a:rPr>
              <a:t>Fundamental</a:t>
            </a:r>
            <a:r>
              <a:rPr lang="tr-TR" sz="2800" dirty="0" smtClean="0">
                <a:latin typeface="Arial Narrow" pitchFamily="34" charset="0"/>
              </a:rPr>
              <a:t> Powers of </a:t>
            </a:r>
            <a:r>
              <a:rPr lang="tr-TR" sz="2800" dirty="0" err="1" smtClean="0">
                <a:latin typeface="Arial Narrow" pitchFamily="34" charset="0"/>
              </a:rPr>
              <a:t>CBT</a:t>
            </a:r>
            <a:r>
              <a:rPr lang="tr-TR" sz="2800" dirty="0" smtClean="0">
                <a:latin typeface="Arial Narrow" pitchFamily="34" charset="0"/>
              </a:rPr>
              <a:t> (TCMB)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835696" y="1484784"/>
            <a:ext cx="5040560" cy="5040560"/>
          </a:xfrm>
          <a:ln w="25400">
            <a:noFill/>
          </a:ln>
        </p:spPr>
        <p:txBody>
          <a:bodyPr>
            <a:noAutofit/>
          </a:bodyPr>
          <a:lstStyle/>
          <a:p>
            <a:pPr marL="800100" lvl="2" indent="0">
              <a:spcBef>
                <a:spcPts val="0"/>
              </a:spcBef>
              <a:buNone/>
            </a:pPr>
            <a:endParaRPr lang="tr-TR" sz="1600" dirty="0" smtClean="0">
              <a:latin typeface="Arial Narrow" panose="020B0606020202030204" pitchFamily="34" charset="0"/>
            </a:endParaRPr>
          </a:p>
          <a:p>
            <a:pPr marL="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00" dirty="0" smtClean="0">
                <a:latin typeface="Arial Narrow" panose="020B0606020202030204" pitchFamily="34" charset="0"/>
              </a:rPr>
              <a:t>Fundamental </a:t>
            </a:r>
            <a:r>
              <a:rPr lang="en-US" sz="1800" dirty="0">
                <a:latin typeface="Arial Narrow" panose="020B0606020202030204" pitchFamily="34" charset="0"/>
              </a:rPr>
              <a:t>powers of </a:t>
            </a:r>
            <a:r>
              <a:rPr lang="tr-TR" sz="1800" dirty="0" smtClean="0">
                <a:latin typeface="Arial Narrow" panose="020B0606020202030204" pitchFamily="34" charset="0"/>
              </a:rPr>
              <a:t>Central Bank</a:t>
            </a:r>
            <a:r>
              <a:rPr lang="en-US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smtClean="0">
                <a:latin typeface="Arial Narrow" panose="020B0606020202030204" pitchFamily="34" charset="0"/>
              </a:rPr>
              <a:t>of </a:t>
            </a:r>
            <a:r>
              <a:rPr lang="tr-TR" sz="1800" dirty="0" err="1" smtClean="0">
                <a:latin typeface="Arial Narrow" panose="020B0606020202030204" pitchFamily="34" charset="0"/>
              </a:rPr>
              <a:t>Turkey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are</a:t>
            </a:r>
            <a:r>
              <a:rPr lang="en-US" sz="1800" dirty="0" smtClean="0">
                <a:latin typeface="Arial Narrow" panose="020B0606020202030204" pitchFamily="34" charset="0"/>
              </a:rPr>
              <a:t>:</a:t>
            </a:r>
            <a:endParaRPr lang="en-US" sz="1800" dirty="0">
              <a:latin typeface="Arial Narrow" panose="020B0606020202030204" pitchFamily="34" charset="0"/>
            </a:endParaRPr>
          </a:p>
          <a:p>
            <a:pPr marL="0"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Arial Narrow" panose="020B0606020202030204" pitchFamily="34" charset="0"/>
              </a:rPr>
              <a:t>exclusive </a:t>
            </a:r>
            <a:r>
              <a:rPr lang="en-US" sz="1800" dirty="0">
                <a:latin typeface="Arial Narrow" panose="020B0606020202030204" pitchFamily="34" charset="0"/>
              </a:rPr>
              <a:t>right to issue banknotes in Turkey</a:t>
            </a:r>
          </a:p>
          <a:p>
            <a:pPr marL="0"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Arial Narrow" panose="020B0606020202030204" pitchFamily="34" charset="0"/>
              </a:rPr>
              <a:t>right </a:t>
            </a:r>
            <a:r>
              <a:rPr lang="en-US" sz="1800" dirty="0">
                <a:latin typeface="Arial Narrow" panose="020B0606020202030204" pitchFamily="34" charset="0"/>
              </a:rPr>
              <a:t>to determine of the inflation </a:t>
            </a:r>
            <a:r>
              <a:rPr lang="en-US" sz="1800" dirty="0" smtClean="0">
                <a:latin typeface="Arial Narrow" panose="020B0606020202030204" pitchFamily="34" charset="0"/>
              </a:rPr>
              <a:t>target</a:t>
            </a:r>
            <a:endParaRPr lang="tr-TR" sz="1800" dirty="0" smtClean="0">
              <a:latin typeface="Arial Narrow" panose="020B0606020202030204" pitchFamily="34" charset="0"/>
            </a:endParaRPr>
          </a:p>
          <a:p>
            <a:pPr marL="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tr-TR" sz="1800" dirty="0">
                <a:latin typeface="Arial Narrow" panose="020B0606020202030204" pitchFamily="34" charset="0"/>
              </a:rPr>
              <a:t>	</a:t>
            </a:r>
            <a:r>
              <a:rPr lang="en-US" sz="1800" dirty="0" smtClean="0">
                <a:latin typeface="Arial Narrow" panose="020B0606020202030204" pitchFamily="34" charset="0"/>
              </a:rPr>
              <a:t>and implement </a:t>
            </a:r>
            <a:r>
              <a:rPr lang="en-US" sz="1800" dirty="0">
                <a:latin typeface="Arial Narrow" panose="020B0606020202030204" pitchFamily="34" charset="0"/>
              </a:rPr>
              <a:t>of monetary policy</a:t>
            </a:r>
          </a:p>
          <a:p>
            <a:pPr marL="0"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Arial Narrow" panose="020B0606020202030204" pitchFamily="34" charset="0"/>
              </a:rPr>
              <a:t>role </a:t>
            </a:r>
            <a:r>
              <a:rPr lang="en-US" sz="1800" dirty="0">
                <a:latin typeface="Arial Narrow" panose="020B0606020202030204" pitchFamily="34" charset="0"/>
              </a:rPr>
              <a:t>of </a:t>
            </a:r>
            <a:r>
              <a:rPr lang="en-US" sz="1800" dirty="0" smtClean="0">
                <a:latin typeface="Arial Narrow" panose="020B0606020202030204" pitchFamily="34" charset="0"/>
              </a:rPr>
              <a:t>the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lender</a:t>
            </a:r>
            <a:r>
              <a:rPr lang="tr-TR" sz="1800" dirty="0" smtClean="0">
                <a:latin typeface="Arial Narrow" panose="020B0606020202030204" pitchFamily="34" charset="0"/>
              </a:rPr>
              <a:t> of </a:t>
            </a:r>
            <a:r>
              <a:rPr lang="tr-TR" sz="1800" dirty="0" err="1" smtClean="0">
                <a:latin typeface="Arial Narrow" panose="020B0606020202030204" pitchFamily="34" charset="0"/>
              </a:rPr>
              <a:t>last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resort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for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financial</a:t>
            </a:r>
            <a:r>
              <a:rPr lang="tr-TR" sz="1800" dirty="0" smtClean="0">
                <a:latin typeface="Arial Narrow" panose="020B0606020202030204" pitchFamily="34" charset="0"/>
              </a:rPr>
              <a:t> </a:t>
            </a:r>
            <a:r>
              <a:rPr lang="tr-TR" sz="1800" dirty="0" err="1" smtClean="0">
                <a:latin typeface="Arial Narrow" panose="020B0606020202030204" pitchFamily="34" charset="0"/>
              </a:rPr>
              <a:t>institutions</a:t>
            </a:r>
            <a:endParaRPr lang="en-US" sz="1800" dirty="0">
              <a:latin typeface="Arial Narrow" panose="020B0606020202030204" pitchFamily="34" charset="0"/>
            </a:endParaRPr>
          </a:p>
          <a:p>
            <a:pPr marL="0"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 smtClean="0">
                <a:latin typeface="Arial Narrow" panose="020B0606020202030204" pitchFamily="34" charset="0"/>
              </a:rPr>
              <a:t>power </a:t>
            </a:r>
            <a:r>
              <a:rPr lang="en-US" sz="1800" dirty="0">
                <a:latin typeface="Arial Narrow" panose="020B0606020202030204" pitchFamily="34" charset="0"/>
              </a:rPr>
              <a:t>to request </a:t>
            </a:r>
            <a:r>
              <a:rPr lang="en-US" sz="1800" dirty="0" smtClean="0">
                <a:latin typeface="Arial Narrow" panose="020B0606020202030204" pitchFamily="34" charset="0"/>
              </a:rPr>
              <a:t>information </a:t>
            </a:r>
            <a:r>
              <a:rPr lang="en-US" sz="1800" dirty="0">
                <a:latin typeface="Arial Narrow" panose="020B0606020202030204" pitchFamily="34" charset="0"/>
              </a:rPr>
              <a:t>from financial institutions</a:t>
            </a:r>
          </a:p>
        </p:txBody>
      </p:sp>
    </p:spTree>
    <p:extLst>
      <p:ext uri="{BB962C8B-B14F-4D97-AF65-F5344CB8AC3E}">
        <p14:creationId xmlns:p14="http://schemas.microsoft.com/office/powerpoint/2010/main" val="815489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Money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Supply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err="1" smtClean="0">
                <a:latin typeface="Arial Narrow" pitchFamily="34" charset="0"/>
              </a:rPr>
              <a:t>Players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endParaRPr lang="tr-TR" sz="900" dirty="0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The ″cast of characters″ in the money supply theory is as follows: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900" noProof="1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[1] The central bank,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the government agency that oversees the banking system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and is responsible for the conduct of monetary policy,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900" noProof="1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[2] Banks (depository institutions),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the financial intermediaries that accept deposits from individuals and institutions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and make loans,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900" noProof="1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[3] Depositors – individuals and institutions.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900" noProof="1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Of the three players, the central bank is the most important.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The central bank’s conduct of monetary policy involves actions that affect its balance sheet.</a:t>
            </a:r>
            <a:endParaRPr lang="tr-TR" sz="1600" noProof="1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4622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Money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Supply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err="1" smtClean="0">
                <a:latin typeface="Arial Narrow" pitchFamily="34" charset="0"/>
              </a:rPr>
              <a:t>Balance</a:t>
            </a:r>
            <a:r>
              <a:rPr lang="tr-TR" sz="2800" dirty="0" smtClean="0">
                <a:latin typeface="Arial Narrow" pitchFamily="34" charset="0"/>
              </a:rPr>
              <a:t> </a:t>
            </a:r>
            <a:r>
              <a:rPr lang="tr-TR" sz="2800" dirty="0" err="1" smtClean="0">
                <a:latin typeface="Arial Narrow" pitchFamily="34" charset="0"/>
              </a:rPr>
              <a:t>Sheet</a:t>
            </a:r>
            <a:r>
              <a:rPr lang="tr-TR" sz="2800" dirty="0" smtClean="0">
                <a:latin typeface="Arial Narrow" pitchFamily="34" charset="0"/>
              </a:rPr>
              <a:t> of </a:t>
            </a:r>
            <a:r>
              <a:rPr lang="tr-TR" sz="2800" dirty="0" err="1" smtClean="0">
                <a:latin typeface="Arial Narrow" pitchFamily="34" charset="0"/>
              </a:rPr>
              <a:t>the</a:t>
            </a:r>
            <a:r>
              <a:rPr lang="tr-TR" sz="2800" dirty="0" smtClean="0">
                <a:latin typeface="Arial Narrow" pitchFamily="34" charset="0"/>
              </a:rPr>
              <a:t> Central Bank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256584"/>
          </a:xfrm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endParaRPr lang="tr-TR" sz="1600" dirty="0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8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solidFill>
                  <a:srgbClr val="000066"/>
                </a:solidFill>
                <a:latin typeface="Arial Narrow" panose="020B0606020202030204" pitchFamily="34" charset="0"/>
              </a:rPr>
              <a:t>Currency in circulation ( C ):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Currency held by the public; currency held by depository institutions is counted as part of the Reserves.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solidFill>
                  <a:srgbClr val="000066"/>
                </a:solidFill>
                <a:latin typeface="Arial Narrow" panose="020B0606020202030204" pitchFamily="34" charset="0"/>
              </a:rPr>
              <a:t>Reserves ( R ):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All banks have an account at the Central Bank in which they hold deposits.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  <a:t>Required reserves </a:t>
            </a:r>
            <a:r>
              <a:rPr lang="tr-TR" sz="1600" noProof="1" smtClean="0">
                <a:latin typeface="Arial Narrow" panose="020B0606020202030204" pitchFamily="34" charset="0"/>
              </a:rPr>
              <a:t>are those that the Central Bank requires banks to hold.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Any additional reserves the banks choose to hold are called </a:t>
            </a:r>
            <a:r>
              <a:rPr lang="tr-TR" sz="16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  <a:t>excess reserves</a:t>
            </a:r>
            <a:r>
              <a:rPr lang="tr-TR" sz="1600" noProof="1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The Central Bank might require that for every dollar of deposits at a depository institution, a certain fraction (say, 10 cents) must be held as reserves.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This fraction (10%) is called the </a:t>
            </a:r>
            <a:r>
              <a:rPr lang="tr-TR" sz="16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  <a:t>required reserve ratio</a:t>
            </a:r>
            <a:r>
              <a:rPr lang="tr-TR" sz="1600" noProof="1" smtClean="0">
                <a:latin typeface="Arial Narrow" panose="020B0606020202030204" pitchFamily="34" charset="0"/>
              </a:rPr>
              <a:t>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The sum of the Currency in Circulation and the Reserves is called the </a:t>
            </a:r>
            <a:r>
              <a:rPr lang="tr-TR" sz="16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  <a:t>monetary base</a:t>
            </a:r>
            <a:r>
              <a:rPr lang="tr-TR" sz="1600" noProof="1" smtClean="0">
                <a:latin typeface="Arial Narrow" panose="020B0606020202030204" pitchFamily="34" charset="0"/>
              </a:rPr>
              <a:t>: MB = C + R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800" i="1" noProof="1" smtClean="0">
              <a:latin typeface="Bookman Old Style" panose="02050604050505020204" pitchFamily="18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solidFill>
                  <a:srgbClr val="000066"/>
                </a:solidFill>
                <a:latin typeface="Arial Narrow" panose="020B0606020202030204" pitchFamily="34" charset="0"/>
              </a:rPr>
              <a:t>Securities: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The Central Bank’s holdings of securities issued by the Government most of the time,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other securities in unusual circumstances.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solidFill>
                  <a:srgbClr val="000066"/>
                </a:solidFill>
                <a:latin typeface="Arial Narrow" panose="020B0606020202030204" pitchFamily="34" charset="0"/>
              </a:rPr>
              <a:t>Loans to Financial Institutions: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During normal times, the Central Bank makes loans only to banking institutions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and the interest rate charged banks for these loans is called the </a:t>
            </a:r>
            <a:r>
              <a:rPr lang="tr-TR" sz="16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  <a:t>discount rate</a:t>
            </a:r>
            <a:r>
              <a:rPr lang="tr-TR" sz="1600" noProof="1" smtClean="0">
                <a:latin typeface="Arial Narrow" panose="020B0606020202030204" pitchFamily="34" charset="0"/>
              </a:rPr>
              <a:t>.</a:t>
            </a:r>
            <a:endParaRPr lang="tr-TR" sz="1600" noProof="1">
              <a:latin typeface="Arial Narrow" panose="020B0606020202030204" pitchFamily="34" charset="0"/>
            </a:endParaRP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8754" y="1412776"/>
            <a:ext cx="3806492" cy="1008112"/>
          </a:xfrm>
          <a:prstGeom prst="rect">
            <a:avLst/>
          </a:prstGeom>
          <a:ln w="3175"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51701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Money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Supply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smtClean="0">
                <a:latin typeface="Arial Narrow" pitchFamily="34" charset="0"/>
              </a:rPr>
              <a:t>Control of </a:t>
            </a:r>
            <a:r>
              <a:rPr lang="tr-TR" sz="2800" dirty="0" err="1" smtClean="0">
                <a:latin typeface="Arial Narrow" pitchFamily="34" charset="0"/>
              </a:rPr>
              <a:t>the</a:t>
            </a:r>
            <a:r>
              <a:rPr lang="tr-TR" sz="2800" dirty="0" smtClean="0">
                <a:latin typeface="Arial Narrow" pitchFamily="34" charset="0"/>
              </a:rPr>
              <a:t> </a:t>
            </a:r>
            <a:r>
              <a:rPr lang="tr-TR" sz="2800" dirty="0" err="1" smtClean="0">
                <a:latin typeface="Arial Narrow" pitchFamily="34" charset="0"/>
              </a:rPr>
              <a:t>Monetary</a:t>
            </a:r>
            <a:r>
              <a:rPr lang="tr-TR" sz="2800" dirty="0" smtClean="0">
                <a:latin typeface="Arial Narrow" pitchFamily="34" charset="0"/>
              </a:rPr>
              <a:t> Base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endParaRPr lang="tr-TR" sz="900" dirty="0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The primary way in which the Central Bank causes changes in the monetary base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is through its </a:t>
            </a:r>
            <a:r>
              <a:rPr lang="tr-TR" sz="18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  <a:t>open market operations</a:t>
            </a:r>
            <a:r>
              <a:rPr lang="tr-TR" sz="1800" noProof="1">
                <a:latin typeface="Arial Narrow" panose="020B0606020202030204" pitchFamily="34" charset="0"/>
              </a:rPr>
              <a:t>;</a:t>
            </a:r>
            <a:endParaRPr lang="tr-TR" sz="1800" noProof="1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>
                <a:latin typeface="Arial Narrow" panose="020B0606020202030204" pitchFamily="34" charset="0"/>
              </a:rPr>
              <a:t>t</a:t>
            </a:r>
            <a:r>
              <a:rPr lang="tr-TR" sz="1800" noProof="1" smtClean="0">
                <a:latin typeface="Arial Narrow" panose="020B0606020202030204" pitchFamily="34" charset="0"/>
              </a:rPr>
              <a:t>he Central Bank buys/sells bonds from/to banks.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Buying expands MB (=C+R) by increasing reserves of banks held at the Central Bank.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Selling contracts MB.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9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Lending to financial institutions also expands MB by increasing reserves.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9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The Central Bank sets the discount rate (interest rate on loans to banks), and then banks make decisions about whether to borrow.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The component of Monetary Base which is created by loans from the Central Bank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(called </a:t>
            </a:r>
            <a:r>
              <a:rPr lang="tr-TR" sz="18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  <a:t>borrowed reserves</a:t>
            </a:r>
            <a:r>
              <a:rPr lang="tr-TR" sz="1800" noProof="1" smtClean="0">
                <a:latin typeface="Arial Narrow" panose="020B0606020202030204" pitchFamily="34" charset="0"/>
              </a:rPr>
              <a:t>)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is less tightly controlled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compared to the component that is created by open market operations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800" noProof="1" smtClean="0">
                <a:latin typeface="Arial Narrow" panose="020B0606020202030204" pitchFamily="34" charset="0"/>
              </a:rPr>
              <a:t>which is called the </a:t>
            </a:r>
            <a:r>
              <a:rPr lang="tr-TR" sz="18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  <a:t>nonborrowed monetary base</a:t>
            </a:r>
            <a:r>
              <a:rPr lang="tr-TR" sz="1800" noProof="1" smtClean="0">
                <a:latin typeface="Arial Narrow" panose="020B0606020202030204" pitchFamily="34" charset="0"/>
              </a:rPr>
              <a:t>.</a:t>
            </a:r>
            <a:endParaRPr lang="tr-TR" sz="1600" noProof="1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8029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Money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Supply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err="1" smtClean="0">
                <a:latin typeface="Arial Narrow" pitchFamily="34" charset="0"/>
              </a:rPr>
              <a:t>Multiple</a:t>
            </a:r>
            <a:r>
              <a:rPr lang="tr-TR" sz="2800" dirty="0" smtClean="0">
                <a:latin typeface="Arial Narrow" pitchFamily="34" charset="0"/>
              </a:rPr>
              <a:t> </a:t>
            </a:r>
            <a:r>
              <a:rPr lang="tr-TR" sz="2800" dirty="0" err="1" smtClean="0">
                <a:latin typeface="Arial Narrow" pitchFamily="34" charset="0"/>
              </a:rPr>
              <a:t>Deposit</a:t>
            </a:r>
            <a:r>
              <a:rPr lang="tr-TR" sz="2800" dirty="0" smtClean="0">
                <a:latin typeface="Arial Narrow" pitchFamily="34" charset="0"/>
              </a:rPr>
              <a:t> </a:t>
            </a:r>
            <a:r>
              <a:rPr lang="tr-TR" sz="2800" dirty="0" err="1" smtClean="0">
                <a:latin typeface="Arial Narrow" pitchFamily="34" charset="0"/>
              </a:rPr>
              <a:t>Creation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5112568"/>
          </a:xfrm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When the Central Bank supplies the banking system with 1$ of additional reserves,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deposits increase by a multiple of this amount,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a process called ″multiple deposit creation″.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8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For example, when the Central Bank buys 100 m$ worth bonds from the First National Bank, the bank finds that it has an increase in reserves of 100 m$.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Let us say the bank decides to make a loan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equal in amount to the 100 m$ rise in excess reserves.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8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The borrower deposits the borrowed amount of 100 m$ to Bank A.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If the required reserve ratio is 10%,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Bank A will now find itself with a 10 m$ increase in required reserves,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leaving it 90 m$ of excess reserves which it can lend.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800" noProof="1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>
                <a:latin typeface="Arial Narrow" panose="020B0606020202030204" pitchFamily="34" charset="0"/>
              </a:rPr>
              <a:t>The </a:t>
            </a:r>
            <a:r>
              <a:rPr lang="tr-TR" sz="1600" noProof="1" smtClean="0">
                <a:latin typeface="Arial Narrow" panose="020B0606020202030204" pitchFamily="34" charset="0"/>
              </a:rPr>
              <a:t>new borrower </a:t>
            </a:r>
            <a:r>
              <a:rPr lang="tr-TR" sz="1600" noProof="1">
                <a:latin typeface="Arial Narrow" panose="020B0606020202030204" pitchFamily="34" charset="0"/>
              </a:rPr>
              <a:t>deposits the borrowed amount of 9</a:t>
            </a:r>
            <a:r>
              <a:rPr lang="tr-TR" sz="1600" noProof="1" smtClean="0">
                <a:latin typeface="Arial Narrow" panose="020B0606020202030204" pitchFamily="34" charset="0"/>
              </a:rPr>
              <a:t>0 </a:t>
            </a:r>
            <a:r>
              <a:rPr lang="tr-TR" sz="1600" noProof="1">
                <a:latin typeface="Arial Narrow" panose="020B0606020202030204" pitchFamily="34" charset="0"/>
              </a:rPr>
              <a:t>m$ to Bank </a:t>
            </a:r>
            <a:r>
              <a:rPr lang="tr-TR" sz="1600" noProof="1" smtClean="0">
                <a:latin typeface="Arial Narrow" panose="020B0606020202030204" pitchFamily="34" charset="0"/>
              </a:rPr>
              <a:t>B.</a:t>
            </a:r>
            <a:endParaRPr lang="tr-TR" sz="16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Since </a:t>
            </a:r>
            <a:r>
              <a:rPr lang="tr-TR" sz="1600" noProof="1">
                <a:latin typeface="Arial Narrow" panose="020B0606020202030204" pitchFamily="34" charset="0"/>
              </a:rPr>
              <a:t>the required reserve ratio is 10</a:t>
            </a:r>
            <a:r>
              <a:rPr lang="tr-TR" sz="1600" noProof="1" smtClean="0">
                <a:latin typeface="Arial Narrow" panose="020B0606020202030204" pitchFamily="34" charset="0"/>
              </a:rPr>
              <a:t>%,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Bank B </a:t>
            </a:r>
            <a:r>
              <a:rPr lang="tr-TR" sz="1600" noProof="1">
                <a:latin typeface="Arial Narrow" panose="020B0606020202030204" pitchFamily="34" charset="0"/>
              </a:rPr>
              <a:t>will now find itself with a </a:t>
            </a:r>
            <a:r>
              <a:rPr lang="tr-TR" sz="1600" noProof="1" smtClean="0">
                <a:latin typeface="Arial Narrow" panose="020B0606020202030204" pitchFamily="34" charset="0"/>
              </a:rPr>
              <a:t>9 </a:t>
            </a:r>
            <a:r>
              <a:rPr lang="tr-TR" sz="1600" noProof="1">
                <a:latin typeface="Arial Narrow" panose="020B0606020202030204" pitchFamily="34" charset="0"/>
              </a:rPr>
              <a:t>m$ increase in required </a:t>
            </a:r>
            <a:r>
              <a:rPr lang="tr-TR" sz="1600" noProof="1" smtClean="0">
                <a:latin typeface="Arial Narrow" panose="020B0606020202030204" pitchFamily="34" charset="0"/>
              </a:rPr>
              <a:t>reserves,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leaving </a:t>
            </a:r>
            <a:r>
              <a:rPr lang="tr-TR" sz="1600" noProof="1">
                <a:latin typeface="Arial Narrow" panose="020B0606020202030204" pitchFamily="34" charset="0"/>
              </a:rPr>
              <a:t>it </a:t>
            </a:r>
            <a:r>
              <a:rPr lang="tr-TR" sz="1600" noProof="1" smtClean="0">
                <a:latin typeface="Arial Narrow" panose="020B0606020202030204" pitchFamily="34" charset="0"/>
              </a:rPr>
              <a:t>81 </a:t>
            </a:r>
            <a:r>
              <a:rPr lang="tr-TR" sz="1600" noProof="1">
                <a:latin typeface="Arial Narrow" panose="020B0606020202030204" pitchFamily="34" charset="0"/>
              </a:rPr>
              <a:t>m$ of excess reserves which it can lend.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800" noProof="1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The process goes on, eventually leading to a 1,000 m$ expansion in deposits.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solidFill>
                  <a:srgbClr val="800000"/>
                </a:solidFill>
                <a:latin typeface="Symbol" panose="05050102010706020507" pitchFamily="18" charset="2"/>
              </a:rPr>
              <a:t>D</a:t>
            </a:r>
            <a:r>
              <a:rPr lang="tr-TR" sz="16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  <a:t> Deposits = </a:t>
            </a:r>
            <a:r>
              <a:rPr lang="tr-TR" sz="1600" noProof="1" smtClean="0">
                <a:solidFill>
                  <a:srgbClr val="800000"/>
                </a:solidFill>
                <a:latin typeface="Symbol" panose="05050102010706020507" pitchFamily="18" charset="2"/>
              </a:rPr>
              <a:t>D</a:t>
            </a:r>
            <a:r>
              <a:rPr lang="tr-TR" sz="16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  <a:t> Reserves * Simple Deposit Multiplier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>
                <a:solidFill>
                  <a:srgbClr val="800000"/>
                </a:solidFill>
                <a:latin typeface="Arial Narrow" panose="020B0606020202030204" pitchFamily="34" charset="0"/>
              </a:rPr>
              <a:t>w</a:t>
            </a:r>
            <a:r>
              <a:rPr lang="tr-TR" sz="16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  <a:t>here Simple Deposit Multiplier = 1 / Required Reserve Ratio</a:t>
            </a:r>
            <a:endParaRPr lang="tr-TR" sz="1600" noProof="1">
              <a:solidFill>
                <a:srgbClr val="80000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4826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43608" y="332655"/>
            <a:ext cx="3456384" cy="1143000"/>
          </a:xfrm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000" dirty="0">
                <a:latin typeface="Arial Narrow" pitchFamily="34" charset="0"/>
              </a:rPr>
              <a:t>Money </a:t>
            </a:r>
            <a:r>
              <a:rPr lang="tr-TR" sz="2000" dirty="0" err="1">
                <a:latin typeface="Arial Narrow" pitchFamily="34" charset="0"/>
              </a:rPr>
              <a:t>Supply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Multiple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Deposit</a:t>
            </a:r>
            <a:r>
              <a:rPr lang="tr-TR" sz="2400" dirty="0">
                <a:solidFill>
                  <a:srgbClr val="800000"/>
                </a:solidFill>
                <a:latin typeface="Arial Narrow" pitchFamily="34" charset="0"/>
              </a:rPr>
              <a:t> </a:t>
            </a:r>
            <a:r>
              <a:rPr lang="tr-TR" sz="2400" dirty="0" err="1">
                <a:solidFill>
                  <a:srgbClr val="800000"/>
                </a:solidFill>
                <a:latin typeface="Arial Narrow" pitchFamily="34" charset="0"/>
              </a:rPr>
              <a:t>Creation</a:t>
            </a:r>
            <a:endParaRPr lang="tr-TR" sz="2400" dirty="0">
              <a:solidFill>
                <a:srgbClr val="800000"/>
              </a:solidFill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11560" y="1600200"/>
            <a:ext cx="4320480" cy="4525963"/>
          </a:xfrm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Central Bank’s purchase of 100 </a:t>
            </a:r>
            <a:r>
              <a:rPr lang="tr-TR" sz="1600" noProof="1">
                <a:latin typeface="Arial Narrow" panose="020B0606020202030204" pitchFamily="34" charset="0"/>
              </a:rPr>
              <a:t>m$ worth </a:t>
            </a:r>
            <a:r>
              <a:rPr lang="tr-TR" sz="1600" noProof="1" smtClean="0">
                <a:latin typeface="Arial Narrow" panose="020B0606020202030204" pitchFamily="34" charset="0"/>
              </a:rPr>
              <a:t>bonds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from </a:t>
            </a:r>
            <a:r>
              <a:rPr lang="tr-TR" sz="1600" noProof="1">
                <a:latin typeface="Arial Narrow" panose="020B0606020202030204" pitchFamily="34" charset="0"/>
              </a:rPr>
              <a:t>the First National </a:t>
            </a:r>
            <a:r>
              <a:rPr lang="tr-TR" sz="1600" noProof="1" smtClean="0">
                <a:latin typeface="Arial Narrow" panose="020B0606020202030204" pitchFamily="34" charset="0"/>
              </a:rPr>
              <a:t>Bank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eventually leads to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a 400 </a:t>
            </a:r>
            <a:r>
              <a:rPr lang="tr-TR" sz="1600" noProof="1">
                <a:latin typeface="Arial Narrow" panose="020B0606020202030204" pitchFamily="34" charset="0"/>
              </a:rPr>
              <a:t>m$ expansion in </a:t>
            </a:r>
            <a:r>
              <a:rPr lang="tr-TR" sz="1600" noProof="1" smtClean="0">
                <a:latin typeface="Arial Narrow" panose="020B0606020202030204" pitchFamily="34" charset="0"/>
              </a:rPr>
              <a:t>deposits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>
                <a:latin typeface="Arial Narrow" panose="020B0606020202030204" pitchFamily="34" charset="0"/>
              </a:rPr>
              <a:t>w</a:t>
            </a:r>
            <a:r>
              <a:rPr lang="tr-TR" sz="1600" noProof="1" smtClean="0">
                <a:latin typeface="Arial Narrow" panose="020B0606020202030204" pitchFamily="34" charset="0"/>
              </a:rPr>
              <a:t>ith a 25% Required Reserve Ratio.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600" noProof="1" smtClean="0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endParaRPr lang="tr-TR" sz="1600" noProof="1"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solidFill>
                  <a:srgbClr val="800000"/>
                </a:solidFill>
                <a:latin typeface="Symbol" panose="05050102010706020507" pitchFamily="18" charset="2"/>
              </a:rPr>
              <a:t>D</a:t>
            </a:r>
            <a:r>
              <a:rPr lang="tr-TR" sz="16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  <a:t> Deposits = </a:t>
            </a:r>
            <a:r>
              <a:rPr lang="tr-TR" sz="1600" noProof="1" smtClean="0">
                <a:solidFill>
                  <a:srgbClr val="800000"/>
                </a:solidFill>
                <a:latin typeface="Symbol" panose="05050102010706020507" pitchFamily="18" charset="2"/>
              </a:rPr>
              <a:t>D</a:t>
            </a:r>
            <a:r>
              <a:rPr lang="tr-TR" sz="16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  <a:t> Reserves * Simple </a:t>
            </a:r>
            <a:r>
              <a:rPr lang="tr-TR" sz="1600" noProof="1">
                <a:solidFill>
                  <a:srgbClr val="800000"/>
                </a:solidFill>
                <a:latin typeface="Arial Narrow" panose="020B0606020202030204" pitchFamily="34" charset="0"/>
              </a:rPr>
              <a:t>Deposit </a:t>
            </a:r>
            <a:r>
              <a:rPr lang="tr-TR" sz="16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  <a:t>Multiplier</a:t>
            </a:r>
          </a:p>
          <a:p>
            <a:pPr marL="0" lvl="0" indent="0" algn="ctr">
              <a:spcBef>
                <a:spcPts val="0"/>
              </a:spcBef>
              <a:buNone/>
            </a:pPr>
            <a:endParaRPr lang="tr-TR" sz="1600" noProof="1">
              <a:solidFill>
                <a:srgbClr val="800000"/>
              </a:solidFill>
              <a:latin typeface="Arial Narrow" panose="020B0606020202030204" pitchFamily="34" charset="0"/>
            </a:endParaRP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>
                <a:solidFill>
                  <a:srgbClr val="800000"/>
                </a:solidFill>
                <a:latin typeface="Arial Narrow" panose="020B0606020202030204" pitchFamily="34" charset="0"/>
              </a:rPr>
              <a:t>w</a:t>
            </a:r>
            <a:r>
              <a:rPr lang="tr-TR" sz="16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  <a:t>here</a:t>
            </a:r>
          </a:p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  <a:t>Simple </a:t>
            </a:r>
            <a:r>
              <a:rPr lang="tr-TR" sz="1600" noProof="1">
                <a:solidFill>
                  <a:srgbClr val="800000"/>
                </a:solidFill>
                <a:latin typeface="Arial Narrow" panose="020B0606020202030204" pitchFamily="34" charset="0"/>
              </a:rPr>
              <a:t>Deposit Multiplier </a:t>
            </a:r>
            <a:r>
              <a:rPr lang="tr-TR" sz="1600" noProof="1" smtClean="0">
                <a:solidFill>
                  <a:srgbClr val="800000"/>
                </a:solidFill>
                <a:latin typeface="Arial Narrow" panose="020B0606020202030204" pitchFamily="34" charset="0"/>
              </a:rPr>
              <a:t>= 1 </a:t>
            </a:r>
            <a:r>
              <a:rPr lang="tr-TR" sz="1600" noProof="1">
                <a:solidFill>
                  <a:srgbClr val="800000"/>
                </a:solidFill>
                <a:latin typeface="Arial Narrow" panose="020B0606020202030204" pitchFamily="34" charset="0"/>
              </a:rPr>
              <a:t>/ Required Reserve Ratio</a:t>
            </a: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096" y="332654"/>
            <a:ext cx="2949943" cy="6224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29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99592" y="116632"/>
            <a:ext cx="7428933" cy="1143000"/>
          </a:xfrm>
          <a:ln w="25400">
            <a:noFill/>
          </a:ln>
        </p:spPr>
        <p:txBody>
          <a:bodyPr>
            <a:noAutofit/>
          </a:bodyPr>
          <a:lstStyle/>
          <a:p>
            <a:r>
              <a:rPr lang="tr-TR" sz="1400" dirty="0" err="1">
                <a:latin typeface="Arial Narrow" pitchFamily="34" charset="0"/>
              </a:rPr>
              <a:t>NTE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smtClean="0">
                <a:latin typeface="Arial Narrow" pitchFamily="34" charset="0"/>
              </a:rPr>
              <a:t>1010 </a:t>
            </a:r>
            <a:r>
              <a:rPr lang="tr-TR" sz="1400" dirty="0">
                <a:latin typeface="Arial Narrow" pitchFamily="34" charset="0"/>
              </a:rPr>
              <a:t>– </a:t>
            </a:r>
            <a:r>
              <a:rPr lang="tr-TR" sz="1400" dirty="0" err="1">
                <a:latin typeface="Arial Narrow" pitchFamily="34" charset="0"/>
              </a:rPr>
              <a:t>Introduction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to</a:t>
            </a:r>
            <a:r>
              <a:rPr lang="tr-TR" sz="1400" dirty="0">
                <a:latin typeface="Arial Narrow" pitchFamily="34" charset="0"/>
              </a:rPr>
              <a:t> Finance </a:t>
            </a:r>
            <a:r>
              <a:rPr lang="tr-TR" sz="1400" dirty="0" err="1">
                <a:latin typeface="Arial Narrow" pitchFamily="34" charset="0"/>
              </a:rPr>
              <a:t>for</a:t>
            </a:r>
            <a:r>
              <a:rPr lang="tr-TR" sz="1400" dirty="0">
                <a:latin typeface="Arial Narrow" pitchFamily="34" charset="0"/>
              </a:rPr>
              <a:t> </a:t>
            </a:r>
            <a:r>
              <a:rPr lang="tr-TR" sz="1400" dirty="0" err="1">
                <a:latin typeface="Arial Narrow" pitchFamily="34" charset="0"/>
              </a:rPr>
              <a:t>Engineers</a:t>
            </a:r>
            <a:r>
              <a:rPr lang="tr-TR" sz="1400" dirty="0" smtClean="0">
                <a:latin typeface="Arial Narrow" pitchFamily="34" charset="0"/>
              </a:rPr>
              <a:t/>
            </a:r>
            <a:br>
              <a:rPr lang="tr-TR" sz="1400" dirty="0" smtClean="0">
                <a:latin typeface="Arial Narrow" pitchFamily="34" charset="0"/>
              </a:rPr>
            </a:b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>Money </a:t>
            </a:r>
            <a:r>
              <a:rPr lang="tr-TR" sz="2400" dirty="0" err="1" smtClean="0">
                <a:solidFill>
                  <a:srgbClr val="800000"/>
                </a:solidFill>
                <a:latin typeface="Arial Narrow" pitchFamily="34" charset="0"/>
              </a:rPr>
              <a:t>Supply</a:t>
            </a:r>
            <a: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  <a:t/>
            </a:r>
            <a:br>
              <a:rPr lang="tr-TR" sz="2400" dirty="0" smtClean="0">
                <a:solidFill>
                  <a:srgbClr val="800000"/>
                </a:solidFill>
                <a:latin typeface="Arial Narrow" pitchFamily="34" charset="0"/>
              </a:rPr>
            </a:br>
            <a:r>
              <a:rPr lang="tr-TR" sz="2800" dirty="0" err="1" smtClean="0">
                <a:latin typeface="Arial Narrow" pitchFamily="34" charset="0"/>
              </a:rPr>
              <a:t>Overview</a:t>
            </a:r>
            <a:endParaRPr lang="tr-TR" sz="2800" dirty="0">
              <a:latin typeface="Arial Narrow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256584"/>
          </a:xfrm>
          <a:ln w="25400">
            <a:noFill/>
          </a:ln>
        </p:spPr>
        <p:txBody>
          <a:bodyPr>
            <a:no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tr-TR" sz="1600" noProof="1" smtClean="0">
                <a:latin typeface="Arial Narrow" panose="020B0606020202030204" pitchFamily="34" charset="0"/>
              </a:rPr>
              <a:t> </a:t>
            </a: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1375049"/>
            <a:ext cx="7428933" cy="5006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328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11164</TotalTime>
  <Words>1577</Words>
  <Application>Microsoft Office PowerPoint</Application>
  <PresentationFormat>Ekran Gösterisi (4:3)</PresentationFormat>
  <Paragraphs>192</Paragraphs>
  <Slides>14</Slides>
  <Notes>14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14</vt:i4>
      </vt:variant>
    </vt:vector>
  </HeadingPairs>
  <TitlesOfParts>
    <vt:vector size="20" baseType="lpstr">
      <vt:lpstr>Arial</vt:lpstr>
      <vt:lpstr>Arial Narrow</vt:lpstr>
      <vt:lpstr>Bookman Old Style</vt:lpstr>
      <vt:lpstr>Calibri</vt:lpstr>
      <vt:lpstr>Symbol</vt:lpstr>
      <vt:lpstr>Office Theme</vt:lpstr>
      <vt:lpstr> </vt:lpstr>
      <vt:lpstr>NTE 1010 – Introduction to Finance for Engineers Central Banks</vt:lpstr>
      <vt:lpstr>NTE 1010 – Introduction to Finance for Engineers Central Banks US Federal Reserve System (Fed)</vt:lpstr>
      <vt:lpstr>NTE 1010 – Introduction to Finance for Engineers Central Banks EU</vt:lpstr>
      <vt:lpstr>NTE 1010 – Introduction to Finance for Engineers Central Banks EU &amp; Euro Zone</vt:lpstr>
      <vt:lpstr>NTE 1010 – Introduction to Finance for Engineers Central Banks Turkish Central Bank</vt:lpstr>
      <vt:lpstr>NTE 1010 – Introduction to Finance for Engineers Central Banks Turkey – CBRT / TCMB</vt:lpstr>
      <vt:lpstr>NTE 1010 – Introduction to Finance for Engineers Central Banks Fundamental Powers of CBT (TCMB)</vt:lpstr>
      <vt:lpstr>NTE 1010 – Introduction to Finance for Engineers Money Supply Players</vt:lpstr>
      <vt:lpstr>NTE 1010 – Introduction to Finance for Engineers Money Supply Balance Sheet of the Central Bank</vt:lpstr>
      <vt:lpstr>NTE 1010 – Introduction to Finance for Engineers Money Supply Control of the Monetary Base</vt:lpstr>
      <vt:lpstr>NTE 1010 – Introduction to Finance for Engineers Money Supply Multiple Deposit Creation</vt:lpstr>
      <vt:lpstr>NTE 1010 – Introduction to Finance for Engineers Money Supply Multiple Deposit Creation</vt:lpstr>
      <vt:lpstr>NTE 1010 – Introduction to Finance for Engineers Money Supply Overview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/>
  <cp:revision>671</cp:revision>
  <cp:lastPrinted>2020-04-17T07:36:05Z</cp:lastPrinted>
  <dcterms:created xsi:type="dcterms:W3CDTF">2015-11-30T12:51:35Z</dcterms:created>
  <dcterms:modified xsi:type="dcterms:W3CDTF">2020-04-17T07:37:13Z</dcterms:modified>
  <dc:description/>
</cp:coreProperties>
</file>