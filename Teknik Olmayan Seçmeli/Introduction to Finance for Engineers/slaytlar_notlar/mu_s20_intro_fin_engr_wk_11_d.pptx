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650" r:id="rId2"/>
    <p:sldId id="651" r:id="rId3"/>
    <p:sldId id="647" r:id="rId4"/>
    <p:sldId id="648" r:id="rId5"/>
    <p:sldId id="643" r:id="rId6"/>
    <p:sldId id="649" r:id="rId7"/>
    <p:sldId id="644" r:id="rId8"/>
    <p:sldId id="645" r:id="rId9"/>
  </p:sldIdLst>
  <p:sldSz cx="9144000" cy="6858000" type="screen4x3"/>
  <p:notesSz cx="6858000" cy="9945688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000066"/>
    <a:srgbClr val="0000FF"/>
    <a:srgbClr val="FF00FF"/>
    <a:srgbClr val="FF6600"/>
    <a:srgbClr val="0000CC"/>
    <a:srgbClr val="FFFFFF"/>
    <a:srgbClr val="3333CC"/>
    <a:srgbClr val="FF9900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2" autoAdjust="0"/>
  </p:normalViewPr>
  <p:slideViewPr>
    <p:cSldViewPr>
      <p:cViewPr varScale="1">
        <p:scale>
          <a:sx n="74" d="100"/>
          <a:sy n="74" d="100"/>
        </p:scale>
        <p:origin x="108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983" cy="49728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924" y="1"/>
            <a:ext cx="2971982" cy="49728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41DD2113-24C6-4329-AB40-201D9F0A72C4}" type="datetimeFigureOut">
              <a:rPr lang="tr-TR" smtClean="0"/>
              <a:t>24.04.2020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6102"/>
            <a:ext cx="2971983" cy="49728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924" y="9446102"/>
            <a:ext cx="2971982" cy="49728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7F4D469E-94F5-4441-A8A1-33E94B5433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1939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801" cy="49728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1" cy="497285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D48C765E-539C-483F-BCDF-F0F0AD79452C}" type="datetimeFigureOut">
              <a:rPr lang="tr-TR" smtClean="0"/>
              <a:pPr/>
              <a:t>24.04.2020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11" tIns="45555" rIns="91111" bIns="45555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3"/>
            <a:ext cx="5486400" cy="4475561"/>
          </a:xfrm>
          <a:prstGeom prst="rect">
            <a:avLst/>
          </a:prstGeom>
        </p:spPr>
        <p:txBody>
          <a:bodyPr vert="horz" lIns="91111" tIns="45555" rIns="91111" bIns="4555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6678"/>
            <a:ext cx="2971801" cy="49728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1" cy="497285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AE8B6D33-EF40-4511-BB6D-F4559DCC6ED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84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4058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38295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99000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51687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52783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11366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61271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052895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EEC2-418A-4AE9-8D76-1350AC2C960C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B617E-CC2C-45DD-8B2D-8AE4EA5FC5F8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D0F5-A4BC-46CD-8841-C457452FFEDC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34DA-5AD4-4FA3-AFE8-2A8C67D70199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F8EC-0934-411F-B635-3062B68C4A87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C700-BE93-49BC-965A-FE7AF14E8E5E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533D-1371-4A64-9DA7-B94E9E82C698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4A5A-A249-4E71-9C80-CB1606C64E4A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A4DE-DE11-46F8-8818-543B671E4FAF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022AE-E832-4A8B-9536-4372F3E1F6C7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B04C-27DE-4D51-8F84-8865E814DCCD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7707C-6B9A-4E38-AEE2-597F60E606B3}" type="datetime1">
              <a:rPr lang="tr-TR" smtClean="0"/>
              <a:pPr/>
              <a:t>24.04.2020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620688"/>
            <a:ext cx="7704856" cy="4824536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NTE 1010</a:t>
            </a:r>
          </a:p>
          <a:p>
            <a:pPr>
              <a:spcBef>
                <a:spcPts val="0"/>
              </a:spcBef>
            </a:pPr>
            <a:r>
              <a:rPr lang="tr-TR" sz="1800" dirty="0" err="1">
                <a:solidFill>
                  <a:schemeClr val="tx1"/>
                </a:solidFill>
                <a:latin typeface="Arial Narrow" pitchFamily="34" charset="0"/>
              </a:rPr>
              <a:t>Introduction</a:t>
            </a: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sz="1800" dirty="0" err="1">
                <a:solidFill>
                  <a:schemeClr val="tx1"/>
                </a:solidFill>
                <a:latin typeface="Arial Narrow" pitchFamily="34" charset="0"/>
              </a:rPr>
              <a:t>to</a:t>
            </a: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 Finance </a:t>
            </a:r>
            <a:r>
              <a:rPr lang="tr-TR" sz="1800" dirty="0" err="1">
                <a:solidFill>
                  <a:schemeClr val="tx1"/>
                </a:solidFill>
                <a:latin typeface="Arial Narrow" pitchFamily="34" charset="0"/>
              </a:rPr>
              <a:t>for</a:t>
            </a: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sz="1800" dirty="0" err="1" smtClean="0">
                <a:solidFill>
                  <a:schemeClr val="tx1"/>
                </a:solidFill>
                <a:latin typeface="Arial Narrow" pitchFamily="34" charset="0"/>
              </a:rPr>
              <a:t>Engineers</a:t>
            </a:r>
            <a:endParaRPr lang="tr-TR" sz="1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200" dirty="0">
                <a:solidFill>
                  <a:srgbClr val="000066"/>
                </a:solidFill>
                <a:latin typeface="Arial Narrow" pitchFamily="34" charset="0"/>
              </a:rPr>
              <a:t>Spring </a:t>
            </a:r>
            <a:r>
              <a:rPr lang="tr-TR" sz="2200" dirty="0" smtClean="0">
                <a:solidFill>
                  <a:srgbClr val="000066"/>
                </a:solidFill>
                <a:latin typeface="Arial Narrow" pitchFamily="34" charset="0"/>
              </a:rPr>
              <a:t>2020</a:t>
            </a:r>
          </a:p>
          <a:p>
            <a:pPr>
              <a:spcBef>
                <a:spcPts val="0"/>
              </a:spcBef>
            </a:pPr>
            <a:endParaRPr lang="tr-TR" sz="2200" dirty="0">
              <a:solidFill>
                <a:srgbClr val="000066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600" dirty="0" err="1">
                <a:solidFill>
                  <a:srgbClr val="000066"/>
                </a:solidFill>
                <a:latin typeface="Arial Narrow" pitchFamily="34" charset="0"/>
              </a:rPr>
              <a:t>week</a:t>
            </a:r>
            <a:endParaRPr lang="tr-TR" sz="2600" dirty="0">
              <a:solidFill>
                <a:srgbClr val="000066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3600" dirty="0" smtClean="0">
                <a:solidFill>
                  <a:srgbClr val="000066"/>
                </a:solidFill>
                <a:latin typeface="Arial Narrow" pitchFamily="34" charset="0"/>
              </a:rPr>
              <a:t>11</a:t>
            </a:r>
            <a:endParaRPr lang="tr-TR" sz="3600" dirty="0">
              <a:solidFill>
                <a:srgbClr val="000066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4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4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dirty="0" err="1" smtClean="0">
                <a:solidFill>
                  <a:srgbClr val="800000"/>
                </a:solidFill>
                <a:latin typeface="Arial Narrow" pitchFamily="34" charset="0"/>
              </a:rPr>
              <a:t>Monetary</a:t>
            </a:r>
            <a:r>
              <a:rPr lang="tr-TR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dirty="0" err="1" smtClean="0">
                <a:solidFill>
                  <a:srgbClr val="800000"/>
                </a:solidFill>
                <a:latin typeface="Arial Narrow" pitchFamily="34" charset="0"/>
              </a:rPr>
              <a:t>Policy</a:t>
            </a:r>
            <a:endParaRPr lang="tr-TR" dirty="0">
              <a:solidFill>
                <a:srgbClr val="80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98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Monetary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Policy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Monetary </a:t>
            </a:r>
            <a:r>
              <a:rPr lang="tr-TR" sz="1800" dirty="0" smtClean="0">
                <a:latin typeface="Arial Narrow" panose="020B0606020202030204" pitchFamily="34" charset="0"/>
              </a:rPr>
              <a:t>P</a:t>
            </a:r>
            <a:r>
              <a:rPr lang="en-US" sz="1800" dirty="0" err="1" smtClean="0">
                <a:latin typeface="Arial Narrow" panose="020B0606020202030204" pitchFamily="34" charset="0"/>
              </a:rPr>
              <a:t>olicy</a:t>
            </a:r>
            <a:r>
              <a:rPr lang="en-US" sz="1800" dirty="0">
                <a:latin typeface="Arial Narrow" panose="020B0606020202030204" pitchFamily="34" charset="0"/>
              </a:rPr>
              <a:t> is the policy </a:t>
            </a:r>
            <a:r>
              <a:rPr lang="en-US" sz="1800" dirty="0" smtClean="0">
                <a:latin typeface="Arial Narrow" panose="020B0606020202030204" pitchFamily="34" charset="0"/>
              </a:rPr>
              <a:t>adopted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by 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monetary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authority</a:t>
            </a:r>
            <a:r>
              <a:rPr lang="en-US" sz="1800" dirty="0">
                <a:latin typeface="Arial Narrow" panose="020B0606020202030204" pitchFamily="34" charset="0"/>
              </a:rPr>
              <a:t> of a </a:t>
            </a:r>
            <a:r>
              <a:rPr lang="en-US" sz="1800" dirty="0" smtClean="0">
                <a:latin typeface="Arial Narrow" panose="020B0606020202030204" pitchFamily="34" charset="0"/>
              </a:rPr>
              <a:t>country</a:t>
            </a:r>
            <a:r>
              <a:rPr lang="tr-TR" sz="1800" dirty="0" smtClean="0">
                <a:latin typeface="Arial Narrow" panose="020B0606020202030204" pitchFamily="34" charset="0"/>
              </a:rPr>
              <a:t> (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Central Bank)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that </a:t>
            </a:r>
            <a:r>
              <a:rPr lang="en-US" sz="1800" dirty="0">
                <a:latin typeface="Arial Narrow" panose="020B0606020202030204" pitchFamily="34" charset="0"/>
              </a:rPr>
              <a:t>controls either </a:t>
            </a:r>
            <a:r>
              <a:rPr lang="en-US" sz="1800" dirty="0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interest</a:t>
            </a:r>
            <a:r>
              <a:rPr lang="tr-TR" sz="1800" dirty="0" smtClean="0">
                <a:latin typeface="Arial Narrow" panose="020B0606020202030204" pitchFamily="34" charset="0"/>
              </a:rPr>
              <a:t> rate</a:t>
            </a:r>
            <a:r>
              <a:rPr lang="en-US" sz="1800" dirty="0">
                <a:latin typeface="Arial Narrow" panose="020B0606020202030204" pitchFamily="34" charset="0"/>
              </a:rPr>
              <a:t> payable </a:t>
            </a:r>
            <a:r>
              <a:rPr lang="en-US" sz="1800" dirty="0" smtClean="0">
                <a:latin typeface="Arial Narrow" panose="020B0606020202030204" pitchFamily="34" charset="0"/>
              </a:rPr>
              <a:t>on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very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short-term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borrowing</a:t>
            </a:r>
            <a:r>
              <a:rPr lang="en-US" sz="1800" dirty="0">
                <a:latin typeface="Arial Narrow" panose="020B0606020202030204" pitchFamily="34" charset="0"/>
              </a:rPr>
              <a:t> or </a:t>
            </a:r>
            <a:r>
              <a:rPr lang="en-US" sz="1800" dirty="0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money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supply</a:t>
            </a:r>
            <a:r>
              <a:rPr lang="tr-TR" sz="1800" dirty="0" smtClean="0">
                <a:latin typeface="Arial Narrow" panose="020B0606020202030204" pitchFamily="34" charset="0"/>
              </a:rPr>
              <a:t>, </a:t>
            </a:r>
            <a:r>
              <a:rPr lang="en-US" sz="1800" dirty="0" smtClean="0">
                <a:latin typeface="Arial Narrow" panose="020B0606020202030204" pitchFamily="34" charset="0"/>
              </a:rPr>
              <a:t>often targeting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inflation</a:t>
            </a:r>
            <a:r>
              <a:rPr lang="en-US" sz="1800" dirty="0">
                <a:latin typeface="Arial Narrow" panose="020B0606020202030204" pitchFamily="34" charset="0"/>
              </a:rPr>
              <a:t> or </a:t>
            </a:r>
            <a:r>
              <a:rPr lang="en-US" sz="1800" dirty="0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interest</a:t>
            </a:r>
            <a:r>
              <a:rPr lang="tr-TR" sz="1800" dirty="0" smtClean="0">
                <a:latin typeface="Arial Narrow" panose="020B0606020202030204" pitchFamily="34" charset="0"/>
              </a:rPr>
              <a:t> rate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to ensure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price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stability</a:t>
            </a:r>
            <a:r>
              <a:rPr lang="en-US" sz="1800" dirty="0">
                <a:latin typeface="Arial Narrow" panose="020B0606020202030204" pitchFamily="34" charset="0"/>
              </a:rPr>
              <a:t> and general trust in the currency</a:t>
            </a:r>
            <a:r>
              <a:rPr lang="en-US" sz="1800" dirty="0" smtClean="0">
                <a:latin typeface="Arial Narrow" panose="020B0606020202030204" pitchFamily="34" charset="0"/>
              </a:rPr>
              <a:t>.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en-US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>
                <a:latin typeface="Arial Narrow" panose="020B0606020202030204" pitchFamily="34" charset="0"/>
              </a:rPr>
              <a:t>Unlike </a:t>
            </a:r>
            <a:r>
              <a:rPr lang="tr-TR" sz="1800" dirty="0" err="1" smtClean="0">
                <a:latin typeface="Arial Narrow" panose="020B0606020202030204" pitchFamily="34" charset="0"/>
              </a:rPr>
              <a:t>Fiscal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Policy</a:t>
            </a:r>
            <a:r>
              <a:rPr lang="en-US" sz="1800" dirty="0">
                <a:latin typeface="Arial Narrow" panose="020B0606020202030204" pitchFamily="34" charset="0"/>
              </a:rPr>
              <a:t> which relies on government to spend its way out of </a:t>
            </a:r>
            <a:r>
              <a:rPr lang="en-US" sz="1800" dirty="0" smtClean="0">
                <a:latin typeface="Arial Narrow" panose="020B0606020202030204" pitchFamily="34" charset="0"/>
              </a:rPr>
              <a:t>recessions,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M</a:t>
            </a:r>
            <a:r>
              <a:rPr lang="en-US" sz="1800" dirty="0" err="1" smtClean="0">
                <a:latin typeface="Arial Narrow" panose="020B0606020202030204" pitchFamily="34" charset="0"/>
              </a:rPr>
              <a:t>onetary</a:t>
            </a:r>
            <a:r>
              <a:rPr lang="en-US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>
                <a:latin typeface="Arial Narrow" panose="020B0606020202030204" pitchFamily="34" charset="0"/>
              </a:rPr>
              <a:t>P</a:t>
            </a:r>
            <a:r>
              <a:rPr lang="en-US" sz="1800" dirty="0" err="1" smtClean="0">
                <a:latin typeface="Arial Narrow" panose="020B0606020202030204" pitchFamily="34" charset="0"/>
              </a:rPr>
              <a:t>olicy</a:t>
            </a:r>
            <a:r>
              <a:rPr lang="en-US" sz="1800" dirty="0" smtClean="0">
                <a:latin typeface="Arial Narrow" panose="020B0606020202030204" pitchFamily="34" charset="0"/>
              </a:rPr>
              <a:t> </a:t>
            </a:r>
            <a:r>
              <a:rPr lang="en-US" sz="1800" dirty="0">
                <a:latin typeface="Arial Narrow" panose="020B0606020202030204" pitchFamily="34" charset="0"/>
              </a:rPr>
              <a:t>aims to manipulate the money supply, i.e. 'printing' more </a:t>
            </a:r>
            <a:r>
              <a:rPr lang="en-US" sz="1800" dirty="0" smtClean="0">
                <a:latin typeface="Arial Narrow" panose="020B0606020202030204" pitchFamily="34" charset="0"/>
              </a:rPr>
              <a:t>money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or </a:t>
            </a:r>
            <a:r>
              <a:rPr lang="en-US" sz="1800" dirty="0">
                <a:latin typeface="Arial Narrow" panose="020B0606020202030204" pitchFamily="34" charset="0"/>
              </a:rPr>
              <a:t>decreasing the money </a:t>
            </a:r>
            <a:r>
              <a:rPr lang="en-US" sz="1800" dirty="0" smtClean="0">
                <a:latin typeface="Arial Narrow" panose="020B0606020202030204" pitchFamily="34" charset="0"/>
              </a:rPr>
              <a:t>supply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by </a:t>
            </a:r>
            <a:r>
              <a:rPr lang="en-US" sz="1800" dirty="0">
                <a:latin typeface="Arial Narrow" panose="020B0606020202030204" pitchFamily="34" charset="0"/>
              </a:rPr>
              <a:t>changing interest rates or </a:t>
            </a:r>
            <a:r>
              <a:rPr lang="en-US" sz="1800" dirty="0" smtClean="0">
                <a:latin typeface="Arial Narrow" panose="020B0606020202030204" pitchFamily="34" charset="0"/>
              </a:rPr>
              <a:t>removing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excess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reserves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  <a:endParaRPr lang="en-US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74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Monetary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Policy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Price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Stability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Getting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monetary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policy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right</a:t>
            </a:r>
            <a:r>
              <a:rPr lang="tr-TR" sz="1800" dirty="0" smtClean="0">
                <a:latin typeface="Arial Narrow" panose="020B0606020202030204" pitchFamily="34" charset="0"/>
              </a:rPr>
              <a:t> is </a:t>
            </a:r>
            <a:r>
              <a:rPr lang="tr-TR" sz="1800" dirty="0" err="1" smtClean="0">
                <a:latin typeface="Arial Narrow" panose="020B0606020202030204" pitchFamily="34" charset="0"/>
              </a:rPr>
              <a:t>crucial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to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health</a:t>
            </a:r>
            <a:r>
              <a:rPr lang="tr-TR" sz="1800" dirty="0" smtClean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economy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Overly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expansionary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monetary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policy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leads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to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high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inflation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which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decreases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efficiency</a:t>
            </a:r>
            <a:r>
              <a:rPr lang="tr-TR" sz="1800" dirty="0" smtClean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economy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hampers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economic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growth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Monetary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policy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that</a:t>
            </a:r>
            <a:r>
              <a:rPr lang="tr-TR" sz="1800" dirty="0" smtClean="0">
                <a:latin typeface="Arial Narrow" panose="020B0606020202030204" pitchFamily="34" charset="0"/>
              </a:rPr>
              <a:t> is </a:t>
            </a:r>
            <a:r>
              <a:rPr lang="tr-TR" sz="1800" dirty="0" err="1" smtClean="0">
                <a:latin typeface="Arial Narrow" panose="020B0606020202030204" pitchFamily="34" charset="0"/>
              </a:rPr>
              <a:t>too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tight</a:t>
            </a:r>
            <a:r>
              <a:rPr lang="tr-TR" sz="1800" dirty="0" smtClean="0">
                <a:latin typeface="Arial Narrow" panose="020B0606020202030204" pitchFamily="34" charset="0"/>
              </a:rPr>
              <a:t> can </a:t>
            </a:r>
            <a:r>
              <a:rPr lang="tr-TR" sz="1800" dirty="0" err="1" smtClean="0">
                <a:latin typeface="Arial Narrow" panose="020B0606020202030204" pitchFamily="34" charset="0"/>
              </a:rPr>
              <a:t>produce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serious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recessions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in </a:t>
            </a:r>
            <a:r>
              <a:rPr lang="tr-TR" sz="1800" dirty="0" err="1" smtClean="0">
                <a:latin typeface="Arial Narrow" panose="020B0606020202030204" pitchFamily="34" charset="0"/>
              </a:rPr>
              <a:t>which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output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falls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unemployment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rises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It</a:t>
            </a:r>
            <a:r>
              <a:rPr lang="tr-TR" sz="1800" dirty="0" smtClean="0">
                <a:latin typeface="Arial Narrow" panose="020B0606020202030204" pitchFamily="34" charset="0"/>
              </a:rPr>
              <a:t> can </a:t>
            </a:r>
            <a:r>
              <a:rPr lang="tr-TR" sz="1800" dirty="0" err="1" smtClean="0">
                <a:latin typeface="Arial Narrow" panose="020B0606020202030204" pitchFamily="34" charset="0"/>
              </a:rPr>
              <a:t>also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lead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to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deflation</a:t>
            </a:r>
            <a:r>
              <a:rPr lang="tr-TR" sz="1800" dirty="0" smtClean="0">
                <a:latin typeface="Arial Narrow" panose="020B0606020202030204" pitchFamily="34" charset="0"/>
              </a:rPr>
              <a:t>, a </a:t>
            </a:r>
            <a:r>
              <a:rPr lang="tr-TR" sz="1800" dirty="0" err="1" smtClean="0">
                <a:latin typeface="Arial Narrow" panose="020B0606020202030204" pitchFamily="34" charset="0"/>
              </a:rPr>
              <a:t>fall</a:t>
            </a:r>
            <a:r>
              <a:rPr lang="tr-TR" sz="1800" dirty="0" smtClean="0">
                <a:latin typeface="Arial Narrow" panose="020B0606020202030204" pitchFamily="34" charset="0"/>
              </a:rPr>
              <a:t> in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price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level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such</a:t>
            </a:r>
            <a:r>
              <a:rPr lang="tr-TR" sz="1800" dirty="0" smtClean="0">
                <a:latin typeface="Arial Narrow" panose="020B0606020202030204" pitchFamily="34" charset="0"/>
              </a:rPr>
              <a:t> as </a:t>
            </a:r>
            <a:r>
              <a:rPr lang="tr-TR" sz="1800" dirty="0" err="1" smtClean="0">
                <a:latin typeface="Arial Narrow" panose="020B0606020202030204" pitchFamily="34" charset="0"/>
              </a:rPr>
              <a:t>occured</a:t>
            </a:r>
            <a:r>
              <a:rPr lang="tr-TR" sz="1800" dirty="0" smtClean="0">
                <a:latin typeface="Arial Narrow" panose="020B0606020202030204" pitchFamily="34" charset="0"/>
              </a:rPr>
              <a:t> in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US </a:t>
            </a:r>
            <a:r>
              <a:rPr lang="tr-TR" sz="1800" dirty="0" err="1" smtClean="0">
                <a:latin typeface="Arial Narrow" panose="020B0606020202030204" pitchFamily="34" charset="0"/>
              </a:rPr>
              <a:t>during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Great </a:t>
            </a:r>
            <a:r>
              <a:rPr lang="tr-TR" sz="1800" dirty="0" err="1" smtClean="0">
                <a:latin typeface="Arial Narrow" panose="020B0606020202030204" pitchFamily="34" charset="0"/>
              </a:rPr>
              <a:t>Depression</a:t>
            </a:r>
            <a:r>
              <a:rPr lang="tr-TR" sz="1800" dirty="0" smtClean="0">
                <a:latin typeface="Arial Narrow" panose="020B0606020202030204" pitchFamily="34" charset="0"/>
              </a:rPr>
              <a:t> (1933-1939)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latin typeface="Arial Narrow" panose="020B0606020202030204" pitchFamily="34" charset="0"/>
              </a:rPr>
              <a:t> in Japan </a:t>
            </a:r>
            <a:r>
              <a:rPr lang="tr-TR" sz="1800" dirty="0" err="1" smtClean="0">
                <a:latin typeface="Arial Narrow" panose="020B0606020202030204" pitchFamily="34" charset="0"/>
              </a:rPr>
              <a:t>more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recently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Primary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goal</a:t>
            </a:r>
            <a:r>
              <a:rPr lang="tr-TR" sz="1800" dirty="0" smtClean="0">
                <a:latin typeface="Arial Narrow" panose="020B0606020202030204" pitchFamily="34" charset="0"/>
              </a:rPr>
              <a:t> is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Price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Stability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which</a:t>
            </a:r>
            <a:r>
              <a:rPr lang="tr-TR" sz="1800" dirty="0" smtClean="0">
                <a:latin typeface="Arial Narrow" panose="020B0606020202030204" pitchFamily="34" charset="0"/>
              </a:rPr>
              <a:t> is </a:t>
            </a:r>
            <a:r>
              <a:rPr lang="tr-TR" sz="1800" dirty="0" err="1" smtClean="0">
                <a:latin typeface="Arial Narrow" panose="020B0606020202030204" pitchFamily="34" charset="0"/>
              </a:rPr>
              <a:t>defined</a:t>
            </a:r>
            <a:r>
              <a:rPr lang="tr-TR" sz="1800" dirty="0" smtClean="0">
                <a:latin typeface="Arial Narrow" panose="020B0606020202030204" pitchFamily="34" charset="0"/>
              </a:rPr>
              <a:t> as </a:t>
            </a:r>
            <a:r>
              <a:rPr lang="tr-TR" sz="1800" dirty="0" err="1" smtClean="0">
                <a:latin typeface="Arial Narrow" panose="020B0606020202030204" pitchFamily="34" charset="0"/>
              </a:rPr>
              <a:t>low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stable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inflation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It</a:t>
            </a:r>
            <a:r>
              <a:rPr lang="tr-TR" sz="1800" dirty="0" smtClean="0">
                <a:latin typeface="Arial Narrow" panose="020B0606020202030204" pitchFamily="34" charset="0"/>
              </a:rPr>
              <a:t> is </a:t>
            </a:r>
            <a:r>
              <a:rPr lang="tr-TR" sz="1800" dirty="0" err="1" smtClean="0">
                <a:latin typeface="Arial Narrow" panose="020B0606020202030204" pitchFamily="34" charset="0"/>
              </a:rPr>
              <a:t>desirable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because</a:t>
            </a:r>
            <a:r>
              <a:rPr lang="tr-TR" sz="1800" dirty="0" smtClean="0">
                <a:latin typeface="Arial Narrow" panose="020B0606020202030204" pitchFamily="34" charset="0"/>
              </a:rPr>
              <a:t> a </a:t>
            </a:r>
            <a:r>
              <a:rPr lang="tr-TR" sz="1800" dirty="0" err="1" smtClean="0">
                <a:latin typeface="Arial Narrow" panose="020B0606020202030204" pitchFamily="34" charset="0"/>
              </a:rPr>
              <a:t>rising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price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level</a:t>
            </a:r>
            <a:r>
              <a:rPr lang="tr-TR" sz="1800" dirty="0" smtClean="0">
                <a:latin typeface="Arial Narrow" panose="020B0606020202030204" pitchFamily="34" charset="0"/>
              </a:rPr>
              <a:t> (</a:t>
            </a:r>
            <a:r>
              <a:rPr lang="tr-TR" sz="1800" dirty="0" err="1" smtClean="0">
                <a:latin typeface="Arial Narrow" panose="020B0606020202030204" pitchFamily="34" charset="0"/>
              </a:rPr>
              <a:t>inflation</a:t>
            </a:r>
            <a:r>
              <a:rPr lang="tr-TR" sz="1800" dirty="0" smtClean="0">
                <a:latin typeface="Arial Narrow" panose="020B0606020202030204" pitchFamily="34" charset="0"/>
              </a:rPr>
              <a:t>) </a:t>
            </a:r>
            <a:r>
              <a:rPr lang="tr-TR" sz="1800" dirty="0" err="1" smtClean="0">
                <a:latin typeface="Arial Narrow" panose="020B0606020202030204" pitchFamily="34" charset="0"/>
              </a:rPr>
              <a:t>creates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uncertainty</a:t>
            </a:r>
            <a:r>
              <a:rPr lang="tr-TR" sz="1800" dirty="0" smtClean="0">
                <a:latin typeface="Arial Narrow" panose="020B0606020202030204" pitchFamily="34" charset="0"/>
              </a:rPr>
              <a:t> in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economy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that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uncertainty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might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hamper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economic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growth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32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5776" y="274638"/>
            <a:ext cx="8151023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Monetary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Policy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Inflation</a:t>
            </a:r>
            <a:r>
              <a:rPr lang="tr-TR" sz="2800" dirty="0" smtClean="0">
                <a:latin typeface="Arial Narrow" pitchFamily="34" charset="0"/>
              </a:rPr>
              <a:t> in </a:t>
            </a:r>
            <a:r>
              <a:rPr lang="tr-TR" sz="2800" dirty="0" err="1" smtClean="0">
                <a:latin typeface="Arial Narrow" pitchFamily="34" charset="0"/>
              </a:rPr>
              <a:t>Turkey</a:t>
            </a:r>
            <a:r>
              <a:rPr lang="tr-TR" sz="2800" dirty="0" smtClean="0">
                <a:latin typeface="Arial Narrow" pitchFamily="34" charset="0"/>
              </a:rPr>
              <a:t>, </a:t>
            </a:r>
            <a:r>
              <a:rPr lang="tr-TR" sz="2800" dirty="0" err="1" smtClean="0">
                <a:latin typeface="Arial Narrow" pitchFamily="34" charset="0"/>
              </a:rPr>
              <a:t>Annual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CPI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 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76" y="1696887"/>
            <a:ext cx="8151023" cy="353231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7" name="Düz Bağlayıcı 6"/>
          <p:cNvCxnSpPr/>
          <p:nvPr/>
        </p:nvCxnSpPr>
        <p:spPr>
          <a:xfrm>
            <a:off x="535776" y="4581128"/>
            <a:ext cx="81510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02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Monetary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Policy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Other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Goals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tr-TR" sz="1800" noProof="1" smtClean="0">
                <a:latin typeface="Arial Narrow" panose="020B0606020202030204" pitchFamily="34" charset="0"/>
              </a:rPr>
              <a:t>High employment and economic growth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goal is not zero unemplyment level but a level above zero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	that is consistent with full employment at which the demand for labor equals the supply of labor.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This level is called the </a:t>
            </a:r>
            <a:r>
              <a:rPr lang="tr-TR" sz="16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natural rate of unemployment</a:t>
            </a:r>
            <a:r>
              <a:rPr lang="tr-TR" sz="1600" noProof="1" smtClean="0">
                <a:latin typeface="Arial Narrow" panose="020B0606020202030204" pitchFamily="34" charset="0"/>
              </a:rPr>
              <a:t>.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Since the level of unemployment is tied to the level of economic activity in the economy,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	a particular level of output is produced at the natural rate of unemployment,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	which is referred to as the </a:t>
            </a:r>
            <a:r>
              <a:rPr lang="tr-TR" sz="16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natural rate of output </a:t>
            </a:r>
            <a:r>
              <a:rPr lang="tr-TR" sz="1600" noProof="1" smtClean="0">
                <a:latin typeface="Arial Narrow" panose="020B0606020202030204" pitchFamily="34" charset="0"/>
              </a:rPr>
              <a:t>or more commonly as the </a:t>
            </a:r>
            <a:r>
              <a:rPr lang="tr-TR" sz="1600" noProof="1" smtClean="0">
                <a:solidFill>
                  <a:srgbClr val="FF0000"/>
                </a:solidFill>
                <a:latin typeface="Arial Narrow" panose="020B0606020202030204" pitchFamily="34" charset="0"/>
              </a:rPr>
              <a:t>potential output</a:t>
            </a:r>
            <a:r>
              <a:rPr lang="tr-TR" sz="1600" noProof="1" smtClean="0">
                <a:latin typeface="Arial Narrow" panose="020B0606020202030204" pitchFamily="34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tr-TR" sz="1800" noProof="1" smtClean="0">
                <a:latin typeface="Arial Narrow" panose="020B0606020202030204" pitchFamily="34" charset="0"/>
              </a:rPr>
              <a:t>Stability of financial markets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Financial crises can interfere with the ability of financial markets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	to channel funds to people with productive investment opportunities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	and lead to sharp contraction in the economic activity.</a:t>
            </a:r>
          </a:p>
          <a:p>
            <a:pPr>
              <a:spcBef>
                <a:spcPts val="0"/>
              </a:spcBef>
            </a:pPr>
            <a:r>
              <a:rPr lang="tr-TR" sz="1800" noProof="1" smtClean="0">
                <a:latin typeface="Arial Narrow" panose="020B0606020202030204" pitchFamily="34" charset="0"/>
              </a:rPr>
              <a:t>Interest-rate stability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is desirable because fluctuations in interest rates can create uncertainty in the economy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	</a:t>
            </a:r>
            <a:r>
              <a:rPr lang="tr-TR" sz="1600" noProof="1" smtClean="0">
                <a:latin typeface="Arial Narrow" panose="020B0606020202030204" pitchFamily="34" charset="0"/>
              </a:rPr>
              <a:t>and make it harder to plan for the future.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Fluctuations in interest rates affect consumers’ willingness to buy houses, for example.</a:t>
            </a:r>
          </a:p>
          <a:p>
            <a:pPr>
              <a:spcBef>
                <a:spcPts val="0"/>
              </a:spcBef>
            </a:pPr>
            <a:r>
              <a:rPr lang="tr-TR" sz="1800" noProof="1" smtClean="0">
                <a:latin typeface="Arial Narrow" panose="020B0606020202030204" pitchFamily="34" charset="0"/>
              </a:rPr>
              <a:t>Stability in foreign exchange markets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With the increasing importance of international trade to the economies, FX stability is crucial.</a:t>
            </a: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9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Monetary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Policy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Economic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Growth</a:t>
            </a:r>
            <a:r>
              <a:rPr lang="tr-TR" sz="2800" dirty="0" smtClean="0">
                <a:latin typeface="Arial Narrow" pitchFamily="34" charset="0"/>
              </a:rPr>
              <a:t> Rate in </a:t>
            </a:r>
            <a:r>
              <a:rPr lang="tr-TR" sz="2800" dirty="0" err="1" smtClean="0">
                <a:latin typeface="Arial Narrow" pitchFamily="34" charset="0"/>
              </a:rPr>
              <a:t>Turkey</a:t>
            </a:r>
            <a:r>
              <a:rPr lang="tr-TR" sz="2800" dirty="0" smtClean="0">
                <a:latin typeface="Arial Narrow" pitchFamily="34" charset="0"/>
              </a:rPr>
              <a:t>, </a:t>
            </a:r>
            <a:r>
              <a:rPr lang="tr-TR" sz="2800" dirty="0" err="1" smtClean="0">
                <a:latin typeface="Arial Narrow" pitchFamily="34" charset="0"/>
              </a:rPr>
              <a:t>Annual</a:t>
            </a:r>
            <a:r>
              <a:rPr lang="tr-TR" sz="2800" dirty="0" smtClean="0">
                <a:latin typeface="Arial Narrow" pitchFamily="34" charset="0"/>
              </a:rPr>
              <a:t> %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 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511713"/>
            <a:ext cx="7920880" cy="4501326"/>
          </a:xfrm>
          <a:prstGeom prst="rect">
            <a:avLst/>
          </a:prstGeom>
        </p:spPr>
      </p:pic>
      <p:cxnSp>
        <p:nvCxnSpPr>
          <p:cNvPr id="9" name="Düz Bağlayıcı 8"/>
          <p:cNvCxnSpPr/>
          <p:nvPr/>
        </p:nvCxnSpPr>
        <p:spPr>
          <a:xfrm>
            <a:off x="755576" y="4293096"/>
            <a:ext cx="7931224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06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Monetary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Policy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Nominal </a:t>
            </a:r>
            <a:r>
              <a:rPr lang="tr-TR" sz="2800" dirty="0" err="1" smtClean="0">
                <a:latin typeface="Arial Narrow" pitchFamily="34" charset="0"/>
              </a:rPr>
              <a:t>Anchor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A nominal </a:t>
            </a:r>
            <a:r>
              <a:rPr lang="tr-TR" sz="1800" dirty="0" err="1" smtClean="0">
                <a:latin typeface="Arial Narrow" panose="020B0606020202030204" pitchFamily="34" charset="0"/>
              </a:rPr>
              <a:t>variable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such</a:t>
            </a:r>
            <a:r>
              <a:rPr lang="tr-TR" sz="1800" dirty="0" smtClean="0">
                <a:latin typeface="Arial Narrow" panose="020B0606020202030204" pitchFamily="34" charset="0"/>
              </a:rPr>
              <a:t> as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inflation</a:t>
            </a:r>
            <a:r>
              <a:rPr lang="tr-TR" sz="1800" dirty="0" smtClean="0">
                <a:latin typeface="Arial Narrow" panose="020B0606020202030204" pitchFamily="34" charset="0"/>
              </a:rPr>
              <a:t> rate </a:t>
            </a:r>
            <a:r>
              <a:rPr lang="tr-TR" sz="1800" dirty="0" err="1" smtClean="0">
                <a:latin typeface="Arial Narrow" panose="020B0606020202030204" pitchFamily="34" charset="0"/>
              </a:rPr>
              <a:t>or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money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supply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which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ties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down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price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level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to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achieve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price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stability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Having</a:t>
            </a:r>
            <a:r>
              <a:rPr lang="tr-TR" sz="1800" dirty="0" smtClean="0">
                <a:latin typeface="Arial Narrow" panose="020B0606020202030204" pitchFamily="34" charset="0"/>
              </a:rPr>
              <a:t> a </a:t>
            </a:r>
            <a:r>
              <a:rPr lang="tr-TR" sz="1800" dirty="0" err="1" smtClean="0">
                <a:latin typeface="Arial Narrow" panose="020B0606020202030204" pitchFamily="34" charset="0"/>
              </a:rPr>
              <a:t>strong</a:t>
            </a:r>
            <a:r>
              <a:rPr lang="tr-TR" sz="1800" dirty="0" smtClean="0">
                <a:latin typeface="Arial Narrow" panose="020B0606020202030204" pitchFamily="34" charset="0"/>
              </a:rPr>
              <a:t> nominal </a:t>
            </a:r>
            <a:r>
              <a:rPr lang="tr-TR" sz="1800" dirty="0" err="1" smtClean="0">
                <a:latin typeface="Arial Narrow" panose="020B0606020202030204" pitchFamily="34" charset="0"/>
              </a:rPr>
              <a:t>anchor</a:t>
            </a:r>
            <a:r>
              <a:rPr lang="tr-TR" sz="1800" dirty="0" smtClean="0">
                <a:latin typeface="Arial Narrow" panose="020B0606020202030204" pitchFamily="34" charset="0"/>
              </a:rPr>
              <a:t> is a </a:t>
            </a:r>
            <a:r>
              <a:rPr lang="tr-TR" sz="1800" dirty="0" err="1" smtClean="0">
                <a:latin typeface="Arial Narrow" panose="020B0606020202030204" pitchFamily="34" charset="0"/>
              </a:rPr>
              <a:t>key</a:t>
            </a:r>
            <a:r>
              <a:rPr lang="tr-TR" sz="1800" dirty="0" smtClean="0">
                <a:latin typeface="Arial Narrow" panose="020B0606020202030204" pitchFamily="34" charset="0"/>
              </a:rPr>
              <a:t> element in </a:t>
            </a:r>
            <a:r>
              <a:rPr lang="tr-TR" sz="1800" dirty="0" err="1" smtClean="0">
                <a:latin typeface="Arial Narrow" panose="020B0606020202030204" pitchFamily="34" charset="0"/>
              </a:rPr>
              <a:t>successful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monetary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policy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Nominal anchor also limits the time-inconsistency problem,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in which monetary policymakers conduct monetary policy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in a discretionary way that focuses on short-term objectives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but produces poor long-run outcomes.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Actually, the time-inconsistency problem is something that we deal with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continually in our everyday life.</a:t>
            </a: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26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Monetary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Policy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Inflation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Targeting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Advantages</a:t>
            </a:r>
            <a:r>
              <a:rPr lang="tr-TR" sz="1800" dirty="0" smtClean="0">
                <a:latin typeface="Arial Narrow" panose="020B0606020202030204" pitchFamily="34" charset="0"/>
              </a:rPr>
              <a:t>:</a:t>
            </a:r>
          </a:p>
          <a:p>
            <a:pPr lvl="3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enables monetary policy to focus on domestic considerations</a:t>
            </a:r>
          </a:p>
          <a:p>
            <a:pPr lvl="3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readily understood by the public and is highly transparent</a:t>
            </a:r>
          </a:p>
          <a:p>
            <a:pPr lvl="3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increases accountability of the central bank</a:t>
            </a:r>
          </a:p>
          <a:p>
            <a:pPr lvl="3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800" noProof="1" smtClean="0">
                <a:latin typeface="Arial Narrow" panose="020B0606020202030204" pitchFamily="34" charset="0"/>
              </a:rPr>
              <a:t>appears to ameliorate the effects of inflatinary shocks</a:t>
            </a:r>
          </a:p>
          <a:p>
            <a:pPr lvl="3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tr-TR" sz="900" noProof="1">
              <a:latin typeface="Arial Narrow" panose="020B0606020202030204" pitchFamily="34" charset="0"/>
            </a:endParaRPr>
          </a:p>
          <a:p>
            <a:pPr marL="11430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Disadvantages:</a:t>
            </a:r>
          </a:p>
          <a:p>
            <a:pPr marL="1200150" lvl="2">
              <a:spcBef>
                <a:spcPts val="0"/>
              </a:spcBef>
            </a:pPr>
            <a:r>
              <a:rPr lang="tr-TR" sz="1800" noProof="1" smtClean="0">
                <a:latin typeface="Arial Narrow" panose="020B0606020202030204" pitchFamily="34" charset="0"/>
              </a:rPr>
              <a:t>inflation is not easily controlled by the monetary authorities,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	</a:t>
            </a:r>
            <a:r>
              <a:rPr lang="tr-TR" sz="1800" noProof="1" smtClean="0">
                <a:latin typeface="Arial Narrow" panose="020B0606020202030204" pitchFamily="34" charset="0"/>
              </a:rPr>
              <a:t>so that an inflation target is unable to send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	</a:t>
            </a:r>
            <a:r>
              <a:rPr lang="tr-TR" sz="1800" noProof="1" smtClean="0">
                <a:latin typeface="Arial Narrow" panose="020B0606020202030204" pitchFamily="34" charset="0"/>
              </a:rPr>
              <a:t>	immediate signals to both the public and markets</a:t>
            </a:r>
          </a:p>
          <a:p>
            <a:pPr marL="1200150" lvl="2">
              <a:spcBef>
                <a:spcPts val="0"/>
              </a:spcBef>
            </a:pPr>
            <a:r>
              <a:rPr lang="tr-TR" sz="1800" noProof="1" smtClean="0">
                <a:latin typeface="Arial Narrow" panose="020B0606020202030204" pitchFamily="34" charset="0"/>
              </a:rPr>
              <a:t>might impose a rigid rule on policy makers,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	</a:t>
            </a:r>
            <a:r>
              <a:rPr lang="tr-TR" sz="1800" noProof="1" smtClean="0">
                <a:latin typeface="Arial Narrow" panose="020B0606020202030204" pitchFamily="34" charset="0"/>
              </a:rPr>
              <a:t>although this has not been the case in practice</a:t>
            </a:r>
          </a:p>
          <a:p>
            <a:pPr marL="1200150" lvl="2">
              <a:spcBef>
                <a:spcPts val="0"/>
              </a:spcBef>
            </a:pPr>
            <a:r>
              <a:rPr lang="tr-TR" sz="1800" noProof="1" smtClean="0">
                <a:latin typeface="Arial Narrow" panose="020B0606020202030204" pitchFamily="34" charset="0"/>
              </a:rPr>
              <a:t>a sole focus on inflation may lead to larger output fluctuations,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	</a:t>
            </a:r>
            <a:r>
              <a:rPr lang="tr-TR" sz="1800" noProof="1" smtClean="0">
                <a:latin typeface="Arial Narrow" panose="020B0606020202030204" pitchFamily="34" charset="0"/>
              </a:rPr>
              <a:t>although this has also not been the case in practice</a:t>
            </a:r>
          </a:p>
          <a:p>
            <a:pPr marL="914400" lvl="2" indent="0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11430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In recent years, the Federal Reserve of US has had a strategy of having an implicit nominal anchor.</a:t>
            </a:r>
          </a:p>
          <a:p>
            <a:pPr marL="11430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It has had a demonstrated success, producing low inflation</a:t>
            </a:r>
          </a:p>
          <a:p>
            <a:pPr marL="11430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with the longest business cycle expansion in US history.</a:t>
            </a: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77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11423</TotalTime>
  <Words>348</Words>
  <Application>Microsoft Office PowerPoint</Application>
  <PresentationFormat>Ekran Gösterisi (4:3)</PresentationFormat>
  <Paragraphs>94</Paragraphs>
  <Slides>8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2" baseType="lpstr">
      <vt:lpstr>Arial</vt:lpstr>
      <vt:lpstr>Arial Narrow</vt:lpstr>
      <vt:lpstr>Calibri</vt:lpstr>
      <vt:lpstr>Office Theme</vt:lpstr>
      <vt:lpstr> </vt:lpstr>
      <vt:lpstr>NTE 1010 – Introduction to Finance for Engineers Monetary Policy </vt:lpstr>
      <vt:lpstr>NTE 1010 – Introduction to Finance for Engineers Monetary Policy  Price Stability</vt:lpstr>
      <vt:lpstr>NTE 1010 – Introduction to Finance for Engineers Monetary Policy  Inflation in Turkey, Annual CPI</vt:lpstr>
      <vt:lpstr>NTE 1010 – Introduction to Finance for Engineers Monetary Policy  Other Goals</vt:lpstr>
      <vt:lpstr>NTE 1010 – Introduction to Finance for Engineers Monetary Policy  Economic Growth Rate in Turkey, Annual %</vt:lpstr>
      <vt:lpstr>NTE 1010 – Introduction to Finance for Engineers Monetary Policy  Nominal Anchor</vt:lpstr>
      <vt:lpstr>NTE 1010 – Introduction to Finance for Engineers Monetary Policy  Inflation Targeting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677</cp:revision>
  <cp:lastPrinted>2018-12-13T08:03:39Z</cp:lastPrinted>
  <dcterms:created xsi:type="dcterms:W3CDTF">2015-11-30T12:51:35Z</dcterms:created>
  <dcterms:modified xsi:type="dcterms:W3CDTF">2020-04-24T06:32:42Z</dcterms:modified>
  <dc:description/>
</cp:coreProperties>
</file>