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509" r:id="rId2"/>
    <p:sldId id="507" r:id="rId3"/>
    <p:sldId id="426" r:id="rId4"/>
    <p:sldId id="427" r:id="rId5"/>
    <p:sldId id="428" r:id="rId6"/>
    <p:sldId id="495" r:id="rId7"/>
    <p:sldId id="501" r:id="rId8"/>
    <p:sldId id="429" r:id="rId9"/>
    <p:sldId id="433" r:id="rId10"/>
    <p:sldId id="435" r:id="rId11"/>
    <p:sldId id="502" r:id="rId12"/>
    <p:sldId id="437" r:id="rId13"/>
    <p:sldId id="438" r:id="rId14"/>
    <p:sldId id="439" r:id="rId15"/>
    <p:sldId id="498" r:id="rId16"/>
    <p:sldId id="510" r:id="rId17"/>
    <p:sldId id="503" r:id="rId18"/>
    <p:sldId id="444" r:id="rId19"/>
    <p:sldId id="445" r:id="rId20"/>
    <p:sldId id="504" r:id="rId21"/>
    <p:sldId id="446" r:id="rId22"/>
    <p:sldId id="447" r:id="rId23"/>
    <p:sldId id="449" r:id="rId24"/>
    <p:sldId id="450" r:id="rId25"/>
    <p:sldId id="505" r:id="rId26"/>
    <p:sldId id="452" r:id="rId27"/>
    <p:sldId id="453" r:id="rId28"/>
    <p:sldId id="454" r:id="rId29"/>
    <p:sldId id="455" r:id="rId30"/>
    <p:sldId id="497" r:id="rId31"/>
    <p:sldId id="511" r:id="rId32"/>
    <p:sldId id="480" r:id="rId33"/>
    <p:sldId id="481" r:id="rId34"/>
    <p:sldId id="512" r:id="rId35"/>
    <p:sldId id="485" r:id="rId36"/>
    <p:sldId id="487" r:id="rId37"/>
    <p:sldId id="489" r:id="rId38"/>
    <p:sldId id="491" r:id="rId39"/>
    <p:sldId id="493" r:id="rId40"/>
    <p:sldId id="496" r:id="rId41"/>
  </p:sldIdLst>
  <p:sldSz cx="9144000" cy="6858000" type="screen4x3"/>
  <p:notesSz cx="8972550" cy="7102475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800000"/>
    <a:srgbClr val="000066"/>
    <a:srgbClr val="FFFFFF"/>
    <a:srgbClr val="FF6600"/>
    <a:srgbClr val="3333CC"/>
    <a:srgbClr val="FF9900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2" autoAdjust="0"/>
  </p:normalViewPr>
  <p:slideViewPr>
    <p:cSldViewPr>
      <p:cViewPr varScale="1">
        <p:scale>
          <a:sx n="67" d="100"/>
          <a:sy n="67" d="100"/>
        </p:scale>
        <p:origin x="81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handoutMaster" Target="handoutMasters/handout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888345" cy="35512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082775" y="1"/>
            <a:ext cx="3888343" cy="35512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41DD2113-24C6-4329-AB40-201D9F0A72C4}" type="datetimeFigureOut">
              <a:rPr lang="tr-TR" smtClean="0"/>
              <a:t>29.02.2020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5708"/>
            <a:ext cx="3888345" cy="35512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082775" y="6745708"/>
            <a:ext cx="3888343" cy="35512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7F4D469E-94F5-4441-A8A1-33E94B5433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1939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888107" cy="35512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82369" y="1"/>
            <a:ext cx="3888107" cy="35512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D48C765E-539C-483F-BCDF-F0F0AD79452C}" type="datetimeFigureOut">
              <a:rPr lang="tr-TR" smtClean="0"/>
              <a:pPr/>
              <a:t>29.02.2020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1450" y="533400"/>
            <a:ext cx="3549650" cy="2662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11" tIns="45555" rIns="91111" bIns="45555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97255" y="3373677"/>
            <a:ext cx="7178040" cy="3196115"/>
          </a:xfrm>
          <a:prstGeom prst="rect">
            <a:avLst/>
          </a:prstGeom>
        </p:spPr>
        <p:txBody>
          <a:bodyPr vert="horz" lIns="91111" tIns="45555" rIns="91111" bIns="4555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6120"/>
            <a:ext cx="3888107" cy="35512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082369" y="6746120"/>
            <a:ext cx="3888107" cy="35512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AE8B6D33-EF40-4511-BB6D-F4559DCC6ED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84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036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658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43926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11819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10268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1456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0189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60972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57890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23502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9949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36233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19259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92159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226361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12698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9998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39580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2966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72867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450162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697633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331030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54694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49798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734596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389850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290880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926585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57974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44982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783052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162403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25940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9187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95324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97054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38376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04954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38233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EEC2-418A-4AE9-8D76-1350AC2C960C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B617E-CC2C-45DD-8B2D-8AE4EA5FC5F8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D0F5-A4BC-46CD-8841-C457452FFEDC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34DA-5AD4-4FA3-AFE8-2A8C67D70199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F8EC-0934-411F-B635-3062B68C4A87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C700-BE93-49BC-965A-FE7AF14E8E5E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533D-1371-4A64-9DA7-B94E9E82C698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4A5A-A249-4E71-9C80-CB1606C64E4A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A4DE-DE11-46F8-8818-543B671E4FAF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022AE-E832-4A8B-9536-4372F3E1F6C7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B04C-27DE-4D51-8F84-8865E814DCCD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7707C-6B9A-4E38-AEE2-597F60E606B3}" type="datetime1">
              <a:rPr lang="tr-TR" smtClean="0"/>
              <a:pPr/>
              <a:t>29.02.2020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emf"/><Relationship Id="rId4" Type="http://schemas.openxmlformats.org/officeDocument/2006/relationships/image" Target="../media/image6.emf"/><Relationship Id="rId5" Type="http://schemas.openxmlformats.org/officeDocument/2006/relationships/image" Target="../media/image7.emf"/><Relationship Id="rId6" Type="http://schemas.openxmlformats.org/officeDocument/2006/relationships/image" Target="../media/image1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5" Type="http://schemas.openxmlformats.org/officeDocument/2006/relationships/image" Target="../media/image10.emf"/><Relationship Id="rId6" Type="http://schemas.openxmlformats.org/officeDocument/2006/relationships/image" Target="../media/image1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emf"/><Relationship Id="rId4" Type="http://schemas.openxmlformats.org/officeDocument/2006/relationships/image" Target="../media/image1.emf"/><Relationship Id="rId5" Type="http://schemas.openxmlformats.org/officeDocument/2006/relationships/image" Target="../media/image15.emf"/><Relationship Id="rId6" Type="http://schemas.openxmlformats.org/officeDocument/2006/relationships/image" Target="../media/image16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emf"/><Relationship Id="rId4" Type="http://schemas.openxmlformats.org/officeDocument/2006/relationships/image" Target="../media/image1.emf"/><Relationship Id="rId5" Type="http://schemas.openxmlformats.org/officeDocument/2006/relationships/image" Target="../media/image18.emf"/><Relationship Id="rId6" Type="http://schemas.openxmlformats.org/officeDocument/2006/relationships/image" Target="../media/image19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emf"/><Relationship Id="rId4" Type="http://schemas.openxmlformats.org/officeDocument/2006/relationships/image" Target="../media/image22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emf"/><Relationship Id="rId4" Type="http://schemas.openxmlformats.org/officeDocument/2006/relationships/image" Target="../media/image24.emf"/><Relationship Id="rId5" Type="http://schemas.openxmlformats.org/officeDocument/2006/relationships/image" Target="../media/image25.emf"/><Relationship Id="rId6" Type="http://schemas.openxmlformats.org/officeDocument/2006/relationships/image" Target="../media/image1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emf"/><Relationship Id="rId4" Type="http://schemas.openxmlformats.org/officeDocument/2006/relationships/image" Target="../media/image27.emf"/><Relationship Id="rId5" Type="http://schemas.openxmlformats.org/officeDocument/2006/relationships/image" Target="../media/image1.emf"/><Relationship Id="rId6" Type="http://schemas.openxmlformats.org/officeDocument/2006/relationships/image" Target="../media/image28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emf"/><Relationship Id="rId4" Type="http://schemas.openxmlformats.org/officeDocument/2006/relationships/image" Target="../media/image30.emf"/><Relationship Id="rId5" Type="http://schemas.openxmlformats.org/officeDocument/2006/relationships/image" Target="../media/image31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1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emf"/><Relationship Id="rId4" Type="http://schemas.openxmlformats.org/officeDocument/2006/relationships/image" Target="../media/image36.emf"/><Relationship Id="rId5" Type="http://schemas.openxmlformats.org/officeDocument/2006/relationships/image" Target="../media/image37.emf"/><Relationship Id="rId6" Type="http://schemas.openxmlformats.org/officeDocument/2006/relationships/image" Target="../media/image1.e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emf"/><Relationship Id="rId4" Type="http://schemas.openxmlformats.org/officeDocument/2006/relationships/image" Target="../media/image39.emf"/><Relationship Id="rId5" Type="http://schemas.openxmlformats.org/officeDocument/2006/relationships/image" Target="../media/image40.emf"/><Relationship Id="rId6" Type="http://schemas.openxmlformats.org/officeDocument/2006/relationships/image" Target="../media/image1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emf"/><Relationship Id="rId4" Type="http://schemas.openxmlformats.org/officeDocument/2006/relationships/image" Target="../media/image42.emf"/><Relationship Id="rId5" Type="http://schemas.openxmlformats.org/officeDocument/2006/relationships/image" Target="../media/image43.emf"/><Relationship Id="rId6" Type="http://schemas.openxmlformats.org/officeDocument/2006/relationships/image" Target="../media/image1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emf"/><Relationship Id="rId4" Type="http://schemas.openxmlformats.org/officeDocument/2006/relationships/image" Target="../media/image45.emf"/><Relationship Id="rId5" Type="http://schemas.openxmlformats.org/officeDocument/2006/relationships/image" Target="../media/image46.emf"/><Relationship Id="rId6" Type="http://schemas.openxmlformats.org/officeDocument/2006/relationships/image" Target="../media/image1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emf"/><Relationship Id="rId4" Type="http://schemas.openxmlformats.org/officeDocument/2006/relationships/image" Target="../media/image48.emf"/><Relationship Id="rId5" Type="http://schemas.openxmlformats.org/officeDocument/2006/relationships/image" Target="../media/image49.emf"/><Relationship Id="rId6" Type="http://schemas.openxmlformats.org/officeDocument/2006/relationships/image" Target="../media/image1.em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e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em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2.emf"/><Relationship Id="rId4" Type="http://schemas.openxmlformats.org/officeDocument/2006/relationships/image" Target="../media/image53.em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4.emf"/><Relationship Id="rId4" Type="http://schemas.openxmlformats.org/officeDocument/2006/relationships/image" Target="../media/image55.emf"/><Relationship Id="rId5" Type="http://schemas.openxmlformats.org/officeDocument/2006/relationships/image" Target="../media/image56.em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4.emf"/><Relationship Id="rId4" Type="http://schemas.openxmlformats.org/officeDocument/2006/relationships/image" Target="../media/image57.emf"/><Relationship Id="rId5" Type="http://schemas.openxmlformats.org/officeDocument/2006/relationships/image" Target="../media/image58.emf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4.emf"/><Relationship Id="rId4" Type="http://schemas.openxmlformats.org/officeDocument/2006/relationships/image" Target="../media/image59.emf"/><Relationship Id="rId5" Type="http://schemas.openxmlformats.org/officeDocument/2006/relationships/image" Target="../media/image60.emf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4.emf"/><Relationship Id="rId4" Type="http://schemas.openxmlformats.org/officeDocument/2006/relationships/image" Target="../media/image61.emf"/><Relationship Id="rId5" Type="http://schemas.openxmlformats.org/officeDocument/2006/relationships/image" Target="../media/image62.emf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4.emf"/><Relationship Id="rId4" Type="http://schemas.openxmlformats.org/officeDocument/2006/relationships/image" Target="../media/image63.emf"/><Relationship Id="rId5" Type="http://schemas.openxmlformats.org/officeDocument/2006/relationships/image" Target="../media/image64.emf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4.emf"/><Relationship Id="rId4" Type="http://schemas.openxmlformats.org/officeDocument/2006/relationships/image" Target="../media/image65.emf"/><Relationship Id="rId5" Type="http://schemas.openxmlformats.org/officeDocument/2006/relationships/image" Target="../media/image66.emf"/><Relationship Id="rId6" Type="http://schemas.openxmlformats.org/officeDocument/2006/relationships/image" Target="../media/image6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692696"/>
            <a:ext cx="7704856" cy="5472608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 err="1" smtClean="0">
                <a:solidFill>
                  <a:srgbClr val="800000"/>
                </a:solidFill>
                <a:latin typeface="Arial Narrow" pitchFamily="34" charset="0"/>
              </a:rPr>
              <a:t>NTE</a:t>
            </a:r>
            <a:r>
              <a:rPr lang="tr-TR" sz="1600" dirty="0" smtClean="0">
                <a:solidFill>
                  <a:srgbClr val="800000"/>
                </a:solidFill>
                <a:latin typeface="Arial Narrow" pitchFamily="34" charset="0"/>
              </a:rPr>
              <a:t> 1010</a:t>
            </a:r>
          </a:p>
          <a:p>
            <a:pPr>
              <a:spcBef>
                <a:spcPts val="0"/>
              </a:spcBef>
            </a:pPr>
            <a:r>
              <a:rPr lang="tr-TR" sz="1600" dirty="0" err="1" smtClean="0">
                <a:solidFill>
                  <a:srgbClr val="800000"/>
                </a:solidFill>
                <a:latin typeface="Arial Narrow" pitchFamily="34" charset="0"/>
              </a:rPr>
              <a:t>Introduction</a:t>
            </a:r>
            <a:r>
              <a:rPr lang="tr-TR" sz="16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itchFamily="34" charset="0"/>
              </a:rPr>
              <a:t>to</a:t>
            </a:r>
            <a:r>
              <a:rPr lang="tr-TR" sz="1600" dirty="0">
                <a:solidFill>
                  <a:srgbClr val="800000"/>
                </a:solidFill>
                <a:latin typeface="Arial Narrow" pitchFamily="34" charset="0"/>
              </a:rPr>
              <a:t> Finance </a:t>
            </a:r>
            <a:r>
              <a:rPr lang="tr-TR" sz="1600" dirty="0" err="1">
                <a:solidFill>
                  <a:srgbClr val="800000"/>
                </a:solidFill>
                <a:latin typeface="Arial Narrow" pitchFamily="34" charset="0"/>
              </a:rPr>
              <a:t>for</a:t>
            </a:r>
            <a:r>
              <a:rPr lang="tr-TR" sz="16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1600" dirty="0" err="1" smtClean="0">
                <a:solidFill>
                  <a:srgbClr val="800000"/>
                </a:solidFill>
                <a:latin typeface="Arial Narrow" pitchFamily="34" charset="0"/>
              </a:rPr>
              <a:t>Engineers</a:t>
            </a:r>
            <a:endParaRPr lang="tr-TR" sz="16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 smtClean="0">
                <a:solidFill>
                  <a:srgbClr val="800000"/>
                </a:solidFill>
                <a:latin typeface="Arial Narrow" pitchFamily="34" charset="0"/>
              </a:rPr>
              <a:t>Spring 2020</a:t>
            </a:r>
          </a:p>
          <a:p>
            <a:pPr>
              <a:spcBef>
                <a:spcPts val="0"/>
              </a:spcBef>
            </a:pP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800" dirty="0" err="1">
                <a:solidFill>
                  <a:schemeClr val="tx1"/>
                </a:solidFill>
                <a:latin typeface="Arial Narrow" pitchFamily="34" charset="0"/>
              </a:rPr>
              <a:t>W</a:t>
            </a:r>
            <a:r>
              <a:rPr lang="tr-TR" sz="2800" dirty="0" err="1" smtClean="0">
                <a:solidFill>
                  <a:schemeClr val="tx1"/>
                </a:solidFill>
                <a:latin typeface="Arial Narrow" pitchFamily="34" charset="0"/>
              </a:rPr>
              <a:t>eek</a:t>
            </a:r>
            <a:r>
              <a:rPr lang="tr-TR" sz="2800" dirty="0" smtClean="0">
                <a:solidFill>
                  <a:schemeClr val="tx1"/>
                </a:solidFill>
                <a:latin typeface="Arial Narrow" pitchFamily="34" charset="0"/>
              </a:rPr>
              <a:t> 3</a:t>
            </a:r>
          </a:p>
          <a:p>
            <a:pPr>
              <a:spcBef>
                <a:spcPts val="0"/>
              </a:spcBef>
            </a:pPr>
            <a:endParaRPr lang="tr-TR" sz="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chemeClr val="tx1"/>
                </a:solidFill>
                <a:latin typeface="Arial Narrow" pitchFamily="34" charset="0"/>
              </a:rPr>
              <a:t>Analysing</a:t>
            </a:r>
            <a:r>
              <a:rPr lang="tr-TR" sz="2400" dirty="0" smtClean="0">
                <a:solidFill>
                  <a:schemeClr val="tx1"/>
                </a:solidFill>
                <a:latin typeface="Arial Narrow" pitchFamily="34" charset="0"/>
              </a:rPr>
              <a:t> &amp; </a:t>
            </a:r>
            <a:r>
              <a:rPr lang="tr-TR" sz="2400" dirty="0" err="1" smtClean="0">
                <a:solidFill>
                  <a:schemeClr val="tx1"/>
                </a:solidFill>
                <a:latin typeface="Arial Narrow" pitchFamily="34" charset="0"/>
              </a:rPr>
              <a:t>Interpreting</a:t>
            </a:r>
            <a:endParaRPr lang="tr-TR" sz="24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smtClean="0">
                <a:solidFill>
                  <a:schemeClr val="tx1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chemeClr val="tx1"/>
                </a:solidFill>
                <a:latin typeface="Arial Narrow" pitchFamily="34" charset="0"/>
              </a:rPr>
              <a:t>Statements</a:t>
            </a:r>
            <a:endParaRPr lang="tr-TR" sz="24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8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chemeClr val="tx1"/>
                </a:solidFill>
                <a:latin typeface="Arial Narrow" pitchFamily="34" charset="0"/>
              </a:rPr>
              <a:t>Ratio</a:t>
            </a:r>
            <a:r>
              <a:rPr lang="tr-TR" sz="2400" dirty="0" smtClean="0">
                <a:solidFill>
                  <a:schemeClr val="tx1"/>
                </a:solidFill>
                <a:latin typeface="Arial Narrow" pitchFamily="34" charset="0"/>
              </a:rPr>
              <a:t> Analysis</a:t>
            </a:r>
          </a:p>
          <a:p>
            <a:pPr>
              <a:spcBef>
                <a:spcPts val="0"/>
              </a:spcBef>
            </a:pPr>
            <a:endParaRPr lang="tr-TR" sz="14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000" dirty="0" err="1" smtClean="0">
                <a:solidFill>
                  <a:schemeClr val="tx1"/>
                </a:solidFill>
                <a:latin typeface="Arial Narrow" pitchFamily="34" charset="0"/>
              </a:rPr>
              <a:t>Vertical</a:t>
            </a:r>
            <a:r>
              <a:rPr lang="tr-TR" sz="2000" dirty="0" smtClean="0">
                <a:solidFill>
                  <a:schemeClr val="tx1"/>
                </a:solidFill>
                <a:latin typeface="Arial Narrow" pitchFamily="34" charset="0"/>
              </a:rPr>
              <a:t> &amp; </a:t>
            </a:r>
            <a:r>
              <a:rPr lang="tr-TR" sz="2000" dirty="0" err="1" smtClean="0">
                <a:solidFill>
                  <a:schemeClr val="tx1"/>
                </a:solidFill>
                <a:latin typeface="Arial Narrow" pitchFamily="34" charset="0"/>
              </a:rPr>
              <a:t>Horizontal</a:t>
            </a:r>
            <a:r>
              <a:rPr lang="tr-TR" sz="2000" dirty="0" smtClean="0">
                <a:solidFill>
                  <a:schemeClr val="tx1"/>
                </a:solidFill>
                <a:latin typeface="Arial Narrow" pitchFamily="34" charset="0"/>
              </a:rPr>
              <a:t> Analysis</a:t>
            </a:r>
          </a:p>
          <a:p>
            <a:pPr>
              <a:spcBef>
                <a:spcPts val="0"/>
              </a:spcBef>
            </a:pPr>
            <a:endParaRPr lang="tr-TR" sz="2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62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337520" y="2738785"/>
            <a:ext cx="4464496" cy="1482304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4800" dirty="0" err="1" smtClean="0">
                <a:solidFill>
                  <a:srgbClr val="800000"/>
                </a:solidFill>
                <a:latin typeface="Arial Narrow" pitchFamily="34" charset="0"/>
              </a:rPr>
              <a:t>Ratio</a:t>
            </a:r>
            <a:r>
              <a:rPr lang="tr-TR" sz="4800" dirty="0" smtClean="0">
                <a:solidFill>
                  <a:srgbClr val="800000"/>
                </a:solidFill>
                <a:latin typeface="Arial Narrow" pitchFamily="34" charset="0"/>
              </a:rPr>
              <a:t> Analysis</a:t>
            </a:r>
            <a:endParaRPr lang="tr-T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8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endParaRPr lang="tr-TR" sz="28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Financial ratios provide a quick and relatively simple means of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assessing the financial health of a business.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 ratio simply relates one figure appearing in the financial statements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to some other figure appearing there.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Ratios can be very helpful when comparing the financial health of different businesses. Nevertheless, differences in scale of operations need to be taken into acount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in such comparisons.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Though ratios are not difficult to calculate, they can be difficult to interpret and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so it is important to appreciate that they are really only the starting point for further analysis.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Ratios help to highlight the financial strengths and weaknesses of a business,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but they cannot, by themselves, explain why certain strengths and weaknesses exit,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or why certain changes have occurred.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Only a detailed investigation will reveal these underlying reasons.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There is no generally accepted list of ratios that can be applied to the financial statements,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nor is there a standard method of calculating many ratios.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96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Classifications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742950" lvl="2" indent="-342900">
              <a:spcBef>
                <a:spcPts val="0"/>
              </a:spcBef>
              <a:buFont typeface="+mj-lt"/>
              <a:buAutoNum type="arabicPeriod"/>
            </a:pPr>
            <a:endParaRPr lang="tr-TR" sz="1000" noProof="1" smtClean="0">
              <a:latin typeface="Arial Narrow" panose="020B0606020202030204" pitchFamily="34" charset="0"/>
            </a:endParaRPr>
          </a:p>
          <a:p>
            <a:pPr marL="742950" lvl="2" indent="-342900">
              <a:spcBef>
                <a:spcPts val="0"/>
              </a:spcBef>
              <a:buFont typeface="+mj-lt"/>
              <a:buAutoNum type="arabicPeriod"/>
            </a:pPr>
            <a:r>
              <a:rPr lang="tr-TR" sz="2000" noProof="1" smtClean="0">
                <a:latin typeface="Arial Narrow" panose="020B0606020202030204" pitchFamily="34" charset="0"/>
              </a:rPr>
              <a:t>Profitability</a:t>
            </a:r>
          </a:p>
          <a:p>
            <a:pPr marL="857250" lvl="3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businesses exist with the primary purpose of creating wealth for their owners</a:t>
            </a:r>
          </a:p>
          <a:p>
            <a:pPr marL="742950" lvl="2" indent="-342900">
              <a:spcBef>
                <a:spcPts val="0"/>
              </a:spcBef>
              <a:buFont typeface="+mj-lt"/>
              <a:buAutoNum type="arabicPeriod"/>
            </a:pPr>
            <a:endParaRPr lang="tr-TR" sz="1400" noProof="1" smtClean="0">
              <a:latin typeface="Arial Narrow" panose="020B0606020202030204" pitchFamily="34" charset="0"/>
            </a:endParaRPr>
          </a:p>
          <a:p>
            <a:pPr marL="742950" lvl="2" indent="-342900">
              <a:spcBef>
                <a:spcPts val="0"/>
              </a:spcBef>
              <a:buFont typeface="+mj-lt"/>
              <a:buAutoNum type="arabicPeriod"/>
            </a:pPr>
            <a:r>
              <a:rPr lang="tr-TR" sz="2000" noProof="1" smtClean="0">
                <a:latin typeface="Arial Narrow" panose="020B0606020202030204" pitchFamily="34" charset="0"/>
              </a:rPr>
              <a:t>Efficiency</a:t>
            </a:r>
          </a:p>
          <a:p>
            <a:pPr marL="857250" lvl="3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</a:t>
            </a:r>
            <a:r>
              <a:rPr lang="tr-TR" sz="1800" noProof="1" smtClean="0">
                <a:latin typeface="Arial Narrow" panose="020B0606020202030204" pitchFamily="34" charset="0"/>
              </a:rPr>
              <a:t>lso known as Activity Ratios</a:t>
            </a:r>
          </a:p>
          <a:p>
            <a:pPr marL="742950" lvl="2" indent="-342900">
              <a:spcBef>
                <a:spcPts val="0"/>
              </a:spcBef>
              <a:buFont typeface="+mj-lt"/>
              <a:buAutoNum type="arabicPeriod"/>
            </a:pPr>
            <a:endParaRPr lang="tr-TR" sz="1400" noProof="1" smtClean="0">
              <a:latin typeface="Arial Narrow" panose="020B0606020202030204" pitchFamily="34" charset="0"/>
            </a:endParaRPr>
          </a:p>
          <a:p>
            <a:pPr marL="742950" lvl="2" indent="-342900">
              <a:spcBef>
                <a:spcPts val="0"/>
              </a:spcBef>
              <a:buFont typeface="+mj-lt"/>
              <a:buAutoNum type="arabicPeriod"/>
            </a:pPr>
            <a:r>
              <a:rPr lang="tr-TR" sz="2000" noProof="1" smtClean="0">
                <a:latin typeface="Arial Narrow" panose="020B0606020202030204" pitchFamily="34" charset="0"/>
              </a:rPr>
              <a:t>Liquidity</a:t>
            </a:r>
          </a:p>
          <a:p>
            <a:pPr marL="857250" lvl="3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it is vital to the survival of a business for there to be sufficient liquid resources available to meet maturing obligations</a:t>
            </a:r>
          </a:p>
          <a:p>
            <a:pPr marL="742950" lvl="2" indent="-342900">
              <a:spcBef>
                <a:spcPts val="0"/>
              </a:spcBef>
              <a:buFont typeface="+mj-lt"/>
              <a:buAutoNum type="arabicPeriod"/>
            </a:pPr>
            <a:endParaRPr lang="tr-TR" sz="1400" noProof="1" smtClean="0">
              <a:latin typeface="Arial Narrow" panose="020B0606020202030204" pitchFamily="34" charset="0"/>
            </a:endParaRPr>
          </a:p>
          <a:p>
            <a:pPr marL="742950" lvl="2" indent="-342900">
              <a:spcBef>
                <a:spcPts val="0"/>
              </a:spcBef>
              <a:buFont typeface="+mj-lt"/>
              <a:buAutoNum type="arabicPeriod"/>
            </a:pPr>
            <a:r>
              <a:rPr lang="tr-TR" sz="2000" noProof="1" smtClean="0">
                <a:latin typeface="Arial Narrow" panose="020B0606020202030204" pitchFamily="34" charset="0"/>
              </a:rPr>
              <a:t>Financial leverage</a:t>
            </a:r>
          </a:p>
          <a:p>
            <a:pPr marL="857250" lvl="3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h</a:t>
            </a:r>
            <a:r>
              <a:rPr lang="tr-TR" sz="1800" noProof="1" smtClean="0">
                <a:latin typeface="Arial Narrow" panose="020B0606020202030204" pitchFamily="34" charset="0"/>
              </a:rPr>
              <a:t>ighlight the extent to which the business uses loan finance</a:t>
            </a:r>
          </a:p>
          <a:p>
            <a:pPr marL="857250" lvl="3" indent="0">
              <a:spcBef>
                <a:spcPts val="0"/>
              </a:spcBef>
              <a:buNone/>
            </a:pPr>
            <a:endParaRPr lang="tr-TR" sz="1400" noProof="1" smtClean="0">
              <a:latin typeface="Arial Narrow" panose="020B0606020202030204" pitchFamily="34" charset="0"/>
            </a:endParaRPr>
          </a:p>
          <a:p>
            <a:pPr marL="742950" lvl="2" indent="-342900">
              <a:spcBef>
                <a:spcPts val="0"/>
              </a:spcBef>
              <a:buFont typeface="+mj-lt"/>
              <a:buAutoNum type="arabicPeriod"/>
            </a:pPr>
            <a:r>
              <a:rPr lang="tr-TR" sz="2000" noProof="1" smtClean="0">
                <a:latin typeface="Arial Narrow" panose="020B0606020202030204" pitchFamily="34" charset="0"/>
              </a:rPr>
              <a:t>Investment</a:t>
            </a:r>
          </a:p>
          <a:p>
            <a:pPr marL="857250" lvl="3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Return on Investment, etc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58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Comparison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Merely calculating a ratio will not tell us very much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about the position of performance of a business.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It is only when we compare the ratio with some </a:t>
            </a: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″benchmark″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that the information can be interpreted and evaluated.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600" noProof="1" smtClean="0">
              <a:latin typeface="Arial Narrow" panose="020B0606020202030204" pitchFamily="34" charset="0"/>
            </a:endParaRPr>
          </a:p>
          <a:p>
            <a:pPr marL="857250" lvl="2" indent="-457200">
              <a:spcBef>
                <a:spcPts val="0"/>
              </a:spcBef>
              <a:buFont typeface="+mj-lt"/>
              <a:buAutoNum type="arabicPeriod"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Past periods</a:t>
            </a:r>
          </a:p>
          <a:p>
            <a:pPr marL="1314450" lvl="4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By comparing the ratio calculated with the same ratio, but for a previous period, it is possible to detect whether there has been an improvement or deterioration in performance. Nevertheless, when comparing the performance of a single business over time, operating inefficiencies may not be clearly exposed.</a:t>
            </a:r>
          </a:p>
          <a:p>
            <a:pPr marL="1314450" lvl="4" indent="0">
              <a:spcBef>
                <a:spcPts val="0"/>
              </a:spcBef>
              <a:buNone/>
            </a:pPr>
            <a:endParaRPr lang="tr-TR" sz="600" noProof="1" smtClean="0">
              <a:latin typeface="Arial Narrow" panose="020B0606020202030204" pitchFamily="34" charset="0"/>
            </a:endParaRPr>
          </a:p>
          <a:p>
            <a:pPr marL="857250" lvl="2" indent="-457200">
              <a:spcBef>
                <a:spcPts val="0"/>
              </a:spcBef>
              <a:buFont typeface="+mj-lt"/>
              <a:buAutoNum type="arabicPeriod"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Similar businesses</a:t>
            </a:r>
          </a:p>
          <a:p>
            <a:pPr marL="1314450" lvl="4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In a competitive environment, a business must consider its performance in relation to that of other businesses operating in the same industry.</a:t>
            </a:r>
          </a:p>
          <a:p>
            <a:pPr marL="1314450" lvl="4" indent="0">
              <a:spcBef>
                <a:spcPts val="0"/>
              </a:spcBef>
              <a:buNone/>
            </a:pPr>
            <a:endParaRPr lang="tr-TR" sz="600" noProof="1" smtClean="0">
              <a:latin typeface="Arial Narrow" panose="020B0606020202030204" pitchFamily="34" charset="0"/>
            </a:endParaRPr>
          </a:p>
          <a:p>
            <a:pPr marL="857250" lvl="2" indent="-457200">
              <a:spcBef>
                <a:spcPts val="0"/>
              </a:spcBef>
              <a:buFont typeface="+mj-lt"/>
              <a:buAutoNum type="arabicPeriod"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Planned performance</a:t>
            </a:r>
          </a:p>
          <a:p>
            <a:pPr marL="1314450" lvl="4" indent="0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Ratios may be compared with the targets that management developed before the start of the period under review.</a:t>
            </a:r>
          </a:p>
        </p:txBody>
      </p:sp>
    </p:spTree>
    <p:extLst>
      <p:ext uri="{BB962C8B-B14F-4D97-AF65-F5344CB8AC3E}">
        <p14:creationId xmlns:p14="http://schemas.microsoft.com/office/powerpoint/2010/main" val="390403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188640"/>
            <a:ext cx="3487324" cy="129614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 smtClean="0">
                <a:latin typeface="Arial Narrow" pitchFamily="34" charset="0"/>
              </a:rPr>
              <a:t>NTE</a:t>
            </a:r>
            <a:r>
              <a:rPr lang="tr-TR" sz="1400" dirty="0" smtClean="0">
                <a:latin typeface="Arial Narrow" pitchFamily="34" charset="0"/>
              </a:rPr>
              <a:t> 1010 – </a:t>
            </a:r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to</a:t>
            </a:r>
            <a:r>
              <a:rPr lang="tr-TR" sz="1400" dirty="0" smtClean="0">
                <a:latin typeface="Arial Narrow" pitchFamily="34" charset="0"/>
              </a:rPr>
              <a:t> Finance </a:t>
            </a:r>
            <a:r>
              <a:rPr lang="tr-TR" sz="1400" dirty="0" err="1" smtClean="0">
                <a:latin typeface="Arial Narrow" pitchFamily="34" charset="0"/>
              </a:rPr>
              <a:t>for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0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20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0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  <a:t>&amp; </a:t>
            </a:r>
            <a:r>
              <a:rPr lang="tr-TR" sz="2000" dirty="0">
                <a:solidFill>
                  <a:srgbClr val="800000"/>
                </a:solidFill>
                <a:latin typeface="Arial Narrow" pitchFamily="34" charset="0"/>
              </a:rPr>
              <a:t>Financial Statement </a:t>
            </a:r>
            <a: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  <a:t>Analysis</a:t>
            </a:r>
            <a:endParaRPr lang="tr-TR" sz="20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196752"/>
            <a:ext cx="3528392" cy="5544616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 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54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589548" y="2738785"/>
            <a:ext cx="3960440" cy="1482304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4800" dirty="0" err="1" smtClean="0">
                <a:solidFill>
                  <a:srgbClr val="800000"/>
                </a:solidFill>
                <a:latin typeface="Arial Narrow" pitchFamily="34" charset="0"/>
              </a:rPr>
              <a:t>Profitability</a:t>
            </a:r>
            <a:endParaRPr lang="tr-T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17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274638"/>
            <a:ext cx="3672408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Profitability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smtClean="0">
                <a:latin typeface="Arial Narrow" pitchFamily="34" charset="0"/>
              </a:rPr>
              <a:t>Return on </a:t>
            </a:r>
            <a:r>
              <a:rPr lang="tr-TR" sz="2000" dirty="0" err="1" smtClean="0">
                <a:latin typeface="Arial Narrow" pitchFamily="34" charset="0"/>
              </a:rPr>
              <a:t>Equity</a:t>
            </a:r>
            <a:r>
              <a:rPr lang="tr-TR" sz="2000" dirty="0" smtClean="0">
                <a:latin typeface="Arial Narrow" pitchFamily="34" charset="0"/>
              </a:rPr>
              <a:t> (</a:t>
            </a:r>
            <a:r>
              <a:rPr lang="tr-TR" sz="2000" dirty="0" err="1" smtClean="0">
                <a:latin typeface="Arial Narrow" pitchFamily="34" charset="0"/>
              </a:rPr>
              <a:t>RoE</a:t>
            </a:r>
            <a:r>
              <a:rPr lang="tr-TR" sz="2000" dirty="0" smtClean="0">
                <a:latin typeface="Arial Narrow" pitchFamily="34" charset="0"/>
              </a:rPr>
              <a:t>)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1520" y="1268760"/>
            <a:ext cx="3816424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Compares the amount of profit for the period available to the owners, with the owners’ average stake in the business during that same period.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 general, businesses seek to generate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as high a value as possible for this ratio,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provided that it is not achieved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at the expense of potential future returns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by, for example, taking on more risky activities.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</a:t>
            </a:r>
            <a:r>
              <a:rPr lang="tr-TR" sz="1600" noProof="1">
                <a:latin typeface="Arial Narrow" panose="020B0606020202030204" pitchFamily="34" charset="0"/>
              </a:rPr>
              <a:t>RoE </a:t>
            </a:r>
            <a:r>
              <a:rPr lang="tr-TR" sz="1600" noProof="1" smtClean="0">
                <a:latin typeface="Arial Narrow" panose="020B0606020202030204" pitchFamily="34" charset="0"/>
              </a:rPr>
              <a:t>ratio is </a:t>
            </a:r>
            <a:r>
              <a:rPr lang="tr-TR" sz="1600" noProof="1">
                <a:latin typeface="Arial Narrow" panose="020B0606020202030204" pitchFamily="34" charset="0"/>
              </a:rPr>
              <a:t>widely used by businesses when establishing targets for profitability.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These targets are sometimes made </a:t>
            </a:r>
            <a:r>
              <a:rPr lang="tr-TR" sz="1600" noProof="1" smtClean="0">
                <a:latin typeface="Arial Narrow" panose="020B0606020202030204" pitchFamily="34" charset="0"/>
              </a:rPr>
              <a:t>public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by companies shares </a:t>
            </a:r>
            <a:r>
              <a:rPr lang="tr-TR" sz="1600" noProof="1">
                <a:latin typeface="Arial Narrow" panose="020B0606020202030204" pitchFamily="34" charset="0"/>
              </a:rPr>
              <a:t>of which are </a:t>
            </a:r>
            <a:r>
              <a:rPr lang="tr-TR" sz="1600" noProof="1" smtClean="0">
                <a:latin typeface="Arial Narrow" panose="020B0606020202030204" pitchFamily="34" charset="0"/>
              </a:rPr>
              <a:t>traded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 </a:t>
            </a:r>
            <a:r>
              <a:rPr lang="tr-TR" sz="1600" noProof="1">
                <a:latin typeface="Arial Narrow" panose="020B0606020202030204" pitchFamily="34" charset="0"/>
              </a:rPr>
              <a:t>stock exchanges.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24" y="2127994"/>
            <a:ext cx="2546392" cy="580926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56" y="2780929"/>
            <a:ext cx="2985927" cy="576063"/>
          </a:xfrm>
          <a:prstGeom prst="rect">
            <a:avLst/>
          </a:prstGeom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28" y="3429000"/>
            <a:ext cx="2709060" cy="540012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0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274638"/>
            <a:ext cx="3736153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Profitability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smtClean="0">
                <a:latin typeface="Arial Narrow" pitchFamily="34" charset="0"/>
              </a:rPr>
              <a:t>Net Profit </a:t>
            </a:r>
            <a:r>
              <a:rPr lang="tr-TR" sz="2000" dirty="0" err="1" smtClean="0">
                <a:latin typeface="Arial Narrow" pitchFamily="34" charset="0"/>
              </a:rPr>
              <a:t>Margin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1520" y="1268760"/>
            <a:ext cx="3816424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4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Relates Profit before Interest &amp; Tax for the period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to the Sales Revenue during that period.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4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This is often regarded as the most appropriate </a:t>
            </a:r>
            <a:r>
              <a:rPr lang="tr-TR" sz="16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measure of operational performance</a:t>
            </a:r>
            <a:r>
              <a:rPr lang="tr-TR" sz="1600" noProof="1" smtClean="0">
                <a:latin typeface="Arial Narrow" panose="020B0606020202030204" pitchFamily="34" charset="0"/>
              </a:rPr>
              <a:t>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when used as a basis of comparison,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because differences arising from the way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 which the business is financed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will not influence the measure.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This ratio can vary considerably between types of business. For example, supermarkets thend to operate on low margins. Jewellers, on the other hand, tend to have high net profit margins.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554066"/>
            <a:ext cx="3664145" cy="57606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43" y="4221088"/>
            <a:ext cx="2965313" cy="57606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43" y="4850210"/>
            <a:ext cx="2965313" cy="595014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8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3" y="274638"/>
            <a:ext cx="3816423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Profitability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Gross</a:t>
            </a:r>
            <a:r>
              <a:rPr lang="tr-TR" sz="2000" dirty="0" smtClean="0">
                <a:latin typeface="Arial Narrow" pitchFamily="34" charset="0"/>
              </a:rPr>
              <a:t> Profit </a:t>
            </a:r>
            <a:r>
              <a:rPr lang="tr-TR" sz="2000" dirty="0" err="1" smtClean="0">
                <a:latin typeface="Arial Narrow" pitchFamily="34" charset="0"/>
              </a:rPr>
              <a:t>Margin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3" y="1268760"/>
            <a:ext cx="3888432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Relates Gross Profit for </a:t>
            </a:r>
            <a:r>
              <a:rPr lang="tr-TR" sz="1600" noProof="1">
                <a:latin typeface="Arial Narrow" panose="020B0606020202030204" pitchFamily="34" charset="0"/>
              </a:rPr>
              <a:t>the period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to the Sales Revenue during that period</a:t>
            </a:r>
            <a:r>
              <a:rPr lang="tr-TR" sz="1600" noProof="1" smtClean="0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It is a measure of profitability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 buying (or producing) and selling goods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before any other expenses are taken into account.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decline in this ratio could mean that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s</a:t>
            </a:r>
            <a:r>
              <a:rPr lang="tr-TR" sz="1600" noProof="1" smtClean="0">
                <a:latin typeface="Arial Narrow" panose="020B0606020202030204" pitchFamily="34" charset="0"/>
              </a:rPr>
              <a:t>ales prices were lower and/or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purchase cost of goods sold increased.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It is possible that both were reduced,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but sales prices at a greater rate.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Or, both incresed,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but cost of goods sold at a greater rate.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Further analysis is needed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</a:t>
            </a:r>
            <a:r>
              <a:rPr lang="tr-TR" sz="1600" noProof="1" smtClean="0">
                <a:latin typeface="Arial Narrow" panose="020B0606020202030204" pitchFamily="34" charset="0"/>
              </a:rPr>
              <a:t>o discover the causes.</a:t>
            </a: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56" y="2564904"/>
            <a:ext cx="3096344" cy="601519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635" y="3212976"/>
            <a:ext cx="3154186" cy="57606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556" y="3861048"/>
            <a:ext cx="3125265" cy="570782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84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589548" y="2738785"/>
            <a:ext cx="3960440" cy="1482304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4800" dirty="0" err="1" smtClean="0">
                <a:solidFill>
                  <a:srgbClr val="800000"/>
                </a:solidFill>
                <a:latin typeface="Arial Narrow" pitchFamily="34" charset="0"/>
              </a:rPr>
              <a:t>Efficiency</a:t>
            </a:r>
            <a:endParaRPr lang="tr-T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18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3785091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 smtClean="0">
                <a:latin typeface="Arial Narrow" pitchFamily="34" charset="0"/>
              </a:rPr>
              <a:t>NTE</a:t>
            </a:r>
            <a:r>
              <a:rPr lang="tr-TR" sz="1400" dirty="0" smtClean="0">
                <a:latin typeface="Arial Narrow" pitchFamily="34" charset="0"/>
              </a:rPr>
              <a:t> 1010 – </a:t>
            </a:r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to</a:t>
            </a:r>
            <a:r>
              <a:rPr lang="tr-TR" sz="1400" dirty="0" smtClean="0">
                <a:latin typeface="Arial Narrow" pitchFamily="34" charset="0"/>
              </a:rPr>
              <a:t> Finance </a:t>
            </a:r>
            <a:r>
              <a:rPr lang="tr-TR" sz="1400" dirty="0" err="1" smtClean="0">
                <a:latin typeface="Arial Narrow" pitchFamily="34" charset="0"/>
              </a:rPr>
              <a:t>for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Efficiency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Average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Inventories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Turnover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Period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268760"/>
            <a:ext cx="3930670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Inventories often represent a significant investment for a business.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This ratio measures the average period (in days) for which the inventories are being held.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In other words, it measures ″how </a:t>
            </a:r>
            <a:r>
              <a:rPr lang="tr-TR" sz="1600" noProof="1" smtClean="0">
                <a:latin typeface="Arial Narrow" panose="020B0606020202030204" pitchFamily="34" charset="0"/>
              </a:rPr>
              <a:t>fast″ the inventories are being sold (″turned over″).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 case of a highly seasonal business, where inventory levels may vary considerably over the year, a monthly average may be more appropriate.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780928"/>
            <a:ext cx="2840742" cy="1152128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3861048"/>
            <a:ext cx="3641075" cy="1152128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4797152"/>
            <a:ext cx="3641076" cy="1152128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3847206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Efficiency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Avg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Settlement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Period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for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Receivables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268760"/>
            <a:ext cx="3888432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Speed of payment by customers can have a significant effect on business’ cash flow.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This ratio measures the average period (in days) </a:t>
            </a:r>
            <a:r>
              <a:rPr lang="tr-TR" sz="1600" noProof="1" smtClean="0">
                <a:latin typeface="Arial Narrow" panose="020B0606020202030204" pitchFamily="34" charset="0"/>
              </a:rPr>
              <a:t>credit customers to pay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amounts that they owe to the business.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400" noProof="1" smtClean="0">
                <a:solidFill>
                  <a:srgbClr val="0000CC"/>
                </a:solidFill>
                <a:latin typeface="Arial Narrow" panose="020B0606020202030204" pitchFamily="34" charset="0"/>
              </a:rPr>
              <a:t>On 1-1-2016, Trade Receivables was $215m.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When opening balances are available, averaging Trade Receivables should be preferred.</a:t>
            </a:r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5597260"/>
            <a:ext cx="3528392" cy="1144107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675" y="2564904"/>
            <a:ext cx="3341358" cy="108012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14" y="3634593"/>
            <a:ext cx="3846942" cy="109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5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3828516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Efficiency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Avg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Settlement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Period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>
                <a:latin typeface="Arial Narrow" pitchFamily="34" charset="0"/>
              </a:rPr>
              <a:t>for</a:t>
            </a:r>
            <a:r>
              <a:rPr lang="tr-TR" sz="2000" dirty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Payables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268760"/>
            <a:ext cx="3888432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Measures how long, on the average,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business takes to pay its trade payables.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4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As trade payables provide a free source of finance for the business, most businesses attempt to increase their average settlement period. However, such a policy, if taken too far, would result in a loss of goodwill of suppliers.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400" noProof="1" smtClean="0">
              <a:solidFill>
                <a:srgbClr val="0000CC"/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400" noProof="1" smtClean="0">
                <a:solidFill>
                  <a:srgbClr val="0000CC"/>
                </a:solidFill>
                <a:latin typeface="Arial Narrow" panose="020B0606020202030204" pitchFamily="34" charset="0"/>
              </a:rPr>
              <a:t>On 1-1-2016, Trade Payables was $263m. 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5615034"/>
            <a:ext cx="3456384" cy="1126334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240" y="3162831"/>
            <a:ext cx="2965896" cy="1058257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73" y="4149080"/>
            <a:ext cx="3954771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0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> - </a:t>
            </a:r>
            <a:r>
              <a:rPr lang="tr-TR" sz="2800" dirty="0" err="1" smtClean="0">
                <a:solidFill>
                  <a:srgbClr val="800000"/>
                </a:solidFill>
                <a:latin typeface="Arial Narrow" pitchFamily="34" charset="0"/>
              </a:rPr>
              <a:t>Efficiency</a:t>
            </a:r>
            <a:r>
              <a:rPr lang="tr-TR" sz="28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8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400" dirty="0" smtClean="0">
                <a:latin typeface="Arial Narrow" pitchFamily="34" charset="0"/>
              </a:rPr>
              <a:t>Operating Cash </a:t>
            </a:r>
            <a:r>
              <a:rPr lang="tr-TR" sz="2400" dirty="0" err="1" smtClean="0">
                <a:latin typeface="Arial Narrow" pitchFamily="34" charset="0"/>
              </a:rPr>
              <a:t>Cycle</a:t>
            </a:r>
            <a:endParaRPr lang="tr-TR" sz="24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900" noProof="1" smtClean="0">
              <a:solidFill>
                <a:srgbClr val="C00000"/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71" y="1628800"/>
            <a:ext cx="8697123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4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800" dirty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800" dirty="0" err="1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2800" dirty="0">
                <a:solidFill>
                  <a:srgbClr val="800000"/>
                </a:solidFill>
                <a:latin typeface="Arial Narrow" pitchFamily="34" charset="0"/>
              </a:rPr>
              <a:t> - </a:t>
            </a:r>
            <a:r>
              <a:rPr lang="tr-TR" sz="2800" dirty="0" err="1">
                <a:solidFill>
                  <a:srgbClr val="800000"/>
                </a:solidFill>
                <a:latin typeface="Arial Narrow" pitchFamily="34" charset="0"/>
              </a:rPr>
              <a:t>Efficiency</a:t>
            </a:r>
            <a:r>
              <a:rPr lang="tr-TR" sz="28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8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400" dirty="0" err="1" smtClean="0">
                <a:latin typeface="Arial Narrow" pitchFamily="34" charset="0"/>
              </a:rPr>
              <a:t>Measuring</a:t>
            </a:r>
            <a:r>
              <a:rPr lang="tr-TR" sz="2400" dirty="0" smtClean="0">
                <a:latin typeface="Arial Narrow" pitchFamily="34" charset="0"/>
              </a:rPr>
              <a:t> Operating Cash </a:t>
            </a:r>
            <a:r>
              <a:rPr lang="tr-TR" sz="2400" dirty="0" err="1" smtClean="0">
                <a:latin typeface="Arial Narrow" pitchFamily="34" charset="0"/>
              </a:rPr>
              <a:t>Cycle</a:t>
            </a:r>
            <a:endParaRPr lang="tr-TR" sz="24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900" noProof="1" smtClean="0">
              <a:solidFill>
                <a:srgbClr val="C00000"/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556792"/>
            <a:ext cx="7056784" cy="2427793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077072"/>
            <a:ext cx="7056784" cy="224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0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589548" y="2738785"/>
            <a:ext cx="3960440" cy="1482304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4800" dirty="0" err="1" smtClean="0">
                <a:solidFill>
                  <a:srgbClr val="800000"/>
                </a:solidFill>
                <a:latin typeface="Arial Narrow" pitchFamily="34" charset="0"/>
              </a:rPr>
              <a:t>Liquidity</a:t>
            </a:r>
            <a:endParaRPr lang="tr-T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43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274638"/>
            <a:ext cx="3744416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Liquidity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Current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Ratio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1520" y="1268760"/>
            <a:ext cx="3816424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4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Compares the ″liquid″ assets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(cash and assets to be turned into cash soon)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of the business with the current liabilities.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4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There is no ″ideal″ Curent Ratio as diiferent types of business require different current ratios.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4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As liquidity is vital to the survival of a business,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a</a:t>
            </a:r>
            <a:r>
              <a:rPr lang="tr-TR" sz="1600" noProof="1" smtClean="0">
                <a:latin typeface="Arial Narrow" panose="020B0606020202030204" pitchFamily="34" charset="0"/>
              </a:rPr>
              <a:t> higher current ratio is preferable.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Though there is a decline from 2016 to 2017,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i</a:t>
            </a:r>
            <a:r>
              <a:rPr lang="tr-TR" sz="1600" noProof="1" smtClean="0">
                <a:latin typeface="Arial Narrow" panose="020B0606020202030204" pitchFamily="34" charset="0"/>
              </a:rPr>
              <a:t>t is not necessarily a matter of concern.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4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next ratio may provide a clue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as to whether there seems to be a problem.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96" y="3405337"/>
            <a:ext cx="2448272" cy="527719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88" y="4074688"/>
            <a:ext cx="2920688" cy="578448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388" y="4938784"/>
            <a:ext cx="2920688" cy="578448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68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3816424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Liquidity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Acit</a:t>
            </a:r>
            <a:r>
              <a:rPr lang="tr-TR" sz="2000" dirty="0" smtClean="0">
                <a:latin typeface="Arial Narrow" pitchFamily="34" charset="0"/>
              </a:rPr>
              <a:t> Test </a:t>
            </a:r>
            <a:r>
              <a:rPr lang="tr-TR" sz="2000" dirty="0" err="1" smtClean="0">
                <a:latin typeface="Arial Narrow" pitchFamily="34" charset="0"/>
              </a:rPr>
              <a:t>Ratio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268760"/>
            <a:ext cx="3888432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4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Very similar to the Current Ratio,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but it represents a more stringent test of liquidity.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It excludes inventories,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as it can be argued that, for many businesses,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i</a:t>
            </a:r>
            <a:r>
              <a:rPr lang="tr-TR" sz="1600" noProof="1" smtClean="0">
                <a:latin typeface="Arial Narrow" panose="020B0606020202030204" pitchFamily="34" charset="0"/>
              </a:rPr>
              <a:t>nventories cannot be converted into cash quickly.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We can see now that the ″liquid″ Current Assets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do not quite cover the current liabilities,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s</a:t>
            </a:r>
            <a:r>
              <a:rPr lang="tr-TR" sz="1600" noProof="1" smtClean="0">
                <a:latin typeface="Arial Narrow" panose="020B0606020202030204" pitchFamily="34" charset="0"/>
              </a:rPr>
              <a:t>o the business may be experiencing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some liquidity problems.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82" y="4109346"/>
            <a:ext cx="3446289" cy="55910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4958127"/>
            <a:ext cx="3446289" cy="55910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496" y="2708920"/>
            <a:ext cx="3312368" cy="111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28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589548" y="2738785"/>
            <a:ext cx="3960440" cy="1482304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4800" dirty="0" err="1" smtClean="0">
                <a:solidFill>
                  <a:srgbClr val="800000"/>
                </a:solidFill>
                <a:latin typeface="Arial Narrow" pitchFamily="34" charset="0"/>
              </a:rPr>
              <a:t>Leverage</a:t>
            </a:r>
            <a:endParaRPr lang="tr-T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8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Financial </a:t>
            </a:r>
            <a:r>
              <a:rPr lang="tr-TR" sz="2800" dirty="0" err="1" smtClean="0">
                <a:latin typeface="Arial Narrow" pitchFamily="34" charset="0"/>
              </a:rPr>
              <a:t>Leverage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Occurs when a business is financed, at least in part, by borrowing,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instead of by finance provided by the owners (the shareholders).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Level of leverage of a business is an important factor in assessing its risk.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Where a business borrows, it takes on a commitment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to pay interest charges and make capital repayments.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Where the borrowing is heavy, this can be a significant financial burden;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it can increase the risk of the business becoming insolvent.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Nevertheless, most businesses are leveraged to some extent.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This may be so, because the owners do not sufficient funds,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s</a:t>
            </a:r>
            <a:r>
              <a:rPr lang="tr-TR" sz="1800" noProof="1" smtClean="0">
                <a:latin typeface="Arial Narrow" panose="020B0606020202030204" pitchFamily="34" charset="0"/>
              </a:rPr>
              <a:t>o the only way to finance the business adequately is to borrow from others.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Another reason is that leveraging can be used to increase the returns to owners.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This is possible provided the returns generated from borrowed funds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exceed the cost of paying interest.</a:t>
            </a:r>
          </a:p>
        </p:txBody>
      </p:sp>
    </p:spTree>
    <p:extLst>
      <p:ext uri="{BB962C8B-B14F-4D97-AF65-F5344CB8AC3E}">
        <p14:creationId xmlns:p14="http://schemas.microsoft.com/office/powerpoint/2010/main" val="274867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71800" y="116632"/>
            <a:ext cx="3501323" cy="1143000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Financial </a:t>
            </a:r>
            <a:r>
              <a:rPr lang="tr-TR" sz="2800" dirty="0" err="1" smtClean="0">
                <a:latin typeface="Arial Narrow" pitchFamily="34" charset="0"/>
              </a:rPr>
              <a:t>Leverage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 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075" y="1628800"/>
            <a:ext cx="3355849" cy="99368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4075" y="2924944"/>
            <a:ext cx="3355849" cy="1481803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074" y="4744878"/>
            <a:ext cx="3379049" cy="77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0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3816424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 smtClean="0">
                <a:latin typeface="Arial Narrow" pitchFamily="34" charset="0"/>
              </a:rPr>
              <a:t>NTE</a:t>
            </a:r>
            <a:r>
              <a:rPr lang="tr-TR" sz="1400" dirty="0" smtClean="0">
                <a:latin typeface="Arial Narrow" pitchFamily="34" charset="0"/>
              </a:rPr>
              <a:t> 1010 – </a:t>
            </a:r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to</a:t>
            </a:r>
            <a:r>
              <a:rPr lang="tr-TR" sz="1400" dirty="0" smtClean="0">
                <a:latin typeface="Arial Narrow" pitchFamily="34" charset="0"/>
              </a:rPr>
              <a:t> Finance </a:t>
            </a:r>
            <a:r>
              <a:rPr lang="tr-TR" sz="1400" dirty="0" err="1" smtClean="0">
                <a:latin typeface="Arial Narrow" pitchFamily="34" charset="0"/>
              </a:rPr>
              <a:t>for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Leverage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Leverage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Ratio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268760"/>
            <a:ext cx="3930670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Measures debt level of a company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relative to its owner’s equity.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132856"/>
            <a:ext cx="2058066" cy="648072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64" y="2997746"/>
            <a:ext cx="2711570" cy="647278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64" y="4005065"/>
            <a:ext cx="2714892" cy="648071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2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3816424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 smtClean="0">
                <a:latin typeface="Arial Narrow" pitchFamily="34" charset="0"/>
              </a:rPr>
              <a:t>NTE</a:t>
            </a:r>
            <a:r>
              <a:rPr lang="tr-TR" sz="1400" dirty="0" smtClean="0">
                <a:latin typeface="Arial Narrow" pitchFamily="34" charset="0"/>
              </a:rPr>
              <a:t> 1010 – </a:t>
            </a:r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to</a:t>
            </a:r>
            <a:r>
              <a:rPr lang="tr-TR" sz="1400" dirty="0" smtClean="0">
                <a:latin typeface="Arial Narrow" pitchFamily="34" charset="0"/>
              </a:rPr>
              <a:t> Finance </a:t>
            </a:r>
            <a:r>
              <a:rPr lang="tr-TR" sz="1400" dirty="0" err="1" smtClean="0">
                <a:latin typeface="Arial Narrow" pitchFamily="34" charset="0"/>
              </a:rPr>
              <a:t>for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Leverage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Interest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Cover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Ratio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268760"/>
            <a:ext cx="3930670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Measures the amount of profit available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to cover interest payable.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44" y="2204864"/>
            <a:ext cx="3166405" cy="63672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46" y="3068961"/>
            <a:ext cx="2609800" cy="648071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46" y="4070564"/>
            <a:ext cx="2609800" cy="637377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94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589548" y="2738785"/>
            <a:ext cx="3960440" cy="1482304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4800" dirty="0" err="1" smtClean="0">
                <a:solidFill>
                  <a:srgbClr val="800000"/>
                </a:solidFill>
                <a:latin typeface="Arial Narrow" pitchFamily="34" charset="0"/>
              </a:rPr>
              <a:t>Investment</a:t>
            </a:r>
            <a:endParaRPr lang="tr-T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56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3816424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 smtClean="0">
                <a:latin typeface="Arial Narrow" pitchFamily="34" charset="0"/>
              </a:rPr>
              <a:t>NTE</a:t>
            </a:r>
            <a:r>
              <a:rPr lang="tr-TR" sz="1400" dirty="0" smtClean="0">
                <a:latin typeface="Arial Narrow" pitchFamily="34" charset="0"/>
              </a:rPr>
              <a:t> 1010 – </a:t>
            </a:r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to</a:t>
            </a:r>
            <a:r>
              <a:rPr lang="tr-TR" sz="1400" dirty="0" smtClean="0">
                <a:latin typeface="Arial Narrow" pitchFamily="34" charset="0"/>
              </a:rPr>
              <a:t> Finance </a:t>
            </a:r>
            <a:r>
              <a:rPr lang="tr-TR" sz="1400" dirty="0" err="1" smtClean="0">
                <a:latin typeface="Arial Narrow" pitchFamily="34" charset="0"/>
              </a:rPr>
              <a:t>for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Investment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Dividend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Payout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Ratio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268760"/>
            <a:ext cx="3930670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Measures the proportion of earnings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that a business pays out to shareholders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 the form of dividends.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* </a:t>
            </a:r>
            <a:r>
              <a:rPr lang="en-US" sz="1600" noProof="1" smtClean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dividends 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to be </a:t>
            </a:r>
            <a:r>
              <a:rPr lang="en-US" sz="1600" noProof="1" smtClean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paid</a:t>
            </a:r>
            <a:endParaRPr lang="tr-TR" sz="1600" noProof="1" smtClean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en-US" sz="1600" noProof="1" smtClean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out 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of earnings of previous </a:t>
            </a:r>
            <a:r>
              <a:rPr lang="en-US" sz="1600" noProof="1" smtClean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years</a:t>
            </a:r>
            <a:endParaRPr lang="tr-TR" sz="1600" noProof="1" smtClean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en-US" sz="1600" noProof="1" smtClean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(i.e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. Retained Earnings)</a:t>
            </a:r>
            <a:endParaRPr lang="tr-TR" sz="1600" noProof="1" smtClean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060848"/>
            <a:ext cx="2925015" cy="156120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739" y="3668273"/>
            <a:ext cx="1944216" cy="127289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312" y="4678628"/>
            <a:ext cx="2167070" cy="1270652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2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3816424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 smtClean="0">
                <a:latin typeface="Arial Narrow" pitchFamily="34" charset="0"/>
              </a:rPr>
              <a:t>NTE</a:t>
            </a:r>
            <a:r>
              <a:rPr lang="tr-TR" sz="1400" dirty="0" smtClean="0">
                <a:latin typeface="Arial Narrow" pitchFamily="34" charset="0"/>
              </a:rPr>
              <a:t> 1010 – </a:t>
            </a:r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to</a:t>
            </a:r>
            <a:r>
              <a:rPr lang="tr-TR" sz="1400" dirty="0" smtClean="0">
                <a:latin typeface="Arial Narrow" pitchFamily="34" charset="0"/>
              </a:rPr>
              <a:t> Finance </a:t>
            </a:r>
            <a:r>
              <a:rPr lang="tr-TR" sz="1400" dirty="0" err="1" smtClean="0">
                <a:latin typeface="Arial Narrow" pitchFamily="34" charset="0"/>
              </a:rPr>
              <a:t>for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Investment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Dividend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Yield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Ratio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268760"/>
            <a:ext cx="3930670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Relates the cash return from a share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to its current market value.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10" y="2060848"/>
            <a:ext cx="2802473" cy="648072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26" y="3098022"/>
            <a:ext cx="2975040" cy="1483106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27" y="5042238"/>
            <a:ext cx="2975040" cy="1483106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7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3816424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 smtClean="0">
                <a:latin typeface="Arial Narrow" pitchFamily="34" charset="0"/>
              </a:rPr>
              <a:t>NTE</a:t>
            </a:r>
            <a:r>
              <a:rPr lang="tr-TR" sz="1400" dirty="0" smtClean="0">
                <a:latin typeface="Arial Narrow" pitchFamily="34" charset="0"/>
              </a:rPr>
              <a:t> 1010 – </a:t>
            </a:r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to</a:t>
            </a:r>
            <a:r>
              <a:rPr lang="tr-TR" sz="1400" dirty="0" smtClean="0">
                <a:latin typeface="Arial Narrow" pitchFamily="34" charset="0"/>
              </a:rPr>
              <a:t> Finance </a:t>
            </a:r>
            <a:r>
              <a:rPr lang="tr-TR" sz="1400" dirty="0" err="1" smtClean="0">
                <a:latin typeface="Arial Narrow" pitchFamily="34" charset="0"/>
              </a:rPr>
              <a:t>for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Investment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Earnings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per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Share</a:t>
            </a:r>
            <a:r>
              <a:rPr lang="tr-TR" sz="2000" dirty="0" smtClean="0">
                <a:latin typeface="Arial Narrow" pitchFamily="34" charset="0"/>
              </a:rPr>
              <a:t> (</a:t>
            </a:r>
            <a:r>
              <a:rPr lang="tr-TR" sz="2000" dirty="0" err="1" smtClean="0">
                <a:latin typeface="Arial Narrow" pitchFamily="34" charset="0"/>
              </a:rPr>
              <a:t>EPS</a:t>
            </a:r>
            <a:r>
              <a:rPr lang="tr-TR" sz="2000" dirty="0" smtClean="0">
                <a:latin typeface="Arial Narrow" pitchFamily="34" charset="0"/>
              </a:rPr>
              <a:t>)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268760"/>
            <a:ext cx="3930670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Relates the earnings generated by the business,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and available to shareholders, during a period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to the number of shares in issue.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8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Many investment analysts regard the EPS ratio as a fundamental measure of share performance.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Though it is possible to make total profits rise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through shareholders investing more in the business, this will not necessarily result in profitability per share rising.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060848"/>
            <a:ext cx="2918411" cy="1224136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10" y="4893657"/>
            <a:ext cx="3045526" cy="695583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9" y="5805264"/>
            <a:ext cx="2981968" cy="681067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1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3816424" cy="922114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 smtClean="0">
                <a:latin typeface="Arial Narrow" pitchFamily="34" charset="0"/>
              </a:rPr>
              <a:t>NTE</a:t>
            </a:r>
            <a:r>
              <a:rPr lang="tr-TR" sz="1400" dirty="0" smtClean="0">
                <a:latin typeface="Arial Narrow" pitchFamily="34" charset="0"/>
              </a:rPr>
              <a:t> 1010 – </a:t>
            </a:r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to</a:t>
            </a:r>
            <a:r>
              <a:rPr lang="tr-TR" sz="1400" dirty="0" smtClean="0">
                <a:latin typeface="Arial Narrow" pitchFamily="34" charset="0"/>
              </a:rPr>
              <a:t> Finance </a:t>
            </a:r>
            <a:r>
              <a:rPr lang="tr-TR" sz="1400" dirty="0" err="1" smtClean="0">
                <a:latin typeface="Arial Narrow" pitchFamily="34" charset="0"/>
              </a:rPr>
              <a:t>for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1800" dirty="0" smtClean="0">
                <a:solidFill>
                  <a:srgbClr val="800000"/>
                </a:solidFill>
                <a:latin typeface="Arial Narrow" pitchFamily="34" charset="0"/>
              </a:rPr>
              <a:t> – </a:t>
            </a:r>
            <a:r>
              <a:rPr lang="tr-TR" sz="1800" dirty="0" err="1" smtClean="0">
                <a:solidFill>
                  <a:srgbClr val="800000"/>
                </a:solidFill>
                <a:latin typeface="Arial Narrow" pitchFamily="34" charset="0"/>
              </a:rPr>
              <a:t>Investment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000" dirty="0" err="1" smtClean="0">
                <a:latin typeface="Arial Narrow" pitchFamily="34" charset="0"/>
              </a:rPr>
              <a:t>Price</a:t>
            </a:r>
            <a:r>
              <a:rPr lang="tr-TR" sz="2000" dirty="0" smtClean="0">
                <a:latin typeface="Arial Narrow" pitchFamily="34" charset="0"/>
              </a:rPr>
              <a:t>/</a:t>
            </a:r>
            <a:r>
              <a:rPr lang="tr-TR" sz="2000" dirty="0" err="1" smtClean="0">
                <a:latin typeface="Arial Narrow" pitchFamily="34" charset="0"/>
              </a:rPr>
              <a:t>Earnings</a:t>
            </a:r>
            <a:r>
              <a:rPr lang="tr-TR" sz="2000" dirty="0" smtClean="0">
                <a:latin typeface="Arial Narrow" pitchFamily="34" charset="0"/>
              </a:rPr>
              <a:t> </a:t>
            </a:r>
            <a:r>
              <a:rPr lang="tr-TR" sz="2000" dirty="0" err="1" smtClean="0">
                <a:latin typeface="Arial Narrow" pitchFamily="34" charset="0"/>
              </a:rPr>
              <a:t>Ratio</a:t>
            </a:r>
            <a:r>
              <a:rPr lang="tr-TR" sz="2000" dirty="0" smtClean="0">
                <a:latin typeface="Arial Narrow" pitchFamily="34" charset="0"/>
              </a:rPr>
              <a:t> (P/E)</a:t>
            </a:r>
            <a:endParaRPr lang="tr-TR" sz="20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268760"/>
            <a:ext cx="3930670" cy="5472608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Relates market value of a share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to the earnings per share.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This ratio is a measure of market confidence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 the future of a business.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03" y="2647386"/>
            <a:ext cx="2592288" cy="56559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35" y="3408974"/>
            <a:ext cx="3001424" cy="117215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35" y="5137166"/>
            <a:ext cx="3001424" cy="1172154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178" y="260649"/>
            <a:ext cx="4983156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8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73160" cy="108012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 smtClean="0">
                <a:latin typeface="Arial Narrow" pitchFamily="34" charset="0"/>
              </a:rPr>
              <a:t>NTE</a:t>
            </a:r>
            <a:r>
              <a:rPr lang="tr-TR" sz="1400" dirty="0" smtClean="0">
                <a:latin typeface="Arial Narrow" pitchFamily="34" charset="0"/>
              </a:rPr>
              <a:t> 1010 – </a:t>
            </a:r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to</a:t>
            </a:r>
            <a:r>
              <a:rPr lang="tr-TR" sz="1400" dirty="0" smtClean="0">
                <a:latin typeface="Arial Narrow" pitchFamily="34" charset="0"/>
              </a:rPr>
              <a:t> Finance </a:t>
            </a:r>
            <a:r>
              <a:rPr lang="tr-TR" sz="1400" dirty="0" err="1" smtClean="0">
                <a:latin typeface="Arial Narrow" pitchFamily="34" charset="0"/>
              </a:rPr>
              <a:t>for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Summary</a:t>
            </a:r>
            <a:r>
              <a:rPr lang="tr-TR" sz="2800" dirty="0" smtClean="0">
                <a:latin typeface="Arial Narrow" pitchFamily="34" charset="0"/>
              </a:rPr>
              <a:t> of </a:t>
            </a:r>
            <a:r>
              <a:rPr lang="tr-TR" sz="2800" dirty="0" err="1" smtClean="0">
                <a:latin typeface="Arial Narrow" pitchFamily="34" charset="0"/>
              </a:rPr>
              <a:t>Major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Ratios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9512" y="1196752"/>
            <a:ext cx="3528392" cy="5544616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 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412776"/>
            <a:ext cx="8810694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2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692696"/>
            <a:ext cx="7704856" cy="5472608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 err="1" smtClean="0">
                <a:solidFill>
                  <a:srgbClr val="800000"/>
                </a:solidFill>
                <a:latin typeface="Arial Narrow" pitchFamily="34" charset="0"/>
              </a:rPr>
              <a:t>NTE</a:t>
            </a:r>
            <a:r>
              <a:rPr lang="tr-TR" sz="1600" dirty="0" smtClean="0">
                <a:solidFill>
                  <a:srgbClr val="800000"/>
                </a:solidFill>
                <a:latin typeface="Arial Narrow" pitchFamily="34" charset="0"/>
              </a:rPr>
              <a:t> 1010</a:t>
            </a:r>
          </a:p>
          <a:p>
            <a:pPr>
              <a:spcBef>
                <a:spcPts val="0"/>
              </a:spcBef>
            </a:pPr>
            <a:r>
              <a:rPr lang="tr-TR" sz="1600" dirty="0" err="1" smtClean="0">
                <a:solidFill>
                  <a:srgbClr val="800000"/>
                </a:solidFill>
                <a:latin typeface="Arial Narrow" pitchFamily="34" charset="0"/>
              </a:rPr>
              <a:t>Introduction</a:t>
            </a:r>
            <a:r>
              <a:rPr lang="tr-TR" sz="16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itchFamily="34" charset="0"/>
              </a:rPr>
              <a:t>to</a:t>
            </a:r>
            <a:r>
              <a:rPr lang="tr-TR" sz="1600" dirty="0">
                <a:solidFill>
                  <a:srgbClr val="800000"/>
                </a:solidFill>
                <a:latin typeface="Arial Narrow" pitchFamily="34" charset="0"/>
              </a:rPr>
              <a:t> Finance </a:t>
            </a:r>
            <a:r>
              <a:rPr lang="tr-TR" sz="1600" dirty="0" err="1">
                <a:solidFill>
                  <a:srgbClr val="800000"/>
                </a:solidFill>
                <a:latin typeface="Arial Narrow" pitchFamily="34" charset="0"/>
              </a:rPr>
              <a:t>for</a:t>
            </a:r>
            <a:r>
              <a:rPr lang="tr-TR" sz="16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1600" dirty="0" err="1" smtClean="0">
                <a:solidFill>
                  <a:srgbClr val="800000"/>
                </a:solidFill>
                <a:latin typeface="Arial Narrow" pitchFamily="34" charset="0"/>
              </a:rPr>
              <a:t>Engineers</a:t>
            </a:r>
            <a:endParaRPr lang="tr-TR" sz="16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 smtClean="0">
                <a:solidFill>
                  <a:srgbClr val="800000"/>
                </a:solidFill>
                <a:latin typeface="Arial Narrow" pitchFamily="34" charset="0"/>
              </a:rPr>
              <a:t>Spring 2020</a:t>
            </a:r>
          </a:p>
          <a:p>
            <a:pPr>
              <a:spcBef>
                <a:spcPts val="0"/>
              </a:spcBef>
            </a:pP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800" dirty="0" err="1">
                <a:solidFill>
                  <a:schemeClr val="tx1"/>
                </a:solidFill>
                <a:latin typeface="Arial Narrow" pitchFamily="34" charset="0"/>
              </a:rPr>
              <a:t>W</a:t>
            </a:r>
            <a:r>
              <a:rPr lang="tr-TR" sz="2800" dirty="0" err="1" smtClean="0">
                <a:solidFill>
                  <a:schemeClr val="tx1"/>
                </a:solidFill>
                <a:latin typeface="Arial Narrow" pitchFamily="34" charset="0"/>
              </a:rPr>
              <a:t>eek</a:t>
            </a:r>
            <a:r>
              <a:rPr lang="tr-TR" sz="2800" dirty="0" smtClean="0">
                <a:solidFill>
                  <a:schemeClr val="tx1"/>
                </a:solidFill>
                <a:latin typeface="Arial Narrow" pitchFamily="34" charset="0"/>
              </a:rPr>
              <a:t> 3</a:t>
            </a:r>
          </a:p>
          <a:p>
            <a:pPr>
              <a:spcBef>
                <a:spcPts val="0"/>
              </a:spcBef>
            </a:pPr>
            <a:endParaRPr lang="tr-TR" sz="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chemeClr val="tx1"/>
                </a:solidFill>
                <a:latin typeface="Arial Narrow" pitchFamily="34" charset="0"/>
              </a:rPr>
              <a:t>Analysing</a:t>
            </a:r>
            <a:r>
              <a:rPr lang="tr-TR" sz="2400" dirty="0" smtClean="0">
                <a:solidFill>
                  <a:schemeClr val="tx1"/>
                </a:solidFill>
                <a:latin typeface="Arial Narrow" pitchFamily="34" charset="0"/>
              </a:rPr>
              <a:t> &amp; </a:t>
            </a:r>
            <a:r>
              <a:rPr lang="tr-TR" sz="2400" dirty="0" err="1" smtClean="0">
                <a:solidFill>
                  <a:schemeClr val="tx1"/>
                </a:solidFill>
                <a:latin typeface="Arial Narrow" pitchFamily="34" charset="0"/>
              </a:rPr>
              <a:t>Interpreting</a:t>
            </a:r>
            <a:endParaRPr lang="tr-TR" sz="24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smtClean="0">
                <a:solidFill>
                  <a:schemeClr val="tx1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chemeClr val="tx1"/>
                </a:solidFill>
                <a:latin typeface="Arial Narrow" pitchFamily="34" charset="0"/>
              </a:rPr>
              <a:t>Statements</a:t>
            </a:r>
            <a:endParaRPr lang="tr-TR" sz="24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8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000" dirty="0" err="1" smtClean="0">
                <a:solidFill>
                  <a:srgbClr val="000066"/>
                </a:solidFill>
                <a:latin typeface="Arial Narrow" pitchFamily="34" charset="0"/>
              </a:rPr>
              <a:t>Ratio</a:t>
            </a:r>
            <a:r>
              <a:rPr lang="tr-TR" sz="2000" dirty="0" smtClean="0">
                <a:solidFill>
                  <a:srgbClr val="000066"/>
                </a:solidFill>
                <a:latin typeface="Arial Narrow" pitchFamily="34" charset="0"/>
              </a:rPr>
              <a:t> Analysis</a:t>
            </a:r>
          </a:p>
          <a:p>
            <a:pPr>
              <a:spcBef>
                <a:spcPts val="0"/>
              </a:spcBef>
            </a:pPr>
            <a:endParaRPr lang="tr-TR" sz="14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Vertical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&amp;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Horizontal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Analysis</a:t>
            </a:r>
          </a:p>
          <a:p>
            <a:pPr>
              <a:spcBef>
                <a:spcPts val="0"/>
              </a:spcBef>
            </a:pPr>
            <a:endParaRPr lang="tr-TR" sz="2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88640"/>
            <a:ext cx="1594520" cy="2592288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Horizontal</a:t>
            </a:r>
            <a:r>
              <a:rPr lang="tr-TR" sz="2800" dirty="0" smtClean="0">
                <a:latin typeface="Arial Narrow" pitchFamily="34" charset="0"/>
              </a:rPr>
              <a:t> Analysis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 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188639"/>
            <a:ext cx="3960440" cy="654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1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6738" y="116631"/>
            <a:ext cx="3551205" cy="1224137"/>
          </a:xfrm>
          <a:ln w="25400">
            <a:solidFill>
              <a:srgbClr val="800000"/>
            </a:solidFill>
          </a:ln>
        </p:spPr>
        <p:txBody>
          <a:bodyPr>
            <a:noAutofit/>
          </a:bodyPr>
          <a:lstStyle/>
          <a:p>
            <a:pPr algn="l"/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Ratios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Vertical</a:t>
            </a:r>
            <a:r>
              <a:rPr lang="tr-TR" sz="2800" dirty="0" smtClean="0">
                <a:latin typeface="Arial Narrow" pitchFamily="34" charset="0"/>
              </a:rPr>
              <a:t> Analysis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 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776" y="116631"/>
            <a:ext cx="3609664" cy="6693871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48" y="2420888"/>
            <a:ext cx="3120048" cy="326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9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692696"/>
            <a:ext cx="7704856" cy="5472608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 err="1" smtClean="0">
                <a:solidFill>
                  <a:srgbClr val="800000"/>
                </a:solidFill>
                <a:latin typeface="Arial Narrow" pitchFamily="34" charset="0"/>
              </a:rPr>
              <a:t>NTE</a:t>
            </a:r>
            <a:r>
              <a:rPr lang="tr-TR" sz="1600" dirty="0" smtClean="0">
                <a:solidFill>
                  <a:srgbClr val="800000"/>
                </a:solidFill>
                <a:latin typeface="Arial Narrow" pitchFamily="34" charset="0"/>
              </a:rPr>
              <a:t> 1010</a:t>
            </a:r>
          </a:p>
          <a:p>
            <a:pPr>
              <a:spcBef>
                <a:spcPts val="0"/>
              </a:spcBef>
            </a:pPr>
            <a:r>
              <a:rPr lang="tr-TR" sz="1600" dirty="0" err="1" smtClean="0">
                <a:solidFill>
                  <a:srgbClr val="800000"/>
                </a:solidFill>
                <a:latin typeface="Arial Narrow" pitchFamily="34" charset="0"/>
              </a:rPr>
              <a:t>Introduction</a:t>
            </a:r>
            <a:r>
              <a:rPr lang="tr-TR" sz="16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1600" dirty="0" err="1">
                <a:solidFill>
                  <a:srgbClr val="800000"/>
                </a:solidFill>
                <a:latin typeface="Arial Narrow" pitchFamily="34" charset="0"/>
              </a:rPr>
              <a:t>to</a:t>
            </a:r>
            <a:r>
              <a:rPr lang="tr-TR" sz="1600" dirty="0">
                <a:solidFill>
                  <a:srgbClr val="800000"/>
                </a:solidFill>
                <a:latin typeface="Arial Narrow" pitchFamily="34" charset="0"/>
              </a:rPr>
              <a:t> Finance </a:t>
            </a:r>
            <a:r>
              <a:rPr lang="tr-TR" sz="1600" dirty="0" err="1">
                <a:solidFill>
                  <a:srgbClr val="800000"/>
                </a:solidFill>
                <a:latin typeface="Arial Narrow" pitchFamily="34" charset="0"/>
              </a:rPr>
              <a:t>for</a:t>
            </a:r>
            <a:r>
              <a:rPr lang="tr-TR" sz="16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1600" dirty="0" err="1" smtClean="0">
                <a:solidFill>
                  <a:srgbClr val="800000"/>
                </a:solidFill>
                <a:latin typeface="Arial Narrow" pitchFamily="34" charset="0"/>
              </a:rPr>
              <a:t>Engineers</a:t>
            </a:r>
            <a:endParaRPr lang="tr-TR" sz="16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 smtClean="0">
                <a:solidFill>
                  <a:srgbClr val="800000"/>
                </a:solidFill>
                <a:latin typeface="Arial Narrow" pitchFamily="34" charset="0"/>
              </a:rPr>
              <a:t>Spring 2020</a:t>
            </a:r>
          </a:p>
          <a:p>
            <a:pPr>
              <a:spcBef>
                <a:spcPts val="0"/>
              </a:spcBef>
            </a:pP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800" dirty="0" err="1">
                <a:solidFill>
                  <a:schemeClr val="tx1"/>
                </a:solidFill>
                <a:latin typeface="Arial Narrow" pitchFamily="34" charset="0"/>
              </a:rPr>
              <a:t>W</a:t>
            </a:r>
            <a:r>
              <a:rPr lang="tr-TR" sz="2800" dirty="0" err="1" smtClean="0">
                <a:solidFill>
                  <a:schemeClr val="tx1"/>
                </a:solidFill>
                <a:latin typeface="Arial Narrow" pitchFamily="34" charset="0"/>
              </a:rPr>
              <a:t>eek</a:t>
            </a:r>
            <a:r>
              <a:rPr lang="tr-TR" sz="2800" dirty="0" smtClean="0">
                <a:solidFill>
                  <a:schemeClr val="tx1"/>
                </a:solidFill>
                <a:latin typeface="Arial Narrow" pitchFamily="34" charset="0"/>
              </a:rPr>
              <a:t> 3</a:t>
            </a:r>
          </a:p>
          <a:p>
            <a:pPr>
              <a:spcBef>
                <a:spcPts val="0"/>
              </a:spcBef>
            </a:pPr>
            <a:endParaRPr lang="tr-TR" sz="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chemeClr val="tx1"/>
                </a:solidFill>
                <a:latin typeface="Arial Narrow" pitchFamily="34" charset="0"/>
              </a:rPr>
              <a:t>Analysing</a:t>
            </a:r>
            <a:r>
              <a:rPr lang="tr-TR" sz="2400" dirty="0" smtClean="0">
                <a:solidFill>
                  <a:schemeClr val="tx1"/>
                </a:solidFill>
                <a:latin typeface="Arial Narrow" pitchFamily="34" charset="0"/>
              </a:rPr>
              <a:t> &amp; </a:t>
            </a:r>
            <a:r>
              <a:rPr lang="tr-TR" sz="2400" dirty="0" err="1" smtClean="0">
                <a:solidFill>
                  <a:schemeClr val="tx1"/>
                </a:solidFill>
                <a:latin typeface="Arial Narrow" pitchFamily="34" charset="0"/>
              </a:rPr>
              <a:t>Interpreting</a:t>
            </a:r>
            <a:endParaRPr lang="tr-TR" sz="24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smtClean="0">
                <a:solidFill>
                  <a:schemeClr val="tx1"/>
                </a:solidFill>
                <a:latin typeface="Arial Narrow" pitchFamily="34" charset="0"/>
              </a:rPr>
              <a:t>Financial </a:t>
            </a:r>
            <a:r>
              <a:rPr lang="tr-TR" sz="2400" dirty="0" err="1" smtClean="0">
                <a:solidFill>
                  <a:schemeClr val="tx1"/>
                </a:solidFill>
                <a:latin typeface="Arial Narrow" pitchFamily="34" charset="0"/>
              </a:rPr>
              <a:t>Statements</a:t>
            </a:r>
            <a:endParaRPr lang="tr-TR" sz="24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8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000" dirty="0" err="1" smtClean="0">
                <a:solidFill>
                  <a:srgbClr val="000066"/>
                </a:solidFill>
                <a:latin typeface="Arial Narrow" pitchFamily="34" charset="0"/>
              </a:rPr>
              <a:t>Ratio</a:t>
            </a:r>
            <a:r>
              <a:rPr lang="tr-TR" sz="2000" dirty="0" smtClean="0">
                <a:solidFill>
                  <a:srgbClr val="000066"/>
                </a:solidFill>
                <a:latin typeface="Arial Narrow" pitchFamily="34" charset="0"/>
              </a:rPr>
              <a:t> Analysis</a:t>
            </a:r>
          </a:p>
          <a:p>
            <a:pPr>
              <a:spcBef>
                <a:spcPts val="0"/>
              </a:spcBef>
            </a:pPr>
            <a:endParaRPr lang="tr-TR" sz="14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000" dirty="0" err="1">
                <a:solidFill>
                  <a:srgbClr val="000066"/>
                </a:solidFill>
                <a:latin typeface="Arial Narrow" pitchFamily="34" charset="0"/>
              </a:rPr>
              <a:t>Vertical</a:t>
            </a:r>
            <a:r>
              <a:rPr lang="tr-TR" sz="2000" dirty="0">
                <a:solidFill>
                  <a:srgbClr val="000066"/>
                </a:solidFill>
                <a:latin typeface="Arial Narrow" pitchFamily="34" charset="0"/>
              </a:rPr>
              <a:t> &amp; </a:t>
            </a:r>
            <a:r>
              <a:rPr lang="tr-TR" sz="2000" dirty="0" err="1">
                <a:solidFill>
                  <a:srgbClr val="000066"/>
                </a:solidFill>
                <a:latin typeface="Arial Narrow" pitchFamily="34" charset="0"/>
              </a:rPr>
              <a:t>Horizontal</a:t>
            </a:r>
            <a:r>
              <a:rPr lang="tr-TR" sz="2000" dirty="0">
                <a:solidFill>
                  <a:srgbClr val="000066"/>
                </a:solidFill>
                <a:latin typeface="Arial Narrow" pitchFamily="34" charset="0"/>
              </a:rPr>
              <a:t> Analysis</a:t>
            </a:r>
          </a:p>
          <a:p>
            <a:pPr>
              <a:spcBef>
                <a:spcPts val="0"/>
              </a:spcBef>
            </a:pP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Ratio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Analysis</a:t>
            </a:r>
          </a:p>
          <a:p>
            <a:pPr>
              <a:spcBef>
                <a:spcPts val="0"/>
              </a:spcBef>
            </a:pP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exercise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4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40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88024" y="116632"/>
            <a:ext cx="4248472" cy="6624736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000" noProof="1" smtClean="0">
              <a:solidFill>
                <a:srgbClr val="C00000"/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 </a:t>
            </a: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endParaRPr lang="tr-TR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" y="44624"/>
            <a:ext cx="5180845" cy="669674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331" y="274638"/>
            <a:ext cx="3627146" cy="1282154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820" y="1988840"/>
            <a:ext cx="3712676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6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88024" y="116632"/>
            <a:ext cx="4248472" cy="6624736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000" noProof="1" smtClean="0">
              <a:solidFill>
                <a:srgbClr val="C00000"/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 </a:t>
            </a: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endParaRPr lang="tr-TR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" y="44624"/>
            <a:ext cx="5180845" cy="669674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44624"/>
            <a:ext cx="3568603" cy="346071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368" y="3572055"/>
            <a:ext cx="3583331" cy="324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2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88024" y="116632"/>
            <a:ext cx="4248472" cy="6624736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000" noProof="1" smtClean="0">
              <a:solidFill>
                <a:srgbClr val="C00000"/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 </a:t>
            </a: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endParaRPr lang="tr-TR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" y="44624"/>
            <a:ext cx="5180845" cy="669674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210" y="134004"/>
            <a:ext cx="3452262" cy="1926844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854" y="2362870"/>
            <a:ext cx="3707642" cy="193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3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88024" y="116632"/>
            <a:ext cx="4248472" cy="6624736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000" noProof="1" smtClean="0">
              <a:solidFill>
                <a:srgbClr val="C00000"/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 </a:t>
            </a: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endParaRPr lang="tr-TR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" y="44624"/>
            <a:ext cx="5180845" cy="6696744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485" y="3005604"/>
            <a:ext cx="3795494" cy="1189206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088" y="413314"/>
            <a:ext cx="3753384" cy="143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1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88024" y="116632"/>
            <a:ext cx="4248472" cy="6624736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000" noProof="1" smtClean="0">
              <a:solidFill>
                <a:srgbClr val="C00000"/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 </a:t>
            </a: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endParaRPr lang="tr-TR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" y="44624"/>
            <a:ext cx="5180845" cy="669674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116632"/>
            <a:ext cx="3105744" cy="1952418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368" y="2420887"/>
            <a:ext cx="3513119" cy="252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5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88024" y="116632"/>
            <a:ext cx="4248472" cy="6624736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endParaRPr lang="tr-TR" sz="1000" noProof="1" smtClean="0">
              <a:solidFill>
                <a:srgbClr val="C00000"/>
              </a:solidFill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 </a:t>
            </a:r>
            <a:endParaRPr lang="tr-TR" sz="2000" noProof="1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endParaRPr lang="tr-TR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" y="44624"/>
            <a:ext cx="5180845" cy="6696744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2237743"/>
            <a:ext cx="2662750" cy="580964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7069" y="356159"/>
            <a:ext cx="2884579" cy="1228617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089" y="4005064"/>
            <a:ext cx="3734396" cy="117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0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6899</TotalTime>
  <Words>1669</Words>
  <Application>Microsoft Office PowerPoint</Application>
  <PresentationFormat>Ekran Gösterisi (4:3)</PresentationFormat>
  <Paragraphs>408</Paragraphs>
  <Slides>40</Slides>
  <Notes>40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40</vt:i4>
      </vt:variant>
    </vt:vector>
  </HeadingPairs>
  <TitlesOfParts>
    <vt:vector size="44" baseType="lpstr">
      <vt:lpstr>Arial</vt:lpstr>
      <vt:lpstr>Arial Narrow</vt:lpstr>
      <vt:lpstr>Calibri</vt:lpstr>
      <vt:lpstr>Office Theme</vt:lpstr>
      <vt:lpstr> </vt:lpstr>
      <vt:lpstr> </vt:lpstr>
      <vt:lpstr>NTE 1010 – Introduction to Finance for Engineers Financial Ratios</vt:lpstr>
      <vt:lpstr>NTE 1010 – Introduction to Finance for Engineers Financial Ratios Classifications</vt:lpstr>
      <vt:lpstr>NTE 1010 – Introduction to Finance for Engineers Financial Ratios Comparison</vt:lpstr>
      <vt:lpstr>NTE 1010 – Introduction to Finance for Engineers Financial Ratios &amp; Financial Statement Analysis</vt:lpstr>
      <vt:lpstr> </vt:lpstr>
      <vt:lpstr>NTE 1010 – Introduction to Finance for Engineers Financial Ratios – Profitability Return on Equity (RoE)</vt:lpstr>
      <vt:lpstr>NTE 1010 – Introduction to Finance for Engineers Financial Ratios – Profitability Net Profit Margin</vt:lpstr>
      <vt:lpstr>NTE 1010 – Introduction to Finance for Engineers Financial Ratios – Profitability Gross Profit Margin</vt:lpstr>
      <vt:lpstr> </vt:lpstr>
      <vt:lpstr>NTE 1010 – Introduction to Finance for Engineers Financial Ratios – Efficiency Average Inventories Turnover Period</vt:lpstr>
      <vt:lpstr>NTE 1010 – Introduction to Finance for Engineers Financial Ratios – Efficiency Avg Settlement Period for Receivables</vt:lpstr>
      <vt:lpstr>NTE 1010 – Introduction to Finance for Engineers Financial Ratios – Efficiency Avg Settlement Period for Payables</vt:lpstr>
      <vt:lpstr>NTE 1010 – Introduction to Finance for Engineers Financial Ratios - Efficiency Operating Cash Cycle</vt:lpstr>
      <vt:lpstr>NTE 1010 – Introduction to Finance for Engineers Financial Ratios - Efficiency Measuring Operating Cash Cycle</vt:lpstr>
      <vt:lpstr> </vt:lpstr>
      <vt:lpstr>NTE 1010 – Introduction to Finance for Engineers Financial Ratios – Liquidity Current Ratio</vt:lpstr>
      <vt:lpstr>NTE 1010 – Introduction to Finance for Engineers Financial Ratios – Liquidity Acit Test Ratio</vt:lpstr>
      <vt:lpstr> </vt:lpstr>
      <vt:lpstr>NTE 1010 – Introduction to Finance for Engineers Financial Ratios Financial Leverage</vt:lpstr>
      <vt:lpstr>NTE 1010 – Introduction to Finance for Engineers Financial Ratios Financial Leverage</vt:lpstr>
      <vt:lpstr>NTE 1010 – Introduction to Finance for Engineers Financial Ratios – Leverage Leverage Ratio</vt:lpstr>
      <vt:lpstr>NTE 1010 – Introduction to Finance for Engineers Financial Ratios – Leverage Interest Cover Ratio</vt:lpstr>
      <vt:lpstr> </vt:lpstr>
      <vt:lpstr>NTE 1010 – Introduction to Finance for Engineers Financial Ratios – Investment Dividend Payout Ratio</vt:lpstr>
      <vt:lpstr>NTE 1010 – Introduction to Finance for Engineers Financial Ratios – Investment Dividend Yield Ratio</vt:lpstr>
      <vt:lpstr>NTE 1010 – Introduction to Finance for Engineers Financial Ratios – Investment Earnings per Share (EPS)</vt:lpstr>
      <vt:lpstr>NTE 1010 – Introduction to Finance for Engineers Financial Ratios – Investment Price/Earnings Ratio (P/E)</vt:lpstr>
      <vt:lpstr>NTE 1010 – Introduction to Finance for Engineers Financial Ratios Summary of Major Ratios</vt:lpstr>
      <vt:lpstr> </vt:lpstr>
      <vt:lpstr>NTE 1010 – Introduction to Finance for Engineers Financial Ratios Horizontal Analysis</vt:lpstr>
      <vt:lpstr>NTE 1010 – Introduction to Finance for Engineers Financial Ratios Vertical Analysis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448</cp:revision>
  <cp:lastPrinted>2020-02-29T19:13:20Z</cp:lastPrinted>
  <dcterms:created xsi:type="dcterms:W3CDTF">2015-11-30T12:51:35Z</dcterms:created>
  <dcterms:modified xsi:type="dcterms:W3CDTF">2020-02-29T19:21:39Z</dcterms:modified>
  <dc:description/>
</cp:coreProperties>
</file>