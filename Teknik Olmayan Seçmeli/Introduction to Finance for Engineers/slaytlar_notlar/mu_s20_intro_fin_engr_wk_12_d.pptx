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665" r:id="rId2"/>
    <p:sldId id="637" r:id="rId3"/>
    <p:sldId id="638" r:id="rId4"/>
    <p:sldId id="639" r:id="rId5"/>
    <p:sldId id="641" r:id="rId6"/>
    <p:sldId id="658" r:id="rId7"/>
    <p:sldId id="666" r:id="rId8"/>
    <p:sldId id="667" r:id="rId9"/>
    <p:sldId id="668" r:id="rId10"/>
    <p:sldId id="669" r:id="rId11"/>
    <p:sldId id="643" r:id="rId12"/>
    <p:sldId id="662" r:id="rId13"/>
    <p:sldId id="663" r:id="rId14"/>
    <p:sldId id="664" r:id="rId15"/>
  </p:sldIdLst>
  <p:sldSz cx="9144000" cy="6858000" type="screen4x3"/>
  <p:notesSz cx="6858000" cy="93138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CC00CC"/>
    <a:srgbClr val="800000"/>
    <a:srgbClr val="FF6600"/>
    <a:srgbClr val="0000FF"/>
    <a:srgbClr val="CC3399"/>
    <a:srgbClr val="FF99FF"/>
    <a:srgbClr val="FFCC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983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24" y="1"/>
            <a:ext cx="2971982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1.05.2020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6015"/>
            <a:ext cx="2971983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24" y="8846015"/>
            <a:ext cx="2971982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1.05.2020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698500"/>
            <a:ext cx="46577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6"/>
            <a:ext cx="5486400" cy="4191240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46554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846554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57177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8912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98401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66317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79729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2972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1511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34914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8365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4075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72233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13778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4479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1415763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1.05.2020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eg"/><Relationship Id="rId4" Type="http://schemas.openxmlformats.org/officeDocument/2006/relationships/image" Target="../media/image4.jpg"/><Relationship Id="rId5" Type="http://schemas.openxmlformats.org/officeDocument/2006/relationships/image" Target="../media/image6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20688"/>
            <a:ext cx="7704856" cy="4824536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NTE 1010</a:t>
            </a:r>
          </a:p>
          <a:p>
            <a:pPr>
              <a:spcBef>
                <a:spcPts val="0"/>
              </a:spcBef>
            </a:pP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Introduction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to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Finance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for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 smtClean="0">
                <a:solidFill>
                  <a:schemeClr val="tx1"/>
                </a:solidFill>
                <a:latin typeface="Arial Narrow" pitchFamily="34" charset="0"/>
              </a:rPr>
              <a:t>Engineers</a:t>
            </a:r>
            <a:endParaRPr lang="tr-TR" sz="1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200" dirty="0">
                <a:solidFill>
                  <a:srgbClr val="000066"/>
                </a:solidFill>
                <a:latin typeface="Arial Narrow" pitchFamily="34" charset="0"/>
              </a:rPr>
              <a:t>Spring </a:t>
            </a:r>
            <a:r>
              <a:rPr lang="tr-TR" sz="2200" dirty="0" smtClean="0">
                <a:solidFill>
                  <a:srgbClr val="000066"/>
                </a:solidFill>
                <a:latin typeface="Arial Narrow" pitchFamily="34" charset="0"/>
              </a:rPr>
              <a:t>2020</a:t>
            </a:r>
          </a:p>
          <a:p>
            <a:pPr>
              <a:spcBef>
                <a:spcPts val="0"/>
              </a:spcBef>
            </a:pPr>
            <a:endParaRPr lang="tr-TR" sz="22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600" dirty="0" err="1">
                <a:solidFill>
                  <a:srgbClr val="000066"/>
                </a:solidFill>
                <a:latin typeface="Arial Narrow" pitchFamily="34" charset="0"/>
              </a:rPr>
              <a:t>week</a:t>
            </a:r>
            <a:endParaRPr lang="tr-TR" sz="2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rgbClr val="000066"/>
                </a:solidFill>
                <a:latin typeface="Arial Narrow" pitchFamily="34" charset="0"/>
              </a:rPr>
              <a:t>12</a:t>
            </a:r>
            <a:endParaRPr lang="tr-TR" sz="3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dirty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dirty="0" err="1">
                <a:solidFill>
                  <a:srgbClr val="800000"/>
                </a:solidFill>
                <a:latin typeface="Arial Narrow" pitchFamily="34" charset="0"/>
              </a:rPr>
              <a:t>Markets</a:t>
            </a:r>
            <a:endParaRPr lang="tr-TR" dirty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6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80426"/>
            <a:ext cx="8229600" cy="1048093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solidFill>
                  <a:srgbClr val="000066"/>
                </a:solidFill>
                <a:latin typeface="Arial Narrow" pitchFamily="34" charset="0"/>
              </a:rPr>
              <a:t>Exchange Rate</a:t>
            </a:r>
            <a:endParaRPr lang="tr-TR" sz="2800" dirty="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28520"/>
            <a:ext cx="8229600" cy="488222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price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one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currency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terms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another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is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called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Exchange Rate.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Fluctuations in the exchange rate also affect both inflation and output,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and are an important concern to monetary policymakers.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solidFill>
                  <a:srgbClr val="CC00CC"/>
                </a:solidFill>
                <a:latin typeface="Arial Narrow" panose="020B0606020202030204" pitchFamily="34" charset="0"/>
              </a:rPr>
              <a:t>Most countries of the world have their own currencies; a few do not.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564904"/>
            <a:ext cx="8064896" cy="4032448"/>
          </a:xfrm>
          <a:prstGeom prst="rect">
            <a:avLst/>
          </a:prstGeom>
        </p:spPr>
      </p:pic>
      <p:sp>
        <p:nvSpPr>
          <p:cNvPr id="12" name="Metin kutusu 11"/>
          <p:cNvSpPr txBox="1"/>
          <p:nvPr/>
        </p:nvSpPr>
        <p:spPr>
          <a:xfrm>
            <a:off x="3683257" y="3190972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800" dirty="0" smtClean="0">
                <a:latin typeface="Arial Narrow" panose="020B0606020202030204" pitchFamily="34" charset="0"/>
              </a:rPr>
              <a:t>€</a:t>
            </a:r>
            <a:endParaRPr lang="tr-TR" sz="2800" dirty="0">
              <a:latin typeface="Arial Narrow" panose="020B0606020202030204" pitchFamily="34" charset="0"/>
            </a:endParaRPr>
          </a:p>
        </p:txBody>
      </p:sp>
      <p:sp>
        <p:nvSpPr>
          <p:cNvPr id="13" name="Metin kutusu 12"/>
          <p:cNvSpPr txBox="1"/>
          <p:nvPr/>
        </p:nvSpPr>
        <p:spPr>
          <a:xfrm>
            <a:off x="3832799" y="4777988"/>
            <a:ext cx="723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2000" smtClean="0">
                <a:latin typeface="Arial Narrow" panose="020B0606020202030204" pitchFamily="34" charset="0"/>
              </a:rPr>
              <a:t>CFA</a:t>
            </a:r>
            <a:endParaRPr lang="tr-TR" sz="2000" dirty="0">
              <a:latin typeface="Arial Narrow" panose="020B0606020202030204" pitchFamily="34" charset="0"/>
            </a:endParaRPr>
          </a:p>
          <a:p>
            <a:pPr algn="ctr"/>
            <a:r>
              <a:rPr lang="tr-TR" sz="2000" smtClean="0">
                <a:latin typeface="Arial Narrow" panose="020B0606020202030204" pitchFamily="34" charset="0"/>
              </a:rPr>
              <a:t>Franc</a:t>
            </a:r>
            <a:endParaRPr lang="tr-TR" sz="2000" dirty="0">
              <a:latin typeface="Arial Narrow" panose="020B0606020202030204" pitchFamily="34" charset="0"/>
            </a:endParaRPr>
          </a:p>
        </p:txBody>
      </p:sp>
      <p:sp>
        <p:nvSpPr>
          <p:cNvPr id="14" name="Metin kutusu 13"/>
          <p:cNvSpPr txBox="1"/>
          <p:nvPr/>
        </p:nvSpPr>
        <p:spPr>
          <a:xfrm>
            <a:off x="2286900" y="3775392"/>
            <a:ext cx="9573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600" smtClean="0">
                <a:latin typeface="Arial Narrow" panose="020B0606020202030204" pitchFamily="34" charset="0"/>
              </a:rPr>
              <a:t>East</a:t>
            </a:r>
          </a:p>
          <a:p>
            <a:r>
              <a:rPr lang="tr-TR" sz="1600" smtClean="0">
                <a:latin typeface="Arial Narrow" panose="020B0606020202030204" pitchFamily="34" charset="0"/>
              </a:rPr>
              <a:t>Caribbean</a:t>
            </a:r>
          </a:p>
          <a:p>
            <a:r>
              <a:rPr lang="tr-TR" sz="1600" smtClean="0">
                <a:latin typeface="Arial Narrow" panose="020B0606020202030204" pitchFamily="34" charset="0"/>
              </a:rPr>
              <a:t>$</a:t>
            </a:r>
            <a:endParaRPr lang="tr-TR" sz="1600" dirty="0">
              <a:latin typeface="Arial Narrow" panose="020B0606020202030204" pitchFamily="34" charset="0"/>
            </a:endParaRPr>
          </a:p>
        </p:txBody>
      </p:sp>
      <p:sp>
        <p:nvSpPr>
          <p:cNvPr id="15" name="Metin kutusu 14"/>
          <p:cNvSpPr txBox="1"/>
          <p:nvPr/>
        </p:nvSpPr>
        <p:spPr>
          <a:xfrm>
            <a:off x="1475656" y="4434679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smtClean="0">
                <a:solidFill>
                  <a:srgbClr val="00B050"/>
                </a:solidFill>
                <a:latin typeface="Arial Narrow" panose="020B0606020202030204" pitchFamily="34" charset="0"/>
              </a:rPr>
              <a:t>US$</a:t>
            </a:r>
            <a:endParaRPr lang="tr-TR" sz="20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Metin kutusu 15"/>
          <p:cNvSpPr txBox="1"/>
          <p:nvPr/>
        </p:nvSpPr>
        <p:spPr>
          <a:xfrm>
            <a:off x="1846088" y="4962654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smtClean="0">
                <a:solidFill>
                  <a:srgbClr val="00B050"/>
                </a:solidFill>
                <a:latin typeface="Arial Narrow" panose="020B0606020202030204" pitchFamily="34" charset="0"/>
              </a:rPr>
              <a:t>US$</a:t>
            </a:r>
            <a:endParaRPr lang="tr-TR" sz="20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Metin kutusu 16"/>
          <p:cNvSpPr txBox="1"/>
          <p:nvPr/>
        </p:nvSpPr>
        <p:spPr>
          <a:xfrm>
            <a:off x="5014440" y="5538718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smtClean="0">
                <a:solidFill>
                  <a:srgbClr val="00B050"/>
                </a:solidFill>
                <a:latin typeface="Arial Narrow" panose="020B0606020202030204" pitchFamily="34" charset="0"/>
              </a:rPr>
              <a:t>US$</a:t>
            </a:r>
            <a:endParaRPr lang="tr-TR" sz="20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  <p:sp>
        <p:nvSpPr>
          <p:cNvPr id="18" name="Metin kutusu 17"/>
          <p:cNvSpPr txBox="1"/>
          <p:nvPr/>
        </p:nvSpPr>
        <p:spPr>
          <a:xfrm>
            <a:off x="7524328" y="5131931"/>
            <a:ext cx="595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smtClean="0">
                <a:solidFill>
                  <a:srgbClr val="00B050"/>
                </a:solidFill>
                <a:latin typeface="Arial Narrow" panose="020B0606020202030204" pitchFamily="34" charset="0"/>
              </a:rPr>
              <a:t>US$</a:t>
            </a:r>
            <a:endParaRPr lang="tr-TR" sz="2000" dirty="0">
              <a:solidFill>
                <a:srgbClr val="00B05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957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Transactions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2000" smtClean="0">
                <a:latin typeface="Arial Narrow" panose="020B0606020202030204" pitchFamily="34" charset="0"/>
              </a:rPr>
              <a:t>Spot </a:t>
            </a:r>
            <a:r>
              <a:rPr lang="tr-TR" sz="2000" dirty="0" err="1" smtClean="0">
                <a:latin typeface="Arial Narrow" panose="020B0606020202030204" pitchFamily="34" charset="0"/>
              </a:rPr>
              <a:t>transactions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involve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immediate</a:t>
            </a:r>
            <a:r>
              <a:rPr lang="tr-TR" sz="2000" dirty="0" smtClean="0">
                <a:latin typeface="Arial Narrow" panose="020B0606020202030204" pitchFamily="34" charset="0"/>
              </a:rPr>
              <a:t> (</a:t>
            </a:r>
            <a:r>
              <a:rPr lang="tr-TR" sz="2000" dirty="0" err="1" smtClean="0">
                <a:latin typeface="Arial Narrow" panose="020B0606020202030204" pitchFamily="34" charset="0"/>
              </a:rPr>
              <a:t>two-day</a:t>
            </a:r>
            <a:r>
              <a:rPr lang="tr-TR" sz="2000" dirty="0" smtClean="0">
                <a:latin typeface="Arial Narrow" panose="020B0606020202030204" pitchFamily="34" charset="0"/>
              </a:rPr>
              <a:t>) </a:t>
            </a:r>
            <a:r>
              <a:rPr lang="tr-TR" sz="2000" dirty="0" err="1" smtClean="0">
                <a:latin typeface="Arial Narrow" panose="020B0606020202030204" pitchFamily="34" charset="0"/>
              </a:rPr>
              <a:t>exchange</a:t>
            </a:r>
            <a:r>
              <a:rPr lang="tr-TR" sz="2000" dirty="0" smtClean="0">
                <a:latin typeface="Arial Narrow" panose="020B0606020202030204" pitchFamily="34" charset="0"/>
              </a:rPr>
              <a:t> of bank </a:t>
            </a:r>
            <a:r>
              <a:rPr lang="tr-TR" sz="2000" dirty="0" err="1" smtClean="0">
                <a:latin typeface="Arial Narrow" panose="020B0606020202030204" pitchFamily="34" charset="0"/>
              </a:rPr>
              <a:t>deposits</a:t>
            </a:r>
            <a:endParaRPr lang="tr-TR" sz="20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smtClean="0">
                <a:latin typeface="Arial Narrow" panose="020B0606020202030204" pitchFamily="34" charset="0"/>
              </a:rPr>
              <a:t>at spot </a:t>
            </a:r>
            <a:r>
              <a:rPr lang="tr-TR" sz="2000" dirty="0" err="1" smtClean="0">
                <a:latin typeface="Arial Narrow" panose="020B0606020202030204" pitchFamily="34" charset="0"/>
              </a:rPr>
              <a:t>exchange</a:t>
            </a:r>
            <a:r>
              <a:rPr lang="tr-TR" sz="2000" dirty="0" smtClean="0">
                <a:latin typeface="Arial Narrow" panose="020B0606020202030204" pitchFamily="34" charset="0"/>
              </a:rPr>
              <a:t> rate.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Forward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transactions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involve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exchange</a:t>
            </a:r>
            <a:r>
              <a:rPr lang="tr-TR" sz="2000" dirty="0" smtClean="0">
                <a:latin typeface="Arial Narrow" panose="020B0606020202030204" pitchFamily="34" charset="0"/>
              </a:rPr>
              <a:t> of </a:t>
            </a:r>
            <a:r>
              <a:rPr lang="tr-TR" sz="2000" smtClean="0">
                <a:latin typeface="Arial Narrow" panose="020B0606020202030204" pitchFamily="34" charset="0"/>
              </a:rPr>
              <a:t>bank </a:t>
            </a:r>
            <a:r>
              <a:rPr lang="tr-TR" sz="2000" smtClean="0">
                <a:latin typeface="Arial Narrow" panose="020B0606020202030204" pitchFamily="34" charset="0"/>
              </a:rPr>
              <a:t>deposits</a:t>
            </a:r>
            <a:endParaRPr lang="tr-TR" sz="2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smtClean="0">
                <a:latin typeface="Arial Narrow" panose="020B0606020202030204" pitchFamily="34" charset="0"/>
              </a:rPr>
              <a:t>at </a:t>
            </a:r>
            <a:r>
              <a:rPr lang="tr-TR" sz="2000" dirty="0" err="1" smtClean="0">
                <a:latin typeface="Arial Narrow" panose="020B0606020202030204" pitchFamily="34" charset="0"/>
              </a:rPr>
              <a:t>some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specified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future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date</a:t>
            </a:r>
            <a:endParaRPr lang="tr-TR" sz="2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smtClean="0">
                <a:latin typeface="Arial Narrow" panose="020B0606020202030204" pitchFamily="34" charset="0"/>
              </a:rPr>
              <a:t>at a </a:t>
            </a:r>
            <a:r>
              <a:rPr lang="tr-TR" sz="2000" dirty="0" err="1" smtClean="0">
                <a:latin typeface="Arial Narrow" panose="020B0606020202030204" pitchFamily="34" charset="0"/>
              </a:rPr>
              <a:t>predetermined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forward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exchange</a:t>
            </a:r>
            <a:r>
              <a:rPr lang="tr-TR" sz="2000" dirty="0" smtClean="0">
                <a:latin typeface="Arial Narrow" panose="020B0606020202030204" pitchFamily="34" charset="0"/>
              </a:rPr>
              <a:t> rate.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When</a:t>
            </a:r>
            <a:r>
              <a:rPr lang="tr-TR" sz="2000" dirty="0" smtClean="0">
                <a:latin typeface="Arial Narrow" panose="020B0606020202030204" pitchFamily="34" charset="0"/>
              </a:rPr>
              <a:t> a </a:t>
            </a:r>
            <a:r>
              <a:rPr lang="tr-TR" sz="2000" dirty="0" err="1" smtClean="0">
                <a:latin typeface="Arial Narrow" panose="020B0606020202030204" pitchFamily="34" charset="0"/>
              </a:rPr>
              <a:t>currency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increases</a:t>
            </a:r>
            <a:r>
              <a:rPr lang="tr-TR" sz="2000" dirty="0" smtClean="0"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latin typeface="Arial Narrow" panose="020B0606020202030204" pitchFamily="34" charset="0"/>
              </a:rPr>
              <a:t>value</a:t>
            </a:r>
            <a:r>
              <a:rPr lang="tr-TR" sz="2000" dirty="0" smtClean="0">
                <a:latin typeface="Arial Narrow" panose="020B0606020202030204" pitchFamily="34" charset="0"/>
              </a:rPr>
              <a:t>, it </a:t>
            </a:r>
            <a:r>
              <a:rPr lang="tr-TR" sz="2000" dirty="0" err="1" smtClean="0">
                <a:latin typeface="Arial Narrow" panose="020B0606020202030204" pitchFamily="34" charset="0"/>
              </a:rPr>
              <a:t>appreciates</a:t>
            </a:r>
            <a:r>
              <a:rPr lang="tr-TR" sz="2000" dirty="0" smtClean="0">
                <a:latin typeface="Arial Narrow" panose="020B0606020202030204" pitchFamily="34" charset="0"/>
              </a:rPr>
              <a:t>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when</a:t>
            </a:r>
            <a:r>
              <a:rPr lang="tr-TR" sz="2000" dirty="0" smtClean="0">
                <a:latin typeface="Arial Narrow" panose="020B0606020202030204" pitchFamily="34" charset="0"/>
              </a:rPr>
              <a:t> it </a:t>
            </a:r>
            <a:r>
              <a:rPr lang="tr-TR" sz="2000" dirty="0" err="1" smtClean="0">
                <a:latin typeface="Arial Narrow" panose="020B0606020202030204" pitchFamily="34" charset="0"/>
              </a:rPr>
              <a:t>falls</a:t>
            </a:r>
            <a:r>
              <a:rPr lang="tr-TR" sz="2000" dirty="0" smtClean="0"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latin typeface="Arial Narrow" panose="020B0606020202030204" pitchFamily="34" charset="0"/>
              </a:rPr>
              <a:t>value</a:t>
            </a:r>
            <a:r>
              <a:rPr lang="tr-TR" sz="2000" dirty="0" smtClean="0">
                <a:latin typeface="Arial Narrow" panose="020B0606020202030204" pitchFamily="34" charset="0"/>
              </a:rPr>
              <a:t> it </a:t>
            </a:r>
            <a:r>
              <a:rPr lang="tr-TR" sz="2000" dirty="0" err="1" smtClean="0">
                <a:latin typeface="Arial Narrow" panose="020B0606020202030204" pitchFamily="34" charset="0"/>
              </a:rPr>
              <a:t>depreciates</a:t>
            </a:r>
            <a:r>
              <a:rPr lang="tr-TR" sz="2000" dirty="0" smtClean="0">
                <a:latin typeface="Arial Narrow" panose="020B0606020202030204" pitchFamily="34" charset="0"/>
              </a:rPr>
              <a:t> (</a:t>
            </a:r>
            <a:r>
              <a:rPr lang="tr-TR" sz="2000" dirty="0" err="1" smtClean="0">
                <a:latin typeface="Arial Narrow" panose="020B0606020202030204" pitchFamily="34" charset="0"/>
              </a:rPr>
              <a:t>or</a:t>
            </a:r>
            <a:r>
              <a:rPr lang="tr-TR" sz="2000" dirty="0" smtClean="0">
                <a:latin typeface="Arial Narrow" panose="020B0606020202030204" pitchFamily="34" charset="0"/>
              </a:rPr>
              <a:t> it </a:t>
            </a:r>
            <a:r>
              <a:rPr lang="tr-TR" sz="2000" dirty="0" err="1" smtClean="0">
                <a:latin typeface="Arial Narrow" panose="020B0606020202030204" pitchFamily="34" charset="0"/>
              </a:rPr>
              <a:t>undergoes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devaluation</a:t>
            </a:r>
            <a:r>
              <a:rPr lang="tr-TR" sz="2000" dirty="0" smtClean="0">
                <a:latin typeface="Arial Narrow" panose="020B0606020202030204" pitchFamily="34" charset="0"/>
              </a:rPr>
              <a:t>).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Exchange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rates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are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important</a:t>
            </a:r>
            <a:r>
              <a:rPr lang="tr-TR" sz="2000" dirty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because</a:t>
            </a:r>
            <a:endParaRPr lang="tr-TR" sz="2000" dirty="0">
              <a:solidFill>
                <a:srgbClr val="000066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they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affect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relative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price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domestic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and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foreign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000066"/>
                </a:solidFill>
                <a:latin typeface="Arial Narrow" panose="020B0606020202030204" pitchFamily="34" charset="0"/>
              </a:rPr>
              <a:t>goods</a:t>
            </a:r>
            <a:r>
              <a:rPr lang="tr-TR" sz="2000" dirty="0" smtClean="0">
                <a:solidFill>
                  <a:srgbClr val="000066"/>
                </a:solidFill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When</a:t>
            </a:r>
            <a:r>
              <a:rPr lang="tr-TR" sz="2000" dirty="0" smtClean="0">
                <a:latin typeface="Arial Narrow" panose="020B0606020202030204" pitchFamily="34" charset="0"/>
              </a:rPr>
              <a:t> a </a:t>
            </a:r>
            <a:r>
              <a:rPr lang="tr-TR" sz="2000" dirty="0" err="1" smtClean="0">
                <a:latin typeface="Arial Narrow" panose="020B0606020202030204" pitchFamily="34" charset="0"/>
              </a:rPr>
              <a:t>country’s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currency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appreciates</a:t>
            </a:r>
            <a:r>
              <a:rPr lang="tr-TR" sz="2000" dirty="0" smtClean="0">
                <a:latin typeface="Arial Narrow" panose="020B0606020202030204" pitchFamily="34" charset="0"/>
              </a:rPr>
              <a:t> (</a:t>
            </a:r>
            <a:r>
              <a:rPr lang="tr-TR" sz="2000" dirty="0" err="1" smtClean="0">
                <a:latin typeface="Arial Narrow" panose="020B0606020202030204" pitchFamily="34" charset="0"/>
              </a:rPr>
              <a:t>rises</a:t>
            </a:r>
            <a:r>
              <a:rPr lang="tr-TR" sz="2000" dirty="0" smtClean="0"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latin typeface="Arial Narrow" panose="020B0606020202030204" pitchFamily="34" charset="0"/>
              </a:rPr>
              <a:t>value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relative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to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other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currencies</a:t>
            </a:r>
            <a:r>
              <a:rPr lang="tr-TR" sz="2000" dirty="0" smtClean="0">
                <a:latin typeface="Arial Narrow" panose="020B0606020202030204" pitchFamily="34" charset="0"/>
              </a:rPr>
              <a:t>),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the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country’s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goods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become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more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expensive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abroad</a:t>
            </a:r>
            <a:endParaRPr lang="tr-TR" sz="2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and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foreign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goods</a:t>
            </a:r>
            <a:r>
              <a:rPr lang="tr-TR" sz="2000" dirty="0" smtClean="0"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latin typeface="Arial Narrow" panose="020B0606020202030204" pitchFamily="34" charset="0"/>
              </a:rPr>
              <a:t>that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country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become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cheaper</a:t>
            </a:r>
            <a:endParaRPr lang="tr-TR" sz="20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or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vice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versa</a:t>
            </a:r>
            <a:r>
              <a:rPr lang="tr-TR" sz="20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92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FX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Trade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FX</a:t>
            </a:r>
            <a:r>
              <a:rPr lang="tr-TR" sz="2000" dirty="0" smtClean="0">
                <a:latin typeface="Arial Narrow" panose="020B0606020202030204" pitchFamily="34" charset="0"/>
              </a:rPr>
              <a:t> market is </a:t>
            </a:r>
            <a:r>
              <a:rPr lang="tr-TR" sz="2000" dirty="0" err="1" smtClean="0">
                <a:latin typeface="Arial Narrow" panose="020B0606020202030204" pitchFamily="34" charset="0"/>
              </a:rPr>
              <a:t>organized</a:t>
            </a:r>
            <a:r>
              <a:rPr lang="tr-TR" sz="2000" dirty="0" smtClean="0">
                <a:latin typeface="Arial Narrow" panose="020B0606020202030204" pitchFamily="34" charset="0"/>
              </a:rPr>
              <a:t> as an </a:t>
            </a:r>
            <a:r>
              <a:rPr lang="tr-TR" sz="2000" dirty="0" err="1" smtClean="0">
                <a:latin typeface="Arial Narrow" panose="020B0606020202030204" pitchFamily="34" charset="0"/>
              </a:rPr>
              <a:t>over-the-counter</a:t>
            </a:r>
            <a:r>
              <a:rPr lang="tr-TR" sz="2000" dirty="0" smtClean="0">
                <a:latin typeface="Arial Narrow" panose="020B0606020202030204" pitchFamily="34" charset="0"/>
              </a:rPr>
              <a:t> market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smtClean="0">
                <a:latin typeface="Arial Narrow" panose="020B0606020202030204" pitchFamily="34" charset="0"/>
              </a:rPr>
              <a:t>in </a:t>
            </a:r>
            <a:r>
              <a:rPr lang="tr-TR" sz="2000" dirty="0" err="1" smtClean="0">
                <a:latin typeface="Arial Narrow" panose="020B0606020202030204" pitchFamily="34" charset="0"/>
              </a:rPr>
              <a:t>which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several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hundred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dealers</a:t>
            </a:r>
            <a:r>
              <a:rPr lang="tr-TR" sz="2000" dirty="0" smtClean="0">
                <a:latin typeface="Arial Narrow" panose="020B0606020202030204" pitchFamily="34" charset="0"/>
              </a:rPr>
              <a:t> (</a:t>
            </a:r>
            <a:r>
              <a:rPr lang="tr-TR" sz="2000" dirty="0" err="1" smtClean="0">
                <a:latin typeface="Arial Narrow" panose="020B0606020202030204" pitchFamily="34" charset="0"/>
              </a:rPr>
              <a:t>mostly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banks</a:t>
            </a:r>
            <a:r>
              <a:rPr lang="tr-TR" sz="2000" dirty="0" smtClean="0">
                <a:latin typeface="Arial Narrow" panose="020B0606020202030204" pitchFamily="34" charset="0"/>
              </a:rPr>
              <a:t>) </a:t>
            </a:r>
            <a:r>
              <a:rPr lang="tr-TR" sz="2000" dirty="0" err="1" smtClean="0">
                <a:latin typeface="Arial Narrow" panose="020B0606020202030204" pitchFamily="34" charset="0"/>
              </a:rPr>
              <a:t>stand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ready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to</a:t>
            </a:r>
            <a:r>
              <a:rPr lang="tr-TR" sz="2000" dirty="0" smtClean="0">
                <a:latin typeface="Arial Narrow" panose="020B0606020202030204" pitchFamily="34" charset="0"/>
              </a:rPr>
              <a:t> buy </a:t>
            </a:r>
            <a:r>
              <a:rPr lang="tr-TR" sz="2000" dirty="0" err="1" smtClean="0">
                <a:latin typeface="Arial Narrow" panose="020B0606020202030204" pitchFamily="34" charset="0"/>
              </a:rPr>
              <a:t>and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sell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deposits</a:t>
            </a:r>
            <a:endParaRPr lang="tr-TR" sz="20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latin typeface="Arial Narrow" panose="020B0606020202030204" pitchFamily="34" charset="0"/>
              </a:rPr>
              <a:t>denominated</a:t>
            </a:r>
            <a:r>
              <a:rPr lang="tr-TR" sz="2000" dirty="0" smtClean="0">
                <a:latin typeface="Arial Narrow" panose="020B0606020202030204" pitchFamily="34" charset="0"/>
              </a:rPr>
              <a:t> in </a:t>
            </a:r>
            <a:r>
              <a:rPr lang="tr-TR" sz="2000" dirty="0" err="1" smtClean="0">
                <a:latin typeface="Arial Narrow" panose="020B0606020202030204" pitchFamily="34" charset="0"/>
              </a:rPr>
              <a:t>foreign</a:t>
            </a:r>
            <a:r>
              <a:rPr lang="tr-TR" sz="2000" dirty="0" smtClean="0"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latin typeface="Arial Narrow" panose="020B0606020202030204" pitchFamily="34" charset="0"/>
              </a:rPr>
              <a:t>currencies</a:t>
            </a:r>
            <a:r>
              <a:rPr lang="tr-TR" sz="20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20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Because these dealers are in constant telephone and computer contact,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the market is very competitive;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in effect, it functions no differently from a centralized market.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20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The volume in this market is colossal, exceeding 4 trillion $ per day.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 smtClean="0">
                <a:latin typeface="Arial Narrow" panose="020B0606020202030204" pitchFamily="34" charset="0"/>
              </a:rPr>
              <a:t>Sizes of individual transactions are in excess of 1 million $.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25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smtClean="0">
                <a:latin typeface="Arial Narrow" pitchFamily="34" charset="0"/>
              </a:rPr>
              <a:t>How </a:t>
            </a:r>
            <a:r>
              <a:rPr lang="tr-TR" sz="2800" smtClean="0">
                <a:latin typeface="Arial Narrow" pitchFamily="34" charset="0"/>
              </a:rPr>
              <a:t>Do FX </a:t>
            </a:r>
            <a:r>
              <a:rPr lang="tr-TR" sz="2800" err="1" smtClean="0">
                <a:latin typeface="Arial Narrow" pitchFamily="34" charset="0"/>
              </a:rPr>
              <a:t>Rates</a:t>
            </a:r>
            <a:r>
              <a:rPr lang="tr-TR" sz="2800" smtClean="0">
                <a:latin typeface="Arial Narrow" pitchFamily="34" charset="0"/>
              </a:rPr>
              <a:t> </a:t>
            </a:r>
            <a:r>
              <a:rPr lang="tr-TR" sz="2800" smtClean="0">
                <a:latin typeface="Arial Narrow" pitchFamily="34" charset="0"/>
              </a:rPr>
              <a:t>Come Out ?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Law</a:t>
            </a:r>
            <a:r>
              <a:rPr lang="tr-TR" sz="20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One</a:t>
            </a:r>
            <a:r>
              <a:rPr lang="tr-TR" sz="20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 smtClean="0">
                <a:solidFill>
                  <a:srgbClr val="800000"/>
                </a:solidFill>
                <a:latin typeface="Arial Narrow" panose="020B0606020202030204" pitchFamily="34" charset="0"/>
              </a:rPr>
              <a:t>Price</a:t>
            </a:r>
            <a:r>
              <a:rPr lang="tr-TR" sz="20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If two countries produce an identical good,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transportation costs and trade barriers are very low,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price of the good should be the same throughout the world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no matter which country produces it.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Suppose that American steel costs 100 $ per ton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identical Japanese steel costs 10,000 ¥ per ton.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the Law of One Price to hold,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1 $ should be worth 100 ¥.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01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48680"/>
            <a:ext cx="8229600" cy="99898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Foreign</a:t>
            </a:r>
            <a:r>
              <a:rPr lang="tr-TR" sz="2000" dirty="0">
                <a:latin typeface="Arial Narrow" pitchFamily="34" charset="0"/>
              </a:rPr>
              <a:t> Exchange </a:t>
            </a:r>
            <a:r>
              <a:rPr lang="tr-TR" sz="2000" dirty="0" err="1">
                <a:latin typeface="Arial Narrow" pitchFamily="34" charset="0"/>
              </a:rPr>
              <a:t>Markets</a:t>
            </a:r>
            <a:r>
              <a:rPr lang="tr-TR" sz="240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>
                <a:solidFill>
                  <a:srgbClr val="800000"/>
                </a:solidFill>
                <a:latin typeface="Arial Narrow" pitchFamily="34" charset="0"/>
              </a:rPr>
              <a:t>How Do FX Rates Come Out ?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Theory</a:t>
            </a:r>
            <a:r>
              <a:rPr lang="tr-TR" sz="2000" dirty="0">
                <a:solidFill>
                  <a:srgbClr val="800000"/>
                </a:solidFill>
                <a:latin typeface="Arial Narrow" panose="020B0606020202030204" pitchFamily="34" charset="0"/>
              </a:rPr>
              <a:t> of </a:t>
            </a: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Purchasing</a:t>
            </a:r>
            <a:r>
              <a:rPr lang="tr-TR" sz="20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Power</a:t>
            </a:r>
            <a:r>
              <a:rPr lang="tr-TR" sz="20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Parity</a:t>
            </a:r>
            <a:r>
              <a:rPr lang="tr-TR" sz="2000" dirty="0">
                <a:solidFill>
                  <a:srgbClr val="800000"/>
                </a:solidFill>
                <a:latin typeface="Arial Narrow" panose="020B0606020202030204" pitchFamily="34" charset="0"/>
              </a:rPr>
              <a:t> (PPP)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states that exchange rates between any two currencies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will adjust to reflect changes in the price levels of the two countries.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theory of PPP is simply an application of the Law of One Price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to national price levels rather than to individual prices.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Suppose that the Yen price of Japanese steel rises 8% (to 10,800 ¥) due to inflation in Japan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while the Dollar price of the American steel rises 4% (to 104 $) due to inflation in the US;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noProof="1">
                <a:solidFill>
                  <a:srgbClr val="000066"/>
                </a:solidFill>
                <a:latin typeface="Arial Narrow" panose="020B0606020202030204" pitchFamily="34" charset="0"/>
              </a:rPr>
              <a:t>then 1 $ should be worth 103.85 ¥ reflecting the inflation difference.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2" y="4797152"/>
            <a:ext cx="7372356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9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rmAutofit fontScale="90000"/>
          </a:bodyPr>
          <a:lstStyle/>
          <a:p>
            <a:pPr lvl="1" algn="ctr" rtl="0">
              <a:spcBef>
                <a:spcPct val="0"/>
              </a:spcBef>
            </a:pPr>
            <a:r>
              <a:rPr lang="tr-TR" sz="1400" smtClean="0">
                <a:latin typeface="Arial Narrow" pitchFamily="34" charset="0"/>
              </a:rPr>
              <a:t>NTE 1010 – Introduction to Finance for Engineers</a:t>
            </a:r>
            <a:br>
              <a:rPr lang="tr-TR" sz="1400" smtClean="0">
                <a:latin typeface="Arial Narrow" pitchFamily="34" charset="0"/>
              </a:rPr>
            </a:br>
            <a:r>
              <a:rPr lang="tr-TR" sz="2000" smtClean="0">
                <a:latin typeface="Arial Narrow" pitchFamily="34" charset="0"/>
              </a:rPr>
              <a:t>Foreign Exchange Markets</a:t>
            </a:r>
            <a: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$/</a:t>
            </a: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TL and €/TL Exchange </a:t>
            </a: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Rates</a:t>
            </a:r>
            <a:r>
              <a:rPr lang="tr-TR" sz="2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/>
            </a:r>
            <a:br>
              <a:rPr lang="tr-TR" sz="2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</a:br>
            <a:r>
              <a:rPr lang="tr-TR" i="1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$ and € are the two most basic currencies in World trade and the Turkish foreign trade.</a:t>
            </a:r>
            <a:endParaRPr lang="tr-TR" i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İçerik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5248">
            <a:off x="7634950" y="429234"/>
            <a:ext cx="1499532" cy="622306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9890">
            <a:off x="6786374" y="119275"/>
            <a:ext cx="1231045" cy="655491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594" y="1600200"/>
            <a:ext cx="6979960" cy="494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4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00618" y="274638"/>
            <a:ext cx="6838110" cy="1143000"/>
          </a:xfrm>
          <a:ln w="25400">
            <a:noFill/>
          </a:ln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tr-TR" sz="1400" smtClean="0">
                <a:latin typeface="Arial Narrow" pitchFamily="34" charset="0"/>
              </a:rPr>
              <a:t>NTE 1010 – Introduction to Finance for Engineers</a:t>
            </a:r>
            <a:br>
              <a:rPr lang="tr-TR" sz="1400" smtClean="0">
                <a:latin typeface="Arial Narrow" pitchFamily="34" charset="0"/>
              </a:rPr>
            </a:br>
            <a:r>
              <a:rPr lang="tr-TR" sz="2000" smtClean="0">
                <a:latin typeface="Arial Narrow" pitchFamily="34" charset="0"/>
              </a:rPr>
              <a:t>Foreign Exchange 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Average Annual Devaluation of TL against $ and €</a:t>
            </a:r>
            <a:endParaRPr lang="tr-TR" i="1" dirty="0">
              <a:solidFill>
                <a:srgbClr val="8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İçerik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5248">
            <a:off x="7634950" y="429234"/>
            <a:ext cx="1499532" cy="62230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9890">
            <a:off x="6786374" y="119275"/>
            <a:ext cx="1231045" cy="655491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328" y="1480773"/>
            <a:ext cx="7115343" cy="501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2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3438" y="274638"/>
            <a:ext cx="7699051" cy="1143000"/>
          </a:xfrm>
          <a:ln w="25400">
            <a:noFill/>
          </a:ln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tr-TR" sz="1400" smtClean="0">
                <a:latin typeface="Arial Narrow" pitchFamily="34" charset="0"/>
              </a:rPr>
              <a:t>NTE 1010 – Introduction to Finance for Engineers</a:t>
            </a:r>
            <a:br>
              <a:rPr lang="tr-TR" sz="1400" smtClean="0">
                <a:latin typeface="Arial Narrow" pitchFamily="34" charset="0"/>
              </a:rPr>
            </a:br>
            <a:r>
              <a:rPr lang="tr-TR" sz="2000" smtClean="0">
                <a:latin typeface="Arial Narrow" pitchFamily="34" charset="0"/>
              </a:rPr>
              <a:t>Foreign Exchange 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Average Annual Devaluation of TL against FX Basket of $ and €</a:t>
            </a:r>
            <a:endParaRPr lang="tr-TR" i="1" dirty="0">
              <a:solidFill>
                <a:srgbClr val="8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İçerik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68" y="1417638"/>
            <a:ext cx="7494389" cy="48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26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79512" y="274638"/>
            <a:ext cx="8661204" cy="1143000"/>
          </a:xfrm>
          <a:ln w="25400">
            <a:noFill/>
          </a:ln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tr-TR" sz="1400" smtClean="0">
                <a:latin typeface="Arial Narrow" pitchFamily="34" charset="0"/>
              </a:rPr>
              <a:t>NTE 1010 – Introduction to Finance for Engineers</a:t>
            </a:r>
            <a:br>
              <a:rPr lang="tr-TR" sz="1400" smtClean="0">
                <a:latin typeface="Arial Narrow" pitchFamily="34" charset="0"/>
              </a:rPr>
            </a:br>
            <a:r>
              <a:rPr lang="tr-TR" sz="2000" smtClean="0">
                <a:latin typeface="Arial Narrow" pitchFamily="34" charset="0"/>
              </a:rPr>
              <a:t>Foreign Exchange Markets</a:t>
            </a:r>
            <a: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C00000"/>
                </a:solidFill>
                <a:latin typeface="Arial Narrow" pitchFamily="34" charset="0"/>
              </a:rPr>
            </a:b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Avg Ann </a:t>
            </a: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Devaluation </a:t>
            </a: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of TL </a:t>
            </a: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against </a:t>
            </a: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$+€ Basket </a:t>
            </a:r>
            <a:r>
              <a:rPr lang="tr-TR" sz="2200" noProof="1" smtClean="0">
                <a:solidFill>
                  <a:schemeClr val="tx1"/>
                </a:solidFill>
                <a:latin typeface="Arial Narrow" panose="020B0606020202030204" pitchFamily="34" charset="0"/>
              </a:rPr>
              <a:t>vs</a:t>
            </a:r>
            <a:r>
              <a:rPr lang="tr-TR" sz="2200" noProof="1" smtClean="0">
                <a:solidFill>
                  <a:srgbClr val="C00000"/>
                </a:solidFill>
                <a:latin typeface="Arial Narrow" panose="020B0606020202030204" pitchFamily="34" charset="0"/>
              </a:rPr>
              <a:t> </a:t>
            </a:r>
            <a:r>
              <a:rPr lang="tr-TR" sz="2200" noProof="1" smtClean="0">
                <a:solidFill>
                  <a:srgbClr val="00B050"/>
                </a:solidFill>
                <a:latin typeface="Arial Narrow" panose="020B0606020202030204" pitchFamily="34" charset="0"/>
              </a:rPr>
              <a:t>Avg Ann Inflation </a:t>
            </a:r>
            <a:r>
              <a:rPr lang="tr-TR" sz="2200" noProof="1" smtClean="0">
                <a:solidFill>
                  <a:srgbClr val="00B050"/>
                </a:solidFill>
                <a:latin typeface="Arial Narrow" panose="020B0606020202030204" pitchFamily="34" charset="0"/>
              </a:rPr>
              <a:t>Difference</a:t>
            </a:r>
            <a:endParaRPr lang="tr-TR" sz="2200" i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İçerik Yer Tutucus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84" y="1480773"/>
            <a:ext cx="8537432" cy="502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3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Interrelationship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between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FX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Rates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and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Interest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Rates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When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domestic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interest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rates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rise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domestic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currency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appreciates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as </a:t>
            </a:r>
            <a:r>
              <a:rPr lang="tr-TR" sz="1800" dirty="0" err="1" smtClean="0">
                <a:latin typeface="Arial Narrow" panose="020B0606020202030204" pitchFamily="34" charset="0"/>
              </a:rPr>
              <a:t>demand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domestic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currency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goes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up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On the other hand,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domestic interest rates rise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due to to an unexpected increase in inflation (which effectively reduces real interest rates),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domestic currency depreciates.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25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1780" y="116632"/>
            <a:ext cx="396044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Calculating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Forward</a:t>
            </a:r>
            <a:r>
              <a:rPr lang="tr-TR" sz="2800" dirty="0" smtClean="0">
                <a:latin typeface="Arial Narrow" pitchFamily="34" charset="0"/>
              </a:rPr>
              <a:t> FX Rate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Assume</a:t>
            </a:r>
            <a:r>
              <a:rPr lang="tr-TR" sz="1800" dirty="0" smtClean="0">
                <a:latin typeface="Arial Narrow" panose="020B0606020202030204" pitchFamily="34" charset="0"/>
              </a:rPr>
              <a:t> 1€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is </a:t>
            </a:r>
            <a:r>
              <a:rPr lang="tr-TR" sz="1800" dirty="0" err="1" smtClean="0">
                <a:latin typeface="Arial Narrow" panose="020B0606020202030204" pitchFamily="34" charset="0"/>
              </a:rPr>
              <a:t>bought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6.45 TL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sold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6.55 TL in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market </a:t>
            </a:r>
            <a:r>
              <a:rPr lang="tr-TR" sz="1800" dirty="0" err="1" smtClean="0">
                <a:latin typeface="Arial Narrow" panose="020B0606020202030204" pitchFamily="34" charset="0"/>
              </a:rPr>
              <a:t>today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you ask a bank to quote €/TL rate for 1m € for 3 months from now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you want to sell your export revenue.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way the bank calculates the forward FX rate is as follows: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Since you will be bringing in 1m € to the bank 3 months from now,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with € borrowing interest at 4% per annum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[1] borrows 1m € / (1+(4%/4)) = 990,099 € today,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[2] sells those € for 990,099 *6.45 = 6,386,139 TL,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TL deposit rate at 12% per annum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[3] with those TL, makes a 3-month TL deposit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to get 6,386,139 *(1+(12%/4)) = 6,577,723 TL at the end of 3 months,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[4] 3 months later, gives those TL to you in exchange for 1m €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</a:t>
            </a:r>
            <a:r>
              <a:rPr lang="tr-TR" sz="1800" noProof="1" smtClean="0">
                <a:latin typeface="Arial Narrow" panose="020B0606020202030204" pitchFamily="34" charset="0"/>
              </a:rPr>
              <a:t>o the €/TL rate at that date would be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6,577,723 TL / 1m € = 6.58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the bank purchasing your 1m € export revenue,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[5] with those €, pays back € that it borrowed 3 months ago.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17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19672" y="205815"/>
            <a:ext cx="5904656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Calculating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Forward</a:t>
            </a:r>
            <a:r>
              <a:rPr lang="tr-TR" sz="2800" dirty="0" smtClean="0">
                <a:latin typeface="Arial Narrow" pitchFamily="34" charset="0"/>
              </a:rPr>
              <a:t> Rate </a:t>
            </a:r>
            <a:r>
              <a:rPr lang="tr-TR" sz="2800" dirty="0" err="1" smtClean="0">
                <a:latin typeface="Arial Narrow" pitchFamily="34" charset="0"/>
              </a:rPr>
              <a:t>for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Purchasing</a:t>
            </a:r>
            <a:r>
              <a:rPr lang="tr-TR" sz="2800" dirty="0" smtClean="0">
                <a:latin typeface="Arial Narrow" pitchFamily="34" charset="0"/>
              </a:rPr>
              <a:t> FX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Assume</a:t>
            </a:r>
            <a:r>
              <a:rPr lang="tr-TR" sz="1800" dirty="0" smtClean="0">
                <a:latin typeface="Arial Narrow" panose="020B0606020202030204" pitchFamily="34" charset="0"/>
              </a:rPr>
              <a:t> 1€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is </a:t>
            </a:r>
            <a:r>
              <a:rPr lang="tr-TR" sz="1800" dirty="0" err="1" smtClean="0">
                <a:latin typeface="Arial Narrow" panose="020B0606020202030204" pitchFamily="34" charset="0"/>
              </a:rPr>
              <a:t>bought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6.45 TL </a:t>
            </a:r>
            <a:r>
              <a:rPr lang="tr-TR" sz="1800" dirty="0" err="1" smtClean="0">
                <a:latin typeface="Arial Narrow" panose="020B0606020202030204" pitchFamily="34" charset="0"/>
              </a:rPr>
              <a:t>and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sold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6.55 TL in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market </a:t>
            </a:r>
            <a:r>
              <a:rPr lang="tr-TR" sz="1800" dirty="0" err="1" smtClean="0">
                <a:latin typeface="Arial Narrow" panose="020B0606020202030204" pitchFamily="34" charset="0"/>
              </a:rPr>
              <a:t>today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you ask a bank to quote €/TL rate for purchasing 1m € for 3 months from now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when you want to pay for your imports.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way the bank calculates the forward FX rate is as follows: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Since you will be taking 1m € out of the bank 3 months from now,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with € deposit rate at 2% per annum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[1] deposits 1m € / (1+(2%/4)) = 995,025 € today,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[2] in order to purchase those €, borrows 995,025 *6.55 = 6,517,414 TL,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TL loan rate at 18% per annum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[3] to be able to pay back that loan after 3-months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bank will need 6,517,414 *(1+(18%/4)) = 6,810,698 TL at the end of 3 months,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[4] 3 months later, gives the 1m € deposit to you in exchange for 6,810,698 TL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s</a:t>
            </a:r>
            <a:r>
              <a:rPr lang="tr-TR" sz="1800" noProof="1" smtClean="0">
                <a:latin typeface="Arial Narrow" panose="020B0606020202030204" pitchFamily="34" charset="0"/>
              </a:rPr>
              <a:t>o the €/TL rate at that date would be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6,810,698 TL / 1m € = 6.81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for the bank selling 1m € to you for your import payment,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[5] with those </a:t>
            </a:r>
            <a:r>
              <a:rPr lang="tr-TR" sz="1800" noProof="1" smtClean="0">
                <a:latin typeface="Arial Narrow" panose="020B0606020202030204" pitchFamily="34" charset="0"/>
              </a:rPr>
              <a:t>TL, </a:t>
            </a:r>
            <a:r>
              <a:rPr lang="tr-TR" sz="1800" noProof="1">
                <a:latin typeface="Arial Narrow" panose="020B0606020202030204" pitchFamily="34" charset="0"/>
              </a:rPr>
              <a:t>pays back </a:t>
            </a:r>
            <a:r>
              <a:rPr lang="tr-TR" sz="1800" noProof="1" smtClean="0">
                <a:latin typeface="Arial Narrow" panose="020B0606020202030204" pitchFamily="34" charset="0"/>
              </a:rPr>
              <a:t>the TL loan </a:t>
            </a:r>
            <a:r>
              <a:rPr lang="tr-TR" sz="1800" noProof="1">
                <a:latin typeface="Arial Narrow" panose="020B0606020202030204" pitchFamily="34" charset="0"/>
              </a:rPr>
              <a:t>that it </a:t>
            </a:r>
            <a:r>
              <a:rPr lang="tr-TR" sz="1800" noProof="1" smtClean="0">
                <a:latin typeface="Arial Narrow" panose="020B0606020202030204" pitchFamily="34" charset="0"/>
              </a:rPr>
              <a:t>took out </a:t>
            </a:r>
            <a:r>
              <a:rPr lang="tr-TR" sz="1800" noProof="1">
                <a:latin typeface="Arial Narrow" panose="020B0606020202030204" pitchFamily="34" charset="0"/>
              </a:rPr>
              <a:t>3 months ago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72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771800" y="116632"/>
            <a:ext cx="3960440" cy="925743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Foreign</a:t>
            </a:r>
            <a:r>
              <a:rPr lang="tr-TR" sz="2000" dirty="0" smtClean="0">
                <a:solidFill>
                  <a:srgbClr val="800000"/>
                </a:solidFill>
                <a:latin typeface="Arial Narrow" pitchFamily="34" charset="0"/>
              </a:rPr>
              <a:t> Exchange </a:t>
            </a:r>
            <a:r>
              <a:rPr lang="tr-TR" sz="2000" dirty="0" err="1" smtClean="0">
                <a:solidFill>
                  <a:srgbClr val="800000"/>
                </a:solidFill>
                <a:latin typeface="Arial Narrow" pitchFamily="34" charset="0"/>
              </a:rPr>
              <a:t>Markets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Calculating</a:t>
            </a:r>
            <a:r>
              <a:rPr lang="tr-TR" sz="2400" dirty="0" smtClean="0">
                <a:latin typeface="Arial Narrow" pitchFamily="34" charset="0"/>
              </a:rPr>
              <a:t> </a:t>
            </a:r>
            <a:r>
              <a:rPr lang="tr-TR" sz="2400" dirty="0" err="1" smtClean="0">
                <a:latin typeface="Arial Narrow" pitchFamily="34" charset="0"/>
              </a:rPr>
              <a:t>Forward</a:t>
            </a:r>
            <a:r>
              <a:rPr lang="tr-TR" sz="2400" dirty="0" smtClean="0">
                <a:latin typeface="Arial Narrow" pitchFamily="34" charset="0"/>
              </a:rPr>
              <a:t> FX Rate</a:t>
            </a:r>
            <a:endParaRPr lang="tr-TR" sz="2400" dirty="0">
              <a:latin typeface="Arial Narrow" pitchFamily="34" charset="0"/>
            </a:endParaRPr>
          </a:p>
        </p:txBody>
      </p:sp>
      <p:sp>
        <p:nvSpPr>
          <p:cNvPr id="7" name="Metin kutusu 6"/>
          <p:cNvSpPr txBox="1"/>
          <p:nvPr/>
        </p:nvSpPr>
        <p:spPr>
          <a:xfrm>
            <a:off x="3763509" y="2350885"/>
            <a:ext cx="1875835" cy="24622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tr-TR" sz="1000" dirty="0" smtClean="0">
                <a:latin typeface="Arial Narrow" panose="020B0606020202030204" pitchFamily="34" charset="0"/>
              </a:rPr>
              <a:t>Zero </a:t>
            </a:r>
            <a:r>
              <a:rPr lang="tr-TR" sz="1000" dirty="0" err="1" smtClean="0">
                <a:latin typeface="Arial Narrow" panose="020B0606020202030204" pitchFamily="34" charset="0"/>
              </a:rPr>
              <a:t>transaction</a:t>
            </a:r>
            <a:r>
              <a:rPr lang="tr-TR" sz="1000" dirty="0" smtClean="0">
                <a:latin typeface="Arial Narrow" panose="020B0606020202030204" pitchFamily="34" charset="0"/>
              </a:rPr>
              <a:t> </a:t>
            </a:r>
            <a:r>
              <a:rPr lang="tr-TR" sz="1000" dirty="0" err="1" smtClean="0">
                <a:latin typeface="Arial Narrow" panose="020B0606020202030204" pitchFamily="34" charset="0"/>
              </a:rPr>
              <a:t>costs</a:t>
            </a:r>
            <a:r>
              <a:rPr lang="tr-TR" sz="1000" dirty="0" smtClean="0">
                <a:latin typeface="Arial Narrow" panose="020B0606020202030204" pitchFamily="34" charset="0"/>
              </a:rPr>
              <a:t> </a:t>
            </a:r>
            <a:r>
              <a:rPr lang="tr-TR" sz="1000" dirty="0" err="1" smtClean="0">
                <a:latin typeface="Arial Narrow" panose="020B0606020202030204" pitchFamily="34" charset="0"/>
              </a:rPr>
              <a:t>are</a:t>
            </a:r>
            <a:r>
              <a:rPr lang="tr-TR" sz="1000" dirty="0" smtClean="0">
                <a:latin typeface="Arial Narrow" panose="020B0606020202030204" pitchFamily="34" charset="0"/>
              </a:rPr>
              <a:t> </a:t>
            </a:r>
            <a:r>
              <a:rPr lang="tr-TR" sz="1000" dirty="0" err="1" smtClean="0">
                <a:latin typeface="Arial Narrow" panose="020B0606020202030204" pitchFamily="34" charset="0"/>
              </a:rPr>
              <a:t>assumed</a:t>
            </a:r>
            <a:r>
              <a:rPr lang="tr-TR" sz="1000" dirty="0" smtClean="0">
                <a:latin typeface="Arial Narrow" panose="020B0606020202030204" pitchFamily="34" charset="0"/>
              </a:rPr>
              <a:t>.</a:t>
            </a:r>
            <a:endParaRPr lang="en-US" sz="1000" dirty="0">
              <a:latin typeface="Arial Narrow" panose="020B0606020202030204" pitchFamily="34" charset="0"/>
            </a:endParaRPr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085" y="1124744"/>
            <a:ext cx="2028685" cy="1201895"/>
          </a:xfrm>
          <a:prstGeom prst="rect">
            <a:avLst/>
          </a:prstGeom>
        </p:spPr>
      </p:pic>
      <p:sp>
        <p:nvSpPr>
          <p:cNvPr id="2" name="İçerik Yer Tutucusu 1"/>
          <p:cNvSpPr>
            <a:spLocks noGrp="1"/>
          </p:cNvSpPr>
          <p:nvPr>
            <p:ph idx="1"/>
          </p:nvPr>
        </p:nvSpPr>
        <p:spPr>
          <a:xfrm>
            <a:off x="457200" y="1600201"/>
            <a:ext cx="1450504" cy="532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smtClean="0"/>
              <a:t> </a:t>
            </a:r>
            <a:endParaRPr lang="en-US" dirty="0"/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3" y="2564904"/>
            <a:ext cx="7959751" cy="831125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66" y="3284984"/>
            <a:ext cx="3525976" cy="139076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8" y="3694422"/>
            <a:ext cx="3780183" cy="139076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568" y="5085184"/>
            <a:ext cx="7853450" cy="849827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4575" y="6021288"/>
            <a:ext cx="2967325" cy="540935"/>
          </a:xfrm>
          <a:prstGeom prst="rect">
            <a:avLst/>
          </a:prstGeom>
        </p:spPr>
      </p:pic>
      <p:cxnSp>
        <p:nvCxnSpPr>
          <p:cNvPr id="15" name="Düz Bağlayıcı 14"/>
          <p:cNvCxnSpPr/>
          <p:nvPr/>
        </p:nvCxnSpPr>
        <p:spPr>
          <a:xfrm flipH="1">
            <a:off x="4139952" y="3501008"/>
            <a:ext cx="1224136" cy="13680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Düz Bağlayıcı 16"/>
          <p:cNvCxnSpPr/>
          <p:nvPr/>
        </p:nvCxnSpPr>
        <p:spPr>
          <a:xfrm>
            <a:off x="5364088" y="3482306"/>
            <a:ext cx="33843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Düz Bağlayıcı 18"/>
          <p:cNvCxnSpPr/>
          <p:nvPr/>
        </p:nvCxnSpPr>
        <p:spPr>
          <a:xfrm flipH="1">
            <a:off x="323528" y="4869091"/>
            <a:ext cx="38164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8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11834</TotalTime>
  <Words>1082</Words>
  <Application>Microsoft Office PowerPoint</Application>
  <PresentationFormat>Ekran Gösterisi (4:3)</PresentationFormat>
  <Paragraphs>143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Arial Narrow</vt:lpstr>
      <vt:lpstr>Bookman Old Style</vt:lpstr>
      <vt:lpstr>Calibri</vt:lpstr>
      <vt:lpstr>Office Theme</vt:lpstr>
      <vt:lpstr> </vt:lpstr>
      <vt:lpstr>NTE 1010 – Introduction to Finance for Engineers Foreign Exchange Markets Exchange Rate</vt:lpstr>
      <vt:lpstr>NTE 1010 – Introduction to Finance for Engineers Foreign Exchange Markets Transactions</vt:lpstr>
      <vt:lpstr>NTE 1010 – Introduction to Finance for Engineers Foreign Exchange Markets FX Trade</vt:lpstr>
      <vt:lpstr>NTE 1010 – Introduction to Finance for Engineers Foreign Exchange Markets How Do FX Rates Come Out ?</vt:lpstr>
      <vt:lpstr>NTE 1010 – Introduction to Finance for Engineers Foreign Exchange Markets How Do FX Rates Come Out ?</vt:lpstr>
      <vt:lpstr>NTE 1010 – Introduction to Finance for Engineers Foreign Exchange Markets $/TL and €/TL Exchange Rates $ and € are the two most basic currencies in World trade and the Turkish foreign trade.</vt:lpstr>
      <vt:lpstr>NTE 1010 – Introduction to Finance for Engineers Foreign Exchange Markets Average Annual Devaluation of TL against $ and €</vt:lpstr>
      <vt:lpstr>NTE 1010 – Introduction to Finance for Engineers Foreign Exchange Markets Average Annual Devaluation of TL against FX Basket of $ and €</vt:lpstr>
      <vt:lpstr>NTE 1010 – Introduction to Finance for Engineers Foreign Exchange Markets Avg Ann Devaluation of TL against $+€ Basket vs Avg Ann Inflation Difference</vt:lpstr>
      <vt:lpstr>NTE 1010 – Introduction to Finance for Engineers Foreign Exchange Markets Interrelationship between FX Rates and Interest Rates</vt:lpstr>
      <vt:lpstr>NTE 1010 – Introduction to Finance for Engineers Foreign Exchange Markets Calculating Forward FX Rate</vt:lpstr>
      <vt:lpstr>NTE 1010 – Introduction to Finance for Engineers Foreign Exchange Markets Calculating Forward Rate for Purchasing FX</vt:lpstr>
      <vt:lpstr>NTE 1010 – Introduction to Finance for Engineers Foreign Exchange Markets Calculating Forward FX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719</cp:revision>
  <cp:lastPrinted>2020-05-01T11:32:53Z</cp:lastPrinted>
  <dcterms:created xsi:type="dcterms:W3CDTF">2015-11-30T12:51:35Z</dcterms:created>
  <dcterms:modified xsi:type="dcterms:W3CDTF">2020-05-01T11:34:00Z</dcterms:modified>
  <dc:description/>
</cp:coreProperties>
</file>