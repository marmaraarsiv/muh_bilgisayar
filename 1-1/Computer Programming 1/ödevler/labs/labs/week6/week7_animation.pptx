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1527-64B3-43F0-BAAB-E1C25AF1D6A1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B3D55-87C9-45D4-92B8-872234479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28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C27CEE-9E4B-44A9-B2B4-0287E31DAFFD}" type="slidenum">
              <a:rPr lang="en-US" altLang="en-US" sz="1000" smtClean="0"/>
              <a:pPr/>
              <a:t>3</a:t>
            </a:fld>
            <a:endParaRPr lang="en-US" altLang="en-US" sz="100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altLang="en-US" noProof="0" dirty="0" smtClean="0"/>
              <a:t>Y</a:t>
            </a:r>
            <a:r>
              <a:rPr lang="tr-TR" altLang="en-US" noProof="0" dirty="0" err="1" smtClean="0"/>
              <a:t>ou</a:t>
            </a:r>
            <a:r>
              <a:rPr lang="tr-TR" altLang="en-US" noProof="0" dirty="0" smtClean="0"/>
              <a:t> can</a:t>
            </a:r>
            <a:r>
              <a:rPr lang="tr-TR" altLang="en-US" baseline="0" noProof="0" dirty="0" smtClean="0"/>
              <a:t> </a:t>
            </a:r>
            <a:r>
              <a:rPr lang="tr-TR" altLang="en-US" baseline="0" noProof="0" dirty="0" err="1" smtClean="0"/>
              <a:t>use</a:t>
            </a:r>
            <a:r>
              <a:rPr lang="tr-TR" altLang="en-US" baseline="0" noProof="0" dirty="0" smtClean="0"/>
              <a:t> </a:t>
            </a:r>
            <a:r>
              <a:rPr lang="tr-TR" altLang="en-US" baseline="0" noProof="0" dirty="0" err="1" smtClean="0"/>
              <a:t>the</a:t>
            </a:r>
            <a:r>
              <a:rPr lang="tr-TR" altLang="en-US" baseline="0" noProof="0" dirty="0" smtClean="0"/>
              <a:t> </a:t>
            </a:r>
            <a:r>
              <a:rPr lang="tr-TR" altLang="en-US" baseline="0" noProof="0" dirty="0" err="1" smtClean="0"/>
              <a:t>constant</a:t>
            </a:r>
            <a:r>
              <a:rPr lang="tr-TR" altLang="en-US" baseline="0" noProof="0" dirty="0" smtClean="0"/>
              <a:t> </a:t>
            </a:r>
            <a:r>
              <a:rPr lang="tr-TR" altLang="en-US" baseline="0" noProof="0" dirty="0" err="1" smtClean="0"/>
              <a:t>Timeline.INDEFINITE</a:t>
            </a:r>
            <a:r>
              <a:rPr lang="tr-TR" altLang="en-US" baseline="0" noProof="0" dirty="0" smtClean="0"/>
              <a:t> </a:t>
            </a:r>
            <a:r>
              <a:rPr lang="tr-TR" altLang="en-US" baseline="0" noProof="0" dirty="0" err="1" smtClean="0"/>
              <a:t>to</a:t>
            </a:r>
            <a:r>
              <a:rPr lang="tr-TR" altLang="en-US" baseline="0" noProof="0" dirty="0" smtClean="0"/>
              <a:t> </a:t>
            </a:r>
            <a:r>
              <a:rPr lang="tr-TR" altLang="en-US" baseline="0" noProof="0" dirty="0" err="1" smtClean="0"/>
              <a:t>indicate</a:t>
            </a:r>
            <a:r>
              <a:rPr lang="tr-TR" altLang="en-US" baseline="0" noProof="0" dirty="0" smtClean="0"/>
              <a:t> an </a:t>
            </a:r>
            <a:r>
              <a:rPr lang="tr-TR" altLang="en-US" baseline="0" noProof="0" dirty="0" err="1" smtClean="0"/>
              <a:t>indefinite</a:t>
            </a:r>
            <a:r>
              <a:rPr lang="tr-TR" altLang="en-US" baseline="0" noProof="0" dirty="0" smtClean="0"/>
              <a:t> </a:t>
            </a:r>
            <a:r>
              <a:rPr lang="tr-TR" altLang="en-US" baseline="0" noProof="0" dirty="0" err="1" smtClean="0"/>
              <a:t>number</a:t>
            </a:r>
            <a:r>
              <a:rPr lang="tr-TR" altLang="en-US" baseline="0" noProof="0" dirty="0" smtClean="0"/>
              <a:t> of </a:t>
            </a:r>
            <a:r>
              <a:rPr lang="tr-TR" altLang="en-US" baseline="0" noProof="0" dirty="0" err="1" smtClean="0"/>
              <a:t>cycles</a:t>
            </a:r>
            <a:r>
              <a:rPr lang="tr-TR" altLang="en-US" baseline="0" noProof="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tr-TR" altLang="en-US" baseline="0" noProof="0" dirty="0" err="1" smtClean="0"/>
              <a:t>status</a:t>
            </a:r>
            <a:r>
              <a:rPr lang="tr-TR" altLang="en-US" baseline="0" noProof="0" dirty="0" smtClean="0"/>
              <a:t> -&gt; </a:t>
            </a:r>
            <a:r>
              <a:rPr lang="tr-TR" altLang="en-US" baseline="0" noProof="0" dirty="0" err="1" smtClean="0"/>
              <a:t>Animation.Status.PAUSED</a:t>
            </a:r>
            <a:r>
              <a:rPr lang="tr-TR" altLang="en-US" baseline="0" noProof="0" dirty="0" smtClean="0"/>
              <a:t>, </a:t>
            </a:r>
            <a:r>
              <a:rPr lang="tr-TR" altLang="en-US" baseline="0" noProof="0" dirty="0" err="1" smtClean="0"/>
              <a:t>Animation.Status.RUNNING</a:t>
            </a:r>
            <a:r>
              <a:rPr lang="tr-TR" altLang="en-US" baseline="0" noProof="0" dirty="0" smtClean="0"/>
              <a:t>, </a:t>
            </a:r>
            <a:r>
              <a:rPr lang="tr-TR" altLang="en-US" baseline="0" noProof="0" dirty="0" err="1" smtClean="0"/>
              <a:t>Animation.Status.STOPPED</a:t>
            </a:r>
            <a:endParaRPr lang="en-US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239916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451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tr-TR" altLang="en-US" dirty="0" smtClean="0"/>
              <a:t>First, </a:t>
            </a:r>
            <a:r>
              <a:rPr lang="tr-TR" altLang="en-US" dirty="0" err="1" smtClean="0"/>
              <a:t>show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the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codes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for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FlagRisingAnimation</a:t>
            </a:r>
            <a:r>
              <a:rPr lang="tr-TR" altLang="en-US" dirty="0" smtClean="0"/>
              <a:t> on </a:t>
            </a:r>
            <a:r>
              <a:rPr lang="tr-TR" altLang="en-US" dirty="0" err="1" smtClean="0"/>
              <a:t>Eclipse</a:t>
            </a:r>
            <a:r>
              <a:rPr lang="tr-TR" altLang="en-US" dirty="0" smtClean="0"/>
              <a:t> IDE </a:t>
            </a:r>
            <a:r>
              <a:rPr lang="tr-TR" altLang="en-US" dirty="0" err="1" smtClean="0"/>
              <a:t>and</a:t>
            </a:r>
            <a:r>
              <a:rPr lang="tr-TR" altLang="en-US" baseline="0" dirty="0" smtClean="0"/>
              <a:t> </a:t>
            </a:r>
            <a:r>
              <a:rPr lang="tr-TR" altLang="en-US" baseline="0" dirty="0" err="1" smtClean="0"/>
              <a:t>run</a:t>
            </a:r>
            <a:r>
              <a:rPr lang="tr-TR" altLang="en-US" baseline="0" dirty="0" smtClean="0"/>
              <a:t> it.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tr-TR" altLang="en-US" dirty="0" err="1" smtClean="0"/>
              <a:t>Secondly</a:t>
            </a:r>
            <a:r>
              <a:rPr lang="tr-TR" altLang="en-US" dirty="0" smtClean="0"/>
              <a:t>, </a:t>
            </a:r>
            <a:r>
              <a:rPr lang="tr-TR" altLang="en-US" dirty="0" err="1" smtClean="0"/>
              <a:t>show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the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codes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for</a:t>
            </a:r>
            <a:r>
              <a:rPr lang="tr-TR" altLang="en-US" dirty="0" smtClean="0"/>
              <a:t> </a:t>
            </a:r>
            <a:r>
              <a:rPr lang="tr-TR" altLang="en-US" dirty="0" err="1" smtClean="0"/>
              <a:t>PathTransitionDemo</a:t>
            </a:r>
            <a:r>
              <a:rPr lang="tr-TR" altLang="en-US" dirty="0" smtClean="0"/>
              <a:t> on </a:t>
            </a:r>
            <a:r>
              <a:rPr lang="tr-TR" altLang="en-US" dirty="0" err="1" smtClean="0"/>
              <a:t>Eclipse</a:t>
            </a:r>
            <a:r>
              <a:rPr lang="tr-TR" altLang="en-US" dirty="0" smtClean="0"/>
              <a:t> IDE </a:t>
            </a:r>
            <a:r>
              <a:rPr lang="tr-TR" altLang="en-US" dirty="0" err="1" smtClean="0"/>
              <a:t>and</a:t>
            </a:r>
            <a:r>
              <a:rPr lang="tr-TR" altLang="en-US" baseline="0" dirty="0" smtClean="0"/>
              <a:t> </a:t>
            </a:r>
            <a:r>
              <a:rPr lang="tr-TR" altLang="en-US" baseline="0" dirty="0" err="1" smtClean="0"/>
              <a:t>run</a:t>
            </a:r>
            <a:r>
              <a:rPr lang="tr-TR" altLang="en-US" baseline="0" dirty="0" smtClean="0"/>
              <a:t> it.</a:t>
            </a:r>
          </a:p>
          <a:p>
            <a:pPr marL="171450" indent="-171450">
              <a:buFontTx/>
              <a:buChar char="-"/>
            </a:pPr>
            <a:endParaRPr lang="tr-TR" altLang="en-US" baseline="0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FEA5318-3341-404D-A91A-978148E0E175}" type="slidenum">
              <a:rPr lang="en-US" altLang="en-US" sz="1000" smtClean="0"/>
              <a:pPr/>
              <a:t>4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19830570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7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4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19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9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1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8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426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6F9FC-29E8-4A68-8A54-6BFD4D239060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57790-F475-4393-9D9D-C8F7E03CB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MouseEventDemo.html" TargetMode="External"/><Relationship Id="rId3" Type="http://schemas.openxmlformats.org/officeDocument/2006/relationships/hyperlink" Target="html/MouseEventDemo.bat" TargetMode="External"/><Relationship Id="rId4" Type="http://schemas.openxmlformats.org/officeDocument/2006/relationships/hyperlink" Target="http://www.cs.armstrong.edu/liang/intro10e/html/MouseEventDemo.html" TargetMode="Externa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ml/PathTransitionDemo.bat" TargetMode="External"/><Relationship Id="rId4" Type="http://schemas.openxmlformats.org/officeDocument/2006/relationships/hyperlink" Target="html/PathTransitionDemo.html" TargetMode="External"/><Relationship Id="rId5" Type="http://schemas.openxmlformats.org/officeDocument/2006/relationships/hyperlink" Target="http://www.cs.armstrong.edu/liang/intro10e/html/PathTransitionDemo.html" TargetMode="External"/><Relationship Id="rId6" Type="http://schemas.openxmlformats.org/officeDocument/2006/relationships/hyperlink" Target="html/FlagRisingAnimation.bat" TargetMode="External"/><Relationship Id="rId7" Type="http://schemas.openxmlformats.org/officeDocument/2006/relationships/hyperlink" Target="html/FlagRisingAnimation.html" TargetMode="External"/><Relationship Id="rId8" Type="http://schemas.openxmlformats.org/officeDocument/2006/relationships/hyperlink" Target="http://www.cs.armstrong.edu/liang/intro10e/html/FlagRisingAnimation.html" TargetMode="External"/><Relationship Id="rId9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ClockAnimation.bat" TargetMode="External"/><Relationship Id="rId3" Type="http://schemas.openxmlformats.org/officeDocument/2006/relationships/hyperlink" Target="html/ClockAnimation.html" TargetMode="External"/><Relationship Id="rId4" Type="http://schemas.openxmlformats.org/officeDocument/2006/relationships/hyperlink" Target="http://www.cs.armstrong.edu/liang/intro10e/html/ClockAnimation.html" TargetMode="External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7F9FB7-273A-4C72-9736-2A20FE1F896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0" y="52388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MouseEvent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51204" name="Rectangle 6"/>
          <p:cNvSpPr>
            <a:spLocks noChangeArrowheads="1"/>
          </p:cNvSpPr>
          <p:nvPr/>
        </p:nvSpPr>
        <p:spPr bwMode="auto">
          <a:xfrm>
            <a:off x="3848100" y="22479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1205" name="Rectangle 8"/>
          <p:cNvSpPr>
            <a:spLocks noChangeArrowheads="1"/>
          </p:cNvSpPr>
          <p:nvPr/>
        </p:nvSpPr>
        <p:spPr bwMode="auto">
          <a:xfrm>
            <a:off x="3848100" y="22479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16684FF5-96A0-4E3B-9FA9-59463B571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83F9D1C-624C-49DB-81CE-E2C526447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5741988"/>
            <a:ext cx="37338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2" action="ppaction://program"/>
              </a:rPr>
              <a:t>MouseEventDemo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51208" name="AutoShape 6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8077200" y="5715000"/>
            <a:ext cx="21336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51209" name="AutoShape 7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3708401" y="5699126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5121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687513"/>
            <a:ext cx="8813800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1211" name="Dikdörtgen 2"/>
          <p:cNvSpPr>
            <a:spLocks noChangeArrowheads="1"/>
          </p:cNvSpPr>
          <p:nvPr/>
        </p:nvSpPr>
        <p:spPr bwMode="auto">
          <a:xfrm>
            <a:off x="1905000" y="717550"/>
            <a:ext cx="8153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A </a:t>
            </a:r>
            <a:r>
              <a:rPr lang="en-US" altLang="en-US" sz="2000" b="1">
                <a:solidFill>
                  <a:srgbClr val="000000"/>
                </a:solidFill>
                <a:latin typeface="TimesNewRomanPS-BoldMT"/>
              </a:rPr>
              <a:t>MouseEvent </a:t>
            </a:r>
            <a:r>
              <a:rPr lang="en-US" altLang="en-US" sz="2000">
                <a:solidFill>
                  <a:srgbClr val="000000"/>
                </a:solidFill>
                <a:latin typeface="TimesNewRomanPSMT"/>
              </a:rPr>
              <a:t>is fired whenever a mouse button is pressed, released, clicked, moved, or dragged on a node or a scene.</a:t>
            </a:r>
            <a:r>
              <a:rPr lang="en-US" altLang="en-US" sz="2000"/>
              <a:t> </a:t>
            </a:r>
            <a:br>
              <a:rPr lang="en-US" altLang="en-US" sz="2000"/>
            </a:b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98491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D4F494-7286-4251-ACC8-E67B1A58AFC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52227" name="Dikdörtgen 4"/>
          <p:cNvSpPr>
            <a:spLocks noChangeArrowheads="1"/>
          </p:cNvSpPr>
          <p:nvPr/>
        </p:nvSpPr>
        <p:spPr bwMode="auto">
          <a:xfrm>
            <a:off x="1676400" y="9526"/>
            <a:ext cx="7696200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// Move the text with the mouse clicked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javafx.application.Application;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javafx.stage.Stage;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javafx.scene.Scene;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javafx.scene.layout.Pane;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import javafx.scene.text.Text;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/>
            </a:r>
            <a:b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public class MouseEventDemo extends Application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@Override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void start(Stage primaryStage)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Pane pane = new Pane();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Text text = new Text(20, 20, "Programming is fun");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pane.getChildren().addAll(text);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text.setOnMouseDragged(e -&gt; {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  text.setX(e.getX());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  text.setY(e.getY());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});</a:t>
            </a:r>
            <a:b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Scene scene = new Scene(pane, 300, 100);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primaryStage.setTitle("MouseEventDemo");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primaryStage.setScene(scene);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primaryStage.show();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public static void main(String[] args) {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  launch(args);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br>
              <a:rPr lang="en-US" altLang="en-US" sz="14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100">
                <a:solidFill>
                  <a:srgbClr val="FFFFFF"/>
                </a:solidFill>
                <a:latin typeface="Franklin Gothic Book" panose="020B0503020102020204" pitchFamily="34" charset="0"/>
              </a:rPr>
              <a:t>29</a:t>
            </a:r>
            <a:r>
              <a:rPr lang="en-US" altLang="en-US" sz="1800"/>
              <a:t> </a:t>
            </a:r>
            <a:r>
              <a:rPr lang="en-US" altLang="en-US" sz="2000"/>
              <a:t/>
            </a:r>
            <a:br>
              <a:rPr lang="en-US" altLang="en-US" sz="2000"/>
            </a:br>
            <a:endParaRPr lang="en-US" altLang="en-US" sz="2000"/>
          </a:p>
        </p:txBody>
      </p:sp>
      <p:pic>
        <p:nvPicPr>
          <p:cNvPr id="52228" name="Resim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50" y="152400"/>
            <a:ext cx="28765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Resim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50" y="1490663"/>
            <a:ext cx="28765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2" descr="cursor image ile ilgili görsel sonucu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2362200"/>
            <a:ext cx="11588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260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9C5AD8-7DE5-4FDC-BBFD-065D2F2AAB9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52400"/>
            <a:ext cx="8839200" cy="685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mtClean="0">
                <a:cs typeface="Times New Roman" panose="02020603050405020304" pitchFamily="18" charset="0"/>
              </a:rPr>
              <a:t>Animation</a:t>
            </a:r>
            <a:r>
              <a:rPr lang="en-US" altLang="en-US" smtClean="0"/>
              <a:t> 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686800" cy="1219200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altLang="en-US"/>
              <a:t>JavaFX provides the </a:t>
            </a:r>
            <a:r>
              <a:rPr lang="en-US" altLang="en-US" b="1"/>
              <a:t>Animation</a:t>
            </a:r>
            <a:r>
              <a:rPr lang="en-US" altLang="en-US"/>
              <a:t> class with the core functionality for all animations.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4014788" y="273367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DEEF11C5-806F-4E41-A8A5-AA40FF986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144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738" y="2181226"/>
            <a:ext cx="911860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0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EA2053-41C8-4940-9A19-C4F8B571A8A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PathTransition</a:t>
            </a:r>
          </a:p>
        </p:txBody>
      </p:sp>
      <p:sp>
        <p:nvSpPr>
          <p:cNvPr id="63492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8669338" y="4932363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0A838DB-C090-4EE8-B557-83011D6AF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4932363"/>
            <a:ext cx="29718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PathTransitionDemo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3494" name="AutoShape 8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4706938" y="4948238"/>
            <a:ext cx="468312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5F93BBB4-1600-4548-B866-2B29AF0F9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3496" name="AutoShape 4">
            <a:hlinkClick r:id="rId6" action="ppaction://program" highlightClick="1"/>
          </p:cNvPr>
          <p:cNvSpPr>
            <a:spLocks noChangeArrowheads="1"/>
          </p:cNvSpPr>
          <p:nvPr/>
        </p:nvSpPr>
        <p:spPr bwMode="auto">
          <a:xfrm>
            <a:off x="8669338" y="5697538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2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5CCBAA6-AC2E-4E37-86D5-7854CA500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5697538"/>
            <a:ext cx="29718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7" action="ppaction://program"/>
              </a:rPr>
              <a:t>FlagRisingAnimation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3498" name="AutoShape 8">
            <a:hlinkClick r:id="rId8" highlightClick="1"/>
          </p:cNvPr>
          <p:cNvSpPr>
            <a:spLocks noChangeArrowheads="1"/>
          </p:cNvSpPr>
          <p:nvPr/>
        </p:nvSpPr>
        <p:spPr bwMode="auto">
          <a:xfrm>
            <a:off x="4706938" y="5713413"/>
            <a:ext cx="468312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63499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91757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3500" name="Rectangle 1"/>
          <p:cNvSpPr>
            <a:spLocks noChangeArrowheads="1"/>
          </p:cNvSpPr>
          <p:nvPr/>
        </p:nvSpPr>
        <p:spPr bwMode="auto">
          <a:xfrm>
            <a:off x="1676400" y="663575"/>
            <a:ext cx="8763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231F20"/>
                </a:solidFill>
                <a:latin typeface="TimesLTStd-Roman"/>
              </a:rPr>
              <a:t>The </a:t>
            </a:r>
            <a:r>
              <a:rPr lang="en-US" altLang="en-US" sz="1800" b="1" dirty="0" err="1">
                <a:solidFill>
                  <a:schemeClr val="tx2"/>
                </a:solidFill>
                <a:latin typeface="LucidaSansTypewriterStd-Bd"/>
              </a:rPr>
              <a:t>PathTransition</a:t>
            </a:r>
            <a:r>
              <a:rPr lang="en-US" altLang="en-US" sz="1800" b="1" dirty="0">
                <a:solidFill>
                  <a:srgbClr val="00AEEF"/>
                </a:solidFill>
                <a:latin typeface="LucidaSansTypewriterStd-Bd"/>
              </a:rPr>
              <a:t> </a:t>
            </a:r>
            <a:r>
              <a:rPr lang="en-US" altLang="en-US" sz="2000" dirty="0">
                <a:solidFill>
                  <a:srgbClr val="231F20"/>
                </a:solidFill>
                <a:latin typeface="TimesLTStd-Roman"/>
              </a:rPr>
              <a:t>class animates the moves of a node along a path from one end to the other over a given time.</a:t>
            </a:r>
            <a:r>
              <a:rPr lang="en-US" altLang="en-US" sz="2000" dirty="0"/>
              <a:t> </a:t>
            </a:r>
            <a:br>
              <a:rPr lang="en-US" altLang="en-US" sz="2000" dirty="0"/>
            </a:b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1308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5572D0-341C-4173-AACE-16AFF1F7635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762000"/>
          </a:xfrm>
          <a:noFill/>
        </p:spPr>
        <p:txBody>
          <a:bodyPr/>
          <a:lstStyle/>
          <a:p>
            <a:r>
              <a:rPr lang="en-US" altLang="en-US" smtClean="0"/>
              <a:t>Clock Animation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C9F452B-4A77-432E-BA44-FE3ED3528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67589" name="AutoShape 4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8623300" y="5697538"/>
            <a:ext cx="1676400" cy="6096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2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579B3C2-9FD2-4FD9-B070-A56C3D98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5697538"/>
            <a:ext cx="2971800" cy="6096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ClockAnimation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7591" name="AutoShape 8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4660901" y="5713413"/>
            <a:ext cx="468313" cy="576262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A510D74-8A46-49C1-98D7-2DE5197E6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759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4" y="1454150"/>
            <a:ext cx="3024187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450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B80C5E-6C41-4DEE-9981-D1BD5FFAEFC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1A721E3-7B3A-4261-8EE1-1F99FD351A3E}"/>
              </a:ext>
            </a:extLst>
          </p:cNvPr>
          <p:cNvSpPr/>
          <p:nvPr/>
        </p:nvSpPr>
        <p:spPr>
          <a:xfrm>
            <a:off x="1542288" y="1"/>
            <a:ext cx="6705600" cy="6555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javafx.application.Application</a:t>
            </a:r>
            <a:r>
              <a:rPr lang="en-US" sz="1100" b="1" dirty="0">
                <a:latin typeface="Courier"/>
              </a:rPr>
              <a:t>;</a:t>
            </a:r>
          </a:p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javafx.stage.Stage</a:t>
            </a:r>
            <a:r>
              <a:rPr lang="en-US" sz="1100" b="1" dirty="0">
                <a:latin typeface="Courier"/>
              </a:rPr>
              <a:t>; </a:t>
            </a:r>
          </a:p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javafx.animation.KeyFrame</a:t>
            </a:r>
            <a:r>
              <a:rPr lang="en-US" sz="1100" b="1" dirty="0">
                <a:latin typeface="Courier"/>
              </a:rPr>
              <a:t>;</a:t>
            </a:r>
          </a:p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javafx.animation.Timeline</a:t>
            </a:r>
            <a:r>
              <a:rPr lang="en-US" sz="1100" b="1" dirty="0">
                <a:latin typeface="Courier"/>
              </a:rPr>
              <a:t>;</a:t>
            </a:r>
          </a:p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javafx.event.ActionEvent</a:t>
            </a:r>
            <a:r>
              <a:rPr lang="en-US" sz="1100" b="1" dirty="0">
                <a:latin typeface="Courier"/>
              </a:rPr>
              <a:t>;</a:t>
            </a:r>
          </a:p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javafx.event.EventHandler</a:t>
            </a:r>
            <a:r>
              <a:rPr lang="en-US" sz="1100" b="1" dirty="0">
                <a:latin typeface="Courier"/>
              </a:rPr>
              <a:t>;</a:t>
            </a:r>
          </a:p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javafx.scene.Scene</a:t>
            </a:r>
            <a:r>
              <a:rPr lang="en-US" sz="1100" b="1" dirty="0">
                <a:latin typeface="Courier"/>
              </a:rPr>
              <a:t>;</a:t>
            </a:r>
            <a:endParaRPr lang="en-US" sz="1050" b="1" dirty="0">
              <a:latin typeface="Courier"/>
            </a:endParaRPr>
          </a:p>
          <a:p>
            <a:pPr>
              <a:defRPr/>
            </a:pPr>
            <a:r>
              <a:rPr lang="en-US" sz="1100" b="1" dirty="0">
                <a:latin typeface="Courier"/>
              </a:rPr>
              <a:t>import </a:t>
            </a:r>
            <a:r>
              <a:rPr lang="en-US" sz="1100" b="1" dirty="0" err="1">
                <a:latin typeface="Courier"/>
              </a:rPr>
              <a:t>javafx.util.Duration</a:t>
            </a:r>
            <a:r>
              <a:rPr lang="en-US" sz="1100" b="1" dirty="0">
                <a:latin typeface="Courier"/>
              </a:rPr>
              <a:t>;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public class </a:t>
            </a:r>
            <a:r>
              <a:rPr lang="en-US" sz="1200" b="1" dirty="0" err="1">
                <a:latin typeface="Courier"/>
              </a:rPr>
              <a:t>ClockAnimation</a:t>
            </a:r>
            <a:r>
              <a:rPr lang="en-US" sz="1200" b="1" dirty="0">
                <a:latin typeface="Courier"/>
              </a:rPr>
              <a:t> extends Application {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@Override // Override the start method in the Application class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public void start(Stage </a:t>
            </a:r>
            <a:r>
              <a:rPr lang="en-US" sz="1200" b="1" dirty="0" err="1">
                <a:latin typeface="Courier"/>
              </a:rPr>
              <a:t>primaryStage</a:t>
            </a:r>
            <a:r>
              <a:rPr lang="en-US" sz="1200" b="1" dirty="0">
                <a:latin typeface="Courier"/>
              </a:rPr>
              <a:t>) {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  </a:t>
            </a:r>
            <a:r>
              <a:rPr lang="en-US" sz="1200" b="1" dirty="0" err="1">
                <a:latin typeface="Courier"/>
              </a:rPr>
              <a:t>ClockPane</a:t>
            </a:r>
            <a:r>
              <a:rPr lang="en-US" sz="1200" b="1" dirty="0">
                <a:latin typeface="Courier"/>
              </a:rPr>
              <a:t> clock = new </a:t>
            </a:r>
            <a:r>
              <a:rPr lang="en-US" sz="1200" b="1" dirty="0" err="1">
                <a:latin typeface="Courier"/>
              </a:rPr>
              <a:t>ClockPane</a:t>
            </a:r>
            <a:r>
              <a:rPr lang="en-US" sz="1200" b="1" dirty="0">
                <a:latin typeface="Courier"/>
              </a:rPr>
              <a:t>(); // Create a clock</a:t>
            </a:r>
          </a:p>
          <a:p>
            <a:pPr>
              <a:defRPr/>
            </a:pPr>
            <a:endParaRPr lang="en-US" sz="1200" b="1" dirty="0">
              <a:latin typeface="Courier"/>
            </a:endParaRPr>
          </a:p>
          <a:p>
            <a:pPr>
              <a:defRPr/>
            </a:pPr>
            <a:r>
              <a:rPr lang="en-US" sz="1200" b="1" dirty="0">
                <a:latin typeface="Courier"/>
              </a:rPr>
              <a:t>    // Create a handler for animation</a:t>
            </a: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EventHandler</a:t>
            </a:r>
            <a:r>
              <a:rPr lang="en-US" sz="1200" b="1" dirty="0">
                <a:solidFill>
                  <a:srgbClr val="FF0000"/>
                </a:solidFill>
                <a:latin typeface="Courier"/>
              </a:rPr>
              <a:t>&lt;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ActionEvent</a:t>
            </a:r>
            <a:r>
              <a:rPr lang="en-US" sz="1200" b="1" dirty="0">
                <a:solidFill>
                  <a:srgbClr val="FF0000"/>
                </a:solidFill>
                <a:latin typeface="Courier"/>
              </a:rPr>
              <a:t>&gt; 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eventHandler</a:t>
            </a:r>
            <a:r>
              <a:rPr lang="en-US" sz="1200" b="1" dirty="0">
                <a:solidFill>
                  <a:srgbClr val="FF0000"/>
                </a:solidFill>
                <a:latin typeface="Courier"/>
              </a:rPr>
              <a:t> = e -&gt; {</a:t>
            </a: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  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clock.setCurrentTime</a:t>
            </a:r>
            <a:r>
              <a:rPr lang="en-US" sz="1200" b="1" dirty="0">
                <a:solidFill>
                  <a:srgbClr val="FF0000"/>
                </a:solidFill>
                <a:latin typeface="Courier"/>
              </a:rPr>
              <a:t>(); // Set a new clock time</a:t>
            </a: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};</a:t>
            </a:r>
          </a:p>
          <a:p>
            <a:pPr>
              <a:defRPr/>
            </a:pPr>
            <a:endParaRPr lang="en-US" sz="1200" b="1" dirty="0">
              <a:latin typeface="Courier"/>
            </a:endParaRP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// Create an animation for a running clock</a:t>
            </a: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Timeline animation = new Timeline(</a:t>
            </a: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  new 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KeyFrame</a:t>
            </a:r>
            <a:r>
              <a:rPr lang="en-US" sz="1200" b="1" dirty="0">
                <a:solidFill>
                  <a:srgbClr val="FF0000"/>
                </a:solidFill>
                <a:latin typeface="Courier"/>
              </a:rPr>
              <a:t>(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Duration.</a:t>
            </a:r>
            <a:r>
              <a:rPr lang="en-US" sz="1200" b="1" i="1" dirty="0" err="1">
                <a:solidFill>
                  <a:srgbClr val="FF0000"/>
                </a:solidFill>
                <a:latin typeface="Courier"/>
              </a:rPr>
              <a:t>millis</a:t>
            </a:r>
            <a:r>
              <a:rPr lang="en-US" sz="1200" b="1" i="1" dirty="0">
                <a:solidFill>
                  <a:srgbClr val="FF0000"/>
                </a:solidFill>
                <a:latin typeface="Courier"/>
              </a:rPr>
              <a:t>(1000), </a:t>
            </a:r>
            <a:r>
              <a:rPr lang="en-US" sz="1200" b="1" i="1" dirty="0" err="1">
                <a:solidFill>
                  <a:srgbClr val="FF0000"/>
                </a:solidFill>
                <a:latin typeface="Courier"/>
              </a:rPr>
              <a:t>eventHandler</a:t>
            </a:r>
            <a:r>
              <a:rPr lang="en-US" sz="1200" b="1" i="1" dirty="0">
                <a:solidFill>
                  <a:srgbClr val="FF0000"/>
                </a:solidFill>
                <a:latin typeface="Courier"/>
              </a:rPr>
              <a:t>));</a:t>
            </a: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animation.setCycleCount</a:t>
            </a:r>
            <a:r>
              <a:rPr lang="en-US" sz="1200" b="1" dirty="0">
                <a:solidFill>
                  <a:srgbClr val="FF0000"/>
                </a:solidFill>
                <a:latin typeface="Courier"/>
              </a:rPr>
              <a:t>(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Timeline.</a:t>
            </a:r>
            <a:r>
              <a:rPr lang="en-US" sz="1200" b="1" i="1" dirty="0" err="1">
                <a:solidFill>
                  <a:srgbClr val="FF0000"/>
                </a:solidFill>
                <a:latin typeface="Courier"/>
              </a:rPr>
              <a:t>INDEFINITE</a:t>
            </a:r>
            <a:r>
              <a:rPr lang="en-US" sz="1200" b="1" i="1" dirty="0">
                <a:solidFill>
                  <a:srgbClr val="FF0000"/>
                </a:solidFill>
                <a:latin typeface="Courier"/>
              </a:rPr>
              <a:t>);</a:t>
            </a:r>
          </a:p>
          <a:p>
            <a:pPr>
              <a:defRPr/>
            </a:pPr>
            <a:r>
              <a:rPr lang="en-US" sz="1200" b="1" dirty="0">
                <a:solidFill>
                  <a:srgbClr val="FF0000"/>
                </a:solidFill>
                <a:latin typeface="Courier"/>
              </a:rPr>
              <a:t>    </a:t>
            </a:r>
            <a:r>
              <a:rPr lang="en-US" sz="1200" b="1" dirty="0" err="1">
                <a:solidFill>
                  <a:srgbClr val="FF0000"/>
                </a:solidFill>
                <a:latin typeface="Courier"/>
              </a:rPr>
              <a:t>animation.play</a:t>
            </a:r>
            <a:r>
              <a:rPr lang="en-US" sz="1200" b="1" dirty="0">
                <a:solidFill>
                  <a:srgbClr val="FF0000"/>
                </a:solidFill>
                <a:latin typeface="Courier"/>
              </a:rPr>
              <a:t>(); // Start animation</a:t>
            </a:r>
          </a:p>
          <a:p>
            <a:pPr>
              <a:defRPr/>
            </a:pPr>
            <a:endParaRPr lang="en-US" sz="1200" b="1" dirty="0">
              <a:latin typeface="Courier"/>
            </a:endParaRPr>
          </a:p>
          <a:p>
            <a:pPr>
              <a:defRPr/>
            </a:pPr>
            <a:r>
              <a:rPr lang="en-US" sz="1200" b="1" dirty="0">
                <a:latin typeface="Courier"/>
              </a:rPr>
              <a:t>    // Create a scene and place it in the stage</a:t>
            </a:r>
          </a:p>
          <a:p>
            <a:pPr>
              <a:defRPr/>
            </a:pPr>
            <a:r>
              <a:rPr lang="nn-NO" sz="1200" b="1" dirty="0">
                <a:latin typeface="Courier"/>
              </a:rPr>
              <a:t>    Scene scene = new Scene(clock, 250, 250);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  </a:t>
            </a:r>
            <a:r>
              <a:rPr lang="en-US" sz="1200" b="1" dirty="0" err="1">
                <a:highlight>
                  <a:srgbClr val="D4D4D4"/>
                </a:highlight>
                <a:latin typeface="Courier"/>
              </a:rPr>
              <a:t>primaryStage.setTitle</a:t>
            </a:r>
            <a:r>
              <a:rPr lang="en-US" sz="1200" b="1" dirty="0">
                <a:highlight>
                  <a:srgbClr val="D4D4D4"/>
                </a:highlight>
                <a:latin typeface="Courier"/>
              </a:rPr>
              <a:t>("</a:t>
            </a:r>
            <a:r>
              <a:rPr lang="en-US" sz="1200" b="1" dirty="0" err="1">
                <a:highlight>
                  <a:srgbClr val="D4D4D4"/>
                </a:highlight>
                <a:latin typeface="Courier"/>
              </a:rPr>
              <a:t>ClockAnimation</a:t>
            </a:r>
            <a:r>
              <a:rPr lang="en-US" sz="1200" b="1" dirty="0">
                <a:highlight>
                  <a:srgbClr val="D4D4D4"/>
                </a:highlight>
                <a:latin typeface="Courier"/>
              </a:rPr>
              <a:t>"); // Set the stage title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  </a:t>
            </a:r>
            <a:r>
              <a:rPr lang="en-US" sz="1200" b="1" dirty="0" err="1">
                <a:highlight>
                  <a:srgbClr val="D4D4D4"/>
                </a:highlight>
                <a:latin typeface="Courier"/>
              </a:rPr>
              <a:t>primaryStage.setScene</a:t>
            </a:r>
            <a:r>
              <a:rPr lang="en-US" sz="1200" b="1" dirty="0">
                <a:highlight>
                  <a:srgbClr val="D4D4D4"/>
                </a:highlight>
                <a:latin typeface="Courier"/>
              </a:rPr>
              <a:t>(scene); // Place the scene in the stage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  </a:t>
            </a:r>
            <a:r>
              <a:rPr lang="en-US" sz="1200" b="1" dirty="0" err="1">
                <a:highlight>
                  <a:srgbClr val="D4D4D4"/>
                </a:highlight>
                <a:latin typeface="Courier"/>
              </a:rPr>
              <a:t>primaryStage.show</a:t>
            </a:r>
            <a:r>
              <a:rPr lang="en-US" sz="1200" b="1" dirty="0">
                <a:highlight>
                  <a:srgbClr val="D4D4D4"/>
                </a:highlight>
                <a:latin typeface="Courier"/>
              </a:rPr>
              <a:t>(); // Display the stage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}</a:t>
            </a:r>
          </a:p>
          <a:p>
            <a:pPr>
              <a:defRPr/>
            </a:pPr>
            <a:endParaRPr lang="en-US" sz="1200" b="1" dirty="0">
              <a:latin typeface="Courier"/>
            </a:endParaRPr>
          </a:p>
          <a:p>
            <a:pPr>
              <a:defRPr/>
            </a:pPr>
            <a:r>
              <a:rPr lang="en-US" sz="1200" b="1" dirty="0">
                <a:latin typeface="Courier"/>
              </a:rPr>
              <a:t> public static void main(String[] </a:t>
            </a:r>
            <a:r>
              <a:rPr lang="en-US" sz="1200" b="1" dirty="0" err="1">
                <a:latin typeface="Courier"/>
              </a:rPr>
              <a:t>args</a:t>
            </a:r>
            <a:r>
              <a:rPr lang="en-US" sz="1200" b="1" dirty="0">
                <a:latin typeface="Courier"/>
              </a:rPr>
              <a:t>) {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  </a:t>
            </a:r>
            <a:r>
              <a:rPr lang="en-US" sz="1200" b="1" i="1" dirty="0">
                <a:latin typeface="Courier"/>
              </a:rPr>
              <a:t>launch(</a:t>
            </a:r>
            <a:r>
              <a:rPr lang="en-US" sz="1200" b="1" i="1" dirty="0" err="1">
                <a:latin typeface="Courier"/>
              </a:rPr>
              <a:t>args</a:t>
            </a:r>
            <a:r>
              <a:rPr lang="en-US" sz="1200" b="1" i="1" dirty="0">
                <a:latin typeface="Courier"/>
              </a:rPr>
              <a:t>);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  }</a:t>
            </a:r>
          </a:p>
          <a:p>
            <a:pPr>
              <a:defRPr/>
            </a:pPr>
            <a:r>
              <a:rPr lang="en-US" sz="1200" b="1" dirty="0">
                <a:latin typeface="Courier"/>
              </a:rPr>
              <a:t>}</a:t>
            </a:r>
            <a:endParaRPr lang="en-US" sz="3600" b="1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526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Widescreen</PresentationFormat>
  <Paragraphs>64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Arial</vt:lpstr>
      <vt:lpstr>Book Antiqua</vt:lpstr>
      <vt:lpstr>Calibri</vt:lpstr>
      <vt:lpstr>Calibri Light</vt:lpstr>
      <vt:lpstr>Courier</vt:lpstr>
      <vt:lpstr>Courier New</vt:lpstr>
      <vt:lpstr>Franklin Gothic Book</vt:lpstr>
      <vt:lpstr>LucidaSansTypewriterStd-Bd</vt:lpstr>
      <vt:lpstr>Times New Roman</vt:lpstr>
      <vt:lpstr>TimesLTStd-Roman</vt:lpstr>
      <vt:lpstr>TimesNewRomanPS-BoldMT</vt:lpstr>
      <vt:lpstr>TimesNewRomanPSMT</vt:lpstr>
      <vt:lpstr>Office Theme</vt:lpstr>
      <vt:lpstr>MouseEvent</vt:lpstr>
      <vt:lpstr>PowerPoint Presentation</vt:lpstr>
      <vt:lpstr>Animation </vt:lpstr>
      <vt:lpstr>PathTransition</vt:lpstr>
      <vt:lpstr>Clock Animation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MouseEvent</dc:title>
  <dc:creator/>
  <cp:lastModifiedBy/>
  <cp:revision>1</cp:revision>
  <dcterms:created xsi:type="dcterms:W3CDTF">2020-04-15T08:18:00Z</dcterms:created>
  <dcterms:modified xsi:type="dcterms:W3CDTF">2020-04-15T08:18:16Z</dcterms:modified>
  <dc:description/>
</cp:coreProperties>
</file>