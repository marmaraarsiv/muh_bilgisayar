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embeddings/oleObject1.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864" r:id="rId2"/>
  </p:sldMasterIdLst>
  <p:notesMasterIdLst>
    <p:notesMasterId r:id="rId69"/>
  </p:notesMasterIdLst>
  <p:handoutMasterIdLst>
    <p:handoutMasterId r:id="rId70"/>
  </p:handoutMasterIdLst>
  <p:sldIdLst>
    <p:sldId id="310" r:id="rId3"/>
    <p:sldId id="673" r:id="rId4"/>
    <p:sldId id="674" r:id="rId5"/>
    <p:sldId id="719" r:id="rId6"/>
    <p:sldId id="675" r:id="rId7"/>
    <p:sldId id="726" r:id="rId8"/>
    <p:sldId id="677" r:id="rId9"/>
    <p:sldId id="686" r:id="rId10"/>
    <p:sldId id="687" r:id="rId11"/>
    <p:sldId id="680" r:id="rId12"/>
    <p:sldId id="728" r:id="rId13"/>
    <p:sldId id="727" r:id="rId14"/>
    <p:sldId id="681" r:id="rId15"/>
    <p:sldId id="682" r:id="rId16"/>
    <p:sldId id="683" r:id="rId17"/>
    <p:sldId id="737" r:id="rId18"/>
    <p:sldId id="720" r:id="rId19"/>
    <p:sldId id="684" r:id="rId20"/>
    <p:sldId id="688" r:id="rId21"/>
    <p:sldId id="692" r:id="rId22"/>
    <p:sldId id="721" r:id="rId23"/>
    <p:sldId id="722" r:id="rId24"/>
    <p:sldId id="738" r:id="rId25"/>
    <p:sldId id="739" r:id="rId26"/>
    <p:sldId id="741" r:id="rId27"/>
    <p:sldId id="693" r:id="rId28"/>
    <p:sldId id="694" r:id="rId29"/>
    <p:sldId id="695" r:id="rId30"/>
    <p:sldId id="696" r:id="rId31"/>
    <p:sldId id="697" r:id="rId32"/>
    <p:sldId id="736" r:id="rId33"/>
    <p:sldId id="723" r:id="rId34"/>
    <p:sldId id="698" r:id="rId35"/>
    <p:sldId id="713" r:id="rId36"/>
    <p:sldId id="724" r:id="rId37"/>
    <p:sldId id="725" r:id="rId38"/>
    <p:sldId id="740" r:id="rId39"/>
    <p:sldId id="742" r:id="rId40"/>
    <p:sldId id="744" r:id="rId41"/>
    <p:sldId id="700" r:id="rId42"/>
    <p:sldId id="714" r:id="rId43"/>
    <p:sldId id="701" r:id="rId44"/>
    <p:sldId id="730" r:id="rId45"/>
    <p:sldId id="743" r:id="rId46"/>
    <p:sldId id="745" r:id="rId47"/>
    <p:sldId id="702" r:id="rId48"/>
    <p:sldId id="703" r:id="rId49"/>
    <p:sldId id="731" r:id="rId50"/>
    <p:sldId id="747" r:id="rId51"/>
    <p:sldId id="748" r:id="rId52"/>
    <p:sldId id="709" r:id="rId53"/>
    <p:sldId id="708" r:id="rId54"/>
    <p:sldId id="732" r:id="rId55"/>
    <p:sldId id="710" r:id="rId56"/>
    <p:sldId id="733" r:id="rId57"/>
    <p:sldId id="746" r:id="rId58"/>
    <p:sldId id="711" r:id="rId59"/>
    <p:sldId id="712" r:id="rId60"/>
    <p:sldId id="647" r:id="rId61"/>
    <p:sldId id="715" r:id="rId62"/>
    <p:sldId id="716" r:id="rId63"/>
    <p:sldId id="718" r:id="rId64"/>
    <p:sldId id="735" r:id="rId65"/>
    <p:sldId id="749" r:id="rId66"/>
    <p:sldId id="750" r:id="rId67"/>
    <p:sldId id="717" r:id="rId68"/>
  </p:sldIdLst>
  <p:sldSz cx="9144000" cy="6858000" type="screen4x3"/>
  <p:notesSz cx="6858000" cy="9144000"/>
  <p:custDataLst>
    <p:tags r:id="rId71"/>
  </p:custDataLst>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296">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5" autoAdjust="0"/>
    <p:restoredTop sz="85198" autoAdjust="0"/>
  </p:normalViewPr>
  <p:slideViewPr>
    <p:cSldViewPr>
      <p:cViewPr varScale="1">
        <p:scale>
          <a:sx n="58" d="100"/>
          <a:sy n="58" d="100"/>
        </p:scale>
        <p:origin x="1050" y="72"/>
      </p:cViewPr>
      <p:guideLst>
        <p:guide orient="horz" pos="1296"/>
        <p:guide pos="576"/>
      </p:guideLst>
    </p:cSldViewPr>
  </p:slideViewPr>
  <p:outlineViewPr>
    <p:cViewPr>
      <p:scale>
        <a:sx n="33" d="100"/>
        <a:sy n="33" d="100"/>
      </p:scale>
      <p:origin x="0" y="-1473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37" d="100"/>
          <a:sy n="37" d="100"/>
        </p:scale>
        <p:origin x="-1470"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notesMaster" Target="notesMasters/notesMaster1.xml"/><Relationship Id="rId70" Type="http://schemas.openxmlformats.org/officeDocument/2006/relationships/handoutMaster" Target="handoutMasters/handoutMaster1.xml"/><Relationship Id="rId71" Type="http://schemas.openxmlformats.org/officeDocument/2006/relationships/tags" Target="tags/tag1.xml"/><Relationship Id="rId72" Type="http://schemas.openxmlformats.org/officeDocument/2006/relationships/presProps" Target="presProps.xml"/><Relationship Id="rId73" Type="http://schemas.openxmlformats.org/officeDocument/2006/relationships/viewProps" Target="viewProps.xml"/><Relationship Id="rId74" Type="http://schemas.openxmlformats.org/officeDocument/2006/relationships/theme" Target="theme/theme1.xml"/><Relationship Id="rId7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9.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84F8EDF-4A78-4A8F-82A5-E2DF7929D23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defRPr sz="1000" i="1"/>
            </a:lvl1pPr>
          </a:lstStyle>
          <a:p>
            <a:pPr>
              <a:defRPr/>
            </a:pPr>
            <a:endParaRPr lang="en-US" altLang="en-US"/>
          </a:p>
        </p:txBody>
      </p:sp>
      <p:sp>
        <p:nvSpPr>
          <p:cNvPr id="2051" name="Rectangle 3">
            <a:extLst>
              <a:ext uri="{FF2B5EF4-FFF2-40B4-BE49-F238E27FC236}">
                <a16:creationId xmlns:a16="http://schemas.microsoft.com/office/drawing/2014/main" id="{DC135B1F-067C-4AEC-80F1-D7F7032B7AE3}"/>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t" anchorCtr="0" compatLnSpc="1">
            <a:prstTxWarp prst="textNoShape">
              <a:avLst/>
            </a:prstTxWarp>
          </a:bodyPr>
          <a:lstStyle>
            <a:lvl1pPr algn="r">
              <a:defRPr sz="1000" i="1"/>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E43135D0-0D20-441A-936C-A6D3D32F7020}"/>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4EE7D6BC-64B1-4A3F-86FA-3E52221F0100}"/>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defRPr sz="1000" i="1"/>
            </a:lvl1pPr>
          </a:lstStyle>
          <a:p>
            <a:pPr>
              <a:defRPr/>
            </a:pPr>
            <a:endParaRPr lang="en-US" altLang="en-US"/>
          </a:p>
        </p:txBody>
      </p:sp>
      <p:sp>
        <p:nvSpPr>
          <p:cNvPr id="2055" name="Rectangle 7">
            <a:extLst>
              <a:ext uri="{FF2B5EF4-FFF2-40B4-BE49-F238E27FC236}">
                <a16:creationId xmlns:a16="http://schemas.microsoft.com/office/drawing/2014/main" id="{F90C304B-9F31-4B28-BB7F-1E9C51873C79}"/>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9050" tIns="0" rIns="19050" bIns="0" numCol="1" anchor="b" anchorCtr="0" compatLnSpc="1">
            <a:prstTxWarp prst="textNoShape">
              <a:avLst/>
            </a:prstTxWarp>
          </a:bodyPr>
          <a:lstStyle>
            <a:lvl1pPr algn="r">
              <a:defRPr sz="1000" i="1"/>
            </a:lvl1pPr>
          </a:lstStyle>
          <a:p>
            <a:pPr>
              <a:defRPr/>
            </a:pPr>
            <a:fld id="{0FA892E2-48B9-467E-A448-2B0260CA517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6F56BB41-2376-4A59-88E2-04C1E6FF47C6}" type="slidenum">
              <a:rPr lang="en-US" altLang="en-US" sz="1000" smtClean="0"/>
              <a:pPr/>
              <a:t>1</a:t>
            </a:fld>
            <a:endParaRPr lang="en-US" altLang="en-US" sz="1000" dirty="0" smtClean="0"/>
          </a:p>
        </p:txBody>
      </p:sp>
      <p:sp>
        <p:nvSpPr>
          <p:cNvPr id="5123" name="Rectangle 2"/>
          <p:cNvSpPr>
            <a:spLocks noGrp="1" noRot="1" noChangeAspect="1" noChangeArrowheads="1" noTextEdit="1"/>
          </p:cNvSpPr>
          <p:nvPr>
            <p:ph type="sldImg"/>
          </p:nvPr>
        </p:nvSpPr>
        <p:spPr>
          <a:xfrm>
            <a:off x="1150938" y="692150"/>
            <a:ext cx="4556125" cy="3416300"/>
          </a:xfrm>
          <a:ln/>
        </p:spPr>
      </p:sp>
      <p:sp>
        <p:nvSpPr>
          <p:cNvPr id="5124" name="Rectangle 3"/>
          <p:cNvSpPr>
            <a:spLocks noGrp="1" noChangeArrowheads="1"/>
          </p:cNvSpPr>
          <p:nvPr>
            <p:ph type="body" idx="1"/>
          </p:nvPr>
        </p:nvSpPr>
        <p:spPr>
          <a:noFill/>
        </p:spPr>
        <p:txBody>
          <a:bodyPr/>
          <a:lstStyle/>
          <a:p>
            <a:endParaRPr lang="en-US" alt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ChangeArrowheads="1" noTextEdit="1"/>
          </p:cNvSpPr>
          <p:nvPr>
            <p:ph type="sldImg"/>
          </p:nvPr>
        </p:nvSpPr>
        <p:spPr>
          <a:xfrm>
            <a:off x="1150938" y="692150"/>
            <a:ext cx="4556125" cy="3416300"/>
          </a:xfrm>
          <a:ln/>
        </p:spPr>
      </p:sp>
      <p:sp>
        <p:nvSpPr>
          <p:cNvPr id="30723" name="Notes Placeholder 2"/>
          <p:cNvSpPr>
            <a:spLocks noGrp="1" noChangeArrowheads="1"/>
          </p:cNvSpPr>
          <p:nvPr>
            <p:ph type="body" idx="1"/>
          </p:nvPr>
        </p:nvSpPr>
        <p:spPr>
          <a:noFill/>
        </p:spPr>
        <p:txBody>
          <a:bodyPr/>
          <a:lstStyle/>
          <a:p>
            <a:r>
              <a:rPr lang="en-US" altLang="en-US" smtClean="0"/>
              <a:t>-- Another practical use of inner classes is to avoid class-naming conflicts. </a:t>
            </a:r>
          </a:p>
          <a:p>
            <a:r>
              <a:rPr lang="en-US" altLang="en-US" smtClean="0"/>
              <a:t>-- Two versions of </a:t>
            </a:r>
            <a:r>
              <a:rPr lang="en-US" altLang="en-US" b="1" smtClean="0"/>
              <a:t>Circle </a:t>
            </a:r>
            <a:r>
              <a:rPr lang="en-US" altLang="en-US" smtClean="0"/>
              <a:t>might be defined.</a:t>
            </a:r>
          </a:p>
          <a:p>
            <a:r>
              <a:rPr lang="en-US" altLang="en-US" smtClean="0"/>
              <a:t>-- You can define them as inner classes to avoid a conflict. </a:t>
            </a:r>
            <a:br>
              <a:rPr lang="en-US" altLang="en-US" smtClean="0"/>
            </a:br>
            <a:endParaRPr lang="en-US" altLang="en-US" smtClean="0"/>
          </a:p>
        </p:txBody>
      </p:sp>
      <p:sp>
        <p:nvSpPr>
          <p:cNvPr id="30724"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80898235-87E2-4546-8105-669C47883357}" type="slidenum">
              <a:rPr lang="en-US" altLang="en-US" sz="1000" smtClean="0"/>
              <a:pPr/>
              <a:t>29</a:t>
            </a:fld>
            <a:endParaRPr lang="en-US" altLang="en-US" sz="10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ChangeArrowheads="1" noTextEdit="1"/>
          </p:cNvSpPr>
          <p:nvPr>
            <p:ph type="sldImg"/>
          </p:nvPr>
        </p:nvSpPr>
        <p:spPr>
          <a:xfrm>
            <a:off x="1150938" y="692150"/>
            <a:ext cx="4556125" cy="3416300"/>
          </a:xfrm>
          <a:ln/>
        </p:spPr>
      </p:sp>
      <p:sp>
        <p:nvSpPr>
          <p:cNvPr id="32771" name="Notes Placeholder 2"/>
          <p:cNvSpPr>
            <a:spLocks noGrp="1" noChangeArrowheads="1"/>
          </p:cNvSpPr>
          <p:nvPr>
            <p:ph type="body" idx="1"/>
          </p:nvPr>
        </p:nvSpPr>
        <p:spPr>
          <a:noFill/>
        </p:spPr>
        <p:txBody>
          <a:bodyPr/>
          <a:lstStyle/>
          <a:p>
            <a:endParaRPr lang="en-US" altLang="en-US" dirty="0" smtClean="0"/>
          </a:p>
        </p:txBody>
      </p:sp>
      <p:sp>
        <p:nvSpPr>
          <p:cNvPr id="32772"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CF9DE51D-5607-4798-8693-977099114510}" type="slidenum">
              <a:rPr lang="en-US" altLang="en-US" sz="1000" smtClean="0"/>
              <a:pPr/>
              <a:t>30</a:t>
            </a:fld>
            <a:endParaRPr lang="en-US" altLang="en-US" sz="100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ChangeArrowheads="1" noTextEdit="1"/>
          </p:cNvSpPr>
          <p:nvPr>
            <p:ph type="sldImg"/>
          </p:nvPr>
        </p:nvSpPr>
        <p:spPr>
          <a:xfrm>
            <a:off x="1150938" y="692150"/>
            <a:ext cx="4556125" cy="3416300"/>
          </a:xfrm>
          <a:ln/>
        </p:spPr>
      </p:sp>
      <p:sp>
        <p:nvSpPr>
          <p:cNvPr id="34819" name="Notes Placeholder 2"/>
          <p:cNvSpPr>
            <a:spLocks noGrp="1" noChangeArrowheads="1"/>
          </p:cNvSpPr>
          <p:nvPr>
            <p:ph type="body" idx="1"/>
          </p:nvPr>
        </p:nvSpPr>
        <p:spPr>
          <a:noFill/>
        </p:spPr>
        <p:txBody>
          <a:bodyPr/>
          <a:lstStyle/>
          <a:p>
            <a:r>
              <a:rPr lang="en-US" altLang="en-US" smtClean="0"/>
              <a:t>-- You can also create an object of an inner class from another class. </a:t>
            </a:r>
          </a:p>
          <a:p>
            <a:endParaRPr lang="en-US" altLang="en-US" smtClean="0"/>
          </a:p>
          <a:p>
            <a:r>
              <a:rPr lang="en-US" altLang="en-US" smtClean="0"/>
              <a:t>-- If the inner class is non-static, you must first create an instance of the outer class, then use the following syntax to create an object for the inner class:</a:t>
            </a:r>
            <a:br>
              <a:rPr lang="en-US" altLang="en-US" smtClean="0"/>
            </a:br>
            <a:r>
              <a:rPr lang="en-US" altLang="en-US" smtClean="0"/>
              <a:t>	</a:t>
            </a:r>
            <a:r>
              <a:rPr lang="en-US" altLang="en-US" b="1" i="1" smtClean="0"/>
              <a:t>OuterClass.InnerClass innerObject = outerObject.new InnerClass();</a:t>
            </a:r>
            <a:r>
              <a:rPr lang="en-US" altLang="en-US" smtClean="0"/>
              <a:t/>
            </a:r>
            <a:br>
              <a:rPr lang="en-US" altLang="en-US" smtClean="0"/>
            </a:br>
            <a:r>
              <a:rPr lang="en-US" altLang="en-US" smtClean="0"/>
              <a:t>-- If the inner class is static, use the following syntax to create an object for it:</a:t>
            </a:r>
            <a:br>
              <a:rPr lang="en-US" altLang="en-US" smtClean="0"/>
            </a:br>
            <a:r>
              <a:rPr lang="en-US" altLang="en-US" smtClean="0"/>
              <a:t>	</a:t>
            </a:r>
            <a:r>
              <a:rPr lang="en-US" altLang="en-US" b="1" i="1" smtClean="0"/>
              <a:t>OuterClass.InnerClass innerObject = new OuterClass.InnerClass(); </a:t>
            </a:r>
            <a:r>
              <a:rPr lang="en-US" altLang="en-US" smtClean="0"/>
              <a:t/>
            </a:r>
            <a:br>
              <a:rPr lang="en-US" altLang="en-US" smtClean="0"/>
            </a:br>
            <a:r>
              <a:rPr lang="en-US" altLang="en-US" smtClean="0"/>
              <a:t/>
            </a:r>
            <a:br>
              <a:rPr lang="en-US" altLang="en-US" smtClean="0"/>
            </a:br>
            <a:endParaRPr lang="en-US" altLang="en-US" smtClean="0"/>
          </a:p>
        </p:txBody>
      </p:sp>
      <p:sp>
        <p:nvSpPr>
          <p:cNvPr id="34820"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9CBB64F-08DE-409C-8F86-395E4702DFBB}" type="slidenum">
              <a:rPr lang="en-US" altLang="en-US" sz="1000" smtClean="0"/>
              <a:pPr/>
              <a:t>31</a:t>
            </a:fld>
            <a:endParaRPr lang="en-US" altLang="en-US" sz="100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ChangeArrowheads="1" noTextEdit="1"/>
          </p:cNvSpPr>
          <p:nvPr>
            <p:ph type="sldImg"/>
          </p:nvPr>
        </p:nvSpPr>
        <p:spPr>
          <a:xfrm>
            <a:off x="1150938" y="692150"/>
            <a:ext cx="4556125" cy="3416300"/>
          </a:xfrm>
          <a:ln/>
        </p:spPr>
      </p:sp>
      <p:sp>
        <p:nvSpPr>
          <p:cNvPr id="36867" name="Notes Placeholder 2"/>
          <p:cNvSpPr>
            <a:spLocks noGrp="1" noChangeArrowheads="1"/>
          </p:cNvSpPr>
          <p:nvPr>
            <p:ph type="body" idx="1"/>
          </p:nvPr>
        </p:nvSpPr>
        <p:spPr>
          <a:noFill/>
        </p:spPr>
        <p:txBody>
          <a:bodyPr/>
          <a:lstStyle/>
          <a:p>
            <a:endParaRPr lang="en-US" altLang="en-US" smtClean="0"/>
          </a:p>
        </p:txBody>
      </p:sp>
      <p:sp>
        <p:nvSpPr>
          <p:cNvPr id="36868"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E18DB57-D1BE-439B-8299-7BFCDCD3533F}" type="slidenum">
              <a:rPr lang="en-US" altLang="en-US" sz="1000" smtClean="0"/>
              <a:pPr/>
              <a:t>32</a:t>
            </a:fld>
            <a:endParaRPr lang="en-US" altLang="en-US" sz="100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r>
              <a:rPr lang="tr-TR" dirty="0" smtClean="0"/>
              <a:t>-</a:t>
            </a:r>
            <a:r>
              <a:rPr lang="tr-TR" baseline="0" dirty="0" smtClean="0"/>
              <a:t> </a:t>
            </a:r>
            <a:r>
              <a:rPr lang="tr-TR" baseline="0" dirty="0" err="1" smtClean="0"/>
              <a:t>Continue</a:t>
            </a:r>
            <a:r>
              <a:rPr lang="tr-TR" baseline="0" dirty="0" smtClean="0"/>
              <a:t> </a:t>
            </a:r>
            <a:r>
              <a:rPr lang="tr-TR" baseline="0" dirty="0" err="1" smtClean="0"/>
              <a:t>with</a:t>
            </a:r>
            <a:r>
              <a:rPr lang="tr-TR" baseline="0" dirty="0" smtClean="0"/>
              <a:t> </a:t>
            </a:r>
            <a:r>
              <a:rPr lang="tr-TR" baseline="0" dirty="0" err="1" smtClean="0"/>
              <a:t>next</a:t>
            </a:r>
            <a:r>
              <a:rPr lang="tr-TR" baseline="0" dirty="0" smtClean="0"/>
              <a:t> 2 </a:t>
            </a:r>
            <a:r>
              <a:rPr lang="tr-TR" baseline="0" dirty="0" err="1" smtClean="0"/>
              <a:t>slides</a:t>
            </a:r>
            <a:r>
              <a:rPr lang="tr-TR" baseline="0" dirty="0" smtClean="0"/>
              <a:t>, </a:t>
            </a:r>
            <a:r>
              <a:rPr lang="tr-TR" baseline="0" dirty="0" err="1" smtClean="0"/>
              <a:t>then</a:t>
            </a:r>
            <a:r>
              <a:rPr lang="tr-TR" baseline="0" dirty="0" smtClean="0"/>
              <a:t> </a:t>
            </a:r>
            <a:r>
              <a:rPr lang="tr-TR" baseline="0" dirty="0" err="1" smtClean="0"/>
              <a:t>turn</a:t>
            </a:r>
            <a:r>
              <a:rPr lang="tr-TR" baseline="0" dirty="0" smtClean="0"/>
              <a:t> </a:t>
            </a:r>
            <a:r>
              <a:rPr lang="tr-TR" baseline="0" dirty="0" err="1" smtClean="0"/>
              <a:t>back</a:t>
            </a:r>
            <a:r>
              <a:rPr lang="tr-TR" baseline="0" dirty="0" smtClean="0"/>
              <a:t> here </a:t>
            </a:r>
            <a:r>
              <a:rPr lang="tr-TR" baseline="0" dirty="0" err="1" smtClean="0"/>
              <a:t>and</a:t>
            </a:r>
            <a:r>
              <a:rPr lang="tr-TR" baseline="0" dirty="0" smtClean="0"/>
              <a:t> </a:t>
            </a:r>
            <a:r>
              <a:rPr lang="tr-TR" baseline="0" dirty="0" err="1" smtClean="0"/>
              <a:t>click</a:t>
            </a:r>
            <a:r>
              <a:rPr lang="tr-TR" baseline="0" dirty="0" smtClean="0"/>
              <a:t> on DEMO CODE. Ask </a:t>
            </a:r>
            <a:r>
              <a:rPr lang="tr-TR" baseline="0" dirty="0" err="1" smtClean="0"/>
              <a:t>students</a:t>
            </a:r>
            <a:r>
              <a:rPr lang="tr-TR" baseline="0" dirty="0" smtClean="0"/>
              <a:t> </a:t>
            </a:r>
            <a:r>
              <a:rPr lang="tr-TR" baseline="0" dirty="0" err="1" smtClean="0"/>
              <a:t>what</a:t>
            </a:r>
            <a:r>
              <a:rPr lang="tr-TR" baseline="0" dirty="0" smtClean="0"/>
              <a:t> </a:t>
            </a:r>
            <a:r>
              <a:rPr lang="tr-TR" baseline="0" dirty="0" err="1" smtClean="0"/>
              <a:t>this</a:t>
            </a:r>
            <a:r>
              <a:rPr lang="tr-TR" baseline="0" dirty="0" smtClean="0"/>
              <a:t> </a:t>
            </a:r>
            <a:r>
              <a:rPr lang="tr-TR" baseline="0" dirty="0" err="1" smtClean="0"/>
              <a:t>code</a:t>
            </a:r>
            <a:r>
              <a:rPr lang="tr-TR" baseline="0" dirty="0" smtClean="0"/>
              <a:t> </a:t>
            </a:r>
            <a:r>
              <a:rPr lang="tr-TR" baseline="0" dirty="0" err="1" smtClean="0"/>
              <a:t>does</a:t>
            </a:r>
            <a:r>
              <a:rPr lang="tr-TR" baseline="0" dirty="0" smtClean="0"/>
              <a:t>.</a:t>
            </a:r>
            <a:endParaRPr lang="en-US" dirty="0"/>
          </a:p>
        </p:txBody>
      </p:sp>
      <p:sp>
        <p:nvSpPr>
          <p:cNvPr id="4" name="Slide Number Placeholder 3"/>
          <p:cNvSpPr>
            <a:spLocks noGrp="1"/>
          </p:cNvSpPr>
          <p:nvPr>
            <p:ph type="sldNum" sz="quarter" idx="10"/>
          </p:nvPr>
        </p:nvSpPr>
        <p:spPr/>
        <p:txBody>
          <a:bodyPr/>
          <a:lstStyle/>
          <a:p>
            <a:pPr>
              <a:defRPr/>
            </a:pPr>
            <a:fld id="{0FA892E2-48B9-467E-A448-2B0260CA5179}" type="slidenum">
              <a:rPr lang="en-US" altLang="en-US" smtClean="0"/>
              <a:pPr>
                <a:defRPr/>
              </a:pPr>
              <a:t>34</a:t>
            </a:fld>
            <a:endParaRPr lang="en-US" altLang="en-US"/>
          </a:p>
        </p:txBody>
      </p:sp>
    </p:spTree>
    <p:extLst>
      <p:ext uri="{BB962C8B-B14F-4D97-AF65-F5344CB8AC3E}">
        <p14:creationId xmlns:p14="http://schemas.microsoft.com/office/powerpoint/2010/main" val="37611778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FA892E2-48B9-467E-A448-2B0260CA5179}" type="slidenum">
              <a:rPr lang="en-US" altLang="en-US" smtClean="0"/>
              <a:pPr>
                <a:defRPr/>
              </a:pPr>
              <a:t>35</a:t>
            </a:fld>
            <a:endParaRPr lang="en-US" altLang="en-US"/>
          </a:p>
        </p:txBody>
      </p:sp>
    </p:spTree>
    <p:extLst>
      <p:ext uri="{BB962C8B-B14F-4D97-AF65-F5344CB8AC3E}">
        <p14:creationId xmlns:p14="http://schemas.microsoft.com/office/powerpoint/2010/main" val="9391085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tr-TR" dirty="0" smtClean="0"/>
              <a:t>-</a:t>
            </a:r>
            <a:r>
              <a:rPr lang="tr-TR" baseline="0" dirty="0" smtClean="0"/>
              <a:t> </a:t>
            </a:r>
            <a:r>
              <a:rPr lang="tr-TR" baseline="0" dirty="0" err="1" smtClean="0"/>
              <a:t>Go</a:t>
            </a:r>
            <a:r>
              <a:rPr lang="tr-TR" baseline="0" dirty="0" smtClean="0"/>
              <a:t> 2 </a:t>
            </a:r>
            <a:r>
              <a:rPr lang="tr-TR" baseline="0" dirty="0" err="1" smtClean="0"/>
              <a:t>slides</a:t>
            </a:r>
            <a:r>
              <a:rPr lang="tr-TR" baseline="0" dirty="0" smtClean="0"/>
              <a:t> </a:t>
            </a:r>
            <a:r>
              <a:rPr lang="tr-TR" baseline="0" dirty="0" err="1" smtClean="0"/>
              <a:t>back</a:t>
            </a:r>
            <a:r>
              <a:rPr lang="tr-TR" baseline="0" dirty="0" smtClean="0"/>
              <a:t>, </a:t>
            </a:r>
            <a:r>
              <a:rPr lang="tr-TR" baseline="0" dirty="0" err="1" smtClean="0"/>
              <a:t>then</a:t>
            </a:r>
            <a:r>
              <a:rPr lang="tr-TR" baseline="0" dirty="0" smtClean="0"/>
              <a:t> </a:t>
            </a:r>
            <a:r>
              <a:rPr lang="tr-TR" baseline="0" dirty="0" err="1" smtClean="0"/>
              <a:t>click</a:t>
            </a:r>
            <a:r>
              <a:rPr lang="tr-TR" baseline="0" dirty="0" smtClean="0"/>
              <a:t> on DEMO CODE. Ask </a:t>
            </a:r>
            <a:r>
              <a:rPr lang="tr-TR" baseline="0" dirty="0" err="1" smtClean="0"/>
              <a:t>students</a:t>
            </a:r>
            <a:r>
              <a:rPr lang="tr-TR" baseline="0" dirty="0" smtClean="0"/>
              <a:t> </a:t>
            </a:r>
            <a:r>
              <a:rPr lang="tr-TR" baseline="0" dirty="0" err="1" smtClean="0"/>
              <a:t>what</a:t>
            </a:r>
            <a:r>
              <a:rPr lang="tr-TR" baseline="0" dirty="0" smtClean="0"/>
              <a:t> </a:t>
            </a:r>
            <a:r>
              <a:rPr lang="tr-TR" baseline="0" dirty="0" err="1" smtClean="0"/>
              <a:t>this</a:t>
            </a:r>
            <a:r>
              <a:rPr lang="tr-TR" baseline="0" dirty="0" smtClean="0"/>
              <a:t> </a:t>
            </a:r>
            <a:r>
              <a:rPr lang="tr-TR" baseline="0" dirty="0" err="1" smtClean="0"/>
              <a:t>code</a:t>
            </a:r>
            <a:r>
              <a:rPr lang="tr-TR" baseline="0" dirty="0" smtClean="0"/>
              <a:t> </a:t>
            </a:r>
            <a:r>
              <a:rPr lang="tr-TR" baseline="0" dirty="0" err="1" smtClean="0"/>
              <a:t>does</a:t>
            </a:r>
            <a:r>
              <a:rPr lang="tr-TR" baseline="0" dirty="0" smtClean="0"/>
              <a:t>.</a:t>
            </a:r>
            <a:endParaRPr lang="en-US" dirty="0" smtClean="0"/>
          </a:p>
        </p:txBody>
      </p:sp>
      <p:sp>
        <p:nvSpPr>
          <p:cNvPr id="4" name="Slide Number Placeholder 3"/>
          <p:cNvSpPr>
            <a:spLocks noGrp="1"/>
          </p:cNvSpPr>
          <p:nvPr>
            <p:ph type="sldNum" sz="quarter" idx="10"/>
          </p:nvPr>
        </p:nvSpPr>
        <p:spPr/>
        <p:txBody>
          <a:bodyPr/>
          <a:lstStyle/>
          <a:p>
            <a:pPr>
              <a:defRPr/>
            </a:pPr>
            <a:fld id="{0FA892E2-48B9-467E-A448-2B0260CA5179}" type="slidenum">
              <a:rPr lang="en-US" altLang="en-US" smtClean="0"/>
              <a:pPr>
                <a:defRPr/>
              </a:pPr>
              <a:t>36</a:t>
            </a:fld>
            <a:endParaRPr lang="en-US" altLang="en-US"/>
          </a:p>
        </p:txBody>
      </p:sp>
    </p:spTree>
    <p:extLst>
      <p:ext uri="{BB962C8B-B14F-4D97-AF65-F5344CB8AC3E}">
        <p14:creationId xmlns:p14="http://schemas.microsoft.com/office/powerpoint/2010/main" val="42780206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ChangeArrowheads="1" noTextEdit="1"/>
          </p:cNvSpPr>
          <p:nvPr>
            <p:ph type="sldImg"/>
          </p:nvPr>
        </p:nvSpPr>
        <p:spPr>
          <a:xfrm>
            <a:off x="1150938" y="692150"/>
            <a:ext cx="4556125" cy="3416300"/>
          </a:xfrm>
          <a:ln/>
        </p:spPr>
      </p:sp>
      <p:sp>
        <p:nvSpPr>
          <p:cNvPr id="43011" name="Notes Placeholder 2"/>
          <p:cNvSpPr>
            <a:spLocks noGrp="1" noChangeArrowheads="1"/>
          </p:cNvSpPr>
          <p:nvPr>
            <p:ph type="body" idx="1"/>
          </p:nvPr>
        </p:nvSpPr>
        <p:spPr>
          <a:noFill/>
        </p:spPr>
        <p:txBody>
          <a:bodyPr/>
          <a:lstStyle/>
          <a:p>
            <a:pPr marL="171450" indent="-171450">
              <a:buFontTx/>
              <a:buChar char="-"/>
            </a:pPr>
            <a:r>
              <a:rPr lang="en-US" altLang="en-US" smtClean="0"/>
              <a:t>The compiler treats a lambda expression as if it is an object created from an anonymous inner class. </a:t>
            </a:r>
          </a:p>
          <a:p>
            <a:pPr marL="171450" indent="-171450">
              <a:buFontTx/>
              <a:buChar char="-"/>
            </a:pPr>
            <a:r>
              <a:rPr lang="en-US" altLang="en-US" smtClean="0"/>
              <a:t>In this case, the compiler understands that the object must be an instance of </a:t>
            </a:r>
            <a:r>
              <a:rPr lang="en-US" altLang="en-US" b="1" smtClean="0"/>
              <a:t>EventHandler&lt;ActionEvent&gt;</a:t>
            </a:r>
            <a:r>
              <a:rPr lang="en-US" altLang="en-US" smtClean="0"/>
              <a:t>. </a:t>
            </a:r>
          </a:p>
          <a:p>
            <a:pPr marL="171450" indent="-171450">
              <a:buFontTx/>
              <a:buChar char="-"/>
            </a:pPr>
            <a:r>
              <a:rPr lang="en-US" altLang="en-US" smtClean="0"/>
              <a:t>Since the </a:t>
            </a:r>
            <a:r>
              <a:rPr lang="en-US" altLang="en-US" b="1" smtClean="0"/>
              <a:t>EventHandler </a:t>
            </a:r>
            <a:r>
              <a:rPr lang="en-US" altLang="en-US" smtClean="0"/>
              <a:t>interface defines the </a:t>
            </a:r>
            <a:r>
              <a:rPr lang="en-US" altLang="en-US" b="1" smtClean="0"/>
              <a:t>handle </a:t>
            </a:r>
            <a:r>
              <a:rPr lang="en-US" altLang="en-US" smtClean="0"/>
              <a:t>method with a parameter of the </a:t>
            </a:r>
            <a:r>
              <a:rPr lang="en-US" altLang="en-US" b="1" smtClean="0"/>
              <a:t>ActionEvent </a:t>
            </a:r>
            <a:r>
              <a:rPr lang="en-US" altLang="en-US" smtClean="0"/>
              <a:t>type, the compiler automatically recognizes that </a:t>
            </a:r>
            <a:r>
              <a:rPr lang="en-US" altLang="en-US" b="1" smtClean="0"/>
              <a:t>e </a:t>
            </a:r>
            <a:r>
              <a:rPr lang="en-US" altLang="en-US" smtClean="0"/>
              <a:t>is a parameter of the </a:t>
            </a:r>
            <a:r>
              <a:rPr lang="en-US" altLang="en-US" b="1" smtClean="0"/>
              <a:t>ActionEvent </a:t>
            </a:r>
            <a:r>
              <a:rPr lang="en-US" altLang="en-US" smtClean="0"/>
              <a:t>type, and the statements are for the body of the </a:t>
            </a:r>
            <a:r>
              <a:rPr lang="en-US" altLang="en-US" b="1" smtClean="0"/>
              <a:t>handle </a:t>
            </a:r>
            <a:r>
              <a:rPr lang="en-US" altLang="en-US" smtClean="0"/>
              <a:t>method. </a:t>
            </a:r>
          </a:p>
          <a:p>
            <a:pPr marL="171450" indent="-171450">
              <a:buFontTx/>
              <a:buChar char="-"/>
            </a:pPr>
            <a:r>
              <a:rPr lang="en-US" altLang="en-US" smtClean="0"/>
              <a:t>The </a:t>
            </a:r>
            <a:r>
              <a:rPr lang="en-US" altLang="en-US" b="1" smtClean="0"/>
              <a:t>EventHandler </a:t>
            </a:r>
            <a:r>
              <a:rPr lang="en-US" altLang="en-US" smtClean="0"/>
              <a:t>interface contains just one method. </a:t>
            </a:r>
            <a:br>
              <a:rPr lang="en-US" altLang="en-US" smtClean="0"/>
            </a:br>
            <a:endParaRPr lang="en-US" altLang="en-US" smtClean="0"/>
          </a:p>
        </p:txBody>
      </p:sp>
      <p:sp>
        <p:nvSpPr>
          <p:cNvPr id="43012"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D9482861-BFFD-48AE-BA63-C31228DC5A93}" type="slidenum">
              <a:rPr lang="en-US" altLang="en-US" sz="1000" smtClean="0"/>
              <a:pPr/>
              <a:t>40</a:t>
            </a:fld>
            <a:endParaRPr lang="en-US" altLang="en-US" sz="100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ChangeArrowheads="1" noTextEdit="1"/>
          </p:cNvSpPr>
          <p:nvPr>
            <p:ph type="sldImg"/>
          </p:nvPr>
        </p:nvSpPr>
        <p:spPr>
          <a:xfrm>
            <a:off x="1150938" y="692150"/>
            <a:ext cx="4556125" cy="3416300"/>
          </a:xfrm>
          <a:ln/>
        </p:spPr>
      </p:sp>
      <p:sp>
        <p:nvSpPr>
          <p:cNvPr id="45059" name="Notes Placeholder 2"/>
          <p:cNvSpPr>
            <a:spLocks noGrp="1" noChangeArrowheads="1"/>
          </p:cNvSpPr>
          <p:nvPr>
            <p:ph type="body" idx="1"/>
          </p:nvPr>
        </p:nvSpPr>
        <p:spPr>
          <a:noFill/>
        </p:spPr>
        <p:txBody>
          <a:bodyPr/>
          <a:lstStyle/>
          <a:p>
            <a:r>
              <a:rPr lang="en-US" altLang="en-US" smtClean="0"/>
              <a:t/>
            </a:r>
            <a:br>
              <a:rPr lang="en-US" altLang="en-US" smtClean="0"/>
            </a:br>
            <a:endParaRPr lang="en-US" altLang="en-US" smtClean="0"/>
          </a:p>
        </p:txBody>
      </p:sp>
      <p:sp>
        <p:nvSpPr>
          <p:cNvPr id="45060"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BBFED7F8-E25E-415C-8533-8AF5ED692621}" type="slidenum">
              <a:rPr lang="en-US" altLang="en-US" sz="1000" smtClean="0"/>
              <a:pPr/>
              <a:t>41</a:t>
            </a:fld>
            <a:endParaRPr lang="en-US" altLang="en-US" sz="100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ChangeArrowheads="1" noTextEdit="1"/>
          </p:cNvSpPr>
          <p:nvPr>
            <p:ph type="sldImg"/>
          </p:nvPr>
        </p:nvSpPr>
        <p:spPr>
          <a:xfrm>
            <a:off x="1150938" y="692150"/>
            <a:ext cx="4556125" cy="3416300"/>
          </a:xfrm>
          <a:ln/>
        </p:spPr>
      </p:sp>
      <p:sp>
        <p:nvSpPr>
          <p:cNvPr id="48131" name="Notes Placeholder 2"/>
          <p:cNvSpPr>
            <a:spLocks noGrp="1" noChangeArrowheads="1"/>
          </p:cNvSpPr>
          <p:nvPr>
            <p:ph type="body" idx="1"/>
          </p:nvPr>
        </p:nvSpPr>
        <p:spPr>
          <a:noFill/>
        </p:spPr>
        <p:txBody>
          <a:bodyPr/>
          <a:lstStyle/>
          <a:p>
            <a:pPr marL="171450" indent="-171450">
              <a:buFontTx/>
              <a:buChar char="-"/>
            </a:pPr>
            <a:r>
              <a:rPr lang="en-US" altLang="en-US" smtClean="0"/>
              <a:t>You can handle events by defining handler classes using </a:t>
            </a:r>
            <a:r>
              <a:rPr lang="en-US" altLang="en-US" b="1" smtClean="0"/>
              <a:t>inner classes</a:t>
            </a:r>
            <a:r>
              <a:rPr lang="en-US" altLang="en-US" smtClean="0"/>
              <a:t>, </a:t>
            </a:r>
            <a:r>
              <a:rPr lang="en-US" altLang="en-US" b="1" smtClean="0"/>
              <a:t>anonymous inner classes</a:t>
            </a:r>
            <a:r>
              <a:rPr lang="en-US" altLang="en-US" smtClean="0"/>
              <a:t>, </a:t>
            </a:r>
            <a:r>
              <a:rPr lang="en-US" altLang="en-US" b="1" smtClean="0"/>
              <a:t>or lambda expressions</a:t>
            </a:r>
            <a:r>
              <a:rPr lang="en-US" altLang="en-US" smtClean="0"/>
              <a:t>. </a:t>
            </a:r>
          </a:p>
          <a:p>
            <a:pPr marL="171450" indent="-171450">
              <a:buFontTx/>
              <a:buChar char="-"/>
            </a:pPr>
            <a:r>
              <a:rPr lang="en-US" altLang="en-US" smtClean="0"/>
              <a:t>We recommend that you use lambda expressions because it produces a shorter, clearer, and cleaner code. </a:t>
            </a:r>
            <a:br>
              <a:rPr lang="en-US" altLang="en-US" smtClean="0"/>
            </a:br>
            <a:endParaRPr lang="en-US" altLang="en-US" smtClean="0"/>
          </a:p>
        </p:txBody>
      </p:sp>
      <p:sp>
        <p:nvSpPr>
          <p:cNvPr id="48132"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99D31374-8EC7-4015-863F-076108ABED41}" type="slidenum">
              <a:rPr lang="en-US" altLang="en-US" sz="1000" smtClean="0"/>
              <a:pPr/>
              <a:t>43</a:t>
            </a:fld>
            <a:endParaRPr lang="en-US" altLang="en-US" sz="100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ayt Resmi Yer Tutucusu 1"/>
          <p:cNvSpPr>
            <a:spLocks noGrp="1" noRot="1" noChangeAspect="1" noChangeArrowheads="1" noTextEdit="1"/>
          </p:cNvSpPr>
          <p:nvPr>
            <p:ph type="sldImg"/>
          </p:nvPr>
        </p:nvSpPr>
        <p:spPr>
          <a:xfrm>
            <a:off x="1150938" y="692150"/>
            <a:ext cx="4556125" cy="3416300"/>
          </a:xfrm>
          <a:ln/>
        </p:spPr>
      </p:sp>
      <p:sp>
        <p:nvSpPr>
          <p:cNvPr id="50179" name="Not Yer Tutucusu 2"/>
          <p:cNvSpPr>
            <a:spLocks noGrp="1" noChangeArrowheads="1"/>
          </p:cNvSpPr>
          <p:nvPr>
            <p:ph type="body" idx="1"/>
          </p:nvPr>
        </p:nvSpPr>
        <p:spPr>
          <a:noFill/>
        </p:spPr>
        <p:txBody>
          <a:bodyPr/>
          <a:lstStyle/>
          <a:p>
            <a:r>
              <a:rPr lang="en-US" altLang="en-US" smtClean="0"/>
              <a:t>- Left to PS.</a:t>
            </a:r>
          </a:p>
        </p:txBody>
      </p:sp>
      <p:sp>
        <p:nvSpPr>
          <p:cNvPr id="50180" name="Slayt Numarası Yer Tutucusu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3DBBBDC-7F2E-4503-8036-E5ECE52E5DA9}" type="slidenum">
              <a:rPr lang="en-US" altLang="en-US" sz="1000" smtClean="0"/>
              <a:pPr/>
              <a:t>46</a:t>
            </a:fld>
            <a:endParaRPr lang="en-US" altLang="en-US" sz="100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pPr marL="171450" indent="-171450">
              <a:buFontTx/>
              <a:buChar char="-"/>
            </a:pPr>
            <a:r>
              <a:rPr lang="en-US" noProof="1" smtClean="0"/>
              <a:t>Every key event has an associated code that is returned by the </a:t>
            </a:r>
            <a:r>
              <a:rPr lang="en-US" b="1" noProof="1" smtClean="0"/>
              <a:t>getCode()</a:t>
            </a:r>
            <a:r>
              <a:rPr lang="en-US" noProof="1" smtClean="0"/>
              <a:t> method in </a:t>
            </a:r>
            <a:r>
              <a:rPr lang="en-US" b="1" noProof="1" smtClean="0"/>
              <a:t>KeyEvent</a:t>
            </a:r>
            <a:r>
              <a:rPr lang="en-US" noProof="1" smtClean="0"/>
              <a:t>.</a:t>
            </a:r>
          </a:p>
          <a:p>
            <a:pPr marL="171450" indent="-171450">
              <a:buFontTx/>
              <a:buChar char="-"/>
            </a:pPr>
            <a:r>
              <a:rPr lang="en-US" noProof="1" smtClean="0"/>
              <a:t>The</a:t>
            </a:r>
            <a:r>
              <a:rPr lang="en-US" baseline="0" noProof="1" smtClean="0"/>
              <a:t> </a:t>
            </a:r>
            <a:r>
              <a:rPr lang="en-US" i="1" baseline="0" noProof="1" smtClean="0"/>
              <a:t>key codes</a:t>
            </a:r>
            <a:r>
              <a:rPr lang="en-US" baseline="0" noProof="1" smtClean="0"/>
              <a:t> are constants defined  in </a:t>
            </a:r>
            <a:r>
              <a:rPr lang="en-US" b="1" baseline="0" noProof="1" smtClean="0"/>
              <a:t>KeyCode</a:t>
            </a:r>
            <a:r>
              <a:rPr lang="en-US" baseline="0" noProof="1" smtClean="0"/>
              <a:t>.</a:t>
            </a:r>
          </a:p>
          <a:p>
            <a:pPr marL="171450" indent="-171450">
              <a:buFontTx/>
              <a:buChar char="-"/>
            </a:pPr>
            <a:r>
              <a:rPr lang="en-US" baseline="0" noProof="1" smtClean="0"/>
              <a:t>For the key-pressed and key-released  events,</a:t>
            </a:r>
          </a:p>
          <a:p>
            <a:pPr marL="628650" lvl="1" indent="-171450">
              <a:buFontTx/>
              <a:buChar char="-"/>
            </a:pPr>
            <a:r>
              <a:rPr lang="en-US" baseline="0" noProof="1" smtClean="0"/>
              <a:t>getCode() returns the value as defined in the table,</a:t>
            </a:r>
          </a:p>
          <a:p>
            <a:pPr marL="628650" lvl="1" indent="-171450">
              <a:buFontTx/>
              <a:buChar char="-"/>
            </a:pPr>
            <a:r>
              <a:rPr lang="en-US" baseline="0" noProof="1" smtClean="0"/>
              <a:t>getText() returns a string that describes the key code, and</a:t>
            </a:r>
          </a:p>
          <a:p>
            <a:pPr marL="628650" lvl="1" indent="-171450">
              <a:buFontTx/>
              <a:buChar char="-"/>
            </a:pPr>
            <a:r>
              <a:rPr lang="en-US" baseline="0" noProof="1" smtClean="0"/>
              <a:t>getCharacter() returns an empty string.</a:t>
            </a:r>
          </a:p>
          <a:p>
            <a:pPr marL="171450" indent="-171450">
              <a:buFontTx/>
              <a:buChar char="-"/>
            </a:pPr>
            <a:r>
              <a:rPr lang="en-US" baseline="0" noProof="1" smtClean="0"/>
              <a:t>For the key-typed event,</a:t>
            </a:r>
          </a:p>
          <a:p>
            <a:pPr marL="628650" lvl="1" indent="-171450">
              <a:buFontTx/>
              <a:buChar char="-"/>
            </a:pPr>
            <a:r>
              <a:rPr lang="en-US" baseline="0" noProof="1" smtClean="0"/>
              <a:t>getCode() returns UNDEFINED, and</a:t>
            </a:r>
          </a:p>
          <a:p>
            <a:pPr marL="628650" lvl="1" indent="-171450">
              <a:buFontTx/>
              <a:buChar char="-"/>
            </a:pPr>
            <a:r>
              <a:rPr lang="en-US" baseline="0" noProof="1" smtClean="0"/>
              <a:t>getCharacter() returns the Unicode character or a sequence of characters associated with the key-typed event.</a:t>
            </a:r>
          </a:p>
        </p:txBody>
      </p:sp>
      <p:sp>
        <p:nvSpPr>
          <p:cNvPr id="4" name="Slide Number Placeholder 3"/>
          <p:cNvSpPr>
            <a:spLocks noGrp="1"/>
          </p:cNvSpPr>
          <p:nvPr>
            <p:ph type="sldNum" sz="quarter" idx="10"/>
          </p:nvPr>
        </p:nvSpPr>
        <p:spPr/>
        <p:txBody>
          <a:bodyPr/>
          <a:lstStyle/>
          <a:p>
            <a:pPr>
              <a:defRPr/>
            </a:pPr>
            <a:fld id="{0FA892E2-48B9-467E-A448-2B0260CA5179}" type="slidenum">
              <a:rPr lang="en-US" altLang="en-US" smtClean="0"/>
              <a:pPr>
                <a:defRPr/>
              </a:pPr>
              <a:t>51</a:t>
            </a:fld>
            <a:endParaRPr lang="en-US" altLang="en-US"/>
          </a:p>
        </p:txBody>
      </p:sp>
    </p:spTree>
    <p:extLst>
      <p:ext uri="{BB962C8B-B14F-4D97-AF65-F5344CB8AC3E}">
        <p14:creationId xmlns:p14="http://schemas.microsoft.com/office/powerpoint/2010/main" val="558805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ChangeArrowheads="1" noTextEdit="1"/>
          </p:cNvSpPr>
          <p:nvPr>
            <p:ph type="sldImg"/>
          </p:nvPr>
        </p:nvSpPr>
        <p:spPr>
          <a:xfrm>
            <a:off x="1150938" y="692150"/>
            <a:ext cx="4556125" cy="3416300"/>
          </a:xfrm>
          <a:ln/>
        </p:spPr>
      </p:sp>
      <p:sp>
        <p:nvSpPr>
          <p:cNvPr id="56323" name="Notes Placeholder 2"/>
          <p:cNvSpPr>
            <a:spLocks noGrp="1" noChangeArrowheads="1"/>
          </p:cNvSpPr>
          <p:nvPr>
            <p:ph type="body" idx="1"/>
          </p:nvPr>
        </p:nvSpPr>
        <p:spPr>
          <a:noFill/>
        </p:spPr>
        <p:txBody>
          <a:bodyPr/>
          <a:lstStyle/>
          <a:p>
            <a:pPr marL="171450" indent="-171450">
              <a:buFontTx/>
              <a:buChar char="-"/>
            </a:pPr>
            <a:r>
              <a:rPr lang="en-US" altLang="en-US" smtClean="0"/>
              <a:t>Only a focused node can receive </a:t>
            </a:r>
            <a:r>
              <a:rPr lang="en-US" altLang="en-US" b="1" smtClean="0"/>
              <a:t>KeyEvent</a:t>
            </a:r>
            <a:r>
              <a:rPr lang="en-US" altLang="en-US" smtClean="0"/>
              <a:t>. </a:t>
            </a:r>
          </a:p>
          <a:p>
            <a:pPr marL="171450" indent="-171450">
              <a:buFontTx/>
              <a:buChar char="-"/>
            </a:pPr>
            <a:r>
              <a:rPr lang="en-US" altLang="en-US" smtClean="0"/>
              <a:t>Invoking </a:t>
            </a:r>
            <a:r>
              <a:rPr lang="en-US" altLang="en-US" b="1" smtClean="0">
                <a:solidFill>
                  <a:srgbClr val="000000"/>
                </a:solidFill>
                <a:latin typeface="Courier New" panose="02070309020205020404" pitchFamily="49" charset="0"/>
              </a:rPr>
              <a:t>setFocusTraversable(true) </a:t>
            </a:r>
            <a:r>
              <a:rPr lang="en-US" altLang="en-US" smtClean="0">
                <a:solidFill>
                  <a:srgbClr val="000000"/>
                </a:solidFill>
                <a:latin typeface="Courier New" panose="02070309020205020404" pitchFamily="49" charset="0"/>
              </a:rPr>
              <a:t>enables text to receive key input.</a:t>
            </a:r>
            <a:r>
              <a:rPr lang="en-US" altLang="en-US" smtClean="0"/>
              <a:t/>
            </a:r>
            <a:br>
              <a:rPr lang="en-US" altLang="en-US" smtClean="0"/>
            </a:br>
            <a:endParaRPr lang="en-US" altLang="en-US" smtClean="0"/>
          </a:p>
        </p:txBody>
      </p:sp>
      <p:sp>
        <p:nvSpPr>
          <p:cNvPr id="56324"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5096629B-4E89-4447-ADDD-E67BA0C69F1F}" type="slidenum">
              <a:rPr lang="en-US" altLang="en-US" sz="1000" smtClean="0"/>
              <a:pPr/>
              <a:t>53</a:t>
            </a:fld>
            <a:endParaRPr lang="en-US" altLang="en-US" sz="100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0FA892E2-48B9-467E-A448-2B0260CA5179}" type="slidenum">
              <a:rPr lang="en-US" altLang="en-US" smtClean="0"/>
              <a:pPr>
                <a:defRPr/>
              </a:pPr>
              <a:t>55</a:t>
            </a:fld>
            <a:endParaRPr lang="en-US" altLang="en-US"/>
          </a:p>
        </p:txBody>
      </p:sp>
    </p:spTree>
    <p:extLst>
      <p:ext uri="{BB962C8B-B14F-4D97-AF65-F5344CB8AC3E}">
        <p14:creationId xmlns:p14="http://schemas.microsoft.com/office/powerpoint/2010/main" val="8870268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A0BE7007-17F5-4622-AC7F-A0BD1DDB4335}" type="slidenum">
              <a:rPr lang="en-US" altLang="en-US" sz="1000" smtClean="0"/>
              <a:pPr/>
              <a:t>57</a:t>
            </a:fld>
            <a:endParaRPr lang="en-US" altLang="en-US" sz="1000" smtClean="0"/>
          </a:p>
        </p:txBody>
      </p:sp>
      <p:sp>
        <p:nvSpPr>
          <p:cNvPr id="60419" name="Rectangle 2"/>
          <p:cNvSpPr>
            <a:spLocks noGrp="1" noRot="1" noChangeAspect="1" noChangeArrowheads="1" noTextEdit="1"/>
          </p:cNvSpPr>
          <p:nvPr>
            <p:ph type="sldImg"/>
          </p:nvPr>
        </p:nvSpPr>
        <p:spPr>
          <a:xfrm>
            <a:off x="1150938" y="692150"/>
            <a:ext cx="4556125" cy="3416300"/>
          </a:xfrm>
          <a:ln cap="flat"/>
        </p:spPr>
      </p:sp>
      <p:sp>
        <p:nvSpPr>
          <p:cNvPr id="60420" name="Rectangle 3"/>
          <p:cNvSpPr>
            <a:spLocks noGrp="1" noChangeArrowheads="1"/>
          </p:cNvSpPr>
          <p:nvPr>
            <p:ph type="body" idx="1"/>
          </p:nvPr>
        </p:nvSpPr>
        <p:spPr>
          <a:noFill/>
        </p:spPr>
        <p:txBody>
          <a:bodyPr/>
          <a:lstStyle/>
          <a:p>
            <a:pPr marL="171450" indent="-171450">
              <a:buFontTx/>
              <a:buChar char="-"/>
            </a:pPr>
            <a:r>
              <a:rPr lang="en-US" altLang="en-US" noProof="1" smtClean="0"/>
              <a:t>Click on ObservablePropertyDemo</a:t>
            </a:r>
            <a:r>
              <a:rPr lang="en-US" altLang="en-US" baseline="0" noProof="1" smtClean="0"/>
              <a:t> and explain the code</a:t>
            </a:r>
            <a:endParaRPr lang="en-US" altLang="en-US" noProof="1" smtClean="0"/>
          </a:p>
          <a:p>
            <a:pPr marL="171450" indent="-171450">
              <a:buFontTx/>
              <a:buChar char="-"/>
            </a:pPr>
            <a:r>
              <a:rPr lang="en-US" altLang="en-US" noProof="1" smtClean="0"/>
              <a:t>Click  on DisplayResizableClock and explain the code</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4C27CEE-9E4B-44A9-B2B4-0287E31DAFFD}" type="slidenum">
              <a:rPr lang="en-US" altLang="en-US" sz="1000" smtClean="0"/>
              <a:pPr/>
              <a:t>58</a:t>
            </a:fld>
            <a:endParaRPr lang="en-US" altLang="en-US" sz="1000" smtClean="0"/>
          </a:p>
        </p:txBody>
      </p:sp>
      <p:sp>
        <p:nvSpPr>
          <p:cNvPr id="62467" name="Rectangle 2"/>
          <p:cNvSpPr>
            <a:spLocks noGrp="1" noRot="1" noChangeAspect="1" noChangeArrowheads="1" noTextEdit="1"/>
          </p:cNvSpPr>
          <p:nvPr>
            <p:ph type="sldImg"/>
          </p:nvPr>
        </p:nvSpPr>
        <p:spPr>
          <a:xfrm>
            <a:off x="1150938" y="692150"/>
            <a:ext cx="4556125" cy="3416300"/>
          </a:xfrm>
          <a:ln cap="flat"/>
        </p:spPr>
      </p:sp>
      <p:sp>
        <p:nvSpPr>
          <p:cNvPr id="62468" name="Rectangle 3"/>
          <p:cNvSpPr>
            <a:spLocks noGrp="1" noChangeArrowheads="1"/>
          </p:cNvSpPr>
          <p:nvPr>
            <p:ph type="body" idx="1"/>
          </p:nvPr>
        </p:nvSpPr>
        <p:spPr>
          <a:noFill/>
        </p:spPr>
        <p:txBody>
          <a:bodyPr/>
          <a:lstStyle/>
          <a:p>
            <a:pPr marL="171450" indent="-171450">
              <a:buFontTx/>
              <a:buChar char="-"/>
            </a:pPr>
            <a:r>
              <a:rPr lang="en-US" altLang="en-US" noProof="0" dirty="0" smtClean="0"/>
              <a:t>Y</a:t>
            </a:r>
            <a:r>
              <a:rPr lang="tr-TR" altLang="en-US" noProof="0" dirty="0" err="1" smtClean="0"/>
              <a:t>ou</a:t>
            </a:r>
            <a:r>
              <a:rPr lang="tr-TR" altLang="en-US" noProof="0" dirty="0" smtClean="0"/>
              <a:t> can</a:t>
            </a:r>
            <a:r>
              <a:rPr lang="tr-TR" altLang="en-US" baseline="0" noProof="0" dirty="0" smtClean="0"/>
              <a:t> </a:t>
            </a:r>
            <a:r>
              <a:rPr lang="tr-TR" altLang="en-US" baseline="0" noProof="0" dirty="0" err="1" smtClean="0"/>
              <a:t>use</a:t>
            </a:r>
            <a:r>
              <a:rPr lang="tr-TR" altLang="en-US" baseline="0" noProof="0" dirty="0" smtClean="0"/>
              <a:t> </a:t>
            </a:r>
            <a:r>
              <a:rPr lang="tr-TR" altLang="en-US" baseline="0" noProof="0" dirty="0" err="1" smtClean="0"/>
              <a:t>the</a:t>
            </a:r>
            <a:r>
              <a:rPr lang="tr-TR" altLang="en-US" baseline="0" noProof="0" dirty="0" smtClean="0"/>
              <a:t> </a:t>
            </a:r>
            <a:r>
              <a:rPr lang="tr-TR" altLang="en-US" baseline="0" noProof="0" dirty="0" err="1" smtClean="0"/>
              <a:t>constant</a:t>
            </a:r>
            <a:r>
              <a:rPr lang="tr-TR" altLang="en-US" baseline="0" noProof="0" dirty="0" smtClean="0"/>
              <a:t> </a:t>
            </a:r>
            <a:r>
              <a:rPr lang="tr-TR" altLang="en-US" baseline="0" noProof="0" dirty="0" err="1" smtClean="0"/>
              <a:t>Timeline.INDEFINITE</a:t>
            </a:r>
            <a:r>
              <a:rPr lang="tr-TR" altLang="en-US" baseline="0" noProof="0" dirty="0" smtClean="0"/>
              <a:t> </a:t>
            </a:r>
            <a:r>
              <a:rPr lang="tr-TR" altLang="en-US" baseline="0" noProof="0" dirty="0" err="1" smtClean="0"/>
              <a:t>to</a:t>
            </a:r>
            <a:r>
              <a:rPr lang="tr-TR" altLang="en-US" baseline="0" noProof="0" dirty="0" smtClean="0"/>
              <a:t> </a:t>
            </a:r>
            <a:r>
              <a:rPr lang="tr-TR" altLang="en-US" baseline="0" noProof="0" dirty="0" err="1" smtClean="0"/>
              <a:t>indicate</a:t>
            </a:r>
            <a:r>
              <a:rPr lang="tr-TR" altLang="en-US" baseline="0" noProof="0" dirty="0" smtClean="0"/>
              <a:t> an </a:t>
            </a:r>
            <a:r>
              <a:rPr lang="tr-TR" altLang="en-US" baseline="0" noProof="0" dirty="0" err="1" smtClean="0"/>
              <a:t>indefinite</a:t>
            </a:r>
            <a:r>
              <a:rPr lang="tr-TR" altLang="en-US" baseline="0" noProof="0" dirty="0" smtClean="0"/>
              <a:t> </a:t>
            </a:r>
            <a:r>
              <a:rPr lang="tr-TR" altLang="en-US" baseline="0" noProof="0" dirty="0" err="1" smtClean="0"/>
              <a:t>number</a:t>
            </a:r>
            <a:r>
              <a:rPr lang="tr-TR" altLang="en-US" baseline="0" noProof="0" dirty="0" smtClean="0"/>
              <a:t> of </a:t>
            </a:r>
            <a:r>
              <a:rPr lang="tr-TR" altLang="en-US" baseline="0" noProof="0" dirty="0" err="1" smtClean="0"/>
              <a:t>cycles</a:t>
            </a:r>
            <a:r>
              <a:rPr lang="tr-TR" altLang="en-US" baseline="0" noProof="0" dirty="0" smtClean="0"/>
              <a:t>.</a:t>
            </a:r>
          </a:p>
          <a:p>
            <a:pPr marL="171450" indent="-171450">
              <a:buFontTx/>
              <a:buChar char="-"/>
            </a:pPr>
            <a:r>
              <a:rPr lang="tr-TR" altLang="en-US" baseline="0" noProof="0" dirty="0" err="1" smtClean="0"/>
              <a:t>status</a:t>
            </a:r>
            <a:r>
              <a:rPr lang="tr-TR" altLang="en-US" baseline="0" noProof="0" dirty="0" smtClean="0"/>
              <a:t> -&gt; </a:t>
            </a:r>
            <a:r>
              <a:rPr lang="tr-TR" altLang="en-US" baseline="0" noProof="0" dirty="0" err="1" smtClean="0"/>
              <a:t>Animation.Status.PAUSED</a:t>
            </a:r>
            <a:r>
              <a:rPr lang="tr-TR" altLang="en-US" baseline="0" noProof="0" dirty="0" smtClean="0"/>
              <a:t>, </a:t>
            </a:r>
            <a:r>
              <a:rPr lang="tr-TR" altLang="en-US" baseline="0" noProof="0" dirty="0" err="1" smtClean="0"/>
              <a:t>Animation.Status.RUNNING</a:t>
            </a:r>
            <a:r>
              <a:rPr lang="tr-TR" altLang="en-US" baseline="0" noProof="0" dirty="0" smtClean="0"/>
              <a:t>, </a:t>
            </a:r>
            <a:r>
              <a:rPr lang="tr-TR" altLang="en-US" baseline="0" noProof="0" dirty="0" err="1" smtClean="0"/>
              <a:t>Animation.Status.STOPPED</a:t>
            </a:r>
            <a:endParaRPr lang="en-US" altLang="en-US" noProof="0" dirty="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ChangeArrowheads="1" noTextEdit="1"/>
          </p:cNvSpPr>
          <p:nvPr>
            <p:ph type="sldImg"/>
          </p:nvPr>
        </p:nvSpPr>
        <p:spPr>
          <a:xfrm>
            <a:off x="1150938" y="692150"/>
            <a:ext cx="4556125" cy="3416300"/>
          </a:xfrm>
          <a:ln/>
        </p:spPr>
      </p:sp>
      <p:sp>
        <p:nvSpPr>
          <p:cNvPr id="64515" name="Notes Placeholder 2"/>
          <p:cNvSpPr>
            <a:spLocks noGrp="1" noChangeArrowheads="1"/>
          </p:cNvSpPr>
          <p:nvPr>
            <p:ph type="body" idx="1"/>
          </p:nvPr>
        </p:nvSpPr>
        <p:spPr>
          <a:noFill/>
        </p:spPr>
        <p:txBody>
          <a:bodyPr/>
          <a:lstStyle/>
          <a:p>
            <a:pPr marL="171450" indent="-171450">
              <a:buFontTx/>
              <a:buChar char="-"/>
            </a:pPr>
            <a:r>
              <a:rPr lang="tr-TR" altLang="en-US" dirty="0" smtClean="0"/>
              <a:t>First, </a:t>
            </a:r>
            <a:r>
              <a:rPr lang="tr-TR" altLang="en-US" dirty="0" err="1" smtClean="0"/>
              <a:t>show</a:t>
            </a:r>
            <a:r>
              <a:rPr lang="tr-TR" altLang="en-US" dirty="0" smtClean="0"/>
              <a:t> </a:t>
            </a:r>
            <a:r>
              <a:rPr lang="tr-TR" altLang="en-US" dirty="0" err="1" smtClean="0"/>
              <a:t>the</a:t>
            </a:r>
            <a:r>
              <a:rPr lang="tr-TR" altLang="en-US" dirty="0" smtClean="0"/>
              <a:t> </a:t>
            </a:r>
            <a:r>
              <a:rPr lang="tr-TR" altLang="en-US" dirty="0" err="1" smtClean="0"/>
              <a:t>codes</a:t>
            </a:r>
            <a:r>
              <a:rPr lang="tr-TR" altLang="en-US" dirty="0" smtClean="0"/>
              <a:t> </a:t>
            </a:r>
            <a:r>
              <a:rPr lang="tr-TR" altLang="en-US" dirty="0" err="1" smtClean="0"/>
              <a:t>for</a:t>
            </a:r>
            <a:r>
              <a:rPr lang="tr-TR" altLang="en-US" dirty="0" smtClean="0"/>
              <a:t> </a:t>
            </a:r>
            <a:r>
              <a:rPr lang="tr-TR" altLang="en-US" dirty="0" err="1" smtClean="0"/>
              <a:t>FlagRisingAnimation</a:t>
            </a:r>
            <a:r>
              <a:rPr lang="tr-TR" altLang="en-US" dirty="0" smtClean="0"/>
              <a:t> on </a:t>
            </a:r>
            <a:r>
              <a:rPr lang="tr-TR" altLang="en-US" dirty="0" err="1" smtClean="0"/>
              <a:t>Eclipse</a:t>
            </a:r>
            <a:r>
              <a:rPr lang="tr-TR" altLang="en-US" dirty="0" smtClean="0"/>
              <a:t> IDE </a:t>
            </a:r>
            <a:r>
              <a:rPr lang="tr-TR" altLang="en-US" dirty="0" err="1" smtClean="0"/>
              <a:t>and</a:t>
            </a:r>
            <a:r>
              <a:rPr lang="tr-TR" altLang="en-US" baseline="0" dirty="0" smtClean="0"/>
              <a:t> </a:t>
            </a:r>
            <a:r>
              <a:rPr lang="tr-TR" altLang="en-US" baseline="0" dirty="0" err="1" smtClean="0"/>
              <a:t>run</a:t>
            </a:r>
            <a:r>
              <a:rPr lang="tr-TR" altLang="en-US" baseline="0" dirty="0" smtClean="0"/>
              <a:t> it.</a:t>
            </a:r>
          </a:p>
          <a:p>
            <a:pPr marL="171450" marR="0" lvl="0" indent="-171450" algn="l" defTabSz="914400" rtl="0" eaLnBrk="0" fontAlgn="base" latinLnBrk="0" hangingPunct="0">
              <a:lnSpc>
                <a:spcPct val="100000"/>
              </a:lnSpc>
              <a:spcBef>
                <a:spcPct val="30000"/>
              </a:spcBef>
              <a:spcAft>
                <a:spcPct val="0"/>
              </a:spcAft>
              <a:buClrTx/>
              <a:buSzTx/>
              <a:buFontTx/>
              <a:buChar char="-"/>
              <a:tabLst/>
              <a:defRPr/>
            </a:pPr>
            <a:r>
              <a:rPr lang="tr-TR" altLang="en-US" dirty="0" err="1" smtClean="0"/>
              <a:t>Secondly</a:t>
            </a:r>
            <a:r>
              <a:rPr lang="tr-TR" altLang="en-US" dirty="0" smtClean="0"/>
              <a:t>, </a:t>
            </a:r>
            <a:r>
              <a:rPr lang="tr-TR" altLang="en-US" dirty="0" err="1" smtClean="0"/>
              <a:t>show</a:t>
            </a:r>
            <a:r>
              <a:rPr lang="tr-TR" altLang="en-US" dirty="0" smtClean="0"/>
              <a:t> </a:t>
            </a:r>
            <a:r>
              <a:rPr lang="tr-TR" altLang="en-US" dirty="0" err="1" smtClean="0"/>
              <a:t>the</a:t>
            </a:r>
            <a:r>
              <a:rPr lang="tr-TR" altLang="en-US" dirty="0" smtClean="0"/>
              <a:t> </a:t>
            </a:r>
            <a:r>
              <a:rPr lang="tr-TR" altLang="en-US" dirty="0" err="1" smtClean="0"/>
              <a:t>codes</a:t>
            </a:r>
            <a:r>
              <a:rPr lang="tr-TR" altLang="en-US" dirty="0" smtClean="0"/>
              <a:t> </a:t>
            </a:r>
            <a:r>
              <a:rPr lang="tr-TR" altLang="en-US" dirty="0" err="1" smtClean="0"/>
              <a:t>for</a:t>
            </a:r>
            <a:r>
              <a:rPr lang="tr-TR" altLang="en-US" dirty="0" smtClean="0"/>
              <a:t> </a:t>
            </a:r>
            <a:r>
              <a:rPr lang="tr-TR" altLang="en-US" dirty="0" err="1" smtClean="0"/>
              <a:t>PathTransitionDemo</a:t>
            </a:r>
            <a:r>
              <a:rPr lang="tr-TR" altLang="en-US" dirty="0" smtClean="0"/>
              <a:t> on </a:t>
            </a:r>
            <a:r>
              <a:rPr lang="tr-TR" altLang="en-US" dirty="0" err="1" smtClean="0"/>
              <a:t>Eclipse</a:t>
            </a:r>
            <a:r>
              <a:rPr lang="tr-TR" altLang="en-US" dirty="0" smtClean="0"/>
              <a:t> IDE </a:t>
            </a:r>
            <a:r>
              <a:rPr lang="tr-TR" altLang="en-US" dirty="0" err="1" smtClean="0"/>
              <a:t>and</a:t>
            </a:r>
            <a:r>
              <a:rPr lang="tr-TR" altLang="en-US" baseline="0" dirty="0" smtClean="0"/>
              <a:t> </a:t>
            </a:r>
            <a:r>
              <a:rPr lang="tr-TR" altLang="en-US" baseline="0" dirty="0" err="1" smtClean="0"/>
              <a:t>run</a:t>
            </a:r>
            <a:r>
              <a:rPr lang="tr-TR" altLang="en-US" baseline="0" dirty="0" smtClean="0"/>
              <a:t> it.</a:t>
            </a:r>
          </a:p>
          <a:p>
            <a:pPr marL="171450" indent="-171450">
              <a:buFontTx/>
              <a:buChar char="-"/>
            </a:pPr>
            <a:endParaRPr lang="tr-TR" altLang="en-US" baseline="0" dirty="0" smtClean="0"/>
          </a:p>
        </p:txBody>
      </p:sp>
      <p:sp>
        <p:nvSpPr>
          <p:cNvPr id="64516" name="Slide Number Placeholder 3"/>
          <p:cNvSpPr>
            <a:spLocks noGrp="1"/>
          </p:cNvSpPr>
          <p:nvPr>
            <p:ph type="sldNum" sz="quarter" idx="5"/>
          </p:nvPr>
        </p:nvSpPr>
        <p:spPr>
          <a:noFill/>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fld id="{3FEA5318-3341-404D-A91A-978148E0E175}" type="slidenum">
              <a:rPr lang="en-US" altLang="en-US" sz="1000" smtClean="0"/>
              <a:pPr/>
              <a:t>59</a:t>
            </a:fld>
            <a:endParaRPr lang="en-US" altLang="en-US" sz="100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tr-TR" altLang="en-US" dirty="0" smtClean="0"/>
              <a:t>- Show </a:t>
            </a:r>
            <a:r>
              <a:rPr lang="tr-TR" altLang="en-US" dirty="0" err="1" smtClean="0"/>
              <a:t>the</a:t>
            </a:r>
            <a:r>
              <a:rPr lang="tr-TR" altLang="en-US" dirty="0" smtClean="0"/>
              <a:t> </a:t>
            </a:r>
            <a:r>
              <a:rPr lang="tr-TR" altLang="en-US" dirty="0" err="1" smtClean="0"/>
              <a:t>codes</a:t>
            </a:r>
            <a:r>
              <a:rPr lang="tr-TR" altLang="en-US" dirty="0" smtClean="0"/>
              <a:t> </a:t>
            </a:r>
            <a:r>
              <a:rPr lang="tr-TR" altLang="en-US" dirty="0" err="1" smtClean="0"/>
              <a:t>for</a:t>
            </a:r>
            <a:r>
              <a:rPr lang="tr-TR" altLang="en-US" dirty="0" smtClean="0"/>
              <a:t> </a:t>
            </a:r>
            <a:r>
              <a:rPr lang="tr-TR" altLang="en-US" dirty="0" err="1" smtClean="0"/>
              <a:t>FadeTransitonDemo</a:t>
            </a:r>
            <a:r>
              <a:rPr lang="tr-TR" altLang="en-US" dirty="0" smtClean="0"/>
              <a:t> on </a:t>
            </a:r>
            <a:r>
              <a:rPr lang="tr-TR" altLang="en-US" dirty="0" err="1" smtClean="0"/>
              <a:t>Eclipse</a:t>
            </a:r>
            <a:r>
              <a:rPr lang="tr-TR" altLang="en-US" dirty="0" smtClean="0"/>
              <a:t> IDE </a:t>
            </a:r>
            <a:r>
              <a:rPr lang="tr-TR" altLang="en-US" dirty="0" err="1" smtClean="0"/>
              <a:t>and</a:t>
            </a:r>
            <a:r>
              <a:rPr lang="tr-TR" altLang="en-US" baseline="0" dirty="0" smtClean="0"/>
              <a:t> </a:t>
            </a:r>
            <a:r>
              <a:rPr lang="tr-TR" altLang="en-US" baseline="0" dirty="0" err="1" smtClean="0"/>
              <a:t>run</a:t>
            </a:r>
            <a:r>
              <a:rPr lang="tr-TR" altLang="en-US" baseline="0" dirty="0" smtClean="0"/>
              <a:t> it.</a:t>
            </a:r>
          </a:p>
        </p:txBody>
      </p:sp>
      <p:sp>
        <p:nvSpPr>
          <p:cNvPr id="4" name="Slide Number Placeholder 3"/>
          <p:cNvSpPr>
            <a:spLocks noGrp="1"/>
          </p:cNvSpPr>
          <p:nvPr>
            <p:ph type="sldNum" sz="quarter" idx="10"/>
          </p:nvPr>
        </p:nvSpPr>
        <p:spPr/>
        <p:txBody>
          <a:bodyPr/>
          <a:lstStyle/>
          <a:p>
            <a:pPr>
              <a:defRPr/>
            </a:pPr>
            <a:fld id="{0FA892E2-48B9-467E-A448-2B0260CA5179}" type="slidenum">
              <a:rPr lang="en-US" altLang="en-US" smtClean="0"/>
              <a:pPr>
                <a:defRPr/>
              </a:pPr>
              <a:t>60</a:t>
            </a:fld>
            <a:endParaRPr lang="en-US" altLang="en-US"/>
          </a:p>
        </p:txBody>
      </p:sp>
    </p:spTree>
    <p:extLst>
      <p:ext uri="{BB962C8B-B14F-4D97-AF65-F5344CB8AC3E}">
        <p14:creationId xmlns:p14="http://schemas.microsoft.com/office/powerpoint/2010/main" val="4161818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tr-TR" altLang="en-US" dirty="0" smtClean="0"/>
              <a:t>- Show </a:t>
            </a:r>
            <a:r>
              <a:rPr lang="tr-TR" altLang="en-US" dirty="0" err="1" smtClean="0"/>
              <a:t>the</a:t>
            </a:r>
            <a:r>
              <a:rPr lang="tr-TR" altLang="en-US" dirty="0" smtClean="0"/>
              <a:t> </a:t>
            </a:r>
            <a:r>
              <a:rPr lang="tr-TR" altLang="en-US" dirty="0" err="1" smtClean="0"/>
              <a:t>codes</a:t>
            </a:r>
            <a:r>
              <a:rPr lang="tr-TR" altLang="en-US" dirty="0" smtClean="0"/>
              <a:t> </a:t>
            </a:r>
            <a:r>
              <a:rPr lang="tr-TR" altLang="en-US" dirty="0" err="1" smtClean="0"/>
              <a:t>for</a:t>
            </a:r>
            <a:r>
              <a:rPr lang="tr-TR" altLang="en-US" dirty="0" smtClean="0"/>
              <a:t> </a:t>
            </a:r>
            <a:r>
              <a:rPr lang="en-US" dirty="0" err="1" smtClean="0"/>
              <a:t>TimelineDemo</a:t>
            </a:r>
            <a:r>
              <a:rPr lang="tr-TR" altLang="en-US" dirty="0" smtClean="0"/>
              <a:t> on </a:t>
            </a:r>
            <a:r>
              <a:rPr lang="tr-TR" altLang="en-US" dirty="0" err="1" smtClean="0"/>
              <a:t>Eclipse</a:t>
            </a:r>
            <a:r>
              <a:rPr lang="tr-TR" altLang="en-US" dirty="0" smtClean="0"/>
              <a:t> IDE </a:t>
            </a:r>
            <a:r>
              <a:rPr lang="tr-TR" altLang="en-US" dirty="0" err="1" smtClean="0"/>
              <a:t>and</a:t>
            </a:r>
            <a:r>
              <a:rPr lang="tr-TR" altLang="en-US" baseline="0" dirty="0" smtClean="0"/>
              <a:t> </a:t>
            </a:r>
            <a:r>
              <a:rPr lang="tr-TR" altLang="en-US" baseline="0" dirty="0" err="1" smtClean="0"/>
              <a:t>run</a:t>
            </a:r>
            <a:r>
              <a:rPr lang="tr-TR" altLang="en-US" baseline="0" dirty="0" smtClean="0"/>
              <a:t> it.</a:t>
            </a:r>
          </a:p>
        </p:txBody>
      </p:sp>
      <p:sp>
        <p:nvSpPr>
          <p:cNvPr id="4" name="Slide Number Placeholder 3"/>
          <p:cNvSpPr>
            <a:spLocks noGrp="1"/>
          </p:cNvSpPr>
          <p:nvPr>
            <p:ph type="sldNum" sz="quarter" idx="10"/>
          </p:nvPr>
        </p:nvSpPr>
        <p:spPr/>
        <p:txBody>
          <a:bodyPr/>
          <a:lstStyle/>
          <a:p>
            <a:pPr>
              <a:defRPr/>
            </a:pPr>
            <a:fld id="{0FA892E2-48B9-467E-A448-2B0260CA5179}" type="slidenum">
              <a:rPr lang="en-US" altLang="en-US" smtClean="0"/>
              <a:pPr>
                <a:defRPr/>
              </a:pPr>
              <a:t>61</a:t>
            </a:fld>
            <a:endParaRPr lang="en-US" altLang="en-US"/>
          </a:p>
        </p:txBody>
      </p:sp>
    </p:spTree>
    <p:extLst>
      <p:ext uri="{BB962C8B-B14F-4D97-AF65-F5344CB8AC3E}">
        <p14:creationId xmlns:p14="http://schemas.microsoft.com/office/powerpoint/2010/main" val="4192539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1AC7468F-A80F-40A7-8396-FFC5E8CD610C}"/>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EAE14C7D-1004-4D57-A038-CAA711BF2BB3}"/>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p:cNvGrpSpPr>
                <a:grpSpLocks/>
              </p:cNvGrpSpPr>
              <p:nvPr/>
            </p:nvGrpSpPr>
            <p:grpSpPr bwMode="auto">
              <a:xfrm>
                <a:off x="2289" y="72"/>
                <a:ext cx="1440" cy="1984"/>
                <a:chOff x="2289" y="72"/>
                <a:chExt cx="1440" cy="1984"/>
              </a:xfrm>
            </p:grpSpPr>
            <p:sp>
              <p:nvSpPr>
                <p:cNvPr id="29" name="Freeform 4"/>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FCCE3445-0966-47D5-8803-3C3122A9F13A}"/>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p:cNvGrpSpPr>
                <a:grpSpLocks/>
              </p:cNvGrpSpPr>
              <p:nvPr/>
            </p:nvGrpSpPr>
            <p:grpSpPr bwMode="auto">
              <a:xfrm>
                <a:off x="2071" y="406"/>
                <a:ext cx="1392" cy="1109"/>
                <a:chOff x="2071" y="406"/>
                <a:chExt cx="1392" cy="1109"/>
              </a:xfrm>
            </p:grpSpPr>
            <p:sp>
              <p:nvSpPr>
                <p:cNvPr id="11" name="Freeform 11"/>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5F65DFE9-22DD-4D17-8427-C4679789ADD0}"/>
              </a:ext>
            </a:extLst>
          </p:cNvPr>
          <p:cNvSpPr>
            <a:spLocks noGrp="1" noChangeArrowheads="1"/>
          </p:cNvSpPr>
          <p:nvPr>
            <p:ph type="dt" sz="quarter" idx="10"/>
          </p:nvPr>
        </p:nvSpPr>
        <p:spPr/>
        <p:txBody>
          <a:bodyPr/>
          <a:lstStyle>
            <a:lvl1pPr>
              <a:defRPr/>
            </a:lvl1pPr>
          </a:lstStyle>
          <a:p>
            <a:pPr>
              <a:defRPr/>
            </a:pPr>
            <a:endParaRPr lang="en-US" altLang="en-US"/>
          </a:p>
        </p:txBody>
      </p:sp>
      <p:sp>
        <p:nvSpPr>
          <p:cNvPr id="35" name="Rectangle 35">
            <a:extLst>
              <a:ext uri="{FF2B5EF4-FFF2-40B4-BE49-F238E27FC236}">
                <a16:creationId xmlns:a16="http://schemas.microsoft.com/office/drawing/2014/main" id="{F47A249B-96AD-4C35-97D3-641D295AF3EE}"/>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Ninth Edition, (c) 2013 Pearson Education, Inc. All rights reserved. </a:t>
            </a:r>
          </a:p>
        </p:txBody>
      </p:sp>
      <p:sp>
        <p:nvSpPr>
          <p:cNvPr id="36" name="Rectangle 36">
            <a:extLst>
              <a:ext uri="{FF2B5EF4-FFF2-40B4-BE49-F238E27FC236}">
                <a16:creationId xmlns:a16="http://schemas.microsoft.com/office/drawing/2014/main" id="{7AF8E1D2-06D8-4E02-A34E-D72999DEFEF5}"/>
              </a:ext>
            </a:extLst>
          </p:cNvPr>
          <p:cNvSpPr>
            <a:spLocks noGrp="1" noChangeArrowheads="1"/>
          </p:cNvSpPr>
          <p:nvPr>
            <p:ph type="sldNum" sz="quarter" idx="12"/>
          </p:nvPr>
        </p:nvSpPr>
        <p:spPr>
          <a:xfrm>
            <a:off x="6553200" y="6400800"/>
            <a:ext cx="1905000" cy="457200"/>
          </a:xfrm>
        </p:spPr>
        <p:txBody>
          <a:bodyPr/>
          <a:lstStyle>
            <a:lvl1pPr>
              <a:defRPr/>
            </a:lvl1pPr>
          </a:lstStyle>
          <a:p>
            <a:pPr>
              <a:defRPr/>
            </a:pPr>
            <a:fld id="{3BBC9749-686B-4E74-957E-F6D030602B22}" type="slidenum">
              <a:rPr lang="en-US" altLang="en-US"/>
              <a:pPr>
                <a:defRPr/>
              </a:pPr>
              <a:t>‹#›</a:t>
            </a:fld>
            <a:endParaRPr lang="en-US" altLang="en-US"/>
          </a:p>
        </p:txBody>
      </p:sp>
    </p:spTree>
    <p:extLst>
      <p:ext uri="{BB962C8B-B14F-4D97-AF65-F5344CB8AC3E}">
        <p14:creationId xmlns:p14="http://schemas.microsoft.com/office/powerpoint/2010/main" val="4153874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BACA03AC-4CE4-4EED-A153-B5218E40A8B4}" type="slidenum">
              <a:rPr lang="en-US" altLang="en-US"/>
              <a:pPr>
                <a:defRPr/>
              </a:pPr>
              <a:t>‹#›</a:t>
            </a:fld>
            <a:endParaRPr lang="en-US" altLang="en-US"/>
          </a:p>
        </p:txBody>
      </p:sp>
    </p:spTree>
    <p:extLst>
      <p:ext uri="{BB962C8B-B14F-4D97-AF65-F5344CB8AC3E}">
        <p14:creationId xmlns:p14="http://schemas.microsoft.com/office/powerpoint/2010/main" val="917480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9826633F-03E8-49CB-8E72-DD0572525A49}" type="slidenum">
              <a:rPr lang="en-US" altLang="en-US"/>
              <a:pPr>
                <a:defRPr/>
              </a:pPr>
              <a:t>‹#›</a:t>
            </a:fld>
            <a:endParaRPr lang="en-US" altLang="en-US"/>
          </a:p>
        </p:txBody>
      </p:sp>
    </p:spTree>
    <p:extLst>
      <p:ext uri="{BB962C8B-B14F-4D97-AF65-F5344CB8AC3E}">
        <p14:creationId xmlns:p14="http://schemas.microsoft.com/office/powerpoint/2010/main" val="38369649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B84ED8E9-E653-43E2-97C2-C461862A8893}" type="slidenum">
              <a:rPr lang="en-US" altLang="en-US"/>
              <a:pPr>
                <a:defRPr/>
              </a:pPr>
              <a:t>‹#›</a:t>
            </a:fld>
            <a:endParaRPr lang="en-US" altLang="en-US"/>
          </a:p>
        </p:txBody>
      </p:sp>
    </p:spTree>
    <p:extLst>
      <p:ext uri="{BB962C8B-B14F-4D97-AF65-F5344CB8AC3E}">
        <p14:creationId xmlns:p14="http://schemas.microsoft.com/office/powerpoint/2010/main" val="2205065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B69F4806-4E56-4C74-B9B1-3670B30A7749}" type="slidenum">
              <a:rPr lang="en-US" altLang="en-US"/>
              <a:pPr>
                <a:defRPr/>
              </a:pPr>
              <a:t>‹#›</a:t>
            </a:fld>
            <a:endParaRPr lang="en-US" altLang="en-US"/>
          </a:p>
        </p:txBody>
      </p:sp>
    </p:spTree>
    <p:extLst>
      <p:ext uri="{BB962C8B-B14F-4D97-AF65-F5344CB8AC3E}">
        <p14:creationId xmlns:p14="http://schemas.microsoft.com/office/powerpoint/2010/main" val="3404168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DCF97793-7A8D-4D79-97BA-1D34DEA581BC}" type="slidenum">
              <a:rPr lang="en-US" altLang="en-US"/>
              <a:pPr>
                <a:defRPr/>
              </a:pPr>
              <a:t>‹#›</a:t>
            </a:fld>
            <a:endParaRPr lang="en-US" altLang="en-US"/>
          </a:p>
        </p:txBody>
      </p:sp>
    </p:spTree>
    <p:extLst>
      <p:ext uri="{BB962C8B-B14F-4D97-AF65-F5344CB8AC3E}">
        <p14:creationId xmlns:p14="http://schemas.microsoft.com/office/powerpoint/2010/main" val="1060381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729CA8B0-444E-42D6-BC33-ED07DA5B0238}" type="slidenum">
              <a:rPr lang="en-US" altLang="en-US"/>
              <a:pPr>
                <a:defRPr/>
              </a:pPr>
              <a:t>‹#›</a:t>
            </a:fld>
            <a:endParaRPr lang="en-US" altLang="en-US"/>
          </a:p>
        </p:txBody>
      </p:sp>
    </p:spTree>
    <p:extLst>
      <p:ext uri="{BB962C8B-B14F-4D97-AF65-F5344CB8AC3E}">
        <p14:creationId xmlns:p14="http://schemas.microsoft.com/office/powerpoint/2010/main" val="1458573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D47482BA-85A1-47BF-8CDF-DB5980B9DE88}" type="slidenum">
              <a:rPr lang="en-US" altLang="en-US"/>
              <a:pPr>
                <a:defRPr/>
              </a:pPr>
              <a:t>‹#›</a:t>
            </a:fld>
            <a:endParaRPr lang="en-US" altLang="en-US"/>
          </a:p>
        </p:txBody>
      </p:sp>
    </p:spTree>
    <p:extLst>
      <p:ext uri="{BB962C8B-B14F-4D97-AF65-F5344CB8AC3E}">
        <p14:creationId xmlns:p14="http://schemas.microsoft.com/office/powerpoint/2010/main" val="442323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A42BA60B-EEB0-477D-BA84-C756C657E770}" type="slidenum">
              <a:rPr lang="en-US" altLang="en-US"/>
              <a:pPr>
                <a:defRPr/>
              </a:pPr>
              <a:t>‹#›</a:t>
            </a:fld>
            <a:endParaRPr lang="en-US" altLang="en-US"/>
          </a:p>
        </p:txBody>
      </p:sp>
    </p:spTree>
    <p:extLst>
      <p:ext uri="{BB962C8B-B14F-4D97-AF65-F5344CB8AC3E}">
        <p14:creationId xmlns:p14="http://schemas.microsoft.com/office/powerpoint/2010/main" val="944022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DBD97ACD-20A2-4A79-91B3-1A2451D9A503}" type="slidenum">
              <a:rPr lang="en-US" altLang="en-US"/>
              <a:pPr>
                <a:defRPr/>
              </a:pPr>
              <a:t>‹#›</a:t>
            </a:fld>
            <a:endParaRPr lang="en-US" altLang="en-US"/>
          </a:p>
        </p:txBody>
      </p:sp>
    </p:spTree>
    <p:extLst>
      <p:ext uri="{BB962C8B-B14F-4D97-AF65-F5344CB8AC3E}">
        <p14:creationId xmlns:p14="http://schemas.microsoft.com/office/powerpoint/2010/main" val="10860131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DDAEB41D-703C-4476-AA82-FAFE6F469EF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4AFA6C25-8C3D-43AC-9A1C-DAAF3F6AE485}"/>
              </a:ext>
            </a:extLst>
          </p:cNvPr>
          <p:cNvSpPr>
            <a:spLocks noGrp="1" noChangeArrowheads="1"/>
          </p:cNvSpPr>
          <p:nvPr>
            <p:ph type="sldNum" sz="quarter" idx="11"/>
          </p:nvPr>
        </p:nvSpPr>
        <p:spPr>
          <a:ln/>
        </p:spPr>
        <p:txBody>
          <a:bodyPr/>
          <a:lstStyle>
            <a:lvl1pPr>
              <a:defRPr/>
            </a:lvl1pPr>
          </a:lstStyle>
          <a:p>
            <a:pPr>
              <a:defRPr/>
            </a:pPr>
            <a:fld id="{2E8F085E-F167-4544-83CC-D44B795C109B}" type="slidenum">
              <a:rPr lang="en-US" altLang="en-US"/>
              <a:pPr>
                <a:defRPr/>
              </a:pPr>
              <a:t>‹#›</a:t>
            </a:fld>
            <a:endParaRPr lang="en-US" altLang="en-US"/>
          </a:p>
        </p:txBody>
      </p:sp>
    </p:spTree>
    <p:extLst>
      <p:ext uri="{BB962C8B-B14F-4D97-AF65-F5344CB8AC3E}">
        <p14:creationId xmlns:p14="http://schemas.microsoft.com/office/powerpoint/2010/main" val="3575328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31"/>
          <p:cNvGrpSpPr>
            <a:grpSpLocks/>
          </p:cNvGrpSpPr>
          <p:nvPr/>
        </p:nvGrpSpPr>
        <p:grpSpPr bwMode="auto">
          <a:xfrm>
            <a:off x="0" y="114300"/>
            <a:ext cx="9142413" cy="6742113"/>
            <a:chOff x="0" y="72"/>
            <a:chExt cx="5759" cy="4247"/>
          </a:xfrm>
        </p:grpSpPr>
        <p:sp>
          <p:nvSpPr>
            <p:cNvPr id="5" name="Rectangle 2">
              <a:extLst>
                <a:ext uri="{FF2B5EF4-FFF2-40B4-BE49-F238E27FC236}">
                  <a16:creationId xmlns:a16="http://schemas.microsoft.com/office/drawing/2014/main" id="{FEFADBD1-C0FF-4C39-8932-06777B8A9177}"/>
                </a:ext>
              </a:extLst>
            </p:cNvPr>
            <p:cNvSpPr>
              <a:spLocks noChangeArrowheads="1"/>
            </p:cNvSpPr>
            <p:nvPr/>
          </p:nvSpPr>
          <p:spPr bwMode="hidden">
            <a:xfrm>
              <a:off x="0" y="2112"/>
              <a:ext cx="5759" cy="22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30"/>
            <p:cNvGrpSpPr>
              <a:grpSpLocks/>
            </p:cNvGrpSpPr>
            <p:nvPr/>
          </p:nvGrpSpPr>
          <p:grpSpPr bwMode="auto">
            <a:xfrm>
              <a:off x="0" y="72"/>
              <a:ext cx="5759" cy="2040"/>
              <a:chOff x="0" y="72"/>
              <a:chExt cx="5759" cy="2040"/>
            </a:xfrm>
          </p:grpSpPr>
          <p:sp>
            <p:nvSpPr>
              <p:cNvPr id="7" name="Rectangle 3">
                <a:extLst>
                  <a:ext uri="{FF2B5EF4-FFF2-40B4-BE49-F238E27FC236}">
                    <a16:creationId xmlns:a16="http://schemas.microsoft.com/office/drawing/2014/main" id="{31FEBF5B-FE12-4170-AA1A-005A797C2A6C}"/>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9"/>
              <p:cNvGrpSpPr>
                <a:grpSpLocks/>
              </p:cNvGrpSpPr>
              <p:nvPr/>
            </p:nvGrpSpPr>
            <p:grpSpPr bwMode="auto">
              <a:xfrm>
                <a:off x="2289" y="72"/>
                <a:ext cx="1440" cy="1984"/>
                <a:chOff x="2289" y="72"/>
                <a:chExt cx="1440" cy="1984"/>
              </a:xfrm>
            </p:grpSpPr>
            <p:sp>
              <p:nvSpPr>
                <p:cNvPr id="29" name="Freeform 4"/>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5"/>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Line 6"/>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 name="Line 7"/>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 name="Freeform 8"/>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 name="Oval 10">
                <a:extLst>
                  <a:ext uri="{FF2B5EF4-FFF2-40B4-BE49-F238E27FC236}">
                    <a16:creationId xmlns:a16="http://schemas.microsoft.com/office/drawing/2014/main" id="{17413252-37CE-4D28-B814-6325826EE0D4}"/>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 name="Group 29"/>
              <p:cNvGrpSpPr>
                <a:grpSpLocks/>
              </p:cNvGrpSpPr>
              <p:nvPr/>
            </p:nvGrpSpPr>
            <p:grpSpPr bwMode="auto">
              <a:xfrm>
                <a:off x="2071" y="406"/>
                <a:ext cx="1392" cy="1109"/>
                <a:chOff x="2071" y="406"/>
                <a:chExt cx="1392" cy="1109"/>
              </a:xfrm>
            </p:grpSpPr>
            <p:sp>
              <p:nvSpPr>
                <p:cNvPr id="11" name="Freeform 11"/>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2"/>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3"/>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4"/>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5"/>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6"/>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7"/>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18"/>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19"/>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0"/>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1"/>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2"/>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3"/>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4"/>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5"/>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6"/>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Freeform 27"/>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Freeform 28"/>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4" name="Rectangle 34">
            <a:extLst>
              <a:ext uri="{FF2B5EF4-FFF2-40B4-BE49-F238E27FC236}">
                <a16:creationId xmlns:a16="http://schemas.microsoft.com/office/drawing/2014/main" id="{CE8081AD-23D1-4BB6-B054-90F25CD60307}"/>
              </a:ext>
            </a:extLst>
          </p:cNvPr>
          <p:cNvSpPr>
            <a:spLocks noGrp="1" noChangeArrowheads="1"/>
          </p:cNvSpPr>
          <p:nvPr>
            <p:ph type="dt" sz="quarter" idx="10"/>
          </p:nvPr>
        </p:nvSpPr>
        <p:spPr/>
        <p:txBody>
          <a:bodyPr/>
          <a:lstStyle>
            <a:lvl1pPr>
              <a:defRPr/>
            </a:lvl1pPr>
          </a:lstStyle>
          <a:p>
            <a:pPr>
              <a:defRPr/>
            </a:pPr>
            <a:endParaRPr lang="en-US" altLang="en-US"/>
          </a:p>
        </p:txBody>
      </p:sp>
      <p:sp>
        <p:nvSpPr>
          <p:cNvPr id="35" name="Rectangle 35">
            <a:extLst>
              <a:ext uri="{FF2B5EF4-FFF2-40B4-BE49-F238E27FC236}">
                <a16:creationId xmlns:a16="http://schemas.microsoft.com/office/drawing/2014/main" id="{08EF3929-D56A-4C30-8611-6472BD2FA948}"/>
              </a:ext>
            </a:extLst>
          </p:cNvPr>
          <p:cNvSpPr>
            <a:spLocks noGrp="1" noChangeArrowheads="1"/>
          </p:cNvSpPr>
          <p:nvPr>
            <p:ph type="ftr" sz="quarter" idx="11"/>
          </p:nvPr>
        </p:nvSpPr>
        <p:spPr bwMode="auto">
          <a:xfrm>
            <a:off x="3124200" y="6400800"/>
            <a:ext cx="2895600" cy="457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1400"/>
            </a:lvl1pPr>
          </a:lstStyle>
          <a:p>
            <a:pPr>
              <a:defRPr/>
            </a:pPr>
            <a:r>
              <a:rPr lang="en-US"/>
              <a:t>Liang, Introduction to Java Programming, Ninth Edition, (c) 2013 Pearson Education, Inc. All rights reserved. </a:t>
            </a:r>
          </a:p>
        </p:txBody>
      </p:sp>
      <p:sp>
        <p:nvSpPr>
          <p:cNvPr id="36" name="Rectangle 36">
            <a:extLst>
              <a:ext uri="{FF2B5EF4-FFF2-40B4-BE49-F238E27FC236}">
                <a16:creationId xmlns:a16="http://schemas.microsoft.com/office/drawing/2014/main" id="{E48925A0-D655-46FB-BBAD-595706F6FF90}"/>
              </a:ext>
            </a:extLst>
          </p:cNvPr>
          <p:cNvSpPr>
            <a:spLocks noGrp="1" noChangeArrowheads="1"/>
          </p:cNvSpPr>
          <p:nvPr>
            <p:ph type="sldNum" sz="quarter" idx="12"/>
          </p:nvPr>
        </p:nvSpPr>
        <p:spPr>
          <a:xfrm>
            <a:off x="6553200" y="6400800"/>
            <a:ext cx="1905000" cy="457200"/>
          </a:xfrm>
        </p:spPr>
        <p:txBody>
          <a:bodyPr/>
          <a:lstStyle>
            <a:lvl1pPr>
              <a:defRPr/>
            </a:lvl1pPr>
          </a:lstStyle>
          <a:p>
            <a:pPr>
              <a:defRPr/>
            </a:pPr>
            <a:fld id="{85B73E0C-AB50-457C-9D9D-CE0313F5576E}" type="slidenum">
              <a:rPr lang="en-US" altLang="en-US"/>
              <a:pPr>
                <a:defRPr/>
              </a:pPr>
              <a:t>‹#›</a:t>
            </a:fld>
            <a:endParaRPr lang="en-US" altLang="en-US"/>
          </a:p>
        </p:txBody>
      </p:sp>
    </p:spTree>
    <p:extLst>
      <p:ext uri="{BB962C8B-B14F-4D97-AF65-F5344CB8AC3E}">
        <p14:creationId xmlns:p14="http://schemas.microsoft.com/office/powerpoint/2010/main" val="433983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2B4AF139-9E8A-44AE-81CA-17BD068C2507}" type="slidenum">
              <a:rPr lang="en-US" altLang="en-US"/>
              <a:pPr>
                <a:defRPr/>
              </a:pPr>
              <a:t>‹#›</a:t>
            </a:fld>
            <a:endParaRPr lang="en-US" altLang="en-US"/>
          </a:p>
        </p:txBody>
      </p:sp>
    </p:spTree>
    <p:extLst>
      <p:ext uri="{BB962C8B-B14F-4D97-AF65-F5344CB8AC3E}">
        <p14:creationId xmlns:p14="http://schemas.microsoft.com/office/powerpoint/2010/main" val="22125143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3BF355B3-EEB1-4B60-8DA3-5897B61FAEE0}" type="slidenum">
              <a:rPr lang="en-US" altLang="en-US"/>
              <a:pPr>
                <a:defRPr/>
              </a:pPr>
              <a:t>‹#›</a:t>
            </a:fld>
            <a:endParaRPr lang="en-US" altLang="en-US"/>
          </a:p>
        </p:txBody>
      </p:sp>
    </p:spTree>
    <p:extLst>
      <p:ext uri="{BB962C8B-B14F-4D97-AF65-F5344CB8AC3E}">
        <p14:creationId xmlns:p14="http://schemas.microsoft.com/office/powerpoint/2010/main" val="1547269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A27B7219-6CBA-4B55-8DA8-F2F0DB2BF2BC}" type="slidenum">
              <a:rPr lang="en-US" altLang="en-US"/>
              <a:pPr>
                <a:defRPr/>
              </a:pPr>
              <a:t>‹#›</a:t>
            </a:fld>
            <a:endParaRPr lang="en-US" altLang="en-US"/>
          </a:p>
        </p:txBody>
      </p:sp>
    </p:spTree>
    <p:extLst>
      <p:ext uri="{BB962C8B-B14F-4D97-AF65-F5344CB8AC3E}">
        <p14:creationId xmlns:p14="http://schemas.microsoft.com/office/powerpoint/2010/main" val="402321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7B5010E6-4B11-4BED-B503-A091DD058534}" type="slidenum">
              <a:rPr lang="en-US" altLang="en-US"/>
              <a:pPr>
                <a:defRPr/>
              </a:pPr>
              <a:t>‹#›</a:t>
            </a:fld>
            <a:endParaRPr lang="en-US" altLang="en-US"/>
          </a:p>
        </p:txBody>
      </p:sp>
    </p:spTree>
    <p:extLst>
      <p:ext uri="{BB962C8B-B14F-4D97-AF65-F5344CB8AC3E}">
        <p14:creationId xmlns:p14="http://schemas.microsoft.com/office/powerpoint/2010/main" val="2332223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F6688F8B-18A9-4BBB-AABA-899E751C6EFB}" type="slidenum">
              <a:rPr lang="en-US" altLang="en-US"/>
              <a:pPr>
                <a:defRPr/>
              </a:pPr>
              <a:t>‹#›</a:t>
            </a:fld>
            <a:endParaRPr lang="en-US" altLang="en-US"/>
          </a:p>
        </p:txBody>
      </p:sp>
    </p:spTree>
    <p:extLst>
      <p:ext uri="{BB962C8B-B14F-4D97-AF65-F5344CB8AC3E}">
        <p14:creationId xmlns:p14="http://schemas.microsoft.com/office/powerpoint/2010/main" val="15926178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ED2B1F4D-E835-4078-BD07-16A5FA6BE791}" type="slidenum">
              <a:rPr lang="en-US" altLang="en-US"/>
              <a:pPr>
                <a:defRPr/>
              </a:pPr>
              <a:t>‹#›</a:t>
            </a:fld>
            <a:endParaRPr lang="en-US" altLang="en-US"/>
          </a:p>
        </p:txBody>
      </p:sp>
    </p:spTree>
    <p:extLst>
      <p:ext uri="{BB962C8B-B14F-4D97-AF65-F5344CB8AC3E}">
        <p14:creationId xmlns:p14="http://schemas.microsoft.com/office/powerpoint/2010/main" val="8428666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DB33AADE-C03D-451A-B916-5AE5053D1A57}" type="slidenum">
              <a:rPr lang="en-US" altLang="en-US"/>
              <a:pPr>
                <a:defRPr/>
              </a:pPr>
              <a:t>‹#›</a:t>
            </a:fld>
            <a:endParaRPr lang="en-US" altLang="en-US"/>
          </a:p>
        </p:txBody>
      </p:sp>
    </p:spTree>
    <p:extLst>
      <p:ext uri="{BB962C8B-B14F-4D97-AF65-F5344CB8AC3E}">
        <p14:creationId xmlns:p14="http://schemas.microsoft.com/office/powerpoint/2010/main" val="5878520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BFD4CD21-DDC5-4AC4-92D8-ACF5BA4B2DF5}" type="slidenum">
              <a:rPr lang="en-US" altLang="en-US"/>
              <a:pPr>
                <a:defRPr/>
              </a:pPr>
              <a:t>‹#›</a:t>
            </a:fld>
            <a:endParaRPr lang="en-US" altLang="en-US"/>
          </a:p>
        </p:txBody>
      </p:sp>
    </p:spTree>
    <p:extLst>
      <p:ext uri="{BB962C8B-B14F-4D97-AF65-F5344CB8AC3E}">
        <p14:creationId xmlns:p14="http://schemas.microsoft.com/office/powerpoint/2010/main" val="16167487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0DD23638-9846-4F54-9059-4D043A16BB81}" type="slidenum">
              <a:rPr lang="en-US" altLang="en-US"/>
              <a:pPr>
                <a:defRPr/>
              </a:pPr>
              <a:t>‹#›</a:t>
            </a:fld>
            <a:endParaRPr lang="en-US" altLang="en-US"/>
          </a:p>
        </p:txBody>
      </p:sp>
    </p:spTree>
    <p:extLst>
      <p:ext uri="{BB962C8B-B14F-4D97-AF65-F5344CB8AC3E}">
        <p14:creationId xmlns:p14="http://schemas.microsoft.com/office/powerpoint/2010/main" val="10671740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BDF1004D-8A4F-4D1D-B190-06619C4F437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34">
            <a:extLst>
              <a:ext uri="{FF2B5EF4-FFF2-40B4-BE49-F238E27FC236}">
                <a16:creationId xmlns:a16="http://schemas.microsoft.com/office/drawing/2014/main" id="{CA11639C-865E-469F-809C-B563DD7308E4}"/>
              </a:ext>
            </a:extLst>
          </p:cNvPr>
          <p:cNvSpPr>
            <a:spLocks noGrp="1" noChangeArrowheads="1"/>
          </p:cNvSpPr>
          <p:nvPr>
            <p:ph type="sldNum" sz="quarter" idx="11"/>
          </p:nvPr>
        </p:nvSpPr>
        <p:spPr>
          <a:ln/>
        </p:spPr>
        <p:txBody>
          <a:bodyPr/>
          <a:lstStyle>
            <a:lvl1pPr>
              <a:defRPr/>
            </a:lvl1pPr>
          </a:lstStyle>
          <a:p>
            <a:pPr>
              <a:defRPr/>
            </a:pPr>
            <a:fld id="{5DACD16D-A203-4FF8-B347-1E6925E2BD1C}" type="slidenum">
              <a:rPr lang="en-US" altLang="en-US"/>
              <a:pPr>
                <a:defRPr/>
              </a:pPr>
              <a:t>‹#›</a:t>
            </a:fld>
            <a:endParaRPr lang="en-US" altLang="en-US"/>
          </a:p>
        </p:txBody>
      </p:sp>
    </p:spTree>
    <p:extLst>
      <p:ext uri="{BB962C8B-B14F-4D97-AF65-F5344CB8AC3E}">
        <p14:creationId xmlns:p14="http://schemas.microsoft.com/office/powerpoint/2010/main" val="344801704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2535630F-A443-4F95-A302-405C28E09FF4}"/>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p:cNvGrpSpPr>
              <a:grpSpLocks/>
            </p:cNvGrpSpPr>
            <p:nvPr/>
          </p:nvGrpSpPr>
          <p:grpSpPr bwMode="auto">
            <a:xfrm>
              <a:off x="4458" y="2751"/>
              <a:ext cx="1190" cy="1426"/>
              <a:chOff x="4458" y="2751"/>
              <a:chExt cx="1190" cy="1426"/>
            </a:xfrm>
          </p:grpSpPr>
          <p:sp>
            <p:nvSpPr>
              <p:cNvPr id="1034" name="Freeform 3"/>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716FB303-F1CD-4129-915D-562A40F3272D}"/>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p:cNvGrpSpPr>
                <a:grpSpLocks/>
              </p:cNvGrpSpPr>
              <p:nvPr/>
            </p:nvGrpSpPr>
            <p:grpSpPr bwMode="auto">
              <a:xfrm>
                <a:off x="4458" y="2991"/>
                <a:ext cx="999" cy="797"/>
                <a:chOff x="4458" y="2991"/>
                <a:chExt cx="999" cy="797"/>
              </a:xfrm>
            </p:grpSpPr>
            <p:sp>
              <p:nvSpPr>
                <p:cNvPr id="1041" name="Freeform 9"/>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smtClean="0"/>
              <a:t>Click to edit Master title style</a:t>
            </a:r>
          </a:p>
        </p:txBody>
      </p:sp>
      <p:sp>
        <p:nvSpPr>
          <p:cNvPr id="1028" name="Rectangle 31"/>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56" name="Rectangle 32">
            <a:extLst>
              <a:ext uri="{FF2B5EF4-FFF2-40B4-BE49-F238E27FC236}">
                <a16:creationId xmlns:a16="http://schemas.microsoft.com/office/drawing/2014/main" id="{DDAEB41D-703C-4476-AA82-FAFE6F469EF7}"/>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ltLang="en-US"/>
          </a:p>
        </p:txBody>
      </p:sp>
      <p:sp>
        <p:nvSpPr>
          <p:cNvPr id="1058" name="Rectangle 34">
            <a:extLst>
              <a:ext uri="{FF2B5EF4-FFF2-40B4-BE49-F238E27FC236}">
                <a16:creationId xmlns:a16="http://schemas.microsoft.com/office/drawing/2014/main" id="{4AFA6C25-8C3D-43AC-9A1C-DAAF3F6AE485}"/>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pPr>
              <a:defRPr/>
            </a:pPr>
            <a:fld id="{27048678-8D65-4809-9CBD-8A32D42865D5}" type="slidenum">
              <a:rPr lang="en-US" altLang="en-US"/>
              <a:pPr>
                <a:defRPr/>
              </a:pPr>
              <a:t>‹#›</a:t>
            </a:fld>
            <a:endParaRPr lang="en-US" altLang="en-US"/>
          </a:p>
        </p:txBody>
      </p:sp>
      <p:sp>
        <p:nvSpPr>
          <p:cNvPr id="35" name="Rectangle 35">
            <a:extLst>
              <a:ext uri="{FF2B5EF4-FFF2-40B4-BE49-F238E27FC236}">
                <a16:creationId xmlns:a16="http://schemas.microsoft.com/office/drawing/2014/main" id="{36C83C5F-D298-406F-92C4-33C6C9ACD8F6}"/>
              </a:ext>
            </a:extLst>
          </p:cNvPr>
          <p:cNvSpPr>
            <a:spLocks noChangeArrowheads="1"/>
          </p:cNvSpPr>
          <p:nvPr userDrawn="1"/>
        </p:nvSpPr>
        <p:spPr bwMode="auto">
          <a:xfrm>
            <a:off x="685800" y="6492875"/>
            <a:ext cx="777557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Tenth Edition, Global Edition. © Pearson Education Limited 2015</a:t>
            </a:r>
          </a:p>
        </p:txBody>
      </p:sp>
    </p:spTree>
  </p:cSld>
  <p:clrMap bg1="lt1" tx1="dk1" bg2="lt2" tx2="dk2" accent1="accent1" accent2="accent2" accent3="accent3" accent4="accent4" accent5="accent5" accent6="accent6" hlink="hlink" folHlink="folHlink"/>
  <p:sldLayoutIdLst>
    <p:sldLayoutId id="2147483863"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9"/>
          <p:cNvGrpSpPr>
            <a:grpSpLocks/>
          </p:cNvGrpSpPr>
          <p:nvPr/>
        </p:nvGrpSpPr>
        <p:grpSpPr bwMode="auto">
          <a:xfrm>
            <a:off x="0" y="4367213"/>
            <a:ext cx="9131300" cy="2478087"/>
            <a:chOff x="0" y="2751"/>
            <a:chExt cx="5752" cy="1561"/>
          </a:xfrm>
        </p:grpSpPr>
        <p:sp>
          <p:nvSpPr>
            <p:cNvPr id="1032" name="Rectangle 2">
              <a:extLst>
                <a:ext uri="{FF2B5EF4-FFF2-40B4-BE49-F238E27FC236}">
                  <a16:creationId xmlns:a16="http://schemas.microsoft.com/office/drawing/2014/main" id="{363D35EB-76C7-4FB0-93AD-E4C0429A15E7}"/>
                </a:ext>
              </a:extLst>
            </p:cNvPr>
            <p:cNvSpPr>
              <a:spLocks noChangeArrowheads="1"/>
            </p:cNvSpPr>
            <p:nvPr/>
          </p:nvSpPr>
          <p:spPr bwMode="hidden">
            <a:xfrm>
              <a:off x="0" y="4080"/>
              <a:ext cx="5752" cy="232"/>
            </a:xfrm>
            <a:prstGeom prst="rect">
              <a:avLst/>
            </a:prstGeom>
            <a:gradFill rotWithShape="0">
              <a:gsLst>
                <a:gs pos="0">
                  <a:schemeClr val="bg1"/>
                </a:gs>
                <a:gs pos="100000">
                  <a:schemeClr val="hlink"/>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33" name="Group 28"/>
            <p:cNvGrpSpPr>
              <a:grpSpLocks/>
            </p:cNvGrpSpPr>
            <p:nvPr/>
          </p:nvGrpSpPr>
          <p:grpSpPr bwMode="auto">
            <a:xfrm>
              <a:off x="4458" y="2751"/>
              <a:ext cx="1190" cy="1426"/>
              <a:chOff x="4458" y="2751"/>
              <a:chExt cx="1190" cy="1426"/>
            </a:xfrm>
          </p:grpSpPr>
          <p:sp>
            <p:nvSpPr>
              <p:cNvPr id="1034" name="Freeform 3"/>
              <p:cNvSpPr>
                <a:spLocks/>
              </p:cNvSpPr>
              <p:nvPr/>
            </p:nvSpPr>
            <p:spPr bwMode="ltGray">
              <a:xfrm>
                <a:off x="4614" y="2790"/>
                <a:ext cx="1034" cy="1273"/>
              </a:xfrm>
              <a:custGeom>
                <a:avLst/>
                <a:gdLst>
                  <a:gd name="T0" fmla="*/ 646 w 1034"/>
                  <a:gd name="T1" fmla="*/ 23 h 1273"/>
                  <a:gd name="T2" fmla="*/ 765 w 1034"/>
                  <a:gd name="T3" fmla="*/ 92 h 1273"/>
                  <a:gd name="T4" fmla="*/ 866 w 1034"/>
                  <a:gd name="T5" fmla="*/ 184 h 1273"/>
                  <a:gd name="T6" fmla="*/ 944 w 1034"/>
                  <a:gd name="T7" fmla="*/ 294 h 1273"/>
                  <a:gd name="T8" fmla="*/ 1000 w 1034"/>
                  <a:gd name="T9" fmla="*/ 417 h 1273"/>
                  <a:gd name="T10" fmla="*/ 1030 w 1034"/>
                  <a:gd name="T11" fmla="*/ 550 h 1273"/>
                  <a:gd name="T12" fmla="*/ 1030 w 1034"/>
                  <a:gd name="T13" fmla="*/ 688 h 1273"/>
                  <a:gd name="T14" fmla="*/ 1000 w 1034"/>
                  <a:gd name="T15" fmla="*/ 821 h 1273"/>
                  <a:gd name="T16" fmla="*/ 944 w 1034"/>
                  <a:gd name="T17" fmla="*/ 944 h 1273"/>
                  <a:gd name="T18" fmla="*/ 866 w 1034"/>
                  <a:gd name="T19" fmla="*/ 1055 h 1273"/>
                  <a:gd name="T20" fmla="*/ 765 w 1034"/>
                  <a:gd name="T21" fmla="*/ 1148 h 1273"/>
                  <a:gd name="T22" fmla="*/ 646 w 1034"/>
                  <a:gd name="T23" fmla="*/ 1215 h 1273"/>
                  <a:gd name="T24" fmla="*/ 517 w 1034"/>
                  <a:gd name="T25" fmla="*/ 1257 h 1273"/>
                  <a:gd name="T26" fmla="*/ 382 w 1034"/>
                  <a:gd name="T27" fmla="*/ 1272 h 1273"/>
                  <a:gd name="T28" fmla="*/ 246 w 1034"/>
                  <a:gd name="T29" fmla="*/ 1257 h 1273"/>
                  <a:gd name="T30" fmla="*/ 118 w 1034"/>
                  <a:gd name="T31" fmla="*/ 1215 h 1273"/>
                  <a:gd name="T32" fmla="*/ 0 w 1034"/>
                  <a:gd name="T33" fmla="*/ 1148 h 1273"/>
                  <a:gd name="T34" fmla="*/ 89 w 1034"/>
                  <a:gd name="T35" fmla="*/ 1129 h 1273"/>
                  <a:gd name="T36" fmla="*/ 201 w 1034"/>
                  <a:gd name="T37" fmla="*/ 1179 h 1273"/>
                  <a:gd name="T38" fmla="*/ 320 w 1034"/>
                  <a:gd name="T39" fmla="*/ 1204 h 1273"/>
                  <a:gd name="T40" fmla="*/ 443 w 1034"/>
                  <a:gd name="T41" fmla="*/ 1204 h 1273"/>
                  <a:gd name="T42" fmla="*/ 563 w 1034"/>
                  <a:gd name="T43" fmla="*/ 1179 h 1273"/>
                  <a:gd name="T44" fmla="*/ 675 w 1034"/>
                  <a:gd name="T45" fmla="*/ 1129 h 1273"/>
                  <a:gd name="T46" fmla="*/ 775 w 1034"/>
                  <a:gd name="T47" fmla="*/ 1057 h 1273"/>
                  <a:gd name="T48" fmla="*/ 857 w 1034"/>
                  <a:gd name="T49" fmla="*/ 965 h 1273"/>
                  <a:gd name="T50" fmla="*/ 919 w 1034"/>
                  <a:gd name="T51" fmla="*/ 858 h 1273"/>
                  <a:gd name="T52" fmla="*/ 956 w 1034"/>
                  <a:gd name="T53" fmla="*/ 742 h 1273"/>
                  <a:gd name="T54" fmla="*/ 969 w 1034"/>
                  <a:gd name="T55" fmla="*/ 619 h 1273"/>
                  <a:gd name="T56" fmla="*/ 956 w 1034"/>
                  <a:gd name="T57" fmla="*/ 496 h 1273"/>
                  <a:gd name="T58" fmla="*/ 919 w 1034"/>
                  <a:gd name="T59" fmla="*/ 381 h 1273"/>
                  <a:gd name="T60" fmla="*/ 857 w 1034"/>
                  <a:gd name="T61" fmla="*/ 273 h 1273"/>
                  <a:gd name="T62" fmla="*/ 775 w 1034"/>
                  <a:gd name="T63" fmla="*/ 182 h 1273"/>
                  <a:gd name="T64" fmla="*/ 675 w 1034"/>
                  <a:gd name="T65" fmla="*/ 110 h 1273"/>
                  <a:gd name="T66" fmla="*/ 563 w 1034"/>
                  <a:gd name="T67" fmla="*/ 61 h 1273"/>
                  <a:gd name="T68" fmla="*/ 582 w 1034"/>
                  <a:gd name="T69" fmla="*/ 0 h 127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034" h="1273">
                    <a:moveTo>
                      <a:pt x="582" y="0"/>
                    </a:moveTo>
                    <a:lnTo>
                      <a:pt x="646" y="23"/>
                    </a:lnTo>
                    <a:lnTo>
                      <a:pt x="707" y="56"/>
                    </a:lnTo>
                    <a:lnTo>
                      <a:pt x="765" y="92"/>
                    </a:lnTo>
                    <a:lnTo>
                      <a:pt x="818" y="134"/>
                    </a:lnTo>
                    <a:lnTo>
                      <a:pt x="866" y="184"/>
                    </a:lnTo>
                    <a:lnTo>
                      <a:pt x="908" y="237"/>
                    </a:lnTo>
                    <a:lnTo>
                      <a:pt x="944" y="294"/>
                    </a:lnTo>
                    <a:lnTo>
                      <a:pt x="977" y="353"/>
                    </a:lnTo>
                    <a:lnTo>
                      <a:pt x="1000" y="417"/>
                    </a:lnTo>
                    <a:lnTo>
                      <a:pt x="1018" y="483"/>
                    </a:lnTo>
                    <a:lnTo>
                      <a:pt x="1030" y="550"/>
                    </a:lnTo>
                    <a:lnTo>
                      <a:pt x="1033" y="619"/>
                    </a:lnTo>
                    <a:lnTo>
                      <a:pt x="1030" y="688"/>
                    </a:lnTo>
                    <a:lnTo>
                      <a:pt x="1018" y="756"/>
                    </a:lnTo>
                    <a:lnTo>
                      <a:pt x="1000" y="821"/>
                    </a:lnTo>
                    <a:lnTo>
                      <a:pt x="977" y="884"/>
                    </a:lnTo>
                    <a:lnTo>
                      <a:pt x="944" y="944"/>
                    </a:lnTo>
                    <a:lnTo>
                      <a:pt x="908" y="1003"/>
                    </a:lnTo>
                    <a:lnTo>
                      <a:pt x="866" y="1055"/>
                    </a:lnTo>
                    <a:lnTo>
                      <a:pt x="818" y="1105"/>
                    </a:lnTo>
                    <a:lnTo>
                      <a:pt x="765" y="1148"/>
                    </a:lnTo>
                    <a:lnTo>
                      <a:pt x="707" y="1183"/>
                    </a:lnTo>
                    <a:lnTo>
                      <a:pt x="646" y="1215"/>
                    </a:lnTo>
                    <a:lnTo>
                      <a:pt x="582" y="1239"/>
                    </a:lnTo>
                    <a:lnTo>
                      <a:pt x="517" y="1257"/>
                    </a:lnTo>
                    <a:lnTo>
                      <a:pt x="450" y="1269"/>
                    </a:lnTo>
                    <a:lnTo>
                      <a:pt x="382" y="1272"/>
                    </a:lnTo>
                    <a:lnTo>
                      <a:pt x="313" y="1269"/>
                    </a:lnTo>
                    <a:lnTo>
                      <a:pt x="246" y="1257"/>
                    </a:lnTo>
                    <a:lnTo>
                      <a:pt x="180" y="1239"/>
                    </a:lnTo>
                    <a:lnTo>
                      <a:pt x="118" y="1215"/>
                    </a:lnTo>
                    <a:lnTo>
                      <a:pt x="57" y="1183"/>
                    </a:lnTo>
                    <a:lnTo>
                      <a:pt x="0" y="1148"/>
                    </a:lnTo>
                    <a:lnTo>
                      <a:pt x="36" y="1095"/>
                    </a:lnTo>
                    <a:lnTo>
                      <a:pt x="89" y="1129"/>
                    </a:lnTo>
                    <a:lnTo>
                      <a:pt x="144" y="1156"/>
                    </a:lnTo>
                    <a:lnTo>
                      <a:pt x="201" y="1179"/>
                    </a:lnTo>
                    <a:lnTo>
                      <a:pt x="261" y="1195"/>
                    </a:lnTo>
                    <a:lnTo>
                      <a:pt x="320" y="1204"/>
                    </a:lnTo>
                    <a:lnTo>
                      <a:pt x="382" y="1208"/>
                    </a:lnTo>
                    <a:lnTo>
                      <a:pt x="443" y="1204"/>
                    </a:lnTo>
                    <a:lnTo>
                      <a:pt x="504" y="1195"/>
                    </a:lnTo>
                    <a:lnTo>
                      <a:pt x="563" y="1179"/>
                    </a:lnTo>
                    <a:lnTo>
                      <a:pt x="621" y="1156"/>
                    </a:lnTo>
                    <a:lnTo>
                      <a:pt x="675" y="1129"/>
                    </a:lnTo>
                    <a:lnTo>
                      <a:pt x="727" y="1095"/>
                    </a:lnTo>
                    <a:lnTo>
                      <a:pt x="775" y="1057"/>
                    </a:lnTo>
                    <a:lnTo>
                      <a:pt x="818" y="1013"/>
                    </a:lnTo>
                    <a:lnTo>
                      <a:pt x="857" y="965"/>
                    </a:lnTo>
                    <a:lnTo>
                      <a:pt x="890" y="913"/>
                    </a:lnTo>
                    <a:lnTo>
                      <a:pt x="919" y="858"/>
                    </a:lnTo>
                    <a:lnTo>
                      <a:pt x="941" y="802"/>
                    </a:lnTo>
                    <a:lnTo>
                      <a:pt x="956" y="742"/>
                    </a:lnTo>
                    <a:lnTo>
                      <a:pt x="965" y="680"/>
                    </a:lnTo>
                    <a:lnTo>
                      <a:pt x="969" y="619"/>
                    </a:lnTo>
                    <a:lnTo>
                      <a:pt x="965" y="557"/>
                    </a:lnTo>
                    <a:lnTo>
                      <a:pt x="956" y="496"/>
                    </a:lnTo>
                    <a:lnTo>
                      <a:pt x="941" y="437"/>
                    </a:lnTo>
                    <a:lnTo>
                      <a:pt x="919" y="381"/>
                    </a:lnTo>
                    <a:lnTo>
                      <a:pt x="890" y="325"/>
                    </a:lnTo>
                    <a:lnTo>
                      <a:pt x="857" y="273"/>
                    </a:lnTo>
                    <a:lnTo>
                      <a:pt x="818" y="225"/>
                    </a:lnTo>
                    <a:lnTo>
                      <a:pt x="775" y="182"/>
                    </a:lnTo>
                    <a:lnTo>
                      <a:pt x="727" y="144"/>
                    </a:lnTo>
                    <a:lnTo>
                      <a:pt x="675" y="110"/>
                    </a:lnTo>
                    <a:lnTo>
                      <a:pt x="621" y="81"/>
                    </a:lnTo>
                    <a:lnTo>
                      <a:pt x="563" y="61"/>
                    </a:lnTo>
                    <a:lnTo>
                      <a:pt x="565" y="56"/>
                    </a:lnTo>
                    <a:lnTo>
                      <a:pt x="58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5" name="Line 4"/>
              <p:cNvSpPr>
                <a:spLocks noChangeShapeType="1"/>
              </p:cNvSpPr>
              <p:nvPr/>
            </p:nvSpPr>
            <p:spPr bwMode="ltGray">
              <a:xfrm flipV="1">
                <a:off x="4639" y="3863"/>
                <a:ext cx="103" cy="186"/>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6" name="Line 5"/>
              <p:cNvSpPr>
                <a:spLocks noChangeShapeType="1"/>
              </p:cNvSpPr>
              <p:nvPr/>
            </p:nvSpPr>
            <p:spPr bwMode="ltGray">
              <a:xfrm flipV="1">
                <a:off x="5210" y="2874"/>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7" name="Line 6"/>
              <p:cNvSpPr>
                <a:spLocks noChangeShapeType="1"/>
              </p:cNvSpPr>
              <p:nvPr/>
            </p:nvSpPr>
            <p:spPr bwMode="ltGray">
              <a:xfrm flipV="1">
                <a:off x="5270" y="2751"/>
                <a:ext cx="36" cy="71"/>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Freeform 7"/>
              <p:cNvSpPr>
                <a:spLocks/>
              </p:cNvSpPr>
              <p:nvPr/>
            </p:nvSpPr>
            <p:spPr bwMode="ltGray">
              <a:xfrm>
                <a:off x="4753" y="4067"/>
                <a:ext cx="604" cy="110"/>
              </a:xfrm>
              <a:custGeom>
                <a:avLst/>
                <a:gdLst>
                  <a:gd name="T0" fmla="*/ 2 w 604"/>
                  <a:gd name="T1" fmla="*/ 70 h 110"/>
                  <a:gd name="T2" fmla="*/ 14 w 604"/>
                  <a:gd name="T3" fmla="*/ 57 h 110"/>
                  <a:gd name="T4" fmla="*/ 31 w 604"/>
                  <a:gd name="T5" fmla="*/ 46 h 110"/>
                  <a:gd name="T6" fmla="*/ 63 w 604"/>
                  <a:gd name="T7" fmla="*/ 30 h 110"/>
                  <a:gd name="T8" fmla="*/ 100 w 604"/>
                  <a:gd name="T9" fmla="*/ 21 h 110"/>
                  <a:gd name="T10" fmla="*/ 134 w 604"/>
                  <a:gd name="T11" fmla="*/ 13 h 110"/>
                  <a:gd name="T12" fmla="*/ 181 w 604"/>
                  <a:gd name="T13" fmla="*/ 6 h 110"/>
                  <a:gd name="T14" fmla="*/ 225 w 604"/>
                  <a:gd name="T15" fmla="*/ 2 h 110"/>
                  <a:gd name="T16" fmla="*/ 277 w 604"/>
                  <a:gd name="T17" fmla="*/ 0 h 110"/>
                  <a:gd name="T18" fmla="*/ 340 w 604"/>
                  <a:gd name="T19" fmla="*/ 0 h 110"/>
                  <a:gd name="T20" fmla="*/ 407 w 604"/>
                  <a:gd name="T21" fmla="*/ 4 h 110"/>
                  <a:gd name="T22" fmla="*/ 453 w 604"/>
                  <a:gd name="T23" fmla="*/ 10 h 110"/>
                  <a:gd name="T24" fmla="*/ 502 w 604"/>
                  <a:gd name="T25" fmla="*/ 19 h 110"/>
                  <a:gd name="T26" fmla="*/ 549 w 604"/>
                  <a:gd name="T27" fmla="*/ 33 h 110"/>
                  <a:gd name="T28" fmla="*/ 573 w 604"/>
                  <a:gd name="T29" fmla="*/ 47 h 110"/>
                  <a:gd name="T30" fmla="*/ 588 w 604"/>
                  <a:gd name="T31" fmla="*/ 58 h 110"/>
                  <a:gd name="T32" fmla="*/ 603 w 604"/>
                  <a:gd name="T33" fmla="*/ 77 h 110"/>
                  <a:gd name="T34" fmla="*/ 578 w 604"/>
                  <a:gd name="T35" fmla="*/ 87 h 110"/>
                  <a:gd name="T36" fmla="*/ 536 w 604"/>
                  <a:gd name="T37" fmla="*/ 95 h 110"/>
                  <a:gd name="T38" fmla="*/ 485 w 604"/>
                  <a:gd name="T39" fmla="*/ 101 h 110"/>
                  <a:gd name="T40" fmla="*/ 436 w 604"/>
                  <a:gd name="T41" fmla="*/ 106 h 110"/>
                  <a:gd name="T42" fmla="*/ 377 w 604"/>
                  <a:gd name="T43" fmla="*/ 108 h 110"/>
                  <a:gd name="T44" fmla="*/ 313 w 604"/>
                  <a:gd name="T45" fmla="*/ 109 h 110"/>
                  <a:gd name="T46" fmla="*/ 252 w 604"/>
                  <a:gd name="T47" fmla="*/ 109 h 110"/>
                  <a:gd name="T48" fmla="*/ 188 w 604"/>
                  <a:gd name="T49" fmla="*/ 108 h 110"/>
                  <a:gd name="T50" fmla="*/ 117 w 604"/>
                  <a:gd name="T51" fmla="*/ 102 h 110"/>
                  <a:gd name="T52" fmla="*/ 61 w 604"/>
                  <a:gd name="T53" fmla="*/ 96 h 110"/>
                  <a:gd name="T54" fmla="*/ 14 w 604"/>
                  <a:gd name="T55" fmla="*/ 86 h 110"/>
                  <a:gd name="T56" fmla="*/ 0 w 604"/>
                  <a:gd name="T57" fmla="*/ 78 h 110"/>
                  <a:gd name="T58" fmla="*/ 2 w 604"/>
                  <a:gd name="T59" fmla="*/ 70 h 11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604" h="110">
                    <a:moveTo>
                      <a:pt x="2" y="70"/>
                    </a:moveTo>
                    <a:lnTo>
                      <a:pt x="14" y="57"/>
                    </a:lnTo>
                    <a:lnTo>
                      <a:pt x="31" y="46"/>
                    </a:lnTo>
                    <a:lnTo>
                      <a:pt x="63" y="30"/>
                    </a:lnTo>
                    <a:lnTo>
                      <a:pt x="100" y="21"/>
                    </a:lnTo>
                    <a:lnTo>
                      <a:pt x="134" y="13"/>
                    </a:lnTo>
                    <a:lnTo>
                      <a:pt x="181" y="6"/>
                    </a:lnTo>
                    <a:lnTo>
                      <a:pt x="225" y="2"/>
                    </a:lnTo>
                    <a:lnTo>
                      <a:pt x="277" y="0"/>
                    </a:lnTo>
                    <a:lnTo>
                      <a:pt x="340" y="0"/>
                    </a:lnTo>
                    <a:lnTo>
                      <a:pt x="407" y="4"/>
                    </a:lnTo>
                    <a:lnTo>
                      <a:pt x="453" y="10"/>
                    </a:lnTo>
                    <a:lnTo>
                      <a:pt x="502" y="19"/>
                    </a:lnTo>
                    <a:lnTo>
                      <a:pt x="549" y="33"/>
                    </a:lnTo>
                    <a:lnTo>
                      <a:pt x="573" y="47"/>
                    </a:lnTo>
                    <a:lnTo>
                      <a:pt x="588" y="58"/>
                    </a:lnTo>
                    <a:lnTo>
                      <a:pt x="603" y="77"/>
                    </a:lnTo>
                    <a:lnTo>
                      <a:pt x="578" y="87"/>
                    </a:lnTo>
                    <a:lnTo>
                      <a:pt x="536" y="95"/>
                    </a:lnTo>
                    <a:lnTo>
                      <a:pt x="485" y="101"/>
                    </a:lnTo>
                    <a:lnTo>
                      <a:pt x="436" y="106"/>
                    </a:lnTo>
                    <a:lnTo>
                      <a:pt x="377" y="108"/>
                    </a:lnTo>
                    <a:lnTo>
                      <a:pt x="313" y="109"/>
                    </a:lnTo>
                    <a:lnTo>
                      <a:pt x="252" y="109"/>
                    </a:lnTo>
                    <a:lnTo>
                      <a:pt x="188" y="108"/>
                    </a:lnTo>
                    <a:lnTo>
                      <a:pt x="117" y="102"/>
                    </a:lnTo>
                    <a:lnTo>
                      <a:pt x="61" y="96"/>
                    </a:lnTo>
                    <a:lnTo>
                      <a:pt x="14" y="86"/>
                    </a:lnTo>
                    <a:lnTo>
                      <a:pt x="0" y="78"/>
                    </a:lnTo>
                    <a:lnTo>
                      <a:pt x="2" y="70"/>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39" name="Oval 8">
                <a:extLst>
                  <a:ext uri="{FF2B5EF4-FFF2-40B4-BE49-F238E27FC236}">
                    <a16:creationId xmlns:a16="http://schemas.microsoft.com/office/drawing/2014/main" id="{9C9A6538-F304-47B3-91CB-6287272907EC}"/>
                  </a:ext>
                </a:extLst>
              </p:cNvPr>
              <p:cNvSpPr>
                <a:spLocks noChangeArrowheads="1"/>
              </p:cNvSpPr>
              <p:nvPr/>
            </p:nvSpPr>
            <p:spPr bwMode="grayWhite">
              <a:xfrm>
                <a:off x="4458" y="2879"/>
                <a:ext cx="1074" cy="1073"/>
              </a:xfrm>
              <a:prstGeom prst="ellipse">
                <a:avLst/>
              </a:pr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1040" name="Group 27"/>
              <p:cNvGrpSpPr>
                <a:grpSpLocks/>
              </p:cNvGrpSpPr>
              <p:nvPr/>
            </p:nvGrpSpPr>
            <p:grpSpPr bwMode="auto">
              <a:xfrm>
                <a:off x="4458" y="2991"/>
                <a:ext cx="999" cy="797"/>
                <a:chOff x="4458" y="2991"/>
                <a:chExt cx="999" cy="797"/>
              </a:xfrm>
            </p:grpSpPr>
            <p:sp>
              <p:nvSpPr>
                <p:cNvPr id="1041" name="Freeform 9"/>
                <p:cNvSpPr>
                  <a:spLocks/>
                </p:cNvSpPr>
                <p:nvPr/>
              </p:nvSpPr>
              <p:spPr bwMode="grayWhite">
                <a:xfrm>
                  <a:off x="4599" y="3283"/>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2" name="Freeform 10"/>
                <p:cNvSpPr>
                  <a:spLocks/>
                </p:cNvSpPr>
                <p:nvPr/>
              </p:nvSpPr>
              <p:spPr bwMode="grayWhite">
                <a:xfrm>
                  <a:off x="4616" y="3305"/>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3" name="Freeform 11"/>
                <p:cNvSpPr>
                  <a:spLocks/>
                </p:cNvSpPr>
                <p:nvPr/>
              </p:nvSpPr>
              <p:spPr bwMode="grayWhite">
                <a:xfrm>
                  <a:off x="4674" y="3275"/>
                  <a:ext cx="37" cy="35"/>
                </a:xfrm>
                <a:custGeom>
                  <a:avLst/>
                  <a:gdLst>
                    <a:gd name="T0" fmla="*/ 36 w 37"/>
                    <a:gd name="T1" fmla="*/ 0 h 35"/>
                    <a:gd name="T2" fmla="*/ 22 w 37"/>
                    <a:gd name="T3" fmla="*/ 0 h 35"/>
                    <a:gd name="T4" fmla="*/ 14 w 37"/>
                    <a:gd name="T5" fmla="*/ 9 h 35"/>
                    <a:gd name="T6" fmla="*/ 9 w 37"/>
                    <a:gd name="T7" fmla="*/ 9 h 35"/>
                    <a:gd name="T8" fmla="*/ 5 w 37"/>
                    <a:gd name="T9" fmla="*/ 13 h 35"/>
                    <a:gd name="T10" fmla="*/ 0 w 37"/>
                    <a:gd name="T11" fmla="*/ 13 h 35"/>
                    <a:gd name="T12" fmla="*/ 0 w 37"/>
                    <a:gd name="T13" fmla="*/ 25 h 35"/>
                    <a:gd name="T14" fmla="*/ 8 w 37"/>
                    <a:gd name="T15" fmla="*/ 34 h 35"/>
                    <a:gd name="T16" fmla="*/ 29 w 37"/>
                    <a:gd name="T17" fmla="*/ 34 h 35"/>
                    <a:gd name="T18" fmla="*/ 36 w 37"/>
                    <a:gd name="T19" fmla="*/ 25 h 35"/>
                    <a:gd name="T20" fmla="*/ 36 w 37"/>
                    <a:gd name="T21" fmla="*/ 0 h 3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 h="35">
                      <a:moveTo>
                        <a:pt x="36" y="0"/>
                      </a:moveTo>
                      <a:lnTo>
                        <a:pt x="22" y="0"/>
                      </a:lnTo>
                      <a:lnTo>
                        <a:pt x="14" y="9"/>
                      </a:lnTo>
                      <a:lnTo>
                        <a:pt x="9" y="9"/>
                      </a:lnTo>
                      <a:lnTo>
                        <a:pt x="5" y="13"/>
                      </a:lnTo>
                      <a:lnTo>
                        <a:pt x="0" y="13"/>
                      </a:lnTo>
                      <a:lnTo>
                        <a:pt x="0" y="25"/>
                      </a:lnTo>
                      <a:lnTo>
                        <a:pt x="8" y="34"/>
                      </a:lnTo>
                      <a:lnTo>
                        <a:pt x="29" y="34"/>
                      </a:lnTo>
                      <a:lnTo>
                        <a:pt x="36" y="25"/>
                      </a:lnTo>
                      <a:lnTo>
                        <a:pt x="3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4" name="Freeform 12"/>
                <p:cNvSpPr>
                  <a:spLocks/>
                </p:cNvSpPr>
                <p:nvPr/>
              </p:nvSpPr>
              <p:spPr bwMode="grayWhite">
                <a:xfrm>
                  <a:off x="4458" y="3303"/>
                  <a:ext cx="324" cy="422"/>
                </a:xfrm>
                <a:custGeom>
                  <a:avLst/>
                  <a:gdLst>
                    <a:gd name="T0" fmla="*/ 76 w 324"/>
                    <a:gd name="T1" fmla="*/ 0 h 422"/>
                    <a:gd name="T2" fmla="*/ 71 w 324"/>
                    <a:gd name="T3" fmla="*/ 11 h 422"/>
                    <a:gd name="T4" fmla="*/ 45 w 324"/>
                    <a:gd name="T5" fmla="*/ 33 h 422"/>
                    <a:gd name="T6" fmla="*/ 40 w 324"/>
                    <a:gd name="T7" fmla="*/ 53 h 422"/>
                    <a:gd name="T8" fmla="*/ 21 w 324"/>
                    <a:gd name="T9" fmla="*/ 68 h 422"/>
                    <a:gd name="T10" fmla="*/ 8 w 324"/>
                    <a:gd name="T11" fmla="*/ 96 h 422"/>
                    <a:gd name="T12" fmla="*/ 8 w 324"/>
                    <a:gd name="T13" fmla="*/ 114 h 422"/>
                    <a:gd name="T14" fmla="*/ 0 w 324"/>
                    <a:gd name="T15" fmla="*/ 144 h 422"/>
                    <a:gd name="T16" fmla="*/ 11 w 324"/>
                    <a:gd name="T17" fmla="*/ 157 h 422"/>
                    <a:gd name="T18" fmla="*/ 40 w 324"/>
                    <a:gd name="T19" fmla="*/ 195 h 422"/>
                    <a:gd name="T20" fmla="*/ 48 w 324"/>
                    <a:gd name="T21" fmla="*/ 190 h 422"/>
                    <a:gd name="T22" fmla="*/ 99 w 324"/>
                    <a:gd name="T23" fmla="*/ 190 h 422"/>
                    <a:gd name="T24" fmla="*/ 123 w 324"/>
                    <a:gd name="T25" fmla="*/ 199 h 422"/>
                    <a:gd name="T26" fmla="*/ 121 w 324"/>
                    <a:gd name="T27" fmla="*/ 229 h 422"/>
                    <a:gd name="T28" fmla="*/ 138 w 324"/>
                    <a:gd name="T29" fmla="*/ 268 h 422"/>
                    <a:gd name="T30" fmla="*/ 137 w 324"/>
                    <a:gd name="T31" fmla="*/ 279 h 422"/>
                    <a:gd name="T32" fmla="*/ 144 w 324"/>
                    <a:gd name="T33" fmla="*/ 291 h 422"/>
                    <a:gd name="T34" fmla="*/ 133 w 324"/>
                    <a:gd name="T35" fmla="*/ 319 h 422"/>
                    <a:gd name="T36" fmla="*/ 146 w 324"/>
                    <a:gd name="T37" fmla="*/ 354 h 422"/>
                    <a:gd name="T38" fmla="*/ 153 w 324"/>
                    <a:gd name="T39" fmla="*/ 382 h 422"/>
                    <a:gd name="T40" fmla="*/ 162 w 324"/>
                    <a:gd name="T41" fmla="*/ 399 h 422"/>
                    <a:gd name="T42" fmla="*/ 171 w 324"/>
                    <a:gd name="T43" fmla="*/ 421 h 422"/>
                    <a:gd name="T44" fmla="*/ 188 w 324"/>
                    <a:gd name="T45" fmla="*/ 418 h 422"/>
                    <a:gd name="T46" fmla="*/ 216 w 324"/>
                    <a:gd name="T47" fmla="*/ 402 h 422"/>
                    <a:gd name="T48" fmla="*/ 229 w 324"/>
                    <a:gd name="T49" fmla="*/ 382 h 422"/>
                    <a:gd name="T50" fmla="*/ 228 w 324"/>
                    <a:gd name="T51" fmla="*/ 369 h 422"/>
                    <a:gd name="T52" fmla="*/ 245 w 324"/>
                    <a:gd name="T53" fmla="*/ 359 h 422"/>
                    <a:gd name="T54" fmla="*/ 242 w 324"/>
                    <a:gd name="T55" fmla="*/ 340 h 422"/>
                    <a:gd name="T56" fmla="*/ 267 w 324"/>
                    <a:gd name="T57" fmla="*/ 310 h 422"/>
                    <a:gd name="T58" fmla="*/ 271 w 324"/>
                    <a:gd name="T59" fmla="*/ 285 h 422"/>
                    <a:gd name="T60" fmla="*/ 264 w 324"/>
                    <a:gd name="T61" fmla="*/ 277 h 422"/>
                    <a:gd name="T62" fmla="*/ 267 w 324"/>
                    <a:gd name="T63" fmla="*/ 267 h 422"/>
                    <a:gd name="T64" fmla="*/ 261 w 324"/>
                    <a:gd name="T65" fmla="*/ 258 h 422"/>
                    <a:gd name="T66" fmla="*/ 280 w 324"/>
                    <a:gd name="T67" fmla="*/ 234 h 422"/>
                    <a:gd name="T68" fmla="*/ 280 w 324"/>
                    <a:gd name="T69" fmla="*/ 222 h 422"/>
                    <a:gd name="T70" fmla="*/ 306 w 324"/>
                    <a:gd name="T71" fmla="*/ 202 h 422"/>
                    <a:gd name="T72" fmla="*/ 323 w 324"/>
                    <a:gd name="T73" fmla="*/ 148 h 422"/>
                    <a:gd name="T74" fmla="*/ 299 w 324"/>
                    <a:gd name="T75" fmla="*/ 162 h 422"/>
                    <a:gd name="T76" fmla="*/ 278 w 324"/>
                    <a:gd name="T77" fmla="*/ 156 h 422"/>
                    <a:gd name="T78" fmla="*/ 281 w 324"/>
                    <a:gd name="T79" fmla="*/ 143 h 422"/>
                    <a:gd name="T80" fmla="*/ 260 w 324"/>
                    <a:gd name="T81" fmla="*/ 129 h 422"/>
                    <a:gd name="T82" fmla="*/ 250 w 324"/>
                    <a:gd name="T83" fmla="*/ 94 h 422"/>
                    <a:gd name="T84" fmla="*/ 230 w 324"/>
                    <a:gd name="T85" fmla="*/ 66 h 422"/>
                    <a:gd name="T86" fmla="*/ 230 w 324"/>
                    <a:gd name="T87" fmla="*/ 47 h 422"/>
                    <a:gd name="T88" fmla="*/ 219 w 324"/>
                    <a:gd name="T89" fmla="*/ 46 h 422"/>
                    <a:gd name="T90" fmla="*/ 212 w 324"/>
                    <a:gd name="T91" fmla="*/ 49 h 422"/>
                    <a:gd name="T92" fmla="*/ 182 w 324"/>
                    <a:gd name="T93" fmla="*/ 38 h 422"/>
                    <a:gd name="T94" fmla="*/ 174 w 324"/>
                    <a:gd name="T95" fmla="*/ 46 h 422"/>
                    <a:gd name="T96" fmla="*/ 167 w 324"/>
                    <a:gd name="T97" fmla="*/ 56 h 422"/>
                    <a:gd name="T98" fmla="*/ 151 w 324"/>
                    <a:gd name="T99" fmla="*/ 38 h 422"/>
                    <a:gd name="T100" fmla="*/ 135 w 324"/>
                    <a:gd name="T101" fmla="*/ 33 h 422"/>
                    <a:gd name="T102" fmla="*/ 134 w 324"/>
                    <a:gd name="T103" fmla="*/ 10 h 422"/>
                    <a:gd name="T104" fmla="*/ 111 w 324"/>
                    <a:gd name="T105" fmla="*/ 14 h 422"/>
                    <a:gd name="T106" fmla="*/ 96 w 324"/>
                    <a:gd name="T107" fmla="*/ 9 h 422"/>
                    <a:gd name="T108" fmla="*/ 76 w 324"/>
                    <a:gd name="T109" fmla="*/ 0 h 42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324" h="422">
                      <a:moveTo>
                        <a:pt x="76" y="0"/>
                      </a:moveTo>
                      <a:lnTo>
                        <a:pt x="71" y="11"/>
                      </a:lnTo>
                      <a:lnTo>
                        <a:pt x="45" y="33"/>
                      </a:lnTo>
                      <a:lnTo>
                        <a:pt x="40" y="53"/>
                      </a:lnTo>
                      <a:lnTo>
                        <a:pt x="21" y="68"/>
                      </a:lnTo>
                      <a:lnTo>
                        <a:pt x="8" y="96"/>
                      </a:lnTo>
                      <a:lnTo>
                        <a:pt x="8" y="114"/>
                      </a:lnTo>
                      <a:lnTo>
                        <a:pt x="0" y="144"/>
                      </a:lnTo>
                      <a:lnTo>
                        <a:pt x="11" y="157"/>
                      </a:lnTo>
                      <a:lnTo>
                        <a:pt x="40" y="195"/>
                      </a:lnTo>
                      <a:lnTo>
                        <a:pt x="48" y="190"/>
                      </a:lnTo>
                      <a:lnTo>
                        <a:pt x="99" y="190"/>
                      </a:lnTo>
                      <a:lnTo>
                        <a:pt x="123" y="199"/>
                      </a:lnTo>
                      <a:lnTo>
                        <a:pt x="121" y="229"/>
                      </a:lnTo>
                      <a:lnTo>
                        <a:pt x="138" y="268"/>
                      </a:lnTo>
                      <a:lnTo>
                        <a:pt x="137" y="279"/>
                      </a:lnTo>
                      <a:lnTo>
                        <a:pt x="144" y="291"/>
                      </a:lnTo>
                      <a:lnTo>
                        <a:pt x="133" y="319"/>
                      </a:lnTo>
                      <a:lnTo>
                        <a:pt x="146" y="354"/>
                      </a:lnTo>
                      <a:lnTo>
                        <a:pt x="153" y="382"/>
                      </a:lnTo>
                      <a:lnTo>
                        <a:pt x="162" y="399"/>
                      </a:lnTo>
                      <a:lnTo>
                        <a:pt x="171" y="421"/>
                      </a:lnTo>
                      <a:lnTo>
                        <a:pt x="188" y="418"/>
                      </a:lnTo>
                      <a:lnTo>
                        <a:pt x="216" y="402"/>
                      </a:lnTo>
                      <a:lnTo>
                        <a:pt x="229" y="382"/>
                      </a:lnTo>
                      <a:lnTo>
                        <a:pt x="228" y="369"/>
                      </a:lnTo>
                      <a:lnTo>
                        <a:pt x="245" y="359"/>
                      </a:lnTo>
                      <a:lnTo>
                        <a:pt x="242" y="340"/>
                      </a:lnTo>
                      <a:lnTo>
                        <a:pt x="267" y="310"/>
                      </a:lnTo>
                      <a:lnTo>
                        <a:pt x="271" y="285"/>
                      </a:lnTo>
                      <a:lnTo>
                        <a:pt x="264" y="277"/>
                      </a:lnTo>
                      <a:lnTo>
                        <a:pt x="267" y="267"/>
                      </a:lnTo>
                      <a:lnTo>
                        <a:pt x="261" y="258"/>
                      </a:lnTo>
                      <a:lnTo>
                        <a:pt x="280" y="234"/>
                      </a:lnTo>
                      <a:lnTo>
                        <a:pt x="280" y="222"/>
                      </a:lnTo>
                      <a:lnTo>
                        <a:pt x="306" y="202"/>
                      </a:lnTo>
                      <a:lnTo>
                        <a:pt x="323" y="148"/>
                      </a:lnTo>
                      <a:lnTo>
                        <a:pt x="299" y="162"/>
                      </a:lnTo>
                      <a:lnTo>
                        <a:pt x="278" y="156"/>
                      </a:lnTo>
                      <a:lnTo>
                        <a:pt x="281" y="143"/>
                      </a:lnTo>
                      <a:lnTo>
                        <a:pt x="260" y="129"/>
                      </a:lnTo>
                      <a:lnTo>
                        <a:pt x="250" y="94"/>
                      </a:lnTo>
                      <a:lnTo>
                        <a:pt x="230" y="66"/>
                      </a:lnTo>
                      <a:lnTo>
                        <a:pt x="230" y="47"/>
                      </a:lnTo>
                      <a:lnTo>
                        <a:pt x="219" y="46"/>
                      </a:lnTo>
                      <a:lnTo>
                        <a:pt x="212" y="49"/>
                      </a:lnTo>
                      <a:lnTo>
                        <a:pt x="182" y="38"/>
                      </a:lnTo>
                      <a:lnTo>
                        <a:pt x="174" y="46"/>
                      </a:lnTo>
                      <a:lnTo>
                        <a:pt x="167" y="56"/>
                      </a:lnTo>
                      <a:lnTo>
                        <a:pt x="151" y="38"/>
                      </a:lnTo>
                      <a:lnTo>
                        <a:pt x="135" y="33"/>
                      </a:lnTo>
                      <a:lnTo>
                        <a:pt x="134" y="10"/>
                      </a:lnTo>
                      <a:lnTo>
                        <a:pt x="111" y="14"/>
                      </a:lnTo>
                      <a:lnTo>
                        <a:pt x="96" y="9"/>
                      </a:lnTo>
                      <a:lnTo>
                        <a:pt x="76"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5" name="Freeform 13"/>
                <p:cNvSpPr>
                  <a:spLocks/>
                </p:cNvSpPr>
                <p:nvPr/>
              </p:nvSpPr>
              <p:spPr bwMode="grayWhite">
                <a:xfrm>
                  <a:off x="5205" y="3408"/>
                  <a:ext cx="17" cy="21"/>
                </a:xfrm>
                <a:custGeom>
                  <a:avLst/>
                  <a:gdLst>
                    <a:gd name="T0" fmla="*/ 7 w 17"/>
                    <a:gd name="T1" fmla="*/ 0 h 21"/>
                    <a:gd name="T2" fmla="*/ 9 w 17"/>
                    <a:gd name="T3" fmla="*/ 5 h 21"/>
                    <a:gd name="T4" fmla="*/ 7 w 17"/>
                    <a:gd name="T5" fmla="*/ 10 h 21"/>
                    <a:gd name="T6" fmla="*/ 7 w 17"/>
                    <a:gd name="T7" fmla="*/ 14 h 21"/>
                    <a:gd name="T8" fmla="*/ 16 w 17"/>
                    <a:gd name="T9" fmla="*/ 17 h 21"/>
                    <a:gd name="T10" fmla="*/ 16 w 17"/>
                    <a:gd name="T11" fmla="*/ 20 h 21"/>
                    <a:gd name="T12" fmla="*/ 9 w 17"/>
                    <a:gd name="T13" fmla="*/ 17 h 21"/>
                    <a:gd name="T14" fmla="*/ 3 w 17"/>
                    <a:gd name="T15" fmla="*/ 20 h 21"/>
                    <a:gd name="T16" fmla="*/ 0 w 17"/>
                    <a:gd name="T17" fmla="*/ 17 h 21"/>
                    <a:gd name="T18" fmla="*/ 3 w 17"/>
                    <a:gd name="T19" fmla="*/ 14 h 21"/>
                    <a:gd name="T20" fmla="*/ 0 w 17"/>
                    <a:gd name="T21" fmla="*/ 10 h 21"/>
                    <a:gd name="T22" fmla="*/ 3 w 17"/>
                    <a:gd name="T23" fmla="*/ 2 h 21"/>
                    <a:gd name="T24" fmla="*/ 7 w 17"/>
                    <a:gd name="T25" fmla="*/ 0 h 2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1">
                      <a:moveTo>
                        <a:pt x="7" y="0"/>
                      </a:moveTo>
                      <a:lnTo>
                        <a:pt x="9" y="5"/>
                      </a:lnTo>
                      <a:lnTo>
                        <a:pt x="7" y="10"/>
                      </a:lnTo>
                      <a:lnTo>
                        <a:pt x="7" y="14"/>
                      </a:lnTo>
                      <a:lnTo>
                        <a:pt x="16" y="17"/>
                      </a:lnTo>
                      <a:lnTo>
                        <a:pt x="16" y="20"/>
                      </a:lnTo>
                      <a:lnTo>
                        <a:pt x="9" y="17"/>
                      </a:lnTo>
                      <a:lnTo>
                        <a:pt x="3" y="20"/>
                      </a:lnTo>
                      <a:lnTo>
                        <a:pt x="0" y="17"/>
                      </a:lnTo>
                      <a:lnTo>
                        <a:pt x="3" y="14"/>
                      </a:lnTo>
                      <a:lnTo>
                        <a:pt x="0" y="10"/>
                      </a:lnTo>
                      <a:lnTo>
                        <a:pt x="3" y="2"/>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6" name="Freeform 14"/>
                <p:cNvSpPr>
                  <a:spLocks/>
                </p:cNvSpPr>
                <p:nvPr/>
              </p:nvSpPr>
              <p:spPr bwMode="grayWhite">
                <a:xfrm>
                  <a:off x="5144" y="3496"/>
                  <a:ext cx="49" cy="70"/>
                </a:xfrm>
                <a:custGeom>
                  <a:avLst/>
                  <a:gdLst>
                    <a:gd name="T0" fmla="*/ 0 w 49"/>
                    <a:gd name="T1" fmla="*/ 34 h 70"/>
                    <a:gd name="T2" fmla="*/ 17 w 49"/>
                    <a:gd name="T3" fmla="*/ 34 h 70"/>
                    <a:gd name="T4" fmla="*/ 37 w 49"/>
                    <a:gd name="T5" fmla="*/ 0 h 70"/>
                    <a:gd name="T6" fmla="*/ 48 w 49"/>
                    <a:gd name="T7" fmla="*/ 20 h 70"/>
                    <a:gd name="T8" fmla="*/ 39 w 49"/>
                    <a:gd name="T9" fmla="*/ 69 h 70"/>
                    <a:gd name="T10" fmla="*/ 3 w 49"/>
                    <a:gd name="T11" fmla="*/ 57 h 70"/>
                    <a:gd name="T12" fmla="*/ 0 w 49"/>
                    <a:gd name="T13" fmla="*/ 34 h 7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9" h="70">
                      <a:moveTo>
                        <a:pt x="0" y="34"/>
                      </a:moveTo>
                      <a:lnTo>
                        <a:pt x="17" y="34"/>
                      </a:lnTo>
                      <a:lnTo>
                        <a:pt x="37" y="0"/>
                      </a:lnTo>
                      <a:lnTo>
                        <a:pt x="48" y="20"/>
                      </a:lnTo>
                      <a:lnTo>
                        <a:pt x="39" y="69"/>
                      </a:lnTo>
                      <a:lnTo>
                        <a:pt x="3" y="57"/>
                      </a:lnTo>
                      <a:lnTo>
                        <a:pt x="0" y="3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7" name="Freeform 15"/>
                <p:cNvSpPr>
                  <a:spLocks/>
                </p:cNvSpPr>
                <p:nvPr/>
              </p:nvSpPr>
              <p:spPr bwMode="grayWhite">
                <a:xfrm>
                  <a:off x="5241" y="3523"/>
                  <a:ext cx="84" cy="67"/>
                </a:xfrm>
                <a:custGeom>
                  <a:avLst/>
                  <a:gdLst>
                    <a:gd name="T0" fmla="*/ 5 w 84"/>
                    <a:gd name="T1" fmla="*/ 15 h 67"/>
                    <a:gd name="T2" fmla="*/ 0 w 84"/>
                    <a:gd name="T3" fmla="*/ 0 h 67"/>
                    <a:gd name="T4" fmla="*/ 27 w 84"/>
                    <a:gd name="T5" fmla="*/ 6 h 67"/>
                    <a:gd name="T6" fmla="*/ 67 w 84"/>
                    <a:gd name="T7" fmla="*/ 22 h 67"/>
                    <a:gd name="T8" fmla="*/ 67 w 84"/>
                    <a:gd name="T9" fmla="*/ 34 h 67"/>
                    <a:gd name="T10" fmla="*/ 83 w 84"/>
                    <a:gd name="T11" fmla="*/ 66 h 67"/>
                    <a:gd name="T12" fmla="*/ 52 w 84"/>
                    <a:gd name="T13" fmla="*/ 36 h 67"/>
                    <a:gd name="T14" fmla="*/ 31 w 84"/>
                    <a:gd name="T15" fmla="*/ 38 h 67"/>
                    <a:gd name="T16" fmla="*/ 5 w 84"/>
                    <a:gd name="T17" fmla="*/ 15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84" h="67">
                      <a:moveTo>
                        <a:pt x="5" y="15"/>
                      </a:moveTo>
                      <a:lnTo>
                        <a:pt x="0" y="0"/>
                      </a:lnTo>
                      <a:lnTo>
                        <a:pt x="27" y="6"/>
                      </a:lnTo>
                      <a:lnTo>
                        <a:pt x="67" y="22"/>
                      </a:lnTo>
                      <a:lnTo>
                        <a:pt x="67" y="34"/>
                      </a:lnTo>
                      <a:lnTo>
                        <a:pt x="83" y="66"/>
                      </a:lnTo>
                      <a:lnTo>
                        <a:pt x="52" y="36"/>
                      </a:lnTo>
                      <a:lnTo>
                        <a:pt x="31" y="38"/>
                      </a:lnTo>
                      <a:lnTo>
                        <a:pt x="5" y="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8" name="Freeform 16"/>
                <p:cNvSpPr>
                  <a:spLocks/>
                </p:cNvSpPr>
                <p:nvPr/>
              </p:nvSpPr>
              <p:spPr bwMode="grayWhite">
                <a:xfrm>
                  <a:off x="5400" y="3660"/>
                  <a:ext cx="57" cy="73"/>
                </a:xfrm>
                <a:custGeom>
                  <a:avLst/>
                  <a:gdLst>
                    <a:gd name="T0" fmla="*/ 34 w 57"/>
                    <a:gd name="T1" fmla="*/ 0 h 73"/>
                    <a:gd name="T2" fmla="*/ 56 w 57"/>
                    <a:gd name="T3" fmla="*/ 21 h 73"/>
                    <a:gd name="T4" fmla="*/ 11 w 57"/>
                    <a:gd name="T5" fmla="*/ 72 h 73"/>
                    <a:gd name="T6" fmla="*/ 0 w 57"/>
                    <a:gd name="T7" fmla="*/ 60 h 73"/>
                    <a:gd name="T8" fmla="*/ 32 w 57"/>
                    <a:gd name="T9" fmla="*/ 28 h 73"/>
                    <a:gd name="T10" fmla="*/ 34 w 57"/>
                    <a:gd name="T11" fmla="*/ 0 h 7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7" h="73">
                      <a:moveTo>
                        <a:pt x="34" y="0"/>
                      </a:moveTo>
                      <a:lnTo>
                        <a:pt x="56" y="21"/>
                      </a:lnTo>
                      <a:lnTo>
                        <a:pt x="11" y="72"/>
                      </a:lnTo>
                      <a:lnTo>
                        <a:pt x="0" y="60"/>
                      </a:lnTo>
                      <a:lnTo>
                        <a:pt x="32" y="28"/>
                      </a:lnTo>
                      <a:lnTo>
                        <a:pt x="34"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49" name="Freeform 17"/>
                <p:cNvSpPr>
                  <a:spLocks/>
                </p:cNvSpPr>
                <p:nvPr/>
              </p:nvSpPr>
              <p:spPr bwMode="grayWhite">
                <a:xfrm>
                  <a:off x="4558" y="3167"/>
                  <a:ext cx="29" cy="48"/>
                </a:xfrm>
                <a:custGeom>
                  <a:avLst/>
                  <a:gdLst>
                    <a:gd name="T0" fmla="*/ 28 w 29"/>
                    <a:gd name="T1" fmla="*/ 36 h 48"/>
                    <a:gd name="T2" fmla="*/ 20 w 29"/>
                    <a:gd name="T3" fmla="*/ 31 h 48"/>
                    <a:gd name="T4" fmla="*/ 20 w 29"/>
                    <a:gd name="T5" fmla="*/ 10 h 48"/>
                    <a:gd name="T6" fmla="*/ 24 w 29"/>
                    <a:gd name="T7" fmla="*/ 5 h 48"/>
                    <a:gd name="T8" fmla="*/ 17 w 29"/>
                    <a:gd name="T9" fmla="*/ 5 h 48"/>
                    <a:gd name="T10" fmla="*/ 21 w 29"/>
                    <a:gd name="T11" fmla="*/ 0 h 48"/>
                    <a:gd name="T12" fmla="*/ 16 w 29"/>
                    <a:gd name="T13" fmla="*/ 0 h 48"/>
                    <a:gd name="T14" fmla="*/ 10 w 29"/>
                    <a:gd name="T15" fmla="*/ 6 h 48"/>
                    <a:gd name="T16" fmla="*/ 10 w 29"/>
                    <a:gd name="T17" fmla="*/ 19 h 48"/>
                    <a:gd name="T18" fmla="*/ 13 w 29"/>
                    <a:gd name="T19" fmla="*/ 22 h 48"/>
                    <a:gd name="T20" fmla="*/ 13 w 29"/>
                    <a:gd name="T21" fmla="*/ 28 h 48"/>
                    <a:gd name="T22" fmla="*/ 11 w 29"/>
                    <a:gd name="T23" fmla="*/ 28 h 48"/>
                    <a:gd name="T24" fmla="*/ 6 w 29"/>
                    <a:gd name="T25" fmla="*/ 33 h 48"/>
                    <a:gd name="T26" fmla="*/ 6 w 29"/>
                    <a:gd name="T27" fmla="*/ 38 h 48"/>
                    <a:gd name="T28" fmla="*/ 0 w 29"/>
                    <a:gd name="T29" fmla="*/ 47 h 48"/>
                    <a:gd name="T30" fmla="*/ 21 w 29"/>
                    <a:gd name="T31" fmla="*/ 47 h 48"/>
                    <a:gd name="T32" fmla="*/ 28 w 29"/>
                    <a:gd name="T33" fmla="*/ 36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9" h="48">
                      <a:moveTo>
                        <a:pt x="28" y="36"/>
                      </a:moveTo>
                      <a:lnTo>
                        <a:pt x="20" y="31"/>
                      </a:lnTo>
                      <a:lnTo>
                        <a:pt x="20" y="10"/>
                      </a:lnTo>
                      <a:lnTo>
                        <a:pt x="24" y="5"/>
                      </a:lnTo>
                      <a:lnTo>
                        <a:pt x="17" y="5"/>
                      </a:lnTo>
                      <a:lnTo>
                        <a:pt x="21" y="0"/>
                      </a:lnTo>
                      <a:lnTo>
                        <a:pt x="16" y="0"/>
                      </a:lnTo>
                      <a:lnTo>
                        <a:pt x="10" y="6"/>
                      </a:lnTo>
                      <a:lnTo>
                        <a:pt x="10" y="19"/>
                      </a:lnTo>
                      <a:lnTo>
                        <a:pt x="13" y="22"/>
                      </a:lnTo>
                      <a:lnTo>
                        <a:pt x="13" y="28"/>
                      </a:lnTo>
                      <a:lnTo>
                        <a:pt x="11" y="28"/>
                      </a:lnTo>
                      <a:lnTo>
                        <a:pt x="6" y="33"/>
                      </a:lnTo>
                      <a:lnTo>
                        <a:pt x="6" y="38"/>
                      </a:lnTo>
                      <a:lnTo>
                        <a:pt x="0" y="47"/>
                      </a:lnTo>
                      <a:lnTo>
                        <a:pt x="21" y="47"/>
                      </a:lnTo>
                      <a:lnTo>
                        <a:pt x="28" y="3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0" name="Freeform 18"/>
                <p:cNvSpPr>
                  <a:spLocks/>
                </p:cNvSpPr>
                <p:nvPr/>
              </p:nvSpPr>
              <p:spPr bwMode="grayWhite">
                <a:xfrm>
                  <a:off x="4549" y="3183"/>
                  <a:ext cx="17" cy="17"/>
                </a:xfrm>
                <a:custGeom>
                  <a:avLst/>
                  <a:gdLst>
                    <a:gd name="T0" fmla="*/ 13 w 17"/>
                    <a:gd name="T1" fmla="*/ 5 h 17"/>
                    <a:gd name="T2" fmla="*/ 16 w 17"/>
                    <a:gd name="T3" fmla="*/ 5 h 17"/>
                    <a:gd name="T4" fmla="*/ 16 w 17"/>
                    <a:gd name="T5" fmla="*/ 0 h 17"/>
                    <a:gd name="T6" fmla="*/ 10 w 17"/>
                    <a:gd name="T7" fmla="*/ 0 h 17"/>
                    <a:gd name="T8" fmla="*/ 0 w 17"/>
                    <a:gd name="T9" fmla="*/ 10 h 17"/>
                    <a:gd name="T10" fmla="*/ 0 w 17"/>
                    <a:gd name="T11" fmla="*/ 16 h 17"/>
                    <a:gd name="T12" fmla="*/ 9 w 17"/>
                    <a:gd name="T13" fmla="*/ 16 h 17"/>
                    <a:gd name="T14" fmla="*/ 13 w 17"/>
                    <a:gd name="T15" fmla="*/ 11 h 17"/>
                    <a:gd name="T16" fmla="*/ 13 w 17"/>
                    <a:gd name="T17" fmla="*/ 5 h 1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 h="17">
                      <a:moveTo>
                        <a:pt x="13" y="5"/>
                      </a:moveTo>
                      <a:lnTo>
                        <a:pt x="16" y="5"/>
                      </a:lnTo>
                      <a:lnTo>
                        <a:pt x="16" y="0"/>
                      </a:lnTo>
                      <a:lnTo>
                        <a:pt x="10" y="0"/>
                      </a:lnTo>
                      <a:lnTo>
                        <a:pt x="0" y="10"/>
                      </a:lnTo>
                      <a:lnTo>
                        <a:pt x="0" y="16"/>
                      </a:lnTo>
                      <a:lnTo>
                        <a:pt x="9" y="16"/>
                      </a:lnTo>
                      <a:lnTo>
                        <a:pt x="13" y="11"/>
                      </a:lnTo>
                      <a:lnTo>
                        <a:pt x="13" y="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1" name="Freeform 19"/>
                <p:cNvSpPr>
                  <a:spLocks/>
                </p:cNvSpPr>
                <p:nvPr/>
              </p:nvSpPr>
              <p:spPr bwMode="grayWhite">
                <a:xfrm>
                  <a:off x="4527" y="3155"/>
                  <a:ext cx="184" cy="155"/>
                </a:xfrm>
                <a:custGeom>
                  <a:avLst/>
                  <a:gdLst>
                    <a:gd name="T0" fmla="*/ 120 w 184"/>
                    <a:gd name="T1" fmla="*/ 10 h 155"/>
                    <a:gd name="T2" fmla="*/ 144 w 184"/>
                    <a:gd name="T3" fmla="*/ 14 h 155"/>
                    <a:gd name="T4" fmla="*/ 129 w 184"/>
                    <a:gd name="T5" fmla="*/ 20 h 155"/>
                    <a:gd name="T6" fmla="*/ 123 w 184"/>
                    <a:gd name="T7" fmla="*/ 29 h 155"/>
                    <a:gd name="T8" fmla="*/ 114 w 184"/>
                    <a:gd name="T9" fmla="*/ 50 h 155"/>
                    <a:gd name="T10" fmla="*/ 100 w 184"/>
                    <a:gd name="T11" fmla="*/ 51 h 155"/>
                    <a:gd name="T12" fmla="*/ 88 w 184"/>
                    <a:gd name="T13" fmla="*/ 49 h 155"/>
                    <a:gd name="T14" fmla="*/ 94 w 184"/>
                    <a:gd name="T15" fmla="*/ 39 h 155"/>
                    <a:gd name="T16" fmla="*/ 88 w 184"/>
                    <a:gd name="T17" fmla="*/ 26 h 155"/>
                    <a:gd name="T18" fmla="*/ 81 w 184"/>
                    <a:gd name="T19" fmla="*/ 49 h 155"/>
                    <a:gd name="T20" fmla="*/ 62 w 184"/>
                    <a:gd name="T21" fmla="*/ 60 h 155"/>
                    <a:gd name="T22" fmla="*/ 52 w 184"/>
                    <a:gd name="T23" fmla="*/ 67 h 155"/>
                    <a:gd name="T24" fmla="*/ 38 w 184"/>
                    <a:gd name="T25" fmla="*/ 77 h 155"/>
                    <a:gd name="T26" fmla="*/ 30 w 184"/>
                    <a:gd name="T27" fmla="*/ 102 h 155"/>
                    <a:gd name="T28" fmla="*/ 5 w 184"/>
                    <a:gd name="T29" fmla="*/ 93 h 155"/>
                    <a:gd name="T30" fmla="*/ 0 w 184"/>
                    <a:gd name="T31" fmla="*/ 111 h 155"/>
                    <a:gd name="T32" fmla="*/ 10 w 184"/>
                    <a:gd name="T33" fmla="*/ 138 h 155"/>
                    <a:gd name="T34" fmla="*/ 50 w 184"/>
                    <a:gd name="T35" fmla="*/ 109 h 155"/>
                    <a:gd name="T36" fmla="*/ 75 w 184"/>
                    <a:gd name="T37" fmla="*/ 103 h 155"/>
                    <a:gd name="T38" fmla="*/ 79 w 184"/>
                    <a:gd name="T39" fmla="*/ 115 h 155"/>
                    <a:gd name="T40" fmla="*/ 99 w 184"/>
                    <a:gd name="T41" fmla="*/ 143 h 155"/>
                    <a:gd name="T42" fmla="*/ 101 w 184"/>
                    <a:gd name="T43" fmla="*/ 135 h 155"/>
                    <a:gd name="T44" fmla="*/ 107 w 184"/>
                    <a:gd name="T45" fmla="*/ 135 h 155"/>
                    <a:gd name="T46" fmla="*/ 88 w 184"/>
                    <a:gd name="T47" fmla="*/ 108 h 155"/>
                    <a:gd name="T48" fmla="*/ 94 w 184"/>
                    <a:gd name="T49" fmla="*/ 99 h 155"/>
                    <a:gd name="T50" fmla="*/ 114 w 184"/>
                    <a:gd name="T51" fmla="*/ 127 h 155"/>
                    <a:gd name="T52" fmla="*/ 123 w 184"/>
                    <a:gd name="T53" fmla="*/ 144 h 155"/>
                    <a:gd name="T54" fmla="*/ 127 w 184"/>
                    <a:gd name="T55" fmla="*/ 154 h 155"/>
                    <a:gd name="T56" fmla="*/ 131 w 184"/>
                    <a:gd name="T57" fmla="*/ 136 h 155"/>
                    <a:gd name="T58" fmla="*/ 144 w 184"/>
                    <a:gd name="T59" fmla="*/ 130 h 155"/>
                    <a:gd name="T60" fmla="*/ 153 w 184"/>
                    <a:gd name="T61" fmla="*/ 126 h 155"/>
                    <a:gd name="T62" fmla="*/ 150 w 184"/>
                    <a:gd name="T63" fmla="*/ 113 h 155"/>
                    <a:gd name="T64" fmla="*/ 157 w 184"/>
                    <a:gd name="T65" fmla="*/ 90 h 155"/>
                    <a:gd name="T66" fmla="*/ 166 w 184"/>
                    <a:gd name="T67" fmla="*/ 93 h 155"/>
                    <a:gd name="T68" fmla="*/ 169 w 184"/>
                    <a:gd name="T69" fmla="*/ 103 h 155"/>
                    <a:gd name="T70" fmla="*/ 177 w 184"/>
                    <a:gd name="T71" fmla="*/ 98 h 155"/>
                    <a:gd name="T72" fmla="*/ 175 w 184"/>
                    <a:gd name="T73" fmla="*/ 95 h 155"/>
                    <a:gd name="T74" fmla="*/ 180 w 184"/>
                    <a:gd name="T75" fmla="*/ 81 h 155"/>
                    <a:gd name="T76" fmla="*/ 183 w 184"/>
                    <a:gd name="T77" fmla="*/ 98 h 155"/>
                    <a:gd name="T78" fmla="*/ 120 w 184"/>
                    <a:gd name="T79" fmla="*/ 0 h 155"/>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84" h="155">
                      <a:moveTo>
                        <a:pt x="120" y="0"/>
                      </a:moveTo>
                      <a:lnTo>
                        <a:pt x="120" y="10"/>
                      </a:lnTo>
                      <a:lnTo>
                        <a:pt x="124" y="14"/>
                      </a:lnTo>
                      <a:lnTo>
                        <a:pt x="144" y="14"/>
                      </a:lnTo>
                      <a:lnTo>
                        <a:pt x="144" y="20"/>
                      </a:lnTo>
                      <a:lnTo>
                        <a:pt x="129" y="20"/>
                      </a:lnTo>
                      <a:lnTo>
                        <a:pt x="129" y="37"/>
                      </a:lnTo>
                      <a:lnTo>
                        <a:pt x="123" y="29"/>
                      </a:lnTo>
                      <a:lnTo>
                        <a:pt x="123" y="40"/>
                      </a:lnTo>
                      <a:lnTo>
                        <a:pt x="114" y="50"/>
                      </a:lnTo>
                      <a:lnTo>
                        <a:pt x="109" y="44"/>
                      </a:lnTo>
                      <a:lnTo>
                        <a:pt x="100" y="51"/>
                      </a:lnTo>
                      <a:lnTo>
                        <a:pt x="99" y="49"/>
                      </a:lnTo>
                      <a:lnTo>
                        <a:pt x="88" y="49"/>
                      </a:lnTo>
                      <a:lnTo>
                        <a:pt x="94" y="42"/>
                      </a:lnTo>
                      <a:lnTo>
                        <a:pt x="94" y="39"/>
                      </a:lnTo>
                      <a:lnTo>
                        <a:pt x="88" y="34"/>
                      </a:lnTo>
                      <a:lnTo>
                        <a:pt x="88" y="26"/>
                      </a:lnTo>
                      <a:lnTo>
                        <a:pt x="81" y="34"/>
                      </a:lnTo>
                      <a:lnTo>
                        <a:pt x="81" y="49"/>
                      </a:lnTo>
                      <a:lnTo>
                        <a:pt x="73" y="49"/>
                      </a:lnTo>
                      <a:lnTo>
                        <a:pt x="62" y="60"/>
                      </a:lnTo>
                      <a:lnTo>
                        <a:pt x="58" y="60"/>
                      </a:lnTo>
                      <a:lnTo>
                        <a:pt x="52" y="67"/>
                      </a:lnTo>
                      <a:lnTo>
                        <a:pt x="30" y="67"/>
                      </a:lnTo>
                      <a:lnTo>
                        <a:pt x="38" y="77"/>
                      </a:lnTo>
                      <a:lnTo>
                        <a:pt x="38" y="93"/>
                      </a:lnTo>
                      <a:lnTo>
                        <a:pt x="30" y="102"/>
                      </a:lnTo>
                      <a:lnTo>
                        <a:pt x="22" y="93"/>
                      </a:lnTo>
                      <a:lnTo>
                        <a:pt x="5" y="93"/>
                      </a:lnTo>
                      <a:lnTo>
                        <a:pt x="5" y="104"/>
                      </a:lnTo>
                      <a:lnTo>
                        <a:pt x="0" y="111"/>
                      </a:lnTo>
                      <a:lnTo>
                        <a:pt x="0" y="126"/>
                      </a:lnTo>
                      <a:lnTo>
                        <a:pt x="10" y="138"/>
                      </a:lnTo>
                      <a:lnTo>
                        <a:pt x="26" y="138"/>
                      </a:lnTo>
                      <a:lnTo>
                        <a:pt x="50" y="109"/>
                      </a:lnTo>
                      <a:lnTo>
                        <a:pt x="72" y="109"/>
                      </a:lnTo>
                      <a:lnTo>
                        <a:pt x="75" y="103"/>
                      </a:lnTo>
                      <a:lnTo>
                        <a:pt x="80" y="109"/>
                      </a:lnTo>
                      <a:lnTo>
                        <a:pt x="79" y="115"/>
                      </a:lnTo>
                      <a:lnTo>
                        <a:pt x="99" y="135"/>
                      </a:lnTo>
                      <a:lnTo>
                        <a:pt x="99" y="143"/>
                      </a:lnTo>
                      <a:lnTo>
                        <a:pt x="104" y="140"/>
                      </a:lnTo>
                      <a:lnTo>
                        <a:pt x="101" y="135"/>
                      </a:lnTo>
                      <a:lnTo>
                        <a:pt x="104" y="132"/>
                      </a:lnTo>
                      <a:lnTo>
                        <a:pt x="107" y="135"/>
                      </a:lnTo>
                      <a:lnTo>
                        <a:pt x="109" y="134"/>
                      </a:lnTo>
                      <a:lnTo>
                        <a:pt x="88" y="108"/>
                      </a:lnTo>
                      <a:lnTo>
                        <a:pt x="88" y="99"/>
                      </a:lnTo>
                      <a:lnTo>
                        <a:pt x="94" y="99"/>
                      </a:lnTo>
                      <a:lnTo>
                        <a:pt x="94" y="104"/>
                      </a:lnTo>
                      <a:lnTo>
                        <a:pt x="114" y="127"/>
                      </a:lnTo>
                      <a:lnTo>
                        <a:pt x="114" y="134"/>
                      </a:lnTo>
                      <a:lnTo>
                        <a:pt x="123" y="144"/>
                      </a:lnTo>
                      <a:lnTo>
                        <a:pt x="121" y="146"/>
                      </a:lnTo>
                      <a:lnTo>
                        <a:pt x="127" y="154"/>
                      </a:lnTo>
                      <a:lnTo>
                        <a:pt x="137" y="143"/>
                      </a:lnTo>
                      <a:lnTo>
                        <a:pt x="131" y="136"/>
                      </a:lnTo>
                      <a:lnTo>
                        <a:pt x="137" y="130"/>
                      </a:lnTo>
                      <a:lnTo>
                        <a:pt x="144" y="130"/>
                      </a:lnTo>
                      <a:lnTo>
                        <a:pt x="148" y="126"/>
                      </a:lnTo>
                      <a:lnTo>
                        <a:pt x="153" y="126"/>
                      </a:lnTo>
                      <a:lnTo>
                        <a:pt x="147" y="117"/>
                      </a:lnTo>
                      <a:lnTo>
                        <a:pt x="150" y="113"/>
                      </a:lnTo>
                      <a:lnTo>
                        <a:pt x="150" y="98"/>
                      </a:lnTo>
                      <a:lnTo>
                        <a:pt x="157" y="90"/>
                      </a:lnTo>
                      <a:lnTo>
                        <a:pt x="160" y="93"/>
                      </a:lnTo>
                      <a:lnTo>
                        <a:pt x="166" y="93"/>
                      </a:lnTo>
                      <a:lnTo>
                        <a:pt x="163" y="97"/>
                      </a:lnTo>
                      <a:lnTo>
                        <a:pt x="169" y="103"/>
                      </a:lnTo>
                      <a:lnTo>
                        <a:pt x="172" y="98"/>
                      </a:lnTo>
                      <a:lnTo>
                        <a:pt x="177" y="98"/>
                      </a:lnTo>
                      <a:lnTo>
                        <a:pt x="177" y="95"/>
                      </a:lnTo>
                      <a:lnTo>
                        <a:pt x="175" y="95"/>
                      </a:lnTo>
                      <a:lnTo>
                        <a:pt x="171" y="93"/>
                      </a:lnTo>
                      <a:lnTo>
                        <a:pt x="180" y="81"/>
                      </a:lnTo>
                      <a:lnTo>
                        <a:pt x="180" y="98"/>
                      </a:lnTo>
                      <a:lnTo>
                        <a:pt x="183" y="98"/>
                      </a:lnTo>
                      <a:lnTo>
                        <a:pt x="183" y="0"/>
                      </a:lnTo>
                      <a:lnTo>
                        <a:pt x="12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2" name="Freeform 20"/>
                <p:cNvSpPr>
                  <a:spLocks/>
                </p:cNvSpPr>
                <p:nvPr/>
              </p:nvSpPr>
              <p:spPr bwMode="grayWhite">
                <a:xfrm>
                  <a:off x="4605" y="2991"/>
                  <a:ext cx="782" cy="553"/>
                </a:xfrm>
                <a:custGeom>
                  <a:avLst/>
                  <a:gdLst>
                    <a:gd name="T0" fmla="*/ 22 w 782"/>
                    <a:gd name="T1" fmla="*/ 145 h 553"/>
                    <a:gd name="T2" fmla="*/ 71 w 782"/>
                    <a:gd name="T3" fmla="*/ 96 h 553"/>
                    <a:gd name="T4" fmla="*/ 101 w 782"/>
                    <a:gd name="T5" fmla="*/ 130 h 553"/>
                    <a:gd name="T6" fmla="*/ 84 w 782"/>
                    <a:gd name="T7" fmla="*/ 128 h 553"/>
                    <a:gd name="T8" fmla="*/ 155 w 782"/>
                    <a:gd name="T9" fmla="*/ 123 h 553"/>
                    <a:gd name="T10" fmla="*/ 172 w 782"/>
                    <a:gd name="T11" fmla="*/ 79 h 553"/>
                    <a:gd name="T12" fmla="*/ 172 w 782"/>
                    <a:gd name="T13" fmla="*/ 89 h 553"/>
                    <a:gd name="T14" fmla="*/ 160 w 782"/>
                    <a:gd name="T15" fmla="*/ 123 h 553"/>
                    <a:gd name="T16" fmla="*/ 216 w 782"/>
                    <a:gd name="T17" fmla="*/ 95 h 553"/>
                    <a:gd name="T18" fmla="*/ 330 w 782"/>
                    <a:gd name="T19" fmla="*/ 16 h 553"/>
                    <a:gd name="T20" fmla="*/ 412 w 782"/>
                    <a:gd name="T21" fmla="*/ 20 h 553"/>
                    <a:gd name="T22" fmla="*/ 503 w 782"/>
                    <a:gd name="T23" fmla="*/ 10 h 553"/>
                    <a:gd name="T24" fmla="*/ 602 w 782"/>
                    <a:gd name="T25" fmla="*/ 51 h 553"/>
                    <a:gd name="T26" fmla="*/ 718 w 782"/>
                    <a:gd name="T27" fmla="*/ 65 h 553"/>
                    <a:gd name="T28" fmla="*/ 775 w 782"/>
                    <a:gd name="T29" fmla="*/ 112 h 553"/>
                    <a:gd name="T30" fmla="*/ 731 w 782"/>
                    <a:gd name="T31" fmla="*/ 148 h 553"/>
                    <a:gd name="T32" fmla="*/ 707 w 782"/>
                    <a:gd name="T33" fmla="*/ 194 h 553"/>
                    <a:gd name="T34" fmla="*/ 678 w 782"/>
                    <a:gd name="T35" fmla="*/ 196 h 553"/>
                    <a:gd name="T36" fmla="*/ 687 w 782"/>
                    <a:gd name="T37" fmla="*/ 132 h 553"/>
                    <a:gd name="T38" fmla="*/ 650 w 782"/>
                    <a:gd name="T39" fmla="*/ 166 h 553"/>
                    <a:gd name="T40" fmla="*/ 623 w 782"/>
                    <a:gd name="T41" fmla="*/ 196 h 553"/>
                    <a:gd name="T42" fmla="*/ 632 w 782"/>
                    <a:gd name="T43" fmla="*/ 228 h 553"/>
                    <a:gd name="T44" fmla="*/ 600 w 782"/>
                    <a:gd name="T45" fmla="*/ 276 h 553"/>
                    <a:gd name="T46" fmla="*/ 605 w 782"/>
                    <a:gd name="T47" fmla="*/ 315 h 553"/>
                    <a:gd name="T48" fmla="*/ 602 w 782"/>
                    <a:gd name="T49" fmla="*/ 296 h 553"/>
                    <a:gd name="T50" fmla="*/ 572 w 782"/>
                    <a:gd name="T51" fmla="*/ 299 h 553"/>
                    <a:gd name="T52" fmla="*/ 594 w 782"/>
                    <a:gd name="T53" fmla="*/ 356 h 553"/>
                    <a:gd name="T54" fmla="*/ 539 w 782"/>
                    <a:gd name="T55" fmla="*/ 423 h 553"/>
                    <a:gd name="T56" fmla="*/ 524 w 782"/>
                    <a:gd name="T57" fmla="*/ 442 h 553"/>
                    <a:gd name="T58" fmla="*/ 504 w 782"/>
                    <a:gd name="T59" fmla="*/ 507 h 553"/>
                    <a:gd name="T60" fmla="*/ 477 w 782"/>
                    <a:gd name="T61" fmla="*/ 508 h 553"/>
                    <a:gd name="T62" fmla="*/ 510 w 782"/>
                    <a:gd name="T63" fmla="*/ 552 h 553"/>
                    <a:gd name="T64" fmla="*/ 455 w 782"/>
                    <a:gd name="T65" fmla="*/ 449 h 553"/>
                    <a:gd name="T66" fmla="*/ 391 w 782"/>
                    <a:gd name="T67" fmla="*/ 428 h 553"/>
                    <a:gd name="T68" fmla="*/ 361 w 782"/>
                    <a:gd name="T69" fmla="*/ 495 h 553"/>
                    <a:gd name="T70" fmla="*/ 338 w 782"/>
                    <a:gd name="T71" fmla="*/ 530 h 553"/>
                    <a:gd name="T72" fmla="*/ 298 w 782"/>
                    <a:gd name="T73" fmla="*/ 425 h 553"/>
                    <a:gd name="T74" fmla="*/ 267 w 782"/>
                    <a:gd name="T75" fmla="*/ 436 h 553"/>
                    <a:gd name="T76" fmla="*/ 241 w 782"/>
                    <a:gd name="T77" fmla="*/ 391 h 553"/>
                    <a:gd name="T78" fmla="*/ 160 w 782"/>
                    <a:gd name="T79" fmla="*/ 366 h 553"/>
                    <a:gd name="T80" fmla="*/ 188 w 782"/>
                    <a:gd name="T81" fmla="*/ 414 h 553"/>
                    <a:gd name="T82" fmla="*/ 167 w 782"/>
                    <a:gd name="T83" fmla="*/ 445 h 553"/>
                    <a:gd name="T84" fmla="*/ 136 w 782"/>
                    <a:gd name="T85" fmla="*/ 434 h 553"/>
                    <a:gd name="T86" fmla="*/ 85 w 782"/>
                    <a:gd name="T87" fmla="*/ 355 h 553"/>
                    <a:gd name="T88" fmla="*/ 106 w 782"/>
                    <a:gd name="T89" fmla="*/ 310 h 553"/>
                    <a:gd name="T90" fmla="*/ 119 w 782"/>
                    <a:gd name="T91" fmla="*/ 276 h 553"/>
                    <a:gd name="T92" fmla="*/ 106 w 782"/>
                    <a:gd name="T93" fmla="*/ 162 h 553"/>
                    <a:gd name="T94" fmla="*/ 61 w 782"/>
                    <a:gd name="T95" fmla="*/ 138 h 553"/>
                    <a:gd name="T96" fmla="*/ 39 w 782"/>
                    <a:gd name="T97" fmla="*/ 150 h 553"/>
                    <a:gd name="T98" fmla="*/ 0 w 782"/>
                    <a:gd name="T99" fmla="*/ 162 h 553"/>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82" h="553">
                      <a:moveTo>
                        <a:pt x="0" y="162"/>
                      </a:moveTo>
                      <a:lnTo>
                        <a:pt x="22" y="145"/>
                      </a:lnTo>
                      <a:lnTo>
                        <a:pt x="44" y="112"/>
                      </a:lnTo>
                      <a:lnTo>
                        <a:pt x="71" y="96"/>
                      </a:lnTo>
                      <a:lnTo>
                        <a:pt x="98" y="115"/>
                      </a:lnTo>
                      <a:lnTo>
                        <a:pt x="101" y="130"/>
                      </a:lnTo>
                      <a:lnTo>
                        <a:pt x="95" y="130"/>
                      </a:lnTo>
                      <a:lnTo>
                        <a:pt x="84" y="128"/>
                      </a:lnTo>
                      <a:lnTo>
                        <a:pt x="98" y="145"/>
                      </a:lnTo>
                      <a:lnTo>
                        <a:pt x="155" y="123"/>
                      </a:lnTo>
                      <a:lnTo>
                        <a:pt x="147" y="107"/>
                      </a:lnTo>
                      <a:lnTo>
                        <a:pt x="172" y="79"/>
                      </a:lnTo>
                      <a:lnTo>
                        <a:pt x="188" y="79"/>
                      </a:lnTo>
                      <a:lnTo>
                        <a:pt x="172" y="89"/>
                      </a:lnTo>
                      <a:lnTo>
                        <a:pt x="160" y="109"/>
                      </a:lnTo>
                      <a:lnTo>
                        <a:pt x="160" y="123"/>
                      </a:lnTo>
                      <a:lnTo>
                        <a:pt x="183" y="138"/>
                      </a:lnTo>
                      <a:lnTo>
                        <a:pt x="216" y="95"/>
                      </a:lnTo>
                      <a:lnTo>
                        <a:pt x="330" y="45"/>
                      </a:lnTo>
                      <a:lnTo>
                        <a:pt x="330" y="16"/>
                      </a:lnTo>
                      <a:lnTo>
                        <a:pt x="382" y="5"/>
                      </a:lnTo>
                      <a:lnTo>
                        <a:pt x="412" y="20"/>
                      </a:lnTo>
                      <a:lnTo>
                        <a:pt x="481" y="0"/>
                      </a:lnTo>
                      <a:lnTo>
                        <a:pt x="503" y="10"/>
                      </a:lnTo>
                      <a:lnTo>
                        <a:pt x="549" y="61"/>
                      </a:lnTo>
                      <a:lnTo>
                        <a:pt x="602" y="51"/>
                      </a:lnTo>
                      <a:lnTo>
                        <a:pt x="635" y="69"/>
                      </a:lnTo>
                      <a:lnTo>
                        <a:pt x="718" y="65"/>
                      </a:lnTo>
                      <a:lnTo>
                        <a:pt x="781" y="84"/>
                      </a:lnTo>
                      <a:lnTo>
                        <a:pt x="775" y="112"/>
                      </a:lnTo>
                      <a:lnTo>
                        <a:pt x="722" y="130"/>
                      </a:lnTo>
                      <a:lnTo>
                        <a:pt x="731" y="148"/>
                      </a:lnTo>
                      <a:lnTo>
                        <a:pt x="708" y="158"/>
                      </a:lnTo>
                      <a:lnTo>
                        <a:pt x="707" y="194"/>
                      </a:lnTo>
                      <a:lnTo>
                        <a:pt x="686" y="218"/>
                      </a:lnTo>
                      <a:lnTo>
                        <a:pt x="678" y="196"/>
                      </a:lnTo>
                      <a:lnTo>
                        <a:pt x="689" y="175"/>
                      </a:lnTo>
                      <a:lnTo>
                        <a:pt x="687" y="132"/>
                      </a:lnTo>
                      <a:lnTo>
                        <a:pt x="666" y="154"/>
                      </a:lnTo>
                      <a:lnTo>
                        <a:pt x="650" y="166"/>
                      </a:lnTo>
                      <a:lnTo>
                        <a:pt x="634" y="147"/>
                      </a:lnTo>
                      <a:lnTo>
                        <a:pt x="623" y="196"/>
                      </a:lnTo>
                      <a:lnTo>
                        <a:pt x="635" y="196"/>
                      </a:lnTo>
                      <a:lnTo>
                        <a:pt x="632" y="228"/>
                      </a:lnTo>
                      <a:lnTo>
                        <a:pt x="618" y="263"/>
                      </a:lnTo>
                      <a:lnTo>
                        <a:pt x="600" y="276"/>
                      </a:lnTo>
                      <a:lnTo>
                        <a:pt x="615" y="299"/>
                      </a:lnTo>
                      <a:lnTo>
                        <a:pt x="605" y="315"/>
                      </a:lnTo>
                      <a:lnTo>
                        <a:pt x="602" y="301"/>
                      </a:lnTo>
                      <a:lnTo>
                        <a:pt x="602" y="296"/>
                      </a:lnTo>
                      <a:lnTo>
                        <a:pt x="590" y="288"/>
                      </a:lnTo>
                      <a:lnTo>
                        <a:pt x="572" y="299"/>
                      </a:lnTo>
                      <a:lnTo>
                        <a:pt x="588" y="337"/>
                      </a:lnTo>
                      <a:lnTo>
                        <a:pt x="594" y="356"/>
                      </a:lnTo>
                      <a:lnTo>
                        <a:pt x="574" y="408"/>
                      </a:lnTo>
                      <a:lnTo>
                        <a:pt x="539" y="423"/>
                      </a:lnTo>
                      <a:lnTo>
                        <a:pt x="509" y="420"/>
                      </a:lnTo>
                      <a:lnTo>
                        <a:pt x="524" y="442"/>
                      </a:lnTo>
                      <a:lnTo>
                        <a:pt x="525" y="472"/>
                      </a:lnTo>
                      <a:lnTo>
                        <a:pt x="504" y="507"/>
                      </a:lnTo>
                      <a:lnTo>
                        <a:pt x="480" y="488"/>
                      </a:lnTo>
                      <a:lnTo>
                        <a:pt x="477" y="508"/>
                      </a:lnTo>
                      <a:lnTo>
                        <a:pt x="495" y="526"/>
                      </a:lnTo>
                      <a:lnTo>
                        <a:pt x="510" y="552"/>
                      </a:lnTo>
                      <a:lnTo>
                        <a:pt x="485" y="536"/>
                      </a:lnTo>
                      <a:lnTo>
                        <a:pt x="455" y="449"/>
                      </a:lnTo>
                      <a:lnTo>
                        <a:pt x="418" y="426"/>
                      </a:lnTo>
                      <a:lnTo>
                        <a:pt x="391" y="428"/>
                      </a:lnTo>
                      <a:lnTo>
                        <a:pt x="356" y="477"/>
                      </a:lnTo>
                      <a:lnTo>
                        <a:pt x="361" y="495"/>
                      </a:lnTo>
                      <a:lnTo>
                        <a:pt x="349" y="530"/>
                      </a:lnTo>
                      <a:lnTo>
                        <a:pt x="338" y="530"/>
                      </a:lnTo>
                      <a:lnTo>
                        <a:pt x="298" y="457"/>
                      </a:lnTo>
                      <a:lnTo>
                        <a:pt x="298" y="425"/>
                      </a:lnTo>
                      <a:lnTo>
                        <a:pt x="290" y="437"/>
                      </a:lnTo>
                      <a:lnTo>
                        <a:pt x="267" y="436"/>
                      </a:lnTo>
                      <a:lnTo>
                        <a:pt x="276" y="416"/>
                      </a:lnTo>
                      <a:lnTo>
                        <a:pt x="241" y="391"/>
                      </a:lnTo>
                      <a:lnTo>
                        <a:pt x="197" y="391"/>
                      </a:lnTo>
                      <a:lnTo>
                        <a:pt x="160" y="366"/>
                      </a:lnTo>
                      <a:lnTo>
                        <a:pt x="157" y="391"/>
                      </a:lnTo>
                      <a:lnTo>
                        <a:pt x="188" y="414"/>
                      </a:lnTo>
                      <a:lnTo>
                        <a:pt x="199" y="414"/>
                      </a:lnTo>
                      <a:lnTo>
                        <a:pt x="167" y="445"/>
                      </a:lnTo>
                      <a:lnTo>
                        <a:pt x="136" y="452"/>
                      </a:lnTo>
                      <a:lnTo>
                        <a:pt x="136" y="434"/>
                      </a:lnTo>
                      <a:lnTo>
                        <a:pt x="91" y="372"/>
                      </a:lnTo>
                      <a:lnTo>
                        <a:pt x="85" y="355"/>
                      </a:lnTo>
                      <a:lnTo>
                        <a:pt x="109" y="335"/>
                      </a:lnTo>
                      <a:lnTo>
                        <a:pt x="106" y="310"/>
                      </a:lnTo>
                      <a:lnTo>
                        <a:pt x="106" y="282"/>
                      </a:lnTo>
                      <a:lnTo>
                        <a:pt x="119" y="276"/>
                      </a:lnTo>
                      <a:lnTo>
                        <a:pt x="106" y="263"/>
                      </a:lnTo>
                      <a:lnTo>
                        <a:pt x="106" y="162"/>
                      </a:lnTo>
                      <a:lnTo>
                        <a:pt x="43" y="162"/>
                      </a:lnTo>
                      <a:lnTo>
                        <a:pt x="61" y="138"/>
                      </a:lnTo>
                      <a:lnTo>
                        <a:pt x="60" y="130"/>
                      </a:lnTo>
                      <a:lnTo>
                        <a:pt x="39" y="150"/>
                      </a:lnTo>
                      <a:lnTo>
                        <a:pt x="32" y="162"/>
                      </a:lnTo>
                      <a:lnTo>
                        <a:pt x="0" y="16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3" name="Freeform 21"/>
                <p:cNvSpPr>
                  <a:spLocks/>
                </p:cNvSpPr>
                <p:nvPr/>
              </p:nvSpPr>
              <p:spPr bwMode="grayWhite">
                <a:xfrm>
                  <a:off x="5221" y="3217"/>
                  <a:ext cx="68" cy="113"/>
                </a:xfrm>
                <a:custGeom>
                  <a:avLst/>
                  <a:gdLst>
                    <a:gd name="T0" fmla="*/ 45 w 68"/>
                    <a:gd name="T1" fmla="*/ 0 h 113"/>
                    <a:gd name="T2" fmla="*/ 45 w 68"/>
                    <a:gd name="T3" fmla="*/ 14 h 113"/>
                    <a:gd name="T4" fmla="*/ 39 w 68"/>
                    <a:gd name="T5" fmla="*/ 23 h 113"/>
                    <a:gd name="T6" fmla="*/ 41 w 68"/>
                    <a:gd name="T7" fmla="*/ 38 h 113"/>
                    <a:gd name="T8" fmla="*/ 33 w 68"/>
                    <a:gd name="T9" fmla="*/ 58 h 113"/>
                    <a:gd name="T10" fmla="*/ 22 w 68"/>
                    <a:gd name="T11" fmla="*/ 77 h 113"/>
                    <a:gd name="T12" fmla="*/ 5 w 68"/>
                    <a:gd name="T13" fmla="*/ 89 h 113"/>
                    <a:gd name="T14" fmla="*/ 0 w 68"/>
                    <a:gd name="T15" fmla="*/ 110 h 113"/>
                    <a:gd name="T16" fmla="*/ 7 w 68"/>
                    <a:gd name="T17" fmla="*/ 112 h 113"/>
                    <a:gd name="T18" fmla="*/ 7 w 68"/>
                    <a:gd name="T19" fmla="*/ 92 h 113"/>
                    <a:gd name="T20" fmla="*/ 31 w 68"/>
                    <a:gd name="T21" fmla="*/ 91 h 113"/>
                    <a:gd name="T22" fmla="*/ 49 w 68"/>
                    <a:gd name="T23" fmla="*/ 78 h 113"/>
                    <a:gd name="T24" fmla="*/ 49 w 68"/>
                    <a:gd name="T25" fmla="*/ 51 h 113"/>
                    <a:gd name="T26" fmla="*/ 55 w 68"/>
                    <a:gd name="T27" fmla="*/ 41 h 113"/>
                    <a:gd name="T28" fmla="*/ 46 w 68"/>
                    <a:gd name="T29" fmla="*/ 24 h 113"/>
                    <a:gd name="T30" fmla="*/ 59 w 68"/>
                    <a:gd name="T31" fmla="*/ 19 h 113"/>
                    <a:gd name="T32" fmla="*/ 67 w 68"/>
                    <a:gd name="T33" fmla="*/ 5 h 113"/>
                    <a:gd name="T34" fmla="*/ 49 w 68"/>
                    <a:gd name="T35" fmla="*/ 7 h 113"/>
                    <a:gd name="T36" fmla="*/ 45 w 68"/>
                    <a:gd name="T37" fmla="*/ 0 h 11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68" h="113">
                      <a:moveTo>
                        <a:pt x="45" y="0"/>
                      </a:moveTo>
                      <a:lnTo>
                        <a:pt x="45" y="14"/>
                      </a:lnTo>
                      <a:lnTo>
                        <a:pt x="39" y="23"/>
                      </a:lnTo>
                      <a:lnTo>
                        <a:pt x="41" y="38"/>
                      </a:lnTo>
                      <a:lnTo>
                        <a:pt x="33" y="58"/>
                      </a:lnTo>
                      <a:lnTo>
                        <a:pt x="22" y="77"/>
                      </a:lnTo>
                      <a:lnTo>
                        <a:pt x="5" y="89"/>
                      </a:lnTo>
                      <a:lnTo>
                        <a:pt x="0" y="110"/>
                      </a:lnTo>
                      <a:lnTo>
                        <a:pt x="7" y="112"/>
                      </a:lnTo>
                      <a:lnTo>
                        <a:pt x="7" y="92"/>
                      </a:lnTo>
                      <a:lnTo>
                        <a:pt x="31" y="91"/>
                      </a:lnTo>
                      <a:lnTo>
                        <a:pt x="49" y="78"/>
                      </a:lnTo>
                      <a:lnTo>
                        <a:pt x="49" y="51"/>
                      </a:lnTo>
                      <a:lnTo>
                        <a:pt x="55" y="41"/>
                      </a:lnTo>
                      <a:lnTo>
                        <a:pt x="46" y="24"/>
                      </a:lnTo>
                      <a:lnTo>
                        <a:pt x="59" y="19"/>
                      </a:lnTo>
                      <a:lnTo>
                        <a:pt x="67" y="5"/>
                      </a:lnTo>
                      <a:lnTo>
                        <a:pt x="49" y="7"/>
                      </a:lnTo>
                      <a:lnTo>
                        <a:pt x="45"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 name="Freeform 22"/>
                <p:cNvSpPr>
                  <a:spLocks/>
                </p:cNvSpPr>
                <p:nvPr/>
              </p:nvSpPr>
              <p:spPr bwMode="grayWhite">
                <a:xfrm>
                  <a:off x="4967" y="3518"/>
                  <a:ext cx="17" cy="26"/>
                </a:xfrm>
                <a:custGeom>
                  <a:avLst/>
                  <a:gdLst>
                    <a:gd name="T0" fmla="*/ 8 w 17"/>
                    <a:gd name="T1" fmla="*/ 0 h 26"/>
                    <a:gd name="T2" fmla="*/ 0 w 17"/>
                    <a:gd name="T3" fmla="*/ 11 h 26"/>
                    <a:gd name="T4" fmla="*/ 5 w 17"/>
                    <a:gd name="T5" fmla="*/ 25 h 26"/>
                    <a:gd name="T6" fmla="*/ 16 w 17"/>
                    <a:gd name="T7" fmla="*/ 15 h 26"/>
                    <a:gd name="T8" fmla="*/ 8 w 17"/>
                    <a:gd name="T9" fmla="*/ 0 h 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6">
                      <a:moveTo>
                        <a:pt x="8" y="0"/>
                      </a:moveTo>
                      <a:lnTo>
                        <a:pt x="0" y="11"/>
                      </a:lnTo>
                      <a:lnTo>
                        <a:pt x="5" y="25"/>
                      </a:lnTo>
                      <a:lnTo>
                        <a:pt x="16" y="15"/>
                      </a:lnTo>
                      <a:lnTo>
                        <a:pt x="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 name="Freeform 23"/>
                <p:cNvSpPr>
                  <a:spLocks/>
                </p:cNvSpPr>
                <p:nvPr/>
              </p:nvSpPr>
              <p:spPr bwMode="grayWhite">
                <a:xfrm>
                  <a:off x="5069" y="3545"/>
                  <a:ext cx="158" cy="68"/>
                </a:xfrm>
                <a:custGeom>
                  <a:avLst/>
                  <a:gdLst>
                    <a:gd name="T0" fmla="*/ 0 w 158"/>
                    <a:gd name="T1" fmla="*/ 0 h 68"/>
                    <a:gd name="T2" fmla="*/ 23 w 158"/>
                    <a:gd name="T3" fmla="*/ 5 h 68"/>
                    <a:gd name="T4" fmla="*/ 58 w 158"/>
                    <a:gd name="T5" fmla="*/ 29 h 68"/>
                    <a:gd name="T6" fmla="*/ 53 w 158"/>
                    <a:gd name="T7" fmla="*/ 43 h 68"/>
                    <a:gd name="T8" fmla="*/ 82 w 158"/>
                    <a:gd name="T9" fmla="*/ 55 h 68"/>
                    <a:gd name="T10" fmla="*/ 157 w 158"/>
                    <a:gd name="T11" fmla="*/ 55 h 68"/>
                    <a:gd name="T12" fmla="*/ 75 w 158"/>
                    <a:gd name="T13" fmla="*/ 67 h 68"/>
                    <a:gd name="T14" fmla="*/ 53 w 158"/>
                    <a:gd name="T15" fmla="*/ 43 h 68"/>
                    <a:gd name="T16" fmla="*/ 32 w 158"/>
                    <a:gd name="T17" fmla="*/ 38 h 68"/>
                    <a:gd name="T18" fmla="*/ 0 w 158"/>
                    <a:gd name="T19" fmla="*/ 0 h 6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58" h="68">
                      <a:moveTo>
                        <a:pt x="0" y="0"/>
                      </a:moveTo>
                      <a:lnTo>
                        <a:pt x="23" y="5"/>
                      </a:lnTo>
                      <a:lnTo>
                        <a:pt x="58" y="29"/>
                      </a:lnTo>
                      <a:lnTo>
                        <a:pt x="53" y="43"/>
                      </a:lnTo>
                      <a:lnTo>
                        <a:pt x="82" y="55"/>
                      </a:lnTo>
                      <a:lnTo>
                        <a:pt x="157" y="55"/>
                      </a:lnTo>
                      <a:lnTo>
                        <a:pt x="75" y="67"/>
                      </a:lnTo>
                      <a:lnTo>
                        <a:pt x="53" y="43"/>
                      </a:lnTo>
                      <a:lnTo>
                        <a:pt x="32" y="38"/>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Freeform 24"/>
                <p:cNvSpPr>
                  <a:spLocks/>
                </p:cNvSpPr>
                <p:nvPr/>
              </p:nvSpPr>
              <p:spPr bwMode="grayWhite">
                <a:xfrm>
                  <a:off x="5195" y="3601"/>
                  <a:ext cx="169" cy="159"/>
                </a:xfrm>
                <a:custGeom>
                  <a:avLst/>
                  <a:gdLst>
                    <a:gd name="T0" fmla="*/ 135 w 169"/>
                    <a:gd name="T1" fmla="*/ 155 h 159"/>
                    <a:gd name="T2" fmla="*/ 127 w 169"/>
                    <a:gd name="T3" fmla="*/ 152 h 159"/>
                    <a:gd name="T4" fmla="*/ 110 w 169"/>
                    <a:gd name="T5" fmla="*/ 134 h 159"/>
                    <a:gd name="T6" fmla="*/ 92 w 169"/>
                    <a:gd name="T7" fmla="*/ 130 h 159"/>
                    <a:gd name="T8" fmla="*/ 88 w 169"/>
                    <a:gd name="T9" fmla="*/ 119 h 159"/>
                    <a:gd name="T10" fmla="*/ 78 w 169"/>
                    <a:gd name="T11" fmla="*/ 111 h 159"/>
                    <a:gd name="T12" fmla="*/ 62 w 169"/>
                    <a:gd name="T13" fmla="*/ 111 h 159"/>
                    <a:gd name="T14" fmla="*/ 44 w 169"/>
                    <a:gd name="T15" fmla="*/ 118 h 159"/>
                    <a:gd name="T16" fmla="*/ 28 w 169"/>
                    <a:gd name="T17" fmla="*/ 121 h 159"/>
                    <a:gd name="T18" fmla="*/ 10 w 169"/>
                    <a:gd name="T19" fmla="*/ 121 h 159"/>
                    <a:gd name="T20" fmla="*/ 10 w 169"/>
                    <a:gd name="T21" fmla="*/ 109 h 159"/>
                    <a:gd name="T22" fmla="*/ 3 w 169"/>
                    <a:gd name="T23" fmla="*/ 91 h 159"/>
                    <a:gd name="T24" fmla="*/ 2 w 169"/>
                    <a:gd name="T25" fmla="*/ 81 h 159"/>
                    <a:gd name="T26" fmla="*/ 2 w 169"/>
                    <a:gd name="T27" fmla="*/ 56 h 159"/>
                    <a:gd name="T28" fmla="*/ 31 w 169"/>
                    <a:gd name="T29" fmla="*/ 43 h 159"/>
                    <a:gd name="T30" fmla="*/ 34 w 169"/>
                    <a:gd name="T31" fmla="*/ 29 h 159"/>
                    <a:gd name="T32" fmla="*/ 40 w 169"/>
                    <a:gd name="T33" fmla="*/ 30 h 159"/>
                    <a:gd name="T34" fmla="*/ 55 w 169"/>
                    <a:gd name="T35" fmla="*/ 15 h 159"/>
                    <a:gd name="T36" fmla="*/ 70 w 169"/>
                    <a:gd name="T37" fmla="*/ 17 h 159"/>
                    <a:gd name="T38" fmla="*/ 80 w 169"/>
                    <a:gd name="T39" fmla="*/ 7 h 159"/>
                    <a:gd name="T40" fmla="*/ 89 w 169"/>
                    <a:gd name="T41" fmla="*/ 5 h 159"/>
                    <a:gd name="T42" fmla="*/ 103 w 169"/>
                    <a:gd name="T43" fmla="*/ 24 h 159"/>
                    <a:gd name="T44" fmla="*/ 116 w 169"/>
                    <a:gd name="T45" fmla="*/ 30 h 159"/>
                    <a:gd name="T46" fmla="*/ 117 w 169"/>
                    <a:gd name="T47" fmla="*/ 11 h 159"/>
                    <a:gd name="T48" fmla="*/ 122 w 169"/>
                    <a:gd name="T49" fmla="*/ 0 h 159"/>
                    <a:gd name="T50" fmla="*/ 132 w 169"/>
                    <a:gd name="T51" fmla="*/ 15 h 159"/>
                    <a:gd name="T52" fmla="*/ 140 w 169"/>
                    <a:gd name="T53" fmla="*/ 43 h 159"/>
                    <a:gd name="T54" fmla="*/ 156 w 169"/>
                    <a:gd name="T55" fmla="*/ 59 h 159"/>
                    <a:gd name="T56" fmla="*/ 165 w 169"/>
                    <a:gd name="T57" fmla="*/ 72 h 159"/>
                    <a:gd name="T58" fmla="*/ 168 w 169"/>
                    <a:gd name="T59" fmla="*/ 95 h 159"/>
                    <a:gd name="T60" fmla="*/ 157 w 169"/>
                    <a:gd name="T61" fmla="*/ 121 h 159"/>
                    <a:gd name="T62" fmla="*/ 155 w 169"/>
                    <a:gd name="T63" fmla="*/ 145 h 159"/>
                    <a:gd name="T64" fmla="*/ 140 w 169"/>
                    <a:gd name="T65" fmla="*/ 154 h 15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69" h="159">
                      <a:moveTo>
                        <a:pt x="140" y="154"/>
                      </a:moveTo>
                      <a:lnTo>
                        <a:pt x="135" y="155"/>
                      </a:lnTo>
                      <a:lnTo>
                        <a:pt x="132" y="158"/>
                      </a:lnTo>
                      <a:lnTo>
                        <a:pt x="127" y="152"/>
                      </a:lnTo>
                      <a:lnTo>
                        <a:pt x="112" y="145"/>
                      </a:lnTo>
                      <a:lnTo>
                        <a:pt x="110" y="134"/>
                      </a:lnTo>
                      <a:lnTo>
                        <a:pt x="105" y="130"/>
                      </a:lnTo>
                      <a:lnTo>
                        <a:pt x="92" y="130"/>
                      </a:lnTo>
                      <a:lnTo>
                        <a:pt x="92" y="122"/>
                      </a:lnTo>
                      <a:lnTo>
                        <a:pt x="88" y="119"/>
                      </a:lnTo>
                      <a:lnTo>
                        <a:pt x="87" y="112"/>
                      </a:lnTo>
                      <a:lnTo>
                        <a:pt x="78" y="111"/>
                      </a:lnTo>
                      <a:lnTo>
                        <a:pt x="70" y="109"/>
                      </a:lnTo>
                      <a:lnTo>
                        <a:pt x="62" y="111"/>
                      </a:lnTo>
                      <a:lnTo>
                        <a:pt x="62" y="112"/>
                      </a:lnTo>
                      <a:lnTo>
                        <a:pt x="44" y="118"/>
                      </a:lnTo>
                      <a:lnTo>
                        <a:pt x="44" y="121"/>
                      </a:lnTo>
                      <a:lnTo>
                        <a:pt x="28" y="121"/>
                      </a:lnTo>
                      <a:lnTo>
                        <a:pt x="20" y="126"/>
                      </a:lnTo>
                      <a:lnTo>
                        <a:pt x="10" y="121"/>
                      </a:lnTo>
                      <a:lnTo>
                        <a:pt x="10" y="119"/>
                      </a:lnTo>
                      <a:lnTo>
                        <a:pt x="10" y="109"/>
                      </a:lnTo>
                      <a:lnTo>
                        <a:pt x="7" y="99"/>
                      </a:lnTo>
                      <a:lnTo>
                        <a:pt x="3" y="91"/>
                      </a:lnTo>
                      <a:lnTo>
                        <a:pt x="5" y="84"/>
                      </a:lnTo>
                      <a:lnTo>
                        <a:pt x="2" y="81"/>
                      </a:lnTo>
                      <a:lnTo>
                        <a:pt x="0" y="66"/>
                      </a:lnTo>
                      <a:lnTo>
                        <a:pt x="2" y="56"/>
                      </a:lnTo>
                      <a:lnTo>
                        <a:pt x="11" y="48"/>
                      </a:lnTo>
                      <a:lnTo>
                        <a:pt x="31" y="43"/>
                      </a:lnTo>
                      <a:lnTo>
                        <a:pt x="36" y="36"/>
                      </a:lnTo>
                      <a:lnTo>
                        <a:pt x="34" y="29"/>
                      </a:lnTo>
                      <a:lnTo>
                        <a:pt x="39" y="27"/>
                      </a:lnTo>
                      <a:lnTo>
                        <a:pt x="40" y="30"/>
                      </a:lnTo>
                      <a:lnTo>
                        <a:pt x="42" y="25"/>
                      </a:lnTo>
                      <a:lnTo>
                        <a:pt x="55" y="15"/>
                      </a:lnTo>
                      <a:lnTo>
                        <a:pt x="62" y="20"/>
                      </a:lnTo>
                      <a:lnTo>
                        <a:pt x="70" y="17"/>
                      </a:lnTo>
                      <a:lnTo>
                        <a:pt x="72" y="9"/>
                      </a:lnTo>
                      <a:lnTo>
                        <a:pt x="80" y="7"/>
                      </a:lnTo>
                      <a:lnTo>
                        <a:pt x="78" y="1"/>
                      </a:lnTo>
                      <a:lnTo>
                        <a:pt x="89" y="5"/>
                      </a:lnTo>
                      <a:lnTo>
                        <a:pt x="98" y="3"/>
                      </a:lnTo>
                      <a:lnTo>
                        <a:pt x="103" y="24"/>
                      </a:lnTo>
                      <a:lnTo>
                        <a:pt x="110" y="30"/>
                      </a:lnTo>
                      <a:lnTo>
                        <a:pt x="116" y="30"/>
                      </a:lnTo>
                      <a:lnTo>
                        <a:pt x="119" y="17"/>
                      </a:lnTo>
                      <a:lnTo>
                        <a:pt x="117" y="11"/>
                      </a:lnTo>
                      <a:lnTo>
                        <a:pt x="119" y="1"/>
                      </a:lnTo>
                      <a:lnTo>
                        <a:pt x="122" y="0"/>
                      </a:lnTo>
                      <a:lnTo>
                        <a:pt x="127" y="12"/>
                      </a:lnTo>
                      <a:lnTo>
                        <a:pt x="132" y="15"/>
                      </a:lnTo>
                      <a:lnTo>
                        <a:pt x="135" y="27"/>
                      </a:lnTo>
                      <a:lnTo>
                        <a:pt x="140" y="43"/>
                      </a:lnTo>
                      <a:lnTo>
                        <a:pt x="147" y="47"/>
                      </a:lnTo>
                      <a:lnTo>
                        <a:pt x="156" y="59"/>
                      </a:lnTo>
                      <a:lnTo>
                        <a:pt x="157" y="65"/>
                      </a:lnTo>
                      <a:lnTo>
                        <a:pt x="165" y="72"/>
                      </a:lnTo>
                      <a:lnTo>
                        <a:pt x="168" y="85"/>
                      </a:lnTo>
                      <a:lnTo>
                        <a:pt x="168" y="95"/>
                      </a:lnTo>
                      <a:lnTo>
                        <a:pt x="165" y="111"/>
                      </a:lnTo>
                      <a:lnTo>
                        <a:pt x="157" y="121"/>
                      </a:lnTo>
                      <a:lnTo>
                        <a:pt x="155" y="134"/>
                      </a:lnTo>
                      <a:lnTo>
                        <a:pt x="155" y="145"/>
                      </a:lnTo>
                      <a:lnTo>
                        <a:pt x="147" y="147"/>
                      </a:lnTo>
                      <a:lnTo>
                        <a:pt x="140" y="154"/>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7" name="Freeform 25"/>
                <p:cNvSpPr>
                  <a:spLocks/>
                </p:cNvSpPr>
                <p:nvPr/>
              </p:nvSpPr>
              <p:spPr bwMode="grayWhite">
                <a:xfrm>
                  <a:off x="5330" y="3768"/>
                  <a:ext cx="17" cy="20"/>
                </a:xfrm>
                <a:custGeom>
                  <a:avLst/>
                  <a:gdLst>
                    <a:gd name="T0" fmla="*/ 8 w 17"/>
                    <a:gd name="T1" fmla="*/ 16 h 20"/>
                    <a:gd name="T2" fmla="*/ 2 w 17"/>
                    <a:gd name="T3" fmla="*/ 13 h 20"/>
                    <a:gd name="T4" fmla="*/ 2 w 17"/>
                    <a:gd name="T5" fmla="*/ 10 h 20"/>
                    <a:gd name="T6" fmla="*/ 2 w 17"/>
                    <a:gd name="T7" fmla="*/ 8 h 20"/>
                    <a:gd name="T8" fmla="*/ 1 w 17"/>
                    <a:gd name="T9" fmla="*/ 5 h 20"/>
                    <a:gd name="T10" fmla="*/ 0 w 17"/>
                    <a:gd name="T11" fmla="*/ 0 h 20"/>
                    <a:gd name="T12" fmla="*/ 2 w 17"/>
                    <a:gd name="T13" fmla="*/ 0 h 20"/>
                    <a:gd name="T14" fmla="*/ 8 w 17"/>
                    <a:gd name="T15" fmla="*/ 2 h 20"/>
                    <a:gd name="T16" fmla="*/ 11 w 17"/>
                    <a:gd name="T17" fmla="*/ 2 h 20"/>
                    <a:gd name="T18" fmla="*/ 12 w 17"/>
                    <a:gd name="T19" fmla="*/ 2 h 20"/>
                    <a:gd name="T20" fmla="*/ 16 w 17"/>
                    <a:gd name="T21" fmla="*/ 0 h 20"/>
                    <a:gd name="T22" fmla="*/ 16 w 17"/>
                    <a:gd name="T23" fmla="*/ 8 h 20"/>
                    <a:gd name="T24" fmla="*/ 14 w 17"/>
                    <a:gd name="T25" fmla="*/ 10 h 20"/>
                    <a:gd name="T26" fmla="*/ 12 w 17"/>
                    <a:gd name="T27" fmla="*/ 13 h 20"/>
                    <a:gd name="T28" fmla="*/ 12 w 17"/>
                    <a:gd name="T29" fmla="*/ 16 h 20"/>
                    <a:gd name="T30" fmla="*/ 11 w 17"/>
                    <a:gd name="T31" fmla="*/ 16 h 20"/>
                    <a:gd name="T32" fmla="*/ 11 w 17"/>
                    <a:gd name="T33" fmla="*/ 19 h 20"/>
                    <a:gd name="T34" fmla="*/ 8 w 17"/>
                    <a:gd name="T35" fmla="*/ 16 h 2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7" h="20">
                      <a:moveTo>
                        <a:pt x="8" y="16"/>
                      </a:moveTo>
                      <a:lnTo>
                        <a:pt x="2" y="13"/>
                      </a:lnTo>
                      <a:lnTo>
                        <a:pt x="2" y="10"/>
                      </a:lnTo>
                      <a:lnTo>
                        <a:pt x="2" y="8"/>
                      </a:lnTo>
                      <a:lnTo>
                        <a:pt x="1" y="5"/>
                      </a:lnTo>
                      <a:lnTo>
                        <a:pt x="0" y="0"/>
                      </a:lnTo>
                      <a:lnTo>
                        <a:pt x="2" y="0"/>
                      </a:lnTo>
                      <a:lnTo>
                        <a:pt x="8" y="2"/>
                      </a:lnTo>
                      <a:lnTo>
                        <a:pt x="11" y="2"/>
                      </a:lnTo>
                      <a:lnTo>
                        <a:pt x="12" y="2"/>
                      </a:lnTo>
                      <a:lnTo>
                        <a:pt x="16" y="0"/>
                      </a:lnTo>
                      <a:lnTo>
                        <a:pt x="16" y="8"/>
                      </a:lnTo>
                      <a:lnTo>
                        <a:pt x="14" y="10"/>
                      </a:lnTo>
                      <a:lnTo>
                        <a:pt x="12" y="13"/>
                      </a:lnTo>
                      <a:lnTo>
                        <a:pt x="12" y="16"/>
                      </a:lnTo>
                      <a:lnTo>
                        <a:pt x="11" y="16"/>
                      </a:lnTo>
                      <a:lnTo>
                        <a:pt x="11" y="19"/>
                      </a:lnTo>
                      <a:lnTo>
                        <a:pt x="8" y="1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 name="Freeform 26"/>
                <p:cNvSpPr>
                  <a:spLocks/>
                </p:cNvSpPr>
                <p:nvPr/>
              </p:nvSpPr>
              <p:spPr bwMode="grayWhite">
                <a:xfrm>
                  <a:off x="4739" y="3587"/>
                  <a:ext cx="19" cy="76"/>
                </a:xfrm>
                <a:custGeom>
                  <a:avLst/>
                  <a:gdLst>
                    <a:gd name="T0" fmla="*/ 2 w 19"/>
                    <a:gd name="T1" fmla="*/ 26 h 76"/>
                    <a:gd name="T2" fmla="*/ 9 w 19"/>
                    <a:gd name="T3" fmla="*/ 20 h 76"/>
                    <a:gd name="T4" fmla="*/ 14 w 19"/>
                    <a:gd name="T5" fmla="*/ 0 h 76"/>
                    <a:gd name="T6" fmla="*/ 18 w 19"/>
                    <a:gd name="T7" fmla="*/ 30 h 76"/>
                    <a:gd name="T8" fmla="*/ 12 w 19"/>
                    <a:gd name="T9" fmla="*/ 67 h 76"/>
                    <a:gd name="T10" fmla="*/ 0 w 19"/>
                    <a:gd name="T11" fmla="*/ 75 h 76"/>
                    <a:gd name="T12" fmla="*/ 0 w 19"/>
                    <a:gd name="T13" fmla="*/ 57 h 76"/>
                    <a:gd name="T14" fmla="*/ 3 w 19"/>
                    <a:gd name="T15" fmla="*/ 45 h 76"/>
                    <a:gd name="T16" fmla="*/ 2 w 19"/>
                    <a:gd name="T17" fmla="*/ 26 h 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 h="76">
                      <a:moveTo>
                        <a:pt x="2" y="26"/>
                      </a:moveTo>
                      <a:lnTo>
                        <a:pt x="9" y="20"/>
                      </a:lnTo>
                      <a:lnTo>
                        <a:pt x="14" y="0"/>
                      </a:lnTo>
                      <a:lnTo>
                        <a:pt x="18" y="30"/>
                      </a:lnTo>
                      <a:lnTo>
                        <a:pt x="12" y="67"/>
                      </a:lnTo>
                      <a:lnTo>
                        <a:pt x="0" y="75"/>
                      </a:lnTo>
                      <a:lnTo>
                        <a:pt x="0" y="57"/>
                      </a:lnTo>
                      <a:lnTo>
                        <a:pt x="3" y="45"/>
                      </a:lnTo>
                      <a:lnTo>
                        <a:pt x="2" y="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1027" name="Rectangle 30"/>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smtClean="0"/>
              <a:t>Click to edit Master title style</a:t>
            </a:r>
          </a:p>
        </p:txBody>
      </p:sp>
      <p:sp>
        <p:nvSpPr>
          <p:cNvPr id="1028" name="Rectangle 31"/>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56" name="Rectangle 32">
            <a:extLst>
              <a:ext uri="{FF2B5EF4-FFF2-40B4-BE49-F238E27FC236}">
                <a16:creationId xmlns:a16="http://schemas.microsoft.com/office/drawing/2014/main" id="{BDF1004D-8A4F-4D1D-B190-06619C4F437F}"/>
              </a:ext>
            </a:extLst>
          </p:cNvPr>
          <p:cNvSpPr>
            <a:spLocks noGrp="1" noChangeArrowheads="1"/>
          </p:cNvSpPr>
          <p:nvPr>
            <p:ph type="dt" sz="half" idx="2"/>
          </p:nvPr>
        </p:nvSpPr>
        <p:spPr bwMode="auto">
          <a:xfrm>
            <a:off x="68580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vl1pPr>
          </a:lstStyle>
          <a:p>
            <a:pPr>
              <a:defRPr/>
            </a:pPr>
            <a:endParaRPr lang="en-US" altLang="en-US"/>
          </a:p>
        </p:txBody>
      </p:sp>
      <p:sp>
        <p:nvSpPr>
          <p:cNvPr id="1058" name="Rectangle 34">
            <a:extLst>
              <a:ext uri="{FF2B5EF4-FFF2-40B4-BE49-F238E27FC236}">
                <a16:creationId xmlns:a16="http://schemas.microsoft.com/office/drawing/2014/main" id="{CA11639C-865E-469F-809C-B563DD7308E4}"/>
              </a:ext>
            </a:extLst>
          </p:cNvPr>
          <p:cNvSpPr>
            <a:spLocks noGrp="1" noChangeArrowheads="1"/>
          </p:cNvSpPr>
          <p:nvPr>
            <p:ph type="sldNum" sz="quarter" idx="4"/>
          </p:nvPr>
        </p:nvSpPr>
        <p:spPr bwMode="auto">
          <a:xfrm>
            <a:off x="6553200" y="6399213"/>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vl1pPr>
          </a:lstStyle>
          <a:p>
            <a:pPr>
              <a:defRPr/>
            </a:pPr>
            <a:fld id="{566CBE9B-9560-4797-B8A7-9BD57133F0DD}" type="slidenum">
              <a:rPr lang="en-US" altLang="en-US"/>
              <a:pPr>
                <a:defRPr/>
              </a:pPr>
              <a:t>‹#›</a:t>
            </a:fld>
            <a:endParaRPr lang="en-US" altLang="en-US"/>
          </a:p>
        </p:txBody>
      </p:sp>
      <p:sp>
        <p:nvSpPr>
          <p:cNvPr id="35" name="Rectangle 35">
            <a:extLst>
              <a:ext uri="{FF2B5EF4-FFF2-40B4-BE49-F238E27FC236}">
                <a16:creationId xmlns:a16="http://schemas.microsoft.com/office/drawing/2014/main" id="{AB0AA57D-83CE-4DBB-BBEF-F7C619C93034}"/>
              </a:ext>
            </a:extLst>
          </p:cNvPr>
          <p:cNvSpPr>
            <a:spLocks noChangeArrowheads="1"/>
          </p:cNvSpPr>
          <p:nvPr userDrawn="1"/>
        </p:nvSpPr>
        <p:spPr bwMode="auto">
          <a:xfrm>
            <a:off x="685800" y="6492875"/>
            <a:ext cx="7775575" cy="271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defRPr/>
            </a:pPr>
            <a:r>
              <a:rPr lang="en-US" sz="1000" dirty="0">
                <a:latin typeface="Arial" panose="020B0604020202020204" pitchFamily="34" charset="0"/>
              </a:rPr>
              <a:t>Liang, Introduction to Java Programming, Tenth Edition, Global Edition. © Pearson Education Limited 2015</a:t>
            </a:r>
          </a:p>
        </p:txBody>
      </p:sp>
    </p:spTree>
    <p:extLst>
      <p:ext uri="{BB962C8B-B14F-4D97-AF65-F5344CB8AC3E}">
        <p14:creationId xmlns:p14="http://schemas.microsoft.com/office/powerpoint/2010/main" val="3173068156"/>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69" r:id="rId5"/>
    <p:sldLayoutId id="2147483870" r:id="rId6"/>
    <p:sldLayoutId id="2147483871" r:id="rId7"/>
    <p:sldLayoutId id="2147483872" r:id="rId8"/>
    <p:sldLayoutId id="2147483873" r:id="rId9"/>
    <p:sldLayoutId id="2147483874" r:id="rId10"/>
    <p:sldLayoutId id="2147483875" r:id="rId11"/>
  </p:sldLayoutIdLst>
  <p:timing>
    <p:tnLst>
      <p:par>
        <p:cTn id="1" dur="indefinite" restart="never" nodeType="tmRoot"/>
      </p:par>
    </p:tnLst>
  </p:timing>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ml/HandleEvent.html" TargetMode="External"/><Relationship Id="rId3" Type="http://schemas.openxmlformats.org/officeDocument/2006/relationships/hyperlink" Target="html/HandleEvent.bat" TargetMode="External"/><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hyperlink" Target="http://www.cs.armstrong.edu/liang/intro10e/html/HandleEvent.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winword%20TestCircleWithConstructors.java" TargetMode="Externa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ml/ControlCircle.html" TargetMode="External"/><Relationship Id="rId3" Type="http://schemas.openxmlformats.org/officeDocument/2006/relationships/hyperlink" Target="html/ControlCircle.bat" TargetMode="External"/><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hyperlink" Target="http://www.cs.armstrong.edu/liang/intro10e/html/ControlCircle.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ml/AnonymousHandlerDemo.html" TargetMode="External"/><Relationship Id="rId4" Type="http://schemas.openxmlformats.org/officeDocument/2006/relationships/hyperlink" Target="html/AnonymousHandlerDemo.bat" TargetMode="External"/><Relationship Id="rId5" Type="http://schemas.openxmlformats.org/officeDocument/2006/relationships/hyperlink" Target="http://www.cs.armstrong.edu/liang/intro10e/html/AnonymousHandlerDemo.html" TargetMode="External"/><Relationship Id="rId6"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oleObject" Target="../embeddings/oleObject1.bin"/><Relationship Id="rId5" Type="http://schemas.openxmlformats.org/officeDocument/2006/relationships/image" Target="../media/image19.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ml/LambdaHandlerDemo.html" TargetMode="External"/><Relationship Id="rId3" Type="http://schemas.openxmlformats.org/officeDocument/2006/relationships/hyperlink" Target="http://www.cs.armstrong.edu/liang/intro10e/html/LambdaHandlerDemo.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ml/LoanCalculator.html" TargetMode="External"/><Relationship Id="rId4" Type="http://schemas.openxmlformats.org/officeDocument/2006/relationships/hyperlink" Target="html/LoanCalculator.bat" TargetMode="External"/><Relationship Id="rId5" Type="http://schemas.openxmlformats.org/officeDocument/2006/relationships/hyperlink" Target="http://www.cs.armstrong.edu/liang/intro10e/html/LoanCalculator.html"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ml/MouseEventDemo.html" TargetMode="External"/><Relationship Id="rId3" Type="http://schemas.openxmlformats.org/officeDocument/2006/relationships/hyperlink" Target="html/MouseEventDemo.bat" TargetMode="External"/><Relationship Id="rId4" Type="http://schemas.openxmlformats.org/officeDocument/2006/relationships/hyperlink" Target="http://www.cs.armstrong.edu/liang/intro10e/html/MouseEventDemo.html" TargetMode="External"/><Relationship Id="rId5"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ml/KeyEventDemo.html" TargetMode="External"/><Relationship Id="rId4" Type="http://schemas.openxmlformats.org/officeDocument/2006/relationships/hyperlink" Target="html/KeyEventDemo.bat" TargetMode="External"/><Relationship Id="rId5" Type="http://schemas.openxmlformats.org/officeDocument/2006/relationships/hyperlink" Target="http://www.cs.armstrong.edu/liang/intro10e/html/KeyEventDemo.html" TargetMode="External"/><Relationship Id="rId6" Type="http://schemas.openxmlformats.org/officeDocument/2006/relationships/image" Target="../media/image2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ml/ControlCircleWithMouseAndKey.html" TargetMode="External"/><Relationship Id="rId3" Type="http://schemas.openxmlformats.org/officeDocument/2006/relationships/hyperlink" Target="html/ControlCircleWithMouseAndKey.bat" TargetMode="External"/><Relationship Id="rId4" Type="http://schemas.openxmlformats.org/officeDocument/2006/relationships/hyperlink" Target="http://www.cs.armstrong.edu/liang/intro10e/html/ControlCircleWithMouseAndKey.html"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hyperlink" Target="html/ObservablePropertyDemo.html" TargetMode="External"/><Relationship Id="rId4" Type="http://schemas.openxmlformats.org/officeDocument/2006/relationships/hyperlink" Target="html/ObservablePropertyDemo.bat" TargetMode="External"/><Relationship Id="rId5" Type="http://schemas.openxmlformats.org/officeDocument/2006/relationships/hyperlink" Target="http://www.cs.armstrong.edu/liang/intro10e/html/ObservablePropertyDemo.html" TargetMode="External"/><Relationship Id="rId6" Type="http://schemas.openxmlformats.org/officeDocument/2006/relationships/hyperlink" Target="html/DisplayResizableClock.html" TargetMode="External"/><Relationship Id="rId7" Type="http://schemas.openxmlformats.org/officeDocument/2006/relationships/hyperlink" Target="html/DisplayResizableClock.bat" TargetMode="External"/><Relationship Id="rId8" Type="http://schemas.openxmlformats.org/officeDocument/2006/relationships/hyperlink" Target="http://www.cs.armstrong.edu/liang/intro10e/html/DisplayResizableClock.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ml/PathTransitionDemo.bat" TargetMode="External"/><Relationship Id="rId4" Type="http://schemas.openxmlformats.org/officeDocument/2006/relationships/hyperlink" Target="html/PathTransitionDemo.html" TargetMode="External"/><Relationship Id="rId5" Type="http://schemas.openxmlformats.org/officeDocument/2006/relationships/hyperlink" Target="http://www.cs.armstrong.edu/liang/intro10e/html/PathTransitionDemo.html" TargetMode="External"/><Relationship Id="rId6" Type="http://schemas.openxmlformats.org/officeDocument/2006/relationships/hyperlink" Target="html/FlagRisingAnimation.bat" TargetMode="External"/><Relationship Id="rId7" Type="http://schemas.openxmlformats.org/officeDocument/2006/relationships/hyperlink" Target="html/FlagRisingAnimation.html" TargetMode="External"/><Relationship Id="rId8" Type="http://schemas.openxmlformats.org/officeDocument/2006/relationships/hyperlink" Target="http://www.cs.armstrong.edu/liang/intro10e/html/FlagRisingAnimation.html" TargetMode="External"/><Relationship Id="rId9" Type="http://schemas.openxmlformats.org/officeDocument/2006/relationships/image" Target="../media/image3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ml/FadeTransitionDemo.bat" TargetMode="External"/><Relationship Id="rId4" Type="http://schemas.openxmlformats.org/officeDocument/2006/relationships/hyperlink" Target="html/FadeTransitionDemo.html" TargetMode="External"/><Relationship Id="rId5" Type="http://schemas.openxmlformats.org/officeDocument/2006/relationships/hyperlink" Target="http://www.cs.armstrong.edu/liang/intro10e/html/FadeTransitionDemo.html" TargetMode="External"/><Relationship Id="rId6" Type="http://schemas.openxmlformats.org/officeDocument/2006/relationships/image" Target="../media/image35.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ml/TimelineDemo.bat" TargetMode="External"/><Relationship Id="rId4" Type="http://schemas.openxmlformats.org/officeDocument/2006/relationships/hyperlink" Target="html/TimelineDemo.html" TargetMode="External"/><Relationship Id="rId5" Type="http://schemas.openxmlformats.org/officeDocument/2006/relationships/hyperlink" Target="http://www.cs.armstrong.edu/liang/intro10e/html/TimelineDemo.html"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ml/ClockAnimation.bat" TargetMode="External"/><Relationship Id="rId3" Type="http://schemas.openxmlformats.org/officeDocument/2006/relationships/hyperlink" Target="html/ClockAnimation.html" TargetMode="External"/><Relationship Id="rId4" Type="http://schemas.openxmlformats.org/officeDocument/2006/relationships/hyperlink" Target="http://www.cs.armstrong.edu/liang/intro10e/html/ClockAnimation.html" TargetMode="External"/><Relationship Id="rId5" Type="http://schemas.openxmlformats.org/officeDocument/2006/relationships/image" Target="../media/image3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hyperlink" Target="http://www.cs.armstrong.edu/liang/intro10e/html/BallPane.html" TargetMode="External"/><Relationship Id="rId7" Type="http://schemas.openxmlformats.org/officeDocument/2006/relationships/hyperlink" Target="html/BallPane.html" TargetMode="External"/><Relationship Id="rId8" Type="http://schemas.openxmlformats.org/officeDocument/2006/relationships/hyperlink" Target="html/BounceBallControl.bat" TargetMode="External"/><Relationship Id="rId9" Type="http://schemas.openxmlformats.org/officeDocument/2006/relationships/hyperlink" Target="http://www.cs.armstrong.edu/liang/intro10e/html/BounceBallControl.html" TargetMode="External"/><Relationship Id="rId10" Type="http://schemas.openxmlformats.org/officeDocument/2006/relationships/hyperlink" Target="html/BounceBallControl.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9AFCF02-7435-4B70-956E-ACA266CD0605}" type="slidenum">
              <a:rPr lang="en-US" altLang="en-US" sz="1400" smtClean="0"/>
              <a:pPr>
                <a:spcBef>
                  <a:spcPct val="0"/>
                </a:spcBef>
                <a:buClrTx/>
                <a:buSzTx/>
                <a:buFontTx/>
                <a:buNone/>
              </a:pPr>
              <a:t>1</a:t>
            </a:fld>
            <a:endParaRPr lang="en-US" altLang="en-US" sz="1400" dirty="0" smtClean="0"/>
          </a:p>
        </p:txBody>
      </p:sp>
      <p:sp>
        <p:nvSpPr>
          <p:cNvPr id="4099" name="Rectangle 2"/>
          <p:cNvSpPr>
            <a:spLocks noGrp="1" noChangeArrowheads="1"/>
          </p:cNvSpPr>
          <p:nvPr>
            <p:ph type="title"/>
          </p:nvPr>
        </p:nvSpPr>
        <p:spPr>
          <a:xfrm>
            <a:off x="685800" y="609600"/>
            <a:ext cx="7772400" cy="1609725"/>
          </a:xfrm>
          <a:noFill/>
        </p:spPr>
        <p:txBody>
          <a:bodyPr/>
          <a:lstStyle/>
          <a:p>
            <a:r>
              <a:rPr lang="en-US" altLang="en-US" sz="4000" dirty="0" smtClean="0"/>
              <a:t>Chapter 15 Event-Driven Programming and Animations</a:t>
            </a:r>
            <a:endParaRPr lang="en-US" altLang="en-US" dirty="0" smtClean="0"/>
          </a:p>
        </p:txBody>
      </p:sp>
      <p:sp>
        <p:nvSpPr>
          <p:cNvPr id="4100" name="Rectangle 7"/>
          <p:cNvSpPr>
            <a:spLocks noChangeArrowheads="1"/>
          </p:cNvSpPr>
          <p:nvPr/>
        </p:nvSpPr>
        <p:spPr bwMode="auto">
          <a:xfrm>
            <a:off x="2147888" y="2219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7B6CF9C-0072-4822-9DF6-A4764BE178C6}" type="slidenum">
              <a:rPr lang="en-US" altLang="en-US" sz="1400" smtClean="0"/>
              <a:pPr>
                <a:spcBef>
                  <a:spcPct val="0"/>
                </a:spcBef>
                <a:buClrTx/>
                <a:buSzTx/>
                <a:buFontTx/>
                <a:buNone/>
              </a:pPr>
              <a:t>2</a:t>
            </a:fld>
            <a:endParaRPr lang="en-US" altLang="en-US" sz="1400" dirty="0" smtClean="0"/>
          </a:p>
        </p:txBody>
      </p:sp>
      <p:sp>
        <p:nvSpPr>
          <p:cNvPr id="6147" name="Rectangle 2"/>
          <p:cNvSpPr>
            <a:spLocks noGrp="1" noChangeArrowheads="1"/>
          </p:cNvSpPr>
          <p:nvPr>
            <p:ph type="title"/>
          </p:nvPr>
        </p:nvSpPr>
        <p:spPr>
          <a:xfrm>
            <a:off x="685800" y="304800"/>
            <a:ext cx="7772400" cy="1123950"/>
          </a:xfrm>
          <a:noFill/>
        </p:spPr>
        <p:txBody>
          <a:bodyPr/>
          <a:lstStyle/>
          <a:p>
            <a:r>
              <a:rPr lang="en-US" altLang="en-US" dirty="0" smtClean="0"/>
              <a:t>Procedural vs. Event-Driven Programming</a:t>
            </a:r>
          </a:p>
        </p:txBody>
      </p:sp>
      <p:sp>
        <p:nvSpPr>
          <p:cNvPr id="6148" name="Rectangle 3"/>
          <p:cNvSpPr>
            <a:spLocks noGrp="1" noChangeArrowheads="1"/>
          </p:cNvSpPr>
          <p:nvPr>
            <p:ph type="body" idx="1"/>
          </p:nvPr>
        </p:nvSpPr>
        <p:spPr>
          <a:xfrm>
            <a:off x="457200" y="1905000"/>
            <a:ext cx="8305800" cy="2590800"/>
          </a:xfrm>
          <a:noFill/>
        </p:spPr>
        <p:txBody>
          <a:bodyPr/>
          <a:lstStyle/>
          <a:p>
            <a:pPr>
              <a:buFont typeface="Wingdings" panose="05000000000000000000" pitchFamily="2" charset="2"/>
              <a:buChar char="§"/>
            </a:pPr>
            <a:r>
              <a:rPr lang="en-US" altLang="en-US" i="1" dirty="0" smtClean="0"/>
              <a:t>Procedural programming</a:t>
            </a:r>
            <a:r>
              <a:rPr lang="en-US" altLang="en-US" dirty="0" smtClean="0"/>
              <a:t> is executed in procedural/statement order.</a:t>
            </a:r>
          </a:p>
          <a:p>
            <a:pPr>
              <a:spcBef>
                <a:spcPct val="100000"/>
              </a:spcBef>
              <a:buFont typeface="Wingdings" panose="05000000000000000000" pitchFamily="2" charset="2"/>
              <a:buChar char="§"/>
            </a:pPr>
            <a:r>
              <a:rPr lang="en-US" altLang="en-US" dirty="0" smtClean="0"/>
              <a:t>In event-driven programming, code is executed upon activation of events.</a:t>
            </a:r>
            <a:r>
              <a:rPr lang="en-US" altLang="en-US" dirty="0" smtClean="0">
                <a:latin typeface="Book Antiqua" panose="02040602050305030304" pitchFamily="18" charset="0"/>
              </a:rPr>
              <a:t>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93BFA52-B0D1-4CD9-9474-68E054EEF4B4}" type="slidenum">
              <a:rPr lang="en-US" altLang="en-US" sz="1400" smtClean="0"/>
              <a:pPr>
                <a:spcBef>
                  <a:spcPct val="0"/>
                </a:spcBef>
                <a:buClrTx/>
                <a:buSzTx/>
                <a:buFontTx/>
                <a:buNone/>
              </a:pPr>
              <a:t>3</a:t>
            </a:fld>
            <a:endParaRPr lang="en-US" altLang="en-US" sz="1400" dirty="0" smtClean="0"/>
          </a:p>
        </p:txBody>
      </p:sp>
      <p:sp>
        <p:nvSpPr>
          <p:cNvPr id="7171" name="Rectangle 2"/>
          <p:cNvSpPr>
            <a:spLocks noGrp="1" noChangeArrowheads="1"/>
          </p:cNvSpPr>
          <p:nvPr>
            <p:ph type="title"/>
          </p:nvPr>
        </p:nvSpPr>
        <p:spPr>
          <a:xfrm>
            <a:off x="304800" y="304800"/>
            <a:ext cx="8534400" cy="1143000"/>
          </a:xfrm>
          <a:noFill/>
        </p:spPr>
        <p:txBody>
          <a:bodyPr/>
          <a:lstStyle/>
          <a:p>
            <a:r>
              <a:rPr lang="en-US" altLang="en-US" dirty="0" smtClean="0"/>
              <a:t>Taste of Event-Driven Programming</a:t>
            </a:r>
            <a:endParaRPr lang="en-US" altLang="en-US" dirty="0" smtClean="0">
              <a:solidFill>
                <a:schemeClr val="tx1"/>
              </a:solidFill>
              <a:latin typeface="Book Antiqua" panose="02040602050305030304" pitchFamily="18" charset="0"/>
            </a:endParaRPr>
          </a:p>
        </p:txBody>
      </p:sp>
      <p:sp>
        <p:nvSpPr>
          <p:cNvPr id="7172" name="Rectangle 3"/>
          <p:cNvSpPr>
            <a:spLocks noGrp="1" noChangeArrowheads="1"/>
          </p:cNvSpPr>
          <p:nvPr>
            <p:ph type="body" idx="1"/>
          </p:nvPr>
        </p:nvSpPr>
        <p:spPr>
          <a:xfrm>
            <a:off x="457200" y="1905000"/>
            <a:ext cx="8305800" cy="1524000"/>
          </a:xfrm>
          <a:noFill/>
        </p:spPr>
        <p:txBody>
          <a:bodyPr/>
          <a:lstStyle/>
          <a:p>
            <a:pPr marL="0" indent="0">
              <a:lnSpc>
                <a:spcPct val="90000"/>
              </a:lnSpc>
              <a:buFont typeface="Monotype Sorts" pitchFamily="2" charset="2"/>
              <a:buNone/>
            </a:pPr>
            <a:r>
              <a:rPr lang="en-US" altLang="en-US" dirty="0" smtClean="0"/>
              <a:t>The example displays a button in the frame. A message is displayed on the console when a button is clicked. </a:t>
            </a:r>
          </a:p>
        </p:txBody>
      </p:sp>
      <p:sp>
        <p:nvSpPr>
          <p:cNvPr id="387076" name="AutoShape 4">
            <a:hlinkClick r:id="" action="ppaction://noaction" highlightClick="1"/>
            <a:extLst>
              <a:ext uri="{FF2B5EF4-FFF2-40B4-BE49-F238E27FC236}">
                <a16:creationId xmlns:a16="http://schemas.microsoft.com/office/drawing/2014/main" id="{417120BC-A228-464E-849E-7592CE489116}"/>
              </a:ext>
            </a:extLst>
          </p:cNvPr>
          <p:cNvSpPr>
            <a:spLocks noChangeArrowheads="1"/>
          </p:cNvSpPr>
          <p:nvPr/>
        </p:nvSpPr>
        <p:spPr bwMode="auto">
          <a:xfrm>
            <a:off x="609600" y="4724400"/>
            <a:ext cx="3276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dirty="0" err="1">
                <a:solidFill>
                  <a:schemeClr val="accent1"/>
                </a:solidFill>
                <a:latin typeface="Book Antiqua" pitchFamily="18" charset="0"/>
                <a:hlinkClick r:id="rId2" action="ppaction://program"/>
              </a:rPr>
              <a:t>HandleEvent</a:t>
            </a:r>
            <a:endParaRPr lang="en-US" altLang="en-US">
              <a:solidFill>
                <a:schemeClr val="accent1"/>
              </a:solidFill>
            </a:endParaRPr>
          </a:p>
        </p:txBody>
      </p:sp>
      <p:sp>
        <p:nvSpPr>
          <p:cNvPr id="7174" name="AutoShape 5">
            <a:hlinkClick r:id="rId3" action="ppaction://program" highlightClick="1"/>
          </p:cNvPr>
          <p:cNvSpPr>
            <a:spLocks noChangeArrowheads="1"/>
          </p:cNvSpPr>
          <p:nvPr/>
        </p:nvSpPr>
        <p:spPr bwMode="auto">
          <a:xfrm>
            <a:off x="609600" y="5486400"/>
            <a:ext cx="32766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pic>
        <p:nvPicPr>
          <p:cNvPr id="717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3657600"/>
            <a:ext cx="43434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6"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600" y="4724400"/>
            <a:ext cx="2438400" cy="125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177" name="AutoShape 9">
            <a:hlinkClick r:id="rId6" highlightClick="1"/>
          </p:cNvPr>
          <p:cNvSpPr>
            <a:spLocks noChangeArrowheads="1"/>
          </p:cNvSpPr>
          <p:nvPr/>
        </p:nvSpPr>
        <p:spPr bwMode="auto">
          <a:xfrm>
            <a:off x="228600" y="4419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13EA090-EED2-41AB-A704-F42352D2B996}" type="slidenum">
              <a:rPr lang="en-US" altLang="en-US" sz="1400" smtClean="0"/>
              <a:pPr>
                <a:spcBef>
                  <a:spcPct val="0"/>
                </a:spcBef>
                <a:buClrTx/>
                <a:buSzTx/>
                <a:buFontTx/>
                <a:buNone/>
              </a:pPr>
              <a:t>4</a:t>
            </a:fld>
            <a:endParaRPr lang="en-US" altLang="en-US" sz="1400" smtClean="0"/>
          </a:p>
        </p:txBody>
      </p:sp>
      <p:sp>
        <p:nvSpPr>
          <p:cNvPr id="8195" name="Rectangle 4">
            <a:extLst>
              <a:ext uri="{FF2B5EF4-FFF2-40B4-BE49-F238E27FC236}">
                <a16:creationId xmlns:a16="http://schemas.microsoft.com/office/drawing/2014/main" id="{AD1B1165-A54B-4F3C-85AC-362CB7D06BA6}"/>
              </a:ext>
            </a:extLst>
          </p:cNvPr>
          <p:cNvSpPr>
            <a:spLocks noChangeArrowheads="1"/>
          </p:cNvSpPr>
          <p:nvPr/>
        </p:nvSpPr>
        <p:spPr bwMode="auto">
          <a:xfrm>
            <a:off x="152400" y="0"/>
            <a:ext cx="8305800" cy="641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1050" b="1" dirty="0">
                <a:solidFill>
                  <a:srgbClr val="000000"/>
                </a:solidFill>
                <a:latin typeface="Courier New" panose="02070309020205020404" pitchFamily="49" charset="0"/>
              </a:rPr>
              <a:t>import </a:t>
            </a:r>
            <a:r>
              <a:rPr lang="en-US" altLang="en-US" sz="1050" b="1" dirty="0" err="1">
                <a:solidFill>
                  <a:srgbClr val="000000"/>
                </a:solidFill>
                <a:latin typeface="Courier New" panose="02070309020205020404" pitchFamily="49" charset="0"/>
              </a:rPr>
              <a:t>javafx.application.Application</a:t>
            </a:r>
            <a:r>
              <a:rPr lang="en-US" altLang="en-US" sz="1050" b="1" dirty="0">
                <a:solidFill>
                  <a:srgbClr val="000000"/>
                </a:solidFill>
                <a:latin typeface="Courier New" panose="02070309020205020404" pitchFamily="49" charset="0"/>
              </a:rPr>
              <a:t>;</a:t>
            </a:r>
            <a:br>
              <a:rPr lang="en-US" altLang="en-US" sz="1050" b="1" dirty="0">
                <a:solidFill>
                  <a:srgbClr val="000000"/>
                </a:solidFill>
                <a:latin typeface="Courier New" panose="02070309020205020404" pitchFamily="49" charset="0"/>
              </a:rPr>
            </a:br>
            <a:r>
              <a:rPr lang="en-US" altLang="en-US" sz="1050" b="1" dirty="0">
                <a:solidFill>
                  <a:srgbClr val="000000"/>
                </a:solidFill>
                <a:latin typeface="Courier New" panose="02070309020205020404" pitchFamily="49" charset="0"/>
              </a:rPr>
              <a:t>import </a:t>
            </a:r>
            <a:r>
              <a:rPr lang="en-US" altLang="en-US" sz="1050" b="1" dirty="0" err="1">
                <a:solidFill>
                  <a:srgbClr val="000000"/>
                </a:solidFill>
                <a:latin typeface="Courier New" panose="02070309020205020404" pitchFamily="49" charset="0"/>
              </a:rPr>
              <a:t>javafx.stage.Stage</a:t>
            </a:r>
            <a:r>
              <a:rPr lang="en-US" altLang="en-US" sz="1050" b="1" dirty="0">
                <a:solidFill>
                  <a:srgbClr val="000000"/>
                </a:solidFill>
                <a:latin typeface="Courier New" panose="02070309020205020404" pitchFamily="49" charset="0"/>
              </a:rPr>
              <a:t>;</a:t>
            </a:r>
            <a:br>
              <a:rPr lang="en-US" altLang="en-US" sz="1050" b="1" dirty="0">
                <a:solidFill>
                  <a:srgbClr val="000000"/>
                </a:solidFill>
                <a:latin typeface="Courier New" panose="02070309020205020404" pitchFamily="49" charset="0"/>
              </a:rPr>
            </a:br>
            <a:r>
              <a:rPr lang="en-US" altLang="en-US" sz="1050" b="1" dirty="0">
                <a:solidFill>
                  <a:srgbClr val="000000"/>
                </a:solidFill>
                <a:latin typeface="Courier New" panose="02070309020205020404" pitchFamily="49" charset="0"/>
              </a:rPr>
              <a:t>import </a:t>
            </a:r>
            <a:r>
              <a:rPr lang="en-US" altLang="en-US" sz="1050" b="1" dirty="0" err="1">
                <a:solidFill>
                  <a:srgbClr val="000000"/>
                </a:solidFill>
                <a:latin typeface="Courier New" panose="02070309020205020404" pitchFamily="49" charset="0"/>
              </a:rPr>
              <a:t>javafx.scene.Scene</a:t>
            </a:r>
            <a:r>
              <a:rPr lang="en-US" altLang="en-US" sz="1050" b="1" dirty="0">
                <a:solidFill>
                  <a:srgbClr val="000000"/>
                </a:solidFill>
                <a:latin typeface="Courier New" panose="02070309020205020404" pitchFamily="49" charset="0"/>
              </a:rPr>
              <a:t>;</a:t>
            </a:r>
            <a:br>
              <a:rPr lang="en-US" altLang="en-US" sz="1050" b="1" dirty="0">
                <a:solidFill>
                  <a:srgbClr val="000000"/>
                </a:solidFill>
                <a:latin typeface="Courier New" panose="02070309020205020404" pitchFamily="49" charset="0"/>
              </a:rPr>
            </a:br>
            <a:r>
              <a:rPr lang="en-US" altLang="en-US" sz="1050" b="1" dirty="0">
                <a:solidFill>
                  <a:srgbClr val="000000"/>
                </a:solidFill>
                <a:latin typeface="Courier New" panose="02070309020205020404" pitchFamily="49" charset="0"/>
              </a:rPr>
              <a:t>import </a:t>
            </a:r>
            <a:r>
              <a:rPr lang="en-US" altLang="en-US" sz="1050" b="1" dirty="0" err="1">
                <a:solidFill>
                  <a:srgbClr val="000000"/>
                </a:solidFill>
                <a:latin typeface="Courier New" panose="02070309020205020404" pitchFamily="49" charset="0"/>
              </a:rPr>
              <a:t>javafx.scene.layout.HBox</a:t>
            </a:r>
            <a:r>
              <a:rPr lang="en-US" altLang="en-US" sz="1050" b="1" dirty="0">
                <a:solidFill>
                  <a:srgbClr val="000000"/>
                </a:solidFill>
                <a:latin typeface="Courier New" panose="02070309020205020404" pitchFamily="49" charset="0"/>
              </a:rPr>
              <a:t>;</a:t>
            </a:r>
            <a:br>
              <a:rPr lang="en-US" altLang="en-US" sz="1050" b="1" dirty="0">
                <a:solidFill>
                  <a:srgbClr val="000000"/>
                </a:solidFill>
                <a:latin typeface="Courier New" panose="02070309020205020404" pitchFamily="49" charset="0"/>
              </a:rPr>
            </a:br>
            <a:r>
              <a:rPr lang="en-US" altLang="en-US" sz="1050" b="1" dirty="0">
                <a:solidFill>
                  <a:srgbClr val="000000"/>
                </a:solidFill>
                <a:latin typeface="Courier New" panose="02070309020205020404" pitchFamily="49" charset="0"/>
              </a:rPr>
              <a:t>import </a:t>
            </a:r>
            <a:r>
              <a:rPr lang="en-US" altLang="en-US" sz="1050" b="1" dirty="0" err="1">
                <a:solidFill>
                  <a:srgbClr val="000000"/>
                </a:solidFill>
                <a:latin typeface="Courier New" panose="02070309020205020404" pitchFamily="49" charset="0"/>
              </a:rPr>
              <a:t>javafx.scene.control.Button</a:t>
            </a:r>
            <a:r>
              <a:rPr lang="en-US" altLang="en-US" sz="1050" b="1" dirty="0">
                <a:solidFill>
                  <a:srgbClr val="000000"/>
                </a:solidFill>
                <a:latin typeface="Courier New" panose="02070309020205020404" pitchFamily="49" charset="0"/>
              </a:rPr>
              <a:t>;</a:t>
            </a:r>
            <a:br>
              <a:rPr lang="en-US" altLang="en-US" sz="1050" b="1" dirty="0">
                <a:solidFill>
                  <a:srgbClr val="000000"/>
                </a:solidFill>
                <a:latin typeface="Courier New" panose="02070309020205020404" pitchFamily="49" charset="0"/>
              </a:rPr>
            </a:br>
            <a:r>
              <a:rPr lang="en-US" altLang="en-US" sz="1100" b="1" dirty="0">
                <a:solidFill>
                  <a:srgbClr val="FF0000"/>
                </a:solidFill>
                <a:latin typeface="Courier New" panose="02070309020205020404" pitchFamily="49" charset="0"/>
              </a:rPr>
              <a:t>import </a:t>
            </a:r>
            <a:r>
              <a:rPr lang="en-US" altLang="en-US" sz="1100" b="1" dirty="0" err="1">
                <a:solidFill>
                  <a:srgbClr val="FF0000"/>
                </a:solidFill>
                <a:latin typeface="Courier New" panose="02070309020205020404" pitchFamily="49" charset="0"/>
              </a:rPr>
              <a:t>javafx.event.ActionEvent</a:t>
            </a:r>
            <a:r>
              <a:rPr lang="en-US" altLang="en-US" sz="1100" b="1" dirty="0">
                <a:solidFill>
                  <a:srgbClr val="FF0000"/>
                </a:solidFill>
                <a:latin typeface="Courier New" panose="02070309020205020404" pitchFamily="49" charset="0"/>
              </a:rPr>
              <a:t>;</a:t>
            </a:r>
            <a:br>
              <a:rPr lang="en-US" altLang="en-US" sz="1100" b="1" dirty="0">
                <a:solidFill>
                  <a:srgbClr val="FF0000"/>
                </a:solidFill>
                <a:latin typeface="Courier New" panose="02070309020205020404" pitchFamily="49" charset="0"/>
              </a:rPr>
            </a:br>
            <a:r>
              <a:rPr lang="en-US" altLang="en-US" sz="1100" b="1" dirty="0">
                <a:solidFill>
                  <a:srgbClr val="FF0000"/>
                </a:solidFill>
                <a:latin typeface="Courier New" panose="02070309020205020404" pitchFamily="49" charset="0"/>
              </a:rPr>
              <a:t>import </a:t>
            </a:r>
            <a:r>
              <a:rPr lang="en-US" altLang="en-US" sz="1100" b="1" dirty="0" err="1">
                <a:solidFill>
                  <a:srgbClr val="FF0000"/>
                </a:solidFill>
                <a:latin typeface="Courier New" panose="02070309020205020404" pitchFamily="49" charset="0"/>
              </a:rPr>
              <a:t>javafx.event.EventHandler</a:t>
            </a:r>
            <a:r>
              <a:rPr lang="en-US" altLang="en-US" sz="1100" b="1" dirty="0">
                <a:solidFill>
                  <a:srgbClr val="FF0000"/>
                </a:solidFill>
                <a:latin typeface="Courier New" panose="02070309020205020404" pitchFamily="49" charset="0"/>
              </a:rPr>
              <a:t>;</a:t>
            </a:r>
            <a:br>
              <a:rPr lang="en-US" altLang="en-US" sz="1100" b="1" dirty="0">
                <a:solidFill>
                  <a:srgbClr val="FF0000"/>
                </a:solidFill>
                <a:latin typeface="Courier New" panose="02070309020205020404" pitchFamily="49" charset="0"/>
              </a:rPr>
            </a:br>
            <a:r>
              <a:rPr lang="en-US" altLang="en-US" sz="1050" b="1" dirty="0">
                <a:solidFill>
                  <a:srgbClr val="000000"/>
                </a:solidFill>
                <a:latin typeface="Courier New" panose="02070309020205020404" pitchFamily="49" charset="0"/>
              </a:rPr>
              <a:t>import </a:t>
            </a:r>
            <a:r>
              <a:rPr lang="en-US" altLang="en-US" sz="1050" b="1" dirty="0" err="1">
                <a:solidFill>
                  <a:srgbClr val="000000"/>
                </a:solidFill>
                <a:latin typeface="Courier New" panose="02070309020205020404" pitchFamily="49" charset="0"/>
              </a:rPr>
              <a:t>javafx.geometry.Pos</a:t>
            </a:r>
            <a:r>
              <a:rPr lang="en-US" altLang="en-US" sz="1050" b="1" dirty="0">
                <a:solidFill>
                  <a:srgbClr val="000000"/>
                </a:solidFill>
                <a:latin typeface="Courier New" panose="02070309020205020404" pitchFamily="49" charset="0"/>
              </a:rPr>
              <a:t>;</a:t>
            </a:r>
            <a:endParaRPr lang="en-US" altLang="en-US" sz="1400" b="1" dirty="0">
              <a:solidFill>
                <a:srgbClr val="000000"/>
              </a:solidFill>
              <a:latin typeface="Courier New" panose="02070309020205020404" pitchFamily="49" charset="0"/>
            </a:endParaRPr>
          </a:p>
          <a:p>
            <a:pPr>
              <a:defRPr/>
            </a:pPr>
            <a:endParaRPr lang="en-US" altLang="en-US" sz="1400" b="1" dirty="0">
              <a:solidFill>
                <a:srgbClr val="000000"/>
              </a:solidFill>
              <a:latin typeface="Courier New" panose="02070309020205020404" pitchFamily="49" charset="0"/>
            </a:endParaRPr>
          </a:p>
          <a:p>
            <a:pPr>
              <a:defRPr/>
            </a:pPr>
            <a:r>
              <a:rPr lang="en-US" altLang="en-US" sz="1300" b="1" dirty="0">
                <a:solidFill>
                  <a:srgbClr val="000000"/>
                </a:solidFill>
                <a:latin typeface="Courier New" panose="02070309020205020404" pitchFamily="49" charset="0"/>
              </a:rPr>
              <a:t>public class </a:t>
            </a:r>
            <a:r>
              <a:rPr lang="en-US" altLang="en-US" sz="1300" b="1" dirty="0" err="1">
                <a:solidFill>
                  <a:srgbClr val="000000"/>
                </a:solidFill>
                <a:latin typeface="Courier New" panose="02070309020205020404" pitchFamily="49" charset="0"/>
              </a:rPr>
              <a:t>HandleEvent</a:t>
            </a:r>
            <a:r>
              <a:rPr lang="en-US" altLang="en-US" sz="1300" b="1" dirty="0">
                <a:solidFill>
                  <a:srgbClr val="000000"/>
                </a:solidFill>
                <a:latin typeface="Courier New" panose="02070309020205020404" pitchFamily="49" charset="0"/>
              </a:rPr>
              <a:t> extends Application {</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  public void start(Stage </a:t>
            </a:r>
            <a:r>
              <a:rPr lang="en-US" altLang="en-US" sz="1300" b="1" dirty="0" err="1">
                <a:solidFill>
                  <a:srgbClr val="000000"/>
                </a:solidFill>
                <a:latin typeface="Courier New" panose="02070309020205020404" pitchFamily="49" charset="0"/>
              </a:rPr>
              <a:t>primaryStage</a:t>
            </a:r>
            <a:r>
              <a:rPr lang="en-US" altLang="en-US" sz="1300" b="1" dirty="0">
                <a:solidFill>
                  <a:srgbClr val="000000"/>
                </a:solidFill>
                <a:latin typeface="Courier New" panose="02070309020205020404" pitchFamily="49" charset="0"/>
              </a:rPr>
              <a:t>) {</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    </a:t>
            </a:r>
            <a:r>
              <a:rPr lang="en-US" altLang="en-US" sz="1300" b="1" dirty="0" err="1">
                <a:solidFill>
                  <a:srgbClr val="000000"/>
                </a:solidFill>
                <a:latin typeface="Courier New" panose="02070309020205020404" pitchFamily="49" charset="0"/>
              </a:rPr>
              <a:t>HBox</a:t>
            </a:r>
            <a:r>
              <a:rPr lang="en-US" altLang="en-US" sz="1300" b="1" dirty="0">
                <a:solidFill>
                  <a:srgbClr val="000000"/>
                </a:solidFill>
                <a:latin typeface="Courier New" panose="02070309020205020404" pitchFamily="49" charset="0"/>
              </a:rPr>
              <a:t> pane = new </a:t>
            </a:r>
            <a:r>
              <a:rPr lang="en-US" altLang="en-US" sz="1300" b="1" dirty="0" err="1">
                <a:solidFill>
                  <a:srgbClr val="000000"/>
                </a:solidFill>
                <a:latin typeface="Courier New" panose="02070309020205020404" pitchFamily="49" charset="0"/>
              </a:rPr>
              <a:t>HBox</a:t>
            </a:r>
            <a:r>
              <a:rPr lang="en-US" altLang="en-US" sz="1300" b="1" dirty="0">
                <a:solidFill>
                  <a:srgbClr val="000000"/>
                </a:solidFill>
                <a:latin typeface="Courier New" panose="02070309020205020404" pitchFamily="49" charset="0"/>
              </a:rPr>
              <a:t>(10);</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    Button </a:t>
            </a:r>
            <a:r>
              <a:rPr lang="en-US" altLang="en-US" sz="1300" b="1" dirty="0" err="1">
                <a:solidFill>
                  <a:srgbClr val="000000"/>
                </a:solidFill>
                <a:latin typeface="Courier New" panose="02070309020205020404" pitchFamily="49" charset="0"/>
              </a:rPr>
              <a:t>btOK</a:t>
            </a:r>
            <a:r>
              <a:rPr lang="en-US" altLang="en-US" sz="1300" b="1" dirty="0">
                <a:solidFill>
                  <a:srgbClr val="000000"/>
                </a:solidFill>
                <a:latin typeface="Courier New" panose="02070309020205020404" pitchFamily="49" charset="0"/>
              </a:rPr>
              <a:t> = new Button("OK");</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    Button </a:t>
            </a:r>
            <a:r>
              <a:rPr lang="en-US" altLang="en-US" sz="1300" b="1" dirty="0" err="1">
                <a:solidFill>
                  <a:srgbClr val="000000"/>
                </a:solidFill>
                <a:latin typeface="Courier New" panose="02070309020205020404" pitchFamily="49" charset="0"/>
              </a:rPr>
              <a:t>btCancel</a:t>
            </a:r>
            <a:r>
              <a:rPr lang="en-US" altLang="en-US" sz="1300" b="1" dirty="0">
                <a:solidFill>
                  <a:srgbClr val="000000"/>
                </a:solidFill>
                <a:latin typeface="Courier New" panose="02070309020205020404" pitchFamily="49" charset="0"/>
              </a:rPr>
              <a:t> = new Button("Cancel");</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    </a:t>
            </a:r>
            <a:r>
              <a:rPr lang="en-US" altLang="en-US" sz="1300" b="1" dirty="0" err="1">
                <a:solidFill>
                  <a:srgbClr val="FF0000"/>
                </a:solidFill>
                <a:latin typeface="Courier New" panose="02070309020205020404" pitchFamily="49" charset="0"/>
              </a:rPr>
              <a:t>OKHandlerClass</a:t>
            </a:r>
            <a:r>
              <a:rPr lang="en-US" altLang="en-US" sz="1300" b="1" dirty="0">
                <a:solidFill>
                  <a:srgbClr val="FF0000"/>
                </a:solidFill>
                <a:latin typeface="Courier New" panose="02070309020205020404" pitchFamily="49" charset="0"/>
              </a:rPr>
              <a:t> handler1 = new </a:t>
            </a:r>
            <a:r>
              <a:rPr lang="en-US" altLang="en-US" sz="1300" b="1" dirty="0" err="1">
                <a:solidFill>
                  <a:srgbClr val="FF0000"/>
                </a:solidFill>
                <a:latin typeface="Courier New" panose="02070309020205020404" pitchFamily="49" charset="0"/>
              </a:rPr>
              <a:t>OKHandlerClass</a:t>
            </a:r>
            <a:r>
              <a:rPr lang="en-US" altLang="en-US" sz="1300" b="1" dirty="0">
                <a:solidFill>
                  <a:srgbClr val="FF0000"/>
                </a:solidFill>
                <a:latin typeface="Courier New" panose="02070309020205020404" pitchFamily="49" charset="0"/>
              </a:rPr>
              <a:t>();</a:t>
            </a:r>
            <a:br>
              <a:rPr lang="en-US" altLang="en-US" sz="1300" b="1" dirty="0">
                <a:solidFill>
                  <a:srgbClr val="FF0000"/>
                </a:solidFill>
                <a:latin typeface="Courier New" panose="02070309020205020404" pitchFamily="49" charset="0"/>
              </a:rPr>
            </a:br>
            <a:r>
              <a:rPr lang="en-US" altLang="en-US" sz="1300" b="1" dirty="0">
                <a:solidFill>
                  <a:srgbClr val="FF0000"/>
                </a:solidFill>
                <a:latin typeface="Courier New" panose="02070309020205020404" pitchFamily="49" charset="0"/>
              </a:rPr>
              <a:t>    </a:t>
            </a:r>
            <a:r>
              <a:rPr lang="en-US" altLang="en-US" sz="1300" b="1" dirty="0" err="1">
                <a:solidFill>
                  <a:srgbClr val="FF0000"/>
                </a:solidFill>
                <a:latin typeface="Courier New" panose="02070309020205020404" pitchFamily="49" charset="0"/>
              </a:rPr>
              <a:t>btOK.setOnAction</a:t>
            </a:r>
            <a:r>
              <a:rPr lang="en-US" altLang="en-US" sz="1300" b="1" dirty="0">
                <a:solidFill>
                  <a:srgbClr val="FF0000"/>
                </a:solidFill>
                <a:latin typeface="Courier New" panose="02070309020205020404" pitchFamily="49" charset="0"/>
              </a:rPr>
              <a:t>(handler1);</a:t>
            </a:r>
            <a:br>
              <a:rPr lang="en-US" altLang="en-US" sz="1300" b="1" dirty="0">
                <a:solidFill>
                  <a:srgbClr val="FF0000"/>
                </a:solidFill>
                <a:latin typeface="Courier New" panose="02070309020205020404" pitchFamily="49" charset="0"/>
              </a:rPr>
            </a:br>
            <a:r>
              <a:rPr lang="en-US" altLang="en-US" sz="1300" b="1" dirty="0">
                <a:solidFill>
                  <a:srgbClr val="FF0000"/>
                </a:solidFill>
                <a:latin typeface="Courier New" panose="02070309020205020404" pitchFamily="49" charset="0"/>
              </a:rPr>
              <a:t>    </a:t>
            </a:r>
            <a:r>
              <a:rPr lang="en-US" altLang="en-US" sz="1300" b="1" dirty="0" err="1">
                <a:solidFill>
                  <a:srgbClr val="0070C0"/>
                </a:solidFill>
                <a:latin typeface="Courier New" panose="02070309020205020404" pitchFamily="49" charset="0"/>
              </a:rPr>
              <a:t>CancelHandlerClass</a:t>
            </a:r>
            <a:r>
              <a:rPr lang="en-US" altLang="en-US" sz="1300" b="1" dirty="0">
                <a:solidFill>
                  <a:srgbClr val="0070C0"/>
                </a:solidFill>
                <a:latin typeface="Courier New" panose="02070309020205020404" pitchFamily="49" charset="0"/>
              </a:rPr>
              <a:t> handler2 = new </a:t>
            </a:r>
            <a:r>
              <a:rPr lang="en-US" altLang="en-US" sz="1300" b="1" dirty="0" err="1">
                <a:solidFill>
                  <a:srgbClr val="0070C0"/>
                </a:solidFill>
                <a:latin typeface="Courier New" panose="02070309020205020404" pitchFamily="49" charset="0"/>
              </a:rPr>
              <a:t>CancelHandlerClass</a:t>
            </a:r>
            <a:r>
              <a:rPr lang="en-US" altLang="en-US" sz="1300" b="1" dirty="0">
                <a:solidFill>
                  <a:srgbClr val="0070C0"/>
                </a:solidFill>
                <a:latin typeface="Courier New" panose="02070309020205020404" pitchFamily="49" charset="0"/>
              </a:rPr>
              <a:t>();</a:t>
            </a:r>
            <a:br>
              <a:rPr lang="en-US" altLang="en-US" sz="1300" b="1" dirty="0">
                <a:solidFill>
                  <a:srgbClr val="0070C0"/>
                </a:solidFill>
                <a:latin typeface="Courier New" panose="02070309020205020404" pitchFamily="49" charset="0"/>
              </a:rPr>
            </a:br>
            <a:r>
              <a:rPr lang="en-US" altLang="en-US" sz="1300" b="1" dirty="0">
                <a:solidFill>
                  <a:srgbClr val="0070C0"/>
                </a:solidFill>
                <a:latin typeface="Courier New" panose="02070309020205020404" pitchFamily="49" charset="0"/>
              </a:rPr>
              <a:t>    </a:t>
            </a:r>
            <a:r>
              <a:rPr lang="en-US" altLang="en-US" sz="1300" b="1" dirty="0" err="1">
                <a:solidFill>
                  <a:srgbClr val="0070C0"/>
                </a:solidFill>
                <a:latin typeface="Courier New" panose="02070309020205020404" pitchFamily="49" charset="0"/>
              </a:rPr>
              <a:t>btCancel.setOnAction</a:t>
            </a:r>
            <a:r>
              <a:rPr lang="en-US" altLang="en-US" sz="1300" b="1" dirty="0">
                <a:solidFill>
                  <a:srgbClr val="0070C0"/>
                </a:solidFill>
                <a:latin typeface="Courier New" panose="02070309020205020404" pitchFamily="49" charset="0"/>
              </a:rPr>
              <a:t>(handler2);</a:t>
            </a:r>
            <a:br>
              <a:rPr lang="en-US" altLang="en-US" sz="1300" b="1" dirty="0">
                <a:solidFill>
                  <a:srgbClr val="0070C0"/>
                </a:solidFill>
                <a:latin typeface="Courier New" panose="02070309020205020404" pitchFamily="49" charset="0"/>
              </a:rPr>
            </a:br>
            <a:r>
              <a:rPr lang="en-US" altLang="en-US" sz="1300" b="1" dirty="0">
                <a:solidFill>
                  <a:srgbClr val="0070C0"/>
                </a:solidFill>
                <a:latin typeface="Courier New" panose="02070309020205020404" pitchFamily="49" charset="0"/>
              </a:rPr>
              <a:t>    </a:t>
            </a:r>
            <a:r>
              <a:rPr lang="en-US" altLang="en-US" sz="1300" b="1" dirty="0" err="1">
                <a:solidFill>
                  <a:srgbClr val="000000"/>
                </a:solidFill>
                <a:latin typeface="Courier New" panose="02070309020205020404" pitchFamily="49" charset="0"/>
              </a:rPr>
              <a:t>pane.getChildren</a:t>
            </a:r>
            <a:r>
              <a:rPr lang="en-US" altLang="en-US" sz="1300" b="1" dirty="0">
                <a:solidFill>
                  <a:srgbClr val="000000"/>
                </a:solidFill>
                <a:latin typeface="Courier New" panose="02070309020205020404" pitchFamily="49" charset="0"/>
              </a:rPr>
              <a:t>().</a:t>
            </a:r>
            <a:r>
              <a:rPr lang="en-US" altLang="en-US" sz="1300" b="1" dirty="0" err="1">
                <a:solidFill>
                  <a:srgbClr val="000000"/>
                </a:solidFill>
                <a:latin typeface="Courier New" panose="02070309020205020404" pitchFamily="49" charset="0"/>
              </a:rPr>
              <a:t>addAll</a:t>
            </a:r>
            <a:r>
              <a:rPr lang="en-US" altLang="en-US" sz="1300" b="1" dirty="0">
                <a:solidFill>
                  <a:srgbClr val="000000"/>
                </a:solidFill>
                <a:latin typeface="Courier New" panose="02070309020205020404" pitchFamily="49" charset="0"/>
              </a:rPr>
              <a:t>(</a:t>
            </a:r>
            <a:r>
              <a:rPr lang="en-US" altLang="en-US" sz="1300" b="1" dirty="0" err="1">
                <a:solidFill>
                  <a:srgbClr val="000000"/>
                </a:solidFill>
                <a:latin typeface="Courier New" panose="02070309020205020404" pitchFamily="49" charset="0"/>
              </a:rPr>
              <a:t>btOK</a:t>
            </a:r>
            <a:r>
              <a:rPr lang="en-US" altLang="en-US" sz="1300" b="1" dirty="0">
                <a:solidFill>
                  <a:srgbClr val="000000"/>
                </a:solidFill>
                <a:latin typeface="Courier New" panose="02070309020205020404" pitchFamily="49" charset="0"/>
              </a:rPr>
              <a:t>, </a:t>
            </a:r>
            <a:r>
              <a:rPr lang="en-US" altLang="en-US" sz="1300" b="1" dirty="0" err="1">
                <a:solidFill>
                  <a:srgbClr val="000000"/>
                </a:solidFill>
                <a:latin typeface="Courier New" panose="02070309020205020404" pitchFamily="49" charset="0"/>
              </a:rPr>
              <a:t>btCancel</a:t>
            </a:r>
            <a:r>
              <a:rPr lang="en-US" altLang="en-US" sz="1300" b="1" dirty="0">
                <a:solidFill>
                  <a:srgbClr val="000000"/>
                </a:solidFill>
                <a:latin typeface="Courier New" panose="02070309020205020404" pitchFamily="49" charset="0"/>
              </a:rPr>
              <a:t>);</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    Scene </a:t>
            </a:r>
            <a:r>
              <a:rPr lang="en-US" altLang="en-US" sz="1300" b="1" dirty="0" err="1">
                <a:solidFill>
                  <a:srgbClr val="000000"/>
                </a:solidFill>
                <a:latin typeface="Courier New" panose="02070309020205020404" pitchFamily="49" charset="0"/>
              </a:rPr>
              <a:t>scene</a:t>
            </a:r>
            <a:r>
              <a:rPr lang="en-US" altLang="en-US" sz="1300" b="1" dirty="0">
                <a:solidFill>
                  <a:srgbClr val="000000"/>
                </a:solidFill>
                <a:latin typeface="Courier New" panose="02070309020205020404" pitchFamily="49" charset="0"/>
              </a:rPr>
              <a:t> = new Scene(pane);</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    </a:t>
            </a:r>
            <a:r>
              <a:rPr lang="en-US" altLang="en-US" sz="1300" b="1" dirty="0" err="1">
                <a:solidFill>
                  <a:srgbClr val="000000"/>
                </a:solidFill>
                <a:latin typeface="Courier New" panose="02070309020205020404" pitchFamily="49" charset="0"/>
              </a:rPr>
              <a:t>primaryStage.setScene</a:t>
            </a:r>
            <a:r>
              <a:rPr lang="en-US" altLang="en-US" sz="1300" b="1" dirty="0">
                <a:solidFill>
                  <a:srgbClr val="000000"/>
                </a:solidFill>
                <a:latin typeface="Courier New" panose="02070309020205020404" pitchFamily="49" charset="0"/>
              </a:rPr>
              <a:t>(scene); </a:t>
            </a:r>
            <a:r>
              <a:rPr lang="en-US" altLang="en-US" sz="1300" b="1" dirty="0" err="1">
                <a:solidFill>
                  <a:srgbClr val="000000"/>
                </a:solidFill>
                <a:latin typeface="Courier New" panose="02070309020205020404" pitchFamily="49" charset="0"/>
              </a:rPr>
              <a:t>primaryStage.show</a:t>
            </a:r>
            <a:r>
              <a:rPr lang="en-US" altLang="en-US" sz="1300" b="1" dirty="0">
                <a:solidFill>
                  <a:srgbClr val="000000"/>
                </a:solidFill>
                <a:latin typeface="Courier New" panose="02070309020205020404" pitchFamily="49" charset="0"/>
              </a:rPr>
              <a:t>();</a:t>
            </a:r>
            <a:br>
              <a:rPr lang="en-US" altLang="en-US" sz="1300" b="1" dirty="0">
                <a:solidFill>
                  <a:srgbClr val="000000"/>
                </a:solidFill>
                <a:latin typeface="Courier New" panose="02070309020205020404" pitchFamily="49" charset="0"/>
              </a:rPr>
            </a:br>
            <a:r>
              <a:rPr lang="en-US" altLang="en-US" sz="1300" b="1" dirty="0">
                <a:solidFill>
                  <a:srgbClr val="000000"/>
                </a:solidFill>
                <a:latin typeface="Courier New" panose="02070309020205020404" pitchFamily="49" charset="0"/>
              </a:rPr>
              <a:t>}…/*main*/}</a:t>
            </a:r>
            <a:br>
              <a:rPr lang="en-US" altLang="en-US" sz="1300" b="1" dirty="0">
                <a:solidFill>
                  <a:srgbClr val="000000"/>
                </a:solidFill>
                <a:latin typeface="Courier New" panose="02070309020205020404" pitchFamily="49" charset="0"/>
              </a:rPr>
            </a:br>
            <a:r>
              <a:rPr lang="en-US" altLang="en-US" sz="1300" b="1" dirty="0">
                <a:solidFill>
                  <a:srgbClr val="FF0000"/>
                </a:solidFill>
                <a:latin typeface="Courier New" panose="02070309020205020404" pitchFamily="49" charset="0"/>
              </a:rPr>
              <a:t>class </a:t>
            </a:r>
            <a:r>
              <a:rPr lang="en-US" altLang="en-US" sz="1300" b="1" dirty="0" err="1">
                <a:solidFill>
                  <a:srgbClr val="FF0000"/>
                </a:solidFill>
                <a:latin typeface="Courier New" panose="02070309020205020404" pitchFamily="49" charset="0"/>
              </a:rPr>
              <a:t>OKHandlerClass</a:t>
            </a:r>
            <a:r>
              <a:rPr lang="en-US" altLang="en-US" sz="1300" b="1" dirty="0">
                <a:solidFill>
                  <a:srgbClr val="FF0000"/>
                </a:solidFill>
                <a:latin typeface="Courier New" panose="02070309020205020404" pitchFamily="49" charset="0"/>
              </a:rPr>
              <a:t> implements </a:t>
            </a:r>
            <a:r>
              <a:rPr lang="en-US" altLang="en-US" sz="1300" b="1" dirty="0" err="1">
                <a:solidFill>
                  <a:srgbClr val="FF0000"/>
                </a:solidFill>
                <a:latin typeface="Courier New" panose="02070309020205020404" pitchFamily="49" charset="0"/>
              </a:rPr>
              <a:t>EventHandler</a:t>
            </a:r>
            <a:r>
              <a:rPr lang="en-US" altLang="en-US" sz="1300" b="1" dirty="0">
                <a:solidFill>
                  <a:srgbClr val="FF0000"/>
                </a:solidFill>
                <a:latin typeface="Courier New" panose="02070309020205020404" pitchFamily="49" charset="0"/>
              </a:rPr>
              <a:t>&lt;</a:t>
            </a:r>
            <a:r>
              <a:rPr lang="en-US" altLang="en-US" sz="1300" b="1" dirty="0" err="1">
                <a:solidFill>
                  <a:srgbClr val="FF0000"/>
                </a:solidFill>
                <a:latin typeface="Courier New" panose="02070309020205020404" pitchFamily="49" charset="0"/>
              </a:rPr>
              <a:t>ActionEvent</a:t>
            </a:r>
            <a:r>
              <a:rPr lang="en-US" altLang="en-US" sz="1300" b="1" dirty="0">
                <a:solidFill>
                  <a:srgbClr val="FF0000"/>
                </a:solidFill>
                <a:latin typeface="Courier New" panose="02070309020205020404" pitchFamily="49" charset="0"/>
              </a:rPr>
              <a:t>&gt; {</a:t>
            </a:r>
            <a:br>
              <a:rPr lang="en-US" altLang="en-US" sz="1300" b="1" dirty="0">
                <a:solidFill>
                  <a:srgbClr val="FF0000"/>
                </a:solidFill>
                <a:latin typeface="Courier New" panose="02070309020205020404" pitchFamily="49" charset="0"/>
              </a:rPr>
            </a:br>
            <a:r>
              <a:rPr lang="en-US" altLang="en-US" sz="1300" b="1" dirty="0">
                <a:solidFill>
                  <a:srgbClr val="FF0000"/>
                </a:solidFill>
                <a:latin typeface="Courier New" panose="02070309020205020404" pitchFamily="49" charset="0"/>
              </a:rPr>
              <a:t>  @Override</a:t>
            </a:r>
            <a:br>
              <a:rPr lang="en-US" altLang="en-US" sz="1300" b="1" dirty="0">
                <a:solidFill>
                  <a:srgbClr val="FF0000"/>
                </a:solidFill>
                <a:latin typeface="Courier New" panose="02070309020205020404" pitchFamily="49" charset="0"/>
              </a:rPr>
            </a:br>
            <a:r>
              <a:rPr lang="en-US" altLang="en-US" sz="1300" b="1" dirty="0">
                <a:solidFill>
                  <a:srgbClr val="FF0000"/>
                </a:solidFill>
                <a:latin typeface="Courier New" panose="02070309020205020404" pitchFamily="49" charset="0"/>
              </a:rPr>
              <a:t>  public void handle(</a:t>
            </a:r>
            <a:r>
              <a:rPr lang="en-US" altLang="en-US" sz="1300" b="1" dirty="0" err="1">
                <a:solidFill>
                  <a:srgbClr val="FF0000"/>
                </a:solidFill>
                <a:latin typeface="Courier New" panose="02070309020205020404" pitchFamily="49" charset="0"/>
              </a:rPr>
              <a:t>ActionEvent</a:t>
            </a:r>
            <a:r>
              <a:rPr lang="en-US" altLang="en-US" sz="1300" b="1" dirty="0">
                <a:solidFill>
                  <a:srgbClr val="FF0000"/>
                </a:solidFill>
                <a:latin typeface="Courier New" panose="02070309020205020404" pitchFamily="49" charset="0"/>
              </a:rPr>
              <a:t> e) {</a:t>
            </a:r>
            <a:br>
              <a:rPr lang="en-US" altLang="en-US" sz="1300" b="1" dirty="0">
                <a:solidFill>
                  <a:srgbClr val="FF0000"/>
                </a:solidFill>
                <a:latin typeface="Courier New" panose="02070309020205020404" pitchFamily="49" charset="0"/>
              </a:rPr>
            </a:br>
            <a:r>
              <a:rPr lang="en-US" altLang="en-US" sz="1300" b="1" dirty="0">
                <a:solidFill>
                  <a:srgbClr val="FF0000"/>
                </a:solidFill>
                <a:latin typeface="Courier New" panose="02070309020205020404" pitchFamily="49" charset="0"/>
              </a:rPr>
              <a:t>     </a:t>
            </a:r>
            <a:r>
              <a:rPr lang="en-US" altLang="en-US" sz="1300" b="1" dirty="0" err="1">
                <a:solidFill>
                  <a:srgbClr val="FF0000"/>
                </a:solidFill>
                <a:latin typeface="Courier New" panose="02070309020205020404" pitchFamily="49" charset="0"/>
              </a:rPr>
              <a:t>System.out.println</a:t>
            </a:r>
            <a:r>
              <a:rPr lang="en-US" altLang="en-US" sz="1300" b="1" dirty="0">
                <a:solidFill>
                  <a:srgbClr val="FF0000"/>
                </a:solidFill>
                <a:latin typeface="Courier New" panose="02070309020205020404" pitchFamily="49" charset="0"/>
              </a:rPr>
              <a:t>("OK button clicked");</a:t>
            </a:r>
            <a:br>
              <a:rPr lang="en-US" altLang="en-US" sz="1300" b="1" dirty="0">
                <a:solidFill>
                  <a:srgbClr val="FF0000"/>
                </a:solidFill>
                <a:latin typeface="Courier New" panose="02070309020205020404" pitchFamily="49" charset="0"/>
              </a:rPr>
            </a:br>
            <a:r>
              <a:rPr lang="en-US" altLang="en-US" sz="1300" b="1" dirty="0">
                <a:solidFill>
                  <a:srgbClr val="FF0000"/>
                </a:solidFill>
                <a:latin typeface="Courier New" panose="02070309020205020404" pitchFamily="49" charset="0"/>
              </a:rPr>
              <a:t>  }}</a:t>
            </a:r>
            <a:br>
              <a:rPr lang="en-US" altLang="en-US" sz="1300" b="1" dirty="0">
                <a:solidFill>
                  <a:srgbClr val="FF0000"/>
                </a:solidFill>
                <a:latin typeface="Courier New" panose="02070309020205020404" pitchFamily="49" charset="0"/>
              </a:rPr>
            </a:br>
            <a:r>
              <a:rPr lang="en-US" altLang="en-US" sz="1300" b="1" dirty="0">
                <a:solidFill>
                  <a:srgbClr val="0070C0"/>
                </a:solidFill>
                <a:latin typeface="Courier New" panose="02070309020205020404" pitchFamily="49" charset="0"/>
              </a:rPr>
              <a:t>class </a:t>
            </a:r>
            <a:r>
              <a:rPr lang="en-US" altLang="en-US" sz="1300" b="1" dirty="0" err="1">
                <a:solidFill>
                  <a:srgbClr val="0070C0"/>
                </a:solidFill>
                <a:latin typeface="Courier New" panose="02070309020205020404" pitchFamily="49" charset="0"/>
              </a:rPr>
              <a:t>CancelHandlerClass</a:t>
            </a:r>
            <a:r>
              <a:rPr lang="en-US" altLang="en-US" sz="1300" b="1" dirty="0">
                <a:solidFill>
                  <a:srgbClr val="0070C0"/>
                </a:solidFill>
                <a:latin typeface="Courier New" panose="02070309020205020404" pitchFamily="49" charset="0"/>
              </a:rPr>
              <a:t> implements </a:t>
            </a:r>
            <a:r>
              <a:rPr lang="en-US" altLang="en-US" sz="1300" b="1" dirty="0" err="1">
                <a:solidFill>
                  <a:srgbClr val="0070C0"/>
                </a:solidFill>
                <a:latin typeface="Courier New" panose="02070309020205020404" pitchFamily="49" charset="0"/>
              </a:rPr>
              <a:t>EventHandler</a:t>
            </a:r>
            <a:r>
              <a:rPr lang="en-US" altLang="en-US" sz="1300" b="1" dirty="0">
                <a:solidFill>
                  <a:srgbClr val="0070C0"/>
                </a:solidFill>
                <a:latin typeface="Courier New" panose="02070309020205020404" pitchFamily="49" charset="0"/>
              </a:rPr>
              <a:t>&lt;</a:t>
            </a:r>
            <a:r>
              <a:rPr lang="en-US" altLang="en-US" sz="1300" b="1" dirty="0" err="1">
                <a:solidFill>
                  <a:srgbClr val="0070C0"/>
                </a:solidFill>
                <a:latin typeface="Courier New" panose="02070309020205020404" pitchFamily="49" charset="0"/>
              </a:rPr>
              <a:t>ActionEvent</a:t>
            </a:r>
            <a:r>
              <a:rPr lang="en-US" altLang="en-US" sz="1300" b="1" dirty="0">
                <a:solidFill>
                  <a:srgbClr val="0070C0"/>
                </a:solidFill>
                <a:latin typeface="Courier New" panose="02070309020205020404" pitchFamily="49" charset="0"/>
              </a:rPr>
              <a:t>&gt; {</a:t>
            </a:r>
            <a:br>
              <a:rPr lang="en-US" altLang="en-US" sz="1300" b="1" dirty="0">
                <a:solidFill>
                  <a:srgbClr val="0070C0"/>
                </a:solidFill>
                <a:latin typeface="Courier New" panose="02070309020205020404" pitchFamily="49" charset="0"/>
              </a:rPr>
            </a:br>
            <a:r>
              <a:rPr lang="en-US" altLang="en-US" sz="1300" b="1" dirty="0">
                <a:solidFill>
                  <a:srgbClr val="0070C0"/>
                </a:solidFill>
                <a:latin typeface="Courier New" panose="02070309020205020404" pitchFamily="49" charset="0"/>
              </a:rPr>
              <a:t>  @Override</a:t>
            </a:r>
            <a:br>
              <a:rPr lang="en-US" altLang="en-US" sz="1300" b="1" dirty="0">
                <a:solidFill>
                  <a:srgbClr val="0070C0"/>
                </a:solidFill>
                <a:latin typeface="Courier New" panose="02070309020205020404" pitchFamily="49" charset="0"/>
              </a:rPr>
            </a:br>
            <a:r>
              <a:rPr lang="en-US" altLang="en-US" sz="1300" b="1" dirty="0">
                <a:solidFill>
                  <a:srgbClr val="0070C0"/>
                </a:solidFill>
                <a:latin typeface="Courier New" panose="02070309020205020404" pitchFamily="49" charset="0"/>
              </a:rPr>
              <a:t>  public void handle(</a:t>
            </a:r>
            <a:r>
              <a:rPr lang="en-US" altLang="en-US" sz="1300" b="1" dirty="0" err="1">
                <a:solidFill>
                  <a:srgbClr val="0070C0"/>
                </a:solidFill>
                <a:latin typeface="Courier New" panose="02070309020205020404" pitchFamily="49" charset="0"/>
              </a:rPr>
              <a:t>ActionEvent</a:t>
            </a:r>
            <a:r>
              <a:rPr lang="en-US" altLang="en-US" sz="1300" b="1" dirty="0">
                <a:solidFill>
                  <a:srgbClr val="0070C0"/>
                </a:solidFill>
                <a:latin typeface="Courier New" panose="02070309020205020404" pitchFamily="49" charset="0"/>
              </a:rPr>
              <a:t> e) {</a:t>
            </a:r>
            <a:br>
              <a:rPr lang="en-US" altLang="en-US" sz="1300" b="1" dirty="0">
                <a:solidFill>
                  <a:srgbClr val="0070C0"/>
                </a:solidFill>
                <a:latin typeface="Courier New" panose="02070309020205020404" pitchFamily="49" charset="0"/>
              </a:rPr>
            </a:br>
            <a:r>
              <a:rPr lang="en-US" altLang="en-US" sz="1300" b="1" dirty="0">
                <a:solidFill>
                  <a:srgbClr val="0070C0"/>
                </a:solidFill>
                <a:latin typeface="Courier New" panose="02070309020205020404" pitchFamily="49" charset="0"/>
              </a:rPr>
              <a:t>    </a:t>
            </a:r>
            <a:r>
              <a:rPr lang="en-US" altLang="en-US" sz="1300" b="1" dirty="0" err="1">
                <a:solidFill>
                  <a:srgbClr val="0070C0"/>
                </a:solidFill>
                <a:latin typeface="Courier New" panose="02070309020205020404" pitchFamily="49" charset="0"/>
              </a:rPr>
              <a:t>System.out.println</a:t>
            </a:r>
            <a:r>
              <a:rPr lang="en-US" altLang="en-US" sz="1300" b="1" dirty="0">
                <a:solidFill>
                  <a:srgbClr val="0070C0"/>
                </a:solidFill>
                <a:latin typeface="Courier New" panose="02070309020205020404" pitchFamily="49" charset="0"/>
              </a:rPr>
              <a:t>("Cancel button clicked");</a:t>
            </a:r>
            <a:br>
              <a:rPr lang="en-US" altLang="en-US" sz="1300" b="1" dirty="0">
                <a:solidFill>
                  <a:srgbClr val="0070C0"/>
                </a:solidFill>
                <a:latin typeface="Courier New" panose="02070309020205020404" pitchFamily="49" charset="0"/>
              </a:rPr>
            </a:br>
            <a:r>
              <a:rPr lang="en-US" altLang="en-US" sz="1300" b="1" dirty="0">
                <a:solidFill>
                  <a:srgbClr val="0070C0"/>
                </a:solidFill>
                <a:latin typeface="Courier New" panose="02070309020205020404" pitchFamily="49" charset="0"/>
              </a:rPr>
              <a:t>  }}</a:t>
            </a:r>
            <a:r>
              <a:rPr lang="en-US" altLang="en-US" sz="1300" dirty="0"/>
              <a:t> </a:t>
            </a:r>
            <a:br>
              <a:rPr lang="en-US" altLang="en-US" sz="1300" dirty="0"/>
            </a:br>
            <a:r>
              <a:rPr lang="en-US" altLang="en-US" sz="1300" dirty="0"/>
              <a:t> </a:t>
            </a:r>
          </a:p>
        </p:txBody>
      </p:sp>
      <p:pic>
        <p:nvPicPr>
          <p:cNvPr id="8196" name="Picture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876925" y="204788"/>
            <a:ext cx="25812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48350" y="1371600"/>
            <a:ext cx="2600325" cy="971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2"/>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D929708-0797-498B-A282-319A2727F0B2}" type="slidenum">
              <a:rPr lang="en-US" altLang="en-US" sz="1400" smtClean="0"/>
              <a:pPr>
                <a:spcBef>
                  <a:spcPct val="0"/>
                </a:spcBef>
                <a:buClrTx/>
                <a:buSzTx/>
                <a:buFontTx/>
                <a:buNone/>
              </a:pPr>
              <a:t>5</a:t>
            </a:fld>
            <a:endParaRPr lang="en-US" altLang="en-US" sz="1400" smtClean="0"/>
          </a:p>
        </p:txBody>
      </p:sp>
      <p:sp>
        <p:nvSpPr>
          <p:cNvPr id="9219" name="Slide Number Placeholder 4"/>
          <p:cNvSpPr txBox="1">
            <a:spLocks noGrp="1"/>
          </p:cNvSpPr>
          <p:nvPr/>
        </p:nvSpPr>
        <p:spPr bwMode="auto">
          <a:xfrm>
            <a:off x="6553200" y="639921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r">
              <a:spcBef>
                <a:spcPct val="0"/>
              </a:spcBef>
              <a:buClrTx/>
              <a:buSzTx/>
              <a:buFontTx/>
              <a:buNone/>
            </a:pPr>
            <a:fld id="{18812A5B-DD9B-46AD-993E-444F6F2E52D8}" type="slidenum">
              <a:rPr lang="en-US" altLang="en-US" sz="1400"/>
              <a:pPr algn="r">
                <a:spcBef>
                  <a:spcPct val="0"/>
                </a:spcBef>
                <a:buClrTx/>
                <a:buSzTx/>
                <a:buFontTx/>
                <a:buNone/>
              </a:pPr>
              <a:t>5</a:t>
            </a:fld>
            <a:endParaRPr lang="en-US" altLang="en-US" sz="1400"/>
          </a:p>
        </p:txBody>
      </p:sp>
      <p:sp>
        <p:nvSpPr>
          <p:cNvPr id="9220" name="Rectangle 2"/>
          <p:cNvSpPr>
            <a:spLocks noGrp="1" noChangeArrowheads="1"/>
          </p:cNvSpPr>
          <p:nvPr>
            <p:ph type="title" idx="4294967295"/>
          </p:nvPr>
        </p:nvSpPr>
        <p:spPr>
          <a:xfrm>
            <a:off x="1349375" y="111125"/>
            <a:ext cx="7108825" cy="685800"/>
          </a:xfrm>
        </p:spPr>
        <p:txBody>
          <a:bodyPr/>
          <a:lstStyle/>
          <a:p>
            <a:r>
              <a:rPr lang="en-US" altLang="en-US" sz="4000" smtClean="0"/>
              <a:t>Handling GUI Events</a:t>
            </a:r>
            <a:endParaRPr lang="en-US" altLang="en-US" sz="4000" smtClean="0">
              <a:solidFill>
                <a:schemeClr val="tx1"/>
              </a:solidFill>
              <a:latin typeface="Book Antiqua" panose="02040602050305030304" pitchFamily="18" charset="0"/>
              <a:hlinkClick r:id="rId2" action="ppaction://program"/>
            </a:endParaRPr>
          </a:p>
        </p:txBody>
      </p:sp>
      <p:sp>
        <p:nvSpPr>
          <p:cNvPr id="9221" name="Rectangle 3"/>
          <p:cNvSpPr>
            <a:spLocks noGrp="1" noChangeArrowheads="1"/>
          </p:cNvSpPr>
          <p:nvPr>
            <p:ph type="body" idx="4294967295"/>
          </p:nvPr>
        </p:nvSpPr>
        <p:spPr>
          <a:xfrm>
            <a:off x="441325" y="1039813"/>
            <a:ext cx="8458200" cy="2209800"/>
          </a:xfrm>
        </p:spPr>
        <p:txBody>
          <a:bodyPr/>
          <a:lstStyle/>
          <a:p>
            <a:pPr>
              <a:buFont typeface="Arial" panose="020B0604020202020204" pitchFamily="34" charset="0"/>
              <a:buChar char="•"/>
            </a:pPr>
            <a:r>
              <a:rPr lang="en-US" altLang="en-US" sz="2400" smtClean="0"/>
              <a:t>Source object: button</a:t>
            </a:r>
          </a:p>
          <a:p>
            <a:pPr>
              <a:buFont typeface="Arial" panose="020B0604020202020204" pitchFamily="34" charset="0"/>
              <a:buChar char="•"/>
            </a:pPr>
            <a:r>
              <a:rPr lang="en-US" altLang="en-US" sz="2400" smtClean="0"/>
              <a:t>Listener object contains a method for processing the event.</a:t>
            </a:r>
          </a:p>
        </p:txBody>
      </p:sp>
      <p:pic>
        <p:nvPicPr>
          <p:cNvPr id="922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325" y="2414588"/>
            <a:ext cx="7899400" cy="1670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2C0421F-7297-4623-92EC-5DB2CFB61B33}" type="slidenum">
              <a:rPr lang="en-US" altLang="en-US" sz="1400" smtClean="0"/>
              <a:pPr>
                <a:spcBef>
                  <a:spcPct val="0"/>
                </a:spcBef>
                <a:buClrTx/>
                <a:buSzTx/>
                <a:buFontTx/>
                <a:buNone/>
              </a:pPr>
              <a:t>6</a:t>
            </a:fld>
            <a:endParaRPr lang="en-US" altLang="en-US" sz="1400" smtClean="0"/>
          </a:p>
        </p:txBody>
      </p:sp>
      <p:sp>
        <p:nvSpPr>
          <p:cNvPr id="10243" name="Rectangle 2"/>
          <p:cNvSpPr>
            <a:spLocks noGrp="1" noChangeArrowheads="1"/>
          </p:cNvSpPr>
          <p:nvPr>
            <p:ph type="title"/>
          </p:nvPr>
        </p:nvSpPr>
        <p:spPr>
          <a:xfrm>
            <a:off x="228600" y="9525"/>
            <a:ext cx="8534400" cy="1143000"/>
          </a:xfrm>
          <a:noFill/>
        </p:spPr>
        <p:txBody>
          <a:bodyPr/>
          <a:lstStyle/>
          <a:p>
            <a:r>
              <a:rPr lang="en-US" altLang="en-US" smtClean="0"/>
              <a:t>Handling GUI Events </a:t>
            </a:r>
            <a:endParaRPr lang="en-US" altLang="en-US" smtClean="0">
              <a:solidFill>
                <a:schemeClr val="tx1"/>
              </a:solidFill>
              <a:latin typeface="Book Antiqua" panose="02040602050305030304" pitchFamily="18" charset="0"/>
            </a:endParaRPr>
          </a:p>
        </p:txBody>
      </p:sp>
      <p:sp>
        <p:nvSpPr>
          <p:cNvPr id="10244" name="Rectangle 3"/>
          <p:cNvSpPr>
            <a:spLocks noGrp="1" noChangeArrowheads="1"/>
          </p:cNvSpPr>
          <p:nvPr>
            <p:ph type="body" idx="1"/>
          </p:nvPr>
        </p:nvSpPr>
        <p:spPr>
          <a:xfrm>
            <a:off x="252413" y="1524000"/>
            <a:ext cx="8763000" cy="3810000"/>
          </a:xfrm>
          <a:noFill/>
        </p:spPr>
        <p:txBody>
          <a:bodyPr/>
          <a:lstStyle/>
          <a:p>
            <a:pPr>
              <a:lnSpc>
                <a:spcPct val="90000"/>
              </a:lnSpc>
              <a:buFont typeface="Arial" panose="020B0604020202020204" pitchFamily="34" charset="0"/>
              <a:buChar char="•"/>
            </a:pPr>
            <a:r>
              <a:rPr lang="en-US" altLang="en-US" sz="2000" smtClean="0">
                <a:solidFill>
                  <a:srgbClr val="000000"/>
                </a:solidFill>
                <a:latin typeface="TimesNewRomanPSMT"/>
              </a:rPr>
              <a:t>The event handler object must be an instance of the</a:t>
            </a:r>
            <a:br>
              <a:rPr lang="en-US" altLang="en-US" sz="2000" smtClean="0">
                <a:solidFill>
                  <a:srgbClr val="000000"/>
                </a:solidFill>
                <a:latin typeface="TimesNewRomanPSMT"/>
              </a:rPr>
            </a:br>
            <a:r>
              <a:rPr lang="en-US" altLang="en-US" sz="2000" b="1" smtClean="0">
                <a:solidFill>
                  <a:srgbClr val="000000"/>
                </a:solidFill>
                <a:latin typeface="TimesNewRomanPS-BoldMT"/>
              </a:rPr>
              <a:t>EventHandler&lt;T extends Event&gt; </a:t>
            </a:r>
            <a:r>
              <a:rPr lang="en-US" altLang="en-US" sz="2000" smtClean="0">
                <a:solidFill>
                  <a:srgbClr val="000000"/>
                </a:solidFill>
                <a:latin typeface="TimesNewRomanPSMT"/>
              </a:rPr>
              <a:t>interface</a:t>
            </a:r>
            <a:br>
              <a:rPr lang="en-US" altLang="en-US" sz="2000" smtClean="0">
                <a:solidFill>
                  <a:srgbClr val="000000"/>
                </a:solidFill>
                <a:latin typeface="TimesNewRomanPSMT"/>
              </a:rPr>
            </a:br>
            <a:r>
              <a:rPr lang="en-US" altLang="en-US" sz="2000" smtClean="0">
                <a:solidFill>
                  <a:srgbClr val="000000"/>
                </a:solidFill>
                <a:latin typeface="TimesNewRomanPSMT"/>
              </a:rPr>
              <a:t>	</a:t>
            </a:r>
            <a:r>
              <a:rPr lang="en-US" altLang="en-US" sz="1600" b="1" smtClean="0">
                <a:solidFill>
                  <a:srgbClr val="FF0000"/>
                </a:solidFill>
                <a:latin typeface="Courier New" panose="02070309020205020404" pitchFamily="49" charset="0"/>
                <a:cs typeface="Courier New" panose="02070309020205020404" pitchFamily="49" charset="0"/>
              </a:rPr>
              <a:t>class OKHandlerClass implements EventHandler&lt;ActionEvent&gt;</a:t>
            </a:r>
          </a:p>
          <a:p>
            <a:pPr>
              <a:lnSpc>
                <a:spcPct val="90000"/>
              </a:lnSpc>
              <a:buFont typeface="Arial" panose="020B0604020202020204" pitchFamily="34" charset="0"/>
              <a:buChar char="•"/>
            </a:pPr>
            <a:endParaRPr lang="en-US" altLang="en-US" sz="2000" smtClean="0">
              <a:solidFill>
                <a:srgbClr val="FF0000"/>
              </a:solidFill>
              <a:latin typeface="CourierNewPSMT"/>
              <a:cs typeface="Courier New" panose="02070309020205020404" pitchFamily="49" charset="0"/>
            </a:endParaRPr>
          </a:p>
          <a:p>
            <a:pPr>
              <a:lnSpc>
                <a:spcPct val="90000"/>
              </a:lnSpc>
              <a:buFont typeface="Arial" panose="020B0604020202020204" pitchFamily="34" charset="0"/>
              <a:buChar char="•"/>
            </a:pPr>
            <a:endParaRPr lang="en-US" altLang="en-US" sz="2000" smtClean="0">
              <a:solidFill>
                <a:srgbClr val="000000"/>
              </a:solidFill>
              <a:latin typeface="CourierNewPSMT"/>
              <a:cs typeface="Courier New" panose="02070309020205020404" pitchFamily="49" charset="0"/>
            </a:endParaRPr>
          </a:p>
          <a:p>
            <a:pPr>
              <a:lnSpc>
                <a:spcPct val="90000"/>
              </a:lnSpc>
              <a:buFont typeface="Arial" panose="020B0604020202020204" pitchFamily="34" charset="0"/>
              <a:buChar char="•"/>
            </a:pPr>
            <a:r>
              <a:rPr lang="en-US" altLang="en-US" sz="2000" smtClean="0">
                <a:solidFill>
                  <a:srgbClr val="000000"/>
                </a:solidFill>
                <a:latin typeface="TimesNewRomanPSMT"/>
              </a:rPr>
              <a:t>The </a:t>
            </a:r>
            <a:r>
              <a:rPr lang="en-US" altLang="en-US" sz="2000" b="1" smtClean="0">
                <a:solidFill>
                  <a:srgbClr val="000000"/>
                </a:solidFill>
                <a:latin typeface="TimesNewRomanPS-BoldMT"/>
              </a:rPr>
              <a:t>EventHandler </a:t>
            </a:r>
            <a:r>
              <a:rPr lang="en-US" altLang="en-US" sz="2000" smtClean="0">
                <a:solidFill>
                  <a:srgbClr val="000000"/>
                </a:solidFill>
                <a:latin typeface="TimesNewRomanPSMT"/>
              </a:rPr>
              <a:t>object </a:t>
            </a:r>
            <a:r>
              <a:rPr lang="en-US" altLang="en-US" sz="2000" b="1" i="1" smtClean="0">
                <a:solidFill>
                  <a:srgbClr val="000000"/>
                </a:solidFill>
                <a:latin typeface="TimesNewRomanPS-BoldMT"/>
              </a:rPr>
              <a:t>handler</a:t>
            </a:r>
            <a:r>
              <a:rPr lang="en-US" altLang="en-US" sz="2000" b="1" smtClean="0">
                <a:solidFill>
                  <a:srgbClr val="000000"/>
                </a:solidFill>
                <a:latin typeface="TimesNewRomanPS-BoldMT"/>
              </a:rPr>
              <a:t> </a:t>
            </a:r>
            <a:r>
              <a:rPr lang="en-US" altLang="en-US" sz="2000" smtClean="0">
                <a:solidFill>
                  <a:srgbClr val="000000"/>
                </a:solidFill>
                <a:latin typeface="TimesNewRomanPSMT"/>
              </a:rPr>
              <a:t>must be registered with the event source object using the method </a:t>
            </a:r>
            <a:r>
              <a:rPr lang="en-US" altLang="en-US" sz="2000" b="1" smtClean="0">
                <a:solidFill>
                  <a:srgbClr val="FF0000"/>
                </a:solidFill>
                <a:latin typeface="TimesNewRomanPS-BoldMT"/>
              </a:rPr>
              <a:t>source.setOnAction(handler)</a:t>
            </a:r>
            <a:r>
              <a:rPr lang="en-US" altLang="en-US" sz="2000" smtClean="0">
                <a:solidFill>
                  <a:srgbClr val="000000"/>
                </a:solidFill>
                <a:latin typeface="TimesNewRomanPSMT"/>
              </a:rPr>
              <a:t>.</a:t>
            </a:r>
          </a:p>
          <a:p>
            <a:pPr>
              <a:lnSpc>
                <a:spcPct val="90000"/>
              </a:lnSpc>
              <a:buFont typeface="Arial" panose="020B0604020202020204" pitchFamily="34" charset="0"/>
              <a:buChar char="•"/>
            </a:pPr>
            <a:endParaRPr lang="en-US" altLang="en-US" sz="2000" smtClean="0">
              <a:solidFill>
                <a:srgbClr val="000000"/>
              </a:solidFill>
              <a:latin typeface="TimesNewRomanPSMT"/>
            </a:endParaRPr>
          </a:p>
          <a:p>
            <a:pPr>
              <a:lnSpc>
                <a:spcPct val="90000"/>
              </a:lnSpc>
              <a:buFont typeface="Arial" panose="020B0604020202020204" pitchFamily="34" charset="0"/>
              <a:buChar char="•"/>
            </a:pPr>
            <a:endParaRPr lang="en-US" altLang="en-US" sz="2000" smtClean="0">
              <a:solidFill>
                <a:srgbClr val="000000"/>
              </a:solidFill>
              <a:latin typeface="TimesNewRomanPSMT"/>
            </a:endParaRPr>
          </a:p>
          <a:p>
            <a:pPr>
              <a:lnSpc>
                <a:spcPct val="90000"/>
              </a:lnSpc>
              <a:buFont typeface="Arial" panose="020B0604020202020204" pitchFamily="34" charset="0"/>
              <a:buChar char="•"/>
            </a:pPr>
            <a:r>
              <a:rPr lang="en-US" altLang="en-US" sz="2000" smtClean="0">
                <a:solidFill>
                  <a:srgbClr val="000000"/>
                </a:solidFill>
                <a:latin typeface="TimesNewRomanPSMT"/>
              </a:rPr>
              <a:t>The </a:t>
            </a:r>
            <a:r>
              <a:rPr lang="en-US" altLang="en-US" sz="2000" b="1" smtClean="0">
                <a:solidFill>
                  <a:srgbClr val="000000"/>
                </a:solidFill>
                <a:latin typeface="TimesNewRomanPS-BoldMT"/>
              </a:rPr>
              <a:t>EventHandler&lt;ActionEvent&gt; </a:t>
            </a:r>
            <a:r>
              <a:rPr lang="en-US" altLang="en-US" sz="2000" smtClean="0">
                <a:solidFill>
                  <a:srgbClr val="000000"/>
                </a:solidFill>
                <a:latin typeface="TimesNewRomanPSMT"/>
              </a:rPr>
              <a:t>interface contains the </a:t>
            </a:r>
            <a:r>
              <a:rPr lang="en-US" altLang="en-US" sz="2000" b="1" smtClean="0">
                <a:solidFill>
                  <a:srgbClr val="FF0000"/>
                </a:solidFill>
                <a:latin typeface="TimesNewRomanPS-BoldMT"/>
              </a:rPr>
              <a:t>handle(ActionEvent)</a:t>
            </a:r>
            <a:r>
              <a:rPr lang="en-US" altLang="en-US" sz="2000" b="1" smtClean="0">
                <a:solidFill>
                  <a:srgbClr val="000000"/>
                </a:solidFill>
                <a:latin typeface="TimesNewRomanPS-BoldMT"/>
              </a:rPr>
              <a:t> </a:t>
            </a:r>
            <a:r>
              <a:rPr lang="en-US" altLang="en-US" sz="2000" smtClean="0">
                <a:solidFill>
                  <a:srgbClr val="000000"/>
                </a:solidFill>
                <a:latin typeface="TimesNewRomanPSMT"/>
              </a:rPr>
              <a:t>method for processing the action event. Your handler class must override this method to respond to the event.</a:t>
            </a:r>
            <a:r>
              <a:rPr lang="en-US" altLang="en-US" sz="2000" smtClean="0"/>
              <a:t> </a:t>
            </a:r>
            <a:br>
              <a:rPr lang="en-US" altLang="en-US" sz="2000" smtClean="0"/>
            </a:br>
            <a:endParaRPr lang="en-US" altLang="en-US" sz="20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2"/>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B80B7D8-F74A-4C82-9E71-150EADDCCB4C}" type="slidenum">
              <a:rPr lang="en-US" altLang="en-US" sz="1400" smtClean="0"/>
              <a:pPr>
                <a:spcBef>
                  <a:spcPct val="0"/>
                </a:spcBef>
                <a:buClrTx/>
                <a:buSzTx/>
                <a:buFontTx/>
                <a:buNone/>
              </a:pPr>
              <a:t>7</a:t>
            </a:fld>
            <a:endParaRPr lang="en-US" altLang="en-US" sz="1400" smtClean="0"/>
          </a:p>
        </p:txBody>
      </p:sp>
      <p:sp>
        <p:nvSpPr>
          <p:cNvPr id="11267" name="Slide Number Placeholder 4"/>
          <p:cNvSpPr txBox="1">
            <a:spLocks noGrp="1"/>
          </p:cNvSpPr>
          <p:nvPr/>
        </p:nvSpPr>
        <p:spPr bwMode="auto">
          <a:xfrm>
            <a:off x="6553200" y="639921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r">
              <a:spcBef>
                <a:spcPct val="0"/>
              </a:spcBef>
              <a:buClrTx/>
              <a:buSzTx/>
              <a:buFontTx/>
              <a:buNone/>
            </a:pPr>
            <a:fld id="{15179A87-3937-408F-802C-632BAFEAC0AB}" type="slidenum">
              <a:rPr lang="en-US" altLang="en-US" sz="1400"/>
              <a:pPr algn="r">
                <a:spcBef>
                  <a:spcPct val="0"/>
                </a:spcBef>
                <a:buClrTx/>
                <a:buSzTx/>
                <a:buFontTx/>
                <a:buNone/>
              </a:pPr>
              <a:t>7</a:t>
            </a:fld>
            <a:endParaRPr lang="en-US" altLang="en-US" sz="1400"/>
          </a:p>
        </p:txBody>
      </p:sp>
      <p:sp>
        <p:nvSpPr>
          <p:cNvPr id="11268" name="Rectangle 2"/>
          <p:cNvSpPr>
            <a:spLocks noGrp="1" noChangeArrowheads="1"/>
          </p:cNvSpPr>
          <p:nvPr>
            <p:ph type="title" idx="4294967295"/>
          </p:nvPr>
        </p:nvSpPr>
        <p:spPr>
          <a:xfrm>
            <a:off x="1600200" y="228600"/>
            <a:ext cx="6248400" cy="457200"/>
          </a:xfrm>
          <a:noFill/>
        </p:spPr>
        <p:txBody>
          <a:bodyPr/>
          <a:lstStyle/>
          <a:p>
            <a:r>
              <a:rPr lang="en-US" altLang="en-US" sz="3600" smtClean="0"/>
              <a:t>Trace Execution</a:t>
            </a:r>
          </a:p>
        </p:txBody>
      </p:sp>
      <p:sp>
        <p:nvSpPr>
          <p:cNvPr id="11269" name="Text Box 3"/>
          <p:cNvSpPr txBox="1">
            <a:spLocks noChangeArrowheads="1"/>
          </p:cNvSpPr>
          <p:nvPr/>
        </p:nvSpPr>
        <p:spPr bwMode="auto">
          <a:xfrm>
            <a:off x="228600" y="838200"/>
            <a:ext cx="8686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bg2"/>
                </a:solidFill>
              </a:rPr>
              <a:t>public class HandleEvent extends Application {</a:t>
            </a:r>
          </a:p>
          <a:p>
            <a:pPr>
              <a:spcBef>
                <a:spcPct val="0"/>
              </a:spcBef>
              <a:buClrTx/>
              <a:buSzTx/>
              <a:buFontTx/>
              <a:buNone/>
            </a:pPr>
            <a:r>
              <a:rPr lang="en-US" altLang="en-US" sz="2000">
                <a:solidFill>
                  <a:schemeClr val="bg2"/>
                </a:solidFill>
              </a:rPr>
              <a:t>  public void start(Stage primaryStage) {</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    OKHandlerClass handler1 = new OKHandlerClass();</a:t>
            </a:r>
          </a:p>
          <a:p>
            <a:pPr>
              <a:spcBef>
                <a:spcPct val="0"/>
              </a:spcBef>
              <a:buClrTx/>
              <a:buSzTx/>
              <a:buFontTx/>
              <a:buNone/>
            </a:pPr>
            <a:r>
              <a:rPr lang="en-US" altLang="en-US" sz="2000">
                <a:solidFill>
                  <a:schemeClr val="bg2"/>
                </a:solidFill>
              </a:rPr>
              <a:t>    btOK.setOnAction(handler1);</a:t>
            </a:r>
          </a:p>
          <a:p>
            <a:pPr>
              <a:spcBef>
                <a:spcPct val="0"/>
              </a:spcBef>
              <a:buClrTx/>
              <a:buSzTx/>
              <a:buFontTx/>
              <a:buNone/>
            </a:pPr>
            <a:r>
              <a:rPr lang="en-US" altLang="en-US" sz="2000">
                <a:solidFill>
                  <a:schemeClr val="bg2"/>
                </a:solidFill>
              </a:rPr>
              <a:t>    CancelHandlerClass handler2 = new CancelHandlerClass();</a:t>
            </a:r>
          </a:p>
          <a:p>
            <a:pPr>
              <a:spcBef>
                <a:spcPct val="0"/>
              </a:spcBef>
              <a:buClrTx/>
              <a:buSzTx/>
              <a:buFontTx/>
              <a:buNone/>
            </a:pPr>
            <a:r>
              <a:rPr lang="en-US" altLang="en-US" sz="2000">
                <a:solidFill>
                  <a:schemeClr val="bg2"/>
                </a:solidFill>
              </a:rPr>
              <a:t>    btCancel.setOnAction(handler2);</a:t>
            </a:r>
          </a:p>
          <a:p>
            <a:pPr>
              <a:spcBef>
                <a:spcPct val="0"/>
              </a:spcBef>
              <a:buClrTx/>
              <a:buSzTx/>
              <a:buFontTx/>
              <a:buNone/>
            </a:pPr>
            <a:r>
              <a:rPr lang="en-US" altLang="en-US" sz="2000">
                <a:solidFill>
                  <a:schemeClr val="bg2"/>
                </a:solidFill>
              </a:rPr>
              <a:t>    …    </a:t>
            </a:r>
          </a:p>
          <a:p>
            <a:pPr>
              <a:spcBef>
                <a:spcPct val="0"/>
              </a:spcBef>
              <a:buClrTx/>
              <a:buSzTx/>
              <a:buFontTx/>
              <a:buNone/>
            </a:pPr>
            <a:r>
              <a:rPr lang="en-US" altLang="en-US" sz="2000">
                <a:solidFill>
                  <a:schemeClr val="bg2"/>
                </a:solidFill>
              </a:rPr>
              <a:t>    primaryStage.show(); // Display the stage</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 </a:t>
            </a:r>
          </a:p>
          <a:p>
            <a:pPr>
              <a:spcBef>
                <a:spcPct val="0"/>
              </a:spcBef>
              <a:buClrTx/>
              <a:buSzTx/>
              <a:buFontTx/>
              <a:buNone/>
            </a:pPr>
            <a:endParaRPr lang="en-US" altLang="en-US" sz="2000">
              <a:solidFill>
                <a:schemeClr val="bg2"/>
              </a:solidFill>
            </a:endParaRPr>
          </a:p>
          <a:p>
            <a:pPr>
              <a:spcBef>
                <a:spcPct val="0"/>
              </a:spcBef>
              <a:buClrTx/>
              <a:buSzTx/>
              <a:buFontTx/>
              <a:buNone/>
            </a:pPr>
            <a:r>
              <a:rPr lang="en-US" altLang="en-US" sz="2000">
                <a:solidFill>
                  <a:schemeClr val="bg2"/>
                </a:solidFill>
              </a:rPr>
              <a:t>class OKHandlerClass implements EventHandler&lt;ActionEvent&gt; {</a:t>
            </a:r>
          </a:p>
          <a:p>
            <a:pPr>
              <a:spcBef>
                <a:spcPct val="0"/>
              </a:spcBef>
              <a:buClrTx/>
              <a:buSzTx/>
              <a:buFontTx/>
              <a:buNone/>
            </a:pPr>
            <a:r>
              <a:rPr lang="en-US" altLang="en-US" sz="2000">
                <a:solidFill>
                  <a:schemeClr val="bg2"/>
                </a:solidFill>
              </a:rPr>
              <a:t>  @Override</a:t>
            </a:r>
          </a:p>
          <a:p>
            <a:pPr>
              <a:spcBef>
                <a:spcPct val="0"/>
              </a:spcBef>
              <a:buClrTx/>
              <a:buSzTx/>
              <a:buFontTx/>
              <a:buNone/>
            </a:pPr>
            <a:r>
              <a:rPr lang="en-US" altLang="en-US" sz="2000">
                <a:solidFill>
                  <a:schemeClr val="bg2"/>
                </a:solidFill>
              </a:rPr>
              <a:t>  public void handle(ActionEvent e) {</a:t>
            </a:r>
          </a:p>
          <a:p>
            <a:pPr>
              <a:spcBef>
                <a:spcPct val="0"/>
              </a:spcBef>
              <a:buClrTx/>
              <a:buSzTx/>
              <a:buFontTx/>
              <a:buNone/>
            </a:pPr>
            <a:r>
              <a:rPr lang="en-US" altLang="en-US" sz="2000">
                <a:solidFill>
                  <a:schemeClr val="bg2"/>
                </a:solidFill>
              </a:rPr>
              <a:t>    System.out.println("OK button clicked"); </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a:t>
            </a:r>
          </a:p>
        </p:txBody>
      </p:sp>
      <p:sp>
        <p:nvSpPr>
          <p:cNvPr id="11270" name="Rectangle 4"/>
          <p:cNvSpPr>
            <a:spLocks noChangeArrowheads="1"/>
          </p:cNvSpPr>
          <p:nvPr/>
        </p:nvSpPr>
        <p:spPr bwMode="auto">
          <a:xfrm>
            <a:off x="381000" y="1219199"/>
            <a:ext cx="4191000" cy="308975"/>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271" name="AutoShape 5"/>
          <p:cNvSpPr>
            <a:spLocks noChangeArrowheads="1"/>
          </p:cNvSpPr>
          <p:nvPr/>
        </p:nvSpPr>
        <p:spPr bwMode="auto">
          <a:xfrm>
            <a:off x="6172200" y="990600"/>
            <a:ext cx="2514600" cy="1371600"/>
          </a:xfrm>
          <a:prstGeom prst="wedgeRoundRectCallout">
            <a:avLst>
              <a:gd name="adj1" fmla="val -118208"/>
              <a:gd name="adj2" fmla="val -22963"/>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1. Start from the main method to create a window and display it</a:t>
            </a:r>
          </a:p>
        </p:txBody>
      </p:sp>
      <p:sp>
        <p:nvSpPr>
          <p:cNvPr id="11272" name="Rectangle 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endParaRPr lang="en-US" altLang="en-US" sz="2400"/>
          </a:p>
        </p:txBody>
      </p:sp>
      <p:pic>
        <p:nvPicPr>
          <p:cNvPr id="11273"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752725"/>
            <a:ext cx="1905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1274" name="Line 8"/>
          <p:cNvSpPr>
            <a:spLocks noChangeShapeType="1"/>
          </p:cNvSpPr>
          <p:nvPr/>
        </p:nvSpPr>
        <p:spPr bwMode="auto">
          <a:xfrm flipV="1">
            <a:off x="2667000" y="2971800"/>
            <a:ext cx="4114800" cy="381000"/>
          </a:xfrm>
          <a:prstGeom prst="line">
            <a:avLst/>
          </a:prstGeom>
          <a:noFill/>
          <a:ln w="4445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2"/>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18B24DA-3EB6-4321-8310-ED9C9CA2975A}" type="slidenum">
              <a:rPr lang="en-US" altLang="en-US" sz="1400" smtClean="0"/>
              <a:pPr>
                <a:spcBef>
                  <a:spcPct val="0"/>
                </a:spcBef>
                <a:buClrTx/>
                <a:buSzTx/>
                <a:buFontTx/>
                <a:buNone/>
              </a:pPr>
              <a:t>8</a:t>
            </a:fld>
            <a:endParaRPr lang="en-US" altLang="en-US" sz="1400" smtClean="0"/>
          </a:p>
        </p:txBody>
      </p:sp>
      <p:sp>
        <p:nvSpPr>
          <p:cNvPr id="12291" name="Slide Number Placeholder 4"/>
          <p:cNvSpPr txBox="1">
            <a:spLocks noGrp="1"/>
          </p:cNvSpPr>
          <p:nvPr/>
        </p:nvSpPr>
        <p:spPr bwMode="auto">
          <a:xfrm>
            <a:off x="6553200" y="639921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r">
              <a:spcBef>
                <a:spcPct val="0"/>
              </a:spcBef>
              <a:buClrTx/>
              <a:buSzTx/>
              <a:buFontTx/>
              <a:buNone/>
            </a:pPr>
            <a:fld id="{5B3F3A2B-5D48-4B2B-9CDE-DBE5B9631EAE}" type="slidenum">
              <a:rPr lang="en-US" altLang="en-US" sz="1400"/>
              <a:pPr algn="r">
                <a:spcBef>
                  <a:spcPct val="0"/>
                </a:spcBef>
                <a:buClrTx/>
                <a:buSzTx/>
                <a:buFontTx/>
                <a:buNone/>
              </a:pPr>
              <a:t>8</a:t>
            </a:fld>
            <a:endParaRPr lang="en-US" altLang="en-US" sz="1400"/>
          </a:p>
        </p:txBody>
      </p:sp>
      <p:sp>
        <p:nvSpPr>
          <p:cNvPr id="12292" name="Rectangle 2"/>
          <p:cNvSpPr>
            <a:spLocks noGrp="1" noChangeArrowheads="1"/>
          </p:cNvSpPr>
          <p:nvPr>
            <p:ph type="title" idx="4294967295"/>
          </p:nvPr>
        </p:nvSpPr>
        <p:spPr>
          <a:xfrm>
            <a:off x="1600200" y="228600"/>
            <a:ext cx="6248400" cy="457200"/>
          </a:xfrm>
          <a:noFill/>
        </p:spPr>
        <p:txBody>
          <a:bodyPr/>
          <a:lstStyle/>
          <a:p>
            <a:r>
              <a:rPr lang="en-US" altLang="en-US" sz="3600" smtClean="0"/>
              <a:t>Trace Execution</a:t>
            </a:r>
          </a:p>
        </p:txBody>
      </p:sp>
      <p:sp>
        <p:nvSpPr>
          <p:cNvPr id="12293" name="Text Box 3"/>
          <p:cNvSpPr txBox="1">
            <a:spLocks noChangeArrowheads="1"/>
          </p:cNvSpPr>
          <p:nvPr/>
        </p:nvSpPr>
        <p:spPr bwMode="auto">
          <a:xfrm>
            <a:off x="228600" y="838200"/>
            <a:ext cx="8686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bg2"/>
                </a:solidFill>
              </a:rPr>
              <a:t>public class HandleEvent extends Application {</a:t>
            </a:r>
          </a:p>
          <a:p>
            <a:pPr>
              <a:spcBef>
                <a:spcPct val="0"/>
              </a:spcBef>
              <a:buClrTx/>
              <a:buSzTx/>
              <a:buFontTx/>
              <a:buNone/>
            </a:pPr>
            <a:r>
              <a:rPr lang="en-US" altLang="en-US" sz="2000">
                <a:solidFill>
                  <a:schemeClr val="bg2"/>
                </a:solidFill>
              </a:rPr>
              <a:t>  public void start(Stage primaryStage) {</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    OKHandlerClass handler1 = new OKHandlerClass();</a:t>
            </a:r>
          </a:p>
          <a:p>
            <a:pPr>
              <a:spcBef>
                <a:spcPct val="0"/>
              </a:spcBef>
              <a:buClrTx/>
              <a:buSzTx/>
              <a:buFontTx/>
              <a:buNone/>
            </a:pPr>
            <a:r>
              <a:rPr lang="en-US" altLang="en-US" sz="2000">
                <a:solidFill>
                  <a:schemeClr val="bg2"/>
                </a:solidFill>
              </a:rPr>
              <a:t>    btOK.setOnAction(handler1);</a:t>
            </a:r>
          </a:p>
          <a:p>
            <a:pPr>
              <a:spcBef>
                <a:spcPct val="0"/>
              </a:spcBef>
              <a:buClrTx/>
              <a:buSzTx/>
              <a:buFontTx/>
              <a:buNone/>
            </a:pPr>
            <a:r>
              <a:rPr lang="en-US" altLang="en-US" sz="2000">
                <a:solidFill>
                  <a:schemeClr val="bg2"/>
                </a:solidFill>
              </a:rPr>
              <a:t>    CancelHandlerClass handler2 = new CancelHandlerClass();</a:t>
            </a:r>
          </a:p>
          <a:p>
            <a:pPr>
              <a:spcBef>
                <a:spcPct val="0"/>
              </a:spcBef>
              <a:buClrTx/>
              <a:buSzTx/>
              <a:buFontTx/>
              <a:buNone/>
            </a:pPr>
            <a:r>
              <a:rPr lang="en-US" altLang="en-US" sz="2000">
                <a:solidFill>
                  <a:schemeClr val="bg2"/>
                </a:solidFill>
              </a:rPr>
              <a:t>    btCancel.setOnAction(handler2);</a:t>
            </a:r>
          </a:p>
          <a:p>
            <a:pPr>
              <a:spcBef>
                <a:spcPct val="0"/>
              </a:spcBef>
              <a:buClrTx/>
              <a:buSzTx/>
              <a:buFontTx/>
              <a:buNone/>
            </a:pPr>
            <a:r>
              <a:rPr lang="en-US" altLang="en-US" sz="2000">
                <a:solidFill>
                  <a:schemeClr val="bg2"/>
                </a:solidFill>
              </a:rPr>
              <a:t>    …    </a:t>
            </a:r>
          </a:p>
          <a:p>
            <a:pPr>
              <a:spcBef>
                <a:spcPct val="0"/>
              </a:spcBef>
              <a:buClrTx/>
              <a:buSzTx/>
              <a:buFontTx/>
              <a:buNone/>
            </a:pPr>
            <a:r>
              <a:rPr lang="en-US" altLang="en-US" sz="2000">
                <a:solidFill>
                  <a:schemeClr val="bg2"/>
                </a:solidFill>
              </a:rPr>
              <a:t>    primaryStage.show(); // Display the stage</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 </a:t>
            </a:r>
          </a:p>
          <a:p>
            <a:pPr>
              <a:spcBef>
                <a:spcPct val="0"/>
              </a:spcBef>
              <a:buClrTx/>
              <a:buSzTx/>
              <a:buFontTx/>
              <a:buNone/>
            </a:pPr>
            <a:endParaRPr lang="en-US" altLang="en-US" sz="2000">
              <a:solidFill>
                <a:schemeClr val="bg2"/>
              </a:solidFill>
            </a:endParaRPr>
          </a:p>
          <a:p>
            <a:pPr>
              <a:spcBef>
                <a:spcPct val="0"/>
              </a:spcBef>
              <a:buClrTx/>
              <a:buSzTx/>
              <a:buFontTx/>
              <a:buNone/>
            </a:pPr>
            <a:r>
              <a:rPr lang="en-US" altLang="en-US" sz="2000">
                <a:solidFill>
                  <a:schemeClr val="bg2"/>
                </a:solidFill>
              </a:rPr>
              <a:t>class OKHandlerClass implements EventHandler&lt;ActionEvent&gt; {</a:t>
            </a:r>
          </a:p>
          <a:p>
            <a:pPr>
              <a:spcBef>
                <a:spcPct val="0"/>
              </a:spcBef>
              <a:buClrTx/>
              <a:buSzTx/>
              <a:buFontTx/>
              <a:buNone/>
            </a:pPr>
            <a:r>
              <a:rPr lang="en-US" altLang="en-US" sz="2000">
                <a:solidFill>
                  <a:schemeClr val="bg2"/>
                </a:solidFill>
              </a:rPr>
              <a:t>  @Override</a:t>
            </a:r>
          </a:p>
          <a:p>
            <a:pPr>
              <a:spcBef>
                <a:spcPct val="0"/>
              </a:spcBef>
              <a:buClrTx/>
              <a:buSzTx/>
              <a:buFontTx/>
              <a:buNone/>
            </a:pPr>
            <a:r>
              <a:rPr lang="en-US" altLang="en-US" sz="2000">
                <a:solidFill>
                  <a:schemeClr val="bg2"/>
                </a:solidFill>
              </a:rPr>
              <a:t>  public void handle(ActionEvent e) {</a:t>
            </a:r>
          </a:p>
          <a:p>
            <a:pPr>
              <a:spcBef>
                <a:spcPct val="0"/>
              </a:spcBef>
              <a:buClrTx/>
              <a:buSzTx/>
              <a:buFontTx/>
              <a:buNone/>
            </a:pPr>
            <a:r>
              <a:rPr lang="en-US" altLang="en-US" sz="2000">
                <a:solidFill>
                  <a:schemeClr val="bg2"/>
                </a:solidFill>
              </a:rPr>
              <a:t>    System.out.println("OK button clicked"); </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a:t>
            </a:r>
          </a:p>
        </p:txBody>
      </p:sp>
      <p:sp>
        <p:nvSpPr>
          <p:cNvPr id="12294" name="Rectangle 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endParaRPr lang="en-US" altLang="en-US" sz="2400"/>
          </a:p>
        </p:txBody>
      </p:sp>
      <p:pic>
        <p:nvPicPr>
          <p:cNvPr id="12295"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3276600"/>
            <a:ext cx="1905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2296" name="AutoShape 5"/>
          <p:cNvSpPr>
            <a:spLocks noChangeArrowheads="1"/>
          </p:cNvSpPr>
          <p:nvPr/>
        </p:nvSpPr>
        <p:spPr bwMode="auto">
          <a:xfrm>
            <a:off x="6172200" y="990600"/>
            <a:ext cx="2514600" cy="1371600"/>
          </a:xfrm>
          <a:prstGeom prst="wedgeRoundRectCallout">
            <a:avLst>
              <a:gd name="adj1" fmla="val -12375"/>
              <a:gd name="adj2" fmla="val 144444"/>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2. Click OK</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2"/>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EB560DF-3602-4D9F-8AC5-C198718D37C3}" type="slidenum">
              <a:rPr lang="en-US" altLang="en-US" sz="1400" smtClean="0"/>
              <a:pPr>
                <a:spcBef>
                  <a:spcPct val="0"/>
                </a:spcBef>
                <a:buClrTx/>
                <a:buSzTx/>
                <a:buFontTx/>
                <a:buNone/>
              </a:pPr>
              <a:t>9</a:t>
            </a:fld>
            <a:endParaRPr lang="en-US" altLang="en-US" sz="1400" smtClean="0"/>
          </a:p>
        </p:txBody>
      </p:sp>
      <p:sp>
        <p:nvSpPr>
          <p:cNvPr id="13315" name="Slide Number Placeholder 4"/>
          <p:cNvSpPr txBox="1">
            <a:spLocks noGrp="1"/>
          </p:cNvSpPr>
          <p:nvPr/>
        </p:nvSpPr>
        <p:spPr bwMode="auto">
          <a:xfrm>
            <a:off x="6553200" y="6399213"/>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r">
              <a:spcBef>
                <a:spcPct val="0"/>
              </a:spcBef>
              <a:buClrTx/>
              <a:buSzTx/>
              <a:buFontTx/>
              <a:buNone/>
            </a:pPr>
            <a:fld id="{FE208F84-FE8A-4EC4-A575-22CB9A4E8482}" type="slidenum">
              <a:rPr lang="en-US" altLang="en-US" sz="1400"/>
              <a:pPr algn="r">
                <a:spcBef>
                  <a:spcPct val="0"/>
                </a:spcBef>
                <a:buClrTx/>
                <a:buSzTx/>
                <a:buFontTx/>
                <a:buNone/>
              </a:pPr>
              <a:t>9</a:t>
            </a:fld>
            <a:endParaRPr lang="en-US" altLang="en-US" sz="1400"/>
          </a:p>
        </p:txBody>
      </p:sp>
      <p:sp>
        <p:nvSpPr>
          <p:cNvPr id="13316" name="Rectangle 2"/>
          <p:cNvSpPr>
            <a:spLocks noGrp="1" noChangeArrowheads="1"/>
          </p:cNvSpPr>
          <p:nvPr>
            <p:ph type="title" idx="4294967295"/>
          </p:nvPr>
        </p:nvSpPr>
        <p:spPr>
          <a:xfrm>
            <a:off x="1600200" y="228600"/>
            <a:ext cx="6248400" cy="457200"/>
          </a:xfrm>
          <a:noFill/>
        </p:spPr>
        <p:txBody>
          <a:bodyPr/>
          <a:lstStyle/>
          <a:p>
            <a:r>
              <a:rPr lang="en-US" altLang="en-US" sz="3600" smtClean="0"/>
              <a:t>Trace Execution</a:t>
            </a:r>
          </a:p>
        </p:txBody>
      </p:sp>
      <p:sp>
        <p:nvSpPr>
          <p:cNvPr id="13317" name="Text Box 3"/>
          <p:cNvSpPr txBox="1">
            <a:spLocks noChangeArrowheads="1"/>
          </p:cNvSpPr>
          <p:nvPr/>
        </p:nvSpPr>
        <p:spPr bwMode="auto">
          <a:xfrm>
            <a:off x="228600" y="838200"/>
            <a:ext cx="8686800"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chemeClr val="bg2"/>
                </a:solidFill>
              </a:rPr>
              <a:t>public class HandleEvent extends Application {</a:t>
            </a:r>
          </a:p>
          <a:p>
            <a:pPr>
              <a:spcBef>
                <a:spcPct val="0"/>
              </a:spcBef>
              <a:buClrTx/>
              <a:buSzTx/>
              <a:buFontTx/>
              <a:buNone/>
            </a:pPr>
            <a:r>
              <a:rPr lang="en-US" altLang="en-US" sz="2000">
                <a:solidFill>
                  <a:schemeClr val="bg2"/>
                </a:solidFill>
              </a:rPr>
              <a:t>  public void start(Stage primaryStage) {</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    OKHandlerClass handler1 = new OKHandlerClass();</a:t>
            </a:r>
          </a:p>
          <a:p>
            <a:pPr>
              <a:spcBef>
                <a:spcPct val="0"/>
              </a:spcBef>
              <a:buClrTx/>
              <a:buSzTx/>
              <a:buFontTx/>
              <a:buNone/>
            </a:pPr>
            <a:r>
              <a:rPr lang="en-US" altLang="en-US" sz="2000">
                <a:solidFill>
                  <a:schemeClr val="bg2"/>
                </a:solidFill>
              </a:rPr>
              <a:t>    btOK.setOnAction(handler1);</a:t>
            </a:r>
          </a:p>
          <a:p>
            <a:pPr>
              <a:spcBef>
                <a:spcPct val="0"/>
              </a:spcBef>
              <a:buClrTx/>
              <a:buSzTx/>
              <a:buFontTx/>
              <a:buNone/>
            </a:pPr>
            <a:r>
              <a:rPr lang="en-US" altLang="en-US" sz="2000">
                <a:solidFill>
                  <a:schemeClr val="bg2"/>
                </a:solidFill>
              </a:rPr>
              <a:t>    CancelHandlerClass handler2 = new CancelHandlerClass();</a:t>
            </a:r>
          </a:p>
          <a:p>
            <a:pPr>
              <a:spcBef>
                <a:spcPct val="0"/>
              </a:spcBef>
              <a:buClrTx/>
              <a:buSzTx/>
              <a:buFontTx/>
              <a:buNone/>
            </a:pPr>
            <a:r>
              <a:rPr lang="en-US" altLang="en-US" sz="2000">
                <a:solidFill>
                  <a:schemeClr val="bg2"/>
                </a:solidFill>
              </a:rPr>
              <a:t>    btCancel.setOnAction(handler2);</a:t>
            </a:r>
          </a:p>
          <a:p>
            <a:pPr>
              <a:spcBef>
                <a:spcPct val="0"/>
              </a:spcBef>
              <a:buClrTx/>
              <a:buSzTx/>
              <a:buFontTx/>
              <a:buNone/>
            </a:pPr>
            <a:r>
              <a:rPr lang="en-US" altLang="en-US" sz="2000">
                <a:solidFill>
                  <a:schemeClr val="bg2"/>
                </a:solidFill>
              </a:rPr>
              <a:t>    …    </a:t>
            </a:r>
          </a:p>
          <a:p>
            <a:pPr>
              <a:spcBef>
                <a:spcPct val="0"/>
              </a:spcBef>
              <a:buClrTx/>
              <a:buSzTx/>
              <a:buFontTx/>
              <a:buNone/>
            </a:pPr>
            <a:r>
              <a:rPr lang="en-US" altLang="en-US" sz="2000">
                <a:solidFill>
                  <a:schemeClr val="bg2"/>
                </a:solidFill>
              </a:rPr>
              <a:t>    primaryStage.show(); // Display the stage</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 </a:t>
            </a:r>
          </a:p>
          <a:p>
            <a:pPr>
              <a:spcBef>
                <a:spcPct val="0"/>
              </a:spcBef>
              <a:buClrTx/>
              <a:buSzTx/>
              <a:buFontTx/>
              <a:buNone/>
            </a:pPr>
            <a:endParaRPr lang="en-US" altLang="en-US" sz="2000">
              <a:solidFill>
                <a:schemeClr val="bg2"/>
              </a:solidFill>
            </a:endParaRPr>
          </a:p>
          <a:p>
            <a:pPr>
              <a:spcBef>
                <a:spcPct val="0"/>
              </a:spcBef>
              <a:buClrTx/>
              <a:buSzTx/>
              <a:buFontTx/>
              <a:buNone/>
            </a:pPr>
            <a:r>
              <a:rPr lang="en-US" altLang="en-US" sz="2000">
                <a:solidFill>
                  <a:schemeClr val="bg2"/>
                </a:solidFill>
              </a:rPr>
              <a:t>class OKHandlerClass implements EventHandler&lt;ActionEvent&gt; {</a:t>
            </a:r>
          </a:p>
          <a:p>
            <a:pPr>
              <a:spcBef>
                <a:spcPct val="0"/>
              </a:spcBef>
              <a:buClrTx/>
              <a:buSzTx/>
              <a:buFontTx/>
              <a:buNone/>
            </a:pPr>
            <a:r>
              <a:rPr lang="en-US" altLang="en-US" sz="2000">
                <a:solidFill>
                  <a:schemeClr val="bg2"/>
                </a:solidFill>
              </a:rPr>
              <a:t>  @Override</a:t>
            </a:r>
          </a:p>
          <a:p>
            <a:pPr>
              <a:spcBef>
                <a:spcPct val="0"/>
              </a:spcBef>
              <a:buClrTx/>
              <a:buSzTx/>
              <a:buFontTx/>
              <a:buNone/>
            </a:pPr>
            <a:r>
              <a:rPr lang="en-US" altLang="en-US" sz="2000">
                <a:solidFill>
                  <a:schemeClr val="bg2"/>
                </a:solidFill>
              </a:rPr>
              <a:t>  public void handle(ActionEvent e) {</a:t>
            </a:r>
          </a:p>
          <a:p>
            <a:pPr>
              <a:spcBef>
                <a:spcPct val="0"/>
              </a:spcBef>
              <a:buClrTx/>
              <a:buSzTx/>
              <a:buFontTx/>
              <a:buNone/>
            </a:pPr>
            <a:r>
              <a:rPr lang="en-US" altLang="en-US" sz="2000">
                <a:solidFill>
                  <a:schemeClr val="bg2"/>
                </a:solidFill>
              </a:rPr>
              <a:t>    System.out.println("OK button clicked"); </a:t>
            </a:r>
          </a:p>
          <a:p>
            <a:pPr>
              <a:spcBef>
                <a:spcPct val="0"/>
              </a:spcBef>
              <a:buClrTx/>
              <a:buSzTx/>
              <a:buFontTx/>
              <a:buNone/>
            </a:pPr>
            <a:r>
              <a:rPr lang="en-US" altLang="en-US" sz="2000">
                <a:solidFill>
                  <a:schemeClr val="bg2"/>
                </a:solidFill>
              </a:rPr>
              <a:t>  }</a:t>
            </a:r>
          </a:p>
          <a:p>
            <a:pPr>
              <a:spcBef>
                <a:spcPct val="0"/>
              </a:spcBef>
              <a:buClrTx/>
              <a:buSzTx/>
              <a:buFontTx/>
              <a:buNone/>
            </a:pPr>
            <a:r>
              <a:rPr lang="en-US" altLang="en-US" sz="2000">
                <a:solidFill>
                  <a:schemeClr val="bg2"/>
                </a:solidFill>
              </a:rPr>
              <a:t>}</a:t>
            </a:r>
          </a:p>
        </p:txBody>
      </p:sp>
      <p:sp>
        <p:nvSpPr>
          <p:cNvPr id="13318" name="Rectangle 6"/>
          <p:cNvSpPr>
            <a:spLocks noChangeArrowheads="1"/>
          </p:cNvSpPr>
          <p:nvPr/>
        </p:nvSpPr>
        <p:spPr bwMode="auto">
          <a:xfrm>
            <a:off x="0" y="0"/>
            <a:ext cx="1524000" cy="381000"/>
          </a:xfrm>
          <a:prstGeom prst="rect">
            <a:avLst/>
          </a:prstGeom>
          <a:noFill/>
          <a:ln w="12700">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1800">
                <a:solidFill>
                  <a:schemeClr val="bg2"/>
                </a:solidFill>
                <a:latin typeface="Forte" panose="03060902040502070203" pitchFamily="66" charset="0"/>
              </a:rPr>
              <a:t>animation</a:t>
            </a:r>
            <a:endParaRPr lang="en-US" altLang="en-US" sz="2400"/>
          </a:p>
        </p:txBody>
      </p:sp>
      <p:sp>
        <p:nvSpPr>
          <p:cNvPr id="13319" name="Rectangle 4"/>
          <p:cNvSpPr>
            <a:spLocks noChangeArrowheads="1"/>
          </p:cNvSpPr>
          <p:nvPr/>
        </p:nvSpPr>
        <p:spPr bwMode="auto">
          <a:xfrm>
            <a:off x="533400" y="5486400"/>
            <a:ext cx="4343400" cy="304800"/>
          </a:xfrm>
          <a:prstGeom prst="rect">
            <a:avLst/>
          </a:prstGeom>
          <a:solidFill>
            <a:schemeClr val="accent1">
              <a:alpha val="45097"/>
            </a:schemeClr>
          </a:solidFill>
          <a:ln w="12700">
            <a:solidFill>
              <a:schemeClr val="tx1"/>
            </a:solidFill>
            <a:miter lim="800000"/>
            <a:headEnd type="none" w="sm" len="sm"/>
            <a:tailEnd type="none" w="sm" len="sm"/>
          </a:ln>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13320"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3276600"/>
            <a:ext cx="1905000" cy="1047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3321" name="AutoShape 7"/>
          <p:cNvSpPr>
            <a:spLocks noChangeArrowheads="1"/>
          </p:cNvSpPr>
          <p:nvPr/>
        </p:nvSpPr>
        <p:spPr bwMode="auto">
          <a:xfrm>
            <a:off x="6172200" y="990600"/>
            <a:ext cx="2514600" cy="1371600"/>
          </a:xfrm>
          <a:prstGeom prst="wedgeRoundRectCallout">
            <a:avLst>
              <a:gd name="adj1" fmla="val -121856"/>
              <a:gd name="adj2" fmla="val 273245"/>
              <a:gd name="adj3" fmla="val 16667"/>
            </a:avLst>
          </a:prstGeom>
          <a:solidFill>
            <a:schemeClr val="accent1"/>
          </a:solidFill>
          <a:ln w="12700">
            <a:solidFill>
              <a:schemeClr val="tx1"/>
            </a:solidFill>
            <a:miter lim="800000"/>
            <a:headEnd type="none" w="sm" len="sm"/>
            <a:tailEnd type="none" w="sm" len="sm"/>
          </a:ln>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000"/>
              <a:t>3. Click OK. The JVM invokes the listener’s handle method</a:t>
            </a:r>
          </a:p>
        </p:txBody>
      </p:sp>
      <p:pic>
        <p:nvPicPr>
          <p:cNvPr id="1332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5257800"/>
            <a:ext cx="2378075" cy="884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sp>
        <p:nvSpPr>
          <p:cNvPr id="13323" name="Line 9"/>
          <p:cNvSpPr>
            <a:spLocks noChangeShapeType="1"/>
          </p:cNvSpPr>
          <p:nvPr/>
        </p:nvSpPr>
        <p:spPr bwMode="auto">
          <a:xfrm>
            <a:off x="4800600" y="5638800"/>
            <a:ext cx="1447800" cy="0"/>
          </a:xfrm>
          <a:prstGeom prst="line">
            <a:avLst/>
          </a:prstGeom>
          <a:noFill/>
          <a:ln w="44450">
            <a:solidFill>
              <a:srgbClr val="FF0000"/>
            </a:solidFill>
            <a:round/>
            <a:headEnd type="none" w="sm" len="sm"/>
            <a:tailEnd type="stealth" w="sm"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5772A80-4B86-439F-83F5-3A4E4A3C0628}" type="slidenum">
              <a:rPr lang="en-US" altLang="en-US" sz="1400" smtClean="0"/>
              <a:pPr>
                <a:spcBef>
                  <a:spcPct val="0"/>
                </a:spcBef>
                <a:buClrTx/>
                <a:buSzTx/>
                <a:buFontTx/>
                <a:buNone/>
              </a:pPr>
              <a:t>10</a:t>
            </a:fld>
            <a:endParaRPr lang="en-US" altLang="en-US" sz="1400" smtClean="0"/>
          </a:p>
        </p:txBody>
      </p:sp>
      <p:sp>
        <p:nvSpPr>
          <p:cNvPr id="14339" name="Rectangle 2"/>
          <p:cNvSpPr>
            <a:spLocks noGrp="1" noChangeArrowheads="1"/>
          </p:cNvSpPr>
          <p:nvPr>
            <p:ph type="title"/>
          </p:nvPr>
        </p:nvSpPr>
        <p:spPr>
          <a:xfrm>
            <a:off x="685800" y="0"/>
            <a:ext cx="7772400" cy="1428750"/>
          </a:xfrm>
          <a:noFill/>
        </p:spPr>
        <p:txBody>
          <a:bodyPr/>
          <a:lstStyle/>
          <a:p>
            <a:r>
              <a:rPr lang="en-US" altLang="en-US" smtClean="0"/>
              <a:t>How can we use it?</a:t>
            </a:r>
          </a:p>
        </p:txBody>
      </p:sp>
      <p:sp>
        <p:nvSpPr>
          <p:cNvPr id="14340" name="Rectangle 3"/>
          <p:cNvSpPr>
            <a:spLocks noGrp="1" noChangeArrowheads="1"/>
          </p:cNvSpPr>
          <p:nvPr>
            <p:ph type="body" idx="1"/>
          </p:nvPr>
        </p:nvSpPr>
        <p:spPr>
          <a:xfrm>
            <a:off x="381000" y="1371600"/>
            <a:ext cx="8686800" cy="4495800"/>
          </a:xfrm>
          <a:noFill/>
        </p:spPr>
        <p:txBody>
          <a:bodyPr/>
          <a:lstStyle/>
          <a:p>
            <a:pPr>
              <a:buFont typeface="Arial" panose="020B0604020202020204" pitchFamily="34" charset="0"/>
              <a:buChar char="•"/>
            </a:pPr>
            <a:r>
              <a:rPr lang="en-US" altLang="en-US" sz="3600" smtClean="0">
                <a:solidFill>
                  <a:srgbClr val="000000"/>
                </a:solidFill>
                <a:latin typeface="Perpetua" panose="02020502060401020303" pitchFamily="18" charset="0"/>
              </a:rPr>
              <a:t>For each control (button, combo box, etc.): </a:t>
            </a:r>
          </a:p>
          <a:p>
            <a:pPr lvl="1">
              <a:buFont typeface="Arial" panose="020B0604020202020204" pitchFamily="34" charset="0"/>
              <a:buChar char="•"/>
            </a:pPr>
            <a:r>
              <a:rPr lang="en-US" altLang="en-US" sz="3200" smtClean="0">
                <a:solidFill>
                  <a:srgbClr val="000000"/>
                </a:solidFill>
                <a:latin typeface="Perpetua" panose="02020502060401020303" pitchFamily="18" charset="0"/>
              </a:rPr>
              <a:t>define an event handler</a:t>
            </a:r>
          </a:p>
          <a:p>
            <a:pPr lvl="1">
              <a:buFont typeface="Arial" panose="020B0604020202020204" pitchFamily="34" charset="0"/>
              <a:buChar char="•"/>
            </a:pPr>
            <a:r>
              <a:rPr lang="en-US" altLang="en-US" sz="3200" smtClean="0">
                <a:solidFill>
                  <a:srgbClr val="000000"/>
                </a:solidFill>
                <a:latin typeface="Perpetua" panose="02020502060401020303" pitchFamily="18" charset="0"/>
              </a:rPr>
              <a:t>construct an instance of event handler</a:t>
            </a:r>
          </a:p>
          <a:p>
            <a:pPr lvl="1">
              <a:buFont typeface="Arial" panose="020B0604020202020204" pitchFamily="34" charset="0"/>
              <a:buChar char="•"/>
            </a:pPr>
            <a:r>
              <a:rPr lang="en-US" altLang="en-US" sz="3200" smtClean="0">
                <a:solidFill>
                  <a:srgbClr val="000000"/>
                </a:solidFill>
                <a:latin typeface="Perpetua" panose="02020502060401020303" pitchFamily="18" charset="0"/>
              </a:rPr>
              <a:t>tell the control who its event handler is</a:t>
            </a:r>
          </a:p>
          <a:p>
            <a:pPr>
              <a:buFont typeface="Arial" panose="020B0604020202020204" pitchFamily="34" charset="0"/>
              <a:buChar char="•"/>
            </a:pPr>
            <a:r>
              <a:rPr lang="en-US" altLang="en-US" sz="3600" smtClean="0">
                <a:solidFill>
                  <a:srgbClr val="000000"/>
                </a:solidFill>
                <a:latin typeface="Perpetua" panose="02020502060401020303" pitchFamily="18" charset="0"/>
              </a:rPr>
              <a:t>Event Handler?</a:t>
            </a:r>
          </a:p>
          <a:p>
            <a:pPr lvl="1">
              <a:buFont typeface="Arial" panose="020B0604020202020204" pitchFamily="34" charset="0"/>
              <a:buChar char="•"/>
            </a:pPr>
            <a:r>
              <a:rPr lang="en-US" altLang="en-US" sz="3200" smtClean="0">
                <a:solidFill>
                  <a:srgbClr val="000000"/>
                </a:solidFill>
                <a:latin typeface="Perpetua" panose="02020502060401020303" pitchFamily="18" charset="0"/>
              </a:rPr>
              <a:t>code with response to event</a:t>
            </a:r>
          </a:p>
          <a:p>
            <a:pPr lvl="1">
              <a:buFont typeface="Arial" panose="020B0604020202020204" pitchFamily="34" charset="0"/>
              <a:buChar char="•"/>
            </a:pPr>
            <a:r>
              <a:rPr lang="en-US" altLang="en-US" sz="3200" smtClean="0">
                <a:solidFill>
                  <a:srgbClr val="000000"/>
                </a:solidFill>
                <a:latin typeface="Perpetua" panose="02020502060401020303" pitchFamily="18" charset="0"/>
              </a:rPr>
              <a:t>a.k.a. event listener</a:t>
            </a:r>
            <a:r>
              <a:rPr lang="en-US" altLang="en-US" sz="3200" smtClean="0"/>
              <a:t> </a:t>
            </a:r>
            <a:br>
              <a:rPr lang="en-US" altLang="en-US" sz="3200" smtClean="0"/>
            </a:br>
            <a:endParaRPr lang="en-US" altLang="en-US" sz="3000"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Unvan 1"/>
          <p:cNvSpPr>
            <a:spLocks noGrp="1" noChangeArrowheads="1"/>
          </p:cNvSpPr>
          <p:nvPr>
            <p:ph type="title"/>
          </p:nvPr>
        </p:nvSpPr>
        <p:spPr>
          <a:xfrm>
            <a:off x="649288" y="171450"/>
            <a:ext cx="7772400" cy="1143000"/>
          </a:xfrm>
        </p:spPr>
        <p:txBody>
          <a:bodyPr/>
          <a:lstStyle/>
          <a:p>
            <a:r>
              <a:rPr lang="en-US" altLang="en-US" smtClean="0"/>
              <a:t>Java’s Event Handling </a:t>
            </a:r>
          </a:p>
        </p:txBody>
      </p:sp>
      <p:sp>
        <p:nvSpPr>
          <p:cNvPr id="15363" name="İçerik Yer Tutucusu 2"/>
          <p:cNvSpPr>
            <a:spLocks noGrp="1" noChangeArrowheads="1"/>
          </p:cNvSpPr>
          <p:nvPr>
            <p:ph idx="1"/>
          </p:nvPr>
        </p:nvSpPr>
        <p:spPr>
          <a:xfrm>
            <a:off x="685800" y="1428750"/>
            <a:ext cx="7772400" cy="4114800"/>
          </a:xfrm>
        </p:spPr>
        <p:txBody>
          <a:bodyPr/>
          <a:lstStyle/>
          <a:p>
            <a:pPr>
              <a:buFont typeface="Arial" panose="020B0604020202020204" pitchFamily="34" charset="0"/>
              <a:buChar char="•"/>
            </a:pPr>
            <a:r>
              <a:rPr lang="en-US" altLang="en-US" smtClean="0">
                <a:solidFill>
                  <a:srgbClr val="000000"/>
                </a:solidFill>
                <a:latin typeface="Perpetua" panose="02020502060401020303" pitchFamily="18" charset="0"/>
              </a:rPr>
              <a:t>When the user interacts with a control (source):</a:t>
            </a:r>
          </a:p>
          <a:p>
            <a:pPr lvl="1">
              <a:buFont typeface="Arial" panose="020B0604020202020204" pitchFamily="34" charset="0"/>
              <a:buChar char="•"/>
            </a:pPr>
            <a:r>
              <a:rPr lang="en-US" altLang="en-US" smtClean="0">
                <a:solidFill>
                  <a:srgbClr val="000000"/>
                </a:solidFill>
                <a:latin typeface="Perpetua" panose="02020502060401020303" pitchFamily="18" charset="0"/>
              </a:rPr>
              <a:t>an </a:t>
            </a:r>
            <a:r>
              <a:rPr lang="en-US" altLang="en-US" i="1" smtClean="0">
                <a:solidFill>
                  <a:srgbClr val="FF0000"/>
                </a:solidFill>
                <a:latin typeface="Perpetua" panose="02020502060401020303" pitchFamily="18" charset="0"/>
              </a:rPr>
              <a:t>event object </a:t>
            </a:r>
            <a:r>
              <a:rPr lang="en-US" altLang="en-US" smtClean="0">
                <a:solidFill>
                  <a:srgbClr val="000000"/>
                </a:solidFill>
                <a:latin typeface="Perpetua" panose="02020502060401020303" pitchFamily="18" charset="0"/>
              </a:rPr>
              <a:t>is constructed</a:t>
            </a:r>
          </a:p>
          <a:p>
            <a:pPr lvl="1">
              <a:buFont typeface="Arial" panose="020B0604020202020204" pitchFamily="34" charset="0"/>
              <a:buChar char="•"/>
            </a:pPr>
            <a:r>
              <a:rPr lang="en-US" altLang="en-US" smtClean="0">
                <a:solidFill>
                  <a:srgbClr val="000000"/>
                </a:solidFill>
                <a:latin typeface="Perpetua" panose="02020502060401020303" pitchFamily="18" charset="0"/>
              </a:rPr>
              <a:t>the event object is sent to all registered </a:t>
            </a:r>
            <a:r>
              <a:rPr lang="en-US" altLang="en-US" i="1" smtClean="0">
                <a:solidFill>
                  <a:srgbClr val="FF0000"/>
                </a:solidFill>
                <a:latin typeface="Perpetua" panose="02020502060401020303" pitchFamily="18" charset="0"/>
              </a:rPr>
              <a:t>listener objects</a:t>
            </a:r>
          </a:p>
          <a:p>
            <a:pPr lvl="1">
              <a:buFont typeface="Arial" panose="020B0604020202020204" pitchFamily="34" charset="0"/>
              <a:buChar char="•"/>
            </a:pPr>
            <a:r>
              <a:rPr lang="en-US" altLang="en-US" smtClean="0">
                <a:solidFill>
                  <a:srgbClr val="000000"/>
                </a:solidFill>
                <a:latin typeface="Perpetua" panose="02020502060401020303" pitchFamily="18" charset="0"/>
              </a:rPr>
              <a:t>the listener object (handler) responds as you defined it to</a:t>
            </a:r>
            <a:r>
              <a:rPr lang="en-US" altLang="en-US" smtClean="0"/>
              <a:t> </a:t>
            </a:r>
            <a:endParaRPr lang="en-US" altLang="en-US" smtClean="0">
              <a:solidFill>
                <a:srgbClr val="000000"/>
              </a:solidFill>
              <a:latin typeface="Perpetua" panose="02020502060401020303" pitchFamily="18" charset="0"/>
            </a:endParaRPr>
          </a:p>
          <a:p>
            <a:pPr>
              <a:buFont typeface="Arial" panose="020B0604020202020204" pitchFamily="34" charset="0"/>
              <a:buChar char="•"/>
            </a:pPr>
            <a:r>
              <a:rPr lang="en-US" altLang="en-US" smtClean="0">
                <a:solidFill>
                  <a:srgbClr val="FF0000"/>
                </a:solidFill>
                <a:latin typeface="Franklin Gothic Book" panose="020B0503020102020204" pitchFamily="34" charset="0"/>
              </a:rPr>
              <a:t>Event Listeners </a:t>
            </a:r>
            <a:r>
              <a:rPr lang="en-US" altLang="en-US" smtClean="0">
                <a:solidFill>
                  <a:srgbClr val="696464"/>
                </a:solidFill>
                <a:latin typeface="Franklin Gothic Book" panose="020B0503020102020204" pitchFamily="34" charset="0"/>
              </a:rPr>
              <a:t>(Event Handler)</a:t>
            </a:r>
            <a:r>
              <a:rPr lang="en-US" altLang="en-US" smtClean="0"/>
              <a:t> </a:t>
            </a:r>
          </a:p>
          <a:p>
            <a:pPr lvl="1">
              <a:buFont typeface="Arial" panose="020B0604020202020204" pitchFamily="34" charset="0"/>
              <a:buChar char="•"/>
            </a:pPr>
            <a:r>
              <a:rPr lang="en-US" altLang="en-US" smtClean="0">
                <a:solidFill>
                  <a:srgbClr val="000000"/>
                </a:solidFill>
                <a:latin typeface="Perpetua" panose="02020502060401020303" pitchFamily="18" charset="0"/>
              </a:rPr>
              <a:t>Defined by the application programmer by implementing appropriate interface.</a:t>
            </a:r>
          </a:p>
        </p:txBody>
      </p:sp>
      <p:sp>
        <p:nvSpPr>
          <p:cNvPr id="15364" name="Slayt Numarası Yer Tutucusu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6E0D6F6-67B3-425A-9906-3AA5B2CFD16D}" type="slidenum">
              <a:rPr lang="en-US" altLang="en-US" sz="1400" smtClean="0"/>
              <a:pPr>
                <a:spcBef>
                  <a:spcPct val="0"/>
                </a:spcBef>
                <a:buClrTx/>
                <a:buSzTx/>
                <a:buFontTx/>
                <a:buNone/>
              </a:pPr>
              <a:t>11</a:t>
            </a:fld>
            <a:endParaRPr lang="en-US" altLang="en-US" sz="140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0717174-AD3C-4819-9FDD-2B6699FEF3CA}" type="slidenum">
              <a:rPr lang="en-US" altLang="en-US" sz="1400" smtClean="0"/>
              <a:pPr>
                <a:spcBef>
                  <a:spcPct val="0"/>
                </a:spcBef>
                <a:buClrTx/>
                <a:buSzTx/>
                <a:buFontTx/>
                <a:buNone/>
              </a:pPr>
              <a:t>12</a:t>
            </a:fld>
            <a:endParaRPr lang="en-US" altLang="en-US" sz="1400" smtClean="0"/>
          </a:p>
        </p:txBody>
      </p:sp>
      <p:sp>
        <p:nvSpPr>
          <p:cNvPr id="16387" name="Rectangle 2"/>
          <p:cNvSpPr>
            <a:spLocks noGrp="1" noChangeArrowheads="1"/>
          </p:cNvSpPr>
          <p:nvPr>
            <p:ph type="title"/>
          </p:nvPr>
        </p:nvSpPr>
        <p:spPr>
          <a:xfrm>
            <a:off x="685800" y="0"/>
            <a:ext cx="7772400" cy="1428750"/>
          </a:xfrm>
          <a:noFill/>
        </p:spPr>
        <p:txBody>
          <a:bodyPr/>
          <a:lstStyle/>
          <a:p>
            <a:r>
              <a:rPr lang="en-US" altLang="en-US" smtClean="0"/>
              <a:t>Events</a:t>
            </a:r>
          </a:p>
        </p:txBody>
      </p:sp>
      <p:sp>
        <p:nvSpPr>
          <p:cNvPr id="16388" name="Rectangle 3"/>
          <p:cNvSpPr>
            <a:spLocks noGrp="1" noChangeArrowheads="1"/>
          </p:cNvSpPr>
          <p:nvPr>
            <p:ph type="body" idx="1"/>
          </p:nvPr>
        </p:nvSpPr>
        <p:spPr>
          <a:xfrm>
            <a:off x="381000" y="1371600"/>
            <a:ext cx="8686800" cy="4495800"/>
          </a:xfrm>
          <a:noFill/>
        </p:spPr>
        <p:txBody>
          <a:bodyPr/>
          <a:lstStyle/>
          <a:p>
            <a:pPr>
              <a:buFont typeface="Wingdings" panose="05000000000000000000" pitchFamily="2" charset="2"/>
              <a:buChar char="q"/>
            </a:pPr>
            <a:r>
              <a:rPr lang="en-US" altLang="en-US" sz="3400" smtClean="0"/>
              <a:t>An </a:t>
            </a:r>
            <a:r>
              <a:rPr lang="en-US" altLang="en-US" sz="3400" i="1" smtClean="0"/>
              <a:t>event</a:t>
            </a:r>
            <a:r>
              <a:rPr lang="en-US" altLang="en-US" sz="3400" smtClean="0"/>
              <a:t> can be defined as a type of signal to the program that something has happened. </a:t>
            </a:r>
          </a:p>
          <a:p>
            <a:pPr>
              <a:spcBef>
                <a:spcPct val="100000"/>
              </a:spcBef>
              <a:buFont typeface="Wingdings" panose="05000000000000000000" pitchFamily="2" charset="2"/>
              <a:buChar char="q"/>
            </a:pPr>
            <a:r>
              <a:rPr lang="en-US" altLang="en-US" sz="3400" smtClean="0"/>
              <a:t>The event is generated by external user actions such as mouse movements, mouse clicks, or keystrokes.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F3EC01F-BB92-4417-ACFE-413396872474}" type="slidenum">
              <a:rPr lang="en-US" altLang="en-US" sz="1400" smtClean="0"/>
              <a:pPr>
                <a:spcBef>
                  <a:spcPct val="0"/>
                </a:spcBef>
                <a:buClrTx/>
                <a:buSzTx/>
                <a:buFontTx/>
                <a:buNone/>
              </a:pPr>
              <a:t>13</a:t>
            </a:fld>
            <a:endParaRPr lang="en-US" altLang="en-US" sz="1400" smtClean="0"/>
          </a:p>
        </p:txBody>
      </p:sp>
      <p:sp>
        <p:nvSpPr>
          <p:cNvPr id="17411" name="Rectangle 2"/>
          <p:cNvSpPr>
            <a:spLocks noGrp="1" noChangeArrowheads="1"/>
          </p:cNvSpPr>
          <p:nvPr>
            <p:ph type="title"/>
          </p:nvPr>
        </p:nvSpPr>
        <p:spPr>
          <a:xfrm>
            <a:off x="685800" y="0"/>
            <a:ext cx="7772400" cy="1428750"/>
          </a:xfrm>
          <a:noFill/>
        </p:spPr>
        <p:txBody>
          <a:bodyPr/>
          <a:lstStyle/>
          <a:p>
            <a:r>
              <a:rPr lang="en-US" altLang="en-US" smtClean="0"/>
              <a:t>Event Classes</a:t>
            </a:r>
            <a:endParaRPr lang="en-US" altLang="en-US" b="1" smtClean="0"/>
          </a:p>
        </p:txBody>
      </p:sp>
      <p:sp>
        <p:nvSpPr>
          <p:cNvPr id="2" name="Rectangle 4">
            <a:extLst>
              <a:ext uri="{FF2B5EF4-FFF2-40B4-BE49-F238E27FC236}">
                <a16:creationId xmlns:a16="http://schemas.microsoft.com/office/drawing/2014/main" id="{B2074090-7BB8-402C-913D-F6BE7C85E70A}"/>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pic>
        <p:nvPicPr>
          <p:cNvPr id="1741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657350"/>
            <a:ext cx="8767763" cy="3219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2D1C461-E189-45B1-8461-D15F67DA0EA4}" type="slidenum">
              <a:rPr lang="en-US" altLang="en-US" sz="1400" smtClean="0"/>
              <a:pPr>
                <a:spcBef>
                  <a:spcPct val="0"/>
                </a:spcBef>
                <a:buClrTx/>
                <a:buSzTx/>
                <a:buFontTx/>
                <a:buNone/>
              </a:pPr>
              <a:t>14</a:t>
            </a:fld>
            <a:endParaRPr lang="en-US" altLang="en-US" sz="1400" smtClean="0"/>
          </a:p>
        </p:txBody>
      </p:sp>
      <p:sp>
        <p:nvSpPr>
          <p:cNvPr id="18435" name="Rectangle 2"/>
          <p:cNvSpPr>
            <a:spLocks noGrp="1" noChangeArrowheads="1"/>
          </p:cNvSpPr>
          <p:nvPr>
            <p:ph type="title"/>
          </p:nvPr>
        </p:nvSpPr>
        <p:spPr>
          <a:xfrm>
            <a:off x="685800" y="0"/>
            <a:ext cx="7772400" cy="1428750"/>
          </a:xfrm>
          <a:noFill/>
        </p:spPr>
        <p:txBody>
          <a:bodyPr/>
          <a:lstStyle/>
          <a:p>
            <a:r>
              <a:rPr lang="en-US" altLang="en-US" smtClean="0"/>
              <a:t>Event Information</a:t>
            </a:r>
          </a:p>
        </p:txBody>
      </p:sp>
      <p:sp>
        <p:nvSpPr>
          <p:cNvPr id="18436" name="Rectangle 3"/>
          <p:cNvSpPr>
            <a:spLocks noGrp="1" noChangeArrowheads="1"/>
          </p:cNvSpPr>
          <p:nvPr>
            <p:ph type="body" idx="1"/>
          </p:nvPr>
        </p:nvSpPr>
        <p:spPr>
          <a:xfrm>
            <a:off x="190500" y="1295400"/>
            <a:ext cx="8763000" cy="4724400"/>
          </a:xfrm>
          <a:noFill/>
        </p:spPr>
        <p:txBody>
          <a:bodyPr/>
          <a:lstStyle/>
          <a:p>
            <a:pPr>
              <a:buFont typeface="Arial" panose="020B0604020202020204" pitchFamily="34" charset="0"/>
              <a:buChar char="•"/>
            </a:pPr>
            <a:r>
              <a:rPr lang="en-US" altLang="en-US" sz="2800" smtClean="0">
                <a:cs typeface="Times New Roman" panose="02020603050405020304" pitchFamily="18" charset="0"/>
              </a:rPr>
              <a:t>An event object contains whatever properties are pertinent to the event:</a:t>
            </a:r>
          </a:p>
          <a:p>
            <a:pPr lvl="1">
              <a:buFont typeface="Arial" panose="020B0604020202020204" pitchFamily="34" charset="0"/>
              <a:buChar char="•"/>
            </a:pPr>
            <a:r>
              <a:rPr lang="en-US" altLang="en-US" sz="2400" smtClean="0">
                <a:cs typeface="Times New Roman" panose="02020603050405020304" pitchFamily="18" charset="0"/>
              </a:rPr>
              <a:t>the </a:t>
            </a:r>
            <a:r>
              <a:rPr lang="en-US" altLang="en-US" sz="2400" b="1" i="1" smtClean="0">
                <a:cs typeface="Times New Roman" panose="02020603050405020304" pitchFamily="18" charset="0"/>
              </a:rPr>
              <a:t>source object</a:t>
            </a:r>
            <a:r>
              <a:rPr lang="en-US" altLang="en-US" sz="2400" smtClean="0">
                <a:cs typeface="Times New Roman" panose="02020603050405020304" pitchFamily="18" charset="0"/>
              </a:rPr>
              <a:t> of the event using the </a:t>
            </a:r>
            <a:r>
              <a:rPr lang="en-US" altLang="en-US" sz="2000" b="1" smtClean="0">
                <a:solidFill>
                  <a:srgbClr val="00AEEF"/>
                </a:solidFill>
                <a:latin typeface="LucidaSansTypewriterStd-Bd"/>
              </a:rPr>
              <a:t>getSource() </a:t>
            </a:r>
            <a:r>
              <a:rPr lang="en-US" altLang="en-US" sz="2000" smtClean="0"/>
              <a:t> </a:t>
            </a:r>
            <a:r>
              <a:rPr lang="en-US" altLang="en-US" sz="2400" smtClean="0">
                <a:cs typeface="Times New Roman" panose="02020603050405020304" pitchFamily="18" charset="0"/>
              </a:rPr>
              <a:t>instance method in the </a:t>
            </a:r>
            <a:r>
              <a:rPr lang="en-US" altLang="en-US" sz="2000" b="1" smtClean="0">
                <a:solidFill>
                  <a:srgbClr val="00AEEF"/>
                </a:solidFill>
                <a:latin typeface="LucidaSansTypewriterStd-Bd"/>
              </a:rPr>
              <a:t>EventObject</a:t>
            </a:r>
            <a:r>
              <a:rPr lang="en-US" altLang="en-US" sz="2400" smtClean="0"/>
              <a:t> </a:t>
            </a:r>
            <a:r>
              <a:rPr lang="en-US" altLang="en-US" sz="2400" smtClean="0">
                <a:cs typeface="Times New Roman" panose="02020603050405020304" pitchFamily="18" charset="0"/>
              </a:rPr>
              <a:t>class. </a:t>
            </a:r>
          </a:p>
          <a:p>
            <a:pPr lvl="1">
              <a:buFont typeface="Arial" panose="020B0604020202020204" pitchFamily="34" charset="0"/>
              <a:buChar char="•"/>
            </a:pPr>
            <a:endParaRPr lang="en-US" altLang="en-US" sz="2400" smtClean="0">
              <a:cs typeface="Times New Roman" panose="02020603050405020304" pitchFamily="18" charset="0"/>
            </a:endParaRPr>
          </a:p>
          <a:p>
            <a:pPr algn="just">
              <a:buFont typeface="Arial" panose="020B0604020202020204" pitchFamily="34" charset="0"/>
              <a:buChar char="•"/>
            </a:pPr>
            <a:r>
              <a:rPr lang="en-US" altLang="en-US" sz="2800" smtClean="0">
                <a:cs typeface="Times New Roman" panose="02020603050405020304" pitchFamily="18" charset="0"/>
              </a:rPr>
              <a:t>The subclasses of </a:t>
            </a:r>
            <a:r>
              <a:rPr lang="en-US" altLang="en-US" sz="2400" b="1" smtClean="0">
                <a:solidFill>
                  <a:srgbClr val="00AEEF"/>
                </a:solidFill>
                <a:latin typeface="LucidaSansTypewriterStd-Bd"/>
              </a:rPr>
              <a:t>EventObject</a:t>
            </a:r>
            <a:r>
              <a:rPr lang="en-US" altLang="en-US" sz="2800" smtClean="0">
                <a:cs typeface="Times New Roman" panose="02020603050405020304" pitchFamily="18" charset="0"/>
              </a:rPr>
              <a:t> deal with special types of events, such as </a:t>
            </a:r>
            <a:r>
              <a:rPr lang="en-US" altLang="en-US" sz="2800" i="1" smtClean="0">
                <a:cs typeface="Times New Roman" panose="02020603050405020304" pitchFamily="18" charset="0"/>
              </a:rPr>
              <a:t>button actions</a:t>
            </a:r>
            <a:r>
              <a:rPr lang="en-US" altLang="en-US" sz="2800" smtClean="0">
                <a:cs typeface="Times New Roman" panose="02020603050405020304" pitchFamily="18" charset="0"/>
              </a:rPr>
              <a:t>, </a:t>
            </a:r>
            <a:r>
              <a:rPr lang="en-US" altLang="en-US" sz="2800" i="1" smtClean="0">
                <a:cs typeface="Times New Roman" panose="02020603050405020304" pitchFamily="18" charset="0"/>
              </a:rPr>
              <a:t>window events</a:t>
            </a:r>
            <a:r>
              <a:rPr lang="en-US" altLang="en-US" sz="2800" smtClean="0">
                <a:cs typeface="Times New Roman" panose="02020603050405020304" pitchFamily="18" charset="0"/>
              </a:rPr>
              <a:t>, </a:t>
            </a:r>
            <a:r>
              <a:rPr lang="en-US" altLang="en-US" sz="2800" i="1" smtClean="0">
                <a:cs typeface="Times New Roman" panose="02020603050405020304" pitchFamily="18" charset="0"/>
              </a:rPr>
              <a:t>mouse movements</a:t>
            </a:r>
            <a:r>
              <a:rPr lang="en-US" altLang="en-US" sz="2800" smtClean="0">
                <a:cs typeface="Times New Roman" panose="02020603050405020304" pitchFamily="18" charset="0"/>
              </a:rPr>
              <a:t>, and </a:t>
            </a:r>
            <a:r>
              <a:rPr lang="en-US" altLang="en-US" sz="2800" i="1" smtClean="0">
                <a:cs typeface="Times New Roman" panose="02020603050405020304" pitchFamily="18" charset="0"/>
              </a:rPr>
              <a:t>keystrokes</a:t>
            </a:r>
            <a:r>
              <a:rPr lang="en-US" altLang="en-US" sz="2800" smtClean="0">
                <a:cs typeface="Times New Roman" panose="02020603050405020304" pitchFamily="18" charset="0"/>
              </a:rPr>
              <a:t>. </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4B3527B-F2D0-46A6-A2D5-55AAFFAB0641}" type="slidenum">
              <a:rPr lang="en-US" altLang="en-US" sz="1400" smtClean="0"/>
              <a:pPr>
                <a:spcBef>
                  <a:spcPct val="0"/>
                </a:spcBef>
                <a:buClrTx/>
                <a:buSzTx/>
                <a:buFontTx/>
                <a:buNone/>
              </a:pPr>
              <a:t>15</a:t>
            </a:fld>
            <a:endParaRPr lang="en-US" altLang="en-US" sz="1400" smtClean="0"/>
          </a:p>
        </p:txBody>
      </p:sp>
      <p:sp>
        <p:nvSpPr>
          <p:cNvPr id="19459" name="Rectangle 2"/>
          <p:cNvSpPr>
            <a:spLocks noGrp="1" noChangeArrowheads="1"/>
          </p:cNvSpPr>
          <p:nvPr>
            <p:ph type="title"/>
          </p:nvPr>
        </p:nvSpPr>
        <p:spPr>
          <a:xfrm>
            <a:off x="381000" y="381000"/>
            <a:ext cx="8382000" cy="990600"/>
          </a:xfrm>
          <a:noFill/>
        </p:spPr>
        <p:txBody>
          <a:bodyPr/>
          <a:lstStyle/>
          <a:p>
            <a:r>
              <a:rPr lang="en-US" altLang="en-US" smtClean="0"/>
              <a:t>Selected User Actions and Handlers</a:t>
            </a:r>
            <a:endParaRPr lang="en-US" altLang="en-US" smtClean="0">
              <a:solidFill>
                <a:schemeClr val="tx1"/>
              </a:solidFill>
              <a:latin typeface="Book Antiqua" panose="02040602050305030304" pitchFamily="18" charset="0"/>
            </a:endParaRPr>
          </a:p>
        </p:txBody>
      </p:sp>
      <p:pic>
        <p:nvPicPr>
          <p:cNvPr id="1946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76400"/>
            <a:ext cx="9144000" cy="433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What is an event source object? What is an event object? Describe the relationship between an event source object and an event object.</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en-US" sz="2000" dirty="0">
                <a:solidFill>
                  <a:srgbClr val="0070C0"/>
                </a:solidFill>
                <a:latin typeface="Calibri" panose="020F0502020204030204" pitchFamily="34" charset="0"/>
                <a:cs typeface="Calibri" panose="020F0502020204030204" pitchFamily="34" charset="0"/>
              </a:rPr>
              <a:t>The event source object, also called source object, is the source where an event is </a:t>
            </a:r>
            <a:r>
              <a:rPr lang="en-US" sz="2000" dirty="0" smtClean="0">
                <a:solidFill>
                  <a:srgbClr val="0070C0"/>
                </a:solidFill>
                <a:latin typeface="Calibri" panose="020F0502020204030204" pitchFamily="34" charset="0"/>
                <a:cs typeface="Calibri" panose="020F0502020204030204" pitchFamily="34" charset="0"/>
              </a:rPr>
              <a:t>fired.</a:t>
            </a:r>
            <a:endParaRPr lang="tr-TR" sz="2000" dirty="0" smtClean="0">
              <a:solidFill>
                <a:srgbClr val="0070C0"/>
              </a:solidFill>
              <a:latin typeface="Calibri" panose="020F0502020204030204" pitchFamily="34" charset="0"/>
              <a:cs typeface="Calibri" panose="020F0502020204030204" pitchFamily="34" charset="0"/>
            </a:endParaRPr>
          </a:p>
          <a:p>
            <a:r>
              <a:rPr lang="en-US" sz="2000" dirty="0" smtClean="0">
                <a:solidFill>
                  <a:srgbClr val="0070C0"/>
                </a:solidFill>
                <a:latin typeface="Calibri" panose="020F0502020204030204" pitchFamily="34" charset="0"/>
                <a:cs typeface="Calibri" panose="020F0502020204030204" pitchFamily="34" charset="0"/>
              </a:rPr>
              <a:t>An </a:t>
            </a:r>
            <a:r>
              <a:rPr lang="en-US" sz="2000" dirty="0">
                <a:solidFill>
                  <a:srgbClr val="0070C0"/>
                </a:solidFill>
                <a:latin typeface="Calibri" panose="020F0502020204030204" pitchFamily="34" charset="0"/>
                <a:cs typeface="Calibri" panose="020F0502020204030204" pitchFamily="34" charset="0"/>
              </a:rPr>
              <a:t>event object contains the information about the </a:t>
            </a:r>
            <a:r>
              <a:rPr lang="en-US" sz="2000" dirty="0" smtClean="0">
                <a:solidFill>
                  <a:srgbClr val="0070C0"/>
                </a:solidFill>
                <a:latin typeface="Calibri" panose="020F0502020204030204" pitchFamily="34" charset="0"/>
                <a:cs typeface="Calibri" panose="020F0502020204030204" pitchFamily="34" charset="0"/>
              </a:rPr>
              <a:t>event.</a:t>
            </a:r>
            <a:endParaRPr lang="tr-TR" sz="2000" dirty="0" smtClean="0">
              <a:solidFill>
                <a:srgbClr val="0070C0"/>
              </a:solidFill>
              <a:latin typeface="Calibri" panose="020F0502020204030204" pitchFamily="34" charset="0"/>
              <a:cs typeface="Calibri" panose="020F0502020204030204" pitchFamily="34" charset="0"/>
            </a:endParaRPr>
          </a:p>
          <a:p>
            <a:r>
              <a:rPr lang="en-US" sz="2000" dirty="0" smtClean="0">
                <a:solidFill>
                  <a:srgbClr val="0070C0"/>
                </a:solidFill>
                <a:latin typeface="Calibri" panose="020F0502020204030204" pitchFamily="34" charset="0"/>
                <a:cs typeface="Calibri" panose="020F0502020204030204" pitchFamily="34" charset="0"/>
              </a:rPr>
              <a:t>The </a:t>
            </a:r>
            <a:r>
              <a:rPr lang="en-US" sz="2000" dirty="0">
                <a:solidFill>
                  <a:srgbClr val="0070C0"/>
                </a:solidFill>
                <a:latin typeface="Calibri" panose="020F0502020204030204" pitchFamily="34" charset="0"/>
                <a:cs typeface="Calibri" panose="020F0502020204030204" pitchFamily="34" charset="0"/>
              </a:rPr>
              <a:t>relationship between a source object and an event is that the event is an object created by the source.</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16</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183583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noChangeArrowheads="1"/>
          </p:cNvSpPr>
          <p:nvPr>
            <p:ph type="title"/>
          </p:nvPr>
        </p:nvSpPr>
        <p:spPr/>
        <p:txBody>
          <a:bodyPr/>
          <a:lstStyle/>
          <a:p>
            <a:r>
              <a:rPr lang="en-US" altLang="en-US" smtClean="0"/>
              <a:t>Registering</a:t>
            </a:r>
            <a:r>
              <a:rPr lang="en-US" altLang="en-US" sz="3200" smtClean="0"/>
              <a:t> </a:t>
            </a:r>
            <a:r>
              <a:rPr lang="en-US" altLang="en-US" smtClean="0"/>
              <a:t>Handlers and Handling Events </a:t>
            </a:r>
          </a:p>
        </p:txBody>
      </p:sp>
      <p:sp>
        <p:nvSpPr>
          <p:cNvPr id="20483" name="Content Placeholder 2"/>
          <p:cNvSpPr>
            <a:spLocks noGrp="1" noChangeArrowheads="1"/>
          </p:cNvSpPr>
          <p:nvPr>
            <p:ph idx="1"/>
          </p:nvPr>
        </p:nvSpPr>
        <p:spPr>
          <a:xfrm>
            <a:off x="609600" y="1905000"/>
            <a:ext cx="7772400" cy="4114800"/>
          </a:xfrm>
        </p:spPr>
        <p:txBody>
          <a:bodyPr/>
          <a:lstStyle/>
          <a:p>
            <a:pPr>
              <a:buFont typeface="Arial" panose="020B0604020202020204" pitchFamily="34" charset="0"/>
              <a:buChar char="•"/>
            </a:pPr>
            <a:r>
              <a:rPr lang="en-US" altLang="en-US" sz="2800" smtClean="0"/>
              <a:t>A </a:t>
            </a:r>
            <a:r>
              <a:rPr lang="en-US" altLang="en-US" sz="2800" i="1" smtClean="0"/>
              <a:t>handler</a:t>
            </a:r>
            <a:r>
              <a:rPr lang="en-US" altLang="en-US" sz="2800" smtClean="0"/>
              <a:t> is an object that must be registered with an event source object.</a:t>
            </a:r>
            <a:br>
              <a:rPr lang="en-US" altLang="en-US" sz="2800" smtClean="0"/>
            </a:br>
            <a:endParaRPr lang="en-US" altLang="en-US" sz="2800" smtClean="0"/>
          </a:p>
          <a:p>
            <a:pPr>
              <a:buFont typeface="Arial" panose="020B0604020202020204" pitchFamily="34" charset="0"/>
              <a:buChar char="•"/>
            </a:pPr>
            <a:r>
              <a:rPr lang="en-US" altLang="en-US" sz="2800" smtClean="0"/>
              <a:t>It must be an instance of an appropriate event-handling interface. </a:t>
            </a:r>
            <a:r>
              <a:rPr lang="en-US" altLang="en-US" smtClean="0"/>
              <a:t/>
            </a:r>
            <a:br>
              <a:rPr lang="en-US" altLang="en-US" smtClean="0"/>
            </a:br>
            <a:endParaRPr lang="en-US" altLang="en-US" smtClean="0"/>
          </a:p>
        </p:txBody>
      </p:sp>
      <p:sp>
        <p:nvSpPr>
          <p:cNvPr id="20484" name="Slide Number Placeholder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CA14154-2CD8-4CA4-9FBC-1E8D94014D80}" type="slidenum">
              <a:rPr lang="en-US" altLang="en-US" sz="1400" smtClean="0"/>
              <a:pPr>
                <a:spcBef>
                  <a:spcPct val="0"/>
                </a:spcBef>
                <a:buClrTx/>
                <a:buSzTx/>
                <a:buFontTx/>
                <a:buNone/>
              </a:pPr>
              <a:t>17</a:t>
            </a:fld>
            <a:endParaRPr lang="en-US" altLang="en-US" sz="140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71BA7A1-DD7C-4D5E-B15B-3141A86D12EB}" type="slidenum">
              <a:rPr lang="en-US" altLang="en-US" sz="1400" smtClean="0"/>
              <a:pPr>
                <a:spcBef>
                  <a:spcPct val="0"/>
                </a:spcBef>
                <a:buClrTx/>
                <a:buSzTx/>
                <a:buFontTx/>
                <a:buNone/>
              </a:pPr>
              <a:t>18</a:t>
            </a:fld>
            <a:endParaRPr lang="en-US" altLang="en-US" sz="1400" smtClean="0"/>
          </a:p>
        </p:txBody>
      </p:sp>
      <p:sp>
        <p:nvSpPr>
          <p:cNvPr id="21507" name="Rectangle 2"/>
          <p:cNvSpPr>
            <a:spLocks noGrp="1" noChangeArrowheads="1"/>
          </p:cNvSpPr>
          <p:nvPr>
            <p:ph type="title"/>
          </p:nvPr>
        </p:nvSpPr>
        <p:spPr>
          <a:xfrm>
            <a:off x="685800" y="152400"/>
            <a:ext cx="7772400" cy="685800"/>
          </a:xfrm>
        </p:spPr>
        <p:txBody>
          <a:bodyPr/>
          <a:lstStyle/>
          <a:p>
            <a:r>
              <a:rPr lang="en-US" altLang="en-US" sz="4000" smtClean="0"/>
              <a:t>The Delegation Model</a:t>
            </a:r>
            <a:endParaRPr lang="en-US" altLang="en-US" sz="4000" b="1" smtClean="0"/>
          </a:p>
        </p:txBody>
      </p:sp>
      <p:sp>
        <p:nvSpPr>
          <p:cNvPr id="21508" name="Rectangle 5"/>
          <p:cNvSpPr>
            <a:spLocks noChangeArrowheads="1"/>
          </p:cNvSpPr>
          <p:nvPr/>
        </p:nvSpPr>
        <p:spPr bwMode="auto">
          <a:xfrm>
            <a:off x="1970088" y="2255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09" name="Rectangle 7"/>
          <p:cNvSpPr>
            <a:spLocks noChangeArrowheads="1"/>
          </p:cNvSpPr>
          <p:nvPr/>
        </p:nvSpPr>
        <p:spPr bwMode="auto">
          <a:xfrm>
            <a:off x="0" y="2647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0" name="Rectangle 9"/>
          <p:cNvSpPr>
            <a:spLocks noChangeArrowheads="1"/>
          </p:cNvSpPr>
          <p:nvPr/>
        </p:nvSpPr>
        <p:spPr bwMode="auto">
          <a:xfrm>
            <a:off x="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1" name="Rectangle 12"/>
          <p:cNvSpPr>
            <a:spLocks noChangeArrowheads="1"/>
          </p:cNvSpPr>
          <p:nvPr/>
        </p:nvSpPr>
        <p:spPr bwMode="auto">
          <a:xfrm>
            <a:off x="0" y="2647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2" name="Rectangle 13"/>
          <p:cNvSpPr>
            <a:spLocks noChangeArrowheads="1"/>
          </p:cNvSpPr>
          <p:nvPr/>
        </p:nvSpPr>
        <p:spPr bwMode="auto">
          <a:xfrm>
            <a:off x="0" y="3981450"/>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1513" name="Rectangle 15"/>
          <p:cNvSpPr>
            <a:spLocks noChangeArrowheads="1"/>
          </p:cNvSpPr>
          <p:nvPr/>
        </p:nvSpPr>
        <p:spPr bwMode="auto">
          <a:xfrm>
            <a:off x="0"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5">
            <a:extLst>
              <a:ext uri="{FF2B5EF4-FFF2-40B4-BE49-F238E27FC236}">
                <a16:creationId xmlns:a16="http://schemas.microsoft.com/office/drawing/2014/main" id="{EE07EB92-7217-4F99-A0D9-683C7425DE1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4" name="Rectangle 7">
            <a:extLst>
              <a:ext uri="{FF2B5EF4-FFF2-40B4-BE49-F238E27FC236}">
                <a16:creationId xmlns:a16="http://schemas.microsoft.com/office/drawing/2014/main" id="{C5AC1489-86F2-45CF-B9E4-BA6B6DBCE216}"/>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 name="Rectangle 9">
            <a:extLst>
              <a:ext uri="{FF2B5EF4-FFF2-40B4-BE49-F238E27FC236}">
                <a16:creationId xmlns:a16="http://schemas.microsoft.com/office/drawing/2014/main" id="{E1E86E30-C58B-408C-B23F-78D003DC7FA0}"/>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8" name="Rectangle 11">
            <a:extLst>
              <a:ext uri="{FF2B5EF4-FFF2-40B4-BE49-F238E27FC236}">
                <a16:creationId xmlns:a16="http://schemas.microsoft.com/office/drawing/2014/main" id="{0168D78E-A3DC-44C8-AACF-773FAA38A628}"/>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pic>
        <p:nvPicPr>
          <p:cNvPr id="21518"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7600"/>
            <a:ext cx="9144000" cy="406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A94B346-021F-4469-AABF-A8F4EEBEBE2F}" type="slidenum">
              <a:rPr lang="en-US" altLang="en-US" sz="1400" smtClean="0"/>
              <a:pPr>
                <a:spcBef>
                  <a:spcPct val="0"/>
                </a:spcBef>
                <a:buClrTx/>
                <a:buSzTx/>
                <a:buFontTx/>
                <a:buNone/>
              </a:pPr>
              <a:t>19</a:t>
            </a:fld>
            <a:endParaRPr lang="en-US" altLang="en-US" sz="1400" smtClean="0"/>
          </a:p>
        </p:txBody>
      </p:sp>
      <p:sp>
        <p:nvSpPr>
          <p:cNvPr id="22531" name="Rectangle 2"/>
          <p:cNvSpPr>
            <a:spLocks noGrp="1" noChangeArrowheads="1"/>
          </p:cNvSpPr>
          <p:nvPr>
            <p:ph type="title"/>
          </p:nvPr>
        </p:nvSpPr>
        <p:spPr>
          <a:xfrm>
            <a:off x="685800" y="0"/>
            <a:ext cx="7772400" cy="1428750"/>
          </a:xfrm>
        </p:spPr>
        <p:txBody>
          <a:bodyPr/>
          <a:lstStyle/>
          <a:p>
            <a:r>
              <a:rPr lang="en-US" altLang="en-US" smtClean="0"/>
              <a:t>The Delegation Model: Example</a:t>
            </a:r>
            <a:endParaRPr lang="en-US" altLang="en-US" b="1" smtClean="0"/>
          </a:p>
        </p:txBody>
      </p:sp>
      <p:sp>
        <p:nvSpPr>
          <p:cNvPr id="22532" name="Rectangle 3"/>
          <p:cNvSpPr>
            <a:spLocks noChangeArrowheads="1"/>
          </p:cNvSpPr>
          <p:nvPr/>
        </p:nvSpPr>
        <p:spPr bwMode="auto">
          <a:xfrm>
            <a:off x="1970088" y="22558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3" name="Rectangle 6"/>
          <p:cNvSpPr>
            <a:spLocks noChangeArrowheads="1"/>
          </p:cNvSpPr>
          <p:nvPr/>
        </p:nvSpPr>
        <p:spPr bwMode="auto">
          <a:xfrm>
            <a:off x="1971675" y="2819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2534" name="Text Box 7"/>
          <p:cNvSpPr txBox="1">
            <a:spLocks noChangeArrowheads="1"/>
          </p:cNvSpPr>
          <p:nvPr/>
        </p:nvSpPr>
        <p:spPr bwMode="auto">
          <a:xfrm>
            <a:off x="266700" y="1825625"/>
            <a:ext cx="8610600"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b="1">
                <a:solidFill>
                  <a:schemeClr val="bg2"/>
                </a:solidFill>
                <a:latin typeface="Courier New" panose="02070309020205020404" pitchFamily="49" charset="0"/>
                <a:cs typeface="Courier New" panose="02070309020205020404" pitchFamily="49" charset="0"/>
              </a:rPr>
              <a:t>Button btOK = new Button("OK");</a:t>
            </a:r>
          </a:p>
          <a:p>
            <a:pPr>
              <a:spcBef>
                <a:spcPct val="50000"/>
              </a:spcBef>
              <a:buClrTx/>
              <a:buSzTx/>
              <a:buFontTx/>
              <a:buNone/>
            </a:pPr>
            <a:r>
              <a:rPr lang="en-US" altLang="en-US" sz="2400" b="1">
                <a:solidFill>
                  <a:schemeClr val="bg2"/>
                </a:solidFill>
                <a:latin typeface="Courier New" panose="02070309020205020404" pitchFamily="49" charset="0"/>
                <a:cs typeface="Courier New" panose="02070309020205020404" pitchFamily="49" charset="0"/>
              </a:rPr>
              <a:t>// create handler</a:t>
            </a:r>
          </a:p>
          <a:p>
            <a:pPr>
              <a:spcBef>
                <a:spcPct val="50000"/>
              </a:spcBef>
              <a:buClrTx/>
              <a:buSzTx/>
              <a:buFontTx/>
              <a:buNone/>
            </a:pPr>
            <a:r>
              <a:rPr lang="en-US" altLang="en-US" sz="2400" b="1">
                <a:solidFill>
                  <a:schemeClr val="bg2"/>
                </a:solidFill>
                <a:latin typeface="Courier New" panose="02070309020205020404" pitchFamily="49" charset="0"/>
                <a:cs typeface="Courier New" panose="02070309020205020404" pitchFamily="49" charset="0"/>
              </a:rPr>
              <a:t>OKHandlerClass handler = new OKHandlerClass();</a:t>
            </a:r>
            <a:endParaRPr lang="en-US" altLang="en-US" sz="2400" b="1">
              <a:solidFill>
                <a:schemeClr val="bg2"/>
              </a:solidFill>
              <a:latin typeface="Courier" charset="0"/>
              <a:cs typeface="Times New Roman" panose="02020603050405020304" pitchFamily="18" charset="0"/>
            </a:endParaRPr>
          </a:p>
          <a:p>
            <a:pPr>
              <a:spcBef>
                <a:spcPct val="50000"/>
              </a:spcBef>
              <a:buClrTx/>
              <a:buSzTx/>
              <a:buFontTx/>
              <a:buNone/>
            </a:pPr>
            <a:r>
              <a:rPr lang="en-US" altLang="en-US" sz="2400" b="1">
                <a:solidFill>
                  <a:schemeClr val="bg2"/>
                </a:solidFill>
                <a:latin typeface="Courier New" panose="02070309020205020404" pitchFamily="49" charset="0"/>
                <a:cs typeface="Courier New" panose="02070309020205020404" pitchFamily="49" charset="0"/>
              </a:rPr>
              <a:t>//register handler with the button</a:t>
            </a:r>
          </a:p>
          <a:p>
            <a:pPr>
              <a:spcBef>
                <a:spcPct val="50000"/>
              </a:spcBef>
              <a:buClrTx/>
              <a:buSzTx/>
              <a:buFontTx/>
              <a:buNone/>
            </a:pPr>
            <a:r>
              <a:rPr lang="en-US" altLang="en-US" sz="2400" b="1">
                <a:solidFill>
                  <a:schemeClr val="bg2"/>
                </a:solidFill>
                <a:latin typeface="Courier New" panose="02070309020205020404" pitchFamily="49" charset="0"/>
                <a:cs typeface="Courier New" panose="02070309020205020404" pitchFamily="49" charset="0"/>
              </a:rPr>
              <a:t>btOK.setOnAction(handler);</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869634D-3EFD-4FB5-8D80-E624BF496FE4}" type="slidenum">
              <a:rPr lang="en-US" altLang="en-US" sz="1400" smtClean="0"/>
              <a:pPr>
                <a:spcBef>
                  <a:spcPct val="0"/>
                </a:spcBef>
                <a:buClrTx/>
                <a:buSzTx/>
                <a:buFontTx/>
                <a:buNone/>
              </a:pPr>
              <a:t>20</a:t>
            </a:fld>
            <a:endParaRPr lang="en-US" altLang="en-US" sz="1400" smtClean="0"/>
          </a:p>
        </p:txBody>
      </p:sp>
      <p:sp>
        <p:nvSpPr>
          <p:cNvPr id="23555" name="Rectangle 2"/>
          <p:cNvSpPr>
            <a:spLocks noGrp="1" noChangeArrowheads="1"/>
          </p:cNvSpPr>
          <p:nvPr>
            <p:ph type="title"/>
          </p:nvPr>
        </p:nvSpPr>
        <p:spPr>
          <a:xfrm>
            <a:off x="0" y="152400"/>
            <a:ext cx="8991600" cy="1371600"/>
          </a:xfrm>
        </p:spPr>
        <p:txBody>
          <a:bodyPr/>
          <a:lstStyle/>
          <a:p>
            <a:r>
              <a:rPr lang="en-US" altLang="en-US" sz="4000" smtClean="0"/>
              <a:t>Example: ControlCircle</a:t>
            </a:r>
          </a:p>
        </p:txBody>
      </p:sp>
      <p:sp>
        <p:nvSpPr>
          <p:cNvPr id="23556" name="Rectangle 3"/>
          <p:cNvSpPr>
            <a:spLocks noGrp="1" noChangeArrowheads="1"/>
          </p:cNvSpPr>
          <p:nvPr>
            <p:ph type="body" idx="1"/>
          </p:nvPr>
        </p:nvSpPr>
        <p:spPr>
          <a:xfrm>
            <a:off x="609600" y="1752600"/>
            <a:ext cx="8077200" cy="1219200"/>
          </a:xfrm>
        </p:spPr>
        <p:txBody>
          <a:bodyPr/>
          <a:lstStyle/>
          <a:p>
            <a:pPr marL="0" indent="0">
              <a:spcBef>
                <a:spcPct val="50000"/>
              </a:spcBef>
              <a:buFont typeface="Monotype Sorts" pitchFamily="2" charset="2"/>
              <a:buNone/>
            </a:pPr>
            <a:r>
              <a:rPr lang="en-US" altLang="en-US" smtClean="0"/>
              <a:t>Now let us consider to write a program that uses two buttons to control the size of a circle. </a:t>
            </a:r>
          </a:p>
        </p:txBody>
      </p:sp>
      <p:sp>
        <p:nvSpPr>
          <p:cNvPr id="401414" name="AutoShape 6">
            <a:hlinkClick r:id="" action="ppaction://noaction" highlightClick="1"/>
            <a:extLst>
              <a:ext uri="{FF2B5EF4-FFF2-40B4-BE49-F238E27FC236}">
                <a16:creationId xmlns:a16="http://schemas.microsoft.com/office/drawing/2014/main" id="{2F8BF425-1FEB-4A02-A3E4-30DFB5871CC4}"/>
              </a:ext>
            </a:extLst>
          </p:cNvPr>
          <p:cNvSpPr>
            <a:spLocks noChangeArrowheads="1"/>
          </p:cNvSpPr>
          <p:nvPr/>
        </p:nvSpPr>
        <p:spPr bwMode="auto">
          <a:xfrm>
            <a:off x="1752600" y="5486400"/>
            <a:ext cx="3276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2" action="ppaction://program"/>
              </a:rPr>
              <a:t>ControlCircle</a:t>
            </a:r>
            <a:endParaRPr lang="en-US" altLang="en-US">
              <a:solidFill>
                <a:schemeClr val="accent1"/>
              </a:solidFill>
            </a:endParaRPr>
          </a:p>
        </p:txBody>
      </p:sp>
      <p:sp>
        <p:nvSpPr>
          <p:cNvPr id="23558" name="AutoShape 7">
            <a:hlinkClick r:id="rId3" action="ppaction://program" highlightClick="1"/>
          </p:cNvPr>
          <p:cNvSpPr>
            <a:spLocks noChangeArrowheads="1"/>
          </p:cNvSpPr>
          <p:nvPr/>
        </p:nvSpPr>
        <p:spPr bwMode="auto">
          <a:xfrm>
            <a:off x="5334000" y="5486400"/>
            <a:ext cx="32766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pic>
        <p:nvPicPr>
          <p:cNvPr id="23559"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3200400"/>
            <a:ext cx="207645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56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0" y="3200400"/>
            <a:ext cx="2076450" cy="1704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61" name="AutoShape 10">
            <a:hlinkClick r:id="rId6" highlightClick="1"/>
          </p:cNvPr>
          <p:cNvSpPr>
            <a:spLocks noChangeArrowheads="1"/>
          </p:cNvSpPr>
          <p:nvPr/>
        </p:nvSpPr>
        <p:spPr bwMode="auto">
          <a:xfrm>
            <a:off x="1143000" y="5486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E1087CF-840E-4282-9ED6-4EE7D1B8917A}" type="slidenum">
              <a:rPr lang="en-US" altLang="en-US" sz="1400" smtClean="0"/>
              <a:pPr>
                <a:spcBef>
                  <a:spcPct val="0"/>
                </a:spcBef>
                <a:buClrTx/>
                <a:buSzTx/>
                <a:buFontTx/>
                <a:buNone/>
              </a:pPr>
              <a:t>21</a:t>
            </a:fld>
            <a:endParaRPr lang="en-US" altLang="en-US" sz="1400" smtClean="0"/>
          </a:p>
        </p:txBody>
      </p:sp>
      <p:sp>
        <p:nvSpPr>
          <p:cNvPr id="24579" name="Rectangle 4"/>
          <p:cNvSpPr>
            <a:spLocks noChangeArrowheads="1"/>
          </p:cNvSpPr>
          <p:nvPr/>
        </p:nvSpPr>
        <p:spPr bwMode="auto">
          <a:xfrm>
            <a:off x="152400" y="0"/>
            <a:ext cx="830580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solidFill>
                  <a:srgbClr val="000000"/>
                </a:solidFill>
                <a:latin typeface="Courier New" panose="02070309020205020404" pitchFamily="49" charset="0"/>
              </a:rPr>
              <a:t>import javafx.application.Application;</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javafx.stage.Stage;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javafx.scene.Scene;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javafx.scene.layout.*;</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javafx.scene.control.Button;</a:t>
            </a:r>
            <a:br>
              <a:rPr lang="en-US" altLang="en-US" sz="1200" b="1">
                <a:solidFill>
                  <a:srgbClr val="000000"/>
                </a:solidFill>
                <a:latin typeface="Courier New" panose="02070309020205020404" pitchFamily="49" charset="0"/>
              </a:rPr>
            </a:br>
            <a:r>
              <a:rPr lang="en-US" altLang="en-US" sz="1200" b="1">
                <a:solidFill>
                  <a:srgbClr val="FF0000"/>
                </a:solidFill>
                <a:latin typeface="Courier New" panose="02070309020205020404" pitchFamily="49" charset="0"/>
              </a:rPr>
              <a:t>import javafx.event.ActionEvent;</a:t>
            </a:r>
            <a:br>
              <a:rPr lang="en-US" altLang="en-US" sz="1200" b="1">
                <a:solidFill>
                  <a:srgbClr val="FF0000"/>
                </a:solidFill>
                <a:latin typeface="Courier New" panose="02070309020205020404" pitchFamily="49" charset="0"/>
              </a:rPr>
            </a:br>
            <a:r>
              <a:rPr lang="en-US" altLang="en-US" sz="1200" b="1">
                <a:solidFill>
                  <a:srgbClr val="FF0000"/>
                </a:solidFill>
                <a:latin typeface="Courier New" panose="02070309020205020404" pitchFamily="49" charset="0"/>
              </a:rPr>
              <a:t>import javafx.event.EventHandler;</a:t>
            </a:r>
            <a:br>
              <a:rPr lang="en-US" altLang="en-US" sz="1200" b="1">
                <a:solidFill>
                  <a:srgbClr val="FF0000"/>
                </a:solidFill>
                <a:latin typeface="Courier New" panose="02070309020205020404" pitchFamily="49" charset="0"/>
              </a:rPr>
            </a:br>
            <a:r>
              <a:rPr lang="en-US" altLang="en-US" sz="1200" b="1">
                <a:solidFill>
                  <a:srgbClr val="000000"/>
                </a:solidFill>
                <a:latin typeface="Courier New" panose="02070309020205020404" pitchFamily="49" charset="0"/>
              </a:rPr>
              <a:t>import javafx.geometry.Pos;</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javafx.scene.paint.Color; </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javafx.scene.shape.Circle;</a:t>
            </a:r>
          </a:p>
          <a:p>
            <a:pPr>
              <a:spcBef>
                <a:spcPct val="0"/>
              </a:spcBef>
              <a:buClrTx/>
              <a:buSzTx/>
              <a:buFontTx/>
              <a:buNone/>
            </a:pPr>
            <a:r>
              <a:rPr lang="en-US" altLang="en-US" sz="1400" b="1">
                <a:solidFill>
                  <a:srgbClr val="000000"/>
                </a:solidFill>
                <a:latin typeface="Courier New" panose="02070309020205020404" pitchFamily="49" charset="0"/>
              </a:rPr>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public class ControlCircle extends Application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private CirclePane circlePane = new CirclePane();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@Override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void start(Stage primaryStage)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 hBox = new HBox();</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btEnlarge = new Button("Enlarge");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btShrink = new Button("Shrink");</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hBox.getChildren().add(btEnlarge);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hBox.getChildren().add(btShrink);</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r>
              <a:rPr lang="en-US" altLang="en-US" sz="1400" b="1">
                <a:solidFill>
                  <a:srgbClr val="FF0000"/>
                </a:solidFill>
                <a:latin typeface="Courier New" panose="02070309020205020404" pitchFamily="49" charset="0"/>
              </a:rPr>
              <a:t>btEnlarge.setOnAction(new EnlargeHandler());</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r>
              <a:rPr lang="en-US" altLang="en-US" sz="1400" b="1">
                <a:solidFill>
                  <a:srgbClr val="000000"/>
                </a:solidFill>
                <a:latin typeface="Courier New" panose="02070309020205020404" pitchFamily="49" charset="0"/>
              </a:rPr>
              <a:t>BorderPane borderPane = new BorderPane();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borderPane.setCenter(circlePane);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borderPane.setBottom(hBox);</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BorderPane.setAlignment(hBox, Pos.CENTER);</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Scene scene = new Scene(borderPane, 200, 150);</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primaryStage.setScene(scene); primaryStage.show();</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br>
              <a:rPr lang="en-US" altLang="en-US" sz="1400" b="1">
                <a:solidFill>
                  <a:srgbClr val="000000"/>
                </a:solidFill>
                <a:latin typeface="Courier New" panose="02070309020205020404" pitchFamily="49" charset="0"/>
              </a:rPr>
            </a:br>
            <a:r>
              <a:rPr lang="en-US" altLang="en-US" sz="1400">
                <a:solidFill>
                  <a:srgbClr val="FFFFFF"/>
                </a:solidFill>
                <a:latin typeface="Franklin Gothic Book" panose="020B0503020102020204" pitchFamily="34" charset="0"/>
              </a:rPr>
              <a:t>14</a:t>
            </a:r>
            <a:r>
              <a:rPr lang="en-US" altLang="en-US" sz="2400"/>
              <a:t> </a:t>
            </a:r>
            <a:br>
              <a:rPr lang="en-US" altLang="en-US" sz="2400"/>
            </a:br>
            <a:endParaRPr lang="en-US" altLang="en-US" sz="2400"/>
          </a:p>
        </p:txBody>
      </p:sp>
      <p:pic>
        <p:nvPicPr>
          <p:cNvPr id="24580"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248400" y="12700"/>
            <a:ext cx="22860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Resim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78563" y="2057400"/>
            <a:ext cx="23145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7847495-ABB6-473D-B2BE-6C5145D9AAF2}" type="slidenum">
              <a:rPr lang="en-US" altLang="en-US" sz="1400" smtClean="0"/>
              <a:pPr>
                <a:spcBef>
                  <a:spcPct val="0"/>
                </a:spcBef>
                <a:buClrTx/>
                <a:buSzTx/>
                <a:buFontTx/>
                <a:buNone/>
              </a:pPr>
              <a:t>22</a:t>
            </a:fld>
            <a:endParaRPr lang="en-US" altLang="en-US" sz="1400" smtClean="0"/>
          </a:p>
        </p:txBody>
      </p:sp>
      <p:sp>
        <p:nvSpPr>
          <p:cNvPr id="25603" name="Rectangle 4"/>
          <p:cNvSpPr>
            <a:spLocks noChangeArrowheads="1"/>
          </p:cNvSpPr>
          <p:nvPr/>
        </p:nvSpPr>
        <p:spPr bwMode="auto">
          <a:xfrm>
            <a:off x="152400" y="133350"/>
            <a:ext cx="8610600" cy="637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600" b="1">
                <a:solidFill>
                  <a:srgbClr val="FF0000"/>
                </a:solidFill>
                <a:latin typeface="Courier New" panose="02070309020205020404" pitchFamily="49" charset="0"/>
              </a:rPr>
              <a:t>  //inner class</a:t>
            </a:r>
          </a:p>
          <a:p>
            <a:pPr>
              <a:spcBef>
                <a:spcPct val="0"/>
              </a:spcBef>
              <a:buClrTx/>
              <a:buSzTx/>
              <a:buFontTx/>
              <a:buNone/>
            </a:pPr>
            <a:r>
              <a:rPr lang="en-US" altLang="en-US" sz="1600" b="1">
                <a:solidFill>
                  <a:srgbClr val="FF0000"/>
                </a:solidFill>
                <a:latin typeface="Courier New" panose="02070309020205020404" pitchFamily="49" charset="0"/>
              </a:rPr>
              <a:t>  class EnlargeHandler implements EventHandler&lt;ActionEvent&gt; {</a:t>
            </a:r>
            <a:br>
              <a:rPr lang="en-US" altLang="en-US" sz="1600" b="1">
                <a:solidFill>
                  <a:srgbClr val="FF0000"/>
                </a:solidFill>
                <a:latin typeface="Courier New" panose="02070309020205020404" pitchFamily="49" charset="0"/>
              </a:rPr>
            </a:br>
            <a:r>
              <a:rPr lang="en-US" altLang="en-US" sz="1600" b="1">
                <a:solidFill>
                  <a:srgbClr val="FF0000"/>
                </a:solidFill>
                <a:latin typeface="Courier New" panose="02070309020205020404" pitchFamily="49" charset="0"/>
              </a:rPr>
              <a:t>    @Override</a:t>
            </a:r>
            <a:br>
              <a:rPr lang="en-US" altLang="en-US" sz="1600" b="1">
                <a:solidFill>
                  <a:srgbClr val="FF0000"/>
                </a:solidFill>
                <a:latin typeface="Courier New" panose="02070309020205020404" pitchFamily="49" charset="0"/>
              </a:rPr>
            </a:br>
            <a:r>
              <a:rPr lang="en-US" altLang="en-US" sz="1600" b="1">
                <a:solidFill>
                  <a:srgbClr val="FF0000"/>
                </a:solidFill>
                <a:latin typeface="Courier New" panose="02070309020205020404" pitchFamily="49" charset="0"/>
              </a:rPr>
              <a:t>    public void handle(ActionEvent e) {</a:t>
            </a:r>
            <a:br>
              <a:rPr lang="en-US" altLang="en-US" sz="1600" b="1">
                <a:solidFill>
                  <a:srgbClr val="FF0000"/>
                </a:solidFill>
                <a:latin typeface="Courier New" panose="02070309020205020404" pitchFamily="49" charset="0"/>
              </a:rPr>
            </a:br>
            <a:r>
              <a:rPr lang="en-US" altLang="en-US" sz="1600" b="1">
                <a:solidFill>
                  <a:srgbClr val="FF0000"/>
                </a:solidFill>
                <a:latin typeface="Courier New" panose="02070309020205020404" pitchFamily="49" charset="0"/>
              </a:rPr>
              <a:t>      circlePane.enlarge();</a:t>
            </a:r>
            <a:br>
              <a:rPr lang="en-US" altLang="en-US" sz="1600" b="1">
                <a:solidFill>
                  <a:srgbClr val="FF0000"/>
                </a:solidFill>
                <a:latin typeface="Courier New" panose="02070309020205020404" pitchFamily="49" charset="0"/>
              </a:rPr>
            </a:br>
            <a:r>
              <a:rPr lang="en-US" altLang="en-US" sz="1600" b="1">
                <a:solidFill>
                  <a:srgbClr val="FF0000"/>
                </a:solidFill>
                <a:latin typeface="Courier New" panose="02070309020205020404" pitchFamily="49" charset="0"/>
              </a:rPr>
              <a:t>    }</a:t>
            </a:r>
            <a:br>
              <a:rPr lang="en-US" altLang="en-US" sz="1600" b="1">
                <a:solidFill>
                  <a:srgbClr val="FF0000"/>
                </a:solidFill>
                <a:latin typeface="Courier New" panose="02070309020205020404" pitchFamily="49" charset="0"/>
              </a:rPr>
            </a:br>
            <a:r>
              <a:rPr lang="en-US" altLang="en-US" sz="1600" b="1">
                <a:solidFill>
                  <a:srgbClr val="FF0000"/>
                </a:solidFill>
                <a:latin typeface="Courier New" panose="02070309020205020404" pitchFamily="49" charset="0"/>
              </a:rPr>
              <a:t>  }</a:t>
            </a:r>
          </a:p>
          <a:p>
            <a:pPr>
              <a:spcBef>
                <a:spcPct val="0"/>
              </a:spcBef>
              <a:buClrTx/>
              <a:buSzTx/>
              <a:buFontTx/>
              <a:buNone/>
            </a:pPr>
            <a:r>
              <a:rPr lang="en-US" altLang="en-US" sz="1600" b="1">
                <a:solidFill>
                  <a:srgbClr val="FF0000"/>
                </a:solidFill>
                <a:latin typeface="Courier New" panose="02070309020205020404" pitchFamily="49" charset="0"/>
              </a:rPr>
              <a:t>}</a:t>
            </a:r>
            <a:r>
              <a:rPr lang="en-US" altLang="en-US" sz="1600" b="1">
                <a:solidFill>
                  <a:srgbClr val="000000"/>
                </a:solidFill>
                <a:latin typeface="Courier New" panose="02070309020205020404" pitchFamily="49" charset="0"/>
              </a:rPr>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class CirclePane extends StackPane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private Circle circle = new Circle(50);</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public CirclePane()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getChildren().add(circle);</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circle.setStroke(Color.BLACK);</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circle.setFill(Color.WHITE);</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public void enlarge()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circle.setRadius(circle.getRadius() + 2);</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public void shrink()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circle.setRadius(circle.getRadius() &gt; 2 ?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circle.getRadius() - 2 : circle.getRadius());</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  }</a:t>
            </a:r>
            <a:br>
              <a:rPr lang="en-US" altLang="en-US" sz="1600" b="1">
                <a:solidFill>
                  <a:srgbClr val="000000"/>
                </a:solidFill>
                <a:latin typeface="Courier New" panose="02070309020205020404" pitchFamily="49" charset="0"/>
              </a:rPr>
            </a:br>
            <a:r>
              <a:rPr lang="en-US" altLang="en-US" sz="1600" b="1">
                <a:solidFill>
                  <a:srgbClr val="000000"/>
                </a:solidFill>
                <a:latin typeface="Courier New" panose="02070309020205020404" pitchFamily="49" charset="0"/>
              </a:rPr>
              <a:t>}</a:t>
            </a:r>
            <a:br>
              <a:rPr lang="en-US" altLang="en-US" sz="1600" b="1">
                <a:solidFill>
                  <a:srgbClr val="000000"/>
                </a:solidFill>
                <a:latin typeface="Courier New" panose="02070309020205020404" pitchFamily="49" charset="0"/>
              </a:rPr>
            </a:br>
            <a:r>
              <a:rPr lang="en-US" altLang="en-US" sz="1200">
                <a:solidFill>
                  <a:srgbClr val="FFFFFF"/>
                </a:solidFill>
                <a:latin typeface="Franklin Gothic Book" panose="020B0503020102020204" pitchFamily="34" charset="0"/>
              </a:rPr>
              <a:t>15</a:t>
            </a:r>
            <a:r>
              <a:rPr lang="en-US" altLang="en-US" sz="2000"/>
              <a:t> </a:t>
            </a:r>
            <a:br>
              <a:rPr lang="en-US" altLang="en-US" sz="2000"/>
            </a:br>
            <a:endParaRPr lang="en-US" altLang="en-US" sz="2000"/>
          </a:p>
        </p:txBody>
      </p:sp>
      <p:pic>
        <p:nvPicPr>
          <p:cNvPr id="25604" name="Picture 5"/>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80213" y="1066800"/>
            <a:ext cx="22860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Resim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10375" y="3111500"/>
            <a:ext cx="2314575"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Explain how to register a handler object and how to implement a handler interface.</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en-US" sz="2000" dirty="0">
                <a:solidFill>
                  <a:srgbClr val="0070C0"/>
                </a:solidFill>
                <a:latin typeface="Calibri" panose="020F0502020204030204" pitchFamily="34" charset="0"/>
                <a:cs typeface="Calibri" panose="020F0502020204030204" pitchFamily="34" charset="0"/>
              </a:rPr>
              <a:t>To register a handler object, you invoke the source object's registration method; for example, </a:t>
            </a:r>
            <a:r>
              <a:rPr lang="en-US" sz="2000" dirty="0" err="1" smtClean="0">
                <a:solidFill>
                  <a:srgbClr val="0070C0"/>
                </a:solidFill>
                <a:latin typeface="Calibri" panose="020F0502020204030204" pitchFamily="34" charset="0"/>
                <a:cs typeface="Calibri" panose="020F0502020204030204" pitchFamily="34" charset="0"/>
              </a:rPr>
              <a:t>button.setOnAction</a:t>
            </a:r>
            <a:r>
              <a:rPr lang="en-US" sz="2000" dirty="0" smtClean="0">
                <a:solidFill>
                  <a:srgbClr val="0070C0"/>
                </a:solidFill>
                <a:latin typeface="Calibri" panose="020F0502020204030204" pitchFamily="34" charset="0"/>
                <a:cs typeface="Calibri" panose="020F0502020204030204" pitchFamily="34" charset="0"/>
              </a:rPr>
              <a:t>(handler</a:t>
            </a:r>
            <a:r>
              <a:rPr lang="en-US" sz="2000" dirty="0">
                <a:solidFill>
                  <a:srgbClr val="0070C0"/>
                </a:solidFill>
                <a:latin typeface="Calibri" panose="020F0502020204030204" pitchFamily="34" charset="0"/>
                <a:cs typeface="Calibri" panose="020F0502020204030204" pitchFamily="34" charset="0"/>
              </a:rPr>
              <a:t>) for registering a handler for a button action event. To implement a handler interface, you implement the method defined in the handler interface.</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23</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59887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924800" cy="4741863"/>
          </a:xfrm>
        </p:spPr>
        <p:txBody>
          <a:bodyPr>
            <a:normAutofit/>
          </a:bodyPr>
          <a:lstStyle/>
          <a:p>
            <a:r>
              <a:rPr lang="en-US" sz="2000" dirty="0">
                <a:latin typeface="Calibri" panose="020F0502020204030204" pitchFamily="34" charset="0"/>
                <a:cs typeface="Calibri" panose="020F0502020204030204" pitchFamily="34" charset="0"/>
              </a:rPr>
              <a:t>What is the handler method for the </a:t>
            </a:r>
            <a:r>
              <a:rPr lang="en-US" sz="2000" dirty="0" err="1">
                <a:latin typeface="Calibri" panose="020F0502020204030204" pitchFamily="34" charset="0"/>
                <a:cs typeface="Calibri" panose="020F0502020204030204" pitchFamily="34" charset="0"/>
              </a:rPr>
              <a:t>EventHandler</a:t>
            </a:r>
            <a:r>
              <a:rPr lang="en-US" sz="2000" dirty="0">
                <a:latin typeface="Calibri" panose="020F0502020204030204" pitchFamily="34" charset="0"/>
                <a:cs typeface="Calibri" panose="020F0502020204030204" pitchFamily="34" charset="0"/>
              </a:rPr>
              <a:t>&lt;</a:t>
            </a:r>
            <a:r>
              <a:rPr lang="en-US" sz="2000" dirty="0" err="1">
                <a:latin typeface="Calibri" panose="020F0502020204030204" pitchFamily="34" charset="0"/>
                <a:cs typeface="Calibri" panose="020F0502020204030204" pitchFamily="34" charset="0"/>
              </a:rPr>
              <a:t>ActionEvent</a:t>
            </a:r>
            <a:r>
              <a:rPr lang="en-US" sz="2000" dirty="0">
                <a:latin typeface="Calibri" panose="020F0502020204030204" pitchFamily="34" charset="0"/>
                <a:cs typeface="Calibri" panose="020F0502020204030204" pitchFamily="34" charset="0"/>
              </a:rPr>
              <a:t>&gt; interface?</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tr-TR" sz="2000" dirty="0" smtClean="0">
                <a:solidFill>
                  <a:srgbClr val="0070C0"/>
                </a:solidFill>
                <a:latin typeface="Calibri" panose="020F0502020204030204" pitchFamily="34" charset="0"/>
                <a:cs typeface="Calibri" panose="020F0502020204030204" pitchFamily="34" charset="0"/>
              </a:rPr>
              <a:t>T</a:t>
            </a:r>
            <a:r>
              <a:rPr lang="en-US" sz="2000" dirty="0" smtClean="0">
                <a:solidFill>
                  <a:srgbClr val="0070C0"/>
                </a:solidFill>
                <a:latin typeface="Calibri" panose="020F0502020204030204" pitchFamily="34" charset="0"/>
                <a:cs typeface="Calibri" panose="020F0502020204030204" pitchFamily="34" charset="0"/>
              </a:rPr>
              <a:t>he </a:t>
            </a:r>
            <a:r>
              <a:rPr lang="en-US" sz="2000" dirty="0">
                <a:solidFill>
                  <a:srgbClr val="0070C0"/>
                </a:solidFill>
                <a:latin typeface="Calibri" panose="020F0502020204030204" pitchFamily="34" charset="0"/>
                <a:cs typeface="Calibri" panose="020F0502020204030204" pitchFamily="34" charset="0"/>
              </a:rPr>
              <a:t>handler method for the </a:t>
            </a:r>
            <a:r>
              <a:rPr lang="en-US" sz="2000" dirty="0" smtClean="0">
                <a:solidFill>
                  <a:srgbClr val="0070C0"/>
                </a:solidFill>
                <a:latin typeface="Calibri" panose="020F0502020204030204" pitchFamily="34" charset="0"/>
                <a:cs typeface="Calibri" panose="020F0502020204030204" pitchFamily="34" charset="0"/>
              </a:rPr>
              <a:t>Eve</a:t>
            </a:r>
            <a:r>
              <a:rPr lang="tr-TR" sz="2000" dirty="0" smtClean="0">
                <a:solidFill>
                  <a:srgbClr val="0070C0"/>
                </a:solidFill>
                <a:latin typeface="Calibri" panose="020F0502020204030204" pitchFamily="34" charset="0"/>
                <a:cs typeface="Calibri" panose="020F0502020204030204" pitchFamily="34" charset="0"/>
              </a:rPr>
              <a:t>n</a:t>
            </a:r>
            <a:r>
              <a:rPr lang="en-US" sz="2000" dirty="0" err="1" smtClean="0">
                <a:solidFill>
                  <a:srgbClr val="0070C0"/>
                </a:solidFill>
                <a:latin typeface="Calibri" panose="020F0502020204030204" pitchFamily="34" charset="0"/>
                <a:cs typeface="Calibri" panose="020F0502020204030204" pitchFamily="34" charset="0"/>
              </a:rPr>
              <a:t>tHandler</a:t>
            </a:r>
            <a:r>
              <a:rPr lang="en-US" sz="2000" dirty="0" smtClean="0">
                <a:solidFill>
                  <a:srgbClr val="0070C0"/>
                </a:solidFill>
                <a:latin typeface="Calibri" panose="020F0502020204030204" pitchFamily="34" charset="0"/>
                <a:cs typeface="Calibri" panose="020F0502020204030204" pitchFamily="34" charset="0"/>
              </a:rPr>
              <a:t>&lt;T </a:t>
            </a:r>
            <a:r>
              <a:rPr lang="en-US" sz="2000" dirty="0">
                <a:solidFill>
                  <a:srgbClr val="0070C0"/>
                </a:solidFill>
                <a:latin typeface="Calibri" panose="020F0502020204030204" pitchFamily="34" charset="0"/>
                <a:cs typeface="Calibri" panose="020F0502020204030204" pitchFamily="34" charset="0"/>
              </a:rPr>
              <a:t>extends Event&gt; interface is</a:t>
            </a:r>
          </a:p>
          <a:p>
            <a:pPr marL="0" indent="0">
              <a:buNone/>
            </a:pPr>
            <a:r>
              <a:rPr lang="tr-TR" sz="2000" dirty="0">
                <a:solidFill>
                  <a:srgbClr val="0070C0"/>
                </a:solidFill>
                <a:latin typeface="Calibri" panose="020F0502020204030204" pitchFamily="34" charset="0"/>
                <a:cs typeface="Calibri" panose="020F0502020204030204" pitchFamily="34" charset="0"/>
              </a:rPr>
              <a:t> </a:t>
            </a:r>
            <a:r>
              <a:rPr lang="tr-TR" sz="2000" dirty="0" smtClean="0">
                <a:solidFill>
                  <a:srgbClr val="0070C0"/>
                </a:solidFill>
                <a:latin typeface="Calibri" panose="020F0502020204030204" pitchFamily="34" charset="0"/>
                <a:cs typeface="Calibri" panose="020F0502020204030204" pitchFamily="34" charset="0"/>
              </a:rPr>
              <a:t>     </a:t>
            </a:r>
            <a:r>
              <a:rPr lang="en-US" sz="2000" dirty="0" smtClean="0">
                <a:solidFill>
                  <a:srgbClr val="0070C0"/>
                </a:solidFill>
                <a:latin typeface="Calibri" panose="020F0502020204030204" pitchFamily="34" charset="0"/>
                <a:cs typeface="Calibri" panose="020F0502020204030204" pitchFamily="34" charset="0"/>
              </a:rPr>
              <a:t>public </a:t>
            </a:r>
            <a:r>
              <a:rPr lang="en-US" sz="2000" dirty="0">
                <a:solidFill>
                  <a:srgbClr val="0070C0"/>
                </a:solidFill>
                <a:latin typeface="Calibri" panose="020F0502020204030204" pitchFamily="34" charset="0"/>
                <a:cs typeface="Calibri" panose="020F0502020204030204" pitchFamily="34" charset="0"/>
              </a:rPr>
              <a:t>void handle(T)</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24</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16109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What is the registration method for a button to register an </a:t>
            </a:r>
            <a:r>
              <a:rPr lang="en-US" sz="2000" dirty="0" err="1">
                <a:latin typeface="Calibri" panose="020F0502020204030204" pitchFamily="34" charset="0"/>
                <a:cs typeface="Calibri" panose="020F0502020204030204" pitchFamily="34" charset="0"/>
              </a:rPr>
              <a:t>ActionEvent</a:t>
            </a:r>
            <a:r>
              <a:rPr lang="en-US" sz="2000" dirty="0">
                <a:latin typeface="Calibri" panose="020F0502020204030204" pitchFamily="34" charset="0"/>
                <a:cs typeface="Calibri" panose="020F0502020204030204" pitchFamily="34" charset="0"/>
              </a:rPr>
              <a:t> handler?</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en-US" sz="2000" dirty="0">
                <a:solidFill>
                  <a:srgbClr val="0070C0"/>
                </a:solidFill>
                <a:latin typeface="Calibri" panose="020F0502020204030204" pitchFamily="34" charset="0"/>
                <a:cs typeface="Calibri" panose="020F0502020204030204" pitchFamily="34" charset="0"/>
              </a:rPr>
              <a:t>The method for a button to register an </a:t>
            </a:r>
            <a:r>
              <a:rPr lang="en-US" sz="2000" dirty="0" err="1">
                <a:solidFill>
                  <a:srgbClr val="0070C0"/>
                </a:solidFill>
                <a:latin typeface="Calibri" panose="020F0502020204030204" pitchFamily="34" charset="0"/>
                <a:cs typeface="Calibri" panose="020F0502020204030204" pitchFamily="34" charset="0"/>
              </a:rPr>
              <a:t>ActionEvent</a:t>
            </a:r>
            <a:r>
              <a:rPr lang="en-US" sz="2000" dirty="0">
                <a:solidFill>
                  <a:srgbClr val="0070C0"/>
                </a:solidFill>
                <a:latin typeface="Calibri" panose="020F0502020204030204" pitchFamily="34" charset="0"/>
                <a:cs typeface="Calibri" panose="020F0502020204030204" pitchFamily="34" charset="0"/>
              </a:rPr>
              <a:t> is</a:t>
            </a:r>
          </a:p>
          <a:p>
            <a:pPr marL="0" indent="0">
              <a:buNone/>
            </a:pPr>
            <a:r>
              <a:rPr lang="tr-TR" sz="2000" dirty="0" smtClean="0">
                <a:solidFill>
                  <a:srgbClr val="0070C0"/>
                </a:solidFill>
                <a:latin typeface="Calibri" panose="020F0502020204030204" pitchFamily="34" charset="0"/>
                <a:cs typeface="Calibri" panose="020F0502020204030204" pitchFamily="34" charset="0"/>
              </a:rPr>
              <a:t>      </a:t>
            </a:r>
            <a:r>
              <a:rPr lang="en-US" sz="2000" dirty="0" err="1" smtClean="0">
                <a:solidFill>
                  <a:srgbClr val="0070C0"/>
                </a:solidFill>
                <a:latin typeface="Calibri" panose="020F0502020204030204" pitchFamily="34" charset="0"/>
                <a:cs typeface="Calibri" panose="020F0502020204030204" pitchFamily="34" charset="0"/>
              </a:rPr>
              <a:t>button.setOnAction</a:t>
            </a:r>
            <a:r>
              <a:rPr lang="en-US" sz="2000" dirty="0" smtClean="0">
                <a:solidFill>
                  <a:srgbClr val="0070C0"/>
                </a:solidFill>
                <a:latin typeface="Calibri" panose="020F0502020204030204" pitchFamily="34" charset="0"/>
                <a:cs typeface="Calibri" panose="020F0502020204030204" pitchFamily="34" charset="0"/>
              </a:rPr>
              <a:t>(handler</a:t>
            </a:r>
            <a:r>
              <a:rPr lang="en-US" sz="2000" dirty="0">
                <a:solidFill>
                  <a:srgbClr val="0070C0"/>
                </a:solidFill>
                <a:latin typeface="Calibri" panose="020F0502020204030204" pitchFamily="34" charset="0"/>
                <a:cs typeface="Calibri" panose="020F0502020204030204" pitchFamily="34" charset="0"/>
              </a:rPr>
              <a:t>)</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25</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5439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5A6DD2B-1A05-456D-B5A3-B5086147074C}" type="slidenum">
              <a:rPr lang="en-US" altLang="en-US" sz="1400" smtClean="0"/>
              <a:pPr>
                <a:spcBef>
                  <a:spcPct val="0"/>
                </a:spcBef>
                <a:buClrTx/>
                <a:buSzTx/>
                <a:buFontTx/>
                <a:buNone/>
              </a:pPr>
              <a:t>26</a:t>
            </a:fld>
            <a:endParaRPr lang="en-US" altLang="en-US" sz="1400" smtClean="0"/>
          </a:p>
        </p:txBody>
      </p:sp>
      <p:sp>
        <p:nvSpPr>
          <p:cNvPr id="26627" name="Rectangle 2"/>
          <p:cNvSpPr>
            <a:spLocks noGrp="1" noChangeArrowheads="1"/>
          </p:cNvSpPr>
          <p:nvPr>
            <p:ph type="title"/>
          </p:nvPr>
        </p:nvSpPr>
        <p:spPr>
          <a:xfrm>
            <a:off x="685800" y="0"/>
            <a:ext cx="7772400" cy="1428750"/>
          </a:xfrm>
        </p:spPr>
        <p:txBody>
          <a:bodyPr/>
          <a:lstStyle/>
          <a:p>
            <a:r>
              <a:rPr lang="en-US" altLang="en-US" smtClean="0"/>
              <a:t>Inner Class Listeners</a:t>
            </a:r>
          </a:p>
        </p:txBody>
      </p:sp>
      <p:sp>
        <p:nvSpPr>
          <p:cNvPr id="26628" name="Rectangle 3"/>
          <p:cNvSpPr>
            <a:spLocks noGrp="1" noChangeArrowheads="1"/>
          </p:cNvSpPr>
          <p:nvPr>
            <p:ph type="body" idx="1"/>
          </p:nvPr>
        </p:nvSpPr>
        <p:spPr>
          <a:xfrm>
            <a:off x="609600" y="1371600"/>
            <a:ext cx="8077200" cy="3657600"/>
          </a:xfrm>
        </p:spPr>
        <p:txBody>
          <a:bodyPr/>
          <a:lstStyle/>
          <a:p>
            <a:pPr>
              <a:spcBef>
                <a:spcPct val="50000"/>
              </a:spcBef>
              <a:buFont typeface="Arial" panose="020B0604020202020204" pitchFamily="34" charset="0"/>
              <a:buChar char="•"/>
            </a:pPr>
            <a:r>
              <a:rPr lang="en-US" altLang="en-US" smtClean="0"/>
              <a:t>A listener class is designed specifically to create a listener object for a GUI component (e.g., a button). </a:t>
            </a:r>
          </a:p>
          <a:p>
            <a:pPr lvl="1">
              <a:spcBef>
                <a:spcPct val="50000"/>
              </a:spcBef>
              <a:buFont typeface="Arial" panose="020B0604020202020204" pitchFamily="34" charset="0"/>
              <a:buChar char="•"/>
            </a:pPr>
            <a:r>
              <a:rPr lang="en-US" altLang="en-US" smtClean="0"/>
              <a:t>It will not be shared by other applications. </a:t>
            </a:r>
          </a:p>
          <a:p>
            <a:pPr lvl="1">
              <a:spcBef>
                <a:spcPct val="50000"/>
              </a:spcBef>
              <a:buFont typeface="Arial" panose="020B0604020202020204" pitchFamily="34" charset="0"/>
              <a:buChar char="•"/>
            </a:pPr>
            <a:r>
              <a:rPr lang="en-US" altLang="en-US" smtClean="0"/>
              <a:t>So, it is appropriate to define the listener class inside the frame class as an inner class. </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50A9377-E15E-4A8C-B0EC-41FB6D60B11B}" type="slidenum">
              <a:rPr lang="en-US" altLang="en-US" sz="1400" smtClean="0"/>
              <a:pPr>
                <a:spcBef>
                  <a:spcPct val="0"/>
                </a:spcBef>
                <a:buClrTx/>
                <a:buSzTx/>
                <a:buFontTx/>
                <a:buNone/>
              </a:pPr>
              <a:t>27</a:t>
            </a:fld>
            <a:endParaRPr lang="en-US" altLang="en-US" sz="1400" smtClean="0"/>
          </a:p>
        </p:txBody>
      </p:sp>
      <p:sp>
        <p:nvSpPr>
          <p:cNvPr id="27651" name="Rectangle 2"/>
          <p:cNvSpPr>
            <a:spLocks noGrp="1" noChangeArrowheads="1"/>
          </p:cNvSpPr>
          <p:nvPr>
            <p:ph type="title"/>
          </p:nvPr>
        </p:nvSpPr>
        <p:spPr>
          <a:xfrm>
            <a:off x="685800" y="0"/>
            <a:ext cx="7772400" cy="1428750"/>
          </a:xfrm>
        </p:spPr>
        <p:txBody>
          <a:bodyPr/>
          <a:lstStyle/>
          <a:p>
            <a:r>
              <a:rPr lang="en-US" altLang="en-US" smtClean="0"/>
              <a:t>Inner Classes</a:t>
            </a:r>
          </a:p>
        </p:txBody>
      </p:sp>
      <p:sp>
        <p:nvSpPr>
          <p:cNvPr id="27652" name="Rectangle 3"/>
          <p:cNvSpPr>
            <a:spLocks noGrp="1" noChangeArrowheads="1"/>
          </p:cNvSpPr>
          <p:nvPr>
            <p:ph type="body" idx="1"/>
          </p:nvPr>
        </p:nvSpPr>
        <p:spPr>
          <a:xfrm>
            <a:off x="685800" y="1371600"/>
            <a:ext cx="8153400" cy="4953000"/>
          </a:xfrm>
        </p:spPr>
        <p:txBody>
          <a:bodyPr/>
          <a:lstStyle/>
          <a:p>
            <a:pPr algn="just">
              <a:spcBef>
                <a:spcPct val="50000"/>
              </a:spcBef>
              <a:buFont typeface="Arial" panose="020B0604020202020204" pitchFamily="34" charset="0"/>
              <a:buChar char="•"/>
            </a:pPr>
            <a:r>
              <a:rPr lang="en-US" altLang="en-US" sz="2800" smtClean="0"/>
              <a:t>Inner class: A class is a member of another class.</a:t>
            </a:r>
          </a:p>
          <a:p>
            <a:pPr algn="just">
              <a:spcBef>
                <a:spcPct val="50000"/>
              </a:spcBef>
              <a:buFont typeface="Arial" panose="020B0604020202020204" pitchFamily="34" charset="0"/>
              <a:buChar char="•"/>
            </a:pPr>
            <a:r>
              <a:rPr lang="en-US" altLang="en-US" sz="2800" smtClean="0"/>
              <a:t>Advantages: In some applications, you can use an inner class to make programs simple.</a:t>
            </a:r>
          </a:p>
          <a:p>
            <a:pPr algn="just">
              <a:spcBef>
                <a:spcPct val="50000"/>
              </a:spcBef>
              <a:buFont typeface="Arial" panose="020B0604020202020204" pitchFamily="34" charset="0"/>
              <a:buChar char="•"/>
            </a:pPr>
            <a:r>
              <a:rPr lang="en-US" altLang="en-US" sz="2800" smtClean="0"/>
              <a:t>An inner class can reference the data and methods defined in the outer class in which it nests, so you do not need to pass the reference of the outer class to the constructor of the inner class.</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AF2A5DC-2A40-49F7-AA53-3E63D411E4B8}" type="slidenum">
              <a:rPr lang="en-US" altLang="en-US" sz="1400" smtClean="0"/>
              <a:pPr>
                <a:spcBef>
                  <a:spcPct val="0"/>
                </a:spcBef>
                <a:buClrTx/>
                <a:buSzTx/>
                <a:buFontTx/>
                <a:buNone/>
              </a:pPr>
              <a:t>28</a:t>
            </a:fld>
            <a:endParaRPr lang="en-US" altLang="en-US" sz="1400" smtClean="0"/>
          </a:p>
        </p:txBody>
      </p:sp>
      <p:sp>
        <p:nvSpPr>
          <p:cNvPr id="28675" name="Rectangle 2"/>
          <p:cNvSpPr>
            <a:spLocks noGrp="1" noChangeArrowheads="1"/>
          </p:cNvSpPr>
          <p:nvPr>
            <p:ph type="title"/>
          </p:nvPr>
        </p:nvSpPr>
        <p:spPr>
          <a:xfrm>
            <a:off x="685800" y="304800"/>
            <a:ext cx="7772400" cy="609600"/>
          </a:xfrm>
        </p:spPr>
        <p:txBody>
          <a:bodyPr/>
          <a:lstStyle/>
          <a:p>
            <a:r>
              <a:rPr lang="en-US" altLang="en-US" sz="4000" smtClean="0"/>
              <a:t>Inner Classes, cont.</a:t>
            </a:r>
          </a:p>
        </p:txBody>
      </p:sp>
      <p:sp>
        <p:nvSpPr>
          <p:cNvPr id="28676" name="Rectangle 7"/>
          <p:cNvSpPr>
            <a:spLocks noChangeArrowheads="1"/>
          </p:cNvSpPr>
          <p:nvPr/>
        </p:nvSpPr>
        <p:spPr bwMode="auto">
          <a:xfrm>
            <a:off x="0" y="2171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2867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066800"/>
            <a:ext cx="8763000" cy="5165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34CAF9D-9C03-4476-A130-42867C52DD36}" type="slidenum">
              <a:rPr lang="en-US" altLang="en-US" sz="1400" smtClean="0"/>
              <a:pPr>
                <a:spcBef>
                  <a:spcPct val="0"/>
                </a:spcBef>
                <a:buClrTx/>
                <a:buSzTx/>
                <a:buFontTx/>
                <a:buNone/>
              </a:pPr>
              <a:t>29</a:t>
            </a:fld>
            <a:endParaRPr lang="en-US" altLang="en-US" sz="1400" smtClean="0"/>
          </a:p>
        </p:txBody>
      </p:sp>
      <p:sp>
        <p:nvSpPr>
          <p:cNvPr id="29699" name="Rectangle 2"/>
          <p:cNvSpPr>
            <a:spLocks noGrp="1" noChangeArrowheads="1"/>
          </p:cNvSpPr>
          <p:nvPr>
            <p:ph type="title"/>
          </p:nvPr>
        </p:nvSpPr>
        <p:spPr>
          <a:xfrm>
            <a:off x="685800" y="0"/>
            <a:ext cx="7772400" cy="1428750"/>
          </a:xfrm>
        </p:spPr>
        <p:txBody>
          <a:bodyPr/>
          <a:lstStyle/>
          <a:p>
            <a:r>
              <a:rPr lang="en-US" altLang="en-US" smtClean="0"/>
              <a:t>Inner Classes (cont.)</a:t>
            </a:r>
          </a:p>
        </p:txBody>
      </p:sp>
      <p:sp>
        <p:nvSpPr>
          <p:cNvPr id="29700" name="Rectangle 3">
            <a:extLst>
              <a:ext uri="{FF2B5EF4-FFF2-40B4-BE49-F238E27FC236}">
                <a16:creationId xmlns:a16="http://schemas.microsoft.com/office/drawing/2014/main" id="{5F5DC6EF-9E76-4240-980D-49C23BAB9528}"/>
              </a:ext>
            </a:extLst>
          </p:cNvPr>
          <p:cNvSpPr>
            <a:spLocks noGrp="1" noChangeArrowheads="1"/>
          </p:cNvSpPr>
          <p:nvPr>
            <p:ph type="body" idx="1"/>
          </p:nvPr>
        </p:nvSpPr>
        <p:spPr>
          <a:xfrm>
            <a:off x="685800" y="1371600"/>
            <a:ext cx="7467600" cy="4953000"/>
          </a:xfrm>
        </p:spPr>
        <p:txBody>
          <a:bodyPr/>
          <a:lstStyle/>
          <a:p>
            <a:pPr algn="just">
              <a:spcBef>
                <a:spcPct val="50000"/>
              </a:spcBef>
              <a:buFont typeface="Arial" panose="020B0604020202020204" pitchFamily="34" charset="0"/>
              <a:buChar char="•"/>
              <a:defRPr/>
            </a:pPr>
            <a:r>
              <a:rPr lang="en-US" altLang="en-US" sz="2800" dirty="0">
                <a:cs typeface="Times New Roman" panose="02020603050405020304" pitchFamily="18" charset="0"/>
              </a:rPr>
              <a:t>Inner classes can make programs simple and concise. </a:t>
            </a:r>
          </a:p>
          <a:p>
            <a:pPr algn="just">
              <a:spcBef>
                <a:spcPct val="50000"/>
              </a:spcBef>
              <a:buFont typeface="Arial" panose="020B0604020202020204" pitchFamily="34" charset="0"/>
              <a:buChar char="•"/>
              <a:defRPr/>
            </a:pPr>
            <a:r>
              <a:rPr lang="en-US" altLang="en-US" sz="2800" dirty="0">
                <a:cs typeface="Times New Roman" panose="02020603050405020304" pitchFamily="18" charset="0"/>
              </a:rPr>
              <a:t>An inner class supports the work of its containing outer class and is compiled into a class named</a:t>
            </a:r>
          </a:p>
          <a:p>
            <a:pPr marL="0" indent="0" algn="just">
              <a:spcBef>
                <a:spcPct val="50000"/>
              </a:spcBef>
              <a:buFont typeface="Monotype Sorts" pitchFamily="2" charset="2"/>
              <a:buNone/>
              <a:defRPr/>
            </a:pPr>
            <a:r>
              <a:rPr lang="en-US" altLang="en-US" sz="2800" dirty="0">
                <a:cs typeface="Times New Roman" panose="02020603050405020304" pitchFamily="18" charset="0"/>
              </a:rPr>
              <a:t>        </a:t>
            </a:r>
            <a:r>
              <a:rPr lang="en-US" altLang="en-US" sz="2800" i="1" dirty="0" err="1">
                <a:cs typeface="Times New Roman" panose="02020603050405020304" pitchFamily="18" charset="0"/>
              </a:rPr>
              <a:t>OuterClassName</a:t>
            </a:r>
            <a:r>
              <a:rPr lang="en-US" altLang="en-US" sz="2800" dirty="0" err="1">
                <a:cs typeface="Times New Roman" panose="02020603050405020304" pitchFamily="18" charset="0"/>
              </a:rPr>
              <a:t>$</a:t>
            </a:r>
            <a:r>
              <a:rPr lang="en-US" altLang="en-US" sz="2800" i="1" dirty="0" err="1">
                <a:cs typeface="Times New Roman" panose="02020603050405020304" pitchFamily="18" charset="0"/>
              </a:rPr>
              <a:t>InnerClassName</a:t>
            </a:r>
            <a:r>
              <a:rPr lang="en-US" altLang="en-US" sz="2800" dirty="0" err="1">
                <a:cs typeface="Times New Roman" panose="02020603050405020304" pitchFamily="18" charset="0"/>
              </a:rPr>
              <a:t>.class</a:t>
            </a:r>
            <a:r>
              <a:rPr lang="en-US" altLang="en-US" sz="2800" dirty="0">
                <a:cs typeface="Times New Roman" panose="02020603050405020304" pitchFamily="18" charset="0"/>
              </a:rPr>
              <a:t>.</a:t>
            </a:r>
          </a:p>
          <a:p>
            <a:pPr algn="just">
              <a:spcBef>
                <a:spcPct val="50000"/>
              </a:spcBef>
              <a:buFont typeface="Arial" panose="020B0604020202020204" pitchFamily="34" charset="0"/>
              <a:buChar char="•"/>
              <a:defRPr/>
            </a:pPr>
            <a:r>
              <a:rPr lang="en-US" altLang="en-US" sz="2800" dirty="0">
                <a:cs typeface="Times New Roman" panose="02020603050405020304" pitchFamily="18" charset="0"/>
              </a:rPr>
              <a:t> For example, the inner class A in Test is compiled into </a:t>
            </a:r>
            <a:r>
              <a:rPr lang="en-US" altLang="en-US" sz="2800" i="1" dirty="0" err="1">
                <a:cs typeface="Times New Roman" panose="02020603050405020304" pitchFamily="18" charset="0"/>
              </a:rPr>
              <a:t>Test$A</a:t>
            </a:r>
            <a:r>
              <a:rPr lang="en-US" altLang="en-US" sz="2800" dirty="0" err="1">
                <a:cs typeface="Times New Roman" panose="02020603050405020304" pitchFamily="18" charset="0"/>
              </a:rPr>
              <a:t>.class</a:t>
            </a:r>
            <a:r>
              <a:rPr lang="en-US" altLang="en-US" sz="2800" dirty="0">
                <a:latin typeface="Courier" charset="0"/>
                <a:cs typeface="Times New Roman" panose="02020603050405020304" pitchFamily="18" charset="0"/>
              </a:rPr>
              <a:t>.</a:t>
            </a:r>
            <a:endParaRPr lang="en-US" altLang="en-US" sz="2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72339E5-9D5C-4348-A404-C74F1BEC16C4}" type="slidenum">
              <a:rPr lang="en-US" altLang="en-US" sz="1400" smtClean="0"/>
              <a:pPr>
                <a:spcBef>
                  <a:spcPct val="0"/>
                </a:spcBef>
                <a:buClrTx/>
                <a:buSzTx/>
                <a:buFontTx/>
                <a:buNone/>
              </a:pPr>
              <a:t>30</a:t>
            </a:fld>
            <a:endParaRPr lang="en-US" altLang="en-US" sz="1400" smtClean="0"/>
          </a:p>
        </p:txBody>
      </p:sp>
      <p:sp>
        <p:nvSpPr>
          <p:cNvPr id="31747" name="Rectangle 2"/>
          <p:cNvSpPr>
            <a:spLocks noGrp="1" noChangeArrowheads="1"/>
          </p:cNvSpPr>
          <p:nvPr>
            <p:ph type="title"/>
          </p:nvPr>
        </p:nvSpPr>
        <p:spPr>
          <a:xfrm>
            <a:off x="685800" y="0"/>
            <a:ext cx="7772400" cy="685800"/>
          </a:xfrm>
        </p:spPr>
        <p:txBody>
          <a:bodyPr/>
          <a:lstStyle/>
          <a:p>
            <a:r>
              <a:rPr lang="en-US" altLang="en-US" dirty="0" smtClean="0"/>
              <a:t>Inner Classes (cont.)</a:t>
            </a:r>
          </a:p>
        </p:txBody>
      </p:sp>
      <p:sp>
        <p:nvSpPr>
          <p:cNvPr id="31748" name="Rectangle 3"/>
          <p:cNvSpPr>
            <a:spLocks noGrp="1" noChangeArrowheads="1"/>
          </p:cNvSpPr>
          <p:nvPr>
            <p:ph type="body" idx="1"/>
          </p:nvPr>
        </p:nvSpPr>
        <p:spPr>
          <a:xfrm>
            <a:off x="533400" y="914400"/>
            <a:ext cx="8077200" cy="5410200"/>
          </a:xfrm>
        </p:spPr>
        <p:txBody>
          <a:bodyPr/>
          <a:lstStyle/>
          <a:p>
            <a:pPr>
              <a:spcBef>
                <a:spcPct val="50000"/>
              </a:spcBef>
              <a:buFont typeface="Arial" panose="020B0604020202020204" pitchFamily="34" charset="0"/>
              <a:buChar char="•"/>
            </a:pPr>
            <a:r>
              <a:rPr lang="en-US" altLang="en-US" sz="2800" dirty="0" smtClean="0">
                <a:cs typeface="Times New Roman" panose="02020603050405020304" pitchFamily="18" charset="0"/>
              </a:rPr>
              <a:t>An inner class can be declared public, protected, or private subject to the same visibility rules applied to a member of the class. </a:t>
            </a:r>
          </a:p>
          <a:p>
            <a:pPr>
              <a:spcBef>
                <a:spcPct val="50000"/>
              </a:spcBef>
              <a:buFont typeface="Arial" panose="020B0604020202020204" pitchFamily="34" charset="0"/>
              <a:buChar char="•"/>
            </a:pPr>
            <a:r>
              <a:rPr lang="en-US" altLang="en-US" sz="2800" dirty="0" smtClean="0">
                <a:cs typeface="Times New Roman" panose="02020603050405020304" pitchFamily="18" charset="0"/>
              </a:rPr>
              <a:t>An inner class can be declared static. </a:t>
            </a:r>
          </a:p>
          <a:p>
            <a:pPr lvl="1">
              <a:spcBef>
                <a:spcPct val="50000"/>
              </a:spcBef>
              <a:buFont typeface="Arial" panose="020B0604020202020204" pitchFamily="34" charset="0"/>
              <a:buChar char="•"/>
            </a:pPr>
            <a:r>
              <a:rPr lang="en-US" altLang="en-US" sz="2400" dirty="0" smtClean="0">
                <a:cs typeface="Times New Roman" panose="02020603050405020304" pitchFamily="18" charset="0"/>
              </a:rPr>
              <a:t>A static inner class can be accessed using the outer class name. </a:t>
            </a:r>
          </a:p>
          <a:p>
            <a:pPr lvl="1">
              <a:spcBef>
                <a:spcPct val="50000"/>
              </a:spcBef>
              <a:buFont typeface="Arial" panose="020B0604020202020204" pitchFamily="34" charset="0"/>
              <a:buChar char="•"/>
            </a:pPr>
            <a:r>
              <a:rPr lang="en-US" altLang="en-US" sz="2400" dirty="0" smtClean="0">
                <a:cs typeface="Times New Roman" panose="02020603050405020304" pitchFamily="18" charset="0"/>
              </a:rPr>
              <a:t>A static inner class cannot access </a:t>
            </a:r>
            <a:r>
              <a:rPr lang="en-US" altLang="en-US" sz="2400" dirty="0" err="1" smtClean="0">
                <a:cs typeface="Times New Roman" panose="02020603050405020304" pitchFamily="18" charset="0"/>
              </a:rPr>
              <a:t>nonstatic</a:t>
            </a:r>
            <a:r>
              <a:rPr lang="en-US" altLang="en-US" sz="2400" dirty="0" smtClean="0">
                <a:cs typeface="Times New Roman" panose="02020603050405020304" pitchFamily="18" charset="0"/>
              </a:rPr>
              <a:t> members of the outer class</a:t>
            </a:r>
            <a:r>
              <a:rPr lang="en-US" altLang="en-US" sz="2400" dirty="0" smtClean="0">
                <a:latin typeface="Courier" charset="0"/>
                <a:cs typeface="Times New Roman" panose="02020603050405020304" pitchFamily="18" charset="0"/>
              </a:rPr>
              <a:t> </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F4904F6-3EC6-4E75-93EE-3A6858BEB55B}" type="slidenum">
              <a:rPr lang="en-US" altLang="en-US" sz="1400" smtClean="0"/>
              <a:pPr>
                <a:spcBef>
                  <a:spcPct val="0"/>
                </a:spcBef>
                <a:buClrTx/>
                <a:buSzTx/>
                <a:buFontTx/>
                <a:buNone/>
              </a:pPr>
              <a:t>31</a:t>
            </a:fld>
            <a:endParaRPr lang="en-US" altLang="en-US" sz="1400" smtClean="0"/>
          </a:p>
        </p:txBody>
      </p:sp>
      <p:sp>
        <p:nvSpPr>
          <p:cNvPr id="33795" name="Rectangle 2"/>
          <p:cNvSpPr>
            <a:spLocks noGrp="1" noChangeArrowheads="1"/>
          </p:cNvSpPr>
          <p:nvPr>
            <p:ph type="title"/>
          </p:nvPr>
        </p:nvSpPr>
        <p:spPr>
          <a:xfrm>
            <a:off x="685800" y="0"/>
            <a:ext cx="7772400" cy="685800"/>
          </a:xfrm>
        </p:spPr>
        <p:txBody>
          <a:bodyPr/>
          <a:lstStyle/>
          <a:p>
            <a:r>
              <a:rPr lang="en-US" altLang="en-US" dirty="0" smtClean="0"/>
              <a:t>Inner Classes (cont.)</a:t>
            </a:r>
          </a:p>
        </p:txBody>
      </p:sp>
      <p:sp>
        <p:nvSpPr>
          <p:cNvPr id="33796" name="Rectangle 3"/>
          <p:cNvSpPr>
            <a:spLocks noGrp="1" noChangeArrowheads="1"/>
          </p:cNvSpPr>
          <p:nvPr>
            <p:ph type="body" idx="1"/>
          </p:nvPr>
        </p:nvSpPr>
        <p:spPr>
          <a:xfrm>
            <a:off x="304800" y="836613"/>
            <a:ext cx="8991600" cy="5410200"/>
          </a:xfrm>
        </p:spPr>
        <p:txBody>
          <a:bodyPr/>
          <a:lstStyle/>
          <a:p>
            <a:pPr>
              <a:spcBef>
                <a:spcPct val="50000"/>
              </a:spcBef>
              <a:buFont typeface="Arial" panose="020B0604020202020204" pitchFamily="34" charset="0"/>
              <a:buChar char="•"/>
            </a:pPr>
            <a:r>
              <a:rPr lang="en-US" altLang="en-US" sz="2800" dirty="0" smtClean="0">
                <a:cs typeface="Times New Roman" panose="02020603050405020304" pitchFamily="18" charset="0"/>
              </a:rPr>
              <a:t>Objects of an inner class are often created in the outer class. But you can also create an object of an inner class from another class.</a:t>
            </a:r>
          </a:p>
          <a:p>
            <a:pPr>
              <a:spcBef>
                <a:spcPct val="50000"/>
              </a:spcBef>
              <a:buFont typeface="Arial" panose="020B0604020202020204" pitchFamily="34" charset="0"/>
              <a:buChar char="•"/>
            </a:pPr>
            <a:endParaRPr lang="en-US" altLang="en-US" sz="2800" dirty="0" smtClean="0">
              <a:cs typeface="Times New Roman" panose="02020603050405020304" pitchFamily="18" charset="0"/>
            </a:endParaRPr>
          </a:p>
          <a:p>
            <a:pPr>
              <a:spcBef>
                <a:spcPct val="50000"/>
              </a:spcBef>
              <a:buFont typeface="Arial" panose="020B0604020202020204" pitchFamily="34" charset="0"/>
              <a:buChar char="•"/>
            </a:pPr>
            <a:r>
              <a:rPr lang="en-US" altLang="en-US" sz="2800" dirty="0" smtClean="0">
                <a:cs typeface="Times New Roman" panose="02020603050405020304" pitchFamily="18" charset="0"/>
              </a:rPr>
              <a:t>If the inner class is </a:t>
            </a:r>
            <a:r>
              <a:rPr lang="en-US" altLang="en-US" sz="2800" dirty="0" err="1" smtClean="0">
                <a:cs typeface="Times New Roman" panose="02020603050405020304" pitchFamily="18" charset="0"/>
              </a:rPr>
              <a:t>nonstatic</a:t>
            </a:r>
            <a:r>
              <a:rPr lang="en-US" altLang="en-US" sz="2800" dirty="0" smtClean="0">
                <a:cs typeface="Times New Roman" panose="02020603050405020304" pitchFamily="18" charset="0"/>
              </a:rPr>
              <a:t>:</a:t>
            </a:r>
          </a:p>
          <a:p>
            <a:pPr marL="457200" lvl="1" indent="0">
              <a:spcBef>
                <a:spcPct val="50000"/>
              </a:spcBef>
              <a:buFontTx/>
              <a:buNone/>
            </a:pPr>
            <a:r>
              <a:rPr lang="en-US" altLang="en-US" sz="1600" b="1" dirty="0" err="1" smtClean="0">
                <a:latin typeface="Consolas" panose="020B0609020204030204" pitchFamily="49" charset="0"/>
                <a:cs typeface="Courier New" panose="02070309020205020404" pitchFamily="49" charset="0"/>
              </a:rPr>
              <a:t>OuterClass</a:t>
            </a:r>
            <a:r>
              <a:rPr lang="en-US" altLang="en-US" sz="1600" b="1" dirty="0" smtClean="0">
                <a:latin typeface="Consolas" panose="020B0609020204030204" pitchFamily="49" charset="0"/>
                <a:cs typeface="Courier New" panose="02070309020205020404" pitchFamily="49" charset="0"/>
              </a:rPr>
              <a:t>  </a:t>
            </a:r>
            <a:r>
              <a:rPr lang="en-US" altLang="en-US" sz="1600" b="1" dirty="0" err="1" smtClean="0">
                <a:latin typeface="Consolas" panose="020B0609020204030204" pitchFamily="49" charset="0"/>
                <a:cs typeface="Courier New" panose="02070309020205020404" pitchFamily="49" charset="0"/>
              </a:rPr>
              <a:t>outerObject</a:t>
            </a:r>
            <a:r>
              <a:rPr lang="en-US" altLang="en-US" sz="1600" b="1" dirty="0" smtClean="0">
                <a:latin typeface="Consolas" panose="020B0609020204030204" pitchFamily="49" charset="0"/>
                <a:cs typeface="Courier New" panose="02070309020205020404" pitchFamily="49" charset="0"/>
              </a:rPr>
              <a:t> = </a:t>
            </a:r>
            <a:r>
              <a:rPr lang="en-US" altLang="en-US" sz="1600" b="1" dirty="0" smtClean="0">
                <a:solidFill>
                  <a:srgbClr val="0070C0"/>
                </a:solidFill>
                <a:latin typeface="Consolas" panose="020B0609020204030204" pitchFamily="49" charset="0"/>
                <a:cs typeface="Courier New" panose="02070309020205020404" pitchFamily="49" charset="0"/>
              </a:rPr>
              <a:t>new</a:t>
            </a:r>
            <a:r>
              <a:rPr lang="en-US" altLang="en-US" sz="1600" b="1" dirty="0" smtClean="0">
                <a:latin typeface="Consolas" panose="020B0609020204030204" pitchFamily="49" charset="0"/>
                <a:cs typeface="Courier New" panose="02070309020205020404" pitchFamily="49" charset="0"/>
              </a:rPr>
              <a:t> </a:t>
            </a:r>
            <a:r>
              <a:rPr lang="en-US" altLang="en-US" sz="1600" b="1" dirty="0" err="1" smtClean="0">
                <a:latin typeface="Consolas" panose="020B0609020204030204" pitchFamily="49" charset="0"/>
                <a:cs typeface="Courier New" panose="02070309020205020404" pitchFamily="49" charset="0"/>
              </a:rPr>
              <a:t>OuterClass</a:t>
            </a:r>
            <a:r>
              <a:rPr lang="en-US" altLang="en-US" sz="1600" b="1" dirty="0" smtClean="0">
                <a:latin typeface="Consolas" panose="020B0609020204030204" pitchFamily="49" charset="0"/>
                <a:cs typeface="Courier New" panose="02070309020205020404" pitchFamily="49" charset="0"/>
              </a:rPr>
              <a:t>();</a:t>
            </a:r>
          </a:p>
          <a:p>
            <a:pPr marL="457200" lvl="1" indent="0">
              <a:spcBef>
                <a:spcPct val="50000"/>
              </a:spcBef>
              <a:buFontTx/>
              <a:buNone/>
            </a:pPr>
            <a:r>
              <a:rPr lang="en-US" altLang="en-US" sz="1600" b="1" dirty="0" err="1" smtClean="0">
                <a:latin typeface="Consolas" panose="020B0609020204030204" pitchFamily="49" charset="0"/>
                <a:cs typeface="Courier New" panose="02070309020205020404" pitchFamily="49" charset="0"/>
              </a:rPr>
              <a:t>OuterClass.InnerClass</a:t>
            </a:r>
            <a:r>
              <a:rPr lang="en-US" altLang="en-US" sz="1600" b="1" dirty="0" smtClean="0">
                <a:latin typeface="Consolas" panose="020B0609020204030204" pitchFamily="49" charset="0"/>
                <a:cs typeface="Courier New" panose="02070309020205020404" pitchFamily="49" charset="0"/>
              </a:rPr>
              <a:t> </a:t>
            </a:r>
            <a:r>
              <a:rPr lang="en-US" altLang="en-US" sz="1600" b="1" dirty="0" err="1" smtClean="0">
                <a:latin typeface="Consolas" panose="020B0609020204030204" pitchFamily="49" charset="0"/>
                <a:cs typeface="Courier New" panose="02070309020205020404" pitchFamily="49" charset="0"/>
              </a:rPr>
              <a:t>innerObject</a:t>
            </a:r>
            <a:r>
              <a:rPr lang="en-US" altLang="en-US" sz="1600" b="1" dirty="0" smtClean="0">
                <a:latin typeface="Consolas" panose="020B0609020204030204" pitchFamily="49" charset="0"/>
                <a:cs typeface="Courier New" panose="02070309020205020404" pitchFamily="49" charset="0"/>
              </a:rPr>
              <a:t> = </a:t>
            </a:r>
            <a:r>
              <a:rPr lang="en-US" altLang="en-US" sz="1600" b="1" dirty="0" err="1" smtClean="0">
                <a:latin typeface="Consolas" panose="020B0609020204030204" pitchFamily="49" charset="0"/>
                <a:cs typeface="Courier New" panose="02070309020205020404" pitchFamily="49" charset="0"/>
              </a:rPr>
              <a:t>outerObject.</a:t>
            </a:r>
            <a:r>
              <a:rPr lang="en-US" altLang="en-US" sz="1600" b="1" dirty="0" err="1" smtClean="0">
                <a:solidFill>
                  <a:srgbClr val="0070C0"/>
                </a:solidFill>
                <a:latin typeface="Consolas" panose="020B0609020204030204" pitchFamily="49" charset="0"/>
                <a:cs typeface="Courier New" panose="02070309020205020404" pitchFamily="49" charset="0"/>
              </a:rPr>
              <a:t>new</a:t>
            </a:r>
            <a:r>
              <a:rPr lang="en-US" altLang="en-US" sz="1600" b="1" dirty="0" smtClean="0">
                <a:latin typeface="Consolas" panose="020B0609020204030204" pitchFamily="49" charset="0"/>
                <a:cs typeface="Courier New" panose="02070309020205020404" pitchFamily="49" charset="0"/>
              </a:rPr>
              <a:t> </a:t>
            </a:r>
            <a:r>
              <a:rPr lang="en-US" altLang="en-US" sz="1600" b="1" dirty="0" err="1" smtClean="0">
                <a:latin typeface="Consolas" panose="020B0609020204030204" pitchFamily="49" charset="0"/>
                <a:cs typeface="Courier New" panose="02070309020205020404" pitchFamily="49" charset="0"/>
              </a:rPr>
              <a:t>InnerClass</a:t>
            </a:r>
            <a:r>
              <a:rPr lang="en-US" altLang="en-US" sz="1600" b="1" dirty="0" smtClean="0">
                <a:latin typeface="Consolas" panose="020B0609020204030204" pitchFamily="49" charset="0"/>
                <a:cs typeface="Courier New" panose="02070309020205020404" pitchFamily="49" charset="0"/>
              </a:rPr>
              <a:t>();</a:t>
            </a:r>
          </a:p>
          <a:p>
            <a:pPr marL="457200" lvl="1" indent="0">
              <a:spcBef>
                <a:spcPct val="50000"/>
              </a:spcBef>
              <a:buFontTx/>
              <a:buNone/>
            </a:pPr>
            <a:endParaRPr lang="en-US" altLang="en-US" sz="1600" b="1" dirty="0" smtClean="0">
              <a:latin typeface="Courier New" panose="02070309020205020404" pitchFamily="49" charset="0"/>
              <a:cs typeface="Courier New" panose="02070309020205020404" pitchFamily="49" charset="0"/>
            </a:endParaRPr>
          </a:p>
          <a:p>
            <a:pPr>
              <a:spcBef>
                <a:spcPct val="50000"/>
              </a:spcBef>
              <a:buFont typeface="Arial" panose="020B0604020202020204" pitchFamily="34" charset="0"/>
              <a:buChar char="•"/>
            </a:pPr>
            <a:r>
              <a:rPr lang="en-US" altLang="en-US" sz="2800" dirty="0" smtClean="0">
                <a:cs typeface="Times New Roman" panose="02020603050405020304" pitchFamily="18" charset="0"/>
              </a:rPr>
              <a:t>If the inner class is static: </a:t>
            </a:r>
            <a:endParaRPr lang="en-US" altLang="en-US" sz="1600" b="1" dirty="0" smtClean="0">
              <a:latin typeface="Courier New" panose="02070309020205020404" pitchFamily="49" charset="0"/>
              <a:cs typeface="Courier New" panose="02070309020205020404" pitchFamily="49" charset="0"/>
            </a:endParaRPr>
          </a:p>
          <a:p>
            <a:pPr marL="457200" lvl="1" indent="0">
              <a:spcBef>
                <a:spcPct val="50000"/>
              </a:spcBef>
              <a:buFontTx/>
              <a:buNone/>
            </a:pPr>
            <a:r>
              <a:rPr lang="en-US" altLang="en-US" sz="1600" b="1" dirty="0" err="1" smtClean="0">
                <a:latin typeface="Consolas" panose="020B0609020204030204" pitchFamily="49" charset="0"/>
                <a:cs typeface="Courier New" panose="02070309020205020404" pitchFamily="49" charset="0"/>
              </a:rPr>
              <a:t>OuterClass.InnerClass</a:t>
            </a:r>
            <a:r>
              <a:rPr lang="en-US" altLang="en-US" sz="1600" b="1" dirty="0" smtClean="0">
                <a:latin typeface="Consolas" panose="020B0609020204030204" pitchFamily="49" charset="0"/>
                <a:cs typeface="Courier New" panose="02070309020205020404" pitchFamily="49" charset="0"/>
              </a:rPr>
              <a:t> </a:t>
            </a:r>
            <a:r>
              <a:rPr lang="en-US" altLang="en-US" sz="1600" b="1" dirty="0" err="1" smtClean="0">
                <a:latin typeface="Consolas" panose="020B0609020204030204" pitchFamily="49" charset="0"/>
                <a:cs typeface="Courier New" panose="02070309020205020404" pitchFamily="49" charset="0"/>
              </a:rPr>
              <a:t>innerObject</a:t>
            </a:r>
            <a:r>
              <a:rPr lang="en-US" altLang="en-US" sz="1600" b="1" dirty="0" smtClean="0">
                <a:latin typeface="Consolas" panose="020B0609020204030204" pitchFamily="49" charset="0"/>
                <a:cs typeface="Courier New" panose="02070309020205020404" pitchFamily="49" charset="0"/>
              </a:rPr>
              <a:t> = </a:t>
            </a:r>
            <a:r>
              <a:rPr lang="en-US" altLang="en-US" sz="1600" b="1" dirty="0" smtClean="0">
                <a:solidFill>
                  <a:srgbClr val="0070C0"/>
                </a:solidFill>
                <a:latin typeface="Consolas" panose="020B0609020204030204" pitchFamily="49" charset="0"/>
                <a:cs typeface="Courier New" panose="02070309020205020404" pitchFamily="49" charset="0"/>
              </a:rPr>
              <a:t>new</a:t>
            </a:r>
            <a:r>
              <a:rPr lang="en-US" altLang="en-US" sz="1600" b="1" dirty="0" smtClean="0">
                <a:latin typeface="Consolas" panose="020B0609020204030204" pitchFamily="49" charset="0"/>
                <a:cs typeface="Courier New" panose="02070309020205020404" pitchFamily="49" charset="0"/>
              </a:rPr>
              <a:t> </a:t>
            </a:r>
            <a:r>
              <a:rPr lang="en-US" altLang="en-US" sz="1600" b="1" dirty="0" err="1" smtClean="0">
                <a:latin typeface="Consolas" panose="020B0609020204030204" pitchFamily="49" charset="0"/>
                <a:cs typeface="Courier New" panose="02070309020205020404" pitchFamily="49" charset="0"/>
              </a:rPr>
              <a:t>OuterClass.InnerClass</a:t>
            </a:r>
            <a:r>
              <a:rPr lang="en-US" altLang="en-US" sz="1600" b="1" dirty="0" smtClean="0">
                <a:latin typeface="Consolas" panose="020B0609020204030204" pitchFamily="49" charset="0"/>
                <a:cs typeface="Courier New" panose="02070309020205020404" pitchFamily="49" charset="0"/>
              </a:rPr>
              <a:t>();</a:t>
            </a:r>
            <a:r>
              <a:rPr lang="en-US" altLang="en-US" sz="1600" b="1" dirty="0" smtClean="0">
                <a:latin typeface="Courier New" panose="02070309020205020404" pitchFamily="49" charset="0"/>
                <a:cs typeface="Courier New" panose="02070309020205020404" pitchFamily="49" charset="0"/>
              </a:rPr>
              <a:t> </a:t>
            </a:r>
            <a:r>
              <a:rPr lang="en-US" altLang="en-US" sz="2400" dirty="0" smtClean="0"/>
              <a:t/>
            </a:r>
            <a:br>
              <a:rPr lang="en-US" altLang="en-US" sz="2400" dirty="0" smtClean="0"/>
            </a:br>
            <a:endParaRPr lang="en-US" altLang="en-US" sz="2400" dirty="0" smtClean="0">
              <a:latin typeface="Courier"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noChangeArrowheads="1"/>
          </p:cNvSpPr>
          <p:nvPr>
            <p:ph type="title"/>
          </p:nvPr>
        </p:nvSpPr>
        <p:spPr>
          <a:xfrm>
            <a:off x="682625" y="0"/>
            <a:ext cx="7772400" cy="1143000"/>
          </a:xfrm>
        </p:spPr>
        <p:txBody>
          <a:bodyPr/>
          <a:lstStyle/>
          <a:p>
            <a:r>
              <a:rPr lang="en-US" altLang="en-US" smtClean="0"/>
              <a:t>Anonymous Inner Classes</a:t>
            </a:r>
          </a:p>
        </p:txBody>
      </p:sp>
      <p:sp>
        <p:nvSpPr>
          <p:cNvPr id="35843" name="Content Placeholder 2"/>
          <p:cNvSpPr>
            <a:spLocks noGrp="1" noChangeArrowheads="1"/>
          </p:cNvSpPr>
          <p:nvPr>
            <p:ph idx="1"/>
          </p:nvPr>
        </p:nvSpPr>
        <p:spPr>
          <a:xfrm>
            <a:off x="682625" y="1209675"/>
            <a:ext cx="7772400" cy="4114800"/>
          </a:xfrm>
        </p:spPr>
        <p:txBody>
          <a:bodyPr/>
          <a:lstStyle/>
          <a:p>
            <a:pPr>
              <a:buFont typeface="Arial" panose="020B0604020202020204" pitchFamily="34" charset="0"/>
              <a:buChar char="•"/>
            </a:pPr>
            <a:r>
              <a:rPr lang="en-US" altLang="en-US" smtClean="0">
                <a:solidFill>
                  <a:srgbClr val="000000"/>
                </a:solidFill>
                <a:latin typeface="Perpetua" panose="02020502060401020303" pitchFamily="18" charset="0"/>
              </a:rPr>
              <a:t>Inner class listeners can be shortened using anonymous inner classes: inner classes without a name.</a:t>
            </a:r>
          </a:p>
          <a:p>
            <a:pPr lvl="1">
              <a:buFont typeface="Arial" panose="020B0604020202020204" pitchFamily="34" charset="0"/>
              <a:buChar char="•"/>
            </a:pPr>
            <a:r>
              <a:rPr lang="en-US" altLang="en-US" sz="2400" smtClean="0">
                <a:solidFill>
                  <a:srgbClr val="000000"/>
                </a:solidFill>
                <a:latin typeface="Perpetua" panose="02020502060401020303" pitchFamily="18" charset="0"/>
              </a:rPr>
              <a:t>It combines declaring an inner class and creating an instance of the class in one step.</a:t>
            </a:r>
          </a:p>
          <a:p>
            <a:pPr>
              <a:buFont typeface="Arial" panose="020B0604020202020204" pitchFamily="34" charset="0"/>
              <a:buChar char="•"/>
            </a:pPr>
            <a:r>
              <a:rPr lang="en-US" altLang="en-US" smtClean="0">
                <a:solidFill>
                  <a:srgbClr val="000000"/>
                </a:solidFill>
                <a:latin typeface="Perpetua" panose="02020502060401020303" pitchFamily="18" charset="0"/>
              </a:rPr>
              <a:t>An anonymous inner class is declared as follows:</a:t>
            </a:r>
            <a:r>
              <a:rPr lang="en-US" altLang="en-US" sz="2800" smtClean="0"/>
              <a:t> </a:t>
            </a:r>
            <a:r>
              <a:rPr lang="en-US" altLang="en-US" smtClean="0"/>
              <a:t/>
            </a:r>
            <a:br>
              <a:rPr lang="en-US" altLang="en-US" smtClean="0"/>
            </a:br>
            <a:endParaRPr lang="en-US" altLang="en-US" smtClean="0"/>
          </a:p>
        </p:txBody>
      </p:sp>
      <p:sp>
        <p:nvSpPr>
          <p:cNvPr id="35844" name="Slide Number Placeholder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5305E83-8CCE-4ADF-8BDC-8882E754C691}" type="slidenum">
              <a:rPr lang="en-US" altLang="en-US" sz="1400" smtClean="0"/>
              <a:pPr>
                <a:spcBef>
                  <a:spcPct val="0"/>
                </a:spcBef>
                <a:buClrTx/>
                <a:buSzTx/>
                <a:buFontTx/>
                <a:buNone/>
              </a:pPr>
              <a:t>32</a:t>
            </a:fld>
            <a:endParaRPr lang="en-US" altLang="en-US" sz="1400" smtClean="0"/>
          </a:p>
        </p:txBody>
      </p:sp>
      <p:sp>
        <p:nvSpPr>
          <p:cNvPr id="35845" name="Rectangle 4"/>
          <p:cNvSpPr>
            <a:spLocks noChangeArrowheads="1"/>
          </p:cNvSpPr>
          <p:nvPr/>
        </p:nvSpPr>
        <p:spPr bwMode="auto">
          <a:xfrm>
            <a:off x="838200" y="4267200"/>
            <a:ext cx="8305800" cy="150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800" b="1">
                <a:solidFill>
                  <a:srgbClr val="000000"/>
                </a:solidFill>
                <a:latin typeface="Courier New" panose="02070309020205020404" pitchFamily="49" charset="0"/>
              </a:rPr>
              <a:t>new </a:t>
            </a:r>
            <a:r>
              <a:rPr lang="en-US" altLang="en-US" sz="1800">
                <a:solidFill>
                  <a:srgbClr val="000000"/>
                </a:solidFill>
                <a:latin typeface="Courier New" panose="02070309020205020404" pitchFamily="49" charset="0"/>
              </a:rPr>
              <a:t>SuperClassName/InterfaceName() {</a:t>
            </a:r>
            <a:br>
              <a:rPr lang="en-US" altLang="en-US" sz="1800">
                <a:solidFill>
                  <a:srgbClr val="000000"/>
                </a:solidFill>
                <a:latin typeface="Courier New" panose="02070309020205020404" pitchFamily="49" charset="0"/>
              </a:rPr>
            </a:br>
            <a:r>
              <a:rPr lang="en-US" altLang="en-US" sz="1800">
                <a:solidFill>
                  <a:srgbClr val="000000"/>
                </a:solidFill>
                <a:latin typeface="Courier New" panose="02070309020205020404" pitchFamily="49" charset="0"/>
              </a:rPr>
              <a:t>  // Implement or override methods in superclass/interface</a:t>
            </a:r>
            <a:br>
              <a:rPr lang="en-US" altLang="en-US" sz="1800">
                <a:solidFill>
                  <a:srgbClr val="000000"/>
                </a:solidFill>
                <a:latin typeface="Courier New" panose="02070309020205020404" pitchFamily="49" charset="0"/>
              </a:rPr>
            </a:br>
            <a:r>
              <a:rPr lang="en-US" altLang="en-US" sz="1800">
                <a:solidFill>
                  <a:srgbClr val="000000"/>
                </a:solidFill>
                <a:latin typeface="Courier New" panose="02070309020205020404" pitchFamily="49" charset="0"/>
              </a:rPr>
              <a:t>  // Other methods if necessary</a:t>
            </a:r>
            <a:br>
              <a:rPr lang="en-US" altLang="en-US" sz="1800">
                <a:solidFill>
                  <a:srgbClr val="000000"/>
                </a:solidFill>
                <a:latin typeface="Courier New" panose="02070309020205020404" pitchFamily="49" charset="0"/>
              </a:rPr>
            </a:br>
            <a:r>
              <a:rPr lang="en-US" altLang="en-US" sz="1800">
                <a:solidFill>
                  <a:srgbClr val="000000"/>
                </a:solidFill>
                <a:latin typeface="Courier New" panose="02070309020205020404" pitchFamily="49" charset="0"/>
              </a:rPr>
              <a:t>}</a:t>
            </a:r>
            <a:r>
              <a:rPr lang="en-US" altLang="en-US" sz="2000"/>
              <a:t> </a:t>
            </a:r>
            <a:r>
              <a:rPr lang="en-US" altLang="en-US" sz="1800"/>
              <a:t/>
            </a:r>
            <a:br>
              <a:rPr lang="en-US" altLang="en-US" sz="1800"/>
            </a:br>
            <a:endParaRPr lang="en-US" altLang="en-US" sz="180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6AEB4DE-8707-412F-8756-5E8861E9DB27}" type="slidenum">
              <a:rPr lang="en-US" altLang="en-US" sz="1400" smtClean="0"/>
              <a:pPr>
                <a:spcBef>
                  <a:spcPct val="0"/>
                </a:spcBef>
                <a:buClrTx/>
                <a:buSzTx/>
                <a:buFontTx/>
                <a:buNone/>
              </a:pPr>
              <a:t>33</a:t>
            </a:fld>
            <a:endParaRPr lang="en-US" altLang="en-US" sz="1400" smtClean="0"/>
          </a:p>
        </p:txBody>
      </p:sp>
      <p:sp>
        <p:nvSpPr>
          <p:cNvPr id="37891" name="Rectangle 2"/>
          <p:cNvSpPr>
            <a:spLocks noGrp="1" noChangeArrowheads="1"/>
          </p:cNvSpPr>
          <p:nvPr>
            <p:ph type="title"/>
          </p:nvPr>
        </p:nvSpPr>
        <p:spPr>
          <a:xfrm>
            <a:off x="609600" y="6350"/>
            <a:ext cx="7772400" cy="666750"/>
          </a:xfrm>
        </p:spPr>
        <p:txBody>
          <a:bodyPr/>
          <a:lstStyle/>
          <a:p>
            <a:r>
              <a:rPr lang="en-US" altLang="en-US" sz="4000" smtClean="0"/>
              <a:t>Anonymous Inner Classes</a:t>
            </a:r>
          </a:p>
        </p:txBody>
      </p:sp>
      <p:sp>
        <p:nvSpPr>
          <p:cNvPr id="33796" name="Rectangle 3"/>
          <p:cNvSpPr>
            <a:spLocks noGrp="1" noChangeArrowheads="1"/>
          </p:cNvSpPr>
          <p:nvPr>
            <p:ph type="body" idx="1"/>
          </p:nvPr>
        </p:nvSpPr>
        <p:spPr>
          <a:xfrm>
            <a:off x="381000" y="838200"/>
            <a:ext cx="8382000" cy="4953000"/>
          </a:xfrm>
        </p:spPr>
        <p:txBody>
          <a:bodyPr/>
          <a:lstStyle/>
          <a:p>
            <a:pPr algn="just">
              <a:buFont typeface="Wingdings" panose="05000000000000000000" pitchFamily="2" charset="2"/>
              <a:buChar char="q"/>
            </a:pPr>
            <a:r>
              <a:rPr lang="en-US" altLang="en-US" sz="2200" smtClean="0"/>
              <a:t>An anonymous inner class must always extend a superclass or implement an interface, but it </a:t>
            </a:r>
            <a:r>
              <a:rPr lang="en-US" altLang="en-US" sz="2200" smtClean="0">
                <a:solidFill>
                  <a:srgbClr val="FF0000"/>
                </a:solidFill>
              </a:rPr>
              <a:t>cannot have an explicit extends or implements clause</a:t>
            </a:r>
            <a:r>
              <a:rPr lang="en-US" altLang="en-US" sz="2200" smtClean="0"/>
              <a:t>. </a:t>
            </a:r>
          </a:p>
          <a:p>
            <a:pPr algn="just">
              <a:buFont typeface="Wingdings" panose="05000000000000000000" pitchFamily="2" charset="2"/>
              <a:buChar char="q"/>
            </a:pPr>
            <a:r>
              <a:rPr lang="en-US" altLang="en-US" sz="2200" smtClean="0"/>
              <a:t>An anonymous inner class must </a:t>
            </a:r>
            <a:r>
              <a:rPr lang="en-US" altLang="en-US" sz="2200" smtClean="0">
                <a:solidFill>
                  <a:srgbClr val="FF0000"/>
                </a:solidFill>
              </a:rPr>
              <a:t>implement all the abstract methods</a:t>
            </a:r>
            <a:r>
              <a:rPr lang="en-US" altLang="en-US" sz="2200" smtClean="0"/>
              <a:t> in the superclass or in the interface. </a:t>
            </a:r>
          </a:p>
          <a:p>
            <a:pPr algn="just">
              <a:buFont typeface="Wingdings" panose="05000000000000000000" pitchFamily="2" charset="2"/>
              <a:buChar char="q"/>
            </a:pPr>
            <a:r>
              <a:rPr lang="en-US" altLang="en-US" sz="2200" smtClean="0"/>
              <a:t>An anonymous inner class </a:t>
            </a:r>
            <a:r>
              <a:rPr lang="en-US" altLang="en-US" sz="2200" smtClean="0">
                <a:solidFill>
                  <a:srgbClr val="FF0000"/>
                </a:solidFill>
              </a:rPr>
              <a:t>always uses the no-arg constructor from its superclass to create an instance.</a:t>
            </a:r>
            <a:r>
              <a:rPr lang="en-US" altLang="en-US" sz="2200" smtClean="0"/>
              <a:t> </a:t>
            </a:r>
          </a:p>
          <a:p>
            <a:pPr algn="just">
              <a:buFont typeface="Wingdings" panose="05000000000000000000" pitchFamily="2" charset="2"/>
              <a:buChar char="q"/>
            </a:pPr>
            <a:r>
              <a:rPr lang="en-US" altLang="en-US" sz="2200" smtClean="0"/>
              <a:t>If an anonymous inner class implements an interface, the constructor is Object().</a:t>
            </a:r>
          </a:p>
          <a:p>
            <a:pPr algn="just">
              <a:buFont typeface="Wingdings" panose="05000000000000000000" pitchFamily="2" charset="2"/>
              <a:buChar char="q"/>
            </a:pPr>
            <a:r>
              <a:rPr lang="en-US" altLang="en-US" sz="2200" smtClean="0"/>
              <a:t>An anonymous inner class is compiled into a class named OuterClassName$</a:t>
            </a:r>
            <a:r>
              <a:rPr lang="en-US" altLang="en-US" sz="2200" i="1" smtClean="0"/>
              <a:t>n</a:t>
            </a:r>
            <a:r>
              <a:rPr lang="en-US" altLang="en-US" sz="2200" smtClean="0"/>
              <a:t>.class. </a:t>
            </a:r>
          </a:p>
          <a:p>
            <a:pPr lvl="1" algn="just">
              <a:buFont typeface="Wingdings" panose="05000000000000000000" pitchFamily="2" charset="2"/>
              <a:buChar char="q"/>
            </a:pPr>
            <a:r>
              <a:rPr lang="en-US" altLang="en-US" sz="1800" smtClean="0"/>
              <a:t>For example, if the outer class Test has two anonymous inner classes, these two classes are compiled into Test$1.class and Test$2.class.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anim calcmode="lin" valueType="num">
                                      <p:cBhvr additive="base">
                                        <p:cTn id="7" dur="500" fill="hold"/>
                                        <p:tgtEl>
                                          <p:spTgt spid="33796">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796">
                                            <p:txEl>
                                              <p:pRg st="2" end="2"/>
                                            </p:txEl>
                                          </p:spTgt>
                                        </p:tgtEl>
                                        <p:attrNameLst>
                                          <p:attrName>style.visibility</p:attrName>
                                        </p:attrNameLst>
                                      </p:cBhvr>
                                      <p:to>
                                        <p:strVal val="visible"/>
                                      </p:to>
                                    </p:set>
                                    <p:anim calcmode="lin" valueType="num">
                                      <p:cBhvr additive="base">
                                        <p:cTn id="13" dur="500" fill="hold"/>
                                        <p:tgtEl>
                                          <p:spTgt spid="3379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379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796">
                                            <p:txEl>
                                              <p:pRg st="3" end="3"/>
                                            </p:txEl>
                                          </p:spTgt>
                                        </p:tgtEl>
                                        <p:attrNameLst>
                                          <p:attrName>style.visibility</p:attrName>
                                        </p:attrNameLst>
                                      </p:cBhvr>
                                      <p:to>
                                        <p:strVal val="visible"/>
                                      </p:to>
                                    </p:set>
                                    <p:anim calcmode="lin" valueType="num">
                                      <p:cBhvr additive="base">
                                        <p:cTn id="19" dur="500" fill="hold"/>
                                        <p:tgtEl>
                                          <p:spTgt spid="3379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379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796">
                                            <p:txEl>
                                              <p:pRg st="4" end="4"/>
                                            </p:txEl>
                                          </p:spTgt>
                                        </p:tgtEl>
                                        <p:attrNameLst>
                                          <p:attrName>style.visibility</p:attrName>
                                        </p:attrNameLst>
                                      </p:cBhvr>
                                      <p:to>
                                        <p:strVal val="visible"/>
                                      </p:to>
                                    </p:set>
                                    <p:anim calcmode="lin" valueType="num">
                                      <p:cBhvr additive="base">
                                        <p:cTn id="25" dur="500" fill="hold"/>
                                        <p:tgtEl>
                                          <p:spTgt spid="33796">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3796">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3796">
                                            <p:txEl>
                                              <p:pRg st="5" end="5"/>
                                            </p:txEl>
                                          </p:spTgt>
                                        </p:tgtEl>
                                        <p:attrNameLst>
                                          <p:attrName>style.visibility</p:attrName>
                                        </p:attrNameLst>
                                      </p:cBhvr>
                                      <p:to>
                                        <p:strVal val="visible"/>
                                      </p:to>
                                    </p:set>
                                    <p:anim calcmode="lin" valueType="num">
                                      <p:cBhvr additive="base">
                                        <p:cTn id="29" dur="500" fill="hold"/>
                                        <p:tgtEl>
                                          <p:spTgt spid="33796">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379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6"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7AF3612-7B98-4CB8-B2B8-D3BBB4EE50D2}" type="slidenum">
              <a:rPr lang="en-US" altLang="en-US" sz="1400" smtClean="0"/>
              <a:pPr>
                <a:spcBef>
                  <a:spcPct val="0"/>
                </a:spcBef>
                <a:buClrTx/>
                <a:buSzTx/>
                <a:buFontTx/>
                <a:buNone/>
              </a:pPr>
              <a:t>34</a:t>
            </a:fld>
            <a:endParaRPr lang="en-US" altLang="en-US" sz="1400" smtClean="0"/>
          </a:p>
        </p:txBody>
      </p:sp>
      <p:sp>
        <p:nvSpPr>
          <p:cNvPr id="38915" name="Rectangle 2"/>
          <p:cNvSpPr>
            <a:spLocks noGrp="1" noChangeArrowheads="1"/>
          </p:cNvSpPr>
          <p:nvPr>
            <p:ph type="title"/>
          </p:nvPr>
        </p:nvSpPr>
        <p:spPr>
          <a:xfrm>
            <a:off x="685800" y="381000"/>
            <a:ext cx="7772400" cy="666750"/>
          </a:xfrm>
        </p:spPr>
        <p:txBody>
          <a:bodyPr/>
          <a:lstStyle/>
          <a:p>
            <a:r>
              <a:rPr lang="en-US" altLang="en-US" sz="4000" smtClean="0"/>
              <a:t>Anonymous Inner Classes (cont.)</a:t>
            </a:r>
          </a:p>
        </p:txBody>
      </p:sp>
      <p:sp>
        <p:nvSpPr>
          <p:cNvPr id="3" name="Rectangle 2">
            <a:extLst>
              <a:ext uri="{FF2B5EF4-FFF2-40B4-BE49-F238E27FC236}">
                <a16:creationId xmlns:a16="http://schemas.microsoft.com/office/drawing/2014/main" id="{616DBB3B-7456-426C-B266-EA0BD1E086B1}"/>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5" name="Rectangle 5">
            <a:extLst>
              <a:ext uri="{FF2B5EF4-FFF2-40B4-BE49-F238E27FC236}">
                <a16:creationId xmlns:a16="http://schemas.microsoft.com/office/drawing/2014/main" id="{3ED0D595-3D83-4E91-B145-68ECD44BB78B}"/>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14" name="AutoShape 5">
            <a:hlinkClick r:id="" action="ppaction://noaction" highlightClick="1"/>
            <a:extLst>
              <a:ext uri="{FF2B5EF4-FFF2-40B4-BE49-F238E27FC236}">
                <a16:creationId xmlns:a16="http://schemas.microsoft.com/office/drawing/2014/main" id="{BB92B8DB-8F34-4CB5-B707-E1E18725D4C9}"/>
              </a:ext>
            </a:extLst>
          </p:cNvPr>
          <p:cNvSpPr>
            <a:spLocks noChangeArrowheads="1"/>
          </p:cNvSpPr>
          <p:nvPr/>
        </p:nvSpPr>
        <p:spPr bwMode="auto">
          <a:xfrm>
            <a:off x="2705100" y="5741988"/>
            <a:ext cx="3733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3" action="ppaction://program"/>
              </a:rPr>
              <a:t>AnonymousHandlerDemo</a:t>
            </a:r>
            <a:endParaRPr lang="en-US" altLang="en-US">
              <a:solidFill>
                <a:schemeClr val="accent1"/>
              </a:solidFill>
            </a:endParaRPr>
          </a:p>
        </p:txBody>
      </p:sp>
      <p:sp>
        <p:nvSpPr>
          <p:cNvPr id="38919" name="AutoShape 6">
            <a:hlinkClick r:id="rId4" action="ppaction://program" highlightClick="1"/>
          </p:cNvPr>
          <p:cNvSpPr>
            <a:spLocks noChangeArrowheads="1"/>
          </p:cNvSpPr>
          <p:nvPr/>
        </p:nvSpPr>
        <p:spPr bwMode="auto">
          <a:xfrm>
            <a:off x="6553200" y="5715000"/>
            <a:ext cx="21336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38920" name="AutoShape 7">
            <a:hlinkClick r:id="rId5" highlightClick="1"/>
          </p:cNvPr>
          <p:cNvSpPr>
            <a:spLocks noChangeArrowheads="1"/>
          </p:cNvSpPr>
          <p:nvPr/>
        </p:nvSpPr>
        <p:spPr bwMode="auto">
          <a:xfrm>
            <a:off x="2184400" y="569912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38921"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 y="1371600"/>
            <a:ext cx="9067800" cy="2835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36C4097-FA53-40A7-A01D-E17A6A76A357}" type="slidenum">
              <a:rPr lang="en-US" altLang="en-US" sz="1400" smtClean="0"/>
              <a:pPr>
                <a:spcBef>
                  <a:spcPct val="0"/>
                </a:spcBef>
                <a:buClrTx/>
                <a:buSzTx/>
                <a:buFontTx/>
                <a:buNone/>
              </a:pPr>
              <a:t>35</a:t>
            </a:fld>
            <a:endParaRPr lang="en-US" altLang="en-US" sz="1400" smtClean="0"/>
          </a:p>
        </p:txBody>
      </p:sp>
      <p:sp>
        <p:nvSpPr>
          <p:cNvPr id="39939" name="Rectangle 4"/>
          <p:cNvSpPr>
            <a:spLocks noChangeArrowheads="1"/>
          </p:cNvSpPr>
          <p:nvPr/>
        </p:nvSpPr>
        <p:spPr bwMode="auto">
          <a:xfrm>
            <a:off x="0" y="0"/>
            <a:ext cx="8686800" cy="6524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solidFill>
                  <a:srgbClr val="000000"/>
                </a:solidFill>
                <a:latin typeface="Courier New" panose="02070309020205020404" pitchFamily="49" charset="0"/>
              </a:rPr>
              <a:t>import javafx.application.Application;</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javafx.stage.Stage;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javafx.scene.Scene;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javafx.scene.layout.HBox;</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javafx.scene.control.Button;</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javafx.event.ActionEvent;</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javafx.event.EventHandler;</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javafx.geometry.Pos;</a:t>
            </a:r>
            <a:r>
              <a:rPr lang="en-US" altLang="en-US" sz="1400" b="1">
                <a:solidFill>
                  <a:srgbClr val="000000"/>
                </a:solidFill>
                <a:latin typeface="Courier New" panose="02070309020205020404" pitchFamily="49" charset="0"/>
              </a:rPr>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public class AnonymousHandlerDemo extends Application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void start(Stage primaryStage)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 hBox = new HBox();</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btNew = new Button("New"); Button btOpen = new Button("Open");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btSave = new Button("Save"); Button btPrint = new Button("Print");	</a:t>
            </a:r>
          </a:p>
          <a:p>
            <a:pPr>
              <a:spcBef>
                <a:spcPct val="0"/>
              </a:spcBef>
              <a:buClrTx/>
              <a:buSzTx/>
              <a:buFontTx/>
              <a:buNone/>
            </a:pPr>
            <a:r>
              <a:rPr lang="en-US" altLang="en-US" sz="1400" b="1">
                <a:solidFill>
                  <a:srgbClr val="000000"/>
                </a:solidFill>
                <a:latin typeface="Courier New" panose="02070309020205020404" pitchFamily="49" charset="0"/>
              </a:rPr>
              <a:t>    hBox.getChildren().addAll(btNew, btOpen, btSave, btPrint);</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 Create and register the handler</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r>
              <a:rPr lang="en-US" altLang="en-US" sz="1400" b="1">
                <a:solidFill>
                  <a:srgbClr val="FF0000"/>
                </a:solidFill>
                <a:latin typeface="Courier New" panose="02070309020205020404" pitchFamily="49" charset="0"/>
              </a:rPr>
              <a:t>btNew.setOnAction(new EventHandler&lt;ActionEvent&gt;()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@Override // Override the handle method</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public void handle(ActionEvent e)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System.out.println("Process New");</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r>
              <a:rPr lang="en-US" altLang="en-US" sz="1400" b="1">
                <a:solidFill>
                  <a:srgbClr val="0070C0"/>
                </a:solidFill>
                <a:latin typeface="Courier New" panose="02070309020205020404" pitchFamily="49" charset="0"/>
              </a:rPr>
              <a:t>btOpen.setOnAction(new EventHandler&lt;ActionEvent&gt;() {</a:t>
            </a:r>
            <a:br>
              <a:rPr lang="en-US" altLang="en-US" sz="1400" b="1">
                <a:solidFill>
                  <a:srgbClr val="0070C0"/>
                </a:solidFill>
                <a:latin typeface="Courier New" panose="02070309020205020404" pitchFamily="49" charset="0"/>
              </a:rPr>
            </a:br>
            <a:r>
              <a:rPr lang="en-US" altLang="en-US" sz="1400" b="1">
                <a:solidFill>
                  <a:srgbClr val="0070C0"/>
                </a:solidFill>
                <a:latin typeface="Courier New" panose="02070309020205020404" pitchFamily="49" charset="0"/>
              </a:rPr>
              <a:t>      @Override // Override the handle method</a:t>
            </a:r>
            <a:br>
              <a:rPr lang="en-US" altLang="en-US" sz="1400" b="1">
                <a:solidFill>
                  <a:srgbClr val="0070C0"/>
                </a:solidFill>
                <a:latin typeface="Courier New" panose="02070309020205020404" pitchFamily="49" charset="0"/>
              </a:rPr>
            </a:br>
            <a:r>
              <a:rPr lang="en-US" altLang="en-US" sz="1400" b="1">
                <a:solidFill>
                  <a:srgbClr val="0070C0"/>
                </a:solidFill>
                <a:latin typeface="Courier New" panose="02070309020205020404" pitchFamily="49" charset="0"/>
              </a:rPr>
              <a:t>      public void handle(ActionEvent e) {</a:t>
            </a:r>
            <a:br>
              <a:rPr lang="en-US" altLang="en-US" sz="1400" b="1">
                <a:solidFill>
                  <a:srgbClr val="0070C0"/>
                </a:solidFill>
                <a:latin typeface="Courier New" panose="02070309020205020404" pitchFamily="49" charset="0"/>
              </a:rPr>
            </a:br>
            <a:r>
              <a:rPr lang="en-US" altLang="en-US" sz="1400" b="1">
                <a:solidFill>
                  <a:srgbClr val="0070C0"/>
                </a:solidFill>
                <a:latin typeface="Courier New" panose="02070309020205020404" pitchFamily="49" charset="0"/>
              </a:rPr>
              <a:t>        System.out.println("Process Open");</a:t>
            </a:r>
            <a:br>
              <a:rPr lang="en-US" altLang="en-US" sz="1400" b="1">
                <a:solidFill>
                  <a:srgbClr val="0070C0"/>
                </a:solidFill>
                <a:latin typeface="Courier New" panose="02070309020205020404" pitchFamily="49" charset="0"/>
              </a:rPr>
            </a:br>
            <a:r>
              <a:rPr lang="en-US" altLang="en-US" sz="1400" b="1">
                <a:solidFill>
                  <a:srgbClr val="0070C0"/>
                </a:solidFill>
                <a:latin typeface="Courier New" panose="02070309020205020404" pitchFamily="49" charset="0"/>
              </a:rPr>
              <a:t>      }</a:t>
            </a:r>
            <a:br>
              <a:rPr lang="en-US" altLang="en-US" sz="1400" b="1">
                <a:solidFill>
                  <a:srgbClr val="0070C0"/>
                </a:solidFill>
                <a:latin typeface="Courier New" panose="02070309020205020404" pitchFamily="49" charset="0"/>
              </a:rPr>
            </a:br>
            <a:r>
              <a:rPr lang="en-US" altLang="en-US" sz="1400" b="1">
                <a:solidFill>
                  <a:srgbClr val="0070C0"/>
                </a:solidFill>
                <a:latin typeface="Courier New" panose="02070309020205020404" pitchFamily="49" charset="0"/>
              </a:rPr>
              <a:t>    });</a:t>
            </a:r>
            <a:br>
              <a:rPr lang="en-US" altLang="en-US" sz="1400" b="1">
                <a:solidFill>
                  <a:srgbClr val="0070C0"/>
                </a:solidFill>
                <a:latin typeface="Courier New" panose="02070309020205020404" pitchFamily="49" charset="0"/>
              </a:rPr>
            </a:br>
            <a:r>
              <a:rPr lang="en-US" altLang="en-US" sz="1200">
                <a:solidFill>
                  <a:srgbClr val="FFFFFF"/>
                </a:solidFill>
                <a:latin typeface="Franklin Gothic Book" panose="020B0503020102020204" pitchFamily="34" charset="0"/>
              </a:rPr>
              <a:t>22</a:t>
            </a:r>
            <a:r>
              <a:rPr lang="en-US" altLang="en-US" sz="2000"/>
              <a:t> </a:t>
            </a:r>
            <a:br>
              <a:rPr lang="en-US" altLang="en-US" sz="2000"/>
            </a:br>
            <a:endParaRPr lang="en-US" altLang="en-US" sz="2000"/>
          </a:p>
        </p:txBody>
      </p:sp>
      <p:pic>
        <p:nvPicPr>
          <p:cNvPr id="39940"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67425" y="76200"/>
            <a:ext cx="28765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557963" y="933450"/>
            <a:ext cx="2257425" cy="12096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9929382-37C1-4D58-97ED-45E321D734BD}" type="slidenum">
              <a:rPr lang="en-US" altLang="en-US" sz="1400" smtClean="0"/>
              <a:pPr>
                <a:spcBef>
                  <a:spcPct val="0"/>
                </a:spcBef>
                <a:buClrTx/>
                <a:buSzTx/>
                <a:buFontTx/>
                <a:buNone/>
              </a:pPr>
              <a:t>36</a:t>
            </a:fld>
            <a:endParaRPr lang="en-US" altLang="en-US" sz="1400" smtClean="0"/>
          </a:p>
        </p:txBody>
      </p:sp>
      <p:sp>
        <p:nvSpPr>
          <p:cNvPr id="40963" name="Rectangle 4"/>
          <p:cNvSpPr>
            <a:spLocks noChangeArrowheads="1"/>
          </p:cNvSpPr>
          <p:nvPr/>
        </p:nvSpPr>
        <p:spPr bwMode="auto">
          <a:xfrm>
            <a:off x="152400" y="304800"/>
            <a:ext cx="9144000"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solidFill>
                  <a:srgbClr val="FF0000"/>
                </a:solidFill>
                <a:latin typeface="Courier New" panose="02070309020205020404" pitchFamily="49" charset="0"/>
              </a:rPr>
              <a:t>     btSave.setOnAction(new EventHandler&lt;ActionEvent&gt;() {</a:t>
            </a:r>
          </a:p>
          <a:p>
            <a:pPr>
              <a:spcBef>
                <a:spcPct val="0"/>
              </a:spcBef>
              <a:buClrTx/>
              <a:buSzTx/>
              <a:buFontTx/>
              <a:buNone/>
            </a:pPr>
            <a:r>
              <a:rPr lang="en-US" altLang="en-US" sz="1400" b="1">
                <a:solidFill>
                  <a:srgbClr val="FF0000"/>
                </a:solidFill>
                <a:latin typeface="Courier New" panose="02070309020205020404" pitchFamily="49" charset="0"/>
              </a:rPr>
              <a:t>       @Override // Override the handle method</a:t>
            </a:r>
          </a:p>
          <a:p>
            <a:pPr>
              <a:spcBef>
                <a:spcPct val="0"/>
              </a:spcBef>
              <a:buClrTx/>
              <a:buSzTx/>
              <a:buFontTx/>
              <a:buNone/>
            </a:pPr>
            <a:r>
              <a:rPr lang="en-US" altLang="en-US" sz="1400" b="1">
                <a:solidFill>
                  <a:srgbClr val="FF0000"/>
                </a:solidFill>
                <a:latin typeface="Courier New" panose="02070309020205020404" pitchFamily="49" charset="0"/>
              </a:rPr>
              <a:t>       public void handle(ActionEvent e) {</a:t>
            </a:r>
          </a:p>
          <a:p>
            <a:pPr>
              <a:spcBef>
                <a:spcPct val="0"/>
              </a:spcBef>
              <a:buClrTx/>
              <a:buSzTx/>
              <a:buFontTx/>
              <a:buNone/>
            </a:pPr>
            <a:r>
              <a:rPr lang="en-US" altLang="en-US" sz="1400" b="1">
                <a:solidFill>
                  <a:srgbClr val="FF0000"/>
                </a:solidFill>
                <a:latin typeface="Courier New" panose="02070309020205020404" pitchFamily="49" charset="0"/>
              </a:rPr>
              <a:t>         System.out.println("Process Save");</a:t>
            </a:r>
          </a:p>
          <a:p>
            <a:pPr>
              <a:spcBef>
                <a:spcPct val="0"/>
              </a:spcBef>
              <a:buClrTx/>
              <a:buSzTx/>
              <a:buFontTx/>
              <a:buNone/>
            </a:pPr>
            <a:r>
              <a:rPr lang="en-US" altLang="en-US" sz="1400" b="1">
                <a:solidFill>
                  <a:srgbClr val="FF0000"/>
                </a:solidFill>
                <a:latin typeface="Courier New" panose="02070309020205020404" pitchFamily="49" charset="0"/>
              </a:rPr>
              <a:t>       }</a:t>
            </a:r>
          </a:p>
          <a:p>
            <a:pPr>
              <a:spcBef>
                <a:spcPct val="0"/>
              </a:spcBef>
              <a:buClrTx/>
              <a:buSzTx/>
              <a:buFontTx/>
              <a:buNone/>
            </a:pPr>
            <a:r>
              <a:rPr lang="en-US" altLang="en-US" sz="1400" b="1">
                <a:solidFill>
                  <a:srgbClr val="FF0000"/>
                </a:solidFill>
                <a:latin typeface="Courier New" panose="02070309020205020404" pitchFamily="49" charset="0"/>
              </a:rPr>
              <a:t>     });</a:t>
            </a:r>
          </a:p>
          <a:p>
            <a:pPr>
              <a:spcBef>
                <a:spcPct val="0"/>
              </a:spcBef>
              <a:buClrTx/>
              <a:buSzTx/>
              <a:buFontTx/>
              <a:buNone/>
            </a:pPr>
            <a:r>
              <a:rPr lang="en-US" altLang="en-US" sz="1400" b="1">
                <a:solidFill>
                  <a:srgbClr val="000000"/>
                </a:solidFill>
                <a:latin typeface="Courier New" panose="02070309020205020404" pitchFamily="49" charset="0"/>
              </a:rPr>
              <a:t>    </a:t>
            </a:r>
          </a:p>
          <a:p>
            <a:pPr>
              <a:spcBef>
                <a:spcPct val="0"/>
              </a:spcBef>
              <a:buClrTx/>
              <a:buSzTx/>
              <a:buFontTx/>
              <a:buNone/>
            </a:pPr>
            <a:r>
              <a:rPr lang="en-US" altLang="en-US" sz="1400" b="1">
                <a:solidFill>
                  <a:srgbClr val="0070C0"/>
                </a:solidFill>
                <a:latin typeface="Courier New" panose="02070309020205020404" pitchFamily="49" charset="0"/>
              </a:rPr>
              <a:t>    btPrint.setOnAction(new EventHandler&lt;ActionEvent&gt;() {</a:t>
            </a:r>
          </a:p>
          <a:p>
            <a:pPr>
              <a:spcBef>
                <a:spcPct val="0"/>
              </a:spcBef>
              <a:buClrTx/>
              <a:buSzTx/>
              <a:buFontTx/>
              <a:buNone/>
            </a:pPr>
            <a:r>
              <a:rPr lang="en-US" altLang="en-US" sz="1400" b="1">
                <a:solidFill>
                  <a:srgbClr val="0070C0"/>
                </a:solidFill>
                <a:latin typeface="Courier New" panose="02070309020205020404" pitchFamily="49" charset="0"/>
              </a:rPr>
              <a:t>      @Override // Override the handle method</a:t>
            </a:r>
          </a:p>
          <a:p>
            <a:pPr>
              <a:spcBef>
                <a:spcPct val="0"/>
              </a:spcBef>
              <a:buClrTx/>
              <a:buSzTx/>
              <a:buFontTx/>
              <a:buNone/>
            </a:pPr>
            <a:r>
              <a:rPr lang="en-US" altLang="en-US" sz="1400" b="1">
                <a:solidFill>
                  <a:srgbClr val="0070C0"/>
                </a:solidFill>
                <a:latin typeface="Courier New" panose="02070309020205020404" pitchFamily="49" charset="0"/>
              </a:rPr>
              <a:t>      public void handle(ActionEvent e) {</a:t>
            </a:r>
          </a:p>
          <a:p>
            <a:pPr>
              <a:spcBef>
                <a:spcPct val="0"/>
              </a:spcBef>
              <a:buClrTx/>
              <a:buSzTx/>
              <a:buFontTx/>
              <a:buNone/>
            </a:pPr>
            <a:r>
              <a:rPr lang="en-US" altLang="en-US" sz="1400" b="1">
                <a:solidFill>
                  <a:srgbClr val="0070C0"/>
                </a:solidFill>
                <a:latin typeface="Courier New" panose="02070309020205020404" pitchFamily="49" charset="0"/>
              </a:rPr>
              <a:t>        System.out.println("Process Print");</a:t>
            </a:r>
          </a:p>
          <a:p>
            <a:pPr>
              <a:spcBef>
                <a:spcPct val="0"/>
              </a:spcBef>
              <a:buClrTx/>
              <a:buSzTx/>
              <a:buFontTx/>
              <a:buNone/>
            </a:pPr>
            <a:r>
              <a:rPr lang="en-US" altLang="en-US" sz="1400" b="1">
                <a:solidFill>
                  <a:srgbClr val="0070C0"/>
                </a:solidFill>
                <a:latin typeface="Courier New" panose="02070309020205020404" pitchFamily="49" charset="0"/>
              </a:rPr>
              <a:t>      }</a:t>
            </a:r>
          </a:p>
          <a:p>
            <a:pPr>
              <a:spcBef>
                <a:spcPct val="0"/>
              </a:spcBef>
              <a:buClrTx/>
              <a:buSzTx/>
              <a:buFontTx/>
              <a:buNone/>
            </a:pPr>
            <a:r>
              <a:rPr lang="en-US" altLang="en-US" sz="1400" b="1">
                <a:solidFill>
                  <a:srgbClr val="0070C0"/>
                </a:solidFill>
                <a:latin typeface="Courier New" panose="02070309020205020404" pitchFamily="49" charset="0"/>
              </a:rPr>
              <a:t>    });</a:t>
            </a:r>
          </a:p>
          <a:p>
            <a:pPr>
              <a:spcBef>
                <a:spcPct val="0"/>
              </a:spcBef>
              <a:buClrTx/>
              <a:buSzTx/>
              <a:buFontTx/>
              <a:buNone/>
            </a:pPr>
            <a:r>
              <a:rPr lang="en-US" altLang="en-US" sz="1400" b="1">
                <a:solidFill>
                  <a:srgbClr val="000000"/>
                </a:solidFill>
                <a:latin typeface="Courier New" panose="02070309020205020404" pitchFamily="49" charset="0"/>
              </a:rPr>
              <a:t>    Scene scene = new Scene(hBox, 300, 50);</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primaryStage.setTitle("AnonymousHandlerDemo");</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primaryStage.setScene(scene);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primaryStage.show();</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static void main(String[] args)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launch(args);</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a:t>
            </a:r>
            <a:r>
              <a:rPr lang="en-US" altLang="en-US" sz="1600"/>
              <a:t> </a:t>
            </a:r>
            <a:br>
              <a:rPr lang="en-US" altLang="en-US" sz="1600"/>
            </a:br>
            <a:endParaRPr lang="en-US" altLang="en-US" sz="160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If class A is an inner class in class B, what is the .class file for A? If class B contains two anonymous inner classes, what are the .class file names for these two classes</a:t>
            </a:r>
            <a:r>
              <a:rPr lang="en-US" sz="2000" dirty="0" smtClean="0">
                <a:latin typeface="Calibri" panose="020F0502020204030204" pitchFamily="34" charset="0"/>
                <a:cs typeface="Calibri" panose="020F0502020204030204" pitchFamily="34" charset="0"/>
              </a:rPr>
              <a:t>?</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en-US" sz="2000" dirty="0">
                <a:solidFill>
                  <a:srgbClr val="0070C0"/>
                </a:solidFill>
                <a:latin typeface="Calibri" panose="020F0502020204030204" pitchFamily="34" charset="0"/>
                <a:cs typeface="Calibri" panose="020F0502020204030204" pitchFamily="34" charset="0"/>
              </a:rPr>
              <a:t>If class A is an inner class in class B, the .class file for A is </a:t>
            </a:r>
            <a:r>
              <a:rPr lang="en-US" sz="2000" dirty="0" err="1" smtClean="0">
                <a:solidFill>
                  <a:srgbClr val="0070C0"/>
                </a:solidFill>
                <a:latin typeface="Calibri" panose="020F0502020204030204" pitchFamily="34" charset="0"/>
                <a:cs typeface="Calibri" panose="020F0502020204030204" pitchFamily="34" charset="0"/>
              </a:rPr>
              <a:t>B$A.class</a:t>
            </a:r>
            <a:r>
              <a:rPr lang="en-US" sz="2000" dirty="0" smtClean="0">
                <a:solidFill>
                  <a:srgbClr val="0070C0"/>
                </a:solidFill>
                <a:latin typeface="Calibri" panose="020F0502020204030204" pitchFamily="34" charset="0"/>
                <a:cs typeface="Calibri" panose="020F0502020204030204" pitchFamily="34" charset="0"/>
              </a:rPr>
              <a:t>.</a:t>
            </a:r>
            <a:endParaRPr lang="tr-TR" sz="2000" dirty="0" smtClean="0">
              <a:solidFill>
                <a:srgbClr val="0070C0"/>
              </a:solidFill>
              <a:latin typeface="Calibri" panose="020F0502020204030204" pitchFamily="34" charset="0"/>
              <a:cs typeface="Calibri" panose="020F0502020204030204" pitchFamily="34" charset="0"/>
            </a:endParaRPr>
          </a:p>
          <a:p>
            <a:r>
              <a:rPr lang="en-US" sz="2000" dirty="0" smtClean="0">
                <a:solidFill>
                  <a:srgbClr val="0070C0"/>
                </a:solidFill>
                <a:latin typeface="Calibri" panose="020F0502020204030204" pitchFamily="34" charset="0"/>
                <a:cs typeface="Calibri" panose="020F0502020204030204" pitchFamily="34" charset="0"/>
              </a:rPr>
              <a:t>If </a:t>
            </a:r>
            <a:r>
              <a:rPr lang="en-US" sz="2000" dirty="0">
                <a:solidFill>
                  <a:srgbClr val="0070C0"/>
                </a:solidFill>
                <a:latin typeface="Calibri" panose="020F0502020204030204" pitchFamily="34" charset="0"/>
                <a:cs typeface="Calibri" panose="020F0502020204030204" pitchFamily="34" charset="0"/>
              </a:rPr>
              <a:t>class B contains two anonymous inner classes, the .class file names for these two classes are </a:t>
            </a:r>
            <a:r>
              <a:rPr lang="en-US" sz="2000" dirty="0" smtClean="0">
                <a:solidFill>
                  <a:srgbClr val="0070C0"/>
                </a:solidFill>
                <a:latin typeface="Calibri" panose="020F0502020204030204" pitchFamily="34" charset="0"/>
                <a:cs typeface="Calibri" panose="020F0502020204030204" pitchFamily="34" charset="0"/>
              </a:rPr>
              <a:t>B$1 </a:t>
            </a:r>
            <a:r>
              <a:rPr lang="en-US" sz="2000" dirty="0">
                <a:solidFill>
                  <a:srgbClr val="0070C0"/>
                </a:solidFill>
                <a:latin typeface="Calibri" panose="020F0502020204030204" pitchFamily="34" charset="0"/>
                <a:cs typeface="Calibri" panose="020F0502020204030204" pitchFamily="34" charset="0"/>
              </a:rPr>
              <a:t>and </a:t>
            </a:r>
            <a:r>
              <a:rPr lang="en-US" sz="2000" dirty="0" smtClean="0">
                <a:solidFill>
                  <a:srgbClr val="0070C0"/>
                </a:solidFill>
                <a:latin typeface="Calibri" panose="020F0502020204030204" pitchFamily="34" charset="0"/>
                <a:cs typeface="Calibri" panose="020F0502020204030204" pitchFamily="34" charset="0"/>
              </a:rPr>
              <a:t>B$2</a:t>
            </a:r>
            <a:r>
              <a:rPr lang="en-US" sz="2000" dirty="0">
                <a:solidFill>
                  <a:srgbClr val="0070C0"/>
                </a:solidFill>
                <a:latin typeface="Calibri" panose="020F0502020204030204" pitchFamily="34" charset="0"/>
                <a:cs typeface="Calibri" panose="020F0502020204030204" pitchFamily="34" charset="0"/>
              </a:rPr>
              <a:t>.</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37</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07344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noProof="1" smtClean="0">
                <a:latin typeface="Calibri" panose="020F0502020204030204" pitchFamily="34" charset="0"/>
                <a:cs typeface="Calibri" panose="020F0502020204030204" pitchFamily="34" charset="0"/>
              </a:rPr>
              <a:t>What is wrong in the following code?</a:t>
            </a:r>
          </a:p>
          <a:p>
            <a:pPr marL="0" indent="0">
              <a:buNone/>
            </a:pPr>
            <a:r>
              <a:rPr lang="en-US" sz="1600" noProof="1" smtClean="0">
                <a:latin typeface="Consolas" panose="020B0609020204030204" pitchFamily="49" charset="0"/>
                <a:cs typeface="Calibri" panose="020F0502020204030204" pitchFamily="34" charset="0"/>
              </a:rPr>
              <a:t>   </a:t>
            </a:r>
            <a:r>
              <a:rPr lang="en-US" sz="1600" noProof="1" smtClean="0">
                <a:solidFill>
                  <a:srgbClr val="0070C0"/>
                </a:solidFill>
                <a:latin typeface="Consolas" panose="020B0609020204030204" pitchFamily="49" charset="0"/>
                <a:cs typeface="Calibri" panose="020F0502020204030204" pitchFamily="34" charset="0"/>
              </a:rPr>
              <a:t>public class </a:t>
            </a:r>
            <a:r>
              <a:rPr lang="en-US" sz="1600" noProof="1" smtClean="0">
                <a:latin typeface="Consolas" panose="020B0609020204030204" pitchFamily="49" charset="0"/>
                <a:cs typeface="Calibri" panose="020F0502020204030204" pitchFamily="34" charset="0"/>
              </a:rPr>
              <a:t>Test </a:t>
            </a:r>
            <a:r>
              <a:rPr lang="en-US" sz="1600" noProof="1" smtClean="0">
                <a:solidFill>
                  <a:srgbClr val="0070C0"/>
                </a:solidFill>
                <a:latin typeface="Consolas" panose="020B0609020204030204" pitchFamily="49" charset="0"/>
                <a:cs typeface="Calibri" panose="020F0502020204030204" pitchFamily="34" charset="0"/>
              </a:rPr>
              <a:t>extends</a:t>
            </a:r>
            <a:r>
              <a:rPr lang="en-US" sz="1600" noProof="1" smtClean="0">
                <a:latin typeface="Consolas" panose="020B0609020204030204" pitchFamily="49" charset="0"/>
                <a:cs typeface="Calibri" panose="020F0502020204030204" pitchFamily="34" charset="0"/>
              </a:rPr>
              <a:t> Application {</a:t>
            </a:r>
          </a:p>
          <a:p>
            <a:pPr marL="0" indent="0">
              <a:buNone/>
            </a:pPr>
            <a:r>
              <a:rPr lang="en-US" sz="1600" noProof="1" smtClean="0">
                <a:latin typeface="Consolas" panose="020B0609020204030204" pitchFamily="49" charset="0"/>
                <a:cs typeface="Calibri" panose="020F0502020204030204" pitchFamily="34" charset="0"/>
              </a:rPr>
              <a:t>   </a:t>
            </a:r>
            <a:r>
              <a:rPr lang="tr-TR" sz="1600" noProof="1" smtClean="0">
                <a:latin typeface="Consolas" panose="020B0609020204030204" pitchFamily="49" charset="0"/>
                <a:cs typeface="Calibri" panose="020F0502020204030204" pitchFamily="34" charset="0"/>
              </a:rPr>
              <a:t>  </a:t>
            </a:r>
            <a:r>
              <a:rPr lang="en-US" sz="1600" noProof="1" smtClean="0">
                <a:solidFill>
                  <a:srgbClr val="0070C0"/>
                </a:solidFill>
                <a:latin typeface="Consolas" panose="020B0609020204030204" pitchFamily="49" charset="0"/>
                <a:cs typeface="Calibri" panose="020F0502020204030204" pitchFamily="34" charset="0"/>
              </a:rPr>
              <a:t>public void </a:t>
            </a:r>
            <a:r>
              <a:rPr lang="en-US" sz="1600" noProof="1" smtClean="0">
                <a:latin typeface="Consolas" panose="020B0609020204030204" pitchFamily="49" charset="0"/>
                <a:cs typeface="Calibri" panose="020F0502020204030204" pitchFamily="34" charset="0"/>
              </a:rPr>
              <a:t>start(Stage stage) {</a:t>
            </a:r>
          </a:p>
          <a:p>
            <a:pPr marL="0" indent="0">
              <a:buNone/>
            </a:pPr>
            <a:r>
              <a:rPr lang="en-US" sz="1600" noProof="1" smtClean="0">
                <a:latin typeface="Consolas" panose="020B0609020204030204" pitchFamily="49" charset="0"/>
                <a:cs typeface="Calibri" panose="020F0502020204030204" pitchFamily="34" charset="0"/>
              </a:rPr>
              <a:t>     </a:t>
            </a:r>
            <a:r>
              <a:rPr lang="tr-TR" sz="1600" noProof="1" smtClean="0">
                <a:latin typeface="Consolas" panose="020B0609020204030204" pitchFamily="49" charset="0"/>
                <a:cs typeface="Calibri" panose="020F0502020204030204" pitchFamily="34" charset="0"/>
              </a:rPr>
              <a:t>  </a:t>
            </a:r>
            <a:r>
              <a:rPr lang="en-US" sz="1600" noProof="1" smtClean="0">
                <a:latin typeface="Consolas" panose="020B0609020204030204" pitchFamily="49" charset="0"/>
                <a:cs typeface="Calibri" panose="020F0502020204030204" pitchFamily="34" charset="0"/>
              </a:rPr>
              <a:t>Button btOK = </a:t>
            </a:r>
            <a:r>
              <a:rPr lang="en-US" sz="1600" noProof="1" smtClean="0">
                <a:solidFill>
                  <a:srgbClr val="0070C0"/>
                </a:solidFill>
                <a:latin typeface="Consolas" panose="020B0609020204030204" pitchFamily="49" charset="0"/>
                <a:cs typeface="Calibri" panose="020F0502020204030204" pitchFamily="34" charset="0"/>
              </a:rPr>
              <a:t>new</a:t>
            </a:r>
            <a:r>
              <a:rPr lang="en-US" sz="1600" noProof="1" smtClean="0">
                <a:latin typeface="Consolas" panose="020B0609020204030204" pitchFamily="49" charset="0"/>
                <a:cs typeface="Calibri" panose="020F0502020204030204" pitchFamily="34" charset="0"/>
              </a:rPr>
              <a:t> Button("OK");</a:t>
            </a:r>
          </a:p>
          <a:p>
            <a:pPr marL="0" indent="0">
              <a:buNone/>
            </a:pPr>
            <a:r>
              <a:rPr lang="en-US" sz="1600" noProof="1" smtClean="0">
                <a:latin typeface="Consolas" panose="020B0609020204030204" pitchFamily="49" charset="0"/>
                <a:cs typeface="Calibri" panose="020F0502020204030204" pitchFamily="34" charset="0"/>
              </a:rPr>
              <a:t>     }</a:t>
            </a:r>
          </a:p>
          <a:p>
            <a:pPr marL="0" indent="0">
              <a:buNone/>
            </a:pPr>
            <a:endParaRPr lang="tr-TR" sz="1600" noProof="1">
              <a:latin typeface="Consolas" panose="020B0609020204030204" pitchFamily="49" charset="0"/>
              <a:cs typeface="Calibri" panose="020F0502020204030204" pitchFamily="34" charset="0"/>
            </a:endParaRPr>
          </a:p>
          <a:p>
            <a:pPr marL="0" indent="0">
              <a:buNone/>
            </a:pPr>
            <a:r>
              <a:rPr lang="tr-TR" sz="1600" noProof="1" smtClean="0">
                <a:latin typeface="Consolas" panose="020B0609020204030204" pitchFamily="49" charset="0"/>
                <a:cs typeface="Calibri" panose="020F0502020204030204" pitchFamily="34" charset="0"/>
              </a:rPr>
              <a:t>     </a:t>
            </a:r>
            <a:r>
              <a:rPr lang="en-US" sz="1600" noProof="1" smtClean="0">
                <a:solidFill>
                  <a:srgbClr val="0070C0"/>
                </a:solidFill>
                <a:latin typeface="Consolas" panose="020B0609020204030204" pitchFamily="49" charset="0"/>
                <a:cs typeface="Calibri" panose="020F0502020204030204" pitchFamily="34" charset="0"/>
              </a:rPr>
              <a:t>private class </a:t>
            </a:r>
            <a:r>
              <a:rPr lang="en-US" sz="1600" noProof="1" smtClean="0">
                <a:latin typeface="Consolas" panose="020B0609020204030204" pitchFamily="49" charset="0"/>
                <a:cs typeface="Calibri" panose="020F0502020204030204" pitchFamily="34" charset="0"/>
              </a:rPr>
              <a:t>Handler </a:t>
            </a:r>
            <a:r>
              <a:rPr lang="en-US" sz="1600" noProof="1" smtClean="0">
                <a:solidFill>
                  <a:srgbClr val="0070C0"/>
                </a:solidFill>
                <a:latin typeface="Consolas" panose="020B0609020204030204" pitchFamily="49" charset="0"/>
                <a:cs typeface="Calibri" panose="020F0502020204030204" pitchFamily="34" charset="0"/>
              </a:rPr>
              <a:t>implements</a:t>
            </a:r>
            <a:r>
              <a:rPr lang="tr-TR" sz="1600" noProof="1" smtClean="0">
                <a:latin typeface="Consolas" panose="020B0609020204030204" pitchFamily="49" charset="0"/>
                <a:cs typeface="Calibri" panose="020F0502020204030204" pitchFamily="34" charset="0"/>
              </a:rPr>
              <a:t> </a:t>
            </a:r>
            <a:r>
              <a:rPr lang="en-US" sz="1600" noProof="1" smtClean="0">
                <a:latin typeface="Consolas" panose="020B0609020204030204" pitchFamily="49" charset="0"/>
                <a:cs typeface="Calibri" panose="020F0502020204030204" pitchFamily="34" charset="0"/>
              </a:rPr>
              <a:t>EventHandler&lt;ActionEvent&gt; {</a:t>
            </a:r>
          </a:p>
          <a:p>
            <a:pPr marL="0" indent="0">
              <a:buNone/>
            </a:pPr>
            <a:r>
              <a:rPr lang="en-US" sz="1600" noProof="1" smtClean="0">
                <a:latin typeface="Consolas" panose="020B0609020204030204" pitchFamily="49" charset="0"/>
                <a:cs typeface="Calibri" panose="020F0502020204030204" pitchFamily="34" charset="0"/>
              </a:rPr>
              <a:t>     </a:t>
            </a:r>
            <a:r>
              <a:rPr lang="tr-TR" sz="1600" noProof="1" smtClean="0">
                <a:latin typeface="Consolas" panose="020B0609020204030204" pitchFamily="49" charset="0"/>
                <a:cs typeface="Calibri" panose="020F0502020204030204" pitchFamily="34" charset="0"/>
              </a:rPr>
              <a:t>  </a:t>
            </a:r>
            <a:r>
              <a:rPr lang="en-US" sz="1600" noProof="1" smtClean="0">
                <a:solidFill>
                  <a:srgbClr val="0070C0"/>
                </a:solidFill>
                <a:latin typeface="Consolas" panose="020B0609020204030204" pitchFamily="49" charset="0"/>
                <a:cs typeface="Calibri" panose="020F0502020204030204" pitchFamily="34" charset="0"/>
              </a:rPr>
              <a:t>public void </a:t>
            </a:r>
            <a:r>
              <a:rPr lang="en-US" sz="1600" noProof="1" smtClean="0">
                <a:latin typeface="Consolas" panose="020B0609020204030204" pitchFamily="49" charset="0"/>
                <a:cs typeface="Calibri" panose="020F0502020204030204" pitchFamily="34" charset="0"/>
              </a:rPr>
              <a:t>handle(Action e) {</a:t>
            </a:r>
          </a:p>
          <a:p>
            <a:pPr marL="0" indent="0">
              <a:buNone/>
            </a:pPr>
            <a:r>
              <a:rPr lang="en-US" sz="1600" noProof="1" smtClean="0">
                <a:latin typeface="Consolas" panose="020B0609020204030204" pitchFamily="49" charset="0"/>
                <a:cs typeface="Calibri" panose="020F0502020204030204" pitchFamily="34" charset="0"/>
              </a:rPr>
              <a:t>       </a:t>
            </a:r>
            <a:r>
              <a:rPr lang="tr-TR" sz="1600" noProof="1" smtClean="0">
                <a:latin typeface="Consolas" panose="020B0609020204030204" pitchFamily="49" charset="0"/>
                <a:cs typeface="Calibri" panose="020F0502020204030204" pitchFamily="34" charset="0"/>
              </a:rPr>
              <a:t>  </a:t>
            </a:r>
            <a:r>
              <a:rPr lang="en-US" sz="1600" noProof="1" smtClean="0">
                <a:latin typeface="Consolas" panose="020B0609020204030204" pitchFamily="49" charset="0"/>
                <a:cs typeface="Calibri" panose="020F0502020204030204" pitchFamily="34" charset="0"/>
              </a:rPr>
              <a:t>System.out.println(e.getSource());</a:t>
            </a:r>
          </a:p>
          <a:p>
            <a:pPr marL="0" indent="0">
              <a:buNone/>
            </a:pPr>
            <a:r>
              <a:rPr lang="en-US" sz="1600" noProof="1" smtClean="0">
                <a:latin typeface="Consolas" panose="020B0609020204030204" pitchFamily="49" charset="0"/>
                <a:cs typeface="Calibri" panose="020F0502020204030204" pitchFamily="34" charset="0"/>
              </a:rPr>
              <a:t>       }</a:t>
            </a:r>
          </a:p>
          <a:p>
            <a:pPr marL="0" indent="0">
              <a:buNone/>
            </a:pPr>
            <a:r>
              <a:rPr lang="en-US" sz="1600" noProof="1" smtClean="0">
                <a:latin typeface="Consolas" panose="020B0609020204030204" pitchFamily="49" charset="0"/>
                <a:cs typeface="Calibri" panose="020F0502020204030204" pitchFamily="34" charset="0"/>
              </a:rPr>
              <a:t>     }</a:t>
            </a:r>
          </a:p>
          <a:p>
            <a:pPr marL="0" indent="0">
              <a:buNone/>
            </a:pPr>
            <a:r>
              <a:rPr lang="tr-TR" sz="1600" noProof="1" smtClean="0">
                <a:latin typeface="Consolas" panose="020B0609020204030204" pitchFamily="49" charset="0"/>
                <a:cs typeface="Calibri" panose="020F0502020204030204" pitchFamily="34" charset="0"/>
              </a:rPr>
              <a:t>   </a:t>
            </a:r>
            <a:r>
              <a:rPr lang="en-US" sz="1600" noProof="1" smtClean="0">
                <a:latin typeface="Consolas" panose="020B0609020204030204" pitchFamily="49" charset="0"/>
                <a:cs typeface="Calibri" panose="020F0502020204030204" pitchFamily="34" charset="0"/>
              </a:rPr>
              <a:t>}</a:t>
            </a:r>
          </a:p>
          <a:p>
            <a:pPr marL="0" indent="0">
              <a:buNone/>
            </a:pPr>
            <a:r>
              <a:rPr lang="en-US" sz="2000" b="1" noProof="1" smtClean="0">
                <a:solidFill>
                  <a:srgbClr val="92D050"/>
                </a:solidFill>
                <a:latin typeface="Calibri" panose="020F0502020204030204" pitchFamily="34" charset="0"/>
                <a:cs typeface="Calibri" panose="020F0502020204030204" pitchFamily="34" charset="0"/>
              </a:rPr>
              <a:t>&lt;--- ANSWER ---&gt;</a:t>
            </a:r>
          </a:p>
          <a:p>
            <a:r>
              <a:rPr lang="en-US" sz="2000" noProof="1" smtClean="0">
                <a:solidFill>
                  <a:srgbClr val="0070C0"/>
                </a:solidFill>
                <a:latin typeface="Calibri" panose="020F0502020204030204" pitchFamily="34" charset="0"/>
                <a:cs typeface="Calibri" panose="020F0502020204030204" pitchFamily="34" charset="0"/>
              </a:rPr>
              <a:t>There is no registration for the handler.</a:t>
            </a: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38</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66864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9" end="9"/>
                                            </p:txEl>
                                          </p:spTgt>
                                        </p:tgtEl>
                                        <p:attrNameLst>
                                          <p:attrName>style.visibility</p:attrName>
                                        </p:attrNameLst>
                                      </p:cBhvr>
                                      <p:to>
                                        <p:strVal val="visible"/>
                                      </p:to>
                                    </p:set>
                                    <p:anim calcmode="lin" valueType="num">
                                      <p:cBhvr additive="base">
                                        <p:cTn id="4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 calcmode="lin" valueType="num">
                                      <p:cBhvr additive="base">
                                        <p:cTn id="45"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anim calcmode="lin" valueType="num">
                                      <p:cBhvr additive="base">
                                        <p:cTn id="49"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anim calcmode="lin" valueType="num">
                                      <p:cBhvr additive="base">
                                        <p:cTn id="55"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13" end="13"/>
                                            </p:txEl>
                                          </p:spTgt>
                                        </p:tgtEl>
                                        <p:attrNameLst>
                                          <p:attrName>style.visibility</p:attrName>
                                        </p:attrNameLst>
                                      </p:cBhvr>
                                      <p:to>
                                        <p:strVal val="visible"/>
                                      </p:to>
                                    </p:set>
                                    <p:anim calcmode="lin" valueType="num">
                                      <p:cBhvr additive="base">
                                        <p:cTn id="61"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lnSpcReduction="10000"/>
          </a:bodyPr>
          <a:lstStyle/>
          <a:p>
            <a:r>
              <a:rPr lang="en-US" sz="2000" noProof="1" smtClean="0">
                <a:latin typeface="Calibri" panose="020F0502020204030204" pitchFamily="34" charset="0"/>
                <a:cs typeface="Calibri" panose="020F0502020204030204" pitchFamily="34" charset="0"/>
              </a:rPr>
              <a:t>What is wrong in the following code?</a:t>
            </a:r>
          </a:p>
          <a:p>
            <a:pPr marL="0" indent="0">
              <a:buNone/>
            </a:pPr>
            <a:r>
              <a:rPr lang="tr-TR" sz="1600" noProof="1" smtClean="0">
                <a:latin typeface="Consolas" panose="020B0609020204030204" pitchFamily="49" charset="0"/>
                <a:cs typeface="Calibri" panose="020F0502020204030204" pitchFamily="34" charset="0"/>
              </a:rPr>
              <a:t>   </a:t>
            </a:r>
            <a:r>
              <a:rPr lang="tr-TR" sz="1600" noProof="1" smtClean="0">
                <a:solidFill>
                  <a:srgbClr val="0070C0"/>
                </a:solidFill>
                <a:latin typeface="Consolas" panose="020B0609020204030204" pitchFamily="49" charset="0"/>
                <a:cs typeface="Calibri" panose="020F0502020204030204" pitchFamily="34" charset="0"/>
              </a:rPr>
              <a:t>public </a:t>
            </a:r>
            <a:r>
              <a:rPr lang="tr-TR" sz="1600" noProof="1">
                <a:solidFill>
                  <a:srgbClr val="0070C0"/>
                </a:solidFill>
                <a:latin typeface="Consolas" panose="020B0609020204030204" pitchFamily="49" charset="0"/>
                <a:cs typeface="Calibri" panose="020F0502020204030204" pitchFamily="34" charset="0"/>
              </a:rPr>
              <a:t>class </a:t>
            </a:r>
            <a:r>
              <a:rPr lang="tr-TR" sz="1600" noProof="1">
                <a:latin typeface="Consolas" panose="020B0609020204030204" pitchFamily="49" charset="0"/>
                <a:cs typeface="Calibri" panose="020F0502020204030204" pitchFamily="34" charset="0"/>
              </a:rPr>
              <a:t>Test </a:t>
            </a:r>
            <a:r>
              <a:rPr lang="tr-TR" sz="1600" noProof="1">
                <a:solidFill>
                  <a:srgbClr val="0070C0"/>
                </a:solidFill>
                <a:latin typeface="Consolas" panose="020B0609020204030204" pitchFamily="49" charset="0"/>
                <a:cs typeface="Calibri" panose="020F0502020204030204" pitchFamily="34" charset="0"/>
              </a:rPr>
              <a:t>extends</a:t>
            </a:r>
            <a:r>
              <a:rPr lang="tr-TR" sz="1600" noProof="1">
                <a:latin typeface="Consolas" panose="020B0609020204030204" pitchFamily="49" charset="0"/>
                <a:cs typeface="Calibri" panose="020F0502020204030204" pitchFamily="34" charset="0"/>
              </a:rPr>
              <a:t> Application {</a:t>
            </a:r>
          </a:p>
          <a:p>
            <a:pPr marL="0" indent="0">
              <a:buNone/>
            </a:pPr>
            <a:r>
              <a:rPr lang="tr-TR" sz="1600" noProof="1">
                <a:latin typeface="Consolas" panose="020B0609020204030204" pitchFamily="49" charset="0"/>
                <a:cs typeface="Calibri" panose="020F0502020204030204" pitchFamily="34" charset="0"/>
              </a:rPr>
              <a:t>  </a:t>
            </a:r>
            <a:r>
              <a:rPr lang="tr-TR" sz="1600" noProof="1" smtClean="0">
                <a:latin typeface="Consolas" panose="020B0609020204030204" pitchFamily="49" charset="0"/>
                <a:cs typeface="Calibri" panose="020F0502020204030204" pitchFamily="34" charset="0"/>
              </a:rPr>
              <a:t>   </a:t>
            </a:r>
            <a:r>
              <a:rPr lang="tr-TR" sz="1600" noProof="1" smtClean="0">
                <a:solidFill>
                  <a:srgbClr val="0070C0"/>
                </a:solidFill>
                <a:latin typeface="Consolas" panose="020B0609020204030204" pitchFamily="49" charset="0"/>
                <a:cs typeface="Calibri" panose="020F0502020204030204" pitchFamily="34" charset="0"/>
              </a:rPr>
              <a:t>public </a:t>
            </a:r>
            <a:r>
              <a:rPr lang="tr-TR" sz="1600" noProof="1">
                <a:solidFill>
                  <a:srgbClr val="0070C0"/>
                </a:solidFill>
                <a:latin typeface="Consolas" panose="020B0609020204030204" pitchFamily="49" charset="0"/>
                <a:cs typeface="Calibri" panose="020F0502020204030204" pitchFamily="34" charset="0"/>
              </a:rPr>
              <a:t>void </a:t>
            </a:r>
            <a:r>
              <a:rPr lang="tr-TR" sz="1600" noProof="1">
                <a:latin typeface="Consolas" panose="020B0609020204030204" pitchFamily="49" charset="0"/>
                <a:cs typeface="Calibri" panose="020F0502020204030204" pitchFamily="34" charset="0"/>
              </a:rPr>
              <a:t>start(Stage stage) {</a:t>
            </a:r>
          </a:p>
          <a:p>
            <a:pPr marL="0" indent="0">
              <a:buNone/>
            </a:pPr>
            <a:r>
              <a:rPr lang="tr-TR" sz="1600" noProof="1">
                <a:latin typeface="Consolas" panose="020B0609020204030204" pitchFamily="49" charset="0"/>
                <a:cs typeface="Calibri" panose="020F0502020204030204" pitchFamily="34" charset="0"/>
              </a:rPr>
              <a:t>    </a:t>
            </a:r>
            <a:r>
              <a:rPr lang="tr-TR" sz="1600" noProof="1" smtClean="0">
                <a:latin typeface="Consolas" panose="020B0609020204030204" pitchFamily="49" charset="0"/>
                <a:cs typeface="Calibri" panose="020F0502020204030204" pitchFamily="34" charset="0"/>
              </a:rPr>
              <a:t>   Button </a:t>
            </a:r>
            <a:r>
              <a:rPr lang="tr-TR" sz="1600" noProof="1">
                <a:latin typeface="Consolas" panose="020B0609020204030204" pitchFamily="49" charset="0"/>
                <a:cs typeface="Calibri" panose="020F0502020204030204" pitchFamily="34" charset="0"/>
              </a:rPr>
              <a:t>btOK = </a:t>
            </a:r>
            <a:r>
              <a:rPr lang="tr-TR" sz="1600" noProof="1">
                <a:solidFill>
                  <a:srgbClr val="0070C0"/>
                </a:solidFill>
                <a:latin typeface="Consolas" panose="020B0609020204030204" pitchFamily="49" charset="0"/>
                <a:cs typeface="Calibri" panose="020F0502020204030204" pitchFamily="34" charset="0"/>
              </a:rPr>
              <a:t>new</a:t>
            </a:r>
            <a:r>
              <a:rPr lang="tr-TR" sz="1600" noProof="1">
                <a:latin typeface="Consolas" panose="020B0609020204030204" pitchFamily="49" charset="0"/>
                <a:cs typeface="Calibri" panose="020F0502020204030204" pitchFamily="34" charset="0"/>
              </a:rPr>
              <a:t> Button("OK");</a:t>
            </a:r>
          </a:p>
          <a:p>
            <a:pPr marL="0" indent="0">
              <a:buNone/>
            </a:pPr>
            <a:r>
              <a:rPr lang="tr-TR" sz="1600" noProof="1" smtClean="0">
                <a:latin typeface="Consolas" panose="020B0609020204030204" pitchFamily="49" charset="0"/>
                <a:cs typeface="Calibri" panose="020F0502020204030204" pitchFamily="34" charset="0"/>
              </a:rPr>
              <a:t>       </a:t>
            </a:r>
          </a:p>
          <a:p>
            <a:pPr marL="0" indent="0">
              <a:buNone/>
            </a:pPr>
            <a:r>
              <a:rPr lang="tr-TR" sz="1600" noProof="1">
                <a:latin typeface="Consolas" panose="020B0609020204030204" pitchFamily="49" charset="0"/>
                <a:cs typeface="Calibri" panose="020F0502020204030204" pitchFamily="34" charset="0"/>
              </a:rPr>
              <a:t> </a:t>
            </a:r>
            <a:r>
              <a:rPr lang="tr-TR" sz="1600" noProof="1" smtClean="0">
                <a:latin typeface="Consolas" panose="020B0609020204030204" pitchFamily="49" charset="0"/>
                <a:cs typeface="Calibri" panose="020F0502020204030204" pitchFamily="34" charset="0"/>
              </a:rPr>
              <a:t>      btOK.setOnAction(</a:t>
            </a:r>
          </a:p>
          <a:p>
            <a:pPr marL="0" indent="0">
              <a:buNone/>
            </a:pPr>
            <a:r>
              <a:rPr lang="tr-TR" sz="1600" noProof="1" smtClean="0">
                <a:latin typeface="Consolas" panose="020B0609020204030204" pitchFamily="49" charset="0"/>
                <a:cs typeface="Calibri" panose="020F0502020204030204" pitchFamily="34" charset="0"/>
              </a:rPr>
              <a:t>         </a:t>
            </a:r>
            <a:r>
              <a:rPr lang="tr-TR" sz="1600" noProof="1" smtClean="0">
                <a:solidFill>
                  <a:srgbClr val="0070C0"/>
                </a:solidFill>
                <a:latin typeface="Consolas" panose="020B0609020204030204" pitchFamily="49" charset="0"/>
                <a:cs typeface="Calibri" panose="020F0502020204030204" pitchFamily="34" charset="0"/>
              </a:rPr>
              <a:t>new</a:t>
            </a:r>
            <a:r>
              <a:rPr lang="tr-TR" sz="1600" noProof="1" smtClean="0">
                <a:latin typeface="Consolas" panose="020B0609020204030204" pitchFamily="49" charset="0"/>
                <a:cs typeface="Calibri" panose="020F0502020204030204" pitchFamily="34" charset="0"/>
              </a:rPr>
              <a:t> EventHandler&lt;ActionEvent&gt; {</a:t>
            </a:r>
          </a:p>
          <a:p>
            <a:pPr marL="0" indent="0">
              <a:buNone/>
            </a:pPr>
            <a:r>
              <a:rPr lang="tr-TR" sz="1600" noProof="1" smtClean="0">
                <a:latin typeface="Consolas" panose="020B0609020204030204" pitchFamily="49" charset="0"/>
                <a:cs typeface="Calibri" panose="020F0502020204030204" pitchFamily="34" charset="0"/>
              </a:rPr>
              <a:t>           </a:t>
            </a:r>
            <a:r>
              <a:rPr lang="tr-TR" sz="1600" noProof="1" smtClean="0">
                <a:solidFill>
                  <a:srgbClr val="0070C0"/>
                </a:solidFill>
                <a:latin typeface="Consolas" panose="020B0609020204030204" pitchFamily="49" charset="0"/>
                <a:cs typeface="Calibri" panose="020F0502020204030204" pitchFamily="34" charset="0"/>
              </a:rPr>
              <a:t>public void </a:t>
            </a:r>
            <a:r>
              <a:rPr lang="tr-TR" sz="1600" noProof="1" smtClean="0">
                <a:latin typeface="Consolas" panose="020B0609020204030204" pitchFamily="49" charset="0"/>
                <a:cs typeface="Calibri" panose="020F0502020204030204" pitchFamily="34" charset="0"/>
              </a:rPr>
              <a:t>handle(ActionEvent e) {</a:t>
            </a:r>
          </a:p>
          <a:p>
            <a:pPr marL="0" indent="0">
              <a:buNone/>
            </a:pPr>
            <a:r>
              <a:rPr lang="tr-TR" sz="1600" noProof="1" smtClean="0">
                <a:latin typeface="Consolas" panose="020B0609020204030204" pitchFamily="49" charset="0"/>
                <a:cs typeface="Calibri" panose="020F0502020204030204" pitchFamily="34" charset="0"/>
              </a:rPr>
              <a:t>             System.out.println(e.getSource());</a:t>
            </a:r>
          </a:p>
          <a:p>
            <a:pPr marL="0" indent="0">
              <a:buNone/>
            </a:pPr>
            <a:r>
              <a:rPr lang="tr-TR" sz="1600" noProof="1" smtClean="0">
                <a:latin typeface="Consolas" panose="020B0609020204030204" pitchFamily="49" charset="0"/>
                <a:cs typeface="Calibri" panose="020F0502020204030204" pitchFamily="34" charset="0"/>
              </a:rPr>
              <a:t>           }</a:t>
            </a:r>
          </a:p>
          <a:p>
            <a:pPr marL="0" indent="0">
              <a:buNone/>
            </a:pPr>
            <a:r>
              <a:rPr lang="tr-TR" sz="1600" noProof="1" smtClean="0">
                <a:latin typeface="Consolas" panose="020B0609020204030204" pitchFamily="49" charset="0"/>
                <a:cs typeface="Calibri" panose="020F0502020204030204" pitchFamily="34" charset="0"/>
              </a:rPr>
              <a:t>         }  // Something missing here</a:t>
            </a:r>
          </a:p>
          <a:p>
            <a:pPr marL="0" indent="0">
              <a:buNone/>
            </a:pPr>
            <a:r>
              <a:rPr lang="tr-TR" sz="1600" noProof="1" smtClean="0">
                <a:latin typeface="Consolas" panose="020B0609020204030204" pitchFamily="49" charset="0"/>
                <a:cs typeface="Calibri" panose="020F0502020204030204" pitchFamily="34" charset="0"/>
              </a:rPr>
              <a:t>     }</a:t>
            </a:r>
          </a:p>
          <a:p>
            <a:pPr marL="0" indent="0">
              <a:buNone/>
            </a:pPr>
            <a:r>
              <a:rPr lang="tr-TR" sz="1600" noProof="1" smtClean="0">
                <a:latin typeface="Consolas" panose="020B0609020204030204" pitchFamily="49" charset="0"/>
                <a:cs typeface="Calibri" panose="020F0502020204030204" pitchFamily="34" charset="0"/>
              </a:rPr>
              <a:t>   }</a:t>
            </a:r>
          </a:p>
          <a:p>
            <a:pPr marL="0" indent="0">
              <a:buNone/>
            </a:pPr>
            <a:r>
              <a:rPr lang="en-US" sz="2000" b="1" noProof="1" smtClean="0">
                <a:solidFill>
                  <a:srgbClr val="92D050"/>
                </a:solidFill>
                <a:latin typeface="Calibri" panose="020F0502020204030204" pitchFamily="34" charset="0"/>
                <a:cs typeface="Calibri" panose="020F0502020204030204" pitchFamily="34" charset="0"/>
              </a:rPr>
              <a:t>&lt;--- ANSWER ---&gt;</a:t>
            </a:r>
          </a:p>
          <a:p>
            <a:r>
              <a:rPr lang="tr-TR" sz="2000" noProof="1" smtClean="0">
                <a:solidFill>
                  <a:srgbClr val="0070C0"/>
                </a:solidFill>
                <a:latin typeface="Calibri" panose="020F0502020204030204" pitchFamily="34" charset="0"/>
                <a:cs typeface="Calibri" panose="020F0502020204030204" pitchFamily="34" charset="0"/>
              </a:rPr>
              <a:t>M</a:t>
            </a:r>
            <a:r>
              <a:rPr lang="en-US" sz="2000" noProof="1" smtClean="0">
                <a:solidFill>
                  <a:srgbClr val="0070C0"/>
                </a:solidFill>
                <a:latin typeface="Calibri" panose="020F0502020204030204" pitchFamily="34" charset="0"/>
                <a:cs typeface="Calibri" panose="020F0502020204030204" pitchFamily="34" charset="0"/>
              </a:rPr>
              <a:t>issing </a:t>
            </a:r>
            <a:r>
              <a:rPr lang="en-US" sz="2000" noProof="1">
                <a:solidFill>
                  <a:srgbClr val="0070C0"/>
                </a:solidFill>
                <a:latin typeface="Calibri" panose="020F0502020204030204" pitchFamily="34" charset="0"/>
                <a:cs typeface="Calibri" panose="020F0502020204030204" pitchFamily="34" charset="0"/>
              </a:rPr>
              <a:t>); in Line -</a:t>
            </a:r>
            <a:r>
              <a:rPr lang="en-US" sz="2000" noProof="1" smtClean="0">
                <a:solidFill>
                  <a:srgbClr val="0070C0"/>
                </a:solidFill>
                <a:latin typeface="Calibri" panose="020F0502020204030204" pitchFamily="34" charset="0"/>
                <a:cs typeface="Calibri" panose="020F0502020204030204" pitchFamily="34" charset="0"/>
              </a:rPr>
              <a:t>2</a:t>
            </a:r>
            <a:r>
              <a:rPr lang="tr-TR" sz="2000" noProof="1" smtClean="0">
                <a:solidFill>
                  <a:srgbClr val="0070C0"/>
                </a:solidFill>
                <a:latin typeface="Calibri" panose="020F0502020204030204" pitchFamily="34" charset="0"/>
                <a:cs typeface="Calibri" panose="020F0502020204030204" pitchFamily="34" charset="0"/>
              </a:rPr>
              <a:t>.</a:t>
            </a:r>
            <a:r>
              <a:rPr lang="en-US" sz="2000" noProof="1" smtClean="0">
                <a:solidFill>
                  <a:srgbClr val="0070C0"/>
                </a:solidFill>
                <a:latin typeface="Calibri" panose="020F0502020204030204" pitchFamily="34" charset="0"/>
                <a:cs typeface="Calibri" panose="020F0502020204030204" pitchFamily="34" charset="0"/>
              </a:rPr>
              <a:t> </a:t>
            </a:r>
            <a:endParaRPr lang="tr-TR" sz="2000" noProof="1" smtClean="0">
              <a:solidFill>
                <a:srgbClr val="0070C0"/>
              </a:solidFill>
              <a:latin typeface="Calibri" panose="020F0502020204030204" pitchFamily="34" charset="0"/>
              <a:cs typeface="Calibri" panose="020F0502020204030204" pitchFamily="34" charset="0"/>
            </a:endParaRPr>
          </a:p>
          <a:p>
            <a:r>
              <a:rPr lang="en-US" sz="2000" noProof="1" smtClean="0">
                <a:solidFill>
                  <a:srgbClr val="0070C0"/>
                </a:solidFill>
                <a:latin typeface="Calibri" panose="020F0502020204030204" pitchFamily="34" charset="0"/>
                <a:cs typeface="Calibri" panose="020F0502020204030204" pitchFamily="34" charset="0"/>
              </a:rPr>
              <a:t>Missing </a:t>
            </a:r>
            <a:r>
              <a:rPr lang="en-US" sz="2000" noProof="1">
                <a:solidFill>
                  <a:srgbClr val="0070C0"/>
                </a:solidFill>
                <a:latin typeface="Calibri" panose="020F0502020204030204" pitchFamily="34" charset="0"/>
                <a:cs typeface="Calibri" panose="020F0502020204030204" pitchFamily="34" charset="0"/>
              </a:rPr>
              <a:t>() after EventHandler&lt;ActionEvent</a:t>
            </a:r>
            <a:r>
              <a:rPr lang="en-US" sz="2000" noProof="1" smtClean="0">
                <a:solidFill>
                  <a:srgbClr val="0070C0"/>
                </a:solidFill>
                <a:latin typeface="Calibri" panose="020F0502020204030204" pitchFamily="34" charset="0"/>
                <a:cs typeface="Calibri" panose="020F0502020204030204" pitchFamily="34" charset="0"/>
              </a:rPr>
              <a:t>&gt;()</a:t>
            </a:r>
            <a:r>
              <a:rPr lang="tr-TR" sz="2000" noProof="1" smtClean="0">
                <a:solidFill>
                  <a:srgbClr val="0070C0"/>
                </a:solidFill>
                <a:latin typeface="Calibri" panose="020F0502020204030204" pitchFamily="34" charset="0"/>
                <a:cs typeface="Calibri" panose="020F0502020204030204" pitchFamily="34" charset="0"/>
              </a:rPr>
              <a:t>.</a:t>
            </a:r>
            <a:endParaRPr lang="en-US" sz="2000" noProof="1"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39</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99545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 calcmode="lin" valueType="num">
                                      <p:cBhvr additive="base">
                                        <p:cTn id="3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8" end="8"/>
                                            </p:txEl>
                                          </p:spTgt>
                                        </p:tgtEl>
                                        <p:attrNameLst>
                                          <p:attrName>style.visibility</p:attrName>
                                        </p:attrNameLst>
                                      </p:cBhvr>
                                      <p:to>
                                        <p:strVal val="visible"/>
                                      </p:to>
                                    </p:set>
                                    <p:anim calcmode="lin" valueType="num">
                                      <p:cBhvr additive="base">
                                        <p:cTn id="4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 calcmode="lin" valueType="num">
                                      <p:cBhvr additive="base">
                                        <p:cTn id="4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9" end="9"/>
                                            </p:txEl>
                                          </p:spTgt>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
                                            <p:txEl>
                                              <p:pRg st="11" end="11"/>
                                            </p:txEl>
                                          </p:spTgt>
                                        </p:tgtEl>
                                        <p:attrNameLst>
                                          <p:attrName>style.visibility</p:attrName>
                                        </p:attrNameLst>
                                      </p:cBhvr>
                                      <p:to>
                                        <p:strVal val="visible"/>
                                      </p:to>
                                    </p:set>
                                    <p:anim calcmode="lin" valueType="num">
                                      <p:cBhvr additive="base">
                                        <p:cTn id="5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 calcmode="lin" valueType="num">
                                      <p:cBhvr additive="base">
                                        <p:cTn id="57"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3">
                                            <p:txEl>
                                              <p:pRg st="13" end="13"/>
                                            </p:txEl>
                                          </p:spTgt>
                                        </p:tgtEl>
                                        <p:attrNameLst>
                                          <p:attrName>style.visibility</p:attrName>
                                        </p:attrNameLst>
                                      </p:cBhvr>
                                      <p:to>
                                        <p:strVal val="visible"/>
                                      </p:to>
                                    </p:set>
                                    <p:anim calcmode="lin" valueType="num">
                                      <p:cBhvr additive="base">
                                        <p:cTn id="6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3">
                                            <p:txEl>
                                              <p:pRg st="14" end="14"/>
                                            </p:txEl>
                                          </p:spTgt>
                                        </p:tgtEl>
                                        <p:attrNameLst>
                                          <p:attrName>style.visibility</p:attrName>
                                        </p:attrNameLst>
                                      </p:cBhvr>
                                      <p:to>
                                        <p:strVal val="visible"/>
                                      </p:to>
                                    </p:set>
                                    <p:anim calcmode="lin" valueType="num">
                                      <p:cBhvr additive="base">
                                        <p:cTn id="69"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3">
                                            <p:txEl>
                                              <p:pRg st="15" end="15"/>
                                            </p:txEl>
                                          </p:spTgt>
                                        </p:tgtEl>
                                        <p:attrNameLst>
                                          <p:attrName>style.visibility</p:attrName>
                                        </p:attrNameLst>
                                      </p:cBhvr>
                                      <p:to>
                                        <p:strVal val="visible"/>
                                      </p:to>
                                    </p:set>
                                    <p:anim calcmode="lin" valueType="num">
                                      <p:cBhvr additive="base">
                                        <p:cTn id="75"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76" dur="500" fill="hold"/>
                                        <p:tgtEl>
                                          <p:spTgt spid="3">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B71A05F-3653-4FAD-B15D-6C81FAC9E255}" type="slidenum">
              <a:rPr lang="en-US" altLang="en-US" sz="1400" smtClean="0"/>
              <a:pPr>
                <a:spcBef>
                  <a:spcPct val="0"/>
                </a:spcBef>
                <a:buClrTx/>
                <a:buSzTx/>
                <a:buFontTx/>
                <a:buNone/>
              </a:pPr>
              <a:t>40</a:t>
            </a:fld>
            <a:endParaRPr lang="en-US" altLang="en-US" sz="1400" smtClean="0"/>
          </a:p>
        </p:txBody>
      </p:sp>
      <p:sp>
        <p:nvSpPr>
          <p:cNvPr id="41987" name="Rectangle 2"/>
          <p:cNvSpPr>
            <a:spLocks noGrp="1" noChangeArrowheads="1"/>
          </p:cNvSpPr>
          <p:nvPr>
            <p:ph type="title"/>
          </p:nvPr>
        </p:nvSpPr>
        <p:spPr>
          <a:xfrm>
            <a:off x="265113" y="0"/>
            <a:ext cx="8458200" cy="1295400"/>
          </a:xfrm>
        </p:spPr>
        <p:txBody>
          <a:bodyPr/>
          <a:lstStyle/>
          <a:p>
            <a:r>
              <a:rPr lang="en-US" altLang="en-US" smtClean="0"/>
              <a:t>Simplifying Event Handing Using Lambda Expressions</a:t>
            </a:r>
          </a:p>
        </p:txBody>
      </p:sp>
      <p:sp>
        <p:nvSpPr>
          <p:cNvPr id="41988" name="Rectangle 3"/>
          <p:cNvSpPr>
            <a:spLocks noGrp="1" noChangeArrowheads="1"/>
          </p:cNvSpPr>
          <p:nvPr>
            <p:ph type="body" idx="1"/>
          </p:nvPr>
        </p:nvSpPr>
        <p:spPr>
          <a:xfrm>
            <a:off x="228600" y="1676400"/>
            <a:ext cx="8686800" cy="2667000"/>
          </a:xfrm>
        </p:spPr>
        <p:txBody>
          <a:bodyPr/>
          <a:lstStyle/>
          <a:p>
            <a:pPr>
              <a:buFont typeface="Arial" panose="020B0604020202020204" pitchFamily="34" charset="0"/>
              <a:buChar char="•"/>
            </a:pPr>
            <a:r>
              <a:rPr lang="en-US" altLang="en-US" sz="2400" i="1" smtClean="0"/>
              <a:t>Lambda expression</a:t>
            </a:r>
            <a:r>
              <a:rPr lang="en-US" altLang="en-US" sz="2400" smtClean="0"/>
              <a:t> is a new feature in Java 8. </a:t>
            </a:r>
          </a:p>
          <a:p>
            <a:pPr>
              <a:buFont typeface="Arial" panose="020B0604020202020204" pitchFamily="34" charset="0"/>
              <a:buChar char="•"/>
            </a:pPr>
            <a:r>
              <a:rPr lang="en-US" altLang="en-US" sz="2400" smtClean="0"/>
              <a:t>Lambda expressions can be viewed as an anonymous class with a concise syntax. </a:t>
            </a:r>
          </a:p>
          <a:p>
            <a:pPr>
              <a:buFont typeface="Arial" panose="020B0604020202020204" pitchFamily="34" charset="0"/>
              <a:buChar char="•"/>
            </a:pPr>
            <a:r>
              <a:rPr lang="en-US" altLang="en-US" sz="2400" smtClean="0"/>
              <a:t>For example, the following code in (a) can be greatly simplified using a lambda expression in (b) in three lines.</a:t>
            </a:r>
          </a:p>
        </p:txBody>
      </p:sp>
      <p:sp>
        <p:nvSpPr>
          <p:cNvPr id="2" name="Rectangle 2">
            <a:extLst>
              <a:ext uri="{FF2B5EF4-FFF2-40B4-BE49-F238E27FC236}">
                <a16:creationId xmlns:a16="http://schemas.microsoft.com/office/drawing/2014/main" id="{08D148C5-6672-452F-9BBA-9BFA4077F1D0}"/>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4" name="Rectangle 4">
            <a:extLst>
              <a:ext uri="{FF2B5EF4-FFF2-40B4-BE49-F238E27FC236}">
                <a16:creationId xmlns:a16="http://schemas.microsoft.com/office/drawing/2014/main" id="{76236CA7-D594-475E-8ECF-CB460DADD8EA}"/>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aphicFrame>
        <p:nvGraphicFramePr>
          <p:cNvPr id="41991" name="Object 4"/>
          <p:cNvGraphicFramePr>
            <a:graphicFrameLocks noChangeAspect="1"/>
          </p:cNvGraphicFramePr>
          <p:nvPr/>
        </p:nvGraphicFramePr>
        <p:xfrm>
          <a:off x="128588" y="3886200"/>
          <a:ext cx="8886825" cy="2438400"/>
        </p:xfrm>
        <a:graphic>
          <a:graphicData uri="http://schemas.openxmlformats.org/presentationml/2006/ole">
            <mc:AlternateContent xmlns:mc="http://schemas.openxmlformats.org/markup-compatibility/2006">
              <mc:Choice xmlns:v="urn:schemas-microsoft-com:vml" Requires="v">
                <p:oleObj spid="_x0000_s42013" name="Picture" r:id="rId4" imgW="4799841" imgH="1312361" progId="Word.Picture.8">
                  <p:embed/>
                </p:oleObj>
              </mc:Choice>
              <mc:Fallback>
                <p:oleObj name="Picture" r:id="rId4" imgW="4799841" imgH="1312361" progId="Word.Picture.8">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8" y="3886200"/>
                        <a:ext cx="8886825"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D5DFA9C-FC25-4362-8B47-A993FB45D1D3}" type="slidenum">
              <a:rPr lang="en-US" altLang="en-US" sz="1400" smtClean="0"/>
              <a:pPr>
                <a:spcBef>
                  <a:spcPct val="0"/>
                </a:spcBef>
                <a:buClrTx/>
                <a:buSzTx/>
                <a:buFontTx/>
                <a:buNone/>
              </a:pPr>
              <a:t>41</a:t>
            </a:fld>
            <a:endParaRPr lang="en-US" altLang="en-US" sz="1400" smtClean="0"/>
          </a:p>
        </p:txBody>
      </p:sp>
      <p:sp>
        <p:nvSpPr>
          <p:cNvPr id="44035" name="Rectangle 2"/>
          <p:cNvSpPr>
            <a:spLocks noGrp="1" noChangeArrowheads="1"/>
          </p:cNvSpPr>
          <p:nvPr>
            <p:ph type="title"/>
          </p:nvPr>
        </p:nvSpPr>
        <p:spPr>
          <a:xfrm>
            <a:off x="152400" y="381000"/>
            <a:ext cx="8763000" cy="666750"/>
          </a:xfrm>
        </p:spPr>
        <p:txBody>
          <a:bodyPr/>
          <a:lstStyle/>
          <a:p>
            <a:r>
              <a:rPr lang="en-US" altLang="en-US" sz="4200" smtClean="0"/>
              <a:t>Basic Syntax for a Lambda Expression</a:t>
            </a:r>
          </a:p>
        </p:txBody>
      </p:sp>
      <p:sp>
        <p:nvSpPr>
          <p:cNvPr id="38916" name="Rectangle 3">
            <a:extLst>
              <a:ext uri="{FF2B5EF4-FFF2-40B4-BE49-F238E27FC236}">
                <a16:creationId xmlns:a16="http://schemas.microsoft.com/office/drawing/2014/main" id="{6BFC6907-08CC-4453-B021-6F20465744E4}"/>
              </a:ext>
            </a:extLst>
          </p:cNvPr>
          <p:cNvSpPr>
            <a:spLocks noGrp="1" noChangeArrowheads="1"/>
          </p:cNvSpPr>
          <p:nvPr>
            <p:ph type="body" idx="1"/>
          </p:nvPr>
        </p:nvSpPr>
        <p:spPr>
          <a:xfrm>
            <a:off x="152400" y="1143000"/>
            <a:ext cx="8915400" cy="4724400"/>
          </a:xfrm>
        </p:spPr>
        <p:txBody>
          <a:bodyPr/>
          <a:lstStyle/>
          <a:p>
            <a:pPr>
              <a:buFont typeface="Arial" panose="020B0604020202020204" pitchFamily="34" charset="0"/>
              <a:buChar char="•"/>
              <a:defRPr/>
            </a:pPr>
            <a:r>
              <a:rPr lang="en-US" altLang="en-US" sz="2400" dirty="0"/>
              <a:t>The basic syntax for a lambda expression is either</a:t>
            </a:r>
          </a:p>
          <a:p>
            <a:pPr lvl="1">
              <a:buFont typeface="Arial" panose="020B0604020202020204" pitchFamily="34" charset="0"/>
              <a:buChar char="•"/>
              <a:defRPr/>
            </a:pPr>
            <a:r>
              <a:rPr lang="en-US" altLang="en-US" sz="2000" dirty="0"/>
              <a:t>(type1 param1, type2 param2, ...) -&gt; expression</a:t>
            </a:r>
          </a:p>
          <a:p>
            <a:pPr marL="0" indent="0">
              <a:buFont typeface="Monotype Sorts" pitchFamily="2" charset="2"/>
              <a:buNone/>
              <a:defRPr/>
            </a:pPr>
            <a:r>
              <a:rPr lang="en-US" altLang="en-US" sz="2400" dirty="0"/>
              <a:t>	or</a:t>
            </a:r>
          </a:p>
          <a:p>
            <a:pPr lvl="1">
              <a:buFont typeface="Arial" panose="020B0604020202020204" pitchFamily="34" charset="0"/>
              <a:buChar char="•"/>
              <a:defRPr/>
            </a:pPr>
            <a:r>
              <a:rPr lang="en-US" altLang="en-US" sz="2000" dirty="0"/>
              <a:t>(type1 param1, type2 param2, ...) -&gt; { statements; }</a:t>
            </a:r>
          </a:p>
          <a:p>
            <a:pPr marL="0" indent="0">
              <a:buFont typeface="Monotype Sorts" pitchFamily="2" charset="2"/>
              <a:buNone/>
              <a:defRPr/>
            </a:pPr>
            <a:endParaRPr lang="en-US" altLang="en-US" sz="2400" dirty="0"/>
          </a:p>
          <a:p>
            <a:pPr algn="just">
              <a:buFont typeface="Arial" panose="020B0604020202020204" pitchFamily="34" charset="0"/>
              <a:buChar char="•"/>
              <a:defRPr/>
            </a:pPr>
            <a:r>
              <a:rPr lang="en-US" altLang="en-US" sz="2400" dirty="0"/>
              <a:t>The data type for a parameter may be explicitly declared or implicitly inferred by the compiler. The parentheses can be omitted if there is only one parameter without an explicit data type.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7246D114-D6FC-4933-915D-6990929B26AD}" type="slidenum">
              <a:rPr lang="en-US" altLang="en-US" sz="1400" smtClean="0"/>
              <a:pPr>
                <a:spcBef>
                  <a:spcPct val="0"/>
                </a:spcBef>
                <a:buClrTx/>
                <a:buSzTx/>
                <a:buFontTx/>
                <a:buNone/>
              </a:pPr>
              <a:t>42</a:t>
            </a:fld>
            <a:endParaRPr lang="en-US" altLang="en-US" sz="1400" smtClean="0"/>
          </a:p>
        </p:txBody>
      </p:sp>
      <p:sp>
        <p:nvSpPr>
          <p:cNvPr id="46083" name="Rectangle 2"/>
          <p:cNvSpPr>
            <a:spLocks noGrp="1" noChangeArrowheads="1"/>
          </p:cNvSpPr>
          <p:nvPr>
            <p:ph type="title"/>
          </p:nvPr>
        </p:nvSpPr>
        <p:spPr>
          <a:xfrm>
            <a:off x="76200" y="381000"/>
            <a:ext cx="8991600" cy="666750"/>
          </a:xfrm>
        </p:spPr>
        <p:txBody>
          <a:bodyPr/>
          <a:lstStyle/>
          <a:p>
            <a:r>
              <a:rPr lang="en-US" altLang="en-US" sz="4200" smtClean="0"/>
              <a:t>Single Abstract Method Interface (SAM)</a:t>
            </a:r>
          </a:p>
        </p:txBody>
      </p:sp>
      <p:sp>
        <p:nvSpPr>
          <p:cNvPr id="46084" name="Rectangle 3"/>
          <p:cNvSpPr>
            <a:spLocks noGrp="1" noChangeArrowheads="1"/>
          </p:cNvSpPr>
          <p:nvPr>
            <p:ph type="body" idx="1"/>
          </p:nvPr>
        </p:nvSpPr>
        <p:spPr>
          <a:xfrm>
            <a:off x="114300" y="1247775"/>
            <a:ext cx="8915400" cy="4724400"/>
          </a:xfrm>
        </p:spPr>
        <p:txBody>
          <a:bodyPr/>
          <a:lstStyle/>
          <a:p>
            <a:pPr algn="just">
              <a:buFont typeface="Arial" panose="020B0604020202020204" pitchFamily="34" charset="0"/>
              <a:buChar char="•"/>
            </a:pPr>
            <a:r>
              <a:rPr lang="en-US" altLang="en-US" smtClean="0"/>
              <a:t>The statements in the lambda expression is all for that method. </a:t>
            </a:r>
          </a:p>
          <a:p>
            <a:pPr lvl="1" algn="just">
              <a:buFont typeface="Arial" panose="020B0604020202020204" pitchFamily="34" charset="0"/>
              <a:buChar char="•"/>
            </a:pPr>
            <a:r>
              <a:rPr lang="en-US" altLang="en-US" smtClean="0"/>
              <a:t>If it contains multiple methods, the compiler will not be able to compile the lambda expression. </a:t>
            </a:r>
          </a:p>
          <a:p>
            <a:pPr lvl="1" algn="just">
              <a:buFont typeface="Arial" panose="020B0604020202020204" pitchFamily="34" charset="0"/>
              <a:buChar char="•"/>
            </a:pPr>
            <a:r>
              <a:rPr lang="en-US" altLang="en-US" smtClean="0"/>
              <a:t>So, for the compiler to understand lambda expressions, the interface must contain exactly one abstract method. </a:t>
            </a:r>
          </a:p>
          <a:p>
            <a:pPr lvl="1" algn="just">
              <a:buFont typeface="Arial" panose="020B0604020202020204" pitchFamily="34" charset="0"/>
              <a:buChar char="•"/>
            </a:pPr>
            <a:r>
              <a:rPr lang="en-US" altLang="en-US" smtClean="0"/>
              <a:t>Such an interface is known as a </a:t>
            </a:r>
            <a:r>
              <a:rPr lang="en-US" altLang="en-US" i="1" smtClean="0"/>
              <a:t>functional interface</a:t>
            </a:r>
            <a:r>
              <a:rPr lang="en-US" altLang="en-US" smtClean="0"/>
              <a:t>, or a </a:t>
            </a:r>
            <a:r>
              <a:rPr lang="en-US" altLang="en-US" i="1" smtClean="0"/>
              <a:t>Single Abstract Method</a:t>
            </a:r>
            <a:r>
              <a:rPr lang="en-US" altLang="en-US" smtClean="0"/>
              <a:t> (SAM) interface. </a:t>
            </a:r>
          </a:p>
        </p:txBody>
      </p:sp>
      <p:sp>
        <p:nvSpPr>
          <p:cNvPr id="8" name="AutoShape 5">
            <a:hlinkClick r:id="" action="ppaction://noaction" highlightClick="1"/>
            <a:extLst>
              <a:ext uri="{FF2B5EF4-FFF2-40B4-BE49-F238E27FC236}">
                <a16:creationId xmlns:a16="http://schemas.microsoft.com/office/drawing/2014/main" id="{C18494D1-3A7A-4FEA-A364-A9DB7B593981}"/>
              </a:ext>
            </a:extLst>
          </p:cNvPr>
          <p:cNvSpPr>
            <a:spLocks noChangeArrowheads="1"/>
          </p:cNvSpPr>
          <p:nvPr/>
        </p:nvSpPr>
        <p:spPr bwMode="auto">
          <a:xfrm>
            <a:off x="2705100" y="5741988"/>
            <a:ext cx="3733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dirty="0" err="1">
                <a:solidFill>
                  <a:schemeClr val="accent1"/>
                </a:solidFill>
                <a:latin typeface="Book Antiqua" pitchFamily="18" charset="0"/>
                <a:hlinkClick r:id="rId2" action="ppaction://program"/>
              </a:rPr>
              <a:t>LambdaHandlerDemo</a:t>
            </a:r>
            <a:endParaRPr lang="en-US" altLang="en-US" dirty="0">
              <a:solidFill>
                <a:schemeClr val="accent1"/>
              </a:solidFill>
            </a:endParaRPr>
          </a:p>
        </p:txBody>
      </p:sp>
      <p:sp>
        <p:nvSpPr>
          <p:cNvPr id="46086" name="AutoShape 7">
            <a:hlinkClick r:id="rId3" highlightClick="1"/>
          </p:cNvPr>
          <p:cNvSpPr>
            <a:spLocks noChangeArrowheads="1"/>
          </p:cNvSpPr>
          <p:nvPr/>
        </p:nvSpPr>
        <p:spPr bwMode="auto">
          <a:xfrm>
            <a:off x="2184400" y="569912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ayt Numarası Yer Tutucusu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3AF170B-59F4-4687-B4DA-F02A6F37CBAE}" type="slidenum">
              <a:rPr lang="en-US" altLang="en-US" sz="1400" smtClean="0"/>
              <a:pPr>
                <a:spcBef>
                  <a:spcPct val="0"/>
                </a:spcBef>
                <a:buClrTx/>
                <a:buSzTx/>
                <a:buFontTx/>
                <a:buNone/>
              </a:pPr>
              <a:t>43</a:t>
            </a:fld>
            <a:endParaRPr lang="en-US" altLang="en-US" sz="1400" smtClean="0"/>
          </a:p>
        </p:txBody>
      </p:sp>
      <p:sp>
        <p:nvSpPr>
          <p:cNvPr id="47107" name="Dikdörtgen 4"/>
          <p:cNvSpPr>
            <a:spLocks noChangeArrowheads="1"/>
          </p:cNvSpPr>
          <p:nvPr/>
        </p:nvSpPr>
        <p:spPr bwMode="auto">
          <a:xfrm>
            <a:off x="228600" y="0"/>
            <a:ext cx="8915400" cy="704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solidFill>
                  <a:srgbClr val="000000"/>
                </a:solidFill>
                <a:latin typeface="Courier New" panose="02070309020205020404" pitchFamily="49" charset="0"/>
              </a:rPr>
              <a:t>import javafx.application.Application;</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javafx.stage.Stage;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javafx.scene.Scene;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javafx.scene.layout.HBox;</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javafx.scene.control.Button;</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javafx.event.ActionEvent;</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javafx.event.EventHandler;</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javafx.geometry.Pos;</a:t>
            </a:r>
            <a:br>
              <a:rPr lang="en-US" altLang="en-US" sz="12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public class LambdaHandlerDemo extends Application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@Override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void start(Stage primaryStage)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 Hold two buttons in an HBox</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 hBox = new HBox();</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hBox.setSpacing(10);</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hBox.setAlignment(Pos.CENTER);</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btNew = new Button("New");</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btOpen = new Button("Open");</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btSave = new Button("Save");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Button btPrint = new Button("Print");</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hBox.getChildren().addAll(btNew, btOpen, btSave, btPrint);</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r>
              <a:rPr lang="en-US" altLang="en-US" sz="1400" b="1">
                <a:solidFill>
                  <a:srgbClr val="FF0000"/>
                </a:solidFill>
                <a:latin typeface="Courier New" panose="02070309020205020404" pitchFamily="49" charset="0"/>
              </a:rPr>
              <a:t>btNew.setOnAction((ActionEvent e) -&gt; {System.out.println("Process New");});</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btOpen.setOnAction((e) -&gt; {System.out.println("Process Open");});</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btSave.setOnAction(e -&gt; {System.out.println("Process Save");});</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btPrint.setOnAction(e -&gt; System.out.println("Process Print"));</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r>
              <a:rPr lang="en-US" altLang="en-US" sz="1400" b="1">
                <a:solidFill>
                  <a:srgbClr val="000000"/>
                </a:solidFill>
                <a:latin typeface="Courier New" panose="02070309020205020404" pitchFamily="49" charset="0"/>
              </a:rPr>
              <a:t>Scene scene = new Scene(hBox, 300, 50);</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primaryStage.setScene(scene);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primaryStage.show();</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static void main(String[] args)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launch(args); }</a:t>
            </a:r>
          </a:p>
          <a:p>
            <a:pPr>
              <a:spcBef>
                <a:spcPct val="0"/>
              </a:spcBef>
              <a:buClrTx/>
              <a:buSzTx/>
              <a:buFontTx/>
              <a:buNone/>
            </a:pPr>
            <a:r>
              <a:rPr lang="en-US" altLang="en-US" sz="1400" b="1">
                <a:solidFill>
                  <a:srgbClr val="000000"/>
                </a:solidFill>
                <a:latin typeface="Courier New" panose="02070309020205020404" pitchFamily="49" charset="0"/>
              </a:rPr>
              <a:t>}</a:t>
            </a:r>
            <a:r>
              <a:rPr lang="en-US" altLang="en-US" sz="1400">
                <a:solidFill>
                  <a:srgbClr val="FFFFFF"/>
                </a:solidFill>
                <a:latin typeface="Franklin Gothic Book" panose="020B0503020102020204" pitchFamily="34" charset="0"/>
              </a:rPr>
              <a:t>25</a:t>
            </a:r>
            <a:r>
              <a:rPr lang="en-US" altLang="en-US" sz="1400"/>
              <a:t> </a:t>
            </a:r>
            <a:r>
              <a:rPr lang="en-US" altLang="en-US" sz="2000"/>
              <a:t/>
            </a:r>
            <a:br>
              <a:rPr lang="en-US" altLang="en-US" sz="2000"/>
            </a:br>
            <a:endParaRPr lang="en-US" altLang="en-US" sz="2000"/>
          </a:p>
        </p:txBody>
      </p:sp>
      <p:pic>
        <p:nvPicPr>
          <p:cNvPr id="47108" name="Resim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7425" y="609600"/>
            <a:ext cx="287655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Resim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62713" y="1568450"/>
            <a:ext cx="2085975" cy="105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smtClean="0">
                <a:latin typeface="Calibri" panose="020F0502020204030204" pitchFamily="34" charset="0"/>
                <a:cs typeface="Calibri" panose="020F0502020204030204" pitchFamily="34" charset="0"/>
              </a:rPr>
              <a:t>What is a lambda expression? What is the benefit of using lambda expressions for event handling? What is the syntax of a lambda expression?</a:t>
            </a:r>
          </a:p>
          <a:p>
            <a:pPr marL="0" indent="0">
              <a:buNone/>
            </a:pPr>
            <a:r>
              <a:rPr lang="en-US" sz="2000" b="1" dirty="0" smtClean="0">
                <a:solidFill>
                  <a:srgbClr val="92D050"/>
                </a:solidFill>
                <a:latin typeface="Calibri" panose="020F0502020204030204" pitchFamily="34" charset="0"/>
                <a:cs typeface="Calibri" panose="020F0502020204030204" pitchFamily="34" charset="0"/>
              </a:rPr>
              <a:t>      &lt;--- ANSWER ---&gt;</a:t>
            </a:r>
          </a:p>
          <a:p>
            <a:r>
              <a:rPr lang="en-US" sz="2000" dirty="0" smtClean="0">
                <a:solidFill>
                  <a:srgbClr val="0070C0"/>
                </a:solidFill>
                <a:latin typeface="Calibri" panose="020F0502020204030204" pitchFamily="34" charset="0"/>
                <a:cs typeface="Calibri" panose="020F0502020204030204" pitchFamily="34" charset="0"/>
              </a:rPr>
              <a:t>Lambda expressions can be viewed as an anonymous class with a concise syntax.</a:t>
            </a:r>
            <a:endParaRPr lang="tr-TR" sz="2000" dirty="0" smtClean="0">
              <a:solidFill>
                <a:srgbClr val="0070C0"/>
              </a:solidFill>
              <a:latin typeface="Calibri" panose="020F0502020204030204" pitchFamily="34" charset="0"/>
              <a:cs typeface="Calibri" panose="020F0502020204030204" pitchFamily="34" charset="0"/>
            </a:endParaRPr>
          </a:p>
          <a:p>
            <a:r>
              <a:rPr lang="en-US" sz="2000" dirty="0" smtClean="0">
                <a:solidFill>
                  <a:srgbClr val="0070C0"/>
                </a:solidFill>
                <a:latin typeface="Calibri" panose="020F0502020204030204" pitchFamily="34" charset="0"/>
                <a:cs typeface="Calibri" panose="020F0502020204030204" pitchFamily="34" charset="0"/>
              </a:rPr>
              <a:t>Using lambda expressions can make code concise and easy to read.</a:t>
            </a:r>
            <a:endParaRPr lang="tr-TR" sz="2000" dirty="0" smtClean="0">
              <a:solidFill>
                <a:srgbClr val="0070C0"/>
              </a:solidFill>
              <a:latin typeface="Calibri" panose="020F0502020204030204" pitchFamily="34" charset="0"/>
              <a:cs typeface="Calibri" panose="020F0502020204030204" pitchFamily="34" charset="0"/>
            </a:endParaRPr>
          </a:p>
          <a:p>
            <a:r>
              <a:rPr lang="en-US" sz="2000" dirty="0" smtClean="0">
                <a:solidFill>
                  <a:srgbClr val="0070C0"/>
                </a:solidFill>
                <a:latin typeface="Calibri" panose="020F0502020204030204" pitchFamily="34" charset="0"/>
                <a:cs typeface="Calibri" panose="020F0502020204030204" pitchFamily="34" charset="0"/>
              </a:rPr>
              <a:t>The syntax for lambda expressions is:</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en-US" sz="1600" dirty="0" smtClean="0">
                <a:solidFill>
                  <a:srgbClr val="0070C0"/>
                </a:solidFill>
                <a:latin typeface="Consolas" panose="020B0609020204030204" pitchFamily="49" charset="0"/>
                <a:cs typeface="Calibri" panose="020F0502020204030204" pitchFamily="34" charset="0"/>
              </a:rPr>
              <a:t>(type1 para1, …, </a:t>
            </a:r>
            <a:r>
              <a:rPr lang="en-US" sz="1600" dirty="0" err="1" smtClean="0">
                <a:solidFill>
                  <a:srgbClr val="0070C0"/>
                </a:solidFill>
                <a:latin typeface="Consolas" panose="020B0609020204030204" pitchFamily="49" charset="0"/>
                <a:cs typeface="Calibri" panose="020F0502020204030204" pitchFamily="34" charset="0"/>
              </a:rPr>
              <a:t>typen</a:t>
            </a:r>
            <a:r>
              <a:rPr lang="en-US" sz="1600" dirty="0" smtClean="0">
                <a:solidFill>
                  <a:srgbClr val="0070C0"/>
                </a:solidFill>
                <a:latin typeface="Consolas" panose="020B0609020204030204" pitchFamily="49" charset="0"/>
                <a:cs typeface="Calibri" panose="020F0502020204030204" pitchFamily="34" charset="0"/>
              </a:rPr>
              <a:t> </a:t>
            </a:r>
            <a:r>
              <a:rPr lang="en-US" sz="1600" dirty="0" err="1" smtClean="0">
                <a:solidFill>
                  <a:srgbClr val="0070C0"/>
                </a:solidFill>
                <a:latin typeface="Consolas" panose="020B0609020204030204" pitchFamily="49" charset="0"/>
                <a:cs typeface="Calibri" panose="020F0502020204030204" pitchFamily="34" charset="0"/>
              </a:rPr>
              <a:t>paramn</a:t>
            </a:r>
            <a:r>
              <a:rPr lang="en-US" sz="1600" dirty="0" smtClean="0">
                <a:solidFill>
                  <a:srgbClr val="0070C0"/>
                </a:solidFill>
                <a:latin typeface="Consolas" panose="020B0609020204030204" pitchFamily="49" charset="0"/>
                <a:cs typeface="Calibri" panose="020F0502020204030204" pitchFamily="34" charset="0"/>
              </a:rPr>
              <a:t>) -&gt; expression; </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en-US" sz="1600" dirty="0" smtClean="0">
                <a:solidFill>
                  <a:srgbClr val="0070C0"/>
                </a:solidFill>
                <a:latin typeface="Consolas" panose="020B0609020204030204" pitchFamily="49" charset="0"/>
                <a:cs typeface="Calibri" panose="020F0502020204030204" pitchFamily="34" charset="0"/>
              </a:rPr>
              <a:t>(type1 para1, …, </a:t>
            </a:r>
            <a:r>
              <a:rPr lang="en-US" sz="1600" dirty="0" err="1" smtClean="0">
                <a:solidFill>
                  <a:srgbClr val="0070C0"/>
                </a:solidFill>
                <a:latin typeface="Consolas" panose="020B0609020204030204" pitchFamily="49" charset="0"/>
                <a:cs typeface="Calibri" panose="020F0502020204030204" pitchFamily="34" charset="0"/>
              </a:rPr>
              <a:t>typen</a:t>
            </a:r>
            <a:r>
              <a:rPr lang="en-US" sz="1600" dirty="0" smtClean="0">
                <a:solidFill>
                  <a:srgbClr val="0070C0"/>
                </a:solidFill>
                <a:latin typeface="Consolas" panose="020B0609020204030204" pitchFamily="49" charset="0"/>
                <a:cs typeface="Calibri" panose="020F0502020204030204" pitchFamily="34" charset="0"/>
              </a:rPr>
              <a:t> </a:t>
            </a:r>
            <a:r>
              <a:rPr lang="en-US" sz="1600" dirty="0" err="1" smtClean="0">
                <a:solidFill>
                  <a:srgbClr val="0070C0"/>
                </a:solidFill>
                <a:latin typeface="Consolas" panose="020B0609020204030204" pitchFamily="49" charset="0"/>
                <a:cs typeface="Calibri" panose="020F0502020204030204" pitchFamily="34" charset="0"/>
              </a:rPr>
              <a:t>paramn</a:t>
            </a:r>
            <a:r>
              <a:rPr lang="en-US" sz="1600" dirty="0" smtClean="0">
                <a:solidFill>
                  <a:srgbClr val="0070C0"/>
                </a:solidFill>
                <a:latin typeface="Consolas" panose="020B0609020204030204" pitchFamily="49" charset="0"/>
                <a:cs typeface="Calibri" panose="020F0502020204030204" pitchFamily="34" charset="0"/>
              </a:rPr>
              <a:t>) -&gt; {statements}; </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en-US" sz="1600" dirty="0" smtClean="0">
                <a:solidFill>
                  <a:srgbClr val="0070C0"/>
                </a:solidFill>
                <a:latin typeface="Consolas" panose="020B0609020204030204" pitchFamily="49" charset="0"/>
                <a:cs typeface="Calibri" panose="020F0502020204030204" pitchFamily="34" charset="0"/>
              </a:rPr>
              <a:t>() -&gt; expression;  or</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en-US" sz="1600" dirty="0" smtClean="0">
                <a:solidFill>
                  <a:srgbClr val="0070C0"/>
                </a:solidFill>
                <a:latin typeface="Consolas" panose="020B0609020204030204" pitchFamily="49" charset="0"/>
                <a:cs typeface="Calibri" panose="020F0502020204030204" pitchFamily="34" charset="0"/>
              </a:rPr>
              <a:t>() -&gt; {statements};</a:t>
            </a: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44</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900719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What is a functional interface? Why is a functional interface required for a lambda expression?</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en-US" sz="2000" dirty="0">
                <a:solidFill>
                  <a:srgbClr val="0070C0"/>
                </a:solidFill>
                <a:latin typeface="Calibri" panose="020F0502020204030204" pitchFamily="34" charset="0"/>
                <a:cs typeface="Calibri" panose="020F0502020204030204" pitchFamily="34" charset="0"/>
              </a:rPr>
              <a:t>A functional interface is the interface with exactly one </a:t>
            </a:r>
            <a:r>
              <a:rPr lang="en-US" sz="2000" dirty="0" smtClean="0">
                <a:solidFill>
                  <a:srgbClr val="0070C0"/>
                </a:solidFill>
                <a:latin typeface="Calibri" panose="020F0502020204030204" pitchFamily="34" charset="0"/>
                <a:cs typeface="Calibri" panose="020F0502020204030204" pitchFamily="34" charset="0"/>
              </a:rPr>
              <a:t>method.</a:t>
            </a:r>
            <a:endParaRPr lang="tr-TR" sz="2000" dirty="0" smtClean="0">
              <a:solidFill>
                <a:srgbClr val="0070C0"/>
              </a:solidFill>
              <a:latin typeface="Calibri" panose="020F0502020204030204" pitchFamily="34" charset="0"/>
              <a:cs typeface="Calibri" panose="020F0502020204030204" pitchFamily="34" charset="0"/>
            </a:endParaRPr>
          </a:p>
          <a:p>
            <a:r>
              <a:rPr lang="en-US" sz="2000" dirty="0" smtClean="0">
                <a:solidFill>
                  <a:srgbClr val="0070C0"/>
                </a:solidFill>
                <a:latin typeface="Calibri" panose="020F0502020204030204" pitchFamily="34" charset="0"/>
                <a:cs typeface="Calibri" panose="020F0502020204030204" pitchFamily="34" charset="0"/>
              </a:rPr>
              <a:t>A </a:t>
            </a:r>
            <a:r>
              <a:rPr lang="en-US" sz="2000" dirty="0">
                <a:solidFill>
                  <a:srgbClr val="0070C0"/>
                </a:solidFill>
                <a:latin typeface="Calibri" panose="020F0502020204030204" pitchFamily="34" charset="0"/>
                <a:cs typeface="Calibri" panose="020F0502020204030204" pitchFamily="34" charset="0"/>
              </a:rPr>
              <a:t>lambda expression works only with a functional interface. For the compiler to understand lambda expressions, the interface must contain exactly one abstract method.</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45</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4041062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F49674C-AA41-435C-AD44-9FCF55CBE2A4}" type="slidenum">
              <a:rPr lang="en-US" altLang="en-US" sz="1400" smtClean="0"/>
              <a:pPr>
                <a:spcBef>
                  <a:spcPct val="0"/>
                </a:spcBef>
                <a:buClrTx/>
                <a:buSzTx/>
                <a:buFontTx/>
                <a:buNone/>
              </a:pPr>
              <a:t>46</a:t>
            </a:fld>
            <a:endParaRPr lang="en-US" altLang="en-US" sz="1400" smtClean="0"/>
          </a:p>
        </p:txBody>
      </p:sp>
      <p:sp>
        <p:nvSpPr>
          <p:cNvPr id="49155" name="Rectangle 2"/>
          <p:cNvSpPr>
            <a:spLocks noGrp="1" noChangeArrowheads="1"/>
          </p:cNvSpPr>
          <p:nvPr>
            <p:ph type="title"/>
          </p:nvPr>
        </p:nvSpPr>
        <p:spPr>
          <a:xfrm>
            <a:off x="304800" y="381000"/>
            <a:ext cx="8686800" cy="685800"/>
          </a:xfrm>
        </p:spPr>
        <p:txBody>
          <a:bodyPr/>
          <a:lstStyle/>
          <a:p>
            <a:r>
              <a:rPr lang="en-US" altLang="en-US" smtClean="0"/>
              <a:t>Problem: Loan Calculator</a:t>
            </a:r>
            <a:endParaRPr lang="en-US" altLang="en-US" u="sng" smtClean="0">
              <a:solidFill>
                <a:schemeClr val="tx1"/>
              </a:solidFill>
              <a:latin typeface="Book Antiqua" panose="02040602050305030304" pitchFamily="18" charset="0"/>
            </a:endParaRPr>
          </a:p>
        </p:txBody>
      </p:sp>
      <p:sp>
        <p:nvSpPr>
          <p:cNvPr id="337928" name="AutoShape 8">
            <a:hlinkClick r:id="" action="ppaction://noaction" highlightClick="1"/>
            <a:extLst>
              <a:ext uri="{FF2B5EF4-FFF2-40B4-BE49-F238E27FC236}">
                <a16:creationId xmlns:a16="http://schemas.microsoft.com/office/drawing/2014/main" id="{FA1B3983-553E-4FA7-A72F-9291228B9CA0}"/>
              </a:ext>
            </a:extLst>
          </p:cNvPr>
          <p:cNvSpPr>
            <a:spLocks noChangeArrowheads="1"/>
          </p:cNvSpPr>
          <p:nvPr/>
        </p:nvSpPr>
        <p:spPr bwMode="auto">
          <a:xfrm>
            <a:off x="1752600" y="2286000"/>
            <a:ext cx="3276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3" action="ppaction://program"/>
              </a:rPr>
              <a:t>LoanCalculator</a:t>
            </a:r>
            <a:endParaRPr lang="en-US" altLang="en-US">
              <a:solidFill>
                <a:schemeClr val="accent1"/>
              </a:solidFill>
            </a:endParaRPr>
          </a:p>
        </p:txBody>
      </p:sp>
      <p:sp>
        <p:nvSpPr>
          <p:cNvPr id="49157" name="AutoShape 9">
            <a:hlinkClick r:id="rId4" action="ppaction://program" highlightClick="1"/>
          </p:cNvPr>
          <p:cNvSpPr>
            <a:spLocks noChangeArrowheads="1"/>
          </p:cNvSpPr>
          <p:nvPr/>
        </p:nvSpPr>
        <p:spPr bwMode="auto">
          <a:xfrm>
            <a:off x="5334000" y="2252663"/>
            <a:ext cx="32766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49158" name="AutoShape 11">
            <a:hlinkClick r:id="rId5" highlightClick="1"/>
          </p:cNvPr>
          <p:cNvSpPr>
            <a:spLocks noChangeArrowheads="1"/>
          </p:cNvSpPr>
          <p:nvPr/>
        </p:nvSpPr>
        <p:spPr bwMode="auto">
          <a:xfrm>
            <a:off x="1143000" y="2209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57F9FB7-273A-4C72-9736-2A20FE1F8965}" type="slidenum">
              <a:rPr lang="en-US" altLang="en-US" sz="1400" smtClean="0"/>
              <a:pPr>
                <a:spcBef>
                  <a:spcPct val="0"/>
                </a:spcBef>
                <a:buClrTx/>
                <a:buSzTx/>
                <a:buFontTx/>
                <a:buNone/>
              </a:pPr>
              <a:t>47</a:t>
            </a:fld>
            <a:endParaRPr lang="en-US" altLang="en-US" sz="1400" smtClean="0"/>
          </a:p>
        </p:txBody>
      </p:sp>
      <p:sp>
        <p:nvSpPr>
          <p:cNvPr id="51203" name="Rectangle 2"/>
          <p:cNvSpPr>
            <a:spLocks noGrp="1" noChangeArrowheads="1"/>
          </p:cNvSpPr>
          <p:nvPr>
            <p:ph type="title"/>
          </p:nvPr>
        </p:nvSpPr>
        <p:spPr>
          <a:xfrm>
            <a:off x="571500" y="52388"/>
            <a:ext cx="7772400" cy="609600"/>
          </a:xfrm>
        </p:spPr>
        <p:txBody>
          <a:bodyPr/>
          <a:lstStyle/>
          <a:p>
            <a:r>
              <a:rPr lang="en-US" altLang="en-US" smtClean="0"/>
              <a:t>MouseEvent</a:t>
            </a:r>
            <a:endParaRPr lang="en-US" altLang="en-US" smtClean="0">
              <a:solidFill>
                <a:schemeClr val="tx1"/>
              </a:solidFill>
            </a:endParaRPr>
          </a:p>
        </p:txBody>
      </p:sp>
      <p:sp>
        <p:nvSpPr>
          <p:cNvPr id="51204" name="Rectangle 6"/>
          <p:cNvSpPr>
            <a:spLocks noChangeArrowheads="1"/>
          </p:cNvSpPr>
          <p:nvPr/>
        </p:nvSpPr>
        <p:spPr bwMode="auto">
          <a:xfrm>
            <a:off x="2324100"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1205" name="Rectangle 8"/>
          <p:cNvSpPr>
            <a:spLocks noChangeArrowheads="1"/>
          </p:cNvSpPr>
          <p:nvPr/>
        </p:nvSpPr>
        <p:spPr bwMode="auto">
          <a:xfrm>
            <a:off x="2324100" y="2247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8">
            <a:extLst>
              <a:ext uri="{FF2B5EF4-FFF2-40B4-BE49-F238E27FC236}">
                <a16:creationId xmlns:a16="http://schemas.microsoft.com/office/drawing/2014/main" id="{16684FF5-96A0-4E3B-9FA9-59463B57123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9" name="AutoShape 5">
            <a:hlinkClick r:id="" action="ppaction://noaction" highlightClick="1"/>
            <a:extLst>
              <a:ext uri="{FF2B5EF4-FFF2-40B4-BE49-F238E27FC236}">
                <a16:creationId xmlns:a16="http://schemas.microsoft.com/office/drawing/2014/main" id="{183F9D1C-624C-49DB-81CE-E2C526447D64}"/>
              </a:ext>
            </a:extLst>
          </p:cNvPr>
          <p:cNvSpPr>
            <a:spLocks noChangeArrowheads="1"/>
          </p:cNvSpPr>
          <p:nvPr/>
        </p:nvSpPr>
        <p:spPr bwMode="auto">
          <a:xfrm>
            <a:off x="2705100" y="5741988"/>
            <a:ext cx="3733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2" action="ppaction://program"/>
              </a:rPr>
              <a:t>MouseEventDemo</a:t>
            </a:r>
            <a:endParaRPr lang="en-US" altLang="en-US">
              <a:solidFill>
                <a:schemeClr val="accent1"/>
              </a:solidFill>
            </a:endParaRPr>
          </a:p>
        </p:txBody>
      </p:sp>
      <p:sp>
        <p:nvSpPr>
          <p:cNvPr id="51208" name="AutoShape 6">
            <a:hlinkClick r:id="rId3" action="ppaction://program" highlightClick="1"/>
          </p:cNvPr>
          <p:cNvSpPr>
            <a:spLocks noChangeArrowheads="1"/>
          </p:cNvSpPr>
          <p:nvPr/>
        </p:nvSpPr>
        <p:spPr bwMode="auto">
          <a:xfrm>
            <a:off x="6553200" y="5715000"/>
            <a:ext cx="21336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51209" name="AutoShape 7">
            <a:hlinkClick r:id="rId4" highlightClick="1"/>
          </p:cNvPr>
          <p:cNvSpPr>
            <a:spLocks noChangeArrowheads="1"/>
          </p:cNvSpPr>
          <p:nvPr/>
        </p:nvSpPr>
        <p:spPr bwMode="auto">
          <a:xfrm>
            <a:off x="2184400" y="569912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51210"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100" y="1687513"/>
            <a:ext cx="8813800" cy="3752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51211" name="Dikdörtgen 2"/>
          <p:cNvSpPr>
            <a:spLocks noChangeArrowheads="1"/>
          </p:cNvSpPr>
          <p:nvPr/>
        </p:nvSpPr>
        <p:spPr bwMode="auto">
          <a:xfrm>
            <a:off x="381000" y="717550"/>
            <a:ext cx="8153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a:solidFill>
                  <a:srgbClr val="000000"/>
                </a:solidFill>
                <a:latin typeface="TimesNewRomanPSMT"/>
              </a:rPr>
              <a:t>A </a:t>
            </a:r>
            <a:r>
              <a:rPr lang="en-US" altLang="en-US" sz="2000" b="1">
                <a:solidFill>
                  <a:srgbClr val="000000"/>
                </a:solidFill>
                <a:latin typeface="TimesNewRomanPS-BoldMT"/>
              </a:rPr>
              <a:t>MouseEvent </a:t>
            </a:r>
            <a:r>
              <a:rPr lang="en-US" altLang="en-US" sz="2000">
                <a:solidFill>
                  <a:srgbClr val="000000"/>
                </a:solidFill>
                <a:latin typeface="TimesNewRomanPSMT"/>
              </a:rPr>
              <a:t>is fired whenever a mouse button is pressed, released, clicked, moved, or dragged on a node or a scene.</a:t>
            </a:r>
            <a:r>
              <a:rPr lang="en-US" altLang="en-US" sz="2000"/>
              <a:t> </a:t>
            </a:r>
            <a:br>
              <a:rPr lang="en-US" altLang="en-US" sz="2000"/>
            </a:br>
            <a:endParaRPr lang="en-US" altLang="en-US" sz="200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ayt Numarası Yer Tutucusu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0D4F494-7286-4251-ACC8-E67B1A58AFC1}" type="slidenum">
              <a:rPr lang="en-US" altLang="en-US" sz="1400" smtClean="0"/>
              <a:pPr>
                <a:spcBef>
                  <a:spcPct val="0"/>
                </a:spcBef>
                <a:buClrTx/>
                <a:buSzTx/>
                <a:buFontTx/>
                <a:buNone/>
              </a:pPr>
              <a:t>48</a:t>
            </a:fld>
            <a:endParaRPr lang="en-US" altLang="en-US" sz="1400" smtClean="0"/>
          </a:p>
        </p:txBody>
      </p:sp>
      <p:sp>
        <p:nvSpPr>
          <p:cNvPr id="52227" name="Dikdörtgen 4"/>
          <p:cNvSpPr>
            <a:spLocks noChangeArrowheads="1"/>
          </p:cNvSpPr>
          <p:nvPr/>
        </p:nvSpPr>
        <p:spPr bwMode="auto">
          <a:xfrm>
            <a:off x="152400" y="9525"/>
            <a:ext cx="7696200" cy="630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400" b="1">
                <a:solidFill>
                  <a:srgbClr val="000000"/>
                </a:solidFill>
                <a:latin typeface="Courier New" panose="02070309020205020404" pitchFamily="49" charset="0"/>
              </a:rPr>
              <a:t>// Move the text with the mouse clicked</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import javafx.application.Application;</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import javafx.stage.Stage;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import javafx.scene.Scene;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import javafx.scene.layout.Pane;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import javafx.scene.text.Text;</a:t>
            </a:r>
          </a:p>
          <a:p>
            <a:pPr>
              <a:spcBef>
                <a:spcPct val="0"/>
              </a:spcBef>
              <a:buClrTx/>
              <a:buSzTx/>
              <a:buFontTx/>
              <a:buNone/>
            </a:pPr>
            <a:r>
              <a:rPr lang="en-US" altLang="en-US" sz="1600" b="1">
                <a:solidFill>
                  <a:srgbClr val="000000"/>
                </a:solidFill>
                <a:latin typeface="Courier New" panose="02070309020205020404" pitchFamily="49" charset="0"/>
              </a:rPr>
              <a:t/>
            </a:r>
            <a:br>
              <a:rPr lang="en-US" altLang="en-US" sz="16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public class MouseEventDemo extends Application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@Override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void start(Stage primaryStage)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Pane pane = new Pane();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Text text = new Text(20, 20, "Programming is fun");</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pane.getChildren().addAll(text);</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r>
              <a:rPr lang="en-US" altLang="en-US" sz="1400" b="1">
                <a:solidFill>
                  <a:srgbClr val="FF0000"/>
                </a:solidFill>
                <a:latin typeface="Courier New" panose="02070309020205020404" pitchFamily="49" charset="0"/>
              </a:rPr>
              <a:t>text.setOnMouseDragged(e -&gt;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text.setX(e.getX());</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text.setY(e.getY());</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r>
              <a:rPr lang="en-US" altLang="en-US" sz="1400" b="1">
                <a:solidFill>
                  <a:srgbClr val="000000"/>
                </a:solidFill>
                <a:latin typeface="Courier New" panose="02070309020205020404" pitchFamily="49" charset="0"/>
              </a:rPr>
              <a:t>Scene scene = new Scene(pane, 300, 100);</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primaryStage.setTitle("MouseEventDemo");</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primaryStage.setScene(scene);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primaryStage.show();</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static void main(String[] args)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launch(args);</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a:t>
            </a:r>
            <a:br>
              <a:rPr lang="en-US" altLang="en-US" sz="1400" b="1">
                <a:solidFill>
                  <a:srgbClr val="000000"/>
                </a:solidFill>
                <a:latin typeface="Courier New" panose="02070309020205020404" pitchFamily="49" charset="0"/>
              </a:rPr>
            </a:br>
            <a:r>
              <a:rPr lang="en-US" altLang="en-US" sz="1100">
                <a:solidFill>
                  <a:srgbClr val="FFFFFF"/>
                </a:solidFill>
                <a:latin typeface="Franklin Gothic Book" panose="020B0503020102020204" pitchFamily="34" charset="0"/>
              </a:rPr>
              <a:t>29</a:t>
            </a:r>
            <a:r>
              <a:rPr lang="en-US" altLang="en-US" sz="1800"/>
              <a:t> </a:t>
            </a:r>
            <a:r>
              <a:rPr lang="en-US" altLang="en-US" sz="2000"/>
              <a:t/>
            </a:r>
            <a:br>
              <a:rPr lang="en-US" altLang="en-US" sz="2000"/>
            </a:br>
            <a:endParaRPr lang="en-US" altLang="en-US" sz="2000"/>
          </a:p>
        </p:txBody>
      </p:sp>
      <p:pic>
        <p:nvPicPr>
          <p:cNvPr id="52228" name="Resim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050" y="152400"/>
            <a:ext cx="287655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Resim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050" y="1490663"/>
            <a:ext cx="2876550" cy="1257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2" descr="cursor image ile ilgili görsel sonucu"/>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2800" y="2362200"/>
            <a:ext cx="115888" cy="17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What method do you use to get the mouse-point position for a mouse event?</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tr-TR" sz="2000" dirty="0" err="1">
                <a:solidFill>
                  <a:srgbClr val="0070C0"/>
                </a:solidFill>
                <a:latin typeface="Calibri" panose="020F0502020204030204" pitchFamily="34" charset="0"/>
                <a:cs typeface="Calibri" panose="020F0502020204030204" pitchFamily="34" charset="0"/>
              </a:rPr>
              <a:t>e.getX</a:t>
            </a:r>
            <a:r>
              <a:rPr lang="tr-TR" sz="2000" dirty="0">
                <a:solidFill>
                  <a:srgbClr val="0070C0"/>
                </a:solidFill>
                <a:latin typeface="Calibri" panose="020F0502020204030204" pitchFamily="34" charset="0"/>
                <a:cs typeface="Calibri" panose="020F0502020204030204" pitchFamily="34" charset="0"/>
              </a:rPr>
              <a:t>() </a:t>
            </a:r>
            <a:r>
              <a:rPr lang="tr-TR" sz="2000" dirty="0" err="1">
                <a:solidFill>
                  <a:srgbClr val="0070C0"/>
                </a:solidFill>
                <a:latin typeface="Calibri" panose="020F0502020204030204" pitchFamily="34" charset="0"/>
                <a:cs typeface="Calibri" panose="020F0502020204030204" pitchFamily="34" charset="0"/>
              </a:rPr>
              <a:t>and</a:t>
            </a:r>
            <a:r>
              <a:rPr lang="tr-TR" sz="2000" dirty="0">
                <a:solidFill>
                  <a:srgbClr val="0070C0"/>
                </a:solidFill>
                <a:latin typeface="Calibri" panose="020F0502020204030204" pitchFamily="34" charset="0"/>
                <a:cs typeface="Calibri" panose="020F0502020204030204" pitchFamily="34" charset="0"/>
              </a:rPr>
              <a:t> </a:t>
            </a:r>
            <a:r>
              <a:rPr lang="tr-TR" sz="2000" dirty="0" err="1">
                <a:solidFill>
                  <a:srgbClr val="0070C0"/>
                </a:solidFill>
                <a:latin typeface="Calibri" panose="020F0502020204030204" pitchFamily="34" charset="0"/>
                <a:cs typeface="Calibri" panose="020F0502020204030204" pitchFamily="34" charset="0"/>
              </a:rPr>
              <a:t>e.getY</a:t>
            </a:r>
            <a:r>
              <a:rPr lang="tr-TR" sz="2000" dirty="0">
                <a:solidFill>
                  <a:srgbClr val="0070C0"/>
                </a:solidFill>
                <a:latin typeface="Calibri" panose="020F0502020204030204" pitchFamily="34" charset="0"/>
                <a:cs typeface="Calibri" panose="020F0502020204030204" pitchFamily="34" charset="0"/>
              </a:rPr>
              <a:t>()</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49</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2485415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noProof="1" smtClean="0">
                <a:latin typeface="Calibri" panose="020F0502020204030204" pitchFamily="34" charset="0"/>
                <a:cs typeface="Calibri" panose="020F0502020204030204" pitchFamily="34" charset="0"/>
              </a:rPr>
              <a:t>What methods do you use to register a handler for a mouse pressed, released, clicked, entered, exited, moved and dragged event?</a:t>
            </a:r>
          </a:p>
          <a:p>
            <a:pPr marL="0" indent="0">
              <a:buNone/>
            </a:pPr>
            <a:r>
              <a:rPr lang="en-US" sz="2000" b="1" noProof="1" smtClean="0">
                <a:solidFill>
                  <a:srgbClr val="92D050"/>
                </a:solidFill>
                <a:latin typeface="Calibri" panose="020F0502020204030204" pitchFamily="34" charset="0"/>
                <a:cs typeface="Calibri" panose="020F0502020204030204" pitchFamily="34" charset="0"/>
              </a:rPr>
              <a:t>      &lt;--- ANSWER ---&gt;</a:t>
            </a:r>
          </a:p>
          <a:p>
            <a:r>
              <a:rPr lang="en-US" sz="1600" noProof="1" smtClean="0">
                <a:solidFill>
                  <a:srgbClr val="0070C0"/>
                </a:solidFill>
                <a:latin typeface="Consolas" panose="020B0609020204030204" pitchFamily="49" charset="0"/>
                <a:cs typeface="Calibri" panose="020F0502020204030204" pitchFamily="34" charset="0"/>
              </a:rPr>
              <a:t>setOnMouseClicked(handler)</a:t>
            </a:r>
          </a:p>
          <a:p>
            <a:r>
              <a:rPr lang="en-US" sz="1600" noProof="1" smtClean="0">
                <a:solidFill>
                  <a:srgbClr val="0070C0"/>
                </a:solidFill>
                <a:latin typeface="Consolas" panose="020B0609020204030204" pitchFamily="49" charset="0"/>
                <a:cs typeface="Calibri" panose="020F0502020204030204" pitchFamily="34" charset="0"/>
              </a:rPr>
              <a:t>setOnMousePressed(handler)</a:t>
            </a:r>
          </a:p>
          <a:p>
            <a:r>
              <a:rPr lang="en-US" sz="1600" noProof="1" smtClean="0">
                <a:solidFill>
                  <a:srgbClr val="0070C0"/>
                </a:solidFill>
                <a:latin typeface="Consolas" panose="020B0609020204030204" pitchFamily="49" charset="0"/>
                <a:cs typeface="Calibri" panose="020F0502020204030204" pitchFamily="34" charset="0"/>
              </a:rPr>
              <a:t>setOnMouseReleased(handler)</a:t>
            </a:r>
          </a:p>
          <a:p>
            <a:r>
              <a:rPr lang="en-US" sz="1600" noProof="1" smtClean="0">
                <a:solidFill>
                  <a:srgbClr val="0070C0"/>
                </a:solidFill>
                <a:latin typeface="Consolas" panose="020B0609020204030204" pitchFamily="49" charset="0"/>
                <a:cs typeface="Calibri" panose="020F0502020204030204" pitchFamily="34" charset="0"/>
              </a:rPr>
              <a:t>setOnMouseEntered(handler)</a:t>
            </a:r>
          </a:p>
          <a:p>
            <a:r>
              <a:rPr lang="en-US" sz="1600" noProof="1" smtClean="0">
                <a:solidFill>
                  <a:srgbClr val="0070C0"/>
                </a:solidFill>
                <a:latin typeface="Consolas" panose="020B0609020204030204" pitchFamily="49" charset="0"/>
                <a:cs typeface="Calibri" panose="020F0502020204030204" pitchFamily="34" charset="0"/>
              </a:rPr>
              <a:t>setOnMouseExited(handler)</a:t>
            </a:r>
          </a:p>
          <a:p>
            <a:r>
              <a:rPr lang="en-US" sz="1600" noProof="1" smtClean="0">
                <a:solidFill>
                  <a:srgbClr val="0070C0"/>
                </a:solidFill>
                <a:latin typeface="Consolas" panose="020B0609020204030204" pitchFamily="49" charset="0"/>
                <a:cs typeface="Calibri" panose="020F0502020204030204" pitchFamily="34" charset="0"/>
              </a:rPr>
              <a:t>setOnMouseDragged(handler)</a:t>
            </a:r>
          </a:p>
          <a:p>
            <a:r>
              <a:rPr lang="en-US" sz="1600" noProof="1" smtClean="0">
                <a:solidFill>
                  <a:srgbClr val="0070C0"/>
                </a:solidFill>
                <a:latin typeface="Consolas" panose="020B0609020204030204" pitchFamily="49" charset="0"/>
                <a:cs typeface="Calibri" panose="020F0502020204030204" pitchFamily="34" charset="0"/>
              </a:rPr>
              <a:t>setOnMouseMoved(handler)</a:t>
            </a:r>
            <a:endParaRPr lang="en-US" sz="1600" noProof="1">
              <a:solidFill>
                <a:srgbClr val="0070C0"/>
              </a:solidFill>
              <a:latin typeface="Consolas" panose="020B0609020204030204" pitchFamily="49"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50</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307101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2244965-46F3-4FB9-8F60-6E1408F81E00}" type="slidenum">
              <a:rPr lang="en-US" altLang="en-US" sz="1400" smtClean="0"/>
              <a:pPr>
                <a:spcBef>
                  <a:spcPct val="0"/>
                </a:spcBef>
                <a:buClrTx/>
                <a:buSzTx/>
                <a:buFontTx/>
                <a:buNone/>
              </a:pPr>
              <a:t>51</a:t>
            </a:fld>
            <a:endParaRPr lang="en-US" altLang="en-US" sz="1400" smtClean="0"/>
          </a:p>
        </p:txBody>
      </p:sp>
      <p:sp>
        <p:nvSpPr>
          <p:cNvPr id="53251" name="Rectangle 2"/>
          <p:cNvSpPr>
            <a:spLocks noGrp="1" noChangeArrowheads="1"/>
          </p:cNvSpPr>
          <p:nvPr>
            <p:ph type="title"/>
          </p:nvPr>
        </p:nvSpPr>
        <p:spPr>
          <a:xfrm>
            <a:off x="685800" y="0"/>
            <a:ext cx="7772400" cy="833438"/>
          </a:xfrm>
        </p:spPr>
        <p:txBody>
          <a:bodyPr/>
          <a:lstStyle/>
          <a:p>
            <a:r>
              <a:rPr lang="en-US" altLang="en-US" smtClean="0"/>
              <a:t>The </a:t>
            </a:r>
            <a:r>
              <a:rPr lang="en-US" altLang="en-US" sz="4200" smtClean="0">
                <a:latin typeface="Courier New" panose="02070309020205020404" pitchFamily="49" charset="0"/>
              </a:rPr>
              <a:t>KeyEvent</a:t>
            </a:r>
            <a:r>
              <a:rPr lang="en-US" altLang="en-US" smtClean="0"/>
              <a:t> Class</a:t>
            </a:r>
          </a:p>
        </p:txBody>
      </p:sp>
      <p:sp>
        <p:nvSpPr>
          <p:cNvPr id="53252" name="Rectangle 6"/>
          <p:cNvSpPr>
            <a:spLocks noChangeArrowheads="1"/>
          </p:cNvSpPr>
          <p:nvPr/>
        </p:nvSpPr>
        <p:spPr bwMode="auto">
          <a:xfrm>
            <a:off x="2324100" y="2928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7">
            <a:extLst>
              <a:ext uri="{FF2B5EF4-FFF2-40B4-BE49-F238E27FC236}">
                <a16:creationId xmlns:a16="http://schemas.microsoft.com/office/drawing/2014/main" id="{C9BB7E42-1747-4070-B39D-356C0E5F8577}"/>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8" name="AutoShape 5">
            <a:hlinkClick r:id="" action="ppaction://noaction" highlightClick="1"/>
            <a:extLst>
              <a:ext uri="{FF2B5EF4-FFF2-40B4-BE49-F238E27FC236}">
                <a16:creationId xmlns:a16="http://schemas.microsoft.com/office/drawing/2014/main" id="{E90D73E3-1A2B-4EC7-900E-88233C92E05E}"/>
              </a:ext>
            </a:extLst>
          </p:cNvPr>
          <p:cNvSpPr>
            <a:spLocks noChangeArrowheads="1"/>
          </p:cNvSpPr>
          <p:nvPr/>
        </p:nvSpPr>
        <p:spPr bwMode="auto">
          <a:xfrm>
            <a:off x="2705100" y="5741988"/>
            <a:ext cx="3733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dirty="0" err="1">
                <a:solidFill>
                  <a:schemeClr val="accent1"/>
                </a:solidFill>
                <a:latin typeface="Book Antiqua" pitchFamily="18" charset="0"/>
                <a:hlinkClick r:id="rId3" action="ppaction://program"/>
              </a:rPr>
              <a:t>KeyEventDemo</a:t>
            </a:r>
            <a:endParaRPr lang="en-US" altLang="en-US" dirty="0">
              <a:solidFill>
                <a:schemeClr val="accent1"/>
              </a:solidFill>
            </a:endParaRPr>
          </a:p>
        </p:txBody>
      </p:sp>
      <p:sp>
        <p:nvSpPr>
          <p:cNvPr id="53255" name="AutoShape 6">
            <a:hlinkClick r:id="rId4" action="ppaction://program" highlightClick="1"/>
          </p:cNvPr>
          <p:cNvSpPr>
            <a:spLocks noChangeArrowheads="1"/>
          </p:cNvSpPr>
          <p:nvPr/>
        </p:nvSpPr>
        <p:spPr bwMode="auto">
          <a:xfrm>
            <a:off x="6553200" y="5715000"/>
            <a:ext cx="21336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53256" name="AutoShape 7">
            <a:hlinkClick r:id="rId5" highlightClick="1"/>
          </p:cNvPr>
          <p:cNvSpPr>
            <a:spLocks noChangeArrowheads="1"/>
          </p:cNvSpPr>
          <p:nvPr/>
        </p:nvSpPr>
        <p:spPr bwMode="auto">
          <a:xfrm>
            <a:off x="2184400" y="569912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53257"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1625" y="2095500"/>
            <a:ext cx="8836025"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53258" name="Dikdörtgen 2"/>
          <p:cNvSpPr>
            <a:spLocks noChangeArrowheads="1"/>
          </p:cNvSpPr>
          <p:nvPr/>
        </p:nvSpPr>
        <p:spPr bwMode="auto">
          <a:xfrm>
            <a:off x="381000" y="1116013"/>
            <a:ext cx="8534400" cy="1138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400">
                <a:solidFill>
                  <a:srgbClr val="000000"/>
                </a:solidFill>
                <a:latin typeface="TimesNewRomanPSMT"/>
              </a:rPr>
              <a:t>A </a:t>
            </a:r>
            <a:r>
              <a:rPr lang="en-US" altLang="en-US" sz="2400" b="1">
                <a:solidFill>
                  <a:srgbClr val="000000"/>
                </a:solidFill>
                <a:latin typeface="TimesNewRomanPS-BoldMT"/>
              </a:rPr>
              <a:t>KeyEvent </a:t>
            </a:r>
            <a:r>
              <a:rPr lang="en-US" altLang="en-US" sz="2400">
                <a:solidFill>
                  <a:srgbClr val="000000"/>
                </a:solidFill>
                <a:latin typeface="TimesNewRomanPSMT"/>
              </a:rPr>
              <a:t>is fired whenever a key is pressed, released, or typed on a node or a scene.</a:t>
            </a:r>
            <a:r>
              <a:rPr lang="en-US" altLang="en-US" sz="2000"/>
              <a:t> </a:t>
            </a:r>
            <a:br>
              <a:rPr lang="en-US" altLang="en-US" sz="2000"/>
            </a:br>
            <a:endParaRPr lang="en-US" altLang="en-US" sz="200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EB5B90B-EA29-4665-A392-32382DD02684}" type="slidenum">
              <a:rPr lang="en-US" altLang="en-US" sz="1400" smtClean="0"/>
              <a:pPr>
                <a:spcBef>
                  <a:spcPct val="0"/>
                </a:spcBef>
                <a:buClrTx/>
                <a:buSzTx/>
                <a:buFontTx/>
                <a:buNone/>
              </a:pPr>
              <a:t>52</a:t>
            </a:fld>
            <a:endParaRPr lang="en-US" altLang="en-US" sz="1400" smtClean="0"/>
          </a:p>
        </p:txBody>
      </p:sp>
      <p:sp>
        <p:nvSpPr>
          <p:cNvPr id="54275" name="Rectangle 2"/>
          <p:cNvSpPr>
            <a:spLocks noGrp="1" noChangeArrowheads="1"/>
          </p:cNvSpPr>
          <p:nvPr>
            <p:ph type="title"/>
          </p:nvPr>
        </p:nvSpPr>
        <p:spPr>
          <a:xfrm>
            <a:off x="685800" y="0"/>
            <a:ext cx="7772400" cy="1428750"/>
          </a:xfrm>
        </p:spPr>
        <p:txBody>
          <a:bodyPr/>
          <a:lstStyle/>
          <a:p>
            <a:r>
              <a:rPr lang="en-US" altLang="en-US" smtClean="0"/>
              <a:t>The </a:t>
            </a:r>
            <a:r>
              <a:rPr lang="en-US" altLang="en-US" sz="4200" smtClean="0">
                <a:latin typeface="Courier New" panose="02070309020205020404" pitchFamily="49" charset="0"/>
              </a:rPr>
              <a:t>KeyCode</a:t>
            </a:r>
            <a:r>
              <a:rPr lang="en-US" altLang="en-US" smtClean="0"/>
              <a:t> Constants</a:t>
            </a:r>
          </a:p>
        </p:txBody>
      </p:sp>
      <p:sp>
        <p:nvSpPr>
          <p:cNvPr id="3" name="Rectangle 6">
            <a:extLst>
              <a:ext uri="{FF2B5EF4-FFF2-40B4-BE49-F238E27FC236}">
                <a16:creationId xmlns:a16="http://schemas.microsoft.com/office/drawing/2014/main" id="{519EADAE-CCB1-41DD-B3A1-10D2CDED6AE5}"/>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pic>
        <p:nvPicPr>
          <p:cNvPr id="5427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175" y="1524000"/>
            <a:ext cx="8883650" cy="3810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ayt Numarası Yer Tutucusu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EF0FD1E-4FDB-4244-8A51-DB3117100C6E}" type="slidenum">
              <a:rPr lang="en-US" altLang="en-US" sz="1400" smtClean="0"/>
              <a:pPr>
                <a:spcBef>
                  <a:spcPct val="0"/>
                </a:spcBef>
                <a:buClrTx/>
                <a:buSzTx/>
                <a:buFontTx/>
                <a:buNone/>
              </a:pPr>
              <a:t>53</a:t>
            </a:fld>
            <a:endParaRPr lang="en-US" altLang="en-US" sz="1400" smtClean="0"/>
          </a:p>
        </p:txBody>
      </p:sp>
      <p:sp>
        <p:nvSpPr>
          <p:cNvPr id="55299" name="Dikdörtgen 4"/>
          <p:cNvSpPr>
            <a:spLocks noChangeArrowheads="1"/>
          </p:cNvSpPr>
          <p:nvPr/>
        </p:nvSpPr>
        <p:spPr bwMode="auto">
          <a:xfrm>
            <a:off x="152400" y="0"/>
            <a:ext cx="8305800" cy="692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200" b="1">
                <a:solidFill>
                  <a:srgbClr val="000000"/>
                </a:solidFill>
                <a:latin typeface="Courier New" panose="02070309020205020404" pitchFamily="49" charset="0"/>
              </a:rPr>
              <a:t>import javafx.application.Application;</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javafx.stage.Stage;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javafx.scene.Scene;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javafx.scene.layout.Pane;</a:t>
            </a:r>
            <a:br>
              <a:rPr lang="en-US" altLang="en-US" sz="1200" b="1">
                <a:solidFill>
                  <a:srgbClr val="000000"/>
                </a:solidFill>
                <a:latin typeface="Courier New" panose="02070309020205020404" pitchFamily="49" charset="0"/>
              </a:rPr>
            </a:br>
            <a:r>
              <a:rPr lang="en-US" altLang="en-US" sz="1200" b="1">
                <a:solidFill>
                  <a:srgbClr val="000000"/>
                </a:solidFill>
                <a:latin typeface="Courier New" panose="02070309020205020404" pitchFamily="49" charset="0"/>
              </a:rPr>
              <a:t>import javafx.scene.text.Text;</a:t>
            </a:r>
          </a:p>
          <a:p>
            <a:pPr>
              <a:spcBef>
                <a:spcPct val="0"/>
              </a:spcBef>
              <a:buClrTx/>
              <a:buSzTx/>
              <a:buFontTx/>
              <a:buNone/>
            </a:pPr>
            <a:r>
              <a:rPr lang="en-US" altLang="en-US" sz="1400" b="1">
                <a:solidFill>
                  <a:srgbClr val="000000"/>
                </a:solidFill>
                <a:latin typeface="Courier New" panose="02070309020205020404" pitchFamily="49" charset="0"/>
              </a:rPr>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public class KeyEventDemo extends Application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@Override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public void start(Stage primaryStage)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Pane pane = new Pane();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Text text = new Text(20, 20, "A");</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text.setFocusTraversable(true);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pane.getChildren().add(text);</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a:t>
            </a:r>
            <a:r>
              <a:rPr lang="en-US" altLang="en-US" sz="1400" b="1">
                <a:solidFill>
                  <a:srgbClr val="FF0000"/>
                </a:solidFill>
                <a:latin typeface="Courier New" panose="02070309020205020404" pitchFamily="49" charset="0"/>
              </a:rPr>
              <a:t>text.setOnKeyPressed(e -&gt;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switch (e.getCode())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case DOWN: text.setY(text.getY() + 10); break;</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case UP: text.setY(text.getY() - 10); break;</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case LEFT: text.setX(text.getX() - 10); break;</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case RIGHT: text.setX(text.getX() + 10); break;</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default:</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if (Character.isLetterOrDigit(e.getText().charAt(0)))</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text.setText(e.getText());</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br>
              <a:rPr lang="en-US" altLang="en-US" sz="1400" b="1">
                <a:solidFill>
                  <a:srgbClr val="FF0000"/>
                </a:solidFill>
                <a:latin typeface="Courier New" panose="02070309020205020404" pitchFamily="49" charset="0"/>
              </a:rPr>
            </a:br>
            <a:r>
              <a:rPr lang="en-US" altLang="en-US" sz="1400" b="1">
                <a:solidFill>
                  <a:srgbClr val="FF0000"/>
                </a:solidFill>
                <a:latin typeface="Courier New" panose="02070309020205020404" pitchFamily="49" charset="0"/>
              </a:rPr>
              <a:t>    </a:t>
            </a:r>
            <a:r>
              <a:rPr lang="en-US" altLang="en-US" sz="1400" b="1">
                <a:solidFill>
                  <a:srgbClr val="000000"/>
                </a:solidFill>
                <a:latin typeface="Courier New" panose="02070309020205020404" pitchFamily="49" charset="0"/>
              </a:rPr>
              <a:t>Scene scene = new Scene(pane);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primaryStage.setTitle("KeyEventDemo");</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primaryStage.setScene(scene);</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primaryStage.show();</a:t>
            </a:r>
          </a:p>
          <a:p>
            <a:pPr>
              <a:spcBef>
                <a:spcPct val="0"/>
              </a:spcBef>
              <a:buClrTx/>
              <a:buSzTx/>
              <a:buFontTx/>
              <a:buNone/>
            </a:pPr>
            <a:r>
              <a:rPr lang="en-US" altLang="en-US" sz="1400" b="1">
                <a:solidFill>
                  <a:srgbClr val="000000"/>
                </a:solidFill>
                <a:latin typeface="Courier New" panose="02070309020205020404" pitchFamily="49" charset="0"/>
              </a:rPr>
              <a:t/>
            </a:r>
            <a:br>
              <a:rPr lang="en-US" altLang="en-US" sz="1400" b="1">
                <a:solidFill>
                  <a:srgbClr val="000000"/>
                </a:solidFill>
                <a:latin typeface="Courier New" panose="02070309020205020404" pitchFamily="49" charset="0"/>
              </a:rPr>
            </a:br>
            <a:r>
              <a:rPr lang="en-US" altLang="en-US" sz="1400" b="1">
                <a:solidFill>
                  <a:srgbClr val="000000"/>
                </a:solidFill>
                <a:latin typeface="Courier New" panose="02070309020205020404" pitchFamily="49" charset="0"/>
              </a:rPr>
              <a:t>  } …/*main*/}</a:t>
            </a:r>
            <a:r>
              <a:rPr lang="en-US" altLang="en-US" sz="2000"/>
              <a:t/>
            </a:r>
            <a:br>
              <a:rPr lang="en-US" altLang="en-US" sz="2000"/>
            </a:br>
            <a:endParaRPr lang="en-US" altLang="en-US" sz="2000"/>
          </a:p>
        </p:txBody>
      </p:sp>
      <p:pic>
        <p:nvPicPr>
          <p:cNvPr id="55300" name="Resim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5075" y="255588"/>
            <a:ext cx="2381250"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Resim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5550" y="1422400"/>
            <a:ext cx="2409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 name="Düz Ok Bağlayıcısı 8"/>
          <p:cNvCxnSpPr>
            <a:cxnSpLocks noChangeShapeType="1"/>
          </p:cNvCxnSpPr>
          <p:nvPr/>
        </p:nvCxnSpPr>
        <p:spPr bwMode="auto">
          <a:xfrm>
            <a:off x="7620000" y="2438400"/>
            <a:ext cx="0" cy="1049338"/>
          </a:xfrm>
          <a:prstGeom prst="straightConnector1">
            <a:avLst/>
          </a:prstGeom>
          <a:noFill/>
          <a:ln w="12700" algn="ctr">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Düz Ok Bağlayıcısı 9"/>
          <p:cNvCxnSpPr>
            <a:cxnSpLocks/>
          </p:cNvCxnSpPr>
          <p:nvPr/>
        </p:nvCxnSpPr>
        <p:spPr bwMode="auto">
          <a:xfrm>
            <a:off x="7067550" y="2963863"/>
            <a:ext cx="1066800" cy="0"/>
          </a:xfrm>
          <a:prstGeom prst="straightConnector1">
            <a:avLst/>
          </a:prstGeom>
          <a:noFill/>
          <a:ln w="12700" algn="ctr">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12" name="Resim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5088" y="4860925"/>
            <a:ext cx="24098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additive="base">
                                        <p:cTn id="15" dur="500" fill="hold"/>
                                        <p:tgtEl>
                                          <p:spTgt spid="10"/>
                                        </p:tgtEl>
                                        <p:attrNameLst>
                                          <p:attrName>ppt_x</p:attrName>
                                        </p:attrNameLst>
                                      </p:cBhvr>
                                      <p:tavLst>
                                        <p:tav tm="0">
                                          <p:val>
                                            <p:strVal val="#ppt_x"/>
                                          </p:val>
                                        </p:tav>
                                        <p:tav tm="100000">
                                          <p:val>
                                            <p:strVal val="#ppt_x"/>
                                          </p:val>
                                        </p:tav>
                                      </p:tavLst>
                                    </p:anim>
                                    <p:anim calcmode="lin" valueType="num">
                                      <p:cBhvr additive="base">
                                        <p:cTn id="1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ECDC180-4428-4299-ABA7-CF80C70DD563}" type="slidenum">
              <a:rPr lang="en-US" altLang="en-US" sz="1400" smtClean="0"/>
              <a:pPr>
                <a:spcBef>
                  <a:spcPct val="0"/>
                </a:spcBef>
                <a:buClrTx/>
                <a:buSzTx/>
                <a:buFontTx/>
                <a:buNone/>
              </a:pPr>
              <a:t>54</a:t>
            </a:fld>
            <a:endParaRPr lang="en-US" altLang="en-US" sz="1400" smtClean="0"/>
          </a:p>
        </p:txBody>
      </p:sp>
      <p:sp>
        <p:nvSpPr>
          <p:cNvPr id="57347" name="Rectangle 2"/>
          <p:cNvSpPr>
            <a:spLocks noGrp="1" noChangeArrowheads="1"/>
          </p:cNvSpPr>
          <p:nvPr>
            <p:ph type="title"/>
          </p:nvPr>
        </p:nvSpPr>
        <p:spPr>
          <a:xfrm>
            <a:off x="685800" y="457200"/>
            <a:ext cx="7772400" cy="1143000"/>
          </a:xfrm>
        </p:spPr>
        <p:txBody>
          <a:bodyPr/>
          <a:lstStyle/>
          <a:p>
            <a:r>
              <a:rPr lang="en-US" altLang="en-US" sz="4000" smtClean="0"/>
              <a:t>Example: Control Circle with Mouse and Key</a:t>
            </a:r>
            <a:endParaRPr lang="en-US" altLang="en-US" u="sng" smtClean="0">
              <a:solidFill>
                <a:schemeClr val="tx1"/>
              </a:solidFill>
              <a:latin typeface="Book Antiqua" panose="02040602050305030304" pitchFamily="18" charset="0"/>
            </a:endParaRPr>
          </a:p>
        </p:txBody>
      </p:sp>
      <p:sp>
        <p:nvSpPr>
          <p:cNvPr id="363525" name="AutoShape 5">
            <a:hlinkClick r:id="" action="ppaction://noaction" highlightClick="1"/>
            <a:extLst>
              <a:ext uri="{FF2B5EF4-FFF2-40B4-BE49-F238E27FC236}">
                <a16:creationId xmlns:a16="http://schemas.microsoft.com/office/drawing/2014/main" id="{BB658C8C-4B7D-4BEA-AA96-9BCB5B37C7AC}"/>
              </a:ext>
            </a:extLst>
          </p:cNvPr>
          <p:cNvSpPr>
            <a:spLocks noChangeArrowheads="1"/>
          </p:cNvSpPr>
          <p:nvPr/>
        </p:nvSpPr>
        <p:spPr bwMode="auto">
          <a:xfrm>
            <a:off x="1447800" y="2828925"/>
            <a:ext cx="4800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2" action="ppaction://program"/>
              </a:rPr>
              <a:t>ControlCircleWithMouseAndKey</a:t>
            </a:r>
            <a:endParaRPr lang="en-US" altLang="en-US">
              <a:solidFill>
                <a:schemeClr val="accent1"/>
              </a:solidFill>
            </a:endParaRPr>
          </a:p>
        </p:txBody>
      </p:sp>
      <p:sp>
        <p:nvSpPr>
          <p:cNvPr id="57349" name="AutoShape 9">
            <a:hlinkClick r:id="rId3" action="ppaction://program" highlightClick="1"/>
          </p:cNvPr>
          <p:cNvSpPr>
            <a:spLocks noChangeArrowheads="1"/>
          </p:cNvSpPr>
          <p:nvPr/>
        </p:nvSpPr>
        <p:spPr bwMode="auto">
          <a:xfrm>
            <a:off x="6400800" y="2828925"/>
            <a:ext cx="2133600" cy="4572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57350" name="AutoShape 10">
            <a:hlinkClick r:id="rId4" highlightClick="1"/>
          </p:cNvPr>
          <p:cNvSpPr>
            <a:spLocks noChangeArrowheads="1"/>
          </p:cNvSpPr>
          <p:nvPr/>
        </p:nvSpPr>
        <p:spPr bwMode="auto">
          <a:xfrm>
            <a:off x="822325" y="2828925"/>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ayt Numarası Yer Tutucusu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7039CF8-70F0-49F5-BAD5-E0BC5110850C}" type="slidenum">
              <a:rPr lang="en-US" altLang="en-US" sz="1400" smtClean="0"/>
              <a:pPr>
                <a:spcBef>
                  <a:spcPct val="0"/>
                </a:spcBef>
                <a:buClrTx/>
                <a:buSzTx/>
                <a:buFontTx/>
                <a:buNone/>
              </a:pPr>
              <a:t>55</a:t>
            </a:fld>
            <a:endParaRPr lang="en-US" altLang="en-US" sz="1400" smtClean="0"/>
          </a:p>
        </p:txBody>
      </p:sp>
      <p:sp>
        <p:nvSpPr>
          <p:cNvPr id="58371" name="Dikdörtgen 4"/>
          <p:cNvSpPr>
            <a:spLocks noChangeArrowheads="1"/>
          </p:cNvSpPr>
          <p:nvPr/>
        </p:nvSpPr>
        <p:spPr bwMode="auto">
          <a:xfrm>
            <a:off x="152400" y="0"/>
            <a:ext cx="8460000" cy="740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1050" b="1" dirty="0">
                <a:solidFill>
                  <a:srgbClr val="000000"/>
                </a:solidFill>
                <a:latin typeface="Courier New" panose="02070309020205020404" pitchFamily="49" charset="0"/>
              </a:rPr>
              <a:t>// import …</a:t>
            </a:r>
          </a:p>
          <a:p>
            <a:pPr>
              <a:spcBef>
                <a:spcPct val="0"/>
              </a:spcBef>
              <a:buClrTx/>
              <a:buSzTx/>
              <a:buFontTx/>
              <a:buNone/>
            </a:pPr>
            <a:r>
              <a:rPr lang="en-US" altLang="en-US" sz="1200" b="1" dirty="0">
                <a:solidFill>
                  <a:srgbClr val="000000"/>
                </a:solidFill>
                <a:latin typeface="Courier New" panose="02070309020205020404" pitchFamily="49" charset="0"/>
              </a:rPr>
              <a:t>public class </a:t>
            </a:r>
            <a:r>
              <a:rPr lang="en-US" altLang="en-US" sz="1200" b="1" dirty="0" err="1">
                <a:solidFill>
                  <a:srgbClr val="000000"/>
                </a:solidFill>
                <a:latin typeface="Courier New" panose="02070309020205020404" pitchFamily="49" charset="0"/>
              </a:rPr>
              <a:t>ControlCircleWithMouseAndKey</a:t>
            </a:r>
            <a:r>
              <a:rPr lang="en-US" altLang="en-US" sz="1200" b="1" dirty="0">
                <a:solidFill>
                  <a:srgbClr val="000000"/>
                </a:solidFill>
                <a:latin typeface="Courier New" panose="02070309020205020404" pitchFamily="49" charset="0"/>
              </a:rPr>
              <a:t> extends Application {</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private </a:t>
            </a:r>
            <a:r>
              <a:rPr lang="en-US" altLang="en-US" sz="1200" b="1" dirty="0" err="1">
                <a:solidFill>
                  <a:srgbClr val="000000"/>
                </a:solidFill>
                <a:latin typeface="Courier New" panose="02070309020205020404" pitchFamily="49" charset="0"/>
              </a:rPr>
              <a:t>CirclePane</a:t>
            </a: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circlePane</a:t>
            </a:r>
            <a:r>
              <a:rPr lang="en-US" altLang="en-US" sz="1200" b="1" dirty="0">
                <a:solidFill>
                  <a:srgbClr val="000000"/>
                </a:solidFill>
                <a:latin typeface="Courier New" panose="02070309020205020404" pitchFamily="49" charset="0"/>
              </a:rPr>
              <a:t> = new </a:t>
            </a:r>
            <a:r>
              <a:rPr lang="en-US" altLang="en-US" sz="1200" b="1" dirty="0" err="1">
                <a:solidFill>
                  <a:srgbClr val="000000"/>
                </a:solidFill>
                <a:latin typeface="Courier New" panose="02070309020205020404" pitchFamily="49" charset="0"/>
              </a:rPr>
              <a:t>CirclePane</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@Override</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public void start(Stage </a:t>
            </a:r>
            <a:r>
              <a:rPr lang="en-US" altLang="en-US" sz="1200" b="1" dirty="0" err="1">
                <a:solidFill>
                  <a:srgbClr val="000000"/>
                </a:solidFill>
                <a:latin typeface="Courier New" panose="02070309020205020404" pitchFamily="49" charset="0"/>
              </a:rPr>
              <a:t>primaryStage</a:t>
            </a:r>
            <a:r>
              <a:rPr lang="en-US" altLang="en-US" sz="1200" b="1" dirty="0">
                <a:solidFill>
                  <a:srgbClr val="000000"/>
                </a:solidFill>
                <a:latin typeface="Courier New" panose="02070309020205020404" pitchFamily="49" charset="0"/>
              </a:rPr>
              <a:t>) {</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HBox</a:t>
            </a: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hBox</a:t>
            </a:r>
            <a:r>
              <a:rPr lang="en-US" altLang="en-US" sz="1200" b="1" dirty="0">
                <a:solidFill>
                  <a:srgbClr val="000000"/>
                </a:solidFill>
                <a:latin typeface="Courier New" panose="02070309020205020404" pitchFamily="49" charset="0"/>
              </a:rPr>
              <a:t> = new </a:t>
            </a:r>
            <a:r>
              <a:rPr lang="en-US" altLang="en-US" sz="1200" b="1" dirty="0" err="1">
                <a:solidFill>
                  <a:srgbClr val="000000"/>
                </a:solidFill>
                <a:latin typeface="Courier New" panose="02070309020205020404" pitchFamily="49" charset="0"/>
              </a:rPr>
              <a:t>HBox</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hBox.setSpacing</a:t>
            </a:r>
            <a:r>
              <a:rPr lang="en-US" altLang="en-US" sz="1200" b="1" dirty="0">
                <a:solidFill>
                  <a:srgbClr val="000000"/>
                </a:solidFill>
                <a:latin typeface="Courier New" panose="02070309020205020404" pitchFamily="49" charset="0"/>
              </a:rPr>
              <a:t>(10);</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hBox.setAlignment</a:t>
            </a:r>
            <a:r>
              <a:rPr lang="en-US" altLang="en-US" sz="1200" b="1" dirty="0">
                <a:solidFill>
                  <a:srgbClr val="000000"/>
                </a:solidFill>
                <a:latin typeface="Courier New" panose="02070309020205020404" pitchFamily="49" charset="0"/>
              </a:rPr>
              <a:t>(</a:t>
            </a:r>
            <a:r>
              <a:rPr lang="en-US" altLang="en-US" sz="1200" b="1" dirty="0" err="1">
                <a:solidFill>
                  <a:srgbClr val="000000"/>
                </a:solidFill>
                <a:latin typeface="Courier New" panose="02070309020205020404" pitchFamily="49" charset="0"/>
              </a:rPr>
              <a:t>Pos.CENTER</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Button </a:t>
            </a:r>
            <a:r>
              <a:rPr lang="en-US" altLang="en-US" sz="1200" b="1" dirty="0" err="1">
                <a:solidFill>
                  <a:srgbClr val="000000"/>
                </a:solidFill>
                <a:latin typeface="Courier New" panose="02070309020205020404" pitchFamily="49" charset="0"/>
              </a:rPr>
              <a:t>btEnlarge</a:t>
            </a:r>
            <a:r>
              <a:rPr lang="en-US" altLang="en-US" sz="1200" b="1" dirty="0">
                <a:solidFill>
                  <a:srgbClr val="000000"/>
                </a:solidFill>
                <a:latin typeface="Courier New" panose="02070309020205020404" pitchFamily="49" charset="0"/>
              </a:rPr>
              <a:t> = new Button("Enlarge");</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Button </a:t>
            </a:r>
            <a:r>
              <a:rPr lang="en-US" altLang="en-US" sz="1200" b="1" dirty="0" err="1">
                <a:solidFill>
                  <a:srgbClr val="000000"/>
                </a:solidFill>
                <a:latin typeface="Courier New" panose="02070309020205020404" pitchFamily="49" charset="0"/>
              </a:rPr>
              <a:t>btShrink</a:t>
            </a:r>
            <a:r>
              <a:rPr lang="en-US" altLang="en-US" sz="1200" b="1" dirty="0">
                <a:solidFill>
                  <a:srgbClr val="000000"/>
                </a:solidFill>
                <a:latin typeface="Courier New" panose="02070309020205020404" pitchFamily="49" charset="0"/>
              </a:rPr>
              <a:t> = new Button("Shrink");</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hBox.getChildren</a:t>
            </a:r>
            <a:r>
              <a:rPr lang="en-US" altLang="en-US" sz="1200" b="1" dirty="0">
                <a:solidFill>
                  <a:srgbClr val="000000"/>
                </a:solidFill>
                <a:latin typeface="Courier New" panose="02070309020205020404" pitchFamily="49" charset="0"/>
              </a:rPr>
              <a:t>().add(</a:t>
            </a:r>
            <a:r>
              <a:rPr lang="en-US" altLang="en-US" sz="1200" b="1" dirty="0" err="1">
                <a:solidFill>
                  <a:srgbClr val="000000"/>
                </a:solidFill>
                <a:latin typeface="Courier New" panose="02070309020205020404" pitchFamily="49" charset="0"/>
              </a:rPr>
              <a:t>btEnlarge</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hBox.getChildren</a:t>
            </a:r>
            <a:r>
              <a:rPr lang="en-US" altLang="en-US" sz="1200" b="1" dirty="0">
                <a:solidFill>
                  <a:srgbClr val="000000"/>
                </a:solidFill>
                <a:latin typeface="Courier New" panose="02070309020205020404" pitchFamily="49" charset="0"/>
              </a:rPr>
              <a:t>().add(</a:t>
            </a:r>
            <a:r>
              <a:rPr lang="en-US" altLang="en-US" sz="1200" b="1" dirty="0" err="1">
                <a:solidFill>
                  <a:srgbClr val="000000"/>
                </a:solidFill>
                <a:latin typeface="Courier New" panose="02070309020205020404" pitchFamily="49" charset="0"/>
              </a:rPr>
              <a:t>btShrink</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FF0000"/>
                </a:solidFill>
                <a:latin typeface="Courier New" panose="02070309020205020404" pitchFamily="49" charset="0"/>
              </a:rPr>
              <a:t>btEnlarge.setOnAction</a:t>
            </a:r>
            <a:r>
              <a:rPr lang="en-US" altLang="en-US" sz="1200" b="1" dirty="0">
                <a:solidFill>
                  <a:srgbClr val="FF0000"/>
                </a:solidFill>
                <a:latin typeface="Courier New" panose="02070309020205020404" pitchFamily="49" charset="0"/>
              </a:rPr>
              <a:t>(e -&gt; </a:t>
            </a:r>
            <a:r>
              <a:rPr lang="en-US" altLang="en-US" sz="1200" b="1" dirty="0" err="1">
                <a:solidFill>
                  <a:srgbClr val="FF0000"/>
                </a:solidFill>
                <a:latin typeface="Courier New" panose="02070309020205020404" pitchFamily="49" charset="0"/>
              </a:rPr>
              <a:t>circlePane.enlarge</a:t>
            </a:r>
            <a:r>
              <a:rPr lang="en-US" altLang="en-US" sz="1200" b="1" dirty="0">
                <a:solidFill>
                  <a:srgbClr val="FF0000"/>
                </a:solidFill>
                <a:latin typeface="Courier New" panose="02070309020205020404" pitchFamily="49" charset="0"/>
              </a:rPr>
              <a:t>());</a:t>
            </a:r>
            <a:br>
              <a:rPr lang="en-US" altLang="en-US" sz="1200" b="1" dirty="0">
                <a:solidFill>
                  <a:srgbClr val="FF0000"/>
                </a:solidFill>
                <a:latin typeface="Courier New" panose="02070309020205020404" pitchFamily="49" charset="0"/>
              </a:rPr>
            </a:br>
            <a:r>
              <a:rPr lang="en-US" altLang="en-US" sz="1200" b="1" dirty="0">
                <a:solidFill>
                  <a:srgbClr val="FF0000"/>
                </a:solidFill>
                <a:latin typeface="Courier New" panose="02070309020205020404" pitchFamily="49" charset="0"/>
              </a:rPr>
              <a:t>    </a:t>
            </a:r>
            <a:r>
              <a:rPr lang="en-US" altLang="en-US" sz="1200" b="1" dirty="0" err="1">
                <a:solidFill>
                  <a:srgbClr val="FF0000"/>
                </a:solidFill>
                <a:latin typeface="Courier New" panose="02070309020205020404" pitchFamily="49" charset="0"/>
              </a:rPr>
              <a:t>btShrink.setOnAction</a:t>
            </a:r>
            <a:r>
              <a:rPr lang="en-US" altLang="en-US" sz="1200" b="1" dirty="0">
                <a:solidFill>
                  <a:srgbClr val="FF0000"/>
                </a:solidFill>
                <a:latin typeface="Courier New" panose="02070309020205020404" pitchFamily="49" charset="0"/>
              </a:rPr>
              <a:t>(e -&gt; </a:t>
            </a:r>
            <a:r>
              <a:rPr lang="en-US" altLang="en-US" sz="1200" b="1" dirty="0" err="1">
                <a:solidFill>
                  <a:srgbClr val="FF0000"/>
                </a:solidFill>
                <a:latin typeface="Courier New" panose="02070309020205020404" pitchFamily="49" charset="0"/>
              </a:rPr>
              <a:t>circlePane.shrink</a:t>
            </a:r>
            <a:r>
              <a:rPr lang="en-US" altLang="en-US" sz="1200" b="1" dirty="0">
                <a:solidFill>
                  <a:srgbClr val="FF0000"/>
                </a:solidFill>
                <a:latin typeface="Courier New" panose="02070309020205020404" pitchFamily="49" charset="0"/>
              </a:rPr>
              <a:t>());</a:t>
            </a:r>
            <a:br>
              <a:rPr lang="en-US" altLang="en-US" sz="1200" b="1" dirty="0">
                <a:solidFill>
                  <a:srgbClr val="FF0000"/>
                </a:solidFill>
                <a:latin typeface="Courier New" panose="02070309020205020404" pitchFamily="49" charset="0"/>
              </a:rPr>
            </a:br>
            <a:r>
              <a:rPr lang="en-US" altLang="en-US" sz="1200" b="1" dirty="0">
                <a:solidFill>
                  <a:srgbClr val="FF0000"/>
                </a:solidFill>
                <a:latin typeface="Courier New" panose="02070309020205020404" pitchFamily="49" charset="0"/>
              </a:rPr>
              <a:t>    </a:t>
            </a:r>
            <a:r>
              <a:rPr lang="en-US" altLang="en-US" sz="1200" b="1" dirty="0" err="1">
                <a:solidFill>
                  <a:srgbClr val="0070C0"/>
                </a:solidFill>
                <a:latin typeface="Courier New" panose="02070309020205020404" pitchFamily="49" charset="0"/>
              </a:rPr>
              <a:t>circlePane.setOnMouseClicked</a:t>
            </a:r>
            <a:r>
              <a:rPr lang="en-US" altLang="en-US" sz="1200" b="1" dirty="0">
                <a:solidFill>
                  <a:srgbClr val="0070C0"/>
                </a:solidFill>
                <a:latin typeface="Courier New" panose="02070309020205020404" pitchFamily="49" charset="0"/>
              </a:rPr>
              <a:t>(e -&gt; {</a:t>
            </a:r>
            <a:br>
              <a:rPr lang="en-US" altLang="en-US" sz="1200" b="1" dirty="0">
                <a:solidFill>
                  <a:srgbClr val="0070C0"/>
                </a:solidFill>
                <a:latin typeface="Courier New" panose="02070309020205020404" pitchFamily="49" charset="0"/>
              </a:rPr>
            </a:br>
            <a:r>
              <a:rPr lang="en-US" altLang="en-US" sz="1200" b="1" dirty="0">
                <a:solidFill>
                  <a:srgbClr val="0070C0"/>
                </a:solidFill>
                <a:latin typeface="Courier New" panose="02070309020205020404" pitchFamily="49" charset="0"/>
              </a:rPr>
              <a:t>      if (</a:t>
            </a:r>
            <a:r>
              <a:rPr lang="en-US" altLang="en-US" sz="1200" b="1" dirty="0" err="1">
                <a:solidFill>
                  <a:srgbClr val="0070C0"/>
                </a:solidFill>
                <a:latin typeface="Courier New" panose="02070309020205020404" pitchFamily="49" charset="0"/>
              </a:rPr>
              <a:t>e.getButton</a:t>
            </a:r>
            <a:r>
              <a:rPr lang="en-US" altLang="en-US" sz="1200" b="1" dirty="0">
                <a:solidFill>
                  <a:srgbClr val="0070C0"/>
                </a:solidFill>
                <a:latin typeface="Courier New" panose="02070309020205020404" pitchFamily="49" charset="0"/>
              </a:rPr>
              <a:t>() == </a:t>
            </a:r>
            <a:r>
              <a:rPr lang="en-US" altLang="en-US" sz="1200" b="1" dirty="0" err="1">
                <a:solidFill>
                  <a:srgbClr val="0070C0"/>
                </a:solidFill>
                <a:latin typeface="Courier New" panose="02070309020205020404" pitchFamily="49" charset="0"/>
              </a:rPr>
              <a:t>MouseButton.PRIMARY</a:t>
            </a:r>
            <a:r>
              <a:rPr lang="en-US" altLang="en-US" sz="1200" b="1" dirty="0">
                <a:solidFill>
                  <a:srgbClr val="0070C0"/>
                </a:solidFill>
                <a:latin typeface="Courier New" panose="02070309020205020404" pitchFamily="49" charset="0"/>
              </a:rPr>
              <a:t>) {</a:t>
            </a:r>
            <a:br>
              <a:rPr lang="en-US" altLang="en-US" sz="1200" b="1" dirty="0">
                <a:solidFill>
                  <a:srgbClr val="0070C0"/>
                </a:solidFill>
                <a:latin typeface="Courier New" panose="02070309020205020404" pitchFamily="49" charset="0"/>
              </a:rPr>
            </a:br>
            <a:r>
              <a:rPr lang="en-US" altLang="en-US" sz="1200" b="1" dirty="0">
                <a:solidFill>
                  <a:srgbClr val="0070C0"/>
                </a:solidFill>
                <a:latin typeface="Courier New" panose="02070309020205020404" pitchFamily="49" charset="0"/>
              </a:rPr>
              <a:t>        </a:t>
            </a:r>
            <a:r>
              <a:rPr lang="en-US" altLang="en-US" sz="1200" b="1" dirty="0" err="1">
                <a:solidFill>
                  <a:srgbClr val="0070C0"/>
                </a:solidFill>
                <a:latin typeface="Courier New" panose="02070309020205020404" pitchFamily="49" charset="0"/>
              </a:rPr>
              <a:t>circlePane.enlarge</a:t>
            </a:r>
            <a:r>
              <a:rPr lang="en-US" altLang="en-US" sz="1200" b="1" dirty="0">
                <a:solidFill>
                  <a:srgbClr val="0070C0"/>
                </a:solidFill>
                <a:latin typeface="Courier New" panose="02070309020205020404" pitchFamily="49" charset="0"/>
              </a:rPr>
              <a:t>();</a:t>
            </a:r>
            <a:br>
              <a:rPr lang="en-US" altLang="en-US" sz="1200" b="1" dirty="0">
                <a:solidFill>
                  <a:srgbClr val="0070C0"/>
                </a:solidFill>
                <a:latin typeface="Courier New" panose="02070309020205020404" pitchFamily="49" charset="0"/>
              </a:rPr>
            </a:br>
            <a:r>
              <a:rPr lang="en-US" altLang="en-US" sz="1100" b="1" dirty="0">
                <a:solidFill>
                  <a:srgbClr val="0070C0"/>
                </a:solidFill>
                <a:latin typeface="Courier New" panose="02070309020205020404" pitchFamily="49" charset="0"/>
              </a:rPr>
              <a:t>      }</a:t>
            </a:r>
            <a:r>
              <a:rPr lang="en-US" altLang="en-US" sz="1200" b="1" dirty="0">
                <a:solidFill>
                  <a:srgbClr val="0070C0"/>
                </a:solidFill>
                <a:latin typeface="Courier New" panose="02070309020205020404" pitchFamily="49" charset="0"/>
              </a:rPr>
              <a:t/>
            </a:r>
            <a:br>
              <a:rPr lang="en-US" altLang="en-US" sz="1200" b="1" dirty="0">
                <a:solidFill>
                  <a:srgbClr val="0070C0"/>
                </a:solidFill>
                <a:latin typeface="Courier New" panose="02070309020205020404" pitchFamily="49" charset="0"/>
              </a:rPr>
            </a:br>
            <a:r>
              <a:rPr lang="en-US" altLang="en-US" sz="1200" b="1" dirty="0">
                <a:solidFill>
                  <a:srgbClr val="0070C0"/>
                </a:solidFill>
                <a:latin typeface="Courier New" panose="02070309020205020404" pitchFamily="49" charset="0"/>
              </a:rPr>
              <a:t>      else if (</a:t>
            </a:r>
            <a:r>
              <a:rPr lang="en-US" altLang="en-US" sz="1200" b="1" dirty="0" err="1">
                <a:solidFill>
                  <a:srgbClr val="0070C0"/>
                </a:solidFill>
                <a:latin typeface="Courier New" panose="02070309020205020404" pitchFamily="49" charset="0"/>
              </a:rPr>
              <a:t>e.getButton</a:t>
            </a:r>
            <a:r>
              <a:rPr lang="en-US" altLang="en-US" sz="1200" b="1" dirty="0">
                <a:solidFill>
                  <a:srgbClr val="0070C0"/>
                </a:solidFill>
                <a:latin typeface="Courier New" panose="02070309020205020404" pitchFamily="49" charset="0"/>
              </a:rPr>
              <a:t>() == </a:t>
            </a:r>
            <a:r>
              <a:rPr lang="en-US" altLang="en-US" sz="1200" b="1" dirty="0" err="1">
                <a:solidFill>
                  <a:srgbClr val="0070C0"/>
                </a:solidFill>
                <a:latin typeface="Courier New" panose="02070309020205020404" pitchFamily="49" charset="0"/>
              </a:rPr>
              <a:t>MouseButton.SECONDARY</a:t>
            </a:r>
            <a:r>
              <a:rPr lang="en-US" altLang="en-US" sz="1200" b="1" dirty="0">
                <a:solidFill>
                  <a:srgbClr val="0070C0"/>
                </a:solidFill>
                <a:latin typeface="Courier New" panose="02070309020205020404" pitchFamily="49" charset="0"/>
              </a:rPr>
              <a:t>) {</a:t>
            </a:r>
            <a:br>
              <a:rPr lang="en-US" altLang="en-US" sz="1200" b="1" dirty="0">
                <a:solidFill>
                  <a:srgbClr val="0070C0"/>
                </a:solidFill>
                <a:latin typeface="Courier New" panose="02070309020205020404" pitchFamily="49" charset="0"/>
              </a:rPr>
            </a:br>
            <a:r>
              <a:rPr lang="en-US" altLang="en-US" sz="1200" b="1" dirty="0">
                <a:solidFill>
                  <a:srgbClr val="0070C0"/>
                </a:solidFill>
                <a:latin typeface="Courier New" panose="02070309020205020404" pitchFamily="49" charset="0"/>
              </a:rPr>
              <a:t>        </a:t>
            </a:r>
            <a:r>
              <a:rPr lang="en-US" altLang="en-US" sz="1200" b="1" dirty="0" err="1">
                <a:solidFill>
                  <a:srgbClr val="0070C0"/>
                </a:solidFill>
                <a:latin typeface="Courier New" panose="02070309020205020404" pitchFamily="49" charset="0"/>
              </a:rPr>
              <a:t>circlePane.shrink</a:t>
            </a:r>
            <a:r>
              <a:rPr lang="en-US" altLang="en-US" sz="1200" b="1" dirty="0">
                <a:solidFill>
                  <a:srgbClr val="0070C0"/>
                </a:solidFill>
                <a:latin typeface="Courier New" panose="02070309020205020404" pitchFamily="49" charset="0"/>
              </a:rPr>
              <a:t>();</a:t>
            </a:r>
            <a:br>
              <a:rPr lang="en-US" altLang="en-US" sz="1200" b="1" dirty="0">
                <a:solidFill>
                  <a:srgbClr val="0070C0"/>
                </a:solidFill>
                <a:latin typeface="Courier New" panose="02070309020205020404" pitchFamily="49" charset="0"/>
              </a:rPr>
            </a:br>
            <a:r>
              <a:rPr lang="en-US" altLang="en-US" sz="1100" b="1" dirty="0">
                <a:solidFill>
                  <a:srgbClr val="0070C0"/>
                </a:solidFill>
                <a:latin typeface="Courier New" panose="02070309020205020404" pitchFamily="49" charset="0"/>
              </a:rPr>
              <a:t>      }</a:t>
            </a:r>
            <a:br>
              <a:rPr lang="en-US" altLang="en-US" sz="1100" b="1" dirty="0">
                <a:solidFill>
                  <a:srgbClr val="0070C0"/>
                </a:solidFill>
                <a:latin typeface="Courier New" panose="02070309020205020404" pitchFamily="49" charset="0"/>
              </a:rPr>
            </a:br>
            <a:r>
              <a:rPr lang="en-US" altLang="en-US" sz="1050" b="1" dirty="0">
                <a:solidFill>
                  <a:srgbClr val="0070C0"/>
                </a:solidFill>
                <a:latin typeface="Courier New" panose="02070309020205020404" pitchFamily="49" charset="0"/>
              </a:rPr>
              <a:t>    });</a:t>
            </a:r>
            <a:endParaRPr lang="en-US" altLang="en-US" sz="1100" b="1" dirty="0">
              <a:solidFill>
                <a:srgbClr val="0070C0"/>
              </a:solidFill>
              <a:latin typeface="Courier New" panose="02070309020205020404" pitchFamily="49" charset="0"/>
            </a:endParaRPr>
          </a:p>
          <a:p>
            <a:pPr>
              <a:spcBef>
                <a:spcPct val="0"/>
              </a:spcBef>
              <a:buClrTx/>
              <a:buSzTx/>
              <a:buFontTx/>
              <a:buNone/>
            </a:pPr>
            <a:r>
              <a:rPr lang="en-US" altLang="en-US" sz="1200" b="1" dirty="0">
                <a:solidFill>
                  <a:srgbClr val="0070C0"/>
                </a:solidFill>
                <a:latin typeface="Courier New" panose="02070309020205020404" pitchFamily="49" charset="0"/>
              </a:rPr>
              <a:t>    </a:t>
            </a:r>
            <a:r>
              <a:rPr lang="en-US" altLang="en-US" sz="1200" b="1" dirty="0" err="1">
                <a:latin typeface="Courier New" panose="02070309020205020404" pitchFamily="49" charset="0"/>
              </a:rPr>
              <a:t>circlePane.setFocusTraversable</a:t>
            </a:r>
            <a:r>
              <a:rPr lang="en-US" altLang="en-US" sz="1200" b="1" dirty="0">
                <a:latin typeface="Courier New" panose="02070309020205020404" pitchFamily="49" charset="0"/>
              </a:rPr>
              <a:t>(true);</a:t>
            </a:r>
          </a:p>
          <a:p>
            <a:pPr>
              <a:spcBef>
                <a:spcPct val="0"/>
              </a:spcBef>
              <a:buClrTx/>
              <a:buSzTx/>
              <a:buFontTx/>
              <a:buNone/>
            </a:pPr>
            <a:r>
              <a:rPr lang="en-US" altLang="en-US" sz="1200" b="1" dirty="0">
                <a:solidFill>
                  <a:srgbClr val="0070C0"/>
                </a:solidFill>
                <a:latin typeface="Courier New" panose="02070309020205020404" pitchFamily="49" charset="0"/>
              </a:rPr>
              <a:t>    </a:t>
            </a:r>
            <a:r>
              <a:rPr lang="en-US" altLang="en-US" sz="1200" b="1" dirty="0" err="1">
                <a:solidFill>
                  <a:srgbClr val="00B050"/>
                </a:solidFill>
                <a:latin typeface="Courier New" panose="02070309020205020404" pitchFamily="49" charset="0"/>
              </a:rPr>
              <a:t>circlePane.setOnKeyPressed</a:t>
            </a:r>
            <a:r>
              <a:rPr lang="en-US" altLang="en-US" sz="1200" b="1" dirty="0">
                <a:solidFill>
                  <a:srgbClr val="00B050"/>
                </a:solidFill>
                <a:latin typeface="Courier New" panose="02070309020205020404" pitchFamily="49" charset="0"/>
              </a:rPr>
              <a:t>(e -&gt; {</a:t>
            </a:r>
            <a:br>
              <a:rPr lang="en-US" altLang="en-US" sz="1200" b="1" dirty="0">
                <a:solidFill>
                  <a:srgbClr val="00B050"/>
                </a:solidFill>
                <a:latin typeface="Courier New" panose="02070309020205020404" pitchFamily="49" charset="0"/>
              </a:rPr>
            </a:br>
            <a:r>
              <a:rPr lang="en-US" altLang="en-US" sz="1200" b="1" dirty="0">
                <a:solidFill>
                  <a:srgbClr val="00B050"/>
                </a:solidFill>
                <a:latin typeface="Courier New" panose="02070309020205020404" pitchFamily="49" charset="0"/>
              </a:rPr>
              <a:t>      if (</a:t>
            </a:r>
            <a:r>
              <a:rPr lang="en-US" altLang="en-US" sz="1200" b="1" dirty="0" err="1">
                <a:solidFill>
                  <a:srgbClr val="00B050"/>
                </a:solidFill>
                <a:latin typeface="Courier New" panose="02070309020205020404" pitchFamily="49" charset="0"/>
              </a:rPr>
              <a:t>e.getCode</a:t>
            </a:r>
            <a:r>
              <a:rPr lang="en-US" altLang="en-US" sz="1200" b="1" dirty="0">
                <a:solidFill>
                  <a:srgbClr val="00B050"/>
                </a:solidFill>
                <a:latin typeface="Courier New" panose="02070309020205020404" pitchFamily="49" charset="0"/>
              </a:rPr>
              <a:t>() == </a:t>
            </a:r>
            <a:r>
              <a:rPr lang="en-US" altLang="en-US" sz="1200" b="1" dirty="0" err="1">
                <a:solidFill>
                  <a:srgbClr val="00B050"/>
                </a:solidFill>
                <a:latin typeface="Courier New" panose="02070309020205020404" pitchFamily="49" charset="0"/>
              </a:rPr>
              <a:t>KeyCode.U</a:t>
            </a:r>
            <a:r>
              <a:rPr lang="en-US" altLang="en-US" sz="1200" b="1" dirty="0">
                <a:solidFill>
                  <a:srgbClr val="00B050"/>
                </a:solidFill>
                <a:latin typeface="Courier New" panose="02070309020205020404" pitchFamily="49" charset="0"/>
              </a:rPr>
              <a:t>) {</a:t>
            </a:r>
            <a:br>
              <a:rPr lang="en-US" altLang="en-US" sz="1200" b="1" dirty="0">
                <a:solidFill>
                  <a:srgbClr val="00B050"/>
                </a:solidFill>
                <a:latin typeface="Courier New" panose="02070309020205020404" pitchFamily="49" charset="0"/>
              </a:rPr>
            </a:br>
            <a:r>
              <a:rPr lang="en-US" altLang="en-US" sz="1200" b="1" dirty="0">
                <a:solidFill>
                  <a:srgbClr val="00B050"/>
                </a:solidFill>
                <a:latin typeface="Courier New" panose="02070309020205020404" pitchFamily="49" charset="0"/>
              </a:rPr>
              <a:t>        </a:t>
            </a:r>
            <a:r>
              <a:rPr lang="en-US" altLang="en-US" sz="1200" b="1" dirty="0" err="1">
                <a:solidFill>
                  <a:srgbClr val="00B050"/>
                </a:solidFill>
                <a:latin typeface="Courier New" panose="02070309020205020404" pitchFamily="49" charset="0"/>
              </a:rPr>
              <a:t>circlePane.enlarge</a:t>
            </a:r>
            <a:r>
              <a:rPr lang="en-US" altLang="en-US" sz="1200" b="1" dirty="0">
                <a:solidFill>
                  <a:srgbClr val="00B050"/>
                </a:solidFill>
                <a:latin typeface="Courier New" panose="02070309020205020404" pitchFamily="49" charset="0"/>
              </a:rPr>
              <a:t>();</a:t>
            </a:r>
            <a:br>
              <a:rPr lang="en-US" altLang="en-US" sz="1200" b="1" dirty="0">
                <a:solidFill>
                  <a:srgbClr val="00B050"/>
                </a:solidFill>
                <a:latin typeface="Courier New" panose="02070309020205020404" pitchFamily="49" charset="0"/>
              </a:rPr>
            </a:br>
            <a:r>
              <a:rPr lang="en-US" altLang="en-US" sz="1200" b="1" dirty="0">
                <a:solidFill>
                  <a:srgbClr val="00B050"/>
                </a:solidFill>
                <a:latin typeface="Courier New" panose="02070309020205020404" pitchFamily="49" charset="0"/>
              </a:rPr>
              <a:t>      }</a:t>
            </a:r>
            <a:br>
              <a:rPr lang="en-US" altLang="en-US" sz="1200" b="1" dirty="0">
                <a:solidFill>
                  <a:srgbClr val="00B050"/>
                </a:solidFill>
                <a:latin typeface="Courier New" panose="02070309020205020404" pitchFamily="49" charset="0"/>
              </a:rPr>
            </a:br>
            <a:r>
              <a:rPr lang="en-US" altLang="en-US" sz="1200" b="1" dirty="0">
                <a:solidFill>
                  <a:srgbClr val="00B050"/>
                </a:solidFill>
                <a:latin typeface="Courier New" panose="02070309020205020404" pitchFamily="49" charset="0"/>
              </a:rPr>
              <a:t>      else if (</a:t>
            </a:r>
            <a:r>
              <a:rPr lang="en-US" altLang="en-US" sz="1200" b="1" dirty="0" err="1">
                <a:solidFill>
                  <a:srgbClr val="00B050"/>
                </a:solidFill>
                <a:latin typeface="Courier New" panose="02070309020205020404" pitchFamily="49" charset="0"/>
              </a:rPr>
              <a:t>e.getCode</a:t>
            </a:r>
            <a:r>
              <a:rPr lang="en-US" altLang="en-US" sz="1200" b="1" dirty="0">
                <a:solidFill>
                  <a:srgbClr val="00B050"/>
                </a:solidFill>
                <a:latin typeface="Courier New" panose="02070309020205020404" pitchFamily="49" charset="0"/>
              </a:rPr>
              <a:t>() == </a:t>
            </a:r>
            <a:r>
              <a:rPr lang="en-US" altLang="en-US" sz="1200" b="1" dirty="0" err="1">
                <a:solidFill>
                  <a:srgbClr val="00B050"/>
                </a:solidFill>
                <a:latin typeface="Courier New" panose="02070309020205020404" pitchFamily="49" charset="0"/>
              </a:rPr>
              <a:t>KeyCode.D</a:t>
            </a:r>
            <a:r>
              <a:rPr lang="en-US" altLang="en-US" sz="1200" b="1" dirty="0">
                <a:solidFill>
                  <a:srgbClr val="00B050"/>
                </a:solidFill>
                <a:latin typeface="Courier New" panose="02070309020205020404" pitchFamily="49" charset="0"/>
              </a:rPr>
              <a:t>) {</a:t>
            </a:r>
            <a:br>
              <a:rPr lang="en-US" altLang="en-US" sz="1200" b="1" dirty="0">
                <a:solidFill>
                  <a:srgbClr val="00B050"/>
                </a:solidFill>
                <a:latin typeface="Courier New" panose="02070309020205020404" pitchFamily="49" charset="0"/>
              </a:rPr>
            </a:br>
            <a:r>
              <a:rPr lang="en-US" altLang="en-US" sz="1200" b="1" dirty="0">
                <a:solidFill>
                  <a:srgbClr val="00B050"/>
                </a:solidFill>
                <a:latin typeface="Courier New" panose="02070309020205020404" pitchFamily="49" charset="0"/>
              </a:rPr>
              <a:t>        </a:t>
            </a:r>
            <a:r>
              <a:rPr lang="en-US" altLang="en-US" sz="1200" b="1" dirty="0" err="1">
                <a:solidFill>
                  <a:srgbClr val="00B050"/>
                </a:solidFill>
                <a:latin typeface="Courier New" panose="02070309020205020404" pitchFamily="49" charset="0"/>
              </a:rPr>
              <a:t>circlePane.shrink</a:t>
            </a:r>
            <a:r>
              <a:rPr lang="en-US" altLang="en-US" sz="1200" b="1" dirty="0">
                <a:solidFill>
                  <a:srgbClr val="00B050"/>
                </a:solidFill>
                <a:latin typeface="Courier New" panose="02070309020205020404" pitchFamily="49" charset="0"/>
              </a:rPr>
              <a:t>();</a:t>
            </a:r>
            <a:br>
              <a:rPr lang="en-US" altLang="en-US" sz="1200" b="1" dirty="0">
                <a:solidFill>
                  <a:srgbClr val="00B050"/>
                </a:solidFill>
                <a:latin typeface="Courier New" panose="02070309020205020404" pitchFamily="49" charset="0"/>
              </a:rPr>
            </a:br>
            <a:r>
              <a:rPr lang="en-US" altLang="en-US" sz="1050" b="1" dirty="0">
                <a:solidFill>
                  <a:srgbClr val="00B050"/>
                </a:solidFill>
                <a:latin typeface="Courier New" panose="02070309020205020404" pitchFamily="49" charset="0"/>
              </a:rPr>
              <a:t>      }</a:t>
            </a:r>
            <a:br>
              <a:rPr lang="en-US" altLang="en-US" sz="1050" b="1" dirty="0">
                <a:solidFill>
                  <a:srgbClr val="00B050"/>
                </a:solidFill>
                <a:latin typeface="Courier New" panose="02070309020205020404" pitchFamily="49" charset="0"/>
              </a:rPr>
            </a:br>
            <a:r>
              <a:rPr lang="en-US" altLang="en-US" sz="1050" b="1" dirty="0">
                <a:solidFill>
                  <a:srgbClr val="00B050"/>
                </a:solidFill>
                <a:latin typeface="Courier New" panose="02070309020205020404" pitchFamily="49" charset="0"/>
              </a:rPr>
              <a:t>    });</a:t>
            </a:r>
            <a:br>
              <a:rPr lang="en-US" altLang="en-US" sz="1050" b="1" dirty="0">
                <a:solidFill>
                  <a:srgbClr val="00B050"/>
                </a:solidFill>
                <a:latin typeface="Courier New" panose="02070309020205020404" pitchFamily="49" charset="0"/>
              </a:rPr>
            </a:br>
            <a:r>
              <a:rPr lang="en-US" altLang="en-US" sz="1200" b="1" dirty="0">
                <a:solidFill>
                  <a:srgbClr val="00B05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BorderPane</a:t>
            </a: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borderPane</a:t>
            </a:r>
            <a:r>
              <a:rPr lang="en-US" altLang="en-US" sz="1200" b="1" dirty="0">
                <a:solidFill>
                  <a:srgbClr val="000000"/>
                </a:solidFill>
                <a:latin typeface="Courier New" panose="02070309020205020404" pitchFamily="49" charset="0"/>
              </a:rPr>
              <a:t> = new </a:t>
            </a:r>
            <a:r>
              <a:rPr lang="en-US" altLang="en-US" sz="1200" b="1" dirty="0" err="1">
                <a:solidFill>
                  <a:srgbClr val="000000"/>
                </a:solidFill>
                <a:latin typeface="Courier New" panose="02070309020205020404" pitchFamily="49" charset="0"/>
              </a:rPr>
              <a:t>BorderPane</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borderPane.setCenter</a:t>
            </a:r>
            <a:r>
              <a:rPr lang="en-US" altLang="en-US" sz="1200" b="1" dirty="0">
                <a:solidFill>
                  <a:srgbClr val="000000"/>
                </a:solidFill>
                <a:latin typeface="Courier New" panose="02070309020205020404" pitchFamily="49" charset="0"/>
              </a:rPr>
              <a:t>(</a:t>
            </a:r>
            <a:r>
              <a:rPr lang="en-US" altLang="en-US" sz="1200" b="1" dirty="0" err="1">
                <a:solidFill>
                  <a:srgbClr val="000000"/>
                </a:solidFill>
                <a:latin typeface="Courier New" panose="02070309020205020404" pitchFamily="49" charset="0"/>
              </a:rPr>
              <a:t>circlePane</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borderPane.setBottom</a:t>
            </a:r>
            <a:r>
              <a:rPr lang="en-US" altLang="en-US" sz="1200" b="1" dirty="0">
                <a:solidFill>
                  <a:srgbClr val="000000"/>
                </a:solidFill>
                <a:latin typeface="Courier New" panose="02070309020205020404" pitchFamily="49" charset="0"/>
              </a:rPr>
              <a:t>(</a:t>
            </a:r>
            <a:r>
              <a:rPr lang="en-US" altLang="en-US" sz="1200" b="1" dirty="0" err="1">
                <a:solidFill>
                  <a:srgbClr val="000000"/>
                </a:solidFill>
                <a:latin typeface="Courier New" panose="02070309020205020404" pitchFamily="49" charset="0"/>
              </a:rPr>
              <a:t>hBox</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BorderPane.setAlignment</a:t>
            </a:r>
            <a:r>
              <a:rPr lang="en-US" altLang="en-US" sz="1200" b="1" dirty="0">
                <a:solidFill>
                  <a:srgbClr val="000000"/>
                </a:solidFill>
                <a:latin typeface="Courier New" panose="02070309020205020404" pitchFamily="49" charset="0"/>
              </a:rPr>
              <a:t>(</a:t>
            </a:r>
            <a:r>
              <a:rPr lang="en-US" altLang="en-US" sz="1200" b="1" dirty="0" err="1">
                <a:solidFill>
                  <a:srgbClr val="000000"/>
                </a:solidFill>
                <a:latin typeface="Courier New" panose="02070309020205020404" pitchFamily="49" charset="0"/>
              </a:rPr>
              <a:t>hBox</a:t>
            </a:r>
            <a:r>
              <a:rPr lang="en-US" altLang="en-US" sz="1200" b="1" dirty="0">
                <a:solidFill>
                  <a:srgbClr val="000000"/>
                </a:solidFill>
                <a:latin typeface="Courier New" panose="02070309020205020404" pitchFamily="49" charset="0"/>
              </a:rPr>
              <a:t>, </a:t>
            </a:r>
            <a:r>
              <a:rPr lang="en-US" altLang="en-US" sz="1200" b="1" dirty="0" err="1">
                <a:solidFill>
                  <a:srgbClr val="000000"/>
                </a:solidFill>
                <a:latin typeface="Courier New" panose="02070309020205020404" pitchFamily="49" charset="0"/>
              </a:rPr>
              <a:t>Pos.CENTER</a:t>
            </a:r>
            <a:r>
              <a:rPr lang="en-US" altLang="en-US" sz="1200" b="1" dirty="0">
                <a:solidFill>
                  <a:srgbClr val="000000"/>
                </a:solidFill>
                <a:latin typeface="Courier New" panose="02070309020205020404" pitchFamily="49" charset="0"/>
              </a:rPr>
              <a:t>);</a:t>
            </a:r>
            <a:br>
              <a:rPr lang="en-US" altLang="en-US" sz="1200" b="1" dirty="0">
                <a:solidFill>
                  <a:srgbClr val="000000"/>
                </a:solidFill>
                <a:latin typeface="Courier New" panose="02070309020205020404" pitchFamily="49" charset="0"/>
              </a:rPr>
            </a:br>
            <a:r>
              <a:rPr lang="en-US" altLang="en-US" sz="1200" b="1" dirty="0">
                <a:solidFill>
                  <a:srgbClr val="000000"/>
                </a:solidFill>
                <a:latin typeface="Courier New" panose="02070309020205020404" pitchFamily="49" charset="0"/>
              </a:rPr>
              <a:t>    Scene </a:t>
            </a:r>
            <a:r>
              <a:rPr lang="en-US" altLang="en-US" sz="1200" b="1" dirty="0" err="1">
                <a:solidFill>
                  <a:srgbClr val="000000"/>
                </a:solidFill>
                <a:latin typeface="Courier New" panose="02070309020205020404" pitchFamily="49" charset="0"/>
              </a:rPr>
              <a:t>scene</a:t>
            </a:r>
            <a:r>
              <a:rPr lang="en-US" altLang="en-US" sz="1200" b="1" dirty="0">
                <a:solidFill>
                  <a:srgbClr val="000000"/>
                </a:solidFill>
                <a:latin typeface="Courier New" panose="02070309020205020404" pitchFamily="49" charset="0"/>
              </a:rPr>
              <a:t> = new Scene(</a:t>
            </a:r>
            <a:r>
              <a:rPr lang="en-US" altLang="en-US" sz="1200" b="1" dirty="0" err="1">
                <a:solidFill>
                  <a:srgbClr val="000000"/>
                </a:solidFill>
                <a:latin typeface="Courier New" panose="02070309020205020404" pitchFamily="49" charset="0"/>
              </a:rPr>
              <a:t>borderPane</a:t>
            </a:r>
            <a:r>
              <a:rPr lang="en-US" altLang="en-US" sz="1200" b="1" dirty="0">
                <a:solidFill>
                  <a:srgbClr val="000000"/>
                </a:solidFill>
                <a:latin typeface="Courier New" panose="02070309020205020404" pitchFamily="49" charset="0"/>
              </a:rPr>
              <a:t>, 200, 150);</a:t>
            </a:r>
            <a:r>
              <a:rPr lang="en-US" altLang="en-US" sz="1200" dirty="0"/>
              <a:t> </a:t>
            </a:r>
          </a:p>
          <a:p>
            <a:pPr>
              <a:spcBef>
                <a:spcPct val="0"/>
              </a:spcBef>
              <a:buClrTx/>
              <a:buSzTx/>
              <a:buFontTx/>
              <a:buNone/>
            </a:pPr>
            <a:r>
              <a:rPr lang="en-US" altLang="en-US" sz="1200" dirty="0"/>
              <a:t>          …</a:t>
            </a:r>
          </a:p>
          <a:p>
            <a:pPr>
              <a:spcBef>
                <a:spcPct val="0"/>
              </a:spcBef>
              <a:buClrTx/>
              <a:buSzTx/>
              <a:buFontTx/>
              <a:buNone/>
            </a:pPr>
            <a:r>
              <a:rPr lang="en-US" altLang="en-US" sz="1200" dirty="0"/>
              <a:t>   </a:t>
            </a:r>
            <a:r>
              <a:rPr lang="en-US" altLang="en-US" sz="2000" dirty="0"/>
              <a:t/>
            </a:r>
            <a:br>
              <a:rPr lang="en-US" altLang="en-US" sz="2000" dirty="0"/>
            </a:br>
            <a:endParaRPr lang="en-US" altLang="en-US" sz="2000" dirty="0"/>
          </a:p>
        </p:txBody>
      </p:sp>
      <p:pic>
        <p:nvPicPr>
          <p:cNvPr id="58372" name="Resim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9238" y="0"/>
            <a:ext cx="2181225" cy="197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Resim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9238" y="3386138"/>
            <a:ext cx="2181225" cy="1970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Metin kutusu 8">
            <a:extLst>
              <a:ext uri="{FF2B5EF4-FFF2-40B4-BE49-F238E27FC236}">
                <a16:creationId xmlns:a16="http://schemas.microsoft.com/office/drawing/2014/main" id="{D90AF681-036C-4CEA-84E7-FF26B9D64775}"/>
              </a:ext>
            </a:extLst>
          </p:cNvPr>
          <p:cNvSpPr txBox="1"/>
          <p:nvPr/>
        </p:nvSpPr>
        <p:spPr>
          <a:xfrm>
            <a:off x="6850063" y="2049463"/>
            <a:ext cx="1785937" cy="768350"/>
          </a:xfrm>
          <a:prstGeom prst="rect">
            <a:avLst/>
          </a:prstGeom>
          <a:noFill/>
        </p:spPr>
        <p:txBody>
          <a:bodyPr wrap="none">
            <a:spAutoFit/>
          </a:bodyPr>
          <a:lstStyle/>
          <a:p>
            <a:pPr>
              <a:defRPr/>
            </a:pPr>
            <a:r>
              <a:rPr lang="en-US" sz="1100" dirty="0"/>
              <a:t>The circle will enlarge by </a:t>
            </a:r>
          </a:p>
          <a:p>
            <a:pPr marL="171450" indent="-171450">
              <a:buFont typeface="Arial" panose="020B0604020202020204" pitchFamily="34" charset="0"/>
              <a:buChar char="•"/>
              <a:defRPr/>
            </a:pPr>
            <a:r>
              <a:rPr lang="en-US" sz="1100" dirty="0"/>
              <a:t>clicking Enlarge button, </a:t>
            </a:r>
          </a:p>
          <a:p>
            <a:pPr marL="171450" indent="-171450">
              <a:buFont typeface="Arial" panose="020B0604020202020204" pitchFamily="34" charset="0"/>
              <a:buChar char="•"/>
              <a:defRPr/>
            </a:pPr>
            <a:r>
              <a:rPr lang="en-US" sz="1100" dirty="0"/>
              <a:t>Mouse left click, </a:t>
            </a:r>
          </a:p>
          <a:p>
            <a:pPr marL="171450" indent="-171450">
              <a:buFont typeface="Arial" panose="020B0604020202020204" pitchFamily="34" charset="0"/>
              <a:buChar char="•"/>
              <a:defRPr/>
            </a:pPr>
            <a:r>
              <a:rPr lang="en-US" sz="1100" dirty="0"/>
              <a:t>Keyboard U press.</a:t>
            </a:r>
          </a:p>
        </p:txBody>
      </p:sp>
      <p:sp>
        <p:nvSpPr>
          <p:cNvPr id="10" name="Metin kutusu 9">
            <a:extLst>
              <a:ext uri="{FF2B5EF4-FFF2-40B4-BE49-F238E27FC236}">
                <a16:creationId xmlns:a16="http://schemas.microsoft.com/office/drawing/2014/main" id="{F88FEB0E-7437-4180-8F30-588B51AB713F}"/>
              </a:ext>
            </a:extLst>
          </p:cNvPr>
          <p:cNvSpPr txBox="1"/>
          <p:nvPr/>
        </p:nvSpPr>
        <p:spPr>
          <a:xfrm>
            <a:off x="6850063" y="5356225"/>
            <a:ext cx="1684337" cy="769938"/>
          </a:xfrm>
          <a:prstGeom prst="rect">
            <a:avLst/>
          </a:prstGeom>
          <a:noFill/>
        </p:spPr>
        <p:txBody>
          <a:bodyPr wrap="none">
            <a:spAutoFit/>
          </a:bodyPr>
          <a:lstStyle/>
          <a:p>
            <a:pPr>
              <a:defRPr/>
            </a:pPr>
            <a:r>
              <a:rPr lang="en-US" sz="1100" dirty="0"/>
              <a:t>The circle will shrink by </a:t>
            </a:r>
          </a:p>
          <a:p>
            <a:pPr marL="171450" indent="-171450">
              <a:buFont typeface="Arial" panose="020B0604020202020204" pitchFamily="34" charset="0"/>
              <a:buChar char="•"/>
              <a:defRPr/>
            </a:pPr>
            <a:r>
              <a:rPr lang="en-US" sz="1100" dirty="0"/>
              <a:t>clicking Shrink button, </a:t>
            </a:r>
          </a:p>
          <a:p>
            <a:pPr marL="171450" indent="-171450">
              <a:buFont typeface="Arial" panose="020B0604020202020204" pitchFamily="34" charset="0"/>
              <a:buChar char="•"/>
              <a:defRPr/>
            </a:pPr>
            <a:r>
              <a:rPr lang="en-US" sz="1100" dirty="0"/>
              <a:t>Mouse right click, </a:t>
            </a:r>
          </a:p>
          <a:p>
            <a:pPr marL="171450" indent="-171450">
              <a:buFont typeface="Arial" panose="020B0604020202020204" pitchFamily="34" charset="0"/>
              <a:buChar char="•"/>
              <a:defRPr/>
            </a:pPr>
            <a:r>
              <a:rPr lang="en-US" sz="1100" dirty="0"/>
              <a:t>Keyboard D press.</a:t>
            </a: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What methods do you use to register handlers for key pressed, key released, and key typed events? In which classes are these methods defined?</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en-US" sz="1600" dirty="0" err="1">
                <a:solidFill>
                  <a:srgbClr val="0070C0"/>
                </a:solidFill>
                <a:latin typeface="Consolas" panose="020B0609020204030204" pitchFamily="49" charset="0"/>
                <a:cs typeface="Calibri" panose="020F0502020204030204" pitchFamily="34" charset="0"/>
              </a:rPr>
              <a:t>setOnKeyPressed</a:t>
            </a:r>
            <a:r>
              <a:rPr lang="en-US" sz="1600" dirty="0">
                <a:solidFill>
                  <a:srgbClr val="0070C0"/>
                </a:solidFill>
                <a:latin typeface="Consolas" panose="020B0609020204030204" pitchFamily="49" charset="0"/>
                <a:cs typeface="Calibri" panose="020F0502020204030204" pitchFamily="34" charset="0"/>
              </a:rPr>
              <a:t>(handler)</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en-US" sz="1600" dirty="0" err="1" smtClean="0">
                <a:solidFill>
                  <a:srgbClr val="0070C0"/>
                </a:solidFill>
                <a:latin typeface="Consolas" panose="020B0609020204030204" pitchFamily="49" charset="0"/>
                <a:cs typeface="Calibri" panose="020F0502020204030204" pitchFamily="34" charset="0"/>
              </a:rPr>
              <a:t>setOnKeyReleased</a:t>
            </a:r>
            <a:r>
              <a:rPr lang="en-US" sz="1600" dirty="0" smtClean="0">
                <a:solidFill>
                  <a:srgbClr val="0070C0"/>
                </a:solidFill>
                <a:latin typeface="Consolas" panose="020B0609020204030204" pitchFamily="49" charset="0"/>
                <a:cs typeface="Calibri" panose="020F0502020204030204" pitchFamily="34" charset="0"/>
              </a:rPr>
              <a:t>(handler</a:t>
            </a:r>
            <a:r>
              <a:rPr lang="en-US" sz="1600" dirty="0">
                <a:solidFill>
                  <a:srgbClr val="0070C0"/>
                </a:solidFill>
                <a:latin typeface="Consolas" panose="020B0609020204030204" pitchFamily="49" charset="0"/>
                <a:cs typeface="Calibri" panose="020F0502020204030204" pitchFamily="34" charset="0"/>
              </a:rPr>
              <a:t>)</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en-US" sz="1600" dirty="0" err="1" smtClean="0">
                <a:solidFill>
                  <a:srgbClr val="0070C0"/>
                </a:solidFill>
                <a:latin typeface="Consolas" panose="020B0609020204030204" pitchFamily="49" charset="0"/>
                <a:cs typeface="Calibri" panose="020F0502020204030204" pitchFamily="34" charset="0"/>
              </a:rPr>
              <a:t>setOnKeyTyped</a:t>
            </a:r>
            <a:r>
              <a:rPr lang="en-US" sz="1600" dirty="0" smtClean="0">
                <a:solidFill>
                  <a:srgbClr val="0070C0"/>
                </a:solidFill>
                <a:latin typeface="Consolas" panose="020B0609020204030204" pitchFamily="49" charset="0"/>
                <a:cs typeface="Calibri" panose="020F0502020204030204" pitchFamily="34" charset="0"/>
              </a:rPr>
              <a:t>(handler</a:t>
            </a:r>
            <a:r>
              <a:rPr lang="en-US" sz="1600" dirty="0">
                <a:solidFill>
                  <a:srgbClr val="0070C0"/>
                </a:solidFill>
                <a:latin typeface="Consolas" panose="020B0609020204030204" pitchFamily="49" charset="0"/>
                <a:cs typeface="Calibri" panose="020F0502020204030204" pitchFamily="34" charset="0"/>
              </a:rPr>
              <a:t>)</a:t>
            </a:r>
          </a:p>
          <a:p>
            <a:r>
              <a:rPr lang="en-US" sz="2000" dirty="0">
                <a:solidFill>
                  <a:srgbClr val="0070C0"/>
                </a:solidFill>
                <a:latin typeface="Calibri" panose="020F0502020204030204" pitchFamily="34" charset="0"/>
                <a:cs typeface="Calibri" panose="020F0502020204030204" pitchFamily="34" charset="0"/>
              </a:rPr>
              <a:t>These methods are defined in the Node and Scene classes.</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56</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087514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1E16DC7-41A9-4D77-A29F-B5455D72D1C6}" type="slidenum">
              <a:rPr lang="en-US" altLang="en-US" sz="1400" smtClean="0"/>
              <a:pPr>
                <a:spcBef>
                  <a:spcPct val="0"/>
                </a:spcBef>
                <a:buClrTx/>
                <a:buSzTx/>
                <a:buFontTx/>
                <a:buNone/>
              </a:pPr>
              <a:t>57</a:t>
            </a:fld>
            <a:endParaRPr lang="en-US" altLang="en-US" sz="1400" smtClean="0"/>
          </a:p>
        </p:txBody>
      </p:sp>
      <p:sp>
        <p:nvSpPr>
          <p:cNvPr id="59395" name="Rectangle 2"/>
          <p:cNvSpPr>
            <a:spLocks noGrp="1" noChangeArrowheads="1"/>
          </p:cNvSpPr>
          <p:nvPr>
            <p:ph type="title"/>
          </p:nvPr>
        </p:nvSpPr>
        <p:spPr>
          <a:xfrm>
            <a:off x="152400" y="152400"/>
            <a:ext cx="8839200" cy="685800"/>
          </a:xfrm>
          <a:noFill/>
        </p:spPr>
        <p:txBody>
          <a:bodyPr/>
          <a:lstStyle/>
          <a:p>
            <a:r>
              <a:rPr lang="en-US" altLang="en-US" smtClean="0">
                <a:cs typeface="Times New Roman" panose="02020603050405020304" pitchFamily="18" charset="0"/>
              </a:rPr>
              <a:t>Listeners for Observable Objects</a:t>
            </a:r>
            <a:endParaRPr lang="en-US" altLang="en-US" smtClean="0"/>
          </a:p>
        </p:txBody>
      </p:sp>
      <p:sp>
        <p:nvSpPr>
          <p:cNvPr id="59396" name="Rectangle 3"/>
          <p:cNvSpPr>
            <a:spLocks noGrp="1" noChangeArrowheads="1"/>
          </p:cNvSpPr>
          <p:nvPr>
            <p:ph type="body" idx="1"/>
          </p:nvPr>
        </p:nvSpPr>
        <p:spPr>
          <a:xfrm>
            <a:off x="228600" y="990600"/>
            <a:ext cx="8915400" cy="4572000"/>
          </a:xfrm>
          <a:noFill/>
        </p:spPr>
        <p:txBody>
          <a:bodyPr/>
          <a:lstStyle/>
          <a:p>
            <a:pPr>
              <a:buFont typeface="Arial" panose="020B0604020202020204" pitchFamily="34" charset="0"/>
              <a:buChar char="•"/>
            </a:pPr>
            <a:r>
              <a:rPr lang="en-US" altLang="en-US" sz="2400" smtClean="0"/>
              <a:t>You can add a listener to process a value change in an observable object.</a:t>
            </a:r>
          </a:p>
          <a:p>
            <a:pPr>
              <a:buFont typeface="Arial" panose="020B0604020202020204" pitchFamily="34" charset="0"/>
              <a:buChar char="•"/>
            </a:pPr>
            <a:r>
              <a:rPr lang="en-US" altLang="en-US" sz="2400" smtClean="0"/>
              <a:t>An instance of </a:t>
            </a:r>
            <a:r>
              <a:rPr lang="en-US" altLang="en-US" sz="2400" b="1" smtClean="0"/>
              <a:t>Observable</a:t>
            </a:r>
            <a:r>
              <a:rPr lang="en-US" altLang="en-US" sz="2400" smtClean="0"/>
              <a:t> is known as an </a:t>
            </a:r>
            <a:r>
              <a:rPr lang="en-US" altLang="en-US" sz="2400" i="1" smtClean="0"/>
              <a:t>observable object</a:t>
            </a:r>
            <a:r>
              <a:rPr lang="en-US" altLang="en-US" sz="2400" smtClean="0"/>
              <a:t>, which contains the </a:t>
            </a:r>
            <a:r>
              <a:rPr lang="en-US" altLang="en-US" sz="2400" b="1" smtClean="0"/>
              <a:t>addListener(InvalidationListener listener)</a:t>
            </a:r>
            <a:r>
              <a:rPr lang="en-US" altLang="en-US" sz="2400" smtClean="0"/>
              <a:t> method for adding a listener. </a:t>
            </a:r>
          </a:p>
          <a:p>
            <a:pPr>
              <a:buFont typeface="Arial" panose="020B0604020202020204" pitchFamily="34" charset="0"/>
              <a:buChar char="•"/>
            </a:pPr>
            <a:r>
              <a:rPr lang="en-US" altLang="en-US" sz="2400" smtClean="0"/>
              <a:t>Once the value is changed in the property, a listener is notified. </a:t>
            </a:r>
          </a:p>
          <a:p>
            <a:pPr>
              <a:buFont typeface="Arial" panose="020B0604020202020204" pitchFamily="34" charset="0"/>
              <a:buChar char="•"/>
            </a:pPr>
            <a:r>
              <a:rPr lang="en-US" altLang="en-US" sz="2400" smtClean="0"/>
              <a:t>The listener class should implement the </a:t>
            </a:r>
            <a:r>
              <a:rPr lang="en-US" altLang="en-US" sz="2400" b="1" smtClean="0"/>
              <a:t>InvalidationListener</a:t>
            </a:r>
            <a:r>
              <a:rPr lang="en-US" altLang="en-US" sz="2400" smtClean="0"/>
              <a:t> interface, which uses the </a:t>
            </a:r>
            <a:r>
              <a:rPr lang="en-US" altLang="en-US" sz="2400" b="1" smtClean="0"/>
              <a:t>invalidated(Observable o)</a:t>
            </a:r>
            <a:r>
              <a:rPr lang="en-US" altLang="en-US" sz="2400" smtClean="0"/>
              <a:t> method to handle the property value change. Every binding property is an instance of </a:t>
            </a:r>
            <a:r>
              <a:rPr lang="en-US" altLang="en-US" sz="2400" b="1" smtClean="0"/>
              <a:t>Observable</a:t>
            </a:r>
            <a:r>
              <a:rPr lang="en-US" altLang="en-US" sz="2400" smtClean="0"/>
              <a:t>. </a:t>
            </a:r>
          </a:p>
        </p:txBody>
      </p:sp>
      <p:sp>
        <p:nvSpPr>
          <p:cNvPr id="59397" name="Rectangle 6"/>
          <p:cNvSpPr>
            <a:spLocks noChangeArrowheads="1"/>
          </p:cNvSpPr>
          <p:nvPr/>
        </p:nvSpPr>
        <p:spPr bwMode="auto">
          <a:xfrm>
            <a:off x="2490788" y="2733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73768" name="AutoShape 8">
            <a:hlinkClick r:id="" action="ppaction://noaction" highlightClick="1"/>
            <a:extLst>
              <a:ext uri="{FF2B5EF4-FFF2-40B4-BE49-F238E27FC236}">
                <a16:creationId xmlns:a16="http://schemas.microsoft.com/office/drawing/2014/main" id="{94AA80A1-7A7E-4E99-9789-E3A1A30C8EF2}"/>
              </a:ext>
            </a:extLst>
          </p:cNvPr>
          <p:cNvSpPr>
            <a:spLocks noChangeArrowheads="1"/>
          </p:cNvSpPr>
          <p:nvPr/>
        </p:nvSpPr>
        <p:spPr bwMode="auto">
          <a:xfrm>
            <a:off x="2686050" y="5181600"/>
            <a:ext cx="3786188"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3" action="ppaction://program"/>
              </a:rPr>
              <a:t>ObservablePropertyDemo</a:t>
            </a:r>
            <a:endParaRPr lang="en-US" altLang="en-US">
              <a:solidFill>
                <a:schemeClr val="accent1"/>
              </a:solidFill>
            </a:endParaRPr>
          </a:p>
        </p:txBody>
      </p:sp>
      <p:sp>
        <p:nvSpPr>
          <p:cNvPr id="59399" name="AutoShape 9">
            <a:hlinkClick r:id="rId4" action="ppaction://program" highlightClick="1"/>
          </p:cNvPr>
          <p:cNvSpPr>
            <a:spLocks noChangeArrowheads="1"/>
          </p:cNvSpPr>
          <p:nvPr/>
        </p:nvSpPr>
        <p:spPr bwMode="auto">
          <a:xfrm>
            <a:off x="6572250" y="5181600"/>
            <a:ext cx="2133600" cy="4572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59400" name="AutoShape 10">
            <a:hlinkClick r:id="rId5" highlightClick="1"/>
          </p:cNvPr>
          <p:cNvSpPr>
            <a:spLocks noChangeArrowheads="1"/>
          </p:cNvSpPr>
          <p:nvPr/>
        </p:nvSpPr>
        <p:spPr bwMode="auto">
          <a:xfrm>
            <a:off x="2108200" y="5181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1" name="AutoShape 8">
            <a:hlinkClick r:id="" action="ppaction://noaction" highlightClick="1"/>
            <a:extLst>
              <a:ext uri="{FF2B5EF4-FFF2-40B4-BE49-F238E27FC236}">
                <a16:creationId xmlns:a16="http://schemas.microsoft.com/office/drawing/2014/main" id="{F10B3DE5-181B-48E4-AF9A-17C912AEC240}"/>
              </a:ext>
            </a:extLst>
          </p:cNvPr>
          <p:cNvSpPr>
            <a:spLocks noChangeArrowheads="1"/>
          </p:cNvSpPr>
          <p:nvPr/>
        </p:nvSpPr>
        <p:spPr bwMode="auto">
          <a:xfrm>
            <a:off x="2665413" y="5867400"/>
            <a:ext cx="3786187"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6" action="ppaction://program"/>
              </a:rPr>
              <a:t>DisplayResizableClock</a:t>
            </a:r>
            <a:endParaRPr lang="en-US" altLang="en-US">
              <a:solidFill>
                <a:schemeClr val="accent1"/>
              </a:solidFill>
            </a:endParaRPr>
          </a:p>
        </p:txBody>
      </p:sp>
      <p:sp>
        <p:nvSpPr>
          <p:cNvPr id="59402" name="AutoShape 9">
            <a:hlinkClick r:id="rId7" action="ppaction://program" highlightClick="1"/>
          </p:cNvPr>
          <p:cNvSpPr>
            <a:spLocks noChangeArrowheads="1"/>
          </p:cNvSpPr>
          <p:nvPr/>
        </p:nvSpPr>
        <p:spPr bwMode="auto">
          <a:xfrm>
            <a:off x="6551613" y="5867400"/>
            <a:ext cx="2133600" cy="4572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59403" name="AutoShape 10">
            <a:hlinkClick r:id="rId8" highlightClick="1"/>
          </p:cNvPr>
          <p:cNvSpPr>
            <a:spLocks noChangeArrowheads="1"/>
          </p:cNvSpPr>
          <p:nvPr/>
        </p:nvSpPr>
        <p:spPr bwMode="auto">
          <a:xfrm>
            <a:off x="2085975" y="5867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09C5AD8-7DE5-4FDC-BBFD-065D2F2AAB90}" type="slidenum">
              <a:rPr lang="en-US" altLang="en-US" sz="1400" smtClean="0"/>
              <a:pPr>
                <a:spcBef>
                  <a:spcPct val="0"/>
                </a:spcBef>
                <a:buClrTx/>
                <a:buSzTx/>
                <a:buFontTx/>
                <a:buNone/>
              </a:pPr>
              <a:t>58</a:t>
            </a:fld>
            <a:endParaRPr lang="en-US" altLang="en-US" sz="1400" smtClean="0"/>
          </a:p>
        </p:txBody>
      </p:sp>
      <p:sp>
        <p:nvSpPr>
          <p:cNvPr id="61443" name="Rectangle 2"/>
          <p:cNvSpPr>
            <a:spLocks noGrp="1" noChangeArrowheads="1"/>
          </p:cNvSpPr>
          <p:nvPr>
            <p:ph type="title"/>
          </p:nvPr>
        </p:nvSpPr>
        <p:spPr>
          <a:xfrm>
            <a:off x="152400" y="152400"/>
            <a:ext cx="8839200" cy="685800"/>
          </a:xfrm>
          <a:noFill/>
        </p:spPr>
        <p:txBody>
          <a:bodyPr/>
          <a:lstStyle/>
          <a:p>
            <a:r>
              <a:rPr lang="en-US" altLang="en-US" smtClean="0">
                <a:cs typeface="Times New Roman" panose="02020603050405020304" pitchFamily="18" charset="0"/>
              </a:rPr>
              <a:t>Animation</a:t>
            </a:r>
            <a:r>
              <a:rPr lang="en-US" altLang="en-US" smtClean="0"/>
              <a:t> </a:t>
            </a:r>
          </a:p>
        </p:txBody>
      </p:sp>
      <p:sp>
        <p:nvSpPr>
          <p:cNvPr id="61444" name="Rectangle 3"/>
          <p:cNvSpPr>
            <a:spLocks noGrp="1" noChangeArrowheads="1"/>
          </p:cNvSpPr>
          <p:nvPr>
            <p:ph type="body" idx="1"/>
          </p:nvPr>
        </p:nvSpPr>
        <p:spPr>
          <a:xfrm>
            <a:off x="228600" y="1066800"/>
            <a:ext cx="8686800" cy="1219200"/>
          </a:xfrm>
          <a:noFill/>
        </p:spPr>
        <p:txBody>
          <a:bodyPr/>
          <a:lstStyle/>
          <a:p>
            <a:pPr marL="0" indent="0">
              <a:buFont typeface="Monotype Sorts" pitchFamily="2" charset="2"/>
              <a:buNone/>
            </a:pPr>
            <a:r>
              <a:rPr lang="en-US" altLang="en-US" sz="2800" smtClean="0"/>
              <a:t>JavaFX provides the </a:t>
            </a:r>
            <a:r>
              <a:rPr lang="en-US" altLang="en-US" sz="2800" b="1" smtClean="0"/>
              <a:t>Animation</a:t>
            </a:r>
            <a:r>
              <a:rPr lang="en-US" altLang="en-US" sz="2800" smtClean="0"/>
              <a:t> class with the core functionality for all animations.</a:t>
            </a:r>
          </a:p>
        </p:txBody>
      </p:sp>
      <p:sp>
        <p:nvSpPr>
          <p:cNvPr id="61445" name="Rectangle 5"/>
          <p:cNvSpPr>
            <a:spLocks noChangeArrowheads="1"/>
          </p:cNvSpPr>
          <p:nvPr/>
        </p:nvSpPr>
        <p:spPr bwMode="auto">
          <a:xfrm>
            <a:off x="2490788" y="27336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10">
            <a:extLst>
              <a:ext uri="{FF2B5EF4-FFF2-40B4-BE49-F238E27FC236}">
                <a16:creationId xmlns:a16="http://schemas.microsoft.com/office/drawing/2014/main" id="{DEEF11C5-806F-4E41-A8A5-AA40FF98664C}"/>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pic>
        <p:nvPicPr>
          <p:cNvPr id="6144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38" y="2181225"/>
            <a:ext cx="9118600" cy="337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3EA2053-41C8-4940-9A19-C4F8B571A8AE}" type="slidenum">
              <a:rPr lang="en-US" altLang="en-US" sz="1400" smtClean="0"/>
              <a:pPr>
                <a:spcBef>
                  <a:spcPct val="0"/>
                </a:spcBef>
                <a:buClrTx/>
                <a:buSzTx/>
                <a:buFontTx/>
                <a:buNone/>
              </a:pPr>
              <a:t>59</a:t>
            </a:fld>
            <a:endParaRPr lang="en-US" altLang="en-US" sz="1400" smtClean="0"/>
          </a:p>
        </p:txBody>
      </p:sp>
      <p:sp>
        <p:nvSpPr>
          <p:cNvPr id="63491" name="Rectangle 2"/>
          <p:cNvSpPr>
            <a:spLocks noGrp="1" noChangeArrowheads="1"/>
          </p:cNvSpPr>
          <p:nvPr>
            <p:ph type="title"/>
          </p:nvPr>
        </p:nvSpPr>
        <p:spPr>
          <a:xfrm>
            <a:off x="685800" y="0"/>
            <a:ext cx="7772400" cy="762000"/>
          </a:xfrm>
          <a:noFill/>
        </p:spPr>
        <p:txBody>
          <a:bodyPr/>
          <a:lstStyle/>
          <a:p>
            <a:r>
              <a:rPr lang="en-US" altLang="en-US" smtClean="0"/>
              <a:t>PathTransition</a:t>
            </a:r>
          </a:p>
        </p:txBody>
      </p:sp>
      <p:sp>
        <p:nvSpPr>
          <p:cNvPr id="63492" name="AutoShape 4">
            <a:hlinkClick r:id="rId3" action="ppaction://program" highlightClick="1"/>
          </p:cNvPr>
          <p:cNvSpPr>
            <a:spLocks noChangeArrowheads="1"/>
          </p:cNvSpPr>
          <p:nvPr/>
        </p:nvSpPr>
        <p:spPr bwMode="auto">
          <a:xfrm>
            <a:off x="7145338" y="4932363"/>
            <a:ext cx="16764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6" name="AutoShape 7">
            <a:hlinkClick r:id="" action="ppaction://noaction" highlightClick="1"/>
            <a:extLst>
              <a:ext uri="{FF2B5EF4-FFF2-40B4-BE49-F238E27FC236}">
                <a16:creationId xmlns:a16="http://schemas.microsoft.com/office/drawing/2014/main" id="{A0A838DB-C090-4EE8-B557-83011D6AF41B}"/>
              </a:ext>
            </a:extLst>
          </p:cNvPr>
          <p:cNvSpPr>
            <a:spLocks noChangeArrowheads="1"/>
          </p:cNvSpPr>
          <p:nvPr/>
        </p:nvSpPr>
        <p:spPr bwMode="auto">
          <a:xfrm>
            <a:off x="3868738" y="4932363"/>
            <a:ext cx="2971800"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4" action="ppaction://program"/>
              </a:rPr>
              <a:t>PathTransitionDemo</a:t>
            </a:r>
            <a:endParaRPr lang="en-US" altLang="en-US">
              <a:solidFill>
                <a:schemeClr val="accent1"/>
              </a:solidFill>
            </a:endParaRPr>
          </a:p>
        </p:txBody>
      </p:sp>
      <p:sp>
        <p:nvSpPr>
          <p:cNvPr id="63494" name="AutoShape 8">
            <a:hlinkClick r:id="rId5" highlightClick="1"/>
          </p:cNvPr>
          <p:cNvSpPr>
            <a:spLocks noChangeArrowheads="1"/>
          </p:cNvSpPr>
          <p:nvPr/>
        </p:nvSpPr>
        <p:spPr bwMode="auto">
          <a:xfrm>
            <a:off x="3182938" y="4948238"/>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3" name="Rectangle 9">
            <a:extLst>
              <a:ext uri="{FF2B5EF4-FFF2-40B4-BE49-F238E27FC236}">
                <a16:creationId xmlns:a16="http://schemas.microsoft.com/office/drawing/2014/main" id="{5F93BBB4-1600-4548-B866-2B29AF0F968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3496" name="AutoShape 4">
            <a:hlinkClick r:id="rId6" action="ppaction://program" highlightClick="1"/>
          </p:cNvPr>
          <p:cNvSpPr>
            <a:spLocks noChangeArrowheads="1"/>
          </p:cNvSpPr>
          <p:nvPr/>
        </p:nvSpPr>
        <p:spPr bwMode="auto">
          <a:xfrm>
            <a:off x="7145338" y="5697538"/>
            <a:ext cx="16764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12" name="AutoShape 7">
            <a:hlinkClick r:id="" action="ppaction://noaction" highlightClick="1"/>
            <a:extLst>
              <a:ext uri="{FF2B5EF4-FFF2-40B4-BE49-F238E27FC236}">
                <a16:creationId xmlns:a16="http://schemas.microsoft.com/office/drawing/2014/main" id="{45CCBAA6-AC2E-4E37-86D5-7854CA500243}"/>
              </a:ext>
            </a:extLst>
          </p:cNvPr>
          <p:cNvSpPr>
            <a:spLocks noChangeArrowheads="1"/>
          </p:cNvSpPr>
          <p:nvPr/>
        </p:nvSpPr>
        <p:spPr bwMode="auto">
          <a:xfrm>
            <a:off x="3868738" y="5697538"/>
            <a:ext cx="2971800"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7" action="ppaction://program"/>
              </a:rPr>
              <a:t>FlagRisingAnimation</a:t>
            </a:r>
            <a:endParaRPr lang="en-US" altLang="en-US">
              <a:solidFill>
                <a:schemeClr val="accent1"/>
              </a:solidFill>
            </a:endParaRPr>
          </a:p>
        </p:txBody>
      </p:sp>
      <p:sp>
        <p:nvSpPr>
          <p:cNvPr id="63498" name="AutoShape 8">
            <a:hlinkClick r:id="rId8" highlightClick="1"/>
          </p:cNvPr>
          <p:cNvSpPr>
            <a:spLocks noChangeArrowheads="1"/>
          </p:cNvSpPr>
          <p:nvPr/>
        </p:nvSpPr>
        <p:spPr bwMode="auto">
          <a:xfrm>
            <a:off x="3182938" y="5713413"/>
            <a:ext cx="468312"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63499" name="Picture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295400"/>
            <a:ext cx="9175750" cy="350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63500" name="Rectangle 1"/>
          <p:cNvSpPr>
            <a:spLocks noChangeArrowheads="1"/>
          </p:cNvSpPr>
          <p:nvPr/>
        </p:nvSpPr>
        <p:spPr bwMode="auto">
          <a:xfrm>
            <a:off x="152400" y="663575"/>
            <a:ext cx="8763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r>
              <a:rPr lang="en-US" altLang="en-US" sz="2000" dirty="0">
                <a:solidFill>
                  <a:srgbClr val="231F20"/>
                </a:solidFill>
                <a:latin typeface="TimesLTStd-Roman"/>
              </a:rPr>
              <a:t>The </a:t>
            </a:r>
            <a:r>
              <a:rPr lang="en-US" altLang="en-US" sz="1800" b="1" dirty="0" err="1">
                <a:solidFill>
                  <a:schemeClr val="tx2"/>
                </a:solidFill>
                <a:latin typeface="LucidaSansTypewriterStd-Bd"/>
              </a:rPr>
              <a:t>PathTransition</a:t>
            </a:r>
            <a:r>
              <a:rPr lang="en-US" altLang="en-US" sz="1800" b="1" dirty="0">
                <a:solidFill>
                  <a:srgbClr val="00AEEF"/>
                </a:solidFill>
                <a:latin typeface="LucidaSansTypewriterStd-Bd"/>
              </a:rPr>
              <a:t> </a:t>
            </a:r>
            <a:r>
              <a:rPr lang="en-US" altLang="en-US" sz="2000" dirty="0">
                <a:solidFill>
                  <a:srgbClr val="231F20"/>
                </a:solidFill>
                <a:latin typeface="TimesLTStd-Roman"/>
              </a:rPr>
              <a:t>class animates the moves of a node along a path from one end to the other over a given time.</a:t>
            </a:r>
            <a:r>
              <a:rPr lang="en-US" altLang="en-US" sz="2000" dirty="0"/>
              <a:t> </a:t>
            </a:r>
            <a:br>
              <a:rPr lang="en-US" altLang="en-US" sz="2000" dirty="0"/>
            </a:br>
            <a:endParaRPr lang="en-US" altLang="en-US" sz="2000"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5DF5A7F-4630-4E01-A05F-FCBB707968D2}" type="slidenum">
              <a:rPr lang="en-US" altLang="en-US" sz="1400" smtClean="0"/>
              <a:pPr>
                <a:spcBef>
                  <a:spcPct val="0"/>
                </a:spcBef>
                <a:buClrTx/>
                <a:buSzTx/>
                <a:buFontTx/>
                <a:buNone/>
              </a:pPr>
              <a:t>60</a:t>
            </a:fld>
            <a:endParaRPr lang="en-US" altLang="en-US" sz="1400" smtClean="0"/>
          </a:p>
        </p:txBody>
      </p:sp>
      <p:sp>
        <p:nvSpPr>
          <p:cNvPr id="65539" name="Rectangle 2"/>
          <p:cNvSpPr>
            <a:spLocks noGrp="1" noChangeArrowheads="1"/>
          </p:cNvSpPr>
          <p:nvPr>
            <p:ph type="title"/>
          </p:nvPr>
        </p:nvSpPr>
        <p:spPr>
          <a:xfrm>
            <a:off x="685800" y="0"/>
            <a:ext cx="7772400" cy="762000"/>
          </a:xfrm>
          <a:noFill/>
        </p:spPr>
        <p:txBody>
          <a:bodyPr/>
          <a:lstStyle/>
          <a:p>
            <a:r>
              <a:rPr lang="en-US" altLang="en-US" smtClean="0"/>
              <a:t>FadeTransition</a:t>
            </a:r>
          </a:p>
        </p:txBody>
      </p:sp>
      <p:sp>
        <p:nvSpPr>
          <p:cNvPr id="3" name="Rectangle 9">
            <a:extLst>
              <a:ext uri="{FF2B5EF4-FFF2-40B4-BE49-F238E27FC236}">
                <a16:creationId xmlns:a16="http://schemas.microsoft.com/office/drawing/2014/main" id="{77DA855D-C18A-4C95-A007-4CBBD51AC298}"/>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5541" name="AutoShape 4">
            <a:hlinkClick r:id="rId3" action="ppaction://program" highlightClick="1"/>
          </p:cNvPr>
          <p:cNvSpPr>
            <a:spLocks noChangeArrowheads="1"/>
          </p:cNvSpPr>
          <p:nvPr/>
        </p:nvSpPr>
        <p:spPr bwMode="auto">
          <a:xfrm>
            <a:off x="7099300" y="5697538"/>
            <a:ext cx="16764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12" name="AutoShape 7">
            <a:hlinkClick r:id="" action="ppaction://noaction" highlightClick="1"/>
            <a:extLst>
              <a:ext uri="{FF2B5EF4-FFF2-40B4-BE49-F238E27FC236}">
                <a16:creationId xmlns:a16="http://schemas.microsoft.com/office/drawing/2014/main" id="{B6D63DA6-7131-4646-BF54-ED8772BA9483}"/>
              </a:ext>
            </a:extLst>
          </p:cNvPr>
          <p:cNvSpPr>
            <a:spLocks noChangeArrowheads="1"/>
          </p:cNvSpPr>
          <p:nvPr/>
        </p:nvSpPr>
        <p:spPr bwMode="auto">
          <a:xfrm>
            <a:off x="3822700" y="5697538"/>
            <a:ext cx="2971800"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4" action="ppaction://program"/>
              </a:rPr>
              <a:t>FadeTransitionDemo</a:t>
            </a:r>
            <a:endParaRPr lang="en-US" altLang="en-US">
              <a:solidFill>
                <a:schemeClr val="accent1"/>
              </a:solidFill>
            </a:endParaRPr>
          </a:p>
        </p:txBody>
      </p:sp>
      <p:sp>
        <p:nvSpPr>
          <p:cNvPr id="65543" name="AutoShape 8">
            <a:hlinkClick r:id="rId5" highlightClick="1"/>
          </p:cNvPr>
          <p:cNvSpPr>
            <a:spLocks noChangeArrowheads="1"/>
          </p:cNvSpPr>
          <p:nvPr/>
        </p:nvSpPr>
        <p:spPr bwMode="auto">
          <a:xfrm>
            <a:off x="3136900" y="5713413"/>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2">
            <a:extLst>
              <a:ext uri="{FF2B5EF4-FFF2-40B4-BE49-F238E27FC236}">
                <a16:creationId xmlns:a16="http://schemas.microsoft.com/office/drawing/2014/main" id="{5B3B79E5-A996-434E-8265-739854C45F0A}"/>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5545" name="Rectangle 3"/>
          <p:cNvSpPr txBox="1">
            <a:spLocks noChangeArrowheads="1"/>
          </p:cNvSpPr>
          <p:nvPr/>
        </p:nvSpPr>
        <p:spPr bwMode="auto">
          <a:xfrm>
            <a:off x="228600" y="914400"/>
            <a:ext cx="8686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Monotype Sorts" pitchFamily="2" charset="2"/>
              <a:buNone/>
            </a:pPr>
            <a:r>
              <a:rPr lang="en-US" altLang="en-US" sz="2800"/>
              <a:t>The </a:t>
            </a:r>
            <a:r>
              <a:rPr lang="en-AU" altLang="en-US" sz="2800" b="1"/>
              <a:t>FadeTransition</a:t>
            </a:r>
            <a:r>
              <a:rPr lang="en-US" altLang="en-US" sz="2800"/>
              <a:t> class animates the </a:t>
            </a:r>
            <a:r>
              <a:rPr lang="en-AU" altLang="en-US" sz="2800"/>
              <a:t>change of the opacity in a node over a given time. </a:t>
            </a:r>
            <a:endParaRPr lang="en-US" altLang="en-US" sz="2800"/>
          </a:p>
        </p:txBody>
      </p:sp>
      <p:pic>
        <p:nvPicPr>
          <p:cNvPr id="65546"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981200"/>
            <a:ext cx="9144000" cy="3563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BC0CC35-9636-4DC7-B477-C42BCD9A4AB3}" type="slidenum">
              <a:rPr lang="en-US" altLang="en-US" sz="1400" smtClean="0"/>
              <a:pPr>
                <a:spcBef>
                  <a:spcPct val="0"/>
                </a:spcBef>
                <a:buClrTx/>
                <a:buSzTx/>
                <a:buFontTx/>
                <a:buNone/>
              </a:pPr>
              <a:t>61</a:t>
            </a:fld>
            <a:endParaRPr lang="en-US" altLang="en-US" sz="1400" smtClean="0"/>
          </a:p>
        </p:txBody>
      </p:sp>
      <p:sp>
        <p:nvSpPr>
          <p:cNvPr id="66563" name="Rectangle 2"/>
          <p:cNvSpPr>
            <a:spLocks noGrp="1" noChangeArrowheads="1"/>
          </p:cNvSpPr>
          <p:nvPr>
            <p:ph type="title"/>
          </p:nvPr>
        </p:nvSpPr>
        <p:spPr>
          <a:xfrm>
            <a:off x="685800" y="0"/>
            <a:ext cx="7772400" cy="762000"/>
          </a:xfrm>
          <a:noFill/>
        </p:spPr>
        <p:txBody>
          <a:bodyPr/>
          <a:lstStyle/>
          <a:p>
            <a:r>
              <a:rPr lang="en-US" altLang="en-US" smtClean="0"/>
              <a:t>Timeline</a:t>
            </a:r>
          </a:p>
        </p:txBody>
      </p:sp>
      <p:sp>
        <p:nvSpPr>
          <p:cNvPr id="3" name="Rectangle 9">
            <a:extLst>
              <a:ext uri="{FF2B5EF4-FFF2-40B4-BE49-F238E27FC236}">
                <a16:creationId xmlns:a16="http://schemas.microsoft.com/office/drawing/2014/main" id="{D095634C-C582-46DD-A97A-9A939C22968D}"/>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6565" name="AutoShape 4">
            <a:hlinkClick r:id="rId3" action="ppaction://program" highlightClick="1"/>
          </p:cNvPr>
          <p:cNvSpPr>
            <a:spLocks noChangeArrowheads="1"/>
          </p:cNvSpPr>
          <p:nvPr/>
        </p:nvSpPr>
        <p:spPr bwMode="auto">
          <a:xfrm>
            <a:off x="7099300" y="5697538"/>
            <a:ext cx="16764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12" name="AutoShape 7">
            <a:hlinkClick r:id="" action="ppaction://noaction" highlightClick="1"/>
            <a:extLst>
              <a:ext uri="{FF2B5EF4-FFF2-40B4-BE49-F238E27FC236}">
                <a16:creationId xmlns:a16="http://schemas.microsoft.com/office/drawing/2014/main" id="{A502D666-CEA1-4163-A3C4-BC6C31BE686D}"/>
              </a:ext>
            </a:extLst>
          </p:cNvPr>
          <p:cNvSpPr>
            <a:spLocks noChangeArrowheads="1"/>
          </p:cNvSpPr>
          <p:nvPr/>
        </p:nvSpPr>
        <p:spPr bwMode="auto">
          <a:xfrm>
            <a:off x="3822700" y="5697538"/>
            <a:ext cx="2971800"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4" action="ppaction://program"/>
              </a:rPr>
              <a:t>TimelineDemo</a:t>
            </a:r>
            <a:endParaRPr lang="en-US" altLang="en-US">
              <a:solidFill>
                <a:schemeClr val="accent1"/>
              </a:solidFill>
            </a:endParaRPr>
          </a:p>
        </p:txBody>
      </p:sp>
      <p:sp>
        <p:nvSpPr>
          <p:cNvPr id="66567" name="AutoShape 8">
            <a:hlinkClick r:id="rId5" highlightClick="1"/>
          </p:cNvPr>
          <p:cNvSpPr>
            <a:spLocks noChangeArrowheads="1"/>
          </p:cNvSpPr>
          <p:nvPr/>
        </p:nvSpPr>
        <p:spPr bwMode="auto">
          <a:xfrm>
            <a:off x="3136900" y="5713413"/>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2">
            <a:extLst>
              <a:ext uri="{FF2B5EF4-FFF2-40B4-BE49-F238E27FC236}">
                <a16:creationId xmlns:a16="http://schemas.microsoft.com/office/drawing/2014/main" id="{D63F1B83-3CB4-40CB-9184-367F0395CEE0}"/>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6569" name="Rectangle 3"/>
          <p:cNvSpPr txBox="1">
            <a:spLocks noChangeArrowheads="1"/>
          </p:cNvSpPr>
          <p:nvPr/>
        </p:nvSpPr>
        <p:spPr bwMode="auto">
          <a:xfrm>
            <a:off x="88900" y="762000"/>
            <a:ext cx="9283700" cy="464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457200" indent="-457200">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1200150" indent="-45720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buFont typeface="Arial" panose="020B0604020202020204" pitchFamily="34" charset="0"/>
              <a:buChar char="•"/>
            </a:pPr>
            <a:r>
              <a:rPr lang="en-US" altLang="en-US" sz="2000" b="1"/>
              <a:t>PathTransition</a:t>
            </a:r>
            <a:r>
              <a:rPr lang="en-US" altLang="en-US" sz="2000"/>
              <a:t> and </a:t>
            </a:r>
            <a:r>
              <a:rPr lang="en-US" altLang="en-US" sz="2000" b="1"/>
              <a:t>FadeTransition</a:t>
            </a:r>
            <a:r>
              <a:rPr lang="en-US" altLang="en-US" sz="2000"/>
              <a:t> define specialized animations. </a:t>
            </a:r>
          </a:p>
          <a:p>
            <a:pPr>
              <a:buFont typeface="Arial" panose="020B0604020202020204" pitchFamily="34" charset="0"/>
              <a:buChar char="•"/>
            </a:pPr>
            <a:r>
              <a:rPr lang="en-US" altLang="en-US" sz="2000"/>
              <a:t>The </a:t>
            </a:r>
            <a:r>
              <a:rPr lang="en-US" altLang="en-US" sz="2000" b="1"/>
              <a:t>Timeline</a:t>
            </a:r>
            <a:r>
              <a:rPr lang="en-US" altLang="en-US" sz="2000"/>
              <a:t> class can be used to program any animation using one or more </a:t>
            </a:r>
            <a:r>
              <a:rPr lang="en-US" altLang="en-US" sz="2000" b="1"/>
              <a:t>KeyFrame</a:t>
            </a:r>
            <a:r>
              <a:rPr lang="en-US" altLang="en-US" sz="2000"/>
              <a:t>s.</a:t>
            </a:r>
          </a:p>
          <a:p>
            <a:pPr lvl="1">
              <a:buFont typeface="Arial" panose="020B0604020202020204" pitchFamily="34" charset="0"/>
              <a:buChar char="•"/>
            </a:pPr>
            <a:r>
              <a:rPr lang="en-US" altLang="en-US" sz="1800" b="1"/>
              <a:t>KeyFrame</a:t>
            </a:r>
            <a:r>
              <a:rPr lang="en-US" altLang="en-US" sz="1800"/>
              <a:t> defines target values at a specified point in time for a set of variables</a:t>
            </a:r>
            <a:br>
              <a:rPr lang="en-US" altLang="en-US" sz="1800"/>
            </a:br>
            <a:r>
              <a:rPr lang="en-US" altLang="en-US" sz="1800"/>
              <a:t>that are interpolated along a </a:t>
            </a:r>
            <a:r>
              <a:rPr lang="en-US" altLang="en-US" sz="1800" b="1"/>
              <a:t>Timeline</a:t>
            </a:r>
            <a:r>
              <a:rPr lang="en-US" altLang="en-US" sz="1800"/>
              <a:t>.</a:t>
            </a:r>
          </a:p>
          <a:p>
            <a:pPr lvl="1">
              <a:buFont typeface="Arial" panose="020B0604020202020204" pitchFamily="34" charset="0"/>
              <a:buChar char="•"/>
            </a:pPr>
            <a:r>
              <a:rPr lang="en-US" altLang="en-US" sz="1800"/>
              <a:t>Each </a:t>
            </a:r>
            <a:r>
              <a:rPr lang="en-US" altLang="en-US" sz="1800" b="1"/>
              <a:t>KeyFrame</a:t>
            </a:r>
            <a:r>
              <a:rPr lang="en-US" altLang="en-US" sz="1800"/>
              <a:t> is executed sequentially at a specified time interval. </a:t>
            </a:r>
            <a:endParaRPr lang="en-US" altLang="en-US" sz="1800" b="1"/>
          </a:p>
          <a:p>
            <a:pPr>
              <a:buFont typeface="Arial" panose="020B0604020202020204" pitchFamily="34" charset="0"/>
              <a:buChar char="•"/>
            </a:pPr>
            <a:r>
              <a:rPr lang="en-US" altLang="en-US" sz="2000" b="1"/>
              <a:t>Timeline</a:t>
            </a:r>
            <a:r>
              <a:rPr lang="en-US" altLang="en-US" sz="2000"/>
              <a:t> inherits from </a:t>
            </a:r>
            <a:r>
              <a:rPr lang="en-US" altLang="en-US" sz="2000" b="1"/>
              <a:t>Animation</a:t>
            </a:r>
            <a:r>
              <a:rPr lang="en-US" altLang="en-US" sz="2000"/>
              <a:t>. </a:t>
            </a:r>
          </a:p>
          <a:p>
            <a:pPr>
              <a:buFont typeface="Arial" panose="020B0604020202020204" pitchFamily="34" charset="0"/>
              <a:buChar char="•"/>
            </a:pPr>
            <a:r>
              <a:rPr lang="en-US" altLang="en-US" sz="2000"/>
              <a:t>You can construct a </a:t>
            </a:r>
            <a:r>
              <a:rPr lang="en-US" altLang="en-US" sz="2000" b="1"/>
              <a:t>Timeline </a:t>
            </a:r>
            <a:r>
              <a:rPr lang="en-US" altLang="en-US" sz="2000"/>
              <a:t>using the constructor .</a:t>
            </a:r>
            <a:br>
              <a:rPr lang="en-US" altLang="en-US" sz="2000"/>
            </a:br>
            <a:r>
              <a:rPr lang="en-US" altLang="en-US" sz="1800">
                <a:latin typeface="Courier New" panose="02070309020205020404" pitchFamily="49" charset="0"/>
                <a:cs typeface="Courier New" panose="02070309020205020404" pitchFamily="49" charset="0"/>
              </a:rPr>
              <a:t>new Timeline(KeyFrame... keyframes). </a:t>
            </a:r>
            <a:endParaRPr lang="en-US" altLang="en-US" sz="2000">
              <a:latin typeface="Courier New" panose="02070309020205020404" pitchFamily="49" charset="0"/>
              <a:cs typeface="Courier New" panose="02070309020205020404" pitchFamily="49" charset="0"/>
            </a:endParaRPr>
          </a:p>
          <a:p>
            <a:pPr>
              <a:buFont typeface="Arial" panose="020B0604020202020204" pitchFamily="34" charset="0"/>
              <a:buChar char="•"/>
            </a:pPr>
            <a:r>
              <a:rPr lang="en-US" altLang="en-US" sz="2000"/>
              <a:t>A </a:t>
            </a:r>
            <a:r>
              <a:rPr lang="en-US" altLang="en-US" sz="2000" b="1"/>
              <a:t>KeyFrame </a:t>
            </a:r>
            <a:r>
              <a:rPr lang="en-US" altLang="en-US" sz="2000"/>
              <a:t>can be constructed using</a:t>
            </a:r>
            <a:br>
              <a:rPr lang="en-US" altLang="en-US" sz="2000"/>
            </a:br>
            <a:r>
              <a:rPr lang="en-US" altLang="en-US" sz="1600">
                <a:latin typeface="Courier New" panose="02070309020205020404" pitchFamily="49" charset="0"/>
                <a:cs typeface="Courier New" panose="02070309020205020404" pitchFamily="49" charset="0"/>
              </a:rPr>
              <a:t>new KeyFrame(Duration duration, EventHandler&lt;ActionEvent&gt; onFinished)</a:t>
            </a:r>
            <a:r>
              <a:rPr lang="en-US" altLang="en-US" sz="1200">
                <a:latin typeface="Courier New" panose="02070309020205020404" pitchFamily="49" charset="0"/>
                <a:cs typeface="Courier New" panose="02070309020205020404" pitchFamily="49" charset="0"/>
              </a:rPr>
              <a:t> </a:t>
            </a:r>
            <a:endParaRPr lang="en-US" altLang="en-US" sz="1600">
              <a:latin typeface="Courier New" panose="02070309020205020404" pitchFamily="49" charset="0"/>
              <a:cs typeface="Courier New" panose="02070309020205020404" pitchFamily="49" charset="0"/>
            </a:endParaRPr>
          </a:p>
          <a:p>
            <a:pPr lvl="1">
              <a:buFont typeface="Arial" panose="020B0604020202020204" pitchFamily="34" charset="0"/>
              <a:buChar char="•"/>
            </a:pPr>
            <a:r>
              <a:rPr lang="en-US" altLang="en-US" sz="1800"/>
              <a:t>The handler </a:t>
            </a:r>
            <a:r>
              <a:rPr lang="en-US" altLang="en-US" sz="1800" b="1"/>
              <a:t>onFinished </a:t>
            </a:r>
            <a:r>
              <a:rPr lang="en-US" altLang="en-US" sz="1800"/>
              <a:t>is called when the duration for the key frame is elapsed.</a:t>
            </a:r>
            <a:r>
              <a:rPr lang="en-US" altLang="en-US" sz="800"/>
              <a:t> </a:t>
            </a:r>
            <a:r>
              <a:rPr lang="en-US" altLang="en-US" sz="1200"/>
              <a:t/>
            </a:r>
            <a:br>
              <a:rPr lang="en-US" altLang="en-US" sz="1200"/>
            </a:br>
            <a:r>
              <a:rPr lang="en-US" altLang="en-US" sz="1200"/>
              <a:t/>
            </a:r>
            <a:br>
              <a:rPr lang="en-US" altLang="en-US" sz="1200"/>
            </a:br>
            <a:endParaRPr lang="en-US" altLang="en-US" sz="120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C5572D0-341C-4173-AACE-16AFF1F7635B}" type="slidenum">
              <a:rPr lang="en-US" altLang="en-US" sz="1400" smtClean="0"/>
              <a:pPr>
                <a:spcBef>
                  <a:spcPct val="0"/>
                </a:spcBef>
                <a:buClrTx/>
                <a:buSzTx/>
                <a:buFontTx/>
                <a:buNone/>
              </a:pPr>
              <a:t>62</a:t>
            </a:fld>
            <a:endParaRPr lang="en-US" altLang="en-US" sz="1400" smtClean="0"/>
          </a:p>
        </p:txBody>
      </p:sp>
      <p:sp>
        <p:nvSpPr>
          <p:cNvPr id="67587" name="Rectangle 2"/>
          <p:cNvSpPr>
            <a:spLocks noGrp="1" noChangeArrowheads="1"/>
          </p:cNvSpPr>
          <p:nvPr>
            <p:ph type="title"/>
          </p:nvPr>
        </p:nvSpPr>
        <p:spPr>
          <a:xfrm>
            <a:off x="685800" y="0"/>
            <a:ext cx="7772400" cy="762000"/>
          </a:xfrm>
          <a:noFill/>
        </p:spPr>
        <p:txBody>
          <a:bodyPr/>
          <a:lstStyle/>
          <a:p>
            <a:r>
              <a:rPr lang="en-US" altLang="en-US" smtClean="0"/>
              <a:t>Clock Animation</a:t>
            </a:r>
          </a:p>
        </p:txBody>
      </p:sp>
      <p:sp>
        <p:nvSpPr>
          <p:cNvPr id="3" name="Rectangle 9">
            <a:extLst>
              <a:ext uri="{FF2B5EF4-FFF2-40B4-BE49-F238E27FC236}">
                <a16:creationId xmlns:a16="http://schemas.microsoft.com/office/drawing/2014/main" id="{6C9F452B-4A77-432E-BA44-FE3ED3528422}"/>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7589" name="AutoShape 4">
            <a:hlinkClick r:id="rId2" action="ppaction://program" highlightClick="1"/>
          </p:cNvPr>
          <p:cNvSpPr>
            <a:spLocks noChangeArrowheads="1"/>
          </p:cNvSpPr>
          <p:nvPr/>
        </p:nvSpPr>
        <p:spPr bwMode="auto">
          <a:xfrm>
            <a:off x="7099300" y="5697538"/>
            <a:ext cx="16764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12" name="AutoShape 7">
            <a:hlinkClick r:id="" action="ppaction://noaction" highlightClick="1"/>
            <a:extLst>
              <a:ext uri="{FF2B5EF4-FFF2-40B4-BE49-F238E27FC236}">
                <a16:creationId xmlns:a16="http://schemas.microsoft.com/office/drawing/2014/main" id="{5579B3C2-9FD2-4FD9-B070-A56C3D98EBB0}"/>
              </a:ext>
            </a:extLst>
          </p:cNvPr>
          <p:cNvSpPr>
            <a:spLocks noChangeArrowheads="1"/>
          </p:cNvSpPr>
          <p:nvPr/>
        </p:nvSpPr>
        <p:spPr bwMode="auto">
          <a:xfrm>
            <a:off x="3822700" y="5697538"/>
            <a:ext cx="2971800"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3" action="ppaction://program"/>
              </a:rPr>
              <a:t>ClockAnimation</a:t>
            </a:r>
            <a:endParaRPr lang="en-US" altLang="en-US">
              <a:solidFill>
                <a:schemeClr val="accent1"/>
              </a:solidFill>
            </a:endParaRPr>
          </a:p>
        </p:txBody>
      </p:sp>
      <p:sp>
        <p:nvSpPr>
          <p:cNvPr id="67591" name="AutoShape 8">
            <a:hlinkClick r:id="rId4" highlightClick="1"/>
          </p:cNvPr>
          <p:cNvSpPr>
            <a:spLocks noChangeArrowheads="1"/>
          </p:cNvSpPr>
          <p:nvPr/>
        </p:nvSpPr>
        <p:spPr bwMode="auto">
          <a:xfrm>
            <a:off x="3136900" y="5713413"/>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2" name="Rectangle 2">
            <a:extLst>
              <a:ext uri="{FF2B5EF4-FFF2-40B4-BE49-F238E27FC236}">
                <a16:creationId xmlns:a16="http://schemas.microsoft.com/office/drawing/2014/main" id="{EA510D74-8A46-49C1-98D7-2DE5197E6E43}"/>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pic>
        <p:nvPicPr>
          <p:cNvPr id="6759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59113" y="1454150"/>
            <a:ext cx="3024187" cy="3276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ayt Numarası Yer Tutucusu 3"/>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9B80C5E-6C41-4DEE-9981-D1BD5FFAEFCE}" type="slidenum">
              <a:rPr lang="en-US" altLang="en-US" sz="1400" smtClean="0"/>
              <a:pPr>
                <a:spcBef>
                  <a:spcPct val="0"/>
                </a:spcBef>
                <a:buClrTx/>
                <a:buSzTx/>
                <a:buFontTx/>
                <a:buNone/>
              </a:pPr>
              <a:t>63</a:t>
            </a:fld>
            <a:endParaRPr lang="en-US" altLang="en-US" sz="1400" smtClean="0"/>
          </a:p>
        </p:txBody>
      </p:sp>
      <p:sp>
        <p:nvSpPr>
          <p:cNvPr id="6" name="Dikdörtgen 5">
            <a:extLst>
              <a:ext uri="{FF2B5EF4-FFF2-40B4-BE49-F238E27FC236}">
                <a16:creationId xmlns:a16="http://schemas.microsoft.com/office/drawing/2014/main" id="{F1A721E3-7B3A-4261-8EE1-1F99FD351A3E}"/>
              </a:ext>
            </a:extLst>
          </p:cNvPr>
          <p:cNvSpPr/>
          <p:nvPr/>
        </p:nvSpPr>
        <p:spPr>
          <a:xfrm>
            <a:off x="18288" y="0"/>
            <a:ext cx="6705600" cy="6555641"/>
          </a:xfrm>
          <a:prstGeom prst="rect">
            <a:avLst/>
          </a:prstGeom>
        </p:spPr>
        <p:txBody>
          <a:bodyPr>
            <a:spAutoFit/>
          </a:bodyPr>
          <a:lstStyle/>
          <a:p>
            <a:pPr>
              <a:defRPr/>
            </a:pPr>
            <a:r>
              <a:rPr lang="en-US" sz="1100" b="1" dirty="0">
                <a:latin typeface="Courier"/>
              </a:rPr>
              <a:t>import </a:t>
            </a:r>
            <a:r>
              <a:rPr lang="en-US" sz="1100" b="1" dirty="0" err="1">
                <a:latin typeface="Courier"/>
              </a:rPr>
              <a:t>javafx.application.Application</a:t>
            </a:r>
            <a:r>
              <a:rPr lang="en-US" sz="1100" b="1" dirty="0">
                <a:latin typeface="Courier"/>
              </a:rPr>
              <a:t>;</a:t>
            </a:r>
          </a:p>
          <a:p>
            <a:pPr>
              <a:defRPr/>
            </a:pPr>
            <a:r>
              <a:rPr lang="en-US" sz="1100" b="1" dirty="0">
                <a:latin typeface="Courier"/>
              </a:rPr>
              <a:t>import </a:t>
            </a:r>
            <a:r>
              <a:rPr lang="en-US" sz="1100" b="1" dirty="0" err="1">
                <a:latin typeface="Courier"/>
              </a:rPr>
              <a:t>javafx.stage.Stage</a:t>
            </a:r>
            <a:r>
              <a:rPr lang="en-US" sz="1100" b="1" dirty="0">
                <a:latin typeface="Courier"/>
              </a:rPr>
              <a:t>; </a:t>
            </a:r>
          </a:p>
          <a:p>
            <a:pPr>
              <a:defRPr/>
            </a:pPr>
            <a:r>
              <a:rPr lang="en-US" sz="1100" b="1" dirty="0">
                <a:latin typeface="Courier"/>
              </a:rPr>
              <a:t>import </a:t>
            </a:r>
            <a:r>
              <a:rPr lang="en-US" sz="1100" b="1" dirty="0" err="1">
                <a:latin typeface="Courier"/>
              </a:rPr>
              <a:t>javafx.animation.KeyFrame</a:t>
            </a:r>
            <a:r>
              <a:rPr lang="en-US" sz="1100" b="1" dirty="0">
                <a:latin typeface="Courier"/>
              </a:rPr>
              <a:t>;</a:t>
            </a:r>
          </a:p>
          <a:p>
            <a:pPr>
              <a:defRPr/>
            </a:pPr>
            <a:r>
              <a:rPr lang="en-US" sz="1100" b="1" dirty="0">
                <a:latin typeface="Courier"/>
              </a:rPr>
              <a:t>import </a:t>
            </a:r>
            <a:r>
              <a:rPr lang="en-US" sz="1100" b="1" dirty="0" err="1">
                <a:latin typeface="Courier"/>
              </a:rPr>
              <a:t>javafx.animation.Timeline</a:t>
            </a:r>
            <a:r>
              <a:rPr lang="en-US" sz="1100" b="1" dirty="0">
                <a:latin typeface="Courier"/>
              </a:rPr>
              <a:t>;</a:t>
            </a:r>
          </a:p>
          <a:p>
            <a:pPr>
              <a:defRPr/>
            </a:pPr>
            <a:r>
              <a:rPr lang="en-US" sz="1100" b="1" dirty="0">
                <a:latin typeface="Courier"/>
              </a:rPr>
              <a:t>import </a:t>
            </a:r>
            <a:r>
              <a:rPr lang="en-US" sz="1100" b="1" dirty="0" err="1">
                <a:latin typeface="Courier"/>
              </a:rPr>
              <a:t>javafx.event.ActionEvent</a:t>
            </a:r>
            <a:r>
              <a:rPr lang="en-US" sz="1100" b="1" dirty="0">
                <a:latin typeface="Courier"/>
              </a:rPr>
              <a:t>;</a:t>
            </a:r>
          </a:p>
          <a:p>
            <a:pPr>
              <a:defRPr/>
            </a:pPr>
            <a:r>
              <a:rPr lang="en-US" sz="1100" b="1" dirty="0">
                <a:latin typeface="Courier"/>
              </a:rPr>
              <a:t>import </a:t>
            </a:r>
            <a:r>
              <a:rPr lang="en-US" sz="1100" b="1" dirty="0" err="1">
                <a:latin typeface="Courier"/>
              </a:rPr>
              <a:t>javafx.event.EventHandler</a:t>
            </a:r>
            <a:r>
              <a:rPr lang="en-US" sz="1100" b="1" dirty="0">
                <a:latin typeface="Courier"/>
              </a:rPr>
              <a:t>;</a:t>
            </a:r>
          </a:p>
          <a:p>
            <a:pPr>
              <a:defRPr/>
            </a:pPr>
            <a:r>
              <a:rPr lang="en-US" sz="1100" b="1" dirty="0">
                <a:latin typeface="Courier"/>
              </a:rPr>
              <a:t>import </a:t>
            </a:r>
            <a:r>
              <a:rPr lang="en-US" sz="1100" b="1" dirty="0" err="1">
                <a:latin typeface="Courier"/>
              </a:rPr>
              <a:t>javafx.scene.Scene</a:t>
            </a:r>
            <a:r>
              <a:rPr lang="en-US" sz="1100" b="1" dirty="0">
                <a:latin typeface="Courier"/>
              </a:rPr>
              <a:t>;</a:t>
            </a:r>
            <a:endParaRPr lang="en-US" sz="1050" b="1" dirty="0">
              <a:latin typeface="Courier"/>
            </a:endParaRPr>
          </a:p>
          <a:p>
            <a:pPr>
              <a:defRPr/>
            </a:pPr>
            <a:r>
              <a:rPr lang="en-US" sz="1100" b="1" dirty="0">
                <a:latin typeface="Courier"/>
              </a:rPr>
              <a:t>import </a:t>
            </a:r>
            <a:r>
              <a:rPr lang="en-US" sz="1100" b="1" dirty="0" err="1">
                <a:latin typeface="Courier"/>
              </a:rPr>
              <a:t>javafx.util.Duration</a:t>
            </a:r>
            <a:r>
              <a:rPr lang="en-US" sz="1100" b="1" dirty="0">
                <a:latin typeface="Courier"/>
              </a:rPr>
              <a:t>;</a:t>
            </a:r>
          </a:p>
          <a:p>
            <a:pPr>
              <a:defRPr/>
            </a:pPr>
            <a:r>
              <a:rPr lang="en-US" sz="1200" b="1" dirty="0">
                <a:latin typeface="Courier"/>
              </a:rPr>
              <a:t>public class </a:t>
            </a:r>
            <a:r>
              <a:rPr lang="en-US" sz="1200" b="1" dirty="0" err="1">
                <a:latin typeface="Courier"/>
              </a:rPr>
              <a:t>ClockAnimation</a:t>
            </a:r>
            <a:r>
              <a:rPr lang="en-US" sz="1200" b="1" dirty="0">
                <a:latin typeface="Courier"/>
              </a:rPr>
              <a:t> extends Application {</a:t>
            </a:r>
          </a:p>
          <a:p>
            <a:pPr>
              <a:defRPr/>
            </a:pPr>
            <a:r>
              <a:rPr lang="en-US" sz="1200" b="1" dirty="0">
                <a:latin typeface="Courier"/>
              </a:rPr>
              <a:t>  @Override // Override the start method in the Application class</a:t>
            </a:r>
          </a:p>
          <a:p>
            <a:pPr>
              <a:defRPr/>
            </a:pPr>
            <a:r>
              <a:rPr lang="en-US" sz="1200" b="1" dirty="0">
                <a:latin typeface="Courier"/>
              </a:rPr>
              <a:t>  public void start(Stage </a:t>
            </a:r>
            <a:r>
              <a:rPr lang="en-US" sz="1200" b="1" dirty="0" err="1">
                <a:latin typeface="Courier"/>
              </a:rPr>
              <a:t>primaryStage</a:t>
            </a:r>
            <a:r>
              <a:rPr lang="en-US" sz="1200" b="1" dirty="0">
                <a:latin typeface="Courier"/>
              </a:rPr>
              <a:t>) {</a:t>
            </a:r>
          </a:p>
          <a:p>
            <a:pPr>
              <a:defRPr/>
            </a:pPr>
            <a:r>
              <a:rPr lang="en-US" sz="1200" b="1" dirty="0">
                <a:latin typeface="Courier"/>
              </a:rPr>
              <a:t>    </a:t>
            </a:r>
            <a:r>
              <a:rPr lang="en-US" sz="1200" b="1" dirty="0" err="1">
                <a:latin typeface="Courier"/>
              </a:rPr>
              <a:t>ClockPane</a:t>
            </a:r>
            <a:r>
              <a:rPr lang="en-US" sz="1200" b="1" dirty="0">
                <a:latin typeface="Courier"/>
              </a:rPr>
              <a:t> clock = new </a:t>
            </a:r>
            <a:r>
              <a:rPr lang="en-US" sz="1200" b="1" dirty="0" err="1">
                <a:latin typeface="Courier"/>
              </a:rPr>
              <a:t>ClockPane</a:t>
            </a:r>
            <a:r>
              <a:rPr lang="en-US" sz="1200" b="1" dirty="0">
                <a:latin typeface="Courier"/>
              </a:rPr>
              <a:t>(); // Create a clock</a:t>
            </a:r>
          </a:p>
          <a:p>
            <a:pPr>
              <a:defRPr/>
            </a:pPr>
            <a:endParaRPr lang="en-US" sz="1200" b="1" dirty="0">
              <a:latin typeface="Courier"/>
            </a:endParaRPr>
          </a:p>
          <a:p>
            <a:pPr>
              <a:defRPr/>
            </a:pPr>
            <a:r>
              <a:rPr lang="en-US" sz="1200" b="1" dirty="0">
                <a:latin typeface="Courier"/>
              </a:rPr>
              <a:t>    // Create a handler for animation</a:t>
            </a:r>
          </a:p>
          <a:p>
            <a:pPr>
              <a:defRPr/>
            </a:pPr>
            <a:r>
              <a:rPr lang="en-US" sz="1200" b="1" dirty="0">
                <a:solidFill>
                  <a:srgbClr val="FF0000"/>
                </a:solidFill>
                <a:latin typeface="Courier"/>
              </a:rPr>
              <a:t>    </a:t>
            </a:r>
            <a:r>
              <a:rPr lang="en-US" sz="1200" b="1" dirty="0" err="1">
                <a:solidFill>
                  <a:srgbClr val="FF0000"/>
                </a:solidFill>
                <a:latin typeface="Courier"/>
              </a:rPr>
              <a:t>EventHandler</a:t>
            </a:r>
            <a:r>
              <a:rPr lang="en-US" sz="1200" b="1" dirty="0">
                <a:solidFill>
                  <a:srgbClr val="FF0000"/>
                </a:solidFill>
                <a:latin typeface="Courier"/>
              </a:rPr>
              <a:t>&lt;</a:t>
            </a:r>
            <a:r>
              <a:rPr lang="en-US" sz="1200" b="1" dirty="0" err="1">
                <a:solidFill>
                  <a:srgbClr val="FF0000"/>
                </a:solidFill>
                <a:latin typeface="Courier"/>
              </a:rPr>
              <a:t>ActionEvent</a:t>
            </a:r>
            <a:r>
              <a:rPr lang="en-US" sz="1200" b="1" dirty="0">
                <a:solidFill>
                  <a:srgbClr val="FF0000"/>
                </a:solidFill>
                <a:latin typeface="Courier"/>
              </a:rPr>
              <a:t>&gt; </a:t>
            </a:r>
            <a:r>
              <a:rPr lang="en-US" sz="1200" b="1" dirty="0" err="1">
                <a:solidFill>
                  <a:srgbClr val="FF0000"/>
                </a:solidFill>
                <a:latin typeface="Courier"/>
              </a:rPr>
              <a:t>eventHandler</a:t>
            </a:r>
            <a:r>
              <a:rPr lang="en-US" sz="1200" b="1" dirty="0">
                <a:solidFill>
                  <a:srgbClr val="FF0000"/>
                </a:solidFill>
                <a:latin typeface="Courier"/>
              </a:rPr>
              <a:t> = e -&gt; {</a:t>
            </a:r>
          </a:p>
          <a:p>
            <a:pPr>
              <a:defRPr/>
            </a:pPr>
            <a:r>
              <a:rPr lang="en-US" sz="1200" b="1" dirty="0">
                <a:solidFill>
                  <a:srgbClr val="FF0000"/>
                </a:solidFill>
                <a:latin typeface="Courier"/>
              </a:rPr>
              <a:t>      </a:t>
            </a:r>
            <a:r>
              <a:rPr lang="en-US" sz="1200" b="1" dirty="0" err="1">
                <a:solidFill>
                  <a:srgbClr val="FF0000"/>
                </a:solidFill>
                <a:latin typeface="Courier"/>
              </a:rPr>
              <a:t>clock.setCurrentTime</a:t>
            </a:r>
            <a:r>
              <a:rPr lang="en-US" sz="1200" b="1" dirty="0">
                <a:solidFill>
                  <a:srgbClr val="FF0000"/>
                </a:solidFill>
                <a:latin typeface="Courier"/>
              </a:rPr>
              <a:t>(); // Set a new clock time</a:t>
            </a:r>
          </a:p>
          <a:p>
            <a:pPr>
              <a:defRPr/>
            </a:pPr>
            <a:r>
              <a:rPr lang="en-US" sz="1200" b="1" dirty="0">
                <a:solidFill>
                  <a:srgbClr val="FF0000"/>
                </a:solidFill>
                <a:latin typeface="Courier"/>
              </a:rPr>
              <a:t>    };</a:t>
            </a:r>
          </a:p>
          <a:p>
            <a:pPr>
              <a:defRPr/>
            </a:pPr>
            <a:endParaRPr lang="en-US" sz="1200" b="1" dirty="0">
              <a:latin typeface="Courier"/>
            </a:endParaRPr>
          </a:p>
          <a:p>
            <a:pPr>
              <a:defRPr/>
            </a:pPr>
            <a:r>
              <a:rPr lang="en-US" sz="1200" b="1" dirty="0">
                <a:solidFill>
                  <a:srgbClr val="FF0000"/>
                </a:solidFill>
                <a:latin typeface="Courier"/>
              </a:rPr>
              <a:t>    // Create an animation for a running clock</a:t>
            </a:r>
          </a:p>
          <a:p>
            <a:pPr>
              <a:defRPr/>
            </a:pPr>
            <a:r>
              <a:rPr lang="en-US" sz="1200" b="1" dirty="0">
                <a:solidFill>
                  <a:srgbClr val="FF0000"/>
                </a:solidFill>
                <a:latin typeface="Courier"/>
              </a:rPr>
              <a:t>    Timeline animation = new Timeline(</a:t>
            </a:r>
          </a:p>
          <a:p>
            <a:pPr>
              <a:defRPr/>
            </a:pPr>
            <a:r>
              <a:rPr lang="en-US" sz="1200" b="1" dirty="0">
                <a:solidFill>
                  <a:srgbClr val="FF0000"/>
                </a:solidFill>
                <a:latin typeface="Courier"/>
              </a:rPr>
              <a:t>      new </a:t>
            </a:r>
            <a:r>
              <a:rPr lang="en-US" sz="1200" b="1" dirty="0" err="1">
                <a:solidFill>
                  <a:srgbClr val="FF0000"/>
                </a:solidFill>
                <a:latin typeface="Courier"/>
              </a:rPr>
              <a:t>KeyFrame</a:t>
            </a:r>
            <a:r>
              <a:rPr lang="en-US" sz="1200" b="1" dirty="0">
                <a:solidFill>
                  <a:srgbClr val="FF0000"/>
                </a:solidFill>
                <a:latin typeface="Courier"/>
              </a:rPr>
              <a:t>(</a:t>
            </a:r>
            <a:r>
              <a:rPr lang="en-US" sz="1200" b="1" dirty="0" err="1">
                <a:solidFill>
                  <a:srgbClr val="FF0000"/>
                </a:solidFill>
                <a:latin typeface="Courier"/>
              </a:rPr>
              <a:t>Duration.</a:t>
            </a:r>
            <a:r>
              <a:rPr lang="en-US" sz="1200" b="1" i="1" dirty="0" err="1">
                <a:solidFill>
                  <a:srgbClr val="FF0000"/>
                </a:solidFill>
                <a:latin typeface="Courier"/>
              </a:rPr>
              <a:t>millis</a:t>
            </a:r>
            <a:r>
              <a:rPr lang="en-US" sz="1200" b="1" i="1" dirty="0">
                <a:solidFill>
                  <a:srgbClr val="FF0000"/>
                </a:solidFill>
                <a:latin typeface="Courier"/>
              </a:rPr>
              <a:t>(1000), </a:t>
            </a:r>
            <a:r>
              <a:rPr lang="en-US" sz="1200" b="1" i="1" dirty="0" err="1">
                <a:solidFill>
                  <a:srgbClr val="FF0000"/>
                </a:solidFill>
                <a:latin typeface="Courier"/>
              </a:rPr>
              <a:t>eventHandler</a:t>
            </a:r>
            <a:r>
              <a:rPr lang="en-US" sz="1200" b="1" i="1" dirty="0">
                <a:solidFill>
                  <a:srgbClr val="FF0000"/>
                </a:solidFill>
                <a:latin typeface="Courier"/>
              </a:rPr>
              <a:t>));</a:t>
            </a:r>
          </a:p>
          <a:p>
            <a:pPr>
              <a:defRPr/>
            </a:pPr>
            <a:r>
              <a:rPr lang="en-US" sz="1200" b="1" dirty="0">
                <a:solidFill>
                  <a:srgbClr val="FF0000"/>
                </a:solidFill>
                <a:latin typeface="Courier"/>
              </a:rPr>
              <a:t>    </a:t>
            </a:r>
            <a:r>
              <a:rPr lang="en-US" sz="1200" b="1" dirty="0" err="1">
                <a:solidFill>
                  <a:srgbClr val="FF0000"/>
                </a:solidFill>
                <a:latin typeface="Courier"/>
              </a:rPr>
              <a:t>animation.setCycleCount</a:t>
            </a:r>
            <a:r>
              <a:rPr lang="en-US" sz="1200" b="1" dirty="0">
                <a:solidFill>
                  <a:srgbClr val="FF0000"/>
                </a:solidFill>
                <a:latin typeface="Courier"/>
              </a:rPr>
              <a:t>(</a:t>
            </a:r>
            <a:r>
              <a:rPr lang="en-US" sz="1200" b="1" dirty="0" err="1">
                <a:solidFill>
                  <a:srgbClr val="FF0000"/>
                </a:solidFill>
                <a:latin typeface="Courier"/>
              </a:rPr>
              <a:t>Timeline.</a:t>
            </a:r>
            <a:r>
              <a:rPr lang="en-US" sz="1200" b="1" i="1" dirty="0" err="1">
                <a:solidFill>
                  <a:srgbClr val="FF0000"/>
                </a:solidFill>
                <a:latin typeface="Courier"/>
              </a:rPr>
              <a:t>INDEFINITE</a:t>
            </a:r>
            <a:r>
              <a:rPr lang="en-US" sz="1200" b="1" i="1" dirty="0">
                <a:solidFill>
                  <a:srgbClr val="FF0000"/>
                </a:solidFill>
                <a:latin typeface="Courier"/>
              </a:rPr>
              <a:t>);</a:t>
            </a:r>
          </a:p>
          <a:p>
            <a:pPr>
              <a:defRPr/>
            </a:pPr>
            <a:r>
              <a:rPr lang="en-US" sz="1200" b="1" dirty="0">
                <a:solidFill>
                  <a:srgbClr val="FF0000"/>
                </a:solidFill>
                <a:latin typeface="Courier"/>
              </a:rPr>
              <a:t>    </a:t>
            </a:r>
            <a:r>
              <a:rPr lang="en-US" sz="1200" b="1" dirty="0" err="1">
                <a:solidFill>
                  <a:srgbClr val="FF0000"/>
                </a:solidFill>
                <a:latin typeface="Courier"/>
              </a:rPr>
              <a:t>animation.play</a:t>
            </a:r>
            <a:r>
              <a:rPr lang="en-US" sz="1200" b="1" dirty="0">
                <a:solidFill>
                  <a:srgbClr val="FF0000"/>
                </a:solidFill>
                <a:latin typeface="Courier"/>
              </a:rPr>
              <a:t>(); // Start animation</a:t>
            </a:r>
          </a:p>
          <a:p>
            <a:pPr>
              <a:defRPr/>
            </a:pPr>
            <a:endParaRPr lang="en-US" sz="1200" b="1" dirty="0">
              <a:latin typeface="Courier"/>
            </a:endParaRPr>
          </a:p>
          <a:p>
            <a:pPr>
              <a:defRPr/>
            </a:pPr>
            <a:r>
              <a:rPr lang="en-US" sz="1200" b="1" dirty="0">
                <a:latin typeface="Courier"/>
              </a:rPr>
              <a:t>    // Create a scene and place it in the stage</a:t>
            </a:r>
          </a:p>
          <a:p>
            <a:pPr>
              <a:defRPr/>
            </a:pPr>
            <a:r>
              <a:rPr lang="nn-NO" sz="1200" b="1" dirty="0">
                <a:latin typeface="Courier"/>
              </a:rPr>
              <a:t>    Scene scene = new Scene(clock, 250, 250);</a:t>
            </a:r>
          </a:p>
          <a:p>
            <a:pPr>
              <a:defRPr/>
            </a:pPr>
            <a:r>
              <a:rPr lang="en-US" sz="1200" b="1" dirty="0">
                <a:latin typeface="Courier"/>
              </a:rPr>
              <a:t>    </a:t>
            </a:r>
            <a:r>
              <a:rPr lang="en-US" sz="1200" b="1" dirty="0" err="1">
                <a:highlight>
                  <a:srgbClr val="D4D4D4"/>
                </a:highlight>
                <a:latin typeface="Courier"/>
              </a:rPr>
              <a:t>primaryStage.setTitle</a:t>
            </a:r>
            <a:r>
              <a:rPr lang="en-US" sz="1200" b="1" dirty="0">
                <a:highlight>
                  <a:srgbClr val="D4D4D4"/>
                </a:highlight>
                <a:latin typeface="Courier"/>
              </a:rPr>
              <a:t>("</a:t>
            </a:r>
            <a:r>
              <a:rPr lang="en-US" sz="1200" b="1" dirty="0" err="1">
                <a:highlight>
                  <a:srgbClr val="D4D4D4"/>
                </a:highlight>
                <a:latin typeface="Courier"/>
              </a:rPr>
              <a:t>ClockAnimation</a:t>
            </a:r>
            <a:r>
              <a:rPr lang="en-US" sz="1200" b="1" dirty="0">
                <a:highlight>
                  <a:srgbClr val="D4D4D4"/>
                </a:highlight>
                <a:latin typeface="Courier"/>
              </a:rPr>
              <a:t>"); // Set the stage title</a:t>
            </a:r>
          </a:p>
          <a:p>
            <a:pPr>
              <a:defRPr/>
            </a:pPr>
            <a:r>
              <a:rPr lang="en-US" sz="1200" b="1" dirty="0">
                <a:latin typeface="Courier"/>
              </a:rPr>
              <a:t>    </a:t>
            </a:r>
            <a:r>
              <a:rPr lang="en-US" sz="1200" b="1" dirty="0" err="1">
                <a:highlight>
                  <a:srgbClr val="D4D4D4"/>
                </a:highlight>
                <a:latin typeface="Courier"/>
              </a:rPr>
              <a:t>primaryStage.setScene</a:t>
            </a:r>
            <a:r>
              <a:rPr lang="en-US" sz="1200" b="1" dirty="0">
                <a:highlight>
                  <a:srgbClr val="D4D4D4"/>
                </a:highlight>
                <a:latin typeface="Courier"/>
              </a:rPr>
              <a:t>(scene); // Place the scene in the stage</a:t>
            </a:r>
          </a:p>
          <a:p>
            <a:pPr>
              <a:defRPr/>
            </a:pPr>
            <a:r>
              <a:rPr lang="en-US" sz="1200" b="1" dirty="0">
                <a:latin typeface="Courier"/>
              </a:rPr>
              <a:t>    </a:t>
            </a:r>
            <a:r>
              <a:rPr lang="en-US" sz="1200" b="1" dirty="0" err="1">
                <a:highlight>
                  <a:srgbClr val="D4D4D4"/>
                </a:highlight>
                <a:latin typeface="Courier"/>
              </a:rPr>
              <a:t>primaryStage.show</a:t>
            </a:r>
            <a:r>
              <a:rPr lang="en-US" sz="1200" b="1" dirty="0">
                <a:highlight>
                  <a:srgbClr val="D4D4D4"/>
                </a:highlight>
                <a:latin typeface="Courier"/>
              </a:rPr>
              <a:t>(); // Display the stage</a:t>
            </a:r>
          </a:p>
          <a:p>
            <a:pPr>
              <a:defRPr/>
            </a:pPr>
            <a:r>
              <a:rPr lang="en-US" sz="1200" b="1" dirty="0">
                <a:latin typeface="Courier"/>
              </a:rPr>
              <a:t>  }</a:t>
            </a:r>
          </a:p>
          <a:p>
            <a:pPr>
              <a:defRPr/>
            </a:pPr>
            <a:endParaRPr lang="en-US" sz="1200" b="1" dirty="0">
              <a:latin typeface="Courier"/>
            </a:endParaRPr>
          </a:p>
          <a:p>
            <a:pPr>
              <a:defRPr/>
            </a:pPr>
            <a:r>
              <a:rPr lang="en-US" sz="1200" b="1" dirty="0">
                <a:latin typeface="Courier"/>
              </a:rPr>
              <a:t> public static void main(String[] </a:t>
            </a:r>
            <a:r>
              <a:rPr lang="en-US" sz="1200" b="1" dirty="0" err="1">
                <a:latin typeface="Courier"/>
              </a:rPr>
              <a:t>args</a:t>
            </a:r>
            <a:r>
              <a:rPr lang="en-US" sz="1200" b="1" dirty="0">
                <a:latin typeface="Courier"/>
              </a:rPr>
              <a:t>) {</a:t>
            </a:r>
          </a:p>
          <a:p>
            <a:pPr>
              <a:defRPr/>
            </a:pPr>
            <a:r>
              <a:rPr lang="en-US" sz="1200" b="1" dirty="0">
                <a:latin typeface="Courier"/>
              </a:rPr>
              <a:t>    </a:t>
            </a:r>
            <a:r>
              <a:rPr lang="en-US" sz="1200" b="1" i="1" dirty="0">
                <a:latin typeface="Courier"/>
              </a:rPr>
              <a:t>launch(</a:t>
            </a:r>
            <a:r>
              <a:rPr lang="en-US" sz="1200" b="1" i="1" dirty="0" err="1">
                <a:latin typeface="Courier"/>
              </a:rPr>
              <a:t>args</a:t>
            </a:r>
            <a:r>
              <a:rPr lang="en-US" sz="1200" b="1" i="1" dirty="0">
                <a:latin typeface="Courier"/>
              </a:rPr>
              <a:t>);</a:t>
            </a:r>
          </a:p>
          <a:p>
            <a:pPr>
              <a:defRPr/>
            </a:pPr>
            <a:r>
              <a:rPr lang="en-US" sz="1200" b="1" dirty="0">
                <a:latin typeface="Courier"/>
              </a:rPr>
              <a:t>  }</a:t>
            </a:r>
          </a:p>
          <a:p>
            <a:pPr>
              <a:defRPr/>
            </a:pPr>
            <a:r>
              <a:rPr lang="en-US" sz="1200" b="1" dirty="0">
                <a:latin typeface="Courier"/>
              </a:rPr>
              <a:t>}</a:t>
            </a:r>
            <a:endParaRPr lang="en-US" sz="3600" b="1" dirty="0">
              <a:latin typeface="Courier"/>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How do you set the cycle count of an animation to infinite? How do you auto reverse an animation? How do you start, pause, and stop an animation?</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tr-TR" sz="1600" dirty="0" err="1">
                <a:solidFill>
                  <a:srgbClr val="0070C0"/>
                </a:solidFill>
                <a:latin typeface="Consolas" panose="020B0609020204030204" pitchFamily="49" charset="0"/>
                <a:cs typeface="Calibri" panose="020F0502020204030204" pitchFamily="34" charset="0"/>
              </a:rPr>
              <a:t>animation.setCycleCount</a:t>
            </a:r>
            <a:r>
              <a:rPr lang="tr-TR" sz="1600" dirty="0">
                <a:solidFill>
                  <a:srgbClr val="0070C0"/>
                </a:solidFill>
                <a:latin typeface="Consolas" panose="020B0609020204030204" pitchFamily="49" charset="0"/>
                <a:cs typeface="Calibri" panose="020F0502020204030204" pitchFamily="34" charset="0"/>
              </a:rPr>
              <a:t>(</a:t>
            </a:r>
            <a:r>
              <a:rPr lang="tr-TR" sz="1600" dirty="0" err="1">
                <a:solidFill>
                  <a:srgbClr val="0070C0"/>
                </a:solidFill>
                <a:latin typeface="Consolas" panose="020B0609020204030204" pitchFamily="49" charset="0"/>
                <a:cs typeface="Calibri" panose="020F0502020204030204" pitchFamily="34" charset="0"/>
              </a:rPr>
              <a:t>Timeline.INFINITY</a:t>
            </a:r>
            <a:r>
              <a:rPr lang="tr-TR" sz="1600" dirty="0">
                <a:solidFill>
                  <a:srgbClr val="0070C0"/>
                </a:solidFill>
                <a:latin typeface="Consolas" panose="020B0609020204030204" pitchFamily="49" charset="0"/>
                <a:cs typeface="Calibri" panose="020F0502020204030204" pitchFamily="34" charset="0"/>
              </a:rPr>
              <a:t>);</a:t>
            </a:r>
          </a:p>
          <a:p>
            <a:r>
              <a:rPr lang="tr-TR" sz="1600" dirty="0" err="1">
                <a:solidFill>
                  <a:srgbClr val="0070C0"/>
                </a:solidFill>
                <a:latin typeface="Consolas" panose="020B0609020204030204" pitchFamily="49" charset="0"/>
                <a:cs typeface="Calibri" panose="020F0502020204030204" pitchFamily="34" charset="0"/>
              </a:rPr>
              <a:t>animation.setAutoReverse</a:t>
            </a:r>
            <a:r>
              <a:rPr lang="tr-TR" sz="1600" dirty="0">
                <a:solidFill>
                  <a:srgbClr val="0070C0"/>
                </a:solidFill>
                <a:latin typeface="Consolas" panose="020B0609020204030204" pitchFamily="49" charset="0"/>
                <a:cs typeface="Calibri" panose="020F0502020204030204" pitchFamily="34" charset="0"/>
              </a:rPr>
              <a:t>(</a:t>
            </a:r>
            <a:r>
              <a:rPr lang="tr-TR" sz="1600" dirty="0" err="1">
                <a:solidFill>
                  <a:srgbClr val="0070C0"/>
                </a:solidFill>
                <a:latin typeface="Consolas" panose="020B0609020204030204" pitchFamily="49" charset="0"/>
                <a:cs typeface="Calibri" panose="020F0502020204030204" pitchFamily="34" charset="0"/>
              </a:rPr>
              <a:t>true</a:t>
            </a:r>
            <a:r>
              <a:rPr lang="tr-TR" sz="1600" dirty="0">
                <a:solidFill>
                  <a:srgbClr val="0070C0"/>
                </a:solidFill>
                <a:latin typeface="Consolas" panose="020B0609020204030204" pitchFamily="49" charset="0"/>
                <a:cs typeface="Calibri" panose="020F0502020204030204" pitchFamily="34" charset="0"/>
              </a:rPr>
              <a:t>);</a:t>
            </a:r>
          </a:p>
          <a:p>
            <a:r>
              <a:rPr lang="tr-TR" sz="1600" dirty="0" err="1">
                <a:solidFill>
                  <a:srgbClr val="0070C0"/>
                </a:solidFill>
                <a:latin typeface="Consolas" panose="020B0609020204030204" pitchFamily="49" charset="0"/>
                <a:cs typeface="Calibri" panose="020F0502020204030204" pitchFamily="34" charset="0"/>
              </a:rPr>
              <a:t>animation.start</a:t>
            </a:r>
            <a:r>
              <a:rPr lang="tr-TR" sz="1600" dirty="0">
                <a:solidFill>
                  <a:srgbClr val="0070C0"/>
                </a:solidFill>
                <a:latin typeface="Consolas" panose="020B0609020204030204" pitchFamily="49" charset="0"/>
                <a:cs typeface="Calibri" panose="020F0502020204030204" pitchFamily="34" charset="0"/>
              </a:rPr>
              <a:t>();</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tr-TR" sz="1600" dirty="0" err="1" smtClean="0">
                <a:solidFill>
                  <a:srgbClr val="0070C0"/>
                </a:solidFill>
                <a:latin typeface="Consolas" panose="020B0609020204030204" pitchFamily="49" charset="0"/>
                <a:cs typeface="Calibri" panose="020F0502020204030204" pitchFamily="34" charset="0"/>
              </a:rPr>
              <a:t>animation.pause</a:t>
            </a:r>
            <a:r>
              <a:rPr lang="tr-TR" sz="1600" dirty="0">
                <a:solidFill>
                  <a:srgbClr val="0070C0"/>
                </a:solidFill>
                <a:latin typeface="Consolas" panose="020B0609020204030204" pitchFamily="49" charset="0"/>
                <a:cs typeface="Calibri" panose="020F0502020204030204" pitchFamily="34" charset="0"/>
              </a:rPr>
              <a:t>();</a:t>
            </a:r>
          </a:p>
          <a:p>
            <a:pPr marL="0" indent="0">
              <a:buNone/>
            </a:pPr>
            <a:r>
              <a:rPr lang="tr-TR" sz="1600" dirty="0" smtClean="0">
                <a:solidFill>
                  <a:srgbClr val="0070C0"/>
                </a:solidFill>
                <a:latin typeface="Consolas" panose="020B0609020204030204" pitchFamily="49" charset="0"/>
                <a:cs typeface="Calibri" panose="020F0502020204030204" pitchFamily="34" charset="0"/>
              </a:rPr>
              <a:t>   </a:t>
            </a:r>
            <a:r>
              <a:rPr lang="tr-TR" sz="1600" dirty="0" err="1" smtClean="0">
                <a:solidFill>
                  <a:srgbClr val="0070C0"/>
                </a:solidFill>
                <a:latin typeface="Consolas" panose="020B0609020204030204" pitchFamily="49" charset="0"/>
                <a:cs typeface="Calibri" panose="020F0502020204030204" pitchFamily="34" charset="0"/>
              </a:rPr>
              <a:t>animation.stop</a:t>
            </a:r>
            <a:r>
              <a:rPr lang="tr-TR" sz="1600" dirty="0">
                <a:solidFill>
                  <a:srgbClr val="0070C0"/>
                </a:solidFill>
                <a:latin typeface="Consolas" panose="020B0609020204030204" pitchFamily="49" charset="0"/>
                <a:cs typeface="Calibri" panose="020F0502020204030204" pitchFamily="34" charset="0"/>
              </a:rPr>
              <a:t>();</a:t>
            </a:r>
            <a:endParaRPr lang="tr-TR" sz="1600" dirty="0" smtClean="0">
              <a:solidFill>
                <a:srgbClr val="0070C0"/>
              </a:solidFill>
              <a:latin typeface="Consolas" panose="020B0609020204030204" pitchFamily="49"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64</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720561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C00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r>
              <a:rPr lang="tr-TR" dirty="0" smtClean="0">
                <a:sym typeface="Wingdings" panose="05000000000000000000" pitchFamily="2" charset="2"/>
              </a:rPr>
              <a:t></a:t>
            </a:r>
            <a:r>
              <a:rPr lang="tr-TR" dirty="0" smtClean="0"/>
              <a:t>  </a:t>
            </a:r>
            <a:r>
              <a:rPr lang="tr-TR" b="1" dirty="0" err="1" smtClean="0">
                <a:latin typeface="Bell MT" panose="02020503060305020303" pitchFamily="18" charset="0"/>
              </a:rPr>
              <a:t>Check</a:t>
            </a:r>
            <a:r>
              <a:rPr lang="tr-TR" b="1" dirty="0" smtClean="0">
                <a:latin typeface="Bell MT" panose="02020503060305020303" pitchFamily="18" charset="0"/>
              </a:rPr>
              <a:t> Point</a:t>
            </a:r>
            <a:endParaRPr lang="en-US" b="1" dirty="0">
              <a:latin typeface="Bell MT" panose="02020503060305020303" pitchFamily="18" charset="0"/>
            </a:endParaRPr>
          </a:p>
        </p:txBody>
      </p:sp>
      <p:sp>
        <p:nvSpPr>
          <p:cNvPr id="3" name="Content Placeholder 2"/>
          <p:cNvSpPr>
            <a:spLocks noGrp="1"/>
          </p:cNvSpPr>
          <p:nvPr>
            <p:ph idx="1"/>
          </p:nvPr>
        </p:nvSpPr>
        <p:spPr>
          <a:xfrm>
            <a:off x="685800" y="1657349"/>
            <a:ext cx="7772400" cy="4741863"/>
          </a:xfrm>
        </p:spPr>
        <p:txBody>
          <a:bodyPr>
            <a:normAutofit/>
          </a:bodyPr>
          <a:lstStyle/>
          <a:p>
            <a:r>
              <a:rPr lang="en-US" sz="2000" dirty="0">
                <a:latin typeface="Calibri" panose="020F0502020204030204" pitchFamily="34" charset="0"/>
                <a:cs typeface="Calibri" panose="020F0502020204030204" pitchFamily="34" charset="0"/>
              </a:rPr>
              <a:t>How do you create a </a:t>
            </a:r>
            <a:r>
              <a:rPr lang="en-US" sz="2000" dirty="0" err="1">
                <a:latin typeface="Calibri" panose="020F0502020204030204" pitchFamily="34" charset="0"/>
                <a:cs typeface="Calibri" panose="020F0502020204030204" pitchFamily="34" charset="0"/>
              </a:rPr>
              <a:t>KeyFrame</a:t>
            </a:r>
            <a:r>
              <a:rPr lang="en-US" sz="2000" dirty="0">
                <a:latin typeface="Calibri" panose="020F0502020204030204" pitchFamily="34" charset="0"/>
                <a:cs typeface="Calibri" panose="020F0502020204030204" pitchFamily="34" charset="0"/>
              </a:rPr>
              <a:t>?</a:t>
            </a:r>
            <a:endParaRPr lang="tr-TR" sz="2000" dirty="0" smtClean="0">
              <a:latin typeface="Calibri" panose="020F0502020204030204" pitchFamily="34" charset="0"/>
              <a:cs typeface="Calibri" panose="020F0502020204030204" pitchFamily="34" charset="0"/>
            </a:endParaRPr>
          </a:p>
          <a:p>
            <a:pPr marL="0" indent="0">
              <a:buNone/>
            </a:pPr>
            <a:r>
              <a:rPr lang="tr-TR" sz="2000" b="1" dirty="0" smtClean="0">
                <a:solidFill>
                  <a:srgbClr val="92D050"/>
                </a:solidFill>
                <a:latin typeface="Calibri" panose="020F0502020204030204" pitchFamily="34" charset="0"/>
                <a:cs typeface="Calibri" panose="020F0502020204030204" pitchFamily="34" charset="0"/>
              </a:rPr>
              <a:t>      &lt;--- ANSWER ---&gt;</a:t>
            </a:r>
            <a:endParaRPr lang="tr-TR" sz="2000" b="1" dirty="0">
              <a:solidFill>
                <a:srgbClr val="92D050"/>
              </a:solidFill>
              <a:latin typeface="Calibri" panose="020F0502020204030204" pitchFamily="34" charset="0"/>
              <a:cs typeface="Calibri" panose="020F0502020204030204" pitchFamily="34" charset="0"/>
            </a:endParaRPr>
          </a:p>
          <a:p>
            <a:r>
              <a:rPr lang="en-US" sz="2000" dirty="0">
                <a:solidFill>
                  <a:srgbClr val="0070C0"/>
                </a:solidFill>
                <a:latin typeface="Calibri" panose="020F0502020204030204" pitchFamily="34" charset="0"/>
                <a:cs typeface="Calibri" panose="020F0502020204030204" pitchFamily="34" charset="0"/>
              </a:rPr>
              <a:t>To create a </a:t>
            </a:r>
            <a:r>
              <a:rPr lang="en-US" sz="2000" dirty="0" err="1">
                <a:solidFill>
                  <a:srgbClr val="0070C0"/>
                </a:solidFill>
                <a:latin typeface="Calibri" panose="020F0502020204030204" pitchFamily="34" charset="0"/>
                <a:cs typeface="Calibri" panose="020F0502020204030204" pitchFamily="34" charset="0"/>
              </a:rPr>
              <a:t>KeyFrame</a:t>
            </a:r>
            <a:r>
              <a:rPr lang="en-US" sz="2000" dirty="0">
                <a:solidFill>
                  <a:srgbClr val="0070C0"/>
                </a:solidFill>
                <a:latin typeface="Calibri" panose="020F0502020204030204" pitchFamily="34" charset="0"/>
                <a:cs typeface="Calibri" panose="020F0502020204030204" pitchFamily="34" charset="0"/>
              </a:rPr>
              <a:t>, use new </a:t>
            </a:r>
            <a:r>
              <a:rPr lang="en-US" sz="2000" dirty="0" err="1">
                <a:solidFill>
                  <a:srgbClr val="0070C0"/>
                </a:solidFill>
                <a:latin typeface="Calibri" panose="020F0502020204030204" pitchFamily="34" charset="0"/>
                <a:cs typeface="Calibri" panose="020F0502020204030204" pitchFamily="34" charset="0"/>
              </a:rPr>
              <a:t>KeyFrame</a:t>
            </a:r>
            <a:r>
              <a:rPr lang="en-US" sz="2000" dirty="0">
                <a:solidFill>
                  <a:srgbClr val="0070C0"/>
                </a:solidFill>
                <a:latin typeface="Calibri" panose="020F0502020204030204" pitchFamily="34" charset="0"/>
                <a:cs typeface="Calibri" panose="020F0502020204030204" pitchFamily="34" charset="0"/>
              </a:rPr>
              <a:t>(Duration, handler).</a:t>
            </a:r>
            <a:endParaRPr lang="tr-TR" sz="2000" dirty="0" smtClean="0">
              <a:solidFill>
                <a:srgbClr val="0070C0"/>
              </a:solidFill>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1"/>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2B4AF139-9E8A-44AE-81CA-17BD068C2507}" type="slidenum">
              <a:rPr kumimoji="0" lang="en-US" altLang="en-US" sz="14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65</a:t>
            </a:fld>
            <a:endPar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n-ea"/>
              <a:cs typeface="+mn-cs"/>
            </a:endParaRPr>
          </a:p>
        </p:txBody>
      </p:sp>
    </p:spTree>
    <p:extLst>
      <p:ext uri="{BB962C8B-B14F-4D97-AF65-F5344CB8AC3E}">
        <p14:creationId xmlns:p14="http://schemas.microsoft.com/office/powerpoint/2010/main" val="1893054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36800"/>
            <a:ext cx="6226175" cy="4159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
        <p:nvSpPr>
          <p:cNvPr id="69635" name="Slide Number Placeholder 4"/>
          <p:cNvSpPr>
            <a:spLocks noGrp="1"/>
          </p:cNvSpPr>
          <p:nvPr>
            <p:ph type="sldNum" sz="quarter" idx="11"/>
          </p:nvPr>
        </p:nvSpPr>
        <p:spPr>
          <a:noFill/>
        </p:spPr>
        <p:txBody>
          <a:bodyP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89DA908-8CEB-45E5-BFD8-4673561DF247}" type="slidenum">
              <a:rPr lang="en-US" altLang="en-US" sz="1400" smtClean="0"/>
              <a:pPr>
                <a:spcBef>
                  <a:spcPct val="0"/>
                </a:spcBef>
                <a:buClrTx/>
                <a:buSzTx/>
                <a:buFontTx/>
                <a:buNone/>
              </a:pPr>
              <a:t>66</a:t>
            </a:fld>
            <a:endParaRPr lang="en-US" altLang="en-US" sz="1400" smtClean="0"/>
          </a:p>
        </p:txBody>
      </p:sp>
      <p:sp>
        <p:nvSpPr>
          <p:cNvPr id="69636" name="Rectangle 2"/>
          <p:cNvSpPr>
            <a:spLocks noGrp="1" noChangeArrowheads="1"/>
          </p:cNvSpPr>
          <p:nvPr>
            <p:ph type="title"/>
          </p:nvPr>
        </p:nvSpPr>
        <p:spPr>
          <a:xfrm>
            <a:off x="685800" y="0"/>
            <a:ext cx="7772400" cy="762000"/>
          </a:xfrm>
          <a:noFill/>
        </p:spPr>
        <p:txBody>
          <a:bodyPr/>
          <a:lstStyle/>
          <a:p>
            <a:r>
              <a:rPr lang="en-US" altLang="en-US" b="1" smtClean="0"/>
              <a:t>Case Study: Bouncing Ball</a:t>
            </a:r>
            <a:endParaRPr lang="en-US" altLang="en-US" smtClean="0"/>
          </a:p>
        </p:txBody>
      </p:sp>
      <p:sp>
        <p:nvSpPr>
          <p:cNvPr id="3" name="Rectangle 9">
            <a:extLst>
              <a:ext uri="{FF2B5EF4-FFF2-40B4-BE49-F238E27FC236}">
                <a16:creationId xmlns:a16="http://schemas.microsoft.com/office/drawing/2014/main" id="{B9AA3B44-F6B3-40C9-B403-3ECFA9AEF413}"/>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2" name="Rectangle 2">
            <a:extLst>
              <a:ext uri="{FF2B5EF4-FFF2-40B4-BE49-F238E27FC236}">
                <a16:creationId xmlns:a16="http://schemas.microsoft.com/office/drawing/2014/main" id="{04FF89A0-A35D-43B8-980E-037D68096FF9}"/>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pic>
        <p:nvPicPr>
          <p:cNvPr id="696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914400"/>
            <a:ext cx="238283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3525" y="914400"/>
            <a:ext cx="23812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4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0" y="914400"/>
            <a:ext cx="2382838"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7">
            <a:extLst>
              <a:ext uri="{FF2B5EF4-FFF2-40B4-BE49-F238E27FC236}">
                <a16:creationId xmlns:a16="http://schemas.microsoft.com/office/drawing/2014/main" id="{0960655E-71D9-434D-B469-B8869328950A}"/>
              </a:ext>
            </a:extLst>
          </p:cNvPr>
          <p:cNvSpPr>
            <a:spLocks noChangeArrowheads="1"/>
          </p:cNvSpPr>
          <p:nvPr/>
        </p:nvSpPr>
        <p:spPr bwMode="auto">
          <a:xfrm>
            <a:off x="0" y="0"/>
            <a:ext cx="9144000" cy="0"/>
          </a:xfrm>
          <a:prstGeom prst="rect">
            <a:avLst/>
          </a:prstGeom>
          <a:noFill/>
          <a:ln>
            <a:noFill/>
          </a:ln>
          <a:effectLst>
            <a:prstShdw prst="shdw17" dist="17961" dir="2700000">
              <a:schemeClr val="accent1">
                <a:gamma/>
                <a:shade val="60000"/>
                <a:invGamma/>
              </a:schemeClr>
            </a:prst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solidFill>
                  <a:schemeClr val="tx1"/>
                </a:solidFill>
                <a:prstDash val="solid"/>
                <a:miter lim="800000"/>
                <a:headEnd type="none" w="sm" len="sm"/>
                <a:tailEnd type="none" w="sm" len="sm"/>
              </a14:hiddenLine>
            </a:ext>
          </a:extLst>
        </p:spPr>
        <p:txBody>
          <a:bodyPr wrap="none" anchor="ct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sp>
        <p:nvSpPr>
          <p:cNvPr id="69643" name="AutoShape 8">
            <a:hlinkClick r:id="rId6" highlightClick="1"/>
          </p:cNvPr>
          <p:cNvSpPr>
            <a:spLocks noChangeArrowheads="1"/>
          </p:cNvSpPr>
          <p:nvPr/>
        </p:nvSpPr>
        <p:spPr bwMode="auto">
          <a:xfrm>
            <a:off x="6775450" y="4191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2" name="AutoShape 7">
            <a:hlinkClick r:id="" action="ppaction://noaction" highlightClick="1"/>
            <a:extLst>
              <a:ext uri="{FF2B5EF4-FFF2-40B4-BE49-F238E27FC236}">
                <a16:creationId xmlns:a16="http://schemas.microsoft.com/office/drawing/2014/main" id="{9B587E79-A099-4CF6-87F9-6F0EBEB4898C}"/>
              </a:ext>
            </a:extLst>
          </p:cNvPr>
          <p:cNvSpPr>
            <a:spLocks noChangeArrowheads="1"/>
          </p:cNvSpPr>
          <p:nvPr/>
        </p:nvSpPr>
        <p:spPr bwMode="auto">
          <a:xfrm>
            <a:off x="7388225" y="4191000"/>
            <a:ext cx="1676400"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7" action="ppaction://program"/>
              </a:rPr>
              <a:t>BallPane</a:t>
            </a:r>
            <a:endParaRPr lang="en-US" altLang="en-US">
              <a:solidFill>
                <a:schemeClr val="accent1"/>
              </a:solidFill>
            </a:endParaRPr>
          </a:p>
        </p:txBody>
      </p:sp>
      <p:sp>
        <p:nvSpPr>
          <p:cNvPr id="69645" name="AutoShape 4">
            <a:hlinkClick r:id="rId8" action="ppaction://program" highlightClick="1"/>
          </p:cNvPr>
          <p:cNvSpPr>
            <a:spLocks noChangeArrowheads="1"/>
          </p:cNvSpPr>
          <p:nvPr/>
        </p:nvSpPr>
        <p:spPr bwMode="auto">
          <a:xfrm>
            <a:off x="6991350" y="5783263"/>
            <a:ext cx="1676400" cy="6096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69646" name="AutoShape 8">
            <a:hlinkClick r:id="rId9" highlightClick="1"/>
          </p:cNvPr>
          <p:cNvSpPr>
            <a:spLocks noChangeArrowheads="1"/>
          </p:cNvSpPr>
          <p:nvPr/>
        </p:nvSpPr>
        <p:spPr bwMode="auto">
          <a:xfrm>
            <a:off x="5807075" y="492125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pitchFamily="2" charset="2"/>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pitchFamily="2" charset="2"/>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18" name="AutoShape 7">
            <a:hlinkClick r:id="" action="ppaction://noaction" highlightClick="1"/>
            <a:extLst>
              <a:ext uri="{FF2B5EF4-FFF2-40B4-BE49-F238E27FC236}">
                <a16:creationId xmlns:a16="http://schemas.microsoft.com/office/drawing/2014/main" id="{7B1BA473-8F97-44CC-AE3E-6B483A754C02}"/>
              </a:ext>
            </a:extLst>
          </p:cNvPr>
          <p:cNvSpPr>
            <a:spLocks noChangeArrowheads="1"/>
          </p:cNvSpPr>
          <p:nvPr/>
        </p:nvSpPr>
        <p:spPr bwMode="auto">
          <a:xfrm>
            <a:off x="6372225" y="4953000"/>
            <a:ext cx="2727325" cy="6096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defRPr/>
            </a:pPr>
            <a:r>
              <a:rPr lang="en-US" altLang="en-US">
                <a:solidFill>
                  <a:schemeClr val="accent1"/>
                </a:solidFill>
                <a:latin typeface="Book Antiqua" pitchFamily="18" charset="0"/>
                <a:hlinkClick r:id="rId10" action="ppaction://program"/>
              </a:rPr>
              <a:t>BounceBallControl</a:t>
            </a:r>
            <a:endParaRPr lang="en-US" altLang="en-US">
              <a:solidFill>
                <a:schemeClr val="accent1"/>
              </a:solidFill>
            </a:endParaRP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25525</TotalTime>
  <Words>4916</Words>
  <Application>Microsoft Office PowerPoint</Application>
  <PresentationFormat>On-screen Show (4:3)</PresentationFormat>
  <Paragraphs>545</Paragraphs>
  <Slides>66</Slides>
  <Notes>20</Notes>
  <HiddenSlides>0</HiddenSlides>
  <MMClips>0</MMClips>
  <ScaleCrop>false</ScaleCrop>
  <HeadingPairs>
    <vt:vector size="8" baseType="variant">
      <vt:variant>
        <vt:lpstr>Fonts Used</vt:lpstr>
      </vt:variant>
      <vt:variant>
        <vt:i4>18</vt:i4>
      </vt:variant>
      <vt:variant>
        <vt:lpstr>Theme</vt:lpstr>
      </vt:variant>
      <vt:variant>
        <vt:i4>2</vt:i4>
      </vt:variant>
      <vt:variant>
        <vt:lpstr>Embedded OLE Servers</vt:lpstr>
      </vt:variant>
      <vt:variant>
        <vt:i4>1</vt:i4>
      </vt:variant>
      <vt:variant>
        <vt:lpstr>Slide Titles</vt:lpstr>
      </vt:variant>
      <vt:variant>
        <vt:i4>66</vt:i4>
      </vt:variant>
    </vt:vector>
  </HeadingPairs>
  <TitlesOfParts>
    <vt:vector size="87" baseType="lpstr">
      <vt:lpstr>Arial</vt:lpstr>
      <vt:lpstr>Bell MT</vt:lpstr>
      <vt:lpstr>Book Antiqua</vt:lpstr>
      <vt:lpstr>Calibri</vt:lpstr>
      <vt:lpstr>Consolas</vt:lpstr>
      <vt:lpstr>Courier</vt:lpstr>
      <vt:lpstr>Courier New</vt:lpstr>
      <vt:lpstr>CourierNewPSMT</vt:lpstr>
      <vt:lpstr>Forte</vt:lpstr>
      <vt:lpstr>Franklin Gothic Book</vt:lpstr>
      <vt:lpstr>LucidaSansTypewriterStd-Bd</vt:lpstr>
      <vt:lpstr>Monotype Sorts</vt:lpstr>
      <vt:lpstr>Perpetua</vt:lpstr>
      <vt:lpstr>Times New Roman</vt:lpstr>
      <vt:lpstr>TimesLTStd-Roman</vt:lpstr>
      <vt:lpstr>TimesNewRomanPS-BoldMT</vt:lpstr>
      <vt:lpstr>TimesNewRomanPSMT</vt:lpstr>
      <vt:lpstr>Wingdings</vt:lpstr>
      <vt:lpstr>International</vt:lpstr>
      <vt:lpstr>1_International</vt:lpstr>
      <vt:lpstr>Picture</vt:lpstr>
      <vt:lpstr>Chapter 15 Event-Driven Programming and Animations</vt:lpstr>
      <vt:lpstr>Procedural vs. Event-Driven Programming</vt:lpstr>
      <vt:lpstr>Taste of Event-Driven Programming</vt:lpstr>
      <vt:lpstr>PowerPoint Presentation</vt:lpstr>
      <vt:lpstr>Handling GUI Events</vt:lpstr>
      <vt:lpstr>Handling GUI Events </vt:lpstr>
      <vt:lpstr>Trace Execution</vt:lpstr>
      <vt:lpstr>Trace Execution</vt:lpstr>
      <vt:lpstr>Trace Execution</vt:lpstr>
      <vt:lpstr>How can we use it?</vt:lpstr>
      <vt:lpstr>Java’s Event Handling </vt:lpstr>
      <vt:lpstr>Events</vt:lpstr>
      <vt:lpstr>Event Classes</vt:lpstr>
      <vt:lpstr>Event Information</vt:lpstr>
      <vt:lpstr>Selected User Actions and Handlers</vt:lpstr>
      <vt:lpstr>  Check Point</vt:lpstr>
      <vt:lpstr>Registering Handlers and Handling Events </vt:lpstr>
      <vt:lpstr>The Delegation Model</vt:lpstr>
      <vt:lpstr>The Delegation Model: Example</vt:lpstr>
      <vt:lpstr>Example: ControlCircle</vt:lpstr>
      <vt:lpstr>PowerPoint Presentation</vt:lpstr>
      <vt:lpstr>PowerPoint Presentation</vt:lpstr>
      <vt:lpstr>  Check Point</vt:lpstr>
      <vt:lpstr>  Check Point</vt:lpstr>
      <vt:lpstr>  Check Point</vt:lpstr>
      <vt:lpstr>Inner Class Listeners</vt:lpstr>
      <vt:lpstr>Inner Classes</vt:lpstr>
      <vt:lpstr>Inner Classes, cont.</vt:lpstr>
      <vt:lpstr>Inner Classes (cont.)</vt:lpstr>
      <vt:lpstr>Inner Classes (cont.)</vt:lpstr>
      <vt:lpstr>Inner Classes (cont.)</vt:lpstr>
      <vt:lpstr>Anonymous Inner Classes</vt:lpstr>
      <vt:lpstr>Anonymous Inner Classes</vt:lpstr>
      <vt:lpstr>Anonymous Inner Classes (cont.)</vt:lpstr>
      <vt:lpstr>PowerPoint Presentation</vt:lpstr>
      <vt:lpstr>PowerPoint Presentation</vt:lpstr>
      <vt:lpstr>  Check Point</vt:lpstr>
      <vt:lpstr>  Check Point</vt:lpstr>
      <vt:lpstr>  Check Point</vt:lpstr>
      <vt:lpstr>Simplifying Event Handing Using Lambda Expressions</vt:lpstr>
      <vt:lpstr>Basic Syntax for a Lambda Expression</vt:lpstr>
      <vt:lpstr>Single Abstract Method Interface (SAM)</vt:lpstr>
      <vt:lpstr>PowerPoint Presentation</vt:lpstr>
      <vt:lpstr>  Check Point</vt:lpstr>
      <vt:lpstr>  Check Point</vt:lpstr>
      <vt:lpstr>Problem: Loan Calculator</vt:lpstr>
      <vt:lpstr>MouseEvent</vt:lpstr>
      <vt:lpstr>PowerPoint Presentation</vt:lpstr>
      <vt:lpstr>  Check Point</vt:lpstr>
      <vt:lpstr>  Check Point</vt:lpstr>
      <vt:lpstr>The KeyEvent Class</vt:lpstr>
      <vt:lpstr>The KeyCode Constants</vt:lpstr>
      <vt:lpstr>PowerPoint Presentation</vt:lpstr>
      <vt:lpstr>Example: Control Circle with Mouse and Key</vt:lpstr>
      <vt:lpstr>PowerPoint Presentation</vt:lpstr>
      <vt:lpstr>  Check Point</vt:lpstr>
      <vt:lpstr>Listeners for Observable Objects</vt:lpstr>
      <vt:lpstr>Animation </vt:lpstr>
      <vt:lpstr>PathTransition</vt:lpstr>
      <vt:lpstr>FadeTransition</vt:lpstr>
      <vt:lpstr>Timeline</vt:lpstr>
      <vt:lpstr>Clock Animation</vt:lpstr>
      <vt:lpstr>PowerPoint Presentation</vt:lpstr>
      <vt:lpstr>  Check Point</vt:lpstr>
      <vt:lpstr>  Check Point</vt:lpstr>
      <vt:lpstr>Case Study: Bouncing Ball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dc:title>
  <dc:creator/>
  <cp:lastModifiedBy/>
  <cp:revision>450</cp:revision>
  <cp:lastPrinted>1998-04-22T12:52:01Z</cp:lastPrinted>
  <dcterms:created xsi:type="dcterms:W3CDTF">1995-06-10T17:31:50Z</dcterms:created>
  <dcterms:modified xsi:type="dcterms:W3CDTF">2020-04-15T10:57:56Z</dcterms:modified>
  <dc:description/>
</cp:coreProperties>
</file>