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3" r:id="rId1"/>
    <p:sldMasterId id="2147483686" r:id="rId2"/>
  </p:sldMasterIdLst>
  <p:notesMasterIdLst>
    <p:notesMasterId r:id="rId69"/>
  </p:notesMasterIdLst>
  <p:sldIdLst>
    <p:sldId id="395" r:id="rId3"/>
    <p:sldId id="390" r:id="rId4"/>
    <p:sldId id="396" r:id="rId5"/>
    <p:sldId id="327" r:id="rId6"/>
    <p:sldId id="328" r:id="rId7"/>
    <p:sldId id="329" r:id="rId8"/>
    <p:sldId id="330" r:id="rId9"/>
    <p:sldId id="331" r:id="rId10"/>
    <p:sldId id="333" r:id="rId11"/>
    <p:sldId id="264" r:id="rId12"/>
    <p:sldId id="334" r:id="rId13"/>
    <p:sldId id="392" r:id="rId14"/>
    <p:sldId id="268" r:id="rId15"/>
    <p:sldId id="338" r:id="rId16"/>
    <p:sldId id="391" r:id="rId17"/>
    <p:sldId id="339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341" r:id="rId29"/>
    <p:sldId id="342" r:id="rId30"/>
    <p:sldId id="343" r:id="rId31"/>
    <p:sldId id="284" r:id="rId32"/>
    <p:sldId id="345" r:id="rId33"/>
    <p:sldId id="394" r:id="rId34"/>
    <p:sldId id="285" r:id="rId35"/>
    <p:sldId id="348" r:id="rId36"/>
    <p:sldId id="262" r:id="rId37"/>
    <p:sldId id="350" r:id="rId38"/>
    <p:sldId id="351" r:id="rId39"/>
    <p:sldId id="287" r:id="rId40"/>
    <p:sldId id="352" r:id="rId41"/>
    <p:sldId id="393" r:id="rId42"/>
    <p:sldId id="288" r:id="rId43"/>
    <p:sldId id="289" r:id="rId44"/>
    <p:sldId id="290" r:id="rId45"/>
    <p:sldId id="291" r:id="rId46"/>
    <p:sldId id="292" r:id="rId47"/>
    <p:sldId id="293" r:id="rId48"/>
    <p:sldId id="294" r:id="rId49"/>
    <p:sldId id="295" r:id="rId50"/>
    <p:sldId id="296" r:id="rId51"/>
    <p:sldId id="297" r:id="rId52"/>
    <p:sldId id="298" r:id="rId53"/>
    <p:sldId id="357" r:id="rId54"/>
    <p:sldId id="359" r:id="rId55"/>
    <p:sldId id="360" r:id="rId56"/>
    <p:sldId id="362" r:id="rId57"/>
    <p:sldId id="301" r:id="rId58"/>
    <p:sldId id="302" r:id="rId59"/>
    <p:sldId id="303" r:id="rId60"/>
    <p:sldId id="304" r:id="rId61"/>
    <p:sldId id="305" r:id="rId62"/>
    <p:sldId id="306" r:id="rId63"/>
    <p:sldId id="307" r:id="rId64"/>
    <p:sldId id="308" r:id="rId65"/>
    <p:sldId id="309" r:id="rId66"/>
    <p:sldId id="310" r:id="rId67"/>
    <p:sldId id="311" r:id="rId68"/>
  </p:sldIdLst>
  <p:sldSz cx="12192000" cy="6858000"/>
  <p:notesSz cx="6858000" cy="9144000"/>
  <p:photoAlbum/>
  <p:custDataLst>
    <p:tags r:id="rId70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726" autoAdjust="0"/>
    <p:restoredTop sz="94660"/>
  </p:normalViewPr>
  <p:slideViewPr>
    <p:cSldViewPr>
      <p:cViewPr varScale="1">
        <p:scale>
          <a:sx n="97" d="100"/>
          <a:sy n="97" d="100"/>
        </p:scale>
        <p:origin x="108" y="54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slide" Target="slides/slide27.xml"/><Relationship Id="rId30" Type="http://schemas.openxmlformats.org/officeDocument/2006/relationships/slide" Target="slides/slide28.xml"/><Relationship Id="rId31" Type="http://schemas.openxmlformats.org/officeDocument/2006/relationships/slide" Target="slides/slide29.xml"/><Relationship Id="rId32" Type="http://schemas.openxmlformats.org/officeDocument/2006/relationships/slide" Target="slides/slide30.xml"/><Relationship Id="rId33" Type="http://schemas.openxmlformats.org/officeDocument/2006/relationships/slide" Target="slides/slide31.xml"/><Relationship Id="rId34" Type="http://schemas.openxmlformats.org/officeDocument/2006/relationships/slide" Target="slides/slide32.xml"/><Relationship Id="rId35" Type="http://schemas.openxmlformats.org/officeDocument/2006/relationships/slide" Target="slides/slide33.xml"/><Relationship Id="rId36" Type="http://schemas.openxmlformats.org/officeDocument/2006/relationships/slide" Target="slides/slide34.xml"/><Relationship Id="rId37" Type="http://schemas.openxmlformats.org/officeDocument/2006/relationships/slide" Target="slides/slide35.xml"/><Relationship Id="rId38" Type="http://schemas.openxmlformats.org/officeDocument/2006/relationships/slide" Target="slides/slide36.xml"/><Relationship Id="rId39" Type="http://schemas.openxmlformats.org/officeDocument/2006/relationships/slide" Target="slides/slide37.xml"/><Relationship Id="rId40" Type="http://schemas.openxmlformats.org/officeDocument/2006/relationships/slide" Target="slides/slide38.xml"/><Relationship Id="rId41" Type="http://schemas.openxmlformats.org/officeDocument/2006/relationships/slide" Target="slides/slide39.xml"/><Relationship Id="rId42" Type="http://schemas.openxmlformats.org/officeDocument/2006/relationships/slide" Target="slides/slide40.xml"/><Relationship Id="rId43" Type="http://schemas.openxmlformats.org/officeDocument/2006/relationships/slide" Target="slides/slide41.xml"/><Relationship Id="rId44" Type="http://schemas.openxmlformats.org/officeDocument/2006/relationships/slide" Target="slides/slide42.xml"/><Relationship Id="rId45" Type="http://schemas.openxmlformats.org/officeDocument/2006/relationships/slide" Target="slides/slide43.xml"/><Relationship Id="rId46" Type="http://schemas.openxmlformats.org/officeDocument/2006/relationships/slide" Target="slides/slide44.xml"/><Relationship Id="rId47" Type="http://schemas.openxmlformats.org/officeDocument/2006/relationships/slide" Target="slides/slide45.xml"/><Relationship Id="rId48" Type="http://schemas.openxmlformats.org/officeDocument/2006/relationships/slide" Target="slides/slide46.xml"/><Relationship Id="rId49" Type="http://schemas.openxmlformats.org/officeDocument/2006/relationships/slide" Target="slides/slide47.xml"/><Relationship Id="rId50" Type="http://schemas.openxmlformats.org/officeDocument/2006/relationships/slide" Target="slides/slide48.xml"/><Relationship Id="rId51" Type="http://schemas.openxmlformats.org/officeDocument/2006/relationships/slide" Target="slides/slide49.xml"/><Relationship Id="rId52" Type="http://schemas.openxmlformats.org/officeDocument/2006/relationships/slide" Target="slides/slide50.xml"/><Relationship Id="rId53" Type="http://schemas.openxmlformats.org/officeDocument/2006/relationships/slide" Target="slides/slide51.xml"/><Relationship Id="rId54" Type="http://schemas.openxmlformats.org/officeDocument/2006/relationships/slide" Target="slides/slide52.xml"/><Relationship Id="rId55" Type="http://schemas.openxmlformats.org/officeDocument/2006/relationships/slide" Target="slides/slide53.xml"/><Relationship Id="rId56" Type="http://schemas.openxmlformats.org/officeDocument/2006/relationships/slide" Target="slides/slide54.xml"/><Relationship Id="rId57" Type="http://schemas.openxmlformats.org/officeDocument/2006/relationships/slide" Target="slides/slide55.xml"/><Relationship Id="rId58" Type="http://schemas.openxmlformats.org/officeDocument/2006/relationships/slide" Target="slides/slide56.xml"/><Relationship Id="rId59" Type="http://schemas.openxmlformats.org/officeDocument/2006/relationships/slide" Target="slides/slide57.xml"/><Relationship Id="rId60" Type="http://schemas.openxmlformats.org/officeDocument/2006/relationships/slide" Target="slides/slide58.xml"/><Relationship Id="rId61" Type="http://schemas.openxmlformats.org/officeDocument/2006/relationships/slide" Target="slides/slide59.xml"/><Relationship Id="rId62" Type="http://schemas.openxmlformats.org/officeDocument/2006/relationships/slide" Target="slides/slide60.xml"/><Relationship Id="rId63" Type="http://schemas.openxmlformats.org/officeDocument/2006/relationships/slide" Target="slides/slide61.xml"/><Relationship Id="rId64" Type="http://schemas.openxmlformats.org/officeDocument/2006/relationships/slide" Target="slides/slide62.xml"/><Relationship Id="rId65" Type="http://schemas.openxmlformats.org/officeDocument/2006/relationships/slide" Target="slides/slide63.xml"/><Relationship Id="rId66" Type="http://schemas.openxmlformats.org/officeDocument/2006/relationships/slide" Target="slides/slide64.xml"/><Relationship Id="rId67" Type="http://schemas.openxmlformats.org/officeDocument/2006/relationships/slide" Target="slides/slide65.xml"/><Relationship Id="rId68" Type="http://schemas.openxmlformats.org/officeDocument/2006/relationships/slide" Target="slides/slide66.xml"/><Relationship Id="rId69" Type="http://schemas.openxmlformats.org/officeDocument/2006/relationships/notesMaster" Target="notesMasters/notesMaster1.xml"/><Relationship Id="rId70" Type="http://schemas.openxmlformats.org/officeDocument/2006/relationships/tags" Target="tags/tag1.xml"/><Relationship Id="rId71" Type="http://schemas.openxmlformats.org/officeDocument/2006/relationships/presProps" Target="presProps.xml"/><Relationship Id="rId72" Type="http://schemas.openxmlformats.org/officeDocument/2006/relationships/viewProps" Target="viewProps.xml"/><Relationship Id="rId73" Type="http://schemas.openxmlformats.org/officeDocument/2006/relationships/theme" Target="theme/theme1.xml"/><Relationship Id="rId7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7C256B-A6DD-4241-B524-DB0330DCEA3F}" type="datetimeFigureOut">
              <a:rPr lang="en-US" smtClean="0"/>
              <a:pPr/>
              <a:t>5/20/2020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1816AD4-5FB7-4FF1-864B-C3ED6891189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39799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/>
              <a:t>- </a:t>
            </a:r>
            <a:r>
              <a:rPr lang="tr-TR" dirty="0" err="1"/>
              <a:t>Explain</a:t>
            </a:r>
            <a:r>
              <a:rPr lang="tr-TR" dirty="0"/>
              <a:t> </a:t>
            </a:r>
            <a:r>
              <a:rPr lang="tr-TR" dirty="0" err="1"/>
              <a:t>and</a:t>
            </a:r>
            <a:r>
              <a:rPr lang="tr-TR" dirty="0"/>
              <a:t> </a:t>
            </a:r>
            <a:r>
              <a:rPr lang="tr-TR" dirty="0" err="1"/>
              <a:t>run</a:t>
            </a:r>
            <a:r>
              <a:rPr lang="tr-TR" dirty="0"/>
              <a:t> C71_fig12_03.c.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816AD4-5FB7-4FF1-864B-C3ED68911890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09999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816AD4-5FB7-4FF1-864B-C3ED68911890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0782033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C61E9D-1F49-4D82-8EBF-16499F007FD8}" type="datetime1">
              <a:rPr lang="en-US" smtClean="0"/>
              <a:t>5/20/2020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235200" y="6356351"/>
            <a:ext cx="7721600" cy="365125"/>
          </a:xfrm>
        </p:spPr>
        <p:txBody>
          <a:bodyPr/>
          <a:lstStyle/>
          <a:p>
            <a:r>
              <a:rPr lang="en-US" dirty="0"/>
              <a:t>© 2016 Pearson Education, Ltd. All rights reserved.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045B3-A81F-4B14-96F5-518F075FBA4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66525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6D50D-4737-4078-A96C-37930F346964}" type="datetime1">
              <a:rPr lang="en-US" smtClean="0"/>
              <a:t>5/20/2020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36800" y="6356350"/>
            <a:ext cx="7518400" cy="365126"/>
          </a:xfrm>
        </p:spPr>
        <p:txBody>
          <a:bodyPr/>
          <a:lstStyle/>
          <a:p>
            <a:r>
              <a:rPr lang="en-US" dirty="0"/>
              <a:t>© 2016 Pearson Education, Ltd. All rights reserved.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045B3-A81F-4B14-96F5-518F075FBA4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17560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74B93F-98F2-4805-9131-91BD500DADF2}" type="datetime1">
              <a:rPr lang="en-US" smtClean="0"/>
              <a:t>5/20/2020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2016 Pearson Education, Ltd. All rights reserved.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045B3-A81F-4B14-96F5-518F075FBA4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10916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2B35C0-D53D-4679-AEF3-8AC452868FA1}" type="datetime1">
              <a:rPr lang="en-US" smtClean="0"/>
              <a:t>5/20/2020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2016 Pearson Education, Ltd. All rights reserved.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045B3-A81F-4B14-96F5-518F075FBA4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13966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8C33D7-4B8B-4A09-A1A7-2B74A34073F0}" type="datetime1">
              <a:rPr lang="en-US" smtClean="0"/>
              <a:t>5/20/2020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2016 Pearson Education, Ltd. All rights reserved.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045B3-A81F-4B14-96F5-518F075FBA4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997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1ED77-1E97-4670-BFBD-95B8D2A234F7}" type="datetime1">
              <a:rPr lang="en-US" smtClean="0"/>
              <a:t>5/20/2020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2016 Pearson Education, Ltd. All rights reserved.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045B3-A81F-4B14-96F5-518F075FBA4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0442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40F264-BC03-44F1-B1AF-89BED6986E30}" type="datetime1">
              <a:rPr lang="en-US" smtClean="0"/>
              <a:t>5/20/2020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2133600" y="6356351"/>
            <a:ext cx="7924800" cy="365125"/>
          </a:xfrm>
        </p:spPr>
        <p:txBody>
          <a:bodyPr/>
          <a:lstStyle/>
          <a:p>
            <a:r>
              <a:rPr lang="en-US" dirty="0"/>
              <a:t>© 2016 Pearson Education, Ltd. All rights reserved.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045B3-A81F-4B14-96F5-518F075FBA4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50190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600605-FA5C-4C40-992E-9E2D4B9EB283}" type="datetime1">
              <a:rPr lang="en-US" smtClean="0"/>
              <a:t>5/20/2020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2016 Pearson Education, Ltd. All rights reserved.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045B3-A81F-4B14-96F5-518F075FBA4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0312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FFABD-689E-41DD-BB36-D16CED08B6D5}" type="datetime1">
              <a:rPr lang="en-US" smtClean="0"/>
              <a:t>5/20/2020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2016 Pearson Education, Ltd. All rights reserved.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045B3-A81F-4B14-96F5-518F075FBA4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96662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395C47-5EDC-46DD-9867-9DD250CF3BD5}" type="datetime1">
              <a:rPr lang="en-US" smtClean="0"/>
              <a:t>5/20/2020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2016 Pearson Education, Ltd. All rights reserved.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045B3-A81F-4B14-96F5-518F075FBA4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12903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AD334-8CB1-4075-8944-59CDC16FBBC7}" type="datetime1">
              <a:rPr lang="en-US" smtClean="0"/>
              <a:t>5/20/2020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2016 Pearson Education, Ltd. All rights reserved.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045B3-A81F-4B14-96F5-518F075FBA4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57395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7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1CDCB88-BFF9-4D81-99A4-482E8F2AB80A}" type="datetime1">
              <a:rPr lang="en-US" smtClean="0"/>
              <a:t>5/20/2020</a:t>
            </a:fld>
            <a:endParaRPr lang="en-US"/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>
          <a:xfrm>
            <a:off x="2133600" y="6356353"/>
            <a:ext cx="7924800" cy="365125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© 2016 Pearson Education, Ltd. All rights reserved.</a:t>
            </a:r>
          </a:p>
        </p:txBody>
      </p:sp>
      <p:sp>
        <p:nvSpPr>
          <p:cNvPr id="6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CF045B3-A81F-4B14-96F5-518F075FBA4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525491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7"/>
          <p:cNvSpPr>
            <a:spLocks noChangeArrowheads="1"/>
          </p:cNvSpPr>
          <p:nvPr/>
        </p:nvSpPr>
        <p:spPr bwMode="auto">
          <a:xfrm>
            <a:off x="609600" y="1123950"/>
            <a:ext cx="10972800" cy="914400"/>
          </a:xfrm>
          <a:custGeom>
            <a:avLst/>
            <a:gdLst>
              <a:gd name="T0" fmla="*/ 0 w 1000"/>
              <a:gd name="T1" fmla="*/ 1000 h 1000"/>
              <a:gd name="T2" fmla="*/ 0 w 1000"/>
              <a:gd name="T3" fmla="*/ 0 h 1000"/>
              <a:gd name="T4" fmla="*/ 1000 w 1000"/>
              <a:gd name="T5" fmla="*/ 0 h 10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25400" cap="flat" cmpd="sng">
            <a:solidFill>
              <a:schemeClr val="accent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algn="l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tr-TR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5" name="Line 8"/>
          <p:cNvSpPr>
            <a:spLocks noChangeShapeType="1"/>
          </p:cNvSpPr>
          <p:nvPr/>
        </p:nvSpPr>
        <p:spPr bwMode="auto">
          <a:xfrm>
            <a:off x="609600" y="3371850"/>
            <a:ext cx="10972800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tr-TR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6" name="Line 10"/>
          <p:cNvSpPr>
            <a:spLocks noChangeShapeType="1"/>
          </p:cNvSpPr>
          <p:nvPr userDrawn="1"/>
        </p:nvSpPr>
        <p:spPr bwMode="auto">
          <a:xfrm>
            <a:off x="11582400" y="2457450"/>
            <a:ext cx="0" cy="914400"/>
          </a:xfrm>
          <a:prstGeom prst="line">
            <a:avLst/>
          </a:prstGeom>
          <a:noFill/>
          <a:ln w="254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tr-TR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0137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1524000"/>
            <a:ext cx="10566400" cy="17526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 altLang="en-US"/>
              <a:t>Click to edit Master title style</a:t>
            </a:r>
          </a:p>
        </p:txBody>
      </p:sp>
      <p:sp>
        <p:nvSpPr>
          <p:cNvPr id="10137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914400" y="3581400"/>
            <a:ext cx="10464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en-US" altLang="en-US"/>
              <a:t>Click to edit Master subtitle style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609600" y="6243638"/>
            <a:ext cx="28448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900">
                <a:solidFill>
                  <a:srgbClr val="000000"/>
                </a:solidFill>
                <a:latin typeface="Garamond" pitchFamily="-105" charset="0"/>
                <a:ea typeface="Arial" pitchFamily="-105" charset="0"/>
                <a:cs typeface="Arial" pitchFamily="-105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/>
              <a:t>11/17/2017</a:t>
            </a: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3638"/>
            <a:ext cx="3860800" cy="457200"/>
          </a:xfrm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6BCB3A3A-8FF8-40B3-8514-E2CB2218B302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918121136"/>
      </p:ext>
    </p:extLst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7530"/>
            <a:ext cx="11480800" cy="519372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02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en-US"/>
          </a:p>
        </p:txBody>
      </p:sp>
      <p:sp>
        <p:nvSpPr>
          <p:cNvPr id="5" name="Rectangle 103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7A81F180-46E2-4A0E-BB74-502DD5A18440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120667931"/>
      </p:ext>
    </p:extLst>
  </p:cSld>
  <p:clrMapOvr>
    <a:masterClrMapping/>
  </p:clrMapOvr>
  <p:transition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102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en-US"/>
          </a:p>
        </p:txBody>
      </p:sp>
      <p:sp>
        <p:nvSpPr>
          <p:cNvPr id="5" name="Rectangle 103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16733746-84DC-41D8-823C-0E541251900B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999929619"/>
      </p:ext>
    </p:extLst>
  </p:cSld>
  <p:clrMapOvr>
    <a:masterClrMapping/>
  </p:clrMapOvr>
  <p:transition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4800" y="1371600"/>
            <a:ext cx="5638800" cy="487680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46800" y="1371600"/>
            <a:ext cx="5638800" cy="487680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102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en-US"/>
          </a:p>
        </p:txBody>
      </p:sp>
      <p:sp>
        <p:nvSpPr>
          <p:cNvPr id="6" name="Rectangle 103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7DA7D8B2-168E-4395-8C8D-DE154A1BF93F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527428819"/>
      </p:ext>
    </p:extLst>
  </p:cSld>
  <p:clrMapOvr>
    <a:masterClrMapping/>
  </p:clrMapOvr>
  <p:transition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102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en-US"/>
          </a:p>
        </p:txBody>
      </p:sp>
      <p:sp>
        <p:nvSpPr>
          <p:cNvPr id="8" name="Rectangle 103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B21357CC-1F0C-4656-B2F4-067F4C5F9518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831759552"/>
      </p:ext>
    </p:extLst>
  </p:cSld>
  <p:clrMapOvr>
    <a:masterClrMapping/>
  </p:clrMapOvr>
  <p:transition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102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en-US"/>
          </a:p>
        </p:txBody>
      </p:sp>
      <p:sp>
        <p:nvSpPr>
          <p:cNvPr id="4" name="Rectangle 103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D27548CD-748C-4DE8-BC15-41D2810282C5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377691981"/>
      </p:ext>
    </p:extLst>
  </p:cSld>
  <p:clrMapOvr>
    <a:masterClrMapping/>
  </p:clrMapOvr>
  <p:transition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02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en-US"/>
          </a:p>
        </p:txBody>
      </p:sp>
      <p:sp>
        <p:nvSpPr>
          <p:cNvPr id="3" name="Rectangle 103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B20CB8E-6506-4AEB-8989-7BD4DC848E44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038497132"/>
      </p:ext>
    </p:extLst>
  </p:cSld>
  <p:clrMapOvr>
    <a:masterClrMapping/>
  </p:clrMapOvr>
  <p:transition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02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en-US"/>
          </a:p>
        </p:txBody>
      </p:sp>
      <p:sp>
        <p:nvSpPr>
          <p:cNvPr id="6" name="Rectangle 103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1FED9E3D-D4A4-4134-848E-E66AC38438F3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794606162"/>
      </p:ext>
    </p:extLst>
  </p:cSld>
  <p:clrMapOvr>
    <a:masterClrMapping/>
  </p:clrMapOvr>
  <p:transition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02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en-US"/>
          </a:p>
        </p:txBody>
      </p:sp>
      <p:sp>
        <p:nvSpPr>
          <p:cNvPr id="6" name="Rectangle 103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CE93521-0F42-40DB-9C31-44BF57F5918F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11977873"/>
      </p:ext>
    </p:extLst>
  </p:cSld>
  <p:clrMapOvr>
    <a:masterClrMapping/>
  </p:clrMapOvr>
  <p:transition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02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en-US"/>
          </a:p>
        </p:txBody>
      </p:sp>
      <p:sp>
        <p:nvSpPr>
          <p:cNvPr id="5" name="Rectangle 103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3AD848FD-2F18-4378-B684-9572F1D7FD98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223441539"/>
      </p:ext>
    </p:extLst>
  </p:cSld>
  <p:clrMapOvr>
    <a:masterClrMapping/>
  </p:clrMapOvr>
  <p:transition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15400" y="152400"/>
            <a:ext cx="2870200" cy="6096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4800" y="152400"/>
            <a:ext cx="8407400" cy="6096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02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en-US"/>
          </a:p>
        </p:txBody>
      </p:sp>
      <p:sp>
        <p:nvSpPr>
          <p:cNvPr id="5" name="Rectangle 103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42E09492-B7AB-44C4-9096-FF9706AE7089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898134620"/>
      </p:ext>
    </p:extLst>
  </p:cSld>
  <p:clrMapOvr>
    <a:masterClrMapping/>
  </p:clrMapOvr>
  <p:transition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clipArtAndTx" preserve="1">
  <p:cSld name="Title, Clip Ar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152400"/>
            <a:ext cx="11480800" cy="1066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lipArt Placeholder 2"/>
          <p:cNvSpPr>
            <a:spLocks noGrp="1"/>
          </p:cNvSpPr>
          <p:nvPr>
            <p:ph type="clipArt" sz="half" idx="1"/>
          </p:nvPr>
        </p:nvSpPr>
        <p:spPr>
          <a:xfrm>
            <a:off x="304800" y="1371600"/>
            <a:ext cx="5638800" cy="4876800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146800" y="1371600"/>
            <a:ext cx="5638800" cy="4876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102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en-US"/>
          </a:p>
        </p:txBody>
      </p:sp>
      <p:sp>
        <p:nvSpPr>
          <p:cNvPr id="6" name="Rectangle 103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06F79FCD-EF8B-4A5A-BBA5-6A74B63CC055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951912615"/>
      </p:ext>
    </p:extLst>
  </p:cSld>
  <p:clrMapOvr>
    <a:masterClrMapping/>
  </p:clrMapOvr>
  <p:transition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4.xml"/><Relationship Id="rId1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07F7E2-6369-487C-9B36-A4C6419FAE64}" type="datetime1">
              <a:rPr lang="en-US" smtClean="0"/>
              <a:t>5/20/2020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© 2016 Pearson Education, Ltd. All rights reserved.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F045B3-A81F-4B14-96F5-518F075FBA4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8214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</p:sldLayoutIdLst>
  <p:hf hdr="0" dt="0"/>
  <p:txStyles>
    <p:titleStyle>
      <a:lvl1pPr algn="ctr" defTabSz="914400" rtl="0" eaLnBrk="1" latinLnBrk="0" hangingPunct="1">
        <a:spcBef>
          <a:spcPct val="0"/>
        </a:spcBef>
        <a:buNone/>
        <a:defRPr sz="4400" b="0" i="0" u="none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b="0" i="0" u="none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1026"/>
          <p:cNvSpPr>
            <a:spLocks noGrp="1" noChangeArrowheads="1"/>
          </p:cNvSpPr>
          <p:nvPr>
            <p:ph type="title"/>
          </p:nvPr>
        </p:nvSpPr>
        <p:spPr bwMode="auto">
          <a:xfrm>
            <a:off x="304800" y="152400"/>
            <a:ext cx="114808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tr-TR"/>
              <a:t>Click to edit Master title style</a:t>
            </a:r>
          </a:p>
        </p:txBody>
      </p:sp>
      <p:sp>
        <p:nvSpPr>
          <p:cNvPr id="1027" name="Rectangle 1027"/>
          <p:cNvSpPr>
            <a:spLocks noGrp="1" noChangeArrowheads="1"/>
          </p:cNvSpPr>
          <p:nvPr>
            <p:ph type="body" idx="1"/>
          </p:nvPr>
        </p:nvSpPr>
        <p:spPr bwMode="auto">
          <a:xfrm>
            <a:off x="304800" y="898528"/>
            <a:ext cx="11480800" cy="5235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tr-TR"/>
              <a:t>Click to edit Master text styles</a:t>
            </a:r>
          </a:p>
          <a:p>
            <a:pPr lvl="1"/>
            <a:r>
              <a:rPr lang="en-US" altLang="tr-TR"/>
              <a:t>Second level</a:t>
            </a:r>
          </a:p>
          <a:p>
            <a:pPr lvl="2"/>
            <a:r>
              <a:rPr lang="en-US" altLang="tr-TR"/>
              <a:t>Third level</a:t>
            </a:r>
          </a:p>
          <a:p>
            <a:pPr lvl="3"/>
            <a:r>
              <a:rPr lang="en-US" altLang="tr-TR"/>
              <a:t>Fourth level</a:t>
            </a:r>
          </a:p>
          <a:p>
            <a:pPr lvl="4"/>
            <a:r>
              <a:rPr lang="en-US" altLang="tr-TR"/>
              <a:t>Fifth level</a:t>
            </a:r>
          </a:p>
        </p:txBody>
      </p:sp>
      <p:sp>
        <p:nvSpPr>
          <p:cNvPr id="100357" name="Rectangle 1029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90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en-US"/>
          </a:p>
        </p:txBody>
      </p:sp>
      <p:sp>
        <p:nvSpPr>
          <p:cNvPr id="100358" name="Rectangle 1030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036051" y="6318250"/>
            <a:ext cx="2844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000000"/>
                </a:solidFill>
                <a:latin typeface="Garamond" panose="02020404030301010803" pitchFamily="18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EE42FCE0-6E1C-4037-BC8A-FCBCB380F030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  <p:sp>
        <p:nvSpPr>
          <p:cNvPr id="1030" name="Line 1032"/>
          <p:cNvSpPr>
            <a:spLocks noChangeShapeType="1"/>
          </p:cNvSpPr>
          <p:nvPr/>
        </p:nvSpPr>
        <p:spPr bwMode="auto">
          <a:xfrm>
            <a:off x="304800" y="6481763"/>
            <a:ext cx="11480800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tr-TR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031" name="Line 1033"/>
          <p:cNvSpPr>
            <a:spLocks noChangeShapeType="1"/>
          </p:cNvSpPr>
          <p:nvPr userDrawn="1"/>
        </p:nvSpPr>
        <p:spPr bwMode="auto">
          <a:xfrm>
            <a:off x="304800" y="898525"/>
            <a:ext cx="11480800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tr-TR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115910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</p:sldLayoutIdLst>
  <p:transition/>
  <p:hf hdr="0" ft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+mj-lt"/>
          <a:ea typeface="ＭＳ Ｐゴシック" pitchFamily="-105" charset="-128"/>
          <a:cs typeface="ＭＳ Ｐゴシック" pitchFamily="-105" charset="-128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Garamond" pitchFamily="18" charset="0"/>
          <a:ea typeface="ＭＳ Ｐゴシック" pitchFamily="-105" charset="-128"/>
          <a:cs typeface="ＭＳ Ｐゴシック" pitchFamily="-105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Garamond" pitchFamily="18" charset="0"/>
          <a:ea typeface="ＭＳ Ｐゴシック" pitchFamily="-105" charset="-128"/>
          <a:cs typeface="ＭＳ Ｐゴシック" pitchFamily="-105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Garamond" pitchFamily="18" charset="0"/>
          <a:ea typeface="ＭＳ Ｐゴシック" pitchFamily="-105" charset="-128"/>
          <a:cs typeface="ＭＳ Ｐゴシック" pitchFamily="-105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Garamond" pitchFamily="18" charset="0"/>
          <a:ea typeface="ＭＳ Ｐゴシック" pitchFamily="-105" charset="-128"/>
          <a:cs typeface="ＭＳ Ｐゴシック" pitchFamily="-105" charset="-128"/>
        </a:defRPr>
      </a:lvl5pPr>
      <a:lvl6pPr marL="342900" algn="l" rtl="0" fontAlgn="base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Garamond" pitchFamily="18" charset="0"/>
        </a:defRPr>
      </a:lvl6pPr>
      <a:lvl7pPr marL="685800" algn="l" rtl="0" fontAlgn="base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Garamond" pitchFamily="18" charset="0"/>
        </a:defRPr>
      </a:lvl7pPr>
      <a:lvl8pPr marL="1028700" algn="l" rtl="0" fontAlgn="base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Garamond" pitchFamily="18" charset="0"/>
        </a:defRPr>
      </a:lvl8pPr>
      <a:lvl9pPr marL="1371600" algn="l" rtl="0" fontAlgn="base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Garamond" pitchFamily="18" charset="0"/>
        </a:defRPr>
      </a:lvl9pPr>
    </p:titleStyle>
    <p:bodyStyle>
      <a:lvl1pPr marL="257175" indent="-257175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anose="05000000000000000000" pitchFamily="2" charset="2"/>
        <a:buChar char="n"/>
        <a:defRPr sz="1800">
          <a:solidFill>
            <a:schemeClr val="tx1"/>
          </a:solidFill>
          <a:latin typeface="+mn-lt"/>
          <a:ea typeface="ＭＳ Ｐゴシック" pitchFamily="-105" charset="-128"/>
          <a:cs typeface="ＭＳ Ｐゴシック" pitchFamily="-105" charset="-128"/>
        </a:defRPr>
      </a:lvl1pPr>
      <a:lvl2pPr marL="502444" indent="-244079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60000"/>
        <a:buFont typeface="Wingdings" panose="05000000000000000000" pitchFamily="2" charset="2"/>
        <a:buChar char="q"/>
        <a:defRPr sz="1650">
          <a:solidFill>
            <a:schemeClr val="tx1"/>
          </a:solidFill>
          <a:latin typeface="+mn-lt"/>
          <a:ea typeface="ＭＳ Ｐゴシック" pitchFamily="-105" charset="-128"/>
        </a:defRPr>
      </a:lvl2pPr>
      <a:lvl3pPr marL="766763" indent="-263129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anose="05000000000000000000" pitchFamily="2" charset="2"/>
        <a:buChar char="n"/>
        <a:defRPr sz="1500">
          <a:solidFill>
            <a:schemeClr val="tx1"/>
          </a:solidFill>
          <a:latin typeface="+mn-lt"/>
          <a:ea typeface="ＭＳ Ｐゴシック" pitchFamily="-105" charset="-128"/>
        </a:defRPr>
      </a:lvl3pPr>
      <a:lvl4pPr marL="1004888" indent="-236935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q"/>
        <a:defRPr>
          <a:solidFill>
            <a:schemeClr val="tx1"/>
          </a:solidFill>
          <a:latin typeface="+mn-lt"/>
          <a:ea typeface="ＭＳ Ｐゴシック" pitchFamily="-105" charset="-128"/>
        </a:defRPr>
      </a:lvl4pPr>
      <a:lvl5pPr marL="1260872" indent="-254794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anose="05000000000000000000" pitchFamily="2" charset="2"/>
        <a:buChar char="§"/>
        <a:defRPr sz="1200">
          <a:solidFill>
            <a:schemeClr val="tx1"/>
          </a:solidFill>
          <a:latin typeface="+mn-lt"/>
          <a:ea typeface="ＭＳ Ｐゴシック" pitchFamily="-105" charset="-128"/>
        </a:defRPr>
      </a:lvl5pPr>
      <a:lvl6pPr marL="1603772" indent="-254794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1200">
          <a:solidFill>
            <a:schemeClr val="tx1"/>
          </a:solidFill>
          <a:latin typeface="+mn-lt"/>
        </a:defRPr>
      </a:lvl6pPr>
      <a:lvl7pPr marL="1946672" indent="-254794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1200">
          <a:solidFill>
            <a:schemeClr val="tx1"/>
          </a:solidFill>
          <a:latin typeface="+mn-lt"/>
        </a:defRPr>
      </a:lvl7pPr>
      <a:lvl8pPr marL="2289572" indent="-254794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1200">
          <a:solidFill>
            <a:schemeClr val="tx1"/>
          </a:solidFill>
          <a:latin typeface="+mn-lt"/>
        </a:defRPr>
      </a:lvl8pPr>
      <a:lvl9pPr marL="2632472" indent="-254794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1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1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35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pn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>
            <a:extLst>
              <a:ext uri="{FF2B5EF4-FFF2-40B4-BE49-F238E27FC236}">
                <a16:creationId xmlns:a16="http://schemas.microsoft.com/office/drawing/2014/main" id="{F9248024-E6CB-4E73-B1B0-AD74B0775AF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dirty="0"/>
              <a:t>CSE1142 – </a:t>
            </a:r>
            <a:r>
              <a:rPr lang="tr-TR" dirty="0"/>
              <a:t>C Data </a:t>
            </a:r>
            <a:r>
              <a:rPr lang="tr-TR" dirty="0" err="1"/>
              <a:t>Structures</a:t>
            </a:r>
            <a:endParaRPr lang="en-US" dirty="0"/>
          </a:p>
        </p:txBody>
      </p:sp>
      <p:sp>
        <p:nvSpPr>
          <p:cNvPr id="6" name="Subtitle 4"/>
          <p:cNvSpPr>
            <a:spLocks noGrp="1"/>
          </p:cNvSpPr>
          <p:nvPr/>
        </p:nvSpPr>
        <p:spPr bwMode="auto">
          <a:xfrm>
            <a:off x="2218039" y="6056305"/>
            <a:ext cx="7848600" cy="8016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>
            <a:lvl1pPr marL="0" indent="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None/>
              <a:defRPr sz="2400">
                <a:solidFill>
                  <a:schemeClr val="tx1"/>
                </a:solidFill>
                <a:latin typeface="+mn-lt"/>
                <a:ea typeface="ＭＳ Ｐゴシック" pitchFamily="-105" charset="-128"/>
                <a:cs typeface="ＭＳ Ｐゴシック" pitchFamily="-105" charset="-128"/>
              </a:defRPr>
            </a:lvl1pPr>
            <a:lvl2pPr marL="669925" indent="-3254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200">
                <a:solidFill>
                  <a:schemeClr val="tx1"/>
                </a:solidFill>
                <a:latin typeface="+mn-lt"/>
                <a:ea typeface="ＭＳ Ｐゴシック" pitchFamily="-105" charset="-128"/>
              </a:defRPr>
            </a:lvl2pPr>
            <a:lvl3pPr marL="1022350" indent="-3508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ＭＳ Ｐゴシック" pitchFamily="-105" charset="-128"/>
              </a:defRPr>
            </a:lvl3pPr>
            <a:lvl4pPr marL="1339850" indent="-3159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+mn-lt"/>
                <a:ea typeface="ＭＳ Ｐゴシック" pitchFamily="-105" charset="-128"/>
              </a:defRPr>
            </a:lvl4pPr>
            <a:lvl5pPr marL="1681163" indent="-339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+mn-lt"/>
                <a:ea typeface="ＭＳ Ｐゴシック" pitchFamily="-105" charset="-128"/>
              </a:defRPr>
            </a:lvl5pPr>
            <a:lvl6pPr marL="21383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</a:defRPr>
            </a:lvl6pPr>
            <a:lvl7pPr marL="25955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</a:defRPr>
            </a:lvl7pPr>
            <a:lvl8pPr marL="30527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</a:defRPr>
            </a:lvl8pPr>
            <a:lvl9pPr marL="35099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pPr marL="257175" indent="-257175" algn="l" defTabSz="685800">
              <a:buClr>
                <a:srgbClr val="4F81BD"/>
              </a:buClr>
              <a:buFont typeface="Wingdings" panose="05000000000000000000" pitchFamily="2" charset="2"/>
              <a:buChar char="q"/>
            </a:pPr>
            <a:r>
              <a:rPr lang="tr-TR" sz="1500" dirty="0" err="1">
                <a:solidFill>
                  <a:prstClr val="black"/>
                </a:solidFill>
                <a:latin typeface="Tahoma"/>
              </a:rPr>
              <a:t>Adapted</a:t>
            </a:r>
            <a:r>
              <a:rPr lang="tr-TR" sz="1500" dirty="0">
                <a:solidFill>
                  <a:prstClr val="black"/>
                </a:solidFill>
                <a:latin typeface="Tahoma"/>
              </a:rPr>
              <a:t> </a:t>
            </a:r>
            <a:r>
              <a:rPr lang="tr-TR" sz="1500" dirty="0" err="1">
                <a:solidFill>
                  <a:prstClr val="black"/>
                </a:solidFill>
                <a:latin typeface="Tahoma"/>
              </a:rPr>
              <a:t>from</a:t>
            </a:r>
            <a:r>
              <a:rPr lang="tr-TR" sz="1500" dirty="0">
                <a:solidFill>
                  <a:prstClr val="black"/>
                </a:solidFill>
                <a:latin typeface="Tahoma"/>
              </a:rPr>
              <a:t> Dr. Sanem Arslan Yılmaz &amp; </a:t>
            </a:r>
            <a:r>
              <a:rPr lang="tr-TR" sz="1500" dirty="0" err="1">
                <a:solidFill>
                  <a:prstClr val="black"/>
                </a:solidFill>
                <a:latin typeface="Tahoma"/>
              </a:rPr>
              <a:t>Pearson</a:t>
            </a:r>
            <a:r>
              <a:rPr lang="tr-TR" sz="1500" dirty="0">
                <a:solidFill>
                  <a:prstClr val="black"/>
                </a:solidFill>
                <a:latin typeface="Tahoma"/>
              </a:rPr>
              <a:t> </a:t>
            </a:r>
            <a:r>
              <a:rPr lang="tr-TR" sz="1500" dirty="0" err="1">
                <a:solidFill>
                  <a:prstClr val="black"/>
                </a:solidFill>
                <a:latin typeface="Tahoma"/>
              </a:rPr>
              <a:t>Education</a:t>
            </a:r>
            <a:r>
              <a:rPr lang="tr-TR" sz="1500" dirty="0">
                <a:solidFill>
                  <a:prstClr val="black"/>
                </a:solidFill>
                <a:latin typeface="Tahoma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2526906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1981200" y="123826"/>
            <a:ext cx="8229600" cy="11430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b="0" i="0" u="none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dirty="0">
                <a:solidFill>
                  <a:srgbClr val="24B5A1"/>
                </a:solidFill>
                <a:latin typeface="Calibri" panose="020F0502020204030204" pitchFamily="34" charset="0"/>
              </a:rPr>
              <a:t>Overview</a:t>
            </a:r>
            <a:endParaRPr lang="en-US" dirty="0">
              <a:solidFill>
                <a:srgbClr val="3380E6"/>
              </a:solidFill>
              <a:latin typeface="Calibri" panose="020F050202020403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200" y="846139"/>
            <a:ext cx="8001000" cy="5565510"/>
          </a:xfrm>
          <a:prstGeom prst="rect">
            <a:avLst/>
          </a:prstGeom>
        </p:spPr>
      </p:pic>
      <p:sp>
        <p:nvSpPr>
          <p:cNvPr id="3" name="Slayt Numarası Yer Tutucusu 2">
            <a:extLst>
              <a:ext uri="{FF2B5EF4-FFF2-40B4-BE49-F238E27FC236}">
                <a16:creationId xmlns:a16="http://schemas.microsoft.com/office/drawing/2014/main" id="{EDA50377-28CD-4618-BE34-7906D8FBA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045B3-A81F-4B14-96F5-518F075FBA4B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83988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solidFill>
                  <a:srgbClr val="24B5A1"/>
                </a:solidFill>
                <a:latin typeface="Calibri" panose="020F0502020204030204" pitchFamily="34" charset="0"/>
              </a:rPr>
              <a:t>12.1  </a:t>
            </a:r>
            <a:r>
              <a:rPr lang="en-US" dirty="0">
                <a:solidFill>
                  <a:srgbClr val="3380E6"/>
                </a:solidFill>
                <a:latin typeface="Calibri" panose="020F0502020204030204" pitchFamily="34" charset="0"/>
              </a:rPr>
              <a:t>Introduction</a:t>
            </a:r>
          </a:p>
        </p:txBody>
      </p:sp>
      <p:sp>
        <p:nvSpPr>
          <p:cNvPr id="14339" name="Text Placeholder 2"/>
          <p:cNvSpPr>
            <a:spLocks noGrp="1"/>
          </p:cNvSpPr>
          <p:nvPr>
            <p:ph type="body" idx="1"/>
          </p:nvPr>
        </p:nvSpPr>
        <p:spPr>
          <a:xfrm>
            <a:off x="609600" y="1143000"/>
            <a:ext cx="10972800" cy="5334000"/>
          </a:xfrm>
        </p:spPr>
        <p:txBody>
          <a:bodyPr>
            <a:normAutofit fontScale="85000" lnSpcReduction="20000"/>
          </a:bodyPr>
          <a:lstStyle/>
          <a:p>
            <a:pPr eaLnBrk="1" hangingPunct="1">
              <a:lnSpc>
                <a:spcPct val="140000"/>
              </a:lnSpc>
            </a:pPr>
            <a:r>
              <a:rPr lang="en-US" altLang="en-US" sz="2800" dirty="0">
                <a:solidFill>
                  <a:srgbClr val="000000"/>
                </a:solidFill>
                <a:latin typeface="Cambria" panose="02040503050406030204" pitchFamily="18" charset="0"/>
              </a:rPr>
              <a:t>We</a:t>
            </a:r>
            <a:r>
              <a:rPr lang="tr-TR" altLang="en-US" sz="2800" dirty="0">
                <a:solidFill>
                  <a:srgbClr val="000000"/>
                </a:solidFill>
                <a:latin typeface="Cambria" panose="02040503050406030204" pitchFamily="18" charset="0"/>
              </a:rPr>
              <a:t> hav</a:t>
            </a:r>
            <a:r>
              <a:rPr lang="en-US" altLang="en-US" sz="2800" dirty="0">
                <a:solidFill>
                  <a:srgbClr val="000000"/>
                </a:solidFill>
                <a:latin typeface="Cambria" panose="02040503050406030204" pitchFamily="18" charset="0"/>
              </a:rPr>
              <a:t>e studied fixed-size data structures such as </a:t>
            </a:r>
            <a:r>
              <a:rPr lang="en-US" altLang="en-US" sz="2800" i="1" dirty="0">
                <a:solidFill>
                  <a:srgbClr val="000000"/>
                </a:solidFill>
                <a:latin typeface="Cambria" panose="02040503050406030204" pitchFamily="18" charset="0"/>
              </a:rPr>
              <a:t>arrays</a:t>
            </a:r>
            <a:r>
              <a:rPr lang="en-US" altLang="en-US" sz="2800" dirty="0">
                <a:solidFill>
                  <a:srgbClr val="000000"/>
                </a:solidFill>
                <a:latin typeface="Cambria" panose="02040503050406030204" pitchFamily="18" charset="0"/>
              </a:rPr>
              <a:t> and </a:t>
            </a:r>
            <a:r>
              <a:rPr lang="en-US" altLang="en-US" sz="2800" i="1" dirty="0">
                <a:solidFill>
                  <a:srgbClr val="000000"/>
                </a:solidFill>
                <a:latin typeface="Consolas" panose="020B0609020204030204" pitchFamily="49" charset="0"/>
              </a:rPr>
              <a:t>struct</a:t>
            </a:r>
            <a:r>
              <a:rPr lang="en-US" altLang="en-US" sz="2800" i="1" dirty="0">
                <a:solidFill>
                  <a:srgbClr val="000000"/>
                </a:solidFill>
                <a:latin typeface="Cambria" panose="02040503050406030204" pitchFamily="18" charset="0"/>
              </a:rPr>
              <a:t>s</a:t>
            </a:r>
            <a:r>
              <a:rPr lang="en-US" altLang="en-US" sz="2800" dirty="0">
                <a:solidFill>
                  <a:srgbClr val="000000"/>
                </a:solidFill>
                <a:latin typeface="Cambria" panose="02040503050406030204" pitchFamily="18" charset="0"/>
              </a:rPr>
              <a:t>.</a:t>
            </a:r>
          </a:p>
          <a:p>
            <a:pPr lvl="3">
              <a:lnSpc>
                <a:spcPct val="140000"/>
              </a:lnSpc>
            </a:pPr>
            <a:endParaRPr lang="tr-TR" altLang="en-US" sz="1200" dirty="0">
              <a:solidFill>
                <a:srgbClr val="000000"/>
              </a:solidFill>
              <a:latin typeface="Cambria" panose="02040503050406030204" pitchFamily="18" charset="0"/>
            </a:endParaRPr>
          </a:p>
          <a:p>
            <a:pPr eaLnBrk="1" hangingPunct="1">
              <a:lnSpc>
                <a:spcPct val="140000"/>
              </a:lnSpc>
            </a:pPr>
            <a:r>
              <a:rPr lang="en-US" altLang="en-US" sz="2800" dirty="0">
                <a:solidFill>
                  <a:srgbClr val="000000"/>
                </a:solidFill>
                <a:latin typeface="Cambria" panose="02040503050406030204" pitchFamily="18" charset="0"/>
              </a:rPr>
              <a:t>This lecture introduces </a:t>
            </a:r>
            <a:r>
              <a:rPr lang="en-US" altLang="en-US" sz="2800" dirty="0">
                <a:solidFill>
                  <a:srgbClr val="0000FF"/>
                </a:solidFill>
                <a:latin typeface="Cambria" panose="02040503050406030204" pitchFamily="18" charset="0"/>
              </a:rPr>
              <a:t>dynamic</a:t>
            </a:r>
            <a:r>
              <a:rPr lang="en-US" altLang="en-US" sz="2800" dirty="0">
                <a:solidFill>
                  <a:srgbClr val="000000"/>
                </a:solidFill>
                <a:latin typeface="Cambria" panose="02040503050406030204" pitchFamily="18" charset="0"/>
              </a:rPr>
              <a:t> </a:t>
            </a:r>
            <a:r>
              <a:rPr lang="en-US" altLang="en-US" sz="2800" dirty="0">
                <a:solidFill>
                  <a:srgbClr val="0000FF"/>
                </a:solidFill>
                <a:latin typeface="Cambria" panose="02040503050406030204" pitchFamily="18" charset="0"/>
              </a:rPr>
              <a:t>data structures</a:t>
            </a:r>
            <a:r>
              <a:rPr lang="en-US" altLang="en-US" sz="2800" dirty="0">
                <a:solidFill>
                  <a:srgbClr val="000000"/>
                </a:solidFill>
                <a:latin typeface="Cambria" panose="02040503050406030204" pitchFamily="18" charset="0"/>
              </a:rPr>
              <a:t> with sizes that grow and shrink at execution time.</a:t>
            </a:r>
          </a:p>
          <a:p>
            <a:pPr lvl="1" eaLnBrk="1" hangingPunct="1">
              <a:lnSpc>
                <a:spcPct val="140000"/>
              </a:lnSpc>
            </a:pPr>
            <a:r>
              <a:rPr lang="en-US" altLang="en-US" sz="2400" dirty="0">
                <a:solidFill>
                  <a:srgbClr val="0000FF"/>
                </a:solidFill>
                <a:latin typeface="Cambria" panose="02040503050406030204" pitchFamily="18" charset="0"/>
              </a:rPr>
              <a:t>Linked lists</a:t>
            </a:r>
            <a:r>
              <a:rPr lang="en-US" altLang="en-US" sz="2400" dirty="0">
                <a:solidFill>
                  <a:srgbClr val="000000"/>
                </a:solidFill>
                <a:latin typeface="Cambria" panose="02040503050406030204" pitchFamily="18" charset="0"/>
              </a:rPr>
              <a:t> are collections of data items “lined up in a row”—insertions and deletions are made </a:t>
            </a:r>
            <a:r>
              <a:rPr lang="en-US" altLang="en-US" sz="2400" i="1" dirty="0">
                <a:solidFill>
                  <a:srgbClr val="000000"/>
                </a:solidFill>
                <a:latin typeface="Cambria" panose="02040503050406030204" pitchFamily="18" charset="0"/>
              </a:rPr>
              <a:t>anywhere</a:t>
            </a:r>
            <a:r>
              <a:rPr lang="en-US" altLang="en-US" sz="2400" dirty="0">
                <a:solidFill>
                  <a:srgbClr val="000000"/>
                </a:solidFill>
                <a:latin typeface="Cambria" panose="02040503050406030204" pitchFamily="18" charset="0"/>
              </a:rPr>
              <a:t> in a linked list.</a:t>
            </a:r>
          </a:p>
          <a:p>
            <a:pPr lvl="1" eaLnBrk="1" hangingPunct="1">
              <a:lnSpc>
                <a:spcPct val="140000"/>
              </a:lnSpc>
            </a:pPr>
            <a:r>
              <a:rPr lang="en-US" altLang="en-US" sz="2400" dirty="0">
                <a:solidFill>
                  <a:srgbClr val="0000FF"/>
                </a:solidFill>
                <a:latin typeface="Cambria" panose="02040503050406030204" pitchFamily="18" charset="0"/>
              </a:rPr>
              <a:t>Stacks</a:t>
            </a:r>
            <a:r>
              <a:rPr lang="en-US" altLang="en-US" sz="2400" dirty="0">
                <a:solidFill>
                  <a:srgbClr val="000000"/>
                </a:solidFill>
                <a:latin typeface="Cambria" panose="02040503050406030204" pitchFamily="18" charset="0"/>
              </a:rPr>
              <a:t> are important in compilers and operating systems—insertions and deletions are made </a:t>
            </a:r>
            <a:r>
              <a:rPr lang="en-US" altLang="en-US" sz="2400" i="1" dirty="0">
                <a:solidFill>
                  <a:srgbClr val="000000"/>
                </a:solidFill>
                <a:latin typeface="Cambria" panose="02040503050406030204" pitchFamily="18" charset="0"/>
              </a:rPr>
              <a:t>only at one end </a:t>
            </a:r>
            <a:r>
              <a:rPr lang="en-US" altLang="en-US" sz="2400" dirty="0">
                <a:solidFill>
                  <a:srgbClr val="000000"/>
                </a:solidFill>
                <a:latin typeface="Cambria" panose="02040503050406030204" pitchFamily="18" charset="0"/>
              </a:rPr>
              <a:t>of a stack—its </a:t>
            </a:r>
            <a:r>
              <a:rPr lang="en-US" altLang="en-US" sz="2400" dirty="0">
                <a:solidFill>
                  <a:srgbClr val="0000FF"/>
                </a:solidFill>
                <a:latin typeface="Cambria" panose="02040503050406030204" pitchFamily="18" charset="0"/>
              </a:rPr>
              <a:t>top</a:t>
            </a:r>
            <a:r>
              <a:rPr lang="en-US" altLang="en-US" sz="2400" dirty="0">
                <a:solidFill>
                  <a:srgbClr val="000000"/>
                </a:solidFill>
                <a:latin typeface="Cambria" panose="02040503050406030204" pitchFamily="18" charset="0"/>
              </a:rPr>
              <a:t>.</a:t>
            </a:r>
            <a:endParaRPr lang="tr-TR" altLang="en-US" sz="2400" dirty="0">
              <a:solidFill>
                <a:srgbClr val="000000"/>
              </a:solidFill>
              <a:latin typeface="Cambria" panose="02040503050406030204" pitchFamily="18" charset="0"/>
            </a:endParaRPr>
          </a:p>
          <a:p>
            <a:pPr lvl="1">
              <a:lnSpc>
                <a:spcPct val="140000"/>
              </a:lnSpc>
            </a:pPr>
            <a:r>
              <a:rPr lang="en-US" altLang="en-US" sz="2400" dirty="0">
                <a:solidFill>
                  <a:srgbClr val="0000FF"/>
                </a:solidFill>
                <a:latin typeface="Cambria" panose="02040503050406030204" pitchFamily="18" charset="0"/>
              </a:rPr>
              <a:t>Queues</a:t>
            </a:r>
            <a:r>
              <a:rPr lang="en-US" altLang="en-US" sz="2400" dirty="0">
                <a:solidFill>
                  <a:srgbClr val="000000"/>
                </a:solidFill>
                <a:latin typeface="Cambria" panose="02040503050406030204" pitchFamily="18" charset="0"/>
              </a:rPr>
              <a:t> represent waiting lines; insertions are made </a:t>
            </a:r>
            <a:r>
              <a:rPr lang="en-US" altLang="en-US" sz="2400" i="1" dirty="0">
                <a:solidFill>
                  <a:srgbClr val="000000"/>
                </a:solidFill>
                <a:latin typeface="Cambria" panose="02040503050406030204" pitchFamily="18" charset="0"/>
              </a:rPr>
              <a:t>only at the back</a:t>
            </a:r>
            <a:r>
              <a:rPr lang="en-US" altLang="en-US" sz="2400" dirty="0">
                <a:solidFill>
                  <a:srgbClr val="000000"/>
                </a:solidFill>
                <a:latin typeface="Cambria" panose="02040503050406030204" pitchFamily="18" charset="0"/>
              </a:rPr>
              <a:t> (also referred to as the </a:t>
            </a:r>
            <a:r>
              <a:rPr lang="en-US" altLang="en-US" sz="2400" dirty="0">
                <a:solidFill>
                  <a:srgbClr val="0000FF"/>
                </a:solidFill>
                <a:latin typeface="Cambria" panose="02040503050406030204" pitchFamily="18" charset="0"/>
              </a:rPr>
              <a:t>tail</a:t>
            </a:r>
            <a:r>
              <a:rPr lang="en-US" altLang="en-US" sz="2400" dirty="0">
                <a:solidFill>
                  <a:srgbClr val="000000"/>
                </a:solidFill>
                <a:latin typeface="Cambria" panose="02040503050406030204" pitchFamily="18" charset="0"/>
              </a:rPr>
              <a:t>) of a queue and deletions are made </a:t>
            </a:r>
            <a:r>
              <a:rPr lang="en-US" altLang="en-US" sz="2400" i="1" dirty="0">
                <a:solidFill>
                  <a:srgbClr val="000000"/>
                </a:solidFill>
                <a:latin typeface="Cambria" panose="02040503050406030204" pitchFamily="18" charset="0"/>
              </a:rPr>
              <a:t>only from the front</a:t>
            </a:r>
            <a:r>
              <a:rPr lang="en-US" altLang="en-US" sz="2400" dirty="0">
                <a:solidFill>
                  <a:srgbClr val="000000"/>
                </a:solidFill>
                <a:latin typeface="Cambria" panose="02040503050406030204" pitchFamily="18" charset="0"/>
              </a:rPr>
              <a:t> (also referred to as the </a:t>
            </a:r>
            <a:r>
              <a:rPr lang="en-US" altLang="en-US" sz="2400" dirty="0">
                <a:solidFill>
                  <a:srgbClr val="0000FF"/>
                </a:solidFill>
                <a:latin typeface="Cambria" panose="02040503050406030204" pitchFamily="18" charset="0"/>
              </a:rPr>
              <a:t>head</a:t>
            </a:r>
            <a:r>
              <a:rPr lang="en-US" altLang="en-US" sz="2400" dirty="0">
                <a:solidFill>
                  <a:srgbClr val="000000"/>
                </a:solidFill>
                <a:latin typeface="Cambria" panose="02040503050406030204" pitchFamily="18" charset="0"/>
              </a:rPr>
              <a:t>) of a queue.</a:t>
            </a:r>
          </a:p>
          <a:p>
            <a:pPr lvl="3">
              <a:lnSpc>
                <a:spcPct val="140000"/>
              </a:lnSpc>
            </a:pPr>
            <a:endParaRPr lang="tr-TR" altLang="en-US" sz="1200" dirty="0">
              <a:solidFill>
                <a:srgbClr val="000000"/>
              </a:solidFill>
              <a:latin typeface="Cambria" panose="02040503050406030204" pitchFamily="18" charset="0"/>
            </a:endParaRPr>
          </a:p>
          <a:p>
            <a:pPr>
              <a:lnSpc>
                <a:spcPct val="140000"/>
              </a:lnSpc>
            </a:pPr>
            <a:r>
              <a:rPr lang="en-US" altLang="en-US" sz="2800" dirty="0">
                <a:solidFill>
                  <a:srgbClr val="000000"/>
                </a:solidFill>
                <a:latin typeface="Cambria" panose="02040503050406030204" pitchFamily="18" charset="0"/>
              </a:rPr>
              <a:t>Each of these data structures has many other interesting applications.</a:t>
            </a:r>
          </a:p>
        </p:txBody>
      </p:sp>
      <p:sp>
        <p:nvSpPr>
          <p:cNvPr id="3" name="Slayt Numarası Yer Tutucusu 2">
            <a:extLst>
              <a:ext uri="{FF2B5EF4-FFF2-40B4-BE49-F238E27FC236}">
                <a16:creationId xmlns:a16="http://schemas.microsoft.com/office/drawing/2014/main" id="{7F2D1BE3-225E-4486-AF00-42CAD8C707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045B3-A81F-4B14-96F5-518F075FBA4B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82697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noProof="1">
                <a:solidFill>
                  <a:srgbClr val="24B5A1"/>
                </a:solidFill>
                <a:latin typeface="Calibri" panose="020F0502020204030204" pitchFamily="34" charset="0"/>
              </a:rPr>
              <a:t>12.2  </a:t>
            </a:r>
            <a:r>
              <a:rPr lang="en-US" noProof="1">
                <a:solidFill>
                  <a:srgbClr val="3380E6"/>
                </a:solidFill>
                <a:latin typeface="Calibri" panose="020F0502020204030204" pitchFamily="34" charset="0"/>
              </a:rPr>
              <a:t>Self-Referential Structures</a:t>
            </a:r>
          </a:p>
        </p:txBody>
      </p:sp>
      <p:sp>
        <p:nvSpPr>
          <p:cNvPr id="17411" name="Text Placeholder 2"/>
          <p:cNvSpPr>
            <a:spLocks noGrp="1"/>
          </p:cNvSpPr>
          <p:nvPr>
            <p:ph type="body" idx="1"/>
          </p:nvPr>
        </p:nvSpPr>
        <p:spPr>
          <a:xfrm>
            <a:off x="609600" y="1295401"/>
            <a:ext cx="10972800" cy="4830764"/>
          </a:xfrm>
        </p:spPr>
        <p:txBody>
          <a:bodyPr>
            <a:normAutofit fontScale="92500" lnSpcReduction="10000"/>
          </a:bodyPr>
          <a:lstStyle/>
          <a:p>
            <a:pPr eaLnBrk="1" hangingPunct="1"/>
            <a:r>
              <a:rPr lang="en-US" altLang="en-US" sz="2800" noProof="1">
                <a:solidFill>
                  <a:srgbClr val="000000"/>
                </a:solidFill>
                <a:latin typeface="Cambria" panose="02040503050406030204" pitchFamily="18" charset="0"/>
              </a:rPr>
              <a:t>Recall that a </a:t>
            </a:r>
            <a:r>
              <a:rPr lang="en-US" altLang="en-US" sz="2800" i="1" noProof="1">
                <a:latin typeface="Cambria" panose="02040503050406030204" pitchFamily="18" charset="0"/>
              </a:rPr>
              <a:t>self-referential structure </a:t>
            </a:r>
            <a:r>
              <a:rPr lang="en-US" altLang="en-US" sz="2800" noProof="1">
                <a:solidFill>
                  <a:srgbClr val="000000"/>
                </a:solidFill>
                <a:latin typeface="Cambria" panose="02040503050406030204" pitchFamily="18" charset="0"/>
              </a:rPr>
              <a:t>contains a pointer member that points to a structure of the </a:t>
            </a:r>
            <a:r>
              <a:rPr lang="en-US" altLang="en-US" sz="2800" i="1" noProof="1">
                <a:solidFill>
                  <a:srgbClr val="000000"/>
                </a:solidFill>
                <a:latin typeface="Cambria" panose="02040503050406030204" pitchFamily="18" charset="0"/>
              </a:rPr>
              <a:t>same</a:t>
            </a:r>
            <a:r>
              <a:rPr lang="en-US" altLang="en-US" sz="2800" noProof="1">
                <a:solidFill>
                  <a:srgbClr val="000000"/>
                </a:solidFill>
                <a:latin typeface="Cambria" panose="02040503050406030204" pitchFamily="18" charset="0"/>
              </a:rPr>
              <a:t> structure type.</a:t>
            </a:r>
          </a:p>
          <a:p>
            <a:pPr eaLnBrk="1" hangingPunct="1"/>
            <a:endParaRPr lang="en-US" altLang="en-US" sz="2800" noProof="1">
              <a:solidFill>
                <a:srgbClr val="000000"/>
              </a:solidFill>
              <a:latin typeface="Cambria" panose="02040503050406030204" pitchFamily="18" charset="0"/>
            </a:endParaRPr>
          </a:p>
          <a:p>
            <a:pPr eaLnBrk="1" hangingPunct="1"/>
            <a:r>
              <a:rPr lang="en-US" altLang="en-US" sz="2800" noProof="1">
                <a:solidFill>
                  <a:srgbClr val="000000"/>
                </a:solidFill>
                <a:latin typeface="Cambria" panose="02040503050406030204" pitchFamily="18" charset="0"/>
              </a:rPr>
              <a:t>For example, the definition</a:t>
            </a:r>
          </a:p>
          <a:p>
            <a:pPr marL="914400" lvl="2" indent="0">
              <a:buNone/>
            </a:pPr>
            <a:r>
              <a:rPr lang="en-US" altLang="en-US" sz="2000" b="1" noProof="1">
                <a:solidFill>
                  <a:srgbClr val="0000FF"/>
                </a:solidFill>
                <a:latin typeface="Consolas" panose="020B0609020204030204" pitchFamily="49" charset="0"/>
              </a:rPr>
              <a:t>struct</a:t>
            </a:r>
            <a:r>
              <a:rPr lang="en-US" altLang="en-US" sz="2000" b="1" noProof="1">
                <a:solidFill>
                  <a:srgbClr val="000000"/>
                </a:solidFill>
                <a:latin typeface="Consolas" panose="020B0609020204030204" pitchFamily="49" charset="0"/>
              </a:rPr>
              <a:t> node {         </a:t>
            </a:r>
            <a:br>
              <a:rPr lang="en-US" altLang="en-US" sz="2000" b="1" noProof="1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sz="2000" b="1" noProof="1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en-US" altLang="en-US" sz="2000" b="1" noProof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altLang="en-US" sz="2000" b="1" noProof="1">
                <a:solidFill>
                  <a:srgbClr val="000000"/>
                </a:solidFill>
                <a:latin typeface="Consolas" panose="020B0609020204030204" pitchFamily="49" charset="0"/>
              </a:rPr>
              <a:t> data;</a:t>
            </a:r>
            <a:br>
              <a:rPr lang="en-US" altLang="en-US" sz="2000" b="1" noProof="1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sz="2000" b="1" noProof="1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en-US" altLang="en-US" sz="2000" b="1" noProof="1">
                <a:solidFill>
                  <a:srgbClr val="0000FF"/>
                </a:solidFill>
                <a:latin typeface="Consolas" panose="020B0609020204030204" pitchFamily="49" charset="0"/>
              </a:rPr>
              <a:t>struct</a:t>
            </a:r>
            <a:r>
              <a:rPr lang="en-US" altLang="en-US" sz="2000" b="1" noProof="1">
                <a:solidFill>
                  <a:srgbClr val="000000"/>
                </a:solidFill>
                <a:latin typeface="Consolas" panose="020B0609020204030204" pitchFamily="49" charset="0"/>
              </a:rPr>
              <a:t> node *nextPtr;</a:t>
            </a:r>
            <a:br>
              <a:rPr lang="en-US" altLang="en-US" sz="2000" b="1" noProof="1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sz="2000" b="1" noProof="1">
                <a:solidFill>
                  <a:srgbClr val="000000"/>
                </a:solidFill>
                <a:latin typeface="Consolas" panose="020B0609020204030204" pitchFamily="49" charset="0"/>
              </a:rPr>
              <a:t>}; </a:t>
            </a:r>
            <a:endParaRPr lang="en-US" altLang="en-US" sz="2000" b="1" noProof="1">
              <a:solidFill>
                <a:srgbClr val="00B050"/>
              </a:solidFill>
              <a:latin typeface="Consolas" panose="020B0609020204030204" pitchFamily="49" charset="0"/>
            </a:endParaRPr>
          </a:p>
          <a:p>
            <a:pPr eaLnBrk="1" hangingPunct="1">
              <a:buFont typeface="Wingdings 3" panose="05040102010807070707" pitchFamily="18" charset="2"/>
              <a:buNone/>
            </a:pPr>
            <a:r>
              <a:rPr lang="en-US" altLang="en-US" sz="2800" noProof="1">
                <a:solidFill>
                  <a:srgbClr val="000000"/>
                </a:solidFill>
                <a:latin typeface="Cambria" panose="02040503050406030204" pitchFamily="18" charset="0"/>
              </a:rPr>
              <a:t>	defines a type, </a:t>
            </a:r>
            <a:r>
              <a:rPr lang="en-US" altLang="en-US" sz="2800" noProof="1">
                <a:solidFill>
                  <a:srgbClr val="000000"/>
                </a:solidFill>
                <a:latin typeface="Consolas" panose="020B0609020204030204" pitchFamily="49" charset="0"/>
              </a:rPr>
              <a:t>struct</a:t>
            </a:r>
            <a:r>
              <a:rPr lang="en-US" altLang="en-US" sz="2800" noProof="1">
                <a:solidFill>
                  <a:srgbClr val="000000"/>
                </a:solidFill>
                <a:latin typeface="Cambria" panose="02040503050406030204" pitchFamily="18" charset="0"/>
              </a:rPr>
              <a:t> </a:t>
            </a:r>
            <a:r>
              <a:rPr lang="en-US" altLang="en-US" sz="2800" noProof="1">
                <a:solidFill>
                  <a:srgbClr val="000000"/>
                </a:solidFill>
                <a:latin typeface="Consolas" panose="020B0609020204030204" pitchFamily="49" charset="0"/>
              </a:rPr>
              <a:t>node</a:t>
            </a:r>
            <a:r>
              <a:rPr lang="en-US" altLang="en-US" sz="2800" noProof="1">
                <a:solidFill>
                  <a:srgbClr val="000000"/>
                </a:solidFill>
                <a:latin typeface="Cambria" panose="02040503050406030204" pitchFamily="18" charset="0"/>
              </a:rPr>
              <a:t>.</a:t>
            </a:r>
          </a:p>
          <a:p>
            <a:pPr eaLnBrk="1" hangingPunct="1"/>
            <a:endParaRPr lang="en-US" altLang="en-US" sz="2800" noProof="1">
              <a:solidFill>
                <a:srgbClr val="000000"/>
              </a:solidFill>
              <a:latin typeface="Cambria" panose="02040503050406030204" pitchFamily="18" charset="0"/>
            </a:endParaRPr>
          </a:p>
          <a:p>
            <a:pPr eaLnBrk="1" hangingPunct="1"/>
            <a:r>
              <a:rPr lang="en-US" altLang="en-US" sz="2800" noProof="1">
                <a:solidFill>
                  <a:srgbClr val="000000"/>
                </a:solidFill>
                <a:latin typeface="Cambria" panose="02040503050406030204" pitchFamily="18" charset="0"/>
              </a:rPr>
              <a:t>A structure of type </a:t>
            </a:r>
            <a:r>
              <a:rPr lang="en-US" altLang="en-US" sz="2800" noProof="1">
                <a:solidFill>
                  <a:srgbClr val="000000"/>
                </a:solidFill>
                <a:latin typeface="Consolas" panose="020B0609020204030204" pitchFamily="49" charset="0"/>
              </a:rPr>
              <a:t>struct</a:t>
            </a:r>
            <a:r>
              <a:rPr lang="en-US" altLang="en-US" sz="2800" noProof="1">
                <a:solidFill>
                  <a:srgbClr val="000000"/>
                </a:solidFill>
                <a:latin typeface="Cambria" panose="02040503050406030204" pitchFamily="18" charset="0"/>
              </a:rPr>
              <a:t> </a:t>
            </a:r>
            <a:r>
              <a:rPr lang="en-US" altLang="en-US" sz="2800" noProof="1">
                <a:solidFill>
                  <a:srgbClr val="000000"/>
                </a:solidFill>
                <a:latin typeface="Consolas" panose="020B0609020204030204" pitchFamily="49" charset="0"/>
              </a:rPr>
              <a:t>node</a:t>
            </a:r>
            <a:r>
              <a:rPr lang="en-US" altLang="en-US" sz="2800" noProof="1">
                <a:solidFill>
                  <a:srgbClr val="000000"/>
                </a:solidFill>
                <a:latin typeface="Cambria" panose="02040503050406030204" pitchFamily="18" charset="0"/>
              </a:rPr>
              <a:t> has two members—integer member </a:t>
            </a:r>
            <a:r>
              <a:rPr lang="en-US" altLang="en-US" sz="2800" noProof="1">
                <a:solidFill>
                  <a:srgbClr val="000000"/>
                </a:solidFill>
                <a:latin typeface="Consolas" panose="020B0609020204030204" pitchFamily="49" charset="0"/>
              </a:rPr>
              <a:t>data</a:t>
            </a:r>
            <a:r>
              <a:rPr lang="en-US" altLang="en-US" sz="2800" noProof="1">
                <a:solidFill>
                  <a:srgbClr val="000000"/>
                </a:solidFill>
                <a:latin typeface="Cambria" panose="02040503050406030204" pitchFamily="18" charset="0"/>
              </a:rPr>
              <a:t> and pointer member </a:t>
            </a:r>
            <a:r>
              <a:rPr lang="en-US" altLang="en-US" sz="2800" noProof="1">
                <a:solidFill>
                  <a:srgbClr val="000000"/>
                </a:solidFill>
                <a:latin typeface="Consolas" panose="020B0609020204030204" pitchFamily="49" charset="0"/>
              </a:rPr>
              <a:t>nextPtr</a:t>
            </a:r>
            <a:r>
              <a:rPr lang="en-US" altLang="en-US" sz="2800" noProof="1">
                <a:solidFill>
                  <a:srgbClr val="000000"/>
                </a:solidFill>
                <a:latin typeface="Cambria" panose="02040503050406030204" pitchFamily="18" charset="0"/>
              </a:rPr>
              <a:t>.</a:t>
            </a:r>
          </a:p>
        </p:txBody>
      </p:sp>
      <p:sp>
        <p:nvSpPr>
          <p:cNvPr id="3" name="Slayt Numarası Yer Tutucusu 2">
            <a:extLst>
              <a:ext uri="{FF2B5EF4-FFF2-40B4-BE49-F238E27FC236}">
                <a16:creationId xmlns:a16="http://schemas.microsoft.com/office/drawing/2014/main" id="{DB11B53D-A173-488D-A643-653D71139B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045B3-A81F-4B14-96F5-518F075FBA4B}" type="slidenum">
              <a:rPr lang="en-US" noProof="1" smtClean="0"/>
              <a:pPr/>
              <a:t>4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11220545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noProof="1">
                <a:solidFill>
                  <a:srgbClr val="24B5A1"/>
                </a:solidFill>
                <a:latin typeface="Calibri" panose="020F0502020204030204" pitchFamily="34" charset="0"/>
              </a:rPr>
              <a:t>12.2  </a:t>
            </a:r>
            <a:r>
              <a:rPr lang="en-US" noProof="1">
                <a:solidFill>
                  <a:srgbClr val="3380E6"/>
                </a:solidFill>
                <a:latin typeface="Calibri" panose="020F0502020204030204" pitchFamily="34" charset="0"/>
              </a:rPr>
              <a:t>Self-Referential Structures (Cont.)</a:t>
            </a:r>
          </a:p>
        </p:txBody>
      </p:sp>
      <p:sp>
        <p:nvSpPr>
          <p:cNvPr id="18435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sz="2400" b="1" noProof="1">
                <a:solidFill>
                  <a:srgbClr val="000000"/>
                </a:solidFill>
                <a:latin typeface="Consolas" panose="020B0609020204030204" pitchFamily="49" charset="0"/>
              </a:rPr>
              <a:t>nextPtr</a:t>
            </a:r>
            <a:r>
              <a:rPr lang="en-US" altLang="en-US" sz="2400" noProof="1">
                <a:solidFill>
                  <a:srgbClr val="000000"/>
                </a:solidFill>
                <a:latin typeface="Cambria" panose="02040503050406030204" pitchFamily="18" charset="0"/>
              </a:rPr>
              <a:t> </a:t>
            </a:r>
          </a:p>
          <a:p>
            <a:pPr lvl="1"/>
            <a:r>
              <a:rPr lang="en-US" altLang="en-US" sz="2400" noProof="1">
                <a:solidFill>
                  <a:srgbClr val="000000"/>
                </a:solidFill>
                <a:latin typeface="Cambria" panose="02040503050406030204" pitchFamily="18" charset="0"/>
              </a:rPr>
              <a:t>points to a structure of type </a:t>
            </a:r>
            <a:r>
              <a:rPr lang="en-US" altLang="en-US" sz="2400" noProof="1">
                <a:solidFill>
                  <a:srgbClr val="000000"/>
                </a:solidFill>
                <a:latin typeface="Consolas" panose="020B0609020204030204" pitchFamily="49" charset="0"/>
              </a:rPr>
              <a:t>struct</a:t>
            </a:r>
            <a:r>
              <a:rPr lang="en-US" altLang="en-US" sz="2400" noProof="1">
                <a:solidFill>
                  <a:srgbClr val="000000"/>
                </a:solidFill>
                <a:latin typeface="Cambria" panose="02040503050406030204" pitchFamily="18" charset="0"/>
              </a:rPr>
              <a:t> </a:t>
            </a:r>
            <a:r>
              <a:rPr lang="en-US" altLang="en-US" sz="2400" noProof="1">
                <a:solidFill>
                  <a:srgbClr val="000000"/>
                </a:solidFill>
                <a:latin typeface="Consolas" panose="020B0609020204030204" pitchFamily="49" charset="0"/>
              </a:rPr>
              <a:t>node</a:t>
            </a:r>
          </a:p>
          <a:p>
            <a:pPr lvl="1"/>
            <a:r>
              <a:rPr lang="en-US" altLang="en-US" sz="2400" noProof="1">
                <a:solidFill>
                  <a:srgbClr val="000000"/>
                </a:solidFill>
                <a:latin typeface="Cambria" panose="02040503050406030204" pitchFamily="18" charset="0"/>
              </a:rPr>
              <a:t>referred to as a</a:t>
            </a:r>
            <a:r>
              <a:rPr lang="en-US" altLang="en-US" sz="2400" i="1" noProof="1">
                <a:solidFill>
                  <a:srgbClr val="000000"/>
                </a:solidFill>
                <a:latin typeface="Cambria" panose="02040503050406030204" pitchFamily="18" charset="0"/>
              </a:rPr>
              <a:t> </a:t>
            </a:r>
            <a:r>
              <a:rPr lang="en-US" altLang="en-US" sz="2400" noProof="1">
                <a:solidFill>
                  <a:srgbClr val="0000FF"/>
                </a:solidFill>
                <a:latin typeface="Cambria" panose="02040503050406030204" pitchFamily="18" charset="0"/>
              </a:rPr>
              <a:t>link</a:t>
            </a:r>
            <a:endParaRPr lang="en-US" altLang="en-US" sz="2400" noProof="1">
              <a:solidFill>
                <a:srgbClr val="000000"/>
              </a:solidFill>
              <a:latin typeface="Cambria" panose="02040503050406030204" pitchFamily="18" charset="0"/>
            </a:endParaRPr>
          </a:p>
          <a:p>
            <a:pPr lvl="2"/>
            <a:r>
              <a:rPr lang="en-US" altLang="en-US" sz="2000" noProof="1">
                <a:solidFill>
                  <a:srgbClr val="000000"/>
                </a:solidFill>
                <a:latin typeface="Cambria" panose="02040503050406030204" pitchFamily="18" charset="0"/>
              </a:rPr>
              <a:t>Ties a </a:t>
            </a:r>
            <a:r>
              <a:rPr lang="en-US" altLang="en-US" sz="2000" noProof="1">
                <a:solidFill>
                  <a:srgbClr val="000000"/>
                </a:solidFill>
                <a:latin typeface="Consolas" panose="020B0609020204030204" pitchFamily="49" charset="0"/>
              </a:rPr>
              <a:t>node</a:t>
            </a:r>
            <a:r>
              <a:rPr lang="en-US" altLang="en-US" sz="2000" noProof="1">
                <a:solidFill>
                  <a:srgbClr val="000000"/>
                </a:solidFill>
                <a:latin typeface="Cambria" panose="02040503050406030204" pitchFamily="18" charset="0"/>
              </a:rPr>
              <a:t> to another </a:t>
            </a:r>
            <a:r>
              <a:rPr lang="en-US" altLang="en-US" sz="2000" noProof="1">
                <a:solidFill>
                  <a:srgbClr val="000000"/>
                </a:solidFill>
                <a:latin typeface="Consolas" panose="020B0609020204030204" pitchFamily="49" charset="0"/>
              </a:rPr>
              <a:t>node</a:t>
            </a:r>
            <a:r>
              <a:rPr lang="en-US" altLang="en-US" sz="2000" i="1" noProof="1">
                <a:solidFill>
                  <a:srgbClr val="000000"/>
                </a:solidFill>
                <a:latin typeface="Cambria" panose="02040503050406030204" pitchFamily="18" charset="0"/>
              </a:rPr>
              <a:t>.</a:t>
            </a:r>
          </a:p>
          <a:p>
            <a:pPr eaLnBrk="1" hangingPunct="1"/>
            <a:endParaRPr lang="en-US" altLang="en-US" sz="2400" i="1" noProof="1">
              <a:solidFill>
                <a:srgbClr val="000000"/>
              </a:solidFill>
              <a:latin typeface="Cambria" panose="02040503050406030204" pitchFamily="18" charset="0"/>
            </a:endParaRPr>
          </a:p>
          <a:p>
            <a:pPr eaLnBrk="1" hangingPunct="1"/>
            <a:r>
              <a:rPr lang="en-US" altLang="en-US" sz="2400" noProof="1">
                <a:solidFill>
                  <a:srgbClr val="000000"/>
                </a:solidFill>
                <a:latin typeface="Cambria" panose="02040503050406030204" pitchFamily="18" charset="0"/>
              </a:rPr>
              <a:t>Self-referential structures can be </a:t>
            </a:r>
            <a:r>
              <a:rPr lang="en-US" altLang="en-US" sz="2400" i="1" noProof="1">
                <a:solidFill>
                  <a:srgbClr val="000000"/>
                </a:solidFill>
                <a:latin typeface="Cambria" panose="02040503050406030204" pitchFamily="18" charset="0"/>
              </a:rPr>
              <a:t>linked</a:t>
            </a:r>
            <a:r>
              <a:rPr lang="en-US" altLang="en-US" sz="2400" noProof="1">
                <a:solidFill>
                  <a:srgbClr val="000000"/>
                </a:solidFill>
                <a:latin typeface="Cambria" panose="02040503050406030204" pitchFamily="18" charset="0"/>
              </a:rPr>
              <a:t> together to form useful data structures such as lists, queues and stacks.</a:t>
            </a:r>
          </a:p>
        </p:txBody>
      </p:sp>
      <p:sp>
        <p:nvSpPr>
          <p:cNvPr id="3" name="Slayt Numarası Yer Tutucusu 2">
            <a:extLst>
              <a:ext uri="{FF2B5EF4-FFF2-40B4-BE49-F238E27FC236}">
                <a16:creationId xmlns:a16="http://schemas.microsoft.com/office/drawing/2014/main" id="{FD03CE58-0185-45A6-978D-293A0D1360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045B3-A81F-4B14-96F5-518F075FBA4B}" type="slidenum">
              <a:rPr lang="en-US" noProof="1" smtClean="0"/>
              <a:pPr/>
              <a:t>5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7420111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dirty="0">
                <a:solidFill>
                  <a:srgbClr val="24B5A1"/>
                </a:solidFill>
                <a:latin typeface="Calibri" panose="020F0502020204030204" pitchFamily="34" charset="0"/>
              </a:rPr>
              <a:t>12.2  </a:t>
            </a:r>
            <a:r>
              <a:rPr lang="en-US" dirty="0">
                <a:solidFill>
                  <a:srgbClr val="3380E6"/>
                </a:solidFill>
                <a:latin typeface="Calibri" panose="020F0502020204030204" pitchFamily="34" charset="0"/>
              </a:rPr>
              <a:t>Self-Referential Structures (Cont.)</a:t>
            </a:r>
          </a:p>
        </p:txBody>
      </p:sp>
      <p:sp>
        <p:nvSpPr>
          <p:cNvPr id="19459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 sz="2000" dirty="0">
                <a:solidFill>
                  <a:srgbClr val="000000"/>
                </a:solidFill>
                <a:latin typeface="Cambria" panose="02040503050406030204" pitchFamily="18" charset="0"/>
              </a:rPr>
              <a:t>Figure 12.1 illustrates two self-referential structure objects linked together to form a list.</a:t>
            </a:r>
          </a:p>
          <a:p>
            <a:pPr eaLnBrk="1" hangingPunct="1">
              <a:lnSpc>
                <a:spcPct val="90000"/>
              </a:lnSpc>
            </a:pPr>
            <a:endParaRPr lang="tr-TR" altLang="en-US" sz="2000" dirty="0">
              <a:solidFill>
                <a:srgbClr val="000000"/>
              </a:solidFill>
              <a:latin typeface="Cambria" panose="02040503050406030204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en-US" sz="2000" dirty="0">
                <a:solidFill>
                  <a:srgbClr val="000000"/>
                </a:solidFill>
                <a:latin typeface="Cambria" panose="02040503050406030204" pitchFamily="18" charset="0"/>
              </a:rPr>
              <a:t>A </a:t>
            </a:r>
            <a:r>
              <a:rPr lang="en-US" alt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NULL</a:t>
            </a:r>
            <a:r>
              <a:rPr lang="en-US" altLang="en-US" sz="2000" dirty="0">
                <a:solidFill>
                  <a:srgbClr val="000000"/>
                </a:solidFill>
                <a:latin typeface="Cambria" panose="02040503050406030204" pitchFamily="18" charset="0"/>
              </a:rPr>
              <a:t> pointer normally indicates the end of a data structure just as the null character indicates the end of a string.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3601" y="3429000"/>
            <a:ext cx="8372475" cy="1485900"/>
          </a:xfrm>
          <a:prstGeom prst="rect">
            <a:avLst/>
          </a:prstGeom>
        </p:spPr>
      </p:pic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512ABA76-20E2-41FB-971B-1F8A06D93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045B3-A81F-4B14-96F5-518F075FBA4B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09451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solidFill>
                  <a:srgbClr val="24B5A1"/>
                </a:solidFill>
                <a:latin typeface="Calibri" panose="020F0502020204030204" pitchFamily="34" charset="0"/>
              </a:rPr>
              <a:t>12.3  </a:t>
            </a:r>
            <a:r>
              <a:rPr lang="en-US" dirty="0">
                <a:solidFill>
                  <a:srgbClr val="3380E6"/>
                </a:solidFill>
                <a:latin typeface="Calibri" panose="020F0502020204030204" pitchFamily="34" charset="0"/>
              </a:rPr>
              <a:t>Dynamic Memory Allocation</a:t>
            </a:r>
          </a:p>
        </p:txBody>
      </p:sp>
      <p:sp>
        <p:nvSpPr>
          <p:cNvPr id="22531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500" dirty="0">
                <a:solidFill>
                  <a:srgbClr val="0000FF"/>
                </a:solidFill>
                <a:latin typeface="Cambria" panose="02040503050406030204" pitchFamily="18" charset="0"/>
              </a:rPr>
              <a:t>Dynamic Memory Allocation</a:t>
            </a:r>
            <a:endParaRPr lang="en-US" altLang="en-US" sz="2500" dirty="0">
              <a:solidFill>
                <a:srgbClr val="000000"/>
              </a:solidFill>
              <a:latin typeface="Cambria" panose="02040503050406030204" pitchFamily="18" charset="0"/>
            </a:endParaRPr>
          </a:p>
          <a:p>
            <a:pPr lvl="1">
              <a:lnSpc>
                <a:spcPct val="90000"/>
              </a:lnSpc>
            </a:pPr>
            <a:r>
              <a:rPr lang="en-US" altLang="en-US" sz="2100" dirty="0">
                <a:solidFill>
                  <a:srgbClr val="000000"/>
                </a:solidFill>
                <a:latin typeface="Cambria" panose="02040503050406030204" pitchFamily="18" charset="0"/>
              </a:rPr>
              <a:t>the ability for a program to </a:t>
            </a:r>
            <a:r>
              <a:rPr lang="en-US" altLang="en-US" sz="2100" i="1" dirty="0">
                <a:solidFill>
                  <a:srgbClr val="000000"/>
                </a:solidFill>
                <a:latin typeface="Cambria" panose="02040503050406030204" pitchFamily="18" charset="0"/>
              </a:rPr>
              <a:t>obtain more memory space at execution time </a:t>
            </a:r>
            <a:r>
              <a:rPr lang="en-US" altLang="en-US" sz="2100" dirty="0">
                <a:solidFill>
                  <a:srgbClr val="000000"/>
                </a:solidFill>
                <a:latin typeface="Cambria" panose="02040503050406030204" pitchFamily="18" charset="0"/>
              </a:rPr>
              <a:t>to hold new nodes, and to </a:t>
            </a:r>
            <a:r>
              <a:rPr lang="en-US" altLang="en-US" sz="2100" i="1" dirty="0">
                <a:solidFill>
                  <a:srgbClr val="000000"/>
                </a:solidFill>
                <a:latin typeface="Cambria" panose="02040503050406030204" pitchFamily="18" charset="0"/>
              </a:rPr>
              <a:t>release space no longer needed</a:t>
            </a:r>
            <a:r>
              <a:rPr lang="en-US" altLang="en-US" sz="2100" dirty="0">
                <a:solidFill>
                  <a:srgbClr val="000000"/>
                </a:solidFill>
                <a:latin typeface="Cambria" panose="02040503050406030204" pitchFamily="18" charset="0"/>
              </a:rPr>
              <a:t>.</a:t>
            </a:r>
          </a:p>
          <a:p>
            <a:pPr eaLnBrk="1" hangingPunct="1">
              <a:lnSpc>
                <a:spcPct val="90000"/>
              </a:lnSpc>
            </a:pPr>
            <a:endParaRPr lang="en-US" altLang="en-US" sz="2500" dirty="0">
              <a:solidFill>
                <a:srgbClr val="000000"/>
              </a:solidFill>
              <a:latin typeface="Cambria" panose="02040503050406030204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en-US" sz="2500" dirty="0">
                <a:solidFill>
                  <a:srgbClr val="000000"/>
                </a:solidFill>
                <a:latin typeface="Cambria" panose="02040503050406030204" pitchFamily="18" charset="0"/>
              </a:rPr>
              <a:t>Functions </a:t>
            </a:r>
            <a:r>
              <a:rPr lang="en-US" altLang="en-US" sz="2500" dirty="0">
                <a:solidFill>
                  <a:srgbClr val="0000FF"/>
                </a:solidFill>
                <a:latin typeface="Consolas" panose="020B0609020204030204" pitchFamily="49" charset="0"/>
              </a:rPr>
              <a:t>malloc</a:t>
            </a:r>
            <a:r>
              <a:rPr lang="en-US" altLang="en-US" sz="2500" dirty="0">
                <a:solidFill>
                  <a:srgbClr val="000000"/>
                </a:solidFill>
                <a:latin typeface="Cambria" panose="02040503050406030204" pitchFamily="18" charset="0"/>
              </a:rPr>
              <a:t> and</a:t>
            </a:r>
            <a:r>
              <a:rPr lang="en-US" altLang="en-US" sz="2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en-US" sz="2500" dirty="0">
                <a:solidFill>
                  <a:srgbClr val="0000FF"/>
                </a:solidFill>
                <a:latin typeface="Consolas" panose="020B0609020204030204" pitchFamily="49" charset="0"/>
              </a:rPr>
              <a:t>free</a:t>
            </a:r>
            <a:r>
              <a:rPr lang="en-US" altLang="en-US" sz="2500" dirty="0">
                <a:solidFill>
                  <a:srgbClr val="000000"/>
                </a:solidFill>
                <a:latin typeface="Cambria" panose="02040503050406030204" pitchFamily="18" charset="0"/>
              </a:rPr>
              <a:t>, and operator </a:t>
            </a:r>
            <a:r>
              <a:rPr lang="en-US" altLang="en-US" sz="2500" dirty="0">
                <a:solidFill>
                  <a:srgbClr val="0000FF"/>
                </a:solidFill>
                <a:latin typeface="Consolas" panose="020B0609020204030204" pitchFamily="49" charset="0"/>
              </a:rPr>
              <a:t>sizeof</a:t>
            </a:r>
            <a:r>
              <a:rPr lang="en-US" altLang="en-US" sz="2500" dirty="0">
                <a:solidFill>
                  <a:srgbClr val="000000"/>
                </a:solidFill>
                <a:latin typeface="Cambria" panose="02040503050406030204" pitchFamily="18" charset="0"/>
              </a:rPr>
              <a:t>, are essential to dynamic memory allocation.</a:t>
            </a:r>
          </a:p>
        </p:txBody>
      </p:sp>
      <p:sp>
        <p:nvSpPr>
          <p:cNvPr id="3" name="Slayt Numarası Yer Tutucusu 2">
            <a:extLst>
              <a:ext uri="{FF2B5EF4-FFF2-40B4-BE49-F238E27FC236}">
                <a16:creationId xmlns:a16="http://schemas.microsoft.com/office/drawing/2014/main" id="{362F5E4E-D8DF-4310-9D82-EDC2752550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045B3-A81F-4B14-96F5-518F075FBA4B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02525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noProof="1">
                <a:solidFill>
                  <a:srgbClr val="24B5A1"/>
                </a:solidFill>
                <a:latin typeface="Calibri" panose="020F0502020204030204" pitchFamily="34" charset="0"/>
              </a:rPr>
              <a:t>12.3  </a:t>
            </a:r>
            <a:r>
              <a:rPr lang="en-US" noProof="1">
                <a:solidFill>
                  <a:srgbClr val="3380E6"/>
                </a:solidFill>
                <a:latin typeface="Calibri" panose="020F0502020204030204" pitchFamily="34" charset="0"/>
              </a:rPr>
              <a:t>Dynamic Memory Allocation (Cont.)</a:t>
            </a:r>
          </a:p>
        </p:txBody>
      </p:sp>
      <p:sp>
        <p:nvSpPr>
          <p:cNvPr id="23555" name="Text Placeholder 2"/>
          <p:cNvSpPr>
            <a:spLocks noGrp="1"/>
          </p:cNvSpPr>
          <p:nvPr>
            <p:ph type="body" idx="1"/>
          </p:nvPr>
        </p:nvSpPr>
        <p:spPr>
          <a:xfrm>
            <a:off x="1219200" y="1295400"/>
            <a:ext cx="9296400" cy="5105399"/>
          </a:xfrm>
        </p:spPr>
        <p:txBody>
          <a:bodyPr>
            <a:normAutofit lnSpcReduction="10000"/>
          </a:bodyPr>
          <a:lstStyle/>
          <a:p>
            <a:r>
              <a:rPr lang="en-US" altLang="en-US" sz="2400" b="1" noProof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 * malloc (int size)</a:t>
            </a:r>
          </a:p>
          <a:p>
            <a:pPr lvl="1"/>
            <a:r>
              <a:rPr lang="en-US" altLang="en-US" sz="2400" noProof="1">
                <a:solidFill>
                  <a:srgbClr val="000000"/>
                </a:solidFill>
                <a:latin typeface="Cambria" panose="02040503050406030204" pitchFamily="18" charset="0"/>
              </a:rPr>
              <a:t>takes as an argument the number of bytes to be allocated</a:t>
            </a:r>
          </a:p>
          <a:p>
            <a:pPr lvl="2"/>
            <a:r>
              <a:rPr lang="en-US" altLang="en-US" sz="1800" noProof="1">
                <a:solidFill>
                  <a:srgbClr val="000000"/>
                </a:solidFill>
                <a:latin typeface="Cambria" panose="02040503050406030204" pitchFamily="18" charset="0"/>
              </a:rPr>
              <a:t>Use </a:t>
            </a:r>
            <a:r>
              <a:rPr lang="en-US" altLang="en-US" sz="1800" b="1" noProof="1">
                <a:latin typeface="Courier New" panose="02070309020205020404" pitchFamily="49" charset="0"/>
              </a:rPr>
              <a:t>sizeof</a:t>
            </a:r>
            <a:r>
              <a:rPr lang="en-US" altLang="en-US" sz="1800" noProof="1">
                <a:solidFill>
                  <a:srgbClr val="000000"/>
                </a:solidFill>
                <a:latin typeface="Cambria" panose="02040503050406030204" pitchFamily="18" charset="0"/>
              </a:rPr>
              <a:t> to determine the size of an object</a:t>
            </a:r>
          </a:p>
          <a:p>
            <a:pPr lvl="3"/>
            <a:endParaRPr lang="en-US" altLang="en-US" sz="1000" noProof="1">
              <a:solidFill>
                <a:srgbClr val="000000"/>
              </a:solidFill>
              <a:latin typeface="Cambria" panose="02040503050406030204" pitchFamily="18" charset="0"/>
            </a:endParaRPr>
          </a:p>
          <a:p>
            <a:pPr lvl="1"/>
            <a:r>
              <a:rPr lang="en-US" altLang="en-US" sz="2400" noProof="1">
                <a:solidFill>
                  <a:srgbClr val="000000"/>
                </a:solidFill>
                <a:latin typeface="Cambria" panose="02040503050406030204" pitchFamily="18" charset="0"/>
              </a:rPr>
              <a:t>returns a pointer of type </a:t>
            </a:r>
            <a:r>
              <a:rPr lang="en-US" altLang="en-US" sz="2400" noProof="1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altLang="en-US" sz="2400" noProof="1">
                <a:solidFill>
                  <a:srgbClr val="0000FF"/>
                </a:solidFill>
                <a:latin typeface="Cambria" panose="02040503050406030204" pitchFamily="18" charset="0"/>
              </a:rPr>
              <a:t> </a:t>
            </a:r>
            <a:r>
              <a:rPr lang="en-US" altLang="en-US" sz="2400" noProof="1">
                <a:solidFill>
                  <a:srgbClr val="0000FF"/>
                </a:solidFill>
                <a:latin typeface="Consolas" panose="020B0609020204030204" pitchFamily="49" charset="0"/>
              </a:rPr>
              <a:t>*</a:t>
            </a:r>
            <a:r>
              <a:rPr lang="en-US" altLang="en-US" sz="2400" noProof="1">
                <a:solidFill>
                  <a:srgbClr val="000000"/>
                </a:solidFill>
                <a:latin typeface="Cambria" panose="02040503050406030204" pitchFamily="18" charset="0"/>
              </a:rPr>
              <a:t> (</a:t>
            </a:r>
            <a:r>
              <a:rPr lang="en-US" altLang="en-US" sz="2400" noProof="1">
                <a:solidFill>
                  <a:srgbClr val="0000FF"/>
                </a:solidFill>
                <a:latin typeface="Cambria" panose="02040503050406030204" pitchFamily="18" charset="0"/>
              </a:rPr>
              <a:t>pointer to void</a:t>
            </a:r>
            <a:r>
              <a:rPr lang="en-US" altLang="en-US" sz="2400" noProof="1">
                <a:solidFill>
                  <a:srgbClr val="000000"/>
                </a:solidFill>
                <a:latin typeface="Cambria" panose="02040503050406030204" pitchFamily="18" charset="0"/>
              </a:rPr>
              <a:t>)</a:t>
            </a:r>
            <a:r>
              <a:rPr lang="en-US" altLang="en-US" sz="2400" noProof="1">
                <a:solidFill>
                  <a:srgbClr val="0000FF"/>
                </a:solidFill>
                <a:latin typeface="Cambria" panose="02040503050406030204" pitchFamily="18" charset="0"/>
              </a:rPr>
              <a:t> 	</a:t>
            </a:r>
          </a:p>
          <a:p>
            <a:pPr lvl="2"/>
            <a:r>
              <a:rPr lang="en-US" altLang="en-US" sz="2000" noProof="1">
                <a:solidFill>
                  <a:srgbClr val="000000"/>
                </a:solidFill>
                <a:latin typeface="Consolas" panose="020B0609020204030204" pitchFamily="49" charset="0"/>
              </a:rPr>
              <a:t>void</a:t>
            </a:r>
            <a:r>
              <a:rPr lang="en-US" altLang="en-US" sz="2000" noProof="1">
                <a:solidFill>
                  <a:srgbClr val="000000"/>
                </a:solidFill>
                <a:latin typeface="Cambria" panose="02040503050406030204" pitchFamily="18" charset="0"/>
              </a:rPr>
              <a:t> </a:t>
            </a:r>
            <a:r>
              <a:rPr lang="en-US" altLang="en-US" sz="2000" noProof="1">
                <a:solidFill>
                  <a:srgbClr val="000000"/>
                </a:solidFill>
                <a:latin typeface="Consolas" panose="020B0609020204030204" pitchFamily="49" charset="0"/>
              </a:rPr>
              <a:t>*</a:t>
            </a:r>
            <a:r>
              <a:rPr lang="en-US" altLang="en-US" sz="2000" noProof="1">
                <a:solidFill>
                  <a:srgbClr val="000000"/>
                </a:solidFill>
                <a:latin typeface="Cambria" panose="02040503050406030204" pitchFamily="18" charset="0"/>
              </a:rPr>
              <a:t> pointer may be assigned to </a:t>
            </a:r>
            <a:r>
              <a:rPr lang="en-US" altLang="en-US" sz="2000" i="1" noProof="1">
                <a:solidFill>
                  <a:srgbClr val="000000"/>
                </a:solidFill>
                <a:latin typeface="Cambria" panose="02040503050406030204" pitchFamily="18" charset="0"/>
              </a:rPr>
              <a:t>any</a:t>
            </a:r>
            <a:r>
              <a:rPr lang="en-US" altLang="en-US" sz="2000" noProof="1">
                <a:solidFill>
                  <a:srgbClr val="000000"/>
                </a:solidFill>
                <a:latin typeface="Cambria" panose="02040503050406030204" pitchFamily="18" charset="0"/>
              </a:rPr>
              <a:t> pointer type.</a:t>
            </a:r>
          </a:p>
          <a:p>
            <a:pPr lvl="3"/>
            <a:endParaRPr lang="en-US" altLang="en-US" sz="1000" noProof="1">
              <a:solidFill>
                <a:srgbClr val="0000FF"/>
              </a:solidFill>
              <a:latin typeface="Cambria" panose="02040503050406030204" pitchFamily="18" charset="0"/>
            </a:endParaRPr>
          </a:p>
          <a:p>
            <a:pPr lvl="1"/>
            <a:r>
              <a:rPr lang="en-US" altLang="en-US" sz="2400" noProof="1">
                <a:latin typeface="Cambria" panose="02040503050406030204" pitchFamily="18" charset="0"/>
              </a:rPr>
              <a:t>Example:</a:t>
            </a:r>
          </a:p>
          <a:p>
            <a:pPr marL="457200" lvl="1" indent="0">
              <a:buNone/>
            </a:pPr>
            <a:r>
              <a:rPr lang="en-US" sz="2400" noProof="1">
                <a:solidFill>
                  <a:srgbClr val="000000"/>
                </a:solidFill>
                <a:latin typeface="Consolas" panose="020B0609020204030204" pitchFamily="49" charset="0"/>
              </a:rPr>
              <a:t>    newPtr = malloc(</a:t>
            </a:r>
            <a:r>
              <a:rPr lang="en-US" sz="2400" b="1" noProof="1">
                <a:solidFill>
                  <a:srgbClr val="0000FF"/>
                </a:solidFill>
                <a:latin typeface="Consolas" panose="020B0609020204030204" pitchFamily="49" charset="0"/>
              </a:rPr>
              <a:t>sizeof</a:t>
            </a:r>
            <a:r>
              <a:rPr lang="en-US" sz="2400" b="1" noProof="1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400" b="1" noProof="1">
                <a:solidFill>
                  <a:srgbClr val="0000FF"/>
                </a:solidFill>
                <a:latin typeface="Consolas" panose="020B0609020204030204" pitchFamily="49" charset="0"/>
              </a:rPr>
              <a:t>struct</a:t>
            </a:r>
            <a:r>
              <a:rPr lang="en-US" sz="2400" b="1" noProof="1">
                <a:solidFill>
                  <a:srgbClr val="000000"/>
                </a:solidFill>
                <a:latin typeface="Consolas" panose="020B0609020204030204" pitchFamily="49" charset="0"/>
              </a:rPr>
              <a:t> node));</a:t>
            </a:r>
            <a:endParaRPr lang="en-US" altLang="en-US" sz="2400" noProof="1">
              <a:solidFill>
                <a:srgbClr val="0000FF"/>
              </a:solidFill>
              <a:latin typeface="Cambria" panose="02040503050406030204" pitchFamily="18" charset="0"/>
            </a:endParaRPr>
          </a:p>
          <a:p>
            <a:pPr lvl="2"/>
            <a:endParaRPr lang="en-US" altLang="en-US" noProof="1">
              <a:solidFill>
                <a:srgbClr val="000000"/>
              </a:solidFill>
              <a:latin typeface="Cambria" panose="02040503050406030204" pitchFamily="18" charset="0"/>
            </a:endParaRPr>
          </a:p>
          <a:p>
            <a:pPr>
              <a:defRPr/>
            </a:pPr>
            <a:r>
              <a:rPr lang="en-US" sz="2800" noProof="1">
                <a:solidFill>
                  <a:srgbClr val="000000"/>
                </a:solidFill>
                <a:latin typeface="Cambria" panose="02040503050406030204" pitchFamily="18" charset="0"/>
              </a:rPr>
              <a:t>The allocated memory is </a:t>
            </a:r>
            <a:r>
              <a:rPr lang="en-US" sz="2800" i="1" noProof="1">
                <a:solidFill>
                  <a:srgbClr val="000000"/>
                </a:solidFill>
                <a:latin typeface="Cambria" panose="02040503050406030204" pitchFamily="18" charset="0"/>
              </a:rPr>
              <a:t>not</a:t>
            </a:r>
            <a:r>
              <a:rPr lang="en-US" sz="2800" noProof="1">
                <a:solidFill>
                  <a:srgbClr val="000000"/>
                </a:solidFill>
                <a:latin typeface="Cambria" panose="02040503050406030204" pitchFamily="18" charset="0"/>
              </a:rPr>
              <a:t> initialized.</a:t>
            </a:r>
          </a:p>
          <a:p>
            <a:pPr>
              <a:defRPr/>
            </a:pPr>
            <a:endParaRPr lang="en-US" sz="2800" noProof="1">
              <a:solidFill>
                <a:srgbClr val="000000"/>
              </a:solidFill>
              <a:latin typeface="Cambria" panose="02040503050406030204" pitchFamily="18" charset="0"/>
            </a:endParaRPr>
          </a:p>
          <a:p>
            <a:pPr>
              <a:defRPr/>
            </a:pPr>
            <a:r>
              <a:rPr lang="en-US" sz="2800" noProof="1">
                <a:solidFill>
                  <a:srgbClr val="000000"/>
                </a:solidFill>
                <a:latin typeface="Cambria" panose="02040503050406030204" pitchFamily="18" charset="0"/>
              </a:rPr>
              <a:t>If no memory is available, </a:t>
            </a:r>
            <a:r>
              <a:rPr lang="en-US" sz="2800" noProof="1">
                <a:solidFill>
                  <a:srgbClr val="000000"/>
                </a:solidFill>
                <a:latin typeface="Consolas" panose="020B0609020204030204" pitchFamily="49" charset="0"/>
              </a:rPr>
              <a:t>malloc</a:t>
            </a:r>
            <a:r>
              <a:rPr lang="en-US" sz="2800" noProof="1">
                <a:solidFill>
                  <a:srgbClr val="000000"/>
                </a:solidFill>
                <a:latin typeface="Cambria" panose="02040503050406030204" pitchFamily="18" charset="0"/>
              </a:rPr>
              <a:t> returns </a:t>
            </a:r>
            <a:r>
              <a:rPr lang="en-US" sz="2800" noProof="1">
                <a:solidFill>
                  <a:srgbClr val="000000"/>
                </a:solidFill>
                <a:latin typeface="Consolas" panose="020B0609020204030204" pitchFamily="49" charset="0"/>
              </a:rPr>
              <a:t>NULL</a:t>
            </a:r>
            <a:r>
              <a:rPr lang="en-US" sz="2800" noProof="1">
                <a:solidFill>
                  <a:srgbClr val="000000"/>
                </a:solidFill>
                <a:latin typeface="Cambria" panose="02040503050406030204" pitchFamily="18" charset="0"/>
              </a:rPr>
              <a:t>. </a:t>
            </a:r>
          </a:p>
          <a:p>
            <a:pPr lvl="2"/>
            <a:endParaRPr lang="en-US" altLang="en-US" noProof="1">
              <a:solidFill>
                <a:srgbClr val="000000"/>
              </a:solidFill>
              <a:latin typeface="Cambria" panose="02040503050406030204" pitchFamily="18" charset="0"/>
            </a:endParaRPr>
          </a:p>
        </p:txBody>
      </p:sp>
      <p:sp>
        <p:nvSpPr>
          <p:cNvPr id="3" name="Slayt Numarası Yer Tutucusu 2">
            <a:extLst>
              <a:ext uri="{FF2B5EF4-FFF2-40B4-BE49-F238E27FC236}">
                <a16:creationId xmlns:a16="http://schemas.microsoft.com/office/drawing/2014/main" id="{18C9E1F4-4CDF-40AD-ABD5-9DCE22B613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045B3-A81F-4B14-96F5-518F075FBA4B}" type="slidenum">
              <a:rPr lang="en-US" noProof="1" smtClean="0"/>
              <a:pPr/>
              <a:t>8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10000775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noProof="1">
                <a:solidFill>
                  <a:srgbClr val="24B5A1"/>
                </a:solidFill>
                <a:latin typeface="Calibri" panose="020F0502020204030204" pitchFamily="34" charset="0"/>
              </a:rPr>
              <a:t>12.3  </a:t>
            </a:r>
            <a:r>
              <a:rPr lang="en-US" noProof="1">
                <a:solidFill>
                  <a:srgbClr val="3380E6"/>
                </a:solidFill>
                <a:latin typeface="Calibri" panose="020F0502020204030204" pitchFamily="34" charset="0"/>
              </a:rPr>
              <a:t>Dynamic Memory Allocation (Cont.)</a:t>
            </a:r>
          </a:p>
        </p:txBody>
      </p:sp>
      <p:sp>
        <p:nvSpPr>
          <p:cNvPr id="2560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en-US" sz="2400" b="1" noProof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  free (void *ptr)</a:t>
            </a:r>
          </a:p>
          <a:p>
            <a:pPr lvl="1">
              <a:lnSpc>
                <a:spcPct val="150000"/>
              </a:lnSpc>
            </a:pPr>
            <a:r>
              <a:rPr lang="en-US" altLang="en-US" sz="2000" i="1" noProof="1">
                <a:solidFill>
                  <a:srgbClr val="000000"/>
                </a:solidFill>
                <a:latin typeface="Cambria" panose="02040503050406030204" pitchFamily="18" charset="0"/>
              </a:rPr>
              <a:t>deallocates</a:t>
            </a:r>
            <a:r>
              <a:rPr lang="en-US" altLang="en-US" sz="2000" noProof="1">
                <a:solidFill>
                  <a:srgbClr val="000000"/>
                </a:solidFill>
                <a:latin typeface="Cambria" panose="02040503050406030204" pitchFamily="18" charset="0"/>
              </a:rPr>
              <a:t> memory allocated by </a:t>
            </a:r>
            <a:r>
              <a:rPr lang="en-US" altLang="en-US" sz="2000" noProof="1">
                <a:solidFill>
                  <a:srgbClr val="000000"/>
                </a:solidFill>
                <a:latin typeface="Consolas" panose="020B0609020204030204" pitchFamily="49" charset="0"/>
              </a:rPr>
              <a:t>malloc</a:t>
            </a:r>
            <a:endParaRPr lang="en-US" altLang="en-US" sz="2000" noProof="1">
              <a:solidFill>
                <a:srgbClr val="000000"/>
              </a:solidFill>
              <a:latin typeface="Cambria" panose="02040503050406030204" pitchFamily="18" charset="0"/>
            </a:endParaRPr>
          </a:p>
          <a:p>
            <a:pPr lvl="1">
              <a:lnSpc>
                <a:spcPct val="150000"/>
              </a:lnSpc>
            </a:pPr>
            <a:r>
              <a:rPr lang="en-US" altLang="en-US" sz="2000" noProof="1"/>
              <a:t>Takes a pointer as an argument</a:t>
            </a:r>
          </a:p>
          <a:p>
            <a:pPr lvl="1">
              <a:lnSpc>
                <a:spcPct val="150000"/>
              </a:lnSpc>
            </a:pPr>
            <a:r>
              <a:rPr lang="en-US" altLang="en-US" sz="2000" noProof="1">
                <a:solidFill>
                  <a:srgbClr val="000000"/>
                </a:solidFill>
                <a:latin typeface="Cambria" panose="02040503050406030204" pitchFamily="18" charset="0"/>
              </a:rPr>
              <a:t>Example: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en-US" sz="2000" b="1" noProof="1">
                <a:solidFill>
                  <a:srgbClr val="000000"/>
                </a:solidFill>
                <a:latin typeface="Cambria" panose="02040503050406030204" pitchFamily="18" charset="0"/>
                <a:cs typeface="Courier New" panose="02070309020205020404" pitchFamily="49" charset="0"/>
              </a:rPr>
              <a:t>	</a:t>
            </a:r>
            <a:r>
              <a:rPr lang="en-US" altLang="en-US" sz="1800" b="1" noProof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free(newPtr);</a:t>
            </a:r>
          </a:p>
          <a:p>
            <a:pPr eaLnBrk="1" hangingPunct="1">
              <a:lnSpc>
                <a:spcPct val="150000"/>
              </a:lnSpc>
            </a:pPr>
            <a:endParaRPr lang="en-US" altLang="en-US" sz="2400" noProof="1">
              <a:solidFill>
                <a:srgbClr val="000000"/>
              </a:solidFill>
              <a:latin typeface="Cambria" panose="02040503050406030204" pitchFamily="18" charset="0"/>
            </a:endParaRPr>
          </a:p>
        </p:txBody>
      </p:sp>
      <p:sp>
        <p:nvSpPr>
          <p:cNvPr id="3" name="Slayt Numarası Yer Tutucusu 2">
            <a:extLst>
              <a:ext uri="{FF2B5EF4-FFF2-40B4-BE49-F238E27FC236}">
                <a16:creationId xmlns:a16="http://schemas.microsoft.com/office/drawing/2014/main" id="{E685F9C9-E35E-4839-8556-062F185FB2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</p:spPr>
        <p:txBody>
          <a:bodyPr/>
          <a:lstStyle/>
          <a:p>
            <a:fld id="{7CF045B3-A81F-4B14-96F5-518F075FBA4B}" type="slidenum">
              <a:rPr lang="en-US" noProof="1" smtClean="0"/>
              <a:pPr/>
              <a:t>9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36363396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htp8_12_Page_08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7351" y="152400"/>
            <a:ext cx="8875713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Resim 3">
            <a:extLst>
              <a:ext uri="{FF2B5EF4-FFF2-40B4-BE49-F238E27FC236}">
                <a16:creationId xmlns:a16="http://schemas.microsoft.com/office/drawing/2014/main" id="{CB4E3791-5B60-431A-9AC9-8D2D31523C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8981" y="1851469"/>
            <a:ext cx="8172450" cy="1600200"/>
          </a:xfrm>
          <a:prstGeom prst="rect">
            <a:avLst/>
          </a:prstGeom>
        </p:spPr>
      </p:pic>
      <p:pic>
        <p:nvPicPr>
          <p:cNvPr id="5" name="Resim 4">
            <a:extLst>
              <a:ext uri="{FF2B5EF4-FFF2-40B4-BE49-F238E27FC236}">
                <a16:creationId xmlns:a16="http://schemas.microsoft.com/office/drawing/2014/main" id="{9B1B27E9-6162-40C0-BA0E-AA4C895422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08981" y="3786759"/>
            <a:ext cx="8210550" cy="1095375"/>
          </a:xfrm>
          <a:prstGeom prst="rect">
            <a:avLst/>
          </a:prstGeom>
        </p:spPr>
      </p:pic>
      <p:pic>
        <p:nvPicPr>
          <p:cNvPr id="6" name="Resim 5">
            <a:extLst>
              <a:ext uri="{FF2B5EF4-FFF2-40B4-BE49-F238E27FC236}">
                <a16:creationId xmlns:a16="http://schemas.microsoft.com/office/drawing/2014/main" id="{054F7F33-10F6-466C-98D1-0070529EF61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08982" y="5172075"/>
            <a:ext cx="8277225" cy="1076325"/>
          </a:xfrm>
          <a:prstGeom prst="rect">
            <a:avLst/>
          </a:prstGeom>
        </p:spPr>
      </p:pic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A5DC8776-EE2F-46BF-9184-C42DD90B67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045B3-A81F-4B14-96F5-518F075FBA4B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47136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solidFill>
                  <a:srgbClr val="24B5A1"/>
                </a:solidFill>
                <a:latin typeface="Calibri" panose="020F0502020204030204" pitchFamily="34" charset="0"/>
              </a:rPr>
              <a:t>12.4  </a:t>
            </a:r>
            <a:r>
              <a:rPr lang="en-US" dirty="0">
                <a:solidFill>
                  <a:srgbClr val="3380E6"/>
                </a:solidFill>
                <a:latin typeface="Calibri" panose="020F0502020204030204" pitchFamily="34" charset="0"/>
              </a:rPr>
              <a:t>Linked Lists</a:t>
            </a:r>
          </a:p>
        </p:txBody>
      </p:sp>
      <p:sp>
        <p:nvSpPr>
          <p:cNvPr id="32771" name="Text Placeholder 2"/>
          <p:cNvSpPr>
            <a:spLocks noGrp="1"/>
          </p:cNvSpPr>
          <p:nvPr>
            <p:ph type="body" idx="1"/>
          </p:nvPr>
        </p:nvSpPr>
        <p:spPr>
          <a:xfrm>
            <a:off x="609600" y="1371601"/>
            <a:ext cx="10972800" cy="4754564"/>
          </a:xfrm>
        </p:spPr>
        <p:txBody>
          <a:bodyPr>
            <a:normAutofit/>
          </a:bodyPr>
          <a:lstStyle/>
          <a:p>
            <a:pPr eaLnBrk="1" hangingPunct="1">
              <a:lnSpc>
                <a:spcPct val="150000"/>
              </a:lnSpc>
            </a:pPr>
            <a:r>
              <a:rPr lang="en-US" altLang="en-US" sz="2400" dirty="0">
                <a:solidFill>
                  <a:srgbClr val="0000FF"/>
                </a:solidFill>
                <a:latin typeface="Cambria" panose="02040503050406030204" pitchFamily="18" charset="0"/>
              </a:rPr>
              <a:t>Linked List</a:t>
            </a:r>
          </a:p>
          <a:p>
            <a:pPr lvl="1">
              <a:lnSpc>
                <a:spcPct val="150000"/>
              </a:lnSpc>
            </a:pPr>
            <a:r>
              <a:rPr lang="en-US" altLang="en-US" sz="2400" dirty="0">
                <a:solidFill>
                  <a:srgbClr val="000000"/>
                </a:solidFill>
                <a:latin typeface="Cambria" panose="02040503050406030204" pitchFamily="18" charset="0"/>
              </a:rPr>
              <a:t>a linear collection of self-referential structures, called </a:t>
            </a:r>
            <a:r>
              <a:rPr lang="en-US" altLang="en-US" sz="2400" dirty="0">
                <a:solidFill>
                  <a:srgbClr val="0000FF"/>
                </a:solidFill>
                <a:latin typeface="Cambria" panose="02040503050406030204" pitchFamily="18" charset="0"/>
              </a:rPr>
              <a:t>nodes</a:t>
            </a:r>
            <a:r>
              <a:rPr lang="en-US" altLang="en-US" sz="2400" dirty="0">
                <a:solidFill>
                  <a:srgbClr val="000000"/>
                </a:solidFill>
                <a:latin typeface="Cambria" panose="02040503050406030204" pitchFamily="18" charset="0"/>
              </a:rPr>
              <a:t>, </a:t>
            </a:r>
          </a:p>
          <a:p>
            <a:pPr lvl="1">
              <a:lnSpc>
                <a:spcPct val="150000"/>
              </a:lnSpc>
            </a:pPr>
            <a:r>
              <a:rPr lang="en-US" altLang="en-US" sz="2400" dirty="0">
                <a:solidFill>
                  <a:srgbClr val="000000"/>
                </a:solidFill>
                <a:latin typeface="Cambria" panose="02040503050406030204" pitchFamily="18" charset="0"/>
              </a:rPr>
              <a:t>connected by pointer </a:t>
            </a:r>
            <a:r>
              <a:rPr lang="en-US" altLang="en-US" sz="2400" dirty="0">
                <a:solidFill>
                  <a:srgbClr val="0000FF"/>
                </a:solidFill>
                <a:latin typeface="Cambria" panose="02040503050406030204" pitchFamily="18" charset="0"/>
              </a:rPr>
              <a:t>links</a:t>
            </a:r>
            <a:r>
              <a:rPr lang="en-US" altLang="en-US" sz="2400" dirty="0">
                <a:solidFill>
                  <a:srgbClr val="000000"/>
                </a:solidFill>
                <a:latin typeface="Cambria" panose="02040503050406030204" pitchFamily="18" charset="0"/>
              </a:rPr>
              <a:t>—hence, the term “linked” list.</a:t>
            </a:r>
          </a:p>
          <a:p>
            <a:pPr lvl="1">
              <a:lnSpc>
                <a:spcPct val="150000"/>
              </a:lnSpc>
            </a:pPr>
            <a:r>
              <a:rPr lang="en-US" altLang="en-US" sz="2400" dirty="0">
                <a:solidFill>
                  <a:srgbClr val="000000"/>
                </a:solidFill>
                <a:latin typeface="Cambria" panose="02040503050406030204" pitchFamily="18" charset="0"/>
              </a:rPr>
              <a:t>accessed via a pointer to the first node of the list.</a:t>
            </a:r>
          </a:p>
          <a:p>
            <a:pPr lvl="1">
              <a:lnSpc>
                <a:spcPct val="150000"/>
              </a:lnSpc>
            </a:pPr>
            <a:r>
              <a:rPr lang="en-US" altLang="en-US" sz="2400" dirty="0">
                <a:solidFill>
                  <a:srgbClr val="000000"/>
                </a:solidFill>
                <a:latin typeface="Cambria" panose="02040503050406030204" pitchFamily="18" charset="0"/>
              </a:rPr>
              <a:t>Subsequent nodes are accessed via the link pointer member stored in each node.</a:t>
            </a:r>
          </a:p>
          <a:p>
            <a:pPr lvl="1">
              <a:lnSpc>
                <a:spcPct val="150000"/>
              </a:lnSpc>
            </a:pPr>
            <a:r>
              <a:rPr lang="en-US" altLang="en-US" sz="2400" dirty="0">
                <a:solidFill>
                  <a:srgbClr val="000000"/>
                </a:solidFill>
                <a:latin typeface="Cambria" panose="02040503050406030204" pitchFamily="18" charset="0"/>
              </a:rPr>
              <a:t>Link pointer in the last node of a list is set to </a:t>
            </a:r>
            <a:r>
              <a:rPr lang="en-US" alt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NULL</a:t>
            </a:r>
            <a:r>
              <a:rPr lang="en-US" altLang="en-US" sz="2400" dirty="0">
                <a:solidFill>
                  <a:srgbClr val="000000"/>
                </a:solidFill>
                <a:latin typeface="Cambria" panose="02040503050406030204" pitchFamily="18" charset="0"/>
              </a:rPr>
              <a:t> to mark the end of the list.</a:t>
            </a:r>
          </a:p>
        </p:txBody>
      </p:sp>
      <p:sp>
        <p:nvSpPr>
          <p:cNvPr id="3" name="Slayt Numarası Yer Tutucusu 2">
            <a:extLst>
              <a:ext uri="{FF2B5EF4-FFF2-40B4-BE49-F238E27FC236}">
                <a16:creationId xmlns:a16="http://schemas.microsoft.com/office/drawing/2014/main" id="{22BCBC87-D440-42F4-B900-79F9327E84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045B3-A81F-4B14-96F5-518F075FBA4B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4517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solidFill>
                  <a:srgbClr val="24B5A1"/>
                </a:solidFill>
                <a:latin typeface="Calibri" panose="020F0502020204030204" pitchFamily="34" charset="0"/>
              </a:rPr>
              <a:t>12.4  </a:t>
            </a:r>
            <a:r>
              <a:rPr lang="en-US" dirty="0">
                <a:solidFill>
                  <a:srgbClr val="3380E6"/>
                </a:solidFill>
                <a:latin typeface="Calibri" panose="020F0502020204030204" pitchFamily="34" charset="0"/>
              </a:rPr>
              <a:t>Linked Lists (Cont.)</a:t>
            </a:r>
          </a:p>
        </p:txBody>
      </p:sp>
      <p:sp>
        <p:nvSpPr>
          <p:cNvPr id="32771" name="Text Placeholder 2"/>
          <p:cNvSpPr>
            <a:spLocks noGrp="1"/>
          </p:cNvSpPr>
          <p:nvPr>
            <p:ph type="body" idx="1"/>
          </p:nvPr>
        </p:nvSpPr>
        <p:spPr>
          <a:xfrm>
            <a:off x="914400" y="1417639"/>
            <a:ext cx="10287000" cy="4525963"/>
          </a:xfrm>
        </p:spPr>
        <p:txBody>
          <a:bodyPr>
            <a:normAutofit fontScale="92500"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 sz="2400" dirty="0">
                <a:solidFill>
                  <a:srgbClr val="000000"/>
                </a:solidFill>
                <a:latin typeface="Cambria" panose="02040503050406030204" pitchFamily="18" charset="0"/>
              </a:rPr>
              <a:t>Data is stored in a linked list dynamically—each node is created as necessary.</a:t>
            </a:r>
          </a:p>
          <a:p>
            <a:pPr>
              <a:lnSpc>
                <a:spcPct val="90000"/>
              </a:lnSpc>
            </a:pPr>
            <a:endParaRPr lang="en-US" altLang="en-US" sz="2400" dirty="0">
              <a:solidFill>
                <a:srgbClr val="000000"/>
              </a:solidFill>
              <a:latin typeface="Cambria" panose="02040503050406030204" pitchFamily="18" charset="0"/>
            </a:endParaRPr>
          </a:p>
          <a:p>
            <a:pPr>
              <a:lnSpc>
                <a:spcPct val="90000"/>
              </a:lnSpc>
            </a:pPr>
            <a:r>
              <a:rPr lang="en-US" altLang="en-US" sz="2400" dirty="0">
                <a:solidFill>
                  <a:srgbClr val="000000"/>
                </a:solidFill>
                <a:latin typeface="Cambria" panose="02040503050406030204" pitchFamily="18" charset="0"/>
              </a:rPr>
              <a:t>Lists of data can be stored in arrays, but linked lists provide several advantages.</a:t>
            </a:r>
          </a:p>
          <a:p>
            <a:pPr>
              <a:lnSpc>
                <a:spcPct val="90000"/>
              </a:lnSpc>
            </a:pPr>
            <a:endParaRPr lang="en-US" altLang="en-US" sz="2400" dirty="0">
              <a:solidFill>
                <a:srgbClr val="000000"/>
              </a:solidFill>
              <a:latin typeface="Cambria" panose="02040503050406030204" pitchFamily="18" charset="0"/>
            </a:endParaRPr>
          </a:p>
          <a:p>
            <a:pPr>
              <a:lnSpc>
                <a:spcPct val="90000"/>
              </a:lnSpc>
            </a:pPr>
            <a:r>
              <a:rPr lang="en-US" altLang="en-US" sz="2400" dirty="0">
                <a:solidFill>
                  <a:srgbClr val="000000"/>
                </a:solidFill>
                <a:latin typeface="Cambria" panose="02040503050406030204" pitchFamily="18" charset="0"/>
              </a:rPr>
              <a:t>A linked list is appropriate when the number of data elements is </a:t>
            </a:r>
            <a:r>
              <a:rPr lang="en-US" altLang="en-US" sz="2400" i="1" dirty="0">
                <a:solidFill>
                  <a:srgbClr val="000000"/>
                </a:solidFill>
                <a:latin typeface="Cambria" panose="02040503050406030204" pitchFamily="18" charset="0"/>
              </a:rPr>
              <a:t>unpredictable</a:t>
            </a:r>
            <a:r>
              <a:rPr lang="en-US" altLang="en-US" sz="2400" dirty="0">
                <a:solidFill>
                  <a:srgbClr val="000000"/>
                </a:solidFill>
                <a:latin typeface="Cambria" panose="02040503050406030204" pitchFamily="18" charset="0"/>
              </a:rPr>
              <a:t>.</a:t>
            </a:r>
          </a:p>
          <a:p>
            <a:pPr>
              <a:lnSpc>
                <a:spcPct val="90000"/>
              </a:lnSpc>
            </a:pPr>
            <a:endParaRPr lang="en-US" altLang="en-US" sz="2400" dirty="0">
              <a:solidFill>
                <a:srgbClr val="000000"/>
              </a:solidFill>
              <a:latin typeface="Cambria" panose="02040503050406030204" pitchFamily="18" charset="0"/>
            </a:endParaRPr>
          </a:p>
          <a:p>
            <a:pPr>
              <a:lnSpc>
                <a:spcPct val="90000"/>
              </a:lnSpc>
            </a:pPr>
            <a:r>
              <a:rPr lang="en-US" altLang="en-US" sz="2400" dirty="0">
                <a:solidFill>
                  <a:srgbClr val="000000"/>
                </a:solidFill>
                <a:latin typeface="Cambria" panose="02040503050406030204" pitchFamily="18" charset="0"/>
              </a:rPr>
              <a:t>Linked lists are dynamic, so the length of a list can increase or decrease as necessary.</a:t>
            </a:r>
          </a:p>
          <a:p>
            <a:pPr>
              <a:lnSpc>
                <a:spcPct val="90000"/>
              </a:lnSpc>
            </a:pPr>
            <a:endParaRPr lang="en-US" altLang="en-US" sz="2400" dirty="0">
              <a:solidFill>
                <a:srgbClr val="000000"/>
              </a:solidFill>
              <a:latin typeface="Cambria" panose="02040503050406030204" pitchFamily="18" charset="0"/>
            </a:endParaRPr>
          </a:p>
          <a:p>
            <a:pPr>
              <a:lnSpc>
                <a:spcPct val="90000"/>
              </a:lnSpc>
            </a:pPr>
            <a:r>
              <a:rPr lang="en-US" altLang="en-US" sz="2400" dirty="0">
                <a:solidFill>
                  <a:srgbClr val="000000"/>
                </a:solidFill>
                <a:latin typeface="Cambria" panose="02040503050406030204" pitchFamily="18" charset="0"/>
              </a:rPr>
              <a:t>Linked lists can be maintained in sorted order by inserting each new element at the proper point in the list.</a:t>
            </a:r>
          </a:p>
          <a:p>
            <a:pPr>
              <a:lnSpc>
                <a:spcPct val="90000"/>
              </a:lnSpc>
            </a:pPr>
            <a:endParaRPr lang="en-US" altLang="en-US" sz="2400" dirty="0">
              <a:solidFill>
                <a:srgbClr val="000000"/>
              </a:solidFill>
              <a:latin typeface="Cambria" panose="02040503050406030204" pitchFamily="18" charset="0"/>
            </a:endParaRPr>
          </a:p>
          <a:p>
            <a:pPr>
              <a:lnSpc>
                <a:spcPct val="90000"/>
              </a:lnSpc>
            </a:pPr>
            <a:endParaRPr lang="en-US" altLang="en-US" sz="2400" dirty="0">
              <a:solidFill>
                <a:srgbClr val="000000"/>
              </a:solidFill>
              <a:latin typeface="Cambria" panose="02040503050406030204" pitchFamily="18" charset="0"/>
            </a:endParaRPr>
          </a:p>
          <a:p>
            <a:pPr eaLnBrk="1" hangingPunct="1">
              <a:lnSpc>
                <a:spcPct val="90000"/>
              </a:lnSpc>
            </a:pPr>
            <a:endParaRPr lang="en-US" altLang="en-US" sz="2400" dirty="0">
              <a:solidFill>
                <a:srgbClr val="000000"/>
              </a:solidFill>
              <a:latin typeface="Cambria" panose="02040503050406030204" pitchFamily="18" charset="0"/>
            </a:endParaRPr>
          </a:p>
        </p:txBody>
      </p:sp>
      <p:sp>
        <p:nvSpPr>
          <p:cNvPr id="3" name="Slayt Numarası Yer Tutucusu 2">
            <a:extLst>
              <a:ext uri="{FF2B5EF4-FFF2-40B4-BE49-F238E27FC236}">
                <a16:creationId xmlns:a16="http://schemas.microsoft.com/office/drawing/2014/main" id="{22BCBC87-D440-42F4-B900-79F9327E84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045B3-A81F-4B14-96F5-518F075FBA4B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22520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htp8_12_Page_12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7351" y="457200"/>
            <a:ext cx="8875713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89E39D57-3A1A-422D-A3C2-01A0E9F2E5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045B3-A81F-4B14-96F5-518F075FBA4B}" type="slidenum">
              <a:rPr lang="en-US" smtClean="0"/>
              <a:pPr/>
              <a:t>13</a:t>
            </a:fld>
            <a:endParaRPr lang="en-US"/>
          </a:p>
        </p:txBody>
      </p:sp>
      <p:pic>
        <p:nvPicPr>
          <p:cNvPr id="7" name="Resim 6">
            <a:extLst>
              <a:ext uri="{FF2B5EF4-FFF2-40B4-BE49-F238E27FC236}">
                <a16:creationId xmlns:a16="http://schemas.microsoft.com/office/drawing/2014/main" id="{17F0527A-B3C9-4DCF-A19E-6795C595DD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3744" y="4210050"/>
            <a:ext cx="8162925" cy="1581150"/>
          </a:xfrm>
          <a:prstGeom prst="rect">
            <a:avLst/>
          </a:prstGeom>
        </p:spPr>
      </p:pic>
      <p:pic>
        <p:nvPicPr>
          <p:cNvPr id="8" name="Resim 7">
            <a:extLst>
              <a:ext uri="{FF2B5EF4-FFF2-40B4-BE49-F238E27FC236}">
                <a16:creationId xmlns:a16="http://schemas.microsoft.com/office/drawing/2014/main" id="{8610593B-5656-4105-8227-94E02E4B56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28826" y="2590801"/>
            <a:ext cx="8181975" cy="1133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38211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4565" y="152400"/>
            <a:ext cx="8229600" cy="1143000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rgbClr val="24B5A1"/>
                </a:solidFill>
                <a:latin typeface="Calibri" panose="020F0502020204030204" pitchFamily="34" charset="0"/>
              </a:rPr>
              <a:t>12.4  </a:t>
            </a:r>
            <a:r>
              <a:rPr lang="en-US" dirty="0">
                <a:solidFill>
                  <a:srgbClr val="3380E6"/>
                </a:solidFill>
                <a:latin typeface="Calibri" panose="020F0502020204030204" pitchFamily="34" charset="0"/>
              </a:rPr>
              <a:t>Linked Lists (Cont.)</a:t>
            </a:r>
          </a:p>
        </p:txBody>
      </p:sp>
      <p:sp>
        <p:nvSpPr>
          <p:cNvPr id="39939" name="Text Placeholder 2"/>
          <p:cNvSpPr>
            <a:spLocks noGrp="1"/>
          </p:cNvSpPr>
          <p:nvPr>
            <p:ph type="body" idx="1"/>
          </p:nvPr>
        </p:nvSpPr>
        <p:spPr>
          <a:xfrm>
            <a:off x="1295400" y="1143001"/>
            <a:ext cx="9601200" cy="4678364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2400" dirty="0">
                <a:solidFill>
                  <a:srgbClr val="000000"/>
                </a:solidFill>
                <a:latin typeface="Cambria" panose="02040503050406030204" pitchFamily="18" charset="0"/>
              </a:rPr>
              <a:t>Linked-list nodes are normally </a:t>
            </a:r>
            <a:r>
              <a:rPr lang="en-US" altLang="en-US" sz="2400" i="1" dirty="0">
                <a:solidFill>
                  <a:srgbClr val="000000"/>
                </a:solidFill>
                <a:latin typeface="Cambria" panose="02040503050406030204" pitchFamily="18" charset="0"/>
              </a:rPr>
              <a:t>not</a:t>
            </a:r>
            <a:r>
              <a:rPr lang="en-US" altLang="en-US" sz="2400" dirty="0">
                <a:solidFill>
                  <a:srgbClr val="000000"/>
                </a:solidFill>
                <a:latin typeface="Cambria" panose="02040503050406030204" pitchFamily="18" charset="0"/>
              </a:rPr>
              <a:t> stored contiguously in memory.</a:t>
            </a:r>
          </a:p>
          <a:p>
            <a:pPr eaLnBrk="1" hangingPunct="1"/>
            <a:endParaRPr lang="tr-TR" altLang="en-US" sz="2400" dirty="0">
              <a:solidFill>
                <a:srgbClr val="000000"/>
              </a:solidFill>
              <a:latin typeface="Cambria" panose="02040503050406030204" pitchFamily="18" charset="0"/>
            </a:endParaRPr>
          </a:p>
          <a:p>
            <a:pPr eaLnBrk="1" hangingPunct="1"/>
            <a:r>
              <a:rPr lang="en-US" altLang="en-US" sz="2400" dirty="0">
                <a:solidFill>
                  <a:srgbClr val="000000"/>
                </a:solidFill>
                <a:latin typeface="Cambria" panose="02040503050406030204" pitchFamily="18" charset="0"/>
              </a:rPr>
              <a:t>Logically, however, the nodes of a linked list </a:t>
            </a:r>
            <a:r>
              <a:rPr lang="en-US" altLang="en-US" sz="2400" i="1" dirty="0">
                <a:solidFill>
                  <a:srgbClr val="000000"/>
                </a:solidFill>
                <a:latin typeface="Cambria" panose="02040503050406030204" pitchFamily="18" charset="0"/>
              </a:rPr>
              <a:t>appear</a:t>
            </a:r>
            <a:r>
              <a:rPr lang="en-US" altLang="en-US" sz="2400" dirty="0">
                <a:solidFill>
                  <a:srgbClr val="000000"/>
                </a:solidFill>
                <a:latin typeface="Cambria" panose="02040503050406030204" pitchFamily="18" charset="0"/>
              </a:rPr>
              <a:t> to be contiguous.</a:t>
            </a:r>
          </a:p>
          <a:p>
            <a:pPr eaLnBrk="1" hangingPunct="1"/>
            <a:endParaRPr lang="tr-TR" altLang="en-US" sz="2400" dirty="0">
              <a:solidFill>
                <a:srgbClr val="000000"/>
              </a:solidFill>
              <a:latin typeface="Cambria" panose="02040503050406030204" pitchFamily="18" charset="0"/>
            </a:endParaRPr>
          </a:p>
          <a:p>
            <a:pPr eaLnBrk="1" hangingPunct="1"/>
            <a:r>
              <a:rPr lang="en-US" altLang="en-US" sz="2400" dirty="0">
                <a:solidFill>
                  <a:srgbClr val="000000"/>
                </a:solidFill>
                <a:latin typeface="Cambria" panose="02040503050406030204" pitchFamily="18" charset="0"/>
              </a:rPr>
              <a:t>Figure 12.2 illustrates a linked list with several nodes.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7127" y="3477970"/>
            <a:ext cx="7957038" cy="2770430"/>
          </a:xfrm>
          <a:prstGeom prst="rect">
            <a:avLst/>
          </a:prstGeom>
        </p:spPr>
      </p:pic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A02DECC1-9B4E-444B-8832-BFEEFAF705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045B3-A81F-4B14-96F5-518F075FBA4B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3538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>
            <a:extLst>
              <a:ext uri="{FF2B5EF4-FFF2-40B4-BE49-F238E27FC236}">
                <a16:creationId xmlns:a16="http://schemas.microsoft.com/office/drawing/2014/main" id="{CCAF5414-7EA3-4DB9-91D9-B197B8FD7A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76200"/>
            <a:ext cx="8229600" cy="996946"/>
          </a:xfrm>
        </p:spPr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5" name="Slayt Numarası Yer Tutucusu 4">
            <a:extLst>
              <a:ext uri="{FF2B5EF4-FFF2-40B4-BE49-F238E27FC236}">
                <a16:creationId xmlns:a16="http://schemas.microsoft.com/office/drawing/2014/main" id="{01C14131-809F-42F7-96A1-8FEC1B032F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045B3-A81F-4B14-96F5-518F075FBA4B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7" name="Dikdörtgen 6">
            <a:extLst>
              <a:ext uri="{FF2B5EF4-FFF2-40B4-BE49-F238E27FC236}">
                <a16:creationId xmlns:a16="http://schemas.microsoft.com/office/drawing/2014/main" id="{27735882-3ACB-4F97-A8E8-7FABD158B053}"/>
              </a:ext>
            </a:extLst>
          </p:cNvPr>
          <p:cNvSpPr/>
          <p:nvPr/>
        </p:nvSpPr>
        <p:spPr>
          <a:xfrm>
            <a:off x="2133600" y="853380"/>
            <a:ext cx="8229600" cy="63094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rgbClr val="000000"/>
                </a:solidFill>
                <a:latin typeface="Courier"/>
              </a:rPr>
              <a:t>struct node {</a:t>
            </a:r>
          </a:p>
          <a:p>
            <a:r>
              <a:rPr lang="en-US" sz="1600" b="1" dirty="0">
                <a:solidFill>
                  <a:srgbClr val="000000"/>
                </a:solidFill>
                <a:latin typeface="Courier"/>
              </a:rPr>
              <a:t>    int data;</a:t>
            </a:r>
          </a:p>
          <a:p>
            <a:r>
              <a:rPr lang="en-US" sz="1600" b="1" dirty="0">
                <a:solidFill>
                  <a:srgbClr val="000000"/>
                </a:solidFill>
                <a:latin typeface="Courier"/>
              </a:rPr>
              <a:t>    struct node* next;</a:t>
            </a:r>
          </a:p>
          <a:p>
            <a:r>
              <a:rPr lang="en-US" sz="1600" b="1" dirty="0">
                <a:solidFill>
                  <a:srgbClr val="000000"/>
                </a:solidFill>
                <a:latin typeface="Courier"/>
              </a:rPr>
              <a:t>};</a:t>
            </a:r>
          </a:p>
          <a:p>
            <a:r>
              <a:rPr lang="en-US" sz="1600" b="1" dirty="0">
                <a:solidFill>
                  <a:srgbClr val="000000"/>
                </a:solidFill>
                <a:latin typeface="Courier"/>
              </a:rPr>
              <a:t>struct node* BuildOneTwoThree() {</a:t>
            </a:r>
            <a:br>
              <a:rPr lang="en-US" sz="1600" b="1" dirty="0">
                <a:solidFill>
                  <a:srgbClr val="000000"/>
                </a:solidFill>
                <a:latin typeface="Courier"/>
              </a:rPr>
            </a:br>
            <a:r>
              <a:rPr lang="en-US" sz="1600" b="1" dirty="0">
                <a:solidFill>
                  <a:srgbClr val="000000"/>
                </a:solidFill>
                <a:latin typeface="Courier"/>
              </a:rPr>
              <a:t>  struct node* head = NULL;</a:t>
            </a:r>
            <a:br>
              <a:rPr lang="en-US" sz="1600" b="1" dirty="0">
                <a:solidFill>
                  <a:srgbClr val="000000"/>
                </a:solidFill>
                <a:latin typeface="Courier"/>
              </a:rPr>
            </a:br>
            <a:r>
              <a:rPr lang="en-US" sz="1600" b="1" dirty="0">
                <a:solidFill>
                  <a:srgbClr val="000000"/>
                </a:solidFill>
                <a:latin typeface="Courier"/>
              </a:rPr>
              <a:t>  struct node* second = NULL;</a:t>
            </a:r>
            <a:br>
              <a:rPr lang="en-US" sz="1600" b="1" dirty="0">
                <a:solidFill>
                  <a:srgbClr val="000000"/>
                </a:solidFill>
                <a:latin typeface="Courier"/>
              </a:rPr>
            </a:br>
            <a:r>
              <a:rPr lang="en-US" sz="1600" b="1" dirty="0">
                <a:solidFill>
                  <a:srgbClr val="000000"/>
                </a:solidFill>
                <a:latin typeface="Courier"/>
              </a:rPr>
              <a:t>  struct node* third = NULL;</a:t>
            </a:r>
          </a:p>
          <a:p>
            <a:br>
              <a:rPr lang="en-US" sz="1600" b="1" dirty="0">
                <a:solidFill>
                  <a:srgbClr val="000000"/>
                </a:solidFill>
                <a:latin typeface="Courier"/>
              </a:rPr>
            </a:br>
            <a:r>
              <a:rPr lang="en-US" sz="1600" b="1" dirty="0">
                <a:solidFill>
                  <a:srgbClr val="000000"/>
                </a:solidFill>
                <a:latin typeface="Courier"/>
              </a:rPr>
              <a:t>  head = malloc(sizeof(struct node)); </a:t>
            </a:r>
            <a:br>
              <a:rPr lang="en-US" sz="1600" b="1" dirty="0">
                <a:solidFill>
                  <a:srgbClr val="000000"/>
                </a:solidFill>
                <a:latin typeface="Courier"/>
              </a:rPr>
            </a:br>
            <a:r>
              <a:rPr lang="en-US" sz="1600" b="1" dirty="0">
                <a:solidFill>
                  <a:srgbClr val="000000"/>
                </a:solidFill>
                <a:latin typeface="Courier"/>
              </a:rPr>
              <a:t>  second = malloc(sizeof(struct node));</a:t>
            </a:r>
            <a:br>
              <a:rPr lang="en-US" sz="1600" b="1" dirty="0">
                <a:solidFill>
                  <a:srgbClr val="000000"/>
                </a:solidFill>
                <a:latin typeface="Courier"/>
              </a:rPr>
            </a:br>
            <a:r>
              <a:rPr lang="en-US" sz="1600" b="1" dirty="0">
                <a:solidFill>
                  <a:srgbClr val="000000"/>
                </a:solidFill>
                <a:latin typeface="Courier"/>
              </a:rPr>
              <a:t>  third = malloc(sizeof(struct node));</a:t>
            </a:r>
          </a:p>
          <a:p>
            <a:br>
              <a:rPr lang="en-US" sz="1600" b="1" dirty="0">
                <a:solidFill>
                  <a:srgbClr val="000000"/>
                </a:solidFill>
                <a:latin typeface="Courier"/>
              </a:rPr>
            </a:br>
            <a:r>
              <a:rPr lang="en-US" sz="1600" b="1" dirty="0">
                <a:solidFill>
                  <a:srgbClr val="000000"/>
                </a:solidFill>
                <a:latin typeface="Courier"/>
              </a:rPr>
              <a:t>  head-&gt;data = 1; </a:t>
            </a:r>
            <a:br>
              <a:rPr lang="en-US" sz="1600" b="1" dirty="0">
                <a:solidFill>
                  <a:srgbClr val="000000"/>
                </a:solidFill>
                <a:latin typeface="Courier"/>
              </a:rPr>
            </a:br>
            <a:r>
              <a:rPr lang="en-US" sz="1600" b="1" dirty="0">
                <a:solidFill>
                  <a:srgbClr val="000000"/>
                </a:solidFill>
                <a:latin typeface="Courier"/>
              </a:rPr>
              <a:t>  head-&gt;next = second; </a:t>
            </a:r>
            <a:br>
              <a:rPr lang="en-US" sz="1600" b="1" dirty="0">
                <a:solidFill>
                  <a:srgbClr val="000000"/>
                </a:solidFill>
                <a:latin typeface="Courier"/>
              </a:rPr>
            </a:br>
            <a:r>
              <a:rPr lang="en-US" sz="1600" b="1" dirty="0">
                <a:solidFill>
                  <a:srgbClr val="000000"/>
                </a:solidFill>
                <a:latin typeface="Courier"/>
              </a:rPr>
              <a:t>  second-&gt;data = 2; </a:t>
            </a:r>
            <a:br>
              <a:rPr lang="en-US" sz="1600" b="1" dirty="0">
                <a:solidFill>
                  <a:srgbClr val="000000"/>
                </a:solidFill>
                <a:latin typeface="Courier"/>
              </a:rPr>
            </a:br>
            <a:r>
              <a:rPr lang="en-US" sz="1600" b="1" dirty="0">
                <a:solidFill>
                  <a:srgbClr val="000000"/>
                </a:solidFill>
                <a:latin typeface="Courier"/>
              </a:rPr>
              <a:t>  second-&gt;next = third;</a:t>
            </a:r>
            <a:br>
              <a:rPr lang="en-US" sz="1600" b="1" dirty="0">
                <a:solidFill>
                  <a:srgbClr val="000000"/>
                </a:solidFill>
                <a:latin typeface="Courier"/>
              </a:rPr>
            </a:br>
            <a:r>
              <a:rPr lang="en-US" sz="1600" b="1" dirty="0">
                <a:solidFill>
                  <a:srgbClr val="000000"/>
                </a:solidFill>
                <a:latin typeface="Courier"/>
              </a:rPr>
              <a:t>  third-&gt;data = 3; </a:t>
            </a:r>
            <a:br>
              <a:rPr lang="en-US" sz="1600" b="1" dirty="0">
                <a:solidFill>
                  <a:srgbClr val="000000"/>
                </a:solidFill>
                <a:latin typeface="Courier"/>
              </a:rPr>
            </a:br>
            <a:r>
              <a:rPr lang="en-US" sz="1600" b="1" dirty="0">
                <a:solidFill>
                  <a:srgbClr val="000000"/>
                </a:solidFill>
                <a:latin typeface="Courier"/>
              </a:rPr>
              <a:t>  third-&gt;next = NULL;</a:t>
            </a:r>
            <a:br>
              <a:rPr lang="en-US" sz="1600" b="1" dirty="0">
                <a:solidFill>
                  <a:srgbClr val="000000"/>
                </a:solidFill>
                <a:latin typeface="Courier"/>
              </a:rPr>
            </a:br>
            <a:r>
              <a:rPr lang="en-US" sz="1600" b="1" dirty="0">
                <a:solidFill>
                  <a:srgbClr val="000000"/>
                </a:solidFill>
                <a:latin typeface="Courier"/>
              </a:rPr>
              <a:t>  // At this point, the linked list referenced by "head"</a:t>
            </a:r>
            <a:br>
              <a:rPr lang="en-US" sz="1600" b="1" dirty="0">
                <a:solidFill>
                  <a:srgbClr val="000000"/>
                </a:solidFill>
                <a:latin typeface="Courier"/>
              </a:rPr>
            </a:br>
            <a:r>
              <a:rPr lang="en-US" sz="1600" b="1" dirty="0">
                <a:solidFill>
                  <a:srgbClr val="000000"/>
                </a:solidFill>
                <a:latin typeface="Courier"/>
              </a:rPr>
              <a:t>  // matches the list in the drawing.</a:t>
            </a:r>
            <a:br>
              <a:rPr lang="en-US" sz="1600" b="1" dirty="0">
                <a:solidFill>
                  <a:srgbClr val="000000"/>
                </a:solidFill>
                <a:latin typeface="Courier"/>
              </a:rPr>
            </a:br>
            <a:r>
              <a:rPr lang="en-US" sz="1600" b="1" dirty="0">
                <a:solidFill>
                  <a:srgbClr val="000000"/>
                </a:solidFill>
                <a:latin typeface="Courier"/>
              </a:rPr>
              <a:t>  return head;</a:t>
            </a:r>
            <a:br>
              <a:rPr lang="en-US" sz="1600" b="1" dirty="0">
                <a:solidFill>
                  <a:srgbClr val="000000"/>
                </a:solidFill>
                <a:latin typeface="Courier"/>
              </a:rPr>
            </a:br>
            <a:r>
              <a:rPr lang="en-US" sz="1600" b="1" dirty="0">
                <a:solidFill>
                  <a:srgbClr val="000000"/>
                </a:solidFill>
                <a:latin typeface="Courier"/>
              </a:rPr>
              <a:t>} </a:t>
            </a:r>
            <a:br>
              <a:rPr lang="en-US" sz="3600" b="1" dirty="0"/>
            </a:br>
            <a:r>
              <a:rPr lang="en-US" sz="3600" b="1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2592639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solidFill>
                  <a:srgbClr val="24B5A1"/>
                </a:solidFill>
                <a:latin typeface="Calibri" panose="020F0502020204030204" pitchFamily="34" charset="0"/>
              </a:rPr>
              <a:t>12.4  </a:t>
            </a:r>
            <a:r>
              <a:rPr lang="en-US" dirty="0">
                <a:solidFill>
                  <a:srgbClr val="3380E6"/>
                </a:solidFill>
                <a:latin typeface="Calibri" panose="020F0502020204030204" pitchFamily="34" charset="0"/>
              </a:rPr>
              <a:t>Linked Lists (Cont.)</a:t>
            </a:r>
          </a:p>
        </p:txBody>
      </p:sp>
      <p:sp>
        <p:nvSpPr>
          <p:cNvPr id="43011" name="Text Placeholder 2"/>
          <p:cNvSpPr>
            <a:spLocks noGrp="1"/>
          </p:cNvSpPr>
          <p:nvPr>
            <p:ph type="body" idx="1"/>
          </p:nvPr>
        </p:nvSpPr>
        <p:spPr>
          <a:xfrm>
            <a:off x="609600" y="1143000"/>
            <a:ext cx="10972800" cy="5213351"/>
          </a:xfrm>
        </p:spPr>
        <p:txBody>
          <a:bodyPr>
            <a:normAutofit lnSpcReduction="10000"/>
          </a:bodyPr>
          <a:lstStyle/>
          <a:p>
            <a:pPr eaLnBrk="1" hangingPunct="1">
              <a:lnSpc>
                <a:spcPct val="150000"/>
              </a:lnSpc>
            </a:pPr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Example:</a:t>
            </a:r>
          </a:p>
          <a:p>
            <a:pPr lvl="3">
              <a:lnSpc>
                <a:spcPct val="150000"/>
              </a:lnSpc>
            </a:pPr>
            <a:endParaRPr lang="tr-TR" altLang="en-US" sz="1000" dirty="0">
              <a:solidFill>
                <a:srgbClr val="000000"/>
              </a:solidFill>
              <a:latin typeface="Cambria" panose="02040503050406030204" pitchFamily="18" charset="0"/>
            </a:endParaRPr>
          </a:p>
          <a:p>
            <a:pPr lvl="1">
              <a:lnSpc>
                <a:spcPct val="150000"/>
              </a:lnSpc>
            </a:pPr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Figure 12.3 (output shown in Fig. 12.4) manipulates a list of characters.</a:t>
            </a:r>
          </a:p>
          <a:p>
            <a:pPr lvl="3">
              <a:lnSpc>
                <a:spcPct val="150000"/>
              </a:lnSpc>
            </a:pPr>
            <a:endParaRPr lang="tr-TR" altLang="en-US" sz="1000" dirty="0">
              <a:solidFill>
                <a:srgbClr val="000000"/>
              </a:solidFill>
              <a:latin typeface="Cambria" panose="02040503050406030204" pitchFamily="18" charset="0"/>
            </a:endParaRPr>
          </a:p>
          <a:p>
            <a:pPr lvl="1">
              <a:lnSpc>
                <a:spcPct val="150000"/>
              </a:lnSpc>
            </a:pPr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You can</a:t>
            </a:r>
            <a:endParaRPr lang="tr-TR" altLang="en-US" dirty="0">
              <a:solidFill>
                <a:srgbClr val="000000"/>
              </a:solidFill>
              <a:latin typeface="Cambria" panose="02040503050406030204" pitchFamily="18" charset="0"/>
            </a:endParaRPr>
          </a:p>
          <a:p>
            <a:pPr lvl="2">
              <a:lnSpc>
                <a:spcPct val="150000"/>
              </a:lnSpc>
            </a:pPr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 insert a character in the list in alphabetical order (function 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insert</a:t>
            </a:r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) </a:t>
            </a:r>
            <a:endParaRPr lang="tr-TR" altLang="en-US" dirty="0">
              <a:solidFill>
                <a:srgbClr val="000000"/>
              </a:solidFill>
              <a:latin typeface="Cambria" panose="02040503050406030204" pitchFamily="18" charset="0"/>
            </a:endParaRPr>
          </a:p>
          <a:p>
            <a:pPr marL="914400" lvl="2" indent="0">
              <a:lnSpc>
                <a:spcPct val="150000"/>
              </a:lnSpc>
              <a:buNone/>
            </a:pPr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or </a:t>
            </a:r>
            <a:endParaRPr lang="tr-TR" altLang="en-US" dirty="0">
              <a:solidFill>
                <a:srgbClr val="000000"/>
              </a:solidFill>
              <a:latin typeface="Cambria" panose="02040503050406030204" pitchFamily="18" charset="0"/>
            </a:endParaRPr>
          </a:p>
          <a:p>
            <a:pPr lvl="2">
              <a:lnSpc>
                <a:spcPct val="150000"/>
              </a:lnSpc>
            </a:pPr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delete a character from the list (function 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delete</a:t>
            </a:r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).</a:t>
            </a:r>
          </a:p>
        </p:txBody>
      </p:sp>
      <p:sp>
        <p:nvSpPr>
          <p:cNvPr id="3" name="Slayt Numarası Yer Tutucusu 2">
            <a:extLst>
              <a:ext uri="{FF2B5EF4-FFF2-40B4-BE49-F238E27FC236}">
                <a16:creationId xmlns:a16="http://schemas.microsoft.com/office/drawing/2014/main" id="{1867950E-CFC5-4325-A585-6DA08A7AC9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045B3-A81F-4B14-96F5-518F075FBA4B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2798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htp8_12_Page_17"/>
          <p:cNvPicPr>
            <a:picLocks noGrp="1" noChangeAspect="1"/>
          </p:cNvPicPr>
          <p:nvPr isPhoto="1"/>
        </p:nvPicPr>
        <p:blipFill>
          <a:blip r:embed="rId3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7351" y="0"/>
            <a:ext cx="8875713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2D98D26F-F59E-4AF5-AD97-EDB8F93AAC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045B3-A81F-4B14-96F5-518F075FBA4B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207225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htp8_12_Page_18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7351" y="0"/>
            <a:ext cx="8875713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7C7DFA9A-2922-4BBA-A9E7-7948E182EA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045B3-A81F-4B14-96F5-518F075FBA4B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732642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htp8_12_Page_19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7351" y="0"/>
            <a:ext cx="8875713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C368D267-7305-4FA3-903A-E4C0F1AD56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045B3-A81F-4B14-96F5-518F075FBA4B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784541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htp8_12_Page_20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7351" y="0"/>
            <a:ext cx="8875713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22DF3178-4AC3-4D7F-9779-45D449DC41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045B3-A81F-4B14-96F5-518F075FBA4B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521508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htp8_12_Page_21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7351" y="0"/>
            <a:ext cx="8875713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121F450F-FF48-4E9D-AB02-3643598CC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045B3-A81F-4B14-96F5-518F075FBA4B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078585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htp8_12_Page_22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7351" y="0"/>
            <a:ext cx="8875713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65737160-F1BD-4B83-AD85-E9C132FFC9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045B3-A81F-4B14-96F5-518F075FBA4B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606509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htp8_12_Page_23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7351" y="0"/>
            <a:ext cx="8875713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9BE5F1CC-2106-4482-A8A2-ED2E7E3F7E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045B3-A81F-4B14-96F5-518F075FBA4B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126138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htp8_12_Page_24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7351" y="0"/>
            <a:ext cx="8875713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5F2A2E83-F67A-4DF3-9AB0-4E792F3F62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045B3-A81F-4B14-96F5-518F075FBA4B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951667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htp8_12_Page_25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7351" y="0"/>
            <a:ext cx="8875713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AE402BA6-9748-4AA0-9F04-3FF9552482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045B3-A81F-4B14-96F5-518F075FBA4B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786649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htp8_12_Page_26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7351" y="0"/>
            <a:ext cx="8875713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4CD44B01-2E16-4611-B587-80A19AAACC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045B3-A81F-4B14-96F5-518F075FBA4B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01070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solidFill>
                  <a:srgbClr val="24B5A1"/>
                </a:solidFill>
                <a:latin typeface="Calibri" panose="020F0502020204030204" pitchFamily="34" charset="0"/>
              </a:rPr>
              <a:t>12.4  </a:t>
            </a:r>
            <a:r>
              <a:rPr lang="en-US" dirty="0">
                <a:solidFill>
                  <a:srgbClr val="3380E6"/>
                </a:solidFill>
                <a:latin typeface="Calibri" panose="020F0502020204030204" pitchFamily="34" charset="0"/>
              </a:rPr>
              <a:t>Linked Lists (Cont.)</a:t>
            </a:r>
          </a:p>
        </p:txBody>
      </p:sp>
      <p:sp>
        <p:nvSpPr>
          <p:cNvPr id="55299" name="Text Placeholder 2"/>
          <p:cNvSpPr>
            <a:spLocks noGrp="1"/>
          </p:cNvSpPr>
          <p:nvPr>
            <p:ph type="body" idx="1"/>
          </p:nvPr>
        </p:nvSpPr>
        <p:spPr>
          <a:xfrm>
            <a:off x="609600" y="1219200"/>
            <a:ext cx="10972800" cy="5333999"/>
          </a:xfrm>
        </p:spPr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 sz="2500" dirty="0">
                <a:solidFill>
                  <a:srgbClr val="000000"/>
                </a:solidFill>
                <a:latin typeface="Cambria" panose="02040503050406030204" pitchFamily="18" charset="0"/>
              </a:rPr>
              <a:t>Characters are inserted in the list in </a:t>
            </a:r>
            <a:r>
              <a:rPr lang="en-US" altLang="en-US" sz="2500" i="1" dirty="0">
                <a:solidFill>
                  <a:srgbClr val="000000"/>
                </a:solidFill>
                <a:latin typeface="Cambria" panose="02040503050406030204" pitchFamily="18" charset="0"/>
              </a:rPr>
              <a:t>alphabetical order</a:t>
            </a:r>
            <a:r>
              <a:rPr lang="en-US" altLang="en-US" sz="2500" dirty="0">
                <a:solidFill>
                  <a:srgbClr val="000000"/>
                </a:solidFill>
                <a:latin typeface="Cambria" panose="02040503050406030204" pitchFamily="18" charset="0"/>
              </a:rPr>
              <a:t>.</a:t>
            </a:r>
          </a:p>
          <a:p>
            <a:pPr lvl="3">
              <a:lnSpc>
                <a:spcPct val="90000"/>
              </a:lnSpc>
            </a:pPr>
            <a:endParaRPr lang="en-US" altLang="en-US" sz="1300" dirty="0">
              <a:solidFill>
                <a:srgbClr val="000000"/>
              </a:solidFill>
              <a:latin typeface="Cambria" panose="02040503050406030204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en-US" sz="2500" dirty="0">
                <a:solidFill>
                  <a:srgbClr val="000000"/>
                </a:solidFill>
                <a:latin typeface="Cambria" panose="02040503050406030204" pitchFamily="18" charset="0"/>
              </a:rPr>
              <a:t>Function </a:t>
            </a:r>
            <a:r>
              <a:rPr lang="en-US" altLang="en-US" sz="2500" dirty="0">
                <a:solidFill>
                  <a:srgbClr val="000000"/>
                </a:solidFill>
                <a:latin typeface="Consolas" panose="020B0609020204030204" pitchFamily="49" charset="0"/>
              </a:rPr>
              <a:t>insert</a:t>
            </a:r>
            <a:r>
              <a:rPr lang="en-US" altLang="en-US" sz="2500" dirty="0">
                <a:solidFill>
                  <a:srgbClr val="000000"/>
                </a:solidFill>
                <a:latin typeface="Cambria" panose="02040503050406030204" pitchFamily="18" charset="0"/>
              </a:rPr>
              <a:t> receives the address of the list and a character to be inserted.</a:t>
            </a:r>
          </a:p>
          <a:p>
            <a:pPr lvl="3">
              <a:lnSpc>
                <a:spcPct val="90000"/>
              </a:lnSpc>
            </a:pPr>
            <a:endParaRPr lang="en-US" altLang="en-US" sz="1300" dirty="0">
              <a:solidFill>
                <a:srgbClr val="000000"/>
              </a:solidFill>
              <a:latin typeface="Cambria" panose="02040503050406030204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en-US" sz="2500" dirty="0">
                <a:solidFill>
                  <a:srgbClr val="000000"/>
                </a:solidFill>
                <a:latin typeface="Cambria" panose="02040503050406030204" pitchFamily="18" charset="0"/>
              </a:rPr>
              <a:t>The address of the list is necessary when a value is to be inserted at the </a:t>
            </a:r>
            <a:r>
              <a:rPr lang="en-US" altLang="en-US" sz="2500" i="1" dirty="0">
                <a:solidFill>
                  <a:srgbClr val="000000"/>
                </a:solidFill>
                <a:latin typeface="Cambria" panose="02040503050406030204" pitchFamily="18" charset="0"/>
              </a:rPr>
              <a:t>start</a:t>
            </a:r>
            <a:r>
              <a:rPr lang="en-US" altLang="en-US" sz="2500" dirty="0">
                <a:solidFill>
                  <a:srgbClr val="000000"/>
                </a:solidFill>
                <a:latin typeface="Cambria" panose="02040503050406030204" pitchFamily="18" charset="0"/>
              </a:rPr>
              <a:t> of the list.</a:t>
            </a:r>
          </a:p>
          <a:p>
            <a:pPr lvl="3">
              <a:lnSpc>
                <a:spcPct val="90000"/>
              </a:lnSpc>
            </a:pPr>
            <a:endParaRPr lang="en-US" altLang="en-US" sz="1300" dirty="0">
              <a:solidFill>
                <a:srgbClr val="000000"/>
              </a:solidFill>
              <a:latin typeface="Cambria" panose="02040503050406030204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en-US" sz="2500" dirty="0">
                <a:solidFill>
                  <a:srgbClr val="000000"/>
                </a:solidFill>
                <a:latin typeface="Cambria" panose="02040503050406030204" pitchFamily="18" charset="0"/>
              </a:rPr>
              <a:t>Providing the address enables the list (</a:t>
            </a:r>
            <a:r>
              <a:rPr lang="en-US" altLang="en-US" sz="2500" i="1" dirty="0">
                <a:solidFill>
                  <a:srgbClr val="000000"/>
                </a:solidFill>
                <a:latin typeface="Cambria" panose="02040503050406030204" pitchFamily="18" charset="0"/>
              </a:rPr>
              <a:t>i.e.</a:t>
            </a:r>
            <a:r>
              <a:rPr lang="en-US" altLang="en-US" sz="2500" dirty="0">
                <a:solidFill>
                  <a:srgbClr val="000000"/>
                </a:solidFill>
                <a:latin typeface="Cambria" panose="02040503050406030204" pitchFamily="18" charset="0"/>
              </a:rPr>
              <a:t>, the pointer to the first node of the list) to be </a:t>
            </a:r>
            <a:r>
              <a:rPr lang="en-US" altLang="en-US" sz="2500" i="1" dirty="0">
                <a:solidFill>
                  <a:srgbClr val="000000"/>
                </a:solidFill>
                <a:latin typeface="Cambria" panose="02040503050406030204" pitchFamily="18" charset="0"/>
              </a:rPr>
              <a:t>modified</a:t>
            </a:r>
            <a:r>
              <a:rPr lang="en-US" altLang="en-US" sz="2500" dirty="0">
                <a:solidFill>
                  <a:srgbClr val="000000"/>
                </a:solidFill>
                <a:latin typeface="Cambria" panose="02040503050406030204" pitchFamily="18" charset="0"/>
              </a:rPr>
              <a:t> via a call by reference.</a:t>
            </a:r>
          </a:p>
          <a:p>
            <a:pPr lvl="3">
              <a:lnSpc>
                <a:spcPct val="90000"/>
              </a:lnSpc>
            </a:pPr>
            <a:endParaRPr lang="en-US" altLang="en-US" sz="1300" dirty="0">
              <a:solidFill>
                <a:srgbClr val="000000"/>
              </a:solidFill>
              <a:latin typeface="Cambria" panose="02040503050406030204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en-US" sz="2500" dirty="0">
                <a:solidFill>
                  <a:srgbClr val="000000"/>
                </a:solidFill>
                <a:latin typeface="Cambria" panose="02040503050406030204" pitchFamily="18" charset="0"/>
              </a:rPr>
              <a:t>Because the list itself is a pointer (to its first element), passing its address creates a </a:t>
            </a:r>
            <a:r>
              <a:rPr lang="en-US" altLang="en-US" sz="2500" dirty="0">
                <a:solidFill>
                  <a:srgbClr val="0000FF"/>
                </a:solidFill>
                <a:latin typeface="Cambria" panose="02040503050406030204" pitchFamily="18" charset="0"/>
              </a:rPr>
              <a:t>pointer to a pointer</a:t>
            </a:r>
            <a:r>
              <a:rPr lang="en-US" altLang="en-US" sz="2500" dirty="0">
                <a:solidFill>
                  <a:srgbClr val="000000"/>
                </a:solidFill>
                <a:latin typeface="Cambria" panose="02040503050406030204" pitchFamily="18" charset="0"/>
              </a:rPr>
              <a:t> (</a:t>
            </a:r>
            <a:r>
              <a:rPr lang="en-US" altLang="en-US" sz="2500" i="1" dirty="0">
                <a:solidFill>
                  <a:srgbClr val="000000"/>
                </a:solidFill>
                <a:latin typeface="Cambria" panose="02040503050406030204" pitchFamily="18" charset="0"/>
              </a:rPr>
              <a:t>i.e.</a:t>
            </a:r>
            <a:r>
              <a:rPr lang="en-US" altLang="en-US" sz="2500" dirty="0">
                <a:solidFill>
                  <a:srgbClr val="000000"/>
                </a:solidFill>
                <a:latin typeface="Cambria" panose="02040503050406030204" pitchFamily="18" charset="0"/>
              </a:rPr>
              <a:t>,</a:t>
            </a:r>
            <a:r>
              <a:rPr lang="en-US" altLang="en-US" sz="2500" dirty="0">
                <a:solidFill>
                  <a:srgbClr val="0000FF"/>
                </a:solidFill>
                <a:latin typeface="Cambria" panose="02040503050406030204" pitchFamily="18" charset="0"/>
              </a:rPr>
              <a:t> double indirection</a:t>
            </a:r>
            <a:r>
              <a:rPr lang="en-US" altLang="en-US" sz="2500" dirty="0">
                <a:solidFill>
                  <a:srgbClr val="000000"/>
                </a:solidFill>
                <a:latin typeface="Cambria" panose="02040503050406030204" pitchFamily="18" charset="0"/>
              </a:rPr>
              <a:t>).</a:t>
            </a:r>
          </a:p>
          <a:p>
            <a:pPr lvl="3">
              <a:lnSpc>
                <a:spcPct val="90000"/>
              </a:lnSpc>
            </a:pPr>
            <a:endParaRPr lang="en-US" altLang="en-US" sz="1300" dirty="0">
              <a:solidFill>
                <a:srgbClr val="000000"/>
              </a:solidFill>
              <a:latin typeface="Cambria" panose="02040503050406030204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en-US" sz="2500" dirty="0">
                <a:solidFill>
                  <a:srgbClr val="000000"/>
                </a:solidFill>
                <a:latin typeface="Cambria" panose="02040503050406030204" pitchFamily="18" charset="0"/>
              </a:rPr>
              <a:t>This is a complex notion and requires careful programming.</a:t>
            </a:r>
          </a:p>
        </p:txBody>
      </p:sp>
      <p:sp>
        <p:nvSpPr>
          <p:cNvPr id="3" name="Slayt Numarası Yer Tutucusu 2">
            <a:extLst>
              <a:ext uri="{FF2B5EF4-FFF2-40B4-BE49-F238E27FC236}">
                <a16:creationId xmlns:a16="http://schemas.microsoft.com/office/drawing/2014/main" id="{228CA63D-28FE-42C3-9B5D-4DDA62A1EB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045B3-A81F-4B14-96F5-518F075FBA4B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260999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noProof="1">
                <a:solidFill>
                  <a:srgbClr val="24B5A1"/>
                </a:solidFill>
                <a:latin typeface="Calibri" panose="020F0502020204030204" pitchFamily="34" charset="0"/>
              </a:rPr>
              <a:t>12.4.1  </a:t>
            </a:r>
            <a:r>
              <a:rPr lang="en-US" noProof="1">
                <a:solidFill>
                  <a:srgbClr val="3380E6"/>
                </a:solidFill>
                <a:latin typeface="Calibri" panose="020F0502020204030204" pitchFamily="34" charset="0"/>
              </a:rPr>
              <a:t>Function </a:t>
            </a:r>
            <a:r>
              <a:rPr lang="en-US" sz="3200" noProof="1">
                <a:solidFill>
                  <a:srgbClr val="3380E6"/>
                </a:solidFill>
                <a:latin typeface="Consolas" panose="020B0609020204030204" pitchFamily="49" charset="0"/>
              </a:rPr>
              <a:t>insert </a:t>
            </a:r>
            <a:endParaRPr lang="en-US" noProof="1">
              <a:solidFill>
                <a:srgbClr val="3380E6"/>
              </a:solidFill>
              <a:latin typeface="Calibri" panose="020F0502020204030204" pitchFamily="34" charset="0"/>
            </a:endParaRPr>
          </a:p>
        </p:txBody>
      </p:sp>
      <p:sp>
        <p:nvSpPr>
          <p:cNvPr id="5632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43001"/>
            <a:ext cx="11430000" cy="5486399"/>
          </a:xfrm>
        </p:spPr>
        <p:txBody>
          <a:bodyPr>
            <a:normAutofit fontScale="92500" lnSpcReduction="20000"/>
          </a:bodyPr>
          <a:lstStyle/>
          <a:p>
            <a:pPr eaLnBrk="1" hangingPunct="1">
              <a:lnSpc>
                <a:spcPct val="120000"/>
              </a:lnSpc>
            </a:pPr>
            <a:r>
              <a:rPr lang="en-US" altLang="en-US" sz="2400" noProof="1">
                <a:solidFill>
                  <a:srgbClr val="000000"/>
                </a:solidFill>
                <a:latin typeface="Cambria" panose="02040503050406030204" pitchFamily="18" charset="0"/>
              </a:rPr>
              <a:t>Steps for inserting a character in the list (Fig. 12.5):</a:t>
            </a:r>
          </a:p>
          <a:p>
            <a:pPr lvl="3">
              <a:lnSpc>
                <a:spcPct val="120000"/>
              </a:lnSpc>
            </a:pPr>
            <a:endParaRPr lang="en-US" altLang="en-US" sz="1200" i="1" noProof="1">
              <a:solidFill>
                <a:srgbClr val="000000"/>
              </a:solidFill>
              <a:latin typeface="Cambria" panose="02040503050406030204" pitchFamily="18" charset="0"/>
            </a:endParaRPr>
          </a:p>
          <a:p>
            <a:pPr lvl="1" eaLnBrk="1" hangingPunct="1">
              <a:lnSpc>
                <a:spcPct val="120000"/>
              </a:lnSpc>
            </a:pPr>
            <a:r>
              <a:rPr lang="en-US" altLang="en-US" sz="2000" i="1" noProof="1">
                <a:solidFill>
                  <a:srgbClr val="000000"/>
                </a:solidFill>
                <a:latin typeface="Cambria" panose="02040503050406030204" pitchFamily="18" charset="0"/>
              </a:rPr>
              <a:t>Create a node: </a:t>
            </a:r>
          </a:p>
          <a:p>
            <a:pPr lvl="2">
              <a:lnSpc>
                <a:spcPct val="120000"/>
              </a:lnSpc>
            </a:pPr>
            <a:r>
              <a:rPr lang="en-US" altLang="en-US" sz="1800" noProof="1">
                <a:solidFill>
                  <a:srgbClr val="000000"/>
                </a:solidFill>
                <a:latin typeface="Cambria" panose="02040503050406030204" pitchFamily="18" charset="0"/>
              </a:rPr>
              <a:t>call </a:t>
            </a:r>
            <a:r>
              <a:rPr lang="en-US" altLang="en-US" sz="1800" noProof="1">
                <a:solidFill>
                  <a:srgbClr val="000000"/>
                </a:solidFill>
                <a:latin typeface="Consolas" panose="020B0609020204030204" pitchFamily="49" charset="0"/>
              </a:rPr>
              <a:t>malloc</a:t>
            </a:r>
            <a:r>
              <a:rPr lang="en-US" altLang="en-US" sz="1800" noProof="1">
                <a:solidFill>
                  <a:srgbClr val="000000"/>
                </a:solidFill>
                <a:latin typeface="Cambria" panose="02040503050406030204" pitchFamily="18" charset="0"/>
              </a:rPr>
              <a:t>, </a:t>
            </a:r>
          </a:p>
          <a:p>
            <a:pPr lvl="2">
              <a:lnSpc>
                <a:spcPct val="120000"/>
              </a:lnSpc>
            </a:pPr>
            <a:r>
              <a:rPr lang="en-US" altLang="en-US" sz="1800" noProof="1">
                <a:solidFill>
                  <a:srgbClr val="000000"/>
                </a:solidFill>
                <a:latin typeface="Cambria" panose="02040503050406030204" pitchFamily="18" charset="0"/>
              </a:rPr>
              <a:t>assign to </a:t>
            </a:r>
            <a:r>
              <a:rPr lang="en-US" altLang="en-US" sz="1800" noProof="1">
                <a:solidFill>
                  <a:srgbClr val="000000"/>
                </a:solidFill>
                <a:latin typeface="Consolas" panose="020B0609020204030204" pitchFamily="49" charset="0"/>
              </a:rPr>
              <a:t>newPtr</a:t>
            </a:r>
            <a:r>
              <a:rPr lang="en-US" altLang="en-US" sz="1800" noProof="1">
                <a:solidFill>
                  <a:srgbClr val="000000"/>
                </a:solidFill>
                <a:latin typeface="Cambria" panose="02040503050406030204" pitchFamily="18" charset="0"/>
              </a:rPr>
              <a:t> the address of the allocated memory, </a:t>
            </a:r>
          </a:p>
          <a:p>
            <a:pPr lvl="2">
              <a:lnSpc>
                <a:spcPct val="120000"/>
              </a:lnSpc>
            </a:pPr>
            <a:r>
              <a:rPr lang="en-US" altLang="en-US" sz="1800" noProof="1">
                <a:solidFill>
                  <a:srgbClr val="000000"/>
                </a:solidFill>
                <a:latin typeface="Cambria" panose="02040503050406030204" pitchFamily="18" charset="0"/>
              </a:rPr>
              <a:t>assign the character to be inserted to </a:t>
            </a:r>
            <a:r>
              <a:rPr lang="en-US" altLang="en-US" sz="1800" noProof="1">
                <a:solidFill>
                  <a:srgbClr val="000000"/>
                </a:solidFill>
                <a:latin typeface="Consolas" panose="020B0609020204030204" pitchFamily="49" charset="0"/>
              </a:rPr>
              <a:t>newPtr-&gt;data</a:t>
            </a:r>
            <a:r>
              <a:rPr lang="en-US" altLang="en-US" sz="1800" noProof="1">
                <a:solidFill>
                  <a:srgbClr val="000000"/>
                </a:solidFill>
                <a:latin typeface="Cambria" panose="02040503050406030204" pitchFamily="18" charset="0"/>
              </a:rPr>
              <a:t>, </a:t>
            </a:r>
          </a:p>
          <a:p>
            <a:pPr lvl="2">
              <a:lnSpc>
                <a:spcPct val="120000"/>
              </a:lnSpc>
            </a:pPr>
            <a:r>
              <a:rPr lang="en-US" altLang="en-US" sz="1800" noProof="1">
                <a:solidFill>
                  <a:srgbClr val="000000"/>
                </a:solidFill>
                <a:latin typeface="Cambria" panose="02040503050406030204" pitchFamily="18" charset="0"/>
              </a:rPr>
              <a:t>assign </a:t>
            </a:r>
            <a:r>
              <a:rPr lang="en-US" altLang="en-US" sz="1800" noProof="1">
                <a:solidFill>
                  <a:srgbClr val="000000"/>
                </a:solidFill>
                <a:latin typeface="Consolas" panose="020B0609020204030204" pitchFamily="49" charset="0"/>
              </a:rPr>
              <a:t>NULL</a:t>
            </a:r>
            <a:r>
              <a:rPr lang="en-US" altLang="en-US" sz="1800" noProof="1">
                <a:solidFill>
                  <a:srgbClr val="000000"/>
                </a:solidFill>
                <a:latin typeface="Cambria" panose="02040503050406030204" pitchFamily="18" charset="0"/>
              </a:rPr>
              <a:t> to </a:t>
            </a:r>
            <a:r>
              <a:rPr lang="en-US" altLang="en-US" sz="1800" noProof="1">
                <a:solidFill>
                  <a:srgbClr val="000000"/>
                </a:solidFill>
                <a:latin typeface="Consolas" panose="020B0609020204030204" pitchFamily="49" charset="0"/>
              </a:rPr>
              <a:t>newPtr-&gt;nextPtr</a:t>
            </a:r>
          </a:p>
          <a:p>
            <a:pPr lvl="3">
              <a:lnSpc>
                <a:spcPct val="120000"/>
              </a:lnSpc>
            </a:pPr>
            <a:endParaRPr lang="en-US" altLang="en-US" sz="1400" noProof="1">
              <a:solidFill>
                <a:srgbClr val="000000"/>
              </a:solidFill>
              <a:latin typeface="Cambria" panose="02040503050406030204" pitchFamily="18" charset="0"/>
            </a:endParaRPr>
          </a:p>
          <a:p>
            <a:pPr lvl="1" eaLnBrk="1" hangingPunct="1">
              <a:lnSpc>
                <a:spcPct val="120000"/>
              </a:lnSpc>
            </a:pPr>
            <a:r>
              <a:rPr lang="en-US" altLang="en-US" sz="2000" noProof="1">
                <a:solidFill>
                  <a:srgbClr val="000000"/>
                </a:solidFill>
                <a:latin typeface="Cambria" panose="02040503050406030204" pitchFamily="18" charset="0"/>
              </a:rPr>
              <a:t>Initialize </a:t>
            </a:r>
            <a:r>
              <a:rPr lang="en-US" altLang="en-US" sz="2000" noProof="1">
                <a:solidFill>
                  <a:srgbClr val="000000"/>
                </a:solidFill>
                <a:latin typeface="Consolas" panose="020B0609020204030204" pitchFamily="49" charset="0"/>
              </a:rPr>
              <a:t>previousPtr</a:t>
            </a:r>
            <a:r>
              <a:rPr lang="en-US" altLang="en-US" sz="2000" noProof="1">
                <a:solidFill>
                  <a:srgbClr val="000000"/>
                </a:solidFill>
                <a:latin typeface="Cambria" panose="02040503050406030204" pitchFamily="18" charset="0"/>
              </a:rPr>
              <a:t> to </a:t>
            </a:r>
            <a:r>
              <a:rPr lang="en-US" altLang="en-US" sz="2000" noProof="1">
                <a:solidFill>
                  <a:srgbClr val="000000"/>
                </a:solidFill>
                <a:latin typeface="Consolas" panose="020B0609020204030204" pitchFamily="49" charset="0"/>
              </a:rPr>
              <a:t>NULL</a:t>
            </a:r>
            <a:r>
              <a:rPr lang="en-US" altLang="en-US" sz="2000" noProof="1">
                <a:solidFill>
                  <a:srgbClr val="000000"/>
                </a:solidFill>
                <a:latin typeface="Cambria" panose="02040503050406030204" pitchFamily="18" charset="0"/>
              </a:rPr>
              <a:t> </a:t>
            </a:r>
          </a:p>
          <a:p>
            <a:pPr lvl="3">
              <a:lnSpc>
                <a:spcPct val="120000"/>
              </a:lnSpc>
            </a:pPr>
            <a:endParaRPr lang="en-US" altLang="en-US" sz="1200" noProof="1">
              <a:solidFill>
                <a:srgbClr val="000000"/>
              </a:solidFill>
              <a:latin typeface="Cambria" panose="02040503050406030204" pitchFamily="18" charset="0"/>
            </a:endParaRPr>
          </a:p>
          <a:p>
            <a:pPr lvl="1">
              <a:lnSpc>
                <a:spcPct val="120000"/>
              </a:lnSpc>
            </a:pPr>
            <a:r>
              <a:rPr lang="en-US" altLang="en-US" sz="2000" noProof="1">
                <a:solidFill>
                  <a:srgbClr val="000000"/>
                </a:solidFill>
                <a:latin typeface="Cambria" panose="02040503050406030204" pitchFamily="18" charset="0"/>
              </a:rPr>
              <a:t>Initialize </a:t>
            </a:r>
            <a:r>
              <a:rPr lang="en-US" altLang="en-US" sz="2000" noProof="1">
                <a:solidFill>
                  <a:srgbClr val="000000"/>
                </a:solidFill>
                <a:latin typeface="Consolas" panose="020B0609020204030204" pitchFamily="49" charset="0"/>
              </a:rPr>
              <a:t>currentPtr</a:t>
            </a:r>
            <a:r>
              <a:rPr lang="en-US" altLang="en-US" sz="2000" noProof="1">
                <a:solidFill>
                  <a:srgbClr val="000000"/>
                </a:solidFill>
                <a:latin typeface="Cambria" panose="02040503050406030204" pitchFamily="18" charset="0"/>
              </a:rPr>
              <a:t> to </a:t>
            </a:r>
            <a:r>
              <a:rPr lang="en-US" altLang="en-US" sz="2000" noProof="1">
                <a:solidFill>
                  <a:srgbClr val="000000"/>
                </a:solidFill>
                <a:latin typeface="Consolas" panose="020B0609020204030204" pitchFamily="49" charset="0"/>
              </a:rPr>
              <a:t>*sPtr</a:t>
            </a:r>
            <a:r>
              <a:rPr lang="en-US" altLang="en-US" sz="2000" noProof="1">
                <a:solidFill>
                  <a:srgbClr val="000000"/>
                </a:solidFill>
                <a:latin typeface="Cambria" panose="02040503050406030204" pitchFamily="18" charset="0"/>
              </a:rPr>
              <a:t>—the pointer to the start of the list. </a:t>
            </a:r>
          </a:p>
          <a:p>
            <a:pPr lvl="2">
              <a:lnSpc>
                <a:spcPct val="120000"/>
              </a:lnSpc>
            </a:pPr>
            <a:r>
              <a:rPr lang="en-US" altLang="en-US" sz="1800" noProof="1">
                <a:solidFill>
                  <a:srgbClr val="000000"/>
                </a:solidFill>
                <a:latin typeface="Cambria" panose="02040503050406030204" pitchFamily="18" charset="0"/>
              </a:rPr>
              <a:t>These pointers store the locations of the node </a:t>
            </a:r>
            <a:r>
              <a:rPr lang="en-US" altLang="en-US" sz="1800" i="1" noProof="1">
                <a:solidFill>
                  <a:srgbClr val="000000"/>
                </a:solidFill>
                <a:latin typeface="Cambria" panose="02040503050406030204" pitchFamily="18" charset="0"/>
              </a:rPr>
              <a:t>preceding</a:t>
            </a:r>
            <a:r>
              <a:rPr lang="en-US" altLang="en-US" sz="1800" noProof="1">
                <a:solidFill>
                  <a:srgbClr val="000000"/>
                </a:solidFill>
                <a:latin typeface="Cambria" panose="02040503050406030204" pitchFamily="18" charset="0"/>
              </a:rPr>
              <a:t> the insertion point and the node </a:t>
            </a:r>
            <a:r>
              <a:rPr lang="en-US" altLang="en-US" sz="1800" i="1" noProof="1">
                <a:solidFill>
                  <a:srgbClr val="000000"/>
                </a:solidFill>
                <a:latin typeface="Cambria" panose="02040503050406030204" pitchFamily="18" charset="0"/>
              </a:rPr>
              <a:t>after</a:t>
            </a:r>
            <a:r>
              <a:rPr lang="en-US" altLang="en-US" sz="1800" noProof="1">
                <a:solidFill>
                  <a:srgbClr val="000000"/>
                </a:solidFill>
                <a:latin typeface="Cambria" panose="02040503050406030204" pitchFamily="18" charset="0"/>
              </a:rPr>
              <a:t> the insertion point.</a:t>
            </a:r>
          </a:p>
          <a:p>
            <a:pPr lvl="3">
              <a:lnSpc>
                <a:spcPct val="120000"/>
              </a:lnSpc>
            </a:pPr>
            <a:endParaRPr lang="en-US" altLang="en-US" sz="1400" noProof="1">
              <a:solidFill>
                <a:srgbClr val="000000"/>
              </a:solidFill>
              <a:latin typeface="Cambria" panose="02040503050406030204" pitchFamily="18" charset="0"/>
            </a:endParaRPr>
          </a:p>
          <a:p>
            <a:pPr lvl="1" eaLnBrk="1" hangingPunct="1">
              <a:lnSpc>
                <a:spcPct val="120000"/>
              </a:lnSpc>
            </a:pPr>
            <a:r>
              <a:rPr lang="en-US" altLang="en-US" sz="2000" noProof="1">
                <a:solidFill>
                  <a:srgbClr val="000000"/>
                </a:solidFill>
                <a:latin typeface="Cambria" panose="02040503050406030204" pitchFamily="18" charset="0"/>
              </a:rPr>
              <a:t>While </a:t>
            </a:r>
            <a:r>
              <a:rPr lang="en-US" altLang="en-US" sz="2000" noProof="1">
                <a:solidFill>
                  <a:srgbClr val="000000"/>
                </a:solidFill>
                <a:latin typeface="Consolas" panose="020B0609020204030204" pitchFamily="49" charset="0"/>
              </a:rPr>
              <a:t>currentPtr</a:t>
            </a:r>
            <a:r>
              <a:rPr lang="en-US" altLang="en-US" sz="2000" noProof="1">
                <a:solidFill>
                  <a:srgbClr val="000000"/>
                </a:solidFill>
                <a:latin typeface="Cambria" panose="02040503050406030204" pitchFamily="18" charset="0"/>
              </a:rPr>
              <a:t> is not </a:t>
            </a:r>
            <a:r>
              <a:rPr lang="en-US" altLang="en-US" sz="2000" noProof="1">
                <a:solidFill>
                  <a:srgbClr val="000000"/>
                </a:solidFill>
                <a:latin typeface="Consolas" panose="020B0609020204030204" pitchFamily="49" charset="0"/>
              </a:rPr>
              <a:t>NULL</a:t>
            </a:r>
            <a:r>
              <a:rPr lang="en-US" altLang="en-US" sz="2000" noProof="1">
                <a:solidFill>
                  <a:srgbClr val="000000"/>
                </a:solidFill>
                <a:latin typeface="Cambria" panose="02040503050406030204" pitchFamily="18" charset="0"/>
              </a:rPr>
              <a:t> and the value to be inserted is greater than </a:t>
            </a:r>
            <a:r>
              <a:rPr lang="en-US" altLang="en-US" sz="2000" noProof="1">
                <a:solidFill>
                  <a:srgbClr val="000000"/>
                </a:solidFill>
                <a:latin typeface="Consolas" panose="020B0609020204030204" pitchFamily="49" charset="0"/>
              </a:rPr>
              <a:t>currentPtr-&gt;data</a:t>
            </a:r>
            <a:r>
              <a:rPr lang="en-US" altLang="en-US" sz="2000" noProof="1">
                <a:solidFill>
                  <a:srgbClr val="000000"/>
                </a:solidFill>
                <a:latin typeface="Cambria" panose="02040503050406030204" pitchFamily="18" charset="0"/>
              </a:rPr>
              <a:t>, </a:t>
            </a:r>
          </a:p>
          <a:p>
            <a:pPr lvl="2">
              <a:lnSpc>
                <a:spcPct val="120000"/>
              </a:lnSpc>
            </a:pPr>
            <a:r>
              <a:rPr lang="en-US" altLang="en-US" sz="1800" noProof="1">
                <a:solidFill>
                  <a:srgbClr val="000000"/>
                </a:solidFill>
                <a:latin typeface="Cambria" panose="02040503050406030204" pitchFamily="18" charset="0"/>
              </a:rPr>
              <a:t>assign </a:t>
            </a:r>
            <a:r>
              <a:rPr lang="en-US" altLang="en-US" sz="1800" noProof="1">
                <a:solidFill>
                  <a:srgbClr val="000000"/>
                </a:solidFill>
                <a:latin typeface="Consolas" panose="020B0609020204030204" pitchFamily="49" charset="0"/>
              </a:rPr>
              <a:t>currentPtr</a:t>
            </a:r>
            <a:r>
              <a:rPr lang="en-US" altLang="en-US" sz="1800" noProof="1">
                <a:solidFill>
                  <a:srgbClr val="000000"/>
                </a:solidFill>
                <a:latin typeface="Cambria" panose="02040503050406030204" pitchFamily="18" charset="0"/>
              </a:rPr>
              <a:t> to </a:t>
            </a:r>
            <a:r>
              <a:rPr lang="en-US" altLang="en-US" sz="1800" noProof="1">
                <a:solidFill>
                  <a:srgbClr val="000000"/>
                </a:solidFill>
                <a:latin typeface="Consolas" panose="020B0609020204030204" pitchFamily="49" charset="0"/>
              </a:rPr>
              <a:t>previousPtr</a:t>
            </a:r>
            <a:r>
              <a:rPr lang="en-US" altLang="en-US" sz="1800" noProof="1">
                <a:solidFill>
                  <a:srgbClr val="000000"/>
                </a:solidFill>
                <a:latin typeface="Cambria" panose="02040503050406030204" pitchFamily="18" charset="0"/>
              </a:rPr>
              <a:t> </a:t>
            </a:r>
          </a:p>
          <a:p>
            <a:pPr lvl="2">
              <a:lnSpc>
                <a:spcPct val="120000"/>
              </a:lnSpc>
            </a:pPr>
            <a:r>
              <a:rPr lang="en-US" altLang="en-US" sz="1800" noProof="1">
                <a:solidFill>
                  <a:srgbClr val="000000"/>
                </a:solidFill>
                <a:latin typeface="Cambria" panose="02040503050406030204" pitchFamily="18" charset="0"/>
              </a:rPr>
              <a:t>advance </a:t>
            </a:r>
            <a:r>
              <a:rPr lang="en-US" altLang="en-US" sz="1800" noProof="1">
                <a:solidFill>
                  <a:srgbClr val="000000"/>
                </a:solidFill>
                <a:latin typeface="Consolas" panose="020B0609020204030204" pitchFamily="49" charset="0"/>
              </a:rPr>
              <a:t>currentPtr</a:t>
            </a:r>
            <a:r>
              <a:rPr lang="en-US" altLang="en-US" sz="1800" noProof="1">
                <a:solidFill>
                  <a:srgbClr val="000000"/>
                </a:solidFill>
                <a:latin typeface="Cambria" panose="02040503050406030204" pitchFamily="18" charset="0"/>
              </a:rPr>
              <a:t> to the next node in the list</a:t>
            </a:r>
          </a:p>
          <a:p>
            <a:pPr lvl="2">
              <a:lnSpc>
                <a:spcPct val="120000"/>
              </a:lnSpc>
            </a:pPr>
            <a:r>
              <a:rPr lang="en-US" altLang="en-US" sz="1800" noProof="1">
                <a:solidFill>
                  <a:srgbClr val="000000"/>
                </a:solidFill>
                <a:latin typeface="Cambria" panose="02040503050406030204" pitchFamily="18" charset="0"/>
              </a:rPr>
              <a:t>This locates the insertion point for the value.</a:t>
            </a:r>
            <a:endParaRPr lang="en-US" altLang="en-US" sz="1600" noProof="1">
              <a:solidFill>
                <a:srgbClr val="000000"/>
              </a:solidFill>
              <a:latin typeface="Cambria" panose="02040503050406030204" pitchFamily="18" charset="0"/>
            </a:endParaRPr>
          </a:p>
        </p:txBody>
      </p:sp>
      <p:sp>
        <p:nvSpPr>
          <p:cNvPr id="3" name="Slayt Numarası Yer Tutucusu 2">
            <a:extLst>
              <a:ext uri="{FF2B5EF4-FFF2-40B4-BE49-F238E27FC236}">
                <a16:creationId xmlns:a16="http://schemas.microsoft.com/office/drawing/2014/main" id="{F4BA3FD3-D43F-494F-85B9-5BED9C1D28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045B3-A81F-4B14-96F5-518F075FBA4B}" type="slidenum">
              <a:rPr lang="en-US" noProof="1" smtClean="0"/>
              <a:pPr/>
              <a:t>28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235413218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noProof="1">
                <a:solidFill>
                  <a:srgbClr val="24B5A1"/>
                </a:solidFill>
                <a:latin typeface="Calibri" panose="020F0502020204030204" pitchFamily="34" charset="0"/>
              </a:rPr>
              <a:t>12.4.1  </a:t>
            </a:r>
            <a:r>
              <a:rPr lang="en-US" noProof="1">
                <a:solidFill>
                  <a:srgbClr val="3380E6"/>
                </a:solidFill>
                <a:latin typeface="Calibri" panose="020F0502020204030204" pitchFamily="34" charset="0"/>
              </a:rPr>
              <a:t>Function </a:t>
            </a:r>
            <a:r>
              <a:rPr lang="en-US" sz="3200" noProof="1">
                <a:solidFill>
                  <a:srgbClr val="3380E6"/>
                </a:solidFill>
                <a:latin typeface="Consolas" panose="020B0609020204030204" pitchFamily="49" charset="0"/>
              </a:rPr>
              <a:t>insert </a:t>
            </a:r>
            <a:r>
              <a:rPr lang="en-US" noProof="1">
                <a:solidFill>
                  <a:srgbClr val="3380E6"/>
                </a:solidFill>
                <a:latin typeface="Calibri" panose="020F0502020204030204" pitchFamily="34" charset="0"/>
              </a:rPr>
              <a:t>(Cont.)</a:t>
            </a:r>
          </a:p>
        </p:txBody>
      </p:sp>
      <p:sp>
        <p:nvSpPr>
          <p:cNvPr id="57347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eaLnBrk="1" hangingPunct="1">
              <a:lnSpc>
                <a:spcPct val="150000"/>
              </a:lnSpc>
            </a:pPr>
            <a:r>
              <a:rPr lang="en-US" altLang="en-US" sz="2000" noProof="1">
                <a:solidFill>
                  <a:srgbClr val="000000"/>
                </a:solidFill>
                <a:latin typeface="Cambria" panose="02040503050406030204" pitchFamily="18" charset="0"/>
              </a:rPr>
              <a:t>If </a:t>
            </a:r>
            <a:r>
              <a:rPr lang="en-US" altLang="en-US" sz="2000" noProof="1">
                <a:solidFill>
                  <a:srgbClr val="000000"/>
                </a:solidFill>
                <a:latin typeface="Consolas" panose="020B0609020204030204" pitchFamily="49" charset="0"/>
              </a:rPr>
              <a:t>previousPtr</a:t>
            </a:r>
            <a:r>
              <a:rPr lang="en-US" altLang="en-US" sz="2000" noProof="1">
                <a:solidFill>
                  <a:srgbClr val="000000"/>
                </a:solidFill>
                <a:latin typeface="Cambria" panose="02040503050406030204" pitchFamily="18" charset="0"/>
              </a:rPr>
              <a:t> is </a:t>
            </a:r>
            <a:r>
              <a:rPr lang="en-US" altLang="en-US" sz="2000" noProof="1">
                <a:solidFill>
                  <a:srgbClr val="000000"/>
                </a:solidFill>
                <a:latin typeface="Consolas" panose="020B0609020204030204" pitchFamily="49" charset="0"/>
              </a:rPr>
              <a:t>NULL</a:t>
            </a:r>
            <a:r>
              <a:rPr lang="en-US" altLang="en-US" sz="2000" noProof="1">
                <a:solidFill>
                  <a:srgbClr val="000000"/>
                </a:solidFill>
                <a:latin typeface="Cambria" panose="02040503050406030204" pitchFamily="18" charset="0"/>
              </a:rPr>
              <a:t>, </a:t>
            </a:r>
          </a:p>
          <a:p>
            <a:pPr lvl="1">
              <a:lnSpc>
                <a:spcPct val="150000"/>
              </a:lnSpc>
            </a:pPr>
            <a:r>
              <a:rPr lang="en-US" altLang="en-US" sz="1800" noProof="1">
                <a:solidFill>
                  <a:srgbClr val="000000"/>
                </a:solidFill>
                <a:latin typeface="Cambria" panose="02040503050406030204" pitchFamily="18" charset="0"/>
              </a:rPr>
              <a:t>insert the new node as the first node in the list. </a:t>
            </a:r>
          </a:p>
          <a:p>
            <a:pPr lvl="1">
              <a:lnSpc>
                <a:spcPct val="150000"/>
              </a:lnSpc>
            </a:pPr>
            <a:r>
              <a:rPr lang="en-US" altLang="en-US" sz="1800" noProof="1">
                <a:solidFill>
                  <a:srgbClr val="000000"/>
                </a:solidFill>
                <a:latin typeface="Cambria" panose="02040503050406030204" pitchFamily="18" charset="0"/>
              </a:rPr>
              <a:t>Assign </a:t>
            </a:r>
            <a:r>
              <a:rPr lang="en-US" altLang="en-US" sz="1800" noProof="1">
                <a:solidFill>
                  <a:srgbClr val="000000"/>
                </a:solidFill>
                <a:latin typeface="Consolas" panose="020B0609020204030204" pitchFamily="49" charset="0"/>
              </a:rPr>
              <a:t>*sPtr</a:t>
            </a:r>
            <a:r>
              <a:rPr lang="en-US" altLang="en-US" sz="1800" noProof="1">
                <a:solidFill>
                  <a:srgbClr val="000000"/>
                </a:solidFill>
                <a:latin typeface="Cambria" panose="02040503050406030204" pitchFamily="18" charset="0"/>
              </a:rPr>
              <a:t> to </a:t>
            </a:r>
            <a:r>
              <a:rPr lang="en-US" altLang="en-US" sz="1800" noProof="1">
                <a:solidFill>
                  <a:srgbClr val="000000"/>
                </a:solidFill>
                <a:latin typeface="Consolas" panose="020B0609020204030204" pitchFamily="49" charset="0"/>
              </a:rPr>
              <a:t>newPtr-&gt;nextPtr</a:t>
            </a:r>
            <a:r>
              <a:rPr lang="en-US" altLang="en-US" sz="1800" noProof="1">
                <a:solidFill>
                  <a:srgbClr val="000000"/>
                </a:solidFill>
                <a:latin typeface="Cambria" panose="02040503050406030204" pitchFamily="18" charset="0"/>
              </a:rPr>
              <a:t> (the new node link points to the former first node)</a:t>
            </a:r>
          </a:p>
          <a:p>
            <a:pPr lvl="1">
              <a:lnSpc>
                <a:spcPct val="150000"/>
              </a:lnSpc>
            </a:pPr>
            <a:r>
              <a:rPr lang="en-US" altLang="en-US" sz="1800" noProof="1">
                <a:solidFill>
                  <a:srgbClr val="000000"/>
                </a:solidFill>
                <a:latin typeface="Cambria" panose="02040503050406030204" pitchFamily="18" charset="0"/>
              </a:rPr>
              <a:t>assign </a:t>
            </a:r>
            <a:r>
              <a:rPr lang="en-US" altLang="en-US" sz="1800" noProof="1">
                <a:solidFill>
                  <a:srgbClr val="000000"/>
                </a:solidFill>
                <a:latin typeface="Consolas" panose="020B0609020204030204" pitchFamily="49" charset="0"/>
              </a:rPr>
              <a:t>newPtr</a:t>
            </a:r>
            <a:r>
              <a:rPr lang="en-US" altLang="en-US" sz="1800" noProof="1">
                <a:solidFill>
                  <a:srgbClr val="000000"/>
                </a:solidFill>
                <a:latin typeface="Cambria" panose="02040503050406030204" pitchFamily="18" charset="0"/>
              </a:rPr>
              <a:t> to </a:t>
            </a:r>
            <a:r>
              <a:rPr lang="en-US" altLang="en-US" sz="1800" noProof="1">
                <a:solidFill>
                  <a:srgbClr val="000000"/>
                </a:solidFill>
                <a:latin typeface="Consolas" panose="020B0609020204030204" pitchFamily="49" charset="0"/>
              </a:rPr>
              <a:t>*sPtr</a:t>
            </a:r>
            <a:r>
              <a:rPr lang="en-US" altLang="en-US" sz="1800" noProof="1">
                <a:solidFill>
                  <a:srgbClr val="000000"/>
                </a:solidFill>
                <a:latin typeface="Cambria" panose="02040503050406030204" pitchFamily="18" charset="0"/>
              </a:rPr>
              <a:t> (</a:t>
            </a:r>
            <a:r>
              <a:rPr lang="en-US" altLang="en-US" sz="1800" noProof="1">
                <a:solidFill>
                  <a:srgbClr val="000000"/>
                </a:solidFill>
                <a:latin typeface="Consolas" panose="020B0609020204030204" pitchFamily="49" charset="0"/>
              </a:rPr>
              <a:t>*sPtr</a:t>
            </a:r>
            <a:r>
              <a:rPr lang="en-US" altLang="en-US" sz="1800" noProof="1">
                <a:solidFill>
                  <a:srgbClr val="000000"/>
                </a:solidFill>
                <a:latin typeface="Cambria" panose="02040503050406030204" pitchFamily="18" charset="0"/>
              </a:rPr>
              <a:t> points to the new node). </a:t>
            </a:r>
          </a:p>
          <a:p>
            <a:pPr lvl="1">
              <a:lnSpc>
                <a:spcPct val="150000"/>
              </a:lnSpc>
            </a:pPr>
            <a:endParaRPr lang="en-US" altLang="en-US" sz="1800" noProof="1">
              <a:solidFill>
                <a:srgbClr val="000000"/>
              </a:solidFill>
              <a:latin typeface="Cambria" panose="02040503050406030204" pitchFamily="18" charset="0"/>
            </a:endParaRPr>
          </a:p>
          <a:p>
            <a:pPr lvl="1">
              <a:lnSpc>
                <a:spcPct val="150000"/>
              </a:lnSpc>
            </a:pPr>
            <a:endParaRPr lang="en-US" altLang="en-US" sz="1800" noProof="1">
              <a:solidFill>
                <a:srgbClr val="000000"/>
              </a:solidFill>
              <a:latin typeface="Cambria" panose="02040503050406030204" pitchFamily="18" charset="0"/>
            </a:endParaRPr>
          </a:p>
          <a:p>
            <a:pPr eaLnBrk="1" hangingPunct="1">
              <a:lnSpc>
                <a:spcPct val="150000"/>
              </a:lnSpc>
            </a:pPr>
            <a:r>
              <a:rPr lang="en-US" altLang="en-US" sz="2000" noProof="1">
                <a:solidFill>
                  <a:srgbClr val="000000"/>
                </a:solidFill>
                <a:latin typeface="Cambria" panose="02040503050406030204" pitchFamily="18" charset="0"/>
              </a:rPr>
              <a:t>Otherwise, if </a:t>
            </a:r>
            <a:r>
              <a:rPr lang="en-US" altLang="en-US" sz="2000" noProof="1">
                <a:solidFill>
                  <a:srgbClr val="000000"/>
                </a:solidFill>
                <a:latin typeface="Consolas" panose="020B0609020204030204" pitchFamily="49" charset="0"/>
              </a:rPr>
              <a:t>previousPtr</a:t>
            </a:r>
            <a:r>
              <a:rPr lang="en-US" altLang="en-US" sz="2000" noProof="1">
                <a:solidFill>
                  <a:srgbClr val="000000"/>
                </a:solidFill>
                <a:latin typeface="Cambria" panose="02040503050406030204" pitchFamily="18" charset="0"/>
              </a:rPr>
              <a:t> is not </a:t>
            </a:r>
            <a:r>
              <a:rPr lang="en-US" altLang="en-US" sz="2000" noProof="1">
                <a:solidFill>
                  <a:srgbClr val="000000"/>
                </a:solidFill>
                <a:latin typeface="Consolas" panose="020B0609020204030204" pitchFamily="49" charset="0"/>
              </a:rPr>
              <a:t>NULL</a:t>
            </a:r>
            <a:r>
              <a:rPr lang="en-US" altLang="en-US" sz="2000" noProof="1">
                <a:solidFill>
                  <a:srgbClr val="000000"/>
                </a:solidFill>
                <a:latin typeface="Cambria" panose="02040503050406030204" pitchFamily="18" charset="0"/>
              </a:rPr>
              <a:t>, </a:t>
            </a:r>
          </a:p>
          <a:p>
            <a:pPr lvl="1">
              <a:lnSpc>
                <a:spcPct val="150000"/>
              </a:lnSpc>
            </a:pPr>
            <a:r>
              <a:rPr lang="en-US" altLang="en-US" sz="1800" noProof="1">
                <a:solidFill>
                  <a:srgbClr val="000000"/>
                </a:solidFill>
                <a:latin typeface="Cambria" panose="02040503050406030204" pitchFamily="18" charset="0"/>
              </a:rPr>
              <a:t>the new node is inserted in place. </a:t>
            </a:r>
          </a:p>
          <a:p>
            <a:pPr lvl="1">
              <a:lnSpc>
                <a:spcPct val="150000"/>
              </a:lnSpc>
            </a:pPr>
            <a:r>
              <a:rPr lang="en-US" altLang="en-US" sz="1800" noProof="1">
                <a:solidFill>
                  <a:srgbClr val="000000"/>
                </a:solidFill>
                <a:latin typeface="Cambria" panose="02040503050406030204" pitchFamily="18" charset="0"/>
              </a:rPr>
              <a:t>Assign </a:t>
            </a:r>
            <a:r>
              <a:rPr lang="en-US" altLang="en-US" sz="1800" noProof="1">
                <a:solidFill>
                  <a:srgbClr val="000000"/>
                </a:solidFill>
                <a:latin typeface="Consolas" panose="020B0609020204030204" pitchFamily="49" charset="0"/>
              </a:rPr>
              <a:t>newPtr</a:t>
            </a:r>
            <a:r>
              <a:rPr lang="en-US" altLang="en-US" sz="1800" noProof="1">
                <a:solidFill>
                  <a:srgbClr val="000000"/>
                </a:solidFill>
                <a:latin typeface="Cambria" panose="02040503050406030204" pitchFamily="18" charset="0"/>
              </a:rPr>
              <a:t> to </a:t>
            </a:r>
            <a:r>
              <a:rPr lang="en-US" altLang="en-US" sz="1800" noProof="1">
                <a:solidFill>
                  <a:srgbClr val="000000"/>
                </a:solidFill>
                <a:latin typeface="Consolas" panose="020B0609020204030204" pitchFamily="49" charset="0"/>
              </a:rPr>
              <a:t>previousPtr-&gt;nextPtr</a:t>
            </a:r>
            <a:r>
              <a:rPr lang="en-US" altLang="en-US" sz="1800" noProof="1">
                <a:solidFill>
                  <a:srgbClr val="000000"/>
                </a:solidFill>
                <a:latin typeface="Cambria" panose="02040503050406030204" pitchFamily="18" charset="0"/>
              </a:rPr>
              <a:t> (the </a:t>
            </a:r>
            <a:r>
              <a:rPr lang="en-US" altLang="en-US" sz="1800" i="1" noProof="1">
                <a:solidFill>
                  <a:srgbClr val="000000"/>
                </a:solidFill>
                <a:latin typeface="Cambria" panose="02040503050406030204" pitchFamily="18" charset="0"/>
              </a:rPr>
              <a:t>previous</a:t>
            </a:r>
            <a:r>
              <a:rPr lang="en-US" altLang="en-US" sz="1800" noProof="1">
                <a:solidFill>
                  <a:srgbClr val="000000"/>
                </a:solidFill>
                <a:latin typeface="Cambria" panose="02040503050406030204" pitchFamily="18" charset="0"/>
              </a:rPr>
              <a:t> node points to the new node) </a:t>
            </a:r>
          </a:p>
          <a:p>
            <a:pPr lvl="1">
              <a:lnSpc>
                <a:spcPct val="150000"/>
              </a:lnSpc>
            </a:pPr>
            <a:r>
              <a:rPr lang="en-US" altLang="en-US" sz="1800" noProof="1">
                <a:solidFill>
                  <a:srgbClr val="000000"/>
                </a:solidFill>
                <a:latin typeface="Cambria" panose="02040503050406030204" pitchFamily="18" charset="0"/>
              </a:rPr>
              <a:t>assign </a:t>
            </a:r>
            <a:r>
              <a:rPr lang="en-US" altLang="en-US" sz="1800" noProof="1">
                <a:solidFill>
                  <a:srgbClr val="000000"/>
                </a:solidFill>
                <a:latin typeface="Consolas" panose="020B0609020204030204" pitchFamily="49" charset="0"/>
              </a:rPr>
              <a:t>currentPtr</a:t>
            </a:r>
            <a:r>
              <a:rPr lang="en-US" altLang="en-US" sz="1800" noProof="1">
                <a:solidFill>
                  <a:srgbClr val="000000"/>
                </a:solidFill>
                <a:latin typeface="Cambria" panose="02040503050406030204" pitchFamily="18" charset="0"/>
              </a:rPr>
              <a:t> to </a:t>
            </a:r>
            <a:r>
              <a:rPr lang="en-US" altLang="en-US" sz="1800" noProof="1">
                <a:solidFill>
                  <a:srgbClr val="000000"/>
                </a:solidFill>
                <a:latin typeface="Consolas" panose="020B0609020204030204" pitchFamily="49" charset="0"/>
              </a:rPr>
              <a:t>newPtr-&gt;nextPtr</a:t>
            </a:r>
            <a:r>
              <a:rPr lang="en-US" altLang="en-US" sz="1800" noProof="1">
                <a:solidFill>
                  <a:srgbClr val="000000"/>
                </a:solidFill>
                <a:latin typeface="Cambria" panose="02040503050406030204" pitchFamily="18" charset="0"/>
              </a:rPr>
              <a:t> (the </a:t>
            </a:r>
            <a:r>
              <a:rPr lang="en-US" altLang="en-US" sz="1800" i="1" noProof="1">
                <a:solidFill>
                  <a:srgbClr val="000000"/>
                </a:solidFill>
                <a:latin typeface="Cambria" panose="02040503050406030204" pitchFamily="18" charset="0"/>
              </a:rPr>
              <a:t>new</a:t>
            </a:r>
            <a:r>
              <a:rPr lang="en-US" altLang="en-US" sz="1800" noProof="1">
                <a:solidFill>
                  <a:srgbClr val="000000"/>
                </a:solidFill>
                <a:latin typeface="Cambria" panose="02040503050406030204" pitchFamily="18" charset="0"/>
              </a:rPr>
              <a:t> node link points to the </a:t>
            </a:r>
            <a:r>
              <a:rPr lang="en-US" altLang="en-US" sz="1800" i="1" noProof="1">
                <a:solidFill>
                  <a:srgbClr val="000000"/>
                </a:solidFill>
                <a:latin typeface="Cambria" panose="02040503050406030204" pitchFamily="18" charset="0"/>
              </a:rPr>
              <a:t>current</a:t>
            </a:r>
            <a:r>
              <a:rPr lang="en-US" altLang="en-US" sz="1800" noProof="1">
                <a:solidFill>
                  <a:srgbClr val="000000"/>
                </a:solidFill>
                <a:latin typeface="Cambria" panose="02040503050406030204" pitchFamily="18" charset="0"/>
              </a:rPr>
              <a:t> node).</a:t>
            </a:r>
          </a:p>
        </p:txBody>
      </p:sp>
      <p:sp>
        <p:nvSpPr>
          <p:cNvPr id="3" name="Slayt Numarası Yer Tutucusu 2">
            <a:extLst>
              <a:ext uri="{FF2B5EF4-FFF2-40B4-BE49-F238E27FC236}">
                <a16:creationId xmlns:a16="http://schemas.microsoft.com/office/drawing/2014/main" id="{4B85F095-83D4-40CB-A34E-70FA93C890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045B3-A81F-4B14-96F5-518F075FBA4B}" type="slidenum">
              <a:rPr lang="en-US" noProof="1" smtClean="0"/>
              <a:pPr/>
              <a:t>29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78014896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htp8_12_Page_28"/>
          <p:cNvPicPr>
            <a:picLocks noGrp="1" noChangeAspect="1"/>
          </p:cNvPicPr>
          <p:nvPr isPhoto="1"/>
        </p:nvPicPr>
        <p:blipFill>
          <a:blip r:embed="rId3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7351" y="0"/>
            <a:ext cx="8875713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92A95244-0E4F-4D40-925F-DA41F2A3DA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045B3-A81F-4B14-96F5-518F075FBA4B}" type="slidenum">
              <a:rPr lang="en-US" smtClean="0"/>
              <a:pPr/>
              <a:t>30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2819400" y="3124200"/>
            <a:ext cx="6629400" cy="2971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94618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noProof="1">
                <a:solidFill>
                  <a:srgbClr val="24B5A1"/>
                </a:solidFill>
                <a:latin typeface="Calibri" panose="020F0502020204030204" pitchFamily="34" charset="0"/>
              </a:rPr>
              <a:t>12.4.2  </a:t>
            </a:r>
            <a:r>
              <a:rPr lang="en-US" noProof="1">
                <a:solidFill>
                  <a:srgbClr val="3380E6"/>
                </a:solidFill>
                <a:latin typeface="Calibri" panose="020F0502020204030204" pitchFamily="34" charset="0"/>
              </a:rPr>
              <a:t>Function </a:t>
            </a:r>
            <a:r>
              <a:rPr lang="en-US" sz="3200" noProof="1">
                <a:solidFill>
                  <a:srgbClr val="3380E6"/>
                </a:solidFill>
                <a:latin typeface="Consolas" panose="020B0609020204030204" pitchFamily="49" charset="0"/>
              </a:rPr>
              <a:t>delete </a:t>
            </a:r>
            <a:endParaRPr lang="en-US" noProof="1">
              <a:solidFill>
                <a:srgbClr val="3380E6"/>
              </a:solidFill>
              <a:latin typeface="Consolas" panose="020B0609020204030204" pitchFamily="49" charset="0"/>
            </a:endParaRPr>
          </a:p>
        </p:txBody>
      </p:sp>
      <p:sp>
        <p:nvSpPr>
          <p:cNvPr id="62467" name="Text Placeholder 2"/>
          <p:cNvSpPr>
            <a:spLocks noGrp="1"/>
          </p:cNvSpPr>
          <p:nvPr>
            <p:ph type="body" idx="1"/>
          </p:nvPr>
        </p:nvSpPr>
        <p:spPr>
          <a:xfrm>
            <a:off x="762000" y="1295401"/>
            <a:ext cx="10439400" cy="5060950"/>
          </a:xfrm>
        </p:spPr>
        <p:txBody>
          <a:bodyPr>
            <a:normAutofit fontScale="92500" lnSpcReduction="20000"/>
          </a:bodyPr>
          <a:lstStyle/>
          <a:p>
            <a:pPr eaLnBrk="1" hangingPunct="1">
              <a:lnSpc>
                <a:spcPct val="120000"/>
              </a:lnSpc>
            </a:pPr>
            <a:r>
              <a:rPr lang="en-US" altLang="en-US" sz="2300" noProof="1">
                <a:solidFill>
                  <a:srgbClr val="000000"/>
                </a:solidFill>
                <a:latin typeface="Cambria" panose="02040503050406030204" pitchFamily="18" charset="0"/>
              </a:rPr>
              <a:t>Function </a:t>
            </a:r>
            <a:r>
              <a:rPr lang="en-US" altLang="en-US" sz="2300" noProof="1">
                <a:solidFill>
                  <a:srgbClr val="000000"/>
                </a:solidFill>
                <a:latin typeface="Consolas" panose="020B0609020204030204" pitchFamily="49" charset="0"/>
              </a:rPr>
              <a:t>delete</a:t>
            </a:r>
            <a:r>
              <a:rPr lang="en-US" altLang="en-US" sz="2300" noProof="1">
                <a:solidFill>
                  <a:srgbClr val="000000"/>
                </a:solidFill>
                <a:latin typeface="Cambria" panose="02040503050406030204" pitchFamily="18" charset="0"/>
              </a:rPr>
              <a:t> receives the address of the pointer to the start of the list and a character to be deleted.</a:t>
            </a:r>
          </a:p>
          <a:p>
            <a:pPr eaLnBrk="1" hangingPunct="1">
              <a:lnSpc>
                <a:spcPct val="120000"/>
              </a:lnSpc>
            </a:pPr>
            <a:endParaRPr lang="en-US" altLang="en-US" sz="2300" noProof="1">
              <a:solidFill>
                <a:srgbClr val="000000"/>
              </a:solidFill>
              <a:latin typeface="Cambria" panose="02040503050406030204" pitchFamily="18" charset="0"/>
            </a:endParaRPr>
          </a:p>
          <a:p>
            <a:pPr eaLnBrk="1" hangingPunct="1">
              <a:lnSpc>
                <a:spcPct val="120000"/>
              </a:lnSpc>
            </a:pPr>
            <a:endParaRPr lang="en-US" altLang="en-US" sz="2300" noProof="1">
              <a:solidFill>
                <a:srgbClr val="000000"/>
              </a:solidFill>
              <a:latin typeface="Cambria" panose="02040503050406030204" pitchFamily="18" charset="0"/>
            </a:endParaRPr>
          </a:p>
          <a:p>
            <a:pPr eaLnBrk="1" hangingPunct="1">
              <a:lnSpc>
                <a:spcPct val="120000"/>
              </a:lnSpc>
            </a:pPr>
            <a:r>
              <a:rPr lang="en-US" altLang="en-US" sz="2300" noProof="1">
                <a:solidFill>
                  <a:srgbClr val="000000"/>
                </a:solidFill>
                <a:latin typeface="Cambria" panose="02040503050406030204" pitchFamily="18" charset="0"/>
              </a:rPr>
              <a:t>Steps for deleting a character from the list:</a:t>
            </a:r>
          </a:p>
          <a:p>
            <a:pPr lvl="3">
              <a:lnSpc>
                <a:spcPct val="120000"/>
              </a:lnSpc>
            </a:pPr>
            <a:endParaRPr lang="en-US" altLang="en-US" sz="1200" noProof="1">
              <a:solidFill>
                <a:srgbClr val="000000"/>
              </a:solidFill>
              <a:latin typeface="Cambria" panose="02040503050406030204" pitchFamily="18" charset="0"/>
            </a:endParaRPr>
          </a:p>
          <a:p>
            <a:pPr lvl="1" eaLnBrk="1" hangingPunct="1">
              <a:lnSpc>
                <a:spcPct val="120000"/>
              </a:lnSpc>
            </a:pPr>
            <a:r>
              <a:rPr lang="en-US" altLang="en-US" sz="2000" noProof="1">
                <a:solidFill>
                  <a:srgbClr val="000000"/>
                </a:solidFill>
                <a:latin typeface="Cambria" panose="02040503050406030204" pitchFamily="18" charset="0"/>
              </a:rPr>
              <a:t>If the character to be deleted matches the character in the first node of the list, </a:t>
            </a:r>
          </a:p>
          <a:p>
            <a:pPr lvl="2">
              <a:lnSpc>
                <a:spcPct val="120000"/>
              </a:lnSpc>
            </a:pPr>
            <a:r>
              <a:rPr lang="en-US" altLang="en-US" sz="2000" noProof="1">
                <a:solidFill>
                  <a:srgbClr val="000000"/>
                </a:solidFill>
                <a:latin typeface="Cambria" panose="02040503050406030204" pitchFamily="18" charset="0"/>
              </a:rPr>
              <a:t>assign </a:t>
            </a:r>
            <a:r>
              <a:rPr lang="en-US" altLang="en-US" sz="2000" noProof="1">
                <a:solidFill>
                  <a:srgbClr val="000000"/>
                </a:solidFill>
                <a:latin typeface="Consolas" panose="020B0609020204030204" pitchFamily="49" charset="0"/>
              </a:rPr>
              <a:t>*sPtr</a:t>
            </a:r>
            <a:r>
              <a:rPr lang="en-US" altLang="en-US" sz="2000" noProof="1">
                <a:solidFill>
                  <a:srgbClr val="000000"/>
                </a:solidFill>
                <a:latin typeface="Cambria" panose="02040503050406030204" pitchFamily="18" charset="0"/>
              </a:rPr>
              <a:t> to </a:t>
            </a:r>
            <a:r>
              <a:rPr lang="en-US" altLang="en-US" sz="2000" noProof="1">
                <a:solidFill>
                  <a:srgbClr val="000000"/>
                </a:solidFill>
                <a:latin typeface="Consolas" panose="020B0609020204030204" pitchFamily="49" charset="0"/>
              </a:rPr>
              <a:t>tempPtr</a:t>
            </a:r>
            <a:r>
              <a:rPr lang="en-US" altLang="en-US" sz="2000" noProof="1">
                <a:solidFill>
                  <a:srgbClr val="000000"/>
                </a:solidFill>
                <a:latin typeface="Cambria" panose="02040503050406030204" pitchFamily="18" charset="0"/>
              </a:rPr>
              <a:t> (</a:t>
            </a:r>
            <a:r>
              <a:rPr lang="en-US" altLang="en-US" sz="2000" noProof="1">
                <a:solidFill>
                  <a:srgbClr val="000000"/>
                </a:solidFill>
                <a:latin typeface="Consolas" panose="020B0609020204030204" pitchFamily="49" charset="0"/>
              </a:rPr>
              <a:t>tempPtr</a:t>
            </a:r>
            <a:r>
              <a:rPr lang="en-US" altLang="en-US" sz="2000" noProof="1">
                <a:solidFill>
                  <a:srgbClr val="000000"/>
                </a:solidFill>
                <a:latin typeface="Cambria" panose="02040503050406030204" pitchFamily="18" charset="0"/>
              </a:rPr>
              <a:t> will be used to </a:t>
            </a:r>
            <a:r>
              <a:rPr lang="en-US" altLang="en-US" sz="2000" noProof="1">
                <a:solidFill>
                  <a:srgbClr val="000000"/>
                </a:solidFill>
                <a:latin typeface="Consolas" panose="020B0609020204030204" pitchFamily="49" charset="0"/>
              </a:rPr>
              <a:t>free</a:t>
            </a:r>
            <a:r>
              <a:rPr lang="en-US" altLang="en-US" sz="2000" noProof="1">
                <a:solidFill>
                  <a:srgbClr val="000000"/>
                </a:solidFill>
                <a:latin typeface="Cambria" panose="02040503050406030204" pitchFamily="18" charset="0"/>
              </a:rPr>
              <a:t> the unneeded memory), </a:t>
            </a:r>
          </a:p>
          <a:p>
            <a:pPr lvl="2">
              <a:lnSpc>
                <a:spcPct val="120000"/>
              </a:lnSpc>
            </a:pPr>
            <a:r>
              <a:rPr lang="en-US" altLang="en-US" sz="2000" noProof="1">
                <a:solidFill>
                  <a:srgbClr val="000000"/>
                </a:solidFill>
                <a:latin typeface="Cambria" panose="02040503050406030204" pitchFamily="18" charset="0"/>
              </a:rPr>
              <a:t>assign </a:t>
            </a:r>
            <a:r>
              <a:rPr lang="en-US" altLang="en-US" sz="2000" noProof="1">
                <a:solidFill>
                  <a:srgbClr val="000000"/>
                </a:solidFill>
                <a:latin typeface="Consolas" panose="020B0609020204030204" pitchFamily="49" charset="0"/>
              </a:rPr>
              <a:t>(*sPtr)-&gt;nextPtr</a:t>
            </a:r>
            <a:r>
              <a:rPr lang="en-US" altLang="en-US" sz="2000" noProof="1">
                <a:solidFill>
                  <a:srgbClr val="000000"/>
                </a:solidFill>
                <a:latin typeface="Cambria" panose="02040503050406030204" pitchFamily="18" charset="0"/>
              </a:rPr>
              <a:t> to </a:t>
            </a:r>
            <a:r>
              <a:rPr lang="en-US" altLang="en-US" sz="2000" noProof="1">
                <a:solidFill>
                  <a:srgbClr val="000000"/>
                </a:solidFill>
                <a:latin typeface="Consolas" panose="020B0609020204030204" pitchFamily="49" charset="0"/>
              </a:rPr>
              <a:t>*sPtr</a:t>
            </a:r>
            <a:r>
              <a:rPr lang="en-US" altLang="en-US" sz="2000" noProof="1">
                <a:solidFill>
                  <a:srgbClr val="000000"/>
                </a:solidFill>
                <a:latin typeface="Cambria" panose="02040503050406030204" pitchFamily="18" charset="0"/>
              </a:rPr>
              <a:t> (</a:t>
            </a:r>
            <a:r>
              <a:rPr lang="en-US" altLang="en-US" sz="2000" noProof="1">
                <a:solidFill>
                  <a:srgbClr val="000000"/>
                </a:solidFill>
                <a:latin typeface="Consolas" panose="020B0609020204030204" pitchFamily="49" charset="0"/>
              </a:rPr>
              <a:t>*sPtr</a:t>
            </a:r>
            <a:r>
              <a:rPr lang="en-US" altLang="en-US" sz="2000" noProof="1">
                <a:solidFill>
                  <a:srgbClr val="000000"/>
                </a:solidFill>
                <a:latin typeface="Cambria" panose="02040503050406030204" pitchFamily="18" charset="0"/>
              </a:rPr>
              <a:t> now points to the second node in the list), </a:t>
            </a:r>
          </a:p>
          <a:p>
            <a:pPr lvl="2">
              <a:lnSpc>
                <a:spcPct val="120000"/>
              </a:lnSpc>
            </a:pPr>
            <a:r>
              <a:rPr lang="en-US" altLang="en-US" sz="2000" noProof="1">
                <a:solidFill>
                  <a:srgbClr val="000000"/>
                </a:solidFill>
                <a:latin typeface="Consolas" panose="020B0609020204030204" pitchFamily="49" charset="0"/>
              </a:rPr>
              <a:t>free</a:t>
            </a:r>
            <a:r>
              <a:rPr lang="en-US" altLang="en-US" sz="2000" noProof="1">
                <a:solidFill>
                  <a:srgbClr val="000000"/>
                </a:solidFill>
                <a:latin typeface="Cambria" panose="02040503050406030204" pitchFamily="18" charset="0"/>
              </a:rPr>
              <a:t> the memory pointed to by </a:t>
            </a:r>
            <a:r>
              <a:rPr lang="en-US" altLang="en-US" sz="2000" noProof="1">
                <a:solidFill>
                  <a:srgbClr val="000000"/>
                </a:solidFill>
                <a:latin typeface="Consolas" panose="020B0609020204030204" pitchFamily="49" charset="0"/>
              </a:rPr>
              <a:t>tempPtr</a:t>
            </a:r>
            <a:r>
              <a:rPr lang="en-US" altLang="en-US" sz="2000" noProof="1">
                <a:solidFill>
                  <a:srgbClr val="000000"/>
                </a:solidFill>
                <a:latin typeface="Cambria" panose="02040503050406030204" pitchFamily="18" charset="0"/>
              </a:rPr>
              <a:t>, </a:t>
            </a:r>
          </a:p>
          <a:p>
            <a:pPr lvl="2">
              <a:lnSpc>
                <a:spcPct val="120000"/>
              </a:lnSpc>
            </a:pPr>
            <a:r>
              <a:rPr lang="en-US" altLang="en-US" sz="2000" noProof="1">
                <a:solidFill>
                  <a:srgbClr val="000000"/>
                </a:solidFill>
                <a:latin typeface="Cambria" panose="02040503050406030204" pitchFamily="18" charset="0"/>
              </a:rPr>
              <a:t>return the character that was deleted. </a:t>
            </a:r>
          </a:p>
          <a:p>
            <a:pPr lvl="2">
              <a:lnSpc>
                <a:spcPct val="120000"/>
              </a:lnSpc>
            </a:pPr>
            <a:endParaRPr lang="en-US" altLang="en-US" sz="2000" noProof="1">
              <a:solidFill>
                <a:srgbClr val="000000"/>
              </a:solidFill>
              <a:latin typeface="Cambria" panose="02040503050406030204" pitchFamily="18" charset="0"/>
            </a:endParaRPr>
          </a:p>
          <a:p>
            <a:pPr lvl="1" eaLnBrk="1" hangingPunct="1">
              <a:lnSpc>
                <a:spcPct val="120000"/>
              </a:lnSpc>
            </a:pPr>
            <a:r>
              <a:rPr lang="en-US" altLang="en-US" sz="2000" noProof="1">
                <a:solidFill>
                  <a:srgbClr val="000000"/>
                </a:solidFill>
                <a:latin typeface="Cambria" panose="02040503050406030204" pitchFamily="18" charset="0"/>
              </a:rPr>
              <a:t>Otherwise, initialize </a:t>
            </a:r>
            <a:r>
              <a:rPr lang="en-US" altLang="en-US" sz="2000" noProof="1">
                <a:solidFill>
                  <a:srgbClr val="000000"/>
                </a:solidFill>
                <a:latin typeface="Consolas" panose="020B0609020204030204" pitchFamily="49" charset="0"/>
              </a:rPr>
              <a:t>previousPtr</a:t>
            </a:r>
            <a:r>
              <a:rPr lang="en-US" altLang="en-US" sz="2000" noProof="1">
                <a:solidFill>
                  <a:srgbClr val="000000"/>
                </a:solidFill>
                <a:latin typeface="Cambria" panose="02040503050406030204" pitchFamily="18" charset="0"/>
              </a:rPr>
              <a:t> with </a:t>
            </a:r>
            <a:r>
              <a:rPr lang="en-US" altLang="en-US" sz="2000" noProof="1">
                <a:solidFill>
                  <a:srgbClr val="000000"/>
                </a:solidFill>
                <a:latin typeface="Consolas" panose="020B0609020204030204" pitchFamily="49" charset="0"/>
              </a:rPr>
              <a:t>*sPtr</a:t>
            </a:r>
            <a:r>
              <a:rPr lang="en-US" altLang="en-US" sz="2000" noProof="1">
                <a:solidFill>
                  <a:srgbClr val="000000"/>
                </a:solidFill>
                <a:latin typeface="Cambria" panose="02040503050406030204" pitchFamily="18" charset="0"/>
              </a:rPr>
              <a:t> and initialize </a:t>
            </a:r>
            <a:r>
              <a:rPr lang="en-US" altLang="en-US" sz="2000" noProof="1">
                <a:solidFill>
                  <a:srgbClr val="000000"/>
                </a:solidFill>
                <a:latin typeface="Consolas" panose="020B0609020204030204" pitchFamily="49" charset="0"/>
              </a:rPr>
              <a:t>currentPtr</a:t>
            </a:r>
            <a:r>
              <a:rPr lang="en-US" altLang="en-US" sz="2000" noProof="1">
                <a:solidFill>
                  <a:srgbClr val="000000"/>
                </a:solidFill>
                <a:latin typeface="Cambria" panose="02040503050406030204" pitchFamily="18" charset="0"/>
              </a:rPr>
              <a:t> with         </a:t>
            </a:r>
            <a:r>
              <a:rPr lang="en-US" altLang="en-US" sz="2000" noProof="1">
                <a:solidFill>
                  <a:srgbClr val="000000"/>
                </a:solidFill>
                <a:latin typeface="Consolas" panose="020B0609020204030204" pitchFamily="49" charset="0"/>
              </a:rPr>
              <a:t>(*sPtr)-&gt;nextPtr</a:t>
            </a:r>
            <a:r>
              <a:rPr lang="en-US" altLang="en-US" sz="2000" noProof="1">
                <a:solidFill>
                  <a:srgbClr val="000000"/>
                </a:solidFill>
                <a:latin typeface="Cambria" panose="02040503050406030204" pitchFamily="18" charset="0"/>
              </a:rPr>
              <a:t> to advance the second node. </a:t>
            </a:r>
          </a:p>
        </p:txBody>
      </p:sp>
      <p:sp>
        <p:nvSpPr>
          <p:cNvPr id="3" name="Slayt Numarası Yer Tutucusu 2">
            <a:extLst>
              <a:ext uri="{FF2B5EF4-FFF2-40B4-BE49-F238E27FC236}">
                <a16:creationId xmlns:a16="http://schemas.microsoft.com/office/drawing/2014/main" id="{8AD5973F-F269-4011-8757-EA10514BD1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045B3-A81F-4B14-96F5-518F075FBA4B}" type="slidenum">
              <a:rPr lang="en-US" noProof="1" smtClean="0"/>
              <a:pPr/>
              <a:t>31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3874671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noProof="1">
                <a:solidFill>
                  <a:srgbClr val="24B5A1"/>
                </a:solidFill>
                <a:latin typeface="Calibri" panose="020F0502020204030204" pitchFamily="34" charset="0"/>
              </a:rPr>
              <a:t>12.4.2  </a:t>
            </a:r>
            <a:r>
              <a:rPr lang="en-US" noProof="1">
                <a:solidFill>
                  <a:srgbClr val="3380E6"/>
                </a:solidFill>
                <a:latin typeface="Calibri" panose="020F0502020204030204" pitchFamily="34" charset="0"/>
              </a:rPr>
              <a:t>Function </a:t>
            </a:r>
            <a:r>
              <a:rPr lang="en-US" sz="3200" noProof="1">
                <a:solidFill>
                  <a:srgbClr val="3380E6"/>
                </a:solidFill>
                <a:latin typeface="Consolas" panose="020B0609020204030204" pitchFamily="49" charset="0"/>
              </a:rPr>
              <a:t>delete (cont.) </a:t>
            </a:r>
            <a:endParaRPr lang="en-US" noProof="1">
              <a:solidFill>
                <a:srgbClr val="3380E6"/>
              </a:solidFill>
              <a:latin typeface="Consolas" panose="020B0609020204030204" pitchFamily="49" charset="0"/>
            </a:endParaRPr>
          </a:p>
        </p:txBody>
      </p:sp>
      <p:sp>
        <p:nvSpPr>
          <p:cNvPr id="62467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95401"/>
            <a:ext cx="11201400" cy="4830763"/>
          </a:xfrm>
        </p:spPr>
        <p:txBody>
          <a:bodyPr>
            <a:normAutofit lnSpcReduction="10000"/>
          </a:bodyPr>
          <a:lstStyle/>
          <a:p>
            <a:pPr eaLnBrk="1" hangingPunct="1">
              <a:lnSpc>
                <a:spcPct val="120000"/>
              </a:lnSpc>
            </a:pPr>
            <a:r>
              <a:rPr lang="en-US" altLang="en-US" sz="2300" noProof="1">
                <a:solidFill>
                  <a:srgbClr val="000000"/>
                </a:solidFill>
                <a:latin typeface="Cambria" panose="02040503050406030204" pitchFamily="18" charset="0"/>
              </a:rPr>
              <a:t>Steps for deleting a character from the list:</a:t>
            </a:r>
          </a:p>
          <a:p>
            <a:pPr lvl="3">
              <a:lnSpc>
                <a:spcPct val="120000"/>
              </a:lnSpc>
            </a:pPr>
            <a:endParaRPr lang="en-US" altLang="en-US" sz="1200" noProof="1">
              <a:solidFill>
                <a:srgbClr val="000000"/>
              </a:solidFill>
              <a:latin typeface="Cambria" panose="02040503050406030204" pitchFamily="18" charset="0"/>
            </a:endParaRPr>
          </a:p>
          <a:p>
            <a:pPr lvl="1" eaLnBrk="1" hangingPunct="1">
              <a:lnSpc>
                <a:spcPct val="120000"/>
              </a:lnSpc>
            </a:pPr>
            <a:r>
              <a:rPr lang="en-US" altLang="en-US" sz="2000" noProof="1">
                <a:solidFill>
                  <a:srgbClr val="000000"/>
                </a:solidFill>
                <a:latin typeface="Cambria" panose="02040503050406030204" pitchFamily="18" charset="0"/>
              </a:rPr>
              <a:t>While </a:t>
            </a:r>
            <a:r>
              <a:rPr lang="en-US" altLang="en-US" sz="2000" noProof="1">
                <a:solidFill>
                  <a:srgbClr val="000000"/>
                </a:solidFill>
                <a:latin typeface="Consolas" panose="020B0609020204030204" pitchFamily="49" charset="0"/>
              </a:rPr>
              <a:t>currentPtr</a:t>
            </a:r>
            <a:r>
              <a:rPr lang="en-US" altLang="en-US" sz="2000" noProof="1">
                <a:solidFill>
                  <a:srgbClr val="000000"/>
                </a:solidFill>
                <a:latin typeface="Cambria" panose="02040503050406030204" pitchFamily="18" charset="0"/>
              </a:rPr>
              <a:t> is not </a:t>
            </a:r>
            <a:r>
              <a:rPr lang="en-US" altLang="en-US" sz="2000" noProof="1">
                <a:solidFill>
                  <a:srgbClr val="000000"/>
                </a:solidFill>
                <a:latin typeface="Consolas" panose="020B0609020204030204" pitchFamily="49" charset="0"/>
              </a:rPr>
              <a:t>NULL</a:t>
            </a:r>
            <a:r>
              <a:rPr lang="en-US" altLang="en-US" sz="2000" noProof="1">
                <a:solidFill>
                  <a:srgbClr val="000000"/>
                </a:solidFill>
                <a:latin typeface="Cambria" panose="02040503050406030204" pitchFamily="18" charset="0"/>
              </a:rPr>
              <a:t> and the value to be deleted is not equal to </a:t>
            </a:r>
            <a:r>
              <a:rPr lang="en-US" altLang="en-US" sz="2000" noProof="1">
                <a:solidFill>
                  <a:srgbClr val="000000"/>
                </a:solidFill>
                <a:latin typeface="Consolas" panose="020B0609020204030204" pitchFamily="49" charset="0"/>
              </a:rPr>
              <a:t>currentPtr-&gt;data</a:t>
            </a:r>
            <a:r>
              <a:rPr lang="en-US" altLang="en-US" sz="2000" noProof="1">
                <a:solidFill>
                  <a:srgbClr val="000000"/>
                </a:solidFill>
                <a:latin typeface="Cambria" panose="02040503050406030204" pitchFamily="18" charset="0"/>
              </a:rPr>
              <a:t>, </a:t>
            </a:r>
          </a:p>
          <a:p>
            <a:pPr lvl="2">
              <a:lnSpc>
                <a:spcPct val="120000"/>
              </a:lnSpc>
            </a:pPr>
            <a:r>
              <a:rPr lang="en-US" altLang="en-US" sz="1600" noProof="1">
                <a:solidFill>
                  <a:srgbClr val="000000"/>
                </a:solidFill>
                <a:latin typeface="Cambria" panose="02040503050406030204" pitchFamily="18" charset="0"/>
              </a:rPr>
              <a:t>assign </a:t>
            </a:r>
            <a:r>
              <a:rPr lang="en-US" altLang="en-US" sz="1600" noProof="1">
                <a:solidFill>
                  <a:srgbClr val="000000"/>
                </a:solidFill>
                <a:latin typeface="Consolas" panose="020B0609020204030204" pitchFamily="49" charset="0"/>
              </a:rPr>
              <a:t>currentPtr</a:t>
            </a:r>
            <a:r>
              <a:rPr lang="en-US" altLang="en-US" sz="1600" noProof="1">
                <a:solidFill>
                  <a:srgbClr val="000000"/>
                </a:solidFill>
                <a:latin typeface="Cambria" panose="02040503050406030204" pitchFamily="18" charset="0"/>
              </a:rPr>
              <a:t> to </a:t>
            </a:r>
            <a:r>
              <a:rPr lang="en-US" altLang="en-US" sz="1600" noProof="1">
                <a:solidFill>
                  <a:srgbClr val="000000"/>
                </a:solidFill>
                <a:latin typeface="Consolas" panose="020B0609020204030204" pitchFamily="49" charset="0"/>
              </a:rPr>
              <a:t>previousPtr</a:t>
            </a:r>
            <a:r>
              <a:rPr lang="en-US" altLang="en-US" sz="1600" noProof="1">
                <a:solidFill>
                  <a:srgbClr val="000000"/>
                </a:solidFill>
                <a:latin typeface="Cambria" panose="02040503050406030204" pitchFamily="18" charset="0"/>
              </a:rPr>
              <a:t>, </a:t>
            </a:r>
          </a:p>
          <a:p>
            <a:pPr lvl="2">
              <a:lnSpc>
                <a:spcPct val="120000"/>
              </a:lnSpc>
            </a:pPr>
            <a:r>
              <a:rPr lang="en-US" altLang="en-US" sz="1600" noProof="1">
                <a:solidFill>
                  <a:srgbClr val="000000"/>
                </a:solidFill>
                <a:latin typeface="Cambria" panose="02040503050406030204" pitchFamily="18" charset="0"/>
              </a:rPr>
              <a:t>assign </a:t>
            </a:r>
            <a:r>
              <a:rPr lang="en-US" altLang="en-US" sz="1600" noProof="1">
                <a:solidFill>
                  <a:srgbClr val="000000"/>
                </a:solidFill>
                <a:latin typeface="Consolas" panose="020B0609020204030204" pitchFamily="49" charset="0"/>
              </a:rPr>
              <a:t>currentPtr-&gt;nextPtr</a:t>
            </a:r>
            <a:r>
              <a:rPr lang="en-US" altLang="en-US" sz="1600" noProof="1">
                <a:solidFill>
                  <a:srgbClr val="000000"/>
                </a:solidFill>
                <a:latin typeface="Cambria" panose="02040503050406030204" pitchFamily="18" charset="0"/>
              </a:rPr>
              <a:t> to </a:t>
            </a:r>
            <a:r>
              <a:rPr lang="en-US" altLang="en-US" sz="1600" noProof="1">
                <a:solidFill>
                  <a:srgbClr val="000000"/>
                </a:solidFill>
                <a:latin typeface="Consolas" panose="020B0609020204030204" pitchFamily="49" charset="0"/>
              </a:rPr>
              <a:t>currentPtr</a:t>
            </a:r>
            <a:r>
              <a:rPr lang="en-US" altLang="en-US" sz="1600" noProof="1">
                <a:solidFill>
                  <a:srgbClr val="000000"/>
                </a:solidFill>
                <a:latin typeface="Cambria" panose="02040503050406030204" pitchFamily="18" charset="0"/>
              </a:rPr>
              <a:t>. </a:t>
            </a:r>
          </a:p>
          <a:p>
            <a:pPr lvl="2">
              <a:lnSpc>
                <a:spcPct val="120000"/>
              </a:lnSpc>
            </a:pPr>
            <a:r>
              <a:rPr lang="en-US" altLang="en-US" sz="1600" noProof="1">
                <a:solidFill>
                  <a:srgbClr val="000000"/>
                </a:solidFill>
                <a:latin typeface="Cambria" panose="02040503050406030204" pitchFamily="18" charset="0"/>
              </a:rPr>
              <a:t>This locates the character to be deleted if it’s contained in the list.</a:t>
            </a:r>
          </a:p>
          <a:p>
            <a:pPr lvl="3">
              <a:lnSpc>
                <a:spcPct val="120000"/>
              </a:lnSpc>
            </a:pPr>
            <a:endParaRPr lang="en-US" altLang="en-US" sz="1200" noProof="1">
              <a:solidFill>
                <a:srgbClr val="000000"/>
              </a:solidFill>
              <a:latin typeface="Cambria" panose="02040503050406030204" pitchFamily="18" charset="0"/>
            </a:endParaRPr>
          </a:p>
          <a:p>
            <a:pPr lvl="1">
              <a:lnSpc>
                <a:spcPct val="120000"/>
              </a:lnSpc>
            </a:pPr>
            <a:r>
              <a:rPr lang="en-US" altLang="en-US" sz="2000" noProof="1">
                <a:solidFill>
                  <a:srgbClr val="000000"/>
                </a:solidFill>
                <a:latin typeface="Cambria" panose="02040503050406030204" pitchFamily="18" charset="0"/>
              </a:rPr>
              <a:t>If </a:t>
            </a:r>
            <a:r>
              <a:rPr lang="en-US" altLang="en-US" sz="2000" noProof="1">
                <a:solidFill>
                  <a:srgbClr val="000000"/>
                </a:solidFill>
                <a:latin typeface="Consolas" panose="020B0609020204030204" pitchFamily="49" charset="0"/>
              </a:rPr>
              <a:t>currentPtr</a:t>
            </a:r>
            <a:r>
              <a:rPr lang="en-US" altLang="en-US" sz="2000" noProof="1">
                <a:solidFill>
                  <a:srgbClr val="000000"/>
                </a:solidFill>
                <a:latin typeface="Cambria" panose="02040503050406030204" pitchFamily="18" charset="0"/>
              </a:rPr>
              <a:t> is not </a:t>
            </a:r>
            <a:r>
              <a:rPr lang="en-US" altLang="en-US" sz="2000" noProof="1">
                <a:solidFill>
                  <a:srgbClr val="000000"/>
                </a:solidFill>
                <a:latin typeface="Consolas" panose="020B0609020204030204" pitchFamily="49" charset="0"/>
              </a:rPr>
              <a:t>NULL</a:t>
            </a:r>
            <a:r>
              <a:rPr lang="en-US" altLang="en-US" sz="2000" noProof="1">
                <a:solidFill>
                  <a:srgbClr val="000000"/>
                </a:solidFill>
                <a:latin typeface="Cambria" panose="02040503050406030204" pitchFamily="18" charset="0"/>
              </a:rPr>
              <a:t>, </a:t>
            </a:r>
          </a:p>
          <a:p>
            <a:pPr lvl="2">
              <a:lnSpc>
                <a:spcPct val="120000"/>
              </a:lnSpc>
            </a:pPr>
            <a:r>
              <a:rPr lang="en-US" altLang="en-US" sz="1800" noProof="1">
                <a:solidFill>
                  <a:srgbClr val="000000"/>
                </a:solidFill>
                <a:latin typeface="Cambria" panose="02040503050406030204" pitchFamily="18" charset="0"/>
              </a:rPr>
              <a:t>assign </a:t>
            </a:r>
            <a:r>
              <a:rPr lang="en-US" altLang="en-US" sz="1800" noProof="1">
                <a:solidFill>
                  <a:srgbClr val="000000"/>
                </a:solidFill>
                <a:latin typeface="Consolas" panose="020B0609020204030204" pitchFamily="49" charset="0"/>
              </a:rPr>
              <a:t>currentPtr</a:t>
            </a:r>
            <a:r>
              <a:rPr lang="en-US" altLang="en-US" sz="1800" noProof="1">
                <a:solidFill>
                  <a:srgbClr val="000000"/>
                </a:solidFill>
                <a:latin typeface="Cambria" panose="02040503050406030204" pitchFamily="18" charset="0"/>
              </a:rPr>
              <a:t> to </a:t>
            </a:r>
            <a:r>
              <a:rPr lang="en-US" altLang="en-US" sz="1800" noProof="1">
                <a:solidFill>
                  <a:srgbClr val="000000"/>
                </a:solidFill>
                <a:latin typeface="Consolas" panose="020B0609020204030204" pitchFamily="49" charset="0"/>
              </a:rPr>
              <a:t>tempPtr</a:t>
            </a:r>
            <a:r>
              <a:rPr lang="en-US" altLang="en-US" sz="1800" noProof="1">
                <a:solidFill>
                  <a:srgbClr val="000000"/>
                </a:solidFill>
                <a:latin typeface="Cambria" panose="02040503050406030204" pitchFamily="18" charset="0"/>
              </a:rPr>
              <a:t>, </a:t>
            </a:r>
          </a:p>
          <a:p>
            <a:pPr lvl="2">
              <a:lnSpc>
                <a:spcPct val="120000"/>
              </a:lnSpc>
            </a:pPr>
            <a:r>
              <a:rPr lang="en-US" altLang="en-US" sz="1800" noProof="1">
                <a:solidFill>
                  <a:srgbClr val="000000"/>
                </a:solidFill>
                <a:latin typeface="Cambria" panose="02040503050406030204" pitchFamily="18" charset="0"/>
              </a:rPr>
              <a:t>assign </a:t>
            </a:r>
            <a:r>
              <a:rPr lang="en-US" altLang="en-US" sz="1800" noProof="1">
                <a:solidFill>
                  <a:srgbClr val="000000"/>
                </a:solidFill>
                <a:latin typeface="Consolas" panose="020B0609020204030204" pitchFamily="49" charset="0"/>
              </a:rPr>
              <a:t>currentPtr-&gt;nextPtr</a:t>
            </a:r>
            <a:r>
              <a:rPr lang="en-US" altLang="en-US" sz="1800" noProof="1">
                <a:solidFill>
                  <a:srgbClr val="000000"/>
                </a:solidFill>
                <a:latin typeface="Cambria" panose="02040503050406030204" pitchFamily="18" charset="0"/>
              </a:rPr>
              <a:t> to </a:t>
            </a:r>
            <a:r>
              <a:rPr lang="en-US" altLang="en-US" sz="1800" noProof="1">
                <a:solidFill>
                  <a:srgbClr val="000000"/>
                </a:solidFill>
                <a:latin typeface="Consolas" panose="020B0609020204030204" pitchFamily="49" charset="0"/>
              </a:rPr>
              <a:t>previousPtr-&gt;nextPtr</a:t>
            </a:r>
            <a:r>
              <a:rPr lang="en-US" altLang="en-US" sz="1800" noProof="1">
                <a:solidFill>
                  <a:srgbClr val="000000"/>
                </a:solidFill>
                <a:latin typeface="Cambria" panose="02040503050406030204" pitchFamily="18" charset="0"/>
              </a:rPr>
              <a:t>, </a:t>
            </a:r>
          </a:p>
          <a:p>
            <a:pPr lvl="2">
              <a:lnSpc>
                <a:spcPct val="120000"/>
              </a:lnSpc>
            </a:pPr>
            <a:r>
              <a:rPr lang="en-US" altLang="en-US" sz="1800" noProof="1">
                <a:solidFill>
                  <a:srgbClr val="000000"/>
                </a:solidFill>
                <a:latin typeface="Cambria" panose="02040503050406030204" pitchFamily="18" charset="0"/>
              </a:rPr>
              <a:t>free the node pointed to by </a:t>
            </a:r>
            <a:r>
              <a:rPr lang="en-US" altLang="en-US" sz="1800" noProof="1">
                <a:solidFill>
                  <a:srgbClr val="000000"/>
                </a:solidFill>
                <a:latin typeface="Consolas" panose="020B0609020204030204" pitchFamily="49" charset="0"/>
              </a:rPr>
              <a:t>tempPtr</a:t>
            </a:r>
            <a:r>
              <a:rPr lang="en-US" altLang="en-US" sz="1800" noProof="1">
                <a:solidFill>
                  <a:srgbClr val="000000"/>
                </a:solidFill>
                <a:latin typeface="Cambria" panose="02040503050406030204" pitchFamily="18" charset="0"/>
              </a:rPr>
              <a:t>, and return the character that was deleted from the list. </a:t>
            </a:r>
          </a:p>
          <a:p>
            <a:pPr lvl="3">
              <a:lnSpc>
                <a:spcPct val="120000"/>
              </a:lnSpc>
            </a:pPr>
            <a:endParaRPr lang="en-US" altLang="en-US" sz="1400" noProof="1">
              <a:solidFill>
                <a:srgbClr val="000000"/>
              </a:solidFill>
              <a:latin typeface="Cambria" panose="02040503050406030204" pitchFamily="18" charset="0"/>
            </a:endParaRPr>
          </a:p>
          <a:p>
            <a:pPr lvl="1">
              <a:lnSpc>
                <a:spcPct val="120000"/>
              </a:lnSpc>
            </a:pPr>
            <a:r>
              <a:rPr lang="en-US" altLang="en-US" sz="2000" noProof="1">
                <a:solidFill>
                  <a:srgbClr val="000000"/>
                </a:solidFill>
                <a:latin typeface="Cambria" panose="02040503050406030204" pitchFamily="18" charset="0"/>
              </a:rPr>
              <a:t>If </a:t>
            </a:r>
            <a:r>
              <a:rPr lang="en-US" altLang="en-US" sz="2000" noProof="1">
                <a:solidFill>
                  <a:srgbClr val="000000"/>
                </a:solidFill>
                <a:latin typeface="Consolas" panose="020B0609020204030204" pitchFamily="49" charset="0"/>
              </a:rPr>
              <a:t>currentPtr</a:t>
            </a:r>
            <a:r>
              <a:rPr lang="en-US" altLang="en-US" sz="2000" noProof="1">
                <a:solidFill>
                  <a:srgbClr val="000000"/>
                </a:solidFill>
                <a:latin typeface="Cambria" panose="02040503050406030204" pitchFamily="18" charset="0"/>
              </a:rPr>
              <a:t> is </a:t>
            </a:r>
            <a:r>
              <a:rPr lang="en-US" altLang="en-US" sz="2000" noProof="1">
                <a:solidFill>
                  <a:srgbClr val="000000"/>
                </a:solidFill>
                <a:latin typeface="Consolas" panose="020B0609020204030204" pitchFamily="49" charset="0"/>
              </a:rPr>
              <a:t>NULL</a:t>
            </a:r>
            <a:r>
              <a:rPr lang="en-US" altLang="en-US" sz="2000" noProof="1">
                <a:solidFill>
                  <a:srgbClr val="000000"/>
                </a:solidFill>
                <a:latin typeface="Cambria" panose="02040503050406030204" pitchFamily="18" charset="0"/>
              </a:rPr>
              <a:t>, </a:t>
            </a:r>
          </a:p>
          <a:p>
            <a:pPr lvl="2">
              <a:lnSpc>
                <a:spcPct val="120000"/>
              </a:lnSpc>
            </a:pPr>
            <a:r>
              <a:rPr lang="en-US" altLang="en-US" sz="1800" noProof="1">
                <a:solidFill>
                  <a:srgbClr val="000000"/>
                </a:solidFill>
                <a:latin typeface="Cambria" panose="02040503050406030204" pitchFamily="18" charset="0"/>
              </a:rPr>
              <a:t>return the null character (</a:t>
            </a:r>
            <a:r>
              <a:rPr lang="en-US" altLang="en-US" sz="1800" noProof="1">
                <a:solidFill>
                  <a:srgbClr val="000000"/>
                </a:solidFill>
                <a:latin typeface="Consolas" panose="020B0609020204030204" pitchFamily="49" charset="0"/>
              </a:rPr>
              <a:t>'\0'</a:t>
            </a:r>
            <a:r>
              <a:rPr lang="en-US" altLang="en-US" sz="1800" noProof="1">
                <a:solidFill>
                  <a:srgbClr val="000000"/>
                </a:solidFill>
                <a:latin typeface="Cambria" panose="02040503050406030204" pitchFamily="18" charset="0"/>
              </a:rPr>
              <a:t>) to signify that the character to be deleted was not found in the list. </a:t>
            </a:r>
          </a:p>
          <a:p>
            <a:pPr lvl="2">
              <a:lnSpc>
                <a:spcPct val="120000"/>
              </a:lnSpc>
            </a:pPr>
            <a:endParaRPr lang="en-US" altLang="en-US" sz="1200" noProof="1">
              <a:solidFill>
                <a:srgbClr val="000000"/>
              </a:solidFill>
              <a:latin typeface="Cambria" panose="02040503050406030204" pitchFamily="18" charset="0"/>
            </a:endParaRPr>
          </a:p>
        </p:txBody>
      </p:sp>
      <p:sp>
        <p:nvSpPr>
          <p:cNvPr id="3" name="Slayt Numarası Yer Tutucusu 2">
            <a:extLst>
              <a:ext uri="{FF2B5EF4-FFF2-40B4-BE49-F238E27FC236}">
                <a16:creationId xmlns:a16="http://schemas.microsoft.com/office/drawing/2014/main" id="{8AD5973F-F269-4011-8757-EA10514BD1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045B3-A81F-4B14-96F5-518F075FBA4B}" type="slidenum">
              <a:rPr lang="en-US" noProof="1" smtClean="0"/>
              <a:pPr/>
              <a:t>32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333414879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htp8_12_Page_29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7351" y="0"/>
            <a:ext cx="8875713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567869E3-7F46-4860-9E1A-CAAC3DCF5B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045B3-A81F-4B14-96F5-518F075FBA4B}" type="slidenum">
              <a:rPr lang="en-US" smtClean="0"/>
              <a:pPr/>
              <a:t>33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2286000" y="2468563"/>
            <a:ext cx="8001000" cy="317023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85414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noProof="1">
                <a:solidFill>
                  <a:srgbClr val="24B5A1"/>
                </a:solidFill>
                <a:latin typeface="Calibri" panose="020F0502020204030204" pitchFamily="34" charset="0"/>
              </a:rPr>
              <a:t>12.4.3  </a:t>
            </a:r>
            <a:r>
              <a:rPr lang="en-US" noProof="1">
                <a:solidFill>
                  <a:srgbClr val="3380E6"/>
                </a:solidFill>
                <a:latin typeface="Calibri" panose="020F0502020204030204" pitchFamily="34" charset="0"/>
              </a:rPr>
              <a:t>Function </a:t>
            </a:r>
            <a:r>
              <a:rPr lang="en-US" noProof="1">
                <a:solidFill>
                  <a:srgbClr val="3380E6"/>
                </a:solidFill>
                <a:latin typeface="Consolas" panose="020B0609020204030204" pitchFamily="49" charset="0"/>
              </a:rPr>
              <a:t>printList </a:t>
            </a:r>
          </a:p>
        </p:txBody>
      </p:sp>
      <p:sp>
        <p:nvSpPr>
          <p:cNvPr id="6656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295400"/>
            <a:ext cx="10972800" cy="5181599"/>
          </a:xfrm>
        </p:spPr>
        <p:txBody>
          <a:bodyPr>
            <a:normAutofit/>
          </a:bodyPr>
          <a:lstStyle/>
          <a:p>
            <a:pPr eaLnBrk="1" hangingPunct="1">
              <a:lnSpc>
                <a:spcPct val="120000"/>
              </a:lnSpc>
            </a:pPr>
            <a:r>
              <a:rPr lang="en-US" altLang="en-US" sz="2000" noProof="1">
                <a:solidFill>
                  <a:srgbClr val="000000"/>
                </a:solidFill>
                <a:latin typeface="Cambria" panose="02040503050406030204" pitchFamily="18" charset="0"/>
              </a:rPr>
              <a:t>Function </a:t>
            </a:r>
            <a:r>
              <a:rPr lang="en-US" altLang="en-US" sz="2000" noProof="1">
                <a:solidFill>
                  <a:srgbClr val="000000"/>
                </a:solidFill>
                <a:latin typeface="Consolas" panose="020B0609020204030204" pitchFamily="49" charset="0"/>
              </a:rPr>
              <a:t>printList</a:t>
            </a:r>
            <a:r>
              <a:rPr lang="en-US" altLang="en-US" sz="2000" noProof="1">
                <a:solidFill>
                  <a:srgbClr val="000000"/>
                </a:solidFill>
                <a:latin typeface="Cambria" panose="02040503050406030204" pitchFamily="18" charset="0"/>
              </a:rPr>
              <a:t> receives a pointer to the start of the list as an argument and refers to the pointer as </a:t>
            </a:r>
            <a:r>
              <a:rPr lang="en-US" altLang="en-US" sz="2000" noProof="1">
                <a:solidFill>
                  <a:srgbClr val="000000"/>
                </a:solidFill>
                <a:latin typeface="Consolas" panose="020B0609020204030204" pitchFamily="49" charset="0"/>
              </a:rPr>
              <a:t>currentPtr</a:t>
            </a:r>
            <a:r>
              <a:rPr lang="en-US" altLang="en-US" sz="2000" noProof="1">
                <a:solidFill>
                  <a:srgbClr val="000000"/>
                </a:solidFill>
                <a:latin typeface="Cambria" panose="02040503050406030204" pitchFamily="18" charset="0"/>
              </a:rPr>
              <a:t>.</a:t>
            </a:r>
          </a:p>
          <a:p>
            <a:pPr lvl="3">
              <a:lnSpc>
                <a:spcPct val="120000"/>
              </a:lnSpc>
            </a:pPr>
            <a:endParaRPr lang="en-US" altLang="en-US" sz="800" noProof="1">
              <a:solidFill>
                <a:srgbClr val="000000"/>
              </a:solidFill>
              <a:latin typeface="Cambria" panose="02040503050406030204" pitchFamily="18" charset="0"/>
            </a:endParaRPr>
          </a:p>
          <a:p>
            <a:pPr eaLnBrk="1" hangingPunct="1">
              <a:lnSpc>
                <a:spcPct val="120000"/>
              </a:lnSpc>
            </a:pPr>
            <a:r>
              <a:rPr lang="en-US" altLang="en-US" sz="2000" noProof="1">
                <a:solidFill>
                  <a:srgbClr val="000000"/>
                </a:solidFill>
                <a:latin typeface="Cambria" panose="02040503050406030204" pitchFamily="18" charset="0"/>
              </a:rPr>
              <a:t>The function first determines whether the list is empty; and if so, prints </a:t>
            </a:r>
            <a:r>
              <a:rPr lang="en-US" altLang="en-US" sz="2000" noProof="1">
                <a:solidFill>
                  <a:srgbClr val="000000"/>
                </a:solidFill>
                <a:latin typeface="Consolas" panose="020B0609020204030204" pitchFamily="49" charset="0"/>
              </a:rPr>
              <a:t>“List</a:t>
            </a:r>
            <a:r>
              <a:rPr lang="en-US" altLang="en-US" sz="2000" noProof="1">
                <a:solidFill>
                  <a:srgbClr val="000000"/>
                </a:solidFill>
                <a:latin typeface="Cambria" panose="02040503050406030204" pitchFamily="18" charset="0"/>
              </a:rPr>
              <a:t> </a:t>
            </a:r>
            <a:r>
              <a:rPr lang="en-US" altLang="en-US" sz="2000" noProof="1">
                <a:solidFill>
                  <a:srgbClr val="000000"/>
                </a:solidFill>
                <a:latin typeface="Consolas" panose="020B0609020204030204" pitchFamily="49" charset="0"/>
              </a:rPr>
              <a:t>is</a:t>
            </a:r>
            <a:r>
              <a:rPr lang="en-US" altLang="en-US" sz="2000" noProof="1">
                <a:solidFill>
                  <a:srgbClr val="000000"/>
                </a:solidFill>
                <a:latin typeface="Cambria" panose="02040503050406030204" pitchFamily="18" charset="0"/>
              </a:rPr>
              <a:t> </a:t>
            </a:r>
            <a:r>
              <a:rPr lang="en-US" altLang="en-US" sz="2000" noProof="1">
                <a:solidFill>
                  <a:srgbClr val="000000"/>
                </a:solidFill>
                <a:latin typeface="Consolas" panose="020B0609020204030204" pitchFamily="49" charset="0"/>
              </a:rPr>
              <a:t>empty."</a:t>
            </a:r>
            <a:r>
              <a:rPr lang="en-US" altLang="en-US" sz="2000" noProof="1">
                <a:solidFill>
                  <a:srgbClr val="000000"/>
                </a:solidFill>
                <a:latin typeface="Cambria" panose="02040503050406030204" pitchFamily="18" charset="0"/>
              </a:rPr>
              <a:t> and terminates.</a:t>
            </a:r>
          </a:p>
          <a:p>
            <a:pPr lvl="3">
              <a:lnSpc>
                <a:spcPct val="120000"/>
              </a:lnSpc>
            </a:pPr>
            <a:endParaRPr lang="en-US" altLang="en-US" sz="800" noProof="1">
              <a:solidFill>
                <a:srgbClr val="000000"/>
              </a:solidFill>
              <a:latin typeface="Cambria" panose="02040503050406030204" pitchFamily="18" charset="0"/>
            </a:endParaRPr>
          </a:p>
          <a:p>
            <a:pPr eaLnBrk="1" hangingPunct="1">
              <a:lnSpc>
                <a:spcPct val="120000"/>
              </a:lnSpc>
            </a:pPr>
            <a:r>
              <a:rPr lang="en-US" altLang="en-US" sz="2000" noProof="1">
                <a:solidFill>
                  <a:srgbClr val="000000"/>
                </a:solidFill>
                <a:latin typeface="Cambria" panose="02040503050406030204" pitchFamily="18" charset="0"/>
              </a:rPr>
              <a:t>Otherwise, it prints the data in the list </a:t>
            </a:r>
          </a:p>
          <a:p>
            <a:pPr lvl="1">
              <a:lnSpc>
                <a:spcPct val="120000"/>
              </a:lnSpc>
            </a:pPr>
            <a:r>
              <a:rPr lang="en-US" altLang="en-US" sz="1800" noProof="1">
                <a:solidFill>
                  <a:srgbClr val="000000"/>
                </a:solidFill>
                <a:latin typeface="Cambria" panose="02040503050406030204" pitchFamily="18" charset="0"/>
              </a:rPr>
              <a:t>While </a:t>
            </a:r>
            <a:r>
              <a:rPr lang="en-US" altLang="en-US" sz="1800" noProof="1">
                <a:solidFill>
                  <a:srgbClr val="000000"/>
                </a:solidFill>
                <a:latin typeface="Consolas" panose="020B0609020204030204" pitchFamily="49" charset="0"/>
              </a:rPr>
              <a:t>currentPtr</a:t>
            </a:r>
            <a:r>
              <a:rPr lang="en-US" altLang="en-US" sz="1800" noProof="1">
                <a:solidFill>
                  <a:srgbClr val="000000"/>
                </a:solidFill>
                <a:latin typeface="Cambria" panose="02040503050406030204" pitchFamily="18" charset="0"/>
              </a:rPr>
              <a:t> is not </a:t>
            </a:r>
            <a:r>
              <a:rPr lang="en-US" altLang="en-US" sz="1800" noProof="1">
                <a:solidFill>
                  <a:srgbClr val="000000"/>
                </a:solidFill>
                <a:latin typeface="Consolas" panose="020B0609020204030204" pitchFamily="49" charset="0"/>
              </a:rPr>
              <a:t>NULL</a:t>
            </a:r>
            <a:r>
              <a:rPr lang="en-US" altLang="en-US" sz="1800" noProof="1">
                <a:solidFill>
                  <a:srgbClr val="000000"/>
                </a:solidFill>
                <a:latin typeface="Cambria" panose="02040503050406030204" pitchFamily="18" charset="0"/>
              </a:rPr>
              <a:t>, </a:t>
            </a:r>
          </a:p>
          <a:p>
            <a:pPr lvl="2">
              <a:lnSpc>
                <a:spcPct val="120000"/>
              </a:lnSpc>
            </a:pPr>
            <a:r>
              <a:rPr lang="en-US" altLang="en-US" sz="1600" noProof="1">
                <a:solidFill>
                  <a:srgbClr val="000000"/>
                </a:solidFill>
                <a:latin typeface="Cambria" panose="02040503050406030204" pitchFamily="18" charset="0"/>
              </a:rPr>
              <a:t>the value of </a:t>
            </a:r>
            <a:r>
              <a:rPr lang="en-US" altLang="en-US" sz="1600" noProof="1">
                <a:solidFill>
                  <a:srgbClr val="000000"/>
                </a:solidFill>
                <a:latin typeface="Consolas" panose="020B0609020204030204" pitchFamily="49" charset="0"/>
              </a:rPr>
              <a:t>currentPtr-&gt;data</a:t>
            </a:r>
            <a:r>
              <a:rPr lang="en-US" altLang="en-US" sz="1600" noProof="1">
                <a:solidFill>
                  <a:srgbClr val="000000"/>
                </a:solidFill>
                <a:latin typeface="Cambria" panose="02040503050406030204" pitchFamily="18" charset="0"/>
              </a:rPr>
              <a:t> is printed by the function, </a:t>
            </a:r>
          </a:p>
          <a:p>
            <a:pPr lvl="2">
              <a:lnSpc>
                <a:spcPct val="120000"/>
              </a:lnSpc>
            </a:pPr>
            <a:r>
              <a:rPr lang="en-US" altLang="en-US" sz="1600" noProof="1">
                <a:solidFill>
                  <a:srgbClr val="000000"/>
                </a:solidFill>
                <a:latin typeface="Consolas" panose="020B0609020204030204" pitchFamily="49" charset="0"/>
              </a:rPr>
              <a:t>currentPtr-&gt;nextPtr</a:t>
            </a:r>
            <a:r>
              <a:rPr lang="en-US" altLang="en-US" sz="1600" noProof="1">
                <a:solidFill>
                  <a:srgbClr val="000000"/>
                </a:solidFill>
                <a:latin typeface="Cambria" panose="02040503050406030204" pitchFamily="18" charset="0"/>
              </a:rPr>
              <a:t> is assigned to </a:t>
            </a:r>
            <a:r>
              <a:rPr lang="en-US" altLang="en-US" sz="1600" noProof="1">
                <a:solidFill>
                  <a:srgbClr val="000000"/>
                </a:solidFill>
                <a:latin typeface="Consolas" panose="020B0609020204030204" pitchFamily="49" charset="0"/>
              </a:rPr>
              <a:t>currentPtr</a:t>
            </a:r>
            <a:r>
              <a:rPr lang="en-US" altLang="en-US" sz="1600" noProof="1">
                <a:solidFill>
                  <a:srgbClr val="000000"/>
                </a:solidFill>
                <a:latin typeface="Cambria" panose="02040503050406030204" pitchFamily="18" charset="0"/>
              </a:rPr>
              <a:t> to advance to the next node.</a:t>
            </a:r>
          </a:p>
          <a:p>
            <a:pPr lvl="3">
              <a:lnSpc>
                <a:spcPct val="120000"/>
              </a:lnSpc>
            </a:pPr>
            <a:endParaRPr lang="en-US" altLang="en-US" sz="800" noProof="1">
              <a:solidFill>
                <a:srgbClr val="000000"/>
              </a:solidFill>
              <a:latin typeface="Cambria" panose="020405030504060302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en-US" sz="2000" noProof="1">
                <a:solidFill>
                  <a:srgbClr val="000000"/>
                </a:solidFill>
                <a:latin typeface="Cambria" panose="02040503050406030204" pitchFamily="18" charset="0"/>
              </a:rPr>
              <a:t>If the link in the last node of the list is not </a:t>
            </a:r>
            <a:r>
              <a:rPr lang="en-US" altLang="en-US" sz="2000" noProof="1">
                <a:solidFill>
                  <a:srgbClr val="000000"/>
                </a:solidFill>
                <a:latin typeface="Consolas" panose="020B0609020204030204" pitchFamily="49" charset="0"/>
              </a:rPr>
              <a:t>NULL</a:t>
            </a:r>
            <a:r>
              <a:rPr lang="en-US" altLang="en-US" sz="2000" noProof="1">
                <a:solidFill>
                  <a:srgbClr val="000000"/>
                </a:solidFill>
                <a:latin typeface="Cambria" panose="02040503050406030204" pitchFamily="18" charset="0"/>
              </a:rPr>
              <a:t>, the printing algorithm will try to print </a:t>
            </a:r>
            <a:r>
              <a:rPr lang="en-US" altLang="en-US" sz="2000" i="1" noProof="1">
                <a:solidFill>
                  <a:srgbClr val="000000"/>
                </a:solidFill>
                <a:latin typeface="Cambria" panose="02040503050406030204" pitchFamily="18" charset="0"/>
              </a:rPr>
              <a:t>past the end of the list</a:t>
            </a:r>
            <a:r>
              <a:rPr lang="en-US" altLang="en-US" sz="2000" noProof="1">
                <a:solidFill>
                  <a:srgbClr val="000000"/>
                </a:solidFill>
                <a:latin typeface="Cambria" panose="02040503050406030204" pitchFamily="18" charset="0"/>
              </a:rPr>
              <a:t>, and an error will occur.</a:t>
            </a:r>
          </a:p>
          <a:p>
            <a:pPr lvl="3">
              <a:lnSpc>
                <a:spcPct val="120000"/>
              </a:lnSpc>
            </a:pPr>
            <a:endParaRPr lang="en-US" altLang="en-US" sz="800" noProof="1">
              <a:solidFill>
                <a:srgbClr val="000000"/>
              </a:solidFill>
              <a:latin typeface="Cambria" panose="020405030504060302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en-US" sz="2000" noProof="1">
                <a:solidFill>
                  <a:srgbClr val="000000"/>
                </a:solidFill>
                <a:latin typeface="Cambria" panose="02040503050406030204" pitchFamily="18" charset="0"/>
              </a:rPr>
              <a:t>The printing algorithm is identical for linked lists, stacks and queues.</a:t>
            </a:r>
          </a:p>
          <a:p>
            <a:pPr eaLnBrk="1" hangingPunct="1">
              <a:lnSpc>
                <a:spcPct val="120000"/>
              </a:lnSpc>
            </a:pPr>
            <a:endParaRPr lang="en-US" altLang="en-US" sz="2000" noProof="1">
              <a:solidFill>
                <a:srgbClr val="000000"/>
              </a:solidFill>
              <a:latin typeface="Cambria" panose="02040503050406030204" pitchFamily="18" charset="0"/>
            </a:endParaRPr>
          </a:p>
        </p:txBody>
      </p:sp>
      <p:sp>
        <p:nvSpPr>
          <p:cNvPr id="3" name="Slayt Numarası Yer Tutucusu 2">
            <a:extLst>
              <a:ext uri="{FF2B5EF4-FFF2-40B4-BE49-F238E27FC236}">
                <a16:creationId xmlns:a16="http://schemas.microsoft.com/office/drawing/2014/main" id="{4DEAF17A-FBC8-46E2-AB39-FBFB394D43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045B3-A81F-4B14-96F5-518F075FBA4B}" type="slidenum">
              <a:rPr lang="en-US" noProof="1" smtClean="0"/>
              <a:pPr/>
              <a:t>34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146691888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26" name="Rectangle 38">
            <a:extLst>
              <a:ext uri="{FF2B5EF4-FFF2-40B4-BE49-F238E27FC236}">
                <a16:creationId xmlns:a16="http://schemas.microsoft.com/office/drawing/2014/main" id="{7278EFE0-9FEB-47CB-8F7B-9CA9EB6A4AC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rgbClr val="24B5A1"/>
                </a:solidFill>
                <a:latin typeface="Calibri" panose="020F0502020204030204" pitchFamily="34" charset="0"/>
              </a:rPr>
              <a:t>12.4  </a:t>
            </a:r>
            <a:r>
              <a:rPr lang="en-US" sz="3200" dirty="0">
                <a:solidFill>
                  <a:srgbClr val="3380E6"/>
                </a:solidFill>
                <a:latin typeface="Calibri" panose="020F0502020204030204" pitchFamily="34" charset="0"/>
              </a:rPr>
              <a:t>Linked Lists (Cont.)</a:t>
            </a:r>
            <a:endParaRPr lang="en-US" altLang="en-US" sz="3200" dirty="0"/>
          </a:p>
        </p:txBody>
      </p:sp>
      <p:sp>
        <p:nvSpPr>
          <p:cNvPr id="12327" name="Rectangle 39">
            <a:extLst>
              <a:ext uri="{FF2B5EF4-FFF2-40B4-BE49-F238E27FC236}">
                <a16:creationId xmlns:a16="http://schemas.microsoft.com/office/drawing/2014/main" id="{CA2787E9-0F7E-4257-A3D0-4A878F67D1E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09600" y="1295400"/>
            <a:ext cx="10972800" cy="4952999"/>
          </a:xfrm>
        </p:spPr>
        <p:txBody>
          <a:bodyPr>
            <a:normAutofit fontScale="70000" lnSpcReduction="20000"/>
          </a:bodyPr>
          <a:lstStyle/>
          <a:p>
            <a:r>
              <a:rPr lang="en-US" altLang="en-US" dirty="0"/>
              <a:t>Types of linked lists:</a:t>
            </a:r>
          </a:p>
          <a:p>
            <a:pPr lvl="3"/>
            <a:endParaRPr lang="tr-TR" altLang="en-US" dirty="0"/>
          </a:p>
          <a:p>
            <a:pPr lvl="1"/>
            <a:r>
              <a:rPr lang="en-US" altLang="en-US" dirty="0"/>
              <a:t>Singly linked list</a:t>
            </a:r>
          </a:p>
          <a:p>
            <a:pPr lvl="2"/>
            <a:r>
              <a:rPr lang="en-US" altLang="en-US" dirty="0"/>
              <a:t>Begins with a pointer to the first node</a:t>
            </a:r>
          </a:p>
          <a:p>
            <a:pPr lvl="2"/>
            <a:r>
              <a:rPr lang="en-US" altLang="en-US" dirty="0"/>
              <a:t>Terminates with a null pointer</a:t>
            </a:r>
          </a:p>
          <a:p>
            <a:pPr lvl="2"/>
            <a:r>
              <a:rPr lang="en-US" altLang="en-US" dirty="0"/>
              <a:t>Only traversed in one direction</a:t>
            </a:r>
          </a:p>
          <a:p>
            <a:pPr lvl="3"/>
            <a:endParaRPr lang="tr-TR" altLang="en-US" dirty="0"/>
          </a:p>
          <a:p>
            <a:pPr lvl="1"/>
            <a:r>
              <a:rPr lang="en-US" altLang="en-US" dirty="0"/>
              <a:t>Circular, singly linked</a:t>
            </a:r>
          </a:p>
          <a:p>
            <a:pPr lvl="2"/>
            <a:r>
              <a:rPr lang="en-US" altLang="en-US" dirty="0"/>
              <a:t>Pointer in the last node points back to the first node</a:t>
            </a:r>
          </a:p>
          <a:p>
            <a:pPr lvl="3"/>
            <a:endParaRPr lang="tr-TR" altLang="en-US" dirty="0"/>
          </a:p>
          <a:p>
            <a:pPr lvl="1"/>
            <a:r>
              <a:rPr lang="en-US" altLang="en-US" dirty="0"/>
              <a:t>Doubly linked list</a:t>
            </a:r>
          </a:p>
          <a:p>
            <a:pPr lvl="2"/>
            <a:r>
              <a:rPr lang="en-US" altLang="en-US" dirty="0"/>
              <a:t>Two “start pointers” </a:t>
            </a:r>
            <a:r>
              <a:rPr lang="en-US" altLang="en-US" dirty="0">
                <a:cs typeface="Times New Roman" panose="02020603050405020304" pitchFamily="18" charset="0"/>
              </a:rPr>
              <a:t>–</a:t>
            </a:r>
            <a:r>
              <a:rPr lang="en-US" altLang="en-US" dirty="0"/>
              <a:t> first element and last element</a:t>
            </a:r>
          </a:p>
          <a:p>
            <a:pPr lvl="2"/>
            <a:r>
              <a:rPr lang="en-US" altLang="en-US" dirty="0"/>
              <a:t>Each node has a forward pointer and a backward pointer</a:t>
            </a:r>
          </a:p>
          <a:p>
            <a:pPr lvl="2"/>
            <a:r>
              <a:rPr lang="en-US" altLang="en-US" dirty="0"/>
              <a:t>Allows traversals both forwards and backwards</a:t>
            </a:r>
          </a:p>
          <a:p>
            <a:pPr lvl="3"/>
            <a:endParaRPr lang="tr-TR" altLang="en-US" dirty="0"/>
          </a:p>
          <a:p>
            <a:pPr lvl="1"/>
            <a:r>
              <a:rPr lang="en-US" altLang="en-US" dirty="0"/>
              <a:t>Circular, doubly linked list</a:t>
            </a:r>
          </a:p>
          <a:p>
            <a:pPr lvl="2"/>
            <a:r>
              <a:rPr lang="en-US" altLang="en-US" dirty="0"/>
              <a:t>Forward pointer of the last node points to the first node and backward pointer of the first node points to the last node</a:t>
            </a:r>
          </a:p>
        </p:txBody>
      </p:sp>
      <p:sp>
        <p:nvSpPr>
          <p:cNvPr id="4" name="Slayt Numarası Yer Tutucusu 2">
            <a:extLst>
              <a:ext uri="{FF2B5EF4-FFF2-40B4-BE49-F238E27FC236}">
                <a16:creationId xmlns:a16="http://schemas.microsoft.com/office/drawing/2014/main" id="{4DEAF17A-FBC8-46E2-AB39-FBFB394D43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077200" y="6356351"/>
            <a:ext cx="2133600" cy="365125"/>
          </a:xfrm>
        </p:spPr>
        <p:txBody>
          <a:bodyPr/>
          <a:lstStyle/>
          <a:p>
            <a:r>
              <a:rPr lang="en-US" dirty="0"/>
              <a:t>36</a:t>
            </a:r>
          </a:p>
        </p:txBody>
      </p:sp>
    </p:spTree>
    <p:extLst>
      <p:ext uri="{BB962C8B-B14F-4D97-AF65-F5344CB8AC3E}">
        <p14:creationId xmlns:p14="http://schemas.microsoft.com/office/powerpoint/2010/main" val="12405871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2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2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2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2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2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2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27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27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solidFill>
                  <a:srgbClr val="24B5A1"/>
                </a:solidFill>
                <a:latin typeface="Calibri" panose="020F0502020204030204" pitchFamily="34" charset="0"/>
              </a:rPr>
              <a:t>12.5  </a:t>
            </a:r>
            <a:r>
              <a:rPr lang="en-US" dirty="0">
                <a:solidFill>
                  <a:srgbClr val="3380E6"/>
                </a:solidFill>
                <a:latin typeface="Calibri" panose="020F0502020204030204" pitchFamily="34" charset="0"/>
              </a:rPr>
              <a:t>Stacks</a:t>
            </a:r>
          </a:p>
        </p:txBody>
      </p:sp>
      <p:sp>
        <p:nvSpPr>
          <p:cNvPr id="69635" name="Text Placeholder 2"/>
          <p:cNvSpPr>
            <a:spLocks noGrp="1"/>
          </p:cNvSpPr>
          <p:nvPr>
            <p:ph type="body" idx="1"/>
          </p:nvPr>
        </p:nvSpPr>
        <p:spPr>
          <a:xfrm>
            <a:off x="609600" y="1295401"/>
            <a:ext cx="11049000" cy="5029199"/>
          </a:xfrm>
        </p:spPr>
        <p:txBody>
          <a:bodyPr>
            <a:normAutofit fontScale="85000" lnSpcReduction="10000"/>
          </a:bodyPr>
          <a:lstStyle/>
          <a:p>
            <a:r>
              <a:rPr lang="en-US" altLang="en-US" dirty="0">
                <a:solidFill>
                  <a:srgbClr val="0000FF"/>
                </a:solidFill>
                <a:latin typeface="Cambria" panose="02040503050406030204" pitchFamily="18" charset="0"/>
              </a:rPr>
              <a:t>Stack </a:t>
            </a:r>
          </a:p>
          <a:p>
            <a:pPr lvl="3"/>
            <a:endParaRPr lang="tr-TR" altLang="en-US" sz="1400" dirty="0">
              <a:solidFill>
                <a:srgbClr val="000000"/>
              </a:solidFill>
              <a:latin typeface="Cambria" panose="02040503050406030204" pitchFamily="18" charset="0"/>
            </a:endParaRPr>
          </a:p>
          <a:p>
            <a:pPr lvl="1"/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Can be implemented as a constrained version of a linked list. </a:t>
            </a:r>
          </a:p>
          <a:p>
            <a:pPr lvl="3"/>
            <a:endParaRPr lang="tr-TR" altLang="en-US" dirty="0">
              <a:solidFill>
                <a:srgbClr val="000000"/>
              </a:solidFill>
              <a:latin typeface="Cambria" panose="02040503050406030204" pitchFamily="18" charset="0"/>
            </a:endParaRPr>
          </a:p>
          <a:p>
            <a:pPr lvl="1"/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New nodes can be added to a stack and removed from a stack </a:t>
            </a:r>
            <a:r>
              <a:rPr lang="en-US" altLang="en-US" i="1" dirty="0">
                <a:solidFill>
                  <a:srgbClr val="000000"/>
                </a:solidFill>
                <a:latin typeface="Cambria" panose="02040503050406030204" pitchFamily="18" charset="0"/>
              </a:rPr>
              <a:t>only</a:t>
            </a:r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 at the </a:t>
            </a:r>
            <a:r>
              <a:rPr lang="en-US" altLang="en-US" i="1" dirty="0">
                <a:solidFill>
                  <a:srgbClr val="000000"/>
                </a:solidFill>
                <a:latin typeface="Cambria" panose="02040503050406030204" pitchFamily="18" charset="0"/>
              </a:rPr>
              <a:t>top</a:t>
            </a:r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.</a:t>
            </a:r>
          </a:p>
          <a:p>
            <a:pPr lvl="3"/>
            <a:endParaRPr lang="tr-TR" altLang="en-US" dirty="0">
              <a:solidFill>
                <a:srgbClr val="000000"/>
              </a:solidFill>
              <a:latin typeface="Cambria" panose="02040503050406030204" pitchFamily="18" charset="0"/>
            </a:endParaRPr>
          </a:p>
          <a:p>
            <a:pPr lvl="1"/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Similar to a pile of dishes</a:t>
            </a:r>
            <a:r>
              <a:rPr lang="tr-TR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.</a:t>
            </a:r>
            <a:endParaRPr lang="en-US" altLang="en-US" dirty="0">
              <a:solidFill>
                <a:srgbClr val="000000"/>
              </a:solidFill>
              <a:latin typeface="Cambria" panose="02040503050406030204" pitchFamily="18" charset="0"/>
            </a:endParaRPr>
          </a:p>
          <a:p>
            <a:pPr lvl="3"/>
            <a:endParaRPr lang="tr-TR" altLang="en-US" dirty="0">
              <a:solidFill>
                <a:srgbClr val="0000FF"/>
              </a:solidFill>
              <a:latin typeface="Cambria" panose="02040503050406030204" pitchFamily="18" charset="0"/>
            </a:endParaRPr>
          </a:p>
          <a:p>
            <a:pPr lvl="1"/>
            <a:r>
              <a:rPr lang="en-US" altLang="en-US" dirty="0">
                <a:solidFill>
                  <a:srgbClr val="0000FF"/>
                </a:solidFill>
                <a:latin typeface="Cambria" panose="02040503050406030204" pitchFamily="18" charset="0"/>
              </a:rPr>
              <a:t>Last-in</a:t>
            </a:r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, </a:t>
            </a:r>
            <a:r>
              <a:rPr lang="en-US" altLang="en-US" dirty="0">
                <a:solidFill>
                  <a:srgbClr val="0000FF"/>
                </a:solidFill>
                <a:latin typeface="Cambria" panose="02040503050406030204" pitchFamily="18" charset="0"/>
              </a:rPr>
              <a:t>first-out (LIFO)</a:t>
            </a:r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 data structure.</a:t>
            </a:r>
          </a:p>
          <a:p>
            <a:pPr lvl="3"/>
            <a:endParaRPr lang="tr-TR" altLang="en-US" dirty="0">
              <a:solidFill>
                <a:srgbClr val="000000"/>
              </a:solidFill>
              <a:latin typeface="Cambria" panose="02040503050406030204" pitchFamily="18" charset="0"/>
            </a:endParaRPr>
          </a:p>
          <a:p>
            <a:pPr lvl="1"/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A stack is referenced via a pointer to the top element of the stack.</a:t>
            </a:r>
          </a:p>
          <a:p>
            <a:pPr lvl="3"/>
            <a:endParaRPr lang="tr-TR" altLang="en-US" dirty="0">
              <a:solidFill>
                <a:srgbClr val="000000"/>
              </a:solidFill>
              <a:latin typeface="Cambria" panose="02040503050406030204" pitchFamily="18" charset="0"/>
            </a:endParaRPr>
          </a:p>
          <a:p>
            <a:pPr lvl="1"/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The link member in the last node of the stack is set to 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NULL</a:t>
            </a:r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 to indicate the bottom of the stack. </a:t>
            </a:r>
          </a:p>
        </p:txBody>
      </p:sp>
      <p:sp>
        <p:nvSpPr>
          <p:cNvPr id="3" name="Slayt Numarası Yer Tutucusu 2">
            <a:extLst>
              <a:ext uri="{FF2B5EF4-FFF2-40B4-BE49-F238E27FC236}">
                <a16:creationId xmlns:a16="http://schemas.microsoft.com/office/drawing/2014/main" id="{1D6FA74E-2EAF-4C48-A436-BBD28E4D2F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045B3-A81F-4B14-96F5-518F075FBA4B}" type="slidenum">
              <a:rPr lang="en-US" smtClean="0"/>
              <a:pPr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16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solidFill>
                  <a:srgbClr val="24B5A1"/>
                </a:solidFill>
                <a:latin typeface="Calibri" panose="020F0502020204030204" pitchFamily="34" charset="0"/>
              </a:rPr>
              <a:t>12.5  </a:t>
            </a:r>
            <a:r>
              <a:rPr lang="en-US" dirty="0">
                <a:solidFill>
                  <a:srgbClr val="3380E6"/>
                </a:solidFill>
                <a:latin typeface="Calibri" panose="020F0502020204030204" pitchFamily="34" charset="0"/>
              </a:rPr>
              <a:t>Stacks (Cont.)</a:t>
            </a:r>
          </a:p>
        </p:txBody>
      </p:sp>
      <p:sp>
        <p:nvSpPr>
          <p:cNvPr id="70659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The difference between stacks and linked lists:</a:t>
            </a:r>
          </a:p>
          <a:p>
            <a:pPr lvl="3"/>
            <a:endParaRPr lang="tr-TR" altLang="en-US" dirty="0">
              <a:solidFill>
                <a:srgbClr val="000000"/>
              </a:solidFill>
              <a:latin typeface="Cambria" panose="02040503050406030204" pitchFamily="18" charset="0"/>
            </a:endParaRPr>
          </a:p>
          <a:p>
            <a:pPr lvl="1"/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insertions and deletions may occur </a:t>
            </a:r>
            <a:r>
              <a:rPr lang="en-US" altLang="en-US" i="1" dirty="0">
                <a:solidFill>
                  <a:srgbClr val="000000"/>
                </a:solidFill>
                <a:latin typeface="Cambria" panose="02040503050406030204" pitchFamily="18" charset="0"/>
              </a:rPr>
              <a:t>anywhere</a:t>
            </a:r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 in a linked list, </a:t>
            </a:r>
          </a:p>
          <a:p>
            <a:pPr lvl="3"/>
            <a:endParaRPr lang="tr-TR" altLang="en-US" dirty="0">
              <a:solidFill>
                <a:srgbClr val="000000"/>
              </a:solidFill>
              <a:latin typeface="Cambria" panose="02040503050406030204" pitchFamily="18" charset="0"/>
            </a:endParaRPr>
          </a:p>
          <a:p>
            <a:pPr lvl="1"/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but </a:t>
            </a:r>
            <a:r>
              <a:rPr lang="en-US" altLang="en-US" i="1" dirty="0">
                <a:solidFill>
                  <a:srgbClr val="000000"/>
                </a:solidFill>
                <a:latin typeface="Cambria" panose="02040503050406030204" pitchFamily="18" charset="0"/>
              </a:rPr>
              <a:t>only</a:t>
            </a:r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 at the </a:t>
            </a:r>
            <a:r>
              <a:rPr lang="en-US" altLang="en-US" i="1" dirty="0">
                <a:solidFill>
                  <a:srgbClr val="000000"/>
                </a:solidFill>
                <a:latin typeface="Cambria" panose="02040503050406030204" pitchFamily="18" charset="0"/>
              </a:rPr>
              <a:t>top</a:t>
            </a:r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 of a stack.</a:t>
            </a:r>
          </a:p>
        </p:txBody>
      </p:sp>
      <p:sp>
        <p:nvSpPr>
          <p:cNvPr id="3" name="Slayt Numarası Yer Tutucusu 2">
            <a:extLst>
              <a:ext uri="{FF2B5EF4-FFF2-40B4-BE49-F238E27FC236}">
                <a16:creationId xmlns:a16="http://schemas.microsoft.com/office/drawing/2014/main" id="{EDE75F43-F509-452C-BB27-640CFFBBF1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045B3-A81F-4B14-96F5-518F075FBA4B}" type="slidenum">
              <a:rPr lang="en-US" smtClean="0"/>
              <a:pPr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380250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htp8_12_Page_31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7351" y="0"/>
            <a:ext cx="8875713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C0D1941A-7BA9-4E87-9E51-E2BCA9700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045B3-A81F-4B14-96F5-518F075FBA4B}" type="slidenum">
              <a:rPr lang="en-US" smtClean="0"/>
              <a:pPr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211439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solidFill>
                  <a:srgbClr val="24B5A1"/>
                </a:solidFill>
                <a:latin typeface="Calibri" panose="020F0502020204030204" pitchFamily="34" charset="0"/>
              </a:rPr>
              <a:t>12.5  </a:t>
            </a:r>
            <a:r>
              <a:rPr lang="en-US" dirty="0">
                <a:solidFill>
                  <a:srgbClr val="3380E6"/>
                </a:solidFill>
                <a:latin typeface="Calibri" panose="020F0502020204030204" pitchFamily="34" charset="0"/>
              </a:rPr>
              <a:t>Stacks (Cont.)</a:t>
            </a:r>
          </a:p>
        </p:txBody>
      </p:sp>
      <p:sp>
        <p:nvSpPr>
          <p:cNvPr id="73731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The primary functions used to manipulate a stack are 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push</a:t>
            </a:r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 and 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pop</a:t>
            </a:r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.</a:t>
            </a:r>
            <a:endParaRPr lang="tr-TR" altLang="en-US" dirty="0">
              <a:solidFill>
                <a:srgbClr val="000000"/>
              </a:solidFill>
              <a:latin typeface="Cambria" panose="02040503050406030204" pitchFamily="18" charset="0"/>
            </a:endParaRPr>
          </a:p>
          <a:p>
            <a:pPr lvl="3">
              <a:lnSpc>
                <a:spcPct val="90000"/>
              </a:lnSpc>
            </a:pPr>
            <a:endParaRPr lang="en-US" altLang="en-US" dirty="0">
              <a:solidFill>
                <a:srgbClr val="000000"/>
              </a:solidFill>
              <a:latin typeface="Cambria" panose="02040503050406030204" pitchFamily="18" charset="0"/>
            </a:endParaRPr>
          </a:p>
          <a:p>
            <a:pPr lvl="1">
              <a:lnSpc>
                <a:spcPct val="90000"/>
              </a:lnSpc>
            </a:pPr>
            <a:r>
              <a:rPr lang="en-US" altLang="en-US" sz="3200" dirty="0">
                <a:solidFill>
                  <a:srgbClr val="0000FF"/>
                </a:solidFill>
                <a:latin typeface="Cambria" panose="02040503050406030204" pitchFamily="18" charset="0"/>
              </a:rPr>
              <a:t>push</a:t>
            </a:r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 </a:t>
            </a:r>
          </a:p>
          <a:p>
            <a:pPr lvl="2">
              <a:lnSpc>
                <a:spcPct val="90000"/>
              </a:lnSpc>
            </a:pPr>
            <a:r>
              <a:rPr lang="en-US" altLang="en-US" sz="2000" dirty="0">
                <a:solidFill>
                  <a:srgbClr val="000000"/>
                </a:solidFill>
                <a:latin typeface="Cambria" panose="02040503050406030204" pitchFamily="18" charset="0"/>
              </a:rPr>
              <a:t>creates a new node and places it on top of the stack.</a:t>
            </a:r>
          </a:p>
          <a:p>
            <a:pPr lvl="3">
              <a:lnSpc>
                <a:spcPct val="90000"/>
              </a:lnSpc>
            </a:pPr>
            <a:endParaRPr lang="tr-TR" altLang="en-US" dirty="0">
              <a:solidFill>
                <a:srgbClr val="0000FF"/>
              </a:solidFill>
              <a:latin typeface="Cambria" panose="02040503050406030204" pitchFamily="18" charset="0"/>
            </a:endParaRPr>
          </a:p>
          <a:p>
            <a:pPr lvl="1">
              <a:lnSpc>
                <a:spcPct val="90000"/>
              </a:lnSpc>
            </a:pPr>
            <a:r>
              <a:rPr lang="en-US" altLang="en-US" dirty="0">
                <a:solidFill>
                  <a:srgbClr val="0000FF"/>
                </a:solidFill>
                <a:latin typeface="Cambria" panose="02040503050406030204" pitchFamily="18" charset="0"/>
              </a:rPr>
              <a:t>pop</a:t>
            </a:r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 </a:t>
            </a:r>
          </a:p>
          <a:p>
            <a:pPr lvl="2">
              <a:lnSpc>
                <a:spcPct val="90000"/>
              </a:lnSpc>
            </a:pPr>
            <a:r>
              <a:rPr lang="en-US" altLang="en-US" sz="2000" i="1" dirty="0">
                <a:solidFill>
                  <a:srgbClr val="000000"/>
                </a:solidFill>
                <a:latin typeface="Cambria" panose="02040503050406030204" pitchFamily="18" charset="0"/>
              </a:rPr>
              <a:t>removes</a:t>
            </a:r>
            <a:r>
              <a:rPr lang="en-US" altLang="en-US" sz="2000" dirty="0">
                <a:solidFill>
                  <a:srgbClr val="000000"/>
                </a:solidFill>
                <a:latin typeface="Cambria" panose="02040503050406030204" pitchFamily="18" charset="0"/>
              </a:rPr>
              <a:t> a node from the </a:t>
            </a:r>
            <a:r>
              <a:rPr lang="en-US" altLang="en-US" sz="2000" i="1" dirty="0">
                <a:solidFill>
                  <a:srgbClr val="000000"/>
                </a:solidFill>
                <a:latin typeface="Cambria" panose="02040503050406030204" pitchFamily="18" charset="0"/>
              </a:rPr>
              <a:t>top</a:t>
            </a:r>
            <a:r>
              <a:rPr lang="en-US" altLang="en-US" sz="2000" dirty="0">
                <a:solidFill>
                  <a:srgbClr val="000000"/>
                </a:solidFill>
                <a:latin typeface="Cambria" panose="02040503050406030204" pitchFamily="18" charset="0"/>
              </a:rPr>
              <a:t> of the stack, </a:t>
            </a:r>
          </a:p>
          <a:p>
            <a:pPr lvl="2">
              <a:lnSpc>
                <a:spcPct val="90000"/>
              </a:lnSpc>
            </a:pPr>
            <a:r>
              <a:rPr lang="en-US" altLang="en-US" sz="2000" i="1" dirty="0">
                <a:solidFill>
                  <a:srgbClr val="000000"/>
                </a:solidFill>
                <a:latin typeface="Cambria" panose="02040503050406030204" pitchFamily="18" charset="0"/>
              </a:rPr>
              <a:t>frees</a:t>
            </a:r>
            <a:r>
              <a:rPr lang="en-US" altLang="en-US" sz="2000" dirty="0">
                <a:solidFill>
                  <a:srgbClr val="000000"/>
                </a:solidFill>
                <a:latin typeface="Cambria" panose="02040503050406030204" pitchFamily="18" charset="0"/>
              </a:rPr>
              <a:t> the memory that was allocated to the popped node </a:t>
            </a:r>
          </a:p>
          <a:p>
            <a:pPr lvl="2">
              <a:lnSpc>
                <a:spcPct val="90000"/>
              </a:lnSpc>
            </a:pPr>
            <a:r>
              <a:rPr lang="en-US" altLang="en-US" sz="2000" i="1" dirty="0">
                <a:solidFill>
                  <a:srgbClr val="000000"/>
                </a:solidFill>
                <a:latin typeface="Cambria" panose="02040503050406030204" pitchFamily="18" charset="0"/>
              </a:rPr>
              <a:t>returns the popped value</a:t>
            </a:r>
            <a:r>
              <a:rPr lang="en-US" altLang="en-US" sz="2000" dirty="0">
                <a:solidFill>
                  <a:srgbClr val="000000"/>
                </a:solidFill>
                <a:latin typeface="Cambria" panose="02040503050406030204" pitchFamily="18" charset="0"/>
              </a:rPr>
              <a:t>.</a:t>
            </a:r>
          </a:p>
        </p:txBody>
      </p:sp>
      <p:sp>
        <p:nvSpPr>
          <p:cNvPr id="3" name="Slayt Numarası Yer Tutucusu 2">
            <a:extLst>
              <a:ext uri="{FF2B5EF4-FFF2-40B4-BE49-F238E27FC236}">
                <a16:creationId xmlns:a16="http://schemas.microsoft.com/office/drawing/2014/main" id="{4F38939B-5080-4486-A5D2-1567BA1D7E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045B3-A81F-4B14-96F5-518F075FBA4B}" type="slidenum">
              <a:rPr lang="en-US" smtClean="0"/>
              <a:pPr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346988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solidFill>
                  <a:srgbClr val="24B5A1"/>
                </a:solidFill>
                <a:latin typeface="Calibri" panose="020F0502020204030204" pitchFamily="34" charset="0"/>
              </a:rPr>
              <a:t>12.5  </a:t>
            </a:r>
            <a:r>
              <a:rPr lang="en-US" dirty="0">
                <a:solidFill>
                  <a:srgbClr val="3380E6"/>
                </a:solidFill>
                <a:latin typeface="Calibri" panose="020F0502020204030204" pitchFamily="34" charset="0"/>
              </a:rPr>
              <a:t>Stacks (Cont.)</a:t>
            </a:r>
          </a:p>
        </p:txBody>
      </p:sp>
      <p:sp>
        <p:nvSpPr>
          <p:cNvPr id="73731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Example:</a:t>
            </a:r>
            <a:endParaRPr lang="en-US" altLang="en-US" sz="2000" dirty="0">
              <a:solidFill>
                <a:srgbClr val="000000"/>
              </a:solidFill>
              <a:latin typeface="Cambria" panose="02040503050406030204" pitchFamily="18" charset="0"/>
            </a:endParaRPr>
          </a:p>
          <a:p>
            <a:pPr lvl="3">
              <a:lnSpc>
                <a:spcPct val="90000"/>
              </a:lnSpc>
            </a:pPr>
            <a:endParaRPr lang="tr-TR" altLang="en-US" dirty="0">
              <a:solidFill>
                <a:srgbClr val="000000"/>
              </a:solidFill>
              <a:latin typeface="Cambria" panose="02040503050406030204" pitchFamily="18" charset="0"/>
            </a:endParaRPr>
          </a:p>
          <a:p>
            <a:pPr lvl="1">
              <a:lnSpc>
                <a:spcPct val="90000"/>
              </a:lnSpc>
            </a:pPr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Figure 12.8 (output shown in Fig. 12.9) implements a simple stack of integers.</a:t>
            </a:r>
          </a:p>
          <a:p>
            <a:pPr lvl="3">
              <a:lnSpc>
                <a:spcPct val="90000"/>
              </a:lnSpc>
            </a:pPr>
            <a:endParaRPr lang="tr-TR" altLang="en-US" dirty="0">
              <a:solidFill>
                <a:srgbClr val="000000"/>
              </a:solidFill>
              <a:latin typeface="Cambria" panose="02040503050406030204" pitchFamily="18" charset="0"/>
            </a:endParaRPr>
          </a:p>
          <a:p>
            <a:pPr lvl="1">
              <a:lnSpc>
                <a:spcPct val="90000"/>
              </a:lnSpc>
            </a:pPr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The program provides three options: </a:t>
            </a:r>
          </a:p>
          <a:p>
            <a:pPr marL="914400" lvl="2" indent="0">
              <a:lnSpc>
                <a:spcPct val="90000"/>
              </a:lnSpc>
              <a:buNone/>
            </a:pPr>
            <a:r>
              <a:rPr lang="en-US" altLang="en-US" sz="2000" dirty="0">
                <a:solidFill>
                  <a:srgbClr val="000000"/>
                </a:solidFill>
                <a:latin typeface="Cambria" panose="02040503050406030204" pitchFamily="18" charset="0"/>
              </a:rPr>
              <a:t>1) push a value onto the stack (function </a:t>
            </a:r>
            <a:r>
              <a:rPr lang="en-US" alt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push</a:t>
            </a:r>
            <a:r>
              <a:rPr lang="en-US" altLang="en-US" sz="2000" dirty="0">
                <a:solidFill>
                  <a:srgbClr val="000000"/>
                </a:solidFill>
                <a:latin typeface="Cambria" panose="02040503050406030204" pitchFamily="18" charset="0"/>
              </a:rPr>
              <a:t>), </a:t>
            </a:r>
          </a:p>
          <a:p>
            <a:pPr marL="914400" lvl="2" indent="0">
              <a:lnSpc>
                <a:spcPct val="90000"/>
              </a:lnSpc>
              <a:buNone/>
            </a:pPr>
            <a:r>
              <a:rPr lang="en-US" altLang="en-US" sz="2000" dirty="0">
                <a:solidFill>
                  <a:srgbClr val="000000"/>
                </a:solidFill>
                <a:latin typeface="Cambria" panose="02040503050406030204" pitchFamily="18" charset="0"/>
              </a:rPr>
              <a:t>2) pop a value off the stack (function </a:t>
            </a:r>
            <a:r>
              <a:rPr lang="en-US" alt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pop</a:t>
            </a:r>
            <a:r>
              <a:rPr lang="en-US" altLang="en-US" sz="2000" dirty="0">
                <a:solidFill>
                  <a:srgbClr val="000000"/>
                </a:solidFill>
                <a:latin typeface="Cambria" panose="02040503050406030204" pitchFamily="18" charset="0"/>
              </a:rPr>
              <a:t>) </a:t>
            </a:r>
          </a:p>
          <a:p>
            <a:pPr marL="914400" lvl="2" indent="0">
              <a:lnSpc>
                <a:spcPct val="90000"/>
              </a:lnSpc>
              <a:buNone/>
            </a:pPr>
            <a:r>
              <a:rPr lang="en-US" altLang="en-US" sz="2000" dirty="0">
                <a:solidFill>
                  <a:srgbClr val="000000"/>
                </a:solidFill>
                <a:latin typeface="Cambria" panose="02040503050406030204" pitchFamily="18" charset="0"/>
              </a:rPr>
              <a:t>3) terminate the program.</a:t>
            </a:r>
          </a:p>
        </p:txBody>
      </p:sp>
      <p:sp>
        <p:nvSpPr>
          <p:cNvPr id="3" name="Slayt Numarası Yer Tutucusu 2">
            <a:extLst>
              <a:ext uri="{FF2B5EF4-FFF2-40B4-BE49-F238E27FC236}">
                <a16:creationId xmlns:a16="http://schemas.microsoft.com/office/drawing/2014/main" id="{4F38939B-5080-4486-A5D2-1567BA1D7E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045B3-A81F-4B14-96F5-518F075FBA4B}" type="slidenum">
              <a:rPr lang="en-US" smtClean="0"/>
              <a:pPr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620563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htp8_12_Page_32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7351" y="0"/>
            <a:ext cx="8875713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2546B684-EBBD-435A-AFEB-8B9F3B28D2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045B3-A81F-4B14-96F5-518F075FBA4B}" type="slidenum">
              <a:rPr lang="en-US" smtClean="0"/>
              <a:pPr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447864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htp8_12_Page_33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7351" y="0"/>
            <a:ext cx="8875713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F27BED43-4B32-43B6-B504-0134457187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045B3-A81F-4B14-96F5-518F075FBA4B}" type="slidenum">
              <a:rPr lang="en-US" smtClean="0"/>
              <a:pPr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0614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htp8_12_Page_34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7351" y="0"/>
            <a:ext cx="8875713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7D00F8E5-EF9E-4C03-AB51-576C38CF7C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045B3-A81F-4B14-96F5-518F075FBA4B}" type="slidenum">
              <a:rPr lang="en-US" smtClean="0"/>
              <a:pPr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368375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htp8_12_Page_35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7351" y="0"/>
            <a:ext cx="8875713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E3C002DD-4DC0-4B8C-BBDA-485FF9736C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045B3-A81F-4B14-96F5-518F075FBA4B}" type="slidenum">
              <a:rPr lang="en-US" smtClean="0"/>
              <a:pPr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575612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htp8_12_Page_36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7351" y="0"/>
            <a:ext cx="8875713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854AE1B0-B3A0-47B3-B8FA-4025809048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045B3-A81F-4B14-96F5-518F075FBA4B}" type="slidenum">
              <a:rPr lang="en-US" smtClean="0"/>
              <a:pPr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428655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htp8_12_Page_37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7351" y="0"/>
            <a:ext cx="8875713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8CE5EC03-5929-4376-B42F-A2A7CBDF73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045B3-A81F-4B14-96F5-518F075FBA4B}" type="slidenum">
              <a:rPr lang="en-US" smtClean="0"/>
              <a:pPr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951592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htp8_12_Page_38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7351" y="0"/>
            <a:ext cx="8875713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4DD78962-53EF-47DB-861C-BA9D53A343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045B3-A81F-4B14-96F5-518F075FBA4B}" type="slidenum">
              <a:rPr lang="en-US" smtClean="0"/>
              <a:pPr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106429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htp8_12_Page_39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7351" y="0"/>
            <a:ext cx="8875713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7048A0FC-E7DA-4BE0-A66D-3BB48234BD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045B3-A81F-4B14-96F5-518F075FBA4B}" type="slidenum">
              <a:rPr lang="en-US" smtClean="0"/>
              <a:pPr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136450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htp8_12_Page_40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7351" y="0"/>
            <a:ext cx="8875713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4C9EBD73-AE37-4155-95E4-BB47120A9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045B3-A81F-4B14-96F5-518F075FBA4B}" type="slidenum">
              <a:rPr lang="en-US" smtClean="0"/>
              <a:pPr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412687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htp8_12_Page_41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7351" y="0"/>
            <a:ext cx="8875713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2A2890C9-643D-4BC7-9461-95E0D6A5B0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045B3-A81F-4B14-96F5-518F075FBA4B}" type="slidenum">
              <a:rPr lang="en-US" smtClean="0"/>
              <a:pPr/>
              <a:t>50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3276600" y="2362200"/>
            <a:ext cx="6324600" cy="1905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14927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htp8_12_Page_42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7351" y="0"/>
            <a:ext cx="8875713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777C775F-55F6-46A6-9D64-897F29E384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045B3-A81F-4B14-96F5-518F075FBA4B}" type="slidenum">
              <a:rPr lang="en-US" smtClean="0"/>
              <a:pPr/>
              <a:t>51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3048000" y="1524000"/>
            <a:ext cx="6705600" cy="2057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50184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solidFill>
                  <a:srgbClr val="24B5A1"/>
                </a:solidFill>
                <a:latin typeface="Calibri" panose="020F0502020204030204" pitchFamily="34" charset="0"/>
              </a:rPr>
              <a:t>12.5.3  </a:t>
            </a:r>
            <a:r>
              <a:rPr lang="en-US" dirty="0">
                <a:solidFill>
                  <a:srgbClr val="3380E6"/>
                </a:solidFill>
                <a:latin typeface="Calibri" panose="020F0502020204030204" pitchFamily="34" charset="0"/>
              </a:rPr>
              <a:t>Applications of Stacks </a:t>
            </a:r>
          </a:p>
        </p:txBody>
      </p:sp>
      <p:sp>
        <p:nvSpPr>
          <p:cNvPr id="90115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Stacks have many interesting applications.</a:t>
            </a:r>
          </a:p>
          <a:p>
            <a:pPr lvl="3"/>
            <a:endParaRPr lang="tr-TR" altLang="en-US" dirty="0">
              <a:solidFill>
                <a:srgbClr val="000000"/>
              </a:solidFill>
              <a:latin typeface="Cambria" panose="02040503050406030204" pitchFamily="18" charset="0"/>
            </a:endParaRPr>
          </a:p>
          <a:p>
            <a:pPr lvl="1"/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Function Call Stack</a:t>
            </a:r>
          </a:p>
          <a:p>
            <a:pPr lvl="2"/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If a series of function calls occurs, the successive return values are pushed onto the stack in </a:t>
            </a:r>
            <a:r>
              <a:rPr lang="en-US" altLang="en-US" i="1" dirty="0">
                <a:solidFill>
                  <a:srgbClr val="000000"/>
                </a:solidFill>
                <a:latin typeface="Cambria" panose="02040503050406030204" pitchFamily="18" charset="0"/>
              </a:rPr>
              <a:t>last-in, first-out order</a:t>
            </a:r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 so that each function can return to its caller.</a:t>
            </a:r>
          </a:p>
          <a:p>
            <a:pPr lvl="3"/>
            <a:endParaRPr lang="tr-TR" altLang="en-US" dirty="0">
              <a:solidFill>
                <a:srgbClr val="000000"/>
              </a:solidFill>
              <a:latin typeface="Cambria" panose="02040503050406030204" pitchFamily="18" charset="0"/>
            </a:endParaRPr>
          </a:p>
          <a:p>
            <a:pPr lvl="1"/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Stacks are used by compilers in the process of evaluating expressions and generating machine-language code.</a:t>
            </a:r>
          </a:p>
          <a:p>
            <a:pPr lvl="1"/>
            <a:endParaRPr lang="en-US" altLang="en-US" dirty="0">
              <a:solidFill>
                <a:srgbClr val="000000"/>
              </a:solidFill>
              <a:latin typeface="Cambria" panose="02040503050406030204" pitchFamily="18" charset="0"/>
            </a:endParaRPr>
          </a:p>
        </p:txBody>
      </p:sp>
      <p:sp>
        <p:nvSpPr>
          <p:cNvPr id="3" name="Slayt Numarası Yer Tutucusu 2">
            <a:extLst>
              <a:ext uri="{FF2B5EF4-FFF2-40B4-BE49-F238E27FC236}">
                <a16:creationId xmlns:a16="http://schemas.microsoft.com/office/drawing/2014/main" id="{888E5216-E10F-472E-ACDD-8BE2AFD12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045B3-A81F-4B14-96F5-518F075FBA4B}" type="slidenum">
              <a:rPr lang="en-US" smtClean="0"/>
              <a:pPr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009984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solidFill>
                  <a:srgbClr val="24B5A1"/>
                </a:solidFill>
                <a:latin typeface="Calibri" panose="020F0502020204030204" pitchFamily="34" charset="0"/>
              </a:rPr>
              <a:t>12.6  </a:t>
            </a:r>
            <a:r>
              <a:rPr lang="en-US" dirty="0">
                <a:solidFill>
                  <a:srgbClr val="3380E6"/>
                </a:solidFill>
                <a:latin typeface="Calibri" panose="020F0502020204030204" pitchFamily="34" charset="0"/>
              </a:rPr>
              <a:t>Queues</a:t>
            </a:r>
          </a:p>
        </p:txBody>
      </p:sp>
      <p:sp>
        <p:nvSpPr>
          <p:cNvPr id="9216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90000"/>
              </a:lnSpc>
            </a:pPr>
            <a:r>
              <a:rPr lang="en-US" altLang="en-US" dirty="0">
                <a:solidFill>
                  <a:srgbClr val="0000FF"/>
                </a:solidFill>
                <a:latin typeface="Cambria" panose="02040503050406030204" pitchFamily="18" charset="0"/>
              </a:rPr>
              <a:t>Queues</a:t>
            </a:r>
          </a:p>
          <a:p>
            <a:pPr lvl="1">
              <a:lnSpc>
                <a:spcPct val="90000"/>
              </a:lnSpc>
            </a:pPr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similar to a checkout line in a grocery store</a:t>
            </a:r>
          </a:p>
          <a:p>
            <a:pPr lvl="1">
              <a:lnSpc>
                <a:spcPct val="90000"/>
              </a:lnSpc>
            </a:pPr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the </a:t>
            </a:r>
            <a:r>
              <a:rPr lang="en-US" altLang="en-US" i="1" dirty="0">
                <a:solidFill>
                  <a:srgbClr val="000000"/>
                </a:solidFill>
                <a:latin typeface="Cambria" panose="02040503050406030204" pitchFamily="18" charset="0"/>
              </a:rPr>
              <a:t>first</a:t>
            </a:r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 person in line is </a:t>
            </a:r>
            <a:r>
              <a:rPr lang="en-US" altLang="en-US" i="1" dirty="0">
                <a:solidFill>
                  <a:srgbClr val="000000"/>
                </a:solidFill>
                <a:latin typeface="Cambria" panose="02040503050406030204" pitchFamily="18" charset="0"/>
              </a:rPr>
              <a:t>serviced first</a:t>
            </a:r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, and other customers enter the line only at the </a:t>
            </a:r>
            <a:r>
              <a:rPr lang="en-US" altLang="en-US" i="1" dirty="0">
                <a:solidFill>
                  <a:srgbClr val="000000"/>
                </a:solidFill>
                <a:latin typeface="Cambria" panose="02040503050406030204" pitchFamily="18" charset="0"/>
              </a:rPr>
              <a:t>end</a:t>
            </a:r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 and </a:t>
            </a:r>
            <a:r>
              <a:rPr lang="en-US" altLang="en-US" i="1" dirty="0">
                <a:solidFill>
                  <a:srgbClr val="000000"/>
                </a:solidFill>
                <a:latin typeface="Cambria" panose="02040503050406030204" pitchFamily="18" charset="0"/>
              </a:rPr>
              <a:t>wait</a:t>
            </a:r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 to be serviced.</a:t>
            </a:r>
          </a:p>
          <a:p>
            <a:pPr lvl="1">
              <a:lnSpc>
                <a:spcPct val="90000"/>
              </a:lnSpc>
            </a:pPr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nodes are removed </a:t>
            </a:r>
            <a:r>
              <a:rPr lang="en-US" altLang="en-US" i="1" dirty="0">
                <a:solidFill>
                  <a:srgbClr val="000000"/>
                </a:solidFill>
                <a:latin typeface="Cambria" panose="02040503050406030204" pitchFamily="18" charset="0"/>
              </a:rPr>
              <a:t>only</a:t>
            </a:r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 from the </a:t>
            </a:r>
            <a:r>
              <a:rPr lang="en-US" altLang="en-US" dirty="0">
                <a:solidFill>
                  <a:srgbClr val="0000FF"/>
                </a:solidFill>
                <a:latin typeface="Cambria" panose="02040503050406030204" pitchFamily="18" charset="0"/>
              </a:rPr>
              <a:t>head</a:t>
            </a:r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 </a:t>
            </a:r>
            <a:r>
              <a:rPr lang="en-US" altLang="en-US" dirty="0">
                <a:solidFill>
                  <a:srgbClr val="0000FF"/>
                </a:solidFill>
                <a:latin typeface="Cambria" panose="02040503050406030204" pitchFamily="18" charset="0"/>
              </a:rPr>
              <a:t>of the queue</a:t>
            </a:r>
          </a:p>
          <a:p>
            <a:pPr lvl="1">
              <a:lnSpc>
                <a:spcPct val="90000"/>
              </a:lnSpc>
            </a:pPr>
            <a:r>
              <a:rPr lang="en-US" altLang="en-US" dirty="0">
                <a:latin typeface="Cambria" panose="02040503050406030204" pitchFamily="18" charset="0"/>
              </a:rPr>
              <a:t>nodes</a:t>
            </a:r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 are inserted </a:t>
            </a:r>
            <a:r>
              <a:rPr lang="en-US" altLang="en-US" i="1" dirty="0">
                <a:solidFill>
                  <a:srgbClr val="000000"/>
                </a:solidFill>
                <a:latin typeface="Cambria" panose="02040503050406030204" pitchFamily="18" charset="0"/>
              </a:rPr>
              <a:t>only</a:t>
            </a:r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 at the </a:t>
            </a:r>
            <a:r>
              <a:rPr lang="en-US" altLang="en-US" dirty="0">
                <a:solidFill>
                  <a:srgbClr val="0000FF"/>
                </a:solidFill>
                <a:latin typeface="Cambria" panose="02040503050406030204" pitchFamily="18" charset="0"/>
              </a:rPr>
              <a:t>tail</a:t>
            </a:r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 </a:t>
            </a:r>
            <a:r>
              <a:rPr lang="en-US" altLang="en-US" dirty="0">
                <a:solidFill>
                  <a:srgbClr val="0000FF"/>
                </a:solidFill>
                <a:latin typeface="Cambria" panose="02040503050406030204" pitchFamily="18" charset="0"/>
              </a:rPr>
              <a:t>of the queue</a:t>
            </a:r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.</a:t>
            </a:r>
          </a:p>
          <a:p>
            <a:pPr lvl="1">
              <a:lnSpc>
                <a:spcPct val="90000"/>
              </a:lnSpc>
            </a:pPr>
            <a:r>
              <a:rPr lang="en-US" altLang="en-US" dirty="0">
                <a:solidFill>
                  <a:srgbClr val="0000FF"/>
                </a:solidFill>
                <a:latin typeface="Cambria" panose="02040503050406030204" pitchFamily="18" charset="0"/>
              </a:rPr>
              <a:t>First-in, first-out (FIFO)</a:t>
            </a:r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 data structure.</a:t>
            </a:r>
          </a:p>
          <a:p>
            <a:pPr lvl="3">
              <a:lnSpc>
                <a:spcPct val="90000"/>
              </a:lnSpc>
            </a:pPr>
            <a:endParaRPr lang="tr-TR" altLang="en-US" dirty="0">
              <a:solidFill>
                <a:srgbClr val="000000"/>
              </a:solidFill>
              <a:latin typeface="Cambria" panose="02040503050406030204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The </a:t>
            </a:r>
            <a:r>
              <a:rPr lang="en-US" altLang="en-US" i="1" dirty="0">
                <a:solidFill>
                  <a:srgbClr val="000000"/>
                </a:solidFill>
                <a:latin typeface="Cambria" panose="02040503050406030204" pitchFamily="18" charset="0"/>
              </a:rPr>
              <a:t>insert</a:t>
            </a:r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 and </a:t>
            </a:r>
            <a:r>
              <a:rPr lang="en-US" altLang="en-US" i="1" dirty="0">
                <a:solidFill>
                  <a:srgbClr val="000000"/>
                </a:solidFill>
                <a:latin typeface="Cambria" panose="02040503050406030204" pitchFamily="18" charset="0"/>
              </a:rPr>
              <a:t>remove</a:t>
            </a:r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 operations </a:t>
            </a:r>
          </a:p>
          <a:p>
            <a:pPr lvl="1">
              <a:lnSpc>
                <a:spcPct val="90000"/>
              </a:lnSpc>
            </a:pP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enqueue </a:t>
            </a:r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(insert) </a:t>
            </a:r>
            <a:r>
              <a:rPr lang="tr-TR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   </a:t>
            </a:r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and </a:t>
            </a:r>
            <a:r>
              <a:rPr lang="tr-TR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   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dequeue </a:t>
            </a:r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(remove)</a:t>
            </a:r>
          </a:p>
        </p:txBody>
      </p:sp>
      <p:sp>
        <p:nvSpPr>
          <p:cNvPr id="3" name="Slayt Numarası Yer Tutucusu 2">
            <a:extLst>
              <a:ext uri="{FF2B5EF4-FFF2-40B4-BE49-F238E27FC236}">
                <a16:creationId xmlns:a16="http://schemas.microsoft.com/office/drawing/2014/main" id="{C67606CE-4689-41E5-AF19-32DE2432B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045B3-A81F-4B14-96F5-518F075FBA4B}" type="slidenum">
              <a:rPr lang="en-US" smtClean="0"/>
              <a:pPr/>
              <a:t>53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09844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solidFill>
                  <a:srgbClr val="24B5A1"/>
                </a:solidFill>
                <a:latin typeface="Calibri" panose="020F0502020204030204" pitchFamily="34" charset="0"/>
              </a:rPr>
              <a:t>12.6  </a:t>
            </a:r>
            <a:r>
              <a:rPr lang="en-US" dirty="0">
                <a:solidFill>
                  <a:srgbClr val="3380E6"/>
                </a:solidFill>
                <a:latin typeface="Calibri" panose="020F0502020204030204" pitchFamily="34" charset="0"/>
              </a:rPr>
              <a:t>Queues (Cont.)</a:t>
            </a:r>
          </a:p>
        </p:txBody>
      </p:sp>
      <p:sp>
        <p:nvSpPr>
          <p:cNvPr id="93187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Queues have many applications in computer systems.</a:t>
            </a:r>
          </a:p>
          <a:p>
            <a:pPr lvl="3"/>
            <a:endParaRPr lang="tr-TR" altLang="en-US" dirty="0">
              <a:solidFill>
                <a:srgbClr val="000000"/>
              </a:solidFill>
              <a:latin typeface="Cambria" panose="02040503050406030204" pitchFamily="18" charset="0"/>
            </a:endParaRPr>
          </a:p>
          <a:p>
            <a:pPr lvl="1"/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For computers that have only a single processor, only one user at a time may be serviced.</a:t>
            </a:r>
          </a:p>
          <a:p>
            <a:pPr lvl="2"/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Entries for the other users are placed in a queue.</a:t>
            </a:r>
          </a:p>
          <a:p>
            <a:pPr lvl="3"/>
            <a:endParaRPr lang="tr-TR" altLang="en-US" dirty="0">
              <a:solidFill>
                <a:srgbClr val="000000"/>
              </a:solidFill>
              <a:latin typeface="Cambria" panose="02040503050406030204" pitchFamily="18" charset="0"/>
            </a:endParaRPr>
          </a:p>
          <a:p>
            <a:pPr lvl="1"/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Queues are also used to support </a:t>
            </a:r>
            <a:r>
              <a:rPr lang="en-US" altLang="en-US" i="1" dirty="0">
                <a:solidFill>
                  <a:srgbClr val="000000"/>
                </a:solidFill>
                <a:latin typeface="Cambria" panose="02040503050406030204" pitchFamily="18" charset="0"/>
              </a:rPr>
              <a:t>print spooling</a:t>
            </a:r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.</a:t>
            </a:r>
          </a:p>
          <a:p>
            <a:pPr lvl="2"/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Many users may be generating outputs to be printed.</a:t>
            </a:r>
          </a:p>
          <a:p>
            <a:pPr lvl="2"/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These are spooled to disk where they wait in a </a:t>
            </a:r>
            <a:r>
              <a:rPr lang="en-US" altLang="en-US" i="1" dirty="0">
                <a:solidFill>
                  <a:srgbClr val="000000"/>
                </a:solidFill>
                <a:latin typeface="Cambria" panose="02040503050406030204" pitchFamily="18" charset="0"/>
              </a:rPr>
              <a:t>queue</a:t>
            </a:r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 until the printer becomes available.</a:t>
            </a:r>
          </a:p>
          <a:p>
            <a:pPr lvl="2"/>
            <a:endParaRPr lang="en-US" altLang="en-US" dirty="0">
              <a:solidFill>
                <a:srgbClr val="000000"/>
              </a:solidFill>
              <a:latin typeface="Cambria" panose="02040503050406030204" pitchFamily="18" charset="0"/>
            </a:endParaRPr>
          </a:p>
        </p:txBody>
      </p:sp>
      <p:sp>
        <p:nvSpPr>
          <p:cNvPr id="3" name="Slayt Numarası Yer Tutucusu 2">
            <a:extLst>
              <a:ext uri="{FF2B5EF4-FFF2-40B4-BE49-F238E27FC236}">
                <a16:creationId xmlns:a16="http://schemas.microsoft.com/office/drawing/2014/main" id="{2B2A8843-4146-42FE-AA97-48226AC50A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045B3-A81F-4B14-96F5-518F075FBA4B}" type="slidenum">
              <a:rPr lang="en-US" smtClean="0"/>
              <a:pPr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22272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solidFill>
                  <a:srgbClr val="24B5A1"/>
                </a:solidFill>
                <a:latin typeface="Calibri" panose="020F0502020204030204" pitchFamily="34" charset="0"/>
              </a:rPr>
              <a:t>12.6  </a:t>
            </a:r>
            <a:r>
              <a:rPr lang="en-US" dirty="0">
                <a:solidFill>
                  <a:srgbClr val="3380E6"/>
                </a:solidFill>
                <a:latin typeface="Calibri" panose="020F0502020204030204" pitchFamily="34" charset="0"/>
              </a:rPr>
              <a:t>Queues (Cont.)</a:t>
            </a:r>
          </a:p>
        </p:txBody>
      </p:sp>
      <p:sp>
        <p:nvSpPr>
          <p:cNvPr id="95235" name="Text Placeholder 2"/>
          <p:cNvSpPr>
            <a:spLocks noGrp="1"/>
          </p:cNvSpPr>
          <p:nvPr>
            <p:ph type="body" idx="1"/>
          </p:nvPr>
        </p:nvSpPr>
        <p:spPr>
          <a:xfrm>
            <a:off x="1295400" y="1376549"/>
            <a:ext cx="9677400" cy="4525963"/>
          </a:xfrm>
        </p:spPr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 sz="2400" dirty="0">
                <a:solidFill>
                  <a:srgbClr val="000000"/>
                </a:solidFill>
                <a:latin typeface="Cambria" panose="02040503050406030204" pitchFamily="18" charset="0"/>
              </a:rPr>
              <a:t>Figure 12.12 illustrates a queue with several nodes.</a:t>
            </a:r>
          </a:p>
          <a:p>
            <a:pPr eaLnBrk="1" hangingPunct="1">
              <a:lnSpc>
                <a:spcPct val="90000"/>
              </a:lnSpc>
            </a:pPr>
            <a:endParaRPr lang="tr-TR" altLang="en-US" sz="2400" dirty="0">
              <a:solidFill>
                <a:srgbClr val="000000"/>
              </a:solidFill>
              <a:latin typeface="Cambria" panose="02040503050406030204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en-US" sz="2400" dirty="0">
                <a:solidFill>
                  <a:srgbClr val="000000"/>
                </a:solidFill>
                <a:latin typeface="Cambria" panose="02040503050406030204" pitchFamily="18" charset="0"/>
              </a:rPr>
              <a:t>Note the pointers to the head of the queue and the tail of the queue.</a:t>
            </a:r>
          </a:p>
        </p:txBody>
      </p:sp>
      <p:sp>
        <p:nvSpPr>
          <p:cNvPr id="3" name="Slayt Numarası Yer Tutucusu 2">
            <a:extLst>
              <a:ext uri="{FF2B5EF4-FFF2-40B4-BE49-F238E27FC236}">
                <a16:creationId xmlns:a16="http://schemas.microsoft.com/office/drawing/2014/main" id="{CDDC87FB-DC0C-4A40-97FA-4F91E0233A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045B3-A81F-4B14-96F5-518F075FBA4B}" type="slidenum">
              <a:rPr lang="en-US" smtClean="0"/>
              <a:pPr/>
              <a:t>55</a:t>
            </a:fld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9288" y="3088481"/>
            <a:ext cx="8353425" cy="3152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156997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htp8_12_Page_45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7351" y="0"/>
            <a:ext cx="8875713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344C72CA-0B7F-49BA-8943-D264F6332A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045B3-A81F-4B14-96F5-518F075FBA4B}" type="slidenum">
              <a:rPr lang="en-US" smtClean="0"/>
              <a:pPr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678949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htp8_12_Page_46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7351" y="0"/>
            <a:ext cx="8875713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5DE1EB63-7773-41D1-98CC-727177BCAC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045B3-A81F-4B14-96F5-518F075FBA4B}" type="slidenum">
              <a:rPr lang="en-US" smtClean="0"/>
              <a:pPr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934623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htp8_12_Page_47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7351" y="0"/>
            <a:ext cx="8875713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66B03DD1-BD2E-4B9A-9FD3-C66AB1304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045B3-A81F-4B14-96F5-518F075FBA4B}" type="slidenum">
              <a:rPr lang="en-US" smtClean="0"/>
              <a:pPr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9330487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htp8_12_Page_48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7351" y="0"/>
            <a:ext cx="8875713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431B669B-A317-4800-8CAF-E2FA806C8E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045B3-A81F-4B14-96F5-518F075FBA4B}" type="slidenum">
              <a:rPr lang="en-US" smtClean="0"/>
              <a:pPr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234027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htp8_12_Page_49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7351" y="0"/>
            <a:ext cx="8875713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5447511B-D0E9-4ABF-BFCA-034607F424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045B3-A81F-4B14-96F5-518F075FBA4B}" type="slidenum">
              <a:rPr lang="en-US" smtClean="0"/>
              <a:pPr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5243984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htp8_12_Page_50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7351" y="0"/>
            <a:ext cx="8875713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6E3770F9-208E-4E4C-AD07-A47C532951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045B3-A81F-4B14-96F5-518F075FBA4B}" type="slidenum">
              <a:rPr lang="en-US" smtClean="0"/>
              <a:pPr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040919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htp8_12_Page_51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7351" y="0"/>
            <a:ext cx="8875713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EA0B1959-3EA8-4B3D-A178-CAF717ADF6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045B3-A81F-4B14-96F5-518F075FBA4B}" type="slidenum">
              <a:rPr lang="en-US" smtClean="0"/>
              <a:pPr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4169468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htp8_12_Page_52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7351" y="0"/>
            <a:ext cx="8875713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4BB45ACB-8187-4CF8-AA93-F22443A9D4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045B3-A81F-4B14-96F5-518F075FBA4B}" type="slidenum">
              <a:rPr lang="en-US" smtClean="0"/>
              <a:pPr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6864940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htp8_12_Page_53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7351" y="0"/>
            <a:ext cx="8875713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14C4CB7A-1EF5-4B37-9C9F-9A2F23264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045B3-A81F-4B14-96F5-518F075FBA4B}" type="slidenum">
              <a:rPr lang="en-US" smtClean="0"/>
              <a:pPr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3145137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htp8_12_Page_54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7351" y="0"/>
            <a:ext cx="8875713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EADA0A26-CED9-491D-99E9-C87C8DFF3A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045B3-A81F-4B14-96F5-518F075FBA4B}" type="slidenum">
              <a:rPr lang="en-US" smtClean="0"/>
              <a:pPr/>
              <a:t>65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2667000" y="2514600"/>
            <a:ext cx="6858000" cy="2133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75239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htp8_12_Page_55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7351" y="0"/>
            <a:ext cx="8875713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38E27375-DF9C-4797-9B28-0A0E3659C2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045B3-A81F-4B14-96F5-518F075FBA4B}" type="slidenum">
              <a:rPr lang="en-US" smtClean="0"/>
              <a:pPr/>
              <a:t>66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2514600" y="2514600"/>
            <a:ext cx="6858000" cy="2133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09810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NEXTUNIQUEID" val="10020"/>
  <p:tag name="MMPROD_UIDATA" val="&lt;database version=&quot;9.0&quot;&gt;&lt;object type=&quot;1&quot; unique_id=&quot;10001&quot;&gt;&lt;object type=&quot;2&quot; unique_id=&quot;13762&quot;&gt;&lt;object type=&quot;3&quot; unique_id=&quot;13764&quot;&gt;&lt;property id=&quot;20148&quot; value=&quot;5&quot;/&gt;&lt;property id=&quot;20300&quot; value=&quot;Slide 2&quot;/&gt;&lt;property id=&quot;20307&quot; value=&quot;258&quot;/&gt;&lt;/object&gt;&lt;object type=&quot;3&quot; unique_id=&quot;13765&quot;&gt;&lt;property id=&quot;20148&quot; value=&quot;5&quot;/&gt;&lt;property id=&quot;20300&quot; value=&quot;Slide 3&quot;/&gt;&lt;property id=&quot;20307&quot; value=&quot;259&quot;/&gt;&lt;/object&gt;&lt;object type=&quot;3&quot; unique_id=&quot;13766&quot;&gt;&lt;property id=&quot;20148&quot; value=&quot;5&quot;/&gt;&lt;property id=&quot;20300&quot; value=&quot;Slide 10&quot;/&gt;&lt;property id=&quot;20307&quot; value=&quot;260&quot;/&gt;&lt;/object&gt;&lt;object type=&quot;3&quot; unique_id=&quot;13767&quot;&gt;&lt;property id=&quot;20148&quot; value=&quot;5&quot;/&gt;&lt;property id=&quot;20300&quot; value=&quot;Slide 11&quot;/&gt;&lt;property id=&quot;20307&quot; value=&quot;261&quot;/&gt;&lt;/object&gt;&lt;object type=&quot;3&quot; unique_id=&quot;13768&quot;&gt;&lt;property id=&quot;20148&quot; value=&quot;5&quot;/&gt;&lt;property id=&quot;20300&quot; value=&quot;Slide 16&quot;/&gt;&lt;property id=&quot;20307&quot; value=&quot;262&quot;/&gt;&lt;/object&gt;&lt;object type=&quot;3&quot; unique_id=&quot;13769&quot;&gt;&lt;property id=&quot;20148&quot; value=&quot;5&quot;/&gt;&lt;property id=&quot;20300&quot; value=&quot;Slide 17&quot;/&gt;&lt;property id=&quot;20307&quot; value=&quot;263&quot;/&gt;&lt;/object&gt;&lt;object type=&quot;3&quot; unique_id=&quot;13770&quot;&gt;&lt;property id=&quot;20148&quot; value=&quot;5&quot;/&gt;&lt;property id=&quot;20300&quot; value=&quot;Slide 18&quot;/&gt;&lt;property id=&quot;20307&quot; value=&quot;264&quot;/&gt;&lt;/object&gt;&lt;object type=&quot;3&quot; unique_id=&quot;13771&quot;&gt;&lt;property id=&quot;20148&quot; value=&quot;5&quot;/&gt;&lt;property id=&quot;20300&quot; value=&quot;Slide 19&quot;/&gt;&lt;property id=&quot;20307&quot; value=&quot;265&quot;/&gt;&lt;/object&gt;&lt;object type=&quot;3&quot; unique_id=&quot;13772&quot;&gt;&lt;property id=&quot;20148&quot; value=&quot;5&quot;/&gt;&lt;property id=&quot;20300&quot; value=&quot;Slide 20&quot;/&gt;&lt;property id=&quot;20307&quot; value=&quot;266&quot;/&gt;&lt;/object&gt;&lt;object type=&quot;3&quot; unique_id=&quot;13773&quot;&gt;&lt;property id=&quot;20148&quot; value=&quot;5&quot;/&gt;&lt;property id=&quot;20300&quot; value=&quot;Slide 21&quot;/&gt;&lt;property id=&quot;20307&quot; value=&quot;267&quot;/&gt;&lt;/object&gt;&lt;object type=&quot;3&quot; unique_id=&quot;13774&quot;&gt;&lt;property id=&quot;20148&quot; value=&quot;5&quot;/&gt;&lt;property id=&quot;20300&quot; value=&quot;Slide 25&quot;/&gt;&lt;property id=&quot;20307&quot; value=&quot;268&quot;/&gt;&lt;/object&gt;&lt;object type=&quot;3&quot; unique_id=&quot;13775&quot;&gt;&lt;property id=&quot;20148&quot; value=&quot;5&quot;/&gt;&lt;property id=&quot;20300&quot; value=&quot;Slide 27&quot;/&gt;&lt;property id=&quot;20307&quot; value=&quot;269&quot;/&gt;&lt;/object&gt;&lt;object type=&quot;3&quot; unique_id=&quot;13776&quot;&gt;&lt;property id=&quot;20148&quot; value=&quot;5&quot;/&gt;&lt;property id=&quot;20300&quot; value=&quot;Slide 28&quot;/&gt;&lt;property id=&quot;20307&quot; value=&quot;270&quot;/&gt;&lt;/object&gt;&lt;object type=&quot;3&quot; unique_id=&quot;13777&quot;&gt;&lt;property id=&quot;20148&quot; value=&quot;5&quot;/&gt;&lt;property id=&quot;20300&quot; value=&quot;Slide 30&quot;/&gt;&lt;property id=&quot;20307&quot; value=&quot;271&quot;/&gt;&lt;/object&gt;&lt;object type=&quot;3&quot; unique_id=&quot;13778&quot;&gt;&lt;property id=&quot;20148&quot; value=&quot;5&quot;/&gt;&lt;property id=&quot;20300&quot; value=&quot;Slide 31&quot;/&gt;&lt;property id=&quot;20307&quot; value=&quot;272&quot;/&gt;&lt;/object&gt;&lt;object type=&quot;3&quot; unique_id=&quot;13779&quot;&gt;&lt;property id=&quot;20148&quot; value=&quot;5&quot;/&gt;&lt;property id=&quot;20300&quot; value=&quot;Slide 33&quot;/&gt;&lt;property id=&quot;20307&quot; value=&quot;273&quot;/&gt;&lt;/object&gt;&lt;object type=&quot;3&quot; unique_id=&quot;13780&quot;&gt;&lt;property id=&quot;20148&quot; value=&quot;5&quot;/&gt;&lt;property id=&quot;20300&quot; value=&quot;Slide 34&quot;/&gt;&lt;property id=&quot;20307&quot; value=&quot;274&quot;/&gt;&lt;/object&gt;&lt;object type=&quot;3&quot; unique_id=&quot;13781&quot;&gt;&lt;property id=&quot;20148&quot; value=&quot;5&quot;/&gt;&lt;property id=&quot;20300&quot; value=&quot;Slide 35&quot;/&gt;&lt;property id=&quot;20307&quot; value=&quot;275&quot;/&gt;&lt;/object&gt;&lt;object type=&quot;3&quot; unique_id=&quot;13782&quot;&gt;&lt;property id=&quot;20148&quot; value=&quot;5&quot;/&gt;&lt;property id=&quot;20300&quot; value=&quot;Slide 36&quot;/&gt;&lt;property id=&quot;20307&quot; value=&quot;276&quot;/&gt;&lt;/object&gt;&lt;object type=&quot;3&quot; unique_id=&quot;13783&quot;&gt;&lt;property id=&quot;20148&quot; value=&quot;5&quot;/&gt;&lt;property id=&quot;20300&quot; value=&quot;Slide 37&quot;/&gt;&lt;property id=&quot;20307&quot; value=&quot;277&quot;/&gt;&lt;/object&gt;&lt;object type=&quot;3&quot; unique_id=&quot;13784&quot;&gt;&lt;property id=&quot;20148&quot; value=&quot;5&quot;/&gt;&lt;property id=&quot;20300&quot; value=&quot;Slide 38&quot;/&gt;&lt;property id=&quot;20307&quot; value=&quot;278&quot;/&gt;&lt;/object&gt;&lt;object type=&quot;3&quot; unique_id=&quot;13785&quot;&gt;&lt;property id=&quot;20148&quot; value=&quot;5&quot;/&gt;&lt;property id=&quot;20300&quot; value=&quot;Slide 39&quot;/&gt;&lt;property id=&quot;20307&quot; value=&quot;279&quot;/&gt;&lt;/object&gt;&lt;object type=&quot;3&quot; unique_id=&quot;13786&quot;&gt;&lt;property id=&quot;20148&quot; value=&quot;5&quot;/&gt;&lt;property id=&quot;20300&quot; value=&quot;Slide 40&quot;/&gt;&lt;property id=&quot;20307&quot; value=&quot;280&quot;/&gt;&lt;/object&gt;&lt;object type=&quot;3&quot; unique_id=&quot;13787&quot;&gt;&lt;property id=&quot;20148&quot; value=&quot;5&quot;/&gt;&lt;property id=&quot;20300&quot; value=&quot;Slide 41&quot;/&gt;&lt;property id=&quot;20307&quot; value=&quot;281&quot;/&gt;&lt;/object&gt;&lt;object type=&quot;3&quot; unique_id=&quot;13788&quot;&gt;&lt;property id=&quot;20148&quot; value=&quot;5&quot;/&gt;&lt;property id=&quot;20300&quot; value=&quot;Slide 42&quot;/&gt;&lt;property id=&quot;20307&quot; value=&quot;282&quot;/&gt;&lt;/object&gt;&lt;object type=&quot;3&quot; unique_id=&quot;13789&quot;&gt;&lt;property id=&quot;20148&quot; value=&quot;5&quot;/&gt;&lt;property id=&quot;20300&quot; value=&quot;Slide 47&quot;/&gt;&lt;property id=&quot;20307&quot; value=&quot;283&quot;/&gt;&lt;/object&gt;&lt;object type=&quot;3&quot; unique_id=&quot;13790&quot;&gt;&lt;property id=&quot;20148&quot; value=&quot;5&quot;/&gt;&lt;property id=&quot;20300&quot; value=&quot;Slide 48&quot;/&gt;&lt;property id=&quot;20307&quot; value=&quot;284&quot;/&gt;&lt;/object&gt;&lt;object type=&quot;3&quot; unique_id=&quot;13791&quot;&gt;&lt;property id=&quot;20148&quot; value=&quot;5&quot;/&gt;&lt;property id=&quot;20300&quot; value=&quot;Slide 52&quot;/&gt;&lt;property id=&quot;20307&quot; value=&quot;285&quot;/&gt;&lt;/object&gt;&lt;object type=&quot;3&quot; unique_id=&quot;13792&quot;&gt;&lt;property id=&quot;20148&quot; value=&quot;5&quot;/&gt;&lt;property id=&quot;20300&quot; value=&quot;Slide 58&quot;/&gt;&lt;property id=&quot;20307&quot; value=&quot;286&quot;/&gt;&lt;/object&gt;&lt;object type=&quot;3&quot; unique_id=&quot;13793&quot;&gt;&lt;property id=&quot;20148&quot; value=&quot;5&quot;/&gt;&lt;property id=&quot;20300&quot; value=&quot;Slide 59&quot;/&gt;&lt;property id=&quot;20307&quot; value=&quot;287&quot;/&gt;&lt;/object&gt;&lt;object type=&quot;3&quot; unique_id=&quot;13794&quot;&gt;&lt;property id=&quot;20148&quot; value=&quot;5&quot;/&gt;&lt;property id=&quot;20300&quot; value=&quot;Slide 61&quot;/&gt;&lt;property id=&quot;20307&quot; value=&quot;288&quot;/&gt;&lt;/object&gt;&lt;object type=&quot;3&quot; unique_id=&quot;13795&quot;&gt;&lt;property id=&quot;20148&quot; value=&quot;5&quot;/&gt;&lt;property id=&quot;20300&quot; value=&quot;Slide 62&quot;/&gt;&lt;property id=&quot;20307&quot; value=&quot;289&quot;/&gt;&lt;/object&gt;&lt;object type=&quot;3&quot; unique_id=&quot;13796&quot;&gt;&lt;property id=&quot;20148&quot; value=&quot;5&quot;/&gt;&lt;property id=&quot;20300&quot; value=&quot;Slide 63&quot;/&gt;&lt;property id=&quot;20307&quot; value=&quot;290&quot;/&gt;&lt;/object&gt;&lt;object type=&quot;3&quot; unique_id=&quot;13797&quot;&gt;&lt;property id=&quot;20148&quot; value=&quot;5&quot;/&gt;&lt;property id=&quot;20300&quot; value=&quot;Slide 64&quot;/&gt;&lt;property id=&quot;20307&quot; value=&quot;291&quot;/&gt;&lt;/object&gt;&lt;object type=&quot;3&quot; unique_id=&quot;13798&quot;&gt;&lt;property id=&quot;20148&quot; value=&quot;5&quot;/&gt;&lt;property id=&quot;20300&quot; value=&quot;Slide 65&quot;/&gt;&lt;property id=&quot;20307&quot; value=&quot;292&quot;/&gt;&lt;/object&gt;&lt;object type=&quot;3&quot; unique_id=&quot;13799&quot;&gt;&lt;property id=&quot;20148&quot; value=&quot;5&quot;/&gt;&lt;property id=&quot;20300&quot; value=&quot;Slide 66&quot;/&gt;&lt;property id=&quot;20307&quot; value=&quot;293&quot;/&gt;&lt;/object&gt;&lt;object type=&quot;3&quot; unique_id=&quot;13800&quot;&gt;&lt;property id=&quot;20148&quot; value=&quot;5&quot;/&gt;&lt;property id=&quot;20300&quot; value=&quot;Slide 67&quot;/&gt;&lt;property id=&quot;20307&quot; value=&quot;294&quot;/&gt;&lt;/object&gt;&lt;object type=&quot;3&quot; unique_id=&quot;13801&quot;&gt;&lt;property id=&quot;20148&quot; value=&quot;5&quot;/&gt;&lt;property id=&quot;20300&quot; value=&quot;Slide 68&quot;/&gt;&lt;property id=&quot;20307&quot; value=&quot;295&quot;/&gt;&lt;/object&gt;&lt;object type=&quot;3&quot; unique_id=&quot;13802&quot;&gt;&lt;property id=&quot;20148&quot; value=&quot;5&quot;/&gt;&lt;property id=&quot;20300&quot; value=&quot;Slide 69&quot;/&gt;&lt;property id=&quot;20307&quot; value=&quot;296&quot;/&gt;&lt;/object&gt;&lt;object type=&quot;3&quot; unique_id=&quot;13803&quot;&gt;&lt;property id=&quot;20148&quot; value=&quot;5&quot;/&gt;&lt;property id=&quot;20300&quot; value=&quot;Slide 72&quot;/&gt;&lt;property id=&quot;20307&quot; value=&quot;297&quot;/&gt;&lt;/object&gt;&lt;object type=&quot;3&quot; unique_id=&quot;13804&quot;&gt;&lt;property id=&quot;20148&quot; value=&quot;5&quot;/&gt;&lt;property id=&quot;20300&quot; value=&quot;Slide 75&quot;/&gt;&lt;property id=&quot;20307&quot; value=&quot;298&quot;/&gt;&lt;/object&gt;&lt;object type=&quot;3&quot; unique_id=&quot;13805&quot;&gt;&lt;property id=&quot;20148&quot; value=&quot;5&quot;/&gt;&lt;property id=&quot;20300&quot; value=&quot;Slide 82&quot;/&gt;&lt;property id=&quot;20307&quot; value=&quot;299&quot;/&gt;&lt;/object&gt;&lt;object type=&quot;3&quot; unique_id=&quot;13806&quot;&gt;&lt;property id=&quot;20148&quot; value=&quot;5&quot;/&gt;&lt;property id=&quot;20300&quot; value=&quot;Slide 83&quot;/&gt;&lt;property id=&quot;20307&quot; value=&quot;300&quot;/&gt;&lt;/object&gt;&lt;object type=&quot;3&quot; unique_id=&quot;13807&quot;&gt;&lt;property id=&quot;20148&quot; value=&quot;5&quot;/&gt;&lt;property id=&quot;20300&quot; value=&quot;Slide 85&quot;/&gt;&lt;property id=&quot;20307&quot; value=&quot;301&quot;/&gt;&lt;/object&gt;&lt;object type=&quot;3&quot; unique_id=&quot;13808&quot;&gt;&lt;property id=&quot;20148&quot; value=&quot;5&quot;/&gt;&lt;property id=&quot;20300&quot; value=&quot;Slide 86&quot;/&gt;&lt;property id=&quot;20307&quot; value=&quot;302&quot;/&gt;&lt;/object&gt;&lt;object type=&quot;3&quot; unique_id=&quot;13809&quot;&gt;&lt;property id=&quot;20148&quot; value=&quot;5&quot;/&gt;&lt;property id=&quot;20300&quot; value=&quot;Slide 87&quot;/&gt;&lt;property id=&quot;20307&quot; value=&quot;303&quot;/&gt;&lt;/object&gt;&lt;object type=&quot;3&quot; unique_id=&quot;13810&quot;&gt;&lt;property id=&quot;20148&quot; value=&quot;5&quot;/&gt;&lt;property id=&quot;20300&quot; value=&quot;Slide 88&quot;/&gt;&lt;property id=&quot;20307&quot; value=&quot;304&quot;/&gt;&lt;/object&gt;&lt;object type=&quot;3&quot; unique_id=&quot;13811&quot;&gt;&lt;property id=&quot;20148&quot; value=&quot;5&quot;/&gt;&lt;property id=&quot;20300&quot; value=&quot;Slide 89&quot;/&gt;&lt;property id=&quot;20307&quot; value=&quot;305&quot;/&gt;&lt;/object&gt;&lt;object type=&quot;3&quot; unique_id=&quot;13812&quot;&gt;&lt;property id=&quot;20148&quot; value=&quot;5&quot;/&gt;&lt;property id=&quot;20300&quot; value=&quot;Slide 90&quot;/&gt;&lt;property id=&quot;20307&quot; value=&quot;306&quot;/&gt;&lt;/object&gt;&lt;object type=&quot;3&quot; unique_id=&quot;13813&quot;&gt;&lt;property id=&quot;20148&quot; value=&quot;5&quot;/&gt;&lt;property id=&quot;20300&quot; value=&quot;Slide 91&quot;/&gt;&lt;property id=&quot;20307&quot; value=&quot;307&quot;/&gt;&lt;/object&gt;&lt;object type=&quot;3&quot; unique_id=&quot;13814&quot;&gt;&lt;property id=&quot;20148&quot; value=&quot;5&quot;/&gt;&lt;property id=&quot;20300&quot; value=&quot;Slide 92&quot;/&gt;&lt;property id=&quot;20307&quot; value=&quot;308&quot;/&gt;&lt;/object&gt;&lt;object type=&quot;3&quot; unique_id=&quot;13815&quot;&gt;&lt;property id=&quot;20148&quot; value=&quot;5&quot;/&gt;&lt;property id=&quot;20300&quot; value=&quot;Slide 93&quot;/&gt;&lt;property id=&quot;20307&quot; value=&quot;309&quot;/&gt;&lt;/object&gt;&lt;object type=&quot;3&quot; unique_id=&quot;13816&quot;&gt;&lt;property id=&quot;20148&quot; value=&quot;5&quot;/&gt;&lt;property id=&quot;20300&quot; value=&quot;Slide 97&quot;/&gt;&lt;property id=&quot;20307&quot; value=&quot;310&quot;/&gt;&lt;/object&gt;&lt;object type=&quot;3&quot; unique_id=&quot;13817&quot;&gt;&lt;property id=&quot;20148&quot; value=&quot;5&quot;/&gt;&lt;property id=&quot;20300&quot; value=&quot;Slide 101&quot;/&gt;&lt;property id=&quot;20307&quot; value=&quot;311&quot;/&gt;&lt;/object&gt;&lt;object type=&quot;3&quot; unique_id=&quot;13818&quot;&gt;&lt;property id=&quot;20148&quot; value=&quot;5&quot;/&gt;&lt;property id=&quot;20300&quot; value=&quot;Slide 104&quot;/&gt;&lt;property id=&quot;20307&quot; value=&quot;312&quot;/&gt;&lt;/object&gt;&lt;object type=&quot;3&quot; unique_id=&quot;13819&quot;&gt;&lt;property id=&quot;20148&quot; value=&quot;5&quot;/&gt;&lt;property id=&quot;20300&quot; value=&quot;Slide 106&quot;/&gt;&lt;property id=&quot;20307&quot; value=&quot;313&quot;/&gt;&lt;/object&gt;&lt;object type=&quot;3&quot; unique_id=&quot;13820&quot;&gt;&lt;property id=&quot;20148&quot; value=&quot;5&quot;/&gt;&lt;property id=&quot;20300&quot; value=&quot;Slide 107&quot;/&gt;&lt;property id=&quot;20307&quot; value=&quot;314&quot;/&gt;&lt;/object&gt;&lt;object type=&quot;3&quot; unique_id=&quot;13821&quot;&gt;&lt;property id=&quot;20148&quot; value=&quot;5&quot;/&gt;&lt;property id=&quot;20300&quot; value=&quot;Slide 109&quot;/&gt;&lt;property id=&quot;20307&quot; value=&quot;315&quot;/&gt;&lt;/object&gt;&lt;object type=&quot;3&quot; unique_id=&quot;13822&quot;&gt;&lt;property id=&quot;20148&quot; value=&quot;5&quot;/&gt;&lt;property id=&quot;20300&quot; value=&quot;Slide 110&quot;/&gt;&lt;property id=&quot;20307&quot; value=&quot;316&quot;/&gt;&lt;/object&gt;&lt;object type=&quot;3&quot; unique_id=&quot;13823&quot;&gt;&lt;property id=&quot;20148&quot; value=&quot;5&quot;/&gt;&lt;property id=&quot;20300&quot; value=&quot;Slide 111&quot;/&gt;&lt;property id=&quot;20307&quot; value=&quot;317&quot;/&gt;&lt;/object&gt;&lt;object type=&quot;3&quot; unique_id=&quot;13824&quot;&gt;&lt;property id=&quot;20148&quot; value=&quot;5&quot;/&gt;&lt;property id=&quot;20300&quot; value=&quot;Slide 112&quot;/&gt;&lt;property id=&quot;20307&quot; value=&quot;318&quot;/&gt;&lt;/object&gt;&lt;object type=&quot;3&quot; unique_id=&quot;13825&quot;&gt;&lt;property id=&quot;20148&quot; value=&quot;5&quot;/&gt;&lt;property id=&quot;20300&quot; value=&quot;Slide 113&quot;/&gt;&lt;property id=&quot;20307&quot; value=&quot;319&quot;/&gt;&lt;/object&gt;&lt;object type=&quot;3&quot; unique_id=&quot;13826&quot;&gt;&lt;property id=&quot;20148&quot; value=&quot;5&quot;/&gt;&lt;property id=&quot;20300&quot; value=&quot;Slide 114&quot;/&gt;&lt;property id=&quot;20307&quot; value=&quot;320&quot;/&gt;&lt;/object&gt;&lt;object type=&quot;3&quot; unique_id=&quot;13827&quot;&gt;&lt;property id=&quot;20148&quot; value=&quot;5&quot;/&gt;&lt;property id=&quot;20300&quot; value=&quot;Slide 115&quot;/&gt;&lt;property id=&quot;20307&quot; value=&quot;321&quot;/&gt;&lt;/object&gt;&lt;object type=&quot;3&quot; unique_id=&quot;77194&quot;&gt;&lt;property id=&quot;20148&quot; value=&quot;5&quot;/&gt;&lt;property id=&quot;20300&quot; value=&quot;Slide 1 - &amp;quot;Chapter 12 C Data Structures&amp;quot;&quot;/&gt;&lt;property id=&quot;20307&quot; value=&quot;323&quot;/&gt;&lt;/object&gt;&lt;object type=&quot;3&quot; unique_id=&quot;77195&quot;&gt;&lt;property id=&quot;20148&quot; value=&quot;5&quot;/&gt;&lt;property id=&quot;20300&quot; value=&quot;Slide 4 - &amp;quot;12.1  Introduction&amp;quot;&quot;/&gt;&lt;property id=&quot;20307&quot; value=&quot;324&quot;/&gt;&lt;/object&gt;&lt;object type=&quot;3&quot; unique_id=&quot;77196&quot;&gt;&lt;property id=&quot;20148&quot; value=&quot;5&quot;/&gt;&lt;property id=&quot;20300&quot; value=&quot;Slide 5 - &amp;quot;12.1  Introduction (Cont.)&amp;quot;&quot;/&gt;&lt;property id=&quot;20307&quot; value=&quot;325&quot;/&gt;&lt;/object&gt;&lt;object type=&quot;3&quot; unique_id=&quot;77197&quot;&gt;&lt;property id=&quot;20148&quot; value=&quot;5&quot;/&gt;&lt;property id=&quot;20300&quot; value=&quot;Slide 6 - &amp;quot;12.1  Introduction (Cont.)&amp;quot;&quot;/&gt;&lt;property id=&quot;20307&quot; value=&quot;326&quot;/&gt;&lt;/object&gt;&lt;object type=&quot;3&quot; unique_id=&quot;77198&quot;&gt;&lt;property id=&quot;20148&quot; value=&quot;5&quot;/&gt;&lt;property id=&quot;20300&quot; value=&quot;Slide 7 - &amp;quot;12.2  Self-Referential Structures&amp;quot;&quot;/&gt;&lt;property id=&quot;20307&quot; value=&quot;327&quot;/&gt;&lt;/object&gt;&lt;object type=&quot;3&quot; unique_id=&quot;77199&quot;&gt;&lt;property id=&quot;20148&quot; value=&quot;5&quot;/&gt;&lt;property id=&quot;20300&quot; value=&quot;Slide 8 - &amp;quot;12.2  Self-Referential Structures (Cont.)&amp;quot;&quot;/&gt;&lt;property id=&quot;20307&quot; value=&quot;328&quot;/&gt;&lt;/object&gt;&lt;object type=&quot;3&quot; unique_id=&quot;77200&quot;&gt;&lt;property id=&quot;20148&quot; value=&quot;5&quot;/&gt;&lt;property id=&quot;20300&quot; value=&quot;Slide 9 - &amp;quot;12.2  Self-Referential Structures (Cont.)&amp;quot;&quot;/&gt;&lt;property id=&quot;20307&quot; value=&quot;329&quot;/&gt;&lt;/object&gt;&lt;object type=&quot;3&quot; unique_id=&quot;77201&quot;&gt;&lt;property id=&quot;20148&quot; value=&quot;5&quot;/&gt;&lt;property id=&quot;20300&quot; value=&quot;Slide 12 - &amp;quot;12.3  Dynamic Memory Allocation&amp;quot;&quot;/&gt;&lt;property id=&quot;20307&quot; value=&quot;330&quot;/&gt;&lt;/object&gt;&lt;object type=&quot;3&quot; unique_id=&quot;77202&quot;&gt;&lt;property id=&quot;20148&quot; value=&quot;5&quot;/&gt;&lt;property id=&quot;20300&quot; value=&quot;Slide 13 - &amp;quot;12.3  Dynamic Memory Allocation (Cont.)&amp;quot;&quot;/&gt;&lt;property id=&quot;20307&quot; value=&quot;331&quot;/&gt;&lt;/object&gt;&lt;object type=&quot;3&quot; unique_id=&quot;77203&quot;&gt;&lt;property id=&quot;20148&quot; value=&quot;5&quot;/&gt;&lt;property id=&quot;20300&quot; value=&quot;Slide 14 - &amp;quot;12.3  Dynamic Memory Allocation (Cont.)&amp;quot;&quot;/&gt;&lt;property id=&quot;20307&quot; value=&quot;332&quot;/&gt;&lt;/object&gt;&lt;object type=&quot;3&quot; unique_id=&quot;77204&quot;&gt;&lt;property id=&quot;20148&quot; value=&quot;5&quot;/&gt;&lt;property id=&quot;20300&quot; value=&quot;Slide 15 - &amp;quot;12.3  Dynamic Memory Allocation (Cont.)&amp;quot;&quot;/&gt;&lt;property id=&quot;20307&quot; value=&quot;333&quot;/&gt;&lt;/object&gt;&lt;object type=&quot;3&quot; unique_id=&quot;77205&quot;&gt;&lt;property id=&quot;20148&quot; value=&quot;5&quot;/&gt;&lt;property id=&quot;20300&quot; value=&quot;Slide 22 - &amp;quot;12.4  Linked Lists&amp;quot;&quot;/&gt;&lt;property id=&quot;20307&quot; value=&quot;334&quot;/&gt;&lt;/object&gt;&lt;object type=&quot;3&quot; unique_id=&quot;77206&quot;&gt;&lt;property id=&quot;20148&quot; value=&quot;5&quot;/&gt;&lt;property id=&quot;20300&quot; value=&quot;Slide 23 - &amp;quot;12.4  Linked Lists (Cont.)&amp;quot;&quot;/&gt;&lt;property id=&quot;20307&quot; value=&quot;335&quot;/&gt;&lt;/object&gt;&lt;object type=&quot;3&quot; unique_id=&quot;77207&quot;&gt;&lt;property id=&quot;20148&quot; value=&quot;5&quot;/&gt;&lt;property id=&quot;20300&quot; value=&quot;Slide 24 - &amp;quot;12.4  Linked Lists (Cont.)&amp;quot;&quot;/&gt;&lt;property id=&quot;20307&quot; value=&quot;336&quot;/&gt;&lt;/object&gt;&lt;object type=&quot;3&quot; unique_id=&quot;77208&quot;&gt;&lt;property id=&quot;20148&quot; value=&quot;5&quot;/&gt;&lt;property id=&quot;20300&quot; value=&quot;Slide 26 - &amp;quot;12.4  Linked Lists (Cont.)&amp;quot;&quot;/&gt;&lt;property id=&quot;20307&quot; value=&quot;337&quot;/&gt;&lt;/object&gt;&lt;object type=&quot;3&quot; unique_id=&quot;77209&quot;&gt;&lt;property id=&quot;20148&quot; value=&quot;5&quot;/&gt;&lt;property id=&quot;20300&quot; value=&quot;Slide 29 - &amp;quot;12.4  Linked Lists (Cont.)&amp;quot;&quot;/&gt;&lt;property id=&quot;20307&quot; value=&quot;338&quot;/&gt;&lt;/object&gt;&lt;object type=&quot;3&quot; unique_id=&quot;77210&quot;&gt;&lt;property id=&quot;20148&quot; value=&quot;5&quot;/&gt;&lt;property id=&quot;20300&quot; value=&quot;Slide 32 - &amp;quot;12.4  Linked Lists (Cont.)&amp;quot;&quot;/&gt;&lt;property id=&quot;20307&quot; value=&quot;339&quot;/&gt;&lt;/object&gt;&lt;object type=&quot;3&quot; unique_id=&quot;77211&quot;&gt;&lt;property id=&quot;20148&quot; value=&quot;5&quot;/&gt;&lt;property id=&quot;20300&quot; value=&quot;Slide 43 - &amp;quot;12.4  Linked Lists (Cont.)&amp;quot;&quot;/&gt;&lt;property id=&quot;20307&quot; value=&quot;340&quot;/&gt;&lt;/object&gt;&lt;object type=&quot;3&quot; unique_id=&quot;77212&quot;&gt;&lt;property id=&quot;20148&quot; value=&quot;5&quot;/&gt;&lt;property id=&quot;20300&quot; value=&quot;Slide 44 - &amp;quot;12.4  Linked Lists (Cont.)&amp;quot;&quot;/&gt;&lt;property id=&quot;20307&quot; value=&quot;341&quot;/&gt;&lt;/object&gt;&lt;object type=&quot;3&quot; unique_id=&quot;77213&quot;&gt;&lt;property id=&quot;20148&quot; value=&quot;5&quot;/&gt;&lt;property id=&quot;20300&quot; value=&quot;Slide 45 - &amp;quot;12.4  Linked Lists (Cont.)&amp;quot;&quot;/&gt;&lt;property id=&quot;20307&quot; value=&quot;342&quot;/&gt;&lt;/object&gt;&lt;object type=&quot;3&quot; unique_id=&quot;77214&quot;&gt;&lt;property id=&quot;20148&quot; value=&quot;5&quot;/&gt;&lt;property id=&quot;20300&quot; value=&quot;Slide 46 - &amp;quot;12.4  Linked Lists (Cont.)&amp;quot;&quot;/&gt;&lt;property id=&quot;20307&quot; value=&quot;343&quot;/&gt;&lt;/object&gt;&lt;object type=&quot;3&quot; unique_id=&quot;77215&quot;&gt;&lt;property id=&quot;20148&quot; value=&quot;5&quot;/&gt;&lt;property id=&quot;20300&quot; value=&quot;Slide 49 - &amp;quot;12.4  Linked Lists (Cont.)&amp;quot;&quot;/&gt;&lt;property id=&quot;20307&quot; value=&quot;344&quot;/&gt;&lt;/object&gt;&lt;object type=&quot;3&quot; unique_id=&quot;77216&quot;&gt;&lt;property id=&quot;20148&quot; value=&quot;5&quot;/&gt;&lt;property id=&quot;20300&quot; value=&quot;Slide 50 - &amp;quot;12.4.2  Function delete &amp;quot;&quot;/&gt;&lt;property id=&quot;20307&quot; value=&quot;345&quot;/&gt;&lt;/object&gt;&lt;object type=&quot;3&quot; unique_id=&quot;77217&quot;&gt;&lt;property id=&quot;20148&quot; value=&quot;5&quot;/&gt;&lt;property id=&quot;20300&quot; value=&quot;Slide 51 - &amp;quot;12.4.2  Function delete (Cont.)&amp;quot;&quot;/&gt;&lt;property id=&quot;20307&quot; value=&quot;346&quot;/&gt;&lt;/object&gt;&lt;object type=&quot;3&quot; unique_id=&quot;77218&quot;&gt;&lt;property id=&quot;20148&quot; value=&quot;5&quot;/&gt;&lt;property id=&quot;20300&quot; value=&quot;Slide 53 - &amp;quot;12.4.2  Function delete (Cont.)&amp;quot;&quot;/&gt;&lt;property id=&quot;20307&quot; value=&quot;347&quot;/&gt;&lt;/object&gt;&lt;object type=&quot;3&quot; unique_id=&quot;77219&quot;&gt;&lt;property id=&quot;20148&quot; value=&quot;5&quot;/&gt;&lt;property id=&quot;20300&quot; value=&quot;Slide 54 - &amp;quot;12.4.3  Function printList &amp;quot;&quot;/&gt;&lt;property id=&quot;20307&quot; value=&quot;348&quot;/&gt;&lt;/object&gt;&lt;object type=&quot;3&quot; unique_id=&quot;77220&quot;&gt;&lt;property id=&quot;20148&quot; value=&quot;5&quot;/&gt;&lt;property id=&quot;20300&quot; value=&quot;Slide 55 - &amp;quot;12.4  Linked Lists (Cont.)&amp;quot;&quot;/&gt;&lt;property id=&quot;20307&quot; value=&quot;349&quot;/&gt;&lt;/object&gt;&lt;object type=&quot;3&quot; unique_id=&quot;77221&quot;&gt;&lt;property id=&quot;20148&quot; value=&quot;5&quot;/&gt;&lt;property id=&quot;20300&quot; value=&quot;Slide 56 - &amp;quot;12.5  Stacks&amp;quot;&quot;/&gt;&lt;property id=&quot;20307&quot; value=&quot;350&quot;/&gt;&lt;/object&gt;&lt;object type=&quot;3&quot; unique_id=&quot;77222&quot;&gt;&lt;property id=&quot;20148&quot; value=&quot;5&quot;/&gt;&lt;property id=&quot;20300&quot; value=&quot;Slide 57 - &amp;quot;12.5  Stacks (Cont.)&amp;quot;&quot;/&gt;&lt;property id=&quot;20307&quot; value=&quot;351&quot;/&gt;&lt;/object&gt;&lt;object type=&quot;3&quot; unique_id=&quot;77223&quot;&gt;&lt;property id=&quot;20148&quot; value=&quot;5&quot;/&gt;&lt;property id=&quot;20300&quot; value=&quot;Slide 60 - &amp;quot;12.5  Stacks (Cont.)&amp;quot;&quot;/&gt;&lt;property id=&quot;20307&quot; value=&quot;352&quot;/&gt;&lt;/object&gt;&lt;object type=&quot;3&quot; unique_id=&quot;77224&quot;&gt;&lt;property id=&quot;20148&quot; value=&quot;5&quot;/&gt;&lt;property id=&quot;20300&quot; value=&quot;Slide 70 - &amp;quot;12.5.1  Function push &amp;quot;&quot;/&gt;&lt;property id=&quot;20307&quot; value=&quot;353&quot;/&gt;&lt;/object&gt;&lt;object type=&quot;3&quot; unique_id=&quot;77225&quot;&gt;&lt;property id=&quot;20148&quot; value=&quot;5&quot;/&gt;&lt;property id=&quot;20300&quot; value=&quot;Slide 71 - &amp;quot;12.5.1  Function push &amp;quot;&quot;/&gt;&lt;property id=&quot;20307&quot; value=&quot;354&quot;/&gt;&lt;/object&gt;&lt;object type=&quot;3&quot; unique_id=&quot;77226&quot;&gt;&lt;property id=&quot;20148&quot; value=&quot;5&quot;/&gt;&lt;property id=&quot;20300&quot; value=&quot;Slide 73 - &amp;quot;12.5.2  Function pop&amp;quot;&quot;/&gt;&lt;property id=&quot;20307&quot; value=&quot;355&quot;/&gt;&lt;/object&gt;&lt;object type=&quot;3&quot; unique_id=&quot;77227&quot;&gt;&lt;property id=&quot;20148&quot; value=&quot;5&quot;/&gt;&lt;property id=&quot;20300&quot; value=&quot;Slide 74 - &amp;quot;12.5.2  Function pop (Cont.)&amp;quot;&quot;/&gt;&lt;property id=&quot;20307&quot; value=&quot;356&quot;/&gt;&lt;/object&gt;&lt;object type=&quot;3&quot; unique_id=&quot;77228&quot;&gt;&lt;property id=&quot;20148&quot; value=&quot;5&quot;/&gt;&lt;property id=&quot;20300&quot; value=&quot;Slide 76 - &amp;quot;12.5.3  Applications of Stacks &amp;quot;&quot;/&gt;&lt;property id=&quot;20307&quot; value=&quot;357&quot;/&gt;&lt;/object&gt;&lt;object type=&quot;3&quot; unique_id=&quot;77229&quot;&gt;&lt;property id=&quot;20148&quot; value=&quot;5&quot;/&gt;&lt;property id=&quot;20300&quot; value=&quot;Slide 77 - &amp;quot;12.5.3  Applications of Stacks (Cont.)&amp;quot;&quot;/&gt;&lt;property id=&quot;20307&quot; value=&quot;358&quot;/&gt;&lt;/object&gt;&lt;object type=&quot;3&quot; unique_id=&quot;77230&quot;&gt;&lt;property id=&quot;20148&quot; value=&quot;5&quot;/&gt;&lt;property id=&quot;20300&quot; value=&quot;Slide 78 - &amp;quot;12.6  Queues&amp;quot;&quot;/&gt;&lt;property id=&quot;20307&quot; value=&quot;359&quot;/&gt;&lt;/object&gt;&lt;object type=&quot;3&quot; unique_id=&quot;77231&quot;&gt;&lt;property id=&quot;20148&quot; value=&quot;5&quot;/&gt;&lt;property id=&quot;20300&quot; value=&quot;Slide 79 - &amp;quot;12.6  Queues (Cont.)&amp;quot;&quot;/&gt;&lt;property id=&quot;20307&quot; value=&quot;360&quot;/&gt;&lt;/object&gt;&lt;object type=&quot;3&quot; unique_id=&quot;77232&quot;&gt;&lt;property id=&quot;20148&quot; value=&quot;5&quot;/&gt;&lt;property id=&quot;20300&quot; value=&quot;Slide 80 - &amp;quot;12.6  Queues (Cont.)&amp;quot;&quot;/&gt;&lt;property id=&quot;20307&quot; value=&quot;361&quot;/&gt;&lt;/object&gt;&lt;object type=&quot;3&quot; unique_id=&quot;77233&quot;&gt;&lt;property id=&quot;20148&quot; value=&quot;5&quot;/&gt;&lt;property id=&quot;20300&quot; value=&quot;Slide 81 - &amp;quot;12.6  Queues (Cont.)&amp;quot;&quot;/&gt;&lt;property id=&quot;20307&quot; value=&quot;362&quot;/&gt;&lt;/object&gt;&lt;object type=&quot;3&quot; unique_id=&quot;77234&quot;&gt;&lt;property id=&quot;20148&quot; value=&quot;5&quot;/&gt;&lt;property id=&quot;20300&quot; value=&quot;Slide 84 - &amp;quot;12.6  Queues (Cont.)&amp;quot;&quot;/&gt;&lt;property id=&quot;20307&quot; value=&quot;363&quot;/&gt;&lt;/object&gt;&lt;object type=&quot;3&quot; unique_id=&quot;77235&quot;&gt;&lt;property id=&quot;20148&quot; value=&quot;5&quot;/&gt;&lt;property id=&quot;20300&quot; value=&quot;Slide 94 - &amp;quot;12.6.1  Function enqueue &amp;quot;&quot;/&gt;&lt;property id=&quot;20307&quot; value=&quot;364&quot;/&gt;&lt;/object&gt;&lt;object type=&quot;3&quot; unique_id=&quot;77236&quot;&gt;&lt;property id=&quot;20148&quot; value=&quot;5&quot;/&gt;&lt;property id=&quot;20300&quot; value=&quot;Slide 95 - &amp;quot;12.6  Queues (Cont.)&amp;quot;&quot;/&gt;&lt;property id=&quot;20307&quot; value=&quot;365&quot;/&gt;&lt;/object&gt;&lt;object type=&quot;3&quot; unique_id=&quot;77237&quot;&gt;&lt;property id=&quot;20148&quot; value=&quot;5&quot;/&gt;&lt;property id=&quot;20300&quot; value=&quot;Slide 96 - &amp;quot;12.6  Queues (Cont.)&amp;quot;&quot;/&gt;&lt;property id=&quot;20307&quot; value=&quot;366&quot;/&gt;&lt;/object&gt;&lt;object type=&quot;3&quot; unique_id=&quot;77238&quot;&gt;&lt;property id=&quot;20148&quot; value=&quot;5&quot;/&gt;&lt;property id=&quot;20300&quot; value=&quot;Slide 98 - &amp;quot;12.6.2  Function dequeue &amp;quot;&quot;/&gt;&lt;property id=&quot;20307&quot; value=&quot;367&quot;/&gt;&lt;/object&gt;&lt;object type=&quot;3&quot; unique_id=&quot;77239&quot;&gt;&lt;property id=&quot;20148&quot; value=&quot;5&quot;/&gt;&lt;property id=&quot;20300&quot; value=&quot;Slide 99 - &amp;quot;12.6.2  Function dequeue &amp;quot;&quot;/&gt;&lt;property id=&quot;20307&quot; value=&quot;368&quot;/&gt;&lt;/object&gt;&lt;object type=&quot;3&quot; unique_id=&quot;77240&quot;&gt;&lt;property id=&quot;20148&quot; value=&quot;5&quot;/&gt;&lt;property id=&quot;20300&quot; value=&quot;Slide 100 - &amp;quot;12.6  Queues (Cont.)&amp;quot;&quot;/&gt;&lt;property id=&quot;20307&quot; value=&quot;369&quot;/&gt;&lt;/object&gt;&lt;object type=&quot;3&quot; unique_id=&quot;77241&quot;&gt;&lt;property id=&quot;20148&quot; value=&quot;5&quot;/&gt;&lt;property id=&quot;20300&quot; value=&quot;Slide 102 - &amp;quot;12.7  Trees&amp;quot;&quot;/&gt;&lt;property id=&quot;20307&quot; value=&quot;370&quot;/&gt;&lt;/object&gt;&lt;object type=&quot;3&quot; unique_id=&quot;77242&quot;&gt;&lt;property id=&quot;20148&quot; value=&quot;5&quot;/&gt;&lt;property id=&quot;20300&quot; value=&quot;Slide 103 - &amp;quot;12.7  Trees (Cont.)&amp;quot;&quot;/&gt;&lt;property id=&quot;20307&quot; value=&quot;371&quot;/&gt;&lt;/object&gt;&lt;object type=&quot;3&quot; unique_id=&quot;77243&quot;&gt;&lt;property id=&quot;20148&quot; value=&quot;5&quot;/&gt;&lt;property id=&quot;20300&quot; value=&quot;Slide 105 - &amp;quot;12.7  Trees (Cont.)&amp;quot;&quot;/&gt;&lt;property id=&quot;20307&quot; value=&quot;372&quot;/&gt;&lt;/object&gt;&lt;object type=&quot;3&quot; unique_id=&quot;77244&quot;&gt;&lt;property id=&quot;20148&quot; value=&quot;5&quot;/&gt;&lt;property id=&quot;20300&quot; value=&quot;Slide 108 - &amp;quot;12.7  Trees (Cont.)&amp;quot;&quot;/&gt;&lt;property id=&quot;20307&quot; value=&quot;373&quot;/&gt;&lt;/object&gt;&lt;object type=&quot;3&quot; unique_id=&quot;77245&quot;&gt;&lt;property id=&quot;20148&quot; value=&quot;5&quot;/&gt;&lt;property id=&quot;20300&quot; value=&quot;Slide 116 - &amp;quot;12.7.1  Function insertNode&amp;quot;&quot;/&gt;&lt;property id=&quot;20307&quot; value=&quot;374&quot;/&gt;&lt;/object&gt;&lt;object type=&quot;3&quot; unique_id=&quot;77246&quot;&gt;&lt;property id=&quot;20148&quot; value=&quot;5&quot;/&gt;&lt;property id=&quot;20300&quot; value=&quot;Slide 117 - &amp;quot;12.7.1  Function insertNode (Cont.)&amp;quot;&quot;/&gt;&lt;property id=&quot;20307&quot; value=&quot;375&quot;/&gt;&lt;/object&gt;&lt;object type=&quot;3&quot; unique_id=&quot;77247&quot;&gt;&lt;property id=&quot;20148&quot; value=&quot;5&quot;/&gt;&lt;property id=&quot;20300&quot; value=&quot;Slide 118 - &amp;quot;12.7  Trees (Cont.)&amp;quot;&quot;/&gt;&lt;property id=&quot;20307&quot; value=&quot;376&quot;/&gt;&lt;/object&gt;&lt;object type=&quot;3&quot; unique_id=&quot;77248&quot;&gt;&lt;property id=&quot;20148&quot; value=&quot;5&quot;/&gt;&lt;property id=&quot;20300&quot; value=&quot;Slide 119 - &amp;quot;12.7.2  Traversals: Functions inOrder, preOrder and postOrder&amp;quot;&quot;/&gt;&lt;property id=&quot;20307&quot; value=&quot;377&quot;/&gt;&lt;/object&gt;&lt;object type=&quot;3&quot; unique_id=&quot;77249&quot;&gt;&lt;property id=&quot;20148&quot; value=&quot;5&quot;/&gt;&lt;property id=&quot;20300&quot; value=&quot;Slide 120 - &amp;quot;12.7.2  Traversals: Functions inOrder, preOrder and postOrder&amp;quot;&quot;/&gt;&lt;property id=&quot;20307&quot; value=&quot;378&quot;/&gt;&lt;/object&gt;&lt;object type=&quot;3&quot; unique_id=&quot;77250&quot;&gt;&lt;property id=&quot;20148&quot; value=&quot;5&quot;/&gt;&lt;property id=&quot;20300&quot; value=&quot;Slide 121 - &amp;quot;12.7.2  Traversals: Functions inOrder, preOrder and postOrder&amp;quot;&quot;/&gt;&lt;property id=&quot;20307&quot; value=&quot;379&quot;/&gt;&lt;/object&gt;&lt;object type=&quot;3&quot; unique_id=&quot;77251&quot;&gt;&lt;property id=&quot;20148&quot; value=&quot;5&quot;/&gt;&lt;property id=&quot;20300&quot; value=&quot;Slide 122 - &amp;quot;12.7.2  Traversals: Functions inOrder, preOrder and postOrder&amp;quot;&quot;/&gt;&lt;property id=&quot;20307&quot; value=&quot;380&quot;/&gt;&lt;/object&gt;&lt;object type=&quot;3&quot; unique_id=&quot;77252&quot;&gt;&lt;property id=&quot;20148&quot; value=&quot;5&quot;/&gt;&lt;property id=&quot;20300&quot; value=&quot;Slide 123 - &amp;quot;12.7.3  Duplicate Elimination&amp;quot;&quot;/&gt;&lt;property id=&quot;20307&quot; value=&quot;381&quot;/&gt;&lt;/object&gt;&lt;object type=&quot;3&quot; unique_id=&quot;77253&quot;&gt;&lt;property id=&quot;20148&quot; value=&quot;5&quot;/&gt;&lt;property id=&quot;20300&quot; value=&quot;Slide 124 - &amp;quot;12.7.4  Binary Tree Search&amp;quot;&quot;/&gt;&lt;property id=&quot;20307&quot; value=&quot;382&quot;/&gt;&lt;/object&gt;&lt;object type=&quot;3&quot; unique_id=&quot;77254&quot;&gt;&lt;property id=&quot;20148&quot; value=&quot;5&quot;/&gt;&lt;property id=&quot;20300&quot; value=&quot;Slide 125 - &amp;quot;12.7.5  Other Binary Tree Operations&amp;quot;&quot;/&gt;&lt;property id=&quot;20307&quot; value=&quot;383&quot;/&gt;&lt;/object&gt;&lt;object type=&quot;3&quot; unique_id=&quot;77255&quot;&gt;&lt;property id=&quot;20148&quot; value=&quot;5&quot;/&gt;&lt;property id=&quot;20300&quot; value=&quot;Slide 126 - &amp;quot;12.8  Secure C Programming&amp;quot;&quot;/&gt;&lt;property id=&quot;20307&quot; value=&quot;384&quot;/&gt;&lt;/object&gt;&lt;object type=&quot;3&quot; unique_id=&quot;77256&quot;&gt;&lt;property id=&quot;20148&quot; value=&quot;5&quot;/&gt;&lt;property id=&quot;20300&quot; value=&quot;Slide 127 - &amp;quot;12.8  Secure C Programming (Cont.)&amp;quot;&quot;/&gt;&lt;property id=&quot;20307&quot; value=&quot;385&quot;/&gt;&lt;/object&gt;&lt;object type=&quot;3&quot; unique_id=&quot;77257&quot;&gt;&lt;property id=&quot;20148&quot; value=&quot;5&quot;/&gt;&lt;property id=&quot;20300&quot; value=&quot;Slide 128 - &amp;quot;12.8  Secure C Programming (Cont.)&amp;quot;&quot;/&gt;&lt;property id=&quot;20307&quot; value=&quot;386&quot;/&gt;&lt;/object&gt;&lt;object type=&quot;3&quot; unique_id=&quot;77258&quot;&gt;&lt;property id=&quot;20148&quot; value=&quot;5&quot;/&gt;&lt;property id=&quot;20300&quot; value=&quot;Slide 129 - &amp;quot;12.8  Secure C Programming (Cont.)&amp;quot;&quot;/&gt;&lt;property id=&quot;20307&quot; value=&quot;387&quot;/&gt;&lt;/object&gt;&lt;object type=&quot;3&quot; unique_id=&quot;77259&quot;&gt;&lt;property id=&quot;20148&quot; value=&quot;5&quot;/&gt;&lt;property id=&quot;20300&quot; value=&quot;Slide 130 - &amp;quot;12.8  Secure C Programming (Cont.)&amp;quot;&quot;/&gt;&lt;property id=&quot;20307&quot; value=&quot;388&quot;/&gt;&lt;/object&gt;&lt;/object&gt;&lt;object type=&quot;8&quot; unique_id=&quot;13896&quot;&gt;&lt;/object&gt;&lt;/object&gt;&lt;/database&gt;"/>
  <p:tag name="SECTOMILLISECCONVERTED" val="1"/>
</p:tagLst>
</file>

<file path=ppt/theme/theme1.xml><?xml version="1.0" encoding="utf-8"?>
<a:theme xmlns:a="http://schemas.openxmlformats.org/drawingml/2006/main" name="chtp8_07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Edge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dge">
      <a:majorFont>
        <a:latin typeface="Garamond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C0C0C0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C0C0C0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lnDef>
  </a:objectDefaults>
  <a:extraClrSchemeLst>
    <a:extraClrScheme>
      <a:clrScheme name="Edge 1">
        <a:dk1>
          <a:srgbClr val="333333"/>
        </a:dk1>
        <a:lt1>
          <a:srgbClr val="FFFFFF"/>
        </a:lt1>
        <a:dk2>
          <a:srgbClr val="820000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C1AAAA"/>
        </a:accent3>
        <a:accent4>
          <a:srgbClr val="DADADA"/>
        </a:accent4>
        <a:accent5>
          <a:srgbClr val="FFCAAA"/>
        </a:accent5>
        <a:accent6>
          <a:srgbClr val="B92D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2">
        <a:dk1>
          <a:srgbClr val="333333"/>
        </a:dk1>
        <a:lt1>
          <a:srgbClr val="CCCCFF"/>
        </a:lt1>
        <a:dk2>
          <a:srgbClr val="0B0506"/>
        </a:dk2>
        <a:lt2>
          <a:srgbClr val="FFFFFF"/>
        </a:lt2>
        <a:accent1>
          <a:srgbClr val="3366CC"/>
        </a:accent1>
        <a:accent2>
          <a:srgbClr val="3333CC"/>
        </a:accent2>
        <a:accent3>
          <a:srgbClr val="AAAAAA"/>
        </a:accent3>
        <a:accent4>
          <a:srgbClr val="AEAEDA"/>
        </a:accent4>
        <a:accent5>
          <a:srgbClr val="ADB8E2"/>
        </a:accent5>
        <a:accent6>
          <a:srgbClr val="2D2DB9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3">
        <a:dk1>
          <a:srgbClr val="333333"/>
        </a:dk1>
        <a:lt1>
          <a:srgbClr val="FFFFFF"/>
        </a:lt1>
        <a:dk2>
          <a:srgbClr val="221013"/>
        </a:dk2>
        <a:lt2>
          <a:srgbClr val="FFFFFF"/>
        </a:lt2>
        <a:accent1>
          <a:srgbClr val="CC3300"/>
        </a:accent1>
        <a:accent2>
          <a:srgbClr val="CC9900"/>
        </a:accent2>
        <a:accent3>
          <a:srgbClr val="ABAAAA"/>
        </a:accent3>
        <a:accent4>
          <a:srgbClr val="DADADA"/>
        </a:accent4>
        <a:accent5>
          <a:srgbClr val="E2ADAA"/>
        </a:accent5>
        <a:accent6>
          <a:srgbClr val="B98A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4">
        <a:dk1>
          <a:srgbClr val="11054B"/>
        </a:dk1>
        <a:lt1>
          <a:srgbClr val="FFFFFF"/>
        </a:lt1>
        <a:dk2>
          <a:srgbClr val="0000CC"/>
        </a:dk2>
        <a:lt2>
          <a:srgbClr val="FFFFFF"/>
        </a:lt2>
        <a:accent1>
          <a:srgbClr val="FF6600"/>
        </a:accent1>
        <a:accent2>
          <a:srgbClr val="FF3300"/>
        </a:accent2>
        <a:accent3>
          <a:srgbClr val="AAAAE2"/>
        </a:accent3>
        <a:accent4>
          <a:srgbClr val="DADADA"/>
        </a:accent4>
        <a:accent5>
          <a:srgbClr val="FFB8AA"/>
        </a:accent5>
        <a:accent6>
          <a:srgbClr val="E72D00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5">
        <a:dk1>
          <a:srgbClr val="9B8D65"/>
        </a:dk1>
        <a:lt1>
          <a:srgbClr val="F8F8F8"/>
        </a:lt1>
        <a:dk2>
          <a:srgbClr val="002600"/>
        </a:dk2>
        <a:lt2>
          <a:srgbClr val="FAFACC"/>
        </a:lt2>
        <a:accent1>
          <a:srgbClr val="CC9933"/>
        </a:accent1>
        <a:accent2>
          <a:srgbClr val="8F9967"/>
        </a:accent2>
        <a:accent3>
          <a:srgbClr val="AAACAA"/>
        </a:accent3>
        <a:accent4>
          <a:srgbClr val="D4D4D4"/>
        </a:accent4>
        <a:accent5>
          <a:srgbClr val="E2CAAD"/>
        </a:accent5>
        <a:accent6>
          <a:srgbClr val="818A5D"/>
        </a:accent6>
        <a:hlink>
          <a:srgbClr val="336600"/>
        </a:hlink>
        <a:folHlink>
          <a:srgbClr val="808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6">
        <a:dk1>
          <a:srgbClr val="333333"/>
        </a:dk1>
        <a:lt1>
          <a:srgbClr val="FFFFFF"/>
        </a:lt1>
        <a:dk2>
          <a:srgbClr val="006699"/>
        </a:dk2>
        <a:lt2>
          <a:srgbClr val="FFFFFF"/>
        </a:lt2>
        <a:accent1>
          <a:srgbClr val="CC9900"/>
        </a:accent1>
        <a:accent2>
          <a:srgbClr val="FF9900"/>
        </a:accent2>
        <a:accent3>
          <a:srgbClr val="AAB8CA"/>
        </a:accent3>
        <a:accent4>
          <a:srgbClr val="DADADA"/>
        </a:accent4>
        <a:accent5>
          <a:srgbClr val="E2CAAA"/>
        </a:accent5>
        <a:accent6>
          <a:srgbClr val="E78A00"/>
        </a:accent6>
        <a:hlink>
          <a:srgbClr val="FFCC00"/>
        </a:hlink>
        <a:folHlink>
          <a:srgbClr val="706F3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7">
        <a:dk1>
          <a:srgbClr val="000000"/>
        </a:dk1>
        <a:lt1>
          <a:srgbClr val="FFFFFF"/>
        </a:lt1>
        <a:dk2>
          <a:srgbClr val="006633"/>
        </a:dk2>
        <a:lt2>
          <a:srgbClr val="5F5F5F"/>
        </a:lt2>
        <a:accent1>
          <a:srgbClr val="CC9900"/>
        </a:accent1>
        <a:accent2>
          <a:srgbClr val="3B812F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35742A"/>
        </a:accent6>
        <a:hlink>
          <a:srgbClr val="996600"/>
        </a:hlink>
        <a:folHlink>
          <a:srgbClr val="AFBF3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8">
        <a:dk1>
          <a:srgbClr val="000000"/>
        </a:dk1>
        <a:lt1>
          <a:srgbClr val="FFFFFF"/>
        </a:lt1>
        <a:dk2>
          <a:srgbClr val="CC0000"/>
        </a:dk2>
        <a:lt2>
          <a:srgbClr val="666699"/>
        </a:lt2>
        <a:accent1>
          <a:srgbClr val="808080"/>
        </a:accent1>
        <a:accent2>
          <a:srgbClr val="999933"/>
        </a:accent2>
        <a:accent3>
          <a:srgbClr val="FFFFFF"/>
        </a:accent3>
        <a:accent4>
          <a:srgbClr val="000000"/>
        </a:accent4>
        <a:accent5>
          <a:srgbClr val="C0C0C0"/>
        </a:accent5>
        <a:accent6>
          <a:srgbClr val="8A8A2D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9">
        <a:dk1>
          <a:srgbClr val="000000"/>
        </a:dk1>
        <a:lt1>
          <a:srgbClr val="FFFFFF"/>
        </a:lt1>
        <a:dk2>
          <a:srgbClr val="003399"/>
        </a:dk2>
        <a:lt2>
          <a:srgbClr val="666699"/>
        </a:lt2>
        <a:accent1>
          <a:srgbClr val="009999"/>
        </a:accent1>
        <a:accent2>
          <a:srgbClr val="4C6D4E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446246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chtp8_15</Template>
  <TotalTime>6708</TotalTime>
  <Words>1709</Words>
  <Application>Microsoft Office PowerPoint</Application>
  <PresentationFormat>Widescreen</PresentationFormat>
  <Paragraphs>334</Paragraphs>
  <Slides>66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66</vt:i4>
      </vt:variant>
    </vt:vector>
  </HeadingPairs>
  <TitlesOfParts>
    <vt:vector size="78" baseType="lpstr">
      <vt:lpstr>Arial</vt:lpstr>
      <vt:lpstr>Calibri</vt:lpstr>
      <vt:lpstr>Cambria</vt:lpstr>
      <vt:lpstr>Consolas</vt:lpstr>
      <vt:lpstr>Courier</vt:lpstr>
      <vt:lpstr>Courier New</vt:lpstr>
      <vt:lpstr>Garamond</vt:lpstr>
      <vt:lpstr>Tahoma</vt:lpstr>
      <vt:lpstr>Wingdings</vt:lpstr>
      <vt:lpstr>Wingdings 3</vt:lpstr>
      <vt:lpstr>chtp8_07</vt:lpstr>
      <vt:lpstr>Edge</vt:lpstr>
      <vt:lpstr>CSE1142 – C Data Structures</vt:lpstr>
      <vt:lpstr>PowerPoint Presentation</vt:lpstr>
      <vt:lpstr>12.1  Introduction</vt:lpstr>
      <vt:lpstr>12.2  Self-Referential Structures</vt:lpstr>
      <vt:lpstr>12.2  Self-Referential Structures (Cont.)</vt:lpstr>
      <vt:lpstr>12.2  Self-Referential Structures (Cont.)</vt:lpstr>
      <vt:lpstr>12.3  Dynamic Memory Allocation</vt:lpstr>
      <vt:lpstr>12.3  Dynamic Memory Allocation (Cont.)</vt:lpstr>
      <vt:lpstr>12.3  Dynamic Memory Allocation (Cont.)</vt:lpstr>
      <vt:lpstr>PowerPoint Presentation</vt:lpstr>
      <vt:lpstr>12.4  Linked Lists</vt:lpstr>
      <vt:lpstr>12.4  Linked Lists (Cont.)</vt:lpstr>
      <vt:lpstr>PowerPoint Presentation</vt:lpstr>
      <vt:lpstr>12.4  Linked Lists (Cont.)</vt:lpstr>
      <vt:lpstr>Example</vt:lpstr>
      <vt:lpstr>12.4  Linked Lists (Cont.)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12.4  Linked Lists (Cont.)</vt:lpstr>
      <vt:lpstr>12.4.1  Function insert </vt:lpstr>
      <vt:lpstr>12.4.1  Function insert (Cont.)</vt:lpstr>
      <vt:lpstr>PowerPoint Presentation</vt:lpstr>
      <vt:lpstr>12.4.2  Function delete </vt:lpstr>
      <vt:lpstr>12.4.2  Function delete (cont.) </vt:lpstr>
      <vt:lpstr>PowerPoint Presentation</vt:lpstr>
      <vt:lpstr>12.4.3  Function printList </vt:lpstr>
      <vt:lpstr>12.4  Linked Lists (Cont.)</vt:lpstr>
      <vt:lpstr>12.5  Stacks</vt:lpstr>
      <vt:lpstr>12.5  Stacks (Cont.)</vt:lpstr>
      <vt:lpstr>PowerPoint Presentation</vt:lpstr>
      <vt:lpstr>12.5  Stacks (Cont.)</vt:lpstr>
      <vt:lpstr>12.5  Stacks (Cont.)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12.5.3  Applications of Stacks </vt:lpstr>
      <vt:lpstr>12.6  Queues</vt:lpstr>
      <vt:lpstr>12.6  Queues (Cont.)</vt:lpstr>
      <vt:lpstr>12.6  Queues (Cont.)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LinkedLists-Queues-Stacks</dc:title>
  <dc:creator/>
  <cp:lastModifiedBy/>
  <cp:revision>51</cp:revision>
  <dcterms:created xsi:type="dcterms:W3CDTF">2015-04-27T19:07:59Z</dcterms:created>
  <dcterms:modified xsi:type="dcterms:W3CDTF">2020-05-20T08:08:03Z</dcterms:modified>
  <dc:description/>
</cp:coreProperties>
</file>