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3" r:id="rId2"/>
  </p:sldMasterIdLst>
  <p:notesMasterIdLst>
    <p:notesMasterId r:id="rId36"/>
  </p:notesMasterIdLst>
  <p:sldIdLst>
    <p:sldId id="469" r:id="rId3"/>
    <p:sldId id="259" r:id="rId4"/>
    <p:sldId id="442" r:id="rId5"/>
    <p:sldId id="472" r:id="rId6"/>
    <p:sldId id="470" r:id="rId7"/>
    <p:sldId id="443" r:id="rId8"/>
    <p:sldId id="444" r:id="rId9"/>
    <p:sldId id="473" r:id="rId10"/>
    <p:sldId id="474" r:id="rId11"/>
    <p:sldId id="475" r:id="rId12"/>
    <p:sldId id="476" r:id="rId13"/>
    <p:sldId id="445" r:id="rId14"/>
    <p:sldId id="446" r:id="rId15"/>
    <p:sldId id="447" r:id="rId16"/>
    <p:sldId id="448" r:id="rId17"/>
    <p:sldId id="449" r:id="rId18"/>
    <p:sldId id="450" r:id="rId19"/>
    <p:sldId id="451" r:id="rId20"/>
    <p:sldId id="471" r:id="rId21"/>
    <p:sldId id="477" r:id="rId22"/>
    <p:sldId id="488" r:id="rId23"/>
    <p:sldId id="478" r:id="rId24"/>
    <p:sldId id="479" r:id="rId25"/>
    <p:sldId id="480" r:id="rId26"/>
    <p:sldId id="481" r:id="rId27"/>
    <p:sldId id="482" r:id="rId28"/>
    <p:sldId id="483" r:id="rId29"/>
    <p:sldId id="484" r:id="rId30"/>
    <p:sldId id="485" r:id="rId31"/>
    <p:sldId id="487" r:id="rId32"/>
    <p:sldId id="486" r:id="rId33"/>
    <p:sldId id="455" r:id="rId34"/>
    <p:sldId id="452" r:id="rId3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6" y="17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9734-E1CD-4676-B8FD-3B2AE55D501F}" type="datetimeFigureOut">
              <a:rPr lang="tr-TR" smtClean="0"/>
              <a:t>10.05.2020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542E2-2FA1-41E6-8954-17D2C75BA1F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542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run</a:t>
            </a:r>
            <a:r>
              <a:rPr lang="tr-TR" dirty="0" smtClean="0"/>
              <a:t> </a:t>
            </a:r>
            <a:r>
              <a:rPr lang="tr-TR" dirty="0" smtClean="0"/>
              <a:t>C42_05_printCharacters.c.</a:t>
            </a:r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8734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run</a:t>
            </a:r>
            <a:r>
              <a:rPr lang="tr-TR" dirty="0" smtClean="0"/>
              <a:t> </a:t>
            </a:r>
            <a:r>
              <a:rPr lang="tr-TR" dirty="0" smtClean="0"/>
              <a:t>C42_10_toupper.c.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7881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run</a:t>
            </a:r>
            <a:r>
              <a:rPr lang="tr-TR" dirty="0" smtClean="0"/>
              <a:t> C42_15_strlen.c.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2447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baseline="0" dirty="0" smtClean="0"/>
              <a:t> </a:t>
            </a:r>
            <a:r>
              <a:rPr lang="tr-TR" baseline="0" dirty="0" err="1" smtClean="0"/>
              <a:t>and</a:t>
            </a:r>
            <a:r>
              <a:rPr lang="tr-TR" baseline="0" dirty="0" smtClean="0"/>
              <a:t> </a:t>
            </a:r>
            <a:r>
              <a:rPr lang="tr-TR" baseline="0" dirty="0" err="1" smtClean="0"/>
              <a:t>r</a:t>
            </a:r>
            <a:r>
              <a:rPr lang="tr-TR" dirty="0" err="1" smtClean="0"/>
              <a:t>un</a:t>
            </a:r>
            <a:r>
              <a:rPr lang="tr-TR" dirty="0" smtClean="0"/>
              <a:t> </a:t>
            </a:r>
            <a:r>
              <a:rPr lang="tr-TR" dirty="0" smtClean="0"/>
              <a:t>C42_20_strcpy.c.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5544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Run </a:t>
            </a:r>
            <a:r>
              <a:rPr lang="tr-TR" dirty="0" smtClean="0"/>
              <a:t>C42_22_strcpy2.c,</a:t>
            </a:r>
            <a:r>
              <a:rPr lang="tr-TR" baseline="0" dirty="0" smtClean="0"/>
              <a:t> </a:t>
            </a:r>
            <a:r>
              <a:rPr lang="tr-TR" baseline="0" dirty="0" err="1" smtClean="0"/>
              <a:t>if</a:t>
            </a:r>
            <a:r>
              <a:rPr lang="tr-TR" baseline="0" dirty="0" smtClean="0"/>
              <a:t> </a:t>
            </a:r>
            <a:r>
              <a:rPr lang="tr-TR" baseline="0" dirty="0" err="1" smtClean="0"/>
              <a:t>required</a:t>
            </a:r>
            <a:r>
              <a:rPr lang="tr-TR" baseline="0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4042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baseline="0" dirty="0" smtClean="0"/>
              <a:t> </a:t>
            </a:r>
            <a:r>
              <a:rPr lang="tr-TR" baseline="0" dirty="0" err="1" smtClean="0"/>
              <a:t>and</a:t>
            </a:r>
            <a:r>
              <a:rPr lang="tr-TR" baseline="0" dirty="0" smtClean="0"/>
              <a:t> </a:t>
            </a:r>
            <a:r>
              <a:rPr lang="tr-TR" baseline="0" dirty="0" err="1" smtClean="0"/>
              <a:t>r</a:t>
            </a:r>
            <a:r>
              <a:rPr lang="tr-TR" dirty="0" err="1" smtClean="0"/>
              <a:t>un</a:t>
            </a:r>
            <a:r>
              <a:rPr lang="tr-TR" dirty="0" smtClean="0"/>
              <a:t> </a:t>
            </a:r>
            <a:r>
              <a:rPr lang="tr-TR" dirty="0" smtClean="0"/>
              <a:t>C42_25_strcat.c.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0051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baseline="0" dirty="0" smtClean="0"/>
              <a:t> </a:t>
            </a:r>
            <a:r>
              <a:rPr lang="tr-TR" baseline="0" dirty="0" err="1" smtClean="0"/>
              <a:t>and</a:t>
            </a:r>
            <a:r>
              <a:rPr lang="tr-TR" baseline="0" dirty="0" smtClean="0"/>
              <a:t> </a:t>
            </a:r>
            <a:r>
              <a:rPr lang="tr-TR" baseline="0" dirty="0" err="1" smtClean="0"/>
              <a:t>r</a:t>
            </a:r>
            <a:r>
              <a:rPr lang="tr-TR" dirty="0" err="1" smtClean="0"/>
              <a:t>un</a:t>
            </a:r>
            <a:r>
              <a:rPr lang="tr-TR" dirty="0" smtClean="0"/>
              <a:t> </a:t>
            </a:r>
            <a:r>
              <a:rPr lang="tr-TR" dirty="0" smtClean="0"/>
              <a:t>C42_30_strcmp.c.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9456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Run </a:t>
            </a:r>
            <a:r>
              <a:rPr lang="tr-TR" dirty="0" smtClean="0"/>
              <a:t>C42_35_strtod.c, </a:t>
            </a:r>
            <a:r>
              <a:rPr lang="tr-TR" dirty="0" err="1" smtClean="0"/>
              <a:t>if</a:t>
            </a:r>
            <a:r>
              <a:rPr lang="tr-TR" dirty="0" smtClean="0"/>
              <a:t> </a:t>
            </a:r>
            <a:r>
              <a:rPr lang="tr-TR" dirty="0" err="1" smtClean="0"/>
              <a:t>required</a:t>
            </a:r>
            <a:r>
              <a:rPr lang="tr-TR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3229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6243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baseline="0" dirty="0" smtClean="0"/>
              <a:t> </a:t>
            </a:r>
            <a:r>
              <a:rPr lang="tr-TR" baseline="0" dirty="0" err="1" smtClean="0"/>
              <a:t>and</a:t>
            </a:r>
            <a:r>
              <a:rPr lang="tr-TR" baseline="0" dirty="0" smtClean="0"/>
              <a:t> </a:t>
            </a:r>
            <a:r>
              <a:rPr lang="tr-TR" baseline="0" dirty="0" err="1" smtClean="0"/>
              <a:t>r</a:t>
            </a:r>
            <a:r>
              <a:rPr lang="tr-TR" dirty="0" err="1" smtClean="0"/>
              <a:t>un</a:t>
            </a:r>
            <a:r>
              <a:rPr lang="tr-TR" dirty="0" smtClean="0"/>
              <a:t> </a:t>
            </a:r>
            <a:r>
              <a:rPr lang="tr-TR" dirty="0" smtClean="0"/>
              <a:t>C42_40_reverse.c.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6181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Run </a:t>
            </a:r>
            <a:r>
              <a:rPr lang="tr-TR" dirty="0" smtClean="0"/>
              <a:t>C42_45_sprintf.c, </a:t>
            </a:r>
            <a:r>
              <a:rPr lang="tr-TR" dirty="0" err="1" smtClean="0"/>
              <a:t>if</a:t>
            </a:r>
            <a:r>
              <a:rPr lang="tr-TR" dirty="0" smtClean="0"/>
              <a:t> </a:t>
            </a:r>
            <a:r>
              <a:rPr lang="tr-TR" dirty="0" err="1" smtClean="0"/>
              <a:t>required</a:t>
            </a:r>
            <a:r>
              <a:rPr lang="tr-TR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31277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Run </a:t>
            </a:r>
            <a:r>
              <a:rPr lang="en-US" dirty="0" smtClean="0"/>
              <a:t>C42_50_strtok</a:t>
            </a:r>
            <a:r>
              <a:rPr lang="tr-TR" dirty="0" smtClean="0"/>
              <a:t>.c, </a:t>
            </a:r>
            <a:r>
              <a:rPr lang="tr-TR" dirty="0" err="1" smtClean="0"/>
              <a:t>if</a:t>
            </a:r>
            <a:r>
              <a:rPr lang="tr-TR" dirty="0" smtClean="0"/>
              <a:t> </a:t>
            </a:r>
            <a:r>
              <a:rPr lang="tr-TR" dirty="0" err="1" smtClean="0"/>
              <a:t>required</a:t>
            </a:r>
            <a:r>
              <a:rPr lang="tr-TR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52367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</a:t>
            </a:r>
            <a:r>
              <a:rPr lang="tr-TR" dirty="0" err="1" smtClean="0"/>
              <a:t>Explain</a:t>
            </a:r>
            <a:r>
              <a:rPr lang="tr-TR" baseline="0" dirty="0" smtClean="0"/>
              <a:t> </a:t>
            </a:r>
            <a:r>
              <a:rPr lang="tr-TR" baseline="0" dirty="0" err="1" smtClean="0"/>
              <a:t>and</a:t>
            </a:r>
            <a:r>
              <a:rPr lang="tr-TR" baseline="0" dirty="0" smtClean="0"/>
              <a:t> </a:t>
            </a:r>
            <a:r>
              <a:rPr lang="tr-TR" baseline="0" dirty="0" err="1" smtClean="0"/>
              <a:t>r</a:t>
            </a:r>
            <a:r>
              <a:rPr lang="tr-TR" dirty="0" err="1" smtClean="0"/>
              <a:t>un</a:t>
            </a:r>
            <a:r>
              <a:rPr lang="tr-TR" dirty="0" smtClean="0"/>
              <a:t> </a:t>
            </a:r>
            <a:r>
              <a:rPr lang="tr-TR" dirty="0" smtClean="0"/>
              <a:t>C42_55_palindrome.c.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8232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- Run </a:t>
            </a:r>
            <a:r>
              <a:rPr lang="tr-TR" dirty="0" smtClean="0"/>
              <a:t>C42_60_RLE.c</a:t>
            </a:r>
            <a:r>
              <a:rPr lang="tr-TR" dirty="0" smtClean="0"/>
              <a:t>.</a:t>
            </a:r>
          </a:p>
          <a:p>
            <a:r>
              <a:rPr lang="tr-TR" dirty="0" smtClean="0"/>
              <a:t>- Do not </a:t>
            </a:r>
            <a:r>
              <a:rPr lang="tr-TR" dirty="0" err="1" smtClean="0"/>
              <a:t>explain</a:t>
            </a:r>
            <a:r>
              <a:rPr lang="tr-TR" baseline="0" dirty="0" smtClean="0"/>
              <a:t> </a:t>
            </a:r>
            <a:r>
              <a:rPr lang="tr-TR" baseline="0" dirty="0" err="1" smtClean="0"/>
              <a:t>the</a:t>
            </a:r>
            <a:r>
              <a:rPr lang="tr-TR" baseline="0" dirty="0" smtClean="0"/>
              <a:t> program since it </a:t>
            </a:r>
            <a:r>
              <a:rPr lang="tr-TR" baseline="0" dirty="0" err="1" smtClean="0"/>
              <a:t>will</a:t>
            </a:r>
            <a:r>
              <a:rPr lang="tr-TR" baseline="0" dirty="0" smtClean="0"/>
              <a:t> be </a:t>
            </a:r>
            <a:r>
              <a:rPr lang="tr-TR" baseline="0" dirty="0" err="1" smtClean="0"/>
              <a:t>coded</a:t>
            </a:r>
            <a:r>
              <a:rPr lang="tr-TR" baseline="0" dirty="0" smtClean="0"/>
              <a:t> in </a:t>
            </a:r>
            <a:r>
              <a:rPr lang="tr-TR" baseline="0" dirty="0" err="1" smtClean="0"/>
              <a:t>lab</a:t>
            </a:r>
            <a:r>
              <a:rPr lang="tr-TR" baseline="0" dirty="0" smtClean="0"/>
              <a:t> </a:t>
            </a:r>
            <a:r>
              <a:rPr lang="tr-TR" baseline="0" dirty="0" err="1" smtClean="0"/>
              <a:t>sessions</a:t>
            </a:r>
            <a:r>
              <a:rPr lang="tr-TR" baseline="0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542E2-2FA1-41E6-8954-17D2C75BA1F4}" type="slidenum">
              <a:rPr lang="tr-TR" smtClean="0"/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82545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11/17/2017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410344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9556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267263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79162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103351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699241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049582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121397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415403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076540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172963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810476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123950"/>
            <a:ext cx="10972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609600" y="337185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115824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105664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10464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5" charset="0"/>
                <a:ea typeface="Arial" pitchFamily="-105" charset="0"/>
                <a:cs typeface="Arial" pitchFamily="-105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11/17/2017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BCB3A3A-8FF8-40B3-8514-E2CB2218B302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87421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614603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6733746-84DC-41D8-823C-0E541251900B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81205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DA7D8B2-168E-4395-8C8D-DE154A1BF93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5137433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1357CC-1F0C-4656-B2F4-067F4C5F951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6683445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7548CD-748C-4DE8-BC15-41D2810282C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275360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20CB8E-6506-4AEB-8989-7BD4DC848E44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9381227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D9E3D-D4A4-4134-848E-E66AC38438F3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49340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CE93521-0F42-40DB-9C31-44BF57F5918F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4324892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D848FD-2F18-4378-B684-9572F1D7FD98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687160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15400" y="1524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2E09492-B7AB-44C4-9096-FF9706AE7089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5183378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304800" y="1371600"/>
            <a:ext cx="56388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46800" y="1371600"/>
            <a:ext cx="5638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F79FCD-EF8B-4A5A-BBA5-6A74B63CC055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5718170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103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/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1148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898526"/>
            <a:ext cx="114808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36051" y="631825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42FCE0-6E1C-4037-BC8A-FCBCB380F03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030" name="Line 1032"/>
          <p:cNvSpPr>
            <a:spLocks noChangeShapeType="1"/>
          </p:cNvSpPr>
          <p:nvPr/>
        </p:nvSpPr>
        <p:spPr bwMode="auto">
          <a:xfrm>
            <a:off x="304800" y="6481763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31" name="Line 1033"/>
          <p:cNvSpPr>
            <a:spLocks noChangeShapeType="1"/>
          </p:cNvSpPr>
          <p:nvPr userDrawn="1"/>
        </p:nvSpPr>
        <p:spPr bwMode="auto">
          <a:xfrm>
            <a:off x="304800" y="898525"/>
            <a:ext cx="11480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tr-T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55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/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5" charset="-128"/>
          <a:cs typeface="ＭＳ Ｐゴシック" pitchFamily="-10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9248024-E6CB-4E73-B1B0-AD74B0775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CSE1142 – Characters and </a:t>
            </a:r>
            <a:r>
              <a:rPr lang="en-US" altLang="tr-TR" dirty="0">
                <a:ea typeface="ＭＳ Ｐゴシック" panose="020B0600070205080204" pitchFamily="34" charset="-128"/>
              </a:rPr>
              <a:t>Strings in </a:t>
            </a:r>
            <a:r>
              <a:rPr lang="en-US" dirty="0"/>
              <a:t>C</a:t>
            </a:r>
          </a:p>
        </p:txBody>
      </p:sp>
      <p:sp>
        <p:nvSpPr>
          <p:cNvPr id="5" name="Subtitle 4"/>
          <p:cNvSpPr>
            <a:spLocks noGrp="1"/>
          </p:cNvSpPr>
          <p:nvPr/>
        </p:nvSpPr>
        <p:spPr bwMode="auto">
          <a:xfrm>
            <a:off x="863600" y="5358764"/>
            <a:ext cx="10464800" cy="106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None/>
              <a:defRPr sz="2400">
                <a:solidFill>
                  <a:schemeClr val="tx1"/>
                </a:solidFill>
                <a:latin typeface="+mn-lt"/>
                <a:ea typeface="ＭＳ Ｐゴシック" pitchFamily="-105" charset="-128"/>
                <a:cs typeface="ＭＳ Ｐゴシック" pitchFamily="-105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5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tr-TR" sz="2000" dirty="0" err="1"/>
              <a:t>Adapted</a:t>
            </a:r>
            <a:r>
              <a:rPr lang="tr-TR" sz="2000" dirty="0"/>
              <a:t> </a:t>
            </a:r>
            <a:r>
              <a:rPr lang="tr-TR" sz="2000" dirty="0" err="1"/>
              <a:t>from</a:t>
            </a:r>
            <a:r>
              <a:rPr lang="tr-TR" sz="2000" dirty="0"/>
              <a:t> </a:t>
            </a:r>
            <a:r>
              <a:rPr lang="tr-TR" sz="2000" dirty="0" smtClean="0"/>
              <a:t>Dr. Sanem </a:t>
            </a:r>
            <a:r>
              <a:rPr lang="tr-TR" sz="2000" dirty="0"/>
              <a:t>Arslan </a:t>
            </a:r>
            <a:r>
              <a:rPr lang="tr-TR" sz="2000" dirty="0" smtClean="0"/>
              <a:t>Yılmaz.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tr-TR" sz="2000" dirty="0" err="1" smtClean="0"/>
              <a:t>Some</a:t>
            </a:r>
            <a:r>
              <a:rPr lang="tr-TR" sz="2000" dirty="0" smtClean="0"/>
              <a:t> </a:t>
            </a:r>
            <a:r>
              <a:rPr lang="tr-TR" sz="2000" dirty="0"/>
              <a:t>of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slides</a:t>
            </a:r>
            <a:r>
              <a:rPr lang="tr-TR" sz="2000" dirty="0"/>
              <a:t> </a:t>
            </a:r>
            <a:r>
              <a:rPr lang="tr-TR" sz="2000" dirty="0" err="1"/>
              <a:t>are</a:t>
            </a:r>
            <a:r>
              <a:rPr lang="tr-TR" sz="2000" dirty="0"/>
              <a:t> </a:t>
            </a:r>
            <a:r>
              <a:rPr lang="tr-TR" sz="2000" dirty="0" err="1"/>
              <a:t>from</a:t>
            </a:r>
            <a:r>
              <a:rPr lang="tr-TR" sz="2000" dirty="0" smtClean="0"/>
              <a:t>: CMPE150 </a:t>
            </a:r>
            <a:r>
              <a:rPr lang="tr-TR" sz="2000" dirty="0"/>
              <a:t>– Boğaziçi </a:t>
            </a:r>
            <a:r>
              <a:rPr lang="tr-TR" sz="2000" dirty="0" err="1" smtClean="0"/>
              <a:t>University</a:t>
            </a:r>
            <a:r>
              <a:rPr lang="tr-TR" sz="2000" dirty="0" smtClean="0"/>
              <a:t>, </a:t>
            </a:r>
            <a:r>
              <a:rPr lang="tr-TR" sz="2000" dirty="0" err="1" smtClean="0"/>
              <a:t>Deitel</a:t>
            </a:r>
            <a:r>
              <a:rPr lang="tr-TR" sz="2000" dirty="0" smtClean="0"/>
              <a:t> </a:t>
            </a:r>
            <a:r>
              <a:rPr lang="tr-TR" sz="2000" dirty="0"/>
              <a:t>&amp; </a:t>
            </a:r>
            <a:r>
              <a:rPr lang="tr-TR" sz="2000" dirty="0" err="1" smtClean="0"/>
              <a:t>Associates</a:t>
            </a:r>
            <a:r>
              <a:rPr lang="tr-TR" sz="2000" dirty="0" smtClean="0"/>
              <a:t>.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74672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Agenda</a:t>
            </a:r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304800" y="996949"/>
            <a:ext cx="10058400" cy="553448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tr-TR" dirty="0"/>
              <a:t>Characters</a:t>
            </a:r>
          </a:p>
          <a:p>
            <a:pPr>
              <a:lnSpc>
                <a:spcPct val="120000"/>
              </a:lnSpc>
            </a:pPr>
            <a:r>
              <a:rPr lang="tr-TR" altLang="tr-TR" dirty="0" err="1"/>
              <a:t>Strings</a:t>
            </a:r>
            <a:r>
              <a:rPr lang="tr-TR" altLang="tr-TR" dirty="0"/>
              <a:t> </a:t>
            </a:r>
          </a:p>
          <a:p>
            <a:pPr lvl="1">
              <a:lnSpc>
                <a:spcPct val="120000"/>
              </a:lnSpc>
            </a:pPr>
            <a:r>
              <a:rPr lang="tr-TR" altLang="tr-TR" dirty="0"/>
              <a:t>Definitions &amp; Syntax</a:t>
            </a:r>
          </a:p>
          <a:p>
            <a:pPr lvl="1">
              <a:lnSpc>
                <a:spcPct val="120000"/>
              </a:lnSpc>
            </a:pPr>
            <a:r>
              <a:rPr lang="tr-TR" altLang="tr-TR" dirty="0"/>
              <a:t>Initialization</a:t>
            </a:r>
          </a:p>
          <a:p>
            <a:pPr lvl="1">
              <a:lnSpc>
                <a:spcPct val="120000"/>
              </a:lnSpc>
            </a:pPr>
            <a:r>
              <a:rPr lang="tr-TR" altLang="tr-TR" dirty="0"/>
              <a:t>Index and bounds</a:t>
            </a:r>
            <a:endParaRPr lang="tr-TR" altLang="tr-TR" dirty="0">
              <a:ea typeface="ＭＳ Ｐゴシック" panose="020B0600070205080204" pitchFamily="34" charset="-128"/>
            </a:endParaRPr>
          </a:p>
          <a:p>
            <a:pPr>
              <a:lnSpc>
                <a:spcPct val="120000"/>
              </a:lnSpc>
            </a:pPr>
            <a:r>
              <a:rPr lang="en-US" dirty="0"/>
              <a:t>Character-Handling Library</a:t>
            </a:r>
            <a:endParaRPr lang="en-US" altLang="tr-TR" dirty="0"/>
          </a:p>
          <a:p>
            <a:pPr>
              <a:lnSpc>
                <a:spcPct val="120000"/>
              </a:lnSpc>
            </a:pPr>
            <a:r>
              <a:rPr lang="tr-TR" altLang="tr-TR" dirty="0" err="1"/>
              <a:t>String</a:t>
            </a:r>
            <a:r>
              <a:rPr lang="tr-TR" altLang="tr-TR" dirty="0"/>
              <a:t> </a:t>
            </a:r>
            <a:r>
              <a:rPr lang="tr-TR" altLang="tr-TR" dirty="0" err="1"/>
              <a:t>Functions</a:t>
            </a:r>
            <a:endParaRPr lang="en-US" altLang="tr-TR" dirty="0"/>
          </a:p>
          <a:p>
            <a:pPr>
              <a:lnSpc>
                <a:spcPct val="120000"/>
              </a:lnSpc>
            </a:pPr>
            <a:r>
              <a:rPr lang="en-US" dirty="0"/>
              <a:t>String-Conversion Functions</a:t>
            </a:r>
          </a:p>
          <a:p>
            <a:pPr>
              <a:lnSpc>
                <a:spcPct val="120000"/>
              </a:lnSpc>
            </a:pPr>
            <a:r>
              <a:rPr lang="en-US" dirty="0"/>
              <a:t>Standard </a:t>
            </a:r>
            <a:r>
              <a:rPr lang="en-US" dirty="0" err="1"/>
              <a:t>Input/Output</a:t>
            </a:r>
            <a:r>
              <a:rPr lang="en-US" dirty="0"/>
              <a:t> Library Functions</a:t>
            </a:r>
          </a:p>
          <a:p>
            <a:pPr>
              <a:lnSpc>
                <a:spcPct val="120000"/>
              </a:lnSpc>
            </a:pPr>
            <a:r>
              <a:rPr lang="en-US" dirty="0"/>
              <a:t>Search Functions of the String-Handling Library</a:t>
            </a:r>
            <a:endParaRPr lang="tr-TR" altLang="tr-TR" dirty="0"/>
          </a:p>
          <a:p>
            <a:pPr>
              <a:lnSpc>
                <a:spcPct val="120000"/>
              </a:lnSpc>
            </a:pPr>
            <a:r>
              <a:rPr lang="tr-TR" altLang="tr-TR" dirty="0" err="1">
                <a:ea typeface="ＭＳ Ｐゴシック" panose="020B0600070205080204" pitchFamily="34" charset="-128"/>
              </a:rPr>
              <a:t>Examples</a:t>
            </a:r>
            <a:endParaRPr lang="en-US" altLang="tr-TR" dirty="0">
              <a:ea typeface="ＭＳ Ｐゴシック" panose="020B0600070205080204" pitchFamily="34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1A10B9F-802E-4BF7-98A9-38E57AA573D7}" type="slidenum">
              <a:rPr lang="en-US" altLang="tr-TR" sz="1600">
                <a:solidFill>
                  <a:srgbClr val="000000"/>
                </a:solidFill>
                <a:latin typeface="Garamond" panose="02020404030301010803" pitchFamily="18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tr-TR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412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Characters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56002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sz="2800" dirty="0"/>
              <a:t>Building blocks of source programs. </a:t>
            </a:r>
          </a:p>
          <a:p>
            <a:pPr lvl="1">
              <a:lnSpc>
                <a:spcPct val="150000"/>
              </a:lnSpc>
            </a:pPr>
            <a:r>
              <a:rPr lang="en-US" altLang="tr-TR" sz="2000" dirty="0"/>
              <a:t>Every program is composed of a sequence of </a:t>
            </a:r>
            <a:r>
              <a:rPr lang="en-US" sz="2000" dirty="0"/>
              <a:t>meaningfully grouped </a:t>
            </a:r>
            <a:r>
              <a:rPr lang="en-US" altLang="tr-TR" sz="2000" dirty="0"/>
              <a:t>characters.</a:t>
            </a:r>
          </a:p>
          <a:p>
            <a:pPr>
              <a:lnSpc>
                <a:spcPct val="150000"/>
              </a:lnSpc>
            </a:pPr>
            <a:endParaRPr lang="tr-TR" altLang="tr-TR" sz="2800" dirty="0" smtClean="0"/>
          </a:p>
          <a:p>
            <a:pPr>
              <a:lnSpc>
                <a:spcPct val="150000"/>
              </a:lnSpc>
            </a:pPr>
            <a:endParaRPr lang="en-US" altLang="tr-TR" sz="2800" dirty="0"/>
          </a:p>
          <a:p>
            <a:pPr>
              <a:lnSpc>
                <a:spcPct val="150000"/>
              </a:lnSpc>
            </a:pPr>
            <a:r>
              <a:rPr lang="en-US" altLang="tr-TR" sz="2800" dirty="0"/>
              <a:t>Character constant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An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dirty="0"/>
              <a:t>value represented as a character in single quotes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 </a:t>
            </a:r>
            <a:r>
              <a:rPr lang="en-US" b="1" dirty="0"/>
              <a:t>'z' </a:t>
            </a:r>
            <a:r>
              <a:rPr lang="en-US" dirty="0"/>
              <a:t>represents the integer value of </a:t>
            </a:r>
            <a:r>
              <a:rPr lang="en-US" b="1" dirty="0"/>
              <a:t>z</a:t>
            </a:r>
            <a:r>
              <a:rPr lang="en-US" sz="2800" dirty="0"/>
              <a:t> </a:t>
            </a:r>
            <a:br>
              <a:rPr lang="en-US" sz="2800" dirty="0"/>
            </a:br>
            <a:endParaRPr lang="en-US" altLang="tr-TR" sz="2600" dirty="0"/>
          </a:p>
          <a:p>
            <a:pPr lvl="1">
              <a:lnSpc>
                <a:spcPct val="150000"/>
              </a:lnSpc>
            </a:pPr>
            <a:endParaRPr lang="en-US" altLang="tr-TR" dirty="0"/>
          </a:p>
          <a:p>
            <a:pPr lvl="1">
              <a:lnSpc>
                <a:spcPct val="150000"/>
              </a:lnSpc>
            </a:pPr>
            <a:endParaRPr lang="tr-TR" altLang="tr-TR" dirty="0"/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40208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What is a String?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56002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sz="2800" dirty="0"/>
              <a:t>A string is actually a character array.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You can use it like a regular array of characters.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However, it has also some unique features that make string processing easy.</a:t>
            </a:r>
            <a:endParaRPr lang="tr-TR" altLang="tr-TR" dirty="0"/>
          </a:p>
          <a:p>
            <a:pPr>
              <a:lnSpc>
                <a:spcPct val="150000"/>
              </a:lnSpc>
            </a:pPr>
            <a:endParaRPr lang="tr-TR" altLang="tr-TR" sz="2800" dirty="0" smtClean="0"/>
          </a:p>
          <a:p>
            <a:pPr>
              <a:lnSpc>
                <a:spcPct val="150000"/>
              </a:lnSpc>
            </a:pPr>
            <a:endParaRPr lang="en-US" altLang="tr-TR" sz="2800" dirty="0"/>
          </a:p>
          <a:p>
            <a:pPr>
              <a:lnSpc>
                <a:spcPct val="150000"/>
              </a:lnSpc>
            </a:pPr>
            <a:r>
              <a:rPr lang="en-US" altLang="en-US" sz="2800" dirty="0">
                <a:solidFill>
                  <a:srgbClr val="000000"/>
                </a:solidFill>
              </a:rPr>
              <a:t>A string may include letters, digits and various </a:t>
            </a:r>
            <a:r>
              <a:rPr lang="en-US" altLang="en-US" sz="2800" dirty="0">
                <a:solidFill>
                  <a:srgbClr val="0000FF"/>
                </a:solidFill>
              </a:rPr>
              <a:t>special characters</a:t>
            </a:r>
            <a:r>
              <a:rPr lang="en-US" altLang="en-US" sz="2800" dirty="0">
                <a:solidFill>
                  <a:srgbClr val="000000"/>
                </a:solidFill>
              </a:rPr>
              <a:t> such as +, -, *, / and $. </a:t>
            </a:r>
          </a:p>
          <a:p>
            <a:pPr>
              <a:lnSpc>
                <a:spcPct val="150000"/>
              </a:lnSpc>
            </a:pPr>
            <a:endParaRPr lang="en-US" altLang="tr-TR" sz="2800" dirty="0"/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52862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What You Should Keep in Mind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560026"/>
          </a:xfrm>
        </p:spPr>
        <p:txBody>
          <a:bodyPr/>
          <a:lstStyle/>
          <a:p>
            <a:pPr marL="5143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tr-TR" sz="2800" dirty="0"/>
              <a:t>Anything written in double quotes (" ") is a string.</a:t>
            </a:r>
            <a:endParaRPr lang="tr-TR" altLang="tr-TR" sz="2800" dirty="0"/>
          </a:p>
          <a:p>
            <a:pPr marL="5143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endParaRPr lang="tr-TR" altLang="tr-TR" sz="1200" dirty="0" smtClean="0"/>
          </a:p>
          <a:p>
            <a:pPr marL="5143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tr-TR" sz="2800" dirty="0" smtClean="0"/>
              <a:t>The </a:t>
            </a:r>
            <a:r>
              <a:rPr lang="en-US" altLang="tr-TR" sz="2800" dirty="0"/>
              <a:t>end of a string is always marked with the invisible null character </a:t>
            </a:r>
            <a:r>
              <a:rPr lang="en-US" altLang="tr-TR" sz="2800" b="1" dirty="0">
                <a:solidFill>
                  <a:srgbClr val="0070C0"/>
                </a:solidFill>
              </a:rPr>
              <a:t>'\0'</a:t>
            </a:r>
            <a:r>
              <a:rPr lang="en-US" altLang="tr-TR" sz="2800" dirty="0"/>
              <a:t>.</a:t>
            </a:r>
            <a:endParaRPr lang="tr-TR" altLang="tr-TR" sz="2800" dirty="0"/>
          </a:p>
          <a:p>
            <a:pPr lvl="1">
              <a:lnSpc>
                <a:spcPct val="120000"/>
              </a:lnSpc>
            </a:pPr>
            <a:r>
              <a:rPr lang="en-US" altLang="tr-TR" sz="2400" dirty="0"/>
              <a:t>We say "a string is always null-terminated."</a:t>
            </a:r>
            <a:endParaRPr lang="tr-TR" altLang="tr-TR" sz="2400" dirty="0"/>
          </a:p>
          <a:p>
            <a:pPr lvl="1">
              <a:lnSpc>
                <a:spcPct val="120000"/>
              </a:lnSpc>
            </a:pPr>
            <a:r>
              <a:rPr lang="en-US" altLang="tr-TR" sz="2400" dirty="0"/>
              <a:t>All string functions depend on this null character. If you ignore the null character, everything will fail.</a:t>
            </a:r>
            <a:endParaRPr lang="tr-TR" altLang="tr-TR" sz="2400" dirty="0"/>
          </a:p>
          <a:p>
            <a:pPr lvl="1">
              <a:lnSpc>
                <a:spcPct val="120000"/>
              </a:lnSpc>
            </a:pPr>
            <a:r>
              <a:rPr lang="en-US" altLang="tr-TR" sz="2400" dirty="0"/>
              <a:t>You have to take into account that null character also consumes one byte.</a:t>
            </a:r>
            <a:endParaRPr lang="tr-TR" altLang="tr-TR" sz="2400" dirty="0"/>
          </a:p>
          <a:p>
            <a:pPr marL="5143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endParaRPr lang="tr-TR" altLang="tr-TR" sz="1200" dirty="0" smtClean="0"/>
          </a:p>
          <a:p>
            <a:pPr marL="514350" indent="-51435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tr-TR" sz="2800" dirty="0" smtClean="0"/>
              <a:t>Strings </a:t>
            </a:r>
            <a:r>
              <a:rPr lang="en-US" altLang="tr-TR" sz="2800" dirty="0"/>
              <a:t>should be treated gently. Failure to abide with the rules results in disaster.</a:t>
            </a:r>
          </a:p>
          <a:p>
            <a:pPr>
              <a:lnSpc>
                <a:spcPct val="120000"/>
              </a:lnSpc>
            </a:pPr>
            <a:endParaRPr lang="en-US" altLang="tr-TR" dirty="0"/>
          </a:p>
          <a:p>
            <a:pPr>
              <a:lnSpc>
                <a:spcPct val="12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14422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Strings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dirty="0"/>
              <a:t>So, the idea is simple: </a:t>
            </a:r>
            <a:r>
              <a:rPr lang="en-US" altLang="tr-TR" u="sng" dirty="0"/>
              <a:t>Obey the following simple rules: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When you define the string variable, </a:t>
            </a:r>
            <a:r>
              <a:rPr lang="en-US" altLang="tr-TR" dirty="0" smtClean="0"/>
              <a:t>do</a:t>
            </a:r>
            <a:r>
              <a:rPr lang="tr-TR" altLang="tr-TR" dirty="0" smtClean="0"/>
              <a:t> </a:t>
            </a:r>
            <a:r>
              <a:rPr lang="en-US" altLang="tr-TR" dirty="0" smtClean="0"/>
              <a:t>n</a:t>
            </a:r>
            <a:r>
              <a:rPr lang="tr-TR" altLang="tr-TR" dirty="0" smtClean="0"/>
              <a:t>o</a:t>
            </a:r>
            <a:r>
              <a:rPr lang="en-US" altLang="tr-TR" dirty="0" smtClean="0"/>
              <a:t>t </a:t>
            </a:r>
            <a:r>
              <a:rPr lang="en-US" altLang="tr-TR" dirty="0"/>
              <a:t>forget to add one byte for the null character.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All string functions depend on the null character so </a:t>
            </a:r>
            <a:r>
              <a:rPr lang="en-US" altLang="tr-TR" dirty="0" smtClean="0"/>
              <a:t>do</a:t>
            </a:r>
            <a:r>
              <a:rPr lang="tr-TR" altLang="tr-TR" dirty="0" smtClean="0"/>
              <a:t> </a:t>
            </a:r>
            <a:r>
              <a:rPr lang="en-US" altLang="tr-TR" dirty="0" smtClean="0"/>
              <a:t>n</a:t>
            </a:r>
            <a:r>
              <a:rPr lang="tr-TR" altLang="tr-TR" dirty="0" smtClean="0"/>
              <a:t>o</a:t>
            </a:r>
            <a:r>
              <a:rPr lang="en-US" altLang="tr-TR" dirty="0" smtClean="0"/>
              <a:t>t </a:t>
            </a:r>
            <a:r>
              <a:rPr lang="en-US" altLang="tr-TR" dirty="0"/>
              <a:t>mess around with the null character.</a:t>
            </a:r>
          </a:p>
          <a:p>
            <a:pPr lvl="2">
              <a:lnSpc>
                <a:spcPct val="150000"/>
              </a:lnSpc>
            </a:pPr>
            <a:r>
              <a:rPr lang="en-US" altLang="tr-TR" dirty="0"/>
              <a:t>Anything after the null character will be ignored.</a:t>
            </a:r>
          </a:p>
          <a:p>
            <a:pPr lvl="2">
              <a:lnSpc>
                <a:spcPct val="150000"/>
              </a:lnSpc>
            </a:pPr>
            <a:r>
              <a:rPr lang="en-US" altLang="tr-TR" dirty="0"/>
              <a:t>Anything up to the null character will be considered.</a:t>
            </a:r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63947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Initializing Strings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dirty="0"/>
              <a:t>Instead of initializing the elements of a string one-by-one, you can initialize it using a string.</a:t>
            </a:r>
          </a:p>
          <a:p>
            <a:pPr lvl="1">
              <a:lnSpc>
                <a:spcPct val="15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 </a:t>
            </a:r>
            <a:r>
              <a:rPr lang="en-US" altLang="en-US" i="1" dirty="0">
                <a:solidFill>
                  <a:srgbClr val="000000"/>
                </a:solidFill>
              </a:rPr>
              <a:t>character array</a:t>
            </a:r>
            <a:r>
              <a:rPr lang="en-US" altLang="en-US" dirty="0">
                <a:solidFill>
                  <a:srgbClr val="000000"/>
                </a:solidFill>
              </a:rPr>
              <a:t> or a </a:t>
            </a:r>
            <a:r>
              <a:rPr lang="en-US" altLang="en-US" i="1" dirty="0">
                <a:solidFill>
                  <a:srgbClr val="000000"/>
                </a:solidFill>
              </a:rPr>
              <a:t>variable of type char * </a:t>
            </a:r>
            <a:r>
              <a:rPr lang="en-US" altLang="en-US" dirty="0">
                <a:solidFill>
                  <a:srgbClr val="000000"/>
                </a:solidFill>
              </a:rPr>
              <a:t>can be initialized with a string in a definition. </a:t>
            </a:r>
            <a:r>
              <a:rPr lang="en-US" dirty="0"/>
              <a:t/>
            </a:r>
            <a:br>
              <a:rPr lang="en-US" dirty="0"/>
            </a:br>
            <a:endParaRPr lang="tr-TR" dirty="0" smtClean="0"/>
          </a:p>
          <a:p>
            <a:pPr lvl="4">
              <a:lnSpc>
                <a:spcPct val="150000"/>
              </a:lnSpc>
            </a:pPr>
            <a:endParaRPr lang="en-US" altLang="tr-TR" sz="1200" dirty="0"/>
          </a:p>
          <a:p>
            <a:pPr>
              <a:lnSpc>
                <a:spcPct val="150000"/>
              </a:lnSpc>
            </a:pPr>
            <a:r>
              <a:rPr lang="en-US" altLang="tr-TR" dirty="0"/>
              <a:t>Example: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char </a:t>
            </a:r>
            <a:r>
              <a:rPr lang="en-US" altLang="tr-TR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</a:t>
            </a:r>
            <a:r>
              <a:rPr lang="en-US" alt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[] = "</a:t>
            </a:r>
            <a:r>
              <a:rPr lang="tr-TR" alt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JAVA&amp;C</a:t>
            </a:r>
            <a:r>
              <a:rPr lang="en-US" alt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";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char </a:t>
            </a:r>
            <a:r>
              <a:rPr lang="en-US" altLang="tr-TR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</a:t>
            </a:r>
            <a:r>
              <a:rPr lang="en-US" alt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[] = {'J','A','V','A','&amp;','C', '\0'}; 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char *</a:t>
            </a:r>
            <a:r>
              <a:rPr lang="en-US" altLang="tr-TR" sz="20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</a:t>
            </a:r>
            <a:r>
              <a:rPr lang="en-US" alt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= "</a:t>
            </a:r>
            <a:r>
              <a:rPr lang="tr-TR" alt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JAVA&amp;C</a:t>
            </a:r>
            <a:r>
              <a:rPr lang="en-US" altLang="tr-TR" sz="20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";</a:t>
            </a:r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08743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E80342AB-3DC2-4D46-AACB-9FFEA322E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Inputting Strings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317A744-103E-4671-9AD9-46693AA1B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08628"/>
            <a:ext cx="11480800" cy="519372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 string can be stored in an array using </a:t>
            </a:r>
            <a:r>
              <a:rPr lang="en-US" altLang="en-US" dirty="0" err="1">
                <a:solidFill>
                  <a:srgbClr val="000000"/>
                </a:solidFill>
              </a:rPr>
              <a:t>scanf</a:t>
            </a:r>
            <a:r>
              <a:rPr lang="en-US" altLang="en-US" dirty="0">
                <a:solidFill>
                  <a:srgbClr val="000000"/>
                </a:solidFill>
              </a:rPr>
              <a:t>. </a:t>
            </a:r>
          </a:p>
          <a:p>
            <a:pPr lvl="4" eaLnBrk="1" hangingPunct="1">
              <a:lnSpc>
                <a:spcPct val="120000"/>
              </a:lnSpc>
            </a:pPr>
            <a:endParaRPr lang="tr-TR" altLang="en-US" sz="800" dirty="0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dirty="0" smtClean="0">
                <a:solidFill>
                  <a:srgbClr val="000000"/>
                </a:solidFill>
              </a:rPr>
              <a:t>For </a:t>
            </a:r>
            <a:r>
              <a:rPr lang="en-US" altLang="en-US" dirty="0">
                <a:solidFill>
                  <a:srgbClr val="000000"/>
                </a:solidFill>
              </a:rPr>
              <a:t>example, the following statement stores a string in character array word[20]: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240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scanf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solidFill>
                  <a:srgbClr val="128AFF"/>
                </a:solidFill>
                <a:latin typeface="Lucida Console" panose="020B0609040504020204" pitchFamily="49" charset="0"/>
              </a:rPr>
              <a:t>"%s"</a:t>
            </a:r>
            <a:r>
              <a:rPr lang="en-US" altLang="en-US" sz="2400" b="1" dirty="0">
                <a:solidFill>
                  <a:srgbClr val="000000"/>
                </a:solidFill>
                <a:latin typeface="Lucida Console" panose="020B0609040504020204" pitchFamily="49" charset="0"/>
              </a:rPr>
              <a:t>, word);</a:t>
            </a:r>
          </a:p>
          <a:p>
            <a:pPr lvl="2" eaLnBrk="1" hangingPunct="1">
              <a:lnSpc>
                <a:spcPct val="120000"/>
              </a:lnSpc>
            </a:pPr>
            <a:r>
              <a:rPr lang="en-US" dirty="0"/>
              <a:t>The string entered by the user is stored in </a:t>
            </a:r>
            <a:r>
              <a:rPr lang="en-US" b="1" dirty="0">
                <a:latin typeface="Lucida Console" panose="020B0609040504020204" pitchFamily="49" charset="0"/>
              </a:rPr>
              <a:t>word[]</a:t>
            </a:r>
            <a:r>
              <a:rPr lang="en-US" b="1" dirty="0"/>
              <a:t>.</a:t>
            </a:r>
          </a:p>
          <a:p>
            <a:pPr lvl="2" eaLnBrk="1" hangingPunct="1">
              <a:lnSpc>
                <a:spcPct val="120000"/>
              </a:lnSpc>
            </a:pPr>
            <a:r>
              <a:rPr lang="tr-TR" dirty="0" smtClean="0"/>
              <a:t>B</a:t>
            </a:r>
            <a:r>
              <a:rPr lang="en-US" dirty="0" err="1" smtClean="0"/>
              <a:t>ecause</a:t>
            </a:r>
            <a:r>
              <a:rPr lang="en-US" dirty="0" smtClean="0"/>
              <a:t> </a:t>
            </a:r>
            <a:r>
              <a:rPr lang="en-US" dirty="0"/>
              <a:t>a string is a </a:t>
            </a:r>
            <a:r>
              <a:rPr lang="en-US" dirty="0" smtClean="0"/>
              <a:t>pointer</a:t>
            </a:r>
            <a:r>
              <a:rPr lang="tr-TR" dirty="0" smtClean="0"/>
              <a:t>, </a:t>
            </a:r>
            <a:r>
              <a:rPr lang="tr-TR" dirty="0" err="1" smtClean="0"/>
              <a:t>we</a:t>
            </a:r>
            <a:r>
              <a:rPr lang="tr-TR" dirty="0" smtClean="0"/>
              <a:t> d</a:t>
            </a:r>
            <a:r>
              <a:rPr lang="en-US" dirty="0" smtClean="0"/>
              <a:t>o </a:t>
            </a:r>
            <a:r>
              <a:rPr lang="en-US" dirty="0"/>
              <a:t>not need </a:t>
            </a:r>
            <a:r>
              <a:rPr lang="en-US" b="1" dirty="0" smtClean="0">
                <a:latin typeface="Lucida Console" panose="020B0609040504020204" pitchFamily="49" charset="0"/>
              </a:rPr>
              <a:t>&amp;</a:t>
            </a:r>
            <a:r>
              <a:rPr lang="tr-TR" dirty="0" smtClean="0"/>
              <a:t>.</a:t>
            </a:r>
            <a:endParaRPr lang="en-US" dirty="0"/>
          </a:p>
          <a:p>
            <a:pPr lvl="2" eaLnBrk="1" hangingPunct="1">
              <a:lnSpc>
                <a:spcPct val="120000"/>
              </a:lnSpc>
            </a:pPr>
            <a:r>
              <a:rPr lang="en-US" dirty="0"/>
              <a:t>Remember to leave room in the array for </a:t>
            </a:r>
            <a:r>
              <a:rPr lang="en-US" b="1" dirty="0">
                <a:latin typeface="Lucida Console" panose="020B0609040504020204" pitchFamily="49" charset="0"/>
              </a:rPr>
              <a:t>'\0’</a:t>
            </a:r>
            <a:endParaRPr lang="en-US" altLang="en-US" sz="240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lvl="4" eaLnBrk="1" hangingPunct="1">
              <a:lnSpc>
                <a:spcPct val="120000"/>
              </a:lnSpc>
            </a:pPr>
            <a:endParaRPr lang="tr-TR" altLang="en-US" sz="800" dirty="0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dirty="0" smtClean="0">
                <a:solidFill>
                  <a:srgbClr val="000000"/>
                </a:solidFill>
              </a:rPr>
              <a:t>Use </a:t>
            </a: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scanf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b="1" dirty="0">
                <a:solidFill>
                  <a:srgbClr val="128AFF"/>
                </a:solidFill>
                <a:latin typeface="Lucida Console" panose="020B0609040504020204" pitchFamily="49" charset="0"/>
              </a:rPr>
              <a:t>"%19s"</a:t>
            </a:r>
            <a:r>
              <a:rPr lang="en-US" altLang="en-US" b="1" dirty="0">
                <a:solidFill>
                  <a:srgbClr val="000000"/>
                </a:solidFill>
                <a:latin typeface="Lucida Console" panose="020B0609040504020204" pitchFamily="49" charset="0"/>
              </a:rPr>
              <a:t>, word);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2400" dirty="0" err="1">
                <a:solidFill>
                  <a:srgbClr val="000000"/>
                </a:solidFill>
              </a:rPr>
              <a:t>scanf</a:t>
            </a:r>
            <a:r>
              <a:rPr lang="en-US" altLang="en-US" sz="2400" dirty="0">
                <a:solidFill>
                  <a:srgbClr val="000000"/>
                </a:solidFill>
              </a:rPr>
              <a:t> reads a </a:t>
            </a:r>
            <a:r>
              <a:rPr lang="en-US" altLang="en-US" sz="2400" i="1" dirty="0">
                <a:solidFill>
                  <a:srgbClr val="000000"/>
                </a:solidFill>
              </a:rPr>
              <a:t>maximum</a:t>
            </a:r>
            <a:r>
              <a:rPr lang="en-US" altLang="en-US" sz="2400" dirty="0">
                <a:solidFill>
                  <a:srgbClr val="000000"/>
                </a:solidFill>
              </a:rPr>
              <a:t> of 19 characters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2400" dirty="0">
                <a:solidFill>
                  <a:srgbClr val="000000"/>
                </a:solidFill>
              </a:rPr>
              <a:t>saves the last character for the string’s terminating null character</a:t>
            </a:r>
          </a:p>
          <a:p>
            <a:pPr lvl="2" eaLnBrk="1" hangingPunct="1">
              <a:lnSpc>
                <a:spcPct val="120000"/>
              </a:lnSpc>
            </a:pPr>
            <a:r>
              <a:rPr lang="en-US" sz="2400" dirty="0"/>
              <a:t>prevents </a:t>
            </a:r>
            <a:r>
              <a:rPr lang="en-US" altLang="en-US" sz="2400" dirty="0" err="1">
                <a:solidFill>
                  <a:srgbClr val="000000"/>
                </a:solidFill>
              </a:rPr>
              <a:t>scanf</a:t>
            </a:r>
            <a:r>
              <a:rPr lang="en-US" sz="2400" dirty="0"/>
              <a:t> from writing characters into memory beyond the end of </a:t>
            </a:r>
            <a:r>
              <a:rPr lang="en-US" altLang="en-US" sz="2400" b="1" dirty="0">
                <a:solidFill>
                  <a:srgbClr val="000000"/>
                </a:solidFill>
                <a:latin typeface="Lucida Console" panose="020B0609040504020204" pitchFamily="49" charset="0"/>
              </a:rPr>
              <a:t>word</a:t>
            </a:r>
            <a:r>
              <a:rPr lang="en-US" sz="2400" dirty="0"/>
              <a:t>. </a:t>
            </a:r>
            <a:br>
              <a:rPr lang="en-US" sz="2400" dirty="0"/>
            </a:br>
            <a:endParaRPr lang="en-US" altLang="en-US" sz="2400" b="1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n-US" sz="2000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0881839-9FA7-4A71-9A49-52E9E3270A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70107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5AFDD68-7862-48C1-BA99-4FFD5C4E1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Character-Handling Library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8F820C7-A307-4BB9-A196-724F65F3F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The</a:t>
            </a:r>
            <a:r>
              <a:rPr lang="en-US" altLang="en-US" dirty="0">
                <a:solidFill>
                  <a:srgbClr val="0000FF"/>
                </a:solidFill>
              </a:rPr>
              <a:t> </a:t>
            </a:r>
            <a:r>
              <a:rPr lang="en-US" altLang="en-US" dirty="0">
                <a:solidFill>
                  <a:srgbClr val="0000FF"/>
                </a:solidFill>
                <a:latin typeface="Lucida Console" panose="020B0609040504020204" pitchFamily="49" charset="0"/>
              </a:rPr>
              <a:t>character-handling library 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(&lt;</a:t>
            </a:r>
            <a:r>
              <a:rPr lang="en-US" altLang="en-US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ctype.h</a:t>
            </a:r>
            <a:r>
              <a:rPr lang="en-US" alt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&gt;) 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includes several functions that perform useful tests and manipulations of character data. </a:t>
            </a:r>
          </a:p>
          <a:p>
            <a:pPr lvl="1">
              <a:lnSpc>
                <a:spcPct val="120000"/>
              </a:lnSpc>
            </a:pPr>
            <a:endParaRPr lang="tr-TR" altLang="en-US" dirty="0" smtClean="0">
              <a:solidFill>
                <a:srgbClr val="000000"/>
              </a:solidFill>
            </a:endParaRPr>
          </a:p>
          <a:p>
            <a:pPr lvl="1">
              <a:lnSpc>
                <a:spcPct val="120000"/>
              </a:lnSpc>
            </a:pPr>
            <a:endParaRPr lang="en-US" altLang="en-US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dirty="0"/>
              <a:t>Each function receives an unsigned char (represented as an </a:t>
            </a:r>
            <a:r>
              <a:rPr lang="en-US" dirty="0" err="1"/>
              <a:t>int</a:t>
            </a:r>
            <a:r>
              <a:rPr lang="en-US" dirty="0"/>
              <a:t>) or EOF as an argument. </a:t>
            </a:r>
          </a:p>
          <a:p>
            <a:pPr lvl="1">
              <a:lnSpc>
                <a:spcPct val="120000"/>
              </a:lnSpc>
            </a:pPr>
            <a:endParaRPr lang="tr-TR" dirty="0" smtClean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The following slide contains a table of all the functions in </a:t>
            </a:r>
            <a:r>
              <a:rPr lang="en-US" b="1" dirty="0">
                <a:latin typeface="Lucida Console" panose="020B0609040504020204" pitchFamily="49" charset="0"/>
              </a:rPr>
              <a:t>&lt;</a:t>
            </a:r>
            <a:r>
              <a:rPr lang="en-US" b="1" dirty="0" err="1">
                <a:latin typeface="Lucida Console" panose="020B0609040504020204" pitchFamily="49" charset="0"/>
              </a:rPr>
              <a:t>ctype.h</a:t>
            </a:r>
            <a:r>
              <a:rPr lang="en-US" b="1" dirty="0">
                <a:latin typeface="Lucida Console" panose="020B0609040504020204" pitchFamily="49" charset="0"/>
              </a:rPr>
              <a:t>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53A0D84-FDB8-436D-AD4C-B566F3BBD5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32402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43802AC-0CB1-4ECE-9340-96299EBF3B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CBA1A4C-32C4-46FA-81FC-C99E5A012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1" y="1025441"/>
            <a:ext cx="8553450" cy="5095875"/>
          </a:xfrm>
          <a:prstGeom prst="rect">
            <a:avLst/>
          </a:prstGeom>
        </p:spPr>
      </p:pic>
      <p:sp>
        <p:nvSpPr>
          <p:cNvPr id="6" name="Unvan 1">
            <a:extLst>
              <a:ext uri="{FF2B5EF4-FFF2-40B4-BE49-F238E27FC236}">
                <a16:creationId xmlns:a16="http://schemas.microsoft.com/office/drawing/2014/main" id="{7FA5FA2C-EB08-40AD-AF67-8ED9A1386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 dirty="0"/>
              <a:t>Character-Handling Library (cont.)</a:t>
            </a:r>
          </a:p>
        </p:txBody>
      </p:sp>
    </p:spTree>
    <p:extLst>
      <p:ext uri="{BB962C8B-B14F-4D97-AF65-F5344CB8AC3E}">
        <p14:creationId xmlns:p14="http://schemas.microsoft.com/office/powerpoint/2010/main" val="22554326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43802AC-0CB1-4ECE-9340-96299EBF3B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6" name="Unvan 1">
            <a:extLst>
              <a:ext uri="{FF2B5EF4-FFF2-40B4-BE49-F238E27FC236}">
                <a16:creationId xmlns:a16="http://schemas.microsoft.com/office/drawing/2014/main" id="{7FA5FA2C-EB08-40AD-AF67-8ED9A1386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11480800" cy="1066800"/>
          </a:xfrm>
        </p:spPr>
        <p:txBody>
          <a:bodyPr/>
          <a:lstStyle/>
          <a:p>
            <a:r>
              <a:rPr lang="en-US" dirty="0"/>
              <a:t>Character-Handling Library (cont.)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D8A30397-95D0-439A-AA3C-D23D101D2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1" y="1290637"/>
            <a:ext cx="859155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868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String Functions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dirty="0"/>
              <a:t>There are multiple string functions that help programming</a:t>
            </a:r>
            <a:r>
              <a:rPr lang="tr-TR" altLang="tr-TR" dirty="0"/>
              <a:t>. </a:t>
            </a:r>
            <a:r>
              <a:rPr lang="en-US" altLang="tr-TR" dirty="0"/>
              <a:t>Learn what type of arguments are required and what they return.</a:t>
            </a:r>
          </a:p>
          <a:p>
            <a:pPr>
              <a:lnSpc>
                <a:spcPct val="150000"/>
              </a:lnSpc>
            </a:pPr>
            <a:endParaRPr lang="tr-TR" altLang="tr-TR" dirty="0"/>
          </a:p>
          <a:p>
            <a:pPr>
              <a:lnSpc>
                <a:spcPct val="150000"/>
              </a:lnSpc>
            </a:pPr>
            <a:r>
              <a:rPr lang="en-US" altLang="tr-TR" dirty="0"/>
              <a:t>Anything in double quotes is a string.</a:t>
            </a:r>
            <a:endParaRPr lang="tr-TR" altLang="tr-TR" dirty="0"/>
          </a:p>
          <a:p>
            <a:pPr lvl="1">
              <a:lnSpc>
                <a:spcPct val="150000"/>
              </a:lnSpc>
            </a:pPr>
            <a:r>
              <a:rPr lang="en-US" altLang="tr-TR" dirty="0"/>
              <a:t>You may access a string in double quotes.</a:t>
            </a:r>
          </a:p>
          <a:p>
            <a:pPr lvl="1">
              <a:lnSpc>
                <a:spcPct val="150000"/>
              </a:lnSpc>
            </a:pPr>
            <a:endParaRPr lang="tr-TR" altLang="tr-TR" dirty="0"/>
          </a:p>
          <a:p>
            <a:pPr>
              <a:lnSpc>
                <a:spcPct val="150000"/>
              </a:lnSpc>
            </a:pPr>
            <a:r>
              <a:rPr lang="en-US" altLang="tr-TR" dirty="0"/>
              <a:t>You can find several string functions in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string.h</a:t>
            </a:r>
            <a:r>
              <a:rPr lang="en-US" altLang="tr-T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tr-TR" dirty="0" err="1">
                <a:latin typeface="Lucida Console" panose="020B0609040504020204" pitchFamily="49" charset="0"/>
              </a:rPr>
              <a:t>strlen</a:t>
            </a:r>
            <a:r>
              <a:rPr lang="en-US" altLang="tr-TR" dirty="0">
                <a:latin typeface="Lucida Console" panose="020B0609040504020204" pitchFamily="49" charset="0"/>
              </a:rPr>
              <a:t>(), </a:t>
            </a:r>
            <a:r>
              <a:rPr lang="en-US" altLang="tr-TR" dirty="0" err="1">
                <a:latin typeface="Lucida Console" panose="020B0609040504020204" pitchFamily="49" charset="0"/>
              </a:rPr>
              <a:t>strcpy</a:t>
            </a:r>
            <a:r>
              <a:rPr lang="en-US" altLang="tr-TR" dirty="0">
                <a:latin typeface="Lucida Console" panose="020B0609040504020204" pitchFamily="49" charset="0"/>
              </a:rPr>
              <a:t>(), </a:t>
            </a:r>
            <a:r>
              <a:rPr lang="en-US" altLang="tr-TR" dirty="0" err="1">
                <a:latin typeface="Lucida Console" panose="020B0609040504020204" pitchFamily="49" charset="0"/>
              </a:rPr>
              <a:t>strcat</a:t>
            </a:r>
            <a:r>
              <a:rPr lang="en-US" altLang="tr-TR" dirty="0">
                <a:latin typeface="Lucida Console" panose="020B0609040504020204" pitchFamily="49" charset="0"/>
              </a:rPr>
              <a:t>(), </a:t>
            </a:r>
            <a:r>
              <a:rPr lang="en-US" altLang="tr-TR" dirty="0" err="1">
                <a:latin typeface="Lucida Console" panose="020B0609040504020204" pitchFamily="49" charset="0"/>
              </a:rPr>
              <a:t>strcmp</a:t>
            </a:r>
            <a:r>
              <a:rPr lang="en-US" altLang="tr-TR" dirty="0">
                <a:latin typeface="Lucida Console" panose="020B0609040504020204" pitchFamily="49" charset="0"/>
              </a:rPr>
              <a:t>()</a:t>
            </a:r>
          </a:p>
          <a:p>
            <a:pPr>
              <a:lnSpc>
                <a:spcPct val="150000"/>
              </a:lnSpc>
            </a:pPr>
            <a:endParaRPr lang="en-US" altLang="tr-TR" dirty="0"/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96242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tr-TR" dirty="0"/>
              <a:t>String Lenght: </a:t>
            </a:r>
            <a:r>
              <a:rPr lang="en-US" altLang="tr-TR" dirty="0" err="1"/>
              <a:t>strlen</a:t>
            </a:r>
            <a:r>
              <a:rPr lang="en-US" altLang="tr-TR" dirty="0"/>
              <a:t>()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429398"/>
          </a:xfrm>
        </p:spPr>
        <p:txBody>
          <a:bodyPr/>
          <a:lstStyle/>
          <a:p>
            <a:r>
              <a:rPr lang="en-US" altLang="tr-TR" sz="2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2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strlen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(char *</a:t>
            </a:r>
            <a:r>
              <a:rPr lang="en-US" altLang="tr-TR" sz="2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</a:t>
            </a:r>
            <a:r>
              <a:rPr lang="en-US" altLang="tr-TR" sz="2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)</a:t>
            </a:r>
          </a:p>
          <a:p>
            <a:pPr lvl="1"/>
            <a:r>
              <a:rPr lang="en-US" altLang="tr-TR" dirty="0"/>
              <a:t>Returns the length of its string parameter (excluding null character).</a:t>
            </a:r>
          </a:p>
          <a:p>
            <a:endParaRPr lang="tr-TR" dirty="0" smtClean="0"/>
          </a:p>
          <a:p>
            <a:endParaRPr lang="tr-TR" dirty="0"/>
          </a:p>
          <a:p>
            <a:r>
              <a:rPr lang="tr-TR" dirty="0"/>
              <a:t>Example: Convert lowercase to uppercase</a:t>
            </a:r>
          </a:p>
          <a:p>
            <a:endParaRPr lang="tr-TR" dirty="0"/>
          </a:p>
          <a:p>
            <a:pPr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/* Convert lowercase to uppercase */</a:t>
            </a:r>
          </a:p>
          <a:p>
            <a:pPr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	for (j=0; j&lt;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strlen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(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);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j++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		if (('a'&lt;=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[j]) &amp;&amp; (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[j]&lt;='z'))</a:t>
            </a:r>
          </a:p>
          <a:p>
            <a:pPr>
              <a:buFontTx/>
              <a:buNone/>
            </a:pP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			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[j] += 'A'-'a';</a:t>
            </a:r>
            <a:endParaRPr lang="en-US" alt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33345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String Copy: </a:t>
            </a:r>
            <a:r>
              <a:rPr lang="en-US" altLang="tr-TR" dirty="0" err="1"/>
              <a:t>strcpy</a:t>
            </a:r>
            <a:r>
              <a:rPr lang="en-US" altLang="tr-TR" dirty="0"/>
              <a:t>()</a:t>
            </a:r>
            <a:r>
              <a:rPr lang="tr-TR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62586"/>
            <a:ext cx="11480800" cy="5612278"/>
          </a:xfrm>
        </p:spPr>
        <p:txBody>
          <a:bodyPr/>
          <a:lstStyle/>
          <a:p>
            <a:r>
              <a:rPr lang="en-US" altLang="tr-TR" dirty="0"/>
              <a:t>If you want to copy the contents of a string variable to another, simple assignment does not work !</a:t>
            </a:r>
          </a:p>
          <a:p>
            <a:pPr lvl="1"/>
            <a:r>
              <a:rPr lang="en-US" altLang="tr-TR" dirty="0"/>
              <a:t>Example:</a:t>
            </a:r>
          </a:p>
          <a:p>
            <a:pPr lvl="3">
              <a:buFontTx/>
              <a:buNone/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char st1[5]="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abcd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", st2[5]="xyz";</a:t>
            </a:r>
          </a:p>
          <a:p>
            <a:pPr lvl="3">
              <a:buFontTx/>
              <a:buNone/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st1=st2;</a:t>
            </a:r>
          </a:p>
          <a:p>
            <a:pPr lvl="2">
              <a:buFontTx/>
              <a:buNone/>
            </a:pPr>
            <a:r>
              <a:rPr lang="tr-TR" altLang="tr-TR" dirty="0" smtClean="0"/>
              <a:t>    </a:t>
            </a:r>
            <a:r>
              <a:rPr lang="en-US" altLang="tr-TR" dirty="0" smtClean="0"/>
              <a:t>is </a:t>
            </a:r>
            <a:r>
              <a:rPr lang="en-US" altLang="tr-TR" dirty="0"/>
              <a:t>wrong. </a:t>
            </a:r>
            <a:endParaRPr lang="tr-TR" altLang="tr-TR" dirty="0"/>
          </a:p>
          <a:p>
            <a:pPr lvl="2">
              <a:buFontTx/>
              <a:buNone/>
            </a:pPr>
            <a:r>
              <a:rPr lang="tr-TR" altLang="tr-TR" dirty="0" smtClean="0"/>
              <a:t>    </a:t>
            </a:r>
            <a:r>
              <a:rPr lang="en-US" altLang="tr-TR" dirty="0" smtClean="0"/>
              <a:t>You </a:t>
            </a:r>
            <a:r>
              <a:rPr lang="en-US" altLang="tr-TR" dirty="0"/>
              <a:t>have to copy the characters one-by-one.</a:t>
            </a:r>
          </a:p>
          <a:p>
            <a:pPr lvl="2">
              <a:buFontTx/>
              <a:buNone/>
            </a:pPr>
            <a:r>
              <a:rPr lang="tr-TR" altLang="tr-TR" dirty="0" smtClean="0"/>
              <a:t>    </a:t>
            </a:r>
            <a:r>
              <a:rPr lang="en-US" altLang="tr-TR" dirty="0" smtClean="0"/>
              <a:t>There </a:t>
            </a:r>
            <a:r>
              <a:rPr lang="en-US" altLang="tr-TR" dirty="0"/>
              <a:t>is a specific function that does this.</a:t>
            </a:r>
            <a:endParaRPr lang="tr-TR" altLang="tr-TR" dirty="0"/>
          </a:p>
          <a:p>
            <a:pPr lvl="2">
              <a:buFontTx/>
              <a:buNone/>
            </a:pPr>
            <a:endParaRPr lang="tr-TR" altLang="tr-TR" dirty="0"/>
          </a:p>
          <a:p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char *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strcpy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(char *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dest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, </a:t>
            </a:r>
            <a:r>
              <a:rPr lang="tr-TR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const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char *source)</a:t>
            </a:r>
          </a:p>
          <a:p>
            <a:pPr lvl="1"/>
            <a:r>
              <a:rPr lang="en-US" altLang="tr-TR" dirty="0"/>
              <a:t>Copies all characters in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source</a:t>
            </a:r>
            <a:r>
              <a:rPr lang="en-US" altLang="tr-TR" dirty="0"/>
              <a:t> into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dest</a:t>
            </a:r>
            <a:r>
              <a:rPr lang="en-US" altLang="tr-TR" dirty="0"/>
              <a:t>.</a:t>
            </a:r>
          </a:p>
          <a:p>
            <a:pPr lvl="1"/>
            <a:r>
              <a:rPr lang="en-US" altLang="tr-TR" dirty="0"/>
              <a:t>Of course terminates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dest</a:t>
            </a:r>
            <a:r>
              <a:rPr lang="en-US" altLang="tr-TR" dirty="0"/>
              <a:t> with null char.</a:t>
            </a:r>
          </a:p>
          <a:p>
            <a:pPr lvl="1"/>
            <a:r>
              <a:rPr lang="en-US" altLang="tr-TR" dirty="0"/>
              <a:t>Returns starting address of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dest</a:t>
            </a:r>
            <a:r>
              <a:rPr lang="en-US" altLang="tr-TR" dirty="0"/>
              <a:t>.</a:t>
            </a:r>
          </a:p>
          <a:p>
            <a:pPr lvl="1">
              <a:buFontTx/>
              <a:buNone/>
            </a:pPr>
            <a:endParaRPr lang="en-US" altLang="tr-TR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37833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- </a:t>
            </a:r>
            <a:r>
              <a:rPr lang="en-US" altLang="tr-TR" dirty="0" err="1"/>
              <a:t>strcpy</a:t>
            </a:r>
            <a:r>
              <a:rPr lang="en-US" altLang="tr-TR" dirty="0"/>
              <a:t>()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</a:pPr>
            <a:endParaRPr lang="tr-TR" altLang="tr-TR" sz="2400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tr-TR" sz="24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char 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st1[6]="</a:t>
            </a: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abdef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", st2[5]="xyz";</a:t>
            </a:r>
          </a:p>
          <a:p>
            <a:pPr lvl="1">
              <a:buFontTx/>
              <a:buNone/>
            </a:pP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strcpy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(st1,st2);</a:t>
            </a:r>
          </a:p>
          <a:p>
            <a:pPr lvl="1">
              <a:buFontTx/>
              <a:buNone/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st1[2]='M';</a:t>
            </a:r>
          </a:p>
          <a:p>
            <a:pPr lvl="1">
              <a:buFontTx/>
              <a:buNone/>
            </a:pP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st2[3]='N';</a:t>
            </a:r>
          </a:p>
          <a:p>
            <a:pPr lvl="1">
              <a:buFontTx/>
              <a:buNone/>
            </a:pP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printf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("&lt;st1:%s&gt;\n",st1);</a:t>
            </a:r>
          </a:p>
          <a:p>
            <a:pPr lvl="1">
              <a:buFontTx/>
              <a:buNone/>
            </a:pPr>
            <a:r>
              <a:rPr lang="en-US" altLang="tr-TR" sz="24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printf</a:t>
            </a:r>
            <a:r>
              <a:rPr lang="en-US" altLang="tr-TR" sz="24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("&lt;st2:%s&gt;\n",st2);</a:t>
            </a:r>
          </a:p>
          <a:p>
            <a:pPr lvl="1">
              <a:buFontTx/>
              <a:buNone/>
            </a:pPr>
            <a:endParaRPr lang="en-US" altLang="tr-TR" sz="2400" b="1" dirty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tr-TR" sz="2400" dirty="0"/>
              <a:t>What is the output?</a:t>
            </a:r>
          </a:p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3F7898CF-73B3-479A-862B-D100A0D70458}"/>
              </a:ext>
            </a:extLst>
          </p:cNvPr>
          <p:cNvSpPr/>
          <p:nvPr/>
        </p:nvSpPr>
        <p:spPr>
          <a:xfrm>
            <a:off x="304800" y="5029475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buFontTx/>
              <a:buNone/>
            </a:pPr>
            <a:r>
              <a:rPr lang="en-US" altLang="tr-T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&lt;st1:xyM&gt;</a:t>
            </a:r>
          </a:p>
          <a:p>
            <a:pPr lvl="1">
              <a:buFontTx/>
              <a:buNone/>
            </a:pPr>
            <a:r>
              <a:rPr lang="en-US" altLang="tr-TR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&lt;st2:xyzN&gt;</a:t>
            </a:r>
          </a:p>
        </p:txBody>
      </p:sp>
    </p:spTree>
    <p:extLst>
      <p:ext uri="{BB962C8B-B14F-4D97-AF65-F5344CB8AC3E}">
        <p14:creationId xmlns:p14="http://schemas.microsoft.com/office/powerpoint/2010/main" val="232395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String Concatenation: </a:t>
            </a:r>
            <a:r>
              <a:rPr lang="en-US" altLang="tr-TR" dirty="0" err="1"/>
              <a:t>strcat</a:t>
            </a:r>
            <a:r>
              <a:rPr lang="en-US" altLang="tr-TR" dirty="0"/>
              <a:t>()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dirty="0"/>
              <a:t>If you want to attach two strings, use </a:t>
            </a:r>
            <a:r>
              <a:rPr lang="en-US" altLang="tr-TR" dirty="0" err="1"/>
              <a:t>strcat</a:t>
            </a:r>
            <a:r>
              <a:rPr lang="en-US" altLang="tr-TR" dirty="0"/>
              <a:t>().</a:t>
            </a:r>
          </a:p>
          <a:p>
            <a:pPr>
              <a:lnSpc>
                <a:spcPct val="150000"/>
              </a:lnSpc>
            </a:pPr>
            <a:endParaRPr lang="tr-TR" altLang="tr-TR" dirty="0" smtClean="0"/>
          </a:p>
          <a:p>
            <a:pPr>
              <a:lnSpc>
                <a:spcPct val="150000"/>
              </a:lnSpc>
            </a:pP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char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*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strcat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(char *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dest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, char *source)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Attaches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source</a:t>
            </a:r>
            <a:r>
              <a:rPr lang="en-US" altLang="tr-TR" dirty="0"/>
              <a:t> to the tail of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dest</a:t>
            </a:r>
            <a:r>
              <a:rPr lang="en-US" altLang="tr-T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Chars in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dest</a:t>
            </a:r>
            <a:r>
              <a:rPr lang="en-US" altLang="tr-TR" dirty="0"/>
              <a:t> are not lost.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Returns starting address of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dest</a:t>
            </a:r>
            <a:r>
              <a:rPr lang="en-US" altLang="tr-TR" dirty="0"/>
              <a:t>.</a:t>
            </a:r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07049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- </a:t>
            </a:r>
            <a:r>
              <a:rPr lang="en-US" altLang="tr-TR" dirty="0" err="1"/>
              <a:t>strc</a:t>
            </a:r>
            <a:r>
              <a:rPr lang="tr-TR" altLang="tr-TR" dirty="0"/>
              <a:t>at</a:t>
            </a:r>
            <a:r>
              <a:rPr lang="en-US" altLang="tr-TR" dirty="0"/>
              <a:t>()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dirty="0"/>
              <a:t>Write a function that reads a name from the input, prepends it with "Hello ", and updates its parameter to contain this greeting string. (You may assume the caller passes a parameter that is large enough.)</a:t>
            </a:r>
          </a:p>
          <a:p>
            <a:pPr lvl="1">
              <a:lnSpc>
                <a:spcPct val="150000"/>
              </a:lnSpc>
              <a:buFontTx/>
              <a:buNone/>
            </a:pPr>
            <a:endParaRPr lang="tr-TR" altLang="tr-TR" sz="1800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tr-TR" sz="1800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void 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greet(char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g_st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[])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{   char name[20];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	 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scanf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("%s", name);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strcpy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(g_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,"Hello ");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    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strcat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(</a:t>
            </a:r>
            <a:r>
              <a:rPr lang="en-US" altLang="tr-TR" sz="1800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g_st</a:t>
            </a: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, name);</a:t>
            </a:r>
          </a:p>
          <a:p>
            <a:pPr lvl="1">
              <a:lnSpc>
                <a:spcPct val="150000"/>
              </a:lnSpc>
              <a:buFontTx/>
              <a:buNone/>
            </a:pPr>
            <a:r>
              <a:rPr lang="en-US" altLang="tr-TR" sz="18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}</a:t>
            </a:r>
            <a:endParaRPr lang="en-US" altLang="tr-TR" sz="1800" dirty="0"/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35100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String Compare: </a:t>
            </a:r>
            <a:r>
              <a:rPr lang="en-US" altLang="tr-TR" dirty="0" err="1"/>
              <a:t>str</a:t>
            </a:r>
            <a:r>
              <a:rPr lang="tr-TR" altLang="tr-TR" dirty="0"/>
              <a:t>cmp</a:t>
            </a:r>
            <a:r>
              <a:rPr lang="en-US" altLang="tr-TR" dirty="0"/>
              <a:t>()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tr-TR" dirty="0"/>
              <a:t>You may also check if the lexicographical ordering of two strings.</a:t>
            </a:r>
          </a:p>
          <a:p>
            <a:pPr>
              <a:lnSpc>
                <a:spcPct val="150000"/>
              </a:lnSpc>
            </a:pPr>
            <a:endParaRPr lang="tr-TR" altLang="tr-TR" b="1" dirty="0" smtClean="0">
              <a:solidFill>
                <a:schemeClr val="accent2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tr-TR" b="1" dirty="0" err="1" smtClean="0">
                <a:solidFill>
                  <a:schemeClr val="accent2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b="1" dirty="0" smtClean="0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solidFill>
                  <a:schemeClr val="accent2"/>
                </a:solidFill>
                <a:latin typeface="Courier New" panose="02070309020205020404" pitchFamily="49" charset="0"/>
              </a:rPr>
              <a:t>strcmp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(</a:t>
            </a:r>
            <a:r>
              <a:rPr lang="tr-TR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const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char *st1, </a:t>
            </a:r>
            <a:r>
              <a:rPr lang="tr-TR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const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char *st2)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Returns </a:t>
            </a:r>
            <a:r>
              <a:rPr lang="en-US" altLang="tr-TR" sz="32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&lt;0</a:t>
            </a:r>
            <a:r>
              <a:rPr lang="en-US" altLang="tr-TR" dirty="0"/>
              <a:t> if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st1</a:t>
            </a:r>
            <a:r>
              <a:rPr lang="en-US" altLang="tr-TR" dirty="0"/>
              <a:t> comes before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st2</a:t>
            </a:r>
            <a:r>
              <a:rPr lang="en-US" altLang="tr-T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Returns </a:t>
            </a:r>
            <a:r>
              <a:rPr lang="en-US" altLang="tr-TR" sz="32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0</a:t>
            </a:r>
            <a:r>
              <a:rPr lang="en-US" altLang="tr-TR" dirty="0"/>
              <a:t> if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st1</a:t>
            </a:r>
            <a:r>
              <a:rPr lang="en-US" altLang="tr-TR" dirty="0"/>
              <a:t> is identical to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st2</a:t>
            </a:r>
            <a:r>
              <a:rPr lang="en-US" altLang="tr-TR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tr-TR" dirty="0"/>
              <a:t>Returns </a:t>
            </a:r>
            <a:r>
              <a:rPr lang="en-US" altLang="tr-TR" sz="3200" b="1" dirty="0">
                <a:solidFill>
                  <a:schemeClr val="accent2"/>
                </a:solidFill>
                <a:latin typeface="Courier New" panose="02070309020205020404" pitchFamily="49" charset="0"/>
              </a:rPr>
              <a:t>&gt;0</a:t>
            </a:r>
            <a:r>
              <a:rPr lang="en-US" altLang="tr-TR" dirty="0"/>
              <a:t> if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st1</a:t>
            </a:r>
            <a:r>
              <a:rPr lang="en-US" altLang="tr-TR" dirty="0"/>
              <a:t> comes after </a:t>
            </a:r>
            <a:r>
              <a:rPr lang="en-US" altLang="tr-TR" b="1" dirty="0">
                <a:solidFill>
                  <a:schemeClr val="accent2"/>
                </a:solidFill>
                <a:latin typeface="Courier New" panose="02070309020205020404" pitchFamily="49" charset="0"/>
              </a:rPr>
              <a:t>st2</a:t>
            </a:r>
            <a:r>
              <a:rPr lang="en-US" altLang="tr-TR" dirty="0"/>
              <a:t>.</a:t>
            </a:r>
          </a:p>
          <a:p>
            <a:pPr>
              <a:lnSpc>
                <a:spcPct val="150000"/>
              </a:lnSpc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01086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32B46818-3B1E-44D1-B28E-A1A24634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String Functions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A3DC78A-71DB-4235-A7F2-7A0FF5088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02278"/>
            <a:ext cx="11480800" cy="519372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dirty="0"/>
              <a:t>For string functions, you must ensure that  the character array is large enough to store the string and its terminating null character.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more data is stored in an array than its declared size </a:t>
            </a:r>
            <a:r>
              <a:rPr lang="tr-TR" dirty="0" err="1" smtClean="0"/>
              <a:t>causes</a:t>
            </a:r>
            <a:r>
              <a:rPr lang="tr-TR" dirty="0" smtClean="0"/>
              <a:t> </a:t>
            </a:r>
          </a:p>
          <a:p>
            <a:pPr lvl="2">
              <a:lnSpc>
                <a:spcPct val="120000"/>
              </a:lnSpc>
            </a:pPr>
            <a:r>
              <a:rPr lang="en-US" dirty="0" smtClean="0"/>
              <a:t>a </a:t>
            </a:r>
            <a:r>
              <a:rPr lang="en-US" dirty="0"/>
              <a:t>very dangerous condition</a:t>
            </a:r>
          </a:p>
          <a:p>
            <a:pPr lvl="1" eaLnBrk="1" hangingPunct="1">
              <a:lnSpc>
                <a:spcPct val="120000"/>
              </a:lnSpc>
              <a:defRPr/>
            </a:pPr>
            <a:endParaRPr lang="en-US" dirty="0"/>
          </a:p>
          <a:p>
            <a:pPr eaLnBrk="1" hangingPunct="1">
              <a:lnSpc>
                <a:spcPct val="120000"/>
              </a:lnSpc>
              <a:defRPr/>
            </a:pPr>
            <a:r>
              <a:rPr lang="en-US" dirty="0"/>
              <a:t>A solution is the use of safer functions: </a:t>
            </a:r>
            <a:r>
              <a:rPr lang="en-US" dirty="0" err="1"/>
              <a:t>strncpy</a:t>
            </a:r>
            <a:r>
              <a:rPr lang="en-US" dirty="0"/>
              <a:t>(), </a:t>
            </a:r>
            <a:r>
              <a:rPr lang="en-US" dirty="0" err="1"/>
              <a:t>strncat</a:t>
            </a:r>
            <a:r>
              <a:rPr lang="en-US" dirty="0"/>
              <a:t>(), </a:t>
            </a:r>
            <a:r>
              <a:rPr lang="en-US" dirty="0" err="1"/>
              <a:t>strncmp</a:t>
            </a:r>
            <a:r>
              <a:rPr lang="en-US" dirty="0"/>
              <a:t>()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strncpy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(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dest,src,n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)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dirty="0"/>
              <a:t>Copy at most 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n</a:t>
            </a:r>
            <a:r>
              <a:rPr lang="en-US" dirty="0"/>
              <a:t> characters of 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src</a:t>
            </a:r>
            <a:r>
              <a:rPr lang="en-US" dirty="0"/>
              <a:t> to 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dest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.</a:t>
            </a:r>
            <a:endParaRPr 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strncat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(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dest,src,n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)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dirty="0"/>
              <a:t>Concatenate at most 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n</a:t>
            </a:r>
            <a:r>
              <a:rPr lang="en-US" dirty="0"/>
              <a:t> characters of 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src</a:t>
            </a:r>
            <a:r>
              <a:rPr lang="en-US" dirty="0"/>
              <a:t> to 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dest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.</a:t>
            </a:r>
            <a:endParaRPr lang="en-US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strncmp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(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dest,src,n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)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en-US" dirty="0"/>
              <a:t>Compare at most 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n</a:t>
            </a:r>
            <a:r>
              <a:rPr lang="en-US" dirty="0"/>
              <a:t> characters of </a:t>
            </a:r>
            <a:r>
              <a:rPr lang="en-US" b="1" dirty="0" err="1">
                <a:solidFill>
                  <a:schemeClr val="accent2"/>
                </a:solidFill>
                <a:latin typeface="Courier New" charset="0"/>
              </a:rPr>
              <a:t>dest</a:t>
            </a:r>
            <a:r>
              <a:rPr lang="en-US" b="1" dirty="0">
                <a:solidFill>
                  <a:schemeClr val="accent2"/>
                </a:solidFill>
                <a:latin typeface="Courier New" charset="0"/>
              </a:rPr>
              <a:t>.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B03B3AB-160E-4E3D-9EB7-0161E0EA0A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08080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E8DF757B-B5AA-45C0-ADCA-5D3DE4D67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String-Conversion Functions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325F46C-5C2E-4A77-A6C1-C9369CB32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Conversion functions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In </a:t>
            </a:r>
            <a:r>
              <a:rPr lang="en-US" b="1" dirty="0"/>
              <a:t>&lt;</a:t>
            </a:r>
            <a:r>
              <a:rPr lang="en-US" b="1" dirty="0" err="1"/>
              <a:t>stdlib.h</a:t>
            </a:r>
            <a:r>
              <a:rPr lang="en-US" b="1" dirty="0"/>
              <a:t>&gt; </a:t>
            </a:r>
            <a:r>
              <a:rPr lang="en-US" dirty="0"/>
              <a:t>(general utilities library)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Convert strings of digits to integer and </a:t>
            </a:r>
            <a:r>
              <a:rPr lang="en-US" dirty="0" err="1"/>
              <a:t>floatingpoint</a:t>
            </a:r>
            <a:r>
              <a:rPr lang="en-US" dirty="0"/>
              <a:t> values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398E8B6-72DB-41B5-85C7-D36FE67E7A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97CD519-F783-4E33-9359-7625DC078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0" y="2754331"/>
            <a:ext cx="9144000" cy="341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0296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Pointer (Pointer to Pointer)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21328"/>
            <a:ext cx="11480800" cy="519372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b="1" dirty="0"/>
              <a:t>**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the pointer to store the address of another pointer</a:t>
            </a:r>
          </a:p>
          <a:p>
            <a:pPr>
              <a:lnSpc>
                <a:spcPct val="120000"/>
              </a:lnSpc>
            </a:pPr>
            <a:r>
              <a:rPr lang="en-US" dirty="0">
                <a:sym typeface="Wingdings" panose="05000000000000000000" pitchFamily="2" charset="2"/>
              </a:rPr>
              <a:t>Example: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**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doublePtr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;</a:t>
            </a:r>
            <a:endParaRPr lang="en-US" sz="1600" dirty="0">
              <a:sym typeface="Wingdings" panose="05000000000000000000" pitchFamily="2" charset="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ym typeface="Wingdings" panose="05000000000000000000" pitchFamily="2" charset="2"/>
              </a:rPr>
              <a:t>	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*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ptr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int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var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10;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ptr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&amp;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var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doublePtr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&amp;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ptr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("Value of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%d\n",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);  // prints 10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("Value of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using single pointer = %d\n", *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// prints 10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	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("Value of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using double pointer = %d\n", **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doublePtr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// prints 10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tr-TR" dirty="0">
              <a:ea typeface="ＭＳ Ｐゴシック" panose="020B0600070205080204" pitchFamily="34" charset="-128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004612" y="5224529"/>
            <a:ext cx="7837889" cy="861701"/>
            <a:chOff x="1198162" y="4818129"/>
            <a:chExt cx="7837889" cy="861701"/>
          </a:xfrm>
        </p:grpSpPr>
        <p:sp>
          <p:nvSpPr>
            <p:cNvPr id="9" name="Rectangle 8"/>
            <p:cNvSpPr/>
            <p:nvPr/>
          </p:nvSpPr>
          <p:spPr bwMode="auto">
            <a:xfrm>
              <a:off x="2083667" y="5187461"/>
              <a:ext cx="949569" cy="492369"/>
            </a:xfrm>
            <a:prstGeom prst="rect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5067191" y="5187461"/>
              <a:ext cx="949569" cy="492369"/>
            </a:xfrm>
            <a:prstGeom prst="rect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8086482" y="5187461"/>
              <a:ext cx="949569" cy="492369"/>
            </a:xfrm>
            <a:prstGeom prst="rect">
              <a:avLst/>
            </a:pr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326073" y="4818129"/>
              <a:ext cx="470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val</a:t>
              </a:r>
              <a:endParaRPr 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266485" y="4818129"/>
              <a:ext cx="4732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ptr</a:t>
              </a:r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980408" y="4818129"/>
              <a:ext cx="1156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doublePtr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370027" y="5240158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54817" y="5240158"/>
              <a:ext cx="9316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0x2000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105798" y="5248979"/>
              <a:ext cx="9316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0x2000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171293" y="5240158"/>
              <a:ext cx="9316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0x3000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127195" y="5240158"/>
              <a:ext cx="9316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0x3000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198162" y="5196252"/>
              <a:ext cx="9316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0x4000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 bwMode="auto">
            <a:xfrm>
              <a:off x="3033236" y="5187461"/>
              <a:ext cx="1975851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 bwMode="auto">
            <a:xfrm>
              <a:off x="6016760" y="5187461"/>
              <a:ext cx="1975851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44474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90EF7C21-90B9-4F90-AE1D-F6510CF48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fig08_06.c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B9C6C46-0303-4488-BFC3-66433E661E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1BFDFE4-5868-442B-89F5-D5B43636C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58862"/>
            <a:ext cx="10391888" cy="530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6801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06D04B7-D547-40D7-A9EE-7518740B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</a:t>
            </a:r>
            <a:r>
              <a:rPr lang="en-US" dirty="0" err="1"/>
              <a:t>Input/Output</a:t>
            </a:r>
            <a:r>
              <a:rPr lang="en-US" dirty="0"/>
              <a:t> Library Functions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F22740F-637C-4202-8B22-DFD29651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in </a:t>
            </a:r>
            <a:r>
              <a:rPr lang="en-US" b="1" dirty="0"/>
              <a:t>&lt;</a:t>
            </a:r>
            <a:r>
              <a:rPr lang="en-US" b="1" dirty="0" err="1"/>
              <a:t>stdio.h</a:t>
            </a:r>
            <a:r>
              <a:rPr lang="en-US" b="1" dirty="0"/>
              <a:t>&gt;</a:t>
            </a:r>
            <a:br>
              <a:rPr lang="en-US" b="1" dirty="0"/>
            </a:br>
            <a:r>
              <a:rPr lang="en-US" dirty="0"/>
              <a:t>– Used to manipulate character and string data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9B122DD-46A5-4B44-A90F-8CF684A2A8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3D5AC2A-149F-4F18-89AA-0EEA7D166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94" y="1873251"/>
            <a:ext cx="843915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3577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06D04B7-D547-40D7-A9EE-7518740B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</a:t>
            </a:r>
            <a:r>
              <a:rPr lang="en-US" dirty="0" err="1"/>
              <a:t>Input/Output</a:t>
            </a:r>
            <a:r>
              <a:rPr lang="en-US" dirty="0"/>
              <a:t> Library Functions (cont.)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9B122DD-46A5-4B44-A90F-8CF684A2A8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D9449842-0FFE-494E-B5FC-9E5DA0247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6" y="1219200"/>
            <a:ext cx="8486775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802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909F663D-E479-4A41-9CE1-744B8E01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fig08_10.c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E29E128-FCF3-4ECE-8A85-0F6579AC0A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E29E94F-8C64-43B8-BA88-3E4B09B95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62024"/>
            <a:ext cx="9586103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20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942656D2-30E5-4A89-9906-A4C6C065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fig08_10.c (cont.)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9DA84F9-21D8-4F47-BFA6-3A25BCCDFF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C66E06F-72A4-4A91-9323-72A86D8AB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58" y="1016000"/>
            <a:ext cx="10227352" cy="530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403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69BF36B2-A638-40C4-AE89-FF3C1E4D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fig08_12.c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6C8B7F8-0866-4FA7-9B32-0CD3C08D83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95F5E5DC-E894-477D-A3C5-31C00302E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68" y="933450"/>
            <a:ext cx="8774633" cy="4527550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FDCC7323-A2DF-4C42-BABF-E537AB961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959" y="5095875"/>
            <a:ext cx="735001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24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103E216-3760-4497-AB9B-8A50B095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Functions of the String-Handling Library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02FE36A-FC88-4D81-9305-9B4BE16FE7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DE9B5CD-298E-4615-8122-B4C00D022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38" y="988595"/>
            <a:ext cx="810577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5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103E216-3760-4497-AB9B-8A50B095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Functions of the String-Handling Library (cont.)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02FE36A-FC88-4D81-9305-9B4BE16FE7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580FC58B-B68D-4C5C-B711-CC802CA03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219200"/>
            <a:ext cx="81153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958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9553AEE-0DAB-47FB-90F5-A9F2A9E9B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fig08_26.c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9D0E465-0ADD-4D39-B7C6-3C246156A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685E0FF5-6089-4E52-AF2D-3EB1BCBE9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77828"/>
            <a:ext cx="8570689" cy="524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209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9553AEE-0DAB-47FB-90F5-A9F2A9E9B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fig08_26.c (cont.)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9D0E465-0ADD-4D39-B7C6-3C246156A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5C504C41-0106-409C-A993-006C8699F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" y="1219200"/>
            <a:ext cx="871537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988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7528"/>
            <a:ext cx="11480800" cy="5320722"/>
          </a:xfrm>
        </p:spPr>
        <p:txBody>
          <a:bodyPr/>
          <a:lstStyle/>
          <a:p>
            <a:r>
              <a:rPr lang="tr-TR" sz="2800" dirty="0"/>
              <a:t>Write a program that reads a string from the user.</a:t>
            </a:r>
          </a:p>
          <a:p>
            <a:pPr lvl="4"/>
            <a:endParaRPr lang="tr-TR" sz="1800" dirty="0" smtClean="0"/>
          </a:p>
          <a:p>
            <a:r>
              <a:rPr lang="tr-TR" sz="2800" dirty="0" err="1" smtClean="0"/>
              <a:t>Your</a:t>
            </a:r>
            <a:r>
              <a:rPr lang="tr-TR" sz="2800" dirty="0" smtClean="0"/>
              <a:t> </a:t>
            </a:r>
            <a:r>
              <a:rPr lang="tr-TR" sz="2800" dirty="0"/>
              <a:t>program will detect whether the input string is a palindrome or not. </a:t>
            </a:r>
          </a:p>
          <a:p>
            <a:pPr lvl="4"/>
            <a:endParaRPr lang="tr-TR" sz="1800" dirty="0" smtClean="0"/>
          </a:p>
          <a:p>
            <a:r>
              <a:rPr lang="tr-TR" sz="2800" dirty="0" smtClean="0"/>
              <a:t>A </a:t>
            </a:r>
            <a:r>
              <a:rPr lang="tr-TR" sz="2800" dirty="0"/>
              <a:t>palindrome is a character sequence which is </a:t>
            </a:r>
            <a:r>
              <a:rPr lang="tr-TR" sz="2800" dirty="0" err="1" smtClean="0"/>
              <a:t>symmetric</a:t>
            </a:r>
            <a:r>
              <a:rPr lang="tr-TR" sz="2800" dirty="0" smtClean="0"/>
              <a:t>. </a:t>
            </a:r>
            <a:r>
              <a:rPr lang="tr-TR" sz="2800" dirty="0" err="1" smtClean="0"/>
              <a:t>For</a:t>
            </a:r>
            <a:r>
              <a:rPr lang="tr-TR" sz="2800" dirty="0" smtClean="0"/>
              <a:t> </a:t>
            </a:r>
            <a:r>
              <a:rPr lang="tr-TR" sz="2800" dirty="0" err="1" smtClean="0"/>
              <a:t>example</a:t>
            </a:r>
            <a:r>
              <a:rPr lang="tr-TR" sz="2800" dirty="0" smtClean="0"/>
              <a:t>:</a:t>
            </a:r>
            <a:endParaRPr lang="tr-TR" sz="2800" dirty="0"/>
          </a:p>
          <a:p>
            <a:pPr lvl="1"/>
            <a:r>
              <a:rPr lang="tr-TR" sz="2600" dirty="0"/>
              <a:t>abcddcba</a:t>
            </a:r>
          </a:p>
          <a:p>
            <a:pPr lvl="1"/>
            <a:r>
              <a:rPr lang="tr-TR" sz="2600" dirty="0"/>
              <a:t>aaaappaaaa</a:t>
            </a:r>
          </a:p>
          <a:p>
            <a:pPr lvl="1"/>
            <a:r>
              <a:rPr lang="tr-TR" sz="2600" dirty="0"/>
              <a:t>xyzyx</a:t>
            </a:r>
          </a:p>
          <a:p>
            <a:pPr lvl="1"/>
            <a:r>
              <a:rPr lang="tr-TR" sz="2600" dirty="0"/>
              <a:t>ac </a:t>
            </a:r>
            <a:r>
              <a:rPr lang="tr-TR" sz="2600" dirty="0" err="1"/>
              <a:t>bb</a:t>
            </a:r>
            <a:r>
              <a:rPr lang="tr-TR" sz="2600" dirty="0"/>
              <a:t> </a:t>
            </a:r>
            <a:r>
              <a:rPr lang="tr-TR" sz="2600" dirty="0" err="1" smtClean="0"/>
              <a:t>ca</a:t>
            </a:r>
            <a:endParaRPr lang="tr-TR" sz="2600" dirty="0" smtClean="0"/>
          </a:p>
          <a:p>
            <a:pPr lvl="1"/>
            <a:r>
              <a:rPr lang="tr-TR" sz="2600" dirty="0" smtClean="0"/>
              <a:t>ey edip </a:t>
            </a:r>
            <a:r>
              <a:rPr lang="tr-TR" sz="2600" dirty="0" err="1" smtClean="0"/>
              <a:t>adanada</a:t>
            </a:r>
            <a:r>
              <a:rPr lang="tr-TR" sz="2600" dirty="0" smtClean="0"/>
              <a:t> pide ye</a:t>
            </a:r>
            <a:r>
              <a:rPr lang="tr-TR" sz="2600" dirty="0"/>
              <a:t/>
            </a:r>
            <a:br>
              <a:rPr lang="tr-TR" sz="2600" dirty="0"/>
            </a:br>
            <a:endParaRPr lang="tr-TR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33559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Example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tr-TR" dirty="0"/>
              <a:t>Write a program which compresses the entered character sequence with the Run Length Encoding (RLE) algorithm. </a:t>
            </a:r>
          </a:p>
          <a:p>
            <a:pPr>
              <a:lnSpc>
                <a:spcPct val="120000"/>
              </a:lnSpc>
            </a:pPr>
            <a:endParaRPr lang="tr-TR" dirty="0"/>
          </a:p>
          <a:p>
            <a:pPr>
              <a:lnSpc>
                <a:spcPct val="120000"/>
              </a:lnSpc>
            </a:pPr>
            <a:r>
              <a:rPr lang="tr-TR" dirty="0"/>
              <a:t>RLE algorithm: It replaces sequences of the same data values  (</a:t>
            </a:r>
            <a:r>
              <a:rPr lang="tr-TR" dirty="0" err="1" smtClean="0"/>
              <a:t>e.g</a:t>
            </a:r>
            <a:r>
              <a:rPr lang="tr-TR" dirty="0" smtClean="0"/>
              <a:t>.: </a:t>
            </a:r>
            <a:r>
              <a:rPr lang="tr-TR" dirty="0"/>
              <a:t>characters, </a:t>
            </a:r>
            <a:r>
              <a:rPr lang="tr-TR" dirty="0" err="1" smtClean="0"/>
              <a:t>integers</a:t>
            </a:r>
            <a:r>
              <a:rPr lang="tr-TR" dirty="0" smtClean="0"/>
              <a:t>, </a:t>
            </a:r>
            <a:r>
              <a:rPr lang="tr-TR" dirty="0" err="1" smtClean="0"/>
              <a:t>etc</a:t>
            </a:r>
            <a:r>
              <a:rPr lang="tr-TR" dirty="0" smtClean="0"/>
              <a:t>.) </a:t>
            </a:r>
            <a:r>
              <a:rPr lang="tr-TR" dirty="0"/>
              <a:t>by a count number and a single </a:t>
            </a:r>
            <a:r>
              <a:rPr lang="tr-TR" dirty="0" err="1"/>
              <a:t>value</a:t>
            </a:r>
            <a:r>
              <a:rPr lang="tr-TR" dirty="0"/>
              <a:t>.</a:t>
            </a:r>
            <a:endParaRPr lang="en-US" dirty="0"/>
          </a:p>
          <a:p>
            <a:pPr>
              <a:lnSpc>
                <a:spcPct val="120000"/>
              </a:lnSpc>
            </a:pPr>
            <a:endParaRPr lang="tr-TR" dirty="0"/>
          </a:p>
          <a:p>
            <a:pPr>
              <a:lnSpc>
                <a:spcPct val="120000"/>
              </a:lnSpc>
            </a:pPr>
            <a:r>
              <a:rPr lang="tr-TR" b="1" dirty="0"/>
              <a:t>EXAMPLE RUN:</a:t>
            </a:r>
            <a:r>
              <a:rPr lang="tr-TR" dirty="0"/>
              <a:t/>
            </a:r>
            <a:br>
              <a:rPr lang="tr-TR" dirty="0"/>
            </a:br>
            <a:r>
              <a:rPr lang="tr-TR" b="1" dirty="0"/>
              <a:t>INPUT:</a:t>
            </a:r>
            <a:r>
              <a:rPr lang="tr-TR" dirty="0"/>
              <a:t/>
            </a:r>
            <a:br>
              <a:rPr lang="tr-TR" dirty="0"/>
            </a:br>
            <a:r>
              <a:rPr lang="tr-TR" dirty="0"/>
              <a:t>aaaXXyyyyZ+++bb+++++77</a:t>
            </a:r>
            <a:br>
              <a:rPr lang="tr-TR" dirty="0"/>
            </a:br>
            <a:r>
              <a:rPr lang="tr-TR" b="1" dirty="0"/>
              <a:t>OUTPUT:</a:t>
            </a:r>
            <a:r>
              <a:rPr lang="tr-TR" dirty="0"/>
              <a:t/>
            </a:r>
            <a:br>
              <a:rPr lang="tr-TR" dirty="0"/>
            </a:br>
            <a:r>
              <a:rPr lang="tr-TR" dirty="0"/>
              <a:t>3a2X4y1Z3+2b5+27</a:t>
            </a:r>
          </a:p>
          <a:p>
            <a:pPr marL="0" indent="0">
              <a:lnSpc>
                <a:spcPct val="120000"/>
              </a:lnSpc>
              <a:buNone/>
            </a:pP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A81F180-46E2-4A0E-BB74-502DD5A18440}" type="slidenum">
              <a:rPr lang="en-US" altLang="tr-TR" smtClean="0"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tr-T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66376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d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1579</Words>
  <Application>Microsoft Office PowerPoint</Application>
  <PresentationFormat>Widescreen</PresentationFormat>
  <Paragraphs>271</Paragraphs>
  <Slides>33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ＭＳ Ｐゴシック</vt:lpstr>
      <vt:lpstr>Arial</vt:lpstr>
      <vt:lpstr>Calibri</vt:lpstr>
      <vt:lpstr>Courier New</vt:lpstr>
      <vt:lpstr>Garamond</vt:lpstr>
      <vt:lpstr>Lucida Console</vt:lpstr>
      <vt:lpstr>Tahoma</vt:lpstr>
      <vt:lpstr>Wingdings</vt:lpstr>
      <vt:lpstr>Edge</vt:lpstr>
      <vt:lpstr>1_Edge</vt:lpstr>
      <vt:lpstr>CSE1142 – Characters and Strings in C</vt:lpstr>
      <vt:lpstr>Agenda</vt:lpstr>
      <vt:lpstr>Characters</vt:lpstr>
      <vt:lpstr>What is a String?</vt:lpstr>
      <vt:lpstr>What You Should Keep in Mind</vt:lpstr>
      <vt:lpstr>Strings</vt:lpstr>
      <vt:lpstr>Initializing Strings</vt:lpstr>
      <vt:lpstr>Inputting Strings</vt:lpstr>
      <vt:lpstr>Character-Handling Library</vt:lpstr>
      <vt:lpstr>Character-Handling Library (cont.)</vt:lpstr>
      <vt:lpstr>Character-Handling Library (cont.)</vt:lpstr>
      <vt:lpstr>String Functions</vt:lpstr>
      <vt:lpstr>String Lenght: strlen()</vt:lpstr>
      <vt:lpstr>String Copy: strcpy() </vt:lpstr>
      <vt:lpstr>Example - strcpy()</vt:lpstr>
      <vt:lpstr>String Concatenation: strcat()</vt:lpstr>
      <vt:lpstr>Example - strcat()</vt:lpstr>
      <vt:lpstr>String Compare: strcmp()</vt:lpstr>
      <vt:lpstr>Variants of String Functions</vt:lpstr>
      <vt:lpstr>String-Conversion Functions</vt:lpstr>
      <vt:lpstr>Double Pointer (Pointer to Pointer) </vt:lpstr>
      <vt:lpstr>Example: fig08_06.c</vt:lpstr>
      <vt:lpstr>Standard Input/Output Library Functions</vt:lpstr>
      <vt:lpstr>Standard Input/Output Library Functions (cont.)</vt:lpstr>
      <vt:lpstr>Example: fig08_10.c</vt:lpstr>
      <vt:lpstr>Example: fig08_10.c (cont.)</vt:lpstr>
      <vt:lpstr>Example: fig08_12.c</vt:lpstr>
      <vt:lpstr>Search Functions of the String-Handling Library</vt:lpstr>
      <vt:lpstr>Search Functions of the String-Handling Library (cont.)</vt:lpstr>
      <vt:lpstr>Example: fig08_26.c</vt:lpstr>
      <vt:lpstr>Example: fig08_26.c (cont.)</vt:lpstr>
      <vt:lpstr>Example - 1</vt:lpstr>
      <vt:lpstr>Example - 2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Strings</dc:title>
  <dc:creator/>
  <cp:lastModifiedBy/>
  <cp:revision>126</cp:revision>
  <dcterms:created xsi:type="dcterms:W3CDTF">2017-11-02T19:26:23Z</dcterms:created>
  <dcterms:modified xsi:type="dcterms:W3CDTF">2020-05-10T06:52:42Z</dcterms:modified>
  <dc:description/>
</cp:coreProperties>
</file>