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828" r:id="rId2"/>
  </p:sldMasterIdLst>
  <p:notesMasterIdLst>
    <p:notesMasterId r:id="rId59"/>
  </p:notesMasterIdLst>
  <p:handoutMasterIdLst>
    <p:handoutMasterId r:id="rId60"/>
  </p:handoutMasterIdLst>
  <p:sldIdLst>
    <p:sldId id="323" r:id="rId3"/>
    <p:sldId id="589" r:id="rId4"/>
    <p:sldId id="577" r:id="rId5"/>
    <p:sldId id="335" r:id="rId6"/>
    <p:sldId id="591" r:id="rId7"/>
    <p:sldId id="611" r:id="rId8"/>
    <p:sldId id="612" r:id="rId9"/>
    <p:sldId id="623" r:id="rId10"/>
    <p:sldId id="592" r:id="rId11"/>
    <p:sldId id="593" r:id="rId12"/>
    <p:sldId id="613" r:id="rId13"/>
    <p:sldId id="614" r:id="rId14"/>
    <p:sldId id="624" r:id="rId15"/>
    <p:sldId id="590" r:id="rId16"/>
    <p:sldId id="595" r:id="rId17"/>
    <p:sldId id="615" r:id="rId18"/>
    <p:sldId id="616" r:id="rId19"/>
    <p:sldId id="625" r:id="rId20"/>
    <p:sldId id="637" r:id="rId21"/>
    <p:sldId id="596" r:id="rId22"/>
    <p:sldId id="597" r:id="rId23"/>
    <p:sldId id="617" r:id="rId24"/>
    <p:sldId id="618" r:id="rId25"/>
    <p:sldId id="626" r:id="rId26"/>
    <p:sldId id="598" r:id="rId27"/>
    <p:sldId id="599" r:id="rId28"/>
    <p:sldId id="619" r:id="rId29"/>
    <p:sldId id="627" r:id="rId30"/>
    <p:sldId id="594" r:id="rId31"/>
    <p:sldId id="600" r:id="rId32"/>
    <p:sldId id="628" r:id="rId33"/>
    <p:sldId id="601" r:id="rId34"/>
    <p:sldId id="622" r:id="rId35"/>
    <p:sldId id="602" r:id="rId36"/>
    <p:sldId id="629" r:id="rId37"/>
    <p:sldId id="340" r:id="rId38"/>
    <p:sldId id="553" r:id="rId39"/>
    <p:sldId id="620" r:id="rId40"/>
    <p:sldId id="621" r:id="rId41"/>
    <p:sldId id="630" r:id="rId42"/>
    <p:sldId id="542" r:id="rId43"/>
    <p:sldId id="520" r:id="rId44"/>
    <p:sldId id="562" r:id="rId45"/>
    <p:sldId id="631" r:id="rId46"/>
    <p:sldId id="582" r:id="rId47"/>
    <p:sldId id="584" r:id="rId48"/>
    <p:sldId id="396" r:id="rId49"/>
    <p:sldId id="632" r:id="rId50"/>
    <p:sldId id="603" r:id="rId51"/>
    <p:sldId id="604" r:id="rId52"/>
    <p:sldId id="605" r:id="rId53"/>
    <p:sldId id="607" r:id="rId54"/>
    <p:sldId id="608" r:id="rId55"/>
    <p:sldId id="609" r:id="rId56"/>
    <p:sldId id="634" r:id="rId57"/>
    <p:sldId id="610" r:id="rId58"/>
  </p:sldIdLst>
  <p:sldSz cx="9144000" cy="6858000" type="screen4x3"/>
  <p:notesSz cx="6858000" cy="9144000"/>
  <p:custDataLst>
    <p:tags r:id="rId6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29" autoAdjust="0"/>
  </p:normalViewPr>
  <p:slideViewPr>
    <p:cSldViewPr>
      <p:cViewPr varScale="1">
        <p:scale>
          <a:sx n="105" d="100"/>
          <a:sy n="105" d="100"/>
        </p:scale>
        <p:origin x="1014" y="114"/>
      </p:cViewPr>
      <p:guideLst>
        <p:guide orient="horz" pos="57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2856"/>
    </p:cViewPr>
  </p:sorterViewPr>
  <p:notesViewPr>
    <p:cSldViewPr>
      <p:cViewPr varScale="1">
        <p:scale>
          <a:sx n="43" d="100"/>
          <a:sy n="43" d="100"/>
        </p:scale>
        <p:origin x="-1422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notesMaster" Target="notesMasters/notesMaster1.xml"/><Relationship Id="rId60" Type="http://schemas.openxmlformats.org/officeDocument/2006/relationships/handoutMaster" Target="handoutMasters/handoutMaster1.xml"/><Relationship Id="rId61" Type="http://schemas.openxmlformats.org/officeDocument/2006/relationships/tags" Target="tags/tag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39.w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97905D8-0DE2-4077-9128-61FE8C0199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00D68C3-C58D-46EE-8CB0-A9388F4DDBD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28642446-55A1-4224-9FBA-55B563635C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9B933BCD-C7BD-4FD0-B351-2381E869FF5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3829968-633A-42A6-BBF4-BEA6CBFD29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pPr>
              <a:defRPr/>
            </a:pPr>
            <a:fld id="{D95F3B10-7D00-48AF-80AA-DCDC3AE45F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0425D4-9F2E-4B04-95D7-548B1D47E4CE}" type="slidenum">
              <a:rPr lang="en-US" altLang="en-US" sz="1000" smtClean="0"/>
              <a:pPr/>
              <a:t>1</a:t>
            </a:fld>
            <a:endParaRPr lang="en-US" altLang="en-US" sz="1000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EAD5FD-AF2C-4BAD-9A2E-1FD0C78DF4F7}" type="slidenum">
              <a:rPr lang="en-US" altLang="en-US" sz="1000" smtClean="0"/>
              <a:pPr/>
              <a:t>3</a:t>
            </a:fld>
            <a:endParaRPr lang="en-US" altLang="en-US" sz="1000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BE946A-DF7D-4DEC-A81F-77345B0CCA83}" type="slidenum">
              <a:rPr lang="en-US" altLang="en-US" sz="1000" smtClean="0"/>
              <a:pPr/>
              <a:t>4</a:t>
            </a:fld>
            <a:endParaRPr lang="en-US" altLang="en-US" sz="1000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4BF6EAE-66A3-40D7-835A-06391DA25D86}" type="slidenum">
              <a:rPr lang="en-US" altLang="en-US" sz="1000" smtClean="0"/>
              <a:pPr/>
              <a:t>5</a:t>
            </a:fld>
            <a:endParaRPr lang="en-US" altLang="en-US" sz="1000" smtClean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4339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46FE64-4827-405F-8311-4F8C806A8140}" type="slidenum">
              <a:rPr lang="en-US" altLang="en-US" sz="1000" smtClean="0"/>
              <a:pPr/>
              <a:t>6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ACB0300-ABA5-4BF5-957D-D9AE0EE2798D}" type="slidenum">
              <a:rPr lang="en-US" altLang="en-US" sz="1000" smtClean="0"/>
              <a:pPr/>
              <a:t>9</a:t>
            </a:fld>
            <a:endParaRPr lang="en-US" altLang="en-US" sz="1000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B1D3D9A-0525-45DE-AFE1-9D49FBBF3055}" type="slidenum">
              <a:rPr lang="en-US" altLang="en-US" sz="1000" smtClean="0"/>
              <a:pPr/>
              <a:t>10</a:t>
            </a:fld>
            <a:endParaRPr lang="en-US" altLang="en-US" sz="1000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D437DB-8F6F-4B04-9A87-D08E9B39DC30}" type="slidenum">
              <a:rPr lang="en-US" altLang="en-US" sz="1000" smtClean="0"/>
              <a:pPr/>
              <a:t>14</a:t>
            </a:fld>
            <a:endParaRPr lang="en-US" altLang="en-US" sz="100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1DE498-107D-4E58-9726-4A7D4344AAB4}" type="slidenum">
              <a:rPr lang="en-US" altLang="en-US" sz="1000" smtClean="0"/>
              <a:pPr/>
              <a:t>15</a:t>
            </a:fld>
            <a:endParaRPr lang="en-US" altLang="en-US" sz="100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867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smtClean="0"/>
              <a:t>Burada kaldık!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13FAA3B-F4DD-4C77-A337-DA7B091AB0DA}" type="slidenum">
              <a:rPr lang="en-US" altLang="en-US" sz="1000" smtClean="0"/>
              <a:pPr/>
              <a:t>17</a:t>
            </a:fld>
            <a:endParaRPr lang="en-US" altLang="en-US" sz="10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E910A7-99A2-4CB5-8C15-1C73F3754A08}" type="slidenum">
              <a:rPr lang="en-US" altLang="en-US" sz="1000" smtClean="0"/>
              <a:pPr/>
              <a:t>20</a:t>
            </a:fld>
            <a:endParaRPr lang="en-US" altLang="en-US" sz="100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2996F2-5B3E-4AB3-A023-6284FD8CAEC5}" type="slidenum">
              <a:rPr lang="en-US" altLang="en-US" sz="1000" smtClean="0"/>
              <a:pPr/>
              <a:t>21</a:t>
            </a:fld>
            <a:endParaRPr lang="en-US" altLang="en-US" sz="1000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DD8D94-4B24-48E2-A6C2-824A7BFB6295}" type="slidenum">
              <a:rPr lang="en-US" altLang="en-US" sz="1000" smtClean="0"/>
              <a:pPr/>
              <a:t>25</a:t>
            </a:fld>
            <a:endParaRPr lang="en-US" altLang="en-US" sz="1000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3BF5075-EF42-4565-8A0A-10D1E9665EAA}" type="slidenum">
              <a:rPr lang="en-US" altLang="en-US" sz="1000" smtClean="0"/>
              <a:pPr/>
              <a:t>26</a:t>
            </a:fld>
            <a:endParaRPr lang="en-US" altLang="en-US" sz="100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C2048D-51C6-4192-8780-B919C95BB02A}" type="slidenum">
              <a:rPr lang="en-US" altLang="en-US" sz="1000" smtClean="0"/>
              <a:pPr/>
              <a:t>29</a:t>
            </a:fld>
            <a:endParaRPr lang="en-US" altLang="en-US" sz="100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A511DC0-5B5B-41F0-A590-57BCDCCB39EB}" type="slidenum">
              <a:rPr lang="en-US" altLang="en-US" sz="1000" smtClean="0"/>
              <a:pPr/>
              <a:t>30</a:t>
            </a:fld>
            <a:endParaRPr lang="en-US" altLang="en-US" sz="100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85F5553-8CBE-4E30-BAC1-AA7EDB878C8A}" type="slidenum">
              <a:rPr lang="en-US" altLang="en-US" sz="1000" smtClean="0"/>
              <a:pPr/>
              <a:t>32</a:t>
            </a:fld>
            <a:endParaRPr lang="en-US" altLang="en-US" sz="1000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302EFEB-8998-4C8B-B0A3-2480BE189DAF}" type="slidenum">
              <a:rPr lang="en-US" altLang="en-US" sz="1000" smtClean="0"/>
              <a:pPr/>
              <a:t>34</a:t>
            </a:fld>
            <a:endParaRPr lang="en-US" altLang="en-US" sz="1000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2387CC-BD42-4D85-AC33-283F86468CAD}" type="slidenum">
              <a:rPr lang="en-US" altLang="en-US" sz="1000" smtClean="0"/>
              <a:pPr/>
              <a:t>36</a:t>
            </a:fld>
            <a:endParaRPr lang="en-US" altLang="en-US" sz="1000" smtClean="0"/>
          </a:p>
        </p:txBody>
      </p:sp>
      <p:sp>
        <p:nvSpPr>
          <p:cNvPr id="5120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1204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8398F74-C252-4CB0-A789-BCE5EAC0EBCA}" type="slidenum">
              <a:rPr lang="en-US" altLang="en-US" sz="1000" smtClean="0"/>
              <a:pPr/>
              <a:t>37</a:t>
            </a:fld>
            <a:endParaRPr lang="en-US" altLang="en-US" sz="1000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A7F17E-DD4D-4D96-87BC-99FC06BEB8A7}" type="slidenum">
              <a:rPr lang="en-US" altLang="en-US" sz="1000" smtClean="0"/>
              <a:pPr/>
              <a:t>41</a:t>
            </a:fld>
            <a:endParaRPr lang="en-US" altLang="en-US" sz="100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6D2C4F3-2BD0-48CA-B19A-5B28ABF114D7}" type="slidenum">
              <a:rPr lang="en-US" altLang="en-US" sz="1000" smtClean="0"/>
              <a:pPr/>
              <a:t>42</a:t>
            </a:fld>
            <a:endParaRPr lang="en-US" altLang="en-US" sz="1000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4DBA79-0E65-47DD-8F39-0F3E4754DE68}" type="slidenum">
              <a:rPr lang="en-US" altLang="en-US" sz="1000" smtClean="0"/>
              <a:pPr/>
              <a:t>43</a:t>
            </a:fld>
            <a:endParaRPr lang="en-US" altLang="en-US" sz="100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DC503BB-3FFD-418A-8139-80E01DF7E653}" type="slidenum">
              <a:rPr lang="en-US" altLang="en-US" sz="1000" smtClean="0"/>
              <a:pPr/>
              <a:t>45</a:t>
            </a:fld>
            <a:endParaRPr lang="en-US" altLang="en-US" sz="1000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419B15-A71C-46F3-A7A2-108A1DA5AA6B}" type="slidenum">
              <a:rPr lang="en-US" altLang="en-US" sz="1000" smtClean="0"/>
              <a:pPr/>
              <a:t>46</a:t>
            </a:fld>
            <a:endParaRPr lang="en-US" altLang="en-US" sz="100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C06F87E-3B04-4B62-A9AA-2077FA59FC72}" type="slidenum">
              <a:rPr lang="en-US" altLang="en-US" sz="1000" smtClean="0"/>
              <a:pPr/>
              <a:t>47</a:t>
            </a:fld>
            <a:endParaRPr lang="en-US" altLang="en-US" sz="100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2B77037-B884-480F-822A-44DE860846BE}" type="slidenum">
              <a:rPr lang="en-US" altLang="en-US" sz="1000" smtClean="0"/>
              <a:pPr/>
              <a:t>51</a:t>
            </a:fld>
            <a:endParaRPr lang="en-US" altLang="en-US" sz="1000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37255-AF1D-4BA7-BEFE-43C67D36D195}" type="slidenum">
              <a:rPr lang="en-US" altLang="en-US" sz="1000" smtClean="0"/>
              <a:pPr/>
              <a:t>52</a:t>
            </a:fld>
            <a:endParaRPr lang="en-US" altLang="en-US" sz="1000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75C94E6-A87B-4901-BF7F-BB6A8A5C4D02}" type="slidenum">
              <a:rPr lang="en-US" altLang="en-US" sz="1000" smtClean="0"/>
              <a:pPr/>
              <a:t>53</a:t>
            </a:fld>
            <a:endParaRPr lang="en-US" altLang="en-US" sz="1000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EF680A-1F44-4996-92A1-86D8D38285FE}" type="slidenum">
              <a:rPr lang="en-US" altLang="en-US" sz="1000" smtClean="0"/>
              <a:pPr/>
              <a:t>54</a:t>
            </a:fld>
            <a:endParaRPr lang="en-US" altLang="en-US" sz="1000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3510B2-A942-4698-AA67-23356BE74F99}" type="slidenum">
              <a:rPr lang="en-US" altLang="en-US" sz="1000" smtClean="0"/>
              <a:pPr/>
              <a:t>56</a:t>
            </a:fld>
            <a:endParaRPr lang="en-US" altLang="en-US" sz="1000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AED1700B-19CD-421F-AA41-D324B4BEB16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6" name="Group 30"/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00E33992-256E-48B0-922D-C5757D0BCB8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8" name="Group 9"/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/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5"/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"/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7"/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Freeform 8"/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0EF46FAB-DDFF-4693-9BAC-0394165775EE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" name="Group 29"/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/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2"/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3"/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4"/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5"/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6"/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7"/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8"/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9"/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0"/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1"/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2"/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3"/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4"/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5"/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6"/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7"/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8"/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CE281108-0CCF-448F-B8CF-31059FF85D5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8F258AA5-F02C-4B48-85FB-D3779BDA9D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Liang, Introduction to Java Programming, Ninth Edition, (c) 2013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DCE2C931-2D80-4C8F-B55E-D808985B8D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B7597-E789-4268-9B8E-B4BB72DAFD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774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2CA83-7F73-4503-AC42-483A367586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9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94A84-A039-4D8F-9F71-8A34832FD4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02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3B0AA-B953-491A-817A-2D5EDEC618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0178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1B76D-DDD2-4ACE-A54C-7505384FCF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84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9E969-DC17-4942-B9D4-D56BF660F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141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63BDC2-522A-4746-8F72-2F8357E845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2952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0E9A3-5829-4BD6-B66B-3BE589884E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63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80FEC-BF12-4E2D-A8AB-5FB04ABA4E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155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713C2-7939-4AA0-8BFC-E2459AF081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217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8C87B-8C48-47F9-9ACE-EE6DA5ACDA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1919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0" y="114300"/>
            <a:ext cx="9142413" cy="6742113"/>
            <a:chOff x="0" y="72"/>
            <a:chExt cx="5759" cy="4247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FEFADBD1-C0FF-4C39-8932-06777B8A917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112"/>
              <a:ext cx="5759" cy="2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6" name="Group 30"/>
            <p:cNvGrpSpPr>
              <a:grpSpLocks/>
            </p:cNvGrpSpPr>
            <p:nvPr/>
          </p:nvGrpSpPr>
          <p:grpSpPr bwMode="auto">
            <a:xfrm>
              <a:off x="0" y="72"/>
              <a:ext cx="5759" cy="2040"/>
              <a:chOff x="0" y="72"/>
              <a:chExt cx="5759" cy="2040"/>
            </a:xfrm>
          </p:grpSpPr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1FEBF5B-FE12-4170-AA1A-005A797C2A6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0" y="1872"/>
                <a:ext cx="5759" cy="240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8" name="Group 9"/>
              <p:cNvGrpSpPr>
                <a:grpSpLocks/>
              </p:cNvGrpSpPr>
              <p:nvPr/>
            </p:nvGrpSpPr>
            <p:grpSpPr bwMode="auto">
              <a:xfrm>
                <a:off x="2289" y="72"/>
                <a:ext cx="1440" cy="1984"/>
                <a:chOff x="2289" y="72"/>
                <a:chExt cx="1440" cy="1984"/>
              </a:xfrm>
            </p:grpSpPr>
            <p:sp>
              <p:nvSpPr>
                <p:cNvPr id="29" name="Freeform 4"/>
                <p:cNvSpPr>
                  <a:spLocks/>
                </p:cNvSpPr>
                <p:nvPr/>
              </p:nvSpPr>
              <p:spPr bwMode="ltGray">
                <a:xfrm>
                  <a:off x="2289" y="127"/>
                  <a:ext cx="1440" cy="1770"/>
                </a:xfrm>
                <a:custGeom>
                  <a:avLst/>
                  <a:gdLst>
                    <a:gd name="T0" fmla="*/ 901 w 1440"/>
                    <a:gd name="T1" fmla="*/ 33 h 1770"/>
                    <a:gd name="T2" fmla="*/ 1066 w 1440"/>
                    <a:gd name="T3" fmla="*/ 129 h 1770"/>
                    <a:gd name="T4" fmla="*/ 1207 w 1440"/>
                    <a:gd name="T5" fmla="*/ 256 h 1770"/>
                    <a:gd name="T6" fmla="*/ 1316 w 1440"/>
                    <a:gd name="T7" fmla="*/ 410 h 1770"/>
                    <a:gd name="T8" fmla="*/ 1394 w 1440"/>
                    <a:gd name="T9" fmla="*/ 581 h 1770"/>
                    <a:gd name="T10" fmla="*/ 1435 w 1440"/>
                    <a:gd name="T11" fmla="*/ 766 h 1770"/>
                    <a:gd name="T12" fmla="*/ 1435 w 1440"/>
                    <a:gd name="T13" fmla="*/ 958 h 1770"/>
                    <a:gd name="T14" fmla="*/ 1394 w 1440"/>
                    <a:gd name="T15" fmla="*/ 1143 h 1770"/>
                    <a:gd name="T16" fmla="*/ 1316 w 1440"/>
                    <a:gd name="T17" fmla="*/ 1314 h 1770"/>
                    <a:gd name="T18" fmla="*/ 1207 w 1440"/>
                    <a:gd name="T19" fmla="*/ 1468 h 1770"/>
                    <a:gd name="T20" fmla="*/ 1066 w 1440"/>
                    <a:gd name="T21" fmla="*/ 1597 h 1770"/>
                    <a:gd name="T22" fmla="*/ 901 w 1440"/>
                    <a:gd name="T23" fmla="*/ 1691 h 1770"/>
                    <a:gd name="T24" fmla="*/ 721 w 1440"/>
                    <a:gd name="T25" fmla="*/ 1749 h 1770"/>
                    <a:gd name="T26" fmla="*/ 533 w 1440"/>
                    <a:gd name="T27" fmla="*/ 1769 h 1770"/>
                    <a:gd name="T28" fmla="*/ 344 w 1440"/>
                    <a:gd name="T29" fmla="*/ 1749 h 1770"/>
                    <a:gd name="T30" fmla="*/ 165 w 1440"/>
                    <a:gd name="T31" fmla="*/ 1691 h 1770"/>
                    <a:gd name="T32" fmla="*/ 0 w 1440"/>
                    <a:gd name="T33" fmla="*/ 1597 h 1770"/>
                    <a:gd name="T34" fmla="*/ 125 w 1440"/>
                    <a:gd name="T35" fmla="*/ 1571 h 1770"/>
                    <a:gd name="T36" fmla="*/ 281 w 1440"/>
                    <a:gd name="T37" fmla="*/ 1640 h 1770"/>
                    <a:gd name="T38" fmla="*/ 446 w 1440"/>
                    <a:gd name="T39" fmla="*/ 1675 h 1770"/>
                    <a:gd name="T40" fmla="*/ 618 w 1440"/>
                    <a:gd name="T41" fmla="*/ 1675 h 1770"/>
                    <a:gd name="T42" fmla="*/ 785 w 1440"/>
                    <a:gd name="T43" fmla="*/ 1640 h 1770"/>
                    <a:gd name="T44" fmla="*/ 941 w 1440"/>
                    <a:gd name="T45" fmla="*/ 1571 h 1770"/>
                    <a:gd name="T46" fmla="*/ 1080 w 1440"/>
                    <a:gd name="T47" fmla="*/ 1470 h 1770"/>
                    <a:gd name="T48" fmla="*/ 1194 w 1440"/>
                    <a:gd name="T49" fmla="*/ 1343 h 1770"/>
                    <a:gd name="T50" fmla="*/ 1281 w 1440"/>
                    <a:gd name="T51" fmla="*/ 1194 h 1770"/>
                    <a:gd name="T52" fmla="*/ 1332 w 1440"/>
                    <a:gd name="T53" fmla="*/ 1032 h 1770"/>
                    <a:gd name="T54" fmla="*/ 1350 w 1440"/>
                    <a:gd name="T55" fmla="*/ 862 h 1770"/>
                    <a:gd name="T56" fmla="*/ 1332 w 1440"/>
                    <a:gd name="T57" fmla="*/ 691 h 1770"/>
                    <a:gd name="T58" fmla="*/ 1281 w 1440"/>
                    <a:gd name="T59" fmla="*/ 530 h 1770"/>
                    <a:gd name="T60" fmla="*/ 1194 w 1440"/>
                    <a:gd name="T61" fmla="*/ 381 h 1770"/>
                    <a:gd name="T62" fmla="*/ 1080 w 1440"/>
                    <a:gd name="T63" fmla="*/ 254 h 1770"/>
                    <a:gd name="T64" fmla="*/ 941 w 1440"/>
                    <a:gd name="T65" fmla="*/ 154 h 1770"/>
                    <a:gd name="T66" fmla="*/ 785 w 1440"/>
                    <a:gd name="T67" fmla="*/ 85 h 1770"/>
                    <a:gd name="T68" fmla="*/ 812 w 1440"/>
                    <a:gd name="T69" fmla="*/ 0 h 1770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440" h="1770">
                      <a:moveTo>
                        <a:pt x="812" y="0"/>
                      </a:moveTo>
                      <a:lnTo>
                        <a:pt x="901" y="33"/>
                      </a:lnTo>
                      <a:lnTo>
                        <a:pt x="986" y="78"/>
                      </a:lnTo>
                      <a:lnTo>
                        <a:pt x="1066" y="129"/>
                      </a:lnTo>
                      <a:lnTo>
                        <a:pt x="1140" y="187"/>
                      </a:lnTo>
                      <a:lnTo>
                        <a:pt x="1207" y="256"/>
                      </a:lnTo>
                      <a:lnTo>
                        <a:pt x="1265" y="330"/>
                      </a:lnTo>
                      <a:lnTo>
                        <a:pt x="1316" y="410"/>
                      </a:lnTo>
                      <a:lnTo>
                        <a:pt x="1361" y="492"/>
                      </a:lnTo>
                      <a:lnTo>
                        <a:pt x="1394" y="581"/>
                      </a:lnTo>
                      <a:lnTo>
                        <a:pt x="1419" y="673"/>
                      </a:lnTo>
                      <a:lnTo>
                        <a:pt x="1435" y="766"/>
                      </a:lnTo>
                      <a:lnTo>
                        <a:pt x="1439" y="862"/>
                      </a:lnTo>
                      <a:lnTo>
                        <a:pt x="1435" y="958"/>
                      </a:lnTo>
                      <a:lnTo>
                        <a:pt x="1419" y="1052"/>
                      </a:lnTo>
                      <a:lnTo>
                        <a:pt x="1394" y="1143"/>
                      </a:lnTo>
                      <a:lnTo>
                        <a:pt x="1361" y="1230"/>
                      </a:lnTo>
                      <a:lnTo>
                        <a:pt x="1316" y="1314"/>
                      </a:lnTo>
                      <a:lnTo>
                        <a:pt x="1265" y="1395"/>
                      </a:lnTo>
                      <a:lnTo>
                        <a:pt x="1207" y="1468"/>
                      </a:lnTo>
                      <a:lnTo>
                        <a:pt x="1140" y="1537"/>
                      </a:lnTo>
                      <a:lnTo>
                        <a:pt x="1066" y="1597"/>
                      </a:lnTo>
                      <a:lnTo>
                        <a:pt x="986" y="1646"/>
                      </a:lnTo>
                      <a:lnTo>
                        <a:pt x="901" y="1691"/>
                      </a:lnTo>
                      <a:lnTo>
                        <a:pt x="812" y="1724"/>
                      </a:lnTo>
                      <a:lnTo>
                        <a:pt x="721" y="1749"/>
                      </a:lnTo>
                      <a:lnTo>
                        <a:pt x="627" y="1765"/>
                      </a:lnTo>
                      <a:lnTo>
                        <a:pt x="533" y="1769"/>
                      </a:lnTo>
                      <a:lnTo>
                        <a:pt x="437" y="1765"/>
                      </a:lnTo>
                      <a:lnTo>
                        <a:pt x="344" y="1749"/>
                      </a:lnTo>
                      <a:lnTo>
                        <a:pt x="252" y="1724"/>
                      </a:lnTo>
                      <a:lnTo>
                        <a:pt x="165" y="1691"/>
                      </a:lnTo>
                      <a:lnTo>
                        <a:pt x="80" y="1646"/>
                      </a:lnTo>
                      <a:lnTo>
                        <a:pt x="0" y="1597"/>
                      </a:lnTo>
                      <a:lnTo>
                        <a:pt x="51" y="1524"/>
                      </a:lnTo>
                      <a:lnTo>
                        <a:pt x="125" y="1571"/>
                      </a:lnTo>
                      <a:lnTo>
                        <a:pt x="201" y="1609"/>
                      </a:lnTo>
                      <a:lnTo>
                        <a:pt x="281" y="1640"/>
                      </a:lnTo>
                      <a:lnTo>
                        <a:pt x="364" y="1662"/>
                      </a:lnTo>
                      <a:lnTo>
                        <a:pt x="446" y="1675"/>
                      </a:lnTo>
                      <a:lnTo>
                        <a:pt x="533" y="1680"/>
                      </a:lnTo>
                      <a:lnTo>
                        <a:pt x="618" y="1675"/>
                      </a:lnTo>
                      <a:lnTo>
                        <a:pt x="703" y="1662"/>
                      </a:lnTo>
                      <a:lnTo>
                        <a:pt x="785" y="1640"/>
                      </a:lnTo>
                      <a:lnTo>
                        <a:pt x="866" y="1609"/>
                      </a:lnTo>
                      <a:lnTo>
                        <a:pt x="941" y="1571"/>
                      </a:lnTo>
                      <a:lnTo>
                        <a:pt x="1013" y="1524"/>
                      </a:lnTo>
                      <a:lnTo>
                        <a:pt x="1080" y="1470"/>
                      </a:lnTo>
                      <a:lnTo>
                        <a:pt x="1140" y="1410"/>
                      </a:lnTo>
                      <a:lnTo>
                        <a:pt x="1194" y="1343"/>
                      </a:lnTo>
                      <a:lnTo>
                        <a:pt x="1240" y="1270"/>
                      </a:lnTo>
                      <a:lnTo>
                        <a:pt x="1281" y="1194"/>
                      </a:lnTo>
                      <a:lnTo>
                        <a:pt x="1312" y="1116"/>
                      </a:lnTo>
                      <a:lnTo>
                        <a:pt x="1332" y="1032"/>
                      </a:lnTo>
                      <a:lnTo>
                        <a:pt x="1345" y="947"/>
                      </a:lnTo>
                      <a:lnTo>
                        <a:pt x="1350" y="862"/>
                      </a:lnTo>
                      <a:lnTo>
                        <a:pt x="1345" y="775"/>
                      </a:lnTo>
                      <a:lnTo>
                        <a:pt x="1332" y="691"/>
                      </a:lnTo>
                      <a:lnTo>
                        <a:pt x="1312" y="608"/>
                      </a:lnTo>
                      <a:lnTo>
                        <a:pt x="1281" y="530"/>
                      </a:lnTo>
                      <a:lnTo>
                        <a:pt x="1240" y="452"/>
                      </a:lnTo>
                      <a:lnTo>
                        <a:pt x="1194" y="381"/>
                      </a:lnTo>
                      <a:lnTo>
                        <a:pt x="1140" y="314"/>
                      </a:lnTo>
                      <a:lnTo>
                        <a:pt x="1080" y="254"/>
                      </a:lnTo>
                      <a:lnTo>
                        <a:pt x="1013" y="201"/>
                      </a:lnTo>
                      <a:lnTo>
                        <a:pt x="941" y="154"/>
                      </a:lnTo>
                      <a:lnTo>
                        <a:pt x="866" y="114"/>
                      </a:lnTo>
                      <a:lnTo>
                        <a:pt x="785" y="85"/>
                      </a:lnTo>
                      <a:lnTo>
                        <a:pt x="788" y="78"/>
                      </a:lnTo>
                      <a:lnTo>
                        <a:pt x="812" y="0"/>
                      </a:lnTo>
                    </a:path>
                  </a:pathLst>
                </a:cu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Line 5"/>
                <p:cNvSpPr>
                  <a:spLocks noChangeShapeType="1"/>
                </p:cNvSpPr>
                <p:nvPr/>
              </p:nvSpPr>
              <p:spPr bwMode="ltGray">
                <a:xfrm flipV="1">
                  <a:off x="2324" y="1620"/>
                  <a:ext cx="143" cy="258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"/>
                <p:cNvSpPr>
                  <a:spLocks noChangeShapeType="1"/>
                </p:cNvSpPr>
                <p:nvPr/>
              </p:nvSpPr>
              <p:spPr bwMode="ltGray">
                <a:xfrm flipV="1">
                  <a:off x="3119" y="243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7"/>
                <p:cNvSpPr>
                  <a:spLocks noChangeShapeType="1"/>
                </p:cNvSpPr>
                <p:nvPr/>
              </p:nvSpPr>
              <p:spPr bwMode="ltGray">
                <a:xfrm flipV="1">
                  <a:off x="3203" y="72"/>
                  <a:ext cx="50" cy="99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Freeform 8"/>
                <p:cNvSpPr>
                  <a:spLocks/>
                </p:cNvSpPr>
                <p:nvPr/>
              </p:nvSpPr>
              <p:spPr bwMode="ltGray">
                <a:xfrm>
                  <a:off x="2483" y="1903"/>
                  <a:ext cx="841" cy="153"/>
                </a:xfrm>
                <a:custGeom>
                  <a:avLst/>
                  <a:gdLst>
                    <a:gd name="T0" fmla="*/ 3 w 841"/>
                    <a:gd name="T1" fmla="*/ 98 h 153"/>
                    <a:gd name="T2" fmla="*/ 20 w 841"/>
                    <a:gd name="T3" fmla="*/ 80 h 153"/>
                    <a:gd name="T4" fmla="*/ 44 w 841"/>
                    <a:gd name="T5" fmla="*/ 65 h 153"/>
                    <a:gd name="T6" fmla="*/ 89 w 841"/>
                    <a:gd name="T7" fmla="*/ 43 h 153"/>
                    <a:gd name="T8" fmla="*/ 140 w 841"/>
                    <a:gd name="T9" fmla="*/ 30 h 153"/>
                    <a:gd name="T10" fmla="*/ 188 w 841"/>
                    <a:gd name="T11" fmla="*/ 19 h 153"/>
                    <a:gd name="T12" fmla="*/ 253 w 841"/>
                    <a:gd name="T13" fmla="*/ 9 h 153"/>
                    <a:gd name="T14" fmla="*/ 314 w 841"/>
                    <a:gd name="T15" fmla="*/ 3 h 153"/>
                    <a:gd name="T16" fmla="*/ 386 w 841"/>
                    <a:gd name="T17" fmla="*/ 0 h 153"/>
                    <a:gd name="T18" fmla="*/ 475 w 841"/>
                    <a:gd name="T19" fmla="*/ 1 h 153"/>
                    <a:gd name="T20" fmla="*/ 567 w 841"/>
                    <a:gd name="T21" fmla="*/ 6 h 153"/>
                    <a:gd name="T22" fmla="*/ 632 w 841"/>
                    <a:gd name="T23" fmla="*/ 14 h 153"/>
                    <a:gd name="T24" fmla="*/ 700 w 841"/>
                    <a:gd name="T25" fmla="*/ 27 h 153"/>
                    <a:gd name="T26" fmla="*/ 765 w 841"/>
                    <a:gd name="T27" fmla="*/ 47 h 153"/>
                    <a:gd name="T28" fmla="*/ 799 w 841"/>
                    <a:gd name="T29" fmla="*/ 66 h 153"/>
                    <a:gd name="T30" fmla="*/ 820 w 841"/>
                    <a:gd name="T31" fmla="*/ 82 h 153"/>
                    <a:gd name="T32" fmla="*/ 840 w 841"/>
                    <a:gd name="T33" fmla="*/ 108 h 153"/>
                    <a:gd name="T34" fmla="*/ 806 w 841"/>
                    <a:gd name="T35" fmla="*/ 122 h 153"/>
                    <a:gd name="T36" fmla="*/ 748 w 841"/>
                    <a:gd name="T37" fmla="*/ 133 h 153"/>
                    <a:gd name="T38" fmla="*/ 676 w 841"/>
                    <a:gd name="T39" fmla="*/ 141 h 153"/>
                    <a:gd name="T40" fmla="*/ 608 w 841"/>
                    <a:gd name="T41" fmla="*/ 148 h 153"/>
                    <a:gd name="T42" fmla="*/ 526 w 841"/>
                    <a:gd name="T43" fmla="*/ 151 h 153"/>
                    <a:gd name="T44" fmla="*/ 437 w 841"/>
                    <a:gd name="T45" fmla="*/ 152 h 153"/>
                    <a:gd name="T46" fmla="*/ 352 w 841"/>
                    <a:gd name="T47" fmla="*/ 152 h 153"/>
                    <a:gd name="T48" fmla="*/ 263 w 841"/>
                    <a:gd name="T49" fmla="*/ 151 h 153"/>
                    <a:gd name="T50" fmla="*/ 164 w 841"/>
                    <a:gd name="T51" fmla="*/ 143 h 153"/>
                    <a:gd name="T52" fmla="*/ 85 w 841"/>
                    <a:gd name="T53" fmla="*/ 135 h 153"/>
                    <a:gd name="T54" fmla="*/ 20 w 841"/>
                    <a:gd name="T55" fmla="*/ 120 h 153"/>
                    <a:gd name="T56" fmla="*/ 0 w 841"/>
                    <a:gd name="T57" fmla="*/ 109 h 153"/>
                    <a:gd name="T58" fmla="*/ 3 w 841"/>
                    <a:gd name="T59" fmla="*/ 98 h 153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841" h="153">
                      <a:moveTo>
                        <a:pt x="3" y="98"/>
                      </a:moveTo>
                      <a:lnTo>
                        <a:pt x="20" y="80"/>
                      </a:lnTo>
                      <a:lnTo>
                        <a:pt x="44" y="65"/>
                      </a:lnTo>
                      <a:lnTo>
                        <a:pt x="89" y="43"/>
                      </a:lnTo>
                      <a:lnTo>
                        <a:pt x="140" y="30"/>
                      </a:lnTo>
                      <a:lnTo>
                        <a:pt x="188" y="19"/>
                      </a:lnTo>
                      <a:lnTo>
                        <a:pt x="253" y="9"/>
                      </a:lnTo>
                      <a:lnTo>
                        <a:pt x="314" y="3"/>
                      </a:lnTo>
                      <a:lnTo>
                        <a:pt x="386" y="0"/>
                      </a:lnTo>
                      <a:lnTo>
                        <a:pt x="475" y="1"/>
                      </a:lnTo>
                      <a:lnTo>
                        <a:pt x="567" y="6"/>
                      </a:lnTo>
                      <a:lnTo>
                        <a:pt x="632" y="14"/>
                      </a:lnTo>
                      <a:lnTo>
                        <a:pt x="700" y="27"/>
                      </a:lnTo>
                      <a:lnTo>
                        <a:pt x="765" y="47"/>
                      </a:lnTo>
                      <a:lnTo>
                        <a:pt x="799" y="66"/>
                      </a:lnTo>
                      <a:lnTo>
                        <a:pt x="820" y="82"/>
                      </a:lnTo>
                      <a:lnTo>
                        <a:pt x="840" y="108"/>
                      </a:lnTo>
                      <a:lnTo>
                        <a:pt x="806" y="122"/>
                      </a:lnTo>
                      <a:lnTo>
                        <a:pt x="748" y="133"/>
                      </a:lnTo>
                      <a:lnTo>
                        <a:pt x="676" y="141"/>
                      </a:lnTo>
                      <a:lnTo>
                        <a:pt x="608" y="148"/>
                      </a:lnTo>
                      <a:lnTo>
                        <a:pt x="526" y="151"/>
                      </a:lnTo>
                      <a:lnTo>
                        <a:pt x="437" y="152"/>
                      </a:lnTo>
                      <a:lnTo>
                        <a:pt x="352" y="152"/>
                      </a:lnTo>
                      <a:lnTo>
                        <a:pt x="263" y="151"/>
                      </a:lnTo>
                      <a:lnTo>
                        <a:pt x="164" y="143"/>
                      </a:lnTo>
                      <a:lnTo>
                        <a:pt x="85" y="135"/>
                      </a:lnTo>
                      <a:lnTo>
                        <a:pt x="20" y="120"/>
                      </a:lnTo>
                      <a:lnTo>
                        <a:pt x="0" y="109"/>
                      </a:lnTo>
                      <a:lnTo>
                        <a:pt x="3" y="98"/>
                      </a:lnTo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bg2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17413252-37CE-4D28-B814-6325826EE0D4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2071" y="250"/>
                <a:ext cx="1497" cy="1494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" name="Group 29"/>
              <p:cNvGrpSpPr>
                <a:grpSpLocks/>
              </p:cNvGrpSpPr>
              <p:nvPr/>
            </p:nvGrpSpPr>
            <p:grpSpPr bwMode="auto">
              <a:xfrm>
                <a:off x="2071" y="406"/>
                <a:ext cx="1392" cy="1109"/>
                <a:chOff x="2071" y="406"/>
                <a:chExt cx="1392" cy="1109"/>
              </a:xfrm>
            </p:grpSpPr>
            <p:sp>
              <p:nvSpPr>
                <p:cNvPr id="11" name="Freeform 11"/>
                <p:cNvSpPr>
                  <a:spLocks/>
                </p:cNvSpPr>
                <p:nvPr/>
              </p:nvSpPr>
              <p:spPr bwMode="grayWhite">
                <a:xfrm>
                  <a:off x="2268" y="812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2"/>
                <p:cNvSpPr>
                  <a:spLocks/>
                </p:cNvSpPr>
                <p:nvPr/>
              </p:nvSpPr>
              <p:spPr bwMode="grayWhite">
                <a:xfrm>
                  <a:off x="2292" y="843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" name="Freeform 13"/>
                <p:cNvSpPr>
                  <a:spLocks/>
                </p:cNvSpPr>
                <p:nvPr/>
              </p:nvSpPr>
              <p:spPr bwMode="grayWhite">
                <a:xfrm>
                  <a:off x="2372" y="802"/>
                  <a:ext cx="51" cy="48"/>
                </a:xfrm>
                <a:custGeom>
                  <a:avLst/>
                  <a:gdLst>
                    <a:gd name="T0" fmla="*/ 50 w 51"/>
                    <a:gd name="T1" fmla="*/ 0 h 48"/>
                    <a:gd name="T2" fmla="*/ 31 w 51"/>
                    <a:gd name="T3" fmla="*/ 0 h 48"/>
                    <a:gd name="T4" fmla="*/ 20 w 51"/>
                    <a:gd name="T5" fmla="*/ 13 h 48"/>
                    <a:gd name="T6" fmla="*/ 13 w 51"/>
                    <a:gd name="T7" fmla="*/ 13 h 48"/>
                    <a:gd name="T8" fmla="*/ 7 w 51"/>
                    <a:gd name="T9" fmla="*/ 19 h 48"/>
                    <a:gd name="T10" fmla="*/ 0 w 51"/>
                    <a:gd name="T11" fmla="*/ 19 h 48"/>
                    <a:gd name="T12" fmla="*/ 0 w 51"/>
                    <a:gd name="T13" fmla="*/ 35 h 48"/>
                    <a:gd name="T14" fmla="*/ 12 w 51"/>
                    <a:gd name="T15" fmla="*/ 47 h 48"/>
                    <a:gd name="T16" fmla="*/ 41 w 51"/>
                    <a:gd name="T17" fmla="*/ 47 h 48"/>
                    <a:gd name="T18" fmla="*/ 50 w 51"/>
                    <a:gd name="T19" fmla="*/ 35 h 48"/>
                    <a:gd name="T20" fmla="*/ 50 w 51"/>
                    <a:gd name="T21" fmla="*/ 0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1" h="48">
                      <a:moveTo>
                        <a:pt x="50" y="0"/>
                      </a:moveTo>
                      <a:lnTo>
                        <a:pt x="31" y="0"/>
                      </a:lnTo>
                      <a:lnTo>
                        <a:pt x="20" y="13"/>
                      </a:lnTo>
                      <a:lnTo>
                        <a:pt x="13" y="13"/>
                      </a:lnTo>
                      <a:lnTo>
                        <a:pt x="7" y="19"/>
                      </a:lnTo>
                      <a:lnTo>
                        <a:pt x="0" y="19"/>
                      </a:lnTo>
                      <a:lnTo>
                        <a:pt x="0" y="35"/>
                      </a:lnTo>
                      <a:lnTo>
                        <a:pt x="12" y="47"/>
                      </a:lnTo>
                      <a:lnTo>
                        <a:pt x="41" y="47"/>
                      </a:lnTo>
                      <a:lnTo>
                        <a:pt x="50" y="35"/>
                      </a:lnTo>
                      <a:lnTo>
                        <a:pt x="5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4"/>
                <p:cNvSpPr>
                  <a:spLocks/>
                </p:cNvSpPr>
                <p:nvPr/>
              </p:nvSpPr>
              <p:spPr bwMode="grayWhite">
                <a:xfrm>
                  <a:off x="2071" y="840"/>
                  <a:ext cx="451" cy="587"/>
                </a:xfrm>
                <a:custGeom>
                  <a:avLst/>
                  <a:gdLst>
                    <a:gd name="T0" fmla="*/ 107 w 451"/>
                    <a:gd name="T1" fmla="*/ 0 h 587"/>
                    <a:gd name="T2" fmla="*/ 99 w 451"/>
                    <a:gd name="T3" fmla="*/ 16 h 587"/>
                    <a:gd name="T4" fmla="*/ 64 w 451"/>
                    <a:gd name="T5" fmla="*/ 47 h 587"/>
                    <a:gd name="T6" fmla="*/ 56 w 451"/>
                    <a:gd name="T7" fmla="*/ 75 h 587"/>
                    <a:gd name="T8" fmla="*/ 30 w 451"/>
                    <a:gd name="T9" fmla="*/ 95 h 587"/>
                    <a:gd name="T10" fmla="*/ 12 w 451"/>
                    <a:gd name="T11" fmla="*/ 135 h 587"/>
                    <a:gd name="T12" fmla="*/ 12 w 451"/>
                    <a:gd name="T13" fmla="*/ 159 h 587"/>
                    <a:gd name="T14" fmla="*/ 0 w 451"/>
                    <a:gd name="T15" fmla="*/ 201 h 587"/>
                    <a:gd name="T16" fmla="*/ 16 w 451"/>
                    <a:gd name="T17" fmla="*/ 219 h 587"/>
                    <a:gd name="T18" fmla="*/ 56 w 451"/>
                    <a:gd name="T19" fmla="*/ 272 h 587"/>
                    <a:gd name="T20" fmla="*/ 68 w 451"/>
                    <a:gd name="T21" fmla="*/ 265 h 587"/>
                    <a:gd name="T22" fmla="*/ 139 w 451"/>
                    <a:gd name="T23" fmla="*/ 265 h 587"/>
                    <a:gd name="T24" fmla="*/ 172 w 451"/>
                    <a:gd name="T25" fmla="*/ 278 h 587"/>
                    <a:gd name="T26" fmla="*/ 169 w 451"/>
                    <a:gd name="T27" fmla="*/ 319 h 587"/>
                    <a:gd name="T28" fmla="*/ 193 w 451"/>
                    <a:gd name="T29" fmla="*/ 374 h 587"/>
                    <a:gd name="T30" fmla="*/ 191 w 451"/>
                    <a:gd name="T31" fmla="*/ 389 h 587"/>
                    <a:gd name="T32" fmla="*/ 201 w 451"/>
                    <a:gd name="T33" fmla="*/ 406 h 587"/>
                    <a:gd name="T34" fmla="*/ 186 w 451"/>
                    <a:gd name="T35" fmla="*/ 445 h 587"/>
                    <a:gd name="T36" fmla="*/ 204 w 451"/>
                    <a:gd name="T37" fmla="*/ 494 h 587"/>
                    <a:gd name="T38" fmla="*/ 214 w 451"/>
                    <a:gd name="T39" fmla="*/ 532 h 587"/>
                    <a:gd name="T40" fmla="*/ 226 w 451"/>
                    <a:gd name="T41" fmla="*/ 556 h 587"/>
                    <a:gd name="T42" fmla="*/ 239 w 451"/>
                    <a:gd name="T43" fmla="*/ 586 h 587"/>
                    <a:gd name="T44" fmla="*/ 263 w 451"/>
                    <a:gd name="T45" fmla="*/ 582 h 587"/>
                    <a:gd name="T46" fmla="*/ 302 w 451"/>
                    <a:gd name="T47" fmla="*/ 560 h 587"/>
                    <a:gd name="T48" fmla="*/ 320 w 451"/>
                    <a:gd name="T49" fmla="*/ 533 h 587"/>
                    <a:gd name="T50" fmla="*/ 319 w 451"/>
                    <a:gd name="T51" fmla="*/ 515 h 587"/>
                    <a:gd name="T52" fmla="*/ 342 w 451"/>
                    <a:gd name="T53" fmla="*/ 500 h 587"/>
                    <a:gd name="T54" fmla="*/ 338 w 451"/>
                    <a:gd name="T55" fmla="*/ 474 h 587"/>
                    <a:gd name="T56" fmla="*/ 373 w 451"/>
                    <a:gd name="T57" fmla="*/ 432 h 587"/>
                    <a:gd name="T58" fmla="*/ 378 w 451"/>
                    <a:gd name="T59" fmla="*/ 398 h 587"/>
                    <a:gd name="T60" fmla="*/ 369 w 451"/>
                    <a:gd name="T61" fmla="*/ 386 h 587"/>
                    <a:gd name="T62" fmla="*/ 373 w 451"/>
                    <a:gd name="T63" fmla="*/ 372 h 587"/>
                    <a:gd name="T64" fmla="*/ 365 w 451"/>
                    <a:gd name="T65" fmla="*/ 360 h 587"/>
                    <a:gd name="T66" fmla="*/ 391 w 451"/>
                    <a:gd name="T67" fmla="*/ 327 h 587"/>
                    <a:gd name="T68" fmla="*/ 391 w 451"/>
                    <a:gd name="T69" fmla="*/ 310 h 587"/>
                    <a:gd name="T70" fmla="*/ 427 w 451"/>
                    <a:gd name="T71" fmla="*/ 282 h 587"/>
                    <a:gd name="T72" fmla="*/ 450 w 451"/>
                    <a:gd name="T73" fmla="*/ 207 h 587"/>
                    <a:gd name="T74" fmla="*/ 417 w 451"/>
                    <a:gd name="T75" fmla="*/ 226 h 587"/>
                    <a:gd name="T76" fmla="*/ 388 w 451"/>
                    <a:gd name="T77" fmla="*/ 218 h 587"/>
                    <a:gd name="T78" fmla="*/ 392 w 451"/>
                    <a:gd name="T79" fmla="*/ 200 h 587"/>
                    <a:gd name="T80" fmla="*/ 363 w 451"/>
                    <a:gd name="T81" fmla="*/ 180 h 587"/>
                    <a:gd name="T82" fmla="*/ 349 w 451"/>
                    <a:gd name="T83" fmla="*/ 132 h 587"/>
                    <a:gd name="T84" fmla="*/ 321 w 451"/>
                    <a:gd name="T85" fmla="*/ 93 h 587"/>
                    <a:gd name="T86" fmla="*/ 321 w 451"/>
                    <a:gd name="T87" fmla="*/ 66 h 587"/>
                    <a:gd name="T88" fmla="*/ 306 w 451"/>
                    <a:gd name="T89" fmla="*/ 65 h 587"/>
                    <a:gd name="T90" fmla="*/ 296 w 451"/>
                    <a:gd name="T91" fmla="*/ 69 h 587"/>
                    <a:gd name="T92" fmla="*/ 254 w 451"/>
                    <a:gd name="T93" fmla="*/ 54 h 587"/>
                    <a:gd name="T94" fmla="*/ 243 w 451"/>
                    <a:gd name="T95" fmla="*/ 65 h 587"/>
                    <a:gd name="T96" fmla="*/ 234 w 451"/>
                    <a:gd name="T97" fmla="*/ 78 h 587"/>
                    <a:gd name="T98" fmla="*/ 211 w 451"/>
                    <a:gd name="T99" fmla="*/ 53 h 587"/>
                    <a:gd name="T100" fmla="*/ 189 w 451"/>
                    <a:gd name="T101" fmla="*/ 47 h 587"/>
                    <a:gd name="T102" fmla="*/ 187 w 451"/>
                    <a:gd name="T103" fmla="*/ 15 h 587"/>
                    <a:gd name="T104" fmla="*/ 155 w 451"/>
                    <a:gd name="T105" fmla="*/ 20 h 587"/>
                    <a:gd name="T106" fmla="*/ 135 w 451"/>
                    <a:gd name="T107" fmla="*/ 13 h 587"/>
                    <a:gd name="T108" fmla="*/ 107 w 451"/>
                    <a:gd name="T109" fmla="*/ 0 h 587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451" h="587">
                      <a:moveTo>
                        <a:pt x="107" y="0"/>
                      </a:moveTo>
                      <a:lnTo>
                        <a:pt x="99" y="16"/>
                      </a:lnTo>
                      <a:lnTo>
                        <a:pt x="64" y="47"/>
                      </a:lnTo>
                      <a:lnTo>
                        <a:pt x="56" y="75"/>
                      </a:lnTo>
                      <a:lnTo>
                        <a:pt x="30" y="95"/>
                      </a:lnTo>
                      <a:lnTo>
                        <a:pt x="12" y="135"/>
                      </a:lnTo>
                      <a:lnTo>
                        <a:pt x="12" y="159"/>
                      </a:lnTo>
                      <a:lnTo>
                        <a:pt x="0" y="201"/>
                      </a:lnTo>
                      <a:lnTo>
                        <a:pt x="16" y="219"/>
                      </a:lnTo>
                      <a:lnTo>
                        <a:pt x="56" y="272"/>
                      </a:lnTo>
                      <a:lnTo>
                        <a:pt x="68" y="265"/>
                      </a:lnTo>
                      <a:lnTo>
                        <a:pt x="139" y="265"/>
                      </a:lnTo>
                      <a:lnTo>
                        <a:pt x="172" y="278"/>
                      </a:lnTo>
                      <a:lnTo>
                        <a:pt x="169" y="319"/>
                      </a:lnTo>
                      <a:lnTo>
                        <a:pt x="193" y="374"/>
                      </a:lnTo>
                      <a:lnTo>
                        <a:pt x="191" y="389"/>
                      </a:lnTo>
                      <a:lnTo>
                        <a:pt x="201" y="406"/>
                      </a:lnTo>
                      <a:lnTo>
                        <a:pt x="186" y="445"/>
                      </a:lnTo>
                      <a:lnTo>
                        <a:pt x="204" y="494"/>
                      </a:lnTo>
                      <a:lnTo>
                        <a:pt x="214" y="532"/>
                      </a:lnTo>
                      <a:lnTo>
                        <a:pt x="226" y="556"/>
                      </a:lnTo>
                      <a:lnTo>
                        <a:pt x="239" y="586"/>
                      </a:lnTo>
                      <a:lnTo>
                        <a:pt x="263" y="582"/>
                      </a:lnTo>
                      <a:lnTo>
                        <a:pt x="302" y="560"/>
                      </a:lnTo>
                      <a:lnTo>
                        <a:pt x="320" y="533"/>
                      </a:lnTo>
                      <a:lnTo>
                        <a:pt x="319" y="515"/>
                      </a:lnTo>
                      <a:lnTo>
                        <a:pt x="342" y="500"/>
                      </a:lnTo>
                      <a:lnTo>
                        <a:pt x="338" y="474"/>
                      </a:lnTo>
                      <a:lnTo>
                        <a:pt x="373" y="432"/>
                      </a:lnTo>
                      <a:lnTo>
                        <a:pt x="378" y="398"/>
                      </a:lnTo>
                      <a:lnTo>
                        <a:pt x="369" y="386"/>
                      </a:lnTo>
                      <a:lnTo>
                        <a:pt x="373" y="372"/>
                      </a:lnTo>
                      <a:lnTo>
                        <a:pt x="365" y="360"/>
                      </a:lnTo>
                      <a:lnTo>
                        <a:pt x="391" y="327"/>
                      </a:lnTo>
                      <a:lnTo>
                        <a:pt x="391" y="310"/>
                      </a:lnTo>
                      <a:lnTo>
                        <a:pt x="427" y="282"/>
                      </a:lnTo>
                      <a:lnTo>
                        <a:pt x="450" y="207"/>
                      </a:lnTo>
                      <a:lnTo>
                        <a:pt x="417" y="226"/>
                      </a:lnTo>
                      <a:lnTo>
                        <a:pt x="388" y="218"/>
                      </a:lnTo>
                      <a:lnTo>
                        <a:pt x="392" y="200"/>
                      </a:lnTo>
                      <a:lnTo>
                        <a:pt x="363" y="180"/>
                      </a:lnTo>
                      <a:lnTo>
                        <a:pt x="349" y="132"/>
                      </a:lnTo>
                      <a:lnTo>
                        <a:pt x="321" y="93"/>
                      </a:lnTo>
                      <a:lnTo>
                        <a:pt x="321" y="66"/>
                      </a:lnTo>
                      <a:lnTo>
                        <a:pt x="306" y="65"/>
                      </a:lnTo>
                      <a:lnTo>
                        <a:pt x="296" y="69"/>
                      </a:lnTo>
                      <a:lnTo>
                        <a:pt x="254" y="54"/>
                      </a:lnTo>
                      <a:lnTo>
                        <a:pt x="243" y="65"/>
                      </a:lnTo>
                      <a:lnTo>
                        <a:pt x="234" y="78"/>
                      </a:lnTo>
                      <a:lnTo>
                        <a:pt x="211" y="53"/>
                      </a:lnTo>
                      <a:lnTo>
                        <a:pt x="189" y="47"/>
                      </a:lnTo>
                      <a:lnTo>
                        <a:pt x="187" y="15"/>
                      </a:lnTo>
                      <a:lnTo>
                        <a:pt x="155" y="20"/>
                      </a:lnTo>
                      <a:lnTo>
                        <a:pt x="135" y="13"/>
                      </a:lnTo>
                      <a:lnTo>
                        <a:pt x="10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Freeform 15"/>
                <p:cNvSpPr>
                  <a:spLocks/>
                </p:cNvSpPr>
                <p:nvPr/>
              </p:nvSpPr>
              <p:spPr bwMode="grayWhite">
                <a:xfrm>
                  <a:off x="3112" y="987"/>
                  <a:ext cx="17" cy="28"/>
                </a:xfrm>
                <a:custGeom>
                  <a:avLst/>
                  <a:gdLst>
                    <a:gd name="T0" fmla="*/ 7 w 17"/>
                    <a:gd name="T1" fmla="*/ 0 h 28"/>
                    <a:gd name="T2" fmla="*/ 9 w 17"/>
                    <a:gd name="T3" fmla="*/ 8 h 28"/>
                    <a:gd name="T4" fmla="*/ 7 w 17"/>
                    <a:gd name="T5" fmla="*/ 14 h 28"/>
                    <a:gd name="T6" fmla="*/ 7 w 17"/>
                    <a:gd name="T7" fmla="*/ 19 h 28"/>
                    <a:gd name="T8" fmla="*/ 16 w 17"/>
                    <a:gd name="T9" fmla="*/ 23 h 28"/>
                    <a:gd name="T10" fmla="*/ 16 w 17"/>
                    <a:gd name="T11" fmla="*/ 27 h 28"/>
                    <a:gd name="T12" fmla="*/ 9 w 17"/>
                    <a:gd name="T13" fmla="*/ 23 h 28"/>
                    <a:gd name="T14" fmla="*/ 3 w 17"/>
                    <a:gd name="T15" fmla="*/ 27 h 28"/>
                    <a:gd name="T16" fmla="*/ 0 w 17"/>
                    <a:gd name="T17" fmla="*/ 23 h 28"/>
                    <a:gd name="T18" fmla="*/ 3 w 17"/>
                    <a:gd name="T19" fmla="*/ 19 h 28"/>
                    <a:gd name="T20" fmla="*/ 0 w 17"/>
                    <a:gd name="T21" fmla="*/ 14 h 28"/>
                    <a:gd name="T22" fmla="*/ 3 w 17"/>
                    <a:gd name="T23" fmla="*/ 4 h 28"/>
                    <a:gd name="T24" fmla="*/ 7 w 17"/>
                    <a:gd name="T25" fmla="*/ 0 h 28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8">
                      <a:moveTo>
                        <a:pt x="7" y="0"/>
                      </a:moveTo>
                      <a:lnTo>
                        <a:pt x="9" y="8"/>
                      </a:lnTo>
                      <a:lnTo>
                        <a:pt x="7" y="14"/>
                      </a:lnTo>
                      <a:lnTo>
                        <a:pt x="7" y="19"/>
                      </a:lnTo>
                      <a:lnTo>
                        <a:pt x="16" y="23"/>
                      </a:lnTo>
                      <a:lnTo>
                        <a:pt x="16" y="27"/>
                      </a:lnTo>
                      <a:lnTo>
                        <a:pt x="9" y="23"/>
                      </a:lnTo>
                      <a:lnTo>
                        <a:pt x="3" y="27"/>
                      </a:lnTo>
                      <a:lnTo>
                        <a:pt x="0" y="23"/>
                      </a:lnTo>
                      <a:lnTo>
                        <a:pt x="3" y="19"/>
                      </a:lnTo>
                      <a:lnTo>
                        <a:pt x="0" y="14"/>
                      </a:lnTo>
                      <a:lnTo>
                        <a:pt x="3" y="4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Freeform 16"/>
                <p:cNvSpPr>
                  <a:spLocks/>
                </p:cNvSpPr>
                <p:nvPr/>
              </p:nvSpPr>
              <p:spPr bwMode="grayWhite">
                <a:xfrm>
                  <a:off x="3027" y="1109"/>
                  <a:ext cx="68" cy="97"/>
                </a:xfrm>
                <a:custGeom>
                  <a:avLst/>
                  <a:gdLst>
                    <a:gd name="T0" fmla="*/ 0 w 68"/>
                    <a:gd name="T1" fmla="*/ 48 h 97"/>
                    <a:gd name="T2" fmla="*/ 24 w 68"/>
                    <a:gd name="T3" fmla="*/ 48 h 97"/>
                    <a:gd name="T4" fmla="*/ 52 w 68"/>
                    <a:gd name="T5" fmla="*/ 0 h 97"/>
                    <a:gd name="T6" fmla="*/ 67 w 68"/>
                    <a:gd name="T7" fmla="*/ 28 h 97"/>
                    <a:gd name="T8" fmla="*/ 55 w 68"/>
                    <a:gd name="T9" fmla="*/ 96 h 97"/>
                    <a:gd name="T10" fmla="*/ 5 w 68"/>
                    <a:gd name="T11" fmla="*/ 80 h 97"/>
                    <a:gd name="T12" fmla="*/ 0 w 68"/>
                    <a:gd name="T13" fmla="*/ 48 h 9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97">
                      <a:moveTo>
                        <a:pt x="0" y="48"/>
                      </a:moveTo>
                      <a:lnTo>
                        <a:pt x="24" y="48"/>
                      </a:lnTo>
                      <a:lnTo>
                        <a:pt x="52" y="0"/>
                      </a:lnTo>
                      <a:lnTo>
                        <a:pt x="67" y="28"/>
                      </a:lnTo>
                      <a:lnTo>
                        <a:pt x="55" y="96"/>
                      </a:lnTo>
                      <a:lnTo>
                        <a:pt x="5" y="80"/>
                      </a:lnTo>
                      <a:lnTo>
                        <a:pt x="0" y="4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7"/>
                <p:cNvSpPr>
                  <a:spLocks/>
                </p:cNvSpPr>
                <p:nvPr/>
              </p:nvSpPr>
              <p:spPr bwMode="grayWhite">
                <a:xfrm>
                  <a:off x="3162" y="1146"/>
                  <a:ext cx="117" cy="94"/>
                </a:xfrm>
                <a:custGeom>
                  <a:avLst/>
                  <a:gdLst>
                    <a:gd name="T0" fmla="*/ 7 w 117"/>
                    <a:gd name="T1" fmla="*/ 22 h 94"/>
                    <a:gd name="T2" fmla="*/ 0 w 117"/>
                    <a:gd name="T3" fmla="*/ 0 h 94"/>
                    <a:gd name="T4" fmla="*/ 39 w 117"/>
                    <a:gd name="T5" fmla="*/ 9 h 94"/>
                    <a:gd name="T6" fmla="*/ 95 w 117"/>
                    <a:gd name="T7" fmla="*/ 32 h 94"/>
                    <a:gd name="T8" fmla="*/ 95 w 117"/>
                    <a:gd name="T9" fmla="*/ 49 h 94"/>
                    <a:gd name="T10" fmla="*/ 116 w 117"/>
                    <a:gd name="T11" fmla="*/ 93 h 94"/>
                    <a:gd name="T12" fmla="*/ 73 w 117"/>
                    <a:gd name="T13" fmla="*/ 51 h 94"/>
                    <a:gd name="T14" fmla="*/ 44 w 117"/>
                    <a:gd name="T15" fmla="*/ 54 h 94"/>
                    <a:gd name="T16" fmla="*/ 7 w 117"/>
                    <a:gd name="T17" fmla="*/ 22 h 9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17" h="94">
                      <a:moveTo>
                        <a:pt x="7" y="22"/>
                      </a:moveTo>
                      <a:lnTo>
                        <a:pt x="0" y="0"/>
                      </a:lnTo>
                      <a:lnTo>
                        <a:pt x="39" y="9"/>
                      </a:lnTo>
                      <a:lnTo>
                        <a:pt x="95" y="32"/>
                      </a:lnTo>
                      <a:lnTo>
                        <a:pt x="95" y="49"/>
                      </a:lnTo>
                      <a:lnTo>
                        <a:pt x="116" y="93"/>
                      </a:lnTo>
                      <a:lnTo>
                        <a:pt x="73" y="51"/>
                      </a:lnTo>
                      <a:lnTo>
                        <a:pt x="44" y="54"/>
                      </a:lnTo>
                      <a:lnTo>
                        <a:pt x="7" y="2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8"/>
                <p:cNvSpPr>
                  <a:spLocks/>
                </p:cNvSpPr>
                <p:nvPr/>
              </p:nvSpPr>
              <p:spPr bwMode="grayWhite">
                <a:xfrm>
                  <a:off x="3384" y="1337"/>
                  <a:ext cx="79" cy="101"/>
                </a:xfrm>
                <a:custGeom>
                  <a:avLst/>
                  <a:gdLst>
                    <a:gd name="T0" fmla="*/ 48 w 79"/>
                    <a:gd name="T1" fmla="*/ 0 h 101"/>
                    <a:gd name="T2" fmla="*/ 78 w 79"/>
                    <a:gd name="T3" fmla="*/ 30 h 101"/>
                    <a:gd name="T4" fmla="*/ 16 w 79"/>
                    <a:gd name="T5" fmla="*/ 100 h 101"/>
                    <a:gd name="T6" fmla="*/ 0 w 79"/>
                    <a:gd name="T7" fmla="*/ 84 h 101"/>
                    <a:gd name="T8" fmla="*/ 45 w 79"/>
                    <a:gd name="T9" fmla="*/ 39 h 101"/>
                    <a:gd name="T10" fmla="*/ 48 w 79"/>
                    <a:gd name="T11" fmla="*/ 0 h 10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9" h="101">
                      <a:moveTo>
                        <a:pt x="48" y="0"/>
                      </a:moveTo>
                      <a:lnTo>
                        <a:pt x="78" y="30"/>
                      </a:lnTo>
                      <a:lnTo>
                        <a:pt x="16" y="100"/>
                      </a:lnTo>
                      <a:lnTo>
                        <a:pt x="0" y="84"/>
                      </a:lnTo>
                      <a:lnTo>
                        <a:pt x="45" y="39"/>
                      </a:lnTo>
                      <a:lnTo>
                        <a:pt x="4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9"/>
                <p:cNvSpPr>
                  <a:spLocks/>
                </p:cNvSpPr>
                <p:nvPr/>
              </p:nvSpPr>
              <p:spPr bwMode="grayWhite">
                <a:xfrm>
                  <a:off x="2211" y="651"/>
                  <a:ext cx="39" cy="66"/>
                </a:xfrm>
                <a:custGeom>
                  <a:avLst/>
                  <a:gdLst>
                    <a:gd name="T0" fmla="*/ 38 w 39"/>
                    <a:gd name="T1" fmla="*/ 51 h 66"/>
                    <a:gd name="T2" fmla="*/ 28 w 39"/>
                    <a:gd name="T3" fmla="*/ 43 h 66"/>
                    <a:gd name="T4" fmla="*/ 28 w 39"/>
                    <a:gd name="T5" fmla="*/ 14 h 66"/>
                    <a:gd name="T6" fmla="*/ 33 w 39"/>
                    <a:gd name="T7" fmla="*/ 8 h 66"/>
                    <a:gd name="T8" fmla="*/ 24 w 39"/>
                    <a:gd name="T9" fmla="*/ 8 h 66"/>
                    <a:gd name="T10" fmla="*/ 29 w 39"/>
                    <a:gd name="T11" fmla="*/ 0 h 66"/>
                    <a:gd name="T12" fmla="*/ 22 w 39"/>
                    <a:gd name="T13" fmla="*/ 0 h 66"/>
                    <a:gd name="T14" fmla="*/ 14 w 39"/>
                    <a:gd name="T15" fmla="*/ 9 h 66"/>
                    <a:gd name="T16" fmla="*/ 14 w 39"/>
                    <a:gd name="T17" fmla="*/ 27 h 66"/>
                    <a:gd name="T18" fmla="*/ 18 w 39"/>
                    <a:gd name="T19" fmla="*/ 31 h 66"/>
                    <a:gd name="T20" fmla="*/ 18 w 39"/>
                    <a:gd name="T21" fmla="*/ 39 h 66"/>
                    <a:gd name="T22" fmla="*/ 16 w 39"/>
                    <a:gd name="T23" fmla="*/ 39 h 66"/>
                    <a:gd name="T24" fmla="*/ 9 w 39"/>
                    <a:gd name="T25" fmla="*/ 46 h 66"/>
                    <a:gd name="T26" fmla="*/ 9 w 39"/>
                    <a:gd name="T27" fmla="*/ 53 h 66"/>
                    <a:gd name="T28" fmla="*/ 0 w 39"/>
                    <a:gd name="T29" fmla="*/ 65 h 66"/>
                    <a:gd name="T30" fmla="*/ 29 w 39"/>
                    <a:gd name="T31" fmla="*/ 65 h 66"/>
                    <a:gd name="T32" fmla="*/ 38 w 39"/>
                    <a:gd name="T33" fmla="*/ 51 h 6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9" h="66">
                      <a:moveTo>
                        <a:pt x="38" y="51"/>
                      </a:moveTo>
                      <a:lnTo>
                        <a:pt x="28" y="43"/>
                      </a:lnTo>
                      <a:lnTo>
                        <a:pt x="28" y="14"/>
                      </a:lnTo>
                      <a:lnTo>
                        <a:pt x="33" y="8"/>
                      </a:lnTo>
                      <a:lnTo>
                        <a:pt x="24" y="8"/>
                      </a:lnTo>
                      <a:lnTo>
                        <a:pt x="29" y="0"/>
                      </a:ln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14" y="27"/>
                      </a:lnTo>
                      <a:lnTo>
                        <a:pt x="18" y="31"/>
                      </a:lnTo>
                      <a:lnTo>
                        <a:pt x="18" y="39"/>
                      </a:lnTo>
                      <a:lnTo>
                        <a:pt x="16" y="39"/>
                      </a:lnTo>
                      <a:lnTo>
                        <a:pt x="9" y="46"/>
                      </a:lnTo>
                      <a:lnTo>
                        <a:pt x="9" y="53"/>
                      </a:lnTo>
                      <a:lnTo>
                        <a:pt x="0" y="65"/>
                      </a:lnTo>
                      <a:lnTo>
                        <a:pt x="29" y="65"/>
                      </a:lnTo>
                      <a:lnTo>
                        <a:pt x="38" y="51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20"/>
                <p:cNvSpPr>
                  <a:spLocks/>
                </p:cNvSpPr>
                <p:nvPr/>
              </p:nvSpPr>
              <p:spPr bwMode="grayWhite">
                <a:xfrm>
                  <a:off x="2198" y="673"/>
                  <a:ext cx="21" cy="24"/>
                </a:xfrm>
                <a:custGeom>
                  <a:avLst/>
                  <a:gdLst>
                    <a:gd name="T0" fmla="*/ 17 w 21"/>
                    <a:gd name="T1" fmla="*/ 8 h 24"/>
                    <a:gd name="T2" fmla="*/ 20 w 21"/>
                    <a:gd name="T3" fmla="*/ 8 h 24"/>
                    <a:gd name="T4" fmla="*/ 20 w 21"/>
                    <a:gd name="T5" fmla="*/ 0 h 24"/>
                    <a:gd name="T6" fmla="*/ 13 w 21"/>
                    <a:gd name="T7" fmla="*/ 0 h 24"/>
                    <a:gd name="T8" fmla="*/ 0 w 21"/>
                    <a:gd name="T9" fmla="*/ 15 h 24"/>
                    <a:gd name="T10" fmla="*/ 0 w 21"/>
                    <a:gd name="T11" fmla="*/ 23 h 24"/>
                    <a:gd name="T12" fmla="*/ 12 w 21"/>
                    <a:gd name="T13" fmla="*/ 23 h 24"/>
                    <a:gd name="T14" fmla="*/ 17 w 21"/>
                    <a:gd name="T15" fmla="*/ 17 h 24"/>
                    <a:gd name="T16" fmla="*/ 17 w 21"/>
                    <a:gd name="T17" fmla="*/ 8 h 2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" h="24">
                      <a:moveTo>
                        <a:pt x="17" y="8"/>
                      </a:moveTo>
                      <a:lnTo>
                        <a:pt x="20" y="8"/>
                      </a:lnTo>
                      <a:lnTo>
                        <a:pt x="20" y="0"/>
                      </a:lnTo>
                      <a:lnTo>
                        <a:pt x="13" y="0"/>
                      </a:lnTo>
                      <a:lnTo>
                        <a:pt x="0" y="15"/>
                      </a:lnTo>
                      <a:lnTo>
                        <a:pt x="0" y="23"/>
                      </a:lnTo>
                      <a:lnTo>
                        <a:pt x="12" y="23"/>
                      </a:lnTo>
                      <a:lnTo>
                        <a:pt x="17" y="17"/>
                      </a:lnTo>
                      <a:lnTo>
                        <a:pt x="17" y="8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1"/>
                <p:cNvSpPr>
                  <a:spLocks/>
                </p:cNvSpPr>
                <p:nvPr/>
              </p:nvSpPr>
              <p:spPr bwMode="grayWhite">
                <a:xfrm>
                  <a:off x="2167" y="634"/>
                  <a:ext cx="256" cy="216"/>
                </a:xfrm>
                <a:custGeom>
                  <a:avLst/>
                  <a:gdLst>
                    <a:gd name="T0" fmla="*/ 168 w 256"/>
                    <a:gd name="T1" fmla="*/ 15 h 216"/>
                    <a:gd name="T2" fmla="*/ 201 w 256"/>
                    <a:gd name="T3" fmla="*/ 20 h 216"/>
                    <a:gd name="T4" fmla="*/ 181 w 256"/>
                    <a:gd name="T5" fmla="*/ 28 h 216"/>
                    <a:gd name="T6" fmla="*/ 172 w 256"/>
                    <a:gd name="T7" fmla="*/ 41 h 216"/>
                    <a:gd name="T8" fmla="*/ 160 w 256"/>
                    <a:gd name="T9" fmla="*/ 70 h 216"/>
                    <a:gd name="T10" fmla="*/ 140 w 256"/>
                    <a:gd name="T11" fmla="*/ 72 h 216"/>
                    <a:gd name="T12" fmla="*/ 123 w 256"/>
                    <a:gd name="T13" fmla="*/ 69 h 216"/>
                    <a:gd name="T14" fmla="*/ 131 w 256"/>
                    <a:gd name="T15" fmla="*/ 55 h 216"/>
                    <a:gd name="T16" fmla="*/ 124 w 256"/>
                    <a:gd name="T17" fmla="*/ 37 h 216"/>
                    <a:gd name="T18" fmla="*/ 114 w 256"/>
                    <a:gd name="T19" fmla="*/ 69 h 216"/>
                    <a:gd name="T20" fmla="*/ 87 w 256"/>
                    <a:gd name="T21" fmla="*/ 84 h 216"/>
                    <a:gd name="T22" fmla="*/ 73 w 256"/>
                    <a:gd name="T23" fmla="*/ 94 h 216"/>
                    <a:gd name="T24" fmla="*/ 53 w 256"/>
                    <a:gd name="T25" fmla="*/ 108 h 216"/>
                    <a:gd name="T26" fmla="*/ 43 w 256"/>
                    <a:gd name="T27" fmla="*/ 143 h 216"/>
                    <a:gd name="T28" fmla="*/ 8 w 256"/>
                    <a:gd name="T29" fmla="*/ 130 h 216"/>
                    <a:gd name="T30" fmla="*/ 0 w 256"/>
                    <a:gd name="T31" fmla="*/ 156 h 216"/>
                    <a:gd name="T32" fmla="*/ 15 w 256"/>
                    <a:gd name="T33" fmla="*/ 194 h 216"/>
                    <a:gd name="T34" fmla="*/ 71 w 256"/>
                    <a:gd name="T35" fmla="*/ 153 h 216"/>
                    <a:gd name="T36" fmla="*/ 105 w 256"/>
                    <a:gd name="T37" fmla="*/ 145 h 216"/>
                    <a:gd name="T38" fmla="*/ 111 w 256"/>
                    <a:gd name="T39" fmla="*/ 161 h 216"/>
                    <a:gd name="T40" fmla="*/ 139 w 256"/>
                    <a:gd name="T41" fmla="*/ 201 h 216"/>
                    <a:gd name="T42" fmla="*/ 142 w 256"/>
                    <a:gd name="T43" fmla="*/ 189 h 216"/>
                    <a:gd name="T44" fmla="*/ 150 w 256"/>
                    <a:gd name="T45" fmla="*/ 189 h 216"/>
                    <a:gd name="T46" fmla="*/ 123 w 256"/>
                    <a:gd name="T47" fmla="*/ 152 h 216"/>
                    <a:gd name="T48" fmla="*/ 131 w 256"/>
                    <a:gd name="T49" fmla="*/ 139 h 216"/>
                    <a:gd name="T50" fmla="*/ 160 w 256"/>
                    <a:gd name="T51" fmla="*/ 178 h 216"/>
                    <a:gd name="T52" fmla="*/ 172 w 256"/>
                    <a:gd name="T53" fmla="*/ 202 h 216"/>
                    <a:gd name="T54" fmla="*/ 178 w 256"/>
                    <a:gd name="T55" fmla="*/ 215 h 216"/>
                    <a:gd name="T56" fmla="*/ 183 w 256"/>
                    <a:gd name="T57" fmla="*/ 191 h 216"/>
                    <a:gd name="T58" fmla="*/ 202 w 256"/>
                    <a:gd name="T59" fmla="*/ 182 h 216"/>
                    <a:gd name="T60" fmla="*/ 214 w 256"/>
                    <a:gd name="T61" fmla="*/ 177 h 216"/>
                    <a:gd name="T62" fmla="*/ 210 w 256"/>
                    <a:gd name="T63" fmla="*/ 158 h 216"/>
                    <a:gd name="T64" fmla="*/ 219 w 256"/>
                    <a:gd name="T65" fmla="*/ 126 h 216"/>
                    <a:gd name="T66" fmla="*/ 232 w 256"/>
                    <a:gd name="T67" fmla="*/ 130 h 216"/>
                    <a:gd name="T68" fmla="*/ 236 w 256"/>
                    <a:gd name="T69" fmla="*/ 145 h 216"/>
                    <a:gd name="T70" fmla="*/ 247 w 256"/>
                    <a:gd name="T71" fmla="*/ 137 h 216"/>
                    <a:gd name="T72" fmla="*/ 244 w 256"/>
                    <a:gd name="T73" fmla="*/ 134 h 216"/>
                    <a:gd name="T74" fmla="*/ 252 w 256"/>
                    <a:gd name="T75" fmla="*/ 114 h 216"/>
                    <a:gd name="T76" fmla="*/ 255 w 256"/>
                    <a:gd name="T77" fmla="*/ 137 h 216"/>
                    <a:gd name="T78" fmla="*/ 168 w 256"/>
                    <a:gd name="T79" fmla="*/ 0 h 21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56" h="216">
                      <a:moveTo>
                        <a:pt x="168" y="0"/>
                      </a:moveTo>
                      <a:lnTo>
                        <a:pt x="168" y="15"/>
                      </a:lnTo>
                      <a:lnTo>
                        <a:pt x="173" y="20"/>
                      </a:lnTo>
                      <a:lnTo>
                        <a:pt x="201" y="20"/>
                      </a:lnTo>
                      <a:lnTo>
                        <a:pt x="201" y="28"/>
                      </a:lnTo>
                      <a:lnTo>
                        <a:pt x="181" y="28"/>
                      </a:lnTo>
                      <a:lnTo>
                        <a:pt x="181" y="52"/>
                      </a:lnTo>
                      <a:lnTo>
                        <a:pt x="172" y="41"/>
                      </a:lnTo>
                      <a:lnTo>
                        <a:pt x="172" y="56"/>
                      </a:lnTo>
                      <a:lnTo>
                        <a:pt x="160" y="70"/>
                      </a:lnTo>
                      <a:lnTo>
                        <a:pt x="152" y="62"/>
                      </a:lnTo>
                      <a:lnTo>
                        <a:pt x="140" y="72"/>
                      </a:lnTo>
                      <a:lnTo>
                        <a:pt x="138" y="69"/>
                      </a:lnTo>
                      <a:lnTo>
                        <a:pt x="123" y="69"/>
                      </a:lnTo>
                      <a:lnTo>
                        <a:pt x="131" y="59"/>
                      </a:lnTo>
                      <a:lnTo>
                        <a:pt x="131" y="55"/>
                      </a:lnTo>
                      <a:lnTo>
                        <a:pt x="124" y="48"/>
                      </a:lnTo>
                      <a:lnTo>
                        <a:pt x="124" y="37"/>
                      </a:lnTo>
                      <a:lnTo>
                        <a:pt x="114" y="48"/>
                      </a:lnTo>
                      <a:lnTo>
                        <a:pt x="114" y="69"/>
                      </a:lnTo>
                      <a:lnTo>
                        <a:pt x="102" y="69"/>
                      </a:lnTo>
                      <a:lnTo>
                        <a:pt x="87" y="84"/>
                      </a:lnTo>
                      <a:lnTo>
                        <a:pt x="81" y="84"/>
                      </a:lnTo>
                      <a:lnTo>
                        <a:pt x="73" y="94"/>
                      </a:lnTo>
                      <a:lnTo>
                        <a:pt x="43" y="94"/>
                      </a:lnTo>
                      <a:lnTo>
                        <a:pt x="53" y="108"/>
                      </a:lnTo>
                      <a:lnTo>
                        <a:pt x="53" y="130"/>
                      </a:lnTo>
                      <a:lnTo>
                        <a:pt x="43" y="143"/>
                      </a:lnTo>
                      <a:lnTo>
                        <a:pt x="31" y="130"/>
                      </a:lnTo>
                      <a:lnTo>
                        <a:pt x="8" y="130"/>
                      </a:lnTo>
                      <a:lnTo>
                        <a:pt x="8" y="146"/>
                      </a:lnTo>
                      <a:lnTo>
                        <a:pt x="0" y="156"/>
                      </a:lnTo>
                      <a:lnTo>
                        <a:pt x="0" y="177"/>
                      </a:lnTo>
                      <a:lnTo>
                        <a:pt x="15" y="194"/>
                      </a:lnTo>
                      <a:lnTo>
                        <a:pt x="37" y="194"/>
                      </a:lnTo>
                      <a:lnTo>
                        <a:pt x="71" y="153"/>
                      </a:lnTo>
                      <a:lnTo>
                        <a:pt x="101" y="153"/>
                      </a:lnTo>
                      <a:lnTo>
                        <a:pt x="105" y="145"/>
                      </a:lnTo>
                      <a:lnTo>
                        <a:pt x="112" y="153"/>
                      </a:lnTo>
                      <a:lnTo>
                        <a:pt x="111" y="161"/>
                      </a:lnTo>
                      <a:lnTo>
                        <a:pt x="139" y="189"/>
                      </a:lnTo>
                      <a:lnTo>
                        <a:pt x="139" y="201"/>
                      </a:lnTo>
                      <a:lnTo>
                        <a:pt x="145" y="196"/>
                      </a:lnTo>
                      <a:lnTo>
                        <a:pt x="142" y="189"/>
                      </a:lnTo>
                      <a:lnTo>
                        <a:pt x="145" y="185"/>
                      </a:lnTo>
                      <a:lnTo>
                        <a:pt x="150" y="189"/>
                      </a:lnTo>
                      <a:lnTo>
                        <a:pt x="152" y="188"/>
                      </a:lnTo>
                      <a:lnTo>
                        <a:pt x="123" y="152"/>
                      </a:lnTo>
                      <a:lnTo>
                        <a:pt x="123" y="139"/>
                      </a:lnTo>
                      <a:lnTo>
                        <a:pt x="131" y="139"/>
                      </a:lnTo>
                      <a:lnTo>
                        <a:pt x="131" y="146"/>
                      </a:lnTo>
                      <a:lnTo>
                        <a:pt x="160" y="178"/>
                      </a:lnTo>
                      <a:lnTo>
                        <a:pt x="160" y="188"/>
                      </a:lnTo>
                      <a:lnTo>
                        <a:pt x="172" y="202"/>
                      </a:lnTo>
                      <a:lnTo>
                        <a:pt x="169" y="205"/>
                      </a:lnTo>
                      <a:lnTo>
                        <a:pt x="178" y="215"/>
                      </a:lnTo>
                      <a:lnTo>
                        <a:pt x="191" y="200"/>
                      </a:lnTo>
                      <a:lnTo>
                        <a:pt x="183" y="191"/>
                      </a:lnTo>
                      <a:lnTo>
                        <a:pt x="191" y="182"/>
                      </a:lnTo>
                      <a:lnTo>
                        <a:pt x="202" y="182"/>
                      </a:lnTo>
                      <a:lnTo>
                        <a:pt x="207" y="177"/>
                      </a:lnTo>
                      <a:lnTo>
                        <a:pt x="214" y="177"/>
                      </a:lnTo>
                      <a:lnTo>
                        <a:pt x="205" y="164"/>
                      </a:lnTo>
                      <a:lnTo>
                        <a:pt x="210" y="158"/>
                      </a:lnTo>
                      <a:lnTo>
                        <a:pt x="210" y="137"/>
                      </a:lnTo>
                      <a:lnTo>
                        <a:pt x="219" y="126"/>
                      </a:lnTo>
                      <a:lnTo>
                        <a:pt x="223" y="130"/>
                      </a:lnTo>
                      <a:lnTo>
                        <a:pt x="232" y="130"/>
                      </a:lnTo>
                      <a:lnTo>
                        <a:pt x="228" y="136"/>
                      </a:lnTo>
                      <a:lnTo>
                        <a:pt x="236" y="145"/>
                      </a:lnTo>
                      <a:lnTo>
                        <a:pt x="241" y="137"/>
                      </a:lnTo>
                      <a:lnTo>
                        <a:pt x="247" y="137"/>
                      </a:lnTo>
                      <a:lnTo>
                        <a:pt x="247" y="134"/>
                      </a:lnTo>
                      <a:lnTo>
                        <a:pt x="244" y="134"/>
                      </a:lnTo>
                      <a:lnTo>
                        <a:pt x="239" y="130"/>
                      </a:lnTo>
                      <a:lnTo>
                        <a:pt x="252" y="114"/>
                      </a:lnTo>
                      <a:lnTo>
                        <a:pt x="252" y="137"/>
                      </a:lnTo>
                      <a:lnTo>
                        <a:pt x="255" y="137"/>
                      </a:lnTo>
                      <a:lnTo>
                        <a:pt x="255" y="0"/>
                      </a:lnTo>
                      <a:lnTo>
                        <a:pt x="16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2"/>
                <p:cNvSpPr>
                  <a:spLocks/>
                </p:cNvSpPr>
                <p:nvPr/>
              </p:nvSpPr>
              <p:spPr bwMode="grayWhite">
                <a:xfrm>
                  <a:off x="2276" y="406"/>
                  <a:ext cx="1089" cy="769"/>
                </a:xfrm>
                <a:custGeom>
                  <a:avLst/>
                  <a:gdLst>
                    <a:gd name="T0" fmla="*/ 32 w 1089"/>
                    <a:gd name="T1" fmla="*/ 202 h 769"/>
                    <a:gd name="T2" fmla="*/ 99 w 1089"/>
                    <a:gd name="T3" fmla="*/ 134 h 769"/>
                    <a:gd name="T4" fmla="*/ 142 w 1089"/>
                    <a:gd name="T5" fmla="*/ 181 h 769"/>
                    <a:gd name="T6" fmla="*/ 118 w 1089"/>
                    <a:gd name="T7" fmla="*/ 179 h 769"/>
                    <a:gd name="T8" fmla="*/ 216 w 1089"/>
                    <a:gd name="T9" fmla="*/ 172 h 769"/>
                    <a:gd name="T10" fmla="*/ 240 w 1089"/>
                    <a:gd name="T11" fmla="*/ 110 h 769"/>
                    <a:gd name="T12" fmla="*/ 241 w 1089"/>
                    <a:gd name="T13" fmla="*/ 124 h 769"/>
                    <a:gd name="T14" fmla="*/ 223 w 1089"/>
                    <a:gd name="T15" fmla="*/ 172 h 769"/>
                    <a:gd name="T16" fmla="*/ 301 w 1089"/>
                    <a:gd name="T17" fmla="*/ 133 h 769"/>
                    <a:gd name="T18" fmla="*/ 460 w 1089"/>
                    <a:gd name="T19" fmla="*/ 23 h 769"/>
                    <a:gd name="T20" fmla="*/ 574 w 1089"/>
                    <a:gd name="T21" fmla="*/ 29 h 769"/>
                    <a:gd name="T22" fmla="*/ 701 w 1089"/>
                    <a:gd name="T23" fmla="*/ 15 h 769"/>
                    <a:gd name="T24" fmla="*/ 840 w 1089"/>
                    <a:gd name="T25" fmla="*/ 71 h 769"/>
                    <a:gd name="T26" fmla="*/ 1001 w 1089"/>
                    <a:gd name="T27" fmla="*/ 91 h 769"/>
                    <a:gd name="T28" fmla="*/ 1080 w 1089"/>
                    <a:gd name="T29" fmla="*/ 156 h 769"/>
                    <a:gd name="T30" fmla="*/ 1019 w 1089"/>
                    <a:gd name="T31" fmla="*/ 206 h 769"/>
                    <a:gd name="T32" fmla="*/ 985 w 1089"/>
                    <a:gd name="T33" fmla="*/ 270 h 769"/>
                    <a:gd name="T34" fmla="*/ 945 w 1089"/>
                    <a:gd name="T35" fmla="*/ 273 h 769"/>
                    <a:gd name="T36" fmla="*/ 958 w 1089"/>
                    <a:gd name="T37" fmla="*/ 184 h 769"/>
                    <a:gd name="T38" fmla="*/ 906 w 1089"/>
                    <a:gd name="T39" fmla="*/ 232 h 769"/>
                    <a:gd name="T40" fmla="*/ 868 w 1089"/>
                    <a:gd name="T41" fmla="*/ 273 h 769"/>
                    <a:gd name="T42" fmla="*/ 881 w 1089"/>
                    <a:gd name="T43" fmla="*/ 318 h 769"/>
                    <a:gd name="T44" fmla="*/ 837 w 1089"/>
                    <a:gd name="T45" fmla="*/ 385 h 769"/>
                    <a:gd name="T46" fmla="*/ 844 w 1089"/>
                    <a:gd name="T47" fmla="*/ 439 h 769"/>
                    <a:gd name="T48" fmla="*/ 839 w 1089"/>
                    <a:gd name="T49" fmla="*/ 413 h 769"/>
                    <a:gd name="T50" fmla="*/ 797 w 1089"/>
                    <a:gd name="T51" fmla="*/ 416 h 769"/>
                    <a:gd name="T52" fmla="*/ 828 w 1089"/>
                    <a:gd name="T53" fmla="*/ 496 h 769"/>
                    <a:gd name="T54" fmla="*/ 751 w 1089"/>
                    <a:gd name="T55" fmla="*/ 589 h 769"/>
                    <a:gd name="T56" fmla="*/ 730 w 1089"/>
                    <a:gd name="T57" fmla="*/ 615 h 769"/>
                    <a:gd name="T58" fmla="*/ 703 w 1089"/>
                    <a:gd name="T59" fmla="*/ 706 h 769"/>
                    <a:gd name="T60" fmla="*/ 665 w 1089"/>
                    <a:gd name="T61" fmla="*/ 708 h 769"/>
                    <a:gd name="T62" fmla="*/ 711 w 1089"/>
                    <a:gd name="T63" fmla="*/ 768 h 769"/>
                    <a:gd name="T64" fmla="*/ 634 w 1089"/>
                    <a:gd name="T65" fmla="*/ 626 h 769"/>
                    <a:gd name="T66" fmla="*/ 545 w 1089"/>
                    <a:gd name="T67" fmla="*/ 596 h 769"/>
                    <a:gd name="T68" fmla="*/ 503 w 1089"/>
                    <a:gd name="T69" fmla="*/ 689 h 769"/>
                    <a:gd name="T70" fmla="*/ 471 w 1089"/>
                    <a:gd name="T71" fmla="*/ 738 h 769"/>
                    <a:gd name="T72" fmla="*/ 416 w 1089"/>
                    <a:gd name="T73" fmla="*/ 592 h 769"/>
                    <a:gd name="T74" fmla="*/ 373 w 1089"/>
                    <a:gd name="T75" fmla="*/ 607 h 769"/>
                    <a:gd name="T76" fmla="*/ 336 w 1089"/>
                    <a:gd name="T77" fmla="*/ 545 h 769"/>
                    <a:gd name="T78" fmla="*/ 223 w 1089"/>
                    <a:gd name="T79" fmla="*/ 510 h 769"/>
                    <a:gd name="T80" fmla="*/ 263 w 1089"/>
                    <a:gd name="T81" fmla="*/ 577 h 769"/>
                    <a:gd name="T82" fmla="*/ 234 w 1089"/>
                    <a:gd name="T83" fmla="*/ 620 h 769"/>
                    <a:gd name="T84" fmla="*/ 190 w 1089"/>
                    <a:gd name="T85" fmla="*/ 605 h 769"/>
                    <a:gd name="T86" fmla="*/ 119 w 1089"/>
                    <a:gd name="T87" fmla="*/ 495 h 769"/>
                    <a:gd name="T88" fmla="*/ 149 w 1089"/>
                    <a:gd name="T89" fmla="*/ 432 h 769"/>
                    <a:gd name="T90" fmla="*/ 166 w 1089"/>
                    <a:gd name="T91" fmla="*/ 385 h 769"/>
                    <a:gd name="T92" fmla="*/ 149 w 1089"/>
                    <a:gd name="T93" fmla="*/ 226 h 769"/>
                    <a:gd name="T94" fmla="*/ 86 w 1089"/>
                    <a:gd name="T95" fmla="*/ 193 h 769"/>
                    <a:gd name="T96" fmla="*/ 55 w 1089"/>
                    <a:gd name="T97" fmla="*/ 210 h 769"/>
                    <a:gd name="T98" fmla="*/ 0 w 1089"/>
                    <a:gd name="T99" fmla="*/ 226 h 76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1089" h="769">
                      <a:moveTo>
                        <a:pt x="0" y="226"/>
                      </a:moveTo>
                      <a:lnTo>
                        <a:pt x="32" y="202"/>
                      </a:lnTo>
                      <a:lnTo>
                        <a:pt x="62" y="156"/>
                      </a:lnTo>
                      <a:lnTo>
                        <a:pt x="99" y="134"/>
                      </a:lnTo>
                      <a:lnTo>
                        <a:pt x="137" y="160"/>
                      </a:lnTo>
                      <a:lnTo>
                        <a:pt x="142" y="181"/>
                      </a:lnTo>
                      <a:lnTo>
                        <a:pt x="133" y="181"/>
                      </a:lnTo>
                      <a:lnTo>
                        <a:pt x="118" y="179"/>
                      </a:lnTo>
                      <a:lnTo>
                        <a:pt x="137" y="202"/>
                      </a:lnTo>
                      <a:lnTo>
                        <a:pt x="216" y="172"/>
                      </a:lnTo>
                      <a:lnTo>
                        <a:pt x="206" y="149"/>
                      </a:lnTo>
                      <a:lnTo>
                        <a:pt x="240" y="110"/>
                      </a:lnTo>
                      <a:lnTo>
                        <a:pt x="262" y="111"/>
                      </a:lnTo>
                      <a:lnTo>
                        <a:pt x="241" y="124"/>
                      </a:lnTo>
                      <a:lnTo>
                        <a:pt x="223" y="153"/>
                      </a:lnTo>
                      <a:lnTo>
                        <a:pt x="223" y="172"/>
                      </a:lnTo>
                      <a:lnTo>
                        <a:pt x="255" y="193"/>
                      </a:lnTo>
                      <a:lnTo>
                        <a:pt x="301" y="133"/>
                      </a:lnTo>
                      <a:lnTo>
                        <a:pt x="461" y="63"/>
                      </a:lnTo>
                      <a:lnTo>
                        <a:pt x="460" y="23"/>
                      </a:lnTo>
                      <a:lnTo>
                        <a:pt x="533" y="8"/>
                      </a:lnTo>
                      <a:lnTo>
                        <a:pt x="574" y="29"/>
                      </a:lnTo>
                      <a:lnTo>
                        <a:pt x="671" y="0"/>
                      </a:lnTo>
                      <a:lnTo>
                        <a:pt x="701" y="15"/>
                      </a:lnTo>
                      <a:lnTo>
                        <a:pt x="766" y="85"/>
                      </a:lnTo>
                      <a:lnTo>
                        <a:pt x="840" y="71"/>
                      </a:lnTo>
                      <a:lnTo>
                        <a:pt x="886" y="96"/>
                      </a:lnTo>
                      <a:lnTo>
                        <a:pt x="1001" y="91"/>
                      </a:lnTo>
                      <a:lnTo>
                        <a:pt x="1088" y="118"/>
                      </a:lnTo>
                      <a:lnTo>
                        <a:pt x="1080" y="156"/>
                      </a:lnTo>
                      <a:lnTo>
                        <a:pt x="1006" y="181"/>
                      </a:lnTo>
                      <a:lnTo>
                        <a:pt x="1019" y="206"/>
                      </a:lnTo>
                      <a:lnTo>
                        <a:pt x="987" y="220"/>
                      </a:lnTo>
                      <a:lnTo>
                        <a:pt x="985" y="270"/>
                      </a:lnTo>
                      <a:lnTo>
                        <a:pt x="957" y="304"/>
                      </a:lnTo>
                      <a:lnTo>
                        <a:pt x="945" y="273"/>
                      </a:lnTo>
                      <a:lnTo>
                        <a:pt x="961" y="244"/>
                      </a:lnTo>
                      <a:lnTo>
                        <a:pt x="958" y="184"/>
                      </a:lnTo>
                      <a:lnTo>
                        <a:pt x="929" y="215"/>
                      </a:lnTo>
                      <a:lnTo>
                        <a:pt x="906" y="232"/>
                      </a:lnTo>
                      <a:lnTo>
                        <a:pt x="884" y="205"/>
                      </a:lnTo>
                      <a:lnTo>
                        <a:pt x="868" y="273"/>
                      </a:lnTo>
                      <a:lnTo>
                        <a:pt x="885" y="273"/>
                      </a:lnTo>
                      <a:lnTo>
                        <a:pt x="881" y="318"/>
                      </a:lnTo>
                      <a:lnTo>
                        <a:pt x="861" y="366"/>
                      </a:lnTo>
                      <a:lnTo>
                        <a:pt x="837" y="385"/>
                      </a:lnTo>
                      <a:lnTo>
                        <a:pt x="857" y="417"/>
                      </a:lnTo>
                      <a:lnTo>
                        <a:pt x="844" y="439"/>
                      </a:lnTo>
                      <a:lnTo>
                        <a:pt x="839" y="420"/>
                      </a:lnTo>
                      <a:lnTo>
                        <a:pt x="839" y="413"/>
                      </a:lnTo>
                      <a:lnTo>
                        <a:pt x="823" y="402"/>
                      </a:lnTo>
                      <a:lnTo>
                        <a:pt x="797" y="416"/>
                      </a:lnTo>
                      <a:lnTo>
                        <a:pt x="820" y="469"/>
                      </a:lnTo>
                      <a:lnTo>
                        <a:pt x="828" y="496"/>
                      </a:lnTo>
                      <a:lnTo>
                        <a:pt x="801" y="569"/>
                      </a:lnTo>
                      <a:lnTo>
                        <a:pt x="751" y="589"/>
                      </a:lnTo>
                      <a:lnTo>
                        <a:pt x="710" y="585"/>
                      </a:lnTo>
                      <a:lnTo>
                        <a:pt x="730" y="615"/>
                      </a:lnTo>
                      <a:lnTo>
                        <a:pt x="732" y="657"/>
                      </a:lnTo>
                      <a:lnTo>
                        <a:pt x="703" y="706"/>
                      </a:lnTo>
                      <a:lnTo>
                        <a:pt x="670" y="679"/>
                      </a:lnTo>
                      <a:lnTo>
                        <a:pt x="665" y="708"/>
                      </a:lnTo>
                      <a:lnTo>
                        <a:pt x="690" y="732"/>
                      </a:lnTo>
                      <a:lnTo>
                        <a:pt x="711" y="768"/>
                      </a:lnTo>
                      <a:lnTo>
                        <a:pt x="676" y="747"/>
                      </a:lnTo>
                      <a:lnTo>
                        <a:pt x="634" y="626"/>
                      </a:lnTo>
                      <a:lnTo>
                        <a:pt x="583" y="593"/>
                      </a:lnTo>
                      <a:lnTo>
                        <a:pt x="545" y="596"/>
                      </a:lnTo>
                      <a:lnTo>
                        <a:pt x="497" y="665"/>
                      </a:lnTo>
                      <a:lnTo>
                        <a:pt x="503" y="689"/>
                      </a:lnTo>
                      <a:lnTo>
                        <a:pt x="487" y="738"/>
                      </a:lnTo>
                      <a:lnTo>
                        <a:pt x="471" y="738"/>
                      </a:lnTo>
                      <a:lnTo>
                        <a:pt x="416" y="636"/>
                      </a:lnTo>
                      <a:lnTo>
                        <a:pt x="416" y="592"/>
                      </a:lnTo>
                      <a:lnTo>
                        <a:pt x="404" y="608"/>
                      </a:lnTo>
                      <a:lnTo>
                        <a:pt x="373" y="607"/>
                      </a:lnTo>
                      <a:lnTo>
                        <a:pt x="385" y="580"/>
                      </a:lnTo>
                      <a:lnTo>
                        <a:pt x="336" y="545"/>
                      </a:lnTo>
                      <a:lnTo>
                        <a:pt x="275" y="545"/>
                      </a:lnTo>
                      <a:lnTo>
                        <a:pt x="223" y="510"/>
                      </a:lnTo>
                      <a:lnTo>
                        <a:pt x="220" y="545"/>
                      </a:lnTo>
                      <a:lnTo>
                        <a:pt x="263" y="577"/>
                      </a:lnTo>
                      <a:lnTo>
                        <a:pt x="278" y="576"/>
                      </a:lnTo>
                      <a:lnTo>
                        <a:pt x="234" y="620"/>
                      </a:lnTo>
                      <a:lnTo>
                        <a:pt x="190" y="630"/>
                      </a:lnTo>
                      <a:lnTo>
                        <a:pt x="190" y="605"/>
                      </a:lnTo>
                      <a:lnTo>
                        <a:pt x="127" y="518"/>
                      </a:lnTo>
                      <a:lnTo>
                        <a:pt x="119" y="495"/>
                      </a:lnTo>
                      <a:lnTo>
                        <a:pt x="153" y="467"/>
                      </a:lnTo>
                      <a:lnTo>
                        <a:pt x="149" y="432"/>
                      </a:lnTo>
                      <a:lnTo>
                        <a:pt x="149" y="393"/>
                      </a:lnTo>
                      <a:lnTo>
                        <a:pt x="166" y="385"/>
                      </a:lnTo>
                      <a:lnTo>
                        <a:pt x="149" y="366"/>
                      </a:lnTo>
                      <a:lnTo>
                        <a:pt x="149" y="226"/>
                      </a:lnTo>
                      <a:lnTo>
                        <a:pt x="61" y="226"/>
                      </a:lnTo>
                      <a:lnTo>
                        <a:pt x="86" y="193"/>
                      </a:lnTo>
                      <a:lnTo>
                        <a:pt x="84" y="181"/>
                      </a:lnTo>
                      <a:lnTo>
                        <a:pt x="55" y="210"/>
                      </a:lnTo>
                      <a:lnTo>
                        <a:pt x="45" y="226"/>
                      </a:lnTo>
                      <a:lnTo>
                        <a:pt x="0" y="2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3"/>
                <p:cNvSpPr>
                  <a:spLocks/>
                </p:cNvSpPr>
                <p:nvPr/>
              </p:nvSpPr>
              <p:spPr bwMode="grayWhite">
                <a:xfrm>
                  <a:off x="3135" y="720"/>
                  <a:ext cx="94" cy="157"/>
                </a:xfrm>
                <a:custGeom>
                  <a:avLst/>
                  <a:gdLst>
                    <a:gd name="T0" fmla="*/ 63 w 94"/>
                    <a:gd name="T1" fmla="*/ 0 h 157"/>
                    <a:gd name="T2" fmla="*/ 63 w 94"/>
                    <a:gd name="T3" fmla="*/ 20 h 157"/>
                    <a:gd name="T4" fmla="*/ 55 w 94"/>
                    <a:gd name="T5" fmla="*/ 33 h 157"/>
                    <a:gd name="T6" fmla="*/ 57 w 94"/>
                    <a:gd name="T7" fmla="*/ 54 h 157"/>
                    <a:gd name="T8" fmla="*/ 47 w 94"/>
                    <a:gd name="T9" fmla="*/ 82 h 157"/>
                    <a:gd name="T10" fmla="*/ 31 w 94"/>
                    <a:gd name="T11" fmla="*/ 108 h 157"/>
                    <a:gd name="T12" fmla="*/ 7 w 94"/>
                    <a:gd name="T13" fmla="*/ 125 h 157"/>
                    <a:gd name="T14" fmla="*/ 0 w 94"/>
                    <a:gd name="T15" fmla="*/ 154 h 157"/>
                    <a:gd name="T16" fmla="*/ 10 w 94"/>
                    <a:gd name="T17" fmla="*/ 156 h 157"/>
                    <a:gd name="T18" fmla="*/ 10 w 94"/>
                    <a:gd name="T19" fmla="*/ 129 h 157"/>
                    <a:gd name="T20" fmla="*/ 44 w 94"/>
                    <a:gd name="T21" fmla="*/ 127 h 157"/>
                    <a:gd name="T22" fmla="*/ 69 w 94"/>
                    <a:gd name="T23" fmla="*/ 109 h 157"/>
                    <a:gd name="T24" fmla="*/ 69 w 94"/>
                    <a:gd name="T25" fmla="*/ 72 h 157"/>
                    <a:gd name="T26" fmla="*/ 77 w 94"/>
                    <a:gd name="T27" fmla="*/ 58 h 157"/>
                    <a:gd name="T28" fmla="*/ 64 w 94"/>
                    <a:gd name="T29" fmla="*/ 34 h 157"/>
                    <a:gd name="T30" fmla="*/ 82 w 94"/>
                    <a:gd name="T31" fmla="*/ 27 h 157"/>
                    <a:gd name="T32" fmla="*/ 93 w 94"/>
                    <a:gd name="T33" fmla="*/ 8 h 157"/>
                    <a:gd name="T34" fmla="*/ 69 w 94"/>
                    <a:gd name="T35" fmla="*/ 11 h 157"/>
                    <a:gd name="T36" fmla="*/ 63 w 94"/>
                    <a:gd name="T37" fmla="*/ 0 h 157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94" h="157">
                      <a:moveTo>
                        <a:pt x="63" y="0"/>
                      </a:moveTo>
                      <a:lnTo>
                        <a:pt x="63" y="20"/>
                      </a:lnTo>
                      <a:lnTo>
                        <a:pt x="55" y="33"/>
                      </a:lnTo>
                      <a:lnTo>
                        <a:pt x="57" y="54"/>
                      </a:lnTo>
                      <a:lnTo>
                        <a:pt x="47" y="82"/>
                      </a:lnTo>
                      <a:lnTo>
                        <a:pt x="31" y="108"/>
                      </a:lnTo>
                      <a:lnTo>
                        <a:pt x="7" y="125"/>
                      </a:lnTo>
                      <a:lnTo>
                        <a:pt x="0" y="154"/>
                      </a:lnTo>
                      <a:lnTo>
                        <a:pt x="10" y="156"/>
                      </a:lnTo>
                      <a:lnTo>
                        <a:pt x="10" y="129"/>
                      </a:lnTo>
                      <a:lnTo>
                        <a:pt x="44" y="127"/>
                      </a:lnTo>
                      <a:lnTo>
                        <a:pt x="69" y="109"/>
                      </a:lnTo>
                      <a:lnTo>
                        <a:pt x="69" y="72"/>
                      </a:lnTo>
                      <a:lnTo>
                        <a:pt x="77" y="58"/>
                      </a:lnTo>
                      <a:lnTo>
                        <a:pt x="64" y="34"/>
                      </a:lnTo>
                      <a:lnTo>
                        <a:pt x="82" y="27"/>
                      </a:lnTo>
                      <a:lnTo>
                        <a:pt x="93" y="8"/>
                      </a:lnTo>
                      <a:lnTo>
                        <a:pt x="69" y="11"/>
                      </a:lnTo>
                      <a:lnTo>
                        <a:pt x="63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4"/>
                <p:cNvSpPr>
                  <a:spLocks/>
                </p:cNvSpPr>
                <p:nvPr/>
              </p:nvSpPr>
              <p:spPr bwMode="grayWhite">
                <a:xfrm>
                  <a:off x="2780" y="1139"/>
                  <a:ext cx="19" cy="36"/>
                </a:xfrm>
                <a:custGeom>
                  <a:avLst/>
                  <a:gdLst>
                    <a:gd name="T0" fmla="*/ 9 w 19"/>
                    <a:gd name="T1" fmla="*/ 0 h 36"/>
                    <a:gd name="T2" fmla="*/ 0 w 19"/>
                    <a:gd name="T3" fmla="*/ 16 h 36"/>
                    <a:gd name="T4" fmla="*/ 6 w 19"/>
                    <a:gd name="T5" fmla="*/ 35 h 36"/>
                    <a:gd name="T6" fmla="*/ 18 w 19"/>
                    <a:gd name="T7" fmla="*/ 21 h 36"/>
                    <a:gd name="T8" fmla="*/ 9 w 1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9" h="36">
                      <a:moveTo>
                        <a:pt x="9" y="0"/>
                      </a:moveTo>
                      <a:lnTo>
                        <a:pt x="0" y="16"/>
                      </a:lnTo>
                      <a:lnTo>
                        <a:pt x="6" y="35"/>
                      </a:lnTo>
                      <a:lnTo>
                        <a:pt x="18" y="21"/>
                      </a:lnTo>
                      <a:lnTo>
                        <a:pt x="9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5"/>
                <p:cNvSpPr>
                  <a:spLocks/>
                </p:cNvSpPr>
                <p:nvPr/>
              </p:nvSpPr>
              <p:spPr bwMode="grayWhite">
                <a:xfrm>
                  <a:off x="2923" y="1177"/>
                  <a:ext cx="220" cy="94"/>
                </a:xfrm>
                <a:custGeom>
                  <a:avLst/>
                  <a:gdLst>
                    <a:gd name="T0" fmla="*/ 0 w 220"/>
                    <a:gd name="T1" fmla="*/ 0 h 94"/>
                    <a:gd name="T2" fmla="*/ 33 w 220"/>
                    <a:gd name="T3" fmla="*/ 7 h 94"/>
                    <a:gd name="T4" fmla="*/ 82 w 220"/>
                    <a:gd name="T5" fmla="*/ 41 h 94"/>
                    <a:gd name="T6" fmla="*/ 75 w 220"/>
                    <a:gd name="T7" fmla="*/ 60 h 94"/>
                    <a:gd name="T8" fmla="*/ 115 w 220"/>
                    <a:gd name="T9" fmla="*/ 77 h 94"/>
                    <a:gd name="T10" fmla="*/ 219 w 220"/>
                    <a:gd name="T11" fmla="*/ 77 h 94"/>
                    <a:gd name="T12" fmla="*/ 106 w 220"/>
                    <a:gd name="T13" fmla="*/ 93 h 94"/>
                    <a:gd name="T14" fmla="*/ 75 w 220"/>
                    <a:gd name="T15" fmla="*/ 60 h 94"/>
                    <a:gd name="T16" fmla="*/ 46 w 220"/>
                    <a:gd name="T17" fmla="*/ 54 h 94"/>
                    <a:gd name="T18" fmla="*/ 0 w 220"/>
                    <a:gd name="T19" fmla="*/ 0 h 9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20" h="94">
                      <a:moveTo>
                        <a:pt x="0" y="0"/>
                      </a:moveTo>
                      <a:lnTo>
                        <a:pt x="33" y="7"/>
                      </a:lnTo>
                      <a:lnTo>
                        <a:pt x="82" y="41"/>
                      </a:lnTo>
                      <a:lnTo>
                        <a:pt x="75" y="60"/>
                      </a:lnTo>
                      <a:lnTo>
                        <a:pt x="115" y="77"/>
                      </a:lnTo>
                      <a:lnTo>
                        <a:pt x="219" y="77"/>
                      </a:lnTo>
                      <a:lnTo>
                        <a:pt x="106" y="93"/>
                      </a:lnTo>
                      <a:lnTo>
                        <a:pt x="75" y="60"/>
                      </a:lnTo>
                      <a:lnTo>
                        <a:pt x="46" y="5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6"/>
                <p:cNvSpPr>
                  <a:spLocks/>
                </p:cNvSpPr>
                <p:nvPr/>
              </p:nvSpPr>
              <p:spPr bwMode="grayWhite">
                <a:xfrm>
                  <a:off x="3098" y="1255"/>
                  <a:ext cx="236" cy="221"/>
                </a:xfrm>
                <a:custGeom>
                  <a:avLst/>
                  <a:gdLst>
                    <a:gd name="T0" fmla="*/ 190 w 236"/>
                    <a:gd name="T1" fmla="*/ 216 h 221"/>
                    <a:gd name="T2" fmla="*/ 179 w 236"/>
                    <a:gd name="T3" fmla="*/ 212 h 221"/>
                    <a:gd name="T4" fmla="*/ 154 w 236"/>
                    <a:gd name="T5" fmla="*/ 187 h 221"/>
                    <a:gd name="T6" fmla="*/ 130 w 236"/>
                    <a:gd name="T7" fmla="*/ 182 h 221"/>
                    <a:gd name="T8" fmla="*/ 124 w 236"/>
                    <a:gd name="T9" fmla="*/ 167 h 221"/>
                    <a:gd name="T10" fmla="*/ 110 w 236"/>
                    <a:gd name="T11" fmla="*/ 155 h 221"/>
                    <a:gd name="T12" fmla="*/ 87 w 236"/>
                    <a:gd name="T13" fmla="*/ 155 h 221"/>
                    <a:gd name="T14" fmla="*/ 62 w 236"/>
                    <a:gd name="T15" fmla="*/ 165 h 221"/>
                    <a:gd name="T16" fmla="*/ 40 w 236"/>
                    <a:gd name="T17" fmla="*/ 169 h 221"/>
                    <a:gd name="T18" fmla="*/ 15 w 236"/>
                    <a:gd name="T19" fmla="*/ 169 h 221"/>
                    <a:gd name="T20" fmla="*/ 14 w 236"/>
                    <a:gd name="T21" fmla="*/ 152 h 221"/>
                    <a:gd name="T22" fmla="*/ 5 w 236"/>
                    <a:gd name="T23" fmla="*/ 127 h 221"/>
                    <a:gd name="T24" fmla="*/ 3 w 236"/>
                    <a:gd name="T25" fmla="*/ 114 h 221"/>
                    <a:gd name="T26" fmla="*/ 3 w 236"/>
                    <a:gd name="T27" fmla="*/ 79 h 221"/>
                    <a:gd name="T28" fmla="*/ 44 w 236"/>
                    <a:gd name="T29" fmla="*/ 60 h 221"/>
                    <a:gd name="T30" fmla="*/ 48 w 236"/>
                    <a:gd name="T31" fmla="*/ 41 h 221"/>
                    <a:gd name="T32" fmla="*/ 57 w 236"/>
                    <a:gd name="T33" fmla="*/ 43 h 221"/>
                    <a:gd name="T34" fmla="*/ 77 w 236"/>
                    <a:gd name="T35" fmla="*/ 22 h 221"/>
                    <a:gd name="T36" fmla="*/ 98 w 236"/>
                    <a:gd name="T37" fmla="*/ 25 h 221"/>
                    <a:gd name="T38" fmla="*/ 113 w 236"/>
                    <a:gd name="T39" fmla="*/ 10 h 221"/>
                    <a:gd name="T40" fmla="*/ 125 w 236"/>
                    <a:gd name="T41" fmla="*/ 8 h 221"/>
                    <a:gd name="T42" fmla="*/ 145 w 236"/>
                    <a:gd name="T43" fmla="*/ 34 h 221"/>
                    <a:gd name="T44" fmla="*/ 163 w 236"/>
                    <a:gd name="T45" fmla="*/ 43 h 221"/>
                    <a:gd name="T46" fmla="*/ 165 w 236"/>
                    <a:gd name="T47" fmla="*/ 16 h 221"/>
                    <a:gd name="T48" fmla="*/ 172 w 236"/>
                    <a:gd name="T49" fmla="*/ 0 h 221"/>
                    <a:gd name="T50" fmla="*/ 185 w 236"/>
                    <a:gd name="T51" fmla="*/ 22 h 221"/>
                    <a:gd name="T52" fmla="*/ 196 w 236"/>
                    <a:gd name="T53" fmla="*/ 60 h 221"/>
                    <a:gd name="T54" fmla="*/ 219 w 236"/>
                    <a:gd name="T55" fmla="*/ 83 h 221"/>
                    <a:gd name="T56" fmla="*/ 232 w 236"/>
                    <a:gd name="T57" fmla="*/ 101 h 221"/>
                    <a:gd name="T58" fmla="*/ 235 w 236"/>
                    <a:gd name="T59" fmla="*/ 133 h 221"/>
                    <a:gd name="T60" fmla="*/ 221 w 236"/>
                    <a:gd name="T61" fmla="*/ 169 h 221"/>
                    <a:gd name="T62" fmla="*/ 217 w 236"/>
                    <a:gd name="T63" fmla="*/ 202 h 221"/>
                    <a:gd name="T64" fmla="*/ 196 w 236"/>
                    <a:gd name="T65" fmla="*/ 215 h 22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36" h="221">
                      <a:moveTo>
                        <a:pt x="196" y="215"/>
                      </a:moveTo>
                      <a:lnTo>
                        <a:pt x="190" y="216"/>
                      </a:lnTo>
                      <a:lnTo>
                        <a:pt x="185" y="220"/>
                      </a:lnTo>
                      <a:lnTo>
                        <a:pt x="179" y="212"/>
                      </a:lnTo>
                      <a:lnTo>
                        <a:pt x="158" y="202"/>
                      </a:lnTo>
                      <a:lnTo>
                        <a:pt x="154" y="187"/>
                      </a:lnTo>
                      <a:lnTo>
                        <a:pt x="147" y="182"/>
                      </a:lnTo>
                      <a:lnTo>
                        <a:pt x="130" y="182"/>
                      </a:lnTo>
                      <a:lnTo>
                        <a:pt x="130" y="170"/>
                      </a:lnTo>
                      <a:lnTo>
                        <a:pt x="124" y="167"/>
                      </a:lnTo>
                      <a:lnTo>
                        <a:pt x="123" y="157"/>
                      </a:lnTo>
                      <a:lnTo>
                        <a:pt x="110" y="155"/>
                      </a:lnTo>
                      <a:lnTo>
                        <a:pt x="98" y="152"/>
                      </a:lnTo>
                      <a:lnTo>
                        <a:pt x="87" y="155"/>
                      </a:lnTo>
                      <a:lnTo>
                        <a:pt x="87" y="157"/>
                      </a:lnTo>
                      <a:lnTo>
                        <a:pt x="62" y="165"/>
                      </a:lnTo>
                      <a:lnTo>
                        <a:pt x="62" y="169"/>
                      </a:lnTo>
                      <a:lnTo>
                        <a:pt x="40" y="169"/>
                      </a:lnTo>
                      <a:lnTo>
                        <a:pt x="28" y="176"/>
                      </a:lnTo>
                      <a:lnTo>
                        <a:pt x="15" y="169"/>
                      </a:lnTo>
                      <a:lnTo>
                        <a:pt x="14" y="167"/>
                      </a:lnTo>
                      <a:lnTo>
                        <a:pt x="14" y="152"/>
                      </a:lnTo>
                      <a:lnTo>
                        <a:pt x="10" y="139"/>
                      </a:lnTo>
                      <a:lnTo>
                        <a:pt x="5" y="127"/>
                      </a:lnTo>
                      <a:lnTo>
                        <a:pt x="8" y="118"/>
                      </a:lnTo>
                      <a:lnTo>
                        <a:pt x="3" y="114"/>
                      </a:lnTo>
                      <a:lnTo>
                        <a:pt x="0" y="93"/>
                      </a:lnTo>
                      <a:lnTo>
                        <a:pt x="3" y="79"/>
                      </a:lnTo>
                      <a:lnTo>
                        <a:pt x="16" y="68"/>
                      </a:lnTo>
                      <a:lnTo>
                        <a:pt x="44" y="60"/>
                      </a:lnTo>
                      <a:lnTo>
                        <a:pt x="51" y="51"/>
                      </a:lnTo>
                      <a:lnTo>
                        <a:pt x="48" y="41"/>
                      </a:lnTo>
                      <a:lnTo>
                        <a:pt x="55" y="38"/>
                      </a:lnTo>
                      <a:lnTo>
                        <a:pt x="57" y="43"/>
                      </a:lnTo>
                      <a:lnTo>
                        <a:pt x="60" y="35"/>
                      </a:lnTo>
                      <a:lnTo>
                        <a:pt x="77" y="22"/>
                      </a:lnTo>
                      <a:lnTo>
                        <a:pt x="87" y="28"/>
                      </a:lnTo>
                      <a:lnTo>
                        <a:pt x="98" y="25"/>
                      </a:lnTo>
                      <a:lnTo>
                        <a:pt x="102" y="13"/>
                      </a:lnTo>
                      <a:lnTo>
                        <a:pt x="113" y="10"/>
                      </a:lnTo>
                      <a:lnTo>
                        <a:pt x="110" y="2"/>
                      </a:lnTo>
                      <a:lnTo>
                        <a:pt x="125" y="8"/>
                      </a:lnTo>
                      <a:lnTo>
                        <a:pt x="138" y="5"/>
                      </a:lnTo>
                      <a:lnTo>
                        <a:pt x="145" y="34"/>
                      </a:lnTo>
                      <a:lnTo>
                        <a:pt x="154" y="43"/>
                      </a:lnTo>
                      <a:lnTo>
                        <a:pt x="163" y="43"/>
                      </a:lnTo>
                      <a:lnTo>
                        <a:pt x="167" y="25"/>
                      </a:lnTo>
                      <a:lnTo>
                        <a:pt x="165" y="16"/>
                      </a:lnTo>
                      <a:lnTo>
                        <a:pt x="167" y="2"/>
                      </a:lnTo>
                      <a:lnTo>
                        <a:pt x="172" y="0"/>
                      </a:lnTo>
                      <a:lnTo>
                        <a:pt x="179" y="18"/>
                      </a:lnTo>
                      <a:lnTo>
                        <a:pt x="185" y="22"/>
                      </a:lnTo>
                      <a:lnTo>
                        <a:pt x="189" y="38"/>
                      </a:lnTo>
                      <a:lnTo>
                        <a:pt x="196" y="60"/>
                      </a:lnTo>
                      <a:lnTo>
                        <a:pt x="206" y="66"/>
                      </a:lnTo>
                      <a:lnTo>
                        <a:pt x="219" y="83"/>
                      </a:lnTo>
                      <a:lnTo>
                        <a:pt x="221" y="91"/>
                      </a:lnTo>
                      <a:lnTo>
                        <a:pt x="232" y="101"/>
                      </a:lnTo>
                      <a:lnTo>
                        <a:pt x="235" y="119"/>
                      </a:lnTo>
                      <a:lnTo>
                        <a:pt x="235" y="133"/>
                      </a:lnTo>
                      <a:lnTo>
                        <a:pt x="232" y="155"/>
                      </a:lnTo>
                      <a:lnTo>
                        <a:pt x="221" y="169"/>
                      </a:lnTo>
                      <a:lnTo>
                        <a:pt x="217" y="187"/>
                      </a:lnTo>
                      <a:lnTo>
                        <a:pt x="217" y="202"/>
                      </a:lnTo>
                      <a:lnTo>
                        <a:pt x="206" y="205"/>
                      </a:lnTo>
                      <a:lnTo>
                        <a:pt x="196" y="2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7"/>
                <p:cNvSpPr>
                  <a:spLocks/>
                </p:cNvSpPr>
                <p:nvPr/>
              </p:nvSpPr>
              <p:spPr bwMode="grayWhite">
                <a:xfrm>
                  <a:off x="3286" y="1488"/>
                  <a:ext cx="18" cy="27"/>
                </a:xfrm>
                <a:custGeom>
                  <a:avLst/>
                  <a:gdLst>
                    <a:gd name="T0" fmla="*/ 9 w 18"/>
                    <a:gd name="T1" fmla="*/ 23 h 27"/>
                    <a:gd name="T2" fmla="*/ 3 w 18"/>
                    <a:gd name="T3" fmla="*/ 19 h 27"/>
                    <a:gd name="T4" fmla="*/ 3 w 18"/>
                    <a:gd name="T5" fmla="*/ 15 h 27"/>
                    <a:gd name="T6" fmla="*/ 3 w 18"/>
                    <a:gd name="T7" fmla="*/ 11 h 27"/>
                    <a:gd name="T8" fmla="*/ 2 w 18"/>
                    <a:gd name="T9" fmla="*/ 7 h 27"/>
                    <a:gd name="T10" fmla="*/ 0 w 18"/>
                    <a:gd name="T11" fmla="*/ 0 h 27"/>
                    <a:gd name="T12" fmla="*/ 3 w 18"/>
                    <a:gd name="T13" fmla="*/ 0 h 27"/>
                    <a:gd name="T14" fmla="*/ 9 w 18"/>
                    <a:gd name="T15" fmla="*/ 4 h 27"/>
                    <a:gd name="T16" fmla="*/ 12 w 18"/>
                    <a:gd name="T17" fmla="*/ 3 h 27"/>
                    <a:gd name="T18" fmla="*/ 13 w 18"/>
                    <a:gd name="T19" fmla="*/ 3 h 27"/>
                    <a:gd name="T20" fmla="*/ 17 w 18"/>
                    <a:gd name="T21" fmla="*/ 0 h 27"/>
                    <a:gd name="T22" fmla="*/ 17 w 18"/>
                    <a:gd name="T23" fmla="*/ 11 h 27"/>
                    <a:gd name="T24" fmla="*/ 15 w 18"/>
                    <a:gd name="T25" fmla="*/ 15 h 27"/>
                    <a:gd name="T26" fmla="*/ 13 w 18"/>
                    <a:gd name="T27" fmla="*/ 19 h 27"/>
                    <a:gd name="T28" fmla="*/ 13 w 18"/>
                    <a:gd name="T29" fmla="*/ 22 h 27"/>
                    <a:gd name="T30" fmla="*/ 12 w 18"/>
                    <a:gd name="T31" fmla="*/ 23 h 27"/>
                    <a:gd name="T32" fmla="*/ 12 w 18"/>
                    <a:gd name="T33" fmla="*/ 26 h 27"/>
                    <a:gd name="T34" fmla="*/ 9 w 18"/>
                    <a:gd name="T35" fmla="*/ 23 h 2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8" h="27">
                      <a:moveTo>
                        <a:pt x="9" y="23"/>
                      </a:moveTo>
                      <a:lnTo>
                        <a:pt x="3" y="19"/>
                      </a:lnTo>
                      <a:lnTo>
                        <a:pt x="3" y="15"/>
                      </a:lnTo>
                      <a:lnTo>
                        <a:pt x="3" y="11"/>
                      </a:lnTo>
                      <a:lnTo>
                        <a:pt x="2" y="7"/>
                      </a:lnTo>
                      <a:lnTo>
                        <a:pt x="0" y="0"/>
                      </a:lnTo>
                      <a:lnTo>
                        <a:pt x="3" y="0"/>
                      </a:lnTo>
                      <a:lnTo>
                        <a:pt x="9" y="4"/>
                      </a:lnTo>
                      <a:lnTo>
                        <a:pt x="12" y="3"/>
                      </a:lnTo>
                      <a:lnTo>
                        <a:pt x="13" y="3"/>
                      </a:lnTo>
                      <a:lnTo>
                        <a:pt x="17" y="0"/>
                      </a:lnTo>
                      <a:lnTo>
                        <a:pt x="17" y="11"/>
                      </a:lnTo>
                      <a:lnTo>
                        <a:pt x="15" y="15"/>
                      </a:lnTo>
                      <a:lnTo>
                        <a:pt x="13" y="19"/>
                      </a:lnTo>
                      <a:lnTo>
                        <a:pt x="13" y="22"/>
                      </a:lnTo>
                      <a:lnTo>
                        <a:pt x="12" y="23"/>
                      </a:lnTo>
                      <a:lnTo>
                        <a:pt x="12" y="26"/>
                      </a:lnTo>
                      <a:lnTo>
                        <a:pt x="9" y="23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8"/>
                <p:cNvSpPr>
                  <a:spLocks/>
                </p:cNvSpPr>
                <p:nvPr/>
              </p:nvSpPr>
              <p:spPr bwMode="grayWhite">
                <a:xfrm>
                  <a:off x="2463" y="1235"/>
                  <a:ext cx="26" cy="106"/>
                </a:xfrm>
                <a:custGeom>
                  <a:avLst/>
                  <a:gdLst>
                    <a:gd name="T0" fmla="*/ 3 w 26"/>
                    <a:gd name="T1" fmla="*/ 37 h 106"/>
                    <a:gd name="T2" fmla="*/ 13 w 26"/>
                    <a:gd name="T3" fmla="*/ 28 h 106"/>
                    <a:gd name="T4" fmla="*/ 20 w 26"/>
                    <a:gd name="T5" fmla="*/ 0 h 106"/>
                    <a:gd name="T6" fmla="*/ 25 w 26"/>
                    <a:gd name="T7" fmla="*/ 42 h 106"/>
                    <a:gd name="T8" fmla="*/ 17 w 26"/>
                    <a:gd name="T9" fmla="*/ 94 h 106"/>
                    <a:gd name="T10" fmla="*/ 0 w 26"/>
                    <a:gd name="T11" fmla="*/ 105 h 106"/>
                    <a:gd name="T12" fmla="*/ 0 w 26"/>
                    <a:gd name="T13" fmla="*/ 80 h 106"/>
                    <a:gd name="T14" fmla="*/ 5 w 26"/>
                    <a:gd name="T15" fmla="*/ 64 h 106"/>
                    <a:gd name="T16" fmla="*/ 3 w 26"/>
                    <a:gd name="T17" fmla="*/ 37 h 1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6" h="106">
                      <a:moveTo>
                        <a:pt x="3" y="37"/>
                      </a:moveTo>
                      <a:lnTo>
                        <a:pt x="13" y="28"/>
                      </a:lnTo>
                      <a:lnTo>
                        <a:pt x="20" y="0"/>
                      </a:lnTo>
                      <a:lnTo>
                        <a:pt x="25" y="42"/>
                      </a:lnTo>
                      <a:lnTo>
                        <a:pt x="17" y="94"/>
                      </a:lnTo>
                      <a:lnTo>
                        <a:pt x="0" y="105"/>
                      </a:lnTo>
                      <a:lnTo>
                        <a:pt x="0" y="80"/>
                      </a:lnTo>
                      <a:lnTo>
                        <a:pt x="5" y="64"/>
                      </a:lnTo>
                      <a:lnTo>
                        <a:pt x="3" y="37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104" name="Rectangle 3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3429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4648200"/>
            <a:ext cx="6400800" cy="1752600"/>
          </a:xfrm>
        </p:spPr>
        <p:txBody>
          <a:bodyPr anchor="ctr"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4" name="Rectangle 34">
            <a:extLst>
              <a:ext uri="{FF2B5EF4-FFF2-40B4-BE49-F238E27FC236}">
                <a16:creationId xmlns:a16="http://schemas.microsoft.com/office/drawing/2014/main" id="{CE8081AD-23D1-4BB6-B054-90F25CD6030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08EF3929-D56A-4C30-8611-6472BD2FA9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Liang, Introduction to Java Programming, Ninth Edition, (c) 2013 Pearson Education, Inc. All rights reserved. </a:t>
            </a:r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E48925A0-D655-46FB-BBAD-595706F6FF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73E0C-AB50-457C-9D9D-CE0313F557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7862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4AF139-9E8A-44AE-81CA-17BD068C25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443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355B3-EEB1-4B60-8DA3-5897B61FAE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055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5735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B7219-6CBA-4B55-8DA8-F2F0DB2BF2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993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010E6-4B11-4BED-B503-A091DD0585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902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88F8B-18A9-4BBB-AABA-899E751C6E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0775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B1F4D-E835-4078-BD07-16A5FA6BE7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5876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3AADE-C03D-451A-B916-5AE5053D1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019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4CD21-DDC5-4AC4-92D8-ACF5BA4B2D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35370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23638-9846-4F54-9059-4D043A16BB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20583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575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CD16D-A203-4FF8-B347-1E6925E2BD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6041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/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9A35B910-5105-4A48-A85E-9DFA2FB419E9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1033" name="Group 28"/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4" name="Freeform 3"/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Line 4"/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" name="Line 5"/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"/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Freeform 7"/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8">
                <a:extLst>
                  <a:ext uri="{FF2B5EF4-FFF2-40B4-BE49-F238E27FC236}">
                    <a16:creationId xmlns:a16="http://schemas.microsoft.com/office/drawing/2014/main" id="{A5B65900-B02F-4743-904A-8A5993800F2E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1" name="Freeform 9"/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" name="Freeform 10"/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1"/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2"/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3"/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4"/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5"/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6"/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7"/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8"/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9"/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20"/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1"/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2"/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3"/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" name="Freeform 24"/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5"/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6"/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B27B5456-9554-4CD4-9F4F-471BD9A854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787390A3-EF4E-4D02-A437-7ADD265D0D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EC3CFD4-3794-4B87-A198-04C6A2702F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9C2A8674-B6FA-46BD-8729-9FAC218D40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6492875"/>
            <a:ext cx="7775575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>
                <a:latin typeface="Arial" panose="020B0604020202020204" pitchFamily="34" charset="0"/>
              </a:rPr>
              <a:t>Liang, Introduction to Java Programming, Tenth Edition, Global Edition. © Pearson Education Limited 2015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9"/>
          <p:cNvGrpSpPr>
            <a:grpSpLocks/>
          </p:cNvGrpSpPr>
          <p:nvPr/>
        </p:nvGrpSpPr>
        <p:grpSpPr bwMode="auto">
          <a:xfrm>
            <a:off x="0" y="4367213"/>
            <a:ext cx="9131300" cy="2478087"/>
            <a:chOff x="0" y="2751"/>
            <a:chExt cx="5752" cy="1561"/>
          </a:xfrm>
        </p:grpSpPr>
        <p:sp>
          <p:nvSpPr>
            <p:cNvPr id="1032" name="Rectangle 2">
              <a:extLst>
                <a:ext uri="{FF2B5EF4-FFF2-40B4-BE49-F238E27FC236}">
                  <a16:creationId xmlns:a16="http://schemas.microsoft.com/office/drawing/2014/main" id="{363D35EB-76C7-4FB0-93AD-E4C0429A15E7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4080"/>
              <a:ext cx="5752" cy="23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grpSp>
          <p:nvGrpSpPr>
            <p:cNvPr id="1033" name="Group 28"/>
            <p:cNvGrpSpPr>
              <a:grpSpLocks/>
            </p:cNvGrpSpPr>
            <p:nvPr/>
          </p:nvGrpSpPr>
          <p:grpSpPr bwMode="auto">
            <a:xfrm>
              <a:off x="4458" y="2751"/>
              <a:ext cx="1190" cy="1426"/>
              <a:chOff x="4458" y="2751"/>
              <a:chExt cx="1190" cy="1426"/>
            </a:xfrm>
          </p:grpSpPr>
          <p:sp>
            <p:nvSpPr>
              <p:cNvPr id="1034" name="Freeform 3"/>
              <p:cNvSpPr>
                <a:spLocks/>
              </p:cNvSpPr>
              <p:nvPr/>
            </p:nvSpPr>
            <p:spPr bwMode="ltGray">
              <a:xfrm>
                <a:off x="4614" y="2790"/>
                <a:ext cx="1034" cy="1273"/>
              </a:xfrm>
              <a:custGeom>
                <a:avLst/>
                <a:gdLst>
                  <a:gd name="T0" fmla="*/ 646 w 1034"/>
                  <a:gd name="T1" fmla="*/ 23 h 1273"/>
                  <a:gd name="T2" fmla="*/ 765 w 1034"/>
                  <a:gd name="T3" fmla="*/ 92 h 1273"/>
                  <a:gd name="T4" fmla="*/ 866 w 1034"/>
                  <a:gd name="T5" fmla="*/ 184 h 1273"/>
                  <a:gd name="T6" fmla="*/ 944 w 1034"/>
                  <a:gd name="T7" fmla="*/ 294 h 1273"/>
                  <a:gd name="T8" fmla="*/ 1000 w 1034"/>
                  <a:gd name="T9" fmla="*/ 417 h 1273"/>
                  <a:gd name="T10" fmla="*/ 1030 w 1034"/>
                  <a:gd name="T11" fmla="*/ 550 h 1273"/>
                  <a:gd name="T12" fmla="*/ 1030 w 1034"/>
                  <a:gd name="T13" fmla="*/ 688 h 1273"/>
                  <a:gd name="T14" fmla="*/ 1000 w 1034"/>
                  <a:gd name="T15" fmla="*/ 821 h 1273"/>
                  <a:gd name="T16" fmla="*/ 944 w 1034"/>
                  <a:gd name="T17" fmla="*/ 944 h 1273"/>
                  <a:gd name="T18" fmla="*/ 866 w 1034"/>
                  <a:gd name="T19" fmla="*/ 1055 h 1273"/>
                  <a:gd name="T20" fmla="*/ 765 w 1034"/>
                  <a:gd name="T21" fmla="*/ 1148 h 1273"/>
                  <a:gd name="T22" fmla="*/ 646 w 1034"/>
                  <a:gd name="T23" fmla="*/ 1215 h 1273"/>
                  <a:gd name="T24" fmla="*/ 517 w 1034"/>
                  <a:gd name="T25" fmla="*/ 1257 h 1273"/>
                  <a:gd name="T26" fmla="*/ 382 w 1034"/>
                  <a:gd name="T27" fmla="*/ 1272 h 1273"/>
                  <a:gd name="T28" fmla="*/ 246 w 1034"/>
                  <a:gd name="T29" fmla="*/ 1257 h 1273"/>
                  <a:gd name="T30" fmla="*/ 118 w 1034"/>
                  <a:gd name="T31" fmla="*/ 1215 h 1273"/>
                  <a:gd name="T32" fmla="*/ 0 w 1034"/>
                  <a:gd name="T33" fmla="*/ 1148 h 1273"/>
                  <a:gd name="T34" fmla="*/ 89 w 1034"/>
                  <a:gd name="T35" fmla="*/ 1129 h 1273"/>
                  <a:gd name="T36" fmla="*/ 201 w 1034"/>
                  <a:gd name="T37" fmla="*/ 1179 h 1273"/>
                  <a:gd name="T38" fmla="*/ 320 w 1034"/>
                  <a:gd name="T39" fmla="*/ 1204 h 1273"/>
                  <a:gd name="T40" fmla="*/ 443 w 1034"/>
                  <a:gd name="T41" fmla="*/ 1204 h 1273"/>
                  <a:gd name="T42" fmla="*/ 563 w 1034"/>
                  <a:gd name="T43" fmla="*/ 1179 h 1273"/>
                  <a:gd name="T44" fmla="*/ 675 w 1034"/>
                  <a:gd name="T45" fmla="*/ 1129 h 1273"/>
                  <a:gd name="T46" fmla="*/ 775 w 1034"/>
                  <a:gd name="T47" fmla="*/ 1057 h 1273"/>
                  <a:gd name="T48" fmla="*/ 857 w 1034"/>
                  <a:gd name="T49" fmla="*/ 965 h 1273"/>
                  <a:gd name="T50" fmla="*/ 919 w 1034"/>
                  <a:gd name="T51" fmla="*/ 858 h 1273"/>
                  <a:gd name="T52" fmla="*/ 956 w 1034"/>
                  <a:gd name="T53" fmla="*/ 742 h 1273"/>
                  <a:gd name="T54" fmla="*/ 969 w 1034"/>
                  <a:gd name="T55" fmla="*/ 619 h 1273"/>
                  <a:gd name="T56" fmla="*/ 956 w 1034"/>
                  <a:gd name="T57" fmla="*/ 496 h 1273"/>
                  <a:gd name="T58" fmla="*/ 919 w 1034"/>
                  <a:gd name="T59" fmla="*/ 381 h 1273"/>
                  <a:gd name="T60" fmla="*/ 857 w 1034"/>
                  <a:gd name="T61" fmla="*/ 273 h 1273"/>
                  <a:gd name="T62" fmla="*/ 775 w 1034"/>
                  <a:gd name="T63" fmla="*/ 182 h 1273"/>
                  <a:gd name="T64" fmla="*/ 675 w 1034"/>
                  <a:gd name="T65" fmla="*/ 110 h 1273"/>
                  <a:gd name="T66" fmla="*/ 563 w 1034"/>
                  <a:gd name="T67" fmla="*/ 61 h 1273"/>
                  <a:gd name="T68" fmla="*/ 582 w 1034"/>
                  <a:gd name="T69" fmla="*/ 0 h 1273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5" name="Line 4"/>
              <p:cNvSpPr>
                <a:spLocks noChangeShapeType="1"/>
              </p:cNvSpPr>
              <p:nvPr/>
            </p:nvSpPr>
            <p:spPr bwMode="ltGray">
              <a:xfrm flipV="1">
                <a:off x="4639" y="3863"/>
                <a:ext cx="103" cy="18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6" name="Line 5"/>
              <p:cNvSpPr>
                <a:spLocks noChangeShapeType="1"/>
              </p:cNvSpPr>
              <p:nvPr/>
            </p:nvSpPr>
            <p:spPr bwMode="ltGray">
              <a:xfrm flipV="1">
                <a:off x="5210" y="2874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"/>
              <p:cNvSpPr>
                <a:spLocks noChangeShapeType="1"/>
              </p:cNvSpPr>
              <p:nvPr/>
            </p:nvSpPr>
            <p:spPr bwMode="ltGray">
              <a:xfrm flipV="1">
                <a:off x="5270" y="2751"/>
                <a:ext cx="36" cy="71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Freeform 7"/>
              <p:cNvSpPr>
                <a:spLocks/>
              </p:cNvSpPr>
              <p:nvPr/>
            </p:nvSpPr>
            <p:spPr bwMode="ltGray">
              <a:xfrm>
                <a:off x="4753" y="4067"/>
                <a:ext cx="604" cy="110"/>
              </a:xfrm>
              <a:custGeom>
                <a:avLst/>
                <a:gdLst>
                  <a:gd name="T0" fmla="*/ 2 w 604"/>
                  <a:gd name="T1" fmla="*/ 70 h 110"/>
                  <a:gd name="T2" fmla="*/ 14 w 604"/>
                  <a:gd name="T3" fmla="*/ 57 h 110"/>
                  <a:gd name="T4" fmla="*/ 31 w 604"/>
                  <a:gd name="T5" fmla="*/ 46 h 110"/>
                  <a:gd name="T6" fmla="*/ 63 w 604"/>
                  <a:gd name="T7" fmla="*/ 30 h 110"/>
                  <a:gd name="T8" fmla="*/ 100 w 604"/>
                  <a:gd name="T9" fmla="*/ 21 h 110"/>
                  <a:gd name="T10" fmla="*/ 134 w 604"/>
                  <a:gd name="T11" fmla="*/ 13 h 110"/>
                  <a:gd name="T12" fmla="*/ 181 w 604"/>
                  <a:gd name="T13" fmla="*/ 6 h 110"/>
                  <a:gd name="T14" fmla="*/ 225 w 604"/>
                  <a:gd name="T15" fmla="*/ 2 h 110"/>
                  <a:gd name="T16" fmla="*/ 277 w 604"/>
                  <a:gd name="T17" fmla="*/ 0 h 110"/>
                  <a:gd name="T18" fmla="*/ 340 w 604"/>
                  <a:gd name="T19" fmla="*/ 0 h 110"/>
                  <a:gd name="T20" fmla="*/ 407 w 604"/>
                  <a:gd name="T21" fmla="*/ 4 h 110"/>
                  <a:gd name="T22" fmla="*/ 453 w 604"/>
                  <a:gd name="T23" fmla="*/ 10 h 110"/>
                  <a:gd name="T24" fmla="*/ 502 w 604"/>
                  <a:gd name="T25" fmla="*/ 19 h 110"/>
                  <a:gd name="T26" fmla="*/ 549 w 604"/>
                  <a:gd name="T27" fmla="*/ 33 h 110"/>
                  <a:gd name="T28" fmla="*/ 573 w 604"/>
                  <a:gd name="T29" fmla="*/ 47 h 110"/>
                  <a:gd name="T30" fmla="*/ 588 w 604"/>
                  <a:gd name="T31" fmla="*/ 58 h 110"/>
                  <a:gd name="T32" fmla="*/ 603 w 604"/>
                  <a:gd name="T33" fmla="*/ 77 h 110"/>
                  <a:gd name="T34" fmla="*/ 578 w 604"/>
                  <a:gd name="T35" fmla="*/ 87 h 110"/>
                  <a:gd name="T36" fmla="*/ 536 w 604"/>
                  <a:gd name="T37" fmla="*/ 95 h 110"/>
                  <a:gd name="T38" fmla="*/ 485 w 604"/>
                  <a:gd name="T39" fmla="*/ 101 h 110"/>
                  <a:gd name="T40" fmla="*/ 436 w 604"/>
                  <a:gd name="T41" fmla="*/ 106 h 110"/>
                  <a:gd name="T42" fmla="*/ 377 w 604"/>
                  <a:gd name="T43" fmla="*/ 108 h 110"/>
                  <a:gd name="T44" fmla="*/ 313 w 604"/>
                  <a:gd name="T45" fmla="*/ 109 h 110"/>
                  <a:gd name="T46" fmla="*/ 252 w 604"/>
                  <a:gd name="T47" fmla="*/ 109 h 110"/>
                  <a:gd name="T48" fmla="*/ 188 w 604"/>
                  <a:gd name="T49" fmla="*/ 108 h 110"/>
                  <a:gd name="T50" fmla="*/ 117 w 604"/>
                  <a:gd name="T51" fmla="*/ 102 h 110"/>
                  <a:gd name="T52" fmla="*/ 61 w 604"/>
                  <a:gd name="T53" fmla="*/ 96 h 110"/>
                  <a:gd name="T54" fmla="*/ 14 w 604"/>
                  <a:gd name="T55" fmla="*/ 86 h 110"/>
                  <a:gd name="T56" fmla="*/ 0 w 604"/>
                  <a:gd name="T57" fmla="*/ 78 h 110"/>
                  <a:gd name="T58" fmla="*/ 2 w 604"/>
                  <a:gd name="T59" fmla="*/ 70 h 11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8">
                <a:extLst>
                  <a:ext uri="{FF2B5EF4-FFF2-40B4-BE49-F238E27FC236}">
                    <a16:creationId xmlns:a16="http://schemas.microsoft.com/office/drawing/2014/main" id="{9C9A6538-F304-47B3-91CB-6287272907EC}"/>
                  </a:ext>
                </a:extLst>
              </p:cNvPr>
              <p:cNvSpPr>
                <a:spLocks noChangeArrowheads="1"/>
              </p:cNvSpPr>
              <p:nvPr/>
            </p:nvSpPr>
            <p:spPr bwMode="grayWhite">
              <a:xfrm>
                <a:off x="4458" y="2879"/>
                <a:ext cx="1074" cy="1073"/>
              </a:xfrm>
              <a:prstGeom prst="ellipse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4458" y="2991"/>
                <a:ext cx="999" cy="797"/>
                <a:chOff x="4458" y="2991"/>
                <a:chExt cx="999" cy="797"/>
              </a:xfrm>
            </p:grpSpPr>
            <p:sp>
              <p:nvSpPr>
                <p:cNvPr id="1041" name="Freeform 9"/>
                <p:cNvSpPr>
                  <a:spLocks/>
                </p:cNvSpPr>
                <p:nvPr/>
              </p:nvSpPr>
              <p:spPr bwMode="grayWhite">
                <a:xfrm>
                  <a:off x="4599" y="3283"/>
                  <a:ext cx="1" cy="17"/>
                </a:xfrm>
                <a:custGeom>
                  <a:avLst/>
                  <a:gdLst>
                    <a:gd name="T0" fmla="*/ 0 w 1"/>
                    <a:gd name="T1" fmla="*/ 0 h 17"/>
                    <a:gd name="T2" fmla="*/ 0 w 1"/>
                    <a:gd name="T3" fmla="*/ 16 h 17"/>
                    <a:gd name="T4" fmla="*/ 0 w 1"/>
                    <a:gd name="T5" fmla="*/ 16 h 17"/>
                    <a:gd name="T6" fmla="*/ 0 w 1"/>
                    <a:gd name="T7" fmla="*/ 6 h 17"/>
                    <a:gd name="T8" fmla="*/ 0 w 1"/>
                    <a:gd name="T9" fmla="*/ 0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2" name="Freeform 10"/>
                <p:cNvSpPr>
                  <a:spLocks/>
                </p:cNvSpPr>
                <p:nvPr/>
              </p:nvSpPr>
              <p:spPr bwMode="grayWhite">
                <a:xfrm>
                  <a:off x="4616" y="3305"/>
                  <a:ext cx="17" cy="17"/>
                </a:xfrm>
                <a:custGeom>
                  <a:avLst/>
                  <a:gdLst>
                    <a:gd name="T0" fmla="*/ 0 w 17"/>
                    <a:gd name="T1" fmla="*/ 0 h 17"/>
                    <a:gd name="T2" fmla="*/ 16 w 17"/>
                    <a:gd name="T3" fmla="*/ 0 h 17"/>
                    <a:gd name="T4" fmla="*/ 16 w 17"/>
                    <a:gd name="T5" fmla="*/ 16 h 17"/>
                    <a:gd name="T6" fmla="*/ 0 w 17"/>
                    <a:gd name="T7" fmla="*/ 0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3" name="Freeform 11"/>
                <p:cNvSpPr>
                  <a:spLocks/>
                </p:cNvSpPr>
                <p:nvPr/>
              </p:nvSpPr>
              <p:spPr bwMode="grayWhite">
                <a:xfrm>
                  <a:off x="4674" y="3275"/>
                  <a:ext cx="37" cy="35"/>
                </a:xfrm>
                <a:custGeom>
                  <a:avLst/>
                  <a:gdLst>
                    <a:gd name="T0" fmla="*/ 36 w 37"/>
                    <a:gd name="T1" fmla="*/ 0 h 35"/>
                    <a:gd name="T2" fmla="*/ 22 w 37"/>
                    <a:gd name="T3" fmla="*/ 0 h 35"/>
                    <a:gd name="T4" fmla="*/ 14 w 37"/>
                    <a:gd name="T5" fmla="*/ 9 h 35"/>
                    <a:gd name="T6" fmla="*/ 9 w 37"/>
                    <a:gd name="T7" fmla="*/ 9 h 35"/>
                    <a:gd name="T8" fmla="*/ 5 w 37"/>
                    <a:gd name="T9" fmla="*/ 13 h 35"/>
                    <a:gd name="T10" fmla="*/ 0 w 37"/>
                    <a:gd name="T11" fmla="*/ 13 h 35"/>
                    <a:gd name="T12" fmla="*/ 0 w 37"/>
                    <a:gd name="T13" fmla="*/ 25 h 35"/>
                    <a:gd name="T14" fmla="*/ 8 w 37"/>
                    <a:gd name="T15" fmla="*/ 34 h 35"/>
                    <a:gd name="T16" fmla="*/ 29 w 37"/>
                    <a:gd name="T17" fmla="*/ 34 h 35"/>
                    <a:gd name="T18" fmla="*/ 36 w 37"/>
                    <a:gd name="T19" fmla="*/ 25 h 35"/>
                    <a:gd name="T20" fmla="*/ 36 w 37"/>
                    <a:gd name="T21" fmla="*/ 0 h 35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4" name="Freeform 12"/>
                <p:cNvSpPr>
                  <a:spLocks/>
                </p:cNvSpPr>
                <p:nvPr/>
              </p:nvSpPr>
              <p:spPr bwMode="grayWhite">
                <a:xfrm>
                  <a:off x="4458" y="3303"/>
                  <a:ext cx="324" cy="422"/>
                </a:xfrm>
                <a:custGeom>
                  <a:avLst/>
                  <a:gdLst>
                    <a:gd name="T0" fmla="*/ 76 w 324"/>
                    <a:gd name="T1" fmla="*/ 0 h 422"/>
                    <a:gd name="T2" fmla="*/ 71 w 324"/>
                    <a:gd name="T3" fmla="*/ 11 h 422"/>
                    <a:gd name="T4" fmla="*/ 45 w 324"/>
                    <a:gd name="T5" fmla="*/ 33 h 422"/>
                    <a:gd name="T6" fmla="*/ 40 w 324"/>
                    <a:gd name="T7" fmla="*/ 53 h 422"/>
                    <a:gd name="T8" fmla="*/ 21 w 324"/>
                    <a:gd name="T9" fmla="*/ 68 h 422"/>
                    <a:gd name="T10" fmla="*/ 8 w 324"/>
                    <a:gd name="T11" fmla="*/ 96 h 422"/>
                    <a:gd name="T12" fmla="*/ 8 w 324"/>
                    <a:gd name="T13" fmla="*/ 114 h 422"/>
                    <a:gd name="T14" fmla="*/ 0 w 324"/>
                    <a:gd name="T15" fmla="*/ 144 h 422"/>
                    <a:gd name="T16" fmla="*/ 11 w 324"/>
                    <a:gd name="T17" fmla="*/ 157 h 422"/>
                    <a:gd name="T18" fmla="*/ 40 w 324"/>
                    <a:gd name="T19" fmla="*/ 195 h 422"/>
                    <a:gd name="T20" fmla="*/ 48 w 324"/>
                    <a:gd name="T21" fmla="*/ 190 h 422"/>
                    <a:gd name="T22" fmla="*/ 99 w 324"/>
                    <a:gd name="T23" fmla="*/ 190 h 422"/>
                    <a:gd name="T24" fmla="*/ 123 w 324"/>
                    <a:gd name="T25" fmla="*/ 199 h 422"/>
                    <a:gd name="T26" fmla="*/ 121 w 324"/>
                    <a:gd name="T27" fmla="*/ 229 h 422"/>
                    <a:gd name="T28" fmla="*/ 138 w 324"/>
                    <a:gd name="T29" fmla="*/ 268 h 422"/>
                    <a:gd name="T30" fmla="*/ 137 w 324"/>
                    <a:gd name="T31" fmla="*/ 279 h 422"/>
                    <a:gd name="T32" fmla="*/ 144 w 324"/>
                    <a:gd name="T33" fmla="*/ 291 h 422"/>
                    <a:gd name="T34" fmla="*/ 133 w 324"/>
                    <a:gd name="T35" fmla="*/ 319 h 422"/>
                    <a:gd name="T36" fmla="*/ 146 w 324"/>
                    <a:gd name="T37" fmla="*/ 354 h 422"/>
                    <a:gd name="T38" fmla="*/ 153 w 324"/>
                    <a:gd name="T39" fmla="*/ 382 h 422"/>
                    <a:gd name="T40" fmla="*/ 162 w 324"/>
                    <a:gd name="T41" fmla="*/ 399 h 422"/>
                    <a:gd name="T42" fmla="*/ 171 w 324"/>
                    <a:gd name="T43" fmla="*/ 421 h 422"/>
                    <a:gd name="T44" fmla="*/ 188 w 324"/>
                    <a:gd name="T45" fmla="*/ 418 h 422"/>
                    <a:gd name="T46" fmla="*/ 216 w 324"/>
                    <a:gd name="T47" fmla="*/ 402 h 422"/>
                    <a:gd name="T48" fmla="*/ 229 w 324"/>
                    <a:gd name="T49" fmla="*/ 382 h 422"/>
                    <a:gd name="T50" fmla="*/ 228 w 324"/>
                    <a:gd name="T51" fmla="*/ 369 h 422"/>
                    <a:gd name="T52" fmla="*/ 245 w 324"/>
                    <a:gd name="T53" fmla="*/ 359 h 422"/>
                    <a:gd name="T54" fmla="*/ 242 w 324"/>
                    <a:gd name="T55" fmla="*/ 340 h 422"/>
                    <a:gd name="T56" fmla="*/ 267 w 324"/>
                    <a:gd name="T57" fmla="*/ 310 h 422"/>
                    <a:gd name="T58" fmla="*/ 271 w 324"/>
                    <a:gd name="T59" fmla="*/ 285 h 422"/>
                    <a:gd name="T60" fmla="*/ 264 w 324"/>
                    <a:gd name="T61" fmla="*/ 277 h 422"/>
                    <a:gd name="T62" fmla="*/ 267 w 324"/>
                    <a:gd name="T63" fmla="*/ 267 h 422"/>
                    <a:gd name="T64" fmla="*/ 261 w 324"/>
                    <a:gd name="T65" fmla="*/ 258 h 422"/>
                    <a:gd name="T66" fmla="*/ 280 w 324"/>
                    <a:gd name="T67" fmla="*/ 234 h 422"/>
                    <a:gd name="T68" fmla="*/ 280 w 324"/>
                    <a:gd name="T69" fmla="*/ 222 h 422"/>
                    <a:gd name="T70" fmla="*/ 306 w 324"/>
                    <a:gd name="T71" fmla="*/ 202 h 422"/>
                    <a:gd name="T72" fmla="*/ 323 w 324"/>
                    <a:gd name="T73" fmla="*/ 148 h 422"/>
                    <a:gd name="T74" fmla="*/ 299 w 324"/>
                    <a:gd name="T75" fmla="*/ 162 h 422"/>
                    <a:gd name="T76" fmla="*/ 278 w 324"/>
                    <a:gd name="T77" fmla="*/ 156 h 422"/>
                    <a:gd name="T78" fmla="*/ 281 w 324"/>
                    <a:gd name="T79" fmla="*/ 143 h 422"/>
                    <a:gd name="T80" fmla="*/ 260 w 324"/>
                    <a:gd name="T81" fmla="*/ 129 h 422"/>
                    <a:gd name="T82" fmla="*/ 250 w 324"/>
                    <a:gd name="T83" fmla="*/ 94 h 422"/>
                    <a:gd name="T84" fmla="*/ 230 w 324"/>
                    <a:gd name="T85" fmla="*/ 66 h 422"/>
                    <a:gd name="T86" fmla="*/ 230 w 324"/>
                    <a:gd name="T87" fmla="*/ 47 h 422"/>
                    <a:gd name="T88" fmla="*/ 219 w 324"/>
                    <a:gd name="T89" fmla="*/ 46 h 422"/>
                    <a:gd name="T90" fmla="*/ 212 w 324"/>
                    <a:gd name="T91" fmla="*/ 49 h 422"/>
                    <a:gd name="T92" fmla="*/ 182 w 324"/>
                    <a:gd name="T93" fmla="*/ 38 h 422"/>
                    <a:gd name="T94" fmla="*/ 174 w 324"/>
                    <a:gd name="T95" fmla="*/ 46 h 422"/>
                    <a:gd name="T96" fmla="*/ 167 w 324"/>
                    <a:gd name="T97" fmla="*/ 56 h 422"/>
                    <a:gd name="T98" fmla="*/ 151 w 324"/>
                    <a:gd name="T99" fmla="*/ 38 h 422"/>
                    <a:gd name="T100" fmla="*/ 135 w 324"/>
                    <a:gd name="T101" fmla="*/ 33 h 422"/>
                    <a:gd name="T102" fmla="*/ 134 w 324"/>
                    <a:gd name="T103" fmla="*/ 10 h 422"/>
                    <a:gd name="T104" fmla="*/ 111 w 324"/>
                    <a:gd name="T105" fmla="*/ 14 h 422"/>
                    <a:gd name="T106" fmla="*/ 96 w 324"/>
                    <a:gd name="T107" fmla="*/ 9 h 422"/>
                    <a:gd name="T108" fmla="*/ 76 w 324"/>
                    <a:gd name="T109" fmla="*/ 0 h 422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5" name="Freeform 13"/>
                <p:cNvSpPr>
                  <a:spLocks/>
                </p:cNvSpPr>
                <p:nvPr/>
              </p:nvSpPr>
              <p:spPr bwMode="grayWhite">
                <a:xfrm>
                  <a:off x="5205" y="3408"/>
                  <a:ext cx="17" cy="21"/>
                </a:xfrm>
                <a:custGeom>
                  <a:avLst/>
                  <a:gdLst>
                    <a:gd name="T0" fmla="*/ 7 w 17"/>
                    <a:gd name="T1" fmla="*/ 0 h 21"/>
                    <a:gd name="T2" fmla="*/ 9 w 17"/>
                    <a:gd name="T3" fmla="*/ 5 h 21"/>
                    <a:gd name="T4" fmla="*/ 7 w 17"/>
                    <a:gd name="T5" fmla="*/ 10 h 21"/>
                    <a:gd name="T6" fmla="*/ 7 w 17"/>
                    <a:gd name="T7" fmla="*/ 14 h 21"/>
                    <a:gd name="T8" fmla="*/ 16 w 17"/>
                    <a:gd name="T9" fmla="*/ 17 h 21"/>
                    <a:gd name="T10" fmla="*/ 16 w 17"/>
                    <a:gd name="T11" fmla="*/ 20 h 21"/>
                    <a:gd name="T12" fmla="*/ 9 w 17"/>
                    <a:gd name="T13" fmla="*/ 17 h 21"/>
                    <a:gd name="T14" fmla="*/ 3 w 17"/>
                    <a:gd name="T15" fmla="*/ 20 h 21"/>
                    <a:gd name="T16" fmla="*/ 0 w 17"/>
                    <a:gd name="T17" fmla="*/ 17 h 21"/>
                    <a:gd name="T18" fmla="*/ 3 w 17"/>
                    <a:gd name="T19" fmla="*/ 14 h 21"/>
                    <a:gd name="T20" fmla="*/ 0 w 17"/>
                    <a:gd name="T21" fmla="*/ 10 h 21"/>
                    <a:gd name="T22" fmla="*/ 3 w 17"/>
                    <a:gd name="T23" fmla="*/ 2 h 21"/>
                    <a:gd name="T24" fmla="*/ 7 w 17"/>
                    <a:gd name="T25" fmla="*/ 0 h 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6" name="Freeform 14"/>
                <p:cNvSpPr>
                  <a:spLocks/>
                </p:cNvSpPr>
                <p:nvPr/>
              </p:nvSpPr>
              <p:spPr bwMode="grayWhite">
                <a:xfrm>
                  <a:off x="5144" y="3496"/>
                  <a:ext cx="49" cy="70"/>
                </a:xfrm>
                <a:custGeom>
                  <a:avLst/>
                  <a:gdLst>
                    <a:gd name="T0" fmla="*/ 0 w 49"/>
                    <a:gd name="T1" fmla="*/ 34 h 70"/>
                    <a:gd name="T2" fmla="*/ 17 w 49"/>
                    <a:gd name="T3" fmla="*/ 34 h 70"/>
                    <a:gd name="T4" fmla="*/ 37 w 49"/>
                    <a:gd name="T5" fmla="*/ 0 h 70"/>
                    <a:gd name="T6" fmla="*/ 48 w 49"/>
                    <a:gd name="T7" fmla="*/ 20 h 70"/>
                    <a:gd name="T8" fmla="*/ 39 w 49"/>
                    <a:gd name="T9" fmla="*/ 69 h 70"/>
                    <a:gd name="T10" fmla="*/ 3 w 49"/>
                    <a:gd name="T11" fmla="*/ 57 h 70"/>
                    <a:gd name="T12" fmla="*/ 0 w 49"/>
                    <a:gd name="T13" fmla="*/ 34 h 7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7" name="Freeform 15"/>
                <p:cNvSpPr>
                  <a:spLocks/>
                </p:cNvSpPr>
                <p:nvPr/>
              </p:nvSpPr>
              <p:spPr bwMode="grayWhite">
                <a:xfrm>
                  <a:off x="5241" y="3523"/>
                  <a:ext cx="84" cy="67"/>
                </a:xfrm>
                <a:custGeom>
                  <a:avLst/>
                  <a:gdLst>
                    <a:gd name="T0" fmla="*/ 5 w 84"/>
                    <a:gd name="T1" fmla="*/ 15 h 67"/>
                    <a:gd name="T2" fmla="*/ 0 w 84"/>
                    <a:gd name="T3" fmla="*/ 0 h 67"/>
                    <a:gd name="T4" fmla="*/ 27 w 84"/>
                    <a:gd name="T5" fmla="*/ 6 h 67"/>
                    <a:gd name="T6" fmla="*/ 67 w 84"/>
                    <a:gd name="T7" fmla="*/ 22 h 67"/>
                    <a:gd name="T8" fmla="*/ 67 w 84"/>
                    <a:gd name="T9" fmla="*/ 34 h 67"/>
                    <a:gd name="T10" fmla="*/ 83 w 84"/>
                    <a:gd name="T11" fmla="*/ 66 h 67"/>
                    <a:gd name="T12" fmla="*/ 52 w 84"/>
                    <a:gd name="T13" fmla="*/ 36 h 67"/>
                    <a:gd name="T14" fmla="*/ 31 w 84"/>
                    <a:gd name="T15" fmla="*/ 38 h 67"/>
                    <a:gd name="T16" fmla="*/ 5 w 84"/>
                    <a:gd name="T17" fmla="*/ 15 h 6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8" name="Freeform 16"/>
                <p:cNvSpPr>
                  <a:spLocks/>
                </p:cNvSpPr>
                <p:nvPr/>
              </p:nvSpPr>
              <p:spPr bwMode="grayWhite">
                <a:xfrm>
                  <a:off x="5400" y="3660"/>
                  <a:ext cx="57" cy="73"/>
                </a:xfrm>
                <a:custGeom>
                  <a:avLst/>
                  <a:gdLst>
                    <a:gd name="T0" fmla="*/ 34 w 57"/>
                    <a:gd name="T1" fmla="*/ 0 h 73"/>
                    <a:gd name="T2" fmla="*/ 56 w 57"/>
                    <a:gd name="T3" fmla="*/ 21 h 73"/>
                    <a:gd name="T4" fmla="*/ 11 w 57"/>
                    <a:gd name="T5" fmla="*/ 72 h 73"/>
                    <a:gd name="T6" fmla="*/ 0 w 57"/>
                    <a:gd name="T7" fmla="*/ 60 h 73"/>
                    <a:gd name="T8" fmla="*/ 32 w 57"/>
                    <a:gd name="T9" fmla="*/ 28 h 73"/>
                    <a:gd name="T10" fmla="*/ 34 w 57"/>
                    <a:gd name="T11" fmla="*/ 0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9" name="Freeform 17"/>
                <p:cNvSpPr>
                  <a:spLocks/>
                </p:cNvSpPr>
                <p:nvPr/>
              </p:nvSpPr>
              <p:spPr bwMode="grayWhite">
                <a:xfrm>
                  <a:off x="4558" y="3167"/>
                  <a:ext cx="29" cy="48"/>
                </a:xfrm>
                <a:custGeom>
                  <a:avLst/>
                  <a:gdLst>
                    <a:gd name="T0" fmla="*/ 28 w 29"/>
                    <a:gd name="T1" fmla="*/ 36 h 48"/>
                    <a:gd name="T2" fmla="*/ 20 w 29"/>
                    <a:gd name="T3" fmla="*/ 31 h 48"/>
                    <a:gd name="T4" fmla="*/ 20 w 29"/>
                    <a:gd name="T5" fmla="*/ 10 h 48"/>
                    <a:gd name="T6" fmla="*/ 24 w 29"/>
                    <a:gd name="T7" fmla="*/ 5 h 48"/>
                    <a:gd name="T8" fmla="*/ 17 w 29"/>
                    <a:gd name="T9" fmla="*/ 5 h 48"/>
                    <a:gd name="T10" fmla="*/ 21 w 29"/>
                    <a:gd name="T11" fmla="*/ 0 h 48"/>
                    <a:gd name="T12" fmla="*/ 16 w 29"/>
                    <a:gd name="T13" fmla="*/ 0 h 48"/>
                    <a:gd name="T14" fmla="*/ 10 w 29"/>
                    <a:gd name="T15" fmla="*/ 6 h 48"/>
                    <a:gd name="T16" fmla="*/ 10 w 29"/>
                    <a:gd name="T17" fmla="*/ 19 h 48"/>
                    <a:gd name="T18" fmla="*/ 13 w 29"/>
                    <a:gd name="T19" fmla="*/ 22 h 48"/>
                    <a:gd name="T20" fmla="*/ 13 w 29"/>
                    <a:gd name="T21" fmla="*/ 28 h 48"/>
                    <a:gd name="T22" fmla="*/ 11 w 29"/>
                    <a:gd name="T23" fmla="*/ 28 h 48"/>
                    <a:gd name="T24" fmla="*/ 6 w 29"/>
                    <a:gd name="T25" fmla="*/ 33 h 48"/>
                    <a:gd name="T26" fmla="*/ 6 w 29"/>
                    <a:gd name="T27" fmla="*/ 38 h 48"/>
                    <a:gd name="T28" fmla="*/ 0 w 29"/>
                    <a:gd name="T29" fmla="*/ 47 h 48"/>
                    <a:gd name="T30" fmla="*/ 21 w 29"/>
                    <a:gd name="T31" fmla="*/ 47 h 48"/>
                    <a:gd name="T32" fmla="*/ 28 w 29"/>
                    <a:gd name="T33" fmla="*/ 36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0" name="Freeform 18"/>
                <p:cNvSpPr>
                  <a:spLocks/>
                </p:cNvSpPr>
                <p:nvPr/>
              </p:nvSpPr>
              <p:spPr bwMode="grayWhite">
                <a:xfrm>
                  <a:off x="4549" y="3183"/>
                  <a:ext cx="17" cy="17"/>
                </a:xfrm>
                <a:custGeom>
                  <a:avLst/>
                  <a:gdLst>
                    <a:gd name="T0" fmla="*/ 13 w 17"/>
                    <a:gd name="T1" fmla="*/ 5 h 17"/>
                    <a:gd name="T2" fmla="*/ 16 w 17"/>
                    <a:gd name="T3" fmla="*/ 5 h 17"/>
                    <a:gd name="T4" fmla="*/ 16 w 17"/>
                    <a:gd name="T5" fmla="*/ 0 h 17"/>
                    <a:gd name="T6" fmla="*/ 10 w 17"/>
                    <a:gd name="T7" fmla="*/ 0 h 17"/>
                    <a:gd name="T8" fmla="*/ 0 w 17"/>
                    <a:gd name="T9" fmla="*/ 10 h 17"/>
                    <a:gd name="T10" fmla="*/ 0 w 17"/>
                    <a:gd name="T11" fmla="*/ 16 h 17"/>
                    <a:gd name="T12" fmla="*/ 9 w 17"/>
                    <a:gd name="T13" fmla="*/ 16 h 17"/>
                    <a:gd name="T14" fmla="*/ 13 w 17"/>
                    <a:gd name="T15" fmla="*/ 11 h 17"/>
                    <a:gd name="T16" fmla="*/ 13 w 17"/>
                    <a:gd name="T17" fmla="*/ 5 h 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1" name="Freeform 19"/>
                <p:cNvSpPr>
                  <a:spLocks/>
                </p:cNvSpPr>
                <p:nvPr/>
              </p:nvSpPr>
              <p:spPr bwMode="grayWhite">
                <a:xfrm>
                  <a:off x="4527" y="3155"/>
                  <a:ext cx="184" cy="155"/>
                </a:xfrm>
                <a:custGeom>
                  <a:avLst/>
                  <a:gdLst>
                    <a:gd name="T0" fmla="*/ 120 w 184"/>
                    <a:gd name="T1" fmla="*/ 10 h 155"/>
                    <a:gd name="T2" fmla="*/ 144 w 184"/>
                    <a:gd name="T3" fmla="*/ 14 h 155"/>
                    <a:gd name="T4" fmla="*/ 129 w 184"/>
                    <a:gd name="T5" fmla="*/ 20 h 155"/>
                    <a:gd name="T6" fmla="*/ 123 w 184"/>
                    <a:gd name="T7" fmla="*/ 29 h 155"/>
                    <a:gd name="T8" fmla="*/ 114 w 184"/>
                    <a:gd name="T9" fmla="*/ 50 h 155"/>
                    <a:gd name="T10" fmla="*/ 100 w 184"/>
                    <a:gd name="T11" fmla="*/ 51 h 155"/>
                    <a:gd name="T12" fmla="*/ 88 w 184"/>
                    <a:gd name="T13" fmla="*/ 49 h 155"/>
                    <a:gd name="T14" fmla="*/ 94 w 184"/>
                    <a:gd name="T15" fmla="*/ 39 h 155"/>
                    <a:gd name="T16" fmla="*/ 88 w 184"/>
                    <a:gd name="T17" fmla="*/ 26 h 155"/>
                    <a:gd name="T18" fmla="*/ 81 w 184"/>
                    <a:gd name="T19" fmla="*/ 49 h 155"/>
                    <a:gd name="T20" fmla="*/ 62 w 184"/>
                    <a:gd name="T21" fmla="*/ 60 h 155"/>
                    <a:gd name="T22" fmla="*/ 52 w 184"/>
                    <a:gd name="T23" fmla="*/ 67 h 155"/>
                    <a:gd name="T24" fmla="*/ 38 w 184"/>
                    <a:gd name="T25" fmla="*/ 77 h 155"/>
                    <a:gd name="T26" fmla="*/ 30 w 184"/>
                    <a:gd name="T27" fmla="*/ 102 h 155"/>
                    <a:gd name="T28" fmla="*/ 5 w 184"/>
                    <a:gd name="T29" fmla="*/ 93 h 155"/>
                    <a:gd name="T30" fmla="*/ 0 w 184"/>
                    <a:gd name="T31" fmla="*/ 111 h 155"/>
                    <a:gd name="T32" fmla="*/ 10 w 184"/>
                    <a:gd name="T33" fmla="*/ 138 h 155"/>
                    <a:gd name="T34" fmla="*/ 50 w 184"/>
                    <a:gd name="T35" fmla="*/ 109 h 155"/>
                    <a:gd name="T36" fmla="*/ 75 w 184"/>
                    <a:gd name="T37" fmla="*/ 103 h 155"/>
                    <a:gd name="T38" fmla="*/ 79 w 184"/>
                    <a:gd name="T39" fmla="*/ 115 h 155"/>
                    <a:gd name="T40" fmla="*/ 99 w 184"/>
                    <a:gd name="T41" fmla="*/ 143 h 155"/>
                    <a:gd name="T42" fmla="*/ 101 w 184"/>
                    <a:gd name="T43" fmla="*/ 135 h 155"/>
                    <a:gd name="T44" fmla="*/ 107 w 184"/>
                    <a:gd name="T45" fmla="*/ 135 h 155"/>
                    <a:gd name="T46" fmla="*/ 88 w 184"/>
                    <a:gd name="T47" fmla="*/ 108 h 155"/>
                    <a:gd name="T48" fmla="*/ 94 w 184"/>
                    <a:gd name="T49" fmla="*/ 99 h 155"/>
                    <a:gd name="T50" fmla="*/ 114 w 184"/>
                    <a:gd name="T51" fmla="*/ 127 h 155"/>
                    <a:gd name="T52" fmla="*/ 123 w 184"/>
                    <a:gd name="T53" fmla="*/ 144 h 155"/>
                    <a:gd name="T54" fmla="*/ 127 w 184"/>
                    <a:gd name="T55" fmla="*/ 154 h 155"/>
                    <a:gd name="T56" fmla="*/ 131 w 184"/>
                    <a:gd name="T57" fmla="*/ 136 h 155"/>
                    <a:gd name="T58" fmla="*/ 144 w 184"/>
                    <a:gd name="T59" fmla="*/ 130 h 155"/>
                    <a:gd name="T60" fmla="*/ 153 w 184"/>
                    <a:gd name="T61" fmla="*/ 126 h 155"/>
                    <a:gd name="T62" fmla="*/ 150 w 184"/>
                    <a:gd name="T63" fmla="*/ 113 h 155"/>
                    <a:gd name="T64" fmla="*/ 157 w 184"/>
                    <a:gd name="T65" fmla="*/ 90 h 155"/>
                    <a:gd name="T66" fmla="*/ 166 w 184"/>
                    <a:gd name="T67" fmla="*/ 93 h 155"/>
                    <a:gd name="T68" fmla="*/ 169 w 184"/>
                    <a:gd name="T69" fmla="*/ 103 h 155"/>
                    <a:gd name="T70" fmla="*/ 177 w 184"/>
                    <a:gd name="T71" fmla="*/ 98 h 155"/>
                    <a:gd name="T72" fmla="*/ 175 w 184"/>
                    <a:gd name="T73" fmla="*/ 95 h 155"/>
                    <a:gd name="T74" fmla="*/ 180 w 184"/>
                    <a:gd name="T75" fmla="*/ 81 h 155"/>
                    <a:gd name="T76" fmla="*/ 183 w 184"/>
                    <a:gd name="T77" fmla="*/ 98 h 155"/>
                    <a:gd name="T78" fmla="*/ 120 w 184"/>
                    <a:gd name="T79" fmla="*/ 0 h 15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2" name="Freeform 20"/>
                <p:cNvSpPr>
                  <a:spLocks/>
                </p:cNvSpPr>
                <p:nvPr/>
              </p:nvSpPr>
              <p:spPr bwMode="grayWhite">
                <a:xfrm>
                  <a:off x="4605" y="2991"/>
                  <a:ext cx="782" cy="553"/>
                </a:xfrm>
                <a:custGeom>
                  <a:avLst/>
                  <a:gdLst>
                    <a:gd name="T0" fmla="*/ 22 w 782"/>
                    <a:gd name="T1" fmla="*/ 145 h 553"/>
                    <a:gd name="T2" fmla="*/ 71 w 782"/>
                    <a:gd name="T3" fmla="*/ 96 h 553"/>
                    <a:gd name="T4" fmla="*/ 101 w 782"/>
                    <a:gd name="T5" fmla="*/ 130 h 553"/>
                    <a:gd name="T6" fmla="*/ 84 w 782"/>
                    <a:gd name="T7" fmla="*/ 128 h 553"/>
                    <a:gd name="T8" fmla="*/ 155 w 782"/>
                    <a:gd name="T9" fmla="*/ 123 h 553"/>
                    <a:gd name="T10" fmla="*/ 172 w 782"/>
                    <a:gd name="T11" fmla="*/ 79 h 553"/>
                    <a:gd name="T12" fmla="*/ 172 w 782"/>
                    <a:gd name="T13" fmla="*/ 89 h 553"/>
                    <a:gd name="T14" fmla="*/ 160 w 782"/>
                    <a:gd name="T15" fmla="*/ 123 h 553"/>
                    <a:gd name="T16" fmla="*/ 216 w 782"/>
                    <a:gd name="T17" fmla="*/ 95 h 553"/>
                    <a:gd name="T18" fmla="*/ 330 w 782"/>
                    <a:gd name="T19" fmla="*/ 16 h 553"/>
                    <a:gd name="T20" fmla="*/ 412 w 782"/>
                    <a:gd name="T21" fmla="*/ 20 h 553"/>
                    <a:gd name="T22" fmla="*/ 503 w 782"/>
                    <a:gd name="T23" fmla="*/ 10 h 553"/>
                    <a:gd name="T24" fmla="*/ 602 w 782"/>
                    <a:gd name="T25" fmla="*/ 51 h 553"/>
                    <a:gd name="T26" fmla="*/ 718 w 782"/>
                    <a:gd name="T27" fmla="*/ 65 h 553"/>
                    <a:gd name="T28" fmla="*/ 775 w 782"/>
                    <a:gd name="T29" fmla="*/ 112 h 553"/>
                    <a:gd name="T30" fmla="*/ 731 w 782"/>
                    <a:gd name="T31" fmla="*/ 148 h 553"/>
                    <a:gd name="T32" fmla="*/ 707 w 782"/>
                    <a:gd name="T33" fmla="*/ 194 h 553"/>
                    <a:gd name="T34" fmla="*/ 678 w 782"/>
                    <a:gd name="T35" fmla="*/ 196 h 553"/>
                    <a:gd name="T36" fmla="*/ 687 w 782"/>
                    <a:gd name="T37" fmla="*/ 132 h 553"/>
                    <a:gd name="T38" fmla="*/ 650 w 782"/>
                    <a:gd name="T39" fmla="*/ 166 h 553"/>
                    <a:gd name="T40" fmla="*/ 623 w 782"/>
                    <a:gd name="T41" fmla="*/ 196 h 553"/>
                    <a:gd name="T42" fmla="*/ 632 w 782"/>
                    <a:gd name="T43" fmla="*/ 228 h 553"/>
                    <a:gd name="T44" fmla="*/ 600 w 782"/>
                    <a:gd name="T45" fmla="*/ 276 h 553"/>
                    <a:gd name="T46" fmla="*/ 605 w 782"/>
                    <a:gd name="T47" fmla="*/ 315 h 553"/>
                    <a:gd name="T48" fmla="*/ 602 w 782"/>
                    <a:gd name="T49" fmla="*/ 296 h 553"/>
                    <a:gd name="T50" fmla="*/ 572 w 782"/>
                    <a:gd name="T51" fmla="*/ 299 h 553"/>
                    <a:gd name="T52" fmla="*/ 594 w 782"/>
                    <a:gd name="T53" fmla="*/ 356 h 553"/>
                    <a:gd name="T54" fmla="*/ 539 w 782"/>
                    <a:gd name="T55" fmla="*/ 423 h 553"/>
                    <a:gd name="T56" fmla="*/ 524 w 782"/>
                    <a:gd name="T57" fmla="*/ 442 h 553"/>
                    <a:gd name="T58" fmla="*/ 504 w 782"/>
                    <a:gd name="T59" fmla="*/ 507 h 553"/>
                    <a:gd name="T60" fmla="*/ 477 w 782"/>
                    <a:gd name="T61" fmla="*/ 508 h 553"/>
                    <a:gd name="T62" fmla="*/ 510 w 782"/>
                    <a:gd name="T63" fmla="*/ 552 h 553"/>
                    <a:gd name="T64" fmla="*/ 455 w 782"/>
                    <a:gd name="T65" fmla="*/ 449 h 553"/>
                    <a:gd name="T66" fmla="*/ 391 w 782"/>
                    <a:gd name="T67" fmla="*/ 428 h 553"/>
                    <a:gd name="T68" fmla="*/ 361 w 782"/>
                    <a:gd name="T69" fmla="*/ 495 h 553"/>
                    <a:gd name="T70" fmla="*/ 338 w 782"/>
                    <a:gd name="T71" fmla="*/ 530 h 553"/>
                    <a:gd name="T72" fmla="*/ 298 w 782"/>
                    <a:gd name="T73" fmla="*/ 425 h 553"/>
                    <a:gd name="T74" fmla="*/ 267 w 782"/>
                    <a:gd name="T75" fmla="*/ 436 h 553"/>
                    <a:gd name="T76" fmla="*/ 241 w 782"/>
                    <a:gd name="T77" fmla="*/ 391 h 553"/>
                    <a:gd name="T78" fmla="*/ 160 w 782"/>
                    <a:gd name="T79" fmla="*/ 366 h 553"/>
                    <a:gd name="T80" fmla="*/ 188 w 782"/>
                    <a:gd name="T81" fmla="*/ 414 h 553"/>
                    <a:gd name="T82" fmla="*/ 167 w 782"/>
                    <a:gd name="T83" fmla="*/ 445 h 553"/>
                    <a:gd name="T84" fmla="*/ 136 w 782"/>
                    <a:gd name="T85" fmla="*/ 434 h 553"/>
                    <a:gd name="T86" fmla="*/ 85 w 782"/>
                    <a:gd name="T87" fmla="*/ 355 h 553"/>
                    <a:gd name="T88" fmla="*/ 106 w 782"/>
                    <a:gd name="T89" fmla="*/ 310 h 553"/>
                    <a:gd name="T90" fmla="*/ 119 w 782"/>
                    <a:gd name="T91" fmla="*/ 276 h 553"/>
                    <a:gd name="T92" fmla="*/ 106 w 782"/>
                    <a:gd name="T93" fmla="*/ 162 h 553"/>
                    <a:gd name="T94" fmla="*/ 61 w 782"/>
                    <a:gd name="T95" fmla="*/ 138 h 553"/>
                    <a:gd name="T96" fmla="*/ 39 w 782"/>
                    <a:gd name="T97" fmla="*/ 150 h 553"/>
                    <a:gd name="T98" fmla="*/ 0 w 782"/>
                    <a:gd name="T99" fmla="*/ 162 h 553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3" name="Freeform 21"/>
                <p:cNvSpPr>
                  <a:spLocks/>
                </p:cNvSpPr>
                <p:nvPr/>
              </p:nvSpPr>
              <p:spPr bwMode="grayWhite">
                <a:xfrm>
                  <a:off x="5221" y="3217"/>
                  <a:ext cx="68" cy="113"/>
                </a:xfrm>
                <a:custGeom>
                  <a:avLst/>
                  <a:gdLst>
                    <a:gd name="T0" fmla="*/ 45 w 68"/>
                    <a:gd name="T1" fmla="*/ 0 h 113"/>
                    <a:gd name="T2" fmla="*/ 45 w 68"/>
                    <a:gd name="T3" fmla="*/ 14 h 113"/>
                    <a:gd name="T4" fmla="*/ 39 w 68"/>
                    <a:gd name="T5" fmla="*/ 23 h 113"/>
                    <a:gd name="T6" fmla="*/ 41 w 68"/>
                    <a:gd name="T7" fmla="*/ 38 h 113"/>
                    <a:gd name="T8" fmla="*/ 33 w 68"/>
                    <a:gd name="T9" fmla="*/ 58 h 113"/>
                    <a:gd name="T10" fmla="*/ 22 w 68"/>
                    <a:gd name="T11" fmla="*/ 77 h 113"/>
                    <a:gd name="T12" fmla="*/ 5 w 68"/>
                    <a:gd name="T13" fmla="*/ 89 h 113"/>
                    <a:gd name="T14" fmla="*/ 0 w 68"/>
                    <a:gd name="T15" fmla="*/ 110 h 113"/>
                    <a:gd name="T16" fmla="*/ 7 w 68"/>
                    <a:gd name="T17" fmla="*/ 112 h 113"/>
                    <a:gd name="T18" fmla="*/ 7 w 68"/>
                    <a:gd name="T19" fmla="*/ 92 h 113"/>
                    <a:gd name="T20" fmla="*/ 31 w 68"/>
                    <a:gd name="T21" fmla="*/ 91 h 113"/>
                    <a:gd name="T22" fmla="*/ 49 w 68"/>
                    <a:gd name="T23" fmla="*/ 78 h 113"/>
                    <a:gd name="T24" fmla="*/ 49 w 68"/>
                    <a:gd name="T25" fmla="*/ 51 h 113"/>
                    <a:gd name="T26" fmla="*/ 55 w 68"/>
                    <a:gd name="T27" fmla="*/ 41 h 113"/>
                    <a:gd name="T28" fmla="*/ 46 w 68"/>
                    <a:gd name="T29" fmla="*/ 24 h 113"/>
                    <a:gd name="T30" fmla="*/ 59 w 68"/>
                    <a:gd name="T31" fmla="*/ 19 h 113"/>
                    <a:gd name="T32" fmla="*/ 67 w 68"/>
                    <a:gd name="T33" fmla="*/ 5 h 113"/>
                    <a:gd name="T34" fmla="*/ 49 w 68"/>
                    <a:gd name="T35" fmla="*/ 7 h 113"/>
                    <a:gd name="T36" fmla="*/ 45 w 68"/>
                    <a:gd name="T37" fmla="*/ 0 h 11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4" name="Freeform 22"/>
                <p:cNvSpPr>
                  <a:spLocks/>
                </p:cNvSpPr>
                <p:nvPr/>
              </p:nvSpPr>
              <p:spPr bwMode="grayWhite">
                <a:xfrm>
                  <a:off x="4967" y="3518"/>
                  <a:ext cx="17" cy="26"/>
                </a:xfrm>
                <a:custGeom>
                  <a:avLst/>
                  <a:gdLst>
                    <a:gd name="T0" fmla="*/ 8 w 17"/>
                    <a:gd name="T1" fmla="*/ 0 h 26"/>
                    <a:gd name="T2" fmla="*/ 0 w 17"/>
                    <a:gd name="T3" fmla="*/ 11 h 26"/>
                    <a:gd name="T4" fmla="*/ 5 w 17"/>
                    <a:gd name="T5" fmla="*/ 25 h 26"/>
                    <a:gd name="T6" fmla="*/ 16 w 17"/>
                    <a:gd name="T7" fmla="*/ 15 h 26"/>
                    <a:gd name="T8" fmla="*/ 8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5" name="Freeform 23"/>
                <p:cNvSpPr>
                  <a:spLocks/>
                </p:cNvSpPr>
                <p:nvPr/>
              </p:nvSpPr>
              <p:spPr bwMode="grayWhite">
                <a:xfrm>
                  <a:off x="5069" y="3545"/>
                  <a:ext cx="158" cy="68"/>
                </a:xfrm>
                <a:custGeom>
                  <a:avLst/>
                  <a:gdLst>
                    <a:gd name="T0" fmla="*/ 0 w 158"/>
                    <a:gd name="T1" fmla="*/ 0 h 68"/>
                    <a:gd name="T2" fmla="*/ 23 w 158"/>
                    <a:gd name="T3" fmla="*/ 5 h 68"/>
                    <a:gd name="T4" fmla="*/ 58 w 158"/>
                    <a:gd name="T5" fmla="*/ 29 h 68"/>
                    <a:gd name="T6" fmla="*/ 53 w 158"/>
                    <a:gd name="T7" fmla="*/ 43 h 68"/>
                    <a:gd name="T8" fmla="*/ 82 w 158"/>
                    <a:gd name="T9" fmla="*/ 55 h 68"/>
                    <a:gd name="T10" fmla="*/ 157 w 158"/>
                    <a:gd name="T11" fmla="*/ 55 h 68"/>
                    <a:gd name="T12" fmla="*/ 75 w 158"/>
                    <a:gd name="T13" fmla="*/ 67 h 68"/>
                    <a:gd name="T14" fmla="*/ 53 w 158"/>
                    <a:gd name="T15" fmla="*/ 43 h 68"/>
                    <a:gd name="T16" fmla="*/ 32 w 158"/>
                    <a:gd name="T17" fmla="*/ 38 h 68"/>
                    <a:gd name="T18" fmla="*/ 0 w 158"/>
                    <a:gd name="T19" fmla="*/ 0 h 6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" name="Freeform 24"/>
                <p:cNvSpPr>
                  <a:spLocks/>
                </p:cNvSpPr>
                <p:nvPr/>
              </p:nvSpPr>
              <p:spPr bwMode="grayWhite">
                <a:xfrm>
                  <a:off x="5195" y="3601"/>
                  <a:ext cx="169" cy="159"/>
                </a:xfrm>
                <a:custGeom>
                  <a:avLst/>
                  <a:gdLst>
                    <a:gd name="T0" fmla="*/ 135 w 169"/>
                    <a:gd name="T1" fmla="*/ 155 h 159"/>
                    <a:gd name="T2" fmla="*/ 127 w 169"/>
                    <a:gd name="T3" fmla="*/ 152 h 159"/>
                    <a:gd name="T4" fmla="*/ 110 w 169"/>
                    <a:gd name="T5" fmla="*/ 134 h 159"/>
                    <a:gd name="T6" fmla="*/ 92 w 169"/>
                    <a:gd name="T7" fmla="*/ 130 h 159"/>
                    <a:gd name="T8" fmla="*/ 88 w 169"/>
                    <a:gd name="T9" fmla="*/ 119 h 159"/>
                    <a:gd name="T10" fmla="*/ 78 w 169"/>
                    <a:gd name="T11" fmla="*/ 111 h 159"/>
                    <a:gd name="T12" fmla="*/ 62 w 169"/>
                    <a:gd name="T13" fmla="*/ 111 h 159"/>
                    <a:gd name="T14" fmla="*/ 44 w 169"/>
                    <a:gd name="T15" fmla="*/ 118 h 159"/>
                    <a:gd name="T16" fmla="*/ 28 w 169"/>
                    <a:gd name="T17" fmla="*/ 121 h 159"/>
                    <a:gd name="T18" fmla="*/ 10 w 169"/>
                    <a:gd name="T19" fmla="*/ 121 h 159"/>
                    <a:gd name="T20" fmla="*/ 10 w 169"/>
                    <a:gd name="T21" fmla="*/ 109 h 159"/>
                    <a:gd name="T22" fmla="*/ 3 w 169"/>
                    <a:gd name="T23" fmla="*/ 91 h 159"/>
                    <a:gd name="T24" fmla="*/ 2 w 169"/>
                    <a:gd name="T25" fmla="*/ 81 h 159"/>
                    <a:gd name="T26" fmla="*/ 2 w 169"/>
                    <a:gd name="T27" fmla="*/ 56 h 159"/>
                    <a:gd name="T28" fmla="*/ 31 w 169"/>
                    <a:gd name="T29" fmla="*/ 43 h 159"/>
                    <a:gd name="T30" fmla="*/ 34 w 169"/>
                    <a:gd name="T31" fmla="*/ 29 h 159"/>
                    <a:gd name="T32" fmla="*/ 40 w 169"/>
                    <a:gd name="T33" fmla="*/ 30 h 159"/>
                    <a:gd name="T34" fmla="*/ 55 w 169"/>
                    <a:gd name="T35" fmla="*/ 15 h 159"/>
                    <a:gd name="T36" fmla="*/ 70 w 169"/>
                    <a:gd name="T37" fmla="*/ 17 h 159"/>
                    <a:gd name="T38" fmla="*/ 80 w 169"/>
                    <a:gd name="T39" fmla="*/ 7 h 159"/>
                    <a:gd name="T40" fmla="*/ 89 w 169"/>
                    <a:gd name="T41" fmla="*/ 5 h 159"/>
                    <a:gd name="T42" fmla="*/ 103 w 169"/>
                    <a:gd name="T43" fmla="*/ 24 h 159"/>
                    <a:gd name="T44" fmla="*/ 116 w 169"/>
                    <a:gd name="T45" fmla="*/ 30 h 159"/>
                    <a:gd name="T46" fmla="*/ 117 w 169"/>
                    <a:gd name="T47" fmla="*/ 11 h 159"/>
                    <a:gd name="T48" fmla="*/ 122 w 169"/>
                    <a:gd name="T49" fmla="*/ 0 h 159"/>
                    <a:gd name="T50" fmla="*/ 132 w 169"/>
                    <a:gd name="T51" fmla="*/ 15 h 159"/>
                    <a:gd name="T52" fmla="*/ 140 w 169"/>
                    <a:gd name="T53" fmla="*/ 43 h 159"/>
                    <a:gd name="T54" fmla="*/ 156 w 169"/>
                    <a:gd name="T55" fmla="*/ 59 h 159"/>
                    <a:gd name="T56" fmla="*/ 165 w 169"/>
                    <a:gd name="T57" fmla="*/ 72 h 159"/>
                    <a:gd name="T58" fmla="*/ 168 w 169"/>
                    <a:gd name="T59" fmla="*/ 95 h 159"/>
                    <a:gd name="T60" fmla="*/ 157 w 169"/>
                    <a:gd name="T61" fmla="*/ 121 h 159"/>
                    <a:gd name="T62" fmla="*/ 155 w 169"/>
                    <a:gd name="T63" fmla="*/ 145 h 159"/>
                    <a:gd name="T64" fmla="*/ 140 w 169"/>
                    <a:gd name="T65" fmla="*/ 154 h 15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7" name="Freeform 25"/>
                <p:cNvSpPr>
                  <a:spLocks/>
                </p:cNvSpPr>
                <p:nvPr/>
              </p:nvSpPr>
              <p:spPr bwMode="grayWhite">
                <a:xfrm>
                  <a:off x="5330" y="3768"/>
                  <a:ext cx="17" cy="20"/>
                </a:xfrm>
                <a:custGeom>
                  <a:avLst/>
                  <a:gdLst>
                    <a:gd name="T0" fmla="*/ 8 w 17"/>
                    <a:gd name="T1" fmla="*/ 16 h 20"/>
                    <a:gd name="T2" fmla="*/ 2 w 17"/>
                    <a:gd name="T3" fmla="*/ 13 h 20"/>
                    <a:gd name="T4" fmla="*/ 2 w 17"/>
                    <a:gd name="T5" fmla="*/ 10 h 20"/>
                    <a:gd name="T6" fmla="*/ 2 w 17"/>
                    <a:gd name="T7" fmla="*/ 8 h 20"/>
                    <a:gd name="T8" fmla="*/ 1 w 17"/>
                    <a:gd name="T9" fmla="*/ 5 h 20"/>
                    <a:gd name="T10" fmla="*/ 0 w 17"/>
                    <a:gd name="T11" fmla="*/ 0 h 20"/>
                    <a:gd name="T12" fmla="*/ 2 w 17"/>
                    <a:gd name="T13" fmla="*/ 0 h 20"/>
                    <a:gd name="T14" fmla="*/ 8 w 17"/>
                    <a:gd name="T15" fmla="*/ 2 h 20"/>
                    <a:gd name="T16" fmla="*/ 11 w 17"/>
                    <a:gd name="T17" fmla="*/ 2 h 20"/>
                    <a:gd name="T18" fmla="*/ 12 w 17"/>
                    <a:gd name="T19" fmla="*/ 2 h 20"/>
                    <a:gd name="T20" fmla="*/ 16 w 17"/>
                    <a:gd name="T21" fmla="*/ 0 h 20"/>
                    <a:gd name="T22" fmla="*/ 16 w 17"/>
                    <a:gd name="T23" fmla="*/ 8 h 20"/>
                    <a:gd name="T24" fmla="*/ 14 w 17"/>
                    <a:gd name="T25" fmla="*/ 10 h 20"/>
                    <a:gd name="T26" fmla="*/ 12 w 17"/>
                    <a:gd name="T27" fmla="*/ 13 h 20"/>
                    <a:gd name="T28" fmla="*/ 12 w 17"/>
                    <a:gd name="T29" fmla="*/ 16 h 20"/>
                    <a:gd name="T30" fmla="*/ 11 w 17"/>
                    <a:gd name="T31" fmla="*/ 16 h 20"/>
                    <a:gd name="T32" fmla="*/ 11 w 17"/>
                    <a:gd name="T33" fmla="*/ 19 h 20"/>
                    <a:gd name="T34" fmla="*/ 8 w 17"/>
                    <a:gd name="T35" fmla="*/ 16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" name="Freeform 26"/>
                <p:cNvSpPr>
                  <a:spLocks/>
                </p:cNvSpPr>
                <p:nvPr/>
              </p:nvSpPr>
              <p:spPr bwMode="grayWhite">
                <a:xfrm>
                  <a:off x="4739" y="3587"/>
                  <a:ext cx="19" cy="76"/>
                </a:xfrm>
                <a:custGeom>
                  <a:avLst/>
                  <a:gdLst>
                    <a:gd name="T0" fmla="*/ 2 w 19"/>
                    <a:gd name="T1" fmla="*/ 26 h 76"/>
                    <a:gd name="T2" fmla="*/ 9 w 19"/>
                    <a:gd name="T3" fmla="*/ 20 h 76"/>
                    <a:gd name="T4" fmla="*/ 14 w 19"/>
                    <a:gd name="T5" fmla="*/ 0 h 76"/>
                    <a:gd name="T6" fmla="*/ 18 w 19"/>
                    <a:gd name="T7" fmla="*/ 30 h 76"/>
                    <a:gd name="T8" fmla="*/ 12 w 19"/>
                    <a:gd name="T9" fmla="*/ 67 h 76"/>
                    <a:gd name="T10" fmla="*/ 0 w 19"/>
                    <a:gd name="T11" fmla="*/ 75 h 76"/>
                    <a:gd name="T12" fmla="*/ 0 w 19"/>
                    <a:gd name="T13" fmla="*/ 57 h 76"/>
                    <a:gd name="T14" fmla="*/ 3 w 19"/>
                    <a:gd name="T15" fmla="*/ 45 h 76"/>
                    <a:gd name="T16" fmla="*/ 2 w 19"/>
                    <a:gd name="T17" fmla="*/ 26 h 7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027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5735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56" name="Rectangle 32">
            <a:extLst>
              <a:ext uri="{FF2B5EF4-FFF2-40B4-BE49-F238E27FC236}">
                <a16:creationId xmlns:a16="http://schemas.microsoft.com/office/drawing/2014/main" id="{BDF1004D-8A4F-4D1D-B190-06619C4F437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8" name="Rectangle 34">
            <a:extLst>
              <a:ext uri="{FF2B5EF4-FFF2-40B4-BE49-F238E27FC236}">
                <a16:creationId xmlns:a16="http://schemas.microsoft.com/office/drawing/2014/main" id="{CA11639C-865E-469F-809C-B563DD7308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66CBE9B-9560-4797-B8A7-9BD57133F0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AB0AA57D-83CE-4DBB-BBEF-F7C619C9303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800" y="6492875"/>
            <a:ext cx="7775575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sz="1000" dirty="0">
                <a:latin typeface="Arial" panose="020B0604020202020204" pitchFamily="34" charset="0"/>
              </a:rPr>
              <a:t>Liang, Introduction to Java Programming, Tenth Edition, Global Edition. © Pearson Education Limited 2015</a:t>
            </a:r>
          </a:p>
        </p:txBody>
      </p:sp>
    </p:spTree>
    <p:extLst>
      <p:ext uri="{BB962C8B-B14F-4D97-AF65-F5344CB8AC3E}">
        <p14:creationId xmlns:p14="http://schemas.microsoft.com/office/powerpoint/2010/main" val="309692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F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Monotype Sorts"/>
        <a:buChar char="u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ml/LabelWithGraphic.bat" TargetMode="External"/><Relationship Id="rId4" Type="http://schemas.openxmlformats.org/officeDocument/2006/relationships/hyperlink" Target="html/LabelWithGraphic.html" TargetMode="External"/><Relationship Id="rId5" Type="http://schemas.openxmlformats.org/officeDocument/2006/relationships/hyperlink" Target="http://www.cs.armstrong.edu/liang/intro10e/html/LabelWithGraphic.html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ml/ButtonDemo.bat" TargetMode="External"/><Relationship Id="rId4" Type="http://schemas.openxmlformats.org/officeDocument/2006/relationships/hyperlink" Target="html/ButtonDemo.html" TargetMode="External"/><Relationship Id="rId5" Type="http://schemas.openxmlformats.org/officeDocument/2006/relationships/hyperlink" Target="http://www.cs.armstrong.edu/liang/intro10e/html/ButtonDemo.html" TargetMode="External"/><Relationship Id="rId6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ml/CheckBoxDemo.bat" TargetMode="External"/><Relationship Id="rId4" Type="http://schemas.openxmlformats.org/officeDocument/2006/relationships/hyperlink" Target="html/CheckBoxDemo.html" TargetMode="External"/><Relationship Id="rId5" Type="http://schemas.openxmlformats.org/officeDocument/2006/relationships/hyperlink" Target="http://www.cs.armstrong.edu/liang/intro10e/html/CheckBoxDemo.html" TargetMode="External"/><Relationship Id="rId6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ml/RadioButtonDemo.bat" TargetMode="External"/><Relationship Id="rId4" Type="http://schemas.openxmlformats.org/officeDocument/2006/relationships/hyperlink" Target="html/RadioButtonDemo.html" TargetMode="External"/><Relationship Id="rId5" Type="http://schemas.openxmlformats.org/officeDocument/2006/relationships/hyperlink" Target="http://www.cs.armstrong.edu/liang/intro10e/html/RadioButtonDemo.html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ml/TextFieldDemo.bat" TargetMode="External"/><Relationship Id="rId4" Type="http://schemas.openxmlformats.org/officeDocument/2006/relationships/hyperlink" Target="html/TextFieldDemo.html" TargetMode="External"/><Relationship Id="rId5" Type="http://schemas.openxmlformats.org/officeDocument/2006/relationships/hyperlink" Target="http://www.cs.armstrong.edu/liang/intro10e/html/TextFieldDemo.html" TargetMode="External"/><Relationship Id="rId6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hyperlink" Target="html/TextAreaDemo.bat" TargetMode="External"/><Relationship Id="rId5" Type="http://schemas.openxmlformats.org/officeDocument/2006/relationships/hyperlink" Target="html/TextAreaDemo.html" TargetMode="External"/><Relationship Id="rId6" Type="http://schemas.openxmlformats.org/officeDocument/2006/relationships/hyperlink" Target="http://www.cs.armstrong.edu/liang/intro10e/html/TextAreaDemo.html" TargetMode="External"/><Relationship Id="rId7" Type="http://schemas.openxmlformats.org/officeDocument/2006/relationships/image" Target="../media/image25.png"/><Relationship Id="rId8" Type="http://schemas.openxmlformats.org/officeDocument/2006/relationships/hyperlink" Target="html/DescriptionPane.html" TargetMode="External"/><Relationship Id="rId9" Type="http://schemas.openxmlformats.org/officeDocument/2006/relationships/hyperlink" Target="http://www.cs.armstrong.edu/liang/intro10e/html/DescriptionPane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ml/ComboBoxDemo.bat" TargetMode="External"/><Relationship Id="rId4" Type="http://schemas.openxmlformats.org/officeDocument/2006/relationships/hyperlink" Target="html/ComboBoxDemo.html" TargetMode="External"/><Relationship Id="rId5" Type="http://schemas.openxmlformats.org/officeDocument/2006/relationships/hyperlink" Target="http://www.cs.armstrong.edu/liang/intro10e/html/ComboBoxDemo.html" TargetMode="External"/><Relationship Id="rId6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ml/ListViewDemo.bat" TargetMode="External"/><Relationship Id="rId4" Type="http://schemas.openxmlformats.org/officeDocument/2006/relationships/hyperlink" Target="html/ListViewDemo.html" TargetMode="External"/><Relationship Id="rId5" Type="http://schemas.openxmlformats.org/officeDocument/2006/relationships/hyperlink" Target="http://www.cs.armstrong.edu/liang/intro10e/html/ListViewDemo.html" TargetMode="External"/><Relationship Id="rId6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ml/ScrollBarDemo.html" TargetMode="External"/><Relationship Id="rId4" Type="http://schemas.openxmlformats.org/officeDocument/2006/relationships/hyperlink" Target="html/ScrollBarDemo.bat" TargetMode="External"/><Relationship Id="rId5" Type="http://schemas.openxmlformats.org/officeDocument/2006/relationships/hyperlink" Target="http://www.cs.armstrong.edu/liang/intro10e/html/ScrollBarDemo.html" TargetMode="External"/><Relationship Id="rId6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ml/SliderDemo.html" TargetMode="External"/><Relationship Id="rId4" Type="http://schemas.openxmlformats.org/officeDocument/2006/relationships/hyperlink" Target="html/SliderDemo.bat" TargetMode="External"/><Relationship Id="rId5" Type="http://schemas.openxmlformats.org/officeDocument/2006/relationships/hyperlink" Target="http://www.cs.armstrong.edu/liang/intro10e/html/SliderDemo.html" TargetMode="External"/><Relationship Id="rId6" Type="http://schemas.openxmlformats.org/officeDocument/2006/relationships/image" Target="../media/image3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hyperlink" Target="html/BounceBallSlider.html" TargetMode="External"/><Relationship Id="rId6" Type="http://schemas.openxmlformats.org/officeDocument/2006/relationships/hyperlink" Target="html/BounceBallSlider.bat" TargetMode="External"/><Relationship Id="rId7" Type="http://schemas.openxmlformats.org/officeDocument/2006/relationships/hyperlink" Target="http://www.cs.armstrong.edu/liang/intro10e/html/BounceBallSlider.html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39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ml/TicTacToe.html" TargetMode="External"/><Relationship Id="rId3" Type="http://schemas.openxmlformats.org/officeDocument/2006/relationships/hyperlink" Target="html/TicTacToe.bat" TargetMode="External"/><Relationship Id="rId4" Type="http://schemas.openxmlformats.org/officeDocument/2006/relationships/hyperlink" Target="http://www.cs.armstrong.edu/liang/intro9e/html/TicTacToe.html" TargetMode="External"/><Relationship Id="rId5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ml/MediaDemo.html" TargetMode="External"/><Relationship Id="rId4" Type="http://schemas.openxmlformats.org/officeDocument/2006/relationships/hyperlink" Target="html/MediaDemo.bat" TargetMode="External"/><Relationship Id="rId5" Type="http://schemas.openxmlformats.org/officeDocument/2006/relationships/hyperlink" Target="http://www.cs.armstrong.edu/liang/intro10e/html/MediaDemo.html" TargetMode="External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ml/FlagAnthem.html" TargetMode="External"/><Relationship Id="rId4" Type="http://schemas.openxmlformats.org/officeDocument/2006/relationships/hyperlink" Target="html/FlagAnthem.bat" TargetMode="External"/><Relationship Id="rId5" Type="http://schemas.openxmlformats.org/officeDocument/2006/relationships/hyperlink" Target="http://www.cs.armstrong.edu/liang/intro10e/html/FlagAnthem.html" TargetMode="External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3EE841-1F1D-4C29-A45D-E781F23FCD8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219200"/>
            <a:ext cx="7924800" cy="1619250"/>
          </a:xfrm>
          <a:noFill/>
        </p:spPr>
        <p:txBody>
          <a:bodyPr/>
          <a:lstStyle/>
          <a:p>
            <a:r>
              <a:rPr lang="en-US" altLang="en-US" smtClean="0"/>
              <a:t>Chapter 16</a:t>
            </a:r>
            <a:br>
              <a:rPr lang="en-US" altLang="en-US" smtClean="0"/>
            </a:br>
            <a:r>
              <a:rPr lang="en-US" altLang="en-US" smtClean="0"/>
              <a:t>JavaFX UI Controls and Multimedia</a:t>
            </a:r>
          </a:p>
        </p:txBody>
      </p:sp>
      <p:sp>
        <p:nvSpPr>
          <p:cNvPr id="4100" name="Rectangle 11"/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1" name="Rectangle 13"/>
          <p:cNvSpPr>
            <a:spLocks noChangeArrowheads="1"/>
          </p:cNvSpPr>
          <p:nvPr/>
        </p:nvSpPr>
        <p:spPr bwMode="auto">
          <a:xfrm>
            <a:off x="0" y="2560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32000B-B349-4156-B760-6D48E4D46E8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" y="364236"/>
            <a:ext cx="8763000" cy="685800"/>
          </a:xfrm>
          <a:noFill/>
        </p:spPr>
        <p:txBody>
          <a:bodyPr/>
          <a:lstStyle/>
          <a:p>
            <a:r>
              <a:rPr lang="en-US" altLang="en-US" dirty="0" smtClean="0"/>
              <a:t>JavaFX UI Controls 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49313"/>
            <a:ext cx="8534400" cy="5551487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endParaRPr lang="en-US" altLang="en-US" i="1" smtClean="0"/>
          </a:p>
          <a:p>
            <a:pPr marL="0" indent="0">
              <a:buFont typeface="Monotype Sorts" pitchFamily="2" charset="2"/>
              <a:buNone/>
            </a:pPr>
            <a:endParaRPr lang="en-US" altLang="en-US" i="1" smtClean="0"/>
          </a:p>
          <a:p>
            <a:pPr marL="0" indent="0">
              <a:buFont typeface="Monotype Sorts" pitchFamily="2" charset="2"/>
              <a:buNone/>
            </a:pPr>
            <a:r>
              <a:rPr lang="en-US" altLang="en-US" i="1" smtClean="0"/>
              <a:t>JavaFX provides many UI controls for developing a comprehensive user interface.</a:t>
            </a:r>
            <a:r>
              <a:rPr lang="en-US" altLang="en-US" smtClean="0"/>
              <a:t> </a:t>
            </a:r>
            <a:br>
              <a:rPr lang="en-US" altLang="en-US" smtClean="0"/>
            </a:br>
            <a:endParaRPr lang="en-US" altLang="en-US" sz="3600" smtClean="0"/>
          </a:p>
        </p:txBody>
      </p:sp>
      <p:sp>
        <p:nvSpPr>
          <p:cNvPr id="614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150" name="Rectangle 8"/>
          <p:cNvSpPr>
            <a:spLocks noChangeArrowheads="1"/>
          </p:cNvSpPr>
          <p:nvPr/>
        </p:nvSpPr>
        <p:spPr bwMode="auto">
          <a:xfrm>
            <a:off x="0" y="906463"/>
            <a:ext cx="3365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b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altLang="en-US" sz="2400"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6151" name="Rectangle 9"/>
          <p:cNvSpPr>
            <a:spLocks noChangeArrowheads="1"/>
          </p:cNvSpPr>
          <p:nvPr/>
        </p:nvSpPr>
        <p:spPr bwMode="auto">
          <a:xfrm>
            <a:off x="0" y="2065338"/>
            <a:ext cx="3365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altLang="en-US" sz="2400"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6152" name="Rectangle 10"/>
          <p:cNvSpPr>
            <a:spLocks noChangeArrowheads="1"/>
          </p:cNvSpPr>
          <p:nvPr/>
        </p:nvSpPr>
        <p:spPr bwMode="auto">
          <a:xfrm>
            <a:off x="0" y="3216275"/>
            <a:ext cx="3365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b="1"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endParaRPr lang="en-US" altLang="en-US" sz="2400"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E297C0-F939-4F32-B6C6-A31890ABFE1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noFill/>
        </p:spPr>
        <p:txBody>
          <a:bodyPr/>
          <a:lstStyle/>
          <a:p>
            <a:r>
              <a:rPr lang="en-US" altLang="en-US" smtClean="0"/>
              <a:t>Frequently Used UI Controls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914400" y="1371600"/>
            <a:ext cx="79248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Monotype Sorts" pitchFamily="2" charset="2"/>
              <a:buNone/>
            </a:pPr>
            <a:endParaRPr lang="en-US" altLang="en-US" sz="2600">
              <a:latin typeface="Courier New" panose="02070309020205020404" pitchFamily="49" charset="0"/>
            </a:endParaRP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73A3BE86-23A7-4476-B29B-9AC943D92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17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048000"/>
            <a:ext cx="8928100" cy="330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" name="Picture 16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87"/>
          <a:stretch/>
        </p:blipFill>
        <p:spPr bwMode="auto">
          <a:xfrm>
            <a:off x="1676400" y="963227"/>
            <a:ext cx="4114800" cy="2160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9" y="-2"/>
            <a:ext cx="3905241" cy="144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92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AAAC1C-5127-4CDF-AE52-2000AA50B0B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4876800" cy="457200"/>
          </a:xfrm>
          <a:noFill/>
        </p:spPr>
        <p:txBody>
          <a:bodyPr/>
          <a:lstStyle/>
          <a:p>
            <a:r>
              <a:rPr lang="en-US" altLang="en-US" sz="4200" dirty="0" smtClean="0">
                <a:latin typeface="Courier New" panose="02070309020205020404" pitchFamily="49" charset="0"/>
              </a:rPr>
              <a:t>Labeled</a:t>
            </a:r>
            <a:endParaRPr lang="en-US" altLang="en-US" sz="4200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6553200" cy="1143000"/>
          </a:xfrm>
          <a:noFill/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 smtClean="0"/>
              <a:t>A</a:t>
            </a:r>
            <a:r>
              <a:rPr lang="en-US" altLang="en-US" sz="2400" i="1" dirty="0" smtClean="0"/>
              <a:t> label </a:t>
            </a:r>
            <a:r>
              <a:rPr lang="en-US" altLang="en-US" sz="2400" dirty="0" smtClean="0"/>
              <a:t>is a display area for a short text, a node, or both.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It is often used to label other controls (usually text fields).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Labels and buttons share many common properties. These common properties are defined in the </a:t>
            </a:r>
            <a:r>
              <a:rPr lang="en-US" altLang="en-US" sz="2000" b="1" dirty="0" smtClean="0"/>
              <a:t>Labeled</a:t>
            </a:r>
            <a:r>
              <a:rPr lang="en-US" altLang="en-US" sz="2000" dirty="0" smtClean="0"/>
              <a:t> class.</a:t>
            </a:r>
          </a:p>
        </p:txBody>
      </p:sp>
      <p:sp>
        <p:nvSpPr>
          <p:cNvPr id="9221" name="Rectangle 12"/>
          <p:cNvSpPr>
            <a:spLocks noChangeArrowheads="1"/>
          </p:cNvSpPr>
          <p:nvPr/>
        </p:nvSpPr>
        <p:spPr bwMode="auto">
          <a:xfrm>
            <a:off x="1814513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9222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D5596B16-2E3C-4F8C-8269-1F90302E1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922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3276600"/>
            <a:ext cx="899795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014E89-C0AD-496B-A4A0-055C8278547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3352800" cy="457200"/>
          </a:xfrm>
          <a:noFill/>
        </p:spPr>
        <p:txBody>
          <a:bodyPr/>
          <a:lstStyle/>
          <a:p>
            <a:r>
              <a:rPr lang="en-US" altLang="en-US" sz="4200" dirty="0" smtClean="0">
                <a:latin typeface="Courier New" panose="02070309020205020404" pitchFamily="49" charset="0"/>
              </a:rPr>
              <a:t>Label</a:t>
            </a:r>
            <a:endParaRPr lang="en-US" altLang="en-US" sz="4200" dirty="0" smtClean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8534400" cy="4572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400" smtClean="0"/>
              <a:t>The Label class defines labels. </a:t>
            </a:r>
          </a:p>
        </p:txBody>
      </p:sp>
      <p:sp>
        <p:nvSpPr>
          <p:cNvPr id="11269" name="Rectangle 12"/>
          <p:cNvSpPr>
            <a:spLocks noChangeArrowheads="1"/>
          </p:cNvSpPr>
          <p:nvPr/>
        </p:nvSpPr>
        <p:spPr bwMode="auto">
          <a:xfrm>
            <a:off x="1814513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1270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22960EB1-411D-43E3-9FA6-37093EAFE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01F0E2-AB34-4EC2-8203-A83EFB4E1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1273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315200" y="5821363"/>
            <a:ext cx="1524000" cy="4572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2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AB8CFBBF-A2D0-41D7-8573-8EF6CD1DB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784850"/>
            <a:ext cx="2819400" cy="53975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LabelWithGraphic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1275" name="AutoShape 12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3733800" y="57848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11276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524000"/>
            <a:ext cx="84709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4" name="Picture 1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220" y="-2"/>
            <a:ext cx="4110780" cy="152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CAD784-31AE-4481-AF9A-C86DBC4401D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 smtClean="0"/>
          </a:p>
        </p:txBody>
      </p:sp>
      <p:sp>
        <p:nvSpPr>
          <p:cNvPr id="13315" name="Rectangle 7"/>
          <p:cNvSpPr>
            <a:spLocks noChangeArrowheads="1"/>
          </p:cNvSpPr>
          <p:nvPr/>
        </p:nvSpPr>
        <p:spPr bwMode="auto">
          <a:xfrm>
            <a:off x="304800" y="152400"/>
            <a:ext cx="8153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/>
            </a:r>
            <a:br>
              <a:rPr lang="en-US" altLang="en-US" sz="2400"/>
            </a:br>
            <a:endParaRPr lang="en-US" alt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CC4348-88F7-4D2B-8D79-48447D635F81}"/>
              </a:ext>
            </a:extLst>
          </p:cNvPr>
          <p:cNvSpPr/>
          <p:nvPr/>
        </p:nvSpPr>
        <p:spPr>
          <a:xfrm>
            <a:off x="152400" y="152400"/>
            <a:ext cx="8458200" cy="65248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javafx.application.Application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javafx.stage.Stage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javafx.scene.Scene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javafx.scene.control.ContentDisplay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javafx.scene.control.Label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javafx.scene.image.Image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javafx.scene.image.ImageView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javafx.scene.layout.HBox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javafx.scene.layout.StackPane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javafx.scene.paint.Color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javafx.scene.shape.Circle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javafx.scene.shape.Rectangle</a:t>
            </a: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javafx.scene.shape.Ellipse</a:t>
            </a:r>
            <a:r>
              <a:rPr lang="en-US" sz="12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tr-TR" sz="1200" b="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public class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LabelWithGraphic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extends Application {</a:t>
            </a:r>
            <a:b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@Override</a:t>
            </a:r>
            <a:b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void start(Stage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us = new 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(new Image(</a:t>
            </a:r>
            <a:r>
              <a:rPr lang="en-US" sz="1400" dirty="0">
                <a:solidFill>
                  <a:srgbClr val="2A00FF"/>
                </a:solidFill>
                <a:highlight>
                  <a:srgbClr val="E8F2FE"/>
                </a:highlight>
                <a:latin typeface="Consolas" panose="020B0609020204030204" pitchFamily="49" charset="0"/>
              </a:rPr>
              <a:t>"image/us.gif"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b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Label lb1 = new Label("US\n50 States", us);</a:t>
            </a:r>
            <a:b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lb1.setStyle("-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fx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-border-color: green; -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fx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-border-width: 2");</a:t>
            </a:r>
            <a:b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lb1.setContentDisplay(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ContentDisplay.BOTTOM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lb1.setTextFill(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Color.RED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Label lb2 = new Label("Circle", new Circle(50, 50, 25));</a:t>
            </a:r>
            <a:b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   lb2.setContentDisplay(</a:t>
            </a:r>
            <a:r>
              <a:rPr 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ContentDisplay.TOP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b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   lb2.setTextFill(</a:t>
            </a:r>
            <a:r>
              <a:rPr 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Color.ORANGE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b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Label lb3 = new Label("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Retangle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", new Rectangle(10, 10, 50, 25));</a:t>
            </a:r>
            <a:b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lb3.setContentDisplay(</a:t>
            </a:r>
            <a:r>
              <a:rPr 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ContentDisplay.RIGHT</a:t>
            </a: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Label lb4 = new Label("Ellipse", new Ellipse(50, 50, 50, 25));</a:t>
            </a:r>
            <a:b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   lb4.setContentDisplay(</a:t>
            </a:r>
            <a:r>
              <a:rPr 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ContentDisplay.LEFT</a:t>
            </a: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b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FFFFFF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br>
              <a:rPr lang="en-US" sz="2000" dirty="0">
                <a:latin typeface="Consolas" panose="020B0609020204030204" pitchFamily="49" charset="0"/>
              </a:rPr>
            </a:br>
            <a:endParaRPr lang="en-US" sz="2000" dirty="0">
              <a:latin typeface="Consolas" panose="020B0609020204030204" pitchFamily="49" charset="0"/>
            </a:endParaRPr>
          </a:p>
        </p:txBody>
      </p:sp>
      <p:pic>
        <p:nvPicPr>
          <p:cNvPr id="13317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949325"/>
            <a:ext cx="52959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322022-26ED-4227-B10B-F64348F0A7C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 smtClean="0"/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152400" y="152400"/>
            <a:ext cx="8458200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Ellipse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ellipse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Ellipse(50, 50, 50, 25);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ellipse.setStroke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Color.GREEN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ellipse.setFill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Color.WHITE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StackPane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stackPane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StackPane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stackPane.getChildren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addAll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(ellipse, </a:t>
            </a:r>
            <a:r>
              <a:rPr lang="en-US" altLang="en-US" sz="1600" b="1" dirty="0">
                <a:solidFill>
                  <a:srgbClr val="002060"/>
                </a:solidFill>
                <a:latin typeface="Consolas" panose="020B0609020204030204" pitchFamily="49" charset="0"/>
              </a:rPr>
              <a:t>new  Label("JavaFX")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Label lb5 = new Label("A pane inside a label",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stackPane</a:t>
            </a:r>
            <a:r>
              <a:rPr lang="en-US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    lb5.setContentDisplay(</a:t>
            </a:r>
            <a:r>
              <a:rPr lang="en-US" altLang="en-US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ContentDisplay.BOTTOM</a:t>
            </a:r>
            <a:r>
              <a:rPr lang="en-US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HBox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pane = new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HBox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(20);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pane.getChildren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addAll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(lb1, lb2, lb3, lb4, lb5);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Scene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scene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Scene(pane, 700, 150);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primaryStage.setTitle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("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LabelWithGraphic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");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primaryStage.setScene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(scene);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primaryStage.show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static void main(String[]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launch(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r>
              <a:rPr lang="en-US" altLang="en-US" sz="2000" dirty="0">
                <a:latin typeface="Consolas" panose="020B0609020204030204" pitchFamily="49" charset="0"/>
              </a:rPr>
              <a:t> </a:t>
            </a:r>
            <a:br>
              <a:rPr lang="en-US" altLang="en-US" sz="2000" dirty="0">
                <a:latin typeface="Consolas" panose="020B0609020204030204" pitchFamily="49" charset="0"/>
              </a:rPr>
            </a:br>
            <a:endParaRPr lang="en-US" altLang="en-US" sz="20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place a text on the right of the node in a label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the text in a label be underlined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tr-TR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label.setContentDisplay</a:t>
            </a:r>
            <a:r>
              <a:rPr lang="tr-TR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ContentDisplay.LEFT</a:t>
            </a: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r>
              <a:rPr lang="tr-TR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tr-TR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label.setUnderline</a:t>
            </a:r>
            <a:r>
              <a:rPr lang="tr-TR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75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479" y="1139663"/>
            <a:ext cx="3918521" cy="1452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63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E05067-7AA9-48BA-891C-3C1B6CFC8CA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ButtonBase and Button</a:t>
            </a:r>
            <a:endParaRPr lang="en-US" altLang="en-US" sz="4200" smtClean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5638800" cy="1143000"/>
          </a:xfrm>
          <a:noFill/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A </a:t>
            </a:r>
            <a:r>
              <a:rPr lang="en-US" altLang="en-US" sz="2000" i="1" dirty="0" smtClean="0"/>
              <a:t>button</a:t>
            </a:r>
            <a:r>
              <a:rPr lang="en-US" altLang="en-US" sz="2000" dirty="0" smtClean="0"/>
              <a:t> is a control that triggers </a:t>
            </a:r>
            <a:r>
              <a:rPr lang="en-US" altLang="en-US" sz="2000" b="1" dirty="0" smtClean="0"/>
              <a:t>an action event </a:t>
            </a:r>
            <a:r>
              <a:rPr lang="en-US" altLang="en-US" sz="2000" dirty="0" smtClean="0"/>
              <a:t>when clicked.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JavaFX provides regular buttons, toggle buttons, check box buttons, and radio buttons.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The common features of these buttons are defined in </a:t>
            </a:r>
            <a:r>
              <a:rPr lang="en-US" altLang="en-US" sz="2000" b="1" dirty="0" err="1" smtClean="0"/>
              <a:t>ButtonBase</a:t>
            </a:r>
            <a:r>
              <a:rPr lang="en-US" altLang="en-US" sz="2000" dirty="0" smtClean="0"/>
              <a:t> and </a:t>
            </a:r>
            <a:r>
              <a:rPr lang="en-US" altLang="en-US" sz="2000" b="1" dirty="0" smtClean="0"/>
              <a:t>Labeled</a:t>
            </a:r>
            <a:r>
              <a:rPr lang="en-US" altLang="en-US" sz="2000" dirty="0" smtClean="0"/>
              <a:t> classes.</a:t>
            </a:r>
          </a:p>
        </p:txBody>
      </p:sp>
      <p:sp>
        <p:nvSpPr>
          <p:cNvPr id="16389" name="Rectangle 12"/>
          <p:cNvSpPr>
            <a:spLocks noChangeArrowheads="1"/>
          </p:cNvSpPr>
          <p:nvPr/>
        </p:nvSpPr>
        <p:spPr bwMode="auto">
          <a:xfrm>
            <a:off x="1814513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6390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B6D13B44-1EEC-448B-B6DC-67C2E31FB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E42590-87A9-4012-A05B-2438AD0B5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D447D-1FC7-4E5F-A2B3-13698FA57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16394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71800"/>
            <a:ext cx="81597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60A4C4-F737-46DA-A932-2F75E3CDD9A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Button Example</a:t>
            </a:r>
            <a:endParaRPr lang="en-US" altLang="en-US" sz="4200" smtClean="0"/>
          </a:p>
        </p:txBody>
      </p:sp>
      <p:sp>
        <p:nvSpPr>
          <p:cNvPr id="18436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83C64FCE-73F9-428B-B17E-AA919293D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40350FB-0B6F-4EDE-B6ED-464CCD354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DBD3C1-25B2-4D28-9A0A-02E11173C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8440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315200" y="5668963"/>
            <a:ext cx="1524000" cy="4572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3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5E70768-BA1E-417A-B28C-87B8D54CE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632450"/>
            <a:ext cx="2819400" cy="53975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ButtonDemo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8442" name="AutoShape 12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3733800" y="56324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18443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325" y="2562225"/>
            <a:ext cx="39433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719CA1-BDE3-4F39-A67F-40F15ABC446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 smtClean="0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0" y="0"/>
            <a:ext cx="8610600" cy="646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javafx.application.Application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javafx.stage.Stage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javafx.geometry.Pos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javafx.scene.Scene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javafx.scene.control.Button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javafx.scene.image.ImageView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javafx.scene.layout.BorderPane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javafx.scene.layout.HBox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javafx.scene.layout.Pane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javafx.scene.text.Text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extends Application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protected Text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Text(50, 50, "JavaFX Programming");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protected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HBox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paneForButtons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HBox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(20);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Button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btLeft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Button("Left",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("image/left.gif"));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Button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btRight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Button("Right",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("image/right.gif"));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paneForButtons.getChildren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addAll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btLeft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btRight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paneForButtons.setAlignment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Pos.CENTER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paneForButtons.setStyle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("-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-border-color: green");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pane =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pane.setBottom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paneForButtons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altLang="en-US" sz="2400" dirty="0">
                <a:latin typeface="Consolas" panose="020B0609020204030204" pitchFamily="49" charset="0"/>
              </a:rPr>
              <a:t/>
            </a:r>
            <a:br>
              <a:rPr lang="en-US" altLang="en-US" sz="2400" dirty="0"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Pane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Pane();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paneForText.getChildren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().add(text);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pane.setCenter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btLeft.setOnAction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(e -&gt;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text.setX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text.getX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- 10));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btRight.setOnAction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(e -&gt;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text.setX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text.getX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+ 10));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return pane;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n-US" altLang="en-US" sz="2400" dirty="0">
              <a:latin typeface="Consolas" panose="020B0609020204030204" pitchFamily="49" charset="0"/>
            </a:endParaRPr>
          </a:p>
        </p:txBody>
      </p:sp>
      <p:pic>
        <p:nvPicPr>
          <p:cNvPr id="2048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0"/>
            <a:ext cx="4011613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00F6A3-ACF0-4597-8F45-5A4C1ABB265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 smtClean="0"/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76200" y="228600"/>
            <a:ext cx="67818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@Override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void start(Stage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Scene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scene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Scene(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getPane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(), 450, 200);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primaryStage.setTitle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("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ButtonDemo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");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primaryStage.setScene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(scene);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primaryStage.show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static void main(String[]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launch(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800" dirty="0">
                <a:latin typeface="Consolas" panose="020B0609020204030204" pitchFamily="49" charset="0"/>
              </a:rPr>
              <a:t> </a:t>
            </a:r>
            <a:br>
              <a:rPr lang="en-US" altLang="en-US" sz="2800" dirty="0">
                <a:latin typeface="Consolas" panose="020B0609020204030204" pitchFamily="49" charset="0"/>
              </a:rPr>
            </a:br>
            <a:endParaRPr lang="en-US" altLang="en-US" sz="2800" dirty="0">
              <a:latin typeface="Consolas" panose="020B0609020204030204" pitchFamily="49" charset="0"/>
            </a:endParaRPr>
          </a:p>
        </p:txBody>
      </p:sp>
      <p:pic>
        <p:nvPicPr>
          <p:cNvPr id="21508" name="Resim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743200"/>
            <a:ext cx="43053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create a button with a text and a node? Can you apply all the methods for Labeled to Button?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the constructor new Button(text, graphic) to create a button with text and 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node.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apply the methods for Labeled in Button, because Button is a subclass of Labeled.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87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123" y="716238"/>
            <a:ext cx="4289877" cy="159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A2B686-CE3A-4BA9-A8D8-9527C21BAC5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4925"/>
            <a:ext cx="5181600" cy="498475"/>
          </a:xfrm>
          <a:noFill/>
        </p:spPr>
        <p:txBody>
          <a:bodyPr/>
          <a:lstStyle/>
          <a:p>
            <a:r>
              <a:rPr lang="en-US" altLang="en-US" sz="4200" dirty="0" err="1" smtClean="0">
                <a:latin typeface="Courier New" panose="02070309020205020404" pitchFamily="49" charset="0"/>
              </a:rPr>
              <a:t>CheckBox</a:t>
            </a:r>
            <a:endParaRPr lang="en-US" altLang="en-US" sz="4200" dirty="0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482600"/>
            <a:ext cx="6134100" cy="1143000"/>
          </a:xfrm>
          <a:noFill/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 smtClean="0"/>
              <a:t>A </a:t>
            </a:r>
            <a:r>
              <a:rPr lang="en-US" altLang="en-US" sz="2200" b="1" dirty="0" err="1" smtClean="0"/>
              <a:t>CheckBox</a:t>
            </a:r>
            <a:r>
              <a:rPr lang="en-US" altLang="en-US" sz="2200" dirty="0" smtClean="0"/>
              <a:t> is used for the user to make a selection (square box).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 smtClean="0"/>
              <a:t>Like </a:t>
            </a:r>
            <a:r>
              <a:rPr lang="en-US" altLang="en-US" sz="2200" b="1" dirty="0" smtClean="0"/>
              <a:t>Button</a:t>
            </a:r>
            <a:r>
              <a:rPr lang="en-US" altLang="en-US" sz="2200" dirty="0" smtClean="0"/>
              <a:t>, </a:t>
            </a:r>
            <a:r>
              <a:rPr lang="en-US" altLang="en-US" sz="2200" b="1" dirty="0" err="1" smtClean="0"/>
              <a:t>CheckBox</a:t>
            </a:r>
            <a:r>
              <a:rPr lang="en-US" altLang="en-US" sz="2200" dirty="0" smtClean="0"/>
              <a:t> inherits all the properties such as </a:t>
            </a:r>
            <a:r>
              <a:rPr lang="en-US" altLang="en-US" sz="2200" b="1" dirty="0" err="1" smtClean="0"/>
              <a:t>onAction</a:t>
            </a:r>
            <a:r>
              <a:rPr lang="en-US" altLang="en-US" sz="2200" dirty="0" smtClean="0"/>
              <a:t>, </a:t>
            </a:r>
            <a:r>
              <a:rPr lang="en-US" altLang="en-US" sz="2200" b="1" dirty="0" smtClean="0"/>
              <a:t>text</a:t>
            </a:r>
            <a:r>
              <a:rPr lang="en-US" altLang="en-US" sz="2200" dirty="0" smtClean="0"/>
              <a:t>, </a:t>
            </a:r>
            <a:r>
              <a:rPr lang="en-US" altLang="en-US" sz="2200" b="1" dirty="0" smtClean="0"/>
              <a:t>graphic</a:t>
            </a:r>
            <a:r>
              <a:rPr lang="en-US" altLang="en-US" sz="2200" dirty="0" smtClean="0"/>
              <a:t>, </a:t>
            </a:r>
            <a:r>
              <a:rPr lang="en-US" altLang="en-US" sz="2200" b="1" dirty="0" smtClean="0"/>
              <a:t>alignment</a:t>
            </a:r>
            <a:r>
              <a:rPr lang="en-US" altLang="en-US" sz="2200" dirty="0" smtClean="0"/>
              <a:t>, </a:t>
            </a:r>
            <a:r>
              <a:rPr lang="en-US" altLang="en-US" sz="2200" b="1" dirty="0" err="1" smtClean="0"/>
              <a:t>graphicTextGap</a:t>
            </a:r>
            <a:r>
              <a:rPr lang="en-US" altLang="en-US" sz="2200" dirty="0" smtClean="0"/>
              <a:t>, </a:t>
            </a:r>
            <a:r>
              <a:rPr lang="en-US" altLang="en-US" sz="2200" b="1" dirty="0" err="1" smtClean="0"/>
              <a:t>textFill</a:t>
            </a:r>
            <a:r>
              <a:rPr lang="en-US" altLang="en-US" sz="2200" dirty="0" smtClean="0"/>
              <a:t>, </a:t>
            </a:r>
            <a:r>
              <a:rPr lang="en-US" altLang="en-US" sz="2200" b="1" dirty="0" err="1" smtClean="0"/>
              <a:t>contentDisplay</a:t>
            </a:r>
            <a:r>
              <a:rPr lang="en-US" altLang="en-US" sz="2200" dirty="0" smtClean="0"/>
              <a:t> from </a:t>
            </a:r>
            <a:r>
              <a:rPr lang="en-US" altLang="en-US" sz="2200" b="1" dirty="0" err="1" smtClean="0"/>
              <a:t>ButtonBase</a:t>
            </a:r>
            <a:r>
              <a:rPr lang="en-US" altLang="en-US" sz="2200" dirty="0" smtClean="0"/>
              <a:t> and </a:t>
            </a:r>
            <a:r>
              <a:rPr lang="en-US" altLang="en-US" sz="2200" b="1" dirty="0" smtClean="0"/>
              <a:t>Labeled</a:t>
            </a:r>
            <a:r>
              <a:rPr lang="en-US" altLang="en-US" sz="2200" dirty="0" smtClean="0"/>
              <a:t>. </a:t>
            </a:r>
          </a:p>
        </p:txBody>
      </p:sp>
      <p:sp>
        <p:nvSpPr>
          <p:cNvPr id="22533" name="Rectangle 12"/>
          <p:cNvSpPr>
            <a:spLocks noChangeArrowheads="1"/>
          </p:cNvSpPr>
          <p:nvPr/>
        </p:nvSpPr>
        <p:spPr bwMode="auto">
          <a:xfrm>
            <a:off x="1814513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4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CB7FBF9A-6370-4120-A680-FBB361C75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2253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3" y="2667000"/>
            <a:ext cx="870267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6100E1-2982-4710-AB10-19D99564375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CheckBox Example</a:t>
            </a:r>
            <a:endParaRPr lang="en-US" altLang="en-US" sz="4200" smtClean="0"/>
          </a:p>
        </p:txBody>
      </p:sp>
      <p:sp>
        <p:nvSpPr>
          <p:cNvPr id="24580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C2F1E4BE-A832-4AB7-86D8-5A66036DC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405D47-AB4C-484D-8E46-24DCC8705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670E0E-992E-428B-B40B-D78667B4B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4584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315200" y="5668963"/>
            <a:ext cx="1524000" cy="4572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3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00E62B-88DD-423E-8FBE-7363D99DD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632450"/>
            <a:ext cx="2819400" cy="53975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CheckBoxDemo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24586" name="AutoShape 12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3733800" y="56324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2458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2543175"/>
            <a:ext cx="3895725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AFED12-50AB-4E32-B214-C28656485E5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 smtClean="0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52400" y="0"/>
            <a:ext cx="8382000" cy="670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javafx.event.ActionEvent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javafx.event.EventHandler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javafx.geometry.Insets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javafx.scene.control.CheckBox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javafx.scene.layout.VBox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javafx.scene.text.Font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javafx.scene.text.FontPosture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javafx.scene.text.FontWeight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CheckBoxDemo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extends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@Override // Override the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method in the super class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protected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pane =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super.getPane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Font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fontBoldItalic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Font.font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("Times New Roman",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FontWeight.BOLD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FontPosture.ITALIC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, 20);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Font </a:t>
            </a:r>
            <a:r>
              <a:rPr lang="en-US" alt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fontBold</a:t>
            </a:r>
            <a:r>
              <a:rPr lang="en-US" alt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Font.font</a:t>
            </a:r>
            <a:r>
              <a:rPr lang="en-US" alt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("Times New Roman",</a:t>
            </a:r>
            <a:br>
              <a:rPr lang="en-US" alt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   Font </a:t>
            </a:r>
            <a:r>
              <a:rPr lang="en-US" alt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Weight.BOLD</a:t>
            </a:r>
            <a:r>
              <a:rPr lang="en-US" alt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FontPosture.REGULAR</a:t>
            </a:r>
            <a:r>
              <a:rPr lang="en-US" alt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, 20);</a:t>
            </a:r>
            <a:br>
              <a:rPr lang="en-US" alt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Font </a:t>
            </a:r>
            <a:r>
              <a:rPr lang="en-US" altLang="en-US" sz="1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fontItalic</a:t>
            </a:r>
            <a:r>
              <a:rPr lang="en-US" alt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Font.font</a:t>
            </a:r>
            <a:r>
              <a:rPr lang="en-US" alt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("Times New Roman",</a:t>
            </a:r>
            <a:br>
              <a:rPr lang="en-US" alt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FontWeight.NORMAL</a:t>
            </a:r>
            <a:r>
              <a:rPr lang="en-US" alt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FontPosture.ITALIC</a:t>
            </a:r>
            <a:r>
              <a:rPr lang="en-US" alt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, 20);</a:t>
            </a:r>
            <a:br>
              <a:rPr lang="en-US" altLang="en-US" sz="1400" b="1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Font </a:t>
            </a:r>
            <a:r>
              <a:rPr lang="en-US" alt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fontNormal</a:t>
            </a:r>
            <a:r>
              <a:rPr lang="en-US" alt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Font.font</a:t>
            </a:r>
            <a:r>
              <a:rPr lang="en-US" alt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("Times New Roman",</a:t>
            </a:r>
            <a:br>
              <a:rPr lang="en-US" alt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FontWeight.NORMAL</a:t>
            </a:r>
            <a:r>
              <a:rPr lang="en-US" alt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FontPosture.REGULAR</a:t>
            </a:r>
            <a:r>
              <a:rPr lang="en-US" alt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, 20);</a:t>
            </a:r>
            <a:br>
              <a:rPr lang="en-US" alt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text.setFont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fontNormal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VBox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paneForCheckBoxes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VBox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(20);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paneForCheckBoxes.setPadding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(new Insets(5, 5, 5, 5));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paneForCheckBoxes.setStyle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("-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-border-color: green");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FFFFFF"/>
                </a:solidFill>
                <a:latin typeface="Consolas" panose="020B0609020204030204" pitchFamily="49" charset="0"/>
              </a:rPr>
              <a:t>11</a:t>
            </a:r>
            <a:r>
              <a:rPr lang="en-US" altLang="en-US" sz="24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2662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0"/>
            <a:ext cx="3752850" cy="192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5D1FFC-0130-49F8-A1DC-AF2DCE26D42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 smtClean="0"/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152400" y="152400"/>
            <a:ext cx="8153400" cy="6278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CheckBox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chkBold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CheckBox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("Bold");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CheckBox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chkItalic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CheckBox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("Italic");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paneForCheckBoxes.getChildren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addAll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chkBold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chkItalic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pane.setRight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paneForCheckBoxes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EventHandler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ActionEvent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&gt; handler = e -&gt;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if 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chkBold.isSelected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&amp;&amp;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chkItalic.isSelected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text.setFont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fontBoldItalic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 // Both check boxes checked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} else if 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chkBold.isSelected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text.setFont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fontBold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 // The Bold check box checked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} else if 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chkItalic.isSelected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text.setFont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fontItalic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 // The Italic check box checked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} else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text.setFont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fontNormal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 // Both check boxes unchecked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}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chkBold.setOnAction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(handler);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chkItalic.setOnAction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(handler);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return pane; // Return a new pane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// the start method is inherited from the superclass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static void main(String[]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launch(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400" dirty="0">
                <a:latin typeface="Consolas" panose="020B0609020204030204" pitchFamily="49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 fontScale="77500" lnSpcReduction="20000"/>
          </a:bodyPr>
          <a:lstStyle/>
          <a:p>
            <a:r>
              <a:rPr lang="tr-T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tr-TR" sz="20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tr-T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tr-TR" sz="20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tr-T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tr-T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tr-TR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tr-T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indent="0">
              <a:buNone/>
            </a:pP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public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class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Test {</a:t>
            </a:r>
          </a:p>
          <a:p>
            <a:pPr marL="0" indent="0">
              <a:buNone/>
            </a:pP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public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static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void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main(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String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[]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args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) {</a:t>
            </a:r>
          </a:p>
          <a:p>
            <a:pPr marL="0" indent="0">
              <a:buNone/>
            </a:pP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  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Test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test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=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new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Test();</a:t>
            </a:r>
          </a:p>
          <a:p>
            <a:pPr marL="0" indent="0">
              <a:buNone/>
            </a:pP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  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test.new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B().start();</a:t>
            </a:r>
          </a:p>
          <a:p>
            <a:pPr marL="0" indent="0">
              <a:buNone/>
            </a:pP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}</a:t>
            </a:r>
            <a:endParaRPr lang="tr-TR" sz="21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  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class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A {</a:t>
            </a:r>
          </a:p>
          <a:p>
            <a:pPr marL="0" indent="0">
              <a:buNone/>
            </a:pP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  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public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void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start()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{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System.out.println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(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getP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());}</a:t>
            </a:r>
            <a:endParaRPr lang="tr-TR" sz="21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    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public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int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getP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()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{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return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;}</a:t>
            </a:r>
            <a:endParaRPr lang="tr-TR" sz="21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}</a:t>
            </a:r>
            <a:endParaRPr lang="tr-TR" sz="21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  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class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B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extends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A {</a:t>
            </a:r>
          </a:p>
          <a:p>
            <a:pPr marL="0" indent="0">
              <a:buNone/>
            </a:pP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  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public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int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getP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()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{</a:t>
            </a:r>
            <a:r>
              <a:rPr lang="tr-TR" sz="2100" dirty="0" err="1" smtClean="0">
                <a:latin typeface="Consolas" panose="020B0609020204030204" pitchFamily="49" charset="0"/>
                <a:cs typeface="Calibri" panose="020F0502020204030204" pitchFamily="34" charset="0"/>
              </a:rPr>
              <a:t>return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</a:t>
            </a: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2 + </a:t>
            </a:r>
            <a:r>
              <a:rPr lang="tr-TR" sz="2100" dirty="0" err="1">
                <a:latin typeface="Consolas" panose="020B0609020204030204" pitchFamily="49" charset="0"/>
                <a:cs typeface="Calibri" panose="020F0502020204030204" pitchFamily="34" charset="0"/>
              </a:rPr>
              <a:t>super.getP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();}</a:t>
            </a:r>
            <a:endParaRPr lang="tr-TR" sz="21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100" dirty="0">
                <a:latin typeface="Consolas" panose="020B0609020204030204" pitchFamily="49" charset="0"/>
                <a:cs typeface="Calibri" panose="020F0502020204030204" pitchFamily="34" charset="0"/>
              </a:rPr>
              <a:t>  </a:t>
            </a: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}</a:t>
            </a:r>
            <a:endParaRPr lang="tr-TR" sz="21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100" dirty="0" smtClean="0">
                <a:latin typeface="Consolas" panose="020B0609020204030204" pitchFamily="49" charset="0"/>
                <a:cs typeface="Calibri" panose="020F0502020204030204" pitchFamily="34" charset="0"/>
              </a:rPr>
              <a:t>   }</a:t>
            </a: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Reason: When the start method is invoked from new B(), the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getP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method in the B class is invoked. When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super.getP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is invoked, the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getP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method in the A class is invoked.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30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test if a check box is selected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you apply all the methods for Labeled to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CheckBox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tr-TR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chk.isSelected</a:t>
            </a: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apply all the methods in 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Labeled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CheckBox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because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CheckBox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a subclass of 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Labeled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63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665" y="-4485"/>
            <a:ext cx="3917335" cy="1452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9F78E8-E2B4-4F9A-9585-3A8252B9418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5638800" cy="457200"/>
          </a:xfrm>
          <a:noFill/>
        </p:spPr>
        <p:txBody>
          <a:bodyPr/>
          <a:lstStyle/>
          <a:p>
            <a:r>
              <a:rPr lang="en-US" altLang="en-US" sz="4200" dirty="0" err="1" smtClean="0">
                <a:latin typeface="Courier New" panose="02070309020205020404" pitchFamily="49" charset="0"/>
              </a:rPr>
              <a:t>RadioButton</a:t>
            </a:r>
            <a:endParaRPr lang="en-US" altLang="en-US" sz="4200" dirty="0" smtClean="0"/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685800"/>
            <a:ext cx="5638800" cy="1600200"/>
          </a:xfrm>
          <a:noFill/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 smtClean="0"/>
              <a:t>Radio buttons, also known as </a:t>
            </a:r>
            <a:r>
              <a:rPr lang="en-US" altLang="en-US" sz="1800" i="1" dirty="0" smtClean="0"/>
              <a:t>option buttons</a:t>
            </a:r>
            <a:r>
              <a:rPr lang="en-US" altLang="en-US" sz="1800" dirty="0" smtClean="0"/>
              <a:t>, enable you to choose a single item from a group of choices.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dirty="0" smtClean="0"/>
              <a:t>In appearance radio buttons resemble check boxes, but check boxes display a square that is either checked or blank, whereas radio buttons display a circle that is either filled (if selected) or blank (if not selected).</a:t>
            </a:r>
          </a:p>
        </p:txBody>
      </p:sp>
      <p:sp>
        <p:nvSpPr>
          <p:cNvPr id="29701" name="Rectangle 12"/>
          <p:cNvSpPr>
            <a:spLocks noChangeArrowheads="1"/>
          </p:cNvSpPr>
          <p:nvPr/>
        </p:nvSpPr>
        <p:spPr bwMode="auto">
          <a:xfrm>
            <a:off x="1814513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2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29AFCF99-B06E-4939-A4CC-4C2B40D70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6224540-1C74-47F7-AEAA-827AFE3DB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29705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2438400"/>
            <a:ext cx="857885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4053B6-1E72-471E-BD0E-EAE822ADA0F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RadioButton Example</a:t>
            </a:r>
            <a:endParaRPr lang="en-US" altLang="en-US" sz="4200" smtClean="0"/>
          </a:p>
        </p:txBody>
      </p:sp>
      <p:sp>
        <p:nvSpPr>
          <p:cNvPr id="31748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0EF5837F-F99D-4D62-8339-582ABA735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EBEC7FF-D96F-4EB7-ABE1-1C22C9AFF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C2FF1-399A-4311-8C7C-86CA84AB9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1752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315200" y="5668963"/>
            <a:ext cx="1524000" cy="4572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3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F69522A-42F9-4F64-90B6-419AF3D3E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632450"/>
            <a:ext cx="2819400" cy="53975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RadioButtonDemo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1754" name="AutoShape 12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3733800" y="56324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3175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138" y="2543175"/>
            <a:ext cx="3895725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31756" name="Picture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2543175"/>
            <a:ext cx="4295775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13ADE9-DFC6-486F-ADB3-C1F6F158D8A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 smtClean="0"/>
          </a:p>
        </p:txBody>
      </p:sp>
      <p:sp>
        <p:nvSpPr>
          <p:cNvPr id="33795" name="Dikdörtgen 4"/>
          <p:cNvSpPr>
            <a:spLocks noChangeArrowheads="1"/>
          </p:cNvSpPr>
          <p:nvPr/>
        </p:nvSpPr>
        <p:spPr bwMode="auto">
          <a:xfrm>
            <a:off x="76200" y="152400"/>
            <a:ext cx="8686800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static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javafx.application.Application.launch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javafx.geometry.Insets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javafx.scene.control.RadioButton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javafx.scene.control.ToggleGroup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javafx.scene.layout.BorderPane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javafx.scene.layout.VBox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javafx.scene.paint.Color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RadioButtonDemo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extends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CheckBoxDemo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@Override // Override the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method in the super class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protected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pane =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super.getPane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VBox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paneForRadioButtons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VBox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(20);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paneForRadioButtons.setPadding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(new Insets(5, 5, 5, 5));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paneForRadioButtons.setStyle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("-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-border-color: green");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RadioButton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rbRed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RadioButton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("Red");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RadioButton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rbGreen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RadioButton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("Green");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RadioButton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rbBlue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RadioButton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("Blue");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paneForRadioButtons.getChildren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addAll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rbRed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rbGreen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rbBlue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pane.setLeft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paneForRadioButtons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ToggleGroup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group = new 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ToggleGroup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rbRed.setToggleGroup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(group);</a:t>
            </a:r>
            <a:b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rbGreen.setToggleGroup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(group);</a:t>
            </a:r>
            <a:b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rbBlue.setToggleGroup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(group);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rbRed.setOnAction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(e -&gt;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if (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rbRed.isSelected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()) {</a:t>
            </a:r>
            <a:b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text.setFill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Color.RED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      }</a:t>
            </a:r>
            <a:b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FFFFFF"/>
                </a:solidFill>
                <a:latin typeface="Consolas" panose="020B0609020204030204" pitchFamily="49" charset="0"/>
              </a:rPr>
              <a:t>14    </a:t>
            </a:r>
            <a:r>
              <a:rPr lang="en-US" altLang="en-US" sz="1400" b="1" dirty="0">
                <a:solidFill>
                  <a:srgbClr val="C00000"/>
                </a:solidFill>
                <a:latin typeface="Consolas" panose="020B0609020204030204" pitchFamily="49" charset="0"/>
              </a:rPr>
              <a:t>});</a:t>
            </a:r>
            <a:r>
              <a:rPr lang="en-US" altLang="en-US" sz="2400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33796" name="Resim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36513"/>
            <a:ext cx="3490912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10CF6F-92E0-4198-97B0-7A20640DA20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 smtClean="0"/>
          </a:p>
        </p:txBody>
      </p:sp>
      <p:sp>
        <p:nvSpPr>
          <p:cNvPr id="34819" name="Dikdörtgen 4"/>
          <p:cNvSpPr>
            <a:spLocks noChangeArrowheads="1"/>
          </p:cNvSpPr>
          <p:nvPr/>
        </p:nvSpPr>
        <p:spPr bwMode="auto">
          <a:xfrm>
            <a:off x="304800" y="152400"/>
            <a:ext cx="8305800" cy="495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rbGreen.setOnAction</a:t>
            </a: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(e -&gt; {</a:t>
            </a:r>
            <a:b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      if (</a:t>
            </a:r>
            <a:r>
              <a:rPr lang="en-US" altLang="en-US" sz="1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rbGreen.isSelected</a:t>
            </a: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()) {</a:t>
            </a:r>
            <a:b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text.setFill</a:t>
            </a: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Color.GREEN</a:t>
            </a: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      }</a:t>
            </a:r>
            <a:b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B050"/>
                </a:solidFill>
                <a:latin typeface="Consolas" panose="020B0609020204030204" pitchFamily="49" charset="0"/>
              </a:rPr>
              <a:t>    });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1600" b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rbBlue.setOnAction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(e -&gt; {</a:t>
            </a:r>
            <a:b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   if (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rbBlue.isSelected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()) {</a:t>
            </a:r>
            <a:b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text.setFill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Color.BLUE</a:t>
            </a: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   }</a:t>
            </a:r>
            <a:b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    });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return pane;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// the start method is inherited from the superclass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ButtonDemo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static void main(String[] 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launch(</a:t>
            </a:r>
            <a:r>
              <a:rPr lang="en-US" altLang="en-US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b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800" dirty="0">
                <a:latin typeface="Consolas" panose="020B0609020204030204" pitchFamily="49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test if a radio button is selected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group radio buttons?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tr-TR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rb.isSelected</a:t>
            </a: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a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ToggleGroup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tg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set radio 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tr-TR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toggleGroup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property to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tg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90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711" y="-4485"/>
            <a:ext cx="4645290" cy="172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35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760873-1173-43C3-AA03-8BCFEA41983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4038600" cy="457200"/>
          </a:xfrm>
          <a:noFill/>
        </p:spPr>
        <p:txBody>
          <a:bodyPr/>
          <a:lstStyle/>
          <a:p>
            <a:r>
              <a:rPr lang="en-US" altLang="en-US" sz="4200" dirty="0" err="1" smtClean="0">
                <a:latin typeface="Courier New" panose="02070309020205020404" pitchFamily="49" charset="0"/>
              </a:rPr>
              <a:t>TextField</a:t>
            </a:r>
            <a:endParaRPr lang="en-US" altLang="en-US" sz="4200" dirty="0" smtClean="0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762000"/>
            <a:ext cx="4953000" cy="12192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400" dirty="0" smtClean="0"/>
              <a:t>A text field can be used to enter or display a string. </a:t>
            </a:r>
            <a:r>
              <a:rPr lang="en-US" altLang="en-US" sz="2400" b="1" dirty="0" err="1" smtClean="0"/>
              <a:t>TextField</a:t>
            </a:r>
            <a:r>
              <a:rPr lang="en-US" altLang="en-US" sz="2400" dirty="0" smtClean="0"/>
              <a:t> is a subclass of </a:t>
            </a:r>
            <a:r>
              <a:rPr lang="en-US" altLang="en-US" sz="2400" b="1" dirty="0" err="1" smtClean="0"/>
              <a:t>TextInputControl</a:t>
            </a:r>
            <a:r>
              <a:rPr lang="en-US" altLang="en-US" sz="2400" dirty="0" smtClean="0"/>
              <a:t>. </a:t>
            </a:r>
          </a:p>
        </p:txBody>
      </p:sp>
      <p:sp>
        <p:nvSpPr>
          <p:cNvPr id="35845" name="Rectangle 12"/>
          <p:cNvSpPr>
            <a:spLocks noChangeArrowheads="1"/>
          </p:cNvSpPr>
          <p:nvPr/>
        </p:nvSpPr>
        <p:spPr bwMode="auto">
          <a:xfrm>
            <a:off x="1814513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5846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42D4398D-8EA4-4A2B-BEBB-262A38771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97BDF8E-AB99-4D6B-9105-94590C250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422F05-5686-47F7-8A7D-58F2158AA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35850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2254250"/>
            <a:ext cx="8813800" cy="407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634E56-02CB-4BD6-B02A-D0A2F1AC62A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TextField Example</a:t>
            </a:r>
            <a:endParaRPr lang="en-US" altLang="en-US" sz="4200" smtClean="0"/>
          </a:p>
        </p:txBody>
      </p:sp>
      <p:sp>
        <p:nvSpPr>
          <p:cNvPr id="37892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FE52F983-4651-4100-9C9D-E2BDE946C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3511D36-6C85-4F62-8473-C1987ED7C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6C6FDE-983B-4207-B445-23E075A9A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7896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315200" y="5668963"/>
            <a:ext cx="1524000" cy="4572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3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3A49EA9-6279-411B-8392-3330F2C00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632450"/>
            <a:ext cx="2819400" cy="53975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TextFieldDemo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7898" name="AutoShape 12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3733800" y="56324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37899" name="Picture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86000"/>
            <a:ext cx="42068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A12A9A-4448-4126-AE29-F4C50F7AD24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 smtClean="0"/>
          </a:p>
        </p:txBody>
      </p:sp>
      <p:sp>
        <p:nvSpPr>
          <p:cNvPr id="39939" name="Dikdörtgen 4"/>
          <p:cNvSpPr>
            <a:spLocks noChangeArrowheads="1"/>
          </p:cNvSpPr>
          <p:nvPr/>
        </p:nvSpPr>
        <p:spPr bwMode="auto">
          <a:xfrm>
            <a:off x="6350" y="0"/>
            <a:ext cx="8534400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static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javafx.application.Application.launch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javafx.geometry.Insets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javafx.geometry.Pos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javafx.scene.control.Label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javafx.scene.control.TextField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import </a:t>
            </a:r>
            <a:r>
              <a:rPr lang="en-US" altLang="en-US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javafx.scene.layout.BorderPane</a:t>
            </a:r>
            <a:r>
              <a:rPr lang="en-US" altLang="en-US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TextFieldDemo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extends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RadioButtonDemo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@Override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protected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pane =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super.getPane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paneForTextField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paneForTextField.setPadding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(new Insets(5, 5, 5, 5));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paneForTextField.setStyle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("-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fx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-border-color: green");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paneForTextField.setLeft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(new Label("Enter a new message: "));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TextField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tf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TextField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tf.setAlignment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Pos.BOTTOM_RIGHT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paneForTextField.setCenter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tf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pane.setTop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paneForTextField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tf.setOnAction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(e -&gt;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text.setText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tf.getText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()));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return pane;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static void main(String[]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launch(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400" b="1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39940" name="Resim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04800"/>
            <a:ext cx="3408363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you disable editing of a text field?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you apply all the methods for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TextInputControl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TextField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you set a node as the graphic property in a text field?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align the text in a text field to the right?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Yes.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tf.setEditable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(false).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apply all the methods in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TextInputControl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TextField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because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TextField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is a subclass of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TextInputControl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tf.setAlignment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Pos.BASELINE_RIGHT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0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711" y="-4485"/>
            <a:ext cx="4645290" cy="172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09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443C14-99C9-44B9-88E2-78B1901CCE07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400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3812911" cy="457200"/>
          </a:xfrm>
          <a:noFill/>
        </p:spPr>
        <p:txBody>
          <a:bodyPr/>
          <a:lstStyle/>
          <a:p>
            <a:r>
              <a:rPr lang="en-US" altLang="en-US" sz="4200" dirty="0" err="1" smtClean="0">
                <a:latin typeface="Courier New" panose="02070309020205020404" pitchFamily="49" charset="0"/>
              </a:rPr>
              <a:t>TextArea</a:t>
            </a:r>
            <a:endParaRPr lang="en-US" altLang="en-US" sz="4200" dirty="0" smtClean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838200"/>
            <a:ext cx="4193911" cy="6096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400" dirty="0" smtClean="0"/>
              <a:t>A </a:t>
            </a:r>
            <a:r>
              <a:rPr lang="en-US" altLang="en-US" sz="2400" b="1" dirty="0" err="1" smtClean="0"/>
              <a:t>TextArea</a:t>
            </a:r>
            <a:r>
              <a:rPr lang="en-US" altLang="en-US" sz="2400" dirty="0" smtClean="0"/>
              <a:t> enables the user to enter multiple lines of text.</a:t>
            </a:r>
          </a:p>
        </p:txBody>
      </p:sp>
      <p:sp>
        <p:nvSpPr>
          <p:cNvPr id="40965" name="Rectangle 12"/>
          <p:cNvSpPr>
            <a:spLocks noChangeArrowheads="1"/>
          </p:cNvSpPr>
          <p:nvPr/>
        </p:nvSpPr>
        <p:spPr bwMode="auto">
          <a:xfrm>
            <a:off x="1814513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0966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013A018-3A30-4564-AADE-746D4DD91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4096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54213"/>
            <a:ext cx="8832850" cy="452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4613"/>
            <a:ext cx="6778625" cy="25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30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5FCEA0-2239-4F7F-94CB-0D53656D89E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400" smtClean="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TextArea Example</a:t>
            </a:r>
            <a:endParaRPr lang="en-US" altLang="en-US" sz="4200" smtClean="0"/>
          </a:p>
        </p:txBody>
      </p:sp>
      <p:sp>
        <p:nvSpPr>
          <p:cNvPr id="43013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287A6E0E-165F-4977-8F5C-3E58372E0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84A9DB6-7583-4D4F-B83E-F867FBC65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E8431-2D53-476C-A2D3-5393A34FD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3017" name="AutoShape 4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7315200" y="5916613"/>
            <a:ext cx="1524000" cy="4572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3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C5B4B85-F758-4AF2-8DF0-E6DF2357E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880100"/>
            <a:ext cx="2819400" cy="53975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5" action="ppaction://program"/>
              </a:rPr>
              <a:t>TextAreaDemo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43019" name="AutoShape 12">
            <a:hlinkClick r:id="rId6" highlightClick="1"/>
          </p:cNvPr>
          <p:cNvSpPr>
            <a:spLocks noChangeArrowheads="1"/>
          </p:cNvSpPr>
          <p:nvPr/>
        </p:nvSpPr>
        <p:spPr bwMode="auto">
          <a:xfrm>
            <a:off x="3733800" y="58801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4302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763" y="2895600"/>
            <a:ext cx="55848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8548621-8BBE-4A53-BEFB-3B47353D6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200650"/>
            <a:ext cx="2819400" cy="53975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8" action="ppaction://program"/>
              </a:rPr>
              <a:t>DescriptionPane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43022" name="AutoShape 12">
            <a:hlinkClick r:id="rId9" highlightClick="1"/>
          </p:cNvPr>
          <p:cNvSpPr>
            <a:spLocks noChangeArrowheads="1"/>
          </p:cNvSpPr>
          <p:nvPr/>
        </p:nvSpPr>
        <p:spPr bwMode="auto">
          <a:xfrm>
            <a:off x="3733800" y="52006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3023" name="Dikdörtgen 4"/>
          <p:cNvSpPr>
            <a:spLocks noChangeArrowheads="1"/>
          </p:cNvSpPr>
          <p:nvPr/>
        </p:nvSpPr>
        <p:spPr bwMode="auto">
          <a:xfrm>
            <a:off x="12700" y="744538"/>
            <a:ext cx="8445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solidFill>
                  <a:schemeClr val="tx2"/>
                </a:solidFill>
                <a:latin typeface="TimesLTStd-Italic"/>
              </a:rPr>
              <a:t>A </a:t>
            </a:r>
            <a:r>
              <a:rPr lang="en-US" altLang="en-US" sz="1800" b="1">
                <a:solidFill>
                  <a:schemeClr val="tx2"/>
                </a:solidFill>
                <a:latin typeface="LucidaSansTypewriterStd-Bd"/>
              </a:rPr>
              <a:t>TextArea </a:t>
            </a:r>
            <a:r>
              <a:rPr lang="en-US" altLang="en-US" sz="2000" i="1">
                <a:solidFill>
                  <a:schemeClr val="tx2"/>
                </a:solidFill>
                <a:latin typeface="TimesLTStd-Italic"/>
              </a:rPr>
              <a:t>enables the user to enter multiple lines of text.</a:t>
            </a:r>
            <a:r>
              <a:rPr lang="en-US" altLang="en-US" sz="2000">
                <a:solidFill>
                  <a:schemeClr val="tx2"/>
                </a:solidFill>
              </a:rPr>
              <a:t> </a:t>
            </a:r>
            <a:br>
              <a:rPr lang="en-US" altLang="en-US" sz="2000">
                <a:solidFill>
                  <a:schemeClr val="tx2"/>
                </a:solidFill>
              </a:rPr>
            </a:br>
            <a:endParaRPr lang="en-US" altLang="en-US" sz="20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create a text area with 10 rows and 20 columns?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obtain the text from a text area?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you disable editing of a text area?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What method do you use to wrap text to the next line in a text area?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Create a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TextArea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using new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TextArea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then set its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</a:t>
            </a:r>
            <a:r>
              <a:rPr lang="tr-TR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10 and </a:t>
            </a:r>
            <a:r>
              <a:rPr lang="en-US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</a:t>
            </a:r>
            <a:r>
              <a:rPr lang="tr-TR" sz="2000" dirty="0" err="1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Column</a:t>
            </a:r>
            <a:r>
              <a:rPr lang="en-US" sz="2000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Count 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20.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ta.getText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Yes.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ta.setEditable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(false).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ta.setWrapText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(true).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62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711" y="-4485"/>
            <a:ext cx="4645290" cy="172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450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3C9D04-C51F-4B95-831A-9828DD22757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400" smtClean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3733800" cy="457200"/>
          </a:xfrm>
          <a:noFill/>
        </p:spPr>
        <p:txBody>
          <a:bodyPr/>
          <a:lstStyle/>
          <a:p>
            <a:r>
              <a:rPr lang="en-US" altLang="en-US" sz="4200" dirty="0" err="1" smtClean="0">
                <a:latin typeface="Courier New" panose="02070309020205020404" pitchFamily="49" charset="0"/>
              </a:rPr>
              <a:t>ComboBox</a:t>
            </a:r>
            <a:endParaRPr lang="en-US" altLang="en-US" sz="4200" dirty="0" smtClean="0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26974"/>
            <a:ext cx="4953000" cy="823913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400" dirty="0" smtClean="0"/>
              <a:t>A combo box, also known as a choice list or drop-down list, contains a list of items from which the user can choose.</a:t>
            </a:r>
          </a:p>
        </p:txBody>
      </p:sp>
      <p:sp>
        <p:nvSpPr>
          <p:cNvPr id="45061" name="Rectangle 12"/>
          <p:cNvSpPr>
            <a:spLocks noChangeArrowheads="1"/>
          </p:cNvSpPr>
          <p:nvPr/>
        </p:nvSpPr>
        <p:spPr bwMode="auto">
          <a:xfrm>
            <a:off x="1814513" y="1662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5062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ABD7157-41A4-4CEF-AC8C-CF3BBF1D2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D69C975-6043-4C35-9F84-AAF8A73B2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45065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2362200"/>
            <a:ext cx="879475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ED3788-2307-4AC2-ACA2-A9FF3DB9C01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400" smtClean="0"/>
          </a:p>
        </p:txBody>
      </p:sp>
      <p:sp>
        <p:nvSpPr>
          <p:cNvPr id="47107" name="Dikdörtgen 4"/>
          <p:cNvSpPr>
            <a:spLocks noChangeArrowheads="1"/>
          </p:cNvSpPr>
          <p:nvPr/>
        </p:nvSpPr>
        <p:spPr bwMode="auto">
          <a:xfrm>
            <a:off x="6350" y="0"/>
            <a:ext cx="853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7108" name="Rectangle 1"/>
          <p:cNvSpPr>
            <a:spLocks noChangeArrowheads="1"/>
          </p:cNvSpPr>
          <p:nvPr/>
        </p:nvSpPr>
        <p:spPr bwMode="auto">
          <a:xfrm>
            <a:off x="152400" y="98425"/>
            <a:ext cx="7467600" cy="674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//import statements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public class </a:t>
            </a:r>
            <a:r>
              <a:rPr lang="en-US" altLang="en-US" sz="1200" b="1" dirty="0" err="1">
                <a:latin typeface="Consolas" panose="020B0609020204030204" pitchFamily="49" charset="0"/>
              </a:rPr>
              <a:t>TestComboBox</a:t>
            </a:r>
            <a:r>
              <a:rPr lang="en-US" altLang="en-US" sz="1200" b="1" dirty="0">
                <a:latin typeface="Consolas" panose="020B0609020204030204" pitchFamily="49" charset="0"/>
              </a:rPr>
              <a:t> extends Application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public void start(Stage </a:t>
            </a:r>
            <a:r>
              <a:rPr lang="en-US" altLang="en-US" sz="1200" b="1" dirty="0" err="1">
                <a:latin typeface="Consolas" panose="020B0609020204030204" pitchFamily="49" charset="0"/>
              </a:rPr>
              <a:t>primaryStage</a:t>
            </a:r>
            <a:r>
              <a:rPr lang="en-US" altLang="en-US" sz="1200" b="1" dirty="0"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ComboBox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&lt;String&gt;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cbo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ComboBox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&lt;&gt;();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cbo.getItems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addAll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("Item 1", "Item 2", "Item 3", "Item 4");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cbo.setStyle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("-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fx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-color: red");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cbo.setValue</a:t>
            </a:r>
            <a:r>
              <a:rPr lang="en-US" alt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("Item 1");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Label selected = new Label("");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EventHandler</a:t>
            </a:r>
            <a:r>
              <a:rPr lang="en-US" altLang="en-US" sz="1200" b="1" dirty="0">
                <a:latin typeface="Consolas" panose="020B0609020204030204" pitchFamily="49" charset="0"/>
              </a:rPr>
              <a:t>&lt;</a:t>
            </a:r>
            <a:r>
              <a:rPr lang="en-US" altLang="en-US" sz="1200" b="1" dirty="0" err="1">
                <a:latin typeface="Consolas" panose="020B0609020204030204" pitchFamily="49" charset="0"/>
              </a:rPr>
              <a:t>ActionEvent</a:t>
            </a:r>
            <a:r>
              <a:rPr lang="en-US" altLang="en-US" sz="1200" b="1" dirty="0">
                <a:latin typeface="Consolas" panose="020B0609020204030204" pitchFamily="49" charset="0"/>
              </a:rPr>
              <a:t>&gt; event = new </a:t>
            </a:r>
            <a:r>
              <a:rPr lang="en-US" altLang="en-US" sz="1200" b="1" dirty="0" err="1">
                <a:latin typeface="Consolas" panose="020B0609020204030204" pitchFamily="49" charset="0"/>
              </a:rPr>
              <a:t>EventHandler</a:t>
            </a:r>
            <a:r>
              <a:rPr lang="en-US" altLang="en-US" sz="1200" b="1" dirty="0">
                <a:latin typeface="Consolas" panose="020B0609020204030204" pitchFamily="49" charset="0"/>
              </a:rPr>
              <a:t>&lt;</a:t>
            </a:r>
            <a:r>
              <a:rPr lang="en-US" altLang="en-US" sz="1200" b="1" dirty="0" err="1">
                <a:latin typeface="Consolas" panose="020B0609020204030204" pitchFamily="49" charset="0"/>
              </a:rPr>
              <a:t>ActionEvent</a:t>
            </a:r>
            <a:r>
              <a:rPr lang="en-US" altLang="en-US" sz="1200" b="1" dirty="0">
                <a:latin typeface="Consolas" panose="020B0609020204030204" pitchFamily="49" charset="0"/>
              </a:rPr>
              <a:t>&gt;()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	public void handle(</a:t>
            </a:r>
            <a:r>
              <a:rPr lang="en-US" altLang="en-US" sz="1200" b="1" dirty="0" err="1">
                <a:latin typeface="Consolas" panose="020B0609020204030204" pitchFamily="49" charset="0"/>
              </a:rPr>
              <a:t>ActionEvent</a:t>
            </a:r>
            <a:r>
              <a:rPr lang="en-US" altLang="en-US" sz="1200" b="1" dirty="0">
                <a:latin typeface="Consolas" panose="020B0609020204030204" pitchFamily="49" charset="0"/>
              </a:rPr>
              <a:t> e)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	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selected.setText</a:t>
            </a:r>
            <a:r>
              <a:rPr lang="en-US" altLang="en-US" sz="1200" b="1" dirty="0">
                <a:latin typeface="Consolas" panose="020B0609020204030204" pitchFamily="49" charset="0"/>
              </a:rPr>
              <a:t>(</a:t>
            </a:r>
            <a:r>
              <a:rPr lang="en-US" altLang="en-US" sz="1200" b="1" dirty="0" err="1">
                <a:latin typeface="Consolas" panose="020B0609020204030204" pitchFamily="49" charset="0"/>
              </a:rPr>
              <a:t>cbo.getValue</a:t>
            </a:r>
            <a:r>
              <a:rPr lang="en-US" altLang="en-US" sz="1200" b="1" dirty="0">
                <a:latin typeface="Consolas" panose="020B0609020204030204" pitchFamily="49" charset="0"/>
              </a:rPr>
              <a:t>() + " selected");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	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cbo.setOnAction</a:t>
            </a:r>
            <a:r>
              <a:rPr lang="en-US" altLang="en-US" sz="1200" b="1" dirty="0">
                <a:latin typeface="Consolas" panose="020B0609020204030204" pitchFamily="49" charset="0"/>
              </a:rPr>
              <a:t>(event);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HBox</a:t>
            </a:r>
            <a:r>
              <a:rPr lang="en-US" altLang="en-US" sz="1200" b="1" dirty="0">
                <a:latin typeface="Consolas" panose="020B0609020204030204" pitchFamily="49" charset="0"/>
              </a:rPr>
              <a:t> h = new </a:t>
            </a:r>
            <a:r>
              <a:rPr lang="en-US" altLang="en-US" sz="1200" b="1" dirty="0" err="1">
                <a:latin typeface="Consolas" panose="020B0609020204030204" pitchFamily="49" charset="0"/>
              </a:rPr>
              <a:t>HBox</a:t>
            </a:r>
            <a:r>
              <a:rPr lang="en-US" altLang="en-US" sz="1200" b="1" dirty="0"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h.getChildren</a:t>
            </a:r>
            <a:r>
              <a:rPr lang="en-US" altLang="en-US" sz="1200" b="1" dirty="0">
                <a:latin typeface="Consolas" panose="020B0609020204030204" pitchFamily="49" charset="0"/>
              </a:rPr>
              <a:t>().add(</a:t>
            </a:r>
            <a:r>
              <a:rPr lang="en-US" altLang="en-US" sz="1200" b="1" dirty="0" err="1">
                <a:latin typeface="Consolas" panose="020B0609020204030204" pitchFamily="49" charset="0"/>
              </a:rPr>
              <a:t>cbo</a:t>
            </a:r>
            <a:r>
              <a:rPr lang="en-US" altLang="en-US" sz="1200" b="1" dirty="0"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HBox</a:t>
            </a:r>
            <a:r>
              <a:rPr lang="en-US" altLang="en-US" sz="1200" b="1" dirty="0">
                <a:latin typeface="Consolas" panose="020B0609020204030204" pitchFamily="49" charset="0"/>
              </a:rPr>
              <a:t> h2 = new </a:t>
            </a:r>
            <a:r>
              <a:rPr lang="en-US" altLang="en-US" sz="1200" b="1" dirty="0" err="1">
                <a:latin typeface="Consolas" panose="020B0609020204030204" pitchFamily="49" charset="0"/>
              </a:rPr>
              <a:t>HBox</a:t>
            </a:r>
            <a:r>
              <a:rPr lang="en-US" altLang="en-US" sz="1200" b="1" dirty="0"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h2.getChildren().add(selected);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BorderPane</a:t>
            </a:r>
            <a:r>
              <a:rPr lang="en-US" altLang="en-US" sz="1200" b="1" dirty="0">
                <a:latin typeface="Consolas" panose="020B0609020204030204" pitchFamily="49" charset="0"/>
              </a:rPr>
              <a:t> p = new </a:t>
            </a:r>
            <a:r>
              <a:rPr lang="en-US" altLang="en-US" sz="1200" b="1" dirty="0" err="1">
                <a:latin typeface="Consolas" panose="020B0609020204030204" pitchFamily="49" charset="0"/>
              </a:rPr>
              <a:t>BorderPane</a:t>
            </a:r>
            <a:r>
              <a:rPr lang="en-US" altLang="en-US" sz="1200" b="1" dirty="0"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p.setTop</a:t>
            </a:r>
            <a:r>
              <a:rPr lang="en-US" altLang="en-US" sz="1200" b="1" dirty="0">
                <a:latin typeface="Consolas" panose="020B0609020204030204" pitchFamily="49" charset="0"/>
              </a:rPr>
              <a:t>(h);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p.setCenter</a:t>
            </a:r>
            <a:r>
              <a:rPr lang="en-US" altLang="en-US" sz="1200" b="1" dirty="0">
                <a:latin typeface="Consolas" panose="020B0609020204030204" pitchFamily="49" charset="0"/>
              </a:rPr>
              <a:t>(h2);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Scene </a:t>
            </a:r>
            <a:r>
              <a:rPr lang="en-US" altLang="en-US" sz="1200" b="1" dirty="0" err="1">
                <a:latin typeface="Consolas" panose="020B0609020204030204" pitchFamily="49" charset="0"/>
              </a:rPr>
              <a:t>scene</a:t>
            </a:r>
            <a:r>
              <a:rPr lang="en-US" altLang="en-US" sz="1200" b="1" dirty="0">
                <a:latin typeface="Consolas" panose="020B0609020204030204" pitchFamily="49" charset="0"/>
              </a:rPr>
              <a:t> = new Scene(p, 300, 100);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primaryStage.setTitle</a:t>
            </a:r>
            <a:r>
              <a:rPr lang="en-US" altLang="en-US" sz="1200" b="1" dirty="0">
                <a:latin typeface="Consolas" panose="020B0609020204030204" pitchFamily="49" charset="0"/>
              </a:rPr>
              <a:t>("</a:t>
            </a:r>
            <a:r>
              <a:rPr lang="en-US" altLang="en-US" sz="1200" b="1" dirty="0" err="1">
                <a:latin typeface="Consolas" panose="020B0609020204030204" pitchFamily="49" charset="0"/>
              </a:rPr>
              <a:t>ComboBox</a:t>
            </a:r>
            <a:r>
              <a:rPr lang="en-US" altLang="en-US" sz="1200" b="1" dirty="0">
                <a:latin typeface="Consolas" panose="020B0609020204030204" pitchFamily="49" charset="0"/>
              </a:rPr>
              <a:t>"); // Set the stage title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primaryStage.setScene</a:t>
            </a:r>
            <a:r>
              <a:rPr lang="en-US" altLang="en-US" sz="1200" b="1" dirty="0">
                <a:latin typeface="Consolas" panose="020B0609020204030204" pitchFamily="49" charset="0"/>
              </a:rPr>
              <a:t>(scene); // Place the scene in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</a:t>
            </a:r>
            <a:r>
              <a:rPr lang="en-US" altLang="en-US" sz="1200" b="1" dirty="0" err="1">
                <a:latin typeface="Consolas" panose="020B0609020204030204" pitchFamily="49" charset="0"/>
              </a:rPr>
              <a:t>primaryStage.show</a:t>
            </a:r>
            <a:r>
              <a:rPr lang="en-US" altLang="en-US" sz="1200" b="1" dirty="0">
                <a:latin typeface="Consolas" panose="020B0609020204030204" pitchFamily="49" charset="0"/>
              </a:rPr>
              <a:t>(); // Display the stage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public static void main(String[] </a:t>
            </a:r>
            <a:r>
              <a:rPr lang="en-US" altLang="en-US" sz="1200" b="1" dirty="0" err="1">
                <a:latin typeface="Consolas" panose="020B0609020204030204" pitchFamily="49" charset="0"/>
              </a:rPr>
              <a:t>args</a:t>
            </a:r>
            <a:r>
              <a:rPr lang="en-US" altLang="en-US" sz="1200" b="1" dirty="0"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	launch(</a:t>
            </a:r>
            <a:r>
              <a:rPr lang="en-US" altLang="en-US" sz="1200" b="1" dirty="0" err="1">
                <a:latin typeface="Consolas" panose="020B0609020204030204" pitchFamily="49" charset="0"/>
              </a:rPr>
              <a:t>args</a:t>
            </a:r>
            <a:r>
              <a:rPr lang="en-US" altLang="en-US" sz="1200" b="1" dirty="0">
                <a:latin typeface="Consolas" panose="020B0609020204030204" pitchFamily="49" charset="0"/>
              </a:rPr>
              <a:t>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4710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230188"/>
            <a:ext cx="28765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3062288"/>
            <a:ext cx="287655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4E6027-DADA-41FF-B4CC-BFD0C78289E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ComboBox Example</a:t>
            </a:r>
            <a:endParaRPr lang="en-US" altLang="en-US" sz="4200" smtClean="0"/>
          </a:p>
        </p:txBody>
      </p:sp>
      <p:sp>
        <p:nvSpPr>
          <p:cNvPr id="48132" name="Rectangle 14"/>
          <p:cNvSpPr>
            <a:spLocks noChangeArrowheads="1"/>
          </p:cNvSpPr>
          <p:nvPr/>
        </p:nvSpPr>
        <p:spPr bwMode="auto">
          <a:xfrm>
            <a:off x="0" y="198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E3DCA63E-A854-4F0B-A1CC-18F6E73C9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75C675-6873-46A5-B4F3-943606EF0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795A54-A465-4D64-B626-622E6BE5D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8136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7315200" y="5668963"/>
            <a:ext cx="1524000" cy="4572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13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C370983-290C-4F03-80AB-71540C69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632450"/>
            <a:ext cx="2819400" cy="53975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ComboBoxDemo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48138" name="AutoShape 12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3733800" y="56324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8139" name="Rectangle 3"/>
          <p:cNvSpPr txBox="1">
            <a:spLocks noChangeArrowheads="1"/>
          </p:cNvSpPr>
          <p:nvPr/>
        </p:nvSpPr>
        <p:spPr bwMode="auto">
          <a:xfrm>
            <a:off x="304800" y="1143000"/>
            <a:ext cx="868680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en-US" sz="3300">
                <a:cs typeface="Times New Roman" panose="02020603050405020304" pitchFamily="18" charset="0"/>
              </a:rPr>
              <a:t>This example lets users view an image and a description of a country's flag by selecting the country from a combo box.</a:t>
            </a:r>
          </a:p>
        </p:txBody>
      </p:sp>
      <p:pic>
        <p:nvPicPr>
          <p:cNvPr id="4814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763" y="2895600"/>
            <a:ext cx="483076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create a combo box and add three items to it?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retrieve an item from a combo box? How do you retrieve a selected item from a combo box?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get the number of items in a combo box? How do you retrieve an item at a specified index in a combo box?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What events would a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ComboBox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fire upon selecting a new item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new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ComboBox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&lt;&gt;().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cbo.getItems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addAll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(item1, item2, item3).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cbo.getItems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to return a list of values in the combo box.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cbo.getValue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to get selected value.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cbo.getItems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().size() to return the number of items in a combo box and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cbo.getItems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().get(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to get the item at the specified index in a combo box.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Upon selecting a new item, a combo box fires an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ActionEvent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82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711" y="-4485"/>
            <a:ext cx="4645290" cy="172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01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397514-E504-4A6E-B81C-55FC570ED3C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400" smtClean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3581400" cy="533400"/>
          </a:xfrm>
          <a:noFill/>
        </p:spPr>
        <p:txBody>
          <a:bodyPr/>
          <a:lstStyle/>
          <a:p>
            <a:r>
              <a:rPr lang="en-US" altLang="en-US" sz="4200" dirty="0" err="1" smtClean="0">
                <a:latin typeface="Courier New" panose="02070309020205020404" pitchFamily="49" charset="0"/>
              </a:rPr>
              <a:t>ListView</a:t>
            </a:r>
            <a:endParaRPr lang="en-US" altLang="en-US" sz="4200" dirty="0" smtClean="0"/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5181600" cy="7620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200" dirty="0" smtClean="0"/>
              <a:t>A </a:t>
            </a:r>
            <a:r>
              <a:rPr lang="en-US" altLang="en-US" sz="2200" i="1" dirty="0" smtClean="0"/>
              <a:t>list view</a:t>
            </a:r>
            <a:r>
              <a:rPr lang="en-US" altLang="en-US" sz="2200" dirty="0" smtClean="0"/>
              <a:t> is a component that performs basically the same function as a combo box, but it enables the user to choose a single value or </a:t>
            </a:r>
            <a:r>
              <a:rPr lang="en-US" altLang="en-US" sz="2200" dirty="0" smtClean="0">
                <a:solidFill>
                  <a:srgbClr val="FF0000"/>
                </a:solidFill>
              </a:rPr>
              <a:t>multiple values</a:t>
            </a:r>
            <a:r>
              <a:rPr lang="en-US" altLang="en-US" sz="2200" dirty="0" smtClean="0"/>
              <a:t>.</a:t>
            </a:r>
            <a:r>
              <a:rPr lang="en-US" altLang="en-US" sz="2400" dirty="0" smtClean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50181" name="Rectangle 13"/>
          <p:cNvSpPr>
            <a:spLocks noChangeArrowheads="1"/>
          </p:cNvSpPr>
          <p:nvPr/>
        </p:nvSpPr>
        <p:spPr bwMode="auto">
          <a:xfrm>
            <a:off x="2024063" y="1933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DF2E14C7-2857-4729-991D-C37A48B0D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018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3252787"/>
            <a:ext cx="9144000" cy="276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5E042D-39BF-4B5D-8B3D-1F395D82CBF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400" smtClean="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  <a:noFill/>
        </p:spPr>
        <p:txBody>
          <a:bodyPr/>
          <a:lstStyle/>
          <a:p>
            <a:r>
              <a:rPr lang="en-US" altLang="en-US" smtClean="0">
                <a:latin typeface="Book Antiqua" panose="02040602050305030304" pitchFamily="18" charset="0"/>
              </a:rPr>
              <a:t>Example: Using ListView</a:t>
            </a:r>
            <a:r>
              <a:rPr lang="en-US" altLang="en-US" sz="4200" smtClean="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3352800" cy="41910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3000" dirty="0" smtClean="0">
                <a:cs typeface="Times New Roman" panose="02020603050405020304" pitchFamily="18" charset="0"/>
              </a:rPr>
              <a:t>This example gives a program that lets users select countries in a list and display the flags of the selected countries in the labels</a:t>
            </a:r>
            <a:r>
              <a:rPr lang="en-US" altLang="en-US" sz="3000" dirty="0" smtClean="0"/>
              <a:t>.</a:t>
            </a:r>
            <a:r>
              <a:rPr lang="en-US" altLang="en-US" dirty="0" smtClean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52229" name="AutoShape 4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5029200" y="5715000"/>
            <a:ext cx="32766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432133" name="AutoShape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9AA5FF2-69DC-427C-9EDD-CF3C3E415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715000"/>
            <a:ext cx="32766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4" action="ppaction://program"/>
              </a:rPr>
              <a:t>ListViewDemo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52231" name="AutoShape 8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914400" y="56388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52232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446213"/>
            <a:ext cx="5167313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7EBD49-E513-4CD4-B2BD-66AD3F81EDA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400" smtClean="0"/>
          </a:p>
        </p:txBody>
      </p:sp>
      <p:sp>
        <p:nvSpPr>
          <p:cNvPr id="54275" name="Dikdörtgen 4"/>
          <p:cNvSpPr>
            <a:spLocks noChangeArrowheads="1"/>
          </p:cNvSpPr>
          <p:nvPr/>
        </p:nvSpPr>
        <p:spPr bwMode="auto">
          <a:xfrm>
            <a:off x="381000" y="152400"/>
            <a:ext cx="8763000" cy="535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// import statements…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ListViewDemo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extends Application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// Declare an array of Strings for flag titles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private String[]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flagTitles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{"United States of America", "Canada", "China",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"Denmark", "France", "Germany", "India"};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// Declare an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array for the national flags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private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("image/us.gif"),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("image/ca.gif"),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("image/china.gif"),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("image/denmark.gif"),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("image/fr.gif"),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("image/germany.gif"),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ImageView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("image/india.gif")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};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@Override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void start(Stage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ListView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&lt;String&gt; lv = new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ListView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&lt;&gt;(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FXCollections</a:t>
            </a:r>
            <a:r>
              <a:rPr lang="en-US" altLang="en-US" sz="1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                                </a:t>
            </a:r>
            <a:r>
              <a:rPr lang="tr-TR" altLang="en-US" sz="1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                  					</a:t>
            </a:r>
            <a:r>
              <a:rPr lang="en-US" altLang="en-US" sz="1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observableArrayList</a:t>
            </a:r>
            <a:r>
              <a:rPr lang="en-US" altLang="en-US" sz="1400" b="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flagTitles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dirty="0">
                <a:solidFill>
                  <a:srgbClr val="FFFFFF"/>
                </a:solidFill>
                <a:latin typeface="Consolas" panose="020B0609020204030204" pitchFamily="49" charset="0"/>
              </a:rPr>
              <a:t>21  </a:t>
            </a:r>
            <a:r>
              <a:rPr lang="en-US" altLang="en-US" sz="14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lv.setPrefSize</a:t>
            </a:r>
            <a:r>
              <a:rPr lang="en-US" altLang="en-US" sz="14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(400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400);</a:t>
            </a:r>
            <a:r>
              <a:rPr lang="en-US" altLang="en-US" sz="2400" dirty="0">
                <a:latin typeface="Consolas" panose="020B06090202040302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Consolas" panose="020B0609020204030204" pitchFamily="49" charset="0"/>
              </a:rPr>
              <a:t>  </a:t>
            </a:r>
            <a:r>
              <a:rPr lang="tr-TR" altLang="en-US" sz="1400" dirty="0" smtClean="0">
                <a:latin typeface="Consolas" panose="020B0609020204030204" pitchFamily="49" charset="0"/>
              </a:rPr>
              <a:t>  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lv.getSelectionModel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setSelectionMode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SelectionMode.MULTIPLE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); </a:t>
            </a:r>
            <a:r>
              <a:rPr lang="en-US" altLang="en-US" sz="2400" dirty="0">
                <a:latin typeface="Consolas" panose="020B0609020204030204" pitchFamily="49" charset="0"/>
              </a:rPr>
              <a:t/>
            </a:r>
            <a:br>
              <a:rPr lang="en-US" altLang="en-US" sz="2400" dirty="0">
                <a:latin typeface="Consolas" panose="020B0609020204030204" pitchFamily="49" charset="0"/>
              </a:rPr>
            </a:br>
            <a:endParaRPr lang="en-US" altLang="en-US" sz="2400" dirty="0">
              <a:latin typeface="Consolas" panose="020B0609020204030204" pitchFamily="49" charset="0"/>
            </a:endParaRPr>
          </a:p>
        </p:txBody>
      </p:sp>
      <p:pic>
        <p:nvPicPr>
          <p:cNvPr id="5427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828800"/>
            <a:ext cx="360521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ayt Numarası Yer Tutucusu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DEF72A-BA3A-4727-811A-EA2CE4C71ED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400" smtClean="0"/>
          </a:p>
        </p:txBody>
      </p:sp>
      <p:sp>
        <p:nvSpPr>
          <p:cNvPr id="55299" name="Dikdörtgen 4"/>
          <p:cNvSpPr>
            <a:spLocks noChangeArrowheads="1"/>
          </p:cNvSpPr>
          <p:nvPr/>
        </p:nvSpPr>
        <p:spPr bwMode="auto">
          <a:xfrm>
            <a:off x="228600" y="152400"/>
            <a:ext cx="8229600" cy="557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// Create a pane to hold image views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FlowPane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FlowPane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(10, 10);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pane = 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BorderPane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pane.setLeft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(new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ScrollPane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(lv));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pane.setCenter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imagePane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lv.getSelectionModel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selectedItemProperty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addListener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ov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-&gt; {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imagePane.getChildren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().clear();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for (Integer i: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lv.getSelectionModel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getSelectedIndices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()) {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  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imagePane.getChildren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().add(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ImageViews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]);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}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});</a:t>
            </a:r>
            <a:b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altLang="en-US" sz="1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Scene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scene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new Scene(pane, 450, 170);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primaryStage.setTitle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("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ListViewDemo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");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primaryStage.setScene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(scene);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primaryStage.show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public static void main(String[] 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launch(</a:t>
            </a:r>
            <a:r>
              <a:rPr lang="en-US" alt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b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altLang="en-US" sz="2400" dirty="0">
                <a:latin typeface="Consolas" panose="020B0609020204030204" pitchFamily="49" charset="0"/>
              </a:rPr>
              <a:t> </a:t>
            </a:r>
            <a:br>
              <a:rPr lang="en-US" altLang="en-US" sz="2400" dirty="0">
                <a:latin typeface="Consolas" panose="020B0609020204030204" pitchFamily="49" charset="0"/>
              </a:rPr>
            </a:br>
            <a:endParaRPr lang="en-US" altLang="en-US" sz="2400" dirty="0">
              <a:latin typeface="Consolas" panose="020B0609020204030204" pitchFamily="49" charset="0"/>
            </a:endParaRPr>
          </a:p>
        </p:txBody>
      </p:sp>
      <p:pic>
        <p:nvPicPr>
          <p:cNvPr id="5530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825" y="2952750"/>
            <a:ext cx="360521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create an observable list with an array of strings?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What selection modes are available for a list view? What is the default selection mode? How do you set a selection mode?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obtain the selected items and selected indices?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create an observable list with an array of strings,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FXCollections.observableArrayList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arrayOfStrings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Two selection modes can be used in a list view: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SelectionMode.MULTIPLE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SelectionMode.SINGLE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To set a selection mode,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lv.getSelectionModel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setSelectionMode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SelectionMode.MULTIPLE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lv.getSelectionModel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getSelectedItems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and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lv.getSelectionModel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getSelectedIndices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73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711" y="-4485"/>
            <a:ext cx="4645290" cy="172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563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2C51B9-086B-42A3-A6F3-4D51A314787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400" smtClean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3962400" cy="685800"/>
          </a:xfrm>
          <a:noFill/>
        </p:spPr>
        <p:txBody>
          <a:bodyPr/>
          <a:lstStyle/>
          <a:p>
            <a:r>
              <a:rPr lang="en-US" altLang="en-US" sz="4200" dirty="0" err="1" smtClean="0">
                <a:latin typeface="Courier New" panose="02070309020205020404" pitchFamily="49" charset="0"/>
              </a:rPr>
              <a:t>ScrollBar</a:t>
            </a:r>
            <a:endParaRPr lang="en-US" altLang="en-US" dirty="0" smtClean="0"/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4876800" cy="6858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spcAft>
                <a:spcPts val="1200"/>
              </a:spcAft>
              <a:buFont typeface="Monotype Sorts" pitchFamily="2" charset="2"/>
              <a:buNone/>
            </a:pPr>
            <a:r>
              <a:rPr lang="en-US" altLang="en-US" sz="2000" dirty="0" smtClean="0"/>
              <a:t>A </a:t>
            </a:r>
            <a:r>
              <a:rPr lang="en-US" altLang="en-US" sz="2000" i="1" dirty="0" smtClean="0"/>
              <a:t>scroll bar</a:t>
            </a:r>
            <a:r>
              <a:rPr lang="en-US" altLang="en-US" sz="2000" dirty="0" smtClean="0"/>
              <a:t> is a control that enables the user to select from a range of values. The scrollbar appears in two styles: </a:t>
            </a:r>
            <a:r>
              <a:rPr lang="en-US" altLang="en-US" sz="2000" i="1" dirty="0" smtClean="0"/>
              <a:t>horizontal</a:t>
            </a:r>
            <a:r>
              <a:rPr lang="en-US" altLang="en-US" sz="2000" dirty="0" smtClean="0"/>
              <a:t> and </a:t>
            </a:r>
            <a:r>
              <a:rPr lang="en-US" altLang="en-US" sz="2000" i="1" dirty="0" smtClean="0"/>
              <a:t>vertical</a:t>
            </a:r>
            <a:r>
              <a:rPr lang="en-US" altLang="en-US" sz="2000" dirty="0" smtClean="0"/>
              <a:t>.</a:t>
            </a:r>
          </a:p>
        </p:txBody>
      </p:sp>
      <p:sp>
        <p:nvSpPr>
          <p:cNvPr id="56325" name="Rectangle 7"/>
          <p:cNvSpPr>
            <a:spLocks noChangeArrowheads="1"/>
          </p:cNvSpPr>
          <p:nvPr/>
        </p:nvSpPr>
        <p:spPr bwMode="auto">
          <a:xfrm>
            <a:off x="2024063" y="1724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56326" name="Rectangle 9"/>
          <p:cNvSpPr>
            <a:spLocks noChangeArrowheads="1"/>
          </p:cNvSpPr>
          <p:nvPr/>
        </p:nvSpPr>
        <p:spPr bwMode="auto">
          <a:xfrm>
            <a:off x="0" y="1630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CBE9ED18-E8C1-4FB0-ACDD-14D8C3A1E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632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5550"/>
            <a:ext cx="906780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4F3F28-6A4F-44D7-90C7-73762FDDA2E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400" smtClean="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Scroll Bar Properties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17B2A76-2ED7-454A-98FD-05E899D9C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5837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500188"/>
            <a:ext cx="8724900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FDE539-29E3-4F70-991D-4E29015CA3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400" smtClean="0"/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Example: Using Scrollbars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4114800" cy="42672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spcAft>
                <a:spcPts val="1200"/>
              </a:spcAft>
              <a:buFont typeface="Monotype Sorts" pitchFamily="2" charset="2"/>
              <a:buNone/>
            </a:pPr>
            <a:r>
              <a:rPr lang="en-US" altLang="en-US" sz="2800" smtClean="0">
                <a:cs typeface="Times New Roman" panose="02020603050405020304" pitchFamily="18" charset="0"/>
              </a:rPr>
              <a:t>This example uses horizontal and vertical scrollbars to control a message displayed on a panel. The horizontal scrollbar is used to move the message to the left or the right, and the vertical scrollbar to move it up and down. </a:t>
            </a:r>
          </a:p>
        </p:txBody>
      </p:sp>
      <p:sp>
        <p:nvSpPr>
          <p:cNvPr id="450564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38A3C74-D3D3-4BF4-819A-4F8A42BD3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943600"/>
            <a:ext cx="36576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ScrollBarDemo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0422" name="AutoShape 5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5181600" y="5943600"/>
            <a:ext cx="36576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0423" name="AutoShape 7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914400" y="56388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60424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5" y="1447800"/>
            <a:ext cx="423386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create a horizontal scroll bar? How do you create a vertical scroll bar?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write the code to respond to the value property change of a scroll bar?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create a horizontal scroll bar, create a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ScrollBar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using new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ScrollBar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 and then invoke its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setOrientation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Orientation.HORIZONTAL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or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setOrientation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Orientation.VERTICAL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sb.valueProperty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addListener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-&gt; statements) to respond to a change in the scroll bar value.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27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711" y="-4485"/>
            <a:ext cx="4645290" cy="172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624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15AC29-F802-4EB8-8049-7940177A2191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400" smtClean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3352800" cy="685800"/>
          </a:xfrm>
          <a:noFill/>
        </p:spPr>
        <p:txBody>
          <a:bodyPr/>
          <a:lstStyle/>
          <a:p>
            <a:r>
              <a:rPr lang="en-US" altLang="en-US" sz="4200" dirty="0" smtClean="0">
                <a:latin typeface="Courier New" panose="02070309020205020404" pitchFamily="49" charset="0"/>
              </a:rPr>
              <a:t>Slider</a:t>
            </a:r>
            <a:endParaRPr lang="en-US" altLang="en-US" dirty="0" smtClean="0"/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4648200" cy="9144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spcAft>
                <a:spcPts val="1200"/>
              </a:spcAft>
              <a:buFont typeface="Monotype Sorts" pitchFamily="2" charset="2"/>
              <a:buNone/>
            </a:pPr>
            <a:r>
              <a:rPr lang="en-US" altLang="en-US" sz="2800" dirty="0" smtClean="0"/>
              <a:t>Slider is similar to </a:t>
            </a:r>
            <a:r>
              <a:rPr lang="en-US" altLang="en-US" sz="2800" dirty="0" err="1" smtClean="0"/>
              <a:t>ScrollBar</a:t>
            </a:r>
            <a:r>
              <a:rPr lang="en-US" altLang="en-US" sz="2800" dirty="0" smtClean="0"/>
              <a:t>, but Slider has more properties and can appear in many forms. </a:t>
            </a: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2024063" y="1724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2470" name="Rectangle 7"/>
          <p:cNvSpPr>
            <a:spLocks noChangeArrowheads="1"/>
          </p:cNvSpPr>
          <p:nvPr/>
        </p:nvSpPr>
        <p:spPr bwMode="auto">
          <a:xfrm>
            <a:off x="2024063" y="1038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2471" name="Rectangle 9"/>
          <p:cNvSpPr>
            <a:spLocks noChangeArrowheads="1"/>
          </p:cNvSpPr>
          <p:nvPr/>
        </p:nvSpPr>
        <p:spPr bwMode="auto">
          <a:xfrm>
            <a:off x="0" y="1855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10919D81-B751-4F2C-B843-A5FAD1705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62473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2489200"/>
            <a:ext cx="9067800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04F6F4-8895-4C38-AFA5-92C7DC27DEF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400" smtClean="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Example: Using Sliders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3886200" cy="2438400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spcAft>
                <a:spcPts val="1200"/>
              </a:spcAft>
              <a:buFont typeface="Monotype Sorts" pitchFamily="2" charset="2"/>
              <a:buNone/>
            </a:pPr>
            <a:r>
              <a:rPr lang="en-US" altLang="en-US" sz="2800" smtClean="0">
                <a:cs typeface="Times New Roman" panose="02020603050405020304" pitchFamily="18" charset="0"/>
              </a:rPr>
              <a:t>Rewrite the preceding program using the sliders to control a message displayed on a panel instead of using scroll bars. </a:t>
            </a:r>
          </a:p>
        </p:txBody>
      </p:sp>
      <p:sp>
        <p:nvSpPr>
          <p:cNvPr id="501764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6CD6171-3FE6-4154-9B74-9FD6D4F01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943600"/>
            <a:ext cx="36576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SliderDemo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4518" name="AutoShape 5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5181600" y="5943600"/>
            <a:ext cx="36576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4519" name="Rectangle 8"/>
          <p:cNvSpPr>
            <a:spLocks noChangeArrowheads="1"/>
          </p:cNvSpPr>
          <p:nvPr/>
        </p:nvSpPr>
        <p:spPr bwMode="auto">
          <a:xfrm>
            <a:off x="2571750" y="2771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4520" name="AutoShape 9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914400" y="56388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64521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452563"/>
            <a:ext cx="4789488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B94A0D-ED08-4B92-A403-258D807CE36B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400" smtClean="0"/>
          </a:p>
        </p:txBody>
      </p:sp>
      <p:sp>
        <p:nvSpPr>
          <p:cNvPr id="6656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Case Study: Bounce Ball </a:t>
            </a:r>
          </a:p>
        </p:txBody>
      </p:sp>
      <p:sp>
        <p:nvSpPr>
          <p:cNvPr id="6656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14478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800" smtClean="0"/>
              <a:t>Listing 15.17 gives a program that displays a bouncing ball. You can add a slider to control the speed of the ball movement.</a:t>
            </a:r>
            <a:endParaRPr lang="en-US" altLang="en-US" sz="3000" smtClean="0"/>
          </a:p>
          <a:p>
            <a:pPr marL="0" indent="0">
              <a:buFont typeface="Monotype Sorts" pitchFamily="2" charset="2"/>
              <a:buNone/>
            </a:pPr>
            <a:endParaRPr lang="en-US" altLang="en-US" sz="3000" smtClean="0"/>
          </a:p>
          <a:p>
            <a:pPr marL="0" indent="0">
              <a:buFont typeface="Monotype Sorts" pitchFamily="2" charset="2"/>
              <a:buNone/>
            </a:pPr>
            <a:endParaRPr lang="en-US" altLang="en-US" sz="3000" smtClean="0"/>
          </a:p>
          <a:p>
            <a:pPr marL="0" indent="0">
              <a:buFont typeface="Monotype Sorts" pitchFamily="2" charset="2"/>
              <a:buNone/>
            </a:pPr>
            <a:endParaRPr lang="en-US" altLang="en-US" smtClean="0">
              <a:latin typeface="Book Antiqua" panose="02040602050305030304" pitchFamily="18" charset="0"/>
            </a:endParaRPr>
          </a:p>
        </p:txBody>
      </p:sp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1800"/>
            <a:ext cx="30591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71800"/>
            <a:ext cx="306863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AD37B6C-6C97-4F2A-8345-A20F61F63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943600"/>
            <a:ext cx="36576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 dirty="0">
                <a:solidFill>
                  <a:schemeClr val="accent1"/>
                </a:solidFill>
                <a:latin typeface="Book Antiqua" pitchFamily="18" charset="0"/>
                <a:hlinkClick r:id="rId5" action="ppaction://program"/>
              </a:rPr>
              <a:t>Bounce Ball Slider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p:sp>
        <p:nvSpPr>
          <p:cNvPr id="66568" name="AutoShape 5">
            <a:hlinkClick r:id="rId6" action="ppaction://program" highlightClick="1"/>
          </p:cNvPr>
          <p:cNvSpPr>
            <a:spLocks noChangeArrowheads="1"/>
          </p:cNvSpPr>
          <p:nvPr/>
        </p:nvSpPr>
        <p:spPr bwMode="auto">
          <a:xfrm>
            <a:off x="5181600" y="5943600"/>
            <a:ext cx="36576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6569" name="AutoShape 9">
            <a:hlinkClick r:id="rId7" highlightClick="1"/>
          </p:cNvPr>
          <p:cNvSpPr>
            <a:spLocks noChangeArrowheads="1"/>
          </p:cNvSpPr>
          <p:nvPr/>
        </p:nvSpPr>
        <p:spPr bwMode="auto">
          <a:xfrm>
            <a:off x="914400" y="56388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add a listener to handle the property value change of a slider?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How do you get the value from a slider? How do you get the maximum value from a slider?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sl.valueProperty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addListener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ov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-&gt; statements) to respond to a change in the slider value.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get the value from a slider,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sl.getValue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 To get the scroll bar's maximum value, use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sl.getMax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59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1304925"/>
            <a:ext cx="26066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406FEE-3A02-429F-B020-F906C45AD05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 smtClean="0"/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543800" cy="533400"/>
          </a:xfrm>
        </p:spPr>
        <p:txBody>
          <a:bodyPr/>
          <a:lstStyle/>
          <a:p>
            <a:r>
              <a:rPr lang="en-US" altLang="en-US" sz="4000" smtClean="0"/>
              <a:t>Case Study: TicTacToe</a:t>
            </a:r>
            <a:endParaRPr lang="en-US" altLang="en-US" u="sng" smtClean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68613" name="Rectangle 12"/>
          <p:cNvSpPr>
            <a:spLocks noChangeArrowheads="1"/>
          </p:cNvSpPr>
          <p:nvPr/>
        </p:nvSpPr>
        <p:spPr bwMode="auto">
          <a:xfrm>
            <a:off x="2770188" y="2541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8614" name="Rectangle 14"/>
          <p:cNvSpPr>
            <a:spLocks noChangeArrowheads="1"/>
          </p:cNvSpPr>
          <p:nvPr/>
        </p:nvSpPr>
        <p:spPr bwMode="auto">
          <a:xfrm>
            <a:off x="2166938" y="24098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8615" name="Rectangle 16"/>
          <p:cNvSpPr>
            <a:spLocks noChangeArrowheads="1"/>
          </p:cNvSpPr>
          <p:nvPr/>
        </p:nvSpPr>
        <p:spPr bwMode="auto">
          <a:xfrm>
            <a:off x="2800350" y="262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8616" name="Rectangle 21"/>
          <p:cNvSpPr>
            <a:spLocks noChangeArrowheads="1"/>
          </p:cNvSpPr>
          <p:nvPr/>
        </p:nvSpPr>
        <p:spPr bwMode="auto">
          <a:xfrm>
            <a:off x="3443288" y="2505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686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304925"/>
            <a:ext cx="262413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9D08BA64-F9D1-4197-BA02-8A9A56C78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graphicFrame>
        <p:nvGraphicFramePr>
          <p:cNvPr id="68619" name="Object 2"/>
          <p:cNvGraphicFramePr>
            <a:graphicFrameLocks noChangeAspect="1"/>
          </p:cNvGraphicFramePr>
          <p:nvPr/>
        </p:nvGraphicFramePr>
        <p:xfrm>
          <a:off x="1504950" y="3836988"/>
          <a:ext cx="6280150" cy="233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41" name="Picture" r:id="rId5" imgW="3542538" imgH="1316736" progId="Word.Picture.8">
                  <p:embed/>
                </p:oleObj>
              </mc:Choice>
              <mc:Fallback>
                <p:oleObj name="Picture" r:id="rId5" imgW="3542538" imgH="1316736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3836988"/>
                        <a:ext cx="6280150" cy="233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0" name="Line 23"/>
          <p:cNvSpPr>
            <a:spLocks noChangeShapeType="1"/>
          </p:cNvSpPr>
          <p:nvPr/>
        </p:nvSpPr>
        <p:spPr bwMode="auto">
          <a:xfrm flipH="1" flipV="1">
            <a:off x="2095500" y="1905000"/>
            <a:ext cx="190500" cy="2971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1" name="Line 24"/>
          <p:cNvSpPr>
            <a:spLocks noChangeShapeType="1"/>
          </p:cNvSpPr>
          <p:nvPr/>
        </p:nvSpPr>
        <p:spPr bwMode="auto">
          <a:xfrm flipH="1" flipV="1">
            <a:off x="3581400" y="2667000"/>
            <a:ext cx="558800" cy="2209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E43441-800F-4E9E-A5E7-6DDAD55E934C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 smtClean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/>
          <a:lstStyle/>
          <a:p>
            <a:r>
              <a:rPr lang="en-US" altLang="en-US" sz="4000" smtClean="0"/>
              <a:t>Case Study: TicTacToe, cont.</a:t>
            </a:r>
          </a:p>
        </p:txBody>
      </p:sp>
      <p:sp>
        <p:nvSpPr>
          <p:cNvPr id="294916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9876FE9-E0EA-438B-B8CB-2B6FA21DC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867400"/>
            <a:ext cx="1752600" cy="4572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2" action="ppaction://program"/>
              </a:rPr>
              <a:t>TicTacToe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69637" name="AutoShape 5">
            <a:hlinkClick r:id="rId3" action="ppaction://program" highlightClick="1"/>
          </p:cNvPr>
          <p:cNvSpPr>
            <a:spLocks noChangeArrowheads="1"/>
          </p:cNvSpPr>
          <p:nvPr/>
        </p:nvSpPr>
        <p:spPr bwMode="auto">
          <a:xfrm>
            <a:off x="2743200" y="5867400"/>
            <a:ext cx="2819400" cy="4572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2770188" y="2541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9639" name="Rectangle 12"/>
          <p:cNvSpPr>
            <a:spLocks noChangeArrowheads="1"/>
          </p:cNvSpPr>
          <p:nvPr/>
        </p:nvSpPr>
        <p:spPr bwMode="auto">
          <a:xfrm>
            <a:off x="2343150" y="2543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69640" name="AutoShape 13">
            <a:hlinkClick r:id="rId4" highlightClick="1"/>
          </p:cNvPr>
          <p:cNvSpPr>
            <a:spLocks noChangeArrowheads="1"/>
          </p:cNvSpPr>
          <p:nvPr/>
        </p:nvSpPr>
        <p:spPr bwMode="auto">
          <a:xfrm>
            <a:off x="381000" y="54102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5D8731A-6ACA-40CC-95F6-0B872DC9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69642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1943100"/>
            <a:ext cx="85471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711" y="-4485"/>
            <a:ext cx="4645290" cy="172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706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B32820-D540-4E20-A012-BB654FA1D2B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 smtClean="0"/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5105400" cy="685800"/>
          </a:xfrm>
          <a:noFill/>
        </p:spPr>
        <p:txBody>
          <a:bodyPr/>
          <a:lstStyle/>
          <a:p>
            <a:r>
              <a:rPr lang="en-US" altLang="en-US" sz="4200" b="1" dirty="0" smtClean="0">
                <a:latin typeface="Courier New" panose="02070309020205020404" pitchFamily="49" charset="0"/>
              </a:rPr>
              <a:t>Media</a:t>
            </a:r>
            <a:endParaRPr lang="en-US" altLang="en-US" b="1" dirty="0" smtClean="0"/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903413"/>
            <a:ext cx="8686800" cy="1754187"/>
          </a:xfrm>
          <a:noFill/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The </a:t>
            </a:r>
            <a:r>
              <a:rPr lang="en-US" altLang="en-US" sz="2000" b="1" dirty="0" smtClean="0"/>
              <a:t>Media</a:t>
            </a:r>
            <a:r>
              <a:rPr lang="en-US" altLang="en-US" sz="2000" dirty="0" smtClean="0"/>
              <a:t> class is used to obtain the source of the media.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The </a:t>
            </a:r>
            <a:r>
              <a:rPr lang="en-US" altLang="en-US" sz="2000" b="1" dirty="0" err="1" smtClean="0"/>
              <a:t>MediaPlayer</a:t>
            </a:r>
            <a:r>
              <a:rPr lang="en-US" altLang="en-US" sz="2000" dirty="0" smtClean="0"/>
              <a:t> class is used to play and control the media.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/>
              <a:t>The </a:t>
            </a:r>
            <a:r>
              <a:rPr lang="en-US" altLang="en-US" sz="2000" b="1" dirty="0" smtClean="0"/>
              <a:t>MediaView</a:t>
            </a:r>
            <a:r>
              <a:rPr lang="en-US" altLang="en-US" sz="2000" dirty="0" smtClean="0"/>
              <a:t> class is used to display the video.</a:t>
            </a:r>
          </a:p>
        </p:txBody>
      </p:sp>
      <p:sp>
        <p:nvSpPr>
          <p:cNvPr id="70661" name="Rectangle 7"/>
          <p:cNvSpPr>
            <a:spLocks noChangeArrowheads="1"/>
          </p:cNvSpPr>
          <p:nvPr/>
        </p:nvSpPr>
        <p:spPr bwMode="auto">
          <a:xfrm>
            <a:off x="2024063" y="1724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0662" name="Rectangle 9"/>
          <p:cNvSpPr>
            <a:spLocks noChangeArrowheads="1"/>
          </p:cNvSpPr>
          <p:nvPr/>
        </p:nvSpPr>
        <p:spPr bwMode="auto">
          <a:xfrm>
            <a:off x="0" y="1630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91A8EAC8-7066-4931-9BEB-8476AEA2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9035C49-B5B6-48CF-99AF-8251722C9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0665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3914775"/>
            <a:ext cx="8996363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A6C902-ABAC-4571-865A-DE64D229B06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 smtClean="0"/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MediaPlayer</a:t>
            </a:r>
            <a:endParaRPr lang="en-US" altLang="en-US" smtClean="0"/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686800" cy="914400"/>
          </a:xfrm>
          <a:noFill/>
        </p:spPr>
        <p:txBody>
          <a:bodyPr/>
          <a:lstStyle/>
          <a:p>
            <a:pPr marL="0" indent="0"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2000" smtClean="0"/>
              <a:t>The </a:t>
            </a:r>
            <a:r>
              <a:rPr lang="en-US" altLang="en-US" sz="2000" b="1" smtClean="0"/>
              <a:t>MediaPlayer</a:t>
            </a:r>
            <a:r>
              <a:rPr lang="en-US" altLang="en-US" sz="2000" smtClean="0"/>
              <a:t> class playes and controls the media with properties such as </a:t>
            </a:r>
            <a:r>
              <a:rPr lang="en-US" altLang="en-US" sz="2000" b="1" smtClean="0"/>
              <a:t>autoPlay</a:t>
            </a:r>
            <a:r>
              <a:rPr lang="en-US" altLang="en-US" sz="2000" smtClean="0"/>
              <a:t>, </a:t>
            </a:r>
            <a:r>
              <a:rPr lang="en-US" altLang="en-US" sz="2000" b="1" smtClean="0"/>
              <a:t>currentCount</a:t>
            </a:r>
            <a:r>
              <a:rPr lang="en-US" altLang="en-US" sz="2000" smtClean="0"/>
              <a:t>,  </a:t>
            </a:r>
            <a:r>
              <a:rPr lang="en-US" altLang="en-US" sz="2000" b="1" smtClean="0"/>
              <a:t>cycleCount</a:t>
            </a:r>
            <a:r>
              <a:rPr lang="en-US" altLang="en-US" sz="2000" smtClean="0"/>
              <a:t>, </a:t>
            </a:r>
            <a:r>
              <a:rPr lang="en-US" altLang="en-US" sz="2000" b="1" smtClean="0"/>
              <a:t>mute</a:t>
            </a:r>
            <a:r>
              <a:rPr lang="en-US" altLang="en-US" sz="2000" smtClean="0"/>
              <a:t>, </a:t>
            </a:r>
            <a:r>
              <a:rPr lang="en-US" altLang="en-US" sz="2000" b="1" smtClean="0"/>
              <a:t>volume</a:t>
            </a:r>
            <a:r>
              <a:rPr lang="en-US" altLang="en-US" sz="2000" smtClean="0"/>
              <a:t>, and </a:t>
            </a:r>
            <a:r>
              <a:rPr lang="en-US" altLang="en-US" sz="2000" b="1" smtClean="0"/>
              <a:t>totalDuration</a:t>
            </a:r>
            <a:r>
              <a:rPr lang="en-US" altLang="en-US" sz="2000" smtClean="0"/>
              <a:t>.</a:t>
            </a:r>
          </a:p>
        </p:txBody>
      </p:sp>
      <p:sp>
        <p:nvSpPr>
          <p:cNvPr id="72709" name="Rectangle 7"/>
          <p:cNvSpPr>
            <a:spLocks noChangeArrowheads="1"/>
          </p:cNvSpPr>
          <p:nvPr/>
        </p:nvSpPr>
        <p:spPr bwMode="auto">
          <a:xfrm>
            <a:off x="2024063" y="1724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2710" name="Rectangle 9"/>
          <p:cNvSpPr>
            <a:spLocks noChangeArrowheads="1"/>
          </p:cNvSpPr>
          <p:nvPr/>
        </p:nvSpPr>
        <p:spPr bwMode="auto">
          <a:xfrm>
            <a:off x="0" y="1630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946C9158-9F3E-4F17-BEE4-68FABF441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1422736-394C-413F-A405-461586F1F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9C8A66-8A00-4000-99F7-92DCC2EED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271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057400"/>
            <a:ext cx="874395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FFACD5-3B61-45CE-8596-D5A19B9A14E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 smtClean="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</p:spPr>
        <p:txBody>
          <a:bodyPr/>
          <a:lstStyle/>
          <a:p>
            <a:r>
              <a:rPr lang="en-US" altLang="en-US" sz="4200" smtClean="0">
                <a:latin typeface="Courier New" panose="02070309020205020404" pitchFamily="49" charset="0"/>
              </a:rPr>
              <a:t>MediaView</a:t>
            </a:r>
            <a:endParaRPr lang="en-US" altLang="en-US" smtClean="0"/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686800" cy="1524000"/>
          </a:xfrm>
          <a:noFill/>
        </p:spPr>
        <p:txBody>
          <a:bodyPr/>
          <a:lstStyle/>
          <a:p>
            <a:pPr marL="0" indent="0">
              <a:lnSpc>
                <a:spcPct val="150000"/>
              </a:lnSpc>
              <a:buFont typeface="Monotype Sorts" pitchFamily="2" charset="2"/>
              <a:buNone/>
            </a:pPr>
            <a:r>
              <a:rPr lang="en-US" altLang="en-US" sz="2000" smtClean="0"/>
              <a:t>The </a:t>
            </a:r>
            <a:r>
              <a:rPr lang="en-US" altLang="en-US" sz="2000" b="1" smtClean="0"/>
              <a:t>MediaView</a:t>
            </a:r>
            <a:r>
              <a:rPr lang="en-US" altLang="en-US" sz="2000" smtClean="0"/>
              <a:t> class is a subclass of </a:t>
            </a:r>
            <a:r>
              <a:rPr lang="en-US" altLang="en-US" sz="2000" b="1" smtClean="0"/>
              <a:t>Node</a:t>
            </a:r>
            <a:r>
              <a:rPr lang="en-US" altLang="en-US" sz="2000" smtClean="0"/>
              <a:t> that provides a view of the </a:t>
            </a:r>
            <a:r>
              <a:rPr lang="en-US" altLang="en-US" sz="2000" b="1" smtClean="0"/>
              <a:t>Media</a:t>
            </a:r>
            <a:r>
              <a:rPr lang="en-US" altLang="en-US" sz="2000" smtClean="0"/>
              <a:t> being played by a </a:t>
            </a:r>
            <a:r>
              <a:rPr lang="en-US" altLang="en-US" sz="2000" b="1" smtClean="0"/>
              <a:t>MediaPlayer</a:t>
            </a:r>
            <a:r>
              <a:rPr lang="en-US" altLang="en-US" sz="2000" smtClean="0"/>
              <a:t>. The  </a:t>
            </a:r>
            <a:r>
              <a:rPr lang="en-US" altLang="en-US" sz="2000" b="1" smtClean="0"/>
              <a:t>MediaView</a:t>
            </a:r>
            <a:r>
              <a:rPr lang="en-US" altLang="en-US" sz="2000" smtClean="0"/>
              <a:t> class provides the properties for viewing the media.</a:t>
            </a:r>
          </a:p>
        </p:txBody>
      </p:sp>
      <p:sp>
        <p:nvSpPr>
          <p:cNvPr id="74757" name="Rectangle 7"/>
          <p:cNvSpPr>
            <a:spLocks noChangeArrowheads="1"/>
          </p:cNvSpPr>
          <p:nvPr/>
        </p:nvSpPr>
        <p:spPr bwMode="auto">
          <a:xfrm>
            <a:off x="2024063" y="1724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74758" name="Rectangle 9"/>
          <p:cNvSpPr>
            <a:spLocks noChangeArrowheads="1"/>
          </p:cNvSpPr>
          <p:nvPr/>
        </p:nvSpPr>
        <p:spPr bwMode="auto">
          <a:xfrm>
            <a:off x="0" y="1630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789675A7-475B-4DD2-9A88-B6B21EDA0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682B776-C975-4AB3-B0DE-C5B5F4A56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BDE31B-8303-48E8-A0CB-BDFF7022B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858560-5DA3-464C-B9CB-C53F67D3B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4763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8" y="2590800"/>
            <a:ext cx="889952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F59CBC-D93A-4083-BFF3-80E0C2D75FE0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 smtClean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</p:spPr>
        <p:txBody>
          <a:bodyPr/>
          <a:lstStyle/>
          <a:p>
            <a:r>
              <a:rPr lang="en-US" altLang="en-US" smtClean="0"/>
              <a:t>Example: Using Media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4267200" cy="3429000"/>
          </a:xfrm>
          <a:noFill/>
        </p:spPr>
        <p:txBody>
          <a:bodyPr/>
          <a:lstStyle/>
          <a:p>
            <a:pPr marL="0" indent="0">
              <a:spcAft>
                <a:spcPts val="1200"/>
              </a:spcAft>
              <a:buFont typeface="Monotype Sorts" pitchFamily="2" charset="2"/>
              <a:buNone/>
            </a:pPr>
            <a:r>
              <a:rPr lang="en-US" altLang="en-US" sz="2800" smtClean="0"/>
              <a:t>This example displays a video in a view. You can use the play/pause button to play or pause the video and use the rewind button to restart the video, and use the slider to control the volume of the audio</a:t>
            </a:r>
            <a:r>
              <a:rPr lang="en-US" altLang="en-US" sz="2800" smtClean="0"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50564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FEF7632-0229-4AE3-9C1C-9242373D9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075" y="5791200"/>
            <a:ext cx="36576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MediaDemo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76806" name="AutoShape 5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5197475" y="5791200"/>
            <a:ext cx="36576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76807" name="AutoShape 7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930275" y="548640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D84B4FC-48CD-4331-93AA-C4D465372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6809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350963"/>
            <a:ext cx="43195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10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4953000"/>
            <a:ext cx="78232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r>
              <a:rPr lang="tr-TR" dirty="0" smtClean="0">
                <a:sym typeface="Wingdings" panose="05000000000000000000" pitchFamily="2" charset="2"/>
              </a:rPr>
              <a:t></a:t>
            </a:r>
            <a:r>
              <a:rPr lang="tr-TR" dirty="0" smtClean="0"/>
              <a:t>  </a:t>
            </a:r>
            <a:r>
              <a:rPr lang="tr-TR" b="1" dirty="0" err="1" smtClean="0">
                <a:latin typeface="Bell MT" panose="02020503060305020303" pitchFamily="18" charset="0"/>
              </a:rPr>
              <a:t>Check</a:t>
            </a:r>
            <a:r>
              <a:rPr lang="tr-TR" b="1" dirty="0" smtClean="0">
                <a:latin typeface="Bell MT" panose="02020503060305020303" pitchFamily="18" charset="0"/>
              </a:rPr>
              <a:t> Point</a:t>
            </a: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7349"/>
            <a:ext cx="7772400" cy="47418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Can you place a Media in multiple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MediaPlayers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? Can you place a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MediaPlayer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 multiple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MediaViews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? Can you place a MediaView in multiple Panes?</a:t>
            </a:r>
            <a:endParaRPr lang="tr-TR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tr-TR" sz="2000" b="1" dirty="0" smtClean="0">
                <a:solidFill>
                  <a:srgbClr val="92D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&lt;--- ANSWER ---&gt;</a:t>
            </a:r>
            <a:endParaRPr lang="tr-TR" sz="2000" b="1" dirty="0">
              <a:solidFill>
                <a:srgbClr val="92D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can place a Media in multiple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MediaPlayer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a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MediaPlayer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multiple MediaView, but cannot place a MediaView in multiple panes.</a:t>
            </a:r>
            <a:endParaRPr lang="tr-TR" sz="2000" dirty="0" smtClean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AF139-9E8A-44AE-81CA-17BD068C2507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926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1B7265-D354-4302-B327-72B14EF148E3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 smtClean="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91600" cy="1428750"/>
          </a:xfrm>
          <a:noFill/>
        </p:spPr>
        <p:txBody>
          <a:bodyPr/>
          <a:lstStyle/>
          <a:p>
            <a:r>
              <a:rPr lang="en-US" altLang="en-US" sz="4200" smtClean="0"/>
              <a:t>Case Study: National Flags and Anthems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43925" cy="1447800"/>
          </a:xfrm>
          <a:noFill/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800" smtClean="0"/>
              <a:t>This case study presents a program that displays a nation’s flag and plays its anthem.</a:t>
            </a:r>
          </a:p>
        </p:txBody>
      </p:sp>
      <p:sp>
        <p:nvSpPr>
          <p:cNvPr id="450564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9663EDA-F0C5-4578-8110-594B50247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5670550"/>
            <a:ext cx="3657600" cy="533400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defRPr/>
            </a:pPr>
            <a:r>
              <a:rPr lang="en-US" altLang="en-US">
                <a:solidFill>
                  <a:schemeClr val="accent1"/>
                </a:solidFill>
                <a:latin typeface="Book Antiqua" pitchFamily="18" charset="0"/>
                <a:hlinkClick r:id="rId3" action="ppaction://program"/>
              </a:rPr>
              <a:t>FlagAnthem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78854" name="AutoShape 5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5191125" y="5670550"/>
            <a:ext cx="3657600" cy="533400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Book Antiqua" panose="02040602050305030304" pitchFamily="18" charset="0"/>
              </a:rPr>
              <a:t>Run</a:t>
            </a:r>
            <a:endParaRPr lang="en-US" altLang="en-US" sz="2400"/>
          </a:p>
        </p:txBody>
      </p:sp>
      <p:sp>
        <p:nvSpPr>
          <p:cNvPr id="78855" name="AutoShape 7">
            <a:hlinkClick r:id="rId5" highlightClick="1"/>
          </p:cNvPr>
          <p:cNvSpPr>
            <a:spLocks noChangeArrowheads="1"/>
          </p:cNvSpPr>
          <p:nvPr/>
        </p:nvSpPr>
        <p:spPr bwMode="auto">
          <a:xfrm>
            <a:off x="923925" y="5365750"/>
            <a:ext cx="468313" cy="576263"/>
          </a:xfrm>
          <a:prstGeom prst="actionButtonDocumen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2AD1510-0014-45C2-997B-EB823D024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en-US" altLang="en-US"/>
          </a:p>
        </p:txBody>
      </p:sp>
      <p:pic>
        <p:nvPicPr>
          <p:cNvPr id="7885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25" y="2667000"/>
            <a:ext cx="2301875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8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2667000"/>
            <a:ext cx="2303463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9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667000"/>
            <a:ext cx="2413000" cy="191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International">
  <a:themeElements>
    <a:clrScheme name="International 3">
      <a:dk1>
        <a:srgbClr val="000000"/>
      </a:dk1>
      <a:lt1>
        <a:srgbClr val="FFFFFF"/>
      </a:lt1>
      <a:dk2>
        <a:srgbClr val="000000"/>
      </a:dk2>
      <a:lt2>
        <a:srgbClr val="5F5F5F"/>
      </a:lt2>
      <a:accent1>
        <a:srgbClr val="CBCBCB"/>
      </a:accent1>
      <a:accent2>
        <a:srgbClr val="969696"/>
      </a:accent2>
      <a:accent3>
        <a:srgbClr val="FFFFFF"/>
      </a:accent3>
      <a:accent4>
        <a:srgbClr val="000000"/>
      </a:accent4>
      <a:accent5>
        <a:srgbClr val="E2E2E2"/>
      </a:accent5>
      <a:accent6>
        <a:srgbClr val="878787"/>
      </a:accent6>
      <a:hlink>
        <a:srgbClr val="DDDDDD"/>
      </a:hlink>
      <a:folHlink>
        <a:srgbClr val="EAEAEA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International">
  <a:themeElements>
    <a:clrScheme name="International 3">
      <a:dk1>
        <a:srgbClr val="000000"/>
      </a:dk1>
      <a:lt1>
        <a:srgbClr val="FFFFFF"/>
      </a:lt1>
      <a:dk2>
        <a:srgbClr val="000000"/>
      </a:dk2>
      <a:lt2>
        <a:srgbClr val="5F5F5F"/>
      </a:lt2>
      <a:accent1>
        <a:srgbClr val="CBCBCB"/>
      </a:accent1>
      <a:accent2>
        <a:srgbClr val="969696"/>
      </a:accent2>
      <a:accent3>
        <a:srgbClr val="FFFFFF"/>
      </a:accent3>
      <a:accent4>
        <a:srgbClr val="000000"/>
      </a:accent4>
      <a:accent5>
        <a:srgbClr val="E2E2E2"/>
      </a:accent5>
      <a:accent6>
        <a:srgbClr val="878787"/>
      </a:accent6>
      <a:hlink>
        <a:srgbClr val="DDDDDD"/>
      </a:hlink>
      <a:folHlink>
        <a:srgbClr val="EAEAEA"/>
      </a:folHlink>
    </a:clrScheme>
    <a:fontScheme name="Internationa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ernational 1">
        <a:dk1>
          <a:srgbClr val="000000"/>
        </a:dk1>
        <a:lt1>
          <a:srgbClr val="FFFFFF"/>
        </a:lt1>
        <a:dk2>
          <a:srgbClr val="0000FF"/>
        </a:dk2>
        <a:lt2>
          <a:srgbClr val="FFFF99"/>
        </a:lt2>
        <a:accent1>
          <a:srgbClr val="009966"/>
        </a:accent1>
        <a:accent2>
          <a:srgbClr val="00CCCC"/>
        </a:accent2>
        <a:accent3>
          <a:srgbClr val="AAAAFF"/>
        </a:accent3>
        <a:accent4>
          <a:srgbClr val="DADADA"/>
        </a:accent4>
        <a:accent5>
          <a:srgbClr val="AACAB8"/>
        </a:accent5>
        <a:accent6>
          <a:srgbClr val="00B9B9"/>
        </a:accent6>
        <a:hlink>
          <a:srgbClr val="000080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rnational 2">
        <a:dk1>
          <a:srgbClr val="000000"/>
        </a:dk1>
        <a:lt1>
          <a:srgbClr val="FFFFFF"/>
        </a:lt1>
        <a:dk2>
          <a:srgbClr val="000080"/>
        </a:dk2>
        <a:lt2>
          <a:srgbClr val="003399"/>
        </a:lt2>
        <a:accent1>
          <a:srgbClr val="9999FF"/>
        </a:accent1>
        <a:accent2>
          <a:srgbClr val="FF99FF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E78AE7"/>
        </a:accent6>
        <a:hlink>
          <a:srgbClr val="85AD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rnational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DDDDD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Designs\International.pot</Template>
  <TotalTime>19221</TotalTime>
  <Words>3663</Words>
  <Application>Microsoft Office PowerPoint</Application>
  <PresentationFormat>On-screen Show (4:3)</PresentationFormat>
  <Paragraphs>357</Paragraphs>
  <Slides>56</Slides>
  <Notes>31</Notes>
  <HiddenSlides>1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70" baseType="lpstr">
      <vt:lpstr>Arial</vt:lpstr>
      <vt:lpstr>Bell MT</vt:lpstr>
      <vt:lpstr>Book Antiqua</vt:lpstr>
      <vt:lpstr>Calibri</vt:lpstr>
      <vt:lpstr>Consolas</vt:lpstr>
      <vt:lpstr>Courier New</vt:lpstr>
      <vt:lpstr>LucidaSansTypewriterStd-Bd</vt:lpstr>
      <vt:lpstr>Monotype Sorts</vt:lpstr>
      <vt:lpstr>Times New Roman</vt:lpstr>
      <vt:lpstr>TimesLTStd-Italic</vt:lpstr>
      <vt:lpstr>Wingdings</vt:lpstr>
      <vt:lpstr>International</vt:lpstr>
      <vt:lpstr>1_International</vt:lpstr>
      <vt:lpstr>Picture</vt:lpstr>
      <vt:lpstr>Chapter 16 JavaFX UI Controls and Multimedia</vt:lpstr>
      <vt:lpstr>JavaFX UI Controls </vt:lpstr>
      <vt:lpstr>Frequently Used UI Controls</vt:lpstr>
      <vt:lpstr>Labeled</vt:lpstr>
      <vt:lpstr>Label</vt:lpstr>
      <vt:lpstr>PowerPoint Presentation</vt:lpstr>
      <vt:lpstr>PowerPoint Presentation</vt:lpstr>
      <vt:lpstr>  Check Point</vt:lpstr>
      <vt:lpstr>ButtonBase and Button</vt:lpstr>
      <vt:lpstr>Button Example</vt:lpstr>
      <vt:lpstr>PowerPoint Presentation</vt:lpstr>
      <vt:lpstr>PowerPoint Presentation</vt:lpstr>
      <vt:lpstr>  Check Point</vt:lpstr>
      <vt:lpstr>CheckBox</vt:lpstr>
      <vt:lpstr>CheckBox Example</vt:lpstr>
      <vt:lpstr>PowerPoint Presentation</vt:lpstr>
      <vt:lpstr>PowerPoint Presentation</vt:lpstr>
      <vt:lpstr>  Check Point</vt:lpstr>
      <vt:lpstr>  Check Point</vt:lpstr>
      <vt:lpstr>RadioButton</vt:lpstr>
      <vt:lpstr>RadioButton Example</vt:lpstr>
      <vt:lpstr>PowerPoint Presentation</vt:lpstr>
      <vt:lpstr>PowerPoint Presentation</vt:lpstr>
      <vt:lpstr>  Check Point</vt:lpstr>
      <vt:lpstr>TextField</vt:lpstr>
      <vt:lpstr>TextField Example</vt:lpstr>
      <vt:lpstr>PowerPoint Presentation</vt:lpstr>
      <vt:lpstr>  Check Point</vt:lpstr>
      <vt:lpstr>TextArea</vt:lpstr>
      <vt:lpstr>TextArea Example</vt:lpstr>
      <vt:lpstr>  Check Point</vt:lpstr>
      <vt:lpstr>ComboBox</vt:lpstr>
      <vt:lpstr>PowerPoint Presentation</vt:lpstr>
      <vt:lpstr>ComboBox Example</vt:lpstr>
      <vt:lpstr>  Check Point</vt:lpstr>
      <vt:lpstr>ListView</vt:lpstr>
      <vt:lpstr>Example: Using ListView </vt:lpstr>
      <vt:lpstr>PowerPoint Presentation</vt:lpstr>
      <vt:lpstr>PowerPoint Presentation</vt:lpstr>
      <vt:lpstr>  Check Point</vt:lpstr>
      <vt:lpstr>ScrollBar</vt:lpstr>
      <vt:lpstr>Scroll Bar Properties</vt:lpstr>
      <vt:lpstr>Example: Using Scrollbars</vt:lpstr>
      <vt:lpstr>  Check Point</vt:lpstr>
      <vt:lpstr>Slider</vt:lpstr>
      <vt:lpstr>Example: Using Sliders</vt:lpstr>
      <vt:lpstr>Case Study: Bounce Ball </vt:lpstr>
      <vt:lpstr>  Check Point</vt:lpstr>
      <vt:lpstr>Case Study: TicTacToe</vt:lpstr>
      <vt:lpstr>Case Study: TicTacToe, cont.</vt:lpstr>
      <vt:lpstr>Media</vt:lpstr>
      <vt:lpstr>MediaPlayer</vt:lpstr>
      <vt:lpstr>MediaView</vt:lpstr>
      <vt:lpstr>Example: Using Media</vt:lpstr>
      <vt:lpstr>  Check Point</vt:lpstr>
      <vt:lpstr>Case Study: National Flags and Anthems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 Creating User Interfaces</dc:title>
  <dc:creator/>
  <cp:lastModifiedBy/>
  <cp:revision>305</cp:revision>
  <dcterms:created xsi:type="dcterms:W3CDTF">1995-06-10T17:31:50Z</dcterms:created>
  <dcterms:modified xsi:type="dcterms:W3CDTF">2020-04-21T09:36:22Z</dcterms:modified>
  <dc:description/>
</cp:coreProperties>
</file>