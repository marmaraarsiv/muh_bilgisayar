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5"/>
  </p:notesMasterIdLst>
  <p:sldIdLst>
    <p:sldId id="256" r:id="rId2"/>
    <p:sldId id="259" r:id="rId3"/>
    <p:sldId id="263" r:id="rId4"/>
    <p:sldId id="264" r:id="rId5"/>
    <p:sldId id="265" r:id="rId6"/>
    <p:sldId id="266" r:id="rId7"/>
    <p:sldId id="267" r:id="rId8"/>
    <p:sldId id="268" r:id="rId9"/>
    <p:sldId id="30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305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9" r:id="rId30"/>
    <p:sldId id="290" r:id="rId31"/>
    <p:sldId id="291" r:id="rId32"/>
    <p:sldId id="292" r:id="rId33"/>
    <p:sldId id="306" r:id="rId34"/>
    <p:sldId id="294" r:id="rId35"/>
    <p:sldId id="295" r:id="rId36"/>
    <p:sldId id="296" r:id="rId37"/>
    <p:sldId id="297" r:id="rId38"/>
    <p:sldId id="304" r:id="rId39"/>
    <p:sldId id="299" r:id="rId40"/>
    <p:sldId id="300" r:id="rId41"/>
    <p:sldId id="301" r:id="rId42"/>
    <p:sldId id="302" r:id="rId43"/>
    <p:sldId id="303" r:id="rId4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64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27.04.2020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69D4A2D-6CCD-479C-BDA1-59EF94BE82FA}" type="slidenum">
              <a:rPr lang="en-GB" altLang="tr-TR"/>
              <a:pPr/>
              <a:t>26</a:t>
            </a:fld>
            <a:endParaRPr lang="en-GB" altLang="tr-TR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824591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tr-TR" altLang="tr-TR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47790D4-AC75-441F-A96B-ACED5C694D66}" type="slidenum">
              <a:rPr lang="en-GB" altLang="tr-TR"/>
              <a:pPr/>
              <a:t>31</a:t>
            </a:fld>
            <a:endParaRPr lang="en-GB" altLang="tr-TR"/>
          </a:p>
        </p:txBody>
      </p:sp>
    </p:spTree>
    <p:extLst>
      <p:ext uri="{BB962C8B-B14F-4D97-AF65-F5344CB8AC3E}">
        <p14:creationId xmlns:p14="http://schemas.microsoft.com/office/powerpoint/2010/main" val="22289181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17.11.2017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41034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9556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267263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79162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103351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699241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4958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2139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1540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7654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17296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810476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03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ascii-code.com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CSE1142 – C Data Types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2F4066B-CCC5-4546-8A3F-C4FBE381B3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Sanem Arslan </a:t>
            </a:r>
            <a:r>
              <a:rPr lang="en-US" dirty="0" err="1"/>
              <a:t>Yılmaz</a:t>
            </a:r>
            <a:endParaRPr lang="en-US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D85F59F-D3CE-422E-85AE-032ED5738A0E}"/>
              </a:ext>
            </a:extLst>
          </p:cNvPr>
          <p:cNvSpPr txBox="1"/>
          <p:nvPr/>
        </p:nvSpPr>
        <p:spPr>
          <a:xfrm>
            <a:off x="2245895" y="5101389"/>
            <a:ext cx="8261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err="1"/>
              <a:t>Some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slides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:</a:t>
            </a:r>
          </a:p>
          <a:p>
            <a:pPr algn="ctr"/>
            <a:r>
              <a:rPr lang="tr-TR" dirty="0"/>
              <a:t>CMPE150 – Boğaziçi </a:t>
            </a:r>
            <a:r>
              <a:rPr lang="tr-TR" dirty="0" err="1"/>
              <a:t>University</a:t>
            </a:r>
            <a:endParaRPr lang="tr-TR" dirty="0"/>
          </a:p>
          <a:p>
            <a:pPr algn="ctr"/>
            <a:r>
              <a:rPr lang="tr-TR" dirty="0" err="1"/>
              <a:t>Deitel</a:t>
            </a:r>
            <a:r>
              <a:rPr lang="tr-TR" dirty="0"/>
              <a:t> &amp; </a:t>
            </a:r>
            <a:r>
              <a:rPr lang="tr-TR" dirty="0" err="1"/>
              <a:t>Associates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7997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862149"/>
            <a:ext cx="10058400" cy="5669280"/>
          </a:xfrm>
        </p:spPr>
        <p:txBody>
          <a:bodyPr/>
          <a:lstStyle/>
          <a:p>
            <a:r>
              <a:rPr lang="tr-TR" altLang="tr-TR" dirty="0">
                <a:ea typeface="ＭＳ Ｐゴシック" panose="020B0600070205080204" pitchFamily="34" charset="-128"/>
              </a:rPr>
              <a:t>Variables</a:t>
            </a:r>
            <a:endParaRPr lang="en-US" altLang="tr-TR" dirty="0">
              <a:ea typeface="ＭＳ Ｐゴシック" panose="020B0600070205080204" pitchFamily="34" charset="-128"/>
            </a:endParaRPr>
          </a:p>
          <a:p>
            <a:pPr marL="695325" lvl="2" indent="-342900"/>
            <a:r>
              <a:rPr lang="tr-TR" sz="2200" dirty="0"/>
              <a:t>What are they used for?</a:t>
            </a:r>
          </a:p>
          <a:p>
            <a:pPr marL="695325" lvl="2" indent="-342900"/>
            <a:r>
              <a:rPr lang="en-US" altLang="tr-TR" sz="2200" dirty="0"/>
              <a:t>Rules for identifier names</a:t>
            </a:r>
            <a:endParaRPr lang="tr-TR" altLang="tr-TR" dirty="0">
              <a:ea typeface="ＭＳ Ｐゴシック" panose="020B0600070205080204" pitchFamily="34" charset="-128"/>
            </a:endParaRPr>
          </a:p>
          <a:p>
            <a:r>
              <a:rPr lang="tr-TR" altLang="tr-TR" dirty="0">
                <a:ea typeface="ＭＳ Ｐゴシック" panose="020B0600070205080204" pitchFamily="34" charset="-128"/>
              </a:rPr>
              <a:t>Standart Data Types</a:t>
            </a:r>
          </a:p>
          <a:p>
            <a:pPr lvl="1"/>
            <a:r>
              <a:rPr lang="tr-TR" altLang="tr-TR" dirty="0">
                <a:ea typeface="ＭＳ Ｐゴシック" panose="020B0600070205080204" pitchFamily="34" charset="-128"/>
              </a:rPr>
              <a:t>Integer</a:t>
            </a:r>
          </a:p>
          <a:p>
            <a:pPr lvl="1"/>
            <a:r>
              <a:rPr lang="en-US" altLang="tr-TR" dirty="0"/>
              <a:t>Floating-point numbers</a:t>
            </a:r>
            <a:endParaRPr lang="tr-TR" altLang="tr-TR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tr-TR" dirty="0"/>
              <a:t>Characters</a:t>
            </a:r>
            <a:endParaRPr lang="tr-TR" altLang="tr-TR" dirty="0">
              <a:ea typeface="ＭＳ Ｐゴシック" panose="020B0600070205080204" pitchFamily="34" charset="-128"/>
            </a:endParaRPr>
          </a:p>
          <a:p>
            <a:r>
              <a:rPr lang="en-US" altLang="tr-TR" dirty="0"/>
              <a:t>Constants</a:t>
            </a:r>
            <a:endParaRPr lang="tr-TR" altLang="tr-TR" dirty="0"/>
          </a:p>
          <a:p>
            <a:r>
              <a:rPr lang="en-US" altLang="tr-TR" dirty="0"/>
              <a:t>Enumerated type</a:t>
            </a:r>
            <a:endParaRPr lang="tr-TR" altLang="tr-TR" dirty="0"/>
          </a:p>
          <a:p>
            <a:r>
              <a:rPr lang="tr-TR" altLang="tr-TR" dirty="0">
                <a:ea typeface="ＭＳ Ｐゴシック" panose="020B0600070205080204" pitchFamily="34" charset="-128"/>
              </a:rPr>
              <a:t>Operators</a:t>
            </a:r>
          </a:p>
          <a:p>
            <a:r>
              <a:rPr lang="en-US" altLang="tr-TR" dirty="0"/>
              <a:t>Type casting</a:t>
            </a:r>
            <a:endParaRPr lang="en-US" altLang="tr-TR" dirty="0">
              <a:ea typeface="ＭＳ Ｐゴシック" panose="020B0600070205080204" pitchFamily="34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1A10B9F-802E-4BF7-98A9-38E57AA573D7}" type="slidenum">
              <a:rPr lang="en-US" altLang="tr-TR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8210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Variables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tr-TR" altLang="tr-TR" dirty="0"/>
          </a:p>
          <a:p>
            <a:r>
              <a:rPr lang="en-US" altLang="tr-TR" dirty="0"/>
              <a:t>Operations (such as addition, </a:t>
            </a:r>
            <a:r>
              <a:rPr lang="en-US" altLang="tr-TR" dirty="0" smtClean="0"/>
              <a:t>subtraction</a:t>
            </a:r>
            <a:r>
              <a:rPr lang="en-US" altLang="tr-TR" dirty="0"/>
              <a:t>, etc.) operate on operands.</a:t>
            </a:r>
          </a:p>
          <a:p>
            <a:endParaRPr lang="tr-TR" altLang="tr-TR" dirty="0"/>
          </a:p>
          <a:p>
            <a:r>
              <a:rPr lang="en-US" altLang="tr-TR" dirty="0"/>
              <a:t>You need some space to store the value of each operand.</a:t>
            </a:r>
          </a:p>
          <a:p>
            <a:endParaRPr lang="tr-TR" altLang="tr-TR" dirty="0"/>
          </a:p>
          <a:p>
            <a:r>
              <a:rPr lang="en-US" altLang="tr-TR" dirty="0"/>
              <a:t>A variable provides storage space for a value.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27145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Variables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</a:rPr>
              <a:t>IMPORTANT:</a:t>
            </a:r>
            <a:r>
              <a:rPr lang="en-US" dirty="0"/>
              <a:t> The value of a variable can never be empty. The value is represented via multiple bits, each of which is either 0 or 1. So, the variable always has a value.</a:t>
            </a:r>
          </a:p>
          <a:p>
            <a:pPr fontAlgn="auto">
              <a:spcAft>
                <a:spcPts val="0"/>
              </a:spcAft>
              <a:defRPr/>
            </a:pPr>
            <a:endParaRPr lang="tr-TR" dirty="0"/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When a local variable is defined, its initial value is undefined. In other words, it has an arbitrary value</a:t>
            </a:r>
            <a:r>
              <a:rPr lang="tr-TR" dirty="0"/>
              <a:t>.</a:t>
            </a:r>
            <a:endParaRPr lang="en-US" dirty="0"/>
          </a:p>
          <a:p>
            <a:pPr fontAlgn="auto">
              <a:spcAft>
                <a:spcPts val="0"/>
              </a:spcAft>
              <a:defRPr/>
            </a:pPr>
            <a:endParaRPr lang="tr-TR" dirty="0"/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So, make sure that the variable has a valid value before you perform any operation based on that value.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39386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Variables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83326" y="1031967"/>
            <a:ext cx="11302274" cy="509419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tr-TR" sz="2800" dirty="0"/>
              <a:t>Each variable consists of multiple bits. E.g.:</a:t>
            </a:r>
          </a:p>
          <a:p>
            <a:pPr>
              <a:lnSpc>
                <a:spcPct val="110000"/>
              </a:lnSpc>
              <a:buFontTx/>
              <a:buNone/>
            </a:pPr>
            <a:endParaRPr lang="en-US" altLang="tr-TR" sz="2800" dirty="0"/>
          </a:p>
          <a:p>
            <a:pPr>
              <a:lnSpc>
                <a:spcPct val="110000"/>
              </a:lnSpc>
            </a:pPr>
            <a:endParaRPr lang="tr-TR" altLang="tr-TR" sz="2800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tr-TR" sz="2800" dirty="0" smtClean="0">
                <a:solidFill>
                  <a:srgbClr val="FF0000"/>
                </a:solidFill>
              </a:rPr>
              <a:t>Thus</a:t>
            </a:r>
            <a:r>
              <a:rPr lang="en-US" altLang="tr-TR" sz="2800" dirty="0">
                <a:solidFill>
                  <a:srgbClr val="FF0000"/>
                </a:solidFill>
              </a:rPr>
              <a:t>, every value is actually stored as a sequence of bits (1s and 0s) in the computer.</a:t>
            </a:r>
          </a:p>
          <a:p>
            <a:pPr>
              <a:lnSpc>
                <a:spcPct val="110000"/>
              </a:lnSpc>
            </a:pPr>
            <a:r>
              <a:rPr lang="en-US" altLang="tr-TR" sz="2800" dirty="0"/>
              <a:t>The number of bits is called the size of the variable.</a:t>
            </a:r>
          </a:p>
          <a:p>
            <a:pPr>
              <a:lnSpc>
                <a:spcPct val="110000"/>
              </a:lnSpc>
            </a:pPr>
            <a:r>
              <a:rPr lang="en-US" altLang="tr-TR" sz="2800" dirty="0"/>
              <a:t>The size of a variable depends on the type of the variable, the hardware, the operating system, and the compiler used.</a:t>
            </a:r>
          </a:p>
          <a:p>
            <a:pPr lvl="1">
              <a:lnSpc>
                <a:spcPct val="110000"/>
              </a:lnSpc>
            </a:pPr>
            <a:r>
              <a:rPr lang="en-US" altLang="tr-TR" sz="2400" dirty="0">
                <a:solidFill>
                  <a:srgbClr val="FF0000"/>
                </a:solidFill>
              </a:rPr>
              <a:t>So, in your programs NEVER make assumptions about the size of a variable.</a:t>
            </a:r>
          </a:p>
          <a:p>
            <a:pPr lvl="1">
              <a:lnSpc>
                <a:spcPct val="110000"/>
              </a:lnSpc>
            </a:pPr>
            <a:r>
              <a:rPr lang="en-US" altLang="tr-TR" sz="2400" dirty="0"/>
              <a:t>The size may change due to the factors listed above, and your program will not work.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pSp>
        <p:nvGrpSpPr>
          <p:cNvPr id="10244" name="Group 20"/>
          <p:cNvGrpSpPr>
            <a:grpSpLocks/>
          </p:cNvGrpSpPr>
          <p:nvPr/>
        </p:nvGrpSpPr>
        <p:grpSpPr bwMode="auto">
          <a:xfrm>
            <a:off x="1689895" y="1880394"/>
            <a:ext cx="4059237" cy="276225"/>
            <a:chOff x="1158" y="1142"/>
            <a:chExt cx="2557" cy="174"/>
          </a:xfrm>
        </p:grpSpPr>
        <p:sp>
          <p:nvSpPr>
            <p:cNvPr id="10264" name="Text Box 4"/>
            <p:cNvSpPr txBox="1">
              <a:spLocks noChangeArrowheads="1"/>
            </p:cNvSpPr>
            <p:nvPr/>
          </p:nvSpPr>
          <p:spPr bwMode="auto">
            <a:xfrm>
              <a:off x="1158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65" name="Text Box 5"/>
            <p:cNvSpPr txBox="1">
              <a:spLocks noChangeArrowheads="1"/>
            </p:cNvSpPr>
            <p:nvPr/>
          </p:nvSpPr>
          <p:spPr bwMode="auto">
            <a:xfrm>
              <a:off x="1320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66" name="Text Box 6"/>
            <p:cNvSpPr txBox="1">
              <a:spLocks noChangeArrowheads="1"/>
            </p:cNvSpPr>
            <p:nvPr/>
          </p:nvSpPr>
          <p:spPr bwMode="auto">
            <a:xfrm>
              <a:off x="1477" y="1142"/>
              <a:ext cx="160" cy="17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67" name="Text Box 7"/>
            <p:cNvSpPr txBox="1">
              <a:spLocks noChangeArrowheads="1"/>
            </p:cNvSpPr>
            <p:nvPr/>
          </p:nvSpPr>
          <p:spPr bwMode="auto">
            <a:xfrm>
              <a:off x="1639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68" name="Text Box 8"/>
            <p:cNvSpPr txBox="1">
              <a:spLocks noChangeArrowheads="1"/>
            </p:cNvSpPr>
            <p:nvPr/>
          </p:nvSpPr>
          <p:spPr bwMode="auto">
            <a:xfrm>
              <a:off x="1800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69" name="Text Box 9"/>
            <p:cNvSpPr txBox="1">
              <a:spLocks noChangeArrowheads="1"/>
            </p:cNvSpPr>
            <p:nvPr/>
          </p:nvSpPr>
          <p:spPr bwMode="auto">
            <a:xfrm>
              <a:off x="1956" y="1142"/>
              <a:ext cx="160" cy="17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0" name="Text Box 10"/>
            <p:cNvSpPr txBox="1">
              <a:spLocks noChangeArrowheads="1"/>
            </p:cNvSpPr>
            <p:nvPr/>
          </p:nvSpPr>
          <p:spPr bwMode="auto">
            <a:xfrm>
              <a:off x="2119" y="1142"/>
              <a:ext cx="160" cy="17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 dirty="0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 dirty="0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1" name="Text Box 11"/>
            <p:cNvSpPr txBox="1">
              <a:spLocks noChangeArrowheads="1"/>
            </p:cNvSpPr>
            <p:nvPr/>
          </p:nvSpPr>
          <p:spPr bwMode="auto">
            <a:xfrm>
              <a:off x="2275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2" name="Text Box 12"/>
            <p:cNvSpPr txBox="1">
              <a:spLocks noChangeArrowheads="1"/>
            </p:cNvSpPr>
            <p:nvPr/>
          </p:nvSpPr>
          <p:spPr bwMode="auto">
            <a:xfrm>
              <a:off x="2438" y="1142"/>
              <a:ext cx="160" cy="17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3" name="Text Box 13"/>
            <p:cNvSpPr txBox="1">
              <a:spLocks noChangeArrowheads="1"/>
            </p:cNvSpPr>
            <p:nvPr/>
          </p:nvSpPr>
          <p:spPr bwMode="auto">
            <a:xfrm>
              <a:off x="2594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4" name="Text Box 14"/>
            <p:cNvSpPr txBox="1">
              <a:spLocks noChangeArrowheads="1"/>
            </p:cNvSpPr>
            <p:nvPr/>
          </p:nvSpPr>
          <p:spPr bwMode="auto">
            <a:xfrm>
              <a:off x="2757" y="1142"/>
              <a:ext cx="160" cy="17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5" name="Text Box 15"/>
            <p:cNvSpPr txBox="1">
              <a:spLocks noChangeArrowheads="1"/>
            </p:cNvSpPr>
            <p:nvPr/>
          </p:nvSpPr>
          <p:spPr bwMode="auto">
            <a:xfrm>
              <a:off x="2919" y="1142"/>
              <a:ext cx="160" cy="17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6" name="Text Box 16"/>
            <p:cNvSpPr txBox="1">
              <a:spLocks noChangeArrowheads="1"/>
            </p:cNvSpPr>
            <p:nvPr/>
          </p:nvSpPr>
          <p:spPr bwMode="auto">
            <a:xfrm>
              <a:off x="3080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7" name="Text Box 17"/>
            <p:cNvSpPr txBox="1">
              <a:spLocks noChangeArrowheads="1"/>
            </p:cNvSpPr>
            <p:nvPr/>
          </p:nvSpPr>
          <p:spPr bwMode="auto">
            <a:xfrm>
              <a:off x="3236" y="1142"/>
              <a:ext cx="160" cy="17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8" name="Text Box 18"/>
            <p:cNvSpPr txBox="1">
              <a:spLocks noChangeArrowheads="1"/>
            </p:cNvSpPr>
            <p:nvPr/>
          </p:nvSpPr>
          <p:spPr bwMode="auto">
            <a:xfrm>
              <a:off x="3399" y="1142"/>
              <a:ext cx="160" cy="17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79" name="Text Box 19"/>
            <p:cNvSpPr txBox="1">
              <a:spLocks noChangeArrowheads="1"/>
            </p:cNvSpPr>
            <p:nvPr/>
          </p:nvSpPr>
          <p:spPr bwMode="auto">
            <a:xfrm>
              <a:off x="3555" y="1142"/>
              <a:ext cx="160" cy="17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0245" name="Text Box 21"/>
          <p:cNvSpPr txBox="1">
            <a:spLocks noChangeArrowheads="1"/>
          </p:cNvSpPr>
          <p:nvPr/>
        </p:nvSpPr>
        <p:spPr bwMode="auto">
          <a:xfrm>
            <a:off x="5927658" y="1819277"/>
            <a:ext cx="474034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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2</a:t>
            </a:r>
            <a:r>
              <a:rPr lang="en-US" altLang="tr-TR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13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+2</a:t>
            </a:r>
            <a:r>
              <a:rPr lang="en-US" altLang="tr-TR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10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+2</a:t>
            </a:r>
            <a:r>
              <a:rPr lang="en-US" altLang="tr-TR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9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+2</a:t>
            </a:r>
            <a:r>
              <a:rPr lang="en-US" altLang="tr-TR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7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+2</a:t>
            </a:r>
            <a:r>
              <a:rPr lang="en-US" altLang="tr-TR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5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+2</a:t>
            </a:r>
            <a:r>
              <a:rPr lang="en-US" altLang="tr-TR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4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+2</a:t>
            </a:r>
            <a:r>
              <a:rPr lang="en-US" altLang="tr-TR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+2</a:t>
            </a:r>
            <a:r>
              <a:rPr lang="en-US" altLang="tr-TR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+2</a:t>
            </a:r>
            <a:r>
              <a:rPr lang="en-US" altLang="tr-TR" b="1" baseline="300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tr-TR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=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9911</a:t>
            </a:r>
            <a:endParaRPr lang="en-GB" altLang="tr-TR" b="1" dirty="0">
              <a:solidFill>
                <a:srgbClr val="0000C8"/>
              </a:solidFill>
              <a:latin typeface="Courier New" panose="02070309020205020404" pitchFamily="49" charset="0"/>
            </a:endParaRPr>
          </a:p>
        </p:txBody>
      </p:sp>
      <p:grpSp>
        <p:nvGrpSpPr>
          <p:cNvPr id="10246" name="Group 22"/>
          <p:cNvGrpSpPr>
            <a:grpSpLocks/>
          </p:cNvGrpSpPr>
          <p:nvPr/>
        </p:nvGrpSpPr>
        <p:grpSpPr bwMode="auto">
          <a:xfrm>
            <a:off x="1692276" y="1666877"/>
            <a:ext cx="4059237" cy="152400"/>
            <a:chOff x="1158" y="1181"/>
            <a:chExt cx="2557" cy="96"/>
          </a:xfrm>
        </p:grpSpPr>
        <p:sp>
          <p:nvSpPr>
            <p:cNvPr id="10248" name="Text Box 23"/>
            <p:cNvSpPr txBox="1">
              <a:spLocks noChangeArrowheads="1"/>
            </p:cNvSpPr>
            <p:nvPr/>
          </p:nvSpPr>
          <p:spPr bwMode="auto">
            <a:xfrm>
              <a:off x="1158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15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49" name="Text Box 24"/>
            <p:cNvSpPr txBox="1">
              <a:spLocks noChangeArrowheads="1"/>
            </p:cNvSpPr>
            <p:nvPr/>
          </p:nvSpPr>
          <p:spPr bwMode="auto">
            <a:xfrm>
              <a:off x="1320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14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0" name="Text Box 25"/>
            <p:cNvSpPr txBox="1">
              <a:spLocks noChangeArrowheads="1"/>
            </p:cNvSpPr>
            <p:nvPr/>
          </p:nvSpPr>
          <p:spPr bwMode="auto">
            <a:xfrm>
              <a:off x="1477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13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1" name="Text Box 26"/>
            <p:cNvSpPr txBox="1">
              <a:spLocks noChangeArrowheads="1"/>
            </p:cNvSpPr>
            <p:nvPr/>
          </p:nvSpPr>
          <p:spPr bwMode="auto">
            <a:xfrm>
              <a:off x="1639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12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2" name="Text Box 27"/>
            <p:cNvSpPr txBox="1">
              <a:spLocks noChangeArrowheads="1"/>
            </p:cNvSpPr>
            <p:nvPr/>
          </p:nvSpPr>
          <p:spPr bwMode="auto">
            <a:xfrm>
              <a:off x="1800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11</a:t>
              </a:r>
              <a:endParaRPr lang="en-GB" altLang="tr-TR" sz="1000" b="1" dirty="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3" name="Text Box 28"/>
            <p:cNvSpPr txBox="1">
              <a:spLocks noChangeArrowheads="1"/>
            </p:cNvSpPr>
            <p:nvPr/>
          </p:nvSpPr>
          <p:spPr bwMode="auto">
            <a:xfrm>
              <a:off x="1956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10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4" name="Text Box 29"/>
            <p:cNvSpPr txBox="1">
              <a:spLocks noChangeArrowheads="1"/>
            </p:cNvSpPr>
            <p:nvPr/>
          </p:nvSpPr>
          <p:spPr bwMode="auto">
            <a:xfrm>
              <a:off x="2119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9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5" name="Text Box 30"/>
            <p:cNvSpPr txBox="1">
              <a:spLocks noChangeArrowheads="1"/>
            </p:cNvSpPr>
            <p:nvPr/>
          </p:nvSpPr>
          <p:spPr bwMode="auto">
            <a:xfrm>
              <a:off x="2275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8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6" name="Text Box 31"/>
            <p:cNvSpPr txBox="1">
              <a:spLocks noChangeArrowheads="1"/>
            </p:cNvSpPr>
            <p:nvPr/>
          </p:nvSpPr>
          <p:spPr bwMode="auto">
            <a:xfrm>
              <a:off x="2438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7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7" name="Text Box 32"/>
            <p:cNvSpPr txBox="1">
              <a:spLocks noChangeArrowheads="1"/>
            </p:cNvSpPr>
            <p:nvPr/>
          </p:nvSpPr>
          <p:spPr bwMode="auto">
            <a:xfrm>
              <a:off x="2594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6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8" name="Text Box 33"/>
            <p:cNvSpPr txBox="1">
              <a:spLocks noChangeArrowheads="1"/>
            </p:cNvSpPr>
            <p:nvPr/>
          </p:nvSpPr>
          <p:spPr bwMode="auto">
            <a:xfrm>
              <a:off x="2757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5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59" name="Text Box 34"/>
            <p:cNvSpPr txBox="1">
              <a:spLocks noChangeArrowheads="1"/>
            </p:cNvSpPr>
            <p:nvPr/>
          </p:nvSpPr>
          <p:spPr bwMode="auto">
            <a:xfrm>
              <a:off x="2919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4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60" name="Text Box 35"/>
            <p:cNvSpPr txBox="1">
              <a:spLocks noChangeArrowheads="1"/>
            </p:cNvSpPr>
            <p:nvPr/>
          </p:nvSpPr>
          <p:spPr bwMode="auto">
            <a:xfrm>
              <a:off x="3080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3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61" name="Text Box 36"/>
            <p:cNvSpPr txBox="1">
              <a:spLocks noChangeArrowheads="1"/>
            </p:cNvSpPr>
            <p:nvPr/>
          </p:nvSpPr>
          <p:spPr bwMode="auto">
            <a:xfrm>
              <a:off x="3236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2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62" name="Text Box 37"/>
            <p:cNvSpPr txBox="1">
              <a:spLocks noChangeArrowheads="1"/>
            </p:cNvSpPr>
            <p:nvPr/>
          </p:nvSpPr>
          <p:spPr bwMode="auto">
            <a:xfrm>
              <a:off x="3399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0263" name="Text Box 38"/>
            <p:cNvSpPr txBox="1">
              <a:spLocks noChangeArrowheads="1"/>
            </p:cNvSpPr>
            <p:nvPr/>
          </p:nvSpPr>
          <p:spPr bwMode="auto">
            <a:xfrm>
              <a:off x="3555" y="1181"/>
              <a:ext cx="16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sz="1000" b="1">
                  <a:solidFill>
                    <a:srgbClr val="FF0000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sz="1000" b="1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49082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Variables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1905001" y="1219200"/>
            <a:ext cx="5153025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tr-TR" sz="1800" b="1">
                <a:solidFill>
                  <a:srgbClr val="0000C8"/>
                </a:solidFill>
                <a:latin typeface="Courier New" panose="02070309020205020404" pitchFamily="49" charset="0"/>
              </a:rPr>
              <a:t>#include &lt;stdio.h&gt;</a:t>
            </a:r>
          </a:p>
          <a:p>
            <a:pPr>
              <a:buFontTx/>
              <a:buNone/>
            </a:pPr>
            <a:endParaRPr lang="en-US" altLang="tr-TR" sz="1800" b="1">
              <a:solidFill>
                <a:srgbClr val="0000C8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tr-TR" sz="1800" b="1">
                <a:solidFill>
                  <a:srgbClr val="0000C8"/>
                </a:solidFill>
                <a:latin typeface="Courier New" panose="02070309020205020404" pitchFamily="49" charset="0"/>
              </a:rPr>
              <a:t>int main</a:t>
            </a:r>
          </a:p>
          <a:p>
            <a:pPr>
              <a:buFontTx/>
              <a:buNone/>
            </a:pPr>
            <a:r>
              <a:rPr lang="en-US" altLang="tr-TR" sz="1800" b="1">
                <a:solidFill>
                  <a:srgbClr val="0000C8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tr-TR" sz="1800" b="1">
                <a:solidFill>
                  <a:srgbClr val="0000C8"/>
                </a:solidFill>
                <a:latin typeface="Courier New" panose="02070309020205020404" pitchFamily="49" charset="0"/>
              </a:rPr>
              <a:t>   int a, b, c;</a:t>
            </a:r>
          </a:p>
          <a:p>
            <a:pPr>
              <a:buFontTx/>
              <a:buNone/>
            </a:pPr>
            <a:endParaRPr lang="en-US" altLang="tr-TR" sz="1800" b="1">
              <a:solidFill>
                <a:srgbClr val="0000C8"/>
              </a:solidFill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tr-TR" sz="1800" b="1">
                <a:solidFill>
                  <a:srgbClr val="0000C8"/>
                </a:solidFill>
                <a:latin typeface="Courier New" panose="02070309020205020404" pitchFamily="49" charset="0"/>
              </a:rPr>
              <a:t>   a=10;</a:t>
            </a:r>
          </a:p>
          <a:p>
            <a:pPr>
              <a:buFontTx/>
              <a:buNone/>
            </a:pPr>
            <a:r>
              <a:rPr lang="en-US" altLang="tr-TR" sz="1800" b="1">
                <a:solidFill>
                  <a:srgbClr val="0000C8"/>
                </a:solidFill>
                <a:latin typeface="Courier New" panose="02070309020205020404" pitchFamily="49" charset="0"/>
              </a:rPr>
              <a:t>   b=3;</a:t>
            </a:r>
          </a:p>
          <a:p>
            <a:pPr>
              <a:buFontTx/>
              <a:buNone/>
            </a:pPr>
            <a:r>
              <a:rPr lang="en-US" altLang="tr-TR" sz="1800" b="1">
                <a:solidFill>
                  <a:srgbClr val="0000C8"/>
                </a:solidFill>
                <a:latin typeface="Courier New" panose="02070309020205020404" pitchFamily="49" charset="0"/>
              </a:rPr>
              <a:t>   c=a-b;</a:t>
            </a:r>
          </a:p>
          <a:p>
            <a:pPr>
              <a:buFontTx/>
              <a:buNone/>
            </a:pPr>
            <a:r>
              <a:rPr lang="en-US" altLang="tr-TR" sz="1800" b="1">
                <a:solidFill>
                  <a:srgbClr val="0000C8"/>
                </a:solidFill>
                <a:latin typeface="Courier New" panose="02070309020205020404" pitchFamily="49" charset="0"/>
              </a:rPr>
              <a:t>   a=b+2;</a:t>
            </a:r>
          </a:p>
          <a:p>
            <a:pPr>
              <a:buFontTx/>
              <a:buNone/>
            </a:pPr>
            <a:r>
              <a:rPr lang="en-US" altLang="tr-TR" sz="1800" b="1">
                <a:solidFill>
                  <a:srgbClr val="0000C8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1268" name="AutoShape 15"/>
          <p:cNvSpPr>
            <a:spLocks noChangeArrowheads="1"/>
          </p:cNvSpPr>
          <p:nvPr/>
        </p:nvSpPr>
        <p:spPr bwMode="auto">
          <a:xfrm>
            <a:off x="7673975" y="1863725"/>
            <a:ext cx="1295400" cy="2794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tr-TR" altLang="tr-TR"/>
          </a:p>
        </p:txBody>
      </p:sp>
      <p:grpSp>
        <p:nvGrpSpPr>
          <p:cNvPr id="11269" name="Group 8"/>
          <p:cNvGrpSpPr>
            <a:grpSpLocks/>
          </p:cNvGrpSpPr>
          <p:nvPr/>
        </p:nvGrpSpPr>
        <p:grpSpPr bwMode="auto">
          <a:xfrm>
            <a:off x="7894639" y="2016125"/>
            <a:ext cx="714375" cy="242888"/>
            <a:chOff x="715" y="1938"/>
            <a:chExt cx="450" cy="153"/>
          </a:xfrm>
        </p:grpSpPr>
        <p:sp>
          <p:nvSpPr>
            <p:cNvPr id="11282" name="Text Box 9"/>
            <p:cNvSpPr txBox="1">
              <a:spLocks noChangeArrowheads="1"/>
            </p:cNvSpPr>
            <p:nvPr/>
          </p:nvSpPr>
          <p:spPr bwMode="auto">
            <a:xfrm>
              <a:off x="715" y="1938"/>
              <a:ext cx="9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tr-TR" altLang="tr-TR" b="1" i="1">
                  <a:latin typeface="Courier New" panose="02070309020205020404" pitchFamily="49" charset="0"/>
                </a:rPr>
                <a:t>a</a:t>
              </a:r>
              <a:endParaRPr lang="en-US" altLang="tr-TR" b="1" i="1">
                <a:latin typeface="Courier New" panose="02070309020205020404" pitchFamily="49" charset="0"/>
              </a:endParaRPr>
            </a:p>
          </p:txBody>
        </p:sp>
        <p:sp>
          <p:nvSpPr>
            <p:cNvPr id="11283" name="Rectangle 10"/>
            <p:cNvSpPr>
              <a:spLocks noChangeArrowheads="1"/>
            </p:cNvSpPr>
            <p:nvPr/>
          </p:nvSpPr>
          <p:spPr bwMode="auto">
            <a:xfrm>
              <a:off x="814" y="1941"/>
              <a:ext cx="351" cy="1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tr-TR" altLang="tr-TR" b="1" i="1">
                  <a:latin typeface="Courier New" panose="02070309020205020404" pitchFamily="49" charset="0"/>
                </a:rPr>
                <a:t>...</a:t>
              </a:r>
              <a:endParaRPr lang="en-GB" altLang="tr-TR" b="1" i="1">
                <a:latin typeface="Courier New" panose="02070309020205020404" pitchFamily="49" charset="0"/>
              </a:endParaRPr>
            </a:p>
          </p:txBody>
        </p:sp>
      </p:grpSp>
      <p:sp>
        <p:nvSpPr>
          <p:cNvPr id="11270" name="Text Box 16"/>
          <p:cNvSpPr txBox="1">
            <a:spLocks noChangeArrowheads="1"/>
          </p:cNvSpPr>
          <p:nvPr/>
        </p:nvSpPr>
        <p:spPr bwMode="auto">
          <a:xfrm>
            <a:off x="7826375" y="1558925"/>
            <a:ext cx="1066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tr-TR"/>
              <a:t>Program</a:t>
            </a:r>
          </a:p>
        </p:txBody>
      </p:sp>
      <p:grpSp>
        <p:nvGrpSpPr>
          <p:cNvPr id="11271" name="Group 21"/>
          <p:cNvGrpSpPr>
            <a:grpSpLocks/>
          </p:cNvGrpSpPr>
          <p:nvPr/>
        </p:nvGrpSpPr>
        <p:grpSpPr bwMode="auto">
          <a:xfrm>
            <a:off x="7894639" y="2344739"/>
            <a:ext cx="714375" cy="242887"/>
            <a:chOff x="715" y="1938"/>
            <a:chExt cx="450" cy="153"/>
          </a:xfrm>
        </p:grpSpPr>
        <p:sp>
          <p:nvSpPr>
            <p:cNvPr id="11280" name="Text Box 22"/>
            <p:cNvSpPr txBox="1">
              <a:spLocks noChangeArrowheads="1"/>
            </p:cNvSpPr>
            <p:nvPr/>
          </p:nvSpPr>
          <p:spPr bwMode="auto">
            <a:xfrm>
              <a:off x="715" y="1938"/>
              <a:ext cx="9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tr-TR" altLang="tr-TR" b="1" i="1">
                  <a:latin typeface="Courier New" panose="02070309020205020404" pitchFamily="49" charset="0"/>
                </a:rPr>
                <a:t>b</a:t>
              </a:r>
              <a:endParaRPr lang="en-US" altLang="tr-TR" b="1" i="1">
                <a:latin typeface="Courier New" panose="02070309020205020404" pitchFamily="49" charset="0"/>
              </a:endParaRPr>
            </a:p>
          </p:txBody>
        </p:sp>
        <p:sp>
          <p:nvSpPr>
            <p:cNvPr id="11281" name="Rectangle 23"/>
            <p:cNvSpPr>
              <a:spLocks noChangeArrowheads="1"/>
            </p:cNvSpPr>
            <p:nvPr/>
          </p:nvSpPr>
          <p:spPr bwMode="auto">
            <a:xfrm>
              <a:off x="814" y="1941"/>
              <a:ext cx="351" cy="1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tr-TR" altLang="tr-TR" b="1" i="1">
                  <a:latin typeface="Courier New" panose="02070309020205020404" pitchFamily="49" charset="0"/>
                </a:rPr>
                <a:t>...</a:t>
              </a:r>
              <a:endParaRPr lang="en-GB" altLang="tr-TR" b="1" i="1">
                <a:latin typeface="Courier New" panose="02070309020205020404" pitchFamily="49" charset="0"/>
              </a:endParaRPr>
            </a:p>
          </p:txBody>
        </p:sp>
      </p:grpSp>
      <p:grpSp>
        <p:nvGrpSpPr>
          <p:cNvPr id="11272" name="Group 24"/>
          <p:cNvGrpSpPr>
            <a:grpSpLocks/>
          </p:cNvGrpSpPr>
          <p:nvPr/>
        </p:nvGrpSpPr>
        <p:grpSpPr bwMode="auto">
          <a:xfrm>
            <a:off x="7894639" y="2663825"/>
            <a:ext cx="714375" cy="242888"/>
            <a:chOff x="715" y="1938"/>
            <a:chExt cx="450" cy="153"/>
          </a:xfrm>
        </p:grpSpPr>
        <p:sp>
          <p:nvSpPr>
            <p:cNvPr id="11278" name="Text Box 25"/>
            <p:cNvSpPr txBox="1">
              <a:spLocks noChangeArrowheads="1"/>
            </p:cNvSpPr>
            <p:nvPr/>
          </p:nvSpPr>
          <p:spPr bwMode="auto">
            <a:xfrm>
              <a:off x="715" y="1938"/>
              <a:ext cx="9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tr-TR" altLang="tr-TR" b="1" i="1">
                  <a:latin typeface="Courier New" panose="02070309020205020404" pitchFamily="49" charset="0"/>
                </a:rPr>
                <a:t>c</a:t>
              </a:r>
              <a:endParaRPr lang="en-US" altLang="tr-TR" b="1" i="1">
                <a:latin typeface="Courier New" panose="02070309020205020404" pitchFamily="49" charset="0"/>
              </a:endParaRPr>
            </a:p>
          </p:txBody>
        </p:sp>
        <p:sp>
          <p:nvSpPr>
            <p:cNvPr id="11279" name="Rectangle 26"/>
            <p:cNvSpPr>
              <a:spLocks noChangeArrowheads="1"/>
            </p:cNvSpPr>
            <p:nvPr/>
          </p:nvSpPr>
          <p:spPr bwMode="auto">
            <a:xfrm>
              <a:off x="814" y="1941"/>
              <a:ext cx="351" cy="1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tr-TR" altLang="tr-TR" b="1" i="1">
                  <a:latin typeface="Courier New" panose="02070309020205020404" pitchFamily="49" charset="0"/>
                </a:rPr>
                <a:t>...</a:t>
              </a:r>
              <a:endParaRPr lang="en-GB" altLang="tr-TR" b="1" i="1">
                <a:latin typeface="Courier New" panose="02070309020205020404" pitchFamily="49" charset="0"/>
              </a:endParaRPr>
            </a:p>
          </p:txBody>
        </p:sp>
      </p:grpSp>
      <p:sp>
        <p:nvSpPr>
          <p:cNvPr id="52251" name="Rectangle 27"/>
          <p:cNvSpPr>
            <a:spLocks noChangeArrowheads="1"/>
          </p:cNvSpPr>
          <p:nvPr/>
        </p:nvSpPr>
        <p:spPr bwMode="auto">
          <a:xfrm>
            <a:off x="8186739" y="2052639"/>
            <a:ext cx="282575" cy="1746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tr-TR" altLang="tr-TR"/>
              <a:t>10</a:t>
            </a:r>
            <a:endParaRPr lang="en-GB" altLang="tr-TR"/>
          </a:p>
        </p:txBody>
      </p:sp>
      <p:sp>
        <p:nvSpPr>
          <p:cNvPr id="52252" name="Rectangle 28"/>
          <p:cNvSpPr>
            <a:spLocks noChangeArrowheads="1"/>
          </p:cNvSpPr>
          <p:nvPr/>
        </p:nvSpPr>
        <p:spPr bwMode="auto">
          <a:xfrm>
            <a:off x="8186739" y="2693989"/>
            <a:ext cx="282575" cy="1746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tr-TR" altLang="tr-TR"/>
              <a:t>7</a:t>
            </a:r>
            <a:endParaRPr lang="en-GB" altLang="tr-TR"/>
          </a:p>
        </p:txBody>
      </p:sp>
      <p:sp>
        <p:nvSpPr>
          <p:cNvPr id="52253" name="Rectangle 29"/>
          <p:cNvSpPr>
            <a:spLocks noChangeArrowheads="1"/>
          </p:cNvSpPr>
          <p:nvPr/>
        </p:nvSpPr>
        <p:spPr bwMode="auto">
          <a:xfrm>
            <a:off x="8194676" y="2390776"/>
            <a:ext cx="282575" cy="1746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tr-TR" altLang="tr-TR"/>
              <a:t>3</a:t>
            </a:r>
            <a:endParaRPr lang="en-GB" altLang="tr-TR"/>
          </a:p>
        </p:txBody>
      </p:sp>
      <p:sp>
        <p:nvSpPr>
          <p:cNvPr id="52254" name="Rectangle 30"/>
          <p:cNvSpPr>
            <a:spLocks noChangeArrowheads="1"/>
          </p:cNvSpPr>
          <p:nvPr/>
        </p:nvSpPr>
        <p:spPr bwMode="auto">
          <a:xfrm>
            <a:off x="8196264" y="2049464"/>
            <a:ext cx="282575" cy="1746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tr-TR" altLang="tr-TR"/>
              <a:t>5</a:t>
            </a:r>
            <a:endParaRPr lang="en-GB" altLang="tr-TR"/>
          </a:p>
        </p:txBody>
      </p:sp>
    </p:spTree>
    <p:extLst>
      <p:ext uri="{BB962C8B-B14F-4D97-AF65-F5344CB8AC3E}">
        <p14:creationId xmlns:p14="http://schemas.microsoft.com/office/powerpoint/2010/main" val="30595522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52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52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52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0" fill="hold"/>
                                        <p:tgtEl>
                                          <p:spTgt spid="52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522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51" grpId="0" animBg="1"/>
      <p:bldP spid="52252" grpId="0" animBg="1"/>
      <p:bldP spid="52253" grpId="0" animBg="1"/>
      <p:bldP spid="5225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Rules for identifier names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While defining names for variables (and also functions, user-defined types, and constants in the future) you should obey the following rules:</a:t>
            </a:r>
          </a:p>
          <a:p>
            <a:pPr lvl="1"/>
            <a:r>
              <a:rPr lang="en-US" altLang="tr-TR" sz="2000" dirty="0"/>
              <a:t>The first character of a name must be a letter or underscore (‘_’).</a:t>
            </a:r>
          </a:p>
          <a:p>
            <a:pPr lvl="1"/>
            <a:r>
              <a:rPr lang="en-US" altLang="tr-TR" sz="2000" dirty="0"/>
              <a:t>The remaining characters must be letters, digits, or underscore.</a:t>
            </a:r>
          </a:p>
          <a:p>
            <a:pPr lvl="1"/>
            <a:r>
              <a:rPr lang="en-US" altLang="tr-TR" sz="2000" dirty="0"/>
              <a:t>Only the first 31 characters are significant.</a:t>
            </a:r>
          </a:p>
          <a:p>
            <a:pPr lvl="1"/>
            <a:r>
              <a:rPr lang="en-US" altLang="tr-TR" sz="2000" dirty="0"/>
              <a:t>Avoid reserved words such as </a:t>
            </a:r>
            <a:r>
              <a:rPr lang="en-US" altLang="tr-TR" sz="2000" dirty="0" err="1"/>
              <a:t>int</a:t>
            </a:r>
            <a:r>
              <a:rPr lang="en-US" altLang="tr-TR" sz="2000" dirty="0"/>
              <a:t>, float, char, etc. as identifier names.</a:t>
            </a:r>
          </a:p>
          <a:p>
            <a:endParaRPr lang="tr-TR" altLang="tr-TR" dirty="0"/>
          </a:p>
          <a:p>
            <a:r>
              <a:rPr lang="en-US" altLang="tr-TR" dirty="0"/>
              <a:t>However, it is better to avoid starting identifier names with underscore.</a:t>
            </a:r>
          </a:p>
          <a:p>
            <a:endParaRPr lang="tr-TR" altLang="tr-TR" dirty="0"/>
          </a:p>
          <a:p>
            <a:r>
              <a:rPr lang="en-US" altLang="tr-TR" dirty="0"/>
              <a:t>Also remember that C language is case-sensitive.</a:t>
            </a:r>
          </a:p>
          <a:p>
            <a:endParaRPr lang="tr-TR" altLang="tr-TR" dirty="0"/>
          </a:p>
          <a:p>
            <a:r>
              <a:rPr lang="en-US" altLang="tr-TR" dirty="0"/>
              <a:t>It is a very good practice to use meaningful names.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27533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Standard data types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You have to specify the type of a variable when you define it.</a:t>
            </a:r>
          </a:p>
          <a:p>
            <a:endParaRPr lang="tr-TR" altLang="tr-TR" dirty="0" smtClean="0"/>
          </a:p>
          <a:p>
            <a:endParaRPr lang="tr-TR" altLang="tr-TR" dirty="0"/>
          </a:p>
          <a:p>
            <a:r>
              <a:rPr lang="en-US" altLang="tr-TR" dirty="0"/>
              <a:t>There are three standard data types:</a:t>
            </a:r>
          </a:p>
          <a:p>
            <a:pPr lvl="4"/>
            <a:endParaRPr lang="tr-TR" altLang="tr-TR" dirty="0" smtClean="0"/>
          </a:p>
          <a:p>
            <a:pPr lvl="1"/>
            <a:r>
              <a:rPr lang="en-US" altLang="tr-TR" dirty="0" smtClean="0"/>
              <a:t>Integer </a:t>
            </a:r>
            <a:r>
              <a:rPr lang="en-US" altLang="tr-TR" dirty="0"/>
              <a:t>(i.e., whole numbers)</a:t>
            </a:r>
          </a:p>
          <a:p>
            <a:pPr lvl="4"/>
            <a:endParaRPr lang="tr-TR" altLang="tr-TR" dirty="0" smtClean="0"/>
          </a:p>
          <a:p>
            <a:pPr lvl="1"/>
            <a:r>
              <a:rPr lang="en-US" altLang="tr-TR" dirty="0" smtClean="0"/>
              <a:t>Float </a:t>
            </a:r>
            <a:r>
              <a:rPr lang="en-US" altLang="tr-TR" dirty="0"/>
              <a:t>(i.e., real or floating-point numbers)</a:t>
            </a:r>
          </a:p>
          <a:p>
            <a:pPr lvl="4"/>
            <a:endParaRPr lang="tr-TR" altLang="tr-TR" dirty="0" smtClean="0"/>
          </a:p>
          <a:p>
            <a:pPr lvl="1"/>
            <a:r>
              <a:rPr lang="en-US" altLang="tr-TR" dirty="0" smtClean="0"/>
              <a:t>Characters</a:t>
            </a:r>
            <a:endParaRPr lang="en-US" altLang="tr-TR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38380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17501"/>
            <a:ext cx="7772400" cy="538163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Numerical Data Types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35844" name="Rectangle 7"/>
          <p:cNvSpPr>
            <a:spLocks noChangeArrowheads="1"/>
          </p:cNvSpPr>
          <p:nvPr/>
        </p:nvSpPr>
        <p:spPr bwMode="auto">
          <a:xfrm>
            <a:off x="1524001" y="1918286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sp>
        <p:nvSpPr>
          <p:cNvPr id="35845" name="Rectangle 9"/>
          <p:cNvSpPr>
            <a:spLocks noChangeArrowheads="1"/>
          </p:cNvSpPr>
          <p:nvPr/>
        </p:nvSpPr>
        <p:spPr bwMode="auto">
          <a:xfrm>
            <a:off x="1524001" y="1983373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/>
          </a:p>
        </p:txBody>
      </p:sp>
      <p:graphicFrame>
        <p:nvGraphicFramePr>
          <p:cNvPr id="358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888459"/>
              </p:ext>
            </p:extLst>
          </p:nvPr>
        </p:nvGraphicFramePr>
        <p:xfrm>
          <a:off x="430311" y="1022458"/>
          <a:ext cx="11641549" cy="5270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Picture" r:id="rId3" imgW="5299266" imgH="2556059" progId="Word.Picture.8">
                  <p:embed/>
                </p:oleObj>
              </mc:Choice>
              <mc:Fallback>
                <p:oleObj name="Picture" r:id="rId3" imgW="5299266" imgH="2556059" progId="Word.Picture.8">
                  <p:embed/>
                  <p:pic>
                    <p:nvPicPr>
                      <p:cNvPr id="3584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11" y="1022458"/>
                        <a:ext cx="11641549" cy="5270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8022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Integers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314450" algn="l"/>
              </a:tabLst>
            </a:pPr>
            <a:r>
              <a:rPr lang="en-US" altLang="tr-TR" dirty="0"/>
              <a:t>Syntax:</a:t>
            </a:r>
          </a:p>
          <a:p>
            <a:pPr marL="914400" lvl="2" indent="0">
              <a:buNone/>
              <a:tabLst>
                <a:tab pos="1314450" algn="l"/>
              </a:tabLst>
            </a:pPr>
            <a:r>
              <a:rPr lang="en-US" altLang="tr-TR" sz="1800" b="1" u="sng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800" b="1" dirty="0">
                <a:solidFill>
                  <a:srgbClr val="0000C8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variable_list</a:t>
            </a:r>
            <a:r>
              <a:rPr lang="en-US" altLang="tr-TR" sz="1800" b="1" dirty="0">
                <a:solidFill>
                  <a:srgbClr val="0000C8"/>
                </a:solidFill>
                <a:latin typeface="Courier New" panose="02070309020205020404" pitchFamily="49" charset="0"/>
              </a:rPr>
              <a:t>;</a:t>
            </a:r>
          </a:p>
          <a:p>
            <a:pPr marL="461963" lvl="1" indent="-4763">
              <a:buNone/>
              <a:tabLst>
                <a:tab pos="1314450" algn="l"/>
              </a:tabLst>
            </a:pPr>
            <a:r>
              <a:rPr lang="en-US" altLang="tr-TR" sz="2000" dirty="0"/>
              <a:t>where </a:t>
            </a:r>
            <a:r>
              <a:rPr lang="en-US" altLang="tr-TR" sz="20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variable_list</a:t>
            </a:r>
            <a:r>
              <a:rPr lang="en-US" altLang="tr-TR" sz="2000" b="1" dirty="0">
                <a:solidFill>
                  <a:srgbClr val="0000C8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000" dirty="0"/>
              <a:t>is a comma-separated list of variable names. Each variable name may be followed by an optional assignment operator and a value for initialization.</a:t>
            </a:r>
            <a:endParaRPr lang="tr-TR" altLang="tr-TR" sz="2000" dirty="0"/>
          </a:p>
          <a:p>
            <a:pPr marL="461963" lvl="1" indent="-4763">
              <a:buNone/>
              <a:tabLst>
                <a:tab pos="1314450" algn="l"/>
              </a:tabLst>
            </a:pPr>
            <a:r>
              <a:rPr lang="tr-TR" altLang="tr-TR" sz="2000" dirty="0"/>
              <a:t>		</a:t>
            </a:r>
            <a:r>
              <a:rPr lang="en-US" altLang="tr-TR" sz="2400" dirty="0" err="1"/>
              <a:t>Eg</a:t>
            </a:r>
            <a:r>
              <a:rPr lang="en-US" altLang="tr-TR" sz="2400" dirty="0"/>
              <a:t>:	</a:t>
            </a:r>
            <a:r>
              <a:rPr lang="en-US" altLang="tr-TR" sz="2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400" b="1" dirty="0">
                <a:solidFill>
                  <a:srgbClr val="0000C8"/>
                </a:solidFill>
                <a:latin typeface="Courier New" panose="02070309020205020404" pitchFamily="49" charset="0"/>
              </a:rPr>
              <a:t> a, b=10, c;</a:t>
            </a:r>
          </a:p>
          <a:p>
            <a:pPr>
              <a:tabLst>
                <a:tab pos="1314450" algn="l"/>
              </a:tabLst>
            </a:pPr>
            <a:endParaRPr lang="tr-TR" altLang="tr-TR" sz="1800" dirty="0"/>
          </a:p>
          <a:p>
            <a:pPr>
              <a:tabLst>
                <a:tab pos="1314450" algn="l"/>
              </a:tabLst>
            </a:pPr>
            <a:r>
              <a:rPr lang="en-US" altLang="tr-TR" dirty="0"/>
              <a:t>Integer is a class of variable types. The most basic one is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dirty="0"/>
              <a:t>.</a:t>
            </a:r>
          </a:p>
          <a:p>
            <a:pPr>
              <a:tabLst>
                <a:tab pos="1314450" algn="l"/>
              </a:tabLst>
            </a:pPr>
            <a:endParaRPr lang="tr-TR" altLang="tr-TR" sz="1800" dirty="0"/>
          </a:p>
          <a:p>
            <a:pPr>
              <a:tabLst>
                <a:tab pos="1314450" algn="l"/>
              </a:tabLst>
            </a:pPr>
            <a:r>
              <a:rPr lang="en-US" altLang="tr-TR" dirty="0"/>
              <a:t>The size may change, but the leftmost bit is used for the sign. The remaining bits represent the value in binary.</a:t>
            </a:r>
          </a:p>
          <a:p>
            <a:pPr>
              <a:tabLst>
                <a:tab pos="1314450" algn="l"/>
              </a:tabLst>
            </a:pPr>
            <a:endParaRPr lang="tr-TR" altLang="tr-TR" sz="1800" dirty="0"/>
          </a:p>
          <a:p>
            <a:pPr>
              <a:tabLst>
                <a:tab pos="1314450" algn="l"/>
              </a:tabLst>
            </a:pPr>
            <a:r>
              <a:rPr lang="en-US" altLang="tr-TR" dirty="0"/>
              <a:t>Though the size of an </a:t>
            </a:r>
            <a:r>
              <a:rPr lang="en-US" altLang="tr-TR" dirty="0" err="1"/>
              <a:t>int</a:t>
            </a:r>
            <a:r>
              <a:rPr lang="en-US" altLang="tr-TR" dirty="0"/>
              <a:t> variable may vary, it is always limited, i.e., it contains a limited number of bits. Therefore, the maximum and minimum values that can be represented by an </a:t>
            </a:r>
            <a:r>
              <a:rPr lang="en-US" altLang="tr-TR" dirty="0" err="1"/>
              <a:t>int</a:t>
            </a:r>
            <a:r>
              <a:rPr lang="en-US" altLang="tr-TR" dirty="0"/>
              <a:t> variable is limited.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70407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Integers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/>
              <a:t>For example, assume in your system an integer has 16 bits.</a:t>
            </a:r>
          </a:p>
          <a:p>
            <a:endParaRPr lang="en-US" altLang="tr-TR" sz="2800" dirty="0"/>
          </a:p>
          <a:p>
            <a:endParaRPr lang="tr-TR" altLang="tr-TR" sz="2800" dirty="0"/>
          </a:p>
          <a:p>
            <a:r>
              <a:rPr lang="en-US" altLang="tr-TR" sz="2800" dirty="0"/>
              <a:t>Leftmost bit is used for the sign, so 15 bits are left for the value. So, you have 2</a:t>
            </a:r>
            <a:r>
              <a:rPr lang="en-US" altLang="tr-TR" sz="2800" baseline="30000" dirty="0"/>
              <a:t>15</a:t>
            </a:r>
            <a:r>
              <a:rPr lang="en-US" altLang="tr-TR" sz="2800" dirty="0"/>
              <a:t>=32,768 positive values, ranging from 0 to 32,767. Similarly, you have 32,768 negative values, this time ranging from -1 to -32,768.</a:t>
            </a:r>
          </a:p>
          <a:p>
            <a:endParaRPr lang="tr-TR" altLang="tr-TR" sz="2800" dirty="0"/>
          </a:p>
          <a:p>
            <a:r>
              <a:rPr lang="en-US" altLang="tr-TR" sz="2800" dirty="0"/>
              <a:t>If you have 32 bits (4 bytes) for an integer, than the maximum value is 2</a:t>
            </a:r>
            <a:r>
              <a:rPr lang="en-US" altLang="tr-TR" sz="2800" baseline="30000" dirty="0"/>
              <a:t>31 </a:t>
            </a:r>
            <a:r>
              <a:rPr lang="en-US" altLang="tr-TR" sz="2800" dirty="0"/>
              <a:t>- 1 = 2,147,483,647.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pSp>
        <p:nvGrpSpPr>
          <p:cNvPr id="15364" name="Group 4"/>
          <p:cNvGrpSpPr>
            <a:grpSpLocks/>
          </p:cNvGrpSpPr>
          <p:nvPr/>
        </p:nvGrpSpPr>
        <p:grpSpPr bwMode="auto">
          <a:xfrm>
            <a:off x="4165600" y="1525588"/>
            <a:ext cx="4059238" cy="276225"/>
            <a:chOff x="1158" y="1142"/>
            <a:chExt cx="2557" cy="174"/>
          </a:xfrm>
        </p:grpSpPr>
        <p:sp>
          <p:nvSpPr>
            <p:cNvPr id="15370" name="Text Box 5"/>
            <p:cNvSpPr txBox="1">
              <a:spLocks noChangeArrowheads="1"/>
            </p:cNvSpPr>
            <p:nvPr/>
          </p:nvSpPr>
          <p:spPr bwMode="auto">
            <a:xfrm>
              <a:off x="1158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71" name="Text Box 6"/>
            <p:cNvSpPr txBox="1">
              <a:spLocks noChangeArrowheads="1"/>
            </p:cNvSpPr>
            <p:nvPr/>
          </p:nvSpPr>
          <p:spPr bwMode="auto">
            <a:xfrm>
              <a:off x="1320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72" name="Text Box 7"/>
            <p:cNvSpPr txBox="1">
              <a:spLocks noChangeArrowheads="1"/>
            </p:cNvSpPr>
            <p:nvPr/>
          </p:nvSpPr>
          <p:spPr bwMode="auto">
            <a:xfrm>
              <a:off x="1477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73" name="Text Box 8"/>
            <p:cNvSpPr txBox="1">
              <a:spLocks noChangeArrowheads="1"/>
            </p:cNvSpPr>
            <p:nvPr/>
          </p:nvSpPr>
          <p:spPr bwMode="auto">
            <a:xfrm>
              <a:off x="1639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74" name="Text Box 9"/>
            <p:cNvSpPr txBox="1">
              <a:spLocks noChangeArrowheads="1"/>
            </p:cNvSpPr>
            <p:nvPr/>
          </p:nvSpPr>
          <p:spPr bwMode="auto">
            <a:xfrm>
              <a:off x="1800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75" name="Text Box 10"/>
            <p:cNvSpPr txBox="1">
              <a:spLocks noChangeArrowheads="1"/>
            </p:cNvSpPr>
            <p:nvPr/>
          </p:nvSpPr>
          <p:spPr bwMode="auto">
            <a:xfrm>
              <a:off x="1956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76" name="Text Box 11"/>
            <p:cNvSpPr txBox="1">
              <a:spLocks noChangeArrowheads="1"/>
            </p:cNvSpPr>
            <p:nvPr/>
          </p:nvSpPr>
          <p:spPr bwMode="auto">
            <a:xfrm>
              <a:off x="2119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77" name="Text Box 12"/>
            <p:cNvSpPr txBox="1">
              <a:spLocks noChangeArrowheads="1"/>
            </p:cNvSpPr>
            <p:nvPr/>
          </p:nvSpPr>
          <p:spPr bwMode="auto">
            <a:xfrm>
              <a:off x="2275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78" name="Text Box 13"/>
            <p:cNvSpPr txBox="1">
              <a:spLocks noChangeArrowheads="1"/>
            </p:cNvSpPr>
            <p:nvPr/>
          </p:nvSpPr>
          <p:spPr bwMode="auto">
            <a:xfrm>
              <a:off x="2438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79" name="Text Box 14"/>
            <p:cNvSpPr txBox="1">
              <a:spLocks noChangeArrowheads="1"/>
            </p:cNvSpPr>
            <p:nvPr/>
          </p:nvSpPr>
          <p:spPr bwMode="auto">
            <a:xfrm>
              <a:off x="2594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80" name="Text Box 15"/>
            <p:cNvSpPr txBox="1">
              <a:spLocks noChangeArrowheads="1"/>
            </p:cNvSpPr>
            <p:nvPr/>
          </p:nvSpPr>
          <p:spPr bwMode="auto">
            <a:xfrm>
              <a:off x="2757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81" name="Text Box 16"/>
            <p:cNvSpPr txBox="1">
              <a:spLocks noChangeArrowheads="1"/>
            </p:cNvSpPr>
            <p:nvPr/>
          </p:nvSpPr>
          <p:spPr bwMode="auto">
            <a:xfrm>
              <a:off x="2919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82" name="Text Box 17"/>
            <p:cNvSpPr txBox="1">
              <a:spLocks noChangeArrowheads="1"/>
            </p:cNvSpPr>
            <p:nvPr/>
          </p:nvSpPr>
          <p:spPr bwMode="auto">
            <a:xfrm>
              <a:off x="3080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0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83" name="Text Box 18"/>
            <p:cNvSpPr txBox="1">
              <a:spLocks noChangeArrowheads="1"/>
            </p:cNvSpPr>
            <p:nvPr/>
          </p:nvSpPr>
          <p:spPr bwMode="auto">
            <a:xfrm>
              <a:off x="3236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84" name="Text Box 19"/>
            <p:cNvSpPr txBox="1">
              <a:spLocks noChangeArrowheads="1"/>
            </p:cNvSpPr>
            <p:nvPr/>
          </p:nvSpPr>
          <p:spPr bwMode="auto">
            <a:xfrm>
              <a:off x="3399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5385" name="Text Box 20"/>
            <p:cNvSpPr txBox="1">
              <a:spLocks noChangeArrowheads="1"/>
            </p:cNvSpPr>
            <p:nvPr/>
          </p:nvSpPr>
          <p:spPr bwMode="auto">
            <a:xfrm>
              <a:off x="3555" y="1142"/>
              <a:ext cx="160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b="1">
                  <a:solidFill>
                    <a:srgbClr val="0000C8"/>
                  </a:solidFill>
                  <a:latin typeface="Courier New" panose="02070309020205020404" pitchFamily="49" charset="0"/>
                </a:rPr>
                <a:t>1</a:t>
              </a:r>
              <a:endParaRPr lang="en-GB" altLang="tr-TR" b="1">
                <a:solidFill>
                  <a:srgbClr val="0000C8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5365" name="AutoShape 21"/>
          <p:cNvSpPr>
            <a:spLocks/>
          </p:cNvSpPr>
          <p:nvPr/>
        </p:nvSpPr>
        <p:spPr bwMode="auto">
          <a:xfrm rot="5400000">
            <a:off x="4217987" y="1806575"/>
            <a:ext cx="146050" cy="250825"/>
          </a:xfrm>
          <a:prstGeom prst="rightBrace">
            <a:avLst>
              <a:gd name="adj1" fmla="val 143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tr-TR" altLang="tr-TR"/>
          </a:p>
        </p:txBody>
      </p:sp>
      <p:sp>
        <p:nvSpPr>
          <p:cNvPr id="15366" name="AutoShape 22"/>
          <p:cNvSpPr>
            <a:spLocks/>
          </p:cNvSpPr>
          <p:nvPr/>
        </p:nvSpPr>
        <p:spPr bwMode="auto">
          <a:xfrm rot="5400000">
            <a:off x="6247606" y="39688"/>
            <a:ext cx="138112" cy="3800475"/>
          </a:xfrm>
          <a:prstGeom prst="rightBrace">
            <a:avLst>
              <a:gd name="adj1" fmla="val 2293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tr-TR" altLang="tr-TR"/>
          </a:p>
        </p:txBody>
      </p:sp>
      <p:sp>
        <p:nvSpPr>
          <p:cNvPr id="15367" name="Text Box 23"/>
          <p:cNvSpPr txBox="1">
            <a:spLocks noChangeArrowheads="1"/>
          </p:cNvSpPr>
          <p:nvPr/>
        </p:nvSpPr>
        <p:spPr bwMode="auto">
          <a:xfrm>
            <a:off x="3877468" y="2113123"/>
            <a:ext cx="8270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tr-TR" dirty="0"/>
              <a:t>sign bit</a:t>
            </a:r>
            <a:endParaRPr lang="en-GB" altLang="tr-TR" dirty="0"/>
          </a:p>
        </p:txBody>
      </p:sp>
      <p:sp>
        <p:nvSpPr>
          <p:cNvPr id="15368" name="Text Box 24"/>
          <p:cNvSpPr txBox="1">
            <a:spLocks noChangeArrowheads="1"/>
          </p:cNvSpPr>
          <p:nvPr/>
        </p:nvSpPr>
        <p:spPr bwMode="auto">
          <a:xfrm>
            <a:off x="5855992" y="2108201"/>
            <a:ext cx="8270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Ctr="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tr-TR" dirty="0"/>
              <a:t>value</a:t>
            </a:r>
            <a:endParaRPr lang="en-GB" altLang="tr-TR" dirty="0"/>
          </a:p>
        </p:txBody>
      </p:sp>
    </p:spTree>
    <p:extLst>
      <p:ext uri="{BB962C8B-B14F-4D97-AF65-F5344CB8AC3E}">
        <p14:creationId xmlns:p14="http://schemas.microsoft.com/office/powerpoint/2010/main" val="17369821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Integers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tr-TR" altLang="tr-TR" dirty="0"/>
          </a:p>
          <a:p>
            <a:r>
              <a:rPr lang="en-US" altLang="tr-TR" dirty="0"/>
              <a:t>There are variations of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dirty="0"/>
              <a:t> such as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long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dirty="0"/>
              <a:t>,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short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dirty="0"/>
              <a:t>,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unsigned int</a:t>
            </a:r>
            <a:r>
              <a:rPr lang="en-US" altLang="tr-TR" dirty="0"/>
              <a:t>.</a:t>
            </a:r>
          </a:p>
          <a:p>
            <a:pPr lvl="1"/>
            <a:r>
              <a:rPr lang="en-US" altLang="tr-TR" dirty="0"/>
              <a:t>For each one of these types, you may ignore the word "</a:t>
            </a:r>
            <a:r>
              <a:rPr lang="en-US" altLang="tr-TR" sz="24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dirty="0"/>
              <a:t>" and use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long</a:t>
            </a:r>
            <a:r>
              <a:rPr lang="en-US" altLang="tr-TR" dirty="0"/>
              <a:t>,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short</a:t>
            </a:r>
            <a:r>
              <a:rPr lang="en-US" altLang="tr-TR" dirty="0"/>
              <a:t>, and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unsigned</a:t>
            </a:r>
            <a:r>
              <a:rPr lang="en-US" altLang="tr-TR" dirty="0"/>
              <a:t>, respectively.</a:t>
            </a:r>
          </a:p>
          <a:p>
            <a:endParaRPr lang="tr-TR" altLang="tr-TR" dirty="0"/>
          </a:p>
          <a:p>
            <a:r>
              <a:rPr lang="en-US" altLang="tr-TR" dirty="0"/>
              <a:t>The sizes of these types are ordered as follows:</a:t>
            </a:r>
          </a:p>
          <a:p>
            <a:pPr lvl="2">
              <a:buFontTx/>
              <a:buNone/>
            </a:pPr>
            <a:r>
              <a:rPr lang="en-US" altLang="tr-TR" dirty="0"/>
              <a:t>short </a:t>
            </a:r>
            <a:r>
              <a:rPr lang="en-US" altLang="tr-TR" dirty="0" err="1"/>
              <a:t>int</a:t>
            </a:r>
            <a:r>
              <a:rPr lang="en-US" altLang="tr-TR" dirty="0"/>
              <a:t> ≤ </a:t>
            </a:r>
            <a:r>
              <a:rPr lang="en-US" altLang="tr-TR" dirty="0" err="1"/>
              <a:t>int</a:t>
            </a:r>
            <a:r>
              <a:rPr lang="en-US" altLang="tr-TR" dirty="0"/>
              <a:t> ≤ long </a:t>
            </a:r>
            <a:r>
              <a:rPr lang="en-US" altLang="tr-TR" dirty="0" err="1"/>
              <a:t>int</a:t>
            </a:r>
            <a:endParaRPr lang="en-US" altLang="tr-TR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33506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Floating-point numbers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Syntax:</a:t>
            </a:r>
          </a:p>
          <a:p>
            <a:pPr lvl="2">
              <a:buFontTx/>
              <a:buNone/>
            </a:pPr>
            <a:r>
              <a:rPr lang="en-US" altLang="tr-TR" b="1" u="sng" dirty="0">
                <a:solidFill>
                  <a:srgbClr val="0000C8"/>
                </a:solidFill>
                <a:latin typeface="Courier New" panose="02070309020205020404" pitchFamily="49" charset="0"/>
              </a:rPr>
              <a:t>float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variable_list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;</a:t>
            </a:r>
          </a:p>
          <a:p>
            <a:endParaRPr lang="tr-TR" altLang="tr-TR" dirty="0"/>
          </a:p>
          <a:p>
            <a:r>
              <a:rPr lang="en-US" altLang="tr-TR" dirty="0"/>
              <a:t>Float type is used for real numbers.</a:t>
            </a:r>
          </a:p>
          <a:p>
            <a:endParaRPr lang="tr-TR" altLang="tr-TR" dirty="0"/>
          </a:p>
          <a:p>
            <a:r>
              <a:rPr lang="en-US" altLang="tr-TR" dirty="0"/>
              <a:t>Note that all integers may be represented as floating-point numbers, but not vice versa.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85199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Floating-point numbers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Similar to integers, floats also have their limits: maximum and minimum values are limited as well as the precision.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pSp>
        <p:nvGrpSpPr>
          <p:cNvPr id="18436" name="Group 41"/>
          <p:cNvGrpSpPr>
            <a:grpSpLocks/>
          </p:cNvGrpSpPr>
          <p:nvPr/>
        </p:nvGrpSpPr>
        <p:grpSpPr bwMode="auto">
          <a:xfrm>
            <a:off x="3190875" y="4035426"/>
            <a:ext cx="5037138" cy="73025"/>
            <a:chOff x="733" y="2188"/>
            <a:chExt cx="3173" cy="46"/>
          </a:xfrm>
        </p:grpSpPr>
        <p:sp>
          <p:nvSpPr>
            <p:cNvPr id="18455" name="Line 4"/>
            <p:cNvSpPr>
              <a:spLocks noChangeShapeType="1"/>
            </p:cNvSpPr>
            <p:nvPr/>
          </p:nvSpPr>
          <p:spPr bwMode="auto">
            <a:xfrm>
              <a:off x="733" y="2210"/>
              <a:ext cx="31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56" name="Line 5"/>
            <p:cNvSpPr>
              <a:spLocks noChangeShapeType="1"/>
            </p:cNvSpPr>
            <p:nvPr/>
          </p:nvSpPr>
          <p:spPr bwMode="auto">
            <a:xfrm>
              <a:off x="1036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57" name="Line 24"/>
            <p:cNvSpPr>
              <a:spLocks noChangeShapeType="1"/>
            </p:cNvSpPr>
            <p:nvPr/>
          </p:nvSpPr>
          <p:spPr bwMode="auto">
            <a:xfrm>
              <a:off x="1197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58" name="Line 25"/>
            <p:cNvSpPr>
              <a:spLocks noChangeShapeType="1"/>
            </p:cNvSpPr>
            <p:nvPr/>
          </p:nvSpPr>
          <p:spPr bwMode="auto">
            <a:xfrm>
              <a:off x="1356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59" name="Line 26"/>
            <p:cNvSpPr>
              <a:spLocks noChangeShapeType="1"/>
            </p:cNvSpPr>
            <p:nvPr/>
          </p:nvSpPr>
          <p:spPr bwMode="auto">
            <a:xfrm>
              <a:off x="1517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0" name="Line 27"/>
            <p:cNvSpPr>
              <a:spLocks noChangeShapeType="1"/>
            </p:cNvSpPr>
            <p:nvPr/>
          </p:nvSpPr>
          <p:spPr bwMode="auto">
            <a:xfrm>
              <a:off x="1678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1" name="Line 28"/>
            <p:cNvSpPr>
              <a:spLocks noChangeShapeType="1"/>
            </p:cNvSpPr>
            <p:nvPr/>
          </p:nvSpPr>
          <p:spPr bwMode="auto">
            <a:xfrm>
              <a:off x="1835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2" name="Line 29"/>
            <p:cNvSpPr>
              <a:spLocks noChangeShapeType="1"/>
            </p:cNvSpPr>
            <p:nvPr/>
          </p:nvSpPr>
          <p:spPr bwMode="auto">
            <a:xfrm>
              <a:off x="1996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3" name="Line 30"/>
            <p:cNvSpPr>
              <a:spLocks noChangeShapeType="1"/>
            </p:cNvSpPr>
            <p:nvPr/>
          </p:nvSpPr>
          <p:spPr bwMode="auto">
            <a:xfrm>
              <a:off x="2155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4" name="Line 31"/>
            <p:cNvSpPr>
              <a:spLocks noChangeShapeType="1"/>
            </p:cNvSpPr>
            <p:nvPr/>
          </p:nvSpPr>
          <p:spPr bwMode="auto">
            <a:xfrm>
              <a:off x="2316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5" name="Line 32"/>
            <p:cNvSpPr>
              <a:spLocks noChangeShapeType="1"/>
            </p:cNvSpPr>
            <p:nvPr/>
          </p:nvSpPr>
          <p:spPr bwMode="auto">
            <a:xfrm>
              <a:off x="2473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6" name="Line 33"/>
            <p:cNvSpPr>
              <a:spLocks noChangeShapeType="1"/>
            </p:cNvSpPr>
            <p:nvPr/>
          </p:nvSpPr>
          <p:spPr bwMode="auto">
            <a:xfrm>
              <a:off x="2634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7" name="Line 34"/>
            <p:cNvSpPr>
              <a:spLocks noChangeShapeType="1"/>
            </p:cNvSpPr>
            <p:nvPr/>
          </p:nvSpPr>
          <p:spPr bwMode="auto">
            <a:xfrm>
              <a:off x="2795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8" name="Line 35"/>
            <p:cNvSpPr>
              <a:spLocks noChangeShapeType="1"/>
            </p:cNvSpPr>
            <p:nvPr/>
          </p:nvSpPr>
          <p:spPr bwMode="auto">
            <a:xfrm>
              <a:off x="2958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69" name="Line 36"/>
            <p:cNvSpPr>
              <a:spLocks noChangeShapeType="1"/>
            </p:cNvSpPr>
            <p:nvPr/>
          </p:nvSpPr>
          <p:spPr bwMode="auto">
            <a:xfrm>
              <a:off x="3115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70" name="Line 37"/>
            <p:cNvSpPr>
              <a:spLocks noChangeShapeType="1"/>
            </p:cNvSpPr>
            <p:nvPr/>
          </p:nvSpPr>
          <p:spPr bwMode="auto">
            <a:xfrm>
              <a:off x="3274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71" name="Line 38"/>
            <p:cNvSpPr>
              <a:spLocks noChangeShapeType="1"/>
            </p:cNvSpPr>
            <p:nvPr/>
          </p:nvSpPr>
          <p:spPr bwMode="auto">
            <a:xfrm>
              <a:off x="3435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72" name="Line 39"/>
            <p:cNvSpPr>
              <a:spLocks noChangeShapeType="1"/>
            </p:cNvSpPr>
            <p:nvPr/>
          </p:nvSpPr>
          <p:spPr bwMode="auto">
            <a:xfrm>
              <a:off x="3592" y="2188"/>
              <a:ext cx="0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127375" y="4154488"/>
            <a:ext cx="1068388" cy="557212"/>
            <a:chOff x="1010" y="2617"/>
            <a:chExt cx="673" cy="351"/>
          </a:xfrm>
        </p:grpSpPr>
        <p:sp>
          <p:nvSpPr>
            <p:cNvPr id="18453" name="Line 42"/>
            <p:cNvSpPr>
              <a:spLocks noChangeShapeType="1"/>
            </p:cNvSpPr>
            <p:nvPr/>
          </p:nvSpPr>
          <p:spPr bwMode="auto">
            <a:xfrm flipV="1">
              <a:off x="1349" y="2617"/>
              <a:ext cx="0" cy="14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54" name="Text Box 45"/>
            <p:cNvSpPr txBox="1">
              <a:spLocks noChangeArrowheads="1"/>
            </p:cNvSpPr>
            <p:nvPr/>
          </p:nvSpPr>
          <p:spPr bwMode="auto">
            <a:xfrm>
              <a:off x="1010" y="2794"/>
              <a:ext cx="6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/>
                <a:t>Lower limit</a:t>
              </a:r>
              <a:endParaRPr lang="en-GB" altLang="tr-TR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7185025" y="4162426"/>
            <a:ext cx="1068388" cy="557213"/>
            <a:chOff x="1010" y="2617"/>
            <a:chExt cx="673" cy="351"/>
          </a:xfrm>
        </p:grpSpPr>
        <p:sp>
          <p:nvSpPr>
            <p:cNvPr id="18451" name="Line 48"/>
            <p:cNvSpPr>
              <a:spLocks noChangeShapeType="1"/>
            </p:cNvSpPr>
            <p:nvPr/>
          </p:nvSpPr>
          <p:spPr bwMode="auto">
            <a:xfrm flipV="1">
              <a:off x="1349" y="2617"/>
              <a:ext cx="0" cy="14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52" name="Text Box 49"/>
            <p:cNvSpPr txBox="1">
              <a:spLocks noChangeArrowheads="1"/>
            </p:cNvSpPr>
            <p:nvPr/>
          </p:nvSpPr>
          <p:spPr bwMode="auto">
            <a:xfrm>
              <a:off x="1010" y="2794"/>
              <a:ext cx="6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/>
                <a:t>Upper limit</a:t>
              </a:r>
              <a:endParaRPr lang="en-GB" altLang="tr-TR"/>
            </a:p>
          </p:txBody>
        </p:sp>
      </p:grp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4802188" y="4076703"/>
            <a:ext cx="1528762" cy="950913"/>
            <a:chOff x="2351" y="2985"/>
            <a:chExt cx="963" cy="599"/>
          </a:xfrm>
        </p:grpSpPr>
        <p:sp>
          <p:nvSpPr>
            <p:cNvPr id="18449" name="Line 51"/>
            <p:cNvSpPr>
              <a:spLocks noChangeShapeType="1"/>
            </p:cNvSpPr>
            <p:nvPr/>
          </p:nvSpPr>
          <p:spPr bwMode="auto">
            <a:xfrm rot="21420000" flipV="1">
              <a:off x="2819" y="2985"/>
              <a:ext cx="11" cy="25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50" name="Text Box 52"/>
            <p:cNvSpPr txBox="1">
              <a:spLocks noChangeArrowheads="1"/>
            </p:cNvSpPr>
            <p:nvPr/>
          </p:nvSpPr>
          <p:spPr bwMode="auto">
            <a:xfrm>
              <a:off x="2351" y="3235"/>
              <a:ext cx="96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dirty="0"/>
                <a:t>The value you want to store</a:t>
              </a:r>
              <a:endParaRPr lang="en-GB" altLang="tr-TR" dirty="0"/>
            </a:p>
          </p:txBody>
        </p:sp>
      </p:grpSp>
      <p:grpSp>
        <p:nvGrpSpPr>
          <p:cNvPr id="6" name="Group 62"/>
          <p:cNvGrpSpPr>
            <a:grpSpLocks/>
          </p:cNvGrpSpPr>
          <p:nvPr/>
        </p:nvGrpSpPr>
        <p:grpSpPr bwMode="auto">
          <a:xfrm>
            <a:off x="2406652" y="3055938"/>
            <a:ext cx="3341687" cy="1057276"/>
            <a:chOff x="556" y="1925"/>
            <a:chExt cx="2105" cy="666"/>
          </a:xfrm>
        </p:grpSpPr>
        <p:sp>
          <p:nvSpPr>
            <p:cNvPr id="18446" name="Line 44"/>
            <p:cNvSpPr>
              <a:spLocks noChangeShapeType="1"/>
            </p:cNvSpPr>
            <p:nvPr/>
          </p:nvSpPr>
          <p:spPr bwMode="auto">
            <a:xfrm>
              <a:off x="2400" y="2353"/>
              <a:ext cx="49" cy="16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47" name="Text Box 56"/>
            <p:cNvSpPr txBox="1">
              <a:spLocks noChangeArrowheads="1"/>
            </p:cNvSpPr>
            <p:nvPr/>
          </p:nvSpPr>
          <p:spPr bwMode="auto">
            <a:xfrm>
              <a:off x="556" y="1925"/>
              <a:ext cx="210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tr-TR" dirty="0"/>
                <a:t>Due to loss of precision, what you actually store might be this</a:t>
              </a:r>
              <a:endParaRPr lang="en-GB" altLang="tr-TR" dirty="0"/>
            </a:p>
          </p:txBody>
        </p:sp>
        <p:sp>
          <p:nvSpPr>
            <p:cNvPr id="18448" name="Oval 57"/>
            <p:cNvSpPr>
              <a:spLocks noChangeArrowheads="1"/>
            </p:cNvSpPr>
            <p:nvPr/>
          </p:nvSpPr>
          <p:spPr bwMode="auto">
            <a:xfrm>
              <a:off x="2435" y="2535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tr-TR" altLang="tr-TR"/>
            </a:p>
          </p:txBody>
        </p:sp>
      </p:grpSp>
      <p:grpSp>
        <p:nvGrpSpPr>
          <p:cNvPr id="7" name="Group 63"/>
          <p:cNvGrpSpPr>
            <a:grpSpLocks/>
          </p:cNvGrpSpPr>
          <p:nvPr/>
        </p:nvGrpSpPr>
        <p:grpSpPr bwMode="auto">
          <a:xfrm>
            <a:off x="5345112" y="3338520"/>
            <a:ext cx="835024" cy="773113"/>
            <a:chOff x="2407" y="2103"/>
            <a:chExt cx="526" cy="487"/>
          </a:xfrm>
        </p:grpSpPr>
        <p:sp>
          <p:nvSpPr>
            <p:cNvPr id="18443" name="Oval 58"/>
            <p:cNvSpPr>
              <a:spLocks noChangeArrowheads="1"/>
            </p:cNvSpPr>
            <p:nvPr/>
          </p:nvSpPr>
          <p:spPr bwMode="auto">
            <a:xfrm>
              <a:off x="2600" y="2534"/>
              <a:ext cx="56" cy="5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endParaRPr lang="tr-TR" altLang="tr-TR"/>
            </a:p>
          </p:txBody>
        </p:sp>
        <p:sp>
          <p:nvSpPr>
            <p:cNvPr id="18444" name="Line 55"/>
            <p:cNvSpPr>
              <a:spLocks noChangeShapeType="1"/>
            </p:cNvSpPr>
            <p:nvPr/>
          </p:nvSpPr>
          <p:spPr bwMode="auto">
            <a:xfrm flipH="1">
              <a:off x="2635" y="2357"/>
              <a:ext cx="104" cy="1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445" name="Text Box 59"/>
            <p:cNvSpPr txBox="1">
              <a:spLocks noChangeArrowheads="1"/>
            </p:cNvSpPr>
            <p:nvPr/>
          </p:nvSpPr>
          <p:spPr bwMode="auto">
            <a:xfrm>
              <a:off x="2407" y="2103"/>
              <a:ext cx="52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tr-TR" dirty="0"/>
                <a:t>, or this.</a:t>
              </a:r>
              <a:endParaRPr lang="en-GB" altLang="tr-TR" dirty="0"/>
            </a:p>
          </p:txBody>
        </p:sp>
      </p:grpSp>
    </p:spTree>
    <p:extLst>
      <p:ext uri="{BB962C8B-B14F-4D97-AF65-F5344CB8AC3E}">
        <p14:creationId xmlns:p14="http://schemas.microsoft.com/office/powerpoint/2010/main" val="42597396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Floating-point numbers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There are two variations of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float</a:t>
            </a:r>
            <a:r>
              <a:rPr lang="en-US" altLang="tr-TR" dirty="0"/>
              <a:t>: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double</a:t>
            </a:r>
            <a:r>
              <a:rPr lang="en-US" altLang="tr-TR" dirty="0"/>
              <a:t> and </a:t>
            </a:r>
            <a:r>
              <a:rPr lang="en-US" altLang="tr-TR" b="1">
                <a:solidFill>
                  <a:srgbClr val="0000C8"/>
                </a:solidFill>
                <a:latin typeface="Courier New" panose="02070309020205020404" pitchFamily="49" charset="0"/>
              </a:rPr>
              <a:t>long double</a:t>
            </a:r>
            <a:r>
              <a:rPr lang="en-US" altLang="tr-TR"/>
              <a:t>.</a:t>
            </a:r>
            <a:endParaRPr lang="en-US" altLang="tr-TR" dirty="0"/>
          </a:p>
          <a:p>
            <a:pPr lvl="1"/>
            <a:r>
              <a:rPr lang="en-US" altLang="tr-TR" dirty="0"/>
              <a:t>They have wider range and higher precision.</a:t>
            </a:r>
          </a:p>
          <a:p>
            <a:endParaRPr lang="tr-TR" altLang="tr-TR" dirty="0"/>
          </a:p>
          <a:p>
            <a:r>
              <a:rPr lang="en-US" altLang="tr-TR" dirty="0"/>
              <a:t>The sizes of these types are ordered as follows:</a:t>
            </a:r>
          </a:p>
          <a:p>
            <a:pPr lvl="2">
              <a:buFontTx/>
              <a:buNone/>
            </a:pPr>
            <a:r>
              <a:rPr lang="en-US" altLang="tr-TR" dirty="0"/>
              <a:t>float ≤ double ≤ long double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27278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Characters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Syntax:</a:t>
            </a:r>
          </a:p>
          <a:p>
            <a:pPr lvl="2">
              <a:buFontTx/>
              <a:buNone/>
            </a:pPr>
            <a:r>
              <a:rPr lang="en-US" altLang="tr-TR" b="1" u="sng" dirty="0">
                <a:solidFill>
                  <a:srgbClr val="0000C8"/>
                </a:solidFill>
                <a:latin typeface="Courier New" panose="02070309020205020404" pitchFamily="49" charset="0"/>
              </a:rPr>
              <a:t>char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variable_list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;</a:t>
            </a:r>
            <a:endParaRPr lang="en-US" altLang="tr-TR" b="1" u="sng" dirty="0">
              <a:solidFill>
                <a:srgbClr val="0000C8"/>
              </a:solidFill>
              <a:latin typeface="Courier New" panose="02070309020205020404" pitchFamily="49" charset="0"/>
            </a:endParaRPr>
          </a:p>
          <a:p>
            <a:endParaRPr lang="tr-TR" altLang="tr-TR" dirty="0"/>
          </a:p>
          <a:p>
            <a:r>
              <a:rPr lang="en-US" altLang="tr-TR" dirty="0"/>
              <a:t>Character is the only type that has a fixed size in all implementations: 1 byte.</a:t>
            </a:r>
          </a:p>
          <a:p>
            <a:endParaRPr lang="tr-TR" altLang="tr-TR" dirty="0"/>
          </a:p>
          <a:p>
            <a:r>
              <a:rPr lang="en-US" altLang="tr-TR" dirty="0"/>
              <a:t>All letters (uppercase and lowercase, separately), digits, and signs (such as </a:t>
            </a:r>
            <a:r>
              <a:rPr lang="en-US" altLang="tr-TR" dirty="0" smtClean="0"/>
              <a:t>+,</a:t>
            </a:r>
            <a:r>
              <a:rPr lang="tr-TR" altLang="tr-TR" dirty="0" smtClean="0"/>
              <a:t> </a:t>
            </a:r>
            <a:r>
              <a:rPr lang="en-US" altLang="tr-TR" dirty="0" smtClean="0"/>
              <a:t>-,</a:t>
            </a:r>
            <a:r>
              <a:rPr lang="tr-TR" altLang="tr-TR" dirty="0" smtClean="0"/>
              <a:t> </a:t>
            </a:r>
            <a:r>
              <a:rPr lang="en-US" altLang="tr-TR" dirty="0" smtClean="0"/>
              <a:t>!,</a:t>
            </a:r>
            <a:r>
              <a:rPr lang="tr-TR" altLang="tr-TR" dirty="0" smtClean="0"/>
              <a:t> </a:t>
            </a:r>
            <a:r>
              <a:rPr lang="en-US" altLang="tr-TR" dirty="0" smtClean="0"/>
              <a:t>?,</a:t>
            </a:r>
            <a:r>
              <a:rPr lang="tr-TR" altLang="tr-TR" dirty="0" smtClean="0"/>
              <a:t> </a:t>
            </a:r>
            <a:r>
              <a:rPr lang="en-US" altLang="tr-TR" dirty="0" smtClean="0"/>
              <a:t>$,</a:t>
            </a:r>
            <a:r>
              <a:rPr lang="tr-TR" altLang="tr-TR" dirty="0" smtClean="0"/>
              <a:t> </a:t>
            </a:r>
            <a:r>
              <a:rPr lang="en-US" altLang="tr-TR" dirty="0" smtClean="0"/>
              <a:t>£,</a:t>
            </a:r>
            <a:r>
              <a:rPr lang="tr-TR" altLang="tr-TR" dirty="0" smtClean="0"/>
              <a:t> </a:t>
            </a:r>
            <a:r>
              <a:rPr lang="en-US" altLang="tr-TR" dirty="0" smtClean="0"/>
              <a:t>^,</a:t>
            </a:r>
            <a:r>
              <a:rPr lang="tr-TR" altLang="tr-TR" dirty="0" smtClean="0"/>
              <a:t> </a:t>
            </a:r>
            <a:r>
              <a:rPr lang="en-US" altLang="tr-TR" dirty="0" smtClean="0"/>
              <a:t>#, </a:t>
            </a:r>
            <a:r>
              <a:rPr lang="en-US" altLang="tr-TR" dirty="0"/>
              <a:t>comma itself, and many others) are of type character.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23949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Characters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Since every value is represented with bits (0s and 1s), we need a mapping for all these letters, digits, and signs.</a:t>
            </a:r>
          </a:p>
          <a:p>
            <a:endParaRPr lang="tr-TR" altLang="tr-TR" dirty="0"/>
          </a:p>
          <a:p>
            <a:r>
              <a:rPr lang="en-US" altLang="tr-TR" dirty="0"/>
              <a:t>This mapping is provided by a table of characters and their corresponding integer values.</a:t>
            </a:r>
          </a:p>
          <a:p>
            <a:pPr lvl="1"/>
            <a:r>
              <a:rPr lang="en-US" altLang="tr-TR" dirty="0"/>
              <a:t>The most widely used table for this purpose is the ASCII table.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8685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Characters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The ASCII table contains the values for 256 values (of which only the first 128 are relevant for you). </a:t>
            </a:r>
            <a:endParaRPr lang="tr-TR" altLang="tr-TR" dirty="0"/>
          </a:p>
          <a:p>
            <a:endParaRPr lang="tr-TR" altLang="tr-TR" dirty="0"/>
          </a:p>
          <a:p>
            <a:r>
              <a:rPr lang="en-US" altLang="tr-TR" dirty="0"/>
              <a:t>Each row of the table contains one character. </a:t>
            </a:r>
            <a:endParaRPr lang="tr-TR" altLang="tr-TR" dirty="0"/>
          </a:p>
          <a:p>
            <a:endParaRPr lang="tr-TR" altLang="tr-TR" dirty="0"/>
          </a:p>
          <a:p>
            <a:r>
              <a:rPr lang="en-US" altLang="tr-TR" dirty="0"/>
              <a:t>The row number is called the </a:t>
            </a:r>
            <a:r>
              <a:rPr lang="en-US" altLang="tr-TR" dirty="0">
                <a:solidFill>
                  <a:srgbClr val="0000C8"/>
                </a:solidFill>
              </a:rPr>
              <a:t>ASCII code</a:t>
            </a:r>
            <a:r>
              <a:rPr lang="en-US" altLang="tr-TR" dirty="0"/>
              <a:t> of the  corresponding character.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52191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Characters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Never memorize the ASCII codes. They are available in all programming books and the Internet. (</a:t>
            </a:r>
            <a:r>
              <a:rPr lang="en-US" altLang="tr-TR" dirty="0" err="1"/>
              <a:t>Eg</a:t>
            </a:r>
            <a:r>
              <a:rPr lang="en-US" altLang="tr-TR" dirty="0"/>
              <a:t>: </a:t>
            </a:r>
            <a:r>
              <a:rPr lang="en-US" altLang="tr-TR" dirty="0">
                <a:hlinkClick r:id="rId2"/>
              </a:rPr>
              <a:t>http://www.ascii-code.com</a:t>
            </a:r>
            <a:r>
              <a:rPr lang="en-US" altLang="tr-TR" dirty="0"/>
              <a:t>)</a:t>
            </a:r>
          </a:p>
          <a:p>
            <a:endParaRPr lang="tr-TR" altLang="tr-TR" dirty="0" smtClean="0"/>
          </a:p>
          <a:p>
            <a:endParaRPr lang="tr-TR" altLang="tr-TR" dirty="0"/>
          </a:p>
          <a:p>
            <a:r>
              <a:rPr lang="en-US" altLang="tr-TR" dirty="0"/>
              <a:t>What is important for us is the following three rules:</a:t>
            </a:r>
          </a:p>
          <a:p>
            <a:pPr lvl="4"/>
            <a:endParaRPr lang="tr-TR" altLang="tr-TR" sz="1800" dirty="0" smtClean="0"/>
          </a:p>
          <a:p>
            <a:pPr lvl="1"/>
            <a:r>
              <a:rPr lang="en-US" altLang="tr-TR" sz="2400" dirty="0" smtClean="0"/>
              <a:t>All </a:t>
            </a:r>
            <a:r>
              <a:rPr lang="en-US" altLang="tr-TR" sz="2400" dirty="0"/>
              <a:t>lowercase letters (</a:t>
            </a:r>
            <a:r>
              <a:rPr lang="en-US" altLang="tr-TR" sz="2400" dirty="0" err="1"/>
              <a:t>a,b,c</a:t>
            </a:r>
            <a:r>
              <a:rPr lang="en-US" altLang="tr-TR" sz="2400" dirty="0"/>
              <a:t>,...) are consecutive.</a:t>
            </a:r>
          </a:p>
          <a:p>
            <a:pPr lvl="4"/>
            <a:endParaRPr lang="tr-TR" altLang="tr-TR" sz="1800" dirty="0" smtClean="0"/>
          </a:p>
          <a:p>
            <a:pPr lvl="1"/>
            <a:r>
              <a:rPr lang="en-US" altLang="tr-TR" sz="2400" dirty="0" smtClean="0"/>
              <a:t>All </a:t>
            </a:r>
            <a:r>
              <a:rPr lang="en-US" altLang="tr-TR" sz="2400" dirty="0"/>
              <a:t>uppercase letters (A,B,C,...) are consecutive.</a:t>
            </a:r>
          </a:p>
          <a:p>
            <a:pPr lvl="4"/>
            <a:endParaRPr lang="tr-TR" altLang="tr-TR" sz="1800" dirty="0" smtClean="0"/>
          </a:p>
          <a:p>
            <a:pPr lvl="1"/>
            <a:r>
              <a:rPr lang="en-US" altLang="tr-TR" sz="2400" dirty="0" smtClean="0"/>
              <a:t>All </a:t>
            </a:r>
            <a:r>
              <a:rPr lang="en-US" altLang="tr-TR" sz="2400" dirty="0"/>
              <a:t>digits are consecutive.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41055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ASCII table (partial)</a:t>
            </a:r>
            <a:endParaRPr lang="tr-TR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217" y="974164"/>
            <a:ext cx="9691965" cy="546249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07491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Characters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A character variable actually stores the ASCII value of the corresponding letter, digit, or sign.</a:t>
            </a:r>
          </a:p>
          <a:p>
            <a:endParaRPr lang="tr-TR" altLang="tr-TR" dirty="0"/>
          </a:p>
          <a:p>
            <a:r>
              <a:rPr lang="en-US" altLang="tr-TR" dirty="0"/>
              <a:t>I/O functions (</a:t>
            </a:r>
            <a:r>
              <a:rPr lang="en-US" altLang="tr-TR" dirty="0" err="1"/>
              <a:t>printf</a:t>
            </a:r>
            <a:r>
              <a:rPr lang="en-US" altLang="tr-TR" dirty="0"/>
              <a:t>(), </a:t>
            </a:r>
            <a:r>
              <a:rPr lang="en-US" altLang="tr-TR" dirty="0" err="1"/>
              <a:t>scanf</a:t>
            </a:r>
            <a:r>
              <a:rPr lang="en-US" altLang="tr-TR" dirty="0"/>
              <a:t>(), etc.) do the translation between the image of a character displayed on the screen and the ASCII code that is actually stored in the memory of the computer.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167070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Characters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Note that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a</a:t>
            </a:r>
            <a:r>
              <a:rPr lang="en-US" altLang="tr-TR" dirty="0"/>
              <a:t> and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A</a:t>
            </a:r>
            <a:r>
              <a:rPr lang="en-US" altLang="tr-TR" dirty="0"/>
              <a:t> have different ASCII codes (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97</a:t>
            </a:r>
            <a:r>
              <a:rPr lang="en-US" altLang="tr-TR" dirty="0"/>
              <a:t> and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65</a:t>
            </a:r>
            <a:r>
              <a:rPr lang="en-US" altLang="tr-TR" dirty="0"/>
              <a:t>).</a:t>
            </a:r>
          </a:p>
          <a:p>
            <a:pPr>
              <a:lnSpc>
                <a:spcPct val="90000"/>
              </a:lnSpc>
            </a:pPr>
            <a:endParaRPr lang="tr-TR" altLang="tr-TR" dirty="0"/>
          </a:p>
          <a:p>
            <a:pPr>
              <a:lnSpc>
                <a:spcPct val="90000"/>
              </a:lnSpc>
            </a:pPr>
            <a:r>
              <a:rPr lang="en-US" altLang="tr-TR" dirty="0"/>
              <a:t>You could also have a variable with name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a</a:t>
            </a:r>
            <a:r>
              <a:rPr lang="en-US" altLang="tr-TR" dirty="0"/>
              <a:t>. To differentiate between the variable and the character, we specify all characters in single quotes, such as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‘a’</a:t>
            </a:r>
            <a:r>
              <a:rPr lang="en-US" altLang="tr-TR" dirty="0"/>
              <a:t>. Variable names are never given in quotes.</a:t>
            </a:r>
          </a:p>
          <a:p>
            <a:pPr lvl="1">
              <a:lnSpc>
                <a:spcPct val="90000"/>
              </a:lnSpc>
            </a:pPr>
            <a:r>
              <a:rPr lang="en-US" altLang="tr-TR" sz="2000" dirty="0"/>
              <a:t>Example:	</a:t>
            </a:r>
            <a:r>
              <a:rPr lang="en-US" altLang="tr-TR" sz="1800" b="1" dirty="0">
                <a:solidFill>
                  <a:srgbClr val="0000C8"/>
                </a:solidFill>
                <a:latin typeface="Courier New" panose="02070309020205020404" pitchFamily="49" charset="0"/>
              </a:rPr>
              <a:t>char </a:t>
            </a:r>
            <a:r>
              <a:rPr lang="en-US" altLang="tr-TR" sz="18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ch</a:t>
            </a:r>
            <a:r>
              <a:rPr lang="en-US" altLang="tr-TR" sz="1800" b="1" dirty="0">
                <a:solidFill>
                  <a:srgbClr val="0000C8"/>
                </a:solidFill>
                <a:latin typeface="Courier New" panose="02070309020205020404" pitchFamily="49" charset="0"/>
              </a:rPr>
              <a:t>;</a:t>
            </a:r>
          </a:p>
          <a:p>
            <a:pPr lvl="2" indent="4763">
              <a:lnSpc>
                <a:spcPct val="90000"/>
              </a:lnSpc>
              <a:buNone/>
            </a:pPr>
            <a:r>
              <a:rPr lang="en-US" altLang="tr-TR" sz="1800" b="1" dirty="0">
                <a:solidFill>
                  <a:srgbClr val="0000C8"/>
                </a:solidFill>
                <a:latin typeface="Courier New" panose="02070309020205020404" pitchFamily="49" charset="0"/>
              </a:rPr>
              <a:t>	</a:t>
            </a:r>
            <a:r>
              <a:rPr lang="en-US" altLang="tr-TR" sz="18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ch</a:t>
            </a:r>
            <a:r>
              <a:rPr lang="en-US" altLang="tr-TR" sz="1800" b="1" dirty="0">
                <a:solidFill>
                  <a:srgbClr val="0000C8"/>
                </a:solidFill>
                <a:latin typeface="Courier New" panose="02070309020205020404" pitchFamily="49" charset="0"/>
              </a:rPr>
              <a:t>=‘a’;</a:t>
            </a:r>
          </a:p>
          <a:p>
            <a:pPr>
              <a:lnSpc>
                <a:spcPct val="90000"/>
              </a:lnSpc>
            </a:pPr>
            <a:endParaRPr lang="tr-TR" altLang="tr-TR" dirty="0"/>
          </a:p>
          <a:p>
            <a:pPr>
              <a:lnSpc>
                <a:spcPct val="90000"/>
              </a:lnSpc>
            </a:pPr>
            <a:r>
              <a:rPr lang="en-US" altLang="tr-TR" dirty="0"/>
              <a:t>Note that using double quotes makes it a string (to be discussed later in the course) rather than a character. Thus,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‘a’</a:t>
            </a:r>
            <a:r>
              <a:rPr lang="en-US" altLang="tr-TR" dirty="0"/>
              <a:t> and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"a"</a:t>
            </a:r>
            <a:r>
              <a:rPr lang="en-US" altLang="tr-TR" dirty="0"/>
              <a:t> are different.</a:t>
            </a:r>
          </a:p>
          <a:p>
            <a:pPr>
              <a:lnSpc>
                <a:spcPct val="90000"/>
              </a:lnSpc>
            </a:pPr>
            <a:endParaRPr lang="tr-TR" altLang="tr-TR" dirty="0"/>
          </a:p>
          <a:p>
            <a:pPr>
              <a:lnSpc>
                <a:spcPct val="90000"/>
              </a:lnSpc>
            </a:pPr>
            <a:r>
              <a:rPr lang="en-US" altLang="tr-TR" dirty="0"/>
              <a:t>Similarly,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1</a:t>
            </a:r>
            <a:r>
              <a:rPr lang="en-US" altLang="tr-TR" dirty="0"/>
              <a:t> and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‘1’</a:t>
            </a:r>
            <a:r>
              <a:rPr lang="en-US" altLang="tr-TR" dirty="0"/>
              <a:t> are different. Former has the value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1 </a:t>
            </a:r>
            <a:r>
              <a:rPr lang="en-US" altLang="tr-TR" dirty="0"/>
              <a:t>whereas the latter has the ASCII value of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49</a:t>
            </a:r>
            <a:r>
              <a:rPr lang="en-US" altLang="tr-TR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76583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Characters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/>
              <a:t>Example: Consider the code segment below.</a:t>
            </a:r>
          </a:p>
          <a:p>
            <a:pPr lvl="2" indent="4763">
              <a:buNone/>
            </a:pP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char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ch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;</a:t>
            </a:r>
          </a:p>
          <a:p>
            <a:pPr lvl="2" indent="4763">
              <a:buNone/>
            </a:pP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ch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=‘A’;</a:t>
            </a:r>
          </a:p>
          <a:p>
            <a:pPr lvl="2" indent="4763">
              <a:buNone/>
            </a:pP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printf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("Output is %c",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ch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);</a:t>
            </a:r>
          </a:p>
          <a:p>
            <a:pPr lvl="4"/>
            <a:endParaRPr lang="tr-TR" altLang="tr-TR" sz="2000" dirty="0" smtClean="0"/>
          </a:p>
          <a:p>
            <a:pPr lvl="1"/>
            <a:r>
              <a:rPr lang="en-US" altLang="tr-TR" sz="2600" dirty="0" smtClean="0"/>
              <a:t>The </a:t>
            </a:r>
            <a:r>
              <a:rPr lang="en-US" altLang="tr-TR" sz="2600" dirty="0"/>
              <a:t>string in </a:t>
            </a:r>
            <a:r>
              <a:rPr lang="en-US" altLang="tr-TR" sz="2600" dirty="0" err="1"/>
              <a:t>printf</a:t>
            </a:r>
            <a:r>
              <a:rPr lang="en-US" altLang="tr-TR" sz="2600" dirty="0"/>
              <a:t>() is stored as</a:t>
            </a:r>
          </a:p>
          <a:p>
            <a:pPr lvl="2" indent="4763">
              <a:buNone/>
            </a:pP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79,117,116,112,117,116,32,105,115,32,37,99</a:t>
            </a:r>
          </a:p>
          <a:p>
            <a:pPr marL="457200" lvl="1" indent="0">
              <a:buNone/>
            </a:pPr>
            <a:r>
              <a:rPr lang="tr-TR" altLang="tr-TR" sz="2400" dirty="0" smtClean="0"/>
              <a:t>      </a:t>
            </a:r>
            <a:r>
              <a:rPr lang="en-US" altLang="tr-TR" sz="2400" dirty="0" smtClean="0"/>
              <a:t>which </a:t>
            </a:r>
            <a:r>
              <a:rPr lang="en-US" altLang="tr-TR" sz="2400" dirty="0"/>
              <a:t>are the ASCII codes of the characters in the string.</a:t>
            </a:r>
          </a:p>
          <a:p>
            <a:endParaRPr lang="tr-TR" altLang="tr-TR" sz="2800" dirty="0"/>
          </a:p>
          <a:p>
            <a:pPr lvl="1"/>
            <a:r>
              <a:rPr lang="en-US" altLang="tr-TR" sz="2600" dirty="0"/>
              <a:t>When </a:t>
            </a:r>
            <a:r>
              <a:rPr lang="en-US" altLang="tr-TR" sz="2600" dirty="0" err="1"/>
              <a:t>printf</a:t>
            </a:r>
            <a:r>
              <a:rPr lang="en-US" altLang="tr-TR" sz="2600" dirty="0"/>
              <a:t>() is executed, it first replaces </a:t>
            </a:r>
            <a:r>
              <a:rPr lang="en-US" altLang="tr-TR" sz="2600" b="1" dirty="0">
                <a:solidFill>
                  <a:srgbClr val="0000C8"/>
                </a:solidFill>
                <a:latin typeface="Courier New" panose="02070309020205020404" pitchFamily="49" charset="0"/>
              </a:rPr>
              <a:t>37,99</a:t>
            </a:r>
            <a:r>
              <a:rPr lang="en-US" altLang="tr-TR" sz="2600" dirty="0"/>
              <a:t> (</a:t>
            </a:r>
            <a:r>
              <a:rPr lang="en-US" altLang="tr-TR" sz="2600" b="1" dirty="0">
                <a:solidFill>
                  <a:srgbClr val="0000C8"/>
                </a:solidFill>
                <a:latin typeface="Courier New" panose="02070309020205020404" pitchFamily="49" charset="0"/>
              </a:rPr>
              <a:t>%c</a:t>
            </a:r>
            <a:r>
              <a:rPr lang="en-US" altLang="tr-TR" sz="2600" dirty="0"/>
              <a:t>) with </a:t>
            </a:r>
            <a:r>
              <a:rPr lang="en-US" altLang="tr-TR" sz="2600" b="1" dirty="0">
                <a:solidFill>
                  <a:srgbClr val="0000C8"/>
                </a:solidFill>
                <a:latin typeface="Courier New" panose="02070309020205020404" pitchFamily="49" charset="0"/>
              </a:rPr>
              <a:t>65</a:t>
            </a:r>
            <a:r>
              <a:rPr lang="en-US" altLang="tr-TR" sz="2600" dirty="0"/>
              <a:t> (</a:t>
            </a:r>
            <a:r>
              <a:rPr lang="en-US" altLang="tr-TR" sz="2600" b="1" dirty="0">
                <a:solidFill>
                  <a:srgbClr val="0000C8"/>
                </a:solidFill>
                <a:latin typeface="Courier New" panose="02070309020205020404" pitchFamily="49" charset="0"/>
              </a:rPr>
              <a:t>A</a:t>
            </a:r>
            <a:r>
              <a:rPr lang="en-US" altLang="tr-TR" sz="2600" dirty="0"/>
              <a:t>), and then displays the corresponding characters on the screen.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10433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Constants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30634"/>
            <a:ext cx="11480800" cy="5442461"/>
          </a:xfrm>
        </p:spPr>
        <p:txBody>
          <a:bodyPr/>
          <a:lstStyle/>
          <a:p>
            <a:r>
              <a:rPr lang="en-US" altLang="tr-TR" dirty="0"/>
              <a:t>Syntax:</a:t>
            </a:r>
          </a:p>
          <a:p>
            <a:pPr lvl="2">
              <a:buFontTx/>
              <a:buNone/>
            </a:pPr>
            <a:r>
              <a:rPr lang="en-US" altLang="tr-TR" sz="1800" b="1" u="sng" dirty="0">
                <a:solidFill>
                  <a:srgbClr val="0000C8"/>
                </a:solidFill>
                <a:latin typeface="Courier New" panose="02070309020205020404" pitchFamily="49" charset="0"/>
              </a:rPr>
              <a:t>#define</a:t>
            </a:r>
            <a:r>
              <a:rPr lang="en-US" altLang="tr-TR" sz="1800" b="1" dirty="0">
                <a:solidFill>
                  <a:srgbClr val="0000C8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800" b="1" dirty="0" smtClean="0">
                <a:solidFill>
                  <a:srgbClr val="0000C8"/>
                </a:solidFill>
                <a:latin typeface="Courier New" panose="02070309020205020404" pitchFamily="49" charset="0"/>
              </a:rPr>
              <a:t>CONSTANT_NAME </a:t>
            </a:r>
            <a:r>
              <a:rPr lang="en-US" altLang="tr-TR" sz="18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constant_value</a:t>
            </a:r>
            <a:endParaRPr lang="en-US" altLang="tr-TR" sz="1800" b="1" dirty="0">
              <a:solidFill>
                <a:srgbClr val="0000C8"/>
              </a:solidFill>
              <a:latin typeface="Courier New" panose="02070309020205020404" pitchFamily="49" charset="0"/>
            </a:endParaRPr>
          </a:p>
          <a:p>
            <a:pPr lvl="4"/>
            <a:endParaRPr lang="tr-TR" altLang="tr-TR" dirty="0" smtClean="0"/>
          </a:p>
          <a:p>
            <a:r>
              <a:rPr lang="en-US" altLang="tr-TR" dirty="0" smtClean="0"/>
              <a:t>As </a:t>
            </a:r>
            <a:r>
              <a:rPr lang="en-US" altLang="tr-TR" dirty="0"/>
              <a:t>the name implies, variables store values that vary while constants represent fixed values.</a:t>
            </a:r>
          </a:p>
          <a:p>
            <a:pPr lvl="4"/>
            <a:endParaRPr lang="tr-TR" altLang="tr-TR" sz="1000" dirty="0"/>
          </a:p>
          <a:p>
            <a:r>
              <a:rPr lang="en-US" altLang="tr-TR" dirty="0"/>
              <a:t>Note that there is no storage when you use constants. Actually, when you compile your program, the compiler replaces the constant name with the value you defined.</a:t>
            </a:r>
          </a:p>
          <a:p>
            <a:pPr lvl="4"/>
            <a:endParaRPr lang="tr-TR" altLang="tr-TR" sz="1000" dirty="0"/>
          </a:p>
          <a:p>
            <a:r>
              <a:rPr lang="en-US" altLang="tr-TR" dirty="0"/>
              <a:t>The pre-processor replaces every occurrence of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constant_name</a:t>
            </a:r>
            <a:r>
              <a:rPr lang="en-US" altLang="tr-TR" dirty="0"/>
              <a:t> with everything that is to the right of 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constant_name</a:t>
            </a:r>
            <a:r>
              <a:rPr lang="en-US" altLang="tr-TR" dirty="0"/>
              <a:t> in the definition.</a:t>
            </a:r>
          </a:p>
          <a:p>
            <a:pPr lvl="1"/>
            <a:r>
              <a:rPr lang="en-US" altLang="tr-TR" sz="2000" dirty="0"/>
              <a:t>Note that there is no semicolon at the end of the definition.</a:t>
            </a:r>
          </a:p>
          <a:p>
            <a:pPr lvl="4"/>
            <a:endParaRPr lang="tr-TR" altLang="tr-TR" sz="1000" dirty="0"/>
          </a:p>
          <a:p>
            <a:r>
              <a:rPr lang="en-US" altLang="tr-TR" dirty="0"/>
              <a:t>Conventionally, we use names in uppercase for constants.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62951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Enumerated type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97528"/>
            <a:ext cx="11480800" cy="5433154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/>
              <a:t>Used to define your own types.</a:t>
            </a:r>
          </a:p>
          <a:p>
            <a:pPr lvl="4" fontAlgn="auto">
              <a:spcAft>
                <a:spcPts val="0"/>
              </a:spcAft>
              <a:defRPr/>
            </a:pPr>
            <a:endParaRPr lang="tr-TR" sz="2000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sz="2800" dirty="0" smtClean="0"/>
              <a:t>Syntax</a:t>
            </a:r>
            <a:r>
              <a:rPr lang="en-US" sz="2800" dirty="0"/>
              <a:t>: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u="sng" dirty="0" err="1">
                <a:solidFill>
                  <a:srgbClr val="0000C8"/>
                </a:solidFill>
                <a:latin typeface="Courier New" pitchFamily="49" charset="0"/>
              </a:rPr>
              <a:t>enum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</a:t>
            </a:r>
            <a:r>
              <a:rPr lang="en-US" b="1" dirty="0" err="1">
                <a:solidFill>
                  <a:srgbClr val="008000"/>
                </a:solidFill>
                <a:latin typeface="Courier New" pitchFamily="49" charset="0"/>
              </a:rPr>
              <a:t>type_name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</a:t>
            </a:r>
            <a:r>
              <a:rPr lang="en-US" b="1" u="sng" dirty="0">
                <a:solidFill>
                  <a:srgbClr val="0000C8"/>
                </a:solidFill>
                <a:latin typeface="Courier New" pitchFamily="49" charset="0"/>
              </a:rPr>
              <a:t>{</a:t>
            </a:r>
            <a:endParaRPr lang="en-US" b="1" dirty="0">
              <a:solidFill>
                <a:srgbClr val="0000C8"/>
              </a:solidFill>
              <a:latin typeface="Courier New" pitchFamily="49" charset="0"/>
            </a:endParaRP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		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item_name</a:t>
            </a:r>
            <a:r>
              <a:rPr lang="en-US" b="1" dirty="0">
                <a:solidFill>
                  <a:srgbClr val="008000"/>
                </a:solidFill>
                <a:latin typeface="Courier New" pitchFamily="49" charset="0"/>
              </a:rPr>
              <a:t>=</a:t>
            </a:r>
            <a:r>
              <a:rPr lang="en-US" b="1" dirty="0" err="1">
                <a:solidFill>
                  <a:srgbClr val="008000"/>
                </a:solidFill>
                <a:latin typeface="Courier New" pitchFamily="49" charset="0"/>
              </a:rPr>
              <a:t>constant_int_value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, ...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} </a:t>
            </a:r>
            <a:r>
              <a:rPr lang="en-US" b="1" dirty="0" err="1">
                <a:solidFill>
                  <a:srgbClr val="008000"/>
                </a:solidFill>
                <a:latin typeface="Courier New" pitchFamily="49" charset="0"/>
              </a:rPr>
              <a:t>variable_list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;</a:t>
            </a:r>
            <a:endParaRPr lang="en-US" dirty="0"/>
          </a:p>
          <a:p>
            <a:pPr lvl="4" fontAlgn="auto">
              <a:spcAft>
                <a:spcPts val="0"/>
              </a:spcAft>
              <a:defRPr/>
            </a:pPr>
            <a:endParaRPr lang="tr-TR" sz="2000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sz="2800" dirty="0" smtClean="0"/>
              <a:t>By </a:t>
            </a:r>
            <a:r>
              <a:rPr lang="en-US" sz="2800" dirty="0"/>
              <a:t>default, the value of the first item is 0, and it increases by one for consecutive items. However, you may change the default value by specifying the constant value explicitly.</a:t>
            </a:r>
          </a:p>
          <a:p>
            <a:pPr lvl="4" fontAlgn="auto">
              <a:spcAft>
                <a:spcPts val="0"/>
              </a:spcAft>
              <a:defRPr/>
            </a:pPr>
            <a:endParaRPr lang="tr-TR" sz="2000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sz="2800" dirty="0" err="1" smtClean="0"/>
              <a:t>Eg</a:t>
            </a:r>
            <a:r>
              <a:rPr lang="en-US" sz="2800" dirty="0"/>
              <a:t>:	</a:t>
            </a:r>
            <a:r>
              <a:rPr lang="en-US" sz="2000" b="1" dirty="0" err="1">
                <a:solidFill>
                  <a:srgbClr val="0000C8"/>
                </a:solidFill>
                <a:latin typeface="Courier New" pitchFamily="49" charset="0"/>
              </a:rPr>
              <a:t>enum</a:t>
            </a:r>
            <a:r>
              <a:rPr lang="en-US" sz="2000" b="1" dirty="0">
                <a:solidFill>
                  <a:srgbClr val="0000C8"/>
                </a:solidFill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0000C8"/>
                </a:solidFill>
                <a:latin typeface="Courier New" pitchFamily="49" charset="0"/>
              </a:rPr>
              <a:t>boolean</a:t>
            </a:r>
            <a:r>
              <a:rPr lang="en-US" sz="2000" b="1" dirty="0">
                <a:solidFill>
                  <a:srgbClr val="0000C8"/>
                </a:solidFill>
                <a:latin typeface="Courier New" pitchFamily="49" charset="0"/>
              </a:rPr>
              <a:t> {FALSE,TRUE} v1, v2;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enum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days {SUN,MON,TUE,WED,THU,FRI,SAT};</a:t>
            </a:r>
          </a:p>
          <a:p>
            <a:pPr lvl="2" fontAlgn="auto">
              <a:spcAft>
                <a:spcPts val="0"/>
              </a:spcAft>
              <a:buNone/>
              <a:defRPr/>
            </a:pP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enum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 {one=1,five=5,six,seven,ten=10,eleven} </a:t>
            </a:r>
            <a:r>
              <a:rPr lang="en-US" b="1" dirty="0" err="1">
                <a:solidFill>
                  <a:srgbClr val="0000C8"/>
                </a:solidFill>
                <a:latin typeface="Courier New" pitchFamily="49" charset="0"/>
              </a:rPr>
              <a:t>num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31080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Operators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800" dirty="0">
                <a:solidFill>
                  <a:srgbClr val="FF0000"/>
                </a:solidFill>
              </a:rPr>
              <a:t>Assignment operator (=)</a:t>
            </a:r>
          </a:p>
          <a:p>
            <a:pPr lvl="4"/>
            <a:endParaRPr lang="tr-TR" altLang="tr-TR" sz="1800" dirty="0" smtClean="0"/>
          </a:p>
          <a:p>
            <a:pPr lvl="1"/>
            <a:r>
              <a:rPr lang="en-US" altLang="tr-TR" sz="2400" dirty="0" smtClean="0"/>
              <a:t>Note </a:t>
            </a:r>
            <a:r>
              <a:rPr lang="en-US" altLang="tr-TR" sz="2400" dirty="0"/>
              <a:t>that this is not the "equals" operator. It should be pronounced as "becomes." (Equals is another operator.)</a:t>
            </a:r>
          </a:p>
          <a:p>
            <a:pPr lvl="1"/>
            <a:endParaRPr lang="tr-TR" altLang="tr-TR" sz="2400" dirty="0"/>
          </a:p>
          <a:p>
            <a:pPr lvl="1"/>
            <a:r>
              <a:rPr lang="en-US" altLang="tr-TR" sz="2400" dirty="0"/>
              <a:t>The value of the expression on the RHS is assigned (copied) to the LHS.</a:t>
            </a:r>
          </a:p>
          <a:p>
            <a:pPr lvl="1"/>
            <a:endParaRPr lang="tr-TR" altLang="tr-TR" sz="2400" dirty="0"/>
          </a:p>
          <a:p>
            <a:pPr lvl="1"/>
            <a:r>
              <a:rPr lang="en-US" altLang="tr-TR" sz="2400" dirty="0"/>
              <a:t>It has right-to-left associativity.</a:t>
            </a:r>
          </a:p>
          <a:p>
            <a:pPr marL="1371600" lvl="3" indent="0">
              <a:buNone/>
            </a:pP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a=b=c=10;</a:t>
            </a:r>
          </a:p>
          <a:p>
            <a:pPr marL="857250" lvl="2" indent="0">
              <a:buNone/>
            </a:pPr>
            <a:r>
              <a:rPr lang="en-US" altLang="tr-TR" dirty="0"/>
              <a:t>makes all three variables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10</a:t>
            </a:r>
            <a:r>
              <a:rPr lang="en-US" altLang="tr-TR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64774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Assignment and type conversion</a:t>
            </a:r>
            <a:endParaRPr lang="en-GB" altLang="tr-TR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When a variable of a narrower type is assigned to a variable of wider type, no problem.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err="1"/>
              <a:t>Eg</a:t>
            </a:r>
            <a:r>
              <a:rPr lang="en-US" dirty="0"/>
              <a:t>:  </a:t>
            </a:r>
            <a:r>
              <a:rPr lang="en-US" sz="2400" b="1" dirty="0" err="1">
                <a:latin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</a:rPr>
              <a:t> a=10;   </a:t>
            </a:r>
          </a:p>
          <a:p>
            <a:pPr marL="344487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float f;</a:t>
            </a:r>
          </a:p>
          <a:p>
            <a:pPr marL="344487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f=a;</a:t>
            </a:r>
          </a:p>
          <a:p>
            <a:pPr fontAlgn="auto">
              <a:spcAft>
                <a:spcPts val="0"/>
              </a:spcAft>
              <a:defRPr/>
            </a:pPr>
            <a:endParaRPr lang="tr-TR" dirty="0"/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However, there is loss of information in reverse direction.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err="1"/>
              <a:t>Eg</a:t>
            </a:r>
            <a:r>
              <a:rPr lang="en-US" dirty="0"/>
              <a:t>:  </a:t>
            </a:r>
            <a:r>
              <a:rPr lang="en-US" sz="2400" b="1" dirty="0">
                <a:latin typeface="Courier New" pitchFamily="49" charset="0"/>
              </a:rPr>
              <a:t>float f=10.9;</a:t>
            </a:r>
            <a:r>
              <a:rPr lang="en-US" dirty="0"/>
              <a:t> </a:t>
            </a:r>
          </a:p>
          <a:p>
            <a:pPr marL="344487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</a:t>
            </a:r>
            <a:r>
              <a:rPr lang="en-US" sz="2400" b="1" dirty="0" err="1">
                <a:latin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</a:rPr>
              <a:t> a;</a:t>
            </a:r>
          </a:p>
          <a:p>
            <a:pPr marL="344487" lvl="1" indent="0" fontAlgn="auto">
              <a:spcAft>
                <a:spcPts val="0"/>
              </a:spcAft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a=f;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91768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Operators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rgbClr val="FF0000"/>
                </a:solidFill>
              </a:rPr>
              <a:t>Arithmetic operators </a:t>
            </a:r>
            <a:r>
              <a:rPr lang="en-US" sz="2800" dirty="0" smtClean="0">
                <a:solidFill>
                  <a:srgbClr val="FF0000"/>
                </a:solidFill>
              </a:rPr>
              <a:t>(+,</a:t>
            </a:r>
            <a:r>
              <a:rPr lang="tr-TR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-,</a:t>
            </a:r>
            <a:r>
              <a:rPr lang="tr-TR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*,</a:t>
            </a:r>
            <a:r>
              <a:rPr lang="tr-TR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/,</a:t>
            </a:r>
            <a:r>
              <a:rPr lang="tr-TR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%)</a:t>
            </a:r>
            <a:endParaRPr lang="en-US" sz="2800" dirty="0">
              <a:solidFill>
                <a:srgbClr val="FF0000"/>
              </a:solidFill>
            </a:endParaRPr>
          </a:p>
          <a:p>
            <a:pPr lvl="4" fontAlgn="auto">
              <a:spcAft>
                <a:spcPts val="0"/>
              </a:spcAft>
              <a:defRPr/>
            </a:pPr>
            <a:endParaRPr lang="tr-TR" sz="1800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sz="2400" dirty="0" smtClean="0"/>
              <a:t>General </a:t>
            </a:r>
            <a:r>
              <a:rPr lang="en-US" sz="2400" dirty="0"/>
              <a:t>meanings are obvious.</a:t>
            </a:r>
          </a:p>
          <a:p>
            <a:pPr lvl="1" fontAlgn="auto">
              <a:spcAft>
                <a:spcPts val="0"/>
              </a:spcAft>
              <a:defRPr/>
            </a:pPr>
            <a:endParaRPr lang="tr-TR" sz="2400" dirty="0"/>
          </a:p>
          <a:p>
            <a:pPr lvl="1" fontAlgn="auto">
              <a:spcAft>
                <a:spcPts val="0"/>
              </a:spcAft>
              <a:defRPr/>
            </a:pPr>
            <a:r>
              <a:rPr lang="en-US" sz="2400" dirty="0"/>
              <a:t>What is important is the following: If one of the operands is of a wider type, the result is also of that type. (Its importance will be more obvious soon.)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err="1"/>
              <a:t>Eg</a:t>
            </a:r>
            <a:r>
              <a:rPr lang="en-US" dirty="0"/>
              <a:t>: Result of </a:t>
            </a:r>
            <a:r>
              <a:rPr lang="en-US" dirty="0" err="1"/>
              <a:t>int+float</a:t>
            </a:r>
            <a:r>
              <a:rPr lang="en-US" dirty="0"/>
              <a:t> is float. Result of </a:t>
            </a:r>
            <a:r>
              <a:rPr lang="en-US" dirty="0" err="1"/>
              <a:t>float+double</a:t>
            </a:r>
            <a:r>
              <a:rPr lang="en-US" dirty="0"/>
              <a:t> is double.</a:t>
            </a:r>
          </a:p>
          <a:p>
            <a:pPr lvl="1" fontAlgn="auto">
              <a:spcAft>
                <a:spcPts val="0"/>
              </a:spcAft>
              <a:defRPr/>
            </a:pPr>
            <a:endParaRPr lang="tr-TR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85817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Operators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Logic operators (&amp;&amp;, ||, !)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Logic </a:t>
            </a:r>
            <a:r>
              <a:rPr lang="en-US" dirty="0"/>
              <a:t>operators take integer class operands.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/>
              <a:t>Zero means false.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/>
              <a:t>Anything non-zero means true.</a:t>
            </a:r>
            <a:endParaRPr lang="tr-TR" dirty="0"/>
          </a:p>
          <a:p>
            <a:pPr lvl="2" fontAlgn="auto">
              <a:spcAft>
                <a:spcPts val="0"/>
              </a:spcAft>
              <a:defRPr/>
            </a:pPr>
            <a:endParaRPr lang="en-US" dirty="0"/>
          </a:p>
          <a:p>
            <a:pPr lvl="1" fontAlgn="auto">
              <a:spcAft>
                <a:spcPts val="0"/>
              </a:spcAft>
              <a:defRPr/>
            </a:pPr>
            <a:r>
              <a:rPr lang="en-US" dirty="0"/>
              <a:t>"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&amp;&amp;</a:t>
            </a:r>
            <a:r>
              <a:rPr lang="en-US" dirty="0"/>
              <a:t>" does a logical-AND operation. (True only if both operands are true.)</a:t>
            </a:r>
            <a:endParaRPr lang="tr-TR" dirty="0"/>
          </a:p>
          <a:p>
            <a:pPr lvl="1" fontAlgn="auto">
              <a:spcAft>
                <a:spcPts val="0"/>
              </a:spcAft>
              <a:defRPr/>
            </a:pPr>
            <a:endParaRPr lang="en-US" dirty="0"/>
          </a:p>
          <a:p>
            <a:pPr lvl="1" fontAlgn="auto">
              <a:spcAft>
                <a:spcPts val="0"/>
              </a:spcAft>
              <a:defRPr/>
            </a:pPr>
            <a:r>
              <a:rPr lang="en-US" dirty="0"/>
              <a:t>"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||</a:t>
            </a:r>
            <a:r>
              <a:rPr lang="en-US" dirty="0"/>
              <a:t>" does a logical-OR operation. (False only if both operands are false.)</a:t>
            </a:r>
            <a:endParaRPr lang="tr-TR" dirty="0"/>
          </a:p>
          <a:p>
            <a:pPr lvl="1" fontAlgn="auto">
              <a:spcAft>
                <a:spcPts val="0"/>
              </a:spcAft>
              <a:defRPr/>
            </a:pPr>
            <a:endParaRPr lang="en-US" dirty="0"/>
          </a:p>
          <a:p>
            <a:pPr lvl="1" fontAlgn="auto">
              <a:spcAft>
                <a:spcPts val="0"/>
              </a:spcAft>
              <a:defRPr/>
            </a:pPr>
            <a:r>
              <a:rPr lang="en-US" dirty="0"/>
              <a:t>"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!</a:t>
            </a:r>
            <a:r>
              <a:rPr lang="en-US" dirty="0"/>
              <a:t>" does a negation operation. (Converts true to false, and false to true.)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87834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Operators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aphicFrame>
        <p:nvGraphicFramePr>
          <p:cNvPr id="9" name="Group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708547"/>
              </p:ext>
            </p:extLst>
          </p:nvPr>
        </p:nvGraphicFramePr>
        <p:xfrm>
          <a:off x="3619312" y="1767838"/>
          <a:ext cx="5230813" cy="2881314"/>
        </p:xfrm>
        <a:graphic>
          <a:graphicData uri="http://schemas.openxmlformats.org/drawingml/2006/table">
            <a:tbl>
              <a:tblPr/>
              <a:tblGrid>
                <a:gridCol w="1246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4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a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b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a &amp;&amp; b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a || b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true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true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true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true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true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false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false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true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false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true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false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true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false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false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false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anose="02040604050505020304" pitchFamily="18" charset="0"/>
                        </a:rPr>
                        <a:t>false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</a:endParaRPr>
                    </a:p>
                  </a:txBody>
                  <a:tcPr marL="91449" marR="91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04052" y="1118080"/>
            <a:ext cx="11480800" cy="51937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kern="0" dirty="0" smtClean="0"/>
              <a:t>Logic </a:t>
            </a:r>
            <a:r>
              <a:rPr lang="en-US" kern="0" dirty="0"/>
              <a:t>operators follow the logic </a:t>
            </a:r>
            <a:r>
              <a:rPr lang="en-US" kern="0" dirty="0" smtClean="0"/>
              <a:t>rules</a:t>
            </a:r>
            <a:endParaRPr lang="tr-TR" kern="0" dirty="0" smtClean="0"/>
          </a:p>
          <a:p>
            <a:pPr fontAlgn="auto">
              <a:spcAft>
                <a:spcPts val="0"/>
              </a:spcAft>
              <a:defRPr/>
            </a:pPr>
            <a:endParaRPr lang="en-US" kern="0" dirty="0"/>
          </a:p>
          <a:p>
            <a:pPr fontAlgn="auto">
              <a:spcAft>
                <a:spcPts val="0"/>
              </a:spcAft>
              <a:defRPr/>
            </a:pPr>
            <a:endParaRPr lang="tr-TR" kern="0" dirty="0" smtClean="0"/>
          </a:p>
          <a:p>
            <a:pPr fontAlgn="auto">
              <a:spcAft>
                <a:spcPts val="0"/>
              </a:spcAft>
              <a:defRPr/>
            </a:pPr>
            <a:endParaRPr lang="tr-TR" kern="0" dirty="0" smtClean="0"/>
          </a:p>
          <a:p>
            <a:pPr fontAlgn="auto">
              <a:spcAft>
                <a:spcPts val="0"/>
              </a:spcAft>
              <a:defRPr/>
            </a:pPr>
            <a:endParaRPr lang="tr-TR" kern="0" dirty="0"/>
          </a:p>
          <a:p>
            <a:pPr fontAlgn="auto">
              <a:spcAft>
                <a:spcPts val="0"/>
              </a:spcAft>
              <a:defRPr/>
            </a:pPr>
            <a:endParaRPr lang="tr-TR" kern="0" dirty="0" smtClean="0"/>
          </a:p>
          <a:p>
            <a:pPr fontAlgn="auto">
              <a:spcAft>
                <a:spcPts val="0"/>
              </a:spcAft>
              <a:defRPr/>
            </a:pPr>
            <a:endParaRPr lang="tr-TR" kern="0" dirty="0"/>
          </a:p>
          <a:p>
            <a:pPr fontAlgn="auto">
              <a:spcAft>
                <a:spcPts val="0"/>
              </a:spcAft>
              <a:defRPr/>
            </a:pPr>
            <a:endParaRPr lang="tr-TR" kern="0" dirty="0" smtClean="0"/>
          </a:p>
          <a:p>
            <a:pPr lvl="4" fontAlgn="auto">
              <a:spcAft>
                <a:spcPts val="0"/>
              </a:spcAft>
              <a:defRPr/>
            </a:pPr>
            <a:endParaRPr lang="tr-TR" kern="0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kern="0" dirty="0" smtClean="0"/>
              <a:t>The </a:t>
            </a:r>
            <a:r>
              <a:rPr lang="en-US" kern="0" dirty="0"/>
              <a:t>order of evaluation is from left to right</a:t>
            </a:r>
          </a:p>
          <a:p>
            <a:pPr lvl="4" fontAlgn="auto">
              <a:spcAft>
                <a:spcPts val="0"/>
              </a:spcAft>
              <a:defRPr/>
            </a:pPr>
            <a:endParaRPr lang="tr-TR" kern="0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kern="0" dirty="0" smtClean="0"/>
              <a:t>As </a:t>
            </a:r>
            <a:r>
              <a:rPr lang="en-US" kern="0" dirty="0"/>
              <a:t>usual parenthesis overrides default order</a:t>
            </a:r>
          </a:p>
          <a:p>
            <a:pPr fontAlgn="auto">
              <a:spcAft>
                <a:spcPts val="0"/>
              </a:spcAft>
              <a:defRPr/>
            </a:pP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54416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Operators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tr-TR" dirty="0"/>
              <a:t>If the first operand of the "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&amp;&amp;</a:t>
            </a:r>
            <a:r>
              <a:rPr lang="en-US" altLang="tr-TR" dirty="0"/>
              <a:t>" operator is false, the second operand is not evaluated at all (since it is obvious that the whole expression is false).</a:t>
            </a:r>
          </a:p>
          <a:p>
            <a:pPr lvl="4"/>
            <a:endParaRPr lang="tr-TR" altLang="tr-TR" dirty="0" smtClean="0"/>
          </a:p>
          <a:p>
            <a:pPr lvl="2"/>
            <a:r>
              <a:rPr lang="en-US" altLang="tr-TR" dirty="0" err="1" smtClean="0"/>
              <a:t>Eg</a:t>
            </a:r>
            <a:r>
              <a:rPr lang="en-US" altLang="tr-TR" dirty="0"/>
              <a:t>: In the expression below, if the values of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a,</a:t>
            </a:r>
            <a:r>
              <a:rPr lang="en-US" altLang="tr-TR" dirty="0"/>
              <a:t>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b</a:t>
            </a:r>
            <a:r>
              <a:rPr lang="en-US" altLang="tr-TR" dirty="0"/>
              <a:t> and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c</a:t>
            </a:r>
            <a:r>
              <a:rPr lang="en-US" altLang="tr-TR" dirty="0"/>
              <a:t> are initially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1, 0</a:t>
            </a:r>
            <a:r>
              <a:rPr lang="en-US" altLang="tr-TR" dirty="0"/>
              <a:t> and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1</a:t>
            </a:r>
            <a:r>
              <a:rPr lang="en-US" altLang="tr-TR" dirty="0"/>
              <a:t>, respectively,</a:t>
            </a:r>
          </a:p>
          <a:p>
            <a:pPr lvl="2">
              <a:buFontTx/>
              <a:buNone/>
            </a:pPr>
            <a:r>
              <a:rPr lang="en-US" altLang="tr-TR" dirty="0"/>
              <a:t>		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a =</a:t>
            </a:r>
            <a:r>
              <a:rPr lang="tr-TR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=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 b &amp;&amp; (c=2)</a:t>
            </a:r>
            <a:endParaRPr lang="en-US" altLang="tr-TR" dirty="0"/>
          </a:p>
          <a:p>
            <a:pPr lvl="2">
              <a:buFontTx/>
              <a:buNone/>
            </a:pPr>
            <a:r>
              <a:rPr lang="en-US" altLang="tr-TR" dirty="0"/>
              <a:t>	then the second operand is not evaluated at all, so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c</a:t>
            </a:r>
            <a:r>
              <a:rPr lang="en-US" altLang="tr-TR" dirty="0"/>
              <a:t> keeps its value as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1</a:t>
            </a:r>
            <a:r>
              <a:rPr lang="en-US" altLang="tr-TR" dirty="0"/>
              <a:t>.</a:t>
            </a:r>
            <a:endParaRPr lang="tr-TR" altLang="tr-TR" dirty="0"/>
          </a:p>
          <a:p>
            <a:pPr lvl="2">
              <a:buFontTx/>
              <a:buNone/>
            </a:pPr>
            <a:endParaRPr lang="tr-TR" altLang="tr-TR" dirty="0" smtClean="0"/>
          </a:p>
          <a:p>
            <a:pPr lvl="2">
              <a:buFontTx/>
              <a:buNone/>
            </a:pPr>
            <a:endParaRPr lang="en-US" altLang="tr-TR" dirty="0"/>
          </a:p>
          <a:p>
            <a:pPr lvl="1"/>
            <a:r>
              <a:rPr lang="en-US" altLang="tr-TR" dirty="0"/>
              <a:t>Similarly, if the first operand of the "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||</a:t>
            </a:r>
            <a:r>
              <a:rPr lang="en-US" altLang="tr-TR" dirty="0"/>
              <a:t>" operator is true, the second operand is not evaluated at all.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9822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Operators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Bitwise operators (&amp;, |, ^, &lt;&lt;, &gt;&gt;, ~)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Bitwise </a:t>
            </a:r>
            <a:r>
              <a:rPr lang="en-US" dirty="0"/>
              <a:t>operators take integer </a:t>
            </a:r>
            <a:r>
              <a:rPr lang="en-US" dirty="0" smtClean="0"/>
              <a:t>operands</a:t>
            </a:r>
            <a:r>
              <a:rPr lang="en-US" dirty="0"/>
              <a:t>.</a:t>
            </a:r>
          </a:p>
          <a:p>
            <a:pPr lvl="5" fontAlgn="auto">
              <a:spcAft>
                <a:spcPts val="0"/>
              </a:spcAft>
              <a:defRPr/>
            </a:pPr>
            <a:endParaRPr lang="tr-TR" dirty="0" smtClean="0"/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For </a:t>
            </a:r>
            <a:r>
              <a:rPr lang="en-US" dirty="0"/>
              <a:t>the logic operators, the variable represents a single logical value, true or false.</a:t>
            </a:r>
          </a:p>
          <a:p>
            <a:pPr lvl="5" fontAlgn="auto">
              <a:spcAft>
                <a:spcPts val="0"/>
              </a:spcAft>
              <a:defRPr/>
            </a:pPr>
            <a:endParaRPr lang="tr-TR" dirty="0" smtClean="0"/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For </a:t>
            </a:r>
            <a:r>
              <a:rPr lang="en-US" dirty="0"/>
              <a:t>the bitwise operators, each bit of the variable represents true or false.</a:t>
            </a:r>
          </a:p>
          <a:p>
            <a:pPr lvl="4" fontAlgn="auto">
              <a:spcAft>
                <a:spcPts val="0"/>
              </a:spcAft>
              <a:defRPr/>
            </a:pPr>
            <a:endParaRPr lang="tr-TR" b="1" dirty="0" smtClean="0">
              <a:solidFill>
                <a:srgbClr val="0000C8"/>
              </a:solidFill>
              <a:latin typeface="Courier New" pitchFamily="49" charset="0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8"/>
                </a:solidFill>
                <a:latin typeface="Courier New" pitchFamily="49" charset="0"/>
              </a:rPr>
              <a:t>&amp;</a:t>
            </a:r>
            <a:r>
              <a:rPr lang="en-US" dirty="0" smtClean="0"/>
              <a:t>,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|</a:t>
            </a:r>
            <a:r>
              <a:rPr lang="en-US" dirty="0"/>
              <a:t>, and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^</a:t>
            </a:r>
            <a:r>
              <a:rPr lang="en-US" dirty="0"/>
              <a:t> perform bitwise-AND, -OR, -XOR, respectively.</a:t>
            </a:r>
          </a:p>
          <a:p>
            <a:pPr lvl="4" fontAlgn="auto">
              <a:spcAft>
                <a:spcPts val="0"/>
              </a:spcAft>
              <a:defRPr/>
            </a:pPr>
            <a:endParaRPr lang="tr-TR" b="1" dirty="0" smtClean="0">
              <a:solidFill>
                <a:srgbClr val="0000C8"/>
              </a:solidFill>
              <a:latin typeface="Courier New" pitchFamily="49" charset="0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0000C8"/>
                </a:solidFill>
                <a:latin typeface="Courier New" pitchFamily="49" charset="0"/>
              </a:rPr>
              <a:t>&lt;&lt;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0000C8"/>
                </a:solidFill>
                <a:latin typeface="Courier New" pitchFamily="49" charset="0"/>
              </a:rPr>
              <a:t>&gt;&gt;</a:t>
            </a:r>
            <a:r>
              <a:rPr lang="en-US" dirty="0"/>
              <a:t> perform left- and right-shifts.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"</a:t>
            </a:r>
            <a:r>
              <a:rPr lang="en-US" b="1" dirty="0" smtClean="0">
                <a:solidFill>
                  <a:srgbClr val="0000C8"/>
                </a:solidFill>
                <a:latin typeface="Courier New" pitchFamily="49" charset="0"/>
              </a:rPr>
              <a:t>~</a:t>
            </a:r>
            <a:r>
              <a:rPr lang="en-US" dirty="0" smtClean="0"/>
              <a:t>" </a:t>
            </a:r>
            <a:r>
              <a:rPr lang="en-US" dirty="0"/>
              <a:t>takes bitwise one’s complement.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07781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Operators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394" y="1219200"/>
            <a:ext cx="8623611" cy="460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669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Operators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>
                <a:solidFill>
                  <a:srgbClr val="FF0000"/>
                </a:solidFill>
              </a:rPr>
              <a:t>Other assignment operators (+=, -=, *=, /=, %=)</a:t>
            </a:r>
          </a:p>
          <a:p>
            <a:pPr lvl="1"/>
            <a:endParaRPr lang="tr-TR" altLang="tr-TR" dirty="0" smtClean="0"/>
          </a:p>
          <a:p>
            <a:pPr lvl="1"/>
            <a:r>
              <a:rPr lang="en-US" altLang="tr-TR" dirty="0" smtClean="0"/>
              <a:t>Instead </a:t>
            </a:r>
            <a:r>
              <a:rPr lang="en-US" altLang="tr-TR" dirty="0"/>
              <a:t>of writing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a=</a:t>
            </a:r>
            <a:r>
              <a:rPr lang="en-US" altLang="tr-TR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a+b</a:t>
            </a:r>
            <a:r>
              <a:rPr lang="en-US" altLang="tr-TR" dirty="0"/>
              <a:t>, you can write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a+=b</a:t>
            </a:r>
            <a:r>
              <a:rPr lang="en-US" altLang="tr-TR" dirty="0"/>
              <a:t> in short. Similar with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-=</a:t>
            </a:r>
            <a:r>
              <a:rPr lang="en-US" altLang="tr-TR" dirty="0"/>
              <a:t>,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*=</a:t>
            </a:r>
            <a:r>
              <a:rPr lang="en-US" altLang="tr-TR" dirty="0"/>
              <a:t>,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/=</a:t>
            </a:r>
            <a:r>
              <a:rPr lang="en-US" altLang="tr-TR" dirty="0"/>
              <a:t>, and others.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8506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Operators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>
                <a:solidFill>
                  <a:srgbClr val="FF0000"/>
                </a:solidFill>
              </a:rPr>
              <a:t>Pre/Post increment/decrement operators (++, --)</a:t>
            </a:r>
          </a:p>
          <a:p>
            <a:pPr lvl="4"/>
            <a:endParaRPr lang="tr-TR" altLang="tr-TR" dirty="0" smtClean="0"/>
          </a:p>
          <a:p>
            <a:pPr lvl="1"/>
            <a:r>
              <a:rPr lang="en-US" altLang="tr-TR" dirty="0" smtClean="0"/>
              <a:t>The </a:t>
            </a:r>
            <a:r>
              <a:rPr lang="en-US" altLang="tr-TR" dirty="0"/>
              <a:t>operator ++ increments the value of the operand by 1.</a:t>
            </a:r>
          </a:p>
          <a:p>
            <a:pPr lvl="4"/>
            <a:endParaRPr lang="tr-TR" altLang="tr-TR" dirty="0" smtClean="0"/>
          </a:p>
          <a:p>
            <a:pPr lvl="2"/>
            <a:r>
              <a:rPr lang="en-US" altLang="tr-TR" dirty="0" smtClean="0"/>
              <a:t>If </a:t>
            </a:r>
            <a:r>
              <a:rPr lang="en-US" altLang="tr-TR" dirty="0"/>
              <a:t>the operator comes BEFORE the variable name, the value of the variable is incremented before being </a:t>
            </a:r>
            <a:r>
              <a:rPr lang="en-US" altLang="tr-TR" dirty="0" smtClean="0"/>
              <a:t>used</a:t>
            </a:r>
            <a:r>
              <a:rPr lang="tr-TR" altLang="tr-TR" dirty="0" smtClean="0"/>
              <a:t>.</a:t>
            </a:r>
          </a:p>
          <a:p>
            <a:pPr lvl="3"/>
            <a:r>
              <a:rPr lang="en-US" altLang="tr-TR" dirty="0" smtClean="0"/>
              <a:t>i.e</a:t>
            </a:r>
            <a:r>
              <a:rPr lang="en-US" altLang="tr-TR" dirty="0"/>
              <a:t>., the value of the expression is the incremented value. This is pre-increment.</a:t>
            </a:r>
          </a:p>
          <a:p>
            <a:pPr lvl="4"/>
            <a:endParaRPr lang="tr-TR" altLang="tr-TR" dirty="0" smtClean="0"/>
          </a:p>
          <a:p>
            <a:pPr lvl="2"/>
            <a:r>
              <a:rPr lang="en-US" altLang="tr-TR" dirty="0" smtClean="0"/>
              <a:t>In </a:t>
            </a:r>
            <a:r>
              <a:rPr lang="en-US" altLang="tr-TR" dirty="0"/>
              <a:t>post-increment, the operator is used after the variable name, and </a:t>
            </a:r>
            <a:r>
              <a:rPr lang="en-US" altLang="tr-TR" dirty="0" err="1"/>
              <a:t>incrementation</a:t>
            </a:r>
            <a:r>
              <a:rPr lang="en-US" altLang="tr-TR" dirty="0"/>
              <a:t> is performed after the value is </a:t>
            </a:r>
            <a:r>
              <a:rPr lang="en-US" altLang="tr-TR" dirty="0" smtClean="0"/>
              <a:t>used</a:t>
            </a:r>
            <a:r>
              <a:rPr lang="tr-TR" altLang="tr-TR" dirty="0" smtClean="0"/>
              <a:t>.</a:t>
            </a:r>
          </a:p>
          <a:p>
            <a:pPr lvl="3"/>
            <a:r>
              <a:rPr lang="en-US" altLang="tr-TR" dirty="0" smtClean="0"/>
              <a:t>i.e</a:t>
            </a:r>
            <a:r>
              <a:rPr lang="en-US" altLang="tr-TR" dirty="0"/>
              <a:t>., the value of the expression is the value of the variable before </a:t>
            </a:r>
            <a:r>
              <a:rPr lang="en-US" altLang="tr-TR" dirty="0" err="1"/>
              <a:t>incrementation</a:t>
            </a:r>
            <a:r>
              <a:rPr lang="en-US" altLang="tr-TR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03366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Operators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tr-TR" dirty="0" err="1"/>
              <a:t>Eg</a:t>
            </a:r>
            <a:r>
              <a:rPr lang="en-US" altLang="tr-TR" dirty="0"/>
              <a:t>:	</a:t>
            </a:r>
            <a:r>
              <a:rPr lang="en-US" altLang="tr-TR" sz="2000" b="1" dirty="0">
                <a:solidFill>
                  <a:srgbClr val="0000C8"/>
                </a:solidFill>
                <a:latin typeface="Courier New" panose="02070309020205020404" pitchFamily="49" charset="0"/>
              </a:rPr>
              <a:t>a=10;		c=10,</a:t>
            </a:r>
          </a:p>
          <a:p>
            <a:pPr lvl="1">
              <a:buFontTx/>
              <a:buNone/>
            </a:pPr>
            <a:r>
              <a:rPr lang="en-US" altLang="tr-TR" sz="2000" b="1" dirty="0">
                <a:solidFill>
                  <a:srgbClr val="0000C8"/>
                </a:solidFill>
                <a:latin typeface="Courier New" panose="02070309020205020404" pitchFamily="49" charset="0"/>
              </a:rPr>
              <a:t>			b=++a;	d=</a:t>
            </a:r>
            <a:r>
              <a:rPr lang="en-US" altLang="tr-TR" sz="20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c++</a:t>
            </a:r>
            <a:r>
              <a:rPr lang="en-US" altLang="tr-TR" sz="2000" b="1" dirty="0">
                <a:solidFill>
                  <a:srgbClr val="0000C8"/>
                </a:solidFill>
                <a:latin typeface="Courier New" panose="02070309020205020404" pitchFamily="49" charset="0"/>
              </a:rPr>
              <a:t>;</a:t>
            </a:r>
          </a:p>
          <a:p>
            <a:pPr marL="1254125" lvl="2" indent="0">
              <a:buNone/>
            </a:pPr>
            <a:endParaRPr lang="tr-TR" altLang="tr-TR" dirty="0" smtClean="0"/>
          </a:p>
          <a:p>
            <a:pPr marL="1254125" lvl="2" indent="0">
              <a:buNone/>
            </a:pPr>
            <a:r>
              <a:rPr lang="en-US" altLang="tr-TR" dirty="0" smtClean="0"/>
              <a:t>Both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a</a:t>
            </a:r>
            <a:r>
              <a:rPr lang="en-US" altLang="tr-TR" dirty="0"/>
              <a:t> and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c</a:t>
            </a:r>
            <a:r>
              <a:rPr lang="en-US" altLang="tr-TR" dirty="0"/>
              <a:t> will be come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11</a:t>
            </a:r>
            <a:r>
              <a:rPr lang="en-US" altLang="tr-TR" dirty="0"/>
              <a:t>, but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b</a:t>
            </a:r>
            <a:r>
              <a:rPr lang="en-US" altLang="tr-TR" dirty="0"/>
              <a:t> will be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11</a:t>
            </a:r>
            <a:r>
              <a:rPr lang="en-US" altLang="tr-TR" dirty="0"/>
              <a:t> while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d</a:t>
            </a:r>
            <a:r>
              <a:rPr lang="en-US" altLang="tr-TR" dirty="0"/>
              <a:t> is </a:t>
            </a:r>
            <a:r>
              <a:rPr lang="en-US" altLang="tr-TR" b="1" dirty="0">
                <a:solidFill>
                  <a:srgbClr val="0000C8"/>
                </a:solidFill>
                <a:latin typeface="Courier New" panose="02070309020205020404" pitchFamily="49" charset="0"/>
              </a:rPr>
              <a:t>10</a:t>
            </a:r>
            <a:r>
              <a:rPr lang="en-US" altLang="tr-TR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11696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/>
              <a:t>Comparison </a:t>
            </a:r>
            <a:r>
              <a:rPr lang="en-US" altLang="tr-TR" dirty="0"/>
              <a:t>Operators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>
                <a:solidFill>
                  <a:srgbClr val="FF0000"/>
                </a:solidFill>
              </a:rPr>
              <a:t>Comparison operators </a:t>
            </a:r>
            <a:r>
              <a:rPr lang="en-US" altLang="tr-TR" dirty="0" smtClean="0">
                <a:solidFill>
                  <a:srgbClr val="FF0000"/>
                </a:solidFill>
              </a:rPr>
              <a:t>(==,</a:t>
            </a:r>
            <a:r>
              <a:rPr lang="tr-TR" altLang="tr-TR" dirty="0" smtClean="0">
                <a:solidFill>
                  <a:srgbClr val="FF0000"/>
                </a:solidFill>
              </a:rPr>
              <a:t> </a:t>
            </a:r>
            <a:r>
              <a:rPr lang="en-US" altLang="tr-TR" dirty="0" smtClean="0">
                <a:solidFill>
                  <a:srgbClr val="FF0000"/>
                </a:solidFill>
              </a:rPr>
              <a:t>!=,</a:t>
            </a:r>
            <a:r>
              <a:rPr lang="tr-TR" altLang="tr-TR" dirty="0" smtClean="0">
                <a:solidFill>
                  <a:srgbClr val="FF0000"/>
                </a:solidFill>
              </a:rPr>
              <a:t> </a:t>
            </a:r>
            <a:r>
              <a:rPr lang="en-US" altLang="tr-TR" dirty="0" smtClean="0">
                <a:solidFill>
                  <a:srgbClr val="FF0000"/>
                </a:solidFill>
              </a:rPr>
              <a:t>&lt;,</a:t>
            </a:r>
            <a:r>
              <a:rPr lang="tr-TR" altLang="tr-TR" dirty="0" smtClean="0">
                <a:solidFill>
                  <a:srgbClr val="FF0000"/>
                </a:solidFill>
              </a:rPr>
              <a:t> </a:t>
            </a:r>
            <a:r>
              <a:rPr lang="en-US" altLang="tr-TR" dirty="0" smtClean="0">
                <a:solidFill>
                  <a:srgbClr val="FF0000"/>
                </a:solidFill>
              </a:rPr>
              <a:t>&lt;=,</a:t>
            </a:r>
            <a:r>
              <a:rPr lang="tr-TR" altLang="tr-TR" dirty="0" smtClean="0">
                <a:solidFill>
                  <a:srgbClr val="FF0000"/>
                </a:solidFill>
              </a:rPr>
              <a:t> </a:t>
            </a:r>
            <a:r>
              <a:rPr lang="en-US" altLang="tr-TR" dirty="0" smtClean="0">
                <a:solidFill>
                  <a:srgbClr val="FF0000"/>
                </a:solidFill>
              </a:rPr>
              <a:t>...)</a:t>
            </a:r>
            <a:endParaRPr lang="en-US" altLang="tr-TR" dirty="0">
              <a:solidFill>
                <a:srgbClr val="FF0000"/>
              </a:solidFill>
            </a:endParaRPr>
          </a:p>
          <a:p>
            <a:pPr lvl="4"/>
            <a:endParaRPr lang="tr-TR" altLang="tr-TR" dirty="0" smtClean="0"/>
          </a:p>
          <a:p>
            <a:pPr lvl="1"/>
            <a:r>
              <a:rPr lang="en-US" altLang="tr-TR" dirty="0" smtClean="0"/>
              <a:t>"</a:t>
            </a:r>
            <a:r>
              <a:rPr lang="en-US" altLang="tr-TR" b="1" dirty="0" smtClean="0">
                <a:solidFill>
                  <a:srgbClr val="0000C8"/>
                </a:solidFill>
                <a:latin typeface="Courier New" panose="02070309020205020404" pitchFamily="49" charset="0"/>
              </a:rPr>
              <a:t>==</a:t>
            </a:r>
            <a:r>
              <a:rPr lang="en-US" altLang="tr-TR" dirty="0" smtClean="0"/>
              <a:t>" </a:t>
            </a:r>
            <a:r>
              <a:rPr lang="en-US" altLang="tr-TR" dirty="0"/>
              <a:t>is the "is equal to" operator. Like all other comparison operators, it evaluates to a Boolean value of true or false, no matter what the operand types are.</a:t>
            </a:r>
          </a:p>
          <a:p>
            <a:pPr lvl="4"/>
            <a:endParaRPr lang="tr-TR" altLang="tr-TR" dirty="0" smtClean="0">
              <a:solidFill>
                <a:srgbClr val="FF0000"/>
              </a:solidFill>
            </a:endParaRPr>
          </a:p>
          <a:p>
            <a:pPr lvl="1"/>
            <a:r>
              <a:rPr lang="en-US" altLang="tr-TR" dirty="0" smtClean="0">
                <a:solidFill>
                  <a:srgbClr val="FF0000"/>
                </a:solidFill>
              </a:rPr>
              <a:t>IMPORTANT</a:t>
            </a:r>
            <a:r>
              <a:rPr lang="en-US" altLang="tr-TR" dirty="0">
                <a:solidFill>
                  <a:srgbClr val="FF0000"/>
                </a:solidFill>
              </a:rPr>
              <a:t>:</a:t>
            </a:r>
            <a:r>
              <a:rPr lang="en-US" altLang="tr-TR" dirty="0"/>
              <a:t> When you compare two float values that are supposed to be equal mathematically, the comparison may fail due to the loss of precision discussed before.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7565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/>
              <a:t>Comparison </a:t>
            </a:r>
            <a:r>
              <a:rPr lang="en-US" altLang="tr-TR" dirty="0"/>
              <a:t>Operators</a:t>
            </a:r>
            <a:endParaRPr lang="tr-TR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0792083"/>
              </p:ext>
            </p:extLst>
          </p:nvPr>
        </p:nvGraphicFramePr>
        <p:xfrm>
          <a:off x="2076451" y="1330325"/>
          <a:ext cx="8362950" cy="1779588"/>
        </p:xfrm>
        <a:graphic>
          <a:graphicData uri="http://schemas.openxmlformats.org/drawingml/2006/table">
            <a:tbl>
              <a:tblPr/>
              <a:tblGrid>
                <a:gridCol w="154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2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Symbol</a:t>
                      </a:r>
                      <a:endParaRPr kumimoji="0" lang="tr-T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Usage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Meaning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Comic Sans MS" pitchFamily="66" charset="0"/>
                        </a:rPr>
                        <a:t>==</a:t>
                      </a:r>
                      <a:endParaRPr kumimoji="0" lang="tr-TR" sz="2800" b="1" i="0" u="none" strike="noStrike" cap="none" normalizeH="0" baseline="0">
                        <a:ln>
                          <a:noFill/>
                        </a:ln>
                        <a:solidFill>
                          <a:srgbClr val="00009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 == y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is x equal to y?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Comic Sans MS" pitchFamily="66" charset="0"/>
                        </a:rPr>
                        <a:t>!=</a:t>
                      </a:r>
                      <a:endParaRPr kumimoji="0" lang="tr-TR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9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 != y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is x not equal to y?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3453001"/>
              </p:ext>
            </p:extLst>
          </p:nvPr>
        </p:nvGraphicFramePr>
        <p:xfrm>
          <a:off x="2101850" y="3362325"/>
          <a:ext cx="8337550" cy="2476500"/>
        </p:xfrm>
        <a:graphic>
          <a:graphicData uri="http://schemas.openxmlformats.org/drawingml/2006/table">
            <a:tbl>
              <a:tblPr/>
              <a:tblGrid>
                <a:gridCol w="14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2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Comic Sans MS" pitchFamily="66" charset="0"/>
                        </a:rPr>
                        <a:t>&gt;</a:t>
                      </a:r>
                      <a:endParaRPr kumimoji="0" lang="tr-TR" sz="2800" b="1" i="0" u="none" strike="noStrike" cap="none" normalizeH="0" baseline="0">
                        <a:ln>
                          <a:noFill/>
                        </a:ln>
                        <a:solidFill>
                          <a:srgbClr val="00009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 &gt; y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is x greater than y?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Comic Sans MS" pitchFamily="66" charset="0"/>
                        </a:rPr>
                        <a:t>&lt;</a:t>
                      </a:r>
                      <a:endParaRPr kumimoji="0" lang="tr-TR" sz="2800" b="1" i="0" u="none" strike="noStrike" cap="none" normalizeH="0" baseline="0">
                        <a:ln>
                          <a:noFill/>
                        </a:ln>
                        <a:solidFill>
                          <a:srgbClr val="00009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 &lt; y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is x less than y?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Comic Sans MS" pitchFamily="66" charset="0"/>
                        </a:rPr>
                        <a:t>&gt;=</a:t>
                      </a:r>
                      <a:endParaRPr kumimoji="0" lang="tr-TR" sz="2800" b="1" i="0" u="none" strike="noStrike" cap="none" normalizeH="0" baseline="0">
                        <a:ln>
                          <a:noFill/>
                        </a:ln>
                        <a:solidFill>
                          <a:srgbClr val="00009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 &gt;= y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is x greater than or equal to y?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Comic Sans MS" pitchFamily="66" charset="0"/>
                        </a:rPr>
                        <a:t>&lt;=</a:t>
                      </a:r>
                      <a:endParaRPr kumimoji="0" lang="tr-TR" sz="2800" b="1" i="0" u="none" strike="noStrike" cap="none" normalizeH="0" baseline="0">
                        <a:ln>
                          <a:noFill/>
                        </a:ln>
                        <a:solidFill>
                          <a:srgbClr val="00009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 &lt;=y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is x less than or equal to y?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5101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/>
              <a:t>Logic </a:t>
            </a:r>
            <a:r>
              <a:rPr lang="en-US" altLang="tr-TR" dirty="0"/>
              <a:t>Operators</a:t>
            </a:r>
          </a:p>
        </p:txBody>
      </p:sp>
      <p:sp>
        <p:nvSpPr>
          <p:cNvPr id="45059" name="Content Placeholder 9"/>
          <p:cNvSpPr>
            <a:spLocks noGrp="1"/>
          </p:cNvSpPr>
          <p:nvPr>
            <p:ph idx="1"/>
          </p:nvPr>
        </p:nvSpPr>
        <p:spPr>
          <a:xfrm>
            <a:off x="1905000" y="1219200"/>
            <a:ext cx="8534400" cy="1646238"/>
          </a:xfrm>
        </p:spPr>
        <p:txBody>
          <a:bodyPr/>
          <a:lstStyle/>
          <a:p>
            <a:r>
              <a:rPr lang="en-US" altLang="tr-TR"/>
              <a:t>We can create complex expressions by joining several expressions with logic operators.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aphicFrame>
        <p:nvGraphicFramePr>
          <p:cNvPr id="11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053458"/>
              </p:ext>
            </p:extLst>
          </p:nvPr>
        </p:nvGraphicFramePr>
        <p:xfrm>
          <a:off x="2220119" y="2606675"/>
          <a:ext cx="7904162" cy="2771776"/>
        </p:xfrm>
        <a:graphic>
          <a:graphicData uri="http://schemas.openxmlformats.org/drawingml/2006/table">
            <a:tbl>
              <a:tblPr/>
              <a:tblGrid>
                <a:gridCol w="263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Symbol</a:t>
                      </a:r>
                      <a:endParaRPr kumimoji="0" lang="tr-T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Usage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Meaning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Comic Sans MS" pitchFamily="66" charset="0"/>
                        </a:rPr>
                        <a:t>&amp;&amp;</a:t>
                      </a:r>
                      <a:endParaRPr kumimoji="0" lang="tr-TR" sz="2800" b="1" i="0" u="none" strike="noStrike" cap="none" normalizeH="0" baseline="0">
                        <a:ln>
                          <a:noFill/>
                        </a:ln>
                        <a:solidFill>
                          <a:srgbClr val="00009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exp1 &amp;&amp; exp2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AND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Comic Sans MS" pitchFamily="66" charset="0"/>
                        </a:rPr>
                        <a:t>||</a:t>
                      </a:r>
                      <a:endParaRPr kumimoji="0" lang="tr-TR" sz="2800" b="1" i="0" u="none" strike="noStrike" cap="none" normalizeH="0" baseline="0">
                        <a:ln>
                          <a:noFill/>
                        </a:ln>
                        <a:solidFill>
                          <a:srgbClr val="00009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exp1 || exp2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OR</a:t>
                      </a:r>
                      <a:endParaRPr kumimoji="0" lang="tr-T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96"/>
                          </a:solidFill>
                          <a:effectLst/>
                          <a:latin typeface="Comic Sans MS" pitchFamily="66" charset="0"/>
                        </a:rPr>
                        <a:t>!</a:t>
                      </a:r>
                      <a:endParaRPr kumimoji="0" lang="tr-TR" sz="2800" b="1" i="0" u="none" strike="noStrike" cap="none" normalizeH="0" baseline="0">
                        <a:ln>
                          <a:noFill/>
                        </a:ln>
                        <a:solidFill>
                          <a:srgbClr val="000096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! exp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NOT</a:t>
                      </a:r>
                      <a:endParaRPr kumimoji="0" lang="tr-T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0664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Operator precedence table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197177"/>
              </p:ext>
            </p:extLst>
          </p:nvPr>
        </p:nvGraphicFramePr>
        <p:xfrm>
          <a:off x="1757087" y="1004053"/>
          <a:ext cx="8367058" cy="5314195"/>
        </p:xfrm>
        <a:graphic>
          <a:graphicData uri="http://schemas.openxmlformats.org/drawingml/2006/table">
            <a:tbl>
              <a:tblPr firstRow="1"/>
              <a:tblGrid>
                <a:gridCol w="5811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Operator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Associativity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726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()  []  .  </a:t>
                      </a:r>
                      <a:r>
                        <a:rPr lang="en-US" sz="1400" b="1" i="0" baseline="0" dirty="0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-&gt; ++(</a:t>
                      </a:r>
                      <a:r>
                        <a:rPr lang="en-US" sz="1400" b="1" i="0" baseline="0" dirty="0" err="1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postincrement</a:t>
                      </a:r>
                      <a:r>
                        <a:rPr lang="en-US" sz="1400" b="1" i="0" baseline="0" dirty="0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) –-(</a:t>
                      </a:r>
                      <a:r>
                        <a:rPr lang="en-US" sz="1400" b="1" i="0" baseline="0" dirty="0" err="1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postdecrement</a:t>
                      </a:r>
                      <a:r>
                        <a:rPr lang="en-US" sz="1400" b="1" i="0" baseline="0" dirty="0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) </a:t>
                      </a:r>
                      <a:endParaRPr lang="en-US" sz="1400" b="1" i="0" baseline="0" dirty="0">
                        <a:solidFill>
                          <a:srgbClr val="0000AA"/>
                        </a:solidFill>
                        <a:latin typeface="Courier New" pitchFamily="49" charset="0"/>
                      </a:endParaRP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87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++(</a:t>
                      </a:r>
                      <a:r>
                        <a:rPr lang="en-US" sz="1400" b="1" i="0" baseline="0" dirty="0" err="1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preincrement</a:t>
                      </a:r>
                      <a:r>
                        <a:rPr lang="en-US" sz="1400" b="1" i="0" baseline="0" dirty="0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)</a:t>
                      </a:r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  </a:t>
                      </a:r>
                      <a:r>
                        <a:rPr lang="en-US" sz="1400" b="1" i="0" baseline="0" dirty="0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--(</a:t>
                      </a:r>
                      <a:r>
                        <a:rPr lang="en-US" sz="1400" b="1" i="0" baseline="0" dirty="0" err="1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predecrement</a:t>
                      </a:r>
                      <a:r>
                        <a:rPr lang="en-US" sz="1400" b="1" i="0" baseline="0" dirty="0" smtClean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)  </a:t>
                      </a:r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+  -  !  ~  (type)  *  &amp;  </a:t>
                      </a:r>
                      <a:r>
                        <a:rPr lang="en-US" sz="1400" b="1" i="0" baseline="0" dirty="0" err="1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sizeof</a:t>
                      </a:r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  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right-to-left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*  /  %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+  -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&lt;&lt;  &gt;&gt;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995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&lt;  &lt;=  &gt;  &gt;=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0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==  !=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&amp;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^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|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&amp;&amp;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||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?: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right-to-left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=  +=  -=  *=  /=  %=  &amp;=  ^=  |=  &lt;&lt;=  &gt;&gt;=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right-to-left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000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,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baseline="0" dirty="0">
                          <a:solidFill>
                            <a:srgbClr val="0000AA"/>
                          </a:solidFill>
                          <a:latin typeface="Courier New" pitchFamily="49" charset="0"/>
                        </a:rPr>
                        <a:t>left-to-right</a:t>
                      </a:r>
                    </a:p>
                  </a:txBody>
                  <a:tcPr marL="3963" marR="3963" marT="3963" marB="3963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3259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Precedence, associativity, and order of evaluation: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In </a:t>
            </a:r>
            <a:r>
              <a:rPr lang="en-US" dirty="0"/>
              <a:t>the table </a:t>
            </a:r>
            <a:r>
              <a:rPr lang="tr-TR" dirty="0"/>
              <a:t>that </a:t>
            </a:r>
            <a:r>
              <a:rPr lang="en-US" dirty="0"/>
              <a:t>is given in the previous slide, precedence decreases as you go down.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If </a:t>
            </a:r>
            <a:r>
              <a:rPr lang="en-US" dirty="0"/>
              <a:t>two operands in an expression have the same precedence, you decide according to the associativity column.</a:t>
            </a:r>
          </a:p>
          <a:p>
            <a:pPr lvl="4" fontAlgn="auto">
              <a:spcAft>
                <a:spcPts val="0"/>
              </a:spcAft>
              <a:defRPr/>
            </a:pPr>
            <a:endParaRPr lang="tr-TR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There </a:t>
            </a:r>
            <a:r>
              <a:rPr lang="en-US" dirty="0"/>
              <a:t>is a common misunderstanding about associativity.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</a:rPr>
              <a:t>Note that associativity has nothing to do with the order of evaluation of the operands.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b="1" dirty="0"/>
              <a:t>Order of evaluation of operands is not specified in C language.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19656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Type casting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Also called </a:t>
            </a:r>
            <a:r>
              <a:rPr lang="en-US" altLang="tr-TR" i="1" dirty="0"/>
              <a:t>conversion</a:t>
            </a:r>
            <a:r>
              <a:rPr lang="en-US" altLang="tr-TR" dirty="0"/>
              <a:t> or </a:t>
            </a:r>
            <a:r>
              <a:rPr lang="en-US" altLang="tr-TR" i="1" dirty="0"/>
              <a:t>type conversion</a:t>
            </a:r>
            <a:r>
              <a:rPr lang="en-US" altLang="tr-TR" dirty="0"/>
              <a:t>.</a:t>
            </a:r>
          </a:p>
          <a:p>
            <a:endParaRPr lang="tr-TR" altLang="tr-TR" dirty="0" smtClean="0"/>
          </a:p>
          <a:p>
            <a:r>
              <a:rPr lang="en-US" altLang="tr-TR" dirty="0" smtClean="0"/>
              <a:t>It </a:t>
            </a:r>
            <a:r>
              <a:rPr lang="en-US" altLang="tr-TR" dirty="0"/>
              <a:t>does NOT change the type of a variable. It is not possible to change the type of a variable.</a:t>
            </a:r>
          </a:p>
          <a:p>
            <a:endParaRPr lang="tr-TR" altLang="tr-TR" dirty="0" smtClean="0"/>
          </a:p>
          <a:p>
            <a:r>
              <a:rPr lang="en-US" altLang="tr-TR" dirty="0" smtClean="0"/>
              <a:t>What </a:t>
            </a:r>
            <a:r>
              <a:rPr lang="en-US" altLang="tr-TR" dirty="0"/>
              <a:t>casting does is to convert the </a:t>
            </a:r>
            <a:r>
              <a:rPr lang="en-US" altLang="tr-TR" u="sng" dirty="0"/>
              <a:t>type of a value</a:t>
            </a:r>
            <a:r>
              <a:rPr lang="en-US" altLang="tr-TR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69853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Type casting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201738" algn="l"/>
              </a:tabLst>
            </a:pPr>
            <a:r>
              <a:rPr lang="en-US" altLang="tr-TR" sz="2800" dirty="0" err="1"/>
              <a:t>Eg</a:t>
            </a:r>
            <a:r>
              <a:rPr lang="en-US" altLang="tr-TR" sz="2800" dirty="0"/>
              <a:t>:	</a:t>
            </a:r>
            <a:r>
              <a:rPr lang="en-US" altLang="tr-TR" sz="2800" b="1" dirty="0" err="1">
                <a:solidFill>
                  <a:srgbClr val="0000C8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 a=10, b=3;</a:t>
            </a:r>
          </a:p>
          <a:p>
            <a:pPr>
              <a:buNone/>
              <a:tabLst>
                <a:tab pos="1201738" algn="l"/>
              </a:tabLst>
            </a:pP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		float f, g;</a:t>
            </a:r>
          </a:p>
          <a:p>
            <a:pPr>
              <a:buNone/>
              <a:tabLst>
                <a:tab pos="1201738" algn="l"/>
              </a:tabLst>
            </a:pP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		f=a/b;</a:t>
            </a:r>
          </a:p>
          <a:p>
            <a:pPr>
              <a:buNone/>
              <a:tabLst>
                <a:tab pos="1201738" algn="l"/>
              </a:tabLst>
            </a:pP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		g=(float)a/b;</a:t>
            </a:r>
          </a:p>
          <a:p>
            <a:pPr>
              <a:buNone/>
              <a:tabLst>
                <a:tab pos="1201738" algn="l"/>
              </a:tabLst>
            </a:pPr>
            <a:endParaRPr lang="en-US" altLang="tr-TR" sz="1600" b="1" dirty="0">
              <a:solidFill>
                <a:srgbClr val="0000C8"/>
              </a:solidFill>
              <a:latin typeface="Courier New" panose="02070309020205020404" pitchFamily="49" charset="0"/>
            </a:endParaRPr>
          </a:p>
          <a:p>
            <a:pPr>
              <a:tabLst>
                <a:tab pos="1201738" algn="l"/>
              </a:tabLst>
            </a:pPr>
            <a:r>
              <a:rPr lang="en-US" altLang="tr-TR" sz="2800" dirty="0"/>
              <a:t>The type of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a</a:t>
            </a:r>
            <a:r>
              <a:rPr lang="en-US" altLang="tr-TR" sz="2800" dirty="0"/>
              <a:t> does not change; it is still and integer. However, in the expression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(float)a/b</a:t>
            </a:r>
            <a:r>
              <a:rPr lang="en-US" altLang="tr-TR" sz="2800" dirty="0"/>
              <a:t>, the value of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a</a:t>
            </a:r>
            <a:r>
              <a:rPr lang="en-US" altLang="tr-TR" sz="2800" dirty="0"/>
              <a:t>, which is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10</a:t>
            </a:r>
            <a:r>
              <a:rPr lang="en-US" altLang="tr-TR" sz="2800" dirty="0"/>
              <a:t>, is converted to float value of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10.0</a:t>
            </a:r>
            <a:r>
              <a:rPr lang="en-US" altLang="tr-TR" sz="2800" dirty="0"/>
              <a:t>, and then it is divided by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b</a:t>
            </a:r>
            <a:r>
              <a:rPr lang="en-US" altLang="tr-TR" sz="2800" dirty="0"/>
              <a:t>, which is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3</a:t>
            </a:r>
            <a:r>
              <a:rPr lang="en-US" altLang="tr-TR" sz="2800" dirty="0"/>
              <a:t>. Thus, we perform float division and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g</a:t>
            </a:r>
            <a:r>
              <a:rPr lang="en-US" altLang="tr-TR" sz="2800" dirty="0"/>
              <a:t> becomes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3.3333...</a:t>
            </a:r>
          </a:p>
          <a:p>
            <a:pPr>
              <a:tabLst>
                <a:tab pos="1201738" algn="l"/>
              </a:tabLst>
            </a:pPr>
            <a:endParaRPr lang="en-US" altLang="tr-TR" sz="1600" dirty="0"/>
          </a:p>
          <a:p>
            <a:pPr>
              <a:tabLst>
                <a:tab pos="1201738" algn="l"/>
              </a:tabLst>
            </a:pPr>
            <a:r>
              <a:rPr lang="en-US" altLang="tr-TR" sz="2800" dirty="0"/>
              <a:t>On the other hand, we perform an integer division for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f</a:t>
            </a:r>
            <a:r>
              <a:rPr lang="en-US" altLang="tr-TR" sz="2800" dirty="0"/>
              <a:t>, so it becomes </a:t>
            </a:r>
            <a:r>
              <a:rPr lang="en-US" altLang="tr-TR" sz="2800" b="1" dirty="0">
                <a:solidFill>
                  <a:srgbClr val="0000C8"/>
                </a:solidFill>
                <a:latin typeface="Courier New" panose="02070309020205020404" pitchFamily="49" charset="0"/>
              </a:rPr>
              <a:t>3</a:t>
            </a:r>
            <a:r>
              <a:rPr lang="en-US" altLang="tr-TR" sz="2800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09664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</TotalTime>
  <Words>2776</Words>
  <Application>Microsoft Office PowerPoint</Application>
  <PresentationFormat>Widescreen</PresentationFormat>
  <Paragraphs>522</Paragraphs>
  <Slides>43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ＭＳ Ｐゴシック</vt:lpstr>
      <vt:lpstr>Arial</vt:lpstr>
      <vt:lpstr>Calibri</vt:lpstr>
      <vt:lpstr>Century</vt:lpstr>
      <vt:lpstr>Comic Sans MS</vt:lpstr>
      <vt:lpstr>Courier New</vt:lpstr>
      <vt:lpstr>Garamond</vt:lpstr>
      <vt:lpstr>Tahoma</vt:lpstr>
      <vt:lpstr>Times New Roman</vt:lpstr>
      <vt:lpstr>Wingdings</vt:lpstr>
      <vt:lpstr>Edge</vt:lpstr>
      <vt:lpstr>Picture</vt:lpstr>
      <vt:lpstr>CSE1142 – C Data Types</vt:lpstr>
      <vt:lpstr>Agenda</vt:lpstr>
      <vt:lpstr>Variables</vt:lpstr>
      <vt:lpstr>Variables</vt:lpstr>
      <vt:lpstr>Variables</vt:lpstr>
      <vt:lpstr>Variables</vt:lpstr>
      <vt:lpstr>Rules for identifier names</vt:lpstr>
      <vt:lpstr>Standard data types</vt:lpstr>
      <vt:lpstr>Numerical Data Types</vt:lpstr>
      <vt:lpstr>Integers</vt:lpstr>
      <vt:lpstr>Integers</vt:lpstr>
      <vt:lpstr>Integers</vt:lpstr>
      <vt:lpstr>Floating-point numbers</vt:lpstr>
      <vt:lpstr>Floating-point numbers</vt:lpstr>
      <vt:lpstr>Floating-point numbers</vt:lpstr>
      <vt:lpstr>Characters</vt:lpstr>
      <vt:lpstr>Characters</vt:lpstr>
      <vt:lpstr>Characters</vt:lpstr>
      <vt:lpstr>Characters</vt:lpstr>
      <vt:lpstr>ASCII table (partial)</vt:lpstr>
      <vt:lpstr>Characters</vt:lpstr>
      <vt:lpstr>Characters</vt:lpstr>
      <vt:lpstr>Characters</vt:lpstr>
      <vt:lpstr>Constants</vt:lpstr>
      <vt:lpstr>Enumerated type</vt:lpstr>
      <vt:lpstr>Operators</vt:lpstr>
      <vt:lpstr>Assignment and type conversion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Operators</vt:lpstr>
      <vt:lpstr>Comparison Operators</vt:lpstr>
      <vt:lpstr>Comparison Operators</vt:lpstr>
      <vt:lpstr>Logic Operators</vt:lpstr>
      <vt:lpstr>Operator precedence table</vt:lpstr>
      <vt:lpstr>Operators</vt:lpstr>
      <vt:lpstr>Type casting</vt:lpstr>
      <vt:lpstr>Type casting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Data Types</dc:title>
  <dc:creator/>
  <cp:lastModifiedBy/>
  <cp:revision>82</cp:revision>
  <dcterms:created xsi:type="dcterms:W3CDTF">2017-11-02T19:26:23Z</dcterms:created>
  <dcterms:modified xsi:type="dcterms:W3CDTF">2020-04-27T14:26:23Z</dcterms:modified>
  <dc:description/>
</cp:coreProperties>
</file>