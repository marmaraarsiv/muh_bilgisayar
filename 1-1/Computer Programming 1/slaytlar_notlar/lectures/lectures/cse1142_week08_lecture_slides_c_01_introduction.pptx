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4" r:id="rId4"/>
    <p:sldId id="303" r:id="rId5"/>
    <p:sldId id="260" r:id="rId6"/>
    <p:sldId id="308" r:id="rId7"/>
    <p:sldId id="309" r:id="rId8"/>
    <p:sldId id="262" r:id="rId9"/>
    <p:sldId id="267" r:id="rId10"/>
    <p:sldId id="268" r:id="rId11"/>
    <p:sldId id="296" r:id="rId12"/>
    <p:sldId id="320" r:id="rId13"/>
    <p:sldId id="269" r:id="rId14"/>
    <p:sldId id="270" r:id="rId15"/>
    <p:sldId id="321" r:id="rId16"/>
    <p:sldId id="322" r:id="rId17"/>
    <p:sldId id="330" r:id="rId18"/>
    <p:sldId id="306" r:id="rId19"/>
    <p:sldId id="286" r:id="rId20"/>
    <p:sldId id="307" r:id="rId21"/>
    <p:sldId id="333" r:id="rId22"/>
    <p:sldId id="283" r:id="rId23"/>
    <p:sldId id="338" r:id="rId24"/>
    <p:sldId id="339" r:id="rId25"/>
    <p:sldId id="287" r:id="rId26"/>
    <p:sldId id="347" r:id="rId27"/>
    <p:sldId id="290" r:id="rId28"/>
    <p:sldId id="350" r:id="rId29"/>
    <p:sldId id="291" r:id="rId30"/>
    <p:sldId id="292" r:id="rId31"/>
    <p:sldId id="293" r:id="rId32"/>
    <p:sldId id="299" r:id="rId33"/>
    <p:sldId id="355" r:id="rId34"/>
    <p:sldId id="325" r:id="rId35"/>
    <p:sldId id="327" r:id="rId36"/>
    <p:sldId id="324" r:id="rId37"/>
    <p:sldId id="329" r:id="rId38"/>
    <p:sldId id="35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E8F5D73A-89AE-410F-BA09-138F77D0E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352DB4A-F76B-4FBB-B106-5BE5FAE3E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55DF703-495B-40B6-B40D-F8E9C593E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0B6FA-C13B-4AF5-AD3A-3EDCE46C5726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27978E2-CCF8-411B-AEA4-CA80F8A44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C60E072-0B9E-443A-A86B-E2DA1238A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CCBB-E6B9-4B8C-86F5-3D58C12FE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5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4998A8B4-7F8F-44B3-813D-BEB403A45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5478814-4FA7-44DC-9C07-8BF46283B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1C67E1C-EBB0-4542-A137-B57D42B36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0B6FA-C13B-4AF5-AD3A-3EDCE46C5726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00EFC25-7F2C-4D28-90A7-8E2E4FACF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49F862A-CECA-4795-840F-2B8FC9CD2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CCBB-E6B9-4B8C-86F5-3D58C12FE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369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558C2CD5-3AC8-4249-80D0-355D6447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47F3B33-C492-49F3-9EC8-04FEF988D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B0C54A3-22B0-4925-B15F-1CCBC73A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0B6FA-C13B-4AF5-AD3A-3EDCE46C5726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24EF8FF-239A-47B6-B4F5-7E8B4F457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C5CC664-B2AA-4D09-B2AC-CE20A020C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CCBB-E6B9-4B8C-86F5-3D58C12FE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99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4D92FB6F-CA1F-4416-9E58-821355EE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0F24CAB-A9C4-4463-BEF8-4A27E45A2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2ED66F4-EF68-4D67-92C6-6291BB15E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58CEA56-AF9C-4DBE-9503-11A0E790B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0B6FA-C13B-4AF5-AD3A-3EDCE46C5726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0E29E98-DABB-4DDA-9AFD-32AC9AA67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155B405-CF82-4856-86D4-59A870309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CCBB-E6B9-4B8C-86F5-3D58C12FE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16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C89BAF5D-E334-4D0D-9622-4C0302C0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95E8BE8-9703-49AA-A1EA-C91AA1E89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871C9F6-3F6A-4A47-88AA-403599BFB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D8D63B8-CBC1-415F-8A36-7450F1E68D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EEE76F3F-13F1-4014-93D5-76151A8B88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04872851-9FCE-4573-9817-809249AE4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0B6FA-C13B-4AF5-AD3A-3EDCE46C5726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E23DAB8-40E4-4A31-9645-25A315CCA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9335A983-3C8E-4D54-980E-48FDFF6D6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CCBB-E6B9-4B8C-86F5-3D58C12FE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01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8ABBF2FD-1FD9-4762-8A0F-D961C509A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560D47C2-591F-4BEC-B373-C5861431B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0B6FA-C13B-4AF5-AD3A-3EDCE46C5726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4382EB2-1975-4B6D-9E12-F7F8F192F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0816ADC-D22C-4A88-8398-BF2E6D979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CCBB-E6B9-4B8C-86F5-3D58C12FE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38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40DCC9C8-B5B5-4F58-9C20-03B4974AD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0B6FA-C13B-4AF5-AD3A-3EDCE46C5726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FFA5864-2CC0-4A18-965A-13979CB9C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6BC3E1C-186B-4F73-A6DE-ECE2F9E65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CCBB-E6B9-4B8C-86F5-3D58C12FE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29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C720338D-C478-472F-84CA-612376640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3DF14F5-3AB4-40ED-95FA-09F98C81E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B3D410C-4653-46C1-BC92-317BA4FFD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4BC7DC7-7D1F-4052-9571-A7CDB54F0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0B6FA-C13B-4AF5-AD3A-3EDCE46C5726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88A56C8-9069-4D6D-A973-6B4E7DD68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7D96777-3C62-4B1B-BFDB-8FF3374BC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CCBB-E6B9-4B8C-86F5-3D58C12FE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30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7F4B85F1-A3E4-4201-946A-ED16DBE34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5AD57B8E-0D8C-4CA5-B819-5B289C528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1475936-34AD-4876-B880-0D3D1F24F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655C2FB-77F4-464C-9950-40E6FF978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0B6FA-C13B-4AF5-AD3A-3EDCE46C5726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A42EAC0-2CD3-4614-85FA-65C8AA3D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EB17B95-4FB9-43E8-AC03-62B25CD2F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CCBB-E6B9-4B8C-86F5-3D58C12FE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4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1E62385-5D0D-442F-9F72-A593D65A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074F143-44B4-4258-AA48-04003A54B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6FE927C-3188-446B-8342-3DB2C83BD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0B6FA-C13B-4AF5-AD3A-3EDCE46C5726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7FB1D09-6030-44DC-BC4C-BC683CF2E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6D14AA0-6F6D-40AB-A50D-A8427141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CCBB-E6B9-4B8C-86F5-3D58C12FE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46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0B288D4-ED53-4B88-8954-4E6D05B56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14E984B-15E1-45DF-858B-BB0325D01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7B33CF6-22E9-4005-879E-D0AA54CE3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0B6FA-C13B-4AF5-AD3A-3EDCE46C5726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5298231-11BA-40EE-873C-1D97D3D7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2DEBA58-DC1D-49D5-A06A-D8DA023C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7CCBB-E6B9-4B8C-86F5-3D58C12FE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731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2336800" y="6400801"/>
            <a:ext cx="7315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 2016 Pearson Education, Ltd.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97E8EA-6EFD-4D52-A190-AD79F09157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086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1FB4C1B-B993-438D-85A2-0B351719A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5148D4E-CD3E-4B58-80B0-1AFDF6A88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A71E597-B1FF-4379-BDB5-3D93B8FBF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0B6FA-C13B-4AF5-AD3A-3EDCE46C5726}" type="datetimeFigureOut">
              <a:rPr lang="en-US" smtClean="0"/>
              <a:t>4/22/2020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C58FB17-63E3-4B62-B79A-67C5307A8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EA9AF40-0A73-4C1D-961E-44F55E4E3A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7CCBB-E6B9-4B8C-86F5-3D58C12FE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5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9248024-E6CB-4E73-B1B0-AD74B0775A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CSE1142 - Introduction to C Programming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2F4066B-CCC5-4546-8A3F-C4FBE381B3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Sanem Arslan </a:t>
            </a:r>
            <a:r>
              <a:rPr lang="en-US" dirty="0" err="1"/>
              <a:t>Yılmaz</a:t>
            </a:r>
            <a:endParaRPr lang="en-US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5D85F59F-D3CE-422E-85AE-032ED5738A0E}"/>
              </a:ext>
            </a:extLst>
          </p:cNvPr>
          <p:cNvSpPr txBox="1"/>
          <p:nvPr/>
        </p:nvSpPr>
        <p:spPr>
          <a:xfrm>
            <a:off x="2245895" y="5101389"/>
            <a:ext cx="8261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Slides are adapted from:</a:t>
            </a:r>
            <a:br>
              <a:rPr lang="en-US" dirty="0"/>
            </a:br>
            <a:r>
              <a:rPr lang="en-US" dirty="0"/>
              <a:t>[1] </a:t>
            </a:r>
            <a:r>
              <a:rPr lang="en-US" altLang="en-US" dirty="0">
                <a:ea typeface="Arial" panose="020B0604020202020204" pitchFamily="34" charset="0"/>
              </a:rPr>
              <a:t>C How to Program 8th Edition, by </a:t>
            </a:r>
            <a:r>
              <a:rPr lang="en-US" altLang="en-US" dirty="0" err="1">
                <a:ea typeface="Arial" panose="020B0604020202020204" pitchFamily="34" charset="0"/>
              </a:rPr>
              <a:t>Deitel</a:t>
            </a:r>
            <a:r>
              <a:rPr lang="en-US" altLang="en-US" dirty="0">
                <a:ea typeface="Arial" panose="020B0604020202020204" pitchFamily="34" charset="0"/>
              </a:rPr>
              <a:t> &amp; </a:t>
            </a:r>
            <a:r>
              <a:rPr lang="en-US" altLang="en-US" dirty="0" err="1">
                <a:ea typeface="Arial" panose="020B0604020202020204" pitchFamily="34" charset="0"/>
              </a:rPr>
              <a:t>Deitel</a:t>
            </a:r>
            <a:r>
              <a:rPr lang="en-US" altLang="en-US" dirty="0">
                <a:ea typeface="Arial" panose="020B0604020202020204" pitchFamily="34" charset="0"/>
              </a:rPr>
              <a:t>.</a:t>
            </a:r>
          </a:p>
          <a:p>
            <a:r>
              <a:rPr lang="en-US" altLang="en-US" dirty="0">
                <a:ea typeface="Arial" panose="020B0604020202020204" pitchFamily="34" charset="0"/>
              </a:rPr>
              <a:t>[2] </a:t>
            </a:r>
            <a:r>
              <a:rPr lang="en-US" dirty="0"/>
              <a:t>Problem Solving &amp; Program Design in C, Eighth Edition, R. </a:t>
            </a:r>
            <a:r>
              <a:rPr lang="en-US" dirty="0" err="1"/>
              <a:t>Hanly</a:t>
            </a:r>
            <a:r>
              <a:rPr lang="en-US" dirty="0"/>
              <a:t> &amp; Elliot B. </a:t>
            </a:r>
            <a:r>
              <a:rPr lang="en-US" dirty="0" err="1"/>
              <a:t>Koffman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5799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 high-level programming language</a:t>
            </a:r>
          </a:p>
          <a:p>
            <a:r>
              <a:rPr lang="en-US" sz="3600" dirty="0"/>
              <a:t>Developed in 1972 by Dennis Ritchie at AT&amp;T Bell Labs</a:t>
            </a:r>
          </a:p>
          <a:p>
            <a:r>
              <a:rPr lang="en-US" sz="3600" dirty="0"/>
              <a:t>Designed as  language to write the Unix operating system</a:t>
            </a:r>
          </a:p>
          <a:p>
            <a:r>
              <a:rPr lang="en-US" sz="3600" dirty="0"/>
              <a:t>Resembles everyday English</a:t>
            </a:r>
          </a:p>
          <a:p>
            <a:r>
              <a:rPr lang="en-US" sz="3600" dirty="0"/>
              <a:t>Very popular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DA42-601D-40A8-83CA-2F2CBDE5F9F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93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31B5D13-2E69-40F3-AB8B-DA43C0038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Welcome to C Programming Language</a:t>
            </a:r>
          </a:p>
        </p:txBody>
      </p:sp>
      <p:grpSp>
        <p:nvGrpSpPr>
          <p:cNvPr id="5123" name="Group 13">
            <a:extLst>
              <a:ext uri="{FF2B5EF4-FFF2-40B4-BE49-F238E27FC236}">
                <a16:creationId xmlns:a16="http://schemas.microsoft.com/office/drawing/2014/main" id="{C10EADA8-B846-40AF-897E-2C6AE4806BE3}"/>
              </a:ext>
            </a:extLst>
          </p:cNvPr>
          <p:cNvGrpSpPr>
            <a:grpSpLocks/>
          </p:cNvGrpSpPr>
          <p:nvPr/>
        </p:nvGrpSpPr>
        <p:grpSpPr bwMode="auto">
          <a:xfrm>
            <a:off x="1527008" y="1450140"/>
            <a:ext cx="8047038" cy="4460875"/>
            <a:chOff x="240" y="864"/>
            <a:chExt cx="5424" cy="3299"/>
          </a:xfrm>
        </p:grpSpPr>
        <p:sp>
          <p:nvSpPr>
            <p:cNvPr id="5127" name="AutoShape 4">
              <a:extLst>
                <a:ext uri="{FF2B5EF4-FFF2-40B4-BE49-F238E27FC236}">
                  <a16:creationId xmlns:a16="http://schemas.microsoft.com/office/drawing/2014/main" id="{2580E547-2CC2-4D32-AF78-C0E74E059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152"/>
              <a:ext cx="1584" cy="1200"/>
            </a:xfrm>
            <a:prstGeom prst="wedgeRoundRectCallout">
              <a:avLst>
                <a:gd name="adj1" fmla="val -8458"/>
                <a:gd name="adj2" fmla="val 80750"/>
                <a:gd name="adj3" fmla="val 16667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1600" dirty="0"/>
                <a:t>We write our programs </a:t>
              </a:r>
              <a:r>
                <a:rPr lang="en-US" altLang="en-US" sz="1600" dirty="0" smtClean="0"/>
                <a:t>in </a:t>
              </a:r>
              <a:r>
                <a:rPr lang="en-US" altLang="en-US" sz="1600" i="1" dirty="0" smtClean="0"/>
                <a:t>"</a:t>
              </a:r>
              <a:r>
                <a:rPr lang="en-US" altLang="en-US" sz="1600" i="1" dirty="0"/>
                <a:t>C language"</a:t>
              </a:r>
              <a:r>
                <a:rPr lang="en-US" altLang="en-US" sz="1600" dirty="0"/>
                <a:t> (which is an English-like </a:t>
              </a:r>
              <a:r>
                <a:rPr lang="en-US" altLang="en-US" sz="1600" dirty="0" smtClean="0"/>
                <a:t>language</a:t>
              </a:r>
              <a:r>
                <a:rPr lang="en-US" altLang="en-US" sz="1600" dirty="0"/>
                <a:t>)</a:t>
              </a:r>
            </a:p>
          </p:txBody>
        </p:sp>
        <p:sp>
          <p:nvSpPr>
            <p:cNvPr id="5128" name="Text Box 5">
              <a:extLst>
                <a:ext uri="{FF2B5EF4-FFF2-40B4-BE49-F238E27FC236}">
                  <a16:creationId xmlns:a16="http://schemas.microsoft.com/office/drawing/2014/main" id="{C564ECDB-8DD6-491C-97CF-9541037D31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732"/>
              <a:ext cx="1871" cy="88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1200" b="1">
                  <a:latin typeface="Courier New" panose="02070309020205020404" pitchFamily="49" charset="0"/>
                </a:rPr>
                <a:t>#include &lt;stdio.h&gt;</a:t>
              </a:r>
            </a:p>
            <a:p>
              <a:r>
                <a:rPr lang="en-US" altLang="en-US" sz="1200" b="1">
                  <a:latin typeface="Courier New" panose="02070309020205020404" pitchFamily="49" charset="0"/>
                </a:rPr>
                <a:t>int main()</a:t>
              </a:r>
            </a:p>
            <a:p>
              <a:r>
                <a:rPr lang="en-US" altLang="en-US" sz="1200" b="1">
                  <a:latin typeface="Courier New" panose="02070309020205020404" pitchFamily="49" charset="0"/>
                </a:rPr>
                <a:t>{</a:t>
              </a:r>
            </a:p>
            <a:p>
              <a:r>
                <a:rPr lang="en-US" altLang="en-US" sz="1200" b="1">
                  <a:latin typeface="Courier New" panose="02070309020205020404" pitchFamily="49" charset="0"/>
                </a:rPr>
                <a:t>   printf("Hello world!");</a:t>
              </a:r>
            </a:p>
            <a:p>
              <a:r>
                <a:rPr lang="en-US" altLang="en-US" sz="1200" b="1">
                  <a:latin typeface="Courier New" panose="02070309020205020404" pitchFamily="49" charset="0"/>
                </a:rPr>
                <a:t>   return 0;</a:t>
              </a:r>
            </a:p>
            <a:p>
              <a:r>
                <a:rPr lang="en-US" altLang="en-US" sz="1200" b="1">
                  <a:latin typeface="Courier New" panose="02070309020205020404" pitchFamily="49" charset="0"/>
                </a:rPr>
                <a:t>}</a:t>
              </a:r>
            </a:p>
          </p:txBody>
        </p:sp>
        <p:sp>
          <p:nvSpPr>
            <p:cNvPr id="5129" name="AutoShape 6">
              <a:extLst>
                <a:ext uri="{FF2B5EF4-FFF2-40B4-BE49-F238E27FC236}">
                  <a16:creationId xmlns:a16="http://schemas.microsoft.com/office/drawing/2014/main" id="{761E741A-3FB2-446A-85CE-725C89F12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152"/>
              <a:ext cx="1632" cy="1296"/>
            </a:xfrm>
            <a:prstGeom prst="wedgeRoundRectCallout">
              <a:avLst>
                <a:gd name="adj1" fmla="val -7352"/>
                <a:gd name="adj2" fmla="val 97375"/>
                <a:gd name="adj3" fmla="val 16667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1600" dirty="0"/>
                <a:t>We use a compiler (such as GCC, Visual C, Borland C, etc.) to translate our program from "C language" to </a:t>
              </a:r>
              <a:r>
                <a:rPr lang="en-US" altLang="en-US" sz="1600" i="1" dirty="0"/>
                <a:t>"machine language"</a:t>
              </a:r>
            </a:p>
          </p:txBody>
        </p:sp>
        <p:sp>
          <p:nvSpPr>
            <p:cNvPr id="5130" name="AutoShape 7">
              <a:extLst>
                <a:ext uri="{FF2B5EF4-FFF2-40B4-BE49-F238E27FC236}">
                  <a16:creationId xmlns:a16="http://schemas.microsoft.com/office/drawing/2014/main" id="{DAC40FF4-0204-4A42-8378-AEA7B3C7E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928"/>
              <a:ext cx="1872" cy="528"/>
            </a:xfrm>
            <a:prstGeom prst="rightArrow">
              <a:avLst>
                <a:gd name="adj1" fmla="val 50000"/>
                <a:gd name="adj2" fmla="val 88636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altLang="en-US" sz="1600"/>
                <a:t>Compile &amp; Link</a:t>
              </a:r>
            </a:p>
          </p:txBody>
        </p:sp>
        <p:sp>
          <p:nvSpPr>
            <p:cNvPr id="5131" name="AutoShape 8">
              <a:extLst>
                <a:ext uri="{FF2B5EF4-FFF2-40B4-BE49-F238E27FC236}">
                  <a16:creationId xmlns:a16="http://schemas.microsoft.com/office/drawing/2014/main" id="{7163060F-709F-410D-8F37-AC2D1074B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864"/>
              <a:ext cx="1632" cy="1584"/>
            </a:xfrm>
            <a:prstGeom prst="wedgeRoundRectCallout">
              <a:avLst>
                <a:gd name="adj1" fmla="val -6741"/>
                <a:gd name="adj2" fmla="val 78032"/>
                <a:gd name="adj3" fmla="val 16667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1600" dirty="0"/>
                <a:t>This is the executable code in "machine language."</a:t>
              </a:r>
            </a:p>
            <a:p>
              <a:endParaRPr lang="en-US" altLang="en-US" sz="1600" dirty="0"/>
            </a:p>
            <a:p>
              <a:r>
                <a:rPr lang="en-US" altLang="en-US" sz="1600" dirty="0"/>
                <a:t>This is the only thing the computer can understand and run (execute).</a:t>
              </a:r>
            </a:p>
          </p:txBody>
        </p:sp>
        <p:sp>
          <p:nvSpPr>
            <p:cNvPr id="5132" name="Text Box 9">
              <a:extLst>
                <a:ext uri="{FF2B5EF4-FFF2-40B4-BE49-F238E27FC236}">
                  <a16:creationId xmlns:a16="http://schemas.microsoft.com/office/drawing/2014/main" id="{F4FC7085-C53A-4498-AEFA-A3F2C119C2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904"/>
              <a:ext cx="1440" cy="61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1200" b="1">
                  <a:latin typeface="Courier New" panose="02070309020205020404" pitchFamily="49" charset="0"/>
                </a:rPr>
                <a:t>1110101011001001010001010100101000010010100101010101000101001000100101001</a:t>
              </a:r>
            </a:p>
          </p:txBody>
        </p:sp>
        <p:sp>
          <p:nvSpPr>
            <p:cNvPr id="5133" name="Text Box 10">
              <a:extLst>
                <a:ext uri="{FF2B5EF4-FFF2-40B4-BE49-F238E27FC236}">
                  <a16:creationId xmlns:a16="http://schemas.microsoft.com/office/drawing/2014/main" id="{DAD45670-C0D7-4EC1-920E-ECB1AF9A8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3744"/>
              <a:ext cx="1680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i="1">
                  <a:solidFill>
                    <a:srgbClr val="FF0000"/>
                  </a:solidFill>
                </a:rPr>
                <a:t>(source code)</a:t>
              </a:r>
            </a:p>
          </p:txBody>
        </p:sp>
        <p:sp>
          <p:nvSpPr>
            <p:cNvPr id="5134" name="Text Box 11">
              <a:extLst>
                <a:ext uri="{FF2B5EF4-FFF2-40B4-BE49-F238E27FC236}">
                  <a16:creationId xmlns:a16="http://schemas.microsoft.com/office/drawing/2014/main" id="{3EB5999D-3481-4133-809C-60913D6318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3744"/>
              <a:ext cx="1680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i="1">
                  <a:solidFill>
                    <a:srgbClr val="FF0000"/>
                  </a:solidFill>
                </a:rPr>
                <a:t>(object code)</a:t>
              </a:r>
            </a:p>
          </p:txBody>
        </p:sp>
        <p:sp>
          <p:nvSpPr>
            <p:cNvPr id="5135" name="Text Box 12">
              <a:extLst>
                <a:ext uri="{FF2B5EF4-FFF2-40B4-BE49-F238E27FC236}">
                  <a16:creationId xmlns:a16="http://schemas.microsoft.com/office/drawing/2014/main" id="{84A7F4EC-8416-4CED-863C-8BDAFA95B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3553"/>
              <a:ext cx="1584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US" altLang="en-US" sz="1600" i="1">
                  <a:solidFill>
                    <a:srgbClr val="FF0000"/>
                  </a:solidFill>
                </a:rPr>
                <a:t>(machine code</a:t>
              </a:r>
            </a:p>
            <a:p>
              <a:pPr algn="ctr"/>
              <a:r>
                <a:rPr lang="en-US" altLang="en-US" sz="1600" i="1">
                  <a:solidFill>
                    <a:srgbClr val="FF0000"/>
                  </a:solidFill>
                </a:rPr>
                <a:t>or</a:t>
              </a:r>
            </a:p>
            <a:p>
              <a:pPr algn="ctr"/>
              <a:r>
                <a:rPr lang="en-US" altLang="en-US" sz="1600" i="1">
                  <a:solidFill>
                    <a:srgbClr val="FF0000"/>
                  </a:solidFill>
                </a:rPr>
                <a:t>executable code)</a:t>
              </a:r>
            </a:p>
          </p:txBody>
        </p:sp>
      </p:grpSp>
      <p:sp>
        <p:nvSpPr>
          <p:cNvPr id="44061" name="Rectangle 29">
            <a:extLst>
              <a:ext uri="{FF2B5EF4-FFF2-40B4-BE49-F238E27FC236}">
                <a16:creationId xmlns:a16="http://schemas.microsoft.com/office/drawing/2014/main" id="{BAA04C59-00B1-41A2-B658-C1CDB1A23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658" y="3969503"/>
            <a:ext cx="2782888" cy="1196975"/>
          </a:xfrm>
          <a:prstGeom prst="rect">
            <a:avLst/>
          </a:prstGeom>
          <a:solidFill>
            <a:schemeClr val="accent2">
              <a:lumMod val="75000"/>
              <a:alpha val="54901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5" name="14 Veri Yer Tutucusu">
            <a:extLst>
              <a:ext uri="{FF2B5EF4-FFF2-40B4-BE49-F238E27FC236}">
                <a16:creationId xmlns:a16="http://schemas.microsoft.com/office/drawing/2014/main" id="{8F7771FC-8F72-442F-A19E-B2768AFBE78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DB5E22E-87E7-4E7E-94F8-8538786ACFB2}" type="datetime1">
              <a:rPr lang="en-US"/>
              <a:pPr>
                <a:defRPr/>
              </a:pPr>
              <a:t>4/22/2020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86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6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dirty="0">
                <a:solidFill>
                  <a:srgbClr val="3380E6"/>
                </a:solidFill>
                <a:latin typeface="Arial"/>
              </a:rPr>
              <a:t>A Simple C Program: Printing a Line of Text</a:t>
            </a:r>
          </a:p>
        </p:txBody>
      </p:sp>
      <p:sp>
        <p:nvSpPr>
          <p:cNvPr id="1433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We begin by considering a simple C program.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Our first example prints a line of text (Fig. 2.1).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97E8EA-6EFD-4D52-A190-AD79F09157E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8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02_Page_04"/>
          <p:cNvPicPr>
            <a:picLocks noGrp="1" noChangeAspect="1"/>
          </p:cNvPicPr>
          <p:nvPr isPhoto="1"/>
        </p:nvPicPr>
        <p:blipFill>
          <a:blip r:embed="rId2" cstate="hq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56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0FD6-96F5-477E-84AD-5C3BDD37434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AD5F9A5-CA8E-4512-ACD3-2AD2B5324363}"/>
              </a:ext>
            </a:extLst>
          </p:cNvPr>
          <p:cNvSpPr txBox="1">
            <a:spLocks/>
          </p:cNvSpPr>
          <p:nvPr/>
        </p:nvSpPr>
        <p:spPr>
          <a:xfrm>
            <a:off x="5360565" y="3751672"/>
            <a:ext cx="6135590" cy="269490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800" dirty="0">
                <a:latin typeface="Consolas" panose="020B0609020204030204" pitchFamily="49" charset="0"/>
              </a:rPr>
              <a:t>Comments:</a:t>
            </a:r>
          </a:p>
          <a:p>
            <a:pPr lvl="1"/>
            <a:r>
              <a:rPr lang="en-US" altLang="en-US" sz="1500" dirty="0">
                <a:solidFill>
                  <a:srgbClr val="00BF00"/>
                </a:solidFill>
                <a:latin typeface="Consolas" panose="020B0609020204030204" pitchFamily="49" charset="0"/>
              </a:rPr>
              <a:t>// Fig. 2.1: fig02_01.c</a:t>
            </a:r>
            <a:br>
              <a:rPr lang="en-US" altLang="en-US" sz="1500" dirty="0">
                <a:solidFill>
                  <a:srgbClr val="00BF00"/>
                </a:solidFill>
                <a:latin typeface="Consolas" panose="020B0609020204030204" pitchFamily="49" charset="0"/>
              </a:rPr>
            </a:br>
            <a:r>
              <a:rPr lang="en-US" altLang="en-US" sz="1500" dirty="0">
                <a:solidFill>
                  <a:srgbClr val="00BF00"/>
                </a:solidFill>
                <a:latin typeface="Consolas" panose="020B0609020204030204" pitchFamily="49" charset="0"/>
              </a:rPr>
              <a:t>// A first program in C</a:t>
            </a:r>
          </a:p>
          <a:p>
            <a:pPr lvl="1"/>
            <a:r>
              <a:rPr lang="en-US" altLang="en-US" sz="1500" dirty="0">
                <a:solidFill>
                  <a:srgbClr val="000000"/>
                </a:solidFill>
              </a:rPr>
              <a:t>begin with</a:t>
            </a:r>
            <a:r>
              <a:rPr lang="en-US" alt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//, </a:t>
            </a:r>
            <a:r>
              <a:rPr lang="en-US" altLang="en-US" sz="1500" dirty="0">
                <a:solidFill>
                  <a:srgbClr val="000000"/>
                </a:solidFill>
              </a:rPr>
              <a:t>indicating that these two lines are </a:t>
            </a:r>
            <a:r>
              <a:rPr lang="en-US" altLang="en-US" sz="1500" dirty="0">
                <a:solidFill>
                  <a:srgbClr val="0000FF"/>
                </a:solidFill>
              </a:rPr>
              <a:t>comments</a:t>
            </a:r>
            <a:r>
              <a:rPr lang="en-US" altLang="en-US" sz="1500" dirty="0">
                <a:solidFill>
                  <a:srgbClr val="000000"/>
                </a:solidFill>
              </a:rPr>
              <a:t>.</a:t>
            </a:r>
          </a:p>
          <a:p>
            <a:pPr lvl="1"/>
            <a:r>
              <a:rPr lang="en-US" altLang="en-US" sz="1500" dirty="0"/>
              <a:t>For multi-line comments, use </a:t>
            </a:r>
            <a:r>
              <a:rPr lang="en-US" altLang="en-US" sz="1500" dirty="0">
                <a:latin typeface="Lucida Console" panose="020B0609040504020204" pitchFamily="49" charset="0"/>
              </a:rPr>
              <a:t>/*</a:t>
            </a:r>
            <a:r>
              <a:rPr lang="en-US" altLang="en-US" sz="1500" dirty="0"/>
              <a:t>… </a:t>
            </a:r>
            <a:r>
              <a:rPr lang="en-US" altLang="en-US" sz="1500" dirty="0">
                <a:latin typeface="Lucida Console" panose="020B0609040504020204" pitchFamily="49" charset="0"/>
              </a:rPr>
              <a:t>*/</a:t>
            </a:r>
            <a:r>
              <a:rPr lang="en-US" altLang="en-US" sz="1500" dirty="0"/>
              <a:t>.</a:t>
            </a:r>
            <a:endParaRPr lang="en-US" altLang="en-US" sz="1500" dirty="0">
              <a:latin typeface="Consolas" panose="020B0609020204030204" pitchFamily="49" charset="0"/>
            </a:endParaRPr>
          </a:p>
          <a:p>
            <a:r>
              <a:rPr lang="en-US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#include</a:t>
            </a:r>
            <a:r>
              <a:rPr lang="en-US" sz="1800" b="1" i="1" dirty="0">
                <a:solidFill>
                  <a:srgbClr val="000000"/>
                </a:solidFill>
              </a:rPr>
              <a:t> Preprocessor Directive</a:t>
            </a:r>
          </a:p>
          <a:p>
            <a:pPr lvl="1">
              <a:defRPr/>
            </a:pPr>
            <a:r>
              <a:rPr lang="en-US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#include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stdio.h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 lvl="1">
              <a:defRPr/>
            </a:pPr>
            <a:r>
              <a:rPr lang="en-US" sz="1400" dirty="0">
                <a:solidFill>
                  <a:srgbClr val="000000"/>
                </a:solidFill>
              </a:rPr>
              <a:t>is a directive to the </a:t>
            </a:r>
            <a:r>
              <a:rPr lang="en-US" sz="1400" dirty="0">
                <a:solidFill>
                  <a:srgbClr val="0000FF"/>
                </a:solidFill>
              </a:rPr>
              <a:t>C preprocessor</a:t>
            </a:r>
            <a:r>
              <a:rPr lang="en-US" sz="1400" dirty="0">
                <a:solidFill>
                  <a:srgbClr val="000000"/>
                </a:solidFill>
              </a:rPr>
              <a:t>.</a:t>
            </a:r>
          </a:p>
          <a:p>
            <a:pPr lvl="1"/>
            <a:r>
              <a:rPr lang="en-US" altLang="en-US" sz="1400" dirty="0"/>
              <a:t>Tells computer to load contents of a certain file.</a:t>
            </a:r>
          </a:p>
          <a:p>
            <a:pPr lvl="1"/>
            <a:r>
              <a:rPr lang="en-US" altLang="en-US" sz="1400" dirty="0">
                <a:latin typeface="Lucida Console" panose="020B0609040504020204" pitchFamily="49" charset="0"/>
              </a:rPr>
              <a:t>&lt;</a:t>
            </a:r>
            <a:r>
              <a:rPr lang="en-US" altLang="en-US" sz="1400" dirty="0" err="1">
                <a:latin typeface="Lucida Console" panose="020B0609040504020204" pitchFamily="49" charset="0"/>
              </a:rPr>
              <a:t>stdio.h</a:t>
            </a:r>
            <a:r>
              <a:rPr lang="en-US" altLang="en-US" sz="1400" dirty="0">
                <a:latin typeface="Lucida Console" panose="020B0609040504020204" pitchFamily="49" charset="0"/>
              </a:rPr>
              <a:t>&gt;</a:t>
            </a:r>
            <a:r>
              <a:rPr lang="en-US" altLang="en-US" sz="1400" dirty="0"/>
              <a:t> allows standard input/output operations.</a:t>
            </a:r>
          </a:p>
          <a:p>
            <a:pPr lvl="1"/>
            <a:endParaRPr lang="en-US" altLang="en-US" sz="1600" dirty="0"/>
          </a:p>
          <a:p>
            <a:pPr lvl="1"/>
            <a:endParaRPr lang="en-US" sz="1600" b="1" i="1" dirty="0">
              <a:solidFill>
                <a:srgbClr val="000000"/>
              </a:solidFill>
            </a:endParaRPr>
          </a:p>
          <a:p>
            <a:endParaRPr lang="en-US" altLang="en-US" sz="1800" dirty="0">
              <a:latin typeface="Consolas" panose="020B0609020204030204" pitchFamily="49" charset="0"/>
            </a:endParaRPr>
          </a:p>
          <a:p>
            <a:pPr lvl="1"/>
            <a:endParaRPr lang="en-US" altLang="en-US" sz="1600" dirty="0">
              <a:solidFill>
                <a:srgbClr val="000000"/>
              </a:solidFill>
            </a:endParaRP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E847B5D0-7E0F-4389-8556-8134AC13279B}"/>
              </a:ext>
            </a:extLst>
          </p:cNvPr>
          <p:cNvSpPr/>
          <p:nvPr/>
        </p:nvSpPr>
        <p:spPr>
          <a:xfrm>
            <a:off x="3548026" y="6536809"/>
            <a:ext cx="50959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[1] </a:t>
            </a:r>
            <a:r>
              <a:rPr lang="en-US" altLang="en-US" dirty="0">
                <a:ea typeface="Arial" panose="020B0604020202020204" pitchFamily="34" charset="0"/>
              </a:rPr>
              <a:t>C How to Program 8th Edition, by </a:t>
            </a:r>
            <a:r>
              <a:rPr lang="en-US" altLang="en-US" dirty="0" err="1">
                <a:ea typeface="Arial" panose="020B0604020202020204" pitchFamily="34" charset="0"/>
              </a:rPr>
              <a:t>Deitel</a:t>
            </a:r>
            <a:r>
              <a:rPr lang="en-US" altLang="en-US" dirty="0">
                <a:ea typeface="Arial" panose="020B0604020202020204" pitchFamily="34" charset="0"/>
              </a:rPr>
              <a:t> &amp; </a:t>
            </a:r>
            <a:r>
              <a:rPr lang="en-US" altLang="en-US" dirty="0" err="1">
                <a:ea typeface="Arial" panose="020B0604020202020204" pitchFamily="34" charset="0"/>
              </a:rPr>
              <a:t>Deitel</a:t>
            </a:r>
            <a:r>
              <a:rPr lang="en-US" altLang="en-US" dirty="0">
                <a:ea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491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A Simple C Program: </a:t>
            </a:r>
            <a:br>
              <a:rPr lang="en-US" dirty="0">
                <a:solidFill>
                  <a:srgbClr val="3380E6"/>
                </a:solidFill>
                <a:latin typeface="Arial"/>
              </a:rPr>
            </a:br>
            <a:r>
              <a:rPr lang="en-US" dirty="0">
                <a:solidFill>
                  <a:srgbClr val="3380E6"/>
                </a:solidFill>
                <a:latin typeface="Arial"/>
              </a:rPr>
              <a:t>Printing a Line of Text (Cont.)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fontScale="92500" lnSpcReduction="10000"/>
          </a:bodyPr>
          <a:lstStyle/>
          <a:p>
            <a:pPr marL="109537" indent="0">
              <a:lnSpc>
                <a:spcPct val="110000"/>
              </a:lnSpc>
              <a:buNone/>
              <a:defRPr/>
            </a:pPr>
            <a:r>
              <a:rPr lang="en-US" sz="2500" b="1" i="1" dirty="0">
                <a:solidFill>
                  <a:srgbClr val="000000"/>
                </a:solidFill>
              </a:rPr>
              <a:t>The </a:t>
            </a:r>
            <a:r>
              <a:rPr lang="en-US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sz="2400" b="1" i="1" dirty="0">
                <a:solidFill>
                  <a:srgbClr val="000000"/>
                </a:solidFill>
              </a:rPr>
              <a:t> </a:t>
            </a:r>
            <a:r>
              <a:rPr lang="en-US" sz="2500" b="1" i="1" dirty="0">
                <a:solidFill>
                  <a:srgbClr val="000000"/>
                </a:solidFill>
              </a:rPr>
              <a:t>Function</a:t>
            </a:r>
          </a:p>
          <a:p>
            <a:pPr>
              <a:lnSpc>
                <a:spcPct val="110000"/>
              </a:lnSpc>
              <a:defRPr/>
            </a:pPr>
            <a:r>
              <a:rPr lang="en-US" sz="27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7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 </a:t>
            </a:r>
            <a:r>
              <a:rPr lang="en-US" sz="2700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2700" b="1" dirty="0">
                <a:solidFill>
                  <a:srgbClr val="000000"/>
                </a:solidFill>
                <a:latin typeface="Consolas" panose="020B0609020204030204" pitchFamily="49" charset="0"/>
              </a:rPr>
              <a:t> )</a:t>
            </a:r>
          </a:p>
          <a:p>
            <a:pPr lvl="1">
              <a:lnSpc>
                <a:spcPct val="110000"/>
              </a:lnSpc>
              <a:defRPr/>
            </a:pPr>
            <a:r>
              <a:rPr lang="en-US" dirty="0">
                <a:solidFill>
                  <a:srgbClr val="000000"/>
                </a:solidFill>
              </a:rPr>
              <a:t>is a part of every C program.</a:t>
            </a:r>
          </a:p>
          <a:p>
            <a:pPr lvl="1">
              <a:lnSpc>
                <a:spcPct val="110000"/>
              </a:lnSpc>
              <a:defRPr/>
            </a:pPr>
            <a:r>
              <a:rPr lang="en-US" dirty="0">
                <a:solidFill>
                  <a:srgbClr val="000000"/>
                </a:solidFill>
              </a:rPr>
              <a:t>The parentheses after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</a:rPr>
              <a:t> indicate that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</a:rPr>
              <a:t> is a program building block called a </a:t>
            </a:r>
            <a:r>
              <a:rPr lang="en-US" dirty="0">
                <a:solidFill>
                  <a:srgbClr val="0000FF"/>
                </a:solidFill>
              </a:rPr>
              <a:t>function</a:t>
            </a:r>
            <a:r>
              <a:rPr lang="en-US" dirty="0">
                <a:solidFill>
                  <a:srgbClr val="000000"/>
                </a:solidFill>
              </a:rPr>
              <a:t>.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C programs contain one or more functions, exactly one of which must be </a:t>
            </a:r>
            <a:r>
              <a:rPr lang="en-US" altLang="en-US" sz="2000" dirty="0">
                <a:latin typeface="Lucida Console" panose="020B0609040504020204" pitchFamily="49" charset="0"/>
              </a:rPr>
              <a:t>main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Parenthesis used to indicate a function</a:t>
            </a:r>
          </a:p>
          <a:p>
            <a:pPr lvl="1">
              <a:lnSpc>
                <a:spcPct val="110000"/>
              </a:lnSpc>
            </a:pPr>
            <a:r>
              <a:rPr lang="en-US" altLang="en-US" sz="2000" b="1" dirty="0" err="1">
                <a:latin typeface="Lucida Console" panose="020B0609040504020204" pitchFamily="49" charset="0"/>
              </a:rPr>
              <a:t>int</a:t>
            </a:r>
            <a:r>
              <a:rPr lang="en-US" altLang="en-US" dirty="0"/>
              <a:t> means that </a:t>
            </a:r>
            <a:r>
              <a:rPr lang="en-US" altLang="en-US" sz="2000" dirty="0">
                <a:latin typeface="Lucida Console" panose="020B0609040504020204" pitchFamily="49" charset="0"/>
              </a:rPr>
              <a:t>main</a:t>
            </a:r>
            <a:r>
              <a:rPr lang="en-US" altLang="en-US" dirty="0"/>
              <a:t> "returns" an integer value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Braces </a:t>
            </a:r>
            <a:r>
              <a:rPr lang="en-US" altLang="en-US" sz="2000" dirty="0" smtClean="0">
                <a:latin typeface="Lucida Console" panose="020B0609040504020204" pitchFamily="49" charset="0"/>
              </a:rPr>
              <a:t>{</a:t>
            </a:r>
            <a:r>
              <a:rPr lang="en-US" altLang="en-US" dirty="0" smtClean="0"/>
              <a:t> </a:t>
            </a:r>
            <a:r>
              <a:rPr lang="en-US" altLang="en-US" sz="2000" dirty="0" smtClean="0">
                <a:latin typeface="Lucida Console" panose="020B0609040504020204" pitchFamily="49" charset="0"/>
              </a:rPr>
              <a:t>}</a:t>
            </a:r>
            <a:r>
              <a:rPr lang="en-US" altLang="en-US" dirty="0" smtClean="0"/>
              <a:t> </a:t>
            </a:r>
            <a:r>
              <a:rPr lang="en-US" altLang="en-US" dirty="0"/>
              <a:t>indicate a block</a:t>
            </a:r>
          </a:p>
          <a:p>
            <a:pPr lvl="2">
              <a:lnSpc>
                <a:spcPct val="110000"/>
              </a:lnSpc>
            </a:pPr>
            <a:r>
              <a:rPr lang="en-US" altLang="en-US" dirty="0"/>
              <a:t>The bodies of all functions must be contained in braces</a:t>
            </a:r>
          </a:p>
          <a:p>
            <a:pPr lvl="1">
              <a:lnSpc>
                <a:spcPct val="11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The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void</a:t>
            </a:r>
            <a:r>
              <a:rPr lang="en-US" altLang="en-US" dirty="0">
                <a:solidFill>
                  <a:srgbClr val="000000"/>
                </a:solidFill>
              </a:rPr>
              <a:t> in parentheses here means that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en-US" altLang="en-US" dirty="0">
                <a:solidFill>
                  <a:srgbClr val="000000"/>
                </a:solidFill>
              </a:rPr>
              <a:t> does not receive any information.</a:t>
            </a:r>
          </a:p>
          <a:p>
            <a:pPr lvl="1">
              <a:lnSpc>
                <a:spcPct val="110000"/>
              </a:lnSpc>
            </a:pPr>
            <a:endParaRPr lang="en-US" altLang="en-US" dirty="0"/>
          </a:p>
          <a:p>
            <a:pPr lvl="1">
              <a:lnSpc>
                <a:spcPct val="110000"/>
              </a:lnSpc>
              <a:defRPr/>
            </a:pPr>
            <a:endParaRPr lang="en-US" sz="2100" dirty="0">
              <a:solidFill>
                <a:srgbClr val="000000"/>
              </a:solidFill>
            </a:endParaRPr>
          </a:p>
          <a:p>
            <a:pPr lvl="1">
              <a:lnSpc>
                <a:spcPct val="110000"/>
              </a:lnSpc>
              <a:defRPr/>
            </a:pPr>
            <a:endParaRPr lang="en-US" sz="2100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97E8EA-6EFD-4D52-A190-AD79F09157E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75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2.2  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A Simple C Program: </a:t>
            </a:r>
            <a:br>
              <a:rPr lang="en-US" dirty="0">
                <a:solidFill>
                  <a:srgbClr val="3380E6"/>
                </a:solidFill>
                <a:latin typeface="Arial"/>
              </a:rPr>
            </a:br>
            <a:r>
              <a:rPr lang="en-US" dirty="0">
                <a:solidFill>
                  <a:srgbClr val="3380E6"/>
                </a:solidFill>
                <a:latin typeface="Arial"/>
              </a:rPr>
              <a:t>Printing a Line of Text (Cont.)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09537" indent="0">
              <a:buNone/>
              <a:defRPr/>
            </a:pPr>
            <a:r>
              <a:rPr lang="en-US" sz="2500" b="1" i="1" dirty="0">
                <a:solidFill>
                  <a:srgbClr val="000000"/>
                </a:solidFill>
              </a:rPr>
              <a:t>An Output Statement</a:t>
            </a:r>
          </a:p>
          <a:p>
            <a:pPr>
              <a:defRPr/>
            </a:pPr>
            <a:r>
              <a:rPr lang="en-US" sz="27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2700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sz="2700" b="1" dirty="0">
                <a:solidFill>
                  <a:srgbClr val="128AFF"/>
                </a:solidFill>
                <a:latin typeface="Consolas" panose="020B0609020204030204" pitchFamily="49" charset="0"/>
              </a:rPr>
              <a:t>"Welcome to C!\n"</a:t>
            </a:r>
            <a:r>
              <a:rPr lang="en-US" sz="2700" b="1" dirty="0">
                <a:solidFill>
                  <a:srgbClr val="000000"/>
                </a:solidFill>
                <a:latin typeface="Consolas" panose="020B0609020204030204" pitchFamily="49" charset="0"/>
              </a:rPr>
              <a:t> );</a:t>
            </a:r>
          </a:p>
          <a:p>
            <a:pPr lvl="1">
              <a:defRPr/>
            </a:pPr>
            <a:r>
              <a:rPr lang="en-US" sz="2100" dirty="0">
                <a:solidFill>
                  <a:srgbClr val="000000"/>
                </a:solidFill>
              </a:rPr>
              <a:t>instructs the computer to perform an </a:t>
            </a:r>
            <a:r>
              <a:rPr lang="en-US" sz="2100" dirty="0">
                <a:solidFill>
                  <a:srgbClr val="0000FF"/>
                </a:solidFill>
              </a:rPr>
              <a:t>action</a:t>
            </a:r>
            <a:r>
              <a:rPr lang="en-US" sz="2100" dirty="0">
                <a:solidFill>
                  <a:srgbClr val="000000"/>
                </a:solidFill>
              </a:rPr>
              <a:t>, </a:t>
            </a:r>
            <a:endParaRPr lang="en-US" sz="2800" dirty="0">
              <a:solidFill>
                <a:srgbClr val="000000"/>
              </a:solidFill>
            </a:endParaRPr>
          </a:p>
          <a:p>
            <a:pPr lvl="2">
              <a:defRPr/>
            </a:pPr>
            <a:r>
              <a:rPr lang="en-US" dirty="0">
                <a:solidFill>
                  <a:srgbClr val="000000"/>
                </a:solidFill>
              </a:rPr>
              <a:t>print on the screen the </a:t>
            </a:r>
            <a:r>
              <a:rPr lang="en-US" dirty="0">
                <a:solidFill>
                  <a:srgbClr val="0000FF"/>
                </a:solidFill>
              </a:rPr>
              <a:t>string</a:t>
            </a:r>
            <a:r>
              <a:rPr lang="en-US" dirty="0">
                <a:solidFill>
                  <a:srgbClr val="000000"/>
                </a:solidFill>
              </a:rPr>
              <a:t> of characters marked by the quotation marks(“ “).</a:t>
            </a:r>
          </a:p>
          <a:p>
            <a:pPr lvl="1"/>
            <a:r>
              <a:rPr lang="en-US" altLang="en-US" dirty="0"/>
              <a:t>Escape character (</a:t>
            </a:r>
            <a:r>
              <a:rPr lang="en-US" altLang="en-US" sz="2000" dirty="0">
                <a:latin typeface="Lucida Console" panose="020B0609040504020204" pitchFamily="49" charset="0"/>
              </a:rPr>
              <a:t>\</a:t>
            </a:r>
            <a:r>
              <a:rPr lang="en-US" altLang="en-US" dirty="0"/>
              <a:t>)</a:t>
            </a:r>
          </a:p>
          <a:p>
            <a:pPr lvl="2"/>
            <a:r>
              <a:rPr lang="en-US" altLang="en-US" dirty="0"/>
              <a:t>Indicates that </a:t>
            </a:r>
            <a:r>
              <a:rPr lang="en-US" altLang="en-US" b="1" dirty="0" err="1"/>
              <a:t>printf</a:t>
            </a:r>
            <a:r>
              <a:rPr lang="en-US" altLang="en-US" dirty="0"/>
              <a:t> should do something out of the ordinary</a:t>
            </a:r>
          </a:p>
          <a:p>
            <a:pPr lvl="2"/>
            <a:r>
              <a:rPr lang="en-US" dirty="0">
                <a:solidFill>
                  <a:srgbClr val="000000"/>
                </a:solidFill>
              </a:rPr>
              <a:t>Notice that the characters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\n</a:t>
            </a:r>
            <a:r>
              <a:rPr lang="en-US" dirty="0">
                <a:solidFill>
                  <a:srgbClr val="000000"/>
                </a:solidFill>
              </a:rPr>
              <a:t> were not printed on the screen.</a:t>
            </a:r>
            <a:endParaRPr lang="en-US" altLang="en-US" dirty="0"/>
          </a:p>
          <a:p>
            <a:pPr lvl="2"/>
            <a:r>
              <a:rPr lang="en-US" altLang="en-US" sz="1800" dirty="0">
                <a:latin typeface="Lucida Console" panose="020B0609040504020204" pitchFamily="49" charset="0"/>
              </a:rPr>
              <a:t>\n</a:t>
            </a:r>
            <a:r>
              <a:rPr lang="en-US" altLang="en-US" dirty="0"/>
              <a:t> is the newline character</a:t>
            </a:r>
          </a:p>
          <a:p>
            <a:pPr lvl="1">
              <a:defRPr/>
            </a:pPr>
            <a:endParaRPr lang="en-US" altLang="en-US" dirty="0"/>
          </a:p>
          <a:p>
            <a:r>
              <a:rPr lang="en-US" altLang="en-US" sz="2600" dirty="0">
                <a:latin typeface="Lucida Console" panose="020B0609040504020204" pitchFamily="49" charset="0"/>
              </a:rPr>
              <a:t>return 0;</a:t>
            </a:r>
          </a:p>
          <a:p>
            <a:pPr lvl="1"/>
            <a:r>
              <a:rPr lang="en-US" altLang="en-US" dirty="0"/>
              <a:t>A way to exit a function</a:t>
            </a:r>
          </a:p>
          <a:p>
            <a:pPr lvl="1"/>
            <a:r>
              <a:rPr lang="en-US" altLang="en-US" sz="2000" dirty="0">
                <a:latin typeface="Lucida Console" panose="020B0609040504020204" pitchFamily="49" charset="0"/>
              </a:rPr>
              <a:t>return</a:t>
            </a:r>
            <a:r>
              <a:rPr lang="en-US" altLang="en-US" dirty="0"/>
              <a:t> </a:t>
            </a:r>
            <a:r>
              <a:rPr lang="en-US" altLang="en-US" sz="2000" dirty="0">
                <a:latin typeface="Lucida Console" panose="020B0609040504020204" pitchFamily="49" charset="0"/>
              </a:rPr>
              <a:t>0</a:t>
            </a:r>
            <a:r>
              <a:rPr lang="en-US" altLang="en-US" dirty="0"/>
              <a:t>, in this case, means that the program terminated normally</a:t>
            </a:r>
          </a:p>
          <a:p>
            <a:pPr lvl="1">
              <a:lnSpc>
                <a:spcPct val="80000"/>
              </a:lnSpc>
              <a:defRPr/>
            </a:pPr>
            <a:endParaRPr lang="en-US" sz="2100" dirty="0">
              <a:solidFill>
                <a:srgbClr val="000000"/>
              </a:solidFill>
            </a:endParaRPr>
          </a:p>
          <a:p>
            <a:pPr lvl="1">
              <a:lnSpc>
                <a:spcPct val="80000"/>
              </a:lnSpc>
              <a:defRPr/>
            </a:pPr>
            <a:endParaRPr lang="en-US" sz="2100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97E8EA-6EFD-4D52-A190-AD79F09157E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98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02_Page_06"/>
          <p:cNvPicPr>
            <a:picLocks noGrp="1" noChangeAspect="1"/>
          </p:cNvPicPr>
          <p:nvPr isPhoto="1"/>
        </p:nvPicPr>
        <p:blipFill>
          <a:blip r:embed="rId2" cstate="hq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0FD6-96F5-477E-84AD-5C3BDD37434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156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02_Page_11"/>
          <p:cNvPicPr>
            <a:picLocks noGrp="1" noChangeAspect="1"/>
          </p:cNvPicPr>
          <p:nvPr isPhoto="1"/>
        </p:nvPicPr>
        <p:blipFill>
          <a:blip r:embed="rId2" cstate="hq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0FD6-96F5-477E-84AD-5C3BDD37434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1C3E5FAB-7856-45C2-A963-F5906588B9F8}"/>
              </a:ext>
            </a:extLst>
          </p:cNvPr>
          <p:cNvSpPr/>
          <p:nvPr/>
        </p:nvSpPr>
        <p:spPr>
          <a:xfrm>
            <a:off x="3179058" y="6536809"/>
            <a:ext cx="50959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[1] </a:t>
            </a:r>
            <a:r>
              <a:rPr lang="en-US" altLang="en-US" dirty="0">
                <a:ea typeface="Arial" panose="020B0604020202020204" pitchFamily="34" charset="0"/>
              </a:rPr>
              <a:t>C How to Program 8th Edition, by </a:t>
            </a:r>
            <a:r>
              <a:rPr lang="en-US" altLang="en-US" dirty="0" err="1">
                <a:ea typeface="Arial" panose="020B0604020202020204" pitchFamily="34" charset="0"/>
              </a:rPr>
              <a:t>Deitel</a:t>
            </a:r>
            <a:r>
              <a:rPr lang="en-US" altLang="en-US" dirty="0">
                <a:ea typeface="Arial" panose="020B0604020202020204" pitchFamily="34" charset="0"/>
              </a:rPr>
              <a:t> &amp; </a:t>
            </a:r>
            <a:r>
              <a:rPr lang="en-US" altLang="en-US" dirty="0" err="1">
                <a:ea typeface="Arial" panose="020B0604020202020204" pitchFamily="34" charset="0"/>
              </a:rPr>
              <a:t>Deitel</a:t>
            </a:r>
            <a:r>
              <a:rPr lang="en-US" altLang="en-US" dirty="0">
                <a:ea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4597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02_Page_12"/>
          <p:cNvPicPr>
            <a:picLocks noGrp="1" noChangeAspect="1"/>
          </p:cNvPicPr>
          <p:nvPr isPhoto="1"/>
        </p:nvPicPr>
        <p:blipFill>
          <a:blip r:embed="rId2" cstate="hq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0FD6-96F5-477E-84AD-5C3BDD37434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C1293F94-CCC9-44BC-921F-0EB600707420}"/>
              </a:ext>
            </a:extLst>
          </p:cNvPr>
          <p:cNvSpPr/>
          <p:nvPr/>
        </p:nvSpPr>
        <p:spPr>
          <a:xfrm>
            <a:off x="3514653" y="6488668"/>
            <a:ext cx="50959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[1] </a:t>
            </a:r>
            <a:r>
              <a:rPr lang="en-US" altLang="en-US" dirty="0">
                <a:ea typeface="Arial" panose="020B0604020202020204" pitchFamily="34" charset="0"/>
              </a:rPr>
              <a:t>C How to Program 8th Edition, by </a:t>
            </a:r>
            <a:r>
              <a:rPr lang="en-US" altLang="en-US" dirty="0" err="1">
                <a:ea typeface="Arial" panose="020B0604020202020204" pitchFamily="34" charset="0"/>
              </a:rPr>
              <a:t>Deitel</a:t>
            </a:r>
            <a:r>
              <a:rPr lang="en-US" altLang="en-US" dirty="0">
                <a:ea typeface="Arial" panose="020B0604020202020204" pitchFamily="34" charset="0"/>
              </a:rPr>
              <a:t> &amp; </a:t>
            </a:r>
            <a:r>
              <a:rPr lang="en-US" altLang="en-US" dirty="0" err="1">
                <a:ea typeface="Arial" panose="020B0604020202020204" pitchFamily="34" charset="0"/>
              </a:rPr>
              <a:t>Deitel</a:t>
            </a:r>
            <a:r>
              <a:rPr lang="en-US" altLang="en-US" dirty="0">
                <a:ea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8050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dirty="0"/>
              <a:t>General Form of a C Program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DA42-601D-40A8-83CA-2F2CBDE5F9F0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2" descr="fig0207"/>
          <p:cNvPicPr preferRelativeResize="0"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057401"/>
            <a:ext cx="5410200" cy="377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3864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2.3  </a:t>
            </a:r>
            <a:r>
              <a:rPr lang="en-US">
                <a:solidFill>
                  <a:srgbClr val="3380E6"/>
                </a:solidFill>
                <a:latin typeface="Arial"/>
              </a:rPr>
              <a:t>Another Simple C Program: Adding Two Integers</a:t>
            </a:r>
          </a:p>
        </p:txBody>
      </p:sp>
      <p:sp>
        <p:nvSpPr>
          <p:cNvPr id="4096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Our next program (fig. 2.5) </a:t>
            </a:r>
            <a:endParaRPr lang="tr-TR" altLang="en-US" dirty="0" smtClean="0">
              <a:solidFill>
                <a:srgbClr val="0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altLang="en-US" dirty="0" smtClean="0">
                <a:solidFill>
                  <a:srgbClr val="000000"/>
                </a:solidFill>
              </a:rPr>
              <a:t>uses </a:t>
            </a:r>
            <a:r>
              <a:rPr lang="en-US" altLang="en-US" dirty="0">
                <a:solidFill>
                  <a:srgbClr val="000000"/>
                </a:solidFill>
              </a:rPr>
              <a:t>the Standard Library function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altLang="en-US" dirty="0">
                <a:solidFill>
                  <a:srgbClr val="000000"/>
                </a:solidFill>
              </a:rPr>
              <a:t> to obtain two integers typed by a user at the keyboard, </a:t>
            </a:r>
            <a:endParaRPr lang="tr-TR" altLang="en-US" dirty="0" smtClean="0">
              <a:solidFill>
                <a:srgbClr val="0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altLang="en-US" dirty="0" smtClean="0">
                <a:solidFill>
                  <a:srgbClr val="000000"/>
                </a:solidFill>
              </a:rPr>
              <a:t>computes </a:t>
            </a:r>
            <a:r>
              <a:rPr lang="en-US" altLang="en-US" dirty="0">
                <a:solidFill>
                  <a:srgbClr val="000000"/>
                </a:solidFill>
              </a:rPr>
              <a:t>the sum of these values and </a:t>
            </a:r>
            <a:endParaRPr lang="tr-TR" altLang="en-US" dirty="0" smtClean="0">
              <a:solidFill>
                <a:srgbClr val="0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altLang="en-US" dirty="0" smtClean="0">
                <a:solidFill>
                  <a:srgbClr val="000000"/>
                </a:solidFill>
              </a:rPr>
              <a:t>prints </a:t>
            </a:r>
            <a:r>
              <a:rPr lang="en-US" altLang="en-US" dirty="0">
                <a:solidFill>
                  <a:srgbClr val="000000"/>
                </a:solidFill>
              </a:rPr>
              <a:t>the result using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altLang="en-US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97E8EA-6EFD-4D52-A190-AD79F09157E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0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02_Page_13"/>
          <p:cNvPicPr>
            <a:picLocks noGrp="1" noChangeAspect="1"/>
          </p:cNvPicPr>
          <p:nvPr isPhoto="1"/>
        </p:nvPicPr>
        <p:blipFill>
          <a:blip r:embed="rId2" cstate="hq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0FD6-96F5-477E-84AD-5C3BDD37434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8A01E96D-2BB8-4EF0-93C2-6A15ECCCE438}"/>
              </a:ext>
            </a:extLst>
          </p:cNvPr>
          <p:cNvSpPr/>
          <p:nvPr/>
        </p:nvSpPr>
        <p:spPr>
          <a:xfrm>
            <a:off x="3179057" y="6356350"/>
            <a:ext cx="50959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[1] </a:t>
            </a:r>
            <a:r>
              <a:rPr lang="en-US" altLang="en-US" dirty="0">
                <a:ea typeface="Arial" panose="020B0604020202020204" pitchFamily="34" charset="0"/>
              </a:rPr>
              <a:t>C How to Program 8th Edition, by </a:t>
            </a:r>
            <a:r>
              <a:rPr lang="en-US" altLang="en-US" dirty="0" err="1">
                <a:ea typeface="Arial" panose="020B0604020202020204" pitchFamily="34" charset="0"/>
              </a:rPr>
              <a:t>Deitel</a:t>
            </a:r>
            <a:r>
              <a:rPr lang="en-US" altLang="en-US" dirty="0">
                <a:ea typeface="Arial" panose="020B0604020202020204" pitchFamily="34" charset="0"/>
              </a:rPr>
              <a:t> &amp; </a:t>
            </a:r>
            <a:r>
              <a:rPr lang="en-US" altLang="en-US" dirty="0" err="1">
                <a:ea typeface="Arial" panose="020B0604020202020204" pitchFamily="34" charset="0"/>
              </a:rPr>
              <a:t>Deitel</a:t>
            </a:r>
            <a:r>
              <a:rPr lang="en-US" altLang="en-US" dirty="0">
                <a:ea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96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02_Page_14"/>
          <p:cNvPicPr>
            <a:picLocks noGrp="1" noChangeAspect="1"/>
          </p:cNvPicPr>
          <p:nvPr isPhoto="1"/>
        </p:nvPicPr>
        <p:blipFill>
          <a:blip r:embed="rId2" cstate="hq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0FD6-96F5-477E-84AD-5C3BDD37434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350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2.3  </a:t>
            </a:r>
            <a:r>
              <a:rPr lang="en-US">
                <a:solidFill>
                  <a:srgbClr val="3380E6"/>
                </a:solidFill>
                <a:latin typeface="Arial"/>
              </a:rPr>
              <a:t>Another Simple C Program: Adding Two Integers (Cont.)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dirty="0"/>
              <a:t>As before</a:t>
            </a:r>
          </a:p>
          <a:p>
            <a:pPr lvl="1">
              <a:lnSpc>
                <a:spcPct val="100000"/>
              </a:lnSpc>
            </a:pPr>
            <a:r>
              <a:rPr lang="en-US" altLang="en-US" dirty="0"/>
              <a:t>Comments, </a:t>
            </a:r>
            <a:r>
              <a:rPr lang="en-US" altLang="en-US" sz="2000" dirty="0">
                <a:latin typeface="Lucida Console" panose="020B0609040504020204" pitchFamily="49" charset="0"/>
              </a:rPr>
              <a:t>#include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sz="2000" dirty="0">
                <a:latin typeface="Lucida Console" panose="020B0609040504020204" pitchFamily="49" charset="0"/>
              </a:rPr>
              <a:t>&lt;</a:t>
            </a:r>
            <a:r>
              <a:rPr lang="en-US" altLang="en-US" sz="2000" dirty="0" err="1">
                <a:latin typeface="Lucida Console" panose="020B0609040504020204" pitchFamily="49" charset="0"/>
              </a:rPr>
              <a:t>stdio.h</a:t>
            </a:r>
            <a:r>
              <a:rPr lang="en-US" altLang="en-US" sz="2000" dirty="0">
                <a:latin typeface="Lucida Console" panose="020B0609040504020204" pitchFamily="49" charset="0"/>
              </a:rPr>
              <a:t>&gt;</a:t>
            </a:r>
            <a:r>
              <a:rPr lang="en-US" altLang="en-US" dirty="0"/>
              <a:t> and </a:t>
            </a:r>
            <a:r>
              <a:rPr lang="en-US" altLang="en-US" sz="2000" dirty="0">
                <a:latin typeface="Lucida Console" panose="020B0609040504020204" pitchFamily="49" charset="0"/>
              </a:rPr>
              <a:t>main</a:t>
            </a:r>
          </a:p>
          <a:p>
            <a:pPr marL="109537" indent="0">
              <a:lnSpc>
                <a:spcPct val="100000"/>
              </a:lnSpc>
              <a:buNone/>
              <a:defRPr/>
            </a:pPr>
            <a:endParaRPr lang="en-US" sz="2300" b="1" i="1" dirty="0">
              <a:solidFill>
                <a:srgbClr val="000000"/>
              </a:solidFill>
            </a:endParaRPr>
          </a:p>
          <a:p>
            <a:pPr marL="109537" indent="0">
              <a:lnSpc>
                <a:spcPct val="100000"/>
              </a:lnSpc>
              <a:buNone/>
              <a:defRPr/>
            </a:pPr>
            <a:r>
              <a:rPr lang="en-US" sz="2300" b="1" i="1" dirty="0">
                <a:solidFill>
                  <a:srgbClr val="000000"/>
                </a:solidFill>
              </a:rPr>
              <a:t>Variables and Variable Definitions</a:t>
            </a:r>
          </a:p>
          <a:p>
            <a:pPr>
              <a:lnSpc>
                <a:spcPct val="100000"/>
              </a:lnSpc>
              <a:defRPr/>
            </a:pPr>
            <a:r>
              <a:rPr lang="en-US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integer1; </a:t>
            </a:r>
            <a:r>
              <a:rPr lang="en-US" sz="1800" b="1" dirty="0">
                <a:solidFill>
                  <a:srgbClr val="00BF00"/>
                </a:solidFill>
                <a:latin typeface="Consolas" panose="020B0609020204030204" pitchFamily="49" charset="0"/>
              </a:rPr>
              <a:t>// first number to be entered by user</a:t>
            </a:r>
            <a:br>
              <a:rPr lang="en-US" sz="1800" b="1" dirty="0">
                <a:solidFill>
                  <a:srgbClr val="00BF00"/>
                </a:solidFill>
                <a:latin typeface="Consolas" panose="020B0609020204030204" pitchFamily="49" charset="0"/>
              </a:rPr>
            </a:br>
            <a:r>
              <a:rPr lang="en-US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integer2; </a:t>
            </a:r>
            <a:r>
              <a:rPr lang="en-US" sz="1800" b="1" dirty="0">
                <a:solidFill>
                  <a:srgbClr val="00BF00"/>
                </a:solidFill>
                <a:latin typeface="Consolas" panose="020B0609020204030204" pitchFamily="49" charset="0"/>
              </a:rPr>
              <a:t>// second number to be entered by user </a:t>
            </a:r>
            <a:br>
              <a:rPr lang="en-US" sz="1800" b="1" dirty="0">
                <a:solidFill>
                  <a:srgbClr val="00BF00"/>
                </a:solidFill>
                <a:latin typeface="Consolas" panose="020B0609020204030204" pitchFamily="49" charset="0"/>
              </a:rPr>
            </a:br>
            <a:r>
              <a:rPr lang="en-US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sum; </a:t>
            </a:r>
            <a:r>
              <a:rPr lang="en-US" sz="1800" b="1" dirty="0">
                <a:solidFill>
                  <a:srgbClr val="00BF00"/>
                </a:solidFill>
                <a:latin typeface="Consolas" panose="020B0609020204030204" pitchFamily="49" charset="0"/>
              </a:rPr>
              <a:t>// variable in which sum will be stored </a:t>
            </a:r>
          </a:p>
          <a:p>
            <a:pPr marL="109537" indent="0">
              <a:lnSpc>
                <a:spcPct val="100000"/>
              </a:lnSpc>
              <a:buNone/>
              <a:defRPr/>
            </a:pPr>
            <a:endParaRPr lang="en-US" sz="2500" b="1" i="1" dirty="0">
              <a:solidFill>
                <a:srgbClr val="000000"/>
              </a:solidFill>
            </a:endParaRPr>
          </a:p>
          <a:p>
            <a:pPr marL="365125" lvl="1" indent="0">
              <a:lnSpc>
                <a:spcPct val="100000"/>
              </a:lnSpc>
              <a:buNone/>
              <a:defRPr/>
            </a:pPr>
            <a:endParaRPr lang="en-US" sz="1900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97E8EA-6EFD-4D52-A190-AD79F09157EA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91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2.3  </a:t>
            </a:r>
            <a:r>
              <a:rPr lang="en-US">
                <a:solidFill>
                  <a:srgbClr val="3380E6"/>
                </a:solidFill>
                <a:latin typeface="Arial"/>
              </a:rPr>
              <a:t>Another Simple C Program: Adding Two Integers (Cont.)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109537" indent="0">
              <a:buNone/>
              <a:defRPr/>
            </a:pPr>
            <a:r>
              <a:rPr lang="en-US" sz="2500" b="1" i="1" dirty="0">
                <a:solidFill>
                  <a:srgbClr val="000000"/>
                </a:solidFill>
              </a:rPr>
              <a:t>The </a:t>
            </a:r>
            <a:r>
              <a:rPr lang="en-US" sz="22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2500" b="1" i="1" dirty="0">
                <a:solidFill>
                  <a:srgbClr val="000000"/>
                </a:solidFill>
              </a:rPr>
              <a:t> Function and Formatted Inputs</a:t>
            </a:r>
          </a:p>
          <a:p>
            <a:pPr>
              <a:defRPr/>
            </a:pP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sz="2400" b="1" dirty="0">
                <a:solidFill>
                  <a:srgbClr val="128AFF"/>
                </a:solidFill>
                <a:latin typeface="Consolas" panose="020B0609020204030204" pitchFamily="49" charset="0"/>
              </a:rPr>
              <a:t>"%d"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&amp;integer1 ); </a:t>
            </a:r>
            <a:r>
              <a:rPr lang="en-US" sz="2400" b="1" dirty="0">
                <a:solidFill>
                  <a:srgbClr val="00BF00"/>
                </a:solidFill>
                <a:latin typeface="Consolas" panose="020B0609020204030204" pitchFamily="49" charset="0"/>
              </a:rPr>
              <a:t>// read an integer</a:t>
            </a:r>
          </a:p>
          <a:p>
            <a:pPr marL="365125" lvl="1" indent="0">
              <a:buNone/>
              <a:defRPr/>
            </a:pPr>
            <a:r>
              <a:rPr lang="en-US" sz="2500" dirty="0">
                <a:solidFill>
                  <a:srgbClr val="000000"/>
                </a:solidFill>
              </a:rPr>
              <a:t>uses </a:t>
            </a:r>
            <a:r>
              <a:rPr lang="en-US" dirty="0" err="1">
                <a:solidFill>
                  <a:srgbClr val="0000FF"/>
                </a:solidFill>
                <a:latin typeface="LucidaSansTypewriter" pitchFamily="49" charset="0"/>
              </a:rPr>
              <a:t>scanf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sz="2500" dirty="0">
                <a:solidFill>
                  <a:srgbClr val="000000"/>
                </a:solidFill>
              </a:rPr>
              <a:t>to obtain a value from the user.</a:t>
            </a:r>
          </a:p>
          <a:p>
            <a:pPr>
              <a:defRPr/>
            </a:pPr>
            <a:r>
              <a:rPr lang="en-US" sz="2500" dirty="0">
                <a:solidFill>
                  <a:srgbClr val="000000"/>
                </a:solidFill>
              </a:rPr>
              <a:t>The </a:t>
            </a:r>
            <a:r>
              <a:rPr lang="en-US" sz="2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2500" dirty="0">
                <a:solidFill>
                  <a:srgbClr val="000000"/>
                </a:solidFill>
              </a:rPr>
              <a:t> function reads from the standard input, which is usually the keyboard.</a:t>
            </a:r>
          </a:p>
          <a:p>
            <a:pPr>
              <a:defRPr/>
            </a:pPr>
            <a:r>
              <a:rPr lang="en-US" altLang="en-US" sz="2500" dirty="0"/>
              <a:t>This </a:t>
            </a:r>
            <a:r>
              <a:rPr lang="en-US" altLang="en-US" sz="2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altLang="en-US" sz="2500" dirty="0"/>
              <a:t> statement has two arguments</a:t>
            </a:r>
          </a:p>
          <a:p>
            <a:pPr lvl="2"/>
            <a:r>
              <a:rPr lang="en-US" altLang="en-US" sz="1900" dirty="0">
                <a:latin typeface="Lucida Console" panose="020B0609040504020204" pitchFamily="49" charset="0"/>
              </a:rPr>
              <a:t>%d</a:t>
            </a:r>
            <a:r>
              <a:rPr lang="en-US" altLang="en-US" sz="2200" dirty="0"/>
              <a:t> - indicates data should be a decimal integer</a:t>
            </a:r>
          </a:p>
          <a:p>
            <a:pPr lvl="2"/>
            <a:r>
              <a:rPr lang="en-US" altLang="en-US" sz="1900" dirty="0">
                <a:latin typeface="Lucida Console" panose="020B0609040504020204" pitchFamily="49" charset="0"/>
              </a:rPr>
              <a:t>&amp;integer1</a:t>
            </a:r>
            <a:r>
              <a:rPr lang="en-US" altLang="en-US" sz="2200" dirty="0"/>
              <a:t> - location in memory to store variable</a:t>
            </a:r>
          </a:p>
          <a:p>
            <a:pPr lvl="2"/>
            <a:r>
              <a:rPr lang="en-US" altLang="en-US" sz="1900" dirty="0">
                <a:latin typeface="Lucida Console" panose="020B0609040504020204" pitchFamily="49" charset="0"/>
              </a:rPr>
              <a:t>&amp;</a:t>
            </a:r>
            <a:r>
              <a:rPr lang="en-US" altLang="en-US" sz="2200" dirty="0"/>
              <a:t> is confusing in beginning – for now, just remember to include it with the variable name in </a:t>
            </a:r>
            <a:r>
              <a:rPr lang="en-US" altLang="en-US" sz="1900" dirty="0" err="1">
                <a:latin typeface="Lucida Console" panose="020B0609040504020204" pitchFamily="49" charset="0"/>
              </a:rPr>
              <a:t>scanf</a:t>
            </a:r>
            <a:r>
              <a:rPr lang="en-US" altLang="en-US" sz="2200" dirty="0"/>
              <a:t> statements</a:t>
            </a:r>
          </a:p>
          <a:p>
            <a:pPr>
              <a:defRPr/>
            </a:pPr>
            <a:r>
              <a:rPr lang="en-US" altLang="en-US" sz="2500" dirty="0"/>
              <a:t>When executing the program the user responds to the </a:t>
            </a:r>
            <a:r>
              <a:rPr lang="en-US" altLang="en-US" sz="25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altLang="en-US" sz="2500" dirty="0"/>
              <a:t> statement by typing in a number, then pressing the </a:t>
            </a:r>
            <a:r>
              <a:rPr lang="en-US" altLang="en-US" sz="2500" i="1" dirty="0"/>
              <a:t>enter</a:t>
            </a:r>
            <a:r>
              <a:rPr lang="en-US" altLang="en-US" sz="2500" dirty="0"/>
              <a:t> (return) key</a:t>
            </a:r>
          </a:p>
          <a:p>
            <a:pPr>
              <a:defRPr/>
            </a:pPr>
            <a:endParaRPr lang="en-US" altLang="en-US" dirty="0"/>
          </a:p>
          <a:p>
            <a:pPr lvl="2"/>
            <a:endParaRPr lang="en-US" altLang="en-US" dirty="0"/>
          </a:p>
          <a:p>
            <a:pPr>
              <a:defRPr/>
            </a:pPr>
            <a:endParaRPr lang="en-US" sz="250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2500" dirty="0">
              <a:solidFill>
                <a:srgbClr val="000000"/>
              </a:solidFill>
            </a:endParaRPr>
          </a:p>
          <a:p>
            <a:pPr marL="365125" lvl="1" indent="0">
              <a:lnSpc>
                <a:spcPct val="80000"/>
              </a:lnSpc>
              <a:buNone/>
              <a:defRPr/>
            </a:pPr>
            <a:endParaRPr lang="en-US" sz="1900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97E8EA-6EFD-4D52-A190-AD79F09157E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18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2.3  </a:t>
            </a:r>
            <a:r>
              <a:rPr lang="en-US">
                <a:solidFill>
                  <a:srgbClr val="3380E6"/>
                </a:solidFill>
                <a:latin typeface="Arial"/>
              </a:rPr>
              <a:t>Another Simple C Program: Adding Two Integers (Cont.)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537" indent="0">
              <a:buNone/>
              <a:defRPr/>
            </a:pPr>
            <a:r>
              <a:rPr lang="en-US" sz="2300" b="1" i="1" dirty="0">
                <a:solidFill>
                  <a:srgbClr val="000000"/>
                </a:solidFill>
              </a:rPr>
              <a:t>Assignment Statement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300" dirty="0">
                <a:solidFill>
                  <a:srgbClr val="000000"/>
                </a:solidFill>
              </a:rPr>
              <a:t>The </a:t>
            </a:r>
            <a:r>
              <a:rPr lang="en-US" sz="2300" dirty="0">
                <a:solidFill>
                  <a:srgbClr val="0000FF"/>
                </a:solidFill>
              </a:rPr>
              <a:t>assignment statement </a:t>
            </a:r>
            <a:endParaRPr lang="en-US" sz="2300" dirty="0">
              <a:solidFill>
                <a:srgbClr val="000000"/>
              </a:solidFill>
            </a:endParaRP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sum = integer1 + integer2; </a:t>
            </a:r>
            <a:r>
              <a:rPr lang="en-US" sz="1800" dirty="0">
                <a:solidFill>
                  <a:srgbClr val="00BF00"/>
                </a:solidFill>
                <a:latin typeface="Consolas" panose="020B0609020204030204" pitchFamily="49" charset="0"/>
              </a:rPr>
              <a:t>// assign total to sum </a:t>
            </a:r>
          </a:p>
          <a:p>
            <a:pPr marL="365125" lvl="1" indent="0">
              <a:buNone/>
              <a:defRPr/>
            </a:pPr>
            <a:r>
              <a:rPr lang="en-US" sz="2300" dirty="0">
                <a:solidFill>
                  <a:srgbClr val="000000"/>
                </a:solidFill>
              </a:rPr>
              <a:t>calculates the total of variables 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integer1</a:t>
            </a:r>
            <a:r>
              <a:rPr lang="en-US" sz="2300" dirty="0">
                <a:solidFill>
                  <a:srgbClr val="000000"/>
                </a:solidFill>
              </a:rPr>
              <a:t> and 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integer2</a:t>
            </a:r>
            <a:r>
              <a:rPr lang="en-US" sz="2300" dirty="0">
                <a:solidFill>
                  <a:srgbClr val="000000"/>
                </a:solidFill>
              </a:rPr>
              <a:t> and assigns the result to variable </a:t>
            </a:r>
            <a:r>
              <a:rPr lang="en-US" sz="2300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sz="2300" dirty="0">
                <a:solidFill>
                  <a:srgbClr val="000000"/>
                </a:solidFill>
              </a:rPr>
              <a:t> using the assignment operator =.</a:t>
            </a:r>
          </a:p>
          <a:p>
            <a:r>
              <a:rPr lang="en-US" altLang="en-US" sz="2600" dirty="0" err="1">
                <a:latin typeface="Lucida Console" panose="020B0609040504020204" pitchFamily="49" charset="0"/>
              </a:rPr>
              <a:t>printf</a:t>
            </a:r>
            <a:r>
              <a:rPr lang="en-US" altLang="en-US" sz="2600" dirty="0">
                <a:latin typeface="Lucida Console" panose="020B0609040504020204" pitchFamily="49" charset="0"/>
              </a:rPr>
              <a:t>( "Sum is %d\n", sum );</a:t>
            </a:r>
          </a:p>
          <a:p>
            <a:pPr lvl="1"/>
            <a:r>
              <a:rPr lang="en-US" altLang="en-US" dirty="0"/>
              <a:t>Similar to </a:t>
            </a:r>
            <a:r>
              <a:rPr lang="en-US" altLang="en-US" sz="2000" dirty="0" err="1">
                <a:latin typeface="Lucida Console" panose="020B0609040504020204" pitchFamily="49" charset="0"/>
              </a:rPr>
              <a:t>scanf</a:t>
            </a:r>
            <a:endParaRPr lang="en-US" altLang="en-US" sz="2000" dirty="0">
              <a:latin typeface="Lucida Console" panose="020B0609040504020204" pitchFamily="49" charset="0"/>
            </a:endParaRPr>
          </a:p>
          <a:p>
            <a:pPr lvl="2"/>
            <a:r>
              <a:rPr lang="en-US" altLang="en-US" sz="1800" dirty="0">
                <a:latin typeface="Lucida Console" panose="020B0609040504020204" pitchFamily="49" charset="0"/>
              </a:rPr>
              <a:t>%d</a:t>
            </a:r>
            <a:r>
              <a:rPr lang="en-US" altLang="en-US" dirty="0"/>
              <a:t> means decimal integer will be printed</a:t>
            </a:r>
          </a:p>
          <a:p>
            <a:pPr lvl="2"/>
            <a:r>
              <a:rPr lang="en-US" altLang="en-US" sz="1800" dirty="0">
                <a:latin typeface="Lucida Console" panose="020B0609040504020204" pitchFamily="49" charset="0"/>
              </a:rPr>
              <a:t>sum</a:t>
            </a:r>
            <a:r>
              <a:rPr lang="en-US" altLang="en-US" dirty="0"/>
              <a:t> specifies what integer will be printed</a:t>
            </a:r>
          </a:p>
          <a:p>
            <a:pPr lvl="1"/>
            <a:r>
              <a:rPr lang="en-US" altLang="en-US" dirty="0"/>
              <a:t>Calculations can be performed inside </a:t>
            </a:r>
            <a:r>
              <a:rPr lang="en-US" altLang="en-US" sz="2000" dirty="0" err="1">
                <a:latin typeface="Lucida Console" panose="020B0609040504020204" pitchFamily="49" charset="0"/>
              </a:rPr>
              <a:t>printf</a:t>
            </a:r>
            <a:r>
              <a:rPr lang="en-US" altLang="en-US" dirty="0"/>
              <a:t> statements</a:t>
            </a:r>
          </a:p>
          <a:p>
            <a:pPr lvl="2">
              <a:buNone/>
            </a:pPr>
            <a:r>
              <a:rPr lang="en-US" altLang="en-US" sz="1800" dirty="0" err="1">
                <a:latin typeface="Lucida Console" panose="020B0609040504020204" pitchFamily="49" charset="0"/>
              </a:rPr>
              <a:t>printf</a:t>
            </a:r>
            <a:r>
              <a:rPr lang="en-US" altLang="en-US" sz="1800" dirty="0">
                <a:latin typeface="Lucida Console" panose="020B0609040504020204" pitchFamily="49" charset="0"/>
              </a:rPr>
              <a:t>( "Sum is %d\n", integer1 + integer2 );</a:t>
            </a:r>
          </a:p>
          <a:p>
            <a:pPr marL="365125" lvl="1" indent="0">
              <a:buNone/>
              <a:defRPr/>
            </a:pPr>
            <a:endParaRPr lang="en-US" sz="2300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97E8EA-6EFD-4D52-A190-AD79F09157E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31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solidFill>
                  <a:srgbClr val="0070C0"/>
                </a:solidFill>
              </a:rPr>
              <a:t>printf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2743200"/>
          </a:xfrm>
        </p:spPr>
        <p:txBody>
          <a:bodyPr>
            <a:normAutofit/>
          </a:bodyPr>
          <a:lstStyle/>
          <a:p>
            <a:r>
              <a:rPr lang="en-US" dirty="0"/>
              <a:t>print list</a:t>
            </a:r>
          </a:p>
          <a:p>
            <a:pPr lvl="1"/>
            <a:r>
              <a:rPr lang="en-US" dirty="0"/>
              <a:t>in a call to </a:t>
            </a:r>
            <a:r>
              <a:rPr lang="en-US" dirty="0" err="1">
                <a:solidFill>
                  <a:srgbClr val="0070C0"/>
                </a:solidFill>
              </a:rPr>
              <a:t>printf</a:t>
            </a:r>
            <a:r>
              <a:rPr lang="en-US" dirty="0"/>
              <a:t>, the variables or expressions whose values are displayed</a:t>
            </a:r>
          </a:p>
          <a:p>
            <a:r>
              <a:rPr lang="en-US" dirty="0"/>
              <a:t>placeholder</a:t>
            </a:r>
          </a:p>
          <a:p>
            <a:pPr lvl="1"/>
            <a:r>
              <a:rPr lang="en-US" dirty="0"/>
              <a:t>a symbol beginning with % in a format string that indicates where to display the output value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DA42-601D-40A8-83CA-2F2CBDE5F9F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88699" y="4800601"/>
            <a:ext cx="50299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rgbClr val="660033"/>
                </a:solidFill>
              </a:rPr>
              <a:t>printf</a:t>
            </a:r>
            <a:r>
              <a:rPr lang="en-US" sz="3200" dirty="0">
                <a:solidFill>
                  <a:srgbClr val="660033"/>
                </a:solidFill>
              </a:rPr>
              <a:t>(“</a:t>
            </a:r>
            <a:r>
              <a:rPr lang="pt-BR" sz="3200" dirty="0">
                <a:solidFill>
                  <a:srgbClr val="660033"/>
                </a:solidFill>
              </a:rPr>
              <a:t>"Sum is %d\n", sum </a:t>
            </a:r>
            <a:r>
              <a:rPr lang="en-US" sz="3200" dirty="0">
                <a:solidFill>
                  <a:srgbClr val="660033"/>
                </a:solidFill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4703682" y="4806667"/>
            <a:ext cx="685800" cy="58477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4122821" y="2775284"/>
            <a:ext cx="1266661" cy="2019251"/>
          </a:xfrm>
          <a:custGeom>
            <a:avLst/>
            <a:gdLst>
              <a:gd name="connsiteX0" fmla="*/ 0 w 1889371"/>
              <a:gd name="connsiteY0" fmla="*/ 27833 h 1589347"/>
              <a:gd name="connsiteX1" fmla="*/ 1800665 w 1889371"/>
              <a:gd name="connsiteY1" fmla="*/ 210713 h 1589347"/>
              <a:gd name="connsiteX2" fmla="*/ 1448973 w 1889371"/>
              <a:gd name="connsiteY2" fmla="*/ 1589347 h 1589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89371" h="1589347">
                <a:moveTo>
                  <a:pt x="0" y="27833"/>
                </a:moveTo>
                <a:cubicBezTo>
                  <a:pt x="779585" y="-10853"/>
                  <a:pt x="1559170" y="-49539"/>
                  <a:pt x="1800665" y="210713"/>
                </a:cubicBezTo>
                <a:cubicBezTo>
                  <a:pt x="2042160" y="470965"/>
                  <a:pt x="1745566" y="1030156"/>
                  <a:pt x="1448973" y="1589347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3609473" y="1690688"/>
            <a:ext cx="3735707" cy="3241076"/>
          </a:xfrm>
          <a:custGeom>
            <a:avLst/>
            <a:gdLst>
              <a:gd name="connsiteX0" fmla="*/ 0 w 1889371"/>
              <a:gd name="connsiteY0" fmla="*/ 27833 h 1589347"/>
              <a:gd name="connsiteX1" fmla="*/ 1800665 w 1889371"/>
              <a:gd name="connsiteY1" fmla="*/ 210713 h 1589347"/>
              <a:gd name="connsiteX2" fmla="*/ 1448973 w 1889371"/>
              <a:gd name="connsiteY2" fmla="*/ 1589347 h 1589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89371" h="1589347">
                <a:moveTo>
                  <a:pt x="0" y="27833"/>
                </a:moveTo>
                <a:cubicBezTo>
                  <a:pt x="779585" y="-10853"/>
                  <a:pt x="1559170" y="-49539"/>
                  <a:pt x="1800665" y="210713"/>
                </a:cubicBezTo>
                <a:cubicBezTo>
                  <a:pt x="2042160" y="470965"/>
                  <a:pt x="1745566" y="1030156"/>
                  <a:pt x="1448973" y="1589347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491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>
                <a:solidFill>
                  <a:srgbClr val="660033"/>
                </a:solidFill>
              </a:rPr>
              <a:t>int</a:t>
            </a:r>
            <a:endParaRPr lang="en-US" dirty="0">
              <a:solidFill>
                <a:srgbClr val="660033"/>
              </a:solidFill>
            </a:endParaRPr>
          </a:p>
          <a:p>
            <a:pPr lvl="1"/>
            <a:r>
              <a:rPr lang="en-US" dirty="0"/>
              <a:t>a whole number</a:t>
            </a:r>
          </a:p>
          <a:p>
            <a:pPr lvl="1"/>
            <a:r>
              <a:rPr lang="en-US" dirty="0"/>
              <a:t>435</a:t>
            </a:r>
          </a:p>
          <a:p>
            <a:r>
              <a:rPr lang="en-US" dirty="0">
                <a:solidFill>
                  <a:srgbClr val="660033"/>
                </a:solidFill>
              </a:rPr>
              <a:t>double</a:t>
            </a:r>
          </a:p>
          <a:p>
            <a:pPr lvl="1"/>
            <a:r>
              <a:rPr lang="en-US" dirty="0"/>
              <a:t>a real number with an integral part and a fractional part separated by a decimal point</a:t>
            </a:r>
          </a:p>
          <a:p>
            <a:pPr lvl="1"/>
            <a:r>
              <a:rPr lang="en-US" dirty="0"/>
              <a:t>3.14159</a:t>
            </a:r>
          </a:p>
          <a:p>
            <a:r>
              <a:rPr lang="en-US" dirty="0">
                <a:solidFill>
                  <a:srgbClr val="660033"/>
                </a:solidFill>
              </a:rPr>
              <a:t>char</a:t>
            </a:r>
          </a:p>
          <a:p>
            <a:pPr lvl="1"/>
            <a:r>
              <a:rPr lang="en-US" dirty="0"/>
              <a:t>an individual character value</a:t>
            </a:r>
          </a:p>
          <a:p>
            <a:pPr lvl="1"/>
            <a:r>
              <a:rPr lang="en-US" dirty="0"/>
              <a:t>enclosed in single quotes</a:t>
            </a:r>
          </a:p>
          <a:p>
            <a:pPr lvl="1"/>
            <a:r>
              <a:rPr lang="en-US" dirty="0"/>
              <a:t>‘A’, ‘z’, ‘2’, ‘9’, ‘*’, ‘!’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DA42-601D-40A8-83CA-2F2CBDE5F9F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115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Placeholders in format string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/>
          </p:nvPr>
        </p:nvGraphicFramePr>
        <p:xfrm>
          <a:off x="1981200" y="1600200"/>
          <a:ext cx="8229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Placeholder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Variable</a:t>
                      </a:r>
                      <a:r>
                        <a:rPr lang="en-US" baseline="0" dirty="0"/>
                        <a:t>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%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printf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scanf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%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printf</a:t>
                      </a:r>
                      <a:r>
                        <a:rPr lang="en-US" dirty="0"/>
                        <a:t>/</a:t>
                      </a:r>
                      <a:r>
                        <a:rPr lang="en-US" dirty="0" err="1"/>
                        <a:t>scanf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%</a:t>
                      </a:r>
                      <a:r>
                        <a:rPr lang="en-US" baseline="0" dirty="0"/>
                        <a:t> 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printf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% 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scanf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DA42-601D-40A8-83CA-2F2CBDE5F9F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25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5724"/>
            <a:ext cx="10515600" cy="1325563"/>
          </a:xfrm>
        </p:spPr>
        <p:txBody>
          <a:bodyPr/>
          <a:lstStyle/>
          <a:p>
            <a:pPr algn="ctr"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2.4  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Memory Concepts</a:t>
            </a:r>
          </a:p>
        </p:txBody>
      </p:sp>
      <p:sp>
        <p:nvSpPr>
          <p:cNvPr id="68611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500" b="1" dirty="0">
                <a:solidFill>
                  <a:srgbClr val="000000"/>
                </a:solidFill>
              </a:rPr>
              <a:t>Variables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</a:rPr>
              <a:t>Variable names such as </a:t>
            </a:r>
            <a:r>
              <a:rPr lang="en-US" alt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integer1</a:t>
            </a:r>
            <a:r>
              <a:rPr lang="en-US" altLang="en-US" sz="2100" dirty="0">
                <a:solidFill>
                  <a:srgbClr val="000000"/>
                </a:solidFill>
              </a:rPr>
              <a:t>, </a:t>
            </a:r>
            <a:r>
              <a:rPr lang="en-US" alt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integer2</a:t>
            </a:r>
            <a:r>
              <a:rPr lang="en-US" altLang="en-US" sz="2100" dirty="0">
                <a:solidFill>
                  <a:srgbClr val="000000"/>
                </a:solidFill>
              </a:rPr>
              <a:t> and </a:t>
            </a:r>
            <a:r>
              <a:rPr lang="en-US" alt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en-US" sz="2100" dirty="0">
                <a:solidFill>
                  <a:srgbClr val="000000"/>
                </a:solidFill>
              </a:rPr>
              <a:t> actually correspond to locations in the computer’s memory.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</a:rPr>
              <a:t>Every variable has a name, a </a:t>
            </a:r>
            <a:r>
              <a:rPr lang="en-US" altLang="en-US" sz="2100" dirty="0">
                <a:solidFill>
                  <a:srgbClr val="0000FF"/>
                </a:solidFill>
              </a:rPr>
              <a:t>type </a:t>
            </a:r>
            <a:r>
              <a:rPr lang="en-US" altLang="en-US" sz="2100" dirty="0">
                <a:solidFill>
                  <a:srgbClr val="000000"/>
                </a:solidFill>
              </a:rPr>
              <a:t>and a </a:t>
            </a:r>
            <a:r>
              <a:rPr lang="en-US" altLang="en-US" sz="2100" dirty="0">
                <a:solidFill>
                  <a:srgbClr val="0000FF"/>
                </a:solidFill>
              </a:rPr>
              <a:t>value</a:t>
            </a:r>
            <a:r>
              <a:rPr lang="en-US" altLang="en-US" sz="2100" dirty="0">
                <a:solidFill>
                  <a:srgbClr val="000000"/>
                </a:solidFill>
              </a:rPr>
              <a:t>. 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</a:rPr>
              <a:t>In the addition program of Fig. 2.5, when the statement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19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altLang="en-US" sz="1900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altLang="en-US" sz="1900" b="1" dirty="0">
                <a:solidFill>
                  <a:srgbClr val="128AFF"/>
                </a:solidFill>
                <a:latin typeface="Consolas" panose="020B0609020204030204" pitchFamily="49" charset="0"/>
              </a:rPr>
              <a:t>"%d"</a:t>
            </a:r>
            <a:r>
              <a:rPr lang="en-US" altLang="en-US" sz="1900" b="1" dirty="0">
                <a:solidFill>
                  <a:srgbClr val="000000"/>
                </a:solidFill>
                <a:latin typeface="Consolas" panose="020B0609020204030204" pitchFamily="49" charset="0"/>
              </a:rPr>
              <a:t>, &amp;integer1 ); </a:t>
            </a:r>
            <a:r>
              <a:rPr lang="en-US" altLang="en-US" sz="1900" b="1" dirty="0">
                <a:solidFill>
                  <a:srgbClr val="00BF00"/>
                </a:solidFill>
                <a:latin typeface="Consolas" panose="020B0609020204030204" pitchFamily="49" charset="0"/>
              </a:rPr>
              <a:t>// read an integer 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>
                <a:solidFill>
                  <a:srgbClr val="000000"/>
                </a:solidFill>
              </a:rPr>
              <a:t>is executed, the value entered by the user is placed into a memory location to which the name </a:t>
            </a:r>
            <a:r>
              <a:rPr lang="en-US" alt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integer1</a:t>
            </a:r>
            <a:r>
              <a:rPr lang="en-US" altLang="en-US" sz="2100" dirty="0">
                <a:solidFill>
                  <a:srgbClr val="000000"/>
                </a:solidFill>
              </a:rPr>
              <a:t> has been assigned.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</a:rPr>
              <a:t>Suppose the user enters the number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45</a:t>
            </a:r>
            <a:r>
              <a:rPr lang="en-US" altLang="en-US" sz="2500" dirty="0">
                <a:solidFill>
                  <a:srgbClr val="000000"/>
                </a:solidFill>
              </a:rPr>
              <a:t> as the value for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integer1</a:t>
            </a:r>
            <a:r>
              <a:rPr lang="en-US" altLang="en-US" sz="2500" dirty="0">
                <a:solidFill>
                  <a:srgbClr val="000000"/>
                </a:solidFill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solidFill>
                  <a:srgbClr val="000000"/>
                </a:solidFill>
              </a:rPr>
              <a:t>The computer will place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45</a:t>
            </a:r>
            <a:r>
              <a:rPr lang="en-US" altLang="en-US" sz="2500" dirty="0">
                <a:solidFill>
                  <a:srgbClr val="000000"/>
                </a:solidFill>
              </a:rPr>
              <a:t> into location </a:t>
            </a:r>
            <a:r>
              <a:rPr lang="en-US" altLang="en-US" sz="2500" dirty="0">
                <a:solidFill>
                  <a:srgbClr val="000000"/>
                </a:solidFill>
                <a:latin typeface="Consolas" panose="020B0609020204030204" pitchFamily="49" charset="0"/>
              </a:rPr>
              <a:t>integer1</a:t>
            </a:r>
            <a:r>
              <a:rPr lang="en-US" altLang="en-US" sz="2500" dirty="0">
                <a:solidFill>
                  <a:srgbClr val="000000"/>
                </a:solidFill>
              </a:rPr>
              <a:t> as shown in Fig. 2.6.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97E8EA-6EFD-4D52-A190-AD79F09157E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812A5A71-AEC4-4594-892D-81843225B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4639510"/>
            <a:ext cx="8420100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02_Page_27"/>
          <p:cNvPicPr>
            <a:picLocks noGrp="1" noChangeAspect="1"/>
          </p:cNvPicPr>
          <p:nvPr isPhoto="1"/>
        </p:nvPicPr>
        <p:blipFill>
          <a:blip r:embed="rId2" cstate="hq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0FD6-96F5-477E-84AD-5C3BDD37434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4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2.5  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Arithmetic in 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sz="2400" dirty="0"/>
              <a:t>Arithmetic calculations </a:t>
            </a:r>
            <a:r>
              <a:rPr lang="en-US" altLang="en-US" sz="2400" b="1" dirty="0"/>
              <a:t>(+, -, *, /, %)</a:t>
            </a:r>
          </a:p>
          <a:p>
            <a:pPr lvl="1">
              <a:defRPr/>
            </a:pPr>
            <a:r>
              <a:rPr lang="en-US" sz="2100" dirty="0">
                <a:solidFill>
                  <a:srgbClr val="000000"/>
                </a:solidFill>
              </a:rPr>
              <a:t>The </a:t>
            </a:r>
            <a:r>
              <a:rPr lang="en-US" sz="2100" dirty="0">
                <a:solidFill>
                  <a:srgbClr val="0000FF"/>
                </a:solidFill>
              </a:rPr>
              <a:t>asterisk</a:t>
            </a:r>
            <a:r>
              <a:rPr lang="en-US" sz="2100" dirty="0">
                <a:solidFill>
                  <a:srgbClr val="000000"/>
                </a:solidFill>
              </a:rPr>
              <a:t> 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100" dirty="0">
                <a:solidFill>
                  <a:srgbClr val="0000FF"/>
                </a:solidFill>
                <a:latin typeface="LucidaSansTypewriter" pitchFamily="49" charset="0"/>
              </a:rPr>
              <a:t>*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2100" dirty="0">
                <a:solidFill>
                  <a:srgbClr val="000000"/>
                </a:solidFill>
              </a:rPr>
              <a:t> indicates multiplication and the </a:t>
            </a:r>
            <a:r>
              <a:rPr lang="en-US" sz="2100" dirty="0">
                <a:solidFill>
                  <a:srgbClr val="0000FF"/>
                </a:solidFill>
              </a:rPr>
              <a:t>percent sign </a:t>
            </a:r>
            <a:r>
              <a:rPr lang="en-US" sz="2100" dirty="0">
                <a:solidFill>
                  <a:srgbClr val="000000"/>
                </a:solidFill>
              </a:rPr>
              <a:t>(</a:t>
            </a:r>
            <a:r>
              <a:rPr lang="en-US" sz="2100" dirty="0">
                <a:solidFill>
                  <a:srgbClr val="0000FF"/>
                </a:solidFill>
                <a:latin typeface="LucidaSansTypewriter" pitchFamily="49" charset="0"/>
              </a:rPr>
              <a:t>%</a:t>
            </a:r>
            <a:r>
              <a:rPr lang="en-US" sz="2100" dirty="0">
                <a:solidFill>
                  <a:srgbClr val="000000"/>
                </a:solidFill>
              </a:rPr>
              <a:t>) denotes the remainder operator.</a:t>
            </a:r>
            <a:endParaRPr lang="en-US" altLang="en-US" sz="2400" dirty="0"/>
          </a:p>
          <a:p>
            <a:pPr>
              <a:defRPr/>
            </a:pPr>
            <a:r>
              <a:rPr lang="en-US" sz="2400" b="1" i="1" dirty="0"/>
              <a:t>Integer Division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000" dirty="0">
                <a:solidFill>
                  <a:srgbClr val="0000FF"/>
                </a:solidFill>
              </a:rPr>
              <a:t>Integer division</a:t>
            </a:r>
            <a:r>
              <a:rPr lang="en-US" sz="2000" dirty="0">
                <a:solidFill>
                  <a:srgbClr val="000000"/>
                </a:solidFill>
              </a:rPr>
              <a:t> yields an integer result</a:t>
            </a:r>
          </a:p>
          <a:p>
            <a:pPr lvl="1">
              <a:lnSpc>
                <a:spcPct val="80000"/>
              </a:lnSpc>
              <a:defRPr/>
            </a:pPr>
            <a:r>
              <a:rPr lang="en-US" sz="2000" dirty="0">
                <a:solidFill>
                  <a:srgbClr val="000000"/>
                </a:solidFill>
              </a:rPr>
              <a:t>For example, the expression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7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4</a:t>
            </a:r>
            <a:r>
              <a:rPr lang="en-US" sz="2000" dirty="0">
                <a:solidFill>
                  <a:srgbClr val="000000"/>
                </a:solidFill>
              </a:rPr>
              <a:t> evaluates to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</a:rPr>
              <a:t> and the expression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17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5</a:t>
            </a:r>
            <a:r>
              <a:rPr lang="en-US" sz="2000" dirty="0">
                <a:solidFill>
                  <a:srgbClr val="000000"/>
                </a:solidFill>
              </a:rPr>
              <a:t> evaluates to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  <a:endParaRPr lang="en-US" sz="2000" dirty="0">
              <a:solidFill>
                <a:srgbClr val="000000"/>
              </a:solidFill>
            </a:endParaRPr>
          </a:p>
          <a:p>
            <a:pPr>
              <a:defRPr/>
            </a:pPr>
            <a:r>
              <a:rPr lang="en-US" sz="2400" dirty="0">
                <a:solidFill>
                  <a:srgbClr val="0000FF"/>
                </a:solidFill>
              </a:rPr>
              <a:t>Remainder operator 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LucidaSansTypewriter" pitchFamily="49" charset="0"/>
              </a:rPr>
              <a:t>%</a:t>
            </a:r>
          </a:p>
          <a:p>
            <a:pPr lvl="1">
              <a:defRPr/>
            </a:pPr>
            <a:r>
              <a:rPr lang="en-US" sz="2000" dirty="0">
                <a:solidFill>
                  <a:srgbClr val="000000"/>
                </a:solidFill>
              </a:rPr>
              <a:t>Modulus operator (%) returns the remainder</a:t>
            </a:r>
          </a:p>
          <a:p>
            <a:pPr lvl="1">
              <a:defRPr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7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%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4</a:t>
            </a:r>
            <a:r>
              <a:rPr lang="en-US" sz="2000" dirty="0">
                <a:solidFill>
                  <a:srgbClr val="000000"/>
                </a:solidFill>
              </a:rPr>
              <a:t> yields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  <a:r>
              <a:rPr lang="en-US" sz="2000" dirty="0">
                <a:solidFill>
                  <a:srgbClr val="000000"/>
                </a:solidFill>
              </a:rPr>
              <a:t> and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17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%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5</a:t>
            </a:r>
            <a:r>
              <a:rPr lang="en-US" sz="2000" dirty="0">
                <a:solidFill>
                  <a:srgbClr val="000000"/>
                </a:solidFill>
              </a:rPr>
              <a:t> yields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2.</a:t>
            </a:r>
            <a:endParaRPr lang="en-US" sz="2000" b="1" i="1" dirty="0"/>
          </a:p>
          <a:p>
            <a:pPr lvl="1">
              <a:defRPr/>
            </a:pPr>
            <a:endParaRPr lang="en-US" sz="2100" dirty="0">
              <a:solidFill>
                <a:srgbClr val="000000"/>
              </a:solidFill>
            </a:endParaRPr>
          </a:p>
          <a:p>
            <a:pPr lvl="1">
              <a:defRPr/>
            </a:pPr>
            <a:endParaRPr lang="en-US" sz="2100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97E8EA-6EFD-4D52-A190-AD79F09157EA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16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chtp8_02_Page_28">
            <a:extLst>
              <a:ext uri="{FF2B5EF4-FFF2-40B4-BE49-F238E27FC236}">
                <a16:creationId xmlns:a16="http://schemas.microsoft.com/office/drawing/2014/main" id="{1AF30222-03F2-41B8-863D-9D42615BEE3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 cstate="hq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22E3C4AF-524D-46C8-95A1-D90D82809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980" y="2773983"/>
            <a:ext cx="6516102" cy="389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504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02_Page_31"/>
          <p:cNvPicPr>
            <a:picLocks noGrp="1" noChangeAspect="1"/>
          </p:cNvPicPr>
          <p:nvPr isPhoto="1"/>
        </p:nvPicPr>
        <p:blipFill>
          <a:blip r:embed="rId2" cstate="hq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0FD6-96F5-477E-84AD-5C3BDD37434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6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2.6  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Decision Making: Equality and Relational Operators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rgbClr val="000000"/>
                </a:solidFill>
              </a:rPr>
              <a:t>Executable C statements </a:t>
            </a:r>
          </a:p>
          <a:p>
            <a:pPr lvl="1">
              <a:defRPr/>
            </a:pPr>
            <a:r>
              <a:rPr lang="en-US" dirty="0">
                <a:solidFill>
                  <a:srgbClr val="000000"/>
                </a:solidFill>
              </a:rPr>
              <a:t>perform actions (such as calculations or input or output of data) </a:t>
            </a:r>
          </a:p>
          <a:p>
            <a:pPr lvl="1">
              <a:defRPr/>
            </a:pPr>
            <a:r>
              <a:rPr lang="en-US" dirty="0">
                <a:solidFill>
                  <a:srgbClr val="000000"/>
                </a:solidFill>
              </a:rPr>
              <a:t>make </a:t>
            </a:r>
            <a:r>
              <a:rPr lang="en-US" dirty="0">
                <a:solidFill>
                  <a:srgbClr val="0000FF"/>
                </a:solidFill>
              </a:rPr>
              <a:t>decisions</a:t>
            </a:r>
          </a:p>
          <a:p>
            <a:pPr lvl="2">
              <a:defRPr/>
            </a:pPr>
            <a:r>
              <a:rPr lang="en-US" altLang="en-US" dirty="0"/>
              <a:t>May want to print </a:t>
            </a:r>
            <a:r>
              <a:rPr lang="en-US" altLang="en-US" sz="1800" dirty="0">
                <a:latin typeface="Lucida Console" panose="020B0609040504020204" pitchFamily="49" charset="0"/>
              </a:rPr>
              <a:t>"pass"</a:t>
            </a:r>
            <a:r>
              <a:rPr lang="en-US" altLang="en-US" dirty="0"/>
              <a:t> or </a:t>
            </a:r>
            <a:r>
              <a:rPr lang="en-US" altLang="en-US" sz="1800" dirty="0">
                <a:latin typeface="Lucida Console" panose="020B0609040504020204" pitchFamily="49" charset="0"/>
              </a:rPr>
              <a:t>"fail"</a:t>
            </a:r>
            <a:r>
              <a:rPr lang="en-US" altLang="en-US" dirty="0"/>
              <a:t> given the value of a test grade</a:t>
            </a:r>
            <a:endParaRPr lang="en-US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rgbClr val="0000FF"/>
                </a:solidFill>
                <a:latin typeface="LucidaSansTypewriter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statement</a:t>
            </a:r>
            <a:r>
              <a:rPr lang="en-US" dirty="0">
                <a:solidFill>
                  <a:srgbClr val="000000"/>
                </a:solidFill>
              </a:rPr>
              <a:t> </a:t>
            </a:r>
          </a:p>
          <a:p>
            <a:pPr lvl="1">
              <a:defRPr/>
            </a:pPr>
            <a:r>
              <a:rPr lang="en-US" dirty="0">
                <a:solidFill>
                  <a:srgbClr val="000000"/>
                </a:solidFill>
              </a:rPr>
              <a:t>allows a program to make a decision based on the truth or falsity of a statement of fact called a </a:t>
            </a:r>
            <a:r>
              <a:rPr lang="en-US" dirty="0">
                <a:solidFill>
                  <a:srgbClr val="0000FF"/>
                </a:solidFill>
              </a:rPr>
              <a:t>condition</a:t>
            </a:r>
            <a:r>
              <a:rPr lang="en-US" dirty="0">
                <a:solidFill>
                  <a:srgbClr val="000000"/>
                </a:solidFill>
              </a:rPr>
              <a:t>.</a:t>
            </a:r>
          </a:p>
          <a:p>
            <a:pPr lvl="1">
              <a:defRPr/>
            </a:pPr>
            <a:r>
              <a:rPr lang="en-US" b="1" i="1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is </a:t>
            </a:r>
            <a:r>
              <a:rPr lang="en-US" b="1" i="1" dirty="0">
                <a:solidFill>
                  <a:srgbClr val="FF0000"/>
                </a:solidFill>
              </a:rPr>
              <a:t>false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b="1" i="1" dirty="0">
                <a:solidFill>
                  <a:srgbClr val="00B050"/>
                </a:solidFill>
              </a:rPr>
              <a:t>non-zero</a:t>
            </a:r>
            <a:r>
              <a:rPr lang="en-US" dirty="0">
                <a:solidFill>
                  <a:srgbClr val="000000"/>
                </a:solidFill>
              </a:rPr>
              <a:t> is </a:t>
            </a:r>
            <a:r>
              <a:rPr lang="en-US" b="1" i="1" dirty="0">
                <a:solidFill>
                  <a:srgbClr val="00B050"/>
                </a:solidFill>
              </a:rPr>
              <a:t>true</a:t>
            </a:r>
          </a:p>
          <a:p>
            <a:pPr lvl="1"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97E8EA-6EFD-4D52-A190-AD79F09157EA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77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02_Page_34"/>
          <p:cNvPicPr>
            <a:picLocks noGrp="1" noChangeAspect="1"/>
          </p:cNvPicPr>
          <p:nvPr isPhoto="1"/>
        </p:nvPicPr>
        <p:blipFill>
          <a:blip r:embed="rId2" cstate="hq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0FD6-96F5-477E-84AD-5C3BDD37434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2.6  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Decision Making: Equality and Relational Operators</a:t>
            </a:r>
          </a:p>
        </p:txBody>
      </p:sp>
      <p:sp>
        <p:nvSpPr>
          <p:cNvPr id="9625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Figure 2.13 uses six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>
                <a:solidFill>
                  <a:srgbClr val="000000"/>
                </a:solidFill>
              </a:rPr>
              <a:t> statements to compare two numbers entered by the user.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</a:rPr>
              <a:t>If the condition in any of these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>
                <a:solidFill>
                  <a:srgbClr val="000000"/>
                </a:solidFill>
              </a:rPr>
              <a:t> statements is true, the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altLang="en-US" dirty="0">
                <a:solidFill>
                  <a:srgbClr val="000000"/>
                </a:solidFill>
              </a:rPr>
              <a:t> statement associated with that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>
                <a:solidFill>
                  <a:srgbClr val="000000"/>
                </a:solidFill>
              </a:rPr>
              <a:t> executes.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97E8EA-6EFD-4D52-A190-AD79F09157EA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2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02_Page_35"/>
          <p:cNvPicPr>
            <a:picLocks noGrp="1" noChangeAspect="1"/>
          </p:cNvPicPr>
          <p:nvPr isPhoto="1"/>
        </p:nvPicPr>
        <p:blipFill>
          <a:blip r:embed="rId2" cstate="hq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0FD6-96F5-477E-84AD-5C3BDD374342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Dikdörtgen 4">
            <a:extLst>
              <a:ext uri="{FF2B5EF4-FFF2-40B4-BE49-F238E27FC236}">
                <a16:creationId xmlns:a16="http://schemas.microsoft.com/office/drawing/2014/main" id="{A71C6DEC-3AFF-4027-B286-9121FC7D8E81}"/>
              </a:ext>
            </a:extLst>
          </p:cNvPr>
          <p:cNvSpPr/>
          <p:nvPr/>
        </p:nvSpPr>
        <p:spPr>
          <a:xfrm>
            <a:off x="3581401" y="6420406"/>
            <a:ext cx="50959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[1] </a:t>
            </a:r>
            <a:r>
              <a:rPr lang="en-US" altLang="en-US" dirty="0">
                <a:ea typeface="Arial" panose="020B0604020202020204" pitchFamily="34" charset="0"/>
              </a:rPr>
              <a:t>C How to Program 8th Edition, by </a:t>
            </a:r>
            <a:r>
              <a:rPr lang="en-US" altLang="en-US" dirty="0" err="1">
                <a:ea typeface="Arial" panose="020B0604020202020204" pitchFamily="34" charset="0"/>
              </a:rPr>
              <a:t>Deitel</a:t>
            </a:r>
            <a:r>
              <a:rPr lang="en-US" altLang="en-US" dirty="0">
                <a:ea typeface="Arial" panose="020B0604020202020204" pitchFamily="34" charset="0"/>
              </a:rPr>
              <a:t> &amp; </a:t>
            </a:r>
            <a:r>
              <a:rPr lang="en-US" altLang="en-US" dirty="0" err="1">
                <a:ea typeface="Arial" panose="020B0604020202020204" pitchFamily="34" charset="0"/>
              </a:rPr>
              <a:t>Deitel</a:t>
            </a:r>
            <a:r>
              <a:rPr lang="en-US" altLang="en-US" dirty="0">
                <a:ea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85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02_Page_36"/>
          <p:cNvPicPr>
            <a:picLocks noGrp="1" noChangeAspect="1"/>
          </p:cNvPicPr>
          <p:nvPr isPhoto="1"/>
        </p:nvPicPr>
        <p:blipFill>
          <a:blip r:embed="rId2" cstate="hq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0FD6-96F5-477E-84AD-5C3BDD374342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003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02_Page_37"/>
          <p:cNvPicPr>
            <a:picLocks noGrp="1" noChangeAspect="1"/>
          </p:cNvPicPr>
          <p:nvPr isPhoto="1"/>
        </p:nvPicPr>
        <p:blipFill>
          <a:blip r:embed="rId2" cstate="hq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1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0FD6-96F5-477E-84AD-5C3BDD374342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1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tp8_02_Page_43"/>
          <p:cNvPicPr>
            <a:picLocks noGrp="1" noChangeAspect="1"/>
          </p:cNvPicPr>
          <p:nvPr isPhoto="1"/>
        </p:nvPicPr>
        <p:blipFill>
          <a:blip r:embed="rId2" cstate="hq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983" y="0"/>
            <a:ext cx="8875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C0FD6-96F5-477E-84AD-5C3BDD37434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4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8255"/>
            <a:ext cx="10515600" cy="132556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dirty="0">
                <a:solidFill>
                  <a:srgbClr val="24B5A1"/>
                </a:solidFill>
                <a:latin typeface="Arial"/>
              </a:rPr>
              <a:t>2.6  </a:t>
            </a:r>
            <a:r>
              <a:rPr lang="en-US" dirty="0">
                <a:solidFill>
                  <a:srgbClr val="3380E6"/>
                </a:solidFill>
                <a:latin typeface="Arial"/>
              </a:rPr>
              <a:t>Decision Making: Equality and Relational Operators</a:t>
            </a:r>
          </a:p>
        </p:txBody>
      </p:sp>
      <p:sp>
        <p:nvSpPr>
          <p:cNvPr id="110595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88269"/>
            <a:ext cx="10515600" cy="4351338"/>
          </a:xfrm>
        </p:spPr>
        <p:txBody>
          <a:bodyPr/>
          <a:lstStyle/>
          <a:p>
            <a:pPr eaLnBrk="1" hangingPunct="1"/>
            <a:r>
              <a:rPr lang="en-US" altLang="en-US" sz="2000" dirty="0">
                <a:solidFill>
                  <a:srgbClr val="000000"/>
                </a:solidFill>
              </a:rPr>
              <a:t>Some of the words we’ve used in the C programs in this chapter—in particular </a:t>
            </a:r>
            <a:r>
              <a:rPr lang="en-US" altLang="en-US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2000" dirty="0">
                <a:solidFill>
                  <a:srgbClr val="000000"/>
                </a:solidFill>
              </a:rPr>
              <a:t> and </a:t>
            </a:r>
            <a:r>
              <a:rPr lang="en-US" alt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2000" dirty="0">
                <a:solidFill>
                  <a:srgbClr val="000000"/>
                </a:solidFill>
              </a:rPr>
              <a:t>—are </a:t>
            </a:r>
            <a:r>
              <a:rPr lang="en-US" altLang="en-US" sz="2000" dirty="0">
                <a:solidFill>
                  <a:srgbClr val="0000FF"/>
                </a:solidFill>
              </a:rPr>
              <a:t>keywords</a:t>
            </a:r>
            <a:r>
              <a:rPr lang="en-US" altLang="en-US" sz="2000" dirty="0">
                <a:solidFill>
                  <a:srgbClr val="000000"/>
                </a:solidFill>
              </a:rPr>
              <a:t> or reserved words of the language.</a:t>
            </a:r>
          </a:p>
          <a:p>
            <a:pPr eaLnBrk="1" hangingPunct="1"/>
            <a:r>
              <a:rPr lang="en-US" altLang="en-US" sz="2000" dirty="0">
                <a:solidFill>
                  <a:srgbClr val="000000"/>
                </a:solidFill>
              </a:rPr>
              <a:t>These words have special meaning to the C compiler, so you must be careful not to use these as identifiers such as variable names.</a:t>
            </a:r>
          </a:p>
          <a:p>
            <a:pPr eaLnBrk="1" hangingPunct="1"/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97E8EA-6EFD-4D52-A190-AD79F09157EA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B2EF93A4-5978-4082-AD98-01F5E6231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853532"/>
            <a:ext cx="807720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7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Common Programming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0546" y="1487906"/>
            <a:ext cx="9986211" cy="4576010"/>
          </a:xfrm>
        </p:spPr>
        <p:txBody>
          <a:bodyPr>
            <a:normAutofit/>
          </a:bodyPr>
          <a:lstStyle/>
          <a:p>
            <a:r>
              <a:rPr lang="en-US" dirty="0"/>
              <a:t>syntax error</a:t>
            </a:r>
          </a:p>
          <a:p>
            <a:pPr lvl="1"/>
            <a:r>
              <a:rPr lang="en-US" dirty="0"/>
              <a:t>a violation of the C grammar rules</a:t>
            </a:r>
          </a:p>
          <a:p>
            <a:pPr lvl="1"/>
            <a:r>
              <a:rPr lang="en-US" dirty="0"/>
              <a:t>detected during program translation (compilation)</a:t>
            </a:r>
          </a:p>
          <a:p>
            <a:r>
              <a:rPr lang="en-US" dirty="0"/>
              <a:t>run-time error</a:t>
            </a:r>
          </a:p>
          <a:p>
            <a:pPr lvl="1"/>
            <a:r>
              <a:rPr lang="en-US" dirty="0"/>
              <a:t>an attempt to perform an invalid operation</a:t>
            </a:r>
          </a:p>
          <a:p>
            <a:pPr lvl="1"/>
            <a:r>
              <a:rPr lang="en-US" dirty="0"/>
              <a:t>detected during program execution</a:t>
            </a:r>
          </a:p>
          <a:p>
            <a:r>
              <a:rPr lang="en-US" dirty="0"/>
              <a:t>logic errors</a:t>
            </a:r>
          </a:p>
          <a:p>
            <a:pPr lvl="1"/>
            <a:r>
              <a:rPr lang="en-US" dirty="0"/>
              <a:t>an error caused by following an incorrect 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DA42-601D-40A8-83CA-2F2CBDE5F9F0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6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143000" y="0"/>
            <a:ext cx="3581400" cy="1249362"/>
          </a:xfrm>
        </p:spPr>
        <p:txBody>
          <a:bodyPr>
            <a:normAutofit/>
          </a:bodyPr>
          <a:lstStyle/>
          <a:p>
            <a:r>
              <a:rPr lang="en-US" sz="2400" dirty="0"/>
              <a:t>Figure 2.16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DA42-601D-40A8-83CA-2F2CBDE5F9F0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64" y="1066800"/>
            <a:ext cx="639127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4267200" y="527566"/>
            <a:ext cx="533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/>
              <a:t>Compiler Listing of a Program with Syntax Errors</a:t>
            </a:r>
            <a:endParaRPr lang="en-US" dirty="0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368AB071-7E40-43E4-B055-20DB69A891AA}"/>
              </a:ext>
            </a:extLst>
          </p:cNvPr>
          <p:cNvSpPr/>
          <p:nvPr/>
        </p:nvSpPr>
        <p:spPr>
          <a:xfrm>
            <a:off x="1844842" y="6365831"/>
            <a:ext cx="85023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ea typeface="Arial" panose="020B0604020202020204" pitchFamily="34" charset="0"/>
              </a:rPr>
              <a:t>[2] </a:t>
            </a:r>
            <a:r>
              <a:rPr lang="en-US" dirty="0"/>
              <a:t>Problem Solving &amp; Program Design in C, Eighth Edition, R. </a:t>
            </a:r>
            <a:r>
              <a:rPr lang="en-US" dirty="0" err="1"/>
              <a:t>Hanly</a:t>
            </a:r>
            <a:r>
              <a:rPr lang="en-US" dirty="0"/>
              <a:t> &amp; Elliot B. </a:t>
            </a:r>
            <a:r>
              <a:rPr lang="en-US" dirty="0" err="1"/>
              <a:t>Koffman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615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143000" y="0"/>
            <a:ext cx="3581400" cy="1249362"/>
          </a:xfrm>
        </p:spPr>
        <p:txBody>
          <a:bodyPr>
            <a:normAutofit/>
          </a:bodyPr>
          <a:lstStyle/>
          <a:p>
            <a:r>
              <a:rPr lang="en-US" sz="2400" dirty="0"/>
              <a:t>Figure 2.17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DA42-601D-40A8-83CA-2F2CBDE5F9F0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39" y="1219200"/>
            <a:ext cx="8035925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6248400" y="685800"/>
            <a:ext cx="32807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A Program with a Run-Time Error</a:t>
            </a:r>
            <a:endParaRPr lang="en-US" dirty="0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1E7ED6ED-DB89-469F-8570-06561812119F}"/>
              </a:ext>
            </a:extLst>
          </p:cNvPr>
          <p:cNvSpPr/>
          <p:nvPr/>
        </p:nvSpPr>
        <p:spPr>
          <a:xfrm>
            <a:off x="1844842" y="6365831"/>
            <a:ext cx="85023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ea typeface="Arial" panose="020B0604020202020204" pitchFamily="34" charset="0"/>
              </a:rPr>
              <a:t>[2] </a:t>
            </a:r>
            <a:r>
              <a:rPr lang="en-US" dirty="0"/>
              <a:t>Problem Solving &amp; Program Design in C, Eighth Edition, R. </a:t>
            </a:r>
            <a:r>
              <a:rPr lang="en-US" dirty="0" err="1"/>
              <a:t>Hanly</a:t>
            </a:r>
            <a:r>
              <a:rPr lang="en-US" dirty="0"/>
              <a:t> &amp; Elliot B. </a:t>
            </a:r>
            <a:r>
              <a:rPr lang="en-US" dirty="0" err="1"/>
              <a:t>Koffman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778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143000" y="0"/>
            <a:ext cx="3581400" cy="1249362"/>
          </a:xfrm>
        </p:spPr>
        <p:txBody>
          <a:bodyPr>
            <a:normAutofit/>
          </a:bodyPr>
          <a:lstStyle/>
          <a:p>
            <a:r>
              <a:rPr lang="en-US" sz="2400" dirty="0"/>
              <a:t>Figure 2.19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DA42-601D-40A8-83CA-2F2CBDE5F9F0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439" y="1524000"/>
            <a:ext cx="849312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4038601" y="917138"/>
            <a:ext cx="61515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/>
              <a:t>A Program That Produces Incorrect Results Due </a:t>
            </a:r>
            <a:r>
              <a:rPr lang="en-US" altLang="en-US"/>
              <a:t>to </a:t>
            </a:r>
            <a:r>
              <a:rPr lang="en-US" altLang="en-US" smtClean="0"/>
              <a:t>Omission</a:t>
            </a:r>
            <a:endParaRPr lang="en-US" dirty="0"/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547927D2-6B09-4D4E-B16B-A945B9A019DF}"/>
              </a:ext>
            </a:extLst>
          </p:cNvPr>
          <p:cNvSpPr/>
          <p:nvPr/>
        </p:nvSpPr>
        <p:spPr>
          <a:xfrm>
            <a:off x="1844842" y="6365831"/>
            <a:ext cx="85023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>
                <a:ea typeface="Arial" panose="020B0604020202020204" pitchFamily="34" charset="0"/>
              </a:rPr>
              <a:t>[2] </a:t>
            </a:r>
            <a:r>
              <a:rPr lang="en-US" dirty="0"/>
              <a:t>Problem Solving &amp; Program Design in C, Eighth Edition, R. </a:t>
            </a:r>
            <a:r>
              <a:rPr lang="en-US" dirty="0" err="1"/>
              <a:t>Hanly</a:t>
            </a:r>
            <a:r>
              <a:rPr lang="en-US" dirty="0"/>
              <a:t> &amp; Elliot B. </a:t>
            </a:r>
            <a:r>
              <a:rPr lang="en-US" dirty="0" err="1"/>
              <a:t>Koffman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2944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C program has preprocessor directives and a main function.</a:t>
            </a:r>
          </a:p>
          <a:p>
            <a:r>
              <a:rPr lang="en-US" dirty="0"/>
              <a:t>The main function contains variable declarations and executable statements.</a:t>
            </a:r>
          </a:p>
          <a:p>
            <a:r>
              <a:rPr lang="en-US" dirty="0"/>
              <a:t>C’s data types enable the compiler to determine how to store a value in memory and what operations can be performed on that value.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8DA42-601D-40A8-83CA-2F2CBDE5F9F0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73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1655</Words>
  <Application>Microsoft Office PowerPoint</Application>
  <PresentationFormat>Widescreen</PresentationFormat>
  <Paragraphs>233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Calibri Light</vt:lpstr>
      <vt:lpstr>Consolas</vt:lpstr>
      <vt:lpstr>Courier New</vt:lpstr>
      <vt:lpstr>Lucida Console</vt:lpstr>
      <vt:lpstr>LucidaSansTypewriter</vt:lpstr>
      <vt:lpstr>Office Teması</vt:lpstr>
      <vt:lpstr>CSE1142 - Introduction to C Programming</vt:lpstr>
      <vt:lpstr>C</vt:lpstr>
      <vt:lpstr>Welcome to C Programming Language</vt:lpstr>
      <vt:lpstr>A Simple C Program: Printing a Line of Text</vt:lpstr>
      <vt:lpstr>PowerPoint Presentation</vt:lpstr>
      <vt:lpstr>2.2  A Simple C Program:  Printing a Line of Text (Cont.)</vt:lpstr>
      <vt:lpstr>2.2  A Simple C Program:  Printing a Line of Text (Cont.)</vt:lpstr>
      <vt:lpstr>PowerPoint Presentation</vt:lpstr>
      <vt:lpstr>PowerPoint Presentation</vt:lpstr>
      <vt:lpstr>PowerPoint Presentation</vt:lpstr>
      <vt:lpstr>General Form of a C Program</vt:lpstr>
      <vt:lpstr>2.3  Another Simple C Program: Adding Two Integers</vt:lpstr>
      <vt:lpstr>PowerPoint Presentation</vt:lpstr>
      <vt:lpstr>PowerPoint Presentation</vt:lpstr>
      <vt:lpstr>2.3  Another Simple C Program: Adding Two Integers (Cont.)</vt:lpstr>
      <vt:lpstr>2.3  Another Simple C Program: Adding Two Integers (Cont.)</vt:lpstr>
      <vt:lpstr>2.3  Another Simple C Program: Adding Two Integers (Cont.)</vt:lpstr>
      <vt:lpstr>The printf Function</vt:lpstr>
      <vt:lpstr>Data Types</vt:lpstr>
      <vt:lpstr>Placeholders in format string</vt:lpstr>
      <vt:lpstr>2.4  Memory Concepts</vt:lpstr>
      <vt:lpstr>PowerPoint Presentation</vt:lpstr>
      <vt:lpstr>2.5  Arithmetic in C</vt:lpstr>
      <vt:lpstr>PowerPoint Presentation</vt:lpstr>
      <vt:lpstr>PowerPoint Presentation</vt:lpstr>
      <vt:lpstr>2.6  Decision Making: Equality and Relational Operators</vt:lpstr>
      <vt:lpstr>PowerPoint Presentation</vt:lpstr>
      <vt:lpstr>2.6  Decision Making: Equality and Relational Operators</vt:lpstr>
      <vt:lpstr>PowerPoint Presentation</vt:lpstr>
      <vt:lpstr>PowerPoint Presentation</vt:lpstr>
      <vt:lpstr>PowerPoint Presentation</vt:lpstr>
      <vt:lpstr>PowerPoint Presentation</vt:lpstr>
      <vt:lpstr>2.6  Decision Making: Equality and Relational Operators</vt:lpstr>
      <vt:lpstr>Common Programming Errors</vt:lpstr>
      <vt:lpstr>Figure 2.16</vt:lpstr>
      <vt:lpstr>Figure 2.17</vt:lpstr>
      <vt:lpstr>Figure 2.19</vt:lpstr>
      <vt:lpstr>Wrap 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 Programming</dc:title>
  <dc:creator/>
  <cp:lastModifiedBy/>
  <cp:revision>30</cp:revision>
  <dcterms:created xsi:type="dcterms:W3CDTF">2018-04-03T07:40:16Z</dcterms:created>
  <dcterms:modified xsi:type="dcterms:W3CDTF">2020-04-22T09:54:44Z</dcterms:modified>
  <dc:description/>
</cp:coreProperties>
</file>