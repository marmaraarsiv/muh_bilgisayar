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tmp" ContentType="image/png"/>
  <Override PartName="/ppt/media/image12.tmp" ContentType="image/png"/>
  <Override PartName="/ppt/media/image14.tmp" ContentType="image/png"/>
  <Override PartName="/ppt/media/image2.tmp" ContentType="image/png"/>
  <Override PartName="/ppt/media/image3.tmp" ContentType="image/png"/>
  <Override PartName="/ppt/media/image4.tmp" ContentType="image/png"/>
  <Override PartName="/ppt/media/image5.tmp" ContentType="image/png"/>
  <Override PartName="/ppt/media/image6.tmp" ContentType="image/png"/>
  <Override PartName="/ppt/media/image7.tmp" ContentType="image/png"/>
  <Override PartName="/ppt/media/image9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sldIdLst>
    <p:sldId id="256" r:id="rId2"/>
    <p:sldId id="424" r:id="rId3"/>
    <p:sldId id="393" r:id="rId4"/>
    <p:sldId id="394" r:id="rId5"/>
    <p:sldId id="407" r:id="rId6"/>
    <p:sldId id="406" r:id="rId7"/>
    <p:sldId id="408" r:id="rId8"/>
    <p:sldId id="395" r:id="rId9"/>
    <p:sldId id="396" r:id="rId10"/>
    <p:sldId id="397" r:id="rId11"/>
    <p:sldId id="398" r:id="rId12"/>
    <p:sldId id="263" r:id="rId13"/>
    <p:sldId id="422" r:id="rId14"/>
    <p:sldId id="423" r:id="rId15"/>
    <p:sldId id="399" r:id="rId16"/>
    <p:sldId id="412" r:id="rId17"/>
    <p:sldId id="413" r:id="rId18"/>
    <p:sldId id="400" r:id="rId19"/>
    <p:sldId id="411" r:id="rId20"/>
    <p:sldId id="414" r:id="rId21"/>
    <p:sldId id="401" r:id="rId22"/>
    <p:sldId id="427" r:id="rId23"/>
    <p:sldId id="415" r:id="rId24"/>
    <p:sldId id="417" r:id="rId25"/>
    <p:sldId id="428" r:id="rId26"/>
    <p:sldId id="416" r:id="rId27"/>
    <p:sldId id="404" r:id="rId28"/>
    <p:sldId id="418" r:id="rId29"/>
    <p:sldId id="419" r:id="rId30"/>
    <p:sldId id="405" r:id="rId31"/>
    <p:sldId id="420" r:id="rId32"/>
    <p:sldId id="421" r:id="rId3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995" autoAdjust="0"/>
  </p:normalViewPr>
  <p:slideViewPr>
    <p:cSldViewPr snapToGrid="0">
      <p:cViewPr varScale="1">
        <p:scale>
          <a:sx n="144" d="100"/>
          <a:sy n="144" d="100"/>
        </p:scale>
        <p:origin x="138" y="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04.05.2020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Relationship Id="rId3" Type="http://schemas.openxmlformats.org/officeDocument/2006/relationships/hyperlink" Target="https://www.youtube.com/watch?v=nmhjrI-aW5o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Relationship Id="rId3" Type="http://schemas.openxmlformats.org/officeDocument/2006/relationships/hyperlink" Target="https://www.youtube.com/watch?v=OGzPmgsI-pQ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Relationship Id="rId3" Type="http://schemas.openxmlformats.org/officeDocument/2006/relationships/hyperlink" Target="https://www.youtube.com/watch?v=PDE8pCQ9Tz4" TargetMode="External"/><Relationship Id="rId4" Type="http://schemas.openxmlformats.org/officeDocument/2006/relationships/hyperlink" Target="https://www.youtube.com/watch?v=sr_bR1WwcLY" TargetMode="Externa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 smtClean="0"/>
              <a:t>After</a:t>
            </a:r>
            <a:r>
              <a:rPr lang="tr-TR" baseline="0" dirty="0" smtClean="0"/>
              <a:t> </a:t>
            </a:r>
            <a:r>
              <a:rPr lang="tr-TR" baseline="0" dirty="0" err="1" smtClean="0"/>
              <a:t>this</a:t>
            </a:r>
            <a:r>
              <a:rPr lang="tr-TR" baseline="0" dirty="0" smtClean="0"/>
              <a:t>; </a:t>
            </a:r>
            <a:r>
              <a:rPr lang="tr-TR" baseline="0" dirty="0" err="1" smtClean="0"/>
              <a:t>run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the</a:t>
            </a:r>
            <a:r>
              <a:rPr lang="tr-TR" baseline="0" dirty="0" smtClean="0"/>
              <a:t> </a:t>
            </a:r>
            <a:r>
              <a:rPr lang="tr-TR" baseline="0" dirty="0" err="1" smtClean="0"/>
              <a:t>followings</a:t>
            </a:r>
            <a:r>
              <a:rPr lang="tr-TR" baseline="0" dirty="0" smtClean="0"/>
              <a:t>:</a:t>
            </a:r>
          </a:p>
          <a:p>
            <a:endParaRPr lang="tr-TR" baseline="0" dirty="0" smtClean="0"/>
          </a:p>
          <a:p>
            <a:r>
              <a:rPr lang="tr-TR" baseline="0" dirty="0" smtClean="0"/>
              <a:t>- </a:t>
            </a:r>
            <a:r>
              <a:rPr lang="en-US" dirty="0" smtClean="0"/>
              <a:t>Initialize_function2.c</a:t>
            </a:r>
          </a:p>
          <a:p>
            <a:endParaRPr lang="tr-TR" dirty="0" smtClean="0"/>
          </a:p>
          <a:p>
            <a:r>
              <a:rPr lang="tr-TR" dirty="0" smtClean="0"/>
              <a:t>- </a:t>
            </a:r>
            <a:r>
              <a:rPr lang="en-US" dirty="0" err="1" smtClean="0"/>
              <a:t>Initialize_function_size.c</a:t>
            </a:r>
            <a:endParaRPr lang="en-US" dirty="0" smtClean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745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r-TR" dirty="0" smtClean="0"/>
              <a:t>Watch</a:t>
            </a:r>
            <a:r>
              <a:rPr lang="tr-TR" baseline="0" dirty="0" smtClean="0"/>
              <a:t> </a:t>
            </a:r>
            <a:r>
              <a:rPr lang="tr-TR" baseline="0" dirty="0" err="1" smtClean="0"/>
              <a:t>the</a:t>
            </a:r>
            <a:r>
              <a:rPr lang="tr-TR" baseline="0" dirty="0" smtClean="0"/>
              <a:t> video:</a:t>
            </a:r>
          </a:p>
          <a:p>
            <a:pPr marL="0" indent="0">
              <a:buFontTx/>
              <a:buNone/>
            </a:pPr>
            <a:endParaRPr lang="tr-TR" baseline="0" dirty="0" smtClean="0"/>
          </a:p>
          <a:p>
            <a:pPr marL="0" indent="0">
              <a:buFontTx/>
              <a:buNone/>
            </a:pPr>
            <a:r>
              <a:rPr lang="en-US" dirty="0" smtClean="0">
                <a:hlinkClick r:id="rId3"/>
              </a:rPr>
              <a:t>https://www.youtube.com/watch?v=nmhjrI-aW5o</a:t>
            </a:r>
            <a:endParaRPr lang="tr-TR" dirty="0" smtClean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0862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en-US" dirty="0" smtClean="0"/>
              <a:t>C31_50_Bubble_sort</a:t>
            </a:r>
            <a:r>
              <a:rPr lang="tr-TR" dirty="0" smtClean="0"/>
              <a:t>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8353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r-TR" dirty="0" smtClean="0"/>
              <a:t>Watch </a:t>
            </a:r>
            <a:r>
              <a:rPr lang="tr-TR" dirty="0" err="1" smtClean="0"/>
              <a:t>the</a:t>
            </a:r>
            <a:r>
              <a:rPr lang="tr-TR" dirty="0" smtClean="0"/>
              <a:t> video:</a:t>
            </a:r>
          </a:p>
          <a:p>
            <a:pPr marL="171450" indent="-171450">
              <a:buFontTx/>
              <a:buChar char="-"/>
            </a:pPr>
            <a:endParaRPr lang="tr-TR" dirty="0" smtClean="0"/>
          </a:p>
          <a:p>
            <a:pPr marL="0" indent="0">
              <a:buFontTx/>
              <a:buNone/>
            </a:pPr>
            <a:r>
              <a:rPr lang="en-US" dirty="0" smtClean="0">
                <a:hlinkClick r:id="rId3"/>
              </a:rPr>
              <a:t>https://www.youtube.com/watch?v=OGzPmgsI-pQ</a:t>
            </a:r>
            <a:endParaRPr lang="tr-TR" dirty="0" smtClean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1209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r-TR" dirty="0" smtClean="0"/>
              <a:t>Run C31_55_Insertion_sort.c.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1313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r-TR" dirty="0" smtClean="0"/>
              <a:t>Watch </a:t>
            </a:r>
            <a:r>
              <a:rPr lang="tr-TR" dirty="0" err="1" smtClean="0"/>
              <a:t>linear</a:t>
            </a:r>
            <a:r>
              <a:rPr lang="tr-TR" dirty="0" smtClean="0"/>
              <a:t> </a:t>
            </a:r>
            <a:r>
              <a:rPr lang="tr-TR" dirty="0" err="1" smtClean="0"/>
              <a:t>search</a:t>
            </a:r>
            <a:r>
              <a:rPr lang="tr-TR" dirty="0" smtClean="0"/>
              <a:t>: </a:t>
            </a:r>
            <a:r>
              <a:rPr lang="en-US" dirty="0" smtClean="0">
                <a:hlinkClick r:id="rId3"/>
              </a:rPr>
              <a:t>https://www.youtube.com/watch?v=PDE8pCQ9Tz4</a:t>
            </a:r>
            <a:endParaRPr lang="tr-TR" dirty="0" smtClean="0"/>
          </a:p>
          <a:p>
            <a:pPr marL="171450" indent="-171450">
              <a:buFontTx/>
              <a:buChar char="-"/>
            </a:pPr>
            <a:endParaRPr lang="tr-TR" dirty="0" smtClean="0"/>
          </a:p>
          <a:p>
            <a:pPr marL="171450" indent="-171450">
              <a:buFontTx/>
              <a:buChar char="-"/>
            </a:pPr>
            <a:r>
              <a:rPr lang="tr-TR" dirty="0" smtClean="0"/>
              <a:t>Watch </a:t>
            </a:r>
            <a:r>
              <a:rPr lang="tr-TR" dirty="0" err="1" smtClean="0"/>
              <a:t>binary</a:t>
            </a:r>
            <a:r>
              <a:rPr lang="tr-TR" dirty="0" smtClean="0"/>
              <a:t> </a:t>
            </a:r>
            <a:r>
              <a:rPr lang="tr-TR" dirty="0" err="1" smtClean="0"/>
              <a:t>search</a:t>
            </a:r>
            <a:r>
              <a:rPr lang="tr-TR" dirty="0" smtClean="0"/>
              <a:t>:</a:t>
            </a:r>
            <a:r>
              <a:rPr lang="tr-TR" baseline="0" dirty="0" smtClean="0"/>
              <a:t> </a:t>
            </a:r>
            <a:r>
              <a:rPr lang="en-US" dirty="0" smtClean="0">
                <a:hlinkClick r:id="rId4"/>
              </a:rPr>
              <a:t>https://www.youtube.com/watch?v=sr_bR1WwcLY</a:t>
            </a:r>
            <a:endParaRPr lang="tr-TR" dirty="0" smtClean="0"/>
          </a:p>
          <a:p>
            <a:pPr marL="171450" indent="-171450">
              <a:buFontTx/>
              <a:buChar char="-"/>
            </a:pPr>
            <a:endParaRPr lang="tr-TR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dirty="0" smtClean="0"/>
              <a:t>Run C31_60_findNumber.c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333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372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C31_65_Binary_search.c.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56494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.tmp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mp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mp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mp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mp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tm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tmp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tmp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tmp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tmp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tmp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en-US" altLang="tr-TR" dirty="0">
                <a:ea typeface="ＭＳ Ｐゴシック" panose="020B0600070205080204" pitchFamily="34" charset="-128"/>
              </a:rPr>
              <a:t>Arrays in </a:t>
            </a:r>
            <a:r>
              <a:rPr lang="en-US" dirty="0"/>
              <a:t>C</a:t>
            </a: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914400" y="4994030"/>
            <a:ext cx="10464800" cy="106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kern="0" smtClean="0"/>
              <a:t>Adapted from Dr. Sanem Arslan Yılmaz.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kern="0" smtClean="0"/>
              <a:t>Some of the slides are from: CMPE150 – Boğaziçi University, Deitel &amp; Associates.</a:t>
            </a:r>
            <a:endParaRPr lang="en-US" sz="2000" kern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9257997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smtClean="0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Arrays</a:t>
            </a:r>
            <a:r>
              <a:rPr lang="tr-TR" altLang="tr-TR" dirty="0"/>
              <a:t> </a:t>
            </a:r>
          </a:p>
          <a:p>
            <a:pPr lvl="1">
              <a:lnSpc>
                <a:spcPct val="120000"/>
              </a:lnSpc>
            </a:pPr>
            <a:r>
              <a:rPr lang="tr-TR" altLang="tr-TR" dirty="0" smtClean="0"/>
              <a:t>Definitions </a:t>
            </a:r>
            <a:r>
              <a:rPr lang="tr-TR" altLang="tr-TR" dirty="0"/>
              <a:t>&amp; </a:t>
            </a:r>
            <a:r>
              <a:rPr lang="tr-TR" altLang="tr-TR" dirty="0" smtClean="0"/>
              <a:t>Syntax</a:t>
            </a:r>
            <a:endParaRPr lang="tr-TR" altLang="tr-TR" dirty="0"/>
          </a:p>
          <a:p>
            <a:pPr lvl="1">
              <a:lnSpc>
                <a:spcPct val="120000"/>
              </a:lnSpc>
            </a:pPr>
            <a:r>
              <a:rPr lang="tr-TR" altLang="tr-TR" dirty="0" smtClean="0"/>
              <a:t>Initialization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Index and bounds</a:t>
            </a:r>
            <a:endParaRPr lang="tr-TR" altLang="tr-TR" dirty="0" smtClean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tr-TR" altLang="tr-TR" dirty="0" smtClean="0"/>
              <a:t>Size of Arrays</a:t>
            </a:r>
          </a:p>
          <a:p>
            <a:pPr>
              <a:lnSpc>
                <a:spcPct val="120000"/>
              </a:lnSpc>
            </a:pPr>
            <a:r>
              <a:rPr lang="tr-TR" altLang="tr-TR" dirty="0" smtClean="0">
                <a:ea typeface="ＭＳ Ｐゴシック" panose="020B0600070205080204" pitchFamily="34" charset="-128"/>
              </a:rPr>
              <a:t>Examples</a:t>
            </a:r>
            <a:endParaRPr lang="en-US" altLang="tr-TR" dirty="0" smtClean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tr-TR" dirty="0"/>
              <a:t>Passing Arrays to Functions</a:t>
            </a:r>
            <a:endParaRPr lang="en-US" altLang="tr-TR" dirty="0" smtClean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en-US" altLang="tr-TR" dirty="0" smtClean="0">
                <a:ea typeface="ＭＳ Ｐゴシック" panose="020B0600070205080204" pitchFamily="34" charset="-128"/>
              </a:rPr>
              <a:t>Sorting Arrays</a:t>
            </a:r>
          </a:p>
          <a:p>
            <a:pPr>
              <a:lnSpc>
                <a:spcPct val="120000"/>
              </a:lnSpc>
            </a:pPr>
            <a:r>
              <a:rPr lang="en-US" altLang="tr-TR" dirty="0" smtClean="0">
                <a:ea typeface="ＭＳ Ｐゴシック" panose="020B0600070205080204" pitchFamily="34" charset="-128"/>
              </a:rPr>
              <a:t>Searching Arrays</a:t>
            </a:r>
          </a:p>
          <a:p>
            <a:pPr>
              <a:lnSpc>
                <a:spcPct val="120000"/>
              </a:lnSpc>
            </a:pPr>
            <a:r>
              <a:rPr lang="en-US" altLang="tr-TR" dirty="0" smtClean="0">
                <a:ea typeface="ＭＳ Ｐゴシック" panose="020B0600070205080204" pitchFamily="34" charset="-128"/>
              </a:rPr>
              <a:t>Multidimensional Arrays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2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Motivation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You may need to define many variables of the same type.</a:t>
            </a: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Defining </a:t>
            </a:r>
            <a:r>
              <a:rPr lang="en-US" altLang="tr-TR" dirty="0"/>
              <a:t>so many variables one by one is cumbersome.</a:t>
            </a:r>
          </a:p>
          <a:p>
            <a:endParaRPr lang="tr-TR" altLang="tr-TR" dirty="0" smtClean="0"/>
          </a:p>
          <a:p>
            <a:endParaRPr lang="tr-TR" altLang="tr-TR" dirty="0"/>
          </a:p>
          <a:p>
            <a:endParaRPr lang="tr-TR" altLang="tr-TR" dirty="0"/>
          </a:p>
          <a:p>
            <a:r>
              <a:rPr lang="en-US" altLang="tr-TR" dirty="0"/>
              <a:t>Probably you would like to execute similar statements on these variables.</a:t>
            </a: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You would</a:t>
            </a:r>
            <a:r>
              <a:rPr lang="tr-TR" altLang="tr-TR" dirty="0" smtClean="0"/>
              <a:t> </a:t>
            </a:r>
            <a:r>
              <a:rPr lang="en-US" altLang="tr-TR" dirty="0" smtClean="0"/>
              <a:t>n</a:t>
            </a:r>
            <a:r>
              <a:rPr lang="tr-TR" altLang="tr-TR" dirty="0" smtClean="0"/>
              <a:t>o</a:t>
            </a:r>
            <a:r>
              <a:rPr lang="en-US" altLang="tr-TR" dirty="0" smtClean="0"/>
              <a:t>t </a:t>
            </a:r>
            <a:r>
              <a:rPr lang="en-US" altLang="tr-TR" dirty="0"/>
              <a:t>want to write the same statements over and over for each variable.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3593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</a:t>
            </a:r>
            <a:r>
              <a:rPr lang="tr-TR" altLang="tr-TR" dirty="0"/>
              <a:t> – Definitions &amp; Syntax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139825" algn="l"/>
              </a:tabLst>
            </a:pPr>
            <a:r>
              <a:rPr lang="en-US" altLang="tr-TR" dirty="0"/>
              <a:t>An array is a variable that is a collection of multiple values of the same type.</a:t>
            </a:r>
          </a:p>
          <a:p>
            <a:pPr>
              <a:tabLst>
                <a:tab pos="1139825" algn="l"/>
              </a:tabLst>
            </a:pPr>
            <a:endParaRPr lang="tr-TR" altLang="tr-TR" dirty="0"/>
          </a:p>
          <a:p>
            <a:pPr>
              <a:tabLst>
                <a:tab pos="1139825" algn="l"/>
              </a:tabLst>
            </a:pPr>
            <a:r>
              <a:rPr lang="en-US" altLang="tr-TR" dirty="0"/>
              <a:t>Syntax:</a:t>
            </a:r>
          </a:p>
          <a:p>
            <a:pPr lvl="2">
              <a:buNone/>
              <a:tabLst>
                <a:tab pos="1139825" algn="l"/>
              </a:tabLst>
            </a:pPr>
            <a:r>
              <a:rPr lang="en-US" altLang="tr-TR" sz="2400" b="1" dirty="0">
                <a:solidFill>
                  <a:srgbClr val="0000AA"/>
                </a:solidFill>
                <a:latin typeface="Courier New" panose="02070309020205020404" pitchFamily="49" charset="0"/>
              </a:rPr>
              <a:t>type array_name[</a:t>
            </a:r>
            <a:r>
              <a:rPr lang="en-US" altLang="tr-TR" sz="2400" b="1" dirty="0" err="1">
                <a:solidFill>
                  <a:srgbClr val="0000AA"/>
                </a:solidFill>
                <a:latin typeface="Courier New" panose="02070309020205020404" pitchFamily="49" charset="0"/>
              </a:rPr>
              <a:t>int_constant_value</a:t>
            </a:r>
            <a:r>
              <a:rPr lang="en-US" altLang="tr-TR" sz="2400" b="1" dirty="0">
                <a:solidFill>
                  <a:srgbClr val="0000AA"/>
                </a:solidFill>
                <a:latin typeface="Courier New" panose="02070309020205020404" pitchFamily="49" charset="0"/>
              </a:rPr>
              <a:t>]</a:t>
            </a:r>
            <a:r>
              <a:rPr lang="en-US" altLang="tr-TR" sz="2400" b="1" dirty="0">
                <a:solidFill>
                  <a:srgbClr val="00A800"/>
                </a:solidFill>
                <a:latin typeface="Courier New" panose="02070309020205020404" pitchFamily="49" charset="0"/>
              </a:rPr>
              <a:t>={initializer_list}</a:t>
            </a:r>
            <a:r>
              <a:rPr lang="en-US" altLang="tr-TR" sz="2400" b="1" dirty="0">
                <a:solidFill>
                  <a:srgbClr val="0000AA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tabLst>
                <a:tab pos="1139825" algn="l"/>
              </a:tabLst>
            </a:pPr>
            <a:endParaRPr lang="tr-TR" altLang="tr-TR" dirty="0"/>
          </a:p>
          <a:p>
            <a:pPr>
              <a:tabLst>
                <a:tab pos="1139825" algn="l"/>
              </a:tabLst>
            </a:pPr>
            <a:r>
              <a:rPr lang="en-US" altLang="tr-TR" dirty="0"/>
              <a:t>The size has to be of int type and must be a fixed value (i.e., known at compile time). </a:t>
            </a:r>
            <a:endParaRPr lang="tr-TR" altLang="tr-TR" dirty="0"/>
          </a:p>
          <a:p>
            <a:pPr lvl="1">
              <a:tabLst>
                <a:tab pos="1139825" algn="l"/>
              </a:tabLst>
            </a:pPr>
            <a:r>
              <a:rPr lang="en-US" altLang="tr-TR" dirty="0"/>
              <a:t>Static entity </a:t>
            </a:r>
            <a:r>
              <a:rPr lang="en-US" altLang="tr-TR" dirty="0">
                <a:cs typeface="Times New Roman" panose="02020603050405020304" pitchFamily="18" charset="0"/>
              </a:rPr>
              <a:t>–</a:t>
            </a:r>
            <a:r>
              <a:rPr lang="en-US" altLang="tr-TR" dirty="0"/>
              <a:t> same size throughout program</a:t>
            </a:r>
          </a:p>
          <a:p>
            <a:pPr>
              <a:tabLst>
                <a:tab pos="1139825" algn="l"/>
              </a:tabLst>
            </a:pPr>
            <a:endParaRPr lang="tr-TR" altLang="tr-TR" dirty="0"/>
          </a:p>
          <a:p>
            <a:pPr>
              <a:tabLst>
                <a:tab pos="1139825" algn="l"/>
              </a:tabLst>
            </a:pPr>
            <a:r>
              <a:rPr lang="en-US" altLang="tr-TR" dirty="0"/>
              <a:t>You can define an array of any type (</a:t>
            </a:r>
            <a:r>
              <a:rPr lang="en-US" altLang="tr-TR" dirty="0" smtClean="0"/>
              <a:t>e</a:t>
            </a:r>
            <a:r>
              <a:rPr lang="tr-TR" altLang="tr-TR" dirty="0" smtClean="0"/>
              <a:t>.</a:t>
            </a:r>
            <a:r>
              <a:rPr lang="en-US" altLang="tr-TR" dirty="0" smtClean="0"/>
              <a:t>g</a:t>
            </a:r>
            <a:r>
              <a:rPr lang="tr-TR" altLang="tr-TR" dirty="0" smtClean="0"/>
              <a:t>.</a:t>
            </a:r>
            <a:r>
              <a:rPr lang="en-US" altLang="tr-TR" dirty="0" smtClean="0"/>
              <a:t>: </a:t>
            </a:r>
            <a:r>
              <a:rPr lang="en-US" altLang="tr-TR" dirty="0"/>
              <a:t>int, float, </a:t>
            </a:r>
            <a:r>
              <a:rPr lang="en-US" altLang="tr-TR" dirty="0" err="1"/>
              <a:t>enum</a:t>
            </a:r>
            <a:r>
              <a:rPr lang="en-US" altLang="tr-TR" dirty="0"/>
              <a:t> </a:t>
            </a:r>
            <a:r>
              <a:rPr lang="en-US" altLang="tr-TR" dirty="0" err="1"/>
              <a:t>student_type</a:t>
            </a:r>
            <a:r>
              <a:rPr lang="en-US" altLang="tr-TR" dirty="0"/>
              <a:t>, etc.)</a:t>
            </a:r>
          </a:p>
          <a:p>
            <a:pPr>
              <a:tabLst>
                <a:tab pos="1139825" algn="l"/>
              </a:tabLst>
            </a:pPr>
            <a:endParaRPr lang="tr-TR" altLang="tr-TR" dirty="0"/>
          </a:p>
          <a:p>
            <a:pPr>
              <a:tabLst>
                <a:tab pos="1139825" algn="l"/>
              </a:tabLst>
            </a:pPr>
            <a:r>
              <a:rPr lang="en-US" altLang="tr-TR" dirty="0"/>
              <a:t>All elements of the array have the same type.</a:t>
            </a:r>
            <a:endParaRPr lang="tr-TR" alt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8088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" name="Rectangle 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</a:t>
            </a:r>
            <a:r>
              <a:rPr lang="tr-TR" altLang="tr-TR" dirty="0"/>
              <a:t> - Usage</a:t>
            </a:r>
            <a:endParaRPr lang="en-US" altLang="tr-TR" dirty="0"/>
          </a:p>
        </p:txBody>
      </p:sp>
      <p:sp>
        <p:nvSpPr>
          <p:cNvPr id="6206" name="Rectangle 6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 dirty="0"/>
              <a:t>Array</a:t>
            </a:r>
          </a:p>
          <a:p>
            <a:pPr lvl="1"/>
            <a:r>
              <a:rPr lang="en-US" altLang="tr-TR" dirty="0"/>
              <a:t>Group of consecutive memory locations </a:t>
            </a:r>
          </a:p>
          <a:p>
            <a:pPr lvl="1"/>
            <a:r>
              <a:rPr lang="en-US" altLang="tr-TR" dirty="0"/>
              <a:t>Same name and </a:t>
            </a:r>
            <a:r>
              <a:rPr lang="en-US" altLang="tr-TR" dirty="0" smtClean="0"/>
              <a:t>type</a:t>
            </a:r>
            <a:endParaRPr lang="tr-TR" altLang="tr-TR" dirty="0" smtClean="0"/>
          </a:p>
          <a:p>
            <a:pPr lvl="4"/>
            <a:endParaRPr lang="en-US" altLang="tr-TR" dirty="0"/>
          </a:p>
          <a:p>
            <a:r>
              <a:rPr lang="en-US" altLang="tr-TR" dirty="0"/>
              <a:t>To refer to an element, specify</a:t>
            </a:r>
          </a:p>
          <a:p>
            <a:pPr lvl="1"/>
            <a:r>
              <a:rPr lang="en-US" altLang="tr-TR" dirty="0"/>
              <a:t>Array name</a:t>
            </a:r>
          </a:p>
          <a:p>
            <a:pPr lvl="1"/>
            <a:r>
              <a:rPr lang="en-US" altLang="tr-TR" dirty="0"/>
              <a:t>Position </a:t>
            </a:r>
            <a:r>
              <a:rPr lang="en-US" altLang="tr-TR" dirty="0" smtClean="0"/>
              <a:t>number</a:t>
            </a:r>
            <a:endParaRPr lang="tr-TR" altLang="tr-TR" dirty="0" smtClean="0"/>
          </a:p>
          <a:p>
            <a:pPr lvl="4"/>
            <a:endParaRPr lang="en-US" altLang="tr-TR" dirty="0"/>
          </a:p>
          <a:p>
            <a:r>
              <a:rPr lang="en-US" altLang="tr-TR" dirty="0"/>
              <a:t>Format:</a:t>
            </a:r>
          </a:p>
          <a:p>
            <a:pPr lvl="2">
              <a:buFontTx/>
              <a:buNone/>
            </a:pPr>
            <a:r>
              <a:rPr lang="en-US" altLang="tr-TR" i="1" dirty="0" err="1" smtClean="0"/>
              <a:t>arrayname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[</a:t>
            </a:r>
            <a:r>
              <a:rPr lang="en-US" altLang="tr-TR" i="1" dirty="0" smtClean="0"/>
              <a:t>position </a:t>
            </a:r>
            <a:r>
              <a:rPr lang="en-US" altLang="tr-TR" i="1" dirty="0"/>
              <a:t>number</a:t>
            </a:r>
            <a:r>
              <a:rPr lang="en-US" altLang="tr-TR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]</a:t>
            </a:r>
          </a:p>
          <a:p>
            <a:pPr lvl="1"/>
            <a:r>
              <a:rPr lang="en-US" altLang="tr-TR" dirty="0"/>
              <a:t>First element at position </a:t>
            </a:r>
            <a:r>
              <a:rPr lang="en-US" altLang="tr-TR" sz="2000" dirty="0">
                <a:latin typeface="Lucida Console" panose="020B0609040504020204" pitchFamily="49" charset="0"/>
              </a:rPr>
              <a:t>0</a:t>
            </a:r>
          </a:p>
          <a:p>
            <a:pPr lvl="1"/>
            <a:r>
              <a:rPr lang="en-US" altLang="tr-TR" sz="2000" dirty="0">
                <a:latin typeface="Lucida Console" panose="020B0609040504020204" pitchFamily="49" charset="0"/>
              </a:rPr>
              <a:t>n</a:t>
            </a:r>
            <a:r>
              <a:rPr lang="en-US" altLang="tr-TR" dirty="0"/>
              <a:t> element array named </a:t>
            </a:r>
            <a:r>
              <a:rPr lang="en-US" altLang="tr-TR" sz="2000" dirty="0">
                <a:latin typeface="Lucida Console" panose="020B0609040504020204" pitchFamily="49" charset="0"/>
              </a:rPr>
              <a:t>c:</a:t>
            </a:r>
          </a:p>
          <a:p>
            <a:pPr lvl="2"/>
            <a:r>
              <a:rPr lang="en-US" altLang="tr-TR" sz="1800" dirty="0" smtClean="0">
                <a:latin typeface="Lucida Console" panose="020B0609040504020204" pitchFamily="49" charset="0"/>
              </a:rPr>
              <a:t>c[0], c[1]</a:t>
            </a:r>
            <a:r>
              <a:rPr lang="tr-TR" altLang="tr-TR" sz="1800" dirty="0" smtClean="0">
                <a:latin typeface="Lucida Console" panose="020B0609040504020204" pitchFamily="49" charset="0"/>
              </a:rPr>
              <a:t>, 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...</a:t>
            </a:r>
            <a:r>
              <a:rPr lang="tr-TR" altLang="tr-TR" sz="1800" dirty="0" smtClean="0">
                <a:latin typeface="Lucida Console" panose="020B0609040504020204" pitchFamily="49" charset="0"/>
              </a:rPr>
              <a:t>, 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c[n–1]</a:t>
            </a:r>
            <a:endParaRPr lang="en-US" altLang="tr-TR" sz="1800" dirty="0">
              <a:latin typeface="Lucida Console" panose="020B0609040504020204" pitchFamily="49" charset="0"/>
            </a:endParaRPr>
          </a:p>
        </p:txBody>
      </p:sp>
      <p:sp>
        <p:nvSpPr>
          <p:cNvPr id="62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036051" y="6318250"/>
            <a:ext cx="2844800" cy="4572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altLang="tr-TR" dirty="0">
                <a:ea typeface="ＭＳ Ｐゴシック" panose="020B0600070205080204" pitchFamily="34" charset="-128"/>
              </a:rPr>
              <a:t>5</a:t>
            </a:r>
            <a:endParaRPr lang="en-US" altLang="tr-TR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46199"/>
            <a:ext cx="5384800" cy="45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93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Array - </a:t>
            </a:r>
            <a:r>
              <a:rPr lang="tr-TR" dirty="0" err="1"/>
              <a:t>Ac</a:t>
            </a:r>
            <a:r>
              <a:rPr lang="en-US" dirty="0"/>
              <a:t>c</a:t>
            </a:r>
            <a:r>
              <a:rPr lang="tr-TR" dirty="0" err="1"/>
              <a:t>ess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tr-TR" dirty="0"/>
              <a:t>Array elements are like normal variables</a:t>
            </a: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tr-TR" b="1" dirty="0">
                <a:latin typeface="Lucida Console" panose="020B0609040504020204" pitchFamily="49" charset="0"/>
              </a:rPr>
              <a:t>	</a:t>
            </a: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c[ 0 ] </a:t>
            </a:r>
            <a:r>
              <a:rPr lang="tr-TR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=  </a:t>
            </a: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3;</a:t>
            </a: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	</a:t>
            </a:r>
            <a:r>
              <a:rPr lang="en-US" altLang="tr-TR" sz="1800" dirty="0" err="1">
                <a:solidFill>
                  <a:srgbClr val="002060"/>
                </a:solidFill>
                <a:latin typeface="Lucida Console" panose="020B0609040504020204" pitchFamily="49" charset="0"/>
              </a:rPr>
              <a:t>printf</a:t>
            </a: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( "%d", c[ 0 ] );</a:t>
            </a:r>
            <a:endParaRPr lang="tr-TR" altLang="tr-TR" sz="1800" dirty="0">
              <a:solidFill>
                <a:srgbClr val="002060"/>
              </a:solidFill>
              <a:latin typeface="Lucida Console" panose="020B0609040504020204" pitchFamily="49" charset="0"/>
            </a:endParaRPr>
          </a:p>
          <a:p>
            <a:pPr lvl="2">
              <a:lnSpc>
                <a:spcPct val="130000"/>
              </a:lnSpc>
              <a:buFontTx/>
              <a:buNone/>
            </a:pPr>
            <a:endParaRPr lang="tr-TR" altLang="tr-TR" sz="1800" dirty="0" smtClean="0">
              <a:latin typeface="Lucida Console" panose="020B0609040504020204" pitchFamily="49" charset="0"/>
            </a:endParaRPr>
          </a:p>
          <a:p>
            <a:pPr lvl="2">
              <a:lnSpc>
                <a:spcPct val="130000"/>
              </a:lnSpc>
              <a:buFontTx/>
              <a:buNone/>
            </a:pPr>
            <a:endParaRPr lang="tr-TR" altLang="tr-TR" sz="1800" dirty="0">
              <a:latin typeface="Lucida Console" panose="020B0609040504020204" pitchFamily="49" charset="0"/>
            </a:endParaRPr>
          </a:p>
          <a:p>
            <a:pPr lvl="2">
              <a:lnSpc>
                <a:spcPct val="130000"/>
              </a:lnSpc>
              <a:buFontTx/>
              <a:buNone/>
            </a:pPr>
            <a:endParaRPr lang="en-US" altLang="tr-TR" sz="1800" dirty="0">
              <a:latin typeface="Lucida Console" panose="020B060904050402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tr-TR" dirty="0"/>
              <a:t>Perform operations in subscript (or index).  If  </a:t>
            </a:r>
            <a:r>
              <a:rPr lang="en-US" altLang="tr-TR" sz="2200" dirty="0">
                <a:latin typeface="Lucida Console" panose="020B0609040504020204" pitchFamily="49" charset="0"/>
              </a:rPr>
              <a:t>x</a:t>
            </a:r>
            <a:r>
              <a:rPr lang="en-US" altLang="tr-TR" dirty="0"/>
              <a:t> equals </a:t>
            </a:r>
            <a:r>
              <a:rPr lang="en-US" altLang="tr-TR" sz="2200" dirty="0">
                <a:latin typeface="Lucida Console" panose="020B0609040504020204" pitchFamily="49" charset="0"/>
              </a:rPr>
              <a:t>3</a:t>
            </a: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tr-TR" dirty="0"/>
              <a:t>	</a:t>
            </a: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c[ 5 - 2 ] </a:t>
            </a:r>
            <a:r>
              <a:rPr lang="tr-TR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==</a:t>
            </a:r>
            <a:r>
              <a:rPr lang="tr-TR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c[ 3 ] </a:t>
            </a:r>
            <a:r>
              <a:rPr lang="tr-TR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== </a:t>
            </a:r>
            <a:r>
              <a:rPr lang="tr-TR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 </a:t>
            </a:r>
            <a:r>
              <a:rPr lang="en-US" altLang="tr-TR" sz="1800" dirty="0" smtClean="0">
                <a:solidFill>
                  <a:srgbClr val="002060"/>
                </a:solidFill>
                <a:latin typeface="Lucida Console" panose="020B0609040504020204" pitchFamily="49" charset="0"/>
              </a:rPr>
              <a:t>c</a:t>
            </a:r>
            <a:r>
              <a:rPr lang="en-US" altLang="tr-TR" sz="1800" dirty="0">
                <a:solidFill>
                  <a:srgbClr val="002060"/>
                </a:solidFill>
                <a:latin typeface="Lucida Console" panose="020B0609040504020204" pitchFamily="49" charset="0"/>
              </a:rPr>
              <a:t>[ x ]</a:t>
            </a:r>
          </a:p>
          <a:p>
            <a:pPr>
              <a:lnSpc>
                <a:spcPct val="13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8831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Defining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When defining arrays, specify</a:t>
            </a:r>
          </a:p>
          <a:p>
            <a:pPr lvl="1"/>
            <a:r>
              <a:rPr lang="en-US" altLang="tr-TR" dirty="0"/>
              <a:t>Name</a:t>
            </a:r>
          </a:p>
          <a:p>
            <a:pPr lvl="1"/>
            <a:r>
              <a:rPr lang="en-US" altLang="tr-TR" dirty="0"/>
              <a:t>Type of array</a:t>
            </a:r>
          </a:p>
          <a:p>
            <a:pPr lvl="1"/>
            <a:r>
              <a:rPr lang="en-US" altLang="tr-TR" dirty="0"/>
              <a:t>Number of elements</a:t>
            </a:r>
          </a:p>
          <a:p>
            <a:pPr lvl="2"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arrayType</a:t>
            </a:r>
            <a:r>
              <a:rPr lang="en-US" altLang="tr-TR" sz="1800" dirty="0">
                <a:latin typeface="Lucida Console" panose="020B0609040504020204" pitchFamily="49" charset="0"/>
              </a:rPr>
              <a:t> </a:t>
            </a:r>
            <a:r>
              <a:rPr lang="en-US" altLang="tr-TR" sz="1800" dirty="0" err="1">
                <a:latin typeface="Lucida Console" panose="020B0609040504020204" pitchFamily="49" charset="0"/>
              </a:rPr>
              <a:t>arrayName</a:t>
            </a:r>
            <a:r>
              <a:rPr lang="en-US" altLang="tr-TR" sz="1800" dirty="0">
                <a:latin typeface="Lucida Console" panose="020B0609040504020204" pitchFamily="49" charset="0"/>
              </a:rPr>
              <a:t>[ </a:t>
            </a:r>
            <a:r>
              <a:rPr lang="en-US" altLang="tr-TR" sz="1800" dirty="0" err="1">
                <a:latin typeface="Lucida Console" panose="020B0609040504020204" pitchFamily="49" charset="0"/>
              </a:rPr>
              <a:t>numberOfElements</a:t>
            </a:r>
            <a:r>
              <a:rPr lang="en-US" altLang="tr-TR" sz="1800" dirty="0">
                <a:latin typeface="Lucida Console" panose="020B0609040504020204" pitchFamily="49" charset="0"/>
              </a:rPr>
              <a:t> ];</a:t>
            </a:r>
          </a:p>
          <a:p>
            <a:pPr lvl="1"/>
            <a:r>
              <a:rPr lang="en-US" altLang="tr-TR" dirty="0"/>
              <a:t>Examples:	</a:t>
            </a:r>
          </a:p>
          <a:p>
            <a:pPr lvl="2"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int c[ 10 ];  </a:t>
            </a:r>
          </a:p>
          <a:p>
            <a:pPr lvl="2"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float </a:t>
            </a:r>
            <a:r>
              <a:rPr lang="en-US" altLang="tr-TR" sz="1800" dirty="0" err="1">
                <a:latin typeface="Lucida Console" panose="020B0609040504020204" pitchFamily="49" charset="0"/>
              </a:rPr>
              <a:t>myArray</a:t>
            </a:r>
            <a:r>
              <a:rPr lang="en-US" altLang="tr-TR" sz="1800" dirty="0">
                <a:latin typeface="Lucida Console" panose="020B0609040504020204" pitchFamily="49" charset="0"/>
              </a:rPr>
              <a:t>[ 3284 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];</a:t>
            </a:r>
            <a:endParaRPr lang="en-US" altLang="tr-TR" sz="1800" dirty="0">
              <a:latin typeface="Lucida Console" panose="020B0609040504020204" pitchFamily="49" charset="0"/>
            </a:endParaRPr>
          </a:p>
          <a:p>
            <a:pPr lvl="4"/>
            <a:endParaRPr lang="tr-TR" altLang="tr-TR" dirty="0" smtClean="0"/>
          </a:p>
          <a:p>
            <a:r>
              <a:rPr lang="en-US" altLang="tr-TR" dirty="0" smtClean="0"/>
              <a:t>Defining </a:t>
            </a:r>
            <a:r>
              <a:rPr lang="en-US" altLang="tr-TR" dirty="0"/>
              <a:t>multiple arrays of same type</a:t>
            </a:r>
          </a:p>
          <a:p>
            <a:pPr lvl="1"/>
            <a:r>
              <a:rPr lang="en-US" altLang="tr-TR" dirty="0"/>
              <a:t>Format similar to regular variables</a:t>
            </a:r>
          </a:p>
          <a:p>
            <a:pPr lvl="1"/>
            <a:r>
              <a:rPr lang="en-US" altLang="tr-TR" dirty="0"/>
              <a:t>Example:</a:t>
            </a:r>
          </a:p>
          <a:p>
            <a:pPr lvl="2"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int b[ 100 ], x[ 27 ];</a:t>
            </a:r>
            <a:r>
              <a:rPr lang="en-US" altLang="tr-TR" b="1" dirty="0">
                <a:latin typeface="Lucida Console" panose="020B0609040504020204" pitchFamily="49" charset="0"/>
              </a:rPr>
              <a:t> 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7574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</a:t>
            </a:r>
            <a:r>
              <a:rPr lang="tr-TR" altLang="tr-TR" dirty="0"/>
              <a:t> – Initialization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The elements of a </a:t>
            </a:r>
            <a:r>
              <a:rPr lang="en-US" altLang="tr-TR" u="sng" dirty="0"/>
              <a:t>local</a:t>
            </a:r>
            <a:r>
              <a:rPr lang="en-US" altLang="tr-TR" dirty="0"/>
              <a:t> array are </a:t>
            </a:r>
            <a:r>
              <a:rPr lang="tr-TR" altLang="tr-TR" dirty="0" err="1" smtClean="0"/>
              <a:t>initialized</a:t>
            </a:r>
            <a:r>
              <a:rPr lang="tr-TR" altLang="tr-TR" dirty="0" smtClean="0"/>
              <a:t> </a:t>
            </a:r>
            <a:r>
              <a:rPr lang="en-US" altLang="tr-TR" dirty="0" smtClean="0"/>
              <a:t>arbitrary </a:t>
            </a:r>
            <a:r>
              <a:rPr lang="en-US" altLang="tr-TR" dirty="0"/>
              <a:t>(as all other local variables).</a:t>
            </a:r>
          </a:p>
          <a:p>
            <a:pPr lvl="4"/>
            <a:endParaRPr lang="tr-TR" altLang="tr-TR" dirty="0" smtClean="0"/>
          </a:p>
          <a:p>
            <a:r>
              <a:rPr lang="en-US" altLang="tr-TR" dirty="0" smtClean="0"/>
              <a:t>The </a:t>
            </a:r>
            <a:r>
              <a:rPr lang="en-US" altLang="tr-TR" dirty="0"/>
              <a:t>elements of a </a:t>
            </a:r>
            <a:r>
              <a:rPr lang="en-US" altLang="tr-TR" u="sng" dirty="0"/>
              <a:t>global</a:t>
            </a:r>
            <a:r>
              <a:rPr lang="en-US" altLang="tr-TR" dirty="0"/>
              <a:t> array are initialized to zero by default (as all other global variables).</a:t>
            </a:r>
          </a:p>
          <a:p>
            <a:pPr lvl="4">
              <a:tabLst>
                <a:tab pos="1139825" algn="l"/>
              </a:tabLst>
            </a:pPr>
            <a:endParaRPr lang="tr-TR" altLang="tr-TR" dirty="0"/>
          </a:p>
          <a:p>
            <a:r>
              <a:rPr lang="en-US" altLang="tr-TR" dirty="0"/>
              <a:t>You may initialize an array during definition as follows:</a:t>
            </a:r>
          </a:p>
          <a:p>
            <a:pPr lvl="2">
              <a:buFontTx/>
              <a:buNone/>
            </a:pPr>
            <a:r>
              <a:rPr lang="en-US" altLang="tr-TR" dirty="0">
                <a:solidFill>
                  <a:srgbClr val="002060"/>
                </a:solidFill>
              </a:rPr>
              <a:t>int array[5] = {10, 8, 36, 9, 13};</a:t>
            </a:r>
          </a:p>
          <a:p>
            <a:pPr lvl="4"/>
            <a:endParaRPr lang="tr-TR" altLang="tr-TR" dirty="0" smtClean="0"/>
          </a:p>
          <a:p>
            <a:r>
              <a:rPr lang="en-US" altLang="tr-TR" dirty="0" smtClean="0"/>
              <a:t>However</a:t>
            </a:r>
            <a:r>
              <a:rPr lang="en-US" altLang="tr-TR" dirty="0"/>
              <a:t>, you cannot perform such an initialization </a:t>
            </a:r>
            <a:r>
              <a:rPr lang="en-US" altLang="tr-TR" u="sng" dirty="0"/>
              <a:t>after</a:t>
            </a:r>
            <a:r>
              <a:rPr lang="en-US" altLang="tr-TR" dirty="0"/>
              <a:t> the definition, i.e.,</a:t>
            </a:r>
          </a:p>
          <a:p>
            <a:pPr lvl="2">
              <a:buFontTx/>
              <a:buNone/>
            </a:pPr>
            <a:r>
              <a:rPr lang="en-US" altLang="tr-TR" dirty="0">
                <a:solidFill>
                  <a:srgbClr val="002060"/>
                </a:solidFill>
              </a:rPr>
              <a:t>int array[5];</a:t>
            </a:r>
          </a:p>
          <a:p>
            <a:pPr lvl="2">
              <a:buFontTx/>
              <a:buNone/>
            </a:pPr>
            <a:r>
              <a:rPr lang="en-US" altLang="tr-TR" dirty="0">
                <a:solidFill>
                  <a:srgbClr val="002060"/>
                </a:solidFill>
              </a:rPr>
              <a:t>array = {10, 8, 36, 9, 13};</a:t>
            </a:r>
          </a:p>
          <a:p>
            <a:pPr lvl="1">
              <a:buFontTx/>
              <a:buNone/>
            </a:pPr>
            <a:r>
              <a:rPr lang="tr-TR" altLang="tr-TR" sz="2400" dirty="0" smtClean="0"/>
              <a:t>   </a:t>
            </a:r>
            <a:r>
              <a:rPr lang="en-US" altLang="tr-TR" sz="2400" dirty="0" smtClean="0"/>
              <a:t>is </a:t>
            </a:r>
            <a:r>
              <a:rPr lang="en-US" altLang="tr-TR" sz="2400" dirty="0"/>
              <a:t>syntactically wrong.</a:t>
            </a:r>
            <a:endParaRPr lang="tr-TR" altLang="tr-TR" sz="2400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81185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</a:t>
            </a:r>
            <a:r>
              <a:rPr lang="tr-TR" altLang="tr-TR" dirty="0"/>
              <a:t> – Initialization Example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58618"/>
            <a:ext cx="11480800" cy="577792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Initializers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int n[ 5 ] = { 1, 2, 3, 4, 5 };</a:t>
            </a:r>
            <a:r>
              <a:rPr lang="en-US" altLang="tr-TR" b="1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If there are fewer initializers than elements in the array, the remaining elements are initialized to zero. </a:t>
            </a:r>
          </a:p>
          <a:p>
            <a:pPr lvl="3">
              <a:lnSpc>
                <a:spcPct val="120000"/>
              </a:lnSpc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int n[ 5 ] = { 0 }</a:t>
            </a:r>
            <a:r>
              <a:rPr lang="en-US" altLang="tr-TR" dirty="0"/>
              <a:t>   </a:t>
            </a:r>
          </a:p>
          <a:p>
            <a:pPr lvl="2">
              <a:lnSpc>
                <a:spcPct val="120000"/>
              </a:lnSpc>
            </a:pPr>
            <a:r>
              <a:rPr lang="en-US" altLang="tr-TR" dirty="0"/>
              <a:t>All elements 0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If there are more initializers than the size of the array, a syntax error is produced</a:t>
            </a:r>
            <a:r>
              <a:rPr lang="en-US" altLang="tr-TR" dirty="0" smtClean="0"/>
              <a:t>.</a:t>
            </a:r>
          </a:p>
          <a:p>
            <a:pPr>
              <a:lnSpc>
                <a:spcPct val="120000"/>
              </a:lnSpc>
            </a:pPr>
            <a:endParaRPr lang="en-US" altLang="tr-TR" dirty="0"/>
          </a:p>
          <a:p>
            <a:pPr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If the array size is </a:t>
            </a:r>
            <a:r>
              <a:rPr lang="en-US" altLang="en-US" i="1" dirty="0">
                <a:solidFill>
                  <a:srgbClr val="000000"/>
                </a:solidFill>
              </a:rPr>
              <a:t>omitted</a:t>
            </a:r>
            <a:r>
              <a:rPr lang="en-US" altLang="en-US" dirty="0">
                <a:solidFill>
                  <a:srgbClr val="000000"/>
                </a:solidFill>
              </a:rPr>
              <a:t> from a definition with an initializer list, the number of elements in the array will be the number of elements in the initializer list. 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int n[ ] = { 1, 2, 3, 4, 5 };</a:t>
            </a:r>
            <a:r>
              <a:rPr lang="en-US" altLang="tr-TR" b="1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5 initializers, therefore 5 element array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None/>
              <a:tabLst>
                <a:tab pos="1139825" algn="l"/>
              </a:tabLst>
            </a:pPr>
            <a:endParaRPr lang="tr-TR" altLang="tr-TR" sz="2400" dirty="0"/>
          </a:p>
          <a:p>
            <a:pPr>
              <a:lnSpc>
                <a:spcPct val="12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4573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</a:t>
            </a:r>
            <a:r>
              <a:rPr lang="tr-TR" altLang="tr-TR" dirty="0"/>
              <a:t> – Index and bounds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The index must </a:t>
            </a:r>
            <a:r>
              <a:rPr lang="tr-TR" altLang="tr-TR" dirty="0"/>
              <a:t>be </a:t>
            </a:r>
            <a:r>
              <a:rPr lang="en-US" altLang="tr-TR" dirty="0"/>
              <a:t>of int type.</a:t>
            </a:r>
            <a:endParaRPr lang="nn-NO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nn-NO" altLang="tr-TR" sz="2200" b="1" dirty="0">
                <a:solidFill>
                  <a:srgbClr val="002060"/>
                </a:solidFill>
                <a:latin typeface="Courier New" panose="02070309020205020404" pitchFamily="49" charset="0"/>
              </a:rPr>
              <a:t>int k[5];</a:t>
            </a:r>
          </a:p>
          <a:p>
            <a:pPr>
              <a:buFontTx/>
              <a:buNone/>
            </a:pPr>
            <a:r>
              <a:rPr lang="tr-TR" altLang="tr-TR" sz="2200" b="1" dirty="0">
                <a:solidFill>
                  <a:srgbClr val="002060"/>
                </a:solidFill>
                <a:latin typeface="Courier New" panose="02070309020205020404" pitchFamily="49" charset="0"/>
              </a:rPr>
              <a:t>  </a:t>
            </a:r>
            <a:r>
              <a:rPr lang="nn-NO" altLang="tr-TR" sz="2200" b="1" dirty="0" smtClean="0">
                <a:solidFill>
                  <a:srgbClr val="002060"/>
                </a:solidFill>
                <a:latin typeface="Courier New" panose="02070309020205020404" pitchFamily="49" charset="0"/>
              </a:rPr>
              <a:t>k[k[4</a:t>
            </a:r>
            <a:r>
              <a:rPr lang="nn-NO" altLang="tr-TR" sz="2200" b="1" dirty="0">
                <a:solidFill>
                  <a:srgbClr val="002060"/>
                </a:solidFill>
                <a:latin typeface="Courier New" panose="02070309020205020404" pitchFamily="49" charset="0"/>
              </a:rPr>
              <a:t>]/k[1]]=2; </a:t>
            </a:r>
            <a:endParaRPr lang="tr-TR" altLang="tr-TR" sz="2200" b="1" dirty="0">
              <a:solidFill>
                <a:srgbClr val="002060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tr-TR" altLang="tr-TR" sz="2200" b="1" dirty="0">
                <a:solidFill>
                  <a:srgbClr val="002060"/>
                </a:solidFill>
                <a:latin typeface="Courier New" panose="02070309020205020404" pitchFamily="49" charset="0"/>
              </a:rPr>
              <a:t>  </a:t>
            </a:r>
            <a:r>
              <a:rPr lang="nn-NO" altLang="tr-TR" sz="2200" b="1" dirty="0">
                <a:solidFill>
                  <a:srgbClr val="002060"/>
                </a:solidFill>
                <a:latin typeface="Courier New" panose="02070309020205020404" pitchFamily="49" charset="0"/>
              </a:rPr>
              <a:t>k[1.5] = 3;     /* Error since 1.5 is not int </a:t>
            </a:r>
            <a:r>
              <a:rPr lang="nn-NO" altLang="tr-TR" sz="2200" b="1" dirty="0" smtClean="0">
                <a:solidFill>
                  <a:srgbClr val="002060"/>
                </a:solidFill>
                <a:latin typeface="Courier New" panose="02070309020205020404" pitchFamily="49" charset="0"/>
              </a:rPr>
              <a:t>*/</a:t>
            </a:r>
            <a:endParaRPr lang="nn-NO" altLang="tr-TR" sz="2200" b="1" dirty="0">
              <a:solidFill>
                <a:srgbClr val="00206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tr-TR" altLang="en-US" i="1" dirty="0" smtClean="0">
              <a:solidFill>
                <a:srgbClr val="000000"/>
              </a:solidFill>
            </a:endParaRPr>
          </a:p>
          <a:p>
            <a:pPr lvl="4" eaLnBrk="1" hangingPunct="1"/>
            <a:endParaRPr lang="tr-TR" altLang="en-US" i="1" dirty="0" smtClean="0">
              <a:solidFill>
                <a:srgbClr val="000000"/>
              </a:solidFill>
            </a:endParaRPr>
          </a:p>
          <a:p>
            <a:pPr lvl="4" eaLnBrk="1" hangingPunct="1"/>
            <a:endParaRPr lang="tr-TR" altLang="en-US" i="1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i="1" dirty="0" smtClean="0">
                <a:solidFill>
                  <a:srgbClr val="000000"/>
                </a:solidFill>
              </a:rPr>
              <a:t>C </a:t>
            </a:r>
            <a:r>
              <a:rPr lang="en-US" altLang="en-US" i="1" dirty="0">
                <a:solidFill>
                  <a:srgbClr val="000000"/>
                </a:solidFill>
              </a:rPr>
              <a:t>has no array bounds checking to prevent the program from referring to an element that does not exist. </a:t>
            </a:r>
          </a:p>
          <a:p>
            <a:pPr lvl="4" eaLnBrk="1" hangingPunct="1"/>
            <a:endParaRPr lang="tr-TR" altLang="en-US" dirty="0" smtClean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</a:rPr>
              <a:t>Thus</a:t>
            </a:r>
            <a:r>
              <a:rPr lang="en-US" altLang="en-US" dirty="0">
                <a:solidFill>
                  <a:srgbClr val="000000"/>
                </a:solidFill>
              </a:rPr>
              <a:t>, an executing program can “walk off” either end of an array without warning</a:t>
            </a:r>
          </a:p>
          <a:p>
            <a:pPr lvl="4" eaLnBrk="1" hangingPunct="1"/>
            <a:endParaRPr lang="tr-TR" altLang="en-US" dirty="0" smtClean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</a:rPr>
              <a:t>You </a:t>
            </a:r>
            <a:r>
              <a:rPr lang="en-US" altLang="en-US" dirty="0">
                <a:solidFill>
                  <a:srgbClr val="000000"/>
                </a:solidFill>
              </a:rPr>
              <a:t>should ensure that all array references remain within the bounds of the array.</a:t>
            </a:r>
            <a:endParaRPr lang="en-US" altLang="en-US" i="1" dirty="0">
              <a:solidFill>
                <a:srgbClr val="000000"/>
              </a:solidFill>
            </a:endParaRPr>
          </a:p>
          <a:p>
            <a:endParaRPr lang="en-US" altLang="tr-TR" b="1" dirty="0">
              <a:solidFill>
                <a:srgbClr val="00206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35289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 Have Fixed Size!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The size of an array must be stated at compile time.</a:t>
            </a:r>
            <a:endParaRPr lang="tr-TR" altLang="tr-TR" dirty="0"/>
          </a:p>
          <a:p>
            <a:endParaRPr lang="en-US" altLang="tr-TR" dirty="0"/>
          </a:p>
          <a:p>
            <a:r>
              <a:rPr lang="en-US" altLang="tr-TR" dirty="0"/>
              <a:t>This means you cannot define the size when you run the program. You should fix it while writing the program.</a:t>
            </a:r>
            <a:endParaRPr lang="tr-TR" altLang="tr-TR" dirty="0"/>
          </a:p>
          <a:p>
            <a:endParaRPr lang="en-US" altLang="tr-TR" dirty="0"/>
          </a:p>
          <a:p>
            <a:r>
              <a:rPr lang="en-US" altLang="tr-TR" dirty="0">
                <a:solidFill>
                  <a:srgbClr val="FF0000"/>
                </a:solidFill>
              </a:rPr>
              <a:t>This is a very serious limitation for arrays.</a:t>
            </a:r>
            <a:r>
              <a:rPr lang="en-US" altLang="tr-TR" dirty="0"/>
              <a:t> Arrays are not fit for dynamic programming.</a:t>
            </a:r>
          </a:p>
          <a:p>
            <a:pPr lvl="1"/>
            <a:r>
              <a:rPr lang="en-US" altLang="tr-TR" dirty="0"/>
              <a:t>You should use pointers for this purpose</a:t>
            </a:r>
            <a:r>
              <a:rPr lang="tr-TR" altLang="tr-TR" dirty="0"/>
              <a:t>.</a:t>
            </a:r>
          </a:p>
          <a:p>
            <a:pPr lvl="1"/>
            <a:endParaRPr lang="tr-TR" altLang="tr-TR" dirty="0"/>
          </a:p>
          <a:p>
            <a:r>
              <a:rPr lang="tr-TR" dirty="0"/>
              <a:t>Examples: </a:t>
            </a:r>
          </a:p>
          <a:p>
            <a:pPr lvl="1"/>
            <a:r>
              <a:rPr lang="tr-TR" dirty="0"/>
              <a:t>Initialize_zero.c</a:t>
            </a:r>
          </a:p>
          <a:p>
            <a:pPr lvl="1"/>
            <a:r>
              <a:rPr lang="tr-TR" dirty="0"/>
              <a:t>Initialize_value.c</a:t>
            </a:r>
          </a:p>
          <a:p>
            <a:pPr lvl="1"/>
            <a:endParaRPr lang="en-US" alt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22326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BD27C1-D0DC-40D5-9BAE-DE189A960A30}"/>
              </a:ext>
            </a:extLst>
          </p:cNvPr>
          <p:cNvSpPr txBox="1">
            <a:spLocks/>
          </p:cNvSpPr>
          <p:nvPr/>
        </p:nvSpPr>
        <p:spPr>
          <a:xfrm>
            <a:off x="304800" y="152400"/>
            <a:ext cx="114808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ＭＳ Ｐゴシック" pitchFamily="-105" charset="-128"/>
                <a:cs typeface="ＭＳ Ｐゴシック" pitchFamily="-105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marL="0" lvl="1"/>
            <a:r>
              <a:rPr lang="en-US" dirty="0"/>
              <a:t>Example 1: </a:t>
            </a:r>
            <a:r>
              <a:rPr lang="tr-TR" dirty="0" err="1"/>
              <a:t>Initialize_zero.c</a:t>
            </a:r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6D1C400-5C90-4995-8A19-E8062AA674B6}"/>
              </a:ext>
            </a:extLst>
          </p:cNvPr>
          <p:cNvSpPr/>
          <p:nvPr/>
        </p:nvSpPr>
        <p:spPr>
          <a:xfrm>
            <a:off x="304800" y="914539"/>
            <a:ext cx="108658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// Initializing the elements of an array to zeros.</a:t>
            </a:r>
            <a:endParaRPr lang="en-US" i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stdio.h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endParaRPr lang="tr-TR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function main begins program execution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int main(void)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int n[5],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// n is an array of five integers</a:t>
            </a:r>
          </a:p>
          <a:p>
            <a:endParaRPr 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// set elements of array n to 0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for (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&lt; 5; ++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  n[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] = 0;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// set element at location </a:t>
            </a:r>
            <a:r>
              <a:rPr lang="en-US" i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 to 0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endParaRPr 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("%s\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t%s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\n", "Element", "Value");</a:t>
            </a:r>
          </a:p>
          <a:p>
            <a:endParaRPr 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i="1" dirty="0">
                <a:latin typeface="Consolas" panose="020B0609020204030204" pitchFamily="49" charset="0"/>
                <a:cs typeface="Courier New" panose="02070309020205020404" pitchFamily="49" charset="0"/>
              </a:rPr>
              <a:t>// output contents of array n in tabular format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for (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&lt; 5; ++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("%d\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t%d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\n",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, n[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1" name="Picture 10" descr="C:\Users\agaoglu\agaoglu-docs\courses-recent\computer-programming\cse1142-2019-2020-2\Lecture-Source-Codes-c\C_31_arrays\C31_05_Initialize_zero.ex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857" y="1219200"/>
            <a:ext cx="4067743" cy="25721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0108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BD27C1-D0DC-40D5-9BAE-DE189A960A30}"/>
              </a:ext>
            </a:extLst>
          </p:cNvPr>
          <p:cNvSpPr txBox="1">
            <a:spLocks/>
          </p:cNvSpPr>
          <p:nvPr/>
        </p:nvSpPr>
        <p:spPr>
          <a:xfrm>
            <a:off x="311286" y="82550"/>
            <a:ext cx="11297852" cy="64970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ＭＳ Ｐゴシック" pitchFamily="-105" charset="-128"/>
                <a:cs typeface="ＭＳ Ｐゴシック" pitchFamily="-105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marL="0" lvl="1"/>
            <a:r>
              <a:rPr lang="en-US" dirty="0"/>
              <a:t>Example 2: </a:t>
            </a:r>
            <a:r>
              <a:rPr lang="tr-TR" dirty="0" err="1"/>
              <a:t>Initialize_value.c</a:t>
            </a:r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6D1C400-5C90-4995-8A19-E8062AA674B6}"/>
              </a:ext>
            </a:extLst>
          </p:cNvPr>
          <p:cNvSpPr/>
          <p:nvPr/>
        </p:nvSpPr>
        <p:spPr>
          <a:xfrm>
            <a:off x="311286" y="893320"/>
            <a:ext cx="10522482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</a:rPr>
              <a:t>// Initializing the elements of an array with an initializer list.</a:t>
            </a:r>
            <a:endParaRPr lang="tr-TR" sz="1600" i="1" dirty="0" smtClean="0">
              <a:latin typeface="Consolas" panose="020B0609020204030204" pitchFamily="49" charset="0"/>
            </a:endParaRPr>
          </a:p>
          <a:p>
            <a:r>
              <a:rPr lang="en-US" sz="1600" b="1" dirty="0" smtClean="0">
                <a:latin typeface="Consolas" panose="020B0609020204030204" pitchFamily="49" charset="0"/>
              </a:rPr>
              <a:t>#</a:t>
            </a:r>
            <a:r>
              <a:rPr lang="en-US" sz="1600" b="1" dirty="0">
                <a:latin typeface="Consolas" panose="020B0609020204030204" pitchFamily="49" charset="0"/>
              </a:rPr>
              <a:t>include &lt;</a:t>
            </a:r>
            <a:r>
              <a:rPr lang="en-US" sz="1600" b="1" dirty="0" err="1">
                <a:latin typeface="Consolas" panose="020B0609020204030204" pitchFamily="49" charset="0"/>
              </a:rPr>
              <a:t>stdio.h</a:t>
            </a:r>
            <a:r>
              <a:rPr lang="en-US" sz="1600" b="1" dirty="0">
                <a:latin typeface="Consolas" panose="020B0609020204030204" pitchFamily="49" charset="0"/>
              </a:rPr>
              <a:t>&gt;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600" i="1" dirty="0">
                <a:latin typeface="Consolas" panose="020B0609020204030204" pitchFamily="49" charset="0"/>
              </a:rPr>
              <a:t>// function main begins program execution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int main(void)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i="1" dirty="0">
                <a:latin typeface="Consolas" panose="020B0609020204030204" pitchFamily="49" charset="0"/>
              </a:rPr>
              <a:t>// use initializer list to initialize array n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int </a:t>
            </a:r>
            <a:r>
              <a:rPr lang="en-US" sz="1600" b="1" dirty="0" smtClean="0">
                <a:latin typeface="Consolas" panose="020B0609020204030204" pitchFamily="49" charset="0"/>
              </a:rPr>
              <a:t>x;</a:t>
            </a:r>
            <a:endParaRPr lang="en-US" sz="1600" b="1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   int </a:t>
            </a:r>
            <a:r>
              <a:rPr lang="en-US" sz="1600" b="1" dirty="0" err="1">
                <a:latin typeface="Consolas" panose="020B0609020204030204" pitchFamily="49" charset="0"/>
              </a:rPr>
              <a:t>i</a:t>
            </a:r>
            <a:r>
              <a:rPr lang="en-US" sz="1600" b="1" dirty="0">
                <a:latin typeface="Consolas" panose="020B0609020204030204" pitchFamily="49" charset="0"/>
              </a:rPr>
              <a:t>, n[5] = {32, 27, 64, 18, 95};</a:t>
            </a:r>
          </a:p>
          <a:p>
            <a:endParaRPr lang="en-US" sz="1600" b="1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("%s\</a:t>
            </a:r>
            <a:r>
              <a:rPr lang="en-US" sz="1600" b="1" dirty="0" err="1">
                <a:latin typeface="Consolas" panose="020B0609020204030204" pitchFamily="49" charset="0"/>
              </a:rPr>
              <a:t>t%s</a:t>
            </a:r>
            <a:r>
              <a:rPr lang="en-US" sz="1600" b="1" dirty="0">
                <a:latin typeface="Consolas" panose="020B0609020204030204" pitchFamily="49" charset="0"/>
              </a:rPr>
              <a:t>\n", "Element", "Value");</a:t>
            </a:r>
          </a:p>
          <a:p>
            <a:endParaRPr lang="en-US" sz="1600" b="1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i="1" dirty="0">
                <a:latin typeface="Consolas" panose="020B0609020204030204" pitchFamily="49" charset="0"/>
              </a:rPr>
              <a:t>// output contents of array in tabular format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for (</a:t>
            </a:r>
            <a:r>
              <a:rPr lang="en-US" sz="1600" b="1" dirty="0" err="1">
                <a:latin typeface="Consolas" panose="020B0609020204030204" pitchFamily="49" charset="0"/>
              </a:rPr>
              <a:t>i</a:t>
            </a:r>
            <a:r>
              <a:rPr lang="en-US" sz="1600" b="1" dirty="0">
                <a:latin typeface="Consolas" panose="020B0609020204030204" pitchFamily="49" charset="0"/>
              </a:rPr>
              <a:t> = 0; </a:t>
            </a:r>
            <a:r>
              <a:rPr lang="en-US" sz="1600" b="1" dirty="0" err="1">
                <a:latin typeface="Consolas" panose="020B0609020204030204" pitchFamily="49" charset="0"/>
              </a:rPr>
              <a:t>i</a:t>
            </a:r>
            <a:r>
              <a:rPr lang="en-US" sz="1600" b="1" dirty="0">
                <a:latin typeface="Consolas" panose="020B0609020204030204" pitchFamily="49" charset="0"/>
              </a:rPr>
              <a:t> &lt; 5; ++</a:t>
            </a:r>
            <a:r>
              <a:rPr lang="en-US" sz="1600" b="1" dirty="0" err="1">
                <a:latin typeface="Consolas" panose="020B0609020204030204" pitchFamily="49" charset="0"/>
              </a:rPr>
              <a:t>i</a:t>
            </a:r>
            <a:r>
              <a:rPr lang="en-US" sz="1600" b="1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("%d\</a:t>
            </a:r>
            <a:r>
              <a:rPr lang="en-US" sz="1600" b="1" dirty="0" err="1">
                <a:latin typeface="Consolas" panose="020B0609020204030204" pitchFamily="49" charset="0"/>
              </a:rPr>
              <a:t>t%d</a:t>
            </a:r>
            <a:r>
              <a:rPr lang="en-US" sz="1600" b="1" dirty="0">
                <a:latin typeface="Consolas" panose="020B0609020204030204" pitchFamily="49" charset="0"/>
              </a:rPr>
              <a:t>\n", </a:t>
            </a:r>
            <a:r>
              <a:rPr lang="en-US" sz="1600" b="1" dirty="0" err="1">
                <a:latin typeface="Consolas" panose="020B0609020204030204" pitchFamily="49" charset="0"/>
              </a:rPr>
              <a:t>i</a:t>
            </a:r>
            <a:r>
              <a:rPr lang="en-US" sz="1600" b="1" dirty="0">
                <a:latin typeface="Consolas" panose="020B0609020204030204" pitchFamily="49" charset="0"/>
              </a:rPr>
              <a:t>, n[</a:t>
            </a:r>
            <a:r>
              <a:rPr lang="en-US" sz="1600" b="1" dirty="0" err="1">
                <a:latin typeface="Consolas" panose="020B0609020204030204" pitchFamily="49" charset="0"/>
              </a:rPr>
              <a:t>i</a:t>
            </a:r>
            <a:r>
              <a:rPr lang="en-US" sz="1600" b="1" dirty="0"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}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("\</a:t>
            </a:r>
            <a:r>
              <a:rPr lang="en-US" sz="1600" b="1" dirty="0" err="1">
                <a:latin typeface="Consolas" panose="020B0609020204030204" pitchFamily="49" charset="0"/>
              </a:rPr>
              <a:t>nValues</a:t>
            </a:r>
            <a:r>
              <a:rPr lang="en-US" sz="1600" b="1" dirty="0">
                <a:latin typeface="Consolas" panose="020B0609020204030204" pitchFamily="49" charset="0"/>
              </a:rPr>
              <a:t>:\n");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("%d\</a:t>
            </a:r>
            <a:r>
              <a:rPr lang="en-US" sz="1600" b="1" dirty="0" err="1">
                <a:latin typeface="Consolas" panose="020B0609020204030204" pitchFamily="49" charset="0"/>
              </a:rPr>
              <a:t>t%d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t%d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t%d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t%d</a:t>
            </a:r>
            <a:r>
              <a:rPr lang="en-US" sz="1600" b="1" dirty="0">
                <a:latin typeface="Consolas" panose="020B0609020204030204" pitchFamily="49" charset="0"/>
              </a:rPr>
              <a:t>\n", *n, *(n+1),*(n+2),*(n+3),*(n+4));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("\</a:t>
            </a:r>
            <a:r>
              <a:rPr lang="en-US" sz="1600" b="1" dirty="0" err="1">
                <a:latin typeface="Consolas" panose="020B0609020204030204" pitchFamily="49" charset="0"/>
              </a:rPr>
              <a:t>nAddresses</a:t>
            </a:r>
            <a:r>
              <a:rPr lang="en-US" sz="1600" b="1" dirty="0">
                <a:latin typeface="Consolas" panose="020B0609020204030204" pitchFamily="49" charset="0"/>
              </a:rPr>
              <a:t>:\n");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("%p\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\n", n, n+1, n+2, n+3, n+4);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</a:rPr>
              <a:t>("%p\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</a:t>
            </a:r>
            <a:r>
              <a:rPr lang="en-US" sz="1600" b="1" dirty="0" err="1">
                <a:latin typeface="Consolas" panose="020B0609020204030204" pitchFamily="49" charset="0"/>
              </a:rPr>
              <a:t>t%p</a:t>
            </a:r>
            <a:r>
              <a:rPr lang="en-US" sz="1600" b="1" dirty="0">
                <a:latin typeface="Consolas" panose="020B0609020204030204" pitchFamily="49" charset="0"/>
              </a:rPr>
              <a:t>\n", &amp;n[0], &amp;n[1], &amp;n[2], &amp;n[3], &amp;n[4]);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Picture 2" descr="C:\Users\agaoglu\agaoglu-docs\courses-recent\computer-programming\cse1142-2019-2020-2\Lecture-Source-Codes-c\C_31_arrays\C31_10_Initialize_value.ex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122" y="2116633"/>
            <a:ext cx="5758375" cy="2074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07644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BD27C1-D0DC-40D5-9BAE-DE189A960A30}"/>
              </a:ext>
            </a:extLst>
          </p:cNvPr>
          <p:cNvSpPr txBox="1">
            <a:spLocks/>
          </p:cNvSpPr>
          <p:nvPr/>
        </p:nvSpPr>
        <p:spPr>
          <a:xfrm>
            <a:off x="-224590" y="82550"/>
            <a:ext cx="11480800" cy="64970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ＭＳ Ｐゴシック" pitchFamily="-105" charset="-128"/>
                <a:cs typeface="ＭＳ Ｐゴシック" pitchFamily="-105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  <a:ea typeface="ＭＳ Ｐゴシック" pitchFamily="-105" charset="-128"/>
                <a:cs typeface="ＭＳ Ｐゴシック" pitchFamily="-105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pPr lvl="1"/>
            <a:r>
              <a:rPr lang="en-US" dirty="0"/>
              <a:t>Output of </a:t>
            </a:r>
            <a:r>
              <a:rPr lang="tr-TR" dirty="0" err="1"/>
              <a:t>Initialize_value.c</a:t>
            </a:r>
            <a:endParaRPr lang="tr-TR" dirty="0"/>
          </a:p>
        </p:txBody>
      </p:sp>
      <p:pic>
        <p:nvPicPr>
          <p:cNvPr id="2" name="Picture 1" descr="C:\Users\agaoglu\agaoglu-docs\courses-recent\computer-programming\cse1142-2019-2020-2\Lecture-Source-Codes-c\C_31_arrays\C31_10_Initialize_value.ex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57" y="1383810"/>
            <a:ext cx="11099647" cy="3998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0576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 Have Fixed Size!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What you can do is to define very large arrays, making the size practically infinite </a:t>
            </a:r>
            <a:r>
              <a:rPr lang="en-US" altLang="tr-TR" dirty="0">
                <a:sym typeface="Wingdings" panose="05000000000000000000" pitchFamily="2" charset="2"/>
              </a:rPr>
              <a:t> </a:t>
            </a:r>
            <a:r>
              <a:rPr lang="en-US" altLang="tr-TR" dirty="0">
                <a:solidFill>
                  <a:srgbClr val="00A800"/>
                </a:solidFill>
                <a:sym typeface="Wingdings" panose="05000000000000000000" pitchFamily="2" charset="2"/>
              </a:rPr>
              <a:t>Wastes too much memory.</a:t>
            </a:r>
            <a:endParaRPr lang="tr-TR" altLang="tr-TR" dirty="0">
              <a:solidFill>
                <a:srgbClr val="00A800"/>
              </a:solidFill>
              <a:sym typeface="Wingdings" panose="05000000000000000000" pitchFamily="2" charset="2"/>
            </a:endParaRPr>
          </a:p>
          <a:p>
            <a:endParaRPr lang="tr-TR" altLang="tr-TR" dirty="0" smtClean="0">
              <a:solidFill>
                <a:srgbClr val="00A800"/>
              </a:solidFill>
              <a:sym typeface="Wingdings" panose="05000000000000000000" pitchFamily="2" charset="2"/>
            </a:endParaRPr>
          </a:p>
          <a:p>
            <a:endParaRPr lang="en-US" altLang="tr-TR" dirty="0">
              <a:solidFill>
                <a:srgbClr val="00A800"/>
              </a:solidFill>
              <a:sym typeface="Wingdings" panose="05000000000000000000" pitchFamily="2" charset="2"/>
            </a:endParaRPr>
          </a:p>
          <a:p>
            <a:r>
              <a:rPr lang="en-US" altLang="tr-TR" dirty="0">
                <a:sym typeface="Wingdings" panose="05000000000000000000" pitchFamily="2" charset="2"/>
              </a:rPr>
              <a:t>Your program may exceed the maximum memory limit for the process.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6735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en-US" dirty="0"/>
              <a:t> 3:</a:t>
            </a:r>
            <a:r>
              <a:rPr lang="tr-TR" dirty="0"/>
              <a:t> </a:t>
            </a:r>
            <a:r>
              <a:rPr lang="tr-TR" dirty="0" err="1" smtClean="0"/>
              <a:t>Histogram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07775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// Displaying a histogram.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tr-TR" sz="1600" b="1" dirty="0" smtClean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#</a:t>
            </a: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define SIZE 5</a:t>
            </a:r>
          </a:p>
          <a:p>
            <a:pPr marL="0" indent="0">
              <a:buNone/>
            </a:pPr>
            <a:endParaRPr lang="tr-TR" sz="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tr-TR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// use initializer list to initialize array n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int i, j, n[SIZE] = {19, 3, 15, 7, 11};</a:t>
            </a:r>
          </a:p>
          <a:p>
            <a:pPr marL="0" indent="0">
              <a:buNone/>
            </a:pPr>
            <a:endParaRPr lang="tr-TR" sz="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printf("%s\t%s\t%s\n", "Element", "Value", "</a:t>
            </a:r>
            <a:r>
              <a:rPr lang="tr-TR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Histogram</a:t>
            </a: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endParaRPr lang="tr-TR" sz="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400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sz="1400" i="1" dirty="0">
                <a:latin typeface="Consolas" panose="020B0609020204030204" pitchFamily="49" charset="0"/>
                <a:cs typeface="Courier New" panose="02070309020205020404" pitchFamily="49" charset="0"/>
              </a:rPr>
              <a:t>for each element of array n, output a bar of the histogram</a:t>
            </a:r>
            <a:endParaRPr lang="tr-TR" sz="1400" i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for (i = 0; i &lt; SIZE; ++i) {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printf("%d\t%d\t", i, n[i]) ;</a:t>
            </a:r>
          </a:p>
          <a:p>
            <a:pPr marL="0" indent="0">
              <a:buNone/>
            </a:pPr>
            <a:endParaRPr lang="tr-TR" sz="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for (j = 1; j &lt;= n[i]; ++j) </a:t>
            </a: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{ </a:t>
            </a:r>
            <a:r>
              <a:rPr lang="tr-TR" sz="1600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tr-TR" sz="1600" i="1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tr-TR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tr-TR" sz="1600" i="1" dirty="0" err="1">
                <a:latin typeface="Consolas" panose="020B0609020204030204" pitchFamily="49" charset="0"/>
                <a:cs typeface="Courier New" panose="02070309020205020404" pitchFamily="49" charset="0"/>
              </a:rPr>
              <a:t>one</a:t>
            </a:r>
            <a:r>
              <a:rPr lang="tr-TR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tr-TR" sz="1600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endParaRPr lang="tr-TR" sz="1600" i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printf("%c", </a:t>
            </a: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'*');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     }</a:t>
            </a:r>
            <a:endParaRPr lang="tr-TR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sz="8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printf("\n"); </a:t>
            </a:r>
            <a:r>
              <a:rPr lang="en-US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// end a histogram bar with a newline</a:t>
            </a:r>
            <a:endParaRPr lang="tr-TR" sz="1600" i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15_Histogram.ex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980" y="1219200"/>
            <a:ext cx="4681620" cy="2970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43502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en-US" dirty="0"/>
              <a:t>4:</a:t>
            </a:r>
            <a:r>
              <a:rPr lang="tr-TR" dirty="0"/>
              <a:t> Roll dice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3223"/>
            <a:ext cx="11480800" cy="5481649"/>
          </a:xfrm>
        </p:spPr>
        <p:txBody>
          <a:bodyPr/>
          <a:lstStyle/>
          <a:p>
            <a:pPr marL="0" indent="0">
              <a:buNone/>
            </a:pPr>
            <a:r>
              <a:rPr lang="en-US" sz="1000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stdio.h</a:t>
            </a:r>
            <a:r>
              <a:rPr lang="en-US" sz="1000" b="1" dirty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stdlib.h</a:t>
            </a:r>
            <a:r>
              <a:rPr lang="en-US" sz="1000" b="1" dirty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000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time.h</a:t>
            </a:r>
            <a:r>
              <a:rPr lang="en-US" sz="1000" b="1" dirty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tr-TR" sz="1000" b="1" dirty="0" smtClean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#</a:t>
            </a: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define SIZE </a:t>
            </a: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7</a:t>
            </a:r>
          </a:p>
          <a:p>
            <a:pPr marL="0" indent="0">
              <a:buNone/>
            </a:pPr>
            <a:endParaRPr lang="tr-TR" sz="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unsigned int frequency[SIZE] = {0}; </a:t>
            </a:r>
            <a:r>
              <a:rPr lang="tr-TR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// clear counts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unsigned int roll, face;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srand(time(NULL)); </a:t>
            </a:r>
            <a:r>
              <a:rPr lang="tr-TR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// seed random number generator</a:t>
            </a:r>
          </a:p>
          <a:p>
            <a:pPr marL="0" indent="0">
              <a:buNone/>
            </a:pPr>
            <a:endParaRPr lang="tr-TR" sz="5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tr-TR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// roll die 600 times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for (roll = 1; roll &lt;= 600; ++roll) {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face = 1 + rand() % 6;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++frequency[face];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printf("%s\t%s\n", "Face", "</a:t>
            </a:r>
            <a:r>
              <a:rPr lang="tr-TR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Frequency</a:t>
            </a:r>
            <a:r>
              <a:rPr lang="tr-TR" sz="1600" b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endParaRPr lang="tr-TR" sz="7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600" i="1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sz="1600" i="1" dirty="0">
                <a:latin typeface="Consolas" panose="020B0609020204030204" pitchFamily="49" charset="0"/>
                <a:cs typeface="Courier New" panose="02070309020205020404" pitchFamily="49" charset="0"/>
              </a:rPr>
              <a:t>output frequency elements 1-6 in tabular format</a:t>
            </a:r>
            <a:endParaRPr lang="tr-TR" sz="1600" i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for (face = 1; face &lt; SIZE; ++face) {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printf("%d\t%d\n", face, frequency[face]);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20_roll_dice.ex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226" y="1219200"/>
            <a:ext cx="4115374" cy="2772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0132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Arrays as Parameters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Although you write like a value parameter, </a:t>
            </a:r>
            <a:endParaRPr lang="tr-TR" altLang="tr-TR" dirty="0" smtClean="0"/>
          </a:p>
          <a:p>
            <a:pPr lvl="4"/>
            <a:endParaRPr lang="tr-TR" altLang="tr-TR" dirty="0"/>
          </a:p>
          <a:p>
            <a:pPr lvl="1"/>
            <a:r>
              <a:rPr lang="en-US" altLang="tr-TR" dirty="0" smtClean="0"/>
              <a:t>an </a:t>
            </a:r>
            <a:r>
              <a:rPr lang="en-US" altLang="tr-TR" dirty="0"/>
              <a:t>array is always passed by reference (variable parameter</a:t>
            </a:r>
            <a:r>
              <a:rPr lang="en-US" altLang="tr-TR" dirty="0" smtClean="0"/>
              <a:t>).</a:t>
            </a:r>
            <a:endParaRPr lang="tr-TR" altLang="tr-TR" dirty="0" smtClean="0"/>
          </a:p>
          <a:p>
            <a:pPr lvl="4"/>
            <a:endParaRPr lang="en-US" altLang="tr-TR" dirty="0"/>
          </a:p>
          <a:p>
            <a:pPr lvl="1"/>
            <a:r>
              <a:rPr lang="en-US" altLang="tr-TR" dirty="0"/>
              <a:t>Therefore, when you make a change in an element of an array in the function, the change is visible from the caller.</a:t>
            </a:r>
            <a:endParaRPr lang="tr-TR" altLang="tr-TR" dirty="0"/>
          </a:p>
          <a:p>
            <a:pPr lvl="1"/>
            <a:endParaRPr lang="en-US" alt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63241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Passing Arrays 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461638"/>
          </a:xfrm>
        </p:spPr>
        <p:txBody>
          <a:bodyPr/>
          <a:lstStyle/>
          <a:p>
            <a:r>
              <a:rPr lang="en-US" altLang="tr-TR" dirty="0"/>
              <a:t>Passing arrays</a:t>
            </a:r>
          </a:p>
          <a:p>
            <a:pPr lvl="1"/>
            <a:r>
              <a:rPr lang="en-US" altLang="tr-TR" dirty="0"/>
              <a:t>To pass an array argument to a function, specify the name of the array without any brackets </a:t>
            </a:r>
          </a:p>
          <a:p>
            <a:pPr lvl="3"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int </a:t>
            </a:r>
            <a:r>
              <a:rPr lang="en-US" altLang="tr-TR" dirty="0" err="1">
                <a:latin typeface="Lucida Console" panose="020B0609040504020204" pitchFamily="49" charset="0"/>
              </a:rPr>
              <a:t>myArray</a:t>
            </a:r>
            <a:r>
              <a:rPr lang="en-US" altLang="tr-TR" dirty="0">
                <a:latin typeface="Lucida Console" panose="020B0609040504020204" pitchFamily="49" charset="0"/>
              </a:rPr>
              <a:t>[</a:t>
            </a:r>
            <a:r>
              <a:rPr lang="en-US" altLang="tr-TR" dirty="0"/>
              <a:t> </a:t>
            </a:r>
            <a:r>
              <a:rPr lang="en-US" altLang="tr-TR" dirty="0">
                <a:latin typeface="Lucida Console" panose="020B0609040504020204" pitchFamily="49" charset="0"/>
              </a:rPr>
              <a:t>24</a:t>
            </a:r>
            <a:r>
              <a:rPr lang="en-US" altLang="tr-TR" dirty="0"/>
              <a:t> </a:t>
            </a:r>
            <a:r>
              <a:rPr lang="en-US" altLang="tr-TR" dirty="0">
                <a:latin typeface="Lucida Console" panose="020B0609040504020204" pitchFamily="49" charset="0"/>
              </a:rPr>
              <a:t>];</a:t>
            </a:r>
          </a:p>
          <a:p>
            <a:pPr lvl="3">
              <a:buFontTx/>
              <a:buNone/>
            </a:pPr>
            <a:r>
              <a:rPr lang="en-US" altLang="tr-TR" dirty="0" err="1">
                <a:latin typeface="Lucida Console" panose="020B0609040504020204" pitchFamily="49" charset="0"/>
              </a:rPr>
              <a:t>myFunction</a:t>
            </a:r>
            <a:r>
              <a:rPr lang="en-US" altLang="tr-TR" dirty="0">
                <a:latin typeface="Lucida Console" panose="020B0609040504020204" pitchFamily="49" charset="0"/>
              </a:rPr>
              <a:t>(</a:t>
            </a:r>
            <a:r>
              <a:rPr lang="en-US" altLang="tr-TR" dirty="0"/>
              <a:t> </a:t>
            </a:r>
            <a:r>
              <a:rPr lang="en-US" altLang="tr-TR" dirty="0" err="1">
                <a:latin typeface="Lucida Console" panose="020B0609040504020204" pitchFamily="49" charset="0"/>
              </a:rPr>
              <a:t>myArray</a:t>
            </a:r>
            <a:r>
              <a:rPr lang="en-US" altLang="tr-TR" dirty="0">
                <a:latin typeface="Lucida Console" panose="020B0609040504020204" pitchFamily="49" charset="0"/>
              </a:rPr>
              <a:t>,</a:t>
            </a:r>
            <a:r>
              <a:rPr lang="en-US" altLang="tr-TR" dirty="0"/>
              <a:t> </a:t>
            </a:r>
            <a:r>
              <a:rPr lang="en-US" altLang="tr-TR" dirty="0">
                <a:latin typeface="Lucida Console" panose="020B0609040504020204" pitchFamily="49" charset="0"/>
              </a:rPr>
              <a:t>24</a:t>
            </a:r>
            <a:r>
              <a:rPr lang="en-US" altLang="tr-TR" dirty="0"/>
              <a:t> </a:t>
            </a:r>
            <a:r>
              <a:rPr lang="en-US" altLang="tr-TR" dirty="0">
                <a:latin typeface="Lucida Console" panose="020B0609040504020204" pitchFamily="49" charset="0"/>
              </a:rPr>
              <a:t>);</a:t>
            </a:r>
          </a:p>
          <a:p>
            <a:pPr lvl="2"/>
            <a:r>
              <a:rPr lang="en-US" altLang="tr-TR" dirty="0"/>
              <a:t>Array size usually passed to function </a:t>
            </a:r>
          </a:p>
          <a:p>
            <a:pPr lvl="1"/>
            <a:r>
              <a:rPr lang="en-US" altLang="tr-TR" dirty="0"/>
              <a:t>Arrays passed call-by-reference </a:t>
            </a:r>
          </a:p>
          <a:p>
            <a:pPr lvl="1"/>
            <a:r>
              <a:rPr lang="en-US" altLang="tr-TR" dirty="0"/>
              <a:t>The name of array is address of first element</a:t>
            </a:r>
          </a:p>
          <a:p>
            <a:pPr lvl="1"/>
            <a:r>
              <a:rPr lang="en-US" altLang="tr-TR" dirty="0"/>
              <a:t>Function knows where the array is stored</a:t>
            </a:r>
          </a:p>
          <a:p>
            <a:pPr lvl="2"/>
            <a:r>
              <a:rPr lang="en-US" altLang="tr-TR" dirty="0"/>
              <a:t>Modifies original memory locations</a:t>
            </a:r>
          </a:p>
          <a:p>
            <a:pPr lvl="4"/>
            <a:endParaRPr lang="tr-TR" altLang="tr-TR" dirty="0" smtClean="0"/>
          </a:p>
          <a:p>
            <a:r>
              <a:rPr lang="en-US" altLang="tr-TR" dirty="0" smtClean="0"/>
              <a:t>Passing </a:t>
            </a:r>
            <a:r>
              <a:rPr lang="en-US" altLang="tr-TR" dirty="0"/>
              <a:t>array elements </a:t>
            </a:r>
          </a:p>
          <a:p>
            <a:pPr lvl="1"/>
            <a:r>
              <a:rPr lang="en-US" altLang="tr-TR" dirty="0"/>
              <a:t>Passed </a:t>
            </a:r>
            <a:r>
              <a:rPr lang="en-US" altLang="tr-TR" dirty="0" smtClean="0"/>
              <a:t>call-by-value</a:t>
            </a:r>
            <a:endParaRPr lang="en-US" altLang="tr-TR" dirty="0"/>
          </a:p>
          <a:p>
            <a:pPr lvl="1"/>
            <a:r>
              <a:rPr lang="en-US" altLang="tr-TR" dirty="0"/>
              <a:t>Pass subscripted name (i.e., </a:t>
            </a:r>
            <a:r>
              <a:rPr lang="en-US" altLang="tr-TR" sz="2000" dirty="0" err="1">
                <a:latin typeface="Lucida Console" panose="020B0609040504020204" pitchFamily="49" charset="0"/>
              </a:rPr>
              <a:t>myArray</a:t>
            </a:r>
            <a:r>
              <a:rPr lang="en-US" altLang="tr-TR" sz="2000" dirty="0">
                <a:latin typeface="Lucida Console" panose="020B0609040504020204" pitchFamily="49" charset="0"/>
              </a:rPr>
              <a:t>[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3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]</a:t>
            </a:r>
            <a:r>
              <a:rPr lang="en-US" altLang="tr-TR" sz="2000" dirty="0"/>
              <a:t>)</a:t>
            </a:r>
            <a:r>
              <a:rPr lang="en-US" altLang="tr-TR" dirty="0"/>
              <a:t> to function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38572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Passing Arrays to Functions – c</a:t>
            </a:r>
            <a:r>
              <a:rPr lang="en-US" dirty="0"/>
              <a:t>o</a:t>
            </a:r>
            <a:r>
              <a:rPr lang="tr-TR" dirty="0" err="1"/>
              <a:t>nt</a:t>
            </a:r>
            <a:r>
              <a:rPr lang="tr-TR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Function prototype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void </a:t>
            </a:r>
            <a:r>
              <a:rPr lang="en-US" altLang="tr-TR" sz="1800" dirty="0" err="1">
                <a:latin typeface="Lucida Console" panose="020B0609040504020204" pitchFamily="49" charset="0"/>
              </a:rPr>
              <a:t>modifyArray</a:t>
            </a:r>
            <a:r>
              <a:rPr lang="en-US" altLang="tr-TR" sz="1800" dirty="0">
                <a:latin typeface="Lucida Console" panose="020B0609040504020204" pitchFamily="49" charset="0"/>
              </a:rPr>
              <a:t>( int b[], int </a:t>
            </a:r>
            <a:r>
              <a:rPr lang="en-US" altLang="tr-TR" sz="1800" dirty="0" err="1">
                <a:latin typeface="Lucida Console" panose="020B0609040504020204" pitchFamily="49" charset="0"/>
              </a:rPr>
              <a:t>arraySize</a:t>
            </a:r>
            <a:r>
              <a:rPr lang="en-US" altLang="tr-TR" sz="1800" dirty="0">
                <a:latin typeface="Lucida Console" panose="020B0609040504020204" pitchFamily="49" charset="0"/>
              </a:rPr>
              <a:t> );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Parameter names optional in prototype</a:t>
            </a:r>
          </a:p>
          <a:p>
            <a:pPr lvl="2">
              <a:lnSpc>
                <a:spcPct val="120000"/>
              </a:lnSpc>
            </a:pPr>
            <a:r>
              <a:rPr lang="en-US" altLang="tr-TR" sz="1800" dirty="0">
                <a:latin typeface="Lucida Console" panose="020B0609040504020204" pitchFamily="49" charset="0"/>
              </a:rPr>
              <a:t>int b[]</a:t>
            </a:r>
            <a:r>
              <a:rPr lang="en-US" altLang="tr-TR" dirty="0"/>
              <a:t> could be </a:t>
            </a:r>
            <a:r>
              <a:rPr lang="en-US" altLang="tr-TR" dirty="0" smtClean="0"/>
              <a:t>written</a:t>
            </a:r>
            <a:r>
              <a:rPr lang="tr-TR" altLang="tr-TR" dirty="0" smtClean="0"/>
              <a:t> as</a:t>
            </a:r>
            <a:r>
              <a:rPr lang="en-US" altLang="tr-TR" dirty="0" smtClean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int []</a:t>
            </a:r>
          </a:p>
          <a:p>
            <a:pPr lvl="2">
              <a:lnSpc>
                <a:spcPct val="120000"/>
              </a:lnSpc>
            </a:pPr>
            <a:r>
              <a:rPr lang="en-US" altLang="tr-TR" sz="1800" dirty="0">
                <a:latin typeface="Lucida Console" panose="020B0609040504020204" pitchFamily="49" charset="0"/>
              </a:rPr>
              <a:t>int </a:t>
            </a:r>
            <a:r>
              <a:rPr lang="en-US" altLang="tr-TR" sz="1800" dirty="0" err="1">
                <a:latin typeface="Lucida Console" panose="020B0609040504020204" pitchFamily="49" charset="0"/>
              </a:rPr>
              <a:t>arraySize</a:t>
            </a:r>
            <a:r>
              <a:rPr lang="en-US" altLang="tr-TR" dirty="0"/>
              <a:t> could be simply </a:t>
            </a:r>
            <a:r>
              <a:rPr lang="en-US" altLang="tr-TR" sz="1800" dirty="0">
                <a:latin typeface="Lucida Console" panose="020B0609040504020204" pitchFamily="49" charset="0"/>
              </a:rPr>
              <a:t>int</a:t>
            </a:r>
            <a:endParaRPr lang="tr-TR" altLang="tr-TR" sz="1800" dirty="0">
              <a:latin typeface="Lucida Console" panose="020B0609040504020204" pitchFamily="49" charset="0"/>
            </a:endParaRPr>
          </a:p>
          <a:p>
            <a:pPr lvl="2">
              <a:lnSpc>
                <a:spcPct val="120000"/>
              </a:lnSpc>
            </a:pPr>
            <a:endParaRPr lang="tr-TR" altLang="tr-TR" sz="1800" dirty="0" smtClean="0">
              <a:latin typeface="Lucida Console" panose="020B0609040504020204" pitchFamily="49" charset="0"/>
            </a:endParaRPr>
          </a:p>
          <a:p>
            <a:pPr lvl="2">
              <a:lnSpc>
                <a:spcPct val="120000"/>
              </a:lnSpc>
            </a:pPr>
            <a:endParaRPr lang="tr-TR" altLang="tr-TR" sz="1800" dirty="0">
              <a:latin typeface="Lucida Console" panose="020B0609040504020204" pitchFamily="49" charset="0"/>
            </a:endParaRPr>
          </a:p>
          <a:p>
            <a:pPr>
              <a:lnSpc>
                <a:spcPct val="120000"/>
              </a:lnSpc>
            </a:pPr>
            <a:r>
              <a:rPr lang="tr-TR" dirty="0"/>
              <a:t>Examples:</a:t>
            </a:r>
          </a:p>
          <a:p>
            <a:pPr lvl="1">
              <a:lnSpc>
                <a:spcPct val="120000"/>
              </a:lnSpc>
            </a:pPr>
            <a:r>
              <a:rPr lang="tr-TR" dirty="0"/>
              <a:t>Initialize_function.c</a:t>
            </a:r>
          </a:p>
          <a:p>
            <a:pPr lvl="1">
              <a:lnSpc>
                <a:spcPct val="120000"/>
              </a:lnSpc>
            </a:pPr>
            <a:r>
              <a:rPr lang="tr-TR" dirty="0"/>
              <a:t>Initialize_function2.c</a:t>
            </a:r>
          </a:p>
          <a:p>
            <a:pPr lvl="1">
              <a:lnSpc>
                <a:spcPct val="120000"/>
              </a:lnSpc>
            </a:pPr>
            <a:r>
              <a:rPr lang="tr-TR" dirty="0"/>
              <a:t>Initialize_function_size.c</a:t>
            </a:r>
          </a:p>
          <a:p>
            <a:pPr lvl="1">
              <a:lnSpc>
                <a:spcPct val="120000"/>
              </a:lnSpc>
            </a:pPr>
            <a:r>
              <a:rPr lang="tr-TR" dirty="0"/>
              <a:t>Modify_array.c</a:t>
            </a:r>
          </a:p>
          <a:p>
            <a:pPr lvl="2">
              <a:lnSpc>
                <a:spcPct val="120000"/>
              </a:lnSpc>
            </a:pPr>
            <a:endParaRPr lang="en-US" altLang="tr-TR" sz="1800" dirty="0">
              <a:latin typeface="Lucida Console" panose="020B0609040504020204" pitchFamily="49" charset="0"/>
            </a:endParaRPr>
          </a:p>
          <a:p>
            <a:pPr>
              <a:lnSpc>
                <a:spcPct val="12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15754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 5</a:t>
            </a:r>
            <a:r>
              <a:rPr lang="tr-TR" altLang="tr-TR" dirty="0"/>
              <a:t> – </a:t>
            </a:r>
            <a:r>
              <a:rPr lang="tr-TR" altLang="tr-TR" dirty="0" err="1"/>
              <a:t>Initialize</a:t>
            </a:r>
            <a:r>
              <a:rPr lang="en-US" altLang="tr-TR" dirty="0"/>
              <a:t>_</a:t>
            </a:r>
            <a:r>
              <a:rPr lang="en-US" altLang="tr-TR" dirty="0" err="1"/>
              <a:t>function.c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Fill in an array of integer from input.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tr-TR" altLang="tr-TR" sz="1200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#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include &lt;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stdio.h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&gt;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tr-TR" sz="1200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void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read_array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(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[10])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{  int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for (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=0;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&lt;10;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++)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scanf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("%d", &amp;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]);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  <a:endParaRPr lang="tr-TR" altLang="tr-TR" sz="2000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altLang="tr-TR" sz="1200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int main()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{  int a[10],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read_array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(a);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for (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=0;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&lt;10;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++)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("%d </a:t>
            </a: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",</a:t>
            </a:r>
            <a:r>
              <a:rPr lang="tr-TR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a[</a:t>
            </a:r>
            <a:r>
              <a:rPr lang="en-US" altLang="tr-TR" sz="2000" b="1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]);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return 0;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25_Initialize_function.ex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31" y="1346199"/>
            <a:ext cx="4077269" cy="3877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3813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 </a:t>
            </a:r>
            <a:r>
              <a:rPr lang="en-US" altLang="tr-TR" dirty="0" smtClean="0"/>
              <a:t>6</a:t>
            </a:r>
            <a:r>
              <a:rPr lang="tr-TR" altLang="tr-TR" dirty="0" smtClean="0"/>
              <a:t> </a:t>
            </a:r>
            <a:r>
              <a:rPr lang="tr-TR" altLang="tr-TR" dirty="0"/>
              <a:t>– </a:t>
            </a:r>
            <a:r>
              <a:rPr lang="en-US" altLang="tr-TR" dirty="0" err="1" smtClean="0"/>
              <a:t>Modify_array.c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61726"/>
            <a:ext cx="11480800" cy="5629865"/>
          </a:xfrm>
        </p:spPr>
        <p:txBody>
          <a:bodyPr/>
          <a:lstStyle/>
          <a:p>
            <a:pPr marL="0" indent="0">
              <a:buNone/>
            </a:pPr>
            <a:r>
              <a:rPr lang="en-US" sz="1200" i="1" dirty="0">
                <a:latin typeface="Consolas" panose="020B0609020204030204" pitchFamily="49" charset="0"/>
              </a:rPr>
              <a:t>// Passing arrays and individual array elements to functions.</a:t>
            </a:r>
          </a:p>
          <a:p>
            <a:pPr marL="0" indent="0">
              <a:buNone/>
            </a:pPr>
            <a:r>
              <a:rPr lang="en-US" sz="1000" b="1" dirty="0">
                <a:latin typeface="Consolas" panose="020B0609020204030204" pitchFamily="49" charset="0"/>
              </a:rPr>
              <a:t>#include &lt;</a:t>
            </a:r>
            <a:r>
              <a:rPr lang="en-US" sz="1000" b="1" dirty="0" err="1">
                <a:latin typeface="Consolas" panose="020B0609020204030204" pitchFamily="49" charset="0"/>
              </a:rPr>
              <a:t>stdio.h</a:t>
            </a:r>
            <a:r>
              <a:rPr lang="en-US" sz="1000" b="1" dirty="0">
                <a:latin typeface="Consolas" panose="020B0609020204030204" pitchFamily="49" charset="0"/>
              </a:rPr>
              <a:t>&gt;</a:t>
            </a:r>
            <a:endParaRPr lang="tr-TR" sz="1000" b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#</a:t>
            </a:r>
            <a:r>
              <a:rPr lang="en-US" sz="1200" b="1" dirty="0">
                <a:latin typeface="Consolas" panose="020B0609020204030204" pitchFamily="49" charset="0"/>
              </a:rPr>
              <a:t>define SIZE 5</a:t>
            </a: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void </a:t>
            </a:r>
            <a:r>
              <a:rPr lang="en-US" sz="1200" b="1" dirty="0" err="1">
                <a:latin typeface="Consolas" panose="020B0609020204030204" pitchFamily="49" charset="0"/>
              </a:rPr>
              <a:t>modifyArray</a:t>
            </a:r>
            <a:r>
              <a:rPr lang="en-US" sz="1200" b="1" dirty="0">
                <a:latin typeface="Consolas" panose="020B0609020204030204" pitchFamily="49" charset="0"/>
              </a:rPr>
              <a:t>(int b[], int size);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void </a:t>
            </a:r>
            <a:r>
              <a:rPr lang="en-US" sz="1200" b="1" dirty="0" err="1">
                <a:latin typeface="Consolas" panose="020B0609020204030204" pitchFamily="49" charset="0"/>
              </a:rPr>
              <a:t>modifyElement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int</a:t>
            </a:r>
            <a:r>
              <a:rPr lang="en-US" sz="1200" b="1" dirty="0">
                <a:latin typeface="Consolas" panose="020B0609020204030204" pitchFamily="49" charset="0"/>
              </a:rPr>
              <a:t> e</a:t>
            </a:r>
            <a:r>
              <a:rPr lang="en-US" sz="1200" b="1" dirty="0" smtClean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7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int </a:t>
            </a:r>
            <a:r>
              <a:rPr lang="en-US" sz="1200" b="1" dirty="0">
                <a:latin typeface="Consolas" panose="020B0609020204030204" pitchFamily="49" charset="0"/>
              </a:rPr>
              <a:t>main(void</a:t>
            </a:r>
            <a:r>
              <a:rPr lang="en-US" sz="1200" b="1" dirty="0" smtClean="0">
                <a:latin typeface="Consolas" panose="020B0609020204030204" pitchFamily="49" charset="0"/>
              </a:rPr>
              <a:t>){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int a[SIZE] = { 0, 1, 2, 3, 4 }; </a:t>
            </a:r>
            <a:r>
              <a:rPr lang="tr-TR" sz="1200" b="1" dirty="0" smtClean="0">
                <a:latin typeface="Consolas" panose="020B0609020204030204" pitchFamily="49" charset="0"/>
              </a:rPr>
              <a:t> </a:t>
            </a:r>
            <a:r>
              <a:rPr lang="en-US" sz="1200" i="1" dirty="0" smtClean="0">
                <a:latin typeface="Consolas" panose="020B0609020204030204" pitchFamily="49" charset="0"/>
              </a:rPr>
              <a:t>// </a:t>
            </a:r>
            <a:r>
              <a:rPr lang="en-US" sz="1200" i="1" dirty="0">
                <a:latin typeface="Consolas" panose="020B0609020204030204" pitchFamily="49" charset="0"/>
              </a:rPr>
              <a:t>initialize array a</a:t>
            </a:r>
            <a:endParaRPr lang="en-US" sz="1200" i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en-US" sz="1200" b="1" dirty="0" smtClean="0">
                <a:latin typeface="Consolas" panose="020B0609020204030204" pitchFamily="49" charset="0"/>
              </a:rPr>
              <a:t>  int 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en-US" sz="1200" b="1" dirty="0" smtClean="0">
                <a:latin typeface="Consolas" panose="020B0609020204030204" pitchFamily="49" charset="0"/>
              </a:rPr>
              <a:t>  </a:t>
            </a:r>
            <a:r>
              <a:rPr lang="en-US" sz="1200" b="1" dirty="0" err="1" smtClean="0">
                <a:latin typeface="Consolas" panose="020B0609020204030204" pitchFamily="49" charset="0"/>
              </a:rPr>
              <a:t>printf</a:t>
            </a:r>
            <a:r>
              <a:rPr lang="en-US" sz="1200" b="1" dirty="0">
                <a:latin typeface="Consolas" panose="020B0609020204030204" pitchFamily="49" charset="0"/>
              </a:rPr>
              <a:t>("Effects of passing entire array by reference:\</a:t>
            </a:r>
            <a:r>
              <a:rPr lang="en-US" sz="1200" b="1" dirty="0" smtClean="0">
                <a:latin typeface="Consolas" panose="020B0609020204030204" pitchFamily="49" charset="0"/>
              </a:rPr>
              <a:t>n\</a:t>
            </a:r>
            <a:r>
              <a:rPr lang="en-US" sz="1200" b="1" dirty="0" err="1" smtClean="0">
                <a:latin typeface="Consolas" panose="020B0609020204030204" pitchFamily="49" charset="0"/>
              </a:rPr>
              <a:t>nThe</a:t>
            </a:r>
            <a:r>
              <a:rPr lang="tr-TR" sz="1200" b="1" dirty="0" smtClean="0">
                <a:latin typeface="Consolas" panose="020B0609020204030204" pitchFamily="49" charset="0"/>
              </a:rPr>
              <a:t> "</a:t>
            </a: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 </a:t>
            </a:r>
            <a:r>
              <a:rPr lang="tr-TR" sz="1200" b="1" dirty="0" smtClean="0">
                <a:latin typeface="Consolas" panose="020B0609020204030204" pitchFamily="49" charset="0"/>
              </a:rPr>
              <a:t>     "</a:t>
            </a:r>
            <a:r>
              <a:rPr lang="en-US" sz="1200" b="1" dirty="0" smtClean="0">
                <a:latin typeface="Consolas" panose="020B0609020204030204" pitchFamily="49" charset="0"/>
              </a:rPr>
              <a:t>values </a:t>
            </a:r>
            <a:r>
              <a:rPr lang="en-US" sz="1200" b="1" dirty="0">
                <a:latin typeface="Consolas" panose="020B0609020204030204" pitchFamily="49" charset="0"/>
              </a:rPr>
              <a:t>of the original array are:\n");</a:t>
            </a:r>
            <a:endParaRPr lang="en-US" sz="1200" b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  </a:t>
            </a:r>
            <a:r>
              <a:rPr lang="tr-TR" sz="1200" b="1" dirty="0" smtClean="0">
                <a:latin typeface="Consolas" panose="020B0609020204030204" pitchFamily="49" charset="0"/>
              </a:rPr>
              <a:t> </a:t>
            </a:r>
            <a:r>
              <a:rPr lang="en-US" sz="1200" b="1" dirty="0" smtClean="0">
                <a:latin typeface="Consolas" panose="020B0609020204030204" pitchFamily="49" charset="0"/>
              </a:rPr>
              <a:t>for 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 = 0; 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 &lt; SIZE; ++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   </a:t>
            </a:r>
            <a:r>
              <a:rPr lang="en-US" sz="1200" b="1" dirty="0" err="1">
                <a:latin typeface="Consolas" panose="020B0609020204030204" pitchFamily="49" charset="0"/>
              </a:rPr>
              <a:t>printf</a:t>
            </a:r>
            <a:r>
              <a:rPr lang="en-US" sz="1200" b="1" dirty="0">
                <a:latin typeface="Consolas" panose="020B0609020204030204" pitchFamily="49" charset="0"/>
              </a:rPr>
              <a:t>("%d\t", a[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</a:t>
            </a:r>
            <a:r>
              <a:rPr lang="en-US" sz="1200" b="1" dirty="0" smtClean="0">
                <a:latin typeface="Consolas" panose="020B0609020204030204" pitchFamily="49" charset="0"/>
              </a:rPr>
              <a:t>}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tr-TR" sz="1200" b="1" dirty="0" smtClean="0">
                <a:latin typeface="Consolas" panose="020B0609020204030204" pitchFamily="49" charset="0"/>
              </a:rPr>
              <a:t>  </a:t>
            </a:r>
            <a:r>
              <a:rPr lang="en-US" sz="1200" b="1" dirty="0" err="1" smtClean="0">
                <a:latin typeface="Consolas" panose="020B0609020204030204" pitchFamily="49" charset="0"/>
              </a:rPr>
              <a:t>printf</a:t>
            </a:r>
            <a:r>
              <a:rPr lang="en-US" sz="1200" b="1" dirty="0">
                <a:latin typeface="Consolas" panose="020B06090202040302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</a:t>
            </a:r>
            <a:r>
              <a:rPr lang="en-US" sz="1200" b="1" dirty="0" err="1">
                <a:latin typeface="Consolas" panose="020B0609020204030204" pitchFamily="49" charset="0"/>
              </a:rPr>
              <a:t>modifyArray</a:t>
            </a:r>
            <a:r>
              <a:rPr lang="en-US" sz="1200" b="1" dirty="0">
                <a:latin typeface="Consolas" panose="020B0609020204030204" pitchFamily="49" charset="0"/>
              </a:rPr>
              <a:t>(a, SIZE); </a:t>
            </a:r>
            <a:r>
              <a:rPr lang="tr-TR" sz="1200" b="1" dirty="0" smtClean="0">
                <a:latin typeface="Consolas" panose="020B0609020204030204" pitchFamily="49" charset="0"/>
              </a:rPr>
              <a:t> </a:t>
            </a:r>
            <a:r>
              <a:rPr lang="en-US" sz="1200" i="1" dirty="0" smtClean="0">
                <a:latin typeface="Consolas" panose="020B0609020204030204" pitchFamily="49" charset="0"/>
              </a:rPr>
              <a:t>// </a:t>
            </a:r>
            <a:r>
              <a:rPr lang="en-US" sz="1200" i="1" dirty="0">
                <a:latin typeface="Consolas" panose="020B0609020204030204" pitchFamily="49" charset="0"/>
              </a:rPr>
              <a:t>pass array a to </a:t>
            </a:r>
            <a:r>
              <a:rPr lang="en-US" sz="1200" i="1" dirty="0" err="1">
                <a:latin typeface="Consolas" panose="020B0609020204030204" pitchFamily="49" charset="0"/>
              </a:rPr>
              <a:t>modifyArray</a:t>
            </a:r>
            <a:r>
              <a:rPr lang="en-US" sz="1200" i="1" dirty="0">
                <a:latin typeface="Consolas" panose="020B0609020204030204" pitchFamily="49" charset="0"/>
              </a:rPr>
              <a:t> by reference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</a:t>
            </a:r>
            <a:r>
              <a:rPr lang="en-US" sz="1200" b="1" dirty="0" err="1">
                <a:latin typeface="Consolas" panose="020B0609020204030204" pitchFamily="49" charset="0"/>
              </a:rPr>
              <a:t>printf</a:t>
            </a:r>
            <a:r>
              <a:rPr lang="en-US" sz="1200" b="1" dirty="0" smtClean="0">
                <a:latin typeface="Consolas" panose="020B0609020204030204" pitchFamily="49" charset="0"/>
              </a:rPr>
              <a:t>(“\</a:t>
            </a:r>
            <a:r>
              <a:rPr lang="en-US" sz="1200" b="1" dirty="0" err="1" smtClean="0">
                <a:latin typeface="Consolas" panose="020B0609020204030204" pitchFamily="49" charset="0"/>
              </a:rPr>
              <a:t>nThe</a:t>
            </a:r>
            <a:r>
              <a:rPr lang="en-US" sz="1200" b="1" dirty="0" smtClean="0">
                <a:latin typeface="Consolas" panose="020B0609020204030204" pitchFamily="49" charset="0"/>
              </a:rPr>
              <a:t> </a:t>
            </a:r>
            <a:r>
              <a:rPr lang="en-US" sz="1200" b="1" dirty="0">
                <a:latin typeface="Consolas" panose="020B0609020204030204" pitchFamily="49" charset="0"/>
              </a:rPr>
              <a:t>values of the modified array are:\n</a:t>
            </a:r>
            <a:r>
              <a:rPr lang="en-US" sz="1200" b="1" dirty="0" smtClean="0">
                <a:latin typeface="Consolas" panose="020B0609020204030204" pitchFamily="49" charset="0"/>
              </a:rPr>
              <a:t>");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   for 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 = 0; 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 &lt; SIZE; ++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   </a:t>
            </a:r>
            <a:r>
              <a:rPr lang="en-US" sz="1200" b="1" dirty="0" err="1">
                <a:latin typeface="Consolas" panose="020B0609020204030204" pitchFamily="49" charset="0"/>
              </a:rPr>
              <a:t>printf</a:t>
            </a:r>
            <a:r>
              <a:rPr lang="en-US" sz="1200" b="1" dirty="0">
                <a:latin typeface="Consolas" panose="020B0609020204030204" pitchFamily="49" charset="0"/>
              </a:rPr>
              <a:t>("%d\t", a[</a:t>
            </a:r>
            <a:r>
              <a:rPr lang="en-US" sz="1200" b="1" dirty="0" err="1">
                <a:latin typeface="Consolas" panose="020B0609020204030204" pitchFamily="49" charset="0"/>
              </a:rPr>
              <a:t>i</a:t>
            </a:r>
            <a:r>
              <a:rPr lang="en-US" sz="1200" b="1" dirty="0"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endParaRPr lang="en-US" sz="1200" b="1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</a:t>
            </a:r>
            <a:r>
              <a:rPr lang="en-US" sz="1200" b="1" dirty="0" smtClean="0">
                <a:latin typeface="Consolas" panose="020B0609020204030204" pitchFamily="49" charset="0"/>
              </a:rPr>
              <a:t>  </a:t>
            </a:r>
            <a:r>
              <a:rPr lang="en-US" sz="1200" b="1" dirty="0" err="1" smtClean="0">
                <a:latin typeface="Consolas" panose="020B0609020204030204" pitchFamily="49" charset="0"/>
              </a:rPr>
              <a:t>printf</a:t>
            </a:r>
            <a:r>
              <a:rPr lang="en-US" sz="1200" b="1" dirty="0">
                <a:latin typeface="Consolas" panose="020B0609020204030204" pitchFamily="49" charset="0"/>
              </a:rPr>
              <a:t>("\n\n\</a:t>
            </a:r>
            <a:r>
              <a:rPr lang="en-US" sz="1200" b="1" dirty="0" err="1">
                <a:latin typeface="Consolas" panose="020B0609020204030204" pitchFamily="49" charset="0"/>
              </a:rPr>
              <a:t>nEffects</a:t>
            </a:r>
            <a:r>
              <a:rPr lang="en-US" sz="1200" b="1" dirty="0">
                <a:latin typeface="Consolas" panose="020B0609020204030204" pitchFamily="49" charset="0"/>
              </a:rPr>
              <a:t> of passing array element </a:t>
            </a:r>
            <a:r>
              <a:rPr lang="tr-TR" sz="1200" b="1" dirty="0" smtClean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tr-TR" sz="1200" b="1" dirty="0">
                <a:latin typeface="Consolas" panose="020B0609020204030204" pitchFamily="49" charset="0"/>
              </a:rPr>
              <a:t> </a:t>
            </a:r>
            <a:r>
              <a:rPr lang="tr-TR" sz="1200" b="1" dirty="0" smtClean="0">
                <a:latin typeface="Consolas" panose="020B0609020204030204" pitchFamily="49" charset="0"/>
              </a:rPr>
              <a:t>     "</a:t>
            </a:r>
            <a:r>
              <a:rPr lang="en-US" sz="1200" b="1" dirty="0" smtClean="0">
                <a:latin typeface="Consolas" panose="020B0609020204030204" pitchFamily="49" charset="0"/>
              </a:rPr>
              <a:t>by </a:t>
            </a:r>
            <a:r>
              <a:rPr lang="en-US" sz="1200" b="1" dirty="0">
                <a:latin typeface="Consolas" panose="020B0609020204030204" pitchFamily="49" charset="0"/>
              </a:rPr>
              <a:t>value:\n\</a:t>
            </a:r>
            <a:r>
              <a:rPr lang="en-US" sz="1200" b="1" dirty="0" err="1">
                <a:latin typeface="Consolas" panose="020B0609020204030204" pitchFamily="49" charset="0"/>
              </a:rPr>
              <a:t>nThe</a:t>
            </a:r>
            <a:r>
              <a:rPr lang="en-US" sz="1200" b="1" dirty="0">
                <a:latin typeface="Consolas" panose="020B0609020204030204" pitchFamily="49" charset="0"/>
              </a:rPr>
              <a:t> value of a[3] is %d\n", a[3</a:t>
            </a:r>
            <a:r>
              <a:rPr lang="en-US" sz="1200" b="1" dirty="0" smtClean="0">
                <a:latin typeface="Consolas" panose="020B0609020204030204" pitchFamily="49" charset="0"/>
              </a:rPr>
              <a:t>]);</a:t>
            </a:r>
            <a:endParaRPr lang="en-US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   </a:t>
            </a:r>
            <a:r>
              <a:rPr lang="en-US" sz="1200" b="1" dirty="0" err="1">
                <a:latin typeface="Consolas" panose="020B0609020204030204" pitchFamily="49" charset="0"/>
              </a:rPr>
              <a:t>modifyElement</a:t>
            </a:r>
            <a:r>
              <a:rPr lang="en-US" sz="1200" b="1" dirty="0">
                <a:latin typeface="Consolas" panose="020B0609020204030204" pitchFamily="49" charset="0"/>
              </a:rPr>
              <a:t>(a[3]); </a:t>
            </a:r>
            <a:r>
              <a:rPr lang="tr-TR" sz="1200" b="1" dirty="0" smtClean="0">
                <a:latin typeface="Consolas" panose="020B0609020204030204" pitchFamily="49" charset="0"/>
              </a:rPr>
              <a:t> </a:t>
            </a:r>
            <a:r>
              <a:rPr lang="en-US" sz="1200" i="1" dirty="0" smtClean="0">
                <a:latin typeface="Consolas" panose="020B0609020204030204" pitchFamily="49" charset="0"/>
              </a:rPr>
              <a:t>// </a:t>
            </a:r>
            <a:r>
              <a:rPr lang="en-US" sz="1200" i="1" dirty="0">
                <a:latin typeface="Consolas" panose="020B0609020204030204" pitchFamily="49" charset="0"/>
              </a:rPr>
              <a:t>pass array element a[3] by value</a:t>
            </a:r>
          </a:p>
          <a:p>
            <a:pPr marL="0" indent="0">
              <a:buNone/>
            </a:pPr>
            <a:r>
              <a:rPr lang="en-US" sz="1200" b="1" dirty="0" smtClean="0">
                <a:latin typeface="Consolas" panose="020B0609020204030204" pitchFamily="49" charset="0"/>
              </a:rPr>
              <a:t>   </a:t>
            </a:r>
            <a:r>
              <a:rPr lang="en-US" sz="1200" b="1" dirty="0" err="1" smtClean="0">
                <a:latin typeface="Consolas" panose="020B0609020204030204" pitchFamily="49" charset="0"/>
              </a:rPr>
              <a:t>printf</a:t>
            </a:r>
            <a:r>
              <a:rPr lang="en-US" sz="1200" b="1" dirty="0">
                <a:latin typeface="Consolas" panose="020B0609020204030204" pitchFamily="49" charset="0"/>
              </a:rPr>
              <a:t>("The value of a[3] is %d\n", a[3]);</a:t>
            </a:r>
          </a:p>
          <a:p>
            <a:pPr marL="0" indent="0">
              <a:buNone/>
            </a:pPr>
            <a:r>
              <a:rPr lang="en-US" sz="1200" b="1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40_Modify_array.ex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903" y="3819730"/>
            <a:ext cx="3097135" cy="2992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133613" y="439817"/>
            <a:ext cx="4643336" cy="519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200" i="1" kern="0" dirty="0" smtClean="0">
                <a:latin typeface="Consolas" panose="020B0609020204030204" pitchFamily="49" charset="0"/>
              </a:rPr>
              <a:t>// in function </a:t>
            </a:r>
            <a:r>
              <a:rPr lang="en-US" sz="1200" i="1" kern="0" dirty="0" err="1" smtClean="0">
                <a:latin typeface="Consolas" panose="020B0609020204030204" pitchFamily="49" charset="0"/>
              </a:rPr>
              <a:t>modifyArray</a:t>
            </a:r>
            <a:r>
              <a:rPr lang="en-US" sz="1200" i="1" kern="0" dirty="0" smtClean="0">
                <a:latin typeface="Consolas" panose="020B0609020204030204" pitchFamily="49" charset="0"/>
              </a:rPr>
              <a:t>, "b" points to the</a:t>
            </a:r>
            <a:endParaRPr lang="tr-TR" sz="1200" i="1" kern="0" dirty="0" smtClean="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200" i="1" kern="0" dirty="0" smtClean="0">
                <a:latin typeface="Consolas" panose="020B0609020204030204" pitchFamily="49" charset="0"/>
              </a:rPr>
              <a:t>//</a:t>
            </a:r>
            <a:r>
              <a:rPr lang="en-US" sz="1200" i="1" kern="0" dirty="0" smtClean="0">
                <a:latin typeface="Consolas" panose="020B0609020204030204" pitchFamily="49" charset="0"/>
              </a:rPr>
              <a:t> original array "a"</a:t>
            </a:r>
            <a:r>
              <a:rPr lang="tr-TR" sz="1200" i="1" kern="0" dirty="0" smtClean="0">
                <a:latin typeface="Consolas" panose="020B0609020204030204" pitchFamily="49" charset="0"/>
              </a:rPr>
              <a:t> </a:t>
            </a:r>
            <a:r>
              <a:rPr lang="en-US" sz="1200" i="1" kern="0" dirty="0" smtClean="0">
                <a:latin typeface="Consolas" panose="020B0609020204030204" pitchFamily="49" charset="0"/>
              </a:rPr>
              <a:t>in memory</a:t>
            </a:r>
            <a:endParaRPr lang="tr-TR" sz="1200" i="1" kern="0" dirty="0" smtClean="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void 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modifyArray</a:t>
            </a:r>
            <a:r>
              <a:rPr lang="en-US" sz="1200" b="1" kern="0" dirty="0" smtClean="0">
                <a:latin typeface="Consolas" panose="020B0609020204030204" pitchFamily="49" charset="0"/>
              </a:rPr>
              <a:t>(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int</a:t>
            </a:r>
            <a:r>
              <a:rPr lang="en-US" sz="1200" b="1" kern="0" dirty="0" smtClean="0">
                <a:latin typeface="Consolas" panose="020B0609020204030204" pitchFamily="49" charset="0"/>
              </a:rPr>
              <a:t> b[], 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int</a:t>
            </a:r>
            <a:r>
              <a:rPr lang="en-US" sz="1200" b="1" kern="0" dirty="0" smtClean="0">
                <a:latin typeface="Consolas" panose="020B0609020204030204" pitchFamily="49" charset="0"/>
              </a:rPr>
              <a:t> size){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 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int</a:t>
            </a:r>
            <a:r>
              <a:rPr lang="en-US" sz="1200" b="1" kern="0" dirty="0" smtClean="0">
                <a:latin typeface="Consolas" panose="020B0609020204030204" pitchFamily="49" charset="0"/>
              </a:rPr>
              <a:t> j;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</a:t>
            </a:r>
            <a:r>
              <a:rPr lang="en-US" sz="1200" i="1" kern="0" dirty="0" smtClean="0">
                <a:latin typeface="Consolas" panose="020B0609020204030204" pitchFamily="49" charset="0"/>
              </a:rPr>
              <a:t>// multiply each array element by 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for (j = 0; j &lt; size; ++j)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   b[j] *= 2; </a:t>
            </a:r>
            <a:r>
              <a:rPr lang="tr-TR" sz="1200" b="1" kern="0" dirty="0" smtClean="0">
                <a:latin typeface="Consolas" panose="020B0609020204030204" pitchFamily="49" charset="0"/>
              </a:rPr>
              <a:t> </a:t>
            </a:r>
            <a:r>
              <a:rPr lang="en-US" sz="1200" i="1" kern="0" dirty="0" smtClean="0">
                <a:latin typeface="Consolas" panose="020B0609020204030204" pitchFamily="49" charset="0"/>
              </a:rPr>
              <a:t>// actually modifies original array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}</a:t>
            </a:r>
            <a:endParaRPr lang="tr-TR" sz="1200" b="1" kern="0" dirty="0" smtClean="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1" kern="0" dirty="0" smtClean="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i="1" kern="0" dirty="0" smtClean="0">
                <a:latin typeface="Consolas" panose="020B0609020204030204" pitchFamily="49" charset="0"/>
              </a:rPr>
              <a:t>// in function </a:t>
            </a:r>
            <a:r>
              <a:rPr lang="en-US" sz="1200" i="1" kern="0" dirty="0" err="1" smtClean="0">
                <a:latin typeface="Consolas" panose="020B0609020204030204" pitchFamily="49" charset="0"/>
              </a:rPr>
              <a:t>modifyElement</a:t>
            </a:r>
            <a:r>
              <a:rPr lang="en-US" sz="1200" i="1" kern="0" dirty="0" smtClean="0">
                <a:latin typeface="Consolas" panose="020B0609020204030204" pitchFamily="49" charset="0"/>
              </a:rPr>
              <a:t>, "e" is a local copy of</a:t>
            </a:r>
            <a:endParaRPr lang="tr-TR" sz="1200" i="1" kern="0" dirty="0" smtClean="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sz="1200" i="1" kern="0" dirty="0" smtClean="0">
                <a:latin typeface="Consolas" panose="020B0609020204030204" pitchFamily="49" charset="0"/>
              </a:rPr>
              <a:t>//</a:t>
            </a:r>
            <a:r>
              <a:rPr lang="en-US" sz="1200" i="1" kern="0" dirty="0" smtClean="0">
                <a:latin typeface="Consolas" panose="020B0609020204030204" pitchFamily="49" charset="0"/>
              </a:rPr>
              <a:t> array </a:t>
            </a:r>
            <a:r>
              <a:rPr lang="tr-TR" sz="1200" i="1" kern="0" dirty="0" smtClean="0">
                <a:latin typeface="Consolas" panose="020B0609020204030204" pitchFamily="49" charset="0"/>
              </a:rPr>
              <a:t>element </a:t>
            </a:r>
            <a:r>
              <a:rPr lang="en-US" sz="1200" i="1" kern="0" dirty="0" smtClean="0">
                <a:latin typeface="Consolas" panose="020B0609020204030204" pitchFamily="49" charset="0"/>
              </a:rPr>
              <a:t>a[3] passed from main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void 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modifyElement</a:t>
            </a:r>
            <a:r>
              <a:rPr lang="en-US" sz="1200" b="1" kern="0" dirty="0" smtClean="0">
                <a:latin typeface="Consolas" panose="020B0609020204030204" pitchFamily="49" charset="0"/>
              </a:rPr>
              <a:t>(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int</a:t>
            </a:r>
            <a:r>
              <a:rPr lang="en-US" sz="1200" b="1" kern="0" dirty="0" smtClean="0">
                <a:latin typeface="Consolas" panose="020B0609020204030204" pitchFamily="49" charset="0"/>
              </a:rPr>
              <a:t> e){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</a:t>
            </a:r>
            <a:r>
              <a:rPr lang="en-US" sz="1200" i="1" kern="0" dirty="0" smtClean="0">
                <a:latin typeface="Consolas" panose="020B0609020204030204" pitchFamily="49" charset="0"/>
              </a:rPr>
              <a:t>// multiply parameter by 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   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printf</a:t>
            </a:r>
            <a:r>
              <a:rPr lang="en-US" sz="1200" b="1" kern="0" dirty="0" smtClean="0">
                <a:latin typeface="Consolas" panose="020B0609020204030204" pitchFamily="49" charset="0"/>
              </a:rPr>
              <a:t>("Value in </a:t>
            </a:r>
            <a:r>
              <a:rPr lang="en-US" sz="1200" b="1" kern="0" dirty="0" err="1" smtClean="0">
                <a:latin typeface="Consolas" panose="020B0609020204030204" pitchFamily="49" charset="0"/>
              </a:rPr>
              <a:t>modifyElement</a:t>
            </a:r>
            <a:r>
              <a:rPr lang="en-US" sz="1200" b="1" kern="0" dirty="0" smtClean="0">
                <a:latin typeface="Consolas" panose="020B0609020204030204" pitchFamily="49" charset="0"/>
              </a:rPr>
              <a:t> is %d\n", e *= 2);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200" b="1" kern="0" dirty="0" smtClean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1" kern="0" dirty="0" smtClean="0"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200" kern="0" dirty="0">
              <a:latin typeface="Consolas" panose="020B0609020204030204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 flipH="1">
            <a:off x="6586751" y="420406"/>
            <a:ext cx="0" cy="5774987"/>
          </a:xfrm>
          <a:prstGeom prst="line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021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Sorting Arrays – 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9708"/>
            <a:ext cx="11480800" cy="519372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Sorting data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Important computing application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Virtually every organization must sort some </a:t>
            </a:r>
            <a:r>
              <a:rPr lang="en-US" altLang="tr-TR" dirty="0" smtClean="0"/>
              <a:t>data</a:t>
            </a:r>
            <a:endParaRPr lang="tr-TR" altLang="tr-TR" dirty="0" smtClean="0"/>
          </a:p>
          <a:p>
            <a:pPr lvl="4">
              <a:lnSpc>
                <a:spcPct val="90000"/>
              </a:lnSpc>
            </a:pPr>
            <a:endParaRPr lang="en-US" altLang="tr-TR" sz="1100" dirty="0"/>
          </a:p>
          <a:p>
            <a:pPr>
              <a:lnSpc>
                <a:spcPct val="90000"/>
              </a:lnSpc>
            </a:pPr>
            <a:r>
              <a:rPr lang="en-US" altLang="tr-TR" dirty="0"/>
              <a:t>Bubble sort (sinking sort)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Several passes through the array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Successive pairs of elements are compared 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If increasing order (or identical ), no change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If decreasing order, elements exchanged</a:t>
            </a:r>
          </a:p>
          <a:p>
            <a:pPr lvl="1">
              <a:lnSpc>
                <a:spcPct val="90000"/>
              </a:lnSpc>
            </a:pPr>
            <a:r>
              <a:rPr lang="en-US" altLang="tr-TR" dirty="0" smtClean="0"/>
              <a:t>Repeat</a:t>
            </a:r>
            <a:endParaRPr lang="tr-TR" altLang="tr-TR" dirty="0" smtClean="0"/>
          </a:p>
          <a:p>
            <a:pPr lvl="4">
              <a:lnSpc>
                <a:spcPct val="90000"/>
              </a:lnSpc>
            </a:pPr>
            <a:endParaRPr lang="en-US" altLang="tr-TR" sz="1100" dirty="0"/>
          </a:p>
          <a:p>
            <a:pPr>
              <a:lnSpc>
                <a:spcPct val="90000"/>
              </a:lnSpc>
            </a:pPr>
            <a:r>
              <a:rPr lang="en-US" altLang="tr-TR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original:   3  4  2  6  7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pass 1:    3  2  4  6  7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pass 2:    2  3  4  6  7  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Small elements "bubble" to the top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2549574" y="5364568"/>
            <a:ext cx="609600" cy="381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tr-TR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2231804" y="5739083"/>
            <a:ext cx="609600" cy="381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99285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Bubble Sort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631" y="1624149"/>
            <a:ext cx="8967466" cy="455458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3725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</a:t>
            </a:r>
            <a:r>
              <a:rPr lang="tr-TR" altLang="tr-TR" dirty="0"/>
              <a:t> – </a:t>
            </a:r>
            <a:r>
              <a:rPr lang="en-US" altLang="tr-TR" dirty="0"/>
              <a:t>Bubble</a:t>
            </a:r>
            <a:r>
              <a:rPr lang="tr-TR" altLang="tr-TR" dirty="0"/>
              <a:t> </a:t>
            </a:r>
            <a:r>
              <a:rPr lang="en-US" altLang="tr-TR" dirty="0"/>
              <a:t>Sort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7" y="967408"/>
            <a:ext cx="4731026" cy="5747657"/>
          </a:xfrm>
        </p:spPr>
        <p:txBody>
          <a:bodyPr/>
          <a:lstStyle/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void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read_array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(int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[], int size)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{  int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for (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=0;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&lt;size;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++)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scanf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("%d", &amp;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[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]);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  <a:endParaRPr lang="tr-TR" altLang="tr-TR" sz="1600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tr-TR" sz="1600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void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print_array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(int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[], int size)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{  int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("Sorted Array:\n");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for (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=0;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&lt;size;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++)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("%d\t",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[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]);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altLang="tr-TR" sz="16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("\n");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  <a:endParaRPr lang="tr-TR" altLang="tr-TR" sz="1600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tr-TR" sz="1600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void swap(int *a, int *b)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{  int temp;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temp = *a;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*a = *b;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   *b = temp;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890065" y="957772"/>
            <a:ext cx="4333450" cy="519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void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bubble_sort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(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[],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size)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{ 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, j;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for (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= 0;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&lt; size-1;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++)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for (j = 0; j &lt; size-1-i;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j++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   if (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[j] &gt;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[j+1])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      swap(&amp;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[j],&amp;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[j+1]);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600" b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{ 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[10];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read_array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(ar,10);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bubble_sort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(ar,10);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altLang="tr-TR" sz="1600" b="1" kern="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print_array</a:t>
            </a: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(ar,10);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600" b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1600" kern="0" dirty="0"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671822" y="990248"/>
            <a:ext cx="0" cy="5400000"/>
          </a:xfrm>
          <a:prstGeom prst="line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7" name="Picture 6" descr="C:\Users\agaoglu\agaoglu-docs\courses-recent\computer-programming\cse1142-2019-2020-2\Lecture-Source-Codes-c\C_31_arrays\C31_50_Bubble_sort.ex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007" y="4451989"/>
            <a:ext cx="6782747" cy="1905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01577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Insertion Sort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9451" y="1258389"/>
            <a:ext cx="9823269" cy="48942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20820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</a:t>
            </a:r>
            <a:r>
              <a:rPr lang="tr-TR" altLang="tr-TR" dirty="0"/>
              <a:t> – </a:t>
            </a:r>
            <a:r>
              <a:rPr lang="en-US" altLang="tr-TR" dirty="0"/>
              <a:t>Insertion</a:t>
            </a:r>
            <a:r>
              <a:rPr lang="tr-TR" altLang="tr-TR" dirty="0"/>
              <a:t> </a:t>
            </a:r>
            <a:r>
              <a:rPr lang="en-US" altLang="tr-TR" dirty="0"/>
              <a:t>Sort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39163"/>
            <a:ext cx="11480800" cy="5625341"/>
          </a:xfrm>
        </p:spPr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void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insertion_sort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(int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[], int size)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int value,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, j;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for (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=1;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&lt;size;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++)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value =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i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];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j = i-1;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while ((j&gt;=0) &amp;&amp; (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[j]&gt;value))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[j+1] =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[j];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j--;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ar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[j+1] = value;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20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55_Insertion_sort.ex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169" y="4533173"/>
            <a:ext cx="6849431" cy="1695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14971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Searching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Search an array for a </a:t>
            </a:r>
            <a:r>
              <a:rPr lang="en-US" altLang="tr-TR" i="1" dirty="0"/>
              <a:t>key </a:t>
            </a:r>
            <a:r>
              <a:rPr lang="en-US" altLang="tr-TR" i="1" dirty="0" smtClean="0"/>
              <a:t>value</a:t>
            </a:r>
            <a:endParaRPr lang="tr-TR" altLang="tr-TR" i="1" dirty="0" smtClean="0"/>
          </a:p>
          <a:p>
            <a:pPr lvl="4"/>
            <a:endParaRPr lang="en-US" altLang="tr-TR" i="1" dirty="0"/>
          </a:p>
          <a:p>
            <a:r>
              <a:rPr lang="en-US" altLang="tr-TR" dirty="0"/>
              <a:t>Linear search</a:t>
            </a:r>
          </a:p>
          <a:p>
            <a:pPr lvl="1"/>
            <a:r>
              <a:rPr lang="en-US" altLang="tr-TR" dirty="0"/>
              <a:t>Simple </a:t>
            </a:r>
          </a:p>
          <a:p>
            <a:pPr lvl="1"/>
            <a:r>
              <a:rPr lang="en-US" altLang="tr-TR" dirty="0"/>
              <a:t>Compare each element of array with key value</a:t>
            </a:r>
          </a:p>
          <a:p>
            <a:pPr lvl="1"/>
            <a:r>
              <a:rPr lang="en-US" altLang="tr-TR" dirty="0"/>
              <a:t>Useful for small and unsorted arrays</a:t>
            </a:r>
          </a:p>
          <a:p>
            <a:pPr lvl="4"/>
            <a:endParaRPr lang="tr-TR" altLang="tr-TR" dirty="0" smtClean="0"/>
          </a:p>
          <a:p>
            <a:r>
              <a:rPr lang="en-US" altLang="tr-TR" dirty="0" smtClean="0"/>
              <a:t>Binary </a:t>
            </a:r>
            <a:r>
              <a:rPr lang="en-US" altLang="tr-TR" dirty="0"/>
              <a:t>search </a:t>
            </a:r>
          </a:p>
          <a:p>
            <a:pPr lvl="1"/>
            <a:r>
              <a:rPr lang="en-US" altLang="tr-TR" dirty="0"/>
              <a:t>For sorted arrays</a:t>
            </a:r>
          </a:p>
          <a:p>
            <a:pPr lvl="1"/>
            <a:r>
              <a:rPr lang="en-US" altLang="tr-TR" dirty="0"/>
              <a:t>Compares </a:t>
            </a:r>
            <a:r>
              <a:rPr lang="en-US" altLang="tr-TR" sz="2000" dirty="0">
                <a:latin typeface="Lucida Console" panose="020B0609040504020204" pitchFamily="49" charset="0"/>
              </a:rPr>
              <a:t>middle</a:t>
            </a:r>
            <a:r>
              <a:rPr lang="en-US" altLang="tr-TR" dirty="0"/>
              <a:t> element with </a:t>
            </a:r>
            <a:r>
              <a:rPr lang="en-US" altLang="tr-TR" sz="2000" dirty="0">
                <a:latin typeface="Lucida Console" panose="020B0609040504020204" pitchFamily="49" charset="0"/>
              </a:rPr>
              <a:t>key</a:t>
            </a:r>
          </a:p>
          <a:p>
            <a:pPr lvl="2"/>
            <a:r>
              <a:rPr lang="en-US" altLang="tr-TR" dirty="0"/>
              <a:t>If equal, match found</a:t>
            </a:r>
          </a:p>
          <a:p>
            <a:pPr lvl="2"/>
            <a:r>
              <a:rPr lang="en-US" altLang="tr-TR" dirty="0"/>
              <a:t>If </a:t>
            </a:r>
            <a:r>
              <a:rPr lang="en-US" altLang="tr-TR" sz="1800" dirty="0">
                <a:latin typeface="Lucida Console" panose="020B0609040504020204" pitchFamily="49" charset="0"/>
              </a:rPr>
              <a:t>key &lt; middle</a:t>
            </a:r>
            <a:r>
              <a:rPr lang="en-US" altLang="tr-TR" dirty="0"/>
              <a:t>, looks in first half of array</a:t>
            </a:r>
          </a:p>
          <a:p>
            <a:pPr lvl="2"/>
            <a:r>
              <a:rPr lang="en-US" altLang="tr-TR" dirty="0"/>
              <a:t>If </a:t>
            </a:r>
            <a:r>
              <a:rPr lang="en-US" altLang="tr-TR" sz="1800" dirty="0">
                <a:latin typeface="Lucida Console" panose="020B0609040504020204" pitchFamily="49" charset="0"/>
              </a:rPr>
              <a:t>key &gt; middle</a:t>
            </a:r>
            <a:r>
              <a:rPr lang="en-US" altLang="tr-TR" dirty="0"/>
              <a:t>, looks in last half</a:t>
            </a:r>
          </a:p>
          <a:p>
            <a:pPr lvl="2"/>
            <a:r>
              <a:rPr lang="en-US" altLang="tr-TR" dirty="0"/>
              <a:t>Repeat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60_findNumber.ex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31" y="1060362"/>
            <a:ext cx="4077269" cy="3686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6128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Binary Search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359325"/>
            <a:ext cx="10202091" cy="460787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0674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Example</a:t>
            </a:r>
            <a:r>
              <a:rPr lang="tr-TR" altLang="tr-TR" dirty="0"/>
              <a:t> – </a:t>
            </a:r>
            <a:r>
              <a:rPr lang="en-US" altLang="tr-TR" dirty="0"/>
              <a:t>Binary Search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59605"/>
            <a:ext cx="11480800" cy="5193723"/>
          </a:xfrm>
        </p:spPr>
        <p:txBody>
          <a:bodyPr/>
          <a:lstStyle/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int </a:t>
            </a:r>
            <a:r>
              <a:rPr lang="en-US" altLang="tr-TR" sz="20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(int A[], int number, int N)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{  </a:t>
            </a:r>
            <a:endParaRPr lang="tr-TR" altLang="tr-TR" sz="2000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tr-TR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tr-TR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</a:t>
            </a: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int 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low = 0, high = N - 1, mid;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tr-TR" sz="500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while (low &lt;= high)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{  </a:t>
            </a:r>
            <a:endParaRPr lang="tr-TR" altLang="tr-TR" sz="2000" b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tr-TR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tr-TR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</a:t>
            </a: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mid </a:t>
            </a: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= (low + high) / 2;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if (A[mid] == number)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return mid;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if (A[mid] &lt; number)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low = mid + 1;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else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 high = mid - 1;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>
                <a:solidFill>
                  <a:srgbClr val="002060"/>
                </a:solidFill>
                <a:latin typeface="Consolas" panose="020B0609020204030204" pitchFamily="49" charset="0"/>
              </a:rPr>
              <a:t>   return -1;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tr-TR" sz="2000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  <a:endParaRPr lang="en-US" altLang="tr-TR" sz="2000" b="1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 descr="C:\Users\agaoglu\agaoglu-docs\courses-recent\computer-programming\cse1142-2019-2020-2\Lecture-Source-Codes-c\C_31_arrays\C31_65_Binary_search.ex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153" y="3872304"/>
            <a:ext cx="6409447" cy="2445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703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Multidimensional Arrays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Multiple subscripted arrays  </a:t>
            </a:r>
          </a:p>
          <a:p>
            <a:pPr lvl="1"/>
            <a:r>
              <a:rPr lang="en-US" altLang="tr-TR" dirty="0"/>
              <a:t>Tables with rows and columns (</a:t>
            </a:r>
            <a:r>
              <a:rPr lang="en-US" altLang="tr-TR" sz="2000" dirty="0">
                <a:latin typeface="Lucida Console" panose="020B0609040504020204" pitchFamily="49" charset="0"/>
              </a:rPr>
              <a:t>m</a:t>
            </a:r>
            <a:r>
              <a:rPr lang="en-US" altLang="tr-TR" dirty="0"/>
              <a:t> by </a:t>
            </a:r>
            <a:r>
              <a:rPr lang="en-US" altLang="tr-TR" sz="2000" dirty="0">
                <a:latin typeface="Lucida Console" panose="020B0609040504020204" pitchFamily="49" charset="0"/>
              </a:rPr>
              <a:t>n</a:t>
            </a:r>
            <a:r>
              <a:rPr lang="en-US" altLang="tr-TR" dirty="0"/>
              <a:t> array)</a:t>
            </a:r>
          </a:p>
          <a:p>
            <a:pPr lvl="1"/>
            <a:r>
              <a:rPr lang="en-US" altLang="tr-TR" dirty="0"/>
              <a:t>Like matrices: specify row, then column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pSp>
        <p:nvGrpSpPr>
          <p:cNvPr id="5" name="Group 78"/>
          <p:cNvGrpSpPr>
            <a:grpSpLocks/>
          </p:cNvGrpSpPr>
          <p:nvPr/>
        </p:nvGrpSpPr>
        <p:grpSpPr bwMode="auto">
          <a:xfrm>
            <a:off x="1190625" y="2792413"/>
            <a:ext cx="8893901" cy="3111998"/>
            <a:chOff x="750" y="1632"/>
            <a:chExt cx="4098" cy="1505"/>
          </a:xfrm>
        </p:grpSpPr>
        <p:grpSp>
          <p:nvGrpSpPr>
            <p:cNvPr id="6" name="Group 77"/>
            <p:cNvGrpSpPr>
              <a:grpSpLocks/>
            </p:cNvGrpSpPr>
            <p:nvPr/>
          </p:nvGrpSpPr>
          <p:grpSpPr bwMode="auto">
            <a:xfrm>
              <a:off x="750" y="1632"/>
              <a:ext cx="3848" cy="864"/>
              <a:chOff x="750" y="1632"/>
              <a:chExt cx="3848" cy="864"/>
            </a:xfrm>
          </p:grpSpPr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750" y="1884"/>
                <a:ext cx="448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Row 0</a:t>
                </a:r>
              </a:p>
              <a:p>
                <a:pPr>
                  <a:spcBef>
                    <a:spcPct val="0"/>
                  </a:spcBef>
                </a:pPr>
                <a:endParaRPr lang="en-US" altLang="tr-TR" sz="1800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750" y="2053"/>
                <a:ext cx="448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Row 1</a:t>
                </a:r>
              </a:p>
              <a:p>
                <a:pPr>
                  <a:spcBef>
                    <a:spcPct val="0"/>
                  </a:spcBef>
                </a:pPr>
                <a:endParaRPr lang="en-US" altLang="tr-TR" sz="1800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sp>
            <p:nvSpPr>
              <p:cNvPr id="16" name="Rectangle 7"/>
              <p:cNvSpPr>
                <a:spLocks noChangeArrowheads="1"/>
              </p:cNvSpPr>
              <p:nvPr/>
            </p:nvSpPr>
            <p:spPr bwMode="auto">
              <a:xfrm>
                <a:off x="750" y="2222"/>
                <a:ext cx="44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Row 2</a:t>
                </a:r>
              </a:p>
              <a:p>
                <a:pPr>
                  <a:spcBef>
                    <a:spcPct val="0"/>
                  </a:spcBef>
                </a:pPr>
                <a:endParaRPr lang="en-US" altLang="tr-TR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sp>
            <p:nvSpPr>
              <p:cNvPr id="17" name="Rectangle 8"/>
              <p:cNvSpPr>
                <a:spLocks noChangeArrowheads="1"/>
              </p:cNvSpPr>
              <p:nvPr/>
            </p:nvSpPr>
            <p:spPr bwMode="auto">
              <a:xfrm>
                <a:off x="1371" y="1632"/>
                <a:ext cx="69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Column 0</a:t>
                </a:r>
              </a:p>
              <a:p>
                <a:pPr>
                  <a:spcBef>
                    <a:spcPct val="0"/>
                  </a:spcBef>
                </a:pPr>
                <a:endParaRPr lang="en-US" altLang="tr-TR" sz="1800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sp>
            <p:nvSpPr>
              <p:cNvPr id="18" name="Rectangle 9"/>
              <p:cNvSpPr>
                <a:spLocks noChangeArrowheads="1"/>
              </p:cNvSpPr>
              <p:nvPr/>
            </p:nvSpPr>
            <p:spPr bwMode="auto">
              <a:xfrm>
                <a:off x="2196" y="1632"/>
                <a:ext cx="69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Column 1</a:t>
                </a:r>
              </a:p>
              <a:p>
                <a:pPr>
                  <a:spcBef>
                    <a:spcPct val="0"/>
                  </a:spcBef>
                </a:pPr>
                <a:endParaRPr lang="en-US" altLang="tr-TR" sz="1800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sp>
            <p:nvSpPr>
              <p:cNvPr id="19" name="Rectangle 10"/>
              <p:cNvSpPr>
                <a:spLocks noChangeArrowheads="1"/>
              </p:cNvSpPr>
              <p:nvPr/>
            </p:nvSpPr>
            <p:spPr bwMode="auto">
              <a:xfrm>
                <a:off x="3022" y="1632"/>
                <a:ext cx="69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Column 2</a:t>
                </a:r>
              </a:p>
              <a:p>
                <a:pPr>
                  <a:spcBef>
                    <a:spcPct val="0"/>
                  </a:spcBef>
                </a:pPr>
                <a:endParaRPr lang="en-US" altLang="tr-TR" sz="1800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sp>
            <p:nvSpPr>
              <p:cNvPr id="20" name="Rectangle 11"/>
              <p:cNvSpPr>
                <a:spLocks noChangeArrowheads="1"/>
              </p:cNvSpPr>
              <p:nvPr/>
            </p:nvSpPr>
            <p:spPr bwMode="auto">
              <a:xfrm>
                <a:off x="3847" y="1632"/>
                <a:ext cx="69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eaLnBrk="1" hangingPunct="1">
                  <a:spcBef>
                    <a:spcPct val="0"/>
                  </a:spcBef>
                </a:pPr>
                <a:r>
                  <a:rPr lang="en-US" altLang="tr-TR" sz="1800">
                    <a:latin typeface="Lucida Console" panose="020B0609040504020204" pitchFamily="49" charset="0"/>
                  </a:rPr>
                  <a:t>Column 3</a:t>
                </a:r>
              </a:p>
              <a:p>
                <a:pPr>
                  <a:spcBef>
                    <a:spcPct val="0"/>
                  </a:spcBef>
                </a:pPr>
                <a:endParaRPr lang="en-US" altLang="tr-TR" sz="1800">
                  <a:solidFill>
                    <a:schemeClr val="tx1"/>
                  </a:solidFill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21" name="Group 13"/>
              <p:cNvGrpSpPr>
                <a:grpSpLocks/>
              </p:cNvGrpSpPr>
              <p:nvPr/>
            </p:nvGrpSpPr>
            <p:grpSpPr bwMode="auto">
              <a:xfrm>
                <a:off x="1296" y="1824"/>
                <a:ext cx="826" cy="217"/>
                <a:chOff x="0" y="0"/>
                <a:chExt cx="20000" cy="20000"/>
              </a:xfrm>
            </p:grpSpPr>
            <p:sp>
              <p:nvSpPr>
                <p:cNvPr id="55" name="Freeform 14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56" name="Rectangle 15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2" name="Group 16"/>
              <p:cNvGrpSpPr>
                <a:grpSpLocks/>
              </p:cNvGrpSpPr>
              <p:nvPr/>
            </p:nvGrpSpPr>
            <p:grpSpPr bwMode="auto">
              <a:xfrm>
                <a:off x="1296" y="2041"/>
                <a:ext cx="826" cy="215"/>
                <a:chOff x="0" y="0"/>
                <a:chExt cx="20000" cy="20000"/>
              </a:xfrm>
            </p:grpSpPr>
            <p:sp>
              <p:nvSpPr>
                <p:cNvPr id="53" name="Freeform 17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54" name="Rectangle 18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3" name="Group 19"/>
              <p:cNvGrpSpPr>
                <a:grpSpLocks/>
              </p:cNvGrpSpPr>
              <p:nvPr/>
            </p:nvGrpSpPr>
            <p:grpSpPr bwMode="auto">
              <a:xfrm>
                <a:off x="1296" y="2256"/>
                <a:ext cx="826" cy="240"/>
                <a:chOff x="0" y="0"/>
                <a:chExt cx="20000" cy="20000"/>
              </a:xfrm>
            </p:grpSpPr>
            <p:sp>
              <p:nvSpPr>
                <p:cNvPr id="51" name="Freeform 20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52" name="Rectangle 21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4" name="Group 23"/>
              <p:cNvGrpSpPr>
                <a:grpSpLocks/>
              </p:cNvGrpSpPr>
              <p:nvPr/>
            </p:nvGrpSpPr>
            <p:grpSpPr bwMode="auto">
              <a:xfrm>
                <a:off x="2122" y="1824"/>
                <a:ext cx="825" cy="217"/>
                <a:chOff x="0" y="0"/>
                <a:chExt cx="20000" cy="20000"/>
              </a:xfrm>
            </p:grpSpPr>
            <p:sp>
              <p:nvSpPr>
                <p:cNvPr id="49" name="Freeform 24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50" name="Rectangle 25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5" name="Group 26"/>
              <p:cNvGrpSpPr>
                <a:grpSpLocks/>
              </p:cNvGrpSpPr>
              <p:nvPr/>
            </p:nvGrpSpPr>
            <p:grpSpPr bwMode="auto">
              <a:xfrm>
                <a:off x="2122" y="2041"/>
                <a:ext cx="825" cy="215"/>
                <a:chOff x="0" y="0"/>
                <a:chExt cx="20000" cy="20000"/>
              </a:xfrm>
            </p:grpSpPr>
            <p:sp>
              <p:nvSpPr>
                <p:cNvPr id="47" name="Freeform 27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48" name="Rectangle 28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6" name="Group 29"/>
              <p:cNvGrpSpPr>
                <a:grpSpLocks/>
              </p:cNvGrpSpPr>
              <p:nvPr/>
            </p:nvGrpSpPr>
            <p:grpSpPr bwMode="auto">
              <a:xfrm>
                <a:off x="2122" y="2256"/>
                <a:ext cx="825" cy="240"/>
                <a:chOff x="0" y="0"/>
                <a:chExt cx="20000" cy="20000"/>
              </a:xfrm>
            </p:grpSpPr>
            <p:sp>
              <p:nvSpPr>
                <p:cNvPr id="45" name="Freeform 30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46" name="Rectangle 31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7" name="Group 33"/>
              <p:cNvGrpSpPr>
                <a:grpSpLocks/>
              </p:cNvGrpSpPr>
              <p:nvPr/>
            </p:nvGrpSpPr>
            <p:grpSpPr bwMode="auto">
              <a:xfrm>
                <a:off x="2947" y="1824"/>
                <a:ext cx="826" cy="217"/>
                <a:chOff x="0" y="0"/>
                <a:chExt cx="20000" cy="20000"/>
              </a:xfrm>
            </p:grpSpPr>
            <p:sp>
              <p:nvSpPr>
                <p:cNvPr id="43" name="Freeform 34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44" name="Rectangle 35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0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8" name="Group 36"/>
              <p:cNvGrpSpPr>
                <a:grpSpLocks/>
              </p:cNvGrpSpPr>
              <p:nvPr/>
            </p:nvGrpSpPr>
            <p:grpSpPr bwMode="auto">
              <a:xfrm>
                <a:off x="2947" y="2041"/>
                <a:ext cx="826" cy="215"/>
                <a:chOff x="0" y="0"/>
                <a:chExt cx="20000" cy="20000"/>
              </a:xfrm>
            </p:grpSpPr>
            <p:sp>
              <p:nvSpPr>
                <p:cNvPr id="41" name="Freeform 37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42" name="Rectangle 38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0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29" name="Group 39"/>
              <p:cNvGrpSpPr>
                <a:grpSpLocks/>
              </p:cNvGrpSpPr>
              <p:nvPr/>
            </p:nvGrpSpPr>
            <p:grpSpPr bwMode="auto">
              <a:xfrm>
                <a:off x="2947" y="2256"/>
                <a:ext cx="826" cy="240"/>
                <a:chOff x="0" y="0"/>
                <a:chExt cx="20000" cy="20000"/>
              </a:xfrm>
            </p:grpSpPr>
            <p:sp>
              <p:nvSpPr>
                <p:cNvPr id="39" name="Freeform 40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40" name="Rectangle 41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0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 dirty="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 dirty="0"/>
                    <a:t> </a:t>
                  </a:r>
                  <a:r>
                    <a:rPr lang="en-US" altLang="tr-TR" sz="1800" dirty="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 dirty="0"/>
                    <a:t> </a:t>
                  </a:r>
                  <a:r>
                    <a:rPr lang="en-US" altLang="tr-TR" sz="1800" dirty="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 dirty="0"/>
                    <a:t> </a:t>
                  </a:r>
                  <a:r>
                    <a:rPr lang="en-US" altLang="tr-TR" sz="1800" dirty="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 dirty="0"/>
                    <a:t> </a:t>
                  </a:r>
                  <a:r>
                    <a:rPr lang="en-US" altLang="tr-TR" sz="1800" dirty="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dirty="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30" name="Group 43"/>
              <p:cNvGrpSpPr>
                <a:grpSpLocks/>
              </p:cNvGrpSpPr>
              <p:nvPr/>
            </p:nvGrpSpPr>
            <p:grpSpPr bwMode="auto">
              <a:xfrm>
                <a:off x="3773" y="1824"/>
                <a:ext cx="825" cy="217"/>
                <a:chOff x="0" y="0"/>
                <a:chExt cx="20000" cy="20000"/>
              </a:xfrm>
            </p:grpSpPr>
            <p:sp>
              <p:nvSpPr>
                <p:cNvPr id="37" name="Freeform 44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38" name="Rectangle 45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0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3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31" name="Group 46"/>
              <p:cNvGrpSpPr>
                <a:grpSpLocks/>
              </p:cNvGrpSpPr>
              <p:nvPr/>
            </p:nvGrpSpPr>
            <p:grpSpPr bwMode="auto">
              <a:xfrm>
                <a:off x="3773" y="2041"/>
                <a:ext cx="825" cy="215"/>
                <a:chOff x="0" y="0"/>
                <a:chExt cx="20000" cy="20000"/>
              </a:xfrm>
            </p:grpSpPr>
            <p:sp>
              <p:nvSpPr>
                <p:cNvPr id="35" name="Freeform 47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36" name="Rectangle 48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1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3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  <p:grpSp>
            <p:nvGrpSpPr>
              <p:cNvPr id="32" name="Group 49"/>
              <p:cNvGrpSpPr>
                <a:grpSpLocks/>
              </p:cNvGrpSpPr>
              <p:nvPr/>
            </p:nvGrpSpPr>
            <p:grpSpPr bwMode="auto">
              <a:xfrm>
                <a:off x="3773" y="2256"/>
                <a:ext cx="825" cy="240"/>
                <a:chOff x="0" y="0"/>
                <a:chExt cx="20000" cy="20000"/>
              </a:xfrm>
            </p:grpSpPr>
            <p:sp>
              <p:nvSpPr>
                <p:cNvPr id="33" name="Freeform 50"/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r-TR"/>
                </a:p>
              </p:txBody>
            </p:sp>
            <p:sp>
              <p:nvSpPr>
                <p:cNvPr id="34" name="Rectangle 51"/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tr-TR" sz="1800">
                      <a:latin typeface="Lucida Console" panose="020B0609040504020204" pitchFamily="49" charset="0"/>
                    </a:rPr>
                    <a:t>a[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2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][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3</a:t>
                  </a:r>
                  <a:r>
                    <a:rPr lang="en-US" altLang="tr-TR" sz="1800"/>
                    <a:t> </a:t>
                  </a:r>
                  <a:r>
                    <a:rPr lang="en-US" altLang="tr-TR" sz="1800">
                      <a:latin typeface="Lucida Console" panose="020B0609040504020204" pitchFamily="49" charset="0"/>
                    </a:rPr>
                    <a:t>]</a:t>
                  </a:r>
                </a:p>
                <a:p>
                  <a:pPr>
                    <a:spcBef>
                      <a:spcPct val="0"/>
                    </a:spcBef>
                  </a:pPr>
                  <a:endParaRPr lang="en-US" altLang="tr-TR" sz="1800">
                    <a:solidFill>
                      <a:schemeClr val="tx1"/>
                    </a:solidFill>
                    <a:latin typeface="Lucida Console" panose="020B0609040504020204" pitchFamily="49" charset="0"/>
                  </a:endParaRPr>
                </a:p>
              </p:txBody>
            </p:sp>
          </p:grpSp>
        </p:grpSp>
        <p:sp>
          <p:nvSpPr>
            <p:cNvPr id="7" name="Rectangle 52"/>
            <p:cNvSpPr>
              <a:spLocks noChangeArrowheads="1"/>
            </p:cNvSpPr>
            <p:nvPr/>
          </p:nvSpPr>
          <p:spPr bwMode="auto">
            <a:xfrm>
              <a:off x="1872" y="3024"/>
              <a:ext cx="1392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>
                <a:spcBef>
                  <a:spcPct val="0"/>
                </a:spcBef>
              </a:pPr>
              <a:r>
                <a:rPr lang="en-US" altLang="tr-TR" sz="1800">
                  <a:latin typeface="Lucida Console" panose="020B0609040504020204" pitchFamily="49" charset="0"/>
                </a:rPr>
                <a:t>Row subscript</a:t>
              </a:r>
            </a:p>
            <a:p>
              <a:pPr>
                <a:spcBef>
                  <a:spcPct val="0"/>
                </a:spcBef>
              </a:pPr>
              <a:endParaRPr lang="en-US" altLang="tr-TR" sz="1800">
                <a:solidFill>
                  <a:schemeClr val="tx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8" name="Rectangle 53"/>
            <p:cNvSpPr>
              <a:spLocks noChangeArrowheads="1"/>
            </p:cNvSpPr>
            <p:nvPr/>
          </p:nvSpPr>
          <p:spPr bwMode="auto">
            <a:xfrm>
              <a:off x="1440" y="2832"/>
              <a:ext cx="860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>
                <a:spcBef>
                  <a:spcPct val="0"/>
                </a:spcBef>
              </a:pPr>
              <a:r>
                <a:rPr lang="en-US" altLang="tr-TR" sz="1800">
                  <a:latin typeface="Lucida Console" panose="020B0609040504020204" pitchFamily="49" charset="0"/>
                </a:rPr>
                <a:t>Array name</a:t>
              </a:r>
            </a:p>
            <a:p>
              <a:pPr>
                <a:spcBef>
                  <a:spcPct val="0"/>
                </a:spcBef>
              </a:pPr>
              <a:endParaRPr lang="en-US" altLang="tr-TR" sz="1800">
                <a:solidFill>
                  <a:schemeClr val="tx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9" name="Rectangle 54"/>
            <p:cNvSpPr>
              <a:spLocks noChangeArrowheads="1"/>
            </p:cNvSpPr>
            <p:nvPr/>
          </p:nvSpPr>
          <p:spPr bwMode="auto">
            <a:xfrm>
              <a:off x="3249" y="2658"/>
              <a:ext cx="159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1" hangingPunct="1">
                <a:spcBef>
                  <a:spcPct val="0"/>
                </a:spcBef>
              </a:pPr>
              <a:r>
                <a:rPr lang="en-US" altLang="tr-TR" sz="1800">
                  <a:latin typeface="Lucida Console" panose="020B0609040504020204" pitchFamily="49" charset="0"/>
                </a:rPr>
                <a:t>Column subscript</a:t>
              </a:r>
            </a:p>
            <a:p>
              <a:pPr>
                <a:spcBef>
                  <a:spcPct val="0"/>
                </a:spcBef>
              </a:pPr>
              <a:endParaRPr lang="en-US" altLang="tr-TR" sz="1800">
                <a:solidFill>
                  <a:schemeClr val="tx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0" name="Freeform 55"/>
            <p:cNvSpPr>
              <a:spLocks/>
            </p:cNvSpPr>
            <p:nvPr/>
          </p:nvSpPr>
          <p:spPr bwMode="auto">
            <a:xfrm>
              <a:off x="2208" y="2448"/>
              <a:ext cx="48" cy="4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84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84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Freeform 56"/>
            <p:cNvSpPr>
              <a:spLocks/>
            </p:cNvSpPr>
            <p:nvPr/>
          </p:nvSpPr>
          <p:spPr bwMode="auto">
            <a:xfrm flipH="1">
              <a:off x="2353" y="2448"/>
              <a:ext cx="47" cy="56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77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77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57"/>
            <p:cNvSpPr>
              <a:spLocks/>
            </p:cNvSpPr>
            <p:nvPr/>
          </p:nvSpPr>
          <p:spPr bwMode="auto">
            <a:xfrm>
              <a:off x="2737" y="2448"/>
              <a:ext cx="47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62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62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58"/>
            <p:cNvSpPr>
              <a:spLocks/>
            </p:cNvSpPr>
            <p:nvPr/>
          </p:nvSpPr>
          <p:spPr bwMode="auto">
            <a:xfrm flipV="1">
              <a:off x="2736" y="2688"/>
              <a:ext cx="480" cy="47"/>
            </a:xfrm>
            <a:custGeom>
              <a:avLst/>
              <a:gdLst>
                <a:gd name="T0" fmla="*/ 19925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2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29852332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sz="3200" dirty="0"/>
              <a:t>Multidimensional Arrays </a:t>
            </a:r>
            <a:r>
              <a:rPr lang="tr-TR" altLang="tr-TR" sz="3200" dirty="0"/>
              <a:t>– Initialization &amp; Accessing Elements </a:t>
            </a:r>
            <a:endParaRPr lang="tr-T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Initialization</a:t>
            </a:r>
          </a:p>
          <a:p>
            <a:pPr lvl="1"/>
            <a:r>
              <a:rPr lang="en-US" altLang="tr-TR" sz="2000" dirty="0">
                <a:latin typeface="Lucida Console" panose="020B0609040504020204" pitchFamily="49" charset="0"/>
              </a:rPr>
              <a:t>int b[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2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][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2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]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=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{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{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1,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2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},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{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3,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4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}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};</a:t>
            </a:r>
            <a:r>
              <a:rPr lang="en-US" altLang="tr-TR" b="1" dirty="0">
                <a:latin typeface="Lucida Console" panose="020B0609040504020204" pitchFamily="49" charset="0"/>
              </a:rPr>
              <a:t> </a:t>
            </a:r>
          </a:p>
          <a:p>
            <a:pPr lvl="1"/>
            <a:r>
              <a:rPr lang="en-US" altLang="tr-TR" dirty="0"/>
              <a:t>Initializers grouped by row in braces </a:t>
            </a:r>
          </a:p>
          <a:p>
            <a:pPr lvl="1"/>
            <a:r>
              <a:rPr lang="en-US" altLang="tr-TR" dirty="0"/>
              <a:t>If not enough, unspecified elements set to zero</a:t>
            </a:r>
          </a:p>
          <a:p>
            <a:pPr lvl="2"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int b[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2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][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2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]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=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{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{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1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},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{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3,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4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}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};</a:t>
            </a:r>
            <a:r>
              <a:rPr lang="en-US" altLang="tr-TR" b="1" dirty="0">
                <a:latin typeface="Lucida Console" panose="020B0609040504020204" pitchFamily="49" charset="0"/>
              </a:rPr>
              <a:t> </a:t>
            </a:r>
          </a:p>
          <a:p>
            <a:endParaRPr lang="en-US" altLang="tr-TR" dirty="0" smtClean="0"/>
          </a:p>
          <a:p>
            <a:r>
              <a:rPr lang="en-US" altLang="tr-TR" dirty="0" smtClean="0"/>
              <a:t>Referencing </a:t>
            </a:r>
            <a:r>
              <a:rPr lang="en-US" altLang="tr-TR" dirty="0"/>
              <a:t>elements</a:t>
            </a:r>
          </a:p>
          <a:p>
            <a:pPr lvl="1"/>
            <a:r>
              <a:rPr lang="en-US" altLang="tr-TR" dirty="0"/>
              <a:t>Specify row, then column</a:t>
            </a:r>
          </a:p>
          <a:p>
            <a:pPr lvl="2"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printf</a:t>
            </a:r>
            <a:r>
              <a:rPr lang="en-US" altLang="tr-TR" sz="1800" dirty="0">
                <a:latin typeface="Lucida Console" panose="020B0609040504020204" pitchFamily="49" charset="0"/>
              </a:rPr>
              <a:t>(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"%d",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b[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0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][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1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]</a:t>
            </a:r>
            <a:r>
              <a:rPr lang="en-US" altLang="tr-TR" sz="1800" dirty="0"/>
              <a:t> </a:t>
            </a:r>
            <a:r>
              <a:rPr lang="en-US" altLang="tr-TR" sz="1800" dirty="0">
                <a:latin typeface="Lucida Console" panose="020B0609040504020204" pitchFamily="49" charset="0"/>
              </a:rPr>
              <a:t>);</a:t>
            </a:r>
            <a:endParaRPr lang="en-US" altLang="tr-TR" sz="1800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7162800" y="1524000"/>
            <a:ext cx="914400" cy="540328"/>
            <a:chOff x="4224" y="2736"/>
            <a:chExt cx="576" cy="399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4224" y="2736"/>
              <a:ext cx="576" cy="3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tr-TR" sz="1400" b="1" dirty="0">
                  <a:latin typeface="Lucida Console" panose="020B0609040504020204" pitchFamily="49" charset="0"/>
                </a:rPr>
                <a:t>1    2</a:t>
              </a:r>
            </a:p>
            <a:p>
              <a:r>
                <a:rPr lang="en-US" altLang="tr-TR" sz="1400" b="1" dirty="0">
                  <a:latin typeface="Lucida Console" panose="020B0609040504020204" pitchFamily="49" charset="0"/>
                </a:rPr>
                <a:t>3    4</a:t>
              </a:r>
            </a:p>
          </p:txBody>
        </p:sp>
        <p:sp>
          <p:nvSpPr>
            <p:cNvPr id="7" name="Line 64"/>
            <p:cNvSpPr>
              <a:spLocks noChangeShapeType="1"/>
            </p:cNvSpPr>
            <p:nvPr/>
          </p:nvSpPr>
          <p:spPr bwMode="auto">
            <a:xfrm>
              <a:off x="451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tr-TR"/>
            </a:p>
          </p:txBody>
        </p:sp>
        <p:sp>
          <p:nvSpPr>
            <p:cNvPr id="8" name="Line 65"/>
            <p:cNvSpPr>
              <a:spLocks noChangeShapeType="1"/>
            </p:cNvSpPr>
            <p:nvPr/>
          </p:nvSpPr>
          <p:spPr bwMode="auto">
            <a:xfrm>
              <a:off x="4224" y="292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tr-TR"/>
            </a:p>
          </p:txBody>
        </p:sp>
      </p:grpSp>
      <p:grpSp>
        <p:nvGrpSpPr>
          <p:cNvPr id="9" name="Group 66"/>
          <p:cNvGrpSpPr>
            <a:grpSpLocks/>
          </p:cNvGrpSpPr>
          <p:nvPr/>
        </p:nvGrpSpPr>
        <p:grpSpPr bwMode="auto">
          <a:xfrm>
            <a:off x="7271657" y="2449757"/>
            <a:ext cx="914400" cy="567763"/>
            <a:chOff x="4224" y="2736"/>
            <a:chExt cx="576" cy="399"/>
          </a:xfrm>
        </p:grpSpPr>
        <p:sp>
          <p:nvSpPr>
            <p:cNvPr id="10" name="Text Box 67"/>
            <p:cNvSpPr txBox="1">
              <a:spLocks noChangeArrowheads="1"/>
            </p:cNvSpPr>
            <p:nvPr/>
          </p:nvSpPr>
          <p:spPr bwMode="auto">
            <a:xfrm>
              <a:off x="4224" y="2736"/>
              <a:ext cx="576" cy="3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tr-TR" sz="1400" b="1">
                  <a:latin typeface="Lucida Console" panose="020B0609040504020204" pitchFamily="49" charset="0"/>
                </a:rPr>
                <a:t>1    0</a:t>
              </a:r>
            </a:p>
            <a:p>
              <a:r>
                <a:rPr lang="en-US" altLang="tr-TR" sz="1400" b="1">
                  <a:latin typeface="Lucida Console" panose="020B0609040504020204" pitchFamily="49" charset="0"/>
                </a:rPr>
                <a:t>3    4</a:t>
              </a:r>
            </a:p>
          </p:txBody>
        </p:sp>
        <p:sp>
          <p:nvSpPr>
            <p:cNvPr id="11" name="Line 68"/>
            <p:cNvSpPr>
              <a:spLocks noChangeShapeType="1"/>
            </p:cNvSpPr>
            <p:nvPr/>
          </p:nvSpPr>
          <p:spPr bwMode="auto">
            <a:xfrm>
              <a:off x="451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tr-TR"/>
            </a:p>
          </p:txBody>
        </p:sp>
        <p:sp>
          <p:nvSpPr>
            <p:cNvPr id="12" name="Line 69"/>
            <p:cNvSpPr>
              <a:spLocks noChangeShapeType="1"/>
            </p:cNvSpPr>
            <p:nvPr/>
          </p:nvSpPr>
          <p:spPr bwMode="auto">
            <a:xfrm>
              <a:off x="4224" y="292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3244133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</TotalTime>
  <Words>2752</Words>
  <Application>Microsoft Office PowerPoint</Application>
  <PresentationFormat>Widescreen</PresentationFormat>
  <Paragraphs>513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ＭＳ Ｐゴシック</vt:lpstr>
      <vt:lpstr>Arial</vt:lpstr>
      <vt:lpstr>Calibri</vt:lpstr>
      <vt:lpstr>Consolas</vt:lpstr>
      <vt:lpstr>Courier New</vt:lpstr>
      <vt:lpstr>Garamond</vt:lpstr>
      <vt:lpstr>Lucida Console</vt:lpstr>
      <vt:lpstr>Tahoma</vt:lpstr>
      <vt:lpstr>Times New Roman</vt:lpstr>
      <vt:lpstr>Wingdings</vt:lpstr>
      <vt:lpstr>Edge</vt:lpstr>
      <vt:lpstr>CSE1142 – Arrays in C</vt:lpstr>
      <vt:lpstr>Agenda</vt:lpstr>
      <vt:lpstr>Motivation</vt:lpstr>
      <vt:lpstr>Arrays – Definitions &amp; Syntax</vt:lpstr>
      <vt:lpstr>Arrays - Usage</vt:lpstr>
      <vt:lpstr>Array - Access</vt:lpstr>
      <vt:lpstr>Defining Arrays</vt:lpstr>
      <vt:lpstr>Arrays – Initialization</vt:lpstr>
      <vt:lpstr>Arrays – Initialization Example</vt:lpstr>
      <vt:lpstr>Arrays – Index and bounds</vt:lpstr>
      <vt:lpstr>Arrays Have Fixed Size!</vt:lpstr>
      <vt:lpstr>PowerPoint Presentation</vt:lpstr>
      <vt:lpstr>PowerPoint Presentation</vt:lpstr>
      <vt:lpstr>PowerPoint Presentation</vt:lpstr>
      <vt:lpstr>Arrays Have Fixed Size!</vt:lpstr>
      <vt:lpstr>Example 3: Histogram </vt:lpstr>
      <vt:lpstr>Example 4: Roll dice </vt:lpstr>
      <vt:lpstr>Arrays as Parameters</vt:lpstr>
      <vt:lpstr>Passing Arrays to Functions</vt:lpstr>
      <vt:lpstr>Passing Arrays to Functions – cont.</vt:lpstr>
      <vt:lpstr>Example 5 – Initialize_function.c</vt:lpstr>
      <vt:lpstr>Example 6 – Modify_array.c</vt:lpstr>
      <vt:lpstr>Sorting Arrays – Bubble Sort</vt:lpstr>
      <vt:lpstr>Bubble Sort</vt:lpstr>
      <vt:lpstr>Example – Bubble Sort</vt:lpstr>
      <vt:lpstr>Insertion Sort</vt:lpstr>
      <vt:lpstr>Example – Insertion Sort</vt:lpstr>
      <vt:lpstr>Searching Arrays</vt:lpstr>
      <vt:lpstr>Binary Search</vt:lpstr>
      <vt:lpstr>Example – Binary Search</vt:lpstr>
      <vt:lpstr>Multidimensional Arrays</vt:lpstr>
      <vt:lpstr>Multidimensional Arrays – Initialization &amp; Accessing Elements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EECS221 – Fall 2017 Embedded Systems Programming in C Lecture 1: Introduction</dc:title>
  <dc:creator/>
  <cp:lastModifiedBy/>
  <cp:revision>162</cp:revision>
  <dcterms:created xsi:type="dcterms:W3CDTF">2017-11-02T19:26:23Z</dcterms:created>
  <dcterms:modified xsi:type="dcterms:W3CDTF">2020-05-04T18:24:35Z</dcterms:modified>
  <dc:description/>
</cp:coreProperties>
</file>