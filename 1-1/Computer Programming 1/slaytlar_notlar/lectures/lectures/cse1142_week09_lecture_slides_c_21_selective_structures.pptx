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</p:sldMasterIdLst>
  <p:notesMasterIdLst>
    <p:notesMasterId r:id="rId22"/>
  </p:notesMasterIdLst>
  <p:sldIdLst>
    <p:sldId id="256" r:id="rId3"/>
    <p:sldId id="259" r:id="rId4"/>
    <p:sldId id="282" r:id="rId5"/>
    <p:sldId id="283" r:id="rId6"/>
    <p:sldId id="284" r:id="rId7"/>
    <p:sldId id="286" r:id="rId8"/>
    <p:sldId id="287" r:id="rId9"/>
    <p:sldId id="288" r:id="rId10"/>
    <p:sldId id="289" r:id="rId11"/>
    <p:sldId id="271" r:id="rId12"/>
    <p:sldId id="272" r:id="rId13"/>
    <p:sldId id="273" r:id="rId14"/>
    <p:sldId id="275" r:id="rId15"/>
    <p:sldId id="274" r:id="rId16"/>
    <p:sldId id="276" r:id="rId17"/>
    <p:sldId id="277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643" autoAdjust="0"/>
  </p:normalViewPr>
  <p:slideViewPr>
    <p:cSldViewPr snapToGrid="0">
      <p:cViewPr varScale="1">
        <p:scale>
          <a:sx n="133" d="100"/>
          <a:sy n="133" d="100"/>
        </p:scale>
        <p:origin x="1302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27.04.2020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0078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algorithm is like a recipe. It takes “inputs” (the ingredients), performs a set of simple and (hopefully) well-defined steps, and then terminates after producing an “output” (the meal).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09481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41034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9556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267263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79162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103351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699241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4958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2139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1540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7654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17296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810476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742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614603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81205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513743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668344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275360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938122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493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32489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87160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518337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5718170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0"/>
          </p:nvPr>
        </p:nvSpPr>
        <p:spPr>
          <a:xfrm>
            <a:off x="2336800" y="6400801"/>
            <a:ext cx="66040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 smtClean="0"/>
              <a:t>© 2016 Pearson Education, Ltd. All rights reserved.</a:t>
            </a:r>
            <a:endParaRPr lang="en-US" dirty="0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87177B-E4D2-4C60-B0B9-1D8BC384CF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5349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03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5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CSE1142 – </a:t>
            </a:r>
            <a:r>
              <a:rPr lang="tr-TR" altLang="tr-TR" dirty="0" smtClean="0">
                <a:ea typeface="ＭＳ Ｐゴシック" panose="020B0600070205080204" pitchFamily="34" charset="-128"/>
              </a:rPr>
              <a:t>Selective Structures</a:t>
            </a:r>
            <a:r>
              <a:rPr lang="en-US" altLang="tr-TR" dirty="0" smtClean="0">
                <a:ea typeface="ＭＳ Ｐゴシック" panose="020B0600070205080204" pitchFamily="34" charset="-128"/>
              </a:rPr>
              <a:t> in C</a:t>
            </a:r>
            <a:endParaRPr lang="en-US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2F4066B-CCC5-4546-8A3F-C4FBE381B3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Sanem Arslan </a:t>
            </a:r>
            <a:r>
              <a:rPr lang="en-US" dirty="0" err="1"/>
              <a:t>Yılmaz</a:t>
            </a:r>
            <a:endParaRPr lang="en-US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D85F59F-D3CE-422E-85AE-032ED5738A0E}"/>
              </a:ext>
            </a:extLst>
          </p:cNvPr>
          <p:cNvSpPr txBox="1"/>
          <p:nvPr/>
        </p:nvSpPr>
        <p:spPr>
          <a:xfrm>
            <a:off x="2245895" y="5101389"/>
            <a:ext cx="8261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err="1"/>
              <a:t>Some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slides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:</a:t>
            </a:r>
          </a:p>
          <a:p>
            <a:pPr algn="ctr"/>
            <a:r>
              <a:rPr lang="tr-TR" dirty="0"/>
              <a:t>CMPE150 – Boğaziçi </a:t>
            </a:r>
            <a:r>
              <a:rPr lang="tr-TR" dirty="0" err="1"/>
              <a:t>University</a:t>
            </a:r>
            <a:endParaRPr lang="tr-TR" dirty="0"/>
          </a:p>
          <a:p>
            <a:pPr algn="ctr"/>
            <a:r>
              <a:rPr lang="tr-TR" dirty="0" err="1"/>
              <a:t>Deitel</a:t>
            </a:r>
            <a:r>
              <a:rPr lang="tr-TR" dirty="0"/>
              <a:t> &amp; </a:t>
            </a:r>
            <a:r>
              <a:rPr lang="tr-TR" dirty="0" err="1"/>
              <a:t>Associates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7997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996949"/>
            <a:ext cx="10058400" cy="55344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Algorithms &amp; </a:t>
            </a:r>
            <a:r>
              <a:rPr lang="en-US" altLang="tr-TR" dirty="0" smtClean="0"/>
              <a:t>Pseudocode</a:t>
            </a:r>
          </a:p>
          <a:p>
            <a:pPr>
              <a:lnSpc>
                <a:spcPct val="150000"/>
              </a:lnSpc>
            </a:pPr>
            <a:r>
              <a:rPr lang="en-US" altLang="tr-TR" dirty="0" smtClean="0"/>
              <a:t>Flowcharts</a:t>
            </a:r>
            <a:endParaRPr lang="en-US" altLang="tr-TR" dirty="0"/>
          </a:p>
          <a:p>
            <a:pPr>
              <a:lnSpc>
                <a:spcPct val="150000"/>
              </a:lnSpc>
            </a:pPr>
            <a:r>
              <a:rPr lang="en-US" altLang="tr-TR" dirty="0" smtClean="0"/>
              <a:t>If statement</a:t>
            </a:r>
            <a:endParaRPr lang="tr-TR" altLang="tr-TR" dirty="0"/>
          </a:p>
          <a:p>
            <a:pPr>
              <a:lnSpc>
                <a:spcPct val="150000"/>
              </a:lnSpc>
            </a:pPr>
            <a:r>
              <a:rPr lang="en-US" altLang="tr-TR" dirty="0"/>
              <a:t>Else-if </a:t>
            </a:r>
            <a:r>
              <a:rPr lang="en-US" altLang="tr-TR" dirty="0" smtClean="0"/>
              <a:t>statement</a:t>
            </a:r>
            <a:endParaRPr lang="tr-TR" altLang="tr-TR" dirty="0"/>
          </a:p>
          <a:p>
            <a:pPr>
              <a:lnSpc>
                <a:spcPct val="150000"/>
              </a:lnSpc>
            </a:pPr>
            <a:r>
              <a:rPr lang="en-US" altLang="tr-TR" dirty="0"/>
              <a:t>Ternary </a:t>
            </a:r>
            <a:r>
              <a:rPr lang="en-US" altLang="tr-TR" dirty="0" smtClean="0"/>
              <a:t>operator</a:t>
            </a:r>
            <a:endParaRPr lang="tr-TR" altLang="tr-TR" dirty="0"/>
          </a:p>
          <a:p>
            <a:pPr>
              <a:lnSpc>
                <a:spcPct val="150000"/>
              </a:lnSpc>
            </a:pPr>
            <a:r>
              <a:rPr lang="en-US" altLang="tr-TR" dirty="0"/>
              <a:t>Switch </a:t>
            </a:r>
            <a:r>
              <a:rPr lang="en-US" altLang="tr-TR" dirty="0" smtClean="0"/>
              <a:t>statement</a:t>
            </a:r>
            <a:endParaRPr lang="tr-TR" altLang="tr-TR" dirty="0"/>
          </a:p>
          <a:p>
            <a:pPr>
              <a:lnSpc>
                <a:spcPct val="150000"/>
              </a:lnSpc>
            </a:pPr>
            <a:r>
              <a:rPr lang="en-US" altLang="tr-TR" dirty="0"/>
              <a:t>Break statement</a:t>
            </a:r>
            <a:endParaRPr lang="tr-TR" altLang="tr-TR" dirty="0"/>
          </a:p>
          <a:p>
            <a:endParaRPr lang="tr-TR" altLang="tr-TR" dirty="0"/>
          </a:p>
          <a:p>
            <a:endParaRPr lang="tr-TR" altLang="tr-TR" dirty="0"/>
          </a:p>
          <a:p>
            <a:endParaRPr lang="en-US" altLang="tr-TR" dirty="0">
              <a:ea typeface="ＭＳ Ｐゴシック" panose="020B0600070205080204" pitchFamily="34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1A10B9F-802E-4BF7-98A9-38E57AA573D7}" type="slidenum">
              <a:rPr lang="en-US" altLang="tr-TR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41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24B5A1"/>
                </a:solidFill>
                <a:latin typeface="Arial" panose="020B0604020202020204" pitchFamily="34" charset="0"/>
              </a:rPr>
              <a:t> </a:t>
            </a:r>
            <a:r>
              <a:rPr lang="en-US" altLang="en-US" sz="4000" dirty="0">
                <a:ea typeface="ＭＳ Ｐゴシック" panose="020B0600070205080204" pitchFamily="34" charset="-128"/>
              </a:rPr>
              <a:t>Introduction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Before writing a program to solve a particular problem, we must have </a:t>
            </a:r>
            <a:endParaRPr lang="tr-TR" altLang="en-US" dirty="0" smtClean="0"/>
          </a:p>
          <a:p>
            <a:pPr lvl="4"/>
            <a:endParaRPr lang="tr-TR" altLang="en-US" dirty="0" smtClean="0"/>
          </a:p>
          <a:p>
            <a:pPr lvl="1"/>
            <a:r>
              <a:rPr lang="en-US" altLang="en-US" dirty="0" smtClean="0"/>
              <a:t>a </a:t>
            </a:r>
            <a:r>
              <a:rPr lang="en-US" altLang="en-US" dirty="0"/>
              <a:t>thorough understanding of the problem and </a:t>
            </a:r>
            <a:endParaRPr lang="tr-TR" altLang="en-US" dirty="0" smtClean="0"/>
          </a:p>
          <a:p>
            <a:pPr lvl="4"/>
            <a:endParaRPr lang="tr-TR" altLang="en-US" dirty="0" smtClean="0"/>
          </a:p>
          <a:p>
            <a:pPr lvl="1"/>
            <a:r>
              <a:rPr lang="en-US" altLang="en-US" dirty="0" smtClean="0"/>
              <a:t>a </a:t>
            </a:r>
            <a:r>
              <a:rPr lang="en-US" altLang="en-US" dirty="0"/>
              <a:t>carefully planned solution approach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7177B-E4D2-4C60-B0B9-1D8BC384CFEC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799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Algorithms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The solution to any computing problem involves executing a series of actions in a specific order.</a:t>
            </a:r>
            <a:endParaRPr lang="tr-TR" altLang="en-US" dirty="0" smtClean="0">
              <a:solidFill>
                <a:srgbClr val="000000"/>
              </a:solidFill>
            </a:endParaRPr>
          </a:p>
          <a:p>
            <a:pPr lvl="4" fontAlgn="auto">
              <a:spcAft>
                <a:spcPts val="0"/>
              </a:spcAft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A </a:t>
            </a:r>
            <a:r>
              <a:rPr lang="en-US" altLang="en-US" dirty="0" smtClean="0">
                <a:solidFill>
                  <a:srgbClr val="0000FF"/>
                </a:solidFill>
              </a:rPr>
              <a:t>procedure</a:t>
            </a:r>
            <a:r>
              <a:rPr lang="en-US" altLang="en-US" dirty="0" smtClean="0">
                <a:solidFill>
                  <a:srgbClr val="000000"/>
                </a:solidFill>
              </a:rPr>
              <a:t> for solving a problem in terms of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the </a:t>
            </a:r>
            <a:r>
              <a:rPr lang="en-US" altLang="en-US" dirty="0" smtClean="0">
                <a:solidFill>
                  <a:srgbClr val="0000FF"/>
                </a:solidFill>
              </a:rPr>
              <a:t>actions</a:t>
            </a:r>
            <a:r>
              <a:rPr lang="en-US" altLang="en-US" dirty="0" smtClean="0">
                <a:solidFill>
                  <a:srgbClr val="000000"/>
                </a:solidFill>
              </a:rPr>
              <a:t> to be executed, and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the </a:t>
            </a:r>
            <a:r>
              <a:rPr lang="en-US" altLang="en-US" dirty="0" smtClean="0">
                <a:solidFill>
                  <a:srgbClr val="0000FF"/>
                </a:solidFill>
              </a:rPr>
              <a:t>order</a:t>
            </a:r>
            <a:r>
              <a:rPr lang="en-US" altLang="en-US" dirty="0" smtClean="0">
                <a:solidFill>
                  <a:srgbClr val="000000"/>
                </a:solidFill>
              </a:rPr>
              <a:t> in which these actions are to be executed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tr-TR" altLang="en-US" dirty="0" smtClean="0">
                <a:solidFill>
                  <a:srgbClr val="000000"/>
                </a:solidFill>
              </a:rPr>
              <a:t>    </a:t>
            </a:r>
            <a:r>
              <a:rPr lang="en-US" altLang="en-US" dirty="0" smtClean="0">
                <a:solidFill>
                  <a:srgbClr val="000000"/>
                </a:solidFill>
              </a:rPr>
              <a:t>is called an </a:t>
            </a:r>
            <a:r>
              <a:rPr lang="en-US" altLang="en-US" dirty="0" smtClean="0">
                <a:solidFill>
                  <a:srgbClr val="0000FF"/>
                </a:solidFill>
              </a:rPr>
              <a:t>algorithm</a:t>
            </a:r>
            <a:r>
              <a:rPr lang="en-US" altLang="en-US" dirty="0" smtClean="0">
                <a:solidFill>
                  <a:srgbClr val="000000"/>
                </a:solidFill>
              </a:rPr>
              <a:t>.</a:t>
            </a:r>
          </a:p>
          <a:p>
            <a:pPr lvl="4" fontAlgn="auto">
              <a:spcAft>
                <a:spcPts val="0"/>
              </a:spcAft>
              <a:defRPr/>
            </a:pPr>
            <a:endParaRPr lang="tr-TR" alt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Correctly specifying the order in which the actions are to be executed is important.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7177B-E4D2-4C60-B0B9-1D8BC384CFEC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7035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Algorithms (Cont.)</a:t>
            </a:r>
          </a:p>
        </p:txBody>
      </p:sp>
      <p:sp>
        <p:nvSpPr>
          <p:cNvPr id="112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000000"/>
                </a:solidFill>
              </a:rPr>
              <a:t>Consider the “rise-and-shine algorithm” followed by one junior executive for getting out of bed and going to work: 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</a:rPr>
              <a:t>(1) Get out of bed, 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</a:rPr>
              <a:t>(2) take off pajamas, 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</a:rPr>
              <a:t>(3) take a shower, 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</a:rPr>
              <a:t>(4) get dressed, 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</a:rPr>
              <a:t>(5) eat breakfast, 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</a:rPr>
              <a:t>(6) carpool to work.</a:t>
            </a:r>
          </a:p>
          <a:p>
            <a:pPr lvl="4"/>
            <a:endParaRPr lang="tr-TR" altLang="en-US" dirty="0" smtClean="0">
              <a:solidFill>
                <a:srgbClr val="000000"/>
              </a:solidFill>
            </a:endParaRPr>
          </a:p>
          <a:p>
            <a:r>
              <a:rPr lang="en-US" altLang="en-US" dirty="0" smtClean="0">
                <a:solidFill>
                  <a:srgbClr val="000000"/>
                </a:solidFill>
              </a:rPr>
              <a:t>This routine gets the executive to work well prepared to make critical decisions.</a:t>
            </a:r>
          </a:p>
          <a:p>
            <a:pPr lvl="4"/>
            <a:endParaRPr lang="tr-TR" altLang="en-US" dirty="0" smtClean="0">
              <a:solidFill>
                <a:srgbClr val="000000"/>
              </a:solidFill>
            </a:endParaRPr>
          </a:p>
          <a:p>
            <a:r>
              <a:rPr lang="en-US" altLang="en-US" dirty="0" smtClean="0">
                <a:solidFill>
                  <a:srgbClr val="000000"/>
                </a:solidFill>
              </a:rPr>
              <a:t>Specifying </a:t>
            </a:r>
            <a:r>
              <a:rPr lang="en-US" altLang="en-US" dirty="0">
                <a:solidFill>
                  <a:srgbClr val="000000"/>
                </a:solidFill>
              </a:rPr>
              <a:t>the order in which statements are to be executed in a computer program is called </a:t>
            </a:r>
            <a:r>
              <a:rPr lang="en-US" altLang="en-US" dirty="0">
                <a:solidFill>
                  <a:srgbClr val="0000FF"/>
                </a:solidFill>
              </a:rPr>
              <a:t>program control</a:t>
            </a:r>
            <a:r>
              <a:rPr lang="en-US" altLang="en-US" dirty="0">
                <a:solidFill>
                  <a:srgbClr val="000000"/>
                </a:solidFill>
              </a:rPr>
              <a:t>.</a:t>
            </a:r>
          </a:p>
          <a:p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7177B-E4D2-4C60-B0B9-1D8BC384CFEC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296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 smtClean="0">
                <a:ea typeface="ＭＳ Ｐゴシック" panose="020B0600070205080204" pitchFamily="34" charset="-128"/>
              </a:rPr>
              <a:t>Pseudocode</a:t>
            </a:r>
            <a:endParaRPr lang="en-US" altLang="en-US" sz="4000" dirty="0">
              <a:ea typeface="ＭＳ Ｐゴシック" panose="020B0600070205080204" pitchFamily="34" charset="-128"/>
            </a:endParaRPr>
          </a:p>
        </p:txBody>
      </p:sp>
      <p:sp>
        <p:nvSpPr>
          <p:cNvPr id="17411" name="Tex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sz="2500" dirty="0">
                <a:solidFill>
                  <a:srgbClr val="0000FF"/>
                </a:solidFill>
              </a:rPr>
              <a:t>Pseudocode</a:t>
            </a:r>
            <a:r>
              <a:rPr lang="en-US" altLang="en-US" sz="2500" dirty="0">
                <a:solidFill>
                  <a:srgbClr val="000000"/>
                </a:solidFill>
              </a:rPr>
              <a:t> is an artificial and informal language that helps you develop algorithms</a:t>
            </a:r>
            <a:r>
              <a:rPr lang="en-US" altLang="en-US" sz="2500" dirty="0" smtClean="0">
                <a:solidFill>
                  <a:srgbClr val="000000"/>
                </a:solidFill>
              </a:rPr>
              <a:t>.</a:t>
            </a:r>
            <a:endParaRPr lang="tr-TR" altLang="en-US" sz="2500" dirty="0" smtClean="0">
              <a:solidFill>
                <a:srgbClr val="000000"/>
              </a:solidFill>
            </a:endParaRPr>
          </a:p>
          <a:p>
            <a:pPr lvl="4" fontAlgn="auto">
              <a:spcAft>
                <a:spcPts val="0"/>
              </a:spcAft>
              <a:defRPr/>
            </a:pPr>
            <a:endParaRPr lang="en-US" altLang="en-US" sz="1700" dirty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>
                <a:solidFill>
                  <a:srgbClr val="000000"/>
                </a:solidFill>
              </a:rPr>
              <a:t>Pseudocode is similar to everyday English; it’s convenient and user friendly although it’s not an actual computer programming language</a:t>
            </a:r>
            <a:r>
              <a:rPr lang="en-US" altLang="en-US" sz="2500" dirty="0" smtClean="0">
                <a:solidFill>
                  <a:srgbClr val="000000"/>
                </a:solidFill>
              </a:rPr>
              <a:t>.</a:t>
            </a:r>
            <a:endParaRPr lang="tr-TR" altLang="en-US" sz="2500" dirty="0" smtClean="0">
              <a:solidFill>
                <a:srgbClr val="000000"/>
              </a:solidFill>
            </a:endParaRPr>
          </a:p>
          <a:p>
            <a:pPr lvl="4" fontAlgn="auto">
              <a:spcAft>
                <a:spcPts val="0"/>
              </a:spcAft>
              <a:defRPr/>
            </a:pPr>
            <a:endParaRPr lang="en-US" altLang="en-US" sz="1700" dirty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>
                <a:solidFill>
                  <a:srgbClr val="000000"/>
                </a:solidFill>
              </a:rPr>
              <a:t>Pseudocode programs are </a:t>
            </a:r>
            <a:r>
              <a:rPr lang="en-US" altLang="en-US" sz="2500" i="1" dirty="0">
                <a:solidFill>
                  <a:srgbClr val="000000"/>
                </a:solidFill>
              </a:rPr>
              <a:t>not</a:t>
            </a:r>
            <a:r>
              <a:rPr lang="en-US" altLang="en-US" sz="2500" dirty="0">
                <a:solidFill>
                  <a:srgbClr val="000000"/>
                </a:solidFill>
              </a:rPr>
              <a:t> executed on computers</a:t>
            </a:r>
            <a:r>
              <a:rPr lang="en-US" altLang="en-US" sz="2500" dirty="0" smtClean="0">
                <a:solidFill>
                  <a:srgbClr val="000000"/>
                </a:solidFill>
              </a:rPr>
              <a:t>.</a:t>
            </a:r>
            <a:endParaRPr lang="tr-TR" altLang="en-US" sz="2500" dirty="0" smtClean="0">
              <a:solidFill>
                <a:srgbClr val="000000"/>
              </a:solidFill>
            </a:endParaRPr>
          </a:p>
          <a:p>
            <a:pPr lvl="4" fontAlgn="auto">
              <a:spcAft>
                <a:spcPts val="0"/>
              </a:spcAft>
              <a:defRPr/>
            </a:pPr>
            <a:endParaRPr lang="en-US" altLang="en-US" sz="1700" dirty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>
                <a:solidFill>
                  <a:srgbClr val="000000"/>
                </a:solidFill>
              </a:rPr>
              <a:t>Rather, they merely help you “think out” a program before attempting to write it in a programming language like C</a:t>
            </a:r>
            <a:r>
              <a:rPr lang="en-US" altLang="en-US" sz="2500" dirty="0" smtClean="0">
                <a:solidFill>
                  <a:srgbClr val="000000"/>
                </a:solidFill>
              </a:rPr>
              <a:t>.</a:t>
            </a:r>
            <a:endParaRPr lang="en-US" altLang="en-US" sz="2500" dirty="0">
              <a:solidFill>
                <a:srgbClr val="00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7177B-E4D2-4C60-B0B9-1D8BC384CFEC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06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Pseudocode (Cont.)</a:t>
            </a:r>
          </a:p>
        </p:txBody>
      </p:sp>
      <p:sp>
        <p:nvSpPr>
          <p:cNvPr id="18435" name="Tex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A carefully prepared pseudocode program may be converted easily to a corresponding C program.</a:t>
            </a:r>
            <a:endParaRPr lang="tr-TR" altLang="en-US" dirty="0" smtClean="0">
              <a:solidFill>
                <a:srgbClr val="000000"/>
              </a:solidFill>
            </a:endParaRPr>
          </a:p>
          <a:p>
            <a:pPr lvl="4" fontAlgn="auto">
              <a:spcAft>
                <a:spcPts val="0"/>
              </a:spcAft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Pseudocode consists only of action and decision statements—those that are executed when the program has been converted from pseudocode to C and is run in C.</a:t>
            </a:r>
            <a:endParaRPr lang="tr-TR" altLang="en-US" dirty="0" smtClean="0">
              <a:solidFill>
                <a:srgbClr val="000000"/>
              </a:solidFill>
            </a:endParaRPr>
          </a:p>
          <a:p>
            <a:pPr lvl="4" fontAlgn="auto">
              <a:spcAft>
                <a:spcPts val="0"/>
              </a:spcAft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Definitions are not executable statements.</a:t>
            </a:r>
            <a:endParaRPr lang="tr-TR" altLang="en-US" dirty="0" smtClean="0">
              <a:solidFill>
                <a:srgbClr val="000000"/>
              </a:solidFill>
            </a:endParaRPr>
          </a:p>
          <a:p>
            <a:pPr lvl="4" fontAlgn="auto">
              <a:spcAft>
                <a:spcPts val="0"/>
              </a:spcAft>
              <a:defRPr/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They’re simply messages to the compiler.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7177B-E4D2-4C60-B0B9-1D8BC384CFEC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881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 flowchart is a graphical representation of an algorithm or of a portion of an algorithm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</a:p>
          <a:p>
            <a:pPr lvl="4"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Like pseudocode, flowcharts are useful for developing and representing algorithms, although pseudocode is preferred by most programmers</a:t>
            </a:r>
            <a:r>
              <a:rPr lang="en-US" altLang="en-US" dirty="0" smtClean="0">
                <a:solidFill>
                  <a:srgbClr val="000000"/>
                </a:solidFill>
              </a:rPr>
              <a:t>.</a:t>
            </a:r>
          </a:p>
          <a:p>
            <a:pPr lvl="4"/>
            <a:endParaRPr lang="en-US" dirty="0">
              <a:solidFill>
                <a:srgbClr val="000000"/>
              </a:solidFill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Flowcharts are drawn using certain special-purpose symbols such as rectangles, diamonds, rounded rectangles, and small circles; these symbols are connected by arrows called </a:t>
            </a:r>
            <a:r>
              <a:rPr lang="en-US" dirty="0" err="1">
                <a:solidFill>
                  <a:srgbClr val="0000FF"/>
                </a:solidFill>
              </a:rPr>
              <a:t>flowlines</a:t>
            </a:r>
            <a:r>
              <a:rPr lang="en-US" dirty="0">
                <a:solidFill>
                  <a:srgbClr val="000000"/>
                </a:solidFill>
              </a:rPr>
              <a:t>. </a:t>
            </a:r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7177B-E4D2-4C60-B0B9-1D8BC384CFEC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339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rgbClr val="000000"/>
                </a:solidFill>
              </a:rPr>
              <a:t>We </a:t>
            </a:r>
            <a:r>
              <a:rPr lang="en-US" altLang="en-US" dirty="0">
                <a:solidFill>
                  <a:srgbClr val="000000"/>
                </a:solidFill>
              </a:rPr>
              <a:t>use the </a:t>
            </a:r>
            <a:r>
              <a:rPr lang="en-US" altLang="en-US" dirty="0">
                <a:solidFill>
                  <a:srgbClr val="0000FF"/>
                </a:solidFill>
              </a:rPr>
              <a:t>rectangle symbol</a:t>
            </a:r>
            <a:r>
              <a:rPr lang="en-US" altLang="en-US" dirty="0">
                <a:solidFill>
                  <a:srgbClr val="000000"/>
                </a:solidFill>
              </a:rPr>
              <a:t>, also called the </a:t>
            </a:r>
            <a:r>
              <a:rPr lang="en-US" altLang="en-US" dirty="0">
                <a:solidFill>
                  <a:srgbClr val="0000FF"/>
                </a:solidFill>
              </a:rPr>
              <a:t>action symbol</a:t>
            </a:r>
            <a:r>
              <a:rPr lang="en-US" altLang="en-US" dirty="0">
                <a:solidFill>
                  <a:srgbClr val="000000"/>
                </a:solidFill>
              </a:rPr>
              <a:t>, to indicate any type of action including a calculation or an input/output operation</a:t>
            </a:r>
            <a:r>
              <a:rPr lang="en-US" altLang="en-US" dirty="0" smtClean="0">
                <a:solidFill>
                  <a:srgbClr val="000000"/>
                </a:solidFill>
              </a:rPr>
              <a:t>.</a:t>
            </a:r>
          </a:p>
          <a:p>
            <a:pPr lvl="4"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Perhaps the most important flowcharting symbol is the </a:t>
            </a:r>
            <a:r>
              <a:rPr lang="en-US" dirty="0">
                <a:solidFill>
                  <a:srgbClr val="0000FF"/>
                </a:solidFill>
              </a:rPr>
              <a:t>diamond symbol</a:t>
            </a:r>
            <a:r>
              <a:rPr lang="en-US" dirty="0">
                <a:solidFill>
                  <a:srgbClr val="000000"/>
                </a:solidFill>
              </a:rPr>
              <a:t>, also called the </a:t>
            </a:r>
            <a:r>
              <a:rPr lang="en-US" dirty="0">
                <a:solidFill>
                  <a:srgbClr val="0000FF"/>
                </a:solidFill>
              </a:rPr>
              <a:t>decision symbol,</a:t>
            </a:r>
            <a:r>
              <a:rPr lang="en-US" dirty="0">
                <a:solidFill>
                  <a:srgbClr val="000000"/>
                </a:solidFill>
              </a:rPr>
              <a:t> which indicates that a decision is to be made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</a:p>
          <a:p>
            <a:pPr lvl="4"/>
            <a:endParaRPr 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The </a:t>
            </a:r>
            <a:r>
              <a:rPr lang="en-US" altLang="en-US" dirty="0" err="1" smtClean="0">
                <a:solidFill>
                  <a:srgbClr val="0000FF"/>
                </a:solidFill>
              </a:rPr>
              <a:t>flowlines</a:t>
            </a:r>
            <a:r>
              <a:rPr lang="en-US" altLang="en-US" dirty="0" smtClean="0">
                <a:solidFill>
                  <a:srgbClr val="000000"/>
                </a:solidFill>
              </a:rPr>
              <a:t> indicate </a:t>
            </a:r>
            <a:r>
              <a:rPr lang="en-US" altLang="en-US" dirty="0">
                <a:solidFill>
                  <a:srgbClr val="000000"/>
                </a:solidFill>
              </a:rPr>
              <a:t>the order in which the actions are </a:t>
            </a:r>
            <a:r>
              <a:rPr lang="en-US" altLang="en-US" dirty="0" smtClean="0">
                <a:solidFill>
                  <a:srgbClr val="000000"/>
                </a:solidFill>
              </a:rPr>
              <a:t>performed.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7177B-E4D2-4C60-B0B9-1D8BC384CFEC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86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If statement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The "if statement" is used to break the sequential flow of execution</a:t>
            </a:r>
            <a:r>
              <a:rPr lang="en-US" altLang="tr-TR" dirty="0" smtClean="0"/>
              <a:t>.</a:t>
            </a:r>
            <a:endParaRPr lang="tr-TR" altLang="tr-TR" dirty="0"/>
          </a:p>
          <a:p>
            <a:pPr>
              <a:lnSpc>
                <a:spcPct val="90000"/>
              </a:lnSpc>
            </a:pPr>
            <a:endParaRPr lang="en-US" altLang="tr-TR" dirty="0"/>
          </a:p>
          <a:p>
            <a:pPr>
              <a:lnSpc>
                <a:spcPct val="90000"/>
              </a:lnSpc>
            </a:pPr>
            <a:r>
              <a:rPr lang="en-US" altLang="tr-TR" dirty="0"/>
              <a:t>Enforces branching in execution according to the result of an expression.</a:t>
            </a:r>
          </a:p>
          <a:p>
            <a:pPr lvl="1">
              <a:lnSpc>
                <a:spcPct val="90000"/>
              </a:lnSpc>
            </a:pPr>
            <a:r>
              <a:rPr lang="en-US" altLang="tr-TR" sz="2000" dirty="0"/>
              <a:t>There are two possible paths to take.</a:t>
            </a:r>
          </a:p>
          <a:p>
            <a:pPr lvl="1">
              <a:lnSpc>
                <a:spcPct val="90000"/>
              </a:lnSpc>
            </a:pPr>
            <a:r>
              <a:rPr lang="en-US" altLang="tr-TR" sz="2000" dirty="0"/>
              <a:t>The expression determines which path should be taken.</a:t>
            </a: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3316606" y="3126516"/>
            <a:ext cx="4195763" cy="2946402"/>
            <a:chOff x="1134" y="1995"/>
            <a:chExt cx="2643" cy="1856"/>
          </a:xfrm>
        </p:grpSpPr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2071" y="2111"/>
              <a:ext cx="773" cy="2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 dirty="0"/>
                <a:t>Read age</a:t>
              </a:r>
              <a:endParaRPr lang="en-GB" altLang="tr-TR" dirty="0"/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1808" y="3618"/>
              <a:ext cx="1300" cy="2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/>
                <a:t>Rest of the program</a:t>
              </a:r>
              <a:endParaRPr lang="en-GB" altLang="tr-TR"/>
            </a:p>
          </p:txBody>
        </p:sp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>
              <a:off x="1134" y="2904"/>
              <a:ext cx="982" cy="40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 dirty="0"/>
                <a:t>Message: "You are young"</a:t>
              </a:r>
              <a:endParaRPr lang="en-GB" altLang="tr-TR" dirty="0"/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2795" y="2904"/>
              <a:ext cx="982" cy="407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 dirty="0"/>
                <a:t>Message: "You are mature"</a:t>
              </a:r>
              <a:endParaRPr lang="en-GB" altLang="tr-TR" dirty="0"/>
            </a:p>
          </p:txBody>
        </p:sp>
        <p:sp>
          <p:nvSpPr>
            <p:cNvPr id="12" name="AutoShape 15"/>
            <p:cNvSpPr>
              <a:spLocks noChangeArrowheads="1"/>
            </p:cNvSpPr>
            <p:nvPr/>
          </p:nvSpPr>
          <p:spPr bwMode="auto">
            <a:xfrm>
              <a:off x="1962" y="2495"/>
              <a:ext cx="1004" cy="355"/>
            </a:xfrm>
            <a:prstGeom prst="diamond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tr-TR"/>
                <a:t>age&lt;=25 ?</a:t>
              </a:r>
              <a:endParaRPr lang="en-GB" altLang="tr-TR"/>
            </a:p>
          </p:txBody>
        </p:sp>
        <p:cxnSp>
          <p:nvCxnSpPr>
            <p:cNvPr id="13" name="AutoShape 16"/>
            <p:cNvCxnSpPr>
              <a:cxnSpLocks noChangeShapeType="1"/>
              <a:endCxn id="8" idx="0"/>
            </p:cNvCxnSpPr>
            <p:nvPr/>
          </p:nvCxnSpPr>
          <p:spPr bwMode="auto">
            <a:xfrm>
              <a:off x="2458" y="1995"/>
              <a:ext cx="0" cy="1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AutoShape 17"/>
            <p:cNvCxnSpPr>
              <a:cxnSpLocks noChangeShapeType="1"/>
              <a:stCxn id="8" idx="2"/>
              <a:endCxn id="12" idx="0"/>
            </p:cNvCxnSpPr>
            <p:nvPr/>
          </p:nvCxnSpPr>
          <p:spPr bwMode="auto">
            <a:xfrm>
              <a:off x="2458" y="2344"/>
              <a:ext cx="6" cy="1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18"/>
            <p:cNvCxnSpPr>
              <a:cxnSpLocks noChangeShapeType="1"/>
              <a:stCxn id="12" idx="1"/>
              <a:endCxn id="10" idx="0"/>
            </p:cNvCxnSpPr>
            <p:nvPr/>
          </p:nvCxnSpPr>
          <p:spPr bwMode="auto">
            <a:xfrm rot="10800000" flipV="1">
              <a:off x="1625" y="2673"/>
              <a:ext cx="337" cy="231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AutoShape 19"/>
            <p:cNvCxnSpPr>
              <a:cxnSpLocks noChangeShapeType="1"/>
              <a:stCxn id="12" idx="3"/>
              <a:endCxn id="11" idx="0"/>
            </p:cNvCxnSpPr>
            <p:nvPr/>
          </p:nvCxnSpPr>
          <p:spPr bwMode="auto">
            <a:xfrm>
              <a:off x="2966" y="2673"/>
              <a:ext cx="320" cy="231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20"/>
            <p:cNvCxnSpPr>
              <a:cxnSpLocks noChangeShapeType="1"/>
              <a:stCxn id="11" idx="2"/>
              <a:endCxn id="9" idx="0"/>
            </p:cNvCxnSpPr>
            <p:nvPr/>
          </p:nvCxnSpPr>
          <p:spPr bwMode="auto">
            <a:xfrm rot="5400000">
              <a:off x="2719" y="3050"/>
              <a:ext cx="307" cy="82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23"/>
            <p:cNvCxnSpPr>
              <a:cxnSpLocks noChangeShapeType="1"/>
              <a:stCxn id="10" idx="2"/>
              <a:endCxn id="9" idx="0"/>
            </p:cNvCxnSpPr>
            <p:nvPr/>
          </p:nvCxnSpPr>
          <p:spPr bwMode="auto">
            <a:xfrm rot="16200000" flipH="1">
              <a:off x="1888" y="3048"/>
              <a:ext cx="307" cy="83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 Box 24"/>
            <p:cNvSpPr txBox="1">
              <a:spLocks noChangeArrowheads="1"/>
            </p:cNvSpPr>
            <p:nvPr/>
          </p:nvSpPr>
          <p:spPr bwMode="auto">
            <a:xfrm>
              <a:off x="1698" y="2550"/>
              <a:ext cx="1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 sz="1200" b="1"/>
                <a:t>T</a:t>
              </a:r>
              <a:endParaRPr lang="en-GB" altLang="tr-TR" sz="1200" b="1"/>
            </a:p>
          </p:txBody>
        </p:sp>
        <p:sp>
          <p:nvSpPr>
            <p:cNvPr id="20" name="Text Box 25"/>
            <p:cNvSpPr txBox="1">
              <a:spLocks noChangeArrowheads="1"/>
            </p:cNvSpPr>
            <p:nvPr/>
          </p:nvSpPr>
          <p:spPr bwMode="auto">
            <a:xfrm>
              <a:off x="3066" y="2550"/>
              <a:ext cx="1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 sz="1200" b="1"/>
                <a:t>F</a:t>
              </a:r>
              <a:endParaRPr lang="en-GB" altLang="tr-TR" sz="1200" b="1"/>
            </a:p>
          </p:txBody>
        </p:sp>
      </p:grpSp>
    </p:spTree>
    <p:extLst>
      <p:ext uri="{BB962C8B-B14F-4D97-AF65-F5344CB8AC3E}">
        <p14:creationId xmlns:p14="http://schemas.microsoft.com/office/powerpoint/2010/main" val="163871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If statement</a:t>
            </a:r>
            <a:r>
              <a:rPr lang="tr-TR" altLang="tr-TR" dirty="0"/>
              <a:t> syntax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Syntax: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if (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int_expr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)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  stat_block</a:t>
            </a:r>
            <a:r>
              <a:rPr lang="en-US" b="1" baseline="-25000" dirty="0">
                <a:solidFill>
                  <a:srgbClr val="0000C8"/>
                </a:solidFill>
                <a:latin typeface="Courier New" pitchFamily="49" charset="0"/>
              </a:rPr>
              <a:t>1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8000"/>
                </a:solidFill>
                <a:latin typeface="Courier New" pitchFamily="49" charset="0"/>
              </a:rPr>
              <a:t>else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8000"/>
                </a:solidFill>
                <a:latin typeface="Courier New" pitchFamily="49" charset="0"/>
              </a:rPr>
              <a:t>   stat_block</a:t>
            </a:r>
            <a:r>
              <a:rPr lang="en-US" b="1" baseline="-25000" dirty="0">
                <a:solidFill>
                  <a:srgbClr val="008000"/>
                </a:solidFill>
                <a:latin typeface="Courier New" pitchFamily="49" charset="0"/>
              </a:rPr>
              <a:t>2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</a:t>
            </a:r>
          </a:p>
          <a:p>
            <a:pPr lvl="1" fontAlgn="auto">
              <a:spcAft>
                <a:spcPts val="0"/>
              </a:spcAft>
              <a:buNone/>
              <a:defRPr/>
            </a:pPr>
            <a:endParaRPr lang="tr-TR" sz="1200" dirty="0" smtClean="0"/>
          </a:p>
          <a:p>
            <a:pPr lvl="1" fontAlgn="auto">
              <a:spcAft>
                <a:spcPts val="0"/>
              </a:spcAft>
              <a:buNone/>
              <a:defRPr/>
            </a:pPr>
            <a:r>
              <a:rPr lang="en-US" sz="2400" dirty="0" smtClean="0"/>
              <a:t>where </a:t>
            </a:r>
            <a:r>
              <a:rPr lang="en-US" sz="2400" b="1" dirty="0" err="1">
                <a:solidFill>
                  <a:srgbClr val="0000C8"/>
                </a:solidFill>
                <a:latin typeface="Courier New" pitchFamily="49" charset="0"/>
              </a:rPr>
              <a:t>stat_block</a:t>
            </a:r>
            <a:r>
              <a:rPr lang="en-US" sz="2400" b="1" dirty="0">
                <a:solidFill>
                  <a:srgbClr val="0000C8"/>
                </a:solidFill>
                <a:latin typeface="Courier New" pitchFamily="49" charset="0"/>
              </a:rPr>
              <a:t> </a:t>
            </a:r>
            <a:r>
              <a:rPr lang="en-US" sz="2400" dirty="0"/>
              <a:t>is one of the following: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/>
              <a:t>a single statement           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stat;</a:t>
            </a:r>
            <a:endParaRPr lang="en-GB" dirty="0"/>
          </a:p>
          <a:p>
            <a:pPr lvl="4" fontAlgn="auto">
              <a:spcAft>
                <a:spcPts val="0"/>
              </a:spcAft>
              <a:defRPr/>
            </a:pPr>
            <a:endParaRPr lang="tr-TR" sz="1050" dirty="0" smtClean="0"/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the </a:t>
            </a:r>
            <a:r>
              <a:rPr lang="en-US" dirty="0"/>
              <a:t>null statement          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;</a:t>
            </a:r>
            <a:endParaRPr lang="en-GB" b="1" dirty="0">
              <a:solidFill>
                <a:srgbClr val="0000C8"/>
              </a:solidFill>
              <a:latin typeface="Courier New" pitchFamily="49" charset="0"/>
            </a:endParaRPr>
          </a:p>
          <a:p>
            <a:pPr lvl="4" fontAlgn="auto">
              <a:spcAft>
                <a:spcPts val="0"/>
              </a:spcAft>
              <a:defRPr/>
            </a:pPr>
            <a:endParaRPr lang="tr-TR" sz="1050" dirty="0" smtClean="0"/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a </a:t>
            </a:r>
            <a:r>
              <a:rPr lang="en-US" dirty="0"/>
              <a:t>group of statements enclosed in braces</a:t>
            </a:r>
          </a:p>
          <a:p>
            <a:pPr marL="4229100" lvl="3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{  stat</a:t>
            </a:r>
            <a:r>
              <a:rPr lang="en-US" b="1" baseline="-25000" dirty="0">
                <a:solidFill>
                  <a:srgbClr val="0000C8"/>
                </a:solidFill>
                <a:latin typeface="Courier New" pitchFamily="49" charset="0"/>
              </a:rPr>
              <a:t>1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;</a:t>
            </a:r>
          </a:p>
          <a:p>
            <a:pPr marL="4229100" lvl="3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  ...</a:t>
            </a:r>
            <a:endParaRPr lang="en-US" dirty="0"/>
          </a:p>
          <a:p>
            <a:pPr marL="4229100" lvl="3" indent="0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 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stat</a:t>
            </a:r>
            <a:r>
              <a:rPr lang="en-US" b="1" baseline="-25000" dirty="0" err="1">
                <a:solidFill>
                  <a:srgbClr val="0000C8"/>
                </a:solidFill>
                <a:latin typeface="Courier New" pitchFamily="49" charset="0"/>
              </a:rPr>
              <a:t>n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;</a:t>
            </a:r>
            <a:endParaRPr lang="en-US" dirty="0"/>
          </a:p>
          <a:p>
            <a:pPr marL="4229100" lvl="3" indent="0" fontAlgn="auto">
              <a:spcAft>
                <a:spcPts val="0"/>
              </a:spcAft>
              <a:buNone/>
              <a:defRPr/>
            </a:pPr>
            <a:r>
              <a:rPr lang="en-US" b="1" dirty="0" smtClean="0">
                <a:solidFill>
                  <a:srgbClr val="0000C8"/>
                </a:solidFill>
                <a:latin typeface="Courier New" pitchFamily="49" charset="0"/>
              </a:rPr>
              <a:t>}</a:t>
            </a:r>
            <a:endParaRPr lang="en-US" b="1" dirty="0">
              <a:solidFill>
                <a:srgbClr val="0000C8"/>
              </a:solidFill>
              <a:latin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33398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If statement</a:t>
            </a:r>
            <a:r>
              <a:rPr lang="tr-TR" altLang="tr-TR" dirty="0"/>
              <a:t> example I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864000" y="997528"/>
            <a:ext cx="10921600" cy="519372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stat</a:t>
            </a:r>
            <a:r>
              <a:rPr lang="en-US" b="1" baseline="-25000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if (expr)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GB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{ 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stat</a:t>
            </a:r>
            <a:r>
              <a:rPr lang="en-US" b="1" baseline="-25000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GB" b="1" dirty="0">
              <a:solidFill>
                <a:srgbClr val="0000C8"/>
              </a:solidFill>
              <a:latin typeface="Courier New" pitchFamily="49" charset="0"/>
              <a:cs typeface="Courier New" pitchFamily="49" charset="0"/>
            </a:endParaRP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GB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stat</a:t>
            </a:r>
            <a:r>
              <a:rPr lang="en-US" b="1" baseline="-25000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GB" b="1" dirty="0">
              <a:solidFill>
                <a:srgbClr val="0000C8"/>
              </a:solidFill>
              <a:latin typeface="Courier New" pitchFamily="49" charset="0"/>
              <a:cs typeface="Courier New" pitchFamily="49" charset="0"/>
            </a:endParaRP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GB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GB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GB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stat</a:t>
            </a:r>
            <a:r>
              <a:rPr lang="en-US" b="1" baseline="-25000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GB" b="1" dirty="0">
              <a:solidFill>
                <a:srgbClr val="0000C8"/>
              </a:solidFill>
              <a:latin typeface="Courier New" pitchFamily="49" charset="0"/>
              <a:cs typeface="Courier New" pitchFamily="49" charset="0"/>
            </a:endParaRP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stat</a:t>
            </a:r>
            <a:r>
              <a:rPr lang="en-US" b="1" baseline="-25000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GB" b="1" dirty="0">
              <a:solidFill>
                <a:srgbClr val="0000C8"/>
              </a:solidFill>
              <a:latin typeface="Courier New" pitchFamily="49" charset="0"/>
              <a:cs typeface="Courier New" pitchFamily="49" charset="0"/>
            </a:endParaRPr>
          </a:p>
          <a:p>
            <a:pPr fontAlgn="auto">
              <a:spcAft>
                <a:spcPts val="0"/>
              </a:spcAft>
              <a:buNone/>
              <a:defRPr/>
            </a:pPr>
            <a:endParaRPr lang="en-GB" sz="2400" b="1" dirty="0">
              <a:cs typeface="Courier New" pitchFamily="49" charset="0"/>
            </a:endParaRP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GB" sz="2400" b="1" dirty="0">
                <a:cs typeface="Courier New" pitchFamily="49" charset="0"/>
              </a:rPr>
              <a:t>Notice the indentation.</a:t>
            </a:r>
          </a:p>
        </p:txBody>
      </p: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5956665" y="1144954"/>
            <a:ext cx="4297679" cy="4340195"/>
            <a:chOff x="5033962" y="1184836"/>
            <a:chExt cx="3219450" cy="3756376"/>
          </a:xfrm>
        </p:grpSpPr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6357141" y="1368985"/>
              <a:ext cx="576264" cy="5540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/>
                <a:t>stat</a:t>
              </a:r>
              <a:r>
                <a:rPr lang="en-US" altLang="tr-TR" baseline="-25000"/>
                <a:t>0</a:t>
              </a:r>
              <a:endParaRPr lang="en-GB" altLang="tr-TR" baseline="-25000"/>
            </a:p>
          </p:txBody>
        </p:sp>
        <p:sp>
          <p:nvSpPr>
            <p:cNvPr id="8" name="AutoShape 15"/>
            <p:cNvSpPr>
              <a:spLocks noChangeArrowheads="1"/>
            </p:cNvSpPr>
            <p:nvPr/>
          </p:nvSpPr>
          <p:spPr bwMode="auto">
            <a:xfrm>
              <a:off x="5842792" y="2144735"/>
              <a:ext cx="1593850" cy="563563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tr-TR"/>
                <a:t>expr ?</a:t>
              </a:r>
              <a:endParaRPr lang="en-GB" altLang="tr-TR"/>
            </a:p>
          </p:txBody>
        </p:sp>
        <p:cxnSp>
          <p:nvCxnSpPr>
            <p:cNvPr id="9" name="AutoShape 16"/>
            <p:cNvCxnSpPr>
              <a:cxnSpLocks noChangeShapeType="1"/>
              <a:endCxn id="7" idx="0"/>
            </p:cNvCxnSpPr>
            <p:nvPr/>
          </p:nvCxnSpPr>
          <p:spPr bwMode="auto">
            <a:xfrm rot="16200000" flipH="1">
              <a:off x="6550420" y="1274133"/>
              <a:ext cx="184150" cy="55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AutoShape 17"/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 flipH="1">
              <a:off x="6639717" y="1922990"/>
              <a:ext cx="5556" cy="2217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18"/>
            <p:cNvCxnSpPr>
              <a:cxnSpLocks noChangeShapeType="1"/>
              <a:stCxn id="8" idx="1"/>
              <a:endCxn id="15" idx="0"/>
            </p:cNvCxnSpPr>
            <p:nvPr/>
          </p:nvCxnSpPr>
          <p:spPr bwMode="auto">
            <a:xfrm rot="10800000" flipV="1">
              <a:off x="5322095" y="2426516"/>
              <a:ext cx="520698" cy="242057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19"/>
            <p:cNvCxnSpPr>
              <a:cxnSpLocks noChangeShapeType="1"/>
              <a:stCxn id="8" idx="3"/>
            </p:cNvCxnSpPr>
            <p:nvPr/>
          </p:nvCxnSpPr>
          <p:spPr bwMode="auto">
            <a:xfrm>
              <a:off x="7436642" y="2427310"/>
              <a:ext cx="508000" cy="366713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5438775" y="2238375"/>
              <a:ext cx="295275" cy="184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 sz="1200" b="1"/>
                <a:t>T</a:t>
              </a:r>
              <a:endParaRPr lang="en-GB" altLang="tr-TR" sz="1200" b="1"/>
            </a:p>
          </p:txBody>
        </p:sp>
        <p:sp>
          <p:nvSpPr>
            <p:cNvPr id="14" name="Text Box 25"/>
            <p:cNvSpPr txBox="1">
              <a:spLocks noChangeArrowheads="1"/>
            </p:cNvSpPr>
            <p:nvPr/>
          </p:nvSpPr>
          <p:spPr bwMode="auto">
            <a:xfrm>
              <a:off x="7610475" y="2238375"/>
              <a:ext cx="295275" cy="184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 sz="1200" b="1"/>
                <a:t>F</a:t>
              </a:r>
              <a:endParaRPr lang="en-GB" altLang="tr-TR" sz="1200" b="1"/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5033962" y="2668573"/>
              <a:ext cx="576264" cy="5540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/>
                <a:t>stat</a:t>
              </a:r>
              <a:r>
                <a:rPr lang="en-US" altLang="tr-TR" baseline="-25000"/>
                <a:t>1</a:t>
              </a:r>
              <a:endParaRPr lang="en-GB" altLang="tr-TR" baseline="-25000"/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5034754" y="3458306"/>
              <a:ext cx="576264" cy="5540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/>
                <a:t>stat</a:t>
              </a:r>
              <a:r>
                <a:rPr lang="en-US" altLang="tr-TR" baseline="-25000"/>
                <a:t>2</a:t>
              </a:r>
              <a:endParaRPr lang="en-GB" altLang="tr-TR" baseline="-25000"/>
            </a:p>
          </p:txBody>
        </p:sp>
        <p:sp>
          <p:nvSpPr>
            <p:cNvPr id="17" name="Text Box 9"/>
            <p:cNvSpPr txBox="1">
              <a:spLocks noChangeArrowheads="1"/>
            </p:cNvSpPr>
            <p:nvPr/>
          </p:nvSpPr>
          <p:spPr bwMode="auto">
            <a:xfrm>
              <a:off x="7677148" y="2797175"/>
              <a:ext cx="576264" cy="5540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/>
                <a:t>stat</a:t>
              </a:r>
              <a:r>
                <a:rPr lang="en-US" altLang="tr-TR" baseline="-25000"/>
                <a:t>3</a:t>
              </a:r>
              <a:endParaRPr lang="en-GB" altLang="tr-TR" baseline="-25000"/>
            </a:p>
          </p:txBody>
        </p: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6351585" y="4387208"/>
              <a:ext cx="576264" cy="5540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/>
                <a:t>stat</a:t>
              </a:r>
              <a:r>
                <a:rPr lang="en-US" altLang="tr-TR" baseline="-25000"/>
                <a:t>4</a:t>
              </a:r>
              <a:endParaRPr lang="en-GB" altLang="tr-TR" baseline="-25000"/>
            </a:p>
          </p:txBody>
        </p:sp>
        <p:cxnSp>
          <p:nvCxnSpPr>
            <p:cNvPr id="19" name="Elbow Connector 18"/>
            <p:cNvCxnSpPr>
              <a:stCxn id="15" idx="2"/>
              <a:endCxn id="16" idx="0"/>
            </p:cNvCxnSpPr>
            <p:nvPr/>
          </p:nvCxnSpPr>
          <p:spPr>
            <a:xfrm rot="16200000" flipH="1">
              <a:off x="5204626" y="3340045"/>
              <a:ext cx="235728" cy="79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cxnSpLocks/>
              <a:stCxn id="17" idx="2"/>
              <a:endCxn id="18" idx="0"/>
            </p:cNvCxnSpPr>
            <p:nvPr/>
          </p:nvCxnSpPr>
          <p:spPr>
            <a:xfrm rot="5400000">
              <a:off x="6784485" y="3206412"/>
              <a:ext cx="1036029" cy="1325563"/>
            </a:xfrm>
            <a:prstGeom prst="bentConnector3">
              <a:avLst>
                <a:gd name="adj1" fmla="val 82237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Elbow Connector 20"/>
            <p:cNvCxnSpPr>
              <a:stCxn id="16" idx="2"/>
              <a:endCxn id="18" idx="0"/>
            </p:cNvCxnSpPr>
            <p:nvPr/>
          </p:nvCxnSpPr>
          <p:spPr>
            <a:xfrm rot="16200000" flipH="1">
              <a:off x="5793853" y="3541344"/>
              <a:ext cx="374897" cy="131683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32679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If statement</a:t>
            </a:r>
            <a:r>
              <a:rPr lang="tr-TR" altLang="tr-TR" dirty="0"/>
              <a:t> example II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Read a number and state whether it is odd or even.</a:t>
            </a:r>
          </a:p>
          <a:p>
            <a:pPr lvl="2" fontAlgn="auto">
              <a:lnSpc>
                <a:spcPct val="130000"/>
              </a:lnSpc>
              <a:spcBef>
                <a:spcPct val="80000"/>
              </a:spcBef>
              <a:spcAft>
                <a:spcPct val="80000"/>
              </a:spcAft>
              <a:buFontTx/>
              <a:buNone/>
              <a:defRPr/>
            </a:pP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num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lvl="2" fontAlgn="auto">
              <a:lnSpc>
                <a:spcPct val="130000"/>
              </a:lnSpc>
              <a:spcAft>
                <a:spcPts val="0"/>
              </a:spcAft>
              <a:buNone/>
              <a:defRPr/>
            </a:pP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scanf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("%d", &amp;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num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lvl="2" fontAlgn="auto">
              <a:lnSpc>
                <a:spcPct val="130000"/>
              </a:lnSpc>
              <a:spcAft>
                <a:spcPts val="0"/>
              </a:spcAft>
              <a:buNone/>
              <a:defRPr/>
            </a:pP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("%d is an ",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num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lvl="2" fontAlgn="auto">
              <a:lnSpc>
                <a:spcPct val="130000"/>
              </a:lnSpc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if (</a:t>
            </a:r>
            <a:r>
              <a:rPr lang="en-US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num%2</a:t>
            </a:r>
            <a:r>
              <a:rPr lang="tr-TR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!=</a:t>
            </a:r>
            <a:r>
              <a:rPr lang="tr-TR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0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2" fontAlgn="auto">
              <a:lnSpc>
                <a:spcPct val="130000"/>
              </a:lnSpc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("odd ");</a:t>
            </a:r>
          </a:p>
          <a:p>
            <a:pPr lvl="2" fontAlgn="auto">
              <a:lnSpc>
                <a:spcPct val="130000"/>
              </a:lnSpc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else</a:t>
            </a:r>
          </a:p>
          <a:p>
            <a:pPr lvl="2" fontAlgn="auto">
              <a:lnSpc>
                <a:spcPct val="130000"/>
              </a:lnSpc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("even ");</a:t>
            </a:r>
          </a:p>
          <a:p>
            <a:pPr lvl="2" fontAlgn="auto">
              <a:lnSpc>
                <a:spcPct val="130000"/>
              </a:lnSpc>
              <a:spcAft>
                <a:spcPts val="0"/>
              </a:spcAft>
              <a:buNone/>
              <a:defRPr/>
            </a:pP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("number.\n");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7118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If statement</a:t>
            </a:r>
            <a:r>
              <a:rPr lang="tr-TR" altLang="tr-TR" dirty="0"/>
              <a:t> example III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000" dirty="0"/>
              <a:t>Read one character as input; check if it is a digit; if so, convert it to an integer and display </a:t>
            </a:r>
            <a:r>
              <a:rPr lang="en-US" sz="3000" dirty="0" smtClean="0"/>
              <a:t>the number that is two times the input number; o</a:t>
            </a:r>
            <a:r>
              <a:rPr lang="tr-TR" sz="3000" dirty="0" err="1" smtClean="0"/>
              <a:t>therwise</a:t>
            </a:r>
            <a:r>
              <a:rPr lang="en-US" sz="3000" dirty="0" smtClean="0"/>
              <a:t> </a:t>
            </a:r>
            <a:r>
              <a:rPr lang="en-US" sz="3000" dirty="0"/>
              <a:t>display an error message.</a:t>
            </a:r>
          </a:p>
          <a:p>
            <a:pPr lvl="2" fontAlgn="auto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Tx/>
              <a:buNone/>
              <a:defRPr/>
            </a:pP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char </a:t>
            </a:r>
            <a:r>
              <a:rPr lang="en-US" sz="22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ch</a:t>
            </a: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;   </a:t>
            </a:r>
            <a:r>
              <a:rPr lang="en-US" sz="22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2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num</a:t>
            </a: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lvl="2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scanf</a:t>
            </a: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("%c", &amp;</a:t>
            </a:r>
            <a:r>
              <a:rPr lang="en-US" sz="22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ch</a:t>
            </a: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lvl="2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if 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((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  <a:sym typeface="Symbol" panose="05050102010706020507" pitchFamily="18" charset="2"/>
              </a:rPr>
              <a:t>'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0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  <a:sym typeface="Symbol" panose="05050102010706020507" pitchFamily="18" charset="2"/>
              </a:rPr>
              <a:t>' 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&lt;=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200" dirty="0" err="1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ch</a:t>
            </a: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) &amp;&amp; (</a:t>
            </a:r>
            <a:r>
              <a:rPr lang="en-US" sz="2200" dirty="0" err="1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ch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&lt;=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  <a:sym typeface="Symbol" panose="05050102010706020507" pitchFamily="18" charset="2"/>
              </a:rPr>
              <a:t>'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9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  <a:sym typeface="Symbol" panose="05050102010706020507" pitchFamily="18" charset="2"/>
              </a:rPr>
              <a:t>'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))</a:t>
            </a:r>
            <a:endParaRPr lang="en-US" sz="2200" dirty="0">
              <a:solidFill>
                <a:srgbClr val="0000C8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2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{  </a:t>
            </a:r>
            <a:r>
              <a:rPr lang="en-US" sz="2200" dirty="0" err="1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num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=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200" dirty="0" err="1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ch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-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  <a:sym typeface="Symbol" panose="05050102010706020507" pitchFamily="18" charset="2"/>
              </a:rPr>
              <a:t>'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0</a:t>
            </a:r>
            <a:r>
              <a:rPr lang="tr-TR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  <a:sym typeface="Symbol" panose="05050102010706020507" pitchFamily="18" charset="2"/>
              </a:rPr>
              <a:t>'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;</a:t>
            </a:r>
            <a:endParaRPr lang="en-US" sz="2200" dirty="0">
              <a:solidFill>
                <a:srgbClr val="0000C8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2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22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</a:t>
            </a:r>
            <a:r>
              <a:rPr lang="en-US" altLang="en-US" sz="2200" dirty="0" smtClean="0">
                <a:solidFill>
                  <a:srgbClr val="0000C8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Two </a:t>
            </a:r>
            <a:r>
              <a:rPr lang="en-US" altLang="en-US" sz="2200" dirty="0">
                <a:solidFill>
                  <a:srgbClr val="0000C8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times the input is</a:t>
            </a:r>
            <a:r>
              <a:rPr lang="en-US" sz="2200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%d \n", 2*</a:t>
            </a:r>
            <a:r>
              <a:rPr lang="en-US" sz="22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num</a:t>
            </a: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lvl="2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pPr lvl="2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else</a:t>
            </a:r>
          </a:p>
          <a:p>
            <a:pPr lvl="2" fontAlgn="auto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22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22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("Input is not a digit! \n");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9326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Else-if statement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800" y="997528"/>
            <a:ext cx="11144800" cy="5416335"/>
          </a:xfrm>
        </p:spPr>
        <p:txBody>
          <a:bodyPr/>
          <a:lstStyle/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if (age&lt;=1)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8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("infant");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else if (age&lt;=3)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8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("toddler");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else if (age&lt;=10)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8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("child");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else if (age&lt;=18)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8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("adolescent");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else if (age&lt;=25)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8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("young");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else if (age&lt;=39)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8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("adult");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else if (age&lt;=65)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8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("middle-aged");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else</a:t>
            </a:r>
          </a:p>
          <a:p>
            <a:pPr fontAlgn="auto">
              <a:spcAft>
                <a:spcPts val="0"/>
              </a:spcAft>
              <a:buNone/>
              <a:defRPr/>
            </a:pP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1800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sz="1800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("elderly");</a:t>
            </a:r>
          </a:p>
          <a:p>
            <a:endParaRPr lang="tr-TR" sz="18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82792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Ternary operator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Ternary operator is similar to the "if" statement. But it is an operator, not a statement</a:t>
            </a:r>
            <a:r>
              <a:rPr lang="en-US" altLang="tr-TR" dirty="0" smtClean="0"/>
              <a:t>.</a:t>
            </a:r>
            <a:endParaRPr lang="tr-TR" altLang="tr-TR" dirty="0" smtClean="0"/>
          </a:p>
          <a:p>
            <a:pPr lvl="4"/>
            <a:endParaRPr lang="en-US" altLang="tr-TR" dirty="0"/>
          </a:p>
          <a:p>
            <a:r>
              <a:rPr lang="en-US" altLang="tr-TR" sz="2800" dirty="0"/>
              <a:t>Syntax:</a:t>
            </a:r>
          </a:p>
          <a:p>
            <a:pPr lvl="2">
              <a:buFontTx/>
              <a:buNone/>
            </a:pP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int_expr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 ? value</a:t>
            </a:r>
            <a:r>
              <a:rPr lang="en-US" altLang="tr-TR" b="1" baseline="-25000" dirty="0">
                <a:solidFill>
                  <a:srgbClr val="0000C8"/>
                </a:solidFill>
                <a:latin typeface="Courier New" panose="02070309020205020404" pitchFamily="49" charset="0"/>
              </a:rPr>
              <a:t>1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 : value</a:t>
            </a:r>
            <a:r>
              <a:rPr lang="en-US" altLang="tr-TR" b="1" baseline="-25000" dirty="0">
                <a:solidFill>
                  <a:srgbClr val="0000C8"/>
                </a:solidFill>
                <a:latin typeface="Courier New" panose="02070309020205020404" pitchFamily="49" charset="0"/>
              </a:rPr>
              <a:t>2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 </a:t>
            </a:r>
            <a:endParaRPr lang="en-US" altLang="tr-TR" dirty="0"/>
          </a:p>
          <a:p>
            <a:pPr lvl="4"/>
            <a:endParaRPr lang="tr-TR" altLang="tr-TR" dirty="0" smtClean="0"/>
          </a:p>
          <a:p>
            <a:r>
              <a:rPr lang="en-US" altLang="tr-TR" dirty="0" err="1" smtClean="0"/>
              <a:t>Eg</a:t>
            </a:r>
            <a:r>
              <a:rPr lang="en-US" altLang="tr-TR" dirty="0"/>
              <a:t>:</a:t>
            </a:r>
          </a:p>
          <a:p>
            <a:pPr lvl="1">
              <a:buFontTx/>
              <a:buNone/>
            </a:pP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(b&gt;c) ? b : c;</a:t>
            </a:r>
          </a:p>
          <a:p>
            <a:pPr lvl="1">
              <a:buFontTx/>
              <a:buNone/>
            </a:pP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 = (n!=0) ? m/n : 0;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01922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Switch statement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If you have multiple cases depending on different values of the same integer expression, switch is easier to use</a:t>
            </a:r>
            <a:r>
              <a:rPr lang="en-US" dirty="0" smtClean="0"/>
              <a:t>.</a:t>
            </a:r>
            <a:endParaRPr lang="tr-TR" dirty="0" smtClean="0"/>
          </a:p>
          <a:p>
            <a:pPr lvl="4" fontAlgn="auto">
              <a:spcAft>
                <a:spcPts val="0"/>
              </a:spcAft>
              <a:defRPr/>
            </a:pPr>
            <a:endParaRPr lang="en-US" dirty="0"/>
          </a:p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Syntax: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switch (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int_expr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)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{  case constant_int_value</a:t>
            </a:r>
            <a:r>
              <a:rPr lang="en-US" b="1" baseline="-25000" dirty="0">
                <a:solidFill>
                  <a:srgbClr val="0000C8"/>
                </a:solidFill>
                <a:latin typeface="Courier New" pitchFamily="49" charset="0"/>
              </a:rPr>
              <a:t>1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: stat(s);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  case constant_int_value</a:t>
            </a:r>
            <a:r>
              <a:rPr lang="en-US" b="1" baseline="-25000" dirty="0">
                <a:solidFill>
                  <a:srgbClr val="0000C8"/>
                </a:solidFill>
                <a:latin typeface="Courier New" pitchFamily="49" charset="0"/>
              </a:rPr>
              <a:t>2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: stat(s);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  ...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FF00"/>
                </a:solidFill>
                <a:latin typeface="Courier New" pitchFamily="49" charset="0"/>
              </a:rPr>
              <a:t>   </a:t>
            </a:r>
            <a:r>
              <a:rPr lang="en-US" b="1" dirty="0">
                <a:solidFill>
                  <a:srgbClr val="008000"/>
                </a:solidFill>
                <a:latin typeface="Courier New" pitchFamily="49" charset="0"/>
              </a:rPr>
              <a:t>default: stat(s);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}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You </a:t>
            </a:r>
            <a:r>
              <a:rPr lang="en-US" dirty="0"/>
              <a:t>may have zero or more statements in each case.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57691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Break statement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Switch statement actually gathers many statements of several cases.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The </a:t>
            </a:r>
            <a:r>
              <a:rPr lang="en-US" dirty="0"/>
              <a:t>case labels denote the specific statement from which the execution of this group of statements begins.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All </a:t>
            </a:r>
            <a:r>
              <a:rPr lang="en-US" dirty="0"/>
              <a:t>statements till the end of the group are executed sequentially</a:t>
            </a:r>
            <a:r>
              <a:rPr lang="en-US" dirty="0" smtClean="0"/>
              <a:t>.</a:t>
            </a:r>
          </a:p>
          <a:p>
            <a:pPr lvl="1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endParaRPr lang="en-US" dirty="0"/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To separate the cases,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dirty="0"/>
              <a:t> statement is used.</a:t>
            </a:r>
          </a:p>
          <a:p>
            <a:pPr lvl="4" fontAlgn="auto">
              <a:spcAft>
                <a:spcPts val="0"/>
              </a:spcAft>
              <a:defRPr/>
            </a:pPr>
            <a:endParaRPr lang="tr-TR" b="1" dirty="0" smtClean="0">
              <a:solidFill>
                <a:srgbClr val="0000C8"/>
              </a:solidFill>
              <a:latin typeface="Courier New" pitchFamily="49" charset="0"/>
              <a:cs typeface="Courier New" pitchFamily="49" charset="0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8"/>
                </a:solidFill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dirty="0" smtClean="0"/>
              <a:t> </a:t>
            </a:r>
            <a:r>
              <a:rPr lang="en-US" dirty="0"/>
              <a:t>breaks the sequential execution of the statements and immediately jumps to the end of the switch statement.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97936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Switch </a:t>
            </a:r>
            <a:r>
              <a:rPr lang="tr-TR" altLang="tr-TR" dirty="0"/>
              <a:t>s</a:t>
            </a:r>
            <a:r>
              <a:rPr lang="en-US" altLang="tr-TR" dirty="0" err="1"/>
              <a:t>tatement</a:t>
            </a:r>
            <a:r>
              <a:rPr lang="tr-TR" altLang="tr-TR" dirty="0"/>
              <a:t> example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Define the days of the week as an enumerated type and display them as strings.</a:t>
            </a:r>
          </a:p>
          <a:p>
            <a:pPr lvl="2" fontAlgn="auto">
              <a:spcAft>
                <a:spcPts val="0"/>
              </a:spcAft>
              <a:buNone/>
              <a:defRPr/>
            </a:pPr>
            <a:endParaRPr lang="tr-TR" sz="1050" dirty="0" smtClean="0">
              <a:solidFill>
                <a:srgbClr val="0000C8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 err="1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enum</a:t>
            </a:r>
            <a:r>
              <a:rPr lang="en-US" dirty="0" smtClean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day_type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{MON=1,TUE,WED,THU,FRI,SAT,SUN} day;</a:t>
            </a:r>
          </a:p>
          <a:p>
            <a:pPr lvl="2" fontAlgn="auto">
              <a:spcAft>
                <a:spcPts val="0"/>
              </a:spcAft>
              <a:buNone/>
              <a:defRPr/>
            </a:pPr>
            <a:endParaRPr lang="en-US" sz="1600" dirty="0">
              <a:solidFill>
                <a:srgbClr val="0000C8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scanf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("%d", &amp;day);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switch (day)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{  case SUN: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("Sunday\n"); break;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case WED: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("Wednesday\n"); break;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case TUE: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("Tuesday\n"); break;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case THU: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("Thursday\n"); break;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case FRI: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("Friday\n"); break;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case SAT: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("Saturday\n"); break;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case MON: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("Monday\n"); break;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   default:  </a:t>
            </a:r>
            <a:r>
              <a:rPr lang="en-US" dirty="0" err="1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printf</a:t>
            </a: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("Incorrect day\n"); break;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dirty="0">
                <a:solidFill>
                  <a:srgbClr val="0000C8"/>
                </a:solidFill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28948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1268</Words>
  <Application>Microsoft Office PowerPoint</Application>
  <PresentationFormat>Widescreen</PresentationFormat>
  <Paragraphs>226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ＭＳ Ｐゴシック</vt:lpstr>
      <vt:lpstr>Arial</vt:lpstr>
      <vt:lpstr>Calibri</vt:lpstr>
      <vt:lpstr>Consolas</vt:lpstr>
      <vt:lpstr>Courier New</vt:lpstr>
      <vt:lpstr>Garamond</vt:lpstr>
      <vt:lpstr>Symbol</vt:lpstr>
      <vt:lpstr>Tahoma</vt:lpstr>
      <vt:lpstr>Wingdings</vt:lpstr>
      <vt:lpstr>Edge</vt:lpstr>
      <vt:lpstr>1_Edge</vt:lpstr>
      <vt:lpstr>CSE1142 – Selective Structures in C</vt:lpstr>
      <vt:lpstr>Agenda</vt:lpstr>
      <vt:lpstr> Introduction</vt:lpstr>
      <vt:lpstr>Algorithms</vt:lpstr>
      <vt:lpstr>Algorithms (Cont.)</vt:lpstr>
      <vt:lpstr>Pseudocode</vt:lpstr>
      <vt:lpstr>Pseudocode (Cont.)</vt:lpstr>
      <vt:lpstr>Flowcharts</vt:lpstr>
      <vt:lpstr>Flowcharts</vt:lpstr>
      <vt:lpstr>If statement</vt:lpstr>
      <vt:lpstr>If statement syntax</vt:lpstr>
      <vt:lpstr>If statement example I</vt:lpstr>
      <vt:lpstr>If statement example II</vt:lpstr>
      <vt:lpstr>If statement example III</vt:lpstr>
      <vt:lpstr>Else-if statement</vt:lpstr>
      <vt:lpstr>Ternary operator</vt:lpstr>
      <vt:lpstr>Switch statement</vt:lpstr>
      <vt:lpstr>Break statement</vt:lpstr>
      <vt:lpstr>Switch statement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Selective Structures</dc:title>
  <dc:creator/>
  <cp:lastModifiedBy/>
  <cp:revision>71</cp:revision>
  <dcterms:created xsi:type="dcterms:W3CDTF">2017-11-02T19:26:23Z</dcterms:created>
  <dcterms:modified xsi:type="dcterms:W3CDTF">2020-04-27T14:33:46Z</dcterms:modified>
  <dc:description/>
</cp:coreProperties>
</file>