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  <p:sldMasterId id="2147483699" r:id="rId3"/>
  </p:sldMasterIdLst>
  <p:notesMasterIdLst>
    <p:notesMasterId r:id="rId30"/>
  </p:notesMasterIdLst>
  <p:sldIdLst>
    <p:sldId id="469" r:id="rId4"/>
    <p:sldId id="259" r:id="rId5"/>
    <p:sldId id="454" r:id="rId6"/>
    <p:sldId id="455" r:id="rId7"/>
    <p:sldId id="456" r:id="rId8"/>
    <p:sldId id="457" r:id="rId9"/>
    <p:sldId id="369" r:id="rId10"/>
    <p:sldId id="372" r:id="rId11"/>
    <p:sldId id="471" r:id="rId12"/>
    <p:sldId id="458" r:id="rId13"/>
    <p:sldId id="459" r:id="rId14"/>
    <p:sldId id="473" r:id="rId15"/>
    <p:sldId id="460" r:id="rId16"/>
    <p:sldId id="470" r:id="rId17"/>
    <p:sldId id="475" r:id="rId18"/>
    <p:sldId id="462" r:id="rId19"/>
    <p:sldId id="477" r:id="rId20"/>
    <p:sldId id="463" r:id="rId21"/>
    <p:sldId id="464" r:id="rId22"/>
    <p:sldId id="465" r:id="rId23"/>
    <p:sldId id="472" r:id="rId24"/>
    <p:sldId id="461" r:id="rId25"/>
    <p:sldId id="476" r:id="rId26"/>
    <p:sldId id="466" r:id="rId27"/>
    <p:sldId id="467" r:id="rId28"/>
    <p:sldId id="474" r:id="rId2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8" y="16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06.05.2020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90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3509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2886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C41_05_constant_data.c.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899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en-US" dirty="0" smtClean="0"/>
              <a:t>C41_10_constant_address</a:t>
            </a:r>
            <a:r>
              <a:rPr lang="tr-TR" dirty="0" smtClean="0"/>
              <a:t>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0902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C41_15_constant_address_data.c.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20956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65900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662544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43395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182162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340585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423845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490829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69472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904843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899001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267415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639647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163841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4006794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263542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8886162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375492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091427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6900480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5122944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6380720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9276405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2264267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8841670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49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27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en-US" altLang="tr-TR" dirty="0">
                <a:ea typeface="ＭＳ Ｐゴシック" panose="020B0600070205080204" pitchFamily="34" charset="-128"/>
              </a:rPr>
              <a:t>Pointers in </a:t>
            </a:r>
            <a:r>
              <a:rPr lang="en-US" dirty="0"/>
              <a:t>C</a:t>
            </a:r>
          </a:p>
        </p:txBody>
      </p:sp>
      <p:sp>
        <p:nvSpPr>
          <p:cNvPr id="5" name="Subtitle 4"/>
          <p:cNvSpPr>
            <a:spLocks noGrp="1"/>
          </p:cNvSpPr>
          <p:nvPr/>
        </p:nvSpPr>
        <p:spPr bwMode="auto">
          <a:xfrm>
            <a:off x="863600" y="5358764"/>
            <a:ext cx="10464800" cy="106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/>
              <a:t>Adapted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smtClean="0"/>
              <a:t>Dr. Sanem </a:t>
            </a:r>
            <a:r>
              <a:rPr lang="tr-TR" sz="2000" dirty="0"/>
              <a:t>Arslan </a:t>
            </a:r>
            <a:r>
              <a:rPr lang="tr-TR" sz="2000" dirty="0" smtClean="0"/>
              <a:t>Yılmaz.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 smtClean="0"/>
              <a:t>Some</a:t>
            </a:r>
            <a:r>
              <a:rPr lang="tr-TR" sz="2000" dirty="0" smtClean="0"/>
              <a:t> </a:t>
            </a:r>
            <a:r>
              <a:rPr lang="tr-TR" sz="2000" dirty="0"/>
              <a:t>of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slides</a:t>
            </a:r>
            <a:r>
              <a:rPr lang="tr-TR" sz="2000" dirty="0"/>
              <a:t> </a:t>
            </a:r>
            <a:r>
              <a:rPr lang="tr-TR" sz="2000" dirty="0" err="1"/>
              <a:t>are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 smtClean="0"/>
              <a:t>: CMPE150 </a:t>
            </a:r>
            <a:r>
              <a:rPr lang="tr-TR" sz="2000" dirty="0"/>
              <a:t>– Boğaziçi </a:t>
            </a:r>
            <a:r>
              <a:rPr lang="tr-TR" sz="2000" dirty="0" err="1" smtClean="0"/>
              <a:t>University</a:t>
            </a:r>
            <a:r>
              <a:rPr lang="tr-TR" sz="2000" dirty="0" smtClean="0"/>
              <a:t>, </a:t>
            </a:r>
            <a:r>
              <a:rPr lang="tr-TR" sz="2000" dirty="0" err="1" smtClean="0"/>
              <a:t>Deitel</a:t>
            </a:r>
            <a:r>
              <a:rPr lang="tr-TR" sz="2000" dirty="0" smtClean="0"/>
              <a:t> </a:t>
            </a:r>
            <a:r>
              <a:rPr lang="tr-TR" sz="2000" dirty="0"/>
              <a:t>&amp; </a:t>
            </a:r>
            <a:r>
              <a:rPr lang="tr-TR" sz="2000" dirty="0" err="1" smtClean="0"/>
              <a:t>Associates</a:t>
            </a:r>
            <a:r>
              <a:rPr lang="tr-TR" sz="2000" dirty="0" smtClean="0"/>
              <a:t>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7467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tr-TR" dirty="0"/>
              <a:t>Pointer </a:t>
            </a:r>
            <a:endParaRPr lang="tr-TR" altLang="tr-TR" dirty="0"/>
          </a:p>
          <a:p>
            <a:pPr lvl="1">
              <a:lnSpc>
                <a:spcPct val="130000"/>
              </a:lnSpc>
            </a:pPr>
            <a:r>
              <a:rPr lang="tr-TR" altLang="tr-TR" dirty="0"/>
              <a:t>V</a:t>
            </a:r>
            <a:r>
              <a:rPr lang="en-US" altLang="tr-TR" dirty="0" err="1"/>
              <a:t>ariable</a:t>
            </a:r>
            <a:r>
              <a:rPr lang="en-US" altLang="tr-TR" dirty="0"/>
              <a:t> </a:t>
            </a:r>
            <a:r>
              <a:rPr lang="tr-TR" altLang="tr-TR" dirty="0"/>
              <a:t>d</a:t>
            </a:r>
            <a:r>
              <a:rPr lang="en-US" altLang="tr-TR" dirty="0" err="1"/>
              <a:t>efinitions</a:t>
            </a:r>
            <a:endParaRPr lang="tr-TR" altLang="tr-TR" dirty="0"/>
          </a:p>
          <a:p>
            <a:pPr lvl="1">
              <a:lnSpc>
                <a:spcPct val="130000"/>
              </a:lnSpc>
            </a:pPr>
            <a:r>
              <a:rPr lang="tr-TR" altLang="tr-TR" dirty="0"/>
              <a:t>I</a:t>
            </a:r>
            <a:r>
              <a:rPr lang="en-US" altLang="tr-TR" dirty="0" err="1"/>
              <a:t>nitialization</a:t>
            </a:r>
            <a:endParaRPr lang="tr-TR" altLang="tr-TR" dirty="0"/>
          </a:p>
          <a:p>
            <a:pPr>
              <a:lnSpc>
                <a:spcPct val="130000"/>
              </a:lnSpc>
            </a:pPr>
            <a:r>
              <a:rPr lang="en-US" altLang="tr-TR" dirty="0"/>
              <a:t>Pointer Operators</a:t>
            </a:r>
            <a:endParaRPr lang="tr-TR" altLang="tr-TR" dirty="0"/>
          </a:p>
          <a:p>
            <a:pPr>
              <a:lnSpc>
                <a:spcPct val="130000"/>
              </a:lnSpc>
            </a:pPr>
            <a:r>
              <a:rPr lang="tr-TR" altLang="tr-TR" dirty="0"/>
              <a:t>How to use pointers in </a:t>
            </a:r>
            <a:r>
              <a:rPr lang="tr-TR" altLang="tr-TR" dirty="0" err="1"/>
              <a:t>Functions</a:t>
            </a:r>
            <a:endParaRPr lang="en-US" altLang="tr-TR" dirty="0"/>
          </a:p>
          <a:p>
            <a:pPr>
              <a:lnSpc>
                <a:spcPct val="130000"/>
              </a:lnSpc>
            </a:pPr>
            <a:r>
              <a:rPr lang="en-US" dirty="0"/>
              <a:t>Passing Arguments to Functions by Reference</a:t>
            </a:r>
            <a:endParaRPr lang="tr-TR" altLang="tr-TR" dirty="0"/>
          </a:p>
          <a:p>
            <a:pPr>
              <a:lnSpc>
                <a:spcPct val="130000"/>
              </a:lnSpc>
            </a:pPr>
            <a:r>
              <a:rPr lang="en-US" altLang="tr-TR" dirty="0"/>
              <a:t>Pointer Expressions and Pointer Arithmetic</a:t>
            </a:r>
            <a:r>
              <a:rPr lang="tr-TR" altLang="tr-TR" dirty="0"/>
              <a:t> </a:t>
            </a:r>
          </a:p>
          <a:p>
            <a:pPr>
              <a:lnSpc>
                <a:spcPct val="130000"/>
              </a:lnSpc>
            </a:pPr>
            <a:r>
              <a:rPr lang="en-US" altLang="tr-TR" dirty="0"/>
              <a:t>Using the </a:t>
            </a:r>
            <a:r>
              <a:rPr lang="en-US" altLang="tr-TR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Qualifier with Pointers</a:t>
            </a:r>
            <a:endParaRPr lang="tr-TR" altLang="tr-TR" dirty="0"/>
          </a:p>
          <a:p>
            <a:pPr>
              <a:lnSpc>
                <a:spcPct val="130000"/>
              </a:lnSpc>
            </a:pPr>
            <a:r>
              <a:rPr lang="en-US" altLang="tr-TR" dirty="0"/>
              <a:t>Relationship Between Pointers and Arrays</a:t>
            </a:r>
          </a:p>
          <a:p>
            <a:pPr>
              <a:lnSpc>
                <a:spcPct val="130000"/>
              </a:lnSpc>
            </a:pPr>
            <a:r>
              <a:rPr lang="en-US" altLang="tr-TR" dirty="0"/>
              <a:t>Array of Pointers</a:t>
            </a:r>
            <a:endParaRPr lang="tr-TR" altLang="tr-TR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Variable Definitions and Initialization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Rectangle 49"/>
          <p:cNvSpPr txBox="1">
            <a:spLocks noChangeArrowheads="1"/>
          </p:cNvSpPr>
          <p:nvPr/>
        </p:nvSpPr>
        <p:spPr bwMode="auto">
          <a:xfrm>
            <a:off x="304800" y="997528"/>
            <a:ext cx="11480800" cy="519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tr-TR" kern="0" dirty="0"/>
              <a:t>Pointer variables</a:t>
            </a:r>
          </a:p>
          <a:p>
            <a:pPr lvl="1">
              <a:lnSpc>
                <a:spcPct val="150000"/>
              </a:lnSpc>
            </a:pPr>
            <a:r>
              <a:rPr lang="en-US" altLang="tr-TR" kern="0" dirty="0"/>
              <a:t>Contain memory addresses as their values</a:t>
            </a:r>
          </a:p>
          <a:p>
            <a:pPr lvl="1">
              <a:lnSpc>
                <a:spcPct val="150000"/>
              </a:lnSpc>
            </a:pPr>
            <a:r>
              <a:rPr lang="en-US" altLang="tr-TR" kern="0" dirty="0"/>
              <a:t>Normal variables contain a specific value (direct reference)</a:t>
            </a:r>
          </a:p>
          <a:p>
            <a:pPr lvl="1">
              <a:lnSpc>
                <a:spcPct val="150000"/>
              </a:lnSpc>
            </a:pPr>
            <a:r>
              <a:rPr lang="en-US" altLang="tr-TR" kern="0" dirty="0"/>
              <a:t>Pointers contain address of a variable that has a specific value (indirect reference)</a:t>
            </a:r>
          </a:p>
          <a:p>
            <a:pPr lvl="1">
              <a:lnSpc>
                <a:spcPct val="150000"/>
              </a:lnSpc>
            </a:pPr>
            <a:r>
              <a:rPr lang="en-US" altLang="tr-TR" kern="0" dirty="0"/>
              <a:t>Indirection </a:t>
            </a:r>
            <a:r>
              <a:rPr lang="en-US" altLang="tr-TR" kern="0" dirty="0">
                <a:cs typeface="Times New Roman" panose="02020603050405020304" pitchFamily="18" charset="0"/>
              </a:rPr>
              <a:t>–</a:t>
            </a:r>
            <a:r>
              <a:rPr lang="en-US" altLang="tr-TR" kern="0" dirty="0"/>
              <a:t> referencing a pointer value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88" y="4051216"/>
            <a:ext cx="822007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6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Variable Definitions and Initialization </a:t>
            </a:r>
            <a:r>
              <a:rPr lang="tr-TR" altLang="tr-TR" dirty="0"/>
              <a:t>– c</a:t>
            </a:r>
            <a:r>
              <a:rPr lang="en-US" altLang="tr-TR" dirty="0"/>
              <a:t>o</a:t>
            </a:r>
            <a:r>
              <a:rPr lang="tr-TR" altLang="tr-TR" dirty="0" err="1"/>
              <a:t>nt</a:t>
            </a:r>
            <a:r>
              <a:rPr lang="tr-TR" altLang="tr-TR" dirty="0"/>
              <a:t>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tr-TR" dirty="0"/>
              <a:t>Pointer definitions</a:t>
            </a:r>
          </a:p>
          <a:p>
            <a:pPr lvl="1">
              <a:lnSpc>
                <a:spcPct val="130000"/>
              </a:lnSpc>
            </a:pPr>
            <a:r>
              <a:rPr lang="en-US" altLang="tr-TR" b="1" dirty="0">
                <a:latin typeface="Courier New" panose="02070309020205020404" pitchFamily="49" charset="0"/>
              </a:rPr>
              <a:t>*</a:t>
            </a:r>
            <a:r>
              <a:rPr lang="en-US" altLang="tr-TR" dirty="0"/>
              <a:t> used with pointer variables</a:t>
            </a:r>
          </a:p>
          <a:p>
            <a:pPr lvl="3">
              <a:lnSpc>
                <a:spcPct val="130000"/>
              </a:lnSpc>
              <a:buFontTx/>
              <a:buNone/>
            </a:pPr>
            <a:r>
              <a:rPr lang="en-US" altLang="tr-TR" dirty="0" err="1">
                <a:latin typeface="Lucida Console" panose="020B0609040504020204" pitchFamily="49" charset="0"/>
              </a:rPr>
              <a:t>int</a:t>
            </a:r>
            <a:r>
              <a:rPr lang="en-US" altLang="tr-TR" dirty="0">
                <a:latin typeface="Lucida Console" panose="020B0609040504020204" pitchFamily="49" charset="0"/>
              </a:rPr>
              <a:t> *</a:t>
            </a:r>
            <a:r>
              <a:rPr lang="en-US" altLang="tr-TR" dirty="0" err="1">
                <a:latin typeface="Lucida Console" panose="020B0609040504020204" pitchFamily="49" charset="0"/>
              </a:rPr>
              <a:t>myPtr</a:t>
            </a:r>
            <a:r>
              <a:rPr lang="en-US" altLang="tr-TR" dirty="0">
                <a:latin typeface="Lucida Console" panose="020B0609040504020204" pitchFamily="49" charset="0"/>
              </a:rPr>
              <a:t>;</a:t>
            </a:r>
            <a:r>
              <a:rPr lang="en-US" altLang="tr-TR" dirty="0"/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tr-TR" dirty="0"/>
              <a:t>Defines a pointer to an </a:t>
            </a:r>
            <a:r>
              <a:rPr lang="en-US" altLang="tr-TR" sz="2000" dirty="0" err="1">
                <a:latin typeface="Lucida Console" panose="020B0609040504020204" pitchFamily="49" charset="0"/>
              </a:rPr>
              <a:t>int</a:t>
            </a:r>
            <a:r>
              <a:rPr lang="en-US" altLang="tr-TR" dirty="0"/>
              <a:t> (pointer of type </a:t>
            </a:r>
            <a:r>
              <a:rPr lang="en-US" altLang="tr-TR" sz="2000" dirty="0" err="1"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latin typeface="Lucida Console" panose="020B0609040504020204" pitchFamily="49" charset="0"/>
              </a:rPr>
              <a:t> *)</a:t>
            </a:r>
          </a:p>
          <a:p>
            <a:pPr lvl="1">
              <a:lnSpc>
                <a:spcPct val="130000"/>
              </a:lnSpc>
            </a:pPr>
            <a:r>
              <a:rPr lang="en-US" altLang="tr-TR" dirty="0"/>
              <a:t>Multiple pointers require using a </a:t>
            </a:r>
            <a:r>
              <a:rPr lang="en-US" altLang="tr-TR" sz="2000" dirty="0">
                <a:latin typeface="Lucida Console" panose="020B0609040504020204" pitchFamily="49" charset="0"/>
              </a:rPr>
              <a:t>*</a:t>
            </a:r>
            <a:r>
              <a:rPr lang="en-US" altLang="tr-TR" dirty="0"/>
              <a:t> before each variable definition</a:t>
            </a:r>
          </a:p>
          <a:p>
            <a:pPr lvl="3">
              <a:lnSpc>
                <a:spcPct val="130000"/>
              </a:lnSpc>
              <a:buFontTx/>
              <a:buNone/>
            </a:pPr>
            <a:r>
              <a:rPr lang="en-US" altLang="tr-TR" dirty="0" err="1">
                <a:latin typeface="Lucida Console" panose="020B0609040504020204" pitchFamily="49" charset="0"/>
              </a:rPr>
              <a:t>int</a:t>
            </a:r>
            <a:r>
              <a:rPr lang="en-US" altLang="tr-TR" dirty="0">
                <a:latin typeface="Lucida Console" panose="020B0609040504020204" pitchFamily="49" charset="0"/>
              </a:rPr>
              <a:t> *myPtr1, *myPtr2;</a:t>
            </a:r>
          </a:p>
          <a:p>
            <a:pPr lvl="1">
              <a:lnSpc>
                <a:spcPct val="130000"/>
              </a:lnSpc>
            </a:pPr>
            <a:r>
              <a:rPr lang="en-US" altLang="tr-TR" dirty="0"/>
              <a:t>Can define pointers to any data type</a:t>
            </a:r>
          </a:p>
          <a:p>
            <a:pPr lvl="1">
              <a:lnSpc>
                <a:spcPct val="130000"/>
              </a:lnSpc>
            </a:pPr>
            <a:r>
              <a:rPr lang="en-US" altLang="tr-TR" dirty="0"/>
              <a:t>Initialize pointers to </a:t>
            </a:r>
            <a:r>
              <a:rPr lang="en-US" altLang="tr-TR" sz="2000" dirty="0">
                <a:latin typeface="Lucida Console" panose="020B0609040504020204" pitchFamily="49" charset="0"/>
              </a:rPr>
              <a:t>0</a:t>
            </a:r>
            <a:r>
              <a:rPr lang="en-US" altLang="tr-TR" dirty="0"/>
              <a:t>, </a:t>
            </a:r>
            <a:r>
              <a:rPr lang="en-US" altLang="tr-TR" sz="2000" dirty="0">
                <a:latin typeface="Lucida Console" panose="020B0609040504020204" pitchFamily="49" charset="0"/>
              </a:rPr>
              <a:t>NULL</a:t>
            </a:r>
            <a:r>
              <a:rPr lang="en-US" altLang="tr-TR" dirty="0"/>
              <a:t>, or an address</a:t>
            </a:r>
          </a:p>
          <a:p>
            <a:pPr lvl="2">
              <a:lnSpc>
                <a:spcPct val="130000"/>
              </a:lnSpc>
            </a:pPr>
            <a:r>
              <a:rPr lang="en-US" altLang="tr-TR" sz="1800" dirty="0">
                <a:latin typeface="Lucida Console" panose="020B0609040504020204" pitchFamily="49" charset="0"/>
              </a:rPr>
              <a:t>0</a:t>
            </a:r>
            <a:r>
              <a:rPr lang="en-US" altLang="tr-TR" dirty="0"/>
              <a:t> or </a:t>
            </a:r>
            <a:r>
              <a:rPr lang="en-US" altLang="tr-TR" sz="1800" dirty="0">
                <a:latin typeface="Lucida Console" panose="020B0609040504020204" pitchFamily="49" charset="0"/>
              </a:rPr>
              <a:t>NULL</a:t>
            </a:r>
            <a:r>
              <a:rPr lang="en-US" altLang="tr-TR" dirty="0"/>
              <a:t> </a:t>
            </a:r>
            <a:r>
              <a:rPr lang="en-US" altLang="tr-TR" dirty="0">
                <a:cs typeface="Times New Roman" panose="02020603050405020304" pitchFamily="18" charset="0"/>
              </a:rPr>
              <a:t>–</a:t>
            </a:r>
            <a:r>
              <a:rPr lang="en-US" altLang="tr-TR" dirty="0"/>
              <a:t> points to nothing (</a:t>
            </a:r>
            <a:r>
              <a:rPr lang="en-US" altLang="tr-TR" sz="1800" dirty="0">
                <a:latin typeface="Lucida Console" panose="020B0609040504020204" pitchFamily="49" charset="0"/>
              </a:rPr>
              <a:t>NULL</a:t>
            </a:r>
            <a:r>
              <a:rPr lang="en-US" altLang="tr-TR" dirty="0"/>
              <a:t> preferred)</a:t>
            </a:r>
          </a:p>
          <a:p>
            <a:pPr lvl="2">
              <a:lnSpc>
                <a:spcPct val="130000"/>
              </a:lnSpc>
            </a:pPr>
            <a:r>
              <a:rPr lang="en-US" dirty="0">
                <a:solidFill>
                  <a:srgbClr val="000000"/>
                </a:solidFill>
              </a:rPr>
              <a:t>A pointer with the value NULL points to </a:t>
            </a:r>
            <a:r>
              <a:rPr lang="en-US" i="1" dirty="0">
                <a:solidFill>
                  <a:srgbClr val="000000"/>
                </a:solidFill>
              </a:rPr>
              <a:t>nothing</a:t>
            </a:r>
            <a:r>
              <a:rPr lang="en-US" dirty="0">
                <a:solidFill>
                  <a:srgbClr val="000000"/>
                </a:solidFill>
              </a:rPr>
              <a:t>. </a:t>
            </a:r>
          </a:p>
          <a:p>
            <a:pPr lvl="2">
              <a:lnSpc>
                <a:spcPct val="130000"/>
              </a:lnSpc>
            </a:pPr>
            <a:endParaRPr lang="en-US" altLang="tr-TR" dirty="0"/>
          </a:p>
          <a:p>
            <a:pPr>
              <a:lnSpc>
                <a:spcPct val="13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4153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Operators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600" dirty="0">
                <a:latin typeface="Lucida Console" panose="020B0609040504020204" pitchFamily="49" charset="0"/>
              </a:rPr>
              <a:t>&amp;</a:t>
            </a:r>
            <a:r>
              <a:rPr lang="en-US" altLang="tr-TR" dirty="0"/>
              <a:t> (address operator)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Returns address of operand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int</a:t>
            </a:r>
            <a:r>
              <a:rPr lang="en-US" altLang="tr-TR" sz="1800" dirty="0">
                <a:latin typeface="Lucida Console" panose="020B0609040504020204" pitchFamily="49" charset="0"/>
              </a:rPr>
              <a:t> y = 5;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int</a:t>
            </a:r>
            <a:r>
              <a:rPr lang="en-US" altLang="tr-TR" sz="1800" dirty="0">
                <a:latin typeface="Lucida Console" panose="020B0609040504020204" pitchFamily="49" charset="0"/>
              </a:rPr>
              <a:t> *</a:t>
            </a:r>
            <a:r>
              <a:rPr lang="en-US" altLang="tr-TR" sz="1800" dirty="0" err="1">
                <a:latin typeface="Lucida Console" panose="020B0609040504020204" pitchFamily="49" charset="0"/>
              </a:rPr>
              <a:t>yPtr</a:t>
            </a:r>
            <a:r>
              <a:rPr lang="en-US" altLang="tr-TR" sz="1800" dirty="0">
                <a:latin typeface="Lucida Console" panose="020B0609040504020204" pitchFamily="49" charset="0"/>
              </a:rPr>
              <a:t>; </a:t>
            </a: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yPtr</a:t>
            </a:r>
            <a:r>
              <a:rPr lang="en-US" altLang="tr-TR" sz="1800" dirty="0">
                <a:latin typeface="Lucida Console" panose="020B0609040504020204" pitchFamily="49" charset="0"/>
              </a:rPr>
              <a:t> = &amp;y;     </a:t>
            </a:r>
            <a:endParaRPr lang="tr-TR" altLang="tr-TR" sz="1800" dirty="0" smtClean="0">
              <a:latin typeface="Lucida Console" panose="020B0609040504020204" pitchFamily="49" charset="0"/>
            </a:endParaRPr>
          </a:p>
          <a:p>
            <a:pPr lvl="2">
              <a:lnSpc>
                <a:spcPct val="150000"/>
              </a:lnSpc>
              <a:buFontTx/>
              <a:buNone/>
            </a:pPr>
            <a:endParaRPr lang="tr-TR" altLang="tr-TR" sz="1800" dirty="0">
              <a:latin typeface="Lucida Console" panose="020B0609040504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altLang="tr-TR" sz="2000" dirty="0" err="1" smtClean="0">
                <a:latin typeface="Lucida Console" panose="020B0609040504020204" pitchFamily="49" charset="0"/>
              </a:rPr>
              <a:t>yPtr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gets address of 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y</a:t>
            </a:r>
            <a:endParaRPr lang="en-US" altLang="tr-TR" sz="2000" dirty="0">
              <a:latin typeface="Lucida Console" panose="020B0609040504020204" pitchFamily="49" charset="0"/>
            </a:endParaRPr>
          </a:p>
          <a:p>
            <a:pPr lvl="2">
              <a:lnSpc>
                <a:spcPct val="150000"/>
              </a:lnSpc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yPtr</a:t>
            </a:r>
            <a:r>
              <a:rPr lang="en-US" altLang="tr-TR" sz="1800" dirty="0">
                <a:latin typeface="Lucida Console" panose="020B0609040504020204" pitchFamily="49" charset="0"/>
              </a:rPr>
              <a:t> “points to” 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y</a:t>
            </a:r>
            <a:endParaRPr lang="en-US" altLang="tr-TR" sz="1800" dirty="0"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2511426"/>
            <a:ext cx="70104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81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Operators</a:t>
            </a:r>
            <a:r>
              <a:rPr lang="tr-TR" altLang="tr-TR" dirty="0"/>
              <a:t> – c</a:t>
            </a:r>
            <a:r>
              <a:rPr lang="en-US" altLang="tr-TR" dirty="0"/>
              <a:t>o</a:t>
            </a:r>
            <a:r>
              <a:rPr lang="tr-TR" altLang="tr-TR" dirty="0" err="1"/>
              <a:t>nt</a:t>
            </a:r>
            <a:r>
              <a:rPr lang="tr-TR" altLang="tr-TR" dirty="0"/>
              <a:t>.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sz="2600" dirty="0">
                <a:latin typeface="Lucida Console" panose="020B0609040504020204" pitchFamily="49" charset="0"/>
              </a:rPr>
              <a:t>*</a:t>
            </a:r>
            <a:r>
              <a:rPr lang="en-US" altLang="tr-TR" dirty="0"/>
              <a:t> (indirection/dereferencing operator)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Returns a synonym/alias of what its operand points to</a:t>
            </a:r>
          </a:p>
          <a:p>
            <a:pPr lvl="1">
              <a:lnSpc>
                <a:spcPct val="120000"/>
              </a:lnSpc>
            </a:pPr>
            <a:r>
              <a:rPr lang="en-US" altLang="tr-TR" sz="2000" dirty="0">
                <a:latin typeface="Lucida Console" panose="020B0609040504020204" pitchFamily="49" charset="0"/>
              </a:rPr>
              <a:t>*</a:t>
            </a:r>
            <a:r>
              <a:rPr lang="en-US" altLang="tr-TR" sz="2000" dirty="0" err="1">
                <a:latin typeface="Lucida Console" panose="020B0609040504020204" pitchFamily="49" charset="0"/>
              </a:rPr>
              <a:t>yptr</a:t>
            </a:r>
            <a:r>
              <a:rPr lang="en-US" altLang="tr-TR" dirty="0"/>
              <a:t> returns </a:t>
            </a:r>
            <a:r>
              <a:rPr lang="en-US" altLang="tr-TR" sz="2000" dirty="0">
                <a:latin typeface="Lucida Console" panose="020B0609040504020204" pitchFamily="49" charset="0"/>
              </a:rPr>
              <a:t>y</a:t>
            </a:r>
            <a:r>
              <a:rPr lang="en-US" altLang="tr-TR" dirty="0"/>
              <a:t> (because </a:t>
            </a:r>
            <a:r>
              <a:rPr lang="en-US" altLang="tr-TR" sz="2000" dirty="0" err="1">
                <a:latin typeface="Lucida Console" panose="020B0609040504020204" pitchFamily="49" charset="0"/>
              </a:rPr>
              <a:t>yptr</a:t>
            </a:r>
            <a:r>
              <a:rPr lang="en-US" altLang="tr-TR" dirty="0"/>
              <a:t> points to</a:t>
            </a:r>
            <a:r>
              <a:rPr lang="en-US" altLang="tr-TR" sz="2000" dirty="0"/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y</a:t>
            </a:r>
            <a:r>
              <a:rPr lang="en-US" altLang="tr-TR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tr-TR" sz="2000" dirty="0">
                <a:latin typeface="Lucida Console" panose="020B0609040504020204" pitchFamily="49" charset="0"/>
              </a:rPr>
              <a:t>*</a:t>
            </a:r>
            <a:r>
              <a:rPr lang="en-US" altLang="tr-TR" dirty="0"/>
              <a:t> can be used for assignment </a:t>
            </a:r>
          </a:p>
          <a:p>
            <a:pPr lvl="2">
              <a:lnSpc>
                <a:spcPct val="120000"/>
              </a:lnSpc>
            </a:pPr>
            <a:r>
              <a:rPr lang="en-US" altLang="tr-TR" dirty="0"/>
              <a:t>Returns alias to an object</a:t>
            </a:r>
          </a:p>
          <a:p>
            <a:pPr lvl="3">
              <a:lnSpc>
                <a:spcPct val="120000"/>
              </a:lnSpc>
              <a:buFontTx/>
              <a:buNone/>
            </a:pPr>
            <a:r>
              <a:rPr lang="en-US" altLang="tr-TR" dirty="0">
                <a:latin typeface="Lucida Console" panose="020B0609040504020204" pitchFamily="49" charset="0"/>
              </a:rPr>
              <a:t>*</a:t>
            </a:r>
            <a:r>
              <a:rPr lang="en-US" altLang="tr-TR" dirty="0" err="1">
                <a:latin typeface="Lucida Console" panose="020B0609040504020204" pitchFamily="49" charset="0"/>
              </a:rPr>
              <a:t>yptr</a:t>
            </a:r>
            <a:r>
              <a:rPr lang="en-US" altLang="tr-TR" dirty="0">
                <a:latin typeface="Lucida Console" panose="020B0609040504020204" pitchFamily="49" charset="0"/>
              </a:rPr>
              <a:t> = 7;  /* changes y to 7 */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Dereferenced pointer (operand of </a:t>
            </a:r>
            <a:r>
              <a:rPr lang="en-US" altLang="tr-TR" sz="2000" dirty="0">
                <a:latin typeface="Lucida Console" panose="020B0609040504020204" pitchFamily="49" charset="0"/>
              </a:rPr>
              <a:t>*</a:t>
            </a:r>
            <a:r>
              <a:rPr lang="en-US" altLang="tr-TR" dirty="0"/>
              <a:t>) must be an </a:t>
            </a:r>
            <a:r>
              <a:rPr lang="en-US" altLang="tr-TR" dirty="0" err="1"/>
              <a:t>lvalue</a:t>
            </a:r>
            <a:r>
              <a:rPr lang="en-US" altLang="tr-TR" dirty="0"/>
              <a:t> (no constants)</a:t>
            </a:r>
          </a:p>
          <a:p>
            <a:pPr>
              <a:lnSpc>
                <a:spcPct val="120000"/>
              </a:lnSpc>
            </a:pPr>
            <a:endParaRPr lang="tr-TR" altLang="tr-TR" sz="2600" dirty="0" smtClean="0">
              <a:latin typeface="Lucida Console" panose="020B06090405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tr-TR" sz="2600" dirty="0" smtClean="0">
                <a:latin typeface="Lucida Console" panose="020B0609040504020204" pitchFamily="49" charset="0"/>
              </a:rPr>
              <a:t>*</a:t>
            </a:r>
            <a:r>
              <a:rPr lang="en-US" altLang="tr-TR" dirty="0" smtClean="0"/>
              <a:t> </a:t>
            </a:r>
            <a:r>
              <a:rPr lang="en-US" altLang="tr-TR" dirty="0"/>
              <a:t>and </a:t>
            </a:r>
            <a:r>
              <a:rPr lang="en-US" altLang="tr-TR" sz="2600" dirty="0">
                <a:latin typeface="Lucida Console" panose="020B0609040504020204" pitchFamily="49" charset="0"/>
              </a:rPr>
              <a:t>&amp;</a:t>
            </a:r>
            <a:r>
              <a:rPr lang="en-US" altLang="tr-TR" dirty="0"/>
              <a:t> are inverses 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They cancel each other out</a:t>
            </a:r>
          </a:p>
          <a:p>
            <a:pPr>
              <a:lnSpc>
                <a:spcPct val="12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84562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tr-TR" altLang="tr-TR" dirty="0"/>
              <a:t>How to use pointers in Functions</a:t>
            </a:r>
            <a:endParaRPr lang="en-US" altLang="tr-TR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rtlCol="0">
            <a:normAutofit/>
          </a:bodyPr>
          <a:lstStyle/>
          <a:p>
            <a:pPr lvl="1" fontAlgn="auto">
              <a:spcAft>
                <a:spcPts val="0"/>
              </a:spcAft>
              <a:buNone/>
              <a:defRPr/>
            </a:pPr>
            <a:endParaRPr lang="tr-TR" b="1" dirty="0">
              <a:solidFill>
                <a:srgbClr val="0000C8"/>
              </a:solidFill>
              <a:latin typeface="Courier New" pitchFamily="49" charset="0"/>
            </a:endParaRPr>
          </a:p>
          <a:p>
            <a:pPr lvl="1" fontAlgn="auto">
              <a:spcAft>
                <a:spcPts val="0"/>
              </a:spcAft>
              <a:buNone/>
              <a:defRPr/>
            </a:pPr>
            <a:endParaRPr lang="tr-TR" b="1" dirty="0">
              <a:solidFill>
                <a:srgbClr val="0000C8"/>
              </a:solidFill>
              <a:latin typeface="Courier New" pitchFamily="49" charset="0"/>
            </a:endParaRPr>
          </a:p>
          <a:p>
            <a:pPr lvl="1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void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func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(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num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)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{  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num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= 5;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}</a:t>
            </a:r>
          </a:p>
          <a:p>
            <a:pPr lvl="1" fontAlgn="auto">
              <a:spcAft>
                <a:spcPts val="0"/>
              </a:spcAft>
              <a:buNone/>
              <a:defRPr/>
            </a:pP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main()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{ 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int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count=10;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 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func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( count);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}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066758" y="1250156"/>
            <a:ext cx="3594100" cy="938213"/>
            <a:chOff x="973" y="800"/>
            <a:chExt cx="2264" cy="591"/>
          </a:xfrm>
        </p:grpSpPr>
        <p:sp>
          <p:nvSpPr>
            <p:cNvPr id="28684" name="AutoShape 7"/>
            <p:cNvSpPr>
              <a:spLocks/>
            </p:cNvSpPr>
            <p:nvPr/>
          </p:nvSpPr>
          <p:spPr bwMode="auto">
            <a:xfrm>
              <a:off x="2019" y="800"/>
              <a:ext cx="1218" cy="529"/>
            </a:xfrm>
            <a:prstGeom prst="borderCallout2">
              <a:avLst>
                <a:gd name="adj1" fmla="val 18750"/>
                <a:gd name="adj2" fmla="val -3940"/>
                <a:gd name="adj3" fmla="val 18750"/>
                <a:gd name="adj4" fmla="val -39981"/>
                <a:gd name="adj5" fmla="val 75000"/>
                <a:gd name="adj6" fmla="val -77338"/>
              </a:avLst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tr-TR" dirty="0">
                  <a:solidFill>
                    <a:srgbClr val="FF0000"/>
                  </a:solidFill>
                </a:rPr>
                <a:t>Define the parameter as pointer</a:t>
              </a:r>
            </a:p>
          </p:txBody>
        </p:sp>
        <p:sp>
          <p:nvSpPr>
            <p:cNvPr id="28685" name="Text Box 9"/>
            <p:cNvSpPr txBox="1">
              <a:spLocks noChangeArrowheads="1"/>
            </p:cNvSpPr>
            <p:nvPr/>
          </p:nvSpPr>
          <p:spPr bwMode="auto">
            <a:xfrm>
              <a:off x="973" y="1122"/>
              <a:ext cx="1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28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*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192214" y="2073275"/>
            <a:ext cx="5319713" cy="1722440"/>
            <a:chOff x="-217" y="1298"/>
            <a:chExt cx="3351" cy="1085"/>
          </a:xfrm>
        </p:grpSpPr>
        <p:sp>
          <p:nvSpPr>
            <p:cNvPr id="28682" name="AutoShape 8"/>
            <p:cNvSpPr>
              <a:spLocks/>
            </p:cNvSpPr>
            <p:nvPr/>
          </p:nvSpPr>
          <p:spPr bwMode="auto">
            <a:xfrm>
              <a:off x="1766" y="1505"/>
              <a:ext cx="1368" cy="878"/>
            </a:xfrm>
            <a:prstGeom prst="borderCallout2">
              <a:avLst>
                <a:gd name="adj1" fmla="val 10343"/>
                <a:gd name="adj2" fmla="val -3509"/>
                <a:gd name="adj3" fmla="val 10343"/>
                <a:gd name="adj4" fmla="val -71639"/>
                <a:gd name="adj5" fmla="val -6898"/>
                <a:gd name="adj6" fmla="val -142106"/>
              </a:avLst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tr-TR" dirty="0">
                  <a:solidFill>
                    <a:srgbClr val="FF0000"/>
                  </a:solidFill>
                </a:rPr>
                <a:t>Use '*' before the parameter name so that you access the value at the mentioned address</a:t>
              </a:r>
            </a:p>
          </p:txBody>
        </p:sp>
        <p:sp>
          <p:nvSpPr>
            <p:cNvPr id="28683" name="Text Box 10"/>
            <p:cNvSpPr txBox="1">
              <a:spLocks noChangeArrowheads="1"/>
            </p:cNvSpPr>
            <p:nvPr/>
          </p:nvSpPr>
          <p:spPr bwMode="auto">
            <a:xfrm>
              <a:off x="-217" y="1298"/>
              <a:ext cx="1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28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*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055311" y="3424239"/>
            <a:ext cx="3159125" cy="1546225"/>
            <a:chOff x="365" y="2195"/>
            <a:chExt cx="1990" cy="974"/>
          </a:xfrm>
        </p:grpSpPr>
        <p:sp>
          <p:nvSpPr>
            <p:cNvPr id="28680" name="AutoShape 6"/>
            <p:cNvSpPr>
              <a:spLocks/>
            </p:cNvSpPr>
            <p:nvPr/>
          </p:nvSpPr>
          <p:spPr bwMode="auto">
            <a:xfrm>
              <a:off x="1311" y="2585"/>
              <a:ext cx="1044" cy="584"/>
            </a:xfrm>
            <a:prstGeom prst="borderCallout2">
              <a:avLst>
                <a:gd name="adj1" fmla="val 18750"/>
                <a:gd name="adj2" fmla="val -4597"/>
                <a:gd name="adj3" fmla="val 18750"/>
                <a:gd name="adj4" fmla="val -43773"/>
                <a:gd name="adj5" fmla="val -26565"/>
                <a:gd name="adj6" fmla="val -84481"/>
              </a:avLst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tr-TR" dirty="0">
                  <a:solidFill>
                    <a:srgbClr val="FF0000"/>
                  </a:solidFill>
                </a:rPr>
                <a:t>Send the address of the argument</a:t>
              </a:r>
            </a:p>
          </p:txBody>
        </p:sp>
        <p:sp>
          <p:nvSpPr>
            <p:cNvPr id="28681" name="Text Box 11"/>
            <p:cNvSpPr txBox="1">
              <a:spLocks noChangeArrowheads="1"/>
            </p:cNvSpPr>
            <p:nvPr/>
          </p:nvSpPr>
          <p:spPr bwMode="auto">
            <a:xfrm>
              <a:off x="365" y="2195"/>
              <a:ext cx="1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28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&amp;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0195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tr-TR" altLang="tr-TR" dirty="0"/>
              <a:t>Example </a:t>
            </a:r>
            <a:endParaRPr lang="en-US" altLang="tr-TR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09750" y="1219201"/>
            <a:ext cx="5943600" cy="307816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stdio.h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400" b="1" dirty="0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void f(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a)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a+=5;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("in function f(): a=%d\n", </a:t>
            </a:r>
            <a:r>
              <a:rPr lang="en-US" altLang="tr-TR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a);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tr-TR" sz="1400" b="1" dirty="0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main()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{  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a=10;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("in main(), before calling f(): a=%d\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n",a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  f(</a:t>
            </a:r>
            <a:r>
              <a:rPr lang="en-US" altLang="tr-TR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&amp;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a);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   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("in main(), after calling f(): a=%d\</a:t>
            </a:r>
            <a:r>
              <a:rPr lang="en-US" altLang="tr-TR" sz="1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n",a</a:t>
            </a: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tr-TR" sz="1400" b="1" dirty="0">
                <a:solidFill>
                  <a:srgbClr val="0000C8"/>
                </a:solidFill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839201" y="2514600"/>
            <a:ext cx="1508125" cy="3003550"/>
            <a:chOff x="4608" y="1584"/>
            <a:chExt cx="950" cy="1892"/>
          </a:xfrm>
        </p:grpSpPr>
        <p:grpSp>
          <p:nvGrpSpPr>
            <p:cNvPr id="31782" name="Group 5"/>
            <p:cNvGrpSpPr>
              <a:grpSpLocks/>
            </p:cNvGrpSpPr>
            <p:nvPr/>
          </p:nvGrpSpPr>
          <p:grpSpPr bwMode="auto">
            <a:xfrm>
              <a:off x="4608" y="1584"/>
              <a:ext cx="950" cy="1728"/>
              <a:chOff x="4608" y="1584"/>
              <a:chExt cx="950" cy="1728"/>
            </a:xfrm>
          </p:grpSpPr>
          <p:sp>
            <p:nvSpPr>
              <p:cNvPr id="31784" name="Line 6"/>
              <p:cNvSpPr>
                <a:spLocks noChangeShapeType="1"/>
              </p:cNvSpPr>
              <p:nvPr/>
            </p:nvSpPr>
            <p:spPr bwMode="auto">
              <a:xfrm>
                <a:off x="4608" y="1584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785" name="Line 7"/>
              <p:cNvSpPr>
                <a:spLocks noChangeShapeType="1"/>
              </p:cNvSpPr>
              <p:nvPr/>
            </p:nvSpPr>
            <p:spPr bwMode="auto">
              <a:xfrm>
                <a:off x="5558" y="1584"/>
                <a:ext cx="0" cy="17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786" name="Line 8"/>
              <p:cNvSpPr>
                <a:spLocks noChangeShapeType="1"/>
              </p:cNvSpPr>
              <p:nvPr/>
            </p:nvSpPr>
            <p:spPr bwMode="auto">
              <a:xfrm>
                <a:off x="4608" y="3312"/>
                <a:ext cx="9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31783" name="Text Box 9"/>
            <p:cNvSpPr txBox="1">
              <a:spLocks noChangeArrowheads="1"/>
            </p:cNvSpPr>
            <p:nvPr/>
          </p:nvSpPr>
          <p:spPr bwMode="auto">
            <a:xfrm>
              <a:off x="4867" y="3302"/>
              <a:ext cx="49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Stack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8245475" y="4389437"/>
            <a:ext cx="2101850" cy="873124"/>
            <a:chOff x="4234" y="2765"/>
            <a:chExt cx="1324" cy="550"/>
          </a:xfrm>
        </p:grpSpPr>
        <p:grpSp>
          <p:nvGrpSpPr>
            <p:cNvPr id="31775" name="Group 11"/>
            <p:cNvGrpSpPr>
              <a:grpSpLocks/>
            </p:cNvGrpSpPr>
            <p:nvPr/>
          </p:nvGrpSpPr>
          <p:grpSpPr bwMode="auto">
            <a:xfrm>
              <a:off x="4234" y="2765"/>
              <a:ext cx="1324" cy="550"/>
              <a:chOff x="4234" y="2765"/>
              <a:chExt cx="1324" cy="550"/>
            </a:xfrm>
          </p:grpSpPr>
          <p:sp>
            <p:nvSpPr>
              <p:cNvPr id="31777" name="Text Box 12"/>
              <p:cNvSpPr txBox="1">
                <a:spLocks noChangeArrowheads="1"/>
              </p:cNvSpPr>
              <p:nvPr/>
            </p:nvSpPr>
            <p:spPr bwMode="auto">
              <a:xfrm>
                <a:off x="4234" y="2966"/>
                <a:ext cx="316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</a:pPr>
                <a:r>
                  <a:rPr lang="en-US" altLang="tr-TR"/>
                  <a:t>main()</a:t>
                </a:r>
              </a:p>
            </p:txBody>
          </p:sp>
          <p:grpSp>
            <p:nvGrpSpPr>
              <p:cNvPr id="31778" name="Group 13"/>
              <p:cNvGrpSpPr>
                <a:grpSpLocks/>
              </p:cNvGrpSpPr>
              <p:nvPr/>
            </p:nvGrpSpPr>
            <p:grpSpPr bwMode="auto">
              <a:xfrm>
                <a:off x="4867" y="2938"/>
                <a:ext cx="403" cy="203"/>
                <a:chOff x="2218" y="3398"/>
                <a:chExt cx="403" cy="203"/>
              </a:xfrm>
            </p:grpSpPr>
            <p:sp>
              <p:nvSpPr>
                <p:cNvPr id="3178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218" y="3427"/>
                  <a:ext cx="114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tr-TR"/>
                    <a:t>a</a:t>
                  </a:r>
                </a:p>
              </p:txBody>
            </p:sp>
            <p:sp>
              <p:nvSpPr>
                <p:cNvPr id="31781" name="Rectangle 15"/>
                <p:cNvSpPr>
                  <a:spLocks noChangeArrowheads="1"/>
                </p:cNvSpPr>
                <p:nvPr/>
              </p:nvSpPr>
              <p:spPr bwMode="auto">
                <a:xfrm>
                  <a:off x="2333" y="3398"/>
                  <a:ext cx="288" cy="202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endParaRPr lang="tr-TR" altLang="tr-TR"/>
                </a:p>
              </p:txBody>
            </p:sp>
          </p:grpSp>
          <p:sp>
            <p:nvSpPr>
              <p:cNvPr id="31779" name="Line 16"/>
              <p:cNvSpPr>
                <a:spLocks noChangeShapeType="1"/>
              </p:cNvSpPr>
              <p:nvPr/>
            </p:nvSpPr>
            <p:spPr bwMode="auto">
              <a:xfrm>
                <a:off x="4608" y="2765"/>
                <a:ext cx="9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31776" name="Text Box 17"/>
            <p:cNvSpPr txBox="1">
              <a:spLocks noChangeArrowheads="1"/>
            </p:cNvSpPr>
            <p:nvPr/>
          </p:nvSpPr>
          <p:spPr bwMode="auto">
            <a:xfrm>
              <a:off x="5040" y="2994"/>
              <a:ext cx="14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200" b="1">
                  <a:solidFill>
                    <a:srgbClr val="0000C8"/>
                  </a:solidFill>
                </a:rPr>
                <a:t>10</a:t>
              </a:r>
            </a:p>
          </p:txBody>
        </p:sp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2255838" y="4510089"/>
            <a:ext cx="5211762" cy="2073275"/>
            <a:chOff x="461" y="2841"/>
            <a:chExt cx="3283" cy="1306"/>
          </a:xfrm>
        </p:grpSpPr>
        <p:sp>
          <p:nvSpPr>
            <p:cNvPr id="31773" name="Rectangle 28"/>
            <p:cNvSpPr>
              <a:spLocks noChangeArrowheads="1"/>
            </p:cNvSpPr>
            <p:nvPr/>
          </p:nvSpPr>
          <p:spPr bwMode="auto">
            <a:xfrm>
              <a:off x="461" y="2995"/>
              <a:ext cx="3283" cy="115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tr-TR" altLang="tr-TR"/>
            </a:p>
          </p:txBody>
        </p:sp>
        <p:sp>
          <p:nvSpPr>
            <p:cNvPr id="31774" name="Text Box 29"/>
            <p:cNvSpPr txBox="1">
              <a:spLocks noChangeArrowheads="1"/>
            </p:cNvSpPr>
            <p:nvPr/>
          </p:nvSpPr>
          <p:spPr bwMode="auto">
            <a:xfrm>
              <a:off x="1728" y="2841"/>
              <a:ext cx="6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/>
                <a:t>OUTPUT</a:t>
              </a:r>
            </a:p>
          </p:txBody>
        </p:sp>
      </p:grpSp>
      <p:sp>
        <p:nvSpPr>
          <p:cNvPr id="87070" name="Text Box 30"/>
          <p:cNvSpPr txBox="1">
            <a:spLocks noChangeArrowheads="1"/>
          </p:cNvSpPr>
          <p:nvPr/>
        </p:nvSpPr>
        <p:spPr bwMode="auto">
          <a:xfrm>
            <a:off x="2530475" y="4951027"/>
            <a:ext cx="4387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b="1"/>
              <a:t>in main(), before calling f(): a=10</a:t>
            </a:r>
          </a:p>
        </p:txBody>
      </p:sp>
      <p:sp>
        <p:nvSpPr>
          <p:cNvPr id="87071" name="Line 31"/>
          <p:cNvSpPr>
            <a:spLocks noChangeShapeType="1"/>
          </p:cNvSpPr>
          <p:nvPr/>
        </p:nvSpPr>
        <p:spPr bwMode="auto">
          <a:xfrm>
            <a:off x="1752601" y="3475038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72" name="Text Box 32"/>
          <p:cNvSpPr txBox="1">
            <a:spLocks noChangeArrowheads="1"/>
          </p:cNvSpPr>
          <p:nvPr/>
        </p:nvSpPr>
        <p:spPr bwMode="auto">
          <a:xfrm>
            <a:off x="2530475" y="5225664"/>
            <a:ext cx="4387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b="1"/>
              <a:t>in function f(): a=15</a:t>
            </a:r>
          </a:p>
        </p:txBody>
      </p:sp>
      <p:sp>
        <p:nvSpPr>
          <p:cNvPr id="87073" name="Line 33"/>
          <p:cNvSpPr>
            <a:spLocks noChangeShapeType="1"/>
          </p:cNvSpPr>
          <p:nvPr/>
        </p:nvSpPr>
        <p:spPr bwMode="auto">
          <a:xfrm>
            <a:off x="1752601" y="2413000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74" name="Text Box 34"/>
          <p:cNvSpPr txBox="1">
            <a:spLocks noChangeArrowheads="1"/>
          </p:cNvSpPr>
          <p:nvPr/>
        </p:nvSpPr>
        <p:spPr bwMode="auto">
          <a:xfrm>
            <a:off x="2530475" y="5498714"/>
            <a:ext cx="4387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b="1"/>
              <a:t>in main(), after calling f(): a=</a:t>
            </a:r>
            <a:r>
              <a:rPr lang="en-US" altLang="tr-TR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87075" name="Line 35"/>
          <p:cNvSpPr>
            <a:spLocks noChangeShapeType="1"/>
          </p:cNvSpPr>
          <p:nvPr/>
        </p:nvSpPr>
        <p:spPr bwMode="auto">
          <a:xfrm>
            <a:off x="1752601" y="3886200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76" name="Line 36"/>
          <p:cNvSpPr>
            <a:spLocks noChangeShapeType="1"/>
          </p:cNvSpPr>
          <p:nvPr/>
        </p:nvSpPr>
        <p:spPr bwMode="auto">
          <a:xfrm>
            <a:off x="1752601" y="3675063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77" name="Line 37"/>
          <p:cNvSpPr>
            <a:spLocks noChangeShapeType="1"/>
          </p:cNvSpPr>
          <p:nvPr/>
        </p:nvSpPr>
        <p:spPr bwMode="auto">
          <a:xfrm>
            <a:off x="1752601" y="3254375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78" name="Line 38"/>
          <p:cNvSpPr>
            <a:spLocks noChangeShapeType="1"/>
          </p:cNvSpPr>
          <p:nvPr/>
        </p:nvSpPr>
        <p:spPr bwMode="auto">
          <a:xfrm>
            <a:off x="1752601" y="2193925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79" name="Line 39"/>
          <p:cNvSpPr>
            <a:spLocks noChangeShapeType="1"/>
          </p:cNvSpPr>
          <p:nvPr/>
        </p:nvSpPr>
        <p:spPr bwMode="auto">
          <a:xfrm>
            <a:off x="1752601" y="1984375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80" name="Line 40"/>
          <p:cNvSpPr>
            <a:spLocks noChangeShapeType="1"/>
          </p:cNvSpPr>
          <p:nvPr/>
        </p:nvSpPr>
        <p:spPr bwMode="auto">
          <a:xfrm>
            <a:off x="1752601" y="2622550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87081" name="Line 41"/>
          <p:cNvSpPr>
            <a:spLocks noChangeShapeType="1"/>
          </p:cNvSpPr>
          <p:nvPr/>
        </p:nvSpPr>
        <p:spPr bwMode="auto">
          <a:xfrm>
            <a:off x="1752601" y="4105275"/>
            <a:ext cx="41116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/>
          </a:p>
        </p:txBody>
      </p: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8245475" y="3565525"/>
            <a:ext cx="2101850" cy="1068388"/>
            <a:chOff x="4234" y="2246"/>
            <a:chExt cx="1324" cy="673"/>
          </a:xfrm>
        </p:grpSpPr>
        <p:grpSp>
          <p:nvGrpSpPr>
            <p:cNvPr id="31766" name="Group 19"/>
            <p:cNvGrpSpPr>
              <a:grpSpLocks/>
            </p:cNvGrpSpPr>
            <p:nvPr/>
          </p:nvGrpSpPr>
          <p:grpSpPr bwMode="auto">
            <a:xfrm>
              <a:off x="4234" y="2246"/>
              <a:ext cx="1324" cy="347"/>
              <a:chOff x="4234" y="2246"/>
              <a:chExt cx="1324" cy="347"/>
            </a:xfrm>
          </p:grpSpPr>
          <p:sp>
            <p:nvSpPr>
              <p:cNvPr id="31768" name="Text Box 20"/>
              <p:cNvSpPr txBox="1">
                <a:spLocks noChangeArrowheads="1"/>
              </p:cNvSpPr>
              <p:nvPr/>
            </p:nvSpPr>
            <p:spPr bwMode="auto">
              <a:xfrm>
                <a:off x="4234" y="2419"/>
                <a:ext cx="31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</a:pPr>
                <a:r>
                  <a:rPr lang="en-US" altLang="tr-TR"/>
                  <a:t>f()</a:t>
                </a:r>
              </a:p>
            </p:txBody>
          </p:sp>
          <p:sp>
            <p:nvSpPr>
              <p:cNvPr id="31769" name="Line 21"/>
              <p:cNvSpPr>
                <a:spLocks noChangeShapeType="1"/>
              </p:cNvSpPr>
              <p:nvPr/>
            </p:nvSpPr>
            <p:spPr bwMode="auto">
              <a:xfrm>
                <a:off x="4608" y="2246"/>
                <a:ext cx="9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grpSp>
            <p:nvGrpSpPr>
              <p:cNvPr id="31770" name="Group 22"/>
              <p:cNvGrpSpPr>
                <a:grpSpLocks/>
              </p:cNvGrpSpPr>
              <p:nvPr/>
            </p:nvGrpSpPr>
            <p:grpSpPr bwMode="auto">
              <a:xfrm>
                <a:off x="4867" y="2390"/>
                <a:ext cx="403" cy="203"/>
                <a:chOff x="2218" y="3398"/>
                <a:chExt cx="403" cy="203"/>
              </a:xfrm>
            </p:grpSpPr>
            <p:sp>
              <p:nvSpPr>
                <p:cNvPr id="3177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218" y="3427"/>
                  <a:ext cx="114" cy="1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tr-TR"/>
                    <a:t>a</a:t>
                  </a:r>
                </a:p>
              </p:txBody>
            </p:sp>
            <p:sp>
              <p:nvSpPr>
                <p:cNvPr id="31772" name="Rectangle 24"/>
                <p:cNvSpPr>
                  <a:spLocks noChangeArrowheads="1"/>
                </p:cNvSpPr>
                <p:nvPr/>
              </p:nvSpPr>
              <p:spPr bwMode="auto">
                <a:xfrm>
                  <a:off x="2333" y="3398"/>
                  <a:ext cx="288" cy="202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endParaRPr lang="tr-TR" altLang="tr-TR"/>
                </a:p>
              </p:txBody>
            </p:sp>
          </p:grpSp>
        </p:grpSp>
        <p:sp>
          <p:nvSpPr>
            <p:cNvPr id="31767" name="Arc 43"/>
            <p:cNvSpPr>
              <a:spLocks/>
            </p:cNvSpPr>
            <p:nvPr/>
          </p:nvSpPr>
          <p:spPr bwMode="auto">
            <a:xfrm flipH="1">
              <a:off x="4986" y="2516"/>
              <a:ext cx="132" cy="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87085" name="Text Box 45"/>
          <p:cNvSpPr txBox="1">
            <a:spLocks noChangeArrowheads="1"/>
          </p:cNvSpPr>
          <p:nvPr/>
        </p:nvSpPr>
        <p:spPr bwMode="auto">
          <a:xfrm>
            <a:off x="9534525" y="4742399"/>
            <a:ext cx="228600" cy="18466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sz="12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7565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70" grpId="0"/>
      <p:bldP spid="87072" grpId="0"/>
      <p:bldP spid="87074" grpId="0"/>
      <p:bldP spid="87085" grpId="0" animBg="1"/>
      <p:bldP spid="8708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AE1CF31-5CC7-460A-BF69-8705E1F5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to Functions by Reference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CC89AB-4868-4FF5-8718-2031FE89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There are two ways to pass arguments to a </a:t>
            </a:r>
            <a:r>
              <a:rPr lang="en-US" altLang="en-US" dirty="0" smtClean="0">
                <a:solidFill>
                  <a:srgbClr val="000000"/>
                </a:solidFill>
              </a:rPr>
              <a:t>function</a:t>
            </a:r>
            <a:endParaRPr lang="tr-TR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 smtClean="0">
                <a:solidFill>
                  <a:srgbClr val="0000FF"/>
                </a:solidFill>
              </a:rPr>
              <a:t>pass-by-value</a:t>
            </a:r>
            <a:r>
              <a:rPr lang="en-US" altLang="en-US" dirty="0" smtClean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and </a:t>
            </a:r>
            <a:r>
              <a:rPr lang="en-US" altLang="en-US" dirty="0">
                <a:solidFill>
                  <a:srgbClr val="0000FF"/>
                </a:solidFill>
              </a:rPr>
              <a:t>pass-by-reference</a:t>
            </a:r>
            <a:r>
              <a:rPr lang="en-US" altLang="en-US" dirty="0">
                <a:solidFill>
                  <a:srgbClr val="000000"/>
                </a:solidFill>
              </a:rPr>
              <a:t>. </a:t>
            </a:r>
          </a:p>
          <a:p>
            <a:pPr lvl="4"/>
            <a:endParaRPr lang="tr-TR" altLang="en-US" i="1" dirty="0" smtClean="0">
              <a:solidFill>
                <a:srgbClr val="000000"/>
              </a:solidFill>
            </a:endParaRPr>
          </a:p>
          <a:p>
            <a:r>
              <a:rPr lang="en-US" altLang="en-US" i="1" dirty="0" smtClean="0">
                <a:solidFill>
                  <a:srgbClr val="000000"/>
                </a:solidFill>
              </a:rPr>
              <a:t>All </a:t>
            </a:r>
            <a:r>
              <a:rPr lang="en-US" altLang="en-US" i="1" dirty="0">
                <a:solidFill>
                  <a:srgbClr val="000000"/>
                </a:solidFill>
              </a:rPr>
              <a:t>arguments in C are passed by value. 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a copy of the argument in the function call is made and passed to the function. </a:t>
            </a:r>
          </a:p>
          <a:p>
            <a:pPr lvl="4"/>
            <a:endParaRPr lang="tr-TR" altLang="en-US" dirty="0" smtClean="0">
              <a:solidFill>
                <a:srgbClr val="000000"/>
              </a:solidFill>
            </a:endParaRPr>
          </a:p>
          <a:p>
            <a:r>
              <a:rPr lang="en-US" altLang="en-US" dirty="0" smtClean="0">
                <a:solidFill>
                  <a:srgbClr val="000000"/>
                </a:solidFill>
              </a:rPr>
              <a:t>Use </a:t>
            </a:r>
            <a:r>
              <a:rPr lang="en-US" altLang="en-US" dirty="0">
                <a:solidFill>
                  <a:srgbClr val="000000"/>
                </a:solidFill>
              </a:rPr>
              <a:t>pointers and the indirection operator to </a:t>
            </a:r>
            <a:r>
              <a:rPr lang="en-US" altLang="en-US" i="1" dirty="0">
                <a:solidFill>
                  <a:srgbClr val="000000"/>
                </a:solidFill>
              </a:rPr>
              <a:t>simulate</a:t>
            </a:r>
            <a:r>
              <a:rPr lang="en-US" altLang="en-US" dirty="0">
                <a:solidFill>
                  <a:srgbClr val="000000"/>
                </a:solidFill>
              </a:rPr>
              <a:t> pass-by-reference.</a:t>
            </a:r>
          </a:p>
          <a:p>
            <a:pPr lvl="4"/>
            <a:endParaRPr lang="en-US" altLang="en-US" i="1" dirty="0">
              <a:solidFill>
                <a:srgbClr val="000000"/>
              </a:solidFill>
            </a:endParaRPr>
          </a:p>
          <a:p>
            <a:r>
              <a:rPr lang="en-US" dirty="0"/>
              <a:t>Arrays are not passed using operator </a:t>
            </a:r>
            <a:r>
              <a:rPr lang="en-US" b="1" dirty="0"/>
              <a:t>&amp;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C automatically passes the starting location in memory of the array</a:t>
            </a:r>
            <a:r>
              <a:rPr lang="en-US" dirty="0"/>
              <a:t> 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</a:rPr>
              <a:t>The name of an array is equivalent to </a:t>
            </a:r>
            <a:r>
              <a:rPr lang="en-US" altLang="en-US" sz="2400" b="1" dirty="0">
                <a:solidFill>
                  <a:srgbClr val="000000"/>
                </a:solidFill>
              </a:rPr>
              <a:t>&amp;</a:t>
            </a:r>
            <a:r>
              <a:rPr lang="en-US" altLang="en-US" sz="2400" b="1" dirty="0" err="1">
                <a:solidFill>
                  <a:srgbClr val="000000"/>
                </a:solidFill>
              </a:rPr>
              <a:t>arrayName</a:t>
            </a:r>
            <a:r>
              <a:rPr lang="en-US" altLang="en-US" sz="2400" b="1" dirty="0">
                <a:solidFill>
                  <a:srgbClr val="000000"/>
                </a:solidFill>
              </a:rPr>
              <a:t>[0]</a:t>
            </a:r>
          </a:p>
          <a:p>
            <a:pPr lvl="1"/>
            <a:r>
              <a:rPr lang="en-US" dirty="0"/>
              <a:t>When the compiler encounters a function parameter for a one-dimensional array of the form </a:t>
            </a:r>
            <a:r>
              <a:rPr lang="en-US" b="1" dirty="0" err="1"/>
              <a:t>int</a:t>
            </a:r>
            <a:r>
              <a:rPr lang="en-US" b="1" dirty="0"/>
              <a:t> b[]</a:t>
            </a:r>
            <a:r>
              <a:rPr lang="en-US" dirty="0"/>
              <a:t>, the compiler converts the parameter to the pointer notation </a:t>
            </a:r>
            <a:r>
              <a:rPr lang="en-US" b="1" dirty="0" err="1"/>
              <a:t>int</a:t>
            </a:r>
            <a:r>
              <a:rPr lang="en-US" b="1" dirty="0"/>
              <a:t> *b</a:t>
            </a:r>
            <a:r>
              <a:rPr lang="en-US" dirty="0"/>
              <a:t>. </a:t>
            </a:r>
          </a:p>
          <a:p>
            <a:pPr lvl="1"/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F132E41-DEB0-4D03-B56D-65A11F0FDE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0793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Expressions and Pointer Arithmetic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Arithmetic operations can be performed on pointers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Increment/decrement pointer  (</a:t>
            </a:r>
            <a:r>
              <a:rPr lang="en-US" altLang="tr-TR" sz="2000" dirty="0">
                <a:latin typeface="Lucida Console" panose="020B0609040504020204" pitchFamily="49" charset="0"/>
              </a:rPr>
              <a:t>++</a:t>
            </a:r>
            <a:r>
              <a:rPr lang="en-US" altLang="tr-TR" dirty="0"/>
              <a:t> or </a:t>
            </a:r>
            <a:r>
              <a:rPr lang="en-US" altLang="tr-TR" sz="2000" dirty="0">
                <a:latin typeface="Lucida Console" panose="020B0609040504020204" pitchFamily="49" charset="0"/>
              </a:rPr>
              <a:t>--</a:t>
            </a:r>
            <a:r>
              <a:rPr lang="en-US" altLang="tr-T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Add an integer to a pointer( </a:t>
            </a:r>
            <a:r>
              <a:rPr lang="en-US" altLang="tr-TR" sz="2000" dirty="0">
                <a:latin typeface="Lucida Console" panose="020B0609040504020204" pitchFamily="49" charset="0"/>
              </a:rPr>
              <a:t>+</a:t>
            </a:r>
            <a:r>
              <a:rPr lang="en-US" altLang="tr-TR" dirty="0"/>
              <a:t> or </a:t>
            </a:r>
            <a:r>
              <a:rPr lang="en-US" altLang="tr-TR" sz="2000" dirty="0">
                <a:latin typeface="Lucida Console" panose="020B0609040504020204" pitchFamily="49" charset="0"/>
              </a:rPr>
              <a:t>+=</a:t>
            </a:r>
            <a:r>
              <a:rPr lang="en-US" altLang="tr-TR" dirty="0"/>
              <a:t> , </a:t>
            </a:r>
            <a:r>
              <a:rPr lang="en-US" altLang="tr-TR" sz="2000" dirty="0">
                <a:latin typeface="Lucida Console" panose="020B0609040504020204" pitchFamily="49" charset="0"/>
              </a:rPr>
              <a:t>-</a:t>
            </a:r>
            <a:r>
              <a:rPr lang="en-US" altLang="tr-TR" dirty="0"/>
              <a:t> or </a:t>
            </a:r>
            <a:r>
              <a:rPr lang="en-US" altLang="tr-TR" sz="2000" dirty="0">
                <a:latin typeface="Lucida Console" panose="020B0609040504020204" pitchFamily="49" charset="0"/>
              </a:rPr>
              <a:t>-=</a:t>
            </a:r>
            <a:r>
              <a:rPr lang="en-US" altLang="tr-T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Pointers may be subtracted from each other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Operations meaningless unless performed on an array</a:t>
            </a:r>
            <a:r>
              <a:rPr lang="tr-TR" altLang="tr-TR" dirty="0"/>
              <a:t> or string</a:t>
            </a:r>
            <a:endParaRPr lang="en-US" alt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19527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Expressions and Pointer Arithmetic</a:t>
            </a:r>
            <a:r>
              <a:rPr lang="tr-TR" altLang="tr-TR" dirty="0"/>
              <a:t> – c</a:t>
            </a:r>
            <a:r>
              <a:rPr lang="en-US" altLang="tr-TR" dirty="0"/>
              <a:t>o</a:t>
            </a:r>
            <a:r>
              <a:rPr lang="tr-TR" altLang="tr-TR" dirty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r>
              <a:rPr lang="en-US" altLang="tr-TR" dirty="0"/>
              <a:t>Assume that array </a:t>
            </a:r>
            <a:r>
              <a:rPr lang="en-US" altLang="tr-TR" dirty="0" err="1"/>
              <a:t>int</a:t>
            </a:r>
            <a:r>
              <a:rPr lang="en-US" altLang="tr-TR" dirty="0"/>
              <a:t> v[5] has been defined on a machine with 4 byte </a:t>
            </a:r>
            <a:r>
              <a:rPr lang="en-US" altLang="tr-TR" sz="2600" dirty="0" err="1">
                <a:latin typeface="Lucida Console" panose="020B0609040504020204" pitchFamily="49" charset="0"/>
              </a:rPr>
              <a:t>ints</a:t>
            </a:r>
            <a:endParaRPr lang="en-US" altLang="tr-TR" sz="2600" dirty="0">
              <a:latin typeface="Lucida Console" panose="020B0609040504020204" pitchFamily="49" charset="0"/>
            </a:endParaRPr>
          </a:p>
          <a:p>
            <a:pPr lvl="4"/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4"/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1"/>
            <a:r>
              <a:rPr lang="en-US" altLang="tr-TR" sz="2000" dirty="0" err="1" smtClean="0">
                <a:latin typeface="Lucida Console" panose="020B0609040504020204" pitchFamily="49" charset="0"/>
              </a:rPr>
              <a:t>vPtr</a:t>
            </a:r>
            <a:r>
              <a:rPr lang="en-US" altLang="tr-TR" dirty="0" smtClean="0"/>
              <a:t> </a:t>
            </a:r>
            <a:r>
              <a:rPr lang="en-US" altLang="tr-TR" dirty="0"/>
              <a:t>points to first element 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v[0]</a:t>
            </a:r>
            <a:endParaRPr lang="en-US" altLang="tr-TR" sz="2000" dirty="0">
              <a:latin typeface="Lucida Console" panose="020B0609040504020204" pitchFamily="49" charset="0"/>
            </a:endParaRPr>
          </a:p>
          <a:p>
            <a:pPr lvl="2"/>
            <a:r>
              <a:rPr lang="en-US" altLang="tr-TR" dirty="0" smtClean="0"/>
              <a:t>at </a:t>
            </a:r>
            <a:r>
              <a:rPr lang="en-US" altLang="tr-TR" dirty="0"/>
              <a:t>location </a:t>
            </a:r>
            <a:r>
              <a:rPr lang="en-US" altLang="tr-TR" sz="1800" dirty="0">
                <a:latin typeface="Lucida Console" panose="020B0609040504020204" pitchFamily="49" charset="0"/>
              </a:rPr>
              <a:t>3000 (</a:t>
            </a:r>
            <a:r>
              <a:rPr lang="en-US" altLang="tr-TR" sz="1800" dirty="0" err="1">
                <a:latin typeface="Lucida Console" panose="020B0609040504020204" pitchFamily="49" charset="0"/>
              </a:rPr>
              <a:t>vPtr</a:t>
            </a:r>
            <a:r>
              <a:rPr lang="en-US" altLang="tr-TR" sz="1800" dirty="0">
                <a:latin typeface="Lucida Console" panose="020B0609040504020204" pitchFamily="49" charset="0"/>
              </a:rPr>
              <a:t> = 3000)</a:t>
            </a:r>
          </a:p>
          <a:p>
            <a:pPr lvl="4"/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4"/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4"/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1"/>
            <a:r>
              <a:rPr lang="en-US" altLang="tr-TR" sz="2000" dirty="0" err="1" smtClean="0">
                <a:latin typeface="Lucida Console" panose="020B0609040504020204" pitchFamily="49" charset="0"/>
              </a:rPr>
              <a:t>vPtr</a:t>
            </a:r>
            <a:r>
              <a:rPr lang="en-US" altLang="tr-TR" sz="2000" dirty="0" smtClean="0">
                <a:latin typeface="Lucida Console" panose="020B0609040504020204" pitchFamily="49" charset="0"/>
              </a:rPr>
              <a:t> </a:t>
            </a:r>
            <a:r>
              <a:rPr lang="en-US" altLang="tr-TR" sz="2000" dirty="0">
                <a:latin typeface="Lucida Console" panose="020B0609040504020204" pitchFamily="49" charset="0"/>
              </a:rPr>
              <a:t>+= 2;</a:t>
            </a:r>
            <a:r>
              <a:rPr lang="en-US" altLang="tr-TR" dirty="0"/>
              <a:t> sets </a:t>
            </a:r>
            <a:r>
              <a:rPr lang="en-US" altLang="tr-TR" sz="2000" dirty="0" err="1">
                <a:latin typeface="Lucida Console" panose="020B0609040504020204" pitchFamily="49" charset="0"/>
              </a:rPr>
              <a:t>vPtr</a:t>
            </a:r>
            <a:r>
              <a:rPr lang="en-US" altLang="tr-TR" dirty="0"/>
              <a:t> to </a:t>
            </a:r>
            <a:r>
              <a:rPr lang="en-US" altLang="tr-TR" sz="2000" dirty="0">
                <a:latin typeface="Lucida Console" panose="020B0609040504020204" pitchFamily="49" charset="0"/>
              </a:rPr>
              <a:t>3008</a:t>
            </a:r>
          </a:p>
          <a:p>
            <a:pPr lvl="2"/>
            <a:r>
              <a:rPr lang="en-US" altLang="tr-TR" sz="1800" dirty="0" err="1">
                <a:latin typeface="Lucida Console" panose="020B0609040504020204" pitchFamily="49" charset="0"/>
              </a:rPr>
              <a:t>vPtr</a:t>
            </a:r>
            <a:r>
              <a:rPr lang="en-US" altLang="tr-TR" dirty="0"/>
              <a:t> points to 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v[2]</a:t>
            </a:r>
            <a:r>
              <a:rPr lang="tr-TR" altLang="tr-TR" sz="1800" dirty="0"/>
              <a:t> </a:t>
            </a:r>
            <a:r>
              <a:rPr lang="en-US" altLang="tr-TR" sz="1800" dirty="0" smtClean="0"/>
              <a:t>(</a:t>
            </a:r>
            <a:r>
              <a:rPr lang="en-US" altLang="tr-TR" sz="1800" dirty="0"/>
              <a:t>incremented by 2),</a:t>
            </a:r>
            <a:r>
              <a:rPr lang="en-US" altLang="tr-TR" dirty="0"/>
              <a:t> </a:t>
            </a:r>
            <a:endParaRPr lang="tr-TR" altLang="tr-TR" dirty="0" smtClean="0"/>
          </a:p>
          <a:p>
            <a:pPr marL="671512" lvl="2" indent="0">
              <a:buNone/>
            </a:pPr>
            <a:r>
              <a:rPr lang="tr-TR" altLang="tr-TR" dirty="0"/>
              <a:t> </a:t>
            </a:r>
            <a:r>
              <a:rPr lang="tr-TR" altLang="tr-TR" dirty="0" smtClean="0"/>
              <a:t>   </a:t>
            </a:r>
            <a:r>
              <a:rPr lang="en-US" altLang="tr-TR" dirty="0" smtClean="0"/>
              <a:t>but </a:t>
            </a:r>
            <a:r>
              <a:rPr lang="en-US" altLang="tr-TR" dirty="0"/>
              <a:t>the </a:t>
            </a:r>
            <a:r>
              <a:rPr lang="en-US" altLang="tr-TR" dirty="0" smtClean="0"/>
              <a:t>machine</a:t>
            </a:r>
            <a:r>
              <a:rPr lang="tr-TR" altLang="tr-TR" dirty="0"/>
              <a:t> </a:t>
            </a:r>
            <a:r>
              <a:rPr lang="en-US" altLang="tr-TR" dirty="0" smtClean="0"/>
              <a:t>has </a:t>
            </a:r>
            <a:r>
              <a:rPr lang="en-US" altLang="tr-TR" dirty="0"/>
              <a:t>4 byte </a:t>
            </a:r>
            <a:r>
              <a:rPr lang="en-US" altLang="tr-TR" sz="1800" dirty="0" err="1" smtClean="0">
                <a:latin typeface="Lucida Console" panose="020B0609040504020204" pitchFamily="49" charset="0"/>
              </a:rPr>
              <a:t>ints</a:t>
            </a:r>
            <a:r>
              <a:rPr lang="en-US" altLang="tr-TR" dirty="0" smtClean="0"/>
              <a:t>,</a:t>
            </a:r>
            <a:endParaRPr lang="tr-TR" altLang="tr-TR" dirty="0" smtClean="0"/>
          </a:p>
          <a:p>
            <a:pPr marL="671512" lvl="2" indent="0">
              <a:buNone/>
            </a:pPr>
            <a:r>
              <a:rPr lang="tr-TR" altLang="tr-TR" dirty="0"/>
              <a:t> </a:t>
            </a:r>
            <a:r>
              <a:rPr lang="tr-TR" altLang="tr-TR" dirty="0" smtClean="0"/>
              <a:t>   </a:t>
            </a:r>
            <a:r>
              <a:rPr lang="en-US" altLang="tr-TR" dirty="0" smtClean="0"/>
              <a:t>so </a:t>
            </a:r>
            <a:r>
              <a:rPr lang="en-US" altLang="tr-TR" dirty="0"/>
              <a:t>it points to address 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3008</a:t>
            </a:r>
            <a:endParaRPr lang="en-US" altLang="tr-TR" sz="1800" dirty="0"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878" y="2064328"/>
            <a:ext cx="5799722" cy="282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394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Expressions and Pointer Arithmetic</a:t>
            </a:r>
            <a:r>
              <a:rPr lang="tr-TR" altLang="tr-TR" dirty="0"/>
              <a:t> – c</a:t>
            </a:r>
            <a:r>
              <a:rPr lang="en-US" altLang="tr-TR" dirty="0"/>
              <a:t>o</a:t>
            </a:r>
            <a:r>
              <a:rPr lang="tr-TR" altLang="tr-TR" dirty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In conventional arithmetic, 3000 + 2 yields the value 3002. </a:t>
            </a:r>
          </a:p>
          <a:p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This is normally not the case with pointer arithmetic. </a:t>
            </a:r>
          </a:p>
          <a:p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When an integer is added to or subtracted from a pointer, the pointer is </a:t>
            </a:r>
            <a:r>
              <a:rPr lang="en-US" altLang="en-US" i="1" dirty="0">
                <a:solidFill>
                  <a:srgbClr val="000000"/>
                </a:solidFill>
              </a:rPr>
              <a:t>not</a:t>
            </a:r>
            <a:r>
              <a:rPr lang="en-US" altLang="en-US" dirty="0">
                <a:solidFill>
                  <a:srgbClr val="000000"/>
                </a:solidFill>
              </a:rPr>
              <a:t> incremented or decremented simply by that integer, but by that integer times the size of the object to which the pointer refers. </a:t>
            </a:r>
          </a:p>
          <a:p>
            <a:endParaRPr lang="en-US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For example, the statement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 err="1">
                <a:solidFill>
                  <a:srgbClr val="000000"/>
                </a:solidFill>
              </a:rPr>
              <a:t>vPtr</a:t>
            </a:r>
            <a:r>
              <a:rPr lang="en-US" altLang="en-US" sz="2400" dirty="0">
                <a:solidFill>
                  <a:srgbClr val="000000"/>
                </a:solidFill>
              </a:rPr>
              <a:t> += </a:t>
            </a:r>
            <a:r>
              <a:rPr lang="en-US" altLang="en-US" sz="2400" b="1" dirty="0">
                <a:solidFill>
                  <a:srgbClr val="128AFF"/>
                </a:solidFill>
              </a:rPr>
              <a:t>2</a:t>
            </a:r>
            <a:r>
              <a:rPr lang="en-US" altLang="en-US" sz="2400" b="1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en-US" dirty="0">
                <a:solidFill>
                  <a:srgbClr val="000000"/>
                </a:solidFill>
              </a:rPr>
              <a:t>	</a:t>
            </a:r>
            <a:r>
              <a:rPr lang="tr-TR" altLang="en-US" dirty="0" smtClean="0">
                <a:solidFill>
                  <a:srgbClr val="000000"/>
                </a:solidFill>
              </a:rPr>
              <a:t>       </a:t>
            </a:r>
            <a:r>
              <a:rPr lang="en-US" altLang="en-US" dirty="0" smtClean="0">
                <a:solidFill>
                  <a:srgbClr val="000000"/>
                </a:solidFill>
              </a:rPr>
              <a:t>would </a:t>
            </a:r>
            <a:r>
              <a:rPr lang="en-US" altLang="en-US" dirty="0">
                <a:solidFill>
                  <a:srgbClr val="000000"/>
                </a:solidFill>
              </a:rPr>
              <a:t>produce 3008 (3000 + 2 * 4</a:t>
            </a:r>
            <a:r>
              <a:rPr lang="en-US" altLang="en-US" dirty="0" smtClean="0">
                <a:solidFill>
                  <a:srgbClr val="000000"/>
                </a:solidFill>
              </a:rPr>
              <a:t>),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tr-TR" altLang="en-US" dirty="0">
                <a:solidFill>
                  <a:srgbClr val="000000"/>
                </a:solidFill>
              </a:rPr>
              <a:t> </a:t>
            </a:r>
            <a:r>
              <a:rPr lang="tr-TR" altLang="en-US" dirty="0" smtClean="0">
                <a:solidFill>
                  <a:srgbClr val="000000"/>
                </a:solidFill>
              </a:rPr>
              <a:t>          </a:t>
            </a:r>
            <a:r>
              <a:rPr lang="en-US" altLang="en-US" dirty="0" smtClean="0">
                <a:solidFill>
                  <a:srgbClr val="000000"/>
                </a:solidFill>
              </a:rPr>
              <a:t>assuming </a:t>
            </a:r>
            <a:r>
              <a:rPr lang="en-US" altLang="en-US" dirty="0">
                <a:solidFill>
                  <a:srgbClr val="000000"/>
                </a:solidFill>
              </a:rPr>
              <a:t>an integer is stored in 4 bytes of memory.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75462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Expressions and Pointer Arithmetic</a:t>
            </a:r>
            <a:r>
              <a:rPr lang="tr-TR" altLang="tr-TR" dirty="0"/>
              <a:t> – c</a:t>
            </a:r>
            <a:r>
              <a:rPr lang="en-US" altLang="tr-TR" dirty="0"/>
              <a:t>o</a:t>
            </a:r>
            <a:r>
              <a:rPr lang="tr-TR" altLang="tr-TR" dirty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95928"/>
            <a:ext cx="11480800" cy="5193723"/>
          </a:xfrm>
        </p:spPr>
        <p:txBody>
          <a:bodyPr/>
          <a:lstStyle/>
          <a:p>
            <a:r>
              <a:rPr lang="en-US" altLang="tr-TR" dirty="0"/>
              <a:t>Subtracting pointers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</a:rPr>
              <a:t>If </a:t>
            </a:r>
            <a:r>
              <a:rPr lang="en-US" altLang="en-US" sz="2300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sz="2300" dirty="0">
                <a:solidFill>
                  <a:srgbClr val="000000"/>
                </a:solidFill>
              </a:rPr>
              <a:t> had been incremented to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3016</a:t>
            </a:r>
            <a:r>
              <a:rPr lang="en-US" altLang="en-US" sz="2300" dirty="0">
                <a:solidFill>
                  <a:srgbClr val="000000"/>
                </a:solidFill>
              </a:rPr>
              <a:t>, which points to </a:t>
            </a:r>
            <a:r>
              <a:rPr lang="en-US" alt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v[4]</a:t>
            </a:r>
            <a:r>
              <a:rPr lang="en-US" altLang="en-US" sz="2300" dirty="0">
                <a:solidFill>
                  <a:srgbClr val="000000"/>
                </a:solidFill>
              </a:rPr>
              <a:t>, the statement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-= 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4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en-US" sz="2500" dirty="0">
                <a:solidFill>
                  <a:srgbClr val="000000"/>
                </a:solidFill>
              </a:rPr>
              <a:t>	    </a:t>
            </a:r>
            <a:r>
              <a:rPr lang="tr-TR" altLang="en-US" sz="2500" dirty="0" smtClean="0">
                <a:solidFill>
                  <a:srgbClr val="000000"/>
                </a:solidFill>
              </a:rPr>
              <a:t>   </a:t>
            </a:r>
            <a:r>
              <a:rPr lang="en-US" altLang="en-US" sz="2200" dirty="0" smtClean="0">
                <a:solidFill>
                  <a:srgbClr val="000000"/>
                </a:solidFill>
              </a:rPr>
              <a:t>would </a:t>
            </a:r>
            <a:r>
              <a:rPr lang="en-US" altLang="en-US" sz="2200" dirty="0">
                <a:solidFill>
                  <a:srgbClr val="000000"/>
                </a:solidFill>
              </a:rPr>
              <a:t>set </a:t>
            </a:r>
            <a:r>
              <a:rPr lang="en-US" altLang="en-US" sz="2200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sz="2200" dirty="0">
                <a:solidFill>
                  <a:srgbClr val="000000"/>
                </a:solidFill>
              </a:rPr>
              <a:t> back to </a:t>
            </a:r>
            <a:r>
              <a:rPr lang="en-US" alt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3000</a:t>
            </a:r>
            <a:r>
              <a:rPr lang="en-US" altLang="en-US" sz="2200" dirty="0">
                <a:solidFill>
                  <a:srgbClr val="000000"/>
                </a:solidFill>
              </a:rPr>
              <a:t>—the beginning of the array. </a:t>
            </a:r>
          </a:p>
          <a:p>
            <a:pPr lvl="4"/>
            <a:endParaRPr lang="tr-TR" sz="1200" dirty="0" smtClean="0"/>
          </a:p>
          <a:p>
            <a:pPr lvl="4"/>
            <a:endParaRPr lang="tr-TR" sz="1200" dirty="0" smtClean="0"/>
          </a:p>
          <a:p>
            <a:pPr lvl="1"/>
            <a:r>
              <a:rPr lang="en-US" dirty="0" smtClean="0"/>
              <a:t>Increment/decrement </a:t>
            </a:r>
            <a:r>
              <a:rPr lang="en-US" dirty="0"/>
              <a:t>operators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000000"/>
                </a:solidFill>
              </a:rPr>
              <a:t>Either of the statements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en-US" sz="2500" dirty="0">
                <a:solidFill>
                  <a:srgbClr val="000000"/>
                </a:solidFill>
              </a:rPr>
              <a:t>		</a:t>
            </a:r>
            <a:r>
              <a:rPr lang="tr-TR" altLang="en-US" sz="2500" dirty="0" smtClean="0">
                <a:solidFill>
                  <a:srgbClr val="000000"/>
                </a:solidFill>
              </a:rPr>
              <a:t>    </a:t>
            </a:r>
            <a:r>
              <a:rPr lang="en-US" altLang="en-US" sz="2500" dirty="0" smtClean="0">
                <a:solidFill>
                  <a:srgbClr val="000000"/>
                </a:solidFill>
              </a:rPr>
              <a:t>increments </a:t>
            </a:r>
            <a:r>
              <a:rPr lang="en-US" altLang="en-US" sz="2500" dirty="0">
                <a:solidFill>
                  <a:srgbClr val="000000"/>
                </a:solidFill>
              </a:rPr>
              <a:t>the pointer to point to the </a:t>
            </a:r>
            <a:r>
              <a:rPr lang="en-US" altLang="en-US" sz="2500" i="1" dirty="0">
                <a:solidFill>
                  <a:srgbClr val="000000"/>
                </a:solidFill>
              </a:rPr>
              <a:t>next</a:t>
            </a:r>
            <a:r>
              <a:rPr lang="en-US" altLang="en-US" sz="2500" dirty="0">
                <a:solidFill>
                  <a:srgbClr val="000000"/>
                </a:solidFill>
              </a:rPr>
              <a:t> location in the array. </a:t>
            </a:r>
          </a:p>
          <a:p>
            <a:pPr lvl="2" eaLnBrk="1" hangingPunct="1"/>
            <a:endParaRPr lang="tr-TR" altLang="en-US" sz="1200" dirty="0" smtClean="0">
              <a:solidFill>
                <a:srgbClr val="000000"/>
              </a:solidFill>
            </a:endParaRPr>
          </a:p>
          <a:p>
            <a:pPr lvl="2" eaLnBrk="1" hangingPunct="1"/>
            <a:r>
              <a:rPr lang="en-US" altLang="en-US" sz="2200" dirty="0" smtClean="0">
                <a:solidFill>
                  <a:srgbClr val="000000"/>
                </a:solidFill>
              </a:rPr>
              <a:t>Either </a:t>
            </a:r>
            <a:r>
              <a:rPr lang="en-US" altLang="en-US" sz="2200" dirty="0">
                <a:solidFill>
                  <a:srgbClr val="000000"/>
                </a:solidFill>
              </a:rPr>
              <a:t>of the statements</a:t>
            </a:r>
          </a:p>
          <a:p>
            <a:pPr lvl="3" eaLnBrk="1" hangingPunct="1"/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--</a:t>
            </a: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vPtr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dirty="0">
                <a:solidFill>
                  <a:srgbClr val="000000"/>
                </a:solidFill>
              </a:rPr>
              <a:t>		</a:t>
            </a:r>
            <a:r>
              <a:rPr lang="tr-TR" altLang="en-US" dirty="0" smtClean="0">
                <a:solidFill>
                  <a:srgbClr val="000000"/>
                </a:solidFill>
              </a:rPr>
              <a:t>    </a:t>
            </a:r>
            <a:r>
              <a:rPr lang="en-US" altLang="en-US" dirty="0" smtClean="0">
                <a:solidFill>
                  <a:srgbClr val="000000"/>
                </a:solidFill>
              </a:rPr>
              <a:t>decrements </a:t>
            </a:r>
            <a:r>
              <a:rPr lang="en-US" altLang="en-US" dirty="0">
                <a:solidFill>
                  <a:srgbClr val="000000"/>
                </a:solidFill>
              </a:rPr>
              <a:t>the pointer to point to the </a:t>
            </a:r>
            <a:r>
              <a:rPr lang="en-US" altLang="en-US" i="1" dirty="0">
                <a:solidFill>
                  <a:srgbClr val="000000"/>
                </a:solidFill>
              </a:rPr>
              <a:t>previous</a:t>
            </a:r>
            <a:r>
              <a:rPr lang="en-US" altLang="en-US" dirty="0">
                <a:solidFill>
                  <a:srgbClr val="000000"/>
                </a:solidFill>
              </a:rPr>
              <a:t> element of the array</a:t>
            </a:r>
            <a:endParaRPr lang="en-US" altLang="en-US" sz="2500" dirty="0">
              <a:solidFill>
                <a:srgbClr val="000000"/>
              </a:solidFill>
            </a:endParaRPr>
          </a:p>
          <a:p>
            <a:pPr lvl="1"/>
            <a:endParaRPr lang="en-US" dirty="0"/>
          </a:p>
          <a:p>
            <a:pPr lvl="2"/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5893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Expressions and Pointer Arithmetic</a:t>
            </a:r>
            <a:r>
              <a:rPr lang="tr-TR" altLang="tr-TR" dirty="0"/>
              <a:t> – c</a:t>
            </a:r>
            <a:r>
              <a:rPr lang="en-US" altLang="tr-TR" dirty="0"/>
              <a:t>o</a:t>
            </a:r>
            <a:r>
              <a:rPr lang="tr-TR" altLang="tr-TR" dirty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Pointer variables may be subtracted from one another. </a:t>
            </a:r>
          </a:p>
          <a:p>
            <a:pPr lvl="4"/>
            <a:endParaRPr lang="tr-TR" altLang="tr-TR" sz="1000" dirty="0" smtClean="0"/>
          </a:p>
          <a:p>
            <a:pPr lvl="1"/>
            <a:r>
              <a:rPr lang="en-US" altLang="tr-TR" dirty="0" smtClean="0"/>
              <a:t>Returns </a:t>
            </a:r>
            <a:r>
              <a:rPr lang="en-US" altLang="tr-TR" dirty="0"/>
              <a:t>number of elements from one to the other.  </a:t>
            </a:r>
          </a:p>
          <a:p>
            <a:pPr lvl="2">
              <a:buFontTx/>
              <a:buNone/>
            </a:pPr>
            <a:r>
              <a:rPr lang="en-US" altLang="tr-TR" sz="1800" dirty="0">
                <a:latin typeface="Lucida Console" panose="020B0609040504020204" pitchFamily="49" charset="0"/>
              </a:rPr>
              <a:t>vPtr2 = &amp;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v[2];  </a:t>
            </a:r>
            <a:r>
              <a:rPr lang="en-US" altLang="tr-TR" sz="1800" dirty="0">
                <a:latin typeface="Lucida Console" panose="020B0609040504020204" pitchFamily="49" charset="0"/>
              </a:rPr>
              <a:t>(vPtr2 = 3008)</a:t>
            </a:r>
          </a:p>
          <a:p>
            <a:pPr lvl="2">
              <a:buFontTx/>
              <a:buNone/>
            </a:pPr>
            <a:r>
              <a:rPr lang="en-US" altLang="tr-TR" sz="1800" dirty="0" err="1">
                <a:latin typeface="Lucida Console" panose="020B0609040504020204" pitchFamily="49" charset="0"/>
              </a:rPr>
              <a:t>vPtr</a:t>
            </a:r>
            <a:r>
              <a:rPr lang="en-US" altLang="tr-TR" sz="1800" dirty="0">
                <a:latin typeface="Lucida Console" panose="020B0609040504020204" pitchFamily="49" charset="0"/>
              </a:rPr>
              <a:t> = &amp;</a:t>
            </a:r>
            <a:r>
              <a:rPr lang="en-US" altLang="tr-TR" sz="1800" dirty="0" smtClean="0">
                <a:latin typeface="Lucida Console" panose="020B0609040504020204" pitchFamily="49" charset="0"/>
              </a:rPr>
              <a:t>v[0];   </a:t>
            </a:r>
            <a:r>
              <a:rPr lang="en-US" altLang="tr-TR" sz="1800" dirty="0">
                <a:latin typeface="Lucida Console" panose="020B0609040504020204" pitchFamily="49" charset="0"/>
              </a:rPr>
              <a:t>(</a:t>
            </a:r>
            <a:r>
              <a:rPr lang="en-US" altLang="tr-TR" sz="1800" dirty="0" err="1">
                <a:latin typeface="Lucida Console" panose="020B0609040504020204" pitchFamily="49" charset="0"/>
              </a:rPr>
              <a:t>vPtr</a:t>
            </a:r>
            <a:r>
              <a:rPr lang="en-US" altLang="tr-TR" sz="1800" dirty="0">
                <a:latin typeface="Lucida Console" panose="020B0609040504020204" pitchFamily="49" charset="0"/>
              </a:rPr>
              <a:t> = 3000)</a:t>
            </a:r>
          </a:p>
          <a:p>
            <a:pPr lvl="4"/>
            <a:endParaRPr lang="tr-TR" altLang="tr-TR" sz="1000" dirty="0" smtClean="0"/>
          </a:p>
          <a:p>
            <a:pPr lvl="1"/>
            <a:r>
              <a:rPr lang="en-US" altLang="tr-TR" sz="2000" dirty="0" smtClean="0">
                <a:latin typeface="Lucida Console" panose="020B0609040504020204" pitchFamily="49" charset="0"/>
              </a:rPr>
              <a:t>x </a:t>
            </a:r>
            <a:r>
              <a:rPr lang="en-US" altLang="tr-TR" sz="2000" dirty="0">
                <a:latin typeface="Lucida Console" panose="020B0609040504020204" pitchFamily="49" charset="0"/>
              </a:rPr>
              <a:t>= vPtr2 - </a:t>
            </a:r>
            <a:r>
              <a:rPr lang="en-US" altLang="tr-TR" sz="2000" dirty="0" err="1">
                <a:latin typeface="Lucida Console" panose="020B0609040504020204" pitchFamily="49" charset="0"/>
              </a:rPr>
              <a:t>vPtr</a:t>
            </a:r>
            <a:r>
              <a:rPr lang="en-US" altLang="tr-TR" dirty="0">
                <a:latin typeface="Lucida Console" panose="020B0609040504020204" pitchFamily="49" charset="0"/>
              </a:rPr>
              <a:t> </a:t>
            </a:r>
            <a:r>
              <a:rPr lang="en-US" altLang="tr-TR" dirty="0"/>
              <a:t>// would assign to x the value of 2 (not 8)</a:t>
            </a:r>
          </a:p>
          <a:p>
            <a:pPr lvl="4"/>
            <a:endParaRPr lang="tr-TR" altLang="tr-TR" dirty="0" smtClean="0"/>
          </a:p>
          <a:p>
            <a:pPr lvl="4"/>
            <a:endParaRPr lang="tr-TR" altLang="tr-TR" dirty="0" smtClean="0"/>
          </a:p>
          <a:p>
            <a:pPr lvl="4"/>
            <a:endParaRPr lang="tr-TR" altLang="tr-TR" dirty="0" smtClean="0"/>
          </a:p>
          <a:p>
            <a:pPr lvl="4"/>
            <a:endParaRPr lang="en-US" altLang="tr-TR" dirty="0"/>
          </a:p>
          <a:p>
            <a:r>
              <a:rPr lang="en-US" altLang="tr-TR" dirty="0"/>
              <a:t>Pointer comparison ( </a:t>
            </a:r>
            <a:r>
              <a:rPr lang="en-US" altLang="tr-TR" sz="2600" dirty="0"/>
              <a:t>&lt;</a:t>
            </a:r>
            <a:r>
              <a:rPr lang="en-US" altLang="tr-TR" dirty="0"/>
              <a:t>, </a:t>
            </a:r>
            <a:r>
              <a:rPr lang="en-US" altLang="tr-TR" sz="2600" dirty="0"/>
              <a:t>==</a:t>
            </a:r>
            <a:r>
              <a:rPr lang="en-US" altLang="tr-TR" dirty="0"/>
              <a:t> , </a:t>
            </a:r>
            <a:r>
              <a:rPr lang="en-US" altLang="tr-TR" sz="2600" dirty="0"/>
              <a:t>&gt;</a:t>
            </a:r>
            <a:r>
              <a:rPr lang="en-US" altLang="tr-TR" dirty="0"/>
              <a:t> )</a:t>
            </a:r>
          </a:p>
          <a:p>
            <a:pPr lvl="4"/>
            <a:endParaRPr lang="tr-TR" altLang="tr-TR" sz="1000" dirty="0" smtClean="0"/>
          </a:p>
          <a:p>
            <a:pPr lvl="1"/>
            <a:r>
              <a:rPr lang="en-US" altLang="tr-TR" dirty="0" smtClean="0"/>
              <a:t>See </a:t>
            </a:r>
            <a:r>
              <a:rPr lang="en-US" altLang="tr-TR" dirty="0"/>
              <a:t>which pointer points to the higher numbered array element</a:t>
            </a:r>
          </a:p>
          <a:p>
            <a:pPr lvl="4" eaLnBrk="1" hangingPunct="1">
              <a:lnSpc>
                <a:spcPct val="90000"/>
              </a:lnSpc>
            </a:pPr>
            <a:endParaRPr lang="tr-TR" altLang="en-US" sz="1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A </a:t>
            </a:r>
            <a:r>
              <a:rPr lang="en-US" altLang="en-US" dirty="0"/>
              <a:t>common use of pointer comparison is determining whether a pointer is NULL. 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04174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Expressions and Pointer Arithmetic</a:t>
            </a:r>
            <a:r>
              <a:rPr lang="tr-TR" altLang="tr-TR" dirty="0"/>
              <a:t> – c</a:t>
            </a:r>
            <a:r>
              <a:rPr lang="en-US" altLang="tr-TR" dirty="0"/>
              <a:t>o</a:t>
            </a:r>
            <a:r>
              <a:rPr lang="tr-TR" altLang="tr-TR" dirty="0"/>
              <a:t>nt.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A pointer can be assigned to another pointer if both have the same type. </a:t>
            </a:r>
          </a:p>
          <a:p>
            <a:pPr lvl="4" eaLnBrk="1" hangingPunct="1"/>
            <a:endParaRPr lang="tr-TR" altLang="en-US" dirty="0" smtClean="0">
              <a:solidFill>
                <a:srgbClr val="000000"/>
              </a:solidFill>
            </a:endParaRPr>
          </a:p>
          <a:p>
            <a:pPr lvl="4" eaLnBrk="1" hangingPunct="1"/>
            <a:endParaRPr lang="tr-TR" altLang="en-US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</a:rPr>
              <a:t>The </a:t>
            </a:r>
            <a:r>
              <a:rPr lang="en-US" altLang="en-US" dirty="0">
                <a:solidFill>
                  <a:srgbClr val="000000"/>
                </a:solidFill>
              </a:rPr>
              <a:t>exceptional case: </a:t>
            </a:r>
          </a:p>
          <a:p>
            <a:pPr lvl="4" eaLnBrk="1" hangingPunct="1"/>
            <a:endParaRPr lang="tr-TR" altLang="en-US" sz="1000" dirty="0" smtClean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void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 (</a:t>
            </a:r>
            <a:r>
              <a:rPr lang="en-US" alt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pointer to void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lvl="4" eaLnBrk="1" hangingPunct="1"/>
            <a:endParaRPr lang="tr-TR" altLang="en-US" sz="1000" dirty="0" smtClean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</a:rPr>
              <a:t>A </a:t>
            </a:r>
            <a:r>
              <a:rPr lang="en-US" altLang="en-US" dirty="0">
                <a:solidFill>
                  <a:srgbClr val="000000"/>
                </a:solidFill>
              </a:rPr>
              <a:t>generic pointer that can represent </a:t>
            </a:r>
            <a:r>
              <a:rPr lang="en-US" altLang="en-US" i="1" dirty="0">
                <a:solidFill>
                  <a:srgbClr val="000000"/>
                </a:solidFill>
              </a:rPr>
              <a:t>any</a:t>
            </a:r>
            <a:r>
              <a:rPr lang="en-US" altLang="en-US" dirty="0">
                <a:solidFill>
                  <a:srgbClr val="000000"/>
                </a:solidFill>
              </a:rPr>
              <a:t> pointer type.</a:t>
            </a:r>
          </a:p>
          <a:p>
            <a:pPr lvl="2" eaLnBrk="1" hangingPunct="1"/>
            <a:r>
              <a:rPr lang="en-US" altLang="en-US" dirty="0">
                <a:solidFill>
                  <a:srgbClr val="000000"/>
                </a:solidFill>
              </a:rPr>
              <a:t>A memory location for an </a:t>
            </a:r>
            <a:r>
              <a:rPr lang="en-US" altLang="en-US" i="1" dirty="0">
                <a:solidFill>
                  <a:srgbClr val="000000"/>
                </a:solidFill>
              </a:rPr>
              <a:t>unknown</a:t>
            </a:r>
            <a:r>
              <a:rPr lang="en-US" altLang="en-US" dirty="0">
                <a:solidFill>
                  <a:srgbClr val="000000"/>
                </a:solidFill>
              </a:rPr>
              <a:t> data type.</a:t>
            </a:r>
          </a:p>
          <a:p>
            <a:pPr lvl="4" eaLnBrk="1" hangingPunct="1"/>
            <a:endParaRPr lang="tr-TR" altLang="en-US" sz="1000" dirty="0" smtClean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</a:rPr>
              <a:t>All </a:t>
            </a:r>
            <a:r>
              <a:rPr lang="en-US" altLang="en-US" dirty="0">
                <a:solidFill>
                  <a:srgbClr val="000000"/>
                </a:solidFill>
              </a:rPr>
              <a:t>pointer types can be assigned a pointer to void, and a pointer to void can be assigned a pointer of any type. </a:t>
            </a:r>
          </a:p>
          <a:p>
            <a:pPr lvl="4" eaLnBrk="1" hangingPunct="1"/>
            <a:endParaRPr lang="tr-TR" altLang="en-US" sz="1000" dirty="0" smtClean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</a:rPr>
              <a:t>In </a:t>
            </a:r>
            <a:r>
              <a:rPr lang="en-US" altLang="en-US" dirty="0">
                <a:solidFill>
                  <a:srgbClr val="000000"/>
                </a:solidFill>
              </a:rPr>
              <a:t>both cases, a cast operation is not required. </a:t>
            </a:r>
          </a:p>
          <a:p>
            <a:pPr lvl="4" eaLnBrk="1" hangingPunct="1"/>
            <a:endParaRPr lang="tr-TR" altLang="en-US" sz="1000" dirty="0" smtClean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</a:rPr>
              <a:t>A </a:t>
            </a:r>
            <a:r>
              <a:rPr lang="en-US" altLang="en-US" dirty="0">
                <a:solidFill>
                  <a:srgbClr val="000000"/>
                </a:solidFill>
              </a:rPr>
              <a:t>pointer to void </a:t>
            </a:r>
            <a:r>
              <a:rPr lang="en-US" altLang="en-US" i="1" dirty="0">
                <a:solidFill>
                  <a:srgbClr val="000000"/>
                </a:solidFill>
              </a:rPr>
              <a:t>cannot</a:t>
            </a:r>
            <a:r>
              <a:rPr lang="en-US" altLang="en-US" dirty="0">
                <a:solidFill>
                  <a:srgbClr val="000000"/>
                </a:solidFill>
              </a:rPr>
              <a:t> be dereferenced. </a:t>
            </a:r>
          </a:p>
          <a:p>
            <a:pPr lvl="1" eaLnBrk="1" hangingPunct="1"/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966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Using the </a:t>
            </a:r>
            <a:r>
              <a:rPr lang="en-US" altLang="tr-TR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Qualifier with Pointers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sz="2600" b="1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qualifier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Variable cannot be changed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Use </a:t>
            </a:r>
            <a:r>
              <a:rPr lang="en-US" altLang="tr-TR" sz="2400" b="1" dirty="0" err="1">
                <a:latin typeface="Lucida Console" panose="020B0609040504020204" pitchFamily="49" charset="0"/>
              </a:rPr>
              <a:t>const</a:t>
            </a:r>
            <a:endParaRPr lang="en-US" altLang="tr-TR" dirty="0"/>
          </a:p>
          <a:p>
            <a:pPr lvl="2">
              <a:lnSpc>
                <a:spcPct val="120000"/>
              </a:lnSpc>
            </a:pPr>
            <a:r>
              <a:rPr lang="en-US" altLang="tr-TR" dirty="0"/>
              <a:t>If a variable should not change in the body of a function to which </a:t>
            </a:r>
            <a:r>
              <a:rPr lang="en-US" altLang="tr-TR" dirty="0" smtClean="0"/>
              <a:t>it</a:t>
            </a:r>
            <a:r>
              <a:rPr lang="tr-TR" altLang="tr-TR" dirty="0" smtClean="0"/>
              <a:t> i</a:t>
            </a:r>
            <a:r>
              <a:rPr lang="en-US" altLang="tr-TR" dirty="0" smtClean="0"/>
              <a:t>s </a:t>
            </a:r>
            <a:r>
              <a:rPr lang="en-US" altLang="tr-TR" dirty="0"/>
              <a:t>passed, the variable should be declared </a:t>
            </a:r>
            <a:r>
              <a:rPr lang="en-US" altLang="tr-TR" b="1" dirty="0" err="1"/>
              <a:t>const</a:t>
            </a:r>
            <a:r>
              <a:rPr lang="en-US" altLang="tr-TR" dirty="0"/>
              <a:t> to ensure that </a:t>
            </a:r>
            <a:r>
              <a:rPr lang="en-US" altLang="tr-TR" dirty="0" smtClean="0"/>
              <a:t>it</a:t>
            </a:r>
            <a:r>
              <a:rPr lang="tr-TR" altLang="tr-TR" dirty="0" smtClean="0"/>
              <a:t> i</a:t>
            </a:r>
            <a:r>
              <a:rPr lang="en-US" altLang="tr-TR" dirty="0" smtClean="0"/>
              <a:t>s </a:t>
            </a:r>
            <a:r>
              <a:rPr lang="en-US" altLang="tr-TR" dirty="0"/>
              <a:t>not accidentally modified.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Attempting to change a </a:t>
            </a:r>
            <a:r>
              <a:rPr lang="en-US" altLang="tr-TR" sz="2000" b="1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variable produces an error</a:t>
            </a:r>
          </a:p>
          <a:p>
            <a:pPr lvl="1">
              <a:lnSpc>
                <a:spcPct val="120000"/>
              </a:lnSpc>
            </a:pPr>
            <a:endParaRPr lang="en-US" altLang="tr-TR" dirty="0"/>
          </a:p>
          <a:p>
            <a:pPr>
              <a:lnSpc>
                <a:spcPct val="120000"/>
              </a:lnSpc>
            </a:pPr>
            <a:r>
              <a:rPr lang="en-US" altLang="tr-TR" sz="2600" b="1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pointers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Always point to the same memory location</a:t>
            </a:r>
          </a:p>
          <a:p>
            <a:pPr lvl="1">
              <a:lnSpc>
                <a:spcPct val="120000"/>
              </a:lnSpc>
            </a:pPr>
            <a:r>
              <a:rPr lang="en-US" altLang="tr-TR" dirty="0"/>
              <a:t>Must be initialized when defined</a:t>
            </a:r>
          </a:p>
          <a:p>
            <a:pPr>
              <a:lnSpc>
                <a:spcPct val="12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8702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</a:t>
            </a:r>
            <a:r>
              <a:rPr lang="en-US" dirty="0"/>
              <a:t>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4487" lvl="1" indent="0">
              <a:lnSpc>
                <a:spcPct val="90000"/>
              </a:lnSpc>
              <a:buNone/>
            </a:pPr>
            <a:endParaRPr lang="en-US" altLang="tr-TR" dirty="0"/>
          </a:p>
          <a:p>
            <a:pPr marL="344487" lvl="1" indent="0">
              <a:lnSpc>
                <a:spcPct val="90000"/>
              </a:lnSpc>
              <a:buNone/>
            </a:pPr>
            <a:r>
              <a:rPr lang="en-US" altLang="tr-TR" dirty="0"/>
              <a:t>The declaration is read from </a:t>
            </a:r>
            <a:r>
              <a:rPr lang="en-US" altLang="tr-TR" i="1" dirty="0"/>
              <a:t>right to left.</a:t>
            </a:r>
          </a:p>
          <a:p>
            <a:pPr marL="344487" lvl="1" indent="0">
              <a:lnSpc>
                <a:spcPct val="90000"/>
              </a:lnSpc>
              <a:buNone/>
            </a:pPr>
            <a:r>
              <a:rPr lang="en-US" altLang="tr-TR" i="1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tr-TR" sz="2000" dirty="0" err="1"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latin typeface="Lucida Console" panose="020B0609040504020204" pitchFamily="49" charset="0"/>
              </a:rPr>
              <a:t> *</a:t>
            </a:r>
            <a:r>
              <a:rPr lang="en-US" altLang="tr-TR" sz="2000" dirty="0" err="1">
                <a:latin typeface="Lucida Console" panose="020B0609040504020204" pitchFamily="49" charset="0"/>
              </a:rPr>
              <a:t>const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latin typeface="Lucida Console" panose="020B0609040504020204" pitchFamily="49" charset="0"/>
              </a:rPr>
              <a:t>myPtr</a:t>
            </a:r>
            <a:r>
              <a:rPr lang="en-US" altLang="tr-TR" sz="2000" dirty="0">
                <a:latin typeface="Lucida Console" panose="020B0609040504020204" pitchFamily="49" charset="0"/>
              </a:rPr>
              <a:t> = &amp;x;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Type </a:t>
            </a:r>
            <a:r>
              <a:rPr lang="en-US" altLang="tr-TR" sz="1800" dirty="0" err="1">
                <a:latin typeface="Lucida Console" panose="020B0609040504020204" pitchFamily="49" charset="0"/>
              </a:rPr>
              <a:t>int</a:t>
            </a:r>
            <a:r>
              <a:rPr lang="en-US" altLang="tr-TR" sz="1800" dirty="0">
                <a:latin typeface="Lucida Console" panose="020B0609040504020204" pitchFamily="49" charset="0"/>
              </a:rPr>
              <a:t> *</a:t>
            </a:r>
            <a:r>
              <a:rPr lang="en-US" altLang="tr-TR" sz="1800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</a:t>
            </a:r>
            <a:r>
              <a:rPr lang="en-US" altLang="tr-TR" dirty="0">
                <a:cs typeface="Times New Roman" panose="02020603050405020304" pitchFamily="18" charset="0"/>
              </a:rPr>
              <a:t>–</a:t>
            </a:r>
            <a:r>
              <a:rPr lang="en-US" altLang="tr-TR" dirty="0"/>
              <a:t> constant pointer to an </a:t>
            </a:r>
            <a:r>
              <a:rPr lang="en-US" altLang="tr-TR" sz="1800" dirty="0" err="1">
                <a:latin typeface="Lucida Console" panose="020B0609040504020204" pitchFamily="49" charset="0"/>
              </a:rPr>
              <a:t>int</a:t>
            </a:r>
            <a:endParaRPr lang="en-US" altLang="tr-TR" sz="1800" dirty="0">
              <a:latin typeface="Lucida Console" panose="020B0609040504020204" pitchFamily="49" charset="0"/>
            </a:endParaRPr>
          </a:p>
          <a:p>
            <a:pPr lvl="4">
              <a:lnSpc>
                <a:spcPct val="90000"/>
              </a:lnSpc>
            </a:pPr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4">
              <a:lnSpc>
                <a:spcPct val="90000"/>
              </a:lnSpc>
            </a:pPr>
            <a:endParaRPr lang="en-US" altLang="tr-TR" sz="14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tr-TR" sz="2000" dirty="0" err="1">
                <a:latin typeface="Lucida Console" panose="020B0609040504020204" pitchFamily="49" charset="0"/>
              </a:rPr>
              <a:t>const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latin typeface="Lucida Console" panose="020B0609040504020204" pitchFamily="49" charset="0"/>
              </a:rPr>
              <a:t> *</a:t>
            </a:r>
            <a:r>
              <a:rPr lang="en-US" altLang="tr-TR" sz="2000" dirty="0" err="1">
                <a:latin typeface="Lucida Console" panose="020B0609040504020204" pitchFamily="49" charset="0"/>
              </a:rPr>
              <a:t>myPtr</a:t>
            </a:r>
            <a:r>
              <a:rPr lang="en-US" altLang="tr-TR" sz="2000" dirty="0">
                <a:latin typeface="Lucida Console" panose="020B0609040504020204" pitchFamily="49" charset="0"/>
              </a:rPr>
              <a:t> = &amp;x;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Regular pointer to a </a:t>
            </a:r>
            <a:r>
              <a:rPr lang="en-US" altLang="tr-TR" sz="1800" dirty="0" err="1">
                <a:latin typeface="Lucida Console" panose="020B0609040504020204" pitchFamily="49" charset="0"/>
              </a:rPr>
              <a:t>const</a:t>
            </a:r>
            <a:r>
              <a:rPr lang="en-US" altLang="tr-TR" sz="1800" dirty="0">
                <a:latin typeface="Lucida Console" panose="020B0609040504020204" pitchFamily="49" charset="0"/>
              </a:rPr>
              <a:t> </a:t>
            </a:r>
            <a:r>
              <a:rPr lang="en-US" altLang="tr-TR" sz="1800" dirty="0" err="1">
                <a:latin typeface="Lucida Console" panose="020B0609040504020204" pitchFamily="49" charset="0"/>
              </a:rPr>
              <a:t>int</a:t>
            </a:r>
            <a:endParaRPr lang="en-US" altLang="tr-TR" sz="1800" dirty="0">
              <a:latin typeface="Lucida Console" panose="020B0609040504020204" pitchFamily="49" charset="0"/>
            </a:endParaRPr>
          </a:p>
          <a:p>
            <a:pPr lvl="4">
              <a:lnSpc>
                <a:spcPct val="90000"/>
              </a:lnSpc>
            </a:pPr>
            <a:endParaRPr lang="tr-TR" altLang="tr-TR" sz="1400" dirty="0" smtClean="0">
              <a:latin typeface="Lucida Console" panose="020B0609040504020204" pitchFamily="49" charset="0"/>
            </a:endParaRPr>
          </a:p>
          <a:p>
            <a:pPr lvl="4">
              <a:lnSpc>
                <a:spcPct val="90000"/>
              </a:lnSpc>
            </a:pPr>
            <a:endParaRPr lang="en-US" altLang="tr-TR" sz="14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tr-TR" sz="2000" dirty="0" err="1">
                <a:latin typeface="Lucida Console" panose="020B0609040504020204" pitchFamily="49" charset="0"/>
              </a:rPr>
              <a:t>const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latin typeface="Lucida Console" panose="020B0609040504020204" pitchFamily="49" charset="0"/>
              </a:rPr>
              <a:t>int</a:t>
            </a:r>
            <a:r>
              <a:rPr lang="en-US" altLang="tr-TR" sz="2000" dirty="0">
                <a:latin typeface="Lucida Console" panose="020B0609040504020204" pitchFamily="49" charset="0"/>
              </a:rPr>
              <a:t> *</a:t>
            </a:r>
            <a:r>
              <a:rPr lang="en-US" altLang="tr-TR" sz="2000" dirty="0" err="1">
                <a:latin typeface="Lucida Console" panose="020B0609040504020204" pitchFamily="49" charset="0"/>
              </a:rPr>
              <a:t>const</a:t>
            </a:r>
            <a:r>
              <a:rPr lang="en-US" altLang="tr-TR" sz="2000" dirty="0">
                <a:latin typeface="Lucida Console" panose="020B0609040504020204" pitchFamily="49" charset="0"/>
              </a:rPr>
              <a:t> </a:t>
            </a:r>
            <a:r>
              <a:rPr lang="en-US" altLang="tr-TR" sz="2000" dirty="0" err="1">
                <a:latin typeface="Lucida Console" panose="020B0609040504020204" pitchFamily="49" charset="0"/>
              </a:rPr>
              <a:t>Ptr</a:t>
            </a:r>
            <a:r>
              <a:rPr lang="en-US" altLang="tr-TR" sz="2000" dirty="0">
                <a:latin typeface="Lucida Console" panose="020B0609040504020204" pitchFamily="49" charset="0"/>
              </a:rPr>
              <a:t> = &amp;x;</a:t>
            </a:r>
          </a:p>
          <a:p>
            <a:pPr lvl="2">
              <a:lnSpc>
                <a:spcPct val="90000"/>
              </a:lnSpc>
            </a:pPr>
            <a:r>
              <a:rPr lang="en-US" altLang="tr-TR" sz="1800" dirty="0" err="1">
                <a:latin typeface="Lucida Console" panose="020B0609040504020204" pitchFamily="49" charset="0"/>
              </a:rPr>
              <a:t>const</a:t>
            </a:r>
            <a:r>
              <a:rPr lang="en-US" altLang="tr-TR" dirty="0"/>
              <a:t> pointer to a </a:t>
            </a:r>
            <a:r>
              <a:rPr lang="en-US" altLang="tr-TR" sz="1800" dirty="0" err="1">
                <a:latin typeface="Lucida Console" panose="020B0609040504020204" pitchFamily="49" charset="0"/>
              </a:rPr>
              <a:t>const</a:t>
            </a:r>
            <a:r>
              <a:rPr lang="en-US" altLang="tr-TR" sz="1800" dirty="0">
                <a:latin typeface="Lucida Console" panose="020B0609040504020204" pitchFamily="49" charset="0"/>
              </a:rPr>
              <a:t> </a:t>
            </a:r>
            <a:r>
              <a:rPr lang="en-US" altLang="tr-TR" sz="1800" dirty="0" err="1">
                <a:latin typeface="Lucida Console" panose="020B0609040504020204" pitchFamily="49" charset="0"/>
              </a:rPr>
              <a:t>int</a:t>
            </a:r>
            <a:endParaRPr lang="en-US" altLang="tr-TR" sz="1800" dirty="0">
              <a:latin typeface="Lucida Console" panose="020B0609040504020204" pitchFamily="49" charset="0"/>
            </a:endParaRPr>
          </a:p>
          <a:p>
            <a:pPr lvl="2">
              <a:lnSpc>
                <a:spcPct val="90000"/>
              </a:lnSpc>
            </a:pPr>
            <a:r>
              <a:rPr lang="en-US" altLang="tr-TR" sz="1800" dirty="0">
                <a:latin typeface="Lucida Console" panose="020B0609040504020204" pitchFamily="49" charset="0"/>
              </a:rPr>
              <a:t>x</a:t>
            </a:r>
            <a:r>
              <a:rPr lang="en-US" altLang="tr-TR" dirty="0"/>
              <a:t> can be changed, but not </a:t>
            </a:r>
            <a:r>
              <a:rPr lang="en-US" altLang="tr-TR" sz="1800" dirty="0">
                <a:latin typeface="Lucida Console" panose="020B0609040504020204" pitchFamily="49" charset="0"/>
              </a:rPr>
              <a:t>*</a:t>
            </a:r>
            <a:r>
              <a:rPr lang="en-US" altLang="tr-TR" sz="1800" dirty="0" err="1">
                <a:latin typeface="Lucida Console" panose="020B0609040504020204" pitchFamily="49" charset="0"/>
              </a:rPr>
              <a:t>Ptr</a:t>
            </a:r>
            <a:endParaRPr lang="en-US" altLang="tr-TR" sz="1800" dirty="0">
              <a:latin typeface="Lucida Console" panose="020B060904050402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41707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– Constant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2184"/>
            <a:ext cx="11480800" cy="519372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main(void){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y; </a:t>
            </a:r>
            <a:r>
              <a:rPr lang="tr-TR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</a:t>
            </a:r>
            <a:r>
              <a:rPr lang="en-US" sz="20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define y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f(&amp;y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);</a:t>
            </a:r>
            <a:endParaRPr lang="tr-TR" i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} </a:t>
            </a:r>
          </a:p>
          <a:p>
            <a:pPr marL="0" indent="0">
              <a:lnSpc>
                <a:spcPct val="120000"/>
              </a:lnSpc>
              <a:buNone/>
            </a:pPr>
            <a:endParaRPr lang="tr-TR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2000" i="1" dirty="0" err="1">
                <a:solidFill>
                  <a:srgbClr val="002060"/>
                </a:solidFill>
                <a:latin typeface="Consolas" panose="020B0609020204030204" pitchFamily="49" charset="0"/>
              </a:rPr>
              <a:t>xPtr</a:t>
            </a: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 cannot be used to modify the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// value of the variable to which it points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void f(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xPtr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xPtr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100;</a:t>
            </a:r>
            <a:endParaRPr lang="en-US" i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66928" y="907105"/>
            <a:ext cx="11480800" cy="519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</a:t>
            </a:r>
            <a:endParaRPr lang="en-US" sz="20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sz="11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2000" i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f attempts illegal modification</a:t>
            </a:r>
            <a:endParaRPr lang="tr-TR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tr-TR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sz="2000" i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sz="20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        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Not allowed since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xPtr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is a pointer to a constant integer</a:t>
            </a:r>
            <a:endParaRPr lang="en-US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tr-TR" kern="0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8315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– Constant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2184"/>
            <a:ext cx="11480800" cy="519372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main(void){</a:t>
            </a:r>
          </a:p>
          <a:p>
            <a:pPr marL="0" indent="0">
              <a:buNone/>
            </a:pPr>
            <a:endParaRPr lang="tr-TR" sz="14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x;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// define x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y;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// define y</a:t>
            </a:r>
          </a:p>
          <a:p>
            <a:pPr marL="0" indent="0">
              <a:buNone/>
            </a:pPr>
            <a:endParaRPr lang="en-US" sz="14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sz="18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1800" i="1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sz="1800" i="1" dirty="0">
                <a:solidFill>
                  <a:srgbClr val="002060"/>
                </a:solidFill>
                <a:latin typeface="Consolas" panose="020B0609020204030204" pitchFamily="49" charset="0"/>
              </a:rPr>
              <a:t> is a constant pointer to an integer that can be modified  through </a:t>
            </a:r>
            <a:r>
              <a:rPr lang="en-US" sz="1800" i="1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sz="1800" i="1" dirty="0">
                <a:solidFill>
                  <a:srgbClr val="002060"/>
                </a:solidFill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sz="18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8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1800" i="1" dirty="0">
                <a:solidFill>
                  <a:srgbClr val="002060"/>
                </a:solidFill>
                <a:latin typeface="Consolas" panose="020B0609020204030204" pitchFamily="49" charset="0"/>
              </a:rPr>
              <a:t>but </a:t>
            </a:r>
            <a:r>
              <a:rPr lang="en-US" sz="1800" i="1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sz="1800" i="1" dirty="0">
                <a:solidFill>
                  <a:srgbClr val="002060"/>
                </a:solidFill>
                <a:latin typeface="Consolas" panose="020B0609020204030204" pitchFamily="49" charset="0"/>
              </a:rPr>
              <a:t> always points to the same memory location</a:t>
            </a:r>
          </a:p>
          <a:p>
            <a:pPr marL="0" indent="0">
              <a:buNone/>
            </a:pP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&amp;x; </a:t>
            </a:r>
            <a:endParaRPr lang="en-US" sz="18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7;</a:t>
            </a:r>
            <a:r>
              <a:rPr lang="en-US" sz="20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</a:t>
            </a:r>
            <a:endParaRPr lang="tr-TR" i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&amp;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y;</a:t>
            </a:r>
            <a:endParaRPr lang="en-US" i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}   </a:t>
            </a:r>
            <a:endParaRPr lang="tr-TR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52272" y="906088"/>
            <a:ext cx="11480800" cy="519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tr-TR" sz="14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en-US" sz="20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en-US" sz="20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4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8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8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en-US" sz="18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4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   </a:t>
            </a: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allowed: *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ptr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is not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000" i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</a:t>
            </a:r>
            <a:endParaRPr lang="tr-TR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      </a:t>
            </a: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error: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ptr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is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; cannot assign new address</a:t>
            </a:r>
            <a:endParaRPr lang="en-US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endParaRPr lang="tr-TR" kern="0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839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– Constant Address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2184"/>
            <a:ext cx="11480800" cy="519372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main(void){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x = 5;   </a:t>
            </a: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// initialize x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y;       </a:t>
            </a:r>
            <a:r>
              <a:rPr lang="en-US" sz="20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define y</a:t>
            </a:r>
          </a:p>
          <a:p>
            <a:pPr marL="0" indent="0">
              <a:buNone/>
            </a:pPr>
            <a:endParaRPr lang="en-US" sz="14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sz="18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7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1700" i="1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sz="1700" i="1" dirty="0">
                <a:solidFill>
                  <a:srgbClr val="002060"/>
                </a:solidFill>
                <a:latin typeface="Consolas" panose="020B0609020204030204" pitchFamily="49" charset="0"/>
              </a:rPr>
              <a:t> is a constant pointer to a constant integer. </a:t>
            </a:r>
          </a:p>
          <a:p>
            <a:pPr marL="0" indent="0">
              <a:buNone/>
            </a:pPr>
            <a:r>
              <a:rPr lang="en-US" sz="17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sz="17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17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1700" i="1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sz="1700" i="1" dirty="0">
                <a:solidFill>
                  <a:srgbClr val="002060"/>
                </a:solidFill>
                <a:latin typeface="Consolas" panose="020B0609020204030204" pitchFamily="49" charset="0"/>
              </a:rPr>
              <a:t> always points to the same location; the integer at that location cannot be modified</a:t>
            </a:r>
          </a:p>
          <a:p>
            <a:pPr marL="0" indent="0">
              <a:buNone/>
            </a:pP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&amp;x; </a:t>
            </a:r>
            <a:r>
              <a:rPr lang="tr-TR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2000" i="1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2000" i="1" dirty="0">
                <a:solidFill>
                  <a:srgbClr val="002060"/>
                </a:solidFill>
                <a:latin typeface="Consolas" panose="020B0609020204030204" pitchFamily="49" charset="0"/>
              </a:rPr>
              <a:t>initialization is OK</a:t>
            </a:r>
            <a:endParaRPr lang="en-US" i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("%d\n",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);</a:t>
            </a:r>
            <a:endParaRPr lang="tr-TR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x++;</a:t>
            </a:r>
            <a:endParaRPr lang="en-US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*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7;</a:t>
            </a:r>
            <a:r>
              <a:rPr lang="en-US" sz="2000" i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endParaRPr lang="en-US" i="1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&amp;</a:t>
            </a: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y;</a:t>
            </a:r>
            <a:endParaRPr lang="en-US" i="1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  <a:latin typeface="Consolas" panose="020B0609020204030204" pitchFamily="49" charset="0"/>
              </a:rPr>
              <a:t>} </a:t>
            </a:r>
            <a:endParaRPr lang="tr-TR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981456" y="906088"/>
            <a:ext cx="11480800" cy="5193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en-US" sz="20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en-US" sz="20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4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800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en-US" sz="1700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1700" i="1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sz="1400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tr-TR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error: *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ptr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is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; cannot assign new value </a:t>
            </a:r>
            <a:endParaRPr lang="en-US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     </a:t>
            </a: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tr-TR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error: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ptr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is </a:t>
            </a:r>
            <a:r>
              <a:rPr lang="en-US" sz="2000" i="1" kern="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000" i="1" kern="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; cannot assign new address</a:t>
            </a:r>
            <a:endParaRPr lang="en-US" i="1" kern="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kern="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endParaRPr lang="tr-TR" kern="0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747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F22080F-B99F-4434-96A6-20CB47AA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sizeof</a:t>
            </a:r>
            <a:r>
              <a:rPr lang="en-US" dirty="0"/>
              <a:t> </a:t>
            </a:r>
            <a:r>
              <a:rPr lang="tr-TR" dirty="0" smtClean="0"/>
              <a:t> </a:t>
            </a:r>
            <a:r>
              <a:rPr lang="en-US" dirty="0" smtClean="0"/>
              <a:t>Operator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F891FF-5E22-4F58-BA32-1A38974A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Determine the size in bytes of </a:t>
            </a:r>
            <a:r>
              <a:rPr lang="en-US" altLang="en-US" dirty="0" smtClean="0">
                <a:solidFill>
                  <a:srgbClr val="000000"/>
                </a:solidFill>
              </a:rPr>
              <a:t>any </a:t>
            </a:r>
            <a:r>
              <a:rPr lang="en-US" altLang="en-US" dirty="0">
                <a:solidFill>
                  <a:srgbClr val="000000"/>
                </a:solidFill>
              </a:rPr>
              <a:t>data type.</a:t>
            </a:r>
          </a:p>
          <a:p>
            <a:pPr>
              <a:lnSpc>
                <a:spcPct val="12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b="1" dirty="0" err="1">
                <a:solidFill>
                  <a:srgbClr val="000000"/>
                </a:solidFill>
              </a:rPr>
              <a:t>sizeof</a:t>
            </a:r>
            <a:r>
              <a:rPr lang="en-US" altLang="en-US" dirty="0">
                <a:solidFill>
                  <a:srgbClr val="000000"/>
                </a:solidFill>
              </a:rPr>
              <a:t> operator returns the total number of bytes as type </a:t>
            </a:r>
            <a:r>
              <a:rPr lang="en-US" altLang="en-US" b="1" dirty="0" err="1">
                <a:solidFill>
                  <a:srgbClr val="000000"/>
                </a:solidFill>
              </a:rPr>
              <a:t>size_t</a:t>
            </a:r>
            <a:r>
              <a:rPr lang="en-US" altLang="en-US" dirty="0">
                <a:solidFill>
                  <a:srgbClr val="000000"/>
                </a:solidFill>
              </a:rPr>
              <a:t>. </a:t>
            </a:r>
          </a:p>
          <a:p>
            <a:pPr lvl="1">
              <a:lnSpc>
                <a:spcPct val="120000"/>
              </a:lnSpc>
            </a:pPr>
            <a:r>
              <a:rPr lang="en-US" altLang="en-US" sz="2000" b="1" dirty="0" err="1">
                <a:solidFill>
                  <a:srgbClr val="000000"/>
                </a:solidFill>
              </a:rPr>
              <a:t>printf</a:t>
            </a:r>
            <a:r>
              <a:rPr lang="en-US" altLang="en-US" sz="2000" b="1" dirty="0">
                <a:solidFill>
                  <a:srgbClr val="000000"/>
                </a:solidFill>
              </a:rPr>
              <a:t>(“Size of an integer %u”, </a:t>
            </a:r>
            <a:r>
              <a:rPr lang="en-US" altLang="en-US" b="1" dirty="0" err="1">
                <a:solidFill>
                  <a:srgbClr val="0000FF"/>
                </a:solidFill>
              </a:rPr>
              <a:t>sizeof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 err="1">
                <a:solidFill>
                  <a:srgbClr val="000000"/>
                </a:solidFill>
              </a:rPr>
              <a:t>int</a:t>
            </a:r>
            <a:r>
              <a:rPr lang="en-US" altLang="en-US" b="1" dirty="0">
                <a:solidFill>
                  <a:srgbClr val="000000"/>
                </a:solidFill>
              </a:rPr>
              <a:t>)); </a:t>
            </a:r>
          </a:p>
          <a:p>
            <a:pPr lvl="1">
              <a:lnSpc>
                <a:spcPct val="120000"/>
              </a:lnSpc>
            </a:pPr>
            <a:endParaRPr lang="en-US" altLang="en-US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Consider the following array definition:</a:t>
            </a:r>
          </a:p>
          <a:p>
            <a:pPr lvl="1">
              <a:lnSpc>
                <a:spcPct val="120000"/>
              </a:lnSpc>
            </a:pPr>
            <a:r>
              <a:rPr lang="en-US" altLang="en-US" b="1" dirty="0">
                <a:solidFill>
                  <a:srgbClr val="0000FF"/>
                </a:solidFill>
              </a:rPr>
              <a:t>double</a:t>
            </a:r>
            <a:r>
              <a:rPr lang="en-US" altLang="en-US" b="1" dirty="0">
                <a:solidFill>
                  <a:srgbClr val="000000"/>
                </a:solidFill>
              </a:rPr>
              <a:t> real[</a:t>
            </a:r>
            <a:r>
              <a:rPr lang="en-US" altLang="en-US" b="1" dirty="0">
                <a:solidFill>
                  <a:srgbClr val="128AFF"/>
                </a:solidFill>
              </a:rPr>
              <a:t>22</a:t>
            </a:r>
            <a:r>
              <a:rPr lang="en-US" altLang="en-US" b="1" dirty="0">
                <a:solidFill>
                  <a:srgbClr val="000000"/>
                </a:solidFill>
              </a:rPr>
              <a:t>];</a:t>
            </a:r>
          </a:p>
          <a:p>
            <a:pPr lvl="1">
              <a:lnSpc>
                <a:spcPct val="120000"/>
              </a:lnSpc>
            </a:pPr>
            <a:r>
              <a:rPr lang="en-US" altLang="en-US" sz="2600" dirty="0" smtClean="0">
                <a:solidFill>
                  <a:srgbClr val="000000"/>
                </a:solidFill>
              </a:rPr>
              <a:t>Determine</a:t>
            </a:r>
            <a:r>
              <a:rPr lang="en-US" altLang="en-US" dirty="0" smtClean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the number of elements in the array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altLang="en-US" b="1" dirty="0" err="1">
                <a:solidFill>
                  <a:srgbClr val="0000FF"/>
                </a:solidFill>
              </a:rPr>
              <a:t>sizeof</a:t>
            </a:r>
            <a:r>
              <a:rPr lang="en-US" altLang="en-US" b="1" dirty="0">
                <a:solidFill>
                  <a:srgbClr val="000000"/>
                </a:solidFill>
              </a:rPr>
              <a:t>(real) / </a:t>
            </a:r>
            <a:r>
              <a:rPr lang="en-US" altLang="en-US" b="1" dirty="0" err="1">
                <a:solidFill>
                  <a:srgbClr val="0000FF"/>
                </a:solidFill>
              </a:rPr>
              <a:t>sizeof</a:t>
            </a:r>
            <a:r>
              <a:rPr lang="en-US" altLang="en-US" b="1" dirty="0">
                <a:solidFill>
                  <a:srgbClr val="000000"/>
                </a:solidFill>
              </a:rPr>
              <a:t>(real[</a:t>
            </a:r>
            <a:r>
              <a:rPr lang="en-US" altLang="en-US" b="1" dirty="0">
                <a:solidFill>
                  <a:srgbClr val="128AFF"/>
                </a:solidFill>
              </a:rPr>
              <a:t>0</a:t>
            </a:r>
            <a:r>
              <a:rPr lang="en-US" altLang="en-US" b="1" dirty="0">
                <a:solidFill>
                  <a:srgbClr val="000000"/>
                </a:solidFill>
              </a:rPr>
              <a:t>])</a:t>
            </a:r>
          </a:p>
          <a:p>
            <a:pPr lvl="1">
              <a:lnSpc>
                <a:spcPct val="120000"/>
              </a:lnSpc>
            </a:pP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2DB394F-3C94-4DA3-9586-F0C4498B3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84254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Relationship Between Pointers and Arrays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368" y="1002921"/>
            <a:ext cx="11480800" cy="5531609"/>
          </a:xfrm>
        </p:spPr>
        <p:txBody>
          <a:bodyPr/>
          <a:lstStyle/>
          <a:p>
            <a:r>
              <a:rPr lang="en-US" altLang="tr-TR" sz="2000" dirty="0"/>
              <a:t>Arrays and pointers are intimately related in C and often may be used interchangeably. </a:t>
            </a:r>
          </a:p>
          <a:p>
            <a:pPr lvl="4"/>
            <a:endParaRPr lang="tr-TR" altLang="tr-TR" sz="1200" dirty="0" smtClean="0"/>
          </a:p>
          <a:p>
            <a:r>
              <a:rPr lang="en-US" altLang="tr-TR" sz="2000" dirty="0" smtClean="0"/>
              <a:t>An </a:t>
            </a:r>
            <a:r>
              <a:rPr lang="en-US" altLang="tr-TR" sz="2000" dirty="0"/>
              <a:t>array name can be thought of as a constant pointer. </a:t>
            </a:r>
          </a:p>
          <a:p>
            <a:pPr lvl="4"/>
            <a:endParaRPr lang="tr-TR" altLang="en-US" sz="1200" dirty="0" smtClean="0"/>
          </a:p>
          <a:p>
            <a:r>
              <a:rPr lang="en-US" altLang="en-US" sz="2000" dirty="0" smtClean="0"/>
              <a:t>Assume </a:t>
            </a:r>
            <a:r>
              <a:rPr lang="en-US" altLang="en-US" sz="2000" dirty="0"/>
              <a:t>that integer array </a:t>
            </a:r>
            <a:r>
              <a:rPr lang="en-US" altLang="en-US" sz="2000" b="1" dirty="0"/>
              <a:t>b[5]</a:t>
            </a:r>
            <a:r>
              <a:rPr lang="en-US" altLang="en-US" sz="2000" dirty="0"/>
              <a:t> and integer pointer variable </a:t>
            </a:r>
            <a:r>
              <a:rPr lang="en-US" altLang="en-US" sz="2000" b="1" dirty="0" err="1"/>
              <a:t>bPtr</a:t>
            </a:r>
            <a:r>
              <a:rPr lang="en-US" altLang="en-US" sz="2000" dirty="0"/>
              <a:t> have been defined. </a:t>
            </a:r>
          </a:p>
          <a:p>
            <a:pPr lvl="1"/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bPtr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b;</a:t>
            </a:r>
            <a:endParaRPr lang="en-US" altLang="en-US" sz="2000" dirty="0"/>
          </a:p>
          <a:p>
            <a:pPr lvl="4"/>
            <a:endParaRPr lang="tr-TR" altLang="tr-TR" sz="1200" dirty="0" smtClean="0"/>
          </a:p>
          <a:p>
            <a:r>
              <a:rPr lang="en-US" altLang="tr-TR" sz="2000" dirty="0" smtClean="0"/>
              <a:t>Array </a:t>
            </a:r>
            <a:r>
              <a:rPr lang="en-US" altLang="tr-TR" sz="2000" dirty="0"/>
              <a:t>element </a:t>
            </a:r>
            <a:r>
              <a:rPr lang="en-US" altLang="tr-TR" sz="2000" b="1" dirty="0">
                <a:latin typeface="Lucida Console" panose="020B0609040504020204" pitchFamily="49" charset="0"/>
              </a:rPr>
              <a:t>b[ 3 ]</a:t>
            </a:r>
            <a:r>
              <a:rPr lang="en-US" altLang="tr-TR" sz="2000" b="1" dirty="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tr-TR" sz="2000" dirty="0"/>
              <a:t>Can be accessed by </a:t>
            </a:r>
            <a:r>
              <a:rPr lang="en-US" altLang="tr-TR" sz="2000" b="1" dirty="0">
                <a:latin typeface="Lucida Console" panose="020B0609040504020204" pitchFamily="49" charset="0"/>
              </a:rPr>
              <a:t>*( </a:t>
            </a:r>
            <a:r>
              <a:rPr lang="en-US" altLang="tr-TR" sz="2000" b="1" dirty="0" err="1">
                <a:latin typeface="Lucida Console" panose="020B0609040504020204" pitchFamily="49" charset="0"/>
              </a:rPr>
              <a:t>bPtr</a:t>
            </a:r>
            <a:r>
              <a:rPr lang="en-US" altLang="tr-TR" sz="2000" b="1" dirty="0">
                <a:latin typeface="Lucida Console" panose="020B0609040504020204" pitchFamily="49" charset="0"/>
              </a:rPr>
              <a:t> + 3 )</a:t>
            </a:r>
            <a:r>
              <a:rPr lang="en-US" altLang="tr-TR" sz="2000" dirty="0"/>
              <a:t> </a:t>
            </a:r>
          </a:p>
          <a:p>
            <a:pPr lvl="2"/>
            <a:r>
              <a:rPr lang="en-US" altLang="tr-TR" dirty="0"/>
              <a:t>Where </a:t>
            </a:r>
            <a:r>
              <a:rPr lang="en-US" altLang="tr-TR" dirty="0">
                <a:latin typeface="Lucida Console" panose="020B0609040504020204" pitchFamily="49" charset="0"/>
              </a:rPr>
              <a:t>3</a:t>
            </a:r>
            <a:r>
              <a:rPr lang="en-US" altLang="tr-TR" dirty="0"/>
              <a:t> (or simply n) is the offset. Called pointer/offset notation</a:t>
            </a:r>
          </a:p>
          <a:p>
            <a:pPr lvl="4"/>
            <a:endParaRPr lang="tr-TR" altLang="tr-TR" sz="1000" dirty="0" smtClean="0"/>
          </a:p>
          <a:p>
            <a:pPr lvl="1"/>
            <a:r>
              <a:rPr lang="en-US" altLang="tr-TR" sz="2000" dirty="0" smtClean="0"/>
              <a:t>Can </a:t>
            </a:r>
            <a:r>
              <a:rPr lang="en-US" altLang="tr-TR" sz="2000" dirty="0"/>
              <a:t>be accessed by </a:t>
            </a:r>
            <a:r>
              <a:rPr lang="en-US" altLang="tr-TR" sz="2000" b="1" dirty="0" err="1">
                <a:latin typeface="Lucida Console" panose="020B0609040504020204" pitchFamily="49" charset="0"/>
              </a:rPr>
              <a:t>bptr</a:t>
            </a:r>
            <a:r>
              <a:rPr lang="en-US" altLang="tr-TR" sz="2000" b="1" dirty="0">
                <a:latin typeface="Lucida Console" panose="020B0609040504020204" pitchFamily="49" charset="0"/>
              </a:rPr>
              <a:t>[ 3 ]</a:t>
            </a:r>
            <a:r>
              <a:rPr lang="en-US" altLang="tr-TR" sz="2000" dirty="0"/>
              <a:t> </a:t>
            </a:r>
          </a:p>
          <a:p>
            <a:pPr lvl="2"/>
            <a:r>
              <a:rPr lang="en-US" altLang="tr-TR" dirty="0"/>
              <a:t>Called pointer/subscript notation</a:t>
            </a:r>
          </a:p>
          <a:p>
            <a:pPr lvl="4"/>
            <a:endParaRPr lang="tr-TR" altLang="tr-TR" sz="1000" dirty="0" smtClean="0"/>
          </a:p>
          <a:p>
            <a:pPr lvl="1"/>
            <a:r>
              <a:rPr lang="en-US" altLang="tr-TR" sz="2000" dirty="0" smtClean="0"/>
              <a:t>Can </a:t>
            </a:r>
            <a:r>
              <a:rPr lang="en-US" altLang="tr-TR" sz="2000" dirty="0"/>
              <a:t>be accessed by performing pointer arithmetic on the array itself</a:t>
            </a:r>
          </a:p>
          <a:p>
            <a:pPr lvl="2"/>
            <a:r>
              <a:rPr lang="en-US" altLang="tr-TR" b="1" dirty="0" err="1">
                <a:latin typeface="Lucida Console" panose="020B0609040504020204" pitchFamily="49" charset="0"/>
              </a:rPr>
              <a:t>bPtr</a:t>
            </a:r>
            <a:r>
              <a:rPr lang="en-US" altLang="tr-TR" b="1" dirty="0">
                <a:latin typeface="Lucida Console" panose="020B0609040504020204" pitchFamily="49" charset="0"/>
              </a:rPr>
              <a:t>[ 3 ] </a:t>
            </a:r>
            <a:r>
              <a:rPr lang="en-US" altLang="tr-TR" dirty="0"/>
              <a:t>same as </a:t>
            </a:r>
            <a:r>
              <a:rPr lang="en-US" altLang="tr-TR" b="1" dirty="0">
                <a:latin typeface="Lucida Console" panose="020B0609040504020204" pitchFamily="49" charset="0"/>
              </a:rPr>
              <a:t>b[ 3 ]</a:t>
            </a:r>
          </a:p>
          <a:p>
            <a:pPr lvl="2"/>
            <a:r>
              <a:rPr lang="en-US" altLang="tr-TR" b="1" dirty="0">
                <a:latin typeface="Lucida Console" panose="020B0609040504020204" pitchFamily="49" charset="0"/>
              </a:rPr>
              <a:t>*( b + 3 )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46773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DCC1FC-F97C-4B86-BB01-9E7B6702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E37E84-8FE6-4922-A6CB-584641F40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array_example.c</a:t>
            </a:r>
            <a:r>
              <a:rPr lang="en-US" dirty="0"/>
              <a:t>  </a:t>
            </a:r>
          </a:p>
          <a:p>
            <a:endParaRPr lang="tr-TR" dirty="0" smtClean="0"/>
          </a:p>
          <a:p>
            <a:r>
              <a:rPr lang="tr-TR" dirty="0" err="1" smtClean="0"/>
              <a:t>string_example.c</a:t>
            </a:r>
            <a:endParaRPr lang="en-US" dirty="0"/>
          </a:p>
          <a:p>
            <a:endParaRPr lang="tr-TR" dirty="0" smtClean="0"/>
          </a:p>
          <a:p>
            <a:r>
              <a:rPr lang="tr-TR" dirty="0" err="1" smtClean="0"/>
              <a:t>pointers</a:t>
            </a:r>
            <a:r>
              <a:rPr lang="tr-TR" dirty="0" smtClean="0"/>
              <a:t>_</a:t>
            </a:r>
            <a:r>
              <a:rPr lang="en-US" dirty="0"/>
              <a:t>vs_</a:t>
            </a:r>
            <a:r>
              <a:rPr lang="tr-TR" dirty="0"/>
              <a:t>arrays</a:t>
            </a:r>
            <a:r>
              <a:rPr lang="en-US" dirty="0"/>
              <a:t>.c</a:t>
            </a:r>
            <a:endParaRPr lang="tr-TR" dirty="0"/>
          </a:p>
          <a:p>
            <a:endParaRPr lang="en-US" sz="28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6FC3B0B-8637-4BD3-A31F-B499599021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4095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Pointers vs. Arrays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92100" y="997529"/>
            <a:ext cx="7245350" cy="2686198"/>
          </a:xfrm>
        </p:spPr>
        <p:txBody>
          <a:bodyPr/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char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array_place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[</a:t>
            </a: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12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] = "don't panic";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 char*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ptr_place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= "don't panic";</a:t>
            </a: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 char a =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array_place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[7];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 char b = 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ptr_place</a:t>
            </a: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[7];</a:t>
            </a:r>
            <a:endParaRPr lang="tr-TR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846" y="1698171"/>
            <a:ext cx="4728754" cy="47238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80" y="3571460"/>
            <a:ext cx="4208333" cy="285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600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Pointer and Array</a:t>
            </a:r>
            <a:r>
              <a:rPr lang="tr-TR" altLang="tr-TR" dirty="0"/>
              <a:t> Traversal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04800" y="953079"/>
            <a:ext cx="7848600" cy="2451066"/>
          </a:xfrm>
        </p:spPr>
        <p:txBody>
          <a:bodyPr/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for (i = 0; i &lt; sizeof(array_place); ++i)</a:t>
            </a:r>
          </a:p>
          <a:p>
            <a:pPr marL="0" indent="0">
              <a:buNone/>
            </a:pP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        printf("%c ", array_place[i]);</a:t>
            </a:r>
          </a:p>
          <a:p>
            <a:pPr marL="0" indent="0">
              <a:buNone/>
            </a:pPr>
            <a:endParaRPr lang="tr-TR" sz="20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    for (; *ptr_place; ++ptr_place)</a:t>
            </a:r>
          </a:p>
          <a:p>
            <a:pPr marL="0" indent="0">
              <a:buNone/>
            </a:pPr>
            <a:r>
              <a:rPr lang="tr-TR" dirty="0">
                <a:solidFill>
                  <a:srgbClr val="002060"/>
                </a:solidFill>
                <a:latin typeface="Consolas" panose="020B0609020204030204" pitchFamily="49" charset="0"/>
              </a:rPr>
              <a:t>        printf("%c ", *ptr_place);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83" y="3262753"/>
            <a:ext cx="4519351" cy="32087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154" y="1693999"/>
            <a:ext cx="4872446" cy="462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954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2CB0D5A-2B63-4FAF-9576-A3D74BCC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5493BC-BEC9-42FA-887B-FD6B7F511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981486"/>
            <a:ext cx="11480800" cy="519372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Arrays may contain pointers.</a:t>
            </a:r>
          </a:p>
          <a:p>
            <a:pPr lvl="4"/>
            <a:endParaRPr lang="tr-TR" altLang="en-US" dirty="0" smtClean="0">
              <a:solidFill>
                <a:srgbClr val="000000"/>
              </a:solidFill>
            </a:endParaRPr>
          </a:p>
          <a:p>
            <a:r>
              <a:rPr lang="en-US" altLang="en-US" dirty="0" smtClean="0">
                <a:solidFill>
                  <a:srgbClr val="000000"/>
                </a:solidFill>
              </a:rPr>
              <a:t>A </a:t>
            </a:r>
            <a:r>
              <a:rPr lang="en-US" altLang="en-US" dirty="0">
                <a:solidFill>
                  <a:srgbClr val="000000"/>
                </a:solidFill>
              </a:rPr>
              <a:t>common use of an </a:t>
            </a:r>
            <a:r>
              <a:rPr lang="en-US" altLang="en-US" dirty="0">
                <a:solidFill>
                  <a:srgbClr val="0000FF"/>
                </a:solidFill>
              </a:rPr>
              <a:t>array of pointers</a:t>
            </a:r>
            <a:r>
              <a:rPr lang="en-US" altLang="en-US" dirty="0">
                <a:solidFill>
                  <a:srgbClr val="000000"/>
                </a:solidFill>
              </a:rPr>
              <a:t> is to form an </a:t>
            </a:r>
            <a:r>
              <a:rPr lang="en-US" altLang="en-US" dirty="0">
                <a:solidFill>
                  <a:srgbClr val="0000FF"/>
                </a:solidFill>
              </a:rPr>
              <a:t>array of strings</a:t>
            </a:r>
            <a:r>
              <a:rPr lang="en-US" altLang="en-US" dirty="0">
                <a:solidFill>
                  <a:srgbClr val="000000"/>
                </a:solidFill>
              </a:rPr>
              <a:t>, referred to simply as a </a:t>
            </a:r>
            <a:r>
              <a:rPr lang="en-US" altLang="en-US" dirty="0">
                <a:solidFill>
                  <a:srgbClr val="0000FF"/>
                </a:solidFill>
              </a:rPr>
              <a:t>string array</a:t>
            </a:r>
            <a:r>
              <a:rPr lang="en-US" altLang="en-US" dirty="0">
                <a:solidFill>
                  <a:srgbClr val="000000"/>
                </a:solidFill>
              </a:rPr>
              <a:t>. </a:t>
            </a:r>
          </a:p>
          <a:p>
            <a:pPr lvl="4" eaLnBrk="1" hangingPunct="1">
              <a:lnSpc>
                <a:spcPct val="90000"/>
              </a:lnSpc>
            </a:pPr>
            <a:endParaRPr lang="tr-TR" altLang="en-US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Each </a:t>
            </a:r>
            <a:r>
              <a:rPr lang="en-US" altLang="en-US" dirty="0">
                <a:solidFill>
                  <a:srgbClr val="000000"/>
                </a:solidFill>
              </a:rPr>
              <a:t>entry in an array of strings is actually a pointer to the first character of a string.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char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*suit[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4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"Hearts"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"Diamonds"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"Clubs"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b="1" dirty="0">
                <a:solidFill>
                  <a:srgbClr val="128AFF"/>
                </a:solidFill>
                <a:latin typeface="Consolas" panose="020B0609020204030204" pitchFamily="49" charset="0"/>
              </a:rPr>
              <a:t>"Spades"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2EC7A92-A711-4C81-AB5C-C42423E00A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311CB4E-D67F-4C18-8B4D-7995559FD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005" y="4346697"/>
            <a:ext cx="75438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596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1927</Words>
  <Application>Microsoft Office PowerPoint</Application>
  <PresentationFormat>Widescreen</PresentationFormat>
  <Paragraphs>375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ＭＳ Ｐゴシック</vt:lpstr>
      <vt:lpstr>Arial</vt:lpstr>
      <vt:lpstr>Calibri</vt:lpstr>
      <vt:lpstr>Cambria</vt:lpstr>
      <vt:lpstr>Consolas</vt:lpstr>
      <vt:lpstr>Courier New</vt:lpstr>
      <vt:lpstr>Garamond</vt:lpstr>
      <vt:lpstr>Lucida Console</vt:lpstr>
      <vt:lpstr>Tahoma</vt:lpstr>
      <vt:lpstr>Times New Roman</vt:lpstr>
      <vt:lpstr>Wingdings</vt:lpstr>
      <vt:lpstr>Wingdings 3</vt:lpstr>
      <vt:lpstr>1_Edge</vt:lpstr>
      <vt:lpstr>Edge</vt:lpstr>
      <vt:lpstr>2_Edge</vt:lpstr>
      <vt:lpstr>CSE1142 – Pointers in C</vt:lpstr>
      <vt:lpstr>Agenda</vt:lpstr>
      <vt:lpstr>Pointer Variable Definitions and Initialization</vt:lpstr>
      <vt:lpstr>Pointer Variable Definitions and Initialization – cont.</vt:lpstr>
      <vt:lpstr>Pointer Operators</vt:lpstr>
      <vt:lpstr>Pointer Operators – cont. </vt:lpstr>
      <vt:lpstr>How to use pointers in Functions</vt:lpstr>
      <vt:lpstr>Example </vt:lpstr>
      <vt:lpstr>Passing Arguments to Functions by Reference</vt:lpstr>
      <vt:lpstr>Pointer Expressions and Pointer Arithmetic</vt:lpstr>
      <vt:lpstr>Pointer Expressions and Pointer Arithmetic – cont.</vt:lpstr>
      <vt:lpstr>Pointer Expressions and Pointer Arithmetic – cont.</vt:lpstr>
      <vt:lpstr>Pointer Expressions and Pointer Arithmetic – cont.</vt:lpstr>
      <vt:lpstr>Pointer Expressions and Pointer Arithmetic – cont.</vt:lpstr>
      <vt:lpstr>Pointer Expressions and Pointer Arithmetic – cont.</vt:lpstr>
      <vt:lpstr>Using the const Qualifier with Pointers</vt:lpstr>
      <vt:lpstr>Const pointers</vt:lpstr>
      <vt:lpstr>Example – Constant Data</vt:lpstr>
      <vt:lpstr>Example – Constant Address</vt:lpstr>
      <vt:lpstr>Example – Constant Address and Data</vt:lpstr>
      <vt:lpstr>sizeof  Operator</vt:lpstr>
      <vt:lpstr>Relationship Between Pointers and Arrays</vt:lpstr>
      <vt:lpstr>Examples</vt:lpstr>
      <vt:lpstr>Pointers vs. Arrays</vt:lpstr>
      <vt:lpstr>Pointer and Array Traversal</vt:lpstr>
      <vt:lpstr>Array of Pointers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Pointers</dc:title>
  <dc:creator/>
  <cp:lastModifiedBy/>
  <cp:revision>129</cp:revision>
  <dcterms:created xsi:type="dcterms:W3CDTF">2017-11-02T19:26:23Z</dcterms:created>
  <dcterms:modified xsi:type="dcterms:W3CDTF">2020-05-06T11:16:33Z</dcterms:modified>
  <dc:description/>
</cp:coreProperties>
</file>