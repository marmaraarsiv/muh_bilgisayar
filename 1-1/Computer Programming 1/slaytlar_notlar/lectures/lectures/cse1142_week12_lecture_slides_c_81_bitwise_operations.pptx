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20"/>
  </p:notesMasterIdLst>
  <p:sldIdLst>
    <p:sldId id="532" r:id="rId3"/>
    <p:sldId id="259" r:id="rId4"/>
    <p:sldId id="533" r:id="rId5"/>
    <p:sldId id="487" r:id="rId6"/>
    <p:sldId id="511" r:id="rId7"/>
    <p:sldId id="520" r:id="rId8"/>
    <p:sldId id="521" r:id="rId9"/>
    <p:sldId id="522" r:id="rId10"/>
    <p:sldId id="523" r:id="rId11"/>
    <p:sldId id="524" r:id="rId12"/>
    <p:sldId id="525" r:id="rId13"/>
    <p:sldId id="526" r:id="rId14"/>
    <p:sldId id="527" r:id="rId15"/>
    <p:sldId id="528" r:id="rId16"/>
    <p:sldId id="529" r:id="rId17"/>
    <p:sldId id="530" r:id="rId18"/>
    <p:sldId id="531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3972" autoAdjust="0"/>
  </p:normalViewPr>
  <p:slideViewPr>
    <p:cSldViewPr snapToGrid="0">
      <p:cViewPr varScale="1">
        <p:scale>
          <a:sx n="149" d="100"/>
          <a:sy n="149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18.05.2020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- </a:t>
            </a:r>
            <a:r>
              <a:rPr lang="tr-TR" dirty="0" err="1"/>
              <a:t>Explain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run</a:t>
            </a:r>
            <a:r>
              <a:rPr lang="tr-TR" dirty="0"/>
              <a:t> C81_05_displayBits.c.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890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- </a:t>
            </a:r>
            <a:r>
              <a:rPr lang="tr-TR" dirty="0" err="1"/>
              <a:t>Explain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run</a:t>
            </a:r>
            <a:r>
              <a:rPr lang="tr-TR" dirty="0"/>
              <a:t> C81_10_operators.c.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9194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- </a:t>
            </a:r>
            <a:r>
              <a:rPr lang="tr-TR" dirty="0" err="1"/>
              <a:t>Explain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run</a:t>
            </a:r>
            <a:r>
              <a:rPr lang="tr-TR" dirty="0"/>
              <a:t> C81_15_shift.c.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99942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41034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56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26726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9162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10335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9924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4958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2139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1540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654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7296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10476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742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14603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205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13743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668344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75360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38122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93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32489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87160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18337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718170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5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</a:t>
            </a:r>
            <a:r>
              <a:rPr lang="tr-TR" altLang="tr-TR" dirty="0">
                <a:ea typeface="ＭＳ Ｐゴシック" panose="020B0600070205080204" pitchFamily="34" charset="-128"/>
              </a:rPr>
              <a:t>Bitwise Operators</a:t>
            </a:r>
            <a:endParaRPr lang="en-US" dirty="0"/>
          </a:p>
        </p:txBody>
      </p:sp>
      <p:sp>
        <p:nvSpPr>
          <p:cNvPr id="6" name="Subtitle 4"/>
          <p:cNvSpPr>
            <a:spLocks noGrp="1"/>
          </p:cNvSpPr>
          <p:nvPr/>
        </p:nvSpPr>
        <p:spPr bwMode="auto">
          <a:xfrm>
            <a:off x="925385" y="5358764"/>
            <a:ext cx="10464800" cy="106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/>
              <a:t>Adapted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/>
              <a:t> Dr. Sanem Arslan Yılmaz.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/>
              <a:t>Some</a:t>
            </a:r>
            <a:r>
              <a:rPr lang="tr-TR" sz="2000" dirty="0"/>
              <a:t> of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slides</a:t>
            </a:r>
            <a:r>
              <a:rPr lang="tr-TR" sz="2000" dirty="0"/>
              <a:t> </a:t>
            </a:r>
            <a:r>
              <a:rPr lang="tr-TR" sz="2000" dirty="0" err="1"/>
              <a:t>are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/>
              <a:t>: CMPE150 – Boğaziçi </a:t>
            </a:r>
            <a:r>
              <a:rPr lang="tr-TR" sz="2000" dirty="0" err="1"/>
              <a:t>University</a:t>
            </a:r>
            <a:r>
              <a:rPr lang="tr-TR" sz="2000" dirty="0"/>
              <a:t>, </a:t>
            </a:r>
            <a:r>
              <a:rPr lang="tr-TR" sz="2000" dirty="0" err="1"/>
              <a:t>Deitel</a:t>
            </a:r>
            <a:r>
              <a:rPr lang="tr-TR" sz="2000" dirty="0"/>
              <a:t> &amp; </a:t>
            </a:r>
            <a:r>
              <a:rPr lang="tr-TR" sz="2000" dirty="0" err="1"/>
              <a:t>Associates</a:t>
            </a:r>
            <a:r>
              <a:rPr lang="tr-TR" sz="2000" dirty="0"/>
              <a:t>.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610914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tr-TR" altLang="tr-TR" dirty="0"/>
              <a:t>Bitwise Operators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AND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OR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Exclusive OR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Shift Left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Shift Right</a:t>
            </a:r>
          </a:p>
          <a:p>
            <a:pPr lvl="1">
              <a:lnSpc>
                <a:spcPct val="120000"/>
              </a:lnSpc>
            </a:pPr>
            <a:endParaRPr lang="tr-TR" altLang="tr-TR" dirty="0"/>
          </a:p>
          <a:p>
            <a:pPr>
              <a:lnSpc>
                <a:spcPct val="120000"/>
              </a:lnSpc>
            </a:pPr>
            <a:r>
              <a:rPr lang="tr-TR" dirty="0"/>
              <a:t>Bitwise Assignment Operators</a:t>
            </a:r>
          </a:p>
          <a:p>
            <a:pPr>
              <a:lnSpc>
                <a:spcPct val="120000"/>
              </a:lnSpc>
            </a:pPr>
            <a:endParaRPr lang="tr-TR" altLang="tr-TR" dirty="0"/>
          </a:p>
          <a:p>
            <a:pPr>
              <a:lnSpc>
                <a:spcPct val="120000"/>
              </a:lnSpc>
            </a:pPr>
            <a:r>
              <a:rPr lang="tr-TR" altLang="tr-TR" dirty="0">
                <a:ea typeface="ＭＳ Ｐゴシック" panose="020B0600070205080204" pitchFamily="34" charset="-128"/>
              </a:rPr>
              <a:t>Examples</a:t>
            </a:r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412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60A3-C143-4D64-BA93-12C01BF0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Puzzle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6614A-C824-4EFF-A48A-FA9DFB9B4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997527"/>
            <a:ext cx="7547529" cy="544803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Courgette" panose="02000603070400060004" pitchFamily="2" charset="-94"/>
                <a:cs typeface="Vijaya" panose="020B0502040204020203" pitchFamily="18" charset="0"/>
              </a:rPr>
              <a:t>A king wishes to throw a grand party tomorrow in his castle. He has purchased 1000 bottles of wine to serve to his many guests.</a:t>
            </a:r>
            <a:endParaRPr lang="tr-TR" dirty="0">
              <a:latin typeface="Courgette" panose="02000603070400060004" pitchFamily="2" charset="-94"/>
              <a:cs typeface="Vijaya" panose="020B0502040204020203" pitchFamily="18" charset="0"/>
            </a:endParaRPr>
          </a:p>
          <a:p>
            <a:pPr lvl="4">
              <a:lnSpc>
                <a:spcPct val="120000"/>
              </a:lnSpc>
            </a:pPr>
            <a:endParaRPr lang="en-US" dirty="0">
              <a:latin typeface="Courgette" panose="02000603070400060004" pitchFamily="2" charset="-94"/>
              <a:cs typeface="Vijaya" panose="020B0502040204020203" pitchFamily="18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gette" panose="02000603070400060004" pitchFamily="2" charset="-94"/>
                <a:cs typeface="Vijaya" panose="020B0502040204020203" pitchFamily="18" charset="0"/>
              </a:rPr>
              <a:t>However, a thief has been caught breaking into the wine caller! He can only poisoned a single bottle until he has been arrested. But, the poison is lethal even the smallest dose; it causes death within approximately 12-15 hours.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Courgette" panose="02000603070400060004" pitchFamily="2" charset="-94"/>
                <a:cs typeface="Vijaya" panose="020B0502040204020203" pitchFamily="18" charset="0"/>
              </a:rPr>
              <a:t>They should find which bottle has been poisoned and throw it out in very short time!</a:t>
            </a:r>
          </a:p>
          <a:p>
            <a:pPr lvl="4">
              <a:lnSpc>
                <a:spcPct val="120000"/>
              </a:lnSpc>
            </a:pPr>
            <a:endParaRPr lang="tr-TR" dirty="0">
              <a:latin typeface="Courgette" panose="02000603070400060004" pitchFamily="2" charset="-94"/>
              <a:cs typeface="Vijaya" panose="020B0502040204020203" pitchFamily="18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gette" panose="02000603070400060004" pitchFamily="2" charset="-94"/>
                <a:cs typeface="Vijaya" panose="020B0502040204020203" pitchFamily="18" charset="0"/>
              </a:rPr>
              <a:t>The king has a few dozen prisoners in his dungeon and they are vermin and may be sacrificed to the kingdom.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Courgette" panose="02000603070400060004" pitchFamily="2" charset="-94"/>
                <a:cs typeface="Vijaya" panose="020B0502040204020203" pitchFamily="18" charset="0"/>
              </a:rPr>
              <a:t>How should the king find the poisoned bottle?</a:t>
            </a:r>
          </a:p>
          <a:p>
            <a:pPr lvl="4">
              <a:lnSpc>
                <a:spcPct val="120000"/>
              </a:lnSpc>
            </a:pPr>
            <a:endParaRPr lang="tr-TR" dirty="0">
              <a:latin typeface="Courgette" panose="02000603070400060004" pitchFamily="2" charset="-94"/>
              <a:cs typeface="Vijaya" panose="020B0502040204020203" pitchFamily="18" charset="0"/>
            </a:endParaRPr>
          </a:p>
          <a:p>
            <a:pPr lvl="4">
              <a:lnSpc>
                <a:spcPct val="120000"/>
              </a:lnSpc>
            </a:pPr>
            <a:endParaRPr lang="tr-TR" dirty="0">
              <a:latin typeface="Courgette" panose="02000603070400060004" pitchFamily="2" charset="-94"/>
              <a:cs typeface="Vijaya" panose="020B0502040204020203" pitchFamily="18" charset="0"/>
            </a:endParaRPr>
          </a:p>
          <a:p>
            <a:pPr>
              <a:lnSpc>
                <a:spcPct val="120000"/>
              </a:lnSpc>
            </a:pPr>
            <a:r>
              <a:rPr lang="en-US" u="sng" dirty="0">
                <a:latin typeface="Courgette" panose="02000603070400060004" pitchFamily="2" charset="-94"/>
                <a:cs typeface="Vijaya" panose="020B0502040204020203" pitchFamily="18" charset="0"/>
              </a:rPr>
              <a:t>Hint</a:t>
            </a:r>
            <a:r>
              <a:rPr lang="en-US" dirty="0">
                <a:latin typeface="Courgette" panose="02000603070400060004" pitchFamily="2" charset="-94"/>
                <a:cs typeface="Vijaya" panose="020B0502040204020203" pitchFamily="18" charset="0"/>
              </a:rPr>
              <a:t>: First solve it with 4 bottles of wine and 2 prisoners.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D6FAD-02EA-4836-9D61-52FAEF91D8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DD58B-8A49-4CB0-8FE9-97EA257D5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918" y="1053415"/>
            <a:ext cx="3614478" cy="5265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07560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Motivation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73089"/>
          </a:xfrm>
        </p:spPr>
        <p:txBody>
          <a:bodyPr/>
          <a:lstStyle/>
          <a:p>
            <a:r>
              <a:rPr lang="en-US" altLang="tr-TR" sz="2800" dirty="0"/>
              <a:t>All data represented internally as sequences of bits</a:t>
            </a:r>
            <a:endParaRPr lang="tr-TR" altLang="tr-TR" sz="2800" dirty="0"/>
          </a:p>
          <a:p>
            <a:pPr lvl="1"/>
            <a:r>
              <a:rPr lang="en-US" altLang="tr-TR" sz="2600" dirty="0"/>
              <a:t>Each bit can be either 0 or 1 </a:t>
            </a:r>
            <a:endParaRPr lang="tr-TR" altLang="tr-TR" sz="2600" dirty="0"/>
          </a:p>
          <a:p>
            <a:pPr lvl="1"/>
            <a:r>
              <a:rPr lang="en-US" altLang="tr-TR" sz="2600" dirty="0"/>
              <a:t>Sequence of 8 bits forms a </a:t>
            </a:r>
            <a:r>
              <a:rPr lang="en-US" altLang="tr-TR" sz="2600" b="1" dirty="0"/>
              <a:t>byte</a:t>
            </a:r>
          </a:p>
          <a:p>
            <a:pPr lvl="2"/>
            <a:r>
              <a:rPr lang="en-US" altLang="en-US" sz="2400" dirty="0">
                <a:solidFill>
                  <a:srgbClr val="000000"/>
                </a:solidFill>
              </a:rPr>
              <a:t>typical storage unit for a variable of type char. </a:t>
            </a:r>
            <a:endParaRPr lang="tr-TR" altLang="tr-TR" sz="2400" b="1" dirty="0"/>
          </a:p>
          <a:p>
            <a:pPr marL="344487" lvl="1" indent="0">
              <a:buNone/>
            </a:pPr>
            <a:endParaRPr lang="en-US" altLang="tr-TR" sz="2600" dirty="0"/>
          </a:p>
          <a:p>
            <a:pPr>
              <a:lnSpc>
                <a:spcPct val="80000"/>
              </a:lnSpc>
            </a:pPr>
            <a:r>
              <a:rPr lang="tr-TR" altLang="tr-TR" sz="2800" dirty="0"/>
              <a:t>The following operations can be performed on bits</a:t>
            </a:r>
          </a:p>
          <a:p>
            <a:pPr lvl="1">
              <a:lnSpc>
                <a:spcPct val="80000"/>
              </a:lnSpc>
            </a:pPr>
            <a:r>
              <a:rPr lang="tr-TR" altLang="tr-TR" sz="2600" dirty="0"/>
              <a:t>AND</a:t>
            </a:r>
            <a:r>
              <a:rPr lang="en-US" altLang="tr-TR" sz="2600" dirty="0"/>
              <a:t> </a:t>
            </a:r>
            <a:r>
              <a:rPr lang="en-US" altLang="en-US" sz="2800" dirty="0">
                <a:latin typeface="Cambria" panose="02040503050406030204" pitchFamily="18" charset="0"/>
              </a:rPr>
              <a:t>(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en-US" sz="2800" dirty="0">
                <a:latin typeface="Cambria" panose="02040503050406030204" pitchFamily="18" charset="0"/>
              </a:rPr>
              <a:t>)</a:t>
            </a:r>
            <a:endParaRPr lang="tr-TR" altLang="tr-TR" sz="2600" dirty="0"/>
          </a:p>
          <a:p>
            <a:pPr lvl="1">
              <a:lnSpc>
                <a:spcPct val="80000"/>
              </a:lnSpc>
            </a:pPr>
            <a:r>
              <a:rPr lang="tr-TR" altLang="tr-TR" sz="2600" dirty="0"/>
              <a:t>OR</a:t>
            </a:r>
            <a:r>
              <a:rPr lang="en-US" altLang="tr-TR" sz="2600" dirty="0"/>
              <a:t> </a:t>
            </a:r>
            <a:r>
              <a:rPr lang="en-US" altLang="en-US" sz="2800" dirty="0">
                <a:latin typeface="Cambria" panose="02040503050406030204" pitchFamily="18" charset="0"/>
              </a:rPr>
              <a:t>(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|</a:t>
            </a:r>
            <a:r>
              <a:rPr lang="en-US" altLang="en-US" sz="2800" dirty="0">
                <a:latin typeface="Cambria" panose="02040503050406030204" pitchFamily="18" charset="0"/>
              </a:rPr>
              <a:t>)</a:t>
            </a:r>
            <a:endParaRPr lang="tr-TR" altLang="tr-TR" sz="2600" dirty="0"/>
          </a:p>
          <a:p>
            <a:pPr lvl="1">
              <a:lnSpc>
                <a:spcPct val="80000"/>
              </a:lnSpc>
            </a:pPr>
            <a:r>
              <a:rPr lang="tr-TR" altLang="tr-TR" sz="2600" dirty="0"/>
              <a:t>Exclusive OR</a:t>
            </a:r>
            <a:r>
              <a:rPr lang="en-US" altLang="tr-TR" sz="2600" dirty="0"/>
              <a:t> </a:t>
            </a:r>
            <a:r>
              <a:rPr lang="en-US" altLang="en-US" sz="2800" dirty="0">
                <a:latin typeface="Cambria" panose="02040503050406030204" pitchFamily="18" charset="0"/>
              </a:rPr>
              <a:t>(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^</a:t>
            </a:r>
            <a:r>
              <a:rPr lang="en-US" altLang="en-US" sz="2800" dirty="0">
                <a:latin typeface="Cambria" panose="02040503050406030204" pitchFamily="18" charset="0"/>
              </a:rPr>
              <a:t>)</a:t>
            </a:r>
            <a:endParaRPr lang="tr-TR" altLang="tr-TR" sz="2600" dirty="0"/>
          </a:p>
          <a:p>
            <a:pPr lvl="1">
              <a:lnSpc>
                <a:spcPct val="80000"/>
              </a:lnSpc>
            </a:pPr>
            <a:r>
              <a:rPr lang="tr-TR" altLang="tr-TR" sz="2600" dirty="0"/>
              <a:t>Left shift </a:t>
            </a:r>
            <a:r>
              <a:rPr lang="en-US" altLang="en-US" sz="2800" dirty="0">
                <a:latin typeface="Cambria" panose="02040503050406030204" pitchFamily="18" charset="0"/>
              </a:rPr>
              <a:t>(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&lt;&lt;</a:t>
            </a:r>
            <a:r>
              <a:rPr lang="en-US" altLang="en-US" sz="2800" dirty="0">
                <a:latin typeface="Cambria" panose="02040503050406030204" pitchFamily="18" charset="0"/>
              </a:rPr>
              <a:t>)</a:t>
            </a:r>
            <a:endParaRPr lang="tr-TR" altLang="tr-TR" sz="2600" dirty="0"/>
          </a:p>
          <a:p>
            <a:pPr lvl="1">
              <a:lnSpc>
                <a:spcPct val="80000"/>
              </a:lnSpc>
            </a:pPr>
            <a:r>
              <a:rPr lang="tr-TR" altLang="tr-TR" sz="2600" dirty="0"/>
              <a:t>Right shift</a:t>
            </a:r>
            <a:r>
              <a:rPr lang="en-US" altLang="tr-TR" sz="2600" dirty="0"/>
              <a:t> </a:t>
            </a:r>
            <a:r>
              <a:rPr lang="en-US" altLang="en-US" sz="2800" dirty="0">
                <a:latin typeface="Cambria" panose="02040503050406030204" pitchFamily="18" charset="0"/>
              </a:rPr>
              <a:t>(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&gt;&gt;</a:t>
            </a:r>
            <a:r>
              <a:rPr lang="en-US" altLang="en-US" sz="2800" dirty="0">
                <a:latin typeface="Cambria" panose="02040503050406030204" pitchFamily="18" charset="0"/>
              </a:rPr>
              <a:t>)</a:t>
            </a:r>
            <a:endParaRPr lang="tr-TR" altLang="tr-TR" sz="2600" dirty="0"/>
          </a:p>
          <a:p>
            <a:pPr lvl="1">
              <a:lnSpc>
                <a:spcPct val="80000"/>
              </a:lnSpc>
            </a:pPr>
            <a:r>
              <a:rPr lang="tr-TR" altLang="tr-TR" sz="2600" dirty="0"/>
              <a:t>One’s complement</a:t>
            </a:r>
            <a:r>
              <a:rPr lang="en-US" altLang="tr-TR" sz="2600" dirty="0"/>
              <a:t> </a:t>
            </a:r>
            <a:r>
              <a:rPr lang="en-US" altLang="en-US" sz="2800" dirty="0">
                <a:latin typeface="Cambria" panose="02040503050406030204" pitchFamily="18" charset="0"/>
              </a:rPr>
              <a:t>(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~</a:t>
            </a:r>
            <a:r>
              <a:rPr lang="en-US" altLang="en-US" sz="2800" dirty="0">
                <a:latin typeface="Cambria" panose="02040503050406030204" pitchFamily="18" charset="0"/>
              </a:rPr>
              <a:t>)</a:t>
            </a:r>
            <a:endParaRPr lang="tr-TR" altLang="tr-TR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56450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Bitwise Operators 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138" y="985586"/>
            <a:ext cx="8640891" cy="533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946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AND </a:t>
            </a:r>
            <a:r>
              <a:rPr lang="tr-TR" dirty="0" err="1"/>
              <a:t>Operator</a:t>
            </a:r>
            <a:r>
              <a:rPr lang="tr-TR" dirty="0"/>
              <a:t>: </a:t>
            </a:r>
            <a:r>
              <a:rPr lang="tr-TR" b="1" dirty="0"/>
              <a:t>&amp;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553" y="1151605"/>
            <a:ext cx="4843625" cy="356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0717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OR </a:t>
            </a:r>
            <a:r>
              <a:rPr lang="tr-TR" dirty="0" err="1"/>
              <a:t>Operator</a:t>
            </a:r>
            <a:r>
              <a:rPr lang="tr-TR" dirty="0"/>
              <a:t>: </a:t>
            </a:r>
            <a:r>
              <a:rPr lang="tr-TR" b="1" dirty="0"/>
              <a:t>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554" y="1110143"/>
            <a:ext cx="4869338" cy="35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197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Exclusive OR </a:t>
            </a:r>
            <a:r>
              <a:rPr lang="tr-TR" dirty="0" err="1"/>
              <a:t>Operator</a:t>
            </a:r>
            <a:r>
              <a:rPr lang="tr-TR" dirty="0"/>
              <a:t>: </a:t>
            </a:r>
            <a:r>
              <a:rPr lang="tr-TR" b="1" dirty="0"/>
              <a:t>^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59" y="1219200"/>
            <a:ext cx="5084276" cy="367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8096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Bitwise Assignment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693" y="1219199"/>
            <a:ext cx="7254685" cy="395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488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1 – Display 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void displayBits(unsigned int value)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unsigned int c, displayMask = 1 &lt;&lt; 31;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char x;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printf("%u = ", value);</a:t>
            </a:r>
          </a:p>
          <a:p>
            <a:pPr>
              <a:buNone/>
            </a:pPr>
            <a:endParaRPr 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// loop through bits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for (c = 1; c &lt;= 32; ++c) {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  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x = value &amp; </a:t>
            </a:r>
            <a:r>
              <a:rPr 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displayMask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? '1':'0';</a:t>
            </a:r>
          </a:p>
          <a:p>
            <a:pPr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  <a:r>
              <a:rPr 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("%</a:t>
            </a:r>
            <a:r>
              <a:rPr 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c",x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  <a:endParaRPr 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value &lt;&lt;= 1; // shift value left by 1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if (c % 8 == 0) { // output space after 8 bits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   printf(" ");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  }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printf("\n");</a:t>
            </a:r>
          </a:p>
          <a:p>
            <a:pPr>
              <a:buNone/>
            </a:pPr>
            <a:r>
              <a:rPr lang="tr-TR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tr-TR" sz="16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36D0AA3-18C0-4005-B793-89684FDC0749}"/>
              </a:ext>
            </a:extLst>
          </p:cNvPr>
          <p:cNvSpPr/>
          <p:nvPr/>
        </p:nvSpPr>
        <p:spPr>
          <a:xfrm>
            <a:off x="6031061" y="1559913"/>
            <a:ext cx="600997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1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31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(10000000 00000000 00000000 00000000) </a:t>
            </a:r>
            <a:endParaRPr lang="en-US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C667877-21C0-4229-BC0B-DED5F62B433A}"/>
              </a:ext>
            </a:extLst>
          </p:cNvPr>
          <p:cNvSpPr txBox="1"/>
          <p:nvPr/>
        </p:nvSpPr>
        <p:spPr>
          <a:xfrm>
            <a:off x="6501468" y="2473040"/>
            <a:ext cx="541185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Output is:</a:t>
            </a:r>
          </a:p>
          <a:p>
            <a:r>
              <a:rPr lang="en-US" dirty="0"/>
              <a:t>Enter a nonnegative int: 127</a:t>
            </a:r>
          </a:p>
          <a:p>
            <a:r>
              <a:rPr lang="en-US" dirty="0"/>
              <a:t>127 = 00000000 00000000 00000000 01111111</a:t>
            </a:r>
          </a:p>
          <a:p>
            <a:endParaRPr lang="en-US" dirty="0"/>
          </a:p>
          <a:p>
            <a:r>
              <a:rPr lang="en-US" dirty="0"/>
              <a:t>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7462899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2 – AND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unsigned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number1 = 65535;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unsigned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mask = 1;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number3;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puts("The result of combining the following");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(mask);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puts("using the bitwise AND operator &amp; is");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 &amp; mask);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number1= 		00000000 00000000 11111111 11111111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mask=    		00000000 00000000 00000000 00000001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&amp; mask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	00000000 00000000 00000000 00000001</a:t>
            </a: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19519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3 – OR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= 15;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unsigned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setBits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241;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puts("\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nThe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result of combining the following");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setBits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puts("using the bitwise inclusive OR operator | is");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 |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setBits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number1= 		00000000 00000000 00000000 00001111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setBits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    		00000000 00000000 00000000 11110001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|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setBits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	00000000 00000000 00000000 11111111</a:t>
            </a: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9791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4 – Exclusive OR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= 139;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unsigned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number2 = 199;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puts("\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nThe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result of combining the following");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(number2);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puts("using the bitwise exclusive OR operator ^ is");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 ^ number2);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number1= 		00000000 00000000 00000000 10001011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number2=    		00000000 00000000 00000000 11000111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^ number2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	00000000 00000000 00000000 01001100</a:t>
            </a: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284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5 – Complement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= 21845;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puts("\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nThe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one's complement of");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puts("is");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(~number1);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number1= 		00000000 00000000 01010101 01010101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~number1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    		11111111 11111111 10101010 10101010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~number1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 4294945450</a:t>
            </a: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Question: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How to take two’s complement of a number?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79064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6 – Two’s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unsigned int x;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int y;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= 21845;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puts("\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nThe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two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's complement of");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puts("is");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x=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~number1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+1;</a:t>
            </a:r>
            <a:endParaRPr lang="en-US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x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y=x;</a:t>
            </a: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number1= 		00000000 00000000 01010101 01010101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x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 		  	11111111 11111111 10101010 10101011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x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 4294945451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y = -21845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27952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7 – Left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unsigned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number1 = 960;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puts("\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nThe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result of left shifting");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puts("8 bit positions using the left shift operator &lt;&lt; is");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 &lt;&lt; 8);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number1= 		00000000 00000000 00000011 11000000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&lt;&lt; 8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   	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00000000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00000011 11000000 00000000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2530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8 – Right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unsigned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number1 = 960;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puts("\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nThe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result of left shifting");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puts("8 bit positions using the right shift operator &gt;&gt; is");</a:t>
            </a:r>
          </a:p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displayBits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(number1 &gt;&gt; 8);</a:t>
            </a: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tr-TR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number1= 		00000000 00000000 00000011 11000000</a:t>
            </a:r>
          </a:p>
          <a:p>
            <a:pPr>
              <a:buNone/>
            </a:pP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number1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&gt;&gt;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8 </a:t>
            </a:r>
            <a:r>
              <a:rPr 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=   	00000000 00000000 00000000 00000011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1729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714</Words>
  <Application>Microsoft Office PowerPoint</Application>
  <PresentationFormat>Widescreen</PresentationFormat>
  <Paragraphs>174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Cambria</vt:lpstr>
      <vt:lpstr>Consolas</vt:lpstr>
      <vt:lpstr>Courgette</vt:lpstr>
      <vt:lpstr>Courier New</vt:lpstr>
      <vt:lpstr>Garamond</vt:lpstr>
      <vt:lpstr>Tahoma</vt:lpstr>
      <vt:lpstr>Wingdings</vt:lpstr>
      <vt:lpstr>Edge</vt:lpstr>
      <vt:lpstr>1_Edge</vt:lpstr>
      <vt:lpstr>CSE1142 – Bitwise Operators</vt:lpstr>
      <vt:lpstr>Agenda</vt:lpstr>
      <vt:lpstr>Motivation Puzzle</vt:lpstr>
      <vt:lpstr>Motivation</vt:lpstr>
      <vt:lpstr>Bitwise Operators </vt:lpstr>
      <vt:lpstr>AND Operator: &amp;</vt:lpstr>
      <vt:lpstr>OR Operator: |</vt:lpstr>
      <vt:lpstr>Exclusive OR Operator: ^</vt:lpstr>
      <vt:lpstr>Bitwise Assignment Operators</vt:lpstr>
      <vt:lpstr>Example 1 – Display Bits</vt:lpstr>
      <vt:lpstr>Example 2 – AND Operator</vt:lpstr>
      <vt:lpstr>Example 3 – OR Operator</vt:lpstr>
      <vt:lpstr>Example 4 – Exclusive OR Operator</vt:lpstr>
      <vt:lpstr>Example 5 – Complement Operator</vt:lpstr>
      <vt:lpstr>Example 6 – Two’s Complement</vt:lpstr>
      <vt:lpstr>Example 7 – Left Shift</vt:lpstr>
      <vt:lpstr>Example 8 – Right Shift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Bitwise Operations</dc:title>
  <dc:creator/>
  <cp:lastModifiedBy/>
  <cp:revision>125</cp:revision>
  <dcterms:created xsi:type="dcterms:W3CDTF">2017-11-02T19:26:23Z</dcterms:created>
  <dcterms:modified xsi:type="dcterms:W3CDTF">2020-05-19T05:53:03Z</dcterms:modified>
  <dc:description/>
</cp:coreProperties>
</file>