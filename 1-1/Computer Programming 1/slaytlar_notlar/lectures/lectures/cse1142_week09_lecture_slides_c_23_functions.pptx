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tmp" ContentType="image/png"/>
  <Override PartName="/ppt/media/image11.tmp" ContentType="image/png"/>
  <Override PartName="/ppt/media/image13.tmp" ContentType="image/png"/>
  <Override PartName="/ppt/media/image2.tmp" ContentType="image/png"/>
  <Override PartName="/ppt/media/image3.tmp" ContentType="image/png"/>
  <Override PartName="/ppt/media/image4.tmp" ContentType="image/png"/>
  <Override PartName="/ppt/media/image5.tmp" ContentType="image/png"/>
  <Override PartName="/ppt/media/image6.tmp" ContentType="image/png"/>
  <Override PartName="/ppt/media/image7.tmp" ContentType="image/png"/>
  <Override PartName="/ppt/media/image8.tmp" ContentType="image/png"/>
  <Override PartName="/ppt/media/image9.tmp" ContentType="image/pn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3" r:id="rId2"/>
  </p:sldMasterIdLst>
  <p:notesMasterIdLst>
    <p:notesMasterId r:id="rId65"/>
  </p:notesMasterIdLst>
  <p:sldIdLst>
    <p:sldId id="256" r:id="rId3"/>
    <p:sldId id="259" r:id="rId4"/>
    <p:sldId id="344" r:id="rId5"/>
    <p:sldId id="345" r:id="rId6"/>
    <p:sldId id="346" r:id="rId7"/>
    <p:sldId id="347" r:id="rId8"/>
    <p:sldId id="348" r:id="rId9"/>
    <p:sldId id="376" r:id="rId10"/>
    <p:sldId id="377" r:id="rId11"/>
    <p:sldId id="378" r:id="rId12"/>
    <p:sldId id="349" r:id="rId13"/>
    <p:sldId id="350" r:id="rId14"/>
    <p:sldId id="380" r:id="rId15"/>
    <p:sldId id="381" r:id="rId16"/>
    <p:sldId id="382" r:id="rId17"/>
    <p:sldId id="351" r:id="rId18"/>
    <p:sldId id="352" r:id="rId19"/>
    <p:sldId id="353" r:id="rId20"/>
    <p:sldId id="354" r:id="rId21"/>
    <p:sldId id="355" r:id="rId22"/>
    <p:sldId id="356" r:id="rId23"/>
    <p:sldId id="357" r:id="rId24"/>
    <p:sldId id="358" r:id="rId25"/>
    <p:sldId id="359" r:id="rId26"/>
    <p:sldId id="360" r:id="rId27"/>
    <p:sldId id="361" r:id="rId28"/>
    <p:sldId id="362" r:id="rId29"/>
    <p:sldId id="300" r:id="rId30"/>
    <p:sldId id="335" r:id="rId31"/>
    <p:sldId id="363" r:id="rId32"/>
    <p:sldId id="364" r:id="rId33"/>
    <p:sldId id="365" r:id="rId34"/>
    <p:sldId id="366" r:id="rId35"/>
    <p:sldId id="367" r:id="rId36"/>
    <p:sldId id="368" r:id="rId37"/>
    <p:sldId id="454" r:id="rId38"/>
    <p:sldId id="455" r:id="rId39"/>
    <p:sldId id="456" r:id="rId40"/>
    <p:sldId id="457" r:id="rId41"/>
    <p:sldId id="369" r:id="rId42"/>
    <p:sldId id="370" r:id="rId43"/>
    <p:sldId id="371" r:id="rId44"/>
    <p:sldId id="372" r:id="rId45"/>
    <p:sldId id="373" r:id="rId46"/>
    <p:sldId id="374" r:id="rId47"/>
    <p:sldId id="375" r:id="rId48"/>
    <p:sldId id="425" r:id="rId49"/>
    <p:sldId id="426" r:id="rId50"/>
    <p:sldId id="427" r:id="rId51"/>
    <p:sldId id="395" r:id="rId52"/>
    <p:sldId id="435" r:id="rId53"/>
    <p:sldId id="436" r:id="rId54"/>
    <p:sldId id="437" r:id="rId55"/>
    <p:sldId id="407" r:id="rId56"/>
    <p:sldId id="415" r:id="rId57"/>
    <p:sldId id="383" r:id="rId58"/>
    <p:sldId id="385" r:id="rId59"/>
    <p:sldId id="416" r:id="rId60"/>
    <p:sldId id="417" r:id="rId61"/>
    <p:sldId id="458" r:id="rId62"/>
    <p:sldId id="418" r:id="rId63"/>
    <p:sldId id="421" r:id="rId64"/>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3607" autoAdjust="0"/>
  </p:normalViewPr>
  <p:slideViewPr>
    <p:cSldViewPr snapToGrid="0">
      <p:cViewPr varScale="1">
        <p:scale>
          <a:sx n="62" d="100"/>
          <a:sy n="62" d="100"/>
        </p:scale>
        <p:origin x="96" y="120"/>
      </p:cViewPr>
      <p:guideLst/>
    </p:cSldViewPr>
  </p:slideViewPr>
  <p:outlineViewPr>
    <p:cViewPr>
      <p:scale>
        <a:sx n="33" d="100"/>
        <a:sy n="33" d="100"/>
      </p:scale>
      <p:origin x="0" y="-20976"/>
    </p:cViewPr>
  </p:outlineViewPr>
  <p:notesTextViewPr>
    <p:cViewPr>
      <p:scale>
        <a:sx n="1" d="1"/>
        <a:sy n="1" d="1"/>
      </p:scale>
      <p:origin x="0" y="0"/>
    </p:cViewPr>
  </p:notesTextViewPr>
  <p:sorterViewPr>
    <p:cViewPr>
      <p:scale>
        <a:sx n="180" d="100"/>
        <a:sy n="180" d="100"/>
      </p:scale>
      <p:origin x="0" y="-8604"/>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099734-E1CD-4676-B8FD-3B2AE55D501F}" type="datetimeFigureOut">
              <a:rPr lang="tr-TR" smtClean="0"/>
              <a:t>29.04.2020</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9542E2-2FA1-41E6-8954-17D2C75BA1F4}" type="slidenum">
              <a:rPr lang="tr-TR" smtClean="0"/>
              <a:t>‹#›</a:t>
            </a:fld>
            <a:endParaRPr lang="tr-TR"/>
          </a:p>
        </p:txBody>
      </p:sp>
    </p:spTree>
    <p:extLst>
      <p:ext uri="{BB962C8B-B14F-4D97-AF65-F5344CB8AC3E}">
        <p14:creationId xmlns:p14="http://schemas.microsoft.com/office/powerpoint/2010/main" val="4125422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t>
            </a:r>
            <a:r>
              <a:rPr lang="en-US" sz="1200" b="0" i="0" kern="1200" dirty="0" smtClean="0">
                <a:solidFill>
                  <a:schemeClr val="tx1"/>
                </a:solidFill>
                <a:effectLst/>
                <a:latin typeface="+mn-lt"/>
                <a:ea typeface="+mn-ea"/>
                <a:cs typeface="+mn-cs"/>
              </a:rPr>
              <a:t>Experience has shown that the best way to develop and maintain a large program is to construct it from smaller pieces or </a:t>
            </a:r>
            <a:r>
              <a:rPr lang="en-US" sz="1200" b="1" i="0" kern="1200" dirty="0" smtClean="0">
                <a:solidFill>
                  <a:schemeClr val="tx1"/>
                </a:solidFill>
                <a:effectLst/>
                <a:latin typeface="+mn-lt"/>
                <a:ea typeface="+mn-ea"/>
                <a:cs typeface="+mn-cs"/>
              </a:rPr>
              <a:t>modules</a:t>
            </a:r>
            <a:r>
              <a:rPr lang="en-US" sz="1200" b="0" i="0" kern="1200" dirty="0" smtClean="0">
                <a:solidFill>
                  <a:schemeClr val="tx1"/>
                </a:solidFill>
                <a:effectLst/>
                <a:latin typeface="+mn-lt"/>
                <a:ea typeface="+mn-ea"/>
                <a:cs typeface="+mn-cs"/>
              </a:rPr>
              <a:t>, each of which is more manageable than the original program. </a:t>
            </a:r>
          </a:p>
          <a:p>
            <a:r>
              <a:rPr lang="en-US" sz="1200" b="0" i="0" kern="1200" dirty="0" smtClean="0">
                <a:solidFill>
                  <a:schemeClr val="tx1"/>
                </a:solidFill>
                <a:effectLst/>
                <a:latin typeface="+mn-lt"/>
                <a:ea typeface="+mn-ea"/>
                <a:cs typeface="+mn-cs"/>
              </a:rPr>
              <a:t>- This technique is called </a:t>
            </a:r>
            <a:r>
              <a:rPr lang="en-US" sz="1200" b="1" i="0" kern="1200" dirty="0" smtClean="0">
                <a:solidFill>
                  <a:schemeClr val="tx1"/>
                </a:solidFill>
                <a:effectLst/>
                <a:latin typeface="+mn-lt"/>
                <a:ea typeface="+mn-ea"/>
                <a:cs typeface="+mn-cs"/>
              </a:rPr>
              <a:t>divide and conquer</a:t>
            </a:r>
            <a:r>
              <a:rPr lang="en-US" sz="1200" b="0" i="0" kern="1200" dirty="0" smtClean="0">
                <a:solidFill>
                  <a:schemeClr val="tx1"/>
                </a:solidFill>
                <a:effectLst/>
                <a:latin typeface="+mn-lt"/>
                <a:ea typeface="+mn-ea"/>
                <a:cs typeface="+mn-cs"/>
              </a:rPr>
              <a:t>.</a:t>
            </a:r>
            <a:r>
              <a:rPr lang="en-US" dirty="0" smtClean="0"/>
              <a:t> </a:t>
            </a:r>
            <a:br>
              <a:rPr lang="en-US" dirty="0" smtClean="0"/>
            </a:br>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1</a:t>
            </a:fld>
            <a:endParaRPr lang="tr-TR"/>
          </a:p>
        </p:txBody>
      </p:sp>
    </p:spTree>
    <p:extLst>
      <p:ext uri="{BB962C8B-B14F-4D97-AF65-F5344CB8AC3E}">
        <p14:creationId xmlns:p14="http://schemas.microsoft.com/office/powerpoint/2010/main" val="2406989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smtClean="0"/>
              <a:t>- Run C23_10_power.c.</a:t>
            </a:r>
            <a:endParaRPr lang="en-US" dirty="0" smtClean="0"/>
          </a:p>
        </p:txBody>
      </p:sp>
      <p:sp>
        <p:nvSpPr>
          <p:cNvPr id="4" name="Slide Number Placeholder 3"/>
          <p:cNvSpPr>
            <a:spLocks noGrp="1"/>
          </p:cNvSpPr>
          <p:nvPr>
            <p:ph type="sldNum" sz="quarter" idx="10"/>
          </p:nvPr>
        </p:nvSpPr>
        <p:spPr/>
        <p:txBody>
          <a:bodyPr/>
          <a:lstStyle/>
          <a:p>
            <a:fld id="{3C9542E2-2FA1-41E6-8954-17D2C75BA1F4}" type="slidenum">
              <a:rPr lang="tr-TR" smtClean="0"/>
              <a:t>6</a:t>
            </a:fld>
            <a:endParaRPr lang="tr-TR"/>
          </a:p>
        </p:txBody>
      </p:sp>
    </p:spTree>
    <p:extLst>
      <p:ext uri="{BB962C8B-B14F-4D97-AF65-F5344CB8AC3E}">
        <p14:creationId xmlns:p14="http://schemas.microsoft.com/office/powerpoint/2010/main" val="1631958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smtClean="0"/>
              <a:t>- Run C23_10_power.c.</a:t>
            </a:r>
            <a:endParaRPr lang="en-US" dirty="0" smtClean="0"/>
          </a:p>
        </p:txBody>
      </p:sp>
      <p:sp>
        <p:nvSpPr>
          <p:cNvPr id="4" name="Slide Number Placeholder 3"/>
          <p:cNvSpPr>
            <a:spLocks noGrp="1"/>
          </p:cNvSpPr>
          <p:nvPr>
            <p:ph type="sldNum" sz="quarter" idx="10"/>
          </p:nvPr>
        </p:nvSpPr>
        <p:spPr/>
        <p:txBody>
          <a:bodyPr/>
          <a:lstStyle/>
          <a:p>
            <a:fld id="{3C9542E2-2FA1-41E6-8954-17D2C75BA1F4}" type="slidenum">
              <a:rPr lang="tr-TR" smtClean="0"/>
              <a:t>8</a:t>
            </a:fld>
            <a:endParaRPr lang="tr-TR"/>
          </a:p>
        </p:txBody>
      </p:sp>
    </p:spTree>
    <p:extLst>
      <p:ext uri="{BB962C8B-B14F-4D97-AF65-F5344CB8AC3E}">
        <p14:creationId xmlns:p14="http://schemas.microsoft.com/office/powerpoint/2010/main" val="595427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9</a:t>
            </a:fld>
            <a:endParaRPr lang="tr-TR"/>
          </a:p>
        </p:txBody>
      </p:sp>
    </p:spTree>
    <p:extLst>
      <p:ext uri="{BB962C8B-B14F-4D97-AF65-F5344CB8AC3E}">
        <p14:creationId xmlns:p14="http://schemas.microsoft.com/office/powerpoint/2010/main" val="3974986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smtClean="0"/>
              <a:t>- Run C23_15_paramByValue.c, </a:t>
            </a:r>
            <a:r>
              <a:rPr lang="tr-TR" dirty="0" err="1" smtClean="0"/>
              <a:t>if</a:t>
            </a:r>
            <a:r>
              <a:rPr lang="tr-TR" dirty="0" smtClean="0"/>
              <a:t> </a:t>
            </a:r>
            <a:r>
              <a:rPr lang="tr-TR" dirty="0" err="1" smtClean="0"/>
              <a:t>required</a:t>
            </a:r>
            <a:r>
              <a:rPr lang="tr-TR" dirty="0" smtClean="0"/>
              <a:t>.</a:t>
            </a:r>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16</a:t>
            </a:fld>
            <a:endParaRPr lang="tr-TR"/>
          </a:p>
        </p:txBody>
      </p:sp>
    </p:spTree>
    <p:extLst>
      <p:ext uri="{BB962C8B-B14F-4D97-AF65-F5344CB8AC3E}">
        <p14:creationId xmlns:p14="http://schemas.microsoft.com/office/powerpoint/2010/main" val="3588906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smtClean="0"/>
              <a:t>- Run c23_20_scopeLocGlb.c.</a:t>
            </a:r>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19</a:t>
            </a:fld>
            <a:endParaRPr lang="tr-TR"/>
          </a:p>
        </p:txBody>
      </p:sp>
    </p:spTree>
    <p:extLst>
      <p:ext uri="{BB962C8B-B14F-4D97-AF65-F5344CB8AC3E}">
        <p14:creationId xmlns:p14="http://schemas.microsoft.com/office/powerpoint/2010/main" val="4179602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smtClean="0"/>
              <a:t>- Run C23_25_localVar.c.</a:t>
            </a:r>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21</a:t>
            </a:fld>
            <a:endParaRPr lang="tr-TR"/>
          </a:p>
        </p:txBody>
      </p:sp>
    </p:spTree>
    <p:extLst>
      <p:ext uri="{BB962C8B-B14F-4D97-AF65-F5344CB8AC3E}">
        <p14:creationId xmlns:p14="http://schemas.microsoft.com/office/powerpoint/2010/main" val="775670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smtClean="0"/>
              <a:t>- Run C23_30_globalVar.c.</a:t>
            </a:r>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22</a:t>
            </a:fld>
            <a:endParaRPr lang="tr-TR"/>
          </a:p>
        </p:txBody>
      </p:sp>
    </p:spTree>
    <p:extLst>
      <p:ext uri="{BB962C8B-B14F-4D97-AF65-F5344CB8AC3E}">
        <p14:creationId xmlns:p14="http://schemas.microsoft.com/office/powerpoint/2010/main" val="395369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smtClean="0"/>
              <a:t>- Run C23_35_paramValChange.c.</a:t>
            </a:r>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23</a:t>
            </a:fld>
            <a:endParaRPr lang="tr-TR"/>
          </a:p>
        </p:txBody>
      </p:sp>
    </p:spTree>
    <p:extLst>
      <p:ext uri="{BB962C8B-B14F-4D97-AF65-F5344CB8AC3E}">
        <p14:creationId xmlns:p14="http://schemas.microsoft.com/office/powerpoint/2010/main" val="1854590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smtClean="0"/>
              <a:t>- Run C23_40_localVeilsGlobal.c.</a:t>
            </a:r>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24</a:t>
            </a:fld>
            <a:endParaRPr lang="tr-TR"/>
          </a:p>
        </p:txBody>
      </p:sp>
    </p:spTree>
    <p:extLst>
      <p:ext uri="{BB962C8B-B14F-4D97-AF65-F5344CB8AC3E}">
        <p14:creationId xmlns:p14="http://schemas.microsoft.com/office/powerpoint/2010/main" val="1928609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smtClean="0"/>
              <a:t>- Run C23_45_paramVeilsGlobal.c.</a:t>
            </a:r>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25</a:t>
            </a:fld>
            <a:endParaRPr lang="tr-TR"/>
          </a:p>
        </p:txBody>
      </p:sp>
    </p:spTree>
    <p:extLst>
      <p:ext uri="{BB962C8B-B14F-4D97-AF65-F5344CB8AC3E}">
        <p14:creationId xmlns:p14="http://schemas.microsoft.com/office/powerpoint/2010/main" val="119774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smtClean="0"/>
              <a:t>- Run C23_50_factorialByIteration.c.</a:t>
            </a:r>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26</a:t>
            </a:fld>
            <a:endParaRPr lang="tr-TR"/>
          </a:p>
        </p:txBody>
      </p:sp>
    </p:spTree>
    <p:extLst>
      <p:ext uri="{BB962C8B-B14F-4D97-AF65-F5344CB8AC3E}">
        <p14:creationId xmlns:p14="http://schemas.microsoft.com/office/powerpoint/2010/main" val="15231338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t>
            </a:r>
            <a:r>
              <a:rPr lang="en-US" sz="1200" b="0" i="0" kern="1200" dirty="0" smtClean="0">
                <a:solidFill>
                  <a:schemeClr val="tx1"/>
                </a:solidFill>
                <a:effectLst/>
                <a:latin typeface="+mn-lt"/>
                <a:ea typeface="+mn-ea"/>
                <a:cs typeface="+mn-cs"/>
              </a:rPr>
              <a:t>Of course, since the macro’s meaning appears in the program at every call, the object file produced by the compiler typically requires more memory than the same program would require if it used a function rather</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than a macro.</a:t>
            </a:r>
            <a:r>
              <a:rPr lang="en-US" dirty="0" smtClean="0"/>
              <a:t> </a:t>
            </a:r>
            <a:br>
              <a:rPr lang="en-US" dirty="0" smtClean="0"/>
            </a:br>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30</a:t>
            </a:fld>
            <a:endParaRPr lang="tr-TR"/>
          </a:p>
        </p:txBody>
      </p:sp>
    </p:spTree>
    <p:extLst>
      <p:ext uri="{BB962C8B-B14F-4D97-AF65-F5344CB8AC3E}">
        <p14:creationId xmlns:p14="http://schemas.microsoft.com/office/powerpoint/2010/main" val="20658825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dirty="0"/>
          </a:p>
        </p:txBody>
      </p:sp>
      <p:sp>
        <p:nvSpPr>
          <p:cNvPr id="4" name="Slayt Numarası Yer Tutucusu 3"/>
          <p:cNvSpPr>
            <a:spLocks noGrp="1"/>
          </p:cNvSpPr>
          <p:nvPr>
            <p:ph type="sldNum" sz="quarter" idx="10"/>
          </p:nvPr>
        </p:nvSpPr>
        <p:spPr/>
        <p:txBody>
          <a:bodyPr/>
          <a:lstStyle/>
          <a:p>
            <a:fld id="{3C9542E2-2FA1-41E6-8954-17D2C75BA1F4}" type="slidenum">
              <a:rPr lang="tr-TR" smtClean="0"/>
              <a:t>31</a:t>
            </a:fld>
            <a:endParaRPr lang="tr-TR"/>
          </a:p>
        </p:txBody>
      </p:sp>
    </p:spTree>
    <p:extLst>
      <p:ext uri="{BB962C8B-B14F-4D97-AF65-F5344CB8AC3E}">
        <p14:creationId xmlns:p14="http://schemas.microsoft.com/office/powerpoint/2010/main" val="36576352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smtClean="0"/>
              <a:t>- Run C23_55_varParam.c.</a:t>
            </a:r>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43</a:t>
            </a:fld>
            <a:endParaRPr lang="tr-TR"/>
          </a:p>
        </p:txBody>
      </p:sp>
    </p:spTree>
    <p:extLst>
      <p:ext uri="{BB962C8B-B14F-4D97-AF65-F5344CB8AC3E}">
        <p14:creationId xmlns:p14="http://schemas.microsoft.com/office/powerpoint/2010/main" val="22646534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b="0" i="0" kern="1200" dirty="0">
                <a:solidFill>
                  <a:schemeClr val="tx1"/>
                </a:solidFill>
                <a:effectLst/>
                <a:latin typeface="+mn-lt"/>
                <a:ea typeface="+mn-ea"/>
                <a:cs typeface="+mn-cs"/>
              </a:rPr>
              <a:t>The function actually knows how to solve only the </a:t>
            </a:r>
            <a:r>
              <a:rPr lang="en-US" sz="1200" b="0" i="1" kern="1200" dirty="0">
                <a:solidFill>
                  <a:schemeClr val="tx1"/>
                </a:solidFill>
                <a:effectLst/>
                <a:latin typeface="+mn-lt"/>
                <a:ea typeface="+mn-ea"/>
                <a:cs typeface="+mn-cs"/>
              </a:rPr>
              <a:t>simplest </a:t>
            </a:r>
            <a:r>
              <a:rPr lang="en-US" sz="1200" b="0" i="0" kern="1200" dirty="0">
                <a:solidFill>
                  <a:schemeClr val="tx1"/>
                </a:solidFill>
                <a:effectLst/>
                <a:latin typeface="+mn-lt"/>
                <a:ea typeface="+mn-ea"/>
                <a:cs typeface="+mn-cs"/>
              </a:rPr>
              <a:t>case(s), or so-called </a:t>
            </a:r>
            <a:r>
              <a:rPr lang="en-US" sz="1200" b="1" i="0" kern="1200" dirty="0">
                <a:solidFill>
                  <a:schemeClr val="tx1"/>
                </a:solidFill>
                <a:effectLst/>
                <a:latin typeface="+mn-lt"/>
                <a:ea typeface="+mn-ea"/>
                <a:cs typeface="+mn-cs"/>
              </a:rPr>
              <a:t>base case(s)</a:t>
            </a:r>
            <a:r>
              <a:rPr lang="en-US" sz="1200" b="0" i="0" kern="1200" dirty="0">
                <a:solidFill>
                  <a:schemeClr val="tx1"/>
                </a:solidFill>
                <a:effectLst/>
                <a:latin typeface="+mn-lt"/>
                <a:ea typeface="+mn-ea"/>
                <a:cs typeface="+mn-cs"/>
              </a:rPr>
              <a:t>.</a:t>
            </a:r>
            <a:r>
              <a:rPr lang="en-US" dirty="0"/>
              <a:t> </a:t>
            </a:r>
          </a:p>
          <a:p>
            <a:pPr marL="171450" indent="-171450">
              <a:buFontTx/>
              <a:buChar char="-"/>
            </a:pPr>
            <a:r>
              <a:rPr lang="en-US" sz="1200" b="0" i="0" kern="1200" dirty="0">
                <a:solidFill>
                  <a:schemeClr val="tx1"/>
                </a:solidFill>
                <a:effectLst/>
                <a:latin typeface="+mn-lt"/>
                <a:ea typeface="+mn-ea"/>
                <a:cs typeface="+mn-cs"/>
              </a:rPr>
              <a:t>If the function is called with a base case, the function simply returns a result.</a:t>
            </a:r>
            <a:r>
              <a:rPr lang="en-US" dirty="0"/>
              <a:t> </a:t>
            </a:r>
          </a:p>
          <a:p>
            <a:pPr marL="171450" marR="0" lvl="2" indent="-171450" algn="l" defTabSz="914400" rtl="0" eaLnBrk="1" fontAlgn="auto" latinLnBrk="0" hangingPunct="1">
              <a:lnSpc>
                <a:spcPct val="100000"/>
              </a:lnSpc>
              <a:spcBef>
                <a:spcPts val="0"/>
              </a:spcBef>
              <a:spcAft>
                <a:spcPts val="0"/>
              </a:spcAft>
              <a:buClrTx/>
              <a:buSzTx/>
              <a:buFontTx/>
              <a:buChar char="-"/>
              <a:tabLst/>
              <a:defRPr/>
            </a:pPr>
            <a:r>
              <a:rPr lang="en-US" sz="1200" b="0" i="0" kern="1200" dirty="0">
                <a:solidFill>
                  <a:schemeClr val="tx1"/>
                </a:solidFill>
                <a:effectLst/>
                <a:latin typeface="+mn-lt"/>
                <a:ea typeface="+mn-ea"/>
                <a:cs typeface="+mn-cs"/>
              </a:rPr>
              <a:t>If the function is called with a more complex problem, the function divides the problem into two pieces: </a:t>
            </a:r>
            <a:r>
              <a:rPr lang="en-US" altLang="tr-TR" dirty="0"/>
              <a:t>What it can do </a:t>
            </a:r>
            <a:r>
              <a:rPr lang="en-US" sz="1200" b="0" i="0" kern="1200" dirty="0">
                <a:solidFill>
                  <a:schemeClr val="tx1"/>
                </a:solidFill>
                <a:effectLst/>
                <a:latin typeface="+mn-lt"/>
                <a:ea typeface="+mn-ea"/>
                <a:cs typeface="+mn-cs"/>
              </a:rPr>
              <a:t>and a piece that it does not know how to do.</a:t>
            </a:r>
            <a:r>
              <a:rPr lang="en-US" dirty="0"/>
              <a:t>  </a:t>
            </a:r>
          </a:p>
          <a:p>
            <a:pPr marL="171450" marR="0" lvl="2" indent="-171450" algn="l" defTabSz="914400" rtl="0" eaLnBrk="1" fontAlgn="auto" latinLnBrk="0" hangingPunct="1">
              <a:lnSpc>
                <a:spcPct val="100000"/>
              </a:lnSpc>
              <a:spcBef>
                <a:spcPts val="0"/>
              </a:spcBef>
              <a:spcAft>
                <a:spcPts val="0"/>
              </a:spcAft>
              <a:buClrTx/>
              <a:buSzTx/>
              <a:buFontTx/>
              <a:buChar char="-"/>
              <a:tabLst/>
              <a:defRPr/>
            </a:pPr>
            <a:r>
              <a:rPr lang="en-US" sz="1200" b="0" i="0" kern="1200" dirty="0">
                <a:solidFill>
                  <a:schemeClr val="tx1"/>
                </a:solidFill>
                <a:effectLst/>
                <a:latin typeface="+mn-lt"/>
                <a:ea typeface="+mn-ea"/>
                <a:cs typeface="+mn-cs"/>
              </a:rPr>
              <a:t>The latter piece is</a:t>
            </a:r>
            <a:r>
              <a:rPr lang="en-US" sz="1200" b="0" i="0" kern="1200" baseline="0" dirty="0">
                <a:solidFill>
                  <a:schemeClr val="tx1"/>
                </a:solidFill>
                <a:effectLst/>
                <a:latin typeface="+mn-lt"/>
                <a:ea typeface="+mn-ea"/>
                <a:cs typeface="+mn-cs"/>
              </a:rPr>
              <a:t> similar to </a:t>
            </a:r>
            <a:r>
              <a:rPr lang="en-US" sz="1200" b="0" i="0" kern="1200" dirty="0">
                <a:solidFill>
                  <a:schemeClr val="tx1"/>
                </a:solidFill>
                <a:effectLst/>
                <a:latin typeface="+mn-lt"/>
                <a:ea typeface="+mn-ea"/>
                <a:cs typeface="+mn-cs"/>
              </a:rPr>
              <a:t>the original problem, but be a slightly simpler or smaller version.</a:t>
            </a:r>
            <a:r>
              <a:rPr lang="en-US" dirty="0"/>
              <a:t> </a:t>
            </a:r>
          </a:p>
          <a:p>
            <a:pPr marL="171450" marR="0" lvl="2" indent="-171450" algn="l" defTabSz="914400" rtl="0" eaLnBrk="1" fontAlgn="auto" latinLnBrk="0" hangingPunct="1">
              <a:lnSpc>
                <a:spcPct val="100000"/>
              </a:lnSpc>
              <a:spcBef>
                <a:spcPts val="0"/>
              </a:spcBef>
              <a:spcAft>
                <a:spcPts val="0"/>
              </a:spcAft>
              <a:buClrTx/>
              <a:buSzTx/>
              <a:buFontTx/>
              <a:buChar char="-"/>
              <a:tabLst/>
              <a:defRPr/>
            </a:pPr>
            <a:r>
              <a:rPr lang="en-US" sz="1200" b="0" i="0" kern="1200" dirty="0">
                <a:solidFill>
                  <a:schemeClr val="tx1"/>
                </a:solidFill>
                <a:effectLst/>
                <a:latin typeface="+mn-lt"/>
                <a:ea typeface="+mn-ea"/>
                <a:cs typeface="+mn-cs"/>
              </a:rPr>
              <a:t>This is referred to as a </a:t>
            </a:r>
            <a:r>
              <a:rPr lang="en-US" sz="1200" b="1" i="0" kern="1200" dirty="0">
                <a:solidFill>
                  <a:schemeClr val="tx1"/>
                </a:solidFill>
                <a:effectLst/>
                <a:latin typeface="+mn-lt"/>
                <a:ea typeface="+mn-ea"/>
                <a:cs typeface="+mn-cs"/>
              </a:rPr>
              <a:t>recursive call </a:t>
            </a:r>
            <a:r>
              <a:rPr lang="en-US" sz="1200" b="0" i="0" kern="1200" dirty="0">
                <a:solidFill>
                  <a:schemeClr val="tx1"/>
                </a:solidFill>
                <a:effectLst/>
                <a:latin typeface="+mn-lt"/>
                <a:ea typeface="+mn-ea"/>
                <a:cs typeface="+mn-cs"/>
              </a:rPr>
              <a:t>or the </a:t>
            </a:r>
            <a:r>
              <a:rPr lang="en-US" sz="1200" b="1" i="0" kern="1200" dirty="0">
                <a:solidFill>
                  <a:schemeClr val="tx1"/>
                </a:solidFill>
                <a:effectLst/>
                <a:latin typeface="+mn-lt"/>
                <a:ea typeface="+mn-ea"/>
                <a:cs typeface="+mn-cs"/>
              </a:rPr>
              <a:t>recursion step</a:t>
            </a:r>
            <a:r>
              <a:rPr lang="en-US" sz="1200" b="0" i="0" kern="1200" dirty="0">
                <a:solidFill>
                  <a:schemeClr val="tx1"/>
                </a:solidFill>
                <a:effectLst/>
                <a:latin typeface="+mn-lt"/>
                <a:ea typeface="+mn-ea"/>
                <a:cs typeface="+mn-cs"/>
              </a:rPr>
              <a:t>. </a:t>
            </a:r>
          </a:p>
          <a:p>
            <a:pPr marL="171450" marR="0" lvl="2" indent="-171450" algn="l" defTabSz="914400" rtl="0" eaLnBrk="1" fontAlgn="auto" latinLnBrk="0" hangingPunct="1">
              <a:lnSpc>
                <a:spcPct val="100000"/>
              </a:lnSpc>
              <a:spcBef>
                <a:spcPts val="0"/>
              </a:spcBef>
              <a:spcAft>
                <a:spcPts val="0"/>
              </a:spcAft>
              <a:buClrTx/>
              <a:buSzTx/>
              <a:buFontTx/>
              <a:buChar char="-"/>
              <a:tabLst/>
              <a:defRPr/>
            </a:pPr>
            <a:r>
              <a:rPr lang="en-US" sz="1200" b="0" i="0" kern="1200" dirty="0">
                <a:solidFill>
                  <a:schemeClr val="tx1"/>
                </a:solidFill>
                <a:effectLst/>
                <a:latin typeface="+mn-lt"/>
                <a:ea typeface="+mn-ea"/>
                <a:cs typeface="+mn-cs"/>
              </a:rPr>
              <a:t>The recursion step also includes the keyword </a:t>
            </a:r>
            <a:r>
              <a:rPr lang="en-US" sz="1200" b="1" i="0" kern="1200" dirty="0">
                <a:solidFill>
                  <a:schemeClr val="tx1"/>
                </a:solidFill>
                <a:effectLst/>
                <a:latin typeface="+mn-lt"/>
                <a:ea typeface="+mn-ea"/>
                <a:cs typeface="+mn-cs"/>
              </a:rPr>
              <a:t>return</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because its result will be combined with the portion of the problem the function knew. </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47</a:t>
            </a:fld>
            <a:endParaRPr lang="tr-TR"/>
          </a:p>
        </p:txBody>
      </p:sp>
    </p:spTree>
    <p:extLst>
      <p:ext uri="{BB962C8B-B14F-4D97-AF65-F5344CB8AC3E}">
        <p14:creationId xmlns:p14="http://schemas.microsoft.com/office/powerpoint/2010/main" val="1030480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smtClean="0"/>
              <a:t>- Run C23_60_factorialByRecursion.c.</a:t>
            </a:r>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50</a:t>
            </a:fld>
            <a:endParaRPr lang="tr-TR"/>
          </a:p>
        </p:txBody>
      </p:sp>
    </p:spTree>
    <p:extLst>
      <p:ext uri="{BB962C8B-B14F-4D97-AF65-F5344CB8AC3E}">
        <p14:creationId xmlns:p14="http://schemas.microsoft.com/office/powerpoint/2010/main" val="1716634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53</a:t>
            </a:fld>
            <a:endParaRPr lang="tr-TR"/>
          </a:p>
        </p:txBody>
      </p:sp>
    </p:spTree>
    <p:extLst>
      <p:ext uri="{BB962C8B-B14F-4D97-AF65-F5344CB8AC3E}">
        <p14:creationId xmlns:p14="http://schemas.microsoft.com/office/powerpoint/2010/main" val="6370185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9542E2-2FA1-41E6-8954-17D2C75BA1F4}" type="slidenum">
              <a:rPr lang="tr-TR" smtClean="0"/>
              <a:t>54</a:t>
            </a:fld>
            <a:endParaRPr lang="tr-TR"/>
          </a:p>
        </p:txBody>
      </p:sp>
    </p:spTree>
    <p:extLst>
      <p:ext uri="{BB962C8B-B14F-4D97-AF65-F5344CB8AC3E}">
        <p14:creationId xmlns:p14="http://schemas.microsoft.com/office/powerpoint/2010/main" val="1180693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123950"/>
            <a:ext cx="10972800" cy="914400"/>
          </a:xfrm>
          <a:custGeom>
            <a:avLst/>
            <a:gdLst>
              <a:gd name="T0" fmla="*/ 0 w 1000"/>
              <a:gd name="T1" fmla="*/ 1000 h 1000"/>
              <a:gd name="T2" fmla="*/ 0 w 1000"/>
              <a:gd name="T3" fmla="*/ 0 h 1000"/>
              <a:gd name="T4" fmla="*/ 10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 name="Line 8"/>
          <p:cNvSpPr>
            <a:spLocks noChangeShapeType="1"/>
          </p:cNvSpPr>
          <p:nvPr/>
        </p:nvSpPr>
        <p:spPr bwMode="auto">
          <a:xfrm>
            <a:off x="609600" y="3371850"/>
            <a:ext cx="109728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 name="Line 10"/>
          <p:cNvSpPr>
            <a:spLocks noChangeShapeType="1"/>
          </p:cNvSpPr>
          <p:nvPr userDrawn="1"/>
        </p:nvSpPr>
        <p:spPr bwMode="auto">
          <a:xfrm>
            <a:off x="115824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378" name="Rectangle 2"/>
          <p:cNvSpPr>
            <a:spLocks noGrp="1" noChangeArrowheads="1"/>
          </p:cNvSpPr>
          <p:nvPr>
            <p:ph type="ctrTitle"/>
          </p:nvPr>
        </p:nvSpPr>
        <p:spPr>
          <a:xfrm>
            <a:off x="914400" y="1524000"/>
            <a:ext cx="105664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914400" y="3581400"/>
            <a:ext cx="104648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p:cNvSpPr>
            <a:spLocks noGrp="1" noChangeArrowheads="1"/>
          </p:cNvSpPr>
          <p:nvPr>
            <p:ph type="dt" sz="half" idx="10"/>
          </p:nvPr>
        </p:nvSpPr>
        <p:spPr bwMode="auto">
          <a:xfrm>
            <a:off x="609600" y="6243638"/>
            <a:ext cx="28448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solidFill>
                  <a:srgbClr val="000000"/>
                </a:solidFill>
                <a:latin typeface="Garamond" pitchFamily="-105" charset="0"/>
                <a:ea typeface="Arial" pitchFamily="-105" charset="0"/>
                <a:cs typeface="Arial" pitchFamily="-105" charset="0"/>
              </a:defRPr>
            </a:lvl1pPr>
          </a:lstStyle>
          <a:p>
            <a:pPr fontAlgn="base">
              <a:spcBef>
                <a:spcPct val="0"/>
              </a:spcBef>
              <a:spcAft>
                <a:spcPct val="0"/>
              </a:spcAft>
              <a:defRPr/>
            </a:pPr>
            <a:endParaRPr lang="en-US"/>
          </a:p>
        </p:txBody>
      </p:sp>
      <p:sp>
        <p:nvSpPr>
          <p:cNvPr id="8" name="Rectangle 5"/>
          <p:cNvSpPr>
            <a:spLocks noGrp="1" noChangeArrowheads="1"/>
          </p:cNvSpPr>
          <p:nvPr>
            <p:ph type="ftr" sz="quarter" idx="11"/>
          </p:nvPr>
        </p:nvSpPr>
        <p:spPr>
          <a:xfrm>
            <a:off x="4165600" y="6243638"/>
            <a:ext cx="3860800" cy="457200"/>
          </a:xfrm>
        </p:spPr>
        <p:txBody>
          <a:bodyPr/>
          <a:lstStyle>
            <a:lvl1pPr>
              <a:defRPr/>
            </a:lvl1pPr>
          </a:lstStyle>
          <a:p>
            <a:pPr fontAlgn="base">
              <a:spcBef>
                <a:spcPct val="0"/>
              </a:spcBef>
              <a:spcAft>
                <a:spcPct val="0"/>
              </a:spcAft>
              <a:defRPr/>
            </a:pPr>
            <a:endParaRPr lang="en-US" altLang="en-US"/>
          </a:p>
        </p:txBody>
      </p:sp>
      <p:sp>
        <p:nvSpPr>
          <p:cNvPr id="9" name="Rectangle 6"/>
          <p:cNvSpPr>
            <a:spLocks noGrp="1" noChangeArrowheads="1"/>
          </p:cNvSpPr>
          <p:nvPr>
            <p:ph type="sldNum" sz="quarter" idx="12"/>
          </p:nvPr>
        </p:nvSpPr>
        <p:spPr/>
        <p:txBody>
          <a:bodyPr/>
          <a:lstStyle>
            <a:lvl1pPr>
              <a:defRPr sz="1200"/>
            </a:lvl1pPr>
          </a:lstStyle>
          <a:p>
            <a:pPr fontAlgn="base">
              <a:spcBef>
                <a:spcPct val="0"/>
              </a:spcBef>
              <a:spcAft>
                <a:spcPct val="0"/>
              </a:spcAft>
            </a:pPr>
            <a:fld id="{6BCB3A3A-8FF8-40B3-8514-E2CB2218B302}"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65410344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04800" y="997528"/>
            <a:ext cx="114808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5"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4695566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5"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16733746-84DC-41D8-823C-0E541251900B}"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48267263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371600"/>
            <a:ext cx="56388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371600"/>
            <a:ext cx="56388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6"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7DA7D8B2-168E-4395-8C8D-DE154A1BF93F}"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342791622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8"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B21357CC-1F0C-4656-B2F4-067F4C5F9518}"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86103351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4"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D27548CD-748C-4DE8-BC15-41D2810282C5}"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266699241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3"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2B20CB8E-6506-4AEB-8989-7BD4DC848E44}"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384049582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6"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1FED9E3D-D4A4-4134-848E-E66AC38438F3}"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90121397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6"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2CE93521-0F42-40DB-9C31-44BF57F5918F}"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75415403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5"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3AD848FD-2F18-4378-B684-9572F1D7FD98}"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51076540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15400" y="152400"/>
            <a:ext cx="28702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52400"/>
            <a:ext cx="840740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5"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42E09492-B7AB-44C4-9096-FF9706AE7089}"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214172963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480800" cy="1066800"/>
          </a:xfrm>
        </p:spPr>
        <p:txBody>
          <a:bodyPr/>
          <a:lstStyle/>
          <a:p>
            <a:r>
              <a:rPr lang="en-US"/>
              <a:t>Click to edit Master title style</a:t>
            </a:r>
          </a:p>
        </p:txBody>
      </p:sp>
      <p:sp>
        <p:nvSpPr>
          <p:cNvPr id="3" name="ClipArt Placeholder 2"/>
          <p:cNvSpPr>
            <a:spLocks noGrp="1"/>
          </p:cNvSpPr>
          <p:nvPr>
            <p:ph type="clipArt" sz="half" idx="1"/>
          </p:nvPr>
        </p:nvSpPr>
        <p:spPr>
          <a:xfrm>
            <a:off x="304800" y="1371600"/>
            <a:ext cx="5638800" cy="4876800"/>
          </a:xfrm>
        </p:spPr>
        <p:txBody>
          <a:bodyPr/>
          <a:lstStyle/>
          <a:p>
            <a:pPr lvl="0"/>
            <a:endParaRPr lang="en-US" noProof="0"/>
          </a:p>
        </p:txBody>
      </p:sp>
      <p:sp>
        <p:nvSpPr>
          <p:cNvPr id="4" name="Text Placeholder 3"/>
          <p:cNvSpPr>
            <a:spLocks noGrp="1"/>
          </p:cNvSpPr>
          <p:nvPr>
            <p:ph type="body" sz="half" idx="2"/>
          </p:nvPr>
        </p:nvSpPr>
        <p:spPr>
          <a:xfrm>
            <a:off x="6146800" y="1371600"/>
            <a:ext cx="5638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6"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06F79FCD-EF8B-4A5A-BBA5-6A74B63CC055}"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81810476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123950"/>
            <a:ext cx="10972800" cy="914400"/>
          </a:xfrm>
          <a:custGeom>
            <a:avLst/>
            <a:gdLst>
              <a:gd name="T0" fmla="*/ 0 w 1000"/>
              <a:gd name="T1" fmla="*/ 1000 h 1000"/>
              <a:gd name="T2" fmla="*/ 0 w 1000"/>
              <a:gd name="T3" fmla="*/ 0 h 1000"/>
              <a:gd name="T4" fmla="*/ 10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 name="Line 8"/>
          <p:cNvSpPr>
            <a:spLocks noChangeShapeType="1"/>
          </p:cNvSpPr>
          <p:nvPr/>
        </p:nvSpPr>
        <p:spPr bwMode="auto">
          <a:xfrm>
            <a:off x="609600" y="3371850"/>
            <a:ext cx="109728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 name="Line 10"/>
          <p:cNvSpPr>
            <a:spLocks noChangeShapeType="1"/>
          </p:cNvSpPr>
          <p:nvPr userDrawn="1"/>
        </p:nvSpPr>
        <p:spPr bwMode="auto">
          <a:xfrm>
            <a:off x="115824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378" name="Rectangle 2"/>
          <p:cNvSpPr>
            <a:spLocks noGrp="1" noChangeArrowheads="1"/>
          </p:cNvSpPr>
          <p:nvPr>
            <p:ph type="ctrTitle"/>
          </p:nvPr>
        </p:nvSpPr>
        <p:spPr>
          <a:xfrm>
            <a:off x="914400" y="1524000"/>
            <a:ext cx="105664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914400" y="3581400"/>
            <a:ext cx="104648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p:cNvSpPr>
            <a:spLocks noGrp="1" noChangeArrowheads="1"/>
          </p:cNvSpPr>
          <p:nvPr>
            <p:ph type="dt" sz="half" idx="10"/>
          </p:nvPr>
        </p:nvSpPr>
        <p:spPr bwMode="auto">
          <a:xfrm>
            <a:off x="609600" y="6243638"/>
            <a:ext cx="28448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solidFill>
                  <a:srgbClr val="000000"/>
                </a:solidFill>
                <a:latin typeface="Garamond" pitchFamily="-105" charset="0"/>
                <a:ea typeface="Arial" pitchFamily="-105" charset="0"/>
                <a:cs typeface="Arial" pitchFamily="-105" charset="0"/>
              </a:defRPr>
            </a:lvl1pPr>
          </a:lstStyle>
          <a:p>
            <a:pPr fontAlgn="base">
              <a:spcBef>
                <a:spcPct val="0"/>
              </a:spcBef>
              <a:spcAft>
                <a:spcPct val="0"/>
              </a:spcAft>
              <a:defRPr/>
            </a:pPr>
            <a:endParaRPr lang="en-US"/>
          </a:p>
        </p:txBody>
      </p:sp>
      <p:sp>
        <p:nvSpPr>
          <p:cNvPr id="8" name="Rectangle 5"/>
          <p:cNvSpPr>
            <a:spLocks noGrp="1" noChangeArrowheads="1"/>
          </p:cNvSpPr>
          <p:nvPr>
            <p:ph type="ftr" sz="quarter" idx="11"/>
          </p:nvPr>
        </p:nvSpPr>
        <p:spPr>
          <a:xfrm>
            <a:off x="4165600" y="6243638"/>
            <a:ext cx="3860800" cy="457200"/>
          </a:xfrm>
        </p:spPr>
        <p:txBody>
          <a:bodyPr/>
          <a:lstStyle>
            <a:lvl1pPr>
              <a:defRPr/>
            </a:lvl1pPr>
          </a:lstStyle>
          <a:p>
            <a:pPr fontAlgn="base">
              <a:spcBef>
                <a:spcPct val="0"/>
              </a:spcBef>
              <a:spcAft>
                <a:spcPct val="0"/>
              </a:spcAft>
              <a:defRPr/>
            </a:pPr>
            <a:endParaRPr lang="en-US" altLang="en-US"/>
          </a:p>
        </p:txBody>
      </p:sp>
      <p:sp>
        <p:nvSpPr>
          <p:cNvPr id="9" name="Rectangle 6"/>
          <p:cNvSpPr>
            <a:spLocks noGrp="1" noChangeArrowheads="1"/>
          </p:cNvSpPr>
          <p:nvPr>
            <p:ph type="sldNum" sz="quarter" idx="12"/>
          </p:nvPr>
        </p:nvSpPr>
        <p:spPr/>
        <p:txBody>
          <a:bodyPr/>
          <a:lstStyle>
            <a:lvl1pPr>
              <a:defRPr sz="1200"/>
            </a:lvl1pPr>
          </a:lstStyle>
          <a:p>
            <a:pPr fontAlgn="base">
              <a:spcBef>
                <a:spcPct val="0"/>
              </a:spcBef>
              <a:spcAft>
                <a:spcPct val="0"/>
              </a:spcAft>
            </a:pPr>
            <a:fld id="{6BCB3A3A-8FF8-40B3-8514-E2CB2218B302}"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276874217"/>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04800" y="997528"/>
            <a:ext cx="114808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5"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395614603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5"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16733746-84DC-41D8-823C-0E541251900B}"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7481205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371600"/>
            <a:ext cx="56388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371600"/>
            <a:ext cx="56388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6"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7DA7D8B2-168E-4395-8C8D-DE154A1BF93F}"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347513743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8"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B21357CC-1F0C-4656-B2F4-067F4C5F9518}"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736683445"/>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4"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D27548CD-748C-4DE8-BC15-41D2810282C5}"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3212753606"/>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3"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2B20CB8E-6506-4AEB-8989-7BD4DC848E44}"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79938122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6"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1FED9E3D-D4A4-4134-848E-E66AC38438F3}"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422493400"/>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6"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2CE93521-0F42-40DB-9C31-44BF57F5918F}"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194324892"/>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5"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3AD848FD-2F18-4378-B684-9572F1D7FD98}"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386871608"/>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15400" y="152400"/>
            <a:ext cx="28702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52400"/>
            <a:ext cx="840740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5"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42E09492-B7AB-44C4-9096-FF9706AE7089}"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2035183378"/>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480800" cy="1066800"/>
          </a:xfrm>
        </p:spPr>
        <p:txBody>
          <a:bodyPr/>
          <a:lstStyle/>
          <a:p>
            <a:r>
              <a:rPr lang="en-US"/>
              <a:t>Click to edit Master title style</a:t>
            </a:r>
          </a:p>
        </p:txBody>
      </p:sp>
      <p:sp>
        <p:nvSpPr>
          <p:cNvPr id="3" name="ClipArt Placeholder 2"/>
          <p:cNvSpPr>
            <a:spLocks noGrp="1"/>
          </p:cNvSpPr>
          <p:nvPr>
            <p:ph type="clipArt" sz="half" idx="1"/>
          </p:nvPr>
        </p:nvSpPr>
        <p:spPr>
          <a:xfrm>
            <a:off x="304800" y="1371600"/>
            <a:ext cx="5638800" cy="4876800"/>
          </a:xfrm>
        </p:spPr>
        <p:txBody>
          <a:bodyPr/>
          <a:lstStyle/>
          <a:p>
            <a:pPr lvl="0"/>
            <a:endParaRPr lang="en-US" noProof="0"/>
          </a:p>
        </p:txBody>
      </p:sp>
      <p:sp>
        <p:nvSpPr>
          <p:cNvPr id="4" name="Text Placeholder 3"/>
          <p:cNvSpPr>
            <a:spLocks noGrp="1"/>
          </p:cNvSpPr>
          <p:nvPr>
            <p:ph type="body" sz="half" idx="2"/>
          </p:nvPr>
        </p:nvSpPr>
        <p:spPr>
          <a:xfrm>
            <a:off x="6146800" y="1371600"/>
            <a:ext cx="5638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p:cNvSpPr>
            <a:spLocks noGrp="1" noChangeArrowheads="1"/>
          </p:cNvSpPr>
          <p:nvPr>
            <p:ph type="ftr" sz="quarter" idx="10"/>
          </p:nvPr>
        </p:nvSpPr>
        <p:spPr>
          <a:ln/>
        </p:spPr>
        <p:txBody>
          <a:bodyPr/>
          <a:lstStyle>
            <a:lvl1pPr>
              <a:defRPr/>
            </a:lvl1pPr>
          </a:lstStyle>
          <a:p>
            <a:pPr fontAlgn="base">
              <a:spcBef>
                <a:spcPct val="0"/>
              </a:spcBef>
              <a:spcAft>
                <a:spcPct val="0"/>
              </a:spcAft>
              <a:defRPr/>
            </a:pPr>
            <a:endParaRPr lang="en-US" altLang="en-US"/>
          </a:p>
        </p:txBody>
      </p:sp>
      <p:sp>
        <p:nvSpPr>
          <p:cNvPr id="6" name="Rectangle 1030"/>
          <p:cNvSpPr>
            <a:spLocks noGrp="1" noChangeArrowheads="1"/>
          </p:cNvSpPr>
          <p:nvPr>
            <p:ph type="sldNum" sz="quarter" idx="11"/>
          </p:nvPr>
        </p:nvSpPr>
        <p:spPr>
          <a:ln/>
        </p:spPr>
        <p:txBody>
          <a:bodyPr/>
          <a:lstStyle>
            <a:lvl1pPr>
              <a:defRPr/>
            </a:lvl1pPr>
          </a:lstStyle>
          <a:p>
            <a:pPr fontAlgn="base">
              <a:spcBef>
                <a:spcPct val="0"/>
              </a:spcBef>
              <a:spcAft>
                <a:spcPct val="0"/>
              </a:spcAft>
            </a:pPr>
            <a:fld id="{06F79FCD-EF8B-4A5A-BBA5-6A74B63CC055}"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2265718170"/>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p:cNvSpPr>
            <a:spLocks noGrp="1" noChangeArrowheads="1"/>
          </p:cNvSpPr>
          <p:nvPr>
            <p:ph type="title"/>
          </p:nvPr>
        </p:nvSpPr>
        <p:spPr bwMode="auto">
          <a:xfrm>
            <a:off x="304800" y="152400"/>
            <a:ext cx="11480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tr-TR"/>
              <a:t>Click to edit Master title style</a:t>
            </a:r>
          </a:p>
        </p:txBody>
      </p:sp>
      <p:sp>
        <p:nvSpPr>
          <p:cNvPr id="1027" name="Rectangle 1027"/>
          <p:cNvSpPr>
            <a:spLocks noGrp="1" noChangeArrowheads="1"/>
          </p:cNvSpPr>
          <p:nvPr>
            <p:ph type="body" idx="1"/>
          </p:nvPr>
        </p:nvSpPr>
        <p:spPr bwMode="auto">
          <a:xfrm>
            <a:off x="304800" y="898526"/>
            <a:ext cx="114808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Fifth level</a:t>
            </a:r>
          </a:p>
        </p:txBody>
      </p:sp>
      <p:sp>
        <p:nvSpPr>
          <p:cNvPr id="100357" name="Rectangle 1029"/>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solidFill>
                  <a:srgbClr val="000000"/>
                </a:solidFill>
                <a:latin typeface="+mj-lt"/>
                <a:ea typeface="+mn-ea"/>
                <a:cs typeface="+mn-cs"/>
              </a:defRPr>
            </a:lvl1pPr>
          </a:lstStyle>
          <a:p>
            <a:pPr fontAlgn="base">
              <a:spcBef>
                <a:spcPct val="0"/>
              </a:spcBef>
              <a:spcAft>
                <a:spcPct val="0"/>
              </a:spcAft>
              <a:defRPr/>
            </a:pPr>
            <a:endParaRPr lang="en-US" altLang="en-US"/>
          </a:p>
        </p:txBody>
      </p:sp>
      <p:sp>
        <p:nvSpPr>
          <p:cNvPr id="100358" name="Rectangle 1030"/>
          <p:cNvSpPr>
            <a:spLocks noGrp="1" noChangeArrowheads="1"/>
          </p:cNvSpPr>
          <p:nvPr>
            <p:ph type="sldNum" sz="quarter" idx="4"/>
          </p:nvPr>
        </p:nvSpPr>
        <p:spPr bwMode="auto">
          <a:xfrm>
            <a:off x="9036051" y="6318250"/>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solidFill>
                  <a:srgbClr val="000000"/>
                </a:solidFill>
                <a:latin typeface="Garamond" panose="02020404030301010803" pitchFamily="18" charset="0"/>
              </a:defRPr>
            </a:lvl1pPr>
          </a:lstStyle>
          <a:p>
            <a:pPr fontAlgn="base">
              <a:spcBef>
                <a:spcPct val="0"/>
              </a:spcBef>
              <a:spcAft>
                <a:spcPct val="0"/>
              </a:spcAft>
            </a:pPr>
            <a:fld id="{EE42FCE0-6E1C-4037-BC8A-FCBCB380F030}"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
        <p:nvSpPr>
          <p:cNvPr id="1030" name="Line 1032"/>
          <p:cNvSpPr>
            <a:spLocks noChangeShapeType="1"/>
          </p:cNvSpPr>
          <p:nvPr/>
        </p:nvSpPr>
        <p:spPr bwMode="auto">
          <a:xfrm>
            <a:off x="304800" y="6481763"/>
            <a:ext cx="114808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1" name="Line 1033"/>
          <p:cNvSpPr>
            <a:spLocks noChangeShapeType="1"/>
          </p:cNvSpPr>
          <p:nvPr userDrawn="1"/>
        </p:nvSpPr>
        <p:spPr bwMode="auto">
          <a:xfrm>
            <a:off x="304800" y="898525"/>
            <a:ext cx="114808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2210313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pitchFamily="-105" charset="-128"/>
          <a:cs typeface="ＭＳ Ｐゴシック" pitchFamily="-105" charset="-128"/>
        </a:defRPr>
      </a:lvl1pPr>
      <a:lvl2pPr algn="l" rtl="0" eaLnBrk="0" fontAlgn="base" hangingPunct="0">
        <a:spcBef>
          <a:spcPct val="0"/>
        </a:spcBef>
        <a:spcAft>
          <a:spcPct val="0"/>
        </a:spcAft>
        <a:defRPr sz="4000">
          <a:solidFill>
            <a:schemeClr val="tx2"/>
          </a:solidFill>
          <a:latin typeface="Garamond" pitchFamily="18" charset="0"/>
          <a:ea typeface="ＭＳ Ｐゴシック" pitchFamily="-105" charset="-128"/>
          <a:cs typeface="ＭＳ Ｐゴシック" pitchFamily="-105" charset="-128"/>
        </a:defRPr>
      </a:lvl2pPr>
      <a:lvl3pPr algn="l" rtl="0" eaLnBrk="0" fontAlgn="base" hangingPunct="0">
        <a:spcBef>
          <a:spcPct val="0"/>
        </a:spcBef>
        <a:spcAft>
          <a:spcPct val="0"/>
        </a:spcAft>
        <a:defRPr sz="4000">
          <a:solidFill>
            <a:schemeClr val="tx2"/>
          </a:solidFill>
          <a:latin typeface="Garamond" pitchFamily="18" charset="0"/>
          <a:ea typeface="ＭＳ Ｐゴシック" pitchFamily="-105" charset="-128"/>
          <a:cs typeface="ＭＳ Ｐゴシック" pitchFamily="-105" charset="-128"/>
        </a:defRPr>
      </a:lvl3pPr>
      <a:lvl4pPr algn="l" rtl="0" eaLnBrk="0" fontAlgn="base" hangingPunct="0">
        <a:spcBef>
          <a:spcPct val="0"/>
        </a:spcBef>
        <a:spcAft>
          <a:spcPct val="0"/>
        </a:spcAft>
        <a:defRPr sz="4000">
          <a:solidFill>
            <a:schemeClr val="tx2"/>
          </a:solidFill>
          <a:latin typeface="Garamond" pitchFamily="18" charset="0"/>
          <a:ea typeface="ＭＳ Ｐゴシック" pitchFamily="-105" charset="-128"/>
          <a:cs typeface="ＭＳ Ｐゴシック" pitchFamily="-105" charset="-128"/>
        </a:defRPr>
      </a:lvl4pPr>
      <a:lvl5pPr algn="l" rtl="0" eaLnBrk="0" fontAlgn="base" hangingPunct="0">
        <a:spcBef>
          <a:spcPct val="0"/>
        </a:spcBef>
        <a:spcAft>
          <a:spcPct val="0"/>
        </a:spcAft>
        <a:defRPr sz="4000">
          <a:solidFill>
            <a:schemeClr val="tx2"/>
          </a:solidFill>
          <a:latin typeface="Garamond" pitchFamily="18" charset="0"/>
          <a:ea typeface="ＭＳ Ｐゴシック" pitchFamily="-105" charset="-128"/>
          <a:cs typeface="ＭＳ Ｐゴシック" pitchFamily="-105" charset="-128"/>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400">
          <a:solidFill>
            <a:schemeClr val="tx1"/>
          </a:solidFill>
          <a:latin typeface="+mn-lt"/>
          <a:ea typeface="ＭＳ Ｐゴシック" pitchFamily="-105" charset="-128"/>
          <a:cs typeface="ＭＳ Ｐゴシック" pitchFamily="-105" charset="-128"/>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200">
          <a:solidFill>
            <a:schemeClr val="tx1"/>
          </a:solidFill>
          <a:latin typeface="+mn-lt"/>
          <a:ea typeface="ＭＳ Ｐゴシック" pitchFamily="-105" charset="-128"/>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ＭＳ Ｐゴシック" pitchFamily="-105" charset="-128"/>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ＭＳ Ｐゴシック" pitchFamily="-105" charset="-128"/>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ＭＳ Ｐゴシック" pitchFamily="-105"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p:cNvSpPr>
            <a:spLocks noGrp="1" noChangeArrowheads="1"/>
          </p:cNvSpPr>
          <p:nvPr>
            <p:ph type="title"/>
          </p:nvPr>
        </p:nvSpPr>
        <p:spPr bwMode="auto">
          <a:xfrm>
            <a:off x="304800" y="152400"/>
            <a:ext cx="11480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tr-TR"/>
              <a:t>Click to edit Master title style</a:t>
            </a:r>
          </a:p>
        </p:txBody>
      </p:sp>
      <p:sp>
        <p:nvSpPr>
          <p:cNvPr id="1027" name="Rectangle 1027"/>
          <p:cNvSpPr>
            <a:spLocks noGrp="1" noChangeArrowheads="1"/>
          </p:cNvSpPr>
          <p:nvPr>
            <p:ph type="body" idx="1"/>
          </p:nvPr>
        </p:nvSpPr>
        <p:spPr bwMode="auto">
          <a:xfrm>
            <a:off x="304800" y="898526"/>
            <a:ext cx="114808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Fifth level</a:t>
            </a:r>
          </a:p>
        </p:txBody>
      </p:sp>
      <p:sp>
        <p:nvSpPr>
          <p:cNvPr id="100357" name="Rectangle 1029"/>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solidFill>
                  <a:srgbClr val="000000"/>
                </a:solidFill>
                <a:latin typeface="+mj-lt"/>
                <a:ea typeface="+mn-ea"/>
                <a:cs typeface="+mn-cs"/>
              </a:defRPr>
            </a:lvl1pPr>
          </a:lstStyle>
          <a:p>
            <a:pPr fontAlgn="base">
              <a:spcBef>
                <a:spcPct val="0"/>
              </a:spcBef>
              <a:spcAft>
                <a:spcPct val="0"/>
              </a:spcAft>
              <a:defRPr/>
            </a:pPr>
            <a:endParaRPr lang="en-US" altLang="en-US"/>
          </a:p>
        </p:txBody>
      </p:sp>
      <p:sp>
        <p:nvSpPr>
          <p:cNvPr id="100358" name="Rectangle 1030"/>
          <p:cNvSpPr>
            <a:spLocks noGrp="1" noChangeArrowheads="1"/>
          </p:cNvSpPr>
          <p:nvPr>
            <p:ph type="sldNum" sz="quarter" idx="4"/>
          </p:nvPr>
        </p:nvSpPr>
        <p:spPr bwMode="auto">
          <a:xfrm>
            <a:off x="9036051" y="6318250"/>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solidFill>
                  <a:srgbClr val="000000"/>
                </a:solidFill>
                <a:latin typeface="Garamond" panose="02020404030301010803" pitchFamily="18" charset="0"/>
              </a:defRPr>
            </a:lvl1pPr>
          </a:lstStyle>
          <a:p>
            <a:pPr fontAlgn="base">
              <a:spcBef>
                <a:spcPct val="0"/>
              </a:spcBef>
              <a:spcAft>
                <a:spcPct val="0"/>
              </a:spcAft>
            </a:pPr>
            <a:fld id="{EE42FCE0-6E1C-4037-BC8A-FCBCB380F030}" type="slidenum">
              <a:rPr lang="en-US" altLang="tr-TR" smtClean="0">
                <a:ea typeface="ＭＳ Ｐゴシック" panose="020B0600070205080204" pitchFamily="34" charset="-128"/>
              </a:rPr>
              <a:pPr fontAlgn="base">
                <a:spcBef>
                  <a:spcPct val="0"/>
                </a:spcBef>
                <a:spcAft>
                  <a:spcPct val="0"/>
                </a:spcAft>
              </a:pPr>
              <a:t>‹#›</a:t>
            </a:fld>
            <a:endParaRPr lang="en-US" altLang="tr-TR">
              <a:ea typeface="ＭＳ Ｐゴシック" panose="020B0600070205080204" pitchFamily="34" charset="-128"/>
            </a:endParaRPr>
          </a:p>
        </p:txBody>
      </p:sp>
      <p:sp>
        <p:nvSpPr>
          <p:cNvPr id="1030" name="Line 1032"/>
          <p:cNvSpPr>
            <a:spLocks noChangeShapeType="1"/>
          </p:cNvSpPr>
          <p:nvPr/>
        </p:nvSpPr>
        <p:spPr bwMode="auto">
          <a:xfrm>
            <a:off x="304800" y="6481763"/>
            <a:ext cx="114808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1" name="Line 1033"/>
          <p:cNvSpPr>
            <a:spLocks noChangeShapeType="1"/>
          </p:cNvSpPr>
          <p:nvPr userDrawn="1"/>
        </p:nvSpPr>
        <p:spPr bwMode="auto">
          <a:xfrm>
            <a:off x="304800" y="898525"/>
            <a:ext cx="114808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84955605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pitchFamily="-105" charset="-128"/>
          <a:cs typeface="ＭＳ Ｐゴシック" pitchFamily="-105" charset="-128"/>
        </a:defRPr>
      </a:lvl1pPr>
      <a:lvl2pPr algn="l" rtl="0" eaLnBrk="0" fontAlgn="base" hangingPunct="0">
        <a:spcBef>
          <a:spcPct val="0"/>
        </a:spcBef>
        <a:spcAft>
          <a:spcPct val="0"/>
        </a:spcAft>
        <a:defRPr sz="4000">
          <a:solidFill>
            <a:schemeClr val="tx2"/>
          </a:solidFill>
          <a:latin typeface="Garamond" pitchFamily="18" charset="0"/>
          <a:ea typeface="ＭＳ Ｐゴシック" pitchFamily="-105" charset="-128"/>
          <a:cs typeface="ＭＳ Ｐゴシック" pitchFamily="-105" charset="-128"/>
        </a:defRPr>
      </a:lvl2pPr>
      <a:lvl3pPr algn="l" rtl="0" eaLnBrk="0" fontAlgn="base" hangingPunct="0">
        <a:spcBef>
          <a:spcPct val="0"/>
        </a:spcBef>
        <a:spcAft>
          <a:spcPct val="0"/>
        </a:spcAft>
        <a:defRPr sz="4000">
          <a:solidFill>
            <a:schemeClr val="tx2"/>
          </a:solidFill>
          <a:latin typeface="Garamond" pitchFamily="18" charset="0"/>
          <a:ea typeface="ＭＳ Ｐゴシック" pitchFamily="-105" charset="-128"/>
          <a:cs typeface="ＭＳ Ｐゴシック" pitchFamily="-105" charset="-128"/>
        </a:defRPr>
      </a:lvl3pPr>
      <a:lvl4pPr algn="l" rtl="0" eaLnBrk="0" fontAlgn="base" hangingPunct="0">
        <a:spcBef>
          <a:spcPct val="0"/>
        </a:spcBef>
        <a:spcAft>
          <a:spcPct val="0"/>
        </a:spcAft>
        <a:defRPr sz="4000">
          <a:solidFill>
            <a:schemeClr val="tx2"/>
          </a:solidFill>
          <a:latin typeface="Garamond" pitchFamily="18" charset="0"/>
          <a:ea typeface="ＭＳ Ｐゴシック" pitchFamily="-105" charset="-128"/>
          <a:cs typeface="ＭＳ Ｐゴシック" pitchFamily="-105" charset="-128"/>
        </a:defRPr>
      </a:lvl4pPr>
      <a:lvl5pPr algn="l" rtl="0" eaLnBrk="0" fontAlgn="base" hangingPunct="0">
        <a:spcBef>
          <a:spcPct val="0"/>
        </a:spcBef>
        <a:spcAft>
          <a:spcPct val="0"/>
        </a:spcAft>
        <a:defRPr sz="4000">
          <a:solidFill>
            <a:schemeClr val="tx2"/>
          </a:solidFill>
          <a:latin typeface="Garamond" pitchFamily="18" charset="0"/>
          <a:ea typeface="ＭＳ Ｐゴシック" pitchFamily="-105" charset="-128"/>
          <a:cs typeface="ＭＳ Ｐゴシック" pitchFamily="-105" charset="-128"/>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400">
          <a:solidFill>
            <a:schemeClr val="tx1"/>
          </a:solidFill>
          <a:latin typeface="+mn-lt"/>
          <a:ea typeface="ＭＳ Ｐゴシック" pitchFamily="-105" charset="-128"/>
          <a:cs typeface="ＭＳ Ｐゴシック" pitchFamily="-105" charset="-128"/>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200">
          <a:solidFill>
            <a:schemeClr val="tx1"/>
          </a:solidFill>
          <a:latin typeface="+mn-lt"/>
          <a:ea typeface="ＭＳ Ｐゴシック" pitchFamily="-105" charset="-128"/>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ＭＳ Ｐゴシック" pitchFamily="-105" charset="-128"/>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ＭＳ Ｐゴシック" pitchFamily="-105" charset="-128"/>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ＭＳ Ｐゴシック" pitchFamily="-105"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tm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tm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2.tm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3.tmp"/></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4.tmp"/></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5.tm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6.tmp"/></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7.tmp"/></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8.tmp"/></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9.tmp"/></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1.tmp"/></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3.tmp"/></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F9248024-E6CB-4E73-B1B0-AD74B0775AFE}"/>
              </a:ext>
            </a:extLst>
          </p:cNvPr>
          <p:cNvSpPr>
            <a:spLocks noGrp="1"/>
          </p:cNvSpPr>
          <p:nvPr>
            <p:ph type="ctrTitle"/>
          </p:nvPr>
        </p:nvSpPr>
        <p:spPr/>
        <p:txBody>
          <a:bodyPr/>
          <a:lstStyle/>
          <a:p>
            <a:pPr algn="ctr"/>
            <a:r>
              <a:rPr lang="en-US" dirty="0"/>
              <a:t>CSE1142 – </a:t>
            </a:r>
            <a:r>
              <a:rPr lang="tr-TR" altLang="tr-TR" dirty="0">
                <a:ea typeface="ＭＳ Ｐゴシック" panose="020B0600070205080204" pitchFamily="34" charset="-128"/>
              </a:rPr>
              <a:t>Functions</a:t>
            </a:r>
            <a:r>
              <a:rPr lang="en-US" altLang="tr-TR" dirty="0">
                <a:ea typeface="ＭＳ Ｐゴシック" panose="020B0600070205080204" pitchFamily="34" charset="-128"/>
              </a:rPr>
              <a:t> in </a:t>
            </a:r>
            <a:r>
              <a:rPr lang="en-US" dirty="0"/>
              <a:t>C</a:t>
            </a:r>
          </a:p>
        </p:txBody>
      </p:sp>
      <p:sp>
        <p:nvSpPr>
          <p:cNvPr id="5" name="Subtitle 4"/>
          <p:cNvSpPr>
            <a:spLocks noGrp="1"/>
          </p:cNvSpPr>
          <p:nvPr>
            <p:ph type="subTitle" idx="1"/>
          </p:nvPr>
        </p:nvSpPr>
        <p:spPr>
          <a:xfrm>
            <a:off x="914400" y="4994030"/>
            <a:ext cx="10464800" cy="1068927"/>
          </a:xfrm>
        </p:spPr>
        <p:txBody>
          <a:bodyPr/>
          <a:lstStyle/>
          <a:p>
            <a:pPr marL="342900" indent="-342900" algn="l">
              <a:buFont typeface="Wingdings" panose="05000000000000000000" pitchFamily="2" charset="2"/>
              <a:buChar char="q"/>
            </a:pPr>
            <a:r>
              <a:rPr lang="tr-TR" sz="2000" dirty="0" err="1"/>
              <a:t>Adapted</a:t>
            </a:r>
            <a:r>
              <a:rPr lang="tr-TR" sz="2000" dirty="0"/>
              <a:t> </a:t>
            </a:r>
            <a:r>
              <a:rPr lang="tr-TR" sz="2000" dirty="0" err="1"/>
              <a:t>from</a:t>
            </a:r>
            <a:r>
              <a:rPr lang="tr-TR" sz="2000" dirty="0"/>
              <a:t> </a:t>
            </a:r>
            <a:r>
              <a:rPr lang="tr-TR" sz="2000" dirty="0" smtClean="0"/>
              <a:t>Dr. Sanem </a:t>
            </a:r>
            <a:r>
              <a:rPr lang="tr-TR" sz="2000" dirty="0"/>
              <a:t>Arslan </a:t>
            </a:r>
            <a:r>
              <a:rPr lang="tr-TR" sz="2000" dirty="0" smtClean="0"/>
              <a:t>Yılmaz.</a:t>
            </a:r>
          </a:p>
          <a:p>
            <a:pPr marL="342900" indent="-342900" algn="l">
              <a:buFont typeface="Wingdings" panose="05000000000000000000" pitchFamily="2" charset="2"/>
              <a:buChar char="q"/>
            </a:pPr>
            <a:r>
              <a:rPr lang="tr-TR" sz="2000" dirty="0" err="1" smtClean="0"/>
              <a:t>Some</a:t>
            </a:r>
            <a:r>
              <a:rPr lang="tr-TR" sz="2000" dirty="0" smtClean="0"/>
              <a:t> </a:t>
            </a:r>
            <a:r>
              <a:rPr lang="tr-TR" sz="2000" dirty="0"/>
              <a:t>of </a:t>
            </a:r>
            <a:r>
              <a:rPr lang="tr-TR" sz="2000" dirty="0" err="1"/>
              <a:t>the</a:t>
            </a:r>
            <a:r>
              <a:rPr lang="tr-TR" sz="2000" dirty="0"/>
              <a:t> </a:t>
            </a:r>
            <a:r>
              <a:rPr lang="tr-TR" sz="2000" dirty="0" err="1"/>
              <a:t>slides</a:t>
            </a:r>
            <a:r>
              <a:rPr lang="tr-TR" sz="2000" dirty="0"/>
              <a:t> </a:t>
            </a:r>
            <a:r>
              <a:rPr lang="tr-TR" sz="2000" dirty="0" err="1"/>
              <a:t>are</a:t>
            </a:r>
            <a:r>
              <a:rPr lang="tr-TR" sz="2000" dirty="0"/>
              <a:t> </a:t>
            </a:r>
            <a:r>
              <a:rPr lang="tr-TR" sz="2000" dirty="0" err="1"/>
              <a:t>from</a:t>
            </a:r>
            <a:r>
              <a:rPr lang="tr-TR" sz="2000" dirty="0" smtClean="0"/>
              <a:t>: CMPE150 </a:t>
            </a:r>
            <a:r>
              <a:rPr lang="tr-TR" sz="2000" dirty="0"/>
              <a:t>– Boğaziçi </a:t>
            </a:r>
            <a:r>
              <a:rPr lang="tr-TR" sz="2000" dirty="0" err="1" smtClean="0"/>
              <a:t>University</a:t>
            </a:r>
            <a:r>
              <a:rPr lang="tr-TR" sz="2000" dirty="0" smtClean="0"/>
              <a:t>, </a:t>
            </a:r>
            <a:r>
              <a:rPr lang="tr-TR" sz="2000" dirty="0" err="1" smtClean="0"/>
              <a:t>Deitel</a:t>
            </a:r>
            <a:r>
              <a:rPr lang="tr-TR" sz="2000" dirty="0" smtClean="0"/>
              <a:t> </a:t>
            </a:r>
            <a:r>
              <a:rPr lang="tr-TR" sz="2000" dirty="0"/>
              <a:t>&amp; </a:t>
            </a:r>
            <a:r>
              <a:rPr lang="tr-TR" sz="2000" dirty="0" err="1" smtClean="0"/>
              <a:t>Associates</a:t>
            </a:r>
            <a:r>
              <a:rPr lang="tr-TR" sz="2000" dirty="0" smtClean="0"/>
              <a:t>.</a:t>
            </a:r>
            <a:endParaRPr lang="en-US" sz="2000" dirty="0"/>
          </a:p>
          <a:p>
            <a:pPr marL="342900" indent="-342900" algn="l">
              <a:buFont typeface="Arial" panose="020B0604020202020204" pitchFamily="34" charset="0"/>
              <a:buChar char="•"/>
            </a:pPr>
            <a:endParaRPr lang="en-US" sz="2000" dirty="0"/>
          </a:p>
        </p:txBody>
      </p:sp>
    </p:spTree>
    <p:extLst>
      <p:ext uri="{BB962C8B-B14F-4D97-AF65-F5344CB8AC3E}">
        <p14:creationId xmlns:p14="http://schemas.microsoft.com/office/powerpoint/2010/main" val="2925799725"/>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r>
              <a:rPr lang="en-US" altLang="tr-TR">
                <a:ea typeface="ＭＳ Ｐゴシック" panose="020B0600070205080204" pitchFamily="34" charset="-128"/>
              </a:rPr>
              <a:t>Agenda</a:t>
            </a:r>
          </a:p>
        </p:txBody>
      </p:sp>
      <p:sp>
        <p:nvSpPr>
          <p:cNvPr id="18434" name="Content Placeholder 2"/>
          <p:cNvSpPr>
            <a:spLocks noGrp="1"/>
          </p:cNvSpPr>
          <p:nvPr>
            <p:ph idx="1"/>
          </p:nvPr>
        </p:nvSpPr>
        <p:spPr>
          <a:xfrm>
            <a:off x="304800" y="1001485"/>
            <a:ext cx="10058400" cy="5534480"/>
          </a:xfrm>
        </p:spPr>
        <p:txBody>
          <a:bodyPr/>
          <a:lstStyle/>
          <a:p>
            <a:r>
              <a:rPr lang="en-US" altLang="tr-TR" sz="2000" dirty="0"/>
              <a:t>Functions</a:t>
            </a:r>
            <a:endParaRPr lang="tr-TR" altLang="tr-TR" sz="2000" dirty="0"/>
          </a:p>
          <a:p>
            <a:pPr lvl="1"/>
            <a:r>
              <a:rPr lang="tr-TR" altLang="tr-TR" sz="2000" dirty="0"/>
              <a:t>Definition</a:t>
            </a:r>
          </a:p>
          <a:p>
            <a:pPr lvl="1"/>
            <a:r>
              <a:rPr lang="tr-TR" altLang="tr-TR" sz="2000" dirty="0"/>
              <a:t>Syntax</a:t>
            </a:r>
          </a:p>
          <a:p>
            <a:pPr lvl="1"/>
            <a:r>
              <a:rPr lang="tr-TR" altLang="tr-TR" sz="2000" dirty="0"/>
              <a:t>Input/output</a:t>
            </a:r>
          </a:p>
          <a:p>
            <a:r>
              <a:rPr lang="en-US" sz="2000" dirty="0"/>
              <a:t>Function Prototypes</a:t>
            </a:r>
          </a:p>
          <a:p>
            <a:r>
              <a:rPr lang="en-US" sz="2000" dirty="0"/>
              <a:t>Function Call Stack </a:t>
            </a:r>
            <a:endParaRPr lang="en-US" altLang="tr-TR" sz="2000" dirty="0">
              <a:ea typeface="ＭＳ Ｐゴシック" panose="020B0600070205080204" pitchFamily="34" charset="-128"/>
            </a:endParaRPr>
          </a:p>
          <a:p>
            <a:r>
              <a:rPr lang="tr-TR" altLang="tr-TR" sz="2000" dirty="0" err="1">
                <a:ea typeface="ＭＳ Ｐゴシック" panose="020B0600070205080204" pitchFamily="34" charset="-128"/>
              </a:rPr>
              <a:t>Scope</a:t>
            </a:r>
            <a:r>
              <a:rPr lang="tr-TR" altLang="tr-TR" sz="2000" dirty="0">
                <a:ea typeface="ＭＳ Ｐゴシック" panose="020B0600070205080204" pitchFamily="34" charset="-128"/>
              </a:rPr>
              <a:t> and lifetime of variables</a:t>
            </a:r>
          </a:p>
          <a:p>
            <a:r>
              <a:rPr lang="tr-TR" altLang="tr-TR" sz="2000" dirty="0">
                <a:ea typeface="ＭＳ Ｐゴシック" panose="020B0600070205080204" pitchFamily="34" charset="-128"/>
              </a:rPr>
              <a:t>Local vs. global variables</a:t>
            </a:r>
          </a:p>
          <a:p>
            <a:r>
              <a:rPr lang="en-US" altLang="tr-TR" sz="2000" dirty="0"/>
              <a:t>Macro Substitution</a:t>
            </a:r>
            <a:endParaRPr lang="tr-TR" altLang="tr-TR" sz="2000" dirty="0"/>
          </a:p>
          <a:p>
            <a:r>
              <a:rPr lang="tr-TR" altLang="tr-TR" sz="2000" dirty="0">
                <a:ea typeface="ＭＳ Ｐゴシック" panose="020B0600070205080204" pitchFamily="34" charset="-128"/>
              </a:rPr>
              <a:t>Value parameters (call by value)</a:t>
            </a:r>
          </a:p>
          <a:p>
            <a:r>
              <a:rPr lang="tr-TR" altLang="tr-TR" sz="2000" dirty="0">
                <a:ea typeface="ＭＳ Ｐゴシック" panose="020B0600070205080204" pitchFamily="34" charset="-128"/>
              </a:rPr>
              <a:t>Variable parameters (call by reference)</a:t>
            </a:r>
          </a:p>
          <a:p>
            <a:r>
              <a:rPr lang="tr-TR" altLang="tr-TR" sz="2000" dirty="0" err="1">
                <a:ea typeface="ＭＳ Ｐゴシック" panose="020B0600070205080204" pitchFamily="34" charset="-128"/>
              </a:rPr>
              <a:t>Recursive</a:t>
            </a:r>
            <a:r>
              <a:rPr lang="tr-TR" altLang="tr-TR" sz="2000" dirty="0">
                <a:ea typeface="ＭＳ Ｐゴシック" panose="020B0600070205080204" pitchFamily="34" charset="-128"/>
              </a:rPr>
              <a:t> </a:t>
            </a:r>
            <a:r>
              <a:rPr lang="tr-TR" altLang="tr-TR" sz="2000" dirty="0" err="1">
                <a:ea typeface="ＭＳ Ｐゴシック" panose="020B0600070205080204" pitchFamily="34" charset="-128"/>
              </a:rPr>
              <a:t>Functions</a:t>
            </a:r>
            <a:endParaRPr lang="en-US" altLang="tr-TR" sz="2000" dirty="0">
              <a:ea typeface="ＭＳ Ｐゴシック" panose="020B0600070205080204" pitchFamily="34" charset="-128"/>
            </a:endParaRPr>
          </a:p>
          <a:p>
            <a:r>
              <a:rPr lang="tr-TR" sz="2000" dirty="0"/>
              <a:t>Standart </a:t>
            </a:r>
            <a:r>
              <a:rPr lang="tr-TR" sz="2000" dirty="0" err="1"/>
              <a:t>Functions</a:t>
            </a:r>
            <a:r>
              <a:rPr lang="tr-TR" sz="2000" dirty="0"/>
              <a:t> in C</a:t>
            </a:r>
            <a:endParaRPr lang="tr-TR" altLang="tr-TR" sz="2000" dirty="0">
              <a:ea typeface="ＭＳ Ｐゴシック" panose="020B0600070205080204" pitchFamily="34" charset="-128"/>
            </a:endParaRPr>
          </a:p>
          <a:p>
            <a:endParaRPr lang="en-US" altLang="tr-TR" sz="2000" dirty="0">
              <a:ea typeface="ＭＳ Ｐゴシック" panose="020B0600070205080204" pitchFamily="34" charset="-128"/>
            </a:endParaRPr>
          </a:p>
        </p:txBody>
      </p:sp>
      <p:sp>
        <p:nvSpPr>
          <p:cNvPr id="18435"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fontAlgn="base" hangingPunct="1">
              <a:spcBef>
                <a:spcPct val="0"/>
              </a:spcBef>
              <a:spcAft>
                <a:spcPct val="0"/>
              </a:spcAft>
            </a:pPr>
            <a:fld id="{71A10B9F-802E-4BF7-98A9-38E57AA573D7}" type="slidenum">
              <a:rPr lang="en-US" altLang="tr-TR" sz="1600">
                <a:solidFill>
                  <a:srgbClr val="000000"/>
                </a:solidFill>
                <a:latin typeface="Garamond" panose="02020404030301010803" pitchFamily="18" charset="0"/>
              </a:rPr>
              <a:pPr eaLnBrk="1" fontAlgn="base" hangingPunct="1">
                <a:spcBef>
                  <a:spcPct val="0"/>
                </a:spcBef>
                <a:spcAft>
                  <a:spcPct val="0"/>
                </a:spcAft>
              </a:pPr>
              <a:t>2</a:t>
            </a:fld>
            <a:endParaRPr lang="en-US" altLang="tr-TR" sz="1600">
              <a:solidFill>
                <a:srgbClr val="000000"/>
              </a:solidFill>
              <a:latin typeface="Garamond" panose="02020404030301010803" pitchFamily="18" charset="0"/>
            </a:endParaRPr>
          </a:p>
        </p:txBody>
      </p:sp>
    </p:spTree>
    <p:extLst>
      <p:ext uri="{BB962C8B-B14F-4D97-AF65-F5344CB8AC3E}">
        <p14:creationId xmlns:p14="http://schemas.microsoft.com/office/powerpoint/2010/main" val="90341213"/>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altLang="tr-TR" dirty="0"/>
              <a:t>Functions</a:t>
            </a:r>
            <a:r>
              <a:rPr lang="tr-TR" altLang="tr-TR" dirty="0"/>
              <a:t> - Definition</a:t>
            </a:r>
            <a:endParaRPr lang="en-US" altLang="tr-TR" dirty="0"/>
          </a:p>
        </p:txBody>
      </p:sp>
      <p:sp>
        <p:nvSpPr>
          <p:cNvPr id="3075" name="Content Placeholder 2"/>
          <p:cNvSpPr>
            <a:spLocks noGrp="1"/>
          </p:cNvSpPr>
          <p:nvPr>
            <p:ph idx="1"/>
          </p:nvPr>
        </p:nvSpPr>
        <p:spPr/>
        <p:txBody>
          <a:bodyPr/>
          <a:lstStyle/>
          <a:p>
            <a:r>
              <a:rPr lang="en-US" altLang="tr-TR" dirty="0"/>
              <a:t>A function groups a set of related statements under a single title.</a:t>
            </a:r>
            <a:endParaRPr lang="tr-TR" altLang="tr-TR" dirty="0"/>
          </a:p>
          <a:p>
            <a:endParaRPr lang="en-US" altLang="tr-TR" dirty="0"/>
          </a:p>
          <a:p>
            <a:r>
              <a:rPr lang="en-US" altLang="tr-TR" dirty="0"/>
              <a:t>You can "call" the function using its name.</a:t>
            </a:r>
          </a:p>
          <a:p>
            <a:endParaRPr lang="tr-TR" altLang="tr-TR" dirty="0"/>
          </a:p>
          <a:p>
            <a:r>
              <a:rPr lang="en-US" altLang="tr-TR" dirty="0"/>
              <a:t>You may also provide parameters to the function during the call.</a:t>
            </a:r>
          </a:p>
          <a:p>
            <a:endParaRPr lang="tr-TR" altLang="tr-TR" dirty="0"/>
          </a:p>
          <a:p>
            <a:r>
              <a:rPr lang="en-US" altLang="tr-TR" dirty="0"/>
              <a:t>A function performs the actions defined by its statements and returns a result.</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3</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587175302"/>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altLang="tr-TR" dirty="0"/>
              <a:t>Functions</a:t>
            </a:r>
            <a:r>
              <a:rPr lang="tr-TR" altLang="tr-TR" dirty="0"/>
              <a:t> - Syntax</a:t>
            </a:r>
            <a:endParaRPr lang="en-US" altLang="tr-TR" dirty="0"/>
          </a:p>
        </p:txBody>
      </p:sp>
      <p:sp>
        <p:nvSpPr>
          <p:cNvPr id="3" name="Content Placeholder 2"/>
          <p:cNvSpPr>
            <a:spLocks noGrp="1"/>
          </p:cNvSpPr>
          <p:nvPr>
            <p:ph idx="1"/>
          </p:nvPr>
        </p:nvSpPr>
        <p:spPr/>
        <p:txBody>
          <a:bodyPr rtlCol="0">
            <a:normAutofit/>
          </a:bodyPr>
          <a:lstStyle/>
          <a:p>
            <a:pPr fontAlgn="auto">
              <a:spcAft>
                <a:spcPts val="0"/>
              </a:spcAft>
              <a:defRPr/>
            </a:pPr>
            <a:r>
              <a:rPr lang="en-US" dirty="0"/>
              <a:t>Syntax:</a:t>
            </a:r>
          </a:p>
          <a:p>
            <a:pPr lvl="1" indent="0" fontAlgn="auto">
              <a:spcAft>
                <a:spcPts val="0"/>
              </a:spcAft>
              <a:buNone/>
              <a:defRPr/>
            </a:pPr>
            <a:r>
              <a:rPr lang="en-US" sz="2000" dirty="0">
                <a:solidFill>
                  <a:srgbClr val="00B050"/>
                </a:solidFill>
                <a:latin typeface="Consolas" panose="020B0609020204030204" pitchFamily="49" charset="0"/>
                <a:cs typeface="Courier New" pitchFamily="49" charset="0"/>
              </a:rPr>
              <a:t>return_type </a:t>
            </a:r>
            <a:r>
              <a:rPr lang="en-US" sz="2000" dirty="0">
                <a:solidFill>
                  <a:schemeClr val="accent2"/>
                </a:solidFill>
                <a:latin typeface="Consolas" panose="020B0609020204030204" pitchFamily="49" charset="0"/>
                <a:cs typeface="Courier New" pitchFamily="49" charset="0"/>
              </a:rPr>
              <a:t>function_name (</a:t>
            </a:r>
            <a:r>
              <a:rPr lang="en-US" sz="2000" dirty="0">
                <a:solidFill>
                  <a:srgbClr val="00B050"/>
                </a:solidFill>
                <a:latin typeface="Consolas" panose="020B0609020204030204" pitchFamily="49" charset="0"/>
                <a:cs typeface="Courier New" pitchFamily="49" charset="0"/>
              </a:rPr>
              <a:t>parameter_list</a:t>
            </a:r>
            <a:r>
              <a:rPr lang="en-US" sz="2000" dirty="0">
                <a:solidFill>
                  <a:schemeClr val="accent2"/>
                </a:solidFill>
                <a:latin typeface="Consolas" panose="020B0609020204030204" pitchFamily="49" charset="0"/>
                <a:cs typeface="Courier New" pitchFamily="49" charset="0"/>
              </a:rPr>
              <a:t>)</a:t>
            </a:r>
          </a:p>
          <a:p>
            <a:pPr lvl="1" indent="0" fontAlgn="auto">
              <a:spcAft>
                <a:spcPts val="0"/>
              </a:spcAft>
              <a:buNone/>
              <a:defRPr/>
            </a:pPr>
            <a:r>
              <a:rPr lang="en-US" sz="2000" dirty="0">
                <a:solidFill>
                  <a:schemeClr val="accent2"/>
                </a:solidFill>
                <a:latin typeface="Consolas" panose="020B0609020204030204" pitchFamily="49" charset="0"/>
                <a:cs typeface="Courier New" pitchFamily="49" charset="0"/>
              </a:rPr>
              <a:t>{</a:t>
            </a:r>
            <a:r>
              <a:rPr lang="en-US" sz="2000" dirty="0">
                <a:solidFill>
                  <a:srgbClr val="00B050"/>
                </a:solidFill>
                <a:latin typeface="Consolas" panose="020B0609020204030204" pitchFamily="49" charset="0"/>
                <a:cs typeface="Courier New" pitchFamily="49" charset="0"/>
              </a:rPr>
              <a:t>  local_variable_definitions</a:t>
            </a:r>
          </a:p>
          <a:p>
            <a:pPr lvl="1" indent="0" fontAlgn="auto">
              <a:spcAft>
                <a:spcPts val="0"/>
              </a:spcAft>
              <a:buNone/>
              <a:defRPr/>
            </a:pPr>
            <a:r>
              <a:rPr lang="en-US" sz="2000" dirty="0">
                <a:solidFill>
                  <a:srgbClr val="00B050"/>
                </a:solidFill>
                <a:latin typeface="Consolas" panose="020B0609020204030204" pitchFamily="49" charset="0"/>
                <a:cs typeface="Courier New" pitchFamily="49" charset="0"/>
              </a:rPr>
              <a:t>   statement(s)</a:t>
            </a:r>
          </a:p>
          <a:p>
            <a:pPr lvl="1" indent="0" fontAlgn="auto">
              <a:spcAft>
                <a:spcPts val="0"/>
              </a:spcAft>
              <a:buNone/>
              <a:defRPr/>
            </a:pPr>
            <a:r>
              <a:rPr lang="en-US" sz="2000" dirty="0">
                <a:solidFill>
                  <a:schemeClr val="accent2"/>
                </a:solidFill>
                <a:latin typeface="Consolas" panose="020B0609020204030204" pitchFamily="49" charset="0"/>
                <a:cs typeface="Courier New" pitchFamily="49" charset="0"/>
              </a:rPr>
              <a:t>}</a:t>
            </a:r>
          </a:p>
          <a:p>
            <a:pPr lvl="4" fontAlgn="auto">
              <a:spcAft>
                <a:spcPts val="0"/>
              </a:spcAft>
              <a:defRPr/>
            </a:pPr>
            <a:endParaRPr lang="tr-TR" dirty="0" smtClean="0"/>
          </a:p>
          <a:p>
            <a:pPr fontAlgn="auto">
              <a:spcAft>
                <a:spcPts val="0"/>
              </a:spcAft>
              <a:defRPr/>
            </a:pPr>
            <a:r>
              <a:rPr lang="en-US" dirty="0" smtClean="0"/>
              <a:t>Functions </a:t>
            </a:r>
            <a:r>
              <a:rPr lang="en-US" dirty="0"/>
              <a:t>operate on their parameters and produce results.</a:t>
            </a:r>
          </a:p>
          <a:p>
            <a:pPr lvl="1" fontAlgn="auto">
              <a:spcAft>
                <a:spcPts val="0"/>
              </a:spcAft>
              <a:defRPr/>
            </a:pPr>
            <a:r>
              <a:rPr lang="en-US" dirty="0"/>
              <a:t>The result is returned via the return value.</a:t>
            </a:r>
          </a:p>
          <a:p>
            <a:pPr lvl="4" fontAlgn="auto">
              <a:spcAft>
                <a:spcPts val="0"/>
              </a:spcAft>
              <a:defRPr/>
            </a:pPr>
            <a:endParaRPr lang="tr-TR" dirty="0" smtClean="0"/>
          </a:p>
          <a:p>
            <a:pPr fontAlgn="auto">
              <a:spcAft>
                <a:spcPts val="0"/>
              </a:spcAft>
              <a:defRPr/>
            </a:pPr>
            <a:r>
              <a:rPr lang="en-US" dirty="0" smtClean="0"/>
              <a:t>The </a:t>
            </a:r>
            <a:r>
              <a:rPr lang="en-US" dirty="0"/>
              <a:t>parameters may or may not be altered by the function.</a:t>
            </a:r>
          </a:p>
          <a:p>
            <a:pPr lvl="4" fontAlgn="auto">
              <a:spcAft>
                <a:spcPts val="0"/>
              </a:spcAft>
              <a:defRPr/>
            </a:pPr>
            <a:endParaRPr lang="tr-TR" dirty="0" smtClean="0"/>
          </a:p>
          <a:p>
            <a:pPr fontAlgn="auto">
              <a:spcAft>
                <a:spcPts val="0"/>
              </a:spcAft>
              <a:defRPr/>
            </a:pPr>
            <a:r>
              <a:rPr lang="en-US" dirty="0" smtClean="0"/>
              <a:t>If </a:t>
            </a:r>
            <a:r>
              <a:rPr lang="en-US" dirty="0"/>
              <a:t>return_type is missing, it means int.</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4</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2248588398"/>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tr-TR"/>
              <a:t>Example</a:t>
            </a:r>
          </a:p>
        </p:txBody>
      </p:sp>
      <p:sp>
        <p:nvSpPr>
          <p:cNvPr id="5123" name="Content Placeholder 2"/>
          <p:cNvSpPr>
            <a:spLocks noGrp="1"/>
          </p:cNvSpPr>
          <p:nvPr>
            <p:ph idx="1"/>
          </p:nvPr>
        </p:nvSpPr>
        <p:spPr/>
        <p:txBody>
          <a:bodyPr/>
          <a:lstStyle/>
          <a:p>
            <a:pPr>
              <a:buFontTx/>
              <a:buNone/>
            </a:pPr>
            <a:r>
              <a:rPr lang="en-US" altLang="tr-TR" dirty="0"/>
              <a:t>Consider the polynomial </a:t>
            </a:r>
            <a:r>
              <a:rPr lang="tr-TR" altLang="tr-TR" dirty="0" smtClean="0"/>
              <a:t> </a:t>
            </a:r>
            <a:r>
              <a:rPr lang="en-US" altLang="tr-TR" b="1" dirty="0" smtClean="0">
                <a:solidFill>
                  <a:schemeClr val="accent2"/>
                </a:solidFill>
                <a:latin typeface="Courier New" panose="02070309020205020404" pitchFamily="49" charset="0"/>
                <a:cs typeface="Courier New" panose="02070309020205020404" pitchFamily="49" charset="0"/>
              </a:rPr>
              <a:t>P(x)</a:t>
            </a:r>
            <a:r>
              <a:rPr lang="tr-TR" altLang="tr-TR" b="1" dirty="0" smtClean="0">
                <a:solidFill>
                  <a:schemeClr val="accent2"/>
                </a:solidFill>
                <a:latin typeface="Courier New" panose="02070309020205020404" pitchFamily="49" charset="0"/>
                <a:cs typeface="Courier New" panose="02070309020205020404" pitchFamily="49" charset="0"/>
              </a:rPr>
              <a:t> </a:t>
            </a:r>
            <a:r>
              <a:rPr lang="en-US" altLang="tr-TR" b="1" dirty="0" smtClean="0">
                <a:solidFill>
                  <a:schemeClr val="accent2"/>
                </a:solidFill>
                <a:latin typeface="Courier New" panose="02070309020205020404" pitchFamily="49" charset="0"/>
                <a:cs typeface="Courier New" panose="02070309020205020404" pitchFamily="49" charset="0"/>
              </a:rPr>
              <a:t>=</a:t>
            </a:r>
            <a:r>
              <a:rPr lang="tr-TR" altLang="tr-TR" b="1" dirty="0" smtClean="0">
                <a:solidFill>
                  <a:schemeClr val="accent2"/>
                </a:solidFill>
                <a:latin typeface="Courier New" panose="02070309020205020404" pitchFamily="49" charset="0"/>
                <a:cs typeface="Courier New" panose="02070309020205020404" pitchFamily="49" charset="0"/>
              </a:rPr>
              <a:t> </a:t>
            </a:r>
            <a:r>
              <a:rPr lang="en-US" altLang="tr-TR" b="1" dirty="0" smtClean="0">
                <a:solidFill>
                  <a:schemeClr val="accent2"/>
                </a:solidFill>
                <a:latin typeface="Courier New" panose="02070309020205020404" pitchFamily="49" charset="0"/>
                <a:cs typeface="Courier New" panose="02070309020205020404" pitchFamily="49" charset="0"/>
              </a:rPr>
              <a:t>8x</a:t>
            </a:r>
            <a:r>
              <a:rPr lang="en-US" altLang="tr-TR" b="1" baseline="30000" dirty="0" smtClean="0">
                <a:solidFill>
                  <a:schemeClr val="accent2"/>
                </a:solidFill>
                <a:latin typeface="Courier New" panose="02070309020205020404" pitchFamily="49" charset="0"/>
                <a:cs typeface="Courier New" panose="02070309020205020404" pitchFamily="49" charset="0"/>
              </a:rPr>
              <a:t>5</a:t>
            </a:r>
            <a:r>
              <a:rPr lang="tr-TR" altLang="tr-TR" b="1" baseline="30000" dirty="0" smtClean="0">
                <a:solidFill>
                  <a:schemeClr val="accent2"/>
                </a:solidFill>
                <a:latin typeface="Courier New" panose="02070309020205020404" pitchFamily="49" charset="0"/>
                <a:cs typeface="Courier New" panose="02070309020205020404" pitchFamily="49" charset="0"/>
              </a:rPr>
              <a:t> </a:t>
            </a:r>
            <a:r>
              <a:rPr lang="en-US" altLang="tr-TR" b="1" dirty="0" smtClean="0">
                <a:solidFill>
                  <a:schemeClr val="accent2"/>
                </a:solidFill>
                <a:latin typeface="Courier New" panose="02070309020205020404" pitchFamily="49" charset="0"/>
                <a:cs typeface="Courier New" panose="02070309020205020404" pitchFamily="49" charset="0"/>
              </a:rPr>
              <a:t>+</a:t>
            </a:r>
            <a:r>
              <a:rPr lang="tr-TR" altLang="tr-TR" b="1" dirty="0" smtClean="0">
                <a:solidFill>
                  <a:schemeClr val="accent2"/>
                </a:solidFill>
                <a:latin typeface="Courier New" panose="02070309020205020404" pitchFamily="49" charset="0"/>
                <a:cs typeface="Courier New" panose="02070309020205020404" pitchFamily="49" charset="0"/>
              </a:rPr>
              <a:t> </a:t>
            </a:r>
            <a:r>
              <a:rPr lang="en-US" altLang="tr-TR" b="1" dirty="0" smtClean="0">
                <a:solidFill>
                  <a:schemeClr val="accent2"/>
                </a:solidFill>
                <a:latin typeface="Courier New" panose="02070309020205020404" pitchFamily="49" charset="0"/>
                <a:cs typeface="Courier New" panose="02070309020205020404" pitchFamily="49" charset="0"/>
              </a:rPr>
              <a:t>5x</a:t>
            </a:r>
            <a:r>
              <a:rPr lang="en-US" altLang="tr-TR" b="1" baseline="30000" dirty="0" smtClean="0">
                <a:solidFill>
                  <a:schemeClr val="accent2"/>
                </a:solidFill>
                <a:latin typeface="Courier New" panose="02070309020205020404" pitchFamily="49" charset="0"/>
                <a:cs typeface="Courier New" panose="02070309020205020404" pitchFamily="49" charset="0"/>
              </a:rPr>
              <a:t>4</a:t>
            </a:r>
            <a:r>
              <a:rPr lang="tr-TR" altLang="tr-TR" b="1" baseline="30000" dirty="0" smtClean="0">
                <a:solidFill>
                  <a:schemeClr val="accent2"/>
                </a:solidFill>
                <a:latin typeface="Courier New" panose="02070309020205020404" pitchFamily="49" charset="0"/>
                <a:cs typeface="Courier New" panose="02070309020205020404" pitchFamily="49" charset="0"/>
              </a:rPr>
              <a:t> </a:t>
            </a:r>
            <a:r>
              <a:rPr lang="en-US" altLang="tr-TR" b="1" dirty="0" smtClean="0">
                <a:solidFill>
                  <a:schemeClr val="accent2"/>
                </a:solidFill>
                <a:latin typeface="Courier New" panose="02070309020205020404" pitchFamily="49" charset="0"/>
                <a:cs typeface="Courier New" panose="02070309020205020404" pitchFamily="49" charset="0"/>
              </a:rPr>
              <a:t>+</a:t>
            </a:r>
            <a:r>
              <a:rPr lang="tr-TR" altLang="tr-TR" b="1" dirty="0" smtClean="0">
                <a:solidFill>
                  <a:schemeClr val="accent2"/>
                </a:solidFill>
                <a:latin typeface="Courier New" panose="02070309020205020404" pitchFamily="49" charset="0"/>
                <a:cs typeface="Courier New" panose="02070309020205020404" pitchFamily="49" charset="0"/>
              </a:rPr>
              <a:t> </a:t>
            </a:r>
            <a:r>
              <a:rPr lang="en-US" altLang="tr-TR" b="1" dirty="0" smtClean="0">
                <a:solidFill>
                  <a:schemeClr val="accent2"/>
                </a:solidFill>
                <a:latin typeface="Courier New" panose="02070309020205020404" pitchFamily="49" charset="0"/>
                <a:cs typeface="Courier New" panose="02070309020205020404" pitchFamily="49" charset="0"/>
              </a:rPr>
              <a:t>6x</a:t>
            </a:r>
            <a:r>
              <a:rPr lang="en-US" altLang="tr-TR" b="1" baseline="30000" dirty="0" smtClean="0">
                <a:solidFill>
                  <a:schemeClr val="accent2"/>
                </a:solidFill>
                <a:latin typeface="Courier New" panose="02070309020205020404" pitchFamily="49" charset="0"/>
                <a:cs typeface="Courier New" panose="02070309020205020404" pitchFamily="49" charset="0"/>
              </a:rPr>
              <a:t>3</a:t>
            </a:r>
            <a:r>
              <a:rPr lang="tr-TR" altLang="tr-TR" b="1" baseline="30000" dirty="0" smtClean="0">
                <a:solidFill>
                  <a:schemeClr val="accent2"/>
                </a:solidFill>
                <a:latin typeface="Courier New" panose="02070309020205020404" pitchFamily="49" charset="0"/>
                <a:cs typeface="Courier New" panose="02070309020205020404" pitchFamily="49" charset="0"/>
              </a:rPr>
              <a:t> </a:t>
            </a:r>
            <a:r>
              <a:rPr lang="en-US" altLang="tr-TR" b="1" dirty="0" smtClean="0">
                <a:solidFill>
                  <a:schemeClr val="accent2"/>
                </a:solidFill>
                <a:latin typeface="Courier New" panose="02070309020205020404" pitchFamily="49" charset="0"/>
                <a:cs typeface="Courier New" panose="02070309020205020404" pitchFamily="49" charset="0"/>
              </a:rPr>
              <a:t>+</a:t>
            </a:r>
            <a:r>
              <a:rPr lang="tr-TR" altLang="tr-TR" b="1" dirty="0" smtClean="0">
                <a:solidFill>
                  <a:schemeClr val="accent2"/>
                </a:solidFill>
                <a:latin typeface="Courier New" panose="02070309020205020404" pitchFamily="49" charset="0"/>
                <a:cs typeface="Courier New" panose="02070309020205020404" pitchFamily="49" charset="0"/>
              </a:rPr>
              <a:t> </a:t>
            </a:r>
            <a:r>
              <a:rPr lang="en-US" altLang="tr-TR" b="1" dirty="0" smtClean="0">
                <a:solidFill>
                  <a:schemeClr val="accent2"/>
                </a:solidFill>
                <a:latin typeface="Courier New" panose="02070309020205020404" pitchFamily="49" charset="0"/>
                <a:cs typeface="Courier New" panose="02070309020205020404" pitchFamily="49" charset="0"/>
              </a:rPr>
              <a:t>3x</a:t>
            </a:r>
            <a:r>
              <a:rPr lang="en-US" altLang="tr-TR" b="1" baseline="30000" dirty="0" smtClean="0">
                <a:solidFill>
                  <a:schemeClr val="accent2"/>
                </a:solidFill>
                <a:latin typeface="Courier New" panose="02070309020205020404" pitchFamily="49" charset="0"/>
                <a:cs typeface="Courier New" panose="02070309020205020404" pitchFamily="49" charset="0"/>
              </a:rPr>
              <a:t>2</a:t>
            </a:r>
            <a:r>
              <a:rPr lang="tr-TR" altLang="tr-TR" b="1" baseline="30000" dirty="0" smtClean="0">
                <a:solidFill>
                  <a:schemeClr val="accent2"/>
                </a:solidFill>
                <a:latin typeface="Courier New" panose="02070309020205020404" pitchFamily="49" charset="0"/>
                <a:cs typeface="Courier New" panose="02070309020205020404" pitchFamily="49" charset="0"/>
              </a:rPr>
              <a:t> </a:t>
            </a:r>
            <a:r>
              <a:rPr lang="en-US" altLang="tr-TR" b="1" dirty="0" smtClean="0">
                <a:solidFill>
                  <a:schemeClr val="accent2"/>
                </a:solidFill>
                <a:latin typeface="Courier New" panose="02070309020205020404" pitchFamily="49" charset="0"/>
                <a:cs typeface="Courier New" panose="02070309020205020404" pitchFamily="49" charset="0"/>
              </a:rPr>
              <a:t>+</a:t>
            </a:r>
            <a:r>
              <a:rPr lang="tr-TR" altLang="tr-TR" b="1" dirty="0" smtClean="0">
                <a:solidFill>
                  <a:schemeClr val="accent2"/>
                </a:solidFill>
                <a:latin typeface="Courier New" panose="02070309020205020404" pitchFamily="49" charset="0"/>
                <a:cs typeface="Courier New" panose="02070309020205020404" pitchFamily="49" charset="0"/>
              </a:rPr>
              <a:t> </a:t>
            </a:r>
            <a:r>
              <a:rPr lang="en-US" altLang="tr-TR" b="1" dirty="0" smtClean="0">
                <a:solidFill>
                  <a:schemeClr val="accent2"/>
                </a:solidFill>
                <a:latin typeface="Courier New" panose="02070309020205020404" pitchFamily="49" charset="0"/>
                <a:cs typeface="Courier New" panose="02070309020205020404" pitchFamily="49" charset="0"/>
              </a:rPr>
              <a:t>4x</a:t>
            </a:r>
            <a:r>
              <a:rPr lang="tr-TR" altLang="tr-TR" b="1" dirty="0" smtClean="0">
                <a:solidFill>
                  <a:schemeClr val="accent2"/>
                </a:solidFill>
                <a:latin typeface="Courier New" panose="02070309020205020404" pitchFamily="49" charset="0"/>
                <a:cs typeface="Courier New" panose="02070309020205020404" pitchFamily="49" charset="0"/>
              </a:rPr>
              <a:t> </a:t>
            </a:r>
            <a:r>
              <a:rPr lang="en-US" altLang="tr-TR" b="1" dirty="0" smtClean="0">
                <a:solidFill>
                  <a:schemeClr val="accent2"/>
                </a:solidFill>
                <a:latin typeface="Courier New" panose="02070309020205020404" pitchFamily="49" charset="0"/>
                <a:cs typeface="Courier New" panose="02070309020205020404" pitchFamily="49" charset="0"/>
              </a:rPr>
              <a:t>+</a:t>
            </a:r>
            <a:r>
              <a:rPr lang="tr-TR" altLang="tr-TR" b="1" dirty="0" smtClean="0">
                <a:solidFill>
                  <a:schemeClr val="accent2"/>
                </a:solidFill>
                <a:latin typeface="Courier New" panose="02070309020205020404" pitchFamily="49" charset="0"/>
                <a:cs typeface="Courier New" panose="02070309020205020404" pitchFamily="49" charset="0"/>
              </a:rPr>
              <a:t> </a:t>
            </a:r>
            <a:r>
              <a:rPr lang="en-US" altLang="tr-TR" b="1" dirty="0" smtClean="0">
                <a:solidFill>
                  <a:schemeClr val="accent2"/>
                </a:solidFill>
                <a:latin typeface="Courier New" panose="02070309020205020404" pitchFamily="49" charset="0"/>
                <a:cs typeface="Courier New" panose="02070309020205020404" pitchFamily="49" charset="0"/>
              </a:rPr>
              <a:t>2</a:t>
            </a:r>
            <a:endParaRPr lang="en-US" altLang="tr-TR" b="1" dirty="0">
              <a:solidFill>
                <a:schemeClr val="accent2"/>
              </a:solidFill>
              <a:latin typeface="Courier New" panose="02070309020205020404" pitchFamily="49" charset="0"/>
              <a:cs typeface="Courier New" panose="02070309020205020404" pitchFamily="49" charset="0"/>
            </a:endParaRPr>
          </a:p>
          <a:p>
            <a:pPr>
              <a:buFontTx/>
              <a:buNone/>
            </a:pPr>
            <a:endParaRPr lang="tr-TR" altLang="tr-TR" dirty="0"/>
          </a:p>
          <a:p>
            <a:pPr>
              <a:buFontTx/>
              <a:buNone/>
            </a:pPr>
            <a:r>
              <a:rPr lang="en-US" altLang="tr-TR" dirty="0"/>
              <a:t>Read a value for </a:t>
            </a:r>
            <a:r>
              <a:rPr lang="en-US" altLang="tr-TR" b="1" dirty="0">
                <a:solidFill>
                  <a:schemeClr val="accent2"/>
                </a:solidFill>
                <a:latin typeface="Courier New" panose="02070309020205020404" pitchFamily="49" charset="0"/>
                <a:cs typeface="Courier New" panose="02070309020205020404" pitchFamily="49" charset="0"/>
              </a:rPr>
              <a:t>x</a:t>
            </a:r>
            <a:r>
              <a:rPr lang="en-US" altLang="tr-TR" dirty="0"/>
              <a:t> and display the result.</a:t>
            </a:r>
          </a:p>
          <a:p>
            <a:pPr>
              <a:buFontTx/>
              <a:buNone/>
            </a:pPr>
            <a:endParaRPr lang="en-US" altLang="tr-TR" dirty="0"/>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5</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3833513650"/>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tr-TR" sz="3600" dirty="0"/>
              <a:t>Example: Solution with functions</a:t>
            </a:r>
            <a:endParaRPr lang="en-US" altLang="tr-TR" sz="1600" i="1" dirty="0"/>
          </a:p>
        </p:txBody>
      </p:sp>
      <p:sp>
        <p:nvSpPr>
          <p:cNvPr id="3" name="Content Placeholder 2"/>
          <p:cNvSpPr>
            <a:spLocks noGrp="1"/>
          </p:cNvSpPr>
          <p:nvPr>
            <p:ph idx="1"/>
          </p:nvPr>
        </p:nvSpPr>
        <p:spPr>
          <a:xfrm>
            <a:off x="1905000" y="949517"/>
            <a:ext cx="7621494" cy="5334000"/>
          </a:xfrm>
        </p:spPr>
        <p:txBody>
          <a:bodyPr rtlCol="0">
            <a:noAutofit/>
          </a:bodyPr>
          <a:lstStyle/>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#include &lt;</a:t>
            </a:r>
            <a:r>
              <a:rPr lang="en-US" sz="1600" dirty="0" err="1">
                <a:solidFill>
                  <a:schemeClr val="accent2"/>
                </a:solidFill>
                <a:latin typeface="Consolas" panose="020B0609020204030204" pitchFamily="49" charset="0"/>
                <a:cs typeface="Courier New" pitchFamily="49" charset="0"/>
              </a:rPr>
              <a:t>stdio.h</a:t>
            </a:r>
            <a:r>
              <a:rPr lang="en-US" sz="1600" dirty="0">
                <a:solidFill>
                  <a:schemeClr val="accent2"/>
                </a:solidFill>
                <a:latin typeface="Consolas" panose="020B0609020204030204" pitchFamily="49" charset="0"/>
                <a:cs typeface="Courier New" pitchFamily="49" charset="0"/>
              </a:rPr>
              <a:t>&gt;</a:t>
            </a:r>
          </a:p>
          <a:p>
            <a:pPr lvl="1" fontAlgn="auto">
              <a:spcAft>
                <a:spcPts val="0"/>
              </a:spcAft>
              <a:buNone/>
              <a:defRPr/>
            </a:pPr>
            <a:endParaRPr lang="tr-TR" sz="1600" dirty="0" smtClean="0">
              <a:solidFill>
                <a:schemeClr val="accent2"/>
              </a:solidFill>
              <a:latin typeface="Consolas" panose="020B0609020204030204" pitchFamily="49" charset="0"/>
              <a:cs typeface="Courier New" pitchFamily="49" charset="0"/>
            </a:endParaRPr>
          </a:p>
          <a:p>
            <a:pPr lvl="1" fontAlgn="auto">
              <a:spcAft>
                <a:spcPts val="0"/>
              </a:spcAft>
              <a:buNone/>
              <a:defRPr/>
            </a:pPr>
            <a:r>
              <a:rPr lang="en-US" sz="1600" dirty="0" smtClean="0">
                <a:solidFill>
                  <a:schemeClr val="accent2"/>
                </a:solidFill>
                <a:latin typeface="Consolas" panose="020B0609020204030204" pitchFamily="49" charset="0"/>
                <a:cs typeface="Courier New" pitchFamily="49" charset="0"/>
              </a:rPr>
              <a:t>/* </a:t>
            </a:r>
            <a:r>
              <a:rPr lang="en-US" sz="1600" dirty="0">
                <a:solidFill>
                  <a:schemeClr val="accent2"/>
                </a:solidFill>
                <a:latin typeface="Consolas" panose="020B0609020204030204" pitchFamily="49" charset="0"/>
                <a:cs typeface="Courier New" pitchFamily="49" charset="0"/>
              </a:rPr>
              <a:t>Calculate </a:t>
            </a:r>
            <a:r>
              <a:rPr lang="en-US" sz="1600" dirty="0" err="1">
                <a:solidFill>
                  <a:schemeClr val="accent2"/>
                </a:solidFill>
                <a:latin typeface="Consolas" panose="020B0609020204030204" pitchFamily="49" charset="0"/>
                <a:cs typeface="Courier New" pitchFamily="49" charset="0"/>
              </a:rPr>
              <a:t>a^b</a:t>
            </a:r>
            <a:r>
              <a:rPr lang="en-US" sz="1600" dirty="0">
                <a:solidFill>
                  <a:schemeClr val="accent2"/>
                </a:solidFill>
                <a:latin typeface="Consolas" panose="020B0609020204030204" pitchFamily="49" charset="0"/>
                <a:cs typeface="Courier New" pitchFamily="49" charset="0"/>
              </a:rPr>
              <a:t> */</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float power(float a, </a:t>
            </a:r>
            <a:r>
              <a:rPr lang="en-US" sz="1600" dirty="0" err="1">
                <a:solidFill>
                  <a:schemeClr val="accent2"/>
                </a:solidFill>
                <a:latin typeface="Consolas" panose="020B0609020204030204" pitchFamily="49" charset="0"/>
                <a:cs typeface="Courier New" pitchFamily="49" charset="0"/>
              </a:rPr>
              <a:t>int</a:t>
            </a:r>
            <a:r>
              <a:rPr lang="en-US" sz="1600" dirty="0">
                <a:solidFill>
                  <a:schemeClr val="accent2"/>
                </a:solidFill>
                <a:latin typeface="Consolas" panose="020B0609020204030204" pitchFamily="49" charset="0"/>
                <a:cs typeface="Courier New" pitchFamily="49" charset="0"/>
              </a:rPr>
              <a:t> b){</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float result=1;</a:t>
            </a:r>
          </a:p>
          <a:p>
            <a:pPr lvl="1" fontAlgn="auto">
              <a:spcAft>
                <a:spcPts val="0"/>
              </a:spcAft>
              <a:buNone/>
              <a:defRPr/>
            </a:pPr>
            <a:endParaRPr lang="en-US" sz="400" dirty="0">
              <a:solidFill>
                <a:schemeClr val="accent2"/>
              </a:solidFill>
              <a:latin typeface="Consolas" panose="020B0609020204030204" pitchFamily="49" charset="0"/>
              <a:cs typeface="Courier New" pitchFamily="49" charset="0"/>
            </a:endParaRP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for (; b&gt;0; b--)</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result *= a;</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return result;</a:t>
            </a:r>
          </a:p>
          <a:p>
            <a:pPr lvl="1" fontAlgn="auto">
              <a:spcAft>
                <a:spcPts val="0"/>
              </a:spcAft>
              <a:buNone/>
              <a:defRPr/>
            </a:pPr>
            <a:r>
              <a:rPr lang="en-US" sz="1600" dirty="0" smtClean="0">
                <a:solidFill>
                  <a:schemeClr val="accent2"/>
                </a:solidFill>
                <a:latin typeface="Consolas" panose="020B0609020204030204" pitchFamily="49" charset="0"/>
                <a:cs typeface="Courier New" pitchFamily="49" charset="0"/>
              </a:rPr>
              <a:t>}</a:t>
            </a:r>
            <a:endParaRPr lang="tr-TR" sz="1600" dirty="0" smtClean="0">
              <a:solidFill>
                <a:schemeClr val="accent2"/>
              </a:solidFill>
              <a:latin typeface="Consolas" panose="020B0609020204030204" pitchFamily="49" charset="0"/>
              <a:cs typeface="Courier New" pitchFamily="49" charset="0"/>
            </a:endParaRPr>
          </a:p>
          <a:p>
            <a:pPr lvl="1" fontAlgn="auto">
              <a:spcAft>
                <a:spcPts val="0"/>
              </a:spcAft>
              <a:buNone/>
              <a:defRPr/>
            </a:pPr>
            <a:endParaRPr lang="en-US" sz="1600" dirty="0">
              <a:solidFill>
                <a:schemeClr val="accent2"/>
              </a:solidFill>
              <a:latin typeface="Consolas" panose="020B0609020204030204" pitchFamily="49" charset="0"/>
              <a:cs typeface="Courier New" pitchFamily="49" charset="0"/>
            </a:endParaRPr>
          </a:p>
          <a:p>
            <a:pPr lvl="1" fontAlgn="auto">
              <a:spcAft>
                <a:spcPts val="0"/>
              </a:spcAft>
              <a:buNone/>
              <a:defRPr/>
            </a:pPr>
            <a:r>
              <a:rPr lang="en-US" sz="1600" dirty="0" err="1">
                <a:solidFill>
                  <a:schemeClr val="accent2"/>
                </a:solidFill>
                <a:latin typeface="Consolas" panose="020B0609020204030204" pitchFamily="49" charset="0"/>
                <a:cs typeface="Courier New" pitchFamily="49" charset="0"/>
              </a:rPr>
              <a:t>int</a:t>
            </a:r>
            <a:r>
              <a:rPr lang="en-US" sz="1600" dirty="0">
                <a:solidFill>
                  <a:schemeClr val="accent2"/>
                </a:solidFill>
                <a:latin typeface="Consolas" panose="020B0609020204030204" pitchFamily="49" charset="0"/>
                <a:cs typeface="Courier New" pitchFamily="49" charset="0"/>
              </a:rPr>
              <a:t> main(){</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float </a:t>
            </a:r>
            <a:r>
              <a:rPr lang="en-US" sz="1600" dirty="0" err="1">
                <a:solidFill>
                  <a:schemeClr val="accent2"/>
                </a:solidFill>
                <a:latin typeface="Consolas" panose="020B0609020204030204" pitchFamily="49" charset="0"/>
                <a:cs typeface="Courier New" pitchFamily="49" charset="0"/>
              </a:rPr>
              <a:t>P_x</a:t>
            </a:r>
            <a:r>
              <a:rPr lang="en-US" sz="1600" dirty="0">
                <a:solidFill>
                  <a:schemeClr val="accent2"/>
                </a:solidFill>
                <a:latin typeface="Consolas" panose="020B0609020204030204" pitchFamily="49" charset="0"/>
                <a:cs typeface="Courier New" pitchFamily="49" charset="0"/>
              </a:rPr>
              <a:t>, x;</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a:t>
            </a:r>
            <a:r>
              <a:rPr lang="en-US" sz="1600" dirty="0" err="1">
                <a:solidFill>
                  <a:schemeClr val="accent2"/>
                </a:solidFill>
                <a:latin typeface="Consolas" panose="020B0609020204030204" pitchFamily="49" charset="0"/>
                <a:cs typeface="Courier New" pitchFamily="49" charset="0"/>
              </a:rPr>
              <a:t>scanf</a:t>
            </a:r>
            <a:r>
              <a:rPr lang="en-US" sz="1600" dirty="0">
                <a:solidFill>
                  <a:schemeClr val="accent2"/>
                </a:solidFill>
                <a:latin typeface="Consolas" panose="020B0609020204030204" pitchFamily="49" charset="0"/>
                <a:cs typeface="Courier New" pitchFamily="49" charset="0"/>
              </a:rPr>
              <a:t>("%f", &amp;x);</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a:t>
            </a:r>
            <a:r>
              <a:rPr lang="en-US" sz="1600" dirty="0" err="1">
                <a:solidFill>
                  <a:schemeClr val="accent2"/>
                </a:solidFill>
                <a:latin typeface="Consolas" panose="020B0609020204030204" pitchFamily="49" charset="0"/>
                <a:cs typeface="Courier New" pitchFamily="49" charset="0"/>
              </a:rPr>
              <a:t>P_x</a:t>
            </a:r>
            <a:r>
              <a:rPr lang="en-US" sz="1600" dirty="0">
                <a:solidFill>
                  <a:schemeClr val="accent2"/>
                </a:solidFill>
                <a:latin typeface="Consolas" panose="020B0609020204030204" pitchFamily="49" charset="0"/>
                <a:cs typeface="Courier New" pitchFamily="49" charset="0"/>
              </a:rPr>
              <a:t> = 8 * power(x,5) </a:t>
            </a:r>
            <a:r>
              <a:rPr lang="tr-TR" sz="1600" dirty="0" smtClean="0">
                <a:solidFill>
                  <a:schemeClr val="accent2"/>
                </a:solidFill>
                <a:latin typeface="Consolas" panose="020B0609020204030204" pitchFamily="49" charset="0"/>
                <a:cs typeface="Courier New" pitchFamily="49" charset="0"/>
              </a:rPr>
              <a:t> </a:t>
            </a:r>
            <a:r>
              <a:rPr lang="en-US" sz="1600" dirty="0" smtClean="0">
                <a:solidFill>
                  <a:schemeClr val="accent2"/>
                </a:solidFill>
                <a:latin typeface="Consolas" panose="020B0609020204030204" pitchFamily="49" charset="0"/>
                <a:cs typeface="Courier New" pitchFamily="49" charset="0"/>
              </a:rPr>
              <a:t>+</a:t>
            </a:r>
            <a:r>
              <a:rPr lang="tr-TR" sz="1600" dirty="0" smtClean="0">
                <a:solidFill>
                  <a:schemeClr val="accent2"/>
                </a:solidFill>
                <a:latin typeface="Consolas" panose="020B0609020204030204" pitchFamily="49" charset="0"/>
                <a:cs typeface="Courier New" pitchFamily="49" charset="0"/>
              </a:rPr>
              <a:t>  </a:t>
            </a:r>
            <a:r>
              <a:rPr lang="en-US" sz="1600" dirty="0" smtClean="0">
                <a:solidFill>
                  <a:schemeClr val="accent2"/>
                </a:solidFill>
                <a:latin typeface="Consolas" panose="020B0609020204030204" pitchFamily="49" charset="0"/>
                <a:cs typeface="Courier New" pitchFamily="49" charset="0"/>
              </a:rPr>
              <a:t>5 </a:t>
            </a:r>
            <a:r>
              <a:rPr lang="en-US" sz="1600" dirty="0">
                <a:solidFill>
                  <a:schemeClr val="accent2"/>
                </a:solidFill>
                <a:latin typeface="Consolas" panose="020B0609020204030204" pitchFamily="49" charset="0"/>
                <a:cs typeface="Courier New" pitchFamily="49" charset="0"/>
              </a:rPr>
              <a:t>* power(x,4) </a:t>
            </a:r>
            <a:r>
              <a:rPr lang="tr-TR" sz="1600" dirty="0" smtClean="0">
                <a:solidFill>
                  <a:schemeClr val="accent2"/>
                </a:solidFill>
                <a:latin typeface="Consolas" panose="020B0609020204030204" pitchFamily="49" charset="0"/>
                <a:cs typeface="Courier New" pitchFamily="49" charset="0"/>
              </a:rPr>
              <a:t> </a:t>
            </a:r>
            <a:r>
              <a:rPr lang="en-US" sz="1600" dirty="0" smtClean="0">
                <a:solidFill>
                  <a:schemeClr val="accent2"/>
                </a:solidFill>
                <a:latin typeface="Consolas" panose="020B0609020204030204" pitchFamily="49" charset="0"/>
                <a:cs typeface="Courier New" pitchFamily="49" charset="0"/>
              </a:rPr>
              <a:t>+</a:t>
            </a:r>
            <a:r>
              <a:rPr lang="tr-TR" sz="1600" dirty="0" smtClean="0">
                <a:solidFill>
                  <a:schemeClr val="accent2"/>
                </a:solidFill>
                <a:latin typeface="Consolas" panose="020B0609020204030204" pitchFamily="49" charset="0"/>
                <a:cs typeface="Courier New" pitchFamily="49" charset="0"/>
              </a:rPr>
              <a:t>  </a:t>
            </a:r>
            <a:r>
              <a:rPr lang="en-US" sz="1600" dirty="0" smtClean="0">
                <a:solidFill>
                  <a:schemeClr val="accent2"/>
                </a:solidFill>
                <a:latin typeface="Consolas" panose="020B0609020204030204" pitchFamily="49" charset="0"/>
                <a:cs typeface="Courier New" pitchFamily="49" charset="0"/>
              </a:rPr>
              <a:t>6 </a:t>
            </a:r>
            <a:r>
              <a:rPr lang="en-US" sz="1600" dirty="0">
                <a:solidFill>
                  <a:schemeClr val="accent2"/>
                </a:solidFill>
                <a:latin typeface="Consolas" panose="020B0609020204030204" pitchFamily="49" charset="0"/>
                <a:cs typeface="Courier New" pitchFamily="49" charset="0"/>
              </a:rPr>
              <a:t>* power(x,3) +</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3 * power(x,2) </a:t>
            </a:r>
            <a:r>
              <a:rPr lang="tr-TR" sz="1600" dirty="0" smtClean="0">
                <a:solidFill>
                  <a:schemeClr val="accent2"/>
                </a:solidFill>
                <a:latin typeface="Consolas" panose="020B0609020204030204" pitchFamily="49" charset="0"/>
                <a:cs typeface="Courier New" pitchFamily="49" charset="0"/>
              </a:rPr>
              <a:t> </a:t>
            </a:r>
            <a:r>
              <a:rPr lang="en-US" sz="1600" dirty="0" smtClean="0">
                <a:solidFill>
                  <a:schemeClr val="accent2"/>
                </a:solidFill>
                <a:latin typeface="Consolas" panose="020B0609020204030204" pitchFamily="49" charset="0"/>
                <a:cs typeface="Courier New" pitchFamily="49" charset="0"/>
              </a:rPr>
              <a:t>+</a:t>
            </a:r>
            <a:r>
              <a:rPr lang="tr-TR" sz="1600" dirty="0" smtClean="0">
                <a:solidFill>
                  <a:schemeClr val="accent2"/>
                </a:solidFill>
                <a:latin typeface="Consolas" panose="020B0609020204030204" pitchFamily="49" charset="0"/>
                <a:cs typeface="Courier New" pitchFamily="49" charset="0"/>
              </a:rPr>
              <a:t>  </a:t>
            </a:r>
            <a:r>
              <a:rPr lang="en-US" sz="1600" dirty="0" smtClean="0">
                <a:solidFill>
                  <a:schemeClr val="accent2"/>
                </a:solidFill>
                <a:latin typeface="Consolas" panose="020B0609020204030204" pitchFamily="49" charset="0"/>
                <a:cs typeface="Courier New" pitchFamily="49" charset="0"/>
              </a:rPr>
              <a:t>4 </a:t>
            </a:r>
            <a:r>
              <a:rPr lang="en-US" sz="1600" dirty="0">
                <a:solidFill>
                  <a:schemeClr val="accent2"/>
                </a:solidFill>
                <a:latin typeface="Consolas" panose="020B0609020204030204" pitchFamily="49" charset="0"/>
                <a:cs typeface="Courier New" pitchFamily="49" charset="0"/>
              </a:rPr>
              <a:t>* x + 2;</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a:t>
            </a:r>
            <a:r>
              <a:rPr lang="en-US" sz="1600" dirty="0" err="1">
                <a:solidFill>
                  <a:schemeClr val="accent2"/>
                </a:solidFill>
                <a:latin typeface="Consolas" panose="020B0609020204030204" pitchFamily="49" charset="0"/>
                <a:cs typeface="Courier New" pitchFamily="49" charset="0"/>
              </a:rPr>
              <a:t>printf</a:t>
            </a:r>
            <a:r>
              <a:rPr lang="en-US" sz="1600" dirty="0">
                <a:solidFill>
                  <a:schemeClr val="accent2"/>
                </a:solidFill>
                <a:latin typeface="Consolas" panose="020B0609020204030204" pitchFamily="49" charset="0"/>
                <a:cs typeface="Courier New" pitchFamily="49" charset="0"/>
              </a:rPr>
              <a:t>("Result=%f\n", </a:t>
            </a:r>
            <a:r>
              <a:rPr lang="en-US" sz="1600" dirty="0" err="1">
                <a:solidFill>
                  <a:schemeClr val="accent2"/>
                </a:solidFill>
                <a:latin typeface="Consolas" panose="020B0609020204030204" pitchFamily="49" charset="0"/>
                <a:cs typeface="Courier New" pitchFamily="49" charset="0"/>
              </a:rPr>
              <a:t>P_x</a:t>
            </a:r>
            <a:r>
              <a:rPr lang="en-US" sz="1600" dirty="0">
                <a:solidFill>
                  <a:schemeClr val="accent2"/>
                </a:solidFill>
                <a:latin typeface="Consolas" panose="020B0609020204030204" pitchFamily="49" charset="0"/>
                <a:cs typeface="Courier New" pitchFamily="49" charset="0"/>
              </a:rPr>
              <a:t>);</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return 0;</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6</a:t>
            </a:fld>
            <a:endParaRPr lang="en-US" altLang="tr-TR">
              <a:ea typeface="ＭＳ Ｐゴシック" panose="020B0600070205080204" pitchFamily="34" charset="-128"/>
            </a:endParaRPr>
          </a:p>
        </p:txBody>
      </p:sp>
      <p:pic>
        <p:nvPicPr>
          <p:cNvPr id="5" name="Picture 4" descr="C:\Users\agaoglu\agaoglu-docs\courses-recent\computer-programming\cse1142-2019-2020-2\source-codes-c\functions\C23_10_power.ex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9752" y="1007257"/>
            <a:ext cx="4105848" cy="164805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697180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ltLang="tr-TR" dirty="0"/>
              <a:t>Functions</a:t>
            </a:r>
            <a:r>
              <a:rPr lang="tr-TR" altLang="tr-TR" dirty="0"/>
              <a:t> – Caller and Callee</a:t>
            </a:r>
            <a:endParaRPr lang="en-US" altLang="tr-TR" dirty="0"/>
          </a:p>
        </p:txBody>
      </p:sp>
      <p:sp>
        <p:nvSpPr>
          <p:cNvPr id="7171" name="Content Placeholder 2"/>
          <p:cNvSpPr>
            <a:spLocks noGrp="1"/>
          </p:cNvSpPr>
          <p:nvPr>
            <p:ph idx="1"/>
          </p:nvPr>
        </p:nvSpPr>
        <p:spPr/>
        <p:txBody>
          <a:bodyPr/>
          <a:lstStyle/>
          <a:p>
            <a:r>
              <a:rPr lang="en-US" altLang="tr-TR" dirty="0"/>
              <a:t>A function that is being called is named </a:t>
            </a:r>
            <a:r>
              <a:rPr lang="en-US" altLang="tr-TR" dirty="0" err="1">
                <a:solidFill>
                  <a:schemeClr val="accent2"/>
                </a:solidFill>
              </a:rPr>
              <a:t>callee</a:t>
            </a:r>
            <a:r>
              <a:rPr lang="en-US" altLang="tr-TR" dirty="0"/>
              <a:t>.</a:t>
            </a:r>
          </a:p>
          <a:p>
            <a:endParaRPr lang="tr-TR" altLang="tr-TR" dirty="0"/>
          </a:p>
          <a:p>
            <a:r>
              <a:rPr lang="en-US" altLang="tr-TR" dirty="0"/>
              <a:t>The function from which the call is made is named </a:t>
            </a:r>
            <a:r>
              <a:rPr lang="en-US" altLang="tr-TR" dirty="0">
                <a:solidFill>
                  <a:schemeClr val="accent2"/>
                </a:solidFill>
              </a:rPr>
              <a:t>caller</a:t>
            </a:r>
            <a:r>
              <a:rPr lang="en-US" altLang="tr-TR" dirty="0"/>
              <a:t>.</a:t>
            </a:r>
          </a:p>
          <a:p>
            <a:endParaRPr lang="tr-TR" altLang="tr-TR" dirty="0"/>
          </a:p>
          <a:p>
            <a:r>
              <a:rPr lang="en-US" altLang="tr-TR" dirty="0"/>
              <a:t>In the previous example, </a:t>
            </a:r>
            <a:r>
              <a:rPr lang="en-US" altLang="tr-TR" b="1" dirty="0">
                <a:solidFill>
                  <a:schemeClr val="accent2"/>
                </a:solidFill>
                <a:latin typeface="Courier New" panose="02070309020205020404" pitchFamily="49" charset="0"/>
                <a:cs typeface="Courier New" panose="02070309020205020404" pitchFamily="49" charset="0"/>
              </a:rPr>
              <a:t>main()</a:t>
            </a:r>
            <a:r>
              <a:rPr lang="en-US" altLang="tr-TR" dirty="0"/>
              <a:t> is the caller, </a:t>
            </a:r>
            <a:r>
              <a:rPr lang="en-US" altLang="tr-TR" b="1" dirty="0">
                <a:solidFill>
                  <a:schemeClr val="accent2"/>
                </a:solidFill>
                <a:latin typeface="Courier New" panose="02070309020205020404" pitchFamily="49" charset="0"/>
                <a:cs typeface="Courier New" panose="02070309020205020404" pitchFamily="49" charset="0"/>
              </a:rPr>
              <a:t>power()</a:t>
            </a:r>
            <a:r>
              <a:rPr lang="en-US" altLang="tr-TR" dirty="0"/>
              <a:t> is the </a:t>
            </a:r>
            <a:r>
              <a:rPr lang="en-US" altLang="tr-TR" dirty="0" err="1"/>
              <a:t>callee</a:t>
            </a:r>
            <a:r>
              <a:rPr lang="en-US" altLang="tr-TR" dirty="0"/>
              <a:t>.</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7</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3500354006"/>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Example: Solution with functions II</a:t>
            </a:r>
            <a:endParaRPr lang="en-US" dirty="0"/>
          </a:p>
        </p:txBody>
      </p:sp>
      <p:sp>
        <p:nvSpPr>
          <p:cNvPr id="4" name="Content Placeholder 2"/>
          <p:cNvSpPr>
            <a:spLocks noGrp="1"/>
          </p:cNvSpPr>
          <p:nvPr>
            <p:ph idx="1"/>
          </p:nvPr>
        </p:nvSpPr>
        <p:spPr>
          <a:xfrm>
            <a:off x="1272988" y="918132"/>
            <a:ext cx="9197787" cy="5105400"/>
          </a:xfrm>
        </p:spPr>
        <p:txBody>
          <a:bodyPr rtlCol="0">
            <a:noAutofit/>
          </a:bodyPr>
          <a:lstStyle/>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#include &lt;</a:t>
            </a:r>
            <a:r>
              <a:rPr lang="en-US" sz="1600" dirty="0" err="1">
                <a:solidFill>
                  <a:schemeClr val="accent2"/>
                </a:solidFill>
                <a:latin typeface="Consolas" panose="020B0609020204030204" pitchFamily="49" charset="0"/>
                <a:cs typeface="Courier New" pitchFamily="49" charset="0"/>
              </a:rPr>
              <a:t>stdio.h</a:t>
            </a:r>
            <a:r>
              <a:rPr lang="en-US" sz="1600" dirty="0" smtClean="0">
                <a:solidFill>
                  <a:schemeClr val="accent2"/>
                </a:solidFill>
                <a:latin typeface="Consolas" panose="020B0609020204030204" pitchFamily="49" charset="0"/>
                <a:cs typeface="Courier New" pitchFamily="49" charset="0"/>
              </a:rPr>
              <a:t>&gt;</a:t>
            </a:r>
            <a:endParaRPr lang="tr-TR" sz="1600" dirty="0" smtClean="0">
              <a:solidFill>
                <a:schemeClr val="accent2"/>
              </a:solidFill>
              <a:latin typeface="Consolas" panose="020B0609020204030204" pitchFamily="49" charset="0"/>
              <a:cs typeface="Courier New" pitchFamily="49" charset="0"/>
            </a:endParaRPr>
          </a:p>
          <a:p>
            <a:pPr lvl="1" fontAlgn="auto">
              <a:spcAft>
                <a:spcPts val="0"/>
              </a:spcAft>
              <a:buNone/>
              <a:defRPr/>
            </a:pPr>
            <a:endParaRPr lang="en-US" sz="800" dirty="0">
              <a:solidFill>
                <a:schemeClr val="accent2"/>
              </a:solidFill>
              <a:latin typeface="Consolas" panose="020B0609020204030204" pitchFamily="49" charset="0"/>
              <a:cs typeface="Courier New" pitchFamily="49" charset="0"/>
            </a:endParaRP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float power(float a, </a:t>
            </a:r>
            <a:r>
              <a:rPr lang="en-US" sz="1600" dirty="0" err="1">
                <a:solidFill>
                  <a:schemeClr val="accent2"/>
                </a:solidFill>
                <a:latin typeface="Consolas" panose="020B0609020204030204" pitchFamily="49" charset="0"/>
                <a:cs typeface="Courier New" pitchFamily="49" charset="0"/>
              </a:rPr>
              <a:t>int</a:t>
            </a:r>
            <a:r>
              <a:rPr lang="en-US" sz="1600" dirty="0">
                <a:solidFill>
                  <a:schemeClr val="accent2"/>
                </a:solidFill>
                <a:latin typeface="Consolas" panose="020B0609020204030204" pitchFamily="49" charset="0"/>
                <a:cs typeface="Courier New" pitchFamily="49" charset="0"/>
              </a:rPr>
              <a:t> b);</a:t>
            </a:r>
          </a:p>
          <a:p>
            <a:pPr lvl="1" fontAlgn="auto">
              <a:spcAft>
                <a:spcPts val="0"/>
              </a:spcAft>
              <a:buNone/>
              <a:defRPr/>
            </a:pPr>
            <a:endParaRPr lang="tr-TR" sz="800" dirty="0" smtClean="0">
              <a:solidFill>
                <a:schemeClr val="accent2"/>
              </a:solidFill>
              <a:latin typeface="Consolas" panose="020B0609020204030204" pitchFamily="49" charset="0"/>
              <a:cs typeface="Courier New" pitchFamily="49" charset="0"/>
            </a:endParaRPr>
          </a:p>
          <a:p>
            <a:pPr lvl="1" fontAlgn="auto">
              <a:spcAft>
                <a:spcPts val="0"/>
              </a:spcAft>
              <a:buNone/>
              <a:defRPr/>
            </a:pPr>
            <a:r>
              <a:rPr lang="en-US" sz="1600" dirty="0" err="1" smtClean="0">
                <a:solidFill>
                  <a:schemeClr val="accent2"/>
                </a:solidFill>
                <a:latin typeface="Consolas" panose="020B0609020204030204" pitchFamily="49" charset="0"/>
                <a:cs typeface="Courier New" pitchFamily="49" charset="0"/>
              </a:rPr>
              <a:t>int</a:t>
            </a:r>
            <a:r>
              <a:rPr lang="en-US" sz="1600" dirty="0" smtClean="0">
                <a:solidFill>
                  <a:schemeClr val="accent2"/>
                </a:solidFill>
                <a:latin typeface="Consolas" panose="020B0609020204030204" pitchFamily="49" charset="0"/>
                <a:cs typeface="Courier New" pitchFamily="49" charset="0"/>
              </a:rPr>
              <a:t> </a:t>
            </a:r>
            <a:r>
              <a:rPr lang="en-US" sz="1600" dirty="0">
                <a:solidFill>
                  <a:schemeClr val="accent2"/>
                </a:solidFill>
                <a:latin typeface="Consolas" panose="020B0609020204030204" pitchFamily="49" charset="0"/>
                <a:cs typeface="Courier New" pitchFamily="49" charset="0"/>
              </a:rPr>
              <a:t>main(){</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float </a:t>
            </a:r>
            <a:r>
              <a:rPr lang="en-US" sz="1600" dirty="0" err="1">
                <a:solidFill>
                  <a:schemeClr val="accent2"/>
                </a:solidFill>
                <a:latin typeface="Consolas" panose="020B0609020204030204" pitchFamily="49" charset="0"/>
                <a:cs typeface="Courier New" pitchFamily="49" charset="0"/>
              </a:rPr>
              <a:t>P_x</a:t>
            </a:r>
            <a:r>
              <a:rPr lang="en-US" sz="1600" dirty="0">
                <a:solidFill>
                  <a:schemeClr val="accent2"/>
                </a:solidFill>
                <a:latin typeface="Consolas" panose="020B0609020204030204" pitchFamily="49" charset="0"/>
                <a:cs typeface="Courier New" pitchFamily="49" charset="0"/>
              </a:rPr>
              <a:t>, x;</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a:t>
            </a:r>
            <a:r>
              <a:rPr lang="en-US" sz="1600" dirty="0" err="1">
                <a:solidFill>
                  <a:schemeClr val="accent2"/>
                </a:solidFill>
                <a:latin typeface="Consolas" panose="020B0609020204030204" pitchFamily="49" charset="0"/>
                <a:cs typeface="Courier New" pitchFamily="49" charset="0"/>
              </a:rPr>
              <a:t>scanf</a:t>
            </a:r>
            <a:r>
              <a:rPr lang="en-US" sz="1600" dirty="0">
                <a:solidFill>
                  <a:schemeClr val="accent2"/>
                </a:solidFill>
                <a:latin typeface="Consolas" panose="020B0609020204030204" pitchFamily="49" charset="0"/>
                <a:cs typeface="Courier New" pitchFamily="49" charset="0"/>
              </a:rPr>
              <a:t>("%f", &amp;x);</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a:t>
            </a:r>
            <a:r>
              <a:rPr lang="en-US" sz="1600" dirty="0" err="1">
                <a:solidFill>
                  <a:schemeClr val="accent2"/>
                </a:solidFill>
                <a:latin typeface="Consolas" panose="020B0609020204030204" pitchFamily="49" charset="0"/>
                <a:cs typeface="Courier New" pitchFamily="49" charset="0"/>
              </a:rPr>
              <a:t>P_x</a:t>
            </a:r>
            <a:r>
              <a:rPr lang="en-US" sz="1600" dirty="0">
                <a:solidFill>
                  <a:schemeClr val="accent2"/>
                </a:solidFill>
                <a:latin typeface="Consolas" panose="020B0609020204030204" pitchFamily="49" charset="0"/>
                <a:cs typeface="Courier New" pitchFamily="49" charset="0"/>
              </a:rPr>
              <a:t> = 8 * power(x,5) </a:t>
            </a:r>
            <a:r>
              <a:rPr lang="tr-TR" sz="1600" dirty="0" smtClean="0">
                <a:solidFill>
                  <a:schemeClr val="accent2"/>
                </a:solidFill>
                <a:latin typeface="Consolas" panose="020B0609020204030204" pitchFamily="49" charset="0"/>
                <a:cs typeface="Courier New" pitchFamily="49" charset="0"/>
              </a:rPr>
              <a:t> </a:t>
            </a:r>
            <a:r>
              <a:rPr lang="en-US" sz="1600" dirty="0" smtClean="0">
                <a:solidFill>
                  <a:schemeClr val="accent2"/>
                </a:solidFill>
                <a:latin typeface="Consolas" panose="020B0609020204030204" pitchFamily="49" charset="0"/>
                <a:cs typeface="Courier New" pitchFamily="49" charset="0"/>
              </a:rPr>
              <a:t>+</a:t>
            </a:r>
            <a:r>
              <a:rPr lang="tr-TR" sz="1600" dirty="0" smtClean="0">
                <a:solidFill>
                  <a:schemeClr val="accent2"/>
                </a:solidFill>
                <a:latin typeface="Consolas" panose="020B0609020204030204" pitchFamily="49" charset="0"/>
                <a:cs typeface="Courier New" pitchFamily="49" charset="0"/>
              </a:rPr>
              <a:t>  </a:t>
            </a:r>
            <a:r>
              <a:rPr lang="en-US" sz="1600" dirty="0" smtClean="0">
                <a:solidFill>
                  <a:schemeClr val="accent2"/>
                </a:solidFill>
                <a:latin typeface="Consolas" panose="020B0609020204030204" pitchFamily="49" charset="0"/>
                <a:cs typeface="Courier New" pitchFamily="49" charset="0"/>
              </a:rPr>
              <a:t>5 </a:t>
            </a:r>
            <a:r>
              <a:rPr lang="en-US" sz="1600" dirty="0">
                <a:solidFill>
                  <a:schemeClr val="accent2"/>
                </a:solidFill>
                <a:latin typeface="Consolas" panose="020B0609020204030204" pitchFamily="49" charset="0"/>
                <a:cs typeface="Courier New" pitchFamily="49" charset="0"/>
              </a:rPr>
              <a:t>* power(x,4) </a:t>
            </a:r>
            <a:r>
              <a:rPr lang="tr-TR" sz="1600" dirty="0" smtClean="0">
                <a:solidFill>
                  <a:schemeClr val="accent2"/>
                </a:solidFill>
                <a:latin typeface="Consolas" panose="020B0609020204030204" pitchFamily="49" charset="0"/>
                <a:cs typeface="Courier New" pitchFamily="49" charset="0"/>
              </a:rPr>
              <a:t> </a:t>
            </a:r>
            <a:r>
              <a:rPr lang="en-US" sz="1600" dirty="0" smtClean="0">
                <a:solidFill>
                  <a:schemeClr val="accent2"/>
                </a:solidFill>
                <a:latin typeface="Consolas" panose="020B0609020204030204" pitchFamily="49" charset="0"/>
                <a:cs typeface="Courier New" pitchFamily="49" charset="0"/>
              </a:rPr>
              <a:t>+</a:t>
            </a:r>
            <a:r>
              <a:rPr lang="tr-TR" sz="1600" dirty="0" smtClean="0">
                <a:solidFill>
                  <a:schemeClr val="accent2"/>
                </a:solidFill>
                <a:latin typeface="Consolas" panose="020B0609020204030204" pitchFamily="49" charset="0"/>
                <a:cs typeface="Courier New" pitchFamily="49" charset="0"/>
              </a:rPr>
              <a:t>  </a:t>
            </a:r>
            <a:r>
              <a:rPr lang="en-US" sz="1600" dirty="0" smtClean="0">
                <a:solidFill>
                  <a:schemeClr val="accent2"/>
                </a:solidFill>
                <a:latin typeface="Consolas" panose="020B0609020204030204" pitchFamily="49" charset="0"/>
                <a:cs typeface="Courier New" pitchFamily="49" charset="0"/>
              </a:rPr>
              <a:t>6 </a:t>
            </a:r>
            <a:r>
              <a:rPr lang="en-US" sz="1600" dirty="0">
                <a:solidFill>
                  <a:schemeClr val="accent2"/>
                </a:solidFill>
                <a:latin typeface="Consolas" panose="020B0609020204030204" pitchFamily="49" charset="0"/>
                <a:cs typeface="Courier New" pitchFamily="49" charset="0"/>
              </a:rPr>
              <a:t>* power(x,3) </a:t>
            </a:r>
            <a:r>
              <a:rPr lang="tr-TR" sz="1600" dirty="0" smtClean="0">
                <a:solidFill>
                  <a:schemeClr val="accent2"/>
                </a:solidFill>
                <a:latin typeface="Consolas" panose="020B0609020204030204" pitchFamily="49" charset="0"/>
                <a:cs typeface="Courier New" pitchFamily="49" charset="0"/>
              </a:rPr>
              <a:t> </a:t>
            </a:r>
            <a:r>
              <a:rPr lang="en-US" sz="1600" dirty="0" smtClean="0">
                <a:solidFill>
                  <a:schemeClr val="accent2"/>
                </a:solidFill>
                <a:latin typeface="Consolas" panose="020B0609020204030204" pitchFamily="49" charset="0"/>
                <a:cs typeface="Courier New" pitchFamily="49" charset="0"/>
              </a:rPr>
              <a:t>+</a:t>
            </a:r>
            <a:endParaRPr lang="tr-TR" sz="1600" dirty="0" smtClean="0">
              <a:solidFill>
                <a:schemeClr val="accent2"/>
              </a:solidFill>
              <a:latin typeface="Consolas" panose="020B0609020204030204" pitchFamily="49" charset="0"/>
              <a:cs typeface="Courier New" pitchFamily="49" charset="0"/>
            </a:endParaRPr>
          </a:p>
          <a:p>
            <a:pPr lvl="1" fontAlgn="auto">
              <a:spcAft>
                <a:spcPts val="0"/>
              </a:spcAft>
              <a:buNone/>
              <a:defRPr/>
            </a:pPr>
            <a:r>
              <a:rPr lang="tr-TR" sz="1600" dirty="0">
                <a:solidFill>
                  <a:schemeClr val="accent2"/>
                </a:solidFill>
                <a:latin typeface="Consolas" panose="020B0609020204030204" pitchFamily="49" charset="0"/>
                <a:cs typeface="Courier New" pitchFamily="49" charset="0"/>
              </a:rPr>
              <a:t> </a:t>
            </a:r>
            <a:r>
              <a:rPr lang="tr-TR" sz="1600" dirty="0" smtClean="0">
                <a:solidFill>
                  <a:schemeClr val="accent2"/>
                </a:solidFill>
                <a:latin typeface="Consolas" panose="020B0609020204030204" pitchFamily="49" charset="0"/>
                <a:cs typeface="Courier New" pitchFamily="49" charset="0"/>
              </a:rPr>
              <a:t>        </a:t>
            </a:r>
            <a:r>
              <a:rPr lang="en-US" sz="1600" dirty="0" smtClean="0">
                <a:solidFill>
                  <a:schemeClr val="accent2"/>
                </a:solidFill>
                <a:latin typeface="Consolas" panose="020B0609020204030204" pitchFamily="49" charset="0"/>
                <a:cs typeface="Courier New" pitchFamily="49" charset="0"/>
              </a:rPr>
              <a:t>3 </a:t>
            </a:r>
            <a:r>
              <a:rPr lang="en-US" sz="1600" dirty="0">
                <a:solidFill>
                  <a:schemeClr val="accent2"/>
                </a:solidFill>
                <a:latin typeface="Consolas" panose="020B0609020204030204" pitchFamily="49" charset="0"/>
                <a:cs typeface="Courier New" pitchFamily="49" charset="0"/>
              </a:rPr>
              <a:t>* power(x,2) </a:t>
            </a:r>
            <a:r>
              <a:rPr lang="tr-TR" sz="1600" dirty="0" smtClean="0">
                <a:solidFill>
                  <a:schemeClr val="accent2"/>
                </a:solidFill>
                <a:latin typeface="Consolas" panose="020B0609020204030204" pitchFamily="49" charset="0"/>
                <a:cs typeface="Courier New" pitchFamily="49" charset="0"/>
              </a:rPr>
              <a:t> </a:t>
            </a:r>
            <a:r>
              <a:rPr lang="en-US" sz="1600" dirty="0" smtClean="0">
                <a:solidFill>
                  <a:schemeClr val="accent2"/>
                </a:solidFill>
                <a:latin typeface="Consolas" panose="020B0609020204030204" pitchFamily="49" charset="0"/>
                <a:cs typeface="Courier New" pitchFamily="49" charset="0"/>
              </a:rPr>
              <a:t>+</a:t>
            </a:r>
            <a:r>
              <a:rPr lang="tr-TR" sz="1600" dirty="0" smtClean="0">
                <a:solidFill>
                  <a:schemeClr val="accent2"/>
                </a:solidFill>
                <a:latin typeface="Consolas" panose="020B0609020204030204" pitchFamily="49" charset="0"/>
                <a:cs typeface="Courier New" pitchFamily="49" charset="0"/>
              </a:rPr>
              <a:t>  </a:t>
            </a:r>
            <a:r>
              <a:rPr lang="en-US" sz="1600" dirty="0" smtClean="0">
                <a:solidFill>
                  <a:schemeClr val="accent2"/>
                </a:solidFill>
                <a:latin typeface="Consolas" panose="020B0609020204030204" pitchFamily="49" charset="0"/>
                <a:cs typeface="Courier New" pitchFamily="49" charset="0"/>
              </a:rPr>
              <a:t>4 </a:t>
            </a:r>
            <a:r>
              <a:rPr lang="en-US" sz="1600" dirty="0">
                <a:solidFill>
                  <a:schemeClr val="accent2"/>
                </a:solidFill>
                <a:latin typeface="Consolas" panose="020B0609020204030204" pitchFamily="49" charset="0"/>
                <a:cs typeface="Courier New" pitchFamily="49" charset="0"/>
              </a:rPr>
              <a:t>* x + 2;</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a:t>
            </a:r>
            <a:r>
              <a:rPr lang="en-US" sz="1600" dirty="0" err="1">
                <a:solidFill>
                  <a:schemeClr val="accent2"/>
                </a:solidFill>
                <a:latin typeface="Consolas" panose="020B0609020204030204" pitchFamily="49" charset="0"/>
                <a:cs typeface="Courier New" pitchFamily="49" charset="0"/>
              </a:rPr>
              <a:t>printf</a:t>
            </a:r>
            <a:r>
              <a:rPr lang="en-US" sz="1600" dirty="0">
                <a:solidFill>
                  <a:schemeClr val="accent2"/>
                </a:solidFill>
                <a:latin typeface="Consolas" panose="020B0609020204030204" pitchFamily="49" charset="0"/>
                <a:cs typeface="Courier New" pitchFamily="49" charset="0"/>
              </a:rPr>
              <a:t>("Result=%f\n", </a:t>
            </a:r>
            <a:r>
              <a:rPr lang="en-US" sz="1600" dirty="0" err="1">
                <a:solidFill>
                  <a:schemeClr val="accent2"/>
                </a:solidFill>
                <a:latin typeface="Consolas" panose="020B0609020204030204" pitchFamily="49" charset="0"/>
                <a:cs typeface="Courier New" pitchFamily="49" charset="0"/>
              </a:rPr>
              <a:t>P_x</a:t>
            </a:r>
            <a:r>
              <a:rPr lang="en-US" sz="1600" dirty="0">
                <a:solidFill>
                  <a:schemeClr val="accent2"/>
                </a:solidFill>
                <a:latin typeface="Consolas" panose="020B0609020204030204" pitchFamily="49" charset="0"/>
                <a:cs typeface="Courier New" pitchFamily="49" charset="0"/>
              </a:rPr>
              <a:t>);</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return 0;</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a:t>
            </a:r>
          </a:p>
          <a:p>
            <a:pPr lvl="1" fontAlgn="auto">
              <a:spcAft>
                <a:spcPts val="0"/>
              </a:spcAft>
              <a:buNone/>
              <a:defRPr/>
            </a:pPr>
            <a:endParaRPr lang="tr-TR" sz="800" dirty="0" smtClean="0">
              <a:solidFill>
                <a:schemeClr val="accent2"/>
              </a:solidFill>
              <a:latin typeface="Consolas" panose="020B0609020204030204" pitchFamily="49" charset="0"/>
              <a:cs typeface="Courier New" pitchFamily="49" charset="0"/>
            </a:endParaRPr>
          </a:p>
          <a:p>
            <a:pPr lvl="1" fontAlgn="auto">
              <a:spcAft>
                <a:spcPts val="0"/>
              </a:spcAft>
              <a:buNone/>
              <a:defRPr/>
            </a:pPr>
            <a:r>
              <a:rPr lang="en-US" sz="1600" dirty="0" smtClean="0">
                <a:solidFill>
                  <a:schemeClr val="accent2"/>
                </a:solidFill>
                <a:latin typeface="Consolas" panose="020B0609020204030204" pitchFamily="49" charset="0"/>
                <a:cs typeface="Courier New" pitchFamily="49" charset="0"/>
              </a:rPr>
              <a:t>/* </a:t>
            </a:r>
            <a:r>
              <a:rPr lang="en-US" sz="1600" dirty="0">
                <a:solidFill>
                  <a:schemeClr val="accent2"/>
                </a:solidFill>
                <a:latin typeface="Consolas" panose="020B0609020204030204" pitchFamily="49" charset="0"/>
                <a:cs typeface="Courier New" pitchFamily="49" charset="0"/>
              </a:rPr>
              <a:t>Calculate </a:t>
            </a:r>
            <a:r>
              <a:rPr lang="en-US" sz="1600" dirty="0" err="1">
                <a:solidFill>
                  <a:schemeClr val="accent2"/>
                </a:solidFill>
                <a:latin typeface="Consolas" panose="020B0609020204030204" pitchFamily="49" charset="0"/>
                <a:cs typeface="Courier New" pitchFamily="49" charset="0"/>
              </a:rPr>
              <a:t>a^b</a:t>
            </a:r>
            <a:r>
              <a:rPr lang="en-US" sz="1600" dirty="0">
                <a:solidFill>
                  <a:schemeClr val="accent2"/>
                </a:solidFill>
                <a:latin typeface="Consolas" panose="020B0609020204030204" pitchFamily="49" charset="0"/>
                <a:cs typeface="Courier New" pitchFamily="49" charset="0"/>
              </a:rPr>
              <a:t> */</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float power(float a, </a:t>
            </a:r>
            <a:r>
              <a:rPr lang="en-US" sz="1600" dirty="0" err="1">
                <a:solidFill>
                  <a:schemeClr val="accent2"/>
                </a:solidFill>
                <a:latin typeface="Consolas" panose="020B0609020204030204" pitchFamily="49" charset="0"/>
                <a:cs typeface="Courier New" pitchFamily="49" charset="0"/>
              </a:rPr>
              <a:t>int</a:t>
            </a:r>
            <a:r>
              <a:rPr lang="en-US" sz="1600" dirty="0">
                <a:solidFill>
                  <a:schemeClr val="accent2"/>
                </a:solidFill>
                <a:latin typeface="Consolas" panose="020B0609020204030204" pitchFamily="49" charset="0"/>
                <a:cs typeface="Courier New" pitchFamily="49" charset="0"/>
              </a:rPr>
              <a:t> b</a:t>
            </a:r>
            <a:r>
              <a:rPr lang="en-US" sz="1600" dirty="0" smtClean="0">
                <a:solidFill>
                  <a:schemeClr val="accent2"/>
                </a:solidFill>
                <a:latin typeface="Consolas" panose="020B0609020204030204" pitchFamily="49" charset="0"/>
                <a:cs typeface="Courier New" pitchFamily="49" charset="0"/>
              </a:rPr>
              <a:t>){</a:t>
            </a:r>
            <a:endParaRPr lang="en-US" sz="1600" dirty="0">
              <a:solidFill>
                <a:schemeClr val="accent2"/>
              </a:solidFill>
              <a:latin typeface="Consolas" panose="020B0609020204030204" pitchFamily="49" charset="0"/>
              <a:cs typeface="Courier New" pitchFamily="49" charset="0"/>
            </a:endParaRP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float result=1;</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for (; b&gt;0; b--)</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result *= a;</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   return result;</a:t>
            </a:r>
          </a:p>
          <a:p>
            <a:pPr lvl="1" fontAlgn="auto">
              <a:spcAft>
                <a:spcPts val="0"/>
              </a:spcAft>
              <a:buNone/>
              <a:defRPr/>
            </a:pPr>
            <a:r>
              <a:rPr lang="en-US" sz="1600" dirty="0">
                <a:solidFill>
                  <a:schemeClr val="accent2"/>
                </a:solidFill>
                <a:latin typeface="Consolas" panose="020B0609020204030204" pitchFamily="49" charset="0"/>
                <a:cs typeface="Courier New" pitchFamily="49" charset="0"/>
              </a:rPr>
              <a:t>}</a:t>
            </a:r>
          </a:p>
          <a:p>
            <a:pPr lvl="1" fontAlgn="auto">
              <a:spcAft>
                <a:spcPts val="0"/>
              </a:spcAft>
              <a:buNone/>
              <a:defRPr/>
            </a:pPr>
            <a:endParaRPr lang="en-US" sz="1600" dirty="0">
              <a:solidFill>
                <a:schemeClr val="accent2"/>
              </a:solidFill>
              <a:latin typeface="Consolas" panose="020B0609020204030204" pitchFamily="49" charset="0"/>
              <a:cs typeface="Courier New" pitchFamily="49" charset="0"/>
            </a:endParaRPr>
          </a:p>
        </p:txBody>
      </p:sp>
      <p:sp>
        <p:nvSpPr>
          <p:cNvPr id="5" name="TextBox 4"/>
          <p:cNvSpPr txBox="1"/>
          <p:nvPr/>
        </p:nvSpPr>
        <p:spPr>
          <a:xfrm>
            <a:off x="5842387" y="1336367"/>
            <a:ext cx="2501660" cy="369332"/>
          </a:xfrm>
          <a:prstGeom prst="rect">
            <a:avLst/>
          </a:prstGeom>
          <a:noFill/>
          <a:ln>
            <a:solidFill>
              <a:schemeClr val="accent1"/>
            </a:solidFill>
          </a:ln>
        </p:spPr>
        <p:txBody>
          <a:bodyPr wrap="square" rtlCol="0">
            <a:spAutoFit/>
          </a:bodyPr>
          <a:lstStyle/>
          <a:p>
            <a:r>
              <a:rPr lang="en-US" dirty="0"/>
              <a:t>Function prototype</a:t>
            </a:r>
          </a:p>
        </p:txBody>
      </p:sp>
      <p:cxnSp>
        <p:nvCxnSpPr>
          <p:cNvPr id="7" name="Straight Arrow Connector 6"/>
          <p:cNvCxnSpPr>
            <a:stCxn id="5" idx="1"/>
          </p:cNvCxnSpPr>
          <p:nvPr/>
        </p:nvCxnSpPr>
        <p:spPr bwMode="auto">
          <a:xfrm flipH="1">
            <a:off x="4964583" y="1521033"/>
            <a:ext cx="877804" cy="8862"/>
          </a:xfrm>
          <a:prstGeom prst="straightConnector1">
            <a:avLst/>
          </a:prstGeom>
          <a:solidFill>
            <a:srgbClr val="C0C0C0"/>
          </a:solidFill>
          <a:ln w="9525" cap="flat" cmpd="sng" algn="ctr">
            <a:solidFill>
              <a:schemeClr val="tx1"/>
            </a:solidFill>
            <a:prstDash val="solid"/>
            <a:round/>
            <a:headEnd type="none" w="med" len="med"/>
            <a:tailEnd type="triangle"/>
          </a:ln>
          <a:effectLst/>
        </p:spPr>
      </p:cxnSp>
      <p:sp>
        <p:nvSpPr>
          <p:cNvPr id="9" name="Slide Number Placeholder 8"/>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8</a:t>
            </a:fld>
            <a:endParaRPr lang="en-US" altLang="tr-TR">
              <a:ea typeface="ＭＳ Ｐゴシック" panose="020B0600070205080204" pitchFamily="34" charset="-128"/>
            </a:endParaRPr>
          </a:p>
        </p:txBody>
      </p:sp>
      <p:pic>
        <p:nvPicPr>
          <p:cNvPr id="8" name="Picture 7" descr="C:\Users\agaoglu\agaoglu-docs\courses-recent\computer-programming\cse1142-2019-2020-2\source-codes-c\functions\C23_10_power.ex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9752" y="4375477"/>
            <a:ext cx="4105848" cy="164805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626356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Prototypes</a:t>
            </a:r>
          </a:p>
        </p:txBody>
      </p:sp>
      <p:sp>
        <p:nvSpPr>
          <p:cNvPr id="3" name="Content Placeholder 2"/>
          <p:cNvSpPr>
            <a:spLocks noGrp="1"/>
          </p:cNvSpPr>
          <p:nvPr>
            <p:ph idx="1"/>
          </p:nvPr>
        </p:nvSpPr>
        <p:spPr>
          <a:xfrm>
            <a:off x="304800" y="885234"/>
            <a:ext cx="11480800" cy="5193723"/>
          </a:xfrm>
        </p:spPr>
        <p:txBody>
          <a:bodyPr/>
          <a:lstStyle/>
          <a:p>
            <a:r>
              <a:rPr lang="en-US" altLang="en-US" dirty="0">
                <a:solidFill>
                  <a:srgbClr val="000000"/>
                </a:solidFill>
              </a:rPr>
              <a:t>An important feature of C is the function prototype</a:t>
            </a:r>
            <a:r>
              <a:rPr lang="en-US" altLang="en-US" dirty="0" smtClean="0">
                <a:solidFill>
                  <a:srgbClr val="000000"/>
                </a:solidFill>
              </a:rPr>
              <a:t>.</a:t>
            </a:r>
            <a:endParaRPr lang="tr-TR" altLang="en-US" dirty="0" smtClean="0">
              <a:solidFill>
                <a:srgbClr val="000000"/>
              </a:solidFill>
            </a:endParaRPr>
          </a:p>
          <a:p>
            <a:pPr lvl="4"/>
            <a:endParaRPr lang="en-US" altLang="en-US" dirty="0">
              <a:solidFill>
                <a:srgbClr val="000000"/>
              </a:solidFill>
            </a:endParaRPr>
          </a:p>
          <a:p>
            <a:r>
              <a:rPr lang="en-US" altLang="en-US" dirty="0">
                <a:solidFill>
                  <a:srgbClr val="000000"/>
                </a:solidFill>
              </a:rPr>
              <a:t>The compiler uses function prototypes to validate function calls. </a:t>
            </a:r>
          </a:p>
          <a:p>
            <a:pPr marL="1354138" lvl="4" indent="-342900"/>
            <a:endParaRPr lang="tr-TR" altLang="en-US" dirty="0" smtClean="0">
              <a:solidFill>
                <a:srgbClr val="000000"/>
              </a:solidFill>
            </a:endParaRPr>
          </a:p>
          <a:p>
            <a:pPr marL="342900" lvl="1" indent="-342900">
              <a:buClr>
                <a:schemeClr val="accent1"/>
              </a:buClr>
              <a:buSzPct val="65000"/>
              <a:buFont typeface="Wingdings" panose="05000000000000000000" pitchFamily="2" charset="2"/>
              <a:buChar char="n"/>
            </a:pPr>
            <a:r>
              <a:rPr lang="en-US" altLang="en-US" dirty="0" smtClean="0">
                <a:solidFill>
                  <a:srgbClr val="000000"/>
                </a:solidFill>
              </a:rPr>
              <a:t>The </a:t>
            </a:r>
            <a:r>
              <a:rPr lang="en-US" altLang="en-US" dirty="0">
                <a:solidFill>
                  <a:srgbClr val="000000"/>
                </a:solidFill>
              </a:rPr>
              <a:t>following prototype states that power takes two arguments of type </a:t>
            </a:r>
            <a:r>
              <a:rPr lang="en-US" altLang="en-US" b="1" dirty="0">
                <a:solidFill>
                  <a:srgbClr val="000000"/>
                </a:solidFill>
              </a:rPr>
              <a:t>float</a:t>
            </a:r>
            <a:r>
              <a:rPr lang="en-US" altLang="en-US" dirty="0">
                <a:solidFill>
                  <a:srgbClr val="000000"/>
                </a:solidFill>
              </a:rPr>
              <a:t> and </a:t>
            </a:r>
            <a:r>
              <a:rPr lang="en-US" altLang="en-US" b="1" dirty="0" err="1">
                <a:solidFill>
                  <a:srgbClr val="000000"/>
                </a:solidFill>
              </a:rPr>
              <a:t>int</a:t>
            </a:r>
            <a:r>
              <a:rPr lang="en-US" altLang="en-US" dirty="0">
                <a:solidFill>
                  <a:srgbClr val="000000"/>
                </a:solidFill>
              </a:rPr>
              <a:t> and returns a result of type </a:t>
            </a:r>
            <a:r>
              <a:rPr lang="en-US" altLang="en-US" b="1" dirty="0">
                <a:solidFill>
                  <a:srgbClr val="000000"/>
                </a:solidFill>
              </a:rPr>
              <a:t>float</a:t>
            </a:r>
            <a:r>
              <a:rPr lang="en-US" altLang="en-US" dirty="0">
                <a:solidFill>
                  <a:srgbClr val="000000"/>
                </a:solidFill>
              </a:rPr>
              <a:t>. </a:t>
            </a:r>
            <a:endParaRPr lang="en-US" b="1" dirty="0">
              <a:solidFill>
                <a:schemeClr val="accent2"/>
              </a:solidFill>
              <a:cs typeface="Courier New" pitchFamily="49" charset="0"/>
            </a:endParaRPr>
          </a:p>
          <a:p>
            <a:pPr marL="695325" lvl="2" indent="-342900"/>
            <a:r>
              <a:rPr lang="en-US" b="1" dirty="0">
                <a:solidFill>
                  <a:schemeClr val="accent2"/>
                </a:solidFill>
                <a:latin typeface="Courier New" pitchFamily="49" charset="0"/>
                <a:cs typeface="Courier New" pitchFamily="49" charset="0"/>
              </a:rPr>
              <a:t>float power(float a, </a:t>
            </a:r>
            <a:r>
              <a:rPr lang="en-US" b="1" dirty="0" err="1">
                <a:solidFill>
                  <a:schemeClr val="accent2"/>
                </a:solidFill>
                <a:latin typeface="Courier New" pitchFamily="49" charset="0"/>
                <a:cs typeface="Courier New" pitchFamily="49" charset="0"/>
              </a:rPr>
              <a:t>int</a:t>
            </a:r>
            <a:r>
              <a:rPr lang="en-US" b="1" dirty="0">
                <a:solidFill>
                  <a:schemeClr val="accent2"/>
                </a:solidFill>
                <a:latin typeface="Courier New" pitchFamily="49" charset="0"/>
                <a:cs typeface="Courier New" pitchFamily="49" charset="0"/>
              </a:rPr>
              <a:t> b);</a:t>
            </a:r>
          </a:p>
          <a:p>
            <a:pPr lvl="4"/>
            <a:endParaRPr lang="tr-TR" altLang="en-US" dirty="0" smtClean="0">
              <a:solidFill>
                <a:srgbClr val="000000"/>
              </a:solidFill>
            </a:endParaRPr>
          </a:p>
          <a:p>
            <a:r>
              <a:rPr lang="en-US" altLang="en-US" dirty="0" smtClean="0">
                <a:solidFill>
                  <a:srgbClr val="000000"/>
                </a:solidFill>
              </a:rPr>
              <a:t>Notice </a:t>
            </a:r>
            <a:r>
              <a:rPr lang="en-US" altLang="en-US" dirty="0">
                <a:solidFill>
                  <a:srgbClr val="000000"/>
                </a:solidFill>
              </a:rPr>
              <a:t>that the function prototype is the same as the first line of power’s function definition</a:t>
            </a:r>
            <a:r>
              <a:rPr lang="en-US" altLang="en-US" dirty="0">
                <a:solidFill>
                  <a:srgbClr val="000000"/>
                </a:solidFill>
                <a:latin typeface="Cambria" panose="02040503050406030204" pitchFamily="18" charset="0"/>
              </a:rPr>
              <a:t>. </a:t>
            </a:r>
          </a:p>
          <a:p>
            <a:pPr lvl="4"/>
            <a:endParaRPr lang="tr-TR" altLang="en-US" dirty="0" smtClean="0">
              <a:solidFill>
                <a:srgbClr val="000000"/>
              </a:solidFill>
            </a:endParaRPr>
          </a:p>
          <a:p>
            <a:r>
              <a:rPr lang="en-US" altLang="en-US" dirty="0" smtClean="0">
                <a:solidFill>
                  <a:srgbClr val="000000"/>
                </a:solidFill>
              </a:rPr>
              <a:t>Include </a:t>
            </a:r>
            <a:r>
              <a:rPr lang="en-US" altLang="en-US" dirty="0">
                <a:solidFill>
                  <a:srgbClr val="000000"/>
                </a:solidFill>
              </a:rPr>
              <a:t>parameter names in function prototypes for documentation purposes. </a:t>
            </a:r>
          </a:p>
          <a:p>
            <a:pPr lvl="1"/>
            <a:r>
              <a:rPr lang="en-US" altLang="en-US" dirty="0">
                <a:solidFill>
                  <a:srgbClr val="000000"/>
                </a:solidFill>
              </a:rPr>
              <a:t>The compiler ignores these names, so the prototype </a:t>
            </a:r>
            <a:r>
              <a:rPr lang="en-US" sz="2000" b="1" dirty="0">
                <a:solidFill>
                  <a:schemeClr val="accent2"/>
                </a:solidFill>
                <a:latin typeface="Courier New" pitchFamily="49" charset="0"/>
                <a:cs typeface="Courier New" pitchFamily="49" charset="0"/>
              </a:rPr>
              <a:t>float power(float, </a:t>
            </a:r>
            <a:r>
              <a:rPr lang="en-US" sz="2000" b="1" dirty="0" err="1">
                <a:solidFill>
                  <a:schemeClr val="accent2"/>
                </a:solidFill>
                <a:latin typeface="Courier New" pitchFamily="49" charset="0"/>
                <a:cs typeface="Courier New" pitchFamily="49" charset="0"/>
              </a:rPr>
              <a:t>int</a:t>
            </a:r>
            <a:r>
              <a:rPr lang="en-US" sz="2000" b="1" dirty="0">
                <a:solidFill>
                  <a:schemeClr val="accent2"/>
                </a:solidFill>
                <a:latin typeface="Courier New" pitchFamily="49" charset="0"/>
                <a:cs typeface="Courier New" pitchFamily="49" charset="0"/>
              </a:rPr>
              <a:t>); </a:t>
            </a:r>
            <a:r>
              <a:rPr lang="en-US" dirty="0">
                <a:solidFill>
                  <a:srgbClr val="000000"/>
                </a:solidFill>
              </a:rPr>
              <a:t>is also valid.</a:t>
            </a:r>
          </a:p>
          <a:p>
            <a:pPr lvl="1"/>
            <a:r>
              <a:rPr lang="en-US" dirty="0">
                <a:solidFill>
                  <a:srgbClr val="000000"/>
                </a:solidFill>
              </a:rPr>
              <a:t>Forgetting the semicolon at the end of a function prototype is a syntax error.</a:t>
            </a:r>
          </a:p>
          <a:p>
            <a:pPr lvl="1"/>
            <a:endParaRPr lang="en-US" altLang="en-US" dirty="0">
              <a:solidFill>
                <a:srgbClr val="000000"/>
              </a:solidFill>
              <a:latin typeface="Cambria" panose="02040503050406030204" pitchFamily="18" charset="0"/>
            </a:endParaRPr>
          </a:p>
          <a:p>
            <a:endParaRPr lang="en-US" altLang="en-US" dirty="0">
              <a:solidFill>
                <a:srgbClr val="000000"/>
              </a:solidFill>
              <a:latin typeface="Cambria" panose="02040503050406030204" pitchFamily="18" charset="0"/>
            </a:endParaRPr>
          </a:p>
          <a:p>
            <a:endParaRPr lang="en-US"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9</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22121965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Prototypes (cont.)</a:t>
            </a:r>
          </a:p>
        </p:txBody>
      </p:sp>
      <p:sp>
        <p:nvSpPr>
          <p:cNvPr id="3" name="Content Placeholder 2"/>
          <p:cNvSpPr>
            <a:spLocks noGrp="1"/>
          </p:cNvSpPr>
          <p:nvPr>
            <p:ph idx="1"/>
          </p:nvPr>
        </p:nvSpPr>
        <p:spPr>
          <a:xfrm>
            <a:off x="304800" y="1106905"/>
            <a:ext cx="11480800" cy="4972052"/>
          </a:xfrm>
        </p:spPr>
        <p:txBody>
          <a:bodyPr/>
          <a:lstStyle/>
          <a:p>
            <a:pPr eaLnBrk="1" hangingPunct="1">
              <a:defRPr/>
            </a:pPr>
            <a:r>
              <a:rPr lang="en-US" dirty="0">
                <a:solidFill>
                  <a:srgbClr val="000000"/>
                </a:solidFill>
              </a:rPr>
              <a:t>A function call that does not match the function prototype is a compilation error. </a:t>
            </a:r>
          </a:p>
          <a:p>
            <a:pPr eaLnBrk="1" hangingPunct="1">
              <a:defRPr/>
            </a:pPr>
            <a:endParaRPr lang="tr-TR" dirty="0" smtClean="0">
              <a:solidFill>
                <a:srgbClr val="000000"/>
              </a:solidFill>
            </a:endParaRPr>
          </a:p>
          <a:p>
            <a:pPr eaLnBrk="1" hangingPunct="1">
              <a:defRPr/>
            </a:pPr>
            <a:endParaRPr lang="en-US" dirty="0">
              <a:solidFill>
                <a:srgbClr val="000000"/>
              </a:solidFill>
            </a:endParaRPr>
          </a:p>
          <a:p>
            <a:pPr eaLnBrk="1" hangingPunct="1"/>
            <a:r>
              <a:rPr lang="en-US" altLang="en-US" dirty="0">
                <a:solidFill>
                  <a:srgbClr val="000000"/>
                </a:solidFill>
              </a:rPr>
              <a:t>If there is no function prototype for a function before its use in main function, it leads to warnings or errors, depending on the compiler. </a:t>
            </a:r>
          </a:p>
          <a:p>
            <a:pPr lvl="4" eaLnBrk="1" hangingPunct="1"/>
            <a:endParaRPr lang="tr-TR" altLang="en-US" dirty="0" smtClean="0">
              <a:solidFill>
                <a:srgbClr val="000000"/>
              </a:solidFill>
            </a:endParaRPr>
          </a:p>
          <a:p>
            <a:pPr lvl="1" eaLnBrk="1" hangingPunct="1"/>
            <a:r>
              <a:rPr lang="en-US" altLang="en-US" dirty="0" smtClean="0">
                <a:solidFill>
                  <a:srgbClr val="000000"/>
                </a:solidFill>
              </a:rPr>
              <a:t>Since </a:t>
            </a:r>
            <a:r>
              <a:rPr lang="en-US" altLang="en-US" dirty="0">
                <a:solidFill>
                  <a:srgbClr val="000000"/>
                </a:solidFill>
              </a:rPr>
              <a:t>C is a single-pass language.</a:t>
            </a:r>
          </a:p>
          <a:p>
            <a:pPr lvl="4" eaLnBrk="1" hangingPunct="1"/>
            <a:endParaRPr lang="tr-TR" altLang="en-US" dirty="0" smtClean="0">
              <a:solidFill>
                <a:srgbClr val="000000"/>
              </a:solidFill>
            </a:endParaRPr>
          </a:p>
          <a:p>
            <a:pPr lvl="1" eaLnBrk="1" hangingPunct="1"/>
            <a:r>
              <a:rPr lang="en-US" altLang="en-US" dirty="0" smtClean="0">
                <a:solidFill>
                  <a:srgbClr val="000000"/>
                </a:solidFill>
              </a:rPr>
              <a:t>The </a:t>
            </a:r>
            <a:r>
              <a:rPr lang="en-US" altLang="en-US" dirty="0">
                <a:solidFill>
                  <a:srgbClr val="000000"/>
                </a:solidFill>
              </a:rPr>
              <a:t>compiler does not look ahead to see the definition of a function or variable. </a:t>
            </a:r>
          </a:p>
          <a:p>
            <a:pPr lvl="4" eaLnBrk="1" hangingPunct="1"/>
            <a:endParaRPr lang="tr-TR" altLang="en-US" dirty="0" smtClean="0">
              <a:solidFill>
                <a:srgbClr val="000000"/>
              </a:solidFill>
            </a:endParaRPr>
          </a:p>
          <a:p>
            <a:pPr lvl="1" eaLnBrk="1" hangingPunct="1"/>
            <a:r>
              <a:rPr lang="en-US" altLang="en-US" dirty="0" smtClean="0">
                <a:solidFill>
                  <a:srgbClr val="000000"/>
                </a:solidFill>
              </a:rPr>
              <a:t>The </a:t>
            </a:r>
            <a:r>
              <a:rPr lang="en-US" altLang="en-US" dirty="0">
                <a:solidFill>
                  <a:srgbClr val="000000"/>
                </a:solidFill>
              </a:rPr>
              <a:t>declaration of a function must come before the use of the function, otherwise the compiler does not know what its type signature is. </a:t>
            </a:r>
          </a:p>
          <a:p>
            <a:pPr marL="0" indent="0" eaLnBrk="1" hangingPunct="1">
              <a:buNone/>
            </a:pPr>
            <a:endParaRPr lang="en-US" altLang="en-US" dirty="0">
              <a:solidFill>
                <a:srgbClr val="000000"/>
              </a:solidFill>
            </a:endParaRPr>
          </a:p>
          <a:p>
            <a:pPr eaLnBrk="1" hangingPunct="1">
              <a:defRPr/>
            </a:pPr>
            <a:endParaRPr lang="en-US" dirty="0">
              <a:solidFill>
                <a:srgbClr val="000000"/>
              </a:solidFill>
            </a:endParaRPr>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10</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0977210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ltLang="tr-TR" dirty="0"/>
              <a:t>Functions</a:t>
            </a:r>
            <a:r>
              <a:rPr lang="tr-TR" altLang="tr-TR" dirty="0"/>
              <a:t> – Input &amp; Outputs</a:t>
            </a:r>
            <a:endParaRPr lang="en-US" altLang="tr-TR" dirty="0"/>
          </a:p>
        </p:txBody>
      </p:sp>
      <p:sp>
        <p:nvSpPr>
          <p:cNvPr id="8195" name="Content Placeholder 2"/>
          <p:cNvSpPr>
            <a:spLocks noGrp="1"/>
          </p:cNvSpPr>
          <p:nvPr>
            <p:ph idx="1"/>
          </p:nvPr>
        </p:nvSpPr>
        <p:spPr/>
        <p:txBody>
          <a:bodyPr/>
          <a:lstStyle/>
          <a:p>
            <a:r>
              <a:rPr lang="en-US" altLang="tr-TR" dirty="0"/>
              <a:t>We will cover functions in the following order:</a:t>
            </a:r>
          </a:p>
          <a:p>
            <a:pPr lvl="4"/>
            <a:endParaRPr lang="tr-TR" altLang="tr-TR" dirty="0" smtClean="0"/>
          </a:p>
          <a:p>
            <a:pPr lvl="1"/>
            <a:r>
              <a:rPr lang="en-US" altLang="tr-TR" dirty="0" smtClean="0"/>
              <a:t>Void </a:t>
            </a:r>
            <a:r>
              <a:rPr lang="en-US" altLang="tr-TR" dirty="0"/>
              <a:t>functions</a:t>
            </a:r>
          </a:p>
          <a:p>
            <a:pPr lvl="4"/>
            <a:endParaRPr lang="tr-TR" altLang="tr-TR" dirty="0" smtClean="0"/>
          </a:p>
          <a:p>
            <a:pPr lvl="1"/>
            <a:r>
              <a:rPr lang="en-US" altLang="tr-TR" dirty="0" smtClean="0"/>
              <a:t>Functions </a:t>
            </a:r>
            <a:r>
              <a:rPr lang="en-US" altLang="tr-TR" dirty="0"/>
              <a:t>without parameters</a:t>
            </a:r>
          </a:p>
          <a:p>
            <a:pPr lvl="4"/>
            <a:endParaRPr lang="tr-TR" altLang="tr-TR" dirty="0" smtClean="0"/>
          </a:p>
          <a:p>
            <a:pPr lvl="1"/>
            <a:r>
              <a:rPr lang="en-US" altLang="tr-TR" dirty="0" smtClean="0"/>
              <a:t>Functions </a:t>
            </a:r>
            <a:r>
              <a:rPr lang="en-US" altLang="tr-TR" dirty="0"/>
              <a:t>with parameters</a:t>
            </a:r>
          </a:p>
          <a:p>
            <a:pPr lvl="4"/>
            <a:endParaRPr lang="tr-TR" altLang="tr-TR" dirty="0" smtClean="0"/>
          </a:p>
          <a:p>
            <a:pPr lvl="1"/>
            <a:r>
              <a:rPr lang="en-US" altLang="tr-TR" dirty="0" smtClean="0"/>
              <a:t>Functions </a:t>
            </a:r>
            <a:r>
              <a:rPr lang="en-US" altLang="tr-TR" dirty="0"/>
              <a:t>that return a value</a:t>
            </a:r>
          </a:p>
          <a:p>
            <a:pPr lvl="4"/>
            <a:endParaRPr lang="tr-TR" altLang="tr-TR" dirty="0" smtClean="0"/>
          </a:p>
          <a:p>
            <a:pPr lvl="1"/>
            <a:r>
              <a:rPr lang="en-US" altLang="tr-TR" dirty="0" smtClean="0"/>
              <a:t>Functions </a:t>
            </a:r>
            <a:r>
              <a:rPr lang="en-US" altLang="tr-TR" dirty="0"/>
              <a:t>that alter their parameters</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11</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88091121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ltLang="tr-TR" sz="2800" dirty="0"/>
              <a:t>Example: power() function with parameters</a:t>
            </a:r>
          </a:p>
        </p:txBody>
      </p:sp>
      <p:sp>
        <p:nvSpPr>
          <p:cNvPr id="9219" name="Content Placeholder 2"/>
          <p:cNvSpPr>
            <a:spLocks noGrp="1"/>
          </p:cNvSpPr>
          <p:nvPr>
            <p:ph idx="1"/>
          </p:nvPr>
        </p:nvSpPr>
        <p:spPr/>
        <p:txBody>
          <a:bodyPr/>
          <a:lstStyle/>
          <a:p>
            <a:pPr lvl="1">
              <a:buFontTx/>
              <a:buNone/>
            </a:pPr>
            <a:r>
              <a:rPr lang="en-US" altLang="tr-TR" dirty="0">
                <a:solidFill>
                  <a:schemeClr val="accent2"/>
                </a:solidFill>
                <a:latin typeface="Consolas" panose="020B0609020204030204" pitchFamily="49" charset="0"/>
                <a:cs typeface="Courier New" panose="02070309020205020404" pitchFamily="49" charset="0"/>
              </a:rPr>
              <a:t>float power(float a, </a:t>
            </a:r>
            <a:r>
              <a:rPr lang="en-US" altLang="tr-TR" dirty="0" err="1">
                <a:solidFill>
                  <a:schemeClr val="accent2"/>
                </a:solidFill>
                <a:latin typeface="Consolas" panose="020B0609020204030204" pitchFamily="49" charset="0"/>
                <a:cs typeface="Courier New" panose="02070309020205020404" pitchFamily="49" charset="0"/>
              </a:rPr>
              <a:t>int</a:t>
            </a:r>
            <a:r>
              <a:rPr lang="en-US" altLang="tr-TR" dirty="0">
                <a:solidFill>
                  <a:schemeClr val="accent2"/>
                </a:solidFill>
                <a:latin typeface="Consolas" panose="020B0609020204030204" pitchFamily="49" charset="0"/>
                <a:cs typeface="Courier New" panose="02070309020205020404" pitchFamily="49" charset="0"/>
              </a:rPr>
              <a:t> b)</a:t>
            </a:r>
          </a:p>
          <a:p>
            <a:pPr lvl="1">
              <a:buFontTx/>
              <a:buNone/>
            </a:pPr>
            <a:r>
              <a:rPr lang="en-US" altLang="tr-TR" dirty="0">
                <a:solidFill>
                  <a:schemeClr val="accent2"/>
                </a:solidFill>
                <a:latin typeface="Consolas" panose="020B0609020204030204" pitchFamily="49" charset="0"/>
                <a:cs typeface="Courier New" panose="02070309020205020404" pitchFamily="49" charset="0"/>
              </a:rPr>
              <a:t>{</a:t>
            </a:r>
          </a:p>
          <a:p>
            <a:pPr lvl="1">
              <a:buFontTx/>
              <a:buNone/>
            </a:pPr>
            <a:r>
              <a:rPr lang="en-US" altLang="tr-TR" dirty="0">
                <a:solidFill>
                  <a:schemeClr val="accent2"/>
                </a:solidFill>
                <a:latin typeface="Consolas" panose="020B0609020204030204" pitchFamily="49" charset="0"/>
                <a:cs typeface="Courier New" panose="02070309020205020404" pitchFamily="49" charset="0"/>
              </a:rPr>
              <a:t>   float result=1;</a:t>
            </a:r>
          </a:p>
          <a:p>
            <a:pPr lvl="1">
              <a:buFontTx/>
              <a:buNone/>
            </a:pPr>
            <a:endParaRPr lang="en-US" altLang="tr-TR" dirty="0">
              <a:solidFill>
                <a:schemeClr val="accent2"/>
              </a:solidFill>
              <a:latin typeface="Consolas" panose="020B0609020204030204" pitchFamily="49" charset="0"/>
              <a:cs typeface="Courier New" panose="02070309020205020404" pitchFamily="49" charset="0"/>
            </a:endParaRPr>
          </a:p>
          <a:p>
            <a:pPr lvl="1">
              <a:buFontTx/>
              <a:buNone/>
            </a:pPr>
            <a:r>
              <a:rPr lang="en-US" altLang="tr-TR" dirty="0">
                <a:solidFill>
                  <a:schemeClr val="accent2"/>
                </a:solidFill>
                <a:latin typeface="Consolas" panose="020B0609020204030204" pitchFamily="49" charset="0"/>
                <a:cs typeface="Courier New" panose="02070309020205020404" pitchFamily="49" charset="0"/>
              </a:rPr>
              <a:t>   for (; b&gt;0; b--)</a:t>
            </a:r>
          </a:p>
          <a:p>
            <a:pPr lvl="1">
              <a:buFontTx/>
              <a:buNone/>
            </a:pPr>
            <a:r>
              <a:rPr lang="en-US" altLang="tr-TR" dirty="0">
                <a:solidFill>
                  <a:schemeClr val="accent2"/>
                </a:solidFill>
                <a:latin typeface="Consolas" panose="020B0609020204030204" pitchFamily="49" charset="0"/>
                <a:cs typeface="Courier New" panose="02070309020205020404" pitchFamily="49" charset="0"/>
              </a:rPr>
              <a:t>      result *= a;</a:t>
            </a:r>
          </a:p>
          <a:p>
            <a:pPr lvl="1">
              <a:buFontTx/>
              <a:buNone/>
            </a:pPr>
            <a:r>
              <a:rPr lang="en-US" altLang="tr-TR" dirty="0">
                <a:solidFill>
                  <a:schemeClr val="accent2"/>
                </a:solidFill>
                <a:latin typeface="Consolas" panose="020B0609020204030204" pitchFamily="49" charset="0"/>
                <a:cs typeface="Courier New" panose="02070309020205020404" pitchFamily="49" charset="0"/>
              </a:rPr>
              <a:t>   return result;</a:t>
            </a:r>
          </a:p>
          <a:p>
            <a:pPr lvl="1">
              <a:buFontTx/>
              <a:buNone/>
            </a:pPr>
            <a:r>
              <a:rPr lang="en-US" altLang="tr-TR" dirty="0">
                <a:solidFill>
                  <a:schemeClr val="accent2"/>
                </a:solidFill>
                <a:latin typeface="Consolas" panose="020B0609020204030204" pitchFamily="49" charset="0"/>
                <a:cs typeface="Courier New" panose="02070309020205020404" pitchFamily="49" charset="0"/>
              </a:rPr>
              <a:t>}</a:t>
            </a:r>
            <a:endParaRPr lang="en-US" altLang="tr-TR" dirty="0">
              <a:latin typeface="Consolas" panose="020B0609020204030204" pitchFamily="49" charset="0"/>
            </a:endParaRP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12</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3348418933"/>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Call Stack </a:t>
            </a:r>
          </a:p>
        </p:txBody>
      </p:sp>
      <p:sp>
        <p:nvSpPr>
          <p:cNvPr id="3" name="Content Placeholder 2"/>
          <p:cNvSpPr>
            <a:spLocks noGrp="1"/>
          </p:cNvSpPr>
          <p:nvPr>
            <p:ph idx="1"/>
          </p:nvPr>
        </p:nvSpPr>
        <p:spPr/>
        <p:txBody>
          <a:bodyPr/>
          <a:lstStyle/>
          <a:p>
            <a:r>
              <a:rPr lang="en-US" altLang="en-US" dirty="0">
                <a:solidFill>
                  <a:srgbClr val="000000"/>
                </a:solidFill>
              </a:rPr>
              <a:t>To understand how C performs function calls, we first need to consider a data structure (i.e., collection of related data items) known as a </a:t>
            </a:r>
            <a:r>
              <a:rPr lang="en-US" altLang="en-US" dirty="0">
                <a:solidFill>
                  <a:srgbClr val="0000FF"/>
                </a:solidFill>
              </a:rPr>
              <a:t>stack</a:t>
            </a:r>
            <a:r>
              <a:rPr lang="en-US" altLang="en-US" dirty="0">
                <a:solidFill>
                  <a:srgbClr val="000000"/>
                </a:solidFill>
              </a:rPr>
              <a:t>. </a:t>
            </a:r>
          </a:p>
          <a:p>
            <a:endParaRPr lang="en-US" altLang="en-US" dirty="0">
              <a:solidFill>
                <a:srgbClr val="000000"/>
              </a:solidFill>
            </a:endParaRPr>
          </a:p>
          <a:p>
            <a:pPr eaLnBrk="1" hangingPunct="1">
              <a:lnSpc>
                <a:spcPct val="80000"/>
              </a:lnSpc>
            </a:pPr>
            <a:r>
              <a:rPr lang="en-US" altLang="en-US" dirty="0">
                <a:solidFill>
                  <a:srgbClr val="000000"/>
                </a:solidFill>
              </a:rPr>
              <a:t>Think of a stack as analogous to a pile of dishes. </a:t>
            </a:r>
          </a:p>
          <a:p>
            <a:pPr eaLnBrk="1" hangingPunct="1">
              <a:lnSpc>
                <a:spcPct val="80000"/>
              </a:lnSpc>
            </a:pPr>
            <a:endParaRPr lang="en-US" altLang="en-US" dirty="0">
              <a:solidFill>
                <a:srgbClr val="000000"/>
              </a:solidFill>
            </a:endParaRPr>
          </a:p>
          <a:p>
            <a:pPr eaLnBrk="1" hangingPunct="1">
              <a:lnSpc>
                <a:spcPct val="80000"/>
              </a:lnSpc>
            </a:pPr>
            <a:r>
              <a:rPr lang="en-US" altLang="en-US" dirty="0">
                <a:solidFill>
                  <a:srgbClr val="000000"/>
                </a:solidFill>
              </a:rPr>
              <a:t>When a dish is placed on the pile, it’s normally placed at the top (referred to as </a:t>
            </a:r>
            <a:r>
              <a:rPr lang="en-US" altLang="en-US" dirty="0">
                <a:solidFill>
                  <a:srgbClr val="0000FF"/>
                </a:solidFill>
              </a:rPr>
              <a:t>pushing </a:t>
            </a:r>
            <a:r>
              <a:rPr lang="en-US" altLang="en-US" dirty="0">
                <a:solidFill>
                  <a:srgbClr val="000000"/>
                </a:solidFill>
              </a:rPr>
              <a:t>the dish onto the stack). </a:t>
            </a:r>
          </a:p>
          <a:p>
            <a:pPr eaLnBrk="1" hangingPunct="1">
              <a:lnSpc>
                <a:spcPct val="80000"/>
              </a:lnSpc>
            </a:pPr>
            <a:endParaRPr lang="en-US" altLang="en-US" dirty="0">
              <a:solidFill>
                <a:srgbClr val="000000"/>
              </a:solidFill>
            </a:endParaRPr>
          </a:p>
          <a:p>
            <a:pPr eaLnBrk="1" hangingPunct="1">
              <a:lnSpc>
                <a:spcPct val="80000"/>
              </a:lnSpc>
            </a:pPr>
            <a:r>
              <a:rPr lang="en-US" altLang="en-US" dirty="0">
                <a:solidFill>
                  <a:srgbClr val="000000"/>
                </a:solidFill>
              </a:rPr>
              <a:t>Similarly, when a dish is removed from the pile, it’s normally removed from the top (referred to as </a:t>
            </a:r>
            <a:r>
              <a:rPr lang="en-US" altLang="en-US" dirty="0">
                <a:solidFill>
                  <a:srgbClr val="0000FF"/>
                </a:solidFill>
              </a:rPr>
              <a:t>popping </a:t>
            </a:r>
            <a:r>
              <a:rPr lang="en-US" altLang="en-US" dirty="0">
                <a:solidFill>
                  <a:srgbClr val="000000"/>
                </a:solidFill>
              </a:rPr>
              <a:t>the dish off the stack). </a:t>
            </a:r>
          </a:p>
          <a:p>
            <a:pPr eaLnBrk="1" hangingPunct="1">
              <a:lnSpc>
                <a:spcPct val="80000"/>
              </a:lnSpc>
            </a:pPr>
            <a:endParaRPr lang="en-US" altLang="en-US" dirty="0">
              <a:solidFill>
                <a:srgbClr val="000000"/>
              </a:solidFill>
            </a:endParaRPr>
          </a:p>
          <a:p>
            <a:pPr eaLnBrk="1" hangingPunct="1">
              <a:lnSpc>
                <a:spcPct val="80000"/>
              </a:lnSpc>
            </a:pPr>
            <a:r>
              <a:rPr lang="en-US" altLang="en-US" dirty="0">
                <a:solidFill>
                  <a:srgbClr val="000000"/>
                </a:solidFill>
              </a:rPr>
              <a:t>Stacks are known as </a:t>
            </a:r>
            <a:r>
              <a:rPr lang="en-US" altLang="en-US" dirty="0">
                <a:solidFill>
                  <a:srgbClr val="0000FF"/>
                </a:solidFill>
              </a:rPr>
              <a:t>last-in, first-out (LIFO) </a:t>
            </a:r>
            <a:r>
              <a:rPr lang="en-US" altLang="en-US" dirty="0">
                <a:solidFill>
                  <a:srgbClr val="000000"/>
                </a:solidFill>
              </a:rPr>
              <a:t>data structures—the </a:t>
            </a:r>
            <a:r>
              <a:rPr lang="en-US" altLang="en-US" i="1" dirty="0">
                <a:solidFill>
                  <a:srgbClr val="000000"/>
                </a:solidFill>
              </a:rPr>
              <a:t>last</a:t>
            </a:r>
            <a:r>
              <a:rPr lang="en-US" altLang="en-US" dirty="0">
                <a:solidFill>
                  <a:srgbClr val="000000"/>
                </a:solidFill>
              </a:rPr>
              <a:t> item pushed (inserted) on the stack is the </a:t>
            </a:r>
            <a:r>
              <a:rPr lang="en-US" altLang="en-US" i="1" dirty="0">
                <a:solidFill>
                  <a:srgbClr val="000000"/>
                </a:solidFill>
              </a:rPr>
              <a:t>first</a:t>
            </a:r>
            <a:r>
              <a:rPr lang="en-US" altLang="en-US" dirty="0">
                <a:solidFill>
                  <a:srgbClr val="000000"/>
                </a:solidFill>
              </a:rPr>
              <a:t> item popped (removed) from the stack. </a:t>
            </a:r>
          </a:p>
          <a:p>
            <a:endParaRPr lang="en-US"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13</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8452650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Call Stack (cont.) </a:t>
            </a:r>
          </a:p>
        </p:txBody>
      </p:sp>
      <p:sp>
        <p:nvSpPr>
          <p:cNvPr id="3" name="Content Placeholder 2"/>
          <p:cNvSpPr>
            <a:spLocks noGrp="1"/>
          </p:cNvSpPr>
          <p:nvPr>
            <p:ph idx="1"/>
          </p:nvPr>
        </p:nvSpPr>
        <p:spPr/>
        <p:txBody>
          <a:bodyPr/>
          <a:lstStyle/>
          <a:p>
            <a:r>
              <a:rPr lang="en-US" altLang="en-US" dirty="0">
                <a:solidFill>
                  <a:srgbClr val="000000"/>
                </a:solidFill>
              </a:rPr>
              <a:t>An important mechanism for computer science students to understand is the </a:t>
            </a:r>
            <a:r>
              <a:rPr lang="en-US" altLang="en-US" dirty="0">
                <a:solidFill>
                  <a:srgbClr val="0000FF"/>
                </a:solidFill>
              </a:rPr>
              <a:t>function call stack </a:t>
            </a:r>
            <a:r>
              <a:rPr lang="en-US" altLang="en-US" dirty="0">
                <a:solidFill>
                  <a:srgbClr val="000000"/>
                </a:solidFill>
              </a:rPr>
              <a:t>(sometimes referred to as the </a:t>
            </a:r>
            <a:r>
              <a:rPr lang="en-US" altLang="en-US" dirty="0">
                <a:solidFill>
                  <a:srgbClr val="0000FF"/>
                </a:solidFill>
              </a:rPr>
              <a:t>program execution stack</a:t>
            </a:r>
            <a:r>
              <a:rPr lang="en-US" altLang="en-US" dirty="0">
                <a:solidFill>
                  <a:srgbClr val="000000"/>
                </a:solidFill>
              </a:rPr>
              <a:t>). </a:t>
            </a:r>
          </a:p>
          <a:p>
            <a:endParaRPr lang="en-US" altLang="en-US" dirty="0">
              <a:solidFill>
                <a:srgbClr val="000000"/>
              </a:solidFill>
            </a:endParaRPr>
          </a:p>
          <a:p>
            <a:r>
              <a:rPr lang="en-US" altLang="en-US" dirty="0">
                <a:solidFill>
                  <a:srgbClr val="000000"/>
                </a:solidFill>
              </a:rPr>
              <a:t>It supports the function call/return mechanism. </a:t>
            </a:r>
          </a:p>
          <a:p>
            <a:endParaRPr lang="en-US" altLang="en-US" dirty="0">
              <a:solidFill>
                <a:srgbClr val="000000"/>
              </a:solidFill>
            </a:endParaRPr>
          </a:p>
          <a:p>
            <a:r>
              <a:rPr lang="en-US" altLang="en-US" dirty="0">
                <a:solidFill>
                  <a:srgbClr val="000000"/>
                </a:solidFill>
              </a:rPr>
              <a:t>Each time a function calls another function, an entry is </a:t>
            </a:r>
            <a:r>
              <a:rPr lang="en-US" altLang="en-US" i="1" dirty="0">
                <a:solidFill>
                  <a:srgbClr val="000000"/>
                </a:solidFill>
              </a:rPr>
              <a:t>pushed</a:t>
            </a:r>
            <a:r>
              <a:rPr lang="en-US" altLang="en-US" dirty="0">
                <a:solidFill>
                  <a:srgbClr val="000000"/>
                </a:solidFill>
              </a:rPr>
              <a:t> onto the stack. </a:t>
            </a:r>
          </a:p>
          <a:p>
            <a:endParaRPr lang="en-US" altLang="en-US" dirty="0">
              <a:solidFill>
                <a:srgbClr val="000000"/>
              </a:solidFill>
            </a:endParaRPr>
          </a:p>
          <a:p>
            <a:r>
              <a:rPr lang="en-US" altLang="en-US" dirty="0">
                <a:solidFill>
                  <a:srgbClr val="000000"/>
                </a:solidFill>
              </a:rPr>
              <a:t>If a function makes a call to another function, a stack frame for the new function call is simply pushed onto the call stack. </a:t>
            </a:r>
          </a:p>
          <a:p>
            <a:endParaRPr lang="en-US" altLang="en-US" dirty="0">
              <a:solidFill>
                <a:srgbClr val="000000"/>
              </a:solidFill>
            </a:endParaRPr>
          </a:p>
          <a:p>
            <a:r>
              <a:rPr lang="en-US" altLang="en-US" dirty="0">
                <a:solidFill>
                  <a:srgbClr val="000000"/>
                </a:solidFill>
              </a:rPr>
              <a:t>If the called function returns, instead of calling another function before returning, the stack frame for the function call is popped.</a:t>
            </a:r>
          </a:p>
          <a:p>
            <a:endParaRPr lang="en-US" altLang="en-US" dirty="0">
              <a:solidFill>
                <a:srgbClr val="000000"/>
              </a:solidFill>
            </a:endParaRPr>
          </a:p>
          <a:p>
            <a:endParaRPr lang="en-US" dirty="0"/>
          </a:p>
        </p:txBody>
      </p:sp>
      <p:sp>
        <p:nvSpPr>
          <p:cNvPr id="5" name="Slide Number Placeholder 4"/>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14</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39962319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Call Stack (cont.) </a:t>
            </a:r>
          </a:p>
        </p:txBody>
      </p:sp>
      <p:sp>
        <p:nvSpPr>
          <p:cNvPr id="3" name="Content Placeholder 2"/>
          <p:cNvSpPr>
            <a:spLocks noGrp="1"/>
          </p:cNvSpPr>
          <p:nvPr>
            <p:ph idx="1"/>
          </p:nvPr>
        </p:nvSpPr>
        <p:spPr/>
        <p:txBody>
          <a:bodyPr/>
          <a:lstStyle/>
          <a:p>
            <a:r>
              <a:rPr lang="en-US" altLang="en-US" dirty="0">
                <a:solidFill>
                  <a:srgbClr val="000000"/>
                </a:solidFill>
              </a:rPr>
              <a:t>The called function’s stack frame is a perfect place to reserve the memory for </a:t>
            </a:r>
            <a:r>
              <a:rPr lang="en-US" altLang="en-US" i="1" dirty="0">
                <a:solidFill>
                  <a:srgbClr val="000000"/>
                </a:solidFill>
              </a:rPr>
              <a:t>local variables</a:t>
            </a:r>
            <a:r>
              <a:rPr lang="en-US" altLang="en-US" dirty="0">
                <a:solidFill>
                  <a:srgbClr val="000000"/>
                </a:solidFill>
              </a:rPr>
              <a:t>. </a:t>
            </a:r>
          </a:p>
          <a:p>
            <a:pPr lvl="1"/>
            <a:endParaRPr lang="en-US" altLang="en-US" dirty="0">
              <a:solidFill>
                <a:srgbClr val="000000"/>
              </a:solidFill>
            </a:endParaRPr>
          </a:p>
          <a:p>
            <a:r>
              <a:rPr lang="en-US" altLang="en-US" dirty="0">
                <a:solidFill>
                  <a:srgbClr val="000000"/>
                </a:solidFill>
              </a:rPr>
              <a:t>That stack frame exists only as long as the called function is active. </a:t>
            </a:r>
          </a:p>
          <a:p>
            <a:pPr lvl="1"/>
            <a:endParaRPr lang="en-US" altLang="en-US" dirty="0">
              <a:solidFill>
                <a:srgbClr val="000000"/>
              </a:solidFill>
            </a:endParaRPr>
          </a:p>
          <a:p>
            <a:r>
              <a:rPr lang="en-US" altLang="en-US" dirty="0">
                <a:solidFill>
                  <a:srgbClr val="000000"/>
                </a:solidFill>
              </a:rPr>
              <a:t>When that function returns, its stack frame is </a:t>
            </a:r>
            <a:r>
              <a:rPr lang="en-US" altLang="en-US" i="1" dirty="0">
                <a:solidFill>
                  <a:srgbClr val="000000"/>
                </a:solidFill>
              </a:rPr>
              <a:t>popped</a:t>
            </a:r>
            <a:r>
              <a:rPr lang="en-US" altLang="en-US" dirty="0">
                <a:solidFill>
                  <a:srgbClr val="000000"/>
                </a:solidFill>
              </a:rPr>
              <a:t> from the stack, and those local variables are no longer known to the program.</a:t>
            </a:r>
          </a:p>
          <a:p>
            <a:pPr lvl="1"/>
            <a:endParaRPr lang="en-US" altLang="en-US" dirty="0">
              <a:solidFill>
                <a:srgbClr val="000000"/>
              </a:solidFill>
            </a:endParaRPr>
          </a:p>
          <a:p>
            <a:r>
              <a:rPr lang="en-US" altLang="en-US" dirty="0">
                <a:solidFill>
                  <a:srgbClr val="000000"/>
                </a:solidFill>
              </a:rPr>
              <a:t>Of course, the amount of memory in a computer is finite, so only a certain amount of memory can be used to store stack frames on the function call stack. </a:t>
            </a:r>
          </a:p>
          <a:p>
            <a:pPr lvl="1"/>
            <a:endParaRPr lang="en-US" altLang="en-US" dirty="0">
              <a:solidFill>
                <a:srgbClr val="000000"/>
              </a:solidFill>
            </a:endParaRPr>
          </a:p>
          <a:p>
            <a:r>
              <a:rPr lang="en-US" altLang="en-US" dirty="0">
                <a:solidFill>
                  <a:srgbClr val="000000"/>
                </a:solidFill>
              </a:rPr>
              <a:t>If more function calls occur than can have their stack frames stored on the function call stack, a </a:t>
            </a:r>
            <a:r>
              <a:rPr lang="en-US" altLang="en-US" i="1" dirty="0">
                <a:solidFill>
                  <a:srgbClr val="000000"/>
                </a:solidFill>
              </a:rPr>
              <a:t>fatal</a:t>
            </a:r>
            <a:r>
              <a:rPr lang="en-US" altLang="en-US" dirty="0">
                <a:solidFill>
                  <a:srgbClr val="000000"/>
                </a:solidFill>
              </a:rPr>
              <a:t> error known as a </a:t>
            </a:r>
            <a:r>
              <a:rPr lang="en-US" altLang="en-US" dirty="0">
                <a:solidFill>
                  <a:srgbClr val="0000FF"/>
                </a:solidFill>
              </a:rPr>
              <a:t>stack overflow</a:t>
            </a:r>
            <a:r>
              <a:rPr lang="en-US" altLang="en-US" dirty="0">
                <a:solidFill>
                  <a:srgbClr val="000000"/>
                </a:solidFill>
              </a:rPr>
              <a:t> occurs. </a:t>
            </a:r>
          </a:p>
          <a:p>
            <a:endParaRPr lang="en-US" altLang="en-US" dirty="0">
              <a:solidFill>
                <a:srgbClr val="000000"/>
              </a:solidFill>
            </a:endParaRPr>
          </a:p>
          <a:p>
            <a:endParaRPr lang="en-US" altLang="en-US" dirty="0">
              <a:solidFill>
                <a:srgbClr val="000000"/>
              </a:solidFill>
            </a:endParaRPr>
          </a:p>
          <a:p>
            <a:endParaRPr lang="en-US" altLang="en-US" dirty="0">
              <a:solidFill>
                <a:srgbClr val="000000"/>
              </a:solidFill>
            </a:endParaRPr>
          </a:p>
          <a:p>
            <a:endParaRPr lang="en-US"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15</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36281737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p:txBody>
          <a:bodyPr/>
          <a:lstStyle/>
          <a:p>
            <a:r>
              <a:rPr lang="en-US" altLang="tr-TR" sz="3200"/>
              <a:t>Changes in parameters are not reflected</a:t>
            </a:r>
          </a:p>
        </p:txBody>
      </p:sp>
      <p:sp>
        <p:nvSpPr>
          <p:cNvPr id="10243" name="Rectangle 3"/>
          <p:cNvSpPr>
            <a:spLocks noGrp="1" noChangeArrowheads="1"/>
          </p:cNvSpPr>
          <p:nvPr>
            <p:ph type="body" idx="4294967295"/>
          </p:nvPr>
        </p:nvSpPr>
        <p:spPr>
          <a:xfrm>
            <a:off x="1782326" y="1219201"/>
            <a:ext cx="5943600" cy="3078163"/>
          </a:xfrm>
        </p:spPr>
        <p:txBody>
          <a:bodyPr/>
          <a:lstStyle/>
          <a:p>
            <a:pPr>
              <a:lnSpc>
                <a:spcPct val="80000"/>
              </a:lnSpc>
              <a:buFontTx/>
              <a:buNone/>
            </a:pPr>
            <a:r>
              <a:rPr lang="en-US" altLang="tr-TR" sz="1400" dirty="0">
                <a:solidFill>
                  <a:srgbClr val="0000C8"/>
                </a:solidFill>
                <a:latin typeface="Consolas" panose="020B0609020204030204" pitchFamily="49" charset="0"/>
              </a:rPr>
              <a:t>#include &lt;</a:t>
            </a:r>
            <a:r>
              <a:rPr lang="en-US" altLang="tr-TR" sz="1400" dirty="0" err="1">
                <a:solidFill>
                  <a:srgbClr val="0000C8"/>
                </a:solidFill>
                <a:latin typeface="Consolas" panose="020B0609020204030204" pitchFamily="49" charset="0"/>
              </a:rPr>
              <a:t>stdio.h</a:t>
            </a:r>
            <a:r>
              <a:rPr lang="en-US" altLang="tr-TR" sz="1400" dirty="0">
                <a:solidFill>
                  <a:srgbClr val="0000C8"/>
                </a:solidFill>
                <a:latin typeface="Consolas" panose="020B0609020204030204" pitchFamily="49" charset="0"/>
              </a:rPr>
              <a:t>&gt;</a:t>
            </a:r>
          </a:p>
          <a:p>
            <a:pPr>
              <a:lnSpc>
                <a:spcPct val="80000"/>
              </a:lnSpc>
              <a:buFontTx/>
              <a:buNone/>
            </a:pPr>
            <a:endParaRPr lang="en-US" altLang="tr-TR" sz="1400" dirty="0">
              <a:solidFill>
                <a:srgbClr val="0000C8"/>
              </a:solidFill>
              <a:latin typeface="Consolas" panose="020B0609020204030204" pitchFamily="49" charset="0"/>
            </a:endParaRPr>
          </a:p>
          <a:p>
            <a:pPr>
              <a:lnSpc>
                <a:spcPct val="80000"/>
              </a:lnSpc>
              <a:buFontTx/>
              <a:buNone/>
            </a:pPr>
            <a:r>
              <a:rPr lang="en-US" altLang="tr-TR" sz="1400" dirty="0">
                <a:solidFill>
                  <a:srgbClr val="0000C8"/>
                </a:solidFill>
                <a:latin typeface="Consolas" panose="020B0609020204030204" pitchFamily="49" charset="0"/>
              </a:rPr>
              <a:t>void f(</a:t>
            </a:r>
            <a:r>
              <a:rPr lang="en-US" altLang="tr-TR" sz="1400" dirty="0" err="1">
                <a:solidFill>
                  <a:srgbClr val="0000C8"/>
                </a:solidFill>
                <a:latin typeface="Consolas" panose="020B0609020204030204" pitchFamily="49" charset="0"/>
              </a:rPr>
              <a:t>int</a:t>
            </a:r>
            <a:r>
              <a:rPr lang="en-US" altLang="tr-TR" sz="1400" dirty="0">
                <a:solidFill>
                  <a:srgbClr val="0000C8"/>
                </a:solidFill>
                <a:latin typeface="Consolas" panose="020B0609020204030204" pitchFamily="49" charset="0"/>
              </a:rPr>
              <a:t> a)</a:t>
            </a:r>
          </a:p>
          <a:p>
            <a:pPr>
              <a:lnSpc>
                <a:spcPct val="80000"/>
              </a:lnSpc>
              <a:buFontTx/>
              <a:buNone/>
            </a:pPr>
            <a:r>
              <a:rPr lang="en-US" altLang="tr-TR" sz="1400" dirty="0">
                <a:solidFill>
                  <a:srgbClr val="0000C8"/>
                </a:solidFill>
                <a:latin typeface="Consolas" panose="020B0609020204030204" pitchFamily="49" charset="0"/>
              </a:rPr>
              <a:t>{</a:t>
            </a:r>
          </a:p>
          <a:p>
            <a:pPr>
              <a:lnSpc>
                <a:spcPct val="80000"/>
              </a:lnSpc>
              <a:buFontTx/>
              <a:buNone/>
            </a:pPr>
            <a:r>
              <a:rPr lang="en-US" altLang="tr-TR" sz="1400" dirty="0">
                <a:solidFill>
                  <a:srgbClr val="0000C8"/>
                </a:solidFill>
                <a:latin typeface="Consolas" panose="020B0609020204030204" pitchFamily="49" charset="0"/>
              </a:rPr>
              <a:t>   a+=5;</a:t>
            </a:r>
          </a:p>
          <a:p>
            <a:pPr>
              <a:lnSpc>
                <a:spcPct val="80000"/>
              </a:lnSpc>
              <a:buFontTx/>
              <a:buNone/>
            </a:pPr>
            <a:r>
              <a:rPr lang="en-US" altLang="tr-TR" sz="1400" dirty="0">
                <a:solidFill>
                  <a:srgbClr val="0000C8"/>
                </a:solidFill>
                <a:latin typeface="Consolas" panose="020B0609020204030204" pitchFamily="49" charset="0"/>
              </a:rPr>
              <a:t>   </a:t>
            </a:r>
            <a:r>
              <a:rPr lang="en-US" altLang="tr-TR" sz="1400" dirty="0" err="1">
                <a:solidFill>
                  <a:srgbClr val="0000C8"/>
                </a:solidFill>
                <a:latin typeface="Consolas" panose="020B0609020204030204" pitchFamily="49" charset="0"/>
              </a:rPr>
              <a:t>printf</a:t>
            </a:r>
            <a:r>
              <a:rPr lang="en-US" altLang="tr-TR" sz="1400" dirty="0">
                <a:solidFill>
                  <a:srgbClr val="0000C8"/>
                </a:solidFill>
                <a:latin typeface="Consolas" panose="020B0609020204030204" pitchFamily="49" charset="0"/>
              </a:rPr>
              <a:t>("in function f(): a=%d\n", a);</a:t>
            </a:r>
          </a:p>
          <a:p>
            <a:pPr>
              <a:lnSpc>
                <a:spcPct val="80000"/>
              </a:lnSpc>
              <a:buFontTx/>
              <a:buNone/>
            </a:pPr>
            <a:r>
              <a:rPr lang="en-US" altLang="tr-TR" sz="1400" dirty="0">
                <a:solidFill>
                  <a:srgbClr val="0000C8"/>
                </a:solidFill>
                <a:latin typeface="Consolas" panose="020B0609020204030204" pitchFamily="49" charset="0"/>
              </a:rPr>
              <a:t>}</a:t>
            </a:r>
          </a:p>
          <a:p>
            <a:pPr>
              <a:lnSpc>
                <a:spcPct val="80000"/>
              </a:lnSpc>
              <a:buFontTx/>
              <a:buNone/>
            </a:pPr>
            <a:endParaRPr lang="en-US" altLang="tr-TR" sz="1400" dirty="0">
              <a:solidFill>
                <a:srgbClr val="0000C8"/>
              </a:solidFill>
              <a:latin typeface="Consolas" panose="020B0609020204030204" pitchFamily="49" charset="0"/>
            </a:endParaRPr>
          </a:p>
          <a:p>
            <a:pPr>
              <a:lnSpc>
                <a:spcPct val="80000"/>
              </a:lnSpc>
              <a:buFontTx/>
              <a:buNone/>
            </a:pPr>
            <a:r>
              <a:rPr lang="en-US" altLang="tr-TR" sz="1400" dirty="0" err="1">
                <a:solidFill>
                  <a:srgbClr val="0000C8"/>
                </a:solidFill>
                <a:latin typeface="Consolas" panose="020B0609020204030204" pitchFamily="49" charset="0"/>
              </a:rPr>
              <a:t>int</a:t>
            </a:r>
            <a:r>
              <a:rPr lang="en-US" altLang="tr-TR" sz="1400" dirty="0">
                <a:solidFill>
                  <a:srgbClr val="0000C8"/>
                </a:solidFill>
                <a:latin typeface="Consolas" panose="020B0609020204030204" pitchFamily="49" charset="0"/>
              </a:rPr>
              <a:t> main()</a:t>
            </a:r>
          </a:p>
          <a:p>
            <a:pPr>
              <a:lnSpc>
                <a:spcPct val="80000"/>
              </a:lnSpc>
              <a:buFontTx/>
              <a:buNone/>
            </a:pPr>
            <a:r>
              <a:rPr lang="en-US" altLang="tr-TR" sz="1400" dirty="0">
                <a:solidFill>
                  <a:srgbClr val="0000C8"/>
                </a:solidFill>
                <a:latin typeface="Consolas" panose="020B0609020204030204" pitchFamily="49" charset="0"/>
              </a:rPr>
              <a:t>{  </a:t>
            </a:r>
            <a:r>
              <a:rPr lang="en-US" altLang="tr-TR" sz="1400" dirty="0" err="1">
                <a:solidFill>
                  <a:srgbClr val="0000C8"/>
                </a:solidFill>
                <a:latin typeface="Consolas" panose="020B0609020204030204" pitchFamily="49" charset="0"/>
              </a:rPr>
              <a:t>int</a:t>
            </a:r>
            <a:r>
              <a:rPr lang="en-US" altLang="tr-TR" sz="1400" dirty="0">
                <a:solidFill>
                  <a:srgbClr val="0000C8"/>
                </a:solidFill>
                <a:latin typeface="Consolas" panose="020B0609020204030204" pitchFamily="49" charset="0"/>
              </a:rPr>
              <a:t> a=10;</a:t>
            </a:r>
          </a:p>
          <a:p>
            <a:pPr>
              <a:lnSpc>
                <a:spcPct val="80000"/>
              </a:lnSpc>
              <a:buFontTx/>
              <a:buNone/>
            </a:pPr>
            <a:r>
              <a:rPr lang="en-US" altLang="tr-TR" sz="1400" dirty="0">
                <a:solidFill>
                  <a:srgbClr val="0000C8"/>
                </a:solidFill>
                <a:latin typeface="Consolas" panose="020B0609020204030204" pitchFamily="49" charset="0"/>
              </a:rPr>
              <a:t>   </a:t>
            </a:r>
            <a:r>
              <a:rPr lang="en-US" altLang="tr-TR" sz="1400" dirty="0" err="1">
                <a:solidFill>
                  <a:srgbClr val="0000C8"/>
                </a:solidFill>
                <a:latin typeface="Consolas" panose="020B0609020204030204" pitchFamily="49" charset="0"/>
              </a:rPr>
              <a:t>printf</a:t>
            </a:r>
            <a:r>
              <a:rPr lang="en-US" altLang="tr-TR" sz="1400" dirty="0">
                <a:solidFill>
                  <a:srgbClr val="0000C8"/>
                </a:solidFill>
                <a:latin typeface="Consolas" panose="020B0609020204030204" pitchFamily="49" charset="0"/>
              </a:rPr>
              <a:t>("in main(), before calling f(): a=%d\</a:t>
            </a:r>
            <a:r>
              <a:rPr lang="en-US" altLang="tr-TR" sz="1400" dirty="0" err="1">
                <a:solidFill>
                  <a:srgbClr val="0000C8"/>
                </a:solidFill>
                <a:latin typeface="Consolas" panose="020B0609020204030204" pitchFamily="49" charset="0"/>
              </a:rPr>
              <a:t>n",a</a:t>
            </a:r>
            <a:r>
              <a:rPr lang="en-US" altLang="tr-TR" sz="1400" dirty="0">
                <a:solidFill>
                  <a:srgbClr val="0000C8"/>
                </a:solidFill>
                <a:latin typeface="Consolas" panose="020B0609020204030204" pitchFamily="49" charset="0"/>
              </a:rPr>
              <a:t>);</a:t>
            </a:r>
          </a:p>
          <a:p>
            <a:pPr>
              <a:lnSpc>
                <a:spcPct val="80000"/>
              </a:lnSpc>
              <a:buFontTx/>
              <a:buNone/>
            </a:pPr>
            <a:r>
              <a:rPr lang="en-US" altLang="tr-TR" sz="1400" dirty="0">
                <a:solidFill>
                  <a:srgbClr val="0000C8"/>
                </a:solidFill>
                <a:latin typeface="Consolas" panose="020B0609020204030204" pitchFamily="49" charset="0"/>
              </a:rPr>
              <a:t>   f(a);</a:t>
            </a:r>
          </a:p>
          <a:p>
            <a:pPr>
              <a:lnSpc>
                <a:spcPct val="80000"/>
              </a:lnSpc>
              <a:buFontTx/>
              <a:buNone/>
            </a:pPr>
            <a:r>
              <a:rPr lang="en-US" altLang="tr-TR" sz="1400" dirty="0">
                <a:solidFill>
                  <a:srgbClr val="0000C8"/>
                </a:solidFill>
                <a:latin typeface="Consolas" panose="020B0609020204030204" pitchFamily="49" charset="0"/>
              </a:rPr>
              <a:t>   </a:t>
            </a:r>
            <a:r>
              <a:rPr lang="en-US" altLang="tr-TR" sz="1400" dirty="0" err="1">
                <a:solidFill>
                  <a:srgbClr val="0000C8"/>
                </a:solidFill>
                <a:latin typeface="Consolas" panose="020B0609020204030204" pitchFamily="49" charset="0"/>
              </a:rPr>
              <a:t>printf</a:t>
            </a:r>
            <a:r>
              <a:rPr lang="en-US" altLang="tr-TR" sz="1400" dirty="0">
                <a:solidFill>
                  <a:srgbClr val="0000C8"/>
                </a:solidFill>
                <a:latin typeface="Consolas" panose="020B0609020204030204" pitchFamily="49" charset="0"/>
              </a:rPr>
              <a:t>("in main(), after calling f(): a=%d\</a:t>
            </a:r>
            <a:r>
              <a:rPr lang="en-US" altLang="tr-TR" sz="1400" dirty="0" err="1">
                <a:solidFill>
                  <a:srgbClr val="0000C8"/>
                </a:solidFill>
                <a:latin typeface="Consolas" panose="020B0609020204030204" pitchFamily="49" charset="0"/>
              </a:rPr>
              <a:t>n",a</a:t>
            </a:r>
            <a:r>
              <a:rPr lang="en-US" altLang="tr-TR" sz="1400" dirty="0">
                <a:solidFill>
                  <a:srgbClr val="0000C8"/>
                </a:solidFill>
                <a:latin typeface="Consolas" panose="020B0609020204030204" pitchFamily="49" charset="0"/>
              </a:rPr>
              <a:t>);</a:t>
            </a:r>
          </a:p>
          <a:p>
            <a:pPr>
              <a:lnSpc>
                <a:spcPct val="80000"/>
              </a:lnSpc>
              <a:buFontTx/>
              <a:buNone/>
            </a:pPr>
            <a:r>
              <a:rPr lang="en-US" altLang="tr-TR" sz="1400" dirty="0">
                <a:solidFill>
                  <a:srgbClr val="0000C8"/>
                </a:solidFill>
                <a:latin typeface="Consolas" panose="020B0609020204030204" pitchFamily="49" charset="0"/>
              </a:rPr>
              <a:t>}</a:t>
            </a:r>
          </a:p>
        </p:txBody>
      </p:sp>
      <p:grpSp>
        <p:nvGrpSpPr>
          <p:cNvPr id="2" name="Group 35"/>
          <p:cNvGrpSpPr>
            <a:grpSpLocks/>
          </p:cNvGrpSpPr>
          <p:nvPr/>
        </p:nvGrpSpPr>
        <p:grpSpPr bwMode="auto">
          <a:xfrm>
            <a:off x="8839201" y="2514600"/>
            <a:ext cx="1508125" cy="3003550"/>
            <a:chOff x="4608" y="1584"/>
            <a:chExt cx="950" cy="1892"/>
          </a:xfrm>
        </p:grpSpPr>
        <p:grpSp>
          <p:nvGrpSpPr>
            <p:cNvPr id="10278" name="Group 7"/>
            <p:cNvGrpSpPr>
              <a:grpSpLocks/>
            </p:cNvGrpSpPr>
            <p:nvPr/>
          </p:nvGrpSpPr>
          <p:grpSpPr bwMode="auto">
            <a:xfrm>
              <a:off x="4608" y="1584"/>
              <a:ext cx="950" cy="1728"/>
              <a:chOff x="4608" y="1584"/>
              <a:chExt cx="950" cy="1728"/>
            </a:xfrm>
          </p:grpSpPr>
          <p:sp>
            <p:nvSpPr>
              <p:cNvPr id="10280" name="Line 4"/>
              <p:cNvSpPr>
                <a:spLocks noChangeShapeType="1"/>
              </p:cNvSpPr>
              <p:nvPr/>
            </p:nvSpPr>
            <p:spPr bwMode="auto">
              <a:xfrm>
                <a:off x="4608" y="1584"/>
                <a:ext cx="0" cy="17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0281" name="Line 5"/>
              <p:cNvSpPr>
                <a:spLocks noChangeShapeType="1"/>
              </p:cNvSpPr>
              <p:nvPr/>
            </p:nvSpPr>
            <p:spPr bwMode="auto">
              <a:xfrm>
                <a:off x="5558" y="1584"/>
                <a:ext cx="0" cy="17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0282" name="Line 6"/>
              <p:cNvSpPr>
                <a:spLocks noChangeShapeType="1"/>
              </p:cNvSpPr>
              <p:nvPr/>
            </p:nvSpPr>
            <p:spPr bwMode="auto">
              <a:xfrm>
                <a:off x="4608" y="3312"/>
                <a:ext cx="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grpSp>
        <p:sp>
          <p:nvSpPr>
            <p:cNvPr id="10279" name="Text Box 8"/>
            <p:cNvSpPr txBox="1">
              <a:spLocks noChangeArrowheads="1"/>
            </p:cNvSpPr>
            <p:nvPr/>
          </p:nvSpPr>
          <p:spPr bwMode="auto">
            <a:xfrm>
              <a:off x="4867" y="3302"/>
              <a:ext cx="49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tr-TR"/>
                <a:t>Stack</a:t>
              </a:r>
            </a:p>
          </p:txBody>
        </p:sp>
      </p:grpSp>
      <p:grpSp>
        <p:nvGrpSpPr>
          <p:cNvPr id="4" name="Group 34"/>
          <p:cNvGrpSpPr>
            <a:grpSpLocks/>
          </p:cNvGrpSpPr>
          <p:nvPr/>
        </p:nvGrpSpPr>
        <p:grpSpPr bwMode="auto">
          <a:xfrm>
            <a:off x="8245475" y="4389437"/>
            <a:ext cx="2101850" cy="873124"/>
            <a:chOff x="4234" y="2765"/>
            <a:chExt cx="1324" cy="550"/>
          </a:xfrm>
        </p:grpSpPr>
        <p:grpSp>
          <p:nvGrpSpPr>
            <p:cNvPr id="10271" name="Group 20"/>
            <p:cNvGrpSpPr>
              <a:grpSpLocks/>
            </p:cNvGrpSpPr>
            <p:nvPr/>
          </p:nvGrpSpPr>
          <p:grpSpPr bwMode="auto">
            <a:xfrm>
              <a:off x="4234" y="2765"/>
              <a:ext cx="1324" cy="550"/>
              <a:chOff x="4234" y="2765"/>
              <a:chExt cx="1324" cy="550"/>
            </a:xfrm>
          </p:grpSpPr>
          <p:sp>
            <p:nvSpPr>
              <p:cNvPr id="10273" name="Text Box 10"/>
              <p:cNvSpPr txBox="1">
                <a:spLocks noChangeArrowheads="1"/>
              </p:cNvSpPr>
              <p:nvPr/>
            </p:nvSpPr>
            <p:spPr bwMode="auto">
              <a:xfrm>
                <a:off x="4234" y="2966"/>
                <a:ext cx="316"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a:spcBef>
                    <a:spcPct val="50000"/>
                  </a:spcBef>
                </a:pPr>
                <a:r>
                  <a:rPr lang="en-US" altLang="tr-TR"/>
                  <a:t>main()</a:t>
                </a:r>
              </a:p>
            </p:txBody>
          </p:sp>
          <p:grpSp>
            <p:nvGrpSpPr>
              <p:cNvPr id="10274" name="Group 14"/>
              <p:cNvGrpSpPr>
                <a:grpSpLocks/>
              </p:cNvGrpSpPr>
              <p:nvPr/>
            </p:nvGrpSpPr>
            <p:grpSpPr bwMode="auto">
              <a:xfrm>
                <a:off x="4867" y="2938"/>
                <a:ext cx="403" cy="203"/>
                <a:chOff x="2218" y="3398"/>
                <a:chExt cx="403" cy="203"/>
              </a:xfrm>
            </p:grpSpPr>
            <p:sp>
              <p:nvSpPr>
                <p:cNvPr id="10276" name="Text Box 12"/>
                <p:cNvSpPr txBox="1">
                  <a:spLocks noChangeArrowheads="1"/>
                </p:cNvSpPr>
                <p:nvPr/>
              </p:nvSpPr>
              <p:spPr bwMode="auto">
                <a:xfrm>
                  <a:off x="2218" y="3427"/>
                  <a:ext cx="11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tr-TR"/>
                    <a:t>a</a:t>
                  </a:r>
                </a:p>
              </p:txBody>
            </p:sp>
            <p:sp>
              <p:nvSpPr>
                <p:cNvPr id="10277" name="Rectangle 13"/>
                <p:cNvSpPr>
                  <a:spLocks noChangeArrowheads="1"/>
                </p:cNvSpPr>
                <p:nvPr/>
              </p:nvSpPr>
              <p:spPr bwMode="auto">
                <a:xfrm>
                  <a:off x="2333" y="3398"/>
                  <a:ext cx="288" cy="202"/>
                </a:xfrm>
                <a:prstGeom prst="rect">
                  <a:avLst/>
                </a:prstGeom>
                <a:solidFill>
                  <a:srgbClr val="FFFF99"/>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tr-TR" altLang="tr-TR"/>
                </a:p>
              </p:txBody>
            </p:sp>
          </p:grpSp>
          <p:sp>
            <p:nvSpPr>
              <p:cNvPr id="10275" name="Line 15"/>
              <p:cNvSpPr>
                <a:spLocks noChangeShapeType="1"/>
              </p:cNvSpPr>
              <p:nvPr/>
            </p:nvSpPr>
            <p:spPr bwMode="auto">
              <a:xfrm>
                <a:off x="4608" y="2765"/>
                <a:ext cx="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grpSp>
        <p:sp>
          <p:nvSpPr>
            <p:cNvPr id="10272" name="Text Box 23"/>
            <p:cNvSpPr txBox="1">
              <a:spLocks noChangeArrowheads="1"/>
            </p:cNvSpPr>
            <p:nvPr/>
          </p:nvSpPr>
          <p:spPr bwMode="auto">
            <a:xfrm>
              <a:off x="5040" y="2994"/>
              <a:ext cx="14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tr-TR" sz="1200" b="1">
                  <a:solidFill>
                    <a:srgbClr val="0000C8"/>
                  </a:solidFill>
                </a:rPr>
                <a:t>10</a:t>
              </a:r>
            </a:p>
          </p:txBody>
        </p:sp>
      </p:grpSp>
      <p:grpSp>
        <p:nvGrpSpPr>
          <p:cNvPr id="7" name="Group 33"/>
          <p:cNvGrpSpPr>
            <a:grpSpLocks/>
          </p:cNvGrpSpPr>
          <p:nvPr/>
        </p:nvGrpSpPr>
        <p:grpSpPr bwMode="auto">
          <a:xfrm>
            <a:off x="8245475" y="3565529"/>
            <a:ext cx="2101850" cy="550863"/>
            <a:chOff x="4234" y="2246"/>
            <a:chExt cx="1324" cy="347"/>
          </a:xfrm>
        </p:grpSpPr>
        <p:grpSp>
          <p:nvGrpSpPr>
            <p:cNvPr id="10264" name="Group 21"/>
            <p:cNvGrpSpPr>
              <a:grpSpLocks/>
            </p:cNvGrpSpPr>
            <p:nvPr/>
          </p:nvGrpSpPr>
          <p:grpSpPr bwMode="auto">
            <a:xfrm>
              <a:off x="4234" y="2246"/>
              <a:ext cx="1324" cy="347"/>
              <a:chOff x="4234" y="2246"/>
              <a:chExt cx="1324" cy="347"/>
            </a:xfrm>
          </p:grpSpPr>
          <p:sp>
            <p:nvSpPr>
              <p:cNvPr id="10266" name="Text Box 11"/>
              <p:cNvSpPr txBox="1">
                <a:spLocks noChangeArrowheads="1"/>
              </p:cNvSpPr>
              <p:nvPr/>
            </p:nvSpPr>
            <p:spPr bwMode="auto">
              <a:xfrm>
                <a:off x="4234" y="2419"/>
                <a:ext cx="31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a:spcBef>
                    <a:spcPct val="50000"/>
                  </a:spcBef>
                </a:pPr>
                <a:r>
                  <a:rPr lang="en-US" altLang="tr-TR"/>
                  <a:t>f()</a:t>
                </a:r>
              </a:p>
            </p:txBody>
          </p:sp>
          <p:sp>
            <p:nvSpPr>
              <p:cNvPr id="10267" name="Line 16"/>
              <p:cNvSpPr>
                <a:spLocks noChangeShapeType="1"/>
              </p:cNvSpPr>
              <p:nvPr/>
            </p:nvSpPr>
            <p:spPr bwMode="auto">
              <a:xfrm>
                <a:off x="4608" y="2246"/>
                <a:ext cx="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grpSp>
            <p:nvGrpSpPr>
              <p:cNvPr id="10268" name="Group 17"/>
              <p:cNvGrpSpPr>
                <a:grpSpLocks/>
              </p:cNvGrpSpPr>
              <p:nvPr/>
            </p:nvGrpSpPr>
            <p:grpSpPr bwMode="auto">
              <a:xfrm>
                <a:off x="4867" y="2390"/>
                <a:ext cx="403" cy="203"/>
                <a:chOff x="2218" y="3398"/>
                <a:chExt cx="403" cy="203"/>
              </a:xfrm>
            </p:grpSpPr>
            <p:sp>
              <p:nvSpPr>
                <p:cNvPr id="10269" name="Text Box 18"/>
                <p:cNvSpPr txBox="1">
                  <a:spLocks noChangeArrowheads="1"/>
                </p:cNvSpPr>
                <p:nvPr/>
              </p:nvSpPr>
              <p:spPr bwMode="auto">
                <a:xfrm>
                  <a:off x="2218" y="3427"/>
                  <a:ext cx="11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tr-TR"/>
                    <a:t>a</a:t>
                  </a:r>
                </a:p>
              </p:txBody>
            </p:sp>
            <p:sp>
              <p:nvSpPr>
                <p:cNvPr id="10270" name="Rectangle 19"/>
                <p:cNvSpPr>
                  <a:spLocks noChangeArrowheads="1"/>
                </p:cNvSpPr>
                <p:nvPr/>
              </p:nvSpPr>
              <p:spPr bwMode="auto">
                <a:xfrm>
                  <a:off x="2333" y="3398"/>
                  <a:ext cx="288" cy="202"/>
                </a:xfrm>
                <a:prstGeom prst="rect">
                  <a:avLst/>
                </a:prstGeom>
                <a:solidFill>
                  <a:srgbClr val="FFFF99"/>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tr-TR" altLang="tr-TR"/>
                </a:p>
              </p:txBody>
            </p:sp>
          </p:grpSp>
        </p:grpSp>
        <p:sp>
          <p:nvSpPr>
            <p:cNvPr id="10265" name="Text Box 31"/>
            <p:cNvSpPr txBox="1">
              <a:spLocks noChangeArrowheads="1"/>
            </p:cNvSpPr>
            <p:nvPr/>
          </p:nvSpPr>
          <p:spPr bwMode="auto">
            <a:xfrm>
              <a:off x="5040" y="2447"/>
              <a:ext cx="14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tr-TR" sz="1200" b="1">
                  <a:solidFill>
                    <a:srgbClr val="0000C8"/>
                  </a:solidFill>
                </a:rPr>
                <a:t>10</a:t>
              </a:r>
            </a:p>
          </p:txBody>
        </p:sp>
      </p:grpSp>
      <p:sp>
        <p:nvSpPr>
          <p:cNvPr id="42016" name="Text Box 32"/>
          <p:cNvSpPr txBox="1">
            <a:spLocks noChangeArrowheads="1"/>
          </p:cNvSpPr>
          <p:nvPr/>
        </p:nvSpPr>
        <p:spPr bwMode="auto">
          <a:xfrm>
            <a:off x="9525000" y="3885149"/>
            <a:ext cx="228600" cy="184666"/>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tr-TR" sz="1200" b="1">
                <a:solidFill>
                  <a:srgbClr val="FF3300"/>
                </a:solidFill>
              </a:rPr>
              <a:t>15</a:t>
            </a:r>
          </a:p>
        </p:txBody>
      </p:sp>
      <p:grpSp>
        <p:nvGrpSpPr>
          <p:cNvPr id="10" name="Group 42"/>
          <p:cNvGrpSpPr>
            <a:grpSpLocks/>
          </p:cNvGrpSpPr>
          <p:nvPr/>
        </p:nvGrpSpPr>
        <p:grpSpPr bwMode="auto">
          <a:xfrm>
            <a:off x="2255838" y="4510089"/>
            <a:ext cx="5211762" cy="2073275"/>
            <a:chOff x="461" y="2841"/>
            <a:chExt cx="3283" cy="1306"/>
          </a:xfrm>
        </p:grpSpPr>
        <p:sp>
          <p:nvSpPr>
            <p:cNvPr id="10262" name="Rectangle 36"/>
            <p:cNvSpPr>
              <a:spLocks noChangeArrowheads="1"/>
            </p:cNvSpPr>
            <p:nvPr/>
          </p:nvSpPr>
          <p:spPr bwMode="auto">
            <a:xfrm>
              <a:off x="461" y="2995"/>
              <a:ext cx="3283" cy="1152"/>
            </a:xfrm>
            <a:prstGeom prst="rect">
              <a:avLst/>
            </a:prstGeom>
            <a:solidFill>
              <a:srgbClr val="CCFFCC"/>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tr-TR" altLang="tr-TR"/>
            </a:p>
          </p:txBody>
        </p:sp>
        <p:sp>
          <p:nvSpPr>
            <p:cNvPr id="10263" name="Text Box 37"/>
            <p:cNvSpPr txBox="1">
              <a:spLocks noChangeArrowheads="1"/>
            </p:cNvSpPr>
            <p:nvPr/>
          </p:nvSpPr>
          <p:spPr bwMode="auto">
            <a:xfrm>
              <a:off x="1728" y="2841"/>
              <a:ext cx="6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tr-TR"/>
                <a:t>OUTPUT</a:t>
              </a:r>
            </a:p>
          </p:txBody>
        </p:sp>
      </p:grpSp>
      <p:sp>
        <p:nvSpPr>
          <p:cNvPr id="42023" name="Text Box 39"/>
          <p:cNvSpPr txBox="1">
            <a:spLocks noChangeArrowheads="1"/>
          </p:cNvSpPr>
          <p:nvPr/>
        </p:nvSpPr>
        <p:spPr bwMode="auto">
          <a:xfrm>
            <a:off x="2530475" y="4951027"/>
            <a:ext cx="4387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tr-TR" b="1" dirty="0"/>
              <a:t>in main(), before calling f(): a=10</a:t>
            </a:r>
          </a:p>
        </p:txBody>
      </p:sp>
      <p:sp>
        <p:nvSpPr>
          <p:cNvPr id="42027" name="Line 43"/>
          <p:cNvSpPr>
            <a:spLocks noChangeShapeType="1"/>
          </p:cNvSpPr>
          <p:nvPr/>
        </p:nvSpPr>
        <p:spPr bwMode="auto">
          <a:xfrm>
            <a:off x="1752601" y="3475038"/>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42028" name="Text Box 44"/>
          <p:cNvSpPr txBox="1">
            <a:spLocks noChangeArrowheads="1"/>
          </p:cNvSpPr>
          <p:nvPr/>
        </p:nvSpPr>
        <p:spPr bwMode="auto">
          <a:xfrm>
            <a:off x="2530475" y="5225664"/>
            <a:ext cx="4387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tr-TR" b="1" dirty="0"/>
              <a:t>in function f(): a=15</a:t>
            </a:r>
          </a:p>
        </p:txBody>
      </p:sp>
      <p:sp>
        <p:nvSpPr>
          <p:cNvPr id="42029" name="Line 45"/>
          <p:cNvSpPr>
            <a:spLocks noChangeShapeType="1"/>
          </p:cNvSpPr>
          <p:nvPr/>
        </p:nvSpPr>
        <p:spPr bwMode="auto">
          <a:xfrm>
            <a:off x="1752601" y="2413000"/>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42030" name="Text Box 46"/>
          <p:cNvSpPr txBox="1">
            <a:spLocks noChangeArrowheads="1"/>
          </p:cNvSpPr>
          <p:nvPr/>
        </p:nvSpPr>
        <p:spPr bwMode="auto">
          <a:xfrm>
            <a:off x="2530475" y="5498714"/>
            <a:ext cx="4387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tr-TR" b="1"/>
              <a:t>in main(), after calling f(): a=10</a:t>
            </a:r>
          </a:p>
        </p:txBody>
      </p:sp>
      <p:sp>
        <p:nvSpPr>
          <p:cNvPr id="42031" name="Line 47"/>
          <p:cNvSpPr>
            <a:spLocks noChangeShapeType="1"/>
          </p:cNvSpPr>
          <p:nvPr/>
        </p:nvSpPr>
        <p:spPr bwMode="auto">
          <a:xfrm>
            <a:off x="1752601" y="3886200"/>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42032" name="Line 48"/>
          <p:cNvSpPr>
            <a:spLocks noChangeShapeType="1"/>
          </p:cNvSpPr>
          <p:nvPr/>
        </p:nvSpPr>
        <p:spPr bwMode="auto">
          <a:xfrm>
            <a:off x="1752601" y="3675063"/>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42033" name="Line 49"/>
          <p:cNvSpPr>
            <a:spLocks noChangeShapeType="1"/>
          </p:cNvSpPr>
          <p:nvPr/>
        </p:nvSpPr>
        <p:spPr bwMode="auto">
          <a:xfrm>
            <a:off x="1752601" y="3254375"/>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42034" name="Line 50"/>
          <p:cNvSpPr>
            <a:spLocks noChangeShapeType="1"/>
          </p:cNvSpPr>
          <p:nvPr/>
        </p:nvSpPr>
        <p:spPr bwMode="auto">
          <a:xfrm>
            <a:off x="1752601" y="2193925"/>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42038" name="Line 54"/>
          <p:cNvSpPr>
            <a:spLocks noChangeShapeType="1"/>
          </p:cNvSpPr>
          <p:nvPr/>
        </p:nvSpPr>
        <p:spPr bwMode="auto">
          <a:xfrm>
            <a:off x="1752601" y="1984375"/>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42039" name="Line 55"/>
          <p:cNvSpPr>
            <a:spLocks noChangeShapeType="1"/>
          </p:cNvSpPr>
          <p:nvPr/>
        </p:nvSpPr>
        <p:spPr bwMode="auto">
          <a:xfrm>
            <a:off x="1752601" y="2622550"/>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42040" name="Line 56"/>
          <p:cNvSpPr>
            <a:spLocks noChangeShapeType="1"/>
          </p:cNvSpPr>
          <p:nvPr/>
        </p:nvSpPr>
        <p:spPr bwMode="auto">
          <a:xfrm>
            <a:off x="1752601" y="4105275"/>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3" name="Slide Number Placeholder 2"/>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16</a:t>
            </a:fld>
            <a:endParaRPr lang="en-US" altLang="tr-TR">
              <a:ea typeface="ＭＳ Ｐゴシック" panose="020B0600070205080204" pitchFamily="34" charset="-128"/>
            </a:endParaRPr>
          </a:p>
        </p:txBody>
      </p:sp>
      <p:pic>
        <p:nvPicPr>
          <p:cNvPr id="5" name="Picture 4" descr="Select C:\Users\agaoglu\agaoglu-docs\courses-recent\computer-programming\cse1142-2019-2020-2\Lecture-Source-Codes-c\functions\C23_15_paramByValue.ex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80224" y="907811"/>
            <a:ext cx="4115374" cy="17147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9461686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20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nodeType="clickEffect">
                                  <p:stCondLst>
                                    <p:cond delay="0"/>
                                  </p:stCondLst>
                                  <p:childTnLst>
                                    <p:set>
                                      <p:cBhvr>
                                        <p:cTn id="18" dur="1" fill="hold">
                                          <p:stCondLst>
                                            <p:cond delay="0"/>
                                          </p:stCondLst>
                                        </p:cTn>
                                        <p:tgtEl>
                                          <p:spTgt spid="42033"/>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420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02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xit" presetSubtype="0" fill="hold" nodeType="clickEffect">
                                  <p:stCondLst>
                                    <p:cond delay="0"/>
                                  </p:stCondLst>
                                  <p:childTnLst>
                                    <p:set>
                                      <p:cBhvr>
                                        <p:cTn id="26" dur="1" fill="hold">
                                          <p:stCondLst>
                                            <p:cond delay="0"/>
                                          </p:stCondLst>
                                        </p:cTn>
                                        <p:tgtEl>
                                          <p:spTgt spid="42027"/>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42032"/>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xit" presetSubtype="0" fill="hold" nodeType="clickEffect">
                                  <p:stCondLst>
                                    <p:cond delay="0"/>
                                  </p:stCondLst>
                                  <p:childTnLst>
                                    <p:set>
                                      <p:cBhvr>
                                        <p:cTn id="32" dur="1" fill="hold">
                                          <p:stCondLst>
                                            <p:cond delay="0"/>
                                          </p:stCondLst>
                                        </p:cTn>
                                        <p:tgtEl>
                                          <p:spTgt spid="42032"/>
                                        </p:tgtEl>
                                        <p:attrNameLst>
                                          <p:attrName>style.visibility</p:attrName>
                                        </p:attrNameLst>
                                      </p:cBhvr>
                                      <p:to>
                                        <p:strVal val="hidden"/>
                                      </p:to>
                                    </p:set>
                                  </p:childTnLst>
                                </p:cTn>
                              </p:par>
                              <p:par>
                                <p:cTn id="33" presetID="1" presetClass="entr" presetSubtype="0" fill="hold" nodeType="withEffect">
                                  <p:stCondLst>
                                    <p:cond delay="0"/>
                                  </p:stCondLst>
                                  <p:childTnLst>
                                    <p:set>
                                      <p:cBhvr>
                                        <p:cTn id="34" dur="1" fill="hold">
                                          <p:stCondLst>
                                            <p:cond delay="0"/>
                                          </p:stCondLst>
                                        </p:cTn>
                                        <p:tgtEl>
                                          <p:spTgt spid="4203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xit" presetSubtype="0" fill="hold" nodeType="clickEffect">
                                  <p:stCondLst>
                                    <p:cond delay="0"/>
                                  </p:stCondLst>
                                  <p:childTnLst>
                                    <p:set>
                                      <p:cBhvr>
                                        <p:cTn id="40" dur="1" fill="hold">
                                          <p:stCondLst>
                                            <p:cond delay="0"/>
                                          </p:stCondLst>
                                        </p:cTn>
                                        <p:tgtEl>
                                          <p:spTgt spid="42038"/>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420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016"/>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xit" presetSubtype="0" fill="hold" nodeType="clickEffect">
                                  <p:stCondLst>
                                    <p:cond delay="0"/>
                                  </p:stCondLst>
                                  <p:childTnLst>
                                    <p:set>
                                      <p:cBhvr>
                                        <p:cTn id="48" dur="1" fill="hold">
                                          <p:stCondLst>
                                            <p:cond delay="0"/>
                                          </p:stCondLst>
                                        </p:cTn>
                                        <p:tgtEl>
                                          <p:spTgt spid="42034"/>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4202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2029"/>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xit" presetSubtype="0" fill="hold" nodeType="clickEffect">
                                  <p:stCondLst>
                                    <p:cond delay="0"/>
                                  </p:stCondLst>
                                  <p:childTnLst>
                                    <p:set>
                                      <p:cBhvr>
                                        <p:cTn id="56" dur="1" fill="hold">
                                          <p:stCondLst>
                                            <p:cond delay="0"/>
                                          </p:stCondLst>
                                        </p:cTn>
                                        <p:tgtEl>
                                          <p:spTgt spid="42029"/>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42039"/>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7"/>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42016"/>
                                        </p:tgtEl>
                                        <p:attrNameLst>
                                          <p:attrName>style.visibility</p:attrName>
                                        </p:attrNameLst>
                                      </p:cBhvr>
                                      <p:to>
                                        <p:strVal val="hidden"/>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xit" presetSubtype="0" fill="hold" nodeType="clickEffect">
                                  <p:stCondLst>
                                    <p:cond delay="0"/>
                                  </p:stCondLst>
                                  <p:childTnLst>
                                    <p:set>
                                      <p:cBhvr>
                                        <p:cTn id="66" dur="1" fill="hold">
                                          <p:stCondLst>
                                            <p:cond delay="0"/>
                                          </p:stCondLst>
                                        </p:cTn>
                                        <p:tgtEl>
                                          <p:spTgt spid="42039"/>
                                        </p:tgtEl>
                                        <p:attrNameLst>
                                          <p:attrName>style.visibility</p:attrName>
                                        </p:attrNameLst>
                                      </p:cBhvr>
                                      <p:to>
                                        <p:strVal val="hidden"/>
                                      </p:to>
                                    </p:set>
                                  </p:childTnLst>
                                </p:cTn>
                              </p:par>
                              <p:par>
                                <p:cTn id="67" presetID="1" presetClass="entr" presetSubtype="0" fill="hold" nodeType="withEffect">
                                  <p:stCondLst>
                                    <p:cond delay="0"/>
                                  </p:stCondLst>
                                  <p:childTnLst>
                                    <p:set>
                                      <p:cBhvr>
                                        <p:cTn id="68" dur="1" fill="hold">
                                          <p:stCondLst>
                                            <p:cond delay="0"/>
                                          </p:stCondLst>
                                        </p:cTn>
                                        <p:tgtEl>
                                          <p:spTgt spid="4203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2030"/>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xit" presetSubtype="0" fill="hold" nodeType="clickEffect">
                                  <p:stCondLst>
                                    <p:cond delay="0"/>
                                  </p:stCondLst>
                                  <p:childTnLst>
                                    <p:set>
                                      <p:cBhvr>
                                        <p:cTn id="74" dur="1" fill="hold">
                                          <p:stCondLst>
                                            <p:cond delay="0"/>
                                          </p:stCondLst>
                                        </p:cTn>
                                        <p:tgtEl>
                                          <p:spTgt spid="42031"/>
                                        </p:tgtEl>
                                        <p:attrNameLst>
                                          <p:attrName>style.visibility</p:attrName>
                                        </p:attrNameLst>
                                      </p:cBhvr>
                                      <p:to>
                                        <p:strVal val="hidden"/>
                                      </p:to>
                                    </p:set>
                                  </p:childTnLst>
                                </p:cTn>
                              </p:par>
                              <p:par>
                                <p:cTn id="75" presetID="1" presetClass="entr" presetSubtype="0" fill="hold" nodeType="withEffect">
                                  <p:stCondLst>
                                    <p:cond delay="0"/>
                                  </p:stCondLst>
                                  <p:childTnLst>
                                    <p:set>
                                      <p:cBhvr>
                                        <p:cTn id="76" dur="1" fill="hold">
                                          <p:stCondLst>
                                            <p:cond delay="0"/>
                                          </p:stCondLst>
                                        </p:cTn>
                                        <p:tgtEl>
                                          <p:spTgt spid="42040"/>
                                        </p:tgtEl>
                                        <p:attrNameLst>
                                          <p:attrName>style.visibility</p:attrName>
                                        </p:attrNameLst>
                                      </p:cBhvr>
                                      <p:to>
                                        <p:strVal val="visible"/>
                                      </p:to>
                                    </p:set>
                                  </p:childTnLst>
                                </p:cTn>
                              </p:par>
                              <p:par>
                                <p:cTn id="77" presetID="1" presetClass="exit" presetSubtype="0" fill="hold" nodeType="withEffect">
                                  <p:stCondLst>
                                    <p:cond delay="0"/>
                                  </p:stCondLst>
                                  <p:childTnLst>
                                    <p:set>
                                      <p:cBhvr>
                                        <p:cTn id="78" dur="1" fill="hold">
                                          <p:stCondLst>
                                            <p:cond delay="0"/>
                                          </p:stCondLst>
                                        </p:cTn>
                                        <p:tgtEl>
                                          <p:spTgt spid="4"/>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31" presetClass="entr" presetSubtype="0" fill="hold" nodeType="clickEffect">
                                  <p:stCondLst>
                                    <p:cond delay="0"/>
                                  </p:stCondLst>
                                  <p:childTnLst>
                                    <p:set>
                                      <p:cBhvr>
                                        <p:cTn id="82" dur="1" fill="hold">
                                          <p:stCondLst>
                                            <p:cond delay="0"/>
                                          </p:stCondLst>
                                        </p:cTn>
                                        <p:tgtEl>
                                          <p:spTgt spid="5"/>
                                        </p:tgtEl>
                                        <p:attrNameLst>
                                          <p:attrName>style.visibility</p:attrName>
                                        </p:attrNameLst>
                                      </p:cBhvr>
                                      <p:to>
                                        <p:strVal val="visible"/>
                                      </p:to>
                                    </p:set>
                                    <p:anim calcmode="lin" valueType="num">
                                      <p:cBhvr>
                                        <p:cTn id="83" dur="1000" fill="hold"/>
                                        <p:tgtEl>
                                          <p:spTgt spid="5"/>
                                        </p:tgtEl>
                                        <p:attrNameLst>
                                          <p:attrName>ppt_w</p:attrName>
                                        </p:attrNameLst>
                                      </p:cBhvr>
                                      <p:tavLst>
                                        <p:tav tm="0">
                                          <p:val>
                                            <p:fltVal val="0"/>
                                          </p:val>
                                        </p:tav>
                                        <p:tav tm="100000">
                                          <p:val>
                                            <p:strVal val="#ppt_w"/>
                                          </p:val>
                                        </p:tav>
                                      </p:tavLst>
                                    </p:anim>
                                    <p:anim calcmode="lin" valueType="num">
                                      <p:cBhvr>
                                        <p:cTn id="84" dur="1000" fill="hold"/>
                                        <p:tgtEl>
                                          <p:spTgt spid="5"/>
                                        </p:tgtEl>
                                        <p:attrNameLst>
                                          <p:attrName>ppt_h</p:attrName>
                                        </p:attrNameLst>
                                      </p:cBhvr>
                                      <p:tavLst>
                                        <p:tav tm="0">
                                          <p:val>
                                            <p:fltVal val="0"/>
                                          </p:val>
                                        </p:tav>
                                        <p:tav tm="100000">
                                          <p:val>
                                            <p:strVal val="#ppt_h"/>
                                          </p:val>
                                        </p:tav>
                                      </p:tavLst>
                                    </p:anim>
                                    <p:anim calcmode="lin" valueType="num">
                                      <p:cBhvr>
                                        <p:cTn id="85" dur="1000" fill="hold"/>
                                        <p:tgtEl>
                                          <p:spTgt spid="5"/>
                                        </p:tgtEl>
                                        <p:attrNameLst>
                                          <p:attrName>style.rotation</p:attrName>
                                        </p:attrNameLst>
                                      </p:cBhvr>
                                      <p:tavLst>
                                        <p:tav tm="0">
                                          <p:val>
                                            <p:fltVal val="90"/>
                                          </p:val>
                                        </p:tav>
                                        <p:tav tm="100000">
                                          <p:val>
                                            <p:fltVal val="0"/>
                                          </p:val>
                                        </p:tav>
                                      </p:tavLst>
                                    </p:anim>
                                    <p:animEffect transition="in" filter="fade">
                                      <p:cBhvr>
                                        <p:cTn id="8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16" grpId="0" animBg="1"/>
      <p:bldP spid="42016" grpId="1" animBg="1"/>
      <p:bldP spid="42023" grpId="0"/>
      <p:bldP spid="42028" grpId="0"/>
      <p:bldP spid="4203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p:txBody>
          <a:bodyPr/>
          <a:lstStyle/>
          <a:p>
            <a:r>
              <a:rPr lang="en-US" altLang="tr-TR"/>
              <a:t>Scope of variables</a:t>
            </a:r>
          </a:p>
        </p:txBody>
      </p:sp>
      <p:sp>
        <p:nvSpPr>
          <p:cNvPr id="11267" name="Rectangle 3"/>
          <p:cNvSpPr>
            <a:spLocks noGrp="1" noChangeArrowheads="1"/>
          </p:cNvSpPr>
          <p:nvPr>
            <p:ph type="body" idx="4294967295"/>
          </p:nvPr>
        </p:nvSpPr>
        <p:spPr/>
        <p:txBody>
          <a:bodyPr/>
          <a:lstStyle/>
          <a:p>
            <a:r>
              <a:rPr lang="en-US" altLang="tr-TR" dirty="0"/>
              <a:t>A </a:t>
            </a:r>
            <a:r>
              <a:rPr lang="en-US" altLang="tr-TR" u="sng" dirty="0"/>
              <a:t>local</a:t>
            </a:r>
            <a:r>
              <a:rPr lang="en-US" altLang="tr-TR" dirty="0"/>
              <a:t> variable can be used only in the function where it is defined</a:t>
            </a:r>
          </a:p>
          <a:p>
            <a:pPr lvl="4"/>
            <a:endParaRPr lang="tr-TR" altLang="tr-TR" dirty="0" smtClean="0"/>
          </a:p>
          <a:p>
            <a:pPr lvl="1"/>
            <a:r>
              <a:rPr lang="en-US" altLang="tr-TR" dirty="0" smtClean="0"/>
              <a:t>i.e</a:t>
            </a:r>
            <a:r>
              <a:rPr lang="en-US" altLang="tr-TR" dirty="0"/>
              <a:t>., the scope of a local variable is the current function.</a:t>
            </a:r>
          </a:p>
          <a:p>
            <a:endParaRPr lang="tr-TR" altLang="tr-TR" dirty="0" smtClean="0"/>
          </a:p>
          <a:p>
            <a:endParaRPr lang="tr-TR" altLang="tr-TR" dirty="0" smtClean="0"/>
          </a:p>
          <a:p>
            <a:endParaRPr lang="tr-TR" altLang="tr-TR" dirty="0"/>
          </a:p>
          <a:p>
            <a:r>
              <a:rPr lang="en-US" altLang="tr-TR" dirty="0"/>
              <a:t>A </a:t>
            </a:r>
            <a:r>
              <a:rPr lang="en-US" altLang="tr-TR" u="sng" dirty="0"/>
              <a:t>global</a:t>
            </a:r>
            <a:r>
              <a:rPr lang="en-US" altLang="tr-TR" dirty="0"/>
              <a:t> variable can be used in all functions below its definition</a:t>
            </a:r>
          </a:p>
          <a:p>
            <a:pPr lvl="4"/>
            <a:endParaRPr lang="tr-TR" altLang="tr-TR" dirty="0" smtClean="0"/>
          </a:p>
          <a:p>
            <a:pPr lvl="1"/>
            <a:r>
              <a:rPr lang="en-US" altLang="tr-TR" dirty="0" smtClean="0"/>
              <a:t>i.e</a:t>
            </a:r>
            <a:r>
              <a:rPr lang="en-US" altLang="tr-TR" dirty="0"/>
              <a:t>., the scope of a global variable is the range from the variable definition to the end of the file.</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17</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872113477"/>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p:txBody>
          <a:bodyPr/>
          <a:lstStyle/>
          <a:p>
            <a:r>
              <a:rPr lang="en-US" altLang="tr-TR"/>
              <a:t>Lifetime of variables</a:t>
            </a:r>
          </a:p>
        </p:txBody>
      </p:sp>
      <p:sp>
        <p:nvSpPr>
          <p:cNvPr id="48131" name="Rectangle 3"/>
          <p:cNvSpPr>
            <a:spLocks noGrp="1" noChangeArrowheads="1"/>
          </p:cNvSpPr>
          <p:nvPr>
            <p:ph type="body" idx="4294967295"/>
          </p:nvPr>
        </p:nvSpPr>
        <p:spPr/>
        <p:txBody>
          <a:bodyPr rtlCol="0">
            <a:normAutofit/>
          </a:bodyPr>
          <a:lstStyle/>
          <a:p>
            <a:pPr fontAlgn="auto">
              <a:spcAft>
                <a:spcPts val="0"/>
              </a:spcAft>
              <a:defRPr/>
            </a:pPr>
            <a:r>
              <a:rPr lang="en-US" dirty="0"/>
              <a:t>The lifetime of a variable depends on its scope.</a:t>
            </a:r>
          </a:p>
          <a:p>
            <a:pPr fontAlgn="auto">
              <a:spcAft>
                <a:spcPts val="0"/>
              </a:spcAft>
              <a:defRPr/>
            </a:pPr>
            <a:endParaRPr lang="tr-TR" dirty="0" smtClean="0"/>
          </a:p>
          <a:p>
            <a:pPr fontAlgn="auto">
              <a:spcAft>
                <a:spcPts val="0"/>
              </a:spcAft>
              <a:defRPr/>
            </a:pPr>
            <a:endParaRPr lang="en-US" dirty="0"/>
          </a:p>
          <a:p>
            <a:pPr fontAlgn="auto">
              <a:spcAft>
                <a:spcPts val="0"/>
              </a:spcAft>
              <a:defRPr/>
            </a:pPr>
            <a:r>
              <a:rPr lang="en-US" dirty="0"/>
              <a:t>A local variable is alive as long as the function where it is defined is active.</a:t>
            </a:r>
          </a:p>
          <a:p>
            <a:pPr lvl="4" fontAlgn="auto">
              <a:spcAft>
                <a:spcPts val="0"/>
              </a:spcAft>
              <a:defRPr/>
            </a:pPr>
            <a:endParaRPr lang="tr-TR" sz="1400" dirty="0" smtClean="0"/>
          </a:p>
          <a:p>
            <a:pPr lvl="1" fontAlgn="auto">
              <a:spcAft>
                <a:spcPts val="0"/>
              </a:spcAft>
              <a:defRPr/>
            </a:pPr>
            <a:r>
              <a:rPr lang="en-US" sz="2000" dirty="0" smtClean="0"/>
              <a:t>When </a:t>
            </a:r>
            <a:r>
              <a:rPr lang="en-US" sz="2000" dirty="0"/>
              <a:t>the function terminates, all of the local variables (and their values) are lost.</a:t>
            </a:r>
          </a:p>
          <a:p>
            <a:pPr lvl="4" fontAlgn="auto">
              <a:spcAft>
                <a:spcPts val="0"/>
              </a:spcAft>
              <a:defRPr/>
            </a:pPr>
            <a:endParaRPr lang="tr-TR" sz="1400" dirty="0" smtClean="0"/>
          </a:p>
          <a:p>
            <a:pPr lvl="1" fontAlgn="auto">
              <a:spcAft>
                <a:spcPts val="0"/>
              </a:spcAft>
              <a:defRPr/>
            </a:pPr>
            <a:r>
              <a:rPr lang="en-US" sz="2000" dirty="0" smtClean="0"/>
              <a:t>When </a:t>
            </a:r>
            <a:r>
              <a:rPr lang="en-US" sz="2000" dirty="0"/>
              <a:t>the function is called again, all variables start from scratch; they don’t continue with their values from the previous call (except for local static variables which are not discussed).</a:t>
            </a:r>
          </a:p>
          <a:p>
            <a:pPr lvl="1" fontAlgn="auto">
              <a:spcAft>
                <a:spcPts val="0"/>
              </a:spcAft>
              <a:defRPr/>
            </a:pPr>
            <a:endParaRPr lang="tr-TR" sz="2000" dirty="0" smtClean="0"/>
          </a:p>
          <a:p>
            <a:pPr lvl="1" fontAlgn="auto">
              <a:spcAft>
                <a:spcPts val="0"/>
              </a:spcAft>
              <a:defRPr/>
            </a:pPr>
            <a:endParaRPr lang="en-US" sz="2000" dirty="0"/>
          </a:p>
          <a:p>
            <a:pPr fontAlgn="auto">
              <a:spcAft>
                <a:spcPts val="0"/>
              </a:spcAft>
              <a:defRPr/>
            </a:pPr>
            <a:r>
              <a:rPr lang="en-US" dirty="0"/>
              <a:t>The lifetime of a global variable is equivalent to the lifetime of the program.</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18</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847926310"/>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p:cNvSpPr>
            <a:spLocks noGrp="1"/>
          </p:cNvSpPr>
          <p:nvPr>
            <p:ph idx="4294967295"/>
          </p:nvPr>
        </p:nvSpPr>
        <p:spPr>
          <a:xfrm>
            <a:off x="1943100" y="881019"/>
            <a:ext cx="8229600" cy="5715724"/>
          </a:xfrm>
        </p:spPr>
        <p:txBody>
          <a:bodyPr/>
          <a:lstStyle/>
          <a:p>
            <a:pPr marL="1028700" indent="0">
              <a:buNone/>
            </a:pPr>
            <a:r>
              <a:rPr lang="en-US" altLang="tr-TR" sz="1600" dirty="0">
                <a:solidFill>
                  <a:schemeClr val="accent2"/>
                </a:solidFill>
                <a:latin typeface="Consolas" panose="020B0609020204030204" pitchFamily="49" charset="0"/>
                <a:cs typeface="Courier New" panose="02070309020205020404" pitchFamily="49" charset="0"/>
              </a:rPr>
              <a:t>#include &lt;</a:t>
            </a:r>
            <a:r>
              <a:rPr lang="en-US" altLang="tr-TR" sz="1600" dirty="0" err="1">
                <a:solidFill>
                  <a:schemeClr val="accent2"/>
                </a:solidFill>
                <a:latin typeface="Consolas" panose="020B0609020204030204" pitchFamily="49" charset="0"/>
                <a:cs typeface="Courier New" panose="02070309020205020404" pitchFamily="49" charset="0"/>
              </a:rPr>
              <a:t>stdio.h</a:t>
            </a:r>
            <a:r>
              <a:rPr lang="en-US" altLang="tr-TR" sz="1600" dirty="0">
                <a:solidFill>
                  <a:schemeClr val="accent2"/>
                </a:solidFill>
                <a:latin typeface="Consolas" panose="020B0609020204030204" pitchFamily="49" charset="0"/>
                <a:cs typeface="Courier New" panose="02070309020205020404" pitchFamily="49" charset="0"/>
              </a:rPr>
              <a:t>&gt;</a:t>
            </a:r>
          </a:p>
          <a:p>
            <a:pPr marL="1028700" indent="0">
              <a:buNone/>
            </a:pPr>
            <a:endParaRPr lang="tr-TR" altLang="tr-TR" sz="1200" dirty="0" smtClean="0">
              <a:solidFill>
                <a:schemeClr val="accent2"/>
              </a:solidFill>
              <a:latin typeface="Consolas" panose="020B0609020204030204" pitchFamily="49" charset="0"/>
              <a:cs typeface="Courier New" panose="02070309020205020404" pitchFamily="49" charset="0"/>
            </a:endParaRPr>
          </a:p>
          <a:p>
            <a:pPr marL="1028700" indent="0">
              <a:buNone/>
            </a:pPr>
            <a:r>
              <a:rPr lang="en-US" altLang="tr-TR" sz="1600" dirty="0" err="1" smtClean="0">
                <a:solidFill>
                  <a:schemeClr val="accent2"/>
                </a:solidFill>
                <a:latin typeface="Consolas" panose="020B0609020204030204" pitchFamily="49" charset="0"/>
                <a:cs typeface="Courier New" panose="02070309020205020404" pitchFamily="49" charset="0"/>
              </a:rPr>
              <a:t>int</a:t>
            </a:r>
            <a:r>
              <a:rPr lang="en-US" altLang="tr-TR" sz="1600" dirty="0" smtClean="0">
                <a:solidFill>
                  <a:schemeClr val="accent2"/>
                </a:solidFill>
                <a:latin typeface="Consolas" panose="020B0609020204030204" pitchFamily="49" charset="0"/>
                <a:cs typeface="Courier New" panose="02070309020205020404" pitchFamily="49" charset="0"/>
              </a:rPr>
              <a:t> </a:t>
            </a:r>
            <a:r>
              <a:rPr lang="en-US" altLang="tr-TR" sz="1600" dirty="0">
                <a:solidFill>
                  <a:schemeClr val="accent2"/>
                </a:solidFill>
                <a:latin typeface="Consolas" panose="020B0609020204030204" pitchFamily="49" charset="0"/>
                <a:cs typeface="Courier New" panose="02070309020205020404" pitchFamily="49" charset="0"/>
              </a:rPr>
              <a:t>count;</a:t>
            </a:r>
          </a:p>
          <a:p>
            <a:pPr marL="1028700" indent="0">
              <a:buNone/>
            </a:pPr>
            <a:endParaRPr lang="tr-TR" altLang="tr-TR" sz="1200" dirty="0" smtClean="0">
              <a:solidFill>
                <a:schemeClr val="accent2"/>
              </a:solidFill>
              <a:latin typeface="Consolas" panose="020B0609020204030204" pitchFamily="49" charset="0"/>
              <a:cs typeface="Courier New" panose="02070309020205020404" pitchFamily="49" charset="0"/>
            </a:endParaRPr>
          </a:p>
          <a:p>
            <a:pPr marL="1028700" indent="0">
              <a:buNone/>
            </a:pPr>
            <a:r>
              <a:rPr lang="en-US" altLang="tr-TR" sz="1600" dirty="0" err="1" smtClean="0">
                <a:solidFill>
                  <a:schemeClr val="accent2"/>
                </a:solidFill>
                <a:latin typeface="Consolas" panose="020B0609020204030204" pitchFamily="49" charset="0"/>
                <a:cs typeface="Courier New" panose="02070309020205020404" pitchFamily="49" charset="0"/>
              </a:rPr>
              <a:t>int</a:t>
            </a:r>
            <a:r>
              <a:rPr lang="en-US" altLang="tr-TR" sz="1600" dirty="0" smtClean="0">
                <a:solidFill>
                  <a:schemeClr val="accent2"/>
                </a:solidFill>
                <a:latin typeface="Consolas" panose="020B0609020204030204" pitchFamily="49" charset="0"/>
                <a:cs typeface="Courier New" panose="02070309020205020404" pitchFamily="49" charset="0"/>
              </a:rPr>
              <a:t> </a:t>
            </a:r>
            <a:r>
              <a:rPr lang="en-US" altLang="tr-TR" sz="1600" dirty="0" err="1">
                <a:solidFill>
                  <a:schemeClr val="accent2"/>
                </a:solidFill>
                <a:latin typeface="Consolas" panose="020B0609020204030204" pitchFamily="49" charset="0"/>
                <a:cs typeface="Courier New" panose="02070309020205020404" pitchFamily="49" charset="0"/>
              </a:rPr>
              <a:t>func</a:t>
            </a:r>
            <a:r>
              <a:rPr lang="en-US" altLang="tr-TR" sz="1600" dirty="0">
                <a:solidFill>
                  <a:schemeClr val="accent2"/>
                </a:solidFill>
                <a:latin typeface="Consolas" panose="020B0609020204030204" pitchFamily="49" charset="0"/>
                <a:cs typeface="Courier New" panose="02070309020205020404" pitchFamily="49" charset="0"/>
              </a:rPr>
              <a:t>(){</a:t>
            </a:r>
          </a:p>
          <a:p>
            <a:pPr marL="1028700" indent="0">
              <a:buNone/>
            </a:pPr>
            <a:r>
              <a:rPr lang="en-US" altLang="tr-TR" sz="1600" dirty="0">
                <a:solidFill>
                  <a:schemeClr val="accent2"/>
                </a:solidFill>
                <a:latin typeface="Consolas" panose="020B0609020204030204" pitchFamily="49" charset="0"/>
                <a:cs typeface="Courier New" panose="02070309020205020404" pitchFamily="49" charset="0"/>
              </a:rPr>
              <a:t>   </a:t>
            </a:r>
            <a:r>
              <a:rPr lang="en-US" altLang="tr-TR" sz="1600" dirty="0" err="1">
                <a:solidFill>
                  <a:schemeClr val="accent2"/>
                </a:solidFill>
                <a:latin typeface="Consolas" panose="020B0609020204030204" pitchFamily="49" charset="0"/>
                <a:cs typeface="Courier New" panose="02070309020205020404" pitchFamily="49" charset="0"/>
              </a:rPr>
              <a:t>int</a:t>
            </a:r>
            <a:r>
              <a:rPr lang="en-US" altLang="tr-TR" sz="1600" dirty="0">
                <a:solidFill>
                  <a:schemeClr val="accent2"/>
                </a:solidFill>
                <a:latin typeface="Consolas" panose="020B0609020204030204" pitchFamily="49" charset="0"/>
                <a:cs typeface="Courier New" panose="02070309020205020404" pitchFamily="49" charset="0"/>
              </a:rPr>
              <a:t> </a:t>
            </a:r>
            <a:r>
              <a:rPr lang="en-US" altLang="tr-TR" sz="1600" dirty="0" err="1">
                <a:solidFill>
                  <a:schemeClr val="accent2"/>
                </a:solidFill>
                <a:latin typeface="Consolas" panose="020B0609020204030204" pitchFamily="49" charset="0"/>
                <a:cs typeface="Courier New" panose="02070309020205020404" pitchFamily="49" charset="0"/>
              </a:rPr>
              <a:t>i</a:t>
            </a:r>
            <a:r>
              <a:rPr lang="en-US" altLang="tr-TR" sz="1600" dirty="0">
                <a:solidFill>
                  <a:schemeClr val="accent2"/>
                </a:solidFill>
                <a:latin typeface="Consolas" panose="020B0609020204030204" pitchFamily="49" charset="0"/>
                <a:cs typeface="Courier New" panose="02070309020205020404" pitchFamily="49" charset="0"/>
              </a:rPr>
              <a:t>, j;</a:t>
            </a:r>
          </a:p>
          <a:p>
            <a:pPr marL="1028700" indent="0">
              <a:buNone/>
            </a:pPr>
            <a:r>
              <a:rPr lang="tr-TR" altLang="tr-TR" sz="1600" dirty="0" smtClean="0">
                <a:solidFill>
                  <a:schemeClr val="accent2"/>
                </a:solidFill>
                <a:latin typeface="Consolas" panose="020B0609020204030204" pitchFamily="49" charset="0"/>
                <a:cs typeface="Courier New" panose="02070309020205020404" pitchFamily="49" charset="0"/>
              </a:rPr>
              <a:t>   </a:t>
            </a:r>
            <a:r>
              <a:rPr lang="tr-TR" altLang="tr-TR" sz="1600" dirty="0" err="1" smtClean="0">
                <a:solidFill>
                  <a:schemeClr val="accent2"/>
                </a:solidFill>
                <a:latin typeface="Consolas" panose="020B0609020204030204" pitchFamily="49" charset="0"/>
                <a:cs typeface="Courier New" panose="02070309020205020404" pitchFamily="49" charset="0"/>
              </a:rPr>
              <a:t>printf</a:t>
            </a:r>
            <a:r>
              <a:rPr lang="tr-TR" altLang="tr-TR" sz="1600" dirty="0" smtClean="0">
                <a:solidFill>
                  <a:schemeClr val="accent2"/>
                </a:solidFill>
                <a:latin typeface="Consolas" panose="020B0609020204030204" pitchFamily="49" charset="0"/>
                <a:cs typeface="Courier New" panose="02070309020205020404" pitchFamily="49" charset="0"/>
              </a:rPr>
              <a:t>(</a:t>
            </a:r>
            <a:r>
              <a:rPr lang="en-US" altLang="tr-TR" sz="1600" dirty="0" smtClean="0">
                <a:solidFill>
                  <a:schemeClr val="accent2"/>
                </a:solidFill>
                <a:latin typeface="Consolas" panose="020B0609020204030204" pitchFamily="49" charset="0"/>
                <a:cs typeface="Courier New" panose="02070309020205020404" pitchFamily="49" charset="0"/>
              </a:rPr>
              <a:t>"</a:t>
            </a:r>
            <a:r>
              <a:rPr lang="tr-TR" altLang="tr-TR" sz="1600" dirty="0" err="1" smtClean="0">
                <a:solidFill>
                  <a:schemeClr val="accent2"/>
                </a:solidFill>
                <a:latin typeface="Consolas" panose="020B0609020204030204" pitchFamily="49" charset="0"/>
                <a:cs typeface="Courier New" panose="02070309020205020404" pitchFamily="49" charset="0"/>
              </a:rPr>
              <a:t>Enter</a:t>
            </a:r>
            <a:r>
              <a:rPr lang="tr-TR" altLang="tr-TR" sz="1600" dirty="0" smtClean="0">
                <a:solidFill>
                  <a:schemeClr val="accent2"/>
                </a:solidFill>
                <a:latin typeface="Consolas" panose="020B0609020204030204" pitchFamily="49" charset="0"/>
                <a:cs typeface="Courier New" panose="02070309020205020404" pitchFamily="49" charset="0"/>
              </a:rPr>
              <a:t> </a:t>
            </a:r>
            <a:r>
              <a:rPr lang="tr-TR" altLang="tr-TR" sz="1600" dirty="0" err="1" smtClean="0">
                <a:solidFill>
                  <a:schemeClr val="accent2"/>
                </a:solidFill>
                <a:latin typeface="Consolas" panose="020B0609020204030204" pitchFamily="49" charset="0"/>
                <a:cs typeface="Courier New" panose="02070309020205020404" pitchFamily="49" charset="0"/>
              </a:rPr>
              <a:t>two</a:t>
            </a:r>
            <a:r>
              <a:rPr lang="tr-TR" altLang="tr-TR" sz="1600" dirty="0" smtClean="0">
                <a:solidFill>
                  <a:schemeClr val="accent2"/>
                </a:solidFill>
                <a:latin typeface="Consolas" panose="020B0609020204030204" pitchFamily="49" charset="0"/>
                <a:cs typeface="Courier New" panose="02070309020205020404" pitchFamily="49" charset="0"/>
              </a:rPr>
              <a:t> </a:t>
            </a:r>
            <a:r>
              <a:rPr lang="tr-TR" altLang="tr-TR" sz="1600" dirty="0" err="1" smtClean="0">
                <a:solidFill>
                  <a:schemeClr val="accent2"/>
                </a:solidFill>
                <a:latin typeface="Consolas" panose="020B0609020204030204" pitchFamily="49" charset="0"/>
                <a:cs typeface="Courier New" panose="02070309020205020404" pitchFamily="49" charset="0"/>
              </a:rPr>
              <a:t>numbers</a:t>
            </a:r>
            <a:r>
              <a:rPr lang="tr-TR" altLang="tr-TR" sz="1600" dirty="0" smtClean="0">
                <a:solidFill>
                  <a:schemeClr val="accent2"/>
                </a:solidFill>
                <a:latin typeface="Consolas" panose="020B0609020204030204" pitchFamily="49" charset="0"/>
                <a:cs typeface="Courier New" panose="02070309020205020404" pitchFamily="49" charset="0"/>
              </a:rPr>
              <a:t>:");</a:t>
            </a:r>
            <a:endParaRPr lang="en-US" altLang="tr-TR" sz="1600" dirty="0" smtClean="0">
              <a:solidFill>
                <a:schemeClr val="accent2"/>
              </a:solidFill>
              <a:latin typeface="Consolas" panose="020B0609020204030204" pitchFamily="49" charset="0"/>
              <a:cs typeface="Courier New" panose="02070309020205020404" pitchFamily="49" charset="0"/>
            </a:endParaRPr>
          </a:p>
          <a:p>
            <a:pPr marL="1028700" indent="0">
              <a:buNone/>
            </a:pPr>
            <a:r>
              <a:rPr lang="en-US" altLang="tr-TR" sz="1600" dirty="0" smtClean="0">
                <a:solidFill>
                  <a:schemeClr val="accent2"/>
                </a:solidFill>
                <a:latin typeface="Consolas" panose="020B0609020204030204" pitchFamily="49" charset="0"/>
                <a:cs typeface="Courier New" panose="02070309020205020404" pitchFamily="49" charset="0"/>
              </a:rPr>
              <a:t>   </a:t>
            </a:r>
            <a:r>
              <a:rPr lang="en-US" altLang="tr-TR" sz="1600" dirty="0" err="1" smtClean="0">
                <a:solidFill>
                  <a:schemeClr val="accent2"/>
                </a:solidFill>
                <a:latin typeface="Consolas" panose="020B0609020204030204" pitchFamily="49" charset="0"/>
                <a:cs typeface="Courier New" panose="02070309020205020404" pitchFamily="49" charset="0"/>
              </a:rPr>
              <a:t>scanf</a:t>
            </a:r>
            <a:r>
              <a:rPr lang="en-US" altLang="tr-TR" sz="1600" dirty="0" smtClean="0">
                <a:solidFill>
                  <a:schemeClr val="accent2"/>
                </a:solidFill>
                <a:latin typeface="Consolas" panose="020B0609020204030204" pitchFamily="49" charset="0"/>
                <a:cs typeface="Courier New" panose="02070309020205020404" pitchFamily="49" charset="0"/>
              </a:rPr>
              <a:t>("%d %d", &amp;</a:t>
            </a:r>
            <a:r>
              <a:rPr lang="en-US" altLang="tr-TR" sz="1600" dirty="0" err="1" smtClean="0">
                <a:solidFill>
                  <a:schemeClr val="accent2"/>
                </a:solidFill>
                <a:latin typeface="Consolas" panose="020B0609020204030204" pitchFamily="49" charset="0"/>
                <a:cs typeface="Courier New" panose="02070309020205020404" pitchFamily="49" charset="0"/>
              </a:rPr>
              <a:t>i</a:t>
            </a:r>
            <a:r>
              <a:rPr lang="en-US" altLang="tr-TR" sz="1600" dirty="0" smtClean="0">
                <a:solidFill>
                  <a:schemeClr val="accent2"/>
                </a:solidFill>
                <a:latin typeface="Consolas" panose="020B0609020204030204" pitchFamily="49" charset="0"/>
                <a:cs typeface="Courier New" panose="02070309020205020404" pitchFamily="49" charset="0"/>
              </a:rPr>
              <a:t>, &amp;j);</a:t>
            </a:r>
          </a:p>
          <a:p>
            <a:pPr marL="1028700" indent="0">
              <a:buNone/>
            </a:pPr>
            <a:r>
              <a:rPr lang="en-US" altLang="tr-TR" sz="1600" dirty="0" smtClean="0">
                <a:solidFill>
                  <a:schemeClr val="accent2"/>
                </a:solidFill>
                <a:latin typeface="Consolas" panose="020B0609020204030204" pitchFamily="49" charset="0"/>
                <a:cs typeface="Courier New" panose="02070309020205020404" pitchFamily="49" charset="0"/>
              </a:rPr>
              <a:t>   </a:t>
            </a:r>
            <a:r>
              <a:rPr lang="en-US" altLang="tr-TR" sz="1600" dirty="0">
                <a:solidFill>
                  <a:schemeClr val="accent2"/>
                </a:solidFill>
                <a:latin typeface="Consolas" panose="020B0609020204030204" pitchFamily="49" charset="0"/>
                <a:cs typeface="Courier New" panose="02070309020205020404" pitchFamily="49" charset="0"/>
              </a:rPr>
              <a:t>count += </a:t>
            </a:r>
            <a:r>
              <a:rPr lang="en-US" altLang="tr-TR" sz="1600" dirty="0" err="1">
                <a:solidFill>
                  <a:schemeClr val="accent2"/>
                </a:solidFill>
                <a:latin typeface="Consolas" panose="020B0609020204030204" pitchFamily="49" charset="0"/>
                <a:cs typeface="Courier New" panose="02070309020205020404" pitchFamily="49" charset="0"/>
              </a:rPr>
              <a:t>i+j</a:t>
            </a:r>
            <a:r>
              <a:rPr lang="en-US" altLang="tr-TR" sz="1600" dirty="0">
                <a:solidFill>
                  <a:schemeClr val="accent2"/>
                </a:solidFill>
                <a:latin typeface="Consolas" panose="020B0609020204030204" pitchFamily="49" charset="0"/>
                <a:cs typeface="Courier New" panose="02070309020205020404" pitchFamily="49" charset="0"/>
              </a:rPr>
              <a:t>;</a:t>
            </a:r>
          </a:p>
          <a:p>
            <a:pPr marL="1028700" indent="0">
              <a:buNone/>
            </a:pPr>
            <a:r>
              <a:rPr lang="en-US" altLang="tr-TR" sz="1600" dirty="0">
                <a:solidFill>
                  <a:schemeClr val="accent2"/>
                </a:solidFill>
                <a:latin typeface="Consolas" panose="020B0609020204030204" pitchFamily="49" charset="0"/>
                <a:cs typeface="Courier New" panose="02070309020205020404" pitchFamily="49" charset="0"/>
              </a:rPr>
              <a:t>   return 0;</a:t>
            </a:r>
          </a:p>
          <a:p>
            <a:pPr marL="1028700" indent="0">
              <a:buNone/>
            </a:pPr>
            <a:r>
              <a:rPr lang="en-US" altLang="tr-TR" sz="1600" dirty="0">
                <a:solidFill>
                  <a:schemeClr val="accent2"/>
                </a:solidFill>
                <a:latin typeface="Consolas" panose="020B0609020204030204" pitchFamily="49" charset="0"/>
                <a:cs typeface="Courier New" panose="02070309020205020404" pitchFamily="49" charset="0"/>
              </a:rPr>
              <a:t>}</a:t>
            </a:r>
          </a:p>
          <a:p>
            <a:pPr marL="1028700" indent="0">
              <a:buNone/>
            </a:pPr>
            <a:endParaRPr lang="en-US" altLang="tr-TR" sz="1200" dirty="0">
              <a:solidFill>
                <a:schemeClr val="accent2"/>
              </a:solidFill>
              <a:latin typeface="Consolas" panose="020B0609020204030204" pitchFamily="49" charset="0"/>
              <a:cs typeface="Courier New" panose="02070309020205020404" pitchFamily="49" charset="0"/>
            </a:endParaRPr>
          </a:p>
          <a:p>
            <a:pPr marL="1028700" indent="0">
              <a:buNone/>
            </a:pPr>
            <a:r>
              <a:rPr lang="en-US" altLang="tr-TR" sz="1600" dirty="0" err="1">
                <a:solidFill>
                  <a:schemeClr val="accent2"/>
                </a:solidFill>
                <a:latin typeface="Consolas" panose="020B0609020204030204" pitchFamily="49" charset="0"/>
                <a:cs typeface="Courier New" panose="02070309020205020404" pitchFamily="49" charset="0"/>
              </a:rPr>
              <a:t>int</a:t>
            </a:r>
            <a:r>
              <a:rPr lang="en-US" altLang="tr-TR" sz="1600" dirty="0">
                <a:solidFill>
                  <a:schemeClr val="accent2"/>
                </a:solidFill>
                <a:latin typeface="Consolas" panose="020B0609020204030204" pitchFamily="49" charset="0"/>
                <a:cs typeface="Courier New" panose="02070309020205020404" pitchFamily="49" charset="0"/>
              </a:rPr>
              <a:t> main(){</a:t>
            </a:r>
          </a:p>
          <a:p>
            <a:pPr marL="1028700" indent="0">
              <a:buNone/>
            </a:pPr>
            <a:r>
              <a:rPr lang="en-US" altLang="tr-TR" sz="1600" dirty="0">
                <a:solidFill>
                  <a:schemeClr val="accent2"/>
                </a:solidFill>
                <a:latin typeface="Consolas" panose="020B0609020204030204" pitchFamily="49" charset="0"/>
                <a:cs typeface="Courier New" panose="02070309020205020404" pitchFamily="49" charset="0"/>
              </a:rPr>
              <a:t>   </a:t>
            </a:r>
            <a:r>
              <a:rPr lang="en-US" altLang="tr-TR" sz="1600" dirty="0" err="1">
                <a:solidFill>
                  <a:schemeClr val="accent2"/>
                </a:solidFill>
                <a:latin typeface="Consolas" panose="020B0609020204030204" pitchFamily="49" charset="0"/>
                <a:cs typeface="Courier New" panose="02070309020205020404" pitchFamily="49" charset="0"/>
              </a:rPr>
              <a:t>int</a:t>
            </a:r>
            <a:r>
              <a:rPr lang="en-US" altLang="tr-TR" sz="1600" dirty="0">
                <a:solidFill>
                  <a:schemeClr val="accent2"/>
                </a:solidFill>
                <a:latin typeface="Consolas" panose="020B0609020204030204" pitchFamily="49" charset="0"/>
                <a:cs typeface="Courier New" panose="02070309020205020404" pitchFamily="49" charset="0"/>
              </a:rPr>
              <a:t> </a:t>
            </a:r>
            <a:r>
              <a:rPr lang="en-US" altLang="tr-TR" sz="1600" dirty="0" err="1">
                <a:solidFill>
                  <a:schemeClr val="accent2"/>
                </a:solidFill>
                <a:latin typeface="Consolas" panose="020B0609020204030204" pitchFamily="49" charset="0"/>
                <a:cs typeface="Courier New" panose="02070309020205020404" pitchFamily="49" charset="0"/>
              </a:rPr>
              <a:t>i</a:t>
            </a:r>
            <a:r>
              <a:rPr lang="en-US" altLang="tr-TR" sz="1600" dirty="0">
                <a:solidFill>
                  <a:schemeClr val="accent2"/>
                </a:solidFill>
                <a:latin typeface="Consolas" panose="020B0609020204030204" pitchFamily="49" charset="0"/>
                <a:cs typeface="Courier New" panose="02070309020205020404" pitchFamily="49" charset="0"/>
              </a:rPr>
              <a:t>;</a:t>
            </a:r>
          </a:p>
          <a:p>
            <a:pPr marL="1028700" indent="0">
              <a:buNone/>
            </a:pPr>
            <a:endParaRPr lang="en-US" altLang="tr-TR" sz="800" dirty="0">
              <a:solidFill>
                <a:schemeClr val="accent2"/>
              </a:solidFill>
              <a:latin typeface="Consolas" panose="020B0609020204030204" pitchFamily="49" charset="0"/>
              <a:cs typeface="Courier New" panose="02070309020205020404" pitchFamily="49" charset="0"/>
            </a:endParaRPr>
          </a:p>
          <a:p>
            <a:pPr marL="1028700" indent="0">
              <a:buNone/>
            </a:pPr>
            <a:r>
              <a:rPr lang="en-US" altLang="tr-TR" sz="1600" dirty="0">
                <a:solidFill>
                  <a:schemeClr val="accent2"/>
                </a:solidFill>
                <a:latin typeface="Consolas" panose="020B0609020204030204" pitchFamily="49" charset="0"/>
                <a:cs typeface="Courier New" panose="02070309020205020404" pitchFamily="49" charset="0"/>
              </a:rPr>
              <a:t>   </a:t>
            </a:r>
            <a:r>
              <a:rPr lang="en-US" altLang="tr-TR" sz="1600" dirty="0" err="1">
                <a:solidFill>
                  <a:schemeClr val="accent2"/>
                </a:solidFill>
                <a:latin typeface="Consolas" panose="020B0609020204030204" pitchFamily="49" charset="0"/>
                <a:cs typeface="Courier New" panose="02070309020205020404" pitchFamily="49" charset="0"/>
              </a:rPr>
              <a:t>func</a:t>
            </a:r>
            <a:r>
              <a:rPr lang="en-US" altLang="tr-TR" sz="1600" dirty="0">
                <a:solidFill>
                  <a:schemeClr val="accent2"/>
                </a:solidFill>
                <a:latin typeface="Consolas" panose="020B0609020204030204" pitchFamily="49" charset="0"/>
                <a:cs typeface="Courier New" panose="02070309020205020404" pitchFamily="49" charset="0"/>
              </a:rPr>
              <a:t>();</a:t>
            </a:r>
          </a:p>
          <a:p>
            <a:pPr marL="1028700" indent="0">
              <a:buNone/>
            </a:pPr>
            <a:r>
              <a:rPr lang="en-US" altLang="tr-TR" sz="1600" dirty="0">
                <a:solidFill>
                  <a:schemeClr val="accent2"/>
                </a:solidFill>
                <a:latin typeface="Consolas" panose="020B0609020204030204" pitchFamily="49" charset="0"/>
                <a:cs typeface="Courier New" panose="02070309020205020404" pitchFamily="49" charset="0"/>
              </a:rPr>
              <a:t>   for (</a:t>
            </a:r>
            <a:r>
              <a:rPr lang="en-US" altLang="tr-TR" sz="1600" dirty="0" err="1">
                <a:solidFill>
                  <a:schemeClr val="accent2"/>
                </a:solidFill>
                <a:latin typeface="Consolas" panose="020B0609020204030204" pitchFamily="49" charset="0"/>
                <a:cs typeface="Courier New" panose="02070309020205020404" pitchFamily="49" charset="0"/>
              </a:rPr>
              <a:t>i</a:t>
            </a:r>
            <a:r>
              <a:rPr lang="en-US" altLang="tr-TR" sz="1600" dirty="0">
                <a:solidFill>
                  <a:schemeClr val="accent2"/>
                </a:solidFill>
                <a:latin typeface="Consolas" panose="020B0609020204030204" pitchFamily="49" charset="0"/>
                <a:cs typeface="Courier New" panose="02070309020205020404" pitchFamily="49" charset="0"/>
              </a:rPr>
              <a:t>=0; </a:t>
            </a:r>
            <a:r>
              <a:rPr lang="en-US" altLang="tr-TR" sz="1600" dirty="0" err="1">
                <a:solidFill>
                  <a:schemeClr val="accent2"/>
                </a:solidFill>
                <a:latin typeface="Consolas" panose="020B0609020204030204" pitchFamily="49" charset="0"/>
                <a:cs typeface="Courier New" panose="02070309020205020404" pitchFamily="49" charset="0"/>
              </a:rPr>
              <a:t>i</a:t>
            </a:r>
            <a:r>
              <a:rPr lang="en-US" altLang="tr-TR" sz="1600" dirty="0">
                <a:solidFill>
                  <a:schemeClr val="accent2"/>
                </a:solidFill>
                <a:latin typeface="Consolas" panose="020B0609020204030204" pitchFamily="49" charset="0"/>
                <a:cs typeface="Courier New" panose="02070309020205020404" pitchFamily="49" charset="0"/>
              </a:rPr>
              <a:t>&lt;count; </a:t>
            </a:r>
            <a:r>
              <a:rPr lang="en-US" altLang="tr-TR" sz="1600" dirty="0" err="1">
                <a:solidFill>
                  <a:schemeClr val="accent2"/>
                </a:solidFill>
                <a:latin typeface="Consolas" panose="020B0609020204030204" pitchFamily="49" charset="0"/>
                <a:cs typeface="Courier New" panose="02070309020205020404" pitchFamily="49" charset="0"/>
              </a:rPr>
              <a:t>i</a:t>
            </a:r>
            <a:r>
              <a:rPr lang="en-US" altLang="tr-TR" sz="1600" dirty="0">
                <a:solidFill>
                  <a:schemeClr val="accent2"/>
                </a:solidFill>
                <a:latin typeface="Consolas" panose="020B0609020204030204" pitchFamily="49" charset="0"/>
                <a:cs typeface="Courier New" panose="02070309020205020404" pitchFamily="49" charset="0"/>
              </a:rPr>
              <a:t>++)</a:t>
            </a:r>
          </a:p>
          <a:p>
            <a:pPr marL="1028700" indent="0">
              <a:buNone/>
            </a:pPr>
            <a:r>
              <a:rPr lang="en-US" altLang="tr-TR" sz="1600" dirty="0">
                <a:solidFill>
                  <a:schemeClr val="accent2"/>
                </a:solidFill>
                <a:latin typeface="Consolas" panose="020B0609020204030204" pitchFamily="49" charset="0"/>
                <a:cs typeface="Courier New" panose="02070309020205020404" pitchFamily="49" charset="0"/>
              </a:rPr>
              <a:t>      </a:t>
            </a:r>
            <a:r>
              <a:rPr lang="en-US" altLang="tr-TR" sz="1600" dirty="0" err="1">
                <a:solidFill>
                  <a:schemeClr val="accent2"/>
                </a:solidFill>
                <a:latin typeface="Consolas" panose="020B0609020204030204" pitchFamily="49" charset="0"/>
                <a:cs typeface="Courier New" panose="02070309020205020404" pitchFamily="49" charset="0"/>
              </a:rPr>
              <a:t>printf</a:t>
            </a:r>
            <a:r>
              <a:rPr lang="en-US" altLang="tr-TR" sz="1600" dirty="0">
                <a:solidFill>
                  <a:schemeClr val="accent2"/>
                </a:solidFill>
                <a:latin typeface="Consolas" panose="020B0609020204030204" pitchFamily="49" charset="0"/>
                <a:cs typeface="Courier New" panose="02070309020205020404" pitchFamily="49" charset="0"/>
              </a:rPr>
              <a:t>("%d",</a:t>
            </a:r>
            <a:r>
              <a:rPr lang="en-US" altLang="tr-TR" sz="1600" dirty="0" err="1">
                <a:solidFill>
                  <a:schemeClr val="accent2"/>
                </a:solidFill>
                <a:latin typeface="Consolas" panose="020B0609020204030204" pitchFamily="49" charset="0"/>
                <a:cs typeface="Courier New" panose="02070309020205020404" pitchFamily="49" charset="0"/>
              </a:rPr>
              <a:t>i</a:t>
            </a:r>
            <a:r>
              <a:rPr lang="en-US" altLang="tr-TR" sz="1600" dirty="0">
                <a:solidFill>
                  <a:schemeClr val="accent2"/>
                </a:solidFill>
                <a:latin typeface="Consolas" panose="020B0609020204030204" pitchFamily="49" charset="0"/>
                <a:cs typeface="Courier New" panose="02070309020205020404" pitchFamily="49" charset="0"/>
              </a:rPr>
              <a:t>);</a:t>
            </a:r>
          </a:p>
          <a:p>
            <a:pPr marL="1028700" indent="0">
              <a:buNone/>
            </a:pPr>
            <a:r>
              <a:rPr lang="en-US" altLang="tr-TR" sz="1600" dirty="0">
                <a:solidFill>
                  <a:schemeClr val="accent2"/>
                </a:solidFill>
                <a:latin typeface="Consolas" panose="020B0609020204030204" pitchFamily="49" charset="0"/>
                <a:cs typeface="Courier New" panose="02070309020205020404" pitchFamily="49" charset="0"/>
              </a:rPr>
              <a:t>   return 0;</a:t>
            </a:r>
          </a:p>
          <a:p>
            <a:pPr marL="1028700" indent="0">
              <a:buNone/>
            </a:pPr>
            <a:r>
              <a:rPr lang="en-US" altLang="tr-TR" sz="1600" dirty="0">
                <a:solidFill>
                  <a:schemeClr val="accent2"/>
                </a:solidFill>
                <a:latin typeface="Consolas" panose="020B0609020204030204" pitchFamily="49" charset="0"/>
                <a:cs typeface="Courier New" panose="02070309020205020404" pitchFamily="49" charset="0"/>
              </a:rPr>
              <a:t>}</a:t>
            </a:r>
          </a:p>
        </p:txBody>
      </p:sp>
      <p:sp>
        <p:nvSpPr>
          <p:cNvPr id="13315" name="Title 1"/>
          <p:cNvSpPr>
            <a:spLocks noGrp="1"/>
          </p:cNvSpPr>
          <p:nvPr>
            <p:ph type="title" idx="4294967295"/>
          </p:nvPr>
        </p:nvSpPr>
        <p:spPr/>
        <p:txBody>
          <a:bodyPr/>
          <a:lstStyle/>
          <a:p>
            <a:r>
              <a:rPr lang="en-US" altLang="tr-TR" dirty="0"/>
              <a:t>Scope and lifetime of variables</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19</a:t>
            </a:fld>
            <a:endParaRPr lang="en-US" altLang="tr-TR">
              <a:ea typeface="ＭＳ Ｐゴシック" panose="020B0600070205080204" pitchFamily="34" charset="-128"/>
            </a:endParaRPr>
          </a:p>
        </p:txBody>
      </p:sp>
      <p:pic>
        <p:nvPicPr>
          <p:cNvPr id="3" name="Picture 2" descr="C:\Users\agaoglu\agaoglu-docs\courses-recent\computer-programming\cse1142-2019-2020-2\source-codes-c\functions\c23_20_scopeLocGlb.ex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0699" y="1112531"/>
            <a:ext cx="4124901" cy="137179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233117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9"/>
          <p:cNvSpPr>
            <a:spLocks noGrp="1"/>
          </p:cNvSpPr>
          <p:nvPr>
            <p:ph type="title" idx="4294967295"/>
          </p:nvPr>
        </p:nvSpPr>
        <p:spPr/>
        <p:txBody>
          <a:bodyPr/>
          <a:lstStyle/>
          <a:p>
            <a:r>
              <a:rPr lang="en-US" altLang="tr-TR"/>
              <a:t>Global vs. local variables</a:t>
            </a:r>
          </a:p>
        </p:txBody>
      </p:sp>
      <p:graphicFrame>
        <p:nvGraphicFramePr>
          <p:cNvPr id="12" name="Content Placeholder 11"/>
          <p:cNvGraphicFramePr>
            <a:graphicFrameLocks noGrp="1"/>
          </p:cNvGraphicFramePr>
          <p:nvPr>
            <p:ph idx="4294967295"/>
            <p:extLst>
              <p:ext uri="{D42A27DB-BD31-4B8C-83A1-F6EECF244321}">
                <p14:modId xmlns:p14="http://schemas.microsoft.com/office/powerpoint/2010/main" val="1886011038"/>
              </p:ext>
            </p:extLst>
          </p:nvPr>
        </p:nvGraphicFramePr>
        <p:xfrm>
          <a:off x="1905000" y="1219201"/>
          <a:ext cx="8534400" cy="4849333"/>
        </p:xfrm>
        <a:graphic>
          <a:graphicData uri="http://schemas.openxmlformats.org/drawingml/2006/table">
            <a:tbl>
              <a:tblPr firstRow="1" bandRow="1">
                <a:tableStyleId>{21E4AEA4-8DFA-4A89-87EB-49C32662AFE0}</a:tableStyleId>
              </a:tblPr>
              <a:tblGrid>
                <a:gridCol w="42672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529790">
                <a:tc>
                  <a:txBody>
                    <a:bodyPr/>
                    <a:lstStyle/>
                    <a:p>
                      <a:r>
                        <a:rPr lang="en-US" sz="1800" dirty="0"/>
                        <a:t>Global variables</a:t>
                      </a:r>
                      <a:endParaRPr lang="en-US" sz="1800" dirty="0">
                        <a:solidFill>
                          <a:srgbClr val="FF0000"/>
                        </a:solidFill>
                      </a:endParaRPr>
                    </a:p>
                  </a:txBody>
                  <a:tcPr marT="45730" marB="4573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Local variables</a:t>
                      </a:r>
                      <a:endParaRPr lang="en-US" sz="1800" dirty="0">
                        <a:solidFill>
                          <a:srgbClr val="FF0000"/>
                        </a:solidFill>
                      </a:endParaRPr>
                    </a:p>
                  </a:txBody>
                  <a:tcPr marT="45730" marB="45730"/>
                </a:tc>
                <a:extLst>
                  <a:ext uri="{0D108BD9-81ED-4DB2-BD59-A6C34878D82A}">
                    <a16:rowId xmlns:a16="http://schemas.microsoft.com/office/drawing/2014/main" val="10000"/>
                  </a:ext>
                </a:extLst>
              </a:tr>
              <a:tr h="860859">
                <a:tc>
                  <a:txBody>
                    <a:bodyPr/>
                    <a:lstStyle/>
                    <a:p>
                      <a:r>
                        <a:rPr lang="en-US" sz="1800" dirty="0"/>
                        <a:t>Visible in all functions</a:t>
                      </a:r>
                    </a:p>
                  </a:txBody>
                  <a:tcPr marT="45730" marB="45730"/>
                </a:tc>
                <a:tc>
                  <a:txBody>
                    <a:bodyPr/>
                    <a:lstStyle/>
                    <a:p>
                      <a:r>
                        <a:rPr lang="en-US" sz="1800" dirty="0"/>
                        <a:t>Visible only within the function they are defined</a:t>
                      </a:r>
                    </a:p>
                  </a:txBody>
                  <a:tcPr marT="45730" marB="45730"/>
                </a:tc>
                <a:extLst>
                  <a:ext uri="{0D108BD9-81ED-4DB2-BD59-A6C34878D82A}">
                    <a16:rowId xmlns:a16="http://schemas.microsoft.com/office/drawing/2014/main" val="10001"/>
                  </a:ext>
                </a:extLst>
              </a:tr>
              <a:tr h="641753">
                <a:tc>
                  <a:txBody>
                    <a:bodyPr/>
                    <a:lstStyle/>
                    <a:p>
                      <a:r>
                        <a:rPr lang="en-US" sz="1800" dirty="0"/>
                        <a:t>Zero by default</a:t>
                      </a:r>
                    </a:p>
                  </a:txBody>
                  <a:tcPr marT="45730" marB="45730"/>
                </a:tc>
                <a:tc>
                  <a:txBody>
                    <a:bodyPr/>
                    <a:lstStyle/>
                    <a:p>
                      <a:r>
                        <a:rPr lang="en-US" sz="1800" dirty="0"/>
                        <a:t>Uninitialized</a:t>
                      </a:r>
                    </a:p>
                  </a:txBody>
                  <a:tcPr marT="45730" marB="45730"/>
                </a:tc>
                <a:extLst>
                  <a:ext uri="{0D108BD9-81ED-4DB2-BD59-A6C34878D82A}">
                    <a16:rowId xmlns:a16="http://schemas.microsoft.com/office/drawing/2014/main" val="10002"/>
                  </a:ext>
                </a:extLst>
              </a:tr>
              <a:tr h="1150188">
                <a:tc>
                  <a:txBody>
                    <a:bodyPr/>
                    <a:lstStyle/>
                    <a:p>
                      <a:r>
                        <a:rPr lang="en-US" sz="1800" dirty="0"/>
                        <a:t>A change made by a function is visible everywhere in the program</a:t>
                      </a:r>
                    </a:p>
                  </a:txBody>
                  <a:tcPr marT="45730" marB="45730"/>
                </a:tc>
                <a:tc>
                  <a:txBody>
                    <a:bodyPr/>
                    <a:lstStyle/>
                    <a:p>
                      <a:r>
                        <a:rPr lang="en-US" sz="1800" dirty="0"/>
                        <a:t>Any changes made on the value are lost when the function terminates (since the variable is also removed)</a:t>
                      </a:r>
                    </a:p>
                  </a:txBody>
                  <a:tcPr marT="45730" marB="45730"/>
                </a:tc>
                <a:extLst>
                  <a:ext uri="{0D108BD9-81ED-4DB2-BD59-A6C34878D82A}">
                    <a16:rowId xmlns:a16="http://schemas.microsoft.com/office/drawing/2014/main" val="10003"/>
                  </a:ext>
                </a:extLst>
              </a:tr>
              <a:tr h="752475">
                <a:tc>
                  <a:txBody>
                    <a:bodyPr/>
                    <a:lstStyle/>
                    <a:p>
                      <a:r>
                        <a:rPr lang="en-US" sz="1800" dirty="0"/>
                        <a:t>Scope extends</a:t>
                      </a:r>
                      <a:r>
                        <a:rPr lang="en-US" sz="1800" baseline="0" dirty="0"/>
                        <a:t> till the end of the file</a:t>
                      </a:r>
                      <a:endParaRPr lang="en-US" sz="1800" dirty="0"/>
                    </a:p>
                  </a:txBody>
                  <a:tcPr marT="45730" marB="45730"/>
                </a:tc>
                <a:tc>
                  <a:txBody>
                    <a:bodyPr/>
                    <a:lstStyle/>
                    <a:p>
                      <a:r>
                        <a:rPr lang="en-US" sz="1800" dirty="0"/>
                        <a:t>Scope covers</a:t>
                      </a:r>
                      <a:r>
                        <a:rPr lang="en-US" sz="1800" baseline="0" dirty="0"/>
                        <a:t> only the function</a:t>
                      </a:r>
                      <a:endParaRPr lang="en-US" sz="1800" dirty="0"/>
                    </a:p>
                  </a:txBody>
                  <a:tcPr marT="45730" marB="45730"/>
                </a:tc>
                <a:extLst>
                  <a:ext uri="{0D108BD9-81ED-4DB2-BD59-A6C34878D82A}">
                    <a16:rowId xmlns:a16="http://schemas.microsoft.com/office/drawing/2014/main" val="10004"/>
                  </a:ext>
                </a:extLst>
              </a:tr>
              <a:tr h="914268">
                <a:tc>
                  <a:txBody>
                    <a:bodyPr/>
                    <a:lstStyle/>
                    <a:p>
                      <a:r>
                        <a:rPr lang="en-US" sz="1800" dirty="0"/>
                        <a:t>Lifetime spans the</a:t>
                      </a:r>
                      <a:r>
                        <a:rPr lang="en-US" sz="1800" baseline="0" dirty="0"/>
                        <a:t> lifetime of the program</a:t>
                      </a:r>
                      <a:endParaRPr lang="en-US" sz="1800" dirty="0"/>
                    </a:p>
                  </a:txBody>
                  <a:tcPr marT="45730" marB="45730"/>
                </a:tc>
                <a:tc>
                  <a:txBody>
                    <a:bodyPr/>
                    <a:lstStyle/>
                    <a:p>
                      <a:r>
                        <a:rPr lang="en-US" sz="1800" dirty="0"/>
                        <a:t>Lifetime ends with the function</a:t>
                      </a:r>
                    </a:p>
                  </a:txBody>
                  <a:tcPr marT="45730" marB="45730"/>
                </a:tc>
                <a:extLst>
                  <a:ext uri="{0D108BD9-81ED-4DB2-BD59-A6C34878D82A}">
                    <a16:rowId xmlns:a16="http://schemas.microsoft.com/office/drawing/2014/main" val="10005"/>
                  </a:ext>
                </a:extLst>
              </a:tr>
            </a:tbl>
          </a:graphicData>
        </a:graphic>
      </p:graphicFrame>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20</a:t>
            </a:fld>
            <a:endParaRPr lang="en-US" altLang="tr-TR" dirty="0">
              <a:ea typeface="ＭＳ Ｐゴシック" panose="020B0600070205080204" pitchFamily="34" charset="-128"/>
            </a:endParaRPr>
          </a:p>
        </p:txBody>
      </p:sp>
    </p:spTree>
    <p:extLst>
      <p:ext uri="{BB962C8B-B14F-4D97-AF65-F5344CB8AC3E}">
        <p14:creationId xmlns:p14="http://schemas.microsoft.com/office/powerpoint/2010/main" val="2031586215"/>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p:txBody>
          <a:bodyPr/>
          <a:lstStyle/>
          <a:p>
            <a:r>
              <a:rPr lang="en-US" altLang="tr-TR"/>
              <a:t>Changing local variables</a:t>
            </a:r>
          </a:p>
        </p:txBody>
      </p:sp>
      <p:sp>
        <p:nvSpPr>
          <p:cNvPr id="49155" name="Rectangle 3"/>
          <p:cNvSpPr>
            <a:spLocks noGrp="1" noChangeArrowheads="1"/>
          </p:cNvSpPr>
          <p:nvPr>
            <p:ph type="body" idx="4294967295"/>
          </p:nvPr>
        </p:nvSpPr>
        <p:spPr/>
        <p:txBody>
          <a:bodyPr rtlCol="0">
            <a:normAutofit/>
          </a:bodyPr>
          <a:lstStyle/>
          <a:p>
            <a:pPr fontAlgn="auto">
              <a:lnSpc>
                <a:spcPct val="90000"/>
              </a:lnSpc>
              <a:spcAft>
                <a:spcPts val="0"/>
              </a:spcAft>
              <a:defRPr/>
            </a:pPr>
            <a:r>
              <a:rPr lang="en-US" dirty="0"/>
              <a:t>Any change made on local variables is </a:t>
            </a:r>
            <a:r>
              <a:rPr lang="en-US" u="sng" dirty="0"/>
              <a:t>lost</a:t>
            </a:r>
            <a:r>
              <a:rPr lang="en-US" dirty="0"/>
              <a:t> after the function terminates.</a:t>
            </a:r>
          </a:p>
          <a:p>
            <a:pPr lvl="1" fontAlgn="auto">
              <a:lnSpc>
                <a:spcPct val="90000"/>
              </a:lnSpc>
              <a:spcAft>
                <a:spcPts val="0"/>
              </a:spcAft>
              <a:buNone/>
              <a:defRPr/>
            </a:pPr>
            <a:endParaRPr lang="tr-TR" sz="2000" dirty="0" smtClean="0">
              <a:solidFill>
                <a:schemeClr val="accent2"/>
              </a:solidFill>
              <a:latin typeface="Consolas" panose="020B0609020204030204" pitchFamily="49" charset="0"/>
            </a:endParaRPr>
          </a:p>
          <a:p>
            <a:pPr lvl="1" fontAlgn="auto">
              <a:lnSpc>
                <a:spcPct val="90000"/>
              </a:lnSpc>
              <a:spcAft>
                <a:spcPts val="0"/>
              </a:spcAft>
              <a:buNone/>
              <a:defRPr/>
            </a:pPr>
            <a:r>
              <a:rPr lang="en-US" sz="2000" dirty="0" smtClean="0">
                <a:solidFill>
                  <a:schemeClr val="accent2"/>
                </a:solidFill>
                <a:latin typeface="Consolas" panose="020B0609020204030204" pitchFamily="49" charset="0"/>
              </a:rPr>
              <a:t>void </a:t>
            </a:r>
            <a:r>
              <a:rPr lang="en-US" sz="2000" dirty="0">
                <a:solidFill>
                  <a:schemeClr val="accent2"/>
                </a:solidFill>
                <a:latin typeface="Consolas" panose="020B0609020204030204" pitchFamily="49" charset="0"/>
              </a:rPr>
              <a:t>f()</a:t>
            </a:r>
          </a:p>
          <a:p>
            <a:pPr lvl="1" fontAlgn="auto">
              <a:lnSpc>
                <a:spcPct val="90000"/>
              </a:lnSpc>
              <a:spcAft>
                <a:spcPts val="0"/>
              </a:spcAft>
              <a:buNone/>
              <a:defRPr/>
            </a:pPr>
            <a:r>
              <a:rPr lang="en-US" sz="2000" dirty="0">
                <a:solidFill>
                  <a:schemeClr val="accent2"/>
                </a:solidFill>
                <a:latin typeface="Consolas" panose="020B0609020204030204" pitchFamily="49" charset="0"/>
              </a:rPr>
              <a:t>{  </a:t>
            </a:r>
            <a:r>
              <a:rPr lang="en-US" sz="2000" dirty="0" err="1">
                <a:solidFill>
                  <a:schemeClr val="accent2"/>
                </a:solidFill>
                <a:latin typeface="Consolas" panose="020B0609020204030204" pitchFamily="49" charset="0"/>
              </a:rPr>
              <a:t>int</a:t>
            </a:r>
            <a:r>
              <a:rPr lang="en-US" sz="2000" dirty="0">
                <a:solidFill>
                  <a:schemeClr val="accent2"/>
                </a:solidFill>
                <a:latin typeface="Consolas" panose="020B0609020204030204" pitchFamily="49" charset="0"/>
              </a:rPr>
              <a:t> a=10;</a:t>
            </a:r>
          </a:p>
          <a:p>
            <a:pPr lvl="1" fontAlgn="auto">
              <a:lnSpc>
                <a:spcPct val="90000"/>
              </a:lnSpc>
              <a:spcAft>
                <a:spcPts val="0"/>
              </a:spcAft>
              <a:buNone/>
              <a:defRPr/>
            </a:pPr>
            <a:r>
              <a:rPr lang="en-US" sz="2000" dirty="0">
                <a:solidFill>
                  <a:schemeClr val="accent2"/>
                </a:solidFill>
                <a:latin typeface="Consolas" panose="020B0609020204030204" pitchFamily="49" charset="0"/>
              </a:rPr>
              <a:t>   a++;</a:t>
            </a:r>
          </a:p>
          <a:p>
            <a:pPr lvl="1" fontAlgn="auto">
              <a:lnSpc>
                <a:spcPct val="90000"/>
              </a:lnSpc>
              <a:spcAft>
                <a:spcPts val="0"/>
              </a:spcAft>
              <a:buNone/>
              <a:defRPr/>
            </a:pPr>
            <a:r>
              <a:rPr lang="en-US" sz="2000" dirty="0">
                <a:solidFill>
                  <a:schemeClr val="accent2"/>
                </a:solidFill>
                <a:latin typeface="Consolas" panose="020B0609020204030204" pitchFamily="49" charset="0"/>
              </a:rPr>
              <a:t>   </a:t>
            </a:r>
            <a:r>
              <a:rPr lang="en-US" sz="2000" dirty="0" err="1">
                <a:solidFill>
                  <a:schemeClr val="accent2"/>
                </a:solidFill>
                <a:latin typeface="Consolas" panose="020B0609020204030204" pitchFamily="49" charset="0"/>
              </a:rPr>
              <a:t>printf</a:t>
            </a:r>
            <a:r>
              <a:rPr lang="en-US" sz="2000" dirty="0">
                <a:solidFill>
                  <a:schemeClr val="accent2"/>
                </a:solidFill>
                <a:latin typeface="Consolas" panose="020B0609020204030204" pitchFamily="49" charset="0"/>
              </a:rPr>
              <a:t>("in f(): a=%d\</a:t>
            </a:r>
            <a:r>
              <a:rPr lang="en-US" sz="2000" dirty="0" err="1">
                <a:solidFill>
                  <a:schemeClr val="accent2"/>
                </a:solidFill>
                <a:latin typeface="Consolas" panose="020B0609020204030204" pitchFamily="49" charset="0"/>
              </a:rPr>
              <a:t>n",a</a:t>
            </a:r>
            <a:r>
              <a:rPr lang="en-US" sz="2000" dirty="0">
                <a:solidFill>
                  <a:schemeClr val="accent2"/>
                </a:solidFill>
                <a:latin typeface="Consolas" panose="020B0609020204030204" pitchFamily="49" charset="0"/>
              </a:rPr>
              <a:t>);</a:t>
            </a:r>
          </a:p>
          <a:p>
            <a:pPr lvl="1" fontAlgn="auto">
              <a:lnSpc>
                <a:spcPct val="90000"/>
              </a:lnSpc>
              <a:spcAft>
                <a:spcPts val="0"/>
              </a:spcAft>
              <a:buNone/>
              <a:defRPr/>
            </a:pPr>
            <a:r>
              <a:rPr lang="en-US" sz="2000" dirty="0" smtClean="0">
                <a:solidFill>
                  <a:schemeClr val="accent2"/>
                </a:solidFill>
                <a:latin typeface="Consolas" panose="020B0609020204030204" pitchFamily="49" charset="0"/>
              </a:rPr>
              <a:t>}</a:t>
            </a:r>
            <a:endParaRPr lang="tr-TR" sz="2000" dirty="0" smtClean="0">
              <a:solidFill>
                <a:schemeClr val="accent2"/>
              </a:solidFill>
              <a:latin typeface="Consolas" panose="020B0609020204030204" pitchFamily="49" charset="0"/>
            </a:endParaRPr>
          </a:p>
          <a:p>
            <a:pPr lvl="1" fontAlgn="auto">
              <a:lnSpc>
                <a:spcPct val="90000"/>
              </a:lnSpc>
              <a:spcAft>
                <a:spcPts val="0"/>
              </a:spcAft>
              <a:buNone/>
              <a:defRPr/>
            </a:pPr>
            <a:endParaRPr lang="en-US" sz="2000" dirty="0">
              <a:solidFill>
                <a:schemeClr val="accent2"/>
              </a:solidFill>
              <a:latin typeface="Consolas" panose="020B0609020204030204" pitchFamily="49" charset="0"/>
            </a:endParaRPr>
          </a:p>
          <a:p>
            <a:pPr lvl="1" fontAlgn="auto">
              <a:lnSpc>
                <a:spcPct val="90000"/>
              </a:lnSpc>
              <a:spcAft>
                <a:spcPts val="0"/>
              </a:spcAft>
              <a:buNone/>
              <a:defRPr/>
            </a:pPr>
            <a:r>
              <a:rPr lang="en-US" sz="2000" dirty="0" err="1">
                <a:solidFill>
                  <a:schemeClr val="accent2"/>
                </a:solidFill>
                <a:latin typeface="Consolas" panose="020B0609020204030204" pitchFamily="49" charset="0"/>
              </a:rPr>
              <a:t>int</a:t>
            </a:r>
            <a:r>
              <a:rPr lang="en-US" sz="2000" dirty="0">
                <a:solidFill>
                  <a:schemeClr val="accent2"/>
                </a:solidFill>
                <a:latin typeface="Consolas" panose="020B0609020204030204" pitchFamily="49" charset="0"/>
              </a:rPr>
              <a:t> main()</a:t>
            </a:r>
          </a:p>
          <a:p>
            <a:pPr lvl="1" fontAlgn="auto">
              <a:lnSpc>
                <a:spcPct val="90000"/>
              </a:lnSpc>
              <a:spcAft>
                <a:spcPts val="0"/>
              </a:spcAft>
              <a:buNone/>
              <a:defRPr/>
            </a:pPr>
            <a:r>
              <a:rPr lang="en-US" sz="2000" dirty="0">
                <a:solidFill>
                  <a:schemeClr val="accent2"/>
                </a:solidFill>
                <a:latin typeface="Consolas" panose="020B0609020204030204" pitchFamily="49" charset="0"/>
              </a:rPr>
              <a:t>{  </a:t>
            </a:r>
            <a:r>
              <a:rPr lang="en-US" sz="2000" dirty="0" err="1">
                <a:solidFill>
                  <a:schemeClr val="accent2"/>
                </a:solidFill>
                <a:latin typeface="Consolas" panose="020B0609020204030204" pitchFamily="49" charset="0"/>
              </a:rPr>
              <a:t>int</a:t>
            </a:r>
            <a:r>
              <a:rPr lang="en-US" sz="2000" dirty="0">
                <a:solidFill>
                  <a:schemeClr val="accent2"/>
                </a:solidFill>
                <a:latin typeface="Consolas" panose="020B0609020204030204" pitchFamily="49" charset="0"/>
              </a:rPr>
              <a:t> a=5;</a:t>
            </a:r>
          </a:p>
          <a:p>
            <a:pPr lvl="1" fontAlgn="auto">
              <a:lnSpc>
                <a:spcPct val="90000"/>
              </a:lnSpc>
              <a:spcAft>
                <a:spcPts val="0"/>
              </a:spcAft>
              <a:buNone/>
              <a:defRPr/>
            </a:pPr>
            <a:r>
              <a:rPr lang="en-US" sz="2000" dirty="0">
                <a:solidFill>
                  <a:schemeClr val="accent2"/>
                </a:solidFill>
                <a:latin typeface="Consolas" panose="020B0609020204030204" pitchFamily="49" charset="0"/>
              </a:rPr>
              <a:t>   f();</a:t>
            </a:r>
          </a:p>
          <a:p>
            <a:pPr lvl="1" fontAlgn="auto">
              <a:lnSpc>
                <a:spcPct val="90000"/>
              </a:lnSpc>
              <a:spcAft>
                <a:spcPts val="0"/>
              </a:spcAft>
              <a:buNone/>
              <a:defRPr/>
            </a:pPr>
            <a:r>
              <a:rPr lang="en-US" sz="2000" dirty="0">
                <a:solidFill>
                  <a:schemeClr val="accent2"/>
                </a:solidFill>
                <a:latin typeface="Consolas" panose="020B0609020204030204" pitchFamily="49" charset="0"/>
              </a:rPr>
              <a:t>   </a:t>
            </a:r>
            <a:r>
              <a:rPr lang="en-US" sz="2000" dirty="0" err="1">
                <a:solidFill>
                  <a:schemeClr val="accent2"/>
                </a:solidFill>
                <a:latin typeface="Consolas" panose="020B0609020204030204" pitchFamily="49" charset="0"/>
              </a:rPr>
              <a:t>printf</a:t>
            </a:r>
            <a:r>
              <a:rPr lang="en-US" sz="2000" dirty="0">
                <a:solidFill>
                  <a:schemeClr val="accent2"/>
                </a:solidFill>
                <a:latin typeface="Consolas" panose="020B0609020204030204" pitchFamily="49" charset="0"/>
              </a:rPr>
              <a:t>("After first call to f(): a=%d\</a:t>
            </a:r>
            <a:r>
              <a:rPr lang="en-US" sz="2000" dirty="0" err="1">
                <a:solidFill>
                  <a:schemeClr val="accent2"/>
                </a:solidFill>
                <a:latin typeface="Consolas" panose="020B0609020204030204" pitchFamily="49" charset="0"/>
              </a:rPr>
              <a:t>n",a</a:t>
            </a:r>
            <a:r>
              <a:rPr lang="en-US" sz="2000" dirty="0">
                <a:solidFill>
                  <a:schemeClr val="accent2"/>
                </a:solidFill>
                <a:latin typeface="Consolas" panose="020B0609020204030204" pitchFamily="49" charset="0"/>
              </a:rPr>
              <a:t>);</a:t>
            </a:r>
          </a:p>
          <a:p>
            <a:pPr lvl="1" fontAlgn="auto">
              <a:lnSpc>
                <a:spcPct val="90000"/>
              </a:lnSpc>
              <a:spcAft>
                <a:spcPts val="0"/>
              </a:spcAft>
              <a:buNone/>
              <a:defRPr/>
            </a:pPr>
            <a:r>
              <a:rPr lang="en-US" sz="2000" dirty="0">
                <a:solidFill>
                  <a:schemeClr val="accent2"/>
                </a:solidFill>
                <a:latin typeface="Consolas" panose="020B0609020204030204" pitchFamily="49" charset="0"/>
              </a:rPr>
              <a:t>   f();</a:t>
            </a:r>
          </a:p>
          <a:p>
            <a:pPr lvl="1" fontAlgn="auto">
              <a:lnSpc>
                <a:spcPct val="90000"/>
              </a:lnSpc>
              <a:spcAft>
                <a:spcPts val="0"/>
              </a:spcAft>
              <a:buNone/>
              <a:defRPr/>
            </a:pPr>
            <a:r>
              <a:rPr lang="en-US" sz="2000" dirty="0">
                <a:solidFill>
                  <a:schemeClr val="accent2"/>
                </a:solidFill>
                <a:latin typeface="Consolas" panose="020B0609020204030204" pitchFamily="49" charset="0"/>
              </a:rPr>
              <a:t>   </a:t>
            </a:r>
            <a:r>
              <a:rPr lang="en-US" sz="2000" dirty="0" err="1">
                <a:solidFill>
                  <a:schemeClr val="accent2"/>
                </a:solidFill>
                <a:latin typeface="Consolas" panose="020B0609020204030204" pitchFamily="49" charset="0"/>
              </a:rPr>
              <a:t>printf</a:t>
            </a:r>
            <a:r>
              <a:rPr lang="en-US" sz="2000" dirty="0">
                <a:solidFill>
                  <a:schemeClr val="accent2"/>
                </a:solidFill>
                <a:latin typeface="Consolas" panose="020B0609020204030204" pitchFamily="49" charset="0"/>
              </a:rPr>
              <a:t>("After second call to f(): a=%d\</a:t>
            </a:r>
            <a:r>
              <a:rPr lang="en-US" sz="2000" dirty="0" err="1">
                <a:solidFill>
                  <a:schemeClr val="accent2"/>
                </a:solidFill>
                <a:latin typeface="Consolas" panose="020B0609020204030204" pitchFamily="49" charset="0"/>
              </a:rPr>
              <a:t>n",a</a:t>
            </a:r>
            <a:r>
              <a:rPr lang="en-US" sz="2000" dirty="0">
                <a:solidFill>
                  <a:schemeClr val="accent2"/>
                </a:solidFill>
                <a:latin typeface="Consolas" panose="020B0609020204030204" pitchFamily="49" charset="0"/>
              </a:rPr>
              <a:t>);</a:t>
            </a:r>
          </a:p>
          <a:p>
            <a:pPr lvl="1" fontAlgn="auto">
              <a:lnSpc>
                <a:spcPct val="90000"/>
              </a:lnSpc>
              <a:spcAft>
                <a:spcPts val="0"/>
              </a:spcAft>
              <a:buNone/>
              <a:defRPr/>
            </a:pPr>
            <a:r>
              <a:rPr lang="en-US" sz="2000" dirty="0">
                <a:solidFill>
                  <a:schemeClr val="accent2"/>
                </a:solidFill>
                <a:latin typeface="Consolas" panose="020B0609020204030204" pitchFamily="49" charset="0"/>
              </a:rPr>
              <a:t>}</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21</a:t>
            </a:fld>
            <a:endParaRPr lang="en-US" altLang="tr-TR">
              <a:ea typeface="ＭＳ Ｐゴシック" panose="020B0600070205080204" pitchFamily="34" charset="-128"/>
            </a:endParaRPr>
          </a:p>
        </p:txBody>
      </p:sp>
      <p:pic>
        <p:nvPicPr>
          <p:cNvPr id="4" name="Picture 3" descr="C:\Users\agaoglu\agaoglu-docs\courses-recent\computer-programming\cse1142-2019-2020-2\Lecture-Source-Codes-c\functions\C23_25_localVar.ex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1647" y="1939670"/>
            <a:ext cx="4143953" cy="182905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033842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p:txBody>
          <a:bodyPr/>
          <a:lstStyle/>
          <a:p>
            <a:r>
              <a:rPr lang="en-US" altLang="tr-TR"/>
              <a:t>Changing global variables</a:t>
            </a:r>
          </a:p>
        </p:txBody>
      </p:sp>
      <p:sp>
        <p:nvSpPr>
          <p:cNvPr id="50179" name="Rectangle 3"/>
          <p:cNvSpPr>
            <a:spLocks noGrp="1" noChangeArrowheads="1"/>
          </p:cNvSpPr>
          <p:nvPr>
            <p:ph type="body" idx="4294967295"/>
          </p:nvPr>
        </p:nvSpPr>
        <p:spPr>
          <a:xfrm>
            <a:off x="304800" y="898526"/>
            <a:ext cx="11480800" cy="5419724"/>
          </a:xfrm>
        </p:spPr>
        <p:txBody>
          <a:bodyPr rtlCol="0">
            <a:normAutofit/>
          </a:bodyPr>
          <a:lstStyle/>
          <a:p>
            <a:pPr fontAlgn="auto">
              <a:lnSpc>
                <a:spcPct val="80000"/>
              </a:lnSpc>
              <a:spcAft>
                <a:spcPts val="0"/>
              </a:spcAft>
              <a:defRPr/>
            </a:pPr>
            <a:r>
              <a:rPr lang="en-US" dirty="0"/>
              <a:t>Any change made on global variables </a:t>
            </a:r>
            <a:r>
              <a:rPr lang="en-US" u="sng" dirty="0"/>
              <a:t>remains</a:t>
            </a:r>
            <a:r>
              <a:rPr lang="en-US" dirty="0"/>
              <a:t> after the function terminates.</a:t>
            </a:r>
          </a:p>
          <a:p>
            <a:pPr lvl="1" fontAlgn="auto">
              <a:lnSpc>
                <a:spcPct val="80000"/>
              </a:lnSpc>
              <a:spcAft>
                <a:spcPts val="0"/>
              </a:spcAft>
              <a:buNone/>
              <a:defRPr/>
            </a:pPr>
            <a:endParaRPr lang="tr-TR" sz="2000" dirty="0" smtClean="0">
              <a:solidFill>
                <a:schemeClr val="accent2"/>
              </a:solidFill>
              <a:latin typeface="Consolas" panose="020B0609020204030204" pitchFamily="49" charset="0"/>
            </a:endParaRPr>
          </a:p>
          <a:p>
            <a:pPr lvl="1" fontAlgn="auto">
              <a:lnSpc>
                <a:spcPct val="80000"/>
              </a:lnSpc>
              <a:spcAft>
                <a:spcPts val="0"/>
              </a:spcAft>
              <a:buNone/>
              <a:defRPr/>
            </a:pPr>
            <a:r>
              <a:rPr lang="en-US" sz="2000" dirty="0" err="1" smtClean="0">
                <a:solidFill>
                  <a:schemeClr val="accent2"/>
                </a:solidFill>
                <a:latin typeface="Consolas" panose="020B0609020204030204" pitchFamily="49" charset="0"/>
              </a:rPr>
              <a:t>int</a:t>
            </a:r>
            <a:r>
              <a:rPr lang="en-US" sz="2000" dirty="0" smtClean="0">
                <a:solidFill>
                  <a:schemeClr val="accent2"/>
                </a:solidFill>
                <a:latin typeface="Consolas" panose="020B0609020204030204" pitchFamily="49" charset="0"/>
              </a:rPr>
              <a:t> </a:t>
            </a:r>
            <a:r>
              <a:rPr lang="en-US" sz="2000" dirty="0">
                <a:solidFill>
                  <a:schemeClr val="accent2"/>
                </a:solidFill>
                <a:latin typeface="Consolas" panose="020B0609020204030204" pitchFamily="49" charset="0"/>
              </a:rPr>
              <a:t>b;</a:t>
            </a:r>
          </a:p>
          <a:p>
            <a:pPr lvl="1" fontAlgn="auto">
              <a:lnSpc>
                <a:spcPct val="80000"/>
              </a:lnSpc>
              <a:spcAft>
                <a:spcPts val="0"/>
              </a:spcAft>
              <a:buNone/>
              <a:defRPr/>
            </a:pPr>
            <a:endParaRPr lang="tr-TR" sz="1200" dirty="0" smtClean="0">
              <a:solidFill>
                <a:schemeClr val="accent2"/>
              </a:solidFill>
              <a:latin typeface="Consolas" panose="020B0609020204030204" pitchFamily="49" charset="0"/>
            </a:endParaRPr>
          </a:p>
          <a:p>
            <a:pPr lvl="1" fontAlgn="auto">
              <a:lnSpc>
                <a:spcPct val="80000"/>
              </a:lnSpc>
              <a:spcAft>
                <a:spcPts val="0"/>
              </a:spcAft>
              <a:buNone/>
              <a:defRPr/>
            </a:pPr>
            <a:r>
              <a:rPr lang="en-US" sz="2000" dirty="0" smtClean="0">
                <a:solidFill>
                  <a:schemeClr val="accent2"/>
                </a:solidFill>
                <a:latin typeface="Consolas" panose="020B0609020204030204" pitchFamily="49" charset="0"/>
              </a:rPr>
              <a:t>void </a:t>
            </a:r>
            <a:r>
              <a:rPr lang="en-US" sz="2000" dirty="0">
                <a:solidFill>
                  <a:schemeClr val="accent2"/>
                </a:solidFill>
                <a:latin typeface="Consolas" panose="020B0609020204030204" pitchFamily="49" charset="0"/>
              </a:rPr>
              <a:t>f()</a:t>
            </a:r>
          </a:p>
          <a:p>
            <a:pPr lvl="1" fontAlgn="auto">
              <a:lnSpc>
                <a:spcPct val="80000"/>
              </a:lnSpc>
              <a:spcAft>
                <a:spcPts val="0"/>
              </a:spcAft>
              <a:buNone/>
              <a:defRPr/>
            </a:pPr>
            <a:r>
              <a:rPr lang="en-US" sz="2000" dirty="0">
                <a:solidFill>
                  <a:schemeClr val="accent2"/>
                </a:solidFill>
                <a:latin typeface="Consolas" panose="020B0609020204030204" pitchFamily="49" charset="0"/>
              </a:rPr>
              <a:t>{</a:t>
            </a:r>
          </a:p>
          <a:p>
            <a:pPr lvl="1" fontAlgn="auto">
              <a:lnSpc>
                <a:spcPct val="80000"/>
              </a:lnSpc>
              <a:spcAft>
                <a:spcPts val="0"/>
              </a:spcAft>
              <a:buNone/>
              <a:defRPr/>
            </a:pPr>
            <a:r>
              <a:rPr lang="en-US" sz="2000" dirty="0">
                <a:solidFill>
                  <a:schemeClr val="accent2"/>
                </a:solidFill>
                <a:latin typeface="Consolas" panose="020B0609020204030204" pitchFamily="49" charset="0"/>
              </a:rPr>
              <a:t>   b++;</a:t>
            </a:r>
          </a:p>
          <a:p>
            <a:pPr lvl="1" fontAlgn="auto">
              <a:lnSpc>
                <a:spcPct val="80000"/>
              </a:lnSpc>
              <a:spcAft>
                <a:spcPts val="0"/>
              </a:spcAft>
              <a:buNone/>
              <a:defRPr/>
            </a:pPr>
            <a:r>
              <a:rPr lang="en-US" sz="2000" dirty="0">
                <a:solidFill>
                  <a:schemeClr val="accent2"/>
                </a:solidFill>
                <a:latin typeface="Consolas" panose="020B0609020204030204" pitchFamily="49" charset="0"/>
              </a:rPr>
              <a:t>   </a:t>
            </a:r>
            <a:r>
              <a:rPr lang="en-US" sz="2000" dirty="0" err="1">
                <a:solidFill>
                  <a:schemeClr val="accent2"/>
                </a:solidFill>
                <a:latin typeface="Consolas" panose="020B0609020204030204" pitchFamily="49" charset="0"/>
              </a:rPr>
              <a:t>printf</a:t>
            </a:r>
            <a:r>
              <a:rPr lang="en-US" sz="2000" dirty="0">
                <a:solidFill>
                  <a:schemeClr val="accent2"/>
                </a:solidFill>
                <a:latin typeface="Consolas" panose="020B0609020204030204" pitchFamily="49" charset="0"/>
              </a:rPr>
              <a:t>("in f(): b=%d\</a:t>
            </a:r>
            <a:r>
              <a:rPr lang="en-US" sz="2000" dirty="0" err="1">
                <a:solidFill>
                  <a:schemeClr val="accent2"/>
                </a:solidFill>
                <a:latin typeface="Consolas" panose="020B0609020204030204" pitchFamily="49" charset="0"/>
              </a:rPr>
              <a:t>n",b</a:t>
            </a:r>
            <a:r>
              <a:rPr lang="en-US" sz="2000" dirty="0">
                <a:solidFill>
                  <a:schemeClr val="accent2"/>
                </a:solidFill>
                <a:latin typeface="Consolas" panose="020B0609020204030204" pitchFamily="49" charset="0"/>
              </a:rPr>
              <a:t>);</a:t>
            </a:r>
          </a:p>
          <a:p>
            <a:pPr lvl="1" fontAlgn="auto">
              <a:lnSpc>
                <a:spcPct val="80000"/>
              </a:lnSpc>
              <a:spcAft>
                <a:spcPts val="0"/>
              </a:spcAft>
              <a:buNone/>
              <a:defRPr/>
            </a:pPr>
            <a:r>
              <a:rPr lang="en-US" sz="2000" dirty="0" smtClean="0">
                <a:solidFill>
                  <a:schemeClr val="accent2"/>
                </a:solidFill>
                <a:latin typeface="Consolas" panose="020B0609020204030204" pitchFamily="49" charset="0"/>
              </a:rPr>
              <a:t>}</a:t>
            </a:r>
            <a:endParaRPr lang="tr-TR" sz="2000" dirty="0" smtClean="0">
              <a:solidFill>
                <a:schemeClr val="accent2"/>
              </a:solidFill>
              <a:latin typeface="Consolas" panose="020B0609020204030204" pitchFamily="49" charset="0"/>
            </a:endParaRPr>
          </a:p>
          <a:p>
            <a:pPr lvl="1" fontAlgn="auto">
              <a:lnSpc>
                <a:spcPct val="80000"/>
              </a:lnSpc>
              <a:spcAft>
                <a:spcPts val="0"/>
              </a:spcAft>
              <a:buNone/>
              <a:defRPr/>
            </a:pPr>
            <a:endParaRPr lang="en-US" sz="1200" dirty="0">
              <a:solidFill>
                <a:schemeClr val="accent2"/>
              </a:solidFill>
              <a:latin typeface="Consolas" panose="020B0609020204030204" pitchFamily="49" charset="0"/>
            </a:endParaRPr>
          </a:p>
          <a:p>
            <a:pPr lvl="1" fontAlgn="auto">
              <a:lnSpc>
                <a:spcPct val="80000"/>
              </a:lnSpc>
              <a:spcAft>
                <a:spcPts val="0"/>
              </a:spcAft>
              <a:buNone/>
              <a:defRPr/>
            </a:pPr>
            <a:r>
              <a:rPr lang="en-US" sz="2000" dirty="0" err="1">
                <a:solidFill>
                  <a:schemeClr val="accent2"/>
                </a:solidFill>
                <a:latin typeface="Consolas" panose="020B0609020204030204" pitchFamily="49" charset="0"/>
              </a:rPr>
              <a:t>int</a:t>
            </a:r>
            <a:r>
              <a:rPr lang="en-US" sz="2000" dirty="0">
                <a:solidFill>
                  <a:schemeClr val="accent2"/>
                </a:solidFill>
                <a:latin typeface="Consolas" panose="020B0609020204030204" pitchFamily="49" charset="0"/>
              </a:rPr>
              <a:t> main()</a:t>
            </a:r>
          </a:p>
          <a:p>
            <a:pPr lvl="1" fontAlgn="auto">
              <a:lnSpc>
                <a:spcPct val="80000"/>
              </a:lnSpc>
              <a:spcAft>
                <a:spcPts val="0"/>
              </a:spcAft>
              <a:buNone/>
              <a:defRPr/>
            </a:pPr>
            <a:r>
              <a:rPr lang="en-US" sz="2000" dirty="0">
                <a:solidFill>
                  <a:schemeClr val="accent2"/>
                </a:solidFill>
                <a:latin typeface="Consolas" panose="020B0609020204030204" pitchFamily="49" charset="0"/>
              </a:rPr>
              <a:t>{  </a:t>
            </a:r>
          </a:p>
          <a:p>
            <a:pPr lvl="1" fontAlgn="auto">
              <a:lnSpc>
                <a:spcPct val="80000"/>
              </a:lnSpc>
              <a:spcAft>
                <a:spcPts val="0"/>
              </a:spcAft>
              <a:buNone/>
              <a:defRPr/>
            </a:pPr>
            <a:r>
              <a:rPr lang="en-US" sz="2000" dirty="0">
                <a:solidFill>
                  <a:schemeClr val="accent2"/>
                </a:solidFill>
                <a:latin typeface="Consolas" panose="020B0609020204030204" pitchFamily="49" charset="0"/>
              </a:rPr>
              <a:t>   f();</a:t>
            </a:r>
          </a:p>
          <a:p>
            <a:pPr lvl="1" fontAlgn="auto">
              <a:lnSpc>
                <a:spcPct val="80000"/>
              </a:lnSpc>
              <a:spcAft>
                <a:spcPts val="0"/>
              </a:spcAft>
              <a:buNone/>
              <a:defRPr/>
            </a:pPr>
            <a:r>
              <a:rPr lang="en-US" sz="2000" dirty="0">
                <a:solidFill>
                  <a:schemeClr val="accent2"/>
                </a:solidFill>
                <a:latin typeface="Consolas" panose="020B0609020204030204" pitchFamily="49" charset="0"/>
              </a:rPr>
              <a:t>   </a:t>
            </a:r>
            <a:r>
              <a:rPr lang="en-US" sz="2000" dirty="0" err="1">
                <a:solidFill>
                  <a:schemeClr val="accent2"/>
                </a:solidFill>
                <a:latin typeface="Consolas" panose="020B0609020204030204" pitchFamily="49" charset="0"/>
              </a:rPr>
              <a:t>printf</a:t>
            </a:r>
            <a:r>
              <a:rPr lang="en-US" sz="2000" dirty="0">
                <a:solidFill>
                  <a:schemeClr val="accent2"/>
                </a:solidFill>
                <a:latin typeface="Consolas" panose="020B0609020204030204" pitchFamily="49" charset="0"/>
              </a:rPr>
              <a:t>("After first call to f(): b=%d\</a:t>
            </a:r>
            <a:r>
              <a:rPr lang="en-US" sz="2000" dirty="0" err="1">
                <a:solidFill>
                  <a:schemeClr val="accent2"/>
                </a:solidFill>
                <a:latin typeface="Consolas" panose="020B0609020204030204" pitchFamily="49" charset="0"/>
              </a:rPr>
              <a:t>n",b</a:t>
            </a:r>
            <a:r>
              <a:rPr lang="en-US" sz="2000" dirty="0">
                <a:solidFill>
                  <a:schemeClr val="accent2"/>
                </a:solidFill>
                <a:latin typeface="Consolas" panose="020B0609020204030204" pitchFamily="49" charset="0"/>
              </a:rPr>
              <a:t>);</a:t>
            </a:r>
          </a:p>
          <a:p>
            <a:pPr lvl="1" fontAlgn="auto">
              <a:lnSpc>
                <a:spcPct val="80000"/>
              </a:lnSpc>
              <a:spcAft>
                <a:spcPts val="0"/>
              </a:spcAft>
              <a:buNone/>
              <a:defRPr/>
            </a:pPr>
            <a:r>
              <a:rPr lang="en-US" sz="2000" dirty="0">
                <a:solidFill>
                  <a:schemeClr val="accent2"/>
                </a:solidFill>
                <a:latin typeface="Consolas" panose="020B0609020204030204" pitchFamily="49" charset="0"/>
              </a:rPr>
              <a:t>   f();</a:t>
            </a:r>
          </a:p>
          <a:p>
            <a:pPr lvl="1" fontAlgn="auto">
              <a:lnSpc>
                <a:spcPct val="80000"/>
              </a:lnSpc>
              <a:spcAft>
                <a:spcPts val="0"/>
              </a:spcAft>
              <a:buNone/>
              <a:defRPr/>
            </a:pPr>
            <a:r>
              <a:rPr lang="en-US" sz="2000" dirty="0">
                <a:solidFill>
                  <a:schemeClr val="accent2"/>
                </a:solidFill>
                <a:latin typeface="Consolas" panose="020B0609020204030204" pitchFamily="49" charset="0"/>
              </a:rPr>
              <a:t>   </a:t>
            </a:r>
            <a:r>
              <a:rPr lang="en-US" sz="2000" dirty="0" err="1">
                <a:solidFill>
                  <a:schemeClr val="accent2"/>
                </a:solidFill>
                <a:latin typeface="Consolas" panose="020B0609020204030204" pitchFamily="49" charset="0"/>
              </a:rPr>
              <a:t>printf</a:t>
            </a:r>
            <a:r>
              <a:rPr lang="en-US" sz="2000" dirty="0">
                <a:solidFill>
                  <a:schemeClr val="accent2"/>
                </a:solidFill>
                <a:latin typeface="Consolas" panose="020B0609020204030204" pitchFamily="49" charset="0"/>
              </a:rPr>
              <a:t>("After second call to f(): b=%d\</a:t>
            </a:r>
            <a:r>
              <a:rPr lang="en-US" sz="2000" dirty="0" err="1">
                <a:solidFill>
                  <a:schemeClr val="accent2"/>
                </a:solidFill>
                <a:latin typeface="Consolas" panose="020B0609020204030204" pitchFamily="49" charset="0"/>
              </a:rPr>
              <a:t>n",b</a:t>
            </a:r>
            <a:r>
              <a:rPr lang="en-US" sz="2000" dirty="0">
                <a:solidFill>
                  <a:schemeClr val="accent2"/>
                </a:solidFill>
                <a:latin typeface="Consolas" panose="020B0609020204030204" pitchFamily="49" charset="0"/>
              </a:rPr>
              <a:t>);</a:t>
            </a:r>
          </a:p>
          <a:p>
            <a:pPr lvl="1" fontAlgn="auto">
              <a:lnSpc>
                <a:spcPct val="80000"/>
              </a:lnSpc>
              <a:spcAft>
                <a:spcPts val="0"/>
              </a:spcAft>
              <a:buNone/>
              <a:defRPr/>
            </a:pPr>
            <a:r>
              <a:rPr lang="en-US" sz="2000" dirty="0">
                <a:solidFill>
                  <a:schemeClr val="accent2"/>
                </a:solidFill>
                <a:latin typeface="Consolas" panose="020B0609020204030204" pitchFamily="49" charset="0"/>
              </a:rPr>
              <a:t>}</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22</a:t>
            </a:fld>
            <a:endParaRPr lang="en-US" altLang="tr-TR">
              <a:ea typeface="ＭＳ Ｐゴシック" panose="020B0600070205080204" pitchFamily="34" charset="-128"/>
            </a:endParaRPr>
          </a:p>
        </p:txBody>
      </p:sp>
      <p:pic>
        <p:nvPicPr>
          <p:cNvPr id="4" name="Picture 3" descr="C:\Users\agaoglu\agaoglu-docs\courses-recent\computer-programming\cse1142-2019-2020-2\Lecture-Source-Codes-c\functions\C23_30_globalVar.ex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9752" y="1939669"/>
            <a:ext cx="4105848" cy="182905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225481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p:txBody>
          <a:bodyPr/>
          <a:lstStyle/>
          <a:p>
            <a:r>
              <a:rPr lang="en-US" altLang="tr-TR"/>
              <a:t>Changing value parameters</a:t>
            </a:r>
          </a:p>
        </p:txBody>
      </p:sp>
      <p:sp>
        <p:nvSpPr>
          <p:cNvPr id="51203" name="Rectangle 3"/>
          <p:cNvSpPr>
            <a:spLocks noGrp="1" noChangeArrowheads="1"/>
          </p:cNvSpPr>
          <p:nvPr>
            <p:ph type="body" idx="4294967295"/>
          </p:nvPr>
        </p:nvSpPr>
        <p:spPr/>
        <p:txBody>
          <a:bodyPr rtlCol="0">
            <a:normAutofit lnSpcReduction="10000"/>
          </a:bodyPr>
          <a:lstStyle/>
          <a:p>
            <a:pPr fontAlgn="auto">
              <a:lnSpc>
                <a:spcPct val="90000"/>
              </a:lnSpc>
              <a:spcAft>
                <a:spcPts val="0"/>
              </a:spcAft>
              <a:defRPr/>
            </a:pPr>
            <a:r>
              <a:rPr lang="en-US" sz="2800" dirty="0"/>
              <a:t>Any change made on value parameters is </a:t>
            </a:r>
            <a:r>
              <a:rPr lang="en-US" sz="2800" u="sng" dirty="0"/>
              <a:t>lost</a:t>
            </a:r>
            <a:r>
              <a:rPr lang="en-US" sz="2800" dirty="0"/>
              <a:t> after the function terminates.</a:t>
            </a:r>
          </a:p>
          <a:p>
            <a:pPr lvl="1" fontAlgn="auto">
              <a:lnSpc>
                <a:spcPct val="90000"/>
              </a:lnSpc>
              <a:spcAft>
                <a:spcPts val="0"/>
              </a:spcAft>
              <a:buNone/>
              <a:defRPr/>
            </a:pPr>
            <a:endParaRPr lang="tr-TR" sz="2400" dirty="0" smtClean="0">
              <a:solidFill>
                <a:schemeClr val="accent2"/>
              </a:solidFill>
              <a:latin typeface="Consolas" panose="020B0609020204030204" pitchFamily="49" charset="0"/>
            </a:endParaRPr>
          </a:p>
          <a:p>
            <a:pPr lvl="1" fontAlgn="auto">
              <a:lnSpc>
                <a:spcPct val="90000"/>
              </a:lnSpc>
              <a:spcAft>
                <a:spcPts val="0"/>
              </a:spcAft>
              <a:buNone/>
              <a:defRPr/>
            </a:pPr>
            <a:r>
              <a:rPr lang="en-US" sz="2400" dirty="0" smtClean="0">
                <a:solidFill>
                  <a:schemeClr val="accent2"/>
                </a:solidFill>
                <a:latin typeface="Consolas" panose="020B0609020204030204" pitchFamily="49" charset="0"/>
              </a:rPr>
              <a:t>void </a:t>
            </a:r>
            <a:r>
              <a:rPr lang="en-US" sz="2400" dirty="0">
                <a:solidFill>
                  <a:schemeClr val="accent2"/>
                </a:solidFill>
                <a:latin typeface="Consolas" panose="020B0609020204030204" pitchFamily="49" charset="0"/>
              </a:rPr>
              <a:t>f(</a:t>
            </a:r>
            <a:r>
              <a:rPr lang="en-US" sz="2400" dirty="0" err="1">
                <a:solidFill>
                  <a:schemeClr val="accent2"/>
                </a:solidFill>
                <a:latin typeface="Consolas" panose="020B0609020204030204" pitchFamily="49" charset="0"/>
              </a:rPr>
              <a:t>int</a:t>
            </a:r>
            <a:r>
              <a:rPr lang="en-US" sz="2400" dirty="0">
                <a:solidFill>
                  <a:schemeClr val="accent2"/>
                </a:solidFill>
                <a:latin typeface="Consolas" panose="020B0609020204030204" pitchFamily="49" charset="0"/>
              </a:rPr>
              <a:t> c)</a:t>
            </a:r>
          </a:p>
          <a:p>
            <a:pPr lvl="1" fontAlgn="auto">
              <a:lnSpc>
                <a:spcPct val="90000"/>
              </a:lnSpc>
              <a:spcAft>
                <a:spcPts val="0"/>
              </a:spcAft>
              <a:buNone/>
              <a:defRPr/>
            </a:pPr>
            <a:r>
              <a:rPr lang="en-US" sz="2400" dirty="0">
                <a:solidFill>
                  <a:schemeClr val="accent2"/>
                </a:solidFill>
                <a:latin typeface="Consolas" panose="020B0609020204030204" pitchFamily="49" charset="0"/>
              </a:rPr>
              <a:t>{</a:t>
            </a:r>
          </a:p>
          <a:p>
            <a:pPr lvl="1" fontAlgn="auto">
              <a:lnSpc>
                <a:spcPct val="90000"/>
              </a:lnSpc>
              <a:spcAft>
                <a:spcPts val="0"/>
              </a:spcAft>
              <a:buNone/>
              <a:defRPr/>
            </a:pPr>
            <a:r>
              <a:rPr lang="en-US" sz="2400" dirty="0">
                <a:solidFill>
                  <a:schemeClr val="accent2"/>
                </a:solidFill>
                <a:latin typeface="Consolas" panose="020B0609020204030204" pitchFamily="49" charset="0"/>
              </a:rPr>
              <a:t>   </a:t>
            </a:r>
            <a:r>
              <a:rPr lang="en-US" sz="2400" dirty="0" err="1">
                <a:solidFill>
                  <a:schemeClr val="accent2"/>
                </a:solidFill>
                <a:latin typeface="Consolas" panose="020B0609020204030204" pitchFamily="49" charset="0"/>
              </a:rPr>
              <a:t>c++</a:t>
            </a:r>
            <a:r>
              <a:rPr lang="en-US" sz="2400" dirty="0">
                <a:solidFill>
                  <a:schemeClr val="accent2"/>
                </a:solidFill>
                <a:latin typeface="Consolas" panose="020B0609020204030204" pitchFamily="49" charset="0"/>
              </a:rPr>
              <a:t>;</a:t>
            </a:r>
          </a:p>
          <a:p>
            <a:pPr lvl="1" fontAlgn="auto">
              <a:lnSpc>
                <a:spcPct val="90000"/>
              </a:lnSpc>
              <a:spcAft>
                <a:spcPts val="0"/>
              </a:spcAft>
              <a:buNone/>
              <a:defRPr/>
            </a:pPr>
            <a:r>
              <a:rPr lang="en-US" sz="2400" dirty="0">
                <a:solidFill>
                  <a:schemeClr val="accent2"/>
                </a:solidFill>
                <a:latin typeface="Consolas" panose="020B0609020204030204" pitchFamily="49" charset="0"/>
              </a:rPr>
              <a:t>   </a:t>
            </a:r>
            <a:r>
              <a:rPr lang="en-US" sz="2400" dirty="0" err="1">
                <a:solidFill>
                  <a:schemeClr val="accent2"/>
                </a:solidFill>
                <a:latin typeface="Consolas" panose="020B0609020204030204" pitchFamily="49" charset="0"/>
              </a:rPr>
              <a:t>printf</a:t>
            </a:r>
            <a:r>
              <a:rPr lang="en-US" sz="2400" dirty="0">
                <a:solidFill>
                  <a:schemeClr val="accent2"/>
                </a:solidFill>
                <a:latin typeface="Consolas" panose="020B0609020204030204" pitchFamily="49" charset="0"/>
              </a:rPr>
              <a:t>("in f(): c=%d\</a:t>
            </a:r>
            <a:r>
              <a:rPr lang="en-US" sz="2400" dirty="0" err="1">
                <a:solidFill>
                  <a:schemeClr val="accent2"/>
                </a:solidFill>
                <a:latin typeface="Consolas" panose="020B0609020204030204" pitchFamily="49" charset="0"/>
              </a:rPr>
              <a:t>n",c</a:t>
            </a:r>
            <a:r>
              <a:rPr lang="en-US" sz="2400" dirty="0">
                <a:solidFill>
                  <a:schemeClr val="accent2"/>
                </a:solidFill>
                <a:latin typeface="Consolas" panose="020B0609020204030204" pitchFamily="49" charset="0"/>
              </a:rPr>
              <a:t>);</a:t>
            </a:r>
          </a:p>
          <a:p>
            <a:pPr lvl="1" fontAlgn="auto">
              <a:lnSpc>
                <a:spcPct val="90000"/>
              </a:lnSpc>
              <a:spcAft>
                <a:spcPts val="0"/>
              </a:spcAft>
              <a:buNone/>
              <a:defRPr/>
            </a:pPr>
            <a:r>
              <a:rPr lang="en-US" sz="2400" dirty="0" smtClean="0">
                <a:solidFill>
                  <a:schemeClr val="accent2"/>
                </a:solidFill>
                <a:latin typeface="Consolas" panose="020B0609020204030204" pitchFamily="49" charset="0"/>
              </a:rPr>
              <a:t>}</a:t>
            </a:r>
            <a:endParaRPr lang="tr-TR" sz="2400" dirty="0" smtClean="0">
              <a:solidFill>
                <a:schemeClr val="accent2"/>
              </a:solidFill>
              <a:latin typeface="Consolas" panose="020B0609020204030204" pitchFamily="49" charset="0"/>
            </a:endParaRPr>
          </a:p>
          <a:p>
            <a:pPr lvl="1" fontAlgn="auto">
              <a:lnSpc>
                <a:spcPct val="90000"/>
              </a:lnSpc>
              <a:spcAft>
                <a:spcPts val="0"/>
              </a:spcAft>
              <a:buNone/>
              <a:defRPr/>
            </a:pPr>
            <a:endParaRPr lang="en-US" sz="2400" dirty="0">
              <a:solidFill>
                <a:schemeClr val="accent2"/>
              </a:solidFill>
              <a:latin typeface="Consolas" panose="020B0609020204030204" pitchFamily="49" charset="0"/>
            </a:endParaRPr>
          </a:p>
          <a:p>
            <a:pPr lvl="1" fontAlgn="auto">
              <a:lnSpc>
                <a:spcPct val="90000"/>
              </a:lnSpc>
              <a:spcAft>
                <a:spcPts val="0"/>
              </a:spcAft>
              <a:buNone/>
              <a:defRPr/>
            </a:pPr>
            <a:r>
              <a:rPr lang="en-US" sz="2400" dirty="0" err="1">
                <a:solidFill>
                  <a:schemeClr val="accent2"/>
                </a:solidFill>
                <a:latin typeface="Consolas" panose="020B0609020204030204" pitchFamily="49" charset="0"/>
              </a:rPr>
              <a:t>int</a:t>
            </a:r>
            <a:r>
              <a:rPr lang="en-US" sz="2400" dirty="0">
                <a:solidFill>
                  <a:schemeClr val="accent2"/>
                </a:solidFill>
                <a:latin typeface="Consolas" panose="020B0609020204030204" pitchFamily="49" charset="0"/>
              </a:rPr>
              <a:t> main()</a:t>
            </a:r>
          </a:p>
          <a:p>
            <a:pPr lvl="1" fontAlgn="auto">
              <a:lnSpc>
                <a:spcPct val="90000"/>
              </a:lnSpc>
              <a:spcAft>
                <a:spcPts val="0"/>
              </a:spcAft>
              <a:buNone/>
              <a:defRPr/>
            </a:pPr>
            <a:r>
              <a:rPr lang="en-US" sz="2400" dirty="0">
                <a:solidFill>
                  <a:schemeClr val="accent2"/>
                </a:solidFill>
                <a:latin typeface="Consolas" panose="020B0609020204030204" pitchFamily="49" charset="0"/>
              </a:rPr>
              <a:t>{  </a:t>
            </a:r>
            <a:r>
              <a:rPr lang="en-US" sz="2400" dirty="0" err="1">
                <a:solidFill>
                  <a:schemeClr val="accent2"/>
                </a:solidFill>
                <a:latin typeface="Consolas" panose="020B0609020204030204" pitchFamily="49" charset="0"/>
              </a:rPr>
              <a:t>int</a:t>
            </a:r>
            <a:r>
              <a:rPr lang="en-US" sz="2400" dirty="0">
                <a:solidFill>
                  <a:schemeClr val="accent2"/>
                </a:solidFill>
                <a:latin typeface="Consolas" panose="020B0609020204030204" pitchFamily="49" charset="0"/>
              </a:rPr>
              <a:t> c=5;</a:t>
            </a:r>
          </a:p>
          <a:p>
            <a:pPr lvl="1" fontAlgn="auto">
              <a:lnSpc>
                <a:spcPct val="90000"/>
              </a:lnSpc>
              <a:spcAft>
                <a:spcPts val="0"/>
              </a:spcAft>
              <a:buNone/>
              <a:defRPr/>
            </a:pPr>
            <a:r>
              <a:rPr lang="en-US" sz="2400" dirty="0">
                <a:solidFill>
                  <a:schemeClr val="accent2"/>
                </a:solidFill>
                <a:latin typeface="Consolas" panose="020B0609020204030204" pitchFamily="49" charset="0"/>
              </a:rPr>
              <a:t>   f(c);</a:t>
            </a:r>
          </a:p>
          <a:p>
            <a:pPr lvl="1" fontAlgn="auto">
              <a:lnSpc>
                <a:spcPct val="90000"/>
              </a:lnSpc>
              <a:spcAft>
                <a:spcPts val="0"/>
              </a:spcAft>
              <a:buNone/>
              <a:defRPr/>
            </a:pPr>
            <a:r>
              <a:rPr lang="en-US" sz="2400" dirty="0">
                <a:solidFill>
                  <a:schemeClr val="accent2"/>
                </a:solidFill>
                <a:latin typeface="Consolas" panose="020B0609020204030204" pitchFamily="49" charset="0"/>
              </a:rPr>
              <a:t>   </a:t>
            </a:r>
            <a:r>
              <a:rPr lang="en-US" sz="2400" dirty="0" err="1">
                <a:solidFill>
                  <a:schemeClr val="accent2"/>
                </a:solidFill>
                <a:latin typeface="Consolas" panose="020B0609020204030204" pitchFamily="49" charset="0"/>
              </a:rPr>
              <a:t>printf</a:t>
            </a:r>
            <a:r>
              <a:rPr lang="en-US" sz="2400" dirty="0">
                <a:solidFill>
                  <a:schemeClr val="accent2"/>
                </a:solidFill>
                <a:latin typeface="Consolas" panose="020B0609020204030204" pitchFamily="49" charset="0"/>
              </a:rPr>
              <a:t>("After f(): </a:t>
            </a:r>
            <a:r>
              <a:rPr lang="en-US" sz="2400" dirty="0" smtClean="0">
                <a:solidFill>
                  <a:schemeClr val="accent2"/>
                </a:solidFill>
                <a:latin typeface="Consolas" panose="020B0609020204030204" pitchFamily="49" charset="0"/>
              </a:rPr>
              <a:t>c=%</a:t>
            </a:r>
            <a:r>
              <a:rPr lang="en-US" sz="2400" dirty="0">
                <a:solidFill>
                  <a:schemeClr val="accent2"/>
                </a:solidFill>
                <a:latin typeface="Consolas" panose="020B0609020204030204" pitchFamily="49" charset="0"/>
              </a:rPr>
              <a:t>d\</a:t>
            </a:r>
            <a:r>
              <a:rPr lang="en-US" sz="2400" dirty="0" err="1">
                <a:solidFill>
                  <a:schemeClr val="accent2"/>
                </a:solidFill>
                <a:latin typeface="Consolas" panose="020B0609020204030204" pitchFamily="49" charset="0"/>
              </a:rPr>
              <a:t>n",c</a:t>
            </a:r>
            <a:r>
              <a:rPr lang="en-US" sz="2400" dirty="0">
                <a:solidFill>
                  <a:schemeClr val="accent2"/>
                </a:solidFill>
                <a:latin typeface="Consolas" panose="020B0609020204030204" pitchFamily="49" charset="0"/>
              </a:rPr>
              <a:t>);</a:t>
            </a:r>
          </a:p>
          <a:p>
            <a:pPr lvl="1" fontAlgn="auto">
              <a:lnSpc>
                <a:spcPct val="90000"/>
              </a:lnSpc>
              <a:spcAft>
                <a:spcPts val="0"/>
              </a:spcAft>
              <a:buNone/>
              <a:defRPr/>
            </a:pPr>
            <a:r>
              <a:rPr lang="en-US" sz="2400" dirty="0">
                <a:solidFill>
                  <a:schemeClr val="accent2"/>
                </a:solidFill>
                <a:latin typeface="Consolas" panose="020B0609020204030204" pitchFamily="49" charset="0"/>
              </a:rPr>
              <a:t>}</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23</a:t>
            </a:fld>
            <a:endParaRPr lang="en-US" altLang="tr-TR">
              <a:ea typeface="ＭＳ Ｐゴシック" panose="020B0600070205080204" pitchFamily="34" charset="-128"/>
            </a:endParaRPr>
          </a:p>
        </p:txBody>
      </p:sp>
      <p:pic>
        <p:nvPicPr>
          <p:cNvPr id="3" name="Picture 2" descr="Select C:\Users\agaoglu\agaoglu-docs\courses-recent\computer-programming\cse1142-2019-2020-2\source-codes-c\functions\C23_35_paramValChange.ex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9752" y="1790991"/>
            <a:ext cx="4105848" cy="156231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561259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p:txBody>
          <a:bodyPr/>
          <a:lstStyle/>
          <a:p>
            <a:r>
              <a:rPr lang="en-US" altLang="tr-TR" sz="3600"/>
              <a:t>Local definition v</a:t>
            </a:r>
            <a:r>
              <a:rPr lang="tr-TR" altLang="tr-TR" sz="3600"/>
              <a:t>eil</a:t>
            </a:r>
            <a:r>
              <a:rPr lang="en-US" altLang="tr-TR" sz="3600"/>
              <a:t>s global definition</a:t>
            </a:r>
          </a:p>
        </p:txBody>
      </p:sp>
      <p:sp>
        <p:nvSpPr>
          <p:cNvPr id="52227" name="Rectangle 3"/>
          <p:cNvSpPr>
            <a:spLocks noGrp="1" noChangeArrowheads="1"/>
          </p:cNvSpPr>
          <p:nvPr>
            <p:ph type="body" idx="4294967295"/>
          </p:nvPr>
        </p:nvSpPr>
        <p:spPr>
          <a:xfrm>
            <a:off x="304800" y="898526"/>
            <a:ext cx="11480800" cy="5419724"/>
          </a:xfrm>
        </p:spPr>
        <p:txBody>
          <a:bodyPr rtlCol="0">
            <a:normAutofit lnSpcReduction="10000"/>
          </a:bodyPr>
          <a:lstStyle/>
          <a:p>
            <a:pPr fontAlgn="auto">
              <a:lnSpc>
                <a:spcPct val="90000"/>
              </a:lnSpc>
              <a:spcAft>
                <a:spcPts val="0"/>
              </a:spcAft>
              <a:defRPr/>
            </a:pPr>
            <a:r>
              <a:rPr lang="en-US" dirty="0"/>
              <a:t>A local variable with the same name as the global variable veils the global definition.</a:t>
            </a:r>
            <a:endParaRPr lang="en-US" b="1" dirty="0">
              <a:solidFill>
                <a:schemeClr val="accent2"/>
              </a:solidFill>
              <a:latin typeface="Courier New" pitchFamily="49" charset="0"/>
            </a:endParaRPr>
          </a:p>
          <a:p>
            <a:pPr lvl="1" fontAlgn="auto">
              <a:lnSpc>
                <a:spcPct val="90000"/>
              </a:lnSpc>
              <a:spcAft>
                <a:spcPts val="0"/>
              </a:spcAft>
              <a:buNone/>
              <a:defRPr/>
            </a:pPr>
            <a:endParaRPr lang="tr-TR" sz="2000" dirty="0" smtClean="0">
              <a:solidFill>
                <a:schemeClr val="accent2"/>
              </a:solidFill>
              <a:latin typeface="Consolas" panose="020B0609020204030204" pitchFamily="49" charset="0"/>
            </a:endParaRPr>
          </a:p>
          <a:p>
            <a:pPr lvl="1" fontAlgn="auto">
              <a:lnSpc>
                <a:spcPct val="90000"/>
              </a:lnSpc>
              <a:spcAft>
                <a:spcPts val="0"/>
              </a:spcAft>
              <a:buNone/>
              <a:defRPr/>
            </a:pPr>
            <a:r>
              <a:rPr lang="en-US" sz="2000" dirty="0" err="1" smtClean="0">
                <a:solidFill>
                  <a:schemeClr val="accent2"/>
                </a:solidFill>
                <a:latin typeface="Consolas" panose="020B0609020204030204" pitchFamily="49" charset="0"/>
              </a:rPr>
              <a:t>int</a:t>
            </a:r>
            <a:r>
              <a:rPr lang="en-US" sz="2000" dirty="0" smtClean="0">
                <a:solidFill>
                  <a:schemeClr val="accent2"/>
                </a:solidFill>
                <a:latin typeface="Consolas" panose="020B0609020204030204" pitchFamily="49" charset="0"/>
              </a:rPr>
              <a:t> </a:t>
            </a:r>
            <a:r>
              <a:rPr lang="en-US" sz="2000" dirty="0">
                <a:solidFill>
                  <a:schemeClr val="accent2"/>
                </a:solidFill>
                <a:latin typeface="Consolas" panose="020B0609020204030204" pitchFamily="49" charset="0"/>
              </a:rPr>
              <a:t>d=10;</a:t>
            </a:r>
          </a:p>
          <a:p>
            <a:pPr lvl="1" fontAlgn="auto">
              <a:lnSpc>
                <a:spcPct val="90000"/>
              </a:lnSpc>
              <a:spcAft>
                <a:spcPts val="0"/>
              </a:spcAft>
              <a:buNone/>
              <a:defRPr/>
            </a:pPr>
            <a:endParaRPr lang="tr-TR" sz="1300" dirty="0" smtClean="0">
              <a:solidFill>
                <a:schemeClr val="accent2"/>
              </a:solidFill>
              <a:latin typeface="Consolas" panose="020B0609020204030204" pitchFamily="49" charset="0"/>
            </a:endParaRPr>
          </a:p>
          <a:p>
            <a:pPr lvl="1" fontAlgn="auto">
              <a:lnSpc>
                <a:spcPct val="90000"/>
              </a:lnSpc>
              <a:spcAft>
                <a:spcPts val="0"/>
              </a:spcAft>
              <a:buNone/>
              <a:defRPr/>
            </a:pPr>
            <a:r>
              <a:rPr lang="en-US" sz="2000" dirty="0" smtClean="0">
                <a:solidFill>
                  <a:schemeClr val="accent2"/>
                </a:solidFill>
                <a:latin typeface="Consolas" panose="020B0609020204030204" pitchFamily="49" charset="0"/>
              </a:rPr>
              <a:t>void </a:t>
            </a:r>
            <a:r>
              <a:rPr lang="en-US" sz="2000" dirty="0">
                <a:solidFill>
                  <a:schemeClr val="accent2"/>
                </a:solidFill>
                <a:latin typeface="Consolas" panose="020B0609020204030204" pitchFamily="49" charset="0"/>
              </a:rPr>
              <a:t>f()</a:t>
            </a:r>
          </a:p>
          <a:p>
            <a:pPr lvl="1" fontAlgn="auto">
              <a:lnSpc>
                <a:spcPct val="90000"/>
              </a:lnSpc>
              <a:spcAft>
                <a:spcPts val="0"/>
              </a:spcAft>
              <a:buNone/>
              <a:defRPr/>
            </a:pPr>
            <a:r>
              <a:rPr lang="en-US" sz="2000" dirty="0">
                <a:solidFill>
                  <a:schemeClr val="accent2"/>
                </a:solidFill>
                <a:latin typeface="Consolas" panose="020B0609020204030204" pitchFamily="49" charset="0"/>
              </a:rPr>
              <a:t>{</a:t>
            </a:r>
          </a:p>
          <a:p>
            <a:pPr lvl="1" fontAlgn="auto">
              <a:lnSpc>
                <a:spcPct val="90000"/>
              </a:lnSpc>
              <a:spcAft>
                <a:spcPts val="0"/>
              </a:spcAft>
              <a:buNone/>
              <a:defRPr/>
            </a:pPr>
            <a:r>
              <a:rPr lang="en-US" sz="2000" dirty="0">
                <a:solidFill>
                  <a:schemeClr val="accent2"/>
                </a:solidFill>
                <a:latin typeface="Consolas" panose="020B0609020204030204" pitchFamily="49" charset="0"/>
              </a:rPr>
              <a:t>   d++;</a:t>
            </a:r>
          </a:p>
          <a:p>
            <a:pPr lvl="1" fontAlgn="auto">
              <a:lnSpc>
                <a:spcPct val="90000"/>
              </a:lnSpc>
              <a:spcAft>
                <a:spcPts val="0"/>
              </a:spcAft>
              <a:buNone/>
              <a:defRPr/>
            </a:pPr>
            <a:r>
              <a:rPr lang="en-US" sz="2000" dirty="0">
                <a:solidFill>
                  <a:schemeClr val="accent2"/>
                </a:solidFill>
                <a:latin typeface="Consolas" panose="020B0609020204030204" pitchFamily="49" charset="0"/>
              </a:rPr>
              <a:t>   </a:t>
            </a:r>
            <a:r>
              <a:rPr lang="en-US" sz="2000" dirty="0" err="1">
                <a:solidFill>
                  <a:schemeClr val="accent2"/>
                </a:solidFill>
                <a:latin typeface="Consolas" panose="020B0609020204030204" pitchFamily="49" charset="0"/>
              </a:rPr>
              <a:t>printf</a:t>
            </a:r>
            <a:r>
              <a:rPr lang="en-US" sz="2000" dirty="0">
                <a:solidFill>
                  <a:schemeClr val="accent2"/>
                </a:solidFill>
                <a:latin typeface="Consolas" panose="020B0609020204030204" pitchFamily="49" charset="0"/>
              </a:rPr>
              <a:t>("in f(): d=%d\</a:t>
            </a:r>
            <a:r>
              <a:rPr lang="en-US" sz="2000" dirty="0" err="1">
                <a:solidFill>
                  <a:schemeClr val="accent2"/>
                </a:solidFill>
                <a:latin typeface="Consolas" panose="020B0609020204030204" pitchFamily="49" charset="0"/>
              </a:rPr>
              <a:t>n",d</a:t>
            </a:r>
            <a:r>
              <a:rPr lang="en-US" sz="2000" dirty="0">
                <a:solidFill>
                  <a:schemeClr val="accent2"/>
                </a:solidFill>
                <a:latin typeface="Consolas" panose="020B0609020204030204" pitchFamily="49" charset="0"/>
              </a:rPr>
              <a:t>);</a:t>
            </a:r>
          </a:p>
          <a:p>
            <a:pPr lvl="1" fontAlgn="auto">
              <a:lnSpc>
                <a:spcPct val="90000"/>
              </a:lnSpc>
              <a:spcAft>
                <a:spcPts val="0"/>
              </a:spcAft>
              <a:buNone/>
              <a:defRPr/>
            </a:pPr>
            <a:r>
              <a:rPr lang="en-US" sz="2000" dirty="0">
                <a:solidFill>
                  <a:schemeClr val="accent2"/>
                </a:solidFill>
                <a:latin typeface="Consolas" panose="020B0609020204030204" pitchFamily="49" charset="0"/>
              </a:rPr>
              <a:t>}</a:t>
            </a:r>
          </a:p>
          <a:p>
            <a:pPr lvl="1" fontAlgn="auto">
              <a:lnSpc>
                <a:spcPct val="90000"/>
              </a:lnSpc>
              <a:spcAft>
                <a:spcPts val="0"/>
              </a:spcAft>
              <a:buNone/>
              <a:defRPr/>
            </a:pPr>
            <a:endParaRPr lang="tr-TR" sz="1200" dirty="0" smtClean="0">
              <a:solidFill>
                <a:schemeClr val="accent2"/>
              </a:solidFill>
              <a:latin typeface="Consolas" panose="020B0609020204030204" pitchFamily="49" charset="0"/>
            </a:endParaRPr>
          </a:p>
          <a:p>
            <a:pPr lvl="1" fontAlgn="auto">
              <a:lnSpc>
                <a:spcPct val="90000"/>
              </a:lnSpc>
              <a:spcAft>
                <a:spcPts val="0"/>
              </a:spcAft>
              <a:buNone/>
              <a:defRPr/>
            </a:pPr>
            <a:r>
              <a:rPr lang="en-US" sz="2000" dirty="0" err="1" smtClean="0">
                <a:solidFill>
                  <a:schemeClr val="accent2"/>
                </a:solidFill>
                <a:latin typeface="Consolas" panose="020B0609020204030204" pitchFamily="49" charset="0"/>
              </a:rPr>
              <a:t>int</a:t>
            </a:r>
            <a:r>
              <a:rPr lang="en-US" sz="2000" dirty="0" smtClean="0">
                <a:solidFill>
                  <a:schemeClr val="accent2"/>
                </a:solidFill>
                <a:latin typeface="Consolas" panose="020B0609020204030204" pitchFamily="49" charset="0"/>
              </a:rPr>
              <a:t> </a:t>
            </a:r>
            <a:r>
              <a:rPr lang="en-US" sz="2000" dirty="0">
                <a:solidFill>
                  <a:schemeClr val="accent2"/>
                </a:solidFill>
                <a:latin typeface="Consolas" panose="020B0609020204030204" pitchFamily="49" charset="0"/>
              </a:rPr>
              <a:t>main()</a:t>
            </a:r>
          </a:p>
          <a:p>
            <a:pPr lvl="1" fontAlgn="auto">
              <a:lnSpc>
                <a:spcPct val="90000"/>
              </a:lnSpc>
              <a:spcAft>
                <a:spcPts val="0"/>
              </a:spcAft>
              <a:buNone/>
              <a:defRPr/>
            </a:pPr>
            <a:r>
              <a:rPr lang="en-US" sz="2000" dirty="0">
                <a:solidFill>
                  <a:schemeClr val="accent2"/>
                </a:solidFill>
                <a:latin typeface="Consolas" panose="020B0609020204030204" pitchFamily="49" charset="0"/>
              </a:rPr>
              <a:t>{  </a:t>
            </a:r>
            <a:r>
              <a:rPr lang="en-US" sz="2000" dirty="0" err="1">
                <a:solidFill>
                  <a:schemeClr val="accent2"/>
                </a:solidFill>
                <a:latin typeface="Consolas" panose="020B0609020204030204" pitchFamily="49" charset="0"/>
              </a:rPr>
              <a:t>int</a:t>
            </a:r>
            <a:r>
              <a:rPr lang="en-US" sz="2000" dirty="0">
                <a:solidFill>
                  <a:schemeClr val="accent2"/>
                </a:solidFill>
                <a:latin typeface="Consolas" panose="020B0609020204030204" pitchFamily="49" charset="0"/>
              </a:rPr>
              <a:t> d=30;</a:t>
            </a:r>
          </a:p>
          <a:p>
            <a:pPr lvl="1" fontAlgn="auto">
              <a:lnSpc>
                <a:spcPct val="90000"/>
              </a:lnSpc>
              <a:spcAft>
                <a:spcPts val="0"/>
              </a:spcAft>
              <a:buNone/>
              <a:defRPr/>
            </a:pPr>
            <a:r>
              <a:rPr lang="en-US" sz="2000" dirty="0">
                <a:solidFill>
                  <a:schemeClr val="accent2"/>
                </a:solidFill>
                <a:latin typeface="Consolas" panose="020B0609020204030204" pitchFamily="49" charset="0"/>
              </a:rPr>
              <a:t>   f();</a:t>
            </a:r>
          </a:p>
          <a:p>
            <a:pPr lvl="1" fontAlgn="auto">
              <a:lnSpc>
                <a:spcPct val="90000"/>
              </a:lnSpc>
              <a:spcAft>
                <a:spcPts val="0"/>
              </a:spcAft>
              <a:buNone/>
              <a:defRPr/>
            </a:pPr>
            <a:r>
              <a:rPr lang="en-US" sz="2000" dirty="0">
                <a:solidFill>
                  <a:schemeClr val="accent2"/>
                </a:solidFill>
                <a:latin typeface="Consolas" panose="020B0609020204030204" pitchFamily="49" charset="0"/>
              </a:rPr>
              <a:t>   </a:t>
            </a:r>
            <a:r>
              <a:rPr lang="en-US" sz="2000" dirty="0" err="1">
                <a:solidFill>
                  <a:schemeClr val="accent2"/>
                </a:solidFill>
                <a:latin typeface="Consolas" panose="020B0609020204030204" pitchFamily="49" charset="0"/>
              </a:rPr>
              <a:t>printf</a:t>
            </a:r>
            <a:r>
              <a:rPr lang="en-US" sz="2000" dirty="0">
                <a:solidFill>
                  <a:schemeClr val="accent2"/>
                </a:solidFill>
                <a:latin typeface="Consolas" panose="020B0609020204030204" pitchFamily="49" charset="0"/>
              </a:rPr>
              <a:t>("After first call to f(): d=%d\</a:t>
            </a:r>
            <a:r>
              <a:rPr lang="en-US" sz="2000" dirty="0" err="1">
                <a:solidFill>
                  <a:schemeClr val="accent2"/>
                </a:solidFill>
                <a:latin typeface="Consolas" panose="020B0609020204030204" pitchFamily="49" charset="0"/>
              </a:rPr>
              <a:t>n",d</a:t>
            </a:r>
            <a:r>
              <a:rPr lang="en-US" sz="2000" dirty="0">
                <a:solidFill>
                  <a:schemeClr val="accent2"/>
                </a:solidFill>
                <a:latin typeface="Consolas" panose="020B0609020204030204" pitchFamily="49" charset="0"/>
              </a:rPr>
              <a:t>);</a:t>
            </a:r>
          </a:p>
          <a:p>
            <a:pPr lvl="1" fontAlgn="auto">
              <a:lnSpc>
                <a:spcPct val="90000"/>
              </a:lnSpc>
              <a:spcAft>
                <a:spcPts val="0"/>
              </a:spcAft>
              <a:buNone/>
              <a:defRPr/>
            </a:pPr>
            <a:r>
              <a:rPr lang="en-US" sz="2000" dirty="0">
                <a:solidFill>
                  <a:schemeClr val="accent2"/>
                </a:solidFill>
                <a:latin typeface="Consolas" panose="020B0609020204030204" pitchFamily="49" charset="0"/>
              </a:rPr>
              <a:t>   f();</a:t>
            </a:r>
          </a:p>
          <a:p>
            <a:pPr lvl="1" fontAlgn="auto">
              <a:lnSpc>
                <a:spcPct val="90000"/>
              </a:lnSpc>
              <a:spcAft>
                <a:spcPts val="0"/>
              </a:spcAft>
              <a:buNone/>
              <a:defRPr/>
            </a:pPr>
            <a:r>
              <a:rPr lang="en-US" sz="2000" dirty="0">
                <a:solidFill>
                  <a:schemeClr val="accent2"/>
                </a:solidFill>
                <a:latin typeface="Consolas" panose="020B0609020204030204" pitchFamily="49" charset="0"/>
              </a:rPr>
              <a:t>   </a:t>
            </a:r>
            <a:r>
              <a:rPr lang="en-US" sz="2000" dirty="0" err="1">
                <a:solidFill>
                  <a:schemeClr val="accent2"/>
                </a:solidFill>
                <a:latin typeface="Consolas" panose="020B0609020204030204" pitchFamily="49" charset="0"/>
              </a:rPr>
              <a:t>printf</a:t>
            </a:r>
            <a:r>
              <a:rPr lang="en-US" sz="2000" dirty="0">
                <a:solidFill>
                  <a:schemeClr val="accent2"/>
                </a:solidFill>
                <a:latin typeface="Consolas" panose="020B0609020204030204" pitchFamily="49" charset="0"/>
              </a:rPr>
              <a:t>("After second call to f(): d=%d\</a:t>
            </a:r>
            <a:r>
              <a:rPr lang="en-US" sz="2000" dirty="0" err="1">
                <a:solidFill>
                  <a:schemeClr val="accent2"/>
                </a:solidFill>
                <a:latin typeface="Consolas" panose="020B0609020204030204" pitchFamily="49" charset="0"/>
              </a:rPr>
              <a:t>n",d</a:t>
            </a:r>
            <a:r>
              <a:rPr lang="en-US" sz="2000" dirty="0">
                <a:solidFill>
                  <a:schemeClr val="accent2"/>
                </a:solidFill>
                <a:latin typeface="Consolas" panose="020B0609020204030204" pitchFamily="49" charset="0"/>
              </a:rPr>
              <a:t>);</a:t>
            </a:r>
          </a:p>
          <a:p>
            <a:pPr lvl="1" fontAlgn="auto">
              <a:lnSpc>
                <a:spcPct val="90000"/>
              </a:lnSpc>
              <a:spcAft>
                <a:spcPts val="0"/>
              </a:spcAft>
              <a:buNone/>
              <a:defRPr/>
            </a:pPr>
            <a:r>
              <a:rPr lang="en-US" sz="2000" dirty="0">
                <a:solidFill>
                  <a:schemeClr val="accent2"/>
                </a:solidFill>
                <a:latin typeface="Consolas" panose="020B0609020204030204" pitchFamily="49" charset="0"/>
              </a:rPr>
              <a:t>}</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24</a:t>
            </a:fld>
            <a:endParaRPr lang="en-US" altLang="tr-TR">
              <a:ea typeface="ＭＳ Ｐゴシック" panose="020B0600070205080204" pitchFamily="34" charset="-128"/>
            </a:endParaRPr>
          </a:p>
        </p:txBody>
      </p:sp>
      <p:pic>
        <p:nvPicPr>
          <p:cNvPr id="3" name="Picture 2" descr="C:\Users\agaoglu\agaoglu-docs\courses-recent\computer-programming\cse1142-2019-2020-2\source-codes-c\functions\C23_40_localVeilsGlobal.ex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0226" y="1590546"/>
            <a:ext cx="4115374" cy="184810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060372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p:txBody>
          <a:bodyPr/>
          <a:lstStyle/>
          <a:p>
            <a:r>
              <a:rPr lang="en-US" altLang="tr-TR" sz="3200"/>
              <a:t>Parameter definition veils global definition</a:t>
            </a:r>
          </a:p>
        </p:txBody>
      </p:sp>
      <p:sp>
        <p:nvSpPr>
          <p:cNvPr id="19459" name="Rectangle 3"/>
          <p:cNvSpPr>
            <a:spLocks noGrp="1" noChangeArrowheads="1"/>
          </p:cNvSpPr>
          <p:nvPr>
            <p:ph type="body" idx="4294967295"/>
          </p:nvPr>
        </p:nvSpPr>
        <p:spPr/>
        <p:txBody>
          <a:bodyPr/>
          <a:lstStyle/>
          <a:p>
            <a:pPr>
              <a:lnSpc>
                <a:spcPct val="90000"/>
              </a:lnSpc>
            </a:pPr>
            <a:r>
              <a:rPr lang="en-US" altLang="tr-TR" dirty="0"/>
              <a:t>Similar to local variables, parameter definition with the same name as the global variable also veils the global definition.</a:t>
            </a:r>
            <a:endParaRPr lang="en-US" altLang="tr-TR" b="1" dirty="0">
              <a:solidFill>
                <a:schemeClr val="accent2"/>
              </a:solidFill>
              <a:latin typeface="Courier New" panose="02070309020205020404" pitchFamily="49" charset="0"/>
            </a:endParaRPr>
          </a:p>
          <a:p>
            <a:pPr lvl="1">
              <a:lnSpc>
                <a:spcPct val="90000"/>
              </a:lnSpc>
              <a:buFontTx/>
              <a:buNone/>
            </a:pPr>
            <a:endParaRPr lang="tr-TR" altLang="tr-TR" sz="2000" dirty="0" smtClean="0">
              <a:solidFill>
                <a:schemeClr val="accent2"/>
              </a:solidFill>
              <a:latin typeface="Consolas" panose="020B0609020204030204" pitchFamily="49" charset="0"/>
            </a:endParaRPr>
          </a:p>
          <a:p>
            <a:pPr lvl="1">
              <a:lnSpc>
                <a:spcPct val="90000"/>
              </a:lnSpc>
              <a:buFontTx/>
              <a:buNone/>
            </a:pPr>
            <a:r>
              <a:rPr lang="en-US" altLang="tr-TR" sz="2000" dirty="0" err="1" smtClean="0">
                <a:solidFill>
                  <a:schemeClr val="accent2"/>
                </a:solidFill>
                <a:latin typeface="Consolas" panose="020B0609020204030204" pitchFamily="49" charset="0"/>
              </a:rPr>
              <a:t>int</a:t>
            </a:r>
            <a:r>
              <a:rPr lang="en-US" altLang="tr-TR" sz="2000" dirty="0" smtClean="0">
                <a:solidFill>
                  <a:schemeClr val="accent2"/>
                </a:solidFill>
                <a:latin typeface="Consolas" panose="020B0609020204030204" pitchFamily="49" charset="0"/>
              </a:rPr>
              <a:t> </a:t>
            </a:r>
            <a:r>
              <a:rPr lang="en-US" altLang="tr-TR" sz="2000" dirty="0">
                <a:solidFill>
                  <a:schemeClr val="accent2"/>
                </a:solidFill>
                <a:latin typeface="Consolas" panose="020B0609020204030204" pitchFamily="49" charset="0"/>
              </a:rPr>
              <a:t>e=10;</a:t>
            </a:r>
          </a:p>
          <a:p>
            <a:pPr lvl="1">
              <a:lnSpc>
                <a:spcPct val="90000"/>
              </a:lnSpc>
              <a:buFontTx/>
              <a:buNone/>
            </a:pPr>
            <a:endParaRPr lang="tr-TR" altLang="tr-TR" sz="1200" dirty="0" smtClean="0">
              <a:solidFill>
                <a:schemeClr val="accent2"/>
              </a:solidFill>
              <a:latin typeface="Consolas" panose="020B0609020204030204" pitchFamily="49" charset="0"/>
            </a:endParaRPr>
          </a:p>
          <a:p>
            <a:pPr lvl="1">
              <a:lnSpc>
                <a:spcPct val="90000"/>
              </a:lnSpc>
              <a:buFontTx/>
              <a:buNone/>
            </a:pPr>
            <a:r>
              <a:rPr lang="en-US" altLang="tr-TR" sz="2000" dirty="0" smtClean="0">
                <a:solidFill>
                  <a:schemeClr val="accent2"/>
                </a:solidFill>
                <a:latin typeface="Consolas" panose="020B0609020204030204" pitchFamily="49" charset="0"/>
              </a:rPr>
              <a:t>void </a:t>
            </a:r>
            <a:r>
              <a:rPr lang="en-US" altLang="tr-TR" sz="2000" dirty="0">
                <a:solidFill>
                  <a:schemeClr val="accent2"/>
                </a:solidFill>
                <a:latin typeface="Consolas" panose="020B0609020204030204" pitchFamily="49" charset="0"/>
              </a:rPr>
              <a:t>f(</a:t>
            </a:r>
            <a:r>
              <a:rPr lang="en-US" altLang="tr-TR" sz="2000" dirty="0" err="1">
                <a:solidFill>
                  <a:schemeClr val="accent2"/>
                </a:solidFill>
                <a:latin typeface="Consolas" panose="020B0609020204030204" pitchFamily="49" charset="0"/>
              </a:rPr>
              <a:t>int</a:t>
            </a:r>
            <a:r>
              <a:rPr lang="en-US" altLang="tr-TR" sz="2000" dirty="0">
                <a:solidFill>
                  <a:schemeClr val="accent2"/>
                </a:solidFill>
                <a:latin typeface="Consolas" panose="020B0609020204030204" pitchFamily="49" charset="0"/>
              </a:rPr>
              <a:t> e)</a:t>
            </a:r>
          </a:p>
          <a:p>
            <a:pPr lvl="1">
              <a:lnSpc>
                <a:spcPct val="90000"/>
              </a:lnSpc>
              <a:buFontTx/>
              <a:buNone/>
            </a:pPr>
            <a:r>
              <a:rPr lang="en-US" altLang="tr-TR" sz="2000" dirty="0">
                <a:solidFill>
                  <a:schemeClr val="accent2"/>
                </a:solidFill>
                <a:latin typeface="Consolas" panose="020B0609020204030204" pitchFamily="49" charset="0"/>
              </a:rPr>
              <a:t>{</a:t>
            </a:r>
          </a:p>
          <a:p>
            <a:pPr lvl="1">
              <a:lnSpc>
                <a:spcPct val="90000"/>
              </a:lnSpc>
              <a:buFontTx/>
              <a:buNone/>
            </a:pPr>
            <a:r>
              <a:rPr lang="en-US" altLang="tr-TR" sz="2000" dirty="0">
                <a:solidFill>
                  <a:schemeClr val="accent2"/>
                </a:solidFill>
                <a:latin typeface="Consolas" panose="020B0609020204030204" pitchFamily="49" charset="0"/>
              </a:rPr>
              <a:t>   e++;</a:t>
            </a:r>
          </a:p>
          <a:p>
            <a:pPr lvl="1">
              <a:lnSpc>
                <a:spcPct val="90000"/>
              </a:lnSpc>
              <a:buFontTx/>
              <a:buNone/>
            </a:pPr>
            <a:r>
              <a:rPr lang="en-US" altLang="tr-TR" sz="2000" dirty="0">
                <a:solidFill>
                  <a:schemeClr val="accent2"/>
                </a:solidFill>
                <a:latin typeface="Consolas" panose="020B0609020204030204" pitchFamily="49" charset="0"/>
              </a:rPr>
              <a:t>   </a:t>
            </a:r>
            <a:r>
              <a:rPr lang="en-US" altLang="tr-TR" sz="2000" dirty="0" err="1">
                <a:solidFill>
                  <a:schemeClr val="accent2"/>
                </a:solidFill>
                <a:latin typeface="Consolas" panose="020B0609020204030204" pitchFamily="49" charset="0"/>
              </a:rPr>
              <a:t>printf</a:t>
            </a:r>
            <a:r>
              <a:rPr lang="en-US" altLang="tr-TR" sz="2000" dirty="0">
                <a:solidFill>
                  <a:schemeClr val="accent2"/>
                </a:solidFill>
                <a:latin typeface="Consolas" panose="020B0609020204030204" pitchFamily="49" charset="0"/>
              </a:rPr>
              <a:t>("in f(): </a:t>
            </a:r>
            <a:r>
              <a:rPr lang="tr-TR" altLang="tr-TR" sz="2000" dirty="0" smtClean="0">
                <a:solidFill>
                  <a:schemeClr val="accent2"/>
                </a:solidFill>
                <a:latin typeface="Consolas" panose="020B0609020204030204" pitchFamily="49" charset="0"/>
              </a:rPr>
              <a:t>e</a:t>
            </a:r>
            <a:r>
              <a:rPr lang="en-US" altLang="tr-TR" sz="2000" dirty="0" smtClean="0">
                <a:solidFill>
                  <a:schemeClr val="accent2"/>
                </a:solidFill>
                <a:latin typeface="Consolas" panose="020B0609020204030204" pitchFamily="49" charset="0"/>
              </a:rPr>
              <a:t>=%</a:t>
            </a:r>
            <a:r>
              <a:rPr lang="en-US" altLang="tr-TR" sz="2000" dirty="0">
                <a:solidFill>
                  <a:schemeClr val="accent2"/>
                </a:solidFill>
                <a:latin typeface="Consolas" panose="020B0609020204030204" pitchFamily="49" charset="0"/>
              </a:rPr>
              <a:t>d\</a:t>
            </a:r>
            <a:r>
              <a:rPr lang="en-US" altLang="tr-TR" sz="2000" dirty="0" err="1">
                <a:solidFill>
                  <a:schemeClr val="accent2"/>
                </a:solidFill>
                <a:latin typeface="Consolas" panose="020B0609020204030204" pitchFamily="49" charset="0"/>
              </a:rPr>
              <a:t>n",e</a:t>
            </a:r>
            <a:r>
              <a:rPr lang="en-US" altLang="tr-TR" sz="2000" dirty="0">
                <a:solidFill>
                  <a:schemeClr val="accent2"/>
                </a:solidFill>
                <a:latin typeface="Consolas" panose="020B0609020204030204" pitchFamily="49" charset="0"/>
              </a:rPr>
              <a:t>);</a:t>
            </a:r>
          </a:p>
          <a:p>
            <a:pPr lvl="1">
              <a:lnSpc>
                <a:spcPct val="90000"/>
              </a:lnSpc>
              <a:buFontTx/>
              <a:buNone/>
            </a:pPr>
            <a:r>
              <a:rPr lang="en-US" altLang="tr-TR" sz="2000" dirty="0" smtClean="0">
                <a:solidFill>
                  <a:schemeClr val="accent2"/>
                </a:solidFill>
                <a:latin typeface="Consolas" panose="020B0609020204030204" pitchFamily="49" charset="0"/>
              </a:rPr>
              <a:t>}</a:t>
            </a:r>
            <a:endParaRPr lang="tr-TR" altLang="tr-TR" sz="2000" dirty="0" smtClean="0">
              <a:solidFill>
                <a:schemeClr val="accent2"/>
              </a:solidFill>
              <a:latin typeface="Consolas" panose="020B0609020204030204" pitchFamily="49" charset="0"/>
            </a:endParaRPr>
          </a:p>
          <a:p>
            <a:pPr lvl="1">
              <a:lnSpc>
                <a:spcPct val="90000"/>
              </a:lnSpc>
              <a:buFontTx/>
              <a:buNone/>
            </a:pPr>
            <a:endParaRPr lang="en-US" altLang="tr-TR" sz="1200" dirty="0">
              <a:solidFill>
                <a:schemeClr val="accent2"/>
              </a:solidFill>
              <a:latin typeface="Consolas" panose="020B0609020204030204" pitchFamily="49" charset="0"/>
            </a:endParaRPr>
          </a:p>
          <a:p>
            <a:pPr lvl="1">
              <a:lnSpc>
                <a:spcPct val="90000"/>
              </a:lnSpc>
              <a:buFontTx/>
              <a:buNone/>
            </a:pPr>
            <a:r>
              <a:rPr lang="en-US" altLang="tr-TR" sz="2000" dirty="0" err="1">
                <a:solidFill>
                  <a:schemeClr val="accent2"/>
                </a:solidFill>
                <a:latin typeface="Consolas" panose="020B0609020204030204" pitchFamily="49" charset="0"/>
              </a:rPr>
              <a:t>int</a:t>
            </a:r>
            <a:r>
              <a:rPr lang="en-US" altLang="tr-TR" sz="2000" dirty="0">
                <a:solidFill>
                  <a:schemeClr val="accent2"/>
                </a:solidFill>
                <a:latin typeface="Consolas" panose="020B0609020204030204" pitchFamily="49" charset="0"/>
              </a:rPr>
              <a:t> main()</a:t>
            </a:r>
          </a:p>
          <a:p>
            <a:pPr lvl="1">
              <a:lnSpc>
                <a:spcPct val="90000"/>
              </a:lnSpc>
              <a:buFontTx/>
              <a:buNone/>
            </a:pPr>
            <a:r>
              <a:rPr lang="en-US" altLang="tr-TR" sz="2000" dirty="0">
                <a:solidFill>
                  <a:schemeClr val="accent2"/>
                </a:solidFill>
                <a:latin typeface="Consolas" panose="020B0609020204030204" pitchFamily="49" charset="0"/>
              </a:rPr>
              <a:t>{  </a:t>
            </a:r>
            <a:r>
              <a:rPr lang="en-US" altLang="tr-TR" sz="2000" dirty="0" err="1">
                <a:solidFill>
                  <a:schemeClr val="accent2"/>
                </a:solidFill>
                <a:latin typeface="Consolas" panose="020B0609020204030204" pitchFamily="49" charset="0"/>
              </a:rPr>
              <a:t>int</a:t>
            </a:r>
            <a:r>
              <a:rPr lang="en-US" altLang="tr-TR" sz="2000" dirty="0">
                <a:solidFill>
                  <a:schemeClr val="accent2"/>
                </a:solidFill>
                <a:latin typeface="Consolas" panose="020B0609020204030204" pitchFamily="49" charset="0"/>
              </a:rPr>
              <a:t> g=30;</a:t>
            </a:r>
          </a:p>
          <a:p>
            <a:pPr lvl="1">
              <a:lnSpc>
                <a:spcPct val="90000"/>
              </a:lnSpc>
              <a:buFontTx/>
              <a:buNone/>
            </a:pPr>
            <a:r>
              <a:rPr lang="en-US" altLang="tr-TR" sz="2000" dirty="0">
                <a:solidFill>
                  <a:schemeClr val="accent2"/>
                </a:solidFill>
                <a:latin typeface="Consolas" panose="020B0609020204030204" pitchFamily="49" charset="0"/>
              </a:rPr>
              <a:t>   f(g);</a:t>
            </a:r>
          </a:p>
          <a:p>
            <a:pPr lvl="1">
              <a:lnSpc>
                <a:spcPct val="90000"/>
              </a:lnSpc>
              <a:buFontTx/>
              <a:buNone/>
            </a:pPr>
            <a:r>
              <a:rPr lang="en-US" altLang="tr-TR" sz="2000" dirty="0">
                <a:solidFill>
                  <a:schemeClr val="accent2"/>
                </a:solidFill>
                <a:latin typeface="Consolas" panose="020B0609020204030204" pitchFamily="49" charset="0"/>
              </a:rPr>
              <a:t>   </a:t>
            </a:r>
            <a:r>
              <a:rPr lang="en-US" altLang="tr-TR" sz="2000" dirty="0" err="1">
                <a:solidFill>
                  <a:schemeClr val="accent2"/>
                </a:solidFill>
                <a:latin typeface="Consolas" panose="020B0609020204030204" pitchFamily="49" charset="0"/>
              </a:rPr>
              <a:t>printf</a:t>
            </a:r>
            <a:r>
              <a:rPr lang="en-US" altLang="tr-TR" sz="2000" dirty="0">
                <a:solidFill>
                  <a:schemeClr val="accent2"/>
                </a:solidFill>
                <a:latin typeface="Consolas" panose="020B0609020204030204" pitchFamily="49" charset="0"/>
              </a:rPr>
              <a:t>("After first call to f(): g=%d\</a:t>
            </a:r>
            <a:r>
              <a:rPr lang="en-US" altLang="tr-TR" sz="2000" dirty="0" err="1">
                <a:solidFill>
                  <a:schemeClr val="accent2"/>
                </a:solidFill>
                <a:latin typeface="Consolas" panose="020B0609020204030204" pitchFamily="49" charset="0"/>
              </a:rPr>
              <a:t>n",g</a:t>
            </a:r>
            <a:r>
              <a:rPr lang="en-US" altLang="tr-TR" sz="2000" dirty="0">
                <a:solidFill>
                  <a:schemeClr val="accent2"/>
                </a:solidFill>
                <a:latin typeface="Consolas" panose="020B0609020204030204" pitchFamily="49" charset="0"/>
              </a:rPr>
              <a:t>);</a:t>
            </a:r>
          </a:p>
          <a:p>
            <a:pPr lvl="1">
              <a:lnSpc>
                <a:spcPct val="90000"/>
              </a:lnSpc>
              <a:buFontTx/>
              <a:buNone/>
            </a:pPr>
            <a:r>
              <a:rPr lang="en-US" altLang="tr-TR" sz="2000" dirty="0">
                <a:solidFill>
                  <a:schemeClr val="accent2"/>
                </a:solidFill>
                <a:latin typeface="Consolas" panose="020B0609020204030204" pitchFamily="49" charset="0"/>
              </a:rPr>
              <a:t>}</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25</a:t>
            </a:fld>
            <a:endParaRPr lang="en-US" altLang="tr-TR">
              <a:ea typeface="ＭＳ Ｐゴシック" panose="020B0600070205080204" pitchFamily="34" charset="-128"/>
            </a:endParaRPr>
          </a:p>
        </p:txBody>
      </p:sp>
      <p:pic>
        <p:nvPicPr>
          <p:cNvPr id="3" name="Picture 2" descr="C:\Users\agaoglu\agaoglu-docs\courses-recent\computer-programming\cse1142-2019-2020-2\source-codes-c\functions\C23_45_paramVeilsGlobal.ex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0699" y="1763782"/>
            <a:ext cx="4124901" cy="15527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703333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p:txBody>
          <a:bodyPr/>
          <a:lstStyle/>
          <a:p>
            <a:r>
              <a:rPr lang="en-US" altLang="tr-TR"/>
              <a:t>Example</a:t>
            </a:r>
          </a:p>
        </p:txBody>
      </p:sp>
      <p:sp>
        <p:nvSpPr>
          <p:cNvPr id="20483" name="Rectangle 3"/>
          <p:cNvSpPr>
            <a:spLocks noGrp="1" noChangeArrowheads="1"/>
          </p:cNvSpPr>
          <p:nvPr>
            <p:ph type="body" idx="4294967295"/>
          </p:nvPr>
        </p:nvSpPr>
        <p:spPr>
          <a:xfrm>
            <a:off x="304800" y="898526"/>
            <a:ext cx="11480800" cy="969463"/>
          </a:xfrm>
        </p:spPr>
        <p:txBody>
          <a:bodyPr/>
          <a:lstStyle/>
          <a:p>
            <a:r>
              <a:rPr lang="en-US" altLang="tr-TR" dirty="0"/>
              <a:t>Write a function that calculates the factorial of its parameter.</a:t>
            </a:r>
          </a:p>
          <a:p>
            <a:pPr lvl="1">
              <a:buFontTx/>
              <a:buNone/>
            </a:pPr>
            <a:r>
              <a:rPr lang="en-US" altLang="tr-TR" dirty="0"/>
              <a:t>              n! = n(n-1)(n-2)...1</a:t>
            </a:r>
            <a:endParaRPr lang="en-US" altLang="tr-TR" b="1" dirty="0">
              <a:solidFill>
                <a:schemeClr val="accent2"/>
              </a:solidFill>
              <a:latin typeface="Courier New" panose="02070309020205020404" pitchFamily="49" charset="0"/>
            </a:endParaRPr>
          </a:p>
        </p:txBody>
      </p:sp>
      <p:sp>
        <p:nvSpPr>
          <p:cNvPr id="2" name="TextBox 1"/>
          <p:cNvSpPr txBox="1"/>
          <p:nvPr/>
        </p:nvSpPr>
        <p:spPr>
          <a:xfrm>
            <a:off x="304800" y="2614115"/>
            <a:ext cx="4455066" cy="3447098"/>
          </a:xfrm>
          <a:prstGeom prst="rect">
            <a:avLst/>
          </a:prstGeom>
          <a:noFill/>
        </p:spPr>
        <p:txBody>
          <a:bodyPr wrap="none" rtlCol="0">
            <a:spAutoFit/>
          </a:bodyPr>
          <a:lstStyle/>
          <a:p>
            <a:pPr lvl="1">
              <a:buFontTx/>
              <a:buNone/>
            </a:pPr>
            <a:r>
              <a:rPr lang="en-US" altLang="tr-TR" sz="2000" dirty="0">
                <a:solidFill>
                  <a:schemeClr val="accent2"/>
                </a:solidFill>
                <a:latin typeface="Consolas" panose="020B0609020204030204" pitchFamily="49" charset="0"/>
              </a:rPr>
              <a:t>long factorial(</a:t>
            </a:r>
            <a:r>
              <a:rPr lang="en-US" altLang="tr-TR" sz="2000" dirty="0" err="1">
                <a:solidFill>
                  <a:schemeClr val="accent2"/>
                </a:solidFill>
                <a:latin typeface="Consolas" panose="020B0609020204030204" pitchFamily="49" charset="0"/>
              </a:rPr>
              <a:t>int</a:t>
            </a:r>
            <a:r>
              <a:rPr lang="en-US" altLang="tr-TR" sz="2000" dirty="0">
                <a:solidFill>
                  <a:schemeClr val="accent2"/>
                </a:solidFill>
                <a:latin typeface="Consolas" panose="020B0609020204030204" pitchFamily="49" charset="0"/>
              </a:rPr>
              <a:t> n)</a:t>
            </a:r>
          </a:p>
          <a:p>
            <a:pPr lvl="1">
              <a:buFontTx/>
              <a:buNone/>
            </a:pPr>
            <a:r>
              <a:rPr lang="en-US" altLang="tr-TR" sz="2000" dirty="0">
                <a:solidFill>
                  <a:schemeClr val="accent2"/>
                </a:solidFill>
                <a:latin typeface="Consolas" panose="020B0609020204030204" pitchFamily="49" charset="0"/>
              </a:rPr>
              <a:t>{  </a:t>
            </a:r>
            <a:endParaRPr lang="tr-TR" altLang="tr-TR" sz="2000" dirty="0" smtClean="0">
              <a:solidFill>
                <a:schemeClr val="accent2"/>
              </a:solidFill>
              <a:latin typeface="Consolas" panose="020B0609020204030204" pitchFamily="49" charset="0"/>
            </a:endParaRPr>
          </a:p>
          <a:p>
            <a:pPr lvl="1">
              <a:buFontTx/>
              <a:buNone/>
            </a:pPr>
            <a:r>
              <a:rPr lang="tr-TR" altLang="tr-TR" sz="2000" dirty="0">
                <a:solidFill>
                  <a:schemeClr val="accent2"/>
                </a:solidFill>
                <a:latin typeface="Consolas" panose="020B0609020204030204" pitchFamily="49" charset="0"/>
              </a:rPr>
              <a:t> </a:t>
            </a:r>
            <a:r>
              <a:rPr lang="tr-TR" altLang="tr-TR" sz="2000" dirty="0" smtClean="0">
                <a:solidFill>
                  <a:schemeClr val="accent2"/>
                </a:solidFill>
                <a:latin typeface="Consolas" panose="020B0609020204030204" pitchFamily="49" charset="0"/>
              </a:rPr>
              <a:t>  </a:t>
            </a:r>
            <a:r>
              <a:rPr lang="en-US" altLang="tr-TR" sz="2000" dirty="0" err="1" smtClean="0">
                <a:solidFill>
                  <a:schemeClr val="accent2"/>
                </a:solidFill>
                <a:latin typeface="Consolas" panose="020B0609020204030204" pitchFamily="49" charset="0"/>
              </a:rPr>
              <a:t>int</a:t>
            </a:r>
            <a:r>
              <a:rPr lang="en-US" altLang="tr-TR" sz="2000" dirty="0" smtClean="0">
                <a:solidFill>
                  <a:schemeClr val="accent2"/>
                </a:solidFill>
                <a:latin typeface="Consolas" panose="020B0609020204030204" pitchFamily="49" charset="0"/>
              </a:rPr>
              <a:t> </a:t>
            </a:r>
            <a:r>
              <a:rPr lang="en-US" altLang="tr-TR" sz="2000" dirty="0" err="1">
                <a:solidFill>
                  <a:schemeClr val="accent2"/>
                </a:solidFill>
                <a:latin typeface="Consolas" panose="020B0609020204030204" pitchFamily="49" charset="0"/>
              </a:rPr>
              <a:t>i</a:t>
            </a:r>
            <a:r>
              <a:rPr lang="en-US" altLang="tr-TR" sz="2000" dirty="0">
                <a:solidFill>
                  <a:schemeClr val="accent2"/>
                </a:solidFill>
                <a:latin typeface="Consolas" panose="020B0609020204030204" pitchFamily="49" charset="0"/>
              </a:rPr>
              <a:t>; </a:t>
            </a:r>
            <a:endParaRPr lang="tr-TR" altLang="tr-TR" sz="2000" dirty="0" smtClean="0">
              <a:solidFill>
                <a:schemeClr val="accent2"/>
              </a:solidFill>
              <a:latin typeface="Consolas" panose="020B0609020204030204" pitchFamily="49" charset="0"/>
            </a:endParaRPr>
          </a:p>
          <a:p>
            <a:pPr lvl="1">
              <a:buFontTx/>
              <a:buNone/>
            </a:pPr>
            <a:r>
              <a:rPr lang="tr-TR" altLang="tr-TR" sz="2000" dirty="0">
                <a:solidFill>
                  <a:schemeClr val="accent2"/>
                </a:solidFill>
                <a:latin typeface="Consolas" panose="020B0609020204030204" pitchFamily="49" charset="0"/>
              </a:rPr>
              <a:t> </a:t>
            </a:r>
            <a:r>
              <a:rPr lang="tr-TR" altLang="tr-TR" sz="2000" dirty="0" smtClean="0">
                <a:solidFill>
                  <a:schemeClr val="accent2"/>
                </a:solidFill>
                <a:latin typeface="Consolas" panose="020B0609020204030204" pitchFamily="49" charset="0"/>
              </a:rPr>
              <a:t>  </a:t>
            </a:r>
            <a:r>
              <a:rPr lang="en-US" altLang="tr-TR" sz="2000" dirty="0" smtClean="0">
                <a:solidFill>
                  <a:schemeClr val="accent2"/>
                </a:solidFill>
                <a:latin typeface="Consolas" panose="020B0609020204030204" pitchFamily="49" charset="0"/>
              </a:rPr>
              <a:t>long </a:t>
            </a:r>
            <a:r>
              <a:rPr lang="en-US" altLang="tr-TR" sz="2000" dirty="0">
                <a:solidFill>
                  <a:schemeClr val="accent2"/>
                </a:solidFill>
                <a:latin typeface="Consolas" panose="020B0609020204030204" pitchFamily="49" charset="0"/>
              </a:rPr>
              <a:t>res = 1;</a:t>
            </a:r>
          </a:p>
          <a:p>
            <a:pPr lvl="1">
              <a:buFontTx/>
              <a:buNone/>
            </a:pPr>
            <a:r>
              <a:rPr lang="en-US" altLang="tr-TR" sz="2000" dirty="0">
                <a:solidFill>
                  <a:schemeClr val="accent2"/>
                </a:solidFill>
                <a:latin typeface="Consolas" panose="020B0609020204030204" pitchFamily="49" charset="0"/>
              </a:rPr>
              <a:t>   if (n == 0)</a:t>
            </a:r>
          </a:p>
          <a:p>
            <a:pPr lvl="1">
              <a:buFontTx/>
              <a:buNone/>
            </a:pPr>
            <a:r>
              <a:rPr lang="en-US" altLang="tr-TR" sz="2000" dirty="0">
                <a:solidFill>
                  <a:schemeClr val="accent2"/>
                </a:solidFill>
                <a:latin typeface="Consolas" panose="020B0609020204030204" pitchFamily="49" charset="0"/>
              </a:rPr>
              <a:t>      return 1;</a:t>
            </a:r>
          </a:p>
          <a:p>
            <a:pPr lvl="1">
              <a:buFontTx/>
              <a:buNone/>
            </a:pPr>
            <a:r>
              <a:rPr lang="en-US" altLang="tr-TR" sz="2000" dirty="0">
                <a:solidFill>
                  <a:schemeClr val="accent2"/>
                </a:solidFill>
                <a:latin typeface="Consolas" panose="020B0609020204030204" pitchFamily="49" charset="0"/>
              </a:rPr>
              <a:t>   for (</a:t>
            </a:r>
            <a:r>
              <a:rPr lang="en-US" altLang="tr-TR" sz="2000" dirty="0" err="1">
                <a:solidFill>
                  <a:schemeClr val="accent2"/>
                </a:solidFill>
                <a:latin typeface="Consolas" panose="020B0609020204030204" pitchFamily="49" charset="0"/>
              </a:rPr>
              <a:t>i</a:t>
            </a:r>
            <a:r>
              <a:rPr lang="en-US" altLang="tr-TR" sz="2000" dirty="0">
                <a:solidFill>
                  <a:schemeClr val="accent2"/>
                </a:solidFill>
                <a:latin typeface="Consolas" panose="020B0609020204030204" pitchFamily="49" charset="0"/>
              </a:rPr>
              <a:t> = 1; </a:t>
            </a:r>
            <a:r>
              <a:rPr lang="en-US" altLang="tr-TR" sz="2000" dirty="0" err="1">
                <a:solidFill>
                  <a:schemeClr val="accent2"/>
                </a:solidFill>
                <a:latin typeface="Consolas" panose="020B0609020204030204" pitchFamily="49" charset="0"/>
              </a:rPr>
              <a:t>i</a:t>
            </a:r>
            <a:r>
              <a:rPr lang="en-US" altLang="tr-TR" sz="2000" dirty="0">
                <a:solidFill>
                  <a:schemeClr val="accent2"/>
                </a:solidFill>
                <a:latin typeface="Consolas" panose="020B0609020204030204" pitchFamily="49" charset="0"/>
              </a:rPr>
              <a:t> &lt;= n; </a:t>
            </a:r>
            <a:r>
              <a:rPr lang="en-US" altLang="tr-TR" sz="2000" dirty="0" err="1">
                <a:solidFill>
                  <a:schemeClr val="accent2"/>
                </a:solidFill>
                <a:latin typeface="Consolas" panose="020B0609020204030204" pitchFamily="49" charset="0"/>
              </a:rPr>
              <a:t>i</a:t>
            </a:r>
            <a:r>
              <a:rPr lang="en-US" altLang="tr-TR" sz="2000" dirty="0">
                <a:solidFill>
                  <a:schemeClr val="accent2"/>
                </a:solidFill>
                <a:latin typeface="Consolas" panose="020B0609020204030204" pitchFamily="49" charset="0"/>
              </a:rPr>
              <a:t>++)</a:t>
            </a:r>
          </a:p>
          <a:p>
            <a:pPr lvl="1">
              <a:buFontTx/>
              <a:buNone/>
            </a:pPr>
            <a:r>
              <a:rPr lang="en-US" altLang="tr-TR" sz="2000" dirty="0">
                <a:solidFill>
                  <a:schemeClr val="accent2"/>
                </a:solidFill>
                <a:latin typeface="Consolas" panose="020B0609020204030204" pitchFamily="49" charset="0"/>
              </a:rPr>
              <a:t>      res *= </a:t>
            </a:r>
            <a:r>
              <a:rPr lang="en-US" altLang="tr-TR" sz="2000" dirty="0" err="1">
                <a:solidFill>
                  <a:schemeClr val="accent2"/>
                </a:solidFill>
                <a:latin typeface="Consolas" panose="020B0609020204030204" pitchFamily="49" charset="0"/>
              </a:rPr>
              <a:t>i</a:t>
            </a:r>
            <a:r>
              <a:rPr lang="en-US" altLang="tr-TR" sz="2000" dirty="0">
                <a:solidFill>
                  <a:schemeClr val="accent2"/>
                </a:solidFill>
                <a:latin typeface="Consolas" panose="020B0609020204030204" pitchFamily="49" charset="0"/>
              </a:rPr>
              <a:t>;</a:t>
            </a:r>
          </a:p>
          <a:p>
            <a:pPr lvl="1">
              <a:buFontTx/>
              <a:buNone/>
            </a:pPr>
            <a:r>
              <a:rPr lang="en-US" altLang="tr-TR" sz="2000" dirty="0">
                <a:solidFill>
                  <a:schemeClr val="accent2"/>
                </a:solidFill>
                <a:latin typeface="Consolas" panose="020B0609020204030204" pitchFamily="49" charset="0"/>
              </a:rPr>
              <a:t>   return res;</a:t>
            </a:r>
          </a:p>
          <a:p>
            <a:pPr lvl="1">
              <a:buFontTx/>
              <a:buNone/>
            </a:pPr>
            <a:r>
              <a:rPr lang="en-US" altLang="tr-TR" sz="2000" dirty="0">
                <a:solidFill>
                  <a:schemeClr val="accent2"/>
                </a:solidFill>
                <a:latin typeface="Consolas" panose="020B0609020204030204" pitchFamily="49" charset="0"/>
              </a:rPr>
              <a:t>}</a:t>
            </a:r>
          </a:p>
          <a:p>
            <a:endParaRPr lang="tr-TR" dirty="0">
              <a:latin typeface="Consolas" panose="020B0609020204030204" pitchFamily="49" charset="0"/>
            </a:endParaRPr>
          </a:p>
        </p:txBody>
      </p:sp>
      <p:sp>
        <p:nvSpPr>
          <p:cNvPr id="3" name="Slide Number Placeholder 2"/>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26</a:t>
            </a:fld>
            <a:endParaRPr lang="en-US" altLang="tr-TR">
              <a:ea typeface="ＭＳ Ｐゴシック" panose="020B0600070205080204" pitchFamily="34" charset="-128"/>
            </a:endParaRPr>
          </a:p>
        </p:txBody>
      </p:sp>
      <p:pic>
        <p:nvPicPr>
          <p:cNvPr id="4" name="Picture 3" descr="C:\Users\agaoglu\agaoglu-docs\courses-recent\computer-programming\cse1142-2019-2020-2\source-codes-c\functions\C23_50_factorialByIteration.ex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0699" y="2614115"/>
            <a:ext cx="4124901" cy="156231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538876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fltVal val="0"/>
                                          </p:val>
                                        </p:tav>
                                        <p:tav tm="100000">
                                          <p:val>
                                            <p:strVal val="#ppt_w"/>
                                          </p:val>
                                        </p:tav>
                                      </p:tavLst>
                                    </p:anim>
                                    <p:anim calcmode="lin" valueType="num">
                                      <p:cBhvr>
                                        <p:cTn id="13" dur="1000" fill="hold"/>
                                        <p:tgtEl>
                                          <p:spTgt spid="4"/>
                                        </p:tgtEl>
                                        <p:attrNameLst>
                                          <p:attrName>ppt_h</p:attrName>
                                        </p:attrNameLst>
                                      </p:cBhvr>
                                      <p:tavLst>
                                        <p:tav tm="0">
                                          <p:val>
                                            <p:fltVal val="0"/>
                                          </p:val>
                                        </p:tav>
                                        <p:tav tm="100000">
                                          <p:val>
                                            <p:strVal val="#ppt_h"/>
                                          </p:val>
                                        </p:tav>
                                      </p:tavLst>
                                    </p:anim>
                                    <p:anim calcmode="lin" valueType="num">
                                      <p:cBhvr>
                                        <p:cTn id="14" dur="1000" fill="hold"/>
                                        <p:tgtEl>
                                          <p:spTgt spid="4"/>
                                        </p:tgtEl>
                                        <p:attrNameLst>
                                          <p:attrName>style.rotation</p:attrName>
                                        </p:attrNameLst>
                                      </p:cBhvr>
                                      <p:tavLst>
                                        <p:tav tm="0">
                                          <p:val>
                                            <p:fltVal val="90"/>
                                          </p:val>
                                        </p:tav>
                                        <p:tav tm="100000">
                                          <p:val>
                                            <p:fltVal val="0"/>
                                          </p:val>
                                        </p:tav>
                                      </p:tavLst>
                                    </p:anim>
                                    <p:animEffect transition="in" filter="fade">
                                      <p:cBhvr>
                                        <p:cTn id="1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p:txBody>
          <a:bodyPr/>
          <a:lstStyle/>
          <a:p>
            <a:r>
              <a:rPr lang="en-US" altLang="tr-TR"/>
              <a:t>Macro Substitution</a:t>
            </a:r>
          </a:p>
        </p:txBody>
      </p:sp>
      <p:sp>
        <p:nvSpPr>
          <p:cNvPr id="21507" name="Rectangle 3"/>
          <p:cNvSpPr>
            <a:spLocks noGrp="1" noChangeArrowheads="1"/>
          </p:cNvSpPr>
          <p:nvPr>
            <p:ph type="body" idx="4294967295"/>
          </p:nvPr>
        </p:nvSpPr>
        <p:spPr/>
        <p:txBody>
          <a:bodyPr/>
          <a:lstStyle/>
          <a:p>
            <a:r>
              <a:rPr lang="en-US" altLang="tr-TR" dirty="0"/>
              <a:t>Remember</a:t>
            </a:r>
          </a:p>
          <a:p>
            <a:pPr lvl="2">
              <a:buFontTx/>
              <a:buNone/>
            </a:pPr>
            <a:r>
              <a:rPr lang="en-US" altLang="tr-TR" b="1" dirty="0">
                <a:solidFill>
                  <a:srgbClr val="0000C8"/>
                </a:solidFill>
                <a:latin typeface="Courier New" panose="02070309020205020404" pitchFamily="49" charset="0"/>
              </a:rPr>
              <a:t>#define PI 3.14</a:t>
            </a:r>
          </a:p>
          <a:p>
            <a:pPr lvl="4"/>
            <a:endParaRPr lang="tr-TR" altLang="tr-TR" dirty="0" smtClean="0"/>
          </a:p>
          <a:p>
            <a:pPr lvl="4"/>
            <a:endParaRPr lang="tr-TR" altLang="tr-TR" dirty="0"/>
          </a:p>
          <a:p>
            <a:pPr lvl="4"/>
            <a:endParaRPr lang="tr-TR" altLang="tr-TR" dirty="0" smtClean="0"/>
          </a:p>
          <a:p>
            <a:r>
              <a:rPr lang="en-US" altLang="tr-TR" dirty="0" smtClean="0"/>
              <a:t>It </a:t>
            </a:r>
            <a:r>
              <a:rPr lang="en-US" altLang="tr-TR" dirty="0"/>
              <a:t>is also possible to write macros with parameters.</a:t>
            </a:r>
          </a:p>
          <a:p>
            <a:pPr lvl="2">
              <a:buFontTx/>
              <a:buNone/>
            </a:pPr>
            <a:r>
              <a:rPr lang="en-US" altLang="tr-TR" b="1" dirty="0">
                <a:solidFill>
                  <a:srgbClr val="0000C8"/>
                </a:solidFill>
                <a:latin typeface="Courier New" panose="02070309020205020404" pitchFamily="49" charset="0"/>
              </a:rPr>
              <a:t>#define square(x) x*x</a:t>
            </a:r>
          </a:p>
          <a:p>
            <a:pPr lvl="4"/>
            <a:endParaRPr lang="tr-TR" altLang="tr-TR" dirty="0" smtClean="0"/>
          </a:p>
          <a:p>
            <a:pPr lvl="1"/>
            <a:r>
              <a:rPr lang="en-US" altLang="tr-TR" dirty="0" smtClean="0"/>
              <a:t>The </a:t>
            </a:r>
            <a:r>
              <a:rPr lang="en-US" altLang="tr-TR" dirty="0"/>
              <a:t>name of the macro is </a:t>
            </a:r>
            <a:r>
              <a:rPr lang="en-US" altLang="tr-TR" b="1" dirty="0">
                <a:solidFill>
                  <a:srgbClr val="0000C8"/>
                </a:solidFill>
                <a:latin typeface="Courier New" panose="02070309020205020404" pitchFamily="49" charset="0"/>
              </a:rPr>
              <a:t>square</a:t>
            </a:r>
            <a:r>
              <a:rPr lang="en-US" altLang="tr-TR" dirty="0"/>
              <a:t>.</a:t>
            </a:r>
          </a:p>
          <a:p>
            <a:pPr lvl="4"/>
            <a:endParaRPr lang="tr-TR" altLang="tr-TR" dirty="0" smtClean="0"/>
          </a:p>
          <a:p>
            <a:pPr lvl="1"/>
            <a:r>
              <a:rPr lang="en-US" altLang="tr-TR" dirty="0" smtClean="0"/>
              <a:t>Its </a:t>
            </a:r>
            <a:r>
              <a:rPr lang="en-US" altLang="tr-TR" dirty="0"/>
              <a:t>parameter is </a:t>
            </a:r>
            <a:r>
              <a:rPr lang="en-US" altLang="tr-TR" b="1" dirty="0">
                <a:solidFill>
                  <a:srgbClr val="0000C8"/>
                </a:solidFill>
                <a:latin typeface="Courier New" panose="02070309020205020404" pitchFamily="49" charset="0"/>
              </a:rPr>
              <a:t>x</a:t>
            </a:r>
            <a:r>
              <a:rPr lang="en-US" altLang="tr-TR" dirty="0"/>
              <a:t>.</a:t>
            </a:r>
          </a:p>
          <a:p>
            <a:pPr lvl="4"/>
            <a:endParaRPr lang="tr-TR" altLang="tr-TR" dirty="0" smtClean="0"/>
          </a:p>
          <a:p>
            <a:pPr lvl="1"/>
            <a:r>
              <a:rPr lang="en-US" altLang="tr-TR" dirty="0" smtClean="0"/>
              <a:t>It </a:t>
            </a:r>
            <a:r>
              <a:rPr lang="en-US" altLang="tr-TR" dirty="0"/>
              <a:t>is replaced with </a:t>
            </a:r>
            <a:r>
              <a:rPr lang="en-US" altLang="tr-TR" b="1" dirty="0">
                <a:solidFill>
                  <a:srgbClr val="0000C8"/>
                </a:solidFill>
                <a:latin typeface="Courier New" panose="02070309020205020404" pitchFamily="49" charset="0"/>
              </a:rPr>
              <a:t>x*x</a:t>
            </a:r>
            <a:r>
              <a:rPr lang="en-US" altLang="tr-TR" dirty="0"/>
              <a:t> (with </a:t>
            </a:r>
            <a:r>
              <a:rPr lang="en-US" altLang="tr-TR" dirty="0" err="1"/>
              <a:t>paramater</a:t>
            </a:r>
            <a:r>
              <a:rPr lang="en-US" altLang="tr-TR" dirty="0"/>
              <a:t> </a:t>
            </a:r>
            <a:r>
              <a:rPr lang="en-US" altLang="tr-TR" b="1" dirty="0">
                <a:solidFill>
                  <a:srgbClr val="0000C8"/>
                </a:solidFill>
                <a:latin typeface="Courier New" panose="02070309020205020404" pitchFamily="49" charset="0"/>
              </a:rPr>
              <a:t>x</a:t>
            </a:r>
            <a:r>
              <a:rPr lang="en-US" altLang="tr-TR" dirty="0"/>
              <a:t> substituted.)</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27</a:t>
            </a:fld>
            <a:endParaRPr lang="en-US" altLang="tr-TR" dirty="0">
              <a:ea typeface="ＭＳ Ｐゴシック" panose="020B0600070205080204" pitchFamily="34" charset="-128"/>
            </a:endParaRPr>
          </a:p>
        </p:txBody>
      </p:sp>
    </p:spTree>
    <p:extLst>
      <p:ext uri="{BB962C8B-B14F-4D97-AF65-F5344CB8AC3E}">
        <p14:creationId xmlns:p14="http://schemas.microsoft.com/office/powerpoint/2010/main" val="3881012423"/>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Macros with Parameters</a:t>
            </a:r>
          </a:p>
        </p:txBody>
      </p:sp>
      <p:sp>
        <p:nvSpPr>
          <p:cNvPr id="3" name="Content Placeholder 2"/>
          <p:cNvSpPr>
            <a:spLocks noGrp="1"/>
          </p:cNvSpPr>
          <p:nvPr>
            <p:ph idx="1"/>
          </p:nvPr>
        </p:nvSpPr>
        <p:spPr>
          <a:xfrm>
            <a:off x="577516" y="1219201"/>
            <a:ext cx="9633284" cy="4800600"/>
          </a:xfrm>
        </p:spPr>
        <p:txBody>
          <a:bodyPr/>
          <a:lstStyle/>
          <a:p>
            <a:r>
              <a:rPr lang="en-US" dirty="0"/>
              <a:t>macro</a:t>
            </a:r>
          </a:p>
          <a:p>
            <a:pPr lvl="1"/>
            <a:r>
              <a:rPr lang="en-US" dirty="0"/>
              <a:t>facility for naming a commonly used statement or operation</a:t>
            </a:r>
          </a:p>
          <a:p>
            <a:pPr lvl="1"/>
            <a:endParaRPr lang="en-US" dirty="0"/>
          </a:p>
          <a:p>
            <a:pPr lvl="1"/>
            <a:endParaRPr lang="en-US" dirty="0"/>
          </a:p>
          <a:p>
            <a:pPr lvl="1"/>
            <a:endParaRPr lang="en-US" dirty="0"/>
          </a:p>
          <a:p>
            <a:r>
              <a:rPr lang="en-US" dirty="0"/>
              <a:t>macro expansion</a:t>
            </a:r>
          </a:p>
          <a:p>
            <a:pPr lvl="1"/>
            <a:r>
              <a:rPr lang="en-US" dirty="0"/>
              <a:t>process of replacing a macro call by its meaning</a:t>
            </a:r>
          </a:p>
        </p:txBody>
      </p:sp>
      <p:sp>
        <p:nvSpPr>
          <p:cNvPr id="5" name="Slide Number Placeholder 4"/>
          <p:cNvSpPr>
            <a:spLocks noGrp="1"/>
          </p:cNvSpPr>
          <p:nvPr>
            <p:ph type="sldNum" sz="quarter" idx="12"/>
          </p:nvPr>
        </p:nvSpPr>
        <p:spPr/>
        <p:txBody>
          <a:bodyPr/>
          <a:lstStyle/>
          <a:p>
            <a:endParaRPr lang="en-US" dirty="0">
              <a:solidFill>
                <a:schemeClr val="bg1"/>
              </a:solidFill>
            </a:endParaRP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5610" y="2237543"/>
            <a:ext cx="5829300" cy="478359"/>
          </a:xfrm>
          <a:prstGeom prst="rect">
            <a:avLst/>
          </a:prstGeom>
          <a:noFill/>
          <a:ln w="9525">
            <a:solidFill>
              <a:srgbClr val="7030A0"/>
            </a:solidFill>
            <a:miter lim="800000"/>
            <a:headEnd/>
            <a:tailEnd/>
          </a:ln>
          <a:extLst>
            <a:ext uri="{909E8E84-426E-40DD-AFC4-6F175D3DCCD1}">
              <a14:hiddenFill xmlns:a14="http://schemas.microsoft.com/office/drawing/2010/main">
                <a:solidFill>
                  <a:schemeClr val="accent1"/>
                </a:solidFill>
              </a14:hiddenFill>
            </a:ext>
          </a:extLst>
        </p:spPr>
      </p:pic>
      <p:sp>
        <p:nvSpPr>
          <p:cNvPr id="8" name="Slide Number Placeholder 1"/>
          <p:cNvSpPr>
            <a:spLocks noGrp="1"/>
          </p:cNvSpPr>
          <p:nvPr>
            <p:ph type="sldNum" sz="quarter" idx="11"/>
          </p:nvPr>
        </p:nvSpPr>
        <p:spPr>
          <a:xfrm>
            <a:off x="9036051" y="6318250"/>
            <a:ext cx="2844800" cy="457200"/>
          </a:xfrm>
        </p:spPr>
        <p:txBody>
          <a:bodyPr/>
          <a:lstStyle/>
          <a:p>
            <a:pPr fontAlgn="base">
              <a:spcBef>
                <a:spcPct val="0"/>
              </a:spcBef>
              <a:spcAft>
                <a:spcPct val="0"/>
              </a:spcAft>
            </a:pPr>
            <a:r>
              <a:rPr lang="en-US" altLang="tr-TR" dirty="0">
                <a:ea typeface="ＭＳ Ｐゴシック" panose="020B0600070205080204" pitchFamily="34" charset="-128"/>
              </a:rPr>
              <a:t>28</a:t>
            </a:r>
          </a:p>
        </p:txBody>
      </p:sp>
    </p:spTree>
    <p:extLst>
      <p:ext uri="{BB962C8B-B14F-4D97-AF65-F5344CB8AC3E}">
        <p14:creationId xmlns:p14="http://schemas.microsoft.com/office/powerpoint/2010/main" val="286935748"/>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39278E42-1722-402E-8F9F-BEB58352D694}"/>
              </a:ext>
            </a:extLst>
          </p:cNvPr>
          <p:cNvSpPr>
            <a:spLocks noGrp="1" noChangeArrowheads="1"/>
          </p:cNvSpPr>
          <p:nvPr>
            <p:ph type="title" idx="4294967295"/>
          </p:nvPr>
        </p:nvSpPr>
        <p:spPr/>
        <p:txBody>
          <a:bodyPr/>
          <a:lstStyle/>
          <a:p>
            <a:r>
              <a:rPr lang="en-US" altLang="en-US" dirty="0">
                <a:ea typeface="ＭＳ Ｐゴシック" panose="020B0600070205080204" pitchFamily="34" charset="-128"/>
              </a:rPr>
              <a:t>Macro Substitution</a:t>
            </a:r>
          </a:p>
        </p:txBody>
      </p:sp>
      <p:sp>
        <p:nvSpPr>
          <p:cNvPr id="53250" name="Rectangle 3">
            <a:extLst>
              <a:ext uri="{FF2B5EF4-FFF2-40B4-BE49-F238E27FC236}">
                <a16:creationId xmlns:a16="http://schemas.microsoft.com/office/drawing/2014/main" id="{D84897D5-2E32-4059-81B8-C17BEE63153C}"/>
              </a:ext>
            </a:extLst>
          </p:cNvPr>
          <p:cNvSpPr>
            <a:spLocks noGrp="1" noChangeArrowheads="1"/>
          </p:cNvSpPr>
          <p:nvPr>
            <p:ph type="body" idx="4294967295"/>
          </p:nvPr>
        </p:nvSpPr>
        <p:spPr/>
        <p:txBody>
          <a:bodyPr/>
          <a:lstStyle/>
          <a:p>
            <a:r>
              <a:rPr lang="en-US" altLang="tr-TR" sz="2800" b="1" dirty="0">
                <a:solidFill>
                  <a:srgbClr val="0000C8"/>
                </a:solidFill>
                <a:latin typeface="Courier New" panose="02070309020205020404" pitchFamily="49" charset="0"/>
              </a:rPr>
              <a:t>#define square(x) </a:t>
            </a:r>
            <a:r>
              <a:rPr lang="en-US" altLang="tr-TR" sz="2800" b="1" dirty="0" smtClean="0">
                <a:solidFill>
                  <a:srgbClr val="0000C8"/>
                </a:solidFill>
                <a:latin typeface="Courier New" panose="02070309020205020404" pitchFamily="49" charset="0"/>
              </a:rPr>
              <a:t>x*x</a:t>
            </a:r>
            <a:endParaRPr lang="tr-TR" altLang="tr-TR" sz="2800" b="1" dirty="0" smtClean="0">
              <a:solidFill>
                <a:srgbClr val="0000C8"/>
              </a:solidFill>
              <a:latin typeface="Courier New" panose="02070309020205020404" pitchFamily="49" charset="0"/>
            </a:endParaRPr>
          </a:p>
          <a:p>
            <a:pPr lvl="4"/>
            <a:endParaRPr lang="en-US" altLang="en-US" sz="2000" dirty="0">
              <a:ea typeface="ＭＳ Ｐゴシック" panose="020B0600070205080204" pitchFamily="34" charset="-128"/>
            </a:endParaRPr>
          </a:p>
          <a:p>
            <a:r>
              <a:rPr lang="en-US" altLang="en-US" sz="2800" dirty="0">
                <a:ea typeface="ＭＳ Ｐゴシック" panose="020B0600070205080204" pitchFamily="34" charset="-128"/>
              </a:rPr>
              <a:t>Note that when the macro is called as</a:t>
            </a:r>
          </a:p>
          <a:p>
            <a:pPr lvl="2">
              <a:buFontTx/>
              <a:buNone/>
            </a:pPr>
            <a:r>
              <a:rPr lang="en-US" altLang="en-US" sz="2800" b="1" dirty="0">
                <a:solidFill>
                  <a:srgbClr val="0000C8"/>
                </a:solidFill>
                <a:latin typeface="Courier New" panose="02070309020205020404" pitchFamily="49" charset="0"/>
                <a:ea typeface="ＭＳ Ｐゴシック" panose="020B0600070205080204" pitchFamily="34" charset="-128"/>
              </a:rPr>
              <a:t>square(a+1)</a:t>
            </a:r>
          </a:p>
          <a:p>
            <a:pPr lvl="1">
              <a:buFontTx/>
              <a:buNone/>
            </a:pPr>
            <a:r>
              <a:rPr lang="en-US" altLang="en-US" dirty="0">
                <a:ea typeface="ＭＳ Ｐゴシック" panose="020B0600070205080204" pitchFamily="34" charset="-128"/>
              </a:rPr>
              <a:t>the substituted form will be</a:t>
            </a:r>
          </a:p>
          <a:p>
            <a:pPr lvl="2">
              <a:buFontTx/>
              <a:buNone/>
            </a:pPr>
            <a:r>
              <a:rPr lang="en-US" altLang="en-US" sz="2800" b="1" dirty="0">
                <a:solidFill>
                  <a:srgbClr val="0000C8"/>
                </a:solidFill>
                <a:latin typeface="Courier New" panose="02070309020205020404" pitchFamily="49" charset="0"/>
                <a:ea typeface="ＭＳ Ｐゴシック" panose="020B0600070205080204" pitchFamily="34" charset="-128"/>
              </a:rPr>
              <a:t>a+1*a+1</a:t>
            </a:r>
          </a:p>
          <a:p>
            <a:pPr lvl="1">
              <a:buFontTx/>
              <a:buNone/>
            </a:pPr>
            <a:r>
              <a:rPr lang="en-US" altLang="en-US" dirty="0">
                <a:ea typeface="ＭＳ Ｐゴシック" panose="020B0600070205080204" pitchFamily="34" charset="-128"/>
              </a:rPr>
              <a:t>which is not correct.</a:t>
            </a:r>
          </a:p>
          <a:p>
            <a:pPr lvl="4"/>
            <a:endParaRPr lang="tr-TR" altLang="en-US" sz="2000" dirty="0" smtClean="0">
              <a:ea typeface="ＭＳ Ｐゴシック" panose="020B0600070205080204" pitchFamily="34" charset="-128"/>
            </a:endParaRPr>
          </a:p>
          <a:p>
            <a:r>
              <a:rPr lang="en-US" altLang="en-US" sz="2800" dirty="0" smtClean="0">
                <a:ea typeface="ＭＳ Ｐゴシック" panose="020B0600070205080204" pitchFamily="34" charset="-128"/>
              </a:rPr>
              <a:t>The </a:t>
            </a:r>
            <a:r>
              <a:rPr lang="en-US" altLang="en-US" sz="2800" dirty="0">
                <a:ea typeface="ＭＳ Ｐゴシック" panose="020B0600070205080204" pitchFamily="34" charset="-128"/>
              </a:rPr>
              <a:t>macro should have been defined as</a:t>
            </a:r>
          </a:p>
          <a:p>
            <a:pPr lvl="2">
              <a:buFontTx/>
              <a:buNone/>
            </a:pPr>
            <a:r>
              <a:rPr lang="en-US" altLang="en-US" sz="2800" b="1" dirty="0">
                <a:solidFill>
                  <a:srgbClr val="0000C8"/>
                </a:solidFill>
                <a:latin typeface="Courier New" panose="02070309020205020404" pitchFamily="49" charset="0"/>
                <a:ea typeface="ＭＳ Ｐゴシック" panose="020B0600070205080204" pitchFamily="34" charset="-128"/>
              </a:rPr>
              <a:t>#define square(x) (x)*(x)</a:t>
            </a:r>
          </a:p>
          <a:p>
            <a:pPr lvl="1">
              <a:buFontTx/>
              <a:buNone/>
            </a:pPr>
            <a:r>
              <a:rPr lang="en-US" altLang="en-US" dirty="0">
                <a:ea typeface="ＭＳ Ｐゴシック" panose="020B0600070205080204" pitchFamily="34" charset="-128"/>
              </a:rPr>
              <a:t>so that its substituted form would be</a:t>
            </a:r>
          </a:p>
          <a:p>
            <a:pPr lvl="2">
              <a:buFontTx/>
              <a:buNone/>
            </a:pPr>
            <a:r>
              <a:rPr lang="en-US" altLang="en-US" sz="2800" b="1" dirty="0">
                <a:solidFill>
                  <a:srgbClr val="0000C8"/>
                </a:solidFill>
                <a:latin typeface="Courier New" panose="02070309020205020404" pitchFamily="49" charset="0"/>
                <a:ea typeface="ＭＳ Ｐゴシック" panose="020B0600070205080204" pitchFamily="34" charset="-128"/>
              </a:rPr>
              <a:t>(a+1)*(a+1)</a:t>
            </a:r>
          </a:p>
        </p:txBody>
      </p:sp>
      <p:sp>
        <p:nvSpPr>
          <p:cNvPr id="53254" name="Slide Number Placeholder 3">
            <a:extLst>
              <a:ext uri="{FF2B5EF4-FFF2-40B4-BE49-F238E27FC236}">
                <a16:creationId xmlns:a16="http://schemas.microsoft.com/office/drawing/2014/main" id="{4F7DF0F0-FA86-4E59-873D-BE1AB188FA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dirty="0">
              <a:solidFill>
                <a:schemeClr val="bg1"/>
              </a:solidFill>
              <a:latin typeface="Comic Sans MS" panose="030F0702030302020204" pitchFamily="66" charset="0"/>
            </a:endParaRPr>
          </a:p>
        </p:txBody>
      </p:sp>
      <p:sp>
        <p:nvSpPr>
          <p:cNvPr id="6" name="Slide Number Placeholder 1"/>
          <p:cNvSpPr>
            <a:spLocks noGrp="1"/>
          </p:cNvSpPr>
          <p:nvPr>
            <p:ph type="sldNum" sz="quarter" idx="11"/>
          </p:nvPr>
        </p:nvSpPr>
        <p:spPr>
          <a:xfrm>
            <a:off x="9036051" y="6318250"/>
            <a:ext cx="2844800" cy="457200"/>
          </a:xfrm>
        </p:spPr>
        <p:txBody>
          <a:bodyPr/>
          <a:lstStyle/>
          <a:p>
            <a:pPr fontAlgn="base">
              <a:spcBef>
                <a:spcPct val="0"/>
              </a:spcBef>
              <a:spcAft>
                <a:spcPct val="0"/>
              </a:spcAft>
            </a:pPr>
            <a:r>
              <a:rPr lang="en-US" altLang="tr-TR" dirty="0">
                <a:ea typeface="ＭＳ Ｐゴシック" panose="020B0600070205080204" pitchFamily="34" charset="-128"/>
              </a:rPr>
              <a:t>29</a:t>
            </a:r>
          </a:p>
        </p:txBody>
      </p:sp>
    </p:spTree>
    <p:extLst>
      <p:ext uri="{BB962C8B-B14F-4D97-AF65-F5344CB8AC3E}">
        <p14:creationId xmlns:p14="http://schemas.microsoft.com/office/powerpoint/2010/main" val="41927866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0">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50">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250">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3250">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325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p:txBody>
          <a:bodyPr/>
          <a:lstStyle/>
          <a:p>
            <a:r>
              <a:rPr lang="en-US" altLang="tr-TR"/>
              <a:t>Macro Substitution</a:t>
            </a:r>
          </a:p>
        </p:txBody>
      </p:sp>
      <p:sp>
        <p:nvSpPr>
          <p:cNvPr id="22531" name="Rectangle 3"/>
          <p:cNvSpPr>
            <a:spLocks noGrp="1" noChangeArrowheads="1"/>
          </p:cNvSpPr>
          <p:nvPr>
            <p:ph type="body" idx="4294967295"/>
          </p:nvPr>
        </p:nvSpPr>
        <p:spPr/>
        <p:txBody>
          <a:bodyPr/>
          <a:lstStyle/>
          <a:p>
            <a:pPr>
              <a:tabLst>
                <a:tab pos="1143000" algn="l"/>
              </a:tabLst>
            </a:pPr>
            <a:r>
              <a:rPr lang="en-US" altLang="tr-TR" dirty="0"/>
              <a:t>A macro is NOT a function.</a:t>
            </a:r>
          </a:p>
          <a:p>
            <a:pPr lvl="1">
              <a:tabLst>
                <a:tab pos="1143000" algn="l"/>
              </a:tabLst>
            </a:pPr>
            <a:r>
              <a:rPr lang="en-US" altLang="tr-TR" dirty="0"/>
              <a:t>A macro is implemented as a substitution.</a:t>
            </a:r>
          </a:p>
          <a:p>
            <a:pPr lvl="2">
              <a:buNone/>
              <a:tabLst>
                <a:tab pos="1143000" algn="l"/>
              </a:tabLst>
            </a:pPr>
            <a:r>
              <a:rPr lang="en-US" altLang="tr-TR" dirty="0">
                <a:sym typeface="Wingdings" panose="05000000000000000000" pitchFamily="2" charset="2"/>
              </a:rPr>
              <a:t>	</a:t>
            </a:r>
            <a:r>
              <a:rPr lang="en-US" altLang="tr-TR" dirty="0"/>
              <a:t>The code segment that implements the macro substitutes the macro call.</a:t>
            </a:r>
          </a:p>
          <a:p>
            <a:pPr lvl="2">
              <a:buNone/>
              <a:tabLst>
                <a:tab pos="1143000" algn="l"/>
              </a:tabLst>
            </a:pPr>
            <a:r>
              <a:rPr lang="en-US" altLang="tr-TR" dirty="0"/>
              <a:t>+	Code executes faster.</a:t>
            </a:r>
          </a:p>
          <a:p>
            <a:pPr lvl="2">
              <a:buNone/>
              <a:tabLst>
                <a:tab pos="1143000" algn="l"/>
              </a:tabLst>
            </a:pPr>
            <a:r>
              <a:rPr lang="en-US" altLang="tr-TR" dirty="0"/>
              <a:t>-	Code becomes larger.</a:t>
            </a:r>
          </a:p>
          <a:p>
            <a:pPr lvl="2">
              <a:buNone/>
              <a:tabLst>
                <a:tab pos="1143000" algn="l"/>
              </a:tabLst>
            </a:pPr>
            <a:r>
              <a:rPr lang="en-US" altLang="tr-TR" dirty="0"/>
              <a:t>+	It is possible to do things that you cannot do with functions.</a:t>
            </a:r>
          </a:p>
          <a:p>
            <a:pPr lvl="2">
              <a:buNone/>
              <a:tabLst>
                <a:tab pos="1143000" algn="l"/>
              </a:tabLst>
            </a:pPr>
            <a:r>
              <a:rPr lang="en-US" altLang="en-US" dirty="0">
                <a:ea typeface="ＭＳ Ｐゴシック" panose="020B0600070205080204" pitchFamily="34" charset="-128"/>
              </a:rPr>
              <a:t>-	Limited syntax check (Remember the </a:t>
            </a:r>
            <a:r>
              <a:rPr lang="en-US" altLang="en-US" sz="2400" b="1" dirty="0">
                <a:solidFill>
                  <a:srgbClr val="0000C8"/>
                </a:solidFill>
                <a:latin typeface="Courier New" panose="02070309020205020404" pitchFamily="49" charset="0"/>
                <a:ea typeface="ＭＳ Ｐゴシック" panose="020B0600070205080204" pitchFamily="34" charset="-128"/>
              </a:rPr>
              <a:t>"square(a+1)"</a:t>
            </a:r>
            <a:r>
              <a:rPr lang="en-US" altLang="en-US" dirty="0">
                <a:ea typeface="ＭＳ Ｐゴシック" panose="020B0600070205080204" pitchFamily="34" charset="-128"/>
              </a:rPr>
              <a:t> example).</a:t>
            </a:r>
            <a:endParaRPr lang="en-US" altLang="tr-TR" dirty="0"/>
          </a:p>
          <a:p>
            <a:pPr lvl="2">
              <a:buNone/>
              <a:tabLst>
                <a:tab pos="1143000" algn="l"/>
              </a:tabLst>
            </a:pPr>
            <a:endParaRPr lang="en-US" altLang="tr-TR" dirty="0"/>
          </a:p>
          <a:p>
            <a:pPr lvl="1">
              <a:tabLst>
                <a:tab pos="1143000" algn="l"/>
              </a:tabLst>
            </a:pPr>
            <a:r>
              <a:rPr lang="en-US" altLang="en-US" dirty="0">
                <a:ea typeface="ＭＳ Ｐゴシック" panose="020B0600070205080204" pitchFamily="34" charset="-128"/>
              </a:rPr>
              <a:t>A function is implemented by performing a jump to a code segment.</a:t>
            </a:r>
          </a:p>
          <a:p>
            <a:pPr lvl="2">
              <a:buFontTx/>
              <a:buNone/>
              <a:tabLst>
                <a:tab pos="1143000" algn="l"/>
              </a:tabLst>
            </a:pPr>
            <a:r>
              <a:rPr lang="en-US" altLang="en-US" dirty="0">
                <a:ea typeface="ＭＳ Ｐゴシック" panose="020B0600070205080204" pitchFamily="34" charset="-128"/>
                <a:sym typeface="Wingdings" panose="05000000000000000000" pitchFamily="2" charset="2"/>
              </a:rPr>
              <a:t>	Stack operations are performed for function call.</a:t>
            </a:r>
            <a:endParaRPr lang="en-US" altLang="en-US" dirty="0">
              <a:ea typeface="ＭＳ Ｐゴシック" panose="020B0600070205080204" pitchFamily="34" charset="-128"/>
            </a:endParaRPr>
          </a:p>
          <a:p>
            <a:pPr lvl="2">
              <a:buFontTx/>
              <a:buNone/>
              <a:tabLst>
                <a:tab pos="1143000" algn="l"/>
              </a:tabLst>
            </a:pPr>
            <a:r>
              <a:rPr lang="en-US" altLang="en-US" dirty="0">
                <a:ea typeface="ＭＳ Ｐゴシック" panose="020B0600070205080204" pitchFamily="34" charset="-128"/>
              </a:rPr>
              <a:t>-	Code executes slower.</a:t>
            </a:r>
          </a:p>
          <a:p>
            <a:pPr lvl="2">
              <a:buFontTx/>
              <a:buNone/>
              <a:tabLst>
                <a:tab pos="1143000" algn="l"/>
              </a:tabLst>
            </a:pPr>
            <a:r>
              <a:rPr lang="en-US" altLang="en-US" dirty="0">
                <a:ea typeface="ＭＳ Ｐゴシック" panose="020B0600070205080204" pitchFamily="34" charset="-128"/>
              </a:rPr>
              <a:t>+	Code is smaller.</a:t>
            </a:r>
          </a:p>
          <a:p>
            <a:pPr lvl="2">
              <a:buFontTx/>
              <a:buNone/>
              <a:tabLst>
                <a:tab pos="1143000" algn="l"/>
              </a:tabLst>
            </a:pPr>
            <a:r>
              <a:rPr lang="en-US" altLang="en-US" dirty="0">
                <a:ea typeface="ＭＳ Ｐゴシック" panose="020B0600070205080204" pitchFamily="34" charset="-128"/>
              </a:rPr>
              <a:t>+	More structured programming.</a:t>
            </a:r>
          </a:p>
          <a:p>
            <a:pPr lvl="2">
              <a:buFontTx/>
              <a:buNone/>
              <a:tabLst>
                <a:tab pos="1143000" algn="l"/>
              </a:tabLst>
            </a:pPr>
            <a:r>
              <a:rPr lang="en-US" altLang="en-US" dirty="0">
                <a:ea typeface="ＭＳ Ｐゴシック" panose="020B0600070205080204" pitchFamily="34" charset="-128"/>
              </a:rPr>
              <a:t>+	Better syntax check.</a:t>
            </a:r>
          </a:p>
          <a:p>
            <a:pPr lvl="2">
              <a:buNone/>
              <a:tabLst>
                <a:tab pos="1143000" algn="l"/>
              </a:tabLst>
            </a:pPr>
            <a:endParaRPr lang="en-US" altLang="tr-TR" dirty="0"/>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30</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31190135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1">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531">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1">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531">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3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p:txBody>
          <a:bodyPr/>
          <a:lstStyle/>
          <a:p>
            <a:r>
              <a:rPr lang="en-US" altLang="tr-TR"/>
              <a:t>Example: Macro substitution</a:t>
            </a:r>
          </a:p>
        </p:txBody>
      </p:sp>
      <p:sp>
        <p:nvSpPr>
          <p:cNvPr id="23555" name="Rectangle 3"/>
          <p:cNvSpPr>
            <a:spLocks noGrp="1" noChangeArrowheads="1"/>
          </p:cNvSpPr>
          <p:nvPr>
            <p:ph type="body" idx="4294967295"/>
          </p:nvPr>
        </p:nvSpPr>
        <p:spPr>
          <a:xfrm>
            <a:off x="304800" y="898527"/>
            <a:ext cx="11480800" cy="1908842"/>
          </a:xfrm>
        </p:spPr>
        <p:txBody>
          <a:bodyPr/>
          <a:lstStyle/>
          <a:p>
            <a:r>
              <a:rPr lang="en-US" altLang="tr-TR" dirty="0"/>
              <a:t>Define a macro for finding the maximum of two values.</a:t>
            </a:r>
          </a:p>
          <a:p>
            <a:pPr marL="0" indent="0">
              <a:buNone/>
            </a:pPr>
            <a:r>
              <a:rPr lang="en-US" altLang="tr-TR" b="1" dirty="0">
                <a:solidFill>
                  <a:srgbClr val="0000C8"/>
                </a:solidFill>
                <a:latin typeface="Courier New" panose="02070309020205020404" pitchFamily="49" charset="0"/>
              </a:rPr>
              <a:t>  #define max(A,B) (((A)&gt;(B))?(A):(B))</a:t>
            </a:r>
          </a:p>
          <a:p>
            <a:pPr marL="0" indent="0">
              <a:buNone/>
            </a:pPr>
            <a:endParaRPr lang="en-US" altLang="tr-TR" dirty="0"/>
          </a:p>
          <a:p>
            <a:r>
              <a:rPr lang="en-US" altLang="tr-TR" dirty="0"/>
              <a:t>Find the maximum of three numbers. Four numbers?</a:t>
            </a:r>
          </a:p>
          <a:p>
            <a:endParaRPr lang="en-US" altLang="tr-TR" dirty="0"/>
          </a:p>
          <a:p>
            <a:pPr lvl="1">
              <a:buFontTx/>
              <a:buNone/>
            </a:pPr>
            <a:endParaRPr lang="en-US" altLang="tr-TR" b="1" dirty="0">
              <a:solidFill>
                <a:srgbClr val="0000C8"/>
              </a:solidFill>
              <a:latin typeface="Courier New" panose="02070309020205020404" pitchFamily="49" charset="0"/>
            </a:endParaRPr>
          </a:p>
          <a:p>
            <a:pPr lvl="1">
              <a:buFontTx/>
              <a:buNone/>
            </a:pPr>
            <a:endParaRPr lang="en-US" altLang="tr-TR" b="1" dirty="0">
              <a:solidFill>
                <a:srgbClr val="0000C8"/>
              </a:solidFill>
              <a:latin typeface="Courier New" panose="02070309020205020404" pitchFamily="49" charset="0"/>
            </a:endParaRPr>
          </a:p>
          <a:p>
            <a:pPr lvl="1">
              <a:buFontTx/>
              <a:buNone/>
            </a:pPr>
            <a:endParaRPr lang="en-US" altLang="tr-TR" b="1" dirty="0">
              <a:solidFill>
                <a:srgbClr val="0000C8"/>
              </a:solidFill>
              <a:latin typeface="Courier New" panose="02070309020205020404" pitchFamily="49" charset="0"/>
            </a:endParaRP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31</a:t>
            </a:fld>
            <a:endParaRPr lang="en-US" altLang="tr-TR">
              <a:ea typeface="ＭＳ Ｐゴシック" panose="020B0600070205080204" pitchFamily="34" charset="-128"/>
            </a:endParaRPr>
          </a:p>
        </p:txBody>
      </p:sp>
      <p:sp>
        <p:nvSpPr>
          <p:cNvPr id="6" name="TextBox 4">
            <a:extLst>
              <a:ext uri="{FF2B5EF4-FFF2-40B4-BE49-F238E27FC236}">
                <a16:creationId xmlns:a16="http://schemas.microsoft.com/office/drawing/2014/main" id="{7B6CF3EE-D729-465F-A345-D54501D17B15}"/>
              </a:ext>
            </a:extLst>
          </p:cNvPr>
          <p:cNvSpPr txBox="1"/>
          <p:nvPr/>
        </p:nvSpPr>
        <p:spPr>
          <a:xfrm>
            <a:off x="888274" y="3082834"/>
            <a:ext cx="4733988" cy="3139321"/>
          </a:xfrm>
          <a:prstGeom prst="rect">
            <a:avLst/>
          </a:prstGeom>
          <a:noFill/>
        </p:spPr>
        <p:txBody>
          <a:bodyPr wrap="none" rtlCol="0">
            <a:spAutoFit/>
          </a:bodyPr>
          <a:lstStyle/>
          <a:p>
            <a:r>
              <a:rPr lang="tr-TR" b="1" dirty="0">
                <a:latin typeface="Courier New" panose="02070309020205020404" pitchFamily="49" charset="0"/>
                <a:cs typeface="Courier New" panose="02070309020205020404" pitchFamily="49" charset="0"/>
              </a:rPr>
              <a:t>result=maximum(a, b, c);</a:t>
            </a:r>
          </a:p>
          <a:p>
            <a:endParaRPr lang="tr-TR" b="1" dirty="0">
              <a:latin typeface="Courier New" panose="02070309020205020404" pitchFamily="49" charset="0"/>
              <a:cs typeface="Courier New" panose="02070309020205020404" pitchFamily="49" charset="0"/>
            </a:endParaRPr>
          </a:p>
          <a:p>
            <a:r>
              <a:rPr lang="tr-TR" b="1" dirty="0">
                <a:latin typeface="Courier New" panose="02070309020205020404" pitchFamily="49" charset="0"/>
                <a:cs typeface="Courier New" panose="02070309020205020404" pitchFamily="49" charset="0"/>
              </a:rPr>
              <a:t>int maximum(int x, int y, int z){</a:t>
            </a:r>
          </a:p>
          <a:p>
            <a:r>
              <a:rPr lang="tr-TR" b="1" dirty="0">
                <a:latin typeface="Courier New" panose="02070309020205020404" pitchFamily="49" charset="0"/>
                <a:cs typeface="Courier New" panose="02070309020205020404" pitchFamily="49" charset="0"/>
              </a:rPr>
              <a:t>    int max_num=x;</a:t>
            </a:r>
          </a:p>
          <a:p>
            <a:r>
              <a:rPr lang="tr-TR" b="1" dirty="0">
                <a:latin typeface="Courier New" panose="02070309020205020404" pitchFamily="49" charset="0"/>
                <a:cs typeface="Courier New" panose="02070309020205020404" pitchFamily="49" charset="0"/>
              </a:rPr>
              <a:t>    if(max_num &lt; y)</a:t>
            </a:r>
          </a:p>
          <a:p>
            <a:r>
              <a:rPr lang="tr-TR" b="1" dirty="0">
                <a:latin typeface="Courier New" panose="02070309020205020404" pitchFamily="49" charset="0"/>
                <a:cs typeface="Courier New" panose="02070309020205020404" pitchFamily="49" charset="0"/>
              </a:rPr>
              <a:t>        max_num=y;</a:t>
            </a:r>
          </a:p>
          <a:p>
            <a:r>
              <a:rPr lang="tr-TR" b="1" dirty="0">
                <a:latin typeface="Courier New" panose="02070309020205020404" pitchFamily="49" charset="0"/>
                <a:cs typeface="Courier New" panose="02070309020205020404" pitchFamily="49" charset="0"/>
              </a:rPr>
              <a:t>    if(max_num &lt; z)</a:t>
            </a:r>
          </a:p>
          <a:p>
            <a:r>
              <a:rPr lang="tr-TR" b="1" dirty="0">
                <a:latin typeface="Courier New" panose="02070309020205020404" pitchFamily="49" charset="0"/>
                <a:cs typeface="Courier New" panose="02070309020205020404" pitchFamily="49" charset="0"/>
              </a:rPr>
              <a:t>        max_num=z;</a:t>
            </a:r>
          </a:p>
          <a:p>
            <a:r>
              <a:rPr lang="tr-TR" b="1" dirty="0">
                <a:latin typeface="Courier New" panose="02070309020205020404" pitchFamily="49" charset="0"/>
                <a:cs typeface="Courier New" panose="02070309020205020404" pitchFamily="49" charset="0"/>
              </a:rPr>
              <a:t>    return max_num;</a:t>
            </a:r>
          </a:p>
          <a:p>
            <a:endParaRPr lang="tr-TR" b="1" dirty="0">
              <a:latin typeface="Courier New" panose="02070309020205020404" pitchFamily="49" charset="0"/>
              <a:cs typeface="Courier New" panose="02070309020205020404" pitchFamily="49" charset="0"/>
            </a:endParaRPr>
          </a:p>
          <a:p>
            <a:r>
              <a:rPr lang="tr-TR" b="1" dirty="0">
                <a:latin typeface="Courier New" panose="02070309020205020404" pitchFamily="49" charset="0"/>
                <a:cs typeface="Courier New" panose="02070309020205020404" pitchFamily="49" charset="0"/>
              </a:rPr>
              <a:t>}</a:t>
            </a:r>
          </a:p>
        </p:txBody>
      </p:sp>
      <p:sp>
        <p:nvSpPr>
          <p:cNvPr id="7" name="TextBox 5">
            <a:extLst>
              <a:ext uri="{FF2B5EF4-FFF2-40B4-BE49-F238E27FC236}">
                <a16:creationId xmlns:a16="http://schemas.microsoft.com/office/drawing/2014/main" id="{250D6A94-FBEC-40F9-B461-9FC8DB5C18EF}"/>
              </a:ext>
            </a:extLst>
          </p:cNvPr>
          <p:cNvSpPr txBox="1"/>
          <p:nvPr/>
        </p:nvSpPr>
        <p:spPr>
          <a:xfrm>
            <a:off x="7213676" y="3230330"/>
            <a:ext cx="2803973" cy="646331"/>
          </a:xfrm>
          <a:prstGeom prst="rect">
            <a:avLst/>
          </a:prstGeom>
          <a:noFill/>
        </p:spPr>
        <p:txBody>
          <a:bodyPr wrap="none" rtlCol="0">
            <a:spAutoFit/>
          </a:bodyPr>
          <a:lstStyle/>
          <a:p>
            <a:r>
              <a:rPr lang="tr-TR" b="1" dirty="0">
                <a:latin typeface="Courier New" panose="02070309020205020404" pitchFamily="49" charset="0"/>
                <a:cs typeface="Courier New" panose="02070309020205020404" pitchFamily="49" charset="0"/>
              </a:rPr>
              <a:t>temp=max(a,b);</a:t>
            </a:r>
          </a:p>
          <a:p>
            <a:r>
              <a:rPr lang="tr-TR" b="1" dirty="0">
                <a:latin typeface="Courier New" panose="02070309020205020404" pitchFamily="49" charset="0"/>
                <a:cs typeface="Courier New" panose="02070309020205020404" pitchFamily="49" charset="0"/>
              </a:rPr>
              <a:t>result=max(temp,c);</a:t>
            </a:r>
          </a:p>
        </p:txBody>
      </p:sp>
      <p:sp>
        <p:nvSpPr>
          <p:cNvPr id="8" name="TextBox 6">
            <a:extLst>
              <a:ext uri="{FF2B5EF4-FFF2-40B4-BE49-F238E27FC236}">
                <a16:creationId xmlns:a16="http://schemas.microsoft.com/office/drawing/2014/main" id="{A9FDA809-7B10-4B34-B140-ED64D30913FC}"/>
              </a:ext>
            </a:extLst>
          </p:cNvPr>
          <p:cNvSpPr txBox="1"/>
          <p:nvPr/>
        </p:nvSpPr>
        <p:spPr>
          <a:xfrm>
            <a:off x="7213676" y="4299622"/>
            <a:ext cx="3493264" cy="923330"/>
          </a:xfrm>
          <a:prstGeom prst="rect">
            <a:avLst/>
          </a:prstGeom>
          <a:noFill/>
        </p:spPr>
        <p:txBody>
          <a:bodyPr wrap="none" rtlCol="0">
            <a:spAutoFit/>
          </a:bodyPr>
          <a:lstStyle/>
          <a:p>
            <a:r>
              <a:rPr lang="tr-TR" b="1" dirty="0">
                <a:latin typeface="Courier New" panose="02070309020205020404" pitchFamily="49" charset="0"/>
                <a:cs typeface="Courier New" panose="02070309020205020404" pitchFamily="49" charset="0"/>
              </a:rPr>
              <a:t>temp1=max(a,b);</a:t>
            </a:r>
          </a:p>
          <a:p>
            <a:r>
              <a:rPr lang="tr-TR" b="1" dirty="0">
                <a:latin typeface="Courier New" panose="02070309020205020404" pitchFamily="49" charset="0"/>
                <a:cs typeface="Courier New" panose="02070309020205020404" pitchFamily="49" charset="0"/>
              </a:rPr>
              <a:t>temp2=max(c,d);</a:t>
            </a:r>
          </a:p>
          <a:p>
            <a:r>
              <a:rPr lang="tr-TR" b="1" dirty="0">
                <a:latin typeface="Courier New" panose="02070309020205020404" pitchFamily="49" charset="0"/>
                <a:cs typeface="Courier New" panose="02070309020205020404" pitchFamily="49" charset="0"/>
              </a:rPr>
              <a:t>result=max(temp1,temp2);</a:t>
            </a:r>
          </a:p>
        </p:txBody>
      </p:sp>
    </p:spTree>
    <p:extLst>
      <p:ext uri="{BB962C8B-B14F-4D97-AF65-F5344CB8AC3E}">
        <p14:creationId xmlns:p14="http://schemas.microsoft.com/office/powerpoint/2010/main" val="42629262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 presetClass="entr" presetSubtype="0" fill="hold" grpId="1" nodeType="with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p:txBody>
          <a:bodyPr/>
          <a:lstStyle/>
          <a:p>
            <a:r>
              <a:rPr lang="en-US" altLang="tr-TR"/>
              <a:t>Example: Macro substitution</a:t>
            </a:r>
          </a:p>
        </p:txBody>
      </p:sp>
      <p:sp>
        <p:nvSpPr>
          <p:cNvPr id="24579" name="Rectangle 3"/>
          <p:cNvSpPr>
            <a:spLocks noGrp="1" noChangeArrowheads="1"/>
          </p:cNvSpPr>
          <p:nvPr>
            <p:ph type="body" idx="4294967295"/>
          </p:nvPr>
        </p:nvSpPr>
        <p:spPr/>
        <p:txBody>
          <a:bodyPr/>
          <a:lstStyle/>
          <a:p>
            <a:r>
              <a:rPr lang="en-US" altLang="tr-TR" dirty="0"/>
              <a:t>Define a macro for finding the absolute value.</a:t>
            </a:r>
          </a:p>
          <a:p>
            <a:pPr lvl="1">
              <a:buFontTx/>
              <a:buNone/>
            </a:pPr>
            <a:endParaRPr lang="tr-TR" altLang="tr-TR" b="1" dirty="0" smtClean="0">
              <a:solidFill>
                <a:srgbClr val="0000C8"/>
              </a:solidFill>
              <a:latin typeface="Courier New" panose="02070309020205020404" pitchFamily="49" charset="0"/>
            </a:endParaRPr>
          </a:p>
          <a:p>
            <a:pPr lvl="1">
              <a:buFontTx/>
              <a:buNone/>
            </a:pPr>
            <a:r>
              <a:rPr lang="en-US" altLang="tr-TR" b="1" dirty="0" smtClean="0">
                <a:solidFill>
                  <a:srgbClr val="0000C8"/>
                </a:solidFill>
                <a:latin typeface="Courier New" panose="02070309020205020404" pitchFamily="49" charset="0"/>
              </a:rPr>
              <a:t>#</a:t>
            </a:r>
            <a:r>
              <a:rPr lang="en-US" altLang="tr-TR" b="1" dirty="0">
                <a:solidFill>
                  <a:srgbClr val="0000C8"/>
                </a:solidFill>
                <a:latin typeface="Courier New" panose="02070309020205020404" pitchFamily="49" charset="0"/>
              </a:rPr>
              <a:t>define abs(A) ((A)&gt;0)?(A):-</a:t>
            </a:r>
            <a:r>
              <a:rPr lang="en-US" altLang="tr-TR" b="1" dirty="0">
                <a:solidFill>
                  <a:srgbClr val="0000C8"/>
                </a:solidFill>
                <a:latin typeface="Courier New" panose="02070309020205020404" pitchFamily="49" charset="0"/>
                <a:sym typeface="Wingdings" panose="05000000000000000000" pitchFamily="2" charset="2"/>
              </a:rPr>
              <a:t>(A)</a:t>
            </a:r>
            <a:r>
              <a:rPr lang="en-US" altLang="tr-TR" b="1" dirty="0">
                <a:solidFill>
                  <a:srgbClr val="0000C8"/>
                </a:solidFill>
                <a:latin typeface="Courier New" panose="02070309020205020404" pitchFamily="49" charset="0"/>
              </a:rPr>
              <a:t>)</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32</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998306077"/>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Grp="1" noChangeArrowheads="1"/>
          </p:cNvSpPr>
          <p:nvPr>
            <p:ph type="ctrTitle" idx="4294967295"/>
          </p:nvPr>
        </p:nvSpPr>
        <p:spPr>
          <a:xfrm>
            <a:off x="2209800" y="2130426"/>
            <a:ext cx="7772400" cy="1470025"/>
          </a:xfrm>
        </p:spPr>
        <p:txBody>
          <a:bodyPr/>
          <a:lstStyle/>
          <a:p>
            <a:r>
              <a:rPr lang="en-US" altLang="tr-TR"/>
              <a:t>Variable Parameters</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33</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262999477"/>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p:txBody>
          <a:bodyPr/>
          <a:lstStyle/>
          <a:p>
            <a:r>
              <a:rPr lang="en-US" altLang="tr-TR" dirty="0"/>
              <a:t>Value parameters – Call by value</a:t>
            </a:r>
          </a:p>
        </p:txBody>
      </p:sp>
      <p:sp>
        <p:nvSpPr>
          <p:cNvPr id="26627" name="Rectangle 3"/>
          <p:cNvSpPr>
            <a:spLocks noGrp="1" noChangeArrowheads="1"/>
          </p:cNvSpPr>
          <p:nvPr>
            <p:ph type="body" idx="4294967295"/>
          </p:nvPr>
        </p:nvSpPr>
        <p:spPr/>
        <p:txBody>
          <a:bodyPr/>
          <a:lstStyle/>
          <a:p>
            <a:r>
              <a:rPr lang="en-US" altLang="tr-TR" dirty="0"/>
              <a:t>We used "value parameters" up to now.</a:t>
            </a:r>
          </a:p>
          <a:p>
            <a:endParaRPr lang="tr-TR" altLang="tr-TR" dirty="0" smtClean="0"/>
          </a:p>
          <a:p>
            <a:endParaRPr lang="en-US" altLang="tr-TR" dirty="0"/>
          </a:p>
          <a:p>
            <a:r>
              <a:rPr lang="en-US" altLang="tr-TR" dirty="0"/>
              <a:t>We did not pass the variable in the argument; we passed the </a:t>
            </a:r>
            <a:r>
              <a:rPr lang="en-US" altLang="tr-TR" b="1" u="sng" dirty="0"/>
              <a:t>value</a:t>
            </a:r>
            <a:r>
              <a:rPr lang="en-US" altLang="tr-TR" dirty="0"/>
              <a:t> of the expression in the argument.</a:t>
            </a:r>
          </a:p>
          <a:p>
            <a:pPr lvl="4"/>
            <a:endParaRPr lang="tr-TR" altLang="tr-TR" dirty="0" smtClean="0"/>
          </a:p>
          <a:p>
            <a:pPr lvl="1"/>
            <a:r>
              <a:rPr lang="en-US" altLang="tr-TR" dirty="0" smtClean="0"/>
              <a:t>That </a:t>
            </a:r>
            <a:r>
              <a:rPr lang="en-US" altLang="tr-TR" dirty="0"/>
              <a:t>is why the changes made on the parameter were not reflected to the variable in the function call.</a:t>
            </a:r>
          </a:p>
          <a:p>
            <a:pPr lvl="1"/>
            <a:endParaRPr lang="en-US" altLang="tr-TR" dirty="0"/>
          </a:p>
          <a:p>
            <a:pPr marL="344487" lvl="1" indent="0">
              <a:buNone/>
            </a:pPr>
            <a:endParaRPr lang="en-US" altLang="tr-TR" dirty="0"/>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34</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3806530995"/>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p:txBody>
          <a:bodyPr/>
          <a:lstStyle/>
          <a:p>
            <a:r>
              <a:rPr lang="en-US" altLang="tr-TR"/>
              <a:t>Variable parameters</a:t>
            </a:r>
          </a:p>
        </p:txBody>
      </p:sp>
      <p:sp>
        <p:nvSpPr>
          <p:cNvPr id="27651" name="Rectangle 3"/>
          <p:cNvSpPr>
            <a:spLocks noGrp="1" noChangeArrowheads="1"/>
          </p:cNvSpPr>
          <p:nvPr>
            <p:ph type="body" idx="4294967295"/>
          </p:nvPr>
        </p:nvSpPr>
        <p:spPr/>
        <p:txBody>
          <a:bodyPr/>
          <a:lstStyle/>
          <a:p>
            <a:r>
              <a:rPr lang="en-US" altLang="tr-TR" sz="2800" dirty="0"/>
              <a:t>Sometimes, the caller may want to see the changes made on the parameters by the </a:t>
            </a:r>
            <a:r>
              <a:rPr lang="en-US" altLang="tr-TR" sz="2800" dirty="0" err="1"/>
              <a:t>callee</a:t>
            </a:r>
            <a:r>
              <a:rPr lang="en-US" altLang="tr-TR" sz="2800" dirty="0"/>
              <a:t>.</a:t>
            </a:r>
          </a:p>
          <a:p>
            <a:pPr lvl="4"/>
            <a:endParaRPr lang="tr-TR" altLang="tr-TR" sz="1800" dirty="0" smtClean="0"/>
          </a:p>
          <a:p>
            <a:pPr lvl="1"/>
            <a:r>
              <a:rPr lang="en-US" altLang="tr-TR" sz="2400" dirty="0" smtClean="0"/>
              <a:t>E.g.:</a:t>
            </a:r>
            <a:r>
              <a:rPr lang="en-US" altLang="tr-TR" sz="1800" b="1" dirty="0" err="1" smtClean="0">
                <a:solidFill>
                  <a:srgbClr val="0000C8"/>
                </a:solidFill>
                <a:latin typeface="Courier New" panose="02070309020205020404" pitchFamily="49" charset="0"/>
              </a:rPr>
              <a:t>int</a:t>
            </a:r>
            <a:r>
              <a:rPr lang="en-US" altLang="tr-TR" sz="1800" b="1" dirty="0" smtClean="0">
                <a:solidFill>
                  <a:srgbClr val="0000C8"/>
                </a:solidFill>
                <a:latin typeface="Courier New" panose="02070309020205020404" pitchFamily="49" charset="0"/>
              </a:rPr>
              <a:t> </a:t>
            </a:r>
            <a:r>
              <a:rPr lang="en-US" altLang="tr-TR" sz="1800" b="1" dirty="0">
                <a:solidFill>
                  <a:srgbClr val="0000C8"/>
                </a:solidFill>
                <a:latin typeface="Courier New" panose="02070309020205020404" pitchFamily="49" charset="0"/>
              </a:rPr>
              <a:t>main()</a:t>
            </a:r>
            <a:endParaRPr lang="en-US" altLang="tr-TR" sz="1800" b="1" dirty="0">
              <a:latin typeface="Courier New" panose="02070309020205020404" pitchFamily="49" charset="0"/>
            </a:endParaRPr>
          </a:p>
          <a:p>
            <a:pPr lvl="4">
              <a:spcBef>
                <a:spcPct val="0"/>
              </a:spcBef>
              <a:buFontTx/>
              <a:buNone/>
            </a:pPr>
            <a:r>
              <a:rPr lang="en-US" altLang="tr-TR" sz="1800" b="1" dirty="0">
                <a:solidFill>
                  <a:srgbClr val="0000C8"/>
                </a:solidFill>
                <a:latin typeface="Courier New" panose="02070309020205020404" pitchFamily="49" charset="0"/>
              </a:rPr>
              <a:t>{  </a:t>
            </a:r>
            <a:r>
              <a:rPr lang="en-US" altLang="tr-TR" sz="1800" b="1" dirty="0" err="1">
                <a:solidFill>
                  <a:srgbClr val="0000C8"/>
                </a:solidFill>
                <a:latin typeface="Courier New" panose="02070309020205020404" pitchFamily="49" charset="0"/>
              </a:rPr>
              <a:t>int</a:t>
            </a:r>
            <a:r>
              <a:rPr lang="en-US" altLang="tr-TR" sz="1800" b="1" dirty="0">
                <a:solidFill>
                  <a:srgbClr val="0000C8"/>
                </a:solidFill>
                <a:latin typeface="Courier New" panose="02070309020205020404" pitchFamily="49" charset="0"/>
              </a:rPr>
              <a:t> </a:t>
            </a:r>
            <a:r>
              <a:rPr lang="en-US" altLang="tr-TR" sz="1800" b="1" dirty="0" err="1">
                <a:solidFill>
                  <a:srgbClr val="0000C8"/>
                </a:solidFill>
                <a:latin typeface="Courier New" panose="02070309020205020404" pitchFamily="49" charset="0"/>
              </a:rPr>
              <a:t>num</a:t>
            </a:r>
            <a:r>
              <a:rPr lang="en-US" altLang="tr-TR" sz="1800" b="1" dirty="0">
                <a:solidFill>
                  <a:srgbClr val="0000C8"/>
                </a:solidFill>
                <a:latin typeface="Courier New" panose="02070309020205020404" pitchFamily="49" charset="0"/>
              </a:rPr>
              <a:t>;</a:t>
            </a:r>
          </a:p>
          <a:p>
            <a:pPr lvl="4">
              <a:spcBef>
                <a:spcPct val="0"/>
              </a:spcBef>
              <a:buFontTx/>
              <a:buNone/>
            </a:pPr>
            <a:r>
              <a:rPr lang="en-US" altLang="tr-TR" sz="1800" b="1" dirty="0">
                <a:solidFill>
                  <a:srgbClr val="0000C8"/>
                </a:solidFill>
                <a:latin typeface="Courier New" panose="02070309020205020404" pitchFamily="49" charset="0"/>
              </a:rPr>
              <a:t>   </a:t>
            </a:r>
            <a:r>
              <a:rPr lang="en-US" altLang="tr-TR" sz="1800" b="1" dirty="0" err="1">
                <a:solidFill>
                  <a:srgbClr val="0000C8"/>
                </a:solidFill>
                <a:latin typeface="Courier New" panose="02070309020205020404" pitchFamily="49" charset="0"/>
              </a:rPr>
              <a:t>scanf</a:t>
            </a:r>
            <a:r>
              <a:rPr lang="en-US" altLang="tr-TR" sz="1800" b="1" dirty="0">
                <a:solidFill>
                  <a:srgbClr val="0000C8"/>
                </a:solidFill>
                <a:latin typeface="Courier New" panose="02070309020205020404" pitchFamily="49" charset="0"/>
              </a:rPr>
              <a:t>("%d", &amp;</a:t>
            </a:r>
            <a:r>
              <a:rPr lang="en-US" altLang="tr-TR" sz="1800" b="1" dirty="0" err="1">
                <a:solidFill>
                  <a:srgbClr val="0000C8"/>
                </a:solidFill>
                <a:latin typeface="Courier New" panose="02070309020205020404" pitchFamily="49" charset="0"/>
              </a:rPr>
              <a:t>num</a:t>
            </a:r>
            <a:r>
              <a:rPr lang="en-US" altLang="tr-TR" sz="1800" b="1" dirty="0">
                <a:solidFill>
                  <a:srgbClr val="0000C8"/>
                </a:solidFill>
                <a:latin typeface="Courier New" panose="02070309020205020404" pitchFamily="49" charset="0"/>
              </a:rPr>
              <a:t>);</a:t>
            </a:r>
          </a:p>
          <a:p>
            <a:pPr lvl="4">
              <a:spcBef>
                <a:spcPct val="0"/>
              </a:spcBef>
              <a:buFontTx/>
              <a:buNone/>
            </a:pPr>
            <a:r>
              <a:rPr lang="en-US" altLang="tr-TR" sz="1800" b="1" dirty="0">
                <a:solidFill>
                  <a:srgbClr val="0000C8"/>
                </a:solidFill>
                <a:latin typeface="Courier New" panose="02070309020205020404" pitchFamily="49" charset="0"/>
              </a:rPr>
              <a:t>}</a:t>
            </a:r>
          </a:p>
          <a:p>
            <a:pPr lvl="4"/>
            <a:endParaRPr lang="tr-TR" altLang="tr-TR" sz="1800" dirty="0" smtClean="0"/>
          </a:p>
          <a:p>
            <a:pPr lvl="1"/>
            <a:r>
              <a:rPr lang="en-US" altLang="tr-TR" sz="2400" dirty="0" smtClean="0"/>
              <a:t>You </a:t>
            </a:r>
            <a:r>
              <a:rPr lang="en-US" altLang="tr-TR" sz="2400" dirty="0"/>
              <a:t>expect </a:t>
            </a:r>
            <a:r>
              <a:rPr lang="en-US" altLang="tr-TR" sz="2400" b="1" dirty="0" err="1">
                <a:solidFill>
                  <a:srgbClr val="0000C8"/>
                </a:solidFill>
                <a:latin typeface="Courier New" panose="02070309020205020404" pitchFamily="49" charset="0"/>
              </a:rPr>
              <a:t>scanf</a:t>
            </a:r>
            <a:r>
              <a:rPr lang="en-US" altLang="tr-TR" sz="2400" b="1" dirty="0">
                <a:solidFill>
                  <a:srgbClr val="0000C8"/>
                </a:solidFill>
                <a:latin typeface="Courier New" panose="02070309020205020404" pitchFamily="49" charset="0"/>
              </a:rPr>
              <a:t>()</a:t>
            </a:r>
            <a:r>
              <a:rPr lang="en-US" altLang="tr-TR" sz="2400" dirty="0"/>
              <a:t> to "put" the input in the variable </a:t>
            </a:r>
            <a:r>
              <a:rPr lang="en-US" altLang="tr-TR" sz="2400" b="1" dirty="0" err="1">
                <a:solidFill>
                  <a:srgbClr val="0000C8"/>
                </a:solidFill>
                <a:latin typeface="Courier New" panose="02070309020205020404" pitchFamily="49" charset="0"/>
              </a:rPr>
              <a:t>num</a:t>
            </a:r>
            <a:r>
              <a:rPr lang="en-US" altLang="tr-TR" sz="2400" dirty="0"/>
              <a:t>, but this is not possible with value parameters.</a:t>
            </a:r>
          </a:p>
          <a:p>
            <a:pPr lvl="1">
              <a:buFontTx/>
              <a:buNone/>
            </a:pPr>
            <a:r>
              <a:rPr lang="en-US" altLang="tr-TR" sz="2400" dirty="0"/>
              <a:t>(It is possible to return a single value using the return type; so it is not practical enough. Also, you should use the same variable both as an argument and for the return value.)</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35</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992764627"/>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Pointer </a:t>
            </a:r>
            <a:r>
              <a:rPr lang="tr-TR" altLang="tr-TR" dirty="0"/>
              <a:t>v</a:t>
            </a:r>
            <a:r>
              <a:rPr lang="en-US" altLang="tr-TR" dirty="0" err="1"/>
              <a:t>ariable</a:t>
            </a:r>
            <a:r>
              <a:rPr lang="en-US" altLang="tr-TR" dirty="0"/>
              <a:t> </a:t>
            </a:r>
            <a:r>
              <a:rPr lang="tr-TR" altLang="tr-TR" dirty="0"/>
              <a:t>d</a:t>
            </a:r>
            <a:r>
              <a:rPr lang="en-US" altLang="tr-TR" dirty="0" err="1"/>
              <a:t>efinitions</a:t>
            </a:r>
            <a:r>
              <a:rPr lang="en-US" altLang="tr-TR" dirty="0"/>
              <a:t> and </a:t>
            </a:r>
            <a:r>
              <a:rPr lang="tr-TR" altLang="tr-TR" dirty="0"/>
              <a:t>i</a:t>
            </a:r>
            <a:r>
              <a:rPr lang="en-US" altLang="tr-TR" dirty="0" err="1"/>
              <a:t>nitialization</a:t>
            </a:r>
            <a:endParaRPr lang="tr-TR"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36</a:t>
            </a:fld>
            <a:endParaRPr lang="en-US" altLang="tr-TR">
              <a:ea typeface="ＭＳ Ｐゴシック" panose="020B0600070205080204" pitchFamily="34" charset="-128"/>
            </a:endParaRPr>
          </a:p>
        </p:txBody>
      </p:sp>
      <p:sp>
        <p:nvSpPr>
          <p:cNvPr id="5" name="Rectangle 49"/>
          <p:cNvSpPr txBox="1">
            <a:spLocks noChangeArrowheads="1"/>
          </p:cNvSpPr>
          <p:nvPr/>
        </p:nvSpPr>
        <p:spPr bwMode="auto">
          <a:xfrm>
            <a:off x="304800" y="997528"/>
            <a:ext cx="11480800" cy="5193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400">
                <a:solidFill>
                  <a:schemeClr val="tx1"/>
                </a:solidFill>
                <a:latin typeface="+mn-lt"/>
                <a:ea typeface="ＭＳ Ｐゴシック" pitchFamily="-105" charset="-128"/>
                <a:cs typeface="ＭＳ Ｐゴシック" pitchFamily="-105" charset="-128"/>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200">
                <a:solidFill>
                  <a:schemeClr val="tx1"/>
                </a:solidFill>
                <a:latin typeface="+mn-lt"/>
                <a:ea typeface="ＭＳ Ｐゴシック" pitchFamily="-105" charset="-128"/>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ＭＳ Ｐゴシック" pitchFamily="-105" charset="-128"/>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ＭＳ Ｐゴシック" pitchFamily="-105" charset="-128"/>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ＭＳ Ｐゴシック" pitchFamily="-105"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altLang="tr-TR" kern="0" dirty="0"/>
              <a:t>Pointer variables</a:t>
            </a:r>
          </a:p>
          <a:p>
            <a:pPr lvl="1"/>
            <a:r>
              <a:rPr lang="en-US" altLang="tr-TR" kern="0" dirty="0"/>
              <a:t>Contain memory addresses as their values</a:t>
            </a:r>
          </a:p>
          <a:p>
            <a:pPr lvl="1"/>
            <a:r>
              <a:rPr lang="en-US" altLang="tr-TR" kern="0" dirty="0"/>
              <a:t>Normal variables contain a specific value (direct reference)</a:t>
            </a:r>
          </a:p>
          <a:p>
            <a:pPr lvl="1"/>
            <a:endParaRPr lang="en-US" altLang="tr-TR" kern="0" dirty="0"/>
          </a:p>
          <a:p>
            <a:pPr lvl="1">
              <a:buFontTx/>
              <a:buNone/>
            </a:pPr>
            <a:endParaRPr lang="en-US" altLang="tr-TR" kern="0" dirty="0"/>
          </a:p>
          <a:p>
            <a:pPr lvl="1"/>
            <a:endParaRPr lang="en-US" altLang="tr-TR" kern="0" dirty="0"/>
          </a:p>
          <a:p>
            <a:pPr lvl="1"/>
            <a:r>
              <a:rPr lang="en-US" altLang="tr-TR" kern="0" dirty="0"/>
              <a:t>Pointers contain address of a variable that has a specific value (indirect reference)</a:t>
            </a:r>
          </a:p>
          <a:p>
            <a:pPr lvl="1"/>
            <a:r>
              <a:rPr lang="en-US" altLang="tr-TR" kern="0" dirty="0"/>
              <a:t>Indirection </a:t>
            </a:r>
            <a:r>
              <a:rPr lang="en-US" altLang="tr-TR" kern="0" dirty="0">
                <a:cs typeface="Times New Roman" panose="02020603050405020304" pitchFamily="18" charset="0"/>
              </a:rPr>
              <a:t>–</a:t>
            </a:r>
            <a:r>
              <a:rPr lang="en-US" altLang="tr-TR" kern="0" dirty="0"/>
              <a:t> referencing a pointer value</a:t>
            </a:r>
          </a:p>
        </p:txBody>
      </p:sp>
      <p:grpSp>
        <p:nvGrpSpPr>
          <p:cNvPr id="6" name="Group 58"/>
          <p:cNvGrpSpPr>
            <a:grpSpLocks/>
          </p:cNvGrpSpPr>
          <p:nvPr/>
        </p:nvGrpSpPr>
        <p:grpSpPr bwMode="auto">
          <a:xfrm>
            <a:off x="5486401" y="2378076"/>
            <a:ext cx="847725" cy="746125"/>
            <a:chOff x="2496" y="1498"/>
            <a:chExt cx="534" cy="470"/>
          </a:xfrm>
        </p:grpSpPr>
        <p:sp>
          <p:nvSpPr>
            <p:cNvPr id="7" name="Rectangle 39"/>
            <p:cNvSpPr>
              <a:spLocks noChangeArrowheads="1"/>
            </p:cNvSpPr>
            <p:nvPr/>
          </p:nvSpPr>
          <p:spPr bwMode="auto">
            <a:xfrm>
              <a:off x="2496" y="1498"/>
              <a:ext cx="534" cy="86"/>
            </a:xfrm>
            <a:prstGeom prst="rect">
              <a:avLst/>
            </a:prstGeom>
            <a:noFill/>
            <a:ln>
              <a:noFill/>
            </a:ln>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eaLnBrk="1" hangingPunct="1">
                <a:spcBef>
                  <a:spcPct val="0"/>
                </a:spcBef>
              </a:pPr>
              <a:r>
                <a:rPr lang="en-US" altLang="tr-TR">
                  <a:latin typeface="Lucida Console" panose="020B0609040504020204" pitchFamily="49" charset="0"/>
                  <a:cs typeface="Courier New" panose="02070309020205020404" pitchFamily="49" charset="0"/>
                </a:rPr>
                <a:t>count</a:t>
              </a:r>
              <a:endParaRPr lang="en-US" altLang="tr-TR">
                <a:latin typeface="Lucida Console" panose="020B0609040504020204" pitchFamily="49" charset="0"/>
              </a:endParaRPr>
            </a:p>
            <a:p>
              <a:pPr>
                <a:spcBef>
                  <a:spcPct val="0"/>
                </a:spcBef>
              </a:pPr>
              <a:endParaRPr lang="en-US" altLang="tr-TR">
                <a:latin typeface="Courier New" panose="02070309020205020404" pitchFamily="49" charset="0"/>
              </a:endParaRPr>
            </a:p>
          </p:txBody>
        </p:sp>
        <p:grpSp>
          <p:nvGrpSpPr>
            <p:cNvPr id="8" name="Group 40"/>
            <p:cNvGrpSpPr>
              <a:grpSpLocks/>
            </p:cNvGrpSpPr>
            <p:nvPr/>
          </p:nvGrpSpPr>
          <p:grpSpPr bwMode="auto">
            <a:xfrm>
              <a:off x="2544" y="1672"/>
              <a:ext cx="353" cy="296"/>
              <a:chOff x="0" y="0"/>
              <a:chExt cx="20000" cy="20000"/>
            </a:xfrm>
          </p:grpSpPr>
          <p:sp>
            <p:nvSpPr>
              <p:cNvPr id="9" name="Freeform 41"/>
              <p:cNvSpPr>
                <a:spLocks/>
              </p:cNvSpPr>
              <p:nvPr/>
            </p:nvSpPr>
            <p:spPr bwMode="auto">
              <a:xfrm>
                <a:off x="0" y="0"/>
                <a:ext cx="20000" cy="20000"/>
              </a:xfrm>
              <a:custGeom>
                <a:avLst/>
                <a:gdLst>
                  <a:gd name="T0" fmla="*/ 19967 w 20000"/>
                  <a:gd name="T1" fmla="*/ 0 h 20000"/>
                  <a:gd name="T2" fmla="*/ 19967 w 20000"/>
                  <a:gd name="T3" fmla="*/ 19967 h 20000"/>
                  <a:gd name="T4" fmla="*/ 0 w 20000"/>
                  <a:gd name="T5" fmla="*/ 19967 h 20000"/>
                  <a:gd name="T6" fmla="*/ 0 w 20000"/>
                  <a:gd name="T7" fmla="*/ 0 h 20000"/>
                  <a:gd name="T8" fmla="*/ 19967 w 20000"/>
                  <a:gd name="T9" fmla="*/ 0 h 20000"/>
                </a:gdLst>
                <a:ahLst/>
                <a:cxnLst>
                  <a:cxn ang="0">
                    <a:pos x="T0" y="T1"/>
                  </a:cxn>
                  <a:cxn ang="0">
                    <a:pos x="T2" y="T3"/>
                  </a:cxn>
                  <a:cxn ang="0">
                    <a:pos x="T4" y="T5"/>
                  </a:cxn>
                  <a:cxn ang="0">
                    <a:pos x="T6" y="T7"/>
                  </a:cxn>
                  <a:cxn ang="0">
                    <a:pos x="T8" y="T9"/>
                  </a:cxn>
                </a:cxnLst>
                <a:rect l="0" t="0" r="r" b="b"/>
                <a:pathLst>
                  <a:path w="20000" h="20000">
                    <a:moveTo>
                      <a:pt x="19967" y="0"/>
                    </a:moveTo>
                    <a:lnTo>
                      <a:pt x="19967" y="19967"/>
                    </a:lnTo>
                    <a:lnTo>
                      <a:pt x="0" y="19967"/>
                    </a:lnTo>
                    <a:lnTo>
                      <a:pt x="0" y="0"/>
                    </a:lnTo>
                    <a:lnTo>
                      <a:pt x="19967" y="0"/>
                    </a:lnTo>
                    <a:close/>
                  </a:path>
                </a:pathLst>
              </a:custGeom>
              <a:solidFill>
                <a:schemeClr val="accent1"/>
              </a:solidFill>
              <a:ln w="3175">
                <a:solidFill>
                  <a:srgbClr val="000000"/>
                </a:solidFill>
                <a:round/>
                <a:headEnd/>
                <a:tailEnd/>
              </a:ln>
            </p:spPr>
            <p:txBody>
              <a:bodyPr/>
              <a:lstStyle/>
              <a:p>
                <a:endParaRPr lang="tr-TR"/>
              </a:p>
            </p:txBody>
          </p:sp>
          <p:sp>
            <p:nvSpPr>
              <p:cNvPr id="10" name="Rectangle 42"/>
              <p:cNvSpPr>
                <a:spLocks noChangeArrowheads="1"/>
              </p:cNvSpPr>
              <p:nvPr/>
            </p:nvSpPr>
            <p:spPr bwMode="auto">
              <a:xfrm>
                <a:off x="7501" y="6399"/>
                <a:ext cx="4966" cy="8701"/>
              </a:xfrm>
              <a:prstGeom prst="rect">
                <a:avLst/>
              </a:prstGeom>
              <a:solidFill>
                <a:schemeClr val="accent1"/>
              </a:solidFill>
              <a:ln>
                <a:noFill/>
              </a:ln>
              <a:extLs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eaLnBrk="1" hangingPunct="1">
                  <a:spcBef>
                    <a:spcPct val="0"/>
                  </a:spcBef>
                </a:pPr>
                <a:r>
                  <a:rPr lang="en-US" altLang="tr-TR" b="1">
                    <a:latin typeface="Courier New" panose="02070309020205020404" pitchFamily="49" charset="0"/>
                    <a:cs typeface="Courier New" panose="02070309020205020404" pitchFamily="49" charset="0"/>
                  </a:rPr>
                  <a:t>7</a:t>
                </a:r>
                <a:endParaRPr lang="en-US" altLang="tr-TR">
                  <a:latin typeface="Courier New" panose="02070309020205020404" pitchFamily="49" charset="0"/>
                </a:endParaRPr>
              </a:p>
              <a:p>
                <a:pPr>
                  <a:spcBef>
                    <a:spcPct val="0"/>
                  </a:spcBef>
                </a:pPr>
                <a:endParaRPr lang="en-US" altLang="tr-TR">
                  <a:latin typeface="Courier New" panose="02070309020205020404" pitchFamily="49" charset="0"/>
                </a:endParaRPr>
              </a:p>
            </p:txBody>
          </p:sp>
        </p:grpSp>
      </p:grpSp>
      <p:grpSp>
        <p:nvGrpSpPr>
          <p:cNvPr id="11" name="Group 57"/>
          <p:cNvGrpSpPr>
            <a:grpSpLocks/>
          </p:cNvGrpSpPr>
          <p:nvPr/>
        </p:nvGrpSpPr>
        <p:grpSpPr bwMode="auto">
          <a:xfrm>
            <a:off x="4305301" y="4644194"/>
            <a:ext cx="2362200" cy="715963"/>
            <a:chOff x="1776" y="2784"/>
            <a:chExt cx="1488" cy="451"/>
          </a:xfrm>
        </p:grpSpPr>
        <p:sp>
          <p:nvSpPr>
            <p:cNvPr id="12" name="Rectangle 23"/>
            <p:cNvSpPr>
              <a:spLocks noChangeArrowheads="1"/>
            </p:cNvSpPr>
            <p:nvPr/>
          </p:nvSpPr>
          <p:spPr bwMode="auto">
            <a:xfrm>
              <a:off x="2736" y="2784"/>
              <a:ext cx="5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eaLnBrk="1" hangingPunct="1">
                <a:spcBef>
                  <a:spcPct val="0"/>
                </a:spcBef>
              </a:pPr>
              <a:r>
                <a:rPr lang="en-US" altLang="tr-TR">
                  <a:latin typeface="Lucida Console" panose="020B0609040504020204" pitchFamily="49" charset="0"/>
                  <a:cs typeface="Courier New" panose="02070309020205020404" pitchFamily="49" charset="0"/>
                </a:rPr>
                <a:t>count</a:t>
              </a:r>
              <a:endParaRPr lang="en-US" altLang="tr-TR">
                <a:latin typeface="Lucida Console" panose="020B0609040504020204" pitchFamily="49" charset="0"/>
              </a:endParaRPr>
            </a:p>
            <a:p>
              <a:pPr>
                <a:spcBef>
                  <a:spcPct val="0"/>
                </a:spcBef>
              </a:pPr>
              <a:endParaRPr lang="en-US" altLang="tr-TR">
                <a:latin typeface="Courier New" panose="02070309020205020404" pitchFamily="49" charset="0"/>
              </a:endParaRPr>
            </a:p>
          </p:txBody>
        </p:sp>
        <p:sp>
          <p:nvSpPr>
            <p:cNvPr id="13" name="Freeform 22"/>
            <p:cNvSpPr>
              <a:spLocks/>
            </p:cNvSpPr>
            <p:nvPr/>
          </p:nvSpPr>
          <p:spPr bwMode="auto">
            <a:xfrm>
              <a:off x="2784" y="2938"/>
              <a:ext cx="319" cy="278"/>
            </a:xfrm>
            <a:custGeom>
              <a:avLst/>
              <a:gdLst>
                <a:gd name="T0" fmla="*/ 19967 w 20000"/>
                <a:gd name="T1" fmla="*/ 0 h 20000"/>
                <a:gd name="T2" fmla="*/ 19967 w 20000"/>
                <a:gd name="T3" fmla="*/ 19967 h 20000"/>
                <a:gd name="T4" fmla="*/ 0 w 20000"/>
                <a:gd name="T5" fmla="*/ 19967 h 20000"/>
                <a:gd name="T6" fmla="*/ 0 w 20000"/>
                <a:gd name="T7" fmla="*/ 0 h 20000"/>
                <a:gd name="T8" fmla="*/ 19967 w 20000"/>
                <a:gd name="T9" fmla="*/ 0 h 20000"/>
              </a:gdLst>
              <a:ahLst/>
              <a:cxnLst>
                <a:cxn ang="0">
                  <a:pos x="T0" y="T1"/>
                </a:cxn>
                <a:cxn ang="0">
                  <a:pos x="T2" y="T3"/>
                </a:cxn>
                <a:cxn ang="0">
                  <a:pos x="T4" y="T5"/>
                </a:cxn>
                <a:cxn ang="0">
                  <a:pos x="T6" y="T7"/>
                </a:cxn>
                <a:cxn ang="0">
                  <a:pos x="T8" y="T9"/>
                </a:cxn>
              </a:cxnLst>
              <a:rect l="0" t="0" r="r" b="b"/>
              <a:pathLst>
                <a:path w="20000" h="20000">
                  <a:moveTo>
                    <a:pt x="19967" y="0"/>
                  </a:moveTo>
                  <a:lnTo>
                    <a:pt x="19967" y="19967"/>
                  </a:lnTo>
                  <a:lnTo>
                    <a:pt x="0" y="19967"/>
                  </a:lnTo>
                  <a:lnTo>
                    <a:pt x="0" y="0"/>
                  </a:lnTo>
                  <a:lnTo>
                    <a:pt x="19967" y="0"/>
                  </a:lnTo>
                  <a:close/>
                </a:path>
              </a:pathLst>
            </a:custGeom>
            <a:solidFill>
              <a:schemeClr val="accent1"/>
            </a:solidFill>
            <a:ln w="3175">
              <a:solidFill>
                <a:srgbClr val="000000"/>
              </a:solidFill>
              <a:round/>
              <a:headEnd/>
              <a:tailEnd/>
            </a:ln>
          </p:spPr>
          <p:txBody>
            <a:bodyPr/>
            <a:lstStyle/>
            <a:p>
              <a:endParaRPr lang="tr-TR"/>
            </a:p>
          </p:txBody>
        </p:sp>
        <p:sp>
          <p:nvSpPr>
            <p:cNvPr id="14" name="Rectangle 21"/>
            <p:cNvSpPr>
              <a:spLocks noChangeArrowheads="1"/>
            </p:cNvSpPr>
            <p:nvPr/>
          </p:nvSpPr>
          <p:spPr bwMode="auto">
            <a:xfrm>
              <a:off x="2897" y="2986"/>
              <a:ext cx="79" cy="125"/>
            </a:xfrm>
            <a:prstGeom prst="rect">
              <a:avLst/>
            </a:prstGeom>
            <a:solidFill>
              <a:schemeClr val="accent1"/>
            </a:solidFill>
            <a:ln>
              <a:noFill/>
            </a:ln>
            <a:extLs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eaLnBrk="1" hangingPunct="1">
                <a:spcBef>
                  <a:spcPct val="0"/>
                </a:spcBef>
              </a:pPr>
              <a:r>
                <a:rPr lang="en-US" altLang="tr-TR" b="1">
                  <a:latin typeface="Courier New" panose="02070309020205020404" pitchFamily="49" charset="0"/>
                  <a:cs typeface="Courier New" panose="02070309020205020404" pitchFamily="49" charset="0"/>
                </a:rPr>
                <a:t>7</a:t>
              </a:r>
              <a:endParaRPr lang="en-US" altLang="tr-TR">
                <a:latin typeface="Courier New" panose="02070309020205020404" pitchFamily="49" charset="0"/>
              </a:endParaRPr>
            </a:p>
            <a:p>
              <a:pPr>
                <a:spcBef>
                  <a:spcPct val="0"/>
                </a:spcBef>
              </a:pPr>
              <a:endParaRPr lang="en-US" altLang="tr-TR">
                <a:latin typeface="Courier New" panose="02070309020205020404" pitchFamily="49" charset="0"/>
              </a:endParaRPr>
            </a:p>
          </p:txBody>
        </p:sp>
        <p:sp>
          <p:nvSpPr>
            <p:cNvPr id="15" name="Rectangle 18"/>
            <p:cNvSpPr>
              <a:spLocks noChangeArrowheads="1"/>
            </p:cNvSpPr>
            <p:nvPr/>
          </p:nvSpPr>
          <p:spPr bwMode="auto">
            <a:xfrm>
              <a:off x="1776" y="2784"/>
              <a:ext cx="817" cy="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p>
              <a:pPr eaLnBrk="1" hangingPunct="1">
                <a:spcBef>
                  <a:spcPct val="0"/>
                </a:spcBef>
              </a:pPr>
              <a:r>
                <a:rPr lang="en-US" altLang="tr-TR">
                  <a:latin typeface="Lucida Console" panose="020B0609040504020204" pitchFamily="49" charset="0"/>
                  <a:cs typeface="Courier New" panose="02070309020205020404" pitchFamily="49" charset="0"/>
                </a:rPr>
                <a:t>countPtr</a:t>
              </a:r>
              <a:endParaRPr lang="en-US" altLang="tr-TR">
                <a:latin typeface="Lucida Console" panose="020B0609040504020204" pitchFamily="49" charset="0"/>
              </a:endParaRPr>
            </a:p>
            <a:p>
              <a:pPr>
                <a:spcBef>
                  <a:spcPct val="0"/>
                </a:spcBef>
              </a:pPr>
              <a:endParaRPr lang="en-US" altLang="tr-TR">
                <a:latin typeface="Courier New" panose="02070309020205020404" pitchFamily="49" charset="0"/>
              </a:endParaRPr>
            </a:p>
          </p:txBody>
        </p:sp>
        <p:sp>
          <p:nvSpPr>
            <p:cNvPr id="16" name="Freeform 17"/>
            <p:cNvSpPr>
              <a:spLocks/>
            </p:cNvSpPr>
            <p:nvPr/>
          </p:nvSpPr>
          <p:spPr bwMode="auto">
            <a:xfrm>
              <a:off x="1968" y="2928"/>
              <a:ext cx="384" cy="288"/>
            </a:xfrm>
            <a:custGeom>
              <a:avLst/>
              <a:gdLst>
                <a:gd name="T0" fmla="*/ 19967 w 20000"/>
                <a:gd name="T1" fmla="*/ 0 h 20000"/>
                <a:gd name="T2" fmla="*/ 19967 w 20000"/>
                <a:gd name="T3" fmla="*/ 19967 h 20000"/>
                <a:gd name="T4" fmla="*/ 0 w 20000"/>
                <a:gd name="T5" fmla="*/ 19967 h 20000"/>
                <a:gd name="T6" fmla="*/ 0 w 20000"/>
                <a:gd name="T7" fmla="*/ 0 h 20000"/>
                <a:gd name="T8" fmla="*/ 19967 w 20000"/>
                <a:gd name="T9" fmla="*/ 0 h 20000"/>
              </a:gdLst>
              <a:ahLst/>
              <a:cxnLst>
                <a:cxn ang="0">
                  <a:pos x="T0" y="T1"/>
                </a:cxn>
                <a:cxn ang="0">
                  <a:pos x="T2" y="T3"/>
                </a:cxn>
                <a:cxn ang="0">
                  <a:pos x="T4" y="T5"/>
                </a:cxn>
                <a:cxn ang="0">
                  <a:pos x="T6" y="T7"/>
                </a:cxn>
                <a:cxn ang="0">
                  <a:pos x="T8" y="T9"/>
                </a:cxn>
              </a:cxnLst>
              <a:rect l="0" t="0" r="r" b="b"/>
              <a:pathLst>
                <a:path w="20000" h="20000">
                  <a:moveTo>
                    <a:pt x="19967" y="0"/>
                  </a:moveTo>
                  <a:lnTo>
                    <a:pt x="19967" y="19967"/>
                  </a:lnTo>
                  <a:lnTo>
                    <a:pt x="0" y="19967"/>
                  </a:lnTo>
                  <a:lnTo>
                    <a:pt x="0" y="0"/>
                  </a:lnTo>
                  <a:lnTo>
                    <a:pt x="19967" y="0"/>
                  </a:lnTo>
                  <a:close/>
                </a:path>
              </a:pathLst>
            </a:custGeom>
            <a:solidFill>
              <a:schemeClr val="hlink"/>
            </a:solidFill>
            <a:ln w="3175">
              <a:solidFill>
                <a:srgbClr val="000000"/>
              </a:solidFill>
              <a:round/>
              <a:headEnd/>
              <a:tailEnd/>
            </a:ln>
          </p:spPr>
          <p:txBody>
            <a:bodyPr/>
            <a:lstStyle/>
            <a:p>
              <a:endParaRPr lang="tr-TR"/>
            </a:p>
          </p:txBody>
        </p:sp>
        <p:sp>
          <p:nvSpPr>
            <p:cNvPr id="17" name="Oval 55"/>
            <p:cNvSpPr>
              <a:spLocks noChangeArrowheads="1"/>
            </p:cNvSpPr>
            <p:nvPr/>
          </p:nvSpPr>
          <p:spPr bwMode="auto">
            <a:xfrm>
              <a:off x="2112" y="2908"/>
              <a:ext cx="96" cy="32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tr-TR"/>
            </a:p>
          </p:txBody>
        </p:sp>
        <p:sp>
          <p:nvSpPr>
            <p:cNvPr id="18" name="Line 56"/>
            <p:cNvSpPr>
              <a:spLocks noChangeShapeType="1"/>
            </p:cNvSpPr>
            <p:nvPr/>
          </p:nvSpPr>
          <p:spPr bwMode="auto">
            <a:xfrm>
              <a:off x="2160" y="3072"/>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tr-TR"/>
            </a:p>
          </p:txBody>
        </p:sp>
      </p:grpSp>
    </p:spTree>
    <p:extLst>
      <p:ext uri="{BB962C8B-B14F-4D97-AF65-F5344CB8AC3E}">
        <p14:creationId xmlns:p14="http://schemas.microsoft.com/office/powerpoint/2010/main" val="362536492"/>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Pointer </a:t>
            </a:r>
            <a:r>
              <a:rPr lang="tr-TR" altLang="tr-TR" dirty="0"/>
              <a:t>v</a:t>
            </a:r>
            <a:r>
              <a:rPr lang="en-US" altLang="tr-TR" dirty="0" err="1"/>
              <a:t>ariable</a:t>
            </a:r>
            <a:r>
              <a:rPr lang="en-US" altLang="tr-TR" dirty="0"/>
              <a:t> </a:t>
            </a:r>
            <a:r>
              <a:rPr lang="tr-TR" altLang="tr-TR" dirty="0"/>
              <a:t>d</a:t>
            </a:r>
            <a:r>
              <a:rPr lang="en-US" altLang="tr-TR" dirty="0" err="1"/>
              <a:t>efinitions</a:t>
            </a:r>
            <a:r>
              <a:rPr lang="en-US" altLang="tr-TR" dirty="0"/>
              <a:t> and </a:t>
            </a:r>
            <a:r>
              <a:rPr lang="tr-TR" altLang="tr-TR" dirty="0"/>
              <a:t>i</a:t>
            </a:r>
            <a:r>
              <a:rPr lang="en-US" altLang="tr-TR" dirty="0" err="1"/>
              <a:t>nitialization</a:t>
            </a:r>
            <a:r>
              <a:rPr lang="tr-TR" altLang="tr-TR" dirty="0"/>
              <a:t> – c</a:t>
            </a:r>
            <a:r>
              <a:rPr lang="en-US" altLang="tr-TR" dirty="0"/>
              <a:t>o</a:t>
            </a:r>
            <a:r>
              <a:rPr lang="tr-TR" altLang="tr-TR" dirty="0" err="1"/>
              <a:t>nt</a:t>
            </a:r>
            <a:r>
              <a:rPr lang="tr-TR" altLang="tr-TR" dirty="0"/>
              <a:t>.</a:t>
            </a:r>
            <a:endParaRPr lang="tr-TR" dirty="0"/>
          </a:p>
        </p:txBody>
      </p:sp>
      <p:sp>
        <p:nvSpPr>
          <p:cNvPr id="3" name="Content Placeholder 2"/>
          <p:cNvSpPr>
            <a:spLocks noGrp="1"/>
          </p:cNvSpPr>
          <p:nvPr>
            <p:ph idx="1"/>
          </p:nvPr>
        </p:nvSpPr>
        <p:spPr/>
        <p:txBody>
          <a:bodyPr/>
          <a:lstStyle/>
          <a:p>
            <a:r>
              <a:rPr lang="en-US" altLang="tr-TR" dirty="0"/>
              <a:t>Pointer definitions</a:t>
            </a:r>
          </a:p>
          <a:p>
            <a:pPr lvl="4"/>
            <a:endParaRPr lang="tr-TR" altLang="tr-TR" b="1" dirty="0" smtClean="0">
              <a:latin typeface="Courier New" panose="02070309020205020404" pitchFamily="49" charset="0"/>
            </a:endParaRPr>
          </a:p>
          <a:p>
            <a:pPr lvl="1"/>
            <a:r>
              <a:rPr lang="en-US" altLang="tr-TR" b="1" dirty="0" smtClean="0">
                <a:latin typeface="Courier New" panose="02070309020205020404" pitchFamily="49" charset="0"/>
              </a:rPr>
              <a:t>*</a:t>
            </a:r>
            <a:r>
              <a:rPr lang="en-US" altLang="tr-TR" dirty="0" smtClean="0"/>
              <a:t> </a:t>
            </a:r>
            <a:r>
              <a:rPr lang="en-US" altLang="tr-TR" dirty="0"/>
              <a:t>used with pointer variables</a:t>
            </a:r>
          </a:p>
          <a:p>
            <a:pPr lvl="3">
              <a:buFontTx/>
              <a:buNone/>
            </a:pPr>
            <a:r>
              <a:rPr lang="en-US" altLang="tr-TR" dirty="0" err="1">
                <a:latin typeface="Lucida Console" panose="020B0609040504020204" pitchFamily="49" charset="0"/>
              </a:rPr>
              <a:t>int</a:t>
            </a:r>
            <a:r>
              <a:rPr lang="en-US" altLang="tr-TR" dirty="0">
                <a:latin typeface="Lucida Console" panose="020B0609040504020204" pitchFamily="49" charset="0"/>
              </a:rPr>
              <a:t> *</a:t>
            </a:r>
            <a:r>
              <a:rPr lang="en-US" altLang="tr-TR" dirty="0" err="1">
                <a:latin typeface="Lucida Console" panose="020B0609040504020204" pitchFamily="49" charset="0"/>
              </a:rPr>
              <a:t>myPtr</a:t>
            </a:r>
            <a:r>
              <a:rPr lang="en-US" altLang="tr-TR" dirty="0">
                <a:latin typeface="Lucida Console" panose="020B0609040504020204" pitchFamily="49" charset="0"/>
              </a:rPr>
              <a:t>;</a:t>
            </a:r>
            <a:r>
              <a:rPr lang="en-US" altLang="tr-TR" dirty="0"/>
              <a:t> </a:t>
            </a:r>
          </a:p>
          <a:p>
            <a:pPr lvl="4"/>
            <a:endParaRPr lang="tr-TR" altLang="tr-TR" dirty="0" smtClean="0"/>
          </a:p>
          <a:p>
            <a:pPr lvl="1"/>
            <a:r>
              <a:rPr lang="en-US" altLang="tr-TR" dirty="0" smtClean="0"/>
              <a:t>Defines </a:t>
            </a:r>
            <a:r>
              <a:rPr lang="en-US" altLang="tr-TR" dirty="0"/>
              <a:t>a pointer to an </a:t>
            </a:r>
            <a:r>
              <a:rPr lang="en-US" altLang="tr-TR" sz="2000" dirty="0" err="1">
                <a:latin typeface="Lucida Console" panose="020B0609040504020204" pitchFamily="49" charset="0"/>
              </a:rPr>
              <a:t>int</a:t>
            </a:r>
            <a:r>
              <a:rPr lang="en-US" altLang="tr-TR" dirty="0"/>
              <a:t> (pointer of type </a:t>
            </a:r>
            <a:r>
              <a:rPr lang="en-US" altLang="tr-TR" sz="2000" dirty="0" err="1">
                <a:latin typeface="Lucida Console" panose="020B0609040504020204" pitchFamily="49" charset="0"/>
              </a:rPr>
              <a:t>int</a:t>
            </a:r>
            <a:r>
              <a:rPr lang="en-US" altLang="tr-TR" sz="2000" dirty="0">
                <a:latin typeface="Lucida Console" panose="020B0609040504020204" pitchFamily="49" charset="0"/>
              </a:rPr>
              <a:t> *)</a:t>
            </a:r>
          </a:p>
          <a:p>
            <a:pPr lvl="4"/>
            <a:endParaRPr lang="tr-TR" altLang="tr-TR" dirty="0" smtClean="0"/>
          </a:p>
          <a:p>
            <a:pPr lvl="1"/>
            <a:r>
              <a:rPr lang="en-US" altLang="tr-TR" dirty="0" smtClean="0"/>
              <a:t>Multiple </a:t>
            </a:r>
            <a:r>
              <a:rPr lang="en-US" altLang="tr-TR" dirty="0"/>
              <a:t>pointers require using a </a:t>
            </a:r>
            <a:r>
              <a:rPr lang="en-US" altLang="tr-TR" sz="2000" dirty="0">
                <a:latin typeface="Lucida Console" panose="020B0609040504020204" pitchFamily="49" charset="0"/>
              </a:rPr>
              <a:t>*</a:t>
            </a:r>
            <a:r>
              <a:rPr lang="en-US" altLang="tr-TR" dirty="0"/>
              <a:t> before each variable definition</a:t>
            </a:r>
          </a:p>
          <a:p>
            <a:pPr lvl="3">
              <a:buFontTx/>
              <a:buNone/>
            </a:pPr>
            <a:r>
              <a:rPr lang="en-US" altLang="tr-TR" dirty="0" err="1">
                <a:latin typeface="Lucida Console" panose="020B0609040504020204" pitchFamily="49" charset="0"/>
              </a:rPr>
              <a:t>int</a:t>
            </a:r>
            <a:r>
              <a:rPr lang="en-US" altLang="tr-TR" dirty="0">
                <a:latin typeface="Lucida Console" panose="020B0609040504020204" pitchFamily="49" charset="0"/>
              </a:rPr>
              <a:t> *myPtr1, *myPtr2;</a:t>
            </a:r>
          </a:p>
          <a:p>
            <a:pPr lvl="4"/>
            <a:endParaRPr lang="tr-TR" altLang="tr-TR" dirty="0" smtClean="0"/>
          </a:p>
          <a:p>
            <a:pPr lvl="1"/>
            <a:r>
              <a:rPr lang="en-US" altLang="tr-TR" dirty="0" smtClean="0"/>
              <a:t>Can </a:t>
            </a:r>
            <a:r>
              <a:rPr lang="en-US" altLang="tr-TR" dirty="0"/>
              <a:t>define pointers to any data type</a:t>
            </a:r>
          </a:p>
          <a:p>
            <a:pPr lvl="4"/>
            <a:endParaRPr lang="tr-TR" altLang="tr-TR" dirty="0" smtClean="0"/>
          </a:p>
          <a:p>
            <a:pPr lvl="1"/>
            <a:r>
              <a:rPr lang="en-US" altLang="tr-TR" dirty="0" smtClean="0"/>
              <a:t>Initialize </a:t>
            </a:r>
            <a:r>
              <a:rPr lang="en-US" altLang="tr-TR" dirty="0"/>
              <a:t>pointers to </a:t>
            </a:r>
            <a:r>
              <a:rPr lang="en-US" altLang="tr-TR" sz="2000" dirty="0">
                <a:latin typeface="Lucida Console" panose="020B0609040504020204" pitchFamily="49" charset="0"/>
              </a:rPr>
              <a:t>0</a:t>
            </a:r>
            <a:r>
              <a:rPr lang="en-US" altLang="tr-TR" dirty="0"/>
              <a:t>, </a:t>
            </a:r>
            <a:r>
              <a:rPr lang="en-US" altLang="tr-TR" sz="2000" dirty="0">
                <a:latin typeface="Lucida Console" panose="020B0609040504020204" pitchFamily="49" charset="0"/>
              </a:rPr>
              <a:t>NULL</a:t>
            </a:r>
            <a:r>
              <a:rPr lang="en-US" altLang="tr-TR" dirty="0"/>
              <a:t>, or an address</a:t>
            </a:r>
          </a:p>
          <a:p>
            <a:pPr lvl="2"/>
            <a:r>
              <a:rPr lang="en-US" altLang="tr-TR" sz="1800" dirty="0">
                <a:latin typeface="Lucida Console" panose="020B0609040504020204" pitchFamily="49" charset="0"/>
              </a:rPr>
              <a:t>0</a:t>
            </a:r>
            <a:r>
              <a:rPr lang="en-US" altLang="tr-TR" dirty="0"/>
              <a:t> or </a:t>
            </a:r>
            <a:r>
              <a:rPr lang="en-US" altLang="tr-TR" sz="1800" dirty="0">
                <a:latin typeface="Lucida Console" panose="020B0609040504020204" pitchFamily="49" charset="0"/>
              </a:rPr>
              <a:t>NULL</a:t>
            </a:r>
            <a:r>
              <a:rPr lang="en-US" altLang="tr-TR" dirty="0"/>
              <a:t> </a:t>
            </a:r>
            <a:r>
              <a:rPr lang="en-US" altLang="tr-TR" dirty="0">
                <a:cs typeface="Times New Roman" panose="02020603050405020304" pitchFamily="18" charset="0"/>
              </a:rPr>
              <a:t>–</a:t>
            </a:r>
            <a:r>
              <a:rPr lang="en-US" altLang="tr-TR" dirty="0"/>
              <a:t> points to nothing (</a:t>
            </a:r>
            <a:r>
              <a:rPr lang="en-US" altLang="tr-TR" sz="1800" dirty="0">
                <a:latin typeface="Lucida Console" panose="020B0609040504020204" pitchFamily="49" charset="0"/>
              </a:rPr>
              <a:t>NULL</a:t>
            </a:r>
            <a:r>
              <a:rPr lang="en-US" altLang="tr-TR" dirty="0"/>
              <a:t> preferred)</a:t>
            </a:r>
          </a:p>
          <a:p>
            <a:endParaRPr lang="tr-TR"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37</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3941536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2" end="1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Pointer Operators</a:t>
            </a:r>
            <a:endParaRPr lang="tr-TR" dirty="0"/>
          </a:p>
        </p:txBody>
      </p:sp>
      <p:sp>
        <p:nvSpPr>
          <p:cNvPr id="3" name="Content Placeholder 2"/>
          <p:cNvSpPr>
            <a:spLocks noGrp="1"/>
          </p:cNvSpPr>
          <p:nvPr>
            <p:ph idx="1"/>
          </p:nvPr>
        </p:nvSpPr>
        <p:spPr/>
        <p:txBody>
          <a:bodyPr/>
          <a:lstStyle/>
          <a:p>
            <a:r>
              <a:rPr lang="en-US" altLang="tr-TR" sz="2600" dirty="0">
                <a:latin typeface="Lucida Console" panose="020B0609040504020204" pitchFamily="49" charset="0"/>
              </a:rPr>
              <a:t>&amp;</a:t>
            </a:r>
            <a:r>
              <a:rPr lang="en-US" altLang="tr-TR" dirty="0"/>
              <a:t> (address operator)</a:t>
            </a:r>
          </a:p>
          <a:p>
            <a:pPr lvl="1"/>
            <a:r>
              <a:rPr lang="en-US" altLang="tr-TR" dirty="0"/>
              <a:t>Returns address of operand</a:t>
            </a:r>
          </a:p>
          <a:p>
            <a:pPr lvl="2">
              <a:buFontTx/>
              <a:buNone/>
            </a:pPr>
            <a:r>
              <a:rPr lang="en-US" altLang="tr-TR" sz="1800" dirty="0" err="1">
                <a:latin typeface="Lucida Console" panose="020B0609040504020204" pitchFamily="49" charset="0"/>
              </a:rPr>
              <a:t>int</a:t>
            </a:r>
            <a:r>
              <a:rPr lang="en-US" altLang="tr-TR" sz="1800" dirty="0">
                <a:latin typeface="Lucida Console" panose="020B0609040504020204" pitchFamily="49" charset="0"/>
              </a:rPr>
              <a:t> y = 5;</a:t>
            </a:r>
          </a:p>
          <a:p>
            <a:pPr lvl="2">
              <a:buFontTx/>
              <a:buNone/>
            </a:pPr>
            <a:r>
              <a:rPr lang="en-US" altLang="tr-TR" sz="1800" dirty="0" err="1">
                <a:latin typeface="Lucida Console" panose="020B0609040504020204" pitchFamily="49" charset="0"/>
              </a:rPr>
              <a:t>int</a:t>
            </a:r>
            <a:r>
              <a:rPr lang="en-US" altLang="tr-TR" sz="1800" dirty="0">
                <a:latin typeface="Lucida Console" panose="020B0609040504020204" pitchFamily="49" charset="0"/>
              </a:rPr>
              <a:t> *</a:t>
            </a:r>
            <a:r>
              <a:rPr lang="en-US" altLang="tr-TR" sz="1800" dirty="0" err="1">
                <a:latin typeface="Lucida Console" panose="020B0609040504020204" pitchFamily="49" charset="0"/>
              </a:rPr>
              <a:t>yPtr</a:t>
            </a:r>
            <a:r>
              <a:rPr lang="en-US" altLang="tr-TR" sz="1800" dirty="0">
                <a:latin typeface="Lucida Console" panose="020B0609040504020204" pitchFamily="49" charset="0"/>
              </a:rPr>
              <a:t>; </a:t>
            </a:r>
          </a:p>
          <a:p>
            <a:pPr lvl="2">
              <a:buFontTx/>
              <a:buNone/>
            </a:pPr>
            <a:r>
              <a:rPr lang="en-US" altLang="tr-TR" sz="1800" dirty="0" err="1">
                <a:latin typeface="Lucida Console" panose="020B0609040504020204" pitchFamily="49" charset="0"/>
              </a:rPr>
              <a:t>yPtr</a:t>
            </a:r>
            <a:r>
              <a:rPr lang="en-US" altLang="tr-TR" sz="1800" dirty="0">
                <a:latin typeface="Lucida Console" panose="020B0609040504020204" pitchFamily="49" charset="0"/>
              </a:rPr>
              <a:t> = &amp;y;     /* </a:t>
            </a:r>
            <a:r>
              <a:rPr lang="en-US" altLang="tr-TR" sz="1800" dirty="0" err="1">
                <a:latin typeface="Lucida Console" panose="020B0609040504020204" pitchFamily="49" charset="0"/>
              </a:rPr>
              <a:t>yPtr</a:t>
            </a:r>
            <a:r>
              <a:rPr lang="en-US" altLang="tr-TR" sz="1800" dirty="0">
                <a:latin typeface="Lucida Console" panose="020B0609040504020204" pitchFamily="49" charset="0"/>
              </a:rPr>
              <a:t> gets address of y */</a:t>
            </a:r>
          </a:p>
          <a:p>
            <a:pPr lvl="2">
              <a:buFontTx/>
              <a:buNone/>
            </a:pPr>
            <a:r>
              <a:rPr lang="en-US" altLang="tr-TR" sz="1800" dirty="0" err="1">
                <a:latin typeface="Lucida Console" panose="020B0609040504020204" pitchFamily="49" charset="0"/>
              </a:rPr>
              <a:t>yPtr</a:t>
            </a:r>
            <a:r>
              <a:rPr lang="en-US" altLang="tr-TR" sz="1800" dirty="0">
                <a:latin typeface="Lucida Console" panose="020B0609040504020204" pitchFamily="49" charset="0"/>
              </a:rPr>
              <a:t> “points to” y</a:t>
            </a:r>
          </a:p>
          <a:p>
            <a:pPr lvl="1"/>
            <a:endParaRPr lang="en-US" altLang="tr-TR" sz="1800" dirty="0">
              <a:latin typeface="Lucida Console" panose="020B0609040504020204" pitchFamily="49" charset="0"/>
            </a:endParaRPr>
          </a:p>
          <a:p>
            <a:endParaRPr lang="tr-TR"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38</a:t>
            </a:fld>
            <a:endParaRPr lang="en-US" altLang="tr-TR">
              <a:ea typeface="ＭＳ Ｐゴシック" panose="020B0600070205080204" pitchFamily="34" charset="-128"/>
            </a:endParaRPr>
          </a:p>
        </p:txBody>
      </p:sp>
      <p:grpSp>
        <p:nvGrpSpPr>
          <p:cNvPr id="5" name="Group 35"/>
          <p:cNvGrpSpPr>
            <a:grpSpLocks/>
          </p:cNvGrpSpPr>
          <p:nvPr/>
        </p:nvGrpSpPr>
        <p:grpSpPr bwMode="auto">
          <a:xfrm>
            <a:off x="2209800" y="3556000"/>
            <a:ext cx="7696200" cy="2509838"/>
            <a:chOff x="720" y="1680"/>
            <a:chExt cx="4848" cy="1581"/>
          </a:xfrm>
        </p:grpSpPr>
        <p:sp>
          <p:nvSpPr>
            <p:cNvPr id="6" name="Freeform 9"/>
            <p:cNvSpPr>
              <a:spLocks/>
            </p:cNvSpPr>
            <p:nvPr/>
          </p:nvSpPr>
          <p:spPr bwMode="auto">
            <a:xfrm>
              <a:off x="729" y="2288"/>
              <a:ext cx="347" cy="208"/>
            </a:xfrm>
            <a:custGeom>
              <a:avLst/>
              <a:gdLst>
                <a:gd name="T0" fmla="*/ 19956 w 20000"/>
                <a:gd name="T1" fmla="*/ 0 h 20000"/>
                <a:gd name="T2" fmla="*/ 19956 w 20000"/>
                <a:gd name="T3" fmla="*/ 19956 h 20000"/>
                <a:gd name="T4" fmla="*/ 0 w 20000"/>
                <a:gd name="T5" fmla="*/ 19956 h 20000"/>
                <a:gd name="T6" fmla="*/ 0 w 20000"/>
                <a:gd name="T7" fmla="*/ 0 h 20000"/>
                <a:gd name="T8" fmla="*/ 19956 w 20000"/>
                <a:gd name="T9" fmla="*/ 0 h 20000"/>
              </a:gdLst>
              <a:ahLst/>
              <a:cxnLst>
                <a:cxn ang="0">
                  <a:pos x="T0" y="T1"/>
                </a:cxn>
                <a:cxn ang="0">
                  <a:pos x="T2" y="T3"/>
                </a:cxn>
                <a:cxn ang="0">
                  <a:pos x="T4" y="T5"/>
                </a:cxn>
                <a:cxn ang="0">
                  <a:pos x="T6" y="T7"/>
                </a:cxn>
                <a:cxn ang="0">
                  <a:pos x="T8" y="T9"/>
                </a:cxn>
              </a:cxnLst>
              <a:rect l="0" t="0" r="r" b="b"/>
              <a:pathLst>
                <a:path w="20000" h="20000">
                  <a:moveTo>
                    <a:pt x="19956" y="0"/>
                  </a:moveTo>
                  <a:lnTo>
                    <a:pt x="19956" y="19956"/>
                  </a:lnTo>
                  <a:lnTo>
                    <a:pt x="0" y="19956"/>
                  </a:lnTo>
                  <a:lnTo>
                    <a:pt x="0" y="0"/>
                  </a:lnTo>
                  <a:lnTo>
                    <a:pt x="19956" y="0"/>
                  </a:lnTo>
                  <a:close/>
                </a:path>
              </a:pathLst>
            </a:custGeom>
            <a:solidFill>
              <a:schemeClr val="hlink"/>
            </a:solidFill>
            <a:ln w="3175" cap="flat">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tr-TR"/>
            </a:p>
          </p:txBody>
        </p:sp>
        <p:sp>
          <p:nvSpPr>
            <p:cNvPr id="7" name="Freeform 15"/>
            <p:cNvSpPr>
              <a:spLocks/>
            </p:cNvSpPr>
            <p:nvPr/>
          </p:nvSpPr>
          <p:spPr bwMode="auto">
            <a:xfrm>
              <a:off x="1814" y="2043"/>
              <a:ext cx="346" cy="208"/>
            </a:xfrm>
            <a:custGeom>
              <a:avLst/>
              <a:gdLst>
                <a:gd name="T0" fmla="*/ 19956 w 20000"/>
                <a:gd name="T1" fmla="*/ 0 h 20000"/>
                <a:gd name="T2" fmla="*/ 19956 w 20000"/>
                <a:gd name="T3" fmla="*/ 19956 h 20000"/>
                <a:gd name="T4" fmla="*/ 0 w 20000"/>
                <a:gd name="T5" fmla="*/ 19956 h 20000"/>
                <a:gd name="T6" fmla="*/ 0 w 20000"/>
                <a:gd name="T7" fmla="*/ 0 h 20000"/>
                <a:gd name="T8" fmla="*/ 19956 w 20000"/>
                <a:gd name="T9" fmla="*/ 0 h 20000"/>
              </a:gdLst>
              <a:ahLst/>
              <a:cxnLst>
                <a:cxn ang="0">
                  <a:pos x="T0" y="T1"/>
                </a:cxn>
                <a:cxn ang="0">
                  <a:pos x="T2" y="T3"/>
                </a:cxn>
                <a:cxn ang="0">
                  <a:pos x="T4" y="T5"/>
                </a:cxn>
                <a:cxn ang="0">
                  <a:pos x="T6" y="T7"/>
                </a:cxn>
                <a:cxn ang="0">
                  <a:pos x="T8" y="T9"/>
                </a:cxn>
              </a:cxnLst>
              <a:rect l="0" t="0" r="r" b="b"/>
              <a:pathLst>
                <a:path w="20000" h="20000">
                  <a:moveTo>
                    <a:pt x="19956" y="0"/>
                  </a:moveTo>
                  <a:lnTo>
                    <a:pt x="19956" y="19956"/>
                  </a:lnTo>
                  <a:lnTo>
                    <a:pt x="0" y="19956"/>
                  </a:lnTo>
                  <a:lnTo>
                    <a:pt x="0" y="0"/>
                  </a:lnTo>
                  <a:lnTo>
                    <a:pt x="19956" y="0"/>
                  </a:lnTo>
                  <a:close/>
                </a:path>
              </a:pathLst>
            </a:custGeom>
            <a:solidFill>
              <a:schemeClr val="accent1"/>
            </a:solidFill>
            <a:ln w="3175" cap="flat">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tr-TR"/>
            </a:p>
          </p:txBody>
        </p:sp>
        <p:sp>
          <p:nvSpPr>
            <p:cNvPr id="8" name="Freeform 5"/>
            <p:cNvSpPr>
              <a:spLocks/>
            </p:cNvSpPr>
            <p:nvPr/>
          </p:nvSpPr>
          <p:spPr bwMode="auto">
            <a:xfrm>
              <a:off x="903" y="2159"/>
              <a:ext cx="911" cy="233"/>
            </a:xfrm>
            <a:custGeom>
              <a:avLst/>
              <a:gdLst>
                <a:gd name="T0" fmla="*/ 19983 w 20000"/>
                <a:gd name="T1" fmla="*/ 0 h 20000"/>
                <a:gd name="T2" fmla="*/ 0 w 20000"/>
                <a:gd name="T3" fmla="*/ 19960 h 20000"/>
              </a:gdLst>
              <a:ahLst/>
              <a:cxnLst>
                <a:cxn ang="0">
                  <a:pos x="T0" y="T1"/>
                </a:cxn>
                <a:cxn ang="0">
                  <a:pos x="T2" y="T3"/>
                </a:cxn>
              </a:cxnLst>
              <a:rect l="0" t="0" r="r" b="b"/>
              <a:pathLst>
                <a:path w="20000" h="20000">
                  <a:moveTo>
                    <a:pt x="19983" y="0"/>
                  </a:moveTo>
                  <a:lnTo>
                    <a:pt x="0" y="19960"/>
                  </a:lnTo>
                </a:path>
              </a:pathLst>
            </a:custGeom>
            <a:noFill/>
            <a:ln w="3175" cap="flat">
              <a:solidFill>
                <a:srgbClr val="000000"/>
              </a:solidFill>
              <a:prstDash val="solid"/>
              <a:round/>
              <a:headEnd type="triangle" w="med" len="sm"/>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tr-TR" dirty="0"/>
            </a:p>
          </p:txBody>
        </p:sp>
        <p:sp>
          <p:nvSpPr>
            <p:cNvPr id="9" name="Rectangle 7"/>
            <p:cNvSpPr>
              <a:spLocks noChangeArrowheads="1"/>
            </p:cNvSpPr>
            <p:nvPr/>
          </p:nvSpPr>
          <p:spPr bwMode="auto">
            <a:xfrm>
              <a:off x="720" y="2165"/>
              <a:ext cx="364" cy="1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nSpc>
                  <a:spcPct val="72000"/>
                </a:lnSpc>
                <a:spcBef>
                  <a:spcPct val="0"/>
                </a:spcBef>
              </a:pPr>
              <a:r>
                <a:rPr lang="tr-TR" altLang="tr-TR" sz="1600" b="1" noProof="1">
                  <a:latin typeface="Lucida Console" panose="020B0609040504020204" pitchFamily="49" charset="0"/>
                </a:rPr>
                <a:t>yPtr</a:t>
              </a:r>
            </a:p>
          </p:txBody>
        </p:sp>
        <p:sp>
          <p:nvSpPr>
            <p:cNvPr id="10" name="Oval 10"/>
            <p:cNvSpPr>
              <a:spLocks noChangeArrowheads="1"/>
            </p:cNvSpPr>
            <p:nvPr/>
          </p:nvSpPr>
          <p:spPr bwMode="auto">
            <a:xfrm>
              <a:off x="867" y="2371"/>
              <a:ext cx="70" cy="42"/>
            </a:xfrm>
            <a:prstGeom prst="ellipse">
              <a:avLst/>
            </a:prstGeom>
            <a:solidFill>
              <a:schemeClr val="tx2"/>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tr-TR"/>
            </a:p>
          </p:txBody>
        </p:sp>
        <p:sp>
          <p:nvSpPr>
            <p:cNvPr id="11" name="Rectangle 12"/>
            <p:cNvSpPr>
              <a:spLocks noChangeArrowheads="1"/>
            </p:cNvSpPr>
            <p:nvPr/>
          </p:nvSpPr>
          <p:spPr bwMode="auto">
            <a:xfrm>
              <a:off x="1929" y="1920"/>
              <a:ext cx="115" cy="1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nSpc>
                  <a:spcPct val="72000"/>
                </a:lnSpc>
                <a:spcBef>
                  <a:spcPct val="0"/>
                </a:spcBef>
              </a:pPr>
              <a:r>
                <a:rPr lang="tr-TR" altLang="tr-TR" sz="1600" b="1" noProof="1">
                  <a:latin typeface="Lucida Console" panose="020B0609040504020204" pitchFamily="49" charset="0"/>
                </a:rPr>
                <a:t>y</a:t>
              </a:r>
            </a:p>
          </p:txBody>
        </p:sp>
        <p:sp>
          <p:nvSpPr>
            <p:cNvPr id="12" name="Rectangle 14"/>
            <p:cNvSpPr>
              <a:spLocks noChangeArrowheads="1"/>
            </p:cNvSpPr>
            <p:nvPr/>
          </p:nvSpPr>
          <p:spPr bwMode="auto">
            <a:xfrm>
              <a:off x="1929" y="2097"/>
              <a:ext cx="115" cy="1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nSpc>
                  <a:spcPct val="72000"/>
                </a:lnSpc>
                <a:spcBef>
                  <a:spcPct val="0"/>
                </a:spcBef>
              </a:pPr>
              <a:r>
                <a:rPr lang="tr-TR" altLang="tr-TR" sz="1600" b="1" noProof="1">
                  <a:latin typeface="Courier New" panose="02070309020205020404" pitchFamily="49" charset="0"/>
                </a:rPr>
                <a:t>5</a:t>
              </a:r>
            </a:p>
          </p:txBody>
        </p:sp>
        <p:grpSp>
          <p:nvGrpSpPr>
            <p:cNvPr id="13" name="Group 16"/>
            <p:cNvGrpSpPr>
              <a:grpSpLocks/>
            </p:cNvGrpSpPr>
            <p:nvPr/>
          </p:nvGrpSpPr>
          <p:grpSpPr bwMode="auto">
            <a:xfrm>
              <a:off x="2496" y="1872"/>
              <a:ext cx="3072" cy="432"/>
              <a:chOff x="1" y="0"/>
              <a:chExt cx="19998" cy="20000"/>
            </a:xfrm>
          </p:grpSpPr>
          <p:grpSp>
            <p:nvGrpSpPr>
              <p:cNvPr id="18" name="Group 17"/>
              <p:cNvGrpSpPr>
                <a:grpSpLocks/>
              </p:cNvGrpSpPr>
              <p:nvPr/>
            </p:nvGrpSpPr>
            <p:grpSpPr bwMode="auto">
              <a:xfrm>
                <a:off x="1" y="0"/>
                <a:ext cx="8448" cy="20000"/>
                <a:chOff x="1" y="0"/>
                <a:chExt cx="19999" cy="20000"/>
              </a:xfrm>
            </p:grpSpPr>
            <p:sp>
              <p:nvSpPr>
                <p:cNvPr id="26" name="Rectangle 18"/>
                <p:cNvSpPr>
                  <a:spLocks noChangeArrowheads="1"/>
                </p:cNvSpPr>
                <p:nvPr/>
              </p:nvSpPr>
              <p:spPr bwMode="auto">
                <a:xfrm>
                  <a:off x="12735" y="0"/>
                  <a:ext cx="5007" cy="86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nSpc>
                      <a:spcPct val="80000"/>
                    </a:lnSpc>
                    <a:spcBef>
                      <a:spcPct val="0"/>
                    </a:spcBef>
                  </a:pPr>
                  <a:r>
                    <a:rPr lang="tr-TR" altLang="tr-TR" sz="1600" b="1" noProof="1">
                      <a:latin typeface="Lucida Console" panose="020B0609040504020204" pitchFamily="49" charset="0"/>
                    </a:rPr>
                    <a:t>yptr</a:t>
                  </a:r>
                </a:p>
              </p:txBody>
            </p:sp>
            <p:grpSp>
              <p:nvGrpSpPr>
                <p:cNvPr id="27" name="Group 19"/>
                <p:cNvGrpSpPr>
                  <a:grpSpLocks/>
                </p:cNvGrpSpPr>
                <p:nvPr/>
              </p:nvGrpSpPr>
              <p:grpSpPr bwMode="auto">
                <a:xfrm>
                  <a:off x="1" y="8923"/>
                  <a:ext cx="19999" cy="11077"/>
                  <a:chOff x="0" y="0"/>
                  <a:chExt cx="19999" cy="20000"/>
                </a:xfrm>
              </p:grpSpPr>
              <p:sp>
                <p:nvSpPr>
                  <p:cNvPr id="28" name="Rectangle 20"/>
                  <p:cNvSpPr>
                    <a:spLocks noChangeArrowheads="1"/>
                  </p:cNvSpPr>
                  <p:nvPr/>
                </p:nvSpPr>
                <p:spPr bwMode="auto">
                  <a:xfrm>
                    <a:off x="0" y="3333"/>
                    <a:ext cx="7313" cy="156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nSpc>
                        <a:spcPct val="80000"/>
                      </a:lnSpc>
                      <a:spcBef>
                        <a:spcPct val="0"/>
                      </a:spcBef>
                    </a:pPr>
                    <a:r>
                      <a:rPr lang="tr-TR" altLang="tr-TR" sz="1600" b="1" noProof="1">
                        <a:latin typeface="Lucida Console" panose="020B0609040504020204" pitchFamily="49" charset="0"/>
                      </a:rPr>
                      <a:t>500000</a:t>
                    </a:r>
                  </a:p>
                </p:txBody>
              </p:sp>
              <p:grpSp>
                <p:nvGrpSpPr>
                  <p:cNvPr id="29" name="Group 21"/>
                  <p:cNvGrpSpPr>
                    <a:grpSpLocks/>
                  </p:cNvGrpSpPr>
                  <p:nvPr/>
                </p:nvGrpSpPr>
                <p:grpSpPr bwMode="auto">
                  <a:xfrm>
                    <a:off x="7313" y="0"/>
                    <a:ext cx="12686" cy="20000"/>
                    <a:chOff x="0" y="0"/>
                    <a:chExt cx="20000" cy="20000"/>
                  </a:xfrm>
                </p:grpSpPr>
                <p:sp>
                  <p:nvSpPr>
                    <p:cNvPr id="30" name="Rectangle 22"/>
                    <p:cNvSpPr>
                      <a:spLocks noChangeArrowheads="1"/>
                    </p:cNvSpPr>
                    <p:nvPr/>
                  </p:nvSpPr>
                  <p:spPr bwMode="auto">
                    <a:xfrm>
                      <a:off x="4228" y="3333"/>
                      <a:ext cx="11528" cy="156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nSpc>
                          <a:spcPct val="80000"/>
                        </a:lnSpc>
                        <a:spcBef>
                          <a:spcPct val="0"/>
                        </a:spcBef>
                      </a:pPr>
                      <a:r>
                        <a:rPr lang="tr-TR" altLang="tr-TR" sz="1600" b="1" noProof="1">
                          <a:latin typeface="Lucida Console" panose="020B0609040504020204" pitchFamily="49" charset="0"/>
                        </a:rPr>
                        <a:t>600000</a:t>
                      </a:r>
                    </a:p>
                  </p:txBody>
                </p:sp>
                <p:sp>
                  <p:nvSpPr>
                    <p:cNvPr id="31" name="Freeform 23"/>
                    <p:cNvSpPr>
                      <a:spLocks/>
                    </p:cNvSpPr>
                    <p:nvPr/>
                  </p:nvSpPr>
                  <p:spPr bwMode="auto">
                    <a:xfrm>
                      <a:off x="0" y="0"/>
                      <a:ext cx="20000" cy="20000"/>
                    </a:xfrm>
                    <a:custGeom>
                      <a:avLst/>
                      <a:gdLst>
                        <a:gd name="T0" fmla="*/ 19985 w 20000"/>
                        <a:gd name="T1" fmla="*/ 0 h 20000"/>
                        <a:gd name="T2" fmla="*/ 19985 w 20000"/>
                        <a:gd name="T3" fmla="*/ 19944 h 20000"/>
                        <a:gd name="T4" fmla="*/ 0 w 20000"/>
                        <a:gd name="T5" fmla="*/ 19944 h 20000"/>
                        <a:gd name="T6" fmla="*/ 0 w 20000"/>
                        <a:gd name="T7" fmla="*/ 0 h 20000"/>
                        <a:gd name="T8" fmla="*/ 19985 w 20000"/>
                        <a:gd name="T9" fmla="*/ 0 h 20000"/>
                      </a:gdLst>
                      <a:ahLst/>
                      <a:cxnLst>
                        <a:cxn ang="0">
                          <a:pos x="T0" y="T1"/>
                        </a:cxn>
                        <a:cxn ang="0">
                          <a:pos x="T2" y="T3"/>
                        </a:cxn>
                        <a:cxn ang="0">
                          <a:pos x="T4" y="T5"/>
                        </a:cxn>
                        <a:cxn ang="0">
                          <a:pos x="T6" y="T7"/>
                        </a:cxn>
                        <a:cxn ang="0">
                          <a:pos x="T8" y="T9"/>
                        </a:cxn>
                      </a:cxnLst>
                      <a:rect l="0" t="0" r="r" b="b"/>
                      <a:pathLst>
                        <a:path w="20000" h="20000">
                          <a:moveTo>
                            <a:pt x="19985" y="0"/>
                          </a:moveTo>
                          <a:lnTo>
                            <a:pt x="19985" y="19944"/>
                          </a:lnTo>
                          <a:lnTo>
                            <a:pt x="0" y="19944"/>
                          </a:lnTo>
                          <a:lnTo>
                            <a:pt x="0" y="0"/>
                          </a:lnTo>
                          <a:lnTo>
                            <a:pt x="19985" y="0"/>
                          </a:lnTo>
                          <a:close/>
                        </a:path>
                      </a:pathLst>
                    </a:custGeom>
                    <a:noFill/>
                    <a:ln w="3175"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tr-TR"/>
                    </a:p>
                  </p:txBody>
                </p:sp>
              </p:grpSp>
            </p:grpSp>
          </p:grpSp>
          <p:grpSp>
            <p:nvGrpSpPr>
              <p:cNvPr id="19" name="Group 24"/>
              <p:cNvGrpSpPr>
                <a:grpSpLocks/>
              </p:cNvGrpSpPr>
              <p:nvPr/>
            </p:nvGrpSpPr>
            <p:grpSpPr bwMode="auto">
              <a:xfrm>
                <a:off x="11551" y="0"/>
                <a:ext cx="8448" cy="20000"/>
                <a:chOff x="0" y="0"/>
                <a:chExt cx="20000" cy="20000"/>
              </a:xfrm>
            </p:grpSpPr>
            <p:sp>
              <p:nvSpPr>
                <p:cNvPr id="20" name="Rectangle 25"/>
                <p:cNvSpPr>
                  <a:spLocks noChangeArrowheads="1"/>
                </p:cNvSpPr>
                <p:nvPr/>
              </p:nvSpPr>
              <p:spPr bwMode="auto">
                <a:xfrm>
                  <a:off x="12879" y="0"/>
                  <a:ext cx="1546" cy="86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nSpc>
                      <a:spcPct val="80000"/>
                    </a:lnSpc>
                    <a:spcBef>
                      <a:spcPct val="0"/>
                    </a:spcBef>
                  </a:pPr>
                  <a:r>
                    <a:rPr lang="tr-TR" altLang="tr-TR" sz="1600" b="1" noProof="1">
                      <a:latin typeface="Lucida Console" panose="020B0609040504020204" pitchFamily="49" charset="0"/>
                    </a:rPr>
                    <a:t>y</a:t>
                  </a:r>
                </a:p>
              </p:txBody>
            </p:sp>
            <p:grpSp>
              <p:nvGrpSpPr>
                <p:cNvPr id="21" name="Group 26"/>
                <p:cNvGrpSpPr>
                  <a:grpSpLocks/>
                </p:cNvGrpSpPr>
                <p:nvPr/>
              </p:nvGrpSpPr>
              <p:grpSpPr bwMode="auto">
                <a:xfrm>
                  <a:off x="0" y="8923"/>
                  <a:ext cx="20000" cy="11077"/>
                  <a:chOff x="0" y="0"/>
                  <a:chExt cx="20000" cy="20000"/>
                </a:xfrm>
              </p:grpSpPr>
              <p:sp>
                <p:nvSpPr>
                  <p:cNvPr id="22" name="Rectangle 27"/>
                  <p:cNvSpPr>
                    <a:spLocks noChangeArrowheads="1"/>
                  </p:cNvSpPr>
                  <p:nvPr/>
                </p:nvSpPr>
                <p:spPr bwMode="auto">
                  <a:xfrm>
                    <a:off x="0" y="3333"/>
                    <a:ext cx="7313" cy="156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nSpc>
                        <a:spcPct val="80000"/>
                      </a:lnSpc>
                      <a:spcBef>
                        <a:spcPct val="0"/>
                      </a:spcBef>
                    </a:pPr>
                    <a:r>
                      <a:rPr lang="tr-TR" altLang="tr-TR" sz="1600" b="1" noProof="1">
                        <a:latin typeface="Lucida Console" panose="020B0609040504020204" pitchFamily="49" charset="0"/>
                      </a:rPr>
                      <a:t>600000</a:t>
                    </a:r>
                  </a:p>
                </p:txBody>
              </p:sp>
              <p:grpSp>
                <p:nvGrpSpPr>
                  <p:cNvPr id="23" name="Group 28"/>
                  <p:cNvGrpSpPr>
                    <a:grpSpLocks/>
                  </p:cNvGrpSpPr>
                  <p:nvPr/>
                </p:nvGrpSpPr>
                <p:grpSpPr bwMode="auto">
                  <a:xfrm>
                    <a:off x="7313" y="0"/>
                    <a:ext cx="12687" cy="20000"/>
                    <a:chOff x="0" y="0"/>
                    <a:chExt cx="19999" cy="20000"/>
                  </a:xfrm>
                </p:grpSpPr>
                <p:sp>
                  <p:nvSpPr>
                    <p:cNvPr id="24" name="Rectangle 29"/>
                    <p:cNvSpPr>
                      <a:spLocks noChangeArrowheads="1"/>
                    </p:cNvSpPr>
                    <p:nvPr/>
                  </p:nvSpPr>
                  <p:spPr bwMode="auto">
                    <a:xfrm>
                      <a:off x="8774" y="3333"/>
                      <a:ext cx="2437" cy="156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nSpc>
                          <a:spcPct val="80000"/>
                        </a:lnSpc>
                        <a:spcBef>
                          <a:spcPct val="0"/>
                        </a:spcBef>
                      </a:pPr>
                      <a:r>
                        <a:rPr lang="tr-TR" altLang="tr-TR" sz="1600" b="1" noProof="1">
                          <a:latin typeface="Lucida Console" panose="020B0609040504020204" pitchFamily="49" charset="0"/>
                        </a:rPr>
                        <a:t>5</a:t>
                      </a:r>
                    </a:p>
                  </p:txBody>
                </p:sp>
                <p:sp>
                  <p:nvSpPr>
                    <p:cNvPr id="25" name="Freeform 30"/>
                    <p:cNvSpPr>
                      <a:spLocks/>
                    </p:cNvSpPr>
                    <p:nvPr/>
                  </p:nvSpPr>
                  <p:spPr bwMode="auto">
                    <a:xfrm>
                      <a:off x="0" y="0"/>
                      <a:ext cx="19999" cy="20000"/>
                    </a:xfrm>
                    <a:custGeom>
                      <a:avLst/>
                      <a:gdLst>
                        <a:gd name="T0" fmla="*/ 19985 w 20000"/>
                        <a:gd name="T1" fmla="*/ 0 h 20000"/>
                        <a:gd name="T2" fmla="*/ 19985 w 20000"/>
                        <a:gd name="T3" fmla="*/ 19944 h 20000"/>
                        <a:gd name="T4" fmla="*/ 0 w 20000"/>
                        <a:gd name="T5" fmla="*/ 19944 h 20000"/>
                        <a:gd name="T6" fmla="*/ 0 w 20000"/>
                        <a:gd name="T7" fmla="*/ 0 h 20000"/>
                        <a:gd name="T8" fmla="*/ 19985 w 20000"/>
                        <a:gd name="T9" fmla="*/ 0 h 20000"/>
                      </a:gdLst>
                      <a:ahLst/>
                      <a:cxnLst>
                        <a:cxn ang="0">
                          <a:pos x="T0" y="T1"/>
                        </a:cxn>
                        <a:cxn ang="0">
                          <a:pos x="T2" y="T3"/>
                        </a:cxn>
                        <a:cxn ang="0">
                          <a:pos x="T4" y="T5"/>
                        </a:cxn>
                        <a:cxn ang="0">
                          <a:pos x="T6" y="T7"/>
                        </a:cxn>
                        <a:cxn ang="0">
                          <a:pos x="T8" y="T9"/>
                        </a:cxn>
                      </a:cxnLst>
                      <a:rect l="0" t="0" r="r" b="b"/>
                      <a:pathLst>
                        <a:path w="20000" h="20000">
                          <a:moveTo>
                            <a:pt x="19985" y="0"/>
                          </a:moveTo>
                          <a:lnTo>
                            <a:pt x="19985" y="19944"/>
                          </a:lnTo>
                          <a:lnTo>
                            <a:pt x="0" y="19944"/>
                          </a:lnTo>
                          <a:lnTo>
                            <a:pt x="0" y="0"/>
                          </a:lnTo>
                          <a:lnTo>
                            <a:pt x="19985" y="0"/>
                          </a:lnTo>
                          <a:close/>
                        </a:path>
                      </a:pathLst>
                    </a:custGeom>
                    <a:noFill/>
                    <a:ln w="3175"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tr-TR"/>
                    </a:p>
                  </p:txBody>
                </p:sp>
              </p:grpSp>
            </p:grpSp>
          </p:grpSp>
        </p:grpSp>
        <p:sp>
          <p:nvSpPr>
            <p:cNvPr id="14" name="Line 31"/>
            <p:cNvSpPr>
              <a:spLocks noChangeShapeType="1"/>
            </p:cNvSpPr>
            <p:nvPr/>
          </p:nvSpPr>
          <p:spPr bwMode="auto">
            <a:xfrm>
              <a:off x="2448" y="1680"/>
              <a:ext cx="0"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tr-TR"/>
            </a:p>
          </p:txBody>
        </p:sp>
        <p:sp>
          <p:nvSpPr>
            <p:cNvPr id="15" name="Text Box 32"/>
            <p:cNvSpPr txBox="1">
              <a:spLocks noChangeArrowheads="1"/>
            </p:cNvSpPr>
            <p:nvPr/>
          </p:nvSpPr>
          <p:spPr bwMode="auto">
            <a:xfrm>
              <a:off x="3696" y="2640"/>
              <a:ext cx="1056" cy="621"/>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r-TR" sz="2000"/>
                <a:t>Address of </a:t>
              </a:r>
              <a:r>
                <a:rPr lang="en-US" altLang="tr-TR">
                  <a:latin typeface="Lucida Console" panose="020B0609040504020204" pitchFamily="49" charset="0"/>
                </a:rPr>
                <a:t>y</a:t>
              </a:r>
              <a:r>
                <a:rPr lang="en-US" altLang="tr-TR" sz="2000"/>
                <a:t> is value of </a:t>
              </a:r>
              <a:r>
                <a:rPr lang="en-US" altLang="tr-TR">
                  <a:latin typeface="Lucida Console" panose="020B0609040504020204" pitchFamily="49" charset="0"/>
                </a:rPr>
                <a:t>yptr</a:t>
              </a:r>
            </a:p>
          </p:txBody>
        </p:sp>
        <p:sp>
          <p:nvSpPr>
            <p:cNvPr id="16" name="Line 33"/>
            <p:cNvSpPr>
              <a:spLocks noChangeShapeType="1"/>
            </p:cNvSpPr>
            <p:nvPr/>
          </p:nvSpPr>
          <p:spPr bwMode="auto">
            <a:xfrm flipV="1">
              <a:off x="4320" y="2256"/>
              <a:ext cx="144"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tr-TR"/>
            </a:p>
          </p:txBody>
        </p:sp>
        <p:sp>
          <p:nvSpPr>
            <p:cNvPr id="17" name="Line 34"/>
            <p:cNvSpPr>
              <a:spLocks noChangeShapeType="1"/>
            </p:cNvSpPr>
            <p:nvPr/>
          </p:nvSpPr>
          <p:spPr bwMode="auto">
            <a:xfrm flipH="1" flipV="1">
              <a:off x="3456" y="2208"/>
              <a:ext cx="384"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tr-TR"/>
            </a:p>
          </p:txBody>
        </p:sp>
      </p:grpSp>
    </p:spTree>
    <p:extLst>
      <p:ext uri="{BB962C8B-B14F-4D97-AF65-F5344CB8AC3E}">
        <p14:creationId xmlns:p14="http://schemas.microsoft.com/office/powerpoint/2010/main" val="1870581357"/>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Pointer Operators</a:t>
            </a:r>
            <a:r>
              <a:rPr lang="tr-TR" altLang="tr-TR" dirty="0"/>
              <a:t> – c</a:t>
            </a:r>
            <a:r>
              <a:rPr lang="en-US" altLang="tr-TR" dirty="0"/>
              <a:t>o</a:t>
            </a:r>
            <a:r>
              <a:rPr lang="tr-TR" altLang="tr-TR" dirty="0" err="1"/>
              <a:t>nt</a:t>
            </a:r>
            <a:r>
              <a:rPr lang="tr-TR" altLang="tr-TR" dirty="0"/>
              <a:t>. </a:t>
            </a:r>
            <a:endParaRPr lang="tr-TR" dirty="0"/>
          </a:p>
        </p:txBody>
      </p:sp>
      <p:sp>
        <p:nvSpPr>
          <p:cNvPr id="3" name="Content Placeholder 2"/>
          <p:cNvSpPr>
            <a:spLocks noGrp="1"/>
          </p:cNvSpPr>
          <p:nvPr>
            <p:ph idx="1"/>
          </p:nvPr>
        </p:nvSpPr>
        <p:spPr/>
        <p:txBody>
          <a:bodyPr/>
          <a:lstStyle/>
          <a:p>
            <a:r>
              <a:rPr lang="en-US" altLang="tr-TR" sz="2600" dirty="0">
                <a:latin typeface="Lucida Console" panose="020B0609040504020204" pitchFamily="49" charset="0"/>
              </a:rPr>
              <a:t>*</a:t>
            </a:r>
            <a:r>
              <a:rPr lang="en-US" altLang="tr-TR" dirty="0"/>
              <a:t> (indirection/dereferencing operator)</a:t>
            </a:r>
          </a:p>
          <a:p>
            <a:pPr lvl="4"/>
            <a:endParaRPr lang="tr-TR" altLang="tr-TR" sz="1000" dirty="0" smtClean="0"/>
          </a:p>
          <a:p>
            <a:pPr lvl="1"/>
            <a:r>
              <a:rPr lang="en-US" altLang="tr-TR" dirty="0" smtClean="0"/>
              <a:t>Returns </a:t>
            </a:r>
            <a:r>
              <a:rPr lang="en-US" altLang="tr-TR" dirty="0"/>
              <a:t>a synonym/alias of what its operand points to</a:t>
            </a:r>
          </a:p>
          <a:p>
            <a:pPr lvl="4"/>
            <a:endParaRPr lang="tr-TR" altLang="tr-TR" sz="1400" dirty="0" smtClean="0">
              <a:latin typeface="Lucida Console" panose="020B0609040504020204" pitchFamily="49" charset="0"/>
            </a:endParaRPr>
          </a:p>
          <a:p>
            <a:pPr lvl="1"/>
            <a:r>
              <a:rPr lang="en-US" altLang="tr-TR" sz="2000" dirty="0" smtClean="0">
                <a:latin typeface="Lucida Console" panose="020B0609040504020204" pitchFamily="49" charset="0"/>
              </a:rPr>
              <a:t>*</a:t>
            </a:r>
            <a:r>
              <a:rPr lang="en-US" altLang="tr-TR" sz="2000" dirty="0" err="1">
                <a:latin typeface="Lucida Console" panose="020B0609040504020204" pitchFamily="49" charset="0"/>
              </a:rPr>
              <a:t>yptr</a:t>
            </a:r>
            <a:r>
              <a:rPr lang="en-US" altLang="tr-TR" dirty="0"/>
              <a:t> returns </a:t>
            </a:r>
            <a:r>
              <a:rPr lang="en-US" altLang="tr-TR" sz="2000" dirty="0">
                <a:latin typeface="Lucida Console" panose="020B0609040504020204" pitchFamily="49" charset="0"/>
              </a:rPr>
              <a:t>y</a:t>
            </a:r>
            <a:r>
              <a:rPr lang="en-US" altLang="tr-TR" dirty="0"/>
              <a:t> (because </a:t>
            </a:r>
            <a:r>
              <a:rPr lang="en-US" altLang="tr-TR" sz="2000" dirty="0" err="1">
                <a:latin typeface="Lucida Console" panose="020B0609040504020204" pitchFamily="49" charset="0"/>
              </a:rPr>
              <a:t>yptr</a:t>
            </a:r>
            <a:r>
              <a:rPr lang="en-US" altLang="tr-TR" dirty="0"/>
              <a:t> points to</a:t>
            </a:r>
            <a:r>
              <a:rPr lang="en-US" altLang="tr-TR" sz="2000" dirty="0"/>
              <a:t> </a:t>
            </a:r>
            <a:r>
              <a:rPr lang="en-US" altLang="tr-TR" sz="2000" dirty="0">
                <a:latin typeface="Lucida Console" panose="020B0609040504020204" pitchFamily="49" charset="0"/>
              </a:rPr>
              <a:t>y</a:t>
            </a:r>
            <a:r>
              <a:rPr lang="en-US" altLang="tr-TR" dirty="0"/>
              <a:t>)</a:t>
            </a:r>
          </a:p>
          <a:p>
            <a:pPr lvl="4"/>
            <a:endParaRPr lang="tr-TR" altLang="tr-TR" sz="1400" dirty="0" smtClean="0">
              <a:latin typeface="Lucida Console" panose="020B0609040504020204" pitchFamily="49" charset="0"/>
            </a:endParaRPr>
          </a:p>
          <a:p>
            <a:pPr lvl="1"/>
            <a:r>
              <a:rPr lang="en-US" altLang="tr-TR" sz="2000" dirty="0" smtClean="0">
                <a:latin typeface="Lucida Console" panose="020B0609040504020204" pitchFamily="49" charset="0"/>
              </a:rPr>
              <a:t>*</a:t>
            </a:r>
            <a:r>
              <a:rPr lang="en-US" altLang="tr-TR" dirty="0" smtClean="0"/>
              <a:t> </a:t>
            </a:r>
            <a:r>
              <a:rPr lang="en-US" altLang="tr-TR" dirty="0"/>
              <a:t>can be used for assignment </a:t>
            </a:r>
          </a:p>
          <a:p>
            <a:pPr lvl="2"/>
            <a:r>
              <a:rPr lang="en-US" altLang="tr-TR" dirty="0"/>
              <a:t>Returns alias to an object</a:t>
            </a:r>
          </a:p>
          <a:p>
            <a:pPr lvl="3">
              <a:buFontTx/>
              <a:buNone/>
            </a:pPr>
            <a:r>
              <a:rPr lang="en-US" altLang="tr-TR" dirty="0">
                <a:latin typeface="Lucida Console" panose="020B0609040504020204" pitchFamily="49" charset="0"/>
              </a:rPr>
              <a:t>*</a:t>
            </a:r>
            <a:r>
              <a:rPr lang="en-US" altLang="tr-TR" dirty="0" err="1">
                <a:latin typeface="Lucida Console" panose="020B0609040504020204" pitchFamily="49" charset="0"/>
              </a:rPr>
              <a:t>yptr</a:t>
            </a:r>
            <a:r>
              <a:rPr lang="en-US" altLang="tr-TR" dirty="0">
                <a:latin typeface="Lucida Console" panose="020B0609040504020204" pitchFamily="49" charset="0"/>
              </a:rPr>
              <a:t> = 7;  /* changes y to 7 */</a:t>
            </a:r>
          </a:p>
          <a:p>
            <a:endParaRPr lang="tr-TR" altLang="tr-TR" sz="2600" dirty="0" smtClean="0">
              <a:latin typeface="Lucida Console" panose="020B0609040504020204" pitchFamily="49" charset="0"/>
            </a:endParaRPr>
          </a:p>
          <a:p>
            <a:endParaRPr lang="en-US" altLang="tr-TR" sz="2600" dirty="0">
              <a:latin typeface="Lucida Console" panose="020B0609040504020204" pitchFamily="49" charset="0"/>
            </a:endParaRPr>
          </a:p>
          <a:p>
            <a:r>
              <a:rPr lang="en-US" altLang="tr-TR" sz="2600" dirty="0">
                <a:latin typeface="Lucida Console" panose="020B0609040504020204" pitchFamily="49" charset="0"/>
              </a:rPr>
              <a:t>*</a:t>
            </a:r>
            <a:r>
              <a:rPr lang="en-US" altLang="tr-TR" dirty="0"/>
              <a:t> and </a:t>
            </a:r>
            <a:r>
              <a:rPr lang="en-US" altLang="tr-TR" sz="2600" dirty="0">
                <a:latin typeface="Lucida Console" panose="020B0609040504020204" pitchFamily="49" charset="0"/>
              </a:rPr>
              <a:t>&amp;</a:t>
            </a:r>
            <a:r>
              <a:rPr lang="en-US" altLang="tr-TR" dirty="0"/>
              <a:t> are inverses </a:t>
            </a:r>
          </a:p>
          <a:p>
            <a:pPr lvl="4"/>
            <a:endParaRPr lang="tr-TR" altLang="tr-TR" sz="1000" dirty="0" smtClean="0"/>
          </a:p>
          <a:p>
            <a:pPr lvl="1"/>
            <a:r>
              <a:rPr lang="en-US" altLang="tr-TR" dirty="0" smtClean="0"/>
              <a:t>They </a:t>
            </a:r>
            <a:r>
              <a:rPr lang="en-US" altLang="tr-TR" dirty="0"/>
              <a:t>cancel each other out</a:t>
            </a:r>
          </a:p>
          <a:p>
            <a:endParaRPr lang="tr-TR"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39</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8084562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p:txBody>
          <a:bodyPr/>
          <a:lstStyle/>
          <a:p>
            <a:r>
              <a:rPr lang="en-US" altLang="tr-TR"/>
              <a:t>Variable parameters</a:t>
            </a:r>
          </a:p>
        </p:txBody>
      </p:sp>
      <p:sp>
        <p:nvSpPr>
          <p:cNvPr id="83971" name="Rectangle 3"/>
          <p:cNvSpPr>
            <a:spLocks noGrp="1" noChangeArrowheads="1"/>
          </p:cNvSpPr>
          <p:nvPr>
            <p:ph type="body" idx="4294967295"/>
          </p:nvPr>
        </p:nvSpPr>
        <p:spPr/>
        <p:txBody>
          <a:bodyPr rtlCol="0">
            <a:normAutofit/>
          </a:bodyPr>
          <a:lstStyle/>
          <a:p>
            <a:pPr fontAlgn="auto">
              <a:spcAft>
                <a:spcPts val="0"/>
              </a:spcAft>
              <a:defRPr/>
            </a:pPr>
            <a:r>
              <a:rPr lang="en-US" dirty="0"/>
              <a:t>Converting a value parameter to a variable parameter is easy.</a:t>
            </a:r>
          </a:p>
          <a:p>
            <a:pPr fontAlgn="auto">
              <a:spcAft>
                <a:spcPts val="0"/>
              </a:spcAft>
              <a:defRPr/>
            </a:pPr>
            <a:endParaRPr lang="en-US" dirty="0"/>
          </a:p>
          <a:p>
            <a:pPr lvl="1" fontAlgn="auto">
              <a:spcAft>
                <a:spcPts val="0"/>
              </a:spcAft>
              <a:buNone/>
              <a:defRPr/>
            </a:pPr>
            <a:endParaRPr lang="en-US" b="1" dirty="0">
              <a:solidFill>
                <a:srgbClr val="0000C8"/>
              </a:solidFill>
              <a:latin typeface="Courier New" pitchFamily="49" charset="0"/>
            </a:endParaRPr>
          </a:p>
          <a:p>
            <a:pPr lvl="1" fontAlgn="auto">
              <a:spcAft>
                <a:spcPts val="0"/>
              </a:spcAft>
              <a:buNone/>
              <a:defRPr/>
            </a:pPr>
            <a:r>
              <a:rPr lang="en-US" b="1" dirty="0">
                <a:solidFill>
                  <a:srgbClr val="0000C8"/>
                </a:solidFill>
                <a:latin typeface="Courier New" pitchFamily="49" charset="0"/>
              </a:rPr>
              <a:t>void </a:t>
            </a:r>
            <a:r>
              <a:rPr lang="en-US" b="1" dirty="0" err="1">
                <a:solidFill>
                  <a:srgbClr val="0000C8"/>
                </a:solidFill>
                <a:latin typeface="Courier New" pitchFamily="49" charset="0"/>
              </a:rPr>
              <a:t>func</a:t>
            </a:r>
            <a:r>
              <a:rPr lang="en-US" b="1" dirty="0">
                <a:solidFill>
                  <a:srgbClr val="0000C8"/>
                </a:solidFill>
                <a:latin typeface="Courier New" pitchFamily="49" charset="0"/>
              </a:rPr>
              <a:t>(</a:t>
            </a:r>
            <a:r>
              <a:rPr lang="en-US" b="1" dirty="0" err="1">
                <a:solidFill>
                  <a:srgbClr val="0000C8"/>
                </a:solidFill>
                <a:latin typeface="Courier New" pitchFamily="49" charset="0"/>
              </a:rPr>
              <a:t>int</a:t>
            </a:r>
            <a:r>
              <a:rPr lang="en-US" b="1" dirty="0">
                <a:solidFill>
                  <a:srgbClr val="0000C8"/>
                </a:solidFill>
                <a:latin typeface="Courier New" pitchFamily="49" charset="0"/>
              </a:rPr>
              <a:t>  </a:t>
            </a:r>
            <a:r>
              <a:rPr lang="en-US" b="1" dirty="0" err="1">
                <a:solidFill>
                  <a:srgbClr val="0000C8"/>
                </a:solidFill>
                <a:latin typeface="Courier New" pitchFamily="49" charset="0"/>
              </a:rPr>
              <a:t>num</a:t>
            </a:r>
            <a:r>
              <a:rPr lang="en-US" b="1" dirty="0">
                <a:solidFill>
                  <a:srgbClr val="0000C8"/>
                </a:solidFill>
                <a:latin typeface="Courier New" pitchFamily="49" charset="0"/>
              </a:rPr>
              <a:t>)</a:t>
            </a:r>
          </a:p>
          <a:p>
            <a:pPr lvl="1" fontAlgn="auto">
              <a:spcBef>
                <a:spcPct val="0"/>
              </a:spcBef>
              <a:spcAft>
                <a:spcPts val="0"/>
              </a:spcAft>
              <a:buNone/>
              <a:defRPr/>
            </a:pPr>
            <a:r>
              <a:rPr lang="en-US" b="1" dirty="0">
                <a:solidFill>
                  <a:srgbClr val="0000C8"/>
                </a:solidFill>
                <a:latin typeface="Courier New" pitchFamily="49" charset="0"/>
              </a:rPr>
              <a:t>{   </a:t>
            </a:r>
            <a:r>
              <a:rPr lang="en-US" b="1" dirty="0" err="1">
                <a:solidFill>
                  <a:srgbClr val="0000C8"/>
                </a:solidFill>
                <a:latin typeface="Courier New" pitchFamily="49" charset="0"/>
              </a:rPr>
              <a:t>num</a:t>
            </a:r>
            <a:r>
              <a:rPr lang="en-US" b="1" dirty="0">
                <a:solidFill>
                  <a:srgbClr val="0000C8"/>
                </a:solidFill>
                <a:latin typeface="Courier New" pitchFamily="49" charset="0"/>
              </a:rPr>
              <a:t> = 5;</a:t>
            </a:r>
          </a:p>
          <a:p>
            <a:pPr lvl="1" fontAlgn="auto">
              <a:spcBef>
                <a:spcPct val="0"/>
              </a:spcBef>
              <a:spcAft>
                <a:spcPts val="0"/>
              </a:spcAft>
              <a:buNone/>
              <a:defRPr/>
            </a:pPr>
            <a:r>
              <a:rPr lang="en-US" b="1" dirty="0">
                <a:solidFill>
                  <a:srgbClr val="0000C8"/>
                </a:solidFill>
                <a:latin typeface="Courier New" pitchFamily="49" charset="0"/>
              </a:rPr>
              <a:t>}</a:t>
            </a:r>
          </a:p>
          <a:p>
            <a:pPr lvl="1" fontAlgn="auto">
              <a:spcAft>
                <a:spcPts val="0"/>
              </a:spcAft>
              <a:buNone/>
              <a:defRPr/>
            </a:pPr>
            <a:r>
              <a:rPr lang="en-US" b="1" dirty="0" err="1">
                <a:solidFill>
                  <a:srgbClr val="0000C8"/>
                </a:solidFill>
                <a:latin typeface="Courier New" pitchFamily="49" charset="0"/>
              </a:rPr>
              <a:t>int</a:t>
            </a:r>
            <a:r>
              <a:rPr lang="en-US" b="1" dirty="0">
                <a:solidFill>
                  <a:srgbClr val="0000C8"/>
                </a:solidFill>
                <a:latin typeface="Courier New" pitchFamily="49" charset="0"/>
              </a:rPr>
              <a:t> main()</a:t>
            </a:r>
          </a:p>
          <a:p>
            <a:pPr lvl="1" fontAlgn="auto">
              <a:spcBef>
                <a:spcPct val="0"/>
              </a:spcBef>
              <a:spcAft>
                <a:spcPts val="0"/>
              </a:spcAft>
              <a:buNone/>
              <a:defRPr/>
            </a:pPr>
            <a:r>
              <a:rPr lang="en-US" b="1" dirty="0">
                <a:solidFill>
                  <a:srgbClr val="0000C8"/>
                </a:solidFill>
                <a:latin typeface="Courier New" pitchFamily="49" charset="0"/>
              </a:rPr>
              <a:t>{  </a:t>
            </a:r>
            <a:r>
              <a:rPr lang="en-US" b="1" dirty="0" err="1">
                <a:solidFill>
                  <a:srgbClr val="0000C8"/>
                </a:solidFill>
                <a:latin typeface="Courier New" pitchFamily="49" charset="0"/>
              </a:rPr>
              <a:t>int</a:t>
            </a:r>
            <a:r>
              <a:rPr lang="en-US" b="1" dirty="0">
                <a:solidFill>
                  <a:srgbClr val="0000C8"/>
                </a:solidFill>
                <a:latin typeface="Courier New" pitchFamily="49" charset="0"/>
              </a:rPr>
              <a:t> count=10;</a:t>
            </a:r>
          </a:p>
          <a:p>
            <a:pPr lvl="1" fontAlgn="auto">
              <a:spcBef>
                <a:spcPct val="0"/>
              </a:spcBef>
              <a:spcAft>
                <a:spcPts val="0"/>
              </a:spcAft>
              <a:buNone/>
              <a:defRPr/>
            </a:pPr>
            <a:r>
              <a:rPr lang="en-US" b="1" dirty="0">
                <a:solidFill>
                  <a:srgbClr val="0000C8"/>
                </a:solidFill>
                <a:latin typeface="Courier New" pitchFamily="49" charset="0"/>
              </a:rPr>
              <a:t>   </a:t>
            </a:r>
            <a:r>
              <a:rPr lang="en-US" b="1" dirty="0" err="1">
                <a:solidFill>
                  <a:srgbClr val="0000C8"/>
                </a:solidFill>
                <a:latin typeface="Courier New" pitchFamily="49" charset="0"/>
              </a:rPr>
              <a:t>func</a:t>
            </a:r>
            <a:r>
              <a:rPr lang="en-US" b="1" dirty="0">
                <a:solidFill>
                  <a:srgbClr val="0000C8"/>
                </a:solidFill>
                <a:latin typeface="Courier New" pitchFamily="49" charset="0"/>
              </a:rPr>
              <a:t>( count);</a:t>
            </a:r>
          </a:p>
          <a:p>
            <a:pPr lvl="1" fontAlgn="auto">
              <a:spcBef>
                <a:spcPct val="0"/>
              </a:spcBef>
              <a:spcAft>
                <a:spcPts val="0"/>
              </a:spcAft>
              <a:buNone/>
              <a:defRPr/>
            </a:pPr>
            <a:r>
              <a:rPr lang="en-US" b="1" dirty="0">
                <a:solidFill>
                  <a:srgbClr val="0000C8"/>
                </a:solidFill>
                <a:latin typeface="Courier New" pitchFamily="49" charset="0"/>
              </a:rPr>
              <a:t>}</a:t>
            </a:r>
          </a:p>
        </p:txBody>
      </p:sp>
      <p:grpSp>
        <p:nvGrpSpPr>
          <p:cNvPr id="2" name="Group 12"/>
          <p:cNvGrpSpPr>
            <a:grpSpLocks/>
          </p:cNvGrpSpPr>
          <p:nvPr/>
        </p:nvGrpSpPr>
        <p:grpSpPr bwMode="auto">
          <a:xfrm>
            <a:off x="3054184" y="1780527"/>
            <a:ext cx="3505200" cy="874713"/>
            <a:chOff x="2454" y="1536"/>
            <a:chExt cx="2208" cy="551"/>
          </a:xfrm>
        </p:grpSpPr>
        <p:sp>
          <p:nvSpPr>
            <p:cNvPr id="28684" name="AutoShape 7"/>
            <p:cNvSpPr>
              <a:spLocks/>
            </p:cNvSpPr>
            <p:nvPr/>
          </p:nvSpPr>
          <p:spPr bwMode="auto">
            <a:xfrm>
              <a:off x="3444" y="1536"/>
              <a:ext cx="1218" cy="384"/>
            </a:xfrm>
            <a:prstGeom prst="borderCallout2">
              <a:avLst>
                <a:gd name="adj1" fmla="val 18750"/>
                <a:gd name="adj2" fmla="val -3940"/>
                <a:gd name="adj3" fmla="val 18750"/>
                <a:gd name="adj4" fmla="val -39981"/>
                <a:gd name="adj5" fmla="val 75000"/>
                <a:gd name="adj6" fmla="val -77338"/>
              </a:avLst>
            </a:prstGeom>
            <a:solidFill>
              <a:srgbClr val="FFFF99"/>
            </a:solidFill>
            <a:ln w="9525">
              <a:solidFill>
                <a:srgbClr val="FF0000"/>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sz="1600" dirty="0">
                  <a:solidFill>
                    <a:srgbClr val="FF0000"/>
                  </a:solidFill>
                </a:rPr>
                <a:t>Define the parameter as pointer</a:t>
              </a:r>
            </a:p>
          </p:txBody>
        </p:sp>
        <p:sp>
          <p:nvSpPr>
            <p:cNvPr id="28685" name="Text Box 9"/>
            <p:cNvSpPr txBox="1">
              <a:spLocks noChangeArrowheads="1"/>
            </p:cNvSpPr>
            <p:nvPr/>
          </p:nvSpPr>
          <p:spPr bwMode="auto">
            <a:xfrm>
              <a:off x="2454" y="1818"/>
              <a:ext cx="13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tr-TR" sz="2800" b="1">
                  <a:solidFill>
                    <a:srgbClr val="FF0000"/>
                  </a:solidFill>
                  <a:latin typeface="Courier New" panose="02070309020205020404" pitchFamily="49" charset="0"/>
                </a:rPr>
                <a:t>*</a:t>
              </a:r>
            </a:p>
          </p:txBody>
        </p:sp>
      </p:grpSp>
      <p:grpSp>
        <p:nvGrpSpPr>
          <p:cNvPr id="3" name="Group 13"/>
          <p:cNvGrpSpPr>
            <a:grpSpLocks/>
          </p:cNvGrpSpPr>
          <p:nvPr/>
        </p:nvGrpSpPr>
        <p:grpSpPr bwMode="auto">
          <a:xfrm>
            <a:off x="1196809" y="2549903"/>
            <a:ext cx="5362575" cy="1514475"/>
            <a:chOff x="990" y="2088"/>
            <a:chExt cx="3378" cy="954"/>
          </a:xfrm>
        </p:grpSpPr>
        <p:sp>
          <p:nvSpPr>
            <p:cNvPr id="28682" name="AutoShape 8"/>
            <p:cNvSpPr>
              <a:spLocks/>
            </p:cNvSpPr>
            <p:nvPr/>
          </p:nvSpPr>
          <p:spPr bwMode="auto">
            <a:xfrm>
              <a:off x="3000" y="2346"/>
              <a:ext cx="1368" cy="696"/>
            </a:xfrm>
            <a:prstGeom prst="borderCallout2">
              <a:avLst>
                <a:gd name="adj1" fmla="val 10343"/>
                <a:gd name="adj2" fmla="val -3509"/>
                <a:gd name="adj3" fmla="val 10343"/>
                <a:gd name="adj4" fmla="val -71639"/>
                <a:gd name="adj5" fmla="val -6898"/>
                <a:gd name="adj6" fmla="val -142106"/>
              </a:avLst>
            </a:prstGeom>
            <a:solidFill>
              <a:srgbClr val="FFFF99"/>
            </a:solidFill>
            <a:ln w="9525">
              <a:solidFill>
                <a:srgbClr val="FF0000"/>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sz="1400" dirty="0">
                  <a:solidFill>
                    <a:srgbClr val="FF0000"/>
                  </a:solidFill>
                </a:rPr>
                <a:t>Use '*' before the parameter name so that you access the value at the mentioned address</a:t>
              </a:r>
            </a:p>
          </p:txBody>
        </p:sp>
        <p:sp>
          <p:nvSpPr>
            <p:cNvPr id="28683" name="Text Box 10"/>
            <p:cNvSpPr txBox="1">
              <a:spLocks noChangeArrowheads="1"/>
            </p:cNvSpPr>
            <p:nvPr/>
          </p:nvSpPr>
          <p:spPr bwMode="auto">
            <a:xfrm>
              <a:off x="990" y="2088"/>
              <a:ext cx="13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tr-TR" sz="2800" b="1">
                  <a:solidFill>
                    <a:srgbClr val="FF0000"/>
                  </a:solidFill>
                  <a:latin typeface="Courier New" panose="02070309020205020404" pitchFamily="49" charset="0"/>
                </a:rPr>
                <a:t>*</a:t>
              </a:r>
            </a:p>
          </p:txBody>
        </p:sp>
      </p:grpSp>
      <p:grpSp>
        <p:nvGrpSpPr>
          <p:cNvPr id="4" name="Group 14"/>
          <p:cNvGrpSpPr>
            <a:grpSpLocks/>
          </p:cNvGrpSpPr>
          <p:nvPr/>
        </p:nvGrpSpPr>
        <p:grpSpPr bwMode="auto">
          <a:xfrm>
            <a:off x="2032000" y="3904041"/>
            <a:ext cx="3219450" cy="1143000"/>
            <a:chOff x="1644" y="3180"/>
            <a:chExt cx="2028" cy="720"/>
          </a:xfrm>
        </p:grpSpPr>
        <p:sp>
          <p:nvSpPr>
            <p:cNvPr id="28680" name="AutoShape 6"/>
            <p:cNvSpPr>
              <a:spLocks/>
            </p:cNvSpPr>
            <p:nvPr/>
          </p:nvSpPr>
          <p:spPr bwMode="auto">
            <a:xfrm>
              <a:off x="2628" y="3516"/>
              <a:ext cx="1044" cy="384"/>
            </a:xfrm>
            <a:prstGeom prst="borderCallout2">
              <a:avLst>
                <a:gd name="adj1" fmla="val 18750"/>
                <a:gd name="adj2" fmla="val -4597"/>
                <a:gd name="adj3" fmla="val 18750"/>
                <a:gd name="adj4" fmla="val -43773"/>
                <a:gd name="adj5" fmla="val -26565"/>
                <a:gd name="adj6" fmla="val -84481"/>
              </a:avLst>
            </a:prstGeom>
            <a:solidFill>
              <a:srgbClr val="FFFF99"/>
            </a:solidFill>
            <a:ln w="9525">
              <a:solidFill>
                <a:srgbClr val="FF0000"/>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tr-TR" sz="1600" dirty="0">
                  <a:solidFill>
                    <a:srgbClr val="FF0000"/>
                  </a:solidFill>
                </a:rPr>
                <a:t>Send the address of the argument</a:t>
              </a:r>
            </a:p>
          </p:txBody>
        </p:sp>
        <p:sp>
          <p:nvSpPr>
            <p:cNvPr id="28681" name="Text Box 11"/>
            <p:cNvSpPr txBox="1">
              <a:spLocks noChangeArrowheads="1"/>
            </p:cNvSpPr>
            <p:nvPr/>
          </p:nvSpPr>
          <p:spPr bwMode="auto">
            <a:xfrm>
              <a:off x="1644" y="3180"/>
              <a:ext cx="13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tr-TR" sz="2800" b="1" dirty="0">
                  <a:solidFill>
                    <a:srgbClr val="FF0000"/>
                  </a:solidFill>
                  <a:latin typeface="Courier New" panose="02070309020205020404" pitchFamily="49" charset="0"/>
                </a:rPr>
                <a:t>&amp;</a:t>
              </a:r>
            </a:p>
          </p:txBody>
        </p:sp>
      </p:grpSp>
      <p:sp>
        <p:nvSpPr>
          <p:cNvPr id="5" name="Slide Number Placeholder 4"/>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40</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2501958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p:txBody>
          <a:bodyPr/>
          <a:lstStyle/>
          <a:p>
            <a:r>
              <a:rPr lang="en-US" altLang="tr-TR"/>
              <a:t>Call by reference</a:t>
            </a:r>
          </a:p>
        </p:txBody>
      </p:sp>
      <p:sp>
        <p:nvSpPr>
          <p:cNvPr id="88067" name="Rectangle 3"/>
          <p:cNvSpPr>
            <a:spLocks noGrp="1" noChangeArrowheads="1"/>
          </p:cNvSpPr>
          <p:nvPr>
            <p:ph type="body" idx="4294967295"/>
          </p:nvPr>
        </p:nvSpPr>
        <p:spPr/>
        <p:txBody>
          <a:bodyPr/>
          <a:lstStyle/>
          <a:p>
            <a:pPr>
              <a:lnSpc>
                <a:spcPct val="90000"/>
              </a:lnSpc>
            </a:pPr>
            <a:r>
              <a:rPr lang="en-US" altLang="tr-TR" sz="2800" dirty="0"/>
              <a:t>The idea is very simple actually:</a:t>
            </a:r>
          </a:p>
          <a:p>
            <a:pPr lvl="1">
              <a:lnSpc>
                <a:spcPct val="90000"/>
              </a:lnSpc>
            </a:pPr>
            <a:r>
              <a:rPr lang="en-US" altLang="tr-TR" sz="2400" dirty="0"/>
              <a:t>When a function terminates everything inside the stack entry for that function is erased.</a:t>
            </a:r>
          </a:p>
          <a:p>
            <a:pPr lvl="4">
              <a:lnSpc>
                <a:spcPct val="90000"/>
              </a:lnSpc>
            </a:pPr>
            <a:endParaRPr lang="tr-TR" altLang="tr-TR" sz="1800" dirty="0" smtClean="0"/>
          </a:p>
          <a:p>
            <a:pPr lvl="4">
              <a:lnSpc>
                <a:spcPct val="90000"/>
              </a:lnSpc>
            </a:pPr>
            <a:endParaRPr lang="en-US" altLang="tr-TR" sz="1800" dirty="0"/>
          </a:p>
          <a:p>
            <a:pPr lvl="1">
              <a:lnSpc>
                <a:spcPct val="90000"/>
              </a:lnSpc>
            </a:pPr>
            <a:r>
              <a:rPr lang="en-US" altLang="tr-TR" sz="2400" dirty="0"/>
              <a:t>Therefore, if you want the changes to remain </a:t>
            </a:r>
            <a:r>
              <a:rPr lang="en-US" altLang="tr-TR" sz="2400" b="1" u="sng" dirty="0"/>
              <a:t>after</a:t>
            </a:r>
            <a:r>
              <a:rPr lang="en-US" altLang="tr-TR" sz="2400" dirty="0"/>
              <a:t> the function call, you should make the change outside the function's stack entry.</a:t>
            </a:r>
          </a:p>
          <a:p>
            <a:pPr lvl="4">
              <a:lnSpc>
                <a:spcPct val="90000"/>
              </a:lnSpc>
            </a:pPr>
            <a:endParaRPr lang="tr-TR" altLang="tr-TR" sz="1800" dirty="0" smtClean="0"/>
          </a:p>
          <a:p>
            <a:pPr lvl="4">
              <a:lnSpc>
                <a:spcPct val="90000"/>
              </a:lnSpc>
            </a:pPr>
            <a:endParaRPr lang="en-US" altLang="tr-TR" sz="1800" dirty="0"/>
          </a:p>
          <a:p>
            <a:pPr lvl="1">
              <a:lnSpc>
                <a:spcPct val="90000"/>
              </a:lnSpc>
            </a:pPr>
            <a:r>
              <a:rPr lang="en-US" altLang="tr-TR" sz="2400" dirty="0"/>
              <a:t>Here is what you do:</a:t>
            </a:r>
          </a:p>
          <a:p>
            <a:pPr lvl="4">
              <a:lnSpc>
                <a:spcPct val="90000"/>
              </a:lnSpc>
            </a:pPr>
            <a:endParaRPr lang="tr-TR" altLang="tr-TR" sz="800" dirty="0" smtClean="0"/>
          </a:p>
          <a:p>
            <a:pPr lvl="2">
              <a:lnSpc>
                <a:spcPct val="90000"/>
              </a:lnSpc>
            </a:pPr>
            <a:r>
              <a:rPr lang="en-US" altLang="tr-TR" dirty="0" smtClean="0"/>
              <a:t>At </a:t>
            </a:r>
            <a:r>
              <a:rPr lang="en-US" altLang="tr-TR" dirty="0"/>
              <a:t>the caller instead of sending the value, send the reference (address), i.e. a pointer.</a:t>
            </a:r>
          </a:p>
          <a:p>
            <a:pPr lvl="4">
              <a:lnSpc>
                <a:spcPct val="90000"/>
              </a:lnSpc>
            </a:pPr>
            <a:endParaRPr lang="tr-TR" altLang="tr-TR" sz="1200" dirty="0" smtClean="0"/>
          </a:p>
          <a:p>
            <a:pPr lvl="2">
              <a:lnSpc>
                <a:spcPct val="90000"/>
              </a:lnSpc>
            </a:pPr>
            <a:r>
              <a:rPr lang="en-US" altLang="tr-TR" dirty="0" smtClean="0"/>
              <a:t>At </a:t>
            </a:r>
            <a:r>
              <a:rPr lang="en-US" altLang="tr-TR" dirty="0"/>
              <a:t>the </a:t>
            </a:r>
            <a:r>
              <a:rPr lang="en-US" altLang="tr-TR" dirty="0" err="1"/>
              <a:t>callee</a:t>
            </a:r>
            <a:r>
              <a:rPr lang="en-US" altLang="tr-TR" dirty="0"/>
              <a:t>, receive the address (i.e., define the parameter as a pointer).</a:t>
            </a:r>
          </a:p>
          <a:p>
            <a:pPr lvl="4">
              <a:lnSpc>
                <a:spcPct val="90000"/>
              </a:lnSpc>
            </a:pPr>
            <a:endParaRPr lang="tr-TR" altLang="tr-TR" sz="1200" dirty="0" smtClean="0"/>
          </a:p>
          <a:p>
            <a:pPr lvl="2">
              <a:lnSpc>
                <a:spcPct val="90000"/>
              </a:lnSpc>
            </a:pPr>
            <a:r>
              <a:rPr lang="en-US" altLang="tr-TR" dirty="0" smtClean="0"/>
              <a:t>Inside </a:t>
            </a:r>
            <a:r>
              <a:rPr lang="en-US" altLang="tr-TR" dirty="0"/>
              <a:t>the </a:t>
            </a:r>
            <a:r>
              <a:rPr lang="en-US" altLang="tr-TR" dirty="0" err="1"/>
              <a:t>callee</a:t>
            </a:r>
            <a:r>
              <a:rPr lang="en-US" altLang="tr-TR" dirty="0"/>
              <a:t>, use a de-</a:t>
            </a:r>
            <a:r>
              <a:rPr lang="en-US" altLang="tr-TR" dirty="0" err="1"/>
              <a:t>referencer</a:t>
            </a:r>
            <a:r>
              <a:rPr lang="en-US" altLang="tr-TR" dirty="0"/>
              <a:t> ('*') with the parameter name since the parameter contains the address, not the value.</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41</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09713988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8067">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8067">
                                            <p:txEl>
                                              <p:pRg st="7" end="7"/>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8067">
                                            <p:txEl>
                                              <p:pRg st="9" end="9"/>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8067">
                                            <p:txEl>
                                              <p:pRg st="11" end="1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806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p:txBody>
          <a:bodyPr/>
          <a:lstStyle/>
          <a:p>
            <a:r>
              <a:rPr lang="en-US" altLang="tr-TR"/>
              <a:t>Call by reference</a:t>
            </a:r>
          </a:p>
        </p:txBody>
      </p:sp>
      <p:sp>
        <p:nvSpPr>
          <p:cNvPr id="30723" name="Rectangle 3"/>
          <p:cNvSpPr>
            <a:spLocks noGrp="1" noChangeArrowheads="1"/>
          </p:cNvSpPr>
          <p:nvPr>
            <p:ph type="body" idx="4294967295"/>
          </p:nvPr>
        </p:nvSpPr>
        <p:spPr/>
        <p:txBody>
          <a:bodyPr/>
          <a:lstStyle/>
          <a:p>
            <a:r>
              <a:rPr lang="en-US" altLang="tr-TR" dirty="0"/>
              <a:t>This is why:</a:t>
            </a:r>
          </a:p>
          <a:p>
            <a:pPr lvl="4"/>
            <a:endParaRPr lang="tr-TR" altLang="tr-TR" dirty="0" smtClean="0"/>
          </a:p>
          <a:p>
            <a:pPr lvl="1"/>
            <a:r>
              <a:rPr lang="en-US" altLang="tr-TR" dirty="0" smtClean="0"/>
              <a:t>"</a:t>
            </a:r>
            <a:r>
              <a:rPr lang="en-US" altLang="tr-TR" dirty="0"/>
              <a:t>using value parameters" is also called "call by value"</a:t>
            </a:r>
          </a:p>
          <a:p>
            <a:pPr lvl="4"/>
            <a:endParaRPr lang="tr-TR" altLang="tr-TR" dirty="0" smtClean="0"/>
          </a:p>
          <a:p>
            <a:pPr lvl="1"/>
            <a:r>
              <a:rPr lang="en-US" altLang="tr-TR" dirty="0" smtClean="0"/>
              <a:t>"</a:t>
            </a:r>
            <a:r>
              <a:rPr lang="en-US" altLang="tr-TR" dirty="0"/>
              <a:t>using variable parameters" is also called "call by reference"</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42</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322748089"/>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p:txBody>
          <a:bodyPr/>
          <a:lstStyle/>
          <a:p>
            <a:r>
              <a:rPr lang="en-US" altLang="tr-TR"/>
              <a:t>Variable parameters</a:t>
            </a:r>
          </a:p>
        </p:txBody>
      </p:sp>
      <p:sp>
        <p:nvSpPr>
          <p:cNvPr id="31747" name="Rectangle 3"/>
          <p:cNvSpPr>
            <a:spLocks noGrp="1" noChangeArrowheads="1"/>
          </p:cNvSpPr>
          <p:nvPr>
            <p:ph type="body" idx="4294967295"/>
          </p:nvPr>
        </p:nvSpPr>
        <p:spPr>
          <a:xfrm>
            <a:off x="1801503" y="1219201"/>
            <a:ext cx="5943600" cy="3078163"/>
          </a:xfrm>
        </p:spPr>
        <p:txBody>
          <a:bodyPr/>
          <a:lstStyle/>
          <a:p>
            <a:pPr>
              <a:lnSpc>
                <a:spcPct val="80000"/>
              </a:lnSpc>
              <a:buFontTx/>
              <a:buNone/>
            </a:pPr>
            <a:r>
              <a:rPr lang="en-US" altLang="tr-TR" sz="1400" dirty="0">
                <a:solidFill>
                  <a:srgbClr val="0000C8"/>
                </a:solidFill>
                <a:latin typeface="Consolas" panose="020B0609020204030204" pitchFamily="49" charset="0"/>
              </a:rPr>
              <a:t>#include &lt;</a:t>
            </a:r>
            <a:r>
              <a:rPr lang="en-US" altLang="tr-TR" sz="1400" dirty="0" err="1">
                <a:solidFill>
                  <a:srgbClr val="0000C8"/>
                </a:solidFill>
                <a:latin typeface="Consolas" panose="020B0609020204030204" pitchFamily="49" charset="0"/>
              </a:rPr>
              <a:t>stdio.h</a:t>
            </a:r>
            <a:r>
              <a:rPr lang="en-US" altLang="tr-TR" sz="1400" dirty="0">
                <a:solidFill>
                  <a:srgbClr val="0000C8"/>
                </a:solidFill>
                <a:latin typeface="Consolas" panose="020B0609020204030204" pitchFamily="49" charset="0"/>
              </a:rPr>
              <a:t>&gt;</a:t>
            </a:r>
          </a:p>
          <a:p>
            <a:pPr>
              <a:lnSpc>
                <a:spcPct val="80000"/>
              </a:lnSpc>
              <a:buFontTx/>
              <a:buNone/>
            </a:pPr>
            <a:endParaRPr lang="en-US" altLang="tr-TR" sz="1400" dirty="0">
              <a:solidFill>
                <a:srgbClr val="0000C8"/>
              </a:solidFill>
              <a:latin typeface="Consolas" panose="020B0609020204030204" pitchFamily="49" charset="0"/>
            </a:endParaRPr>
          </a:p>
          <a:p>
            <a:pPr>
              <a:lnSpc>
                <a:spcPct val="80000"/>
              </a:lnSpc>
              <a:buFontTx/>
              <a:buNone/>
            </a:pPr>
            <a:r>
              <a:rPr lang="en-US" altLang="tr-TR" sz="1400" dirty="0">
                <a:solidFill>
                  <a:srgbClr val="0000C8"/>
                </a:solidFill>
                <a:latin typeface="Consolas" panose="020B0609020204030204" pitchFamily="49" charset="0"/>
              </a:rPr>
              <a:t>void f(</a:t>
            </a:r>
            <a:r>
              <a:rPr lang="en-US" altLang="tr-TR" sz="1400" dirty="0" err="1">
                <a:solidFill>
                  <a:srgbClr val="0000C8"/>
                </a:solidFill>
                <a:latin typeface="Consolas" panose="020B0609020204030204" pitchFamily="49" charset="0"/>
              </a:rPr>
              <a:t>int</a:t>
            </a:r>
            <a:r>
              <a:rPr lang="en-US" altLang="tr-TR" sz="1400" dirty="0">
                <a:solidFill>
                  <a:srgbClr val="0000C8"/>
                </a:solidFill>
                <a:latin typeface="Consolas" panose="020B0609020204030204" pitchFamily="49" charset="0"/>
              </a:rPr>
              <a:t> </a:t>
            </a:r>
            <a:r>
              <a:rPr lang="en-US" altLang="tr-TR" sz="1400" dirty="0">
                <a:solidFill>
                  <a:srgbClr val="FF0000"/>
                </a:solidFill>
                <a:latin typeface="Consolas" panose="020B0609020204030204" pitchFamily="49" charset="0"/>
              </a:rPr>
              <a:t>*</a:t>
            </a:r>
            <a:r>
              <a:rPr lang="en-US" altLang="tr-TR" sz="1400" dirty="0">
                <a:solidFill>
                  <a:srgbClr val="0000C8"/>
                </a:solidFill>
                <a:latin typeface="Consolas" panose="020B0609020204030204" pitchFamily="49" charset="0"/>
              </a:rPr>
              <a:t>a)</a:t>
            </a:r>
          </a:p>
          <a:p>
            <a:pPr>
              <a:lnSpc>
                <a:spcPct val="80000"/>
              </a:lnSpc>
              <a:buFontTx/>
              <a:buNone/>
            </a:pPr>
            <a:r>
              <a:rPr lang="en-US" altLang="tr-TR" sz="1400" dirty="0">
                <a:solidFill>
                  <a:srgbClr val="0000C8"/>
                </a:solidFill>
                <a:latin typeface="Consolas" panose="020B0609020204030204" pitchFamily="49" charset="0"/>
              </a:rPr>
              <a:t>{</a:t>
            </a:r>
          </a:p>
          <a:p>
            <a:pPr>
              <a:lnSpc>
                <a:spcPct val="80000"/>
              </a:lnSpc>
              <a:buFontTx/>
              <a:buNone/>
            </a:pPr>
            <a:r>
              <a:rPr lang="en-US" altLang="tr-TR" sz="1400" dirty="0">
                <a:solidFill>
                  <a:srgbClr val="0000C8"/>
                </a:solidFill>
                <a:latin typeface="Consolas" panose="020B0609020204030204" pitchFamily="49" charset="0"/>
              </a:rPr>
              <a:t>   </a:t>
            </a:r>
            <a:r>
              <a:rPr lang="en-US" altLang="tr-TR" sz="1400" dirty="0">
                <a:solidFill>
                  <a:srgbClr val="FF0000"/>
                </a:solidFill>
                <a:latin typeface="Consolas" panose="020B0609020204030204" pitchFamily="49" charset="0"/>
              </a:rPr>
              <a:t>*</a:t>
            </a:r>
            <a:r>
              <a:rPr lang="en-US" altLang="tr-TR" sz="1400" dirty="0">
                <a:solidFill>
                  <a:srgbClr val="0000C8"/>
                </a:solidFill>
                <a:latin typeface="Consolas" panose="020B0609020204030204" pitchFamily="49" charset="0"/>
              </a:rPr>
              <a:t>a+=5;</a:t>
            </a:r>
          </a:p>
          <a:p>
            <a:pPr>
              <a:lnSpc>
                <a:spcPct val="80000"/>
              </a:lnSpc>
              <a:buFontTx/>
              <a:buNone/>
            </a:pPr>
            <a:r>
              <a:rPr lang="en-US" altLang="tr-TR" sz="1400" dirty="0">
                <a:solidFill>
                  <a:srgbClr val="0000C8"/>
                </a:solidFill>
                <a:latin typeface="Consolas" panose="020B0609020204030204" pitchFamily="49" charset="0"/>
              </a:rPr>
              <a:t>   </a:t>
            </a:r>
            <a:r>
              <a:rPr lang="en-US" altLang="tr-TR" sz="1400" dirty="0" err="1">
                <a:solidFill>
                  <a:srgbClr val="0000C8"/>
                </a:solidFill>
                <a:latin typeface="Consolas" panose="020B0609020204030204" pitchFamily="49" charset="0"/>
              </a:rPr>
              <a:t>printf</a:t>
            </a:r>
            <a:r>
              <a:rPr lang="en-US" altLang="tr-TR" sz="1400" dirty="0">
                <a:solidFill>
                  <a:srgbClr val="0000C8"/>
                </a:solidFill>
                <a:latin typeface="Consolas" panose="020B0609020204030204" pitchFamily="49" charset="0"/>
              </a:rPr>
              <a:t>("in function f(): a=%d\n", </a:t>
            </a:r>
            <a:r>
              <a:rPr lang="en-US" altLang="tr-TR" sz="1400" dirty="0">
                <a:solidFill>
                  <a:srgbClr val="FF0000"/>
                </a:solidFill>
                <a:latin typeface="Consolas" panose="020B0609020204030204" pitchFamily="49" charset="0"/>
              </a:rPr>
              <a:t>*</a:t>
            </a:r>
            <a:r>
              <a:rPr lang="en-US" altLang="tr-TR" sz="1400" dirty="0">
                <a:solidFill>
                  <a:srgbClr val="0000C8"/>
                </a:solidFill>
                <a:latin typeface="Consolas" panose="020B0609020204030204" pitchFamily="49" charset="0"/>
              </a:rPr>
              <a:t>a);</a:t>
            </a:r>
          </a:p>
          <a:p>
            <a:pPr>
              <a:lnSpc>
                <a:spcPct val="80000"/>
              </a:lnSpc>
              <a:buFontTx/>
              <a:buNone/>
            </a:pPr>
            <a:r>
              <a:rPr lang="en-US" altLang="tr-TR" sz="1400" dirty="0">
                <a:solidFill>
                  <a:srgbClr val="0000C8"/>
                </a:solidFill>
                <a:latin typeface="Consolas" panose="020B0609020204030204" pitchFamily="49" charset="0"/>
              </a:rPr>
              <a:t>}</a:t>
            </a:r>
          </a:p>
          <a:p>
            <a:pPr>
              <a:lnSpc>
                <a:spcPct val="80000"/>
              </a:lnSpc>
              <a:buFontTx/>
              <a:buNone/>
            </a:pPr>
            <a:endParaRPr lang="en-US" altLang="tr-TR" sz="1400" dirty="0">
              <a:solidFill>
                <a:srgbClr val="0000C8"/>
              </a:solidFill>
              <a:latin typeface="Consolas" panose="020B0609020204030204" pitchFamily="49" charset="0"/>
            </a:endParaRPr>
          </a:p>
          <a:p>
            <a:pPr>
              <a:lnSpc>
                <a:spcPct val="80000"/>
              </a:lnSpc>
              <a:buFontTx/>
              <a:buNone/>
            </a:pPr>
            <a:r>
              <a:rPr lang="en-US" altLang="tr-TR" sz="1400" dirty="0" err="1">
                <a:solidFill>
                  <a:srgbClr val="0000C8"/>
                </a:solidFill>
                <a:latin typeface="Consolas" panose="020B0609020204030204" pitchFamily="49" charset="0"/>
              </a:rPr>
              <a:t>int</a:t>
            </a:r>
            <a:r>
              <a:rPr lang="en-US" altLang="tr-TR" sz="1400" dirty="0">
                <a:solidFill>
                  <a:srgbClr val="0000C8"/>
                </a:solidFill>
                <a:latin typeface="Consolas" panose="020B0609020204030204" pitchFamily="49" charset="0"/>
              </a:rPr>
              <a:t> main()</a:t>
            </a:r>
          </a:p>
          <a:p>
            <a:pPr>
              <a:lnSpc>
                <a:spcPct val="80000"/>
              </a:lnSpc>
              <a:buFontTx/>
              <a:buNone/>
            </a:pPr>
            <a:r>
              <a:rPr lang="en-US" altLang="tr-TR" sz="1400" dirty="0">
                <a:solidFill>
                  <a:srgbClr val="0000C8"/>
                </a:solidFill>
                <a:latin typeface="Consolas" panose="020B0609020204030204" pitchFamily="49" charset="0"/>
              </a:rPr>
              <a:t>{  </a:t>
            </a:r>
            <a:r>
              <a:rPr lang="en-US" altLang="tr-TR" sz="1400" dirty="0" err="1">
                <a:solidFill>
                  <a:srgbClr val="0000C8"/>
                </a:solidFill>
                <a:latin typeface="Consolas" panose="020B0609020204030204" pitchFamily="49" charset="0"/>
              </a:rPr>
              <a:t>int</a:t>
            </a:r>
            <a:r>
              <a:rPr lang="en-US" altLang="tr-TR" sz="1400" dirty="0">
                <a:solidFill>
                  <a:srgbClr val="0000C8"/>
                </a:solidFill>
                <a:latin typeface="Consolas" panose="020B0609020204030204" pitchFamily="49" charset="0"/>
              </a:rPr>
              <a:t> a=10;</a:t>
            </a:r>
          </a:p>
          <a:p>
            <a:pPr>
              <a:lnSpc>
                <a:spcPct val="80000"/>
              </a:lnSpc>
              <a:buFontTx/>
              <a:buNone/>
            </a:pPr>
            <a:r>
              <a:rPr lang="en-US" altLang="tr-TR" sz="1400" dirty="0">
                <a:solidFill>
                  <a:srgbClr val="0000C8"/>
                </a:solidFill>
                <a:latin typeface="Consolas" panose="020B0609020204030204" pitchFamily="49" charset="0"/>
              </a:rPr>
              <a:t>   </a:t>
            </a:r>
            <a:r>
              <a:rPr lang="en-US" altLang="tr-TR" sz="1400" dirty="0" err="1">
                <a:solidFill>
                  <a:srgbClr val="0000C8"/>
                </a:solidFill>
                <a:latin typeface="Consolas" panose="020B0609020204030204" pitchFamily="49" charset="0"/>
              </a:rPr>
              <a:t>printf</a:t>
            </a:r>
            <a:r>
              <a:rPr lang="en-US" altLang="tr-TR" sz="1400" dirty="0">
                <a:solidFill>
                  <a:srgbClr val="0000C8"/>
                </a:solidFill>
                <a:latin typeface="Consolas" panose="020B0609020204030204" pitchFamily="49" charset="0"/>
              </a:rPr>
              <a:t>("in main(), before calling f(): a=%d\</a:t>
            </a:r>
            <a:r>
              <a:rPr lang="en-US" altLang="tr-TR" sz="1400" dirty="0" err="1">
                <a:solidFill>
                  <a:srgbClr val="0000C8"/>
                </a:solidFill>
                <a:latin typeface="Consolas" panose="020B0609020204030204" pitchFamily="49" charset="0"/>
              </a:rPr>
              <a:t>n",a</a:t>
            </a:r>
            <a:r>
              <a:rPr lang="en-US" altLang="tr-TR" sz="1400" dirty="0">
                <a:solidFill>
                  <a:srgbClr val="0000C8"/>
                </a:solidFill>
                <a:latin typeface="Consolas" panose="020B0609020204030204" pitchFamily="49" charset="0"/>
              </a:rPr>
              <a:t>);</a:t>
            </a:r>
          </a:p>
          <a:p>
            <a:pPr>
              <a:lnSpc>
                <a:spcPct val="80000"/>
              </a:lnSpc>
              <a:buFontTx/>
              <a:buNone/>
            </a:pPr>
            <a:r>
              <a:rPr lang="en-US" altLang="tr-TR" sz="1400" dirty="0">
                <a:solidFill>
                  <a:srgbClr val="0000C8"/>
                </a:solidFill>
                <a:latin typeface="Consolas" panose="020B0609020204030204" pitchFamily="49" charset="0"/>
              </a:rPr>
              <a:t>   f(</a:t>
            </a:r>
            <a:r>
              <a:rPr lang="en-US" altLang="tr-TR" sz="1400" dirty="0">
                <a:solidFill>
                  <a:srgbClr val="FF0000"/>
                </a:solidFill>
                <a:latin typeface="Consolas" panose="020B0609020204030204" pitchFamily="49" charset="0"/>
              </a:rPr>
              <a:t>&amp;</a:t>
            </a:r>
            <a:r>
              <a:rPr lang="en-US" altLang="tr-TR" sz="1400" dirty="0">
                <a:solidFill>
                  <a:srgbClr val="0000C8"/>
                </a:solidFill>
                <a:latin typeface="Consolas" panose="020B0609020204030204" pitchFamily="49" charset="0"/>
              </a:rPr>
              <a:t>a);</a:t>
            </a:r>
          </a:p>
          <a:p>
            <a:pPr>
              <a:lnSpc>
                <a:spcPct val="80000"/>
              </a:lnSpc>
              <a:buFontTx/>
              <a:buNone/>
            </a:pPr>
            <a:r>
              <a:rPr lang="en-US" altLang="tr-TR" sz="1400" dirty="0">
                <a:solidFill>
                  <a:srgbClr val="0000C8"/>
                </a:solidFill>
                <a:latin typeface="Consolas" panose="020B0609020204030204" pitchFamily="49" charset="0"/>
              </a:rPr>
              <a:t>   </a:t>
            </a:r>
            <a:r>
              <a:rPr lang="en-US" altLang="tr-TR" sz="1400" dirty="0" err="1">
                <a:solidFill>
                  <a:srgbClr val="0000C8"/>
                </a:solidFill>
                <a:latin typeface="Consolas" panose="020B0609020204030204" pitchFamily="49" charset="0"/>
              </a:rPr>
              <a:t>printf</a:t>
            </a:r>
            <a:r>
              <a:rPr lang="en-US" altLang="tr-TR" sz="1400" dirty="0">
                <a:solidFill>
                  <a:srgbClr val="0000C8"/>
                </a:solidFill>
                <a:latin typeface="Consolas" panose="020B0609020204030204" pitchFamily="49" charset="0"/>
              </a:rPr>
              <a:t>("in main(), after calling f(): a=%d\</a:t>
            </a:r>
            <a:r>
              <a:rPr lang="en-US" altLang="tr-TR" sz="1400" dirty="0" err="1">
                <a:solidFill>
                  <a:srgbClr val="0000C8"/>
                </a:solidFill>
                <a:latin typeface="Consolas" panose="020B0609020204030204" pitchFamily="49" charset="0"/>
              </a:rPr>
              <a:t>n",a</a:t>
            </a:r>
            <a:r>
              <a:rPr lang="en-US" altLang="tr-TR" sz="1400" dirty="0">
                <a:solidFill>
                  <a:srgbClr val="0000C8"/>
                </a:solidFill>
                <a:latin typeface="Consolas" panose="020B0609020204030204" pitchFamily="49" charset="0"/>
              </a:rPr>
              <a:t>);</a:t>
            </a:r>
          </a:p>
          <a:p>
            <a:pPr>
              <a:lnSpc>
                <a:spcPct val="80000"/>
              </a:lnSpc>
              <a:buFontTx/>
              <a:buNone/>
            </a:pPr>
            <a:r>
              <a:rPr lang="en-US" altLang="tr-TR" sz="1400" dirty="0">
                <a:solidFill>
                  <a:srgbClr val="0000C8"/>
                </a:solidFill>
                <a:latin typeface="Consolas" panose="020B0609020204030204" pitchFamily="49" charset="0"/>
              </a:rPr>
              <a:t>}</a:t>
            </a:r>
          </a:p>
        </p:txBody>
      </p:sp>
      <p:grpSp>
        <p:nvGrpSpPr>
          <p:cNvPr id="2" name="Group 4"/>
          <p:cNvGrpSpPr>
            <a:grpSpLocks/>
          </p:cNvGrpSpPr>
          <p:nvPr/>
        </p:nvGrpSpPr>
        <p:grpSpPr bwMode="auto">
          <a:xfrm>
            <a:off x="8839201" y="2514600"/>
            <a:ext cx="1508125" cy="3003550"/>
            <a:chOff x="4608" y="1584"/>
            <a:chExt cx="950" cy="1892"/>
          </a:xfrm>
        </p:grpSpPr>
        <p:grpSp>
          <p:nvGrpSpPr>
            <p:cNvPr id="31782" name="Group 5"/>
            <p:cNvGrpSpPr>
              <a:grpSpLocks/>
            </p:cNvGrpSpPr>
            <p:nvPr/>
          </p:nvGrpSpPr>
          <p:grpSpPr bwMode="auto">
            <a:xfrm>
              <a:off x="4608" y="1584"/>
              <a:ext cx="950" cy="1728"/>
              <a:chOff x="4608" y="1584"/>
              <a:chExt cx="950" cy="1728"/>
            </a:xfrm>
          </p:grpSpPr>
          <p:sp>
            <p:nvSpPr>
              <p:cNvPr id="31784" name="Line 6"/>
              <p:cNvSpPr>
                <a:spLocks noChangeShapeType="1"/>
              </p:cNvSpPr>
              <p:nvPr/>
            </p:nvSpPr>
            <p:spPr bwMode="auto">
              <a:xfrm>
                <a:off x="4608" y="1584"/>
                <a:ext cx="0" cy="17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31785" name="Line 7"/>
              <p:cNvSpPr>
                <a:spLocks noChangeShapeType="1"/>
              </p:cNvSpPr>
              <p:nvPr/>
            </p:nvSpPr>
            <p:spPr bwMode="auto">
              <a:xfrm>
                <a:off x="5558" y="1584"/>
                <a:ext cx="0" cy="17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31786" name="Line 8"/>
              <p:cNvSpPr>
                <a:spLocks noChangeShapeType="1"/>
              </p:cNvSpPr>
              <p:nvPr/>
            </p:nvSpPr>
            <p:spPr bwMode="auto">
              <a:xfrm>
                <a:off x="4608" y="3312"/>
                <a:ext cx="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grpSp>
        <p:sp>
          <p:nvSpPr>
            <p:cNvPr id="31783" name="Text Box 9"/>
            <p:cNvSpPr txBox="1">
              <a:spLocks noChangeArrowheads="1"/>
            </p:cNvSpPr>
            <p:nvPr/>
          </p:nvSpPr>
          <p:spPr bwMode="auto">
            <a:xfrm>
              <a:off x="4867" y="3302"/>
              <a:ext cx="49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tr-TR"/>
                <a:t>Stack</a:t>
              </a:r>
            </a:p>
          </p:txBody>
        </p:sp>
      </p:grpSp>
      <p:grpSp>
        <p:nvGrpSpPr>
          <p:cNvPr id="4" name="Group 10"/>
          <p:cNvGrpSpPr>
            <a:grpSpLocks/>
          </p:cNvGrpSpPr>
          <p:nvPr/>
        </p:nvGrpSpPr>
        <p:grpSpPr bwMode="auto">
          <a:xfrm>
            <a:off x="8245475" y="4389437"/>
            <a:ext cx="2101850" cy="873124"/>
            <a:chOff x="4234" y="2765"/>
            <a:chExt cx="1324" cy="550"/>
          </a:xfrm>
        </p:grpSpPr>
        <p:grpSp>
          <p:nvGrpSpPr>
            <p:cNvPr id="31775" name="Group 11"/>
            <p:cNvGrpSpPr>
              <a:grpSpLocks/>
            </p:cNvGrpSpPr>
            <p:nvPr/>
          </p:nvGrpSpPr>
          <p:grpSpPr bwMode="auto">
            <a:xfrm>
              <a:off x="4234" y="2765"/>
              <a:ext cx="1324" cy="550"/>
              <a:chOff x="4234" y="2765"/>
              <a:chExt cx="1324" cy="550"/>
            </a:xfrm>
          </p:grpSpPr>
          <p:sp>
            <p:nvSpPr>
              <p:cNvPr id="31777" name="Text Box 12"/>
              <p:cNvSpPr txBox="1">
                <a:spLocks noChangeArrowheads="1"/>
              </p:cNvSpPr>
              <p:nvPr/>
            </p:nvSpPr>
            <p:spPr bwMode="auto">
              <a:xfrm>
                <a:off x="4234" y="2966"/>
                <a:ext cx="316"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a:spcBef>
                    <a:spcPct val="50000"/>
                  </a:spcBef>
                </a:pPr>
                <a:r>
                  <a:rPr lang="en-US" altLang="tr-TR"/>
                  <a:t>main()</a:t>
                </a:r>
              </a:p>
            </p:txBody>
          </p:sp>
          <p:grpSp>
            <p:nvGrpSpPr>
              <p:cNvPr id="31778" name="Group 13"/>
              <p:cNvGrpSpPr>
                <a:grpSpLocks/>
              </p:cNvGrpSpPr>
              <p:nvPr/>
            </p:nvGrpSpPr>
            <p:grpSpPr bwMode="auto">
              <a:xfrm>
                <a:off x="4867" y="2938"/>
                <a:ext cx="403" cy="203"/>
                <a:chOff x="2218" y="3398"/>
                <a:chExt cx="403" cy="203"/>
              </a:xfrm>
            </p:grpSpPr>
            <p:sp>
              <p:nvSpPr>
                <p:cNvPr id="31780" name="Text Box 14"/>
                <p:cNvSpPr txBox="1">
                  <a:spLocks noChangeArrowheads="1"/>
                </p:cNvSpPr>
                <p:nvPr/>
              </p:nvSpPr>
              <p:spPr bwMode="auto">
                <a:xfrm>
                  <a:off x="2218" y="3427"/>
                  <a:ext cx="11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tr-TR"/>
                    <a:t>a</a:t>
                  </a:r>
                </a:p>
              </p:txBody>
            </p:sp>
            <p:sp>
              <p:nvSpPr>
                <p:cNvPr id="31781" name="Rectangle 15"/>
                <p:cNvSpPr>
                  <a:spLocks noChangeArrowheads="1"/>
                </p:cNvSpPr>
                <p:nvPr/>
              </p:nvSpPr>
              <p:spPr bwMode="auto">
                <a:xfrm>
                  <a:off x="2333" y="3398"/>
                  <a:ext cx="288" cy="202"/>
                </a:xfrm>
                <a:prstGeom prst="rect">
                  <a:avLst/>
                </a:prstGeom>
                <a:solidFill>
                  <a:srgbClr val="FFFF99"/>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tr-TR" altLang="tr-TR"/>
                </a:p>
              </p:txBody>
            </p:sp>
          </p:grpSp>
          <p:sp>
            <p:nvSpPr>
              <p:cNvPr id="31779" name="Line 16"/>
              <p:cNvSpPr>
                <a:spLocks noChangeShapeType="1"/>
              </p:cNvSpPr>
              <p:nvPr/>
            </p:nvSpPr>
            <p:spPr bwMode="auto">
              <a:xfrm>
                <a:off x="4608" y="2765"/>
                <a:ext cx="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grpSp>
        <p:sp>
          <p:nvSpPr>
            <p:cNvPr id="31776" name="Text Box 17"/>
            <p:cNvSpPr txBox="1">
              <a:spLocks noChangeArrowheads="1"/>
            </p:cNvSpPr>
            <p:nvPr/>
          </p:nvSpPr>
          <p:spPr bwMode="auto">
            <a:xfrm>
              <a:off x="5040" y="2994"/>
              <a:ext cx="14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tr-TR" sz="1200" b="1">
                  <a:solidFill>
                    <a:srgbClr val="0000C8"/>
                  </a:solidFill>
                </a:rPr>
                <a:t>10</a:t>
              </a:r>
            </a:p>
          </p:txBody>
        </p:sp>
      </p:grpSp>
      <p:grpSp>
        <p:nvGrpSpPr>
          <p:cNvPr id="7" name="Group 27"/>
          <p:cNvGrpSpPr>
            <a:grpSpLocks/>
          </p:cNvGrpSpPr>
          <p:nvPr/>
        </p:nvGrpSpPr>
        <p:grpSpPr bwMode="auto">
          <a:xfrm>
            <a:off x="2255838" y="4510089"/>
            <a:ext cx="5211762" cy="2073275"/>
            <a:chOff x="461" y="2841"/>
            <a:chExt cx="3283" cy="1306"/>
          </a:xfrm>
        </p:grpSpPr>
        <p:sp>
          <p:nvSpPr>
            <p:cNvPr id="31773" name="Rectangle 28"/>
            <p:cNvSpPr>
              <a:spLocks noChangeArrowheads="1"/>
            </p:cNvSpPr>
            <p:nvPr/>
          </p:nvSpPr>
          <p:spPr bwMode="auto">
            <a:xfrm>
              <a:off x="461" y="2995"/>
              <a:ext cx="3283" cy="1152"/>
            </a:xfrm>
            <a:prstGeom prst="rect">
              <a:avLst/>
            </a:prstGeom>
            <a:solidFill>
              <a:srgbClr val="CCFFCC"/>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tr-TR" altLang="tr-TR"/>
            </a:p>
          </p:txBody>
        </p:sp>
        <p:sp>
          <p:nvSpPr>
            <p:cNvPr id="31774" name="Text Box 29"/>
            <p:cNvSpPr txBox="1">
              <a:spLocks noChangeArrowheads="1"/>
            </p:cNvSpPr>
            <p:nvPr/>
          </p:nvSpPr>
          <p:spPr bwMode="auto">
            <a:xfrm>
              <a:off x="1728" y="2841"/>
              <a:ext cx="6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tr-TR"/>
                <a:t>OUTPUT</a:t>
              </a:r>
            </a:p>
          </p:txBody>
        </p:sp>
      </p:grpSp>
      <p:sp>
        <p:nvSpPr>
          <p:cNvPr id="87070" name="Text Box 30"/>
          <p:cNvSpPr txBox="1">
            <a:spLocks noChangeArrowheads="1"/>
          </p:cNvSpPr>
          <p:nvPr/>
        </p:nvSpPr>
        <p:spPr bwMode="auto">
          <a:xfrm>
            <a:off x="2530475" y="4951027"/>
            <a:ext cx="4387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tr-TR" b="1"/>
              <a:t>in main(), before calling f(): a=10</a:t>
            </a:r>
          </a:p>
        </p:txBody>
      </p:sp>
      <p:sp>
        <p:nvSpPr>
          <p:cNvPr id="87071" name="Line 31"/>
          <p:cNvSpPr>
            <a:spLocks noChangeShapeType="1"/>
          </p:cNvSpPr>
          <p:nvPr/>
        </p:nvSpPr>
        <p:spPr bwMode="auto">
          <a:xfrm>
            <a:off x="1752601" y="3475038"/>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87072" name="Text Box 32"/>
          <p:cNvSpPr txBox="1">
            <a:spLocks noChangeArrowheads="1"/>
          </p:cNvSpPr>
          <p:nvPr/>
        </p:nvSpPr>
        <p:spPr bwMode="auto">
          <a:xfrm>
            <a:off x="2530475" y="5225664"/>
            <a:ext cx="4387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tr-TR" b="1"/>
              <a:t>in function f(): a=15</a:t>
            </a:r>
          </a:p>
        </p:txBody>
      </p:sp>
      <p:sp>
        <p:nvSpPr>
          <p:cNvPr id="87073" name="Line 33"/>
          <p:cNvSpPr>
            <a:spLocks noChangeShapeType="1"/>
          </p:cNvSpPr>
          <p:nvPr/>
        </p:nvSpPr>
        <p:spPr bwMode="auto">
          <a:xfrm>
            <a:off x="1752601" y="2413000"/>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87074" name="Text Box 34"/>
          <p:cNvSpPr txBox="1">
            <a:spLocks noChangeArrowheads="1"/>
          </p:cNvSpPr>
          <p:nvPr/>
        </p:nvSpPr>
        <p:spPr bwMode="auto">
          <a:xfrm>
            <a:off x="2530475" y="5498714"/>
            <a:ext cx="4387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tr-TR" b="1"/>
              <a:t>in main(), after calling f(): a=</a:t>
            </a:r>
            <a:r>
              <a:rPr lang="en-US" altLang="tr-TR" b="1">
                <a:solidFill>
                  <a:srgbClr val="FF0000"/>
                </a:solidFill>
              </a:rPr>
              <a:t>15</a:t>
            </a:r>
          </a:p>
        </p:txBody>
      </p:sp>
      <p:sp>
        <p:nvSpPr>
          <p:cNvPr id="87075" name="Line 35"/>
          <p:cNvSpPr>
            <a:spLocks noChangeShapeType="1"/>
          </p:cNvSpPr>
          <p:nvPr/>
        </p:nvSpPr>
        <p:spPr bwMode="auto">
          <a:xfrm>
            <a:off x="1752601" y="3886200"/>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87076" name="Line 36"/>
          <p:cNvSpPr>
            <a:spLocks noChangeShapeType="1"/>
          </p:cNvSpPr>
          <p:nvPr/>
        </p:nvSpPr>
        <p:spPr bwMode="auto">
          <a:xfrm>
            <a:off x="1752601" y="3675063"/>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87077" name="Line 37"/>
          <p:cNvSpPr>
            <a:spLocks noChangeShapeType="1"/>
          </p:cNvSpPr>
          <p:nvPr/>
        </p:nvSpPr>
        <p:spPr bwMode="auto">
          <a:xfrm>
            <a:off x="1752601" y="3254375"/>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87078" name="Line 38"/>
          <p:cNvSpPr>
            <a:spLocks noChangeShapeType="1"/>
          </p:cNvSpPr>
          <p:nvPr/>
        </p:nvSpPr>
        <p:spPr bwMode="auto">
          <a:xfrm>
            <a:off x="1752601" y="2193925"/>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87079" name="Line 39"/>
          <p:cNvSpPr>
            <a:spLocks noChangeShapeType="1"/>
          </p:cNvSpPr>
          <p:nvPr/>
        </p:nvSpPr>
        <p:spPr bwMode="auto">
          <a:xfrm>
            <a:off x="1752601" y="1984375"/>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87080" name="Line 40"/>
          <p:cNvSpPr>
            <a:spLocks noChangeShapeType="1"/>
          </p:cNvSpPr>
          <p:nvPr/>
        </p:nvSpPr>
        <p:spPr bwMode="auto">
          <a:xfrm>
            <a:off x="1752601" y="2622550"/>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sp>
        <p:nvSpPr>
          <p:cNvPr id="87081" name="Line 41"/>
          <p:cNvSpPr>
            <a:spLocks noChangeShapeType="1"/>
          </p:cNvSpPr>
          <p:nvPr/>
        </p:nvSpPr>
        <p:spPr bwMode="auto">
          <a:xfrm>
            <a:off x="1752601" y="4105275"/>
            <a:ext cx="411163" cy="0"/>
          </a:xfrm>
          <a:prstGeom prst="line">
            <a:avLst/>
          </a:prstGeom>
          <a:noFill/>
          <a:ln w="50800">
            <a:solidFill>
              <a:srgbClr val="FF0000"/>
            </a:solidFill>
            <a:round/>
            <a:headEnd/>
            <a:tailEnd type="arrow" w="sm" len="med"/>
          </a:ln>
          <a:extLst>
            <a:ext uri="{909E8E84-426E-40DD-AFC4-6F175D3DCCD1}">
              <a14:hiddenFill xmlns:a14="http://schemas.microsoft.com/office/drawing/2010/main">
                <a:noFill/>
              </a14:hiddenFill>
            </a:ext>
          </a:extLst>
        </p:spPr>
        <p:txBody>
          <a:bodyPr/>
          <a:lstStyle/>
          <a:p>
            <a:endParaRPr lang="tr-TR"/>
          </a:p>
        </p:txBody>
      </p:sp>
      <p:grpSp>
        <p:nvGrpSpPr>
          <p:cNvPr id="8" name="Group 44"/>
          <p:cNvGrpSpPr>
            <a:grpSpLocks/>
          </p:cNvGrpSpPr>
          <p:nvPr/>
        </p:nvGrpSpPr>
        <p:grpSpPr bwMode="auto">
          <a:xfrm>
            <a:off x="8245475" y="3565525"/>
            <a:ext cx="2101850" cy="1068388"/>
            <a:chOff x="4234" y="2246"/>
            <a:chExt cx="1324" cy="673"/>
          </a:xfrm>
        </p:grpSpPr>
        <p:grpSp>
          <p:nvGrpSpPr>
            <p:cNvPr id="31766" name="Group 19"/>
            <p:cNvGrpSpPr>
              <a:grpSpLocks/>
            </p:cNvGrpSpPr>
            <p:nvPr/>
          </p:nvGrpSpPr>
          <p:grpSpPr bwMode="auto">
            <a:xfrm>
              <a:off x="4234" y="2246"/>
              <a:ext cx="1324" cy="347"/>
              <a:chOff x="4234" y="2246"/>
              <a:chExt cx="1324" cy="347"/>
            </a:xfrm>
          </p:grpSpPr>
          <p:sp>
            <p:nvSpPr>
              <p:cNvPr id="31768" name="Text Box 20"/>
              <p:cNvSpPr txBox="1">
                <a:spLocks noChangeArrowheads="1"/>
              </p:cNvSpPr>
              <p:nvPr/>
            </p:nvSpPr>
            <p:spPr bwMode="auto">
              <a:xfrm>
                <a:off x="4234" y="2419"/>
                <a:ext cx="31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a:spcBef>
                    <a:spcPct val="50000"/>
                  </a:spcBef>
                </a:pPr>
                <a:r>
                  <a:rPr lang="en-US" altLang="tr-TR"/>
                  <a:t>f()</a:t>
                </a:r>
              </a:p>
            </p:txBody>
          </p:sp>
          <p:sp>
            <p:nvSpPr>
              <p:cNvPr id="31769" name="Line 21"/>
              <p:cNvSpPr>
                <a:spLocks noChangeShapeType="1"/>
              </p:cNvSpPr>
              <p:nvPr/>
            </p:nvSpPr>
            <p:spPr bwMode="auto">
              <a:xfrm>
                <a:off x="4608" y="2246"/>
                <a:ext cx="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grpSp>
            <p:nvGrpSpPr>
              <p:cNvPr id="31770" name="Group 22"/>
              <p:cNvGrpSpPr>
                <a:grpSpLocks/>
              </p:cNvGrpSpPr>
              <p:nvPr/>
            </p:nvGrpSpPr>
            <p:grpSpPr bwMode="auto">
              <a:xfrm>
                <a:off x="4867" y="2390"/>
                <a:ext cx="403" cy="203"/>
                <a:chOff x="2218" y="3398"/>
                <a:chExt cx="403" cy="203"/>
              </a:xfrm>
            </p:grpSpPr>
            <p:sp>
              <p:nvSpPr>
                <p:cNvPr id="31771" name="Text Box 23"/>
                <p:cNvSpPr txBox="1">
                  <a:spLocks noChangeArrowheads="1"/>
                </p:cNvSpPr>
                <p:nvPr/>
              </p:nvSpPr>
              <p:spPr bwMode="auto">
                <a:xfrm>
                  <a:off x="2218" y="3427"/>
                  <a:ext cx="11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tr-TR"/>
                    <a:t>a</a:t>
                  </a:r>
                </a:p>
              </p:txBody>
            </p:sp>
            <p:sp>
              <p:nvSpPr>
                <p:cNvPr id="31772" name="Rectangle 24"/>
                <p:cNvSpPr>
                  <a:spLocks noChangeArrowheads="1"/>
                </p:cNvSpPr>
                <p:nvPr/>
              </p:nvSpPr>
              <p:spPr bwMode="auto">
                <a:xfrm>
                  <a:off x="2333" y="3398"/>
                  <a:ext cx="288" cy="202"/>
                </a:xfrm>
                <a:prstGeom prst="rect">
                  <a:avLst/>
                </a:prstGeom>
                <a:solidFill>
                  <a:srgbClr val="FFFF99"/>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tr-TR" altLang="tr-TR"/>
                </a:p>
              </p:txBody>
            </p:sp>
          </p:grpSp>
        </p:grpSp>
        <p:sp>
          <p:nvSpPr>
            <p:cNvPr id="31767" name="Arc 43"/>
            <p:cNvSpPr>
              <a:spLocks/>
            </p:cNvSpPr>
            <p:nvPr/>
          </p:nvSpPr>
          <p:spPr bwMode="auto">
            <a:xfrm flipH="1">
              <a:off x="4986" y="2516"/>
              <a:ext cx="132" cy="40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type="oval"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tr-TR"/>
            </a:p>
          </p:txBody>
        </p:sp>
      </p:grpSp>
      <p:sp>
        <p:nvSpPr>
          <p:cNvPr id="87085" name="Text Box 45"/>
          <p:cNvSpPr txBox="1">
            <a:spLocks noChangeArrowheads="1"/>
          </p:cNvSpPr>
          <p:nvPr/>
        </p:nvSpPr>
        <p:spPr bwMode="auto">
          <a:xfrm>
            <a:off x="9534525" y="4742399"/>
            <a:ext cx="228600" cy="184666"/>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50000"/>
              </a:spcBef>
            </a:pPr>
            <a:r>
              <a:rPr lang="en-US" altLang="tr-TR" sz="1200" b="1">
                <a:solidFill>
                  <a:srgbClr val="FF0000"/>
                </a:solidFill>
              </a:rPr>
              <a:t>15</a:t>
            </a:r>
          </a:p>
        </p:txBody>
      </p:sp>
      <p:sp>
        <p:nvSpPr>
          <p:cNvPr id="3" name="Slide Number Placeholder 2"/>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43</a:t>
            </a:fld>
            <a:endParaRPr lang="en-US" altLang="tr-TR">
              <a:ea typeface="ＭＳ Ｐゴシック" panose="020B0600070205080204" pitchFamily="34" charset="-128"/>
            </a:endParaRPr>
          </a:p>
        </p:txBody>
      </p:sp>
      <p:pic>
        <p:nvPicPr>
          <p:cNvPr id="5" name="Picture 4" descr="C:\Users\agaoglu\agaoglu-docs\courses-recent\computer-programming\cse1142-2019-2020-2\source-codes-c\functions\C23_55_varParam.ex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0226" y="944565"/>
            <a:ext cx="4115374" cy="163852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175651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8707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nodeType="clickEffect">
                                  <p:stCondLst>
                                    <p:cond delay="0"/>
                                  </p:stCondLst>
                                  <p:childTnLst>
                                    <p:set>
                                      <p:cBhvr>
                                        <p:cTn id="18" dur="1" fill="hold">
                                          <p:stCondLst>
                                            <p:cond delay="0"/>
                                          </p:stCondLst>
                                        </p:cTn>
                                        <p:tgtEl>
                                          <p:spTgt spid="87077"/>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8707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707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xit" presetSubtype="0" fill="hold" nodeType="clickEffect">
                                  <p:stCondLst>
                                    <p:cond delay="0"/>
                                  </p:stCondLst>
                                  <p:childTnLst>
                                    <p:set>
                                      <p:cBhvr>
                                        <p:cTn id="26" dur="1" fill="hold">
                                          <p:stCondLst>
                                            <p:cond delay="0"/>
                                          </p:stCondLst>
                                        </p:cTn>
                                        <p:tgtEl>
                                          <p:spTgt spid="87071"/>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87076"/>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xit" presetSubtype="0" fill="hold" nodeType="clickEffect">
                                  <p:stCondLst>
                                    <p:cond delay="0"/>
                                  </p:stCondLst>
                                  <p:childTnLst>
                                    <p:set>
                                      <p:cBhvr>
                                        <p:cTn id="32" dur="1" fill="hold">
                                          <p:stCondLst>
                                            <p:cond delay="0"/>
                                          </p:stCondLst>
                                        </p:cTn>
                                        <p:tgtEl>
                                          <p:spTgt spid="87076"/>
                                        </p:tgtEl>
                                        <p:attrNameLst>
                                          <p:attrName>style.visibility</p:attrName>
                                        </p:attrNameLst>
                                      </p:cBhvr>
                                      <p:to>
                                        <p:strVal val="hidden"/>
                                      </p:to>
                                    </p:set>
                                  </p:childTnLst>
                                </p:cTn>
                              </p:par>
                              <p:par>
                                <p:cTn id="33" presetID="1" presetClass="entr" presetSubtype="0" fill="hold" nodeType="withEffect">
                                  <p:stCondLst>
                                    <p:cond delay="0"/>
                                  </p:stCondLst>
                                  <p:childTnLst>
                                    <p:set>
                                      <p:cBhvr>
                                        <p:cTn id="34" dur="1" fill="hold">
                                          <p:stCondLst>
                                            <p:cond delay="0"/>
                                          </p:stCondLst>
                                        </p:cTn>
                                        <p:tgtEl>
                                          <p:spTgt spid="8707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xit" presetSubtype="0" fill="hold" nodeType="clickEffect">
                                  <p:stCondLst>
                                    <p:cond delay="0"/>
                                  </p:stCondLst>
                                  <p:childTnLst>
                                    <p:set>
                                      <p:cBhvr>
                                        <p:cTn id="40" dur="1" fill="hold">
                                          <p:stCondLst>
                                            <p:cond delay="0"/>
                                          </p:stCondLst>
                                        </p:cTn>
                                        <p:tgtEl>
                                          <p:spTgt spid="87079"/>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8707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7085"/>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xit" presetSubtype="0" fill="hold" nodeType="clickEffect">
                                  <p:stCondLst>
                                    <p:cond delay="0"/>
                                  </p:stCondLst>
                                  <p:childTnLst>
                                    <p:set>
                                      <p:cBhvr>
                                        <p:cTn id="48" dur="1" fill="hold">
                                          <p:stCondLst>
                                            <p:cond delay="0"/>
                                          </p:stCondLst>
                                        </p:cTn>
                                        <p:tgtEl>
                                          <p:spTgt spid="87078"/>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8707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7073"/>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xit" presetSubtype="0" fill="hold" nodeType="clickEffect">
                                  <p:stCondLst>
                                    <p:cond delay="0"/>
                                  </p:stCondLst>
                                  <p:childTnLst>
                                    <p:set>
                                      <p:cBhvr>
                                        <p:cTn id="56" dur="1" fill="hold">
                                          <p:stCondLst>
                                            <p:cond delay="0"/>
                                          </p:stCondLst>
                                        </p:cTn>
                                        <p:tgtEl>
                                          <p:spTgt spid="87073"/>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87080"/>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xit" presetSubtype="0" fill="hold" nodeType="clickEffect">
                                  <p:stCondLst>
                                    <p:cond delay="0"/>
                                  </p:stCondLst>
                                  <p:childTnLst>
                                    <p:set>
                                      <p:cBhvr>
                                        <p:cTn id="62" dur="1" fill="hold">
                                          <p:stCondLst>
                                            <p:cond delay="0"/>
                                          </p:stCondLst>
                                        </p:cTn>
                                        <p:tgtEl>
                                          <p:spTgt spid="87080"/>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8707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7074"/>
                                        </p:tgtEl>
                                        <p:attrNameLst>
                                          <p:attrName>style.visibility</p:attrName>
                                        </p:attrNameLst>
                                      </p:cBhvr>
                                      <p:to>
                                        <p:strVal val="visible"/>
                                      </p:to>
                                    </p:set>
                                  </p:childTnLst>
                                </p:cTn>
                              </p:par>
                              <p:par>
                                <p:cTn id="67" presetID="1" presetClass="exit" presetSubtype="0" fill="hold" nodeType="withEffect">
                                  <p:stCondLst>
                                    <p:cond delay="0"/>
                                  </p:stCondLst>
                                  <p:childTnLst>
                                    <p:set>
                                      <p:cBhvr>
                                        <p:cTn id="68" dur="1" fill="hold">
                                          <p:stCondLst>
                                            <p:cond delay="0"/>
                                          </p:stCondLst>
                                        </p:cTn>
                                        <p:tgtEl>
                                          <p:spTgt spid="8"/>
                                        </p:tgtEl>
                                        <p:attrNameLst>
                                          <p:attrName>style.visibility</p:attrName>
                                        </p:attrNameLst>
                                      </p:cBhvr>
                                      <p:to>
                                        <p:strVal val="hidden"/>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xit" presetSubtype="0" fill="hold" nodeType="clickEffect">
                                  <p:stCondLst>
                                    <p:cond delay="0"/>
                                  </p:stCondLst>
                                  <p:childTnLst>
                                    <p:set>
                                      <p:cBhvr>
                                        <p:cTn id="72" dur="1" fill="hold">
                                          <p:stCondLst>
                                            <p:cond delay="0"/>
                                          </p:stCondLst>
                                        </p:cTn>
                                        <p:tgtEl>
                                          <p:spTgt spid="87075"/>
                                        </p:tgtEl>
                                        <p:attrNameLst>
                                          <p:attrName>style.visibility</p:attrName>
                                        </p:attrNameLst>
                                      </p:cBhvr>
                                      <p:to>
                                        <p:strVal val="hidden"/>
                                      </p:to>
                                    </p:set>
                                  </p:childTnLst>
                                </p:cTn>
                              </p:par>
                              <p:par>
                                <p:cTn id="73" presetID="1" presetClass="entr" presetSubtype="0" fill="hold" nodeType="withEffect">
                                  <p:stCondLst>
                                    <p:cond delay="0"/>
                                  </p:stCondLst>
                                  <p:childTnLst>
                                    <p:set>
                                      <p:cBhvr>
                                        <p:cTn id="74" dur="1" fill="hold">
                                          <p:stCondLst>
                                            <p:cond delay="0"/>
                                          </p:stCondLst>
                                        </p:cTn>
                                        <p:tgtEl>
                                          <p:spTgt spid="87081"/>
                                        </p:tgtEl>
                                        <p:attrNameLst>
                                          <p:attrName>style.visibility</p:attrName>
                                        </p:attrNameLst>
                                      </p:cBhvr>
                                      <p:to>
                                        <p:strVal val="visible"/>
                                      </p:to>
                                    </p:set>
                                  </p:childTnLst>
                                </p:cTn>
                              </p:par>
                              <p:par>
                                <p:cTn id="75" presetID="1" presetClass="exit" presetSubtype="0" fill="hold" nodeType="withEffect">
                                  <p:stCondLst>
                                    <p:cond delay="0"/>
                                  </p:stCondLst>
                                  <p:childTnLst>
                                    <p:set>
                                      <p:cBhvr>
                                        <p:cTn id="76" dur="1" fill="hold">
                                          <p:stCondLst>
                                            <p:cond delay="0"/>
                                          </p:stCondLst>
                                        </p:cTn>
                                        <p:tgtEl>
                                          <p:spTgt spid="4"/>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87085"/>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31" presetClass="entr" presetSubtype="0" fill="hold" nodeType="clickEffect">
                                  <p:stCondLst>
                                    <p:cond delay="0"/>
                                  </p:stCondLst>
                                  <p:childTnLst>
                                    <p:set>
                                      <p:cBhvr>
                                        <p:cTn id="82" dur="1" fill="hold">
                                          <p:stCondLst>
                                            <p:cond delay="0"/>
                                          </p:stCondLst>
                                        </p:cTn>
                                        <p:tgtEl>
                                          <p:spTgt spid="5"/>
                                        </p:tgtEl>
                                        <p:attrNameLst>
                                          <p:attrName>style.visibility</p:attrName>
                                        </p:attrNameLst>
                                      </p:cBhvr>
                                      <p:to>
                                        <p:strVal val="visible"/>
                                      </p:to>
                                    </p:set>
                                    <p:anim calcmode="lin" valueType="num">
                                      <p:cBhvr>
                                        <p:cTn id="83" dur="1000" fill="hold"/>
                                        <p:tgtEl>
                                          <p:spTgt spid="5"/>
                                        </p:tgtEl>
                                        <p:attrNameLst>
                                          <p:attrName>ppt_w</p:attrName>
                                        </p:attrNameLst>
                                      </p:cBhvr>
                                      <p:tavLst>
                                        <p:tav tm="0">
                                          <p:val>
                                            <p:fltVal val="0"/>
                                          </p:val>
                                        </p:tav>
                                        <p:tav tm="100000">
                                          <p:val>
                                            <p:strVal val="#ppt_w"/>
                                          </p:val>
                                        </p:tav>
                                      </p:tavLst>
                                    </p:anim>
                                    <p:anim calcmode="lin" valueType="num">
                                      <p:cBhvr>
                                        <p:cTn id="84" dur="1000" fill="hold"/>
                                        <p:tgtEl>
                                          <p:spTgt spid="5"/>
                                        </p:tgtEl>
                                        <p:attrNameLst>
                                          <p:attrName>ppt_h</p:attrName>
                                        </p:attrNameLst>
                                      </p:cBhvr>
                                      <p:tavLst>
                                        <p:tav tm="0">
                                          <p:val>
                                            <p:fltVal val="0"/>
                                          </p:val>
                                        </p:tav>
                                        <p:tav tm="100000">
                                          <p:val>
                                            <p:strVal val="#ppt_h"/>
                                          </p:val>
                                        </p:tav>
                                      </p:tavLst>
                                    </p:anim>
                                    <p:anim calcmode="lin" valueType="num">
                                      <p:cBhvr>
                                        <p:cTn id="85" dur="1000" fill="hold"/>
                                        <p:tgtEl>
                                          <p:spTgt spid="5"/>
                                        </p:tgtEl>
                                        <p:attrNameLst>
                                          <p:attrName>style.rotation</p:attrName>
                                        </p:attrNameLst>
                                      </p:cBhvr>
                                      <p:tavLst>
                                        <p:tav tm="0">
                                          <p:val>
                                            <p:fltVal val="90"/>
                                          </p:val>
                                        </p:tav>
                                        <p:tav tm="100000">
                                          <p:val>
                                            <p:fltVal val="0"/>
                                          </p:val>
                                        </p:tav>
                                      </p:tavLst>
                                    </p:anim>
                                    <p:animEffect transition="in" filter="fade">
                                      <p:cBhvr>
                                        <p:cTn id="8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70" grpId="0"/>
      <p:bldP spid="87072" grpId="0"/>
      <p:bldP spid="87074" grpId="0"/>
      <p:bldP spid="87085" grpId="0" animBg="1"/>
      <p:bldP spid="87085"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p:txBody>
          <a:bodyPr/>
          <a:lstStyle/>
          <a:p>
            <a:r>
              <a:rPr lang="en-US" altLang="tr-TR"/>
              <a:t>Example</a:t>
            </a:r>
          </a:p>
        </p:txBody>
      </p:sp>
      <p:sp>
        <p:nvSpPr>
          <p:cNvPr id="90115" name="Rectangle 3"/>
          <p:cNvSpPr>
            <a:spLocks noGrp="1" noChangeArrowheads="1"/>
          </p:cNvSpPr>
          <p:nvPr>
            <p:ph type="body" idx="4294967295"/>
          </p:nvPr>
        </p:nvSpPr>
        <p:spPr/>
        <p:txBody>
          <a:bodyPr rtlCol="0">
            <a:normAutofit/>
          </a:bodyPr>
          <a:lstStyle/>
          <a:p>
            <a:pPr fontAlgn="auto">
              <a:spcAft>
                <a:spcPts val="0"/>
              </a:spcAft>
              <a:defRPr/>
            </a:pPr>
            <a:r>
              <a:rPr lang="en-US" dirty="0"/>
              <a:t>Write a function that exchanges its parameters.</a:t>
            </a:r>
          </a:p>
          <a:p>
            <a:pPr lvl="4" fontAlgn="auto">
              <a:spcAft>
                <a:spcPts val="0"/>
              </a:spcAft>
              <a:defRPr/>
            </a:pPr>
            <a:endParaRPr lang="tr-TR" dirty="0" smtClean="0"/>
          </a:p>
          <a:p>
            <a:pPr fontAlgn="auto">
              <a:spcAft>
                <a:spcPts val="0"/>
              </a:spcAft>
              <a:defRPr/>
            </a:pPr>
            <a:r>
              <a:rPr lang="en-US" dirty="0" smtClean="0"/>
              <a:t>Solution </a:t>
            </a:r>
            <a:r>
              <a:rPr lang="en-US" dirty="0"/>
              <a:t>1:</a:t>
            </a:r>
          </a:p>
          <a:p>
            <a:pPr lvl="1" fontAlgn="auto">
              <a:spcAft>
                <a:spcPts val="0"/>
              </a:spcAft>
              <a:buNone/>
              <a:defRPr/>
            </a:pPr>
            <a:r>
              <a:rPr lang="en-US" b="1" dirty="0">
                <a:solidFill>
                  <a:srgbClr val="0000C8"/>
                </a:solidFill>
                <a:latin typeface="Courier New" pitchFamily="49" charset="0"/>
              </a:rPr>
              <a:t>void swap(</a:t>
            </a:r>
            <a:r>
              <a:rPr lang="en-US" b="1" dirty="0" err="1">
                <a:solidFill>
                  <a:srgbClr val="0000C8"/>
                </a:solidFill>
                <a:latin typeface="Courier New" pitchFamily="49" charset="0"/>
              </a:rPr>
              <a:t>int</a:t>
            </a:r>
            <a:r>
              <a:rPr lang="en-US" b="1" dirty="0">
                <a:solidFill>
                  <a:srgbClr val="0000C8"/>
                </a:solidFill>
                <a:latin typeface="Courier New" pitchFamily="49" charset="0"/>
              </a:rPr>
              <a:t> a, </a:t>
            </a:r>
            <a:r>
              <a:rPr lang="en-US" b="1" dirty="0" err="1">
                <a:solidFill>
                  <a:srgbClr val="0000C8"/>
                </a:solidFill>
                <a:latin typeface="Courier New" pitchFamily="49" charset="0"/>
              </a:rPr>
              <a:t>int</a:t>
            </a:r>
            <a:r>
              <a:rPr lang="en-US" b="1" dirty="0">
                <a:solidFill>
                  <a:srgbClr val="0000C8"/>
                </a:solidFill>
                <a:latin typeface="Courier New" pitchFamily="49" charset="0"/>
              </a:rPr>
              <a:t> b)</a:t>
            </a:r>
          </a:p>
          <a:p>
            <a:pPr lvl="1" fontAlgn="auto">
              <a:spcAft>
                <a:spcPts val="0"/>
              </a:spcAft>
              <a:buNone/>
              <a:defRPr/>
            </a:pPr>
            <a:r>
              <a:rPr lang="en-US" b="1" dirty="0">
                <a:solidFill>
                  <a:srgbClr val="0000C8"/>
                </a:solidFill>
                <a:latin typeface="Courier New" pitchFamily="49" charset="0"/>
              </a:rPr>
              <a:t>{</a:t>
            </a:r>
          </a:p>
          <a:p>
            <a:pPr lvl="1" fontAlgn="auto">
              <a:spcAft>
                <a:spcPts val="0"/>
              </a:spcAft>
              <a:buNone/>
              <a:defRPr/>
            </a:pPr>
            <a:r>
              <a:rPr lang="en-US" b="1" dirty="0">
                <a:solidFill>
                  <a:srgbClr val="0000C8"/>
                </a:solidFill>
                <a:latin typeface="Courier New" pitchFamily="49" charset="0"/>
              </a:rPr>
              <a:t>   a=b;</a:t>
            </a:r>
          </a:p>
          <a:p>
            <a:pPr lvl="1" fontAlgn="auto">
              <a:spcAft>
                <a:spcPts val="0"/>
              </a:spcAft>
              <a:buNone/>
              <a:defRPr/>
            </a:pPr>
            <a:r>
              <a:rPr lang="en-US" b="1" dirty="0">
                <a:solidFill>
                  <a:srgbClr val="0000C8"/>
                </a:solidFill>
                <a:latin typeface="Courier New" pitchFamily="49" charset="0"/>
              </a:rPr>
              <a:t>   b=a;</a:t>
            </a:r>
          </a:p>
          <a:p>
            <a:pPr lvl="1" fontAlgn="auto">
              <a:spcAft>
                <a:spcPts val="0"/>
              </a:spcAft>
              <a:buNone/>
              <a:defRPr/>
            </a:pPr>
            <a:r>
              <a:rPr lang="en-US" b="1" dirty="0">
                <a:solidFill>
                  <a:srgbClr val="0000C8"/>
                </a:solidFill>
                <a:latin typeface="Courier New" pitchFamily="49" charset="0"/>
              </a:rPr>
              <a:t>}</a:t>
            </a:r>
          </a:p>
          <a:p>
            <a:pPr lvl="1" fontAlgn="auto">
              <a:spcAft>
                <a:spcPts val="0"/>
              </a:spcAft>
              <a:buNone/>
              <a:defRPr/>
            </a:pPr>
            <a:r>
              <a:rPr lang="en-US" b="1" dirty="0">
                <a:solidFill>
                  <a:srgbClr val="FF3300"/>
                </a:solidFill>
                <a:latin typeface="Courier New" pitchFamily="49" charset="0"/>
              </a:rPr>
              <a:t>WRONG!</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44</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9486528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11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011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011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011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011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0115">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01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p:txBody>
          <a:bodyPr/>
          <a:lstStyle/>
          <a:p>
            <a:r>
              <a:rPr lang="en-US" altLang="tr-TR"/>
              <a:t>Example</a:t>
            </a:r>
          </a:p>
        </p:txBody>
      </p:sp>
      <p:sp>
        <p:nvSpPr>
          <p:cNvPr id="92163" name="Rectangle 3"/>
          <p:cNvSpPr>
            <a:spLocks noGrp="1" noChangeArrowheads="1"/>
          </p:cNvSpPr>
          <p:nvPr>
            <p:ph type="body" idx="4294967295"/>
          </p:nvPr>
        </p:nvSpPr>
        <p:spPr/>
        <p:txBody>
          <a:bodyPr/>
          <a:lstStyle/>
          <a:p>
            <a:r>
              <a:rPr lang="en-US" altLang="tr-TR"/>
              <a:t>Solution 2:</a:t>
            </a:r>
          </a:p>
          <a:p>
            <a:pPr lvl="1">
              <a:buFontTx/>
              <a:buNone/>
            </a:pPr>
            <a:r>
              <a:rPr lang="en-US" altLang="tr-TR" b="1">
                <a:solidFill>
                  <a:srgbClr val="0000C8"/>
                </a:solidFill>
                <a:latin typeface="Courier New" panose="02070309020205020404" pitchFamily="49" charset="0"/>
              </a:rPr>
              <a:t>void swap(int *a, int *b)</a:t>
            </a:r>
          </a:p>
          <a:p>
            <a:pPr lvl="1">
              <a:buFontTx/>
              <a:buNone/>
            </a:pPr>
            <a:r>
              <a:rPr lang="en-US" altLang="tr-TR" b="1">
                <a:solidFill>
                  <a:srgbClr val="0000C8"/>
                </a:solidFill>
                <a:latin typeface="Courier New" panose="02070309020205020404" pitchFamily="49" charset="0"/>
              </a:rPr>
              <a:t>{</a:t>
            </a:r>
          </a:p>
          <a:p>
            <a:pPr lvl="1">
              <a:buFontTx/>
              <a:buNone/>
            </a:pPr>
            <a:r>
              <a:rPr lang="en-US" altLang="tr-TR" b="1">
                <a:solidFill>
                  <a:srgbClr val="0000C8"/>
                </a:solidFill>
                <a:latin typeface="Courier New" panose="02070309020205020404" pitchFamily="49" charset="0"/>
              </a:rPr>
              <a:t>   *a=*b;</a:t>
            </a:r>
          </a:p>
          <a:p>
            <a:pPr lvl="1">
              <a:buFontTx/>
              <a:buNone/>
            </a:pPr>
            <a:r>
              <a:rPr lang="en-US" altLang="tr-TR" b="1">
                <a:solidFill>
                  <a:srgbClr val="0000C8"/>
                </a:solidFill>
                <a:latin typeface="Courier New" panose="02070309020205020404" pitchFamily="49" charset="0"/>
              </a:rPr>
              <a:t>   *b=*a;</a:t>
            </a:r>
          </a:p>
          <a:p>
            <a:pPr lvl="1">
              <a:buFontTx/>
              <a:buNone/>
            </a:pPr>
            <a:r>
              <a:rPr lang="en-US" altLang="tr-TR" b="1">
                <a:solidFill>
                  <a:srgbClr val="0000C8"/>
                </a:solidFill>
                <a:latin typeface="Courier New" panose="02070309020205020404" pitchFamily="49" charset="0"/>
              </a:rPr>
              <a:t>}</a:t>
            </a:r>
          </a:p>
          <a:p>
            <a:pPr lvl="1">
              <a:buFontTx/>
              <a:buNone/>
            </a:pPr>
            <a:r>
              <a:rPr lang="en-US" altLang="tr-TR" b="1">
                <a:solidFill>
                  <a:srgbClr val="FF3300"/>
                </a:solidFill>
                <a:latin typeface="Courier New" panose="02070309020205020404" pitchFamily="49" charset="0"/>
              </a:rPr>
              <a:t>STILL WRONG!</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45</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89559261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1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p:txBody>
          <a:bodyPr/>
          <a:lstStyle/>
          <a:p>
            <a:r>
              <a:rPr lang="en-US" altLang="tr-TR"/>
              <a:t>Example</a:t>
            </a:r>
          </a:p>
        </p:txBody>
      </p:sp>
      <p:sp>
        <p:nvSpPr>
          <p:cNvPr id="34819" name="Rectangle 3"/>
          <p:cNvSpPr>
            <a:spLocks noGrp="1" noChangeArrowheads="1"/>
          </p:cNvSpPr>
          <p:nvPr>
            <p:ph type="body" idx="4294967295"/>
          </p:nvPr>
        </p:nvSpPr>
        <p:spPr/>
        <p:txBody>
          <a:bodyPr/>
          <a:lstStyle/>
          <a:p>
            <a:r>
              <a:rPr lang="en-US" altLang="tr-TR"/>
              <a:t>Solution 3:</a:t>
            </a:r>
          </a:p>
          <a:p>
            <a:pPr lvl="1">
              <a:buFontTx/>
              <a:buNone/>
            </a:pPr>
            <a:r>
              <a:rPr lang="en-US" altLang="tr-TR" b="1">
                <a:solidFill>
                  <a:srgbClr val="0000C8"/>
                </a:solidFill>
                <a:latin typeface="Courier New" panose="02070309020205020404" pitchFamily="49" charset="0"/>
              </a:rPr>
              <a:t>void swap(int *a, int *b)</a:t>
            </a:r>
          </a:p>
          <a:p>
            <a:pPr lvl="1">
              <a:buFontTx/>
              <a:buNone/>
            </a:pPr>
            <a:r>
              <a:rPr lang="en-US" altLang="tr-TR" b="1">
                <a:solidFill>
                  <a:srgbClr val="0000C8"/>
                </a:solidFill>
                <a:latin typeface="Courier New" panose="02070309020205020404" pitchFamily="49" charset="0"/>
              </a:rPr>
              <a:t>{</a:t>
            </a:r>
          </a:p>
          <a:p>
            <a:pPr lvl="1">
              <a:buFontTx/>
              <a:buNone/>
            </a:pPr>
            <a:r>
              <a:rPr lang="en-US" altLang="tr-TR" b="1">
                <a:solidFill>
                  <a:srgbClr val="0000C8"/>
                </a:solidFill>
                <a:latin typeface="Courier New" panose="02070309020205020404" pitchFamily="49" charset="0"/>
              </a:rPr>
              <a:t>   int temp;</a:t>
            </a:r>
          </a:p>
          <a:p>
            <a:pPr lvl="1">
              <a:buFontTx/>
              <a:buNone/>
            </a:pPr>
            <a:r>
              <a:rPr lang="en-US" altLang="tr-TR" b="1">
                <a:solidFill>
                  <a:srgbClr val="0000C8"/>
                </a:solidFill>
                <a:latin typeface="Courier New" panose="02070309020205020404" pitchFamily="49" charset="0"/>
              </a:rPr>
              <a:t>   temp = *a;   </a:t>
            </a:r>
          </a:p>
          <a:p>
            <a:pPr lvl="1">
              <a:buFontTx/>
              <a:buNone/>
            </a:pPr>
            <a:r>
              <a:rPr lang="en-US" altLang="tr-TR" b="1">
                <a:solidFill>
                  <a:srgbClr val="0000C8"/>
                </a:solidFill>
                <a:latin typeface="Courier New" panose="02070309020205020404" pitchFamily="49" charset="0"/>
              </a:rPr>
              <a:t>   *a=*b;</a:t>
            </a:r>
          </a:p>
          <a:p>
            <a:pPr lvl="1">
              <a:buFontTx/>
              <a:buNone/>
            </a:pPr>
            <a:r>
              <a:rPr lang="en-US" altLang="tr-TR" b="1">
                <a:solidFill>
                  <a:srgbClr val="0000C8"/>
                </a:solidFill>
                <a:latin typeface="Courier New" panose="02070309020205020404" pitchFamily="49" charset="0"/>
              </a:rPr>
              <a:t>   *b=temp;</a:t>
            </a:r>
          </a:p>
          <a:p>
            <a:pPr lvl="1">
              <a:buFontTx/>
              <a:buNone/>
            </a:pPr>
            <a:r>
              <a:rPr lang="en-US" altLang="tr-TR" b="1">
                <a:solidFill>
                  <a:srgbClr val="0000C8"/>
                </a:solidFill>
                <a:latin typeface="Courier New" panose="02070309020205020404" pitchFamily="49" charset="0"/>
              </a:rPr>
              <a:t>}</a:t>
            </a:r>
          </a:p>
        </p:txBody>
      </p:sp>
      <p:sp>
        <p:nvSpPr>
          <p:cNvPr id="2" name="Slide Number Placeholder 1"/>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46</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3342791207"/>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Recursion</a:t>
            </a:r>
            <a:endParaRPr lang="tr-TR" dirty="0"/>
          </a:p>
        </p:txBody>
      </p:sp>
      <p:sp>
        <p:nvSpPr>
          <p:cNvPr id="3" name="Content Placeholder 2"/>
          <p:cNvSpPr>
            <a:spLocks noGrp="1"/>
          </p:cNvSpPr>
          <p:nvPr>
            <p:ph idx="1"/>
          </p:nvPr>
        </p:nvSpPr>
        <p:spPr/>
        <p:txBody>
          <a:bodyPr/>
          <a:lstStyle/>
          <a:p>
            <a:r>
              <a:rPr lang="en-US" altLang="tr-TR" dirty="0"/>
              <a:t>Recursive functions </a:t>
            </a:r>
          </a:p>
          <a:p>
            <a:pPr lvl="4"/>
            <a:endParaRPr lang="tr-TR" altLang="tr-TR" sz="1000" dirty="0" smtClean="0"/>
          </a:p>
          <a:p>
            <a:pPr lvl="1"/>
            <a:r>
              <a:rPr lang="en-US" altLang="tr-TR" dirty="0" smtClean="0"/>
              <a:t>Functions </a:t>
            </a:r>
            <a:r>
              <a:rPr lang="en-US" altLang="tr-TR" dirty="0"/>
              <a:t>that call themselves</a:t>
            </a:r>
          </a:p>
          <a:p>
            <a:pPr lvl="4"/>
            <a:endParaRPr lang="tr-TR" altLang="tr-TR" dirty="0" smtClean="0"/>
          </a:p>
          <a:p>
            <a:pPr lvl="1"/>
            <a:r>
              <a:rPr lang="en-US" altLang="tr-TR" dirty="0" smtClean="0"/>
              <a:t>Can </a:t>
            </a:r>
            <a:r>
              <a:rPr lang="en-US" altLang="tr-TR" dirty="0"/>
              <a:t>only solve a base case</a:t>
            </a:r>
          </a:p>
          <a:p>
            <a:pPr lvl="4"/>
            <a:endParaRPr lang="tr-TR" altLang="tr-TR" dirty="0" smtClean="0"/>
          </a:p>
          <a:p>
            <a:pPr lvl="1"/>
            <a:r>
              <a:rPr lang="en-US" altLang="tr-TR" dirty="0" smtClean="0"/>
              <a:t>Divide </a:t>
            </a:r>
            <a:r>
              <a:rPr lang="en-US" altLang="tr-TR" dirty="0"/>
              <a:t>a problem up into</a:t>
            </a:r>
          </a:p>
          <a:p>
            <a:pPr lvl="2"/>
            <a:r>
              <a:rPr lang="en-US" altLang="tr-TR" dirty="0"/>
              <a:t>What it can do</a:t>
            </a:r>
          </a:p>
          <a:p>
            <a:pPr lvl="2"/>
            <a:r>
              <a:rPr lang="en-US" altLang="tr-TR" dirty="0"/>
              <a:t>What it cannot do</a:t>
            </a:r>
          </a:p>
          <a:p>
            <a:pPr lvl="3"/>
            <a:r>
              <a:rPr lang="en-US" altLang="tr-TR" dirty="0"/>
              <a:t>What it cannot do resembles original problem</a:t>
            </a:r>
          </a:p>
          <a:p>
            <a:pPr lvl="3"/>
            <a:r>
              <a:rPr lang="en-US" altLang="tr-TR" dirty="0"/>
              <a:t>The function launches a new copy of itself (recursion step) to solve what it cannot do</a:t>
            </a:r>
          </a:p>
          <a:p>
            <a:pPr lvl="4"/>
            <a:endParaRPr lang="tr-TR" altLang="tr-TR" dirty="0" smtClean="0"/>
          </a:p>
          <a:p>
            <a:pPr lvl="1"/>
            <a:r>
              <a:rPr lang="en-US" altLang="tr-TR" dirty="0" smtClean="0"/>
              <a:t>Eventually </a:t>
            </a:r>
            <a:r>
              <a:rPr lang="en-US" altLang="tr-TR" dirty="0"/>
              <a:t>base case gets solved</a:t>
            </a:r>
          </a:p>
          <a:p>
            <a:pPr lvl="2"/>
            <a:r>
              <a:rPr lang="en-US" altLang="tr-TR" dirty="0"/>
              <a:t>Gets plugged in, works its way up and solves whole problem</a:t>
            </a:r>
          </a:p>
          <a:p>
            <a:endParaRPr lang="tr-TR"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47</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2083784221"/>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Recursion</a:t>
            </a:r>
            <a:r>
              <a:rPr lang="tr-TR" altLang="tr-TR" dirty="0"/>
              <a:t> – Example </a:t>
            </a:r>
            <a:endParaRPr lang="tr-TR" dirty="0"/>
          </a:p>
        </p:txBody>
      </p:sp>
      <p:sp>
        <p:nvSpPr>
          <p:cNvPr id="3" name="Content Placeholder 2"/>
          <p:cNvSpPr>
            <a:spLocks noGrp="1"/>
          </p:cNvSpPr>
          <p:nvPr>
            <p:ph idx="1"/>
          </p:nvPr>
        </p:nvSpPr>
        <p:spPr/>
        <p:txBody>
          <a:bodyPr/>
          <a:lstStyle/>
          <a:p>
            <a:r>
              <a:rPr lang="en-US" altLang="tr-TR" dirty="0"/>
              <a:t>Example: factorials</a:t>
            </a:r>
          </a:p>
          <a:p>
            <a:pPr lvl="4"/>
            <a:endParaRPr lang="tr-TR" altLang="tr-TR" sz="1400" dirty="0" smtClean="0">
              <a:latin typeface="Lucida Console" panose="020B0609040504020204" pitchFamily="49" charset="0"/>
            </a:endParaRPr>
          </a:p>
          <a:p>
            <a:pPr lvl="1"/>
            <a:r>
              <a:rPr lang="en-US" altLang="tr-TR" sz="2000" dirty="0" smtClean="0">
                <a:latin typeface="Lucida Console" panose="020B0609040504020204" pitchFamily="49" charset="0"/>
              </a:rPr>
              <a:t>5</a:t>
            </a:r>
            <a:r>
              <a:rPr lang="en-US" altLang="tr-TR" sz="2000" dirty="0">
                <a:latin typeface="Lucida Console" panose="020B0609040504020204" pitchFamily="49" charset="0"/>
              </a:rPr>
              <a:t>! = 5 * 4 * 3 * 2 * 1</a:t>
            </a:r>
          </a:p>
          <a:p>
            <a:pPr lvl="4"/>
            <a:endParaRPr lang="tr-TR" altLang="tr-TR" dirty="0" smtClean="0"/>
          </a:p>
          <a:p>
            <a:pPr lvl="1"/>
            <a:r>
              <a:rPr lang="en-US" altLang="tr-TR" dirty="0" smtClean="0"/>
              <a:t>Notice </a:t>
            </a:r>
            <a:r>
              <a:rPr lang="en-US" altLang="tr-TR" dirty="0"/>
              <a:t>that</a:t>
            </a:r>
          </a:p>
          <a:p>
            <a:pPr lvl="2"/>
            <a:r>
              <a:rPr lang="en-US" altLang="tr-TR" sz="1800" dirty="0">
                <a:latin typeface="Lucida Console" panose="020B0609040504020204" pitchFamily="49" charset="0"/>
              </a:rPr>
              <a:t>5! = 5 * 4!</a:t>
            </a:r>
          </a:p>
          <a:p>
            <a:pPr lvl="2"/>
            <a:r>
              <a:rPr lang="en-US" altLang="tr-TR" sz="1800" dirty="0">
                <a:latin typeface="Lucida Console" panose="020B0609040504020204" pitchFamily="49" charset="0"/>
              </a:rPr>
              <a:t>4! = 4 * 3! ...</a:t>
            </a:r>
          </a:p>
          <a:p>
            <a:pPr lvl="4"/>
            <a:endParaRPr lang="tr-TR" altLang="tr-TR" dirty="0" smtClean="0"/>
          </a:p>
          <a:p>
            <a:pPr lvl="1"/>
            <a:r>
              <a:rPr lang="en-US" altLang="tr-TR" dirty="0" smtClean="0"/>
              <a:t>Can </a:t>
            </a:r>
            <a:r>
              <a:rPr lang="en-US" altLang="tr-TR" dirty="0"/>
              <a:t>compute factorials recursively </a:t>
            </a:r>
          </a:p>
          <a:p>
            <a:pPr lvl="4"/>
            <a:endParaRPr lang="tr-TR" altLang="tr-TR" dirty="0" smtClean="0"/>
          </a:p>
          <a:p>
            <a:pPr lvl="1"/>
            <a:r>
              <a:rPr lang="en-US" altLang="tr-TR" dirty="0" smtClean="0"/>
              <a:t>Solve </a:t>
            </a:r>
            <a:r>
              <a:rPr lang="en-US" altLang="tr-TR" dirty="0"/>
              <a:t>base case (</a:t>
            </a:r>
            <a:r>
              <a:rPr lang="en-US" altLang="tr-TR" sz="2000" dirty="0">
                <a:latin typeface="Lucida Console" panose="020B0609040504020204" pitchFamily="49" charset="0"/>
              </a:rPr>
              <a:t>1! = 0! = 1</a:t>
            </a:r>
            <a:r>
              <a:rPr lang="en-US" altLang="tr-TR" dirty="0"/>
              <a:t>) then plug in</a:t>
            </a:r>
          </a:p>
          <a:p>
            <a:pPr lvl="2"/>
            <a:r>
              <a:rPr lang="en-US" altLang="tr-TR" sz="1800" dirty="0">
                <a:latin typeface="Lucida Console" panose="020B0609040504020204" pitchFamily="49" charset="0"/>
              </a:rPr>
              <a:t>2! = 2 * 1! = 2 * 1 = 2;</a:t>
            </a:r>
          </a:p>
          <a:p>
            <a:pPr lvl="2"/>
            <a:r>
              <a:rPr lang="en-US" altLang="tr-TR" sz="1800" dirty="0">
                <a:latin typeface="Lucida Console" panose="020B0609040504020204" pitchFamily="49" charset="0"/>
              </a:rPr>
              <a:t>3! = 3 * 2! = 3 * 2 = 6;</a:t>
            </a:r>
          </a:p>
          <a:p>
            <a:endParaRPr lang="tr-TR"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48</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997175107"/>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Recursion</a:t>
            </a:r>
            <a:r>
              <a:rPr lang="tr-TR" altLang="tr-TR" dirty="0"/>
              <a:t> – Sequence of calls and returns</a:t>
            </a:r>
            <a:endParaRPr lang="tr-TR"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49</a:t>
            </a:fld>
            <a:endParaRPr lang="en-US" altLang="tr-TR">
              <a:ea typeface="ＭＳ Ｐゴシック" panose="020B0600070205080204" pitchFamily="34" charset="-128"/>
            </a:endParaRPr>
          </a:p>
        </p:txBody>
      </p:sp>
      <p:pic>
        <p:nvPicPr>
          <p:cNvPr id="8" name="Resim 7">
            <a:extLst>
              <a:ext uri="{FF2B5EF4-FFF2-40B4-BE49-F238E27FC236}">
                <a16:creationId xmlns:a16="http://schemas.microsoft.com/office/drawing/2014/main" id="{3AD20D14-73B2-47E3-A1B2-A11D2A28EA68}"/>
              </a:ext>
            </a:extLst>
          </p:cNvPr>
          <p:cNvPicPr>
            <a:picLocks noChangeAspect="1"/>
          </p:cNvPicPr>
          <p:nvPr/>
        </p:nvPicPr>
        <p:blipFill>
          <a:blip r:embed="rId2"/>
          <a:stretch>
            <a:fillRect/>
          </a:stretch>
        </p:blipFill>
        <p:spPr>
          <a:xfrm>
            <a:off x="1772986" y="1118937"/>
            <a:ext cx="7581900" cy="4962525"/>
          </a:xfrm>
          <a:prstGeom prst="rect">
            <a:avLst/>
          </a:prstGeom>
        </p:spPr>
      </p:pic>
    </p:spTree>
    <p:extLst>
      <p:ext uri="{BB962C8B-B14F-4D97-AF65-F5344CB8AC3E}">
        <p14:creationId xmlns:p14="http://schemas.microsoft.com/office/powerpoint/2010/main" val="3945596663"/>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Recursion</a:t>
            </a:r>
            <a:r>
              <a:rPr lang="tr-TR" altLang="tr-TR" dirty="0"/>
              <a:t> – Factorial code</a:t>
            </a:r>
            <a:endParaRPr lang="tr-TR" dirty="0"/>
          </a:p>
        </p:txBody>
      </p:sp>
      <p:sp>
        <p:nvSpPr>
          <p:cNvPr id="3" name="Content Placeholder 2"/>
          <p:cNvSpPr>
            <a:spLocks noGrp="1"/>
          </p:cNvSpPr>
          <p:nvPr>
            <p:ph idx="1"/>
          </p:nvPr>
        </p:nvSpPr>
        <p:spPr/>
        <p:txBody>
          <a:bodyPr/>
          <a:lstStyle/>
          <a:p>
            <a:pPr lvl="1">
              <a:lnSpc>
                <a:spcPct val="80000"/>
              </a:lnSpc>
              <a:buFontTx/>
              <a:buNone/>
            </a:pPr>
            <a:r>
              <a:rPr lang="en-US" altLang="tr-TR" sz="2000" noProof="1">
                <a:solidFill>
                  <a:srgbClr val="0000C8"/>
                </a:solidFill>
                <a:latin typeface="Consolas" panose="020B0609020204030204" pitchFamily="49" charset="0"/>
              </a:rPr>
              <a:t>#include &lt;stdio.h&gt;</a:t>
            </a:r>
          </a:p>
          <a:p>
            <a:pPr lvl="1">
              <a:lnSpc>
                <a:spcPct val="80000"/>
              </a:lnSpc>
              <a:buFontTx/>
              <a:buNone/>
            </a:pPr>
            <a:r>
              <a:rPr lang="en-US" altLang="tr-TR" sz="2000" noProof="1">
                <a:solidFill>
                  <a:srgbClr val="0000C8"/>
                </a:solidFill>
                <a:latin typeface="Consolas" panose="020B0609020204030204" pitchFamily="49" charset="0"/>
              </a:rPr>
              <a:t>long factorial(int n)</a:t>
            </a:r>
          </a:p>
          <a:p>
            <a:pPr lvl="1">
              <a:lnSpc>
                <a:spcPct val="80000"/>
              </a:lnSpc>
              <a:buFontTx/>
              <a:buNone/>
            </a:pPr>
            <a:r>
              <a:rPr lang="en-US" altLang="tr-TR" sz="2000" noProof="1">
                <a:solidFill>
                  <a:srgbClr val="0000C8"/>
                </a:solidFill>
                <a:latin typeface="Consolas" panose="020B0609020204030204" pitchFamily="49" charset="0"/>
              </a:rPr>
              <a:t>{</a:t>
            </a:r>
          </a:p>
          <a:p>
            <a:pPr lvl="1">
              <a:lnSpc>
                <a:spcPct val="80000"/>
              </a:lnSpc>
              <a:buFontTx/>
              <a:buNone/>
            </a:pPr>
            <a:r>
              <a:rPr lang="en-US" altLang="tr-TR" sz="2000" noProof="1">
                <a:solidFill>
                  <a:srgbClr val="0000C8"/>
                </a:solidFill>
                <a:latin typeface="Consolas" panose="020B0609020204030204" pitchFamily="49" charset="0"/>
              </a:rPr>
              <a:t>	if (n&gt;0)</a:t>
            </a:r>
          </a:p>
          <a:p>
            <a:pPr lvl="1">
              <a:lnSpc>
                <a:spcPct val="80000"/>
              </a:lnSpc>
              <a:buFontTx/>
              <a:buNone/>
            </a:pPr>
            <a:r>
              <a:rPr lang="en-US" altLang="tr-TR" sz="2000" noProof="1">
                <a:solidFill>
                  <a:srgbClr val="0000C8"/>
                </a:solidFill>
                <a:latin typeface="Consolas" panose="020B0609020204030204" pitchFamily="49" charset="0"/>
              </a:rPr>
              <a:t>		return n*factorial(n-1);</a:t>
            </a:r>
          </a:p>
          <a:p>
            <a:pPr lvl="1">
              <a:lnSpc>
                <a:spcPct val="80000"/>
              </a:lnSpc>
              <a:buFontTx/>
              <a:buNone/>
            </a:pPr>
            <a:r>
              <a:rPr lang="en-US" altLang="tr-TR" sz="2000" noProof="1">
                <a:solidFill>
                  <a:srgbClr val="0000C8"/>
                </a:solidFill>
                <a:latin typeface="Consolas" panose="020B0609020204030204" pitchFamily="49" charset="0"/>
              </a:rPr>
              <a:t>	else if (n==0)</a:t>
            </a:r>
          </a:p>
          <a:p>
            <a:pPr lvl="1">
              <a:lnSpc>
                <a:spcPct val="80000"/>
              </a:lnSpc>
              <a:buFontTx/>
              <a:buNone/>
            </a:pPr>
            <a:r>
              <a:rPr lang="en-US" altLang="tr-TR" sz="2000" noProof="1">
                <a:solidFill>
                  <a:srgbClr val="0000C8"/>
                </a:solidFill>
                <a:latin typeface="Consolas" panose="020B0609020204030204" pitchFamily="49" charset="0"/>
              </a:rPr>
              <a:t>		return 1;</a:t>
            </a:r>
          </a:p>
          <a:p>
            <a:pPr lvl="1">
              <a:lnSpc>
                <a:spcPct val="80000"/>
              </a:lnSpc>
              <a:buFontTx/>
              <a:buNone/>
            </a:pPr>
            <a:r>
              <a:rPr lang="en-US" altLang="tr-TR" sz="2000" noProof="1">
                <a:solidFill>
                  <a:srgbClr val="0000C8"/>
                </a:solidFill>
                <a:latin typeface="Consolas" panose="020B0609020204030204" pitchFamily="49" charset="0"/>
              </a:rPr>
              <a:t>	return 0;</a:t>
            </a:r>
          </a:p>
          <a:p>
            <a:pPr lvl="1">
              <a:lnSpc>
                <a:spcPct val="80000"/>
              </a:lnSpc>
              <a:buFontTx/>
              <a:buNone/>
            </a:pPr>
            <a:r>
              <a:rPr lang="en-US" altLang="tr-TR" sz="2000" noProof="1">
                <a:solidFill>
                  <a:srgbClr val="0000C8"/>
                </a:solidFill>
                <a:latin typeface="Consolas" panose="020B0609020204030204" pitchFamily="49" charset="0"/>
              </a:rPr>
              <a:t>}</a:t>
            </a:r>
            <a:endParaRPr lang="en-US" altLang="tr-TR" sz="2000" dirty="0">
              <a:solidFill>
                <a:srgbClr val="0000C8"/>
              </a:solidFill>
              <a:latin typeface="Consolas" panose="020B0609020204030204" pitchFamily="49" charset="0"/>
            </a:endParaRPr>
          </a:p>
          <a:p>
            <a:pPr lvl="1">
              <a:lnSpc>
                <a:spcPct val="80000"/>
              </a:lnSpc>
              <a:buFontTx/>
              <a:buNone/>
            </a:pPr>
            <a:endParaRPr lang="en-US" altLang="tr-TR" sz="1600" noProof="1">
              <a:solidFill>
                <a:srgbClr val="0000C8"/>
              </a:solidFill>
              <a:latin typeface="Consolas" panose="020B0609020204030204" pitchFamily="49" charset="0"/>
            </a:endParaRPr>
          </a:p>
          <a:p>
            <a:pPr lvl="1">
              <a:lnSpc>
                <a:spcPct val="80000"/>
              </a:lnSpc>
              <a:buFontTx/>
              <a:buNone/>
            </a:pPr>
            <a:r>
              <a:rPr lang="en-US" altLang="tr-TR" sz="2000" noProof="1">
                <a:solidFill>
                  <a:srgbClr val="0000C8"/>
                </a:solidFill>
                <a:latin typeface="Consolas" panose="020B0609020204030204" pitchFamily="49" charset="0"/>
              </a:rPr>
              <a:t>int main()</a:t>
            </a:r>
          </a:p>
          <a:p>
            <a:pPr lvl="1">
              <a:lnSpc>
                <a:spcPct val="80000"/>
              </a:lnSpc>
              <a:buFontTx/>
              <a:buNone/>
            </a:pPr>
            <a:r>
              <a:rPr lang="en-US" altLang="tr-TR" sz="2000" noProof="1">
                <a:solidFill>
                  <a:srgbClr val="0000C8"/>
                </a:solidFill>
                <a:latin typeface="Consolas" panose="020B0609020204030204" pitchFamily="49" charset="0"/>
              </a:rPr>
              <a:t>{</a:t>
            </a:r>
          </a:p>
          <a:p>
            <a:pPr lvl="1">
              <a:lnSpc>
                <a:spcPct val="80000"/>
              </a:lnSpc>
              <a:buFontTx/>
              <a:buNone/>
            </a:pPr>
            <a:r>
              <a:rPr lang="en-US" altLang="tr-TR" sz="2000" noProof="1">
                <a:solidFill>
                  <a:srgbClr val="0000C8"/>
                </a:solidFill>
                <a:latin typeface="Consolas" panose="020B0609020204030204" pitchFamily="49" charset="0"/>
              </a:rPr>
              <a:t>	int n;</a:t>
            </a:r>
          </a:p>
          <a:p>
            <a:pPr lvl="1">
              <a:lnSpc>
                <a:spcPct val="80000"/>
              </a:lnSpc>
              <a:buFontTx/>
              <a:buNone/>
            </a:pPr>
            <a:r>
              <a:rPr lang="en-US" altLang="tr-TR" sz="2000" noProof="1">
                <a:solidFill>
                  <a:srgbClr val="0000C8"/>
                </a:solidFill>
                <a:latin typeface="Consolas" panose="020B0609020204030204" pitchFamily="49" charset="0"/>
              </a:rPr>
              <a:t>	printf("Enter an integer: ");</a:t>
            </a:r>
          </a:p>
          <a:p>
            <a:pPr lvl="1">
              <a:lnSpc>
                <a:spcPct val="80000"/>
              </a:lnSpc>
              <a:buFontTx/>
              <a:buNone/>
            </a:pPr>
            <a:r>
              <a:rPr lang="en-US" altLang="tr-TR" sz="2000" noProof="1">
                <a:solidFill>
                  <a:srgbClr val="0000C8"/>
                </a:solidFill>
                <a:latin typeface="Consolas" panose="020B0609020204030204" pitchFamily="49" charset="0"/>
              </a:rPr>
              <a:t>	scanf("%d", &amp;n);</a:t>
            </a:r>
          </a:p>
          <a:p>
            <a:pPr lvl="1">
              <a:lnSpc>
                <a:spcPct val="80000"/>
              </a:lnSpc>
              <a:buFontTx/>
              <a:buNone/>
            </a:pPr>
            <a:r>
              <a:rPr lang="en-US" altLang="tr-TR" sz="2000" noProof="1">
                <a:solidFill>
                  <a:srgbClr val="0000C8"/>
                </a:solidFill>
                <a:latin typeface="Consolas" panose="020B0609020204030204" pitchFamily="49" charset="0"/>
              </a:rPr>
              <a:t>	printf("%d! = %ld\n", n, factorial(n));</a:t>
            </a:r>
          </a:p>
          <a:p>
            <a:pPr lvl="1">
              <a:lnSpc>
                <a:spcPct val="80000"/>
              </a:lnSpc>
              <a:buFontTx/>
              <a:buNone/>
            </a:pPr>
            <a:r>
              <a:rPr lang="en-US" altLang="tr-TR" sz="2000" noProof="1">
                <a:solidFill>
                  <a:srgbClr val="0000C8"/>
                </a:solidFill>
                <a:latin typeface="Consolas" panose="020B0609020204030204" pitchFamily="49" charset="0"/>
              </a:rPr>
              <a:t>	return 0;</a:t>
            </a:r>
          </a:p>
          <a:p>
            <a:pPr lvl="1">
              <a:lnSpc>
                <a:spcPct val="80000"/>
              </a:lnSpc>
              <a:buFontTx/>
              <a:buNone/>
            </a:pPr>
            <a:r>
              <a:rPr lang="en-US" altLang="tr-TR" sz="2000" noProof="1">
                <a:solidFill>
                  <a:srgbClr val="0000C8"/>
                </a:solidFill>
                <a:latin typeface="Consolas" panose="020B0609020204030204" pitchFamily="49" charset="0"/>
              </a:rPr>
              <a:t>}</a:t>
            </a:r>
            <a:endParaRPr lang="en-US" altLang="tr-TR" sz="2000" dirty="0">
              <a:solidFill>
                <a:srgbClr val="0000C8"/>
              </a:solidFill>
              <a:latin typeface="Consolas" panose="020B0609020204030204" pitchFamily="49" charset="0"/>
            </a:endParaRPr>
          </a:p>
          <a:p>
            <a:pPr marL="0" indent="0">
              <a:buNone/>
            </a:pPr>
            <a:endParaRPr lang="tr-TR" dirty="0">
              <a:latin typeface="Consolas" panose="020B0609020204030204" pitchFamily="49" charset="0"/>
            </a:endParaRPr>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50</a:t>
            </a:fld>
            <a:endParaRPr lang="en-US" altLang="tr-TR">
              <a:ea typeface="ＭＳ Ｐゴシック" panose="020B0600070205080204" pitchFamily="34" charset="-128"/>
            </a:endParaRPr>
          </a:p>
        </p:txBody>
      </p:sp>
      <p:pic>
        <p:nvPicPr>
          <p:cNvPr id="5" name="Picture 4" descr="C:\Users\agaoglu\agaoglu-docs\courses-recent\computer-programming\cse1142-2019-2020-2\source-codes-c\functions\C23_60_factorialByRecursion.ex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0699" y="1219200"/>
            <a:ext cx="4124901" cy="15337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26749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Example Using Recursion: The Fibonacci Series</a:t>
            </a:r>
            <a:endParaRPr lang="tr-TR" dirty="0"/>
          </a:p>
        </p:txBody>
      </p:sp>
      <p:sp>
        <p:nvSpPr>
          <p:cNvPr id="3" name="Content Placeholder 2"/>
          <p:cNvSpPr>
            <a:spLocks noGrp="1"/>
          </p:cNvSpPr>
          <p:nvPr>
            <p:ph idx="1"/>
          </p:nvPr>
        </p:nvSpPr>
        <p:spPr/>
        <p:txBody>
          <a:bodyPr/>
          <a:lstStyle/>
          <a:p>
            <a:r>
              <a:rPr lang="en-US" altLang="tr-TR" dirty="0"/>
              <a:t>Fibonacci series: 0, 1, 1, 2, 3, 5, 8...</a:t>
            </a:r>
          </a:p>
          <a:p>
            <a:pPr lvl="1"/>
            <a:r>
              <a:rPr lang="en-US" altLang="tr-TR" dirty="0"/>
              <a:t>Each number is the sum of the previous two </a:t>
            </a:r>
          </a:p>
          <a:p>
            <a:pPr lvl="1"/>
            <a:r>
              <a:rPr lang="en-US" altLang="tr-TR" dirty="0"/>
              <a:t>Can be solved recursively:</a:t>
            </a:r>
          </a:p>
          <a:p>
            <a:pPr lvl="2"/>
            <a:r>
              <a:rPr lang="en-US" altLang="tr-TR" sz="1800" dirty="0">
                <a:latin typeface="Lucida Console" panose="020B0609040504020204" pitchFamily="49" charset="0"/>
              </a:rPr>
              <a:t>fib( n ) = fib( n - 1 ) + fib( n – 2 )</a:t>
            </a:r>
          </a:p>
          <a:p>
            <a:pPr lvl="2"/>
            <a:endParaRPr lang="en-US" altLang="tr-TR" sz="1800" dirty="0">
              <a:latin typeface="Lucida Console" panose="020B0609040504020204" pitchFamily="49" charset="0"/>
            </a:endParaRPr>
          </a:p>
          <a:p>
            <a:pPr lvl="1"/>
            <a:r>
              <a:rPr lang="en-US" altLang="tr-TR" dirty="0"/>
              <a:t>Code for the</a:t>
            </a:r>
            <a:r>
              <a:rPr lang="en-US" altLang="tr-TR" sz="2000" dirty="0">
                <a:latin typeface="Lucida Console" panose="020B0609040504020204" pitchFamily="49" charset="0"/>
              </a:rPr>
              <a:t> </a:t>
            </a:r>
            <a:r>
              <a:rPr lang="en-US" altLang="tr-TR" sz="2000" dirty="0" err="1">
                <a:latin typeface="Lucida Console" panose="020B0609040504020204" pitchFamily="49" charset="0"/>
              </a:rPr>
              <a:t>fibonacci</a:t>
            </a:r>
            <a:r>
              <a:rPr lang="en-US" altLang="tr-TR" dirty="0"/>
              <a:t> function</a:t>
            </a:r>
          </a:p>
          <a:p>
            <a:pPr lvl="4"/>
            <a:endParaRPr lang="en-US" altLang="tr-TR" dirty="0"/>
          </a:p>
          <a:p>
            <a:pPr lvl="2">
              <a:buFontTx/>
              <a:buNone/>
            </a:pPr>
            <a:r>
              <a:rPr lang="tr-TR" altLang="tr-TR" sz="1800" dirty="0" err="1">
                <a:latin typeface="Lucida Console" panose="020B0609040504020204" pitchFamily="49" charset="0"/>
              </a:rPr>
              <a:t>int</a:t>
            </a:r>
            <a:r>
              <a:rPr lang="en-US" altLang="tr-TR" sz="1800" dirty="0">
                <a:latin typeface="Lucida Console" panose="020B0609040504020204" pitchFamily="49" charset="0"/>
              </a:rPr>
              <a:t> </a:t>
            </a:r>
            <a:r>
              <a:rPr lang="en-US" altLang="tr-TR" sz="1800" dirty="0" err="1" smtClean="0">
                <a:latin typeface="Lucida Console" panose="020B0609040504020204" pitchFamily="49" charset="0"/>
              </a:rPr>
              <a:t>fibonacci</a:t>
            </a:r>
            <a:r>
              <a:rPr lang="en-US" altLang="tr-TR" sz="1800" dirty="0" smtClean="0">
                <a:latin typeface="Lucida Console" panose="020B0609040504020204" pitchFamily="49" charset="0"/>
              </a:rPr>
              <a:t>(</a:t>
            </a:r>
            <a:r>
              <a:rPr lang="tr-TR" altLang="tr-TR" sz="1800" dirty="0" err="1" smtClean="0">
                <a:latin typeface="Lucida Console" panose="020B0609040504020204" pitchFamily="49" charset="0"/>
              </a:rPr>
              <a:t>int</a:t>
            </a:r>
            <a:r>
              <a:rPr lang="en-US" altLang="tr-TR" sz="1800" dirty="0" smtClean="0">
                <a:latin typeface="Lucida Console" panose="020B0609040504020204" pitchFamily="49" charset="0"/>
              </a:rPr>
              <a:t> n)</a:t>
            </a:r>
            <a:endParaRPr lang="en-US" altLang="tr-TR" sz="1800" dirty="0">
              <a:latin typeface="Lucida Console" panose="020B0609040504020204" pitchFamily="49" charset="0"/>
            </a:endParaRPr>
          </a:p>
          <a:p>
            <a:pPr lvl="2">
              <a:buFontTx/>
              <a:buNone/>
            </a:pPr>
            <a:r>
              <a:rPr lang="en-US" altLang="tr-TR" sz="1800" dirty="0">
                <a:latin typeface="Lucida Console" panose="020B0609040504020204" pitchFamily="49" charset="0"/>
              </a:rPr>
              <a:t>{</a:t>
            </a:r>
          </a:p>
          <a:p>
            <a:pPr lvl="2">
              <a:buFontTx/>
              <a:buNone/>
            </a:pPr>
            <a:r>
              <a:rPr lang="en-US" altLang="tr-TR" sz="1800" dirty="0">
                <a:latin typeface="Lucida Console" panose="020B0609040504020204" pitchFamily="49" charset="0"/>
              </a:rPr>
              <a:t>	if (n == 0 || n == 1)  // base case</a:t>
            </a:r>
          </a:p>
          <a:p>
            <a:pPr lvl="2">
              <a:buFontTx/>
              <a:buNone/>
            </a:pPr>
            <a:r>
              <a:rPr lang="en-US" altLang="tr-TR" sz="1800" dirty="0">
                <a:latin typeface="Lucida Console" panose="020B0609040504020204" pitchFamily="49" charset="0"/>
              </a:rPr>
              <a:t>    return n;</a:t>
            </a:r>
          </a:p>
          <a:p>
            <a:pPr lvl="2">
              <a:buFontTx/>
              <a:buNone/>
            </a:pPr>
            <a:r>
              <a:rPr lang="en-US" altLang="tr-TR" sz="1800" dirty="0">
                <a:latin typeface="Lucida Console" panose="020B0609040504020204" pitchFamily="49" charset="0"/>
              </a:rPr>
              <a:t>	else</a:t>
            </a:r>
          </a:p>
          <a:p>
            <a:pPr lvl="2">
              <a:buFontTx/>
              <a:buNone/>
            </a:pPr>
            <a:r>
              <a:rPr lang="en-US" altLang="tr-TR" sz="1800" dirty="0">
                <a:latin typeface="Lucida Console" panose="020B0609040504020204" pitchFamily="49" charset="0"/>
              </a:rPr>
              <a:t>    return </a:t>
            </a:r>
            <a:r>
              <a:rPr lang="en-US" altLang="tr-TR" sz="1800" dirty="0" err="1" smtClean="0">
                <a:latin typeface="Lucida Console" panose="020B0609040504020204" pitchFamily="49" charset="0"/>
              </a:rPr>
              <a:t>fibonacci</a:t>
            </a:r>
            <a:r>
              <a:rPr lang="en-US" altLang="tr-TR" sz="1800" dirty="0" smtClean="0">
                <a:latin typeface="Lucida Console" panose="020B0609040504020204" pitchFamily="49" charset="0"/>
              </a:rPr>
              <a:t>(n </a:t>
            </a:r>
            <a:r>
              <a:rPr lang="en-US" altLang="tr-TR" sz="1800" dirty="0">
                <a:latin typeface="Lucida Console" panose="020B0609040504020204" pitchFamily="49" charset="0"/>
              </a:rPr>
              <a:t>- 1) </a:t>
            </a:r>
            <a:r>
              <a:rPr lang="tr-TR" altLang="tr-TR" sz="1800" dirty="0" smtClean="0">
                <a:latin typeface="Lucida Console" panose="020B0609040504020204" pitchFamily="49" charset="0"/>
              </a:rPr>
              <a:t> </a:t>
            </a:r>
            <a:r>
              <a:rPr lang="en-US" altLang="tr-TR" sz="1800" dirty="0" smtClean="0">
                <a:latin typeface="Lucida Console" panose="020B0609040504020204" pitchFamily="49" charset="0"/>
              </a:rPr>
              <a:t>+</a:t>
            </a:r>
            <a:r>
              <a:rPr lang="tr-TR" altLang="tr-TR" sz="1800" dirty="0" smtClean="0">
                <a:latin typeface="Lucida Console" panose="020B0609040504020204" pitchFamily="49" charset="0"/>
              </a:rPr>
              <a:t> </a:t>
            </a:r>
            <a:r>
              <a:rPr lang="tr-TR" altLang="tr-TR" sz="1800" dirty="0" smtClean="0">
                <a:latin typeface="Lucida Console" panose="020B0609040504020204" pitchFamily="49" charset="0"/>
              </a:rPr>
              <a:t> </a:t>
            </a:r>
            <a:r>
              <a:rPr lang="en-US" altLang="tr-TR" sz="1800" dirty="0" err="1" smtClean="0">
                <a:latin typeface="Lucida Console" panose="020B0609040504020204" pitchFamily="49" charset="0"/>
              </a:rPr>
              <a:t>fibonacci</a:t>
            </a:r>
            <a:r>
              <a:rPr lang="en-US" altLang="tr-TR" sz="1800" dirty="0" smtClean="0">
                <a:latin typeface="Lucida Console" panose="020B0609040504020204" pitchFamily="49" charset="0"/>
              </a:rPr>
              <a:t>(n </a:t>
            </a:r>
            <a:r>
              <a:rPr lang="en-US" altLang="tr-TR" sz="1800">
                <a:latin typeface="Lucida Console" panose="020B0609040504020204" pitchFamily="49" charset="0"/>
              </a:rPr>
              <a:t>– </a:t>
            </a:r>
            <a:r>
              <a:rPr lang="en-US" altLang="tr-TR" sz="1800" smtClean="0">
                <a:latin typeface="Lucida Console" panose="020B0609040504020204" pitchFamily="49" charset="0"/>
              </a:rPr>
              <a:t>2);</a:t>
            </a:r>
            <a:endParaRPr lang="en-US" altLang="tr-TR" sz="1800" dirty="0">
              <a:latin typeface="Lucida Console" panose="020B0609040504020204" pitchFamily="49" charset="0"/>
            </a:endParaRPr>
          </a:p>
          <a:p>
            <a:pPr lvl="2">
              <a:buFontTx/>
              <a:buNone/>
            </a:pPr>
            <a:r>
              <a:rPr lang="en-US" altLang="tr-TR" sz="1800" dirty="0">
                <a:latin typeface="Lucida Console" panose="020B0609040504020204" pitchFamily="49" charset="0"/>
              </a:rPr>
              <a:t>}</a:t>
            </a:r>
          </a:p>
          <a:p>
            <a:endParaRPr lang="tr-TR"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51</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26149925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Set of recursive calls to function</a:t>
            </a:r>
            <a:r>
              <a:rPr lang="tr-TR" altLang="tr-TR" dirty="0"/>
              <a:t> fibonacci</a:t>
            </a:r>
            <a:r>
              <a:rPr lang="en-US" altLang="tr-TR" dirty="0"/>
              <a:t> </a:t>
            </a:r>
            <a:endParaRPr lang="tr-TR" sz="3600"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52</a:t>
            </a:fld>
            <a:endParaRPr lang="en-US" altLang="tr-TR">
              <a:ea typeface="ＭＳ Ｐゴシック" panose="020B0600070205080204" pitchFamily="34" charset="-128"/>
            </a:endParaRPr>
          </a:p>
        </p:txBody>
      </p:sp>
      <p:pic>
        <p:nvPicPr>
          <p:cNvPr id="6" name="Picture 5"/>
          <p:cNvPicPr>
            <a:picLocks noChangeAspect="1"/>
          </p:cNvPicPr>
          <p:nvPr/>
        </p:nvPicPr>
        <p:blipFill>
          <a:blip r:embed="rId2"/>
          <a:stretch>
            <a:fillRect/>
          </a:stretch>
        </p:blipFill>
        <p:spPr>
          <a:xfrm>
            <a:off x="796834" y="1320800"/>
            <a:ext cx="9888583" cy="4583612"/>
          </a:xfrm>
          <a:prstGeom prst="rect">
            <a:avLst/>
          </a:prstGeom>
        </p:spPr>
      </p:pic>
    </p:spTree>
    <p:extLst>
      <p:ext uri="{BB962C8B-B14F-4D97-AF65-F5344CB8AC3E}">
        <p14:creationId xmlns:p14="http://schemas.microsoft.com/office/powerpoint/2010/main" val="2929160741"/>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Recursion vs. Iteration</a:t>
            </a:r>
            <a:endParaRPr lang="tr-TR" dirty="0"/>
          </a:p>
        </p:txBody>
      </p:sp>
      <p:sp>
        <p:nvSpPr>
          <p:cNvPr id="3" name="Content Placeholder 2"/>
          <p:cNvSpPr>
            <a:spLocks noGrp="1"/>
          </p:cNvSpPr>
          <p:nvPr>
            <p:ph idx="1"/>
          </p:nvPr>
        </p:nvSpPr>
        <p:spPr/>
        <p:txBody>
          <a:bodyPr/>
          <a:lstStyle/>
          <a:p>
            <a:r>
              <a:rPr lang="en-US" altLang="tr-TR" dirty="0"/>
              <a:t>Repetition</a:t>
            </a:r>
          </a:p>
          <a:p>
            <a:pPr lvl="1"/>
            <a:r>
              <a:rPr lang="en-US" altLang="tr-TR" dirty="0"/>
              <a:t>Iteration:  explicit loop</a:t>
            </a:r>
          </a:p>
          <a:p>
            <a:pPr lvl="1"/>
            <a:r>
              <a:rPr lang="en-US" altLang="tr-TR" dirty="0"/>
              <a:t>Recursion:  repeated function calls</a:t>
            </a:r>
          </a:p>
          <a:p>
            <a:pPr lvl="4"/>
            <a:endParaRPr lang="tr-TR" altLang="tr-TR" dirty="0" smtClean="0"/>
          </a:p>
          <a:p>
            <a:r>
              <a:rPr lang="en-US" altLang="tr-TR" dirty="0" smtClean="0"/>
              <a:t>Termination</a:t>
            </a:r>
            <a:endParaRPr lang="en-US" altLang="tr-TR" dirty="0"/>
          </a:p>
          <a:p>
            <a:pPr lvl="1"/>
            <a:r>
              <a:rPr lang="en-US" altLang="tr-TR" dirty="0"/>
              <a:t>Iteration: loop condition fails</a:t>
            </a:r>
          </a:p>
          <a:p>
            <a:pPr lvl="1"/>
            <a:r>
              <a:rPr lang="en-US" altLang="tr-TR" dirty="0"/>
              <a:t>Recursion: base case recognized</a:t>
            </a:r>
          </a:p>
          <a:p>
            <a:pPr lvl="4"/>
            <a:endParaRPr lang="tr-TR" altLang="tr-TR" dirty="0" smtClean="0"/>
          </a:p>
          <a:p>
            <a:r>
              <a:rPr lang="en-US" altLang="tr-TR" dirty="0" smtClean="0"/>
              <a:t>Both </a:t>
            </a:r>
            <a:r>
              <a:rPr lang="en-US" altLang="tr-TR" dirty="0"/>
              <a:t>can have infinite loops</a:t>
            </a:r>
          </a:p>
          <a:p>
            <a:pPr lvl="4"/>
            <a:endParaRPr lang="tr-TR" altLang="tr-TR" dirty="0" smtClean="0"/>
          </a:p>
          <a:p>
            <a:r>
              <a:rPr lang="en-US" altLang="tr-TR" dirty="0" smtClean="0"/>
              <a:t>Balance </a:t>
            </a:r>
            <a:endParaRPr lang="en-US" altLang="tr-TR" dirty="0"/>
          </a:p>
          <a:p>
            <a:pPr lvl="1"/>
            <a:r>
              <a:rPr lang="en-US" altLang="tr-TR" dirty="0"/>
              <a:t>Choice between performance (iteration) and good software engineering (recursion)</a:t>
            </a:r>
          </a:p>
          <a:p>
            <a:endParaRPr lang="tr-TR"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53</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715511297"/>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Standart Functions in C</a:t>
            </a:r>
          </a:p>
        </p:txBody>
      </p:sp>
      <p:sp>
        <p:nvSpPr>
          <p:cNvPr id="3" name="Content Placeholder 2"/>
          <p:cNvSpPr>
            <a:spLocks noGrp="1"/>
          </p:cNvSpPr>
          <p:nvPr>
            <p:ph idx="1"/>
          </p:nvPr>
        </p:nvSpPr>
        <p:spPr/>
        <p:txBody>
          <a:bodyPr/>
          <a:lstStyle/>
          <a:p>
            <a:r>
              <a:rPr lang="tr-TR" dirty="0"/>
              <a:t>Math library functions</a:t>
            </a:r>
          </a:p>
          <a:p>
            <a:endParaRPr lang="tr-TR" dirty="0"/>
          </a:p>
          <a:p>
            <a:r>
              <a:rPr lang="tr-TR" dirty="0"/>
              <a:t>Header files</a:t>
            </a:r>
          </a:p>
          <a:p>
            <a:endParaRPr lang="tr-TR" dirty="0"/>
          </a:p>
          <a:p>
            <a:r>
              <a:rPr lang="tr-TR" dirty="0"/>
              <a:t>Random number generation</a:t>
            </a:r>
          </a:p>
          <a:p>
            <a:endParaRPr lang="tr-TR"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54</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3783705090"/>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Math Library Functions</a:t>
            </a:r>
            <a:endParaRPr lang="tr-TR" dirty="0"/>
          </a:p>
        </p:txBody>
      </p:sp>
      <p:sp>
        <p:nvSpPr>
          <p:cNvPr id="3" name="Content Placeholder 2"/>
          <p:cNvSpPr>
            <a:spLocks noGrp="1"/>
          </p:cNvSpPr>
          <p:nvPr>
            <p:ph idx="1"/>
          </p:nvPr>
        </p:nvSpPr>
        <p:spPr/>
        <p:txBody>
          <a:bodyPr/>
          <a:lstStyle/>
          <a:p>
            <a:r>
              <a:rPr lang="en-US" altLang="tr-TR" dirty="0"/>
              <a:t>Math library functions </a:t>
            </a:r>
          </a:p>
          <a:p>
            <a:pPr lvl="4"/>
            <a:endParaRPr lang="tr-TR" altLang="tr-TR" sz="800" dirty="0" smtClean="0"/>
          </a:p>
          <a:p>
            <a:pPr lvl="1"/>
            <a:r>
              <a:rPr lang="en-US" altLang="tr-TR" dirty="0" smtClean="0"/>
              <a:t>perform </a:t>
            </a:r>
            <a:r>
              <a:rPr lang="en-US" altLang="tr-TR" dirty="0"/>
              <a:t>common mathematical calculations</a:t>
            </a:r>
          </a:p>
          <a:p>
            <a:pPr lvl="4"/>
            <a:endParaRPr lang="tr-TR" altLang="tr-TR" sz="800" dirty="0" smtClean="0">
              <a:latin typeface="Lucida Console" panose="020B0609040504020204" pitchFamily="49" charset="0"/>
            </a:endParaRPr>
          </a:p>
          <a:p>
            <a:pPr lvl="1"/>
            <a:r>
              <a:rPr lang="en-US" altLang="tr-TR" sz="2000" dirty="0" smtClean="0">
                <a:latin typeface="Lucida Console" panose="020B0609040504020204" pitchFamily="49" charset="0"/>
              </a:rPr>
              <a:t>#</a:t>
            </a:r>
            <a:r>
              <a:rPr lang="en-US" altLang="tr-TR" sz="2000" dirty="0">
                <a:latin typeface="Lucida Console" panose="020B0609040504020204" pitchFamily="49" charset="0"/>
              </a:rPr>
              <a:t>include &lt;</a:t>
            </a:r>
            <a:r>
              <a:rPr lang="en-US" altLang="tr-TR" sz="2000" dirty="0" err="1">
                <a:latin typeface="Lucida Console" panose="020B0609040504020204" pitchFamily="49" charset="0"/>
              </a:rPr>
              <a:t>math.h</a:t>
            </a:r>
            <a:r>
              <a:rPr lang="en-US" altLang="tr-TR" sz="2000" dirty="0">
                <a:latin typeface="Lucida Console" panose="020B0609040504020204" pitchFamily="49" charset="0"/>
              </a:rPr>
              <a:t>&gt;</a:t>
            </a:r>
          </a:p>
          <a:p>
            <a:pPr lvl="4"/>
            <a:endParaRPr lang="tr-TR" altLang="tr-TR" dirty="0" smtClean="0"/>
          </a:p>
          <a:p>
            <a:pPr lvl="4"/>
            <a:endParaRPr lang="tr-TR" altLang="tr-TR" dirty="0" smtClean="0"/>
          </a:p>
          <a:p>
            <a:r>
              <a:rPr lang="en-US" altLang="tr-TR" dirty="0" smtClean="0"/>
              <a:t>Format </a:t>
            </a:r>
            <a:r>
              <a:rPr lang="en-US" altLang="tr-TR" dirty="0"/>
              <a:t>for calling functions</a:t>
            </a:r>
          </a:p>
          <a:p>
            <a:pPr lvl="4"/>
            <a:endParaRPr lang="tr-TR" altLang="tr-TR" sz="1000" dirty="0" smtClean="0">
              <a:latin typeface="Lucida Console" panose="020B0609040504020204" pitchFamily="49" charset="0"/>
            </a:endParaRPr>
          </a:p>
          <a:p>
            <a:pPr lvl="1"/>
            <a:r>
              <a:rPr lang="en-US" altLang="tr-TR" sz="2000" dirty="0" err="1" smtClean="0">
                <a:latin typeface="Lucida Console" panose="020B0609040504020204" pitchFamily="49" charset="0"/>
              </a:rPr>
              <a:t>FunctionName</a:t>
            </a:r>
            <a:r>
              <a:rPr lang="en-US" altLang="tr-TR" sz="2000" dirty="0">
                <a:latin typeface="Lucida Console" panose="020B0609040504020204" pitchFamily="49" charset="0"/>
              </a:rPr>
              <a:t>( </a:t>
            </a:r>
            <a:r>
              <a:rPr lang="en-US" altLang="tr-TR" sz="2000" i="1" dirty="0">
                <a:latin typeface="Lucida Console" panose="020B0609040504020204" pitchFamily="49" charset="0"/>
              </a:rPr>
              <a:t>argument</a:t>
            </a:r>
            <a:r>
              <a:rPr lang="en-US" altLang="tr-TR" sz="2000" dirty="0">
                <a:latin typeface="Lucida Console" panose="020B0609040504020204" pitchFamily="49" charset="0"/>
              </a:rPr>
              <a:t> );</a:t>
            </a:r>
          </a:p>
          <a:p>
            <a:pPr lvl="2"/>
            <a:r>
              <a:rPr lang="en-US" altLang="tr-TR" dirty="0"/>
              <a:t>If multiple arguments, use comma-separated list</a:t>
            </a:r>
          </a:p>
          <a:p>
            <a:pPr lvl="4"/>
            <a:endParaRPr lang="tr-TR" altLang="tr-TR" sz="800" dirty="0" smtClean="0">
              <a:latin typeface="Lucida Console" panose="020B0609040504020204" pitchFamily="49" charset="0"/>
            </a:endParaRPr>
          </a:p>
          <a:p>
            <a:pPr lvl="1"/>
            <a:r>
              <a:rPr lang="en-US" altLang="tr-TR" sz="2000" dirty="0" err="1" smtClean="0">
                <a:latin typeface="Lucida Console" panose="020B0609040504020204" pitchFamily="49" charset="0"/>
              </a:rPr>
              <a:t>printf</a:t>
            </a:r>
            <a:r>
              <a:rPr lang="en-US" altLang="tr-TR" sz="2000" dirty="0">
                <a:latin typeface="Lucida Console" panose="020B0609040504020204" pitchFamily="49" charset="0"/>
              </a:rPr>
              <a:t>( "%.2f", </a:t>
            </a:r>
            <a:r>
              <a:rPr lang="en-US" altLang="tr-TR" sz="2000" dirty="0" err="1">
                <a:latin typeface="Lucida Console" panose="020B0609040504020204" pitchFamily="49" charset="0"/>
              </a:rPr>
              <a:t>sqrt</a:t>
            </a:r>
            <a:r>
              <a:rPr lang="en-US" altLang="tr-TR" sz="2000" dirty="0">
                <a:latin typeface="Lucida Console" panose="020B0609040504020204" pitchFamily="49" charset="0"/>
              </a:rPr>
              <a:t>( 900.0 ) );</a:t>
            </a:r>
            <a:r>
              <a:rPr lang="en-US" altLang="tr-TR" b="1" dirty="0">
                <a:latin typeface="Courier New" panose="02070309020205020404" pitchFamily="49" charset="0"/>
              </a:rPr>
              <a:t> </a:t>
            </a:r>
          </a:p>
          <a:p>
            <a:pPr lvl="2"/>
            <a:r>
              <a:rPr lang="en-US" altLang="tr-TR" dirty="0"/>
              <a:t>Calls function </a:t>
            </a:r>
            <a:r>
              <a:rPr lang="en-US" altLang="tr-TR" sz="1800" dirty="0" err="1">
                <a:latin typeface="Lucida Console" panose="020B0609040504020204" pitchFamily="49" charset="0"/>
              </a:rPr>
              <a:t>sqrt</a:t>
            </a:r>
            <a:r>
              <a:rPr lang="en-US" altLang="tr-TR" dirty="0"/>
              <a:t>, which returns the square root of its argument</a:t>
            </a:r>
          </a:p>
          <a:p>
            <a:pPr lvl="2"/>
            <a:r>
              <a:rPr lang="en-US" altLang="tr-TR" dirty="0"/>
              <a:t>All math functions return data type </a:t>
            </a:r>
            <a:r>
              <a:rPr lang="en-US" altLang="tr-TR" sz="1800" dirty="0">
                <a:latin typeface="Lucida Console" panose="020B0609040504020204" pitchFamily="49" charset="0"/>
              </a:rPr>
              <a:t>double</a:t>
            </a:r>
          </a:p>
          <a:p>
            <a:pPr lvl="4"/>
            <a:endParaRPr lang="tr-TR" altLang="tr-TR" sz="800" dirty="0" smtClean="0"/>
          </a:p>
          <a:p>
            <a:pPr lvl="1"/>
            <a:r>
              <a:rPr lang="en-US" altLang="tr-TR" dirty="0" smtClean="0"/>
              <a:t>Arguments </a:t>
            </a:r>
            <a:r>
              <a:rPr lang="en-US" altLang="tr-TR" dirty="0"/>
              <a:t>may be constants, variables, or expressions</a:t>
            </a:r>
          </a:p>
          <a:p>
            <a:pPr lvl="2"/>
            <a:endParaRPr lang="en-US" altLang="tr-TR" dirty="0"/>
          </a:p>
          <a:p>
            <a:endParaRPr lang="tr-TR"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55</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223018959"/>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Math Library Functions</a:t>
            </a:r>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56</a:t>
            </a:fld>
            <a:endParaRPr lang="en-US" altLang="tr-TR">
              <a:ea typeface="ＭＳ Ｐゴシック" panose="020B0600070205080204" pitchFamily="34" charset="-128"/>
            </a:endParaRPr>
          </a:p>
        </p:txBody>
      </p:sp>
      <p:pic>
        <p:nvPicPr>
          <p:cNvPr id="6" name="Picture 5"/>
          <p:cNvPicPr>
            <a:picLocks noChangeAspect="1"/>
          </p:cNvPicPr>
          <p:nvPr/>
        </p:nvPicPr>
        <p:blipFill>
          <a:blip r:embed="rId2"/>
          <a:stretch>
            <a:fillRect/>
          </a:stretch>
        </p:blipFill>
        <p:spPr>
          <a:xfrm>
            <a:off x="1706270" y="1168233"/>
            <a:ext cx="7026150" cy="4521534"/>
          </a:xfrm>
          <a:prstGeom prst="rect">
            <a:avLst/>
          </a:prstGeom>
        </p:spPr>
      </p:pic>
    </p:spTree>
    <p:extLst>
      <p:ext uri="{BB962C8B-B14F-4D97-AF65-F5344CB8AC3E}">
        <p14:creationId xmlns:p14="http://schemas.microsoft.com/office/powerpoint/2010/main" val="4293540266"/>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Math Library Functions (cont.)</a:t>
            </a:r>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57</a:t>
            </a:fld>
            <a:endParaRPr lang="en-US" altLang="tr-TR">
              <a:ea typeface="ＭＳ Ｐゴシック" panose="020B0600070205080204" pitchFamily="34" charset="-128"/>
            </a:endParaRPr>
          </a:p>
        </p:txBody>
      </p:sp>
      <p:pic>
        <p:nvPicPr>
          <p:cNvPr id="7" name="Picture 6"/>
          <p:cNvPicPr>
            <a:picLocks noChangeAspect="1"/>
          </p:cNvPicPr>
          <p:nvPr/>
        </p:nvPicPr>
        <p:blipFill>
          <a:blip r:embed="rId2"/>
          <a:stretch>
            <a:fillRect/>
          </a:stretch>
        </p:blipFill>
        <p:spPr>
          <a:xfrm>
            <a:off x="1710071" y="1459832"/>
            <a:ext cx="8124825" cy="3448050"/>
          </a:xfrm>
          <a:prstGeom prst="rect">
            <a:avLst/>
          </a:prstGeom>
        </p:spPr>
      </p:pic>
    </p:spTree>
    <p:extLst>
      <p:ext uri="{BB962C8B-B14F-4D97-AF65-F5344CB8AC3E}">
        <p14:creationId xmlns:p14="http://schemas.microsoft.com/office/powerpoint/2010/main" val="2557838769"/>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Header Files</a:t>
            </a:r>
            <a:endParaRPr lang="tr-TR" dirty="0"/>
          </a:p>
        </p:txBody>
      </p:sp>
      <p:sp>
        <p:nvSpPr>
          <p:cNvPr id="3" name="Content Placeholder 2"/>
          <p:cNvSpPr>
            <a:spLocks noGrp="1"/>
          </p:cNvSpPr>
          <p:nvPr>
            <p:ph idx="1"/>
          </p:nvPr>
        </p:nvSpPr>
        <p:spPr/>
        <p:txBody>
          <a:bodyPr/>
          <a:lstStyle/>
          <a:p>
            <a:r>
              <a:rPr lang="en-US" altLang="tr-TR" dirty="0"/>
              <a:t>Header files</a:t>
            </a:r>
          </a:p>
          <a:p>
            <a:pPr lvl="1"/>
            <a:r>
              <a:rPr lang="en-US" altLang="tr-TR" dirty="0"/>
              <a:t>Contain function prototypes for library functions</a:t>
            </a:r>
          </a:p>
          <a:p>
            <a:pPr lvl="1"/>
            <a:r>
              <a:rPr lang="en-US" altLang="tr-TR" sz="2000" dirty="0">
                <a:latin typeface="Lucida Console" panose="020B0609040504020204" pitchFamily="49" charset="0"/>
              </a:rPr>
              <a:t>&lt;</a:t>
            </a:r>
            <a:r>
              <a:rPr lang="en-US" altLang="tr-TR" sz="2000" dirty="0" err="1">
                <a:latin typeface="Lucida Console" panose="020B0609040504020204" pitchFamily="49" charset="0"/>
              </a:rPr>
              <a:t>stdlib.h</a:t>
            </a:r>
            <a:r>
              <a:rPr lang="en-US" altLang="tr-TR" sz="2000" dirty="0">
                <a:latin typeface="Lucida Console" panose="020B0609040504020204" pitchFamily="49" charset="0"/>
              </a:rPr>
              <a:t>&gt; , &lt;</a:t>
            </a:r>
            <a:r>
              <a:rPr lang="en-US" altLang="tr-TR" sz="2000" dirty="0" err="1">
                <a:latin typeface="Lucida Console" panose="020B0609040504020204" pitchFamily="49" charset="0"/>
              </a:rPr>
              <a:t>math.h</a:t>
            </a:r>
            <a:r>
              <a:rPr lang="en-US" altLang="tr-TR" sz="2000" dirty="0">
                <a:latin typeface="Lucida Console" panose="020B0609040504020204" pitchFamily="49" charset="0"/>
              </a:rPr>
              <a:t>&gt;</a:t>
            </a:r>
            <a:r>
              <a:rPr lang="en-US" altLang="tr-TR" dirty="0"/>
              <a:t> , </a:t>
            </a:r>
            <a:r>
              <a:rPr lang="en-US" altLang="tr-TR" dirty="0" err="1"/>
              <a:t>etc</a:t>
            </a:r>
            <a:endParaRPr lang="en-US" altLang="tr-TR" dirty="0"/>
          </a:p>
          <a:p>
            <a:pPr lvl="1"/>
            <a:r>
              <a:rPr lang="en-US" altLang="tr-TR" dirty="0"/>
              <a:t>Load with </a:t>
            </a:r>
            <a:r>
              <a:rPr lang="en-US" altLang="tr-TR" sz="1800" dirty="0">
                <a:latin typeface="Lucida Console" panose="020B0609040504020204" pitchFamily="49" charset="0"/>
              </a:rPr>
              <a:t>#include &lt;filename&gt;</a:t>
            </a:r>
          </a:p>
          <a:p>
            <a:pPr lvl="2">
              <a:buFontTx/>
              <a:buNone/>
            </a:pPr>
            <a:r>
              <a:rPr lang="en-US" altLang="tr-TR" sz="1800" dirty="0">
                <a:latin typeface="Lucida Console" panose="020B0609040504020204" pitchFamily="49" charset="0"/>
              </a:rPr>
              <a:t>#include &lt;</a:t>
            </a:r>
            <a:r>
              <a:rPr lang="en-US" altLang="tr-TR" sz="1800" dirty="0" err="1">
                <a:latin typeface="Lucida Console" panose="020B0609040504020204" pitchFamily="49" charset="0"/>
              </a:rPr>
              <a:t>math.h</a:t>
            </a:r>
            <a:r>
              <a:rPr lang="en-US" altLang="tr-TR" sz="1800" dirty="0">
                <a:latin typeface="Lucida Console" panose="020B0609040504020204" pitchFamily="49" charset="0"/>
              </a:rPr>
              <a:t>&gt;</a:t>
            </a:r>
          </a:p>
          <a:p>
            <a:endParaRPr lang="tr-TR" altLang="tr-TR" dirty="0" smtClean="0"/>
          </a:p>
          <a:p>
            <a:r>
              <a:rPr lang="en-US" altLang="tr-TR" dirty="0" smtClean="0"/>
              <a:t>Custom </a:t>
            </a:r>
            <a:r>
              <a:rPr lang="en-US" altLang="tr-TR" dirty="0"/>
              <a:t>header files</a:t>
            </a:r>
          </a:p>
          <a:p>
            <a:pPr lvl="1"/>
            <a:r>
              <a:rPr lang="en-US" altLang="tr-TR" dirty="0"/>
              <a:t>Create file with functions </a:t>
            </a:r>
          </a:p>
          <a:p>
            <a:pPr lvl="1"/>
            <a:r>
              <a:rPr lang="en-US" altLang="tr-TR" dirty="0"/>
              <a:t>Save as </a:t>
            </a:r>
            <a:r>
              <a:rPr lang="en-US" altLang="tr-TR" sz="2000" dirty="0" err="1">
                <a:latin typeface="Lucida Console" panose="020B0609040504020204" pitchFamily="49" charset="0"/>
              </a:rPr>
              <a:t>filename.h</a:t>
            </a:r>
            <a:endParaRPr lang="en-US" altLang="tr-TR" sz="2000" dirty="0">
              <a:latin typeface="Lucida Console" panose="020B0609040504020204" pitchFamily="49" charset="0"/>
            </a:endParaRPr>
          </a:p>
          <a:p>
            <a:pPr lvl="1"/>
            <a:r>
              <a:rPr lang="en-US" altLang="tr-TR" dirty="0"/>
              <a:t>Load in other files with </a:t>
            </a:r>
            <a:r>
              <a:rPr lang="en-US" altLang="tr-TR" b="1" dirty="0">
                <a:latin typeface="Courier New" panose="02070309020205020404" pitchFamily="49" charset="0"/>
              </a:rPr>
              <a:t>#</a:t>
            </a:r>
            <a:r>
              <a:rPr lang="en-US" altLang="tr-TR" sz="2000" dirty="0">
                <a:latin typeface="Lucida Console" panose="020B0609040504020204" pitchFamily="49" charset="0"/>
              </a:rPr>
              <a:t>include "</a:t>
            </a:r>
            <a:r>
              <a:rPr lang="en-US" altLang="tr-TR" sz="2000" dirty="0" err="1">
                <a:latin typeface="Lucida Console" panose="020B0609040504020204" pitchFamily="49" charset="0"/>
              </a:rPr>
              <a:t>filename.h</a:t>
            </a:r>
            <a:r>
              <a:rPr lang="en-US" altLang="tr-TR" sz="2000" dirty="0">
                <a:latin typeface="Lucida Console" panose="020B0609040504020204" pitchFamily="49" charset="0"/>
              </a:rPr>
              <a:t>"</a:t>
            </a:r>
          </a:p>
          <a:p>
            <a:pPr lvl="1"/>
            <a:r>
              <a:rPr lang="en-US" altLang="tr-TR" dirty="0"/>
              <a:t>Reuse functions</a:t>
            </a:r>
          </a:p>
          <a:p>
            <a:endParaRPr lang="tr-TR"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58</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4294389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Some of the standard library headers</a:t>
            </a:r>
            <a:endParaRPr lang="tr-TR"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59</a:t>
            </a:fld>
            <a:endParaRPr lang="en-US" altLang="tr-TR">
              <a:ea typeface="ＭＳ Ｐゴシック" panose="020B0600070205080204" pitchFamily="34" charset="-128"/>
            </a:endParaRPr>
          </a:p>
        </p:txBody>
      </p:sp>
      <p:pic>
        <p:nvPicPr>
          <p:cNvPr id="3" name="Resim 2">
            <a:extLst>
              <a:ext uri="{FF2B5EF4-FFF2-40B4-BE49-F238E27FC236}">
                <a16:creationId xmlns:a16="http://schemas.microsoft.com/office/drawing/2014/main" id="{22EA6DE3-8909-49DC-8934-19F8BA6CD0E8}"/>
              </a:ext>
            </a:extLst>
          </p:cNvPr>
          <p:cNvPicPr>
            <a:picLocks noChangeAspect="1"/>
          </p:cNvPicPr>
          <p:nvPr/>
        </p:nvPicPr>
        <p:blipFill>
          <a:blip r:embed="rId2"/>
          <a:stretch>
            <a:fillRect/>
          </a:stretch>
        </p:blipFill>
        <p:spPr>
          <a:xfrm>
            <a:off x="2229852" y="1219200"/>
            <a:ext cx="7269079" cy="5001738"/>
          </a:xfrm>
          <a:prstGeom prst="rect">
            <a:avLst/>
          </a:prstGeom>
        </p:spPr>
      </p:pic>
    </p:spTree>
    <p:extLst>
      <p:ext uri="{BB962C8B-B14F-4D97-AF65-F5344CB8AC3E}">
        <p14:creationId xmlns:p14="http://schemas.microsoft.com/office/powerpoint/2010/main" val="234351132"/>
      </p:ext>
    </p:extLst>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Resim 5">
            <a:extLst>
              <a:ext uri="{FF2B5EF4-FFF2-40B4-BE49-F238E27FC236}">
                <a16:creationId xmlns:a16="http://schemas.microsoft.com/office/drawing/2014/main" id="{4822C7F4-834F-4868-9803-06F646EB11AA}"/>
              </a:ext>
            </a:extLst>
          </p:cNvPr>
          <p:cNvPicPr>
            <a:picLocks noChangeAspect="1"/>
          </p:cNvPicPr>
          <p:nvPr/>
        </p:nvPicPr>
        <p:blipFill>
          <a:blip r:embed="rId2"/>
          <a:stretch>
            <a:fillRect/>
          </a:stretch>
        </p:blipFill>
        <p:spPr>
          <a:xfrm>
            <a:off x="2014537" y="1685925"/>
            <a:ext cx="8162925" cy="3486150"/>
          </a:xfrm>
          <a:prstGeom prst="rect">
            <a:avLst/>
          </a:prstGeom>
        </p:spPr>
      </p:pic>
      <p:sp>
        <p:nvSpPr>
          <p:cNvPr id="2" name="Unvan 1">
            <a:extLst>
              <a:ext uri="{FF2B5EF4-FFF2-40B4-BE49-F238E27FC236}">
                <a16:creationId xmlns:a16="http://schemas.microsoft.com/office/drawing/2014/main" id="{E73C9ED8-4C51-427D-9A06-C0ACF62D0357}"/>
              </a:ext>
            </a:extLst>
          </p:cNvPr>
          <p:cNvSpPr>
            <a:spLocks noGrp="1"/>
          </p:cNvSpPr>
          <p:nvPr>
            <p:ph type="title"/>
          </p:nvPr>
        </p:nvSpPr>
        <p:spPr/>
        <p:txBody>
          <a:bodyPr/>
          <a:lstStyle/>
          <a:p>
            <a:r>
              <a:rPr lang="en-US" altLang="tr-TR" dirty="0"/>
              <a:t>Some of the standard library headers (cont.)</a:t>
            </a:r>
            <a:endParaRPr lang="en-US" dirty="0"/>
          </a:p>
        </p:txBody>
      </p:sp>
      <p:sp>
        <p:nvSpPr>
          <p:cNvPr id="4" name="Slayt Numarası Yer Tutucusu 3">
            <a:extLst>
              <a:ext uri="{FF2B5EF4-FFF2-40B4-BE49-F238E27FC236}">
                <a16:creationId xmlns:a16="http://schemas.microsoft.com/office/drawing/2014/main" id="{E156CBA1-EED1-4589-9A39-73A5754DFD8C}"/>
              </a:ext>
            </a:extLst>
          </p:cNvPr>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60</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2728980345"/>
      </p:ext>
    </p:extLst>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Random Number Generation</a:t>
            </a:r>
            <a:r>
              <a:rPr lang="tr-TR" altLang="tr-TR" dirty="0"/>
              <a:t> – rand function</a:t>
            </a:r>
            <a:endParaRPr lang="tr-TR" dirty="0"/>
          </a:p>
        </p:txBody>
      </p:sp>
      <p:sp>
        <p:nvSpPr>
          <p:cNvPr id="3" name="Content Placeholder 2"/>
          <p:cNvSpPr>
            <a:spLocks noGrp="1"/>
          </p:cNvSpPr>
          <p:nvPr>
            <p:ph idx="1"/>
          </p:nvPr>
        </p:nvSpPr>
        <p:spPr/>
        <p:txBody>
          <a:bodyPr/>
          <a:lstStyle/>
          <a:p>
            <a:pPr>
              <a:lnSpc>
                <a:spcPct val="90000"/>
              </a:lnSpc>
            </a:pPr>
            <a:r>
              <a:rPr lang="en-US" altLang="tr-TR" sz="2600" dirty="0">
                <a:latin typeface="Lucida Console" panose="020B0609040504020204" pitchFamily="49" charset="0"/>
              </a:rPr>
              <a:t>rand</a:t>
            </a:r>
            <a:r>
              <a:rPr lang="en-US" altLang="tr-TR" dirty="0"/>
              <a:t> function</a:t>
            </a:r>
          </a:p>
          <a:p>
            <a:pPr lvl="1">
              <a:lnSpc>
                <a:spcPct val="90000"/>
              </a:lnSpc>
            </a:pPr>
            <a:r>
              <a:rPr lang="en-US" altLang="tr-TR" dirty="0"/>
              <a:t>Load </a:t>
            </a:r>
            <a:r>
              <a:rPr lang="en-US" altLang="tr-TR" sz="2000" dirty="0">
                <a:latin typeface="Lucida Console" panose="020B0609040504020204" pitchFamily="49" charset="0"/>
              </a:rPr>
              <a:t>&lt;</a:t>
            </a:r>
            <a:r>
              <a:rPr lang="en-US" altLang="tr-TR" sz="2000" dirty="0" err="1">
                <a:latin typeface="Lucida Console" panose="020B0609040504020204" pitchFamily="49" charset="0"/>
              </a:rPr>
              <a:t>stdlib.h</a:t>
            </a:r>
            <a:r>
              <a:rPr lang="en-US" altLang="tr-TR" sz="2000" dirty="0">
                <a:latin typeface="Lucida Console" panose="020B0609040504020204" pitchFamily="49" charset="0"/>
              </a:rPr>
              <a:t>&gt;</a:t>
            </a:r>
          </a:p>
          <a:p>
            <a:pPr lvl="1">
              <a:lnSpc>
                <a:spcPct val="90000"/>
              </a:lnSpc>
            </a:pPr>
            <a:r>
              <a:rPr lang="en-US" altLang="tr-TR" dirty="0"/>
              <a:t>Returns "random" number between </a:t>
            </a:r>
            <a:r>
              <a:rPr lang="en-US" altLang="tr-TR" sz="2000" dirty="0">
                <a:latin typeface="Lucida Console" panose="020B0609040504020204" pitchFamily="49" charset="0"/>
              </a:rPr>
              <a:t>0</a:t>
            </a:r>
            <a:r>
              <a:rPr lang="en-US" altLang="tr-TR" dirty="0"/>
              <a:t> and </a:t>
            </a:r>
            <a:r>
              <a:rPr lang="en-US" altLang="tr-TR" sz="2000" dirty="0">
                <a:latin typeface="Lucida Console" panose="020B0609040504020204" pitchFamily="49" charset="0"/>
              </a:rPr>
              <a:t>RAND_MAX</a:t>
            </a:r>
            <a:r>
              <a:rPr lang="en-US" altLang="tr-TR" dirty="0"/>
              <a:t> (at least </a:t>
            </a:r>
            <a:r>
              <a:rPr lang="en-US" altLang="tr-TR" sz="2000" dirty="0">
                <a:latin typeface="Lucida Console" panose="020B0609040504020204" pitchFamily="49" charset="0"/>
              </a:rPr>
              <a:t>32767</a:t>
            </a:r>
            <a:r>
              <a:rPr lang="en-US" altLang="tr-TR" dirty="0"/>
              <a:t>)</a:t>
            </a:r>
          </a:p>
          <a:p>
            <a:pPr lvl="3">
              <a:lnSpc>
                <a:spcPct val="90000"/>
              </a:lnSpc>
              <a:buFontTx/>
              <a:buNone/>
            </a:pPr>
            <a:r>
              <a:rPr lang="en-US" altLang="tr-TR" dirty="0" err="1">
                <a:latin typeface="Lucida Console" panose="020B0609040504020204" pitchFamily="49" charset="0"/>
              </a:rPr>
              <a:t>i</a:t>
            </a:r>
            <a:r>
              <a:rPr lang="en-US" altLang="tr-TR" dirty="0">
                <a:latin typeface="Lucida Console" panose="020B0609040504020204" pitchFamily="49" charset="0"/>
              </a:rPr>
              <a:t> = rand();</a:t>
            </a:r>
          </a:p>
          <a:p>
            <a:pPr lvl="1">
              <a:lnSpc>
                <a:spcPct val="90000"/>
              </a:lnSpc>
            </a:pPr>
            <a:r>
              <a:rPr lang="en-US" altLang="tr-TR" dirty="0"/>
              <a:t>Pseudorandom</a:t>
            </a:r>
          </a:p>
          <a:p>
            <a:pPr lvl="2">
              <a:lnSpc>
                <a:spcPct val="90000"/>
              </a:lnSpc>
            </a:pPr>
            <a:r>
              <a:rPr lang="en-US" altLang="tr-TR" dirty="0"/>
              <a:t>Preset sequence of "random" numbers</a:t>
            </a:r>
          </a:p>
          <a:p>
            <a:pPr lvl="2">
              <a:lnSpc>
                <a:spcPct val="90000"/>
              </a:lnSpc>
            </a:pPr>
            <a:r>
              <a:rPr lang="en-US" altLang="tr-TR" dirty="0"/>
              <a:t>Same sequence for every function call</a:t>
            </a:r>
          </a:p>
          <a:p>
            <a:pPr>
              <a:lnSpc>
                <a:spcPct val="90000"/>
              </a:lnSpc>
            </a:pPr>
            <a:endParaRPr lang="tr-TR" altLang="tr-TR" dirty="0" smtClean="0"/>
          </a:p>
          <a:p>
            <a:pPr>
              <a:lnSpc>
                <a:spcPct val="90000"/>
              </a:lnSpc>
            </a:pPr>
            <a:r>
              <a:rPr lang="en-US" altLang="tr-TR" dirty="0" smtClean="0"/>
              <a:t>Scaling</a:t>
            </a:r>
            <a:endParaRPr lang="en-US" altLang="tr-TR" dirty="0"/>
          </a:p>
          <a:p>
            <a:pPr lvl="1">
              <a:lnSpc>
                <a:spcPct val="90000"/>
              </a:lnSpc>
            </a:pPr>
            <a:r>
              <a:rPr lang="en-US" altLang="tr-TR" dirty="0"/>
              <a:t>To get a random number between </a:t>
            </a:r>
            <a:r>
              <a:rPr lang="en-US" altLang="tr-TR" sz="2000" dirty="0">
                <a:latin typeface="Lucida Console" panose="020B0609040504020204" pitchFamily="49" charset="0"/>
              </a:rPr>
              <a:t>1</a:t>
            </a:r>
            <a:r>
              <a:rPr lang="en-US" altLang="tr-TR" dirty="0"/>
              <a:t> and </a:t>
            </a:r>
            <a:r>
              <a:rPr lang="en-US" altLang="tr-TR" sz="2000" dirty="0">
                <a:latin typeface="Lucida Console" panose="020B0609040504020204" pitchFamily="49" charset="0"/>
              </a:rPr>
              <a:t>n</a:t>
            </a:r>
          </a:p>
          <a:p>
            <a:pPr lvl="3">
              <a:lnSpc>
                <a:spcPct val="90000"/>
              </a:lnSpc>
              <a:buFontTx/>
              <a:buNone/>
            </a:pPr>
            <a:r>
              <a:rPr lang="en-US" altLang="tr-TR" dirty="0">
                <a:latin typeface="Lucida Console" panose="020B0609040504020204" pitchFamily="49" charset="0"/>
              </a:rPr>
              <a:t>1 + ( rand() % n )</a:t>
            </a:r>
          </a:p>
          <a:p>
            <a:pPr lvl="2">
              <a:lnSpc>
                <a:spcPct val="90000"/>
              </a:lnSpc>
            </a:pPr>
            <a:r>
              <a:rPr lang="en-US" altLang="tr-TR" sz="1800" b="1" dirty="0">
                <a:latin typeface="Lucida Console" panose="020B0609040504020204" pitchFamily="49" charset="0"/>
              </a:rPr>
              <a:t>rand() % n</a:t>
            </a:r>
            <a:r>
              <a:rPr lang="en-US" altLang="tr-TR" b="1" dirty="0"/>
              <a:t> </a:t>
            </a:r>
            <a:r>
              <a:rPr lang="en-US" altLang="tr-TR" dirty="0"/>
              <a:t>returns a number between </a:t>
            </a:r>
            <a:r>
              <a:rPr lang="en-US" altLang="tr-TR" sz="1800" dirty="0">
                <a:latin typeface="Lucida Console" panose="020B0609040504020204" pitchFamily="49" charset="0"/>
              </a:rPr>
              <a:t>0</a:t>
            </a:r>
            <a:r>
              <a:rPr lang="en-US" altLang="tr-TR" dirty="0"/>
              <a:t> and </a:t>
            </a:r>
            <a:r>
              <a:rPr lang="en-US" altLang="tr-TR" sz="1800" dirty="0">
                <a:latin typeface="Lucida Console" panose="020B0609040504020204" pitchFamily="49" charset="0"/>
              </a:rPr>
              <a:t>n - 1</a:t>
            </a:r>
          </a:p>
          <a:p>
            <a:pPr lvl="2">
              <a:lnSpc>
                <a:spcPct val="90000"/>
              </a:lnSpc>
            </a:pPr>
            <a:r>
              <a:rPr lang="en-US" altLang="tr-TR" dirty="0"/>
              <a:t>Add </a:t>
            </a:r>
            <a:r>
              <a:rPr lang="en-US" altLang="tr-TR" sz="1800" dirty="0">
                <a:latin typeface="Lucida Console" panose="020B0609040504020204" pitchFamily="49" charset="0"/>
              </a:rPr>
              <a:t>1</a:t>
            </a:r>
            <a:r>
              <a:rPr lang="en-US" altLang="tr-TR" dirty="0"/>
              <a:t> to make random number between </a:t>
            </a:r>
            <a:r>
              <a:rPr lang="en-US" altLang="tr-TR" sz="1800" dirty="0">
                <a:latin typeface="Lucida Console" panose="020B0609040504020204" pitchFamily="49" charset="0"/>
              </a:rPr>
              <a:t>1</a:t>
            </a:r>
            <a:r>
              <a:rPr lang="en-US" altLang="tr-TR" dirty="0"/>
              <a:t> and </a:t>
            </a:r>
            <a:r>
              <a:rPr lang="en-US" altLang="tr-TR" sz="1800" dirty="0">
                <a:latin typeface="Lucida Console" panose="020B0609040504020204" pitchFamily="49" charset="0"/>
              </a:rPr>
              <a:t>n</a:t>
            </a:r>
          </a:p>
          <a:p>
            <a:pPr lvl="3">
              <a:lnSpc>
                <a:spcPct val="90000"/>
              </a:lnSpc>
              <a:buFontTx/>
              <a:buNone/>
            </a:pPr>
            <a:r>
              <a:rPr lang="en-US" altLang="tr-TR" dirty="0">
                <a:latin typeface="Lucida Console" panose="020B0609040504020204" pitchFamily="49" charset="0"/>
              </a:rPr>
              <a:t>1 + ( rand() % 6)</a:t>
            </a:r>
          </a:p>
          <a:p>
            <a:pPr lvl="3">
              <a:lnSpc>
                <a:spcPct val="90000"/>
              </a:lnSpc>
            </a:pPr>
            <a:r>
              <a:rPr lang="en-US" altLang="tr-TR" dirty="0"/>
              <a:t>number between </a:t>
            </a:r>
            <a:r>
              <a:rPr lang="en-US" altLang="tr-TR" dirty="0">
                <a:latin typeface="Lucida Console" panose="020B0609040504020204" pitchFamily="49" charset="0"/>
              </a:rPr>
              <a:t>1</a:t>
            </a:r>
            <a:r>
              <a:rPr lang="en-US" altLang="tr-TR" dirty="0"/>
              <a:t> and </a:t>
            </a:r>
            <a:r>
              <a:rPr lang="en-US" altLang="tr-TR" sz="1600" dirty="0">
                <a:latin typeface="Lucida Console" panose="020B0609040504020204" pitchFamily="49" charset="0"/>
              </a:rPr>
              <a:t>6</a:t>
            </a:r>
          </a:p>
          <a:p>
            <a:endParaRPr lang="tr-TR"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61</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17420938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3" end="1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Random Number Generation</a:t>
            </a:r>
            <a:r>
              <a:rPr lang="tr-TR" altLang="tr-TR" dirty="0"/>
              <a:t> – srand function</a:t>
            </a:r>
            <a:endParaRPr lang="tr-TR" dirty="0"/>
          </a:p>
        </p:txBody>
      </p:sp>
      <p:sp>
        <p:nvSpPr>
          <p:cNvPr id="3" name="Content Placeholder 2"/>
          <p:cNvSpPr>
            <a:spLocks noGrp="1"/>
          </p:cNvSpPr>
          <p:nvPr>
            <p:ph idx="1"/>
          </p:nvPr>
        </p:nvSpPr>
        <p:spPr/>
        <p:txBody>
          <a:bodyPr/>
          <a:lstStyle/>
          <a:p>
            <a:r>
              <a:rPr lang="en-US" altLang="tr-TR" dirty="0" err="1">
                <a:latin typeface="Lucida Console" panose="020B0609040504020204" pitchFamily="49" charset="0"/>
              </a:rPr>
              <a:t>srand</a:t>
            </a:r>
            <a:r>
              <a:rPr lang="en-US" altLang="tr-TR" dirty="0"/>
              <a:t> function</a:t>
            </a:r>
          </a:p>
          <a:p>
            <a:pPr lvl="4"/>
            <a:endParaRPr lang="tr-TR" altLang="tr-TR" dirty="0" smtClean="0">
              <a:latin typeface="Lucida Console" panose="020B0609040504020204" pitchFamily="49" charset="0"/>
            </a:endParaRPr>
          </a:p>
          <a:p>
            <a:pPr lvl="1"/>
            <a:r>
              <a:rPr lang="en-US" altLang="tr-TR" dirty="0" smtClean="0">
                <a:latin typeface="Lucida Console" panose="020B0609040504020204" pitchFamily="49" charset="0"/>
              </a:rPr>
              <a:t>&lt;</a:t>
            </a:r>
            <a:r>
              <a:rPr lang="en-US" altLang="tr-TR" dirty="0" err="1">
                <a:latin typeface="Lucida Console" panose="020B0609040504020204" pitchFamily="49" charset="0"/>
              </a:rPr>
              <a:t>stdlib.h</a:t>
            </a:r>
            <a:r>
              <a:rPr lang="en-US" altLang="tr-TR" dirty="0">
                <a:latin typeface="Lucida Console" panose="020B0609040504020204" pitchFamily="49" charset="0"/>
              </a:rPr>
              <a:t>&gt;</a:t>
            </a:r>
          </a:p>
          <a:p>
            <a:pPr lvl="4"/>
            <a:endParaRPr lang="tr-TR" altLang="tr-TR" dirty="0" smtClean="0"/>
          </a:p>
          <a:p>
            <a:pPr lvl="1"/>
            <a:r>
              <a:rPr lang="en-US" altLang="tr-TR" dirty="0" smtClean="0"/>
              <a:t>Takes </a:t>
            </a:r>
            <a:r>
              <a:rPr lang="en-US" altLang="tr-TR" dirty="0"/>
              <a:t>an integer seed and jumps to that location in its "random" sequence</a:t>
            </a:r>
          </a:p>
          <a:p>
            <a:pPr lvl="2">
              <a:buFontTx/>
              <a:buNone/>
            </a:pPr>
            <a:r>
              <a:rPr lang="en-US" altLang="tr-TR" b="1" dirty="0">
                <a:latin typeface="Courier New" panose="02070309020205020404" pitchFamily="49" charset="0"/>
              </a:rPr>
              <a:t>	</a:t>
            </a:r>
            <a:r>
              <a:rPr lang="en-US" altLang="tr-TR" b="1" dirty="0" err="1">
                <a:latin typeface="Courier New" panose="02070309020205020404" pitchFamily="49" charset="0"/>
              </a:rPr>
              <a:t>srand</a:t>
            </a:r>
            <a:r>
              <a:rPr lang="en-US" altLang="tr-TR" b="1" dirty="0">
                <a:latin typeface="Courier New" panose="02070309020205020404" pitchFamily="49" charset="0"/>
              </a:rPr>
              <a:t>(</a:t>
            </a:r>
            <a:r>
              <a:rPr lang="en-US" altLang="tr-TR" i="1" dirty="0"/>
              <a:t> seed </a:t>
            </a:r>
            <a:r>
              <a:rPr lang="en-US" altLang="tr-TR" b="1" dirty="0">
                <a:latin typeface="Courier New" panose="02070309020205020404" pitchFamily="49" charset="0"/>
              </a:rPr>
              <a:t>);</a:t>
            </a:r>
          </a:p>
          <a:p>
            <a:pPr lvl="4"/>
            <a:endParaRPr lang="tr-TR" altLang="tr-TR" dirty="0" smtClean="0">
              <a:latin typeface="Lucida Console" panose="020B0609040504020204" pitchFamily="49" charset="0"/>
            </a:endParaRPr>
          </a:p>
          <a:p>
            <a:pPr lvl="1"/>
            <a:r>
              <a:rPr lang="en-US" altLang="tr-TR" dirty="0" err="1" smtClean="0">
                <a:latin typeface="Lucida Console" panose="020B0609040504020204" pitchFamily="49" charset="0"/>
              </a:rPr>
              <a:t>srand</a:t>
            </a:r>
            <a:r>
              <a:rPr lang="en-US" altLang="tr-TR" dirty="0">
                <a:latin typeface="Lucida Console" panose="020B0609040504020204" pitchFamily="49" charset="0"/>
              </a:rPr>
              <a:t>( time( NULL ) );/*  include &lt;</a:t>
            </a:r>
            <a:r>
              <a:rPr lang="en-US" altLang="tr-TR" dirty="0" err="1">
                <a:latin typeface="Lucida Console" panose="020B0609040504020204" pitchFamily="49" charset="0"/>
              </a:rPr>
              <a:t>time.h</a:t>
            </a:r>
            <a:r>
              <a:rPr lang="en-US" altLang="tr-TR" dirty="0">
                <a:latin typeface="Lucida Console" panose="020B0609040504020204" pitchFamily="49" charset="0"/>
              </a:rPr>
              <a:t>&gt; */</a:t>
            </a:r>
          </a:p>
          <a:p>
            <a:pPr lvl="2"/>
            <a:r>
              <a:rPr lang="en-US" altLang="tr-TR" dirty="0">
                <a:latin typeface="Lucida Console" panose="020B0609040504020204" pitchFamily="49" charset="0"/>
              </a:rPr>
              <a:t>time( NULL )</a:t>
            </a:r>
          </a:p>
          <a:p>
            <a:pPr lvl="3"/>
            <a:r>
              <a:rPr lang="en-US" altLang="tr-TR" dirty="0"/>
              <a:t>Returns the time at which the program was compiled in seconds </a:t>
            </a:r>
          </a:p>
          <a:p>
            <a:pPr lvl="3"/>
            <a:r>
              <a:rPr lang="en-US" altLang="tr-TR" dirty="0"/>
              <a:t>“Randomizes" the seed</a:t>
            </a:r>
          </a:p>
          <a:p>
            <a:endParaRPr lang="tr-TR" dirty="0"/>
          </a:p>
        </p:txBody>
      </p:sp>
      <p:sp>
        <p:nvSpPr>
          <p:cNvPr id="4" name="Slide Number Placeholder 3"/>
          <p:cNvSpPr>
            <a:spLocks noGrp="1"/>
          </p:cNvSpPr>
          <p:nvPr>
            <p:ph type="sldNum" sz="quarter" idx="11"/>
          </p:nvPr>
        </p:nvSpPr>
        <p:spPr/>
        <p:txBody>
          <a:bodyPr/>
          <a:lstStyle/>
          <a:p>
            <a:pPr fontAlgn="base">
              <a:spcBef>
                <a:spcPct val="0"/>
              </a:spcBef>
              <a:spcAft>
                <a:spcPct val="0"/>
              </a:spcAft>
            </a:pPr>
            <a:fld id="{7A81F180-46E2-4A0E-BB74-502DD5A18440}" type="slidenum">
              <a:rPr lang="en-US" altLang="tr-TR" smtClean="0">
                <a:ea typeface="ＭＳ Ｐゴシック" panose="020B0600070205080204" pitchFamily="34" charset="-128"/>
              </a:rPr>
              <a:pPr fontAlgn="base">
                <a:spcBef>
                  <a:spcPct val="0"/>
                </a:spcBef>
                <a:spcAft>
                  <a:spcPct val="0"/>
                </a:spcAft>
              </a:pPr>
              <a:t>62</a:t>
            </a:fld>
            <a:endParaRPr lang="en-US" altLang="tr-TR">
              <a:ea typeface="ＭＳ Ｐゴシック" panose="020B0600070205080204" pitchFamily="34" charset="-128"/>
            </a:endParaRPr>
          </a:p>
        </p:txBody>
      </p:sp>
    </p:spTree>
    <p:extLst>
      <p:ext uri="{BB962C8B-B14F-4D97-AF65-F5344CB8AC3E}">
        <p14:creationId xmlns:p14="http://schemas.microsoft.com/office/powerpoint/2010/main" val="264288563"/>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Edg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Edg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1871</TotalTime>
  <Words>4251</Words>
  <Application>Microsoft Office PowerPoint</Application>
  <PresentationFormat>Widescreen</PresentationFormat>
  <Paragraphs>840</Paragraphs>
  <Slides>62</Slides>
  <Notes>19</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62</vt:i4>
      </vt:variant>
    </vt:vector>
  </HeadingPairs>
  <TitlesOfParts>
    <vt:vector size="76" baseType="lpstr">
      <vt:lpstr>ＭＳ Ｐゴシック</vt:lpstr>
      <vt:lpstr>Arial</vt:lpstr>
      <vt:lpstr>Calibri</vt:lpstr>
      <vt:lpstr>Cambria</vt:lpstr>
      <vt:lpstr>Comic Sans MS</vt:lpstr>
      <vt:lpstr>Consolas</vt:lpstr>
      <vt:lpstr>Courier New</vt:lpstr>
      <vt:lpstr>Garamond</vt:lpstr>
      <vt:lpstr>Lucida Console</vt:lpstr>
      <vt:lpstr>Tahoma</vt:lpstr>
      <vt:lpstr>Times New Roman</vt:lpstr>
      <vt:lpstr>Wingdings</vt:lpstr>
      <vt:lpstr>Edge</vt:lpstr>
      <vt:lpstr>1_Edge</vt:lpstr>
      <vt:lpstr>CSE1142 – Functions in C</vt:lpstr>
      <vt:lpstr>Agenda</vt:lpstr>
      <vt:lpstr>Functions - Definition</vt:lpstr>
      <vt:lpstr>Functions - Syntax</vt:lpstr>
      <vt:lpstr>Example</vt:lpstr>
      <vt:lpstr>Example: Solution with functions</vt:lpstr>
      <vt:lpstr>Functions – Caller and Callee</vt:lpstr>
      <vt:lpstr>Example: Solution with functions II</vt:lpstr>
      <vt:lpstr>Function Prototypes</vt:lpstr>
      <vt:lpstr>Function Prototypes (cont.)</vt:lpstr>
      <vt:lpstr>Functions – Input &amp; Outputs</vt:lpstr>
      <vt:lpstr>Example: power() function with parameters</vt:lpstr>
      <vt:lpstr>Function Call Stack </vt:lpstr>
      <vt:lpstr>Function Call Stack (cont.) </vt:lpstr>
      <vt:lpstr>Function Call Stack (cont.) </vt:lpstr>
      <vt:lpstr>Changes in parameters are not reflected</vt:lpstr>
      <vt:lpstr>Scope of variables</vt:lpstr>
      <vt:lpstr>Lifetime of variables</vt:lpstr>
      <vt:lpstr>Scope and lifetime of variables</vt:lpstr>
      <vt:lpstr>Global vs. local variables</vt:lpstr>
      <vt:lpstr>Changing local variables</vt:lpstr>
      <vt:lpstr>Changing global variables</vt:lpstr>
      <vt:lpstr>Changing value parameters</vt:lpstr>
      <vt:lpstr>Local definition veils global definition</vt:lpstr>
      <vt:lpstr>Parameter definition veils global definition</vt:lpstr>
      <vt:lpstr>Example</vt:lpstr>
      <vt:lpstr>Macro Substitution</vt:lpstr>
      <vt:lpstr>Defining Macros with Parameters</vt:lpstr>
      <vt:lpstr>Macro Substitution</vt:lpstr>
      <vt:lpstr>Macro Substitution</vt:lpstr>
      <vt:lpstr>Example: Macro substitution</vt:lpstr>
      <vt:lpstr>Example: Macro substitution</vt:lpstr>
      <vt:lpstr>Variable Parameters</vt:lpstr>
      <vt:lpstr>Value parameters – Call by value</vt:lpstr>
      <vt:lpstr>Variable parameters</vt:lpstr>
      <vt:lpstr>Pointer variable definitions and initialization</vt:lpstr>
      <vt:lpstr>Pointer variable definitions and initialization – cont.</vt:lpstr>
      <vt:lpstr>Pointer Operators</vt:lpstr>
      <vt:lpstr>Pointer Operators – cont. </vt:lpstr>
      <vt:lpstr>Variable parameters</vt:lpstr>
      <vt:lpstr>Call by reference</vt:lpstr>
      <vt:lpstr>Call by reference</vt:lpstr>
      <vt:lpstr>Variable parameters</vt:lpstr>
      <vt:lpstr>Example</vt:lpstr>
      <vt:lpstr>Example</vt:lpstr>
      <vt:lpstr>Example</vt:lpstr>
      <vt:lpstr>Recursion</vt:lpstr>
      <vt:lpstr>Recursion – Example </vt:lpstr>
      <vt:lpstr>Recursion – Sequence of calls and returns</vt:lpstr>
      <vt:lpstr>Recursion – Factorial code</vt:lpstr>
      <vt:lpstr>Example Using Recursion: The Fibonacci Series</vt:lpstr>
      <vt:lpstr>Set of recursive calls to function fibonacci </vt:lpstr>
      <vt:lpstr>Recursion vs. Iteration</vt:lpstr>
      <vt:lpstr>Standart Functions in C</vt:lpstr>
      <vt:lpstr>Math Library Functions</vt:lpstr>
      <vt:lpstr>Math Library Functions</vt:lpstr>
      <vt:lpstr>Math Library Functions (cont.)</vt:lpstr>
      <vt:lpstr>Header Files</vt:lpstr>
      <vt:lpstr>Some of the standard library headers</vt:lpstr>
      <vt:lpstr>Some of the standard library headers (cont.)</vt:lpstr>
      <vt:lpstr>Random Number Generation – rand function</vt:lpstr>
      <vt:lpstr>Random Number Generation – srand function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Functions</dc:title>
  <dc:creator/>
  <cp:lastModifiedBy/>
  <cp:revision>141</cp:revision>
  <dcterms:created xsi:type="dcterms:W3CDTF">2017-11-02T19:26:23Z</dcterms:created>
  <dcterms:modified xsi:type="dcterms:W3CDTF">2020-04-29T10:58:28Z</dcterms:modified>
  <dc:description/>
</cp:coreProperties>
</file>