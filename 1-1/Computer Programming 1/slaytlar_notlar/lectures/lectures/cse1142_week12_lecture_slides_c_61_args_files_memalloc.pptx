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6" r:id="rId2"/>
  </p:sldMasterIdLst>
  <p:notesMasterIdLst>
    <p:notesMasterId r:id="rId34"/>
  </p:notesMasterIdLst>
  <p:sldIdLst>
    <p:sldId id="515" r:id="rId3"/>
    <p:sldId id="259" r:id="rId4"/>
    <p:sldId id="487" r:id="rId5"/>
    <p:sldId id="511" r:id="rId6"/>
    <p:sldId id="518" r:id="rId7"/>
    <p:sldId id="516" r:id="rId8"/>
    <p:sldId id="490" r:id="rId9"/>
    <p:sldId id="512" r:id="rId10"/>
    <p:sldId id="529" r:id="rId11"/>
    <p:sldId id="491" r:id="rId12"/>
    <p:sldId id="517" r:id="rId13"/>
    <p:sldId id="489" r:id="rId14"/>
    <p:sldId id="528" r:id="rId15"/>
    <p:sldId id="520" r:id="rId16"/>
    <p:sldId id="513" r:id="rId17"/>
    <p:sldId id="530" r:id="rId18"/>
    <p:sldId id="531" r:id="rId19"/>
    <p:sldId id="532" r:id="rId20"/>
    <p:sldId id="533" r:id="rId21"/>
    <p:sldId id="521" r:id="rId22"/>
    <p:sldId id="522" r:id="rId23"/>
    <p:sldId id="537" r:id="rId24"/>
    <p:sldId id="536" r:id="rId25"/>
    <p:sldId id="523" r:id="rId26"/>
    <p:sldId id="514" r:id="rId27"/>
    <p:sldId id="538" r:id="rId28"/>
    <p:sldId id="539" r:id="rId29"/>
    <p:sldId id="524" r:id="rId30"/>
    <p:sldId id="525" r:id="rId31"/>
    <p:sldId id="526" r:id="rId32"/>
    <p:sldId id="527" r:id="rId3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0" autoAdjust="0"/>
    <p:restoredTop sz="92869" autoAdjust="0"/>
  </p:normalViewPr>
  <p:slideViewPr>
    <p:cSldViewPr snapToGrid="0">
      <p:cViewPr varScale="1">
        <p:scale>
          <a:sx n="148" d="100"/>
          <a:sy n="148" d="100"/>
        </p:scale>
        <p:origin x="648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15.05.2020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C61_05_fileCopy.c.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8931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C61_10_fig11_02.c.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4049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C61_15_fig11_06.c.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8021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run</a:t>
            </a:r>
            <a:r>
              <a:rPr lang="tr-TR" dirty="0" smtClean="0"/>
              <a:t> C61_20_structExample.c.</a:t>
            </a:r>
          </a:p>
          <a:p>
            <a:endParaRPr lang="tr-TR" dirty="0" smtClean="0"/>
          </a:p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run</a:t>
            </a:r>
            <a:r>
              <a:rPr lang="tr-TR" smtClean="0"/>
              <a:t> C61_25_unionExample.c.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09035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742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1460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20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13743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668344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75360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38122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9340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32489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8716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18337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7181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itchFamily="-105" charset="0"/>
                <a:cs typeface="Arial" pitchFamily="-105" charset="0"/>
              </a:rPr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CB3A3A-8FF8-40B3-8514-E2CB2218B302}" type="slidenum">
              <a:rPr kumimoji="0" lang="en-US" altLang="tr-T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15061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81F180-46E2-4A0E-BB74-502DD5A18440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7695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733746-84DC-41D8-823C-0E541251900B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12584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A7D8B2-168E-4395-8C8D-DE154A1BF93F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9203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1357CC-1F0C-4656-B2F4-067F4C5F9518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83836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548CD-748C-4DE8-BC15-41D2810282C5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4571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20CB8E-6506-4AEB-8989-7BD4DC848E44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65520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ED9E3D-D4A4-4134-848E-E66AC38438F3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58284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E93521-0F42-40DB-9C31-44BF57F5918F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06328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D848FD-2F18-4378-B684-9572F1D7FD98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6858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E09492-B7AB-44C4-9096-FF9706AE7089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73187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79FCD-EF8B-4A5A-BBA5-6A74B63CC055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48057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5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+mn-ea"/>
              <a:cs typeface="+mn-cs"/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42FCE0-6E1C-4037-BC8A-FCBCB380F030}" type="slidenum">
              <a:rPr kumimoji="0" lang="en-US" altLang="tr-TR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tr-TR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275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38081"/>
            <a:ext cx="10566400" cy="1752600"/>
          </a:xfrm>
        </p:spPr>
        <p:txBody>
          <a:bodyPr/>
          <a:lstStyle/>
          <a:p>
            <a:pPr algn="ctr"/>
            <a:r>
              <a:rPr lang="en-US" dirty="0"/>
              <a:t>CSE1142 – </a:t>
            </a:r>
            <a:r>
              <a:rPr lang="tr-TR" altLang="tr-TR" dirty="0">
                <a:ea typeface="ＭＳ Ｐゴシック" panose="020B0600070205080204" pitchFamily="34" charset="-128"/>
              </a:rPr>
              <a:t>Command Line Arguments &amp; File Processing</a:t>
            </a:r>
            <a:r>
              <a:rPr lang="en-US" altLang="tr-TR" dirty="0">
                <a:ea typeface="ＭＳ Ｐゴシック" panose="020B0600070205080204" pitchFamily="34" charset="-128"/>
              </a:rPr>
              <a:t> &amp;</a:t>
            </a:r>
            <a:br>
              <a:rPr lang="en-US" altLang="tr-TR" dirty="0">
                <a:ea typeface="ＭＳ Ｐゴシック" panose="020B0600070205080204" pitchFamily="34" charset="-128"/>
              </a:rPr>
            </a:br>
            <a:r>
              <a:rPr lang="en-US" altLang="tr-TR" dirty="0">
                <a:ea typeface="ＭＳ Ｐゴシック" panose="020B0600070205080204" pitchFamily="34" charset="-128"/>
              </a:rPr>
              <a:t>               Dynamic Memory Allocation in </a:t>
            </a:r>
            <a:r>
              <a:rPr lang="en-US" dirty="0"/>
              <a:t>C</a:t>
            </a:r>
          </a:p>
        </p:txBody>
      </p:sp>
      <p:sp>
        <p:nvSpPr>
          <p:cNvPr id="6" name="Subtitle 4"/>
          <p:cNvSpPr>
            <a:spLocks noGrp="1"/>
          </p:cNvSpPr>
          <p:nvPr/>
        </p:nvSpPr>
        <p:spPr bwMode="auto">
          <a:xfrm>
            <a:off x="925385" y="5358764"/>
            <a:ext cx="10464800" cy="106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/>
              <a:t>Adapted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/>
              <a:t> </a:t>
            </a:r>
            <a:r>
              <a:rPr lang="tr-TR" sz="2000" dirty="0" smtClean="0"/>
              <a:t>Dr. Sanem </a:t>
            </a:r>
            <a:r>
              <a:rPr lang="tr-TR" sz="2000" dirty="0"/>
              <a:t>Arslan </a:t>
            </a:r>
            <a:r>
              <a:rPr lang="tr-TR" sz="2000" dirty="0" smtClean="0"/>
              <a:t>Yılmaz.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 smtClean="0"/>
              <a:t>Some</a:t>
            </a:r>
            <a:r>
              <a:rPr lang="tr-TR" sz="2000" dirty="0" smtClean="0"/>
              <a:t> </a:t>
            </a:r>
            <a:r>
              <a:rPr lang="tr-TR" sz="2000" dirty="0"/>
              <a:t>of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slides</a:t>
            </a:r>
            <a:r>
              <a:rPr lang="tr-TR" sz="2000" dirty="0"/>
              <a:t> </a:t>
            </a:r>
            <a:r>
              <a:rPr lang="tr-TR" sz="2000" dirty="0" err="1"/>
              <a:t>are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 smtClean="0"/>
              <a:t>: CMPE150 </a:t>
            </a:r>
            <a:r>
              <a:rPr lang="tr-TR" sz="2000" dirty="0"/>
              <a:t>– Boğaziçi </a:t>
            </a:r>
            <a:r>
              <a:rPr lang="tr-TR" sz="2000" dirty="0" err="1" smtClean="0"/>
              <a:t>University</a:t>
            </a:r>
            <a:r>
              <a:rPr lang="tr-TR" sz="2000" dirty="0" smtClean="0"/>
              <a:t>, </a:t>
            </a:r>
            <a:r>
              <a:rPr lang="tr-TR" sz="2000" dirty="0" err="1" smtClean="0"/>
              <a:t>Deitel</a:t>
            </a:r>
            <a:r>
              <a:rPr lang="tr-TR" sz="2000" dirty="0" smtClean="0"/>
              <a:t> </a:t>
            </a:r>
            <a:r>
              <a:rPr lang="tr-TR" sz="2000" dirty="0"/>
              <a:t>&amp; </a:t>
            </a:r>
            <a:r>
              <a:rPr lang="tr-TR" sz="2000" dirty="0" err="1" smtClean="0"/>
              <a:t>Associates</a:t>
            </a:r>
            <a:r>
              <a:rPr lang="tr-TR" sz="2000" dirty="0" smtClean="0"/>
              <a:t>.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51350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 altLang="tr-TR" dirty="0"/>
              <a:t>Command Line Arguments</a:t>
            </a:r>
          </a:p>
          <a:p>
            <a:pPr>
              <a:lnSpc>
                <a:spcPct val="150000"/>
              </a:lnSpc>
            </a:pPr>
            <a:r>
              <a:rPr lang="tr-TR" altLang="tr-TR" dirty="0"/>
              <a:t>File Processing</a:t>
            </a:r>
            <a:endParaRPr lang="en-US" altLang="tr-TR" dirty="0"/>
          </a:p>
          <a:p>
            <a:pPr>
              <a:lnSpc>
                <a:spcPct val="150000"/>
              </a:lnSpc>
            </a:pPr>
            <a:r>
              <a:rPr lang="en-US" altLang="tr-TR" dirty="0"/>
              <a:t>Dynamic Memory Allocation</a:t>
            </a:r>
            <a:endParaRPr lang="tr-TR" altLang="tr-TR" dirty="0"/>
          </a:p>
          <a:p>
            <a:pPr>
              <a:lnSpc>
                <a:spcPct val="150000"/>
              </a:lnSpc>
            </a:pPr>
            <a:r>
              <a:rPr lang="tr-TR" altLang="tr-TR" dirty="0">
                <a:ea typeface="ＭＳ Ｐゴシック" panose="020B0600070205080204" pitchFamily="34" charset="-128"/>
              </a:rPr>
              <a:t>Examples</a:t>
            </a:r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41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98672"/>
            <a:ext cx="11480800" cy="5573089"/>
          </a:xfrm>
        </p:spPr>
        <p:txBody>
          <a:bodyPr/>
          <a:lstStyle/>
          <a:p>
            <a:r>
              <a:rPr lang="en-US" altLang="tr-TR" dirty="0"/>
              <a:t>Pass arguments to </a:t>
            </a:r>
            <a:r>
              <a:rPr lang="en-US" altLang="tr-TR" sz="2600" dirty="0">
                <a:latin typeface="Lucida Console" panose="020B0609040504020204" pitchFamily="49" charset="0"/>
              </a:rPr>
              <a:t>main</a:t>
            </a:r>
            <a:r>
              <a:rPr lang="en-US" altLang="tr-TR" dirty="0"/>
              <a:t> on DOS or UNIX</a:t>
            </a:r>
          </a:p>
          <a:p>
            <a:pPr lvl="1"/>
            <a:r>
              <a:rPr lang="en-US" altLang="tr-TR" dirty="0"/>
              <a:t>Define main as</a:t>
            </a:r>
          </a:p>
          <a:p>
            <a:pPr lvl="3">
              <a:buFontTx/>
              <a:buNone/>
            </a:pPr>
            <a:r>
              <a:rPr lang="en-US" altLang="tr-TR" dirty="0" err="1">
                <a:latin typeface="Lucida Console" panose="020B0609040504020204" pitchFamily="49" charset="0"/>
              </a:rPr>
              <a:t>int</a:t>
            </a:r>
            <a:r>
              <a:rPr lang="en-US" altLang="tr-TR" dirty="0">
                <a:latin typeface="Lucida Console" panose="020B0609040504020204" pitchFamily="49" charset="0"/>
              </a:rPr>
              <a:t> main( </a:t>
            </a:r>
            <a:r>
              <a:rPr lang="en-US" altLang="tr-TR" dirty="0" err="1">
                <a:latin typeface="Lucida Console" panose="020B0609040504020204" pitchFamily="49" charset="0"/>
              </a:rPr>
              <a:t>int</a:t>
            </a:r>
            <a:r>
              <a:rPr lang="en-US" altLang="tr-TR" dirty="0">
                <a:latin typeface="Lucida Console" panose="020B0609040504020204" pitchFamily="49" charset="0"/>
              </a:rPr>
              <a:t> </a:t>
            </a:r>
            <a:r>
              <a:rPr lang="en-US" altLang="tr-TR" dirty="0" err="1">
                <a:latin typeface="Lucida Console" panose="020B0609040504020204" pitchFamily="49" charset="0"/>
              </a:rPr>
              <a:t>argc</a:t>
            </a:r>
            <a:r>
              <a:rPr lang="en-US" altLang="tr-TR" dirty="0">
                <a:latin typeface="Lucida Console" panose="020B0609040504020204" pitchFamily="49" charset="0"/>
              </a:rPr>
              <a:t>, char *</a:t>
            </a:r>
            <a:r>
              <a:rPr lang="en-US" altLang="tr-TR" dirty="0" err="1">
                <a:latin typeface="Lucida Console" panose="020B0609040504020204" pitchFamily="49" charset="0"/>
              </a:rPr>
              <a:t>argv</a:t>
            </a:r>
            <a:r>
              <a:rPr lang="en-US" altLang="tr-TR" dirty="0">
                <a:latin typeface="Lucida Console" panose="020B0609040504020204" pitchFamily="49" charset="0"/>
              </a:rPr>
              <a:t>[] )</a:t>
            </a:r>
          </a:p>
          <a:p>
            <a:pPr lvl="4"/>
            <a:endParaRPr lang="tr-TR" altLang="tr-TR" sz="700" dirty="0" smtClean="0">
              <a:latin typeface="Lucida Console" panose="020B0609040504020204" pitchFamily="49" charset="0"/>
            </a:endParaRPr>
          </a:p>
          <a:p>
            <a:pPr lvl="1"/>
            <a:r>
              <a:rPr lang="en-US" altLang="tr-TR" sz="2000" dirty="0" err="1" smtClean="0">
                <a:latin typeface="Lucida Console" panose="020B0609040504020204" pitchFamily="49" charset="0"/>
              </a:rPr>
              <a:t>int</a:t>
            </a:r>
            <a:r>
              <a:rPr lang="en-US" altLang="tr-TR" dirty="0" smtClean="0"/>
              <a:t> </a:t>
            </a:r>
            <a:r>
              <a:rPr lang="en-US" altLang="tr-TR" sz="2000" dirty="0" err="1">
                <a:latin typeface="Lucida Console" panose="020B0609040504020204" pitchFamily="49" charset="0"/>
              </a:rPr>
              <a:t>argc</a:t>
            </a:r>
            <a:endParaRPr lang="en-US" altLang="tr-TR" sz="2000" dirty="0">
              <a:latin typeface="Lucida Console" panose="020B0609040504020204" pitchFamily="49" charset="0"/>
            </a:endParaRPr>
          </a:p>
          <a:p>
            <a:pPr lvl="2"/>
            <a:r>
              <a:rPr lang="en-US" altLang="tr-TR" dirty="0"/>
              <a:t>Number of arguments passed (including program name)</a:t>
            </a:r>
          </a:p>
          <a:p>
            <a:pPr lvl="4"/>
            <a:endParaRPr lang="tr-TR" altLang="tr-TR" sz="700" dirty="0" smtClean="0">
              <a:latin typeface="Lucida Console" panose="020B0609040504020204" pitchFamily="49" charset="0"/>
            </a:endParaRPr>
          </a:p>
          <a:p>
            <a:pPr lvl="1"/>
            <a:r>
              <a:rPr lang="en-US" altLang="tr-TR" sz="2000" dirty="0" smtClean="0">
                <a:latin typeface="Lucida Console" panose="020B0609040504020204" pitchFamily="49" charset="0"/>
              </a:rPr>
              <a:t>char</a:t>
            </a:r>
            <a:r>
              <a:rPr lang="en-US" altLang="tr-TR" b="1" dirty="0" smtClean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*</a:t>
            </a:r>
            <a:r>
              <a:rPr lang="en-US" altLang="tr-TR" sz="2000" dirty="0" err="1">
                <a:latin typeface="Lucida Console" panose="020B0609040504020204" pitchFamily="49" charset="0"/>
              </a:rPr>
              <a:t>argv</a:t>
            </a:r>
            <a:r>
              <a:rPr lang="en-US" altLang="tr-TR" sz="2000" dirty="0">
                <a:latin typeface="Lucida Console" panose="020B0609040504020204" pitchFamily="49" charset="0"/>
              </a:rPr>
              <a:t>[]</a:t>
            </a:r>
          </a:p>
          <a:p>
            <a:pPr lvl="2"/>
            <a:r>
              <a:rPr lang="en-US" altLang="tr-TR" dirty="0"/>
              <a:t>Array of strings</a:t>
            </a:r>
          </a:p>
          <a:p>
            <a:pPr lvl="2"/>
            <a:r>
              <a:rPr lang="en-US" altLang="tr-TR" dirty="0"/>
              <a:t>Has names of arguments in order</a:t>
            </a:r>
          </a:p>
          <a:p>
            <a:pPr lvl="3"/>
            <a:r>
              <a:rPr lang="en-US" altLang="tr-TR" dirty="0" err="1">
                <a:latin typeface="Lucida Console" panose="020B0609040504020204" pitchFamily="49" charset="0"/>
              </a:rPr>
              <a:t>argv</a:t>
            </a:r>
            <a:r>
              <a:rPr lang="en-US" altLang="tr-TR" dirty="0">
                <a:latin typeface="Lucida Console" panose="020B0609040504020204" pitchFamily="49" charset="0"/>
              </a:rPr>
              <a:t>[ 0 ]</a:t>
            </a:r>
            <a:r>
              <a:rPr lang="en-US" altLang="tr-TR" dirty="0"/>
              <a:t> is first argument</a:t>
            </a:r>
          </a:p>
          <a:p>
            <a:pPr lvl="4"/>
            <a:endParaRPr lang="tr-TR" altLang="tr-TR" sz="700" dirty="0" smtClean="0"/>
          </a:p>
          <a:p>
            <a:pPr lvl="1"/>
            <a:r>
              <a:rPr lang="en-US" altLang="tr-TR" dirty="0" smtClean="0"/>
              <a:t>Example</a:t>
            </a:r>
            <a:r>
              <a:rPr lang="en-US" altLang="tr-TR" dirty="0"/>
              <a:t>:  </a:t>
            </a:r>
            <a:r>
              <a:rPr lang="en-US" altLang="tr-TR" sz="2000" dirty="0">
                <a:latin typeface="Lucida Console" panose="020B0609040504020204" pitchFamily="49" charset="0"/>
              </a:rPr>
              <a:t>$ </a:t>
            </a:r>
            <a:r>
              <a:rPr lang="en-US" altLang="tr-TR" sz="2000" dirty="0" err="1">
                <a:latin typeface="Lucida Console" panose="020B0609040504020204" pitchFamily="49" charset="0"/>
              </a:rPr>
              <a:t>mycopy</a:t>
            </a:r>
            <a:r>
              <a:rPr lang="en-US" altLang="tr-TR" sz="2000" dirty="0">
                <a:latin typeface="Lucida Console" panose="020B0609040504020204" pitchFamily="49" charset="0"/>
              </a:rPr>
              <a:t> input output</a:t>
            </a:r>
          </a:p>
          <a:p>
            <a:pPr lvl="2"/>
            <a:r>
              <a:rPr lang="en-US" altLang="tr-TR" sz="1800" dirty="0" err="1">
                <a:latin typeface="Lucida Console" panose="020B0609040504020204" pitchFamily="49" charset="0"/>
              </a:rPr>
              <a:t>argc</a:t>
            </a:r>
            <a:r>
              <a:rPr lang="en-US" altLang="tr-TR" sz="1800" dirty="0">
                <a:latin typeface="Lucida Console" panose="020B0609040504020204" pitchFamily="49" charset="0"/>
              </a:rPr>
              <a:t>: 3</a:t>
            </a:r>
          </a:p>
          <a:p>
            <a:pPr lvl="2"/>
            <a:r>
              <a:rPr lang="en-US" altLang="tr-TR" sz="1800" dirty="0" err="1">
                <a:latin typeface="Lucida Console" panose="020B0609040504020204" pitchFamily="49" charset="0"/>
              </a:rPr>
              <a:t>argv</a:t>
            </a:r>
            <a:r>
              <a:rPr lang="en-US" altLang="tr-TR" sz="1800" dirty="0">
                <a:latin typeface="Lucida Console" panose="020B0609040504020204" pitchFamily="49" charset="0"/>
              </a:rPr>
              <a:t>[ 0 ]: "</a:t>
            </a:r>
            <a:r>
              <a:rPr lang="en-US" altLang="tr-TR" sz="1800" dirty="0" err="1">
                <a:latin typeface="Lucida Console" panose="020B0609040504020204" pitchFamily="49" charset="0"/>
              </a:rPr>
              <a:t>mycopy</a:t>
            </a:r>
            <a:r>
              <a:rPr lang="en-US" altLang="tr-TR" sz="1800" dirty="0">
                <a:latin typeface="Lucida Console" panose="020B0609040504020204" pitchFamily="49" charset="0"/>
              </a:rPr>
              <a:t>"</a:t>
            </a:r>
          </a:p>
          <a:p>
            <a:pPr lvl="2"/>
            <a:r>
              <a:rPr lang="en-US" altLang="tr-TR" sz="1800" dirty="0" err="1">
                <a:latin typeface="Lucida Console" panose="020B0609040504020204" pitchFamily="49" charset="0"/>
              </a:rPr>
              <a:t>argv</a:t>
            </a:r>
            <a:r>
              <a:rPr lang="en-US" altLang="tr-TR" sz="1800" dirty="0">
                <a:latin typeface="Lucida Console" panose="020B0609040504020204" pitchFamily="49" charset="0"/>
              </a:rPr>
              <a:t>[ 1 ]: "input"</a:t>
            </a:r>
          </a:p>
          <a:p>
            <a:pPr lvl="2"/>
            <a:r>
              <a:rPr lang="en-US" altLang="tr-TR" sz="1800" dirty="0" err="1">
                <a:latin typeface="Lucida Console" panose="020B0609040504020204" pitchFamily="49" charset="0"/>
              </a:rPr>
              <a:t>argv</a:t>
            </a:r>
            <a:r>
              <a:rPr lang="en-US" altLang="tr-TR" sz="1800" dirty="0">
                <a:latin typeface="Lucida Console" panose="020B0609040504020204" pitchFamily="49" charset="0"/>
              </a:rPr>
              <a:t>[ 2 ]: "output"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56450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Files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Storage of data in variables and arrays is temporary—such data is lost when a program terminates. </a:t>
            </a:r>
          </a:p>
          <a:p>
            <a:pPr eaLnBrk="1" hangingPunct="1"/>
            <a:endParaRPr lang="tr-TR" altLang="en-US" dirty="0" smtClean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dirty="0" smtClean="0">
                <a:solidFill>
                  <a:srgbClr val="0000FF"/>
                </a:solidFill>
              </a:rPr>
              <a:t>Files</a:t>
            </a:r>
            <a:r>
              <a:rPr lang="en-US" altLang="en-US" dirty="0" smtClean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are used for </a:t>
            </a:r>
            <a:r>
              <a:rPr lang="en-US" altLang="en-US" i="1" dirty="0">
                <a:solidFill>
                  <a:srgbClr val="000000"/>
                </a:solidFill>
              </a:rPr>
              <a:t>permanent</a:t>
            </a:r>
            <a:r>
              <a:rPr lang="en-US" altLang="en-US" dirty="0">
                <a:solidFill>
                  <a:srgbClr val="000000"/>
                </a:solidFill>
              </a:rPr>
              <a:t> retention of data. </a:t>
            </a:r>
          </a:p>
          <a:p>
            <a:pPr eaLnBrk="1" hangingPunct="1"/>
            <a:endParaRPr lang="tr-TR" altLang="en-US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</a:rPr>
              <a:t>Computers </a:t>
            </a:r>
            <a:r>
              <a:rPr lang="en-US" altLang="en-US" dirty="0">
                <a:solidFill>
                  <a:srgbClr val="000000"/>
                </a:solidFill>
              </a:rPr>
              <a:t>store files on secondary storage devices, such as hard drives, CDs, DVDs and flash drives. 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894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Input/Output</a:t>
            </a:r>
            <a:r>
              <a:rPr lang="en-US" dirty="0"/>
              <a:t> Files and Text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file</a:t>
            </a:r>
          </a:p>
          <a:p>
            <a:pPr lvl="1"/>
            <a:r>
              <a:rPr lang="en-US" dirty="0"/>
              <a:t>a named collection of characters saved in secondary storage</a:t>
            </a:r>
          </a:p>
          <a:p>
            <a:pPr lvl="1"/>
            <a:endParaRPr lang="en-US" dirty="0"/>
          </a:p>
          <a:p>
            <a:r>
              <a:rPr lang="en-US" dirty="0"/>
              <a:t>input (output) stream</a:t>
            </a:r>
          </a:p>
          <a:p>
            <a:pPr lvl="1"/>
            <a:r>
              <a:rPr lang="en-US" dirty="0"/>
              <a:t>continuous stream of character codes representing textual input (or output) data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dirty="0" err="1"/>
              <a:t>stdin</a:t>
            </a:r>
            <a:endParaRPr lang="en-US" dirty="0"/>
          </a:p>
          <a:p>
            <a:pPr lvl="1"/>
            <a:r>
              <a:rPr lang="en-US" dirty="0"/>
              <a:t>system file pointer for keyboard’s input stream</a:t>
            </a:r>
          </a:p>
          <a:p>
            <a:pPr lvl="1"/>
            <a:endParaRPr lang="en-US" dirty="0"/>
          </a:p>
          <a:p>
            <a:r>
              <a:rPr lang="en-US" dirty="0" err="1"/>
              <a:t>stdout</a:t>
            </a:r>
            <a:r>
              <a:rPr lang="en-US" dirty="0"/>
              <a:t>, </a:t>
            </a:r>
            <a:r>
              <a:rPr lang="en-US" dirty="0" err="1"/>
              <a:t>stderr</a:t>
            </a:r>
            <a:endParaRPr lang="en-US" dirty="0"/>
          </a:p>
          <a:p>
            <a:pPr lvl="1"/>
            <a:r>
              <a:rPr lang="en-US" dirty="0"/>
              <a:t>system file pointers for screen’s output stream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01058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Files</a:t>
            </a:r>
            <a:r>
              <a:rPr lang="en-US" altLang="tr-TR" b="1" dirty="0">
                <a:latin typeface="Arial" panose="020B0604020202020204" pitchFamily="34" charset="0"/>
              </a:rPr>
              <a:t> </a:t>
            </a:r>
            <a:r>
              <a:rPr lang="en-US" altLang="tr-TR" dirty="0"/>
              <a:t>and</a:t>
            </a:r>
            <a:r>
              <a:rPr lang="en-US" altLang="tr-TR" b="1" dirty="0">
                <a:latin typeface="Arial" panose="020B0604020202020204" pitchFamily="34" charset="0"/>
              </a:rPr>
              <a:t> </a:t>
            </a:r>
            <a:r>
              <a:rPr lang="en-US" altLang="tr-TR" dirty="0"/>
              <a:t>Streams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23386"/>
            <a:ext cx="11480800" cy="519372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/>
              <a:t>C views each file as a sequence of bytes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File ends with the </a:t>
            </a:r>
            <a:r>
              <a:rPr lang="en-US" altLang="tr-TR" i="1" dirty="0"/>
              <a:t>end-of-file marker</a:t>
            </a:r>
          </a:p>
          <a:p>
            <a:pPr lvl="2">
              <a:lnSpc>
                <a:spcPct val="120000"/>
              </a:lnSpc>
            </a:pPr>
            <a:r>
              <a:rPr lang="en-US" altLang="tr-TR" dirty="0"/>
              <a:t>Or, file ends at a specified byte</a:t>
            </a:r>
          </a:p>
          <a:p>
            <a:pPr lvl="4">
              <a:lnSpc>
                <a:spcPct val="120000"/>
              </a:lnSpc>
            </a:pPr>
            <a:endParaRPr lang="tr-TR" altLang="tr-TR" dirty="0" smtClean="0"/>
          </a:p>
          <a:p>
            <a:pPr>
              <a:lnSpc>
                <a:spcPct val="120000"/>
              </a:lnSpc>
            </a:pPr>
            <a:r>
              <a:rPr lang="en-US" altLang="tr-TR" dirty="0" smtClean="0"/>
              <a:t>Stream </a:t>
            </a:r>
            <a:r>
              <a:rPr lang="en-US" altLang="tr-TR" dirty="0"/>
              <a:t>created when a file is opened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Provide communication channel between files and programs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Opening a file returns a pointer to a </a:t>
            </a:r>
            <a:r>
              <a:rPr lang="en-US" altLang="tr-TR" sz="2000" dirty="0">
                <a:latin typeface="Lucida Console" panose="020B0609040504020204" pitchFamily="49" charset="0"/>
              </a:rPr>
              <a:t>FILE</a:t>
            </a:r>
            <a:r>
              <a:rPr lang="en-US" altLang="tr-TR" dirty="0"/>
              <a:t> structure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(defined in </a:t>
            </a:r>
            <a:r>
              <a:rPr lang="en-US" sz="2400" dirty="0">
                <a:solidFill>
                  <a:srgbClr val="000000"/>
                </a:solidFill>
                <a:latin typeface="Lucida Console" pitchFamily="49" charset="0"/>
              </a:rPr>
              <a:t>&lt;</a:t>
            </a:r>
            <a:r>
              <a:rPr lang="en-US" sz="2400" dirty="0" err="1">
                <a:solidFill>
                  <a:srgbClr val="000000"/>
                </a:solidFill>
                <a:latin typeface="Lucida Console" pitchFamily="49" charset="0"/>
              </a:rPr>
              <a:t>stdio.h</a:t>
            </a:r>
            <a:r>
              <a:rPr lang="en-US" sz="2400" dirty="0">
                <a:solidFill>
                  <a:srgbClr val="000000"/>
                </a:solidFill>
                <a:latin typeface="Lucida Console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) that contains information used to process the file. </a:t>
            </a:r>
            <a:endParaRPr lang="en-US" altLang="tr-TR" dirty="0"/>
          </a:p>
          <a:p>
            <a:pPr lvl="1">
              <a:lnSpc>
                <a:spcPct val="120000"/>
              </a:lnSpc>
            </a:pPr>
            <a:r>
              <a:rPr lang="en-US" altLang="tr-TR" dirty="0"/>
              <a:t>Example file pointers:</a:t>
            </a:r>
          </a:p>
          <a:p>
            <a:pPr lvl="2">
              <a:lnSpc>
                <a:spcPct val="120000"/>
              </a:lnSpc>
            </a:pPr>
            <a:r>
              <a:rPr lang="en-US" altLang="tr-TR" sz="1800" dirty="0" err="1">
                <a:latin typeface="Lucida Console" panose="020B0609040504020204" pitchFamily="49" charset="0"/>
              </a:rPr>
              <a:t>stdin</a:t>
            </a:r>
            <a:r>
              <a:rPr lang="en-US" altLang="tr-TR" dirty="0"/>
              <a:t> - standard input (keyboard)</a:t>
            </a:r>
          </a:p>
          <a:p>
            <a:pPr lvl="2">
              <a:lnSpc>
                <a:spcPct val="120000"/>
              </a:lnSpc>
            </a:pPr>
            <a:r>
              <a:rPr lang="en-US" altLang="tr-TR" sz="1800" dirty="0" err="1">
                <a:latin typeface="Lucida Console" panose="020B0609040504020204" pitchFamily="49" charset="0"/>
              </a:rPr>
              <a:t>stdout</a:t>
            </a:r>
            <a:r>
              <a:rPr lang="en-US" altLang="tr-TR" dirty="0"/>
              <a:t> - standard output (screen)</a:t>
            </a:r>
          </a:p>
          <a:p>
            <a:pPr lvl="2">
              <a:lnSpc>
                <a:spcPct val="120000"/>
              </a:lnSpc>
            </a:pPr>
            <a:r>
              <a:rPr lang="en-US" altLang="tr-TR" sz="1800" dirty="0" err="1">
                <a:latin typeface="Lucida Console" panose="020B0609040504020204" pitchFamily="49" charset="0"/>
              </a:rPr>
              <a:t>stderr</a:t>
            </a:r>
            <a:r>
              <a:rPr lang="en-US" altLang="tr-TR" dirty="0"/>
              <a:t> - standard error (screen)</a:t>
            </a:r>
          </a:p>
          <a:p>
            <a:pPr>
              <a:lnSpc>
                <a:spcPct val="12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65137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Creating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>
                <a:latin typeface="Lucida Console" panose="020B0609040504020204" pitchFamily="49" charset="0"/>
              </a:rPr>
              <a:t>FILE *</a:t>
            </a:r>
            <a:r>
              <a:rPr lang="en-US" altLang="tr-TR" dirty="0" err="1">
                <a:latin typeface="Lucida Console" panose="020B0609040504020204" pitchFamily="49" charset="0"/>
              </a:rPr>
              <a:t>cfPtr</a:t>
            </a:r>
            <a:r>
              <a:rPr lang="en-US" altLang="tr-TR" dirty="0">
                <a:latin typeface="Lucida Console" panose="020B0609040504020204" pitchFamily="49" charset="0"/>
              </a:rPr>
              <a:t>;</a:t>
            </a:r>
            <a:endParaRPr lang="tr-TR" altLang="tr-TR" dirty="0"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altLang="tr-TR" dirty="0"/>
              <a:t>Creates a </a:t>
            </a:r>
            <a:r>
              <a:rPr lang="en-US" altLang="tr-TR" dirty="0">
                <a:latin typeface="Lucida Console" panose="020B0609040504020204" pitchFamily="49" charset="0"/>
              </a:rPr>
              <a:t>FILE</a:t>
            </a:r>
            <a:r>
              <a:rPr lang="en-US" altLang="tr-TR" dirty="0"/>
              <a:t> pointer called </a:t>
            </a:r>
            <a:r>
              <a:rPr lang="en-US" altLang="tr-TR" dirty="0" err="1">
                <a:latin typeface="Lucida Console" panose="020B0609040504020204" pitchFamily="49" charset="0"/>
              </a:rPr>
              <a:t>cfPtr</a:t>
            </a:r>
            <a:endParaRPr lang="tr-TR" altLang="tr-TR" dirty="0"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endParaRPr lang="tr-TR" altLang="tr-TR" dirty="0" smtClean="0"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tr-TR" dirty="0" err="1" smtClean="0">
                <a:latin typeface="Lucida Console" panose="020B0609040504020204" pitchFamily="49" charset="0"/>
              </a:rPr>
              <a:t>cfPtr</a:t>
            </a:r>
            <a:r>
              <a:rPr lang="en-US" altLang="tr-TR" dirty="0" smtClean="0">
                <a:latin typeface="Lucida Console" panose="020B0609040504020204" pitchFamily="49" charset="0"/>
              </a:rPr>
              <a:t> </a:t>
            </a:r>
            <a:r>
              <a:rPr lang="en-US" altLang="tr-TR" dirty="0">
                <a:latin typeface="Lucida Console" panose="020B0609040504020204" pitchFamily="49" charset="0"/>
              </a:rPr>
              <a:t>= </a:t>
            </a:r>
            <a:r>
              <a:rPr lang="en-US" altLang="tr-TR" dirty="0" err="1" smtClean="0">
                <a:latin typeface="Lucida Console" panose="020B0609040504020204" pitchFamily="49" charset="0"/>
              </a:rPr>
              <a:t>fopen</a:t>
            </a:r>
            <a:r>
              <a:rPr lang="en-US" altLang="tr-TR" dirty="0">
                <a:latin typeface="Lucida Console" panose="020B0609040504020204" pitchFamily="49" charset="0"/>
              </a:rPr>
              <a:t>("clients.dat</a:t>
            </a:r>
            <a:r>
              <a:rPr lang="en-US" altLang="tr-TR" dirty="0">
                <a:latin typeface="Lucida Console" panose="020B0609040504020204" pitchFamily="49" charset="0"/>
              </a:rPr>
              <a:t>", </a:t>
            </a:r>
            <a:r>
              <a:rPr lang="en-US" altLang="tr-TR" dirty="0" smtClean="0">
                <a:latin typeface="Lucida Console" panose="020B0609040504020204" pitchFamily="49" charset="0"/>
              </a:rPr>
              <a:t>"</a:t>
            </a:r>
            <a:r>
              <a:rPr lang="en-US" altLang="tr-TR" dirty="0">
                <a:latin typeface="Lucida Console" panose="020B0609040504020204" pitchFamily="49" charset="0"/>
              </a:rPr>
              <a:t>w</a:t>
            </a:r>
            <a:r>
              <a:rPr lang="en-US" altLang="tr-TR" dirty="0" smtClean="0">
                <a:latin typeface="Lucida Console" panose="020B0609040504020204" pitchFamily="49" charset="0"/>
              </a:rPr>
              <a:t>");</a:t>
            </a:r>
            <a:endParaRPr lang="tr-TR" altLang="tr-TR" dirty="0"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altLang="tr-TR" dirty="0"/>
              <a:t>Function </a:t>
            </a:r>
            <a:r>
              <a:rPr lang="en-US" altLang="tr-TR" dirty="0" err="1">
                <a:latin typeface="Lucida Console" panose="020B0609040504020204" pitchFamily="49" charset="0"/>
              </a:rPr>
              <a:t>fopen</a:t>
            </a:r>
            <a:r>
              <a:rPr lang="en-US" altLang="tr-TR" dirty="0"/>
              <a:t> returns a </a:t>
            </a:r>
            <a:r>
              <a:rPr lang="en-US" altLang="tr-TR" dirty="0">
                <a:latin typeface="Lucida Console" panose="020B0609040504020204" pitchFamily="49" charset="0"/>
              </a:rPr>
              <a:t>FILE</a:t>
            </a:r>
            <a:r>
              <a:rPr lang="en-US" altLang="tr-TR" dirty="0"/>
              <a:t> pointer to file </a:t>
            </a:r>
            <a:r>
              <a:rPr lang="en-US" altLang="tr-TR" dirty="0" err="1"/>
              <a:t>specifie</a:t>
            </a:r>
            <a:r>
              <a:rPr lang="tr-TR" altLang="tr-TR" dirty="0"/>
              <a:t>s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Takes two arguments </a:t>
            </a:r>
            <a:r>
              <a:rPr lang="en-US" altLang="tr-TR" dirty="0">
                <a:cs typeface="Times New Roman" panose="02020603050405020304" pitchFamily="18" charset="0"/>
              </a:rPr>
              <a:t>–</a:t>
            </a:r>
            <a:r>
              <a:rPr lang="en-US" altLang="tr-TR" dirty="0"/>
              <a:t> </a:t>
            </a:r>
            <a:r>
              <a:rPr lang="en-US" altLang="tr-TR" dirty="0">
                <a:solidFill>
                  <a:srgbClr val="0070C0"/>
                </a:solidFill>
              </a:rPr>
              <a:t>file to open </a:t>
            </a:r>
            <a:r>
              <a:rPr lang="en-US" altLang="tr-TR" dirty="0"/>
              <a:t>and </a:t>
            </a:r>
            <a:r>
              <a:rPr lang="en-US" altLang="tr-TR" dirty="0">
                <a:solidFill>
                  <a:srgbClr val="0070C0"/>
                </a:solidFill>
              </a:rPr>
              <a:t>file open mode</a:t>
            </a:r>
            <a:endParaRPr lang="tr-TR" altLang="tr-TR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tr-TR" dirty="0"/>
              <a:t>If open fails, </a:t>
            </a:r>
            <a:r>
              <a:rPr lang="en-US" altLang="tr-TR" dirty="0">
                <a:latin typeface="Lucida Console" panose="020B0609040504020204" pitchFamily="49" charset="0"/>
              </a:rPr>
              <a:t>NULL</a:t>
            </a:r>
            <a:r>
              <a:rPr lang="en-US" altLang="tr-TR" dirty="0"/>
              <a:t> returned</a:t>
            </a:r>
            <a:endParaRPr lang="tr-TR" altLang="tr-TR" dirty="0"/>
          </a:p>
          <a:p>
            <a:pPr>
              <a:lnSpc>
                <a:spcPct val="150000"/>
              </a:lnSpc>
            </a:pPr>
            <a:endParaRPr lang="en-US" altLang="tr-TR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59576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Accessing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feof</a:t>
            </a:r>
            <a:r>
              <a:rPr lang="en-US" altLang="tr-TR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2200" dirty="0">
                <a:solidFill>
                  <a:srgbClr val="0070C0"/>
                </a:solidFill>
                <a:latin typeface="Lucida Console" panose="020B0609040504020204" pitchFamily="49" charset="0"/>
              </a:rPr>
              <a:t>( </a:t>
            </a:r>
            <a:r>
              <a:rPr lang="en-US" altLang="tr-TR" sz="2200" i="1" dirty="0">
                <a:solidFill>
                  <a:srgbClr val="0070C0"/>
                </a:solidFill>
                <a:latin typeface="Lucida Console" panose="020B0609040504020204" pitchFamily="49" charset="0"/>
              </a:rPr>
              <a:t>FILE</a:t>
            </a:r>
            <a:r>
              <a:rPr lang="en-US" altLang="tr-TR" i="1" dirty="0">
                <a:solidFill>
                  <a:srgbClr val="0070C0"/>
                </a:solidFill>
              </a:rPr>
              <a:t> *</a:t>
            </a:r>
            <a:r>
              <a:rPr lang="en-US" altLang="tr-TR" i="1" dirty="0" err="1">
                <a:solidFill>
                  <a:srgbClr val="0070C0"/>
                </a:solidFill>
              </a:rPr>
              <a:t>fptr</a:t>
            </a:r>
            <a:r>
              <a:rPr lang="en-US" altLang="tr-TR" sz="2200" dirty="0">
                <a:solidFill>
                  <a:srgbClr val="0070C0"/>
                </a:solidFill>
                <a:latin typeface="Lucida Console" panose="020B0609040504020204" pitchFamily="49" charset="0"/>
              </a:rPr>
              <a:t> )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Returns true if end-of-file indicator (no more data to process) is set for the specified file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The end-of-file indicator informs the program that there’s no more data to be processed. </a:t>
            </a:r>
          </a:p>
          <a:p>
            <a:pPr lvl="1">
              <a:lnSpc>
                <a:spcPct val="150000"/>
              </a:lnSpc>
            </a:pPr>
            <a:endParaRPr lang="en-US" altLang="tr-TR" dirty="0"/>
          </a:p>
          <a:p>
            <a:pPr lvl="1">
              <a:lnSpc>
                <a:spcPct val="150000"/>
              </a:lnSpc>
            </a:pPr>
            <a:endParaRPr lang="en-US" alt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892" y="4132850"/>
            <a:ext cx="81629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397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Accessing Files</a:t>
            </a:r>
            <a:r>
              <a:rPr lang="en-US" dirty="0"/>
              <a:t> (cont.)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fclose</a:t>
            </a:r>
            <a:r>
              <a:rPr lang="en-US" altLang="tr-TR" sz="2200" dirty="0">
                <a:solidFill>
                  <a:srgbClr val="0070C0"/>
                </a:solidFill>
                <a:latin typeface="Lucida Console" panose="020B0609040504020204" pitchFamily="49" charset="0"/>
              </a:rPr>
              <a:t>(</a:t>
            </a:r>
            <a:r>
              <a:rPr lang="en-US" altLang="tr-TR" dirty="0">
                <a:solidFill>
                  <a:srgbClr val="0070C0"/>
                </a:solidFill>
              </a:rPr>
              <a:t> </a:t>
            </a:r>
            <a:r>
              <a:rPr lang="en-US" altLang="tr-TR" sz="2200" i="1" dirty="0">
                <a:solidFill>
                  <a:srgbClr val="0070C0"/>
                </a:solidFill>
                <a:latin typeface="Lucida Console" panose="020B0609040504020204" pitchFamily="49" charset="0"/>
              </a:rPr>
              <a:t>FILE</a:t>
            </a:r>
            <a:r>
              <a:rPr lang="en-US" altLang="tr-TR" i="1" dirty="0">
                <a:solidFill>
                  <a:srgbClr val="0070C0"/>
                </a:solidFill>
              </a:rPr>
              <a:t> *</a:t>
            </a:r>
            <a:r>
              <a:rPr lang="en-US" altLang="tr-TR" i="1" dirty="0" err="1">
                <a:solidFill>
                  <a:srgbClr val="0070C0"/>
                </a:solidFill>
              </a:rPr>
              <a:t>fpt</a:t>
            </a:r>
            <a:r>
              <a:rPr lang="en-US" altLang="tr-TR" sz="2200" dirty="0">
                <a:solidFill>
                  <a:srgbClr val="0070C0"/>
                </a:solidFill>
                <a:latin typeface="Lucida Console" panose="020B0609040504020204" pitchFamily="49" charset="0"/>
              </a:rPr>
              <a:t> )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Closes specified file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Performed automatically when program ends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Good practice to close files explicitly</a:t>
            </a:r>
            <a:endParaRPr lang="tr-TR" altLang="tr-TR" dirty="0"/>
          </a:p>
          <a:p>
            <a:pPr>
              <a:lnSpc>
                <a:spcPct val="150000"/>
              </a:lnSpc>
            </a:pPr>
            <a:endParaRPr lang="tr-TR" altLang="tr-TR" dirty="0" smtClean="0"/>
          </a:p>
          <a:p>
            <a:pPr>
              <a:lnSpc>
                <a:spcPct val="150000"/>
              </a:lnSpc>
            </a:pPr>
            <a:r>
              <a:rPr lang="en-US" altLang="tr-TR" dirty="0" smtClean="0"/>
              <a:t>Details</a:t>
            </a:r>
            <a:endParaRPr lang="en-US" altLang="tr-TR" dirty="0"/>
          </a:p>
          <a:p>
            <a:pPr lvl="1">
              <a:lnSpc>
                <a:spcPct val="150000"/>
              </a:lnSpc>
            </a:pPr>
            <a:r>
              <a:rPr lang="en-US" altLang="tr-TR" dirty="0"/>
              <a:t>Programs may process no files, one file, or many files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Each file must have a unique name and should have its own pointer</a:t>
            </a:r>
          </a:p>
          <a:p>
            <a:pPr>
              <a:lnSpc>
                <a:spcPct val="150000"/>
              </a:lnSpc>
            </a:pPr>
            <a:endParaRPr lang="en-US" alt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91467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File opening modes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978568"/>
            <a:ext cx="11272661" cy="533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738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File opening modes (cont.)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13" y="1796688"/>
            <a:ext cx="9135760" cy="4530829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985172"/>
            <a:ext cx="11480800" cy="4031672"/>
          </a:xfrm>
        </p:spPr>
        <p:txBody>
          <a:bodyPr/>
          <a:lstStyle/>
          <a:p>
            <a:r>
              <a:rPr lang="en-US" altLang="tr-TR" dirty="0">
                <a:solidFill>
                  <a:srgbClr val="0070C0"/>
                </a:solidFill>
              </a:rPr>
              <a:t>binary file</a:t>
            </a:r>
            <a:r>
              <a:rPr lang="en-US" altLang="tr-TR" dirty="0"/>
              <a:t>: a file containing binary numbers that are the computer’s internal representation of each file </a:t>
            </a:r>
            <a:r>
              <a:rPr lang="en-US" altLang="tr-TR" dirty="0" smtClean="0"/>
              <a:t>component</a:t>
            </a:r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14101133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Read/Write functions in standard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fgetc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(FILE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fptr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Reads one character from a file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Takes a </a:t>
            </a:r>
            <a:r>
              <a:rPr lang="en-US" altLang="tr-TR" sz="1800" dirty="0">
                <a:latin typeface="Lucida Console" panose="020B0609040504020204" pitchFamily="49" charset="0"/>
              </a:rPr>
              <a:t>FILE</a:t>
            </a:r>
            <a:r>
              <a:rPr lang="en-US" altLang="tr-TR" dirty="0"/>
              <a:t> pointer as an argument</a:t>
            </a:r>
          </a:p>
          <a:p>
            <a:pPr lvl="2">
              <a:lnSpc>
                <a:spcPct val="90000"/>
              </a:lnSpc>
            </a:pPr>
            <a:r>
              <a:rPr lang="en-US" altLang="tr-TR" sz="1800" dirty="0" err="1">
                <a:latin typeface="Lucida Console" panose="020B0609040504020204" pitchFamily="49" charset="0"/>
              </a:rPr>
              <a:t>fgetc</a:t>
            </a:r>
            <a:r>
              <a:rPr lang="en-US" altLang="tr-TR" sz="1800" dirty="0">
                <a:latin typeface="Lucida Console" panose="020B0609040504020204" pitchFamily="49" charset="0"/>
              </a:rPr>
              <a:t>( </a:t>
            </a:r>
            <a:r>
              <a:rPr lang="en-US" altLang="tr-TR" sz="1800" dirty="0" err="1">
                <a:latin typeface="Lucida Console" panose="020B0609040504020204" pitchFamily="49" charset="0"/>
              </a:rPr>
              <a:t>stdin</a:t>
            </a:r>
            <a:r>
              <a:rPr lang="en-US" altLang="tr-TR" sz="1800" dirty="0">
                <a:latin typeface="Lucida Console" panose="020B0609040504020204" pitchFamily="49" charset="0"/>
              </a:rPr>
              <a:t> )</a:t>
            </a:r>
            <a:r>
              <a:rPr lang="en-US" altLang="tr-TR" dirty="0"/>
              <a:t> equivalent to </a:t>
            </a:r>
            <a:r>
              <a:rPr lang="en-US" altLang="tr-TR" sz="1800" dirty="0" err="1">
                <a:latin typeface="Lucida Console" panose="020B0609040504020204" pitchFamily="49" charset="0"/>
              </a:rPr>
              <a:t>getchar</a:t>
            </a:r>
            <a:r>
              <a:rPr lang="en-US" altLang="tr-TR" sz="1800" dirty="0">
                <a:latin typeface="Lucida Console" panose="020B0609040504020204" pitchFamily="49" charset="0"/>
              </a:rPr>
              <a:t>()</a:t>
            </a:r>
          </a:p>
          <a:p>
            <a:pPr lvl="1">
              <a:lnSpc>
                <a:spcPct val="90000"/>
              </a:lnSpc>
            </a:pPr>
            <a:endParaRPr lang="tr-TR" altLang="tr-TR" sz="2000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tr-TR" sz="2000" dirty="0" err="1" smtClean="0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 smtClean="0"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fputc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(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char, FILE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fptr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Writes one character to a file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Takes a </a:t>
            </a:r>
            <a:r>
              <a:rPr lang="en-US" altLang="tr-TR" sz="1800" dirty="0">
                <a:latin typeface="Lucida Console" panose="020B0609040504020204" pitchFamily="49" charset="0"/>
              </a:rPr>
              <a:t>FILE</a:t>
            </a:r>
            <a:r>
              <a:rPr lang="en-US" altLang="tr-TR" dirty="0"/>
              <a:t> pointer and a character to write as an argument</a:t>
            </a:r>
          </a:p>
          <a:p>
            <a:pPr lvl="2">
              <a:lnSpc>
                <a:spcPct val="90000"/>
              </a:lnSpc>
            </a:pPr>
            <a:r>
              <a:rPr lang="en-US" altLang="tr-TR" sz="1800" dirty="0" err="1">
                <a:latin typeface="Lucida Console" panose="020B0609040504020204" pitchFamily="49" charset="0"/>
              </a:rPr>
              <a:t>fputc</a:t>
            </a:r>
            <a:r>
              <a:rPr lang="en-US" altLang="tr-TR" sz="1800" dirty="0">
                <a:latin typeface="Lucida Console" panose="020B0609040504020204" pitchFamily="49" charset="0"/>
              </a:rPr>
              <a:t>( 'a', </a:t>
            </a:r>
            <a:r>
              <a:rPr lang="en-US" altLang="tr-TR" sz="1800" dirty="0" err="1">
                <a:latin typeface="Lucida Console" panose="020B0609040504020204" pitchFamily="49" charset="0"/>
              </a:rPr>
              <a:t>stdout</a:t>
            </a:r>
            <a:r>
              <a:rPr lang="en-US" altLang="tr-TR" sz="1800" dirty="0">
                <a:latin typeface="Lucida Console" panose="020B0609040504020204" pitchFamily="49" charset="0"/>
              </a:rPr>
              <a:t> )</a:t>
            </a:r>
            <a:r>
              <a:rPr lang="en-US" altLang="tr-TR" dirty="0"/>
              <a:t> equivalent to </a:t>
            </a:r>
            <a:r>
              <a:rPr lang="en-US" altLang="tr-TR" sz="1800" dirty="0" err="1">
                <a:latin typeface="Lucida Console" panose="020B0609040504020204" pitchFamily="49" charset="0"/>
              </a:rPr>
              <a:t>putchar</a:t>
            </a:r>
            <a:r>
              <a:rPr lang="en-US" altLang="tr-TR" sz="1800" dirty="0">
                <a:latin typeface="Lucida Console" panose="020B0609040504020204" pitchFamily="49" charset="0"/>
              </a:rPr>
              <a:t>( 'a' )</a:t>
            </a:r>
          </a:p>
          <a:p>
            <a:pPr lvl="1">
              <a:lnSpc>
                <a:spcPct val="90000"/>
              </a:lnSpc>
            </a:pPr>
            <a:endParaRPr lang="tr-TR" altLang="tr-TR" sz="2000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tr-TR" sz="200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char</a:t>
            </a:r>
            <a:r>
              <a:rPr lang="en-US" altLang="tr-TR" sz="2000" dirty="0" smtClean="0"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*</a:t>
            </a: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fgets</a:t>
            </a:r>
            <a:r>
              <a:rPr lang="en-US" altLang="tr-TR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(char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, 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n, FILE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fptr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Reads a line from a file</a:t>
            </a:r>
          </a:p>
          <a:p>
            <a:pPr lvl="1">
              <a:lnSpc>
                <a:spcPct val="90000"/>
              </a:lnSpc>
            </a:pPr>
            <a:endParaRPr lang="tr-TR" altLang="tr-TR" sz="2000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tr-TR" sz="2000" dirty="0" err="1" smtClean="0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 smtClean="0"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fputs</a:t>
            </a:r>
            <a:r>
              <a:rPr lang="en-US" altLang="tr-TR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(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const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char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, FILE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fptr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Writes a line to a file</a:t>
            </a:r>
          </a:p>
          <a:p>
            <a:pPr marL="0" indent="0">
              <a:buNone/>
            </a:pPr>
            <a:endParaRPr lang="en-US" altLang="tr-TR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76395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Read/Write functions in standard library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fprintf</a:t>
            </a:r>
            <a:r>
              <a:rPr lang="en-US" altLang="tr-TR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(FILE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fptr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, 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const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char *format, ...)</a:t>
            </a:r>
          </a:p>
          <a:p>
            <a:pPr lvl="2">
              <a:lnSpc>
                <a:spcPct val="150000"/>
              </a:lnSpc>
            </a:pPr>
            <a:r>
              <a:rPr lang="en-US" altLang="tr-TR" dirty="0"/>
              <a:t>File processing equivalents of </a:t>
            </a:r>
            <a:r>
              <a:rPr lang="en-US" altLang="tr-TR" sz="1800" dirty="0" err="1">
                <a:latin typeface="Lucida Console" panose="020B0609040504020204" pitchFamily="49" charset="0"/>
              </a:rPr>
              <a:t>printf</a:t>
            </a:r>
            <a:endParaRPr lang="en-US" altLang="tr-TR" dirty="0">
              <a:latin typeface="Lucida Console" panose="020B060904050402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fprintf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stdout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128AFF"/>
                </a:solidFill>
                <a:latin typeface="Lucida Console" panose="020B0609040504020204" pitchFamily="49" charset="0"/>
              </a:rPr>
              <a:t>"%d %s %.2f\n"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, account, name, balance);</a:t>
            </a:r>
          </a:p>
          <a:p>
            <a:pPr lvl="2">
              <a:lnSpc>
                <a:spcPct val="150000"/>
              </a:lnSpc>
            </a:pPr>
            <a:endParaRPr lang="en-US" altLang="tr-TR" sz="1800" dirty="0"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/>
              <a:t> </a:t>
            </a:r>
            <a:r>
              <a:rPr lang="en-US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fscanf</a:t>
            </a:r>
            <a:r>
              <a:rPr lang="en-US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(FILE *</a:t>
            </a:r>
            <a:r>
              <a:rPr lang="en-US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fptr</a:t>
            </a:r>
            <a:r>
              <a:rPr lang="en-US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, </a:t>
            </a:r>
            <a:r>
              <a:rPr lang="en-US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const</a:t>
            </a:r>
            <a:r>
              <a:rPr lang="en-US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char *format, ...)</a:t>
            </a:r>
            <a:endParaRPr lang="en-US" altLang="tr-TR" sz="2000" dirty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en-US" altLang="tr-TR" dirty="0"/>
              <a:t>File processing equivalents of </a:t>
            </a:r>
            <a:r>
              <a:rPr lang="en-US" altLang="tr-TR" sz="1800" dirty="0" err="1">
                <a:latin typeface="Lucida Console" panose="020B0609040504020204" pitchFamily="49" charset="0"/>
              </a:rPr>
              <a:t>scanf</a:t>
            </a:r>
            <a:r>
              <a:rPr lang="en-US" altLang="tr-TR" sz="1800" dirty="0">
                <a:latin typeface="Lucida Console" panose="020B0609040504020204" pitchFamily="49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altLang="tr-TR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fscanf</a:t>
            </a:r>
            <a:r>
              <a:rPr lang="en-US" altLang="tr-TR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tr-TR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tr-TR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tr-TR" b="1" dirty="0">
                <a:solidFill>
                  <a:srgbClr val="128AFF"/>
                </a:solidFill>
                <a:latin typeface="Lucida Console" panose="020B0609040504020204" pitchFamily="49" charset="0"/>
              </a:rPr>
              <a:t>"%s %s %s %d</a:t>
            </a:r>
            <a:r>
              <a:rPr lang="en-US" altLang="tr-TR" dirty="0">
                <a:solidFill>
                  <a:srgbClr val="000000"/>
                </a:solidFill>
                <a:latin typeface="Lucida Console" panose="020B0609040504020204" pitchFamily="49" charset="0"/>
              </a:rPr>
              <a:t>", str1, str2, str3, &amp;year);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2247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94" y="2732840"/>
            <a:ext cx="8918896" cy="3694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9256" y="938390"/>
            <a:ext cx="940663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31F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Assume that 2 files are opened in the following way:</a:t>
            </a: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*</a:t>
            </a:r>
            <a:r>
              <a:rPr lang="en-US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infilep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outfilep</a:t>
            </a:r>
            <a:r>
              <a:rPr lang="en-US" b="1" dirty="0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("data.txt", "r");</a:t>
            </a:r>
            <a:endParaRPr lang="en-US" b="1" dirty="0">
              <a:solidFill>
                <a:srgbClr val="231F2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231F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outfilep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("out", "w");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152400"/>
            <a:ext cx="114808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ＭＳ Ｐゴシック" pitchFamily="-105" charset="-128"/>
                <a:cs typeface="ＭＳ Ｐゴシック" pitchFamily="-105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r>
              <a:rPr lang="en-US" altLang="tr-TR" kern="0" dirty="0"/>
              <a:t>Comparison of I/O functions</a:t>
            </a:r>
            <a:endParaRPr lang="tr-TR" kern="0" dirty="0"/>
          </a:p>
        </p:txBody>
      </p:sp>
    </p:spTree>
    <p:extLst>
      <p:ext uri="{BB962C8B-B14F-4D97-AF65-F5344CB8AC3E}">
        <p14:creationId xmlns:p14="http://schemas.microsoft.com/office/powerpoint/2010/main" val="3097743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tr-TR" dirty="0" smtClean="0">
                <a:latin typeface="Lucida Console" panose="020B0609040504020204" pitchFamily="49" charset="0"/>
              </a:rPr>
              <a:t>fi</a:t>
            </a:r>
            <a:r>
              <a:rPr lang="tr-TR" altLang="tr-TR" dirty="0" err="1" smtClean="0">
                <a:latin typeface="Lucida Console" panose="020B0609040504020204" pitchFamily="49" charset="0"/>
              </a:rPr>
              <a:t>leCopy</a:t>
            </a:r>
            <a:r>
              <a:rPr lang="en-US" altLang="tr-TR" dirty="0" smtClean="0">
                <a:latin typeface="Lucida Console" panose="020B0609040504020204" pitchFamily="49" charset="0"/>
              </a:rPr>
              <a:t>.c</a:t>
            </a:r>
            <a:endParaRPr lang="en-US" altLang="tr-TR" dirty="0">
              <a:latin typeface="Lucida Console" panose="020B060904050402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tr-TR" dirty="0">
                <a:latin typeface="Lucida Console" panose="020B0609040504020204" pitchFamily="49" charset="0"/>
              </a:rPr>
              <a:t>fig11_02.c</a:t>
            </a:r>
          </a:p>
          <a:p>
            <a:pPr>
              <a:lnSpc>
                <a:spcPct val="200000"/>
              </a:lnSpc>
            </a:pPr>
            <a:r>
              <a:rPr lang="en-US" altLang="tr-TR" dirty="0">
                <a:latin typeface="Lucida Console" panose="020B0609040504020204" pitchFamily="49" charset="0"/>
              </a:rPr>
              <a:t>fig11_06.c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40509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fig11_02.c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26927"/>
            <a:ext cx="8299206" cy="53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87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fig11_02.c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1" y="993775"/>
            <a:ext cx="87630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08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fig11_06.c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12825"/>
            <a:ext cx="87534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577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fig11_06.c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1" y="1029132"/>
            <a:ext cx="87820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791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Dynamic Memory Allocation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23386"/>
            <a:ext cx="11480800" cy="519372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/>
              <a:t>Dynamic memory allocation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Obtain and release memory during execution</a:t>
            </a:r>
          </a:p>
          <a:p>
            <a:pPr lvl="4">
              <a:lnSpc>
                <a:spcPct val="120000"/>
              </a:lnSpc>
            </a:pPr>
            <a:endParaRPr lang="en-US" altLang="tr-TR" dirty="0"/>
          </a:p>
          <a:p>
            <a:pPr>
              <a:lnSpc>
                <a:spcPct val="120000"/>
              </a:lnSpc>
            </a:pPr>
            <a:r>
              <a:rPr lang="en-US" altLang="tr-TR" sz="2600" dirty="0" err="1">
                <a:latin typeface="Lucida Console" panose="020B0609040504020204" pitchFamily="49" charset="0"/>
              </a:rPr>
              <a:t>malloc</a:t>
            </a:r>
            <a:endParaRPr lang="en-US" altLang="tr-TR" sz="2600" dirty="0">
              <a:latin typeface="Lucida Console" panose="020B060904050402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tr-TR" sz="2400" dirty="0">
                <a:solidFill>
                  <a:srgbClr val="0070C0"/>
                </a:solidFill>
                <a:latin typeface="Lucida Console" panose="020B0609040504020204" pitchFamily="49" charset="0"/>
              </a:rPr>
              <a:t>void * </a:t>
            </a:r>
            <a:r>
              <a:rPr lang="en-US" altLang="tr-TR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malloc</a:t>
            </a:r>
            <a:r>
              <a:rPr lang="en-US" altLang="tr-TR" sz="2400" dirty="0">
                <a:latin typeface="Lucida Console" panose="020B0609040504020204" pitchFamily="49" charset="0"/>
              </a:rPr>
              <a:t> </a:t>
            </a:r>
            <a:r>
              <a:rPr lang="en-US" altLang="tr-TR" sz="2400" dirty="0">
                <a:solidFill>
                  <a:srgbClr val="0070C0"/>
                </a:solidFill>
                <a:latin typeface="Lucida Console" panose="020B0609040504020204" pitchFamily="49" charset="0"/>
              </a:rPr>
              <a:t>(</a:t>
            </a:r>
            <a:r>
              <a:rPr lang="en-US" altLang="tr-TR" sz="24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400" dirty="0">
                <a:solidFill>
                  <a:srgbClr val="0070C0"/>
                </a:solidFill>
                <a:latin typeface="Lucida Console" panose="020B0609040504020204" pitchFamily="49" charset="0"/>
              </a:rPr>
              <a:t> size)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Takes number of bytes to allocate</a:t>
            </a:r>
          </a:p>
          <a:p>
            <a:pPr lvl="2">
              <a:lnSpc>
                <a:spcPct val="120000"/>
              </a:lnSpc>
            </a:pPr>
            <a:r>
              <a:rPr lang="en-US" altLang="tr-TR" dirty="0"/>
              <a:t>Use </a:t>
            </a:r>
            <a:r>
              <a:rPr lang="en-US" altLang="tr-TR" sz="1800" dirty="0" err="1">
                <a:latin typeface="Lucida Console" panose="020B0609040504020204" pitchFamily="49" charset="0"/>
              </a:rPr>
              <a:t>sizeof</a:t>
            </a:r>
            <a:r>
              <a:rPr lang="en-US" altLang="tr-TR" dirty="0"/>
              <a:t> to determine the size of an object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Returns pointer of type </a:t>
            </a:r>
            <a:r>
              <a:rPr lang="en-US" altLang="tr-TR" sz="2000" dirty="0">
                <a:latin typeface="Lucida Console" panose="020B0609040504020204" pitchFamily="49" charset="0"/>
              </a:rPr>
              <a:t>void *</a:t>
            </a:r>
          </a:p>
          <a:p>
            <a:pPr lvl="2">
              <a:lnSpc>
                <a:spcPct val="120000"/>
              </a:lnSpc>
            </a:pPr>
            <a:r>
              <a:rPr lang="en-US" altLang="tr-TR" dirty="0"/>
              <a:t>A </a:t>
            </a:r>
            <a:r>
              <a:rPr lang="en-US" altLang="tr-TR" sz="1800" dirty="0">
                <a:latin typeface="Lucida Console" panose="020B0609040504020204" pitchFamily="49" charset="0"/>
              </a:rPr>
              <a:t>void *</a:t>
            </a:r>
            <a:r>
              <a:rPr lang="en-US" altLang="tr-TR" dirty="0"/>
              <a:t> pointer may be assigned to any pointer</a:t>
            </a:r>
          </a:p>
          <a:p>
            <a:pPr lvl="2">
              <a:lnSpc>
                <a:spcPct val="120000"/>
              </a:lnSpc>
            </a:pPr>
            <a:r>
              <a:rPr lang="en-US" altLang="tr-TR" dirty="0"/>
              <a:t>If no memory available, returns </a:t>
            </a:r>
            <a:r>
              <a:rPr lang="en-US" altLang="tr-TR" sz="1800" dirty="0">
                <a:latin typeface="Lucida Console" panose="020B0609040504020204" pitchFamily="49" charset="0"/>
              </a:rPr>
              <a:t>NULL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Example</a:t>
            </a: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newPtr</a:t>
            </a:r>
            <a:r>
              <a:rPr lang="en-US" altLang="tr-TR" sz="1800" dirty="0">
                <a:latin typeface="Lucida Console" panose="020B0609040504020204" pitchFamily="49" charset="0"/>
              </a:rPr>
              <a:t> = </a:t>
            </a:r>
            <a:r>
              <a:rPr lang="en-US" altLang="tr-TR" sz="1800" dirty="0" err="1">
                <a:latin typeface="Lucida Console" panose="020B0609040504020204" pitchFamily="49" charset="0"/>
              </a:rPr>
              <a:t>malloc</a:t>
            </a:r>
            <a:r>
              <a:rPr lang="en-US" altLang="tr-TR" sz="1800" dirty="0">
                <a:latin typeface="Lucida Console" panose="020B0609040504020204" pitchFamily="49" charset="0"/>
              </a:rPr>
              <a:t>( </a:t>
            </a:r>
            <a:r>
              <a:rPr lang="en-US" altLang="tr-TR" sz="1800" dirty="0" err="1">
                <a:latin typeface="Lucida Console" panose="020B0609040504020204" pitchFamily="49" charset="0"/>
              </a:rPr>
              <a:t>sizeof</a:t>
            </a:r>
            <a:r>
              <a:rPr lang="en-US" altLang="tr-TR" sz="1800" dirty="0">
                <a:latin typeface="Lucida Console" panose="020B0609040504020204" pitchFamily="49" charset="0"/>
              </a:rPr>
              <a:t>( </a:t>
            </a:r>
            <a:r>
              <a:rPr lang="en-US" altLang="tr-TR" sz="1800" dirty="0" err="1">
                <a:latin typeface="Lucida Console" panose="020B0609040504020204" pitchFamily="49" charset="0"/>
              </a:rPr>
              <a:t>struct</a:t>
            </a:r>
            <a:r>
              <a:rPr lang="en-US" altLang="tr-TR" sz="1800" dirty="0">
                <a:latin typeface="Lucida Console" panose="020B0609040504020204" pitchFamily="49" charset="0"/>
              </a:rPr>
              <a:t> node ) 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4638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Dynamic Memory Allocation (cont.)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Example: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	char *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letp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b="1" dirty="0"/>
              <a:t/>
            </a:r>
            <a:br>
              <a:rPr lang="fr-FR" sz="2000" b="1" dirty="0"/>
            </a:br>
            <a:endParaRPr lang="fr-FR" sz="2000" b="1" dirty="0"/>
          </a:p>
          <a:p>
            <a:pPr marL="0" indent="0">
              <a:buNone/>
            </a:pPr>
            <a:r>
              <a:rPr lang="fr-FR" alt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*)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(char *)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(char));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*)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 marL="0" indent="0"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b="1" dirty="0">
                <a:latin typeface="Courier New" panose="02070309020205020404" pitchFamily="49" charset="0"/>
                <a:cs typeface="Courier New" panose="02070309020205020404" pitchFamily="49" charset="0"/>
              </a:rPr>
              <a:t>	*nump = 307;</a:t>
            </a:r>
          </a:p>
          <a:p>
            <a:pPr marL="0" indent="0">
              <a:buNone/>
            </a:pPr>
            <a:r>
              <a:rPr lang="da-DK" b="1" dirty="0">
                <a:latin typeface="Courier New" panose="02070309020205020404" pitchFamily="49" charset="0"/>
                <a:cs typeface="Courier New" panose="02070309020205020404" pitchFamily="49" charset="0"/>
              </a:rPr>
              <a:t>	*letp = 'Q';</a:t>
            </a:r>
          </a:p>
          <a:p>
            <a:pPr marL="0" indent="0">
              <a:buNone/>
            </a:pPr>
            <a:r>
              <a:rPr lang="da-DK" b="1" dirty="0">
                <a:latin typeface="Courier New" panose="02070309020205020404" pitchFamily="49" charset="0"/>
                <a:cs typeface="Courier New" panose="02070309020205020404" pitchFamily="49" charset="0"/>
              </a:rPr>
              <a:t>	 Ap-&gt;m = 5;</a:t>
            </a:r>
          </a:p>
          <a:p>
            <a:pPr marL="0" indent="0">
              <a:buNone/>
            </a:pPr>
            <a:r>
              <a:rPr lang="da-DK" b="1" dirty="0">
                <a:latin typeface="Courier New" panose="02070309020205020404" pitchFamily="49" charset="0"/>
                <a:cs typeface="Courier New" panose="02070309020205020404" pitchFamily="49" charset="0"/>
              </a:rPr>
              <a:t>	 Ap-&gt;n = 10;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	</a:t>
            </a:r>
            <a:endParaRPr lang="en-US" altLang="tr-TR" sz="2000" dirty="0">
              <a:latin typeface="Lucida Console" panose="020B0609040504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30156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298" y="864525"/>
            <a:ext cx="11480800" cy="591092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("Enter number of elements: \n");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("%d", &amp;n</a:t>
            </a:r>
            <a:r>
              <a:rPr lang="en-US" sz="1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 *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</a:t>
            </a:r>
            <a:r>
              <a:rPr lang="en-US" sz="16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("Memory not allocated.\n");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	exit(0);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("Memory successfully allocated using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.\n");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++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    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	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	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("The elements of the array are: 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++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</a:t>
            </a:r>
            <a:r>
              <a:rPr lang="tr-TR" sz="1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("%d, ",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</a:t>
            </a:r>
            <a:r>
              <a:rPr lang="en-US" sz="1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0;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99323" y="1299777"/>
            <a:ext cx="5391382" cy="132343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u="sng" dirty="0">
                <a:latin typeface="Consolas" panose="020B0609020204030204" pitchFamily="49" charset="0"/>
              </a:rPr>
              <a:t>Output:</a:t>
            </a:r>
            <a:r>
              <a:rPr lang="en-US" sz="1600" dirty="0">
                <a:latin typeface="Consolas" panose="020B0609020204030204" pitchFamily="49" charset="0"/>
              </a:rPr>
              <a:t/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Enter number of elements: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5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Memory successfully allocated using </a:t>
            </a:r>
            <a:r>
              <a:rPr lang="en-US" sz="1600" dirty="0" err="1">
                <a:latin typeface="Consolas" panose="020B0609020204030204" pitchFamily="49" charset="0"/>
              </a:rPr>
              <a:t>malloc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The elements of the array are: 1, 2, 3, 4, 5,</a:t>
            </a:r>
          </a:p>
        </p:txBody>
      </p:sp>
    </p:spTree>
    <p:extLst>
      <p:ext uri="{BB962C8B-B14F-4D97-AF65-F5344CB8AC3E}">
        <p14:creationId xmlns:p14="http://schemas.microsoft.com/office/powerpoint/2010/main" val="28022409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malloc</a:t>
            </a:r>
            <a:r>
              <a:rPr lang="en-US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074" name="Picture 2" descr="https://www.geeksforgeeks.org/wp-content/uploads/Malloc-function-in-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317" y="1984664"/>
            <a:ext cx="76200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6017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Dynamic Memory Allocation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sz="2600" dirty="0">
                <a:latin typeface="Lucida Console" panose="020B0609040504020204" pitchFamily="49" charset="0"/>
              </a:rPr>
              <a:t>free</a:t>
            </a:r>
          </a:p>
          <a:p>
            <a:pPr lvl="1">
              <a:lnSpc>
                <a:spcPct val="150000"/>
              </a:lnSpc>
            </a:pP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void  </a:t>
            </a:r>
            <a:r>
              <a:rPr lang="en-US" altLang="tr-TR" sz="2000" dirty="0">
                <a:solidFill>
                  <a:srgbClr val="FF0000"/>
                </a:solidFill>
                <a:latin typeface="Lucida Console" panose="020B0609040504020204" pitchFamily="49" charset="0"/>
              </a:rPr>
              <a:t>free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(void *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ptr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)</a:t>
            </a:r>
            <a:endParaRPr lang="en-US" altLang="tr-TR" dirty="0"/>
          </a:p>
          <a:p>
            <a:pPr lvl="1">
              <a:lnSpc>
                <a:spcPct val="150000"/>
              </a:lnSpc>
            </a:pPr>
            <a:r>
              <a:rPr lang="en-US" altLang="tr-TR" dirty="0"/>
              <a:t>Deallocates memory allocated by </a:t>
            </a:r>
            <a:r>
              <a:rPr lang="en-US" altLang="tr-TR" sz="2000" dirty="0" err="1">
                <a:latin typeface="Lucida Console" panose="020B0609040504020204" pitchFamily="49" charset="0"/>
              </a:rPr>
              <a:t>malloc</a:t>
            </a:r>
            <a:endParaRPr lang="en-US" altLang="tr-TR" sz="2000" dirty="0"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/>
              <a:t>Helps to reduce wastage of memory by freeing it.</a:t>
            </a:r>
            <a:endParaRPr lang="en-US" altLang="tr-TR" sz="2000" dirty="0"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altLang="tr-TR" dirty="0"/>
              <a:t>Takes a pointer as an argument</a:t>
            </a:r>
          </a:p>
          <a:p>
            <a:pPr lvl="1">
              <a:lnSpc>
                <a:spcPct val="150000"/>
              </a:lnSpc>
            </a:pPr>
            <a:r>
              <a:rPr lang="en-US" altLang="tr-TR" sz="2000" dirty="0">
                <a:latin typeface="Lucida Console" panose="020B0609040504020204" pitchFamily="49" charset="0"/>
              </a:rPr>
              <a:t>free (</a:t>
            </a:r>
            <a:r>
              <a:rPr lang="en-US" altLang="tr-TR" sz="2000" dirty="0" err="1">
                <a:latin typeface="Lucida Console" panose="020B0609040504020204" pitchFamily="49" charset="0"/>
              </a:rPr>
              <a:t>newPtr</a:t>
            </a:r>
            <a:r>
              <a:rPr lang="en-US" altLang="tr-TR" sz="2000" dirty="0">
                <a:latin typeface="Lucida Console" panose="020B0609040504020204" pitchFamily="49" charset="0"/>
              </a:rPr>
              <a:t>);</a:t>
            </a:r>
          </a:p>
          <a:p>
            <a:pPr lvl="1">
              <a:lnSpc>
                <a:spcPct val="150000"/>
              </a:lnSpc>
            </a:pPr>
            <a:endParaRPr lang="en-US" altLang="tr-TR" sz="2000" dirty="0"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tr-TR" sz="2000" dirty="0">
              <a:latin typeface="Lucida Console" panose="020B0609040504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1671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Dynamic Memory Allocation</a:t>
            </a:r>
            <a:r>
              <a:rPr lang="tr-TR" altLang="tr-TR" dirty="0"/>
              <a:t> - Arrays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/>
              <a:t>Dynamic memory allocation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Can create dynamic arrays</a:t>
            </a:r>
            <a:endParaRPr lang="tr-TR" altLang="tr-TR" dirty="0"/>
          </a:p>
          <a:p>
            <a:pPr marL="344487" lvl="1" indent="0">
              <a:lnSpc>
                <a:spcPct val="120000"/>
              </a:lnSpc>
              <a:buNone/>
            </a:pPr>
            <a:endParaRPr lang="en-US" altLang="tr-TR" dirty="0"/>
          </a:p>
          <a:p>
            <a:pPr>
              <a:lnSpc>
                <a:spcPct val="120000"/>
              </a:lnSpc>
            </a:pPr>
            <a:r>
              <a:rPr lang="en-US" altLang="tr-TR" sz="2600" dirty="0" err="1">
                <a:latin typeface="Lucida Console" panose="020B0609040504020204" pitchFamily="49" charset="0"/>
              </a:rPr>
              <a:t>calloc</a:t>
            </a:r>
            <a:endParaRPr lang="en-US" altLang="tr-TR" sz="2600" dirty="0">
              <a:latin typeface="Lucida Console" panose="020B060904050402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void * </a:t>
            </a:r>
            <a:r>
              <a:rPr lang="en-US" altLang="tr-TR" sz="2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calloc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(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nmembers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, </a:t>
            </a:r>
            <a:r>
              <a:rPr lang="en-US" altLang="tr-TR" sz="20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size)</a:t>
            </a:r>
            <a:endParaRPr lang="en-US" altLang="tr-TR" i="1" dirty="0">
              <a:latin typeface="Lucida Console" panose="020B060904050402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tr-TR" i="1" dirty="0" err="1"/>
              <a:t>nmembers</a:t>
            </a:r>
            <a:r>
              <a:rPr lang="en-US" altLang="tr-TR" dirty="0"/>
              <a:t> </a:t>
            </a:r>
            <a:r>
              <a:rPr lang="en-US" altLang="tr-TR" dirty="0">
                <a:cs typeface="Times New Roman" panose="02020603050405020304" pitchFamily="18" charset="0"/>
              </a:rPr>
              <a:t>–</a:t>
            </a:r>
            <a:r>
              <a:rPr lang="en-US" altLang="tr-TR" dirty="0"/>
              <a:t> number of elements</a:t>
            </a:r>
          </a:p>
          <a:p>
            <a:pPr lvl="1">
              <a:lnSpc>
                <a:spcPct val="120000"/>
              </a:lnSpc>
            </a:pPr>
            <a:r>
              <a:rPr lang="en-US" altLang="tr-TR" i="1" dirty="0"/>
              <a:t>size</a:t>
            </a:r>
            <a:r>
              <a:rPr lang="en-US" altLang="tr-TR" dirty="0"/>
              <a:t> </a:t>
            </a:r>
            <a:r>
              <a:rPr lang="en-US" altLang="tr-TR" dirty="0">
                <a:cs typeface="Times New Roman" panose="02020603050405020304" pitchFamily="18" charset="0"/>
              </a:rPr>
              <a:t>–</a:t>
            </a:r>
            <a:r>
              <a:rPr lang="en-US" altLang="tr-TR" dirty="0"/>
              <a:t> size of each element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Returns a pointer to a dynamic array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All </a:t>
            </a:r>
            <a:r>
              <a:rPr lang="en-US" dirty="0" err="1"/>
              <a:t>malloc</a:t>
            </a:r>
            <a:r>
              <a:rPr lang="en-US" dirty="0"/>
              <a:t>/</a:t>
            </a:r>
            <a:r>
              <a:rPr lang="en-US" dirty="0" err="1"/>
              <a:t>calloc</a:t>
            </a:r>
            <a:r>
              <a:rPr lang="en-US" dirty="0"/>
              <a:t>/free functions found in &lt;</a:t>
            </a:r>
            <a:r>
              <a:rPr lang="en-US" dirty="0" err="1"/>
              <a:t>stdlib.h</a:t>
            </a:r>
            <a:r>
              <a:rPr lang="en-US" dirty="0"/>
              <a:t>&gt; header file.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45730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298" y="864525"/>
            <a:ext cx="11480800" cy="591092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("Enter number of elements: \n");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("%d", &amp;n</a:t>
            </a:r>
            <a:r>
              <a:rPr lang="en-US" sz="1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 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("Memory not allocated.\n");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	exit(0);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("Memory successfully allocated using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.\n");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++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    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	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	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("The elements of the array are: 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	      </a:t>
            </a:r>
            <a:r>
              <a:rPr lang="tr-TR" sz="1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++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    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("%d, ",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	</a:t>
            </a:r>
            <a:r>
              <a:rPr lang="en-US" sz="1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6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0;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4542" y="1158116"/>
            <a:ext cx="5229629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u="sng" dirty="0">
                <a:latin typeface="Consolas" panose="020B0609020204030204" pitchFamily="49" charset="0"/>
              </a:rPr>
              <a:t>Output:</a:t>
            </a:r>
            <a:r>
              <a:rPr lang="en-US" sz="1600" dirty="0">
                <a:latin typeface="Consolas" panose="020B0609020204030204" pitchFamily="49" charset="0"/>
              </a:rPr>
              <a:t/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Enter number of elements: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5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Memory successfully allocated using </a:t>
            </a:r>
            <a:r>
              <a:rPr lang="en-US" sz="1600" dirty="0" err="1">
                <a:latin typeface="Consolas" panose="020B0609020204030204" pitchFamily="49" charset="0"/>
              </a:rPr>
              <a:t>calloc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The elements of the array are: 1, 2, 3, 4, 5,</a:t>
            </a:r>
          </a:p>
        </p:txBody>
      </p:sp>
    </p:spTree>
    <p:extLst>
      <p:ext uri="{BB962C8B-B14F-4D97-AF65-F5344CB8AC3E}">
        <p14:creationId xmlns:p14="http://schemas.microsoft.com/office/powerpoint/2010/main" val="1238284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calloc</a:t>
            </a:r>
            <a:r>
              <a:rPr lang="en-US" dirty="0"/>
              <a:t> 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122" name="Picture 2" descr="https://www.geeksforgeeks.org/wp-content/uploads/calloc-function-in-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372" y="1843348"/>
            <a:ext cx="76200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9396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malloc</a:t>
            </a:r>
            <a:r>
              <a:rPr lang="en-US" dirty="0"/>
              <a:t> and </a:t>
            </a:r>
            <a:r>
              <a:rPr lang="en-US" dirty="0" err="1"/>
              <a:t>calloc</a:t>
            </a:r>
            <a:r>
              <a:rPr lang="en-US" dirty="0"/>
              <a:t> Return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malloc</a:t>
            </a:r>
            <a:r>
              <a:rPr lang="en-US" dirty="0"/>
              <a:t> and </a:t>
            </a:r>
            <a:r>
              <a:rPr lang="en-US" dirty="0" err="1">
                <a:solidFill>
                  <a:srgbClr val="0070C0"/>
                </a:solidFill>
              </a:rPr>
              <a:t>calloc</a:t>
            </a:r>
            <a:r>
              <a:rPr lang="en-US" dirty="0"/>
              <a:t> both return the address of the newly allocated block of memory</a:t>
            </a:r>
          </a:p>
          <a:p>
            <a:pPr lvl="4"/>
            <a:endParaRPr lang="tr-TR" dirty="0" smtClean="0"/>
          </a:p>
          <a:p>
            <a:pPr lvl="1"/>
            <a:r>
              <a:rPr lang="en-US" dirty="0" smtClean="0"/>
              <a:t>However</a:t>
            </a:r>
            <a:r>
              <a:rPr lang="en-US" dirty="0"/>
              <a:t>, they are not </a:t>
            </a:r>
            <a:r>
              <a:rPr lang="en-US" i="1" dirty="0"/>
              <a:t>guaranteed</a:t>
            </a:r>
            <a:r>
              <a:rPr lang="en-US" dirty="0"/>
              <a:t> to succeed!</a:t>
            </a:r>
          </a:p>
          <a:p>
            <a:pPr lvl="2"/>
            <a:r>
              <a:rPr lang="en-US" dirty="0"/>
              <a:t>Maybe there is no more memory available</a:t>
            </a:r>
          </a:p>
          <a:p>
            <a:pPr lvl="4"/>
            <a:endParaRPr lang="tr-TR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they fail, they return </a:t>
            </a:r>
            <a:r>
              <a:rPr lang="en-US" dirty="0">
                <a:solidFill>
                  <a:srgbClr val="0070C0"/>
                </a:solidFill>
              </a:rPr>
              <a:t>NULL</a:t>
            </a:r>
          </a:p>
          <a:p>
            <a:pPr lvl="4"/>
            <a:endParaRPr lang="tr-TR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should always check for NULL when using </a:t>
            </a:r>
            <a:r>
              <a:rPr lang="en-US" dirty="0" err="1">
                <a:solidFill>
                  <a:srgbClr val="0070C0"/>
                </a:solidFill>
              </a:rPr>
              <a:t>malloc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calloc</a:t>
            </a:r>
            <a:r>
              <a:rPr lang="en-US" dirty="0"/>
              <a:t>.</a:t>
            </a:r>
          </a:p>
          <a:p>
            <a:pPr lvl="4"/>
            <a:endParaRPr lang="tr-TR" dirty="0" smtClean="0"/>
          </a:p>
          <a:p>
            <a:pPr lvl="1"/>
            <a:r>
              <a:rPr lang="en-US" dirty="0" smtClean="0"/>
              <a:t>E</a:t>
            </a:r>
            <a:r>
              <a:rPr lang="tr-TR" dirty="0" smtClean="0"/>
              <a:t>.g.</a:t>
            </a:r>
            <a:r>
              <a:rPr lang="en-US" dirty="0" smtClean="0"/>
              <a:t>:</a:t>
            </a:r>
            <a:endParaRPr lang="en-US" dirty="0"/>
          </a:p>
          <a:p>
            <a:pPr marL="696912" lvl="2" indent="0"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*)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(10 *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696912" lvl="2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NULL)</a:t>
            </a:r>
          </a:p>
          <a:p>
            <a:pPr marL="696912" lvl="2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("Out of Memory! ");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05987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malloc</a:t>
            </a:r>
            <a:r>
              <a:rPr lang="en-US" dirty="0"/>
              <a:t>() vs. </a:t>
            </a:r>
            <a:r>
              <a:rPr lang="en-US" dirty="0" err="1"/>
              <a:t>calloc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malloc</a:t>
            </a:r>
            <a:r>
              <a:rPr lang="en-US" dirty="0"/>
              <a:t> and </a:t>
            </a:r>
            <a:r>
              <a:rPr lang="en-US" dirty="0" err="1">
                <a:solidFill>
                  <a:srgbClr val="0070C0"/>
                </a:solidFill>
              </a:rPr>
              <a:t>calloc</a:t>
            </a:r>
            <a:r>
              <a:rPr lang="en-US" dirty="0"/>
              <a:t> both allocate memory </a:t>
            </a:r>
          </a:p>
          <a:p>
            <a:pPr lvl="4"/>
            <a:endParaRPr lang="tr-TR" dirty="0" smtClean="0">
              <a:solidFill>
                <a:srgbClr val="0070C0"/>
              </a:solidFill>
            </a:endParaRPr>
          </a:p>
          <a:p>
            <a:pPr lvl="4"/>
            <a:endParaRPr lang="tr-TR" dirty="0" smtClean="0">
              <a:solidFill>
                <a:srgbClr val="0070C0"/>
              </a:solidFill>
            </a:endParaRPr>
          </a:p>
          <a:p>
            <a:pPr lvl="4"/>
            <a:endParaRPr lang="tr-TR" dirty="0" smtClean="0">
              <a:solidFill>
                <a:srgbClr val="0070C0"/>
              </a:solidFill>
            </a:endParaRPr>
          </a:p>
          <a:p>
            <a:r>
              <a:rPr lang="en-US" dirty="0" err="1" smtClean="0">
                <a:solidFill>
                  <a:srgbClr val="0070C0"/>
                </a:solidFill>
              </a:rPr>
              <a:t>calloc</a:t>
            </a:r>
            <a:r>
              <a:rPr lang="en-US" dirty="0" smtClean="0"/>
              <a:t> </a:t>
            </a:r>
            <a:r>
              <a:rPr lang="en-US" dirty="0"/>
              <a:t>has slightly different syntax</a:t>
            </a:r>
          </a:p>
          <a:p>
            <a:pPr lvl="4"/>
            <a:endParaRPr lang="tr-TR" dirty="0" smtClean="0"/>
          </a:p>
          <a:p>
            <a:pPr lvl="4"/>
            <a:endParaRPr lang="tr-TR" dirty="0" smtClean="0"/>
          </a:p>
          <a:p>
            <a:pPr lvl="4"/>
            <a:endParaRPr lang="tr-TR" dirty="0" smtClean="0"/>
          </a:p>
          <a:p>
            <a:r>
              <a:rPr lang="en-US" dirty="0" smtClean="0"/>
              <a:t>Most </a:t>
            </a:r>
            <a:r>
              <a:rPr lang="en-US" dirty="0"/>
              <a:t>importantly:</a:t>
            </a:r>
          </a:p>
          <a:p>
            <a:pPr lvl="4"/>
            <a:endParaRPr lang="tr-TR" dirty="0" smtClean="0">
              <a:solidFill>
                <a:srgbClr val="0070C0"/>
              </a:solidFill>
            </a:endParaRPr>
          </a:p>
          <a:p>
            <a:pPr lvl="1"/>
            <a:r>
              <a:rPr lang="en-US" dirty="0" err="1" smtClean="0">
                <a:solidFill>
                  <a:srgbClr val="0070C0"/>
                </a:solidFill>
              </a:rPr>
              <a:t>calloc</a:t>
            </a:r>
            <a:r>
              <a:rPr lang="en-US" dirty="0">
                <a:solidFill>
                  <a:srgbClr val="0070C0"/>
                </a:solidFill>
              </a:rPr>
              <a:t>()</a:t>
            </a:r>
            <a:r>
              <a:rPr lang="en-US" dirty="0"/>
              <a:t> zeros out allocated memory,</a:t>
            </a:r>
          </a:p>
          <a:p>
            <a:pPr lvl="4"/>
            <a:endParaRPr lang="tr-TR" dirty="0" smtClean="0">
              <a:solidFill>
                <a:srgbClr val="0070C0"/>
              </a:solidFill>
            </a:endParaRPr>
          </a:p>
          <a:p>
            <a:pPr lvl="1"/>
            <a:r>
              <a:rPr lang="en-US" dirty="0" err="1" smtClean="0">
                <a:solidFill>
                  <a:srgbClr val="0070C0"/>
                </a:solidFill>
              </a:rPr>
              <a:t>malloc</a:t>
            </a:r>
            <a:r>
              <a:rPr lang="en-US" dirty="0">
                <a:solidFill>
                  <a:srgbClr val="0070C0"/>
                </a:solidFill>
              </a:rPr>
              <a:t>()</a:t>
            </a:r>
            <a:r>
              <a:rPr lang="en-US" dirty="0"/>
              <a:t> does not.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50538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01276"/>
            <a:ext cx="11480800" cy="519372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8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tr-TR" sz="18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*foo(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*j;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j = (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(n*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alternatively</a:t>
            </a:r>
          </a:p>
          <a:p>
            <a:pPr marL="0" indent="0">
              <a:buNone/>
            </a:pP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j = (</a:t>
            </a:r>
            <a:r>
              <a:rPr lang="en-US" sz="1800" b="1" i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800" b="1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(n, </a:t>
            </a:r>
            <a:r>
              <a:rPr lang="en-US" sz="1800" b="1" i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i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j;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i's memory deallocated here; j's not</a:t>
            </a:r>
          </a:p>
          <a:p>
            <a:pPr marL="0" indent="0">
              <a:buNone/>
            </a:pPr>
            <a:endParaRPr lang="en-US" sz="18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bar(){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foo(10);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10;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= 20;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 something with </a:t>
            </a:r>
            <a:r>
              <a:rPr lang="en-US" sz="1800" b="1" i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endParaRPr lang="en-US" sz="1800" b="1" i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800" b="1" i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//deallocate memory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2200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err="1"/>
              <a:t>structExample.c</a:t>
            </a:r>
            <a:endParaRPr lang="en-US" dirty="0"/>
          </a:p>
          <a:p>
            <a:pPr>
              <a:lnSpc>
                <a:spcPct val="200000"/>
              </a:lnSpc>
            </a:pPr>
            <a:endParaRPr lang="tr-TR" dirty="0" smtClean="0"/>
          </a:p>
          <a:p>
            <a:pPr>
              <a:lnSpc>
                <a:spcPct val="200000"/>
              </a:lnSpc>
            </a:pPr>
            <a:r>
              <a:rPr lang="en-US" dirty="0" err="1" smtClean="0"/>
              <a:t>unionExample.c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91808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4657</TotalTime>
  <Words>1694</Words>
  <Application>Microsoft Office PowerPoint</Application>
  <PresentationFormat>Widescreen</PresentationFormat>
  <Paragraphs>309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ＭＳ Ｐゴシック</vt:lpstr>
      <vt:lpstr>Arial</vt:lpstr>
      <vt:lpstr>Calibri</vt:lpstr>
      <vt:lpstr>Consolas</vt:lpstr>
      <vt:lpstr>Courier New</vt:lpstr>
      <vt:lpstr>Garamond</vt:lpstr>
      <vt:lpstr>Lucida Console</vt:lpstr>
      <vt:lpstr>Tahoma</vt:lpstr>
      <vt:lpstr>Times New Roman</vt:lpstr>
      <vt:lpstr>Wingdings</vt:lpstr>
      <vt:lpstr>1_Edge</vt:lpstr>
      <vt:lpstr>2_Edge</vt:lpstr>
      <vt:lpstr>CSE1142 – Command Line Arguments &amp; File Processing &amp;                Dynamic Memory Allocation in C</vt:lpstr>
      <vt:lpstr>Agenda</vt:lpstr>
      <vt:lpstr>Command Line Arguments</vt:lpstr>
      <vt:lpstr>Files</vt:lpstr>
      <vt:lpstr>Input/Output Files and Text Streams</vt:lpstr>
      <vt:lpstr>Files and Streams</vt:lpstr>
      <vt:lpstr>Creating a File</vt:lpstr>
      <vt:lpstr>Accessing Files</vt:lpstr>
      <vt:lpstr>Accessing Files (cont.)</vt:lpstr>
      <vt:lpstr>File opening modes</vt:lpstr>
      <vt:lpstr>File opening modes (cont.)</vt:lpstr>
      <vt:lpstr>Read/Write functions in standard library</vt:lpstr>
      <vt:lpstr>Read/Write functions in standard library (cont.)</vt:lpstr>
      <vt:lpstr>PowerPoint Presentation</vt:lpstr>
      <vt:lpstr>Examples</vt:lpstr>
      <vt:lpstr>Example: fig11_02.c</vt:lpstr>
      <vt:lpstr>Example: fig11_02.c (cont.)</vt:lpstr>
      <vt:lpstr>Example: fig11_06.c</vt:lpstr>
      <vt:lpstr>Example: fig11_06.c (cont.)</vt:lpstr>
      <vt:lpstr>Dynamic Memory Allocation</vt:lpstr>
      <vt:lpstr>Dynamic Memory Allocation (cont.)</vt:lpstr>
      <vt:lpstr>Example - 1</vt:lpstr>
      <vt:lpstr>malloc()</vt:lpstr>
      <vt:lpstr>Dynamic Memory Allocation</vt:lpstr>
      <vt:lpstr>Dynamic Memory Allocation - Arrays</vt:lpstr>
      <vt:lpstr>Example - 2</vt:lpstr>
      <vt:lpstr>calloc ()</vt:lpstr>
      <vt:lpstr>malloc and calloc Return Value</vt:lpstr>
      <vt:lpstr>malloc() vs. calloc()</vt:lpstr>
      <vt:lpstr>Example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Args and Files</dc:title>
  <dc:creator/>
  <cp:lastModifiedBy/>
  <cp:revision>173</cp:revision>
  <dcterms:created xsi:type="dcterms:W3CDTF">2017-11-02T19:26:23Z</dcterms:created>
  <dcterms:modified xsi:type="dcterms:W3CDTF">2020-05-15T08:43:39Z</dcterms:modified>
  <dc:description/>
</cp:coreProperties>
</file>