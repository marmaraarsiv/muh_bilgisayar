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  <p:sldMasterId id="2147483686" r:id="rId2"/>
  </p:sldMasterIdLst>
  <p:notesMasterIdLst>
    <p:notesMasterId r:id="rId42"/>
  </p:notesMasterIdLst>
  <p:sldIdLst>
    <p:sldId id="520" r:id="rId3"/>
    <p:sldId id="259" r:id="rId4"/>
    <p:sldId id="487" r:id="rId5"/>
    <p:sldId id="511" r:id="rId6"/>
    <p:sldId id="488" r:id="rId7"/>
    <p:sldId id="489" r:id="rId8"/>
    <p:sldId id="490" r:id="rId9"/>
    <p:sldId id="512" r:id="rId10"/>
    <p:sldId id="491" r:id="rId11"/>
    <p:sldId id="492" r:id="rId12"/>
    <p:sldId id="493" r:id="rId13"/>
    <p:sldId id="494" r:id="rId14"/>
    <p:sldId id="521" r:id="rId15"/>
    <p:sldId id="495" r:id="rId16"/>
    <p:sldId id="496" r:id="rId17"/>
    <p:sldId id="497" r:id="rId18"/>
    <p:sldId id="498" r:id="rId19"/>
    <p:sldId id="513" r:id="rId20"/>
    <p:sldId id="499" r:id="rId21"/>
    <p:sldId id="500" r:id="rId22"/>
    <p:sldId id="522" r:id="rId23"/>
    <p:sldId id="501" r:id="rId24"/>
    <p:sldId id="502" r:id="rId25"/>
    <p:sldId id="503" r:id="rId26"/>
    <p:sldId id="504" r:id="rId27"/>
    <p:sldId id="505" r:id="rId28"/>
    <p:sldId id="506" r:id="rId29"/>
    <p:sldId id="524" r:id="rId30"/>
    <p:sldId id="507" r:id="rId31"/>
    <p:sldId id="514" r:id="rId32"/>
    <p:sldId id="515" r:id="rId33"/>
    <p:sldId id="508" r:id="rId34"/>
    <p:sldId id="516" r:id="rId35"/>
    <p:sldId id="523" r:id="rId36"/>
    <p:sldId id="517" r:id="rId37"/>
    <p:sldId id="518" r:id="rId38"/>
    <p:sldId id="519" r:id="rId39"/>
    <p:sldId id="509" r:id="rId40"/>
    <p:sldId id="510" r:id="rId4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3" autoAdjust="0"/>
    <p:restoredTop sz="94089" autoAdjust="0"/>
  </p:normalViewPr>
  <p:slideViewPr>
    <p:cSldViewPr snapToGrid="0">
      <p:cViewPr varScale="1">
        <p:scale>
          <a:sx n="78" d="100"/>
          <a:sy n="78" d="100"/>
        </p:scale>
        <p:origin x="126" y="1692"/>
      </p:cViewPr>
      <p:guideLst/>
    </p:cSldViewPr>
  </p:slideViewPr>
  <p:outlineViewPr>
    <p:cViewPr>
      <p:scale>
        <a:sx n="33" d="100"/>
        <a:sy n="33" d="100"/>
      </p:scale>
      <p:origin x="0" y="-37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9734-E1CD-4676-B8FD-3B2AE55D501F}" type="datetimeFigureOut">
              <a:rPr lang="tr-TR" smtClean="0"/>
              <a:t>10.05.2020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542E2-2FA1-41E6-8954-17D2C75BA1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542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baseline="0" dirty="0" smtClean="0"/>
              <a:t> </a:t>
            </a:r>
            <a:r>
              <a:rPr lang="tr-TR" baseline="0" dirty="0" err="1" smtClean="0"/>
              <a:t>and</a:t>
            </a:r>
            <a:r>
              <a:rPr lang="tr-TR" baseline="0" dirty="0" smtClean="0"/>
              <a:t> </a:t>
            </a:r>
            <a:r>
              <a:rPr lang="tr-TR" baseline="0" dirty="0" err="1" smtClean="0"/>
              <a:t>r</a:t>
            </a:r>
            <a:r>
              <a:rPr lang="tr-TR" dirty="0" err="1" smtClean="0"/>
              <a:t>un</a:t>
            </a:r>
            <a:r>
              <a:rPr lang="tr-TR" dirty="0" smtClean="0"/>
              <a:t> </a:t>
            </a:r>
            <a:r>
              <a:rPr lang="tr-TR" dirty="0" smtClean="0"/>
              <a:t>C51_05_student_info.c.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0686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0476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baseline="0" dirty="0" smtClean="0"/>
              <a:t> </a:t>
            </a:r>
            <a:r>
              <a:rPr lang="tr-TR" baseline="0" dirty="0" err="1" smtClean="0"/>
              <a:t>and</a:t>
            </a:r>
            <a:r>
              <a:rPr lang="tr-TR" baseline="0" dirty="0" smtClean="0"/>
              <a:t> </a:t>
            </a:r>
            <a:r>
              <a:rPr lang="tr-TR" baseline="0" dirty="0" err="1" smtClean="0"/>
              <a:t>r</a:t>
            </a:r>
            <a:r>
              <a:rPr lang="tr-TR" dirty="0" err="1" smtClean="0"/>
              <a:t>un</a:t>
            </a:r>
            <a:r>
              <a:rPr lang="tr-TR" dirty="0" smtClean="0"/>
              <a:t> </a:t>
            </a:r>
            <a:r>
              <a:rPr lang="tr-TR" dirty="0" smtClean="0"/>
              <a:t>C51_10_complex.c.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3249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baseline="0" dirty="0" smtClean="0"/>
              <a:t> </a:t>
            </a:r>
            <a:r>
              <a:rPr lang="tr-TR" baseline="0" dirty="0" err="1" smtClean="0"/>
              <a:t>and</a:t>
            </a:r>
            <a:r>
              <a:rPr lang="tr-TR" baseline="0" dirty="0" smtClean="0"/>
              <a:t> </a:t>
            </a:r>
            <a:r>
              <a:rPr lang="tr-TR" baseline="0" dirty="0" err="1" smtClean="0"/>
              <a:t>r</a:t>
            </a:r>
            <a:r>
              <a:rPr lang="tr-TR" dirty="0" err="1" smtClean="0"/>
              <a:t>un</a:t>
            </a:r>
            <a:r>
              <a:rPr lang="tr-TR" dirty="0" smtClean="0"/>
              <a:t> </a:t>
            </a:r>
            <a:r>
              <a:rPr lang="tr-TR" dirty="0" smtClean="0"/>
              <a:t>C51_15_union.c.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6161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See</a:t>
            </a:r>
            <a:r>
              <a:rPr lang="tr-TR" dirty="0" smtClean="0"/>
              <a:t> C51_20_union_and_struct.c.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37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8116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See</a:t>
            </a:r>
            <a:r>
              <a:rPr lang="tr-TR" dirty="0" smtClean="0"/>
              <a:t> C51_25_typedefEx.c.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38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96487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See</a:t>
            </a:r>
            <a:r>
              <a:rPr lang="tr-TR" dirty="0" smtClean="0"/>
              <a:t> C51_27_typedefEx2.c.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39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1412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11/17/2017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8742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614603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81205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513743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668344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275360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938122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49340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432489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68716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518337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57181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itchFamily="-105" charset="0"/>
                <a:cs typeface="Arial" pitchFamily="-105" charset="0"/>
              </a:rPr>
              <a:t>11/17/2017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CB3A3A-8FF8-40B3-8514-E2CB2218B302}" type="slidenum">
              <a:rPr kumimoji="0" lang="en-US" altLang="tr-T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572128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81F180-46E2-4A0E-BB74-502DD5A18440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40415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733746-84DC-41D8-823C-0E541251900B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57502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A7D8B2-168E-4395-8C8D-DE154A1BF93F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9348190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1357CC-1F0C-4656-B2F4-067F4C5F9518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9871427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7548CD-748C-4DE8-BC15-41D2810282C5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366003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20CB8E-6506-4AEB-8989-7BD4DC848E44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320590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ED9E3D-D4A4-4134-848E-E66AC38438F3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58808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E93521-0F42-40DB-9C31-44BF57F5918F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67143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D848FD-2F18-4378-B684-9572F1D7FD98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2368767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E09492-B7AB-44C4-9096-FF9706AE7089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314874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F79FCD-EF8B-4A5A-BBA5-6A74B63CC055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312722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 smtClean="0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 smtClean="0"/>
              <a:t>Click to edit Master text styles</a:t>
            </a:r>
          </a:p>
          <a:p>
            <a:pPr lvl="1"/>
            <a:r>
              <a:rPr lang="en-US" altLang="tr-TR" smtClean="0"/>
              <a:t>Second level</a:t>
            </a:r>
          </a:p>
          <a:p>
            <a:pPr lvl="2"/>
            <a:r>
              <a:rPr lang="en-US" altLang="tr-TR" smtClean="0"/>
              <a:t>Third level</a:t>
            </a:r>
          </a:p>
          <a:p>
            <a:pPr lvl="3"/>
            <a:r>
              <a:rPr lang="en-US" altLang="tr-TR" smtClean="0"/>
              <a:t>Fourth level</a:t>
            </a:r>
          </a:p>
          <a:p>
            <a:pPr lvl="4"/>
            <a:r>
              <a:rPr lang="en-US" altLang="tr-TR" smtClean="0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55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/>
  <p:timing>
    <p:tnLst>
      <p:par>
        <p:cTn id="1" dur="indefinite" restart="never" nodeType="tmRoot"/>
      </p:par>
    </p:tnLst>
  </p:timing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42FCE0-6E1C-4037-BC8A-FCBCB380F030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8812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ransition/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9248024-E6CB-4E73-B1B0-AD74B0775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CSE1142 – </a:t>
            </a:r>
            <a:r>
              <a:rPr lang="tr-TR" altLang="tr-TR" dirty="0" smtClean="0">
                <a:ea typeface="ＭＳ Ｐゴシック" panose="020B0600070205080204" pitchFamily="34" charset="-128"/>
              </a:rPr>
              <a:t>Structure </a:t>
            </a:r>
            <a:r>
              <a:rPr lang="tr-TR" altLang="tr-TR" dirty="0">
                <a:ea typeface="ＭＳ Ｐゴシック" panose="020B0600070205080204" pitchFamily="34" charset="-128"/>
              </a:rPr>
              <a:t>and </a:t>
            </a:r>
            <a:r>
              <a:rPr lang="tr-TR" altLang="tr-TR" dirty="0" smtClean="0">
                <a:ea typeface="ＭＳ Ｐゴシック" panose="020B0600070205080204" pitchFamily="34" charset="-128"/>
              </a:rPr>
              <a:t>Union</a:t>
            </a:r>
            <a:r>
              <a:rPr lang="en-US" altLang="tr-TR" dirty="0" smtClean="0">
                <a:ea typeface="ＭＳ Ｐゴシック" panose="020B0600070205080204" pitchFamily="34" charset="-128"/>
              </a:rPr>
              <a:t> Types in C</a:t>
            </a:r>
            <a:endParaRPr lang="en-US" dirty="0"/>
          </a:p>
        </p:txBody>
      </p:sp>
      <p:sp>
        <p:nvSpPr>
          <p:cNvPr id="6" name="Subtitle 4"/>
          <p:cNvSpPr>
            <a:spLocks noGrp="1"/>
          </p:cNvSpPr>
          <p:nvPr/>
        </p:nvSpPr>
        <p:spPr bwMode="auto">
          <a:xfrm>
            <a:off x="925385" y="5358764"/>
            <a:ext cx="10464800" cy="106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tr-TR" sz="2000" dirty="0" err="1"/>
              <a:t>Adapted</a:t>
            </a:r>
            <a:r>
              <a:rPr lang="tr-TR" sz="2000" dirty="0"/>
              <a:t> </a:t>
            </a:r>
            <a:r>
              <a:rPr lang="tr-TR" sz="2000" dirty="0" err="1"/>
              <a:t>from</a:t>
            </a:r>
            <a:r>
              <a:rPr lang="tr-TR" sz="2000" dirty="0"/>
              <a:t> </a:t>
            </a:r>
            <a:r>
              <a:rPr lang="tr-TR" sz="2000" dirty="0" smtClean="0"/>
              <a:t>Dr. Sanem </a:t>
            </a:r>
            <a:r>
              <a:rPr lang="tr-TR" sz="2000" dirty="0"/>
              <a:t>Arslan </a:t>
            </a:r>
            <a:r>
              <a:rPr lang="tr-TR" sz="2000" dirty="0" smtClean="0"/>
              <a:t>Yılmaz.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tr-TR" sz="2000" dirty="0" err="1" smtClean="0"/>
              <a:t>Some</a:t>
            </a:r>
            <a:r>
              <a:rPr lang="tr-TR" sz="2000" dirty="0" smtClean="0"/>
              <a:t> </a:t>
            </a:r>
            <a:r>
              <a:rPr lang="tr-TR" sz="2000" dirty="0"/>
              <a:t>of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slides</a:t>
            </a:r>
            <a:r>
              <a:rPr lang="tr-TR" sz="2000" dirty="0"/>
              <a:t> </a:t>
            </a:r>
            <a:r>
              <a:rPr lang="tr-TR" sz="2000" dirty="0" err="1"/>
              <a:t>are</a:t>
            </a:r>
            <a:r>
              <a:rPr lang="tr-TR" sz="2000" dirty="0"/>
              <a:t> </a:t>
            </a:r>
            <a:r>
              <a:rPr lang="tr-TR" sz="2000" dirty="0" err="1"/>
              <a:t>from</a:t>
            </a:r>
            <a:r>
              <a:rPr lang="tr-TR" sz="2000" dirty="0" smtClean="0"/>
              <a:t>: CMPE150 </a:t>
            </a:r>
            <a:r>
              <a:rPr lang="tr-TR" sz="2000" dirty="0"/>
              <a:t>– Boğaziçi </a:t>
            </a:r>
            <a:r>
              <a:rPr lang="tr-TR" sz="2000" dirty="0" err="1" smtClean="0"/>
              <a:t>University</a:t>
            </a:r>
            <a:r>
              <a:rPr lang="tr-TR" sz="2000" dirty="0" smtClean="0"/>
              <a:t>, </a:t>
            </a:r>
            <a:r>
              <a:rPr lang="tr-TR" sz="2000" dirty="0" err="1" smtClean="0"/>
              <a:t>Deitel</a:t>
            </a:r>
            <a:r>
              <a:rPr lang="tr-TR" sz="2000" dirty="0" smtClean="0"/>
              <a:t> </a:t>
            </a:r>
            <a:r>
              <a:rPr lang="tr-TR" sz="2000" dirty="0"/>
              <a:t>&amp; </a:t>
            </a:r>
            <a:r>
              <a:rPr lang="tr-TR" sz="2000" dirty="0" err="1" smtClean="0"/>
              <a:t>Associates</a:t>
            </a:r>
            <a:r>
              <a:rPr lang="tr-TR" sz="2000" dirty="0" smtClean="0"/>
              <a:t>.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16060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smtClean="0">
                <a:ea typeface="ＭＳ Ｐゴシック" panose="020B0600070205080204" pitchFamily="34" charset="-128"/>
              </a:rPr>
              <a:t>Agenda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304800" y="996949"/>
            <a:ext cx="10058400" cy="553448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tr-TR" dirty="0" err="1" smtClean="0"/>
              <a:t>Struct</a:t>
            </a:r>
            <a:r>
              <a:rPr lang="tr-TR" altLang="tr-TR" dirty="0" smtClean="0"/>
              <a:t> </a:t>
            </a:r>
            <a:endParaRPr lang="tr-TR" altLang="tr-TR" dirty="0"/>
          </a:p>
          <a:p>
            <a:pPr lvl="1">
              <a:lnSpc>
                <a:spcPct val="120000"/>
              </a:lnSpc>
            </a:pPr>
            <a:r>
              <a:rPr lang="tr-TR" altLang="tr-TR" dirty="0" smtClean="0"/>
              <a:t>Definitions </a:t>
            </a:r>
            <a:r>
              <a:rPr lang="tr-TR" altLang="tr-TR" dirty="0"/>
              <a:t>&amp; </a:t>
            </a:r>
            <a:r>
              <a:rPr lang="tr-TR" altLang="tr-TR" dirty="0" smtClean="0"/>
              <a:t>Syntax</a:t>
            </a:r>
            <a:endParaRPr lang="tr-TR" altLang="tr-TR" dirty="0"/>
          </a:p>
          <a:p>
            <a:pPr lvl="1">
              <a:lnSpc>
                <a:spcPct val="120000"/>
              </a:lnSpc>
            </a:pPr>
            <a:r>
              <a:rPr lang="tr-TR" altLang="tr-TR" dirty="0" smtClean="0"/>
              <a:t>Initialization</a:t>
            </a:r>
            <a:endParaRPr lang="tr-TR" altLang="tr-TR" dirty="0" smtClean="0">
              <a:ea typeface="ＭＳ Ｐゴシック" panose="020B0600070205080204" pitchFamily="34" charset="-128"/>
            </a:endParaRPr>
          </a:p>
          <a:p>
            <a:pPr>
              <a:lnSpc>
                <a:spcPct val="120000"/>
              </a:lnSpc>
            </a:pPr>
            <a:r>
              <a:rPr lang="en-US" altLang="tr-TR" dirty="0"/>
              <a:t>Defining 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tr-TR" dirty="0"/>
              <a:t> Variables </a:t>
            </a:r>
            <a:endParaRPr lang="tr-TR" altLang="tr-TR" dirty="0" smtClean="0"/>
          </a:p>
          <a:p>
            <a:pPr>
              <a:lnSpc>
                <a:spcPct val="120000"/>
              </a:lnSpc>
            </a:pPr>
            <a:r>
              <a:rPr lang="en-US" altLang="tr-TR" dirty="0"/>
              <a:t>Initializing 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tr-TR" dirty="0"/>
              <a:t> </a:t>
            </a:r>
            <a:r>
              <a:rPr lang="en-US" altLang="tr-TR" dirty="0" smtClean="0"/>
              <a:t>Variables</a:t>
            </a:r>
            <a:endParaRPr lang="tr-TR" altLang="tr-TR" dirty="0" smtClean="0"/>
          </a:p>
          <a:p>
            <a:pPr>
              <a:lnSpc>
                <a:spcPct val="120000"/>
              </a:lnSpc>
            </a:pP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tr-TR" dirty="0"/>
              <a:t> as a </a:t>
            </a:r>
            <a:r>
              <a:rPr lang="en-US" altLang="tr-TR" dirty="0" smtClean="0"/>
              <a:t>Parameter</a:t>
            </a:r>
            <a:endParaRPr lang="tr-TR" altLang="tr-TR" dirty="0" smtClean="0"/>
          </a:p>
          <a:p>
            <a:pPr>
              <a:lnSpc>
                <a:spcPct val="120000"/>
              </a:lnSpc>
            </a:pPr>
            <a:r>
              <a:rPr lang="en-US" altLang="tr-TR" dirty="0"/>
              <a:t>Array of </a:t>
            </a:r>
            <a:r>
              <a:rPr lang="en-US" alt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lang="tr-TR" altLang="tr-TR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nion</a:t>
            </a:r>
            <a:r>
              <a:rPr lang="tr-TR" dirty="0" smtClean="0"/>
              <a:t> </a:t>
            </a:r>
            <a:r>
              <a:rPr lang="tr-TR" altLang="tr-TR" dirty="0"/>
              <a:t>Syntax and Usage</a:t>
            </a:r>
            <a:endParaRPr lang="tr-TR" dirty="0" smtClean="0"/>
          </a:p>
          <a:p>
            <a:pPr>
              <a:lnSpc>
                <a:spcPct val="120000"/>
              </a:lnSpc>
            </a:pPr>
            <a:r>
              <a:rPr lang="tr-TR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ypedef</a:t>
            </a:r>
            <a:r>
              <a:rPr lang="tr-TR" altLang="tr-TR" dirty="0"/>
              <a:t> Syntax and Usage </a:t>
            </a:r>
            <a:endParaRPr lang="tr-TR" altLang="tr-TR" dirty="0" smtClean="0"/>
          </a:p>
          <a:p>
            <a:pPr>
              <a:lnSpc>
                <a:spcPct val="120000"/>
              </a:lnSpc>
            </a:pPr>
            <a:r>
              <a:rPr lang="tr-TR" altLang="tr-TR" dirty="0" smtClean="0">
                <a:ea typeface="ＭＳ Ｐゴシック" panose="020B0600070205080204" pitchFamily="34" charset="-128"/>
              </a:rPr>
              <a:t>Examples</a:t>
            </a:r>
            <a:endParaRPr lang="en-US" altLang="tr-TR" dirty="0" smtClean="0">
              <a:ea typeface="ＭＳ Ｐゴシック" panose="020B0600070205080204" pitchFamily="34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1A10B9F-802E-4BF7-98A9-38E57AA573D7}" type="slidenum">
              <a:rPr lang="en-US" altLang="tr-TR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tr-TR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412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Motivation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573089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tr-TR" sz="2600" dirty="0"/>
              <a:t>When you want to store several properties about an entity, you need to define several variables.</a:t>
            </a:r>
          </a:p>
          <a:p>
            <a:pPr lvl="1">
              <a:lnSpc>
                <a:spcPct val="80000"/>
              </a:lnSpc>
            </a:pPr>
            <a:r>
              <a:rPr lang="en-US" altLang="tr-TR" sz="2400" dirty="0" smtClean="0"/>
              <a:t>E</a:t>
            </a:r>
            <a:r>
              <a:rPr lang="tr-TR" altLang="tr-TR" sz="2400" dirty="0" smtClean="0"/>
              <a:t>.</a:t>
            </a:r>
            <a:r>
              <a:rPr lang="en-US" altLang="tr-TR" sz="2400" dirty="0" smtClean="0"/>
              <a:t>g</a:t>
            </a:r>
            <a:r>
              <a:rPr lang="tr-TR" altLang="tr-TR" sz="2400" dirty="0" smtClean="0"/>
              <a:t>.</a:t>
            </a:r>
            <a:r>
              <a:rPr lang="en-US" altLang="tr-TR" sz="2400" dirty="0" smtClean="0"/>
              <a:t>: </a:t>
            </a:r>
            <a:r>
              <a:rPr lang="en-US" altLang="tr-TR" sz="2400" dirty="0"/>
              <a:t>If you want to store the name, ID, department, class, and GPA of a student, you need to define 5 variables as follows: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char name[41];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long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id;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char department[16];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short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class;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float GPA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  <a:endParaRPr lang="tr-TR" altLang="tr-TR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80000"/>
              </a:lnSpc>
              <a:buFontTx/>
              <a:buNone/>
            </a:pPr>
            <a:endParaRPr lang="en-US" altLang="tr-TR" sz="18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tr-TR" sz="2600" dirty="0"/>
              <a:t>Together with all other variables you need to define, it is difficult to keep track of this info; there is nothing that shows the association between these variables</a:t>
            </a:r>
            <a:r>
              <a:rPr lang="en-US" altLang="tr-TR" sz="2600" dirty="0" smtClean="0"/>
              <a:t>.</a:t>
            </a:r>
            <a:endParaRPr lang="tr-TR" altLang="tr-TR" sz="2600" dirty="0" smtClean="0"/>
          </a:p>
          <a:p>
            <a:pPr>
              <a:lnSpc>
                <a:spcPct val="80000"/>
              </a:lnSpc>
            </a:pPr>
            <a:endParaRPr lang="en-US" altLang="tr-TR" sz="2600" dirty="0"/>
          </a:p>
          <a:p>
            <a:pPr>
              <a:lnSpc>
                <a:spcPct val="80000"/>
              </a:lnSpc>
            </a:pPr>
            <a:r>
              <a:rPr lang="en-US" altLang="tr-TR" sz="2600" dirty="0"/>
              <a:t>Structures help you to better organize your code. (It will be more obvious when we start discussing arrays of structures</a:t>
            </a:r>
            <a:r>
              <a:rPr lang="en-US" altLang="tr-TR" sz="2600" dirty="0" smtClean="0"/>
              <a:t>.)</a:t>
            </a:r>
            <a:endParaRPr lang="en-US" altLang="tr-TR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56450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 smtClean="0"/>
              <a:t>Motivation</a:t>
            </a:r>
            <a:r>
              <a:rPr lang="tr-TR" altLang="tr-TR" dirty="0" smtClean="0"/>
              <a:t> – c</a:t>
            </a:r>
            <a:r>
              <a:rPr lang="en-US" altLang="tr-TR" dirty="0" smtClean="0"/>
              <a:t>o</a:t>
            </a:r>
            <a:r>
              <a:rPr lang="tr-TR" altLang="tr-TR" dirty="0" smtClean="0"/>
              <a:t>nt.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dirty="0"/>
              <a:t>Structures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Collections of related variables (aggregates) under one name</a:t>
            </a:r>
          </a:p>
          <a:p>
            <a:pPr lvl="2">
              <a:lnSpc>
                <a:spcPct val="150000"/>
              </a:lnSpc>
            </a:pPr>
            <a:r>
              <a:rPr lang="en-US" altLang="tr-TR" dirty="0"/>
              <a:t>Can contain variables of different data types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Commonly used to define records to be stored in files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Combined with pointers, can create linked lists, stacks, queues, and </a:t>
            </a:r>
            <a:r>
              <a:rPr lang="en-US" altLang="tr-TR" dirty="0" smtClean="0"/>
              <a:t>trees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>
                <a:solidFill>
                  <a:srgbClr val="000000"/>
                </a:solidFill>
              </a:rPr>
              <a:t>They are </a:t>
            </a:r>
            <a:r>
              <a:rPr lang="en-US" altLang="en-US" dirty="0">
                <a:solidFill>
                  <a:srgbClr val="0000FF"/>
                </a:solidFill>
              </a:rPr>
              <a:t>derived data </a:t>
            </a:r>
            <a:r>
              <a:rPr lang="en-US" altLang="en-US" dirty="0" smtClean="0">
                <a:solidFill>
                  <a:srgbClr val="0000FF"/>
                </a:solidFill>
              </a:rPr>
              <a:t>types</a:t>
            </a:r>
            <a:r>
              <a:rPr lang="en-US" altLang="en-US" dirty="0" smtClean="0">
                <a:solidFill>
                  <a:srgbClr val="000000"/>
                </a:solidFill>
              </a:rPr>
              <a:t>—they</a:t>
            </a:r>
            <a:r>
              <a:rPr lang="tr-TR" altLang="en-US" dirty="0" smtClean="0">
                <a:solidFill>
                  <a:srgbClr val="000000"/>
                </a:solidFill>
              </a:rPr>
              <a:t> a</a:t>
            </a:r>
            <a:r>
              <a:rPr lang="en-US" altLang="en-US" dirty="0" smtClean="0">
                <a:solidFill>
                  <a:srgbClr val="000000"/>
                </a:solidFill>
              </a:rPr>
              <a:t>re </a:t>
            </a:r>
            <a:r>
              <a:rPr lang="en-US" altLang="en-US" dirty="0">
                <a:solidFill>
                  <a:srgbClr val="000000"/>
                </a:solidFill>
              </a:rPr>
              <a:t>constructed using objects of other types. 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endParaRPr lang="en-US" altLang="tr-TR" dirty="0"/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8946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 smtClean="0"/>
              <a:t>Structure</a:t>
            </a:r>
            <a:r>
              <a:rPr lang="tr-TR" altLang="tr-TR" dirty="0" smtClean="0"/>
              <a:t> Syntax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tr-TR" sz="2800" dirty="0"/>
              <a:t>Syntax: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structure_name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field_definition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(s)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...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} </a:t>
            </a:r>
            <a:r>
              <a:rPr lang="en-US" altLang="tr-TR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variable_list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  <a:endParaRPr lang="en-US" altLang="tr-TR" dirty="0"/>
          </a:p>
          <a:p>
            <a:pPr lvl="1">
              <a:lnSpc>
                <a:spcPct val="150000"/>
              </a:lnSpc>
            </a:pP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stuct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dirty="0" smtClean="0"/>
              <a:t>keyword introduces the structure definition.</a:t>
            </a:r>
            <a:endParaRPr lang="en-US" altLang="tr-TR" dirty="0"/>
          </a:p>
          <a:p>
            <a:pPr lvl="1"/>
            <a:r>
              <a:rPr lang="en-US" altLang="tr-TR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structure_name</a:t>
            </a:r>
            <a:r>
              <a:rPr lang="en-US" altLang="tr-TR" dirty="0" smtClean="0"/>
              <a:t> is an identifier and used with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dirty="0" smtClean="0"/>
              <a:t>keyword to declare variables of the structure type.</a:t>
            </a:r>
          </a:p>
          <a:p>
            <a:pPr lvl="2"/>
            <a:r>
              <a:rPr lang="en-US" altLang="tr-TR" sz="1800" dirty="0" smtClean="0"/>
              <a:t>It is optional</a:t>
            </a:r>
            <a:r>
              <a:rPr lang="en-US" altLang="tr-TR" sz="1800" dirty="0"/>
              <a:t>, but without it you will not be able to refer to this type once again (for new variables and parameter definitions, etc</a:t>
            </a:r>
            <a:r>
              <a:rPr lang="en-US" altLang="tr-TR" sz="1800" dirty="0" smtClean="0"/>
              <a:t>.)</a:t>
            </a:r>
          </a:p>
          <a:p>
            <a:pPr lvl="1"/>
            <a:r>
              <a:rPr lang="en-US" altLang="en-US" dirty="0" smtClean="0">
                <a:solidFill>
                  <a:srgbClr val="000000"/>
                </a:solidFill>
              </a:rPr>
              <a:t>Variables </a:t>
            </a:r>
            <a:r>
              <a:rPr lang="en-US" altLang="en-US" dirty="0">
                <a:solidFill>
                  <a:srgbClr val="000000"/>
                </a:solidFill>
              </a:rPr>
              <a:t>declared within the braces of the structure definition are the structure’s </a:t>
            </a:r>
            <a:r>
              <a:rPr lang="en-US" altLang="en-US" b="1" dirty="0"/>
              <a:t>members</a:t>
            </a:r>
            <a:r>
              <a:rPr lang="en-US" altLang="en-US" dirty="0">
                <a:solidFill>
                  <a:srgbClr val="000000"/>
                </a:solidFill>
              </a:rPr>
              <a:t>. </a:t>
            </a:r>
          </a:p>
          <a:p>
            <a:pPr lvl="2"/>
            <a:r>
              <a:rPr lang="en-US" altLang="tr-TR" sz="1800" dirty="0" smtClean="0"/>
              <a:t>There </a:t>
            </a:r>
            <a:r>
              <a:rPr lang="en-US" altLang="tr-TR" sz="1800" dirty="0"/>
              <a:t>should be at least one field, but of course it should typically be two or more</a:t>
            </a:r>
            <a:r>
              <a:rPr lang="en-US" altLang="tr-TR" sz="1800" dirty="0" smtClean="0"/>
              <a:t>.</a:t>
            </a:r>
            <a:endParaRPr lang="en-US" altLang="tr-TR" sz="1800" dirty="0"/>
          </a:p>
          <a:p>
            <a:pPr lvl="1">
              <a:lnSpc>
                <a:spcPct val="150000"/>
              </a:lnSpc>
            </a:pPr>
            <a:r>
              <a:rPr lang="en-US" altLang="tr-TR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variable_list</a:t>
            </a:r>
            <a:r>
              <a:rPr lang="en-US" altLang="tr-TR" dirty="0" smtClean="0"/>
              <a:t> </a:t>
            </a:r>
            <a:r>
              <a:rPr lang="en-US" altLang="tr-TR" dirty="0"/>
              <a:t>is optional. You may define the variables later on</a:t>
            </a:r>
            <a:r>
              <a:rPr lang="en-US" altLang="tr-TR" dirty="0" smtClean="0"/>
              <a:t>.</a:t>
            </a:r>
            <a:endParaRPr lang="tr-TR" altLang="tr-T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48963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 smtClean="0"/>
              <a:t>Example</a:t>
            </a:r>
            <a:r>
              <a:rPr lang="tr-TR" altLang="tr-TR" dirty="0"/>
              <a:t> </a:t>
            </a:r>
            <a:r>
              <a:rPr lang="tr-TR" altLang="tr-TR" dirty="0" smtClean="0"/>
              <a:t>1 – Student information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tr-TR" dirty="0" smtClean="0"/>
              <a:t>Gather </a:t>
            </a:r>
            <a:r>
              <a:rPr lang="en-US" altLang="tr-TR" dirty="0" smtClean="0"/>
              <a:t>all </a:t>
            </a:r>
            <a:r>
              <a:rPr lang="en-US" altLang="tr-TR" dirty="0"/>
              <a:t>information about </a:t>
            </a:r>
            <a:r>
              <a:rPr lang="en-US" altLang="tr-TR" dirty="0" smtClean="0"/>
              <a:t>student </a:t>
            </a:r>
            <a:r>
              <a:rPr lang="en-US" altLang="tr-TR" dirty="0"/>
              <a:t>#1 and student </a:t>
            </a:r>
            <a:r>
              <a:rPr lang="en-US" altLang="tr-TR" dirty="0" smtClean="0"/>
              <a:t>#2 under </a:t>
            </a:r>
            <a:r>
              <a:rPr lang="en-US" altLang="tr-TR" dirty="0"/>
              <a:t>two variables,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stu1 </a:t>
            </a:r>
            <a:r>
              <a:rPr lang="en-US" altLang="tr-TR" dirty="0"/>
              <a:t>and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stu2</a:t>
            </a:r>
            <a:r>
              <a:rPr lang="en-US" altLang="tr-TR" dirty="0" smtClean="0"/>
              <a:t>.</a:t>
            </a:r>
            <a:endParaRPr lang="tr-TR" altLang="tr-TR" dirty="0" smtClean="0"/>
          </a:p>
          <a:p>
            <a:endParaRPr lang="tr-TR" altLang="tr-TR" dirty="0"/>
          </a:p>
          <a:p>
            <a:pPr lvl="2">
              <a:buFontTx/>
              <a:buNone/>
            </a:pP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stu_info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char name[41];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long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id;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char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dept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[16];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short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class;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float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gpa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} stu1, stu2;</a:t>
            </a:r>
          </a:p>
          <a:p>
            <a:pPr marL="0" indent="0">
              <a:buNone/>
            </a:pPr>
            <a:endParaRPr lang="en-US" altLang="tr-TR" dirty="0"/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7639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Structure Usage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sz="2800" dirty="0"/>
              <a:t>Structure is a user-defined type (like enumerated types</a:t>
            </a:r>
            <a:r>
              <a:rPr lang="en-US" altLang="tr-TR" sz="2800" dirty="0" smtClean="0"/>
              <a:t>).</a:t>
            </a:r>
          </a:p>
          <a:p>
            <a:endParaRPr lang="en-US" altLang="tr-TR" sz="2800" dirty="0"/>
          </a:p>
          <a:p>
            <a:r>
              <a:rPr lang="en-US" altLang="tr-TR" sz="2800" dirty="0"/>
              <a:t>Note that </a:t>
            </a:r>
            <a:r>
              <a:rPr lang="en-US" altLang="tr-TR" sz="2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stu_info</a:t>
            </a:r>
            <a:r>
              <a:rPr lang="en-US" altLang="tr-TR" sz="2800" dirty="0"/>
              <a:t> is the name of the structure type, but 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stu1</a:t>
            </a:r>
            <a:r>
              <a:rPr lang="en-US" altLang="tr-TR" sz="2800" dirty="0"/>
              <a:t> is the name of a variable of that type</a:t>
            </a:r>
            <a:r>
              <a:rPr lang="en-US" altLang="tr-TR" sz="2800" dirty="0" smtClean="0"/>
              <a:t>.</a:t>
            </a:r>
          </a:p>
          <a:p>
            <a:endParaRPr lang="en-US" altLang="tr-TR" sz="2800" dirty="0"/>
          </a:p>
          <a:p>
            <a:r>
              <a:rPr lang="en-US" altLang="tr-TR" sz="2800" dirty="0"/>
              <a:t>Analogy:</a:t>
            </a:r>
          </a:p>
          <a:p>
            <a:pPr lvl="1"/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stu_info</a:t>
            </a:r>
            <a:r>
              <a:rPr lang="en-US" altLang="tr-TR" sz="2400" dirty="0"/>
              <a:t> is the name of a type, just like 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2400" dirty="0"/>
              <a:t>.</a:t>
            </a:r>
          </a:p>
          <a:p>
            <a:pPr lvl="1"/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stu1</a:t>
            </a:r>
            <a:r>
              <a:rPr lang="en-US" altLang="tr-TR" sz="2400" dirty="0"/>
              <a:t> is the name of a variable of the given type</a:t>
            </a:r>
            <a:r>
              <a:rPr lang="en-US" altLang="tr-TR" sz="2400" dirty="0" smtClean="0"/>
              <a:t>.</a:t>
            </a:r>
          </a:p>
          <a:p>
            <a:pPr lvl="1"/>
            <a:endParaRPr lang="en-US" altLang="tr-TR" sz="2400" dirty="0"/>
          </a:p>
          <a:p>
            <a:r>
              <a:rPr lang="en-US" altLang="tr-TR" sz="2800" dirty="0"/>
              <a:t>Therefore, you cannot assign any value to </a:t>
            </a:r>
            <a:r>
              <a:rPr lang="en-US" altLang="tr-TR" sz="2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stu_info</a:t>
            </a:r>
            <a:r>
              <a:rPr lang="en-US" altLang="tr-TR" sz="2800" dirty="0"/>
              <a:t>; it is the type, not the variable.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59576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Valid Operations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dirty="0" smtClean="0"/>
              <a:t>Assigning </a:t>
            </a:r>
            <a:r>
              <a:rPr lang="en-US" altLang="tr-TR" dirty="0"/>
              <a:t>a structure to a structure of the </a:t>
            </a:r>
            <a:r>
              <a:rPr lang="en-US" altLang="tr-TR" i="1" dirty="0"/>
              <a:t>same</a:t>
            </a:r>
            <a:r>
              <a:rPr lang="en-US" altLang="tr-TR" dirty="0"/>
              <a:t> type </a:t>
            </a:r>
            <a:endParaRPr lang="tr-TR" altLang="tr-TR" dirty="0" smtClean="0"/>
          </a:p>
          <a:p>
            <a:pPr>
              <a:lnSpc>
                <a:spcPct val="150000"/>
              </a:lnSpc>
            </a:pPr>
            <a:r>
              <a:rPr lang="en-US" altLang="tr-TR" dirty="0" smtClean="0"/>
              <a:t>Taking </a:t>
            </a:r>
            <a:r>
              <a:rPr lang="en-US" altLang="tr-TR" dirty="0"/>
              <a:t>the address (</a:t>
            </a:r>
            <a:r>
              <a:rPr lang="en-US" altLang="tr-TR" sz="2800" b="1" dirty="0">
                <a:latin typeface="Lucida Console" panose="020B0609040504020204" pitchFamily="49" charset="0"/>
              </a:rPr>
              <a:t>&amp;</a:t>
            </a:r>
            <a:r>
              <a:rPr lang="en-US" altLang="tr-TR" dirty="0"/>
              <a:t>) of a structure </a:t>
            </a:r>
            <a:endParaRPr lang="tr-TR" altLang="tr-TR" dirty="0" smtClean="0"/>
          </a:p>
          <a:p>
            <a:pPr>
              <a:lnSpc>
                <a:spcPct val="150000"/>
              </a:lnSpc>
            </a:pPr>
            <a:r>
              <a:rPr lang="en-US" altLang="tr-TR" dirty="0" smtClean="0"/>
              <a:t>Accessing </a:t>
            </a:r>
            <a:r>
              <a:rPr lang="en-US" altLang="tr-TR" dirty="0"/>
              <a:t>the members of a structure </a:t>
            </a:r>
            <a:endParaRPr lang="tr-TR" altLang="tr-TR" dirty="0" smtClean="0"/>
          </a:p>
          <a:p>
            <a:pPr>
              <a:lnSpc>
                <a:spcPct val="150000"/>
              </a:lnSpc>
            </a:pPr>
            <a:r>
              <a:rPr lang="en-US" altLang="tr-TR" dirty="0" smtClean="0"/>
              <a:t>Using </a:t>
            </a:r>
            <a:r>
              <a:rPr lang="en-US" altLang="tr-TR" dirty="0"/>
              <a:t>the </a:t>
            </a:r>
            <a:r>
              <a:rPr lang="en-US" altLang="tr-TR" dirty="0" err="1">
                <a:latin typeface="Lucida Console" panose="020B0609040504020204" pitchFamily="49" charset="0"/>
              </a:rPr>
              <a:t>sizeof</a:t>
            </a:r>
            <a:r>
              <a:rPr lang="en-US" altLang="tr-TR" dirty="0"/>
              <a:t> operator to determine the size of a structure</a:t>
            </a:r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76397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Accessing </a:t>
            </a:r>
            <a:r>
              <a:rPr lang="tr-TR" altLang="tr-TR" dirty="0"/>
              <a:t>F</a:t>
            </a:r>
            <a:r>
              <a:rPr lang="en-US" altLang="tr-TR" dirty="0" err="1" smtClean="0"/>
              <a:t>ields</a:t>
            </a:r>
            <a:r>
              <a:rPr lang="en-US" altLang="tr-TR" dirty="0" smtClean="0"/>
              <a:t> </a:t>
            </a:r>
            <a:r>
              <a:rPr lang="en-US" altLang="tr-TR" dirty="0"/>
              <a:t>of a </a:t>
            </a:r>
            <a:r>
              <a:rPr lang="tr-TR" altLang="tr-TR" dirty="0" smtClean="0"/>
              <a:t>S</a:t>
            </a:r>
            <a:r>
              <a:rPr lang="en-US" altLang="tr-TR" dirty="0" err="1" smtClean="0"/>
              <a:t>truct</a:t>
            </a:r>
            <a:r>
              <a:rPr lang="tr-TR" altLang="tr-TR" dirty="0" smtClean="0"/>
              <a:t>ure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Two operators are used to access members of structures: </a:t>
            </a:r>
            <a:endParaRPr lang="en-US" altLang="en-US" dirty="0" smtClean="0">
              <a:solidFill>
                <a:srgbClr val="000000"/>
              </a:solidFill>
            </a:endParaRPr>
          </a:p>
          <a:p>
            <a:pPr lvl="1"/>
            <a:r>
              <a:rPr lang="en-US" altLang="en-US" dirty="0" smtClean="0">
                <a:solidFill>
                  <a:srgbClr val="0000FF"/>
                </a:solidFill>
              </a:rPr>
              <a:t>structure </a:t>
            </a:r>
            <a:r>
              <a:rPr lang="en-US" altLang="en-US" dirty="0">
                <a:solidFill>
                  <a:srgbClr val="0000FF"/>
                </a:solidFill>
              </a:rPr>
              <a:t>member operator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smtClean="0">
                <a:solidFill>
                  <a:srgbClr val="0000FF"/>
                </a:solidFill>
              </a:rPr>
              <a:t>(.) </a:t>
            </a:r>
            <a:r>
              <a:rPr lang="en-US" altLang="en-US" dirty="0" smtClean="0">
                <a:solidFill>
                  <a:srgbClr val="000000"/>
                </a:solidFill>
              </a:rPr>
              <a:t>— also </a:t>
            </a:r>
            <a:r>
              <a:rPr lang="en-US" altLang="en-US" dirty="0">
                <a:solidFill>
                  <a:srgbClr val="000000"/>
                </a:solidFill>
              </a:rPr>
              <a:t>called the </a:t>
            </a:r>
            <a:r>
              <a:rPr lang="en-US" altLang="en-US" dirty="0">
                <a:solidFill>
                  <a:srgbClr val="0000FF"/>
                </a:solidFill>
              </a:rPr>
              <a:t>dot operator</a:t>
            </a:r>
          </a:p>
          <a:p>
            <a:pPr lvl="1"/>
            <a:r>
              <a:rPr lang="en-US" altLang="en-US" dirty="0" smtClean="0">
                <a:solidFill>
                  <a:srgbClr val="0000FF"/>
                </a:solidFill>
              </a:rPr>
              <a:t>structure </a:t>
            </a:r>
            <a:r>
              <a:rPr lang="en-US" altLang="en-US" dirty="0">
                <a:solidFill>
                  <a:srgbClr val="0000FF"/>
                </a:solidFill>
              </a:rPr>
              <a:t>pointer operator </a:t>
            </a:r>
            <a:r>
              <a:rPr lang="en-US" altLang="en-US" dirty="0" smtClean="0">
                <a:solidFill>
                  <a:srgbClr val="0000FF"/>
                </a:solidFill>
              </a:rPr>
              <a:t>(-&gt;) </a:t>
            </a:r>
            <a:r>
              <a:rPr lang="en-US" altLang="en-US" dirty="0" smtClean="0">
                <a:solidFill>
                  <a:srgbClr val="000000"/>
                </a:solidFill>
              </a:rPr>
              <a:t>— also </a:t>
            </a:r>
            <a:r>
              <a:rPr lang="en-US" altLang="en-US" dirty="0">
                <a:solidFill>
                  <a:srgbClr val="000000"/>
                </a:solidFill>
              </a:rPr>
              <a:t>called the </a:t>
            </a:r>
            <a:r>
              <a:rPr lang="en-US" altLang="en-US" dirty="0">
                <a:solidFill>
                  <a:srgbClr val="0000FF"/>
                </a:solidFill>
              </a:rPr>
              <a:t>arrow </a:t>
            </a:r>
            <a:r>
              <a:rPr lang="en-US" altLang="en-US" dirty="0" smtClean="0">
                <a:solidFill>
                  <a:srgbClr val="0000FF"/>
                </a:solidFill>
              </a:rPr>
              <a:t>operator</a:t>
            </a:r>
            <a:r>
              <a:rPr lang="en-US" altLang="en-US" dirty="0" smtClean="0">
                <a:solidFill>
                  <a:srgbClr val="000000"/>
                </a:solidFill>
              </a:rPr>
              <a:t> </a:t>
            </a:r>
            <a:endParaRPr lang="en-US" altLang="en-US" dirty="0">
              <a:solidFill>
                <a:srgbClr val="000000"/>
              </a:solidFill>
            </a:endParaRPr>
          </a:p>
          <a:p>
            <a:endParaRPr lang="en-US" altLang="tr-TR" dirty="0" smtClean="0"/>
          </a:p>
          <a:p>
            <a:r>
              <a:rPr lang="en-US" altLang="tr-TR" dirty="0" smtClean="0"/>
              <a:t>You </a:t>
            </a:r>
            <a:r>
              <a:rPr lang="en-US" altLang="tr-TR" dirty="0"/>
              <a:t>may access a field of a </a:t>
            </a:r>
            <a:r>
              <a:rPr lang="en-US" altLang="tr-TR" dirty="0" smtClean="0"/>
              <a:t>structure by using a period (.) </a:t>
            </a:r>
            <a:r>
              <a:rPr lang="en-US" altLang="tr-TR" dirty="0"/>
              <a:t>as follows:</a:t>
            </a:r>
          </a:p>
          <a:p>
            <a:pPr lvl="2"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structure_variable_name.field_name</a:t>
            </a:r>
            <a:endParaRPr lang="en-US" altLang="tr-TR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endParaRPr lang="tr-TR" altLang="tr-TR" dirty="0" smtClean="0"/>
          </a:p>
          <a:p>
            <a:r>
              <a:rPr lang="en-US" altLang="tr-TR" dirty="0" smtClean="0"/>
              <a:t>You </a:t>
            </a:r>
            <a:r>
              <a:rPr lang="en-US" altLang="tr-TR" u="sng" dirty="0"/>
              <a:t>cannot</a:t>
            </a:r>
            <a:r>
              <a:rPr lang="en-US" altLang="tr-TR" dirty="0"/>
              <a:t> use a field name alone. A field name makes sense only in the context of a structure variable</a:t>
            </a:r>
          </a:p>
          <a:p>
            <a:pPr lvl="1"/>
            <a:r>
              <a:rPr lang="en-US" altLang="tr-TR" dirty="0"/>
              <a:t>i.e., </a:t>
            </a:r>
            <a:r>
              <a:rPr lang="tr-TR" altLang="tr-TR" dirty="0" smtClean="0"/>
              <a:t>       </a:t>
            </a:r>
            <a:r>
              <a:rPr lang="en-US" altLang="tr-TR" dirty="0" smtClean="0"/>
              <a:t> 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id=123;</a:t>
            </a:r>
            <a:r>
              <a:rPr lang="en-US" altLang="tr-TR" dirty="0"/>
              <a:t>    is wrong (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id</a:t>
            </a:r>
            <a:r>
              <a:rPr lang="en-US" altLang="tr-TR" dirty="0"/>
              <a:t> is not defined)</a:t>
            </a:r>
          </a:p>
          <a:p>
            <a:pPr lvl="1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  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stu1.id=123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  <a:r>
              <a:rPr lang="en-US" altLang="tr-TR" dirty="0"/>
              <a:t>    is correct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90738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 smtClean="0"/>
              <a:t>Updating</a:t>
            </a:r>
            <a:r>
              <a:rPr lang="en-US" altLang="tr-TR" dirty="0" smtClean="0"/>
              <a:t> </a:t>
            </a:r>
            <a:r>
              <a:rPr lang="tr-TR" altLang="tr-TR" dirty="0" smtClean="0"/>
              <a:t>F</a:t>
            </a:r>
            <a:r>
              <a:rPr lang="en-US" altLang="tr-TR" dirty="0" err="1" smtClean="0"/>
              <a:t>ields</a:t>
            </a:r>
            <a:r>
              <a:rPr lang="en-US" altLang="tr-TR" dirty="0" smtClean="0"/>
              <a:t> </a:t>
            </a:r>
            <a:r>
              <a:rPr lang="en-US" altLang="tr-TR" dirty="0"/>
              <a:t>of a </a:t>
            </a:r>
            <a:r>
              <a:rPr lang="tr-TR" altLang="tr-TR" dirty="0" smtClean="0"/>
              <a:t>s</a:t>
            </a:r>
            <a:r>
              <a:rPr lang="en-US" altLang="tr-TR" dirty="0" err="1" smtClean="0"/>
              <a:t>truct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638403"/>
          </a:xfrm>
        </p:spPr>
        <p:txBody>
          <a:bodyPr/>
          <a:lstStyle/>
          <a:p>
            <a:r>
              <a:rPr lang="en-US" altLang="tr-TR" sz="2800" dirty="0"/>
              <a:t>Note that </a:t>
            </a:r>
            <a:r>
              <a:rPr lang="en-US" altLang="tr-TR" sz="2800" b="1" dirty="0">
                <a:solidFill>
                  <a:schemeClr val="accent2"/>
                </a:solidFill>
              </a:rPr>
              <a:t>stu1</a:t>
            </a:r>
            <a:r>
              <a:rPr lang="en-US" altLang="tr-TR" sz="2800" dirty="0"/>
              <a:t> and </a:t>
            </a:r>
            <a:r>
              <a:rPr lang="en-US" altLang="tr-TR" sz="2800" b="1" dirty="0">
                <a:solidFill>
                  <a:schemeClr val="accent2"/>
                </a:solidFill>
              </a:rPr>
              <a:t>stu2</a:t>
            </a:r>
            <a:r>
              <a:rPr lang="en-US" altLang="tr-TR" sz="2800" dirty="0"/>
              <a:t> are two separate variables, each with 5 </a:t>
            </a:r>
            <a:r>
              <a:rPr lang="en-US" altLang="tr-TR" sz="2800" dirty="0" smtClean="0"/>
              <a:t>fields.</a:t>
            </a:r>
            <a:endParaRPr lang="tr-TR" altLang="tr-TR" sz="2800" dirty="0"/>
          </a:p>
          <a:p>
            <a:endParaRPr lang="tr-TR" altLang="tr-TR" sz="2800" dirty="0" smtClean="0"/>
          </a:p>
          <a:p>
            <a:endParaRPr lang="tr-TR" altLang="tr-TR" sz="2800" dirty="0"/>
          </a:p>
          <a:p>
            <a:r>
              <a:rPr lang="en-US" altLang="tr-TR" sz="2800" dirty="0" smtClean="0"/>
              <a:t>You </a:t>
            </a:r>
            <a:r>
              <a:rPr lang="en-US" altLang="tr-TR" sz="2800" dirty="0"/>
              <a:t>can refer to individual fields of </a:t>
            </a:r>
            <a:r>
              <a:rPr lang="en-US" altLang="tr-TR" sz="2800" b="1" dirty="0">
                <a:solidFill>
                  <a:schemeClr val="accent2"/>
                </a:solidFill>
              </a:rPr>
              <a:t>stu1 </a:t>
            </a:r>
            <a:r>
              <a:rPr lang="en-US" altLang="tr-TR" sz="2800" dirty="0"/>
              <a:t>and</a:t>
            </a:r>
            <a:r>
              <a:rPr lang="en-US" altLang="tr-TR" sz="2800" b="1" dirty="0">
                <a:solidFill>
                  <a:schemeClr val="accent2"/>
                </a:solidFill>
              </a:rPr>
              <a:t> stu2</a:t>
            </a:r>
            <a:r>
              <a:rPr lang="en-US" altLang="tr-TR" sz="2800" dirty="0"/>
              <a:t> as </a:t>
            </a:r>
            <a:r>
              <a:rPr lang="en-US" altLang="tr-TR" sz="2800" dirty="0" smtClean="0"/>
              <a:t>follows:</a:t>
            </a:r>
            <a:endParaRPr lang="tr-TR" altLang="tr-TR" sz="2800" dirty="0" smtClean="0"/>
          </a:p>
          <a:p>
            <a:pPr lvl="1"/>
            <a:r>
              <a:rPr lang="en-US" altLang="tr-TR" sz="2600" b="1" dirty="0" err="1" smtClean="0">
                <a:solidFill>
                  <a:schemeClr val="accent2"/>
                </a:solidFill>
              </a:rPr>
              <a:t>strcpy</a:t>
            </a:r>
            <a:r>
              <a:rPr lang="en-US" altLang="tr-TR" sz="2600" b="1" dirty="0" smtClean="0">
                <a:solidFill>
                  <a:schemeClr val="accent2"/>
                </a:solidFill>
              </a:rPr>
              <a:t>(stu1.name</a:t>
            </a:r>
            <a:r>
              <a:rPr lang="en-US" altLang="tr-TR" sz="2600" b="1" dirty="0">
                <a:solidFill>
                  <a:schemeClr val="accent2"/>
                </a:solidFill>
              </a:rPr>
              <a:t>, "</a:t>
            </a:r>
            <a:r>
              <a:rPr lang="tr-TR" altLang="tr-TR" sz="2600" b="1" dirty="0" smtClean="0">
                <a:solidFill>
                  <a:schemeClr val="accent2"/>
                </a:solidFill>
              </a:rPr>
              <a:t>Ahmet</a:t>
            </a:r>
            <a:r>
              <a:rPr lang="en-US" altLang="tr-TR" sz="2600" b="1" dirty="0">
                <a:solidFill>
                  <a:schemeClr val="accent2"/>
                </a:solidFill>
              </a:rPr>
              <a:t>");    </a:t>
            </a:r>
            <a:r>
              <a:rPr lang="en-US" altLang="tr-TR" sz="2600" b="1" dirty="0" smtClean="0">
                <a:solidFill>
                  <a:schemeClr val="accent2"/>
                </a:solidFill>
              </a:rPr>
              <a:t>stu1.id=123;</a:t>
            </a:r>
            <a:endParaRPr lang="tr-TR" altLang="tr-TR" sz="2600" b="1" dirty="0" smtClean="0">
              <a:solidFill>
                <a:schemeClr val="accent2"/>
              </a:solidFill>
            </a:endParaRPr>
          </a:p>
          <a:p>
            <a:pPr lvl="1"/>
            <a:r>
              <a:rPr lang="en-US" altLang="tr-TR" sz="2600" b="1" dirty="0" err="1" smtClean="0">
                <a:solidFill>
                  <a:schemeClr val="accent2"/>
                </a:solidFill>
              </a:rPr>
              <a:t>strcpy</a:t>
            </a:r>
            <a:r>
              <a:rPr lang="en-US" altLang="tr-TR" sz="2600" b="1" dirty="0" smtClean="0">
                <a:solidFill>
                  <a:schemeClr val="accent2"/>
                </a:solidFill>
              </a:rPr>
              <a:t>(stu2.name</a:t>
            </a:r>
            <a:r>
              <a:rPr lang="en-US" altLang="tr-TR" sz="2600" b="1" dirty="0">
                <a:solidFill>
                  <a:schemeClr val="accent2"/>
                </a:solidFill>
              </a:rPr>
              <a:t>, "</a:t>
            </a:r>
            <a:r>
              <a:rPr lang="tr-TR" altLang="tr-TR" sz="2600" b="1" dirty="0" smtClean="0">
                <a:solidFill>
                  <a:schemeClr val="accent2"/>
                </a:solidFill>
              </a:rPr>
              <a:t>Ayse</a:t>
            </a:r>
            <a:r>
              <a:rPr lang="en-US" altLang="tr-TR" sz="2600" b="1" dirty="0">
                <a:solidFill>
                  <a:schemeClr val="accent2"/>
                </a:solidFill>
              </a:rPr>
              <a:t>");   </a:t>
            </a:r>
            <a:r>
              <a:rPr lang="tr-TR" altLang="tr-TR" sz="2600" b="1" dirty="0">
                <a:solidFill>
                  <a:schemeClr val="accent2"/>
                </a:solidFill>
              </a:rPr>
              <a:t>	 </a:t>
            </a:r>
            <a:r>
              <a:rPr lang="tr-TR" altLang="tr-TR" sz="2600" b="1" dirty="0" smtClean="0">
                <a:solidFill>
                  <a:schemeClr val="accent2"/>
                </a:solidFill>
              </a:rPr>
              <a:t>   </a:t>
            </a:r>
            <a:r>
              <a:rPr lang="en-US" altLang="tr-TR" sz="2600" b="1" dirty="0" smtClean="0">
                <a:solidFill>
                  <a:schemeClr val="accent2"/>
                </a:solidFill>
              </a:rPr>
              <a:t>stu2.id=456;</a:t>
            </a:r>
            <a:endParaRPr lang="tr-TR" altLang="tr-TR" sz="2600" b="1" dirty="0" smtClean="0">
              <a:solidFill>
                <a:schemeClr val="accent2"/>
              </a:solidFill>
            </a:endParaRPr>
          </a:p>
          <a:p>
            <a:r>
              <a:rPr lang="en-US" altLang="tr-TR" sz="2800" dirty="0"/>
              <a:t>Then, the variables will be as follows:</a:t>
            </a:r>
          </a:p>
          <a:p>
            <a:endParaRPr lang="en-US" altLang="tr-TR" sz="2800" b="1" dirty="0">
              <a:solidFill>
                <a:schemeClr val="accent2"/>
              </a:solidFill>
            </a:endParaRPr>
          </a:p>
          <a:p>
            <a:endParaRPr lang="en-US" altLang="tr-TR" sz="2800" dirty="0"/>
          </a:p>
          <a:p>
            <a:endParaRPr lang="tr-TR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graphicFrame>
        <p:nvGraphicFramePr>
          <p:cNvPr id="5" name="Group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633706"/>
              </p:ext>
            </p:extLst>
          </p:nvPr>
        </p:nvGraphicFramePr>
        <p:xfrm>
          <a:off x="3048000" y="1538332"/>
          <a:ext cx="5943600" cy="67038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name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id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dept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class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gpa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stu1</a:t>
                      </a:r>
                    </a:p>
                  </a:txBody>
                  <a:tcPr marT="45677" marB="4567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1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866403"/>
              </p:ext>
            </p:extLst>
          </p:nvPr>
        </p:nvGraphicFramePr>
        <p:xfrm>
          <a:off x="3048000" y="2284457"/>
          <a:ext cx="5943600" cy="67038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name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id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dept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class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gpa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stu2</a:t>
                      </a:r>
                    </a:p>
                  </a:txBody>
                  <a:tcPr marT="45677" marB="4567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192"/>
          <p:cNvGraphicFramePr>
            <a:graphicFrameLocks noGrp="1"/>
          </p:cNvGraphicFramePr>
          <p:nvPr/>
        </p:nvGraphicFramePr>
        <p:xfrm>
          <a:off x="3048000" y="4800601"/>
          <a:ext cx="5943600" cy="67038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name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id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dept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class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gpa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stu1</a:t>
                      </a:r>
                    </a:p>
                  </a:txBody>
                  <a:tcPr marT="45677" marB="4567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"</a:t>
                      </a:r>
                      <a:r>
                        <a:rPr kumimoji="0" lang="tr-T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Ahmet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"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123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223"/>
          <p:cNvGraphicFramePr>
            <a:graphicFrameLocks noGrp="1"/>
          </p:cNvGraphicFramePr>
          <p:nvPr/>
        </p:nvGraphicFramePr>
        <p:xfrm>
          <a:off x="3048000" y="5562601"/>
          <a:ext cx="5943600" cy="67038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name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id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dept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class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gpa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stu2</a:t>
                      </a:r>
                    </a:p>
                  </a:txBody>
                  <a:tcPr marT="45677" marB="4567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"</a:t>
                      </a:r>
                      <a:r>
                        <a:rPr kumimoji="0" lang="tr-T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Ayse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"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</a:rPr>
                        <a:t>456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0531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Defining </a:t>
            </a:r>
            <a:r>
              <a:rPr lang="en-US" altLang="tr-TR" dirty="0" err="1"/>
              <a:t>struct</a:t>
            </a:r>
            <a:r>
              <a:rPr lang="en-US" altLang="tr-TR" dirty="0"/>
              <a:t> Variables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52797"/>
            <a:ext cx="11480800" cy="566452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sz="2800" dirty="0"/>
              <a:t>There are two ways </a:t>
            </a:r>
            <a:r>
              <a:rPr lang="en-US" altLang="tr-TR" sz="2800" dirty="0" smtClean="0"/>
              <a:t>f</a:t>
            </a:r>
            <a:r>
              <a:rPr lang="tr-TR" altLang="tr-TR" sz="2800" dirty="0" smtClean="0"/>
              <a:t>or</a:t>
            </a:r>
            <a:r>
              <a:rPr lang="en-US" altLang="tr-TR" sz="2800" dirty="0" smtClean="0"/>
              <a:t> </a:t>
            </a:r>
            <a:r>
              <a:rPr lang="en-US" altLang="tr-TR" sz="2800" dirty="0"/>
              <a:t>defining a </a:t>
            </a:r>
            <a:r>
              <a:rPr lang="en-US" altLang="tr-TR" sz="2800" dirty="0" err="1"/>
              <a:t>struct</a:t>
            </a:r>
            <a:r>
              <a:rPr lang="en-US" altLang="tr-TR" sz="2800" dirty="0"/>
              <a:t> </a:t>
            </a:r>
            <a:r>
              <a:rPr lang="en-US" altLang="tr-TR" sz="2800" dirty="0" smtClean="0"/>
              <a:t>variable:</a:t>
            </a:r>
            <a:endParaRPr lang="tr-TR" altLang="tr-TR" sz="2800" dirty="0" smtClean="0"/>
          </a:p>
          <a:p>
            <a:pPr lvl="1">
              <a:lnSpc>
                <a:spcPct val="90000"/>
              </a:lnSpc>
            </a:pPr>
            <a:r>
              <a:rPr lang="en-US" altLang="tr-TR" sz="2400" dirty="0" smtClean="0"/>
              <a:t>Define </a:t>
            </a:r>
            <a:r>
              <a:rPr lang="en-US" altLang="tr-TR" sz="2400" dirty="0"/>
              <a:t>the variable while defining the </a:t>
            </a:r>
            <a:r>
              <a:rPr lang="en-US" altLang="tr-TR" sz="2400" dirty="0" smtClean="0"/>
              <a:t>structure.</a:t>
            </a:r>
            <a:endParaRPr lang="tr-TR" altLang="tr-TR" sz="2400" dirty="0" smtClean="0"/>
          </a:p>
          <a:p>
            <a:pPr marL="344487" lvl="1" indent="0">
              <a:lnSpc>
                <a:spcPct val="90000"/>
              </a:lnSpc>
              <a:buNone/>
            </a:pPr>
            <a:r>
              <a:rPr lang="tr-TR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 </a:t>
            </a: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{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char name[21];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credit;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tr-TR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}cse1142; 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/*Define both type and variables*/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Note that the optional </a:t>
            </a:r>
            <a:r>
              <a:rPr lang="en-US" altLang="tr-TR" dirty="0" err="1"/>
              <a:t>struct</a:t>
            </a:r>
            <a:r>
              <a:rPr lang="en-US" altLang="tr-TR" dirty="0"/>
              <a:t> name has been omitted.</a:t>
            </a:r>
          </a:p>
          <a:p>
            <a:pPr lvl="1">
              <a:lnSpc>
                <a:spcPct val="90000"/>
              </a:lnSpc>
            </a:pPr>
            <a:r>
              <a:rPr lang="en-US" altLang="tr-TR" sz="2400" dirty="0"/>
              <a:t>Define the variable </a:t>
            </a:r>
            <a:r>
              <a:rPr lang="en-US" altLang="tr-TR" sz="2400" u="sng" dirty="0"/>
              <a:t>after</a:t>
            </a:r>
            <a:r>
              <a:rPr lang="en-US" altLang="tr-TR" sz="2400" dirty="0"/>
              <a:t> the structure has been defined.</a:t>
            </a:r>
            <a:endParaRPr lang="en-US" altLang="tr-TR" sz="2000" dirty="0"/>
          </a:p>
          <a:p>
            <a:pPr lvl="2">
              <a:lnSpc>
                <a:spcPct val="90000"/>
              </a:lnSpc>
              <a:buFontTx/>
              <a:buNone/>
            </a:pPr>
            <a:r>
              <a:rPr lang="tr-TR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	</a:t>
            </a:r>
            <a:r>
              <a:rPr lang="en-US" altLang="tr-TR" sz="18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course_type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tr-TR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char 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name[21];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tr-TR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credit;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tr-TR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	</a:t>
            </a: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};  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/*Define only the type*/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tr-TR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course_type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cse1142; 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/*Define </a:t>
            </a: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variables*/</a:t>
            </a:r>
            <a:endParaRPr lang="en-US" altLang="tr-TR" sz="18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90000"/>
              </a:lnSpc>
            </a:pPr>
            <a:r>
              <a:rPr lang="en-US" altLang="tr-TR" dirty="0"/>
              <a:t>Note that the optional </a:t>
            </a:r>
            <a:r>
              <a:rPr lang="en-US" altLang="tr-TR" dirty="0" err="1"/>
              <a:t>struct</a:t>
            </a:r>
            <a:r>
              <a:rPr lang="en-US" altLang="tr-TR" dirty="0"/>
              <a:t> name cannot be omitted here since we need the </a:t>
            </a:r>
            <a:r>
              <a:rPr lang="en-US" altLang="tr-TR" dirty="0" err="1"/>
              <a:t>struct</a:t>
            </a:r>
            <a:r>
              <a:rPr lang="en-US" altLang="tr-TR" dirty="0"/>
              <a:t> name later to define variables of that type.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Also, note that you cannot simply say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course_type</a:t>
            </a:r>
            <a:r>
              <a:rPr lang="en-US" altLang="tr-TR" dirty="0"/>
              <a:t>; </a:t>
            </a:r>
            <a:r>
              <a:rPr lang="en-US" altLang="tr-TR" dirty="0" smtClean="0"/>
              <a:t>you </a:t>
            </a:r>
            <a:r>
              <a:rPr lang="en-US" altLang="tr-TR" dirty="0"/>
              <a:t>have to </a:t>
            </a:r>
            <a:r>
              <a:rPr lang="en-US" altLang="tr-TR" dirty="0" smtClean="0"/>
              <a:t>say</a:t>
            </a:r>
            <a:r>
              <a:rPr lang="tr-TR" altLang="tr-TR" dirty="0" smtClean="0"/>
              <a:t/>
            </a:r>
            <a:br>
              <a:rPr lang="tr-TR" altLang="tr-TR" dirty="0" smtClean="0"/>
            </a:b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course_type</a:t>
            </a:r>
            <a:r>
              <a:rPr lang="en-US" altLang="tr-TR" dirty="0"/>
              <a:t>.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2233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 err="1"/>
              <a:t>struct</a:t>
            </a:r>
            <a:r>
              <a:rPr lang="en-US" altLang="tr-TR" dirty="0"/>
              <a:t> as a Field of Another </a:t>
            </a:r>
            <a:r>
              <a:rPr lang="en-US" altLang="tr-TR" dirty="0" err="1"/>
              <a:t>struct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59030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tr-TR" sz="2800" dirty="0"/>
              <a:t>You may have a </a:t>
            </a:r>
            <a:r>
              <a:rPr lang="en-US" altLang="tr-TR" sz="2800" dirty="0" err="1"/>
              <a:t>struct</a:t>
            </a:r>
            <a:r>
              <a:rPr lang="en-US" altLang="tr-TR" sz="2800" dirty="0"/>
              <a:t> that has a field of </a:t>
            </a:r>
            <a:r>
              <a:rPr lang="en-US" altLang="tr-TR" sz="2800" dirty="0" err="1"/>
              <a:t>struct</a:t>
            </a:r>
            <a:r>
              <a:rPr lang="en-US" altLang="tr-TR" sz="2800" dirty="0"/>
              <a:t> type.</a:t>
            </a:r>
          </a:p>
          <a:p>
            <a:pPr lvl="4">
              <a:lnSpc>
                <a:spcPct val="80000"/>
              </a:lnSpc>
            </a:pPr>
            <a:endParaRPr lang="tr-TR" altLang="tr-TR" sz="2000" dirty="0" smtClean="0"/>
          </a:p>
          <a:p>
            <a:pPr>
              <a:lnSpc>
                <a:spcPct val="80000"/>
              </a:lnSpc>
            </a:pPr>
            <a:r>
              <a:rPr lang="en-US" altLang="tr-TR" sz="2800" dirty="0" smtClean="0"/>
              <a:t>E</a:t>
            </a:r>
            <a:r>
              <a:rPr lang="tr-TR" altLang="tr-TR" sz="2800" dirty="0" smtClean="0"/>
              <a:t>xample:</a:t>
            </a:r>
            <a:endParaRPr lang="en-US" altLang="tr-TR" sz="2800" dirty="0"/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m, n;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  <a:endParaRPr lang="tr-TR" altLang="tr-TR" sz="1800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80000"/>
              </a:lnSpc>
              <a:buFontTx/>
              <a:buNone/>
            </a:pPr>
            <a:endParaRPr lang="en-US" altLang="tr-TR" sz="16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B_type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f;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g;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} t;</a:t>
            </a:r>
          </a:p>
          <a:p>
            <a:pPr lvl="2">
              <a:lnSpc>
                <a:spcPct val="80000"/>
              </a:lnSpc>
              <a:buFontTx/>
              <a:buNone/>
            </a:pPr>
            <a:endParaRPr lang="en-US" altLang="tr-TR" sz="18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t</a:t>
            </a:r>
            <a:r>
              <a:rPr lang="en-US" altLang="tr-TR" sz="2400" dirty="0"/>
              <a:t> has two fields: 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f</a:t>
            </a:r>
            <a:r>
              <a:rPr lang="en-US" altLang="tr-TR" sz="2400" dirty="0"/>
              <a:t> and 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g</a:t>
            </a:r>
            <a:r>
              <a:rPr lang="en-US" altLang="tr-TR" sz="2400" dirty="0"/>
              <a:t>.   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f</a:t>
            </a:r>
            <a:r>
              <a:rPr lang="en-US" altLang="tr-TR" sz="2400" dirty="0"/>
              <a:t> is of type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2400" dirty="0"/>
              <a:t>, 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g</a:t>
            </a:r>
            <a:r>
              <a:rPr lang="en-US" altLang="tr-TR" sz="2400" dirty="0"/>
              <a:t> is of type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sz="2400" dirty="0"/>
              <a:t>. Thus, 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t</a:t>
            </a:r>
            <a:r>
              <a:rPr lang="en-US" altLang="tr-TR" sz="2400" dirty="0"/>
              <a:t> has the following fields (and subfields):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t.f</a:t>
            </a:r>
            <a:endParaRPr lang="en-US" altLang="tr-TR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t.g</a:t>
            </a:r>
            <a:endParaRPr lang="en-US" altLang="tr-TR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t.g.m</a:t>
            </a:r>
            <a:endParaRPr lang="en-US" altLang="tr-TR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t.g.n</a:t>
            </a:r>
            <a:endParaRPr lang="en-US" altLang="tr-TR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3">
              <a:lnSpc>
                <a:spcPct val="80000"/>
              </a:lnSpc>
              <a:buFontTx/>
              <a:buNone/>
            </a:pPr>
            <a:endParaRPr lang="en-US" altLang="tr-TR" sz="16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i="1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4305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 err="1"/>
              <a:t>struct</a:t>
            </a:r>
            <a:r>
              <a:rPr lang="en-US" altLang="tr-TR" dirty="0"/>
              <a:t> as a Field of Another </a:t>
            </a:r>
            <a:r>
              <a:rPr lang="en-US" altLang="tr-TR" dirty="0" err="1" smtClean="0"/>
              <a:t>struct</a:t>
            </a:r>
            <a:r>
              <a:rPr lang="en-US" altLang="tr-TR" dirty="0" smtClean="0"/>
              <a:t> (cont.)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59030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i="1" dirty="0">
                <a:solidFill>
                  <a:srgbClr val="000000"/>
                </a:solidFill>
              </a:rPr>
              <a:t>A structure cannot contain an instance of itself.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tr-TR" dirty="0"/>
              <a:t> </a:t>
            </a:r>
            <a:r>
              <a:rPr lang="en-US" altLang="tr-TR" dirty="0" smtClean="0"/>
              <a:t>  </a:t>
            </a:r>
            <a:endParaRPr lang="tr-TR" altLang="tr-TR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tr-TR" altLang="tr-TR" dirty="0"/>
              <a:t> </a:t>
            </a:r>
            <a:r>
              <a:rPr lang="tr-TR" altLang="tr-TR" dirty="0" smtClean="0"/>
              <a:t>  </a:t>
            </a:r>
            <a:r>
              <a:rPr lang="en-US" altLang="tr-TR" dirty="0" smtClean="0"/>
              <a:t>E</a:t>
            </a:r>
            <a:r>
              <a:rPr lang="tr-TR" altLang="tr-TR" dirty="0" smtClean="0"/>
              <a:t>xample:</a:t>
            </a:r>
            <a:endParaRPr lang="en-US" altLang="tr-TR" dirty="0"/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sz="16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B_type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f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   </a:t>
            </a:r>
            <a:endParaRPr lang="en-US" altLang="tr-TR" sz="16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B_type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g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     //ERROR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tr-TR" sz="16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B_type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*</a:t>
            </a:r>
            <a:r>
              <a:rPr lang="en-US" altLang="tr-TR" sz="16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bPtr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 // OK</a:t>
            </a:r>
            <a:endParaRPr lang="en-US" altLang="tr-TR" sz="16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} t;</a:t>
            </a:r>
          </a:p>
          <a:p>
            <a:pPr lvl="2">
              <a:lnSpc>
                <a:spcPct val="80000"/>
              </a:lnSpc>
              <a:buFontTx/>
              <a:buNone/>
            </a:pPr>
            <a:endParaRPr lang="en-US" altLang="tr-TR" sz="16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3">
              <a:lnSpc>
                <a:spcPct val="80000"/>
              </a:lnSpc>
              <a:buFontTx/>
              <a:buNone/>
            </a:pPr>
            <a:endParaRPr lang="en-US" altLang="tr-TR" sz="16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rgbClr val="000000"/>
                </a:solidFill>
              </a:rPr>
              <a:t>A </a:t>
            </a:r>
            <a:r>
              <a:rPr lang="en-US" altLang="en-US" dirty="0">
                <a:solidFill>
                  <a:srgbClr val="000000"/>
                </a:solidFill>
              </a:rPr>
              <a:t>pointer to </a:t>
            </a:r>
            <a:r>
              <a:rPr lang="en-US" altLang="en-US" dirty="0" err="1" smtClean="0">
                <a:solidFill>
                  <a:srgbClr val="000000"/>
                </a:solidFill>
              </a:rPr>
              <a:t>struct</a:t>
            </a:r>
            <a:r>
              <a:rPr lang="en-US" altLang="en-US" dirty="0" smtClean="0">
                <a:solidFill>
                  <a:srgbClr val="000000"/>
                </a:solidFill>
              </a:rPr>
              <a:t> itself; </a:t>
            </a:r>
            <a:r>
              <a:rPr lang="en-US" altLang="en-US" dirty="0">
                <a:solidFill>
                  <a:srgbClr val="000000"/>
                </a:solidFill>
              </a:rPr>
              <a:t>however, may be included. </a:t>
            </a:r>
            <a:endParaRPr lang="en-US" altLang="en-US" dirty="0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 structure containing a member </a:t>
            </a:r>
            <a:r>
              <a:rPr lang="en-US" altLang="en-US" dirty="0" smtClean="0">
                <a:solidFill>
                  <a:srgbClr val="000000"/>
                </a:solidFill>
              </a:rPr>
              <a:t>that</a:t>
            </a:r>
            <a:r>
              <a:rPr lang="tr-TR" altLang="en-US" dirty="0" smtClean="0">
                <a:solidFill>
                  <a:srgbClr val="000000"/>
                </a:solidFill>
              </a:rPr>
              <a:t> i</a:t>
            </a:r>
            <a:r>
              <a:rPr lang="en-US" altLang="en-US" dirty="0" smtClean="0">
                <a:solidFill>
                  <a:srgbClr val="000000"/>
                </a:solidFill>
              </a:rPr>
              <a:t>s </a:t>
            </a:r>
            <a:r>
              <a:rPr lang="en-US" altLang="en-US" dirty="0">
                <a:solidFill>
                  <a:srgbClr val="000000"/>
                </a:solidFill>
              </a:rPr>
              <a:t>a pointer to the </a:t>
            </a:r>
            <a:r>
              <a:rPr lang="en-US" altLang="en-US" i="1" dirty="0">
                <a:solidFill>
                  <a:srgbClr val="000000"/>
                </a:solidFill>
              </a:rPr>
              <a:t>same</a:t>
            </a:r>
            <a:r>
              <a:rPr lang="en-US" altLang="en-US" dirty="0">
                <a:solidFill>
                  <a:srgbClr val="000000"/>
                </a:solidFill>
              </a:rPr>
              <a:t> structure type is referred to as a </a:t>
            </a:r>
            <a:r>
              <a:rPr lang="en-US" altLang="en-US" dirty="0">
                <a:solidFill>
                  <a:srgbClr val="0000FF"/>
                </a:solidFill>
              </a:rPr>
              <a:t>self-referential structure</a:t>
            </a:r>
            <a:r>
              <a:rPr lang="en-US" altLang="en-US" dirty="0">
                <a:solidFill>
                  <a:srgbClr val="000000"/>
                </a:solidFill>
              </a:rPr>
              <a:t>. 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i="1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41255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Example 2 – Point in 2D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sz="2800" dirty="0"/>
              <a:t>Define a type for a point in two-dimensional space.</a:t>
            </a:r>
          </a:p>
          <a:p>
            <a:pPr lvl="2">
              <a:buFontTx/>
              <a:buNone/>
            </a:pP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point_type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buFontTx/>
              <a:buNone/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x, y;</a:t>
            </a:r>
          </a:p>
          <a:p>
            <a:pPr lvl="2">
              <a:buFontTx/>
              <a:buNone/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  <a:endParaRPr lang="en-US" altLang="tr-TR" sz="2400" dirty="0"/>
          </a:p>
          <a:p>
            <a:endParaRPr lang="tr-TR" altLang="tr-TR" dirty="0" smtClean="0"/>
          </a:p>
          <a:p>
            <a:r>
              <a:rPr lang="en-US" altLang="tr-TR" sz="2800" dirty="0" smtClean="0"/>
              <a:t>Define </a:t>
            </a:r>
            <a:r>
              <a:rPr lang="tr-TR" altLang="tr-TR" sz="2800" dirty="0" smtClean="0"/>
              <a:t>variables A and B of point type.</a:t>
            </a:r>
          </a:p>
          <a:p>
            <a:pPr marL="0" indent="0">
              <a:buNone/>
            </a:pPr>
            <a:r>
              <a:rPr lang="tr-TR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point_type</a:t>
            </a:r>
            <a:r>
              <a:rPr lang="tr-TR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A, B</a:t>
            </a:r>
            <a:r>
              <a:rPr lang="tr-TR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tr-TR" altLang="tr-TR" dirty="0" smtClean="0"/>
          </a:p>
          <a:p>
            <a:r>
              <a:rPr lang="tr-TR" altLang="tr-TR" sz="2800" dirty="0" smtClean="0"/>
              <a:t>Assign values to these variables</a:t>
            </a:r>
            <a:r>
              <a:rPr lang="en-US" altLang="tr-TR" sz="2800" dirty="0" smtClean="0"/>
              <a:t> </a:t>
            </a:r>
            <a:endParaRPr lang="tr-TR" altLang="tr-TR" sz="2800" dirty="0" smtClean="0"/>
          </a:p>
          <a:p>
            <a:pPr marL="0" indent="0">
              <a:buNone/>
            </a:pPr>
            <a:r>
              <a:rPr 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  A.x=2; A.y=3;</a:t>
            </a:r>
          </a:p>
          <a:p>
            <a:pPr marL="0" indent="0">
              <a:buNone/>
            </a:pPr>
            <a:r>
              <a:rPr 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 B.x=1; B.y=2;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51919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</a:t>
            </a:r>
            <a:r>
              <a:rPr lang="tr-TR" dirty="0" smtClean="0"/>
              <a:t>3 </a:t>
            </a:r>
            <a:r>
              <a:rPr lang="tr-TR" dirty="0"/>
              <a:t>– </a:t>
            </a:r>
            <a:r>
              <a:rPr lang="tr-TR" dirty="0" smtClean="0"/>
              <a:t>Triangle and Rectangle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Define </a:t>
            </a:r>
            <a:r>
              <a:rPr lang="en-US" altLang="tr-TR" dirty="0" smtClean="0"/>
              <a:t>type </a:t>
            </a:r>
            <a:r>
              <a:rPr lang="en-US" altLang="tr-TR" dirty="0"/>
              <a:t>for a </a:t>
            </a:r>
            <a:r>
              <a:rPr lang="en-US" altLang="tr-TR" dirty="0" smtClean="0"/>
              <a:t>triangle</a:t>
            </a:r>
            <a:r>
              <a:rPr lang="tr-TR" altLang="tr-TR" dirty="0" smtClean="0"/>
              <a:t>.</a:t>
            </a:r>
          </a:p>
          <a:p>
            <a:pPr lvl="2"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triangle_type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point_type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A, B, C;</a:t>
            </a:r>
          </a:p>
          <a:p>
            <a:pPr lvl="2">
              <a:buFontTx/>
              <a:buNone/>
            </a:pP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  <a:endParaRPr lang="tr-TR" altLang="tr-TR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endParaRPr lang="tr-TR" altLang="tr-TR" dirty="0" smtClean="0"/>
          </a:p>
          <a:p>
            <a:r>
              <a:rPr lang="en-US" altLang="tr-TR" dirty="0" smtClean="0"/>
              <a:t>Define</a:t>
            </a:r>
            <a:r>
              <a:rPr lang="tr-TR" altLang="tr-TR" dirty="0" smtClean="0"/>
              <a:t> and initialize</a:t>
            </a:r>
            <a:r>
              <a:rPr lang="en-US" altLang="tr-TR" dirty="0" smtClean="0"/>
              <a:t> </a:t>
            </a:r>
            <a:r>
              <a:rPr lang="tr-TR" altLang="tr-TR" dirty="0" smtClean="0"/>
              <a:t>variable t of triangle type.</a:t>
            </a:r>
          </a:p>
          <a:p>
            <a:pPr marL="0" lvl="2" indent="0">
              <a:buNone/>
            </a:pPr>
            <a:r>
              <a:rPr lang="tr-TR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   </a:t>
            </a: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triangle_type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t={{1,3},{2,4},{1,6}};</a:t>
            </a:r>
          </a:p>
          <a:p>
            <a:pPr marL="0" indent="0">
              <a:buNone/>
            </a:pPr>
            <a:endParaRPr lang="tr-TR" altLang="tr-TR" dirty="0" smtClean="0"/>
          </a:p>
          <a:p>
            <a:r>
              <a:rPr lang="en-US" altLang="tr-TR" dirty="0" smtClean="0"/>
              <a:t>Define </a:t>
            </a:r>
            <a:r>
              <a:rPr lang="en-US" altLang="tr-TR" dirty="0"/>
              <a:t>type for </a:t>
            </a:r>
            <a:r>
              <a:rPr lang="en-US" altLang="tr-TR" dirty="0" smtClean="0"/>
              <a:t>a </a:t>
            </a:r>
            <a:r>
              <a:rPr lang="en-US" altLang="tr-TR" dirty="0"/>
              <a:t>rectangle</a:t>
            </a:r>
            <a:r>
              <a:rPr lang="en-US" altLang="tr-TR" dirty="0" smtClean="0"/>
              <a:t>.</a:t>
            </a:r>
            <a:endParaRPr lang="tr-TR" altLang="tr-TR" dirty="0" smtClean="0"/>
          </a:p>
          <a:p>
            <a:pPr lvl="2"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rectangle_type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point_type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A, B, C, D;</a:t>
            </a:r>
          </a:p>
          <a:p>
            <a:pPr lvl="2">
              <a:buFontTx/>
              <a:buNone/>
            </a:pP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  <a:endParaRPr lang="en-US" altLang="tr-TR" dirty="0"/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20770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091" y="100149"/>
            <a:ext cx="11480800" cy="1066800"/>
          </a:xfrm>
        </p:spPr>
        <p:txBody>
          <a:bodyPr/>
          <a:lstStyle/>
          <a:p>
            <a:r>
              <a:rPr lang="en-US" altLang="tr-TR" dirty="0"/>
              <a:t>Initializing </a:t>
            </a:r>
            <a:r>
              <a:rPr lang="en-US" altLang="tr-TR" dirty="0" err="1"/>
              <a:t>struct</a:t>
            </a:r>
            <a:r>
              <a:rPr lang="en-US" altLang="tr-TR" dirty="0"/>
              <a:t> Variables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sz="2800" dirty="0"/>
              <a:t>You may initialize </a:t>
            </a:r>
            <a:r>
              <a:rPr lang="en-US" altLang="tr-TR" sz="2800" dirty="0" err="1"/>
              <a:t>struct</a:t>
            </a:r>
            <a:r>
              <a:rPr lang="en-US" altLang="tr-TR" sz="2800" dirty="0"/>
              <a:t> variables during definition (in a way similar to arrays).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m, n;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} k={10,2};</a:t>
            </a:r>
          </a:p>
          <a:p>
            <a:pPr lvl="2">
              <a:lnSpc>
                <a:spcPct val="90000"/>
              </a:lnSpc>
              <a:buFontTx/>
              <a:buNone/>
            </a:pPr>
            <a:endParaRPr lang="en-US" altLang="tr-TR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B_type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f;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g;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} t={5,{6,4}};</a:t>
            </a:r>
          </a:p>
          <a:p>
            <a:pPr>
              <a:lnSpc>
                <a:spcPct val="90000"/>
              </a:lnSpc>
            </a:pPr>
            <a:endParaRPr lang="tr-TR" altLang="tr-TR" sz="2800" dirty="0" smtClean="0"/>
          </a:p>
          <a:p>
            <a:pPr>
              <a:lnSpc>
                <a:spcPct val="90000"/>
              </a:lnSpc>
            </a:pPr>
            <a:r>
              <a:rPr lang="en-US" altLang="tr-TR" sz="2800" dirty="0" smtClean="0"/>
              <a:t>The </a:t>
            </a:r>
            <a:r>
              <a:rPr lang="en-US" altLang="tr-TR" sz="2800" dirty="0"/>
              <a:t>following kind of initialization is </a:t>
            </a:r>
            <a:r>
              <a:rPr lang="en-US" altLang="tr-TR" sz="2800" u="sng" dirty="0"/>
              <a:t>wrong</a:t>
            </a:r>
            <a:r>
              <a:rPr lang="en-US" altLang="tr-TR" sz="2800" dirty="0"/>
              <a:t>.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m=10, n=2;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} k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  <a:endParaRPr lang="en-US" alt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68181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Initializing </a:t>
            </a:r>
            <a:r>
              <a:rPr lang="en-US" altLang="tr-TR" dirty="0" err="1"/>
              <a:t>struct</a:t>
            </a:r>
            <a:r>
              <a:rPr lang="en-US" altLang="tr-TR" dirty="0"/>
              <a:t> </a:t>
            </a:r>
            <a:r>
              <a:rPr lang="en-US" altLang="tr-TR" dirty="0" smtClean="0"/>
              <a:t>Variables</a:t>
            </a:r>
            <a:r>
              <a:rPr lang="tr-TR" altLang="tr-TR" dirty="0" smtClean="0"/>
              <a:t> – c</a:t>
            </a:r>
            <a:r>
              <a:rPr lang="en-US" altLang="tr-TR" dirty="0" smtClean="0"/>
              <a:t>o</a:t>
            </a:r>
            <a:r>
              <a:rPr lang="tr-TR" altLang="tr-TR" dirty="0" smtClean="0"/>
              <a:t>nt.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sz="2800" dirty="0"/>
              <a:t>You </a:t>
            </a:r>
            <a:r>
              <a:rPr lang="en-US" altLang="tr-TR" sz="2800" u="sng" dirty="0"/>
              <a:t>cannot</a:t>
            </a:r>
            <a:r>
              <a:rPr lang="en-US" altLang="tr-TR" sz="2800" dirty="0"/>
              <a:t> use the </a:t>
            </a:r>
            <a:r>
              <a:rPr lang="en-US" altLang="tr-TR" sz="2800" b="1" dirty="0">
                <a:solidFill>
                  <a:schemeClr val="accent2"/>
                </a:solidFill>
              </a:rPr>
              <a:t>{...}</a:t>
            </a:r>
            <a:r>
              <a:rPr lang="en-US" altLang="tr-TR" sz="2800" dirty="0"/>
              <a:t> format for initialization </a:t>
            </a:r>
            <a:r>
              <a:rPr lang="en-US" altLang="tr-TR" sz="2800" u="sng" dirty="0"/>
              <a:t>after</a:t>
            </a:r>
            <a:r>
              <a:rPr lang="en-US" altLang="tr-TR" sz="2800" dirty="0"/>
              <a:t> initialization (just as in arrays</a:t>
            </a:r>
            <a:r>
              <a:rPr lang="en-US" altLang="tr-TR" sz="2800" dirty="0" smtClean="0"/>
              <a:t>)</a:t>
            </a:r>
            <a:endParaRPr lang="en-US" altLang="tr-TR" sz="2800" dirty="0"/>
          </a:p>
          <a:p>
            <a:endParaRPr lang="tr-TR" altLang="tr-TR" sz="2800" dirty="0" smtClean="0"/>
          </a:p>
          <a:p>
            <a:r>
              <a:rPr lang="tr-TR" altLang="tr-TR" sz="2800" dirty="0" err="1" smtClean="0"/>
              <a:t>Example</a:t>
            </a:r>
            <a:r>
              <a:rPr lang="tr-TR" altLang="tr-TR" sz="2800" dirty="0" smtClean="0"/>
              <a:t>:</a:t>
            </a:r>
          </a:p>
          <a:p>
            <a:pPr marL="0" indent="0">
              <a:buNone/>
            </a:pPr>
            <a:r>
              <a:rPr lang="tr-TR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	</a:t>
            </a: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buFontTx/>
              <a:buNone/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m, n;</a:t>
            </a:r>
          </a:p>
          <a:p>
            <a:pPr lvl="2">
              <a:buFontTx/>
              <a:buNone/>
            </a:pPr>
            <a:r>
              <a:rPr lang="tr-TR" altLang="tr-TR" sz="24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4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} 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k;</a:t>
            </a:r>
          </a:p>
          <a:p>
            <a:pPr lvl="2">
              <a:buFontTx/>
              <a:buNone/>
            </a:pPr>
            <a:r>
              <a:rPr lang="tr-TR" altLang="tr-TR" sz="24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4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...</a:t>
            </a:r>
            <a:endParaRPr lang="en-US" altLang="tr-TR" sz="24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tr-TR" altLang="tr-TR" sz="24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4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k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={10,2};   </a:t>
            </a:r>
            <a:r>
              <a:rPr lang="en-US" altLang="tr-TR" sz="2800" dirty="0"/>
              <a:t>is wrong.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46307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Using Structures with Functions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Passing structures to functions</a:t>
            </a:r>
          </a:p>
          <a:p>
            <a:pPr lvl="1"/>
            <a:r>
              <a:rPr lang="en-US" altLang="tr-TR" dirty="0"/>
              <a:t>Pass entire structure</a:t>
            </a:r>
          </a:p>
          <a:p>
            <a:pPr lvl="2"/>
            <a:r>
              <a:rPr lang="en-US" altLang="tr-TR" dirty="0"/>
              <a:t>Or, pass individual members</a:t>
            </a:r>
          </a:p>
          <a:p>
            <a:pPr lvl="1"/>
            <a:r>
              <a:rPr lang="en-US" altLang="tr-TR" dirty="0"/>
              <a:t>Both pass </a:t>
            </a:r>
            <a:r>
              <a:rPr lang="en-US" altLang="tr-TR" u="sng" dirty="0"/>
              <a:t>call by </a:t>
            </a:r>
            <a:r>
              <a:rPr lang="en-US" altLang="tr-TR" u="sng" dirty="0" smtClean="0"/>
              <a:t>value</a:t>
            </a:r>
          </a:p>
          <a:p>
            <a:pPr lvl="1"/>
            <a:endParaRPr lang="en-US" altLang="tr-TR" u="sng" dirty="0"/>
          </a:p>
          <a:p>
            <a:r>
              <a:rPr lang="en-US" altLang="tr-TR" dirty="0"/>
              <a:t>To pass structures </a:t>
            </a:r>
            <a:r>
              <a:rPr lang="en-US" altLang="tr-TR" u="sng" dirty="0"/>
              <a:t>call-by-reference</a:t>
            </a:r>
            <a:r>
              <a:rPr lang="en-US" altLang="tr-TR" b="1" dirty="0"/>
              <a:t> </a:t>
            </a:r>
          </a:p>
          <a:p>
            <a:pPr lvl="1"/>
            <a:r>
              <a:rPr lang="en-US" altLang="tr-TR" dirty="0"/>
              <a:t>Pass its address</a:t>
            </a:r>
          </a:p>
          <a:p>
            <a:pPr lvl="1"/>
            <a:r>
              <a:rPr lang="en-US" altLang="tr-TR" dirty="0"/>
              <a:t>Pass reference to </a:t>
            </a:r>
            <a:r>
              <a:rPr lang="en-US" altLang="tr-TR" dirty="0" smtClean="0"/>
              <a:t>it</a:t>
            </a:r>
          </a:p>
          <a:p>
            <a:pPr lvl="1"/>
            <a:endParaRPr lang="en-US" altLang="tr-TR" dirty="0"/>
          </a:p>
          <a:p>
            <a:r>
              <a:rPr lang="en-US" altLang="tr-TR" dirty="0"/>
              <a:t>To pass arrays call-by-value</a:t>
            </a:r>
          </a:p>
          <a:p>
            <a:pPr lvl="1"/>
            <a:r>
              <a:rPr lang="en-US" altLang="tr-TR" dirty="0"/>
              <a:t>Create a structure with the array as a member </a:t>
            </a:r>
          </a:p>
          <a:p>
            <a:pPr lvl="1"/>
            <a:r>
              <a:rPr lang="en-US" altLang="tr-TR" dirty="0"/>
              <a:t>Pass the structure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45104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 err="1"/>
              <a:t>struct</a:t>
            </a:r>
            <a:r>
              <a:rPr lang="en-US" altLang="tr-TR" dirty="0"/>
              <a:t> as a Parameter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56002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dirty="0"/>
              <a:t>You may have a </a:t>
            </a:r>
            <a:r>
              <a:rPr lang="en-US" altLang="tr-TR" dirty="0" err="1"/>
              <a:t>struct</a:t>
            </a:r>
            <a:r>
              <a:rPr lang="en-US" altLang="tr-TR" dirty="0"/>
              <a:t> parameter (just like any other parameter).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void func1(</a:t>
            </a:r>
            <a:r>
              <a:rPr lang="en-US" altLang="tr-TR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r)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{  </a:t>
            </a:r>
            <a:endParaRPr lang="tr-TR" altLang="tr-TR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buFontTx/>
              <a:buNone/>
            </a:pPr>
            <a:r>
              <a:rPr lang="tr-TR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s;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s=r;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s.m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++;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</a:pPr>
            <a:endParaRPr lang="tr-TR" altLang="tr-TR" dirty="0" smtClean="0"/>
          </a:p>
          <a:p>
            <a:pPr>
              <a:lnSpc>
                <a:spcPct val="90000"/>
              </a:lnSpc>
            </a:pPr>
            <a:r>
              <a:rPr lang="en-US" altLang="tr-TR" dirty="0" smtClean="0"/>
              <a:t>You </a:t>
            </a:r>
            <a:r>
              <a:rPr lang="en-US" altLang="tr-TR" dirty="0"/>
              <a:t>may also have a variable parameter</a:t>
            </a:r>
            <a:r>
              <a:rPr lang="en-US" altLang="tr-TR" dirty="0" smtClean="0"/>
              <a:t>.</a:t>
            </a:r>
            <a:endParaRPr lang="tr-TR" altLang="tr-TR" dirty="0" smtClean="0"/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void func2(</a:t>
            </a:r>
            <a:r>
              <a:rPr lang="en-US" altLang="tr-TR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b="1" dirty="0">
                <a:solidFill>
                  <a:srgbClr val="FF0000"/>
                </a:solidFill>
                <a:latin typeface="Courier New" panose="02070309020205020404" pitchFamily="49" charset="0"/>
              </a:rPr>
              <a:t> *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p)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{  </a:t>
            </a:r>
            <a:endParaRPr lang="tr-TR" altLang="tr-TR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buFontTx/>
              <a:buNone/>
            </a:pPr>
            <a:r>
              <a:rPr lang="tr-TR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(*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p).m=10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 //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p-&gt;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m = 10 is also OK</a:t>
            </a:r>
            <a:endParaRPr lang="en-US" altLang="tr-TR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buNone/>
            </a:pP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 (*p).n=3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; 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//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p-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&gt;n = 3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is also 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OK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  <a:endParaRPr lang="tr-TR" altLang="tr-TR" dirty="0" smtClean="0"/>
          </a:p>
          <a:p>
            <a:pPr>
              <a:lnSpc>
                <a:spcPct val="90000"/>
              </a:lnSpc>
            </a:pPr>
            <a:endParaRPr lang="en-US" altLang="tr-TR" dirty="0"/>
          </a:p>
          <a:p>
            <a:pPr>
              <a:lnSpc>
                <a:spcPct val="90000"/>
              </a:lnSpc>
              <a:buFontTx/>
              <a:buNone/>
            </a:pPr>
            <a:endParaRPr lang="en-US" alt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92237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Example</a:t>
            </a:r>
            <a:r>
              <a:rPr lang="tr-TR" altLang="tr-TR" dirty="0"/>
              <a:t> 4 – Function Call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complex {</a:t>
            </a:r>
          </a:p>
          <a:p>
            <a:pPr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float real;</a:t>
            </a:r>
          </a:p>
          <a:p>
            <a:pPr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float imaginary;</a:t>
            </a:r>
          </a:p>
          <a:p>
            <a:pPr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} c={5.2,6.7}, d={3,4};</a:t>
            </a:r>
          </a:p>
          <a:p>
            <a:pPr>
              <a:buFontTx/>
              <a:buNone/>
            </a:pPr>
            <a:endParaRPr lang="en-US" altLang="tr-TR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complex add(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complex n1,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complex n2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){  </a:t>
            </a:r>
            <a:endParaRPr lang="tr-TR" altLang="tr-TR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tr-TR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complex r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  <a:endParaRPr lang="en-US" altLang="tr-TR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r.real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= n1.real + n2.real;</a:t>
            </a:r>
          </a:p>
          <a:p>
            <a:pPr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r.imaginary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= 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n1.imaginary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+ 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n2.imaginary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return r;</a:t>
            </a:r>
          </a:p>
          <a:p>
            <a:pPr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1591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of a </a:t>
            </a:r>
            <a:r>
              <a:rPr lang="en-US" dirty="0" err="1"/>
              <a:t>struct</a:t>
            </a:r>
            <a:r>
              <a:rPr lang="en-US" dirty="0"/>
              <a:t> 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sz="2800" dirty="0" smtClean="0"/>
              <a:t>In the previous slide in 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func2()</a:t>
            </a:r>
            <a:r>
              <a:rPr lang="en-US" altLang="tr-TR" sz="2800" dirty="0"/>
              <a:t>, instead of 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(*p).m</a:t>
            </a:r>
            <a:r>
              <a:rPr lang="en-US" altLang="tr-TR" sz="2800" dirty="0"/>
              <a:t>, we could have used 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p-&gt;m</a:t>
            </a:r>
            <a:r>
              <a:rPr lang="en-US" altLang="tr-TR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tr-TR" sz="2400" dirty="0"/>
              <a:t>The "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-&gt;</a:t>
            </a:r>
            <a:r>
              <a:rPr lang="en-US" altLang="tr-TR" sz="2400" dirty="0"/>
              <a:t>" operator works only if "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p</a:t>
            </a:r>
            <a:r>
              <a:rPr lang="en-US" altLang="tr-TR" sz="2400" dirty="0"/>
              <a:t>" is a pointer to a </a:t>
            </a:r>
            <a:r>
              <a:rPr lang="en-US" altLang="tr-TR" sz="2400" dirty="0" err="1"/>
              <a:t>struct</a:t>
            </a:r>
            <a:r>
              <a:rPr lang="en-US" altLang="tr-TR" sz="2400" dirty="0"/>
              <a:t>, which has a field named 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m</a:t>
            </a:r>
            <a:r>
              <a:rPr lang="en-US" altLang="tr-TR" sz="2400" dirty="0" smtClean="0"/>
              <a:t>.</a:t>
            </a:r>
          </a:p>
          <a:p>
            <a:pPr lvl="1">
              <a:lnSpc>
                <a:spcPct val="150000"/>
              </a:lnSpc>
            </a:pPr>
            <a:endParaRPr lang="en-US" altLang="tr-TR" sz="2400" dirty="0"/>
          </a:p>
          <a:p>
            <a:pPr>
              <a:lnSpc>
                <a:spcPct val="150000"/>
              </a:lnSpc>
            </a:pPr>
            <a:r>
              <a:rPr lang="en-US" altLang="tr-TR" sz="2800" dirty="0"/>
              <a:t>In other words, you </a:t>
            </a:r>
            <a:r>
              <a:rPr lang="en-US" altLang="tr-TR" sz="2800" u="sng" dirty="0"/>
              <a:t>cannot</a:t>
            </a:r>
            <a:r>
              <a:rPr lang="en-US" altLang="tr-TR" sz="2800" dirty="0"/>
              <a:t> say 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r-&gt;m</a:t>
            </a:r>
            <a:r>
              <a:rPr lang="en-US" altLang="tr-TR" sz="2800" dirty="0"/>
              <a:t> in 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func1()</a:t>
            </a:r>
            <a:r>
              <a:rPr lang="en-US" altLang="tr-TR" sz="2800" dirty="0"/>
              <a:t>.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64310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Example</a:t>
            </a:r>
            <a:r>
              <a:rPr lang="tr-TR" altLang="tr-TR" dirty="0"/>
              <a:t> </a:t>
            </a:r>
            <a:r>
              <a:rPr lang="tr-TR" altLang="tr-TR" dirty="0" smtClean="0"/>
              <a:t>5 – Struct Pointer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void func2(</a:t>
            </a:r>
            <a:r>
              <a:rPr lang="en-US" altLang="tr-TR" sz="2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*h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(*h).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m=5; </a:t>
            </a:r>
            <a:r>
              <a:rPr lang="tr-TR" altLang="tr-TR" sz="2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tr-TR" sz="2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/* </a:t>
            </a:r>
            <a:r>
              <a:rPr lang="tr-TR" altLang="tr-TR" sz="2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Equivalent 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of "</a:t>
            </a:r>
            <a:r>
              <a:rPr lang="en-US" altLang="tr-T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h-&gt;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m=5</a:t>
            </a:r>
            <a:r>
              <a:rPr lang="en-US" altLang="tr-TR" sz="2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;"</a:t>
            </a:r>
            <a:r>
              <a:rPr lang="tr-TR" altLang="tr-TR" sz="2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tr-TR" sz="2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*/</a:t>
            </a:r>
            <a:endParaRPr lang="en-US" altLang="tr-TR" sz="28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tr-TR" sz="28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2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main()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{  </a:t>
            </a:r>
            <a:r>
              <a:rPr lang="en-US" altLang="tr-TR" sz="2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k={1,2};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func2(</a:t>
            </a:r>
            <a:r>
              <a:rPr lang="en-US" altLang="tr-TR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&amp;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k);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2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printf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("%d  %d\n", </a:t>
            </a:r>
            <a:r>
              <a:rPr lang="en-US" altLang="tr-TR" sz="2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k.m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, </a:t>
            </a:r>
            <a:r>
              <a:rPr lang="en-US" altLang="tr-TR" sz="2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k.n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28336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 err="1"/>
              <a:t>struct</a:t>
            </a:r>
            <a:r>
              <a:rPr lang="en-US" altLang="tr-TR" dirty="0"/>
              <a:t> as the Return Type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dirty="0"/>
              <a:t>You may also have </a:t>
            </a:r>
            <a:r>
              <a:rPr lang="en-US" altLang="tr-TR" dirty="0" err="1" smtClean="0"/>
              <a:t>struct</a:t>
            </a:r>
            <a:r>
              <a:rPr lang="tr-TR" altLang="tr-TR" dirty="0" smtClean="0"/>
              <a:t> as </a:t>
            </a:r>
            <a:r>
              <a:rPr lang="en-US" altLang="tr-TR" dirty="0" smtClean="0"/>
              <a:t>a </a:t>
            </a:r>
            <a:r>
              <a:rPr lang="en-US" altLang="tr-TR" dirty="0"/>
              <a:t>return </a:t>
            </a:r>
            <a:r>
              <a:rPr lang="en-US" altLang="tr-TR" dirty="0" smtClean="0"/>
              <a:t>type.</a:t>
            </a:r>
            <a:endParaRPr lang="en-US" altLang="tr-TR" dirty="0"/>
          </a:p>
          <a:p>
            <a:pPr lvl="2">
              <a:lnSpc>
                <a:spcPct val="150000"/>
              </a:lnSpc>
              <a:buFontTx/>
              <a:buNone/>
            </a:pPr>
            <a:r>
              <a:rPr lang="en-US" altLang="tr-TR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func4()</a:t>
            </a:r>
          </a:p>
          <a:p>
            <a:pPr lvl="2">
              <a:lnSpc>
                <a:spcPct val="15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{  </a:t>
            </a:r>
            <a:endParaRPr lang="tr-TR" altLang="tr-TR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150000"/>
              </a:lnSpc>
              <a:buFontTx/>
              <a:buNone/>
            </a:pPr>
            <a:r>
              <a:rPr lang="tr-TR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s={10,4};</a:t>
            </a:r>
          </a:p>
          <a:p>
            <a:pPr lvl="2">
              <a:lnSpc>
                <a:spcPct val="15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...</a:t>
            </a:r>
          </a:p>
          <a:p>
            <a:pPr lvl="2">
              <a:lnSpc>
                <a:spcPct val="15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return s;</a:t>
            </a:r>
          </a:p>
          <a:p>
            <a:pPr lvl="2">
              <a:lnSpc>
                <a:spcPct val="150000"/>
              </a:lnSpc>
              <a:buFontTx/>
              <a:buNone/>
            </a:pP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  <a:endParaRPr lang="en-US" alt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18258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Array of </a:t>
            </a:r>
            <a:r>
              <a:rPr lang="en-US" altLang="tr-TR" dirty="0" err="1"/>
              <a:t>struct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82187"/>
            <a:ext cx="11480800" cy="5838519"/>
          </a:xfrm>
        </p:spPr>
        <p:txBody>
          <a:bodyPr/>
          <a:lstStyle/>
          <a:p>
            <a:pPr>
              <a:tabLst>
                <a:tab pos="2743200" algn="l"/>
              </a:tabLst>
            </a:pPr>
            <a:r>
              <a:rPr lang="en-US" altLang="tr-TR" sz="2800" dirty="0"/>
              <a:t>Array of </a:t>
            </a:r>
            <a:r>
              <a:rPr lang="en-US" altLang="tr-TR" sz="2800" dirty="0" err="1"/>
              <a:t>struct</a:t>
            </a:r>
            <a:r>
              <a:rPr lang="en-US" altLang="tr-TR" sz="2800" dirty="0"/>
              <a:t> is straight forward. It is like array of any other type</a:t>
            </a:r>
            <a:r>
              <a:rPr lang="en-US" altLang="tr-TR" sz="2800" dirty="0" smtClean="0"/>
              <a:t>.</a:t>
            </a:r>
          </a:p>
          <a:p>
            <a:pPr lvl="1">
              <a:tabLst>
                <a:tab pos="2743200" algn="l"/>
              </a:tabLst>
            </a:pPr>
            <a:r>
              <a:rPr lang="en-US" altLang="en-US" sz="2800" dirty="0">
                <a:solidFill>
                  <a:srgbClr val="000000"/>
                </a:solidFill>
              </a:rPr>
              <a:t>Arrays of structures—like all other arrays—are automatically passed by reference. </a:t>
            </a:r>
            <a:endParaRPr lang="en-US" altLang="tr-TR" sz="2600" dirty="0"/>
          </a:p>
          <a:p>
            <a:pPr lvl="2">
              <a:buFontTx/>
              <a:buNone/>
            </a:pPr>
            <a:r>
              <a:rPr lang="en-US" altLang="tr-TR" sz="18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stu_info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char name[41];</a:t>
            </a:r>
          </a:p>
          <a:p>
            <a:pPr lvl="2"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long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id;</a:t>
            </a:r>
          </a:p>
          <a:p>
            <a:pPr lvl="2"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char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dept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[16];</a:t>
            </a:r>
          </a:p>
          <a:p>
            <a:pPr lvl="2"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short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class;</a:t>
            </a:r>
          </a:p>
          <a:p>
            <a:pPr lvl="2"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float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gpa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 lvl="2"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} stu1, stu2</a:t>
            </a: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 lvl="2">
              <a:buFontTx/>
              <a:buNone/>
            </a:pPr>
            <a:endParaRPr lang="tr-TR" altLang="tr-TR" sz="1800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buNone/>
              <a:tabLst>
                <a:tab pos="2743200" algn="l"/>
              </a:tabLst>
            </a:pPr>
            <a:r>
              <a:rPr lang="en-US" altLang="tr-TR" sz="18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stu_info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class[100];</a:t>
            </a:r>
          </a:p>
          <a:p>
            <a:pPr lvl="2">
              <a:buNone/>
              <a:tabLst>
                <a:tab pos="2743200" algn="l"/>
              </a:tabLst>
            </a:pP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number[100</a:t>
            </a: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];</a:t>
            </a:r>
          </a:p>
          <a:p>
            <a:pPr lvl="2">
              <a:buNone/>
              <a:tabLst>
                <a:tab pos="2743200" algn="l"/>
              </a:tabLst>
            </a:pPr>
            <a:endParaRPr lang="tr-TR" altLang="tr-TR" sz="1000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buNone/>
              <a:tabLst>
                <a:tab pos="2743200" algn="l"/>
              </a:tabLst>
            </a:pP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number[3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] 	= 42;</a:t>
            </a:r>
          </a:p>
          <a:p>
            <a:pPr lvl="2">
              <a:buNone/>
              <a:tabLst>
                <a:tab pos="2743200" algn="l"/>
              </a:tabLst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class[3].id	= 42;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34410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Example 6 – Cube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507775"/>
          </a:xfrm>
        </p:spPr>
        <p:txBody>
          <a:bodyPr/>
          <a:lstStyle/>
          <a:p>
            <a:r>
              <a:rPr lang="en-US" altLang="tr-TR" sz="2800" dirty="0"/>
              <a:t>Define type for a </a:t>
            </a:r>
            <a:r>
              <a:rPr lang="tr-TR" altLang="tr-TR" sz="2800" dirty="0" smtClean="0"/>
              <a:t>point</a:t>
            </a:r>
            <a:endParaRPr lang="tr-TR" sz="2800" dirty="0" smtClean="0"/>
          </a:p>
          <a:p>
            <a:pPr lvl="2">
              <a:buFontTx/>
              <a:buNone/>
            </a:pP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point_type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buFontTx/>
              <a:buNone/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x, y;</a:t>
            </a:r>
          </a:p>
          <a:p>
            <a:pPr lvl="2">
              <a:buFontTx/>
              <a:buNone/>
            </a:pPr>
            <a:r>
              <a:rPr lang="en-US" altLang="tr-TR" sz="24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  <a:endParaRPr lang="tr-TR" sz="2400" dirty="0" smtClean="0"/>
          </a:p>
          <a:p>
            <a:r>
              <a:rPr lang="en-US" altLang="tr-TR" sz="2800" dirty="0"/>
              <a:t>Define type for a triangle</a:t>
            </a:r>
            <a:r>
              <a:rPr lang="tr-TR" altLang="tr-TR" sz="2800" dirty="0"/>
              <a:t>.</a:t>
            </a:r>
          </a:p>
          <a:p>
            <a:pPr lvl="2">
              <a:buFontTx/>
              <a:buNone/>
            </a:pP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triangle_type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buFontTx/>
              <a:buNone/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point_type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A, B, C;</a:t>
            </a:r>
          </a:p>
          <a:p>
            <a:pPr lvl="2">
              <a:buFontTx/>
              <a:buNone/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  <a:endParaRPr lang="tr-TR" altLang="tr-TR" sz="24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en-US" altLang="tr-TR" sz="2800" dirty="0"/>
              <a:t>Define type for a </a:t>
            </a:r>
            <a:r>
              <a:rPr lang="tr-TR" altLang="tr-TR" sz="2800" dirty="0" smtClean="0"/>
              <a:t>cube</a:t>
            </a:r>
          </a:p>
          <a:p>
            <a:pPr lvl="2">
              <a:buFontTx/>
              <a:buNone/>
            </a:pP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cube_type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2">
              <a:buFontTx/>
              <a:buNone/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point_type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corner[8];</a:t>
            </a:r>
          </a:p>
          <a:p>
            <a:pPr lvl="2">
              <a:buFontTx/>
              <a:buNone/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altLang="tr-TR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tr-TR" alt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71851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Example 7 – Student Info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83832"/>
            <a:ext cx="11480800" cy="5656216"/>
          </a:xfrm>
        </p:spPr>
        <p:txBody>
          <a:bodyPr/>
          <a:lstStyle/>
          <a:p>
            <a:r>
              <a:rPr lang="en-US" altLang="tr-TR" dirty="0"/>
              <a:t>Write a program that collects info about </a:t>
            </a:r>
            <a:r>
              <a:rPr lang="en-US" altLang="tr-TR" dirty="0" smtClean="0"/>
              <a:t>10 </a:t>
            </a:r>
            <a:r>
              <a:rPr lang="en-US" altLang="tr-TR" dirty="0"/>
              <a:t>students in class and finds the average of their GPAs</a:t>
            </a:r>
            <a:r>
              <a:rPr lang="en-US" altLang="tr-TR" dirty="0" smtClean="0"/>
              <a:t>.</a:t>
            </a:r>
            <a:endParaRPr lang="tr-TR" altLang="tr-TR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stu_info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char name[41];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long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id;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char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dept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[16];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short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class;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float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gpa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tr-TR" sz="105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void </a:t>
            </a:r>
            <a:r>
              <a:rPr lang="tr-TR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getGrade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stu_info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s[])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{...}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tr-TR" sz="1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main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(){  </a:t>
            </a:r>
            <a:endParaRPr lang="tr-TR" altLang="tr-TR" sz="1600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tr-TR" sz="16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stu_info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student[10];</a:t>
            </a:r>
            <a:endParaRPr lang="en-US" altLang="tr-TR" sz="16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;   float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avg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=0;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tr-TR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getGrade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(student);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for (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=0; </a:t>
            </a:r>
            <a:r>
              <a:rPr lang="en-US" altLang="tr-TR" sz="16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&lt;10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;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++)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avg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+= student[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].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gpa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printf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("%f\n",</a:t>
            </a:r>
            <a:r>
              <a:rPr lang="en-US" altLang="tr-TR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avg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/=</a:t>
            </a: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10</a:t>
            </a: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return 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  <a:endParaRPr lang="en-US" altLang="tr-TR" sz="1600" dirty="0"/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57757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Size of a </a:t>
            </a:r>
            <a:r>
              <a:rPr lang="en-US" altLang="tr-TR" dirty="0" err="1"/>
              <a:t>struct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sz="2800" dirty="0"/>
              <a:t>Assume in your system a short </a:t>
            </a:r>
            <a:r>
              <a:rPr lang="en-US" altLang="tr-TR" sz="2800" dirty="0" err="1"/>
              <a:t>int</a:t>
            </a:r>
            <a:r>
              <a:rPr lang="en-US" altLang="tr-TR" sz="2800" dirty="0"/>
              <a:t> occupies 2 bytes and an </a:t>
            </a:r>
            <a:r>
              <a:rPr lang="en-US" altLang="tr-TR" sz="2800" dirty="0" err="1"/>
              <a:t>int</a:t>
            </a:r>
            <a:r>
              <a:rPr lang="en-US" altLang="tr-TR" sz="2800" dirty="0"/>
              <a:t> occupies 4 bytes.</a:t>
            </a:r>
          </a:p>
          <a:p>
            <a:endParaRPr lang="tr-TR" altLang="tr-TR" sz="2800" dirty="0" smtClean="0"/>
          </a:p>
          <a:p>
            <a:r>
              <a:rPr lang="en-US" altLang="tr-TR" sz="2800" dirty="0" smtClean="0"/>
              <a:t>What </a:t>
            </a:r>
            <a:r>
              <a:rPr lang="en-US" altLang="tr-TR" sz="2800" dirty="0"/>
              <a:t>is the size of the following </a:t>
            </a:r>
            <a:r>
              <a:rPr lang="en-US" altLang="tr-TR" sz="2800" dirty="0" err="1"/>
              <a:t>struct</a:t>
            </a:r>
            <a:r>
              <a:rPr lang="en-US" altLang="tr-TR" sz="2800" dirty="0"/>
              <a:t>?</a:t>
            </a:r>
          </a:p>
          <a:p>
            <a:pPr lvl="2"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A {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short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m;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n;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char k;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endParaRPr lang="tr-TR" altLang="tr-TR" sz="2800" dirty="0" smtClean="0"/>
          </a:p>
          <a:p>
            <a:r>
              <a:rPr lang="en-US" altLang="tr-TR" sz="2800" dirty="0" smtClean="0"/>
              <a:t>It </a:t>
            </a:r>
            <a:r>
              <a:rPr lang="en-US" altLang="tr-TR" sz="2800" dirty="0"/>
              <a:t>is at least 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2+4+1=7</a:t>
            </a:r>
            <a:r>
              <a:rPr lang="en-US" altLang="tr-TR" sz="2800" dirty="0"/>
              <a:t> bytes, but could be even larger </a:t>
            </a:r>
            <a:r>
              <a:rPr lang="en-US" altLang="tr-TR" sz="2800" dirty="0">
                <a:sym typeface="Wingdings" panose="05000000000000000000" pitchFamily="2" charset="2"/>
              </a:rPr>
              <a:t> Depends on your system.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99598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4400" dirty="0" smtClean="0"/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 smtClean="0"/>
              <a:t>Unions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54071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Motivation - union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sz="2800" dirty="0"/>
              <a:t>When you use a </a:t>
            </a:r>
            <a:r>
              <a:rPr lang="en-US" altLang="tr-TR" sz="2800" dirty="0" err="1"/>
              <a:t>struct</a:t>
            </a:r>
            <a:r>
              <a:rPr lang="en-US" altLang="tr-TR" sz="2800" dirty="0"/>
              <a:t>, all fields store values simultaneously</a:t>
            </a:r>
            <a:r>
              <a:rPr lang="en-US" altLang="tr-TR" sz="2800" dirty="0" smtClean="0"/>
              <a:t>.</a:t>
            </a:r>
            <a:endParaRPr lang="tr-TR" altLang="tr-TR" sz="2800" dirty="0" smtClean="0"/>
          </a:p>
          <a:p>
            <a:endParaRPr lang="en-US" altLang="tr-TR" sz="2800" dirty="0"/>
          </a:p>
          <a:p>
            <a:r>
              <a:rPr lang="en-US" altLang="tr-TR" sz="2800" dirty="0"/>
              <a:t>Sometimes, it is necessary to store one field or the other exclusively (i.e., not both</a:t>
            </a:r>
            <a:r>
              <a:rPr lang="en-US" altLang="tr-TR" sz="2800" dirty="0" smtClean="0"/>
              <a:t>).</a:t>
            </a:r>
            <a:endParaRPr lang="tr-TR" altLang="tr-TR" sz="2800" dirty="0" smtClean="0"/>
          </a:p>
          <a:p>
            <a:pPr lvl="1"/>
            <a:r>
              <a:rPr lang="en-US" altLang="tr-TR" sz="2400" dirty="0" smtClean="0"/>
              <a:t>That </a:t>
            </a:r>
            <a:r>
              <a:rPr lang="en-US" altLang="tr-TR" sz="2400" dirty="0"/>
              <a:t>is why you need a union.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41655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union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sz="2600" dirty="0">
                <a:latin typeface="Lucida Console" panose="020B0609040504020204" pitchFamily="49" charset="0"/>
              </a:rPr>
              <a:t>union</a:t>
            </a:r>
          </a:p>
          <a:p>
            <a:pPr lvl="1"/>
            <a:r>
              <a:rPr lang="en-US" altLang="tr-TR" dirty="0"/>
              <a:t>Memory that contains a variety of objects over time</a:t>
            </a:r>
          </a:p>
          <a:p>
            <a:pPr lvl="1"/>
            <a:r>
              <a:rPr lang="en-US" altLang="tr-TR" dirty="0"/>
              <a:t>Only contains one data member at a time</a:t>
            </a:r>
          </a:p>
          <a:p>
            <a:pPr lvl="1"/>
            <a:r>
              <a:rPr lang="en-US" altLang="tr-TR" dirty="0"/>
              <a:t>Members of a </a:t>
            </a:r>
            <a:r>
              <a:rPr lang="en-US" altLang="tr-TR" sz="2000" dirty="0">
                <a:latin typeface="Lucida Console" panose="020B0609040504020204" pitchFamily="49" charset="0"/>
              </a:rPr>
              <a:t>union</a:t>
            </a:r>
            <a:r>
              <a:rPr lang="en-US" altLang="tr-TR" dirty="0"/>
              <a:t> share </a:t>
            </a:r>
            <a:r>
              <a:rPr lang="en-US" altLang="tr-TR" dirty="0" smtClean="0"/>
              <a:t>same storage space</a:t>
            </a:r>
            <a:endParaRPr lang="en-US" altLang="tr-TR" dirty="0"/>
          </a:p>
          <a:p>
            <a:pPr lvl="1"/>
            <a:r>
              <a:rPr lang="en-US" altLang="tr-TR" dirty="0"/>
              <a:t>Only the last data member defined can be </a:t>
            </a:r>
            <a:r>
              <a:rPr lang="en-US" altLang="tr-TR" dirty="0" smtClean="0"/>
              <a:t>accessed</a:t>
            </a:r>
            <a:endParaRPr lang="tr-TR" altLang="tr-TR" dirty="0" smtClean="0"/>
          </a:p>
          <a:p>
            <a:pPr lvl="1"/>
            <a:endParaRPr lang="en-US" altLang="tr-TR" dirty="0"/>
          </a:p>
          <a:p>
            <a:r>
              <a:rPr lang="en-US" altLang="tr-TR" sz="2600" dirty="0">
                <a:latin typeface="Lucida Console" panose="020B0609040504020204" pitchFamily="49" charset="0"/>
              </a:rPr>
              <a:t>union</a:t>
            </a:r>
            <a:r>
              <a:rPr lang="en-US" altLang="tr-TR" dirty="0"/>
              <a:t> definitions</a:t>
            </a:r>
          </a:p>
          <a:p>
            <a:pPr lvl="1"/>
            <a:r>
              <a:rPr lang="en-US" altLang="tr-TR" dirty="0"/>
              <a:t>Same as </a:t>
            </a:r>
            <a:r>
              <a:rPr lang="en-US" altLang="tr-TR" dirty="0" err="1"/>
              <a:t>struct</a:t>
            </a:r>
            <a:endParaRPr lang="en-US" altLang="tr-TR" dirty="0"/>
          </a:p>
          <a:p>
            <a:pPr lvl="3">
              <a:buFontTx/>
              <a:buNone/>
            </a:pPr>
            <a:r>
              <a:rPr lang="en-US" altLang="tr-TR" dirty="0">
                <a:latin typeface="Lucida Console" panose="020B0609040504020204" pitchFamily="49" charset="0"/>
              </a:rPr>
              <a:t>union Number {</a:t>
            </a:r>
          </a:p>
          <a:p>
            <a:pPr lvl="3">
              <a:buFontTx/>
              <a:buNone/>
            </a:pPr>
            <a:r>
              <a:rPr lang="en-US" altLang="tr-TR" dirty="0">
                <a:latin typeface="Lucida Console" panose="020B0609040504020204" pitchFamily="49" charset="0"/>
              </a:rPr>
              <a:t>  </a:t>
            </a:r>
            <a:r>
              <a:rPr lang="en-US" altLang="tr-TR" dirty="0" err="1">
                <a:latin typeface="Lucida Console" panose="020B0609040504020204" pitchFamily="49" charset="0"/>
              </a:rPr>
              <a:t>int</a:t>
            </a:r>
            <a:r>
              <a:rPr lang="en-US" altLang="tr-TR" dirty="0">
                <a:latin typeface="Lucida Console" panose="020B0609040504020204" pitchFamily="49" charset="0"/>
              </a:rPr>
              <a:t> x;</a:t>
            </a:r>
          </a:p>
          <a:p>
            <a:pPr lvl="3">
              <a:buFontTx/>
              <a:buNone/>
            </a:pPr>
            <a:r>
              <a:rPr lang="en-US" altLang="tr-TR" dirty="0">
                <a:latin typeface="Lucida Console" panose="020B0609040504020204" pitchFamily="49" charset="0"/>
              </a:rPr>
              <a:t>  float y;</a:t>
            </a:r>
          </a:p>
          <a:p>
            <a:pPr lvl="3">
              <a:buFontTx/>
              <a:buNone/>
            </a:pPr>
            <a:r>
              <a:rPr lang="en-US" altLang="tr-TR" dirty="0">
                <a:latin typeface="Lucida Console" panose="020B0609040504020204" pitchFamily="49" charset="0"/>
              </a:rPr>
              <a:t>};</a:t>
            </a:r>
          </a:p>
          <a:p>
            <a:pPr lvl="3">
              <a:buFontTx/>
              <a:buNone/>
            </a:pPr>
            <a:r>
              <a:rPr lang="en-US" altLang="tr-TR" dirty="0">
                <a:latin typeface="Lucida Console" panose="020B0609040504020204" pitchFamily="49" charset="0"/>
              </a:rPr>
              <a:t>union Number value;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67092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Valid Operations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dirty="0" smtClean="0"/>
              <a:t>Assignment </a:t>
            </a:r>
            <a:r>
              <a:rPr lang="en-US" altLang="tr-TR" dirty="0"/>
              <a:t>to </a:t>
            </a:r>
            <a:r>
              <a:rPr lang="en-US" altLang="tr-TR" dirty="0">
                <a:latin typeface="Lucida Console" panose="020B0609040504020204" pitchFamily="49" charset="0"/>
              </a:rPr>
              <a:t>union</a:t>
            </a:r>
            <a:r>
              <a:rPr lang="en-US" altLang="tr-TR" dirty="0"/>
              <a:t> of same type:  </a:t>
            </a:r>
            <a:r>
              <a:rPr lang="en-US" altLang="tr-TR" sz="3200" dirty="0" smtClean="0">
                <a:latin typeface="Lucida Console" panose="020B0609040504020204" pitchFamily="49" charset="0"/>
              </a:rPr>
              <a:t>=</a:t>
            </a:r>
            <a:endParaRPr lang="tr-TR" altLang="tr-TR" sz="2000" dirty="0" smtClean="0"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tr-TR" dirty="0" smtClean="0"/>
              <a:t>Taking </a:t>
            </a:r>
            <a:r>
              <a:rPr lang="en-US" altLang="tr-TR" dirty="0"/>
              <a:t>address: </a:t>
            </a:r>
            <a:r>
              <a:rPr lang="en-US" altLang="tr-TR" sz="3200" dirty="0" smtClean="0">
                <a:latin typeface="Lucida Console" panose="020B0609040504020204" pitchFamily="49" charset="0"/>
              </a:rPr>
              <a:t>&amp;</a:t>
            </a:r>
            <a:endParaRPr lang="tr-TR" altLang="tr-TR" sz="3200" dirty="0" smtClean="0"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tr-TR" dirty="0" smtClean="0"/>
              <a:t>Accessing </a:t>
            </a:r>
            <a:r>
              <a:rPr lang="en-US" altLang="tr-TR" dirty="0"/>
              <a:t>union members: </a:t>
            </a:r>
            <a:r>
              <a:rPr lang="en-US" altLang="tr-TR" sz="3200" dirty="0" smtClean="0">
                <a:latin typeface="Lucida Console" panose="020B0609040504020204" pitchFamily="49" charset="0"/>
              </a:rPr>
              <a:t>.</a:t>
            </a:r>
            <a:endParaRPr lang="tr-TR" altLang="tr-TR" sz="2000" dirty="0" smtClean="0"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tr-TR" dirty="0" smtClean="0"/>
              <a:t>Accessing </a:t>
            </a:r>
            <a:r>
              <a:rPr lang="en-US" altLang="tr-TR" dirty="0"/>
              <a:t>members using pointers: </a:t>
            </a:r>
            <a:r>
              <a:rPr lang="en-US" altLang="tr-TR" sz="3200" dirty="0">
                <a:latin typeface="Lucida Console" panose="020B0609040504020204" pitchFamily="49" charset="0"/>
              </a:rPr>
              <a:t>-&gt;</a:t>
            </a:r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35650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</a:t>
            </a:r>
            <a:r>
              <a:rPr lang="tr-TR" dirty="0" smtClean="0"/>
              <a:t>nion Syntax and Size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24130"/>
            <a:ext cx="11480800" cy="565621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tr-TR" sz="2800" dirty="0"/>
              <a:t>The syntax is very similar to </a:t>
            </a:r>
            <a:r>
              <a:rPr lang="en-US" altLang="tr-TR" sz="2800" dirty="0" err="1"/>
              <a:t>struct</a:t>
            </a:r>
            <a:r>
              <a:rPr lang="en-US" altLang="tr-TR" sz="2800" dirty="0"/>
              <a:t>: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union </a:t>
            </a:r>
            <a:r>
              <a:rPr lang="en-US" altLang="tr-TR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union_name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field_definition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(s)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...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} </a:t>
            </a:r>
            <a:r>
              <a:rPr lang="en-US" altLang="tr-TR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variable_list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  <a:endParaRPr lang="tr-TR" altLang="tr-TR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80000"/>
              </a:lnSpc>
              <a:buFontTx/>
              <a:buNone/>
            </a:pPr>
            <a:endParaRPr lang="en-US" altLang="tr-TR" sz="8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tr-TR" sz="2800" dirty="0" smtClean="0"/>
              <a:t>E</a:t>
            </a:r>
            <a:r>
              <a:rPr lang="tr-TR" altLang="tr-TR" sz="2800" dirty="0" smtClean="0"/>
              <a:t>xample</a:t>
            </a:r>
            <a:r>
              <a:rPr lang="en-US" altLang="tr-TR" sz="2800" dirty="0" smtClean="0"/>
              <a:t>:</a:t>
            </a:r>
            <a:r>
              <a:rPr lang="en-US" altLang="tr-TR" sz="2000" dirty="0" smtClean="0"/>
              <a:t>  </a:t>
            </a:r>
            <a:endParaRPr lang="tr-TR" altLang="tr-TR" sz="20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tr-TR" alt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</a:t>
            </a:r>
            <a:r>
              <a:rPr lang="tr-TR" altLang="tr-TR" sz="20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union</a:t>
            </a:r>
            <a:r>
              <a:rPr lang="en-US" altLang="tr-TR" sz="20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M {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a;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float b;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double c;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  <a:endParaRPr lang="tr-TR" altLang="tr-TR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80000"/>
              </a:lnSpc>
              <a:buFontTx/>
              <a:buNone/>
            </a:pPr>
            <a:endParaRPr lang="en-US" altLang="tr-TR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tr-TR" sz="2800" dirty="0"/>
              <a:t>The difference is that a single value is </a:t>
            </a:r>
            <a:r>
              <a:rPr lang="en-US" altLang="tr-TR" sz="2800" dirty="0" smtClean="0"/>
              <a:t>stored at a time.</a:t>
            </a:r>
            <a:endParaRPr lang="tr-TR" altLang="tr-TR" sz="2800" dirty="0" smtClean="0"/>
          </a:p>
          <a:p>
            <a:pPr lvl="4">
              <a:lnSpc>
                <a:spcPct val="80000"/>
              </a:lnSpc>
            </a:pPr>
            <a:endParaRPr lang="tr-TR" altLang="tr-TR" sz="2000" dirty="0" smtClean="0"/>
          </a:p>
          <a:p>
            <a:pPr>
              <a:lnSpc>
                <a:spcPct val="80000"/>
              </a:lnSpc>
            </a:pPr>
            <a:r>
              <a:rPr lang="en-US" altLang="tr-TR" sz="2800" dirty="0" smtClean="0"/>
              <a:t>The </a:t>
            </a:r>
            <a:r>
              <a:rPr lang="en-US" altLang="tr-TR" sz="2800" dirty="0"/>
              <a:t>size of the union is the size of the largest field (rather than the sum of the sizes of all fields).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53013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Example 9 – union number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88274"/>
            <a:ext cx="11480800" cy="5708469"/>
          </a:xfrm>
        </p:spPr>
        <p:txBody>
          <a:bodyPr/>
          <a:lstStyle/>
          <a:p>
            <a:pPr lvl="2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union number {               </a:t>
            </a:r>
          </a:p>
          <a:p>
            <a:pPr lvl="2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x;                    </a:t>
            </a:r>
          </a:p>
          <a:p>
            <a:pPr lvl="2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double y;                 </a:t>
            </a:r>
          </a:p>
          <a:p>
            <a:pPr lvl="2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}; </a:t>
            </a:r>
            <a:endParaRPr lang="tr-TR" sz="24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buNone/>
            </a:pPr>
            <a:endParaRPr lang="tr-TR" sz="12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buNone/>
            </a:pP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main(void){ </a:t>
            </a:r>
          </a:p>
          <a:p>
            <a:pPr lvl="2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union number value; // define union variable</a:t>
            </a:r>
          </a:p>
          <a:p>
            <a:pPr lvl="2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value.x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= 100; // put an integer into the union</a:t>
            </a:r>
          </a:p>
          <a:p>
            <a:pPr lvl="2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printf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("</a:t>
            </a:r>
            <a:r>
              <a:rPr 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int: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%d</a:t>
            </a:r>
            <a:r>
              <a:rPr 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double: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%f\n",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value.x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, 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value.y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);</a:t>
            </a:r>
          </a:p>
          <a:p>
            <a:pPr lvl="2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</a:p>
          <a:p>
            <a:pPr lvl="2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value.y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= 100.0; // put a double into the same union</a:t>
            </a:r>
          </a:p>
          <a:p>
            <a:pPr lvl="2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printf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("</a:t>
            </a:r>
            <a:r>
              <a:rPr 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int: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%d</a:t>
            </a:r>
            <a:r>
              <a:rPr 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double: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%f\n",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value.x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, 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value.y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);</a:t>
            </a:r>
            <a:endParaRPr lang="tr-TR" sz="24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} </a:t>
            </a:r>
            <a:endParaRPr lang="tr-TR" sz="24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30184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 type for a </a:t>
            </a:r>
            <a:r>
              <a:rPr lang="en-US" dirty="0"/>
              <a:t>geometric </a:t>
            </a:r>
            <a:r>
              <a:rPr lang="en-US" dirty="0" smtClean="0"/>
              <a:t>figure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9390" y="1137236"/>
            <a:ext cx="45238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 smtClean="0">
                <a:solidFill>
                  <a:srgbClr val="00AD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circle_t</a:t>
            </a:r>
            <a:r>
              <a:rPr lang="en-US" b="1" dirty="0" smtClean="0">
                <a:solidFill>
                  <a:srgbClr val="00AD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double 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area,</a:t>
            </a:r>
            <a:b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smtClean="0">
                <a:solidFill>
                  <a:srgbClr val="00AD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perimeter,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smtClean="0">
                <a:solidFill>
                  <a:srgbClr val="00AD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9390" y="2637173"/>
            <a:ext cx="45238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 smtClean="0">
                <a:solidFill>
                  <a:srgbClr val="00AD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rectangle_t</a:t>
            </a:r>
            <a:r>
              <a:rPr lang="en-US" b="1" dirty="0" smtClean="0">
                <a:solidFill>
                  <a:srgbClr val="00AD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double 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area,</a:t>
            </a:r>
            <a:b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perimeter,</a:t>
            </a:r>
            <a:b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width,</a:t>
            </a:r>
            <a:b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height;</a:t>
            </a:r>
            <a:b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9390" y="4467126"/>
            <a:ext cx="452387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b="1" dirty="0" err="1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truct</a:t>
            </a: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AD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square_t</a:t>
            </a: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double 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area,</a:t>
            </a:r>
            <a:b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perimeter,</a:t>
            </a:r>
            <a:b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side;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53264" y="121920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union {</a:t>
            </a:r>
            <a:br>
              <a:rPr lang="fr-FR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b="1" dirty="0" err="1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fr-FR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circle_t</a:t>
            </a:r>
            <a:r>
              <a:rPr lang="fr-FR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fr-FR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fr-FR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fr-FR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rectangle_t</a:t>
            </a:r>
            <a:r>
              <a:rPr lang="fr-FR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rectangle;</a:t>
            </a:r>
            <a:br>
              <a:rPr lang="fr-FR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b="1" dirty="0" err="1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fr-FR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square_t</a:t>
            </a:r>
            <a:r>
              <a:rPr lang="fr-FR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square;</a:t>
            </a:r>
            <a:br>
              <a:rPr lang="fr-FR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fr-FR" b="1" dirty="0" err="1">
                <a:solidFill>
                  <a:srgbClr val="00AD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figure_data_t</a:t>
            </a:r>
            <a:r>
              <a:rPr lang="fr-FR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fr-FR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b="1" dirty="0" smtClean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837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Example 10 – student or staff information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40774"/>
            <a:ext cx="11480800" cy="5599215"/>
          </a:xfrm>
        </p:spPr>
        <p:txBody>
          <a:bodyPr/>
          <a:lstStyle/>
          <a:p>
            <a:r>
              <a:rPr lang="en-US" altLang="tr-TR" dirty="0"/>
              <a:t>Consider the following </a:t>
            </a:r>
            <a:r>
              <a:rPr lang="en-US" altLang="tr-TR" dirty="0" err="1" smtClean="0"/>
              <a:t>struct</a:t>
            </a:r>
            <a:r>
              <a:rPr lang="tr-TR" altLang="tr-TR" dirty="0" smtClean="0"/>
              <a:t>s</a:t>
            </a:r>
            <a:r>
              <a:rPr lang="en-US" altLang="tr-TR" dirty="0" smtClean="0"/>
              <a:t>:</a:t>
            </a:r>
            <a:endParaRPr lang="en-US" altLang="tr-TR" dirty="0"/>
          </a:p>
          <a:p>
            <a:pPr lvl="2">
              <a:buFontTx/>
              <a:buNone/>
            </a:pPr>
            <a:r>
              <a:rPr lang="tr-TR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staff_info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char name[41];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long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SSid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enum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{assist, prof, personnel} status;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salary;</a:t>
            </a:r>
          </a:p>
          <a:p>
            <a:pPr lvl="2">
              <a:buFontTx/>
              <a:buNone/>
            </a:pP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  <a:endParaRPr lang="tr-TR" altLang="tr-TR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stu_info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char name[41];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long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id;</a:t>
            </a:r>
          </a:p>
          <a:p>
            <a:pPr lvl="2">
              <a:buFontTx/>
              <a:buNone/>
            </a:pPr>
            <a:r>
              <a:rPr lang="tr-TR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short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class;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float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gpa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 lvl="2">
              <a:buFontTx/>
              <a:buNone/>
            </a:pP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  <a:r>
              <a:rPr lang="tr-TR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  <a:endParaRPr lang="en-US" altLang="tr-TR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en-US" altLang="tr-TR" dirty="0"/>
              <a:t>Write a program that fills in an array of 100 elements where each element could be of type </a:t>
            </a:r>
            <a:r>
              <a:rPr lang="en-US" altLang="tr-TR" dirty="0" err="1"/>
              <a:t>stu_info</a:t>
            </a:r>
            <a:r>
              <a:rPr lang="en-US" altLang="tr-TR" dirty="0"/>
              <a:t> or </a:t>
            </a:r>
            <a:r>
              <a:rPr lang="en-US" altLang="tr-TR" dirty="0" err="1"/>
              <a:t>staff_info</a:t>
            </a:r>
            <a:r>
              <a:rPr lang="en-US" altLang="tr-TR" dirty="0"/>
              <a:t>.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145548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10 </a:t>
            </a:r>
            <a:r>
              <a:rPr lang="tr-TR" dirty="0" smtClean="0"/>
              <a:t>– struct and union definitions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tr-TR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#include &lt;stdio.h&gt;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altLang="tr-TR" sz="1800" b="1" noProof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struct person_info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   enum {student, staff} </a:t>
            </a:r>
            <a:r>
              <a:rPr lang="tr-TR" altLang="tr-TR" sz="1800" b="1" noProof="1">
                <a:solidFill>
                  <a:srgbClr val="FF0000"/>
                </a:solidFill>
                <a:latin typeface="Courier New" panose="02070309020205020404" pitchFamily="49" charset="0"/>
              </a:rPr>
              <a:t>type</a:t>
            </a:r>
            <a:r>
              <a:rPr lang="tr-TR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union 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{</a:t>
            </a:r>
            <a:endParaRPr lang="en-US" altLang="tr-TR" sz="1800" b="1" noProof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struct stu_info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   char name[41];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long int id;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   char dept[16];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   short int class;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   float gpa;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>
                <a:solidFill>
                  <a:schemeClr val="hlink"/>
                </a:solidFill>
                <a:latin typeface="Courier New" panose="02070309020205020404" pitchFamily="49" charset="0"/>
              </a:rPr>
              <a:t>student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struct staff_info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char name[41];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   long int SSid;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   enum {assist, prof, personnel} status;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   int salary;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>
                <a:solidFill>
                  <a:schemeClr val="hlink"/>
                </a:solidFill>
                <a:latin typeface="Courier New" panose="02070309020205020404" pitchFamily="49" charset="0"/>
              </a:rPr>
              <a:t>staff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  <a:endParaRPr lang="en-US" altLang="tr-TR" sz="18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} </a:t>
            </a:r>
            <a:r>
              <a:rPr lang="en-US" altLang="tr-TR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info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  <a:endParaRPr lang="en-US" altLang="tr-TR" sz="1800" b="1" noProof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  <a:endParaRPr lang="en-US" altLang="tr-TR" sz="1800" b="1" noProof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37184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10 </a:t>
            </a:r>
            <a:r>
              <a:rPr lang="tr-TR" dirty="0" smtClean="0"/>
              <a:t>– c</a:t>
            </a:r>
            <a:r>
              <a:rPr lang="en-US" dirty="0" smtClean="0"/>
              <a:t>o</a:t>
            </a:r>
            <a:r>
              <a:rPr lang="tr-TR" dirty="0" smtClean="0"/>
              <a:t>nt.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tr-TR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void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read_student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(struct stu_info 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*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s)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{...}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void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read_staff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(struct st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aff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_info 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*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s)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{...}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tr-TR" sz="1800" b="1" noProof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int main()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{  </a:t>
            </a:r>
            <a:endParaRPr lang="tr-TR" altLang="tr-TR" sz="1800" b="1" noProof="1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altLang="tr-TR" sz="1800" b="1" noProof="1" smtClean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tr-TR" sz="1800" b="1" noProof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struct 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person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_info 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person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[100];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   int i;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tr-TR" sz="14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for (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=0;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&lt;100;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++)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{ 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printf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("Enter 0 for student, 1 for staff: 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scanf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("%d", &amp;person[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].type);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if (person[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].type==student)</a:t>
            </a:r>
            <a:endParaRPr lang="en-US" altLang="tr-TR" sz="1800" b="1" noProof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altLang="tr-TR" sz="18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read_student</a:t>
            </a: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(&amp;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person[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].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info.student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);</a:t>
            </a:r>
            <a:endParaRPr lang="en-US" altLang="tr-TR" sz="18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else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		  read_</a:t>
            </a:r>
            <a:r>
              <a:rPr lang="en-US" altLang="tr-TR" sz="1800" b="1" noProof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</a:t>
            </a:r>
            <a:r>
              <a:rPr lang="en-US" altLang="tr-TR" sz="1800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aff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(&amp;person[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].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info.staff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);</a:t>
            </a:r>
            <a:endParaRPr lang="en-US" altLang="tr-TR" sz="18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}</a:t>
            </a:r>
            <a:endParaRPr lang="en-US" altLang="tr-TR" sz="1800" b="1" noProof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return 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noProof="1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tr-TR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5717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 err="1"/>
              <a:t>t</a:t>
            </a:r>
            <a:r>
              <a:rPr lang="en-US" altLang="tr-TR" dirty="0" err="1" smtClean="0"/>
              <a:t>ypedef</a:t>
            </a:r>
            <a:r>
              <a:rPr lang="tr-TR" altLang="tr-TR" dirty="0" smtClean="0"/>
              <a:t> Syntax and Usage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sz="2800" dirty="0"/>
              <a:t>You may define new names for </a:t>
            </a:r>
            <a:r>
              <a:rPr lang="en-US" altLang="tr-TR" sz="2800" u="sng" dirty="0"/>
              <a:t>existing types</a:t>
            </a:r>
            <a:r>
              <a:rPr lang="en-US" altLang="tr-TR" sz="2800" dirty="0"/>
              <a:t> using </a:t>
            </a:r>
            <a:r>
              <a:rPr lang="en-US" alt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altLang="tr-TR" sz="2800" dirty="0" smtClean="0"/>
              <a:t>.</a:t>
            </a:r>
            <a:endParaRPr lang="en-US" altLang="tr-TR" sz="2800" dirty="0"/>
          </a:p>
          <a:p>
            <a:pPr lvl="1"/>
            <a:r>
              <a:rPr lang="en-US" altLang="tr-TR" sz="2400" dirty="0"/>
              <a:t>Note that </a:t>
            </a:r>
            <a:r>
              <a:rPr lang="en-US" alt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altLang="tr-TR" sz="2400" dirty="0" smtClean="0"/>
              <a:t> </a:t>
            </a:r>
            <a:r>
              <a:rPr lang="en-US" altLang="tr-TR" sz="2400" dirty="0"/>
              <a:t>does not create a new type.</a:t>
            </a:r>
          </a:p>
          <a:p>
            <a:r>
              <a:rPr lang="en-US" altLang="tr-TR" sz="2800" dirty="0"/>
              <a:t>Syntax:</a:t>
            </a:r>
          </a:p>
          <a:p>
            <a:pPr lvl="2">
              <a:buFontTx/>
              <a:buNone/>
            </a:pP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typedef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existing_type_name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new_type_name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(s);</a:t>
            </a:r>
          </a:p>
          <a:p>
            <a:r>
              <a:rPr lang="en-US" altLang="tr-TR" sz="2800" dirty="0" smtClean="0"/>
              <a:t>E</a:t>
            </a:r>
            <a:r>
              <a:rPr lang="tr-TR" altLang="tr-TR" sz="2800" dirty="0" smtClean="0"/>
              <a:t>xample</a:t>
            </a:r>
            <a:r>
              <a:rPr lang="en-US" altLang="tr-TR" sz="2800" dirty="0" smtClean="0"/>
              <a:t>:</a:t>
            </a:r>
            <a:endParaRPr lang="en-US" altLang="tr-TR" sz="2800" dirty="0"/>
          </a:p>
          <a:p>
            <a:pPr lvl="2">
              <a:buFontTx/>
              <a:buNone/>
            </a:pP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typedef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tamsayi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,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int_arr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[10];</a:t>
            </a:r>
          </a:p>
          <a:p>
            <a:r>
              <a:rPr lang="en-US" altLang="tr-TR" sz="2800" dirty="0"/>
              <a:t>Now, you can do the following:</a:t>
            </a:r>
          </a:p>
          <a:p>
            <a:pPr lvl="2">
              <a:buFontTx/>
              <a:buNone/>
            </a:pP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tamsayi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, j,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arr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[50</a:t>
            </a:r>
            <a:r>
              <a:rPr lang="en-US" altLang="tr-TR" sz="24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];</a:t>
            </a:r>
            <a:r>
              <a:rPr lang="tr-TR" altLang="tr-TR" sz="24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tr-TR" altLang="tr-TR" b="1" i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//"</a:t>
            </a:r>
            <a:r>
              <a:rPr lang="tr-TR" altLang="tr-TR" b="1" i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tamsayi</a:t>
            </a:r>
            <a:r>
              <a:rPr lang="tr-TR" altLang="tr-TR" b="1" i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" </a:t>
            </a:r>
            <a:r>
              <a:rPr lang="tr-TR" altLang="tr-TR" b="1" i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means</a:t>
            </a:r>
            <a:r>
              <a:rPr lang="tr-TR" altLang="tr-TR" b="1" i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"</a:t>
            </a:r>
            <a:r>
              <a:rPr lang="tr-TR" altLang="tr-TR" b="1" i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integer</a:t>
            </a:r>
            <a:r>
              <a:rPr lang="tr-TR" altLang="tr-TR" b="1" i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" in </a:t>
            </a:r>
            <a:r>
              <a:rPr lang="tr-TR" altLang="tr-TR" b="1" i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Turkish</a:t>
            </a:r>
            <a:endParaRPr lang="en-US" altLang="tr-TR" sz="2400" b="1" i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int_arr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a;</a:t>
            </a:r>
          </a:p>
          <a:p>
            <a:pPr lvl="2">
              <a:buFontTx/>
              <a:buNone/>
            </a:pP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=10;   j=35;   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arr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[3]=17;</a:t>
            </a:r>
          </a:p>
          <a:p>
            <a:pPr lvl="2">
              <a:buFontTx/>
              <a:buNone/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a[2]=15;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87535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When to Use </a:t>
            </a:r>
            <a:r>
              <a:rPr lang="en-US" altLang="tr-TR" dirty="0" err="1"/>
              <a:t>typedef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560026"/>
          </a:xfrm>
        </p:spPr>
        <p:txBody>
          <a:bodyPr/>
          <a:lstStyle/>
          <a:p>
            <a:r>
              <a:rPr lang="en-US" altLang="tr-TR" sz="2800" dirty="0" err="1"/>
              <a:t>typedef</a:t>
            </a:r>
            <a:r>
              <a:rPr lang="en-US" altLang="tr-TR" sz="2800" dirty="0"/>
              <a:t> is mostly useful for structures to avoid using the word "</a:t>
            </a:r>
            <a:r>
              <a:rPr lang="en-US" altLang="tr-TR" sz="2800" dirty="0" err="1"/>
              <a:t>struct</a:t>
            </a:r>
            <a:r>
              <a:rPr lang="en-US" altLang="tr-TR" sz="2800" dirty="0"/>
              <a:t>" in front of the structure name</a:t>
            </a:r>
            <a:r>
              <a:rPr lang="en-US" altLang="tr-TR" sz="2800" dirty="0" smtClean="0"/>
              <a:t>.</a:t>
            </a:r>
            <a:endParaRPr lang="en-US" altLang="tr-TR" sz="2800" dirty="0"/>
          </a:p>
          <a:p>
            <a:r>
              <a:rPr lang="en-US" altLang="tr-TR" sz="2800" dirty="0" smtClean="0"/>
              <a:t>E</a:t>
            </a:r>
            <a:r>
              <a:rPr lang="tr-TR" altLang="tr-TR" sz="2800" dirty="0" smtClean="0"/>
              <a:t>xample</a:t>
            </a:r>
            <a:r>
              <a:rPr lang="en-US" altLang="tr-TR" sz="2800" dirty="0" smtClean="0"/>
              <a:t>:</a:t>
            </a:r>
            <a:endParaRPr lang="en-US" altLang="tr-TR" sz="2800" dirty="0"/>
          </a:p>
          <a:p>
            <a:pPr lvl="2"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typedef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A_type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 lvl="2">
              <a:buFontTx/>
              <a:buNone/>
            </a:pP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A_t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var1</a:t>
            </a:r>
            <a:r>
              <a:rPr lang="en-US" altLang="tr-TR" sz="24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 lvl="2">
              <a:buFontTx/>
              <a:buNone/>
            </a:pPr>
            <a:endParaRPr lang="en-US" altLang="tr-TR" sz="24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typedef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struct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{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x, y;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} </a:t>
            </a: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nokta_t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, </a:t>
            </a: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noktalar_t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[10];</a:t>
            </a:r>
            <a:r>
              <a:rPr lang="tr-TR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    </a:t>
            </a:r>
            <a:r>
              <a:rPr lang="tr-TR" altLang="tr-TR" b="1" i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//"nokta" </a:t>
            </a:r>
            <a:r>
              <a:rPr lang="tr-TR" altLang="tr-TR" b="1" i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means</a:t>
            </a:r>
            <a:r>
              <a:rPr lang="tr-TR" altLang="tr-TR" b="1" i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altLang="tr-TR" b="1" i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"</a:t>
            </a:r>
            <a:r>
              <a:rPr lang="tr-TR" altLang="tr-TR" b="1" i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point</a:t>
            </a:r>
            <a:r>
              <a:rPr lang="tr-TR" altLang="tr-TR" b="1" i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" </a:t>
            </a:r>
            <a:r>
              <a:rPr lang="tr-TR" altLang="tr-TR" b="1" i="1" dirty="0">
                <a:solidFill>
                  <a:schemeClr val="accent2"/>
                </a:solidFill>
                <a:latin typeface="Courier New" panose="02070309020205020404" pitchFamily="49" charset="0"/>
              </a:rPr>
              <a:t>in </a:t>
            </a:r>
            <a:r>
              <a:rPr lang="tr-TR" altLang="tr-TR" b="1" i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Turkish</a:t>
            </a:r>
            <a:endParaRPr lang="en-US" altLang="tr-TR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nokta_t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n;</a:t>
            </a:r>
          </a:p>
          <a:p>
            <a:pPr lvl="2"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noktalar_t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N;</a:t>
            </a:r>
          </a:p>
          <a:p>
            <a:pPr lvl="2">
              <a:buFontTx/>
              <a:buNone/>
            </a:pP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n.x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= 5;</a:t>
            </a:r>
          </a:p>
          <a:p>
            <a:pPr lvl="2"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N[4].x = 8;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46973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1_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</TotalTime>
  <Words>2813</Words>
  <Application>Microsoft Office PowerPoint</Application>
  <PresentationFormat>Widescreen</PresentationFormat>
  <Paragraphs>539</Paragraphs>
  <Slides>39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ＭＳ Ｐゴシック</vt:lpstr>
      <vt:lpstr>Arial</vt:lpstr>
      <vt:lpstr>Calibri</vt:lpstr>
      <vt:lpstr>Cambria</vt:lpstr>
      <vt:lpstr>Consolas</vt:lpstr>
      <vt:lpstr>Courier New</vt:lpstr>
      <vt:lpstr>Garamond</vt:lpstr>
      <vt:lpstr>Lucida Console</vt:lpstr>
      <vt:lpstr>Tahoma</vt:lpstr>
      <vt:lpstr>Wingdings</vt:lpstr>
      <vt:lpstr>1_Edge</vt:lpstr>
      <vt:lpstr>2_Edge</vt:lpstr>
      <vt:lpstr>CSE1142 – Structure and Union Types in C</vt:lpstr>
      <vt:lpstr>Agenda</vt:lpstr>
      <vt:lpstr>Motivation</vt:lpstr>
      <vt:lpstr>Motivation – cont.</vt:lpstr>
      <vt:lpstr>Structure Syntax</vt:lpstr>
      <vt:lpstr>Example 1 – Student information</vt:lpstr>
      <vt:lpstr>Structure Usage</vt:lpstr>
      <vt:lpstr>Valid Operations</vt:lpstr>
      <vt:lpstr>Accessing Fields of a Structure</vt:lpstr>
      <vt:lpstr>Updating Fields of a struct</vt:lpstr>
      <vt:lpstr>Defining struct Variables</vt:lpstr>
      <vt:lpstr>struct as a Field of Another struct</vt:lpstr>
      <vt:lpstr>struct as a Field of Another struct (cont.)</vt:lpstr>
      <vt:lpstr>Example 2 – Point in 2D</vt:lpstr>
      <vt:lpstr>Example 3 – Triangle and Rectangle</vt:lpstr>
      <vt:lpstr>Initializing struct Variables</vt:lpstr>
      <vt:lpstr>Initializing struct Variables – cont.</vt:lpstr>
      <vt:lpstr>Using Structures with Functions</vt:lpstr>
      <vt:lpstr>struct as a Parameter</vt:lpstr>
      <vt:lpstr>Example 4 – Function Call</vt:lpstr>
      <vt:lpstr>Field of a struct pointer</vt:lpstr>
      <vt:lpstr>Example 5 – Struct Pointer</vt:lpstr>
      <vt:lpstr>struct as the Return Type</vt:lpstr>
      <vt:lpstr>Array of struct</vt:lpstr>
      <vt:lpstr>Example 6 – Cube </vt:lpstr>
      <vt:lpstr>Example 7 – Student Info</vt:lpstr>
      <vt:lpstr>Size of a struct</vt:lpstr>
      <vt:lpstr>PowerPoint Presentation</vt:lpstr>
      <vt:lpstr>Motivation - union</vt:lpstr>
      <vt:lpstr>union</vt:lpstr>
      <vt:lpstr>Valid Operations</vt:lpstr>
      <vt:lpstr>union Syntax and Size</vt:lpstr>
      <vt:lpstr>Example 9 – union number</vt:lpstr>
      <vt:lpstr>Union type for a geometric figure: </vt:lpstr>
      <vt:lpstr>Example 10 – student or staff information</vt:lpstr>
      <vt:lpstr>Example 10 – struct and union definitions</vt:lpstr>
      <vt:lpstr>Example 10 – cont.</vt:lpstr>
      <vt:lpstr>typedef Syntax and Usage</vt:lpstr>
      <vt:lpstr>When to Use typedef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Structures and Unions</dc:title>
  <dc:creator/>
  <cp:lastModifiedBy/>
  <cp:revision>139</cp:revision>
  <dcterms:created xsi:type="dcterms:W3CDTF">2017-11-02T19:26:23Z</dcterms:created>
  <dcterms:modified xsi:type="dcterms:W3CDTF">2020-05-10T06:55:35Z</dcterms:modified>
  <dc:description/>
</cp:coreProperties>
</file>