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3" r:id="rId2"/>
  </p:sldMasterIdLst>
  <p:notesMasterIdLst>
    <p:notesMasterId r:id="rId23"/>
  </p:notesMasterIdLst>
  <p:sldIdLst>
    <p:sldId id="256" r:id="rId3"/>
    <p:sldId id="259" r:id="rId4"/>
    <p:sldId id="328" r:id="rId5"/>
    <p:sldId id="338" r:id="rId6"/>
    <p:sldId id="330" r:id="rId7"/>
    <p:sldId id="343" r:id="rId8"/>
    <p:sldId id="344" r:id="rId9"/>
    <p:sldId id="339" r:id="rId10"/>
    <p:sldId id="340" r:id="rId11"/>
    <p:sldId id="345" r:id="rId12"/>
    <p:sldId id="341" r:id="rId13"/>
    <p:sldId id="342" r:id="rId14"/>
    <p:sldId id="346" r:id="rId15"/>
    <p:sldId id="335" r:id="rId16"/>
    <p:sldId id="347" r:id="rId17"/>
    <p:sldId id="336" r:id="rId18"/>
    <p:sldId id="348" r:id="rId19"/>
    <p:sldId id="337" r:id="rId20"/>
    <p:sldId id="349" r:id="rId21"/>
    <p:sldId id="350" r:id="rId2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13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264" y="1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99734-E1CD-4676-B8FD-3B2AE55D501F}" type="datetimeFigureOut">
              <a:rPr lang="tr-TR" smtClean="0"/>
              <a:t>29.04.2020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9542E2-2FA1-41E6-8954-17D2C75BA1F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25422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123950"/>
            <a:ext cx="10972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609600" y="337185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115824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105664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581400"/>
            <a:ext cx="10464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Garamond" pitchFamily="-105" charset="0"/>
                <a:ea typeface="Arial" pitchFamily="-105" charset="0"/>
                <a:cs typeface="Arial" pitchFamily="-105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BCB3A3A-8FF8-40B3-8514-E2CB2218B302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5410344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7528"/>
            <a:ext cx="11480800" cy="5193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695566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6733746-84DC-41D8-823C-0E541251900B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8267263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DA7D8B2-168E-4395-8C8D-DE154A1BF93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2791622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1357CC-1F0C-4656-B2F4-067F4C5F9518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6103351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27548CD-748C-4DE8-BC15-41D2810282C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6699241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B20CB8E-6506-4AEB-8989-7BD4DC848E44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4049582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FED9E3D-D4A4-4134-848E-E66AC38438F3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0121397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CE93521-0F42-40DB-9C31-44BF57F5918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5415403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D848FD-2F18-4378-B684-9572F1D7FD98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1076540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15400" y="152400"/>
            <a:ext cx="28702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84074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2E09492-B7AB-44C4-9096-FF9706AE7089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4172963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4808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6F79FCD-EF8B-4A5A-BBA5-6A74B63CC05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1810476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123950"/>
            <a:ext cx="10972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609600" y="337185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115824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105664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581400"/>
            <a:ext cx="10464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Garamond" pitchFamily="-105" charset="0"/>
                <a:ea typeface="Arial" pitchFamily="-105" charset="0"/>
                <a:cs typeface="Arial" pitchFamily="-105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BCB3A3A-8FF8-40B3-8514-E2CB2218B302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6874217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7528"/>
            <a:ext cx="11480800" cy="5193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56146039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6733746-84DC-41D8-823C-0E541251900B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4812052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DA7D8B2-168E-4395-8C8D-DE154A1BF93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75137433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1357CC-1F0C-4656-B2F4-067F4C5F9518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6683445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27548CD-748C-4DE8-BC15-41D2810282C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12753606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B20CB8E-6506-4AEB-8989-7BD4DC848E44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99381227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FED9E3D-D4A4-4134-848E-E66AC38438F3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249340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CE93521-0F42-40DB-9C31-44BF57F5918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94324892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D848FD-2F18-4378-B684-9572F1D7FD98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6871608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15400" y="152400"/>
            <a:ext cx="28702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84074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2E09492-B7AB-44C4-9096-FF9706AE7089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5183378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4808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6F79FCD-EF8B-4A5A-BBA5-6A74B63CC05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65718170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11480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1027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898526"/>
            <a:ext cx="1148080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Fifth level</a:t>
            </a:r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36051" y="631825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000000"/>
                </a:solidFill>
                <a:latin typeface="Garamond" panose="02020404030301010803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E42FCE0-6E1C-4037-BC8A-FCBCB380F03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1030" name="Line 1032"/>
          <p:cNvSpPr>
            <a:spLocks noChangeShapeType="1"/>
          </p:cNvSpPr>
          <p:nvPr/>
        </p:nvSpPr>
        <p:spPr bwMode="auto">
          <a:xfrm>
            <a:off x="304800" y="6481763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1" name="Line 1033"/>
          <p:cNvSpPr>
            <a:spLocks noChangeShapeType="1"/>
          </p:cNvSpPr>
          <p:nvPr userDrawn="1"/>
        </p:nvSpPr>
        <p:spPr bwMode="auto">
          <a:xfrm>
            <a:off x="304800" y="898525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1031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pitchFamily="-105" charset="-128"/>
          <a:cs typeface="ＭＳ Ｐゴシック" pitchFamily="-105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ＭＳ Ｐゴシック" pitchFamily="-105" charset="-128"/>
          <a:cs typeface="ＭＳ Ｐゴシック" pitchFamily="-105" charset="-128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200">
          <a:solidFill>
            <a:schemeClr val="tx1"/>
          </a:solidFill>
          <a:latin typeface="+mn-lt"/>
          <a:ea typeface="ＭＳ Ｐゴシック" pitchFamily="-105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ＭＳ Ｐゴシック" pitchFamily="-105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>
          <a:solidFill>
            <a:schemeClr val="tx1"/>
          </a:solidFill>
          <a:latin typeface="+mn-lt"/>
          <a:ea typeface="ＭＳ Ｐゴシック" pitchFamily="-105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ＭＳ Ｐゴシック" pitchFamily="-105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11480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1027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898526"/>
            <a:ext cx="1148080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Fifth level</a:t>
            </a:r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36051" y="631825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000000"/>
                </a:solidFill>
                <a:latin typeface="Garamond" panose="02020404030301010803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E42FCE0-6E1C-4037-BC8A-FCBCB380F03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1030" name="Line 1032"/>
          <p:cNvSpPr>
            <a:spLocks noChangeShapeType="1"/>
          </p:cNvSpPr>
          <p:nvPr/>
        </p:nvSpPr>
        <p:spPr bwMode="auto">
          <a:xfrm>
            <a:off x="304800" y="6481763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1" name="Line 1033"/>
          <p:cNvSpPr>
            <a:spLocks noChangeShapeType="1"/>
          </p:cNvSpPr>
          <p:nvPr userDrawn="1"/>
        </p:nvSpPr>
        <p:spPr bwMode="auto">
          <a:xfrm>
            <a:off x="304800" y="898525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9556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pitchFamily="-105" charset="-128"/>
          <a:cs typeface="ＭＳ Ｐゴシック" pitchFamily="-105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ＭＳ Ｐゴシック" pitchFamily="-105" charset="-128"/>
          <a:cs typeface="ＭＳ Ｐゴシック" pitchFamily="-105" charset="-128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200">
          <a:solidFill>
            <a:schemeClr val="tx1"/>
          </a:solidFill>
          <a:latin typeface="+mn-lt"/>
          <a:ea typeface="ＭＳ Ｐゴシック" pitchFamily="-105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ＭＳ Ｐゴシック" pitchFamily="-105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>
          <a:solidFill>
            <a:schemeClr val="tx1"/>
          </a:solidFill>
          <a:latin typeface="+mn-lt"/>
          <a:ea typeface="ＭＳ Ｐゴシック" pitchFamily="-105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ＭＳ Ｐゴシック" pitchFamily="-105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F9248024-E6CB-4E73-B1B0-AD74B0775A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CSE1142 </a:t>
            </a:r>
            <a:r>
              <a:rPr lang="en-US" dirty="0" smtClean="0"/>
              <a:t>–</a:t>
            </a:r>
            <a:r>
              <a:rPr lang="tr-TR" altLang="tr-TR" dirty="0" smtClean="0">
                <a:ea typeface="ＭＳ Ｐゴシック" panose="020B0600070205080204" pitchFamily="34" charset="-128"/>
              </a:rPr>
              <a:t>Repetitive Structures</a:t>
            </a:r>
            <a:r>
              <a:rPr lang="en-US" altLang="tr-TR" dirty="0" smtClean="0">
                <a:ea typeface="ＭＳ Ｐゴシック" panose="020B0600070205080204" pitchFamily="34" charset="-128"/>
              </a:rPr>
              <a:t> in</a:t>
            </a:r>
            <a:r>
              <a:rPr lang="en-US" dirty="0"/>
              <a:t> C 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2F4066B-CCC5-4546-8A3F-C4FBE381B3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Sanem Arslan </a:t>
            </a:r>
            <a:r>
              <a:rPr lang="en-US" dirty="0" err="1"/>
              <a:t>Yılmaz</a:t>
            </a:r>
            <a:endParaRPr lang="en-US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5D85F59F-D3CE-422E-85AE-032ED5738A0E}"/>
              </a:ext>
            </a:extLst>
          </p:cNvPr>
          <p:cNvSpPr txBox="1"/>
          <p:nvPr/>
        </p:nvSpPr>
        <p:spPr>
          <a:xfrm>
            <a:off x="2245895" y="5101389"/>
            <a:ext cx="82616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 err="1"/>
              <a:t>Some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slides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:</a:t>
            </a:r>
          </a:p>
          <a:p>
            <a:pPr algn="ctr"/>
            <a:r>
              <a:rPr lang="tr-TR" dirty="0"/>
              <a:t>CMPE150 – Boğaziçi </a:t>
            </a:r>
            <a:r>
              <a:rPr lang="tr-TR" dirty="0" err="1"/>
              <a:t>University</a:t>
            </a:r>
            <a:endParaRPr lang="tr-TR" dirty="0"/>
          </a:p>
          <a:p>
            <a:pPr algn="ctr"/>
            <a:r>
              <a:rPr lang="tr-TR" dirty="0" err="1"/>
              <a:t>Deitel</a:t>
            </a:r>
            <a:r>
              <a:rPr lang="tr-TR" dirty="0"/>
              <a:t> &amp; </a:t>
            </a:r>
            <a:r>
              <a:rPr lang="tr-TR" dirty="0" err="1"/>
              <a:t>Associates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7997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Agenda</a:t>
            </a:r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304800" y="996949"/>
            <a:ext cx="10058400" cy="5534480"/>
          </a:xfrm>
        </p:spPr>
        <p:txBody>
          <a:bodyPr/>
          <a:lstStyle/>
          <a:p>
            <a:r>
              <a:rPr lang="en-US" altLang="tr-TR" dirty="0"/>
              <a:t>Types of loops</a:t>
            </a:r>
            <a:endParaRPr lang="tr-TR" altLang="tr-TR" dirty="0"/>
          </a:p>
          <a:p>
            <a:r>
              <a:rPr lang="en-US" altLang="tr-TR" dirty="0"/>
              <a:t>For loop</a:t>
            </a:r>
            <a:endParaRPr lang="tr-TR" altLang="tr-TR" dirty="0"/>
          </a:p>
          <a:p>
            <a:pPr lvl="1"/>
            <a:r>
              <a:rPr lang="tr-TR" altLang="tr-TR" dirty="0"/>
              <a:t>Syntax</a:t>
            </a:r>
            <a:endParaRPr lang="tr-TR" altLang="tr-TR" dirty="0">
              <a:ea typeface="ＭＳ Ｐゴシック" panose="020B0600070205080204" pitchFamily="34" charset="-128"/>
            </a:endParaRPr>
          </a:p>
          <a:p>
            <a:pPr lvl="1"/>
            <a:r>
              <a:rPr lang="tr-TR" altLang="tr-TR" dirty="0">
                <a:ea typeface="ＭＳ Ｐゴシック" panose="020B0600070205080204" pitchFamily="34" charset="-128"/>
              </a:rPr>
              <a:t>Example</a:t>
            </a:r>
          </a:p>
          <a:p>
            <a:r>
              <a:rPr lang="tr-TR" altLang="tr-TR" dirty="0">
                <a:ea typeface="ＭＳ Ｐゴシック" panose="020B0600070205080204" pitchFamily="34" charset="-128"/>
              </a:rPr>
              <a:t>While loop</a:t>
            </a:r>
          </a:p>
          <a:p>
            <a:pPr lvl="1"/>
            <a:r>
              <a:rPr lang="tr-TR" altLang="tr-TR" dirty="0"/>
              <a:t>Syntax</a:t>
            </a:r>
            <a:endParaRPr lang="tr-TR" altLang="tr-TR" dirty="0">
              <a:ea typeface="ＭＳ Ｐゴシック" panose="020B0600070205080204" pitchFamily="34" charset="-128"/>
            </a:endParaRPr>
          </a:p>
          <a:p>
            <a:pPr lvl="1"/>
            <a:r>
              <a:rPr lang="tr-TR" altLang="tr-TR" dirty="0">
                <a:ea typeface="ＭＳ Ｐゴシック" panose="020B0600070205080204" pitchFamily="34" charset="-128"/>
              </a:rPr>
              <a:t>Example</a:t>
            </a:r>
          </a:p>
          <a:p>
            <a:r>
              <a:rPr lang="tr-TR" altLang="tr-TR" dirty="0">
                <a:ea typeface="ＭＳ Ｐゴシック" panose="020B0600070205080204" pitchFamily="34" charset="-128"/>
              </a:rPr>
              <a:t>Do-while loop</a:t>
            </a:r>
          </a:p>
          <a:p>
            <a:pPr lvl="1"/>
            <a:r>
              <a:rPr lang="tr-TR" altLang="tr-TR" dirty="0"/>
              <a:t>Syntax</a:t>
            </a:r>
            <a:endParaRPr lang="tr-TR" altLang="tr-TR" dirty="0">
              <a:ea typeface="ＭＳ Ｐゴシック" panose="020B0600070205080204" pitchFamily="34" charset="-128"/>
            </a:endParaRPr>
          </a:p>
          <a:p>
            <a:pPr lvl="1"/>
            <a:r>
              <a:rPr lang="tr-TR" altLang="tr-TR" dirty="0">
                <a:ea typeface="ＭＳ Ｐゴシック" panose="020B0600070205080204" pitchFamily="34" charset="-128"/>
              </a:rPr>
              <a:t>Example</a:t>
            </a:r>
          </a:p>
          <a:p>
            <a:r>
              <a:rPr lang="tr-TR" altLang="tr-TR" dirty="0"/>
              <a:t>B</a:t>
            </a:r>
            <a:r>
              <a:rPr lang="en-US" altLang="tr-TR" dirty="0" err="1"/>
              <a:t>reak</a:t>
            </a:r>
            <a:r>
              <a:rPr lang="en-US" altLang="tr-TR" dirty="0"/>
              <a:t> statement</a:t>
            </a:r>
            <a:endParaRPr lang="tr-TR" altLang="tr-TR" dirty="0"/>
          </a:p>
          <a:p>
            <a:r>
              <a:rPr lang="tr-TR" altLang="tr-TR" dirty="0">
                <a:ea typeface="ＭＳ Ｐゴシック" panose="020B0600070205080204" pitchFamily="34" charset="-128"/>
              </a:rPr>
              <a:t>Continue statement</a:t>
            </a:r>
          </a:p>
          <a:p>
            <a:endParaRPr lang="en-US" altLang="tr-TR" dirty="0">
              <a:ea typeface="ＭＳ Ｐゴシック" panose="020B0600070205080204" pitchFamily="34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03412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Types of loops</a:t>
            </a:r>
          </a:p>
        </p:txBody>
      </p:sp>
      <p:sp>
        <p:nvSpPr>
          <p:cNvPr id="7171" name="Content Placeholder 8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There are three types of loops:</a:t>
            </a:r>
          </a:p>
          <a:p>
            <a:pPr lvl="4" fontAlgn="auto">
              <a:spcAft>
                <a:spcPts val="0"/>
              </a:spcAft>
              <a:defRPr/>
            </a:pPr>
            <a:endParaRPr lang="tr-TR" dirty="0" smtClean="0"/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"</a:t>
            </a:r>
            <a:r>
              <a:rPr lang="en-US" dirty="0"/>
              <a:t>for" loop</a:t>
            </a:r>
          </a:p>
          <a:p>
            <a:pPr lvl="4" fontAlgn="auto">
              <a:spcAft>
                <a:spcPts val="0"/>
              </a:spcAft>
              <a:defRPr/>
            </a:pPr>
            <a:endParaRPr lang="tr-TR" dirty="0" smtClean="0"/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"</a:t>
            </a:r>
            <a:r>
              <a:rPr lang="en-US" dirty="0"/>
              <a:t>while" loop</a:t>
            </a:r>
          </a:p>
          <a:p>
            <a:pPr lvl="4" fontAlgn="auto">
              <a:spcAft>
                <a:spcPts val="0"/>
              </a:spcAft>
              <a:defRPr/>
            </a:pPr>
            <a:endParaRPr lang="tr-TR" dirty="0" smtClean="0"/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"</a:t>
            </a:r>
            <a:r>
              <a:rPr lang="en-US" dirty="0"/>
              <a:t>do-while" loop</a:t>
            </a:r>
          </a:p>
          <a:p>
            <a:pPr fontAlgn="auto">
              <a:spcAft>
                <a:spcPts val="0"/>
              </a:spcAft>
              <a:defRPr/>
            </a:pPr>
            <a:endParaRPr lang="tr-TR" dirty="0" smtClean="0"/>
          </a:p>
          <a:p>
            <a:pPr fontAlgn="auto">
              <a:spcAft>
                <a:spcPts val="0"/>
              </a:spcAft>
              <a:defRPr/>
            </a:pPr>
            <a:endParaRPr lang="tr-TR" dirty="0"/>
          </a:p>
          <a:p>
            <a:pPr fontAlgn="auto">
              <a:spcAft>
                <a:spcPts val="0"/>
              </a:spcAft>
              <a:defRPr/>
            </a:pPr>
            <a:r>
              <a:rPr lang="en-US" dirty="0"/>
              <a:t>You can implement anyone of these loops using the others (and possibly an additional if statement and duplication of some statements).</a:t>
            </a:r>
          </a:p>
          <a:p>
            <a:pPr lvl="4" fontAlgn="auto">
              <a:spcAft>
                <a:spcPts val="0"/>
              </a:spcAft>
              <a:defRPr/>
            </a:pPr>
            <a:endParaRPr lang="tr-TR" dirty="0" smtClean="0"/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The </a:t>
            </a:r>
            <a:r>
              <a:rPr lang="en-US" dirty="0"/>
              <a:t>idea is to use the type of loop that is best suited for your problem.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294986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For loop</a:t>
            </a:r>
            <a:r>
              <a:rPr lang="tr-TR" altLang="tr-TR" dirty="0"/>
              <a:t> syntax</a:t>
            </a:r>
            <a:endParaRPr lang="tr-TR" dirty="0"/>
          </a:p>
        </p:txBody>
      </p:sp>
      <p:sp>
        <p:nvSpPr>
          <p:cNvPr id="5" name="Tex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sz="2800" dirty="0"/>
              <a:t>Syntax:</a:t>
            </a:r>
          </a:p>
          <a:p>
            <a:pPr marL="914400" lvl="2" indent="0">
              <a:buNone/>
            </a:pP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for (</a:t>
            </a:r>
            <a:r>
              <a:rPr lang="en-US" altLang="tr-TR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initial_stat</a:t>
            </a:r>
            <a:r>
              <a:rPr lang="en-US" altLang="tr-TR" b="1" dirty="0">
                <a:solidFill>
                  <a:srgbClr val="008000"/>
                </a:solidFill>
                <a:latin typeface="Courier New" panose="02070309020205020404" pitchFamily="49" charset="0"/>
              </a:rPr>
              <a:t>(s</a:t>
            </a:r>
            <a:r>
              <a:rPr lang="en-US" altLang="tr-TR" b="1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)</a:t>
            </a:r>
            <a:r>
              <a:rPr lang="en-US" altLang="tr-TR" b="1" dirty="0" smtClean="0">
                <a:solidFill>
                  <a:srgbClr val="0000C8"/>
                </a:solidFill>
                <a:latin typeface="Courier New" panose="02070309020205020404" pitchFamily="49" charset="0"/>
              </a:rPr>
              <a:t>;</a:t>
            </a:r>
            <a:r>
              <a:rPr lang="tr-TR" altLang="tr-TR" b="1" dirty="0" smtClean="0">
                <a:solidFill>
                  <a:srgbClr val="0000C8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b="1" dirty="0" err="1" smtClean="0">
                <a:solidFill>
                  <a:srgbClr val="008000"/>
                </a:solidFill>
                <a:latin typeface="Courier New" panose="02070309020205020404" pitchFamily="49" charset="0"/>
              </a:rPr>
              <a:t>int_expr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;</a:t>
            </a:r>
            <a:r>
              <a:rPr lang="en-US" altLang="tr-TR" b="1" dirty="0">
                <a:solidFill>
                  <a:srgbClr val="008000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final_stat</a:t>
            </a:r>
            <a:r>
              <a:rPr lang="en-US" altLang="tr-TR" b="1" dirty="0">
                <a:solidFill>
                  <a:srgbClr val="008000"/>
                </a:solidFill>
                <a:latin typeface="Courier New" panose="02070309020205020404" pitchFamily="49" charset="0"/>
              </a:rPr>
              <a:t>(s)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)</a:t>
            </a:r>
          </a:p>
          <a:p>
            <a:pPr marL="914400" lvl="2" indent="0">
              <a:buNone/>
            </a:pP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b="1" dirty="0" err="1">
                <a:solidFill>
                  <a:srgbClr val="0000C8"/>
                </a:solidFill>
                <a:latin typeface="Courier New" panose="02070309020205020404" pitchFamily="49" charset="0"/>
              </a:rPr>
              <a:t>stat_block</a:t>
            </a:r>
            <a:endParaRPr lang="en-US" altLang="tr-TR" b="1" dirty="0">
              <a:solidFill>
                <a:srgbClr val="0000C8"/>
              </a:solidFill>
              <a:latin typeface="Courier New" panose="02070309020205020404" pitchFamily="49" charset="0"/>
            </a:endParaRPr>
          </a:p>
          <a:p>
            <a:endParaRPr lang="en-US" altLang="tr-TR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2296" y="2202876"/>
            <a:ext cx="5763429" cy="4115374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075512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/>
              <a:t>For loop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Note that initial and final statements as well as the integer expression are optional according to the syntax</a:t>
            </a:r>
            <a:r>
              <a:rPr lang="en-US" dirty="0" smtClean="0"/>
              <a:t>.</a:t>
            </a:r>
            <a:endParaRPr lang="tr-TR" dirty="0" smtClean="0"/>
          </a:p>
          <a:p>
            <a:pPr lvl="4" fontAlgn="auto">
              <a:spcAft>
                <a:spcPts val="0"/>
              </a:spcAft>
              <a:defRPr/>
            </a:pPr>
            <a:endParaRPr lang="en-US" dirty="0"/>
          </a:p>
          <a:p>
            <a:pPr lvl="1" fontAlgn="auto">
              <a:spcAft>
                <a:spcPts val="0"/>
              </a:spcAft>
              <a:defRPr/>
            </a:pPr>
            <a:r>
              <a:rPr lang="en-US" dirty="0"/>
              <a:t>If </a:t>
            </a:r>
            <a:r>
              <a:rPr lang="en-US" b="1" dirty="0" err="1">
                <a:solidFill>
                  <a:srgbClr val="0000C8"/>
                </a:solidFill>
                <a:latin typeface="Courier New" pitchFamily="49" charset="0"/>
                <a:cs typeface="Courier New" pitchFamily="49" charset="0"/>
              </a:rPr>
              <a:t>initial_stat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  <a:cs typeface="Courier New" pitchFamily="49" charset="0"/>
              </a:rPr>
              <a:t>(s)</a:t>
            </a:r>
            <a:r>
              <a:rPr lang="en-US" dirty="0"/>
              <a:t> is missing, start directly with the comparison.</a:t>
            </a:r>
          </a:p>
          <a:p>
            <a:pPr lvl="5" fontAlgn="auto">
              <a:spcAft>
                <a:spcPts val="0"/>
              </a:spcAft>
              <a:defRPr/>
            </a:pPr>
            <a:endParaRPr lang="tr-TR" dirty="0" smtClean="0"/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If </a:t>
            </a:r>
            <a:r>
              <a:rPr lang="en-US" b="1" dirty="0" err="1">
                <a:solidFill>
                  <a:srgbClr val="0000C8"/>
                </a:solidFill>
                <a:latin typeface="Courier New" pitchFamily="49" charset="0"/>
                <a:cs typeface="Courier New" pitchFamily="49" charset="0"/>
              </a:rPr>
              <a:t>final_stat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  <a:cs typeface="Courier New" pitchFamily="49" charset="0"/>
              </a:rPr>
              <a:t>(s)</a:t>
            </a:r>
            <a:r>
              <a:rPr lang="en-US" dirty="0"/>
              <a:t> is missing, go directly to the comparison after the execution of the statement block.</a:t>
            </a:r>
          </a:p>
          <a:p>
            <a:pPr lvl="4" fontAlgn="auto">
              <a:spcAft>
                <a:spcPts val="0"/>
              </a:spcAft>
              <a:defRPr/>
            </a:pPr>
            <a:endParaRPr lang="tr-TR" dirty="0" smtClean="0"/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If </a:t>
            </a:r>
            <a:r>
              <a:rPr lang="en-US" b="1" dirty="0" err="1">
                <a:solidFill>
                  <a:srgbClr val="0000C8"/>
                </a:solidFill>
                <a:latin typeface="Courier New" pitchFamily="49" charset="0"/>
                <a:cs typeface="Courier New" pitchFamily="49" charset="0"/>
              </a:rPr>
              <a:t>int_expr</a:t>
            </a:r>
            <a:r>
              <a:rPr lang="en-US" dirty="0"/>
              <a:t> is missing, the comparison is always true.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dirty="0"/>
              <a:t>Make use of the 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  <a:cs typeface="Courier New" pitchFamily="49" charset="0"/>
              </a:rPr>
              <a:t>break</a:t>
            </a:r>
            <a:r>
              <a:rPr lang="en-US" dirty="0"/>
              <a:t> statement</a:t>
            </a:r>
            <a:r>
              <a:rPr lang="tr-TR" dirty="0"/>
              <a:t>.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525004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For loop – Example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Print all numbers between 1-10</a:t>
            </a:r>
          </a:p>
          <a:p>
            <a:pPr lvl="4"/>
            <a:endParaRPr lang="tr-TR" sz="10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dirty="0" err="1">
                <a:solidFill>
                  <a:srgbClr val="2913AD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2913AD"/>
                </a:solidFill>
                <a:latin typeface="Consolas" panose="020B0609020204030204" pitchFamily="49" charset="0"/>
              </a:rPr>
              <a:t> main(void)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913AD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913AD"/>
                </a:solidFill>
                <a:latin typeface="Consolas" panose="020B0609020204030204" pitchFamily="49" charset="0"/>
              </a:rPr>
              <a:t>   </a:t>
            </a:r>
            <a:r>
              <a:rPr lang="en-US" dirty="0" smtClean="0">
                <a:solidFill>
                  <a:srgbClr val="2913AD"/>
                </a:solidFill>
                <a:latin typeface="Consolas" panose="020B0609020204030204" pitchFamily="49" charset="0"/>
              </a:rPr>
              <a:t>unsigned </a:t>
            </a:r>
            <a:r>
              <a:rPr lang="en-US" dirty="0" err="1">
                <a:solidFill>
                  <a:srgbClr val="2913AD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2913AD"/>
                </a:solidFill>
                <a:latin typeface="Consolas" panose="020B0609020204030204" pitchFamily="49" charset="0"/>
              </a:rPr>
              <a:t> counter;</a:t>
            </a:r>
            <a:endParaRPr lang="tr-TR" dirty="0">
              <a:solidFill>
                <a:srgbClr val="2913AD"/>
              </a:solidFill>
              <a:latin typeface="Consolas" panose="020B0609020204030204" pitchFamily="49" charset="0"/>
            </a:endParaRPr>
          </a:p>
          <a:p>
            <a:pPr lvl="4">
              <a:lnSpc>
                <a:spcPct val="120000"/>
              </a:lnSpc>
            </a:pPr>
            <a:endParaRPr lang="en-US" sz="600" dirty="0">
              <a:solidFill>
                <a:srgbClr val="2913AD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913AD"/>
                </a:solidFill>
                <a:latin typeface="Consolas" panose="020B0609020204030204" pitchFamily="49" charset="0"/>
              </a:rPr>
              <a:t>   // initialization, iteration condition, and increment</a:t>
            </a:r>
            <a:endParaRPr lang="tr-TR" dirty="0">
              <a:solidFill>
                <a:srgbClr val="2913AD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913AD"/>
                </a:solidFill>
                <a:latin typeface="Consolas" panose="020B0609020204030204" pitchFamily="49" charset="0"/>
              </a:rPr>
              <a:t>   //  are all included in the for statement header.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913AD"/>
                </a:solidFill>
                <a:latin typeface="Consolas" panose="020B0609020204030204" pitchFamily="49" charset="0"/>
              </a:rPr>
              <a:t>   for </a:t>
            </a:r>
            <a:r>
              <a:rPr lang="en-US" dirty="0" smtClean="0">
                <a:solidFill>
                  <a:srgbClr val="2913AD"/>
                </a:solidFill>
                <a:latin typeface="Consolas" panose="020B0609020204030204" pitchFamily="49" charset="0"/>
              </a:rPr>
              <a:t>(counter </a:t>
            </a:r>
            <a:r>
              <a:rPr lang="en-US" dirty="0">
                <a:solidFill>
                  <a:srgbClr val="2913AD"/>
                </a:solidFill>
                <a:latin typeface="Consolas" panose="020B0609020204030204" pitchFamily="49" charset="0"/>
              </a:rPr>
              <a:t>= 1; counter &lt;= 10; ++counter)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913AD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2913AD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2913AD"/>
                </a:solidFill>
                <a:latin typeface="Consolas" panose="020B0609020204030204" pitchFamily="49" charset="0"/>
              </a:rPr>
              <a:t>("%u\n", counter);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913AD"/>
                </a:solidFill>
                <a:latin typeface="Consolas" panose="020B0609020204030204" pitchFamily="49" charset="0"/>
              </a:rPr>
              <a:t>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913AD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dirty="0">
              <a:solidFill>
                <a:srgbClr val="2913AD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806892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For loop – Example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Find the sum of all even numbers between 2-100</a:t>
            </a:r>
          </a:p>
          <a:p>
            <a:pPr lvl="4"/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solidFill>
                  <a:srgbClr val="2913AD"/>
                </a:solidFill>
                <a:latin typeface="Consolas" panose="020B0609020204030204" pitchFamily="49" charset="0"/>
              </a:rPr>
              <a:t>int main(void)</a:t>
            </a:r>
          </a:p>
          <a:p>
            <a:pPr marL="0" indent="0">
              <a:buNone/>
            </a:pPr>
            <a:r>
              <a:rPr lang="tr-TR" dirty="0">
                <a:solidFill>
                  <a:srgbClr val="2913AD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tr-TR" dirty="0">
                <a:solidFill>
                  <a:srgbClr val="2913AD"/>
                </a:solidFill>
                <a:latin typeface="Consolas" panose="020B0609020204030204" pitchFamily="49" charset="0"/>
              </a:rPr>
              <a:t>   unsigned int sum = 0, number; // initialize</a:t>
            </a:r>
          </a:p>
          <a:p>
            <a:pPr marL="0" indent="0">
              <a:buNone/>
            </a:pPr>
            <a:endParaRPr lang="tr-TR" dirty="0">
              <a:solidFill>
                <a:srgbClr val="2913AD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solidFill>
                  <a:srgbClr val="2913AD"/>
                </a:solidFill>
                <a:latin typeface="Consolas" panose="020B0609020204030204" pitchFamily="49" charset="0"/>
              </a:rPr>
              <a:t>   for (number = 2; number &lt;= 100; number += 2) {</a:t>
            </a:r>
          </a:p>
          <a:p>
            <a:pPr marL="0" indent="0">
              <a:buNone/>
            </a:pPr>
            <a:r>
              <a:rPr lang="tr-TR" dirty="0">
                <a:solidFill>
                  <a:srgbClr val="2913AD"/>
                </a:solidFill>
                <a:latin typeface="Consolas" panose="020B0609020204030204" pitchFamily="49" charset="0"/>
              </a:rPr>
              <a:t>      sum += number; // add number to sum</a:t>
            </a:r>
          </a:p>
          <a:p>
            <a:pPr marL="0" indent="0">
              <a:buNone/>
            </a:pPr>
            <a:r>
              <a:rPr lang="tr-TR" dirty="0">
                <a:solidFill>
                  <a:srgbClr val="2913AD"/>
                </a:solidFill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endParaRPr lang="tr-TR" dirty="0">
              <a:solidFill>
                <a:srgbClr val="2913AD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solidFill>
                  <a:srgbClr val="2913AD"/>
                </a:solidFill>
                <a:latin typeface="Consolas" panose="020B0609020204030204" pitchFamily="49" charset="0"/>
              </a:rPr>
              <a:t>   printf("Sum is %u\n", sum);</a:t>
            </a:r>
          </a:p>
          <a:p>
            <a:pPr marL="0" indent="0">
              <a:buNone/>
            </a:pPr>
            <a:r>
              <a:rPr lang="tr-TR" dirty="0">
                <a:solidFill>
                  <a:srgbClr val="2913AD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293170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For loop – Example III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Find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tr-TR" b="1" baseline="30000" dirty="0">
                <a:solidFill>
                  <a:srgbClr val="0000C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tr-TR" dirty="0"/>
              <a:t>. (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tr-TR" dirty="0"/>
              <a:t> and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tr-TR" dirty="0"/>
              <a:t> integers)</a:t>
            </a:r>
          </a:p>
          <a:p>
            <a:endParaRPr lang="tr-TR" dirty="0"/>
          </a:p>
        </p:txBody>
      </p:sp>
      <p:sp>
        <p:nvSpPr>
          <p:cNvPr id="5" name="Rectangle 4"/>
          <p:cNvSpPr/>
          <p:nvPr/>
        </p:nvSpPr>
        <p:spPr>
          <a:xfrm>
            <a:off x="840376" y="2227897"/>
            <a:ext cx="677526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tr-TR" sz="2400" dirty="0" err="1">
                <a:solidFill>
                  <a:srgbClr val="2913AD"/>
                </a:solidFill>
                <a:latin typeface="Consolas" panose="020B0609020204030204" pitchFamily="49" charset="0"/>
              </a:rPr>
              <a:t>int</a:t>
            </a:r>
            <a:r>
              <a:rPr lang="en-US" altLang="tr-TR" sz="2400" dirty="0">
                <a:solidFill>
                  <a:srgbClr val="2913AD"/>
                </a:solidFill>
                <a:latin typeface="Consolas" panose="020B0609020204030204" pitchFamily="49" charset="0"/>
              </a:rPr>
              <a:t> a, b, result=1, </a:t>
            </a:r>
            <a:r>
              <a:rPr lang="en-US" altLang="tr-TR" sz="2400" dirty="0" err="1">
                <a:solidFill>
                  <a:srgbClr val="2913AD"/>
                </a:solidFill>
                <a:latin typeface="Consolas" panose="020B0609020204030204" pitchFamily="49" charset="0"/>
              </a:rPr>
              <a:t>i</a:t>
            </a:r>
            <a:r>
              <a:rPr lang="en-US" altLang="tr-TR" sz="2400" dirty="0">
                <a:solidFill>
                  <a:srgbClr val="2913AD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endParaRPr lang="en-US" altLang="tr-TR" sz="2400" dirty="0">
              <a:solidFill>
                <a:srgbClr val="2913AD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tr-TR" sz="2400" dirty="0" err="1">
                <a:solidFill>
                  <a:srgbClr val="2913AD"/>
                </a:solidFill>
                <a:latin typeface="Consolas" panose="020B0609020204030204" pitchFamily="49" charset="0"/>
              </a:rPr>
              <a:t>scanf</a:t>
            </a:r>
            <a:r>
              <a:rPr lang="en-US" altLang="tr-TR" sz="2400" dirty="0">
                <a:solidFill>
                  <a:srgbClr val="2913AD"/>
                </a:solidFill>
                <a:latin typeface="Consolas" panose="020B0609020204030204" pitchFamily="49" charset="0"/>
              </a:rPr>
              <a:t>("%d %d", &amp;a, &amp;b);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tr-TR" sz="2400" dirty="0">
                <a:solidFill>
                  <a:srgbClr val="2913AD"/>
                </a:solidFill>
                <a:latin typeface="Consolas" panose="020B0609020204030204" pitchFamily="49" charset="0"/>
              </a:rPr>
              <a:t>for (</a:t>
            </a:r>
            <a:r>
              <a:rPr lang="en-US" altLang="tr-TR" sz="2400" dirty="0" err="1">
                <a:solidFill>
                  <a:srgbClr val="2913AD"/>
                </a:solidFill>
                <a:latin typeface="Consolas" panose="020B0609020204030204" pitchFamily="49" charset="0"/>
              </a:rPr>
              <a:t>i</a:t>
            </a:r>
            <a:r>
              <a:rPr lang="en-US" altLang="tr-TR" sz="2400" dirty="0">
                <a:solidFill>
                  <a:srgbClr val="2913AD"/>
                </a:solidFill>
                <a:latin typeface="Consolas" panose="020B0609020204030204" pitchFamily="49" charset="0"/>
              </a:rPr>
              <a:t>=0; </a:t>
            </a:r>
            <a:r>
              <a:rPr lang="en-US" altLang="tr-TR" sz="2400" dirty="0" err="1">
                <a:solidFill>
                  <a:srgbClr val="2913AD"/>
                </a:solidFill>
                <a:latin typeface="Consolas" panose="020B0609020204030204" pitchFamily="49" charset="0"/>
              </a:rPr>
              <a:t>i</a:t>
            </a:r>
            <a:r>
              <a:rPr lang="en-US" altLang="tr-TR" sz="2400" dirty="0">
                <a:solidFill>
                  <a:srgbClr val="2913AD"/>
                </a:solidFill>
                <a:latin typeface="Consolas" panose="020B0609020204030204" pitchFamily="49" charset="0"/>
              </a:rPr>
              <a:t>&lt;b; </a:t>
            </a:r>
            <a:r>
              <a:rPr lang="en-US" altLang="tr-TR" sz="2400" dirty="0" err="1">
                <a:solidFill>
                  <a:srgbClr val="2913AD"/>
                </a:solidFill>
                <a:latin typeface="Consolas" panose="020B0609020204030204" pitchFamily="49" charset="0"/>
              </a:rPr>
              <a:t>i</a:t>
            </a:r>
            <a:r>
              <a:rPr lang="en-US" altLang="tr-TR" sz="2400" dirty="0">
                <a:solidFill>
                  <a:srgbClr val="2913AD"/>
                </a:solidFill>
                <a:latin typeface="Consolas" panose="020B0609020204030204" pitchFamily="49" charset="0"/>
              </a:rPr>
              <a:t>++)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tr-TR" altLang="tr-TR" sz="2400" dirty="0">
                <a:solidFill>
                  <a:srgbClr val="2913AD"/>
                </a:solidFill>
                <a:latin typeface="Consolas" panose="020B0609020204030204" pitchFamily="49" charset="0"/>
              </a:rPr>
              <a:t>	</a:t>
            </a:r>
            <a:r>
              <a:rPr lang="en-US" altLang="tr-TR" sz="2400" dirty="0">
                <a:solidFill>
                  <a:srgbClr val="2913AD"/>
                </a:solidFill>
                <a:latin typeface="Consolas" panose="020B0609020204030204" pitchFamily="49" charset="0"/>
              </a:rPr>
              <a:t>result *= a;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85229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While loop</a:t>
            </a:r>
            <a:r>
              <a:rPr lang="tr-TR" altLang="tr-TR" dirty="0"/>
              <a:t> syntax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2800" dirty="0"/>
              <a:t>Use while loop if the statement block should be executed as long as a condition holds</a:t>
            </a:r>
            <a:r>
              <a:rPr lang="en-US" sz="2800" dirty="0" smtClean="0"/>
              <a:t>.</a:t>
            </a:r>
            <a:endParaRPr lang="tr-TR" sz="2800" dirty="0" smtClean="0"/>
          </a:p>
          <a:p>
            <a:pPr lvl="4" fontAlgn="auto">
              <a:spcAft>
                <a:spcPts val="0"/>
              </a:spcAft>
              <a:defRPr/>
            </a:pPr>
            <a:endParaRPr lang="en-US" sz="2000" dirty="0"/>
          </a:p>
          <a:p>
            <a:pPr fontAlgn="auto">
              <a:spcAft>
                <a:spcPts val="0"/>
              </a:spcAft>
              <a:defRPr/>
            </a:pPr>
            <a:r>
              <a:rPr lang="en-US" sz="2800" dirty="0"/>
              <a:t>Syntax:</a:t>
            </a:r>
          </a:p>
          <a:p>
            <a:pPr marL="914400" lvl="2" indent="0" fontAlgn="auto">
              <a:spcAft>
                <a:spcPts val="0"/>
              </a:spcAft>
              <a:buNone/>
              <a:defRPr/>
            </a:pP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while (</a:t>
            </a:r>
            <a:r>
              <a:rPr lang="en-US" b="1" dirty="0" err="1">
                <a:solidFill>
                  <a:srgbClr val="0000C8"/>
                </a:solidFill>
                <a:latin typeface="Courier New" pitchFamily="49" charset="0"/>
              </a:rPr>
              <a:t>int_expr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)</a:t>
            </a:r>
          </a:p>
          <a:p>
            <a:pPr marL="914400" lvl="2" indent="0" fontAlgn="auto">
              <a:spcAft>
                <a:spcPts val="0"/>
              </a:spcAft>
              <a:buNone/>
              <a:defRPr/>
            </a:pP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   </a:t>
            </a:r>
            <a:r>
              <a:rPr lang="en-US" b="1" dirty="0" err="1">
                <a:solidFill>
                  <a:srgbClr val="0000C8"/>
                </a:solidFill>
                <a:latin typeface="Courier New" pitchFamily="49" charset="0"/>
              </a:rPr>
              <a:t>stat_block</a:t>
            </a:r>
            <a:endParaRPr lang="en-US" b="1" dirty="0">
              <a:solidFill>
                <a:srgbClr val="0000C8"/>
              </a:solidFill>
              <a:latin typeface="Courier New" pitchFamily="49" charset="0"/>
            </a:endParaRPr>
          </a:p>
          <a:p>
            <a:endParaRPr lang="tr-TR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312" y="2706903"/>
            <a:ext cx="4599773" cy="341995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198634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While loop – Example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Print all numbers between 1-10</a:t>
            </a:r>
          </a:p>
          <a:p>
            <a:pPr marL="0" indent="0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2913AD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2913AD"/>
                </a:solidFill>
                <a:latin typeface="Consolas" panose="020B0609020204030204" pitchFamily="49" charset="0"/>
              </a:rPr>
              <a:t> main(void)</a:t>
            </a:r>
          </a:p>
          <a:p>
            <a:pPr marL="0" indent="0">
              <a:buNone/>
            </a:pPr>
            <a:r>
              <a:rPr lang="en-US" dirty="0">
                <a:solidFill>
                  <a:srgbClr val="2913AD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rgbClr val="2913AD"/>
                </a:solidFill>
                <a:latin typeface="Consolas" panose="020B0609020204030204" pitchFamily="49" charset="0"/>
              </a:rPr>
              <a:t>   unsigned </a:t>
            </a:r>
            <a:r>
              <a:rPr lang="en-US" dirty="0" err="1">
                <a:solidFill>
                  <a:srgbClr val="2913AD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2913AD"/>
                </a:solidFill>
                <a:latin typeface="Consolas" panose="020B0609020204030204" pitchFamily="49" charset="0"/>
              </a:rPr>
              <a:t> counter = 1; // initialization</a:t>
            </a:r>
          </a:p>
          <a:p>
            <a:pPr marL="0" indent="0">
              <a:buNone/>
            </a:pPr>
            <a:r>
              <a:rPr lang="en-US" dirty="0">
                <a:solidFill>
                  <a:srgbClr val="2913AD"/>
                </a:solidFill>
                <a:latin typeface="Consolas" panose="020B0609020204030204" pitchFamily="49" charset="0"/>
              </a:rPr>
              <a:t>   </a:t>
            </a:r>
          </a:p>
          <a:p>
            <a:pPr marL="0" indent="0">
              <a:buNone/>
            </a:pPr>
            <a:r>
              <a:rPr lang="en-US" dirty="0">
                <a:solidFill>
                  <a:srgbClr val="2913AD"/>
                </a:solidFill>
                <a:latin typeface="Consolas" panose="020B0609020204030204" pitchFamily="49" charset="0"/>
              </a:rPr>
              <a:t>   while (counter &lt;= 10) { // iteration condition</a:t>
            </a:r>
          </a:p>
          <a:p>
            <a:pPr marL="0" indent="0">
              <a:buNone/>
            </a:pPr>
            <a:r>
              <a:rPr lang="en-US" dirty="0">
                <a:solidFill>
                  <a:srgbClr val="2913AD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2913AD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2913AD"/>
                </a:solidFill>
                <a:latin typeface="Consolas" panose="020B0609020204030204" pitchFamily="49" charset="0"/>
              </a:rPr>
              <a:t> ("%u\n", counter); </a:t>
            </a:r>
          </a:p>
          <a:p>
            <a:pPr marL="0" indent="0">
              <a:buNone/>
            </a:pPr>
            <a:r>
              <a:rPr lang="en-US" dirty="0">
                <a:solidFill>
                  <a:srgbClr val="2913AD"/>
                </a:solidFill>
                <a:latin typeface="Consolas" panose="020B0609020204030204" pitchFamily="49" charset="0"/>
              </a:rPr>
              <a:t>      ++counter; // increment</a:t>
            </a:r>
          </a:p>
          <a:p>
            <a:pPr marL="0" indent="0">
              <a:buNone/>
            </a:pPr>
            <a:r>
              <a:rPr lang="en-US" dirty="0">
                <a:solidFill>
                  <a:srgbClr val="2913AD"/>
                </a:solidFill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r>
              <a:rPr lang="en-US" dirty="0">
                <a:solidFill>
                  <a:srgbClr val="2913AD"/>
                </a:solidFill>
                <a:latin typeface="Consolas" panose="020B0609020204030204" pitchFamily="49" charset="0"/>
              </a:rPr>
              <a:t>} </a:t>
            </a:r>
            <a:endParaRPr lang="tr-TR" dirty="0">
              <a:solidFill>
                <a:srgbClr val="2913AD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23250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While loop – Example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Find the average of a sequence of integers terminated with a negative value.</a:t>
            </a:r>
          </a:p>
          <a:p>
            <a:endParaRPr lang="tr-TR" dirty="0"/>
          </a:p>
        </p:txBody>
      </p:sp>
      <p:sp>
        <p:nvSpPr>
          <p:cNvPr id="5" name="Rectangle 4"/>
          <p:cNvSpPr/>
          <p:nvPr/>
        </p:nvSpPr>
        <p:spPr>
          <a:xfrm>
            <a:off x="866503" y="1617920"/>
            <a:ext cx="6096000" cy="4745915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sz="2400" dirty="0" err="1">
                <a:solidFill>
                  <a:srgbClr val="2913AD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2913AD"/>
                </a:solidFill>
                <a:latin typeface="Consolas" panose="020B0609020204030204" pitchFamily="49" charset="0"/>
              </a:rPr>
              <a:t> sum=0, n, count=0;</a:t>
            </a:r>
          </a:p>
          <a:p>
            <a:pPr fontAlgn="auto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sz="2400" dirty="0">
                <a:solidFill>
                  <a:srgbClr val="2913AD"/>
                </a:solidFill>
                <a:latin typeface="Consolas" panose="020B0609020204030204" pitchFamily="49" charset="0"/>
              </a:rPr>
              <a:t>float </a:t>
            </a:r>
            <a:r>
              <a:rPr lang="en-US" sz="2400" dirty="0" err="1">
                <a:solidFill>
                  <a:srgbClr val="2913AD"/>
                </a:solidFill>
                <a:latin typeface="Consolas" panose="020B0609020204030204" pitchFamily="49" charset="0"/>
              </a:rPr>
              <a:t>avg</a:t>
            </a:r>
            <a:r>
              <a:rPr lang="en-US" sz="2400" dirty="0">
                <a:solidFill>
                  <a:srgbClr val="2913AD"/>
                </a:solidFill>
                <a:latin typeface="Consolas" panose="020B0609020204030204" pitchFamily="49" charset="0"/>
              </a:rPr>
              <a:t>;</a:t>
            </a:r>
          </a:p>
          <a:p>
            <a:pPr fontAlgn="auto">
              <a:lnSpc>
                <a:spcPct val="120000"/>
              </a:lnSpc>
              <a:spcAft>
                <a:spcPts val="0"/>
              </a:spcAft>
              <a:defRPr/>
            </a:pPr>
            <a:endParaRPr lang="en-US" sz="1000" dirty="0">
              <a:solidFill>
                <a:srgbClr val="2913AD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sz="2400" dirty="0" err="1">
                <a:solidFill>
                  <a:srgbClr val="2913AD"/>
                </a:solidFill>
                <a:latin typeface="Consolas" panose="020B0609020204030204" pitchFamily="49" charset="0"/>
              </a:rPr>
              <a:t>scanf</a:t>
            </a:r>
            <a:r>
              <a:rPr lang="en-US" sz="2400" dirty="0">
                <a:solidFill>
                  <a:srgbClr val="2913AD"/>
                </a:solidFill>
                <a:latin typeface="Consolas" panose="020B0609020204030204" pitchFamily="49" charset="0"/>
              </a:rPr>
              <a:t>("%d", &amp;n);</a:t>
            </a:r>
          </a:p>
          <a:p>
            <a:pPr fontAlgn="auto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sz="2400" dirty="0">
                <a:solidFill>
                  <a:srgbClr val="2913AD"/>
                </a:solidFill>
                <a:latin typeface="Consolas" panose="020B0609020204030204" pitchFamily="49" charset="0"/>
              </a:rPr>
              <a:t>while (n&gt;=0)</a:t>
            </a:r>
          </a:p>
          <a:p>
            <a:pPr fontAlgn="auto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sz="2400" dirty="0">
                <a:solidFill>
                  <a:srgbClr val="2913AD"/>
                </a:solidFill>
                <a:latin typeface="Consolas" panose="020B0609020204030204" pitchFamily="49" charset="0"/>
              </a:rPr>
              <a:t>{</a:t>
            </a:r>
          </a:p>
          <a:p>
            <a:pPr fontAlgn="auto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tr-TR" sz="2400" dirty="0">
                <a:solidFill>
                  <a:srgbClr val="2913AD"/>
                </a:solidFill>
                <a:latin typeface="Consolas" panose="020B0609020204030204" pitchFamily="49" charset="0"/>
              </a:rPr>
              <a:t>	</a:t>
            </a:r>
            <a:r>
              <a:rPr lang="en-US" sz="2400" dirty="0">
                <a:solidFill>
                  <a:srgbClr val="2913AD"/>
                </a:solidFill>
                <a:latin typeface="Consolas" panose="020B0609020204030204" pitchFamily="49" charset="0"/>
              </a:rPr>
              <a:t>sum += n;</a:t>
            </a:r>
          </a:p>
          <a:p>
            <a:pPr fontAlgn="auto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tr-TR" sz="2400" dirty="0">
                <a:solidFill>
                  <a:srgbClr val="2913AD"/>
                </a:solidFill>
                <a:latin typeface="Consolas" panose="020B0609020204030204" pitchFamily="49" charset="0"/>
              </a:rPr>
              <a:t>	</a:t>
            </a:r>
            <a:r>
              <a:rPr lang="en-US" sz="2400" dirty="0">
                <a:solidFill>
                  <a:srgbClr val="2913AD"/>
                </a:solidFill>
                <a:latin typeface="Consolas" panose="020B0609020204030204" pitchFamily="49" charset="0"/>
              </a:rPr>
              <a:t>count++;   </a:t>
            </a:r>
          </a:p>
          <a:p>
            <a:pPr fontAlgn="auto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tr-TR" sz="2400" dirty="0">
                <a:solidFill>
                  <a:srgbClr val="2913AD"/>
                </a:solidFill>
                <a:latin typeface="Consolas" panose="020B0609020204030204" pitchFamily="49" charset="0"/>
              </a:rPr>
              <a:t>	</a:t>
            </a:r>
            <a:r>
              <a:rPr lang="en-US" sz="2400" dirty="0" err="1">
                <a:solidFill>
                  <a:srgbClr val="2913AD"/>
                </a:solidFill>
                <a:latin typeface="Consolas" panose="020B0609020204030204" pitchFamily="49" charset="0"/>
              </a:rPr>
              <a:t>scanf</a:t>
            </a:r>
            <a:r>
              <a:rPr lang="en-US" sz="2400" dirty="0">
                <a:solidFill>
                  <a:srgbClr val="2913AD"/>
                </a:solidFill>
                <a:latin typeface="Consolas" panose="020B0609020204030204" pitchFamily="49" charset="0"/>
              </a:rPr>
              <a:t>("%d", &amp;n);</a:t>
            </a:r>
          </a:p>
          <a:p>
            <a:pPr fontAlgn="auto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sz="2400" dirty="0">
                <a:solidFill>
                  <a:srgbClr val="2913AD"/>
                </a:solidFill>
                <a:latin typeface="Consolas" panose="020B0609020204030204" pitchFamily="49" charset="0"/>
              </a:rPr>
              <a:t>}</a:t>
            </a:r>
          </a:p>
          <a:p>
            <a:pPr fontAlgn="auto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sz="2400" dirty="0" err="1">
                <a:solidFill>
                  <a:srgbClr val="2913AD"/>
                </a:solidFill>
                <a:latin typeface="Consolas" panose="020B0609020204030204" pitchFamily="49" charset="0"/>
              </a:rPr>
              <a:t>avg</a:t>
            </a:r>
            <a:r>
              <a:rPr lang="en-US" sz="2400" dirty="0">
                <a:solidFill>
                  <a:srgbClr val="2913AD"/>
                </a:solidFill>
                <a:latin typeface="Consolas" panose="020B0609020204030204" pitchFamily="49" charset="0"/>
              </a:rPr>
              <a:t> = (count)?(float)sum/count:0;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521430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Do-while loop</a:t>
            </a:r>
            <a:r>
              <a:rPr lang="tr-TR" altLang="tr-TR" dirty="0"/>
              <a:t> syntax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2800" dirty="0"/>
              <a:t>Similar to while loop.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sz="2400" dirty="0"/>
              <a:t>Only difference: Condition is checked </a:t>
            </a:r>
            <a:r>
              <a:rPr lang="en-US" sz="2400" u="sng" dirty="0"/>
              <a:t>after</a:t>
            </a:r>
            <a:r>
              <a:rPr lang="en-US" sz="2400" dirty="0"/>
              <a:t> the execution of every iteration</a:t>
            </a:r>
            <a:r>
              <a:rPr lang="en-US" sz="2400" dirty="0" smtClean="0"/>
              <a:t>.</a:t>
            </a:r>
            <a:endParaRPr lang="tr-TR" sz="2400" dirty="0" smtClean="0"/>
          </a:p>
          <a:p>
            <a:pPr lvl="4" fontAlgn="auto">
              <a:spcAft>
                <a:spcPts val="0"/>
              </a:spcAft>
              <a:defRPr/>
            </a:pPr>
            <a:endParaRPr lang="en-US" sz="1800" dirty="0"/>
          </a:p>
          <a:p>
            <a:pPr fontAlgn="auto">
              <a:spcAft>
                <a:spcPts val="0"/>
              </a:spcAft>
              <a:defRPr/>
            </a:pPr>
            <a:r>
              <a:rPr lang="en-US" sz="2800" dirty="0"/>
              <a:t>Syntax:</a:t>
            </a:r>
          </a:p>
          <a:p>
            <a:pPr marL="914400" lvl="2" indent="0" fontAlgn="auto">
              <a:spcAft>
                <a:spcPts val="0"/>
              </a:spcAft>
              <a:buNone/>
              <a:defRPr/>
            </a:pP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do</a:t>
            </a:r>
          </a:p>
          <a:p>
            <a:pPr marL="914400" lvl="2" indent="0" fontAlgn="auto">
              <a:spcAft>
                <a:spcPts val="0"/>
              </a:spcAft>
              <a:buNone/>
              <a:defRPr/>
            </a:pP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{</a:t>
            </a:r>
          </a:p>
          <a:p>
            <a:pPr marL="914400" lvl="2" indent="0" fontAlgn="auto">
              <a:spcAft>
                <a:spcPts val="0"/>
              </a:spcAft>
              <a:buNone/>
              <a:defRPr/>
            </a:pP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   stat(s)</a:t>
            </a:r>
          </a:p>
          <a:p>
            <a:pPr marL="914400" lvl="2" indent="0" fontAlgn="auto">
              <a:spcAft>
                <a:spcPts val="0"/>
              </a:spcAft>
              <a:buNone/>
              <a:defRPr/>
            </a:pP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}</a:t>
            </a:r>
          </a:p>
          <a:p>
            <a:pPr marL="914400" lvl="2" indent="0" fontAlgn="auto">
              <a:spcAft>
                <a:spcPts val="0"/>
              </a:spcAft>
              <a:buNone/>
              <a:defRPr/>
            </a:pP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while (</a:t>
            </a:r>
            <a:r>
              <a:rPr lang="en-US" b="1" dirty="0" err="1">
                <a:solidFill>
                  <a:srgbClr val="0000C8"/>
                </a:solidFill>
                <a:latin typeface="Courier New" pitchFamily="49" charset="0"/>
              </a:rPr>
              <a:t>int_expr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);</a:t>
            </a:r>
          </a:p>
          <a:p>
            <a:endParaRPr lang="tr-TR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436" y="2489189"/>
            <a:ext cx="3296110" cy="341995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981073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Do-while loop – Example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Print all numbers between 1-10</a:t>
            </a:r>
          </a:p>
          <a:p>
            <a:pPr marL="0" indent="0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2913AD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2913AD"/>
                </a:solidFill>
                <a:latin typeface="Consolas" panose="020B0609020204030204" pitchFamily="49" charset="0"/>
              </a:rPr>
              <a:t> main(void)</a:t>
            </a:r>
          </a:p>
          <a:p>
            <a:pPr marL="0" indent="0">
              <a:buNone/>
            </a:pPr>
            <a:r>
              <a:rPr lang="en-US" dirty="0">
                <a:solidFill>
                  <a:srgbClr val="2913AD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rgbClr val="2913AD"/>
                </a:solidFill>
                <a:latin typeface="Consolas" panose="020B0609020204030204" pitchFamily="49" charset="0"/>
              </a:rPr>
              <a:t>   unsigned </a:t>
            </a:r>
            <a:r>
              <a:rPr lang="en-US" dirty="0" err="1">
                <a:solidFill>
                  <a:srgbClr val="2913AD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2913AD"/>
                </a:solidFill>
                <a:latin typeface="Consolas" panose="020B0609020204030204" pitchFamily="49" charset="0"/>
              </a:rPr>
              <a:t> counter = 1;</a:t>
            </a:r>
          </a:p>
          <a:p>
            <a:pPr marL="0" indent="0">
              <a:buNone/>
            </a:pPr>
            <a:endParaRPr lang="en-US" dirty="0">
              <a:solidFill>
                <a:srgbClr val="2913AD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2913AD"/>
                </a:solidFill>
                <a:latin typeface="Consolas" panose="020B0609020204030204" pitchFamily="49" charset="0"/>
              </a:rPr>
              <a:t>   do {</a:t>
            </a:r>
          </a:p>
          <a:p>
            <a:pPr marL="0" indent="0">
              <a:buNone/>
            </a:pPr>
            <a:r>
              <a:rPr lang="en-US" dirty="0">
                <a:solidFill>
                  <a:srgbClr val="2913AD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2913AD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2913AD"/>
                </a:solidFill>
                <a:latin typeface="Consolas" panose="020B0609020204030204" pitchFamily="49" charset="0"/>
              </a:rPr>
              <a:t>("%u\n", counter);</a:t>
            </a:r>
          </a:p>
          <a:p>
            <a:pPr marL="0" indent="0">
              <a:buNone/>
            </a:pPr>
            <a:r>
              <a:rPr lang="en-US" dirty="0">
                <a:solidFill>
                  <a:srgbClr val="2913AD"/>
                </a:solidFill>
                <a:latin typeface="Consolas" panose="020B0609020204030204" pitchFamily="49" charset="0"/>
              </a:rPr>
              <a:t>   } while (++counter &lt;= 10);</a:t>
            </a:r>
          </a:p>
          <a:p>
            <a:pPr marL="0" indent="0">
              <a:buNone/>
            </a:pPr>
            <a:r>
              <a:rPr lang="en-US" dirty="0">
                <a:solidFill>
                  <a:srgbClr val="2913AD"/>
                </a:solidFill>
                <a:latin typeface="Consolas" panose="020B0609020204030204" pitchFamily="49" charset="0"/>
              </a:rPr>
              <a:t>}</a:t>
            </a:r>
            <a:endParaRPr lang="tr-TR" dirty="0">
              <a:solidFill>
                <a:srgbClr val="2913AD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951245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tr-TR" dirty="0"/>
              <a:t>B</a:t>
            </a:r>
            <a:r>
              <a:rPr lang="en-US" altLang="tr-TR" dirty="0" err="1"/>
              <a:t>reak</a:t>
            </a:r>
            <a:r>
              <a:rPr lang="en-US" altLang="tr-TR" dirty="0"/>
              <a:t> statement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It is possible to terminate a loop prematurely</a:t>
            </a:r>
            <a:r>
              <a:rPr lang="en-US" altLang="tr-TR" dirty="0" smtClean="0"/>
              <a:t>.</a:t>
            </a:r>
            <a:endParaRPr lang="tr-TR" altLang="tr-TR" dirty="0" smtClean="0"/>
          </a:p>
          <a:p>
            <a:endParaRPr lang="tr-TR" altLang="tr-TR" dirty="0" smtClean="0"/>
          </a:p>
          <a:p>
            <a:endParaRPr lang="tr-TR" altLang="tr-TR" dirty="0" smtClean="0"/>
          </a:p>
          <a:p>
            <a:r>
              <a:rPr lang="en-US" altLang="tr-TR" dirty="0" smtClean="0"/>
              <a:t>Remember </a:t>
            </a:r>
            <a:r>
              <a:rPr lang="en-US" altLang="tr-TR" dirty="0"/>
              <a:t>the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altLang="tr-TR" dirty="0"/>
              <a:t> statement we discussed before.</a:t>
            </a:r>
          </a:p>
          <a:p>
            <a:pPr lvl="4"/>
            <a:endParaRPr lang="tr-TR" altLang="tr-TR" b="1" dirty="0" smtClean="0">
              <a:solidFill>
                <a:srgbClr val="0000C8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tr-TR" b="1" dirty="0" smtClean="0">
                <a:solidFill>
                  <a:srgbClr val="0000C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altLang="tr-TR" dirty="0" smtClean="0"/>
              <a:t> </a:t>
            </a:r>
            <a:r>
              <a:rPr lang="en-US" altLang="tr-TR" dirty="0"/>
              <a:t>breaks the </a:t>
            </a:r>
            <a:r>
              <a:rPr lang="en-US" altLang="tr-TR" u="sng" dirty="0"/>
              <a:t>innermost</a:t>
            </a:r>
            <a:r>
              <a:rPr lang="en-US" altLang="tr-TR" dirty="0"/>
              <a:t> loop or switch statement.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138612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Break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Break when number is equal to 5</a:t>
            </a:r>
          </a:p>
          <a:p>
            <a:pPr marL="0" indent="0">
              <a:buNone/>
            </a:pPr>
            <a:endParaRPr lang="tr-TR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rgbClr val="2913AD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2913AD"/>
                </a:solidFill>
                <a:latin typeface="Consolas" panose="020B0609020204030204" pitchFamily="49" charset="0"/>
              </a:rPr>
              <a:t> main(void){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913AD"/>
                </a:solidFill>
                <a:latin typeface="Consolas" panose="020B0609020204030204" pitchFamily="49" charset="0"/>
              </a:rPr>
              <a:t>   unsigned </a:t>
            </a:r>
            <a:r>
              <a:rPr lang="en-US" sz="2000" dirty="0" err="1">
                <a:solidFill>
                  <a:srgbClr val="2913AD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2913AD"/>
                </a:solidFill>
                <a:latin typeface="Consolas" panose="020B0609020204030204" pitchFamily="49" charset="0"/>
              </a:rPr>
              <a:t> x; // declared here so it can be used after loop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913AD"/>
                </a:solidFill>
                <a:latin typeface="Consolas" panose="020B0609020204030204" pitchFamily="49" charset="0"/>
              </a:rPr>
              <a:t>   // loop 10 times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913AD"/>
                </a:solidFill>
                <a:latin typeface="Consolas" panose="020B0609020204030204" pitchFamily="49" charset="0"/>
              </a:rPr>
              <a:t>   for (x = 1; x &lt;= 10; ++x)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913AD"/>
                </a:solidFill>
                <a:latin typeface="Consolas" panose="020B0609020204030204" pitchFamily="49" charset="0"/>
              </a:rPr>
              <a:t>      // if x is 5, terminate loop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913AD"/>
                </a:solidFill>
                <a:latin typeface="Consolas" panose="020B0609020204030204" pitchFamily="49" charset="0"/>
              </a:rPr>
              <a:t>      if (x == 5)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913AD"/>
                </a:solidFill>
                <a:latin typeface="Consolas" panose="020B0609020204030204" pitchFamily="49" charset="0"/>
              </a:rPr>
              <a:t>         break; // break loop only if x is 5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913AD"/>
                </a:solidFill>
                <a:latin typeface="Consolas" panose="020B0609020204030204" pitchFamily="49" charset="0"/>
              </a:rPr>
              <a:t>      }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913AD"/>
                </a:solidFill>
                <a:latin typeface="Consolas" panose="020B0609020204030204" pitchFamily="49" charset="0"/>
              </a:rPr>
              <a:t>      </a:t>
            </a:r>
            <a:r>
              <a:rPr lang="en-US" sz="2000" dirty="0" err="1">
                <a:solidFill>
                  <a:srgbClr val="2913AD"/>
                </a:solidFill>
                <a:latin typeface="Consolas" panose="020B0609020204030204" pitchFamily="49" charset="0"/>
              </a:rPr>
              <a:t>printf</a:t>
            </a:r>
            <a:r>
              <a:rPr lang="en-US" sz="2000" dirty="0">
                <a:solidFill>
                  <a:srgbClr val="2913AD"/>
                </a:solidFill>
                <a:latin typeface="Consolas" panose="020B0609020204030204" pitchFamily="49" charset="0"/>
              </a:rPr>
              <a:t>("%u\n", x);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913AD"/>
                </a:solidFill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913AD"/>
                </a:solidFill>
                <a:latin typeface="Consolas" panose="020B0609020204030204" pitchFamily="49" charset="0"/>
              </a:rPr>
              <a:t>   </a:t>
            </a:r>
            <a:r>
              <a:rPr lang="en-US" sz="2000" dirty="0" err="1">
                <a:solidFill>
                  <a:srgbClr val="2913AD"/>
                </a:solidFill>
                <a:latin typeface="Consolas" panose="020B0609020204030204" pitchFamily="49" charset="0"/>
              </a:rPr>
              <a:t>printf</a:t>
            </a:r>
            <a:r>
              <a:rPr lang="en-US" sz="2000" dirty="0">
                <a:solidFill>
                  <a:srgbClr val="2913AD"/>
                </a:solidFill>
                <a:latin typeface="Consolas" panose="020B0609020204030204" pitchFamily="49" charset="0"/>
              </a:rPr>
              <a:t>("\</a:t>
            </a:r>
            <a:r>
              <a:rPr lang="en-US" sz="2000" dirty="0" err="1">
                <a:solidFill>
                  <a:srgbClr val="2913AD"/>
                </a:solidFill>
                <a:latin typeface="Consolas" panose="020B0609020204030204" pitchFamily="49" charset="0"/>
              </a:rPr>
              <a:t>nBroke</a:t>
            </a:r>
            <a:r>
              <a:rPr lang="en-US" sz="2000" dirty="0">
                <a:solidFill>
                  <a:srgbClr val="2913AD"/>
                </a:solidFill>
                <a:latin typeface="Consolas" panose="020B0609020204030204" pitchFamily="49" charset="0"/>
              </a:rPr>
              <a:t> out of loop at x == %u\n", x);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2913AD"/>
                </a:solidFill>
                <a:latin typeface="Consolas" panose="020B0609020204030204" pitchFamily="49" charset="0"/>
              </a:rPr>
              <a:t>}</a:t>
            </a:r>
            <a:endParaRPr lang="en-US" sz="2000" dirty="0">
              <a:solidFill>
                <a:srgbClr val="2913AD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574686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tr-TR" dirty="0"/>
              <a:t>C</a:t>
            </a:r>
            <a:r>
              <a:rPr lang="en-US" altLang="tr-TR" dirty="0" err="1"/>
              <a:t>ontinue</a:t>
            </a:r>
            <a:r>
              <a:rPr lang="en-US" altLang="tr-TR" dirty="0"/>
              <a:t> statement</a:t>
            </a:r>
          </a:p>
        </p:txBody>
      </p:sp>
      <p:sp>
        <p:nvSpPr>
          <p:cNvPr id="12291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It is possible to skip the rest of an iteration and continue with the next iteration (if any</a:t>
            </a:r>
            <a:r>
              <a:rPr lang="en-US" altLang="tr-TR" dirty="0" smtClean="0"/>
              <a:t>).</a:t>
            </a:r>
            <a:endParaRPr lang="tr-TR" altLang="tr-TR" dirty="0" smtClean="0"/>
          </a:p>
          <a:p>
            <a:pPr lvl="4"/>
            <a:endParaRPr lang="en-US" altLang="tr-TR" dirty="0"/>
          </a:p>
          <a:p>
            <a:pPr lvl="1"/>
            <a:r>
              <a:rPr lang="en-US" altLang="tr-TR" dirty="0"/>
              <a:t>In the for loop,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  <a:r>
              <a:rPr lang="en-US" altLang="tr-TR" dirty="0"/>
              <a:t> jumps to the final statement</a:t>
            </a:r>
            <a:r>
              <a:rPr lang="en-US" altLang="tr-TR" dirty="0" smtClean="0"/>
              <a:t>.</a:t>
            </a:r>
            <a:endParaRPr lang="tr-TR" altLang="tr-TR" dirty="0" smtClean="0"/>
          </a:p>
          <a:p>
            <a:pPr lvl="4"/>
            <a:endParaRPr lang="en-US" altLang="tr-TR" dirty="0"/>
          </a:p>
          <a:p>
            <a:pPr lvl="1"/>
            <a:r>
              <a:rPr lang="en-US" altLang="tr-TR" dirty="0"/>
              <a:t>In the while and do-while loops,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  <a:r>
              <a:rPr lang="en-US" altLang="tr-TR" dirty="0"/>
              <a:t> jumps to the condition expression.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790698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Continue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Continue when number is equal to 5</a:t>
            </a:r>
          </a:p>
          <a:p>
            <a:pPr marL="0" indent="0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rgbClr val="2913AD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2913AD"/>
                </a:solidFill>
                <a:latin typeface="Consolas" panose="020B0609020204030204" pitchFamily="49" charset="0"/>
              </a:rPr>
              <a:t> main(void){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913AD"/>
                </a:solidFill>
                <a:latin typeface="Consolas" panose="020B0609020204030204" pitchFamily="49" charset="0"/>
              </a:rPr>
              <a:t>   </a:t>
            </a:r>
            <a:r>
              <a:rPr lang="en-US" sz="2000" dirty="0" smtClean="0">
                <a:solidFill>
                  <a:srgbClr val="2913AD"/>
                </a:solidFill>
                <a:latin typeface="Consolas" panose="020B0609020204030204" pitchFamily="49" charset="0"/>
              </a:rPr>
              <a:t>unsigned </a:t>
            </a:r>
            <a:r>
              <a:rPr lang="en-US" sz="2000" dirty="0" err="1">
                <a:solidFill>
                  <a:srgbClr val="2913AD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2913AD"/>
                </a:solidFill>
                <a:latin typeface="Consolas" panose="020B0609020204030204" pitchFamily="49" charset="0"/>
              </a:rPr>
              <a:t> x;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913AD"/>
                </a:solidFill>
                <a:latin typeface="Consolas" panose="020B0609020204030204" pitchFamily="49" charset="0"/>
              </a:rPr>
              <a:t>   // loop 10 times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913AD"/>
                </a:solidFill>
                <a:latin typeface="Consolas" panose="020B0609020204030204" pitchFamily="49" charset="0"/>
              </a:rPr>
              <a:t>   for (x = 1; x &lt;= 10; ++x)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913AD"/>
                </a:solidFill>
                <a:latin typeface="Consolas" panose="020B0609020204030204" pitchFamily="49" charset="0"/>
              </a:rPr>
              <a:t>      // if x is 5, continue with next iteration of loop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913AD"/>
                </a:solidFill>
                <a:latin typeface="Consolas" panose="020B0609020204030204" pitchFamily="49" charset="0"/>
              </a:rPr>
              <a:t>      if (x == 5)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913AD"/>
                </a:solidFill>
                <a:latin typeface="Consolas" panose="020B0609020204030204" pitchFamily="49" charset="0"/>
              </a:rPr>
              <a:t>         continue; // skip remaining code in loop body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913AD"/>
                </a:solidFill>
                <a:latin typeface="Consolas" panose="020B0609020204030204" pitchFamily="49" charset="0"/>
              </a:rPr>
              <a:t>      }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913AD"/>
                </a:solidFill>
                <a:latin typeface="Consolas" panose="020B0609020204030204" pitchFamily="49" charset="0"/>
              </a:rPr>
              <a:t>      </a:t>
            </a:r>
            <a:r>
              <a:rPr lang="en-US" sz="2000" dirty="0" err="1">
                <a:solidFill>
                  <a:srgbClr val="2913AD"/>
                </a:solidFill>
                <a:latin typeface="Consolas" panose="020B0609020204030204" pitchFamily="49" charset="0"/>
              </a:rPr>
              <a:t>printf</a:t>
            </a:r>
            <a:r>
              <a:rPr lang="en-US" sz="2000" dirty="0">
                <a:solidFill>
                  <a:srgbClr val="2913AD"/>
                </a:solidFill>
                <a:latin typeface="Consolas" panose="020B0609020204030204" pitchFamily="49" charset="0"/>
              </a:rPr>
              <a:t>("%u\n", x); // display value of x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913AD"/>
                </a:solidFill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913AD"/>
                </a:solidFill>
                <a:latin typeface="Consolas" panose="020B0609020204030204" pitchFamily="49" charset="0"/>
              </a:rPr>
              <a:t>   </a:t>
            </a:r>
            <a:r>
              <a:rPr lang="en-US" sz="2000" dirty="0" err="1">
                <a:solidFill>
                  <a:srgbClr val="2913AD"/>
                </a:solidFill>
                <a:latin typeface="Consolas" panose="020B0609020204030204" pitchFamily="49" charset="0"/>
              </a:rPr>
              <a:t>printf</a:t>
            </a:r>
            <a:r>
              <a:rPr lang="en-US" sz="2000" dirty="0">
                <a:solidFill>
                  <a:srgbClr val="2913AD"/>
                </a:solidFill>
                <a:latin typeface="Consolas" panose="020B0609020204030204" pitchFamily="49" charset="0"/>
              </a:rPr>
              <a:t>("\</a:t>
            </a:r>
            <a:r>
              <a:rPr lang="en-US" sz="2000" dirty="0" err="1">
                <a:solidFill>
                  <a:srgbClr val="2913AD"/>
                </a:solidFill>
                <a:latin typeface="Consolas" panose="020B0609020204030204" pitchFamily="49" charset="0"/>
              </a:rPr>
              <a:t>nUsed</a:t>
            </a:r>
            <a:r>
              <a:rPr lang="en-US" sz="2000" dirty="0">
                <a:solidFill>
                  <a:srgbClr val="2913AD"/>
                </a:solidFill>
                <a:latin typeface="Consolas" panose="020B0609020204030204" pitchFamily="49" charset="0"/>
              </a:rPr>
              <a:t> continue to skip printing the value 5");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913AD"/>
                </a:solidFill>
                <a:latin typeface="Consolas" panose="020B0609020204030204" pitchFamily="49" charset="0"/>
              </a:rPr>
              <a:t>}</a:t>
            </a:r>
            <a:endParaRPr lang="tr-TR" sz="2000" dirty="0">
              <a:solidFill>
                <a:srgbClr val="2913AD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397098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Example</a:t>
            </a:r>
            <a:r>
              <a:rPr lang="tr-TR" altLang="tr-TR" dirty="0"/>
              <a:t> - </a:t>
            </a:r>
            <a:r>
              <a:rPr lang="en-US" altLang="tr-TR" dirty="0" smtClean="0"/>
              <a:t>1</a:t>
            </a:r>
            <a:endParaRPr lang="en-US" altLang="tr-TR" dirty="0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97528"/>
            <a:ext cx="11480800" cy="792083"/>
          </a:xfrm>
        </p:spPr>
        <p:txBody>
          <a:bodyPr rtlCol="0">
            <a:norm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dirty="0"/>
              <a:t>Read an integer and print its digits in reverse order.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616307"/>
            <a:ext cx="7125063" cy="520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fontAlgn="auto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sz="2000" dirty="0">
                <a:solidFill>
                  <a:srgbClr val="0000C8"/>
                </a:solidFill>
                <a:latin typeface="Consolas" panose="020B0609020204030204" pitchFamily="49" charset="0"/>
              </a:rPr>
              <a:t>#include &lt;</a:t>
            </a:r>
            <a:r>
              <a:rPr lang="en-US" sz="2000" dirty="0" err="1">
                <a:solidFill>
                  <a:srgbClr val="0000C8"/>
                </a:solidFill>
                <a:latin typeface="Consolas" panose="020B0609020204030204" pitchFamily="49" charset="0"/>
              </a:rPr>
              <a:t>stdio.h</a:t>
            </a:r>
            <a:r>
              <a:rPr lang="en-US" sz="2000" dirty="0">
                <a:solidFill>
                  <a:srgbClr val="0000C8"/>
                </a:solidFill>
                <a:latin typeface="Consolas" panose="020B0609020204030204" pitchFamily="49" charset="0"/>
              </a:rPr>
              <a:t>&gt;</a:t>
            </a:r>
          </a:p>
          <a:p>
            <a:pPr lvl="1" fontAlgn="auto">
              <a:lnSpc>
                <a:spcPct val="120000"/>
              </a:lnSpc>
              <a:spcAft>
                <a:spcPts val="0"/>
              </a:spcAft>
              <a:buNone/>
              <a:defRPr/>
            </a:pPr>
            <a:endParaRPr lang="en-US" sz="2000" dirty="0">
              <a:solidFill>
                <a:srgbClr val="0000C8"/>
              </a:solidFill>
              <a:latin typeface="Consolas" panose="020B0609020204030204" pitchFamily="49" charset="0"/>
            </a:endParaRPr>
          </a:p>
          <a:p>
            <a:pPr lvl="1" fontAlgn="auto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sz="2000" dirty="0" err="1">
                <a:solidFill>
                  <a:srgbClr val="0000C8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C8"/>
                </a:solidFill>
                <a:latin typeface="Consolas" panose="020B0609020204030204" pitchFamily="49" charset="0"/>
              </a:rPr>
              <a:t> main()</a:t>
            </a:r>
          </a:p>
          <a:p>
            <a:pPr lvl="1" fontAlgn="auto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sz="2000" dirty="0">
                <a:solidFill>
                  <a:srgbClr val="0000C8"/>
                </a:solidFill>
                <a:latin typeface="Consolas" panose="020B0609020204030204" pitchFamily="49" charset="0"/>
              </a:rPr>
              <a:t>{  </a:t>
            </a:r>
            <a:r>
              <a:rPr lang="en-US" sz="2000" dirty="0" err="1">
                <a:solidFill>
                  <a:srgbClr val="0000C8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C8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C8"/>
                </a:solidFill>
                <a:latin typeface="Consolas" panose="020B0609020204030204" pitchFamily="49" charset="0"/>
              </a:rPr>
              <a:t>num</a:t>
            </a:r>
            <a:r>
              <a:rPr lang="en-US" sz="2000" dirty="0">
                <a:solidFill>
                  <a:srgbClr val="0000C8"/>
                </a:solidFill>
                <a:latin typeface="Consolas" panose="020B0609020204030204" pitchFamily="49" charset="0"/>
              </a:rPr>
              <a:t>, digit;</a:t>
            </a:r>
          </a:p>
          <a:p>
            <a:pPr lvl="1" fontAlgn="auto">
              <a:lnSpc>
                <a:spcPct val="120000"/>
              </a:lnSpc>
              <a:spcAft>
                <a:spcPts val="0"/>
              </a:spcAft>
              <a:buNone/>
              <a:defRPr/>
            </a:pPr>
            <a:endParaRPr lang="en-US" sz="2000" dirty="0">
              <a:solidFill>
                <a:srgbClr val="0000C8"/>
              </a:solidFill>
              <a:latin typeface="Consolas" panose="020B0609020204030204" pitchFamily="49" charset="0"/>
            </a:endParaRPr>
          </a:p>
          <a:p>
            <a:pPr lvl="1" fontAlgn="auto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sz="2000" dirty="0">
                <a:solidFill>
                  <a:srgbClr val="0000C8"/>
                </a:solidFill>
                <a:latin typeface="Consolas" panose="020B0609020204030204" pitchFamily="49" charset="0"/>
              </a:rPr>
              <a:t>   </a:t>
            </a:r>
            <a:r>
              <a:rPr lang="en-US" sz="2000" dirty="0" err="1">
                <a:solidFill>
                  <a:srgbClr val="0000C8"/>
                </a:solidFill>
                <a:latin typeface="Consolas" panose="020B0609020204030204" pitchFamily="49" charset="0"/>
              </a:rPr>
              <a:t>scanf</a:t>
            </a:r>
            <a:r>
              <a:rPr lang="en-US" sz="2000" dirty="0">
                <a:solidFill>
                  <a:srgbClr val="0000C8"/>
                </a:solidFill>
                <a:latin typeface="Consolas" panose="020B0609020204030204" pitchFamily="49" charset="0"/>
              </a:rPr>
              <a:t>("%d",&amp;</a:t>
            </a:r>
            <a:r>
              <a:rPr lang="en-US" sz="2000" dirty="0" err="1">
                <a:solidFill>
                  <a:srgbClr val="0000C8"/>
                </a:solidFill>
                <a:latin typeface="Consolas" panose="020B0609020204030204" pitchFamily="49" charset="0"/>
              </a:rPr>
              <a:t>num</a:t>
            </a:r>
            <a:r>
              <a:rPr lang="en-US" sz="2000" dirty="0">
                <a:solidFill>
                  <a:srgbClr val="0000C8"/>
                </a:solidFill>
                <a:latin typeface="Consolas" panose="020B0609020204030204" pitchFamily="49" charset="0"/>
              </a:rPr>
              <a:t>);</a:t>
            </a:r>
          </a:p>
          <a:p>
            <a:pPr lvl="1" fontAlgn="auto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sz="2000" dirty="0">
                <a:solidFill>
                  <a:srgbClr val="0000C8"/>
                </a:solidFill>
                <a:latin typeface="Consolas" panose="020B0609020204030204" pitchFamily="49" charset="0"/>
              </a:rPr>
              <a:t>   while (</a:t>
            </a:r>
            <a:r>
              <a:rPr lang="en-US" sz="2000" dirty="0" err="1">
                <a:solidFill>
                  <a:srgbClr val="0000C8"/>
                </a:solidFill>
                <a:latin typeface="Consolas" panose="020B0609020204030204" pitchFamily="49" charset="0"/>
              </a:rPr>
              <a:t>num</a:t>
            </a:r>
            <a:r>
              <a:rPr lang="en-US" sz="2000" dirty="0">
                <a:solidFill>
                  <a:srgbClr val="0000C8"/>
                </a:solidFill>
                <a:latin typeface="Consolas" panose="020B0609020204030204" pitchFamily="49" charset="0"/>
              </a:rPr>
              <a:t>)</a:t>
            </a:r>
          </a:p>
          <a:p>
            <a:pPr lvl="1" fontAlgn="auto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sz="2000" dirty="0">
                <a:solidFill>
                  <a:srgbClr val="0000C8"/>
                </a:solidFill>
                <a:latin typeface="Consolas" panose="020B0609020204030204" pitchFamily="49" charset="0"/>
              </a:rPr>
              <a:t>   {  digit=num%10;</a:t>
            </a:r>
          </a:p>
          <a:p>
            <a:pPr lvl="1" fontAlgn="auto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sz="2000" dirty="0">
                <a:solidFill>
                  <a:srgbClr val="0000C8"/>
                </a:solidFill>
                <a:latin typeface="Consolas" panose="020B0609020204030204" pitchFamily="49" charset="0"/>
              </a:rPr>
              <a:t>      </a:t>
            </a:r>
            <a:r>
              <a:rPr lang="en-US" sz="2000" dirty="0" err="1">
                <a:solidFill>
                  <a:srgbClr val="0000C8"/>
                </a:solidFill>
                <a:latin typeface="Consolas" panose="020B0609020204030204" pitchFamily="49" charset="0"/>
              </a:rPr>
              <a:t>num</a:t>
            </a:r>
            <a:r>
              <a:rPr lang="en-US" sz="2000" dirty="0">
                <a:solidFill>
                  <a:srgbClr val="0000C8"/>
                </a:solidFill>
                <a:latin typeface="Consolas" panose="020B0609020204030204" pitchFamily="49" charset="0"/>
              </a:rPr>
              <a:t> /= 10;</a:t>
            </a:r>
          </a:p>
          <a:p>
            <a:pPr lvl="1" fontAlgn="auto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sz="2000" dirty="0">
                <a:solidFill>
                  <a:srgbClr val="0000C8"/>
                </a:solidFill>
                <a:latin typeface="Consolas" panose="020B0609020204030204" pitchFamily="49" charset="0"/>
              </a:rPr>
              <a:t>      </a:t>
            </a:r>
            <a:r>
              <a:rPr lang="en-US" sz="2000" dirty="0" err="1">
                <a:solidFill>
                  <a:srgbClr val="0000C8"/>
                </a:solidFill>
                <a:latin typeface="Consolas" panose="020B0609020204030204" pitchFamily="49" charset="0"/>
              </a:rPr>
              <a:t>printf</a:t>
            </a:r>
            <a:r>
              <a:rPr lang="en-US" sz="2000" dirty="0">
                <a:solidFill>
                  <a:srgbClr val="0000C8"/>
                </a:solidFill>
                <a:latin typeface="Consolas" panose="020B0609020204030204" pitchFamily="49" charset="0"/>
              </a:rPr>
              <a:t>("%d", digit);</a:t>
            </a:r>
          </a:p>
          <a:p>
            <a:pPr lvl="1" fontAlgn="auto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sz="2000" dirty="0">
                <a:solidFill>
                  <a:srgbClr val="0000C8"/>
                </a:solidFill>
                <a:latin typeface="Consolas" panose="020B0609020204030204" pitchFamily="49" charset="0"/>
              </a:rPr>
              <a:t>   }</a:t>
            </a:r>
          </a:p>
          <a:p>
            <a:pPr lvl="1" fontAlgn="auto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sz="2000" dirty="0">
                <a:solidFill>
                  <a:srgbClr val="0000C8"/>
                </a:solidFill>
                <a:latin typeface="Consolas" panose="020B0609020204030204" pitchFamily="49" charset="0"/>
              </a:rPr>
              <a:t>   return 0;</a:t>
            </a:r>
          </a:p>
          <a:p>
            <a:pPr lvl="1" fontAlgn="auto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sz="2000" dirty="0">
                <a:solidFill>
                  <a:srgbClr val="0000C8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0000"/>
              </a:lnSpc>
            </a:pPr>
            <a:endParaRPr lang="tr-TR" dirty="0">
              <a:latin typeface="Consolas" panose="020B0609020204030204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898452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Example - </a:t>
            </a:r>
            <a:r>
              <a:rPr lang="en-US" dirty="0"/>
              <a:t>2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49720"/>
            <a:ext cx="11480800" cy="5193723"/>
          </a:xfrm>
        </p:spPr>
        <p:txBody>
          <a:bodyPr/>
          <a:lstStyle/>
          <a:p>
            <a:r>
              <a:rPr lang="tr-TR" dirty="0"/>
              <a:t>Draw a square or rectangle. </a:t>
            </a:r>
            <a:r>
              <a:rPr lang="tr-TR" dirty="0" err="1"/>
              <a:t>Take</a:t>
            </a:r>
            <a:r>
              <a:rPr lang="tr-TR" dirty="0"/>
              <a:t> </a:t>
            </a:r>
            <a:r>
              <a:rPr lang="tr-TR" dirty="0" err="1" smtClean="0"/>
              <a:t>length</a:t>
            </a:r>
            <a:r>
              <a:rPr lang="tr-TR" dirty="0" smtClean="0"/>
              <a:t> </a:t>
            </a:r>
            <a:r>
              <a:rPr lang="tr-TR" dirty="0"/>
              <a:t>and width as </a:t>
            </a:r>
            <a:r>
              <a:rPr lang="tr-TR" dirty="0" err="1" smtClean="0"/>
              <a:t>input</a:t>
            </a:r>
            <a:r>
              <a:rPr lang="tr-TR" dirty="0" smtClean="0"/>
              <a:t>.</a:t>
            </a:r>
            <a:endParaRPr lang="tr-TR" dirty="0"/>
          </a:p>
          <a:p>
            <a:pPr marL="0" indent="0">
              <a:lnSpc>
                <a:spcPct val="120000"/>
              </a:lnSpc>
              <a:buNone/>
            </a:pPr>
            <a:r>
              <a:rPr lang="tr-TR" sz="2000" dirty="0" err="1" smtClean="0">
                <a:solidFill>
                  <a:srgbClr val="2913AD"/>
                </a:solidFill>
                <a:latin typeface="Consolas" panose="020B0609020204030204" pitchFamily="49" charset="0"/>
              </a:rPr>
              <a:t>int</a:t>
            </a:r>
            <a:r>
              <a:rPr lang="tr-TR" sz="2000" dirty="0" smtClean="0">
                <a:solidFill>
                  <a:srgbClr val="2913AD"/>
                </a:solidFill>
                <a:latin typeface="Consolas" panose="020B0609020204030204" pitchFamily="49" charset="0"/>
              </a:rPr>
              <a:t> </a:t>
            </a:r>
            <a:r>
              <a:rPr lang="tr-TR" sz="2000" dirty="0">
                <a:solidFill>
                  <a:srgbClr val="2913AD"/>
                </a:solidFill>
                <a:latin typeface="Consolas" panose="020B0609020204030204" pitchFamily="49" charset="0"/>
              </a:rPr>
              <a:t>main(void){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tr-TR" sz="2000" dirty="0">
                <a:solidFill>
                  <a:srgbClr val="2913AD"/>
                </a:solidFill>
                <a:latin typeface="Consolas" panose="020B0609020204030204" pitchFamily="49" charset="0"/>
              </a:rPr>
              <a:t>   unsigned int x, y, i, j;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tr-TR" sz="2000" dirty="0">
                <a:solidFill>
                  <a:srgbClr val="2913AD"/>
                </a:solidFill>
                <a:latin typeface="Consolas" panose="020B0609020204030204" pitchFamily="49" charset="0"/>
              </a:rPr>
              <a:t>   // prompt user for input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tr-TR" sz="2000" dirty="0">
                <a:solidFill>
                  <a:srgbClr val="2913AD"/>
                </a:solidFill>
                <a:latin typeface="Consolas" panose="020B0609020204030204" pitchFamily="49" charset="0"/>
              </a:rPr>
              <a:t>   printf("Enter two unsigned integers in the range 1-20: ");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tr-TR" sz="2000" dirty="0">
                <a:solidFill>
                  <a:srgbClr val="2913AD"/>
                </a:solidFill>
                <a:latin typeface="Consolas" panose="020B0609020204030204" pitchFamily="49" charset="0"/>
              </a:rPr>
              <a:t>   scanf("%u%u", &amp;x, &amp;y); // read values for x and y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tr-TR" sz="2000" dirty="0">
                <a:solidFill>
                  <a:srgbClr val="2913AD"/>
                </a:solidFill>
                <a:latin typeface="Consolas" panose="020B0609020204030204" pitchFamily="49" charset="0"/>
              </a:rPr>
              <a:t>   for (i = 1; i &lt;= y; ++i) { // count from 1 to y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tr-TR" sz="2000" dirty="0">
                <a:solidFill>
                  <a:srgbClr val="2913AD"/>
                </a:solidFill>
                <a:latin typeface="Consolas" panose="020B0609020204030204" pitchFamily="49" charset="0"/>
              </a:rPr>
              <a:t>  	for (j = 1; j &lt;= x; ++j) { // count from 1 to x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tr-TR" sz="2000" dirty="0">
                <a:solidFill>
                  <a:srgbClr val="2913AD"/>
                </a:solidFill>
                <a:latin typeface="Consolas" panose="020B0609020204030204" pitchFamily="49" charset="0"/>
              </a:rPr>
              <a:t>		printf("*");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tr-TR" sz="2000" dirty="0">
                <a:solidFill>
                  <a:srgbClr val="2913AD"/>
                </a:solidFill>
                <a:latin typeface="Consolas" panose="020B0609020204030204" pitchFamily="49" charset="0"/>
              </a:rPr>
              <a:t>	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tr-TR" sz="2000" dirty="0">
                <a:solidFill>
                  <a:srgbClr val="2913AD"/>
                </a:solidFill>
                <a:latin typeface="Consolas" panose="020B0609020204030204" pitchFamily="49" charset="0"/>
              </a:rPr>
              <a:t>   	printf("\n");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tr-TR" sz="2000" dirty="0">
                <a:solidFill>
                  <a:srgbClr val="2913AD"/>
                </a:solidFill>
                <a:latin typeface="Consolas" panose="020B0609020204030204" pitchFamily="49" charset="0"/>
              </a:rPr>
              <a:t>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tr-TR" sz="2000" dirty="0">
                <a:solidFill>
                  <a:srgbClr val="2913AD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434744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Example </a:t>
            </a:r>
            <a:r>
              <a:rPr lang="tr-TR" dirty="0" smtClean="0"/>
              <a:t>-</a:t>
            </a:r>
            <a:r>
              <a:rPr lang="en-US" dirty="0" smtClean="0"/>
              <a:t> 3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55696"/>
            <a:ext cx="11480800" cy="5193723"/>
          </a:xfrm>
        </p:spPr>
        <p:txBody>
          <a:bodyPr/>
          <a:lstStyle/>
          <a:p>
            <a:r>
              <a:rPr lang="tr-TR" dirty="0"/>
              <a:t>Draw a triangle. </a:t>
            </a:r>
            <a:r>
              <a:rPr lang="tr-TR" dirty="0" err="1"/>
              <a:t>Take</a:t>
            </a:r>
            <a:r>
              <a:rPr lang="tr-TR" dirty="0"/>
              <a:t> </a:t>
            </a:r>
            <a:r>
              <a:rPr lang="tr-TR" dirty="0" err="1" smtClean="0"/>
              <a:t>length</a:t>
            </a:r>
            <a:r>
              <a:rPr lang="tr-TR" dirty="0" smtClean="0"/>
              <a:t> </a:t>
            </a:r>
            <a:r>
              <a:rPr lang="tr-TR" dirty="0"/>
              <a:t>as </a:t>
            </a:r>
            <a:r>
              <a:rPr lang="tr-TR" dirty="0" err="1" smtClean="0"/>
              <a:t>input</a:t>
            </a:r>
            <a:r>
              <a:rPr lang="tr-TR" dirty="0" smtClean="0"/>
              <a:t>.</a:t>
            </a:r>
            <a:endParaRPr lang="tr-TR" dirty="0"/>
          </a:p>
          <a:p>
            <a:pPr marL="0" indent="0">
              <a:lnSpc>
                <a:spcPct val="120000"/>
              </a:lnSpc>
              <a:buNone/>
            </a:pPr>
            <a:r>
              <a:rPr lang="tr-TR" sz="2000" dirty="0" err="1" smtClean="0">
                <a:solidFill>
                  <a:srgbClr val="2913AD"/>
                </a:solidFill>
                <a:latin typeface="Consolas" panose="020B0609020204030204" pitchFamily="49" charset="0"/>
              </a:rPr>
              <a:t>int</a:t>
            </a:r>
            <a:r>
              <a:rPr lang="tr-TR" sz="2000" dirty="0" smtClean="0">
                <a:solidFill>
                  <a:srgbClr val="2913AD"/>
                </a:solidFill>
                <a:latin typeface="Consolas" panose="020B0609020204030204" pitchFamily="49" charset="0"/>
              </a:rPr>
              <a:t> </a:t>
            </a:r>
            <a:r>
              <a:rPr lang="tr-TR" sz="2000" dirty="0">
                <a:solidFill>
                  <a:srgbClr val="2913AD"/>
                </a:solidFill>
                <a:latin typeface="Consolas" panose="020B0609020204030204" pitchFamily="49" charset="0"/>
              </a:rPr>
              <a:t>main(void){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tr-TR" sz="2000" dirty="0">
                <a:solidFill>
                  <a:srgbClr val="2913AD"/>
                </a:solidFill>
                <a:latin typeface="Consolas" panose="020B0609020204030204" pitchFamily="49" charset="0"/>
              </a:rPr>
              <a:t>   unsigned int x, i, j;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tr-TR" sz="2000" dirty="0">
                <a:solidFill>
                  <a:srgbClr val="2913AD"/>
                </a:solidFill>
                <a:latin typeface="Consolas" panose="020B0609020204030204" pitchFamily="49" charset="0"/>
              </a:rPr>
              <a:t>   // prompt user for input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tr-TR" sz="2000" dirty="0">
                <a:solidFill>
                  <a:srgbClr val="2913AD"/>
                </a:solidFill>
                <a:latin typeface="Consolas" panose="020B0609020204030204" pitchFamily="49" charset="0"/>
              </a:rPr>
              <a:t>   printf("</a:t>
            </a:r>
            <a:r>
              <a:rPr lang="tr-TR" sz="2000" dirty="0" err="1">
                <a:solidFill>
                  <a:srgbClr val="2913AD"/>
                </a:solidFill>
                <a:latin typeface="Consolas" panose="020B0609020204030204" pitchFamily="49" charset="0"/>
              </a:rPr>
              <a:t>Enter</a:t>
            </a:r>
            <a:r>
              <a:rPr lang="tr-TR" sz="2000" dirty="0">
                <a:solidFill>
                  <a:srgbClr val="2913AD"/>
                </a:solidFill>
                <a:latin typeface="Consolas" panose="020B0609020204030204" pitchFamily="49" charset="0"/>
              </a:rPr>
              <a:t> </a:t>
            </a:r>
            <a:r>
              <a:rPr lang="tr-TR" sz="2000" smtClean="0">
                <a:solidFill>
                  <a:srgbClr val="2913AD"/>
                </a:solidFill>
                <a:latin typeface="Consolas" panose="020B0609020204030204" pitchFamily="49" charset="0"/>
              </a:rPr>
              <a:t>length: </a:t>
            </a:r>
            <a:r>
              <a:rPr lang="tr-TR" sz="2000" dirty="0">
                <a:solidFill>
                  <a:srgbClr val="2913AD"/>
                </a:solidFill>
                <a:latin typeface="Consolas" panose="020B0609020204030204" pitchFamily="49" charset="0"/>
              </a:rPr>
              <a:t>");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tr-TR" sz="2000" dirty="0">
                <a:solidFill>
                  <a:srgbClr val="2913AD"/>
                </a:solidFill>
                <a:latin typeface="Consolas" panose="020B0609020204030204" pitchFamily="49" charset="0"/>
              </a:rPr>
              <a:t>   scanf("%u", &amp;x); // read value for x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tr-TR" sz="2000" dirty="0">
                <a:solidFill>
                  <a:srgbClr val="2913AD"/>
                </a:solidFill>
                <a:latin typeface="Consolas" panose="020B0609020204030204" pitchFamily="49" charset="0"/>
              </a:rPr>
              <a:t>   for (i = 1; i &lt;= x; i++) { // count from 1 to x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tr-TR" sz="2000" dirty="0">
                <a:solidFill>
                  <a:srgbClr val="2913AD"/>
                </a:solidFill>
                <a:latin typeface="Consolas" panose="020B0609020204030204" pitchFamily="49" charset="0"/>
              </a:rPr>
              <a:t>	for (j = i; j &lt;= x; j++) { // count from i to x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tr-TR" sz="2000" dirty="0">
                <a:solidFill>
                  <a:srgbClr val="2913AD"/>
                </a:solidFill>
                <a:latin typeface="Consolas" panose="020B0609020204030204" pitchFamily="49" charset="0"/>
              </a:rPr>
              <a:t>		printf("*");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tr-TR" sz="2000" dirty="0">
                <a:solidFill>
                  <a:srgbClr val="2913AD"/>
                </a:solidFill>
                <a:latin typeface="Consolas" panose="020B0609020204030204" pitchFamily="49" charset="0"/>
              </a:rPr>
              <a:t>	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tr-TR" sz="2000" dirty="0">
                <a:solidFill>
                  <a:srgbClr val="2913AD"/>
                </a:solidFill>
                <a:latin typeface="Consolas" panose="020B0609020204030204" pitchFamily="49" charset="0"/>
              </a:rPr>
              <a:t>	printf("\n");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tr-TR" sz="2000" dirty="0">
                <a:solidFill>
                  <a:srgbClr val="2913AD"/>
                </a:solidFill>
                <a:latin typeface="Consolas" panose="020B0609020204030204" pitchFamily="49" charset="0"/>
              </a:rPr>
              <a:t>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tr-TR" sz="2000" dirty="0">
                <a:solidFill>
                  <a:srgbClr val="2913AD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178558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dg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Edg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1180</Words>
  <Application>Microsoft Office PowerPoint</Application>
  <PresentationFormat>Widescreen</PresentationFormat>
  <Paragraphs>235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ＭＳ Ｐゴシック</vt:lpstr>
      <vt:lpstr>Arial</vt:lpstr>
      <vt:lpstr>Calibri</vt:lpstr>
      <vt:lpstr>Consolas</vt:lpstr>
      <vt:lpstr>Courier New</vt:lpstr>
      <vt:lpstr>Garamond</vt:lpstr>
      <vt:lpstr>Tahoma</vt:lpstr>
      <vt:lpstr>Wingdings</vt:lpstr>
      <vt:lpstr>Edge</vt:lpstr>
      <vt:lpstr>1_Edge</vt:lpstr>
      <vt:lpstr>CSE1142 –Repetitive Structures in C </vt:lpstr>
      <vt:lpstr>Agenda</vt:lpstr>
      <vt:lpstr>Types of loops</vt:lpstr>
      <vt:lpstr>For loop syntax</vt:lpstr>
      <vt:lpstr>For loop</vt:lpstr>
      <vt:lpstr>For loop – Example I</vt:lpstr>
      <vt:lpstr>For loop – Example II</vt:lpstr>
      <vt:lpstr>For loop – Example III</vt:lpstr>
      <vt:lpstr>While loop syntax</vt:lpstr>
      <vt:lpstr>While loop – Example I</vt:lpstr>
      <vt:lpstr>While loop – Example II</vt:lpstr>
      <vt:lpstr>Do-while loop syntax</vt:lpstr>
      <vt:lpstr>Do-while loop – Example I</vt:lpstr>
      <vt:lpstr>Break statement</vt:lpstr>
      <vt:lpstr>Break - Example</vt:lpstr>
      <vt:lpstr>Continue statement</vt:lpstr>
      <vt:lpstr>Continue - Example</vt:lpstr>
      <vt:lpstr>Example - 1</vt:lpstr>
      <vt:lpstr>Example - 2</vt:lpstr>
      <vt:lpstr>Example - 3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Repetitive Structures</dc:title>
  <dc:creator/>
  <cp:lastModifiedBy/>
  <cp:revision>62</cp:revision>
  <dcterms:created xsi:type="dcterms:W3CDTF">2017-11-02T19:26:23Z</dcterms:created>
  <dcterms:modified xsi:type="dcterms:W3CDTF">2020-04-29T08:53:38Z</dcterms:modified>
  <dc:description/>
</cp:coreProperties>
</file>