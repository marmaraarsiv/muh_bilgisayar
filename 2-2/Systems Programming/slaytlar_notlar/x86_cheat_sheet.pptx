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0693400" cy="7562850"/>
  <p:notesSz cx="10693400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345" y="301803"/>
            <a:ext cx="443230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100" b="1">
                <a:latin typeface="Palatino Linotype"/>
                <a:cs typeface="Palatino Linotype"/>
              </a:rPr>
              <a:t>x86-64 </a:t>
            </a:r>
            <a:r>
              <a:rPr dirty="0" sz="1400" spc="60" b="1">
                <a:latin typeface="Palatino Linotype"/>
                <a:cs typeface="Palatino Linotype"/>
              </a:rPr>
              <a:t>Reference Sheet </a:t>
            </a:r>
            <a:r>
              <a:rPr dirty="0" sz="1400" spc="120" b="1">
                <a:latin typeface="Palatino Linotype"/>
                <a:cs typeface="Palatino Linotype"/>
              </a:rPr>
              <a:t>(GNU </a:t>
            </a:r>
            <a:r>
              <a:rPr dirty="0" sz="1400" spc="40" b="1">
                <a:latin typeface="Palatino Linotype"/>
                <a:cs typeface="Palatino Linotype"/>
              </a:rPr>
              <a:t>assembler</a:t>
            </a:r>
            <a:r>
              <a:rPr dirty="0" sz="1400" spc="175" b="1">
                <a:latin typeface="Palatino Linotype"/>
                <a:cs typeface="Palatino Linotype"/>
              </a:rPr>
              <a:t> </a:t>
            </a:r>
            <a:r>
              <a:rPr dirty="0" sz="1400" spc="80" b="1">
                <a:latin typeface="Palatino Linotype"/>
                <a:cs typeface="Palatino Linotype"/>
              </a:rPr>
              <a:t>format)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594" y="931215"/>
            <a:ext cx="3272790" cy="13843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60" b="1">
                <a:latin typeface="Palatino Linotype"/>
                <a:cs typeface="Palatino Linotype"/>
              </a:rPr>
              <a:t>Instructions</a:t>
            </a:r>
            <a:endParaRPr sz="14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 spc="65" b="1">
                <a:latin typeface="Palatino Linotype"/>
                <a:cs typeface="Palatino Linotype"/>
              </a:rPr>
              <a:t>Data</a:t>
            </a:r>
            <a:r>
              <a:rPr dirty="0" sz="1200" spc="140" b="1">
                <a:latin typeface="Palatino Linotype"/>
                <a:cs typeface="Palatino Linotype"/>
              </a:rPr>
              <a:t> </a:t>
            </a:r>
            <a:r>
              <a:rPr dirty="0" sz="1200" spc="20" b="1">
                <a:latin typeface="Palatino Linotype"/>
                <a:cs typeface="Palatino Linotype"/>
              </a:rPr>
              <a:t>movement</a:t>
            </a:r>
            <a:endParaRPr sz="1200">
              <a:latin typeface="Palatino Linotype"/>
              <a:cs typeface="Palatino Linotype"/>
            </a:endParaRPr>
          </a:p>
          <a:p>
            <a:pPr marL="88265">
              <a:lnSpc>
                <a:spcPts val="1200"/>
              </a:lnSpc>
              <a:spcBef>
                <a:spcPts val="340"/>
              </a:spcBef>
              <a:tabLst>
                <a:tab pos="1143635" algn="l"/>
              </a:tabLst>
            </a:pPr>
            <a:r>
              <a:rPr dirty="0" sz="1000" spc="-120">
                <a:latin typeface="Palatino Linotype"/>
                <a:cs typeface="Palatino Linotype"/>
              </a:rPr>
              <a:t>movq </a:t>
            </a:r>
            <a:r>
              <a:rPr dirty="0" sz="1000" spc="-40">
                <a:latin typeface="Palatino Linotype"/>
                <a:cs typeface="Palatino Linotype"/>
              </a:rPr>
              <a:t> </a:t>
            </a:r>
            <a:r>
              <a:rPr dirty="0" sz="1000" spc="-15">
                <a:latin typeface="Georgia"/>
                <a:cs typeface="Georgia"/>
              </a:rPr>
              <a:t>Src,</a:t>
            </a:r>
            <a:r>
              <a:rPr dirty="0" sz="1000" spc="10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Dest	Dest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-3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Src</a:t>
            </a:r>
            <a:endParaRPr sz="1000">
              <a:latin typeface="Georgia"/>
              <a:cs typeface="Georgia"/>
            </a:endParaRPr>
          </a:p>
          <a:p>
            <a:pPr marL="88265">
              <a:lnSpc>
                <a:spcPts val="1195"/>
              </a:lnSpc>
              <a:tabLst>
                <a:tab pos="1143635" algn="l"/>
              </a:tabLst>
            </a:pPr>
            <a:r>
              <a:rPr dirty="0" sz="1000" spc="-70">
                <a:latin typeface="Palatino Linotype"/>
                <a:cs typeface="Palatino Linotype"/>
              </a:rPr>
              <a:t>movsbq</a:t>
            </a:r>
            <a:r>
              <a:rPr dirty="0" sz="1000" spc="95">
                <a:latin typeface="Palatino Linotype"/>
                <a:cs typeface="Palatino Linotype"/>
              </a:rPr>
              <a:t> </a:t>
            </a:r>
            <a:r>
              <a:rPr dirty="0" sz="1000" spc="-15">
                <a:latin typeface="Georgia"/>
                <a:cs typeface="Georgia"/>
              </a:rPr>
              <a:t>Src,Dest	Dest (quad)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20">
                <a:latin typeface="Georgia"/>
                <a:cs typeface="Georgia"/>
              </a:rPr>
              <a:t>Src </a:t>
            </a:r>
            <a:r>
              <a:rPr dirty="0" sz="1000">
                <a:latin typeface="Georgia"/>
                <a:cs typeface="Georgia"/>
              </a:rPr>
              <a:t>(byte), </a:t>
            </a:r>
            <a:r>
              <a:rPr dirty="0" sz="1000" spc="13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sign-extend</a:t>
            </a:r>
            <a:endParaRPr sz="1000">
              <a:latin typeface="Georgia"/>
              <a:cs typeface="Georgia"/>
            </a:endParaRPr>
          </a:p>
          <a:p>
            <a:pPr marL="88265">
              <a:lnSpc>
                <a:spcPts val="1200"/>
              </a:lnSpc>
              <a:tabLst>
                <a:tab pos="1143635" algn="l"/>
              </a:tabLst>
            </a:pPr>
            <a:r>
              <a:rPr dirty="0" sz="1000" spc="-80">
                <a:latin typeface="Palatino Linotype"/>
                <a:cs typeface="Palatino Linotype"/>
              </a:rPr>
              <a:t>movzbq  </a:t>
            </a:r>
            <a:r>
              <a:rPr dirty="0" sz="1000" spc="-15">
                <a:latin typeface="Georgia"/>
                <a:cs typeface="Georgia"/>
              </a:rPr>
              <a:t>Src,Dest	Dest (quad)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20">
                <a:latin typeface="Georgia"/>
                <a:cs typeface="Georgia"/>
              </a:rPr>
              <a:t>Src  </a:t>
            </a:r>
            <a:r>
              <a:rPr dirty="0" sz="1000">
                <a:latin typeface="Georgia"/>
                <a:cs typeface="Georgia"/>
              </a:rPr>
              <a:t>(byte),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zero-extend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200" spc="15" b="1">
                <a:latin typeface="Palatino Linotype"/>
                <a:cs typeface="Palatino Linotype"/>
              </a:rPr>
              <a:t>Conditional</a:t>
            </a:r>
            <a:r>
              <a:rPr dirty="0" sz="1200" spc="140" b="1">
                <a:latin typeface="Palatino Linotype"/>
                <a:cs typeface="Palatino Linotype"/>
              </a:rPr>
              <a:t> </a:t>
            </a:r>
            <a:r>
              <a:rPr dirty="0" sz="1200" spc="5" b="1">
                <a:latin typeface="Palatino Linotype"/>
                <a:cs typeface="Palatino Linotype"/>
              </a:rPr>
              <a:t>move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8123" y="2333333"/>
            <a:ext cx="116522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Equal  </a:t>
            </a:r>
            <a:r>
              <a:rPr dirty="0" sz="1000" spc="25">
                <a:latin typeface="Georgia"/>
                <a:cs typeface="Georgia"/>
              </a:rPr>
              <a:t>/</a:t>
            </a:r>
            <a:r>
              <a:rPr dirty="0" sz="1000" spc="-10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zero</a:t>
            </a:r>
            <a:endParaRPr sz="1000">
              <a:latin typeface="Georgia"/>
              <a:cs typeface="Georgia"/>
            </a:endParaRPr>
          </a:p>
          <a:p>
            <a:pPr marL="12700" marR="5080">
              <a:lnSpc>
                <a:spcPts val="1200"/>
              </a:lnSpc>
              <a:spcBef>
                <a:spcPts val="35"/>
              </a:spcBef>
            </a:pPr>
            <a:r>
              <a:rPr dirty="0" sz="1000" spc="-10">
                <a:latin typeface="Georgia"/>
                <a:cs typeface="Georgia"/>
              </a:rPr>
              <a:t>Not </a:t>
            </a:r>
            <a:r>
              <a:rPr dirty="0" sz="1000" spc="-25">
                <a:latin typeface="Georgia"/>
                <a:cs typeface="Georgia"/>
              </a:rPr>
              <a:t>equal </a:t>
            </a:r>
            <a:r>
              <a:rPr dirty="0" sz="1000" spc="25">
                <a:latin typeface="Georgia"/>
                <a:cs typeface="Georgia"/>
              </a:rPr>
              <a:t>/ </a:t>
            </a:r>
            <a:r>
              <a:rPr dirty="0" sz="1000" spc="-20">
                <a:latin typeface="Georgia"/>
                <a:cs typeface="Georgia"/>
              </a:rPr>
              <a:t>not </a:t>
            </a:r>
            <a:r>
              <a:rPr dirty="0" sz="1000" spc="-30">
                <a:latin typeface="Georgia"/>
                <a:cs typeface="Georgia"/>
              </a:rPr>
              <a:t>zero  </a:t>
            </a:r>
            <a:r>
              <a:rPr dirty="0" sz="1000" spc="-15">
                <a:latin typeface="Georgia"/>
                <a:cs typeface="Georgia"/>
              </a:rPr>
              <a:t>Negative  </a:t>
            </a:r>
            <a:r>
              <a:rPr dirty="0" sz="1000" spc="-20">
                <a:latin typeface="Georgia"/>
                <a:cs typeface="Georgia"/>
              </a:rPr>
              <a:t>Nonnegative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45"/>
              </a:lnSpc>
            </a:pPr>
            <a:r>
              <a:rPr dirty="0" sz="1000" spc="-10">
                <a:latin typeface="Georgia"/>
                <a:cs typeface="Georgia"/>
              </a:rPr>
              <a:t>Greater </a:t>
            </a:r>
            <a:r>
              <a:rPr dirty="0" sz="1000" spc="-30">
                <a:latin typeface="Georgia"/>
                <a:cs typeface="Georgia"/>
              </a:rPr>
              <a:t>(signed</a:t>
            </a:r>
            <a:r>
              <a:rPr dirty="0" sz="1000" spc="-60">
                <a:latin typeface="Georgia"/>
                <a:cs typeface="Georgi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&gt;</a:t>
            </a:r>
            <a:r>
              <a:rPr dirty="0" sz="1000" spc="5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8123" y="3092412"/>
            <a:ext cx="15646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Georgia"/>
                <a:cs typeface="Georgia"/>
              </a:rPr>
              <a:t>Greater </a:t>
            </a:r>
            <a:r>
              <a:rPr dirty="0" sz="1000" spc="-30">
                <a:latin typeface="Georgia"/>
                <a:cs typeface="Georgia"/>
              </a:rPr>
              <a:t>or </a:t>
            </a:r>
            <a:r>
              <a:rPr dirty="0" sz="1000" spc="-25">
                <a:latin typeface="Georgia"/>
                <a:cs typeface="Georgia"/>
              </a:rPr>
              <a:t>equal </a:t>
            </a:r>
            <a:r>
              <a:rPr dirty="0" sz="1000" spc="-30">
                <a:latin typeface="Georgia"/>
                <a:cs typeface="Georgia"/>
              </a:rPr>
              <a:t>(signed</a:t>
            </a:r>
            <a:r>
              <a:rPr dirty="0" sz="1000" spc="-35">
                <a:latin typeface="Georgia"/>
                <a:cs typeface="Georgia"/>
              </a:rPr>
              <a:t> </a:t>
            </a:r>
            <a:r>
              <a:rPr dirty="0" sz="1000" spc="110">
                <a:latin typeface="Cambria"/>
                <a:cs typeface="Cambria"/>
              </a:rPr>
              <a:t>≥</a:t>
            </a:r>
            <a:r>
              <a:rPr dirty="0" sz="1000" spc="1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8131" y="3244304"/>
            <a:ext cx="887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Georgia"/>
                <a:cs typeface="Georgia"/>
              </a:rPr>
              <a:t>Less (signed</a:t>
            </a:r>
            <a:r>
              <a:rPr dirty="0" sz="1000" spc="-35">
                <a:latin typeface="Georgia"/>
                <a:cs typeface="Georgi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&lt;</a:t>
            </a:r>
            <a:r>
              <a:rPr dirty="0" sz="1000" spc="5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8123" y="3396069"/>
            <a:ext cx="13766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Georgia"/>
                <a:cs typeface="Georgia"/>
              </a:rPr>
              <a:t>Less or </a:t>
            </a:r>
            <a:r>
              <a:rPr dirty="0" sz="1000" spc="-25">
                <a:latin typeface="Georgia"/>
                <a:cs typeface="Georgia"/>
              </a:rPr>
              <a:t>equal </a:t>
            </a:r>
            <a:r>
              <a:rPr dirty="0" sz="1000" spc="-30">
                <a:latin typeface="Georgia"/>
                <a:cs typeface="Georgia"/>
              </a:rPr>
              <a:t>(signed</a:t>
            </a:r>
            <a:r>
              <a:rPr dirty="0" sz="1000" spc="-5">
                <a:latin typeface="Georgia"/>
                <a:cs typeface="Georgia"/>
              </a:rPr>
              <a:t> </a:t>
            </a:r>
            <a:r>
              <a:rPr dirty="0" sz="1000" spc="110">
                <a:latin typeface="Cambria"/>
                <a:cs typeface="Cambria"/>
              </a:rPr>
              <a:t>≤</a:t>
            </a:r>
            <a:r>
              <a:rPr dirty="0" sz="1000" spc="1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8131" y="3547960"/>
            <a:ext cx="11410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Georgia"/>
                <a:cs typeface="Georgia"/>
              </a:rPr>
              <a:t>Above </a:t>
            </a:r>
            <a:r>
              <a:rPr dirty="0" sz="1000" spc="-30">
                <a:latin typeface="Georgia"/>
                <a:cs typeface="Georgia"/>
              </a:rPr>
              <a:t>(unsigned</a:t>
            </a:r>
            <a:r>
              <a:rPr dirty="0" sz="1000" spc="130">
                <a:latin typeface="Georgia"/>
                <a:cs typeface="Georgi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&gt;</a:t>
            </a:r>
            <a:r>
              <a:rPr dirty="0" sz="1000" spc="5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8123" y="3699726"/>
            <a:ext cx="16300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Georgia"/>
                <a:cs typeface="Georgia"/>
              </a:rPr>
              <a:t>Above </a:t>
            </a:r>
            <a:r>
              <a:rPr dirty="0" sz="1000" spc="-30">
                <a:latin typeface="Georgia"/>
                <a:cs typeface="Georgia"/>
              </a:rPr>
              <a:t>or </a:t>
            </a:r>
            <a:r>
              <a:rPr dirty="0" sz="1000" spc="-25">
                <a:latin typeface="Georgia"/>
                <a:cs typeface="Georgia"/>
              </a:rPr>
              <a:t>equal </a:t>
            </a:r>
            <a:r>
              <a:rPr dirty="0" sz="1000" spc="-30">
                <a:latin typeface="Georgia"/>
                <a:cs typeface="Georgia"/>
              </a:rPr>
              <a:t>(unsigned</a:t>
            </a:r>
            <a:r>
              <a:rPr dirty="0" sz="1000" spc="-60">
                <a:latin typeface="Georgia"/>
                <a:cs typeface="Georgia"/>
              </a:rPr>
              <a:t> </a:t>
            </a:r>
            <a:r>
              <a:rPr dirty="0" sz="1000" spc="110">
                <a:latin typeface="Cambria"/>
                <a:cs typeface="Cambria"/>
              </a:rPr>
              <a:t>≥</a:t>
            </a:r>
            <a:r>
              <a:rPr dirty="0" sz="1000" spc="1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40" y="2333333"/>
            <a:ext cx="971550" cy="184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65">
                <a:latin typeface="Palatino Linotype"/>
                <a:cs typeface="Palatino Linotype"/>
              </a:rPr>
              <a:t>cmove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60">
                <a:latin typeface="Palatino Linotype"/>
                <a:cs typeface="Palatino Linotype"/>
              </a:rPr>
              <a:t>cmovne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50">
                <a:latin typeface="Palatino Linotype"/>
                <a:cs typeface="Palatino Linotype"/>
              </a:rPr>
              <a:t>cmovs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55">
                <a:latin typeface="Palatino Linotype"/>
                <a:cs typeface="Palatino Linotype"/>
              </a:rPr>
              <a:t>cmovns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80">
                <a:latin typeface="Palatino Linotype"/>
                <a:cs typeface="Palatino Linotype"/>
              </a:rPr>
              <a:t>cmovg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60">
                <a:latin typeface="Palatino Linotype"/>
                <a:cs typeface="Palatino Linotype"/>
              </a:rPr>
              <a:t>cmovge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25">
                <a:latin typeface="Palatino Linotype"/>
                <a:cs typeface="Palatino Linotype"/>
              </a:rPr>
              <a:t>cmovl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15">
                <a:latin typeface="Palatino Linotype"/>
                <a:cs typeface="Palatino Linotype"/>
              </a:rPr>
              <a:t>cmovle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65">
                <a:latin typeface="Palatino Linotype"/>
                <a:cs typeface="Palatino Linotype"/>
              </a:rPr>
              <a:t>cmova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50">
                <a:latin typeface="Palatino Linotype"/>
                <a:cs typeface="Palatino Linotype"/>
              </a:rPr>
              <a:t>cmovae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80">
                <a:latin typeface="Palatino Linotype"/>
                <a:cs typeface="Palatino Linotype"/>
              </a:rPr>
              <a:t>cmovb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60">
                <a:latin typeface="Palatino Linotype"/>
                <a:cs typeface="Palatino Linotype"/>
              </a:rPr>
              <a:t>cmovbe </a:t>
            </a:r>
            <a:r>
              <a:rPr dirty="0" sz="1000" spc="-15">
                <a:latin typeface="Georgia"/>
                <a:cs typeface="Georgia"/>
              </a:rPr>
              <a:t>Src,</a:t>
            </a:r>
            <a:r>
              <a:rPr dirty="0" sz="1000" spc="-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Dest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8123" y="3851618"/>
            <a:ext cx="161417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20">
                <a:latin typeface="Georgia"/>
                <a:cs typeface="Georgia"/>
              </a:rPr>
              <a:t>Below </a:t>
            </a:r>
            <a:r>
              <a:rPr dirty="0" sz="1000" spc="-30">
                <a:latin typeface="Georgia"/>
                <a:cs typeface="Georgia"/>
              </a:rPr>
              <a:t>(unsigned</a:t>
            </a:r>
            <a:r>
              <a:rPr dirty="0" sz="1000" spc="-35">
                <a:latin typeface="Georgia"/>
                <a:cs typeface="Georgi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&lt;</a:t>
            </a:r>
            <a:r>
              <a:rPr dirty="0" sz="1000" spc="5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-20">
                <a:latin typeface="Georgia"/>
                <a:cs typeface="Georgia"/>
              </a:rPr>
              <a:t>Below </a:t>
            </a:r>
            <a:r>
              <a:rPr dirty="0" sz="1000" spc="-30">
                <a:latin typeface="Georgia"/>
                <a:cs typeface="Georgia"/>
              </a:rPr>
              <a:t>or </a:t>
            </a:r>
            <a:r>
              <a:rPr dirty="0" sz="1000" spc="-25">
                <a:latin typeface="Georgia"/>
                <a:cs typeface="Georgia"/>
              </a:rPr>
              <a:t>equal </a:t>
            </a:r>
            <a:r>
              <a:rPr dirty="0" sz="1000" spc="-30">
                <a:latin typeface="Georgia"/>
                <a:cs typeface="Georgia"/>
              </a:rPr>
              <a:t>(unsigned</a:t>
            </a:r>
            <a:r>
              <a:rPr dirty="0" sz="1000" spc="175">
                <a:latin typeface="Georgia"/>
                <a:cs typeface="Georgia"/>
              </a:rPr>
              <a:t> </a:t>
            </a:r>
            <a:r>
              <a:rPr dirty="0" sz="1000" spc="110">
                <a:latin typeface="Cambria"/>
                <a:cs typeface="Cambria"/>
              </a:rPr>
              <a:t>≤</a:t>
            </a:r>
            <a:r>
              <a:rPr dirty="0" sz="1000" spc="1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4594" y="4317174"/>
            <a:ext cx="12312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35" b="1">
                <a:latin typeface="Palatino Linotype"/>
                <a:cs typeface="Palatino Linotype"/>
              </a:rPr>
              <a:t>Control</a:t>
            </a:r>
            <a:r>
              <a:rPr dirty="0" sz="1200" spc="95" b="1">
                <a:latin typeface="Palatino Linotype"/>
                <a:cs typeface="Palatino Linotype"/>
              </a:rPr>
              <a:t> </a:t>
            </a:r>
            <a:r>
              <a:rPr dirty="0" sz="1200" spc="30" b="1">
                <a:latin typeface="Palatino Linotype"/>
                <a:cs typeface="Palatino Linotype"/>
              </a:rPr>
              <a:t>transfer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92175" y="4543133"/>
            <a:ext cx="1366520" cy="1240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224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Georgia"/>
                <a:cs typeface="Georgia"/>
              </a:rPr>
              <a:t>Sets </a:t>
            </a:r>
            <a:r>
              <a:rPr dirty="0" sz="1000" spc="35">
                <a:latin typeface="Georgia"/>
                <a:cs typeface="Georgia"/>
              </a:rPr>
              <a:t>CCs </a:t>
            </a:r>
            <a:r>
              <a:rPr dirty="0" sz="1000">
                <a:latin typeface="Georgia"/>
                <a:cs typeface="Georgia"/>
              </a:rPr>
              <a:t>Src1 </a:t>
            </a:r>
            <a:r>
              <a:rPr dirty="0" sz="1000" spc="-30">
                <a:latin typeface="Georgia"/>
                <a:cs typeface="Georgia"/>
              </a:rPr>
              <a:t>Src2  </a:t>
            </a:r>
            <a:r>
              <a:rPr dirty="0" sz="1000" spc="-20">
                <a:latin typeface="Georgia"/>
                <a:cs typeface="Georgia"/>
              </a:rPr>
              <a:t>Sets </a:t>
            </a:r>
            <a:r>
              <a:rPr dirty="0" sz="1000" spc="35">
                <a:latin typeface="Georgia"/>
                <a:cs typeface="Georgia"/>
              </a:rPr>
              <a:t>CCs </a:t>
            </a:r>
            <a:r>
              <a:rPr dirty="0" sz="1000">
                <a:latin typeface="Georgia"/>
                <a:cs typeface="Georgia"/>
              </a:rPr>
              <a:t>Src1 </a:t>
            </a:r>
            <a:r>
              <a:rPr dirty="0" sz="1000" spc="60">
                <a:latin typeface="Georgia"/>
                <a:cs typeface="Georgia"/>
              </a:rPr>
              <a:t>&amp; </a:t>
            </a:r>
            <a:r>
              <a:rPr dirty="0" sz="1000" spc="-30">
                <a:latin typeface="Georgia"/>
                <a:cs typeface="Georgia"/>
              </a:rPr>
              <a:t>Src2  </a:t>
            </a:r>
            <a:r>
              <a:rPr dirty="0" sz="1000" spc="-25">
                <a:latin typeface="Georgia"/>
                <a:cs typeface="Georgia"/>
              </a:rPr>
              <a:t>jump</a:t>
            </a:r>
            <a:endParaRPr sz="1000">
              <a:latin typeface="Georgia"/>
              <a:cs typeface="Georgia"/>
            </a:endParaRPr>
          </a:p>
          <a:p>
            <a:pPr marL="12700" marR="501650">
              <a:lnSpc>
                <a:spcPts val="1200"/>
              </a:lnSpc>
              <a:spcBef>
                <a:spcPts val="25"/>
              </a:spcBef>
            </a:pPr>
            <a:r>
              <a:rPr dirty="0" sz="1000" spc="-25">
                <a:latin typeface="Georgia"/>
                <a:cs typeface="Georgia"/>
              </a:rPr>
              <a:t>jump equal  jump </a:t>
            </a:r>
            <a:r>
              <a:rPr dirty="0" sz="1000" spc="-20">
                <a:latin typeface="Georgia"/>
                <a:cs typeface="Georgia"/>
              </a:rPr>
              <a:t>not </a:t>
            </a:r>
            <a:r>
              <a:rPr dirty="0" sz="1000" spc="-25">
                <a:latin typeface="Georgia"/>
                <a:cs typeface="Georgia"/>
              </a:rPr>
              <a:t>equal  jump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negative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45"/>
              </a:lnSpc>
            </a:pPr>
            <a:r>
              <a:rPr dirty="0" sz="1000" spc="-25">
                <a:latin typeface="Georgia"/>
                <a:cs typeface="Georgia"/>
              </a:rPr>
              <a:t>jump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non-negative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-25">
                <a:latin typeface="Georgia"/>
                <a:cs typeface="Georgia"/>
              </a:rPr>
              <a:t>jump </a:t>
            </a:r>
            <a:r>
              <a:rPr dirty="0" sz="1000" spc="-15">
                <a:latin typeface="Georgia"/>
                <a:cs typeface="Georgia"/>
              </a:rPr>
              <a:t>greater </a:t>
            </a:r>
            <a:r>
              <a:rPr dirty="0" sz="1000" spc="-30">
                <a:latin typeface="Georgia"/>
                <a:cs typeface="Georgia"/>
              </a:rPr>
              <a:t>(signed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&gt;</a:t>
            </a:r>
            <a:r>
              <a:rPr dirty="0" sz="1000" spc="5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2707" y="5757761"/>
            <a:ext cx="18256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eorgia"/>
                <a:cs typeface="Georgia"/>
              </a:rPr>
              <a:t>jump </a:t>
            </a:r>
            <a:r>
              <a:rPr dirty="0" sz="1000" spc="-15">
                <a:latin typeface="Georgia"/>
                <a:cs typeface="Georgia"/>
              </a:rPr>
              <a:t>greater </a:t>
            </a:r>
            <a:r>
              <a:rPr dirty="0" sz="1000" spc="-30">
                <a:latin typeface="Georgia"/>
                <a:cs typeface="Georgia"/>
              </a:rPr>
              <a:t>or </a:t>
            </a:r>
            <a:r>
              <a:rPr dirty="0" sz="1000" spc="-25">
                <a:latin typeface="Georgia"/>
                <a:cs typeface="Georgia"/>
              </a:rPr>
              <a:t>equal </a:t>
            </a:r>
            <a:r>
              <a:rPr dirty="0" sz="1000" spc="-30">
                <a:latin typeface="Georgia"/>
                <a:cs typeface="Georgia"/>
              </a:rPr>
              <a:t>(signed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 spc="110">
                <a:latin typeface="Cambria"/>
                <a:cs typeface="Cambria"/>
              </a:rPr>
              <a:t>≥</a:t>
            </a:r>
            <a:r>
              <a:rPr dirty="0" sz="1000" spc="1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92707" y="5909653"/>
            <a:ext cx="11703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eorgia"/>
                <a:cs typeface="Georgia"/>
              </a:rPr>
              <a:t>jump </a:t>
            </a:r>
            <a:r>
              <a:rPr dirty="0" sz="1000" spc="-40">
                <a:latin typeface="Georgia"/>
                <a:cs typeface="Georgia"/>
              </a:rPr>
              <a:t>less </a:t>
            </a:r>
            <a:r>
              <a:rPr dirty="0" sz="1000" spc="-30">
                <a:latin typeface="Georgia"/>
                <a:cs typeface="Georgia"/>
              </a:rPr>
              <a:t>(signed</a:t>
            </a:r>
            <a:r>
              <a:rPr dirty="0" sz="1000" spc="-125">
                <a:latin typeface="Georgia"/>
                <a:cs typeface="Georgi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&lt;</a:t>
            </a:r>
            <a:r>
              <a:rPr dirty="0" sz="1000" spc="5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2707" y="6061418"/>
            <a:ext cx="1658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eorgia"/>
                <a:cs typeface="Georgia"/>
              </a:rPr>
              <a:t>jump </a:t>
            </a:r>
            <a:r>
              <a:rPr dirty="0" sz="1000" spc="-40">
                <a:latin typeface="Georgia"/>
                <a:cs typeface="Georgia"/>
              </a:rPr>
              <a:t>less </a:t>
            </a:r>
            <a:r>
              <a:rPr dirty="0" sz="1000" spc="-30">
                <a:latin typeface="Georgia"/>
                <a:cs typeface="Georgia"/>
              </a:rPr>
              <a:t>or </a:t>
            </a:r>
            <a:r>
              <a:rPr dirty="0" sz="1000" spc="-25">
                <a:latin typeface="Georgia"/>
                <a:cs typeface="Georgia"/>
              </a:rPr>
              <a:t>equal </a:t>
            </a:r>
            <a:r>
              <a:rPr dirty="0" sz="1000" spc="-30">
                <a:latin typeface="Georgia"/>
                <a:cs typeface="Georgia"/>
              </a:rPr>
              <a:t>(signed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00" spc="110">
                <a:latin typeface="Cambria"/>
                <a:cs typeface="Cambria"/>
              </a:rPr>
              <a:t>≤</a:t>
            </a:r>
            <a:r>
              <a:rPr dirty="0" sz="1000" spc="1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0540" y="4543133"/>
            <a:ext cx="955675" cy="2606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0">
                <a:latin typeface="Palatino Linotype"/>
                <a:cs typeface="Palatino Linotype"/>
              </a:rPr>
              <a:t>cmpq </a:t>
            </a:r>
            <a:r>
              <a:rPr dirty="0" sz="1000" spc="-25">
                <a:latin typeface="Georgia"/>
                <a:cs typeface="Georgia"/>
              </a:rPr>
              <a:t>Src2, </a:t>
            </a:r>
            <a:r>
              <a:rPr dirty="0" sz="1000">
                <a:latin typeface="Georgia"/>
                <a:cs typeface="Georgia"/>
              </a:rPr>
              <a:t>Src1  </a:t>
            </a:r>
            <a:r>
              <a:rPr dirty="0" sz="1000" spc="100">
                <a:latin typeface="Palatino Linotype"/>
                <a:cs typeface="Palatino Linotype"/>
              </a:rPr>
              <a:t>testq </a:t>
            </a:r>
            <a:r>
              <a:rPr dirty="0" sz="1000" spc="-25">
                <a:latin typeface="Georgia"/>
                <a:cs typeface="Georgia"/>
              </a:rPr>
              <a:t>Src2, </a:t>
            </a:r>
            <a:r>
              <a:rPr dirty="0" sz="1000">
                <a:latin typeface="Georgia"/>
                <a:cs typeface="Georgia"/>
              </a:rPr>
              <a:t>Src1  </a:t>
            </a:r>
            <a:r>
              <a:rPr dirty="0" sz="1000" spc="-50">
                <a:latin typeface="Palatino Linotype"/>
                <a:cs typeface="Palatino Linotype"/>
              </a:rPr>
              <a:t>jmp</a:t>
            </a:r>
            <a:r>
              <a:rPr dirty="0" sz="1000" spc="50">
                <a:latin typeface="Palatino Linotype"/>
                <a:cs typeface="Palatino Linotype"/>
              </a:rPr>
              <a:t> </a:t>
            </a:r>
            <a:r>
              <a:rPr dirty="0" sz="1000" spc="100">
                <a:latin typeface="Palatino Linotype"/>
                <a:cs typeface="Palatino Linotype"/>
              </a:rPr>
              <a:t>label</a:t>
            </a:r>
            <a:endParaRPr sz="1000">
              <a:latin typeface="Palatino Linotype"/>
              <a:cs typeface="Palatino Linotype"/>
            </a:endParaRPr>
          </a:p>
          <a:p>
            <a:pPr marL="12700" marR="270510">
              <a:lnSpc>
                <a:spcPts val="1200"/>
              </a:lnSpc>
              <a:spcBef>
                <a:spcPts val="25"/>
              </a:spcBef>
            </a:pPr>
            <a:r>
              <a:rPr dirty="0" sz="1000" spc="165">
                <a:latin typeface="Palatino Linotype"/>
                <a:cs typeface="Palatino Linotype"/>
              </a:rPr>
              <a:t>je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90">
                <a:latin typeface="Palatino Linotype"/>
                <a:cs typeface="Palatino Linotype"/>
              </a:rPr>
              <a:t>jne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190">
                <a:latin typeface="Palatino Linotype"/>
                <a:cs typeface="Palatino Linotype"/>
              </a:rPr>
              <a:t>js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105">
                <a:latin typeface="Palatino Linotype"/>
                <a:cs typeface="Palatino Linotype"/>
              </a:rPr>
              <a:t>jns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125">
                <a:latin typeface="Palatino Linotype"/>
                <a:cs typeface="Palatino Linotype"/>
              </a:rPr>
              <a:t>jg </a:t>
            </a:r>
            <a:r>
              <a:rPr dirty="0" sz="1000" spc="100">
                <a:latin typeface="Palatino Linotype"/>
                <a:cs typeface="Palatino Linotype"/>
              </a:rPr>
              <a:t>label  jge label  </a:t>
            </a:r>
            <a:r>
              <a:rPr dirty="0" sz="1000" spc="260">
                <a:latin typeface="Palatino Linotype"/>
                <a:cs typeface="Palatino Linotype"/>
              </a:rPr>
              <a:t>jl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185">
                <a:latin typeface="Palatino Linotype"/>
                <a:cs typeface="Palatino Linotype"/>
              </a:rPr>
              <a:t>jle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155">
                <a:latin typeface="Palatino Linotype"/>
                <a:cs typeface="Palatino Linotype"/>
              </a:rPr>
              <a:t>ja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125">
                <a:latin typeface="Palatino Linotype"/>
                <a:cs typeface="Palatino Linotype"/>
              </a:rPr>
              <a:t>jb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-35">
                <a:latin typeface="Palatino Linotype"/>
                <a:cs typeface="Palatino Linotype"/>
              </a:rPr>
              <a:t>pushq </a:t>
            </a:r>
            <a:r>
              <a:rPr dirty="0" sz="1000" spc="-20">
                <a:latin typeface="Georgia"/>
                <a:cs typeface="Georgia"/>
              </a:rPr>
              <a:t>Src  </a:t>
            </a:r>
            <a:r>
              <a:rPr dirty="0" sz="1000" spc="-55">
                <a:latin typeface="Palatino Linotype"/>
                <a:cs typeface="Palatino Linotype"/>
              </a:rPr>
              <a:t>popq </a:t>
            </a:r>
            <a:r>
              <a:rPr dirty="0" sz="1000" spc="-15">
                <a:latin typeface="Georgia"/>
                <a:cs typeface="Georgia"/>
              </a:rPr>
              <a:t>Dest  </a:t>
            </a:r>
            <a:r>
              <a:rPr dirty="0" sz="1000" spc="140">
                <a:latin typeface="Palatino Linotype"/>
                <a:cs typeface="Palatino Linotype"/>
              </a:rPr>
              <a:t>call </a:t>
            </a:r>
            <a:r>
              <a:rPr dirty="0" sz="1000" spc="100">
                <a:latin typeface="Palatino Linotype"/>
                <a:cs typeface="Palatino Linotype"/>
              </a:rPr>
              <a:t>label  </a:t>
            </a:r>
            <a:r>
              <a:rPr dirty="0" sz="1000" spc="120">
                <a:latin typeface="Palatino Linotype"/>
                <a:cs typeface="Palatino Linotype"/>
              </a:rPr>
              <a:t>ret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2707" y="6213310"/>
            <a:ext cx="2482850" cy="936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5156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eorgia"/>
                <a:cs typeface="Georgia"/>
              </a:rPr>
              <a:t>jump </a:t>
            </a:r>
            <a:r>
              <a:rPr dirty="0" sz="1000" spc="-20">
                <a:latin typeface="Georgia"/>
                <a:cs typeface="Georgia"/>
              </a:rPr>
              <a:t>above </a:t>
            </a:r>
            <a:r>
              <a:rPr dirty="0" sz="1000" spc="-30">
                <a:latin typeface="Georgia"/>
                <a:cs typeface="Georgia"/>
              </a:rPr>
              <a:t>(unsigned </a:t>
            </a:r>
            <a:r>
              <a:rPr dirty="0" sz="1000" spc="50" i="1">
                <a:latin typeface="Times New Roman"/>
                <a:cs typeface="Times New Roman"/>
              </a:rPr>
              <a:t>&gt;</a:t>
            </a:r>
            <a:r>
              <a:rPr dirty="0" sz="1000" spc="50">
                <a:latin typeface="Georgia"/>
                <a:cs typeface="Georgia"/>
              </a:rPr>
              <a:t>)  </a:t>
            </a:r>
            <a:r>
              <a:rPr dirty="0" sz="1000" spc="-25">
                <a:latin typeface="Georgia"/>
                <a:cs typeface="Georgia"/>
              </a:rPr>
              <a:t>jump below </a:t>
            </a:r>
            <a:r>
              <a:rPr dirty="0" sz="1000" spc="-30">
                <a:latin typeface="Georgia"/>
                <a:cs typeface="Georgia"/>
              </a:rPr>
              <a:t>(unsigned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&lt;</a:t>
            </a:r>
            <a:r>
              <a:rPr dirty="0" sz="1000" spc="5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marL="12700" marR="347345">
              <a:lnSpc>
                <a:spcPts val="1190"/>
              </a:lnSpc>
              <a:spcBef>
                <a:spcPts val="40"/>
              </a:spcBef>
            </a:pPr>
            <a:r>
              <a:rPr dirty="0" sz="1000" spc="-20">
                <a:latin typeface="Georgia"/>
                <a:cs typeface="Georgia"/>
              </a:rPr>
              <a:t>%rsp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20">
                <a:latin typeface="Georgia"/>
                <a:cs typeface="Georgia"/>
              </a:rPr>
              <a:t>%rsp </a:t>
            </a:r>
            <a:r>
              <a:rPr dirty="0" sz="1000" spc="-50">
                <a:latin typeface="Georgia"/>
                <a:cs typeface="Georgia"/>
              </a:rPr>
              <a:t>8, </a:t>
            </a:r>
            <a:r>
              <a:rPr dirty="0" sz="1000" spc="-45">
                <a:latin typeface="Georgia"/>
                <a:cs typeface="Georgia"/>
              </a:rPr>
              <a:t>Mem[%rsp]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20">
                <a:latin typeface="Georgia"/>
                <a:cs typeface="Georgia"/>
              </a:rPr>
              <a:t>Src 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Mem[%rsp], </a:t>
            </a:r>
            <a:r>
              <a:rPr dirty="0" sz="1000" spc="-20">
                <a:latin typeface="Georgia"/>
                <a:cs typeface="Georgia"/>
              </a:rPr>
              <a:t>%rsp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20">
                <a:latin typeface="Georgia"/>
                <a:cs typeface="Georgia"/>
              </a:rPr>
              <a:t>%rsp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275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8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60"/>
              </a:lnSpc>
            </a:pPr>
            <a:r>
              <a:rPr dirty="0" sz="1000" spc="-35">
                <a:latin typeface="Georgia"/>
                <a:cs typeface="Georgia"/>
              </a:rPr>
              <a:t>push </a:t>
            </a:r>
            <a:r>
              <a:rPr dirty="0" sz="1000" spc="-30">
                <a:latin typeface="Georgia"/>
                <a:cs typeface="Georgia"/>
              </a:rPr>
              <a:t>address </a:t>
            </a:r>
            <a:r>
              <a:rPr dirty="0" sz="1000" spc="-35">
                <a:latin typeface="Georgia"/>
                <a:cs typeface="Georgia"/>
              </a:rPr>
              <a:t>of </a:t>
            </a:r>
            <a:r>
              <a:rPr dirty="0" sz="1000" spc="-10">
                <a:latin typeface="Georgia"/>
                <a:cs typeface="Georgia"/>
              </a:rPr>
              <a:t>next </a:t>
            </a:r>
            <a:r>
              <a:rPr dirty="0" sz="1000" spc="-20">
                <a:latin typeface="Georgia"/>
                <a:cs typeface="Georgia"/>
              </a:rPr>
              <a:t>instruction, </a:t>
            </a:r>
            <a:r>
              <a:rPr dirty="0" sz="1000" spc="-50">
                <a:latin typeface="Palatino Linotype"/>
                <a:cs typeface="Palatino Linotype"/>
              </a:rPr>
              <a:t>jmp</a:t>
            </a:r>
            <a:r>
              <a:rPr dirty="0" sz="1000">
                <a:latin typeface="Palatino Linotype"/>
                <a:cs typeface="Palatino Linotype"/>
              </a:rPr>
              <a:t> </a:t>
            </a:r>
            <a:r>
              <a:rPr dirty="0" sz="1000" spc="100">
                <a:latin typeface="Palatino Linotype"/>
                <a:cs typeface="Palatino Linotype"/>
              </a:rPr>
              <a:t>label</a:t>
            </a:r>
            <a:endParaRPr sz="1000">
              <a:latin typeface="Palatino Linotype"/>
              <a:cs typeface="Palatino Linotype"/>
            </a:endParaRPr>
          </a:p>
          <a:p>
            <a:pPr marL="12700">
              <a:lnSpc>
                <a:spcPts val="1195"/>
              </a:lnSpc>
            </a:pPr>
            <a:r>
              <a:rPr dirty="0" sz="1000" spc="-10">
                <a:latin typeface="Georgia"/>
                <a:cs typeface="Georgia"/>
              </a:rPr>
              <a:t>%rip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Mem[%rsp], </a:t>
            </a:r>
            <a:r>
              <a:rPr dirty="0" sz="1000" spc="-20">
                <a:latin typeface="Georgia"/>
                <a:cs typeface="Georgia"/>
              </a:rPr>
              <a:t>%rsp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20">
                <a:latin typeface="Georgia"/>
                <a:cs typeface="Georgia"/>
              </a:rPr>
              <a:t>%rsp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254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8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17315" y="940752"/>
            <a:ext cx="16776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45" b="1">
                <a:latin typeface="Palatino Linotype"/>
                <a:cs typeface="Palatino Linotype"/>
              </a:rPr>
              <a:t>Arithmetic</a:t>
            </a:r>
            <a:r>
              <a:rPr dirty="0" sz="1200" spc="90" b="1">
                <a:latin typeface="Palatino Linotype"/>
                <a:cs typeface="Palatino Linotype"/>
              </a:rPr>
              <a:t> </a:t>
            </a:r>
            <a:r>
              <a:rPr dirty="0" sz="1200" spc="30" b="1">
                <a:latin typeface="Palatino Linotype"/>
                <a:cs typeface="Palatino Linotype"/>
              </a:rPr>
              <a:t>operations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24304" y="1196302"/>
            <a:ext cx="12319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30">
                <a:latin typeface="Georgia"/>
                <a:cs typeface="Georgia"/>
              </a:rPr>
              <a:t>address </a:t>
            </a:r>
            <a:r>
              <a:rPr dirty="0" sz="1000" spc="-35">
                <a:latin typeface="Georgia"/>
                <a:cs typeface="Georgia"/>
              </a:rPr>
              <a:t>of </a:t>
            </a:r>
            <a:r>
              <a:rPr dirty="0" sz="1000" spc="-20">
                <a:latin typeface="Georgia"/>
                <a:cs typeface="Georgia"/>
              </a:rPr>
              <a:t>Src 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235">
                <a:latin typeface="Georgia"/>
                <a:cs typeface="Georgia"/>
              </a:rPr>
              <a:t> </a:t>
            </a:r>
            <a:r>
              <a:rPr dirty="0" sz="1000" spc="65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24754" y="1499959"/>
            <a:ext cx="9582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220">
                <a:latin typeface="Cambria"/>
                <a:cs typeface="Cambria"/>
              </a:rPr>
              <a:t>−</a:t>
            </a:r>
            <a:r>
              <a:rPr dirty="0" sz="1000" spc="229">
                <a:latin typeface="Cambria"/>
                <a:cs typeface="Cambria"/>
              </a:rPr>
              <a:t> </a:t>
            </a:r>
            <a:r>
              <a:rPr dirty="0" sz="1000" spc="65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4304" y="1651724"/>
            <a:ext cx="1071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21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Src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24304" y="1803616"/>
            <a:ext cx="1071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220">
                <a:latin typeface="Cambria"/>
                <a:cs typeface="Cambria"/>
              </a:rPr>
              <a:t>−</a:t>
            </a:r>
            <a:r>
              <a:rPr dirty="0" sz="1000" spc="235">
                <a:latin typeface="Cambria"/>
                <a:cs typeface="Cambria"/>
              </a:rPr>
              <a:t> </a:t>
            </a:r>
            <a:r>
              <a:rPr dirty="0" sz="1000" spc="-20">
                <a:latin typeface="Georgia"/>
                <a:cs typeface="Georgia"/>
              </a:rPr>
              <a:t>Src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24423" y="1955381"/>
            <a:ext cx="103631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5">
                <a:latin typeface="Cambria"/>
                <a:cs typeface="Cambria"/>
              </a:rPr>
              <a:t>∗</a:t>
            </a:r>
            <a:r>
              <a:rPr dirty="0" sz="1000" spc="235">
                <a:latin typeface="Cambria"/>
                <a:cs typeface="Cambria"/>
              </a:rPr>
              <a:t> </a:t>
            </a:r>
            <a:r>
              <a:rPr dirty="0" sz="1000" spc="-20">
                <a:latin typeface="Georgia"/>
                <a:cs typeface="Georgia"/>
              </a:rPr>
              <a:t>Src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24304" y="2107273"/>
            <a:ext cx="103631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-5">
                <a:latin typeface="Georgia"/>
                <a:cs typeface="Georgia"/>
              </a:rPr>
              <a:t>ˆ</a:t>
            </a:r>
            <a:r>
              <a:rPr dirty="0" sz="1000" spc="22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Src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24311" y="2259038"/>
            <a:ext cx="1008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-40">
                <a:latin typeface="Cambria"/>
                <a:cs typeface="Cambria"/>
              </a:rPr>
              <a:t>|</a:t>
            </a:r>
            <a:r>
              <a:rPr dirty="0" sz="1000" spc="55">
                <a:latin typeface="Cambria"/>
                <a:cs typeface="Cambria"/>
              </a:rPr>
              <a:t> </a:t>
            </a:r>
            <a:r>
              <a:rPr dirty="0" sz="1000" spc="-20">
                <a:latin typeface="Georgia"/>
                <a:cs typeface="Georgia"/>
              </a:rPr>
              <a:t>Src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24304" y="2410930"/>
            <a:ext cx="1071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60">
                <a:latin typeface="Georgia"/>
                <a:cs typeface="Georgia"/>
              </a:rPr>
              <a:t>&amp;</a:t>
            </a:r>
            <a:r>
              <a:rPr dirty="0" sz="1000" spc="22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Src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24754" y="2562695"/>
            <a:ext cx="852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220">
                <a:latin typeface="Cambria"/>
                <a:cs typeface="Cambria"/>
              </a:rPr>
              <a:t>−</a:t>
            </a:r>
            <a:r>
              <a:rPr dirty="0" sz="1000" spc="-110">
                <a:latin typeface="Cambria"/>
                <a:cs typeface="Cambria"/>
              </a:rPr>
              <a:t> </a:t>
            </a:r>
            <a:r>
              <a:rPr dirty="0" sz="1000" spc="-15">
                <a:latin typeface="Georgia"/>
                <a:cs typeface="Georgia"/>
              </a:rPr>
              <a:t>Dest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24754" y="2714587"/>
            <a:ext cx="852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60">
                <a:latin typeface="Cambria"/>
                <a:cs typeface="Cambria"/>
              </a:rPr>
              <a:t>∼</a:t>
            </a:r>
            <a:r>
              <a:rPr dirty="0" sz="1000" spc="-110">
                <a:latin typeface="Cambria"/>
                <a:cs typeface="Cambria"/>
              </a:rPr>
              <a:t> </a:t>
            </a:r>
            <a:r>
              <a:rPr dirty="0" sz="1000" spc="-15">
                <a:latin typeface="Georgia"/>
                <a:cs typeface="Georgia"/>
              </a:rPr>
              <a:t>Dest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24494" y="2866352"/>
            <a:ext cx="9817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05">
                <a:latin typeface="Cambria"/>
                <a:cs typeface="Cambria"/>
              </a:rPr>
              <a:t>≪</a:t>
            </a:r>
            <a:r>
              <a:rPr dirty="0" sz="1000" spc="225">
                <a:latin typeface="Cambria"/>
                <a:cs typeface="Cambria"/>
              </a:rPr>
              <a:t> </a:t>
            </a:r>
            <a:r>
              <a:rPr dirty="0" sz="1000" spc="-5" b="0" i="1">
                <a:latin typeface="Segoe UI Semilight"/>
                <a:cs typeface="Segoe UI Semilight"/>
              </a:rPr>
              <a:t>k</a:t>
            </a:r>
            <a:endParaRPr sz="1000">
              <a:latin typeface="Segoe UI Semilight"/>
              <a:cs typeface="Segoe UI Semiligh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4494" y="3018244"/>
            <a:ext cx="170116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05">
                <a:latin typeface="Cambria"/>
                <a:cs typeface="Cambria"/>
              </a:rPr>
              <a:t>≫ </a:t>
            </a:r>
            <a:r>
              <a:rPr dirty="0" sz="1000" spc="-5" b="0" i="1">
                <a:latin typeface="Segoe UI Semilight"/>
                <a:cs typeface="Segoe UI Semilight"/>
              </a:rPr>
              <a:t>k</a:t>
            </a:r>
            <a:r>
              <a:rPr dirty="0" sz="1000" spc="15" b="0" i="1">
                <a:latin typeface="Segoe UI Semilight"/>
                <a:cs typeface="Segoe UI Semilight"/>
              </a:rPr>
              <a:t> </a:t>
            </a:r>
            <a:r>
              <a:rPr dirty="0" sz="1000" spc="-15">
                <a:latin typeface="Georgia"/>
                <a:cs typeface="Georgia"/>
              </a:rPr>
              <a:t>(arithmetic)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93134" y="1196302"/>
            <a:ext cx="904875" cy="2151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112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latin typeface="Palatino Linotype"/>
                <a:cs typeface="Palatino Linotype"/>
              </a:rPr>
              <a:t>leaq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50">
                <a:latin typeface="Palatino Linotype"/>
                <a:cs typeface="Palatino Linotype"/>
              </a:rPr>
              <a:t>incq </a:t>
            </a:r>
            <a:r>
              <a:rPr dirty="0" sz="1000" spc="-15">
                <a:latin typeface="Georgia"/>
                <a:cs typeface="Georgia"/>
              </a:rPr>
              <a:t>Dest  </a:t>
            </a:r>
            <a:r>
              <a:rPr dirty="0" sz="1000" spc="-5">
                <a:latin typeface="Palatino Linotype"/>
                <a:cs typeface="Palatino Linotype"/>
              </a:rPr>
              <a:t>decq </a:t>
            </a:r>
            <a:r>
              <a:rPr dirty="0" sz="1000" spc="-15">
                <a:latin typeface="Georgia"/>
                <a:cs typeface="Georgia"/>
              </a:rPr>
              <a:t>Dest  </a:t>
            </a:r>
            <a:r>
              <a:rPr dirty="0" sz="1000" spc="-50">
                <a:latin typeface="Palatino Linotype"/>
                <a:cs typeface="Palatino Linotype"/>
              </a:rPr>
              <a:t>addq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15">
                <a:latin typeface="Palatino Linotype"/>
                <a:cs typeface="Palatino Linotype"/>
              </a:rPr>
              <a:t>subq </a:t>
            </a:r>
            <a:r>
              <a:rPr dirty="0" sz="1000" spc="-15">
                <a:latin typeface="Georgia"/>
                <a:cs typeface="Georgia"/>
              </a:rPr>
              <a:t>Src,</a:t>
            </a:r>
            <a:r>
              <a:rPr dirty="0" sz="1000" spc="12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Dest</a:t>
            </a:r>
            <a:endParaRPr sz="1000">
              <a:latin typeface="Georgia"/>
              <a:cs typeface="Georgia"/>
            </a:endParaRPr>
          </a:p>
          <a:p>
            <a:pPr marL="12700" marR="5080">
              <a:lnSpc>
                <a:spcPts val="1200"/>
              </a:lnSpc>
              <a:spcBef>
                <a:spcPts val="15"/>
              </a:spcBef>
            </a:pPr>
            <a:r>
              <a:rPr dirty="0" sz="1000" spc="-5">
                <a:latin typeface="Palatino Linotype"/>
                <a:cs typeface="Palatino Linotype"/>
              </a:rPr>
              <a:t>imulq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15">
                <a:latin typeface="Palatino Linotype"/>
                <a:cs typeface="Palatino Linotype"/>
              </a:rPr>
              <a:t>xorq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20">
                <a:latin typeface="Palatino Linotype"/>
                <a:cs typeface="Palatino Linotype"/>
              </a:rPr>
              <a:t>orq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45">
                <a:latin typeface="Palatino Linotype"/>
                <a:cs typeface="Palatino Linotype"/>
              </a:rPr>
              <a:t>andq </a:t>
            </a:r>
            <a:r>
              <a:rPr dirty="0" sz="1000" spc="-15">
                <a:latin typeface="Georgia"/>
                <a:cs typeface="Georgia"/>
              </a:rPr>
              <a:t>Src, Dest  </a:t>
            </a:r>
            <a:r>
              <a:rPr dirty="0" sz="1000" spc="-25">
                <a:latin typeface="Palatino Linotype"/>
                <a:cs typeface="Palatino Linotype"/>
              </a:rPr>
              <a:t>negq</a:t>
            </a:r>
            <a:r>
              <a:rPr dirty="0" sz="1000" spc="70">
                <a:latin typeface="Palatino Linotype"/>
                <a:cs typeface="Palatino Linotype"/>
              </a:rPr>
              <a:t> </a:t>
            </a:r>
            <a:r>
              <a:rPr dirty="0" sz="1000" spc="-15">
                <a:latin typeface="Georgia"/>
                <a:cs typeface="Georgia"/>
              </a:rPr>
              <a:t>Dest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35"/>
              </a:lnSpc>
            </a:pPr>
            <a:r>
              <a:rPr dirty="0" sz="1000" spc="15">
                <a:latin typeface="Palatino Linotype"/>
                <a:cs typeface="Palatino Linotype"/>
              </a:rPr>
              <a:t>notq</a:t>
            </a:r>
            <a:r>
              <a:rPr dirty="0" sz="1000" spc="10">
                <a:latin typeface="Palatino Linotype"/>
                <a:cs typeface="Palatino Linotype"/>
              </a:rPr>
              <a:t> </a:t>
            </a:r>
            <a:r>
              <a:rPr dirty="0" sz="1000" spc="-15">
                <a:latin typeface="Georgia"/>
                <a:cs typeface="Georgia"/>
              </a:rPr>
              <a:t>Dest</a:t>
            </a:r>
            <a:endParaRPr sz="1000">
              <a:latin typeface="Georgia"/>
              <a:cs typeface="Georgia"/>
            </a:endParaRPr>
          </a:p>
          <a:p>
            <a:pPr algn="just" marL="12700" marR="189230">
              <a:lnSpc>
                <a:spcPts val="1200"/>
              </a:lnSpc>
              <a:spcBef>
                <a:spcPts val="40"/>
              </a:spcBef>
            </a:pPr>
            <a:r>
              <a:rPr dirty="0" sz="1000" spc="75">
                <a:latin typeface="Palatino Linotype"/>
                <a:cs typeface="Palatino Linotype"/>
              </a:rPr>
              <a:t>salq </a:t>
            </a:r>
            <a:r>
              <a:rPr dirty="0" sz="1000" b="0" i="1">
                <a:latin typeface="Segoe UI Semilight"/>
                <a:cs typeface="Segoe UI Semilight"/>
              </a:rPr>
              <a:t>k</a:t>
            </a:r>
            <a:r>
              <a:rPr dirty="0" sz="1000">
                <a:latin typeface="Georgia"/>
                <a:cs typeface="Georgia"/>
              </a:rPr>
              <a:t>, </a:t>
            </a:r>
            <a:r>
              <a:rPr dirty="0" sz="1000" spc="-15">
                <a:latin typeface="Georgia"/>
                <a:cs typeface="Georgia"/>
              </a:rPr>
              <a:t>Dest  </a:t>
            </a:r>
            <a:r>
              <a:rPr dirty="0" sz="1000" spc="50">
                <a:latin typeface="Palatino Linotype"/>
                <a:cs typeface="Palatino Linotype"/>
              </a:rPr>
              <a:t>sarq </a:t>
            </a:r>
            <a:r>
              <a:rPr dirty="0" sz="1000" b="0" i="1">
                <a:latin typeface="Segoe UI Semilight"/>
                <a:cs typeface="Segoe UI Semilight"/>
              </a:rPr>
              <a:t>k</a:t>
            </a:r>
            <a:r>
              <a:rPr dirty="0" sz="1000">
                <a:latin typeface="Georgia"/>
                <a:cs typeface="Georgia"/>
              </a:rPr>
              <a:t>, </a:t>
            </a:r>
            <a:r>
              <a:rPr dirty="0" sz="1000" spc="-15">
                <a:latin typeface="Georgia"/>
                <a:cs typeface="Georgia"/>
              </a:rPr>
              <a:t>Dest  </a:t>
            </a:r>
            <a:r>
              <a:rPr dirty="0" sz="1000" spc="30">
                <a:latin typeface="Palatino Linotype"/>
                <a:cs typeface="Palatino Linotype"/>
              </a:rPr>
              <a:t>shrq </a:t>
            </a:r>
            <a:r>
              <a:rPr dirty="0" sz="1000" b="0" i="1">
                <a:latin typeface="Segoe UI Semilight"/>
                <a:cs typeface="Segoe UI Semilight"/>
              </a:rPr>
              <a:t>k</a:t>
            </a:r>
            <a:r>
              <a:rPr dirty="0" sz="1000">
                <a:latin typeface="Georgia"/>
                <a:cs typeface="Georgia"/>
              </a:rPr>
              <a:t>,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Dest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24494" y="3170009"/>
            <a:ext cx="1482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Dest </a:t>
            </a:r>
            <a:r>
              <a:rPr dirty="0" sz="1000" spc="105">
                <a:latin typeface="Cambria"/>
                <a:cs typeface="Cambria"/>
              </a:rPr>
              <a:t>≫ </a:t>
            </a:r>
            <a:r>
              <a:rPr dirty="0" sz="1000" spc="-5" b="0" i="1">
                <a:latin typeface="Segoe UI Semilight"/>
                <a:cs typeface="Segoe UI Semilight"/>
              </a:rPr>
              <a:t>k</a:t>
            </a:r>
            <a:r>
              <a:rPr dirty="0" sz="1000" spc="254" b="0" i="1">
                <a:latin typeface="Segoe UI Semilight"/>
                <a:cs typeface="Segoe UI Semilight"/>
              </a:rPr>
              <a:t> </a:t>
            </a:r>
            <a:r>
              <a:rPr dirty="0" sz="1000" spc="-15">
                <a:latin typeface="Georgia"/>
                <a:cs typeface="Georgia"/>
              </a:rPr>
              <a:t>(logical)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17315" y="3487852"/>
            <a:ext cx="1650364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40" b="1">
                <a:latin typeface="Palatino Linotype"/>
                <a:cs typeface="Palatino Linotype"/>
              </a:rPr>
              <a:t>Addressing</a:t>
            </a:r>
            <a:r>
              <a:rPr dirty="0" sz="1400" spc="105" b="1">
                <a:latin typeface="Palatino Linotype"/>
                <a:cs typeface="Palatino Linotype"/>
              </a:rPr>
              <a:t> </a:t>
            </a:r>
            <a:r>
              <a:rPr dirty="0" sz="1400" spc="50" b="1">
                <a:latin typeface="Palatino Linotype"/>
                <a:cs typeface="Palatino Linotype"/>
              </a:rPr>
              <a:t>modes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07053" y="3820629"/>
            <a:ext cx="831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indent="-127000">
              <a:lnSpc>
                <a:spcPct val="100000"/>
              </a:lnSpc>
              <a:spcBef>
                <a:spcPts val="95"/>
              </a:spcBef>
              <a:buFont typeface="Cambria"/>
              <a:buChar char="•"/>
              <a:tabLst>
                <a:tab pos="139700" algn="l"/>
              </a:tabLst>
            </a:pPr>
            <a:r>
              <a:rPr dirty="0" sz="1000" spc="-35" b="1">
                <a:latin typeface="Georgia"/>
                <a:cs typeface="Georgia"/>
              </a:rPr>
              <a:t>Immediate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33545" y="3972395"/>
            <a:ext cx="148971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40">
                <a:latin typeface="Georgia"/>
                <a:cs typeface="Georgia"/>
              </a:rPr>
              <a:t>$val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Val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</a:pPr>
            <a:r>
              <a:rPr dirty="0" sz="1000" spc="-20">
                <a:latin typeface="Georgia"/>
                <a:cs typeface="Georgia"/>
              </a:rPr>
              <a:t>val: </a:t>
            </a:r>
            <a:r>
              <a:rPr dirty="0" sz="1000" spc="-15">
                <a:latin typeface="Georgia"/>
                <a:cs typeface="Georgia"/>
              </a:rPr>
              <a:t>constant </a:t>
            </a:r>
            <a:r>
              <a:rPr dirty="0" sz="1000" spc="-30">
                <a:latin typeface="Georgia"/>
                <a:cs typeface="Georgia"/>
              </a:rPr>
              <a:t>integer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value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-120">
                <a:latin typeface="Palatino Linotype"/>
                <a:cs typeface="Palatino Linotype"/>
              </a:rPr>
              <a:t>movq </a:t>
            </a:r>
            <a:r>
              <a:rPr dirty="0" sz="1000" spc="105">
                <a:latin typeface="Palatino Linotype"/>
                <a:cs typeface="Palatino Linotype"/>
              </a:rPr>
              <a:t>$7,</a:t>
            </a:r>
            <a:r>
              <a:rPr dirty="0" sz="1000" spc="254">
                <a:latin typeface="Palatino Linotype"/>
                <a:cs typeface="Palatino Linotype"/>
              </a:rPr>
              <a:t> </a:t>
            </a:r>
            <a:r>
              <a:rPr dirty="0" sz="1000" spc="-40">
                <a:latin typeface="Palatino Linotype"/>
                <a:cs typeface="Palatino Linotype"/>
              </a:rPr>
              <a:t>%rax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07053" y="4529163"/>
            <a:ext cx="6311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indent="-127000">
              <a:lnSpc>
                <a:spcPct val="100000"/>
              </a:lnSpc>
              <a:spcBef>
                <a:spcPts val="95"/>
              </a:spcBef>
              <a:buFont typeface="Cambria"/>
              <a:buChar char="•"/>
              <a:tabLst>
                <a:tab pos="139700" algn="l"/>
              </a:tabLst>
            </a:pPr>
            <a:r>
              <a:rPr dirty="0" sz="1000" spc="-30" b="1">
                <a:latin typeface="Georgia"/>
                <a:cs typeface="Georgia"/>
              </a:rPr>
              <a:t>Normal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33545" y="4681055"/>
            <a:ext cx="217106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dirty="0" sz="1000" spc="15">
                <a:latin typeface="Georgia"/>
                <a:cs typeface="Georgia"/>
              </a:rPr>
              <a:t>(R)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Mem[Reg[R]]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</a:pPr>
            <a:r>
              <a:rPr dirty="0" sz="1000" spc="-5">
                <a:latin typeface="Georgia"/>
                <a:cs typeface="Georgia"/>
              </a:rPr>
              <a:t>R: </a:t>
            </a:r>
            <a:r>
              <a:rPr dirty="0" sz="1000" spc="-25">
                <a:latin typeface="Georgia"/>
                <a:cs typeface="Georgia"/>
              </a:rPr>
              <a:t>register </a:t>
            </a:r>
            <a:r>
              <a:rPr dirty="0" sz="1000" spc="30">
                <a:latin typeface="Georgia"/>
                <a:cs typeface="Georgia"/>
              </a:rPr>
              <a:t>R </a:t>
            </a:r>
            <a:r>
              <a:rPr dirty="0" sz="1000" spc="-30">
                <a:latin typeface="Georgia"/>
                <a:cs typeface="Georgia"/>
              </a:rPr>
              <a:t>specifies memory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address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-120">
                <a:latin typeface="Palatino Linotype"/>
                <a:cs typeface="Palatino Linotype"/>
              </a:rPr>
              <a:t>movq </a:t>
            </a:r>
            <a:r>
              <a:rPr dirty="0" sz="1000" spc="75">
                <a:latin typeface="Palatino Linotype"/>
                <a:cs typeface="Palatino Linotype"/>
              </a:rPr>
              <a:t>(%rcx),</a:t>
            </a:r>
            <a:r>
              <a:rPr dirty="0" sz="1000" spc="260">
                <a:latin typeface="Palatino Linotype"/>
                <a:cs typeface="Palatino Linotype"/>
              </a:rPr>
              <a:t> </a:t>
            </a:r>
            <a:r>
              <a:rPr dirty="0" sz="1000" spc="-40">
                <a:latin typeface="Palatino Linotype"/>
                <a:cs typeface="Palatino Linotype"/>
              </a:rPr>
              <a:t>%rax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07053" y="5237696"/>
            <a:ext cx="1005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indent="-127000">
              <a:lnSpc>
                <a:spcPct val="100000"/>
              </a:lnSpc>
              <a:spcBef>
                <a:spcPts val="95"/>
              </a:spcBef>
              <a:buFont typeface="Cambria"/>
              <a:buChar char="•"/>
              <a:tabLst>
                <a:tab pos="139700" algn="l"/>
              </a:tabLst>
            </a:pPr>
            <a:r>
              <a:rPr dirty="0" sz="1000" spc="-35" b="1">
                <a:latin typeface="Georgia"/>
                <a:cs typeface="Georgia"/>
              </a:rPr>
              <a:t>Displacement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33545" y="5389588"/>
            <a:ext cx="2411730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 spc="10">
                <a:latin typeface="Georgia"/>
                <a:cs typeface="Georgia"/>
              </a:rPr>
              <a:t>D(R)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Mem[Reg[R]+D]</a:t>
            </a:r>
            <a:endParaRPr sz="1000">
              <a:latin typeface="Georgia"/>
              <a:cs typeface="Georgia"/>
            </a:endParaRPr>
          </a:p>
          <a:p>
            <a:pPr algn="just" marL="12700" marR="5080">
              <a:lnSpc>
                <a:spcPts val="1200"/>
              </a:lnSpc>
              <a:spcBef>
                <a:spcPts val="35"/>
              </a:spcBef>
            </a:pPr>
            <a:r>
              <a:rPr dirty="0" sz="1000" spc="-5">
                <a:latin typeface="Georgia"/>
                <a:cs typeface="Georgia"/>
              </a:rPr>
              <a:t>R: </a:t>
            </a:r>
            <a:r>
              <a:rPr dirty="0" sz="1000" spc="-25">
                <a:latin typeface="Georgia"/>
                <a:cs typeface="Georgia"/>
              </a:rPr>
              <a:t>register </a:t>
            </a:r>
            <a:r>
              <a:rPr dirty="0" sz="1000" spc="-30">
                <a:latin typeface="Georgia"/>
                <a:cs typeface="Georgia"/>
              </a:rPr>
              <a:t>specifies </a:t>
            </a:r>
            <a:r>
              <a:rPr dirty="0" sz="1000">
                <a:latin typeface="Georgia"/>
                <a:cs typeface="Georgia"/>
              </a:rPr>
              <a:t>start </a:t>
            </a:r>
            <a:r>
              <a:rPr dirty="0" sz="1000" spc="-35">
                <a:latin typeface="Georgia"/>
                <a:cs typeface="Georgia"/>
              </a:rPr>
              <a:t>of </a:t>
            </a:r>
            <a:r>
              <a:rPr dirty="0" sz="1000" spc="-30">
                <a:latin typeface="Georgia"/>
                <a:cs typeface="Georgia"/>
              </a:rPr>
              <a:t>memory </a:t>
            </a:r>
            <a:r>
              <a:rPr dirty="0" sz="1000" spc="-35">
                <a:latin typeface="Georgia"/>
                <a:cs typeface="Georgia"/>
              </a:rPr>
              <a:t>region  </a:t>
            </a:r>
            <a:r>
              <a:rPr dirty="0" sz="1000" spc="-15">
                <a:latin typeface="Georgia"/>
                <a:cs typeface="Georgia"/>
              </a:rPr>
              <a:t>D: constant </a:t>
            </a:r>
            <a:r>
              <a:rPr dirty="0" sz="1000" spc="-30">
                <a:latin typeface="Georgia"/>
                <a:cs typeface="Georgia"/>
              </a:rPr>
              <a:t>displacement </a:t>
            </a:r>
            <a:r>
              <a:rPr dirty="0" sz="1000" spc="10">
                <a:latin typeface="Georgia"/>
                <a:cs typeface="Georgia"/>
              </a:rPr>
              <a:t>D </a:t>
            </a:r>
            <a:r>
              <a:rPr dirty="0" sz="1000" spc="-30">
                <a:latin typeface="Georgia"/>
                <a:cs typeface="Georgia"/>
              </a:rPr>
              <a:t>specifies </a:t>
            </a:r>
            <a:r>
              <a:rPr dirty="0" sz="1000" spc="-25">
                <a:latin typeface="Georgia"/>
                <a:cs typeface="Georgia"/>
              </a:rPr>
              <a:t>oﬀset  </a:t>
            </a:r>
            <a:r>
              <a:rPr dirty="0" sz="1000" spc="-120">
                <a:latin typeface="Palatino Linotype"/>
                <a:cs typeface="Palatino Linotype"/>
              </a:rPr>
              <a:t>movq </a:t>
            </a:r>
            <a:r>
              <a:rPr dirty="0" sz="1000" spc="75">
                <a:latin typeface="Palatino Linotype"/>
                <a:cs typeface="Palatino Linotype"/>
              </a:rPr>
              <a:t>8(%rdi),</a:t>
            </a:r>
            <a:r>
              <a:rPr dirty="0" sz="1000" spc="265">
                <a:latin typeface="Palatino Linotype"/>
                <a:cs typeface="Palatino Linotype"/>
              </a:rPr>
              <a:t> </a:t>
            </a:r>
            <a:r>
              <a:rPr dirty="0" sz="1000" spc="-70">
                <a:latin typeface="Palatino Linotype"/>
                <a:cs typeface="Palatino Linotype"/>
              </a:rPr>
              <a:t>%rdx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07053" y="6098121"/>
            <a:ext cx="660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indent="-127000">
              <a:lnSpc>
                <a:spcPct val="100000"/>
              </a:lnSpc>
              <a:spcBef>
                <a:spcPts val="95"/>
              </a:spcBef>
              <a:buFont typeface="Cambria"/>
              <a:buChar char="•"/>
              <a:tabLst>
                <a:tab pos="139700" algn="l"/>
              </a:tabLst>
            </a:pPr>
            <a:r>
              <a:rPr dirty="0" sz="1000" spc="-30" b="1">
                <a:latin typeface="Georgia"/>
                <a:cs typeface="Georgia"/>
              </a:rPr>
              <a:t>Indexed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33545" y="6249886"/>
            <a:ext cx="2428240" cy="936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604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Georgia"/>
                <a:cs typeface="Georgia"/>
              </a:rPr>
              <a:t>D(Rb,Ri,S) </a:t>
            </a:r>
            <a:r>
              <a:rPr dirty="0" sz="1000" spc="-25">
                <a:latin typeface="Georgia"/>
                <a:cs typeface="Georgia"/>
              </a:rPr>
              <a:t>Mem[Reg[Rb]+S*Reg[Ri]+D]  </a:t>
            </a:r>
            <a:r>
              <a:rPr dirty="0" sz="1000" spc="-15">
                <a:latin typeface="Georgia"/>
                <a:cs typeface="Georgia"/>
              </a:rPr>
              <a:t>D: constant </a:t>
            </a:r>
            <a:r>
              <a:rPr dirty="0" sz="1000" spc="-30">
                <a:latin typeface="Georgia"/>
                <a:cs typeface="Georgia"/>
              </a:rPr>
              <a:t>displacement </a:t>
            </a:r>
            <a:r>
              <a:rPr dirty="0" sz="1000" spc="35">
                <a:latin typeface="Georgia"/>
                <a:cs typeface="Georgia"/>
              </a:rPr>
              <a:t>1, </a:t>
            </a:r>
            <a:r>
              <a:rPr dirty="0" sz="1000" spc="-30">
                <a:latin typeface="Georgia"/>
                <a:cs typeface="Georgia"/>
              </a:rPr>
              <a:t>2, or 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bytes</a:t>
            </a:r>
            <a:endParaRPr sz="1000">
              <a:latin typeface="Georgia"/>
              <a:cs typeface="Georgia"/>
            </a:endParaRPr>
          </a:p>
          <a:p>
            <a:pPr marL="12700" marR="5080">
              <a:lnSpc>
                <a:spcPts val="1200"/>
              </a:lnSpc>
              <a:spcBef>
                <a:spcPts val="30"/>
              </a:spcBef>
            </a:pPr>
            <a:r>
              <a:rPr dirty="0" sz="1000" spc="-5">
                <a:latin typeface="Georgia"/>
                <a:cs typeface="Georgia"/>
              </a:rPr>
              <a:t>Rb: </a:t>
            </a:r>
            <a:r>
              <a:rPr dirty="0" sz="1000" spc="-30">
                <a:latin typeface="Georgia"/>
                <a:cs typeface="Georgia"/>
              </a:rPr>
              <a:t>base </a:t>
            </a:r>
            <a:r>
              <a:rPr dirty="0" sz="1000" spc="-25">
                <a:latin typeface="Georgia"/>
                <a:cs typeface="Georgia"/>
              </a:rPr>
              <a:t>register: </a:t>
            </a:r>
            <a:r>
              <a:rPr dirty="0" sz="1000" spc="-15">
                <a:latin typeface="Georgia"/>
                <a:cs typeface="Georgia"/>
              </a:rPr>
              <a:t>any </a:t>
            </a:r>
            <a:r>
              <a:rPr dirty="0" sz="1000" spc="-35">
                <a:latin typeface="Georgia"/>
                <a:cs typeface="Georgia"/>
              </a:rPr>
              <a:t>of </a:t>
            </a:r>
            <a:r>
              <a:rPr dirty="0" sz="1000" spc="-100">
                <a:latin typeface="Georgia"/>
                <a:cs typeface="Georgia"/>
              </a:rPr>
              <a:t>8 </a:t>
            </a:r>
            <a:r>
              <a:rPr dirty="0" sz="1000" spc="-30">
                <a:latin typeface="Georgia"/>
                <a:cs typeface="Georgia"/>
              </a:rPr>
              <a:t>integer registers  </a:t>
            </a:r>
            <a:r>
              <a:rPr dirty="0" sz="1000" spc="-10">
                <a:latin typeface="Georgia"/>
                <a:cs typeface="Georgia"/>
              </a:rPr>
              <a:t>Ri: </a:t>
            </a:r>
            <a:r>
              <a:rPr dirty="0" sz="1000" spc="-25">
                <a:latin typeface="Georgia"/>
                <a:cs typeface="Georgia"/>
              </a:rPr>
              <a:t>index register: </a:t>
            </a:r>
            <a:r>
              <a:rPr dirty="0" sz="1000" spc="-30">
                <a:latin typeface="Georgia"/>
                <a:cs typeface="Georgia"/>
              </a:rPr>
              <a:t>any, </a:t>
            </a:r>
            <a:r>
              <a:rPr dirty="0" sz="1000" spc="-10">
                <a:latin typeface="Georgia"/>
                <a:cs typeface="Georgia"/>
              </a:rPr>
              <a:t>except</a:t>
            </a:r>
            <a:r>
              <a:rPr dirty="0" sz="1000" spc="-14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%esp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50"/>
              </a:lnSpc>
            </a:pPr>
            <a:r>
              <a:rPr dirty="0" sz="1000" spc="-25">
                <a:latin typeface="Georgia"/>
                <a:cs typeface="Georgia"/>
              </a:rPr>
              <a:t>S: scale: </a:t>
            </a:r>
            <a:r>
              <a:rPr dirty="0" sz="1000" spc="35">
                <a:latin typeface="Georgia"/>
                <a:cs typeface="Georgia"/>
              </a:rPr>
              <a:t>1, </a:t>
            </a:r>
            <a:r>
              <a:rPr dirty="0" sz="1000" spc="-30">
                <a:latin typeface="Georgia"/>
                <a:cs typeface="Georgia"/>
              </a:rPr>
              <a:t>2, 4, or</a:t>
            </a:r>
            <a:r>
              <a:rPr dirty="0" sz="1000" spc="-145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8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-120">
                <a:latin typeface="Palatino Linotype"/>
                <a:cs typeface="Palatino Linotype"/>
              </a:rPr>
              <a:t>movq </a:t>
            </a:r>
            <a:r>
              <a:rPr dirty="0" sz="1000" spc="55">
                <a:latin typeface="Palatino Linotype"/>
                <a:cs typeface="Palatino Linotype"/>
              </a:rPr>
              <a:t>0x100(%rcx,%rax,4),</a:t>
            </a:r>
            <a:r>
              <a:rPr dirty="0" sz="1000" spc="254">
                <a:latin typeface="Palatino Linotype"/>
                <a:cs typeface="Palatino Linotype"/>
              </a:rPr>
              <a:t> </a:t>
            </a:r>
            <a:r>
              <a:rPr dirty="0" sz="1000" spc="-70">
                <a:latin typeface="Palatino Linotype"/>
                <a:cs typeface="Palatino Linotype"/>
              </a:rPr>
              <a:t>%rdx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98383" y="814218"/>
            <a:ext cx="1734820" cy="250761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400" spc="65" b="1">
                <a:latin typeface="Palatino Linotype"/>
                <a:cs typeface="Palatino Linotype"/>
              </a:rPr>
              <a:t>Instruction</a:t>
            </a:r>
            <a:r>
              <a:rPr dirty="0" sz="1400" spc="140" b="1">
                <a:latin typeface="Palatino Linotype"/>
                <a:cs typeface="Palatino Linotype"/>
              </a:rPr>
              <a:t> </a:t>
            </a:r>
            <a:r>
              <a:rPr dirty="0" sz="1400" spc="45" b="1">
                <a:latin typeface="Palatino Linotype"/>
                <a:cs typeface="Palatino Linotype"/>
              </a:rPr>
              <a:t>suﬃxes</a:t>
            </a:r>
            <a:endParaRPr sz="1400">
              <a:latin typeface="Palatino Linotype"/>
              <a:cs typeface="Palatino Linotype"/>
            </a:endParaRPr>
          </a:p>
          <a:p>
            <a:pPr marL="88265">
              <a:lnSpc>
                <a:spcPts val="1200"/>
              </a:lnSpc>
              <a:spcBef>
                <a:spcPts val="640"/>
              </a:spcBef>
              <a:tabLst>
                <a:tab pos="306705" algn="l"/>
              </a:tabLst>
            </a:pPr>
            <a:r>
              <a:rPr dirty="0" sz="1000" spc="-35">
                <a:latin typeface="Palatino Linotype"/>
                <a:cs typeface="Palatino Linotype"/>
              </a:rPr>
              <a:t>b	</a:t>
            </a:r>
            <a:r>
              <a:rPr dirty="0" sz="1000" spc="-5">
                <a:latin typeface="Georgia"/>
                <a:cs typeface="Georgia"/>
              </a:rPr>
              <a:t>byte</a:t>
            </a:r>
            <a:endParaRPr sz="1000">
              <a:latin typeface="Georgia"/>
              <a:cs typeface="Georgia"/>
            </a:endParaRPr>
          </a:p>
          <a:p>
            <a:pPr marL="88265" marR="614045">
              <a:lnSpc>
                <a:spcPts val="1200"/>
              </a:lnSpc>
              <a:spcBef>
                <a:spcPts val="40"/>
              </a:spcBef>
              <a:tabLst>
                <a:tab pos="306705" algn="l"/>
              </a:tabLst>
            </a:pPr>
            <a:r>
              <a:rPr dirty="0" sz="1000" spc="-315">
                <a:latin typeface="Palatino Linotype"/>
                <a:cs typeface="Palatino Linotype"/>
              </a:rPr>
              <a:t>w	</a:t>
            </a:r>
            <a:r>
              <a:rPr dirty="0" sz="1000" spc="-35">
                <a:latin typeface="Georgia"/>
                <a:cs typeface="Georgia"/>
              </a:rPr>
              <a:t>word </a:t>
            </a:r>
            <a:r>
              <a:rPr dirty="0" sz="1000" spc="-30">
                <a:latin typeface="Georgia"/>
                <a:cs typeface="Georgia"/>
              </a:rPr>
              <a:t>(2 </a:t>
            </a:r>
            <a:r>
              <a:rPr dirty="0" sz="1000" spc="-10">
                <a:latin typeface="Georgia"/>
                <a:cs typeface="Georgia"/>
              </a:rPr>
              <a:t>bytes)  </a:t>
            </a:r>
            <a:r>
              <a:rPr dirty="0" sz="1000" spc="229">
                <a:latin typeface="Palatino Linotype"/>
                <a:cs typeface="Palatino Linotype"/>
              </a:rPr>
              <a:t>l	</a:t>
            </a:r>
            <a:r>
              <a:rPr dirty="0" sz="1000" spc="-30">
                <a:latin typeface="Georgia"/>
                <a:cs typeface="Georgia"/>
              </a:rPr>
              <a:t>long (4 </a:t>
            </a:r>
            <a:r>
              <a:rPr dirty="0" sz="1000" spc="-10">
                <a:latin typeface="Georgia"/>
                <a:cs typeface="Georgia"/>
              </a:rPr>
              <a:t>bytes)  </a:t>
            </a:r>
            <a:r>
              <a:rPr dirty="0" sz="1000" spc="-40">
                <a:latin typeface="Palatino Linotype"/>
                <a:cs typeface="Palatino Linotype"/>
              </a:rPr>
              <a:t>q	</a:t>
            </a:r>
            <a:r>
              <a:rPr dirty="0" sz="1000" spc="-25">
                <a:latin typeface="Georgia"/>
                <a:cs typeface="Georgia"/>
              </a:rPr>
              <a:t>quad </a:t>
            </a:r>
            <a:r>
              <a:rPr dirty="0" sz="1000" spc="-50">
                <a:latin typeface="Georgia"/>
                <a:cs typeface="Georgia"/>
              </a:rPr>
              <a:t>(8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bytes)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400" spc="45" b="1">
                <a:latin typeface="Palatino Linotype"/>
                <a:cs typeface="Palatino Linotype"/>
              </a:rPr>
              <a:t>Condition</a:t>
            </a:r>
            <a:r>
              <a:rPr dirty="0" sz="1400" spc="170" b="1">
                <a:latin typeface="Palatino Linotype"/>
                <a:cs typeface="Palatino Linotype"/>
              </a:rPr>
              <a:t> </a:t>
            </a:r>
            <a:r>
              <a:rPr dirty="0" sz="1400" spc="50" b="1">
                <a:latin typeface="Palatino Linotype"/>
                <a:cs typeface="Palatino Linotype"/>
              </a:rPr>
              <a:t>codes</a:t>
            </a:r>
            <a:endParaRPr sz="1400">
              <a:latin typeface="Palatino Linotype"/>
              <a:cs typeface="Palatino Linotype"/>
            </a:endParaRPr>
          </a:p>
          <a:p>
            <a:pPr marL="88265" marR="678180">
              <a:lnSpc>
                <a:spcPct val="100000"/>
              </a:lnSpc>
              <a:spcBef>
                <a:spcPts val="645"/>
              </a:spcBef>
              <a:tabLst>
                <a:tab pos="440690" algn="l"/>
              </a:tabLst>
            </a:pPr>
            <a:r>
              <a:rPr dirty="0" sz="1000" spc="75" b="1">
                <a:latin typeface="Georgia"/>
                <a:cs typeface="Georgia"/>
              </a:rPr>
              <a:t>CF	</a:t>
            </a:r>
            <a:r>
              <a:rPr dirty="0" sz="1000" spc="10">
                <a:latin typeface="Georgia"/>
                <a:cs typeface="Georgia"/>
              </a:rPr>
              <a:t>Carry </a:t>
            </a:r>
            <a:r>
              <a:rPr dirty="0" sz="1000">
                <a:latin typeface="Georgia"/>
                <a:cs typeface="Georgia"/>
              </a:rPr>
              <a:t>Flag  </a:t>
            </a:r>
            <a:r>
              <a:rPr dirty="0" sz="1000" spc="25" b="1">
                <a:latin typeface="Georgia"/>
                <a:cs typeface="Georgia"/>
              </a:rPr>
              <a:t>ZF	</a:t>
            </a:r>
            <a:r>
              <a:rPr dirty="0" sz="1000" spc="-25">
                <a:latin typeface="Georgia"/>
                <a:cs typeface="Georgia"/>
              </a:rPr>
              <a:t>Zero </a:t>
            </a:r>
            <a:r>
              <a:rPr dirty="0" sz="1000">
                <a:latin typeface="Georgia"/>
                <a:cs typeface="Georgia"/>
              </a:rPr>
              <a:t>Flag  </a:t>
            </a:r>
            <a:r>
              <a:rPr dirty="0" sz="1000" spc="15" b="1">
                <a:latin typeface="Georgia"/>
                <a:cs typeface="Georgia"/>
              </a:rPr>
              <a:t>SF	</a:t>
            </a:r>
            <a:r>
              <a:rPr dirty="0" sz="1000" spc="-25">
                <a:latin typeface="Georgia"/>
                <a:cs typeface="Georgia"/>
              </a:rPr>
              <a:t>Sign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Flag</a:t>
            </a:r>
            <a:endParaRPr sz="1000">
              <a:latin typeface="Georgia"/>
              <a:cs typeface="Georgia"/>
            </a:endParaRPr>
          </a:p>
          <a:p>
            <a:pPr marL="88265">
              <a:lnSpc>
                <a:spcPts val="1185"/>
              </a:lnSpc>
              <a:tabLst>
                <a:tab pos="440690" algn="l"/>
              </a:tabLst>
            </a:pPr>
            <a:r>
              <a:rPr dirty="0" sz="1000" spc="40" b="1">
                <a:latin typeface="Georgia"/>
                <a:cs typeface="Georgia"/>
              </a:rPr>
              <a:t>OF	</a:t>
            </a:r>
            <a:r>
              <a:rPr dirty="0" sz="1000" spc="-25">
                <a:latin typeface="Georgia"/>
                <a:cs typeface="Georgia"/>
              </a:rPr>
              <a:t>Overflow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Flag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400" spc="55" b="1">
                <a:latin typeface="Palatino Linotype"/>
                <a:cs typeface="Palatino Linotype"/>
              </a:rPr>
              <a:t>Integer</a:t>
            </a:r>
            <a:r>
              <a:rPr dirty="0" sz="1400" spc="170" b="1">
                <a:latin typeface="Palatino Linotype"/>
                <a:cs typeface="Palatino Linotype"/>
              </a:rPr>
              <a:t> </a:t>
            </a:r>
            <a:r>
              <a:rPr dirty="0" sz="1400" spc="50" b="1">
                <a:latin typeface="Palatino Linotype"/>
                <a:cs typeface="Palatino Linotype"/>
              </a:rPr>
              <a:t>registers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74330" y="3412833"/>
            <a:ext cx="1335405" cy="2454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  <a:tabLst>
                <a:tab pos="459740" algn="l"/>
              </a:tabLst>
            </a:pPr>
            <a:r>
              <a:rPr dirty="0" sz="1000">
                <a:latin typeface="Georgia"/>
                <a:cs typeface="Georgia"/>
              </a:rPr>
              <a:t>%rax	</a:t>
            </a:r>
            <a:r>
              <a:rPr dirty="0" sz="1000" spc="-10">
                <a:latin typeface="Georgia"/>
                <a:cs typeface="Georgia"/>
              </a:rPr>
              <a:t>Return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value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10">
                <a:latin typeface="Georgia"/>
                <a:cs typeface="Georgia"/>
              </a:rPr>
              <a:t>%rbx	</a:t>
            </a:r>
            <a:r>
              <a:rPr dirty="0" sz="1000" spc="-5">
                <a:latin typeface="Georgia"/>
                <a:cs typeface="Georgia"/>
              </a:rPr>
              <a:t>Callee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saved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>
                <a:latin typeface="Georgia"/>
                <a:cs typeface="Georgia"/>
              </a:rPr>
              <a:t>%rcx	</a:t>
            </a:r>
            <a:r>
              <a:rPr dirty="0" sz="1000" spc="-20">
                <a:latin typeface="Georgia"/>
                <a:cs typeface="Georgia"/>
              </a:rPr>
              <a:t>4th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argument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5">
                <a:latin typeface="Georgia"/>
                <a:cs typeface="Georgia"/>
              </a:rPr>
              <a:t>%rdx	</a:t>
            </a:r>
            <a:r>
              <a:rPr dirty="0" sz="1000" spc="-35">
                <a:latin typeface="Georgia"/>
                <a:cs typeface="Georgia"/>
              </a:rPr>
              <a:t>3rd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argument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20">
                <a:latin typeface="Georgia"/>
                <a:cs typeface="Georgia"/>
              </a:rPr>
              <a:t>%rsi	</a:t>
            </a:r>
            <a:r>
              <a:rPr dirty="0" sz="1000" spc="-40">
                <a:latin typeface="Georgia"/>
                <a:cs typeface="Georgia"/>
              </a:rPr>
              <a:t>2nd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argument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15">
                <a:latin typeface="Georgia"/>
                <a:cs typeface="Georgia"/>
              </a:rPr>
              <a:t>%rdi	</a:t>
            </a:r>
            <a:r>
              <a:rPr dirty="0" sz="1000" spc="20">
                <a:latin typeface="Georgia"/>
                <a:cs typeface="Georgia"/>
              </a:rPr>
              <a:t>1st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argument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10">
                <a:latin typeface="Georgia"/>
                <a:cs typeface="Georgia"/>
              </a:rPr>
              <a:t>%rbp	</a:t>
            </a:r>
            <a:r>
              <a:rPr dirty="0" sz="1000" spc="-5">
                <a:latin typeface="Georgia"/>
                <a:cs typeface="Georgia"/>
              </a:rPr>
              <a:t>Callee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saved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20">
                <a:latin typeface="Georgia"/>
                <a:cs typeface="Georgia"/>
              </a:rPr>
              <a:t>%rsp	</a:t>
            </a:r>
            <a:r>
              <a:rPr dirty="0" sz="1000" spc="-10">
                <a:latin typeface="Georgia"/>
                <a:cs typeface="Georgia"/>
              </a:rPr>
              <a:t>Stack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pointer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35">
                <a:latin typeface="Georgia"/>
                <a:cs typeface="Georgia"/>
              </a:rPr>
              <a:t>%r8	</a:t>
            </a:r>
            <a:r>
              <a:rPr dirty="0" sz="1000" spc="-10">
                <a:latin typeface="Georgia"/>
                <a:cs typeface="Georgia"/>
              </a:rPr>
              <a:t>5th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argument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25">
                <a:latin typeface="Georgia"/>
                <a:cs typeface="Georgia"/>
              </a:rPr>
              <a:t>%r9	</a:t>
            </a:r>
            <a:r>
              <a:rPr dirty="0" sz="1000" spc="-20">
                <a:latin typeface="Georgia"/>
                <a:cs typeface="Georgia"/>
              </a:rPr>
              <a:t>6th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argument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15">
                <a:latin typeface="Georgia"/>
                <a:cs typeface="Georgia"/>
              </a:rPr>
              <a:t>%r10	Scratch</a:t>
            </a:r>
            <a:r>
              <a:rPr dirty="0" sz="1000" spc="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register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30">
                <a:latin typeface="Georgia"/>
                <a:cs typeface="Georgia"/>
              </a:rPr>
              <a:t>%r11	</a:t>
            </a:r>
            <a:r>
              <a:rPr dirty="0" sz="1000" spc="-15">
                <a:latin typeface="Georgia"/>
                <a:cs typeface="Georgia"/>
              </a:rPr>
              <a:t>Scratch</a:t>
            </a:r>
            <a:r>
              <a:rPr dirty="0" sz="1000" spc="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register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>
                <a:latin typeface="Georgia"/>
                <a:cs typeface="Georgia"/>
              </a:rPr>
              <a:t>%r12	</a:t>
            </a:r>
            <a:r>
              <a:rPr dirty="0" sz="1000" spc="-5">
                <a:latin typeface="Georgia"/>
                <a:cs typeface="Georgia"/>
              </a:rPr>
              <a:t>Callee</a:t>
            </a:r>
            <a:r>
              <a:rPr dirty="0" sz="100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saved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>
                <a:latin typeface="Georgia"/>
                <a:cs typeface="Georgia"/>
              </a:rPr>
              <a:t>%r13	</a:t>
            </a:r>
            <a:r>
              <a:rPr dirty="0" sz="1000" spc="-5">
                <a:latin typeface="Georgia"/>
                <a:cs typeface="Georgia"/>
              </a:rPr>
              <a:t>Callee</a:t>
            </a:r>
            <a:r>
              <a:rPr dirty="0" sz="100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saved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  <a:tabLst>
                <a:tab pos="459740" algn="l"/>
              </a:tabLst>
            </a:pPr>
            <a:r>
              <a:rPr dirty="0" sz="1000" spc="-5">
                <a:latin typeface="Georgia"/>
                <a:cs typeface="Georgia"/>
              </a:rPr>
              <a:t>%r14	Callee</a:t>
            </a:r>
            <a:r>
              <a:rPr dirty="0" sz="100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saved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  <a:tabLst>
                <a:tab pos="459740" algn="l"/>
              </a:tabLst>
            </a:pPr>
            <a:r>
              <a:rPr dirty="0" sz="1000" spc="5">
                <a:latin typeface="Georgia"/>
                <a:cs typeface="Georgia"/>
              </a:rPr>
              <a:t>%r15	</a:t>
            </a:r>
            <a:r>
              <a:rPr dirty="0" sz="1000" spc="-5">
                <a:latin typeface="Georgia"/>
                <a:cs typeface="Georgia"/>
              </a:rPr>
              <a:t>Callee</a:t>
            </a:r>
            <a:r>
              <a:rPr dirty="0" sz="100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saved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2021-04-29T21:27:18Z</dcterms:created>
  <dcterms:modified xsi:type="dcterms:W3CDTF">2021-04-29T21:27:18Z</dcterms:modified>
  <dc:creator/>
  <cp:lastModifiedBy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2015-01-15T00:00:00Z</vt:filetime>
  </property>
  <property fmtid="{D5CDD505-2E9C-101B-9397-08002B2CF9AE}" pid="3" name="Creator">
    <vt:lpwstr>LaTeX with hyperref package</vt:lpwstr>
  </property>
  <property fmtid="{D5CDD505-2E9C-101B-9397-08002B2CF9AE}" pid="4" name="LastSaved">
    <vt:filetime>2015-01-15T00:00:00Z</vt:filetime>
  </property>
</Properties>
</file>