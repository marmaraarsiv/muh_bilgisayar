
<file path=[Content_Types].xml><?xml version="1.0" encoding="utf-8"?>
<Types xmlns="http://schemas.openxmlformats.org/package/2006/content-types">
  <Default Extension="bin" ContentType="application/vnd.openxmlformats-officedocument.oleObject"/>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63" r:id="rId1"/>
    <p:sldMasterId id="2147483659" r:id="rId2"/>
  </p:sldMasterIdLst>
  <p:notesMasterIdLst>
    <p:notesMasterId r:id="rId38"/>
  </p:notesMasterIdLst>
  <p:handoutMasterIdLst>
    <p:handoutMasterId r:id="rId39"/>
  </p:handoutMasterIdLst>
  <p:sldIdLst>
    <p:sldId id="330" r:id="rId3"/>
    <p:sldId id="718" r:id="rId4"/>
    <p:sldId id="748" r:id="rId5"/>
    <p:sldId id="721" r:id="rId6"/>
    <p:sldId id="722" r:id="rId7"/>
    <p:sldId id="723" r:id="rId8"/>
    <p:sldId id="724" r:id="rId9"/>
    <p:sldId id="745" r:id="rId10"/>
    <p:sldId id="726" r:id="rId11"/>
    <p:sldId id="727" r:id="rId12"/>
    <p:sldId id="760" r:id="rId13"/>
    <p:sldId id="749" r:id="rId14"/>
    <p:sldId id="729" r:id="rId15"/>
    <p:sldId id="754" r:id="rId16"/>
    <p:sldId id="730" r:id="rId17"/>
    <p:sldId id="755" r:id="rId18"/>
    <p:sldId id="731" r:id="rId19"/>
    <p:sldId id="756" r:id="rId20"/>
    <p:sldId id="732" r:id="rId21"/>
    <p:sldId id="757" r:id="rId22"/>
    <p:sldId id="733" r:id="rId23"/>
    <p:sldId id="750" r:id="rId24"/>
    <p:sldId id="746" r:id="rId25"/>
    <p:sldId id="736" r:id="rId26"/>
    <p:sldId id="753" r:id="rId27"/>
    <p:sldId id="738" r:id="rId28"/>
    <p:sldId id="747" r:id="rId29"/>
    <p:sldId id="740" r:id="rId30"/>
    <p:sldId id="741" r:id="rId31"/>
    <p:sldId id="742" r:id="rId32"/>
    <p:sldId id="751" r:id="rId33"/>
    <p:sldId id="758" r:id="rId34"/>
    <p:sldId id="752" r:id="rId35"/>
    <p:sldId id="759" r:id="rId36"/>
    <p:sldId id="717" r:id="rId37"/>
  </p:sldIdLst>
  <p:sldSz cx="9144000" cy="6858000" type="screen4x3"/>
  <p:notesSz cx="6858000" cy="9144000"/>
  <p:embeddedFontLst>
    <p:embeddedFont>
      <p:font typeface="Verdana" panose="020B0604030504040204" pitchFamily="34"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27" userDrawn="1">
          <p15:clr>
            <a:srgbClr val="A4A3A4"/>
          </p15:clr>
        </p15:guide>
        <p15:guide id="2" pos="264" userDrawn="1">
          <p15:clr>
            <a:srgbClr val="A4A3A4"/>
          </p15:clr>
        </p15:guide>
        <p15:guide id="3" orient="horz" pos="1139" userDrawn="1">
          <p15:clr>
            <a:srgbClr val="A4A3A4"/>
          </p15:clr>
        </p15:guide>
        <p15:guide id="4" pos="2880" userDrawn="1">
          <p15:clr>
            <a:srgbClr val="A4A3A4"/>
          </p15:clr>
        </p15:guide>
        <p15:guide id="5" pos="5465" userDrawn="1">
          <p15:clr>
            <a:srgbClr val="A4A3A4"/>
          </p15:clr>
        </p15:guide>
        <p15:guide id="7" orient="horz" pos="2160" userDrawn="1">
          <p15:clr>
            <a:srgbClr val="A4A3A4"/>
          </p15:clr>
        </p15:guide>
        <p15:guide id="8" orient="horz" pos="822" userDrawn="1">
          <p15:clr>
            <a:srgbClr val="A4A3A4"/>
          </p15:clr>
        </p15:guide>
        <p15:guide id="9" orient="horz" pos="402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Author" initials="A" lastIdx="0" clrIdx="7"/>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03" autoAdjust="0"/>
    <p:restoredTop sz="92519" autoAdjust="0"/>
  </p:normalViewPr>
  <p:slideViewPr>
    <p:cSldViewPr snapToGrid="0" snapToObjects="1">
      <p:cViewPr varScale="1">
        <p:scale>
          <a:sx n="100" d="100"/>
          <a:sy n="100" d="100"/>
        </p:scale>
        <p:origin x="2096" y="168"/>
      </p:cViewPr>
      <p:guideLst>
        <p:guide orient="horz" pos="427"/>
        <p:guide pos="264"/>
        <p:guide orient="horz" pos="1139"/>
        <p:guide pos="2880"/>
        <p:guide pos="5465"/>
        <p:guide orient="horz" pos="2160"/>
        <p:guide orient="horz" pos="822"/>
        <p:guide orient="horz" pos="4020"/>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100" d="100"/>
        <a:sy n="100" d="100"/>
      </p:scale>
      <p:origin x="0" y="-3346"/>
    </p:cViewPr>
  </p:sorterViewPr>
  <p:notesViewPr>
    <p:cSldViewPr snapToGrid="0" snapToObjects="1">
      <p:cViewPr varScale="1">
        <p:scale>
          <a:sx n="84" d="100"/>
          <a:sy n="84" d="100"/>
        </p:scale>
        <p:origin x="2226" y="10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handoutMaster" Target="handoutMasters/handout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3.fntdata"/><Relationship Id="rId47"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font" Target="fonts/font1.fntdata"/><Relationship Id="rId45"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commentAuthors" Target="commentAuthor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4.fntdata"/><Relationship Id="rId48"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notesMaster" Target="notesMasters/notesMaster1.xml"/><Relationship Id="rId46"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font" Target="fonts/font2.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2/23/26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dirty="0"/>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this PowerPoint presentation contains mathematical equations, you may need to check that your computer has the following installed:</a:t>
            </a:r>
          </a:p>
          <a:p>
            <a:r>
              <a:rPr lang="en-US" dirty="0"/>
              <a:t>1) Math Type Plugin</a:t>
            </a:r>
          </a:p>
          <a:p>
            <a:r>
              <a:rPr lang="en-US" dirty="0"/>
              <a:t>2) Math Player (free versions available)</a:t>
            </a:r>
          </a:p>
          <a:p>
            <a:r>
              <a:rPr lang="en-US" dirty="0"/>
              <a:t>3) NVDA Reader (free versions available)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541993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0994198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4268738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Arial" panose="020B0604020202020204" pitchFamily="34" charset="0"/>
                <a:cs typeface="Arial" panose="020B0604020202020204" pitchFamily="34" charset="0"/>
              </a:rPr>
              <a:t>Long Description 1:</a:t>
            </a:r>
          </a:p>
          <a:p>
            <a:r>
              <a:rPr lang="en-US" sz="1200" b="0" i="0" u="none" strike="noStrike" dirty="0">
                <a:solidFill>
                  <a:srgbClr val="000000"/>
                </a:solidFill>
                <a:effectLst/>
                <a:latin typeface="Arial" panose="020B0604020202020204" pitchFamily="34" charset="0"/>
                <a:cs typeface="Arial" panose="020B0604020202020204" pitchFamily="34" charset="0"/>
              </a:rPr>
              <a:t>K C L at v subscript 1 Base Line: Start Fraction v subscript 1 Base Line minus 50 over 6 End Fraction plus Start Fraction v subscript 1 Base Line over 8 End Fraction plus Start Fraction v subscript 1 Base Line minus v subscript 2 Base Line over 2 End Fraction minus 3 </a:t>
            </a:r>
            <a:r>
              <a:rPr lang="en-US" sz="1200" b="0" i="0" u="none" strike="noStrike" dirty="0" err="1">
                <a:solidFill>
                  <a:srgbClr val="000000"/>
                </a:solidFill>
                <a:effectLst/>
                <a:latin typeface="Arial" panose="020B0604020202020204" pitchFamily="34" charset="0"/>
                <a:cs typeface="Arial" panose="020B0604020202020204" pitchFamily="34" charset="0"/>
              </a:rPr>
              <a:t>i</a:t>
            </a:r>
            <a:r>
              <a:rPr lang="en-US" sz="1200" b="0" i="0" u="none" strike="noStrike" dirty="0">
                <a:solidFill>
                  <a:srgbClr val="000000"/>
                </a:solidFill>
                <a:effectLst/>
                <a:latin typeface="Arial" panose="020B0604020202020204" pitchFamily="34" charset="0"/>
                <a:cs typeface="Arial" panose="020B0604020202020204" pitchFamily="34" charset="0"/>
              </a:rPr>
              <a:t> subscript 1 Base Line equals 0.</a:t>
            </a:r>
            <a:r>
              <a:rPr lang="en-US" sz="1200" dirty="0">
                <a:latin typeface="Arial" panose="020B0604020202020204" pitchFamily="34" charset="0"/>
                <a:cs typeface="Arial" panose="020B0604020202020204" pitchFamily="34" charset="0"/>
              </a:rPr>
              <a:t>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dirty="0">
              <a:latin typeface="Arial" panose="020B0604020202020204" pitchFamily="34" charset="0"/>
              <a:cs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Long Description 2:</a:t>
            </a:r>
          </a:p>
          <a:p>
            <a:r>
              <a:rPr lang="en-US" sz="1200" b="0" i="0" u="none" strike="noStrike" dirty="0">
                <a:solidFill>
                  <a:srgbClr val="000000"/>
                </a:solidFill>
                <a:effectLst/>
                <a:latin typeface="Arial" panose="020B0604020202020204" pitchFamily="34" charset="0"/>
                <a:cs typeface="Arial" panose="020B0604020202020204" pitchFamily="34" charset="0"/>
              </a:rPr>
              <a:t>K C L at v subscript 2 Base Line: Start Fraction v subscript 2 Base Line minus v subscript 1 Base Line over 2 End Fraction plus Start Fraction v subscript 2 Base Line over 4 End Fraction minus 5 plus 3 </a:t>
            </a:r>
            <a:r>
              <a:rPr lang="en-US" sz="1200" b="0" i="0" u="none" strike="noStrike" dirty="0" err="1">
                <a:solidFill>
                  <a:srgbClr val="000000"/>
                </a:solidFill>
                <a:effectLst/>
                <a:latin typeface="Arial" panose="020B0604020202020204" pitchFamily="34" charset="0"/>
                <a:cs typeface="Arial" panose="020B0604020202020204" pitchFamily="34" charset="0"/>
              </a:rPr>
              <a:t>i</a:t>
            </a:r>
            <a:r>
              <a:rPr lang="en-US" sz="1200" b="0" i="0" u="none" strike="noStrike" dirty="0">
                <a:solidFill>
                  <a:srgbClr val="000000"/>
                </a:solidFill>
                <a:effectLst/>
                <a:latin typeface="Arial" panose="020B0604020202020204" pitchFamily="34" charset="0"/>
                <a:cs typeface="Arial" panose="020B0604020202020204" pitchFamily="34" charset="0"/>
              </a:rPr>
              <a:t> subscript 1 Base Line equals 0.</a:t>
            </a:r>
            <a:r>
              <a:rPr lang="en-US" sz="1200" dirty="0">
                <a:latin typeface="Arial" panose="020B0604020202020204" pitchFamily="34" charset="0"/>
                <a:cs typeface="Arial" panose="020B0604020202020204" pitchFamily="34" charset="0"/>
              </a:rPr>
              <a:t> </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842408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noProof="0" dirty="0">
                <a:latin typeface="Arial" panose="020B0604020202020204" pitchFamily="34" charset="0"/>
                <a:cs typeface="Arial" panose="020B0604020202020204" pitchFamily="34" charset="0"/>
              </a:rPr>
              <a:t>Long Description 1:</a:t>
            </a:r>
          </a:p>
          <a:p>
            <a:r>
              <a:rPr lang="en-US" sz="1200" b="0" i="0" u="none" strike="noStrike" noProof="0" dirty="0">
                <a:solidFill>
                  <a:srgbClr val="000000"/>
                </a:solidFill>
                <a:effectLst/>
                <a:latin typeface="Arial" panose="020B0604020202020204" pitchFamily="34" charset="0"/>
                <a:cs typeface="Arial" panose="020B0604020202020204" pitchFamily="34" charset="0"/>
              </a:rPr>
              <a:t>Start Fraction v subscript 1 Base Line minus 50 over 6 End Fraction plus Start Fraction v subscript 1 Base Line over 8 End Fraction plus Start Fraction v subscript 1 Base Line minus v subscript 2 Base Line over 2 End Fraction minus 3 </a:t>
            </a:r>
            <a:r>
              <a:rPr lang="en-US" sz="1200" b="0" i="0" u="none" strike="noStrike" noProof="0" dirty="0" err="1">
                <a:solidFill>
                  <a:srgbClr val="000000"/>
                </a:solidFill>
                <a:effectLst/>
                <a:latin typeface="Arial" panose="020B0604020202020204" pitchFamily="34" charset="0"/>
                <a:cs typeface="Arial" panose="020B0604020202020204" pitchFamily="34" charset="0"/>
              </a:rPr>
              <a:t>i</a:t>
            </a:r>
            <a:r>
              <a:rPr lang="en-US" sz="1200" b="0" i="0" u="none" strike="noStrike" noProof="0" dirty="0">
                <a:solidFill>
                  <a:srgbClr val="000000"/>
                </a:solidFill>
                <a:effectLst/>
                <a:latin typeface="Arial" panose="020B0604020202020204" pitchFamily="34" charset="0"/>
                <a:cs typeface="Arial" panose="020B0604020202020204" pitchFamily="34" charset="0"/>
              </a:rPr>
              <a:t> subscript 1 Base Line equals 0.</a:t>
            </a:r>
            <a:r>
              <a:rPr lang="en-US" sz="1200" noProof="0" dirty="0">
                <a:latin typeface="Arial" panose="020B0604020202020204" pitchFamily="34" charset="0"/>
                <a:cs typeface="Arial" panose="020B0604020202020204" pitchFamily="34" charset="0"/>
              </a:rPr>
              <a:t>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noProof="0" dirty="0">
              <a:latin typeface="Arial" panose="020B0604020202020204" pitchFamily="34" charset="0"/>
              <a:cs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latin typeface="Arial" panose="020B0604020202020204" pitchFamily="34" charset="0"/>
                <a:cs typeface="Arial" panose="020B0604020202020204" pitchFamily="34" charset="0"/>
              </a:rPr>
              <a:t>Long Description 2:</a:t>
            </a:r>
          </a:p>
          <a:p>
            <a:r>
              <a:rPr lang="en-US" sz="1200" b="0" i="0" u="none" strike="noStrike" noProof="0" dirty="0">
                <a:solidFill>
                  <a:srgbClr val="000000"/>
                </a:solidFill>
                <a:effectLst/>
                <a:latin typeface="Arial" panose="020B0604020202020204" pitchFamily="34" charset="0"/>
                <a:cs typeface="Arial" panose="020B0604020202020204" pitchFamily="34" charset="0"/>
              </a:rPr>
              <a:t>Start Fraction v subscript 2 Base Line minus v subscript 1 Base Line over 2 End Fraction plus Start Fraction v subscript 2 Base Line over 4 End Fraction minus 5 plus 3 </a:t>
            </a:r>
            <a:r>
              <a:rPr lang="en-US" sz="1200" b="0" i="0" u="none" strike="noStrike" noProof="0" dirty="0" err="1">
                <a:solidFill>
                  <a:srgbClr val="000000"/>
                </a:solidFill>
                <a:effectLst/>
                <a:latin typeface="Arial" panose="020B0604020202020204" pitchFamily="34" charset="0"/>
                <a:cs typeface="Arial" panose="020B0604020202020204" pitchFamily="34" charset="0"/>
              </a:rPr>
              <a:t>i</a:t>
            </a:r>
            <a:r>
              <a:rPr lang="en-US" sz="1200" b="0" i="0" u="none" strike="noStrike" noProof="0" dirty="0">
                <a:solidFill>
                  <a:srgbClr val="000000"/>
                </a:solidFill>
                <a:effectLst/>
                <a:latin typeface="Arial" panose="020B0604020202020204" pitchFamily="34" charset="0"/>
                <a:cs typeface="Arial" panose="020B0604020202020204" pitchFamily="34" charset="0"/>
              </a:rPr>
              <a:t> subscript 1 Base Line equals 0.</a:t>
            </a:r>
            <a:r>
              <a:rPr lang="en-US" sz="1200" noProof="0" dirty="0">
                <a:latin typeface="Arial" panose="020B0604020202020204" pitchFamily="34" charset="0"/>
                <a:cs typeface="Arial" panose="020B0604020202020204" pitchFamily="34" charset="0"/>
              </a:rPr>
              <a:t> </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3297368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913175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45607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noProof="0" dirty="0">
                <a:latin typeface="Arial" panose="020B0604020202020204" pitchFamily="34" charset="0"/>
                <a:cs typeface="Arial" panose="020B0604020202020204" pitchFamily="34" charset="0"/>
              </a:rPr>
              <a:t>Long Description 1:</a:t>
            </a:r>
          </a:p>
          <a:p>
            <a:r>
              <a:rPr lang="en-US" sz="1200" b="0" i="0" u="none" strike="noStrike" noProof="0" dirty="0">
                <a:solidFill>
                  <a:srgbClr val="000000"/>
                </a:solidFill>
                <a:effectLst/>
                <a:latin typeface="Arial" panose="020B0604020202020204" pitchFamily="34" charset="0"/>
                <a:cs typeface="Arial" panose="020B0604020202020204" pitchFamily="34" charset="0"/>
              </a:rPr>
              <a:t>v subscript 1 Base Line: Start Fraction v subscript 1 Base Line minus 50 over 6 End Fraction plus Start Fraction v subscript 1 Base Line over 8 End Fraction plus Start Fraction v subscript 1 Base Line minus v subscript 2 Base Line over 2 End Fraction minus 3 </a:t>
            </a:r>
            <a:r>
              <a:rPr lang="en-US" sz="1200" b="0" i="0" u="none" strike="noStrike" noProof="0" dirty="0" err="1">
                <a:solidFill>
                  <a:srgbClr val="000000"/>
                </a:solidFill>
                <a:effectLst/>
                <a:latin typeface="Arial" panose="020B0604020202020204" pitchFamily="34" charset="0"/>
                <a:cs typeface="Arial" panose="020B0604020202020204" pitchFamily="34" charset="0"/>
              </a:rPr>
              <a:t>i</a:t>
            </a:r>
            <a:r>
              <a:rPr lang="en-US" sz="1200" b="0" i="0" u="none" strike="noStrike" noProof="0" dirty="0">
                <a:solidFill>
                  <a:srgbClr val="000000"/>
                </a:solidFill>
                <a:effectLst/>
                <a:latin typeface="Arial" panose="020B0604020202020204" pitchFamily="34" charset="0"/>
                <a:cs typeface="Arial" panose="020B0604020202020204" pitchFamily="34" charset="0"/>
              </a:rPr>
              <a:t> subscript 1 Base Line equals 0.</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noProof="0" dirty="0">
              <a:latin typeface="Arial" panose="020B0604020202020204" pitchFamily="34" charset="0"/>
              <a:cs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latin typeface="Arial" panose="020B0604020202020204" pitchFamily="34" charset="0"/>
                <a:cs typeface="Arial" panose="020B0604020202020204" pitchFamily="34" charset="0"/>
              </a:rPr>
              <a:t>Long Description 2:</a:t>
            </a:r>
          </a:p>
          <a:p>
            <a:r>
              <a:rPr lang="en-US" sz="1200" b="0" i="0" u="none" strike="noStrike" noProof="0" dirty="0">
                <a:solidFill>
                  <a:srgbClr val="000000"/>
                </a:solidFill>
                <a:effectLst/>
                <a:latin typeface="Arial" panose="020B0604020202020204" pitchFamily="34" charset="0"/>
                <a:cs typeface="Arial" panose="020B0604020202020204" pitchFamily="34" charset="0"/>
              </a:rPr>
              <a:t>v subscript 2 Base Line: Start Fraction v subscript 2 Base Line minus v subscript 1 Base Line over 2 End Fraction plus Start Fraction v subscript 2 Base Line over 4 End Fraction minus 5 plus 3 </a:t>
            </a:r>
            <a:r>
              <a:rPr lang="en-US" sz="1200" b="0" i="0" u="none" strike="noStrike" noProof="0" dirty="0" err="1">
                <a:solidFill>
                  <a:srgbClr val="000000"/>
                </a:solidFill>
                <a:effectLst/>
                <a:latin typeface="Arial" panose="020B0604020202020204" pitchFamily="34" charset="0"/>
                <a:cs typeface="Arial" panose="020B0604020202020204" pitchFamily="34" charset="0"/>
              </a:rPr>
              <a:t>i</a:t>
            </a:r>
            <a:r>
              <a:rPr lang="en-US" sz="1200" b="0" i="0" u="none" strike="noStrike" noProof="0" dirty="0">
                <a:solidFill>
                  <a:srgbClr val="000000"/>
                </a:solidFill>
                <a:effectLst/>
                <a:latin typeface="Arial" panose="020B0604020202020204" pitchFamily="34" charset="0"/>
                <a:cs typeface="Arial" panose="020B0604020202020204" pitchFamily="34" charset="0"/>
              </a:rPr>
              <a:t> subscript 1 Base Line equals 0.</a:t>
            </a:r>
            <a:endParaRPr lang="en-US" sz="1200" noProof="0" dirty="0">
              <a:latin typeface="Arial" panose="020B0604020202020204" pitchFamily="34" charset="0"/>
              <a:cs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noProof="0" dirty="0">
              <a:latin typeface="Arial" panose="020B0604020202020204" pitchFamily="34" charset="0"/>
              <a:cs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latin typeface="Arial" panose="020B0604020202020204" pitchFamily="34" charset="0"/>
                <a:cs typeface="Arial" panose="020B0604020202020204" pitchFamily="34" charset="0"/>
              </a:rPr>
              <a:t>Long Description 3:</a:t>
            </a:r>
          </a:p>
          <a:p>
            <a:r>
              <a:rPr lang="en-US" sz="1200" b="0" i="0" u="none" strike="noStrike" noProof="0" dirty="0">
                <a:solidFill>
                  <a:srgbClr val="000000"/>
                </a:solidFill>
                <a:effectLst/>
                <a:latin typeface="Arial" panose="020B0604020202020204" pitchFamily="34" charset="0"/>
                <a:cs typeface="Arial" panose="020B0604020202020204" pitchFamily="34" charset="0"/>
              </a:rPr>
              <a:t>Line 1: v subscript 1 Base Line Open Parenthesis 1 divided by 6 plus 1 divided by 8 plus 1 divided by 2 Close Parenthesis, positive v subscript 2 Base Line Open Parenthesis negative 1 divided by 2 Close Parenthesis, positive </a:t>
            </a:r>
            <a:r>
              <a:rPr lang="en-US" sz="1200" b="0" i="0" u="none" strike="noStrike" noProof="0" dirty="0" err="1">
                <a:solidFill>
                  <a:srgbClr val="000000"/>
                </a:solidFill>
                <a:effectLst/>
                <a:latin typeface="Arial" panose="020B0604020202020204" pitchFamily="34" charset="0"/>
                <a:cs typeface="Arial" panose="020B0604020202020204" pitchFamily="34" charset="0"/>
              </a:rPr>
              <a:t>i</a:t>
            </a:r>
            <a:r>
              <a:rPr lang="en-US" sz="1200" b="0" i="0" u="none" strike="noStrike" noProof="0" dirty="0">
                <a:solidFill>
                  <a:srgbClr val="000000"/>
                </a:solidFill>
                <a:effectLst/>
                <a:latin typeface="Arial" panose="020B0604020202020204" pitchFamily="34" charset="0"/>
                <a:cs typeface="Arial" panose="020B0604020202020204" pitchFamily="34" charset="0"/>
              </a:rPr>
              <a:t> subscript 1 Base Line Open Parenthesis negative 3 Close Parenthesis equals 50 divided by 6.</a:t>
            </a:r>
            <a:br>
              <a:rPr lang="en-US" sz="1200" b="0" i="0" u="none" strike="noStrike" noProof="0" dirty="0">
                <a:solidFill>
                  <a:srgbClr val="000000"/>
                </a:solidFill>
                <a:effectLst/>
                <a:latin typeface="Arial" panose="020B0604020202020204" pitchFamily="34" charset="0"/>
                <a:cs typeface="Arial" panose="020B0604020202020204" pitchFamily="34" charset="0"/>
              </a:rPr>
            </a:br>
            <a:r>
              <a:rPr lang="en-US" sz="1200" b="0" i="0" u="none" strike="noStrike" noProof="0" dirty="0">
                <a:solidFill>
                  <a:srgbClr val="000000"/>
                </a:solidFill>
                <a:effectLst/>
                <a:latin typeface="Arial" panose="020B0604020202020204" pitchFamily="34" charset="0"/>
                <a:cs typeface="Arial" panose="020B0604020202020204" pitchFamily="34" charset="0"/>
              </a:rPr>
              <a:t>Line 2: v subscript 1 Base Line Open Parenthesis negative 1 divided by 2 Close Parenthesis, positive v subscript 2 Base Line Open Parenthesis 1 divided by 2 plus 1 divided by 4 Close Parenthesis, positive </a:t>
            </a:r>
            <a:r>
              <a:rPr lang="en-US" sz="1200" b="0" i="0" u="none" strike="noStrike" noProof="0" dirty="0" err="1">
                <a:solidFill>
                  <a:srgbClr val="000000"/>
                </a:solidFill>
                <a:effectLst/>
                <a:latin typeface="Arial" panose="020B0604020202020204" pitchFamily="34" charset="0"/>
                <a:cs typeface="Arial" panose="020B0604020202020204" pitchFamily="34" charset="0"/>
              </a:rPr>
              <a:t>i</a:t>
            </a:r>
            <a:r>
              <a:rPr lang="en-US" sz="1200" b="0" i="0" u="none" strike="noStrike" noProof="0" dirty="0">
                <a:solidFill>
                  <a:srgbClr val="000000"/>
                </a:solidFill>
                <a:effectLst/>
                <a:latin typeface="Arial" panose="020B0604020202020204" pitchFamily="34" charset="0"/>
                <a:cs typeface="Arial" panose="020B0604020202020204" pitchFamily="34" charset="0"/>
              </a:rPr>
              <a:t> subscript 1 Base Line Open Parenthesis 3 Close Parenthesis equals 5.</a:t>
            </a:r>
            <a:br>
              <a:rPr lang="en-US" sz="1200" b="0" i="0" u="none" strike="noStrike" noProof="0" dirty="0">
                <a:solidFill>
                  <a:srgbClr val="000000"/>
                </a:solidFill>
                <a:effectLst/>
                <a:latin typeface="Arial" panose="020B0604020202020204" pitchFamily="34" charset="0"/>
                <a:cs typeface="Arial" panose="020B0604020202020204" pitchFamily="34" charset="0"/>
              </a:rPr>
            </a:br>
            <a:r>
              <a:rPr lang="en-US" sz="1200" b="0" i="0" u="none" strike="noStrike" noProof="0" dirty="0">
                <a:solidFill>
                  <a:srgbClr val="000000"/>
                </a:solidFill>
                <a:effectLst/>
                <a:latin typeface="Arial" panose="020B0604020202020204" pitchFamily="34" charset="0"/>
                <a:cs typeface="Arial" panose="020B0604020202020204" pitchFamily="34" charset="0"/>
              </a:rPr>
              <a:t>Line 3: v subscript 1 Base Line Open Parenthesis 1 divided by 6 Close Parenthesis, positive v subscript 2 Base Line Open Parenthesis 0, positive plus </a:t>
            </a:r>
            <a:r>
              <a:rPr lang="en-US" sz="1200" b="0" i="0" u="none" strike="noStrike" noProof="0" dirty="0" err="1">
                <a:solidFill>
                  <a:srgbClr val="000000"/>
                </a:solidFill>
                <a:effectLst/>
                <a:latin typeface="Arial" panose="020B0604020202020204" pitchFamily="34" charset="0"/>
                <a:cs typeface="Arial" panose="020B0604020202020204" pitchFamily="34" charset="0"/>
              </a:rPr>
              <a:t>i</a:t>
            </a:r>
            <a:r>
              <a:rPr lang="en-US" sz="1200" b="0" i="0" u="none" strike="noStrike" noProof="0" dirty="0">
                <a:solidFill>
                  <a:srgbClr val="000000"/>
                </a:solidFill>
                <a:effectLst/>
                <a:latin typeface="Arial" panose="020B0604020202020204" pitchFamily="34" charset="0"/>
                <a:cs typeface="Arial" panose="020B0604020202020204" pitchFamily="34" charset="0"/>
              </a:rPr>
              <a:t> subscript 1 Base Line Open Parenthesis 1 Close Parenthesis equals 50 divided by 6.</a:t>
            </a:r>
            <a:r>
              <a:rPr lang="en-US" sz="1200" noProof="0" dirty="0">
                <a:latin typeface="Arial" panose="020B0604020202020204" pitchFamily="34" charset="0"/>
                <a:cs typeface="Arial" panose="020B0604020202020204" pitchFamily="34" charset="0"/>
              </a:rPr>
              <a:t> </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553391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4287636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2793556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6089368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0933931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77639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F9377-A46B-9188-AF51-8435001F08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1BC896-679A-7D04-E671-12E5AE5A08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F54813-3352-CAD8-36BD-1C2A03BD801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3E24B19-D546-FBDC-BF66-524E85BC2B6C}"/>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3802291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3555791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D9509-AD5D-AC5D-497F-67D681FD40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08F2F2-3758-AD0B-7F52-62108FB2EA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A248D4-DA2F-31D2-A164-876997745B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ECB472-51A2-A1F5-1171-099FBF0F3B10}"/>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4949528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6098737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077E0-BC39-3E23-3A00-89214F14EC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95EDAB-0D1A-27F6-24EA-D1CACAF310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FD26CE-D417-D34A-6222-3F705BC5278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96D877E-9980-C7DD-05F6-76C5038B2E58}"/>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8782783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6027737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E3B4A-8651-7435-BF1B-6F101ECC56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174B10-43D1-FAC1-F822-29C7FAFCCE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33CEF1-4477-4874-9D1E-A7F11FFD0F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E1EC958-4E7A-9BBD-73D7-434934EF3286}"/>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3452347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5330559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6848337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noProof="0" dirty="0">
                <a:latin typeface="Arial" panose="020B0604020202020204" pitchFamily="34" charset="0"/>
                <a:cs typeface="Arial" panose="020B0604020202020204" pitchFamily="34" charset="0"/>
              </a:rPr>
              <a:t>Long Description 1:</a:t>
            </a:r>
          </a:p>
          <a:p>
            <a:r>
              <a:rPr lang="en-US" sz="1200" b="0" i="0" u="none" strike="noStrike" noProof="0" dirty="0">
                <a:solidFill>
                  <a:srgbClr val="000000"/>
                </a:solidFill>
                <a:effectLst/>
                <a:latin typeface="Arial" panose="020B0604020202020204" pitchFamily="34" charset="0"/>
                <a:cs typeface="Arial" panose="020B0604020202020204" pitchFamily="34" charset="0"/>
              </a:rPr>
              <a:t>v subscript o Base Line: Start Fraction v subscript o Base Line minus 10 over 10 End Fraction plus Start Fraction v subscript o Base Line over 40 End Fraction plus Start Fraction v subscript o Base Line plus 20 </a:t>
            </a:r>
            <a:r>
              <a:rPr lang="en-US" sz="1200" b="0" i="0" u="none" strike="noStrike" noProof="0" dirty="0" err="1">
                <a:solidFill>
                  <a:srgbClr val="000000"/>
                </a:solidFill>
                <a:effectLst/>
                <a:latin typeface="Arial" panose="020B0604020202020204" pitchFamily="34" charset="0"/>
                <a:cs typeface="Arial" panose="020B0604020202020204" pitchFamily="34" charset="0"/>
              </a:rPr>
              <a:t>i</a:t>
            </a:r>
            <a:r>
              <a:rPr lang="en-US" sz="1200" b="0" i="0" u="none" strike="noStrike" noProof="0" dirty="0">
                <a:solidFill>
                  <a:srgbClr val="000000"/>
                </a:solidFill>
                <a:effectLst/>
                <a:latin typeface="Arial" panose="020B0604020202020204" pitchFamily="34" charset="0"/>
                <a:cs typeface="Arial" panose="020B0604020202020204" pitchFamily="34" charset="0"/>
              </a:rPr>
              <a:t> subscript uppercase Delta over 20 End Fraction equals 0.</a:t>
            </a:r>
            <a:r>
              <a:rPr lang="en-US" sz="1200" noProof="0" dirty="0">
                <a:latin typeface="Arial" panose="020B0604020202020204" pitchFamily="34" charset="0"/>
                <a:cs typeface="Arial" panose="020B0604020202020204" pitchFamily="34" charset="0"/>
              </a:rPr>
              <a:t>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noProof="0" dirty="0">
              <a:latin typeface="Arial" panose="020B0604020202020204" pitchFamily="34" charset="0"/>
              <a:cs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latin typeface="Arial" panose="020B0604020202020204" pitchFamily="34" charset="0"/>
                <a:cs typeface="Arial" panose="020B0604020202020204" pitchFamily="34" charset="0"/>
              </a:rPr>
              <a:t>Long Description 2:</a:t>
            </a:r>
          </a:p>
          <a:p>
            <a:r>
              <a:rPr lang="en-US" sz="1200" b="0" i="0" u="none" strike="noStrike" noProof="0" dirty="0">
                <a:solidFill>
                  <a:srgbClr val="000000"/>
                </a:solidFill>
                <a:effectLst/>
                <a:latin typeface="Arial" panose="020B0604020202020204" pitchFamily="34" charset="0"/>
                <a:cs typeface="Arial" panose="020B0604020202020204" pitchFamily="34" charset="0"/>
              </a:rPr>
              <a:t>Constraint: </a:t>
            </a:r>
            <a:r>
              <a:rPr lang="en-US" sz="1200" b="0" i="0" u="none" strike="noStrike" noProof="0" dirty="0" err="1">
                <a:solidFill>
                  <a:srgbClr val="000000"/>
                </a:solidFill>
                <a:effectLst/>
                <a:latin typeface="Arial" panose="020B0604020202020204" pitchFamily="34" charset="0"/>
                <a:cs typeface="Arial" panose="020B0604020202020204" pitchFamily="34" charset="0"/>
              </a:rPr>
              <a:t>i</a:t>
            </a:r>
            <a:r>
              <a:rPr lang="en-US" sz="1200" b="0" i="0" u="none" strike="noStrike" noProof="0" dirty="0">
                <a:solidFill>
                  <a:srgbClr val="000000"/>
                </a:solidFill>
                <a:effectLst/>
                <a:latin typeface="Arial" panose="020B0604020202020204" pitchFamily="34" charset="0"/>
                <a:cs typeface="Arial" panose="020B0604020202020204" pitchFamily="34" charset="0"/>
              </a:rPr>
              <a:t> subscript uppercase Delta Base Line equals Start Fraction 10 minus v subscript o Base Line over 10 End Fraction plus Start Fraction 10 plus 20 </a:t>
            </a:r>
            <a:r>
              <a:rPr lang="en-US" sz="1200" b="0" i="0" u="none" strike="noStrike" noProof="0" dirty="0" err="1">
                <a:solidFill>
                  <a:srgbClr val="000000"/>
                </a:solidFill>
                <a:effectLst/>
                <a:latin typeface="Arial" panose="020B0604020202020204" pitchFamily="34" charset="0"/>
                <a:cs typeface="Arial" panose="020B0604020202020204" pitchFamily="34" charset="0"/>
              </a:rPr>
              <a:t>i</a:t>
            </a:r>
            <a:r>
              <a:rPr lang="en-US" sz="1200" b="0" i="0" u="none" strike="noStrike" noProof="0" dirty="0">
                <a:solidFill>
                  <a:srgbClr val="000000"/>
                </a:solidFill>
                <a:effectLst/>
                <a:latin typeface="Arial" panose="020B0604020202020204" pitchFamily="34" charset="0"/>
                <a:cs typeface="Arial" panose="020B0604020202020204" pitchFamily="34" charset="0"/>
              </a:rPr>
              <a:t> subscript uppercase Delta over 30 End Fraction.</a:t>
            </a:r>
            <a:r>
              <a:rPr lang="en-US" sz="1200" noProof="0" dirty="0">
                <a:latin typeface="Arial" panose="020B0604020202020204" pitchFamily="34" charset="0"/>
                <a:cs typeface="Arial" panose="020B0604020202020204" pitchFamily="34" charset="0"/>
              </a:rPr>
              <a:t>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noProof="0" dirty="0">
              <a:latin typeface="Arial" panose="020B0604020202020204" pitchFamily="34" charset="0"/>
              <a:cs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latin typeface="Arial" panose="020B0604020202020204" pitchFamily="34" charset="0"/>
                <a:cs typeface="Arial" panose="020B0604020202020204" pitchFamily="34" charset="0"/>
              </a:rPr>
              <a:t>Long Description 3:</a:t>
            </a:r>
          </a:p>
          <a:p>
            <a:r>
              <a:rPr lang="en-US" sz="1200" b="0" i="0" u="none" strike="noStrike" noProof="0" dirty="0">
                <a:solidFill>
                  <a:srgbClr val="000000"/>
                </a:solidFill>
                <a:effectLst/>
                <a:latin typeface="Arial" panose="020B0604020202020204" pitchFamily="34" charset="0"/>
                <a:cs typeface="Arial" panose="020B0604020202020204" pitchFamily="34" charset="0"/>
              </a:rPr>
              <a:t>Line 1: v subscript o Base Line Open Parenthesis Start Fraction 1 over 10 End Fraction plus Start Fraction 1 over 40 End Fraction plus Start Fraction 1 over 20 End Fraction Close Parenthesis plus </a:t>
            </a:r>
            <a:r>
              <a:rPr lang="en-US" sz="1200" b="0" i="0" u="none" strike="noStrike" noProof="0" dirty="0" err="1">
                <a:solidFill>
                  <a:srgbClr val="000000"/>
                </a:solidFill>
                <a:effectLst/>
                <a:latin typeface="Arial" panose="020B0604020202020204" pitchFamily="34" charset="0"/>
                <a:cs typeface="Arial" panose="020B0604020202020204" pitchFamily="34" charset="0"/>
              </a:rPr>
              <a:t>i</a:t>
            </a:r>
            <a:r>
              <a:rPr lang="en-US" sz="1200" b="0" i="0" u="none" strike="noStrike" noProof="0" dirty="0">
                <a:solidFill>
                  <a:srgbClr val="000000"/>
                </a:solidFill>
                <a:effectLst/>
                <a:latin typeface="Arial" panose="020B0604020202020204" pitchFamily="34" charset="0"/>
                <a:cs typeface="Arial" panose="020B0604020202020204" pitchFamily="34" charset="0"/>
              </a:rPr>
              <a:t> subscript uppercase Delta Base Line Open Parenthesis Start Fraction 20 over 20 End Fraction Close Parenthesis equals Start Fraction 10 over 10 End Fraction.</a:t>
            </a:r>
            <a:br>
              <a:rPr lang="en-US" sz="1200" b="0" i="0" u="none" strike="noStrike" noProof="0" dirty="0">
                <a:solidFill>
                  <a:srgbClr val="000000"/>
                </a:solidFill>
                <a:effectLst/>
                <a:latin typeface="Arial" panose="020B0604020202020204" pitchFamily="34" charset="0"/>
                <a:cs typeface="Arial" panose="020B0604020202020204" pitchFamily="34" charset="0"/>
              </a:rPr>
            </a:br>
            <a:r>
              <a:rPr lang="en-US" sz="1200" b="0" i="0" u="none" strike="noStrike" noProof="0" dirty="0">
                <a:solidFill>
                  <a:srgbClr val="000000"/>
                </a:solidFill>
                <a:effectLst/>
                <a:latin typeface="Arial" panose="020B0604020202020204" pitchFamily="34" charset="0"/>
                <a:cs typeface="Arial" panose="020B0604020202020204" pitchFamily="34" charset="0"/>
              </a:rPr>
              <a:t>Line 2: v subscript o Base Line Open Parenthesis negative Start Fraction 1 over 10 End Fraction Close Parenthesis plus </a:t>
            </a:r>
            <a:r>
              <a:rPr lang="en-US" sz="1200" b="0" i="0" u="none" strike="noStrike" noProof="0" dirty="0" err="1">
                <a:solidFill>
                  <a:srgbClr val="000000"/>
                </a:solidFill>
                <a:effectLst/>
                <a:latin typeface="Arial" panose="020B0604020202020204" pitchFamily="34" charset="0"/>
                <a:cs typeface="Arial" panose="020B0604020202020204" pitchFamily="34" charset="0"/>
              </a:rPr>
              <a:t>i</a:t>
            </a:r>
            <a:r>
              <a:rPr lang="en-US" sz="1200" b="0" i="0" u="none" strike="noStrike" noProof="0" dirty="0">
                <a:solidFill>
                  <a:srgbClr val="000000"/>
                </a:solidFill>
                <a:effectLst/>
                <a:latin typeface="Arial" panose="020B0604020202020204" pitchFamily="34" charset="0"/>
                <a:cs typeface="Arial" panose="020B0604020202020204" pitchFamily="34" charset="0"/>
              </a:rPr>
              <a:t> subscript uppercase Delta Base Line Open Parenthesis 1 minus Start Fraction 20 over 30 End Fraction Close Parenthesis equals Start Fraction 10 over 10 End Fraction plus Start Fraction 10 over 30 End Fraction.</a:t>
            </a:r>
            <a:r>
              <a:rPr lang="en-US" sz="1200" noProof="0" dirty="0">
                <a:latin typeface="Arial" panose="020B0604020202020204" pitchFamily="34" charset="0"/>
                <a:cs typeface="Arial" panose="020B0604020202020204" pitchFamily="34" charset="0"/>
              </a:rPr>
              <a:t> </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225684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2138388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096425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noProof="0" dirty="0">
                <a:latin typeface="Arial" panose="020B0604020202020204" pitchFamily="34" charset="0"/>
                <a:cs typeface="Arial" panose="020B0604020202020204" pitchFamily="34" charset="0"/>
              </a:rPr>
              <a:t>Long Description:</a:t>
            </a:r>
          </a:p>
          <a:p>
            <a:r>
              <a:rPr lang="en-US" sz="1200" b="0" i="0" u="none" strike="noStrike" noProof="0" dirty="0">
                <a:solidFill>
                  <a:srgbClr val="000000"/>
                </a:solidFill>
                <a:effectLst/>
                <a:latin typeface="Arial" panose="020B0604020202020204" pitchFamily="34" charset="0"/>
                <a:cs typeface="Arial" panose="020B0604020202020204" pitchFamily="34" charset="0"/>
              </a:rPr>
              <a:t>Start Fraction v subscript 2 Base Line minus v subscript 1 Base Line over 2.5 End Fraction plus Start Fraction v subscript 2 Base Line over 10 End Fraction plus </a:t>
            </a:r>
            <a:r>
              <a:rPr lang="en-US" sz="1200" b="0" i="0" u="none" strike="noStrike" noProof="0" dirty="0" err="1">
                <a:solidFill>
                  <a:srgbClr val="000000"/>
                </a:solidFill>
                <a:effectLst/>
                <a:latin typeface="Arial" panose="020B0604020202020204" pitchFamily="34" charset="0"/>
                <a:cs typeface="Arial" panose="020B0604020202020204" pitchFamily="34" charset="0"/>
              </a:rPr>
              <a:t>i</a:t>
            </a:r>
            <a:r>
              <a:rPr lang="en-US" sz="1200" b="0" i="0" u="none" strike="noStrike" noProof="0" dirty="0">
                <a:solidFill>
                  <a:srgbClr val="000000"/>
                </a:solidFill>
                <a:effectLst/>
                <a:latin typeface="Arial" panose="020B0604020202020204" pitchFamily="34" charset="0"/>
                <a:cs typeface="Arial" panose="020B0604020202020204" pitchFamily="34" charset="0"/>
              </a:rPr>
              <a:t> minus </a:t>
            </a:r>
            <a:r>
              <a:rPr lang="en-US" sz="1200" b="0" i="0" u="none" strike="noStrike" noProof="0" dirty="0" err="1">
                <a:solidFill>
                  <a:srgbClr val="000000"/>
                </a:solidFill>
                <a:effectLst/>
                <a:latin typeface="Arial" panose="020B0604020202020204" pitchFamily="34" charset="0"/>
                <a:cs typeface="Arial" panose="020B0604020202020204" pitchFamily="34" charset="0"/>
              </a:rPr>
              <a:t>i</a:t>
            </a:r>
            <a:r>
              <a:rPr lang="en-US" sz="1200" b="0" i="0" u="none" strike="noStrike" noProof="0" dirty="0">
                <a:solidFill>
                  <a:srgbClr val="000000"/>
                </a:solidFill>
                <a:effectLst/>
                <a:latin typeface="Arial" panose="020B0604020202020204" pitchFamily="34" charset="0"/>
                <a:cs typeface="Arial" panose="020B0604020202020204" pitchFamily="34" charset="0"/>
              </a:rPr>
              <a:t> plus Start Fraction v subscript 3 Base Line over 2.5 End Fraction plus Start Fraction v subscript 3 Base Line minus 12 over 1 End Fraction equals 0 factorial.</a:t>
            </a:r>
            <a:r>
              <a:rPr lang="en-US" sz="1200" noProof="0" dirty="0">
                <a:latin typeface="Arial" panose="020B0604020202020204" pitchFamily="34" charset="0"/>
                <a:cs typeface="Arial" panose="020B0604020202020204" pitchFamily="34" charset="0"/>
              </a:rPr>
              <a:t> </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6193985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Arial" panose="020B0604020202020204" pitchFamily="34" charset="0"/>
                <a:cs typeface="Arial" panose="020B0604020202020204" pitchFamily="34" charset="0"/>
              </a:rPr>
              <a:t>Long Description:</a:t>
            </a:r>
          </a:p>
          <a:p>
            <a:r>
              <a:rPr lang="en-US" sz="1200" b="0" i="0" u="none" strike="noStrike" dirty="0">
                <a:solidFill>
                  <a:srgbClr val="000000"/>
                </a:solidFill>
                <a:effectLst/>
                <a:latin typeface="Arial" panose="020B0604020202020204" pitchFamily="34" charset="0"/>
                <a:cs typeface="Arial" panose="020B0604020202020204" pitchFamily="34" charset="0"/>
              </a:rPr>
              <a:t>Start Fraction v subscript 2 Base Line minus v subscript 1 Base Line over 2.5 End Fraction plus Start Fraction v subscript 2 Base Line over 10 End Fraction plus Start Fraction v subscript 3 Base Line over 2.5 End Fraction plus Start Fraction v subscript 3 Base Line minus 12 over 1 End Fraction equals 0.</a:t>
            </a:r>
            <a:r>
              <a:rPr lang="en-US" sz="1200" dirty="0">
                <a:latin typeface="Arial" panose="020B0604020202020204" pitchFamily="34" charset="0"/>
                <a:cs typeface="Arial" panose="020B0604020202020204" pitchFamily="34" charset="0"/>
              </a:rPr>
              <a:t> </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00074527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77845994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noProof="0" dirty="0">
                <a:latin typeface="Arial" panose="020B0604020202020204" pitchFamily="34" charset="0"/>
                <a:cs typeface="Arial" panose="020B0604020202020204" pitchFamily="34" charset="0"/>
              </a:rPr>
              <a:t>Long Description 1:</a:t>
            </a:r>
          </a:p>
          <a:p>
            <a:r>
              <a:rPr lang="en-US" sz="1200" b="0" i="0" u="none" strike="noStrike" noProof="0" dirty="0">
                <a:solidFill>
                  <a:srgbClr val="000000"/>
                </a:solidFill>
                <a:effectLst/>
                <a:latin typeface="Arial" panose="020B0604020202020204" pitchFamily="34" charset="0"/>
                <a:cs typeface="Arial" panose="020B0604020202020204" pitchFamily="34" charset="0"/>
              </a:rPr>
              <a:t>v subscript 1 Base Line Open Parenthesis 1 divided by 7.5 plus 1 divided by 2.5 Close Parenthesis plus v subscript 2 Base Line Open Parenthesis negative 1 divided by 2.5 Close Parenthesis plus v subscript 3 Base Line Open Parenthesis 0 Close Parenthesis plus </a:t>
            </a:r>
            <a:r>
              <a:rPr lang="en-US" sz="1200" b="0" i="0" u="none" strike="noStrike" noProof="0" dirty="0" err="1">
                <a:solidFill>
                  <a:srgbClr val="000000"/>
                </a:solidFill>
                <a:effectLst/>
                <a:latin typeface="Arial" panose="020B0604020202020204" pitchFamily="34" charset="0"/>
                <a:cs typeface="Arial" panose="020B0604020202020204" pitchFamily="34" charset="0"/>
              </a:rPr>
              <a:t>i</a:t>
            </a:r>
            <a:r>
              <a:rPr lang="en-US" sz="1200" b="0" i="0" u="none" strike="noStrike" noProof="0" dirty="0">
                <a:solidFill>
                  <a:srgbClr val="000000"/>
                </a:solidFill>
                <a:effectLst/>
                <a:latin typeface="Arial" panose="020B0604020202020204" pitchFamily="34" charset="0"/>
                <a:cs typeface="Arial" panose="020B0604020202020204" pitchFamily="34" charset="0"/>
              </a:rPr>
              <a:t> subscript x Base Line Open Parenthesis 0 Close Parenthesis equals 4.8.</a:t>
            </a:r>
            <a:r>
              <a:rPr lang="en-US" sz="1200" noProof="0" dirty="0">
                <a:latin typeface="Arial" panose="020B0604020202020204" pitchFamily="34" charset="0"/>
                <a:cs typeface="Arial" panose="020B0604020202020204" pitchFamily="34" charset="0"/>
              </a:rPr>
              <a:t> </a:t>
            </a:r>
          </a:p>
          <a:p>
            <a:endParaRPr lang="en-US" sz="1200" noProof="0" dirty="0">
              <a:latin typeface="Arial" panose="020B0604020202020204" pitchFamily="34" charset="0"/>
              <a:cs typeface="Arial" panose="020B0604020202020204" pitchFamily="34" charset="0"/>
            </a:endParaRPr>
          </a:p>
          <a:p>
            <a:r>
              <a:rPr lang="en-US" sz="1200" noProof="0" dirty="0">
                <a:latin typeface="Arial" panose="020B0604020202020204" pitchFamily="34" charset="0"/>
                <a:cs typeface="Arial" panose="020B0604020202020204" pitchFamily="34" charset="0"/>
              </a:rPr>
              <a:t>Long Description 2:</a:t>
            </a:r>
          </a:p>
          <a:p>
            <a:r>
              <a:rPr lang="en-US" sz="1200" b="0" i="0" u="none" strike="noStrike" noProof="0" dirty="0">
                <a:solidFill>
                  <a:srgbClr val="000000"/>
                </a:solidFill>
                <a:effectLst/>
                <a:latin typeface="Arial" panose="020B0604020202020204" pitchFamily="34" charset="0"/>
                <a:cs typeface="Arial" panose="020B0604020202020204" pitchFamily="34" charset="0"/>
              </a:rPr>
              <a:t>v subscript 1 Base Line Open Parenthesis negative 1 divided by 2.5 Close Parenthesis plus v subscript 2 Base Line Open Parenthesis 1 divided by 2.5 plus 1 divided by 10 Close Parenthesis plus v subscript 3 Base Line Open Parenthesis 1 divided by 2.5 plus 1 divided by 1 Close Parenthesis plus </a:t>
            </a:r>
            <a:r>
              <a:rPr lang="en-US" sz="1200" b="0" i="0" u="none" strike="noStrike" noProof="0" dirty="0" err="1">
                <a:solidFill>
                  <a:srgbClr val="000000"/>
                </a:solidFill>
                <a:effectLst/>
                <a:latin typeface="Arial" panose="020B0604020202020204" pitchFamily="34" charset="0"/>
                <a:cs typeface="Arial" panose="020B0604020202020204" pitchFamily="34" charset="0"/>
              </a:rPr>
              <a:t>i</a:t>
            </a:r>
            <a:r>
              <a:rPr lang="en-US" sz="1200" b="0" i="0" u="none" strike="noStrike" noProof="0" dirty="0">
                <a:solidFill>
                  <a:srgbClr val="000000"/>
                </a:solidFill>
                <a:effectLst/>
                <a:latin typeface="Arial" panose="020B0604020202020204" pitchFamily="34" charset="0"/>
                <a:cs typeface="Arial" panose="020B0604020202020204" pitchFamily="34" charset="0"/>
              </a:rPr>
              <a:t> subscript x Base Line Open Parenthesis 0 Close Parenthesis equals 12.</a:t>
            </a:r>
            <a:r>
              <a:rPr lang="en-US" sz="1200" noProof="0" dirty="0">
                <a:latin typeface="Arial" panose="020B0604020202020204" pitchFamily="34" charset="0"/>
                <a:cs typeface="Arial" panose="020B0604020202020204" pitchFamily="34" charset="0"/>
              </a:rPr>
              <a:t>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noProof="0" dirty="0">
              <a:latin typeface="Arial" panose="020B0604020202020204" pitchFamily="34" charset="0"/>
              <a:cs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latin typeface="Arial" panose="020B0604020202020204" pitchFamily="34" charset="0"/>
                <a:cs typeface="Arial" panose="020B0604020202020204" pitchFamily="34" charset="0"/>
              </a:rPr>
              <a:t>Long Description 3:</a:t>
            </a:r>
          </a:p>
          <a:p>
            <a:r>
              <a:rPr lang="en-US" sz="1200" b="0" i="0" u="none" strike="noStrike" noProof="0" dirty="0">
                <a:solidFill>
                  <a:srgbClr val="000000"/>
                </a:solidFill>
                <a:effectLst/>
                <a:latin typeface="Arial" panose="020B0604020202020204" pitchFamily="34" charset="0"/>
                <a:cs typeface="Arial" panose="020B0604020202020204" pitchFamily="34" charset="0"/>
              </a:rPr>
              <a:t>v subscript 1 Base Line Open Parenthesis 0 Close Parenthesis plus v subscript 2 Base Line Open Parenthesis negative 1 Close Parenthesis plus v subscript 3 Base Line Open Parenthesis 1 Close Parenthesis plus </a:t>
            </a:r>
            <a:r>
              <a:rPr lang="en-US" sz="1200" b="0" i="0" u="none" strike="noStrike" noProof="0" dirty="0" err="1">
                <a:solidFill>
                  <a:srgbClr val="000000"/>
                </a:solidFill>
                <a:effectLst/>
                <a:latin typeface="Arial" panose="020B0604020202020204" pitchFamily="34" charset="0"/>
                <a:cs typeface="Arial" panose="020B0604020202020204" pitchFamily="34" charset="0"/>
              </a:rPr>
              <a:t>i</a:t>
            </a:r>
            <a:r>
              <a:rPr lang="en-US" sz="1200" b="0" i="0" u="none" strike="noStrike" noProof="0" dirty="0">
                <a:solidFill>
                  <a:srgbClr val="000000"/>
                </a:solidFill>
                <a:effectLst/>
                <a:latin typeface="Arial" panose="020B0604020202020204" pitchFamily="34" charset="0"/>
                <a:cs typeface="Arial" panose="020B0604020202020204" pitchFamily="34" charset="0"/>
              </a:rPr>
              <a:t> subscript x Base Line Open Parenthesis negative 1 Close Parenthesis equals 0.</a:t>
            </a:r>
            <a:r>
              <a:rPr lang="en-US" sz="1200" noProof="0" dirty="0">
                <a:latin typeface="Arial" panose="020B0604020202020204" pitchFamily="34" charset="0"/>
                <a:cs typeface="Arial" panose="020B0604020202020204" pitchFamily="34" charset="0"/>
              </a:rPr>
              <a:t>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noProof="0" dirty="0">
              <a:latin typeface="Arial" panose="020B0604020202020204" pitchFamily="34" charset="0"/>
              <a:cs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latin typeface="Arial" panose="020B0604020202020204" pitchFamily="34" charset="0"/>
                <a:cs typeface="Arial" panose="020B0604020202020204" pitchFamily="34" charset="0"/>
              </a:rPr>
              <a:t>Long Description 4:</a:t>
            </a:r>
          </a:p>
          <a:p>
            <a:r>
              <a:rPr lang="en-US" sz="1200" b="0" i="0" u="none" strike="noStrike" noProof="0" dirty="0">
                <a:solidFill>
                  <a:srgbClr val="000000"/>
                </a:solidFill>
                <a:effectLst/>
                <a:latin typeface="Arial" panose="020B0604020202020204" pitchFamily="34" charset="0"/>
                <a:cs typeface="Arial" panose="020B0604020202020204" pitchFamily="34" charset="0"/>
              </a:rPr>
              <a:t>v subscript 1 Base Line Open Parenthesis negative 1 divided by 7.5 Close Parenthesis plus v subscript 2 Base Line Open Parenthesis 0 Close Parenthesis plus v subscript 3 Base Line Open Parenthesis 0 Close Parenthesis plus </a:t>
            </a:r>
            <a:r>
              <a:rPr lang="en-US" sz="1200" b="0" i="0" u="none" strike="noStrike" noProof="0" dirty="0" err="1">
                <a:solidFill>
                  <a:srgbClr val="000000"/>
                </a:solidFill>
                <a:effectLst/>
                <a:latin typeface="Arial" panose="020B0604020202020204" pitchFamily="34" charset="0"/>
                <a:cs typeface="Arial" panose="020B0604020202020204" pitchFamily="34" charset="0"/>
              </a:rPr>
              <a:t>i</a:t>
            </a:r>
            <a:r>
              <a:rPr lang="en-US" sz="1200" b="0" i="0" u="none" strike="noStrike" noProof="0" dirty="0">
                <a:solidFill>
                  <a:srgbClr val="000000"/>
                </a:solidFill>
                <a:effectLst/>
                <a:latin typeface="Arial" panose="020B0604020202020204" pitchFamily="34" charset="0"/>
                <a:cs typeface="Arial" panose="020B0604020202020204" pitchFamily="34" charset="0"/>
              </a:rPr>
              <a:t> subscript x Base Line Open Parenthesis 1 Close Parenthesis equals 0.</a:t>
            </a:r>
            <a:r>
              <a:rPr lang="en-US" sz="1200" noProof="0" dirty="0">
                <a:latin typeface="Arial" panose="020B0604020202020204" pitchFamily="34" charset="0"/>
                <a:cs typeface="Arial" panose="020B0604020202020204" pitchFamily="34" charset="0"/>
              </a:rPr>
              <a:t> </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97643973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87493437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3872253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6231D9-68AD-B5CD-1D05-34C6B04898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EAD723-AE7D-64FA-F762-3FFEED6B30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646976-E896-D2FA-0A5A-CE0D7AE3141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7AE60E0-0397-9C11-DBC0-1B68C35BF90D}"/>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98015316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47227441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33CD2D-CF34-B761-E615-F8A9C7BD6E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440BB5-2F8E-3D1E-9EB3-6F195F0D2E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53D0E4-E354-E77E-E585-5A0ABF81675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3A7EFB8-EB25-E22B-B5CF-5A3EE4873347}"/>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8910439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a:extLst>
              <a:ext uri="{FF2B5EF4-FFF2-40B4-BE49-F238E27FC236}">
                <a16:creationId xmlns:a16="http://schemas.microsoft.com/office/drawing/2014/main" id="{F9CAA192-07C2-4912-B6C5-CA306F17FBDD}"/>
              </a:ext>
            </a:extLst>
          </p:cNvPr>
          <p:cNvSpPr>
            <a:spLocks noGrp="1" noRot="1" noChangeAspect="1" noTextEdit="1"/>
          </p:cNvSpPr>
          <p:nvPr>
            <p:ph type="sldImg"/>
          </p:nvPr>
        </p:nvSpPr>
        <p:spPr>
          <a:ln>
            <a:headEnd/>
            <a:tailEnd/>
          </a:ln>
        </p:spPr>
      </p:sp>
      <p:sp>
        <p:nvSpPr>
          <p:cNvPr id="48131" name="Notes Placeholder 2">
            <a:extLst>
              <a:ext uri="{FF2B5EF4-FFF2-40B4-BE49-F238E27FC236}">
                <a16:creationId xmlns:a16="http://schemas.microsoft.com/office/drawing/2014/main" id="{D9D7DF65-6D37-4A7E-9EC7-2261A13D3C4B}"/>
              </a:ext>
            </a:extLst>
          </p:cNvPr>
          <p:cNvSpPr txBox="1">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a:spcBef>
                <a:spcPct val="0"/>
              </a:spcBef>
            </a:pPr>
            <a:endParaRPr lang="de-DE" altLang="en-US">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48132" name="Slide Number Placeholder 3">
            <a:extLst>
              <a:ext uri="{FF2B5EF4-FFF2-40B4-BE49-F238E27FC236}">
                <a16:creationId xmlns:a16="http://schemas.microsoft.com/office/drawing/2014/main" id="{2998DBAB-D818-4DFB-A086-C98B5573E013}"/>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62E8CF15-2268-4E7C-A993-40BF9E4643D2}" type="slidenum">
              <a:rPr lang="en-US" altLang="en-US" sz="1200" smtClean="0"/>
              <a:pPr/>
              <a:t>35</a:t>
            </a:fld>
            <a:endParaRPr lang="en-US" altLang="en-US" sz="1200"/>
          </a:p>
        </p:txBody>
      </p:sp>
    </p:spTree>
    <p:extLst>
      <p:ext uri="{BB962C8B-B14F-4D97-AF65-F5344CB8AC3E}">
        <p14:creationId xmlns:p14="http://schemas.microsoft.com/office/powerpoint/2010/main" val="5145252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3" name="Picture Placeholder 8">
            <a:extLst>
              <a:ext uri="{FF2B5EF4-FFF2-40B4-BE49-F238E27FC236}">
                <a16:creationId xmlns:a16="http://schemas.microsoft.com/office/drawing/2014/main" id="{C6122C06-0248-45C8-9890-FDA2C7B0CDBA}"/>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2" name="Content Placeholder 7">
            <a:extLst>
              <a:ext uri="{FF2B5EF4-FFF2-40B4-BE49-F238E27FC236}">
                <a16:creationId xmlns:a16="http://schemas.microsoft.com/office/drawing/2014/main" id="{8ED74FB4-2E30-E6C1-70D5-18552BFD555A}"/>
              </a:ext>
            </a:extLst>
          </p:cNvPr>
          <p:cNvSpPr txBox="1">
            <a:spLocks/>
          </p:cNvSpPr>
          <p:nvPr userDrawn="1"/>
        </p:nvSpPr>
        <p:spPr>
          <a:xfrm>
            <a:off x="2492189" y="6455210"/>
            <a:ext cx="6177700" cy="221018"/>
          </a:xfrm>
          <a:prstGeom prst="rect">
            <a:avLst/>
          </a:prstGeom>
          <a:noFill/>
          <a:ln>
            <a:noFill/>
          </a:ln>
        </p:spPr>
        <p:txBody>
          <a:bodyPr wrap="square" lIns="0" tIns="18000" rIns="0" bIns="18000" anchor="ctr" anchorCtr="0">
            <a:spAutoFit/>
          </a:bodyPr>
          <a:lstStyle>
            <a:defPPr marR="0" lvl="0" algn="l" rtl="0">
              <a:lnSpc>
                <a:spcPct val="100000"/>
              </a:lnSpc>
              <a:spcBef>
                <a:spcPts val="0"/>
              </a:spcBef>
              <a:spcAft>
                <a:spcPts val="0"/>
              </a:spcAft>
            </a:defPPr>
            <a:lvl1pPr marL="256032" indent="-154432" algn="r">
              <a:spcBef>
                <a:spcPts val="1500"/>
              </a:spcBef>
              <a:buClr>
                <a:srgbClr val="007FA3"/>
              </a:buClr>
              <a:buSzPct val="100000"/>
              <a:buFont typeface="Arial"/>
              <a:defRPr sz="1200">
                <a:solidFill>
                  <a:schemeClr val="dk1"/>
                </a:solidFill>
                <a:latin typeface="Verdana" panose="020B0604030504040204" pitchFamily="34" charset="0"/>
                <a:ea typeface="Verdana" panose="020B0604030504040204" pitchFamily="34" charset="0"/>
                <a:cs typeface="Verdana" panose="020B0604030504040204" pitchFamily="34" charset="0"/>
              </a:defRPr>
            </a:lvl1pPr>
            <a:lvl2pPr marL="742950" indent="-184150">
              <a:spcBef>
                <a:spcPts val="600"/>
              </a:spcBef>
              <a:buClr>
                <a:srgbClr val="007FA3"/>
              </a:buClr>
              <a:buSzPct val="100000"/>
              <a:buFont typeface="Arial"/>
              <a:buChar char="–"/>
              <a:defRPr sz="1600">
                <a:solidFill>
                  <a:schemeClr val="dk1"/>
                </a:solidFill>
              </a:defRPr>
            </a:lvl2pPr>
            <a:lvl3pPr marL="1143000" indent="-127000">
              <a:spcBef>
                <a:spcPts val="600"/>
              </a:spcBef>
              <a:buClr>
                <a:srgbClr val="007FA3"/>
              </a:buClr>
              <a:buSzPct val="100000"/>
              <a:buFont typeface="Arial"/>
              <a:buChar char="▪"/>
              <a:defRPr sz="1600">
                <a:solidFill>
                  <a:schemeClr val="dk1"/>
                </a:solidFill>
              </a:defRPr>
            </a:lvl3pPr>
            <a:lvl4pPr marL="1600200" indent="-127000">
              <a:spcBef>
                <a:spcPts val="600"/>
              </a:spcBef>
              <a:buClr>
                <a:srgbClr val="007FA3"/>
              </a:buClr>
              <a:buSzPct val="100000"/>
              <a:buFont typeface="Arial"/>
              <a:buChar char="–"/>
              <a:defRPr sz="1600">
                <a:solidFill>
                  <a:schemeClr val="dk1"/>
                </a:solidFill>
              </a:defRPr>
            </a:lvl4pPr>
            <a:lvl5pPr marL="2057400" indent="-127000">
              <a:spcBef>
                <a:spcPts val="600"/>
              </a:spcBef>
              <a:buClr>
                <a:srgbClr val="007FA3"/>
              </a:buClr>
              <a:buSzPct val="100000"/>
              <a:buFont typeface="Arial"/>
              <a:buChar char="•"/>
              <a:defRPr sz="1600">
                <a:solidFill>
                  <a:schemeClr val="dk1"/>
                </a:solidFill>
              </a:defRPr>
            </a:lvl5pPr>
            <a:lvl6pPr marL="2514600" indent="-127000">
              <a:spcBef>
                <a:spcPts val="300"/>
              </a:spcBef>
              <a:buClr>
                <a:srgbClr val="007FA3"/>
              </a:buClr>
              <a:buSzPct val="100000"/>
              <a:buFont typeface="Arial"/>
              <a:buChar char="•"/>
              <a:defRPr sz="1600">
                <a:solidFill>
                  <a:schemeClr val="dk1"/>
                </a:solidFill>
              </a:defRPr>
            </a:lvl6pPr>
            <a:lvl7pPr marL="2971800" indent="-127000">
              <a:spcBef>
                <a:spcPts val="300"/>
              </a:spcBef>
              <a:buClr>
                <a:srgbClr val="007FA3"/>
              </a:buClr>
              <a:buSzPct val="100000"/>
              <a:buFont typeface="Arial"/>
              <a:buChar char="•"/>
              <a:defRPr sz="1600">
                <a:solidFill>
                  <a:schemeClr val="dk1"/>
                </a:solidFill>
              </a:defRPr>
            </a:lvl7pPr>
            <a:lvl8pPr marL="3429000" indent="-127000">
              <a:spcBef>
                <a:spcPts val="300"/>
              </a:spcBef>
              <a:buClr>
                <a:srgbClr val="007FA3"/>
              </a:buClr>
              <a:buSzPct val="100000"/>
              <a:buFont typeface="Arial"/>
              <a:buChar char="•"/>
              <a:defRPr sz="1600">
                <a:solidFill>
                  <a:schemeClr val="dk1"/>
                </a:solidFill>
              </a:defRPr>
            </a:lvl8pPr>
            <a:lvl9pPr marL="3886200" indent="-127000">
              <a:spcBef>
                <a:spcPts val="300"/>
              </a:spcBef>
              <a:buClr>
                <a:srgbClr val="007FA3"/>
              </a:buClr>
              <a:buSzPct val="100000"/>
              <a:buFont typeface="Arial"/>
              <a:buChar char="•"/>
              <a:defRPr sz="1600">
                <a:solidFill>
                  <a:schemeClr val="dk1"/>
                </a:solidFill>
              </a:defRPr>
            </a:lvl9pPr>
          </a:lstStyle>
          <a:p>
            <a:pPr lvl="0"/>
            <a:r>
              <a:rPr lang="en-US" dirty="0"/>
              <a:t>© 2024 Pearson Education Ltd. All Rights Reserved.</a:t>
            </a:r>
          </a:p>
        </p:txBody>
      </p:sp>
    </p:spTree>
    <p:extLst>
      <p:ext uri="{BB962C8B-B14F-4D97-AF65-F5344CB8AC3E}">
        <p14:creationId xmlns:p14="http://schemas.microsoft.com/office/powerpoint/2010/main" val="421594099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0" y="1441450"/>
            <a:ext cx="8232775" cy="470996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57200" y="1556327"/>
            <a:ext cx="3635375" cy="4520623"/>
          </a:xfrm>
        </p:spPr>
        <p:txBody>
          <a:bodyPr/>
          <a:lstStyle/>
          <a:p>
            <a:pPr lvl="0"/>
            <a:r>
              <a:rPr lang="en-US" dirty="0"/>
              <a:t>Edit Master text styles</a:t>
            </a: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234542" y="1556327"/>
            <a:ext cx="4452257" cy="2267528"/>
          </a:xfrm>
        </p:spPr>
        <p:txBody>
          <a:bodyPr/>
          <a:lstStyle/>
          <a:p>
            <a:pPr lvl="0"/>
            <a:r>
              <a:rPr lang="en-US" dirty="0"/>
              <a:t>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3971925"/>
            <a:ext cx="4452258" cy="2105025"/>
          </a:xfrm>
        </p:spPr>
        <p:txBody>
          <a:bodyPr/>
          <a:lstStyle/>
          <a:p>
            <a:pPr lvl="0"/>
            <a:r>
              <a:rPr lang="en-US" dirty="0"/>
              <a:t>Edit Master text styles</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399197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694830" y="1552575"/>
            <a:ext cx="3991970"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57201" y="1552575"/>
            <a:ext cx="2595603" cy="4438650"/>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3274199" y="1552575"/>
            <a:ext cx="2595602" cy="4438650"/>
          </a:xfrm>
        </p:spPr>
        <p:txBody>
          <a:bodyPr/>
          <a:lstStyle>
            <a:lvl1pPr>
              <a:defRPr/>
            </a:lvl1p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6091197" y="1552575"/>
            <a:ext cx="2595603"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188595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2572593" y="1552575"/>
            <a:ext cx="1885950" cy="4438650"/>
          </a:xfrm>
        </p:spPr>
        <p:txBody>
          <a:body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4687986" y="1552575"/>
            <a:ext cx="1885950" cy="4438650"/>
          </a:xfrm>
        </p:spPr>
        <p:txBody>
          <a:bodyPr/>
          <a:lstStyle/>
          <a:p>
            <a:pPr lvl="0"/>
            <a:r>
              <a:rPr lang="en-US" dirty="0"/>
              <a:t>Click to add text</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hasCustomPrompt="1"/>
          </p:nvPr>
        </p:nvSpPr>
        <p:spPr>
          <a:xfrm>
            <a:off x="6803378" y="1552575"/>
            <a:ext cx="1885950" cy="4438650"/>
          </a:xfrm>
        </p:spPr>
        <p:txBody>
          <a:bodyPr/>
          <a:lstStyle/>
          <a:p>
            <a:pPr marL="256032" marR="0" lvl="0" indent="-154432" algn="l" defTabSz="914400" rtl="0" eaLnBrk="1" fontAlgn="auto" latinLnBrk="0" hangingPunct="1">
              <a:lnSpc>
                <a:spcPct val="100000"/>
              </a:lnSpc>
              <a:spcBef>
                <a:spcPts val="1500"/>
              </a:spcBef>
              <a:spcAft>
                <a:spcPts val="0"/>
              </a:spcAft>
              <a:buClr>
                <a:srgbClr val="007FA3"/>
              </a:buClr>
              <a:buSzPct val="100000"/>
              <a:buFont typeface="Arial"/>
              <a:buChar char="•"/>
              <a:tabLst/>
              <a:defRPr/>
            </a:pPr>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A809BE10-F6F6-3D2E-28DC-F34EAFA105FA}"/>
              </a:ext>
            </a:extLst>
          </p:cNvPr>
          <p:cNvSpPr>
            <a:spLocks noGrp="1"/>
          </p:cNvSpPr>
          <p:nvPr>
            <p:ph sz="quarter" idx="22"/>
          </p:nvPr>
        </p:nvSpPr>
        <p:spPr>
          <a:xfrm>
            <a:off x="4827588" y="17192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9EAD1F78-8B9D-A751-47AF-C3B21F4ADFEB}"/>
              </a:ext>
            </a:extLst>
          </p:cNvPr>
          <p:cNvSpPr>
            <a:spLocks noGrp="1"/>
          </p:cNvSpPr>
          <p:nvPr>
            <p:ph sz="quarter" idx="23"/>
          </p:nvPr>
        </p:nvSpPr>
        <p:spPr>
          <a:xfrm>
            <a:off x="4827588" y="23098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9">
            <a:extLst>
              <a:ext uri="{FF2B5EF4-FFF2-40B4-BE49-F238E27FC236}">
                <a16:creationId xmlns:a16="http://schemas.microsoft.com/office/drawing/2014/main" id="{CB89E724-2231-FC7C-A540-D7989558712C}"/>
              </a:ext>
            </a:extLst>
          </p:cNvPr>
          <p:cNvSpPr>
            <a:spLocks noGrp="1"/>
          </p:cNvSpPr>
          <p:nvPr>
            <p:ph sz="quarter" idx="24"/>
          </p:nvPr>
        </p:nvSpPr>
        <p:spPr>
          <a:xfrm>
            <a:off x="4827588" y="29003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A5F7F3EC-5606-549C-D111-E17C4CD22289}"/>
              </a:ext>
            </a:extLst>
          </p:cNvPr>
          <p:cNvSpPr>
            <a:spLocks noGrp="1"/>
          </p:cNvSpPr>
          <p:nvPr>
            <p:ph sz="quarter" idx="25"/>
          </p:nvPr>
        </p:nvSpPr>
        <p:spPr>
          <a:xfrm>
            <a:off x="4827588" y="34829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Content Placeholder 33">
            <a:extLst>
              <a:ext uri="{FF2B5EF4-FFF2-40B4-BE49-F238E27FC236}">
                <a16:creationId xmlns:a16="http://schemas.microsoft.com/office/drawing/2014/main" id="{90B31E12-25AA-3878-E140-22F8FF89B670}"/>
              </a:ext>
            </a:extLst>
          </p:cNvPr>
          <p:cNvSpPr>
            <a:spLocks noGrp="1"/>
          </p:cNvSpPr>
          <p:nvPr>
            <p:ph sz="quarter" idx="26"/>
          </p:nvPr>
        </p:nvSpPr>
        <p:spPr>
          <a:xfrm>
            <a:off x="4827588" y="4065588"/>
            <a:ext cx="3859212" cy="3825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Content Placeholder 35">
            <a:extLst>
              <a:ext uri="{FF2B5EF4-FFF2-40B4-BE49-F238E27FC236}">
                <a16:creationId xmlns:a16="http://schemas.microsoft.com/office/drawing/2014/main" id="{A1A51E1E-F893-E38A-248C-ADEA6288B155}"/>
              </a:ext>
            </a:extLst>
          </p:cNvPr>
          <p:cNvSpPr>
            <a:spLocks noGrp="1"/>
          </p:cNvSpPr>
          <p:nvPr>
            <p:ph sz="quarter" idx="27"/>
          </p:nvPr>
        </p:nvSpPr>
        <p:spPr>
          <a:xfrm>
            <a:off x="4827588" y="4620604"/>
            <a:ext cx="3859212" cy="36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8" name="Content Placeholder 37">
            <a:extLst>
              <a:ext uri="{FF2B5EF4-FFF2-40B4-BE49-F238E27FC236}">
                <a16:creationId xmlns:a16="http://schemas.microsoft.com/office/drawing/2014/main" id="{8C90E203-D626-4BA0-EFEB-1781C3EE1903}"/>
              </a:ext>
            </a:extLst>
          </p:cNvPr>
          <p:cNvSpPr>
            <a:spLocks noGrp="1"/>
          </p:cNvSpPr>
          <p:nvPr>
            <p:ph sz="quarter" idx="28"/>
          </p:nvPr>
        </p:nvSpPr>
        <p:spPr>
          <a:xfrm>
            <a:off x="4827588" y="51593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0" name="Content Placeholder 39">
            <a:extLst>
              <a:ext uri="{FF2B5EF4-FFF2-40B4-BE49-F238E27FC236}">
                <a16:creationId xmlns:a16="http://schemas.microsoft.com/office/drawing/2014/main" id="{DB79D3FE-B20D-0317-2605-222F81CE296C}"/>
              </a:ext>
            </a:extLst>
          </p:cNvPr>
          <p:cNvSpPr>
            <a:spLocks noGrp="1"/>
          </p:cNvSpPr>
          <p:nvPr>
            <p:ph sz="quarter" idx="29"/>
          </p:nvPr>
        </p:nvSpPr>
        <p:spPr>
          <a:xfrm>
            <a:off x="4827588" y="5720742"/>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01476277"/>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28600"/>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12888"/>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050971"/>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481138"/>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hasCustomPrompt="1"/>
          </p:nvPr>
        </p:nvSpPr>
        <p:spPr>
          <a:xfrm>
            <a:off x="5048250" y="1481138"/>
            <a:ext cx="3638550" cy="3754437"/>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343525"/>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5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p:cNvSpPr>
            <a:spLocks noGrp="1"/>
          </p:cNvSpPr>
          <p:nvPr>
            <p:ph type="pic" sz="quarter" idx="14"/>
          </p:nvPr>
        </p:nvSpPr>
        <p:spPr>
          <a:xfrm>
            <a:off x="457200" y="5181600"/>
            <a:ext cx="8229600" cy="1066800"/>
          </a:xfrm>
        </p:spPr>
        <p:txBody>
          <a:bodyPr/>
          <a:lstStyle/>
          <a:p>
            <a:pPr lvl="0"/>
            <a:endParaRPr lang="en-IN" noProof="0"/>
          </a:p>
        </p:txBody>
      </p:sp>
      <p:sp>
        <p:nvSpPr>
          <p:cNvPr id="6" name="Date Placeholder 3">
            <a:extLst>
              <a:ext uri="{FF2B5EF4-FFF2-40B4-BE49-F238E27FC236}">
                <a16:creationId xmlns:a16="http://schemas.microsoft.com/office/drawing/2014/main" id="{6E921DB6-163E-4185-89B1-CFDC8DF69B49}"/>
              </a:ext>
            </a:extLst>
          </p:cNvPr>
          <p:cNvSpPr>
            <a:spLocks noGrp="1"/>
          </p:cNvSpPr>
          <p:nvPr>
            <p:ph type="dt" sz="half" idx="15"/>
          </p:nvPr>
        </p:nvSpPr>
        <p:spPr/>
        <p:txBody>
          <a:bodyPr/>
          <a:lstStyle>
            <a:lvl1pPr>
              <a:defRPr/>
            </a:lvl1pPr>
          </a:lstStyle>
          <a:p>
            <a:pPr>
              <a:defRPr/>
            </a:pPr>
            <a:fld id="{D828DFCB-A486-4246-B896-85E345F87AD0}" type="datetimeFigureOut">
              <a:rPr lang="en-US"/>
              <a:pPr>
                <a:defRPr/>
              </a:pPr>
              <a:t>2/23/26</a:t>
            </a:fld>
            <a:endParaRPr lang="en-US" dirty="0"/>
          </a:p>
        </p:txBody>
      </p:sp>
      <p:sp>
        <p:nvSpPr>
          <p:cNvPr id="9" name="Slide Number Placeholder 5">
            <a:extLst>
              <a:ext uri="{FF2B5EF4-FFF2-40B4-BE49-F238E27FC236}">
                <a16:creationId xmlns:a16="http://schemas.microsoft.com/office/drawing/2014/main" id="{892865F2-AEF2-4B58-8B49-1C3744D6BDAE}"/>
              </a:ext>
            </a:extLst>
          </p:cNvPr>
          <p:cNvSpPr>
            <a:spLocks noGrp="1"/>
          </p:cNvSpPr>
          <p:nvPr>
            <p:ph type="sldNum" sz="quarter" idx="16"/>
          </p:nvPr>
        </p:nvSpPr>
        <p:spPr/>
        <p:txBody>
          <a:bodyPr/>
          <a:lstStyle>
            <a:lvl1pPr>
              <a:defRPr/>
            </a:lvl1pPr>
          </a:lstStyle>
          <a:p>
            <a:pPr>
              <a:defRPr/>
            </a:pPr>
            <a:fld id="{FD8F1D26-3C1C-4360-9318-83CB049CF007}" type="slidenum">
              <a:rPr lang="en-US"/>
              <a:pPr>
                <a:defRPr/>
              </a:pPr>
              <a:t>‹#›</a:t>
            </a:fld>
            <a:endParaRPr lang="en-US" dirty="0"/>
          </a:p>
        </p:txBody>
      </p:sp>
    </p:spTree>
    <p:extLst>
      <p:ext uri="{BB962C8B-B14F-4D97-AF65-F5344CB8AC3E}">
        <p14:creationId xmlns:p14="http://schemas.microsoft.com/office/powerpoint/2010/main" val="439178372"/>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theme" Target="../theme/theme2.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 id="2147483664"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pic>
        <p:nvPicPr>
          <p:cNvPr id="8" name="Picture 7" descr="Pearson Logo">
            <a:extLst>
              <a:ext uri="{FF2B5EF4-FFF2-40B4-BE49-F238E27FC236}">
                <a16:creationId xmlns:a16="http://schemas.microsoft.com/office/drawing/2014/main" id="{FF48BABE-32F2-41CF-B06A-17C26C4ECD27}"/>
              </a:ext>
            </a:extLst>
          </p:cNvPr>
          <p:cNvPicPr>
            <a:picLocks noChangeAspect="1"/>
          </p:cNvPicPr>
          <p:nvPr userDrawn="1"/>
        </p:nvPicPr>
        <p:blipFill>
          <a:blip r:embed="rId14"/>
          <a:stretch>
            <a:fillRect/>
          </a:stretch>
        </p:blipFill>
        <p:spPr>
          <a:xfrm>
            <a:off x="430085" y="6404072"/>
            <a:ext cx="986560" cy="310866"/>
          </a:xfrm>
          <a:prstGeom prst="rect">
            <a:avLst/>
          </a:prstGeom>
        </p:spPr>
      </p:pic>
      <p:sp>
        <p:nvSpPr>
          <p:cNvPr id="9" name="Content Placeholder 7">
            <a:extLst>
              <a:ext uri="{FF2B5EF4-FFF2-40B4-BE49-F238E27FC236}">
                <a16:creationId xmlns:a16="http://schemas.microsoft.com/office/drawing/2014/main" id="{C838A386-0074-44FE-AD57-11F728F3DCA4}"/>
              </a:ext>
            </a:extLst>
          </p:cNvPr>
          <p:cNvSpPr txBox="1">
            <a:spLocks/>
          </p:cNvSpPr>
          <p:nvPr userDrawn="1"/>
        </p:nvSpPr>
        <p:spPr>
          <a:xfrm>
            <a:off x="2492189" y="6455210"/>
            <a:ext cx="6177700" cy="221018"/>
          </a:xfrm>
          <a:prstGeom prst="rect">
            <a:avLst/>
          </a:prstGeom>
          <a:noFill/>
          <a:ln>
            <a:noFill/>
          </a:ln>
        </p:spPr>
        <p:txBody>
          <a:bodyPr wrap="square" lIns="0" tIns="18000" rIns="0" bIns="18000" anchor="ctr" anchorCtr="0">
            <a:spAutoFit/>
          </a:bodyPr>
          <a:lstStyle>
            <a:defPPr marR="0" lvl="0" algn="l" rtl="0">
              <a:lnSpc>
                <a:spcPct val="100000"/>
              </a:lnSpc>
              <a:spcBef>
                <a:spcPts val="0"/>
              </a:spcBef>
              <a:spcAft>
                <a:spcPts val="0"/>
              </a:spcAft>
            </a:defPPr>
            <a:lvl1pPr marL="256032" indent="-154432" algn="r">
              <a:spcBef>
                <a:spcPts val="1500"/>
              </a:spcBef>
              <a:buClr>
                <a:srgbClr val="007FA3"/>
              </a:buClr>
              <a:buSzPct val="100000"/>
              <a:buFont typeface="Arial"/>
              <a:defRPr sz="1200">
                <a:solidFill>
                  <a:schemeClr val="dk1"/>
                </a:solidFill>
                <a:latin typeface="Verdana" panose="020B0604030504040204" pitchFamily="34" charset="0"/>
                <a:ea typeface="Verdana" panose="020B0604030504040204" pitchFamily="34" charset="0"/>
                <a:cs typeface="Verdana" panose="020B0604030504040204" pitchFamily="34" charset="0"/>
              </a:defRPr>
            </a:lvl1pPr>
            <a:lvl2pPr marL="742950" indent="-184150">
              <a:spcBef>
                <a:spcPts val="600"/>
              </a:spcBef>
              <a:buClr>
                <a:srgbClr val="007FA3"/>
              </a:buClr>
              <a:buSzPct val="100000"/>
              <a:buFont typeface="Arial"/>
              <a:buChar char="–"/>
              <a:defRPr sz="1600">
                <a:solidFill>
                  <a:schemeClr val="dk1"/>
                </a:solidFill>
              </a:defRPr>
            </a:lvl2pPr>
            <a:lvl3pPr marL="1143000" indent="-127000">
              <a:spcBef>
                <a:spcPts val="600"/>
              </a:spcBef>
              <a:buClr>
                <a:srgbClr val="007FA3"/>
              </a:buClr>
              <a:buSzPct val="100000"/>
              <a:buFont typeface="Arial"/>
              <a:buChar char="▪"/>
              <a:defRPr sz="1600">
                <a:solidFill>
                  <a:schemeClr val="dk1"/>
                </a:solidFill>
              </a:defRPr>
            </a:lvl3pPr>
            <a:lvl4pPr marL="1600200" indent="-127000">
              <a:spcBef>
                <a:spcPts val="600"/>
              </a:spcBef>
              <a:buClr>
                <a:srgbClr val="007FA3"/>
              </a:buClr>
              <a:buSzPct val="100000"/>
              <a:buFont typeface="Arial"/>
              <a:buChar char="–"/>
              <a:defRPr sz="1600">
                <a:solidFill>
                  <a:schemeClr val="dk1"/>
                </a:solidFill>
              </a:defRPr>
            </a:lvl4pPr>
            <a:lvl5pPr marL="2057400" indent="-127000">
              <a:spcBef>
                <a:spcPts val="600"/>
              </a:spcBef>
              <a:buClr>
                <a:srgbClr val="007FA3"/>
              </a:buClr>
              <a:buSzPct val="100000"/>
              <a:buFont typeface="Arial"/>
              <a:buChar char="•"/>
              <a:defRPr sz="1600">
                <a:solidFill>
                  <a:schemeClr val="dk1"/>
                </a:solidFill>
              </a:defRPr>
            </a:lvl5pPr>
            <a:lvl6pPr marL="2514600" indent="-127000">
              <a:spcBef>
                <a:spcPts val="300"/>
              </a:spcBef>
              <a:buClr>
                <a:srgbClr val="007FA3"/>
              </a:buClr>
              <a:buSzPct val="100000"/>
              <a:buFont typeface="Arial"/>
              <a:buChar char="•"/>
              <a:defRPr sz="1600">
                <a:solidFill>
                  <a:schemeClr val="dk1"/>
                </a:solidFill>
              </a:defRPr>
            </a:lvl6pPr>
            <a:lvl7pPr marL="2971800" indent="-127000">
              <a:spcBef>
                <a:spcPts val="300"/>
              </a:spcBef>
              <a:buClr>
                <a:srgbClr val="007FA3"/>
              </a:buClr>
              <a:buSzPct val="100000"/>
              <a:buFont typeface="Arial"/>
              <a:buChar char="•"/>
              <a:defRPr sz="1600">
                <a:solidFill>
                  <a:schemeClr val="dk1"/>
                </a:solidFill>
              </a:defRPr>
            </a:lvl7pPr>
            <a:lvl8pPr marL="3429000" indent="-127000">
              <a:spcBef>
                <a:spcPts val="300"/>
              </a:spcBef>
              <a:buClr>
                <a:srgbClr val="007FA3"/>
              </a:buClr>
              <a:buSzPct val="100000"/>
              <a:buFont typeface="Arial"/>
              <a:buChar char="•"/>
              <a:defRPr sz="1600">
                <a:solidFill>
                  <a:schemeClr val="dk1"/>
                </a:solidFill>
              </a:defRPr>
            </a:lvl8pPr>
            <a:lvl9pPr marL="3886200" indent="-127000">
              <a:spcBef>
                <a:spcPts val="300"/>
              </a:spcBef>
              <a:buClr>
                <a:srgbClr val="007FA3"/>
              </a:buClr>
              <a:buSzPct val="100000"/>
              <a:buFont typeface="Arial"/>
              <a:buChar char="•"/>
              <a:defRPr sz="1600">
                <a:solidFill>
                  <a:schemeClr val="dk1"/>
                </a:solidFill>
              </a:defRPr>
            </a:lvl9pPr>
          </a:lstStyle>
          <a:p>
            <a:pPr lvl="0"/>
            <a:r>
              <a:rPr lang="en-US" dirty="0"/>
              <a:t>© 2024 Pearson Education Ltd. All Rights Reserved.</a:t>
            </a:r>
          </a:p>
        </p:txBody>
      </p:sp>
    </p:spTree>
  </p:cSld>
  <p:clrMap bg1="lt1" tx1="dk1" bg2="dk2" tx2="lt2" accent1="accent1" accent2="accent2" accent3="accent3" accent4="accent4" accent5="accent5" accent6="accent6" hlink="hlink" folHlink="folHlink"/>
  <p:sldLayoutIdLst>
    <p:sldLayoutId id="2147483649" r:id="rId1"/>
    <p:sldLayoutId id="2147483676" r:id="rId2"/>
    <p:sldLayoutId id="2147483677" r:id="rId3"/>
    <p:sldLayoutId id="2147483678" r:id="rId4"/>
    <p:sldLayoutId id="2147483679" r:id="rId5"/>
    <p:sldLayoutId id="2147483680" r:id="rId6"/>
    <p:sldLayoutId id="2147483671" r:id="rId7"/>
    <p:sldLayoutId id="2147483673" r:id="rId8"/>
    <p:sldLayoutId id="2147483670" r:id="rId9"/>
    <p:sldLayoutId id="2147483669" r:id="rId10"/>
    <p:sldLayoutId id="2147483655" r:id="rId11"/>
    <p:sldLayoutId id="2147483681"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7" Type="http://schemas.openxmlformats.org/officeDocument/2006/relationships/image" Target="../media/image6.wmf"/><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oleObject" Target="../embeddings/oleObject2.bin"/><Relationship Id="rId5" Type="http://schemas.openxmlformats.org/officeDocument/2006/relationships/image" Target="../media/image5.wmf"/><Relationship Id="rId4"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oleObject" Target="../embeddings/oleObject3.bin"/><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image" Target="../media/image8.wmf"/><Relationship Id="rId5" Type="http://schemas.openxmlformats.org/officeDocument/2006/relationships/oleObject" Target="../embeddings/oleObject4.bin"/><Relationship Id="rId4" Type="http://schemas.openxmlformats.org/officeDocument/2006/relationships/image" Target="../media/image7.w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8" Type="http://schemas.openxmlformats.org/officeDocument/2006/relationships/image" Target="../media/image14.wmf"/><Relationship Id="rId3" Type="http://schemas.openxmlformats.org/officeDocument/2006/relationships/oleObject" Target="../embeddings/oleObject5.bin"/><Relationship Id="rId7" Type="http://schemas.openxmlformats.org/officeDocument/2006/relationships/oleObject" Target="../embeddings/oleObject7.bin"/><Relationship Id="rId12" Type="http://schemas.openxmlformats.org/officeDocument/2006/relationships/image" Target="../media/image16.wmf"/><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3.wmf"/><Relationship Id="rId11" Type="http://schemas.openxmlformats.org/officeDocument/2006/relationships/oleObject" Target="../embeddings/oleObject9.bin"/><Relationship Id="rId5" Type="http://schemas.openxmlformats.org/officeDocument/2006/relationships/oleObject" Target="../embeddings/oleObject6.bin"/><Relationship Id="rId10" Type="http://schemas.openxmlformats.org/officeDocument/2006/relationships/image" Target="../media/image15.wmf"/><Relationship Id="rId4" Type="http://schemas.openxmlformats.org/officeDocument/2006/relationships/image" Target="../media/image12.wmf"/><Relationship Id="rId9" Type="http://schemas.openxmlformats.org/officeDocument/2006/relationships/oleObject" Target="../embeddings/oleObject8.bin"/></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12.bin"/><Relationship Id="rId13" Type="http://schemas.openxmlformats.org/officeDocument/2006/relationships/image" Target="../media/image22.wmf"/><Relationship Id="rId18" Type="http://schemas.openxmlformats.org/officeDocument/2006/relationships/oleObject" Target="../embeddings/oleObject17.bin"/><Relationship Id="rId3" Type="http://schemas.openxmlformats.org/officeDocument/2006/relationships/image" Target="../media/image17.jpg"/><Relationship Id="rId7" Type="http://schemas.openxmlformats.org/officeDocument/2006/relationships/image" Target="../media/image19.wmf"/><Relationship Id="rId12" Type="http://schemas.openxmlformats.org/officeDocument/2006/relationships/oleObject" Target="../embeddings/oleObject14.bin"/><Relationship Id="rId17" Type="http://schemas.openxmlformats.org/officeDocument/2006/relationships/image" Target="../media/image24.wmf"/><Relationship Id="rId2" Type="http://schemas.openxmlformats.org/officeDocument/2006/relationships/notesSlide" Target="../notesSlides/notesSlide9.xml"/><Relationship Id="rId16" Type="http://schemas.openxmlformats.org/officeDocument/2006/relationships/oleObject" Target="../embeddings/oleObject16.bin"/><Relationship Id="rId1" Type="http://schemas.openxmlformats.org/officeDocument/2006/relationships/slideLayout" Target="../slideLayouts/slideLayout8.xml"/><Relationship Id="rId6" Type="http://schemas.openxmlformats.org/officeDocument/2006/relationships/oleObject" Target="../embeddings/oleObject11.bin"/><Relationship Id="rId11" Type="http://schemas.openxmlformats.org/officeDocument/2006/relationships/image" Target="../media/image21.wmf"/><Relationship Id="rId5" Type="http://schemas.openxmlformats.org/officeDocument/2006/relationships/image" Target="../media/image18.wmf"/><Relationship Id="rId15" Type="http://schemas.openxmlformats.org/officeDocument/2006/relationships/image" Target="../media/image23.wmf"/><Relationship Id="rId10" Type="http://schemas.openxmlformats.org/officeDocument/2006/relationships/oleObject" Target="../embeddings/oleObject13.bin"/><Relationship Id="rId19" Type="http://schemas.openxmlformats.org/officeDocument/2006/relationships/image" Target="../media/image25.wmf"/><Relationship Id="rId4" Type="http://schemas.openxmlformats.org/officeDocument/2006/relationships/oleObject" Target="../embeddings/oleObject10.bin"/><Relationship Id="rId9" Type="http://schemas.openxmlformats.org/officeDocument/2006/relationships/image" Target="../media/image20.wmf"/><Relationship Id="rId14" Type="http://schemas.openxmlformats.org/officeDocument/2006/relationships/oleObject" Target="../embeddings/oleObject15.bin"/></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27.jpg"/><Relationship Id="rId4" Type="http://schemas.openxmlformats.org/officeDocument/2006/relationships/image" Target="../media/image26.wmf"/></Relationships>
</file>

<file path=ppt/slides/_rels/slide13.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14.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27.jpg"/><Relationship Id="rId7" Type="http://schemas.openxmlformats.org/officeDocument/2006/relationships/image" Target="../media/image29.wmf"/><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oleObject" Target="../embeddings/oleObject20.bin"/><Relationship Id="rId5" Type="http://schemas.openxmlformats.org/officeDocument/2006/relationships/image" Target="../media/image28.wmf"/><Relationship Id="rId4" Type="http://schemas.openxmlformats.org/officeDocument/2006/relationships/oleObject" Target="../embeddings/oleObject19.bin"/></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20.bin"/><Relationship Id="rId3" Type="http://schemas.openxmlformats.org/officeDocument/2006/relationships/image" Target="../media/image27.jpg"/><Relationship Id="rId7"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image" Target="../media/image28.wmf"/><Relationship Id="rId5" Type="http://schemas.openxmlformats.org/officeDocument/2006/relationships/oleObject" Target="../embeddings/oleObject19.bin"/><Relationship Id="rId4" Type="http://schemas.openxmlformats.org/officeDocument/2006/relationships/image" Target="../media/image10.png"/><Relationship Id="rId9" Type="http://schemas.openxmlformats.org/officeDocument/2006/relationships/image" Target="../media/image29.wmf"/></Relationships>
</file>

<file path=ppt/slides/_rels/slide17.xml.rels><?xml version="1.0" encoding="UTF-8" standalone="yes"?>
<Relationships xmlns="http://schemas.openxmlformats.org/package/2006/relationships"><Relationship Id="rId3" Type="http://schemas.openxmlformats.org/officeDocument/2006/relationships/image" Target="../media/image27.jpg"/><Relationship Id="rId7" Type="http://schemas.openxmlformats.org/officeDocument/2006/relationships/image" Target="../media/image31.wmf"/><Relationship Id="rId2" Type="http://schemas.openxmlformats.org/officeDocument/2006/relationships/notesSlide" Target="../notesSlides/notesSlide17.xml"/><Relationship Id="rId1" Type="http://schemas.openxmlformats.org/officeDocument/2006/relationships/slideLayout" Target="../slideLayouts/slideLayout8.xml"/><Relationship Id="rId6" Type="http://schemas.openxmlformats.org/officeDocument/2006/relationships/oleObject" Target="../embeddings/oleObject22.bin"/><Relationship Id="rId5" Type="http://schemas.openxmlformats.org/officeDocument/2006/relationships/image" Target="../media/image30.wmf"/><Relationship Id="rId4" Type="http://schemas.openxmlformats.org/officeDocument/2006/relationships/oleObject" Target="../embeddings/oleObject21.bin"/></Relationships>
</file>

<file path=ppt/slides/_rels/slide18.xml.rels><?xml version="1.0" encoding="UTF-8" standalone="yes"?>
<Relationships xmlns="http://schemas.openxmlformats.org/package/2006/relationships"><Relationship Id="rId8" Type="http://schemas.openxmlformats.org/officeDocument/2006/relationships/image" Target="../media/image31.wmf"/><Relationship Id="rId3" Type="http://schemas.openxmlformats.org/officeDocument/2006/relationships/image" Target="../media/image27.jpg"/><Relationship Id="rId7" Type="http://schemas.openxmlformats.org/officeDocument/2006/relationships/oleObject" Target="../embeddings/oleObject22.bin"/><Relationship Id="rId2" Type="http://schemas.openxmlformats.org/officeDocument/2006/relationships/notesSlide" Target="../notesSlides/notesSlide18.xml"/><Relationship Id="rId1" Type="http://schemas.openxmlformats.org/officeDocument/2006/relationships/slideLayout" Target="../slideLayouts/slideLayout8.xml"/><Relationship Id="rId6" Type="http://schemas.openxmlformats.org/officeDocument/2006/relationships/image" Target="../media/image30.wmf"/><Relationship Id="rId5" Type="http://schemas.openxmlformats.org/officeDocument/2006/relationships/oleObject" Target="../embeddings/oleObject21.bin"/><Relationship Id="rId4" Type="http://schemas.openxmlformats.org/officeDocument/2006/relationships/image" Target="../media/image9.png"/><Relationship Id="rId9" Type="http://schemas.openxmlformats.org/officeDocument/2006/relationships/image" Target="../media/image10.png"/></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25.bin"/><Relationship Id="rId3" Type="http://schemas.openxmlformats.org/officeDocument/2006/relationships/image" Target="../media/image27.jpg"/><Relationship Id="rId7" Type="http://schemas.openxmlformats.org/officeDocument/2006/relationships/image" Target="../media/image33.wmf"/><Relationship Id="rId2" Type="http://schemas.openxmlformats.org/officeDocument/2006/relationships/notesSlide" Target="../notesSlides/notesSlide19.xml"/><Relationship Id="rId1" Type="http://schemas.openxmlformats.org/officeDocument/2006/relationships/slideLayout" Target="../slideLayouts/slideLayout8.xml"/><Relationship Id="rId6" Type="http://schemas.openxmlformats.org/officeDocument/2006/relationships/oleObject" Target="../embeddings/oleObject24.bin"/><Relationship Id="rId5" Type="http://schemas.openxmlformats.org/officeDocument/2006/relationships/image" Target="../media/image32.wmf"/><Relationship Id="rId4" Type="http://schemas.openxmlformats.org/officeDocument/2006/relationships/oleObject" Target="../embeddings/oleObject23.bin"/><Relationship Id="rId9" Type="http://schemas.openxmlformats.org/officeDocument/2006/relationships/image" Target="../media/image34.wmf"/></Relationships>
</file>

<file path=ppt/slides/_rels/slide20.xml.rels><?xml version="1.0" encoding="UTF-8" standalone="yes"?>
<Relationships xmlns="http://schemas.openxmlformats.org/package/2006/relationships"><Relationship Id="rId8" Type="http://schemas.openxmlformats.org/officeDocument/2006/relationships/image" Target="../media/image33.wmf"/><Relationship Id="rId3" Type="http://schemas.openxmlformats.org/officeDocument/2006/relationships/image" Target="../media/image27.jpg"/><Relationship Id="rId7" Type="http://schemas.openxmlformats.org/officeDocument/2006/relationships/oleObject" Target="../embeddings/oleObject24.bin"/><Relationship Id="rId2" Type="http://schemas.openxmlformats.org/officeDocument/2006/relationships/notesSlide" Target="../notesSlides/notesSlide20.xml"/><Relationship Id="rId1" Type="http://schemas.openxmlformats.org/officeDocument/2006/relationships/slideLayout" Target="../slideLayouts/slideLayout8.xml"/><Relationship Id="rId6" Type="http://schemas.openxmlformats.org/officeDocument/2006/relationships/image" Target="../media/image32.wmf"/><Relationship Id="rId11" Type="http://schemas.openxmlformats.org/officeDocument/2006/relationships/image" Target="../media/image34.wmf"/><Relationship Id="rId5" Type="http://schemas.openxmlformats.org/officeDocument/2006/relationships/oleObject" Target="../embeddings/oleObject23.bin"/><Relationship Id="rId10" Type="http://schemas.openxmlformats.org/officeDocument/2006/relationships/oleObject" Target="../embeddings/oleObject25.bin"/><Relationship Id="rId4" Type="http://schemas.openxmlformats.org/officeDocument/2006/relationships/image" Target="../media/image9.png"/><Relationship Id="rId9" Type="http://schemas.openxmlformats.org/officeDocument/2006/relationships/image" Target="../media/image10.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8" Type="http://schemas.openxmlformats.org/officeDocument/2006/relationships/image" Target="../media/image38.wmf"/><Relationship Id="rId13" Type="http://schemas.openxmlformats.org/officeDocument/2006/relationships/image" Target="../media/image41.jpg"/><Relationship Id="rId3" Type="http://schemas.openxmlformats.org/officeDocument/2006/relationships/oleObject" Target="../embeddings/oleObject26.bin"/><Relationship Id="rId7" Type="http://schemas.openxmlformats.org/officeDocument/2006/relationships/oleObject" Target="../embeddings/oleObject28.bin"/><Relationship Id="rId12" Type="http://schemas.openxmlformats.org/officeDocument/2006/relationships/image" Target="../media/image40.wmf"/><Relationship Id="rId2" Type="http://schemas.openxmlformats.org/officeDocument/2006/relationships/notesSlide" Target="../notesSlides/notesSlide23.xml"/><Relationship Id="rId1" Type="http://schemas.openxmlformats.org/officeDocument/2006/relationships/slideLayout" Target="../slideLayouts/slideLayout8.xml"/><Relationship Id="rId6" Type="http://schemas.openxmlformats.org/officeDocument/2006/relationships/image" Target="../media/image37.wmf"/><Relationship Id="rId11" Type="http://schemas.openxmlformats.org/officeDocument/2006/relationships/oleObject" Target="../embeddings/oleObject30.bin"/><Relationship Id="rId5" Type="http://schemas.openxmlformats.org/officeDocument/2006/relationships/oleObject" Target="../embeddings/oleObject27.bin"/><Relationship Id="rId10" Type="http://schemas.openxmlformats.org/officeDocument/2006/relationships/image" Target="../media/image39.wmf"/><Relationship Id="rId4" Type="http://schemas.openxmlformats.org/officeDocument/2006/relationships/image" Target="../media/image36.wmf"/><Relationship Id="rId9" Type="http://schemas.openxmlformats.org/officeDocument/2006/relationships/oleObject" Target="../embeddings/oleObject29.bin"/></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33.bin"/><Relationship Id="rId13" Type="http://schemas.openxmlformats.org/officeDocument/2006/relationships/image" Target="../media/image47.wmf"/><Relationship Id="rId18" Type="http://schemas.openxmlformats.org/officeDocument/2006/relationships/oleObject" Target="../embeddings/oleObject38.bin"/><Relationship Id="rId3" Type="http://schemas.openxmlformats.org/officeDocument/2006/relationships/image" Target="../media/image42.jpg"/><Relationship Id="rId7" Type="http://schemas.openxmlformats.org/officeDocument/2006/relationships/image" Target="../media/image44.wmf"/><Relationship Id="rId12" Type="http://schemas.openxmlformats.org/officeDocument/2006/relationships/oleObject" Target="../embeddings/oleObject35.bin"/><Relationship Id="rId17" Type="http://schemas.openxmlformats.org/officeDocument/2006/relationships/image" Target="../media/image49.wmf"/><Relationship Id="rId2" Type="http://schemas.openxmlformats.org/officeDocument/2006/relationships/notesSlide" Target="../notesSlides/notesSlide24.xml"/><Relationship Id="rId16" Type="http://schemas.openxmlformats.org/officeDocument/2006/relationships/oleObject" Target="../embeddings/oleObject37.bin"/><Relationship Id="rId1" Type="http://schemas.openxmlformats.org/officeDocument/2006/relationships/slideLayout" Target="../slideLayouts/slideLayout8.xml"/><Relationship Id="rId6" Type="http://schemas.openxmlformats.org/officeDocument/2006/relationships/oleObject" Target="../embeddings/oleObject32.bin"/><Relationship Id="rId11" Type="http://schemas.openxmlformats.org/officeDocument/2006/relationships/image" Target="../media/image46.wmf"/><Relationship Id="rId5" Type="http://schemas.openxmlformats.org/officeDocument/2006/relationships/image" Target="../media/image43.wmf"/><Relationship Id="rId15" Type="http://schemas.openxmlformats.org/officeDocument/2006/relationships/image" Target="../media/image48.wmf"/><Relationship Id="rId10" Type="http://schemas.openxmlformats.org/officeDocument/2006/relationships/oleObject" Target="../embeddings/oleObject34.bin"/><Relationship Id="rId19" Type="http://schemas.openxmlformats.org/officeDocument/2006/relationships/image" Target="../media/image50.wmf"/><Relationship Id="rId4" Type="http://schemas.openxmlformats.org/officeDocument/2006/relationships/oleObject" Target="../embeddings/oleObject31.bin"/><Relationship Id="rId9" Type="http://schemas.openxmlformats.org/officeDocument/2006/relationships/image" Target="../media/image45.wmf"/><Relationship Id="rId14" Type="http://schemas.openxmlformats.org/officeDocument/2006/relationships/oleObject" Target="../embeddings/oleObject36.bin"/></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notesSlide" Target="../notesSlides/notesSlide25.xml"/><Relationship Id="rId1" Type="http://schemas.openxmlformats.org/officeDocument/2006/relationships/slideLayout" Target="../slideLayouts/slideLayout8.xml"/><Relationship Id="rId6" Type="http://schemas.openxmlformats.org/officeDocument/2006/relationships/image" Target="../media/image53.jpg"/><Relationship Id="rId5" Type="http://schemas.openxmlformats.org/officeDocument/2006/relationships/image" Target="../media/image52.jpg"/><Relationship Id="rId4" Type="http://schemas.openxmlformats.org/officeDocument/2006/relationships/image" Target="../media/image51.wmf"/></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42.bin"/><Relationship Id="rId13" Type="http://schemas.openxmlformats.org/officeDocument/2006/relationships/image" Target="../media/image59.wmf"/><Relationship Id="rId3" Type="http://schemas.openxmlformats.org/officeDocument/2006/relationships/oleObject" Target="../embeddings/oleObject40.bin"/><Relationship Id="rId7" Type="http://schemas.openxmlformats.org/officeDocument/2006/relationships/image" Target="../media/image56.wmf"/><Relationship Id="rId12" Type="http://schemas.openxmlformats.org/officeDocument/2006/relationships/oleObject" Target="../embeddings/oleObject44.bin"/><Relationship Id="rId2" Type="http://schemas.openxmlformats.org/officeDocument/2006/relationships/notesSlide" Target="../notesSlides/notesSlide26.xml"/><Relationship Id="rId1" Type="http://schemas.openxmlformats.org/officeDocument/2006/relationships/slideLayout" Target="../slideLayouts/slideLayout8.xml"/><Relationship Id="rId6" Type="http://schemas.openxmlformats.org/officeDocument/2006/relationships/oleObject" Target="../embeddings/oleObject41.bin"/><Relationship Id="rId11" Type="http://schemas.openxmlformats.org/officeDocument/2006/relationships/image" Target="../media/image58.wmf"/><Relationship Id="rId5" Type="http://schemas.openxmlformats.org/officeDocument/2006/relationships/image" Target="../media/image55.jpg"/><Relationship Id="rId10" Type="http://schemas.openxmlformats.org/officeDocument/2006/relationships/oleObject" Target="../embeddings/oleObject43.bin"/><Relationship Id="rId4" Type="http://schemas.openxmlformats.org/officeDocument/2006/relationships/image" Target="../media/image54.wmf"/><Relationship Id="rId9" Type="http://schemas.openxmlformats.org/officeDocument/2006/relationships/image" Target="../media/image57.wmf"/></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47.bin"/><Relationship Id="rId3" Type="http://schemas.openxmlformats.org/officeDocument/2006/relationships/image" Target="../media/image60.jpg"/><Relationship Id="rId7" Type="http://schemas.openxmlformats.org/officeDocument/2006/relationships/image" Target="../media/image62.wmf"/><Relationship Id="rId2" Type="http://schemas.openxmlformats.org/officeDocument/2006/relationships/notesSlide" Target="../notesSlides/notesSlide27.xml"/><Relationship Id="rId1" Type="http://schemas.openxmlformats.org/officeDocument/2006/relationships/slideLayout" Target="../slideLayouts/slideLayout8.xml"/><Relationship Id="rId6" Type="http://schemas.openxmlformats.org/officeDocument/2006/relationships/oleObject" Target="../embeddings/oleObject46.bin"/><Relationship Id="rId11" Type="http://schemas.openxmlformats.org/officeDocument/2006/relationships/image" Target="../media/image64.wmf"/><Relationship Id="rId5" Type="http://schemas.openxmlformats.org/officeDocument/2006/relationships/image" Target="../media/image61.wmf"/><Relationship Id="rId10" Type="http://schemas.openxmlformats.org/officeDocument/2006/relationships/oleObject" Target="../embeddings/oleObject48.bin"/><Relationship Id="rId4" Type="http://schemas.openxmlformats.org/officeDocument/2006/relationships/oleObject" Target="../embeddings/oleObject45.bin"/><Relationship Id="rId9" Type="http://schemas.openxmlformats.org/officeDocument/2006/relationships/image" Target="../media/image63.wmf"/></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51.bin"/><Relationship Id="rId13" Type="http://schemas.openxmlformats.org/officeDocument/2006/relationships/image" Target="../media/image70.wmf"/><Relationship Id="rId18" Type="http://schemas.openxmlformats.org/officeDocument/2006/relationships/oleObject" Target="../embeddings/oleObject56.bin"/><Relationship Id="rId3" Type="http://schemas.openxmlformats.org/officeDocument/2006/relationships/oleObject" Target="../embeddings/oleObject49.bin"/><Relationship Id="rId21" Type="http://schemas.openxmlformats.org/officeDocument/2006/relationships/image" Target="../media/image74.wmf"/><Relationship Id="rId7" Type="http://schemas.openxmlformats.org/officeDocument/2006/relationships/image" Target="../media/image67.wmf"/><Relationship Id="rId12" Type="http://schemas.openxmlformats.org/officeDocument/2006/relationships/oleObject" Target="../embeddings/oleObject53.bin"/><Relationship Id="rId17" Type="http://schemas.openxmlformats.org/officeDocument/2006/relationships/image" Target="../media/image72.wmf"/><Relationship Id="rId2" Type="http://schemas.openxmlformats.org/officeDocument/2006/relationships/notesSlide" Target="../notesSlides/notesSlide29.xml"/><Relationship Id="rId16" Type="http://schemas.openxmlformats.org/officeDocument/2006/relationships/oleObject" Target="../embeddings/oleObject55.bin"/><Relationship Id="rId20" Type="http://schemas.openxmlformats.org/officeDocument/2006/relationships/oleObject" Target="../embeddings/oleObject57.bin"/><Relationship Id="rId1" Type="http://schemas.openxmlformats.org/officeDocument/2006/relationships/slideLayout" Target="../slideLayouts/slideLayout8.xml"/><Relationship Id="rId6" Type="http://schemas.openxmlformats.org/officeDocument/2006/relationships/oleObject" Target="../embeddings/oleObject50.bin"/><Relationship Id="rId11" Type="http://schemas.openxmlformats.org/officeDocument/2006/relationships/image" Target="../media/image69.wmf"/><Relationship Id="rId5" Type="http://schemas.openxmlformats.org/officeDocument/2006/relationships/image" Target="../media/image66.jpg"/><Relationship Id="rId15" Type="http://schemas.openxmlformats.org/officeDocument/2006/relationships/image" Target="../media/image71.wmf"/><Relationship Id="rId10" Type="http://schemas.openxmlformats.org/officeDocument/2006/relationships/oleObject" Target="../embeddings/oleObject52.bin"/><Relationship Id="rId19" Type="http://schemas.openxmlformats.org/officeDocument/2006/relationships/image" Target="../media/image73.wmf"/><Relationship Id="rId4" Type="http://schemas.openxmlformats.org/officeDocument/2006/relationships/image" Target="../media/image65.wmf"/><Relationship Id="rId9" Type="http://schemas.openxmlformats.org/officeDocument/2006/relationships/image" Target="../media/image68.wmf"/><Relationship Id="rId14" Type="http://schemas.openxmlformats.org/officeDocument/2006/relationships/oleObject" Target="../embeddings/oleObject54.bin"/></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60.bin"/><Relationship Id="rId13" Type="http://schemas.openxmlformats.org/officeDocument/2006/relationships/image" Target="../media/image80.wmf"/><Relationship Id="rId18" Type="http://schemas.openxmlformats.org/officeDocument/2006/relationships/oleObject" Target="../embeddings/oleObject65.bin"/><Relationship Id="rId3" Type="http://schemas.openxmlformats.org/officeDocument/2006/relationships/oleObject" Target="../embeddings/oleObject58.bin"/><Relationship Id="rId21" Type="http://schemas.openxmlformats.org/officeDocument/2006/relationships/image" Target="../media/image84.wmf"/><Relationship Id="rId7" Type="http://schemas.openxmlformats.org/officeDocument/2006/relationships/image" Target="../media/image77.wmf"/><Relationship Id="rId12" Type="http://schemas.openxmlformats.org/officeDocument/2006/relationships/oleObject" Target="../embeddings/oleObject62.bin"/><Relationship Id="rId17" Type="http://schemas.openxmlformats.org/officeDocument/2006/relationships/image" Target="../media/image82.wmf"/><Relationship Id="rId25" Type="http://schemas.openxmlformats.org/officeDocument/2006/relationships/image" Target="../media/image86.wmf"/><Relationship Id="rId2" Type="http://schemas.openxmlformats.org/officeDocument/2006/relationships/notesSlide" Target="../notesSlides/notesSlide30.xml"/><Relationship Id="rId16" Type="http://schemas.openxmlformats.org/officeDocument/2006/relationships/oleObject" Target="../embeddings/oleObject64.bin"/><Relationship Id="rId20" Type="http://schemas.openxmlformats.org/officeDocument/2006/relationships/oleObject" Target="../embeddings/oleObject66.bin"/><Relationship Id="rId1" Type="http://schemas.openxmlformats.org/officeDocument/2006/relationships/slideLayout" Target="../slideLayouts/slideLayout8.xml"/><Relationship Id="rId6" Type="http://schemas.openxmlformats.org/officeDocument/2006/relationships/oleObject" Target="../embeddings/oleObject59.bin"/><Relationship Id="rId11" Type="http://schemas.openxmlformats.org/officeDocument/2006/relationships/image" Target="../media/image79.wmf"/><Relationship Id="rId24" Type="http://schemas.openxmlformats.org/officeDocument/2006/relationships/oleObject" Target="../embeddings/oleObject68.bin"/><Relationship Id="rId5" Type="http://schemas.openxmlformats.org/officeDocument/2006/relationships/image" Target="../media/image76.jpg"/><Relationship Id="rId15" Type="http://schemas.openxmlformats.org/officeDocument/2006/relationships/image" Target="../media/image81.wmf"/><Relationship Id="rId23" Type="http://schemas.openxmlformats.org/officeDocument/2006/relationships/image" Target="../media/image85.wmf"/><Relationship Id="rId10" Type="http://schemas.openxmlformats.org/officeDocument/2006/relationships/oleObject" Target="../embeddings/oleObject61.bin"/><Relationship Id="rId19" Type="http://schemas.openxmlformats.org/officeDocument/2006/relationships/image" Target="../media/image83.wmf"/><Relationship Id="rId4" Type="http://schemas.openxmlformats.org/officeDocument/2006/relationships/image" Target="../media/image75.wmf"/><Relationship Id="rId9" Type="http://schemas.openxmlformats.org/officeDocument/2006/relationships/image" Target="../media/image78.wmf"/><Relationship Id="rId14" Type="http://schemas.openxmlformats.org/officeDocument/2006/relationships/oleObject" Target="../embeddings/oleObject63.bin"/><Relationship Id="rId22" Type="http://schemas.openxmlformats.org/officeDocument/2006/relationships/oleObject" Target="../embeddings/oleObject67.bin"/></Relationships>
</file>

<file path=ppt/slides/_rels/slide31.xml.rels><?xml version="1.0" encoding="UTF-8" standalone="yes"?>
<Relationships xmlns="http://schemas.openxmlformats.org/package/2006/relationships"><Relationship Id="rId3" Type="http://schemas.openxmlformats.org/officeDocument/2006/relationships/image" Target="../media/image87.jpg"/><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3" Type="http://schemas.openxmlformats.org/officeDocument/2006/relationships/image" Target="../media/image87.jpg"/><Relationship Id="rId2" Type="http://schemas.openxmlformats.org/officeDocument/2006/relationships/notesSlide" Target="../notesSlides/notesSlide32.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9.png"/></Relationships>
</file>

<file path=ppt/slides/_rels/slide33.xml.rels><?xml version="1.0" encoding="UTF-8" standalone="yes"?>
<Relationships xmlns="http://schemas.openxmlformats.org/package/2006/relationships"><Relationship Id="rId3" Type="http://schemas.openxmlformats.org/officeDocument/2006/relationships/image" Target="../media/image88.jpg"/><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3" Type="http://schemas.openxmlformats.org/officeDocument/2006/relationships/image" Target="../media/image88.jpg"/><Relationship Id="rId2" Type="http://schemas.openxmlformats.org/officeDocument/2006/relationships/notesSlide" Target="../notesSlides/notesSlide34.xml"/><Relationship Id="rId1" Type="http://schemas.openxmlformats.org/officeDocument/2006/relationships/slideLayout" Target="../slideLayouts/slideLayout8.xml"/><Relationship Id="rId5" Type="http://schemas.openxmlformats.org/officeDocument/2006/relationships/image" Target="../media/image9.png"/><Relationship Id="rId4" Type="http://schemas.openxmlformats.org/officeDocument/2006/relationships/image" Target="../media/image10.png"/></Relationships>
</file>

<file path=ppt/slides/_rels/slide35.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35.xml"/><Relationship Id="rId1" Type="http://schemas.openxmlformats.org/officeDocument/2006/relationships/slideLayout" Target="../slideLayouts/slideLayout14.xml"/><Relationship Id="rId4" Type="http://schemas.openxmlformats.org/officeDocument/2006/relationships/image" Target="../media/image90.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Lst>
          </p:cNvPr>
          <p:cNvSpPr>
            <a:spLocks noGrp="1"/>
          </p:cNvSpPr>
          <p:nvPr>
            <p:ph type="title"/>
          </p:nvPr>
        </p:nvSpPr>
        <p:spPr>
          <a:xfrm>
            <a:off x="430304" y="215371"/>
            <a:ext cx="8239583" cy="590349"/>
          </a:xfrm>
        </p:spPr>
        <p:txBody>
          <a:bodyPr wrap="square" lIns="0" tIns="18000" rIns="0" bIns="18000" anchor="ctr">
            <a:spAutoFit/>
          </a:bodyPr>
          <a:lstStyle/>
          <a:p>
            <a:r>
              <a:rPr lang="en-US" noProof="0" dirty="0"/>
              <a:t>Electric Circuits</a:t>
            </a:r>
          </a:p>
        </p:txBody>
      </p:sp>
      <p:sp>
        <p:nvSpPr>
          <p:cNvPr id="3" name="Content Placeholder 2">
            <a:extLst>
              <a:ext uri="{FF2B5EF4-FFF2-40B4-BE49-F238E27FC236}">
                <a16:creationId xmlns:a16="http://schemas.microsoft.com/office/drawing/2014/main" id="{ABE18F80-D4FC-4D8F-B2BD-E7BEE7E012B5}"/>
              </a:ext>
            </a:extLst>
          </p:cNvPr>
          <p:cNvSpPr>
            <a:spLocks noGrp="1"/>
          </p:cNvSpPr>
          <p:nvPr>
            <p:ph type="body" idx="1"/>
          </p:nvPr>
        </p:nvSpPr>
        <p:spPr>
          <a:xfrm>
            <a:off x="430305" y="1029136"/>
            <a:ext cx="8240620" cy="344128"/>
          </a:xfrm>
        </p:spPr>
        <p:txBody>
          <a:bodyPr wrap="square" lIns="0" tIns="18000" rIns="0" bIns="18000" anchor="ctr">
            <a:spAutoFit/>
          </a:bodyPr>
          <a:lstStyle/>
          <a:p>
            <a:r>
              <a:rPr lang="en-US" noProof="0" dirty="0"/>
              <a:t>Twelfth </a:t>
            </a:r>
            <a:r>
              <a:rPr lang="en-US" dirty="0"/>
              <a:t>Edition, Global Edition</a:t>
            </a:r>
            <a:endParaRPr lang="en-US" noProof="0" dirty="0"/>
          </a:p>
        </p:txBody>
      </p:sp>
      <p:pic>
        <p:nvPicPr>
          <p:cNvPr id="11" name="Picture 10">
            <a:extLst>
              <a:ext uri="{FF2B5EF4-FFF2-40B4-BE49-F238E27FC236}">
                <a16:creationId xmlns:a16="http://schemas.microsoft.com/office/drawing/2014/main" id="{170E337C-9388-4F39-A525-F415A0FBA59A}"/>
              </a:ext>
            </a:extLst>
          </p:cNvPr>
          <p:cNvPicPr>
            <a:picLocks noChangeAspect="1"/>
          </p:cNvPicPr>
          <p:nvPr/>
        </p:nvPicPr>
        <p:blipFill>
          <a:blip r:embed="rId3"/>
          <a:stretch>
            <a:fillRect/>
          </a:stretch>
        </p:blipFill>
        <p:spPr>
          <a:xfrm>
            <a:off x="492662" y="1771328"/>
            <a:ext cx="3609247" cy="4511158"/>
          </a:xfrm>
          <a:prstGeom prst="rect">
            <a:avLst/>
          </a:prstGeom>
        </p:spPr>
      </p:pic>
      <p:sp>
        <p:nvSpPr>
          <p:cNvPr id="5" name="Content Placeholder 4">
            <a:extLst>
              <a:ext uri="{FF2B5EF4-FFF2-40B4-BE49-F238E27FC236}">
                <a16:creationId xmlns:a16="http://schemas.microsoft.com/office/drawing/2014/main" id="{2D222376-7AD7-4443-B67A-120BE12F4DDB}"/>
              </a:ext>
            </a:extLst>
          </p:cNvPr>
          <p:cNvSpPr>
            <a:spLocks noGrp="1"/>
          </p:cNvSpPr>
          <p:nvPr>
            <p:ph sz="quarter" idx="14"/>
          </p:nvPr>
        </p:nvSpPr>
        <p:spPr>
          <a:xfrm>
            <a:off x="4578799" y="2815153"/>
            <a:ext cx="3657600" cy="498016"/>
          </a:xfrm>
        </p:spPr>
        <p:txBody>
          <a:bodyPr lIns="0" tIns="18000" rIns="0" bIns="18000" anchor="ctr">
            <a:spAutoFit/>
          </a:bodyPr>
          <a:lstStyle/>
          <a:p>
            <a:pPr indent="-101600"/>
            <a:r>
              <a:rPr lang="en-US" noProof="0" dirty="0">
                <a:solidFill>
                  <a:schemeClr val="tx1"/>
                </a:solidFill>
              </a:rPr>
              <a:t>Chapter 4 – Part 2</a:t>
            </a:r>
          </a:p>
        </p:txBody>
      </p:sp>
      <p:sp>
        <p:nvSpPr>
          <p:cNvPr id="6" name="Content Placeholder 5">
            <a:extLst>
              <a:ext uri="{FF2B5EF4-FFF2-40B4-BE49-F238E27FC236}">
                <a16:creationId xmlns:a16="http://schemas.microsoft.com/office/drawing/2014/main" id="{82FD4EC9-4778-4E2F-B136-2A176CA2BA69}"/>
              </a:ext>
            </a:extLst>
          </p:cNvPr>
          <p:cNvSpPr>
            <a:spLocks noGrp="1"/>
          </p:cNvSpPr>
          <p:nvPr>
            <p:ph sz="quarter" idx="15"/>
          </p:nvPr>
        </p:nvSpPr>
        <p:spPr>
          <a:xfrm>
            <a:off x="4578798" y="3536908"/>
            <a:ext cx="3987232" cy="374906"/>
          </a:xfrm>
        </p:spPr>
        <p:txBody>
          <a:bodyPr wrap="square" lIns="0" tIns="18000" rIns="0" bIns="18000" anchor="ctr">
            <a:spAutoFit/>
          </a:bodyPr>
          <a:lstStyle/>
          <a:p>
            <a:pPr indent="-101600"/>
            <a:r>
              <a:rPr lang="en-US" noProof="0" dirty="0"/>
              <a:t>Techniques of Circuit Analysis</a:t>
            </a:r>
          </a:p>
        </p:txBody>
      </p:sp>
      <p:pic>
        <p:nvPicPr>
          <p:cNvPr id="7" name="Picture 6" descr="Pearson Logo">
            <a:extLst>
              <a:ext uri="{FF2B5EF4-FFF2-40B4-BE49-F238E27FC236}">
                <a16:creationId xmlns:a16="http://schemas.microsoft.com/office/drawing/2014/main" id="{2D6CD67E-9719-942F-6EF3-6FAF10F92244}"/>
              </a:ext>
            </a:extLst>
          </p:cNvPr>
          <p:cNvPicPr>
            <a:picLocks noChangeAspect="1"/>
          </p:cNvPicPr>
          <p:nvPr/>
        </p:nvPicPr>
        <p:blipFill>
          <a:blip r:embed="rId4"/>
          <a:stretch>
            <a:fillRect/>
          </a:stretch>
        </p:blipFill>
        <p:spPr>
          <a:xfrm>
            <a:off x="430085" y="6404072"/>
            <a:ext cx="986560" cy="310866"/>
          </a:xfrm>
          <a:prstGeom prst="rect">
            <a:avLst/>
          </a:prstGeom>
        </p:spPr>
      </p:pic>
      <p:sp>
        <p:nvSpPr>
          <p:cNvPr id="8" name="Content Placeholder 7">
            <a:extLst>
              <a:ext uri="{FF2B5EF4-FFF2-40B4-BE49-F238E27FC236}">
                <a16:creationId xmlns:a16="http://schemas.microsoft.com/office/drawing/2014/main" id="{C8E88D28-1A9F-4FC4-946F-10B4629D1438}"/>
              </a:ext>
            </a:extLst>
          </p:cNvPr>
          <p:cNvSpPr>
            <a:spLocks noGrp="1"/>
          </p:cNvSpPr>
          <p:nvPr>
            <p:ph sz="quarter" idx="17"/>
          </p:nvPr>
        </p:nvSpPr>
        <p:spPr>
          <a:xfrm>
            <a:off x="2536215" y="6455210"/>
            <a:ext cx="6177700" cy="221018"/>
          </a:xfrm>
        </p:spPr>
        <p:txBody>
          <a:bodyPr wrap="square" lIns="0" tIns="18000" rIns="0" bIns="18000" anchor="ctr">
            <a:spAutoFit/>
          </a:bodyPr>
          <a:lstStyle/>
          <a:p>
            <a:r>
              <a:rPr lang="en-US" dirty="0">
                <a:cs typeface="Verdana" panose="020B0604030504040204" pitchFamily="34" charset="0"/>
              </a:rPr>
              <a:t>© 2024 Pearson Education Ltd.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12338"/>
            <a:ext cx="8229600" cy="1144347"/>
          </a:xfrm>
        </p:spPr>
        <p:txBody>
          <a:bodyPr anchor="ctr" anchorCtr="0"/>
          <a:lstStyle/>
          <a:p>
            <a:r>
              <a:rPr lang="en-US" noProof="0" dirty="0"/>
              <a:t>Chapter 4 – techniques of circuit analysis </a:t>
            </a:r>
            <a:r>
              <a:rPr lang="en-US" sz="2800" noProof="0" dirty="0"/>
              <a:t>(1 of 26)</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7726" y="1477245"/>
            <a:ext cx="8240024" cy="3221839"/>
          </a:xfrm>
        </p:spPr>
        <p:txBody>
          <a:bodyPr wrap="square" lIns="0" tIns="18000" rIns="0" bIns="18000" anchor="ctr" anchorCtr="0">
            <a:spAutoFit/>
          </a:bodyPr>
          <a:lstStyle/>
          <a:p>
            <a:pPr marL="342900" indent="-342900">
              <a:spcBef>
                <a:spcPts val="600"/>
              </a:spcBef>
            </a:pPr>
            <a:r>
              <a:rPr lang="en-US" sz="2400" noProof="0" dirty="0"/>
              <a:t>Node voltage method – special cases:</a:t>
            </a:r>
          </a:p>
          <a:p>
            <a:pPr marL="829818" lvl="1" indent="-342900"/>
            <a:r>
              <a:rPr lang="en-US" sz="2400" noProof="0" dirty="0"/>
              <a:t>The circuit contains one or more </a:t>
            </a:r>
            <a:r>
              <a:rPr lang="en-US" sz="2400" b="1" noProof="0" dirty="0"/>
              <a:t>dependent sources</a:t>
            </a:r>
          </a:p>
          <a:p>
            <a:pPr marL="829818" lvl="1" indent="-342900"/>
            <a:r>
              <a:rPr lang="en-US" sz="2400" noProof="0" dirty="0"/>
              <a:t>The circuit has a branch that connects </a:t>
            </a:r>
            <a:r>
              <a:rPr lang="en-US" sz="2400" b="1" noProof="0" dirty="0"/>
              <a:t>a non-reference essential node and the reference node,</a:t>
            </a:r>
            <a:r>
              <a:rPr lang="en-US" sz="2400" noProof="0" dirty="0"/>
              <a:t> and </a:t>
            </a:r>
            <a:r>
              <a:rPr lang="en-US" sz="2400" b="1" noProof="0" dirty="0"/>
              <a:t>this branch contains a voltage source only.</a:t>
            </a:r>
          </a:p>
          <a:p>
            <a:pPr marL="829818" lvl="1" indent="-342900"/>
            <a:r>
              <a:rPr lang="en-US" sz="2400" noProof="0" dirty="0"/>
              <a:t>The circuit has a branch that connects two </a:t>
            </a:r>
            <a:r>
              <a:rPr lang="en-US" sz="2400" b="1" noProof="0" dirty="0"/>
              <a:t>non-reference essential nodes</a:t>
            </a:r>
            <a:r>
              <a:rPr lang="en-US" sz="2400" noProof="0" dirty="0"/>
              <a:t>, and this </a:t>
            </a:r>
            <a:r>
              <a:rPr lang="en-US" sz="2400" b="1" noProof="0" dirty="0"/>
              <a:t>branch</a:t>
            </a:r>
            <a:r>
              <a:rPr lang="en-US" sz="2400" noProof="0" dirty="0"/>
              <a:t> contains a </a:t>
            </a:r>
            <a:r>
              <a:rPr lang="en-US" sz="2400" b="1" noProof="0" dirty="0"/>
              <a:t>voltage source only</a:t>
            </a:r>
            <a:r>
              <a:rPr lang="en-US" sz="2400" noProof="0" dirty="0"/>
              <a:t>.</a:t>
            </a:r>
          </a:p>
        </p:txBody>
      </p:sp>
    </p:spTree>
    <p:extLst>
      <p:ext uri="{BB962C8B-B14F-4D97-AF65-F5344CB8AC3E}">
        <p14:creationId xmlns:p14="http://schemas.microsoft.com/office/powerpoint/2010/main" val="38655187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12338"/>
            <a:ext cx="8229600" cy="1144347"/>
          </a:xfrm>
        </p:spPr>
        <p:txBody>
          <a:bodyPr anchor="ctr" anchorCtr="0"/>
          <a:lstStyle/>
          <a:p>
            <a:r>
              <a:rPr lang="en-US" noProof="0" dirty="0"/>
              <a:t>Chapter 4 – techniques of circuit analysis </a:t>
            </a:r>
            <a:r>
              <a:rPr lang="en-US" sz="2800" noProof="0" dirty="0"/>
              <a:t>(2 of 26)</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7726" y="1495175"/>
            <a:ext cx="8240024" cy="851959"/>
          </a:xfrm>
        </p:spPr>
        <p:txBody>
          <a:bodyPr wrap="square" lIns="0" tIns="18000" rIns="0" bIns="18000" anchor="ctr" anchorCtr="0">
            <a:spAutoFit/>
          </a:bodyPr>
          <a:lstStyle/>
          <a:p>
            <a:pPr marL="342900" indent="-342900">
              <a:spcBef>
                <a:spcPts val="600"/>
              </a:spcBef>
            </a:pPr>
            <a:r>
              <a:rPr lang="en-US" sz="2400" noProof="0" dirty="0"/>
              <a:t>Node voltage method with dependent sources:</a:t>
            </a:r>
          </a:p>
          <a:p>
            <a:pPr marL="829818" lvl="1" indent="-342900"/>
            <a:r>
              <a:rPr lang="en-US" sz="2400" noProof="0" dirty="0"/>
              <a:t>Find the power associated with each source.</a:t>
            </a:r>
          </a:p>
        </p:txBody>
      </p:sp>
      <p:pic>
        <p:nvPicPr>
          <p:cNvPr id="4" name="Picture 3" descr="A circuit diagram shows a 50 volts independent voltage source with positive polarity at the top end and negative at the bottom as the leftmost wire in the circuit, Connected in parallel across the 50 volts independent voltage source from left to right in that order is an 8-ohm resistor, a 4-ohm resistor, and a 5 ampere independent current source with an upward pointing internal arrow. A 6-ohm resistor is located in the top wire between the wires housing the 50 volts independent voltage source and the 8-ohm resistor. Current i subscript 1 flows across the 6 ohm resistor. A 2-ohm resistor is located in the top wire between the wires housing the 8-ohm resistor and the 4-ohm resistor. Four nodes are marked where the wires housing the 8-ohm resistor and the 4-ohm resistor connect with the top and bottom wires in the circuit. Connected in parallel to the 2-ohm resistor in top wire is a current controlled current source 3i subscript 1 with the internal arrow pointing leftwards. ">
            <a:extLst>
              <a:ext uri="{FF2B5EF4-FFF2-40B4-BE49-F238E27FC236}">
                <a16:creationId xmlns:a16="http://schemas.microsoft.com/office/drawing/2014/main" id="{E8FE8016-280A-4FED-A9EF-5EEB7C42C0DA}"/>
              </a:ext>
            </a:extLst>
          </p:cNvPr>
          <p:cNvPicPr>
            <a:picLocks noChangeAspect="1" noChangeArrowheads="1"/>
          </p:cNvPicPr>
          <p:nvPr/>
        </p:nvPicPr>
        <p:blipFill>
          <a:blip r:embed="rId3"/>
          <a:stretch>
            <a:fillRect/>
          </a:stretch>
        </p:blipFill>
        <p:spPr bwMode="auto">
          <a:xfrm>
            <a:off x="2065197" y="2866666"/>
            <a:ext cx="5027261" cy="22633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090854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12338"/>
            <a:ext cx="8229600" cy="1144347"/>
          </a:xfrm>
        </p:spPr>
        <p:txBody>
          <a:bodyPr anchor="ctr" anchorCtr="0"/>
          <a:lstStyle/>
          <a:p>
            <a:r>
              <a:rPr lang="en-US" noProof="0" dirty="0"/>
              <a:t>Chapter 4 – techniques of circuit analysis </a:t>
            </a:r>
            <a:r>
              <a:rPr lang="en-US" sz="2800" noProof="0" dirty="0"/>
              <a:t>(3 of 26)</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7726" y="1486210"/>
            <a:ext cx="8240024" cy="2483175"/>
          </a:xfrm>
        </p:spPr>
        <p:txBody>
          <a:bodyPr wrap="square" lIns="0" tIns="18000" rIns="0" bIns="18000" anchor="ctr" anchorCtr="0">
            <a:spAutoFit/>
          </a:bodyPr>
          <a:lstStyle/>
          <a:p>
            <a:pPr marL="342900" indent="-342900">
              <a:spcBef>
                <a:spcPts val="600"/>
              </a:spcBef>
            </a:pPr>
            <a:r>
              <a:rPr lang="en-US" sz="2400" noProof="0" dirty="0"/>
              <a:t>Node voltage method with dependent sources:</a:t>
            </a:r>
          </a:p>
          <a:p>
            <a:pPr marL="829818" lvl="1" indent="-342900"/>
            <a:r>
              <a:rPr lang="en-US" sz="2400" noProof="0" dirty="0"/>
              <a:t>Step 1 – Identify each essential node.</a:t>
            </a:r>
          </a:p>
          <a:p>
            <a:pPr marL="829818" lvl="1" indent="-342900"/>
            <a:r>
              <a:rPr lang="en-US" sz="2400" noProof="0" dirty="0"/>
              <a:t>Step 2 – Pick and label a reference node; then label the node voltages at the remaining essential nodes.</a:t>
            </a:r>
          </a:p>
          <a:p>
            <a:pPr marL="829818" lvl="1" indent="-342900"/>
            <a:r>
              <a:rPr lang="en-US" sz="2400" noProof="0" dirty="0"/>
              <a:t>Step 3 – Write a </a:t>
            </a:r>
            <a:r>
              <a:rPr lang="en-US" sz="2400" spc="-300" noProof="0" dirty="0"/>
              <a:t>K C </a:t>
            </a:r>
            <a:r>
              <a:rPr lang="en-US" sz="2400" noProof="0" dirty="0"/>
              <a:t>L equation for every nonreference essential node.</a:t>
            </a:r>
          </a:p>
        </p:txBody>
      </p:sp>
      <p:pic>
        <p:nvPicPr>
          <p:cNvPr id="5" name="Picture 4" descr="A circuit diagram shows a 50 volts independent voltage source with positive polarity at the top end and negative at the bottom as the leftmost wire in the circuit. Connected in parallel across the 50 volts independent voltage source from left to right in that order are an 8-ohm resistor, a 4-ohm resistor, and a 5 ampere independent current source with an upward pointing internal arrow. A 6-ohm resistor is located in the top wire between the wires housing the 50 volts independent voltage source and the 8-ohm resistor. Current i subscript 1 flows across the 6 ohm resistor. A 2-ohm resistor is located in the top wire between the wires housing the 8-ohm resistor and the 4-ohm resistor. Four nodes are marked where the wires housing the 8-ohm resistor and the 4-ohm resistor connect with the top and bottom wires in the circuit. Connected in parallel to the 2-ohm resistor in top wire is a current controlled current source 3i subscript 1 with the internal arrow pointing leftwards. &#10;v subscript 1 is marked as the voltage at the node where the wire housing the 8-ohm resistor connects to the top wire in the circuit. v subscript 2 is marked as the voltage at the node where the wire housing the 4-ohm resistor connects to the top wire in the circuit. The nodes where the wires housing the 8-ohm resistor and the 4-ohm resistor connect with the bottom wire in the circuit are encircled. A downward pointing arrow is marked at the node where the 8-ohm resistor connects with the bottom wire in the circuit.">
            <a:extLst>
              <a:ext uri="{FF2B5EF4-FFF2-40B4-BE49-F238E27FC236}">
                <a16:creationId xmlns:a16="http://schemas.microsoft.com/office/drawing/2014/main" id="{B47CCAF9-98BE-4EDF-8BE6-4DE6D4268815}"/>
              </a:ext>
            </a:extLst>
          </p:cNvPr>
          <p:cNvPicPr>
            <a:picLocks noChangeAspect="1" noChangeArrowheads="1"/>
          </p:cNvPicPr>
          <p:nvPr/>
        </p:nvPicPr>
        <p:blipFill>
          <a:blip r:embed="rId3"/>
          <a:stretch>
            <a:fillRect/>
          </a:stretch>
        </p:blipFill>
        <p:spPr bwMode="auto">
          <a:xfrm>
            <a:off x="578919" y="4172949"/>
            <a:ext cx="3345154" cy="16399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8" name="Object 7" descr="The figure illustrates K C L at v subscript 1.&#10;Long description 1 is available in notes, press F6.">
            <a:extLst>
              <a:ext uri="{FF2B5EF4-FFF2-40B4-BE49-F238E27FC236}">
                <a16:creationId xmlns:a16="http://schemas.microsoft.com/office/drawing/2014/main" id="{5112496F-06CD-4EF5-9F37-38824ECF7182}"/>
              </a:ext>
            </a:extLst>
          </p:cNvPr>
          <p:cNvGraphicFramePr>
            <a:graphicFrameLocks noChangeAspect="1"/>
          </p:cNvGraphicFramePr>
          <p:nvPr>
            <p:extLst>
              <p:ext uri="{D42A27DB-BD31-4B8C-83A1-F6EECF244321}">
                <p14:modId xmlns:p14="http://schemas.microsoft.com/office/powerpoint/2010/main" val="568891755"/>
              </p:ext>
            </p:extLst>
          </p:nvPr>
        </p:nvGraphicFramePr>
        <p:xfrm>
          <a:off x="4333875" y="4151313"/>
          <a:ext cx="4054475" cy="604837"/>
        </p:xfrm>
        <a:graphic>
          <a:graphicData uri="http://schemas.openxmlformats.org/presentationml/2006/ole">
            <mc:AlternateContent xmlns:mc="http://schemas.openxmlformats.org/markup-compatibility/2006">
              <mc:Choice xmlns:v="urn:schemas-microsoft-com:vml" Requires="v">
                <p:oleObj name="Equation" r:id="rId4" imgW="2717640" imgH="406080" progId="Equation.DSMT4">
                  <p:embed/>
                </p:oleObj>
              </mc:Choice>
              <mc:Fallback>
                <p:oleObj name="Equation" r:id="rId4" imgW="2717640" imgH="406080" progId="Equation.DSMT4">
                  <p:embed/>
                  <p:pic>
                    <p:nvPicPr>
                      <p:cNvPr id="7" name="Object 6"/>
                      <p:cNvPicPr>
                        <a:picLocks noChangeAspect="1" noChangeArrowheads="1"/>
                      </p:cNvPicPr>
                      <p:nvPr/>
                    </p:nvPicPr>
                    <p:blipFill>
                      <a:blip r:embed="rId5"/>
                      <a:srcRect/>
                      <a:stretch>
                        <a:fillRect/>
                      </a:stretch>
                    </p:blipFill>
                    <p:spPr bwMode="auto">
                      <a:xfrm>
                        <a:off x="4333875" y="4151313"/>
                        <a:ext cx="4054475" cy="604837"/>
                      </a:xfrm>
                      <a:prstGeom prst="rect">
                        <a:avLst/>
                      </a:prstGeom>
                      <a:noFill/>
                      <a:ln w="38100">
                        <a:noFill/>
                        <a:miter lim="800000"/>
                        <a:headEnd/>
                        <a:tailEnd/>
                      </a:ln>
                      <a:effectLst/>
                    </p:spPr>
                  </p:pic>
                </p:oleObj>
              </mc:Fallback>
            </mc:AlternateContent>
          </a:graphicData>
        </a:graphic>
      </p:graphicFrame>
      <p:graphicFrame>
        <p:nvGraphicFramePr>
          <p:cNvPr id="9" name="Object 8" descr="The figure illustrates K C L at v subscript 2.&#10;Long description 2 is available in notes, press F6.">
            <a:extLst>
              <a:ext uri="{FF2B5EF4-FFF2-40B4-BE49-F238E27FC236}">
                <a16:creationId xmlns:a16="http://schemas.microsoft.com/office/drawing/2014/main" id="{1EF1638D-59AC-4BC0-A000-906F4C0FD747}"/>
              </a:ext>
            </a:extLst>
          </p:cNvPr>
          <p:cNvGraphicFramePr>
            <a:graphicFrameLocks noChangeAspect="1"/>
          </p:cNvGraphicFramePr>
          <p:nvPr>
            <p:extLst>
              <p:ext uri="{D42A27DB-BD31-4B8C-83A1-F6EECF244321}">
                <p14:modId xmlns:p14="http://schemas.microsoft.com/office/powerpoint/2010/main" val="2809000181"/>
              </p:ext>
            </p:extLst>
          </p:nvPr>
        </p:nvGraphicFramePr>
        <p:xfrm>
          <a:off x="4333875" y="4921250"/>
          <a:ext cx="3541713" cy="604838"/>
        </p:xfrm>
        <a:graphic>
          <a:graphicData uri="http://schemas.openxmlformats.org/presentationml/2006/ole">
            <mc:AlternateContent xmlns:mc="http://schemas.openxmlformats.org/markup-compatibility/2006">
              <mc:Choice xmlns:v="urn:schemas-microsoft-com:vml" Requires="v">
                <p:oleObj name="Equation" r:id="rId6" imgW="2374560" imgH="406080" progId="Equation.DSMT4">
                  <p:embed/>
                </p:oleObj>
              </mc:Choice>
              <mc:Fallback>
                <p:oleObj name="Equation" r:id="rId6" imgW="2374560" imgH="406080" progId="Equation.DSMT4">
                  <p:embed/>
                  <p:pic>
                    <p:nvPicPr>
                      <p:cNvPr id="8" name="Object 7">
                        <a:extLst>
                          <a:ext uri="{FF2B5EF4-FFF2-40B4-BE49-F238E27FC236}">
                            <a16:creationId xmlns:a16="http://schemas.microsoft.com/office/drawing/2014/main" id="{5112496F-06CD-4EF5-9F37-38824ECF7182}"/>
                          </a:ext>
                        </a:extLst>
                      </p:cNvPr>
                      <p:cNvPicPr>
                        <a:picLocks noChangeAspect="1" noChangeArrowheads="1"/>
                      </p:cNvPicPr>
                      <p:nvPr/>
                    </p:nvPicPr>
                    <p:blipFill>
                      <a:blip r:embed="rId7"/>
                      <a:srcRect/>
                      <a:stretch>
                        <a:fillRect/>
                      </a:stretch>
                    </p:blipFill>
                    <p:spPr bwMode="auto">
                      <a:xfrm>
                        <a:off x="4333875" y="4921250"/>
                        <a:ext cx="3541713" cy="604838"/>
                      </a:xfrm>
                      <a:prstGeom prst="rect">
                        <a:avLst/>
                      </a:prstGeom>
                      <a:noFill/>
                      <a:ln w="38100">
                        <a:noFill/>
                        <a:miter lim="800000"/>
                        <a:headEnd/>
                        <a:tailEnd/>
                      </a:ln>
                      <a:effectLst/>
                    </p:spPr>
                  </p:pic>
                </p:oleObj>
              </mc:Fallback>
            </mc:AlternateContent>
          </a:graphicData>
        </a:graphic>
      </p:graphicFrame>
      <p:sp>
        <p:nvSpPr>
          <p:cNvPr id="2" name="Rectangle 1">
            <a:extLst>
              <a:ext uri="{FF2B5EF4-FFF2-40B4-BE49-F238E27FC236}">
                <a16:creationId xmlns:a16="http://schemas.microsoft.com/office/drawing/2014/main" id="{F8A87644-FB16-D0AF-2D08-C7A10BC37E83}"/>
              </a:ext>
              <a:ext uri="{C183D7F6-B498-43B3-948B-1728B52AA6E4}">
                <adec:decorative xmlns:adec="http://schemas.microsoft.com/office/drawing/2017/decorative" val="1"/>
              </a:ext>
            </a:extLst>
          </p:cNvPr>
          <p:cNvSpPr/>
          <p:nvPr/>
        </p:nvSpPr>
        <p:spPr>
          <a:xfrm>
            <a:off x="4313602" y="4151313"/>
            <a:ext cx="4095020" cy="1374775"/>
          </a:xfrm>
          <a:prstGeom prst="rect">
            <a:avLst/>
          </a:prstGeom>
          <a:noFill/>
          <a:ln w="28575">
            <a:solidFill>
              <a:srgbClr val="007F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009298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05362"/>
            <a:ext cx="8229600" cy="1144347"/>
          </a:xfrm>
        </p:spPr>
        <p:txBody>
          <a:bodyPr anchor="ctr" anchorCtr="0"/>
          <a:lstStyle/>
          <a:p>
            <a:r>
              <a:rPr lang="en-US" noProof="0" dirty="0"/>
              <a:t>Chapter 4 – techniques of circuit analysis </a:t>
            </a:r>
            <a:r>
              <a:rPr lang="en-US" sz="2800" noProof="0" dirty="0"/>
              <a:t>(4 of 26)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504141"/>
            <a:ext cx="8229600" cy="1144347"/>
          </a:xfrm>
        </p:spPr>
        <p:txBody>
          <a:bodyPr wrap="square" lIns="0" tIns="18000" rIns="0" bIns="18000" anchor="ctr" anchorCtr="0">
            <a:spAutoFit/>
          </a:bodyPr>
          <a:lstStyle/>
          <a:p>
            <a:pPr marL="0" indent="0">
              <a:spcBef>
                <a:spcPts val="600"/>
              </a:spcBef>
              <a:buNone/>
            </a:pPr>
            <a:r>
              <a:rPr lang="en-US" sz="2400" noProof="0" dirty="0"/>
              <a:t>The two node voltage equations we just constructed are given below. How many unknowns do these equations contain?</a:t>
            </a:r>
          </a:p>
        </p:txBody>
      </p:sp>
      <p:graphicFrame>
        <p:nvGraphicFramePr>
          <p:cNvPr id="25" name="Object 24" descr="The figure illustrates an equation at v subscript 1.&#10;Long description 1 is available in notes, press F6.">
            <a:extLst>
              <a:ext uri="{FF2B5EF4-FFF2-40B4-BE49-F238E27FC236}">
                <a16:creationId xmlns:a16="http://schemas.microsoft.com/office/drawing/2014/main" id="{CFFEC3DC-FC9E-4A1B-B4BB-DA17F0FF6ECE}"/>
              </a:ext>
            </a:extLst>
          </p:cNvPr>
          <p:cNvGraphicFramePr>
            <a:graphicFrameLocks noChangeAspect="1"/>
          </p:cNvGraphicFramePr>
          <p:nvPr>
            <p:extLst>
              <p:ext uri="{D42A27DB-BD31-4B8C-83A1-F6EECF244321}">
                <p14:modId xmlns:p14="http://schemas.microsoft.com/office/powerpoint/2010/main" val="2200662300"/>
              </p:ext>
            </p:extLst>
          </p:nvPr>
        </p:nvGraphicFramePr>
        <p:xfrm>
          <a:off x="2925763" y="2708275"/>
          <a:ext cx="3333750" cy="698500"/>
        </p:xfrm>
        <a:graphic>
          <a:graphicData uri="http://schemas.openxmlformats.org/presentationml/2006/ole">
            <mc:AlternateContent xmlns:mc="http://schemas.openxmlformats.org/markup-compatibility/2006">
              <mc:Choice xmlns:v="urn:schemas-microsoft-com:vml" Requires="v">
                <p:oleObj name="Equation" r:id="rId3" imgW="1942920" imgH="406080" progId="Equation.DSMT4">
                  <p:embed/>
                </p:oleObj>
              </mc:Choice>
              <mc:Fallback>
                <p:oleObj name="Equation" r:id="rId3" imgW="1942920" imgH="406080" progId="Equation.DSMT4">
                  <p:embed/>
                  <p:pic>
                    <p:nvPicPr>
                      <p:cNvPr id="8" name="Object 7"/>
                      <p:cNvPicPr>
                        <a:picLocks noChangeAspect="1" noChangeArrowheads="1"/>
                      </p:cNvPicPr>
                      <p:nvPr/>
                    </p:nvPicPr>
                    <p:blipFill>
                      <a:blip r:embed="rId4"/>
                      <a:srcRect/>
                      <a:stretch>
                        <a:fillRect/>
                      </a:stretch>
                    </p:blipFill>
                    <p:spPr bwMode="auto">
                      <a:xfrm>
                        <a:off x="2925763" y="2708275"/>
                        <a:ext cx="3333750" cy="698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 name="Object 25" descr="The figure illustrates an equation at v subscript 2.&#10;Long description 2 is available in notes, press F6.">
            <a:extLst>
              <a:ext uri="{FF2B5EF4-FFF2-40B4-BE49-F238E27FC236}">
                <a16:creationId xmlns:a16="http://schemas.microsoft.com/office/drawing/2014/main" id="{6E9BC0DE-474B-41F9-A704-2FCDB3F28284}"/>
              </a:ext>
            </a:extLst>
          </p:cNvPr>
          <p:cNvGraphicFramePr>
            <a:graphicFrameLocks noChangeAspect="1"/>
          </p:cNvGraphicFramePr>
          <p:nvPr>
            <p:extLst>
              <p:ext uri="{D42A27DB-BD31-4B8C-83A1-F6EECF244321}">
                <p14:modId xmlns:p14="http://schemas.microsoft.com/office/powerpoint/2010/main" val="803246509"/>
              </p:ext>
            </p:extLst>
          </p:nvPr>
        </p:nvGraphicFramePr>
        <p:xfrm>
          <a:off x="3114675" y="3511550"/>
          <a:ext cx="2954338" cy="763588"/>
        </p:xfrm>
        <a:graphic>
          <a:graphicData uri="http://schemas.openxmlformats.org/presentationml/2006/ole">
            <mc:AlternateContent xmlns:mc="http://schemas.openxmlformats.org/markup-compatibility/2006">
              <mc:Choice xmlns:v="urn:schemas-microsoft-com:vml" Requires="v">
                <p:oleObj name="Equation" r:id="rId5" imgW="1574640" imgH="406080" progId="Equation.DSMT4">
                  <p:embed/>
                </p:oleObj>
              </mc:Choice>
              <mc:Fallback>
                <p:oleObj name="Equation" r:id="rId5" imgW="1574640" imgH="406080" progId="Equation.DSMT4">
                  <p:embed/>
                  <p:pic>
                    <p:nvPicPr>
                      <p:cNvPr id="25" name="Object 24">
                        <a:extLst>
                          <a:ext uri="{FF2B5EF4-FFF2-40B4-BE49-F238E27FC236}">
                            <a16:creationId xmlns:a16="http://schemas.microsoft.com/office/drawing/2014/main" id="{CFFEC3DC-FC9E-4A1B-B4BB-DA17F0FF6ECE}"/>
                          </a:ext>
                        </a:extLst>
                      </p:cNvPr>
                      <p:cNvPicPr>
                        <a:picLocks noChangeAspect="1" noChangeArrowheads="1"/>
                      </p:cNvPicPr>
                      <p:nvPr/>
                    </p:nvPicPr>
                    <p:blipFill>
                      <a:blip r:embed="rId6"/>
                      <a:srcRect/>
                      <a:stretch>
                        <a:fillRect/>
                      </a:stretch>
                    </p:blipFill>
                    <p:spPr bwMode="auto">
                      <a:xfrm>
                        <a:off x="3114675" y="3511550"/>
                        <a:ext cx="2954338" cy="763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75" name="Picture 3" descr="Cross mark">
            <a:extLst>
              <a:ext uri="{FF2B5EF4-FFF2-40B4-BE49-F238E27FC236}">
                <a16:creationId xmlns:a16="http://schemas.microsoft.com/office/drawing/2014/main" id="{DA918F86-D045-49BC-92F1-45E7AC6CE0F3}"/>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42955" y="4626179"/>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395681" y="4554992"/>
            <a:ext cx="571141"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A. </a:t>
            </a:r>
            <a:r>
              <a:rPr lang="en-US" sz="2400" noProof="0" dirty="0"/>
              <a:t>2</a:t>
            </a:r>
          </a:p>
        </p:txBody>
      </p:sp>
      <p:pic>
        <p:nvPicPr>
          <p:cNvPr id="76" name="Picture 2" descr="Check mark">
            <a:extLst>
              <a:ext uri="{FF2B5EF4-FFF2-40B4-BE49-F238E27FC236}">
                <a16:creationId xmlns:a16="http://schemas.microsoft.com/office/drawing/2014/main" id="{A1E1C2B3-8651-41F9-8F89-9AE367AC2AF3}"/>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938699" y="5087759"/>
            <a:ext cx="280501" cy="2462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387054" y="5007699"/>
            <a:ext cx="571142"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B. </a:t>
            </a:r>
            <a:r>
              <a:rPr lang="en-US" sz="2400" noProof="0" dirty="0"/>
              <a:t>3</a:t>
            </a:r>
          </a:p>
        </p:txBody>
      </p:sp>
      <p:pic>
        <p:nvPicPr>
          <p:cNvPr id="77" name="Picture 4" descr="Cross mark">
            <a:extLst>
              <a:ext uri="{FF2B5EF4-FFF2-40B4-BE49-F238E27FC236}">
                <a16:creationId xmlns:a16="http://schemas.microsoft.com/office/drawing/2014/main" id="{E3B2023B-C439-40A9-B627-831D613F8DEC}"/>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42955" y="5531719"/>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395681" y="5469996"/>
            <a:ext cx="571143"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C. </a:t>
            </a:r>
            <a:r>
              <a:rPr lang="en-US" sz="2400" noProof="0" dirty="0"/>
              <a:t>4</a:t>
            </a:r>
          </a:p>
        </p:txBody>
      </p:sp>
      <p:pic>
        <p:nvPicPr>
          <p:cNvPr id="78" name="Picture 5" descr="Cross mark">
            <a:extLst>
              <a:ext uri="{FF2B5EF4-FFF2-40B4-BE49-F238E27FC236}">
                <a16:creationId xmlns:a16="http://schemas.microsoft.com/office/drawing/2014/main" id="{4C546176-022E-41C9-81F4-700A94A5EBB8}"/>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65690" y="6007304"/>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395149" y="5919750"/>
            <a:ext cx="2917525"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D. </a:t>
            </a:r>
            <a:r>
              <a:rPr lang="en-US" sz="2400" noProof="0" dirty="0"/>
              <a:t>None of the above</a:t>
            </a:r>
          </a:p>
        </p:txBody>
      </p:sp>
    </p:spTree>
    <p:extLst>
      <p:ext uri="{BB962C8B-B14F-4D97-AF65-F5344CB8AC3E}">
        <p14:creationId xmlns:p14="http://schemas.microsoft.com/office/powerpoint/2010/main" val="32983983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12338"/>
            <a:ext cx="8229600" cy="1144347"/>
          </a:xfrm>
        </p:spPr>
        <p:txBody>
          <a:bodyPr anchor="ctr" anchorCtr="0"/>
          <a:lstStyle/>
          <a:p>
            <a:r>
              <a:rPr lang="en-US" noProof="0" dirty="0"/>
              <a:t>Chapter 4 – techniques of circuit analysis </a:t>
            </a:r>
            <a:r>
              <a:rPr lang="en-US" sz="2800" noProof="0" dirty="0"/>
              <a:t>(5 of 26)</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7726" y="1466585"/>
            <a:ext cx="8240024" cy="4075919"/>
          </a:xfrm>
        </p:spPr>
        <p:txBody>
          <a:bodyPr wrap="square" lIns="0" tIns="18000" rIns="0" bIns="18000" anchor="ctr" anchorCtr="0">
            <a:spAutoFit/>
          </a:bodyPr>
          <a:lstStyle/>
          <a:p>
            <a:pPr marL="0" indent="0">
              <a:spcBef>
                <a:spcPts val="600"/>
              </a:spcBef>
              <a:buNone/>
            </a:pPr>
            <a:r>
              <a:rPr lang="en-US" sz="2000" noProof="0" dirty="0"/>
              <a:t>Node voltage method with dependent sources:</a:t>
            </a:r>
          </a:p>
          <a:p>
            <a:pPr marL="342900" indent="-342900">
              <a:spcBef>
                <a:spcPts val="600"/>
              </a:spcBef>
            </a:pPr>
            <a:r>
              <a:rPr lang="en-US" sz="2000" noProof="0" dirty="0"/>
              <a:t>Need to modify the analysis method:</a:t>
            </a:r>
          </a:p>
          <a:p>
            <a:pPr marL="829818" lvl="1" indent="-342900"/>
            <a:r>
              <a:rPr lang="en-US" sz="2000" noProof="0" dirty="0"/>
              <a:t>Step 1 – Identify each essential node.</a:t>
            </a:r>
          </a:p>
          <a:p>
            <a:pPr marL="829818" lvl="1" indent="-342900"/>
            <a:r>
              <a:rPr lang="en-US" sz="2000" noProof="0" dirty="0"/>
              <a:t>Step 2 – Pick and label a reference node; then label the node voltages at the remaining essential nodes.</a:t>
            </a:r>
          </a:p>
          <a:p>
            <a:pPr marL="829818" lvl="1" indent="-342900"/>
            <a:r>
              <a:rPr lang="en-US" sz="2000" noProof="0" dirty="0"/>
              <a:t>Step 3 – Write a </a:t>
            </a:r>
            <a:r>
              <a:rPr lang="en-US" sz="2000" spc="-300" noProof="0" dirty="0"/>
              <a:t>K C </a:t>
            </a:r>
            <a:r>
              <a:rPr lang="en-US" sz="2000" noProof="0" dirty="0"/>
              <a:t>L equation for every nonreference essential node.</a:t>
            </a:r>
          </a:p>
          <a:p>
            <a:pPr marL="1229868" lvl="2" indent="-342900"/>
            <a:r>
              <a:rPr lang="en-US" sz="2000" noProof="0" dirty="0">
                <a:solidFill>
                  <a:srgbClr val="007FA3"/>
                </a:solidFill>
              </a:rPr>
              <a:t>If there are dependent sources, write a constraint equation for each one.</a:t>
            </a:r>
          </a:p>
          <a:p>
            <a:pPr marL="829818" lvl="1" indent="-342900"/>
            <a:r>
              <a:rPr lang="en-US" sz="2000" noProof="0" dirty="0"/>
              <a:t>Step 4 – Solve the equations to find the node-voltage values.</a:t>
            </a:r>
          </a:p>
          <a:p>
            <a:pPr marL="829818" lvl="1" indent="-342900"/>
            <a:r>
              <a:rPr lang="en-US" sz="2000" noProof="0" dirty="0"/>
              <a:t>Step 5 – Solve the circuit using node voltages from Step 4.</a:t>
            </a:r>
          </a:p>
        </p:txBody>
      </p:sp>
    </p:spTree>
    <p:extLst>
      <p:ext uri="{BB962C8B-B14F-4D97-AF65-F5344CB8AC3E}">
        <p14:creationId xmlns:p14="http://schemas.microsoft.com/office/powerpoint/2010/main" val="16201170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05360"/>
            <a:ext cx="8229600" cy="1144347"/>
          </a:xfrm>
        </p:spPr>
        <p:txBody>
          <a:bodyPr anchor="ctr" anchorCtr="0"/>
          <a:lstStyle/>
          <a:p>
            <a:r>
              <a:rPr lang="en-US" noProof="0" dirty="0"/>
              <a:t>Chapter 4 – techniques of circuit analysis </a:t>
            </a:r>
            <a:r>
              <a:rPr lang="en-US" sz="2800" noProof="0" dirty="0"/>
              <a:t>(6 of 26)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3" y="1504142"/>
            <a:ext cx="8229600" cy="2483175"/>
          </a:xfrm>
        </p:spPr>
        <p:txBody>
          <a:bodyPr wrap="square" lIns="0" tIns="18000" rIns="0" bIns="18000" anchor="ctr" anchorCtr="0">
            <a:spAutoFit/>
          </a:bodyPr>
          <a:lstStyle/>
          <a:p>
            <a:pPr marL="285750" indent="-285750">
              <a:spcBef>
                <a:spcPts val="600"/>
              </a:spcBef>
            </a:pPr>
            <a:r>
              <a:rPr lang="en-US" sz="2400" noProof="0" dirty="0"/>
              <a:t>Node voltage method with dependent sources:</a:t>
            </a:r>
          </a:p>
          <a:p>
            <a:pPr marL="772668" lvl="1" indent="-285750"/>
            <a:r>
              <a:rPr lang="en-US" sz="2400" noProof="0" dirty="0"/>
              <a:t>Step 3, continued</a:t>
            </a:r>
          </a:p>
          <a:p>
            <a:pPr marL="1172718" lvl="2" indent="-285750"/>
            <a:r>
              <a:rPr lang="en-US" sz="2400" noProof="0" dirty="0">
                <a:solidFill>
                  <a:srgbClr val="007FA3"/>
                </a:solidFill>
              </a:rPr>
              <a:t>If there are dependent sources, write a constraint equation for each one.</a:t>
            </a:r>
          </a:p>
          <a:p>
            <a:pPr marL="772668" lvl="1" indent="-285750"/>
            <a:r>
              <a:rPr lang="en-US" sz="2400" noProof="0" dirty="0"/>
              <a:t>Step 4 – Solve the equations to find the node-voltage values.</a:t>
            </a:r>
          </a:p>
        </p:txBody>
      </p:sp>
      <p:pic>
        <p:nvPicPr>
          <p:cNvPr id="25" name="Picture 3" descr="A circuit diagram shows a 50 volts independent voltage source with positive polarity at the top end and negative at the bottom as the leftmost wire in the circuit. Connected in parallel across the 50 volts independent voltage source from left to right in that order are an 8-ohm resistor, a 4-ohm resistor, and a 5 ampere independent current source with an upward pointing internal arrow. A 6-ohm resistor is located in the top wire between the wires housing the 50 volts independent voltage source and the 8-ohm resistor. Current i subscript 1 flows across the 6 ohm resistor. A 2-ohm resistor is located in the top wire between the wires housing the 8-ohm resistor and the 4-ohm resistor. Four nodes are marked where the wires housing the 8-ohm resistor and the 4-ohm resistor connect with the top and bottom wires in the circuit. Connected in parallel to the 2-ohm resistor in top wire is a current controlled current source 3i subscript 1 with the internal arrow pointing leftwards. &#10;v subscript 1 is marked as the voltage at the node where the wire housing the 8-ohm resistor connects to the top wire in the circuit. v subscript 2 is marked as the voltage at the node where the wire housing the 4-ohm resistor connects to the top wire in the circuit. The nodes where the wires housing the 8-ohm resistor and the 4-ohm resistor connect with the bottom wire in the circuit are encircled. A downward pointing arrow is marked at the node where the 8-ohm resistor connects with the bottom wire in the circuit.">
            <a:extLst>
              <a:ext uri="{FF2B5EF4-FFF2-40B4-BE49-F238E27FC236}">
                <a16:creationId xmlns:a16="http://schemas.microsoft.com/office/drawing/2014/main" id="{D273591D-71A0-462C-B65C-AE4193B4EA65}"/>
              </a:ext>
            </a:extLst>
          </p:cNvPr>
          <p:cNvPicPr>
            <a:picLocks noChangeAspect="1" noChangeArrowheads="1"/>
          </p:cNvPicPr>
          <p:nvPr/>
        </p:nvPicPr>
        <p:blipFill>
          <a:blip r:embed="rId3"/>
          <a:stretch>
            <a:fillRect/>
          </a:stretch>
        </p:blipFill>
        <p:spPr bwMode="auto">
          <a:xfrm>
            <a:off x="2581881" y="4168836"/>
            <a:ext cx="3980963" cy="1951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00824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185" y="207224"/>
            <a:ext cx="8229600" cy="1144347"/>
          </a:xfrm>
        </p:spPr>
        <p:txBody>
          <a:bodyPr/>
          <a:lstStyle/>
          <a:p>
            <a:r>
              <a:rPr lang="en-US" dirty="0"/>
              <a:t>Chapter 4 – techniques of circuit analysis </a:t>
            </a:r>
            <a:r>
              <a:rPr lang="en-US" sz="2800" dirty="0"/>
              <a:t>(7 of 26)</a:t>
            </a:r>
            <a:endParaRPr lang="en-US"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185" y="1519572"/>
            <a:ext cx="8238565" cy="713460"/>
          </a:xfrm>
        </p:spPr>
        <p:txBody>
          <a:bodyPr wrap="square" lIns="0" tIns="18000" rIns="0" bIns="18000" anchor="ctr">
            <a:spAutoFit/>
          </a:bodyPr>
          <a:lstStyle/>
          <a:p>
            <a:pPr marL="0" indent="0">
              <a:spcBef>
                <a:spcPts val="600"/>
              </a:spcBef>
              <a:buNone/>
            </a:pPr>
            <a:r>
              <a:rPr lang="en-US" sz="2200" dirty="0"/>
              <a:t>Note that the constraint equation defines the controlling variable of the dependent source in terms of the node voltages. </a:t>
            </a:r>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90819" y="2393898"/>
            <a:ext cx="889745" cy="374906"/>
          </a:xfrm>
        </p:spPr>
        <p:txBody>
          <a:bodyPr wrap="square" lIns="0" tIns="18000" rIns="0" bIns="18000" anchor="ctr">
            <a:spAutoFit/>
          </a:bodyPr>
          <a:lstStyle/>
          <a:p>
            <a:pPr marL="0" indent="0">
              <a:spcBef>
                <a:spcPts val="600"/>
              </a:spcBef>
              <a:buNone/>
            </a:pPr>
            <a:r>
              <a:rPr lang="en-US" sz="2200" spc="-300" dirty="0"/>
              <a:t>K C </a:t>
            </a:r>
            <a:r>
              <a:rPr lang="en-US" sz="2200" dirty="0"/>
              <a:t>L at </a:t>
            </a:r>
          </a:p>
        </p:txBody>
      </p:sp>
      <p:graphicFrame>
        <p:nvGraphicFramePr>
          <p:cNvPr id="25" name="Object 24" descr="The figure illustrates an equation of v subscript 1.&#10;Long description 1 is available in notes, press F6.">
            <a:extLst>
              <a:ext uri="{FF2B5EF4-FFF2-40B4-BE49-F238E27FC236}">
                <a16:creationId xmlns:a16="http://schemas.microsoft.com/office/drawing/2014/main" id="{351388EE-AE26-42CF-9050-688E4A6D6A25}"/>
              </a:ext>
            </a:extLst>
          </p:cNvPr>
          <p:cNvGraphicFramePr>
            <a:graphicFrameLocks noChangeAspect="1"/>
          </p:cNvGraphicFramePr>
          <p:nvPr>
            <p:extLst>
              <p:ext uri="{D42A27DB-BD31-4B8C-83A1-F6EECF244321}">
                <p14:modId xmlns:p14="http://schemas.microsoft.com/office/powerpoint/2010/main" val="2178255566"/>
              </p:ext>
            </p:extLst>
          </p:nvPr>
        </p:nvGraphicFramePr>
        <p:xfrm>
          <a:off x="1509351" y="2327693"/>
          <a:ext cx="3193467" cy="597314"/>
        </p:xfrm>
        <a:graphic>
          <a:graphicData uri="http://schemas.openxmlformats.org/presentationml/2006/ole">
            <mc:AlternateContent xmlns:mc="http://schemas.openxmlformats.org/markup-compatibility/2006">
              <mc:Choice xmlns:v="urn:schemas-microsoft-com:vml" Requires="v">
                <p:oleObj name="Equation" r:id="rId3" imgW="2171520" imgH="406080" progId="Equation.DSMT4">
                  <p:embed/>
                </p:oleObj>
              </mc:Choice>
              <mc:Fallback>
                <p:oleObj name="Equation" r:id="rId3" imgW="2171520" imgH="406080" progId="Equation.DSMT4">
                  <p:embed/>
                  <p:pic>
                    <p:nvPicPr>
                      <p:cNvPr id="5" name="Object 4">
                        <a:extLst>
                          <a:ext uri="{FF2B5EF4-FFF2-40B4-BE49-F238E27FC236}">
                            <a16:creationId xmlns:a16="http://schemas.microsoft.com/office/drawing/2014/main" id="{39AA92CB-40CE-4D67-A4F8-89704221D11F}"/>
                          </a:ext>
                        </a:extLst>
                      </p:cNvPr>
                      <p:cNvPicPr>
                        <a:picLocks noChangeAspect="1" noChangeArrowheads="1"/>
                      </p:cNvPicPr>
                      <p:nvPr/>
                    </p:nvPicPr>
                    <p:blipFill>
                      <a:blip r:embed="rId4"/>
                      <a:srcRect/>
                      <a:stretch>
                        <a:fillRect/>
                      </a:stretch>
                    </p:blipFill>
                    <p:spPr bwMode="auto">
                      <a:xfrm>
                        <a:off x="1509351" y="2327693"/>
                        <a:ext cx="3193467" cy="597314"/>
                      </a:xfrm>
                      <a:prstGeom prst="rect">
                        <a:avLst/>
                      </a:prstGeom>
                      <a:noFill/>
                      <a:ln w="38100">
                        <a:noFill/>
                        <a:miter lim="800000"/>
                        <a:headEnd/>
                        <a:tailEnd/>
                      </a:ln>
                      <a:effectLst/>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809512" y="2438897"/>
            <a:ext cx="924484" cy="374906"/>
          </a:xfrm>
        </p:spPr>
        <p:txBody>
          <a:bodyPr wrap="square" lIns="0" tIns="18000" rIns="0" bIns="18000" anchor="ctr">
            <a:spAutoFit/>
          </a:bodyPr>
          <a:lstStyle/>
          <a:p>
            <a:pPr marL="0" indent="0">
              <a:spcBef>
                <a:spcPts val="600"/>
              </a:spcBef>
              <a:buNone/>
            </a:pPr>
            <a:r>
              <a:rPr lang="en-US" sz="2200" spc="-300" dirty="0"/>
              <a:t>K C </a:t>
            </a:r>
            <a:r>
              <a:rPr lang="en-US" sz="2200" dirty="0"/>
              <a:t>L at </a:t>
            </a:r>
          </a:p>
        </p:txBody>
      </p:sp>
      <p:graphicFrame>
        <p:nvGraphicFramePr>
          <p:cNvPr id="26" name="Object 25" descr="The figure illustrates an equation of v subscript 2.&#10;Long description 2 is available in notes, press F6.">
            <a:extLst>
              <a:ext uri="{FF2B5EF4-FFF2-40B4-BE49-F238E27FC236}">
                <a16:creationId xmlns:a16="http://schemas.microsoft.com/office/drawing/2014/main" id="{03C217BC-37B9-4042-9C61-E2717E2A530D}"/>
              </a:ext>
            </a:extLst>
          </p:cNvPr>
          <p:cNvGraphicFramePr>
            <a:graphicFrameLocks noChangeAspect="1"/>
          </p:cNvGraphicFramePr>
          <p:nvPr>
            <p:extLst>
              <p:ext uri="{D42A27DB-BD31-4B8C-83A1-F6EECF244321}">
                <p14:modId xmlns:p14="http://schemas.microsoft.com/office/powerpoint/2010/main" val="894769416"/>
              </p:ext>
            </p:extLst>
          </p:nvPr>
        </p:nvGraphicFramePr>
        <p:xfrm>
          <a:off x="5822380" y="2351110"/>
          <a:ext cx="2845673" cy="626778"/>
        </p:xfrm>
        <a:graphic>
          <a:graphicData uri="http://schemas.openxmlformats.org/presentationml/2006/ole">
            <mc:AlternateContent xmlns:mc="http://schemas.openxmlformats.org/markup-compatibility/2006">
              <mc:Choice xmlns:v="urn:schemas-microsoft-com:vml" Requires="v">
                <p:oleObj name="Equation" r:id="rId5" imgW="1841400" imgH="406080" progId="Equation.DSMT4">
                  <p:embed/>
                </p:oleObj>
              </mc:Choice>
              <mc:Fallback>
                <p:oleObj name="Equation" r:id="rId5" imgW="1841400" imgH="406080" progId="Equation.DSMT4">
                  <p:embed/>
                  <p:pic>
                    <p:nvPicPr>
                      <p:cNvPr id="9" name="Object 8">
                        <a:extLst>
                          <a:ext uri="{FF2B5EF4-FFF2-40B4-BE49-F238E27FC236}">
                            <a16:creationId xmlns:a16="http://schemas.microsoft.com/office/drawing/2014/main" id="{A5199489-A00D-4347-9053-CBD0771DC3C5}"/>
                          </a:ext>
                        </a:extLst>
                      </p:cNvPr>
                      <p:cNvPicPr>
                        <a:picLocks noChangeAspect="1" noChangeArrowheads="1"/>
                      </p:cNvPicPr>
                      <p:nvPr/>
                    </p:nvPicPr>
                    <p:blipFill>
                      <a:blip r:embed="rId6"/>
                      <a:srcRect/>
                      <a:stretch>
                        <a:fillRect/>
                      </a:stretch>
                    </p:blipFill>
                    <p:spPr bwMode="auto">
                      <a:xfrm>
                        <a:off x="5822380" y="2351110"/>
                        <a:ext cx="2845673" cy="626778"/>
                      </a:xfrm>
                      <a:prstGeom prst="rect">
                        <a:avLst/>
                      </a:prstGeom>
                      <a:noFill/>
                      <a:ln w="38100">
                        <a:noFill/>
                        <a:miter lim="800000"/>
                        <a:headEnd/>
                        <a:tailEnd/>
                      </a:ln>
                      <a:effectLst/>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429185" y="3146731"/>
            <a:ext cx="2878791" cy="374906"/>
          </a:xfrm>
        </p:spPr>
        <p:txBody>
          <a:bodyPr wrap="square" lIns="0" tIns="18000" rIns="0" bIns="18000" anchor="ctr">
            <a:spAutoFit/>
          </a:bodyPr>
          <a:lstStyle/>
          <a:p>
            <a:pPr marL="0" indent="0">
              <a:spcBef>
                <a:spcPts val="600"/>
              </a:spcBef>
              <a:buNone/>
            </a:pPr>
            <a:r>
              <a:rPr lang="en-US" sz="2200" dirty="0"/>
              <a:t>dep. source constraint:</a:t>
            </a:r>
          </a:p>
        </p:txBody>
      </p:sp>
      <p:graphicFrame>
        <p:nvGraphicFramePr>
          <p:cNvPr id="27" name="Object 26" descr="i subscript 1 BaseLine equals StartFraction 50 minus v subscript 1 BaseLine over 6 EndFraction.&#10;">
            <a:extLst>
              <a:ext uri="{FF2B5EF4-FFF2-40B4-BE49-F238E27FC236}">
                <a16:creationId xmlns:a16="http://schemas.microsoft.com/office/drawing/2014/main" id="{1E2C969E-E23B-4329-9C9D-0BEB68F30431}"/>
              </a:ext>
            </a:extLst>
          </p:cNvPr>
          <p:cNvGraphicFramePr>
            <a:graphicFrameLocks noChangeAspect="1"/>
          </p:cNvGraphicFramePr>
          <p:nvPr>
            <p:extLst>
              <p:ext uri="{D42A27DB-BD31-4B8C-83A1-F6EECF244321}">
                <p14:modId xmlns:p14="http://schemas.microsoft.com/office/powerpoint/2010/main" val="3241395381"/>
              </p:ext>
            </p:extLst>
          </p:nvPr>
        </p:nvGraphicFramePr>
        <p:xfrm>
          <a:off x="3382310" y="3027176"/>
          <a:ext cx="1135063" cy="615950"/>
        </p:xfrm>
        <a:graphic>
          <a:graphicData uri="http://schemas.openxmlformats.org/presentationml/2006/ole">
            <mc:AlternateContent xmlns:mc="http://schemas.openxmlformats.org/markup-compatibility/2006">
              <mc:Choice xmlns:v="urn:schemas-microsoft-com:vml" Requires="v">
                <p:oleObj name="Equation" r:id="rId7" imgW="749160" imgH="406080" progId="Equation.DSMT4">
                  <p:embed/>
                </p:oleObj>
              </mc:Choice>
              <mc:Fallback>
                <p:oleObj name="Equation" r:id="rId7" imgW="749160" imgH="406080" progId="Equation.DSMT4">
                  <p:embed/>
                  <p:pic>
                    <p:nvPicPr>
                      <p:cNvPr id="8" name="Object 7">
                        <a:extLst>
                          <a:ext uri="{FF2B5EF4-FFF2-40B4-BE49-F238E27FC236}">
                            <a16:creationId xmlns:a16="http://schemas.microsoft.com/office/drawing/2014/main" id="{82725734-C147-4983-9461-B8E0B61CFEEF}"/>
                          </a:ext>
                        </a:extLst>
                      </p:cNvPr>
                      <p:cNvPicPr>
                        <a:picLocks noChangeAspect="1" noChangeArrowheads="1"/>
                      </p:cNvPicPr>
                      <p:nvPr/>
                    </p:nvPicPr>
                    <p:blipFill>
                      <a:blip r:embed="rId8"/>
                      <a:srcRect/>
                      <a:stretch>
                        <a:fillRect/>
                      </a:stretch>
                    </p:blipFill>
                    <p:spPr bwMode="auto">
                      <a:xfrm>
                        <a:off x="3382310" y="3027176"/>
                        <a:ext cx="1135063" cy="615950"/>
                      </a:xfrm>
                      <a:prstGeom prst="rect">
                        <a:avLst/>
                      </a:prstGeom>
                      <a:noFill/>
                      <a:ln w="38100">
                        <a:noFill/>
                        <a:miter lim="800000"/>
                        <a:headEnd/>
                        <a:tailEnd/>
                      </a:ln>
                      <a:effectLst/>
                    </p:spPr>
                  </p:pic>
                </p:oleObj>
              </mc:Fallback>
            </mc:AlternateContent>
          </a:graphicData>
        </a:graphic>
      </p:graphicFrame>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429185" y="3979747"/>
            <a:ext cx="1175497" cy="374906"/>
          </a:xfrm>
        </p:spPr>
        <p:txBody>
          <a:bodyPr wrap="square" lIns="0" tIns="18000" rIns="0" bIns="18000" anchor="ctr">
            <a:spAutoFit/>
          </a:bodyPr>
          <a:lstStyle/>
          <a:p>
            <a:pPr marL="0" indent="0">
              <a:spcBef>
                <a:spcPts val="600"/>
              </a:spcBef>
              <a:buNone/>
            </a:pPr>
            <a:r>
              <a:rPr lang="en-US" sz="2200" dirty="0"/>
              <a:t>Std form: </a:t>
            </a:r>
          </a:p>
        </p:txBody>
      </p:sp>
      <p:graphicFrame>
        <p:nvGraphicFramePr>
          <p:cNvPr id="28" name="Object 27" descr="The figure illustrates a standard form shown in three lines.&#10;Long description 3 is available in notes, press F6.">
            <a:extLst>
              <a:ext uri="{FF2B5EF4-FFF2-40B4-BE49-F238E27FC236}">
                <a16:creationId xmlns:a16="http://schemas.microsoft.com/office/drawing/2014/main" id="{8C33CD76-FDC9-49CE-8328-8E07496BED34}"/>
              </a:ext>
            </a:extLst>
          </p:cNvPr>
          <p:cNvGraphicFramePr>
            <a:graphicFrameLocks noChangeAspect="1"/>
          </p:cNvGraphicFramePr>
          <p:nvPr>
            <p:extLst>
              <p:ext uri="{D42A27DB-BD31-4B8C-83A1-F6EECF244321}">
                <p14:modId xmlns:p14="http://schemas.microsoft.com/office/powerpoint/2010/main" val="3633616609"/>
              </p:ext>
            </p:extLst>
          </p:nvPr>
        </p:nvGraphicFramePr>
        <p:xfrm>
          <a:off x="1768276" y="3724346"/>
          <a:ext cx="5216923" cy="1090731"/>
        </p:xfrm>
        <a:graphic>
          <a:graphicData uri="http://schemas.openxmlformats.org/presentationml/2006/ole">
            <mc:AlternateContent xmlns:mc="http://schemas.openxmlformats.org/markup-compatibility/2006">
              <mc:Choice xmlns:v="urn:schemas-microsoft-com:vml" Requires="v">
                <p:oleObj name="Equation" r:id="rId9" imgW="3276360" imgH="685800" progId="Equation.DSMT4">
                  <p:embed/>
                </p:oleObj>
              </mc:Choice>
              <mc:Fallback>
                <p:oleObj name="Equation" r:id="rId9" imgW="3276360" imgH="685800" progId="Equation.DSMT4">
                  <p:embed/>
                  <p:pic>
                    <p:nvPicPr>
                      <p:cNvPr id="10" name="Object 9">
                        <a:extLst>
                          <a:ext uri="{FF2B5EF4-FFF2-40B4-BE49-F238E27FC236}">
                            <a16:creationId xmlns:a16="http://schemas.microsoft.com/office/drawing/2014/main" id="{869E355F-28AA-42EE-A219-F833D39BBA17}"/>
                          </a:ext>
                        </a:extLst>
                      </p:cNvPr>
                      <p:cNvPicPr>
                        <a:picLocks noChangeAspect="1" noChangeArrowheads="1"/>
                      </p:cNvPicPr>
                      <p:nvPr/>
                    </p:nvPicPr>
                    <p:blipFill>
                      <a:blip r:embed="rId10"/>
                      <a:srcRect/>
                      <a:stretch>
                        <a:fillRect/>
                      </a:stretch>
                    </p:blipFill>
                    <p:spPr bwMode="auto">
                      <a:xfrm>
                        <a:off x="1768276" y="3724346"/>
                        <a:ext cx="5216923" cy="1090731"/>
                      </a:xfrm>
                      <a:prstGeom prst="rect">
                        <a:avLst/>
                      </a:prstGeom>
                      <a:noFill/>
                      <a:ln w="38100">
                        <a:noFill/>
                        <a:miter lim="800000"/>
                        <a:headEnd/>
                        <a:tailEnd/>
                      </a:ln>
                      <a:effectLst/>
                    </p:spPr>
                  </p:pic>
                </p:oleObj>
              </mc:Fallback>
            </mc:AlternateContent>
          </a:graphicData>
        </a:graphic>
      </p:graphicFrame>
      <p:sp>
        <p:nvSpPr>
          <p:cNvPr id="12" name="Content Placeholder 11">
            <a:extLst>
              <a:ext uri="{FF2B5EF4-FFF2-40B4-BE49-F238E27FC236}">
                <a16:creationId xmlns:a16="http://schemas.microsoft.com/office/drawing/2014/main" id="{F1B353EF-A997-2CEA-3EBE-21ECEBC3CE7F}"/>
              </a:ext>
            </a:extLst>
          </p:cNvPr>
          <p:cNvSpPr>
            <a:spLocks noGrp="1"/>
          </p:cNvSpPr>
          <p:nvPr>
            <p:ph sz="quarter" idx="17"/>
          </p:nvPr>
        </p:nvSpPr>
        <p:spPr>
          <a:xfrm>
            <a:off x="438150" y="4992524"/>
            <a:ext cx="1071201" cy="374906"/>
          </a:xfrm>
        </p:spPr>
        <p:txBody>
          <a:bodyPr wrap="square" lIns="0" tIns="18000" rIns="0" bIns="18000" anchor="ctr">
            <a:spAutoFit/>
          </a:bodyPr>
          <a:lstStyle/>
          <a:p>
            <a:pPr marL="0" indent="0">
              <a:spcBef>
                <a:spcPts val="600"/>
              </a:spcBef>
              <a:buNone/>
            </a:pPr>
            <a:r>
              <a:rPr lang="en-US" sz="2200" dirty="0"/>
              <a:t>Solving:</a:t>
            </a:r>
          </a:p>
        </p:txBody>
      </p:sp>
      <p:graphicFrame>
        <p:nvGraphicFramePr>
          <p:cNvPr id="29" name="Object 28" descr="v subscript 1 BaseLine equals 32 Volts; v subscript 1 BaseLine equals 16 Volts; i subscript 1 BaseLine equals 3 Amperes.&#10;">
            <a:extLst>
              <a:ext uri="{FF2B5EF4-FFF2-40B4-BE49-F238E27FC236}">
                <a16:creationId xmlns:a16="http://schemas.microsoft.com/office/drawing/2014/main" id="{A9E5224B-B91B-4248-A796-64374DB8AC9F}"/>
              </a:ext>
            </a:extLst>
          </p:cNvPr>
          <p:cNvGraphicFramePr>
            <a:graphicFrameLocks noChangeAspect="1"/>
          </p:cNvGraphicFramePr>
          <p:nvPr>
            <p:extLst>
              <p:ext uri="{D42A27DB-BD31-4B8C-83A1-F6EECF244321}">
                <p14:modId xmlns:p14="http://schemas.microsoft.com/office/powerpoint/2010/main" val="3249760514"/>
              </p:ext>
            </p:extLst>
          </p:nvPr>
        </p:nvGraphicFramePr>
        <p:xfrm>
          <a:off x="1559201" y="5029200"/>
          <a:ext cx="2997200" cy="330200"/>
        </p:xfrm>
        <a:graphic>
          <a:graphicData uri="http://schemas.openxmlformats.org/presentationml/2006/ole">
            <mc:AlternateContent xmlns:mc="http://schemas.openxmlformats.org/markup-compatibility/2006">
              <mc:Choice xmlns:v="urn:schemas-microsoft-com:vml" Requires="v">
                <p:oleObj name="Equation" r:id="rId11" imgW="2070000" imgH="228600" progId="Equation.DSMT4">
                  <p:embed/>
                </p:oleObj>
              </mc:Choice>
              <mc:Fallback>
                <p:oleObj name="Equation" r:id="rId11" imgW="2070000" imgH="228600" progId="Equation.DSMT4">
                  <p:embed/>
                  <p:pic>
                    <p:nvPicPr>
                      <p:cNvPr id="11" name="Object 10">
                        <a:extLst>
                          <a:ext uri="{FF2B5EF4-FFF2-40B4-BE49-F238E27FC236}">
                            <a16:creationId xmlns:a16="http://schemas.microsoft.com/office/drawing/2014/main" id="{E3875FD8-E900-4843-9359-206C9FFDC1F2}"/>
                          </a:ext>
                        </a:extLst>
                      </p:cNvPr>
                      <p:cNvPicPr>
                        <a:picLocks noChangeAspect="1" noChangeArrowheads="1"/>
                      </p:cNvPicPr>
                      <p:nvPr/>
                    </p:nvPicPr>
                    <p:blipFill>
                      <a:blip r:embed="rId12"/>
                      <a:srcRect/>
                      <a:stretch>
                        <a:fillRect/>
                      </a:stretch>
                    </p:blipFill>
                    <p:spPr bwMode="auto">
                      <a:xfrm>
                        <a:off x="1559201" y="5029200"/>
                        <a:ext cx="2997200" cy="330200"/>
                      </a:xfrm>
                      <a:prstGeom prst="rect">
                        <a:avLst/>
                      </a:prstGeom>
                      <a:noFill/>
                      <a:ln w="38100">
                        <a:noFill/>
                        <a:miter lim="800000"/>
                        <a:headEnd/>
                        <a:tailEnd/>
                      </a:ln>
                      <a:effectLst/>
                    </p:spPr>
                  </p:pic>
                </p:oleObj>
              </mc:Fallback>
            </mc:AlternateContent>
          </a:graphicData>
        </a:graphic>
      </p:graphicFrame>
      <p:sp>
        <p:nvSpPr>
          <p:cNvPr id="2" name="Rectangle 1">
            <a:extLst>
              <a:ext uri="{FF2B5EF4-FFF2-40B4-BE49-F238E27FC236}">
                <a16:creationId xmlns:a16="http://schemas.microsoft.com/office/drawing/2014/main" id="{4B5E2582-D78F-64FF-1907-3F821B006D56}"/>
              </a:ext>
              <a:ext uri="{C183D7F6-B498-43B3-948B-1728B52AA6E4}">
                <adec:decorative xmlns:adec="http://schemas.microsoft.com/office/drawing/2017/decorative" val="1"/>
              </a:ext>
            </a:extLst>
          </p:cNvPr>
          <p:cNvSpPr/>
          <p:nvPr/>
        </p:nvSpPr>
        <p:spPr>
          <a:xfrm>
            <a:off x="405662" y="2340204"/>
            <a:ext cx="8311896" cy="3070134"/>
          </a:xfrm>
          <a:prstGeom prst="rect">
            <a:avLst/>
          </a:prstGeom>
          <a:noFill/>
          <a:ln w="28575">
            <a:solidFill>
              <a:srgbClr val="007F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709913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05360"/>
            <a:ext cx="8229600" cy="1144347"/>
          </a:xfrm>
        </p:spPr>
        <p:txBody>
          <a:bodyPr anchor="ctr" anchorCtr="0"/>
          <a:lstStyle/>
          <a:p>
            <a:r>
              <a:rPr lang="en-US" noProof="0" dirty="0"/>
              <a:t>Chapter 4 – techniques of circuit analysis </a:t>
            </a:r>
            <a:r>
              <a:rPr lang="en-US" sz="2800" noProof="0" dirty="0"/>
              <a:t>(8 of 26)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3" y="1486212"/>
            <a:ext cx="4274928" cy="1513679"/>
          </a:xfrm>
        </p:spPr>
        <p:txBody>
          <a:bodyPr wrap="square" lIns="0" tIns="18000" rIns="0" bIns="18000" anchor="ctr" anchorCtr="0">
            <a:spAutoFit/>
          </a:bodyPr>
          <a:lstStyle/>
          <a:p>
            <a:pPr marL="0" indent="0">
              <a:spcBef>
                <a:spcPts val="600"/>
              </a:spcBef>
              <a:buNone/>
            </a:pPr>
            <a:r>
              <a:rPr lang="en-US" sz="2400" noProof="0" dirty="0"/>
              <a:t>Step 5 – Solve the circuit using node voltages from Step 4.</a:t>
            </a:r>
            <a:br>
              <a:rPr lang="en-US" sz="2400" noProof="0" dirty="0"/>
            </a:br>
            <a:r>
              <a:rPr lang="en-US" sz="2400" noProof="0" dirty="0"/>
              <a:t>From the power balance, we find the power for each source.</a:t>
            </a:r>
          </a:p>
        </p:txBody>
      </p:sp>
      <p:pic>
        <p:nvPicPr>
          <p:cNvPr id="12" name="Picture 2" descr="A circuit diagram shows a 50 volts independent voltage source with positive polarity at the top end and negative at the bottom as the leftmost wire in the circuit. Connected in parallel across the 50 volts independent voltage source from left to right in that order are an 8-ohm resistor, a 4-ohm resistor, and a 5 ampere independent current source with an upward pointing internal arrow. A 6-ohm resistor is located in the top wire between the wires housing the 50 volts independent voltage source and the 8-ohm resistor. A 2-ohm resistor is located in the top wire between the wires housing the 8-ohm resistor and the 4-ohm resistor. Four nodes are marked where the wires housing the 8-ohm resistor and the 4-ohm resistor connect with the top and bottom wires in the circuit. Connected in parallel to the 2-ohm resistor in top wire is a current controlled current source 3i subscript 1 with the internal arrow pointing leftwards. &#10;32 volts is marked as the voltage at the node where the wire housing the 8-ohm resistor connects to the top wire in the circuit. 16 volts is marked as the voltage at the node where the wire housing the 4-ohm resistor connects to the top wire in the circuit. A 3 amperes current flows from left to right in the 6-ohm resistor. The nodes where the wires housing the 8-ohm resistor and the 4-ohm resistor connect with the bottom wire in the circuit are encircled. A downward pointing arrow is marked at the node where the 8-ohm resistor connects with the bottom wire in the circuit.&#10;">
            <a:extLst>
              <a:ext uri="{FF2B5EF4-FFF2-40B4-BE49-F238E27FC236}">
                <a16:creationId xmlns:a16="http://schemas.microsoft.com/office/drawing/2014/main" id="{C175E647-6E2A-4AAB-B54E-6976AB975966}"/>
              </a:ext>
            </a:extLst>
          </p:cNvPr>
          <p:cNvPicPr>
            <a:picLocks noChangeAspect="1" noChangeArrowheads="1"/>
          </p:cNvPicPr>
          <p:nvPr/>
        </p:nvPicPr>
        <p:blipFill>
          <a:blip r:embed="rId3"/>
          <a:stretch>
            <a:fillRect/>
          </a:stretch>
        </p:blipFill>
        <p:spPr bwMode="auto">
          <a:xfrm>
            <a:off x="4970065" y="1479488"/>
            <a:ext cx="3423445" cy="1678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3" name="Table 12">
            <a:extLst>
              <a:ext uri="{FF2B5EF4-FFF2-40B4-BE49-F238E27FC236}">
                <a16:creationId xmlns:a16="http://schemas.microsoft.com/office/drawing/2014/main" id="{C7B61BC6-5842-41A7-B44D-8B17FEA22336}"/>
              </a:ext>
            </a:extLst>
          </p:cNvPr>
          <p:cNvGraphicFramePr>
            <a:graphicFrameLocks noGrp="1"/>
          </p:cNvGraphicFramePr>
          <p:nvPr>
            <p:extLst>
              <p:ext uri="{D42A27DB-BD31-4B8C-83A1-F6EECF244321}">
                <p14:modId xmlns:p14="http://schemas.microsoft.com/office/powerpoint/2010/main" val="779553546"/>
              </p:ext>
            </p:extLst>
          </p:nvPr>
        </p:nvGraphicFramePr>
        <p:xfrm>
          <a:off x="1524000" y="3349923"/>
          <a:ext cx="6096000" cy="2966720"/>
        </p:xfrm>
        <a:graphic>
          <a:graphicData uri="http://schemas.openxmlformats.org/drawingml/2006/table">
            <a:tbl>
              <a:tblPr firstRow="1" bandRow="1">
                <a:tableStyleId>{3B4B98B0-60AC-42C2-AFA5-B58CD77FA1E5}</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840">
                <a:tc>
                  <a:txBody>
                    <a:bodyPr/>
                    <a:lstStyle/>
                    <a:p>
                      <a:pPr algn="ctr"/>
                      <a:r>
                        <a:rPr lang="en-US" noProof="0" dirty="0">
                          <a:solidFill>
                            <a:schemeClr val="bg1"/>
                          </a:solidFill>
                          <a:latin typeface="Arial" panose="020B0604020202020204" pitchFamily="34" charset="0"/>
                          <a:cs typeface="Arial" panose="020B0604020202020204" pitchFamily="34" charset="0"/>
                        </a:rPr>
                        <a:t>Component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noProof="0">
                          <a:solidFill>
                            <a:schemeClr val="bg1"/>
                          </a:solidFill>
                          <a:latin typeface="Arial" panose="020B0604020202020204" pitchFamily="34" charset="0"/>
                          <a:cs typeface="Arial" panose="020B0604020202020204" pitchFamily="34" charset="0"/>
                        </a:rPr>
                        <a:t>Equation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noProof="0">
                          <a:solidFill>
                            <a:schemeClr val="bg1"/>
                          </a:solidFill>
                          <a:latin typeface="Arial" panose="020B0604020202020204" pitchFamily="34" charset="0"/>
                          <a:cs typeface="Arial" panose="020B0604020202020204" pitchFamily="34" charset="0"/>
                        </a:rPr>
                        <a:t>p[W]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10000"/>
                  </a:ext>
                </a:extLst>
              </a:tr>
              <a:tr h="370840">
                <a:tc>
                  <a:txBody>
                    <a:bodyPr/>
                    <a:lstStyle/>
                    <a:p>
                      <a:pPr algn="ctr"/>
                      <a:r>
                        <a:rPr lang="en-US" noProof="0">
                          <a:latin typeface="Arial" panose="020B0604020202020204" pitchFamily="34" charset="0"/>
                          <a:cs typeface="Arial" panose="020B0604020202020204" pitchFamily="34" charset="0"/>
                        </a:rPr>
                        <a:t>50 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400" b="0" i="0" u="none" strike="noStrike" cap="none" noProof="0" dirty="0">
                          <a:solidFill>
                            <a:schemeClr val="tx1"/>
                          </a:solidFill>
                          <a:effectLst/>
                          <a:latin typeface="Arial" panose="020B0604020202020204" pitchFamily="34" charset="0"/>
                          <a:ea typeface="+mn-ea"/>
                          <a:cs typeface="Arial" panose="020B0604020202020204" pitchFamily="34" charset="0"/>
                          <a:sym typeface="Arial"/>
                        </a:rPr>
                        <a:t>−</a:t>
                      </a:r>
                      <a:r>
                        <a:rPr lang="en-US" noProof="0" dirty="0">
                          <a:latin typeface="Arial" panose="020B0604020202020204" pitchFamily="34" charset="0"/>
                          <a:cs typeface="Arial" panose="020B0604020202020204" pitchFamily="34" charset="0"/>
                          <a:sym typeface="Symbol"/>
                        </a:rPr>
                        <a:t>(3)(50)</a:t>
                      </a:r>
                      <a:endParaRPr lang="en-US" noProof="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b="0" noProof="0">
                          <a:solidFill>
                            <a:schemeClr val="bg2"/>
                          </a:solidFill>
                          <a:latin typeface="Arial" panose="020B0604020202020204" pitchFamily="34" charset="0"/>
                          <a:cs typeface="Arial" panose="020B0604020202020204" pitchFamily="34" charset="0"/>
                          <a:sym typeface="Symbol"/>
                        </a:rPr>
                        <a:t>−</a:t>
                      </a:r>
                      <a:r>
                        <a:rPr lang="en-US" b="1" noProof="0">
                          <a:solidFill>
                            <a:schemeClr val="bg2"/>
                          </a:solidFill>
                          <a:latin typeface="Arial" panose="020B0604020202020204" pitchFamily="34" charset="0"/>
                          <a:cs typeface="Arial" panose="020B0604020202020204" pitchFamily="34" charset="0"/>
                          <a:sym typeface="Symbol"/>
                        </a:rPr>
                        <a:t>150</a:t>
                      </a:r>
                      <a:endParaRPr lang="en-US" b="1" noProof="0">
                        <a:solidFill>
                          <a:schemeClr val="bg2"/>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1"/>
                  </a:ext>
                </a:extLst>
              </a:tr>
              <a:tr h="370840">
                <a:tc>
                  <a:txBody>
                    <a:bodyPr/>
                    <a:lstStyle/>
                    <a:p>
                      <a:pPr algn="ctr"/>
                      <a:r>
                        <a:rPr lang="en-US" noProof="0" dirty="0">
                          <a:latin typeface="Arial" panose="020B0604020202020204" pitchFamily="34" charset="0"/>
                          <a:cs typeface="Arial" panose="020B0604020202020204" pitchFamily="34" charset="0"/>
                        </a:rPr>
                        <a:t>5 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400" b="0" i="0" u="none" strike="noStrike" cap="none" noProof="0" dirty="0">
                          <a:solidFill>
                            <a:schemeClr val="tx1"/>
                          </a:solidFill>
                          <a:effectLst/>
                          <a:latin typeface="Arial" panose="020B0604020202020204" pitchFamily="34" charset="0"/>
                          <a:ea typeface="+mn-ea"/>
                          <a:cs typeface="Arial" panose="020B0604020202020204" pitchFamily="34" charset="0"/>
                          <a:sym typeface="Arial"/>
                        </a:rPr>
                        <a:t>−</a:t>
                      </a:r>
                      <a:r>
                        <a:rPr lang="en-US" noProof="0" dirty="0">
                          <a:latin typeface="Arial" panose="020B0604020202020204" pitchFamily="34" charset="0"/>
                          <a:cs typeface="Arial" panose="020B0604020202020204" pitchFamily="34" charset="0"/>
                          <a:sym typeface="Symbol"/>
                        </a:rPr>
                        <a:t>(5)(16)</a:t>
                      </a:r>
                      <a:endParaRPr lang="en-US" noProof="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b="0" noProof="0" dirty="0">
                          <a:solidFill>
                            <a:schemeClr val="bg2"/>
                          </a:solidFill>
                          <a:latin typeface="Arial" panose="020B0604020202020204" pitchFamily="34" charset="0"/>
                          <a:cs typeface="Arial" panose="020B0604020202020204" pitchFamily="34" charset="0"/>
                          <a:sym typeface="Symbol"/>
                        </a:rPr>
                        <a:t>−</a:t>
                      </a:r>
                      <a:r>
                        <a:rPr lang="en-US" b="1" noProof="0" dirty="0">
                          <a:solidFill>
                            <a:schemeClr val="bg2"/>
                          </a:solidFill>
                          <a:latin typeface="Arial" panose="020B0604020202020204" pitchFamily="34" charset="0"/>
                          <a:cs typeface="Arial" panose="020B0604020202020204" pitchFamily="34" charset="0"/>
                          <a:sym typeface="Symbol"/>
                        </a:rPr>
                        <a:t>80</a:t>
                      </a:r>
                      <a:endParaRPr lang="en-US" b="1" noProof="0" dirty="0">
                        <a:solidFill>
                          <a:schemeClr val="bg2"/>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2"/>
                  </a:ext>
                </a:extLst>
              </a:tr>
              <a:tr h="370840">
                <a:tc>
                  <a:txBody>
                    <a:bodyPr/>
                    <a:lstStyle/>
                    <a:p>
                      <a:pPr algn="ctr"/>
                      <a:r>
                        <a:rPr lang="en-US" noProof="0">
                          <a:latin typeface="Arial" panose="020B0604020202020204" pitchFamily="34" charset="0"/>
                          <a:cs typeface="Arial" panose="020B0604020202020204" pitchFamily="34" charset="0"/>
                        </a:rPr>
                        <a:t>Dep.</a:t>
                      </a:r>
                      <a:r>
                        <a:rPr lang="en-US" baseline="0" noProof="0">
                          <a:latin typeface="Arial" panose="020B0604020202020204" pitchFamily="34" charset="0"/>
                          <a:cs typeface="Arial" panose="020B0604020202020204" pitchFamily="34" charset="0"/>
                        </a:rPr>
                        <a:t> Source</a:t>
                      </a:r>
                      <a:endParaRPr lang="en-US" noProof="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400" b="0" i="0" u="none" strike="noStrike" cap="none" noProof="0">
                          <a:solidFill>
                            <a:schemeClr val="tx1"/>
                          </a:solidFill>
                          <a:effectLst/>
                          <a:latin typeface="Arial" panose="020B0604020202020204" pitchFamily="34" charset="0"/>
                          <a:ea typeface="+mn-ea"/>
                          <a:cs typeface="Arial" panose="020B0604020202020204" pitchFamily="34" charset="0"/>
                          <a:sym typeface="Arial"/>
                        </a:rPr>
                        <a:t>−</a:t>
                      </a:r>
                      <a:r>
                        <a:rPr lang="en-US" noProof="0">
                          <a:latin typeface="Arial" panose="020B0604020202020204" pitchFamily="34" charset="0"/>
                          <a:cs typeface="Arial" panose="020B0604020202020204" pitchFamily="34" charset="0"/>
                          <a:sym typeface="Symbol"/>
                        </a:rPr>
                        <a:t>[3(3)](32 – 16)</a:t>
                      </a:r>
                      <a:endParaRPr lang="en-US" noProof="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b="0" noProof="0">
                          <a:solidFill>
                            <a:schemeClr val="bg2"/>
                          </a:solidFill>
                          <a:latin typeface="Arial" panose="020B0604020202020204" pitchFamily="34" charset="0"/>
                          <a:cs typeface="Arial" panose="020B0604020202020204" pitchFamily="34" charset="0"/>
                          <a:sym typeface="Symbol"/>
                        </a:rPr>
                        <a:t>−</a:t>
                      </a:r>
                      <a:r>
                        <a:rPr lang="en-US" b="1" noProof="0">
                          <a:solidFill>
                            <a:schemeClr val="bg2"/>
                          </a:solidFill>
                          <a:latin typeface="Arial" panose="020B0604020202020204" pitchFamily="34" charset="0"/>
                          <a:cs typeface="Arial" panose="020B0604020202020204" pitchFamily="34" charset="0"/>
                          <a:sym typeface="Symbol"/>
                        </a:rPr>
                        <a:t>144</a:t>
                      </a:r>
                      <a:endParaRPr lang="en-US" b="1" noProof="0">
                        <a:solidFill>
                          <a:schemeClr val="bg2"/>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3"/>
                  </a:ext>
                </a:extLst>
              </a:tr>
              <a:tr h="370840">
                <a:tc>
                  <a:txBody>
                    <a:bodyPr/>
                    <a:lstStyle/>
                    <a:p>
                      <a:pPr algn="ctr" fontAlgn="b"/>
                      <a:r>
                        <a:rPr lang="en-US" sz="100" b="0" i="0" u="none" strike="noStrike" noProof="0">
                          <a:solidFill>
                            <a:srgbClr val="000000"/>
                          </a:solidFill>
                          <a:effectLst/>
                          <a:latin typeface="Arial" panose="020B0604020202020204" pitchFamily="34" charset="0"/>
                          <a:cs typeface="Arial" panose="020B0604020202020204" pitchFamily="34" charset="0"/>
                        </a:rPr>
                        <a:t>6 Ohms.</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noProof="0">
                          <a:latin typeface="Arial" panose="020B0604020202020204" pitchFamily="34" charset="0"/>
                          <a:cs typeface="Arial" panose="020B0604020202020204" pitchFamily="34" charset="0"/>
                        </a:rPr>
                        <a:t>Open Parenthesis 3 Close Parenthesis squared multiplied by Open Parenthesis 6 Close Parenthesis.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noProof="0">
                          <a:latin typeface="Arial" panose="020B0604020202020204" pitchFamily="34" charset="0"/>
                          <a:cs typeface="Arial" panose="020B0604020202020204" pitchFamily="34" charset="0"/>
                        </a:rPr>
                        <a:t>54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4"/>
                  </a:ext>
                </a:extLst>
              </a:tr>
              <a:tr h="370840">
                <a:tc>
                  <a:txBody>
                    <a:bodyPr/>
                    <a:lstStyle/>
                    <a:p>
                      <a:pPr algn="ctr" fontAlgn="b"/>
                      <a:r>
                        <a:rPr lang="en-US" sz="100" b="0" i="0" u="none" strike="noStrike" noProof="0">
                          <a:solidFill>
                            <a:srgbClr val="000000"/>
                          </a:solidFill>
                          <a:effectLst/>
                          <a:latin typeface="Arial" panose="020B0604020202020204" pitchFamily="34" charset="0"/>
                          <a:cs typeface="Arial" panose="020B0604020202020204" pitchFamily="34" charset="0"/>
                        </a:rPr>
                        <a:t>2 Ohms.</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noProof="0" dirty="0">
                          <a:latin typeface="Arial" panose="020B0604020202020204" pitchFamily="34" charset="0"/>
                          <a:cs typeface="Arial" panose="020B0604020202020204" pitchFamily="34" charset="0"/>
                        </a:rPr>
                        <a:t>Open Parenthesis 32 minus 16 Close Parenthesis squared divided by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noProof="0">
                          <a:latin typeface="Arial" panose="020B0604020202020204" pitchFamily="34" charset="0"/>
                          <a:cs typeface="Arial" panose="020B0604020202020204" pitchFamily="34" charset="0"/>
                        </a:rPr>
                        <a:t>128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5"/>
                  </a:ext>
                </a:extLst>
              </a:tr>
              <a:tr h="370840">
                <a:tc>
                  <a:txBody>
                    <a:bodyPr/>
                    <a:lstStyle/>
                    <a:p>
                      <a:pPr algn="ctr" fontAlgn="b"/>
                      <a:r>
                        <a:rPr lang="en-US" sz="100" b="0" i="0" u="none" strike="noStrike" noProof="0">
                          <a:solidFill>
                            <a:srgbClr val="000000"/>
                          </a:solidFill>
                          <a:effectLst/>
                          <a:latin typeface="Arial" panose="020B0604020202020204" pitchFamily="34" charset="0"/>
                          <a:cs typeface="Arial" panose="020B0604020202020204" pitchFamily="34" charset="0"/>
                        </a:rPr>
                        <a:t>8 Ohms.</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 noProof="0" dirty="0">
                          <a:latin typeface="Arial" panose="020B0604020202020204" pitchFamily="34" charset="0"/>
                          <a:cs typeface="Arial" panose="020B0604020202020204" pitchFamily="34" charset="0"/>
                        </a:rPr>
                        <a:t>Open Parenthesis 32 Close Parenthesis squared divided by 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noProof="0">
                          <a:latin typeface="Arial" panose="020B0604020202020204" pitchFamily="34" charset="0"/>
                          <a:cs typeface="Arial" panose="020B0604020202020204" pitchFamily="34" charset="0"/>
                        </a:rPr>
                        <a:t>128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6"/>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 noProof="0" dirty="0">
                          <a:latin typeface="Arial" panose="020B0604020202020204" pitchFamily="34" charset="0"/>
                          <a:cs typeface="Arial" panose="020B0604020202020204" pitchFamily="34" charset="0"/>
                        </a:rPr>
                        <a:t>4 Ohms.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 noProof="0" dirty="0">
                          <a:latin typeface="Arial" panose="020B0604020202020204" pitchFamily="34" charset="0"/>
                          <a:cs typeface="Arial" panose="020B0604020202020204" pitchFamily="34" charset="0"/>
                        </a:rPr>
                        <a:t>Open Parenthesis 16 Close Parenthesis squared divided by 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noProof="0" dirty="0">
                          <a:latin typeface="Arial" panose="020B0604020202020204" pitchFamily="34" charset="0"/>
                          <a:cs typeface="Arial" panose="020B0604020202020204" pitchFamily="34" charset="0"/>
                        </a:rPr>
                        <a:t>64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7"/>
                  </a:ext>
                </a:extLst>
              </a:tr>
            </a:tbl>
          </a:graphicData>
        </a:graphic>
      </p:graphicFrame>
      <p:graphicFrame>
        <p:nvGraphicFramePr>
          <p:cNvPr id="2" name="Object 1">
            <a:extLst>
              <a:ext uri="{FF2B5EF4-FFF2-40B4-BE49-F238E27FC236}">
                <a16:creationId xmlns:a16="http://schemas.microsoft.com/office/drawing/2014/main" id="{3C6B0F6B-4625-4B51-8E9D-6EC62AC605A5}"/>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579972391"/>
              </p:ext>
            </p:extLst>
          </p:nvPr>
        </p:nvGraphicFramePr>
        <p:xfrm>
          <a:off x="2362921" y="4894250"/>
          <a:ext cx="363583" cy="252929"/>
        </p:xfrm>
        <a:graphic>
          <a:graphicData uri="http://schemas.openxmlformats.org/presentationml/2006/ole">
            <mc:AlternateContent xmlns:mc="http://schemas.openxmlformats.org/markup-compatibility/2006">
              <mc:Choice xmlns:v="urn:schemas-microsoft-com:vml" Requires="v">
                <p:oleObj name="Equation" r:id="rId4" imgW="291960" imgH="203040" progId="Equation.DSMT4">
                  <p:embed/>
                </p:oleObj>
              </mc:Choice>
              <mc:Fallback>
                <p:oleObj name="Equation" r:id="rId4" imgW="291960" imgH="203040" progId="Equation.DSMT4">
                  <p:embed/>
                  <p:pic>
                    <p:nvPicPr>
                      <p:cNvPr id="0" name=""/>
                      <p:cNvPicPr/>
                      <p:nvPr/>
                    </p:nvPicPr>
                    <p:blipFill>
                      <a:blip r:embed="rId5"/>
                      <a:stretch>
                        <a:fillRect/>
                      </a:stretch>
                    </p:blipFill>
                    <p:spPr>
                      <a:xfrm>
                        <a:off x="2362921" y="4894250"/>
                        <a:ext cx="363583" cy="252929"/>
                      </a:xfrm>
                      <a:prstGeom prst="rect">
                        <a:avLst/>
                      </a:prstGeom>
                      <a:solidFill>
                        <a:srgbClr val="D4EAE4"/>
                      </a:solidFill>
                    </p:spPr>
                  </p:pic>
                </p:oleObj>
              </mc:Fallback>
            </mc:AlternateContent>
          </a:graphicData>
        </a:graphic>
      </p:graphicFrame>
      <p:graphicFrame>
        <p:nvGraphicFramePr>
          <p:cNvPr id="17" name="Object 16">
            <a:extLst>
              <a:ext uri="{FF2B5EF4-FFF2-40B4-BE49-F238E27FC236}">
                <a16:creationId xmlns:a16="http://schemas.microsoft.com/office/drawing/2014/main" id="{CB2A83D9-2572-43C1-A4E2-DBB18B26CB1C}"/>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282344528"/>
              </p:ext>
            </p:extLst>
          </p:nvPr>
        </p:nvGraphicFramePr>
        <p:xfrm>
          <a:off x="4264133" y="4860237"/>
          <a:ext cx="615735" cy="321060"/>
        </p:xfrm>
        <a:graphic>
          <a:graphicData uri="http://schemas.openxmlformats.org/presentationml/2006/ole">
            <mc:AlternateContent xmlns:mc="http://schemas.openxmlformats.org/markup-compatibility/2006">
              <mc:Choice xmlns:v="urn:schemas-microsoft-com:vml" Requires="v">
                <p:oleObj name="Equation" r:id="rId6" imgW="533160" imgH="279360" progId="Equation.DSMT4">
                  <p:embed/>
                </p:oleObj>
              </mc:Choice>
              <mc:Fallback>
                <p:oleObj name="Equation" r:id="rId6" imgW="533160" imgH="279360" progId="Equation.DSMT4">
                  <p:embed/>
                  <p:pic>
                    <p:nvPicPr>
                      <p:cNvPr id="2" name="Object 1">
                        <a:extLst>
                          <a:ext uri="{FF2B5EF4-FFF2-40B4-BE49-F238E27FC236}">
                            <a16:creationId xmlns:a16="http://schemas.microsoft.com/office/drawing/2014/main" id="{3C6B0F6B-4625-4B51-8E9D-6EC62AC605A5}"/>
                          </a:ext>
                        </a:extLst>
                      </p:cNvPr>
                      <p:cNvPicPr/>
                      <p:nvPr/>
                    </p:nvPicPr>
                    <p:blipFill>
                      <a:blip r:embed="rId7"/>
                      <a:stretch>
                        <a:fillRect/>
                      </a:stretch>
                    </p:blipFill>
                    <p:spPr>
                      <a:xfrm>
                        <a:off x="4264133" y="4860237"/>
                        <a:ext cx="615735" cy="321060"/>
                      </a:xfrm>
                      <a:prstGeom prst="rect">
                        <a:avLst/>
                      </a:prstGeom>
                      <a:solidFill>
                        <a:srgbClr val="D4EAE4"/>
                      </a:solidFill>
                    </p:spPr>
                  </p:pic>
                </p:oleObj>
              </mc:Fallback>
            </mc:AlternateContent>
          </a:graphicData>
        </a:graphic>
      </p:graphicFrame>
      <p:graphicFrame>
        <p:nvGraphicFramePr>
          <p:cNvPr id="14" name="Object 13">
            <a:extLst>
              <a:ext uri="{FF2B5EF4-FFF2-40B4-BE49-F238E27FC236}">
                <a16:creationId xmlns:a16="http://schemas.microsoft.com/office/drawing/2014/main" id="{F0539AEB-B0FE-41E2-BAC0-11FCEE1354F6}"/>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499571353"/>
              </p:ext>
            </p:extLst>
          </p:nvPr>
        </p:nvGraphicFramePr>
        <p:xfrm>
          <a:off x="2347177" y="5261425"/>
          <a:ext cx="363583" cy="252929"/>
        </p:xfrm>
        <a:graphic>
          <a:graphicData uri="http://schemas.openxmlformats.org/presentationml/2006/ole">
            <mc:AlternateContent xmlns:mc="http://schemas.openxmlformats.org/markup-compatibility/2006">
              <mc:Choice xmlns:v="urn:schemas-microsoft-com:vml" Requires="v">
                <p:oleObj name="Equation" r:id="rId8" imgW="291960" imgH="203040" progId="Equation.DSMT4">
                  <p:embed/>
                </p:oleObj>
              </mc:Choice>
              <mc:Fallback>
                <p:oleObj name="Equation" r:id="rId8" imgW="291960" imgH="203040" progId="Equation.DSMT4">
                  <p:embed/>
                  <p:pic>
                    <p:nvPicPr>
                      <p:cNvPr id="2" name="Object 1">
                        <a:extLst>
                          <a:ext uri="{FF2B5EF4-FFF2-40B4-BE49-F238E27FC236}">
                            <a16:creationId xmlns:a16="http://schemas.microsoft.com/office/drawing/2014/main" id="{3C6B0F6B-4625-4B51-8E9D-6EC62AC605A5}"/>
                          </a:ext>
                        </a:extLst>
                      </p:cNvPr>
                      <p:cNvPicPr/>
                      <p:nvPr/>
                    </p:nvPicPr>
                    <p:blipFill>
                      <a:blip r:embed="rId9"/>
                      <a:stretch>
                        <a:fillRect/>
                      </a:stretch>
                    </p:blipFill>
                    <p:spPr>
                      <a:xfrm>
                        <a:off x="2347177" y="5261425"/>
                        <a:ext cx="363583" cy="252929"/>
                      </a:xfrm>
                      <a:prstGeom prst="rect">
                        <a:avLst/>
                      </a:prstGeom>
                      <a:solidFill>
                        <a:srgbClr val="D4EAE4"/>
                      </a:solidFill>
                    </p:spPr>
                  </p:pic>
                </p:oleObj>
              </mc:Fallback>
            </mc:AlternateContent>
          </a:graphicData>
        </a:graphic>
      </p:graphicFrame>
      <p:graphicFrame>
        <p:nvGraphicFramePr>
          <p:cNvPr id="18" name="Object 17">
            <a:extLst>
              <a:ext uri="{FF2B5EF4-FFF2-40B4-BE49-F238E27FC236}">
                <a16:creationId xmlns:a16="http://schemas.microsoft.com/office/drawing/2014/main" id="{7EF20C89-59E9-480E-97E0-2F0EE830CA90}"/>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390918209"/>
              </p:ext>
            </p:extLst>
          </p:nvPr>
        </p:nvGraphicFramePr>
        <p:xfrm>
          <a:off x="4017559" y="5224190"/>
          <a:ext cx="1053320" cy="323404"/>
        </p:xfrm>
        <a:graphic>
          <a:graphicData uri="http://schemas.openxmlformats.org/presentationml/2006/ole">
            <mc:AlternateContent xmlns:mc="http://schemas.openxmlformats.org/markup-compatibility/2006">
              <mc:Choice xmlns:v="urn:schemas-microsoft-com:vml" Requires="v">
                <p:oleObj name="Equation" r:id="rId10" imgW="901440" imgH="279360" progId="Equation.DSMT4">
                  <p:embed/>
                </p:oleObj>
              </mc:Choice>
              <mc:Fallback>
                <p:oleObj name="Equation" r:id="rId10" imgW="901440" imgH="279360" progId="Equation.DSMT4">
                  <p:embed/>
                  <p:pic>
                    <p:nvPicPr>
                      <p:cNvPr id="17" name="Object 16">
                        <a:extLst>
                          <a:ext uri="{FF2B5EF4-FFF2-40B4-BE49-F238E27FC236}">
                            <a16:creationId xmlns:a16="http://schemas.microsoft.com/office/drawing/2014/main" id="{CB2A83D9-2572-43C1-A4E2-DBB18B26CB1C}"/>
                          </a:ext>
                        </a:extLst>
                      </p:cNvPr>
                      <p:cNvPicPr/>
                      <p:nvPr/>
                    </p:nvPicPr>
                    <p:blipFill>
                      <a:blip r:embed="rId11"/>
                      <a:stretch>
                        <a:fillRect/>
                      </a:stretch>
                    </p:blipFill>
                    <p:spPr>
                      <a:xfrm>
                        <a:off x="4017559" y="5224190"/>
                        <a:ext cx="1053320" cy="323404"/>
                      </a:xfrm>
                      <a:prstGeom prst="rect">
                        <a:avLst/>
                      </a:prstGeom>
                      <a:solidFill>
                        <a:srgbClr val="D4EAE4"/>
                      </a:solidFill>
                    </p:spPr>
                  </p:pic>
                </p:oleObj>
              </mc:Fallback>
            </mc:AlternateContent>
          </a:graphicData>
        </a:graphic>
      </p:graphicFrame>
      <p:graphicFrame>
        <p:nvGraphicFramePr>
          <p:cNvPr id="15" name="Object 14">
            <a:extLst>
              <a:ext uri="{FF2B5EF4-FFF2-40B4-BE49-F238E27FC236}">
                <a16:creationId xmlns:a16="http://schemas.microsoft.com/office/drawing/2014/main" id="{C1D86988-CF6A-4033-A8F5-0E4605FF7EBF}"/>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16202226"/>
              </p:ext>
            </p:extLst>
          </p:nvPr>
        </p:nvGraphicFramePr>
        <p:xfrm>
          <a:off x="2347176" y="5601304"/>
          <a:ext cx="363583" cy="252929"/>
        </p:xfrm>
        <a:graphic>
          <a:graphicData uri="http://schemas.openxmlformats.org/presentationml/2006/ole">
            <mc:AlternateContent xmlns:mc="http://schemas.openxmlformats.org/markup-compatibility/2006">
              <mc:Choice xmlns:v="urn:schemas-microsoft-com:vml" Requires="v">
                <p:oleObj name="Equation" r:id="rId12" imgW="291960" imgH="203040" progId="Equation.DSMT4">
                  <p:embed/>
                </p:oleObj>
              </mc:Choice>
              <mc:Fallback>
                <p:oleObj name="Equation" r:id="rId12" imgW="291960" imgH="203040" progId="Equation.DSMT4">
                  <p:embed/>
                  <p:pic>
                    <p:nvPicPr>
                      <p:cNvPr id="14" name="Object 13">
                        <a:extLst>
                          <a:ext uri="{FF2B5EF4-FFF2-40B4-BE49-F238E27FC236}">
                            <a16:creationId xmlns:a16="http://schemas.microsoft.com/office/drawing/2014/main" id="{F0539AEB-B0FE-41E2-BAC0-11FCEE1354F6}"/>
                          </a:ext>
                        </a:extLst>
                      </p:cNvPr>
                      <p:cNvPicPr/>
                      <p:nvPr/>
                    </p:nvPicPr>
                    <p:blipFill>
                      <a:blip r:embed="rId13"/>
                      <a:stretch>
                        <a:fillRect/>
                      </a:stretch>
                    </p:blipFill>
                    <p:spPr>
                      <a:xfrm>
                        <a:off x="2347176" y="5601304"/>
                        <a:ext cx="363583" cy="252929"/>
                      </a:xfrm>
                      <a:prstGeom prst="rect">
                        <a:avLst/>
                      </a:prstGeom>
                      <a:solidFill>
                        <a:srgbClr val="D4EAE4"/>
                      </a:solidFill>
                    </p:spPr>
                  </p:pic>
                </p:oleObj>
              </mc:Fallback>
            </mc:AlternateContent>
          </a:graphicData>
        </a:graphic>
      </p:graphicFrame>
      <p:graphicFrame>
        <p:nvGraphicFramePr>
          <p:cNvPr id="19" name="Object 18">
            <a:extLst>
              <a:ext uri="{FF2B5EF4-FFF2-40B4-BE49-F238E27FC236}">
                <a16:creationId xmlns:a16="http://schemas.microsoft.com/office/drawing/2014/main" id="{781BD95C-67F8-45F0-A84A-25586791FDA6}"/>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17295713"/>
              </p:ext>
            </p:extLst>
          </p:nvPr>
        </p:nvGraphicFramePr>
        <p:xfrm>
          <a:off x="4167645" y="5595931"/>
          <a:ext cx="683654" cy="317033"/>
        </p:xfrm>
        <a:graphic>
          <a:graphicData uri="http://schemas.openxmlformats.org/presentationml/2006/ole">
            <mc:AlternateContent xmlns:mc="http://schemas.openxmlformats.org/markup-compatibility/2006">
              <mc:Choice xmlns:v="urn:schemas-microsoft-com:vml" Requires="v">
                <p:oleObj name="Equation" r:id="rId14" imgW="596880" imgH="279360" progId="Equation.DSMT4">
                  <p:embed/>
                </p:oleObj>
              </mc:Choice>
              <mc:Fallback>
                <p:oleObj name="Equation" r:id="rId14" imgW="596880" imgH="279360" progId="Equation.DSMT4">
                  <p:embed/>
                  <p:pic>
                    <p:nvPicPr>
                      <p:cNvPr id="18" name="Object 17">
                        <a:extLst>
                          <a:ext uri="{FF2B5EF4-FFF2-40B4-BE49-F238E27FC236}">
                            <a16:creationId xmlns:a16="http://schemas.microsoft.com/office/drawing/2014/main" id="{7EF20C89-59E9-480E-97E0-2F0EE830CA90}"/>
                          </a:ext>
                        </a:extLst>
                      </p:cNvPr>
                      <p:cNvPicPr/>
                      <p:nvPr/>
                    </p:nvPicPr>
                    <p:blipFill>
                      <a:blip r:embed="rId15"/>
                      <a:stretch>
                        <a:fillRect/>
                      </a:stretch>
                    </p:blipFill>
                    <p:spPr>
                      <a:xfrm>
                        <a:off x="4167645" y="5595931"/>
                        <a:ext cx="683654" cy="317033"/>
                      </a:xfrm>
                      <a:prstGeom prst="rect">
                        <a:avLst/>
                      </a:prstGeom>
                      <a:solidFill>
                        <a:srgbClr val="D4EAE4"/>
                      </a:solidFill>
                    </p:spPr>
                  </p:pic>
                </p:oleObj>
              </mc:Fallback>
            </mc:AlternateContent>
          </a:graphicData>
        </a:graphic>
      </p:graphicFrame>
      <p:graphicFrame>
        <p:nvGraphicFramePr>
          <p:cNvPr id="16" name="Object 15">
            <a:extLst>
              <a:ext uri="{FF2B5EF4-FFF2-40B4-BE49-F238E27FC236}">
                <a16:creationId xmlns:a16="http://schemas.microsoft.com/office/drawing/2014/main" id="{89F08630-318C-41AC-AFBE-80F97259E032}"/>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056880583"/>
              </p:ext>
            </p:extLst>
          </p:nvPr>
        </p:nvGraphicFramePr>
        <p:xfrm>
          <a:off x="2347175" y="6009720"/>
          <a:ext cx="363583" cy="252929"/>
        </p:xfrm>
        <a:graphic>
          <a:graphicData uri="http://schemas.openxmlformats.org/presentationml/2006/ole">
            <mc:AlternateContent xmlns:mc="http://schemas.openxmlformats.org/markup-compatibility/2006">
              <mc:Choice xmlns:v="urn:schemas-microsoft-com:vml" Requires="v">
                <p:oleObj name="Equation" r:id="rId16" imgW="291960" imgH="203040" progId="Equation.DSMT4">
                  <p:embed/>
                </p:oleObj>
              </mc:Choice>
              <mc:Fallback>
                <p:oleObj name="Equation" r:id="rId16" imgW="291960" imgH="203040" progId="Equation.DSMT4">
                  <p:embed/>
                  <p:pic>
                    <p:nvPicPr>
                      <p:cNvPr id="15" name="Object 14">
                        <a:extLst>
                          <a:ext uri="{FF2B5EF4-FFF2-40B4-BE49-F238E27FC236}">
                            <a16:creationId xmlns:a16="http://schemas.microsoft.com/office/drawing/2014/main" id="{C1D86988-CF6A-4033-A8F5-0E4605FF7EBF}"/>
                          </a:ext>
                        </a:extLst>
                      </p:cNvPr>
                      <p:cNvPicPr/>
                      <p:nvPr/>
                    </p:nvPicPr>
                    <p:blipFill>
                      <a:blip r:embed="rId17"/>
                      <a:stretch>
                        <a:fillRect/>
                      </a:stretch>
                    </p:blipFill>
                    <p:spPr>
                      <a:xfrm>
                        <a:off x="2347175" y="6009720"/>
                        <a:ext cx="363583" cy="252929"/>
                      </a:xfrm>
                      <a:prstGeom prst="rect">
                        <a:avLst/>
                      </a:prstGeom>
                      <a:solidFill>
                        <a:srgbClr val="D4EAE4"/>
                      </a:solidFill>
                    </p:spPr>
                  </p:pic>
                </p:oleObj>
              </mc:Fallback>
            </mc:AlternateContent>
          </a:graphicData>
        </a:graphic>
      </p:graphicFrame>
      <p:graphicFrame>
        <p:nvGraphicFramePr>
          <p:cNvPr id="20" name="Object 19">
            <a:extLst>
              <a:ext uri="{FF2B5EF4-FFF2-40B4-BE49-F238E27FC236}">
                <a16:creationId xmlns:a16="http://schemas.microsoft.com/office/drawing/2014/main" id="{21C9E815-923E-4F6F-AAE9-055CA054CCC1}"/>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440260091"/>
              </p:ext>
            </p:extLst>
          </p:nvPr>
        </p:nvGraphicFramePr>
        <p:xfrm>
          <a:off x="4165647" y="5982596"/>
          <a:ext cx="676181" cy="320202"/>
        </p:xfrm>
        <a:graphic>
          <a:graphicData uri="http://schemas.openxmlformats.org/presentationml/2006/ole">
            <mc:AlternateContent xmlns:mc="http://schemas.openxmlformats.org/markup-compatibility/2006">
              <mc:Choice xmlns:v="urn:schemas-microsoft-com:vml" Requires="v">
                <p:oleObj name="Equation" r:id="rId18" imgW="583920" imgH="279360" progId="Equation.DSMT4">
                  <p:embed/>
                </p:oleObj>
              </mc:Choice>
              <mc:Fallback>
                <p:oleObj name="Equation" r:id="rId18" imgW="583920" imgH="279360" progId="Equation.DSMT4">
                  <p:embed/>
                  <p:pic>
                    <p:nvPicPr>
                      <p:cNvPr id="19" name="Object 18">
                        <a:extLst>
                          <a:ext uri="{FF2B5EF4-FFF2-40B4-BE49-F238E27FC236}">
                            <a16:creationId xmlns:a16="http://schemas.microsoft.com/office/drawing/2014/main" id="{781BD95C-67F8-45F0-A84A-25586791FDA6}"/>
                          </a:ext>
                        </a:extLst>
                      </p:cNvPr>
                      <p:cNvPicPr/>
                      <p:nvPr/>
                    </p:nvPicPr>
                    <p:blipFill>
                      <a:blip r:embed="rId19"/>
                      <a:stretch>
                        <a:fillRect/>
                      </a:stretch>
                    </p:blipFill>
                    <p:spPr>
                      <a:xfrm>
                        <a:off x="4165647" y="5982596"/>
                        <a:ext cx="676181" cy="320202"/>
                      </a:xfrm>
                      <a:prstGeom prst="rect">
                        <a:avLst/>
                      </a:prstGeom>
                      <a:solidFill>
                        <a:srgbClr val="D4EAE4"/>
                      </a:solidFill>
                    </p:spPr>
                  </p:pic>
                </p:oleObj>
              </mc:Fallback>
            </mc:AlternateContent>
          </a:graphicData>
        </a:graphic>
      </p:graphicFrame>
    </p:spTree>
    <p:extLst>
      <p:ext uri="{BB962C8B-B14F-4D97-AF65-F5344CB8AC3E}">
        <p14:creationId xmlns:p14="http://schemas.microsoft.com/office/powerpoint/2010/main" val="4490368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05362"/>
            <a:ext cx="8229600" cy="1144347"/>
          </a:xfrm>
        </p:spPr>
        <p:txBody>
          <a:bodyPr anchor="ctr" anchorCtr="0"/>
          <a:lstStyle/>
          <a:p>
            <a:r>
              <a:rPr lang="en-US" noProof="0" dirty="0"/>
              <a:t>Chapter 4 – techniques of circuit analysis </a:t>
            </a:r>
            <a:r>
              <a:rPr lang="en-US" sz="2800" noProof="0" dirty="0"/>
              <a:t>(9 of 26)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504141"/>
            <a:ext cx="8229600" cy="775015"/>
          </a:xfrm>
        </p:spPr>
        <p:txBody>
          <a:bodyPr wrap="square" lIns="0" tIns="18000" rIns="0" bIns="18000" anchor="ctr" anchorCtr="0">
            <a:spAutoFit/>
          </a:bodyPr>
          <a:lstStyle/>
          <a:p>
            <a:pPr marL="0" indent="0">
              <a:spcBef>
                <a:spcPts val="600"/>
              </a:spcBef>
              <a:buNone/>
            </a:pPr>
            <a:r>
              <a:rPr lang="en-US" sz="2400" noProof="0" dirty="0"/>
              <a:t>In the circuit we just analyzed, all of the sources are delivering power to the circuit.</a:t>
            </a:r>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395681" y="2450150"/>
            <a:ext cx="1036968"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A. </a:t>
            </a:r>
            <a:r>
              <a:rPr lang="en-US" sz="2400" noProof="0" dirty="0"/>
              <a:t>True</a:t>
            </a:r>
          </a:p>
        </p:txBody>
      </p:sp>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395680" y="2945987"/>
            <a:ext cx="1157738"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B. </a:t>
            </a:r>
            <a:r>
              <a:rPr lang="en-US" sz="2400" noProof="0" dirty="0"/>
              <a:t>False</a:t>
            </a:r>
          </a:p>
        </p:txBody>
      </p:sp>
    </p:spTree>
    <p:extLst>
      <p:ext uri="{BB962C8B-B14F-4D97-AF65-F5344CB8AC3E}">
        <p14:creationId xmlns:p14="http://schemas.microsoft.com/office/powerpoint/2010/main" val="30534314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05362"/>
            <a:ext cx="8229600" cy="1144347"/>
          </a:xfrm>
        </p:spPr>
        <p:txBody>
          <a:bodyPr anchor="ctr" anchorCtr="0"/>
          <a:lstStyle/>
          <a:p>
            <a:r>
              <a:rPr lang="en-US" noProof="0" dirty="0"/>
              <a:t>Chapter 4 – techniques of circuit analysis </a:t>
            </a:r>
            <a:r>
              <a:rPr lang="en-US" sz="2800" noProof="0" dirty="0"/>
              <a:t>(9 of 26)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504141"/>
            <a:ext cx="8229600" cy="775015"/>
          </a:xfrm>
        </p:spPr>
        <p:txBody>
          <a:bodyPr wrap="square" lIns="0" tIns="18000" rIns="0" bIns="18000" anchor="ctr" anchorCtr="0">
            <a:spAutoFit/>
          </a:bodyPr>
          <a:lstStyle/>
          <a:p>
            <a:pPr marL="0" indent="0">
              <a:spcBef>
                <a:spcPts val="600"/>
              </a:spcBef>
              <a:buNone/>
            </a:pPr>
            <a:r>
              <a:rPr lang="en-US" sz="2400" noProof="0" dirty="0"/>
              <a:t>In the circuit we just analyzed, all of the sources are delivering power to the circuit.</a:t>
            </a:r>
          </a:p>
        </p:txBody>
      </p:sp>
      <p:pic>
        <p:nvPicPr>
          <p:cNvPr id="76" name="Picture 2" descr="Check mark">
            <a:extLst>
              <a:ext uri="{FF2B5EF4-FFF2-40B4-BE49-F238E27FC236}">
                <a16:creationId xmlns:a16="http://schemas.microsoft.com/office/drawing/2014/main" id="{A1E1C2B3-8651-41F9-8F89-9AE367AC2AF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0455" y="2524483"/>
            <a:ext cx="280501" cy="2462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395681" y="2450150"/>
            <a:ext cx="1036968"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A. </a:t>
            </a:r>
            <a:r>
              <a:rPr lang="en-US" sz="2400" noProof="0" dirty="0"/>
              <a:t>True</a:t>
            </a:r>
          </a:p>
        </p:txBody>
      </p:sp>
      <p:pic>
        <p:nvPicPr>
          <p:cNvPr id="18" name="Picture 4" descr=" cross mark ">
            <a:extLst>
              <a:ext uri="{FF2B5EF4-FFF2-40B4-BE49-F238E27FC236}">
                <a16:creationId xmlns:a16="http://schemas.microsoft.com/office/drawing/2014/main" id="{7EF893A0-CE21-4E0A-B78B-35DF94AD56B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90455" y="3019087"/>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395680" y="2945987"/>
            <a:ext cx="1157738"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B. </a:t>
            </a:r>
            <a:r>
              <a:rPr lang="en-US" sz="2400" noProof="0" dirty="0"/>
              <a:t>False</a:t>
            </a:r>
          </a:p>
        </p:txBody>
      </p:sp>
    </p:spTree>
    <p:extLst>
      <p:ext uri="{BB962C8B-B14F-4D97-AF65-F5344CB8AC3E}">
        <p14:creationId xmlns:p14="http://schemas.microsoft.com/office/powerpoint/2010/main" val="21218508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05362"/>
            <a:ext cx="8229600" cy="1144347"/>
          </a:xfrm>
        </p:spPr>
        <p:txBody>
          <a:bodyPr anchor="ctr" anchorCtr="0"/>
          <a:lstStyle/>
          <a:p>
            <a:r>
              <a:rPr lang="en-US" noProof="0" dirty="0"/>
              <a:t>Chapter 4 – techniques of circuit analysis </a:t>
            </a:r>
            <a:r>
              <a:rPr lang="en-US" sz="2800" noProof="0" dirty="0"/>
              <a:t>(10 of 26)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504141"/>
            <a:ext cx="8229600" cy="775015"/>
          </a:xfrm>
        </p:spPr>
        <p:txBody>
          <a:bodyPr wrap="square" lIns="0" tIns="18000" rIns="0" bIns="18000" anchor="ctr" anchorCtr="0">
            <a:spAutoFit/>
          </a:bodyPr>
          <a:lstStyle/>
          <a:p>
            <a:pPr marL="342900" indent="-342900">
              <a:spcBef>
                <a:spcPts val="600"/>
              </a:spcBef>
            </a:pPr>
            <a:r>
              <a:rPr lang="en-US" sz="2400" noProof="0" dirty="0"/>
              <a:t>Node voltage method with a voltage source alone in a branch:</a:t>
            </a:r>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29525" y="2372516"/>
            <a:ext cx="3021042" cy="405683"/>
          </a:xfrm>
        </p:spPr>
        <p:txBody>
          <a:bodyPr wrap="square" lIns="0" tIns="18000" rIns="0" bIns="18000" anchor="ctr" anchorCtr="0">
            <a:spAutoFit/>
          </a:bodyPr>
          <a:lstStyle/>
          <a:p>
            <a:pPr marL="829818" lvl="1" indent="-342900"/>
            <a:r>
              <a:rPr lang="en-US" sz="2400" noProof="0" dirty="0">
                <a:solidFill>
                  <a:schemeClr val="tx1"/>
                </a:solidFill>
              </a:rPr>
              <a:t>Find the voltage </a:t>
            </a:r>
          </a:p>
        </p:txBody>
      </p:sp>
      <p:graphicFrame>
        <p:nvGraphicFramePr>
          <p:cNvPr id="10" name="Object 9" descr="v subscript o.">
            <a:extLst>
              <a:ext uri="{FF2B5EF4-FFF2-40B4-BE49-F238E27FC236}">
                <a16:creationId xmlns:a16="http://schemas.microsoft.com/office/drawing/2014/main" id="{F57CCCED-D262-4C72-A066-6DC6EC23E2EE}"/>
              </a:ext>
            </a:extLst>
          </p:cNvPr>
          <p:cNvGraphicFramePr>
            <a:graphicFrameLocks noChangeAspect="1"/>
          </p:cNvGraphicFramePr>
          <p:nvPr/>
        </p:nvGraphicFramePr>
        <p:xfrm>
          <a:off x="3548963" y="2393749"/>
          <a:ext cx="391574" cy="414741"/>
        </p:xfrm>
        <a:graphic>
          <a:graphicData uri="http://schemas.openxmlformats.org/presentationml/2006/ole">
            <mc:AlternateContent xmlns:mc="http://schemas.openxmlformats.org/markup-compatibility/2006">
              <mc:Choice xmlns:v="urn:schemas-microsoft-com:vml" Requires="v">
                <p:oleObj name="Equation" r:id="rId3" imgW="215640" imgH="228600" progId="Equation.DSMT4">
                  <p:embed/>
                </p:oleObj>
              </mc:Choice>
              <mc:Fallback>
                <p:oleObj name="Equation" r:id="rId3" imgW="215640" imgH="228600" progId="Equation.DSMT4">
                  <p:embed/>
                  <p:pic>
                    <p:nvPicPr>
                      <p:cNvPr id="10" name="Object 9" descr="v subscript o.">
                        <a:extLst>
                          <a:ext uri="{FF2B5EF4-FFF2-40B4-BE49-F238E27FC236}">
                            <a16:creationId xmlns:a16="http://schemas.microsoft.com/office/drawing/2014/main" id="{F57CCCED-D262-4C72-A066-6DC6EC23E2EE}"/>
                          </a:ext>
                        </a:extLst>
                      </p:cNvPr>
                      <p:cNvPicPr/>
                      <p:nvPr/>
                    </p:nvPicPr>
                    <p:blipFill>
                      <a:blip r:embed="rId4"/>
                      <a:stretch>
                        <a:fillRect/>
                      </a:stretch>
                    </p:blipFill>
                    <p:spPr>
                      <a:xfrm>
                        <a:off x="3548963" y="2393749"/>
                        <a:ext cx="391574" cy="414741"/>
                      </a:xfrm>
                      <a:prstGeom prst="rect">
                        <a:avLst/>
                      </a:prstGeom>
                    </p:spPr>
                  </p:pic>
                </p:oleObj>
              </mc:Fallback>
            </mc:AlternateContent>
          </a:graphicData>
        </a:graphic>
      </p:graphicFrame>
      <p:pic>
        <p:nvPicPr>
          <p:cNvPr id="11" name="Picture 2" descr="A circuit diagram shows a two layered circuit. The lower part has a 10 volt independent voltage source with positive polarity at the top and negative at the bottom as the leftmost wire in the circuit. Current i subscript delta flows from bottom to top in the 10 volt independent voltage source. Connected in parallel to the 10 volt independent voltage source from left to right in that order are a 40-ohm resistor and a current dependent voltage source 20i subscript delta. The current dependent voltage source 20i subscript delta has positive polarity at its lower end and negative at the top. v subscript o is the voltage across the 40-ohm resistor. A 10-ohm resistor is located in the second wire from the top and between the wires housing the 10 volt independent voltage source and the 40-ohm resistor. A 20-ohm resistor is located in the second wire from the top and between the wires housing the 40-ohm resistor and the current dependent voltage source 20i subscript delta.&#10;A 30-ohm resistor forms the upper layer in the circuit. The 30-ohm resistor is located across the nodes where the upper parts of the wires housing the 10 volt independent voltage source and the current dependent voltage source 20i subscript delta connect to the second wire from the top. &#10;">
            <a:extLst>
              <a:ext uri="{FF2B5EF4-FFF2-40B4-BE49-F238E27FC236}">
                <a16:creationId xmlns:a16="http://schemas.microsoft.com/office/drawing/2014/main" id="{7CD25E02-AD01-4E1D-BC2D-8950E3E8521D}"/>
              </a:ext>
            </a:extLst>
          </p:cNvPr>
          <p:cNvPicPr>
            <a:picLocks noChangeAspect="1" noChangeArrowheads="1"/>
          </p:cNvPicPr>
          <p:nvPr/>
        </p:nvPicPr>
        <p:blipFill>
          <a:blip r:embed="rId5"/>
          <a:srcRect/>
          <a:stretch/>
        </p:blipFill>
        <p:spPr bwMode="auto">
          <a:xfrm>
            <a:off x="2438423" y="3162158"/>
            <a:ext cx="4281822" cy="23275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997295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05362"/>
            <a:ext cx="8229600" cy="1144347"/>
          </a:xfrm>
        </p:spPr>
        <p:txBody>
          <a:bodyPr anchor="ctr" anchorCtr="0"/>
          <a:lstStyle/>
          <a:p>
            <a:r>
              <a:rPr lang="en-US" noProof="0" dirty="0"/>
              <a:t>Chapter 4 – techniques of circuit analysis </a:t>
            </a:r>
            <a:r>
              <a:rPr lang="en-US" sz="2800" noProof="0" dirty="0"/>
              <a:t>(11 of 26)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504141"/>
            <a:ext cx="8229600" cy="405683"/>
          </a:xfrm>
        </p:spPr>
        <p:txBody>
          <a:bodyPr wrap="square" lIns="0" tIns="18000" rIns="0" bIns="18000" anchor="ctr" anchorCtr="0">
            <a:spAutoFit/>
          </a:bodyPr>
          <a:lstStyle/>
          <a:p>
            <a:pPr marL="0" indent="0">
              <a:spcBef>
                <a:spcPts val="600"/>
              </a:spcBef>
              <a:buNone/>
            </a:pPr>
            <a:r>
              <a:rPr lang="en-US" sz="2400" noProof="0" dirty="0"/>
              <a:t>How many essential nodes does this circuit contain?</a:t>
            </a:r>
          </a:p>
        </p:txBody>
      </p:sp>
      <p:pic>
        <p:nvPicPr>
          <p:cNvPr id="2" name="Picture 2" descr="A circuit diagram shows a two layered circuit. The lower part has a 10 volt independent voltage source with positive polarity at the top and negative at the bottom as the leftmost wire in the circuit. Current i subscript delta flows from bottom to top in the 10 volt independent voltage source. Connected in parallel to the 10 volt independent voltage source from left to right in that order are a 40-ohm resistor and a current dependent voltage source 20i subscript delta. The current dependent voltage source 20i subscript delta has positive polarity at its lower end and negative at the top. v subscript o is the voltage across the 40-ohm resistor. A 10-ohm resistor is located in the second wire from the top and between the wires housing the 10 volt independent voltage source and the 40-ohm resistor. A 20-ohm resistor is located in the second wire from the top and between the wires housing the 40-ohm resistor and the current dependent voltage source 20i subscript delta.&#10;A 30-ohm resistor forms the upper layer in the circuit. The 30-ohm resistor is located across the nodes where the upper parts of the wires housing the 10 volt independent voltage source and the current dependent voltage source 20i subscript delta connect to the second wire from the top. &#10;">
            <a:extLst>
              <a:ext uri="{FF2B5EF4-FFF2-40B4-BE49-F238E27FC236}">
                <a16:creationId xmlns:a16="http://schemas.microsoft.com/office/drawing/2014/main" id="{3290346A-C881-F594-8EC0-D3B1EDF3340C}"/>
              </a:ext>
            </a:extLst>
          </p:cNvPr>
          <p:cNvPicPr>
            <a:picLocks noChangeAspect="1" noChangeArrowheads="1"/>
          </p:cNvPicPr>
          <p:nvPr/>
        </p:nvPicPr>
        <p:blipFill>
          <a:blip r:embed="rId3"/>
          <a:srcRect/>
          <a:stretch/>
        </p:blipFill>
        <p:spPr bwMode="auto">
          <a:xfrm>
            <a:off x="2431089" y="2104237"/>
            <a:ext cx="4281822" cy="23275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395681" y="4554992"/>
            <a:ext cx="571141"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A. </a:t>
            </a:r>
            <a:r>
              <a:rPr lang="en-US" sz="2400" noProof="0" dirty="0"/>
              <a:t>2</a:t>
            </a:r>
          </a:p>
        </p:txBody>
      </p:sp>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387054" y="5007699"/>
            <a:ext cx="571142"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B. </a:t>
            </a:r>
            <a:r>
              <a:rPr lang="en-US" sz="2400" noProof="0" dirty="0"/>
              <a:t>3</a:t>
            </a:r>
          </a:p>
        </p:txBody>
      </p:sp>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395681" y="5469996"/>
            <a:ext cx="571143"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C. </a:t>
            </a:r>
            <a:r>
              <a:rPr lang="en-US" sz="2400" noProof="0" dirty="0"/>
              <a:t>4</a:t>
            </a:r>
          </a:p>
        </p:txBody>
      </p:sp>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395149" y="5919750"/>
            <a:ext cx="571675"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D. </a:t>
            </a:r>
            <a:r>
              <a:rPr lang="en-US" sz="2400" noProof="0" dirty="0"/>
              <a:t>5</a:t>
            </a:r>
          </a:p>
        </p:txBody>
      </p:sp>
    </p:spTree>
    <p:extLst>
      <p:ext uri="{BB962C8B-B14F-4D97-AF65-F5344CB8AC3E}">
        <p14:creationId xmlns:p14="http://schemas.microsoft.com/office/powerpoint/2010/main" val="34789519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DE0F4-1CBB-0066-5E0B-2AF0D966519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83A5719-387F-39F8-3209-DB0EDF87ECE4}"/>
              </a:ext>
            </a:extLst>
          </p:cNvPr>
          <p:cNvSpPr>
            <a:spLocks noGrp="1"/>
          </p:cNvSpPr>
          <p:nvPr>
            <p:ph type="title"/>
          </p:nvPr>
        </p:nvSpPr>
        <p:spPr>
          <a:xfrm>
            <a:off x="429524" y="205362"/>
            <a:ext cx="8229600" cy="1144347"/>
          </a:xfrm>
        </p:spPr>
        <p:txBody>
          <a:bodyPr anchor="ctr" anchorCtr="0"/>
          <a:lstStyle/>
          <a:p>
            <a:r>
              <a:rPr lang="en-US" noProof="0" dirty="0"/>
              <a:t>Chapter 4 – techniques of circuit analysis </a:t>
            </a:r>
            <a:r>
              <a:rPr lang="en-US" sz="2800" noProof="0" dirty="0"/>
              <a:t>(11 of 26)</a:t>
            </a:r>
            <a:endParaRPr lang="en-US" noProof="0" dirty="0"/>
          </a:p>
        </p:txBody>
      </p:sp>
      <p:sp>
        <p:nvSpPr>
          <p:cNvPr id="7" name="Content Placeholder 6">
            <a:extLst>
              <a:ext uri="{FF2B5EF4-FFF2-40B4-BE49-F238E27FC236}">
                <a16:creationId xmlns:a16="http://schemas.microsoft.com/office/drawing/2014/main" id="{13882529-37A4-8061-8A23-627F9FADCD7B}"/>
              </a:ext>
            </a:extLst>
          </p:cNvPr>
          <p:cNvSpPr>
            <a:spLocks noGrp="1"/>
          </p:cNvSpPr>
          <p:nvPr>
            <p:ph sz="quarter" idx="12"/>
          </p:nvPr>
        </p:nvSpPr>
        <p:spPr>
          <a:xfrm>
            <a:off x="429524" y="1504141"/>
            <a:ext cx="8229600" cy="405683"/>
          </a:xfrm>
        </p:spPr>
        <p:txBody>
          <a:bodyPr wrap="square" lIns="0" tIns="18000" rIns="0" bIns="18000" anchor="ctr" anchorCtr="0">
            <a:spAutoFit/>
          </a:bodyPr>
          <a:lstStyle/>
          <a:p>
            <a:pPr marL="0" indent="0">
              <a:spcBef>
                <a:spcPts val="600"/>
              </a:spcBef>
              <a:buNone/>
            </a:pPr>
            <a:r>
              <a:rPr lang="en-US" sz="2400" noProof="0" dirty="0"/>
              <a:t>How many essential nodes does this circuit contain?</a:t>
            </a:r>
          </a:p>
        </p:txBody>
      </p:sp>
      <p:pic>
        <p:nvPicPr>
          <p:cNvPr id="2" name="Picture 2" descr="A circuit diagram shows a two layered circuit. The lower part has a 10 volt independent voltage source with positive polarity at the top and negative at the bottom as the leftmost wire in the circuit. Current i subscript delta flows from bottom to top in the 10 volt independent voltage source. Connected in parallel to the 10 volt independent voltage source from left to right in that order are a 40-ohm resistor and a current dependent voltage source 20i subscript delta. The current dependent voltage source 20i subscript delta has positive polarity at its lower end and negative at the top. v subscript o is the voltage across the 40-ohm resistor. A 10-ohm resistor is located in the second wire from the top and between the wires housing the 10 volt independent voltage source and the 40-ohm resistor. A 20-ohm resistor is located in the second wire from the top and between the wires housing the 40-ohm resistor and the current dependent voltage source 20i subscript delta.&#10;A 30-ohm resistor forms the upper layer in the circuit. The 30-ohm resistor is located across the nodes where the upper parts of the wires housing the 10 volt independent voltage source and the current dependent voltage source 20i subscript delta connect to the second wire from the top. &#10;">
            <a:extLst>
              <a:ext uri="{FF2B5EF4-FFF2-40B4-BE49-F238E27FC236}">
                <a16:creationId xmlns:a16="http://schemas.microsoft.com/office/drawing/2014/main" id="{D78FE408-1677-6E06-7145-2A9039622446}"/>
              </a:ext>
            </a:extLst>
          </p:cNvPr>
          <p:cNvPicPr>
            <a:picLocks noChangeAspect="1" noChangeArrowheads="1"/>
          </p:cNvPicPr>
          <p:nvPr/>
        </p:nvPicPr>
        <p:blipFill>
          <a:blip r:embed="rId3"/>
          <a:srcRect/>
          <a:stretch/>
        </p:blipFill>
        <p:spPr bwMode="auto">
          <a:xfrm>
            <a:off x="2431089" y="2104237"/>
            <a:ext cx="4281822" cy="23275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5" name="Picture 3" descr="Cross mark">
            <a:extLst>
              <a:ext uri="{FF2B5EF4-FFF2-40B4-BE49-F238E27FC236}">
                <a16:creationId xmlns:a16="http://schemas.microsoft.com/office/drawing/2014/main" id="{0F6B5702-4EDD-7371-5E76-BF07EB91484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42955" y="4626179"/>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Content Placeholder 7">
            <a:extLst>
              <a:ext uri="{FF2B5EF4-FFF2-40B4-BE49-F238E27FC236}">
                <a16:creationId xmlns:a16="http://schemas.microsoft.com/office/drawing/2014/main" id="{7E72EAFE-2541-56F1-E6A1-04F8F55A60E7}"/>
              </a:ext>
            </a:extLst>
          </p:cNvPr>
          <p:cNvSpPr>
            <a:spLocks noGrp="1"/>
          </p:cNvSpPr>
          <p:nvPr>
            <p:ph sz="quarter" idx="13"/>
          </p:nvPr>
        </p:nvSpPr>
        <p:spPr>
          <a:xfrm>
            <a:off x="1395681" y="4554992"/>
            <a:ext cx="571141"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A. </a:t>
            </a:r>
            <a:r>
              <a:rPr lang="en-US" sz="2400" noProof="0" dirty="0"/>
              <a:t>2</a:t>
            </a:r>
          </a:p>
        </p:txBody>
      </p:sp>
      <p:pic>
        <p:nvPicPr>
          <p:cNvPr id="77" name="Picture 4" descr="Cross mark">
            <a:extLst>
              <a:ext uri="{FF2B5EF4-FFF2-40B4-BE49-F238E27FC236}">
                <a16:creationId xmlns:a16="http://schemas.microsoft.com/office/drawing/2014/main" id="{8DCA9C51-1DD6-693B-9054-62F1A2C8E4C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42955" y="5083150"/>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Content Placeholder 8">
            <a:extLst>
              <a:ext uri="{FF2B5EF4-FFF2-40B4-BE49-F238E27FC236}">
                <a16:creationId xmlns:a16="http://schemas.microsoft.com/office/drawing/2014/main" id="{186CED62-0DF0-B485-5AAD-49974368CAC1}"/>
              </a:ext>
            </a:extLst>
          </p:cNvPr>
          <p:cNvSpPr>
            <a:spLocks noGrp="1"/>
          </p:cNvSpPr>
          <p:nvPr>
            <p:ph sz="quarter" idx="14"/>
          </p:nvPr>
        </p:nvSpPr>
        <p:spPr>
          <a:xfrm>
            <a:off x="1387054" y="5007699"/>
            <a:ext cx="571142"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B. </a:t>
            </a:r>
            <a:r>
              <a:rPr lang="en-US" sz="2400" noProof="0" dirty="0"/>
              <a:t>3</a:t>
            </a:r>
          </a:p>
        </p:txBody>
      </p:sp>
      <p:pic>
        <p:nvPicPr>
          <p:cNvPr id="76" name="Picture 2" descr="Check mark">
            <a:extLst>
              <a:ext uri="{FF2B5EF4-FFF2-40B4-BE49-F238E27FC236}">
                <a16:creationId xmlns:a16="http://schemas.microsoft.com/office/drawing/2014/main" id="{416E9CE8-879A-38CF-5D43-11B6EA560C4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64446" y="5585214"/>
            <a:ext cx="280501" cy="2462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Content Placeholder 9">
            <a:extLst>
              <a:ext uri="{FF2B5EF4-FFF2-40B4-BE49-F238E27FC236}">
                <a16:creationId xmlns:a16="http://schemas.microsoft.com/office/drawing/2014/main" id="{598E0FCF-5125-5082-6459-28BCD52D569A}"/>
              </a:ext>
            </a:extLst>
          </p:cNvPr>
          <p:cNvSpPr>
            <a:spLocks noGrp="1"/>
          </p:cNvSpPr>
          <p:nvPr>
            <p:ph sz="quarter" idx="15"/>
          </p:nvPr>
        </p:nvSpPr>
        <p:spPr>
          <a:xfrm>
            <a:off x="1395681" y="5469996"/>
            <a:ext cx="571143"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C. </a:t>
            </a:r>
            <a:r>
              <a:rPr lang="en-US" sz="2400" noProof="0" dirty="0"/>
              <a:t>4</a:t>
            </a:r>
          </a:p>
        </p:txBody>
      </p:sp>
      <p:pic>
        <p:nvPicPr>
          <p:cNvPr id="78" name="Picture 5" descr="Cross mark">
            <a:extLst>
              <a:ext uri="{FF2B5EF4-FFF2-40B4-BE49-F238E27FC236}">
                <a16:creationId xmlns:a16="http://schemas.microsoft.com/office/drawing/2014/main" id="{BC0C1288-755C-D65C-517E-68117A81CD7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65690" y="6007304"/>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Content Placeholder 10">
            <a:extLst>
              <a:ext uri="{FF2B5EF4-FFF2-40B4-BE49-F238E27FC236}">
                <a16:creationId xmlns:a16="http://schemas.microsoft.com/office/drawing/2014/main" id="{7B08ACE5-66D7-81BA-FCF7-6E0B0F5BB444}"/>
              </a:ext>
            </a:extLst>
          </p:cNvPr>
          <p:cNvSpPr>
            <a:spLocks noGrp="1"/>
          </p:cNvSpPr>
          <p:nvPr>
            <p:ph sz="quarter" idx="16"/>
          </p:nvPr>
        </p:nvSpPr>
        <p:spPr>
          <a:xfrm>
            <a:off x="1395149" y="5919750"/>
            <a:ext cx="571675"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D. </a:t>
            </a:r>
            <a:r>
              <a:rPr lang="en-US" sz="2400" noProof="0" dirty="0"/>
              <a:t>5</a:t>
            </a:r>
          </a:p>
        </p:txBody>
      </p:sp>
    </p:spTree>
    <p:extLst>
      <p:ext uri="{BB962C8B-B14F-4D97-AF65-F5344CB8AC3E}">
        <p14:creationId xmlns:p14="http://schemas.microsoft.com/office/powerpoint/2010/main" val="8022860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05362"/>
            <a:ext cx="8229600" cy="1144347"/>
          </a:xfrm>
        </p:spPr>
        <p:txBody>
          <a:bodyPr anchor="ctr" anchorCtr="0"/>
          <a:lstStyle/>
          <a:p>
            <a:r>
              <a:rPr lang="en-US" noProof="0" dirty="0"/>
              <a:t>Chapter 4 – techniques of circuit analysis </a:t>
            </a:r>
            <a:r>
              <a:rPr lang="en-US" sz="2800" noProof="0" dirty="0"/>
              <a:t>(12 of 26)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504141"/>
            <a:ext cx="8229600" cy="775015"/>
          </a:xfrm>
        </p:spPr>
        <p:txBody>
          <a:bodyPr wrap="square" lIns="0" tIns="18000" rIns="0" bIns="18000" anchor="ctr" anchorCtr="0">
            <a:spAutoFit/>
          </a:bodyPr>
          <a:lstStyle/>
          <a:p>
            <a:pPr marL="0" indent="0">
              <a:spcBef>
                <a:spcPts val="600"/>
              </a:spcBef>
              <a:buNone/>
            </a:pPr>
            <a:r>
              <a:rPr lang="en-US" sz="2400" noProof="0" dirty="0"/>
              <a:t>The dependent source constraint equation must define the value of which variable?</a:t>
            </a:r>
          </a:p>
        </p:txBody>
      </p:sp>
      <p:pic>
        <p:nvPicPr>
          <p:cNvPr id="2" name="Picture 2" descr="A circuit diagram shows a two layered circuit. The lower part has a 10 volt independent voltage source with positive polarity at the top and negative at the bottom as the leftmost wire in the circuit. Current i subscript delta flows from bottom to top in the 10 volt independent voltage source. Connected in parallel to the 10 volt independent voltage source from left to right in that order are a 40-ohm resistor and a current dependent voltage source 20i subscript delta. The current dependent voltage source 20i subscript delta has positive polarity at its lower end and negative at the top. v subscript o is the voltage across the 40-ohm resistor. A 10-ohm resistor is located in the second wire from the top and between the wires housing the 10 volt independent voltage source and the 40-ohm resistor. A 20-ohm resistor is located in the second wire from the top and between the wires housing the 40-ohm resistor and the current dependent voltage source 20i subscript delta.&#10;A 30-ohm resistor forms the upper layer in the circuit. The 30-ohm resistor is located across the nodes where the upper parts of the wires housing the 10 volt independent voltage source and the current dependent voltage source 20i subscript delta connect to the second wire from the top. &#10;">
            <a:extLst>
              <a:ext uri="{FF2B5EF4-FFF2-40B4-BE49-F238E27FC236}">
                <a16:creationId xmlns:a16="http://schemas.microsoft.com/office/drawing/2014/main" id="{375D8F3D-7F64-0DA8-E53F-D081D00DA8B6}"/>
              </a:ext>
            </a:extLst>
          </p:cNvPr>
          <p:cNvPicPr>
            <a:picLocks noChangeAspect="1" noChangeArrowheads="1"/>
          </p:cNvPicPr>
          <p:nvPr/>
        </p:nvPicPr>
        <p:blipFill>
          <a:blip r:embed="rId3"/>
          <a:srcRect/>
          <a:stretch/>
        </p:blipFill>
        <p:spPr bwMode="auto">
          <a:xfrm>
            <a:off x="2625496" y="2446403"/>
            <a:ext cx="3915041" cy="21281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395681" y="4554992"/>
            <a:ext cx="355481"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A. </a:t>
            </a:r>
            <a:endParaRPr lang="en-US" sz="2400" noProof="0" dirty="0"/>
          </a:p>
        </p:txBody>
      </p:sp>
      <p:graphicFrame>
        <p:nvGraphicFramePr>
          <p:cNvPr id="16" name="Object 15" descr="i subscript uppercase Delta.">
            <a:extLst>
              <a:ext uri="{FF2B5EF4-FFF2-40B4-BE49-F238E27FC236}">
                <a16:creationId xmlns:a16="http://schemas.microsoft.com/office/drawing/2014/main" id="{90A6A09B-26B7-4FE2-B2E8-B05C883EB622}"/>
              </a:ext>
            </a:extLst>
          </p:cNvPr>
          <p:cNvGraphicFramePr>
            <a:graphicFrameLocks noChangeAspect="1"/>
          </p:cNvGraphicFramePr>
          <p:nvPr>
            <p:extLst>
              <p:ext uri="{D42A27DB-BD31-4B8C-83A1-F6EECF244321}">
                <p14:modId xmlns:p14="http://schemas.microsoft.com/office/powerpoint/2010/main" val="345536377"/>
              </p:ext>
            </p:extLst>
          </p:nvPr>
        </p:nvGraphicFramePr>
        <p:xfrm>
          <a:off x="1819264" y="4574008"/>
          <a:ext cx="227666" cy="371381"/>
        </p:xfrm>
        <a:graphic>
          <a:graphicData uri="http://schemas.openxmlformats.org/presentationml/2006/ole">
            <mc:AlternateContent xmlns:mc="http://schemas.openxmlformats.org/markup-compatibility/2006">
              <mc:Choice xmlns:v="urn:schemas-microsoft-com:vml" Requires="v">
                <p:oleObj name="Equation" r:id="rId4" imgW="139680" imgH="228600" progId="Equation.DSMT4">
                  <p:embed/>
                </p:oleObj>
              </mc:Choice>
              <mc:Fallback>
                <p:oleObj name="Equation" r:id="rId4" imgW="139680" imgH="228600" progId="Equation.DSMT4">
                  <p:embed/>
                  <p:pic>
                    <p:nvPicPr>
                      <p:cNvPr id="15" name="Object 14">
                        <a:extLst>
                          <a:ext uri="{FF2B5EF4-FFF2-40B4-BE49-F238E27FC236}">
                            <a16:creationId xmlns:a16="http://schemas.microsoft.com/office/drawing/2014/main" id="{832E440A-C70D-4F0B-94BE-18B18E515269}"/>
                          </a:ext>
                        </a:extLst>
                      </p:cNvPr>
                      <p:cNvPicPr/>
                      <p:nvPr/>
                    </p:nvPicPr>
                    <p:blipFill>
                      <a:blip r:embed="rId5"/>
                      <a:stretch>
                        <a:fillRect/>
                      </a:stretch>
                    </p:blipFill>
                    <p:spPr>
                      <a:xfrm>
                        <a:off x="1819264" y="4574008"/>
                        <a:ext cx="227666" cy="371381"/>
                      </a:xfrm>
                      <a:prstGeom prst="rect">
                        <a:avLst/>
                      </a:prstGeom>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387054" y="5007699"/>
            <a:ext cx="355481"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B. </a:t>
            </a:r>
            <a:endParaRPr lang="en-US" sz="2400" noProof="0" dirty="0"/>
          </a:p>
        </p:txBody>
      </p:sp>
      <p:graphicFrame>
        <p:nvGraphicFramePr>
          <p:cNvPr id="15" name="Object 14" descr="V subscript o.">
            <a:extLst>
              <a:ext uri="{FF2B5EF4-FFF2-40B4-BE49-F238E27FC236}">
                <a16:creationId xmlns:a16="http://schemas.microsoft.com/office/drawing/2014/main" id="{832E440A-C70D-4F0B-94BE-18B18E515269}"/>
              </a:ext>
            </a:extLst>
          </p:cNvPr>
          <p:cNvGraphicFramePr>
            <a:graphicFrameLocks noChangeAspect="1"/>
          </p:cNvGraphicFramePr>
          <p:nvPr>
            <p:extLst>
              <p:ext uri="{D42A27DB-BD31-4B8C-83A1-F6EECF244321}">
                <p14:modId xmlns:p14="http://schemas.microsoft.com/office/powerpoint/2010/main" val="1310371978"/>
              </p:ext>
            </p:extLst>
          </p:nvPr>
        </p:nvGraphicFramePr>
        <p:xfrm>
          <a:off x="1811357" y="5022486"/>
          <a:ext cx="306622" cy="394227"/>
        </p:xfrm>
        <a:graphic>
          <a:graphicData uri="http://schemas.openxmlformats.org/presentationml/2006/ole">
            <mc:AlternateContent xmlns:mc="http://schemas.openxmlformats.org/markup-compatibility/2006">
              <mc:Choice xmlns:v="urn:schemas-microsoft-com:vml" Requires="v">
                <p:oleObj name="Equation" r:id="rId6" imgW="177480" imgH="228600" progId="Equation.DSMT4">
                  <p:embed/>
                </p:oleObj>
              </mc:Choice>
              <mc:Fallback>
                <p:oleObj name="Equation" r:id="rId6" imgW="177480" imgH="228600" progId="Equation.DSMT4">
                  <p:embed/>
                  <p:pic>
                    <p:nvPicPr>
                      <p:cNvPr id="10" name="Object 9">
                        <a:extLst>
                          <a:ext uri="{FF2B5EF4-FFF2-40B4-BE49-F238E27FC236}">
                            <a16:creationId xmlns:a16="http://schemas.microsoft.com/office/drawing/2014/main" id="{F57CCCED-D262-4C72-A066-6DC6EC23E2EE}"/>
                          </a:ext>
                        </a:extLst>
                      </p:cNvPr>
                      <p:cNvPicPr/>
                      <p:nvPr/>
                    </p:nvPicPr>
                    <p:blipFill>
                      <a:blip r:embed="rId7"/>
                      <a:stretch>
                        <a:fillRect/>
                      </a:stretch>
                    </p:blipFill>
                    <p:spPr>
                      <a:xfrm>
                        <a:off x="1811357" y="5022486"/>
                        <a:ext cx="306622" cy="394227"/>
                      </a:xfrm>
                      <a:prstGeom prst="rect">
                        <a:avLst/>
                      </a:prstGeom>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395681" y="5469996"/>
            <a:ext cx="6894304"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C. </a:t>
            </a:r>
            <a:r>
              <a:rPr lang="en-US" sz="2400" noProof="0" dirty="0"/>
              <a:t>The voltage across the dependent source</a:t>
            </a:r>
          </a:p>
        </p:txBody>
      </p:sp>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395149" y="5954254"/>
            <a:ext cx="3496028"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D. </a:t>
            </a:r>
            <a:r>
              <a:rPr lang="en-US" sz="2400" noProof="0" dirty="0"/>
              <a:t>The reference voltage</a:t>
            </a:r>
          </a:p>
        </p:txBody>
      </p:sp>
    </p:spTree>
    <p:extLst>
      <p:ext uri="{BB962C8B-B14F-4D97-AF65-F5344CB8AC3E}">
        <p14:creationId xmlns:p14="http://schemas.microsoft.com/office/powerpoint/2010/main" val="30156682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3F5F0-B311-A77D-9D2F-1374DB7EFDC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2B30768-B43D-ECE5-1509-5E2D5AAA5956}"/>
              </a:ext>
            </a:extLst>
          </p:cNvPr>
          <p:cNvSpPr>
            <a:spLocks noGrp="1"/>
          </p:cNvSpPr>
          <p:nvPr>
            <p:ph type="title"/>
          </p:nvPr>
        </p:nvSpPr>
        <p:spPr>
          <a:xfrm>
            <a:off x="429524" y="205362"/>
            <a:ext cx="8229600" cy="1144347"/>
          </a:xfrm>
        </p:spPr>
        <p:txBody>
          <a:bodyPr anchor="ctr" anchorCtr="0"/>
          <a:lstStyle/>
          <a:p>
            <a:r>
              <a:rPr lang="en-US" noProof="0" dirty="0"/>
              <a:t>Chapter 4 – techniques of circuit analysis </a:t>
            </a:r>
            <a:r>
              <a:rPr lang="en-US" sz="2800" noProof="0" dirty="0"/>
              <a:t>(12 of 26)</a:t>
            </a:r>
            <a:endParaRPr lang="en-US" noProof="0" dirty="0"/>
          </a:p>
        </p:txBody>
      </p:sp>
      <p:sp>
        <p:nvSpPr>
          <p:cNvPr id="7" name="Content Placeholder 6">
            <a:extLst>
              <a:ext uri="{FF2B5EF4-FFF2-40B4-BE49-F238E27FC236}">
                <a16:creationId xmlns:a16="http://schemas.microsoft.com/office/drawing/2014/main" id="{35A2D650-E622-8B32-2487-1A3E8CE90E2A}"/>
              </a:ext>
            </a:extLst>
          </p:cNvPr>
          <p:cNvSpPr>
            <a:spLocks noGrp="1"/>
          </p:cNvSpPr>
          <p:nvPr>
            <p:ph sz="quarter" idx="12"/>
          </p:nvPr>
        </p:nvSpPr>
        <p:spPr>
          <a:xfrm>
            <a:off x="429524" y="1504141"/>
            <a:ext cx="8229600" cy="775015"/>
          </a:xfrm>
        </p:spPr>
        <p:txBody>
          <a:bodyPr wrap="square" lIns="0" tIns="18000" rIns="0" bIns="18000" anchor="ctr" anchorCtr="0">
            <a:spAutoFit/>
          </a:bodyPr>
          <a:lstStyle/>
          <a:p>
            <a:pPr marL="0" indent="0">
              <a:spcBef>
                <a:spcPts val="600"/>
              </a:spcBef>
              <a:buNone/>
            </a:pPr>
            <a:r>
              <a:rPr lang="en-US" sz="2400" noProof="0" dirty="0"/>
              <a:t>The dependent source constraint equation must define the value of which variable?</a:t>
            </a:r>
          </a:p>
        </p:txBody>
      </p:sp>
      <p:pic>
        <p:nvPicPr>
          <p:cNvPr id="2" name="Picture 2" descr="A circuit diagram shows a two layered circuit. The lower part has a 10 volt independent voltage source with positive polarity at the top and negative at the bottom as the leftmost wire in the circuit. Current i subscript delta flows from bottom to top in the 10 volt independent voltage source. Connected in parallel to the 10 volt independent voltage source from left to right in that order are a 40-ohm resistor and a current dependent voltage source 20i subscript delta. The current dependent voltage source 20i subscript delta has positive polarity at its lower end and negative at the top. v subscript o is the voltage across the 40-ohm resistor. A 10-ohm resistor is located in the second wire from the top and between the wires housing the 10 volt independent voltage source and the 40-ohm resistor. A 20-ohm resistor is located in the second wire from the top and between the wires housing the 40-ohm resistor and the current dependent voltage source 20i subscript delta.&#10;A 30-ohm resistor forms the upper layer in the circuit. The 30-ohm resistor is located across the nodes where the upper parts of the wires housing the 10 volt independent voltage source and the current dependent voltage source 20i subscript delta connect to the second wire from the top. &#10;">
            <a:extLst>
              <a:ext uri="{FF2B5EF4-FFF2-40B4-BE49-F238E27FC236}">
                <a16:creationId xmlns:a16="http://schemas.microsoft.com/office/drawing/2014/main" id="{02A7F946-09FB-8EDF-18F1-E1386A0D3A25}"/>
              </a:ext>
            </a:extLst>
          </p:cNvPr>
          <p:cNvPicPr>
            <a:picLocks noChangeAspect="1" noChangeArrowheads="1"/>
          </p:cNvPicPr>
          <p:nvPr/>
        </p:nvPicPr>
        <p:blipFill>
          <a:blip r:embed="rId3"/>
          <a:srcRect/>
          <a:stretch/>
        </p:blipFill>
        <p:spPr bwMode="auto">
          <a:xfrm>
            <a:off x="2625496" y="2446403"/>
            <a:ext cx="3915041" cy="21281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6" name="Picture 2" descr="Check mark">
            <a:extLst>
              <a:ext uri="{FF2B5EF4-FFF2-40B4-BE49-F238E27FC236}">
                <a16:creationId xmlns:a16="http://schemas.microsoft.com/office/drawing/2014/main" id="{9836344A-D5C7-48D8-AD87-349A3389B97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76543" y="4647462"/>
            <a:ext cx="280501" cy="2462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Content Placeholder 7">
            <a:extLst>
              <a:ext uri="{FF2B5EF4-FFF2-40B4-BE49-F238E27FC236}">
                <a16:creationId xmlns:a16="http://schemas.microsoft.com/office/drawing/2014/main" id="{76E2245A-7F0C-5BCE-0B90-ED1A915A4D64}"/>
              </a:ext>
            </a:extLst>
          </p:cNvPr>
          <p:cNvSpPr>
            <a:spLocks noGrp="1"/>
          </p:cNvSpPr>
          <p:nvPr>
            <p:ph sz="quarter" idx="13"/>
          </p:nvPr>
        </p:nvSpPr>
        <p:spPr>
          <a:xfrm>
            <a:off x="1395681" y="4554992"/>
            <a:ext cx="355481"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A. </a:t>
            </a:r>
            <a:endParaRPr lang="en-US" sz="2400" noProof="0" dirty="0"/>
          </a:p>
        </p:txBody>
      </p:sp>
      <p:graphicFrame>
        <p:nvGraphicFramePr>
          <p:cNvPr id="16" name="Object 15" descr="i subscript uppercase Delta.">
            <a:extLst>
              <a:ext uri="{FF2B5EF4-FFF2-40B4-BE49-F238E27FC236}">
                <a16:creationId xmlns:a16="http://schemas.microsoft.com/office/drawing/2014/main" id="{75F71C5A-F29B-32AC-1EB7-EF2503BC9A72}"/>
              </a:ext>
            </a:extLst>
          </p:cNvPr>
          <p:cNvGraphicFramePr>
            <a:graphicFrameLocks noChangeAspect="1"/>
          </p:cNvGraphicFramePr>
          <p:nvPr/>
        </p:nvGraphicFramePr>
        <p:xfrm>
          <a:off x="1819264" y="4574008"/>
          <a:ext cx="227666" cy="371381"/>
        </p:xfrm>
        <a:graphic>
          <a:graphicData uri="http://schemas.openxmlformats.org/presentationml/2006/ole">
            <mc:AlternateContent xmlns:mc="http://schemas.openxmlformats.org/markup-compatibility/2006">
              <mc:Choice xmlns:v="urn:schemas-microsoft-com:vml" Requires="v">
                <p:oleObj name="Equation" r:id="rId5" imgW="139680" imgH="228600" progId="Equation.DSMT4">
                  <p:embed/>
                </p:oleObj>
              </mc:Choice>
              <mc:Fallback>
                <p:oleObj name="Equation" r:id="rId5" imgW="139680" imgH="228600" progId="Equation.DSMT4">
                  <p:embed/>
                  <p:pic>
                    <p:nvPicPr>
                      <p:cNvPr id="16" name="Object 15" descr="i subscript uppercase Delta.">
                        <a:extLst>
                          <a:ext uri="{FF2B5EF4-FFF2-40B4-BE49-F238E27FC236}">
                            <a16:creationId xmlns:a16="http://schemas.microsoft.com/office/drawing/2014/main" id="{90A6A09B-26B7-4FE2-B2E8-B05C883EB622}"/>
                          </a:ext>
                        </a:extLst>
                      </p:cNvPr>
                      <p:cNvPicPr/>
                      <p:nvPr/>
                    </p:nvPicPr>
                    <p:blipFill>
                      <a:blip r:embed="rId6"/>
                      <a:stretch>
                        <a:fillRect/>
                      </a:stretch>
                    </p:blipFill>
                    <p:spPr>
                      <a:xfrm>
                        <a:off x="1819264" y="4574008"/>
                        <a:ext cx="227666" cy="371381"/>
                      </a:xfrm>
                      <a:prstGeom prst="rect">
                        <a:avLst/>
                      </a:prstGeom>
                    </p:spPr>
                  </p:pic>
                </p:oleObj>
              </mc:Fallback>
            </mc:AlternateContent>
          </a:graphicData>
        </a:graphic>
      </p:graphicFrame>
      <p:pic>
        <p:nvPicPr>
          <p:cNvPr id="75" name="Picture 3" descr="Cross mark">
            <a:extLst>
              <a:ext uri="{FF2B5EF4-FFF2-40B4-BE49-F238E27FC236}">
                <a16:creationId xmlns:a16="http://schemas.microsoft.com/office/drawing/2014/main" id="{639862F6-E45E-D3F6-B985-8B4F1292B8CA}"/>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74572" y="5102080"/>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Content Placeholder 8">
            <a:extLst>
              <a:ext uri="{FF2B5EF4-FFF2-40B4-BE49-F238E27FC236}">
                <a16:creationId xmlns:a16="http://schemas.microsoft.com/office/drawing/2014/main" id="{99EB631A-ABB2-09D9-7C61-B1423A621BB3}"/>
              </a:ext>
            </a:extLst>
          </p:cNvPr>
          <p:cNvSpPr>
            <a:spLocks noGrp="1"/>
          </p:cNvSpPr>
          <p:nvPr>
            <p:ph sz="quarter" idx="14"/>
          </p:nvPr>
        </p:nvSpPr>
        <p:spPr>
          <a:xfrm>
            <a:off x="1387054" y="5007699"/>
            <a:ext cx="355481"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B. </a:t>
            </a:r>
            <a:endParaRPr lang="en-US" sz="2400" noProof="0" dirty="0"/>
          </a:p>
        </p:txBody>
      </p:sp>
      <p:graphicFrame>
        <p:nvGraphicFramePr>
          <p:cNvPr id="15" name="Object 14" descr="V subscript o.">
            <a:extLst>
              <a:ext uri="{FF2B5EF4-FFF2-40B4-BE49-F238E27FC236}">
                <a16:creationId xmlns:a16="http://schemas.microsoft.com/office/drawing/2014/main" id="{3142016F-7D83-A8F3-ADAD-D4E1F92835F7}"/>
              </a:ext>
            </a:extLst>
          </p:cNvPr>
          <p:cNvGraphicFramePr>
            <a:graphicFrameLocks noChangeAspect="1"/>
          </p:cNvGraphicFramePr>
          <p:nvPr/>
        </p:nvGraphicFramePr>
        <p:xfrm>
          <a:off x="1811357" y="5022486"/>
          <a:ext cx="306622" cy="394227"/>
        </p:xfrm>
        <a:graphic>
          <a:graphicData uri="http://schemas.openxmlformats.org/presentationml/2006/ole">
            <mc:AlternateContent xmlns:mc="http://schemas.openxmlformats.org/markup-compatibility/2006">
              <mc:Choice xmlns:v="urn:schemas-microsoft-com:vml" Requires="v">
                <p:oleObj name="Equation" r:id="rId8" imgW="177480" imgH="228600" progId="Equation.DSMT4">
                  <p:embed/>
                </p:oleObj>
              </mc:Choice>
              <mc:Fallback>
                <p:oleObj name="Equation" r:id="rId8" imgW="177480" imgH="228600" progId="Equation.DSMT4">
                  <p:embed/>
                  <p:pic>
                    <p:nvPicPr>
                      <p:cNvPr id="15" name="Object 14" descr="V subscript o.">
                        <a:extLst>
                          <a:ext uri="{FF2B5EF4-FFF2-40B4-BE49-F238E27FC236}">
                            <a16:creationId xmlns:a16="http://schemas.microsoft.com/office/drawing/2014/main" id="{832E440A-C70D-4F0B-94BE-18B18E515269}"/>
                          </a:ext>
                        </a:extLst>
                      </p:cNvPr>
                      <p:cNvPicPr/>
                      <p:nvPr/>
                    </p:nvPicPr>
                    <p:blipFill>
                      <a:blip r:embed="rId9"/>
                      <a:stretch>
                        <a:fillRect/>
                      </a:stretch>
                    </p:blipFill>
                    <p:spPr>
                      <a:xfrm>
                        <a:off x="1811357" y="5022486"/>
                        <a:ext cx="306622" cy="394227"/>
                      </a:xfrm>
                      <a:prstGeom prst="rect">
                        <a:avLst/>
                      </a:prstGeom>
                    </p:spPr>
                  </p:pic>
                </p:oleObj>
              </mc:Fallback>
            </mc:AlternateContent>
          </a:graphicData>
        </a:graphic>
      </p:graphicFrame>
      <p:pic>
        <p:nvPicPr>
          <p:cNvPr id="77" name="Picture 4" descr="Cross mark">
            <a:extLst>
              <a:ext uri="{FF2B5EF4-FFF2-40B4-BE49-F238E27FC236}">
                <a16:creationId xmlns:a16="http://schemas.microsoft.com/office/drawing/2014/main" id="{8B544ECC-B3FD-794A-4BEA-A3C2643E38AB}"/>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74572" y="5546096"/>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Content Placeholder 9">
            <a:extLst>
              <a:ext uri="{FF2B5EF4-FFF2-40B4-BE49-F238E27FC236}">
                <a16:creationId xmlns:a16="http://schemas.microsoft.com/office/drawing/2014/main" id="{57135079-9DC8-3006-0D15-9362EBB333D9}"/>
              </a:ext>
            </a:extLst>
          </p:cNvPr>
          <p:cNvSpPr>
            <a:spLocks noGrp="1"/>
          </p:cNvSpPr>
          <p:nvPr>
            <p:ph sz="quarter" idx="15"/>
          </p:nvPr>
        </p:nvSpPr>
        <p:spPr>
          <a:xfrm>
            <a:off x="1395681" y="5469996"/>
            <a:ext cx="6894304"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C. </a:t>
            </a:r>
            <a:r>
              <a:rPr lang="en-US" sz="2400" noProof="0" dirty="0"/>
              <a:t>The voltage across the dependent source</a:t>
            </a:r>
          </a:p>
        </p:txBody>
      </p:sp>
      <p:pic>
        <p:nvPicPr>
          <p:cNvPr id="78" name="Picture 5" descr="Cross mark">
            <a:extLst>
              <a:ext uri="{FF2B5EF4-FFF2-40B4-BE49-F238E27FC236}">
                <a16:creationId xmlns:a16="http://schemas.microsoft.com/office/drawing/2014/main" id="{5DC59F58-73FC-80EC-5B3A-2A3F03028E08}"/>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65690" y="6041808"/>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Content Placeholder 10">
            <a:extLst>
              <a:ext uri="{FF2B5EF4-FFF2-40B4-BE49-F238E27FC236}">
                <a16:creationId xmlns:a16="http://schemas.microsoft.com/office/drawing/2014/main" id="{482A4FF2-B205-BF3A-424B-DD26D1B2B95C}"/>
              </a:ext>
            </a:extLst>
          </p:cNvPr>
          <p:cNvSpPr>
            <a:spLocks noGrp="1"/>
          </p:cNvSpPr>
          <p:nvPr>
            <p:ph sz="quarter" idx="16"/>
          </p:nvPr>
        </p:nvSpPr>
        <p:spPr>
          <a:xfrm>
            <a:off x="1395149" y="5954254"/>
            <a:ext cx="3496028"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D. </a:t>
            </a:r>
            <a:r>
              <a:rPr lang="en-US" sz="2400" noProof="0" dirty="0"/>
              <a:t>The reference voltage</a:t>
            </a:r>
          </a:p>
        </p:txBody>
      </p:sp>
    </p:spTree>
    <p:extLst>
      <p:ext uri="{BB962C8B-B14F-4D97-AF65-F5344CB8AC3E}">
        <p14:creationId xmlns:p14="http://schemas.microsoft.com/office/powerpoint/2010/main" val="1603219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05362"/>
            <a:ext cx="8229600" cy="1144347"/>
          </a:xfrm>
        </p:spPr>
        <p:txBody>
          <a:bodyPr anchor="ctr" anchorCtr="0"/>
          <a:lstStyle/>
          <a:p>
            <a:r>
              <a:rPr lang="en-US" noProof="0" dirty="0"/>
              <a:t>Chapter 4 – techniques of circuit analysis </a:t>
            </a:r>
            <a:r>
              <a:rPr lang="en-US" sz="2800" noProof="0" dirty="0"/>
              <a:t>(13 of 26)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495176"/>
            <a:ext cx="8229600" cy="1144347"/>
          </a:xfrm>
        </p:spPr>
        <p:txBody>
          <a:bodyPr wrap="square" lIns="0" tIns="18000" rIns="0" bIns="18000" anchor="ctr" anchorCtr="0">
            <a:spAutoFit/>
          </a:bodyPr>
          <a:lstStyle/>
          <a:p>
            <a:pPr marL="0" indent="0">
              <a:spcBef>
                <a:spcPts val="600"/>
              </a:spcBef>
              <a:buNone/>
            </a:pPr>
            <a:r>
              <a:rPr lang="en-US" sz="2400" noProof="0" dirty="0"/>
              <a:t>If the essential node at the bottom of the circuit is the reference node, what is the voltage at the middle left node with respect to the reference node?</a:t>
            </a:r>
          </a:p>
        </p:txBody>
      </p:sp>
      <p:pic>
        <p:nvPicPr>
          <p:cNvPr id="2" name="Picture 2" descr="A circuit diagram shows a two layered circuit. The lower part has a 10 volt independent voltage source with positive polarity at the top and negative at the bottom as the leftmost wire in the circuit. Current i subscript delta flows from bottom to top in the 10 volt independent voltage source. Connected in parallel to the 10 volt independent voltage source from left to right in that order are a 40-ohm resistor and a current dependent voltage source 20i subscript delta. The current dependent voltage source 20i subscript delta has positive polarity at its lower end and negative at the top. v subscript o is the voltage across the 40-ohm resistor. A 10-ohm resistor is located in the second wire from the top and between the wires housing the 10 volt independent voltage source and the 40-ohm resistor. A 20-ohm resistor is located in the second wire from the top and between the wires housing the 40-ohm resistor and the current dependent voltage source 20i subscript delta.&#10;A 30-ohm resistor forms the upper layer in the circuit. The 30-ohm resistor is located across the nodes where the upper parts of the wires housing the 10 volt independent voltage source and the current dependent voltage source 20i subscript delta connect to the second wire from the top. &#10;">
            <a:extLst>
              <a:ext uri="{FF2B5EF4-FFF2-40B4-BE49-F238E27FC236}">
                <a16:creationId xmlns:a16="http://schemas.microsoft.com/office/drawing/2014/main" id="{909FF92B-305F-A645-E639-82AFF0C83835}"/>
              </a:ext>
            </a:extLst>
          </p:cNvPr>
          <p:cNvPicPr>
            <a:picLocks noChangeAspect="1" noChangeArrowheads="1"/>
          </p:cNvPicPr>
          <p:nvPr/>
        </p:nvPicPr>
        <p:blipFill>
          <a:blip r:embed="rId3"/>
          <a:srcRect/>
          <a:stretch/>
        </p:blipFill>
        <p:spPr bwMode="auto">
          <a:xfrm>
            <a:off x="2967724" y="2786299"/>
            <a:ext cx="3208552" cy="1744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395681" y="4554992"/>
            <a:ext cx="355481"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A. </a:t>
            </a:r>
            <a:endParaRPr lang="en-US" sz="2400" noProof="0" dirty="0"/>
          </a:p>
        </p:txBody>
      </p:sp>
      <p:graphicFrame>
        <p:nvGraphicFramePr>
          <p:cNvPr id="16" name="Object 15" descr="20 i subscript uppercase Delta BaseLine.">
            <a:extLst>
              <a:ext uri="{FF2B5EF4-FFF2-40B4-BE49-F238E27FC236}">
                <a16:creationId xmlns:a16="http://schemas.microsoft.com/office/drawing/2014/main" id="{90A6A09B-26B7-4FE2-B2E8-B05C883EB622}"/>
              </a:ext>
            </a:extLst>
          </p:cNvPr>
          <p:cNvGraphicFramePr>
            <a:graphicFrameLocks noChangeAspect="1"/>
          </p:cNvGraphicFramePr>
          <p:nvPr>
            <p:extLst>
              <p:ext uri="{D42A27DB-BD31-4B8C-83A1-F6EECF244321}">
                <p14:modId xmlns:p14="http://schemas.microsoft.com/office/powerpoint/2010/main" val="2140134425"/>
              </p:ext>
            </p:extLst>
          </p:nvPr>
        </p:nvGraphicFramePr>
        <p:xfrm>
          <a:off x="1795582" y="4573588"/>
          <a:ext cx="515937" cy="371475"/>
        </p:xfrm>
        <a:graphic>
          <a:graphicData uri="http://schemas.openxmlformats.org/presentationml/2006/ole">
            <mc:AlternateContent xmlns:mc="http://schemas.openxmlformats.org/markup-compatibility/2006">
              <mc:Choice xmlns:v="urn:schemas-microsoft-com:vml" Requires="v">
                <p:oleObj name="Equation" r:id="rId4" imgW="317160" imgH="228600" progId="Equation.DSMT4">
                  <p:embed/>
                </p:oleObj>
              </mc:Choice>
              <mc:Fallback>
                <p:oleObj name="Equation" r:id="rId4" imgW="317160" imgH="228600" progId="Equation.DSMT4">
                  <p:embed/>
                  <p:pic>
                    <p:nvPicPr>
                      <p:cNvPr id="16" name="Object 15">
                        <a:extLst>
                          <a:ext uri="{FF2B5EF4-FFF2-40B4-BE49-F238E27FC236}">
                            <a16:creationId xmlns:a16="http://schemas.microsoft.com/office/drawing/2014/main" id="{90A6A09B-26B7-4FE2-B2E8-B05C883EB622}"/>
                          </a:ext>
                        </a:extLst>
                      </p:cNvPr>
                      <p:cNvPicPr/>
                      <p:nvPr/>
                    </p:nvPicPr>
                    <p:blipFill>
                      <a:blip r:embed="rId5"/>
                      <a:stretch>
                        <a:fillRect/>
                      </a:stretch>
                    </p:blipFill>
                    <p:spPr>
                      <a:xfrm>
                        <a:off x="1795582" y="4573588"/>
                        <a:ext cx="515937" cy="371475"/>
                      </a:xfrm>
                      <a:prstGeom prst="rect">
                        <a:avLst/>
                      </a:prstGeom>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387054" y="5007699"/>
            <a:ext cx="355481"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B. </a:t>
            </a:r>
            <a:endParaRPr lang="en-US" sz="2400" noProof="0" dirty="0"/>
          </a:p>
        </p:txBody>
      </p:sp>
      <p:graphicFrame>
        <p:nvGraphicFramePr>
          <p:cNvPr id="15" name="Object 14" descr="V subscript o.">
            <a:extLst>
              <a:ext uri="{FF2B5EF4-FFF2-40B4-BE49-F238E27FC236}">
                <a16:creationId xmlns:a16="http://schemas.microsoft.com/office/drawing/2014/main" id="{832E440A-C70D-4F0B-94BE-18B18E515269}"/>
              </a:ext>
            </a:extLst>
          </p:cNvPr>
          <p:cNvGraphicFramePr>
            <a:graphicFrameLocks noChangeAspect="1"/>
          </p:cNvGraphicFramePr>
          <p:nvPr>
            <p:extLst>
              <p:ext uri="{D42A27DB-BD31-4B8C-83A1-F6EECF244321}">
                <p14:modId xmlns:p14="http://schemas.microsoft.com/office/powerpoint/2010/main" val="4154181837"/>
              </p:ext>
            </p:extLst>
          </p:nvPr>
        </p:nvGraphicFramePr>
        <p:xfrm>
          <a:off x="1811357" y="5022486"/>
          <a:ext cx="306622" cy="394227"/>
        </p:xfrm>
        <a:graphic>
          <a:graphicData uri="http://schemas.openxmlformats.org/presentationml/2006/ole">
            <mc:AlternateContent xmlns:mc="http://schemas.openxmlformats.org/markup-compatibility/2006">
              <mc:Choice xmlns:v="urn:schemas-microsoft-com:vml" Requires="v">
                <p:oleObj name="Equation" r:id="rId6" imgW="177480" imgH="228600" progId="Equation.DSMT4">
                  <p:embed/>
                </p:oleObj>
              </mc:Choice>
              <mc:Fallback>
                <p:oleObj name="Equation" r:id="rId6" imgW="177480" imgH="228600" progId="Equation.DSMT4">
                  <p:embed/>
                  <p:pic>
                    <p:nvPicPr>
                      <p:cNvPr id="15" name="Object 14">
                        <a:extLst>
                          <a:ext uri="{FF2B5EF4-FFF2-40B4-BE49-F238E27FC236}">
                            <a16:creationId xmlns:a16="http://schemas.microsoft.com/office/drawing/2014/main" id="{832E440A-C70D-4F0B-94BE-18B18E515269}"/>
                          </a:ext>
                        </a:extLst>
                      </p:cNvPr>
                      <p:cNvPicPr/>
                      <p:nvPr/>
                    </p:nvPicPr>
                    <p:blipFill>
                      <a:blip r:embed="rId7"/>
                      <a:stretch>
                        <a:fillRect/>
                      </a:stretch>
                    </p:blipFill>
                    <p:spPr>
                      <a:xfrm>
                        <a:off x="1811357" y="5022486"/>
                        <a:ext cx="306622" cy="394227"/>
                      </a:xfrm>
                      <a:prstGeom prst="rect">
                        <a:avLst/>
                      </a:prstGeom>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395681" y="5469996"/>
            <a:ext cx="1097353"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C. </a:t>
            </a:r>
            <a:r>
              <a:rPr lang="en-US" sz="2400" noProof="0" dirty="0"/>
              <a:t>10 V</a:t>
            </a:r>
          </a:p>
        </p:txBody>
      </p:sp>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395149" y="5954254"/>
            <a:ext cx="2199698"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D. </a:t>
            </a:r>
            <a:r>
              <a:rPr lang="en-US" sz="2400" dirty="0"/>
              <a:t>It is unknown</a:t>
            </a:r>
          </a:p>
        </p:txBody>
      </p:sp>
    </p:spTree>
    <p:extLst>
      <p:ext uri="{BB962C8B-B14F-4D97-AF65-F5344CB8AC3E}">
        <p14:creationId xmlns:p14="http://schemas.microsoft.com/office/powerpoint/2010/main" val="28596305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DC38C-55BC-9A4E-7CB9-16A974DF567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AAC616A-ADD6-A8A7-ED48-F5DEE49B10D2}"/>
              </a:ext>
            </a:extLst>
          </p:cNvPr>
          <p:cNvSpPr>
            <a:spLocks noGrp="1"/>
          </p:cNvSpPr>
          <p:nvPr>
            <p:ph type="title"/>
          </p:nvPr>
        </p:nvSpPr>
        <p:spPr>
          <a:xfrm>
            <a:off x="429524" y="205362"/>
            <a:ext cx="8229600" cy="1144347"/>
          </a:xfrm>
        </p:spPr>
        <p:txBody>
          <a:bodyPr anchor="ctr" anchorCtr="0"/>
          <a:lstStyle/>
          <a:p>
            <a:r>
              <a:rPr lang="en-US" noProof="0" dirty="0"/>
              <a:t>Chapter 4 – techniques of circuit analysis </a:t>
            </a:r>
            <a:r>
              <a:rPr lang="en-US" sz="2800" noProof="0" dirty="0"/>
              <a:t>(13 of 26)</a:t>
            </a:r>
            <a:endParaRPr lang="en-US" noProof="0" dirty="0"/>
          </a:p>
        </p:txBody>
      </p:sp>
      <p:sp>
        <p:nvSpPr>
          <p:cNvPr id="7" name="Content Placeholder 6">
            <a:extLst>
              <a:ext uri="{FF2B5EF4-FFF2-40B4-BE49-F238E27FC236}">
                <a16:creationId xmlns:a16="http://schemas.microsoft.com/office/drawing/2014/main" id="{CBB6673E-DAE6-CD8B-8C9B-B6098CA577CD}"/>
              </a:ext>
            </a:extLst>
          </p:cNvPr>
          <p:cNvSpPr>
            <a:spLocks noGrp="1"/>
          </p:cNvSpPr>
          <p:nvPr>
            <p:ph sz="quarter" idx="12"/>
          </p:nvPr>
        </p:nvSpPr>
        <p:spPr>
          <a:xfrm>
            <a:off x="429524" y="1495176"/>
            <a:ext cx="8229600" cy="1144347"/>
          </a:xfrm>
        </p:spPr>
        <p:txBody>
          <a:bodyPr wrap="square" lIns="0" tIns="18000" rIns="0" bIns="18000" anchor="ctr" anchorCtr="0">
            <a:spAutoFit/>
          </a:bodyPr>
          <a:lstStyle/>
          <a:p>
            <a:pPr marL="0" indent="0">
              <a:spcBef>
                <a:spcPts val="600"/>
              </a:spcBef>
              <a:buNone/>
            </a:pPr>
            <a:r>
              <a:rPr lang="en-US" sz="2400" noProof="0" dirty="0"/>
              <a:t>If the essential node at the bottom of the circuit is the reference node, what is the voltage at the middle left node with respect to the reference node?</a:t>
            </a:r>
          </a:p>
        </p:txBody>
      </p:sp>
      <p:pic>
        <p:nvPicPr>
          <p:cNvPr id="2" name="Picture 2" descr="A circuit diagram shows a two layered circuit. The lower part has a 10 volt independent voltage source with positive polarity at the top and negative at the bottom as the leftmost wire in the circuit. Current i subscript delta flows from bottom to top in the 10 volt independent voltage source. Connected in parallel to the 10 volt independent voltage source from left to right in that order are a 40-ohm resistor and a current dependent voltage source 20i subscript delta. The current dependent voltage source 20i subscript delta has positive polarity at its lower end and negative at the top. v subscript o is the voltage across the 40-ohm resistor. A 10-ohm resistor is located in the second wire from the top and between the wires housing the 10 volt independent voltage source and the 40-ohm resistor. A 20-ohm resistor is located in the second wire from the top and between the wires housing the 40-ohm resistor and the current dependent voltage source 20i subscript delta.&#10;A 30-ohm resistor forms the upper layer in the circuit. The 30-ohm resistor is located across the nodes where the upper parts of the wires housing the 10 volt independent voltage source and the current dependent voltage source 20i subscript delta connect to the second wire from the top. &#10;">
            <a:extLst>
              <a:ext uri="{FF2B5EF4-FFF2-40B4-BE49-F238E27FC236}">
                <a16:creationId xmlns:a16="http://schemas.microsoft.com/office/drawing/2014/main" id="{D36BF282-2F09-7AB1-4670-0CD71AA476F5}"/>
              </a:ext>
            </a:extLst>
          </p:cNvPr>
          <p:cNvPicPr>
            <a:picLocks noChangeAspect="1" noChangeArrowheads="1"/>
          </p:cNvPicPr>
          <p:nvPr/>
        </p:nvPicPr>
        <p:blipFill>
          <a:blip r:embed="rId3"/>
          <a:srcRect/>
          <a:stretch/>
        </p:blipFill>
        <p:spPr bwMode="auto">
          <a:xfrm>
            <a:off x="2967724" y="2786299"/>
            <a:ext cx="3208552" cy="1744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5" name="Picture 3" descr="Cross mark">
            <a:extLst>
              <a:ext uri="{FF2B5EF4-FFF2-40B4-BE49-F238E27FC236}">
                <a16:creationId xmlns:a16="http://schemas.microsoft.com/office/drawing/2014/main" id="{A8E686A5-2699-1780-BBA5-0D171157DD8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74572" y="4618801"/>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Content Placeholder 7">
            <a:extLst>
              <a:ext uri="{FF2B5EF4-FFF2-40B4-BE49-F238E27FC236}">
                <a16:creationId xmlns:a16="http://schemas.microsoft.com/office/drawing/2014/main" id="{9F6173D4-2FA4-377C-182F-56C37533B3BD}"/>
              </a:ext>
            </a:extLst>
          </p:cNvPr>
          <p:cNvSpPr>
            <a:spLocks noGrp="1"/>
          </p:cNvSpPr>
          <p:nvPr>
            <p:ph sz="quarter" idx="13"/>
          </p:nvPr>
        </p:nvSpPr>
        <p:spPr>
          <a:xfrm>
            <a:off x="1395681" y="4554992"/>
            <a:ext cx="355481"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A. </a:t>
            </a:r>
            <a:endParaRPr lang="en-US" sz="2400" noProof="0" dirty="0"/>
          </a:p>
        </p:txBody>
      </p:sp>
      <p:graphicFrame>
        <p:nvGraphicFramePr>
          <p:cNvPr id="16" name="Object 15" descr="20 i subscript uppercase Delta BaseLine.">
            <a:extLst>
              <a:ext uri="{FF2B5EF4-FFF2-40B4-BE49-F238E27FC236}">
                <a16:creationId xmlns:a16="http://schemas.microsoft.com/office/drawing/2014/main" id="{E7A4F561-7D11-17E0-187C-512A476A95C1}"/>
              </a:ext>
            </a:extLst>
          </p:cNvPr>
          <p:cNvGraphicFramePr>
            <a:graphicFrameLocks noChangeAspect="1"/>
          </p:cNvGraphicFramePr>
          <p:nvPr/>
        </p:nvGraphicFramePr>
        <p:xfrm>
          <a:off x="1795582" y="4573588"/>
          <a:ext cx="515937" cy="371475"/>
        </p:xfrm>
        <a:graphic>
          <a:graphicData uri="http://schemas.openxmlformats.org/presentationml/2006/ole">
            <mc:AlternateContent xmlns:mc="http://schemas.openxmlformats.org/markup-compatibility/2006">
              <mc:Choice xmlns:v="urn:schemas-microsoft-com:vml" Requires="v">
                <p:oleObj name="Equation" r:id="rId5" imgW="317160" imgH="228600" progId="Equation.DSMT4">
                  <p:embed/>
                </p:oleObj>
              </mc:Choice>
              <mc:Fallback>
                <p:oleObj name="Equation" r:id="rId5" imgW="317160" imgH="228600" progId="Equation.DSMT4">
                  <p:embed/>
                  <p:pic>
                    <p:nvPicPr>
                      <p:cNvPr id="16" name="Object 15" descr="20 i subscript uppercase Delta BaseLine.">
                        <a:extLst>
                          <a:ext uri="{FF2B5EF4-FFF2-40B4-BE49-F238E27FC236}">
                            <a16:creationId xmlns:a16="http://schemas.microsoft.com/office/drawing/2014/main" id="{90A6A09B-26B7-4FE2-B2E8-B05C883EB622}"/>
                          </a:ext>
                        </a:extLst>
                      </p:cNvPr>
                      <p:cNvPicPr/>
                      <p:nvPr/>
                    </p:nvPicPr>
                    <p:blipFill>
                      <a:blip r:embed="rId6"/>
                      <a:stretch>
                        <a:fillRect/>
                      </a:stretch>
                    </p:blipFill>
                    <p:spPr>
                      <a:xfrm>
                        <a:off x="1795582" y="4573588"/>
                        <a:ext cx="515937" cy="371475"/>
                      </a:xfrm>
                      <a:prstGeom prst="rect">
                        <a:avLst/>
                      </a:prstGeom>
                    </p:spPr>
                  </p:pic>
                </p:oleObj>
              </mc:Fallback>
            </mc:AlternateContent>
          </a:graphicData>
        </a:graphic>
      </p:graphicFrame>
      <p:pic>
        <p:nvPicPr>
          <p:cNvPr id="77" name="Picture 4" descr="Cross mark">
            <a:extLst>
              <a:ext uri="{FF2B5EF4-FFF2-40B4-BE49-F238E27FC236}">
                <a16:creationId xmlns:a16="http://schemas.microsoft.com/office/drawing/2014/main" id="{0AB85EB5-D0B0-BBCC-B8AA-FF6F33BF567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74572" y="5090175"/>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Content Placeholder 8">
            <a:extLst>
              <a:ext uri="{FF2B5EF4-FFF2-40B4-BE49-F238E27FC236}">
                <a16:creationId xmlns:a16="http://schemas.microsoft.com/office/drawing/2014/main" id="{19FC6B36-A24A-6A0B-BDA2-241C93668147}"/>
              </a:ext>
            </a:extLst>
          </p:cNvPr>
          <p:cNvSpPr>
            <a:spLocks noGrp="1"/>
          </p:cNvSpPr>
          <p:nvPr>
            <p:ph sz="quarter" idx="14"/>
          </p:nvPr>
        </p:nvSpPr>
        <p:spPr>
          <a:xfrm>
            <a:off x="1387054" y="5007699"/>
            <a:ext cx="355481"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B. </a:t>
            </a:r>
            <a:endParaRPr lang="en-US" sz="2400" noProof="0" dirty="0"/>
          </a:p>
        </p:txBody>
      </p:sp>
      <p:graphicFrame>
        <p:nvGraphicFramePr>
          <p:cNvPr id="15" name="Object 14" descr="V subscript o.">
            <a:extLst>
              <a:ext uri="{FF2B5EF4-FFF2-40B4-BE49-F238E27FC236}">
                <a16:creationId xmlns:a16="http://schemas.microsoft.com/office/drawing/2014/main" id="{48D55E0A-B80A-2C14-2E39-49A84794A03F}"/>
              </a:ext>
            </a:extLst>
          </p:cNvPr>
          <p:cNvGraphicFramePr>
            <a:graphicFrameLocks noChangeAspect="1"/>
          </p:cNvGraphicFramePr>
          <p:nvPr/>
        </p:nvGraphicFramePr>
        <p:xfrm>
          <a:off x="1811357" y="5022486"/>
          <a:ext cx="306622" cy="394227"/>
        </p:xfrm>
        <a:graphic>
          <a:graphicData uri="http://schemas.openxmlformats.org/presentationml/2006/ole">
            <mc:AlternateContent xmlns:mc="http://schemas.openxmlformats.org/markup-compatibility/2006">
              <mc:Choice xmlns:v="urn:schemas-microsoft-com:vml" Requires="v">
                <p:oleObj name="Equation" r:id="rId7" imgW="177480" imgH="228600" progId="Equation.DSMT4">
                  <p:embed/>
                </p:oleObj>
              </mc:Choice>
              <mc:Fallback>
                <p:oleObj name="Equation" r:id="rId7" imgW="177480" imgH="228600" progId="Equation.DSMT4">
                  <p:embed/>
                  <p:pic>
                    <p:nvPicPr>
                      <p:cNvPr id="15" name="Object 14" descr="V subscript o.">
                        <a:extLst>
                          <a:ext uri="{FF2B5EF4-FFF2-40B4-BE49-F238E27FC236}">
                            <a16:creationId xmlns:a16="http://schemas.microsoft.com/office/drawing/2014/main" id="{832E440A-C70D-4F0B-94BE-18B18E515269}"/>
                          </a:ext>
                        </a:extLst>
                      </p:cNvPr>
                      <p:cNvPicPr/>
                      <p:nvPr/>
                    </p:nvPicPr>
                    <p:blipFill>
                      <a:blip r:embed="rId8"/>
                      <a:stretch>
                        <a:fillRect/>
                      </a:stretch>
                    </p:blipFill>
                    <p:spPr>
                      <a:xfrm>
                        <a:off x="1811357" y="5022486"/>
                        <a:ext cx="306622" cy="394227"/>
                      </a:xfrm>
                      <a:prstGeom prst="rect">
                        <a:avLst/>
                      </a:prstGeom>
                    </p:spPr>
                  </p:pic>
                </p:oleObj>
              </mc:Fallback>
            </mc:AlternateContent>
          </a:graphicData>
        </a:graphic>
      </p:graphicFrame>
      <p:pic>
        <p:nvPicPr>
          <p:cNvPr id="76" name="Picture 2" descr="Check mark">
            <a:extLst>
              <a:ext uri="{FF2B5EF4-FFF2-40B4-BE49-F238E27FC236}">
                <a16:creationId xmlns:a16="http://schemas.microsoft.com/office/drawing/2014/main" id="{65576066-AD51-AEB1-37FE-2147177AB9EF}"/>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965690" y="5561808"/>
            <a:ext cx="280501" cy="2462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Content Placeholder 9">
            <a:extLst>
              <a:ext uri="{FF2B5EF4-FFF2-40B4-BE49-F238E27FC236}">
                <a16:creationId xmlns:a16="http://schemas.microsoft.com/office/drawing/2014/main" id="{206E776A-3416-5E55-2CC3-111AD8E90668}"/>
              </a:ext>
            </a:extLst>
          </p:cNvPr>
          <p:cNvSpPr>
            <a:spLocks noGrp="1"/>
          </p:cNvSpPr>
          <p:nvPr>
            <p:ph sz="quarter" idx="15"/>
          </p:nvPr>
        </p:nvSpPr>
        <p:spPr>
          <a:xfrm>
            <a:off x="1395681" y="5469996"/>
            <a:ext cx="1097353"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C. </a:t>
            </a:r>
            <a:r>
              <a:rPr lang="en-US" sz="2400" noProof="0" dirty="0"/>
              <a:t>10 V</a:t>
            </a:r>
          </a:p>
        </p:txBody>
      </p:sp>
      <p:pic>
        <p:nvPicPr>
          <p:cNvPr id="78" name="Picture 5" descr="Cross mark">
            <a:extLst>
              <a:ext uri="{FF2B5EF4-FFF2-40B4-BE49-F238E27FC236}">
                <a16:creationId xmlns:a16="http://schemas.microsoft.com/office/drawing/2014/main" id="{B20A5258-EB3B-70A8-DEDC-9F7596DBBD6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65690" y="6041808"/>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Content Placeholder 10">
            <a:extLst>
              <a:ext uri="{FF2B5EF4-FFF2-40B4-BE49-F238E27FC236}">
                <a16:creationId xmlns:a16="http://schemas.microsoft.com/office/drawing/2014/main" id="{9D3E9CD1-0284-0ACC-6AA6-5F3D45972878}"/>
              </a:ext>
            </a:extLst>
          </p:cNvPr>
          <p:cNvSpPr>
            <a:spLocks noGrp="1"/>
          </p:cNvSpPr>
          <p:nvPr>
            <p:ph sz="quarter" idx="16"/>
          </p:nvPr>
        </p:nvSpPr>
        <p:spPr>
          <a:xfrm>
            <a:off x="1395149" y="5954254"/>
            <a:ext cx="2199698"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D. </a:t>
            </a:r>
            <a:r>
              <a:rPr lang="en-US" sz="2400" dirty="0"/>
              <a:t>It is unknown</a:t>
            </a:r>
          </a:p>
        </p:txBody>
      </p:sp>
    </p:spTree>
    <p:extLst>
      <p:ext uri="{BB962C8B-B14F-4D97-AF65-F5344CB8AC3E}">
        <p14:creationId xmlns:p14="http://schemas.microsoft.com/office/powerpoint/2010/main" val="4435000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05362"/>
            <a:ext cx="8229600" cy="1144347"/>
          </a:xfrm>
        </p:spPr>
        <p:txBody>
          <a:bodyPr anchor="ctr" anchorCtr="0"/>
          <a:lstStyle/>
          <a:p>
            <a:r>
              <a:rPr lang="en-US" noProof="0" dirty="0"/>
              <a:t>Chapter 4 – techniques of circuit analysis </a:t>
            </a:r>
            <a:r>
              <a:rPr lang="en-US" sz="2800" noProof="0" dirty="0"/>
              <a:t>(14 of 26)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495176"/>
            <a:ext cx="8229600" cy="1144347"/>
          </a:xfrm>
        </p:spPr>
        <p:txBody>
          <a:bodyPr wrap="square" lIns="0" tIns="18000" rIns="0" bIns="18000" anchor="ctr" anchorCtr="0">
            <a:spAutoFit/>
          </a:bodyPr>
          <a:lstStyle/>
          <a:p>
            <a:pPr marL="0" indent="0">
              <a:spcBef>
                <a:spcPts val="600"/>
              </a:spcBef>
              <a:buNone/>
            </a:pPr>
            <a:r>
              <a:rPr lang="en-US" sz="2400" noProof="0" dirty="0"/>
              <a:t>If the essential node at the bottom of the circuit is the reference node, what is the voltage at the middle right node with respect to the reference node?</a:t>
            </a:r>
          </a:p>
        </p:txBody>
      </p:sp>
      <p:pic>
        <p:nvPicPr>
          <p:cNvPr id="2" name="Picture 2" descr="A circuit diagram shows a two layered circuit. The lower part has a 10 volt independent voltage source with positive polarity at the top and negative at the bottom as the leftmost wire in the circuit. Current i subscript delta flows from bottom to top in the 10 volt independent voltage source. Connected in parallel to the 10 volt independent voltage source from left to right in that order are a 40-ohm resistor and a current dependent voltage source 20i subscript delta. The current dependent voltage source 20i subscript delta has positive polarity at its lower end and negative at the top. v subscript o is the voltage across the 40-ohm resistor. A 10-ohm resistor is located in the second wire from the top and between the wires housing the 10 volt independent voltage source and the 40-ohm resistor. A 20-ohm resistor is located in the second wire from the top and between the wires housing the 40-ohm resistor and the current dependent voltage source 20i subscript delta.&#10;A 30-ohm resistor forms the upper layer in the circuit. The 30-ohm resistor is located across the nodes where the upper parts of the wires housing the 10 volt independent voltage source and the current dependent voltage source 20i subscript delta connect to the second wire from the top. &#10;">
            <a:extLst>
              <a:ext uri="{FF2B5EF4-FFF2-40B4-BE49-F238E27FC236}">
                <a16:creationId xmlns:a16="http://schemas.microsoft.com/office/drawing/2014/main" id="{81E4D5F7-52CC-445D-8C2E-BF0F995F885C}"/>
              </a:ext>
            </a:extLst>
          </p:cNvPr>
          <p:cNvPicPr>
            <a:picLocks noChangeAspect="1" noChangeArrowheads="1"/>
          </p:cNvPicPr>
          <p:nvPr/>
        </p:nvPicPr>
        <p:blipFill>
          <a:blip r:embed="rId3"/>
          <a:srcRect/>
          <a:stretch/>
        </p:blipFill>
        <p:spPr bwMode="auto">
          <a:xfrm>
            <a:off x="2974584" y="2750419"/>
            <a:ext cx="3208552" cy="1744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395681" y="4554992"/>
            <a:ext cx="355481"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A. </a:t>
            </a:r>
            <a:endParaRPr lang="en-US" sz="2400" noProof="0" dirty="0"/>
          </a:p>
        </p:txBody>
      </p:sp>
      <p:graphicFrame>
        <p:nvGraphicFramePr>
          <p:cNvPr id="16" name="Object 15" descr="20 i subscript uppercase Delta BaseLine.">
            <a:extLst>
              <a:ext uri="{FF2B5EF4-FFF2-40B4-BE49-F238E27FC236}">
                <a16:creationId xmlns:a16="http://schemas.microsoft.com/office/drawing/2014/main" id="{90A6A09B-26B7-4FE2-B2E8-B05C883EB622}"/>
              </a:ext>
            </a:extLst>
          </p:cNvPr>
          <p:cNvGraphicFramePr>
            <a:graphicFrameLocks noChangeAspect="1"/>
          </p:cNvGraphicFramePr>
          <p:nvPr>
            <p:extLst>
              <p:ext uri="{D42A27DB-BD31-4B8C-83A1-F6EECF244321}">
                <p14:modId xmlns:p14="http://schemas.microsoft.com/office/powerpoint/2010/main" val="3403025294"/>
              </p:ext>
            </p:extLst>
          </p:nvPr>
        </p:nvGraphicFramePr>
        <p:xfrm>
          <a:off x="1795582" y="4573588"/>
          <a:ext cx="515937" cy="371475"/>
        </p:xfrm>
        <a:graphic>
          <a:graphicData uri="http://schemas.openxmlformats.org/presentationml/2006/ole">
            <mc:AlternateContent xmlns:mc="http://schemas.openxmlformats.org/markup-compatibility/2006">
              <mc:Choice xmlns:v="urn:schemas-microsoft-com:vml" Requires="v">
                <p:oleObj name="Equation" r:id="rId4" imgW="317160" imgH="228600" progId="Equation.DSMT4">
                  <p:embed/>
                </p:oleObj>
              </mc:Choice>
              <mc:Fallback>
                <p:oleObj name="Equation" r:id="rId4" imgW="317160" imgH="228600" progId="Equation.DSMT4">
                  <p:embed/>
                  <p:pic>
                    <p:nvPicPr>
                      <p:cNvPr id="16" name="Object 15">
                        <a:extLst>
                          <a:ext uri="{FF2B5EF4-FFF2-40B4-BE49-F238E27FC236}">
                            <a16:creationId xmlns:a16="http://schemas.microsoft.com/office/drawing/2014/main" id="{90A6A09B-26B7-4FE2-B2E8-B05C883EB622}"/>
                          </a:ext>
                        </a:extLst>
                      </p:cNvPr>
                      <p:cNvPicPr/>
                      <p:nvPr/>
                    </p:nvPicPr>
                    <p:blipFill>
                      <a:blip r:embed="rId5"/>
                      <a:stretch>
                        <a:fillRect/>
                      </a:stretch>
                    </p:blipFill>
                    <p:spPr>
                      <a:xfrm>
                        <a:off x="1795582" y="4573588"/>
                        <a:ext cx="515937" cy="371475"/>
                      </a:xfrm>
                      <a:prstGeom prst="rect">
                        <a:avLst/>
                      </a:prstGeom>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387054" y="5007699"/>
            <a:ext cx="355481"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B. </a:t>
            </a:r>
            <a:endParaRPr lang="en-US" sz="2400" noProof="0" dirty="0"/>
          </a:p>
        </p:txBody>
      </p:sp>
      <p:graphicFrame>
        <p:nvGraphicFramePr>
          <p:cNvPr id="15" name="Object 14" descr="V subscript o.">
            <a:extLst>
              <a:ext uri="{FF2B5EF4-FFF2-40B4-BE49-F238E27FC236}">
                <a16:creationId xmlns:a16="http://schemas.microsoft.com/office/drawing/2014/main" id="{832E440A-C70D-4F0B-94BE-18B18E515269}"/>
              </a:ext>
            </a:extLst>
          </p:cNvPr>
          <p:cNvGraphicFramePr>
            <a:graphicFrameLocks noChangeAspect="1"/>
          </p:cNvGraphicFramePr>
          <p:nvPr>
            <p:extLst>
              <p:ext uri="{D42A27DB-BD31-4B8C-83A1-F6EECF244321}">
                <p14:modId xmlns:p14="http://schemas.microsoft.com/office/powerpoint/2010/main" val="3851300975"/>
              </p:ext>
            </p:extLst>
          </p:nvPr>
        </p:nvGraphicFramePr>
        <p:xfrm>
          <a:off x="1811357" y="5022486"/>
          <a:ext cx="306622" cy="394227"/>
        </p:xfrm>
        <a:graphic>
          <a:graphicData uri="http://schemas.openxmlformats.org/presentationml/2006/ole">
            <mc:AlternateContent xmlns:mc="http://schemas.openxmlformats.org/markup-compatibility/2006">
              <mc:Choice xmlns:v="urn:schemas-microsoft-com:vml" Requires="v">
                <p:oleObj name="Equation" r:id="rId6" imgW="177480" imgH="228600" progId="Equation.DSMT4">
                  <p:embed/>
                </p:oleObj>
              </mc:Choice>
              <mc:Fallback>
                <p:oleObj name="Equation" r:id="rId6" imgW="177480" imgH="228600" progId="Equation.DSMT4">
                  <p:embed/>
                  <p:pic>
                    <p:nvPicPr>
                      <p:cNvPr id="15" name="Object 14">
                        <a:extLst>
                          <a:ext uri="{FF2B5EF4-FFF2-40B4-BE49-F238E27FC236}">
                            <a16:creationId xmlns:a16="http://schemas.microsoft.com/office/drawing/2014/main" id="{832E440A-C70D-4F0B-94BE-18B18E515269}"/>
                          </a:ext>
                        </a:extLst>
                      </p:cNvPr>
                      <p:cNvPicPr/>
                      <p:nvPr/>
                    </p:nvPicPr>
                    <p:blipFill>
                      <a:blip r:embed="rId7"/>
                      <a:stretch>
                        <a:fillRect/>
                      </a:stretch>
                    </p:blipFill>
                    <p:spPr>
                      <a:xfrm>
                        <a:off x="1811357" y="5022486"/>
                        <a:ext cx="306622" cy="394227"/>
                      </a:xfrm>
                      <a:prstGeom prst="rect">
                        <a:avLst/>
                      </a:prstGeom>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395681" y="5469996"/>
            <a:ext cx="1097353"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C. </a:t>
            </a:r>
            <a:r>
              <a:rPr lang="en-US" sz="2400" noProof="0" dirty="0"/>
              <a:t>10 V</a:t>
            </a:r>
          </a:p>
        </p:txBody>
      </p:sp>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395149" y="5954254"/>
            <a:ext cx="356013"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D. </a:t>
            </a:r>
            <a:endParaRPr lang="en-US" sz="2400" noProof="0" dirty="0"/>
          </a:p>
        </p:txBody>
      </p:sp>
      <p:graphicFrame>
        <p:nvGraphicFramePr>
          <p:cNvPr id="19" name="Object 18" descr="Negative 20 i subscript uppercase Delta BaseLine.">
            <a:extLst>
              <a:ext uri="{FF2B5EF4-FFF2-40B4-BE49-F238E27FC236}">
                <a16:creationId xmlns:a16="http://schemas.microsoft.com/office/drawing/2014/main" id="{80D7CEA3-6DCD-4236-9DAE-98614653DB5A}"/>
              </a:ext>
            </a:extLst>
          </p:cNvPr>
          <p:cNvGraphicFramePr>
            <a:graphicFrameLocks noChangeAspect="1"/>
          </p:cNvGraphicFramePr>
          <p:nvPr>
            <p:extLst>
              <p:ext uri="{D42A27DB-BD31-4B8C-83A1-F6EECF244321}">
                <p14:modId xmlns:p14="http://schemas.microsoft.com/office/powerpoint/2010/main" val="1773230407"/>
              </p:ext>
            </p:extLst>
          </p:nvPr>
        </p:nvGraphicFramePr>
        <p:xfrm>
          <a:off x="1793035" y="5990116"/>
          <a:ext cx="660400" cy="371475"/>
        </p:xfrm>
        <a:graphic>
          <a:graphicData uri="http://schemas.openxmlformats.org/presentationml/2006/ole">
            <mc:AlternateContent xmlns:mc="http://schemas.openxmlformats.org/markup-compatibility/2006">
              <mc:Choice xmlns:v="urn:schemas-microsoft-com:vml" Requires="v">
                <p:oleObj name="Equation" r:id="rId8" imgW="406080" imgH="228600" progId="Equation.DSMT4">
                  <p:embed/>
                </p:oleObj>
              </mc:Choice>
              <mc:Fallback>
                <p:oleObj name="Equation" r:id="rId8" imgW="406080" imgH="228600" progId="Equation.DSMT4">
                  <p:embed/>
                  <p:pic>
                    <p:nvPicPr>
                      <p:cNvPr id="16" name="Object 15">
                        <a:extLst>
                          <a:ext uri="{FF2B5EF4-FFF2-40B4-BE49-F238E27FC236}">
                            <a16:creationId xmlns:a16="http://schemas.microsoft.com/office/drawing/2014/main" id="{90A6A09B-26B7-4FE2-B2E8-B05C883EB622}"/>
                          </a:ext>
                        </a:extLst>
                      </p:cNvPr>
                      <p:cNvPicPr/>
                      <p:nvPr/>
                    </p:nvPicPr>
                    <p:blipFill>
                      <a:blip r:embed="rId9"/>
                      <a:stretch>
                        <a:fillRect/>
                      </a:stretch>
                    </p:blipFill>
                    <p:spPr>
                      <a:xfrm>
                        <a:off x="1793035" y="5990116"/>
                        <a:ext cx="660400" cy="371475"/>
                      </a:xfrm>
                      <a:prstGeom prst="rect">
                        <a:avLst/>
                      </a:prstGeom>
                    </p:spPr>
                  </p:pic>
                </p:oleObj>
              </mc:Fallback>
            </mc:AlternateContent>
          </a:graphicData>
        </a:graphic>
      </p:graphicFrame>
    </p:spTree>
    <p:extLst>
      <p:ext uri="{BB962C8B-B14F-4D97-AF65-F5344CB8AC3E}">
        <p14:creationId xmlns:p14="http://schemas.microsoft.com/office/powerpoint/2010/main" val="32456905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54FCC-D747-C44B-0AD4-113A4ADDBC5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6249237-CBF0-AE3F-2C67-F24D1996156C}"/>
              </a:ext>
            </a:extLst>
          </p:cNvPr>
          <p:cNvSpPr>
            <a:spLocks noGrp="1"/>
          </p:cNvSpPr>
          <p:nvPr>
            <p:ph type="title"/>
          </p:nvPr>
        </p:nvSpPr>
        <p:spPr>
          <a:xfrm>
            <a:off x="429524" y="205362"/>
            <a:ext cx="8229600" cy="1144347"/>
          </a:xfrm>
        </p:spPr>
        <p:txBody>
          <a:bodyPr anchor="ctr" anchorCtr="0"/>
          <a:lstStyle/>
          <a:p>
            <a:r>
              <a:rPr lang="en-US" noProof="0" dirty="0"/>
              <a:t>Chapter 4 – techniques of circuit analysis </a:t>
            </a:r>
            <a:r>
              <a:rPr lang="en-US" sz="2800" noProof="0" dirty="0"/>
              <a:t>(14 of 26)</a:t>
            </a:r>
            <a:endParaRPr lang="en-US" noProof="0" dirty="0"/>
          </a:p>
        </p:txBody>
      </p:sp>
      <p:sp>
        <p:nvSpPr>
          <p:cNvPr id="7" name="Content Placeholder 6">
            <a:extLst>
              <a:ext uri="{FF2B5EF4-FFF2-40B4-BE49-F238E27FC236}">
                <a16:creationId xmlns:a16="http://schemas.microsoft.com/office/drawing/2014/main" id="{D5FEA852-8157-196D-499C-24B2AC1D7EB4}"/>
              </a:ext>
            </a:extLst>
          </p:cNvPr>
          <p:cNvSpPr>
            <a:spLocks noGrp="1"/>
          </p:cNvSpPr>
          <p:nvPr>
            <p:ph sz="quarter" idx="12"/>
          </p:nvPr>
        </p:nvSpPr>
        <p:spPr>
          <a:xfrm>
            <a:off x="429524" y="1495176"/>
            <a:ext cx="8229600" cy="1144347"/>
          </a:xfrm>
        </p:spPr>
        <p:txBody>
          <a:bodyPr wrap="square" lIns="0" tIns="18000" rIns="0" bIns="18000" anchor="ctr" anchorCtr="0">
            <a:spAutoFit/>
          </a:bodyPr>
          <a:lstStyle/>
          <a:p>
            <a:pPr marL="0" indent="0">
              <a:spcBef>
                <a:spcPts val="600"/>
              </a:spcBef>
              <a:buNone/>
            </a:pPr>
            <a:r>
              <a:rPr lang="en-US" sz="2400" noProof="0" dirty="0"/>
              <a:t>If the essential node at the bottom of the circuit is the reference node, what is the voltage at the middle right node with respect to the reference node?</a:t>
            </a:r>
          </a:p>
        </p:txBody>
      </p:sp>
      <p:pic>
        <p:nvPicPr>
          <p:cNvPr id="2" name="Picture 2" descr="A circuit diagram shows a two layered circuit. The lower part has a 10 volt independent voltage source with positive polarity at the top and negative at the bottom as the leftmost wire in the circuit. Current i subscript delta flows from bottom to top in the 10 volt independent voltage source. Connected in parallel to the 10 volt independent voltage source from left to right in that order are a 40-ohm resistor and a current dependent voltage source 20i subscript delta. The current dependent voltage source 20i subscript delta has positive polarity at its lower end and negative at the top. v subscript o is the voltage across the 40-ohm resistor. A 10-ohm resistor is located in the second wire from the top and between the wires housing the 10 volt independent voltage source and the 40-ohm resistor. A 20-ohm resistor is located in the second wire from the top and between the wires housing the 40-ohm resistor and the current dependent voltage source 20i subscript delta.&#10;A 30-ohm resistor forms the upper layer in the circuit. The 30-ohm resistor is located across the nodes where the upper parts of the wires housing the 10 volt independent voltage source and the current dependent voltage source 20i subscript delta connect to the second wire from the top. &#10;">
            <a:extLst>
              <a:ext uri="{FF2B5EF4-FFF2-40B4-BE49-F238E27FC236}">
                <a16:creationId xmlns:a16="http://schemas.microsoft.com/office/drawing/2014/main" id="{C4A7C9BE-5EB7-E709-3336-9A2488DA6677}"/>
              </a:ext>
            </a:extLst>
          </p:cNvPr>
          <p:cNvPicPr>
            <a:picLocks noChangeAspect="1" noChangeArrowheads="1"/>
          </p:cNvPicPr>
          <p:nvPr/>
        </p:nvPicPr>
        <p:blipFill>
          <a:blip r:embed="rId3"/>
          <a:srcRect/>
          <a:stretch/>
        </p:blipFill>
        <p:spPr bwMode="auto">
          <a:xfrm>
            <a:off x="2974584" y="2750419"/>
            <a:ext cx="3208552" cy="1744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5" name="Picture 3" descr="Cross mark">
            <a:extLst>
              <a:ext uri="{FF2B5EF4-FFF2-40B4-BE49-F238E27FC236}">
                <a16:creationId xmlns:a16="http://schemas.microsoft.com/office/drawing/2014/main" id="{210C8C95-3AFA-BA1B-AAB0-29F537B1175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74572" y="4618801"/>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Content Placeholder 7">
            <a:extLst>
              <a:ext uri="{FF2B5EF4-FFF2-40B4-BE49-F238E27FC236}">
                <a16:creationId xmlns:a16="http://schemas.microsoft.com/office/drawing/2014/main" id="{EADD2D23-8235-C4CC-6841-D0779E8EE46E}"/>
              </a:ext>
            </a:extLst>
          </p:cNvPr>
          <p:cNvSpPr>
            <a:spLocks noGrp="1"/>
          </p:cNvSpPr>
          <p:nvPr>
            <p:ph sz="quarter" idx="13"/>
          </p:nvPr>
        </p:nvSpPr>
        <p:spPr>
          <a:xfrm>
            <a:off x="1395681" y="4554992"/>
            <a:ext cx="355481"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A. </a:t>
            </a:r>
            <a:endParaRPr lang="en-US" sz="2400" noProof="0" dirty="0"/>
          </a:p>
        </p:txBody>
      </p:sp>
      <p:graphicFrame>
        <p:nvGraphicFramePr>
          <p:cNvPr id="16" name="Object 15" descr="20 i subscript uppercase Delta BaseLine.">
            <a:extLst>
              <a:ext uri="{FF2B5EF4-FFF2-40B4-BE49-F238E27FC236}">
                <a16:creationId xmlns:a16="http://schemas.microsoft.com/office/drawing/2014/main" id="{6265DDFC-9B73-C390-F3A1-6E8618548898}"/>
              </a:ext>
            </a:extLst>
          </p:cNvPr>
          <p:cNvGraphicFramePr>
            <a:graphicFrameLocks noChangeAspect="1"/>
          </p:cNvGraphicFramePr>
          <p:nvPr/>
        </p:nvGraphicFramePr>
        <p:xfrm>
          <a:off x="1795582" y="4573588"/>
          <a:ext cx="515937" cy="371475"/>
        </p:xfrm>
        <a:graphic>
          <a:graphicData uri="http://schemas.openxmlformats.org/presentationml/2006/ole">
            <mc:AlternateContent xmlns:mc="http://schemas.openxmlformats.org/markup-compatibility/2006">
              <mc:Choice xmlns:v="urn:schemas-microsoft-com:vml" Requires="v">
                <p:oleObj name="Equation" r:id="rId5" imgW="317160" imgH="228600" progId="Equation.DSMT4">
                  <p:embed/>
                </p:oleObj>
              </mc:Choice>
              <mc:Fallback>
                <p:oleObj name="Equation" r:id="rId5" imgW="317160" imgH="228600" progId="Equation.DSMT4">
                  <p:embed/>
                  <p:pic>
                    <p:nvPicPr>
                      <p:cNvPr id="16" name="Object 15" descr="20 i subscript uppercase Delta BaseLine.">
                        <a:extLst>
                          <a:ext uri="{FF2B5EF4-FFF2-40B4-BE49-F238E27FC236}">
                            <a16:creationId xmlns:a16="http://schemas.microsoft.com/office/drawing/2014/main" id="{90A6A09B-26B7-4FE2-B2E8-B05C883EB622}"/>
                          </a:ext>
                        </a:extLst>
                      </p:cNvPr>
                      <p:cNvPicPr/>
                      <p:nvPr/>
                    </p:nvPicPr>
                    <p:blipFill>
                      <a:blip r:embed="rId6"/>
                      <a:stretch>
                        <a:fillRect/>
                      </a:stretch>
                    </p:blipFill>
                    <p:spPr>
                      <a:xfrm>
                        <a:off x="1795582" y="4573588"/>
                        <a:ext cx="515937" cy="371475"/>
                      </a:xfrm>
                      <a:prstGeom prst="rect">
                        <a:avLst/>
                      </a:prstGeom>
                    </p:spPr>
                  </p:pic>
                </p:oleObj>
              </mc:Fallback>
            </mc:AlternateContent>
          </a:graphicData>
        </a:graphic>
      </p:graphicFrame>
      <p:pic>
        <p:nvPicPr>
          <p:cNvPr id="77" name="Picture 4" descr="Cross mark">
            <a:extLst>
              <a:ext uri="{FF2B5EF4-FFF2-40B4-BE49-F238E27FC236}">
                <a16:creationId xmlns:a16="http://schemas.microsoft.com/office/drawing/2014/main" id="{C5CE7F2A-98C3-ACB6-F1D4-BB99AB83C29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74572" y="5090175"/>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Content Placeholder 8">
            <a:extLst>
              <a:ext uri="{FF2B5EF4-FFF2-40B4-BE49-F238E27FC236}">
                <a16:creationId xmlns:a16="http://schemas.microsoft.com/office/drawing/2014/main" id="{2A68C571-42FC-D97B-34E5-67A327A1D4C3}"/>
              </a:ext>
            </a:extLst>
          </p:cNvPr>
          <p:cNvSpPr>
            <a:spLocks noGrp="1"/>
          </p:cNvSpPr>
          <p:nvPr>
            <p:ph sz="quarter" idx="14"/>
          </p:nvPr>
        </p:nvSpPr>
        <p:spPr>
          <a:xfrm>
            <a:off x="1387054" y="5007699"/>
            <a:ext cx="355481"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B. </a:t>
            </a:r>
            <a:endParaRPr lang="en-US" sz="2400" noProof="0" dirty="0"/>
          </a:p>
        </p:txBody>
      </p:sp>
      <p:graphicFrame>
        <p:nvGraphicFramePr>
          <p:cNvPr id="15" name="Object 14" descr="V subscript o.">
            <a:extLst>
              <a:ext uri="{FF2B5EF4-FFF2-40B4-BE49-F238E27FC236}">
                <a16:creationId xmlns:a16="http://schemas.microsoft.com/office/drawing/2014/main" id="{9CBB7AE5-365E-F7BD-064F-8E4E00EF5122}"/>
              </a:ext>
            </a:extLst>
          </p:cNvPr>
          <p:cNvGraphicFramePr>
            <a:graphicFrameLocks noChangeAspect="1"/>
          </p:cNvGraphicFramePr>
          <p:nvPr/>
        </p:nvGraphicFramePr>
        <p:xfrm>
          <a:off x="1811357" y="5022486"/>
          <a:ext cx="306622" cy="394227"/>
        </p:xfrm>
        <a:graphic>
          <a:graphicData uri="http://schemas.openxmlformats.org/presentationml/2006/ole">
            <mc:AlternateContent xmlns:mc="http://schemas.openxmlformats.org/markup-compatibility/2006">
              <mc:Choice xmlns:v="urn:schemas-microsoft-com:vml" Requires="v">
                <p:oleObj name="Equation" r:id="rId7" imgW="177480" imgH="228600" progId="Equation.DSMT4">
                  <p:embed/>
                </p:oleObj>
              </mc:Choice>
              <mc:Fallback>
                <p:oleObj name="Equation" r:id="rId7" imgW="177480" imgH="228600" progId="Equation.DSMT4">
                  <p:embed/>
                  <p:pic>
                    <p:nvPicPr>
                      <p:cNvPr id="15" name="Object 14" descr="V subscript o.">
                        <a:extLst>
                          <a:ext uri="{FF2B5EF4-FFF2-40B4-BE49-F238E27FC236}">
                            <a16:creationId xmlns:a16="http://schemas.microsoft.com/office/drawing/2014/main" id="{832E440A-C70D-4F0B-94BE-18B18E515269}"/>
                          </a:ext>
                        </a:extLst>
                      </p:cNvPr>
                      <p:cNvPicPr/>
                      <p:nvPr/>
                    </p:nvPicPr>
                    <p:blipFill>
                      <a:blip r:embed="rId8"/>
                      <a:stretch>
                        <a:fillRect/>
                      </a:stretch>
                    </p:blipFill>
                    <p:spPr>
                      <a:xfrm>
                        <a:off x="1811357" y="5022486"/>
                        <a:ext cx="306622" cy="394227"/>
                      </a:xfrm>
                      <a:prstGeom prst="rect">
                        <a:avLst/>
                      </a:prstGeom>
                    </p:spPr>
                  </p:pic>
                </p:oleObj>
              </mc:Fallback>
            </mc:AlternateContent>
          </a:graphicData>
        </a:graphic>
      </p:graphicFrame>
      <p:pic>
        <p:nvPicPr>
          <p:cNvPr id="78" name="Picture 5" descr="Cross mark">
            <a:extLst>
              <a:ext uri="{FF2B5EF4-FFF2-40B4-BE49-F238E27FC236}">
                <a16:creationId xmlns:a16="http://schemas.microsoft.com/office/drawing/2014/main" id="{6166C3A7-FDE1-0A6C-AC34-18B974B0A89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65690" y="5543096"/>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Content Placeholder 9">
            <a:extLst>
              <a:ext uri="{FF2B5EF4-FFF2-40B4-BE49-F238E27FC236}">
                <a16:creationId xmlns:a16="http://schemas.microsoft.com/office/drawing/2014/main" id="{F13F2F46-8EBA-05A4-3EFA-E917CF7E03CF}"/>
              </a:ext>
            </a:extLst>
          </p:cNvPr>
          <p:cNvSpPr>
            <a:spLocks noGrp="1"/>
          </p:cNvSpPr>
          <p:nvPr>
            <p:ph sz="quarter" idx="15"/>
          </p:nvPr>
        </p:nvSpPr>
        <p:spPr>
          <a:xfrm>
            <a:off x="1395681" y="5469996"/>
            <a:ext cx="1097353"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C. </a:t>
            </a:r>
            <a:r>
              <a:rPr lang="en-US" sz="2400" noProof="0" dirty="0"/>
              <a:t>10 V</a:t>
            </a:r>
          </a:p>
        </p:txBody>
      </p:sp>
      <p:pic>
        <p:nvPicPr>
          <p:cNvPr id="76" name="Picture 2" descr="Check mark">
            <a:extLst>
              <a:ext uri="{FF2B5EF4-FFF2-40B4-BE49-F238E27FC236}">
                <a16:creationId xmlns:a16="http://schemas.microsoft.com/office/drawing/2014/main" id="{5C268526-8D6A-4C8E-2992-EEF589BC73E1}"/>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974316" y="6027634"/>
            <a:ext cx="280501" cy="2462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Content Placeholder 10">
            <a:extLst>
              <a:ext uri="{FF2B5EF4-FFF2-40B4-BE49-F238E27FC236}">
                <a16:creationId xmlns:a16="http://schemas.microsoft.com/office/drawing/2014/main" id="{41030AE8-A0DE-5511-F8CE-98AC4934C428}"/>
              </a:ext>
            </a:extLst>
          </p:cNvPr>
          <p:cNvSpPr>
            <a:spLocks noGrp="1"/>
          </p:cNvSpPr>
          <p:nvPr>
            <p:ph sz="quarter" idx="16"/>
          </p:nvPr>
        </p:nvSpPr>
        <p:spPr>
          <a:xfrm>
            <a:off x="1395149" y="5954254"/>
            <a:ext cx="356013"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D. </a:t>
            </a:r>
            <a:endParaRPr lang="en-US" sz="2400" noProof="0" dirty="0"/>
          </a:p>
        </p:txBody>
      </p:sp>
      <p:graphicFrame>
        <p:nvGraphicFramePr>
          <p:cNvPr id="19" name="Object 18" descr="Negative 20 i subscript uppercase Delta BaseLine.">
            <a:extLst>
              <a:ext uri="{FF2B5EF4-FFF2-40B4-BE49-F238E27FC236}">
                <a16:creationId xmlns:a16="http://schemas.microsoft.com/office/drawing/2014/main" id="{3BED6C23-5514-6984-99A5-F7825FF00090}"/>
              </a:ext>
            </a:extLst>
          </p:cNvPr>
          <p:cNvGraphicFramePr>
            <a:graphicFrameLocks noChangeAspect="1"/>
          </p:cNvGraphicFramePr>
          <p:nvPr/>
        </p:nvGraphicFramePr>
        <p:xfrm>
          <a:off x="1793035" y="5990116"/>
          <a:ext cx="660400" cy="371475"/>
        </p:xfrm>
        <a:graphic>
          <a:graphicData uri="http://schemas.openxmlformats.org/presentationml/2006/ole">
            <mc:AlternateContent xmlns:mc="http://schemas.openxmlformats.org/markup-compatibility/2006">
              <mc:Choice xmlns:v="urn:schemas-microsoft-com:vml" Requires="v">
                <p:oleObj name="Equation" r:id="rId10" imgW="406080" imgH="228600" progId="Equation.DSMT4">
                  <p:embed/>
                </p:oleObj>
              </mc:Choice>
              <mc:Fallback>
                <p:oleObj name="Equation" r:id="rId10" imgW="406080" imgH="228600" progId="Equation.DSMT4">
                  <p:embed/>
                  <p:pic>
                    <p:nvPicPr>
                      <p:cNvPr id="19" name="Object 18" descr="Negative 20 i subscript uppercase Delta BaseLine.">
                        <a:extLst>
                          <a:ext uri="{FF2B5EF4-FFF2-40B4-BE49-F238E27FC236}">
                            <a16:creationId xmlns:a16="http://schemas.microsoft.com/office/drawing/2014/main" id="{80D7CEA3-6DCD-4236-9DAE-98614653DB5A}"/>
                          </a:ext>
                        </a:extLst>
                      </p:cNvPr>
                      <p:cNvPicPr/>
                      <p:nvPr/>
                    </p:nvPicPr>
                    <p:blipFill>
                      <a:blip r:embed="rId11"/>
                      <a:stretch>
                        <a:fillRect/>
                      </a:stretch>
                    </p:blipFill>
                    <p:spPr>
                      <a:xfrm>
                        <a:off x="1793035" y="5990116"/>
                        <a:ext cx="660400" cy="371475"/>
                      </a:xfrm>
                      <a:prstGeom prst="rect">
                        <a:avLst/>
                      </a:prstGeom>
                    </p:spPr>
                  </p:pic>
                </p:oleObj>
              </mc:Fallback>
            </mc:AlternateContent>
          </a:graphicData>
        </a:graphic>
      </p:graphicFrame>
    </p:spTree>
    <p:extLst>
      <p:ext uri="{BB962C8B-B14F-4D97-AF65-F5344CB8AC3E}">
        <p14:creationId xmlns:p14="http://schemas.microsoft.com/office/powerpoint/2010/main" val="24607303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05362"/>
            <a:ext cx="8229600" cy="1144347"/>
          </a:xfrm>
        </p:spPr>
        <p:txBody>
          <a:bodyPr anchor="ctr" anchorCtr="0"/>
          <a:lstStyle/>
          <a:p>
            <a:r>
              <a:rPr lang="en-US" noProof="0" dirty="0"/>
              <a:t>Chapter 4 – techniques of circuit analysis </a:t>
            </a:r>
            <a:r>
              <a:rPr lang="en-US" sz="2800" noProof="0" dirty="0"/>
              <a:t>(15 of 26)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547271"/>
            <a:ext cx="8229600" cy="4576056"/>
          </a:xfrm>
        </p:spPr>
        <p:txBody>
          <a:bodyPr wrap="square" lIns="0" tIns="18000" rIns="0" bIns="18000" anchor="ctr" anchorCtr="0">
            <a:spAutoFit/>
          </a:bodyPr>
          <a:lstStyle/>
          <a:p>
            <a:pPr marL="342900" indent="-342900">
              <a:spcBef>
                <a:spcPts val="600"/>
              </a:spcBef>
            </a:pPr>
            <a:r>
              <a:rPr lang="en-US" sz="2000" noProof="0" dirty="0"/>
              <a:t>Node voltage analysis method, modified again:</a:t>
            </a:r>
          </a:p>
          <a:p>
            <a:pPr marL="829818" lvl="1" indent="-342900"/>
            <a:r>
              <a:rPr lang="en-US" sz="2000" noProof="0" dirty="0"/>
              <a:t>Step 1 – Identify each essential node.</a:t>
            </a:r>
          </a:p>
          <a:p>
            <a:pPr marL="829818" lvl="1" indent="-342900"/>
            <a:r>
              <a:rPr lang="en-US" sz="2000" noProof="0" dirty="0"/>
              <a:t>Step 2 – Pick and label a reference node; then label the node voltages at the remaining essential nodes.</a:t>
            </a:r>
          </a:p>
          <a:p>
            <a:pPr marL="1229868" lvl="2" indent="-342900"/>
            <a:r>
              <a:rPr lang="en-US" sz="2000" noProof="0" dirty="0">
                <a:solidFill>
                  <a:srgbClr val="007FA3"/>
                </a:solidFill>
              </a:rPr>
              <a:t>If a voltage source is the only element between an essential node and the reference node, replace the node voltage label with the value of the voltage source.</a:t>
            </a:r>
          </a:p>
          <a:p>
            <a:pPr marL="829818" lvl="1" indent="-342900"/>
            <a:r>
              <a:rPr lang="en-US" sz="2000" noProof="0" dirty="0"/>
              <a:t>Step 3 – Write a </a:t>
            </a:r>
            <a:r>
              <a:rPr lang="en-US" sz="2000" spc="-300" noProof="0" dirty="0"/>
              <a:t>K C </a:t>
            </a:r>
            <a:r>
              <a:rPr lang="en-US" sz="2000" noProof="0" dirty="0"/>
              <a:t>L equation for every nonreference essential node </a:t>
            </a:r>
            <a:r>
              <a:rPr lang="en-US" sz="2000" noProof="0" dirty="0">
                <a:solidFill>
                  <a:srgbClr val="007FA3"/>
                </a:solidFill>
              </a:rPr>
              <a:t>where the voltage is unknown</a:t>
            </a:r>
            <a:r>
              <a:rPr lang="en-US" sz="2000" noProof="0" dirty="0"/>
              <a:t>.</a:t>
            </a:r>
          </a:p>
          <a:p>
            <a:pPr marL="1229868" lvl="2" indent="-342900"/>
            <a:r>
              <a:rPr lang="en-US" sz="2000" noProof="0" dirty="0"/>
              <a:t>If there are dependent sources, write a constraint equation for each one.</a:t>
            </a:r>
          </a:p>
          <a:p>
            <a:pPr marL="829818" lvl="1" indent="-342900"/>
            <a:r>
              <a:rPr lang="en-US" sz="2000" noProof="0" dirty="0"/>
              <a:t>Step 4 – Solve the equations to find the node-voltage values.</a:t>
            </a:r>
          </a:p>
          <a:p>
            <a:pPr marL="829818" lvl="1" indent="-342900"/>
            <a:r>
              <a:rPr lang="en-US" sz="2000" noProof="0" dirty="0"/>
              <a:t>Step 5 – Solve the circuit using node voltages from Step 4.</a:t>
            </a:r>
          </a:p>
        </p:txBody>
      </p:sp>
    </p:spTree>
    <p:extLst>
      <p:ext uri="{BB962C8B-B14F-4D97-AF65-F5344CB8AC3E}">
        <p14:creationId xmlns:p14="http://schemas.microsoft.com/office/powerpoint/2010/main" val="6084394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05362"/>
            <a:ext cx="8229600" cy="1144347"/>
          </a:xfrm>
        </p:spPr>
        <p:txBody>
          <a:bodyPr anchor="ctr" anchorCtr="0"/>
          <a:lstStyle/>
          <a:p>
            <a:r>
              <a:rPr lang="en-US" noProof="0" dirty="0"/>
              <a:t>Chapter 4 – techniques of circuit analysis </a:t>
            </a:r>
            <a:r>
              <a:rPr lang="en-US" sz="2800" noProof="0" dirty="0"/>
              <a:t>(16 of 26)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495175"/>
            <a:ext cx="8229600" cy="1221291"/>
          </a:xfrm>
        </p:spPr>
        <p:txBody>
          <a:bodyPr wrap="square" lIns="0" tIns="18000" rIns="0" bIns="18000" anchor="ctr" anchorCtr="0">
            <a:spAutoFit/>
          </a:bodyPr>
          <a:lstStyle/>
          <a:p>
            <a:pPr marL="342900" indent="-342900">
              <a:spcBef>
                <a:spcPts val="600"/>
              </a:spcBef>
            </a:pPr>
            <a:r>
              <a:rPr lang="en-US" sz="2400" noProof="0" dirty="0"/>
              <a:t>Node voltage method with a voltage source alone in a branch:</a:t>
            </a:r>
          </a:p>
          <a:p>
            <a:pPr marL="829818" lvl="1" indent="-342900"/>
            <a:r>
              <a:rPr lang="en-US" sz="2400" noProof="0" dirty="0"/>
              <a:t>After Steps 1 and 2:</a:t>
            </a:r>
          </a:p>
        </p:txBody>
      </p:sp>
      <p:pic>
        <p:nvPicPr>
          <p:cNvPr id="4" name="Picture 2" descr="A circuit diagram shows a two layered circuit. The lower part has a 10 volt independent voltage source with positive polarity at the top and negative at the bottom as the leftmost wire in the circuit. Current i subscript delta flows from bottom to top in the 10 volt independent voltage source. Connected in parallel to the 10 volt independent voltage source from left to right in that order are a 40-ohm resistor and a current dependent voltage source 20i subscript delta. The current dependent voltage source 20i subscript delta has positive polarity at its lower end and negative at the top. v subscript o is the voltage across the 40-ohm resistor. A 10-ohm resistor is located in the second wire from the top and between the wires housing the 10 volt independent voltage source and the 40-ohm resistor. A 20-ohm resistor is located in the second wire from the top and between the wires housing the 40-ohm resistor and the current dependent voltage source 20i subscript delta.&#10;A 30-ohm resistor forms the upper layer in the circuit. The 30-ohm resistor is located across the nodes where the upper parts of the wires housing the 10 volt independent voltage source and the current dependent voltage source 20i subscript delta connect to the second wire from the top. &#10;10 volts is marked as the voltage at the node where the wire housing the 10 volt independent voltage source connects to the second wire from the top. Minus 20i subscript delta is marked as the voltage at the node where the wire housing the current dependent voltage source 20i subscript delta connects to the second wire from the top. v subscript o is marked as the voltage at the node where the wire housing the 40-ohm resistor connects to the second wire from the top. The node where the wire housing the 40-ohm resistor connects to the bottom wire of the circuit is encircled and a downward pointing arrow is shown from it. &#10;">
            <a:extLst>
              <a:ext uri="{FF2B5EF4-FFF2-40B4-BE49-F238E27FC236}">
                <a16:creationId xmlns:a16="http://schemas.microsoft.com/office/drawing/2014/main" id="{33F13877-E726-488D-A279-C508033D3DA6}"/>
              </a:ext>
            </a:extLst>
          </p:cNvPr>
          <p:cNvPicPr>
            <a:picLocks noChangeAspect="1" noChangeArrowheads="1"/>
          </p:cNvPicPr>
          <p:nvPr/>
        </p:nvPicPr>
        <p:blipFill>
          <a:blip r:embed="rId3"/>
          <a:stretch>
            <a:fillRect/>
          </a:stretch>
        </p:blipFill>
        <p:spPr bwMode="auto">
          <a:xfrm>
            <a:off x="2358966" y="3048000"/>
            <a:ext cx="4426068" cy="2362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457392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185" y="207224"/>
            <a:ext cx="8229600" cy="1144347"/>
          </a:xfrm>
        </p:spPr>
        <p:txBody>
          <a:bodyPr/>
          <a:lstStyle/>
          <a:p>
            <a:r>
              <a:rPr lang="en-US" dirty="0"/>
              <a:t>Chapter 4 – techniques of circuit analysis </a:t>
            </a:r>
            <a:r>
              <a:rPr lang="en-US" sz="2800" dirty="0"/>
              <a:t>(17 of 26)</a:t>
            </a:r>
            <a:endParaRPr lang="en-US"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185" y="1511848"/>
            <a:ext cx="8238565" cy="1128958"/>
          </a:xfrm>
        </p:spPr>
        <p:txBody>
          <a:bodyPr wrap="square" lIns="0" tIns="18000" rIns="0" bIns="18000" anchor="ctr">
            <a:spAutoFit/>
          </a:bodyPr>
          <a:lstStyle/>
          <a:p>
            <a:pPr marL="342900" indent="-342900">
              <a:spcBef>
                <a:spcPts val="600"/>
              </a:spcBef>
            </a:pPr>
            <a:r>
              <a:rPr lang="en-US" sz="2200" dirty="0"/>
              <a:t>Node voltage method with a voltage source alone in a branch:</a:t>
            </a:r>
          </a:p>
          <a:p>
            <a:pPr marL="829818" lvl="1" indent="-342900"/>
            <a:r>
              <a:rPr lang="en-US" sz="2200" dirty="0"/>
              <a:t>Step 3 (write the </a:t>
            </a:r>
            <a:r>
              <a:rPr lang="en-US" sz="2200" spc="-300" dirty="0"/>
              <a:t>K C </a:t>
            </a:r>
            <a:r>
              <a:rPr lang="en-US" sz="2200" dirty="0"/>
              <a:t>L and constraint equations) and Step 4 (solve the equations):</a:t>
            </a:r>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90820" y="2879673"/>
            <a:ext cx="337856" cy="374906"/>
          </a:xfrm>
        </p:spPr>
        <p:txBody>
          <a:bodyPr wrap="square" lIns="0" tIns="18000" rIns="0" bIns="18000" anchor="ctr">
            <a:spAutoFit/>
          </a:bodyPr>
          <a:lstStyle/>
          <a:p>
            <a:pPr marL="0" indent="0">
              <a:spcBef>
                <a:spcPts val="600"/>
              </a:spcBef>
              <a:buNone/>
            </a:pPr>
            <a:r>
              <a:rPr lang="en-US" sz="2200" dirty="0"/>
              <a:t>At</a:t>
            </a:r>
          </a:p>
        </p:txBody>
      </p:sp>
      <p:graphicFrame>
        <p:nvGraphicFramePr>
          <p:cNvPr id="14" name="Object 13" descr="The figure illustrates an equation at v subscript o.&#10;Long description 1 is available in notes, press F6.">
            <a:extLst>
              <a:ext uri="{FF2B5EF4-FFF2-40B4-BE49-F238E27FC236}">
                <a16:creationId xmlns:a16="http://schemas.microsoft.com/office/drawing/2014/main" id="{D7501F31-3F37-401A-9E13-1E6B0A9C62E2}"/>
              </a:ext>
            </a:extLst>
          </p:cNvPr>
          <p:cNvGraphicFramePr>
            <a:graphicFrameLocks noChangeAspect="1"/>
          </p:cNvGraphicFramePr>
          <p:nvPr>
            <p:extLst>
              <p:ext uri="{D42A27DB-BD31-4B8C-83A1-F6EECF244321}">
                <p14:modId xmlns:p14="http://schemas.microsoft.com/office/powerpoint/2010/main" val="2394761076"/>
              </p:ext>
            </p:extLst>
          </p:nvPr>
        </p:nvGraphicFramePr>
        <p:xfrm>
          <a:off x="895870" y="2780424"/>
          <a:ext cx="3240637" cy="592302"/>
        </p:xfrm>
        <a:graphic>
          <a:graphicData uri="http://schemas.openxmlformats.org/presentationml/2006/ole">
            <mc:AlternateContent xmlns:mc="http://schemas.openxmlformats.org/markup-compatibility/2006">
              <mc:Choice xmlns:v="urn:schemas-microsoft-com:vml" Requires="v">
                <p:oleObj name="Equation" r:id="rId3" imgW="2222280" imgH="406080" progId="Equation.DSMT4">
                  <p:embed/>
                </p:oleObj>
              </mc:Choice>
              <mc:Fallback>
                <p:oleObj name="Equation" r:id="rId3" imgW="2222280" imgH="406080" progId="Equation.DSMT4">
                  <p:embed/>
                  <p:pic>
                    <p:nvPicPr>
                      <p:cNvPr id="8" name="Object 7">
                        <a:extLst>
                          <a:ext uri="{FF2B5EF4-FFF2-40B4-BE49-F238E27FC236}">
                            <a16:creationId xmlns:a16="http://schemas.microsoft.com/office/drawing/2014/main" id="{ABF5A427-EEB4-4E45-B778-C6F1D1DECD2D}"/>
                          </a:ext>
                        </a:extLst>
                      </p:cNvPr>
                      <p:cNvPicPr>
                        <a:picLocks noChangeAspect="1" noChangeArrowheads="1"/>
                      </p:cNvPicPr>
                      <p:nvPr/>
                    </p:nvPicPr>
                    <p:blipFill>
                      <a:blip r:embed="rId4"/>
                      <a:srcRect/>
                      <a:stretch>
                        <a:fillRect/>
                      </a:stretch>
                    </p:blipFill>
                    <p:spPr bwMode="auto">
                      <a:xfrm>
                        <a:off x="895870" y="2780424"/>
                        <a:ext cx="3240637" cy="5923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28012" y="3619997"/>
            <a:ext cx="1334113" cy="374906"/>
          </a:xfrm>
        </p:spPr>
        <p:txBody>
          <a:bodyPr wrap="square" lIns="0" tIns="18000" rIns="0" bIns="18000" anchor="ctr">
            <a:spAutoFit/>
          </a:bodyPr>
          <a:lstStyle/>
          <a:p>
            <a:pPr marL="0" indent="0">
              <a:spcBef>
                <a:spcPts val="600"/>
              </a:spcBef>
              <a:buNone/>
            </a:pPr>
            <a:r>
              <a:rPr lang="en-US" sz="2200" dirty="0"/>
              <a:t>constraint:</a:t>
            </a:r>
          </a:p>
        </p:txBody>
      </p:sp>
      <p:graphicFrame>
        <p:nvGraphicFramePr>
          <p:cNvPr id="15" name="Object 14" descr="The figure illustrates an equation for the constraint at i subscript uppercase Delta.&#10;Long description 2 is available in notes, press F6.">
            <a:extLst>
              <a:ext uri="{FF2B5EF4-FFF2-40B4-BE49-F238E27FC236}">
                <a16:creationId xmlns:a16="http://schemas.microsoft.com/office/drawing/2014/main" id="{6EDE8831-C6D1-42BD-9471-37950993C839}"/>
              </a:ext>
            </a:extLst>
          </p:cNvPr>
          <p:cNvGraphicFramePr>
            <a:graphicFrameLocks noChangeAspect="1"/>
          </p:cNvGraphicFramePr>
          <p:nvPr>
            <p:extLst>
              <p:ext uri="{D42A27DB-BD31-4B8C-83A1-F6EECF244321}">
                <p14:modId xmlns:p14="http://schemas.microsoft.com/office/powerpoint/2010/main" val="3817304629"/>
              </p:ext>
            </p:extLst>
          </p:nvPr>
        </p:nvGraphicFramePr>
        <p:xfrm>
          <a:off x="1844572" y="3520869"/>
          <a:ext cx="2498932" cy="660812"/>
        </p:xfrm>
        <a:graphic>
          <a:graphicData uri="http://schemas.openxmlformats.org/presentationml/2006/ole">
            <mc:AlternateContent xmlns:mc="http://schemas.openxmlformats.org/markup-compatibility/2006">
              <mc:Choice xmlns:v="urn:schemas-microsoft-com:vml" Requires="v">
                <p:oleObj name="Equation" r:id="rId5" imgW="1536480" imgH="406080" progId="Equation.DSMT4">
                  <p:embed/>
                </p:oleObj>
              </mc:Choice>
              <mc:Fallback>
                <p:oleObj name="Equation" r:id="rId5" imgW="1536480" imgH="406080" progId="Equation.DSMT4">
                  <p:embed/>
                  <p:pic>
                    <p:nvPicPr>
                      <p:cNvPr id="9" name="Object 8">
                        <a:extLst>
                          <a:ext uri="{FF2B5EF4-FFF2-40B4-BE49-F238E27FC236}">
                            <a16:creationId xmlns:a16="http://schemas.microsoft.com/office/drawing/2014/main" id="{FE856FFE-F878-4AF1-9B4F-91EEE3CB176F}"/>
                          </a:ext>
                        </a:extLst>
                      </p:cNvPr>
                      <p:cNvPicPr>
                        <a:picLocks noChangeAspect="1" noChangeArrowheads="1"/>
                      </p:cNvPicPr>
                      <p:nvPr/>
                    </p:nvPicPr>
                    <p:blipFill>
                      <a:blip r:embed="rId6"/>
                      <a:srcRect/>
                      <a:stretch>
                        <a:fillRect/>
                      </a:stretch>
                    </p:blipFill>
                    <p:spPr bwMode="auto">
                      <a:xfrm>
                        <a:off x="1844572" y="3520869"/>
                        <a:ext cx="2498932" cy="660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429186" y="4718356"/>
            <a:ext cx="1332940" cy="374906"/>
          </a:xfrm>
        </p:spPr>
        <p:txBody>
          <a:bodyPr wrap="square" lIns="0" tIns="18000" rIns="0" bIns="18000" anchor="ctr">
            <a:spAutoFit/>
          </a:bodyPr>
          <a:lstStyle/>
          <a:p>
            <a:pPr marL="0" indent="0">
              <a:spcBef>
                <a:spcPts val="600"/>
              </a:spcBef>
              <a:buNone/>
            </a:pPr>
            <a:r>
              <a:rPr lang="en-US" sz="2200" dirty="0"/>
              <a:t>S</a:t>
            </a:r>
            <a:r>
              <a:rPr lang="en-US" sz="100" dirty="0"/>
              <a:t> </a:t>
            </a:r>
            <a:r>
              <a:rPr lang="en-US" sz="2200" dirty="0"/>
              <a:t>t</a:t>
            </a:r>
            <a:r>
              <a:rPr lang="en-US" sz="100" dirty="0"/>
              <a:t> </a:t>
            </a:r>
            <a:r>
              <a:rPr lang="en-US" sz="2200" dirty="0"/>
              <a:t>d. form:</a:t>
            </a:r>
          </a:p>
        </p:txBody>
      </p:sp>
      <p:graphicFrame>
        <p:nvGraphicFramePr>
          <p:cNvPr id="16" name="Object 15" descr="The figure illustrates the standard form that is shown in two lines.&#10;Long description 3 is available in notes, press F6.">
            <a:extLst>
              <a:ext uri="{FF2B5EF4-FFF2-40B4-BE49-F238E27FC236}">
                <a16:creationId xmlns:a16="http://schemas.microsoft.com/office/drawing/2014/main" id="{BD36AB92-6E33-4644-A0A0-9CF33FBB8A09}"/>
              </a:ext>
            </a:extLst>
          </p:cNvPr>
          <p:cNvGraphicFramePr>
            <a:graphicFrameLocks noChangeAspect="1"/>
          </p:cNvGraphicFramePr>
          <p:nvPr>
            <p:extLst>
              <p:ext uri="{D42A27DB-BD31-4B8C-83A1-F6EECF244321}">
                <p14:modId xmlns:p14="http://schemas.microsoft.com/office/powerpoint/2010/main" val="3758080409"/>
              </p:ext>
            </p:extLst>
          </p:nvPr>
        </p:nvGraphicFramePr>
        <p:xfrm>
          <a:off x="1844572" y="4273280"/>
          <a:ext cx="4074159" cy="1243025"/>
        </p:xfrm>
        <a:graphic>
          <a:graphicData uri="http://schemas.openxmlformats.org/presentationml/2006/ole">
            <mc:AlternateContent xmlns:mc="http://schemas.openxmlformats.org/markup-compatibility/2006">
              <mc:Choice xmlns:v="urn:schemas-microsoft-com:vml" Requires="v">
                <p:oleObj name="Equation" r:id="rId7" imgW="2908080" imgH="888840" progId="Equation.DSMT4">
                  <p:embed/>
                </p:oleObj>
              </mc:Choice>
              <mc:Fallback>
                <p:oleObj name="Equation" r:id="rId7" imgW="2908080" imgH="888840" progId="Equation.DSMT4">
                  <p:embed/>
                  <p:pic>
                    <p:nvPicPr>
                      <p:cNvPr id="10" name="Object 9">
                        <a:extLst>
                          <a:ext uri="{FF2B5EF4-FFF2-40B4-BE49-F238E27FC236}">
                            <a16:creationId xmlns:a16="http://schemas.microsoft.com/office/drawing/2014/main" id="{13CCC7FB-0688-4597-A775-04F826DA8B71}"/>
                          </a:ext>
                        </a:extLst>
                      </p:cNvPr>
                      <p:cNvPicPr>
                        <a:picLocks noChangeAspect="1" noChangeArrowheads="1"/>
                      </p:cNvPicPr>
                      <p:nvPr/>
                    </p:nvPicPr>
                    <p:blipFill>
                      <a:blip r:embed="rId8"/>
                      <a:srcRect/>
                      <a:stretch>
                        <a:fillRect/>
                      </a:stretch>
                    </p:blipFill>
                    <p:spPr bwMode="auto">
                      <a:xfrm>
                        <a:off x="1844572" y="4273280"/>
                        <a:ext cx="4074159" cy="1243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429186" y="5789497"/>
            <a:ext cx="1161490" cy="374906"/>
          </a:xfrm>
        </p:spPr>
        <p:txBody>
          <a:bodyPr wrap="square" lIns="0" tIns="18000" rIns="0" bIns="18000" anchor="ctr">
            <a:spAutoFit/>
          </a:bodyPr>
          <a:lstStyle/>
          <a:p>
            <a:pPr marL="0" indent="0">
              <a:spcBef>
                <a:spcPts val="600"/>
              </a:spcBef>
              <a:buNone/>
            </a:pPr>
            <a:r>
              <a:rPr lang="en-US" sz="2200" dirty="0"/>
              <a:t>Solution: </a:t>
            </a:r>
          </a:p>
        </p:txBody>
      </p:sp>
      <p:graphicFrame>
        <p:nvGraphicFramePr>
          <p:cNvPr id="17" name="Object 16" descr="v subscript o BaseLine equals 24 Volts;&#10;">
            <a:extLst>
              <a:ext uri="{FF2B5EF4-FFF2-40B4-BE49-F238E27FC236}">
                <a16:creationId xmlns:a16="http://schemas.microsoft.com/office/drawing/2014/main" id="{1F16A823-6479-47E6-90FB-01703FBBA524}"/>
              </a:ext>
            </a:extLst>
          </p:cNvPr>
          <p:cNvGraphicFramePr>
            <a:graphicFrameLocks noChangeAspect="1"/>
          </p:cNvGraphicFramePr>
          <p:nvPr>
            <p:extLst>
              <p:ext uri="{D42A27DB-BD31-4B8C-83A1-F6EECF244321}">
                <p14:modId xmlns:p14="http://schemas.microsoft.com/office/powerpoint/2010/main" val="2123166133"/>
              </p:ext>
            </p:extLst>
          </p:nvPr>
        </p:nvGraphicFramePr>
        <p:xfrm>
          <a:off x="1646324" y="5828382"/>
          <a:ext cx="1160291" cy="379662"/>
        </p:xfrm>
        <a:graphic>
          <a:graphicData uri="http://schemas.openxmlformats.org/presentationml/2006/ole">
            <mc:AlternateContent xmlns:mc="http://schemas.openxmlformats.org/markup-compatibility/2006">
              <mc:Choice xmlns:v="urn:schemas-microsoft-com:vml" Requires="v">
                <p:oleObj name="Equation" r:id="rId9" imgW="698400" imgH="228600" progId="Equation.DSMT4">
                  <p:embed/>
                </p:oleObj>
              </mc:Choice>
              <mc:Fallback>
                <p:oleObj name="Equation" r:id="rId9" imgW="698400" imgH="228600" progId="Equation.DSMT4">
                  <p:embed/>
                  <p:pic>
                    <p:nvPicPr>
                      <p:cNvPr id="11" name="Object 10">
                        <a:extLst>
                          <a:ext uri="{FF2B5EF4-FFF2-40B4-BE49-F238E27FC236}">
                            <a16:creationId xmlns:a16="http://schemas.microsoft.com/office/drawing/2014/main" id="{DFCF619D-FD68-4A8C-BF95-0481E66C5105}"/>
                          </a:ext>
                        </a:extLst>
                      </p:cNvPr>
                      <p:cNvPicPr>
                        <a:picLocks noChangeAspect="1" noChangeArrowheads="1"/>
                      </p:cNvPicPr>
                      <p:nvPr/>
                    </p:nvPicPr>
                    <p:blipFill>
                      <a:blip r:embed="rId10"/>
                      <a:srcRect/>
                      <a:stretch>
                        <a:fillRect/>
                      </a:stretch>
                    </p:blipFill>
                    <p:spPr bwMode="auto">
                      <a:xfrm>
                        <a:off x="1646324" y="5828382"/>
                        <a:ext cx="1160291" cy="379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 name="Object 17" descr="i subscript uppercase Delta BaseLine equals negative 3.2 Amperes.">
            <a:extLst>
              <a:ext uri="{FF2B5EF4-FFF2-40B4-BE49-F238E27FC236}">
                <a16:creationId xmlns:a16="http://schemas.microsoft.com/office/drawing/2014/main" id="{4D3B3A33-4758-4C3E-B6D9-E182A439A5E1}"/>
              </a:ext>
            </a:extLst>
          </p:cNvPr>
          <p:cNvGraphicFramePr>
            <a:graphicFrameLocks noChangeAspect="1"/>
          </p:cNvGraphicFramePr>
          <p:nvPr>
            <p:extLst>
              <p:ext uri="{D42A27DB-BD31-4B8C-83A1-F6EECF244321}">
                <p14:modId xmlns:p14="http://schemas.microsoft.com/office/powerpoint/2010/main" val="1681534547"/>
              </p:ext>
            </p:extLst>
          </p:nvPr>
        </p:nvGraphicFramePr>
        <p:xfrm>
          <a:off x="3082407" y="5862638"/>
          <a:ext cx="1054100" cy="311150"/>
        </p:xfrm>
        <a:graphic>
          <a:graphicData uri="http://schemas.openxmlformats.org/presentationml/2006/ole">
            <mc:AlternateContent xmlns:mc="http://schemas.openxmlformats.org/markup-compatibility/2006">
              <mc:Choice xmlns:v="urn:schemas-microsoft-com:vml" Requires="v">
                <p:oleObj name="Equation" r:id="rId11" imgW="774360" imgH="228600" progId="Equation.DSMT4">
                  <p:embed/>
                </p:oleObj>
              </mc:Choice>
              <mc:Fallback>
                <p:oleObj name="Equation" r:id="rId11" imgW="774360" imgH="228600" progId="Equation.DSMT4">
                  <p:embed/>
                  <p:pic>
                    <p:nvPicPr>
                      <p:cNvPr id="12" name="Object 11">
                        <a:extLst>
                          <a:ext uri="{FF2B5EF4-FFF2-40B4-BE49-F238E27FC236}">
                            <a16:creationId xmlns:a16="http://schemas.microsoft.com/office/drawing/2014/main" id="{AEF2B64C-CE8F-451C-AC5A-B79FEE39049D}"/>
                          </a:ext>
                        </a:extLst>
                      </p:cNvPr>
                      <p:cNvPicPr>
                        <a:picLocks noChangeAspect="1" noChangeArrowheads="1"/>
                      </p:cNvPicPr>
                      <p:nvPr/>
                    </p:nvPicPr>
                    <p:blipFill>
                      <a:blip r:embed="rId12"/>
                      <a:srcRect/>
                      <a:stretch>
                        <a:fillRect/>
                      </a:stretch>
                    </p:blipFill>
                    <p:spPr bwMode="auto">
                      <a:xfrm>
                        <a:off x="3082407" y="5862638"/>
                        <a:ext cx="1054100" cy="311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19" name="Picture 2" descr="A circuit diagram shows a two layered circuit. The lower part has a 10 volt independent voltage source with positive polarity at the top and negative at the bottom as the leftmost wire in the circuit. Current i subscript delta flows from bottom to top in the 10 volt independent voltage source. Connected in parallel to the 10 volt independent voltage source from left to right in that order are a 40-ohm resistor and a current dependent voltage source 20i subscript delta. The current dependent voltage source 20i subscript delta has positive polarity at its lower end and negative at the top. v subscript o is the voltage across the 40-ohm resistor. A 10-ohm resistor is located in the second wire from the top and between the wires housing the 10 volt independent voltage source and the 40-ohm resistor. A 20-ohm resistor is located in the second wire from the top and between the wires housing the 40-ohm resistor and the current dependent voltage source 20i subscript delta.&#10;A 30-ohm resistor forms the upper layer in the circuit. The 30-ohm resistor is located across the nodes where the upper parts of the wires housing the 10 volt independent voltage source and the current dependent voltage source 20i subscript delta connect to the second wire from the top. &#10;10 volts is marked as the voltage at the node where the wire housing the 10 volt independent voltage source connects to the second wire from the top. Minus 20i subscript delta is marked as the voltage at the node where the wire housing the current dependent voltage source 20i subscript delta connects to the second wire from the top. v subscript o is marked as the voltage at the node where the wire housing the 40-ohm resistor connects to the second wire from the top. The node where the wire housing the 40-ohm resistor connects to the bottom wire of the circuit is encircled and a downward pointing arrow is shown from it. &#10;">
            <a:extLst>
              <a:ext uri="{FF2B5EF4-FFF2-40B4-BE49-F238E27FC236}">
                <a16:creationId xmlns:a16="http://schemas.microsoft.com/office/drawing/2014/main" id="{EC28B7B9-5C5D-4AFF-A899-994450A44F35}"/>
              </a:ext>
            </a:extLst>
          </p:cNvPr>
          <p:cNvPicPr>
            <a:picLocks noChangeAspect="1" noChangeArrowheads="1"/>
          </p:cNvPicPr>
          <p:nvPr/>
        </p:nvPicPr>
        <p:blipFill>
          <a:blip r:embed="rId13"/>
          <a:stretch>
            <a:fillRect/>
          </a:stretch>
        </p:blipFill>
        <p:spPr bwMode="auto">
          <a:xfrm>
            <a:off x="5162428" y="2617724"/>
            <a:ext cx="2972724" cy="15865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261868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05362"/>
            <a:ext cx="8229600" cy="1144347"/>
          </a:xfrm>
        </p:spPr>
        <p:txBody>
          <a:bodyPr anchor="ctr" anchorCtr="0"/>
          <a:lstStyle/>
          <a:p>
            <a:r>
              <a:rPr lang="en-US" noProof="0" dirty="0"/>
              <a:t>Chapter 4 – techniques of circuit analysis </a:t>
            </a:r>
            <a:r>
              <a:rPr lang="en-US" sz="2800" noProof="0" dirty="0"/>
              <a:t>(18 of 26)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504140"/>
            <a:ext cx="8229600" cy="405683"/>
          </a:xfrm>
        </p:spPr>
        <p:txBody>
          <a:bodyPr wrap="square" lIns="0" tIns="18000" rIns="0" bIns="18000" anchor="ctr" anchorCtr="0">
            <a:spAutoFit/>
          </a:bodyPr>
          <a:lstStyle/>
          <a:p>
            <a:pPr marL="0" indent="0">
              <a:spcBef>
                <a:spcPts val="600"/>
              </a:spcBef>
              <a:buNone/>
            </a:pPr>
            <a:r>
              <a:rPr lang="en-US" sz="2400" noProof="0" dirty="0"/>
              <a:t>Power balance:</a:t>
            </a:r>
          </a:p>
        </p:txBody>
      </p:sp>
      <p:pic>
        <p:nvPicPr>
          <p:cNvPr id="13" name="Picture 2" descr="A circuit diagram shows a two layered circuit. The lower part has a 10 volt independent voltage source with positive polarity at the top and negative at the bottom as the leftmost wire in the circuit. Current i subscript delta flows from bottom to top in the 10 volt independent voltage source. Connected in parallel to the 10 volt independent voltage source from left to right in that order are a 40-ohm resistor and a current dependent voltage source 20i subscript delta. The current dependent voltage source 20i subscript delta has positive polarity at its lower end and negative at the top. v subscript o is the voltage across the 40-ohm resistor. A 10-ohm resistor is located in the second wire from the top and between the wires housing the 10 volt independent voltage source and the 40-ohm resistor. A 20-ohm resistor is located in the second wire from the top and between the wires housing the 40-ohm resistor and the current dependent voltage source 20i subscript delta.&#10;A 30-ohm resistor forms the upper layer in the circuit. The 30-ohm resistor is located across the nodes where the upper parts of the wires housing the 10 volt independent voltage source and the current dependent voltage source 20i subscript delta connect to the second wire from the top. &#10;10 volts is marked as the voltage at the node where the wire housing the 10 volt independent voltage source connects to the second wire from the top. Minus 20i subscript delta is marked as the voltage at the node where the wire housing the current dependent voltage source 20i subscript delta connects to the second wire from the top. v subscript o is marked as the voltage at the node where the wire housing the 40-ohm resistor connects to the second wire from the top. The node where the wire housing the 40-ohm resistor connects to the bottom wire of the circuit is encircled and a downward pointing arrow is shown from it. &#10;">
            <a:extLst>
              <a:ext uri="{FF2B5EF4-FFF2-40B4-BE49-F238E27FC236}">
                <a16:creationId xmlns:a16="http://schemas.microsoft.com/office/drawing/2014/main" id="{20A4D329-B717-454A-86A4-788E0EC78972}"/>
              </a:ext>
            </a:extLst>
          </p:cNvPr>
          <p:cNvPicPr>
            <a:picLocks noChangeAspect="1" noChangeArrowheads="1"/>
          </p:cNvPicPr>
          <p:nvPr/>
        </p:nvPicPr>
        <p:blipFill>
          <a:blip r:embed="rId3"/>
          <a:stretch>
            <a:fillRect/>
          </a:stretch>
        </p:blipFill>
        <p:spPr bwMode="auto">
          <a:xfrm>
            <a:off x="3084686" y="1986243"/>
            <a:ext cx="2974626" cy="15875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16" name="Table 15">
            <a:extLst>
              <a:ext uri="{FF2B5EF4-FFF2-40B4-BE49-F238E27FC236}">
                <a16:creationId xmlns:a16="http://schemas.microsoft.com/office/drawing/2014/main" id="{5AFAA6C6-9F98-4757-8F1C-52F555E7B544}"/>
              </a:ext>
            </a:extLst>
          </p:cNvPr>
          <p:cNvGraphicFramePr>
            <a:graphicFrameLocks noGrp="1"/>
          </p:cNvGraphicFramePr>
          <p:nvPr>
            <p:extLst>
              <p:ext uri="{D42A27DB-BD31-4B8C-83A1-F6EECF244321}">
                <p14:modId xmlns:p14="http://schemas.microsoft.com/office/powerpoint/2010/main" val="1556911809"/>
              </p:ext>
            </p:extLst>
          </p:nvPr>
        </p:nvGraphicFramePr>
        <p:xfrm>
          <a:off x="1524000" y="3708810"/>
          <a:ext cx="6619335" cy="2595880"/>
        </p:xfrm>
        <a:graphic>
          <a:graphicData uri="http://schemas.openxmlformats.org/drawingml/2006/table">
            <a:tbl>
              <a:tblPr firstRow="1" bandRow="1">
                <a:tableStyleId>{3B4B98B0-60AC-42C2-AFA5-B58CD77FA1E5}</a:tableStyleId>
              </a:tblPr>
              <a:tblGrid>
                <a:gridCol w="2206445">
                  <a:extLst>
                    <a:ext uri="{9D8B030D-6E8A-4147-A177-3AD203B41FA5}">
                      <a16:colId xmlns:a16="http://schemas.microsoft.com/office/drawing/2014/main" val="20000"/>
                    </a:ext>
                  </a:extLst>
                </a:gridCol>
                <a:gridCol w="2206445">
                  <a:extLst>
                    <a:ext uri="{9D8B030D-6E8A-4147-A177-3AD203B41FA5}">
                      <a16:colId xmlns:a16="http://schemas.microsoft.com/office/drawing/2014/main" val="20001"/>
                    </a:ext>
                  </a:extLst>
                </a:gridCol>
                <a:gridCol w="2206445">
                  <a:extLst>
                    <a:ext uri="{9D8B030D-6E8A-4147-A177-3AD203B41FA5}">
                      <a16:colId xmlns:a16="http://schemas.microsoft.com/office/drawing/2014/main" val="20002"/>
                    </a:ext>
                  </a:extLst>
                </a:gridCol>
              </a:tblGrid>
              <a:tr h="370840">
                <a:tc>
                  <a:txBody>
                    <a:bodyPr/>
                    <a:lstStyle/>
                    <a:p>
                      <a:pPr algn="ctr"/>
                      <a:r>
                        <a:rPr lang="en-US" dirty="0">
                          <a:solidFill>
                            <a:schemeClr val="bg1"/>
                          </a:solidFill>
                          <a:latin typeface="Arial" panose="020B0604020202020204" pitchFamily="34" charset="0"/>
                          <a:cs typeface="Arial" panose="020B0604020202020204" pitchFamily="34" charset="0"/>
                        </a:rPr>
                        <a:t>Component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dirty="0">
                          <a:solidFill>
                            <a:schemeClr val="bg1"/>
                          </a:solidFill>
                          <a:latin typeface="Arial" panose="020B0604020202020204" pitchFamily="34" charset="0"/>
                          <a:cs typeface="Arial" panose="020B0604020202020204" pitchFamily="34" charset="0"/>
                        </a:rPr>
                        <a:t>Equation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dirty="0">
                          <a:solidFill>
                            <a:schemeClr val="bg1"/>
                          </a:solidFill>
                          <a:latin typeface="Arial" panose="020B0604020202020204" pitchFamily="34" charset="0"/>
                          <a:cs typeface="Arial" panose="020B0604020202020204" pitchFamily="34" charset="0"/>
                        </a:rPr>
                        <a:t>p [W]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10000"/>
                  </a:ext>
                </a:extLst>
              </a:tr>
              <a:tr h="370840">
                <a:tc>
                  <a:txBody>
                    <a:bodyPr/>
                    <a:lstStyle/>
                    <a:p>
                      <a:pPr algn="ctr"/>
                      <a:r>
                        <a:rPr lang="en-US" dirty="0">
                          <a:latin typeface="Arial" panose="020B0604020202020204" pitchFamily="34" charset="0"/>
                          <a:cs typeface="Arial" panose="020B0604020202020204" pitchFamily="34" charset="0"/>
                        </a:rPr>
                        <a:t>10 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dirty="0">
                          <a:latin typeface="Arial" panose="020B0604020202020204" pitchFamily="34" charset="0"/>
                          <a:cs typeface="Arial" panose="020B0604020202020204" pitchFamily="34" charset="0"/>
                          <a:sym typeface="Symbol"/>
                        </a:rPr>
                        <a:t>−</a:t>
                      </a:r>
                      <a:r>
                        <a:rPr lang="en-US" dirty="0">
                          <a:latin typeface="Arial" panose="020B0604020202020204" pitchFamily="34" charset="0"/>
                          <a:cs typeface="Arial" panose="020B0604020202020204" pitchFamily="34" charset="0"/>
                        </a:rPr>
                        <a:t>(10)(</a:t>
                      </a:r>
                      <a:r>
                        <a:rPr lang="en-US" dirty="0">
                          <a:latin typeface="Arial" panose="020B0604020202020204" pitchFamily="34" charset="0"/>
                          <a:cs typeface="Arial" panose="020B0604020202020204" pitchFamily="34" charset="0"/>
                          <a:sym typeface="Symbol"/>
                        </a:rPr>
                        <a:t>−</a:t>
                      </a:r>
                      <a:r>
                        <a:rPr lang="en-US" dirty="0">
                          <a:latin typeface="Arial" panose="020B0604020202020204" pitchFamily="34" charset="0"/>
                          <a:cs typeface="Arial" panose="020B0604020202020204" pitchFamily="34" charset="0"/>
                        </a:rPr>
                        <a:t>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dirty="0">
                          <a:latin typeface="Arial" panose="020B0604020202020204" pitchFamily="34" charset="0"/>
                          <a:cs typeface="Arial" panose="020B0604020202020204" pitchFamily="34" charset="0"/>
                        </a:rPr>
                        <a:t>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1"/>
                  </a:ext>
                </a:extLst>
              </a:tr>
              <a:tr h="370840">
                <a:tc>
                  <a:txBody>
                    <a:bodyPr/>
                    <a:lstStyle/>
                    <a:p>
                      <a:pPr algn="ctr"/>
                      <a:r>
                        <a:rPr lang="en-US" dirty="0">
                          <a:latin typeface="Arial" panose="020B0604020202020204" pitchFamily="34" charset="0"/>
                          <a:cs typeface="Arial" panose="020B0604020202020204" pitchFamily="34" charset="0"/>
                        </a:rPr>
                        <a:t>Dep.</a:t>
                      </a:r>
                      <a:r>
                        <a:rPr lang="en-US" baseline="0" dirty="0">
                          <a:latin typeface="Arial" panose="020B0604020202020204" pitchFamily="34" charset="0"/>
                          <a:cs typeface="Arial" panose="020B0604020202020204" pitchFamily="34" charset="0"/>
                        </a:rPr>
                        <a:t> Source</a:t>
                      </a:r>
                      <a:endParaRPr lang="en-US"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dirty="0">
                          <a:latin typeface="Arial" panose="020B0604020202020204" pitchFamily="34" charset="0"/>
                          <a:cs typeface="Arial" panose="020B0604020202020204" pitchFamily="34" charset="0"/>
                          <a:sym typeface="Symbol"/>
                        </a:rPr>
                        <a:t>−[−3.2</a:t>
                      </a:r>
                      <a:r>
                        <a:rPr lang="en-US" baseline="0" dirty="0">
                          <a:latin typeface="Arial" panose="020B0604020202020204" pitchFamily="34" charset="0"/>
                          <a:cs typeface="Arial" panose="020B0604020202020204" pitchFamily="34" charset="0"/>
                          <a:sym typeface="Symbol"/>
                        </a:rPr>
                        <a:t> – 24/40][20(</a:t>
                      </a:r>
                      <a:r>
                        <a:rPr lang="en-US" dirty="0">
                          <a:latin typeface="Arial" panose="020B0604020202020204" pitchFamily="34" charset="0"/>
                          <a:cs typeface="Arial" panose="020B0604020202020204" pitchFamily="34" charset="0"/>
                          <a:sym typeface="Symbol"/>
                        </a:rPr>
                        <a:t>−3.2)]</a:t>
                      </a:r>
                      <a:endParaRPr lang="en-US"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dirty="0">
                          <a:latin typeface="Arial" panose="020B0604020202020204" pitchFamily="34" charset="0"/>
                          <a:cs typeface="Arial" panose="020B0604020202020204" pitchFamily="34" charset="0"/>
                          <a:sym typeface="Symbol"/>
                        </a:rPr>
                        <a:t>−</a:t>
                      </a:r>
                      <a:r>
                        <a:rPr lang="en-US" dirty="0">
                          <a:latin typeface="Arial" panose="020B0604020202020204" pitchFamily="34" charset="0"/>
                          <a:cs typeface="Arial" panose="020B0604020202020204" pitchFamily="34" charset="0"/>
                        </a:rPr>
                        <a:t>243.2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2"/>
                  </a:ext>
                </a:extLst>
              </a:tr>
              <a:tr h="370840">
                <a:tc>
                  <a:txBody>
                    <a:bodyPr/>
                    <a:lstStyle/>
                    <a:p>
                      <a:pPr algn="ctr"/>
                      <a:r>
                        <a:rPr lang="en-US" sz="100" dirty="0">
                          <a:latin typeface="Arial" panose="020B0604020202020204" pitchFamily="34" charset="0"/>
                          <a:cs typeface="Arial" panose="020B0604020202020204" pitchFamily="34" charset="0"/>
                        </a:rPr>
                        <a:t>30 Ohms.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dirty="0">
                          <a:latin typeface="Arial" panose="020B0604020202020204" pitchFamily="34" charset="0"/>
                          <a:cs typeface="Arial" panose="020B0604020202020204" pitchFamily="34" charset="0"/>
                        </a:rPr>
                        <a:t>Open SquareBracket negative 20 Open Parenthesis negative 3.2 Close Parenthesis minus 10 Close SquareBracket squared divided by 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dirty="0">
                          <a:latin typeface="Arial" panose="020B0604020202020204" pitchFamily="34" charset="0"/>
                          <a:cs typeface="Arial" panose="020B0604020202020204" pitchFamily="34" charset="0"/>
                        </a:rPr>
                        <a:t>97.2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3"/>
                  </a:ext>
                </a:extLst>
              </a:tr>
              <a:tr h="370840">
                <a:tc>
                  <a:txBody>
                    <a:bodyPr/>
                    <a:lstStyle/>
                    <a:p>
                      <a:pPr algn="ctr"/>
                      <a:r>
                        <a:rPr lang="en-US" sz="100" dirty="0">
                          <a:latin typeface="Arial" panose="020B0604020202020204" pitchFamily="34" charset="0"/>
                          <a:cs typeface="Arial" panose="020B0604020202020204" pitchFamily="34" charset="0"/>
                        </a:rPr>
                        <a:t>10 Ohms.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dirty="0">
                          <a:latin typeface="Arial" panose="020B0604020202020204" pitchFamily="34" charset="0"/>
                          <a:cs typeface="Arial" panose="020B0604020202020204" pitchFamily="34" charset="0"/>
                        </a:rPr>
                        <a:t>Open Parenthesis 24 minus 10 Close Parenthesis squared divided by 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dirty="0">
                          <a:latin typeface="Arial" panose="020B0604020202020204" pitchFamily="34" charset="0"/>
                          <a:cs typeface="Arial" panose="020B0604020202020204" pitchFamily="34" charset="0"/>
                        </a:rPr>
                        <a:t>19.6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4"/>
                  </a:ext>
                </a:extLst>
              </a:tr>
              <a:tr h="370840">
                <a:tc>
                  <a:txBody>
                    <a:bodyPr/>
                    <a:lstStyle/>
                    <a:p>
                      <a:pPr algn="ctr"/>
                      <a:r>
                        <a:rPr lang="en-US" sz="100" dirty="0">
                          <a:latin typeface="Arial" panose="020B0604020202020204" pitchFamily="34" charset="0"/>
                          <a:cs typeface="Arial" panose="020B0604020202020204" pitchFamily="34" charset="0"/>
                        </a:rPr>
                        <a:t>20 Ohms.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noProof="0" dirty="0">
                          <a:latin typeface="Arial" panose="020B0604020202020204" pitchFamily="34" charset="0"/>
                          <a:cs typeface="Arial" panose="020B0604020202020204" pitchFamily="34" charset="0"/>
                        </a:rPr>
                        <a:t>Open SquareBracket 24 plus 20 Open Parenthesis negative 3.2 Close Parenthesis Close SquareBracket squared divided by 20.</a:t>
                      </a:r>
                      <a:endParaRPr lang="en-US" sz="1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dirty="0">
                          <a:latin typeface="Arial" panose="020B0604020202020204" pitchFamily="34" charset="0"/>
                          <a:cs typeface="Arial" panose="020B0604020202020204" pitchFamily="34" charset="0"/>
                        </a:rPr>
                        <a:t>80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5"/>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 dirty="0">
                          <a:latin typeface="Arial" panose="020B0604020202020204" pitchFamily="34" charset="0"/>
                          <a:cs typeface="Arial" panose="020B0604020202020204" pitchFamily="34" charset="0"/>
                        </a:rPr>
                        <a:t>40 Ohms.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 dirty="0">
                          <a:latin typeface="Arial" panose="020B0604020202020204" pitchFamily="34" charset="0"/>
                          <a:cs typeface="Arial" panose="020B0604020202020204" pitchFamily="34" charset="0"/>
                        </a:rPr>
                        <a:t>24 squared divided by 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dirty="0">
                          <a:latin typeface="Arial" panose="020B0604020202020204" pitchFamily="34" charset="0"/>
                          <a:cs typeface="Arial" panose="020B0604020202020204" pitchFamily="34" charset="0"/>
                        </a:rPr>
                        <a:t>14.4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6"/>
                  </a:ext>
                </a:extLst>
              </a:tr>
            </a:tbl>
          </a:graphicData>
        </a:graphic>
      </p:graphicFrame>
      <p:graphicFrame>
        <p:nvGraphicFramePr>
          <p:cNvPr id="17" name="Object 16">
            <a:extLst>
              <a:ext uri="{FF2B5EF4-FFF2-40B4-BE49-F238E27FC236}">
                <a16:creationId xmlns:a16="http://schemas.microsoft.com/office/drawing/2014/main" id="{6988C0C5-AA11-49ED-88EC-7FA9DF25F7DF}"/>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365623584"/>
              </p:ext>
            </p:extLst>
          </p:nvPr>
        </p:nvGraphicFramePr>
        <p:xfrm>
          <a:off x="2239112" y="4891335"/>
          <a:ext cx="473075" cy="252413"/>
        </p:xfrm>
        <a:graphic>
          <a:graphicData uri="http://schemas.openxmlformats.org/presentationml/2006/ole">
            <mc:AlternateContent xmlns:mc="http://schemas.openxmlformats.org/markup-compatibility/2006">
              <mc:Choice xmlns:v="urn:schemas-microsoft-com:vml" Requires="v">
                <p:oleObj name="Equation" r:id="rId4" imgW="380880" imgH="203040" progId="Equation.DSMT4">
                  <p:embed/>
                </p:oleObj>
              </mc:Choice>
              <mc:Fallback>
                <p:oleObj name="Equation" r:id="rId4" imgW="380880" imgH="203040" progId="Equation.DSMT4">
                  <p:embed/>
                  <p:pic>
                    <p:nvPicPr>
                      <p:cNvPr id="2" name="Object 1">
                        <a:extLst>
                          <a:ext uri="{FF2B5EF4-FFF2-40B4-BE49-F238E27FC236}">
                            <a16:creationId xmlns:a16="http://schemas.microsoft.com/office/drawing/2014/main" id="{3C6B0F6B-4625-4B51-8E9D-6EC62AC605A5}"/>
                          </a:ext>
                        </a:extLst>
                      </p:cNvPr>
                      <p:cNvPicPr/>
                      <p:nvPr/>
                    </p:nvPicPr>
                    <p:blipFill>
                      <a:blip r:embed="rId5"/>
                      <a:stretch>
                        <a:fillRect/>
                      </a:stretch>
                    </p:blipFill>
                    <p:spPr>
                      <a:xfrm>
                        <a:off x="2239112" y="4891335"/>
                        <a:ext cx="473075" cy="252413"/>
                      </a:xfrm>
                      <a:prstGeom prst="rect">
                        <a:avLst/>
                      </a:prstGeom>
                      <a:solidFill>
                        <a:srgbClr val="D4EAE4"/>
                      </a:solidFill>
                    </p:spPr>
                  </p:pic>
                </p:oleObj>
              </mc:Fallback>
            </mc:AlternateContent>
          </a:graphicData>
        </a:graphic>
      </p:graphicFrame>
      <p:graphicFrame>
        <p:nvGraphicFramePr>
          <p:cNvPr id="18" name="Object 17">
            <a:extLst>
              <a:ext uri="{FF2B5EF4-FFF2-40B4-BE49-F238E27FC236}">
                <a16:creationId xmlns:a16="http://schemas.microsoft.com/office/drawing/2014/main" id="{D0505E08-CC08-4CA5-8FFB-64C9E4A23CEE}"/>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070906170"/>
              </p:ext>
            </p:extLst>
          </p:nvPr>
        </p:nvGraphicFramePr>
        <p:xfrm>
          <a:off x="3997207" y="4879858"/>
          <a:ext cx="1654673" cy="262960"/>
        </p:xfrm>
        <a:graphic>
          <a:graphicData uri="http://schemas.openxmlformats.org/presentationml/2006/ole">
            <mc:AlternateContent xmlns:mc="http://schemas.openxmlformats.org/markup-compatibility/2006">
              <mc:Choice xmlns:v="urn:schemas-microsoft-com:vml" Requires="v">
                <p:oleObj name="Equation" r:id="rId6" imgW="1434960" imgH="228600" progId="Equation.DSMT4">
                  <p:embed/>
                </p:oleObj>
              </mc:Choice>
              <mc:Fallback>
                <p:oleObj name="Equation" r:id="rId6" imgW="1434960" imgH="228600" progId="Equation.DSMT4">
                  <p:embed/>
                  <p:pic>
                    <p:nvPicPr>
                      <p:cNvPr id="17" name="Object 16">
                        <a:extLst>
                          <a:ext uri="{FF2B5EF4-FFF2-40B4-BE49-F238E27FC236}">
                            <a16:creationId xmlns:a16="http://schemas.microsoft.com/office/drawing/2014/main" id="{CB2A83D9-2572-43C1-A4E2-DBB18B26CB1C}"/>
                          </a:ext>
                        </a:extLst>
                      </p:cNvPr>
                      <p:cNvPicPr/>
                      <p:nvPr/>
                    </p:nvPicPr>
                    <p:blipFill>
                      <a:blip r:embed="rId7"/>
                      <a:stretch>
                        <a:fillRect/>
                      </a:stretch>
                    </p:blipFill>
                    <p:spPr>
                      <a:xfrm>
                        <a:off x="3997207" y="4879858"/>
                        <a:ext cx="1654673" cy="262960"/>
                      </a:xfrm>
                      <a:prstGeom prst="rect">
                        <a:avLst/>
                      </a:prstGeom>
                      <a:solidFill>
                        <a:srgbClr val="D4EAE4"/>
                      </a:solidFill>
                    </p:spPr>
                  </p:pic>
                </p:oleObj>
              </mc:Fallback>
            </mc:AlternateContent>
          </a:graphicData>
        </a:graphic>
      </p:graphicFrame>
      <p:graphicFrame>
        <p:nvGraphicFramePr>
          <p:cNvPr id="19" name="Object 18">
            <a:extLst>
              <a:ext uri="{FF2B5EF4-FFF2-40B4-BE49-F238E27FC236}">
                <a16:creationId xmlns:a16="http://schemas.microsoft.com/office/drawing/2014/main" id="{B9278406-74B4-47A8-B20D-787D13395E29}"/>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757124202"/>
              </p:ext>
            </p:extLst>
          </p:nvPr>
        </p:nvGraphicFramePr>
        <p:xfrm>
          <a:off x="2246313" y="5260790"/>
          <a:ext cx="458787" cy="252413"/>
        </p:xfrm>
        <a:graphic>
          <a:graphicData uri="http://schemas.openxmlformats.org/presentationml/2006/ole">
            <mc:AlternateContent xmlns:mc="http://schemas.openxmlformats.org/markup-compatibility/2006">
              <mc:Choice xmlns:v="urn:schemas-microsoft-com:vml" Requires="v">
                <p:oleObj name="Equation" r:id="rId8" imgW="368280" imgH="203040" progId="Equation.DSMT4">
                  <p:embed/>
                </p:oleObj>
              </mc:Choice>
              <mc:Fallback>
                <p:oleObj name="Equation" r:id="rId8" imgW="368280" imgH="203040" progId="Equation.DSMT4">
                  <p:embed/>
                  <p:pic>
                    <p:nvPicPr>
                      <p:cNvPr id="14" name="Object 13">
                        <a:extLst>
                          <a:ext uri="{FF2B5EF4-FFF2-40B4-BE49-F238E27FC236}">
                            <a16:creationId xmlns:a16="http://schemas.microsoft.com/office/drawing/2014/main" id="{F0539AEB-B0FE-41E2-BAC0-11FCEE1354F6}"/>
                          </a:ext>
                        </a:extLst>
                      </p:cNvPr>
                      <p:cNvPicPr/>
                      <p:nvPr/>
                    </p:nvPicPr>
                    <p:blipFill>
                      <a:blip r:embed="rId9"/>
                      <a:stretch>
                        <a:fillRect/>
                      </a:stretch>
                    </p:blipFill>
                    <p:spPr>
                      <a:xfrm>
                        <a:off x="2246313" y="5260790"/>
                        <a:ext cx="458787" cy="252413"/>
                      </a:xfrm>
                      <a:prstGeom prst="rect">
                        <a:avLst/>
                      </a:prstGeom>
                      <a:solidFill>
                        <a:srgbClr val="D4EAE4"/>
                      </a:solidFill>
                    </p:spPr>
                  </p:pic>
                </p:oleObj>
              </mc:Fallback>
            </mc:AlternateContent>
          </a:graphicData>
        </a:graphic>
      </p:graphicFrame>
      <p:graphicFrame>
        <p:nvGraphicFramePr>
          <p:cNvPr id="20" name="Object 19">
            <a:extLst>
              <a:ext uri="{FF2B5EF4-FFF2-40B4-BE49-F238E27FC236}">
                <a16:creationId xmlns:a16="http://schemas.microsoft.com/office/drawing/2014/main" id="{8030363E-EC16-42CD-90B8-2809C41954F8}"/>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57493354"/>
              </p:ext>
            </p:extLst>
          </p:nvPr>
        </p:nvGraphicFramePr>
        <p:xfrm>
          <a:off x="4210681" y="5226746"/>
          <a:ext cx="1063951" cy="302829"/>
        </p:xfrm>
        <a:graphic>
          <a:graphicData uri="http://schemas.openxmlformats.org/presentationml/2006/ole">
            <mc:AlternateContent xmlns:mc="http://schemas.openxmlformats.org/markup-compatibility/2006">
              <mc:Choice xmlns:v="urn:schemas-microsoft-com:vml" Requires="v">
                <p:oleObj name="Equation" r:id="rId10" imgW="977760" imgH="279360" progId="Equation.DSMT4">
                  <p:embed/>
                </p:oleObj>
              </mc:Choice>
              <mc:Fallback>
                <p:oleObj name="Equation" r:id="rId10" imgW="977760" imgH="279360" progId="Equation.DSMT4">
                  <p:embed/>
                  <p:pic>
                    <p:nvPicPr>
                      <p:cNvPr id="18" name="Object 17">
                        <a:extLst>
                          <a:ext uri="{FF2B5EF4-FFF2-40B4-BE49-F238E27FC236}">
                            <a16:creationId xmlns:a16="http://schemas.microsoft.com/office/drawing/2014/main" id="{7EF20C89-59E9-480E-97E0-2F0EE830CA90}"/>
                          </a:ext>
                        </a:extLst>
                      </p:cNvPr>
                      <p:cNvPicPr/>
                      <p:nvPr/>
                    </p:nvPicPr>
                    <p:blipFill>
                      <a:blip r:embed="rId11"/>
                      <a:stretch>
                        <a:fillRect/>
                      </a:stretch>
                    </p:blipFill>
                    <p:spPr>
                      <a:xfrm>
                        <a:off x="4210681" y="5226746"/>
                        <a:ext cx="1063951" cy="302829"/>
                      </a:xfrm>
                      <a:prstGeom prst="rect">
                        <a:avLst/>
                      </a:prstGeom>
                      <a:solidFill>
                        <a:srgbClr val="D4EAE4"/>
                      </a:solidFill>
                    </p:spPr>
                  </p:pic>
                </p:oleObj>
              </mc:Fallback>
            </mc:AlternateContent>
          </a:graphicData>
        </a:graphic>
      </p:graphicFrame>
      <p:graphicFrame>
        <p:nvGraphicFramePr>
          <p:cNvPr id="21" name="Object 20">
            <a:extLst>
              <a:ext uri="{FF2B5EF4-FFF2-40B4-BE49-F238E27FC236}">
                <a16:creationId xmlns:a16="http://schemas.microsoft.com/office/drawing/2014/main" id="{2A959E29-C433-4418-9728-666818D1DF02}"/>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565000059"/>
              </p:ext>
            </p:extLst>
          </p:nvPr>
        </p:nvGraphicFramePr>
        <p:xfrm>
          <a:off x="2239111" y="5648620"/>
          <a:ext cx="473075" cy="252412"/>
        </p:xfrm>
        <a:graphic>
          <a:graphicData uri="http://schemas.openxmlformats.org/presentationml/2006/ole">
            <mc:AlternateContent xmlns:mc="http://schemas.openxmlformats.org/markup-compatibility/2006">
              <mc:Choice xmlns:v="urn:schemas-microsoft-com:vml" Requires="v">
                <p:oleObj name="Equation" r:id="rId12" imgW="380880" imgH="203040" progId="Equation.DSMT4">
                  <p:embed/>
                </p:oleObj>
              </mc:Choice>
              <mc:Fallback>
                <p:oleObj name="Equation" r:id="rId12" imgW="380880" imgH="203040" progId="Equation.DSMT4">
                  <p:embed/>
                  <p:pic>
                    <p:nvPicPr>
                      <p:cNvPr id="15" name="Object 14">
                        <a:extLst>
                          <a:ext uri="{FF2B5EF4-FFF2-40B4-BE49-F238E27FC236}">
                            <a16:creationId xmlns:a16="http://schemas.microsoft.com/office/drawing/2014/main" id="{C1D86988-CF6A-4033-A8F5-0E4605FF7EBF}"/>
                          </a:ext>
                        </a:extLst>
                      </p:cNvPr>
                      <p:cNvPicPr/>
                      <p:nvPr/>
                    </p:nvPicPr>
                    <p:blipFill>
                      <a:blip r:embed="rId13"/>
                      <a:stretch>
                        <a:fillRect/>
                      </a:stretch>
                    </p:blipFill>
                    <p:spPr>
                      <a:xfrm>
                        <a:off x="2239111" y="5648620"/>
                        <a:ext cx="473075" cy="252412"/>
                      </a:xfrm>
                      <a:prstGeom prst="rect">
                        <a:avLst/>
                      </a:prstGeom>
                      <a:solidFill>
                        <a:srgbClr val="D4EAE4"/>
                      </a:solidFill>
                    </p:spPr>
                  </p:pic>
                </p:oleObj>
              </mc:Fallback>
            </mc:AlternateContent>
          </a:graphicData>
        </a:graphic>
      </p:graphicFrame>
      <p:graphicFrame>
        <p:nvGraphicFramePr>
          <p:cNvPr id="22" name="Object 21">
            <a:extLst>
              <a:ext uri="{FF2B5EF4-FFF2-40B4-BE49-F238E27FC236}">
                <a16:creationId xmlns:a16="http://schemas.microsoft.com/office/drawing/2014/main" id="{3A629FE6-B4FA-4A18-8B47-A721E9888D2F}"/>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345923204"/>
              </p:ext>
            </p:extLst>
          </p:nvPr>
        </p:nvGraphicFramePr>
        <p:xfrm>
          <a:off x="3959570" y="5620387"/>
          <a:ext cx="1567761" cy="250979"/>
        </p:xfrm>
        <a:graphic>
          <a:graphicData uri="http://schemas.openxmlformats.org/presentationml/2006/ole">
            <mc:AlternateContent xmlns:mc="http://schemas.openxmlformats.org/markup-compatibility/2006">
              <mc:Choice xmlns:v="urn:schemas-microsoft-com:vml" Requires="v">
                <p:oleObj name="Equation" r:id="rId14" imgW="1409400" imgH="228600" progId="Equation.DSMT4">
                  <p:embed/>
                </p:oleObj>
              </mc:Choice>
              <mc:Fallback>
                <p:oleObj name="Equation" r:id="rId14" imgW="1409400" imgH="228600" progId="Equation.DSMT4">
                  <p:embed/>
                  <p:pic>
                    <p:nvPicPr>
                      <p:cNvPr id="19" name="Object 18">
                        <a:extLst>
                          <a:ext uri="{FF2B5EF4-FFF2-40B4-BE49-F238E27FC236}">
                            <a16:creationId xmlns:a16="http://schemas.microsoft.com/office/drawing/2014/main" id="{781BD95C-67F8-45F0-A84A-25586791FDA6}"/>
                          </a:ext>
                        </a:extLst>
                      </p:cNvPr>
                      <p:cNvPicPr/>
                      <p:nvPr/>
                    </p:nvPicPr>
                    <p:blipFill>
                      <a:blip r:embed="rId15"/>
                      <a:stretch>
                        <a:fillRect/>
                      </a:stretch>
                    </p:blipFill>
                    <p:spPr>
                      <a:xfrm>
                        <a:off x="3959570" y="5620387"/>
                        <a:ext cx="1567761" cy="250979"/>
                      </a:xfrm>
                      <a:prstGeom prst="rect">
                        <a:avLst/>
                      </a:prstGeom>
                      <a:solidFill>
                        <a:srgbClr val="D4EAE4"/>
                      </a:solidFill>
                    </p:spPr>
                  </p:pic>
                </p:oleObj>
              </mc:Fallback>
            </mc:AlternateContent>
          </a:graphicData>
        </a:graphic>
      </p:graphicFrame>
      <p:graphicFrame>
        <p:nvGraphicFramePr>
          <p:cNvPr id="25" name="Object 24">
            <a:extLst>
              <a:ext uri="{FF2B5EF4-FFF2-40B4-BE49-F238E27FC236}">
                <a16:creationId xmlns:a16="http://schemas.microsoft.com/office/drawing/2014/main" id="{FC76EFDC-230F-439C-89F5-C8D5A0305515}"/>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113964019"/>
              </p:ext>
            </p:extLst>
          </p:nvPr>
        </p:nvGraphicFramePr>
        <p:xfrm>
          <a:off x="2251578" y="6009612"/>
          <a:ext cx="473075" cy="252412"/>
        </p:xfrm>
        <a:graphic>
          <a:graphicData uri="http://schemas.openxmlformats.org/presentationml/2006/ole">
            <mc:AlternateContent xmlns:mc="http://schemas.openxmlformats.org/markup-compatibility/2006">
              <mc:Choice xmlns:v="urn:schemas-microsoft-com:vml" Requires="v">
                <p:oleObj name="Equation" r:id="rId16" imgW="380880" imgH="203040" progId="Equation.DSMT4">
                  <p:embed/>
                </p:oleObj>
              </mc:Choice>
              <mc:Fallback>
                <p:oleObj name="Equation" r:id="rId16" imgW="380880" imgH="203040" progId="Equation.DSMT4">
                  <p:embed/>
                  <p:pic>
                    <p:nvPicPr>
                      <p:cNvPr id="21" name="Object 20">
                        <a:extLst>
                          <a:ext uri="{FF2B5EF4-FFF2-40B4-BE49-F238E27FC236}">
                            <a16:creationId xmlns:a16="http://schemas.microsoft.com/office/drawing/2014/main" id="{2A959E29-C433-4418-9728-666818D1DF02}"/>
                          </a:ext>
                        </a:extLst>
                      </p:cNvPr>
                      <p:cNvPicPr/>
                      <p:nvPr/>
                    </p:nvPicPr>
                    <p:blipFill>
                      <a:blip r:embed="rId17"/>
                      <a:stretch>
                        <a:fillRect/>
                      </a:stretch>
                    </p:blipFill>
                    <p:spPr>
                      <a:xfrm>
                        <a:off x="2251578" y="6009612"/>
                        <a:ext cx="473075" cy="252412"/>
                      </a:xfrm>
                      <a:prstGeom prst="rect">
                        <a:avLst/>
                      </a:prstGeom>
                      <a:solidFill>
                        <a:srgbClr val="D4EAE4"/>
                      </a:solidFill>
                    </p:spPr>
                  </p:pic>
                </p:oleObj>
              </mc:Fallback>
            </mc:AlternateContent>
          </a:graphicData>
        </a:graphic>
      </p:graphicFrame>
      <p:graphicFrame>
        <p:nvGraphicFramePr>
          <p:cNvPr id="26" name="Object 25">
            <a:extLst>
              <a:ext uri="{FF2B5EF4-FFF2-40B4-BE49-F238E27FC236}">
                <a16:creationId xmlns:a16="http://schemas.microsoft.com/office/drawing/2014/main" id="{488B47BE-7AF5-43D6-B400-FC35D73EEBA3}"/>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489756418"/>
              </p:ext>
            </p:extLst>
          </p:nvPr>
        </p:nvGraphicFramePr>
        <p:xfrm>
          <a:off x="4433152" y="6003241"/>
          <a:ext cx="682509" cy="238283"/>
        </p:xfrm>
        <a:graphic>
          <a:graphicData uri="http://schemas.openxmlformats.org/presentationml/2006/ole">
            <mc:AlternateContent xmlns:mc="http://schemas.openxmlformats.org/markup-compatibility/2006">
              <mc:Choice xmlns:v="urn:schemas-microsoft-com:vml" Requires="v">
                <p:oleObj name="Equation" r:id="rId18" imgW="571320" imgH="203040" progId="Equation.DSMT4">
                  <p:embed/>
                </p:oleObj>
              </mc:Choice>
              <mc:Fallback>
                <p:oleObj name="Equation" r:id="rId18" imgW="571320" imgH="203040" progId="Equation.DSMT4">
                  <p:embed/>
                  <p:pic>
                    <p:nvPicPr>
                      <p:cNvPr id="22" name="Object 21">
                        <a:extLst>
                          <a:ext uri="{FF2B5EF4-FFF2-40B4-BE49-F238E27FC236}">
                            <a16:creationId xmlns:a16="http://schemas.microsoft.com/office/drawing/2014/main" id="{3A629FE6-B4FA-4A18-8B47-A721E9888D2F}"/>
                          </a:ext>
                        </a:extLst>
                      </p:cNvPr>
                      <p:cNvPicPr/>
                      <p:nvPr/>
                    </p:nvPicPr>
                    <p:blipFill>
                      <a:blip r:embed="rId19"/>
                      <a:stretch>
                        <a:fillRect/>
                      </a:stretch>
                    </p:blipFill>
                    <p:spPr>
                      <a:xfrm>
                        <a:off x="4433152" y="6003241"/>
                        <a:ext cx="682509" cy="238283"/>
                      </a:xfrm>
                      <a:prstGeom prst="rect">
                        <a:avLst/>
                      </a:prstGeom>
                      <a:solidFill>
                        <a:srgbClr val="D4EAE4"/>
                      </a:solidFill>
                    </p:spPr>
                  </p:pic>
                </p:oleObj>
              </mc:Fallback>
            </mc:AlternateContent>
          </a:graphicData>
        </a:graphic>
      </p:graphicFrame>
    </p:spTree>
    <p:extLst>
      <p:ext uri="{BB962C8B-B14F-4D97-AF65-F5344CB8AC3E}">
        <p14:creationId xmlns:p14="http://schemas.microsoft.com/office/powerpoint/2010/main" val="15732981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05362"/>
            <a:ext cx="8229600" cy="1144347"/>
          </a:xfrm>
        </p:spPr>
        <p:txBody>
          <a:bodyPr anchor="ctr" anchorCtr="0"/>
          <a:lstStyle/>
          <a:p>
            <a:r>
              <a:rPr lang="en-US" noProof="0" dirty="0"/>
              <a:t>Chapter 4 – techniques of circuit analysis </a:t>
            </a:r>
            <a:r>
              <a:rPr lang="en-US" sz="2800" noProof="0" dirty="0"/>
              <a:t>(19 of 26)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504141"/>
            <a:ext cx="8229600" cy="775015"/>
          </a:xfrm>
        </p:spPr>
        <p:txBody>
          <a:bodyPr wrap="square" lIns="0" tIns="18000" rIns="0" bIns="18000" anchor="ctr" anchorCtr="0">
            <a:spAutoFit/>
          </a:bodyPr>
          <a:lstStyle/>
          <a:p>
            <a:pPr marL="342900" indent="-342900">
              <a:spcBef>
                <a:spcPts val="600"/>
              </a:spcBef>
            </a:pPr>
            <a:r>
              <a:rPr lang="en-US" sz="2400" noProof="0" dirty="0"/>
              <a:t>Node voltage method with a voltage source between two non-reference essential nodes:</a:t>
            </a:r>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27726" y="2372516"/>
            <a:ext cx="3005587" cy="405683"/>
          </a:xfrm>
        </p:spPr>
        <p:txBody>
          <a:bodyPr wrap="square" lIns="0" tIns="18000" rIns="0" bIns="18000" anchor="ctr" anchorCtr="0">
            <a:spAutoFit/>
          </a:bodyPr>
          <a:lstStyle/>
          <a:p>
            <a:pPr marL="829818" lvl="1" indent="-342900"/>
            <a:r>
              <a:rPr lang="en-US" sz="2400" noProof="0" dirty="0">
                <a:solidFill>
                  <a:schemeClr val="tx1"/>
                </a:solidFill>
              </a:rPr>
              <a:t>Find the voltage </a:t>
            </a:r>
          </a:p>
        </p:txBody>
      </p:sp>
      <p:graphicFrame>
        <p:nvGraphicFramePr>
          <p:cNvPr id="10" name="Object 9" descr="v.">
            <a:extLst>
              <a:ext uri="{FF2B5EF4-FFF2-40B4-BE49-F238E27FC236}">
                <a16:creationId xmlns:a16="http://schemas.microsoft.com/office/drawing/2014/main" id="{B73A852E-2CD7-4583-9135-FAF0BA6A32CC}"/>
              </a:ext>
            </a:extLst>
          </p:cNvPr>
          <p:cNvGraphicFramePr>
            <a:graphicFrameLocks noChangeAspect="1"/>
          </p:cNvGraphicFramePr>
          <p:nvPr/>
        </p:nvGraphicFramePr>
        <p:xfrm>
          <a:off x="3546416" y="2483539"/>
          <a:ext cx="276225" cy="252412"/>
        </p:xfrm>
        <a:graphic>
          <a:graphicData uri="http://schemas.openxmlformats.org/presentationml/2006/ole">
            <mc:AlternateContent xmlns:mc="http://schemas.openxmlformats.org/markup-compatibility/2006">
              <mc:Choice xmlns:v="urn:schemas-microsoft-com:vml" Requires="v">
                <p:oleObj name="Equation" r:id="rId3" imgW="152280" imgH="139680" progId="Equation.DSMT4">
                  <p:embed/>
                </p:oleObj>
              </mc:Choice>
              <mc:Fallback>
                <p:oleObj name="Equation" r:id="rId3" imgW="152280" imgH="139680" progId="Equation.DSMT4">
                  <p:embed/>
                  <p:pic>
                    <p:nvPicPr>
                      <p:cNvPr id="10" name="Object 9" descr="v.">
                        <a:extLst>
                          <a:ext uri="{FF2B5EF4-FFF2-40B4-BE49-F238E27FC236}">
                            <a16:creationId xmlns:a16="http://schemas.microsoft.com/office/drawing/2014/main" id="{B73A852E-2CD7-4583-9135-FAF0BA6A32CC}"/>
                          </a:ext>
                        </a:extLst>
                      </p:cNvPr>
                      <p:cNvPicPr/>
                      <p:nvPr/>
                    </p:nvPicPr>
                    <p:blipFill>
                      <a:blip r:embed="rId4"/>
                      <a:stretch>
                        <a:fillRect/>
                      </a:stretch>
                    </p:blipFill>
                    <p:spPr>
                      <a:xfrm>
                        <a:off x="3546416" y="2483539"/>
                        <a:ext cx="276225" cy="252412"/>
                      </a:xfrm>
                      <a:prstGeom prst="rect">
                        <a:avLst/>
                      </a:prstGeom>
                    </p:spPr>
                  </p:pic>
                </p:oleObj>
              </mc:Fallback>
            </mc:AlternateContent>
          </a:graphicData>
        </a:graphic>
      </p:graphicFrame>
      <p:pic>
        <p:nvPicPr>
          <p:cNvPr id="11" name="Picture 2" descr="A circuit diagram shows a 4.8 ampere independent current source with the internal arrow pointing upwards as the leftmost wire in the circuit. Connected in parallel to the 4.8 ampere independent current source from left to right in that order are a 7.5-ohm resistor, a 10-ohm resistor, a 2.5-ohm resistor, and a 12 volt independent voltage source with positive polarity at top and negative at bottom. Six nodes are marked at the points where the wires housing the 7.5-ohm resistor, the 10-ohm resistor, and the 2.5-ohm resistor connect to the top and bottom wires of the circuit. A 2.5-ohm resistor is located in the top wire of the circuit between the nodes where the wires housing the 7.5-ohm resistor and the 10-ohm resistor connect to the top wire. A current dependent voltage source i subscript x is located in the top wire of the circuit between the nodes where the wires housing the 10-ohm resistor and the 2.5-ohm resistor connect to the top wire. A 1-ohm resistor is located in the top wire of the circuit between the points where the wires housing the 2.5-ohm resistor and the 12 volt independent voltage source connect to the top wire. The current dependent voltage source i subscript x has positive polarity at its right end and negative at the left. Current i subscript x flows through the 7.5-ohm resistor from top to bottom. Voltage v develops across the 10-ohm resistor with positive polarity at the top end and negative at the bottom. ">
            <a:extLst>
              <a:ext uri="{FF2B5EF4-FFF2-40B4-BE49-F238E27FC236}">
                <a16:creationId xmlns:a16="http://schemas.microsoft.com/office/drawing/2014/main" id="{7D8715EC-BCC6-43AC-A02D-6EC49F4B6D41}"/>
              </a:ext>
            </a:extLst>
          </p:cNvPr>
          <p:cNvPicPr>
            <a:picLocks noChangeAspect="1" noChangeArrowheads="1"/>
          </p:cNvPicPr>
          <p:nvPr/>
        </p:nvPicPr>
        <p:blipFill>
          <a:blip r:embed="rId5"/>
          <a:srcRect/>
          <a:stretch/>
        </p:blipFill>
        <p:spPr bwMode="auto">
          <a:xfrm>
            <a:off x="2420199" y="2876767"/>
            <a:ext cx="4296921" cy="14996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29524" y="4524619"/>
            <a:ext cx="2744997" cy="405683"/>
          </a:xfrm>
        </p:spPr>
        <p:txBody>
          <a:bodyPr wrap="square" lIns="0" tIns="18000" rIns="0" bIns="18000" anchor="ctr" anchorCtr="0">
            <a:spAutoFit/>
          </a:bodyPr>
          <a:lstStyle/>
          <a:p>
            <a:pPr marL="0" indent="0">
              <a:spcBef>
                <a:spcPts val="600"/>
              </a:spcBef>
              <a:buNone/>
            </a:pPr>
            <a:r>
              <a:rPr lang="en-US" sz="2400" noProof="0" dirty="0">
                <a:solidFill>
                  <a:schemeClr val="tx1"/>
                </a:solidFill>
              </a:rPr>
              <a:t>After Steps 1 and 2,</a:t>
            </a:r>
          </a:p>
        </p:txBody>
      </p:sp>
      <p:pic>
        <p:nvPicPr>
          <p:cNvPr id="12" name="Picture 3" descr="A circuit diagram shows a 4.8 ampere independent current source with the internal arrow pointing upwards as the leftmost wire in the circuit. Connected in parallel to the 4.8 ampere independent current source from left to right in that order are a 7.5-ohm resistor, a 10-ohm resistor, a 2.5-ohm resistor, and a 12 volt independent voltage source with positive polarity at top and negative at bottom. Six nodes are marked at the points where the wires housing the 7.5-ohm resistor, the 10-ohm resistor, and the 2.5-ohm resistor connect to the top and bottom wires of the circuit. A 2.5-ohm resistor is located in the top wire of the circuit between the nodes where the wires housing the 7.5-ohm resistor and the 10-ohm resistor connect to the top wire. A current dependent voltage source i subscript x is located in the top wire of the circuit between the nodes where the wires housing the 10-ohm resistor and the 2.5-ohm resistor connect to the top wire. A 1-ohm resistor is located in the top wire of the circuit between the points where the wires housing the 2.5-ohm resistor and the 12 volt independent voltage source connect to the top wire. The current dependent voltage source i subscript x has positive polarity at its right end and negative at the left. Current i subscript x flows through the 7.5-ohm resistor from top to bottom. Voltage v develops across the 10-ohm resistor with positive polarity at the top end and negative at the bottom. &#10;Voltage v subscript 1 is the voltage marked at the node where the wire housing the 7.5-ohm resistor connects to the top wire in the circuit. Voltage v subscript 2 is the voltage marked at the node where the wire housing the 10-ohm resistor connects to the top wire in the circuit. Voltage v subscript 3 is the voltage marked at the node where the wire housing the 2.5-ohm resistor connects to the top wire in the circuit. The three nodes where the wires housing the 7.5-ohm resistor, the 10-ohm resistor, and the 2.5-ohm resistor connect to the bottom wire of the circuit are encircled.&#10;">
            <a:extLst>
              <a:ext uri="{FF2B5EF4-FFF2-40B4-BE49-F238E27FC236}">
                <a16:creationId xmlns:a16="http://schemas.microsoft.com/office/drawing/2014/main" id="{F4E9FF96-C701-4DE5-86EC-12CD8D83AA79}"/>
              </a:ext>
            </a:extLst>
          </p:cNvPr>
          <p:cNvPicPr>
            <a:picLocks noChangeAspect="1" noChangeArrowheads="1"/>
          </p:cNvPicPr>
          <p:nvPr/>
        </p:nvPicPr>
        <p:blipFill>
          <a:blip r:embed="rId6"/>
          <a:stretch>
            <a:fillRect/>
          </a:stretch>
        </p:blipFill>
        <p:spPr bwMode="auto">
          <a:xfrm>
            <a:off x="2743200" y="5032122"/>
            <a:ext cx="3654229" cy="12791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551641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05362"/>
            <a:ext cx="8229600" cy="1144347"/>
          </a:xfrm>
        </p:spPr>
        <p:txBody>
          <a:bodyPr anchor="ctr" anchorCtr="0"/>
          <a:lstStyle/>
          <a:p>
            <a:r>
              <a:rPr lang="en-US" noProof="0" dirty="0"/>
              <a:t>Chapter 4 – techniques of circuit analysis </a:t>
            </a:r>
            <a:r>
              <a:rPr lang="en-US" sz="2800" noProof="0" dirty="0"/>
              <a:t>(20 of 26)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547271"/>
            <a:ext cx="8229600" cy="651905"/>
          </a:xfrm>
        </p:spPr>
        <p:txBody>
          <a:bodyPr wrap="square" lIns="0" tIns="18000" rIns="0" bIns="18000" anchor="ctr" anchorCtr="0">
            <a:spAutoFit/>
          </a:bodyPr>
          <a:lstStyle/>
          <a:p>
            <a:pPr marL="342900" indent="-342900">
              <a:spcBef>
                <a:spcPts val="600"/>
              </a:spcBef>
            </a:pPr>
            <a:r>
              <a:rPr lang="en-US" sz="2000" noProof="0" dirty="0"/>
              <a:t>Node voltage method with a voltage source between two non-reference essential nodes:</a:t>
            </a:r>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29521" y="2251749"/>
            <a:ext cx="7308373" cy="344128"/>
          </a:xfrm>
        </p:spPr>
        <p:txBody>
          <a:bodyPr wrap="square" lIns="0" tIns="18000" rIns="0" bIns="18000" anchor="ctr" anchorCtr="0">
            <a:spAutoFit/>
          </a:bodyPr>
          <a:lstStyle/>
          <a:p>
            <a:pPr marL="829818" lvl="1" indent="-342900"/>
            <a:r>
              <a:rPr lang="en-US" sz="2000" noProof="0" dirty="0">
                <a:solidFill>
                  <a:schemeClr val="tx1"/>
                </a:solidFill>
              </a:rPr>
              <a:t>Step 3 – Write the </a:t>
            </a:r>
            <a:r>
              <a:rPr lang="en-US" sz="2000" spc="-300" noProof="0" dirty="0">
                <a:solidFill>
                  <a:schemeClr val="tx1"/>
                </a:solidFill>
              </a:rPr>
              <a:t>K C </a:t>
            </a:r>
            <a:r>
              <a:rPr lang="en-US" sz="2000" noProof="0" dirty="0">
                <a:solidFill>
                  <a:schemeClr val="tx1"/>
                </a:solidFill>
              </a:rPr>
              <a:t>L equations. To do this, introduce a</a:t>
            </a:r>
          </a:p>
        </p:txBody>
      </p:sp>
      <p:graphicFrame>
        <p:nvGraphicFramePr>
          <p:cNvPr id="15" name="Object 14" descr="Fourth.">
            <a:extLst>
              <a:ext uri="{FF2B5EF4-FFF2-40B4-BE49-F238E27FC236}">
                <a16:creationId xmlns:a16="http://schemas.microsoft.com/office/drawing/2014/main" id="{832E440A-C70D-4F0B-94BE-18B18E515269}"/>
              </a:ext>
            </a:extLst>
          </p:cNvPr>
          <p:cNvGraphicFramePr>
            <a:graphicFrameLocks noChangeAspect="1"/>
          </p:cNvGraphicFramePr>
          <p:nvPr>
            <p:extLst>
              <p:ext uri="{D42A27DB-BD31-4B8C-83A1-F6EECF244321}">
                <p14:modId xmlns:p14="http://schemas.microsoft.com/office/powerpoint/2010/main" val="4176914476"/>
              </p:ext>
            </p:extLst>
          </p:nvPr>
        </p:nvGraphicFramePr>
        <p:xfrm>
          <a:off x="7785420" y="2283452"/>
          <a:ext cx="364155" cy="320581"/>
        </p:xfrm>
        <a:graphic>
          <a:graphicData uri="http://schemas.openxmlformats.org/presentationml/2006/ole">
            <mc:AlternateContent xmlns:mc="http://schemas.openxmlformats.org/markup-compatibility/2006">
              <mc:Choice xmlns:v="urn:schemas-microsoft-com:vml" Requires="v">
                <p:oleObj name="Equation" r:id="rId3" imgW="215640" imgH="190440" progId="Equation.DSMT4">
                  <p:embed/>
                </p:oleObj>
              </mc:Choice>
              <mc:Fallback>
                <p:oleObj name="Equation" r:id="rId3" imgW="215640" imgH="190440" progId="Equation.DSMT4">
                  <p:embed/>
                  <p:pic>
                    <p:nvPicPr>
                      <p:cNvPr id="15" name="Object 14">
                        <a:extLst>
                          <a:ext uri="{FF2B5EF4-FFF2-40B4-BE49-F238E27FC236}">
                            <a16:creationId xmlns:a16="http://schemas.microsoft.com/office/drawing/2014/main" id="{832E440A-C70D-4F0B-94BE-18B18E515269}"/>
                          </a:ext>
                        </a:extLst>
                      </p:cNvPr>
                      <p:cNvPicPr/>
                      <p:nvPr/>
                    </p:nvPicPr>
                    <p:blipFill>
                      <a:blip r:embed="rId4"/>
                      <a:stretch>
                        <a:fillRect/>
                      </a:stretch>
                    </p:blipFill>
                    <p:spPr>
                      <a:xfrm>
                        <a:off x="7785420" y="2283452"/>
                        <a:ext cx="364155" cy="320581"/>
                      </a:xfrm>
                      <a:prstGeom prst="rect">
                        <a:avLst/>
                      </a:prstGeom>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274916" y="2669957"/>
            <a:ext cx="1441947" cy="344128"/>
          </a:xfrm>
        </p:spPr>
        <p:txBody>
          <a:bodyPr wrap="square" lIns="0" tIns="18000" rIns="0" bIns="18000" anchor="ctr" anchorCtr="0">
            <a:spAutoFit/>
          </a:bodyPr>
          <a:lstStyle/>
          <a:p>
            <a:pPr marL="0" indent="0">
              <a:spcBef>
                <a:spcPts val="600"/>
              </a:spcBef>
              <a:buNone/>
            </a:pPr>
            <a:r>
              <a:rPr lang="en-US" sz="2000" noProof="0" dirty="0">
                <a:solidFill>
                  <a:schemeClr val="tx1"/>
                </a:solidFill>
              </a:rPr>
              <a:t>unknown, </a:t>
            </a:r>
            <a:r>
              <a:rPr lang="en-US" sz="2000" i="1" noProof="0" dirty="0" err="1">
                <a:solidFill>
                  <a:schemeClr val="tx1"/>
                </a:solidFill>
              </a:rPr>
              <a:t>i</a:t>
            </a:r>
            <a:r>
              <a:rPr lang="en-US" sz="2000" noProof="0" dirty="0">
                <a:solidFill>
                  <a:schemeClr val="tx1"/>
                </a:solidFill>
              </a:rPr>
              <a:t>.</a:t>
            </a:r>
          </a:p>
        </p:txBody>
      </p:sp>
      <p:pic>
        <p:nvPicPr>
          <p:cNvPr id="18" name="Picture 7" descr="A circuit diagram shows a 4.8 ampere independent current source with the internal arrow pointing upwards as the leftmost wire in the circuit. Connected in parallel to the 4.8 ampere independent current source from left to right in that order are a 7.5-ohm resistor, a 10-ohm resistor, a 2.5-ohm resistor, and a 12 volt independent voltage source with positive polarity at top and negative at bottom. Six nodes are marked at the points where the wires housing the 7.5-ohm resistor, the 10-ohm resistor, and the 2.5-ohm resistor connect to the top and bottom wires of the circuit. A 2.5-ohm resistor is located in the top wire of the circuit between the nodes where the wires housing the 7.5-ohm resistor and the 10-ohm resistor connect to the top wire. A current dependent voltage source i subscript x is located in the top wire of the circuit between the nodes where the wires housing the 10-ohm resistor and the 2.5-ohm resistor connect to the top wire. A 1-ohm resistor is located in the top wire of the circuit between the points where the wires housing the 2.5-ohm resistor and the 12 volt independent voltage source connect to the top wire. The current dependent voltage source i subscript x has positive polarity at its right end and negative at the left. Current i subscript x flows through the 7.5-ohm resistor from top to bottom. Voltage v develops across the 10-ohm resistor with positive polarity at the top end and negative at the bottom. &#10;Voltage v subscript 1 is the voltage marked at the node where the wire housing the 7.5-ohm resistor connects to the top wire in the circuit. Voltage v subscript 2 is the voltage marked at the node where the wire housing the 10-ohm resistor connects to the top wire in the circuit. Voltage v subscript 3 is the voltage marked at the node where the wire housing the 2.5-ohm resistor connects to the top wire in the circuit. The three nodes where the wires housing the 7.5-ohm resistor, the 10-ohm resistor, and the 2.5-ohm resistor connect to the bottom wire of the circuit are encircled. Current i flows through the current dependent voltage source i subscript x from left to right. &#10;">
            <a:extLst>
              <a:ext uri="{FF2B5EF4-FFF2-40B4-BE49-F238E27FC236}">
                <a16:creationId xmlns:a16="http://schemas.microsoft.com/office/drawing/2014/main" id="{FBCF40FB-7B37-47A9-91FA-33F49F91F2DC}"/>
              </a:ext>
            </a:extLst>
          </p:cNvPr>
          <p:cNvPicPr>
            <a:picLocks noChangeAspect="1" noChangeArrowheads="1"/>
          </p:cNvPicPr>
          <p:nvPr/>
        </p:nvPicPr>
        <p:blipFill>
          <a:blip r:embed="rId5"/>
          <a:stretch>
            <a:fillRect/>
          </a:stretch>
        </p:blipFill>
        <p:spPr bwMode="auto">
          <a:xfrm>
            <a:off x="586245" y="3350080"/>
            <a:ext cx="3641222" cy="1274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9" name="Object 6" descr="At v subscript 1 BaseLine: negative 4.8 plus StartFraction v subscript 1 BaseLine over 7.5 EndFraction plus StartFraction v subscript 1 BaseLine minus v subscript 2 BaseLine over 2.5 EndFraction equals 0.">
            <a:extLst>
              <a:ext uri="{FF2B5EF4-FFF2-40B4-BE49-F238E27FC236}">
                <a16:creationId xmlns:a16="http://schemas.microsoft.com/office/drawing/2014/main" id="{984FFF58-9B14-4C48-A159-0881AD1295A5}"/>
              </a:ext>
            </a:extLst>
          </p:cNvPr>
          <p:cNvGraphicFramePr>
            <a:graphicFrameLocks noChangeAspect="1"/>
          </p:cNvGraphicFramePr>
          <p:nvPr>
            <p:extLst>
              <p:ext uri="{D42A27DB-BD31-4B8C-83A1-F6EECF244321}">
                <p14:modId xmlns:p14="http://schemas.microsoft.com/office/powerpoint/2010/main" val="3070803633"/>
              </p:ext>
            </p:extLst>
          </p:nvPr>
        </p:nvGraphicFramePr>
        <p:xfrm>
          <a:off x="5140885" y="3289891"/>
          <a:ext cx="2770942" cy="571896"/>
        </p:xfrm>
        <a:graphic>
          <a:graphicData uri="http://schemas.openxmlformats.org/presentationml/2006/ole">
            <mc:AlternateContent xmlns:mc="http://schemas.openxmlformats.org/markup-compatibility/2006">
              <mc:Choice xmlns:v="urn:schemas-microsoft-com:vml" Requires="v">
                <p:oleObj name="Equation" r:id="rId6" imgW="1968480" imgH="406080" progId="Equation.DSMT4">
                  <p:embed/>
                </p:oleObj>
              </mc:Choice>
              <mc:Fallback>
                <p:oleObj name="Equation" r:id="rId6" imgW="1968480" imgH="406080" progId="Equation.DSMT4">
                  <p:embed/>
                  <p:pic>
                    <p:nvPicPr>
                      <p:cNvPr id="8" name="Object 6"/>
                      <p:cNvPicPr>
                        <a:picLocks noChangeAspect="1" noChangeArrowheads="1"/>
                      </p:cNvPicPr>
                      <p:nvPr/>
                    </p:nvPicPr>
                    <p:blipFill>
                      <a:blip r:embed="rId7"/>
                      <a:srcRect/>
                      <a:stretch>
                        <a:fillRect/>
                      </a:stretch>
                    </p:blipFill>
                    <p:spPr bwMode="auto">
                      <a:xfrm>
                        <a:off x="5140885" y="3289891"/>
                        <a:ext cx="2770942" cy="5718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 name="Object 6" descr="At v subscript 2 BaseLine: StartFraction v subscript 2 BaseLine minus v subscript 1 BaseLine over 2.5 EndFraction plus StartFraction v subscript 2 BaseLine over 10 EndFraction plus i equals 0.">
            <a:extLst>
              <a:ext uri="{FF2B5EF4-FFF2-40B4-BE49-F238E27FC236}">
                <a16:creationId xmlns:a16="http://schemas.microsoft.com/office/drawing/2014/main" id="{0CA81DF9-D59E-4BAF-85D3-33A219F7ACDA}"/>
              </a:ext>
            </a:extLst>
          </p:cNvPr>
          <p:cNvGraphicFramePr>
            <a:graphicFrameLocks noChangeAspect="1"/>
          </p:cNvGraphicFramePr>
          <p:nvPr>
            <p:extLst>
              <p:ext uri="{D42A27DB-BD31-4B8C-83A1-F6EECF244321}">
                <p14:modId xmlns:p14="http://schemas.microsoft.com/office/powerpoint/2010/main" val="1274732287"/>
              </p:ext>
            </p:extLst>
          </p:nvPr>
        </p:nvGraphicFramePr>
        <p:xfrm>
          <a:off x="5156832" y="3937129"/>
          <a:ext cx="2355478" cy="566234"/>
        </p:xfrm>
        <a:graphic>
          <a:graphicData uri="http://schemas.openxmlformats.org/presentationml/2006/ole">
            <mc:AlternateContent xmlns:mc="http://schemas.openxmlformats.org/markup-compatibility/2006">
              <mc:Choice xmlns:v="urn:schemas-microsoft-com:vml" Requires="v">
                <p:oleObj name="Equation" r:id="rId8" imgW="1688760" imgH="406080" progId="Equation.DSMT4">
                  <p:embed/>
                </p:oleObj>
              </mc:Choice>
              <mc:Fallback>
                <p:oleObj name="Equation" r:id="rId8" imgW="1688760" imgH="406080" progId="Equation.DSMT4">
                  <p:embed/>
                  <p:pic>
                    <p:nvPicPr>
                      <p:cNvPr id="19" name="Object 6">
                        <a:extLst>
                          <a:ext uri="{FF2B5EF4-FFF2-40B4-BE49-F238E27FC236}">
                            <a16:creationId xmlns:a16="http://schemas.microsoft.com/office/drawing/2014/main" id="{984FFF58-9B14-4C48-A159-0881AD1295A5}"/>
                          </a:ext>
                        </a:extLst>
                      </p:cNvPr>
                      <p:cNvPicPr>
                        <a:picLocks noChangeAspect="1" noChangeArrowheads="1"/>
                      </p:cNvPicPr>
                      <p:nvPr/>
                    </p:nvPicPr>
                    <p:blipFill>
                      <a:blip r:embed="rId9"/>
                      <a:srcRect/>
                      <a:stretch>
                        <a:fillRect/>
                      </a:stretch>
                    </p:blipFill>
                    <p:spPr bwMode="auto">
                      <a:xfrm>
                        <a:off x="5156832" y="3937129"/>
                        <a:ext cx="2355478" cy="5662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 name="Object 6" descr="At v subscript 3 BaseLine: negative i plus StartFraction v subscript 3 over 2.5 EndFraction plus StartFraction v subscript 3 BaseLine minus 12 over 1 EndFraction equals 0.">
            <a:extLst>
              <a:ext uri="{FF2B5EF4-FFF2-40B4-BE49-F238E27FC236}">
                <a16:creationId xmlns:a16="http://schemas.microsoft.com/office/drawing/2014/main" id="{D536D8BC-066D-4652-938B-F42C745C43EC}"/>
              </a:ext>
            </a:extLst>
          </p:cNvPr>
          <p:cNvGraphicFramePr>
            <a:graphicFrameLocks noChangeAspect="1"/>
          </p:cNvGraphicFramePr>
          <p:nvPr>
            <p:extLst>
              <p:ext uri="{D42A27DB-BD31-4B8C-83A1-F6EECF244321}">
                <p14:modId xmlns:p14="http://schemas.microsoft.com/office/powerpoint/2010/main" val="3133128616"/>
              </p:ext>
            </p:extLst>
          </p:nvPr>
        </p:nvGraphicFramePr>
        <p:xfrm>
          <a:off x="5174671" y="4569466"/>
          <a:ext cx="2576897" cy="560628"/>
        </p:xfrm>
        <a:graphic>
          <a:graphicData uri="http://schemas.openxmlformats.org/presentationml/2006/ole">
            <mc:AlternateContent xmlns:mc="http://schemas.openxmlformats.org/markup-compatibility/2006">
              <mc:Choice xmlns:v="urn:schemas-microsoft-com:vml" Requires="v">
                <p:oleObj name="Equation" r:id="rId10" imgW="1866600" imgH="406080" progId="Equation.DSMT4">
                  <p:embed/>
                </p:oleObj>
              </mc:Choice>
              <mc:Fallback>
                <p:oleObj name="Equation" r:id="rId10" imgW="1866600" imgH="406080" progId="Equation.DSMT4">
                  <p:embed/>
                  <p:pic>
                    <p:nvPicPr>
                      <p:cNvPr id="20" name="Object 6">
                        <a:extLst>
                          <a:ext uri="{FF2B5EF4-FFF2-40B4-BE49-F238E27FC236}">
                            <a16:creationId xmlns:a16="http://schemas.microsoft.com/office/drawing/2014/main" id="{0CA81DF9-D59E-4BAF-85D3-33A219F7ACDA}"/>
                          </a:ext>
                        </a:extLst>
                      </p:cNvPr>
                      <p:cNvPicPr>
                        <a:picLocks noChangeAspect="1" noChangeArrowheads="1"/>
                      </p:cNvPicPr>
                      <p:nvPr/>
                    </p:nvPicPr>
                    <p:blipFill>
                      <a:blip r:embed="rId11"/>
                      <a:srcRect/>
                      <a:stretch>
                        <a:fillRect/>
                      </a:stretch>
                    </p:blipFill>
                    <p:spPr bwMode="auto">
                      <a:xfrm>
                        <a:off x="5174671" y="4569466"/>
                        <a:ext cx="2576897" cy="560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3907767" y="5241717"/>
            <a:ext cx="4751358" cy="344128"/>
          </a:xfrm>
        </p:spPr>
        <p:txBody>
          <a:bodyPr wrap="square" lIns="0" tIns="18000" rIns="0" bIns="18000" anchor="ctr" anchorCtr="0">
            <a:spAutoFit/>
          </a:bodyPr>
          <a:lstStyle/>
          <a:p>
            <a:pPr marL="0" indent="0">
              <a:spcBef>
                <a:spcPts val="600"/>
              </a:spcBef>
              <a:buNone/>
            </a:pPr>
            <a:r>
              <a:rPr lang="en-US" sz="2000" noProof="0" dirty="0">
                <a:solidFill>
                  <a:schemeClr val="tx1"/>
                </a:solidFill>
              </a:rPr>
              <a:t>Sum the last two equations to eliminate </a:t>
            </a:r>
            <a:r>
              <a:rPr lang="en-US" sz="2000" i="1" noProof="0" dirty="0">
                <a:solidFill>
                  <a:schemeClr val="tx1"/>
                </a:solidFill>
              </a:rPr>
              <a:t>i</a:t>
            </a:r>
            <a:r>
              <a:rPr lang="en-US" sz="2000" noProof="0" dirty="0">
                <a:solidFill>
                  <a:schemeClr val="tx1"/>
                </a:solidFill>
              </a:rPr>
              <a:t>:</a:t>
            </a:r>
          </a:p>
        </p:txBody>
      </p:sp>
      <p:graphicFrame>
        <p:nvGraphicFramePr>
          <p:cNvPr id="23" name="Object 6" descr="The figure illustrates an equation at v subscript 2 and v subscript 3.&#10;Long description is available in notes, press F6.">
            <a:extLst>
              <a:ext uri="{FF2B5EF4-FFF2-40B4-BE49-F238E27FC236}">
                <a16:creationId xmlns:a16="http://schemas.microsoft.com/office/drawing/2014/main" id="{812DA036-0578-40D7-BCA5-8E61FA542219}"/>
              </a:ext>
            </a:extLst>
          </p:cNvPr>
          <p:cNvGraphicFramePr>
            <a:graphicFrameLocks noChangeAspect="1"/>
          </p:cNvGraphicFramePr>
          <p:nvPr>
            <p:extLst>
              <p:ext uri="{D42A27DB-BD31-4B8C-83A1-F6EECF244321}">
                <p14:modId xmlns:p14="http://schemas.microsoft.com/office/powerpoint/2010/main" val="183830538"/>
              </p:ext>
            </p:extLst>
          </p:nvPr>
        </p:nvGraphicFramePr>
        <p:xfrm>
          <a:off x="4805446" y="5650241"/>
          <a:ext cx="3521079" cy="583391"/>
        </p:xfrm>
        <a:graphic>
          <a:graphicData uri="http://schemas.openxmlformats.org/presentationml/2006/ole">
            <mc:AlternateContent xmlns:mc="http://schemas.openxmlformats.org/markup-compatibility/2006">
              <mc:Choice xmlns:v="urn:schemas-microsoft-com:vml" Requires="v">
                <p:oleObj name="Equation" r:id="rId12" imgW="2450880" imgH="406080" progId="Equation.DSMT4">
                  <p:embed/>
                </p:oleObj>
              </mc:Choice>
              <mc:Fallback>
                <p:oleObj name="Equation" r:id="rId12" imgW="2450880" imgH="406080" progId="Equation.DSMT4">
                  <p:embed/>
                  <p:pic>
                    <p:nvPicPr>
                      <p:cNvPr id="22" name="Object 6">
                        <a:extLst>
                          <a:ext uri="{FF2B5EF4-FFF2-40B4-BE49-F238E27FC236}">
                            <a16:creationId xmlns:a16="http://schemas.microsoft.com/office/drawing/2014/main" id="{30CE457D-0E40-4F67-BE77-08F059CDA2E3}"/>
                          </a:ext>
                        </a:extLst>
                      </p:cNvPr>
                      <p:cNvPicPr>
                        <a:picLocks noChangeAspect="1" noChangeArrowheads="1"/>
                      </p:cNvPicPr>
                      <p:nvPr/>
                    </p:nvPicPr>
                    <p:blipFill>
                      <a:blip r:embed="rId13"/>
                      <a:srcRect/>
                      <a:stretch>
                        <a:fillRect/>
                      </a:stretch>
                    </p:blipFill>
                    <p:spPr bwMode="auto">
                      <a:xfrm>
                        <a:off x="4805446" y="5650241"/>
                        <a:ext cx="3521079" cy="5833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2612923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185" y="207224"/>
            <a:ext cx="8229600" cy="1144347"/>
          </a:xfrm>
        </p:spPr>
        <p:txBody>
          <a:bodyPr/>
          <a:lstStyle/>
          <a:p>
            <a:r>
              <a:rPr lang="en-US" dirty="0"/>
              <a:t>Chapter 4 – techniques of circuit analysis </a:t>
            </a:r>
            <a:r>
              <a:rPr lang="en-US" sz="2800" dirty="0"/>
              <a:t>(21 of 26)</a:t>
            </a:r>
            <a:endParaRPr lang="en-US"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8625" y="1500726"/>
            <a:ext cx="8238565" cy="2144621"/>
          </a:xfrm>
        </p:spPr>
        <p:txBody>
          <a:bodyPr wrap="square" lIns="0" tIns="18000" rIns="0" bIns="18000" anchor="ctr">
            <a:spAutoFit/>
          </a:bodyPr>
          <a:lstStyle/>
          <a:p>
            <a:pPr marL="342900" indent="-342900">
              <a:spcBef>
                <a:spcPts val="600"/>
              </a:spcBef>
            </a:pPr>
            <a:r>
              <a:rPr lang="en-US" sz="2200" dirty="0"/>
              <a:t>Node voltage method with a </a:t>
            </a:r>
            <a:r>
              <a:rPr lang="en-US" sz="2200" b="1" dirty="0"/>
              <a:t>supernode</a:t>
            </a:r>
            <a:r>
              <a:rPr lang="en-US" sz="2200" dirty="0"/>
              <a:t>:</a:t>
            </a:r>
          </a:p>
          <a:p>
            <a:pPr marL="829818" lvl="1" indent="-342900"/>
            <a:r>
              <a:rPr lang="en-US" sz="2200" b="1" dirty="0"/>
              <a:t>Instead of introducing another unknown</a:t>
            </a:r>
            <a:r>
              <a:rPr lang="en-US" sz="2200" dirty="0"/>
              <a:t>, combine the two essential nodes and the voltage source in the branch between them into a single supernode. Then in Step 3, write a </a:t>
            </a:r>
            <a:r>
              <a:rPr lang="en-US" sz="2200" spc="-300" dirty="0"/>
              <a:t>K C </a:t>
            </a:r>
            <a:r>
              <a:rPr lang="en-US" sz="2200" dirty="0"/>
              <a:t>L equation for the supernode and a constraint equation for the supernode.</a:t>
            </a:r>
          </a:p>
        </p:txBody>
      </p:sp>
      <p:pic>
        <p:nvPicPr>
          <p:cNvPr id="22" name="Picture 21" descr="A circuit diagram shows a 4.8 ampere independent current source with the internal arrow pointing upwards as the leftmost wire in the circuit. Connected in parallel to the 4.8 ampere independent current source from left to right in that order are a 7.5-ohm resistor, a 10-ohm resistor, a 2.5-ohm resistor, and a 12 volt independent voltage source with positive polarity at top and negative at bottom. Six nodes are marked at the points where the wires housing the 7.5-ohm resistor, the 10-ohm resistor, and the 2.5-ohm resistor connect to the top and bottom wires of the circuit. A 2.5-ohm resistor is located in the top wire of the circuit between the nodes where the wires housing the 7.5-ohm resistor and the 10-ohm resistor connect to the top wire. A current dependent voltage source i subscript x is located in the top wire of the circuit between the nodes where the wires housing the 10-ohm resistor and the 2.5-ohm resistor connect to the top wire. A 1-ohm resistor is located in the top wire of the circuit between the points where the wires housing the 2.5-ohm resistor and the 12 volt independent voltage source connect to the top wire. The current dependent voltage source i subscript x has positive polarity at its right end and negative at the left. Current i subscript x flows through the 7.5-ohm resistor from top to bottom. Voltage v develops across the 10-ohm resistor with positive polarity at the top end and negative at the bottom. &#10;Voltage v subscript 1 is the voltage marked at the node where the wire housing the 7.5-ohm resistor connects to the top wire in the circuit. Voltage v subscript 2 is the voltage marked at the node where the wire housing the 10-ohm resistor connects to the top wire in the circuit. Voltage v subscript 3 is the voltage marked at the node where the wire housing the 2.5-ohm resistor connects to the top wire in the circuit. The nodes with voltages v subscript 2 and voltage v subscript 3 as well as the current dependent voltage source i subscript x are encircled. The three nodes where the wires housing the 7.5-ohm resistor, the 10-ohm resistor, and the 2.5-ohm resistor connect to the bottom wire of the circuit are separately encircled. &#10;">
            <a:extLst>
              <a:ext uri="{FF2B5EF4-FFF2-40B4-BE49-F238E27FC236}">
                <a16:creationId xmlns:a16="http://schemas.microsoft.com/office/drawing/2014/main" id="{DACDF51C-FDA4-4482-AF9F-44DFB9CCACA6}"/>
              </a:ext>
            </a:extLst>
          </p:cNvPr>
          <p:cNvPicPr>
            <a:picLocks noChangeAspect="1" noChangeArrowheads="1"/>
          </p:cNvPicPr>
          <p:nvPr/>
        </p:nvPicPr>
        <p:blipFill>
          <a:blip r:embed="rId3"/>
          <a:stretch>
            <a:fillRect/>
          </a:stretch>
        </p:blipFill>
        <p:spPr bwMode="auto">
          <a:xfrm>
            <a:off x="599498" y="4053748"/>
            <a:ext cx="3221801" cy="1181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4" name="Object 13" descr="At v subscript 1 BaseLine: negative 4.8 plus StartFraction v subscript 1 BaseLine over 7.5 EndFraction plus StartFraction v subscript 1 BaseLine minus v subscript 2 BaseLine over 2.5 EndFraction equals 0.">
            <a:extLst>
              <a:ext uri="{FF2B5EF4-FFF2-40B4-BE49-F238E27FC236}">
                <a16:creationId xmlns:a16="http://schemas.microsoft.com/office/drawing/2014/main" id="{D457A846-A499-4345-9050-535F18E9D054}"/>
              </a:ext>
            </a:extLst>
          </p:cNvPr>
          <p:cNvGraphicFramePr>
            <a:graphicFrameLocks noChangeAspect="1"/>
          </p:cNvGraphicFramePr>
          <p:nvPr>
            <p:extLst>
              <p:ext uri="{D42A27DB-BD31-4B8C-83A1-F6EECF244321}">
                <p14:modId xmlns:p14="http://schemas.microsoft.com/office/powerpoint/2010/main" val="1862526053"/>
              </p:ext>
            </p:extLst>
          </p:nvPr>
        </p:nvGraphicFramePr>
        <p:xfrm>
          <a:off x="4038280" y="3726785"/>
          <a:ext cx="2972331" cy="613757"/>
        </p:xfrm>
        <a:graphic>
          <a:graphicData uri="http://schemas.openxmlformats.org/presentationml/2006/ole">
            <mc:AlternateContent xmlns:mc="http://schemas.openxmlformats.org/markup-compatibility/2006">
              <mc:Choice xmlns:v="urn:schemas-microsoft-com:vml" Requires="v">
                <p:oleObj name="Equation" r:id="rId4" imgW="1968480" imgH="406080" progId="Equation.DSMT4">
                  <p:embed/>
                </p:oleObj>
              </mc:Choice>
              <mc:Fallback>
                <p:oleObj name="Equation" r:id="rId4" imgW="1968480" imgH="406080" progId="Equation.DSMT4">
                  <p:embed/>
                  <p:pic>
                    <p:nvPicPr>
                      <p:cNvPr id="5" name="Object 4">
                        <a:extLst>
                          <a:ext uri="{FF2B5EF4-FFF2-40B4-BE49-F238E27FC236}">
                            <a16:creationId xmlns:a16="http://schemas.microsoft.com/office/drawing/2014/main" id="{381D3711-BBB5-41DD-9497-8E79FC6CA8A4}"/>
                          </a:ext>
                        </a:extLst>
                      </p:cNvPr>
                      <p:cNvPicPr>
                        <a:picLocks noChangeAspect="1" noChangeArrowheads="1"/>
                      </p:cNvPicPr>
                      <p:nvPr/>
                    </p:nvPicPr>
                    <p:blipFill>
                      <a:blip r:embed="rId5"/>
                      <a:srcRect/>
                      <a:stretch>
                        <a:fillRect/>
                      </a:stretch>
                    </p:blipFill>
                    <p:spPr bwMode="auto">
                      <a:xfrm>
                        <a:off x="4038280" y="3726785"/>
                        <a:ext cx="2972331" cy="6137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128060" y="4551618"/>
            <a:ext cx="1748866" cy="374906"/>
          </a:xfrm>
        </p:spPr>
        <p:txBody>
          <a:bodyPr wrap="square" lIns="0" tIns="18000" rIns="0" bIns="18000" anchor="ctr">
            <a:spAutoFit/>
          </a:bodyPr>
          <a:lstStyle/>
          <a:p>
            <a:pPr marL="0" indent="0">
              <a:spcBef>
                <a:spcPts val="600"/>
              </a:spcBef>
              <a:buNone/>
            </a:pPr>
            <a:r>
              <a:rPr lang="en-US" sz="2200" dirty="0"/>
              <a:t>At supernode:</a:t>
            </a:r>
          </a:p>
        </p:txBody>
      </p:sp>
      <p:graphicFrame>
        <p:nvGraphicFramePr>
          <p:cNvPr id="15" name="Object 14" descr="The figure illustrates an equation at the super-node.&#10;Long description is available in notes, press F6.">
            <a:extLst>
              <a:ext uri="{FF2B5EF4-FFF2-40B4-BE49-F238E27FC236}">
                <a16:creationId xmlns:a16="http://schemas.microsoft.com/office/drawing/2014/main" id="{823DEC68-5EE2-426E-ADFF-52A12F43269D}"/>
              </a:ext>
            </a:extLst>
          </p:cNvPr>
          <p:cNvGraphicFramePr>
            <a:graphicFrameLocks noChangeAspect="1"/>
          </p:cNvGraphicFramePr>
          <p:nvPr>
            <p:extLst>
              <p:ext uri="{D42A27DB-BD31-4B8C-83A1-F6EECF244321}">
                <p14:modId xmlns:p14="http://schemas.microsoft.com/office/powerpoint/2010/main" val="2797479090"/>
              </p:ext>
            </p:extLst>
          </p:nvPr>
        </p:nvGraphicFramePr>
        <p:xfrm>
          <a:off x="5948419" y="4405682"/>
          <a:ext cx="2733562" cy="552218"/>
        </p:xfrm>
        <a:graphic>
          <a:graphicData uri="http://schemas.openxmlformats.org/presentationml/2006/ole">
            <mc:AlternateContent xmlns:mc="http://schemas.openxmlformats.org/markup-compatibility/2006">
              <mc:Choice xmlns:v="urn:schemas-microsoft-com:vml" Requires="v">
                <p:oleObj name="Equation" r:id="rId6" imgW="2019240" imgH="406080" progId="Equation.DSMT4">
                  <p:embed/>
                </p:oleObj>
              </mc:Choice>
              <mc:Fallback>
                <p:oleObj name="Equation" r:id="rId6" imgW="2019240" imgH="406080" progId="Equation.DSMT4">
                  <p:embed/>
                  <p:pic>
                    <p:nvPicPr>
                      <p:cNvPr id="8" name="Object 7">
                        <a:extLst>
                          <a:ext uri="{FF2B5EF4-FFF2-40B4-BE49-F238E27FC236}">
                            <a16:creationId xmlns:a16="http://schemas.microsoft.com/office/drawing/2014/main" id="{DD433D91-3640-4F96-9E8C-8AAA34F7DBB1}"/>
                          </a:ext>
                        </a:extLst>
                      </p:cNvPr>
                      <p:cNvPicPr>
                        <a:picLocks noChangeAspect="1" noChangeArrowheads="1"/>
                      </p:cNvPicPr>
                      <p:nvPr/>
                    </p:nvPicPr>
                    <p:blipFill>
                      <a:blip r:embed="rId7"/>
                      <a:srcRect/>
                      <a:stretch>
                        <a:fillRect/>
                      </a:stretch>
                    </p:blipFill>
                    <p:spPr bwMode="auto">
                      <a:xfrm>
                        <a:off x="5948419" y="4405682"/>
                        <a:ext cx="2733562" cy="5522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209437" y="5248772"/>
            <a:ext cx="1800783" cy="374906"/>
          </a:xfrm>
        </p:spPr>
        <p:txBody>
          <a:bodyPr wrap="square" lIns="0" tIns="18000" rIns="0" bIns="18000" anchor="ctr">
            <a:spAutoFit/>
          </a:bodyPr>
          <a:lstStyle/>
          <a:p>
            <a:pPr marL="0" indent="0">
              <a:spcBef>
                <a:spcPts val="600"/>
              </a:spcBef>
              <a:buNone/>
            </a:pPr>
            <a:r>
              <a:rPr lang="en-US" sz="2200" dirty="0"/>
              <a:t>S</a:t>
            </a:r>
            <a:r>
              <a:rPr lang="en-US" sz="100" dirty="0"/>
              <a:t> </a:t>
            </a:r>
            <a:r>
              <a:rPr lang="en-US" sz="2200" dirty="0"/>
              <a:t>N constraint:</a:t>
            </a:r>
          </a:p>
        </p:txBody>
      </p:sp>
      <p:graphicFrame>
        <p:nvGraphicFramePr>
          <p:cNvPr id="16" name="Object 15" descr="v subscript 3 BaseLine minus v subscript 2 BaseLine equals 1 i subscript x BaseLine.">
            <a:extLst>
              <a:ext uri="{FF2B5EF4-FFF2-40B4-BE49-F238E27FC236}">
                <a16:creationId xmlns:a16="http://schemas.microsoft.com/office/drawing/2014/main" id="{AA3BAB84-3594-482F-A0BD-3F19E02F98FF}"/>
              </a:ext>
            </a:extLst>
          </p:cNvPr>
          <p:cNvGraphicFramePr>
            <a:graphicFrameLocks noChangeAspect="1"/>
          </p:cNvGraphicFramePr>
          <p:nvPr>
            <p:extLst>
              <p:ext uri="{D42A27DB-BD31-4B8C-83A1-F6EECF244321}">
                <p14:modId xmlns:p14="http://schemas.microsoft.com/office/powerpoint/2010/main" val="369965744"/>
              </p:ext>
            </p:extLst>
          </p:nvPr>
        </p:nvGraphicFramePr>
        <p:xfrm>
          <a:off x="6123142" y="5244210"/>
          <a:ext cx="1412989" cy="417111"/>
        </p:xfrm>
        <a:graphic>
          <a:graphicData uri="http://schemas.openxmlformats.org/presentationml/2006/ole">
            <mc:AlternateContent xmlns:mc="http://schemas.openxmlformats.org/markup-compatibility/2006">
              <mc:Choice xmlns:v="urn:schemas-microsoft-com:vml" Requires="v">
                <p:oleObj name="Equation" r:id="rId8" imgW="774360" imgH="228600" progId="Equation.DSMT4">
                  <p:embed/>
                </p:oleObj>
              </mc:Choice>
              <mc:Fallback>
                <p:oleObj name="Equation" r:id="rId8" imgW="774360" imgH="228600" progId="Equation.DSMT4">
                  <p:embed/>
                  <p:pic>
                    <p:nvPicPr>
                      <p:cNvPr id="9" name="Object 8">
                        <a:extLst>
                          <a:ext uri="{FF2B5EF4-FFF2-40B4-BE49-F238E27FC236}">
                            <a16:creationId xmlns:a16="http://schemas.microsoft.com/office/drawing/2014/main" id="{2E4229F0-BA6D-47E6-AE04-24F5B56CA65A}"/>
                          </a:ext>
                        </a:extLst>
                      </p:cNvPr>
                      <p:cNvPicPr>
                        <a:picLocks noChangeAspect="1" noChangeArrowheads="1"/>
                      </p:cNvPicPr>
                      <p:nvPr/>
                    </p:nvPicPr>
                    <p:blipFill>
                      <a:blip r:embed="rId9"/>
                      <a:srcRect/>
                      <a:stretch>
                        <a:fillRect/>
                      </a:stretch>
                    </p:blipFill>
                    <p:spPr bwMode="auto">
                      <a:xfrm>
                        <a:off x="6123142" y="5244210"/>
                        <a:ext cx="1412989" cy="4171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4223309" y="5786591"/>
            <a:ext cx="2878791" cy="374906"/>
          </a:xfrm>
        </p:spPr>
        <p:txBody>
          <a:bodyPr wrap="square" lIns="0" tIns="18000" rIns="0" bIns="18000" anchor="ctr">
            <a:spAutoFit/>
          </a:bodyPr>
          <a:lstStyle/>
          <a:p>
            <a:pPr marL="0" indent="0">
              <a:spcBef>
                <a:spcPts val="600"/>
              </a:spcBef>
              <a:buNone/>
            </a:pPr>
            <a:r>
              <a:rPr lang="en-US" sz="2200" dirty="0"/>
              <a:t>Dep source constraint:</a:t>
            </a:r>
          </a:p>
        </p:txBody>
      </p:sp>
      <p:graphicFrame>
        <p:nvGraphicFramePr>
          <p:cNvPr id="17" name="Object 16" descr="i subscript x BaseLine equals StartFraction v subscript 1 BaseLine over 7.5 EndFraction.&#10;">
            <a:extLst>
              <a:ext uri="{FF2B5EF4-FFF2-40B4-BE49-F238E27FC236}">
                <a16:creationId xmlns:a16="http://schemas.microsoft.com/office/drawing/2014/main" id="{4D01215F-CCCA-49F4-97EB-48AD61657D95}"/>
              </a:ext>
            </a:extLst>
          </p:cNvPr>
          <p:cNvGraphicFramePr>
            <a:graphicFrameLocks noChangeAspect="1"/>
          </p:cNvGraphicFramePr>
          <p:nvPr>
            <p:extLst>
              <p:ext uri="{D42A27DB-BD31-4B8C-83A1-F6EECF244321}">
                <p14:modId xmlns:p14="http://schemas.microsoft.com/office/powerpoint/2010/main" val="434581582"/>
              </p:ext>
            </p:extLst>
          </p:nvPr>
        </p:nvGraphicFramePr>
        <p:xfrm>
          <a:off x="7261225" y="5718235"/>
          <a:ext cx="800100" cy="596900"/>
        </p:xfrm>
        <a:graphic>
          <a:graphicData uri="http://schemas.openxmlformats.org/presentationml/2006/ole">
            <mc:AlternateContent xmlns:mc="http://schemas.openxmlformats.org/markup-compatibility/2006">
              <mc:Choice xmlns:v="urn:schemas-microsoft-com:vml" Requires="v">
                <p:oleObj name="Equation" r:id="rId10" imgW="545760" imgH="406080" progId="Equation.DSMT4">
                  <p:embed/>
                </p:oleObj>
              </mc:Choice>
              <mc:Fallback>
                <p:oleObj name="Equation" r:id="rId10" imgW="545760" imgH="406080" progId="Equation.DSMT4">
                  <p:embed/>
                  <p:pic>
                    <p:nvPicPr>
                      <p:cNvPr id="10" name="Object 9">
                        <a:extLst>
                          <a:ext uri="{FF2B5EF4-FFF2-40B4-BE49-F238E27FC236}">
                            <a16:creationId xmlns:a16="http://schemas.microsoft.com/office/drawing/2014/main" id="{CF1402A7-1B52-4B6A-8247-04B18266BF5A}"/>
                          </a:ext>
                        </a:extLst>
                      </p:cNvPr>
                      <p:cNvPicPr>
                        <a:picLocks noChangeAspect="1" noChangeArrowheads="1"/>
                      </p:cNvPicPr>
                      <p:nvPr/>
                    </p:nvPicPr>
                    <p:blipFill>
                      <a:blip r:embed="rId11"/>
                      <a:srcRect/>
                      <a:stretch>
                        <a:fillRect/>
                      </a:stretch>
                    </p:blipFill>
                    <p:spPr bwMode="auto">
                      <a:xfrm>
                        <a:off x="7261225" y="5718235"/>
                        <a:ext cx="800100" cy="596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7300961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12338"/>
            <a:ext cx="8229600" cy="1144347"/>
          </a:xfrm>
        </p:spPr>
        <p:txBody>
          <a:bodyPr anchor="ctr" anchorCtr="0"/>
          <a:lstStyle/>
          <a:p>
            <a:r>
              <a:rPr lang="en-US" noProof="0" dirty="0"/>
              <a:t>Chapter 4 – techniques of circuit analysis </a:t>
            </a:r>
            <a:r>
              <a:rPr lang="en-US" sz="2800" noProof="0" dirty="0"/>
              <a:t>(22 of 26)</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7726" y="1572132"/>
            <a:ext cx="8240024" cy="4422168"/>
          </a:xfrm>
        </p:spPr>
        <p:txBody>
          <a:bodyPr wrap="square" lIns="0" tIns="18000" rIns="0" bIns="18000" anchor="ctr" anchorCtr="0">
            <a:spAutoFit/>
          </a:bodyPr>
          <a:lstStyle/>
          <a:p>
            <a:pPr marL="342900" indent="-342900">
              <a:spcBef>
                <a:spcPts val="600"/>
              </a:spcBef>
            </a:pPr>
            <a:r>
              <a:rPr lang="en-US" noProof="0" dirty="0"/>
              <a:t>Node voltage analysis method, final version</a:t>
            </a:r>
          </a:p>
          <a:p>
            <a:pPr marL="829818" lvl="1" indent="-342900"/>
            <a:r>
              <a:rPr lang="en-US" noProof="0" dirty="0"/>
              <a:t>Step 1 – Identify each essential node.</a:t>
            </a:r>
          </a:p>
          <a:p>
            <a:pPr marL="829818" lvl="1" indent="-342900"/>
            <a:r>
              <a:rPr lang="en-US" noProof="0" dirty="0"/>
              <a:t>Step 2 – Pick and label a reference node; then label the node voltages at the remaining essential nodes.</a:t>
            </a:r>
          </a:p>
          <a:p>
            <a:pPr marL="1229868" lvl="2" indent="-342900"/>
            <a:r>
              <a:rPr lang="en-US" noProof="0" dirty="0"/>
              <a:t>If a voltage source is the only element between an essential node and the reference node, replace the node voltage label with the value of the voltage source.</a:t>
            </a:r>
          </a:p>
          <a:p>
            <a:pPr marL="1229868" lvl="2" indent="-342900"/>
            <a:r>
              <a:rPr lang="en-US" b="1" noProof="0" dirty="0">
                <a:solidFill>
                  <a:srgbClr val="007FA3"/>
                </a:solidFill>
              </a:rPr>
              <a:t>If a </a:t>
            </a:r>
            <a:r>
              <a:rPr lang="en-US" b="1" noProof="0" dirty="0">
                <a:solidFill>
                  <a:srgbClr val="FF0000"/>
                </a:solidFill>
              </a:rPr>
              <a:t>voltage source </a:t>
            </a:r>
            <a:r>
              <a:rPr lang="en-US" b="1" noProof="0" dirty="0">
                <a:solidFill>
                  <a:srgbClr val="007FA3"/>
                </a:solidFill>
              </a:rPr>
              <a:t>is the </a:t>
            </a:r>
            <a:r>
              <a:rPr lang="en-US" b="1" noProof="0" dirty="0">
                <a:solidFill>
                  <a:srgbClr val="FF0000"/>
                </a:solidFill>
              </a:rPr>
              <a:t>only element between two nonreference essential nodes</a:t>
            </a:r>
            <a:r>
              <a:rPr lang="en-US" noProof="0" dirty="0">
                <a:solidFill>
                  <a:srgbClr val="007FA3"/>
                </a:solidFill>
              </a:rPr>
              <a:t>, combine the nodes and the source into a single supernode</a:t>
            </a:r>
            <a:r>
              <a:rPr lang="en-US" noProof="0" dirty="0"/>
              <a:t>.</a:t>
            </a:r>
          </a:p>
          <a:p>
            <a:pPr marL="829818" lvl="1" indent="-342900"/>
            <a:r>
              <a:rPr lang="en-US" noProof="0" dirty="0"/>
              <a:t>Step 3 – Write a </a:t>
            </a:r>
            <a:r>
              <a:rPr lang="en-US" spc="-200" noProof="0" dirty="0"/>
              <a:t>K C </a:t>
            </a:r>
            <a:r>
              <a:rPr lang="en-US" noProof="0" dirty="0"/>
              <a:t>L equation </a:t>
            </a:r>
            <a:r>
              <a:rPr lang="en-US" noProof="0" dirty="0">
                <a:solidFill>
                  <a:srgbClr val="007FA3"/>
                </a:solidFill>
              </a:rPr>
              <a:t>for each supernode</a:t>
            </a:r>
            <a:r>
              <a:rPr lang="en-US" noProof="0" dirty="0"/>
              <a:t> and for every remaining nonreference essential node where the voltage is unknown.</a:t>
            </a:r>
          </a:p>
          <a:p>
            <a:pPr marL="1229868" lvl="2" indent="-342900"/>
            <a:r>
              <a:rPr lang="en-US" noProof="0" dirty="0"/>
              <a:t>If there are dependent sources, write a constraint equation for each one.</a:t>
            </a:r>
          </a:p>
          <a:p>
            <a:pPr marL="1229868" lvl="2" indent="-342900"/>
            <a:r>
              <a:rPr lang="en-US" b="1" noProof="0" dirty="0">
                <a:solidFill>
                  <a:srgbClr val="007FA3"/>
                </a:solidFill>
              </a:rPr>
              <a:t>If there are </a:t>
            </a:r>
            <a:r>
              <a:rPr lang="en-US" b="1" noProof="0" dirty="0" err="1">
                <a:solidFill>
                  <a:srgbClr val="007FA3"/>
                </a:solidFill>
              </a:rPr>
              <a:t>supernodes</a:t>
            </a:r>
            <a:r>
              <a:rPr lang="en-US" b="1" noProof="0" dirty="0">
                <a:solidFill>
                  <a:srgbClr val="007FA3"/>
                </a:solidFill>
              </a:rPr>
              <a:t>, write a constraint equation for each one</a:t>
            </a:r>
            <a:r>
              <a:rPr lang="en-US" b="1" noProof="0" dirty="0"/>
              <a:t>.</a:t>
            </a:r>
          </a:p>
          <a:p>
            <a:pPr marL="829818" lvl="1" indent="-342900"/>
            <a:r>
              <a:rPr lang="en-US" noProof="0" dirty="0"/>
              <a:t>Step 4 – Solve the equations to find the node-voltage values.</a:t>
            </a:r>
          </a:p>
          <a:p>
            <a:pPr marL="829818" lvl="1" indent="-342900"/>
            <a:r>
              <a:rPr lang="en-US" noProof="0" dirty="0"/>
              <a:t>Step 5 – Solve the circuit using node voltages from Step 4.</a:t>
            </a:r>
          </a:p>
        </p:txBody>
      </p:sp>
    </p:spTree>
    <p:extLst>
      <p:ext uri="{BB962C8B-B14F-4D97-AF65-F5344CB8AC3E}">
        <p14:creationId xmlns:p14="http://schemas.microsoft.com/office/powerpoint/2010/main" val="34533299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05362"/>
            <a:ext cx="8229600" cy="1144347"/>
          </a:xfrm>
        </p:spPr>
        <p:txBody>
          <a:bodyPr anchor="ctr" anchorCtr="0"/>
          <a:lstStyle/>
          <a:p>
            <a:r>
              <a:rPr lang="en-US" noProof="0" dirty="0"/>
              <a:t>Chapter 4 – techniques of circuit analysis </a:t>
            </a:r>
            <a:r>
              <a:rPr lang="en-US" sz="2800" noProof="0" dirty="0"/>
              <a:t>(23 of 26)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547271"/>
            <a:ext cx="8229600" cy="344128"/>
          </a:xfrm>
        </p:spPr>
        <p:txBody>
          <a:bodyPr wrap="square" lIns="0" tIns="18000" rIns="0" bIns="18000" anchor="ctr" anchorCtr="0">
            <a:spAutoFit/>
          </a:bodyPr>
          <a:lstStyle/>
          <a:p>
            <a:pPr marL="342900" indent="-342900">
              <a:spcBef>
                <a:spcPts val="600"/>
              </a:spcBef>
            </a:pPr>
            <a:r>
              <a:rPr lang="en-US" sz="2000" noProof="0" dirty="0"/>
              <a:t>Node voltage method with a super node:</a:t>
            </a:r>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29521" y="1958455"/>
            <a:ext cx="2650109" cy="344128"/>
          </a:xfrm>
        </p:spPr>
        <p:txBody>
          <a:bodyPr wrap="square" lIns="0" tIns="18000" rIns="0" bIns="18000" anchor="ctr" anchorCtr="0">
            <a:spAutoFit/>
          </a:bodyPr>
          <a:lstStyle/>
          <a:p>
            <a:pPr marL="829818" lvl="1" indent="-342900"/>
            <a:r>
              <a:rPr lang="en-US" sz="2000" noProof="0" dirty="0">
                <a:solidFill>
                  <a:schemeClr val="tx1"/>
                </a:solidFill>
              </a:rPr>
              <a:t>Find the voltage</a:t>
            </a:r>
          </a:p>
        </p:txBody>
      </p:sp>
      <p:graphicFrame>
        <p:nvGraphicFramePr>
          <p:cNvPr id="15" name="Object 14" descr="v.">
            <a:extLst>
              <a:ext uri="{FF2B5EF4-FFF2-40B4-BE49-F238E27FC236}">
                <a16:creationId xmlns:a16="http://schemas.microsoft.com/office/drawing/2014/main" id="{832E440A-C70D-4F0B-94BE-18B18E515269}"/>
              </a:ext>
            </a:extLst>
          </p:cNvPr>
          <p:cNvGraphicFramePr>
            <a:graphicFrameLocks noChangeAspect="1"/>
          </p:cNvGraphicFramePr>
          <p:nvPr>
            <p:extLst>
              <p:ext uri="{D42A27DB-BD31-4B8C-83A1-F6EECF244321}">
                <p14:modId xmlns:p14="http://schemas.microsoft.com/office/powerpoint/2010/main" val="4288114118"/>
              </p:ext>
            </p:extLst>
          </p:nvPr>
        </p:nvGraphicFramePr>
        <p:xfrm>
          <a:off x="3148013" y="2057400"/>
          <a:ext cx="255587" cy="234950"/>
        </p:xfrm>
        <a:graphic>
          <a:graphicData uri="http://schemas.openxmlformats.org/presentationml/2006/ole">
            <mc:AlternateContent xmlns:mc="http://schemas.openxmlformats.org/markup-compatibility/2006">
              <mc:Choice xmlns:v="urn:schemas-microsoft-com:vml" Requires="v">
                <p:oleObj name="Equation" r:id="rId3" imgW="152280" imgH="139680" progId="Equation.DSMT4">
                  <p:embed/>
                </p:oleObj>
              </mc:Choice>
              <mc:Fallback>
                <p:oleObj name="Equation" r:id="rId3" imgW="152280" imgH="139680" progId="Equation.DSMT4">
                  <p:embed/>
                  <p:pic>
                    <p:nvPicPr>
                      <p:cNvPr id="15" name="Object 14">
                        <a:extLst>
                          <a:ext uri="{FF2B5EF4-FFF2-40B4-BE49-F238E27FC236}">
                            <a16:creationId xmlns:a16="http://schemas.microsoft.com/office/drawing/2014/main" id="{832E440A-C70D-4F0B-94BE-18B18E515269}"/>
                          </a:ext>
                        </a:extLst>
                      </p:cNvPr>
                      <p:cNvPicPr/>
                      <p:nvPr/>
                    </p:nvPicPr>
                    <p:blipFill>
                      <a:blip r:embed="rId4"/>
                      <a:stretch>
                        <a:fillRect/>
                      </a:stretch>
                    </p:blipFill>
                    <p:spPr>
                      <a:xfrm>
                        <a:off x="3148013" y="2057400"/>
                        <a:ext cx="255587" cy="234950"/>
                      </a:xfrm>
                      <a:prstGeom prst="rect">
                        <a:avLst/>
                      </a:prstGeom>
                    </p:spPr>
                  </p:pic>
                </p:oleObj>
              </mc:Fallback>
            </mc:AlternateContent>
          </a:graphicData>
        </a:graphic>
      </p:graphicFrame>
      <p:pic>
        <p:nvPicPr>
          <p:cNvPr id="16" name="Picture 5" descr="A circuit diagram shows a 4.8 ampere independent current source with the internal arrow pointing upwards as the leftmost wire in the circuit. Connected in parallel to the 4.8 ampere independent current source from left to right in that order are a 7.5-ohm resistor, a 10-ohm resistor, a 2.5-ohm resistor, and a 12 volt independent voltage source with positive polarity at top and negative at bottom. Six nodes are marked at the points where the wires housing the 7.5-ohm resistor, the 10-ohm resistor, and the 2.5-ohm resistor connect to the top and bottom wires of the circuit. A 2.5-ohm resistor is located in the top wire of the circuit between the nodes where the wires housing the 7.5-ohm resistor and the 10-ohm resistor connect to the top wire. A current dependent voltage source i subscript x is located in the top wire of the circuit between the nodes where the wires housing the 10-ohm resistor and the 2.5-ohm resistor connect to the top wire. A 1-ohm resistor is located in the top wire of the circuit between the points where the wires housing the 2.5-ohm resistor and the 12 volt independent voltage source connect to the top wire. The current dependent voltage source i subscript x has positive polarity at its right end and negative at the left. Current i subscript x flows through the 7.5-ohm resistor from top to bottom. Voltage v develops across the 10-ohm resistor with positive polarity at the top end and negative at the bottom. &#10;Voltage v subscript 1 is the voltage marked at the node where the wire housing the 7.5-ohm resistor connects to the top wire in the circuit. Voltage v subscript 2 is the voltage marked at the node where the wire housing the 10-ohm resistor connects to the top wire in the circuit. Voltage v subscript 3 is the voltage marked at the node where the wire housing the 2.5-ohm resistor connects to the top wire in the circuit. The nodes with voltages v subscript 2 and voltage v subscript 3 as well as the current dependent voltage source i subscript x are encircled. The three nodes where the wires housing the 7.5-ohm resistor, the 10-ohm resistor, and the 2.5-ohm resistor connect to the bottom wire of the circuit are separately encircled. &#10;">
            <a:extLst>
              <a:ext uri="{FF2B5EF4-FFF2-40B4-BE49-F238E27FC236}">
                <a16:creationId xmlns:a16="http://schemas.microsoft.com/office/drawing/2014/main" id="{4A2E3B46-B8D0-4A51-9E88-DAB58890BE63}"/>
              </a:ext>
            </a:extLst>
          </p:cNvPr>
          <p:cNvPicPr>
            <a:picLocks noChangeAspect="1" noChangeArrowheads="1"/>
          </p:cNvPicPr>
          <p:nvPr/>
        </p:nvPicPr>
        <p:blipFill>
          <a:blip r:embed="rId5"/>
          <a:stretch>
            <a:fillRect/>
          </a:stretch>
        </p:blipFill>
        <p:spPr bwMode="auto">
          <a:xfrm>
            <a:off x="5423310" y="2044649"/>
            <a:ext cx="3035080" cy="1113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32699" y="3247933"/>
            <a:ext cx="8229600" cy="344128"/>
          </a:xfrm>
        </p:spPr>
        <p:txBody>
          <a:bodyPr wrap="square" lIns="0" tIns="18000" rIns="0" bIns="18000" anchor="ctr" anchorCtr="0">
            <a:spAutoFit/>
          </a:bodyPr>
          <a:lstStyle/>
          <a:p>
            <a:pPr marL="0" indent="0">
              <a:spcBef>
                <a:spcPts val="600"/>
              </a:spcBef>
              <a:buNone/>
            </a:pPr>
            <a:r>
              <a:rPr lang="en-US" sz="2000" noProof="0" dirty="0">
                <a:solidFill>
                  <a:schemeClr val="tx1"/>
                </a:solidFill>
              </a:rPr>
              <a:t>Step 4 – Solve the equations (using standard form):</a:t>
            </a:r>
          </a:p>
        </p:txBody>
      </p:sp>
      <p:graphicFrame>
        <p:nvGraphicFramePr>
          <p:cNvPr id="17" name="Object 16" descr="The figure illustrates an equation to obtain an output of 4.8.&#10;Long description 1 is available in notes, press F6.">
            <a:extLst>
              <a:ext uri="{FF2B5EF4-FFF2-40B4-BE49-F238E27FC236}">
                <a16:creationId xmlns:a16="http://schemas.microsoft.com/office/drawing/2014/main" id="{E31F1757-3927-492A-B372-4207A7D82B96}"/>
              </a:ext>
            </a:extLst>
          </p:cNvPr>
          <p:cNvGraphicFramePr>
            <a:graphicFrameLocks noChangeAspect="1"/>
          </p:cNvGraphicFramePr>
          <p:nvPr>
            <p:extLst>
              <p:ext uri="{D42A27DB-BD31-4B8C-83A1-F6EECF244321}">
                <p14:modId xmlns:p14="http://schemas.microsoft.com/office/powerpoint/2010/main" val="1781233469"/>
              </p:ext>
            </p:extLst>
          </p:nvPr>
        </p:nvGraphicFramePr>
        <p:xfrm>
          <a:off x="2722644" y="3713579"/>
          <a:ext cx="3862225" cy="552825"/>
        </p:xfrm>
        <a:graphic>
          <a:graphicData uri="http://schemas.openxmlformats.org/presentationml/2006/ole">
            <mc:AlternateContent xmlns:mc="http://schemas.openxmlformats.org/markup-compatibility/2006">
              <mc:Choice xmlns:v="urn:schemas-microsoft-com:vml" Requires="v">
                <p:oleObj name="Equation" r:id="rId6" imgW="3022560" imgH="431640" progId="Equation.DSMT4">
                  <p:embed/>
                </p:oleObj>
              </mc:Choice>
              <mc:Fallback>
                <p:oleObj name="Equation" r:id="rId6" imgW="3022560" imgH="431640" progId="Equation.DSMT4">
                  <p:embed/>
                  <p:pic>
                    <p:nvPicPr>
                      <p:cNvPr id="5" name="Object 4"/>
                      <p:cNvPicPr>
                        <a:picLocks noChangeAspect="1" noChangeArrowheads="1"/>
                      </p:cNvPicPr>
                      <p:nvPr/>
                    </p:nvPicPr>
                    <p:blipFill>
                      <a:blip r:embed="rId7"/>
                      <a:srcRect/>
                      <a:stretch>
                        <a:fillRect/>
                      </a:stretch>
                    </p:blipFill>
                    <p:spPr bwMode="auto">
                      <a:xfrm>
                        <a:off x="2722644" y="3713579"/>
                        <a:ext cx="3862225" cy="55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 name="Object 21" descr="The figure illustrates an equation to obtain an output of 12.&#10;Long description 2 is available in notes, press F6.">
            <a:extLst>
              <a:ext uri="{FF2B5EF4-FFF2-40B4-BE49-F238E27FC236}">
                <a16:creationId xmlns:a16="http://schemas.microsoft.com/office/drawing/2014/main" id="{5D84B46F-31ED-4A35-8586-7513DD7A9793}"/>
              </a:ext>
            </a:extLst>
          </p:cNvPr>
          <p:cNvGraphicFramePr>
            <a:graphicFrameLocks noChangeAspect="1"/>
          </p:cNvGraphicFramePr>
          <p:nvPr>
            <p:extLst>
              <p:ext uri="{D42A27DB-BD31-4B8C-83A1-F6EECF244321}">
                <p14:modId xmlns:p14="http://schemas.microsoft.com/office/powerpoint/2010/main" val="3930152160"/>
              </p:ext>
            </p:extLst>
          </p:nvPr>
        </p:nvGraphicFramePr>
        <p:xfrm>
          <a:off x="2758442" y="4352757"/>
          <a:ext cx="4141535" cy="536566"/>
        </p:xfrm>
        <a:graphic>
          <a:graphicData uri="http://schemas.openxmlformats.org/presentationml/2006/ole">
            <mc:AlternateContent xmlns:mc="http://schemas.openxmlformats.org/markup-compatibility/2006">
              <mc:Choice xmlns:v="urn:schemas-microsoft-com:vml" Requires="v">
                <p:oleObj name="Equation" r:id="rId8" imgW="3340080" imgH="431640" progId="Equation.DSMT4">
                  <p:embed/>
                </p:oleObj>
              </mc:Choice>
              <mc:Fallback>
                <p:oleObj name="Equation" r:id="rId8" imgW="3340080" imgH="431640" progId="Equation.DSMT4">
                  <p:embed/>
                  <p:pic>
                    <p:nvPicPr>
                      <p:cNvPr id="17" name="Object 16">
                        <a:extLst>
                          <a:ext uri="{FF2B5EF4-FFF2-40B4-BE49-F238E27FC236}">
                            <a16:creationId xmlns:a16="http://schemas.microsoft.com/office/drawing/2014/main" id="{E31F1757-3927-492A-B372-4207A7D82B96}"/>
                          </a:ext>
                        </a:extLst>
                      </p:cNvPr>
                      <p:cNvPicPr>
                        <a:picLocks noChangeAspect="1" noChangeArrowheads="1"/>
                      </p:cNvPicPr>
                      <p:nvPr/>
                    </p:nvPicPr>
                    <p:blipFill>
                      <a:blip r:embed="rId9"/>
                      <a:srcRect/>
                      <a:stretch>
                        <a:fillRect/>
                      </a:stretch>
                    </p:blipFill>
                    <p:spPr bwMode="auto">
                      <a:xfrm>
                        <a:off x="2758442" y="4352757"/>
                        <a:ext cx="4141535" cy="536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 name="Object 23" descr="The figure illustrates an equation to obtain an output of 0.&#10;Long description 3 is available in notes, press F6.">
            <a:extLst>
              <a:ext uri="{FF2B5EF4-FFF2-40B4-BE49-F238E27FC236}">
                <a16:creationId xmlns:a16="http://schemas.microsoft.com/office/drawing/2014/main" id="{1AABFF8A-E688-4E9B-81D9-D209593217CA}"/>
              </a:ext>
            </a:extLst>
          </p:cNvPr>
          <p:cNvGraphicFramePr>
            <a:graphicFrameLocks noChangeAspect="1"/>
          </p:cNvGraphicFramePr>
          <p:nvPr>
            <p:extLst>
              <p:ext uri="{D42A27DB-BD31-4B8C-83A1-F6EECF244321}">
                <p14:modId xmlns:p14="http://schemas.microsoft.com/office/powerpoint/2010/main" val="1162058184"/>
              </p:ext>
            </p:extLst>
          </p:nvPr>
        </p:nvGraphicFramePr>
        <p:xfrm>
          <a:off x="2796578" y="5033993"/>
          <a:ext cx="2763838" cy="307975"/>
        </p:xfrm>
        <a:graphic>
          <a:graphicData uri="http://schemas.openxmlformats.org/presentationml/2006/ole">
            <mc:AlternateContent xmlns:mc="http://schemas.openxmlformats.org/markup-compatibility/2006">
              <mc:Choice xmlns:v="urn:schemas-microsoft-com:vml" Requires="v">
                <p:oleObj name="Equation" r:id="rId10" imgW="2057400" imgH="228600" progId="Equation.DSMT4">
                  <p:embed/>
                </p:oleObj>
              </mc:Choice>
              <mc:Fallback>
                <p:oleObj name="Equation" r:id="rId10" imgW="2057400" imgH="228600" progId="Equation.DSMT4">
                  <p:embed/>
                  <p:pic>
                    <p:nvPicPr>
                      <p:cNvPr id="22" name="Object 21">
                        <a:extLst>
                          <a:ext uri="{FF2B5EF4-FFF2-40B4-BE49-F238E27FC236}">
                            <a16:creationId xmlns:a16="http://schemas.microsoft.com/office/drawing/2014/main" id="{5D84B46F-31ED-4A35-8586-7513DD7A9793}"/>
                          </a:ext>
                        </a:extLst>
                      </p:cNvPr>
                      <p:cNvPicPr>
                        <a:picLocks noChangeAspect="1" noChangeArrowheads="1"/>
                      </p:cNvPicPr>
                      <p:nvPr/>
                    </p:nvPicPr>
                    <p:blipFill>
                      <a:blip r:embed="rId11"/>
                      <a:srcRect/>
                      <a:stretch>
                        <a:fillRect/>
                      </a:stretch>
                    </p:blipFill>
                    <p:spPr bwMode="auto">
                      <a:xfrm>
                        <a:off x="2796578" y="5033993"/>
                        <a:ext cx="276383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6" name="Object 25" descr="The figure illustrates the calculation to obtain an output of 0.&#10;Long description 4 is available in notes, press F6.">
            <a:extLst>
              <a:ext uri="{FF2B5EF4-FFF2-40B4-BE49-F238E27FC236}">
                <a16:creationId xmlns:a16="http://schemas.microsoft.com/office/drawing/2014/main" id="{E8CBD7C6-901C-47E6-82D5-845AFE6B7E33}"/>
              </a:ext>
            </a:extLst>
          </p:cNvPr>
          <p:cNvGraphicFramePr>
            <a:graphicFrameLocks noChangeAspect="1"/>
          </p:cNvGraphicFramePr>
          <p:nvPr>
            <p:extLst>
              <p:ext uri="{D42A27DB-BD31-4B8C-83A1-F6EECF244321}">
                <p14:modId xmlns:p14="http://schemas.microsoft.com/office/powerpoint/2010/main" val="3378718441"/>
              </p:ext>
            </p:extLst>
          </p:nvPr>
        </p:nvGraphicFramePr>
        <p:xfrm>
          <a:off x="2819062" y="5447184"/>
          <a:ext cx="2706383" cy="519363"/>
        </p:xfrm>
        <a:graphic>
          <a:graphicData uri="http://schemas.openxmlformats.org/presentationml/2006/ole">
            <mc:AlternateContent xmlns:mc="http://schemas.openxmlformats.org/markup-compatibility/2006">
              <mc:Choice xmlns:v="urn:schemas-microsoft-com:vml" Requires="v">
                <p:oleObj name="Equation" r:id="rId12" imgW="2247840" imgH="431640" progId="Equation.DSMT4">
                  <p:embed/>
                </p:oleObj>
              </mc:Choice>
              <mc:Fallback>
                <p:oleObj name="Equation" r:id="rId12" imgW="2247840" imgH="431640" progId="Equation.DSMT4">
                  <p:embed/>
                  <p:pic>
                    <p:nvPicPr>
                      <p:cNvPr id="25" name="Object 24">
                        <a:extLst>
                          <a:ext uri="{FF2B5EF4-FFF2-40B4-BE49-F238E27FC236}">
                            <a16:creationId xmlns:a16="http://schemas.microsoft.com/office/drawing/2014/main" id="{3C7C7AF4-460F-49C8-AA8D-C8FA266EEA9B}"/>
                          </a:ext>
                        </a:extLst>
                      </p:cNvPr>
                      <p:cNvPicPr>
                        <a:picLocks noChangeAspect="1" noChangeArrowheads="1"/>
                      </p:cNvPicPr>
                      <p:nvPr/>
                    </p:nvPicPr>
                    <p:blipFill>
                      <a:blip r:embed="rId13"/>
                      <a:srcRect/>
                      <a:stretch>
                        <a:fillRect/>
                      </a:stretch>
                    </p:blipFill>
                    <p:spPr bwMode="auto">
                      <a:xfrm>
                        <a:off x="2819062" y="5447184"/>
                        <a:ext cx="2706383" cy="51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 name="Object 24" descr="v subscript 1 BaseLine equals 15 Volts;&#10;">
            <a:extLst>
              <a:ext uri="{FF2B5EF4-FFF2-40B4-BE49-F238E27FC236}">
                <a16:creationId xmlns:a16="http://schemas.microsoft.com/office/drawing/2014/main" id="{3C7C7AF4-460F-49C8-AA8D-C8FA266EEA9B}"/>
              </a:ext>
            </a:extLst>
          </p:cNvPr>
          <p:cNvGraphicFramePr>
            <a:graphicFrameLocks noChangeAspect="1"/>
          </p:cNvGraphicFramePr>
          <p:nvPr>
            <p:extLst>
              <p:ext uri="{D42A27DB-BD31-4B8C-83A1-F6EECF244321}">
                <p14:modId xmlns:p14="http://schemas.microsoft.com/office/powerpoint/2010/main" val="3938456345"/>
              </p:ext>
            </p:extLst>
          </p:nvPr>
        </p:nvGraphicFramePr>
        <p:xfrm>
          <a:off x="2781445" y="6110288"/>
          <a:ext cx="903288" cy="306387"/>
        </p:xfrm>
        <a:graphic>
          <a:graphicData uri="http://schemas.openxmlformats.org/presentationml/2006/ole">
            <mc:AlternateContent xmlns:mc="http://schemas.openxmlformats.org/markup-compatibility/2006">
              <mc:Choice xmlns:v="urn:schemas-microsoft-com:vml" Requires="v">
                <p:oleObj name="Equation" r:id="rId14" imgW="672840" imgH="228600" progId="Equation.DSMT4">
                  <p:embed/>
                </p:oleObj>
              </mc:Choice>
              <mc:Fallback>
                <p:oleObj name="Equation" r:id="rId14" imgW="672840" imgH="228600" progId="Equation.DSMT4">
                  <p:embed/>
                  <p:pic>
                    <p:nvPicPr>
                      <p:cNvPr id="24" name="Object 23">
                        <a:extLst>
                          <a:ext uri="{FF2B5EF4-FFF2-40B4-BE49-F238E27FC236}">
                            <a16:creationId xmlns:a16="http://schemas.microsoft.com/office/drawing/2014/main" id="{1AABFF8A-E688-4E9B-81D9-D209593217CA}"/>
                          </a:ext>
                        </a:extLst>
                      </p:cNvPr>
                      <p:cNvPicPr>
                        <a:picLocks noChangeAspect="1" noChangeArrowheads="1"/>
                      </p:cNvPicPr>
                      <p:nvPr/>
                    </p:nvPicPr>
                    <p:blipFill>
                      <a:blip r:embed="rId15"/>
                      <a:srcRect/>
                      <a:stretch>
                        <a:fillRect/>
                      </a:stretch>
                    </p:blipFill>
                    <p:spPr bwMode="auto">
                      <a:xfrm>
                        <a:off x="2781445" y="6110288"/>
                        <a:ext cx="903288"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7" name="Object 26" descr="v equals v subscript 2 BaseLine equals 8 Volts;&#10;">
            <a:extLst>
              <a:ext uri="{FF2B5EF4-FFF2-40B4-BE49-F238E27FC236}">
                <a16:creationId xmlns:a16="http://schemas.microsoft.com/office/drawing/2014/main" id="{CD7C6D4C-9E04-4994-BB44-C52A7CB4B2F3}"/>
              </a:ext>
            </a:extLst>
          </p:cNvPr>
          <p:cNvGraphicFramePr>
            <a:graphicFrameLocks noChangeAspect="1"/>
          </p:cNvGraphicFramePr>
          <p:nvPr>
            <p:extLst>
              <p:ext uri="{D42A27DB-BD31-4B8C-83A1-F6EECF244321}">
                <p14:modId xmlns:p14="http://schemas.microsoft.com/office/powerpoint/2010/main" val="1054235912"/>
              </p:ext>
            </p:extLst>
          </p:nvPr>
        </p:nvGraphicFramePr>
        <p:xfrm>
          <a:off x="3991768" y="6072309"/>
          <a:ext cx="1160463" cy="306388"/>
        </p:xfrm>
        <a:graphic>
          <a:graphicData uri="http://schemas.openxmlformats.org/presentationml/2006/ole">
            <mc:AlternateContent xmlns:mc="http://schemas.openxmlformats.org/markup-compatibility/2006">
              <mc:Choice xmlns:v="urn:schemas-microsoft-com:vml" Requires="v">
                <p:oleObj name="Equation" r:id="rId16" imgW="863280" imgH="228600" progId="Equation.DSMT4">
                  <p:embed/>
                </p:oleObj>
              </mc:Choice>
              <mc:Fallback>
                <p:oleObj name="Equation" r:id="rId16" imgW="863280" imgH="228600" progId="Equation.DSMT4">
                  <p:embed/>
                  <p:pic>
                    <p:nvPicPr>
                      <p:cNvPr id="25" name="Object 24">
                        <a:extLst>
                          <a:ext uri="{FF2B5EF4-FFF2-40B4-BE49-F238E27FC236}">
                            <a16:creationId xmlns:a16="http://schemas.microsoft.com/office/drawing/2014/main" id="{3C7C7AF4-460F-49C8-AA8D-C8FA266EEA9B}"/>
                          </a:ext>
                        </a:extLst>
                      </p:cNvPr>
                      <p:cNvPicPr>
                        <a:picLocks noChangeAspect="1" noChangeArrowheads="1"/>
                      </p:cNvPicPr>
                      <p:nvPr/>
                    </p:nvPicPr>
                    <p:blipFill>
                      <a:blip r:embed="rId17"/>
                      <a:srcRect/>
                      <a:stretch>
                        <a:fillRect/>
                      </a:stretch>
                    </p:blipFill>
                    <p:spPr bwMode="auto">
                      <a:xfrm>
                        <a:off x="3991768" y="6072309"/>
                        <a:ext cx="1160463" cy="306388"/>
                      </a:xfrm>
                      <a:prstGeom prst="rect">
                        <a:avLst/>
                      </a:prstGeom>
                      <a:noFill/>
                      <a:ln w="28575">
                        <a:solidFill>
                          <a:srgbClr val="007FA3"/>
                        </a:solidFill>
                      </a:ln>
                    </p:spPr>
                  </p:pic>
                </p:oleObj>
              </mc:Fallback>
            </mc:AlternateContent>
          </a:graphicData>
        </a:graphic>
      </p:graphicFrame>
      <p:graphicFrame>
        <p:nvGraphicFramePr>
          <p:cNvPr id="28" name="Object 27" descr="v subscript 3 BaseLine equals 10 Volts;&#10;">
            <a:extLst>
              <a:ext uri="{FF2B5EF4-FFF2-40B4-BE49-F238E27FC236}">
                <a16:creationId xmlns:a16="http://schemas.microsoft.com/office/drawing/2014/main" id="{AED73DC6-31C4-4A7B-AD33-53CB02BB5808}"/>
              </a:ext>
            </a:extLst>
          </p:cNvPr>
          <p:cNvGraphicFramePr>
            <a:graphicFrameLocks noChangeAspect="1"/>
          </p:cNvGraphicFramePr>
          <p:nvPr>
            <p:extLst>
              <p:ext uri="{D42A27DB-BD31-4B8C-83A1-F6EECF244321}">
                <p14:modId xmlns:p14="http://schemas.microsoft.com/office/powerpoint/2010/main" val="1141644900"/>
              </p:ext>
            </p:extLst>
          </p:nvPr>
        </p:nvGraphicFramePr>
        <p:xfrm>
          <a:off x="5459266" y="6031160"/>
          <a:ext cx="938212" cy="306388"/>
        </p:xfrm>
        <a:graphic>
          <a:graphicData uri="http://schemas.openxmlformats.org/presentationml/2006/ole">
            <mc:AlternateContent xmlns:mc="http://schemas.openxmlformats.org/markup-compatibility/2006">
              <mc:Choice xmlns:v="urn:schemas-microsoft-com:vml" Requires="v">
                <p:oleObj name="Equation" r:id="rId18" imgW="698400" imgH="228600" progId="Equation.DSMT4">
                  <p:embed/>
                </p:oleObj>
              </mc:Choice>
              <mc:Fallback>
                <p:oleObj name="Equation" r:id="rId18" imgW="698400" imgH="228600" progId="Equation.DSMT4">
                  <p:embed/>
                  <p:pic>
                    <p:nvPicPr>
                      <p:cNvPr id="27" name="Object 26">
                        <a:extLst>
                          <a:ext uri="{FF2B5EF4-FFF2-40B4-BE49-F238E27FC236}">
                            <a16:creationId xmlns:a16="http://schemas.microsoft.com/office/drawing/2014/main" id="{CD7C6D4C-9E04-4994-BB44-C52A7CB4B2F3}"/>
                          </a:ext>
                        </a:extLst>
                      </p:cNvPr>
                      <p:cNvPicPr>
                        <a:picLocks noChangeAspect="1" noChangeArrowheads="1"/>
                      </p:cNvPicPr>
                      <p:nvPr/>
                    </p:nvPicPr>
                    <p:blipFill>
                      <a:blip r:embed="rId19"/>
                      <a:srcRect/>
                      <a:stretch>
                        <a:fillRect/>
                      </a:stretch>
                    </p:blipFill>
                    <p:spPr bwMode="auto">
                      <a:xfrm>
                        <a:off x="5459266" y="6031160"/>
                        <a:ext cx="938212"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9" name="Object 28" descr="i subscript x BaseLine equals 2 Amperes.&#10;">
            <a:extLst>
              <a:ext uri="{FF2B5EF4-FFF2-40B4-BE49-F238E27FC236}">
                <a16:creationId xmlns:a16="http://schemas.microsoft.com/office/drawing/2014/main" id="{65EB8BD4-06A4-47D3-8094-70DD3595AB4F}"/>
              </a:ext>
            </a:extLst>
          </p:cNvPr>
          <p:cNvGraphicFramePr>
            <a:graphicFrameLocks noChangeAspect="1"/>
          </p:cNvGraphicFramePr>
          <p:nvPr>
            <p:extLst>
              <p:ext uri="{D42A27DB-BD31-4B8C-83A1-F6EECF244321}">
                <p14:modId xmlns:p14="http://schemas.microsoft.com/office/powerpoint/2010/main" val="724063110"/>
              </p:ext>
            </p:extLst>
          </p:nvPr>
        </p:nvGraphicFramePr>
        <p:xfrm>
          <a:off x="6704513" y="6031161"/>
          <a:ext cx="749300" cy="306387"/>
        </p:xfrm>
        <a:graphic>
          <a:graphicData uri="http://schemas.openxmlformats.org/presentationml/2006/ole">
            <mc:AlternateContent xmlns:mc="http://schemas.openxmlformats.org/markup-compatibility/2006">
              <mc:Choice xmlns:v="urn:schemas-microsoft-com:vml" Requires="v">
                <p:oleObj name="Equation" r:id="rId20" imgW="558720" imgH="228600" progId="Equation.DSMT4">
                  <p:embed/>
                </p:oleObj>
              </mc:Choice>
              <mc:Fallback>
                <p:oleObj name="Equation" r:id="rId20" imgW="558720" imgH="228600" progId="Equation.DSMT4">
                  <p:embed/>
                  <p:pic>
                    <p:nvPicPr>
                      <p:cNvPr id="28" name="Object 27">
                        <a:extLst>
                          <a:ext uri="{FF2B5EF4-FFF2-40B4-BE49-F238E27FC236}">
                            <a16:creationId xmlns:a16="http://schemas.microsoft.com/office/drawing/2014/main" id="{AED73DC6-31C4-4A7B-AD33-53CB02BB5808}"/>
                          </a:ext>
                        </a:extLst>
                      </p:cNvPr>
                      <p:cNvPicPr>
                        <a:picLocks noChangeAspect="1" noChangeArrowheads="1"/>
                      </p:cNvPicPr>
                      <p:nvPr/>
                    </p:nvPicPr>
                    <p:blipFill>
                      <a:blip r:embed="rId21"/>
                      <a:srcRect/>
                      <a:stretch>
                        <a:fillRect/>
                      </a:stretch>
                    </p:blipFill>
                    <p:spPr bwMode="auto">
                      <a:xfrm>
                        <a:off x="6704513" y="6031161"/>
                        <a:ext cx="749300"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9374211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05362"/>
            <a:ext cx="8229600" cy="1144347"/>
          </a:xfrm>
        </p:spPr>
        <p:txBody>
          <a:bodyPr anchor="ctr" anchorCtr="0"/>
          <a:lstStyle/>
          <a:p>
            <a:r>
              <a:rPr lang="en-US" noProof="0" dirty="0"/>
              <a:t>Chapter 4 – techniques of circuit analysis </a:t>
            </a:r>
            <a:r>
              <a:rPr lang="en-US" sz="2800" noProof="0" dirty="0"/>
              <a:t>(24 of 26)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504140"/>
            <a:ext cx="8229600" cy="405683"/>
          </a:xfrm>
        </p:spPr>
        <p:txBody>
          <a:bodyPr wrap="square" lIns="0" tIns="18000" rIns="0" bIns="18000" anchor="ctr" anchorCtr="0">
            <a:spAutoFit/>
          </a:bodyPr>
          <a:lstStyle/>
          <a:p>
            <a:pPr marL="0" indent="0">
              <a:spcBef>
                <a:spcPts val="600"/>
              </a:spcBef>
              <a:buNone/>
            </a:pPr>
            <a:r>
              <a:rPr lang="en-US" sz="2400" noProof="0" dirty="0"/>
              <a:t>Power balance:</a:t>
            </a:r>
          </a:p>
        </p:txBody>
      </p:sp>
      <p:graphicFrame>
        <p:nvGraphicFramePr>
          <p:cNvPr id="14" name="Object 48" descr="i subscript d s BaseLine equals 10 divided by 2.5 plus StartFraction 10 minus 12 over 1 EndFraction equals 2 Amperes.">
            <a:extLst>
              <a:ext uri="{FF2B5EF4-FFF2-40B4-BE49-F238E27FC236}">
                <a16:creationId xmlns:a16="http://schemas.microsoft.com/office/drawing/2014/main" id="{BB128D1B-4C45-4DE4-861D-693B8EB5AA48}"/>
              </a:ext>
            </a:extLst>
          </p:cNvPr>
          <p:cNvGraphicFramePr>
            <a:graphicFrameLocks noChangeAspect="1"/>
          </p:cNvGraphicFramePr>
          <p:nvPr>
            <p:extLst>
              <p:ext uri="{D42A27DB-BD31-4B8C-83A1-F6EECF244321}">
                <p14:modId xmlns:p14="http://schemas.microsoft.com/office/powerpoint/2010/main" val="2840591041"/>
              </p:ext>
            </p:extLst>
          </p:nvPr>
        </p:nvGraphicFramePr>
        <p:xfrm>
          <a:off x="1103488" y="2092709"/>
          <a:ext cx="2296763" cy="556479"/>
        </p:xfrm>
        <a:graphic>
          <a:graphicData uri="http://schemas.openxmlformats.org/presentationml/2006/ole">
            <mc:AlternateContent xmlns:mc="http://schemas.openxmlformats.org/markup-compatibility/2006">
              <mc:Choice xmlns:v="urn:schemas-microsoft-com:vml" Requires="v">
                <p:oleObj name="Equation" r:id="rId3" imgW="1625400" imgH="393480" progId="Equation.DSMT4">
                  <p:embed/>
                </p:oleObj>
              </mc:Choice>
              <mc:Fallback>
                <p:oleObj name="Equation" r:id="rId3" imgW="1625400" imgH="393480" progId="Equation.DSMT4">
                  <p:embed/>
                  <p:pic>
                    <p:nvPicPr>
                      <p:cNvPr id="9" name="Object 48"/>
                      <p:cNvPicPr>
                        <a:picLocks noChangeAspect="1" noChangeArrowheads="1"/>
                      </p:cNvPicPr>
                      <p:nvPr/>
                    </p:nvPicPr>
                    <p:blipFill>
                      <a:blip r:embed="rId4"/>
                      <a:srcRect/>
                      <a:stretch>
                        <a:fillRect/>
                      </a:stretch>
                    </p:blipFill>
                    <p:spPr bwMode="auto">
                      <a:xfrm>
                        <a:off x="1103488" y="2092709"/>
                        <a:ext cx="2296763" cy="5564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15" name="Picture 47" descr="A circuit diagram shows a 4.8 ampere independent current source with the internal arrow pointing upwards as the leftmost wire in the circuit. Connected in parallel to the 4.8 ampere independent current source from left to right in that order are a 7.5-ohm resistor, a 10-ohm resistor, a 2.5-ohm resistor, and a 12 volt independent voltage source with positive polarity at top and negative at bottom. Six nodes are marked at the points where the wires housing the 7.5-ohm resistor, the 10-ohm resistor, and the 2.5-ohm resistor connect to the top and bottom wires of the circuit. A 2.5-ohm resistor is located in the top wire of the circuit between the nodes where the wires housing the 7.5-ohm resistor and the 10-ohm resistor connect to the top wire. A current dependent voltage source i subscript x is located in the top wire of the circuit between the nodes where the wires housing the 10-ohm resistor and the 2.5-ohm resistor connect to the top wire. A 1-ohm resistor is located in the top wire of the circuit between the points where the wires housing the 2.5-ohm resistor and the 12 volt independent voltage source connect to the top wire. The current dependent voltage source i subscript x has positive polarity at its right end and negative at the left. &#10;A current of 2 amperes flows through the 7.5-ohm resistor from top to bottom. Voltage v develops across the 10-ohm resistor with positive polarity at the top end and negative at the bottom. Voltage of 15 volts is marked at the node where the wire housing the 7.5-ohm resistor connects to the top wire in the circuit. Voltage of 8 volts is marked at the node where the wire housing the 10-ohm resistor connects to the top wire in the circuit. Voltage of 10 volts is the voltage marked at the node where the wire housing the 2.5-ohm resistor connects to the top wire in the circuit. The nodes with voltage of 8 volts and voltage of 10 volts as well as the current dependent voltage source i subscript x are encircled. Current i subscript ds flows through the current dependent voltage source i subscript x from left to right. The three nodes where the wires housing the 7.5-ohm resistor, the 10-ohm resistor, and the 2.5-ohm resistor connect to the bottom wire of the circuit are separately encircled. &#10;">
            <a:extLst>
              <a:ext uri="{FF2B5EF4-FFF2-40B4-BE49-F238E27FC236}">
                <a16:creationId xmlns:a16="http://schemas.microsoft.com/office/drawing/2014/main" id="{2493B0B4-83D5-4717-B85B-C75D23AC0316}"/>
              </a:ext>
            </a:extLst>
          </p:cNvPr>
          <p:cNvPicPr>
            <a:picLocks noChangeAspect="1" noChangeArrowheads="1"/>
          </p:cNvPicPr>
          <p:nvPr/>
        </p:nvPicPr>
        <p:blipFill>
          <a:blip r:embed="rId5"/>
          <a:stretch>
            <a:fillRect/>
          </a:stretch>
        </p:blipFill>
        <p:spPr bwMode="auto">
          <a:xfrm>
            <a:off x="4764706" y="1721284"/>
            <a:ext cx="3548847" cy="1301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6" name="Table 15">
            <a:extLst>
              <a:ext uri="{FF2B5EF4-FFF2-40B4-BE49-F238E27FC236}">
                <a16:creationId xmlns:a16="http://schemas.microsoft.com/office/drawing/2014/main" id="{5AFAA6C6-9F98-4757-8F1C-52F555E7B544}"/>
              </a:ext>
            </a:extLst>
          </p:cNvPr>
          <p:cNvGraphicFramePr>
            <a:graphicFrameLocks noGrp="1"/>
          </p:cNvGraphicFramePr>
          <p:nvPr>
            <p:extLst>
              <p:ext uri="{D42A27DB-BD31-4B8C-83A1-F6EECF244321}">
                <p14:modId xmlns:p14="http://schemas.microsoft.com/office/powerpoint/2010/main" val="1225559616"/>
              </p:ext>
            </p:extLst>
          </p:nvPr>
        </p:nvGraphicFramePr>
        <p:xfrm>
          <a:off x="1524000" y="3150444"/>
          <a:ext cx="6619335" cy="3231307"/>
        </p:xfrm>
        <a:graphic>
          <a:graphicData uri="http://schemas.openxmlformats.org/drawingml/2006/table">
            <a:tbl>
              <a:tblPr firstRow="1" bandRow="1">
                <a:tableStyleId>{3B4B98B0-60AC-42C2-AFA5-B58CD77FA1E5}</a:tableStyleId>
              </a:tblPr>
              <a:tblGrid>
                <a:gridCol w="2206445">
                  <a:extLst>
                    <a:ext uri="{9D8B030D-6E8A-4147-A177-3AD203B41FA5}">
                      <a16:colId xmlns:a16="http://schemas.microsoft.com/office/drawing/2014/main" val="20000"/>
                    </a:ext>
                  </a:extLst>
                </a:gridCol>
                <a:gridCol w="2206445">
                  <a:extLst>
                    <a:ext uri="{9D8B030D-6E8A-4147-A177-3AD203B41FA5}">
                      <a16:colId xmlns:a16="http://schemas.microsoft.com/office/drawing/2014/main" val="20001"/>
                    </a:ext>
                  </a:extLst>
                </a:gridCol>
                <a:gridCol w="2206445">
                  <a:extLst>
                    <a:ext uri="{9D8B030D-6E8A-4147-A177-3AD203B41FA5}">
                      <a16:colId xmlns:a16="http://schemas.microsoft.com/office/drawing/2014/main" val="20002"/>
                    </a:ext>
                  </a:extLst>
                </a:gridCol>
              </a:tblGrid>
              <a:tr h="332947">
                <a:tc>
                  <a:txBody>
                    <a:bodyPr/>
                    <a:lstStyle/>
                    <a:p>
                      <a:pPr algn="ctr"/>
                      <a:r>
                        <a:rPr lang="en-US" sz="1200" dirty="0">
                          <a:solidFill>
                            <a:schemeClr val="bg1"/>
                          </a:solidFill>
                          <a:latin typeface="Arial" panose="020B0604020202020204" pitchFamily="34" charset="0"/>
                          <a:cs typeface="Arial" panose="020B0604020202020204" pitchFamily="34" charset="0"/>
                        </a:rPr>
                        <a:t>Component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1200" dirty="0">
                          <a:solidFill>
                            <a:schemeClr val="bg1"/>
                          </a:solidFill>
                          <a:latin typeface="Arial" panose="020B0604020202020204" pitchFamily="34" charset="0"/>
                          <a:cs typeface="Arial" panose="020B0604020202020204" pitchFamily="34" charset="0"/>
                        </a:rPr>
                        <a:t>Equation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1200" dirty="0">
                          <a:solidFill>
                            <a:schemeClr val="bg1"/>
                          </a:solidFill>
                          <a:latin typeface="Arial" panose="020B0604020202020204" pitchFamily="34" charset="0"/>
                          <a:cs typeface="Arial" panose="020B0604020202020204" pitchFamily="34" charset="0"/>
                        </a:rPr>
                        <a:t>p [W]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10000"/>
                  </a:ext>
                </a:extLst>
              </a:tr>
              <a:tr h="332947">
                <a:tc>
                  <a:txBody>
                    <a:bodyPr/>
                    <a:lstStyle/>
                    <a:p>
                      <a:pPr algn="ctr"/>
                      <a:r>
                        <a:rPr lang="en-US" sz="1200" dirty="0">
                          <a:latin typeface="Arial" panose="020B0604020202020204" pitchFamily="34" charset="0"/>
                          <a:cs typeface="Arial" panose="020B0604020202020204" pitchFamily="34" charset="0"/>
                        </a:rPr>
                        <a:t>4.8 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200" dirty="0">
                          <a:latin typeface="Arial" panose="020B0604020202020204" pitchFamily="34" charset="0"/>
                          <a:cs typeface="Arial" panose="020B0604020202020204" pitchFamily="34" charset="0"/>
                          <a:sym typeface="Symbol"/>
                        </a:rPr>
                        <a:t>−</a:t>
                      </a:r>
                      <a:r>
                        <a:rPr lang="en-US" sz="1200" dirty="0">
                          <a:latin typeface="Arial" panose="020B0604020202020204" pitchFamily="34" charset="0"/>
                          <a:cs typeface="Arial" panose="020B0604020202020204" pitchFamily="34" charset="0"/>
                        </a:rPr>
                        <a:t>(4.8)(15)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200" dirty="0">
                          <a:latin typeface="Arial" panose="020B0604020202020204" pitchFamily="34" charset="0"/>
                          <a:cs typeface="Arial" panose="020B0604020202020204" pitchFamily="34" charset="0"/>
                          <a:sym typeface="Symbol"/>
                        </a:rPr>
                        <a:t>−72</a:t>
                      </a:r>
                      <a:endParaRPr lang="en-US" sz="12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1"/>
                  </a:ext>
                </a:extLst>
              </a:tr>
              <a:tr h="332947">
                <a:tc>
                  <a:txBody>
                    <a:bodyPr/>
                    <a:lstStyle/>
                    <a:p>
                      <a:pPr algn="ctr"/>
                      <a:r>
                        <a:rPr lang="en-US" sz="1200" dirty="0">
                          <a:latin typeface="Arial" panose="020B0604020202020204" pitchFamily="34" charset="0"/>
                          <a:cs typeface="Arial" panose="020B0604020202020204" pitchFamily="34" charset="0"/>
                        </a:rPr>
                        <a:t>Dep.</a:t>
                      </a:r>
                      <a:r>
                        <a:rPr lang="en-US" sz="1200" baseline="0" dirty="0">
                          <a:latin typeface="Arial" panose="020B0604020202020204" pitchFamily="34" charset="0"/>
                          <a:cs typeface="Arial" panose="020B0604020202020204" pitchFamily="34" charset="0"/>
                        </a:rPr>
                        <a:t> Source</a:t>
                      </a:r>
                      <a:endParaRPr lang="en-US" sz="12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200" dirty="0">
                          <a:latin typeface="Arial" panose="020B0604020202020204" pitchFamily="34" charset="0"/>
                          <a:cs typeface="Arial" panose="020B0604020202020204" pitchFamily="34" charset="0"/>
                          <a:sym typeface="Symbol"/>
                        </a:rPr>
                        <a:t>−(2)(2)</a:t>
                      </a:r>
                      <a:endParaRPr lang="en-US" sz="12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200" dirty="0">
                          <a:latin typeface="Arial" panose="020B0604020202020204" pitchFamily="34" charset="0"/>
                          <a:cs typeface="Arial" panose="020B0604020202020204" pitchFamily="34" charset="0"/>
                          <a:sym typeface="Symbol"/>
                        </a:rPr>
                        <a:t>−4</a:t>
                      </a:r>
                      <a:endParaRPr lang="en-US" sz="12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2"/>
                  </a:ext>
                </a:extLst>
              </a:tr>
              <a:tr h="332947">
                <a:tc>
                  <a:txBody>
                    <a:bodyPr/>
                    <a:lstStyle/>
                    <a:p>
                      <a:pPr algn="ctr"/>
                      <a:r>
                        <a:rPr lang="en-US" sz="1200" dirty="0">
                          <a:latin typeface="Arial" panose="020B0604020202020204" pitchFamily="34" charset="0"/>
                          <a:cs typeface="Arial" panose="020B0604020202020204" pitchFamily="34" charset="0"/>
                        </a:rPr>
                        <a:t>12 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200" dirty="0">
                          <a:latin typeface="Arial" panose="020B0604020202020204" pitchFamily="34" charset="0"/>
                          <a:cs typeface="Arial" panose="020B0604020202020204" pitchFamily="34" charset="0"/>
                        </a:rPr>
                        <a:t>(12)(10 – 12)/1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200" dirty="0">
                          <a:latin typeface="Arial" panose="020B0604020202020204" pitchFamily="34" charset="0"/>
                          <a:cs typeface="Arial" panose="020B0604020202020204" pitchFamily="34" charset="0"/>
                          <a:sym typeface="Symbol"/>
                        </a:rPr>
                        <a:t>−</a:t>
                      </a:r>
                      <a:r>
                        <a:rPr lang="en-US" sz="1200" dirty="0">
                          <a:latin typeface="Arial" panose="020B0604020202020204" pitchFamily="34" charset="0"/>
                          <a:cs typeface="Arial" panose="020B0604020202020204" pitchFamily="34" charset="0"/>
                        </a:rPr>
                        <a:t>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3"/>
                  </a:ext>
                </a:extLst>
              </a:tr>
              <a:tr h="394568">
                <a:tc>
                  <a:txBody>
                    <a:bodyPr/>
                    <a:lstStyle/>
                    <a:p>
                      <a:pPr algn="ctr"/>
                      <a:r>
                        <a:rPr lang="en-US" sz="100" dirty="0">
                          <a:latin typeface="Arial" panose="020B0604020202020204" pitchFamily="34" charset="0"/>
                          <a:cs typeface="Arial" panose="020B0604020202020204" pitchFamily="34" charset="0"/>
                        </a:rPr>
                        <a:t>7.5 Ohms.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fontAlgn="b"/>
                      <a:r>
                        <a:rPr lang="en-US" sz="100" b="0" i="0" u="none" strike="noStrike" dirty="0">
                          <a:solidFill>
                            <a:srgbClr val="000000"/>
                          </a:solidFill>
                          <a:effectLst/>
                          <a:latin typeface="Arial" panose="020B0604020202020204" pitchFamily="34" charset="0"/>
                          <a:cs typeface="Arial" panose="020B0604020202020204" pitchFamily="34" charset="0"/>
                        </a:rPr>
                        <a:t>Open Parenthesis 2 Close Parenthesis squared multiplied by Open Parenthesis 7.5 Close Parenthesis.</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200" dirty="0">
                          <a:latin typeface="Arial" panose="020B0604020202020204" pitchFamily="34" charset="0"/>
                          <a:cs typeface="Arial" panose="020B0604020202020204" pitchFamily="34" charset="0"/>
                        </a:rPr>
                        <a:t>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4"/>
                  </a:ext>
                </a:extLst>
              </a:tr>
              <a:tr h="384932">
                <a:tc>
                  <a:txBody>
                    <a:bodyPr/>
                    <a:lstStyle/>
                    <a:p>
                      <a:pPr algn="ctr"/>
                      <a:r>
                        <a:rPr lang="en-US" sz="100" dirty="0">
                          <a:latin typeface="Arial" panose="020B0604020202020204" pitchFamily="34" charset="0"/>
                          <a:cs typeface="Arial" panose="020B0604020202020204" pitchFamily="34" charset="0"/>
                        </a:rPr>
                        <a:t>2.5 Ohms Open Parenthesis top Close Parenthesis.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dirty="0">
                          <a:latin typeface="Arial" panose="020B0604020202020204" pitchFamily="34" charset="0"/>
                          <a:cs typeface="Arial" panose="020B0604020202020204" pitchFamily="34" charset="0"/>
                        </a:rPr>
                        <a:t>Open Parenthesis 15 minus 8 Close Parenthesis squared divided by 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200" dirty="0">
                          <a:latin typeface="Arial" panose="020B0604020202020204" pitchFamily="34" charset="0"/>
                          <a:cs typeface="Arial" panose="020B0604020202020204" pitchFamily="34" charset="0"/>
                        </a:rPr>
                        <a:t>19.6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5"/>
                  </a:ext>
                </a:extLst>
              </a:tr>
              <a:tr h="45412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 dirty="0">
                          <a:latin typeface="Arial" panose="020B0604020202020204" pitchFamily="34" charset="0"/>
                          <a:cs typeface="Arial" panose="020B0604020202020204" pitchFamily="34" charset="0"/>
                        </a:rPr>
                        <a:t>10 Ohms.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 dirty="0">
                          <a:latin typeface="Arial" panose="020B0604020202020204" pitchFamily="34" charset="0"/>
                          <a:cs typeface="Arial" panose="020B0604020202020204" pitchFamily="34" charset="0"/>
                        </a:rPr>
                        <a:t>Open Parenthesis 8 Close Parenthesis squared divided by 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200" dirty="0">
                          <a:latin typeface="Arial" panose="020B0604020202020204" pitchFamily="34" charset="0"/>
                          <a:cs typeface="Arial" panose="020B0604020202020204" pitchFamily="34" charset="0"/>
                        </a:rPr>
                        <a:t>6.4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6"/>
                  </a:ext>
                </a:extLst>
              </a:tr>
              <a:tr h="33294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 dirty="0">
                          <a:latin typeface="Arial" panose="020B0604020202020204" pitchFamily="34" charset="0"/>
                          <a:cs typeface="Arial" panose="020B0604020202020204" pitchFamily="34" charset="0"/>
                        </a:rPr>
                        <a:t>2.5 Ohms.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 dirty="0">
                          <a:latin typeface="Arial" panose="020B0604020202020204" pitchFamily="34" charset="0"/>
                          <a:cs typeface="Arial" panose="020B0604020202020204" pitchFamily="34" charset="0"/>
                        </a:rPr>
                        <a:t>Open Parenthesis 10 Close Parenthesis squared divided by 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200" dirty="0">
                          <a:latin typeface="Arial" panose="020B0604020202020204" pitchFamily="34" charset="0"/>
                          <a:cs typeface="Arial" panose="020B0604020202020204" pitchFamily="34" charset="0"/>
                        </a:rPr>
                        <a:t>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88025679"/>
                  </a:ext>
                </a:extLst>
              </a:tr>
              <a:tr h="33294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 dirty="0">
                          <a:latin typeface="Arial" panose="020B0604020202020204" pitchFamily="34" charset="0"/>
                          <a:cs typeface="Arial" panose="020B0604020202020204" pitchFamily="34" charset="0"/>
                        </a:rPr>
                        <a:t>1 Ohm.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 dirty="0">
                          <a:latin typeface="Arial" panose="020B0604020202020204" pitchFamily="34" charset="0"/>
                          <a:cs typeface="Arial" panose="020B0604020202020204" pitchFamily="34" charset="0"/>
                        </a:rPr>
                        <a:t>Open Parenthesis 10 minus 12 Close Parenthesis squared divided by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200" dirty="0">
                          <a:latin typeface="Arial" panose="020B0604020202020204" pitchFamily="34" charset="0"/>
                          <a:cs typeface="Arial" panose="020B0604020202020204" pitchFamily="34"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63431621"/>
                  </a:ext>
                </a:extLst>
              </a:tr>
            </a:tbl>
          </a:graphicData>
        </a:graphic>
      </p:graphicFrame>
      <p:graphicFrame>
        <p:nvGraphicFramePr>
          <p:cNvPr id="19" name="Object 18">
            <a:extLst>
              <a:ext uri="{FF2B5EF4-FFF2-40B4-BE49-F238E27FC236}">
                <a16:creationId xmlns:a16="http://schemas.microsoft.com/office/drawing/2014/main" id="{B9278406-74B4-47A8-B20D-787D13395E29}"/>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667852602"/>
              </p:ext>
            </p:extLst>
          </p:nvPr>
        </p:nvGraphicFramePr>
        <p:xfrm>
          <a:off x="2343880" y="4551877"/>
          <a:ext cx="522287" cy="252412"/>
        </p:xfrm>
        <a:graphic>
          <a:graphicData uri="http://schemas.openxmlformats.org/presentationml/2006/ole">
            <mc:AlternateContent xmlns:mc="http://schemas.openxmlformats.org/markup-compatibility/2006">
              <mc:Choice xmlns:v="urn:schemas-microsoft-com:vml" Requires="v">
                <p:oleObj name="Equation" r:id="rId6" imgW="419040" imgH="203040" progId="Equation.DSMT4">
                  <p:embed/>
                </p:oleObj>
              </mc:Choice>
              <mc:Fallback>
                <p:oleObj name="Equation" r:id="rId6" imgW="419040" imgH="203040" progId="Equation.DSMT4">
                  <p:embed/>
                  <p:pic>
                    <p:nvPicPr>
                      <p:cNvPr id="19" name="Object 18">
                        <a:extLst>
                          <a:ext uri="{FF2B5EF4-FFF2-40B4-BE49-F238E27FC236}">
                            <a16:creationId xmlns:a16="http://schemas.microsoft.com/office/drawing/2014/main" id="{B9278406-74B4-47A8-B20D-787D13395E29}"/>
                          </a:ext>
                        </a:extLst>
                      </p:cNvPr>
                      <p:cNvPicPr/>
                      <p:nvPr/>
                    </p:nvPicPr>
                    <p:blipFill>
                      <a:blip r:embed="rId7"/>
                      <a:stretch>
                        <a:fillRect/>
                      </a:stretch>
                    </p:blipFill>
                    <p:spPr>
                      <a:xfrm>
                        <a:off x="2343880" y="4551877"/>
                        <a:ext cx="522287" cy="252412"/>
                      </a:xfrm>
                      <a:prstGeom prst="rect">
                        <a:avLst/>
                      </a:prstGeom>
                      <a:solidFill>
                        <a:srgbClr val="D4EAE4"/>
                      </a:solidFill>
                    </p:spPr>
                  </p:pic>
                </p:oleObj>
              </mc:Fallback>
            </mc:AlternateContent>
          </a:graphicData>
        </a:graphic>
      </p:graphicFrame>
      <p:graphicFrame>
        <p:nvGraphicFramePr>
          <p:cNvPr id="20" name="Object 19">
            <a:extLst>
              <a:ext uri="{FF2B5EF4-FFF2-40B4-BE49-F238E27FC236}">
                <a16:creationId xmlns:a16="http://schemas.microsoft.com/office/drawing/2014/main" id="{8030363E-EC16-42CD-90B8-2809C41954F8}"/>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699309781"/>
              </p:ext>
            </p:extLst>
          </p:nvPr>
        </p:nvGraphicFramePr>
        <p:xfrm>
          <a:off x="4413250" y="4523653"/>
          <a:ext cx="720725" cy="303212"/>
        </p:xfrm>
        <a:graphic>
          <a:graphicData uri="http://schemas.openxmlformats.org/presentationml/2006/ole">
            <mc:AlternateContent xmlns:mc="http://schemas.openxmlformats.org/markup-compatibility/2006">
              <mc:Choice xmlns:v="urn:schemas-microsoft-com:vml" Requires="v">
                <p:oleObj name="Equation" r:id="rId8" imgW="660240" imgH="279360" progId="Equation.DSMT4">
                  <p:embed/>
                </p:oleObj>
              </mc:Choice>
              <mc:Fallback>
                <p:oleObj name="Equation" r:id="rId8" imgW="660240" imgH="279360" progId="Equation.DSMT4">
                  <p:embed/>
                  <p:pic>
                    <p:nvPicPr>
                      <p:cNvPr id="20" name="Object 19">
                        <a:extLst>
                          <a:ext uri="{FF2B5EF4-FFF2-40B4-BE49-F238E27FC236}">
                            <a16:creationId xmlns:a16="http://schemas.microsoft.com/office/drawing/2014/main" id="{8030363E-EC16-42CD-90B8-2809C41954F8}"/>
                          </a:ext>
                        </a:extLst>
                      </p:cNvPr>
                      <p:cNvPicPr/>
                      <p:nvPr/>
                    </p:nvPicPr>
                    <p:blipFill>
                      <a:blip r:embed="rId9"/>
                      <a:stretch>
                        <a:fillRect/>
                      </a:stretch>
                    </p:blipFill>
                    <p:spPr>
                      <a:xfrm>
                        <a:off x="4413250" y="4523653"/>
                        <a:ext cx="720725" cy="303212"/>
                      </a:xfrm>
                      <a:prstGeom prst="rect">
                        <a:avLst/>
                      </a:prstGeom>
                      <a:solidFill>
                        <a:srgbClr val="D4EAE4"/>
                      </a:solidFill>
                    </p:spPr>
                  </p:pic>
                </p:oleObj>
              </mc:Fallback>
            </mc:AlternateContent>
          </a:graphicData>
        </a:graphic>
      </p:graphicFrame>
      <p:graphicFrame>
        <p:nvGraphicFramePr>
          <p:cNvPr id="21" name="Object 20">
            <a:extLst>
              <a:ext uri="{FF2B5EF4-FFF2-40B4-BE49-F238E27FC236}">
                <a16:creationId xmlns:a16="http://schemas.microsoft.com/office/drawing/2014/main" id="{2A959E29-C433-4418-9728-666818D1DF02}"/>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860299151"/>
              </p:ext>
            </p:extLst>
          </p:nvPr>
        </p:nvGraphicFramePr>
        <p:xfrm>
          <a:off x="2132714" y="4955364"/>
          <a:ext cx="962025" cy="252413"/>
        </p:xfrm>
        <a:graphic>
          <a:graphicData uri="http://schemas.openxmlformats.org/presentationml/2006/ole">
            <mc:AlternateContent xmlns:mc="http://schemas.openxmlformats.org/markup-compatibility/2006">
              <mc:Choice xmlns:v="urn:schemas-microsoft-com:vml" Requires="v">
                <p:oleObj name="Equation" r:id="rId10" imgW="774360" imgH="203040" progId="Equation.DSMT4">
                  <p:embed/>
                </p:oleObj>
              </mc:Choice>
              <mc:Fallback>
                <p:oleObj name="Equation" r:id="rId10" imgW="774360" imgH="203040" progId="Equation.DSMT4">
                  <p:embed/>
                  <p:pic>
                    <p:nvPicPr>
                      <p:cNvPr id="21" name="Object 20">
                        <a:extLst>
                          <a:ext uri="{FF2B5EF4-FFF2-40B4-BE49-F238E27FC236}">
                            <a16:creationId xmlns:a16="http://schemas.microsoft.com/office/drawing/2014/main" id="{2A959E29-C433-4418-9728-666818D1DF02}"/>
                          </a:ext>
                        </a:extLst>
                      </p:cNvPr>
                      <p:cNvPicPr/>
                      <p:nvPr/>
                    </p:nvPicPr>
                    <p:blipFill>
                      <a:blip r:embed="rId11"/>
                      <a:stretch>
                        <a:fillRect/>
                      </a:stretch>
                    </p:blipFill>
                    <p:spPr>
                      <a:xfrm>
                        <a:off x="2132714" y="4955364"/>
                        <a:ext cx="962025" cy="252413"/>
                      </a:xfrm>
                      <a:prstGeom prst="rect">
                        <a:avLst/>
                      </a:prstGeom>
                      <a:solidFill>
                        <a:srgbClr val="D4EAE4"/>
                      </a:solidFill>
                    </p:spPr>
                  </p:pic>
                </p:oleObj>
              </mc:Fallback>
            </mc:AlternateContent>
          </a:graphicData>
        </a:graphic>
      </p:graphicFrame>
      <p:graphicFrame>
        <p:nvGraphicFramePr>
          <p:cNvPr id="22" name="Object 21">
            <a:extLst>
              <a:ext uri="{FF2B5EF4-FFF2-40B4-BE49-F238E27FC236}">
                <a16:creationId xmlns:a16="http://schemas.microsoft.com/office/drawing/2014/main" id="{3A629FE6-B4FA-4A18-8B47-A721E9888D2F}"/>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519831817"/>
              </p:ext>
            </p:extLst>
          </p:nvPr>
        </p:nvGraphicFramePr>
        <p:xfrm>
          <a:off x="4311650" y="4906098"/>
          <a:ext cx="1044575" cy="306387"/>
        </p:xfrm>
        <a:graphic>
          <a:graphicData uri="http://schemas.openxmlformats.org/presentationml/2006/ole">
            <mc:AlternateContent xmlns:mc="http://schemas.openxmlformats.org/markup-compatibility/2006">
              <mc:Choice xmlns:v="urn:schemas-microsoft-com:vml" Requires="v">
                <p:oleObj name="Equation" r:id="rId12" imgW="939600" imgH="279360" progId="Equation.DSMT4">
                  <p:embed/>
                </p:oleObj>
              </mc:Choice>
              <mc:Fallback>
                <p:oleObj name="Equation" r:id="rId12" imgW="939600" imgH="279360" progId="Equation.DSMT4">
                  <p:embed/>
                  <p:pic>
                    <p:nvPicPr>
                      <p:cNvPr id="22" name="Object 21">
                        <a:extLst>
                          <a:ext uri="{FF2B5EF4-FFF2-40B4-BE49-F238E27FC236}">
                            <a16:creationId xmlns:a16="http://schemas.microsoft.com/office/drawing/2014/main" id="{3A629FE6-B4FA-4A18-8B47-A721E9888D2F}"/>
                          </a:ext>
                        </a:extLst>
                      </p:cNvPr>
                      <p:cNvPicPr/>
                      <p:nvPr/>
                    </p:nvPicPr>
                    <p:blipFill>
                      <a:blip r:embed="rId13"/>
                      <a:stretch>
                        <a:fillRect/>
                      </a:stretch>
                    </p:blipFill>
                    <p:spPr>
                      <a:xfrm>
                        <a:off x="4311650" y="4906098"/>
                        <a:ext cx="1044575" cy="306387"/>
                      </a:xfrm>
                      <a:prstGeom prst="rect">
                        <a:avLst/>
                      </a:prstGeom>
                      <a:solidFill>
                        <a:srgbClr val="D4EAE4"/>
                      </a:solidFill>
                    </p:spPr>
                  </p:pic>
                </p:oleObj>
              </mc:Fallback>
            </mc:AlternateContent>
          </a:graphicData>
        </a:graphic>
      </p:graphicFrame>
      <p:graphicFrame>
        <p:nvGraphicFramePr>
          <p:cNvPr id="25" name="Object 24">
            <a:extLst>
              <a:ext uri="{FF2B5EF4-FFF2-40B4-BE49-F238E27FC236}">
                <a16:creationId xmlns:a16="http://schemas.microsoft.com/office/drawing/2014/main" id="{FC76EFDC-230F-439C-89F5-C8D5A0305515}"/>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89339603"/>
              </p:ext>
            </p:extLst>
          </p:nvPr>
        </p:nvGraphicFramePr>
        <p:xfrm>
          <a:off x="2385126" y="5329749"/>
          <a:ext cx="457200" cy="252412"/>
        </p:xfrm>
        <a:graphic>
          <a:graphicData uri="http://schemas.openxmlformats.org/presentationml/2006/ole">
            <mc:AlternateContent xmlns:mc="http://schemas.openxmlformats.org/markup-compatibility/2006">
              <mc:Choice xmlns:v="urn:schemas-microsoft-com:vml" Requires="v">
                <p:oleObj name="Equation" r:id="rId14" imgW="368280" imgH="203040" progId="Equation.DSMT4">
                  <p:embed/>
                </p:oleObj>
              </mc:Choice>
              <mc:Fallback>
                <p:oleObj name="Equation" r:id="rId14" imgW="368280" imgH="203040" progId="Equation.DSMT4">
                  <p:embed/>
                  <p:pic>
                    <p:nvPicPr>
                      <p:cNvPr id="25" name="Object 24">
                        <a:extLst>
                          <a:ext uri="{FF2B5EF4-FFF2-40B4-BE49-F238E27FC236}">
                            <a16:creationId xmlns:a16="http://schemas.microsoft.com/office/drawing/2014/main" id="{FC76EFDC-230F-439C-89F5-C8D5A0305515}"/>
                          </a:ext>
                        </a:extLst>
                      </p:cNvPr>
                      <p:cNvPicPr/>
                      <p:nvPr/>
                    </p:nvPicPr>
                    <p:blipFill>
                      <a:blip r:embed="rId15"/>
                      <a:stretch>
                        <a:fillRect/>
                      </a:stretch>
                    </p:blipFill>
                    <p:spPr>
                      <a:xfrm>
                        <a:off x="2385126" y="5329749"/>
                        <a:ext cx="457200" cy="252412"/>
                      </a:xfrm>
                      <a:prstGeom prst="rect">
                        <a:avLst/>
                      </a:prstGeom>
                      <a:solidFill>
                        <a:srgbClr val="D4EAE4"/>
                      </a:solidFill>
                    </p:spPr>
                  </p:pic>
                </p:oleObj>
              </mc:Fallback>
            </mc:AlternateContent>
          </a:graphicData>
        </a:graphic>
      </p:graphicFrame>
      <p:graphicFrame>
        <p:nvGraphicFramePr>
          <p:cNvPr id="26" name="Object 25">
            <a:extLst>
              <a:ext uri="{FF2B5EF4-FFF2-40B4-BE49-F238E27FC236}">
                <a16:creationId xmlns:a16="http://schemas.microsoft.com/office/drawing/2014/main" id="{488B47BE-7AF5-43D6-B400-FC35D73EEBA3}"/>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904635173"/>
              </p:ext>
            </p:extLst>
          </p:nvPr>
        </p:nvGraphicFramePr>
        <p:xfrm>
          <a:off x="4473330" y="5333356"/>
          <a:ext cx="638666" cy="300463"/>
        </p:xfrm>
        <a:graphic>
          <a:graphicData uri="http://schemas.openxmlformats.org/presentationml/2006/ole">
            <mc:AlternateContent xmlns:mc="http://schemas.openxmlformats.org/markup-compatibility/2006">
              <mc:Choice xmlns:v="urn:schemas-microsoft-com:vml" Requires="v">
                <p:oleObj name="Equation" r:id="rId16" imgW="583920" imgH="279360" progId="Equation.DSMT4">
                  <p:embed/>
                </p:oleObj>
              </mc:Choice>
              <mc:Fallback>
                <p:oleObj name="Equation" r:id="rId16" imgW="583920" imgH="279360" progId="Equation.DSMT4">
                  <p:embed/>
                  <p:pic>
                    <p:nvPicPr>
                      <p:cNvPr id="26" name="Object 25">
                        <a:extLst>
                          <a:ext uri="{FF2B5EF4-FFF2-40B4-BE49-F238E27FC236}">
                            <a16:creationId xmlns:a16="http://schemas.microsoft.com/office/drawing/2014/main" id="{488B47BE-7AF5-43D6-B400-FC35D73EEBA3}"/>
                          </a:ext>
                        </a:extLst>
                      </p:cNvPr>
                      <p:cNvPicPr/>
                      <p:nvPr/>
                    </p:nvPicPr>
                    <p:blipFill>
                      <a:blip r:embed="rId17"/>
                      <a:stretch>
                        <a:fillRect/>
                      </a:stretch>
                    </p:blipFill>
                    <p:spPr>
                      <a:xfrm>
                        <a:off x="4473330" y="5333356"/>
                        <a:ext cx="638666" cy="300463"/>
                      </a:xfrm>
                      <a:prstGeom prst="rect">
                        <a:avLst/>
                      </a:prstGeom>
                      <a:solidFill>
                        <a:srgbClr val="D4EAE4"/>
                      </a:solidFill>
                    </p:spPr>
                  </p:pic>
                </p:oleObj>
              </mc:Fallback>
            </mc:AlternateContent>
          </a:graphicData>
        </a:graphic>
      </p:graphicFrame>
      <p:graphicFrame>
        <p:nvGraphicFramePr>
          <p:cNvPr id="23" name="Object 22">
            <a:extLst>
              <a:ext uri="{FF2B5EF4-FFF2-40B4-BE49-F238E27FC236}">
                <a16:creationId xmlns:a16="http://schemas.microsoft.com/office/drawing/2014/main" id="{4055EF68-4E67-4F20-9E05-60606E353E6F}"/>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913122291"/>
              </p:ext>
            </p:extLst>
          </p:nvPr>
        </p:nvGraphicFramePr>
        <p:xfrm>
          <a:off x="2321626" y="5752173"/>
          <a:ext cx="520700" cy="252413"/>
        </p:xfrm>
        <a:graphic>
          <a:graphicData uri="http://schemas.openxmlformats.org/presentationml/2006/ole">
            <mc:AlternateContent xmlns:mc="http://schemas.openxmlformats.org/markup-compatibility/2006">
              <mc:Choice xmlns:v="urn:schemas-microsoft-com:vml" Requires="v">
                <p:oleObj name="Equation" r:id="rId18" imgW="419040" imgH="203040" progId="Equation.DSMT4">
                  <p:embed/>
                </p:oleObj>
              </mc:Choice>
              <mc:Fallback>
                <p:oleObj name="Equation" r:id="rId18" imgW="419040" imgH="203040" progId="Equation.DSMT4">
                  <p:embed/>
                  <p:pic>
                    <p:nvPicPr>
                      <p:cNvPr id="25" name="Object 24">
                        <a:extLst>
                          <a:ext uri="{FF2B5EF4-FFF2-40B4-BE49-F238E27FC236}">
                            <a16:creationId xmlns:a16="http://schemas.microsoft.com/office/drawing/2014/main" id="{FC76EFDC-230F-439C-89F5-C8D5A0305515}"/>
                          </a:ext>
                        </a:extLst>
                      </p:cNvPr>
                      <p:cNvPicPr/>
                      <p:nvPr/>
                    </p:nvPicPr>
                    <p:blipFill>
                      <a:blip r:embed="rId19"/>
                      <a:stretch>
                        <a:fillRect/>
                      </a:stretch>
                    </p:blipFill>
                    <p:spPr>
                      <a:xfrm>
                        <a:off x="2321626" y="5752173"/>
                        <a:ext cx="520700" cy="252413"/>
                      </a:xfrm>
                      <a:prstGeom prst="rect">
                        <a:avLst/>
                      </a:prstGeom>
                      <a:solidFill>
                        <a:srgbClr val="D4EAE4"/>
                      </a:solidFill>
                    </p:spPr>
                  </p:pic>
                </p:oleObj>
              </mc:Fallback>
            </mc:AlternateContent>
          </a:graphicData>
        </a:graphic>
      </p:graphicFrame>
      <p:graphicFrame>
        <p:nvGraphicFramePr>
          <p:cNvPr id="27" name="Object 26">
            <a:extLst>
              <a:ext uri="{FF2B5EF4-FFF2-40B4-BE49-F238E27FC236}">
                <a16:creationId xmlns:a16="http://schemas.microsoft.com/office/drawing/2014/main" id="{0973977C-E2FC-4AE1-A5EE-013F06CAA92A}"/>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172610593"/>
              </p:ext>
            </p:extLst>
          </p:nvPr>
        </p:nvGraphicFramePr>
        <p:xfrm>
          <a:off x="4344988" y="5736726"/>
          <a:ext cx="835025" cy="268287"/>
        </p:xfrm>
        <a:graphic>
          <a:graphicData uri="http://schemas.openxmlformats.org/presentationml/2006/ole">
            <mc:AlternateContent xmlns:mc="http://schemas.openxmlformats.org/markup-compatibility/2006">
              <mc:Choice xmlns:v="urn:schemas-microsoft-com:vml" Requires="v">
                <p:oleObj name="Equation" r:id="rId20" imgW="698400" imgH="228600" progId="Equation.DSMT4">
                  <p:embed/>
                </p:oleObj>
              </mc:Choice>
              <mc:Fallback>
                <p:oleObj name="Equation" r:id="rId20" imgW="698400" imgH="228600" progId="Equation.DSMT4">
                  <p:embed/>
                  <p:pic>
                    <p:nvPicPr>
                      <p:cNvPr id="26" name="Object 25">
                        <a:extLst>
                          <a:ext uri="{FF2B5EF4-FFF2-40B4-BE49-F238E27FC236}">
                            <a16:creationId xmlns:a16="http://schemas.microsoft.com/office/drawing/2014/main" id="{488B47BE-7AF5-43D6-B400-FC35D73EEBA3}"/>
                          </a:ext>
                        </a:extLst>
                      </p:cNvPr>
                      <p:cNvPicPr/>
                      <p:nvPr/>
                    </p:nvPicPr>
                    <p:blipFill>
                      <a:blip r:embed="rId21"/>
                      <a:stretch>
                        <a:fillRect/>
                      </a:stretch>
                    </p:blipFill>
                    <p:spPr>
                      <a:xfrm>
                        <a:off x="4344988" y="5736726"/>
                        <a:ext cx="835025" cy="268287"/>
                      </a:xfrm>
                      <a:prstGeom prst="rect">
                        <a:avLst/>
                      </a:prstGeom>
                      <a:solidFill>
                        <a:srgbClr val="D4EAE4"/>
                      </a:solidFill>
                    </p:spPr>
                  </p:pic>
                </p:oleObj>
              </mc:Fallback>
            </mc:AlternateContent>
          </a:graphicData>
        </a:graphic>
      </p:graphicFrame>
      <p:graphicFrame>
        <p:nvGraphicFramePr>
          <p:cNvPr id="24" name="Object 23">
            <a:extLst>
              <a:ext uri="{FF2B5EF4-FFF2-40B4-BE49-F238E27FC236}">
                <a16:creationId xmlns:a16="http://schemas.microsoft.com/office/drawing/2014/main" id="{4EA65C54-9302-40DC-9BC7-8AA4747A2089}"/>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93004237"/>
              </p:ext>
            </p:extLst>
          </p:nvPr>
        </p:nvGraphicFramePr>
        <p:xfrm>
          <a:off x="2439129" y="6070746"/>
          <a:ext cx="331787" cy="252413"/>
        </p:xfrm>
        <a:graphic>
          <a:graphicData uri="http://schemas.openxmlformats.org/presentationml/2006/ole">
            <mc:AlternateContent xmlns:mc="http://schemas.openxmlformats.org/markup-compatibility/2006">
              <mc:Choice xmlns:v="urn:schemas-microsoft-com:vml" Requires="v">
                <p:oleObj name="Equation" r:id="rId22" imgW="266400" imgH="203040" progId="Equation.DSMT4">
                  <p:embed/>
                </p:oleObj>
              </mc:Choice>
              <mc:Fallback>
                <p:oleObj name="Equation" r:id="rId22" imgW="266400" imgH="203040" progId="Equation.DSMT4">
                  <p:embed/>
                  <p:pic>
                    <p:nvPicPr>
                      <p:cNvPr id="23" name="Object 22">
                        <a:extLst>
                          <a:ext uri="{FF2B5EF4-FFF2-40B4-BE49-F238E27FC236}">
                            <a16:creationId xmlns:a16="http://schemas.microsoft.com/office/drawing/2014/main" id="{4055EF68-4E67-4F20-9E05-60606E353E6F}"/>
                          </a:ext>
                        </a:extLst>
                      </p:cNvPr>
                      <p:cNvPicPr/>
                      <p:nvPr/>
                    </p:nvPicPr>
                    <p:blipFill>
                      <a:blip r:embed="rId23"/>
                      <a:stretch>
                        <a:fillRect/>
                      </a:stretch>
                    </p:blipFill>
                    <p:spPr>
                      <a:xfrm>
                        <a:off x="2439129" y="6070746"/>
                        <a:ext cx="331787" cy="252413"/>
                      </a:xfrm>
                      <a:prstGeom prst="rect">
                        <a:avLst/>
                      </a:prstGeom>
                      <a:solidFill>
                        <a:srgbClr val="D4EAE4"/>
                      </a:solidFill>
                    </p:spPr>
                  </p:pic>
                </p:oleObj>
              </mc:Fallback>
            </mc:AlternateContent>
          </a:graphicData>
        </a:graphic>
      </p:graphicFrame>
      <p:graphicFrame>
        <p:nvGraphicFramePr>
          <p:cNvPr id="28" name="Object 27">
            <a:extLst>
              <a:ext uri="{FF2B5EF4-FFF2-40B4-BE49-F238E27FC236}">
                <a16:creationId xmlns:a16="http://schemas.microsoft.com/office/drawing/2014/main" id="{CB421815-16A0-4CBC-A499-FBC57E4C0193}"/>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267121483"/>
              </p:ext>
            </p:extLst>
          </p:nvPr>
        </p:nvGraphicFramePr>
        <p:xfrm>
          <a:off x="4276725" y="6079154"/>
          <a:ext cx="1001713" cy="268287"/>
        </p:xfrm>
        <a:graphic>
          <a:graphicData uri="http://schemas.openxmlformats.org/presentationml/2006/ole">
            <mc:AlternateContent xmlns:mc="http://schemas.openxmlformats.org/markup-compatibility/2006">
              <mc:Choice xmlns:v="urn:schemas-microsoft-com:vml" Requires="v">
                <p:oleObj name="Equation" r:id="rId24" imgW="838080" imgH="228600" progId="Equation.DSMT4">
                  <p:embed/>
                </p:oleObj>
              </mc:Choice>
              <mc:Fallback>
                <p:oleObj name="Equation" r:id="rId24" imgW="838080" imgH="228600" progId="Equation.DSMT4">
                  <p:embed/>
                  <p:pic>
                    <p:nvPicPr>
                      <p:cNvPr id="27" name="Object 26">
                        <a:extLst>
                          <a:ext uri="{FF2B5EF4-FFF2-40B4-BE49-F238E27FC236}">
                            <a16:creationId xmlns:a16="http://schemas.microsoft.com/office/drawing/2014/main" id="{0973977C-E2FC-4AE1-A5EE-013F06CAA92A}"/>
                          </a:ext>
                        </a:extLst>
                      </p:cNvPr>
                      <p:cNvPicPr/>
                      <p:nvPr/>
                    </p:nvPicPr>
                    <p:blipFill>
                      <a:blip r:embed="rId25"/>
                      <a:stretch>
                        <a:fillRect/>
                      </a:stretch>
                    </p:blipFill>
                    <p:spPr>
                      <a:xfrm>
                        <a:off x="4276725" y="6079154"/>
                        <a:ext cx="1001713" cy="268287"/>
                      </a:xfrm>
                      <a:prstGeom prst="rect">
                        <a:avLst/>
                      </a:prstGeom>
                      <a:solidFill>
                        <a:srgbClr val="D4EAE4"/>
                      </a:solidFill>
                    </p:spPr>
                  </p:pic>
                </p:oleObj>
              </mc:Fallback>
            </mc:AlternateContent>
          </a:graphicData>
        </a:graphic>
      </p:graphicFrame>
    </p:spTree>
    <p:extLst>
      <p:ext uri="{BB962C8B-B14F-4D97-AF65-F5344CB8AC3E}">
        <p14:creationId xmlns:p14="http://schemas.microsoft.com/office/powerpoint/2010/main" val="3234966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05362"/>
            <a:ext cx="8229600" cy="1144347"/>
          </a:xfrm>
        </p:spPr>
        <p:txBody>
          <a:bodyPr anchor="ctr" anchorCtr="0"/>
          <a:lstStyle/>
          <a:p>
            <a:r>
              <a:rPr lang="en-US" noProof="0" dirty="0"/>
              <a:t>Chapter 4 – techniques of circuit analysis </a:t>
            </a:r>
            <a:r>
              <a:rPr lang="en-US" sz="2800" noProof="0" dirty="0"/>
              <a:t>(25 of 26)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504141"/>
            <a:ext cx="8229600" cy="405683"/>
          </a:xfrm>
        </p:spPr>
        <p:txBody>
          <a:bodyPr wrap="square" lIns="0" tIns="18000" rIns="0" bIns="18000" anchor="ctr" anchorCtr="0">
            <a:spAutoFit/>
          </a:bodyPr>
          <a:lstStyle/>
          <a:p>
            <a:pPr marL="0" indent="0">
              <a:spcBef>
                <a:spcPts val="600"/>
              </a:spcBef>
              <a:buNone/>
            </a:pPr>
            <a:r>
              <a:rPr lang="en-US" sz="2400" noProof="0" dirty="0"/>
              <a:t>How many super nodes does this circuit contain?</a:t>
            </a:r>
          </a:p>
        </p:txBody>
      </p:sp>
      <p:pic>
        <p:nvPicPr>
          <p:cNvPr id="17" name="Picture 2" descr="A circuit diagram shows a 50 milli amperes independent current source as the leftmost wire in the circuit. Connected in parallel to the 50 milli amperes independent current source from left to right in that order are a 8 kilo-ohm resistor, a 20 kilo-ohm resistor, and a 4 kilo-ohm resistor. Voltage v subscript o develops across the 20 kilo-ohm resistor with positive polarity at the top and negative at the bottom. Four nodes are marked at the points where the wires housing the 8 kilo-ohm resistor and the 20 kilo-ohm resistor connect with the top and bottom wires of the circuit. A 40 volt independent voltage source with positive polarity at its right end and negative polarity at its left end is located in the top wire of the circuit between the points where the wires housing the 8 kilo-ohm resistor and the 20 kilo-ohm resistor connect with the top wire of the circuit. A 6 kilo-ohm resistor is located in the top wire of the circuit between the points where the wires housing the 20 kilo-ohm resistor and the 4 kilo-ohm resistor connect with the top wire of the circuit.">
            <a:extLst>
              <a:ext uri="{FF2B5EF4-FFF2-40B4-BE49-F238E27FC236}">
                <a16:creationId xmlns:a16="http://schemas.microsoft.com/office/drawing/2014/main" id="{FEF7D010-F984-41B0-8935-3018D7C2BCB4}"/>
              </a:ext>
            </a:extLst>
          </p:cNvPr>
          <p:cNvPicPr>
            <a:picLocks noChangeAspect="1" noChangeArrowheads="1"/>
          </p:cNvPicPr>
          <p:nvPr/>
        </p:nvPicPr>
        <p:blipFill>
          <a:blip r:embed="rId3"/>
          <a:stretch>
            <a:fillRect/>
          </a:stretch>
        </p:blipFill>
        <p:spPr bwMode="auto">
          <a:xfrm>
            <a:off x="2106370" y="2208357"/>
            <a:ext cx="4910622" cy="1717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395681" y="4554992"/>
            <a:ext cx="710689"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A. </a:t>
            </a:r>
            <a:r>
              <a:rPr lang="en-US" sz="2400" noProof="0" dirty="0">
                <a:solidFill>
                  <a:schemeClr val="tx1"/>
                </a:solidFill>
              </a:rPr>
              <a:t>0</a:t>
            </a:r>
          </a:p>
        </p:txBody>
      </p:sp>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387054" y="5007699"/>
            <a:ext cx="719316"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B. </a:t>
            </a:r>
            <a:r>
              <a:rPr lang="en-US" sz="2400" noProof="0" dirty="0">
                <a:solidFill>
                  <a:schemeClr val="tx1"/>
                </a:solidFill>
              </a:rPr>
              <a:t>1</a:t>
            </a:r>
          </a:p>
        </p:txBody>
      </p:sp>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395681" y="5469996"/>
            <a:ext cx="605647"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C. </a:t>
            </a:r>
            <a:r>
              <a:rPr lang="en-US" sz="2400" noProof="0" dirty="0"/>
              <a:t>2</a:t>
            </a:r>
          </a:p>
        </p:txBody>
      </p:sp>
    </p:spTree>
    <p:extLst>
      <p:ext uri="{BB962C8B-B14F-4D97-AF65-F5344CB8AC3E}">
        <p14:creationId xmlns:p14="http://schemas.microsoft.com/office/powerpoint/2010/main" val="10930291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81E28-5501-88CA-5E6E-757FC1A135A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9005A59-1874-9B8C-D808-788883C9C0EA}"/>
              </a:ext>
            </a:extLst>
          </p:cNvPr>
          <p:cNvSpPr>
            <a:spLocks noGrp="1"/>
          </p:cNvSpPr>
          <p:nvPr>
            <p:ph type="title"/>
          </p:nvPr>
        </p:nvSpPr>
        <p:spPr>
          <a:xfrm>
            <a:off x="429524" y="205362"/>
            <a:ext cx="8229600" cy="1144347"/>
          </a:xfrm>
        </p:spPr>
        <p:txBody>
          <a:bodyPr anchor="ctr" anchorCtr="0"/>
          <a:lstStyle/>
          <a:p>
            <a:r>
              <a:rPr lang="en-US" noProof="0" dirty="0"/>
              <a:t>Chapter 4 – techniques of circuit analysis </a:t>
            </a:r>
            <a:r>
              <a:rPr lang="en-US" sz="2800" noProof="0" dirty="0"/>
              <a:t>(25 of 26)</a:t>
            </a:r>
            <a:endParaRPr lang="en-US" noProof="0" dirty="0"/>
          </a:p>
        </p:txBody>
      </p:sp>
      <p:sp>
        <p:nvSpPr>
          <p:cNvPr id="7" name="Content Placeholder 6">
            <a:extLst>
              <a:ext uri="{FF2B5EF4-FFF2-40B4-BE49-F238E27FC236}">
                <a16:creationId xmlns:a16="http://schemas.microsoft.com/office/drawing/2014/main" id="{130B1A00-CDCB-E87B-C530-88EF95F033B3}"/>
              </a:ext>
            </a:extLst>
          </p:cNvPr>
          <p:cNvSpPr>
            <a:spLocks noGrp="1"/>
          </p:cNvSpPr>
          <p:nvPr>
            <p:ph sz="quarter" idx="12"/>
          </p:nvPr>
        </p:nvSpPr>
        <p:spPr>
          <a:xfrm>
            <a:off x="429524" y="1504141"/>
            <a:ext cx="8229600" cy="405683"/>
          </a:xfrm>
        </p:spPr>
        <p:txBody>
          <a:bodyPr wrap="square" lIns="0" tIns="18000" rIns="0" bIns="18000" anchor="ctr" anchorCtr="0">
            <a:spAutoFit/>
          </a:bodyPr>
          <a:lstStyle/>
          <a:p>
            <a:pPr marL="0" indent="0">
              <a:spcBef>
                <a:spcPts val="600"/>
              </a:spcBef>
              <a:buNone/>
            </a:pPr>
            <a:r>
              <a:rPr lang="en-US" sz="2400" noProof="0" dirty="0"/>
              <a:t>How many super nodes does this circuit contain?</a:t>
            </a:r>
          </a:p>
        </p:txBody>
      </p:sp>
      <p:pic>
        <p:nvPicPr>
          <p:cNvPr id="17" name="Picture 2" descr="A circuit diagram shows a 50 milli amperes independent current source as the leftmost wire in the circuit. Connected in parallel to the 50 milli amperes independent current source from left to right in that order are a 8 kilo-ohm resistor, a 20 kilo-ohm resistor, and a 4 kilo-ohm resistor. Voltage v subscript o develops across the 20 kilo-ohm resistor with positive polarity at the top and negative at the bottom. Four nodes are marked at the points where the wires housing the 8 kilo-ohm resistor and the 20 kilo-ohm resistor connect with the top and bottom wires of the circuit. A 40 volt independent voltage source with positive polarity at its right end and negative polarity at its left end is located in the top wire of the circuit between the points where the wires housing the 8 kilo-ohm resistor and the 20 kilo-ohm resistor connect with the top wire of the circuit. A 6 kilo-ohm resistor is located in the top wire of the circuit between the points where the wires housing the 20 kilo-ohm resistor and the 4 kilo-ohm resistor connect with the top wire of the circuit.">
            <a:extLst>
              <a:ext uri="{FF2B5EF4-FFF2-40B4-BE49-F238E27FC236}">
                <a16:creationId xmlns:a16="http://schemas.microsoft.com/office/drawing/2014/main" id="{1D84053F-6529-FCC0-C52B-8015D7A7B3EF}"/>
              </a:ext>
            </a:extLst>
          </p:cNvPr>
          <p:cNvPicPr>
            <a:picLocks noChangeAspect="1" noChangeArrowheads="1"/>
          </p:cNvPicPr>
          <p:nvPr/>
        </p:nvPicPr>
        <p:blipFill>
          <a:blip r:embed="rId3"/>
          <a:stretch>
            <a:fillRect/>
          </a:stretch>
        </p:blipFill>
        <p:spPr bwMode="auto">
          <a:xfrm>
            <a:off x="2106370" y="2208357"/>
            <a:ext cx="4910622" cy="1717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 name="Picture 3" descr="Cross mark">
            <a:extLst>
              <a:ext uri="{FF2B5EF4-FFF2-40B4-BE49-F238E27FC236}">
                <a16:creationId xmlns:a16="http://schemas.microsoft.com/office/drawing/2014/main" id="{565E139F-6F5B-C730-E57E-06AB25019E5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74572" y="4618801"/>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Content Placeholder 7">
            <a:extLst>
              <a:ext uri="{FF2B5EF4-FFF2-40B4-BE49-F238E27FC236}">
                <a16:creationId xmlns:a16="http://schemas.microsoft.com/office/drawing/2014/main" id="{2A823F38-97BA-6E86-B136-35631F70CE10}"/>
              </a:ext>
            </a:extLst>
          </p:cNvPr>
          <p:cNvSpPr>
            <a:spLocks noGrp="1"/>
          </p:cNvSpPr>
          <p:nvPr>
            <p:ph sz="quarter" idx="13"/>
          </p:nvPr>
        </p:nvSpPr>
        <p:spPr>
          <a:xfrm>
            <a:off x="1395681" y="4554992"/>
            <a:ext cx="710689"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A. </a:t>
            </a:r>
            <a:r>
              <a:rPr lang="en-US" sz="2400" noProof="0" dirty="0">
                <a:solidFill>
                  <a:schemeClr val="tx1"/>
                </a:solidFill>
              </a:rPr>
              <a:t>0</a:t>
            </a:r>
          </a:p>
        </p:txBody>
      </p:sp>
      <p:pic>
        <p:nvPicPr>
          <p:cNvPr id="76" name="Picture 2" descr="Check mark">
            <a:extLst>
              <a:ext uri="{FF2B5EF4-FFF2-40B4-BE49-F238E27FC236}">
                <a16:creationId xmlns:a16="http://schemas.microsoft.com/office/drawing/2014/main" id="{40F683B4-99DD-437C-84D2-1365F58A58D4}"/>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74316" y="5107738"/>
            <a:ext cx="280501" cy="2462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Content Placeholder 8">
            <a:extLst>
              <a:ext uri="{FF2B5EF4-FFF2-40B4-BE49-F238E27FC236}">
                <a16:creationId xmlns:a16="http://schemas.microsoft.com/office/drawing/2014/main" id="{86D32050-7F65-5863-10F3-840F36DF5CD0}"/>
              </a:ext>
            </a:extLst>
          </p:cNvPr>
          <p:cNvSpPr>
            <a:spLocks noGrp="1"/>
          </p:cNvSpPr>
          <p:nvPr>
            <p:ph sz="quarter" idx="14"/>
          </p:nvPr>
        </p:nvSpPr>
        <p:spPr>
          <a:xfrm>
            <a:off x="1387054" y="5007699"/>
            <a:ext cx="719316"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B. </a:t>
            </a:r>
            <a:r>
              <a:rPr lang="en-US" sz="2400" noProof="0" dirty="0">
                <a:solidFill>
                  <a:schemeClr val="tx1"/>
                </a:solidFill>
              </a:rPr>
              <a:t>1</a:t>
            </a:r>
          </a:p>
        </p:txBody>
      </p:sp>
      <p:pic>
        <p:nvPicPr>
          <p:cNvPr id="77" name="Picture 4" descr="Cross mark">
            <a:extLst>
              <a:ext uri="{FF2B5EF4-FFF2-40B4-BE49-F238E27FC236}">
                <a16:creationId xmlns:a16="http://schemas.microsoft.com/office/drawing/2014/main" id="{BFA4FC25-B5A7-240B-5F74-32A9F7CEA6F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74572" y="5543096"/>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Content Placeholder 9">
            <a:extLst>
              <a:ext uri="{FF2B5EF4-FFF2-40B4-BE49-F238E27FC236}">
                <a16:creationId xmlns:a16="http://schemas.microsoft.com/office/drawing/2014/main" id="{A7486054-6802-A8BB-E72F-913DA3F0DCFC}"/>
              </a:ext>
            </a:extLst>
          </p:cNvPr>
          <p:cNvSpPr>
            <a:spLocks noGrp="1"/>
          </p:cNvSpPr>
          <p:nvPr>
            <p:ph sz="quarter" idx="15"/>
          </p:nvPr>
        </p:nvSpPr>
        <p:spPr>
          <a:xfrm>
            <a:off x="1395681" y="5469996"/>
            <a:ext cx="605647"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C. </a:t>
            </a:r>
            <a:r>
              <a:rPr lang="en-US" sz="2400" noProof="0" dirty="0"/>
              <a:t>2</a:t>
            </a:r>
          </a:p>
        </p:txBody>
      </p:sp>
    </p:spTree>
    <p:extLst>
      <p:ext uri="{BB962C8B-B14F-4D97-AF65-F5344CB8AC3E}">
        <p14:creationId xmlns:p14="http://schemas.microsoft.com/office/powerpoint/2010/main" val="24672294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05362"/>
            <a:ext cx="8229600" cy="1144347"/>
          </a:xfrm>
        </p:spPr>
        <p:txBody>
          <a:bodyPr anchor="ctr" anchorCtr="0"/>
          <a:lstStyle/>
          <a:p>
            <a:r>
              <a:rPr lang="en-US" noProof="0" dirty="0"/>
              <a:t>Chapter 4 – techniques of circuit analysis </a:t>
            </a:r>
            <a:r>
              <a:rPr lang="en-US" sz="2800" noProof="0" dirty="0"/>
              <a:t>(26 of 26)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504141"/>
            <a:ext cx="8229600" cy="405683"/>
          </a:xfrm>
        </p:spPr>
        <p:txBody>
          <a:bodyPr wrap="square" lIns="0" tIns="18000" rIns="0" bIns="18000" anchor="ctr" anchorCtr="0">
            <a:spAutoFit/>
          </a:bodyPr>
          <a:lstStyle/>
          <a:p>
            <a:pPr marL="0" indent="0">
              <a:spcBef>
                <a:spcPts val="600"/>
              </a:spcBef>
              <a:buNone/>
            </a:pPr>
            <a:r>
              <a:rPr lang="en-US" sz="2400" noProof="0" dirty="0"/>
              <a:t>How many super nodes does this circuit contain?</a:t>
            </a:r>
          </a:p>
        </p:txBody>
      </p:sp>
      <p:pic>
        <p:nvPicPr>
          <p:cNvPr id="11" name="Picture 2" descr="A circuit diagram shows a two layered circuit. In the lower layer, a 20 volt independent voltage source with positive polarity at the top and negative polarity at the bottom forms the leftmost wire. Connected in parallel to the 20 volt independent voltage source from left to right in that order are a 250-ohm resistor, a 1 kilo-ohm resistor, and a 10 volt independent voltage source with positive polarity at the bottom end and negative polarity at the top. Three nodes are marked at the points where the wires housing the 250-ohm resistor, the 1 kilo-ohm resistor, and the 10 volt independent voltage source connect to the second wire from the top. Another two nodes are marked at the points where the wires housing the 250-ohm resistor and the 1 kilo-ohm resistor connect to the bottom wire in the circuit. A 25 kilo-ohm resistor is located in the second wire from the top between the points where the wires housing the 20 volt independent voltage source and the 250-ohm resistor connect with the second wire from the top. An 11 milli amperes independent current source with internal arrow pointing to the right is located in the second wire from the top between the points where the wires housing the 250-ohm resistor and the 1 kilo-ohm resistor connect with the second wire from the top.&#10;A 500-ohm resistor is located in the top wire of the circuit and is connected across the nodes formed where the second wire from top connects to the wires housing the 250-ohm resistor and the 10 volt independent voltage source. Current i subscript 1 flows through the 25 kilo-ohm resistor from left to right. Current i subscript 2 flows through the 250-ohm resistor from top to bottom. Current i subscript 3 flows through the 10 volt independent voltage source from top to bottom. &#10;">
            <a:extLst>
              <a:ext uri="{FF2B5EF4-FFF2-40B4-BE49-F238E27FC236}">
                <a16:creationId xmlns:a16="http://schemas.microsoft.com/office/drawing/2014/main" id="{EAAE5864-C7DC-4FDA-AC95-D60F75DC2213}"/>
              </a:ext>
            </a:extLst>
          </p:cNvPr>
          <p:cNvPicPr>
            <a:picLocks noChangeAspect="1" noChangeArrowheads="1"/>
          </p:cNvPicPr>
          <p:nvPr/>
        </p:nvPicPr>
        <p:blipFill>
          <a:blip r:embed="rId3"/>
          <a:srcRect/>
          <a:stretch/>
        </p:blipFill>
        <p:spPr bwMode="auto">
          <a:xfrm>
            <a:off x="2448644" y="2020258"/>
            <a:ext cx="4236408" cy="20967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395681" y="4554992"/>
            <a:ext cx="710689"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A. </a:t>
            </a:r>
            <a:r>
              <a:rPr lang="en-US" sz="2400" noProof="0" dirty="0">
                <a:solidFill>
                  <a:schemeClr val="tx1"/>
                </a:solidFill>
              </a:rPr>
              <a:t>0</a:t>
            </a:r>
          </a:p>
        </p:txBody>
      </p:sp>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387054" y="5007699"/>
            <a:ext cx="719316"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B. </a:t>
            </a:r>
            <a:r>
              <a:rPr lang="en-US" sz="2400" noProof="0" dirty="0">
                <a:solidFill>
                  <a:schemeClr val="tx1"/>
                </a:solidFill>
              </a:rPr>
              <a:t>1</a:t>
            </a:r>
          </a:p>
        </p:txBody>
      </p:sp>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395681" y="5469996"/>
            <a:ext cx="605647"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C. </a:t>
            </a:r>
            <a:r>
              <a:rPr lang="en-US" sz="2400" noProof="0" dirty="0"/>
              <a:t>2</a:t>
            </a:r>
          </a:p>
        </p:txBody>
      </p:sp>
    </p:spTree>
    <p:extLst>
      <p:ext uri="{BB962C8B-B14F-4D97-AF65-F5344CB8AC3E}">
        <p14:creationId xmlns:p14="http://schemas.microsoft.com/office/powerpoint/2010/main" val="29816650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5D0A6-1155-5B49-3DE0-514EE68DA01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B164288-C312-BAF5-6173-3F3B9E8107DB}"/>
              </a:ext>
            </a:extLst>
          </p:cNvPr>
          <p:cNvSpPr>
            <a:spLocks noGrp="1"/>
          </p:cNvSpPr>
          <p:nvPr>
            <p:ph type="title"/>
          </p:nvPr>
        </p:nvSpPr>
        <p:spPr>
          <a:xfrm>
            <a:off x="429524" y="205362"/>
            <a:ext cx="8229600" cy="1144347"/>
          </a:xfrm>
        </p:spPr>
        <p:txBody>
          <a:bodyPr anchor="ctr" anchorCtr="0"/>
          <a:lstStyle/>
          <a:p>
            <a:r>
              <a:rPr lang="en-US" noProof="0" dirty="0"/>
              <a:t>Chapter 4 – techniques of circuit analysis </a:t>
            </a:r>
            <a:r>
              <a:rPr lang="en-US" sz="2800" noProof="0" dirty="0"/>
              <a:t>(26 of 26)</a:t>
            </a:r>
            <a:endParaRPr lang="en-US" noProof="0" dirty="0"/>
          </a:p>
        </p:txBody>
      </p:sp>
      <p:sp>
        <p:nvSpPr>
          <p:cNvPr id="7" name="Content Placeholder 6">
            <a:extLst>
              <a:ext uri="{FF2B5EF4-FFF2-40B4-BE49-F238E27FC236}">
                <a16:creationId xmlns:a16="http://schemas.microsoft.com/office/drawing/2014/main" id="{F308C6DC-CA60-31F9-F6AC-4E7CBE9FE6A1}"/>
              </a:ext>
            </a:extLst>
          </p:cNvPr>
          <p:cNvSpPr>
            <a:spLocks noGrp="1"/>
          </p:cNvSpPr>
          <p:nvPr>
            <p:ph sz="quarter" idx="12"/>
          </p:nvPr>
        </p:nvSpPr>
        <p:spPr>
          <a:xfrm>
            <a:off x="429524" y="1504141"/>
            <a:ext cx="8229600" cy="405683"/>
          </a:xfrm>
        </p:spPr>
        <p:txBody>
          <a:bodyPr wrap="square" lIns="0" tIns="18000" rIns="0" bIns="18000" anchor="ctr" anchorCtr="0">
            <a:spAutoFit/>
          </a:bodyPr>
          <a:lstStyle/>
          <a:p>
            <a:pPr marL="0" indent="0">
              <a:spcBef>
                <a:spcPts val="600"/>
              </a:spcBef>
              <a:buNone/>
            </a:pPr>
            <a:r>
              <a:rPr lang="en-US" sz="2400" noProof="0" dirty="0"/>
              <a:t>How many super nodes does this circuit contain?</a:t>
            </a:r>
          </a:p>
        </p:txBody>
      </p:sp>
      <p:pic>
        <p:nvPicPr>
          <p:cNvPr id="11" name="Picture 2" descr="A circuit diagram shows a two layered circuit. In the lower layer, a 20 volt independent voltage source with positive polarity at the top and negative polarity at the bottom forms the leftmost wire. Connected in parallel to the 20 volt independent voltage source from left to right in that order are a 250-ohm resistor, a 1 kilo-ohm resistor, and a 10 volt independent voltage source with positive polarity at the bottom end and negative polarity at the top. Three nodes are marked at the points where the wires housing the 250-ohm resistor, the 1 kilo-ohm resistor, and the 10 volt independent voltage source connect to the second wire from the top. Another two nodes are marked at the points where the wires housing the 250-ohm resistor and the 1 kilo-ohm resistor connect to the bottom wire in the circuit. A 25 kilo-ohm resistor is located in the second wire from the top between the points where the wires housing the 20 volt independent voltage source and the 250-ohm resistor connect with the second wire from the top. An 11 milli amperes independent current source with internal arrow pointing to the right is located in the second wire from the top between the points where the wires housing the 250-ohm resistor and the 1 kilo-ohm resistor connect with the second wire from the top.&#10;A 500-ohm resistor is located in the top wire of the circuit and is connected across the nodes formed where the second wire from top connects to the wires housing the 250-ohm resistor and the 10 volt independent voltage source. Current i subscript 1 flows through the 25 kilo-ohm resistor from left to right. Current i subscript 2 flows through the 250-ohm resistor from top to bottom. Current i subscript 3 flows through the 10 volt independent voltage source from top to bottom. &#10;">
            <a:extLst>
              <a:ext uri="{FF2B5EF4-FFF2-40B4-BE49-F238E27FC236}">
                <a16:creationId xmlns:a16="http://schemas.microsoft.com/office/drawing/2014/main" id="{4DE9AF80-2DC5-B84C-5160-A2D5A26A6FAF}"/>
              </a:ext>
            </a:extLst>
          </p:cNvPr>
          <p:cNvPicPr>
            <a:picLocks noChangeAspect="1" noChangeArrowheads="1"/>
          </p:cNvPicPr>
          <p:nvPr/>
        </p:nvPicPr>
        <p:blipFill>
          <a:blip r:embed="rId3"/>
          <a:srcRect/>
          <a:stretch/>
        </p:blipFill>
        <p:spPr bwMode="auto">
          <a:xfrm>
            <a:off x="2448644" y="2020258"/>
            <a:ext cx="4236408" cy="20967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 name="Picture 2" descr="Check mark">
            <a:extLst>
              <a:ext uri="{FF2B5EF4-FFF2-40B4-BE49-F238E27FC236}">
                <a16:creationId xmlns:a16="http://schemas.microsoft.com/office/drawing/2014/main" id="{C4BAC03A-F6F0-FD87-D4AD-93E72E6D448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58822" y="4634712"/>
            <a:ext cx="280501" cy="2462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Content Placeholder 7">
            <a:extLst>
              <a:ext uri="{FF2B5EF4-FFF2-40B4-BE49-F238E27FC236}">
                <a16:creationId xmlns:a16="http://schemas.microsoft.com/office/drawing/2014/main" id="{D421A011-4E4E-8678-9288-9D05D1DC4055}"/>
              </a:ext>
            </a:extLst>
          </p:cNvPr>
          <p:cNvSpPr>
            <a:spLocks noGrp="1"/>
          </p:cNvSpPr>
          <p:nvPr>
            <p:ph sz="quarter" idx="13"/>
          </p:nvPr>
        </p:nvSpPr>
        <p:spPr>
          <a:xfrm>
            <a:off x="1395681" y="4554992"/>
            <a:ext cx="710689"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A. </a:t>
            </a:r>
            <a:r>
              <a:rPr lang="en-US" sz="2400" noProof="0" dirty="0">
                <a:solidFill>
                  <a:schemeClr val="tx1"/>
                </a:solidFill>
              </a:rPr>
              <a:t>0</a:t>
            </a:r>
          </a:p>
        </p:txBody>
      </p:sp>
      <p:pic>
        <p:nvPicPr>
          <p:cNvPr id="75" name="Picture 3" descr="Cross mark">
            <a:extLst>
              <a:ext uri="{FF2B5EF4-FFF2-40B4-BE49-F238E27FC236}">
                <a16:creationId xmlns:a16="http://schemas.microsoft.com/office/drawing/2014/main" id="{E6321A0D-C6EF-2E69-7599-ACC150EC92E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69463" y="5080799"/>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Content Placeholder 8">
            <a:extLst>
              <a:ext uri="{FF2B5EF4-FFF2-40B4-BE49-F238E27FC236}">
                <a16:creationId xmlns:a16="http://schemas.microsoft.com/office/drawing/2014/main" id="{D5A3CE3E-0F52-03C2-62E6-14F6F746DC75}"/>
              </a:ext>
            </a:extLst>
          </p:cNvPr>
          <p:cNvSpPr>
            <a:spLocks noGrp="1"/>
          </p:cNvSpPr>
          <p:nvPr>
            <p:ph sz="quarter" idx="14"/>
          </p:nvPr>
        </p:nvSpPr>
        <p:spPr>
          <a:xfrm>
            <a:off x="1387054" y="5007699"/>
            <a:ext cx="719316"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B. </a:t>
            </a:r>
            <a:r>
              <a:rPr lang="en-US" sz="2400" noProof="0" dirty="0">
                <a:solidFill>
                  <a:schemeClr val="tx1"/>
                </a:solidFill>
              </a:rPr>
              <a:t>1</a:t>
            </a:r>
          </a:p>
        </p:txBody>
      </p:sp>
      <p:pic>
        <p:nvPicPr>
          <p:cNvPr id="77" name="Picture 4" descr="Cross mark">
            <a:extLst>
              <a:ext uri="{FF2B5EF4-FFF2-40B4-BE49-F238E27FC236}">
                <a16:creationId xmlns:a16="http://schemas.microsoft.com/office/drawing/2014/main" id="{EF54E446-B8FB-6581-6435-33085CCC3213}"/>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74572" y="5543096"/>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Content Placeholder 9">
            <a:extLst>
              <a:ext uri="{FF2B5EF4-FFF2-40B4-BE49-F238E27FC236}">
                <a16:creationId xmlns:a16="http://schemas.microsoft.com/office/drawing/2014/main" id="{67B8E7E8-85A5-275A-8A8F-5FD87B131DAD}"/>
              </a:ext>
            </a:extLst>
          </p:cNvPr>
          <p:cNvSpPr>
            <a:spLocks noGrp="1"/>
          </p:cNvSpPr>
          <p:nvPr>
            <p:ph sz="quarter" idx="15"/>
          </p:nvPr>
        </p:nvSpPr>
        <p:spPr>
          <a:xfrm>
            <a:off x="1395681" y="5469996"/>
            <a:ext cx="605647"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C. </a:t>
            </a:r>
            <a:r>
              <a:rPr lang="en-US" sz="2400" noProof="0" dirty="0"/>
              <a:t>2</a:t>
            </a:r>
          </a:p>
        </p:txBody>
      </p:sp>
    </p:spTree>
    <p:extLst>
      <p:ext uri="{BB962C8B-B14F-4D97-AF65-F5344CB8AC3E}">
        <p14:creationId xmlns:p14="http://schemas.microsoft.com/office/powerpoint/2010/main" val="26830941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7D58C-9F1B-4866-A98E-52818AA14994}"/>
              </a:ext>
            </a:extLst>
          </p:cNvPr>
          <p:cNvSpPr>
            <a:spLocks noGrp="1"/>
          </p:cNvSpPr>
          <p:nvPr>
            <p:ph type="title"/>
          </p:nvPr>
        </p:nvSpPr>
        <p:spPr>
          <a:xfrm>
            <a:off x="430704" y="209602"/>
            <a:ext cx="8240665" cy="590349"/>
          </a:xfrm>
        </p:spPr>
        <p:txBody>
          <a:bodyPr wrap="square" lIns="0" tIns="18000" rIns="0" bIns="18000" rtlCol="0" anchor="ctr">
            <a:spAutoFit/>
          </a:bodyPr>
          <a:lstStyle/>
          <a:p>
            <a:pPr eaLnBrk="1" fontAlgn="auto" hangingPunct="1">
              <a:spcAft>
                <a:spcPts val="0"/>
              </a:spcAft>
              <a:defRPr/>
            </a:pPr>
            <a:r>
              <a:rPr lang="en-US" sz="3600" noProof="0" dirty="0">
                <a:latin typeface="+mj-lt"/>
              </a:rPr>
              <a:t>Copyright</a:t>
            </a:r>
            <a:endParaRPr lang="en-US" sz="3600" b="0" noProof="0" dirty="0">
              <a:latin typeface="+mj-lt"/>
            </a:endParaRPr>
          </a:p>
        </p:txBody>
      </p:sp>
      <p:pic>
        <p:nvPicPr>
          <p:cNvPr id="3" name="Graphic 2" descr="Warning">
            <a:extLst>
              <a:ext uri="{FF2B5EF4-FFF2-40B4-BE49-F238E27FC236}">
                <a16:creationId xmlns:a16="http://schemas.microsoft.com/office/drawing/2014/main" id="{45663BD5-7D18-BDA4-9C4E-DA879AC1029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9831" y="2317359"/>
            <a:ext cx="1277815" cy="1434026"/>
          </a:xfrm>
          <a:prstGeom prst="rect">
            <a:avLst/>
          </a:prstGeom>
        </p:spPr>
      </p:pic>
      <p:sp>
        <p:nvSpPr>
          <p:cNvPr id="47108" name="Content Placeholder 2">
            <a:extLst>
              <a:ext uri="{FF2B5EF4-FFF2-40B4-BE49-F238E27FC236}">
                <a16:creationId xmlns:a16="http://schemas.microsoft.com/office/drawing/2014/main" id="{D426AB61-8455-4298-A667-9E3A95FC73C1}"/>
              </a:ext>
            </a:extLst>
          </p:cNvPr>
          <p:cNvSpPr>
            <a:spLocks noGrp="1"/>
          </p:cNvSpPr>
          <p:nvPr>
            <p:ph idx="1"/>
          </p:nvPr>
        </p:nvSpPr>
        <p:spPr bwMode="auto">
          <a:xfrm>
            <a:off x="1851965" y="1889826"/>
            <a:ext cx="6810440" cy="2832998"/>
          </a:xfrm>
          <a:ln w="28575">
            <a:solidFill>
              <a:schemeClr val="tx1"/>
            </a:solidFill>
            <a:miter lim="800000"/>
            <a:headEnd/>
            <a:tailEnd/>
          </a:ln>
        </p:spPr>
        <p:txBody>
          <a:bodyPr wrap="square" lIns="183600" tIns="183600" rIns="183600" bIns="183600" numCol="1" anchor="ctr" anchorCtr="0" compatLnSpc="1">
            <a:prstTxWarp prst="textNoShape">
              <a:avLst/>
            </a:prstTxWarp>
            <a:spAutoFit/>
          </a:bodyPr>
          <a:lstStyle/>
          <a:p>
            <a:pPr marL="0" indent="0" eaLnBrk="1" hangingPunct="1">
              <a:buFont typeface="Arial" panose="020B0604020202020204" pitchFamily="34" charset="0"/>
              <a:buNone/>
            </a:pPr>
            <a:r>
              <a:rPr lang="en-US" altLang="en-US" b="1" noProof="0" dirty="0">
                <a:latin typeface="Arial" panose="020B0604020202020204" pitchFamily="34" charset="0"/>
                <a:cs typeface="Arial" panose="020B0604020202020204" pitchFamily="34" charset="0"/>
              </a:rPr>
              <a:t>This work is protected by United Kingdom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extLst>
      <p:ext uri="{BB962C8B-B14F-4D97-AF65-F5344CB8AC3E}">
        <p14:creationId xmlns:p14="http://schemas.microsoft.com/office/powerpoint/2010/main" val="693870804"/>
      </p:ext>
    </p:extLst>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1138</TotalTime>
  <Words>3308</Words>
  <Application>Microsoft Macintosh PowerPoint</Application>
  <PresentationFormat>On-screen Show (4:3)</PresentationFormat>
  <Paragraphs>333</Paragraphs>
  <Slides>35</Slides>
  <Notes>35</Notes>
  <HiddenSlides>0</HiddenSlides>
  <MMClips>0</MMClips>
  <ScaleCrop>false</ScaleCrop>
  <HeadingPairs>
    <vt:vector size="8" baseType="variant">
      <vt:variant>
        <vt:lpstr>Fonts Used</vt:lpstr>
      </vt:variant>
      <vt:variant>
        <vt:i4>3</vt:i4>
      </vt:variant>
      <vt:variant>
        <vt:lpstr>Theme</vt:lpstr>
      </vt:variant>
      <vt:variant>
        <vt:i4>2</vt:i4>
      </vt:variant>
      <vt:variant>
        <vt:lpstr>Embedded OLE Servers</vt:lpstr>
      </vt:variant>
      <vt:variant>
        <vt:i4>1</vt:i4>
      </vt:variant>
      <vt:variant>
        <vt:lpstr>Slide Titles</vt:lpstr>
      </vt:variant>
      <vt:variant>
        <vt:i4>35</vt:i4>
      </vt:variant>
    </vt:vector>
  </HeadingPairs>
  <TitlesOfParts>
    <vt:vector size="41" baseType="lpstr">
      <vt:lpstr>Times New Roman</vt:lpstr>
      <vt:lpstr>Verdana</vt:lpstr>
      <vt:lpstr>Arial</vt:lpstr>
      <vt:lpstr>USHE</vt:lpstr>
      <vt:lpstr>USHE_slide options</vt:lpstr>
      <vt:lpstr>Equation</vt:lpstr>
      <vt:lpstr>Electric Circuits</vt:lpstr>
      <vt:lpstr>Chapter 4 – techniques of circuit analysis (1 of 26)</vt:lpstr>
      <vt:lpstr>Chapter 4 – techniques of circuit analysis (2 of 26)</vt:lpstr>
      <vt:lpstr>Chapter 4 – techniques of circuit analysis (3 of 26)</vt:lpstr>
      <vt:lpstr>Chapter 4 – techniques of circuit analysis (4 of 26)</vt:lpstr>
      <vt:lpstr>Chapter 4 – techniques of circuit analysis (5 of 26)</vt:lpstr>
      <vt:lpstr>Chapter 4 – techniques of circuit analysis (6 of 26)</vt:lpstr>
      <vt:lpstr>Chapter 4 – techniques of circuit analysis (7 of 26)</vt:lpstr>
      <vt:lpstr>Chapter 4 – techniques of circuit analysis (8 of 26)</vt:lpstr>
      <vt:lpstr>Chapter 4 – techniques of circuit analysis (9 of 26)</vt:lpstr>
      <vt:lpstr>Chapter 4 – techniques of circuit analysis (9 of 26)</vt:lpstr>
      <vt:lpstr>Chapter 4 – techniques of circuit analysis (10 of 26)</vt:lpstr>
      <vt:lpstr>Chapter 4 – techniques of circuit analysis (11 of 26)</vt:lpstr>
      <vt:lpstr>Chapter 4 – techniques of circuit analysis (11 of 26)</vt:lpstr>
      <vt:lpstr>Chapter 4 – techniques of circuit analysis (12 of 26)</vt:lpstr>
      <vt:lpstr>Chapter 4 – techniques of circuit analysis (12 of 26)</vt:lpstr>
      <vt:lpstr>Chapter 4 – techniques of circuit analysis (13 of 26)</vt:lpstr>
      <vt:lpstr>Chapter 4 – techniques of circuit analysis (13 of 26)</vt:lpstr>
      <vt:lpstr>Chapter 4 – techniques of circuit analysis (14 of 26)</vt:lpstr>
      <vt:lpstr>Chapter 4 – techniques of circuit analysis (14 of 26)</vt:lpstr>
      <vt:lpstr>Chapter 4 – techniques of circuit analysis (15 of 26)</vt:lpstr>
      <vt:lpstr>Chapter 4 – techniques of circuit analysis (16 of 26)</vt:lpstr>
      <vt:lpstr>Chapter 4 – techniques of circuit analysis (17 of 26)</vt:lpstr>
      <vt:lpstr>Chapter 4 – techniques of circuit analysis (18 of 26)</vt:lpstr>
      <vt:lpstr>Chapter 4 – techniques of circuit analysis (19 of 26)</vt:lpstr>
      <vt:lpstr>Chapter 4 – techniques of circuit analysis (20 of 26)</vt:lpstr>
      <vt:lpstr>Chapter 4 – techniques of circuit analysis (21 of 26)</vt:lpstr>
      <vt:lpstr>Chapter 4 – techniques of circuit analysis (22 of 26)</vt:lpstr>
      <vt:lpstr>Chapter 4 – techniques of circuit analysis (23 of 26)</vt:lpstr>
      <vt:lpstr>Chapter 4 – techniques of circuit analysis (24 of 26)</vt:lpstr>
      <vt:lpstr>Chapter 4 – techniques of circuit analysis (25 of 26)</vt:lpstr>
      <vt:lpstr>Chapter 4 – techniques of circuit analysis (25 of 26)</vt:lpstr>
      <vt:lpstr>Chapter 4 – techniques of circuit analysis (26 of 26)</vt:lpstr>
      <vt:lpstr>Chapter 4 – techniques of circuit analysis (26 of 26)</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Electric Circuits, Twelfth Edition, Chapter 4 – Part 2</dc:title>
  <dc:subject>Engineering</dc:subject>
  <dc:creator>Nilsson and Riedel</dc:creator>
  <cp:keywords/>
  <dc:description>Alt text for images/ math equations within table cells have been placed behind the object intentionally to provide a better screen reader user experience.</dc:description>
  <cp:lastModifiedBy>Kamil Erdayandi</cp:lastModifiedBy>
  <cp:revision>173</cp:revision>
  <dcterms:modified xsi:type="dcterms:W3CDTF">2026-02-23T10:57:59Z</dcterms:modified>
</cp:coreProperties>
</file>